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rial Bold" charset="1" panose="020B0802020202020204"/>
      <p:regular r:id="rId20"/>
    </p:embeddedFont>
    <p:embeddedFont>
      <p:font typeface="Arial" charset="1" panose="020B0502020202020204"/>
      <p:regular r:id="rId21"/>
    </p:embeddedFont>
    <p:embeddedFont>
      <p:font typeface="Open Sans Bold" charset="1" panose="020B0806030504020204"/>
      <p:regular r:id="rId27"/>
    </p:embeddedFont>
    <p:embeddedFont>
      <p:font typeface="Canva Sans" charset="1" panose="020B0503030501040103"/>
      <p:regular r:id="rId28"/>
    </p:embeddedFont>
    <p:embeddedFont>
      <p:font typeface="Canva Sans Bold" charset="1" panose="020B0803030501040103"/>
      <p:regular r:id="rId29"/>
    </p:embeddedFont>
    <p:embeddedFont>
      <p:font typeface="Heading Now 71-78" charset="1" panose="00000000000000000000"/>
      <p:regular r:id="rId30"/>
    </p:embeddedFont>
    <p:embeddedFont>
      <p:font typeface="Heading Now 71-78 Bold" charset="1" panose="00000000000000000000"/>
      <p:regular r:id="rId31"/>
    </p:embeddedFont>
    <p:embeddedFont>
      <p:font typeface="Inter" charset="1" panose="020B05020300000000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Problem Statement :</a:t>
            </a:r>
          </a:p>
          <a:p>
            <a:r>
              <a:rPr lang="en-US"/>
              <a:t>Apartment mail management frequently faces challenges like delivery errors and mail theft, leading to privacy concerns and inefficiency. Additionally, residents often struggle with insecure and inconvenient mail sending options, causing delays and further disruptions.</a:t>
            </a:r>
          </a:p>
          <a:p>
            <a:r>
              <a:rPr lang="en-US"/>
              <a:t/>
            </a:r>
          </a:p>
          <a:p>
            <a:r>
              <a:rPr lang="en-US"/>
              <a:t>The Essential Solution - SSM-ARMS :</a:t>
            </a:r>
          </a:p>
          <a:p>
            <a:r>
              <a:rPr lang="en-US"/>
              <a:t>SSM-ARMS, with its two independent boxes, streamlines apartment mail handling by securely sorting incoming letters into individual compartments and facilitating outgoing mail for various services. More than just convenient, it's an essential tool for efficient, modern mail management, ensuring organized and hassle-free distribution.</a:t>
            </a:r>
          </a:p>
          <a:p>
            <a:r>
              <a:rPr lang="en-US"/>
              <a:t/>
            </a:r>
          </a:p>
          <a:p>
            <a:r>
              <a:rPr lang="en-US"/>
              <a:t>Future Perspective :</a:t>
            </a:r>
          </a:p>
          <a:p>
            <a:r>
              <a:rPr lang="en-US"/>
              <a:t>Initially for letter management, SSM-ARMS is adaptable for future package management needs in apartment buildings.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Problem Statement :</a:t>
            </a:r>
          </a:p>
          <a:p>
            <a:r>
              <a:rPr lang="en-US"/>
              <a:t>Apartment mail management frequently faces challenges like delivery errors and mail theft, leading to privacy concerns and inefficiency. Additionally, residents often struggle with insecure and inconvenient mail sending options, causing delays and further disruptions.</a:t>
            </a:r>
          </a:p>
          <a:p>
            <a:r>
              <a:rPr lang="en-US"/>
              <a:t/>
            </a:r>
          </a:p>
          <a:p>
            <a:r>
              <a:rPr lang="en-US"/>
              <a:t>The Essential Solution - SSM-ARMS :</a:t>
            </a:r>
          </a:p>
          <a:p>
            <a:r>
              <a:rPr lang="en-US"/>
              <a:t>SSM-ARMS, with its two independent boxes, streamlines apartment mail handling by securely sorting incoming letters into individual compartments and facilitating outgoing mail for various services. More than just convenient, it's an essential tool for efficient, modern mail management, ensuring organized and hassle-free distribution.</a:t>
            </a:r>
          </a:p>
          <a:p>
            <a:r>
              <a:rPr lang="en-US"/>
              <a:t/>
            </a:r>
          </a:p>
          <a:p>
            <a:r>
              <a:rPr lang="en-US"/>
              <a:t>Future Perspective :</a:t>
            </a:r>
          </a:p>
          <a:p>
            <a:r>
              <a:rPr lang="en-US"/>
              <a:t>Initially for letter management, SSM-ARMS is adaptable for future package management needs in apartment buildings.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Functional requirements </a:t>
            </a:r>
          </a:p>
          <a:p>
            <a:r>
              <a:rPr lang="en-US"/>
              <a:t>Letter Detection and Verification:Ability to detect the letter’s presence, recognize the address of the receptor and determine the concerned box.</a:t>
            </a:r>
          </a:p>
          <a:p>
            <a:r>
              <a:rPr lang="en-US"/>
              <a:t/>
            </a:r>
          </a:p>
          <a:p>
            <a:r>
              <a:rPr lang="en-US"/>
              <a:t>Engine sorting algorithm: Direct the letter to the box linked to it and throw it there.</a:t>
            </a:r>
          </a:p>
          <a:p>
            <a:r>
              <a:rPr lang="en-US"/>
              <a:t/>
            </a:r>
          </a:p>
          <a:p>
            <a:r>
              <a:rPr lang="en-US"/>
              <a:t>Trap Door: Send signal to allow next letter to be dropped.</a:t>
            </a:r>
          </a:p>
          <a:p>
            <a:r>
              <a:rPr lang="en-US"/>
              <a:t/>
            </a:r>
          </a:p>
          <a:p>
            <a:r>
              <a:rPr lang="en-US"/>
              <a:t>Notification and Communication: Alerts must be sent to recipient of letter upon letter is detected by camera.</a:t>
            </a:r>
          </a:p>
          <a:p>
            <a:r>
              <a:rPr lang="en-US"/>
              <a:t/>
            </a:r>
          </a:p>
          <a:p>
            <a:r>
              <a:rPr lang="en-US"/>
              <a:t>Wireless Communication: Maintain constant connection with the central system for reception and dispatch.</a:t>
            </a:r>
          </a:p>
          <a:p>
            <a:r>
              <a:rPr lang="en-US"/>
              <a:t/>
            </a:r>
          </a:p>
          <a:p>
            <a:r>
              <a:rPr lang="en-US"/>
              <a:t/>
            </a:r>
          </a:p>
          <a:p>
            <a:r>
              <a:rPr lang="en-US"/>
              <a:t>Non-Functional requirements</a:t>
            </a:r>
          </a:p>
          <a:p>
            <a:r>
              <a:rPr lang="en-US"/>
              <a:t>Reliability: Consistent operation with minimal errors or downtime.</a:t>
            </a:r>
          </a:p>
          <a:p>
            <a:r>
              <a:rPr lang="en-US"/>
              <a:t/>
            </a:r>
          </a:p>
          <a:p>
            <a:r>
              <a:rPr lang="en-US"/>
              <a:t>Performance: System must be smooth and timely when detecting letters and authenticating/interacting with users.</a:t>
            </a:r>
          </a:p>
          <a:p>
            <a:r>
              <a:rPr lang="en-US"/>
              <a:t/>
            </a:r>
          </a:p>
          <a:p>
            <a:r>
              <a:rPr lang="en-US"/>
              <a:t>Scalability: Adaptable to different sizes.</a:t>
            </a:r>
          </a:p>
          <a:p>
            <a:r>
              <a:rPr lang="en-US"/>
              <a:t/>
            </a:r>
          </a:p>
          <a:p>
            <a:r>
              <a:rPr lang="en-US"/>
              <a:t>Readability: System should be user friendly and provide fail-safe mechanism.</a:t>
            </a:r>
          </a:p>
          <a:p>
            <a:r>
              <a:rPr lang="en-US"/>
              <a:t/>
            </a:r>
          </a:p>
          <a:p>
            <a:r>
              <a:rPr lang="en-US"/>
              <a:t>Maintainability: Easy to identify gaps for system improvements, troubleshoot procedures and smooth maintenance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 Id="rId5" Target="../media/image5.png" Type="http://schemas.openxmlformats.org/officeDocument/2006/relationships/image"/><Relationship Id="rId6" Target="../media/image6.jpe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jpe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992302" y="348467"/>
            <a:ext cx="10042870" cy="10494541"/>
            <a:chOff x="0" y="0"/>
            <a:chExt cx="668437" cy="698500"/>
          </a:xfrm>
        </p:grpSpPr>
        <p:sp>
          <p:nvSpPr>
            <p:cNvPr name="Freeform 3" id="3"/>
            <p:cNvSpPr/>
            <p:nvPr/>
          </p:nvSpPr>
          <p:spPr>
            <a:xfrm flipH="false" flipV="false" rot="0">
              <a:off x="0" y="0"/>
              <a:ext cx="668437" cy="698500"/>
            </a:xfrm>
            <a:custGeom>
              <a:avLst/>
              <a:gdLst/>
              <a:ahLst/>
              <a:cxnLst/>
              <a:rect r="r" b="b" t="t" l="l"/>
              <a:pathLst>
                <a:path h="698500" w="668437">
                  <a:moveTo>
                    <a:pt x="668437" y="349250"/>
                  </a:moveTo>
                  <a:lnTo>
                    <a:pt x="465237" y="698500"/>
                  </a:lnTo>
                  <a:lnTo>
                    <a:pt x="203200" y="698500"/>
                  </a:lnTo>
                  <a:lnTo>
                    <a:pt x="0" y="349250"/>
                  </a:lnTo>
                  <a:lnTo>
                    <a:pt x="203200" y="0"/>
                  </a:lnTo>
                  <a:lnTo>
                    <a:pt x="465237" y="0"/>
                  </a:lnTo>
                  <a:lnTo>
                    <a:pt x="668437" y="349250"/>
                  </a:lnTo>
                  <a:close/>
                </a:path>
              </a:pathLst>
            </a:custGeom>
            <a:solidFill>
              <a:srgbClr val="BD9C6C"/>
            </a:solidFill>
          </p:spPr>
        </p:sp>
        <p:sp>
          <p:nvSpPr>
            <p:cNvPr name="TextBox 4" id="4"/>
            <p:cNvSpPr txBox="true"/>
            <p:nvPr/>
          </p:nvSpPr>
          <p:spPr>
            <a:xfrm>
              <a:off x="114300" y="-38100"/>
              <a:ext cx="439837"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33135" y="-1150365"/>
            <a:ext cx="10299575" cy="5134834"/>
            <a:chOff x="0" y="0"/>
            <a:chExt cx="699365" cy="348667"/>
          </a:xfrm>
        </p:grpSpPr>
        <p:sp>
          <p:nvSpPr>
            <p:cNvPr name="Freeform 6" id="6"/>
            <p:cNvSpPr/>
            <p:nvPr/>
          </p:nvSpPr>
          <p:spPr>
            <a:xfrm flipH="false" flipV="false" rot="0">
              <a:off x="0" y="0"/>
              <a:ext cx="699365" cy="348667"/>
            </a:xfrm>
            <a:custGeom>
              <a:avLst/>
              <a:gdLst/>
              <a:ahLst/>
              <a:cxnLst/>
              <a:rect r="r" b="b" t="t" l="l"/>
              <a:pathLst>
                <a:path h="348667" w="699365">
                  <a:moveTo>
                    <a:pt x="496165" y="0"/>
                  </a:moveTo>
                  <a:lnTo>
                    <a:pt x="0" y="0"/>
                  </a:lnTo>
                  <a:lnTo>
                    <a:pt x="203200" y="348667"/>
                  </a:lnTo>
                  <a:lnTo>
                    <a:pt x="699365" y="348667"/>
                  </a:lnTo>
                  <a:lnTo>
                    <a:pt x="496165" y="0"/>
                  </a:lnTo>
                  <a:close/>
                </a:path>
              </a:pathLst>
            </a:custGeom>
            <a:solidFill>
              <a:srgbClr val="4B331F"/>
            </a:solidFill>
          </p:spPr>
        </p:sp>
        <p:sp>
          <p:nvSpPr>
            <p:cNvPr name="TextBox 7" id="7"/>
            <p:cNvSpPr txBox="true"/>
            <p:nvPr/>
          </p:nvSpPr>
          <p:spPr>
            <a:xfrm>
              <a:off x="101600" y="-38100"/>
              <a:ext cx="49616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917017" y="7846303"/>
            <a:ext cx="3834034" cy="3289372"/>
            <a:chOff x="0" y="0"/>
            <a:chExt cx="406400" cy="348667"/>
          </a:xfrm>
        </p:grpSpPr>
        <p:sp>
          <p:nvSpPr>
            <p:cNvPr name="Freeform 9" id="9"/>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p:spPr>
        </p:sp>
        <p:sp>
          <p:nvSpPr>
            <p:cNvPr name="TextBox 10" id="10"/>
            <p:cNvSpPr txBox="true"/>
            <p:nvPr/>
          </p:nvSpPr>
          <p:spPr>
            <a:xfrm>
              <a:off x="101600" y="-38100"/>
              <a:ext cx="203200"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917017" y="9198322"/>
            <a:ext cx="5830440" cy="3289372"/>
            <a:chOff x="0" y="0"/>
            <a:chExt cx="618015" cy="348667"/>
          </a:xfrm>
        </p:grpSpPr>
        <p:sp>
          <p:nvSpPr>
            <p:cNvPr name="Freeform 12" id="12"/>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3" id="13"/>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4925305" y="-2345430"/>
            <a:ext cx="5674700" cy="3289372"/>
            <a:chOff x="0" y="0"/>
            <a:chExt cx="601507" cy="348667"/>
          </a:xfrm>
        </p:grpSpPr>
        <p:sp>
          <p:nvSpPr>
            <p:cNvPr name="Freeform 15" id="15"/>
            <p:cNvSpPr/>
            <p:nvPr/>
          </p:nvSpPr>
          <p:spPr>
            <a:xfrm flipH="false" flipV="false" rot="0">
              <a:off x="0" y="0"/>
              <a:ext cx="601507" cy="348667"/>
            </a:xfrm>
            <a:custGeom>
              <a:avLst/>
              <a:gdLst/>
              <a:ahLst/>
              <a:cxnLst/>
              <a:rect r="r" b="b" t="t" l="l"/>
              <a:pathLst>
                <a:path h="348667" w="601507">
                  <a:moveTo>
                    <a:pt x="398307" y="0"/>
                  </a:moveTo>
                  <a:lnTo>
                    <a:pt x="0" y="0"/>
                  </a:lnTo>
                  <a:lnTo>
                    <a:pt x="203200" y="348667"/>
                  </a:lnTo>
                  <a:lnTo>
                    <a:pt x="601507" y="348667"/>
                  </a:lnTo>
                  <a:lnTo>
                    <a:pt x="398307" y="0"/>
                  </a:lnTo>
                  <a:close/>
                </a:path>
              </a:pathLst>
            </a:custGeom>
            <a:solidFill>
              <a:srgbClr val="FFFFFF"/>
            </a:solidFill>
            <a:ln w="209550" cap="sq">
              <a:solidFill>
                <a:srgbClr val="BD9C6C"/>
              </a:solidFill>
              <a:prstDash val="solid"/>
              <a:miter/>
            </a:ln>
          </p:spPr>
        </p:sp>
        <p:sp>
          <p:nvSpPr>
            <p:cNvPr name="TextBox 16" id="16"/>
            <p:cNvSpPr txBox="true"/>
            <p:nvPr/>
          </p:nvSpPr>
          <p:spPr>
            <a:xfrm>
              <a:off x="101600" y="-38100"/>
              <a:ext cx="398307"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9230136" y="1924666"/>
            <a:ext cx="10183330" cy="7342143"/>
            <a:chOff x="0" y="0"/>
            <a:chExt cx="968798" cy="698500"/>
          </a:xfrm>
        </p:grpSpPr>
        <p:sp>
          <p:nvSpPr>
            <p:cNvPr name="Freeform 18" id="18"/>
            <p:cNvSpPr/>
            <p:nvPr/>
          </p:nvSpPr>
          <p:spPr>
            <a:xfrm flipH="false" flipV="false" rot="0">
              <a:off x="0" y="0"/>
              <a:ext cx="968798" cy="698500"/>
            </a:xfrm>
            <a:custGeom>
              <a:avLst/>
              <a:gdLst/>
              <a:ahLst/>
              <a:cxnLst/>
              <a:rect r="r" b="b" t="t" l="l"/>
              <a:pathLst>
                <a:path h="698500" w="968798">
                  <a:moveTo>
                    <a:pt x="968798" y="349250"/>
                  </a:moveTo>
                  <a:lnTo>
                    <a:pt x="765598" y="698500"/>
                  </a:lnTo>
                  <a:lnTo>
                    <a:pt x="203200" y="698500"/>
                  </a:lnTo>
                  <a:lnTo>
                    <a:pt x="0" y="349250"/>
                  </a:lnTo>
                  <a:lnTo>
                    <a:pt x="203200" y="0"/>
                  </a:lnTo>
                  <a:lnTo>
                    <a:pt x="765598" y="0"/>
                  </a:lnTo>
                  <a:lnTo>
                    <a:pt x="968798" y="349250"/>
                  </a:lnTo>
                  <a:close/>
                </a:path>
              </a:pathLst>
            </a:custGeom>
            <a:solidFill>
              <a:srgbClr val="FFFFFF"/>
            </a:solidFill>
          </p:spPr>
        </p:sp>
        <p:sp>
          <p:nvSpPr>
            <p:cNvPr name="TextBox 19" id="19"/>
            <p:cNvSpPr txBox="true"/>
            <p:nvPr/>
          </p:nvSpPr>
          <p:spPr>
            <a:xfrm>
              <a:off x="114300" y="-38100"/>
              <a:ext cx="740198" cy="736600"/>
            </a:xfrm>
            <a:prstGeom prst="rect">
              <a:avLst/>
            </a:prstGeom>
          </p:spPr>
          <p:txBody>
            <a:bodyPr anchor="ctr" rtlCol="false" tIns="50800" lIns="50800" bIns="50800" rIns="50800"/>
            <a:lstStyle/>
            <a:p>
              <a:pPr algn="ctr">
                <a:lnSpc>
                  <a:spcPts val="2659"/>
                </a:lnSpc>
                <a:spcBef>
                  <a:spcPct val="0"/>
                </a:spcBef>
              </a:pPr>
            </a:p>
          </p:txBody>
        </p:sp>
      </p:grpSp>
      <p:sp>
        <p:nvSpPr>
          <p:cNvPr name="AutoShape 20" id="20"/>
          <p:cNvSpPr/>
          <p:nvPr/>
        </p:nvSpPr>
        <p:spPr>
          <a:xfrm flipH="true">
            <a:off x="479389" y="3970181"/>
            <a:ext cx="1963835" cy="0"/>
          </a:xfrm>
          <a:prstGeom prst="line">
            <a:avLst/>
          </a:prstGeom>
          <a:ln cap="flat" w="28575">
            <a:solidFill>
              <a:srgbClr val="4B331F"/>
            </a:solidFill>
            <a:prstDash val="solid"/>
            <a:headEnd type="none" len="sm" w="sm"/>
            <a:tailEnd type="none" len="sm" w="sm"/>
          </a:ln>
        </p:spPr>
      </p:sp>
      <p:grpSp>
        <p:nvGrpSpPr>
          <p:cNvPr name="Group 21" id="21"/>
          <p:cNvGrpSpPr/>
          <p:nvPr/>
        </p:nvGrpSpPr>
        <p:grpSpPr>
          <a:xfrm rot="0">
            <a:off x="11102183" y="2435518"/>
            <a:ext cx="4742850" cy="6320440"/>
            <a:chOff x="0" y="0"/>
            <a:chExt cx="812800" cy="1083158"/>
          </a:xfrm>
        </p:grpSpPr>
        <p:sp>
          <p:nvSpPr>
            <p:cNvPr name="Freeform 22" id="22"/>
            <p:cNvSpPr/>
            <p:nvPr/>
          </p:nvSpPr>
          <p:spPr>
            <a:xfrm flipH="false" flipV="false" rot="0">
              <a:off x="0" y="0"/>
              <a:ext cx="812800" cy="1083158"/>
            </a:xfrm>
            <a:custGeom>
              <a:avLst/>
              <a:gdLst/>
              <a:ahLst/>
              <a:cxnLst/>
              <a:rect r="r" b="b" t="t" l="l"/>
              <a:pathLst>
                <a:path h="1083158" w="812800">
                  <a:moveTo>
                    <a:pt x="37544" y="0"/>
                  </a:moveTo>
                  <a:lnTo>
                    <a:pt x="775256" y="0"/>
                  </a:lnTo>
                  <a:cubicBezTo>
                    <a:pt x="785214" y="0"/>
                    <a:pt x="794763" y="3955"/>
                    <a:pt x="801804" y="10996"/>
                  </a:cubicBezTo>
                  <a:cubicBezTo>
                    <a:pt x="808845" y="18037"/>
                    <a:pt x="812800" y="27586"/>
                    <a:pt x="812800" y="37544"/>
                  </a:cubicBezTo>
                  <a:lnTo>
                    <a:pt x="812800" y="1045614"/>
                  </a:lnTo>
                  <a:cubicBezTo>
                    <a:pt x="812800" y="1066349"/>
                    <a:pt x="795991" y="1083158"/>
                    <a:pt x="775256" y="1083158"/>
                  </a:cubicBezTo>
                  <a:lnTo>
                    <a:pt x="37544" y="1083158"/>
                  </a:lnTo>
                  <a:cubicBezTo>
                    <a:pt x="27586" y="1083158"/>
                    <a:pt x="18037" y="1079202"/>
                    <a:pt x="10996" y="1072161"/>
                  </a:cubicBezTo>
                  <a:cubicBezTo>
                    <a:pt x="3955" y="1065120"/>
                    <a:pt x="0" y="1055571"/>
                    <a:pt x="0" y="1045614"/>
                  </a:cubicBezTo>
                  <a:lnTo>
                    <a:pt x="0" y="37544"/>
                  </a:lnTo>
                  <a:cubicBezTo>
                    <a:pt x="0" y="27586"/>
                    <a:pt x="3955" y="18037"/>
                    <a:pt x="10996" y="10996"/>
                  </a:cubicBezTo>
                  <a:cubicBezTo>
                    <a:pt x="18037" y="3955"/>
                    <a:pt x="27586" y="0"/>
                    <a:pt x="37544" y="0"/>
                  </a:cubicBezTo>
                  <a:close/>
                </a:path>
              </a:pathLst>
            </a:custGeom>
            <a:blipFill>
              <a:blip r:embed="rId2"/>
              <a:stretch>
                <a:fillRect l="-170" t="0" r="-170" b="0"/>
              </a:stretch>
            </a:blipFill>
          </p:spPr>
        </p:sp>
      </p:grpSp>
      <p:sp>
        <p:nvSpPr>
          <p:cNvPr name="TextBox 23" id="23"/>
          <p:cNvSpPr txBox="true"/>
          <p:nvPr/>
        </p:nvSpPr>
        <p:spPr>
          <a:xfrm rot="0">
            <a:off x="479389" y="827179"/>
            <a:ext cx="7512913" cy="2786333"/>
          </a:xfrm>
          <a:prstGeom prst="rect">
            <a:avLst/>
          </a:prstGeom>
        </p:spPr>
        <p:txBody>
          <a:bodyPr anchor="t" rtlCol="false" tIns="0" lIns="0" bIns="0" rIns="0">
            <a:spAutoFit/>
          </a:bodyPr>
          <a:lstStyle/>
          <a:p>
            <a:pPr algn="l">
              <a:lnSpc>
                <a:spcPts val="5264"/>
              </a:lnSpc>
            </a:pPr>
            <a:r>
              <a:rPr lang="en-US" sz="4920" b="true">
                <a:solidFill>
                  <a:srgbClr val="000000"/>
                </a:solidFill>
                <a:latin typeface="Arial Bold"/>
                <a:ea typeface="Arial Bold"/>
                <a:cs typeface="Arial Bold"/>
                <a:sym typeface="Arial Bold"/>
              </a:rPr>
              <a:t>Smart Mailbox Sorter: Automated Residential Mail Management System (SSM-ARMS)</a:t>
            </a:r>
          </a:p>
        </p:txBody>
      </p:sp>
      <p:sp>
        <p:nvSpPr>
          <p:cNvPr name="TextBox 24" id="24"/>
          <p:cNvSpPr txBox="true"/>
          <p:nvPr/>
        </p:nvSpPr>
        <p:spPr>
          <a:xfrm rot="0">
            <a:off x="631006" y="4222594"/>
            <a:ext cx="7573585" cy="6349746"/>
          </a:xfrm>
          <a:prstGeom prst="rect">
            <a:avLst/>
          </a:prstGeom>
        </p:spPr>
        <p:txBody>
          <a:bodyPr anchor="t" rtlCol="false" tIns="0" lIns="0" bIns="0" rIns="0">
            <a:spAutoFit/>
          </a:bodyPr>
          <a:lstStyle/>
          <a:p>
            <a:pPr algn="ctr">
              <a:lnSpc>
                <a:spcPts val="3863"/>
              </a:lnSpc>
            </a:pPr>
            <a:r>
              <a:rPr lang="en-US" b="true" sz="2759">
                <a:solidFill>
                  <a:srgbClr val="4B331F"/>
                </a:solidFill>
                <a:latin typeface="Arial Bold"/>
                <a:ea typeface="Arial Bold"/>
                <a:cs typeface="Arial Bold"/>
                <a:sym typeface="Arial Bold"/>
              </a:rPr>
              <a:t>Submitted by:</a:t>
            </a:r>
            <a:r>
              <a:rPr lang="en-US" b="true" sz="2759">
                <a:solidFill>
                  <a:srgbClr val="000000"/>
                </a:solidFill>
                <a:latin typeface="Arial Bold"/>
                <a:ea typeface="Arial Bold"/>
                <a:cs typeface="Arial Bold"/>
                <a:sym typeface="Arial Bold"/>
              </a:rPr>
              <a:t> </a:t>
            </a:r>
            <a:r>
              <a:rPr lang="en-US" sz="2759">
                <a:solidFill>
                  <a:srgbClr val="000000"/>
                </a:solidFill>
                <a:latin typeface="Arial"/>
                <a:ea typeface="Arial"/>
                <a:cs typeface="Arial"/>
                <a:sym typeface="Arial"/>
              </a:rPr>
              <a:t>Groupe n°2</a:t>
            </a:r>
          </a:p>
          <a:p>
            <a:pPr algn="ctr">
              <a:lnSpc>
                <a:spcPts val="3863"/>
              </a:lnSpc>
            </a:pPr>
            <a:r>
              <a:rPr lang="en-US" sz="2759">
                <a:solidFill>
                  <a:srgbClr val="000000"/>
                </a:solidFill>
                <a:latin typeface="Arial"/>
                <a:ea typeface="Arial"/>
                <a:cs typeface="Arial"/>
                <a:sym typeface="Arial"/>
              </a:rPr>
              <a:t>Aya Chatiou</a:t>
            </a:r>
          </a:p>
          <a:p>
            <a:pPr algn="ctr">
              <a:lnSpc>
                <a:spcPts val="3863"/>
              </a:lnSpc>
            </a:pPr>
            <a:r>
              <a:rPr lang="en-US" sz="2759">
                <a:solidFill>
                  <a:srgbClr val="000000"/>
                </a:solidFill>
                <a:latin typeface="Arial"/>
                <a:ea typeface="Arial"/>
                <a:cs typeface="Arial"/>
                <a:sym typeface="Arial"/>
              </a:rPr>
              <a:t>Mayssa Tebourbi</a:t>
            </a:r>
          </a:p>
          <a:p>
            <a:pPr algn="ctr">
              <a:lnSpc>
                <a:spcPts val="3863"/>
              </a:lnSpc>
            </a:pPr>
            <a:r>
              <a:rPr lang="en-US" sz="2759">
                <a:solidFill>
                  <a:srgbClr val="000000"/>
                </a:solidFill>
                <a:latin typeface="Arial"/>
                <a:ea typeface="Arial"/>
                <a:cs typeface="Arial"/>
                <a:sym typeface="Arial"/>
              </a:rPr>
              <a:t>Nujhat Fatima</a:t>
            </a:r>
          </a:p>
          <a:p>
            <a:pPr algn="ctr">
              <a:lnSpc>
                <a:spcPts val="3863"/>
              </a:lnSpc>
            </a:pPr>
            <a:r>
              <a:rPr lang="en-US" sz="2759">
                <a:solidFill>
                  <a:srgbClr val="000000"/>
                </a:solidFill>
                <a:latin typeface="Arial"/>
                <a:ea typeface="Arial"/>
                <a:cs typeface="Arial"/>
                <a:sym typeface="Arial"/>
              </a:rPr>
              <a:t>Sultan Oloyede</a:t>
            </a:r>
          </a:p>
          <a:p>
            <a:pPr algn="ctr">
              <a:lnSpc>
                <a:spcPts val="3863"/>
              </a:lnSpc>
            </a:pPr>
            <a:r>
              <a:rPr lang="en-US" sz="2759">
                <a:solidFill>
                  <a:srgbClr val="000000"/>
                </a:solidFill>
                <a:latin typeface="Arial"/>
                <a:ea typeface="Arial"/>
                <a:cs typeface="Arial"/>
                <a:sym typeface="Arial"/>
              </a:rPr>
              <a:t>Gbegbe Decaho</a:t>
            </a:r>
          </a:p>
          <a:p>
            <a:pPr algn="ctr">
              <a:lnSpc>
                <a:spcPts val="3863"/>
              </a:lnSpc>
            </a:pPr>
            <a:r>
              <a:rPr lang="en-US" sz="2759">
                <a:solidFill>
                  <a:srgbClr val="000000"/>
                </a:solidFill>
                <a:latin typeface="Arial"/>
                <a:ea typeface="Arial"/>
                <a:cs typeface="Arial"/>
                <a:sym typeface="Arial"/>
              </a:rPr>
              <a:t>Esdras Sumaili</a:t>
            </a:r>
          </a:p>
          <a:p>
            <a:pPr algn="ctr">
              <a:lnSpc>
                <a:spcPts val="3863"/>
              </a:lnSpc>
            </a:pPr>
            <a:r>
              <a:rPr lang="en-US" sz="2759">
                <a:solidFill>
                  <a:srgbClr val="000000"/>
                </a:solidFill>
                <a:latin typeface="Arial"/>
                <a:ea typeface="Arial"/>
                <a:cs typeface="Arial"/>
                <a:sym typeface="Arial"/>
              </a:rPr>
              <a:t> </a:t>
            </a:r>
          </a:p>
          <a:p>
            <a:pPr algn="ctr">
              <a:lnSpc>
                <a:spcPts val="3863"/>
              </a:lnSpc>
            </a:pPr>
            <a:r>
              <a:rPr lang="en-US" b="true" sz="2759">
                <a:solidFill>
                  <a:srgbClr val="4B331F"/>
                </a:solidFill>
                <a:latin typeface="Arial Bold"/>
                <a:ea typeface="Arial Bold"/>
                <a:cs typeface="Arial Bold"/>
                <a:sym typeface="Arial Bold"/>
              </a:rPr>
              <a:t>Submitted to Professor:</a:t>
            </a:r>
            <a:r>
              <a:rPr lang="en-US" b="true" sz="2759">
                <a:solidFill>
                  <a:srgbClr val="06408D"/>
                </a:solidFill>
                <a:latin typeface="Arial Bold"/>
                <a:ea typeface="Arial Bold"/>
                <a:cs typeface="Arial Bold"/>
                <a:sym typeface="Arial Bold"/>
              </a:rPr>
              <a:t> </a:t>
            </a:r>
            <a:r>
              <a:rPr lang="en-US" sz="2759">
                <a:solidFill>
                  <a:srgbClr val="000000"/>
                </a:solidFill>
                <a:latin typeface="Arial"/>
                <a:ea typeface="Arial"/>
                <a:cs typeface="Arial"/>
                <a:sym typeface="Arial"/>
              </a:rPr>
              <a:t>Dan Ionescu</a:t>
            </a:r>
            <a:r>
              <a:rPr lang="en-US" b="true" sz="2759">
                <a:solidFill>
                  <a:srgbClr val="000000"/>
                </a:solidFill>
                <a:latin typeface="Arial Bold"/>
                <a:ea typeface="Arial Bold"/>
                <a:cs typeface="Arial Bold"/>
                <a:sym typeface="Arial Bold"/>
              </a:rPr>
              <a:t> </a:t>
            </a:r>
          </a:p>
          <a:p>
            <a:pPr algn="ctr">
              <a:lnSpc>
                <a:spcPts val="3863"/>
              </a:lnSpc>
            </a:pPr>
          </a:p>
          <a:p>
            <a:pPr algn="ctr">
              <a:lnSpc>
                <a:spcPts val="3863"/>
              </a:lnSpc>
            </a:pPr>
          </a:p>
          <a:p>
            <a:pPr algn="ctr">
              <a:lnSpc>
                <a:spcPts val="3863"/>
              </a:lnSpc>
            </a:pPr>
            <a:r>
              <a:rPr lang="en-US" b="true" sz="2759">
                <a:solidFill>
                  <a:srgbClr val="4B331F"/>
                </a:solidFill>
                <a:latin typeface="Arial Bold"/>
                <a:ea typeface="Arial Bold"/>
                <a:cs typeface="Arial Bold"/>
                <a:sym typeface="Arial Bold"/>
              </a:rPr>
              <a:t> </a:t>
            </a:r>
          </a:p>
          <a:p>
            <a:pPr algn="ctr">
              <a:lnSpc>
                <a:spcPts val="3863"/>
              </a:lnSpc>
            </a:pP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51591" y="752475"/>
            <a:ext cx="18604420" cy="1369691"/>
          </a:xfrm>
          <a:prstGeom prst="rect">
            <a:avLst/>
          </a:prstGeom>
        </p:spPr>
        <p:txBody>
          <a:bodyPr anchor="t" rtlCol="false" tIns="0" lIns="0" bIns="0" rIns="0">
            <a:spAutoFit/>
          </a:bodyPr>
          <a:lstStyle/>
          <a:p>
            <a:pPr algn="l" marL="0" indent="0" lvl="0">
              <a:lnSpc>
                <a:spcPts val="10080"/>
              </a:lnSpc>
              <a:spcBef>
                <a:spcPct val="0"/>
              </a:spcBef>
            </a:pPr>
            <a:r>
              <a:rPr lang="en-US" b="true" sz="7200" strike="noStrike" u="sng">
                <a:solidFill>
                  <a:srgbClr val="855832"/>
                </a:solidFill>
                <a:latin typeface="Arial Bold"/>
                <a:ea typeface="Arial Bold"/>
                <a:cs typeface="Arial Bold"/>
                <a:sym typeface="Arial Bold"/>
              </a:rPr>
              <a:t>Project Description</a:t>
            </a:r>
          </a:p>
        </p:txBody>
      </p:sp>
      <p:grpSp>
        <p:nvGrpSpPr>
          <p:cNvPr name="Group 3" id="3"/>
          <p:cNvGrpSpPr/>
          <p:nvPr/>
        </p:nvGrpSpPr>
        <p:grpSpPr>
          <a:xfrm rot="0">
            <a:off x="-1917017" y="7846303"/>
            <a:ext cx="3834034" cy="3289372"/>
            <a:chOff x="0" y="0"/>
            <a:chExt cx="406400" cy="348667"/>
          </a:xfrm>
        </p:grpSpPr>
        <p:sp>
          <p:nvSpPr>
            <p:cNvPr name="Freeform 4" id="4"/>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5" id="5"/>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917017" y="9198322"/>
            <a:ext cx="5830440" cy="3289372"/>
            <a:chOff x="0" y="0"/>
            <a:chExt cx="618015" cy="348667"/>
          </a:xfrm>
        </p:grpSpPr>
        <p:sp>
          <p:nvSpPr>
            <p:cNvPr name="Freeform 7" id="7"/>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8" id="8"/>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10711109">
            <a:off x="16380764" y="-1153095"/>
            <a:ext cx="3834034" cy="3289372"/>
            <a:chOff x="0" y="0"/>
            <a:chExt cx="406400" cy="348667"/>
          </a:xfrm>
        </p:grpSpPr>
        <p:sp>
          <p:nvSpPr>
            <p:cNvPr name="Freeform 10" id="10"/>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1" id="11"/>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10711109">
            <a:off x="14848447" y="-2335493"/>
            <a:ext cx="5830440" cy="3289372"/>
            <a:chOff x="0" y="0"/>
            <a:chExt cx="618015" cy="348667"/>
          </a:xfrm>
        </p:grpSpPr>
        <p:sp>
          <p:nvSpPr>
            <p:cNvPr name="Freeform 13" id="13"/>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4" id="14"/>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851591" y="2509776"/>
            <a:ext cx="13246839" cy="3696935"/>
          </a:xfrm>
          <a:prstGeom prst="rect">
            <a:avLst/>
          </a:prstGeom>
        </p:spPr>
        <p:txBody>
          <a:bodyPr anchor="t" rtlCol="false" tIns="0" lIns="0" bIns="0" rIns="0">
            <a:spAutoFit/>
          </a:bodyPr>
          <a:lstStyle/>
          <a:p>
            <a:pPr algn="just" marL="0" indent="0" lvl="0">
              <a:lnSpc>
                <a:spcPts val="3621"/>
              </a:lnSpc>
              <a:spcBef>
                <a:spcPct val="0"/>
              </a:spcBef>
            </a:pPr>
            <a:r>
              <a:rPr lang="en-US" sz="2586" strike="noStrike" u="none">
                <a:solidFill>
                  <a:srgbClr val="000000"/>
                </a:solidFill>
                <a:latin typeface="Arial"/>
                <a:ea typeface="Arial"/>
                <a:cs typeface="Arial"/>
                <a:sym typeface="Arial"/>
              </a:rPr>
              <a:t>An automated mail sorting system designed to streamline letter distribution for apartment complexes.</a:t>
            </a:r>
          </a:p>
          <a:p>
            <a:pPr algn="just" marL="558492" indent="-279246" lvl="1">
              <a:lnSpc>
                <a:spcPts val="3621"/>
              </a:lnSpc>
              <a:spcBef>
                <a:spcPct val="0"/>
              </a:spcBef>
              <a:buFont typeface="Arial"/>
              <a:buChar char="•"/>
            </a:pPr>
            <a:r>
              <a:rPr lang="en-US" sz="2586" strike="noStrike" u="none">
                <a:solidFill>
                  <a:srgbClr val="000000"/>
                </a:solidFill>
                <a:latin typeface="Arial"/>
                <a:ea typeface="Arial"/>
                <a:cs typeface="Arial"/>
                <a:sym typeface="Arial"/>
              </a:rPr>
              <a:t>Uses a conveyor belt to transport letters.</a:t>
            </a:r>
          </a:p>
          <a:p>
            <a:pPr algn="just" marL="558492" indent="-279246" lvl="1">
              <a:lnSpc>
                <a:spcPts val="3621"/>
              </a:lnSpc>
              <a:spcBef>
                <a:spcPct val="0"/>
              </a:spcBef>
              <a:buFont typeface="Arial"/>
              <a:buChar char="•"/>
            </a:pPr>
            <a:r>
              <a:rPr lang="en-US" sz="2586" strike="noStrike" u="none">
                <a:solidFill>
                  <a:srgbClr val="000000"/>
                </a:solidFill>
                <a:latin typeface="Arial"/>
                <a:ea typeface="Arial"/>
                <a:cs typeface="Arial"/>
                <a:sym typeface="Arial"/>
              </a:rPr>
              <a:t>Controlled by Raspberry Pi for precise movement.</a:t>
            </a:r>
          </a:p>
          <a:p>
            <a:pPr algn="just" marL="558492" indent="-279246" lvl="1">
              <a:lnSpc>
                <a:spcPts val="3621"/>
              </a:lnSpc>
              <a:spcBef>
                <a:spcPct val="0"/>
              </a:spcBef>
              <a:buFont typeface="Arial"/>
              <a:buChar char="•"/>
            </a:pPr>
            <a:r>
              <a:rPr lang="en-US" sz="2586" strike="noStrike" u="none">
                <a:solidFill>
                  <a:srgbClr val="000000"/>
                </a:solidFill>
                <a:latin typeface="Arial"/>
                <a:ea typeface="Arial"/>
                <a:cs typeface="Arial"/>
                <a:sym typeface="Arial"/>
              </a:rPr>
              <a:t>Integrates camera with AI for accurate letter identification.</a:t>
            </a:r>
          </a:p>
          <a:p>
            <a:pPr algn="just" marL="558492" indent="-279246" lvl="1">
              <a:lnSpc>
                <a:spcPts val="3621"/>
              </a:lnSpc>
              <a:spcBef>
                <a:spcPct val="0"/>
              </a:spcBef>
              <a:buFont typeface="Arial"/>
              <a:buChar char="•"/>
            </a:pPr>
            <a:r>
              <a:rPr lang="en-US" sz="2586" strike="noStrike" u="none">
                <a:solidFill>
                  <a:srgbClr val="000000"/>
                </a:solidFill>
                <a:latin typeface="Arial"/>
                <a:ea typeface="Arial"/>
                <a:cs typeface="Arial"/>
                <a:sym typeface="Arial"/>
              </a:rPr>
              <a:t>Linear actuator positions the belt for correct compartment alignment.</a:t>
            </a:r>
          </a:p>
          <a:p>
            <a:pPr algn="just" marL="558492" indent="-279246" lvl="1">
              <a:lnSpc>
                <a:spcPts val="3621"/>
              </a:lnSpc>
              <a:spcBef>
                <a:spcPct val="0"/>
              </a:spcBef>
              <a:buFont typeface="Arial"/>
              <a:buChar char="•"/>
            </a:pPr>
            <a:r>
              <a:rPr lang="en-US" sz="2586" strike="noStrike" u="none">
                <a:solidFill>
                  <a:srgbClr val="000000"/>
                </a:solidFill>
                <a:latin typeface="Arial"/>
                <a:ea typeface="Arial"/>
                <a:cs typeface="Arial"/>
                <a:sym typeface="Arial"/>
              </a:rPr>
              <a:t>Includes a mobile app for residents to interact with the system.</a:t>
            </a:r>
          </a:p>
          <a:p>
            <a:pPr algn="just" marL="0" indent="0" lvl="0">
              <a:lnSpc>
                <a:spcPts val="3621"/>
              </a:lnSpc>
              <a:spcBef>
                <a:spcPct val="0"/>
              </a:spcBef>
            </a:pP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16809" y="2615525"/>
            <a:ext cx="12449883" cy="604971"/>
          </a:xfrm>
          <a:prstGeom prst="rect">
            <a:avLst/>
          </a:prstGeom>
        </p:spPr>
        <p:txBody>
          <a:bodyPr anchor="t" rtlCol="false" tIns="0" lIns="0" bIns="0" rIns="0">
            <a:spAutoFit/>
          </a:bodyPr>
          <a:lstStyle/>
          <a:p>
            <a:pPr algn="just" marL="0" indent="0" lvl="0">
              <a:lnSpc>
                <a:spcPts val="4451"/>
              </a:lnSpc>
              <a:spcBef>
                <a:spcPct val="0"/>
              </a:spcBef>
            </a:pPr>
            <a:r>
              <a:rPr lang="en-US" b="true" sz="3179" strike="noStrike" u="none">
                <a:solidFill>
                  <a:srgbClr val="BD9C6C"/>
                </a:solidFill>
                <a:latin typeface="Arial Bold"/>
                <a:ea typeface="Arial Bold"/>
                <a:cs typeface="Arial Bold"/>
                <a:sym typeface="Arial Bold"/>
              </a:rPr>
              <a:t>Our goal for this semester</a:t>
            </a:r>
          </a:p>
        </p:txBody>
      </p:sp>
      <p:grpSp>
        <p:nvGrpSpPr>
          <p:cNvPr name="Group 3" id="3"/>
          <p:cNvGrpSpPr/>
          <p:nvPr/>
        </p:nvGrpSpPr>
        <p:grpSpPr>
          <a:xfrm rot="0">
            <a:off x="-1917017" y="7846303"/>
            <a:ext cx="3834034" cy="3289372"/>
            <a:chOff x="0" y="0"/>
            <a:chExt cx="406400" cy="348667"/>
          </a:xfrm>
        </p:grpSpPr>
        <p:sp>
          <p:nvSpPr>
            <p:cNvPr name="Freeform 4" id="4"/>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5" id="5"/>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917017" y="9198322"/>
            <a:ext cx="5830440" cy="3289372"/>
            <a:chOff x="0" y="0"/>
            <a:chExt cx="618015" cy="348667"/>
          </a:xfrm>
        </p:grpSpPr>
        <p:sp>
          <p:nvSpPr>
            <p:cNvPr name="Freeform 7" id="7"/>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8" id="8"/>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10711109">
            <a:off x="16380764" y="-1153095"/>
            <a:ext cx="3834034" cy="3289372"/>
            <a:chOff x="0" y="0"/>
            <a:chExt cx="406400" cy="348667"/>
          </a:xfrm>
        </p:grpSpPr>
        <p:sp>
          <p:nvSpPr>
            <p:cNvPr name="Freeform 10" id="10"/>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1" id="11"/>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10711109">
            <a:off x="14848447" y="-2335493"/>
            <a:ext cx="5830440" cy="3289372"/>
            <a:chOff x="0" y="0"/>
            <a:chExt cx="618015" cy="348667"/>
          </a:xfrm>
        </p:grpSpPr>
        <p:sp>
          <p:nvSpPr>
            <p:cNvPr name="Freeform 13" id="13"/>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4" id="14"/>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452780" y="4074117"/>
            <a:ext cx="8618574" cy="2661047"/>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Arial"/>
                <a:ea typeface="Arial"/>
                <a:cs typeface="Arial"/>
                <a:sym typeface="Arial"/>
              </a:rPr>
              <a:t>Enhance AI accuracy for letter reading.</a:t>
            </a:r>
          </a:p>
          <a:p>
            <a:pPr algn="just" marL="539749" indent="-269875" lvl="1">
              <a:lnSpc>
                <a:spcPts val="3499"/>
              </a:lnSpc>
              <a:buFont typeface="Arial"/>
              <a:buChar char="•"/>
            </a:pPr>
            <a:r>
              <a:rPr lang="en-US" sz="2499">
                <a:solidFill>
                  <a:srgbClr val="000000"/>
                </a:solidFill>
                <a:latin typeface="Arial"/>
                <a:ea typeface="Arial"/>
                <a:cs typeface="Arial"/>
                <a:sym typeface="Arial"/>
              </a:rPr>
              <a:t>Implement motor control for conveyor belt rotation.</a:t>
            </a:r>
          </a:p>
          <a:p>
            <a:pPr algn="just" marL="539749" indent="-269875" lvl="1">
              <a:lnSpc>
                <a:spcPts val="3499"/>
              </a:lnSpc>
              <a:buFont typeface="Arial"/>
              <a:buChar char="•"/>
            </a:pPr>
            <a:r>
              <a:rPr lang="en-US" sz="2499">
                <a:solidFill>
                  <a:srgbClr val="000000"/>
                </a:solidFill>
                <a:latin typeface="Arial"/>
                <a:ea typeface="Arial"/>
                <a:cs typeface="Arial"/>
                <a:sym typeface="Arial"/>
              </a:rPr>
              <a:t>Integrate linear actuator for conveyor belt alignment.</a:t>
            </a:r>
          </a:p>
          <a:p>
            <a:pPr algn="just" marL="539749" indent="-269875" lvl="1">
              <a:lnSpc>
                <a:spcPts val="3499"/>
              </a:lnSpc>
              <a:buFont typeface="Arial"/>
              <a:buChar char="•"/>
            </a:pPr>
            <a:r>
              <a:rPr lang="en-US" sz="2499">
                <a:solidFill>
                  <a:srgbClr val="000000"/>
                </a:solidFill>
                <a:latin typeface="Arial"/>
                <a:ea typeface="Arial"/>
                <a:cs typeface="Arial"/>
                <a:sym typeface="Arial"/>
              </a:rPr>
              <a:t>Develop web application with database for resident management.</a:t>
            </a:r>
          </a:p>
          <a:p>
            <a:pPr algn="just" marL="539749" indent="-269875" lvl="1">
              <a:lnSpc>
                <a:spcPts val="3499"/>
              </a:lnSpc>
              <a:buFont typeface="Arial"/>
              <a:buChar char="•"/>
            </a:pPr>
            <a:r>
              <a:rPr lang="en-US" sz="2499">
                <a:solidFill>
                  <a:srgbClr val="000000"/>
                </a:solidFill>
                <a:latin typeface="Arial"/>
                <a:ea typeface="Arial"/>
                <a:cs typeface="Arial"/>
                <a:sym typeface="Arial"/>
              </a:rPr>
              <a:t>Finalize the </a:t>
            </a:r>
            <a:r>
              <a:rPr lang="en-US" sz="2499">
                <a:solidFill>
                  <a:srgbClr val="000000"/>
                </a:solidFill>
                <a:latin typeface="Arial"/>
                <a:ea typeface="Arial"/>
                <a:cs typeface="Arial"/>
                <a:sym typeface="Arial"/>
              </a:rPr>
              <a:t>prototype of the mailbox</a:t>
            </a:r>
          </a:p>
        </p:txBody>
      </p:sp>
      <p:grpSp>
        <p:nvGrpSpPr>
          <p:cNvPr name="Group 16" id="16"/>
          <p:cNvGrpSpPr/>
          <p:nvPr/>
        </p:nvGrpSpPr>
        <p:grpSpPr>
          <a:xfrm rot="0">
            <a:off x="12727422" y="2472455"/>
            <a:ext cx="4742850" cy="6172691"/>
            <a:chOff x="0" y="0"/>
            <a:chExt cx="812800" cy="1057837"/>
          </a:xfrm>
        </p:grpSpPr>
        <p:sp>
          <p:nvSpPr>
            <p:cNvPr name="Freeform 17" id="17"/>
            <p:cNvSpPr/>
            <p:nvPr/>
          </p:nvSpPr>
          <p:spPr>
            <a:xfrm flipH="false" flipV="false" rot="0">
              <a:off x="0" y="0"/>
              <a:ext cx="812800" cy="1057837"/>
            </a:xfrm>
            <a:custGeom>
              <a:avLst/>
              <a:gdLst/>
              <a:ahLst/>
              <a:cxnLst/>
              <a:rect r="r" b="b" t="t" l="l"/>
              <a:pathLst>
                <a:path h="1057837" w="812800">
                  <a:moveTo>
                    <a:pt x="37544" y="0"/>
                  </a:moveTo>
                  <a:lnTo>
                    <a:pt x="775256" y="0"/>
                  </a:lnTo>
                  <a:cubicBezTo>
                    <a:pt x="785214" y="0"/>
                    <a:pt x="794763" y="3955"/>
                    <a:pt x="801804" y="10996"/>
                  </a:cubicBezTo>
                  <a:cubicBezTo>
                    <a:pt x="808845" y="18037"/>
                    <a:pt x="812800" y="27586"/>
                    <a:pt x="812800" y="37544"/>
                  </a:cubicBezTo>
                  <a:lnTo>
                    <a:pt x="812800" y="1020294"/>
                  </a:lnTo>
                  <a:cubicBezTo>
                    <a:pt x="812800" y="1030251"/>
                    <a:pt x="808845" y="1039800"/>
                    <a:pt x="801804" y="1046841"/>
                  </a:cubicBezTo>
                  <a:cubicBezTo>
                    <a:pt x="794763" y="1053882"/>
                    <a:pt x="785214" y="1057837"/>
                    <a:pt x="775256" y="1057837"/>
                  </a:cubicBezTo>
                  <a:lnTo>
                    <a:pt x="37544" y="1057837"/>
                  </a:lnTo>
                  <a:cubicBezTo>
                    <a:pt x="27586" y="1057837"/>
                    <a:pt x="18037" y="1053882"/>
                    <a:pt x="10996" y="1046841"/>
                  </a:cubicBezTo>
                  <a:cubicBezTo>
                    <a:pt x="3955" y="1039800"/>
                    <a:pt x="0" y="1030251"/>
                    <a:pt x="0" y="1020294"/>
                  </a:cubicBezTo>
                  <a:lnTo>
                    <a:pt x="0" y="37544"/>
                  </a:lnTo>
                  <a:cubicBezTo>
                    <a:pt x="0" y="27586"/>
                    <a:pt x="3955" y="18037"/>
                    <a:pt x="10996" y="10996"/>
                  </a:cubicBezTo>
                  <a:cubicBezTo>
                    <a:pt x="18037" y="3955"/>
                    <a:pt x="27586" y="0"/>
                    <a:pt x="37544" y="0"/>
                  </a:cubicBezTo>
                  <a:close/>
                </a:path>
              </a:pathLst>
            </a:custGeom>
            <a:blipFill>
              <a:blip r:embed="rId3"/>
              <a:stretch>
                <a:fillRect l="-29409" t="0" r="-33072" b="-65804"/>
              </a:stretch>
            </a:blipFill>
          </p:spPr>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05780" y="1739737"/>
            <a:ext cx="16073058" cy="1753852"/>
          </a:xfrm>
          <a:prstGeom prst="rect">
            <a:avLst/>
          </a:prstGeom>
        </p:spPr>
        <p:txBody>
          <a:bodyPr anchor="t" rtlCol="false" tIns="0" lIns="0" bIns="0" rIns="0">
            <a:spAutoFit/>
          </a:bodyPr>
          <a:lstStyle/>
          <a:p>
            <a:pPr algn="just">
              <a:lnSpc>
                <a:spcPts val="6271"/>
              </a:lnSpc>
            </a:pPr>
            <a:r>
              <a:rPr lang="en-US" sz="4479" b="true">
                <a:solidFill>
                  <a:srgbClr val="4B331F"/>
                </a:solidFill>
                <a:latin typeface="Arial Bold"/>
                <a:ea typeface="Arial Bold"/>
                <a:cs typeface="Arial Bold"/>
                <a:sym typeface="Arial Bold"/>
              </a:rPr>
              <a:t>Requirements satisfied in this semester</a:t>
            </a:r>
          </a:p>
          <a:p>
            <a:pPr algn="just" marL="0" indent="0" lvl="0">
              <a:lnSpc>
                <a:spcPts val="7251"/>
              </a:lnSpc>
              <a:spcBef>
                <a:spcPct val="0"/>
              </a:spcBef>
            </a:pPr>
          </a:p>
        </p:txBody>
      </p:sp>
      <p:grpSp>
        <p:nvGrpSpPr>
          <p:cNvPr name="Group 3" id="3"/>
          <p:cNvGrpSpPr/>
          <p:nvPr/>
        </p:nvGrpSpPr>
        <p:grpSpPr>
          <a:xfrm rot="0">
            <a:off x="16279998" y="8137472"/>
            <a:ext cx="1340305" cy="1120828"/>
            <a:chOff x="0" y="0"/>
            <a:chExt cx="459970" cy="384649"/>
          </a:xfrm>
        </p:grpSpPr>
        <p:sp>
          <p:nvSpPr>
            <p:cNvPr name="Freeform 4" id="4"/>
            <p:cNvSpPr/>
            <p:nvPr/>
          </p:nvSpPr>
          <p:spPr>
            <a:xfrm flipH="false" flipV="false" rot="0">
              <a:off x="0" y="0"/>
              <a:ext cx="459970" cy="384649"/>
            </a:xfrm>
            <a:custGeom>
              <a:avLst/>
              <a:gdLst/>
              <a:ahLst/>
              <a:cxnLst/>
              <a:rect r="r" b="b" t="t" l="l"/>
              <a:pathLst>
                <a:path h="384649" w="459970">
                  <a:moveTo>
                    <a:pt x="229985" y="0"/>
                  </a:moveTo>
                  <a:lnTo>
                    <a:pt x="459970" y="384649"/>
                  </a:lnTo>
                  <a:lnTo>
                    <a:pt x="0" y="384649"/>
                  </a:lnTo>
                  <a:lnTo>
                    <a:pt x="229985" y="0"/>
                  </a:lnTo>
                  <a:close/>
                </a:path>
              </a:pathLst>
            </a:custGeom>
            <a:solidFill>
              <a:srgbClr val="FFFFFF"/>
            </a:solidFill>
          </p:spPr>
        </p:sp>
        <p:sp>
          <p:nvSpPr>
            <p:cNvPr name="TextBox 5" id="5"/>
            <p:cNvSpPr txBox="true"/>
            <p:nvPr/>
          </p:nvSpPr>
          <p:spPr>
            <a:xfrm>
              <a:off x="71870" y="140487"/>
              <a:ext cx="316229" cy="21668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05780" y="3417390"/>
            <a:ext cx="8166850" cy="6437653"/>
          </a:xfrm>
          <a:prstGeom prst="rect">
            <a:avLst/>
          </a:prstGeom>
        </p:spPr>
        <p:txBody>
          <a:bodyPr anchor="t" rtlCol="false" tIns="0" lIns="0" bIns="0" rIns="0">
            <a:spAutoFit/>
          </a:bodyPr>
          <a:lstStyle/>
          <a:p>
            <a:pPr algn="l" marL="473789" indent="-236895" lvl="1">
              <a:lnSpc>
                <a:spcPts val="3401"/>
              </a:lnSpc>
              <a:buFont typeface="Arial"/>
              <a:buChar char="•"/>
            </a:pPr>
            <a:r>
              <a:rPr lang="en-US" b="true" sz="2194">
                <a:solidFill>
                  <a:srgbClr val="000000"/>
                </a:solidFill>
                <a:latin typeface="Arial Bold"/>
                <a:ea typeface="Arial Bold"/>
                <a:cs typeface="Arial Bold"/>
                <a:sym typeface="Arial Bold"/>
              </a:rPr>
              <a:t> Mail Handling via Conveyor Belt : </a:t>
            </a:r>
            <a:r>
              <a:rPr lang="en-US" sz="2194">
                <a:solidFill>
                  <a:srgbClr val="000000"/>
                </a:solidFill>
                <a:latin typeface="Arial"/>
                <a:ea typeface="Arial"/>
                <a:cs typeface="Arial"/>
                <a:sym typeface="Arial"/>
              </a:rPr>
              <a:t>The conveyor belts sort mails to the correct apartment</a:t>
            </a:r>
          </a:p>
          <a:p>
            <a:pPr algn="l" marL="473789" indent="-236895" lvl="1">
              <a:lnSpc>
                <a:spcPts val="3401"/>
              </a:lnSpc>
              <a:buFont typeface="Arial"/>
              <a:buChar char="•"/>
            </a:pPr>
            <a:r>
              <a:rPr lang="en-US" b="true" sz="2194">
                <a:solidFill>
                  <a:srgbClr val="000000"/>
                </a:solidFill>
                <a:latin typeface="Arial Bold"/>
                <a:ea typeface="Arial Bold"/>
                <a:cs typeface="Arial Bold"/>
                <a:sym typeface="Arial Bold"/>
              </a:rPr>
              <a:t>Mail Sorting Mechanism: </a:t>
            </a:r>
            <a:r>
              <a:rPr lang="en-US" sz="2194">
                <a:solidFill>
                  <a:srgbClr val="000000"/>
                </a:solidFill>
                <a:latin typeface="Arial"/>
                <a:ea typeface="Arial"/>
                <a:cs typeface="Arial"/>
                <a:sym typeface="Arial"/>
              </a:rPr>
              <a:t>Recognize the address of the recipient to determine the corresponding box.</a:t>
            </a:r>
          </a:p>
          <a:p>
            <a:pPr algn="l" marL="473789" indent="-236895" lvl="1">
              <a:lnSpc>
                <a:spcPts val="3401"/>
              </a:lnSpc>
              <a:buFont typeface="Arial"/>
              <a:buChar char="•"/>
            </a:pPr>
            <a:r>
              <a:rPr lang="en-US" b="true" sz="2194">
                <a:solidFill>
                  <a:srgbClr val="000000"/>
                </a:solidFill>
                <a:latin typeface="Arial Bold"/>
                <a:ea typeface="Arial Bold"/>
                <a:cs typeface="Arial Bold"/>
                <a:sym typeface="Arial Bold"/>
              </a:rPr>
              <a:t>Delivery Process: </a:t>
            </a:r>
            <a:r>
              <a:rPr lang="en-US" sz="2194">
                <a:solidFill>
                  <a:srgbClr val="000000"/>
                </a:solidFill>
                <a:latin typeface="Arial"/>
                <a:ea typeface="Arial"/>
                <a:cs typeface="Arial"/>
                <a:sym typeface="Arial"/>
              </a:rPr>
              <a:t>Once the appropriate level is reached, the internal servo motor turns and the conveyor belt pushes the mail into the mailbox of the designated apartment.</a:t>
            </a:r>
          </a:p>
          <a:p>
            <a:pPr algn="l" marL="473789" indent="-236895" lvl="1">
              <a:lnSpc>
                <a:spcPts val="3401"/>
              </a:lnSpc>
              <a:buFont typeface="Arial"/>
              <a:buChar char="•"/>
            </a:pPr>
            <a:r>
              <a:rPr lang="en-US" b="true" sz="2194">
                <a:solidFill>
                  <a:srgbClr val="000000"/>
                </a:solidFill>
                <a:latin typeface="Arial Bold"/>
                <a:ea typeface="Arial Bold"/>
                <a:cs typeface="Arial Bold"/>
                <a:sym typeface="Arial Bold"/>
              </a:rPr>
              <a:t>Mailbox Reset :</a:t>
            </a:r>
            <a:r>
              <a:rPr lang="en-US" sz="2194">
                <a:solidFill>
                  <a:srgbClr val="000000"/>
                </a:solidFill>
                <a:latin typeface="Arial"/>
                <a:ea typeface="Arial"/>
                <a:cs typeface="Arial"/>
                <a:sym typeface="Arial"/>
              </a:rPr>
              <a:t> After delivery, the conveyor system resets its position to the default state for processing the next piece of mail</a:t>
            </a:r>
          </a:p>
          <a:p>
            <a:pPr algn="l" marL="473789" indent="-236895" lvl="1">
              <a:lnSpc>
                <a:spcPts val="3401"/>
              </a:lnSpc>
              <a:buFont typeface="Arial"/>
              <a:buChar char="•"/>
            </a:pPr>
            <a:r>
              <a:rPr lang="en-US" b="true" sz="2194">
                <a:solidFill>
                  <a:srgbClr val="000000"/>
                </a:solidFill>
                <a:latin typeface="Arial Bold"/>
                <a:ea typeface="Arial Bold"/>
                <a:cs typeface="Arial Bold"/>
                <a:sym typeface="Arial Bold"/>
              </a:rPr>
              <a:t>Address Readability:</a:t>
            </a:r>
            <a:r>
              <a:rPr lang="en-US" sz="2194">
                <a:solidFill>
                  <a:srgbClr val="000000"/>
                </a:solidFill>
                <a:latin typeface="Arial"/>
                <a:ea typeface="Arial"/>
                <a:cs typeface="Arial"/>
                <a:sym typeface="Arial"/>
              </a:rPr>
              <a:t> The AI model identifies the apartment number from the address written on the letterhead.</a:t>
            </a:r>
          </a:p>
          <a:p>
            <a:pPr algn="l">
              <a:lnSpc>
                <a:spcPts val="3401"/>
              </a:lnSpc>
            </a:pPr>
          </a:p>
          <a:p>
            <a:pPr algn="l">
              <a:lnSpc>
                <a:spcPts val="3328"/>
              </a:lnSpc>
            </a:pPr>
          </a:p>
          <a:p>
            <a:pPr algn="l">
              <a:lnSpc>
                <a:spcPts val="3328"/>
              </a:lnSpc>
            </a:pPr>
          </a:p>
        </p:txBody>
      </p:sp>
      <p:sp>
        <p:nvSpPr>
          <p:cNvPr name="TextBox 7" id="7"/>
          <p:cNvSpPr txBox="true"/>
          <p:nvPr/>
        </p:nvSpPr>
        <p:spPr>
          <a:xfrm rot="0">
            <a:off x="9668237" y="3585786"/>
            <a:ext cx="7952066" cy="5438522"/>
          </a:xfrm>
          <a:prstGeom prst="rect">
            <a:avLst/>
          </a:prstGeom>
        </p:spPr>
        <p:txBody>
          <a:bodyPr anchor="t" rtlCol="false" tIns="0" lIns="0" bIns="0" rIns="0">
            <a:spAutoFit/>
          </a:bodyPr>
          <a:lstStyle/>
          <a:p>
            <a:pPr algn="l" marL="521230" indent="-260615" lvl="1">
              <a:lnSpc>
                <a:spcPts val="4321"/>
              </a:lnSpc>
              <a:buFont typeface="Arial"/>
              <a:buChar char="•"/>
            </a:pPr>
            <a:r>
              <a:rPr lang="en-US" b="true" sz="2414">
                <a:solidFill>
                  <a:srgbClr val="000000"/>
                </a:solidFill>
                <a:latin typeface="Arial Bold"/>
                <a:ea typeface="Arial Bold"/>
                <a:cs typeface="Arial Bold"/>
                <a:sym typeface="Arial Bold"/>
              </a:rPr>
              <a:t>Scalability: </a:t>
            </a:r>
            <a:r>
              <a:rPr lang="en-US" sz="2414">
                <a:solidFill>
                  <a:srgbClr val="000000"/>
                </a:solidFill>
                <a:latin typeface="Arial"/>
                <a:ea typeface="Arial"/>
                <a:cs typeface="Arial"/>
                <a:sym typeface="Arial"/>
              </a:rPr>
              <a:t>Adaptable to different sizes.</a:t>
            </a:r>
          </a:p>
          <a:p>
            <a:pPr algn="l" marL="521230" indent="-260615" lvl="1">
              <a:lnSpc>
                <a:spcPts val="4321"/>
              </a:lnSpc>
              <a:buFont typeface="Arial"/>
              <a:buChar char="•"/>
            </a:pPr>
            <a:r>
              <a:rPr lang="en-US" b="true" sz="2414">
                <a:solidFill>
                  <a:srgbClr val="000000"/>
                </a:solidFill>
                <a:latin typeface="Arial Bold"/>
                <a:ea typeface="Arial Bold"/>
                <a:cs typeface="Arial Bold"/>
                <a:sym typeface="Arial Bold"/>
              </a:rPr>
              <a:t>Energy Efficiency : </a:t>
            </a:r>
            <a:r>
              <a:rPr lang="en-US" sz="2414">
                <a:solidFill>
                  <a:srgbClr val="000000"/>
                </a:solidFill>
                <a:latin typeface="Arial"/>
                <a:ea typeface="Arial"/>
                <a:cs typeface="Arial"/>
                <a:sym typeface="Arial"/>
              </a:rPr>
              <a:t>The system optimizes power usage, particularly for the conveyor belts and actuators.</a:t>
            </a:r>
          </a:p>
          <a:p>
            <a:pPr algn="l" marL="521230" indent="-260615" lvl="1">
              <a:lnSpc>
                <a:spcPts val="4321"/>
              </a:lnSpc>
              <a:buFont typeface="Arial"/>
              <a:buChar char="•"/>
            </a:pPr>
            <a:r>
              <a:rPr lang="en-US" b="true" sz="2414">
                <a:solidFill>
                  <a:srgbClr val="000000"/>
                </a:solidFill>
                <a:latin typeface="Arial Bold"/>
                <a:ea typeface="Arial Bold"/>
                <a:cs typeface="Arial Bold"/>
                <a:sym typeface="Arial Bold"/>
              </a:rPr>
              <a:t>Security : </a:t>
            </a:r>
            <a:r>
              <a:rPr lang="en-US" sz="2414">
                <a:solidFill>
                  <a:srgbClr val="000000"/>
                </a:solidFill>
                <a:latin typeface="Arial"/>
                <a:ea typeface="Arial"/>
                <a:cs typeface="Arial"/>
                <a:sym typeface="Arial"/>
              </a:rPr>
              <a:t>The mailbox compartments are secure, preventing unauthorized access.</a:t>
            </a:r>
          </a:p>
          <a:p>
            <a:pPr algn="l" marL="521230" indent="-260615" lvl="1">
              <a:lnSpc>
                <a:spcPts val="4321"/>
              </a:lnSpc>
              <a:buFont typeface="Arial"/>
              <a:buChar char="•"/>
            </a:pPr>
            <a:r>
              <a:rPr lang="en-US" b="true" sz="2414">
                <a:solidFill>
                  <a:srgbClr val="000000"/>
                </a:solidFill>
                <a:latin typeface="Arial Bold"/>
                <a:ea typeface="Arial Bold"/>
                <a:cs typeface="Arial Bold"/>
                <a:sym typeface="Arial Bold"/>
              </a:rPr>
              <a:t>Integration:</a:t>
            </a:r>
            <a:r>
              <a:rPr lang="en-US" sz="2414">
                <a:solidFill>
                  <a:srgbClr val="000000"/>
                </a:solidFill>
                <a:latin typeface="Arial"/>
                <a:ea typeface="Arial"/>
                <a:cs typeface="Arial"/>
                <a:sym typeface="Arial"/>
              </a:rPr>
              <a:t> The system integrates seamlessly with the Raspberry Pi as well as other hardware components.</a:t>
            </a:r>
          </a:p>
          <a:p>
            <a:pPr algn="l">
              <a:lnSpc>
                <a:spcPts val="4321"/>
              </a:lnSpc>
            </a:pPr>
          </a:p>
        </p:txBody>
      </p:sp>
      <p:sp>
        <p:nvSpPr>
          <p:cNvPr name="TextBox 8" id="8"/>
          <p:cNvSpPr txBox="true"/>
          <p:nvPr/>
        </p:nvSpPr>
        <p:spPr>
          <a:xfrm rot="0">
            <a:off x="1155120" y="2725616"/>
            <a:ext cx="6043166" cy="1478798"/>
          </a:xfrm>
          <a:prstGeom prst="rect">
            <a:avLst/>
          </a:prstGeom>
        </p:spPr>
        <p:txBody>
          <a:bodyPr anchor="t" rtlCol="false" tIns="0" lIns="0" bIns="0" rIns="0">
            <a:spAutoFit/>
          </a:bodyPr>
          <a:lstStyle/>
          <a:p>
            <a:pPr algn="just">
              <a:lnSpc>
                <a:spcPts val="5431"/>
              </a:lnSpc>
            </a:pPr>
            <a:r>
              <a:rPr lang="en-US" sz="3879" b="true">
                <a:solidFill>
                  <a:srgbClr val="BD9C6C"/>
                </a:solidFill>
                <a:latin typeface="Arial Bold"/>
                <a:ea typeface="Arial Bold"/>
                <a:cs typeface="Arial Bold"/>
                <a:sym typeface="Arial Bold"/>
              </a:rPr>
              <a:t>Functional requirements </a:t>
            </a:r>
          </a:p>
          <a:p>
            <a:pPr algn="just" marL="0" indent="0" lvl="0">
              <a:lnSpc>
                <a:spcPts val="5851"/>
              </a:lnSpc>
              <a:spcBef>
                <a:spcPct val="0"/>
              </a:spcBef>
            </a:pPr>
          </a:p>
        </p:txBody>
      </p:sp>
      <p:sp>
        <p:nvSpPr>
          <p:cNvPr name="TextBox 9" id="9"/>
          <p:cNvSpPr txBox="true"/>
          <p:nvPr/>
        </p:nvSpPr>
        <p:spPr>
          <a:xfrm rot="0">
            <a:off x="10021891" y="2770701"/>
            <a:ext cx="6816897" cy="1433713"/>
          </a:xfrm>
          <a:prstGeom prst="rect">
            <a:avLst/>
          </a:prstGeom>
        </p:spPr>
        <p:txBody>
          <a:bodyPr anchor="t" rtlCol="false" tIns="0" lIns="0" bIns="0" rIns="0">
            <a:spAutoFit/>
          </a:bodyPr>
          <a:lstStyle/>
          <a:p>
            <a:pPr algn="just">
              <a:lnSpc>
                <a:spcPts val="5291"/>
              </a:lnSpc>
            </a:pPr>
            <a:r>
              <a:rPr lang="en-US" sz="3779" b="true">
                <a:solidFill>
                  <a:srgbClr val="BD9C6C"/>
                </a:solidFill>
                <a:latin typeface="Arial Bold"/>
                <a:ea typeface="Arial Bold"/>
                <a:cs typeface="Arial Bold"/>
                <a:sym typeface="Arial Bold"/>
              </a:rPr>
              <a:t>Non-Functional requirements </a:t>
            </a:r>
          </a:p>
          <a:p>
            <a:pPr algn="just" marL="0" indent="0" lvl="0">
              <a:lnSpc>
                <a:spcPts val="5711"/>
              </a:lnSpc>
              <a:spcBef>
                <a:spcPct val="0"/>
              </a:spcBef>
            </a:pPr>
          </a:p>
        </p:txBody>
      </p:sp>
      <p:grpSp>
        <p:nvGrpSpPr>
          <p:cNvPr name="Group 10" id="10"/>
          <p:cNvGrpSpPr/>
          <p:nvPr/>
        </p:nvGrpSpPr>
        <p:grpSpPr>
          <a:xfrm rot="0">
            <a:off x="-1917017" y="7846303"/>
            <a:ext cx="3834034" cy="3289372"/>
            <a:chOff x="0" y="0"/>
            <a:chExt cx="406400" cy="348667"/>
          </a:xfrm>
        </p:grpSpPr>
        <p:sp>
          <p:nvSpPr>
            <p:cNvPr name="Freeform 11" id="11"/>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2" id="12"/>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917017" y="9305061"/>
            <a:ext cx="5641245" cy="3182634"/>
            <a:chOff x="0" y="0"/>
            <a:chExt cx="618015" cy="348667"/>
          </a:xfrm>
        </p:grpSpPr>
        <p:sp>
          <p:nvSpPr>
            <p:cNvPr name="Freeform 14" id="14"/>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5" id="15"/>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10711109">
            <a:off x="16236950" y="-947085"/>
            <a:ext cx="3834034" cy="3289372"/>
            <a:chOff x="0" y="0"/>
            <a:chExt cx="406400" cy="348667"/>
          </a:xfrm>
        </p:grpSpPr>
        <p:sp>
          <p:nvSpPr>
            <p:cNvPr name="Freeform 17" id="17"/>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8" id="18"/>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10711109">
            <a:off x="14240877" y="-2272845"/>
            <a:ext cx="5830440" cy="3289372"/>
            <a:chOff x="0" y="0"/>
            <a:chExt cx="618015" cy="348667"/>
          </a:xfrm>
        </p:grpSpPr>
        <p:sp>
          <p:nvSpPr>
            <p:cNvPr name="Freeform 20" id="20"/>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21" id="21"/>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0" y="392801"/>
            <a:ext cx="11140338" cy="1504363"/>
          </a:xfrm>
          <a:prstGeom prst="rect">
            <a:avLst/>
          </a:prstGeom>
        </p:spPr>
        <p:txBody>
          <a:bodyPr anchor="t" rtlCol="false" tIns="0" lIns="0" bIns="0" rIns="0">
            <a:spAutoFit/>
          </a:bodyPr>
          <a:lstStyle/>
          <a:p>
            <a:pPr algn="ctr" marL="0" indent="0" lvl="0">
              <a:lnSpc>
                <a:spcPts val="11060"/>
              </a:lnSpc>
              <a:spcBef>
                <a:spcPct val="0"/>
              </a:spcBef>
            </a:pPr>
            <a:r>
              <a:rPr lang="en-US" b="true" sz="7900" strike="noStrike" u="sng">
                <a:solidFill>
                  <a:srgbClr val="855832"/>
                </a:solidFill>
                <a:latin typeface="Arial Bold"/>
                <a:ea typeface="Arial Bold"/>
                <a:cs typeface="Arial Bold"/>
                <a:sym typeface="Arial Bold"/>
              </a:rPr>
              <a:t>Project Architecture </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17017" y="7846303"/>
            <a:ext cx="3834034" cy="3289372"/>
            <a:chOff x="0" y="0"/>
            <a:chExt cx="406400" cy="348667"/>
          </a:xfrm>
        </p:grpSpPr>
        <p:sp>
          <p:nvSpPr>
            <p:cNvPr name="Freeform 3" id="3"/>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4" id="4"/>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917017" y="9198322"/>
            <a:ext cx="5830440" cy="3289372"/>
            <a:chOff x="0" y="0"/>
            <a:chExt cx="618015" cy="348667"/>
          </a:xfrm>
        </p:grpSpPr>
        <p:sp>
          <p:nvSpPr>
            <p:cNvPr name="Freeform 6" id="6"/>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7" id="7"/>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711109">
            <a:off x="16271905" y="-947085"/>
            <a:ext cx="3834034" cy="3289372"/>
            <a:chOff x="0" y="0"/>
            <a:chExt cx="406400" cy="348667"/>
          </a:xfrm>
        </p:grpSpPr>
        <p:sp>
          <p:nvSpPr>
            <p:cNvPr name="Freeform 9" id="9"/>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0" id="10"/>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10711109">
            <a:off x="14240877" y="-2272845"/>
            <a:ext cx="5830440" cy="3289372"/>
            <a:chOff x="0" y="0"/>
            <a:chExt cx="618015" cy="348667"/>
          </a:xfrm>
        </p:grpSpPr>
        <p:sp>
          <p:nvSpPr>
            <p:cNvPr name="Freeform 12" id="12"/>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3" id="13"/>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5318757" y="2484789"/>
            <a:ext cx="1491032" cy="1524538"/>
          </a:xfrm>
          <a:custGeom>
            <a:avLst/>
            <a:gdLst/>
            <a:ahLst/>
            <a:cxnLst/>
            <a:rect r="r" b="b" t="t" l="l"/>
            <a:pathLst>
              <a:path h="1524538" w="1491032">
                <a:moveTo>
                  <a:pt x="0" y="0"/>
                </a:moveTo>
                <a:lnTo>
                  <a:pt x="1491032" y="0"/>
                </a:lnTo>
                <a:lnTo>
                  <a:pt x="1491032" y="1524538"/>
                </a:lnTo>
                <a:lnTo>
                  <a:pt x="0" y="1524538"/>
                </a:lnTo>
                <a:lnTo>
                  <a:pt x="0" y="0"/>
                </a:lnTo>
                <a:close/>
              </a:path>
            </a:pathLst>
          </a:custGeom>
          <a:blipFill>
            <a:blip r:embed="rId2"/>
            <a:stretch>
              <a:fillRect l="0" t="0" r="0" b="0"/>
            </a:stretch>
          </a:blipFill>
        </p:spPr>
      </p:sp>
      <p:sp>
        <p:nvSpPr>
          <p:cNvPr name="Freeform 15" id="15"/>
          <p:cNvSpPr/>
          <p:nvPr/>
        </p:nvSpPr>
        <p:spPr>
          <a:xfrm flipH="false" flipV="false" rot="0">
            <a:off x="15825935" y="3076409"/>
            <a:ext cx="1604606" cy="1431286"/>
          </a:xfrm>
          <a:custGeom>
            <a:avLst/>
            <a:gdLst/>
            <a:ahLst/>
            <a:cxnLst/>
            <a:rect r="r" b="b" t="t" l="l"/>
            <a:pathLst>
              <a:path h="1431286" w="1604606">
                <a:moveTo>
                  <a:pt x="0" y="0"/>
                </a:moveTo>
                <a:lnTo>
                  <a:pt x="1604606" y="0"/>
                </a:lnTo>
                <a:lnTo>
                  <a:pt x="1604606" y="1431286"/>
                </a:lnTo>
                <a:lnTo>
                  <a:pt x="0" y="1431286"/>
                </a:lnTo>
                <a:lnTo>
                  <a:pt x="0" y="0"/>
                </a:lnTo>
                <a:close/>
              </a:path>
            </a:pathLst>
          </a:custGeom>
          <a:blipFill>
            <a:blip r:embed="rId3"/>
            <a:stretch>
              <a:fillRect l="0" t="0" r="0" b="0"/>
            </a:stretch>
          </a:blipFill>
        </p:spPr>
      </p:sp>
      <p:sp>
        <p:nvSpPr>
          <p:cNvPr name="Freeform 16" id="16"/>
          <p:cNvSpPr/>
          <p:nvPr/>
        </p:nvSpPr>
        <p:spPr>
          <a:xfrm flipH="false" flipV="false" rot="0">
            <a:off x="5922256" y="5345453"/>
            <a:ext cx="1911548" cy="1675688"/>
          </a:xfrm>
          <a:custGeom>
            <a:avLst/>
            <a:gdLst/>
            <a:ahLst/>
            <a:cxnLst/>
            <a:rect r="r" b="b" t="t" l="l"/>
            <a:pathLst>
              <a:path h="1675688" w="1911548">
                <a:moveTo>
                  <a:pt x="0" y="0"/>
                </a:moveTo>
                <a:lnTo>
                  <a:pt x="1911549" y="0"/>
                </a:lnTo>
                <a:lnTo>
                  <a:pt x="1911549" y="1675688"/>
                </a:lnTo>
                <a:lnTo>
                  <a:pt x="0" y="1675688"/>
                </a:lnTo>
                <a:lnTo>
                  <a:pt x="0" y="0"/>
                </a:lnTo>
                <a:close/>
              </a:path>
            </a:pathLst>
          </a:custGeom>
          <a:blipFill>
            <a:blip r:embed="rId4"/>
            <a:stretch>
              <a:fillRect l="0" t="-72203" r="0" b="-81462"/>
            </a:stretch>
          </a:blipFill>
        </p:spPr>
      </p:sp>
      <p:sp>
        <p:nvSpPr>
          <p:cNvPr name="Freeform 17" id="17"/>
          <p:cNvSpPr/>
          <p:nvPr/>
        </p:nvSpPr>
        <p:spPr>
          <a:xfrm flipH="false" flipV="false" rot="0">
            <a:off x="12703611" y="6572187"/>
            <a:ext cx="1741485" cy="1741485"/>
          </a:xfrm>
          <a:custGeom>
            <a:avLst/>
            <a:gdLst/>
            <a:ahLst/>
            <a:cxnLst/>
            <a:rect r="r" b="b" t="t" l="l"/>
            <a:pathLst>
              <a:path h="1741485" w="1741485">
                <a:moveTo>
                  <a:pt x="0" y="0"/>
                </a:moveTo>
                <a:lnTo>
                  <a:pt x="1741485" y="0"/>
                </a:lnTo>
                <a:lnTo>
                  <a:pt x="1741485" y="1741485"/>
                </a:lnTo>
                <a:lnTo>
                  <a:pt x="0" y="1741485"/>
                </a:lnTo>
                <a:lnTo>
                  <a:pt x="0" y="0"/>
                </a:lnTo>
                <a:close/>
              </a:path>
            </a:pathLst>
          </a:custGeom>
          <a:blipFill>
            <a:blip r:embed="rId5"/>
            <a:stretch>
              <a:fillRect l="0" t="0" r="0" b="0"/>
            </a:stretch>
          </a:blipFill>
        </p:spPr>
      </p:sp>
      <p:sp>
        <p:nvSpPr>
          <p:cNvPr name="Freeform 18" id="18"/>
          <p:cNvSpPr/>
          <p:nvPr/>
        </p:nvSpPr>
        <p:spPr>
          <a:xfrm flipH="false" flipV="false" rot="0">
            <a:off x="4296324" y="8014009"/>
            <a:ext cx="1767948" cy="1644686"/>
          </a:xfrm>
          <a:custGeom>
            <a:avLst/>
            <a:gdLst/>
            <a:ahLst/>
            <a:cxnLst/>
            <a:rect r="r" b="b" t="t" l="l"/>
            <a:pathLst>
              <a:path h="1644686" w="1767948">
                <a:moveTo>
                  <a:pt x="0" y="0"/>
                </a:moveTo>
                <a:lnTo>
                  <a:pt x="1767949" y="0"/>
                </a:lnTo>
                <a:lnTo>
                  <a:pt x="1767949" y="1644686"/>
                </a:lnTo>
                <a:lnTo>
                  <a:pt x="0" y="1644686"/>
                </a:lnTo>
                <a:lnTo>
                  <a:pt x="0" y="0"/>
                </a:lnTo>
                <a:close/>
              </a:path>
            </a:pathLst>
          </a:custGeom>
          <a:blipFill>
            <a:blip r:embed="rId6"/>
            <a:stretch>
              <a:fillRect l="0" t="-107600" r="0" b="-31276"/>
            </a:stretch>
          </a:blipFill>
        </p:spPr>
      </p:sp>
      <p:sp>
        <p:nvSpPr>
          <p:cNvPr name="Freeform 19" id="19"/>
          <p:cNvSpPr/>
          <p:nvPr/>
        </p:nvSpPr>
        <p:spPr>
          <a:xfrm flipH="false" flipV="false" rot="0">
            <a:off x="15122493" y="4773373"/>
            <a:ext cx="1505745" cy="1409924"/>
          </a:xfrm>
          <a:custGeom>
            <a:avLst/>
            <a:gdLst/>
            <a:ahLst/>
            <a:cxnLst/>
            <a:rect r="r" b="b" t="t" l="l"/>
            <a:pathLst>
              <a:path h="1409924" w="1505745">
                <a:moveTo>
                  <a:pt x="0" y="0"/>
                </a:moveTo>
                <a:lnTo>
                  <a:pt x="1505745" y="0"/>
                </a:lnTo>
                <a:lnTo>
                  <a:pt x="1505745" y="1409924"/>
                </a:lnTo>
                <a:lnTo>
                  <a:pt x="0" y="1409924"/>
                </a:lnTo>
                <a:lnTo>
                  <a:pt x="0" y="0"/>
                </a:lnTo>
                <a:close/>
              </a:path>
            </a:pathLst>
          </a:custGeom>
          <a:blipFill>
            <a:blip r:embed="rId7"/>
            <a:stretch>
              <a:fillRect l="0" t="0" r="0" b="0"/>
            </a:stretch>
          </a:blipFill>
        </p:spPr>
      </p:sp>
      <p:sp>
        <p:nvSpPr>
          <p:cNvPr name="Freeform 20" id="20"/>
          <p:cNvSpPr/>
          <p:nvPr/>
        </p:nvSpPr>
        <p:spPr>
          <a:xfrm flipH="false" flipV="false" rot="0">
            <a:off x="15112749" y="8804358"/>
            <a:ext cx="1426371" cy="1373262"/>
          </a:xfrm>
          <a:custGeom>
            <a:avLst/>
            <a:gdLst/>
            <a:ahLst/>
            <a:cxnLst/>
            <a:rect r="r" b="b" t="t" l="l"/>
            <a:pathLst>
              <a:path h="1373262" w="1426371">
                <a:moveTo>
                  <a:pt x="0" y="0"/>
                </a:moveTo>
                <a:lnTo>
                  <a:pt x="1426372" y="0"/>
                </a:lnTo>
                <a:lnTo>
                  <a:pt x="1426372" y="1373262"/>
                </a:lnTo>
                <a:lnTo>
                  <a:pt x="0" y="1373262"/>
                </a:lnTo>
                <a:lnTo>
                  <a:pt x="0" y="0"/>
                </a:lnTo>
                <a:close/>
              </a:path>
            </a:pathLst>
          </a:custGeom>
          <a:blipFill>
            <a:blip r:embed="rId8"/>
            <a:stretch>
              <a:fillRect l="0" t="0" r="0" b="0"/>
            </a:stretch>
          </a:blipFill>
        </p:spPr>
      </p:sp>
      <p:sp>
        <p:nvSpPr>
          <p:cNvPr name="TextBox 21" id="21"/>
          <p:cNvSpPr txBox="true"/>
          <p:nvPr/>
        </p:nvSpPr>
        <p:spPr>
          <a:xfrm rot="0">
            <a:off x="757244" y="866775"/>
            <a:ext cx="8375799" cy="798663"/>
          </a:xfrm>
          <a:prstGeom prst="rect">
            <a:avLst/>
          </a:prstGeom>
        </p:spPr>
        <p:txBody>
          <a:bodyPr anchor="t" rtlCol="false" tIns="0" lIns="0" bIns="0" rIns="0">
            <a:spAutoFit/>
          </a:bodyPr>
          <a:lstStyle/>
          <a:p>
            <a:pPr algn="just" marL="0" indent="0" lvl="0">
              <a:lnSpc>
                <a:spcPts val="5851"/>
              </a:lnSpc>
              <a:spcBef>
                <a:spcPct val="0"/>
              </a:spcBef>
            </a:pPr>
            <a:r>
              <a:rPr lang="en-US" b="true" sz="4179">
                <a:solidFill>
                  <a:srgbClr val="4B331F"/>
                </a:solidFill>
                <a:latin typeface="Arial Bold"/>
                <a:ea typeface="Arial Bold"/>
                <a:cs typeface="Arial Bold"/>
                <a:sym typeface="Arial Bold"/>
              </a:rPr>
              <a:t>Update in Hardware Components</a:t>
            </a:r>
          </a:p>
        </p:txBody>
      </p:sp>
      <p:sp>
        <p:nvSpPr>
          <p:cNvPr name="TextBox 22" id="22"/>
          <p:cNvSpPr txBox="true"/>
          <p:nvPr/>
        </p:nvSpPr>
        <p:spPr>
          <a:xfrm rot="0">
            <a:off x="8119748" y="2370489"/>
            <a:ext cx="10168252" cy="2793994"/>
          </a:xfrm>
          <a:prstGeom prst="rect">
            <a:avLst/>
          </a:prstGeom>
        </p:spPr>
        <p:txBody>
          <a:bodyPr anchor="t" rtlCol="false" tIns="0" lIns="0" bIns="0" rIns="0">
            <a:spAutoFit/>
          </a:bodyPr>
          <a:lstStyle/>
          <a:p>
            <a:pPr algn="l">
              <a:lnSpc>
                <a:spcPts val="3248"/>
              </a:lnSpc>
            </a:pPr>
            <a:r>
              <a:rPr lang="en-US" sz="2320" u="sng" b="true">
                <a:solidFill>
                  <a:srgbClr val="BD9C6C"/>
                </a:solidFill>
                <a:latin typeface="Arial Bold"/>
                <a:ea typeface="Arial Bold"/>
                <a:cs typeface="Arial Bold"/>
                <a:sym typeface="Arial Bold"/>
              </a:rPr>
              <a:t>Proximity Sensor:</a:t>
            </a:r>
          </a:p>
          <a:p>
            <a:pPr algn="l">
              <a:lnSpc>
                <a:spcPts val="3181"/>
              </a:lnSpc>
            </a:pPr>
            <a:r>
              <a:rPr lang="en-US" sz="2272">
                <a:solidFill>
                  <a:srgbClr val="000000"/>
                </a:solidFill>
                <a:latin typeface="Arial"/>
                <a:ea typeface="Arial"/>
                <a:cs typeface="Arial"/>
                <a:sym typeface="Arial"/>
              </a:rPr>
              <a:t>HC-SR501 </a:t>
            </a:r>
            <a:r>
              <a:rPr lang="en-US" sz="2272">
                <a:solidFill>
                  <a:srgbClr val="000000"/>
                </a:solidFill>
                <a:latin typeface="Arial"/>
                <a:ea typeface="Arial"/>
                <a:cs typeface="Arial"/>
                <a:sym typeface="Arial"/>
              </a:rPr>
              <a:t>based on infrared technology, high sensitivity, high reliability, ultra-low-voltage operating mode</a:t>
            </a:r>
          </a:p>
          <a:p>
            <a:pPr algn="l">
              <a:lnSpc>
                <a:spcPts val="2872"/>
              </a:lnSpc>
            </a:pPr>
          </a:p>
          <a:p>
            <a:pPr algn="l">
              <a:lnSpc>
                <a:spcPts val="2872"/>
              </a:lnSpc>
            </a:pPr>
          </a:p>
          <a:p>
            <a:pPr algn="l">
              <a:lnSpc>
                <a:spcPts val="3348"/>
              </a:lnSpc>
            </a:pPr>
          </a:p>
          <a:p>
            <a:pPr algn="l">
              <a:lnSpc>
                <a:spcPts val="3271"/>
              </a:lnSpc>
              <a:spcBef>
                <a:spcPct val="0"/>
              </a:spcBef>
            </a:pPr>
          </a:p>
        </p:txBody>
      </p:sp>
      <p:sp>
        <p:nvSpPr>
          <p:cNvPr name="TextBox 23" id="23"/>
          <p:cNvSpPr txBox="true"/>
          <p:nvPr/>
        </p:nvSpPr>
        <p:spPr>
          <a:xfrm rot="0">
            <a:off x="280000" y="2389539"/>
            <a:ext cx="7413925" cy="2996337"/>
          </a:xfrm>
          <a:prstGeom prst="rect">
            <a:avLst/>
          </a:prstGeom>
        </p:spPr>
        <p:txBody>
          <a:bodyPr anchor="t" rtlCol="false" tIns="0" lIns="0" bIns="0" rIns="0">
            <a:spAutoFit/>
          </a:bodyPr>
          <a:lstStyle/>
          <a:p>
            <a:pPr algn="l">
              <a:lnSpc>
                <a:spcPts val="3392"/>
              </a:lnSpc>
              <a:spcBef>
                <a:spcPct val="0"/>
              </a:spcBef>
            </a:pPr>
            <a:r>
              <a:rPr lang="en-US" b="true" sz="2423" u="sng">
                <a:solidFill>
                  <a:srgbClr val="BD9C6C"/>
                </a:solidFill>
                <a:latin typeface="Arial Bold"/>
                <a:ea typeface="Arial Bold"/>
                <a:cs typeface="Arial Bold"/>
                <a:sym typeface="Arial Bold"/>
              </a:rPr>
              <a:t>Item identification webcam: </a:t>
            </a:r>
          </a:p>
          <a:p>
            <a:pPr algn="l">
              <a:lnSpc>
                <a:spcPts val="3392"/>
              </a:lnSpc>
              <a:spcBef>
                <a:spcPct val="0"/>
              </a:spcBef>
            </a:pPr>
            <a:r>
              <a:rPr lang="en-US" sz="2423">
                <a:solidFill>
                  <a:srgbClr val="000000"/>
                </a:solidFill>
                <a:latin typeface="Arial"/>
                <a:ea typeface="Arial"/>
                <a:cs typeface="Arial"/>
                <a:sym typeface="Arial"/>
              </a:rPr>
              <a:t>Logitech C270</a:t>
            </a:r>
          </a:p>
          <a:p>
            <a:pPr algn="l">
              <a:lnSpc>
                <a:spcPts val="3322"/>
              </a:lnSpc>
              <a:spcBef>
                <a:spcPct val="0"/>
              </a:spcBef>
            </a:pPr>
          </a:p>
          <a:p>
            <a:pPr algn="l">
              <a:lnSpc>
                <a:spcPts val="3322"/>
              </a:lnSpc>
              <a:spcBef>
                <a:spcPct val="0"/>
              </a:spcBef>
            </a:pPr>
          </a:p>
          <a:p>
            <a:pPr algn="l">
              <a:lnSpc>
                <a:spcPts val="3392"/>
              </a:lnSpc>
              <a:spcBef>
                <a:spcPct val="0"/>
              </a:spcBef>
            </a:pPr>
            <a:r>
              <a:rPr lang="en-US" b="true" sz="2423" u="sng">
                <a:solidFill>
                  <a:srgbClr val="BD9C6C"/>
                </a:solidFill>
                <a:latin typeface="Arial Bold"/>
                <a:ea typeface="Arial Bold"/>
                <a:cs typeface="Arial Bold"/>
                <a:sym typeface="Arial Bold"/>
              </a:rPr>
              <a:t>Automated Transport Motor</a:t>
            </a:r>
          </a:p>
          <a:p>
            <a:pPr algn="l">
              <a:lnSpc>
                <a:spcPts val="3318"/>
              </a:lnSpc>
              <a:spcBef>
                <a:spcPct val="0"/>
              </a:spcBef>
            </a:pPr>
          </a:p>
          <a:p>
            <a:pPr algn="ctr">
              <a:lnSpc>
                <a:spcPts val="3322"/>
              </a:lnSpc>
              <a:spcBef>
                <a:spcPct val="0"/>
              </a:spcBef>
            </a:pPr>
          </a:p>
        </p:txBody>
      </p:sp>
      <p:sp>
        <p:nvSpPr>
          <p:cNvPr name="TextBox 24" id="24"/>
          <p:cNvSpPr txBox="true"/>
          <p:nvPr/>
        </p:nvSpPr>
        <p:spPr>
          <a:xfrm rot="0">
            <a:off x="280000" y="4742752"/>
            <a:ext cx="6725352" cy="1119926"/>
          </a:xfrm>
          <a:prstGeom prst="rect">
            <a:avLst/>
          </a:prstGeom>
        </p:spPr>
        <p:txBody>
          <a:bodyPr anchor="t" rtlCol="false" tIns="0" lIns="0" bIns="0" rIns="0">
            <a:spAutoFit/>
          </a:bodyPr>
          <a:lstStyle/>
          <a:p>
            <a:pPr algn="l" marL="0" indent="0" lvl="0">
              <a:lnSpc>
                <a:spcPts val="2852"/>
              </a:lnSpc>
              <a:spcBef>
                <a:spcPct val="0"/>
              </a:spcBef>
            </a:pPr>
            <a:r>
              <a:rPr lang="en-US" sz="2037" strike="noStrike">
                <a:solidFill>
                  <a:srgbClr val="000000"/>
                </a:solidFill>
                <a:latin typeface="Arial"/>
                <a:ea typeface="Arial"/>
                <a:cs typeface="Arial"/>
                <a:sym typeface="Arial"/>
              </a:rPr>
              <a:t>Moteur DC 775, tension 12V/24V, vitesse 6000 RPM à 12V et 12000 RPM à 24V, couple élevé, faible bruit, support inclus pour montage facile.</a:t>
            </a:r>
          </a:p>
        </p:txBody>
      </p:sp>
      <p:sp>
        <p:nvSpPr>
          <p:cNvPr name="TextBox 25" id="25"/>
          <p:cNvSpPr txBox="true"/>
          <p:nvPr/>
        </p:nvSpPr>
        <p:spPr>
          <a:xfrm rot="0">
            <a:off x="8169179" y="5757902"/>
            <a:ext cx="4023651" cy="471492"/>
          </a:xfrm>
          <a:prstGeom prst="rect">
            <a:avLst/>
          </a:prstGeom>
        </p:spPr>
        <p:txBody>
          <a:bodyPr anchor="t" rtlCol="false" tIns="0" lIns="0" bIns="0" rIns="0">
            <a:spAutoFit/>
          </a:bodyPr>
          <a:lstStyle/>
          <a:p>
            <a:pPr algn="l">
              <a:lnSpc>
                <a:spcPts val="3412"/>
              </a:lnSpc>
              <a:spcBef>
                <a:spcPct val="0"/>
              </a:spcBef>
            </a:pPr>
            <a:r>
              <a:rPr lang="en-US" b="true" sz="2437" u="sng">
                <a:solidFill>
                  <a:srgbClr val="BD9C6C"/>
                </a:solidFill>
                <a:latin typeface="Arial Bold"/>
                <a:ea typeface="Arial Bold"/>
                <a:cs typeface="Arial Bold"/>
                <a:sym typeface="Arial Bold"/>
              </a:rPr>
              <a:t>L298N Motor Driver Module</a:t>
            </a:r>
          </a:p>
        </p:txBody>
      </p:sp>
      <p:sp>
        <p:nvSpPr>
          <p:cNvPr name="TextBox 26" id="26"/>
          <p:cNvSpPr txBox="true"/>
          <p:nvPr/>
        </p:nvSpPr>
        <p:spPr>
          <a:xfrm rot="0">
            <a:off x="8169179" y="6143669"/>
            <a:ext cx="7706187" cy="757942"/>
          </a:xfrm>
          <a:prstGeom prst="rect">
            <a:avLst/>
          </a:prstGeom>
        </p:spPr>
        <p:txBody>
          <a:bodyPr anchor="t" rtlCol="false" tIns="0" lIns="0" bIns="0" rIns="0">
            <a:spAutoFit/>
          </a:bodyPr>
          <a:lstStyle/>
          <a:p>
            <a:pPr algn="l" marL="0" indent="0" lvl="0">
              <a:lnSpc>
                <a:spcPts val="2852"/>
              </a:lnSpc>
              <a:spcBef>
                <a:spcPct val="0"/>
              </a:spcBef>
            </a:pPr>
            <a:r>
              <a:rPr lang="en-US" sz="2037" strike="noStrike" u="none">
                <a:solidFill>
                  <a:srgbClr val="000000"/>
                </a:solidFill>
                <a:latin typeface="Arial"/>
                <a:ea typeface="Arial"/>
                <a:cs typeface="Arial"/>
                <a:sym typeface="Arial"/>
              </a:rPr>
              <a:t>DC 775 motor, 12V/24V, 6000/12000 RPM, high torque, low noise, includes mounting bracket.</a:t>
            </a:r>
          </a:p>
        </p:txBody>
      </p:sp>
      <p:sp>
        <p:nvSpPr>
          <p:cNvPr name="TextBox 27" id="27"/>
          <p:cNvSpPr txBox="true"/>
          <p:nvPr/>
        </p:nvSpPr>
        <p:spPr>
          <a:xfrm rot="0">
            <a:off x="280000" y="6135672"/>
            <a:ext cx="5784272" cy="825404"/>
          </a:xfrm>
          <a:prstGeom prst="rect">
            <a:avLst/>
          </a:prstGeom>
        </p:spPr>
        <p:txBody>
          <a:bodyPr anchor="t" rtlCol="false" tIns="0" lIns="0" bIns="0" rIns="0">
            <a:spAutoFit/>
          </a:bodyPr>
          <a:lstStyle/>
          <a:p>
            <a:pPr algn="l" marL="0" indent="0" lvl="0">
              <a:lnSpc>
                <a:spcPts val="3322"/>
              </a:lnSpc>
              <a:spcBef>
                <a:spcPct val="0"/>
              </a:spcBef>
            </a:pPr>
            <a:r>
              <a:rPr lang="en-US" b="true" sz="2373" strike="noStrike" u="sng">
                <a:solidFill>
                  <a:srgbClr val="BD9C6C"/>
                </a:solidFill>
                <a:latin typeface="Open Sans Bold"/>
                <a:ea typeface="Open Sans Bold"/>
                <a:cs typeface="Open Sans Bold"/>
                <a:sym typeface="Open Sans Bold"/>
              </a:rPr>
              <a:t>12V 10A Power Adapter for Motor Power Supply</a:t>
            </a:r>
          </a:p>
        </p:txBody>
      </p:sp>
      <p:sp>
        <p:nvSpPr>
          <p:cNvPr name="TextBox 28" id="28"/>
          <p:cNvSpPr txBox="true"/>
          <p:nvPr/>
        </p:nvSpPr>
        <p:spPr>
          <a:xfrm rot="0">
            <a:off x="280000" y="7076328"/>
            <a:ext cx="6418810" cy="1119926"/>
          </a:xfrm>
          <a:prstGeom prst="rect">
            <a:avLst/>
          </a:prstGeom>
        </p:spPr>
        <p:txBody>
          <a:bodyPr anchor="t" rtlCol="false" tIns="0" lIns="0" bIns="0" rIns="0">
            <a:spAutoFit/>
          </a:bodyPr>
          <a:lstStyle/>
          <a:p>
            <a:pPr algn="l" marL="0" indent="0" lvl="0">
              <a:lnSpc>
                <a:spcPts val="2852"/>
              </a:lnSpc>
              <a:spcBef>
                <a:spcPct val="0"/>
              </a:spcBef>
            </a:pPr>
            <a:r>
              <a:rPr lang="en-US" sz="2037" strike="noStrike" u="none">
                <a:solidFill>
                  <a:srgbClr val="000000"/>
                </a:solidFill>
                <a:latin typeface="Arial"/>
                <a:ea typeface="Arial"/>
                <a:cs typeface="Arial"/>
                <a:sym typeface="Arial"/>
              </a:rPr>
              <a:t>Powers 12V DC motors and linear actuator, stable 12V output at 10A, ensures reliable motor operation, compatible with L298N driver.</a:t>
            </a:r>
          </a:p>
        </p:txBody>
      </p:sp>
      <p:sp>
        <p:nvSpPr>
          <p:cNvPr name="TextBox 29" id="29"/>
          <p:cNvSpPr txBox="true"/>
          <p:nvPr/>
        </p:nvSpPr>
        <p:spPr>
          <a:xfrm rot="0">
            <a:off x="8119748" y="4034224"/>
            <a:ext cx="10168252" cy="1118737"/>
          </a:xfrm>
          <a:prstGeom prst="rect">
            <a:avLst/>
          </a:prstGeom>
        </p:spPr>
        <p:txBody>
          <a:bodyPr anchor="t" rtlCol="false" tIns="0" lIns="0" bIns="0" rIns="0">
            <a:spAutoFit/>
          </a:bodyPr>
          <a:lstStyle/>
          <a:p>
            <a:pPr algn="l">
              <a:lnSpc>
                <a:spcPts val="2901"/>
              </a:lnSpc>
            </a:pPr>
            <a:r>
              <a:rPr lang="en-US" sz="2072" u="sng" b="true">
                <a:solidFill>
                  <a:srgbClr val="BD9C6C"/>
                </a:solidFill>
                <a:latin typeface="Arial Bold"/>
                <a:ea typeface="Arial Bold"/>
                <a:cs typeface="Arial Bold"/>
                <a:sym typeface="Arial Bold"/>
              </a:rPr>
              <a:t>The servomotor: </a:t>
            </a:r>
          </a:p>
          <a:p>
            <a:pPr algn="l">
              <a:lnSpc>
                <a:spcPts val="2922"/>
              </a:lnSpc>
              <a:spcBef>
                <a:spcPct val="0"/>
              </a:spcBef>
            </a:pPr>
            <a:r>
              <a:rPr lang="en-US" sz="2087">
                <a:solidFill>
                  <a:srgbClr val="000000"/>
                </a:solidFill>
                <a:latin typeface="Arial"/>
                <a:ea typeface="Arial"/>
                <a:cs typeface="Arial"/>
                <a:sym typeface="Arial"/>
              </a:rPr>
              <a:t>Miuzei Servomoteur numérique à couple élevé 20 kg Servo en métal étanche pour robot de voiture R/C, angle de contrôle DS3218 270°</a:t>
            </a:r>
          </a:p>
        </p:txBody>
      </p:sp>
      <p:sp>
        <p:nvSpPr>
          <p:cNvPr name="TextBox 30" id="30"/>
          <p:cNvSpPr txBox="true"/>
          <p:nvPr/>
        </p:nvSpPr>
        <p:spPr>
          <a:xfrm rot="0">
            <a:off x="8119748" y="7928284"/>
            <a:ext cx="10168252" cy="1118737"/>
          </a:xfrm>
          <a:prstGeom prst="rect">
            <a:avLst/>
          </a:prstGeom>
        </p:spPr>
        <p:txBody>
          <a:bodyPr anchor="t" rtlCol="false" tIns="0" lIns="0" bIns="0" rIns="0">
            <a:spAutoFit/>
          </a:bodyPr>
          <a:lstStyle/>
          <a:p>
            <a:pPr algn="l">
              <a:lnSpc>
                <a:spcPts val="2901"/>
              </a:lnSpc>
            </a:pPr>
            <a:r>
              <a:rPr lang="en-US" sz="2072" u="sng" b="true">
                <a:solidFill>
                  <a:srgbClr val="BD9C6C"/>
                </a:solidFill>
                <a:latin typeface="Arial Bold"/>
                <a:ea typeface="Arial Bold"/>
                <a:cs typeface="Arial Bold"/>
                <a:sym typeface="Arial Bold"/>
              </a:rPr>
              <a:t>LCD screen :  </a:t>
            </a:r>
          </a:p>
          <a:p>
            <a:pPr algn="l">
              <a:lnSpc>
                <a:spcPts val="2922"/>
              </a:lnSpc>
              <a:spcBef>
                <a:spcPct val="0"/>
              </a:spcBef>
            </a:pPr>
            <a:r>
              <a:rPr lang="en-US" sz="2087">
                <a:solidFill>
                  <a:srgbClr val="000000"/>
                </a:solidFill>
                <a:latin typeface="Arial"/>
                <a:ea typeface="Arial"/>
                <a:cs typeface="Arial"/>
                <a:sym typeface="Arial"/>
              </a:rPr>
              <a:t>LCD1602 Screen with Backlight LCD Display Module Board 2 x 16 Characters 1602 5v for Ar-duino Duemilanove Robot 1602A UNO R3 MEG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17017" y="7846303"/>
            <a:ext cx="3834034" cy="3289372"/>
            <a:chOff x="0" y="0"/>
            <a:chExt cx="406400" cy="348667"/>
          </a:xfrm>
        </p:grpSpPr>
        <p:sp>
          <p:nvSpPr>
            <p:cNvPr name="Freeform 3" id="3"/>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4" id="4"/>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917017" y="9198322"/>
            <a:ext cx="5830440" cy="3289372"/>
            <a:chOff x="0" y="0"/>
            <a:chExt cx="618015" cy="348667"/>
          </a:xfrm>
        </p:grpSpPr>
        <p:sp>
          <p:nvSpPr>
            <p:cNvPr name="Freeform 6" id="6"/>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7" id="7"/>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711109">
            <a:off x="16271905" y="-947085"/>
            <a:ext cx="3834034" cy="3289372"/>
            <a:chOff x="0" y="0"/>
            <a:chExt cx="406400" cy="348667"/>
          </a:xfrm>
        </p:grpSpPr>
        <p:sp>
          <p:nvSpPr>
            <p:cNvPr name="Freeform 9" id="9"/>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0" id="10"/>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10711109">
            <a:off x="14240877" y="-2272845"/>
            <a:ext cx="5830440" cy="3289372"/>
            <a:chOff x="0" y="0"/>
            <a:chExt cx="618015" cy="348667"/>
          </a:xfrm>
        </p:grpSpPr>
        <p:sp>
          <p:nvSpPr>
            <p:cNvPr name="Freeform 12" id="12"/>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3" id="13"/>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044817" y="1764327"/>
            <a:ext cx="11154513" cy="7292263"/>
          </a:xfrm>
          <a:custGeom>
            <a:avLst/>
            <a:gdLst/>
            <a:ahLst/>
            <a:cxnLst/>
            <a:rect r="r" b="b" t="t" l="l"/>
            <a:pathLst>
              <a:path h="7292263" w="11154513">
                <a:moveTo>
                  <a:pt x="0" y="0"/>
                </a:moveTo>
                <a:lnTo>
                  <a:pt x="11154513" y="0"/>
                </a:lnTo>
                <a:lnTo>
                  <a:pt x="11154513" y="7292262"/>
                </a:lnTo>
                <a:lnTo>
                  <a:pt x="0" y="7292262"/>
                </a:lnTo>
                <a:lnTo>
                  <a:pt x="0" y="0"/>
                </a:lnTo>
                <a:close/>
              </a:path>
            </a:pathLst>
          </a:custGeom>
          <a:blipFill>
            <a:blip r:embed="rId2"/>
            <a:stretch>
              <a:fillRect l="0" t="0" r="0" b="0"/>
            </a:stretch>
          </a:blipFill>
        </p:spPr>
      </p:sp>
      <p:sp>
        <p:nvSpPr>
          <p:cNvPr name="TextBox 15" id="15"/>
          <p:cNvSpPr txBox="true"/>
          <p:nvPr/>
        </p:nvSpPr>
        <p:spPr>
          <a:xfrm rot="0">
            <a:off x="349418" y="493242"/>
            <a:ext cx="9208939" cy="798663"/>
          </a:xfrm>
          <a:prstGeom prst="rect">
            <a:avLst/>
          </a:prstGeom>
        </p:spPr>
        <p:txBody>
          <a:bodyPr anchor="t" rtlCol="false" tIns="0" lIns="0" bIns="0" rIns="0">
            <a:spAutoFit/>
          </a:bodyPr>
          <a:lstStyle/>
          <a:p>
            <a:pPr algn="just" marL="0" indent="0" lvl="0">
              <a:lnSpc>
                <a:spcPts val="5851"/>
              </a:lnSpc>
              <a:spcBef>
                <a:spcPct val="0"/>
              </a:spcBef>
            </a:pPr>
            <a:r>
              <a:rPr lang="en-US" b="true" sz="4179" strike="noStrike" u="none">
                <a:solidFill>
                  <a:srgbClr val="4B331F"/>
                </a:solidFill>
                <a:latin typeface="Arial Bold"/>
                <a:ea typeface="Arial Bold"/>
                <a:cs typeface="Arial Bold"/>
                <a:sym typeface="Arial Bold"/>
              </a:rPr>
              <a:t>Hardware Architecture </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17017" y="7846303"/>
            <a:ext cx="3834034" cy="3289372"/>
            <a:chOff x="0" y="0"/>
            <a:chExt cx="406400" cy="348667"/>
          </a:xfrm>
        </p:grpSpPr>
        <p:sp>
          <p:nvSpPr>
            <p:cNvPr name="Freeform 3" id="3"/>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4" id="4"/>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917017" y="9198322"/>
            <a:ext cx="5830440" cy="3289372"/>
            <a:chOff x="0" y="0"/>
            <a:chExt cx="618015" cy="348667"/>
          </a:xfrm>
        </p:grpSpPr>
        <p:sp>
          <p:nvSpPr>
            <p:cNvPr name="Freeform 6" id="6"/>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7" id="7"/>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711109">
            <a:off x="16271905" y="-947085"/>
            <a:ext cx="3834034" cy="3289372"/>
            <a:chOff x="0" y="0"/>
            <a:chExt cx="406400" cy="348667"/>
          </a:xfrm>
        </p:grpSpPr>
        <p:sp>
          <p:nvSpPr>
            <p:cNvPr name="Freeform 9" id="9"/>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0" id="10"/>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10711109">
            <a:off x="14240877" y="-2272845"/>
            <a:ext cx="5830440" cy="3289372"/>
            <a:chOff x="0" y="0"/>
            <a:chExt cx="618015" cy="348667"/>
          </a:xfrm>
        </p:grpSpPr>
        <p:sp>
          <p:nvSpPr>
            <p:cNvPr name="Freeform 12" id="12"/>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3" id="13"/>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645073" y="5455849"/>
            <a:ext cx="4046143" cy="4957271"/>
            <a:chOff x="0" y="0"/>
            <a:chExt cx="5394857" cy="6609694"/>
          </a:xfrm>
        </p:grpSpPr>
        <p:sp>
          <p:nvSpPr>
            <p:cNvPr name="Freeform 15" id="15"/>
            <p:cNvSpPr/>
            <p:nvPr/>
          </p:nvSpPr>
          <p:spPr>
            <a:xfrm flipH="false" flipV="false" rot="0">
              <a:off x="0" y="0"/>
              <a:ext cx="5394857" cy="6609694"/>
            </a:xfrm>
            <a:custGeom>
              <a:avLst/>
              <a:gdLst/>
              <a:ahLst/>
              <a:cxnLst/>
              <a:rect r="r" b="b" t="t" l="l"/>
              <a:pathLst>
                <a:path h="6609694" w="5394857">
                  <a:moveTo>
                    <a:pt x="0" y="0"/>
                  </a:moveTo>
                  <a:lnTo>
                    <a:pt x="5394857" y="0"/>
                  </a:lnTo>
                  <a:lnTo>
                    <a:pt x="5394857" y="6609694"/>
                  </a:lnTo>
                  <a:lnTo>
                    <a:pt x="0" y="6609694"/>
                  </a:lnTo>
                  <a:lnTo>
                    <a:pt x="0" y="0"/>
                  </a:lnTo>
                  <a:close/>
                </a:path>
              </a:pathLst>
            </a:custGeom>
            <a:blipFill>
              <a:blip r:embed="rId2">
                <a:extLst>
                  <a:ext uri="{96DAC541-7B7A-43D3-8B79-37D633B846F1}">
                    <asvg:svgBlip xmlns:asvg="http://schemas.microsoft.com/office/drawing/2016/SVG/main" r:embed="rId3"/>
                  </a:ext>
                </a:extLst>
              </a:blip>
              <a:stretch>
                <a:fillRect l="-36170" t="0" r="-36170" b="0"/>
              </a:stretch>
            </a:blipFill>
          </p:spPr>
        </p:sp>
        <p:sp>
          <p:nvSpPr>
            <p:cNvPr name="TextBox 16" id="16"/>
            <p:cNvSpPr txBox="true"/>
            <p:nvPr/>
          </p:nvSpPr>
          <p:spPr>
            <a:xfrm rot="0">
              <a:off x="455283" y="-38100"/>
              <a:ext cx="4484291" cy="6501040"/>
            </a:xfrm>
            <a:prstGeom prst="rect">
              <a:avLst/>
            </a:prstGeom>
          </p:spPr>
          <p:txBody>
            <a:bodyPr anchor="t" rtlCol="false" tIns="0" lIns="0" bIns="0" rIns="0">
              <a:spAutoFit/>
            </a:bodyPr>
            <a:lstStyle/>
            <a:p>
              <a:pPr algn="ctr">
                <a:lnSpc>
                  <a:spcPts val="2611"/>
                </a:lnSpc>
              </a:pPr>
            </a:p>
            <a:p>
              <a:pPr algn="ctr" marL="402784" indent="-201392" lvl="1">
                <a:lnSpc>
                  <a:spcPts val="2611"/>
                </a:lnSpc>
                <a:buFont typeface="Arial"/>
                <a:buChar char="•"/>
              </a:pPr>
              <a:r>
                <a:rPr lang="en-US" sz="1865">
                  <a:solidFill>
                    <a:srgbClr val="FFFFFF"/>
                  </a:solidFill>
                  <a:latin typeface="Canva Sans"/>
                  <a:ea typeface="Canva Sans"/>
                  <a:cs typeface="Canva Sans"/>
                  <a:sym typeface="Canva Sans"/>
                </a:rPr>
                <a:t>M</a:t>
              </a:r>
              <a:r>
                <a:rPr lang="en-US" b="true" sz="1865">
                  <a:solidFill>
                    <a:srgbClr val="FFFFFF"/>
                  </a:solidFill>
                  <a:latin typeface="Canva Sans Bold"/>
                  <a:ea typeface="Canva Sans Bold"/>
                  <a:cs typeface="Canva Sans Bold"/>
                  <a:sym typeface="Canva Sans Bold"/>
                </a:rPr>
                <a:t>otor Control Library (RPi.GPIO)</a:t>
              </a:r>
            </a:p>
            <a:p>
              <a:pPr algn="ctr" marL="402784" indent="-201392" lvl="1">
                <a:lnSpc>
                  <a:spcPts val="2611"/>
                </a:lnSpc>
                <a:buFont typeface="Arial"/>
                <a:buChar char="•"/>
              </a:pPr>
              <a:r>
                <a:rPr lang="en-US" sz="1865">
                  <a:solidFill>
                    <a:srgbClr val="FFFFFF"/>
                  </a:solidFill>
                  <a:latin typeface="Canva Sans"/>
                  <a:ea typeface="Canva Sans"/>
                  <a:cs typeface="Canva Sans"/>
                  <a:sym typeface="Canva Sans"/>
                </a:rPr>
                <a:t>M</a:t>
              </a:r>
              <a:r>
                <a:rPr lang="en-US" b="true" sz="1865">
                  <a:solidFill>
                    <a:srgbClr val="FFFFFF"/>
                  </a:solidFill>
                  <a:latin typeface="Canva Sans Bold"/>
                  <a:ea typeface="Canva Sans Bold"/>
                  <a:cs typeface="Canva Sans Bold"/>
                  <a:sym typeface="Canva Sans Bold"/>
                </a:rPr>
                <a:t>essage Display Library (RPLCD)</a:t>
              </a:r>
            </a:p>
            <a:p>
              <a:pPr algn="ctr" marL="402784" indent="-201392" lvl="1">
                <a:lnSpc>
                  <a:spcPts val="2611"/>
                </a:lnSpc>
                <a:buFont typeface="Arial"/>
                <a:buChar char="•"/>
              </a:pPr>
              <a:r>
                <a:rPr lang="en-US" b="true" sz="1865">
                  <a:solidFill>
                    <a:srgbClr val="FFFFFF"/>
                  </a:solidFill>
                  <a:latin typeface="Canva Sans Bold"/>
                  <a:ea typeface="Canva Sans Bold"/>
                  <a:cs typeface="Canva Sans Bold"/>
                  <a:sym typeface="Canva Sans Bold"/>
                </a:rPr>
                <a:t>I</a:t>
              </a:r>
              <a:r>
                <a:rPr lang="en-US" b="true" sz="1865">
                  <a:solidFill>
                    <a:srgbClr val="FFFFFF"/>
                  </a:solidFill>
                  <a:latin typeface="Canva Sans Bold"/>
                  <a:ea typeface="Canva Sans Bold"/>
                  <a:cs typeface="Canva Sans Bold"/>
                  <a:sym typeface="Canva Sans Bold"/>
                </a:rPr>
                <a:t>mage recognition OpenCV, Tensorflow</a:t>
              </a:r>
            </a:p>
            <a:p>
              <a:pPr algn="ctr" marL="402784" indent="-201392" lvl="1">
                <a:lnSpc>
                  <a:spcPts val="2611"/>
                </a:lnSpc>
                <a:buFont typeface="Arial"/>
                <a:buChar char="•"/>
              </a:pPr>
              <a:r>
                <a:rPr lang="en-US" b="true" sz="1865">
                  <a:solidFill>
                    <a:srgbClr val="FFFFFF"/>
                  </a:solidFill>
                  <a:latin typeface="Canva Sans Bold"/>
                  <a:ea typeface="Canva Sans Bold"/>
                  <a:cs typeface="Canva Sans Bold"/>
                  <a:sym typeface="Canva Sans Bold"/>
                </a:rPr>
                <a:t>ML training with MNIST dataset</a:t>
              </a:r>
            </a:p>
            <a:p>
              <a:pPr algn="ctr" marL="402784" indent="-201392" lvl="1">
                <a:lnSpc>
                  <a:spcPts val="2611"/>
                </a:lnSpc>
                <a:buFont typeface="Arial"/>
                <a:buChar char="•"/>
              </a:pPr>
              <a:r>
                <a:rPr lang="en-US" b="true" sz="1865">
                  <a:solidFill>
                    <a:srgbClr val="FFFFFF"/>
                  </a:solidFill>
                  <a:latin typeface="Canva Sans Bold"/>
                  <a:ea typeface="Canva Sans Bold"/>
                  <a:cs typeface="Canva Sans Bold"/>
                  <a:sym typeface="Canva Sans Bold"/>
                </a:rPr>
                <a:t>W</a:t>
              </a:r>
              <a:r>
                <a:rPr lang="en-US" b="true" sz="1865">
                  <a:solidFill>
                    <a:srgbClr val="FFFFFF"/>
                  </a:solidFill>
                  <a:latin typeface="Canva Sans Bold"/>
                  <a:ea typeface="Canva Sans Bold"/>
                  <a:cs typeface="Canva Sans Bold"/>
                  <a:sym typeface="Canva Sans Bold"/>
                </a:rPr>
                <a:t>eb application made with Python using Flutter</a:t>
              </a:r>
            </a:p>
            <a:p>
              <a:pPr algn="ctr" marL="402784" indent="-201392" lvl="1">
                <a:lnSpc>
                  <a:spcPts val="2611"/>
                </a:lnSpc>
                <a:buFont typeface="Arial"/>
                <a:buChar char="•"/>
              </a:pPr>
              <a:r>
                <a:rPr lang="en-US" b="true" sz="1865">
                  <a:solidFill>
                    <a:srgbClr val="FFFFFF"/>
                  </a:solidFill>
                  <a:latin typeface="Canva Sans Bold"/>
                  <a:ea typeface="Canva Sans Bold"/>
                  <a:cs typeface="Canva Sans Bold"/>
                  <a:sym typeface="Canva Sans Bold"/>
                </a:rPr>
                <a:t>MongoDB Configuration</a:t>
              </a:r>
            </a:p>
            <a:p>
              <a:pPr algn="ctr" marL="402784" indent="-201392" lvl="1">
                <a:lnSpc>
                  <a:spcPts val="2611"/>
                </a:lnSpc>
                <a:buFont typeface="Arial"/>
                <a:buChar char="•"/>
              </a:pPr>
              <a:r>
                <a:rPr lang="en-US" b="true" sz="1865">
                  <a:solidFill>
                    <a:srgbClr val="FFFFFF"/>
                  </a:solidFill>
                  <a:latin typeface="Canva Sans Bold"/>
                  <a:ea typeface="Canva Sans Bold"/>
                  <a:cs typeface="Canva Sans Bold"/>
                  <a:sym typeface="Canva Sans Bold"/>
                </a:rPr>
                <a:t>Firebase for push notifications</a:t>
              </a:r>
              <a:r>
                <a:rPr lang="en-US" b="true" sz="1865">
                  <a:solidFill>
                    <a:srgbClr val="FFFFFF"/>
                  </a:solidFill>
                  <a:latin typeface="Canva Sans Bold"/>
                  <a:ea typeface="Canva Sans Bold"/>
                  <a:cs typeface="Canva Sans Bold"/>
                  <a:sym typeface="Canva Sans Bold"/>
                </a:rPr>
                <a:t> </a:t>
              </a:r>
            </a:p>
            <a:p>
              <a:pPr algn="ctr">
                <a:lnSpc>
                  <a:spcPts val="2611"/>
                </a:lnSpc>
              </a:pPr>
            </a:p>
          </p:txBody>
        </p:sp>
      </p:grpSp>
      <p:sp>
        <p:nvSpPr>
          <p:cNvPr name="TextBox 17" id="17"/>
          <p:cNvSpPr txBox="true"/>
          <p:nvPr/>
        </p:nvSpPr>
        <p:spPr>
          <a:xfrm rot="0">
            <a:off x="11144433" y="6968201"/>
            <a:ext cx="4168781" cy="2009141"/>
          </a:xfrm>
          <a:prstGeom prst="rect">
            <a:avLst/>
          </a:prstGeom>
        </p:spPr>
        <p:txBody>
          <a:bodyPr anchor="t" rtlCol="false" tIns="0" lIns="0" bIns="0" rIns="0">
            <a:spAutoFit/>
          </a:bodyPr>
          <a:lstStyle/>
          <a:p>
            <a:pPr algn="ctr">
              <a:lnSpc>
                <a:spcPts val="4096"/>
              </a:lnSpc>
            </a:pPr>
            <a:r>
              <a:rPr lang="en-US" b="true" sz="2409">
                <a:solidFill>
                  <a:srgbClr val="FFFFFF"/>
                </a:solidFill>
                <a:latin typeface="Canva Sans Bold"/>
                <a:ea typeface="Canva Sans Bold"/>
                <a:cs typeface="Canva Sans Bold"/>
                <a:sym typeface="Canva Sans Bold"/>
              </a:rPr>
              <a:t>Manages the mail database, storing resident addresses and corresponding email addresses.</a:t>
            </a:r>
          </a:p>
        </p:txBody>
      </p:sp>
      <p:grpSp>
        <p:nvGrpSpPr>
          <p:cNvPr name="Group 18" id="18"/>
          <p:cNvGrpSpPr/>
          <p:nvPr/>
        </p:nvGrpSpPr>
        <p:grpSpPr>
          <a:xfrm rot="0">
            <a:off x="6188199" y="4461452"/>
            <a:ext cx="207645" cy="842010"/>
            <a:chOff x="0" y="0"/>
            <a:chExt cx="276860" cy="1122680"/>
          </a:xfrm>
        </p:grpSpPr>
        <p:sp>
          <p:nvSpPr>
            <p:cNvPr name="Freeform 19" id="19"/>
            <p:cNvSpPr/>
            <p:nvPr/>
          </p:nvSpPr>
          <p:spPr>
            <a:xfrm flipH="false" flipV="false" rot="0">
              <a:off x="44450" y="48260"/>
              <a:ext cx="201930" cy="1028700"/>
            </a:xfrm>
            <a:custGeom>
              <a:avLst/>
              <a:gdLst/>
              <a:ahLst/>
              <a:cxnLst/>
              <a:rect r="r" b="b" t="t" l="l"/>
              <a:pathLst>
                <a:path h="1028700" w="201930">
                  <a:moveTo>
                    <a:pt x="20320" y="948690"/>
                  </a:moveTo>
                  <a:cubicBezTo>
                    <a:pt x="15240" y="35560"/>
                    <a:pt x="26670" y="27940"/>
                    <a:pt x="40640" y="17780"/>
                  </a:cubicBezTo>
                  <a:cubicBezTo>
                    <a:pt x="55880" y="7620"/>
                    <a:pt x="76200" y="0"/>
                    <a:pt x="95250" y="2540"/>
                  </a:cubicBezTo>
                  <a:cubicBezTo>
                    <a:pt x="118110" y="5080"/>
                    <a:pt x="152400" y="26670"/>
                    <a:pt x="166370" y="45720"/>
                  </a:cubicBezTo>
                  <a:cubicBezTo>
                    <a:pt x="177800" y="60960"/>
                    <a:pt x="180340" y="82550"/>
                    <a:pt x="177800" y="100330"/>
                  </a:cubicBezTo>
                  <a:cubicBezTo>
                    <a:pt x="176530" y="118110"/>
                    <a:pt x="168910" y="138430"/>
                    <a:pt x="154940" y="151130"/>
                  </a:cubicBezTo>
                  <a:cubicBezTo>
                    <a:pt x="137160" y="166370"/>
                    <a:pt x="100330" y="181610"/>
                    <a:pt x="76200" y="177800"/>
                  </a:cubicBezTo>
                  <a:cubicBezTo>
                    <a:pt x="52070" y="173990"/>
                    <a:pt x="20320" y="149860"/>
                    <a:pt x="10160" y="128270"/>
                  </a:cubicBezTo>
                  <a:cubicBezTo>
                    <a:pt x="0" y="105410"/>
                    <a:pt x="2540" y="66040"/>
                    <a:pt x="15240" y="45720"/>
                  </a:cubicBezTo>
                  <a:cubicBezTo>
                    <a:pt x="27940" y="24130"/>
                    <a:pt x="63500" y="5080"/>
                    <a:pt x="86360" y="2540"/>
                  </a:cubicBezTo>
                  <a:cubicBezTo>
                    <a:pt x="104140" y="0"/>
                    <a:pt x="125730" y="7620"/>
                    <a:pt x="139700" y="17780"/>
                  </a:cubicBezTo>
                  <a:cubicBezTo>
                    <a:pt x="154940" y="27940"/>
                    <a:pt x="165100" y="36830"/>
                    <a:pt x="173990" y="62230"/>
                  </a:cubicBezTo>
                  <a:cubicBezTo>
                    <a:pt x="201930" y="143510"/>
                    <a:pt x="182880" y="462280"/>
                    <a:pt x="181610" y="628650"/>
                  </a:cubicBezTo>
                  <a:cubicBezTo>
                    <a:pt x="179070" y="762000"/>
                    <a:pt x="194310" y="929640"/>
                    <a:pt x="168910" y="985520"/>
                  </a:cubicBezTo>
                  <a:cubicBezTo>
                    <a:pt x="157480" y="1007110"/>
                    <a:pt x="142240" y="1016000"/>
                    <a:pt x="127000" y="1022350"/>
                  </a:cubicBezTo>
                  <a:cubicBezTo>
                    <a:pt x="110490" y="1028700"/>
                    <a:pt x="86360" y="1027430"/>
                    <a:pt x="71120" y="1022350"/>
                  </a:cubicBezTo>
                  <a:cubicBezTo>
                    <a:pt x="58420" y="1018540"/>
                    <a:pt x="48260" y="1010920"/>
                    <a:pt x="39370" y="1000760"/>
                  </a:cubicBezTo>
                  <a:cubicBezTo>
                    <a:pt x="30480" y="988060"/>
                    <a:pt x="20320" y="948690"/>
                    <a:pt x="20320" y="948690"/>
                  </a:cubicBezTo>
                </a:path>
              </a:pathLst>
            </a:custGeom>
            <a:solidFill>
              <a:srgbClr val="E4BE87"/>
            </a:solidFill>
            <a:ln cap="sq">
              <a:noFill/>
              <a:prstDash val="solid"/>
              <a:miter/>
            </a:ln>
          </p:spPr>
        </p:sp>
      </p:grpSp>
      <p:grpSp>
        <p:nvGrpSpPr>
          <p:cNvPr name="Group 20" id="20"/>
          <p:cNvGrpSpPr/>
          <p:nvPr/>
        </p:nvGrpSpPr>
        <p:grpSpPr>
          <a:xfrm rot="0">
            <a:off x="2050294" y="1629583"/>
            <a:ext cx="11924088" cy="7347759"/>
            <a:chOff x="0" y="0"/>
            <a:chExt cx="15898784" cy="9797012"/>
          </a:xfrm>
        </p:grpSpPr>
        <p:grpSp>
          <p:nvGrpSpPr>
            <p:cNvPr name="Group 21" id="21"/>
            <p:cNvGrpSpPr>
              <a:grpSpLocks noChangeAspect="true"/>
            </p:cNvGrpSpPr>
            <p:nvPr/>
          </p:nvGrpSpPr>
          <p:grpSpPr>
            <a:xfrm rot="0">
              <a:off x="0" y="0"/>
              <a:ext cx="11239894" cy="9797012"/>
              <a:chOff x="0" y="0"/>
              <a:chExt cx="6262370" cy="5458460"/>
            </a:xfrm>
          </p:grpSpPr>
          <p:sp>
            <p:nvSpPr>
              <p:cNvPr name="Freeform 22" id="22"/>
              <p:cNvSpPr/>
              <p:nvPr/>
            </p:nvSpPr>
            <p:spPr>
              <a:xfrm flipH="false" flipV="false" rot="0">
                <a:off x="0" y="0"/>
                <a:ext cx="6262370" cy="5457190"/>
              </a:xfrm>
              <a:custGeom>
                <a:avLst/>
                <a:gdLst/>
                <a:ahLst/>
                <a:cxnLst/>
                <a:rect r="r" b="b" t="t" l="l"/>
                <a:pathLst>
                  <a:path h="5457190" w="6262370">
                    <a:moveTo>
                      <a:pt x="5904230" y="0"/>
                    </a:moveTo>
                    <a:lnTo>
                      <a:pt x="4438650" y="0"/>
                    </a:lnTo>
                    <a:cubicBezTo>
                      <a:pt x="4240530" y="0"/>
                      <a:pt x="4080510" y="161290"/>
                      <a:pt x="4080510" y="358140"/>
                    </a:cubicBezTo>
                    <a:lnTo>
                      <a:pt x="4080510" y="1823720"/>
                    </a:lnTo>
                    <a:cubicBezTo>
                      <a:pt x="4080510" y="2021840"/>
                      <a:pt x="4241800" y="2181860"/>
                      <a:pt x="4438650" y="2181860"/>
                    </a:cubicBezTo>
                    <a:lnTo>
                      <a:pt x="5100320" y="2181860"/>
                    </a:lnTo>
                    <a:lnTo>
                      <a:pt x="5100320" y="2644140"/>
                    </a:lnTo>
                    <a:lnTo>
                      <a:pt x="1163320" y="2644140"/>
                    </a:lnTo>
                    <a:lnTo>
                      <a:pt x="1163320" y="2181860"/>
                    </a:lnTo>
                    <a:lnTo>
                      <a:pt x="1824990" y="2181860"/>
                    </a:lnTo>
                    <a:cubicBezTo>
                      <a:pt x="2023110" y="2181860"/>
                      <a:pt x="2183130" y="2020570"/>
                      <a:pt x="2183130" y="1823720"/>
                    </a:cubicBezTo>
                    <a:lnTo>
                      <a:pt x="2183130" y="358140"/>
                    </a:lnTo>
                    <a:cubicBezTo>
                      <a:pt x="2183130" y="160020"/>
                      <a:pt x="2021840" y="0"/>
                      <a:pt x="1824990" y="0"/>
                    </a:cubicBezTo>
                    <a:lnTo>
                      <a:pt x="358140" y="0"/>
                    </a:lnTo>
                    <a:cubicBezTo>
                      <a:pt x="161290" y="0"/>
                      <a:pt x="0" y="161290"/>
                      <a:pt x="0" y="358140"/>
                    </a:cubicBezTo>
                    <a:lnTo>
                      <a:pt x="0" y="1823720"/>
                    </a:lnTo>
                    <a:cubicBezTo>
                      <a:pt x="0" y="2021840"/>
                      <a:pt x="161290" y="2181860"/>
                      <a:pt x="358140" y="2181860"/>
                    </a:cubicBezTo>
                    <a:lnTo>
                      <a:pt x="1019810" y="2181860"/>
                    </a:lnTo>
                    <a:lnTo>
                      <a:pt x="1019810" y="2717800"/>
                    </a:lnTo>
                    <a:cubicBezTo>
                      <a:pt x="1019810" y="2757170"/>
                      <a:pt x="1051560" y="2788920"/>
                      <a:pt x="1090930" y="2788920"/>
                    </a:cubicBezTo>
                    <a:lnTo>
                      <a:pt x="3059430" y="2788920"/>
                    </a:lnTo>
                    <a:lnTo>
                      <a:pt x="3059430" y="3275330"/>
                    </a:lnTo>
                    <a:lnTo>
                      <a:pt x="2397760" y="3275330"/>
                    </a:lnTo>
                    <a:cubicBezTo>
                      <a:pt x="2199640" y="3275330"/>
                      <a:pt x="2039620" y="3436620"/>
                      <a:pt x="2039620" y="3633470"/>
                    </a:cubicBezTo>
                    <a:lnTo>
                      <a:pt x="2039620" y="5099050"/>
                    </a:lnTo>
                    <a:cubicBezTo>
                      <a:pt x="2039620" y="5297170"/>
                      <a:pt x="2200910" y="5457190"/>
                      <a:pt x="2397760" y="5457190"/>
                    </a:cubicBezTo>
                    <a:lnTo>
                      <a:pt x="3863340" y="5457190"/>
                    </a:lnTo>
                    <a:cubicBezTo>
                      <a:pt x="4061460" y="5457190"/>
                      <a:pt x="4221480" y="5295900"/>
                      <a:pt x="4221480" y="5099050"/>
                    </a:cubicBezTo>
                    <a:lnTo>
                      <a:pt x="4221480" y="3633470"/>
                    </a:lnTo>
                    <a:cubicBezTo>
                      <a:pt x="4221480" y="3435350"/>
                      <a:pt x="4060190" y="3275330"/>
                      <a:pt x="3863340" y="3275330"/>
                    </a:cubicBezTo>
                    <a:lnTo>
                      <a:pt x="3201670" y="3275330"/>
                    </a:lnTo>
                    <a:lnTo>
                      <a:pt x="3201670" y="2788920"/>
                    </a:lnTo>
                    <a:lnTo>
                      <a:pt x="5170170" y="2788920"/>
                    </a:lnTo>
                    <a:cubicBezTo>
                      <a:pt x="5209540" y="2788920"/>
                      <a:pt x="5241290" y="2757170"/>
                      <a:pt x="5241290" y="2717800"/>
                    </a:cubicBezTo>
                    <a:lnTo>
                      <a:pt x="5241290" y="2183130"/>
                    </a:lnTo>
                    <a:lnTo>
                      <a:pt x="5902960" y="2183130"/>
                    </a:lnTo>
                    <a:cubicBezTo>
                      <a:pt x="6101080" y="2183130"/>
                      <a:pt x="6261100" y="2021840"/>
                      <a:pt x="6261100" y="1824990"/>
                    </a:cubicBezTo>
                    <a:lnTo>
                      <a:pt x="6261100" y="358140"/>
                    </a:lnTo>
                    <a:cubicBezTo>
                      <a:pt x="6262370" y="161290"/>
                      <a:pt x="6102350" y="0"/>
                      <a:pt x="5904230" y="0"/>
                    </a:cubicBezTo>
                    <a:close/>
                  </a:path>
                </a:pathLst>
              </a:custGeom>
              <a:solidFill>
                <a:srgbClr val="E4BE87"/>
              </a:solidFill>
            </p:spPr>
          </p:sp>
          <p:sp>
            <p:nvSpPr>
              <p:cNvPr name="Freeform 23" id="23"/>
              <p:cNvSpPr/>
              <p:nvPr/>
            </p:nvSpPr>
            <p:spPr>
              <a:xfrm flipH="false" flipV="false" rot="0">
                <a:off x="143510" y="143510"/>
                <a:ext cx="1894840" cy="1896110"/>
              </a:xfrm>
              <a:custGeom>
                <a:avLst/>
                <a:gdLst/>
                <a:ahLst/>
                <a:cxnLst/>
                <a:rect r="r" b="b" t="t" l="l"/>
                <a:pathLst>
                  <a:path h="1896110" w="1894840">
                    <a:moveTo>
                      <a:pt x="0" y="1681480"/>
                    </a:moveTo>
                    <a:lnTo>
                      <a:pt x="0" y="214630"/>
                    </a:lnTo>
                    <a:cubicBezTo>
                      <a:pt x="0" y="96520"/>
                      <a:pt x="96520" y="0"/>
                      <a:pt x="214630" y="0"/>
                    </a:cubicBezTo>
                    <a:lnTo>
                      <a:pt x="1680210" y="0"/>
                    </a:lnTo>
                    <a:cubicBezTo>
                      <a:pt x="1798320" y="0"/>
                      <a:pt x="1894840" y="96520"/>
                      <a:pt x="1894840" y="214630"/>
                    </a:cubicBezTo>
                    <a:lnTo>
                      <a:pt x="1894840" y="1680210"/>
                    </a:lnTo>
                    <a:cubicBezTo>
                      <a:pt x="1894840" y="1798320"/>
                      <a:pt x="1798320" y="1894840"/>
                      <a:pt x="1680210" y="1894840"/>
                    </a:cubicBezTo>
                    <a:lnTo>
                      <a:pt x="214630" y="1894840"/>
                    </a:lnTo>
                    <a:cubicBezTo>
                      <a:pt x="96520" y="1896110"/>
                      <a:pt x="0" y="1799590"/>
                      <a:pt x="0" y="1681480"/>
                    </a:cubicBezTo>
                    <a:close/>
                  </a:path>
                </a:pathLst>
              </a:custGeom>
              <a:blipFill>
                <a:blip r:embed="rId4"/>
                <a:stretch>
                  <a:fillRect l="-68126" t="-63332" r="-57624" b="-62416"/>
                </a:stretch>
              </a:blipFill>
            </p:spPr>
          </p:sp>
          <p:sp>
            <p:nvSpPr>
              <p:cNvPr name="Freeform 24" id="24"/>
              <p:cNvSpPr/>
              <p:nvPr/>
            </p:nvSpPr>
            <p:spPr>
              <a:xfrm flipH="false" flipV="false" rot="0">
                <a:off x="2183130" y="3418840"/>
                <a:ext cx="1896110" cy="1894840"/>
              </a:xfrm>
              <a:custGeom>
                <a:avLst/>
                <a:gdLst/>
                <a:ahLst/>
                <a:cxnLst/>
                <a:rect r="r" b="b" t="t" l="l"/>
                <a:pathLst>
                  <a:path h="1894840" w="1896110">
                    <a:moveTo>
                      <a:pt x="1896110" y="214630"/>
                    </a:moveTo>
                    <a:lnTo>
                      <a:pt x="1896110" y="1680210"/>
                    </a:lnTo>
                    <a:cubicBezTo>
                      <a:pt x="1896110" y="1798320"/>
                      <a:pt x="1799590" y="1894840"/>
                      <a:pt x="1681480" y="1894840"/>
                    </a:cubicBezTo>
                    <a:lnTo>
                      <a:pt x="214630" y="1894840"/>
                    </a:lnTo>
                    <a:cubicBezTo>
                      <a:pt x="96520" y="1894840"/>
                      <a:pt x="0" y="1798320"/>
                      <a:pt x="0" y="1680210"/>
                    </a:cubicBezTo>
                    <a:lnTo>
                      <a:pt x="0" y="214630"/>
                    </a:lnTo>
                    <a:cubicBezTo>
                      <a:pt x="0" y="96520"/>
                      <a:pt x="96520" y="0"/>
                      <a:pt x="214630" y="0"/>
                    </a:cubicBezTo>
                    <a:lnTo>
                      <a:pt x="1680210" y="0"/>
                    </a:lnTo>
                    <a:cubicBezTo>
                      <a:pt x="1799590" y="0"/>
                      <a:pt x="1896110" y="96520"/>
                      <a:pt x="1896110" y="214630"/>
                    </a:cubicBezTo>
                    <a:close/>
                  </a:path>
                </a:pathLst>
              </a:custGeom>
              <a:blipFill>
                <a:blip r:embed="rId5"/>
                <a:stretch>
                  <a:fillRect l="-65096" t="0" r="-71153" b="-8229"/>
                </a:stretch>
              </a:blipFill>
            </p:spPr>
          </p:sp>
          <p:sp>
            <p:nvSpPr>
              <p:cNvPr name="Freeform 25" id="25"/>
              <p:cNvSpPr/>
              <p:nvPr/>
            </p:nvSpPr>
            <p:spPr>
              <a:xfrm flipH="false" flipV="false" rot="0">
                <a:off x="4224020" y="143510"/>
                <a:ext cx="1894840" cy="1896110"/>
              </a:xfrm>
              <a:custGeom>
                <a:avLst/>
                <a:gdLst/>
                <a:ahLst/>
                <a:cxnLst/>
                <a:rect r="r" b="b" t="t" l="l"/>
                <a:pathLst>
                  <a:path h="1896110" w="1894840">
                    <a:moveTo>
                      <a:pt x="1894840" y="1681480"/>
                    </a:moveTo>
                    <a:cubicBezTo>
                      <a:pt x="1894840" y="1799590"/>
                      <a:pt x="1798320" y="1896110"/>
                      <a:pt x="1680210" y="1896110"/>
                    </a:cubicBezTo>
                    <a:lnTo>
                      <a:pt x="214630" y="1896110"/>
                    </a:lnTo>
                    <a:cubicBezTo>
                      <a:pt x="96520" y="1896110"/>
                      <a:pt x="0" y="1799590"/>
                      <a:pt x="0" y="1681480"/>
                    </a:cubicBezTo>
                    <a:lnTo>
                      <a:pt x="0" y="214630"/>
                    </a:lnTo>
                    <a:cubicBezTo>
                      <a:pt x="0" y="96520"/>
                      <a:pt x="96520" y="0"/>
                      <a:pt x="214630" y="0"/>
                    </a:cubicBezTo>
                    <a:lnTo>
                      <a:pt x="1680210" y="0"/>
                    </a:lnTo>
                    <a:cubicBezTo>
                      <a:pt x="1798320" y="0"/>
                      <a:pt x="1894840" y="96520"/>
                      <a:pt x="1894840" y="214630"/>
                    </a:cubicBezTo>
                    <a:lnTo>
                      <a:pt x="1894840" y="1681480"/>
                    </a:lnTo>
                    <a:close/>
                  </a:path>
                </a:pathLst>
              </a:custGeom>
              <a:blipFill>
                <a:blip r:embed="rId6"/>
                <a:stretch>
                  <a:fillRect l="-38948" t="0" r="-38948" b="0"/>
                </a:stretch>
              </a:blipFill>
            </p:spPr>
          </p:sp>
        </p:grpSp>
        <p:sp>
          <p:nvSpPr>
            <p:cNvPr name="Freeform 26" id="26"/>
            <p:cNvSpPr/>
            <p:nvPr/>
          </p:nvSpPr>
          <p:spPr>
            <a:xfrm flipH="false" flipV="false" rot="0">
              <a:off x="9221175" y="4666990"/>
              <a:ext cx="5164395" cy="338033"/>
            </a:xfrm>
            <a:custGeom>
              <a:avLst/>
              <a:gdLst/>
              <a:ahLst/>
              <a:cxnLst/>
              <a:rect r="r" b="b" t="t" l="l"/>
              <a:pathLst>
                <a:path h="338033" w="5164395">
                  <a:moveTo>
                    <a:pt x="0" y="0"/>
                  </a:moveTo>
                  <a:lnTo>
                    <a:pt x="5164395" y="0"/>
                  </a:lnTo>
                  <a:lnTo>
                    <a:pt x="5164395" y="338033"/>
                  </a:lnTo>
                  <a:lnTo>
                    <a:pt x="0" y="3380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7" id="27"/>
            <p:cNvGrpSpPr>
              <a:grpSpLocks noChangeAspect="true"/>
            </p:cNvGrpSpPr>
            <p:nvPr/>
          </p:nvGrpSpPr>
          <p:grpSpPr>
            <a:xfrm rot="0">
              <a:off x="12306123" y="250521"/>
              <a:ext cx="3592661" cy="3592661"/>
              <a:chOff x="0" y="0"/>
              <a:chExt cx="6350000" cy="6350000"/>
            </a:xfrm>
          </p:grpSpPr>
          <p:sp>
            <p:nvSpPr>
              <p:cNvPr name="Freeform 28" id="28"/>
              <p:cNvSpPr/>
              <p:nvPr/>
            </p:nvSpPr>
            <p:spPr>
              <a:xfrm flipH="false" flipV="false" rot="0">
                <a:off x="124460" y="124460"/>
                <a:ext cx="6101080" cy="6101080"/>
              </a:xfrm>
              <a:custGeom>
                <a:avLst/>
                <a:gdLst/>
                <a:ahLst/>
                <a:cxnLst/>
                <a:rect r="r" b="b" t="t" l="l"/>
                <a:pathLst>
                  <a:path h="6101080" w="6101080">
                    <a:moveTo>
                      <a:pt x="0" y="0"/>
                    </a:moveTo>
                    <a:lnTo>
                      <a:pt x="6101080" y="0"/>
                    </a:lnTo>
                    <a:lnTo>
                      <a:pt x="6101080" y="6101080"/>
                    </a:lnTo>
                    <a:lnTo>
                      <a:pt x="0" y="6101080"/>
                    </a:lnTo>
                    <a:close/>
                  </a:path>
                </a:pathLst>
              </a:custGeom>
              <a:blipFill>
                <a:blip r:embed="rId9"/>
                <a:stretch>
                  <a:fillRect l="0" t="0" r="0" b="0"/>
                </a:stretch>
              </a:blipFill>
            </p:spPr>
          </p:sp>
          <p:sp>
            <p:nvSpPr>
              <p:cNvPr name="Freeform 29" id="29"/>
              <p:cNvSpPr/>
              <p:nvPr/>
            </p:nvSpPr>
            <p:spPr>
              <a:xfrm flipH="false" flipV="false" rot="0">
                <a:off x="0" y="0"/>
                <a:ext cx="6350000" cy="6350000"/>
              </a:xfrm>
              <a:custGeom>
                <a:avLst/>
                <a:gdLst/>
                <a:ahLst/>
                <a:cxnLst/>
                <a:rect r="r" b="b" t="t" l="l"/>
                <a:pathLst>
                  <a:path h="6350000" w="6350000">
                    <a:moveTo>
                      <a:pt x="6350000" y="6350000"/>
                    </a:moveTo>
                    <a:lnTo>
                      <a:pt x="0" y="6350000"/>
                    </a:lnTo>
                    <a:lnTo>
                      <a:pt x="0" y="0"/>
                    </a:lnTo>
                    <a:lnTo>
                      <a:pt x="6350000" y="0"/>
                    </a:lnTo>
                    <a:lnTo>
                      <a:pt x="6350000" y="6350000"/>
                    </a:lnTo>
                    <a:close/>
                    <a:moveTo>
                      <a:pt x="248920" y="6101080"/>
                    </a:moveTo>
                    <a:lnTo>
                      <a:pt x="6099810" y="6101080"/>
                    </a:lnTo>
                    <a:lnTo>
                      <a:pt x="6099810" y="248920"/>
                    </a:lnTo>
                    <a:lnTo>
                      <a:pt x="248920" y="248920"/>
                    </a:lnTo>
                    <a:lnTo>
                      <a:pt x="248920" y="6101080"/>
                    </a:lnTo>
                    <a:close/>
                  </a:path>
                </a:pathLst>
              </a:custGeom>
              <a:solidFill>
                <a:srgbClr val="E4BE87"/>
              </a:solidFill>
            </p:spPr>
          </p:sp>
        </p:grpSp>
        <p:grpSp>
          <p:nvGrpSpPr>
            <p:cNvPr name="Group 30" id="30"/>
            <p:cNvGrpSpPr/>
            <p:nvPr/>
          </p:nvGrpSpPr>
          <p:grpSpPr>
            <a:xfrm rot="0">
              <a:off x="14086283" y="3882250"/>
              <a:ext cx="283210" cy="544830"/>
              <a:chOff x="0" y="0"/>
              <a:chExt cx="283210" cy="544830"/>
            </a:xfrm>
          </p:grpSpPr>
          <p:sp>
            <p:nvSpPr>
              <p:cNvPr name="Freeform 31" id="31"/>
              <p:cNvSpPr/>
              <p:nvPr/>
            </p:nvSpPr>
            <p:spPr>
              <a:xfrm flipH="false" flipV="false" rot="0">
                <a:off x="44450" y="49530"/>
                <a:ext cx="182880" cy="448310"/>
              </a:xfrm>
              <a:custGeom>
                <a:avLst/>
                <a:gdLst/>
                <a:ahLst/>
                <a:cxnLst/>
                <a:rect r="r" b="b" t="t" l="l"/>
                <a:pathLst>
                  <a:path h="448310" w="182880">
                    <a:moveTo>
                      <a:pt x="182880" y="78740"/>
                    </a:moveTo>
                    <a:cubicBezTo>
                      <a:pt x="181610" y="326390"/>
                      <a:pt x="172720" y="388620"/>
                      <a:pt x="153670" y="415290"/>
                    </a:cubicBezTo>
                    <a:cubicBezTo>
                      <a:pt x="140970" y="431800"/>
                      <a:pt x="124460" y="439420"/>
                      <a:pt x="107950" y="443230"/>
                    </a:cubicBezTo>
                    <a:cubicBezTo>
                      <a:pt x="92710" y="448310"/>
                      <a:pt x="71120" y="445770"/>
                      <a:pt x="55880" y="439420"/>
                    </a:cubicBezTo>
                    <a:cubicBezTo>
                      <a:pt x="40640" y="433070"/>
                      <a:pt x="24130" y="419100"/>
                      <a:pt x="16510" y="403860"/>
                    </a:cubicBezTo>
                    <a:cubicBezTo>
                      <a:pt x="8890" y="389890"/>
                      <a:pt x="2540" y="369570"/>
                      <a:pt x="6350" y="351790"/>
                    </a:cubicBezTo>
                    <a:cubicBezTo>
                      <a:pt x="11430" y="331470"/>
                      <a:pt x="31750" y="299720"/>
                      <a:pt x="52070" y="289560"/>
                    </a:cubicBezTo>
                    <a:cubicBezTo>
                      <a:pt x="72390" y="279400"/>
                      <a:pt x="109220" y="280670"/>
                      <a:pt x="129540" y="292100"/>
                    </a:cubicBezTo>
                    <a:cubicBezTo>
                      <a:pt x="149860" y="302260"/>
                      <a:pt x="167640" y="335280"/>
                      <a:pt x="171450" y="356870"/>
                    </a:cubicBezTo>
                    <a:cubicBezTo>
                      <a:pt x="173990" y="374650"/>
                      <a:pt x="167640" y="393700"/>
                      <a:pt x="158750" y="407670"/>
                    </a:cubicBezTo>
                    <a:cubicBezTo>
                      <a:pt x="149860" y="422910"/>
                      <a:pt x="132080" y="435610"/>
                      <a:pt x="116840" y="440690"/>
                    </a:cubicBezTo>
                    <a:cubicBezTo>
                      <a:pt x="101600" y="447040"/>
                      <a:pt x="80010" y="447040"/>
                      <a:pt x="64770" y="441960"/>
                    </a:cubicBezTo>
                    <a:cubicBezTo>
                      <a:pt x="48260" y="438150"/>
                      <a:pt x="30480" y="425450"/>
                      <a:pt x="21590" y="411480"/>
                    </a:cubicBezTo>
                    <a:cubicBezTo>
                      <a:pt x="11430" y="397510"/>
                      <a:pt x="8890" y="386080"/>
                      <a:pt x="6350" y="360680"/>
                    </a:cubicBezTo>
                    <a:cubicBezTo>
                      <a:pt x="0" y="300990"/>
                      <a:pt x="15240" y="90170"/>
                      <a:pt x="35560" y="43180"/>
                    </a:cubicBezTo>
                    <a:cubicBezTo>
                      <a:pt x="43180" y="26670"/>
                      <a:pt x="49530" y="21590"/>
                      <a:pt x="60960" y="15240"/>
                    </a:cubicBezTo>
                    <a:cubicBezTo>
                      <a:pt x="74930" y="6350"/>
                      <a:pt x="97790" y="0"/>
                      <a:pt x="114300" y="1270"/>
                    </a:cubicBezTo>
                    <a:cubicBezTo>
                      <a:pt x="132080" y="3810"/>
                      <a:pt x="152400" y="13970"/>
                      <a:pt x="163830" y="27940"/>
                    </a:cubicBezTo>
                    <a:cubicBezTo>
                      <a:pt x="175260" y="40640"/>
                      <a:pt x="182880" y="78740"/>
                      <a:pt x="182880" y="78740"/>
                    </a:cubicBezTo>
                  </a:path>
                </a:pathLst>
              </a:custGeom>
              <a:solidFill>
                <a:srgbClr val="E4BE87"/>
              </a:solidFill>
              <a:ln cap="sq">
                <a:noFill/>
                <a:prstDash val="solid"/>
                <a:miter/>
              </a:ln>
            </p:spPr>
          </p:sp>
        </p:grpSp>
      </p:grpSp>
      <p:sp>
        <p:nvSpPr>
          <p:cNvPr name="Freeform 32" id="32"/>
          <p:cNvSpPr/>
          <p:nvPr/>
        </p:nvSpPr>
        <p:spPr>
          <a:xfrm flipH="false" flipV="false" rot="0">
            <a:off x="9001196" y="5800921"/>
            <a:ext cx="6011665" cy="3614513"/>
          </a:xfrm>
          <a:custGeom>
            <a:avLst/>
            <a:gdLst/>
            <a:ahLst/>
            <a:cxnLst/>
            <a:rect r="r" b="b" t="t" l="l"/>
            <a:pathLst>
              <a:path h="3614513" w="6011665">
                <a:moveTo>
                  <a:pt x="0" y="0"/>
                </a:moveTo>
                <a:lnTo>
                  <a:pt x="6011665" y="0"/>
                </a:lnTo>
                <a:lnTo>
                  <a:pt x="6011665" y="3614514"/>
                </a:lnTo>
                <a:lnTo>
                  <a:pt x="0" y="3614514"/>
                </a:lnTo>
                <a:lnTo>
                  <a:pt x="0" y="0"/>
                </a:lnTo>
                <a:close/>
              </a:path>
            </a:pathLst>
          </a:custGeom>
          <a:blipFill>
            <a:blip r:embed="rId10"/>
            <a:stretch>
              <a:fillRect l="0" t="0" r="0" b="0"/>
            </a:stretch>
          </a:blipFill>
        </p:spPr>
      </p:sp>
      <p:sp>
        <p:nvSpPr>
          <p:cNvPr name="Freeform 33" id="33"/>
          <p:cNvSpPr/>
          <p:nvPr/>
        </p:nvSpPr>
        <p:spPr>
          <a:xfrm flipH="false" flipV="false" rot="0">
            <a:off x="13610688" y="5143500"/>
            <a:ext cx="4403650" cy="2047697"/>
          </a:xfrm>
          <a:custGeom>
            <a:avLst/>
            <a:gdLst/>
            <a:ahLst/>
            <a:cxnLst/>
            <a:rect r="r" b="b" t="t" l="l"/>
            <a:pathLst>
              <a:path h="2047697" w="4403650">
                <a:moveTo>
                  <a:pt x="0" y="0"/>
                </a:moveTo>
                <a:lnTo>
                  <a:pt x="4403650" y="0"/>
                </a:lnTo>
                <a:lnTo>
                  <a:pt x="4403650" y="2047697"/>
                </a:lnTo>
                <a:lnTo>
                  <a:pt x="0" y="2047697"/>
                </a:lnTo>
                <a:lnTo>
                  <a:pt x="0" y="0"/>
                </a:lnTo>
                <a:close/>
              </a:path>
            </a:pathLst>
          </a:custGeom>
          <a:blipFill>
            <a:blip r:embed="rId11"/>
            <a:stretch>
              <a:fillRect l="0" t="0" r="0" b="0"/>
            </a:stretch>
          </a:blipFill>
        </p:spPr>
      </p:sp>
      <p:sp>
        <p:nvSpPr>
          <p:cNvPr name="Freeform 34" id="34"/>
          <p:cNvSpPr/>
          <p:nvPr/>
        </p:nvSpPr>
        <p:spPr>
          <a:xfrm flipH="false" flipV="false" rot="0">
            <a:off x="5210651" y="1750346"/>
            <a:ext cx="2162740" cy="2809429"/>
          </a:xfrm>
          <a:custGeom>
            <a:avLst/>
            <a:gdLst/>
            <a:ahLst/>
            <a:cxnLst/>
            <a:rect r="r" b="b" t="t" l="l"/>
            <a:pathLst>
              <a:path h="2809429" w="2162740">
                <a:moveTo>
                  <a:pt x="0" y="0"/>
                </a:moveTo>
                <a:lnTo>
                  <a:pt x="2162741" y="0"/>
                </a:lnTo>
                <a:lnTo>
                  <a:pt x="2162741" y="2809428"/>
                </a:lnTo>
                <a:lnTo>
                  <a:pt x="0" y="2809428"/>
                </a:lnTo>
                <a:lnTo>
                  <a:pt x="0" y="0"/>
                </a:lnTo>
                <a:close/>
              </a:path>
            </a:pathLst>
          </a:custGeom>
          <a:blipFill>
            <a:blip r:embed="rId12"/>
            <a:stretch>
              <a:fillRect l="-17093" t="0" r="-17093" b="0"/>
            </a:stretch>
          </a:blipFill>
          <a:ln w="114300" cap="sq">
            <a:solidFill>
              <a:srgbClr val="BD9C6C"/>
            </a:solidFill>
            <a:prstDash val="solid"/>
            <a:miter/>
          </a:ln>
        </p:spPr>
      </p:sp>
      <p:sp>
        <p:nvSpPr>
          <p:cNvPr name="TextBox 35" id="35"/>
          <p:cNvSpPr txBox="true"/>
          <p:nvPr/>
        </p:nvSpPr>
        <p:spPr>
          <a:xfrm rot="0">
            <a:off x="775647" y="535676"/>
            <a:ext cx="5663034" cy="798663"/>
          </a:xfrm>
          <a:prstGeom prst="rect">
            <a:avLst/>
          </a:prstGeom>
        </p:spPr>
        <p:txBody>
          <a:bodyPr anchor="t" rtlCol="false" tIns="0" lIns="0" bIns="0" rIns="0">
            <a:spAutoFit/>
          </a:bodyPr>
          <a:lstStyle/>
          <a:p>
            <a:pPr algn="just" marL="0" indent="0" lvl="0">
              <a:lnSpc>
                <a:spcPts val="5851"/>
              </a:lnSpc>
              <a:spcBef>
                <a:spcPct val="0"/>
              </a:spcBef>
            </a:pPr>
            <a:r>
              <a:rPr lang="en-US" b="true" sz="4179" strike="noStrike" u="none">
                <a:solidFill>
                  <a:srgbClr val="4B331F"/>
                </a:solidFill>
                <a:latin typeface="Arial Bold"/>
                <a:ea typeface="Arial Bold"/>
                <a:cs typeface="Arial Bold"/>
                <a:sym typeface="Arial Bold"/>
              </a:rPr>
              <a:t>Software Architecture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17017" y="7846303"/>
            <a:ext cx="3834034" cy="3289372"/>
            <a:chOff x="0" y="0"/>
            <a:chExt cx="406400" cy="348667"/>
          </a:xfrm>
        </p:grpSpPr>
        <p:sp>
          <p:nvSpPr>
            <p:cNvPr name="Freeform 3" id="3"/>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4" id="4"/>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917017" y="9198322"/>
            <a:ext cx="5830440" cy="3289372"/>
            <a:chOff x="0" y="0"/>
            <a:chExt cx="618015" cy="348667"/>
          </a:xfrm>
        </p:grpSpPr>
        <p:sp>
          <p:nvSpPr>
            <p:cNvPr name="Freeform 6" id="6"/>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7" id="7"/>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711109">
            <a:off x="16271905" y="-947085"/>
            <a:ext cx="3834034" cy="3289372"/>
            <a:chOff x="0" y="0"/>
            <a:chExt cx="406400" cy="348667"/>
          </a:xfrm>
        </p:grpSpPr>
        <p:sp>
          <p:nvSpPr>
            <p:cNvPr name="Freeform 9" id="9"/>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0" id="10"/>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10711109">
            <a:off x="14240877" y="-2272845"/>
            <a:ext cx="5830440" cy="3289372"/>
            <a:chOff x="0" y="0"/>
            <a:chExt cx="618015" cy="348667"/>
          </a:xfrm>
        </p:grpSpPr>
        <p:sp>
          <p:nvSpPr>
            <p:cNvPr name="Freeform 12" id="12"/>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3" id="13"/>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917017" y="247219"/>
            <a:ext cx="14628214" cy="9910615"/>
          </a:xfrm>
          <a:custGeom>
            <a:avLst/>
            <a:gdLst/>
            <a:ahLst/>
            <a:cxnLst/>
            <a:rect r="r" b="b" t="t" l="l"/>
            <a:pathLst>
              <a:path h="9910615" w="14628214">
                <a:moveTo>
                  <a:pt x="0" y="0"/>
                </a:moveTo>
                <a:lnTo>
                  <a:pt x="14628214" y="0"/>
                </a:lnTo>
                <a:lnTo>
                  <a:pt x="14628214" y="9910615"/>
                </a:lnTo>
                <a:lnTo>
                  <a:pt x="0" y="9910615"/>
                </a:lnTo>
                <a:lnTo>
                  <a:pt x="0" y="0"/>
                </a:lnTo>
                <a:close/>
              </a:path>
            </a:pathLst>
          </a:custGeom>
          <a:blipFill>
            <a:blip r:embed="rId2"/>
            <a:stretch>
              <a:fillRect l="0" t="0" r="0" b="0"/>
            </a:stretch>
          </a:blipFill>
        </p:spPr>
      </p:sp>
      <p:sp>
        <p:nvSpPr>
          <p:cNvPr name="TextBox 15" id="15"/>
          <p:cNvSpPr txBox="true"/>
          <p:nvPr/>
        </p:nvSpPr>
        <p:spPr>
          <a:xfrm rot="0">
            <a:off x="-2343853" y="463296"/>
            <a:ext cx="7848872" cy="940358"/>
          </a:xfrm>
          <a:prstGeom prst="rect">
            <a:avLst/>
          </a:prstGeom>
        </p:spPr>
        <p:txBody>
          <a:bodyPr anchor="t" rtlCol="false" tIns="0" lIns="0" bIns="0" rIns="0">
            <a:spAutoFit/>
          </a:bodyPr>
          <a:lstStyle/>
          <a:p>
            <a:pPr algn="ctr">
              <a:lnSpc>
                <a:spcPts val="6972"/>
              </a:lnSpc>
              <a:spcBef>
                <a:spcPct val="0"/>
              </a:spcBef>
            </a:pPr>
            <a:r>
              <a:rPr lang="en-US" b="true" sz="4980" u="sng">
                <a:solidFill>
                  <a:srgbClr val="855832"/>
                </a:solidFill>
                <a:latin typeface="Arial Bold"/>
                <a:ea typeface="Arial Bold"/>
                <a:cs typeface="Arial Bold"/>
                <a:sym typeface="Arial Bold"/>
              </a:rPr>
              <a:t>WBS </a:t>
            </a:r>
          </a:p>
        </p:txBody>
      </p:sp>
    </p:spTree>
  </p:cSld>
  <p:clrMapOvr>
    <a:masterClrMapping/>
  </p:clrMapOvr>
  <p:transition spd="fast">
    <p:cover dir="d"/>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74243" y="-224080"/>
            <a:ext cx="13573358" cy="10298247"/>
          </a:xfrm>
          <a:custGeom>
            <a:avLst/>
            <a:gdLst/>
            <a:ahLst/>
            <a:cxnLst/>
            <a:rect r="r" b="b" t="t" l="l"/>
            <a:pathLst>
              <a:path h="10298247" w="13573358">
                <a:moveTo>
                  <a:pt x="0" y="0"/>
                </a:moveTo>
                <a:lnTo>
                  <a:pt x="13573359" y="0"/>
                </a:lnTo>
                <a:lnTo>
                  <a:pt x="13573359" y="10298247"/>
                </a:lnTo>
                <a:lnTo>
                  <a:pt x="0" y="10298247"/>
                </a:lnTo>
                <a:lnTo>
                  <a:pt x="0" y="0"/>
                </a:lnTo>
                <a:close/>
              </a:path>
            </a:pathLst>
          </a:custGeom>
          <a:blipFill>
            <a:blip r:embed="rId2"/>
            <a:stretch>
              <a:fillRect l="-1015" t="-3438" r="0" b="-3438"/>
            </a:stretch>
          </a:blipFill>
        </p:spPr>
      </p:sp>
      <p:sp>
        <p:nvSpPr>
          <p:cNvPr name="TextBox 3" id="3"/>
          <p:cNvSpPr txBox="true"/>
          <p:nvPr/>
        </p:nvSpPr>
        <p:spPr>
          <a:xfrm rot="0">
            <a:off x="-3165245" y="363791"/>
            <a:ext cx="11140338" cy="1101267"/>
          </a:xfrm>
          <a:prstGeom prst="rect">
            <a:avLst/>
          </a:prstGeom>
        </p:spPr>
        <p:txBody>
          <a:bodyPr anchor="t" rtlCol="false" tIns="0" lIns="0" bIns="0" rIns="0">
            <a:spAutoFit/>
          </a:bodyPr>
          <a:lstStyle/>
          <a:p>
            <a:pPr algn="ctr" marL="0" indent="0" lvl="0">
              <a:lnSpc>
                <a:spcPts val="8077"/>
              </a:lnSpc>
              <a:spcBef>
                <a:spcPct val="0"/>
              </a:spcBef>
            </a:pPr>
            <a:r>
              <a:rPr lang="en-US" b="true" sz="5769" u="sng">
                <a:solidFill>
                  <a:srgbClr val="855832"/>
                </a:solidFill>
                <a:latin typeface="Arial Bold"/>
                <a:ea typeface="Arial Bold"/>
                <a:cs typeface="Arial Bold"/>
                <a:sym typeface="Arial Bold"/>
              </a:rPr>
              <a:t>Gantt Chart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6313" y="1506488"/>
            <a:ext cx="15431169" cy="8147226"/>
          </a:xfrm>
          <a:custGeom>
            <a:avLst/>
            <a:gdLst/>
            <a:ahLst/>
            <a:cxnLst/>
            <a:rect r="r" b="b" t="t" l="l"/>
            <a:pathLst>
              <a:path h="8147226" w="15431169">
                <a:moveTo>
                  <a:pt x="0" y="0"/>
                </a:moveTo>
                <a:lnTo>
                  <a:pt x="15431169" y="0"/>
                </a:lnTo>
                <a:lnTo>
                  <a:pt x="15431169" y="8147226"/>
                </a:lnTo>
                <a:lnTo>
                  <a:pt x="0" y="8147226"/>
                </a:lnTo>
                <a:lnTo>
                  <a:pt x="0" y="0"/>
                </a:lnTo>
                <a:close/>
              </a:path>
            </a:pathLst>
          </a:custGeom>
          <a:blipFill>
            <a:blip r:embed="rId2"/>
            <a:stretch>
              <a:fillRect l="0" t="0" r="0" b="0"/>
            </a:stretch>
          </a:blipFill>
        </p:spPr>
      </p:sp>
      <p:sp>
        <p:nvSpPr>
          <p:cNvPr name="TextBox 3" id="3"/>
          <p:cNvSpPr txBox="true"/>
          <p:nvPr/>
        </p:nvSpPr>
        <p:spPr>
          <a:xfrm rot="0">
            <a:off x="-707241" y="150121"/>
            <a:ext cx="11140338" cy="1101184"/>
          </a:xfrm>
          <a:prstGeom prst="rect">
            <a:avLst/>
          </a:prstGeom>
        </p:spPr>
        <p:txBody>
          <a:bodyPr anchor="t" rtlCol="false" tIns="0" lIns="0" bIns="0" rIns="0">
            <a:spAutoFit/>
          </a:bodyPr>
          <a:lstStyle/>
          <a:p>
            <a:pPr algn="ctr" marL="0" indent="0" lvl="0">
              <a:lnSpc>
                <a:spcPts val="8077"/>
              </a:lnSpc>
              <a:spcBef>
                <a:spcPct val="0"/>
              </a:spcBef>
            </a:pPr>
            <a:r>
              <a:rPr lang="en-US" b="true" sz="5769" u="sng">
                <a:solidFill>
                  <a:srgbClr val="855832"/>
                </a:solidFill>
                <a:latin typeface="Arial Bold"/>
                <a:ea typeface="Arial Bold"/>
                <a:cs typeface="Arial Bold"/>
                <a:sym typeface="Arial Bold"/>
              </a:rPr>
              <a:t>Management using Trello</a:t>
            </a:r>
          </a:p>
        </p:txBody>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711109">
            <a:off x="16370983" y="-791830"/>
            <a:ext cx="3834034" cy="3289372"/>
            <a:chOff x="0" y="0"/>
            <a:chExt cx="406400" cy="348667"/>
          </a:xfrm>
        </p:grpSpPr>
        <p:sp>
          <p:nvSpPr>
            <p:cNvPr name="Freeform 3" id="3"/>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4" id="4"/>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10711109">
            <a:off x="13912901" y="-2673262"/>
            <a:ext cx="5830440" cy="3289372"/>
            <a:chOff x="0" y="0"/>
            <a:chExt cx="618015" cy="348667"/>
          </a:xfrm>
        </p:grpSpPr>
        <p:sp>
          <p:nvSpPr>
            <p:cNvPr name="Freeform 6" id="6"/>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7" id="7"/>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917017" y="9198322"/>
            <a:ext cx="5830440" cy="3289372"/>
            <a:chOff x="0" y="0"/>
            <a:chExt cx="618015" cy="348667"/>
          </a:xfrm>
        </p:grpSpPr>
        <p:sp>
          <p:nvSpPr>
            <p:cNvPr name="Freeform 9" id="9"/>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0" id="10"/>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917017" y="7846303"/>
            <a:ext cx="3834034" cy="3289372"/>
            <a:chOff x="0" y="0"/>
            <a:chExt cx="406400" cy="348667"/>
          </a:xfrm>
        </p:grpSpPr>
        <p:sp>
          <p:nvSpPr>
            <p:cNvPr name="Freeform 12" id="12"/>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3" id="13"/>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841739" y="2352230"/>
            <a:ext cx="6637258" cy="5326400"/>
          </a:xfrm>
          <a:custGeom>
            <a:avLst/>
            <a:gdLst/>
            <a:ahLst/>
            <a:cxnLst/>
            <a:rect r="r" b="b" t="t" l="l"/>
            <a:pathLst>
              <a:path h="5326400" w="6637258">
                <a:moveTo>
                  <a:pt x="0" y="0"/>
                </a:moveTo>
                <a:lnTo>
                  <a:pt x="6637258" y="0"/>
                </a:lnTo>
                <a:lnTo>
                  <a:pt x="6637258" y="5326400"/>
                </a:lnTo>
                <a:lnTo>
                  <a:pt x="0" y="5326400"/>
                </a:lnTo>
                <a:lnTo>
                  <a:pt x="0" y="0"/>
                </a:lnTo>
                <a:close/>
              </a:path>
            </a:pathLst>
          </a:custGeom>
          <a:blipFill>
            <a:blip r:embed="rId2"/>
            <a:stretch>
              <a:fillRect l="0" t="0" r="0" b="0"/>
            </a:stretch>
          </a:blipFill>
        </p:spPr>
      </p:sp>
      <p:sp>
        <p:nvSpPr>
          <p:cNvPr name="Freeform 15" id="15"/>
          <p:cNvSpPr/>
          <p:nvPr/>
        </p:nvSpPr>
        <p:spPr>
          <a:xfrm flipH="false" flipV="false" rot="0">
            <a:off x="9290560" y="4820891"/>
            <a:ext cx="2165128" cy="4670098"/>
          </a:xfrm>
          <a:custGeom>
            <a:avLst/>
            <a:gdLst/>
            <a:ahLst/>
            <a:cxnLst/>
            <a:rect r="r" b="b" t="t" l="l"/>
            <a:pathLst>
              <a:path h="4670098" w="2165128">
                <a:moveTo>
                  <a:pt x="0" y="0"/>
                </a:moveTo>
                <a:lnTo>
                  <a:pt x="2165128" y="0"/>
                </a:lnTo>
                <a:lnTo>
                  <a:pt x="2165128" y="4670098"/>
                </a:lnTo>
                <a:lnTo>
                  <a:pt x="0" y="4670098"/>
                </a:lnTo>
                <a:lnTo>
                  <a:pt x="0" y="0"/>
                </a:lnTo>
                <a:close/>
              </a:path>
            </a:pathLst>
          </a:custGeom>
          <a:blipFill>
            <a:blip r:embed="rId3"/>
            <a:stretch>
              <a:fillRect l="0" t="0" r="0" b="0"/>
            </a:stretch>
          </a:blipFill>
        </p:spPr>
      </p:sp>
      <p:sp>
        <p:nvSpPr>
          <p:cNvPr name="Freeform 16" id="16"/>
          <p:cNvSpPr/>
          <p:nvPr/>
        </p:nvSpPr>
        <p:spPr>
          <a:xfrm flipH="false" flipV="false" rot="0">
            <a:off x="13871354" y="4816714"/>
            <a:ext cx="2133669" cy="4674275"/>
          </a:xfrm>
          <a:custGeom>
            <a:avLst/>
            <a:gdLst/>
            <a:ahLst/>
            <a:cxnLst/>
            <a:rect r="r" b="b" t="t" l="l"/>
            <a:pathLst>
              <a:path h="4674275" w="2133669">
                <a:moveTo>
                  <a:pt x="0" y="0"/>
                </a:moveTo>
                <a:lnTo>
                  <a:pt x="2133669" y="0"/>
                </a:lnTo>
                <a:lnTo>
                  <a:pt x="2133669" y="4674275"/>
                </a:lnTo>
                <a:lnTo>
                  <a:pt x="0" y="4674275"/>
                </a:lnTo>
                <a:lnTo>
                  <a:pt x="0" y="0"/>
                </a:lnTo>
                <a:close/>
              </a:path>
            </a:pathLst>
          </a:custGeom>
          <a:blipFill>
            <a:blip r:embed="rId4"/>
            <a:stretch>
              <a:fillRect l="0" t="0" r="0" b="0"/>
            </a:stretch>
          </a:blipFill>
        </p:spPr>
      </p:sp>
      <p:sp>
        <p:nvSpPr>
          <p:cNvPr name="Freeform 17" id="17"/>
          <p:cNvSpPr/>
          <p:nvPr/>
        </p:nvSpPr>
        <p:spPr>
          <a:xfrm flipH="false" flipV="false" rot="0">
            <a:off x="11455688" y="4816714"/>
            <a:ext cx="2126875" cy="4649825"/>
          </a:xfrm>
          <a:custGeom>
            <a:avLst/>
            <a:gdLst/>
            <a:ahLst/>
            <a:cxnLst/>
            <a:rect r="r" b="b" t="t" l="l"/>
            <a:pathLst>
              <a:path h="4649825" w="2126875">
                <a:moveTo>
                  <a:pt x="0" y="0"/>
                </a:moveTo>
                <a:lnTo>
                  <a:pt x="2126874" y="0"/>
                </a:lnTo>
                <a:lnTo>
                  <a:pt x="2126874" y="4649826"/>
                </a:lnTo>
                <a:lnTo>
                  <a:pt x="0" y="4649826"/>
                </a:lnTo>
                <a:lnTo>
                  <a:pt x="0" y="0"/>
                </a:lnTo>
                <a:close/>
              </a:path>
            </a:pathLst>
          </a:custGeom>
          <a:blipFill>
            <a:blip r:embed="rId5"/>
            <a:stretch>
              <a:fillRect l="0" t="0" r="0" b="0"/>
            </a:stretch>
          </a:blipFill>
        </p:spPr>
      </p:sp>
      <p:sp>
        <p:nvSpPr>
          <p:cNvPr name="TextBox 18" id="18"/>
          <p:cNvSpPr txBox="true"/>
          <p:nvPr/>
        </p:nvSpPr>
        <p:spPr>
          <a:xfrm rot="0">
            <a:off x="9872564" y="1946410"/>
            <a:ext cx="4216701" cy="1688820"/>
          </a:xfrm>
          <a:prstGeom prst="rect">
            <a:avLst/>
          </a:prstGeom>
        </p:spPr>
        <p:txBody>
          <a:bodyPr anchor="t" rtlCol="false" tIns="0" lIns="0" bIns="0" rIns="0">
            <a:spAutoFit/>
          </a:bodyPr>
          <a:lstStyle/>
          <a:p>
            <a:pPr algn="ctr">
              <a:lnSpc>
                <a:spcPts val="3378"/>
              </a:lnSpc>
              <a:spcBef>
                <a:spcPct val="0"/>
              </a:spcBef>
            </a:pPr>
            <a:r>
              <a:rPr lang="en-US" b="true" sz="2413">
                <a:solidFill>
                  <a:srgbClr val="000000"/>
                </a:solidFill>
                <a:latin typeface="Open Sans Bold"/>
                <a:ea typeface="Open Sans Bold"/>
                <a:cs typeface="Open Sans Bold"/>
                <a:sym typeface="Open Sans Bold"/>
              </a:rPr>
              <a:t>AI reading of digital handwritten digit recognition with around 80% accuracy </a:t>
            </a:r>
          </a:p>
        </p:txBody>
      </p:sp>
      <p:sp>
        <p:nvSpPr>
          <p:cNvPr name="TextBox 19" id="19"/>
          <p:cNvSpPr txBox="true"/>
          <p:nvPr/>
        </p:nvSpPr>
        <p:spPr>
          <a:xfrm rot="0">
            <a:off x="325106" y="462331"/>
            <a:ext cx="11140338" cy="1101267"/>
          </a:xfrm>
          <a:prstGeom prst="rect">
            <a:avLst/>
          </a:prstGeom>
        </p:spPr>
        <p:txBody>
          <a:bodyPr anchor="t" rtlCol="false" tIns="0" lIns="0" bIns="0" rIns="0">
            <a:spAutoFit/>
          </a:bodyPr>
          <a:lstStyle/>
          <a:p>
            <a:pPr algn="ctr" marL="0" indent="0" lvl="0">
              <a:lnSpc>
                <a:spcPts val="8077"/>
              </a:lnSpc>
              <a:spcBef>
                <a:spcPct val="0"/>
              </a:spcBef>
            </a:pPr>
            <a:r>
              <a:rPr lang="en-US" b="true" sz="5769" u="sng">
                <a:solidFill>
                  <a:srgbClr val="855832"/>
                </a:solidFill>
                <a:latin typeface="Arial Bold"/>
                <a:ea typeface="Arial Bold"/>
                <a:cs typeface="Arial Bold"/>
                <a:sym typeface="Arial Bold"/>
              </a:rPr>
              <a:t>Implemented/ in work modules</a:t>
            </a:r>
          </a:p>
        </p:txBody>
      </p:sp>
      <p:sp>
        <p:nvSpPr>
          <p:cNvPr name="TextBox 20" id="20"/>
          <p:cNvSpPr txBox="true"/>
          <p:nvPr/>
        </p:nvSpPr>
        <p:spPr>
          <a:xfrm rot="0">
            <a:off x="15400920" y="6019986"/>
            <a:ext cx="3520443" cy="711117"/>
          </a:xfrm>
          <a:prstGeom prst="rect">
            <a:avLst/>
          </a:prstGeom>
        </p:spPr>
        <p:txBody>
          <a:bodyPr anchor="t" rtlCol="false" tIns="0" lIns="0" bIns="0" rIns="0">
            <a:spAutoFit/>
          </a:bodyPr>
          <a:lstStyle/>
          <a:p>
            <a:pPr algn="ctr">
              <a:lnSpc>
                <a:spcPts val="2820"/>
              </a:lnSpc>
            </a:pPr>
            <a:r>
              <a:rPr lang="en-US" sz="2014" b="true">
                <a:solidFill>
                  <a:srgbClr val="000000"/>
                </a:solidFill>
                <a:latin typeface="Open Sans Bold"/>
                <a:ea typeface="Open Sans Bold"/>
                <a:cs typeface="Open Sans Bold"/>
                <a:sym typeface="Open Sans Bold"/>
              </a:rPr>
              <a:t>Web Application </a:t>
            </a:r>
          </a:p>
          <a:p>
            <a:pPr algn="ctr">
              <a:lnSpc>
                <a:spcPts val="2820"/>
              </a:lnSpc>
              <a:spcBef>
                <a:spcPct val="0"/>
              </a:spcBef>
            </a:pPr>
            <a:r>
              <a:rPr lang="en-US" b="true" sz="2014">
                <a:solidFill>
                  <a:srgbClr val="000000"/>
                </a:solidFill>
                <a:latin typeface="Open Sans Bold"/>
                <a:ea typeface="Open Sans Bold"/>
                <a:cs typeface="Open Sans Bold"/>
                <a:sym typeface="Open Sans Bold"/>
              </a:rPr>
              <a:t>Progress</a:t>
            </a:r>
          </a:p>
        </p:txBody>
      </p:sp>
      <p:sp>
        <p:nvSpPr>
          <p:cNvPr name="TextBox 21" id="21"/>
          <p:cNvSpPr txBox="true"/>
          <p:nvPr/>
        </p:nvSpPr>
        <p:spPr>
          <a:xfrm rot="0">
            <a:off x="14938188" y="9595447"/>
            <a:ext cx="1067276" cy="323215"/>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Open Sans Bold"/>
                <a:ea typeface="Open Sans Bold"/>
                <a:cs typeface="Open Sans Bold"/>
                <a:sym typeface="Open Sans Bold"/>
              </a:rPr>
              <a:t>as a user</a:t>
            </a:r>
          </a:p>
        </p:txBody>
      </p:sp>
      <p:sp>
        <p:nvSpPr>
          <p:cNvPr name="TextBox 22" id="22"/>
          <p:cNvSpPr txBox="true"/>
          <p:nvPr/>
        </p:nvSpPr>
        <p:spPr>
          <a:xfrm rot="0">
            <a:off x="10802981" y="9595447"/>
            <a:ext cx="1324928" cy="323215"/>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Open Sans Bold"/>
                <a:ea typeface="Open Sans Bold"/>
                <a:cs typeface="Open Sans Bold"/>
                <a:sym typeface="Open Sans Bold"/>
              </a:rPr>
              <a:t>As a admin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711109">
            <a:off x="16370983" y="-791830"/>
            <a:ext cx="3834034" cy="3289372"/>
            <a:chOff x="0" y="0"/>
            <a:chExt cx="406400" cy="348667"/>
          </a:xfrm>
        </p:grpSpPr>
        <p:sp>
          <p:nvSpPr>
            <p:cNvPr name="Freeform 3" id="3"/>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4" id="4"/>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10711109">
            <a:off x="13912901" y="-2673262"/>
            <a:ext cx="5830440" cy="3289372"/>
            <a:chOff x="0" y="0"/>
            <a:chExt cx="618015" cy="348667"/>
          </a:xfrm>
        </p:grpSpPr>
        <p:sp>
          <p:nvSpPr>
            <p:cNvPr name="Freeform 6" id="6"/>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7" id="7"/>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917017" y="9198322"/>
            <a:ext cx="5830440" cy="3289372"/>
            <a:chOff x="0" y="0"/>
            <a:chExt cx="618015" cy="348667"/>
          </a:xfrm>
        </p:grpSpPr>
        <p:sp>
          <p:nvSpPr>
            <p:cNvPr name="Freeform 9" id="9"/>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10" id="10"/>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917017" y="7846303"/>
            <a:ext cx="3834034" cy="3289372"/>
            <a:chOff x="0" y="0"/>
            <a:chExt cx="406400" cy="348667"/>
          </a:xfrm>
        </p:grpSpPr>
        <p:sp>
          <p:nvSpPr>
            <p:cNvPr name="Freeform 12" id="12"/>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13" id="13"/>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2612957" y="1913477"/>
            <a:ext cx="10110482" cy="7284845"/>
          </a:xfrm>
          <a:custGeom>
            <a:avLst/>
            <a:gdLst/>
            <a:ahLst/>
            <a:cxnLst/>
            <a:rect r="r" b="b" t="t" l="l"/>
            <a:pathLst>
              <a:path h="7284845" w="10110482">
                <a:moveTo>
                  <a:pt x="0" y="0"/>
                </a:moveTo>
                <a:lnTo>
                  <a:pt x="10110482" y="0"/>
                </a:lnTo>
                <a:lnTo>
                  <a:pt x="10110482" y="7284845"/>
                </a:lnTo>
                <a:lnTo>
                  <a:pt x="0" y="7284845"/>
                </a:lnTo>
                <a:lnTo>
                  <a:pt x="0" y="0"/>
                </a:lnTo>
                <a:close/>
              </a:path>
            </a:pathLst>
          </a:custGeom>
          <a:blipFill>
            <a:blip r:embed="rId2"/>
            <a:stretch>
              <a:fillRect l="0" t="-2045" r="0" b="-2045"/>
            </a:stretch>
          </a:blipFill>
        </p:spPr>
      </p:sp>
      <p:sp>
        <p:nvSpPr>
          <p:cNvPr name="TextBox 15" id="15"/>
          <p:cNvSpPr txBox="true"/>
          <p:nvPr/>
        </p:nvSpPr>
        <p:spPr>
          <a:xfrm rot="0">
            <a:off x="325106" y="462331"/>
            <a:ext cx="11140338" cy="1101267"/>
          </a:xfrm>
          <a:prstGeom prst="rect">
            <a:avLst/>
          </a:prstGeom>
        </p:spPr>
        <p:txBody>
          <a:bodyPr anchor="t" rtlCol="false" tIns="0" lIns="0" bIns="0" rIns="0">
            <a:spAutoFit/>
          </a:bodyPr>
          <a:lstStyle/>
          <a:p>
            <a:pPr algn="ctr" marL="0" indent="0" lvl="0">
              <a:lnSpc>
                <a:spcPts val="8077"/>
              </a:lnSpc>
              <a:spcBef>
                <a:spcPct val="0"/>
              </a:spcBef>
            </a:pPr>
            <a:r>
              <a:rPr lang="en-US" b="true" sz="5769" u="sng">
                <a:solidFill>
                  <a:srgbClr val="855832"/>
                </a:solidFill>
                <a:latin typeface="Arial Bold"/>
                <a:ea typeface="Arial Bold"/>
                <a:cs typeface="Arial Bold"/>
                <a:sym typeface="Arial Bold"/>
              </a:rPr>
              <a:t>Implemented/ in work modules</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24719" y="2926154"/>
            <a:ext cx="5388767" cy="2840977"/>
            <a:chOff x="0" y="0"/>
            <a:chExt cx="4992813" cy="2632229"/>
          </a:xfrm>
        </p:grpSpPr>
        <p:sp>
          <p:nvSpPr>
            <p:cNvPr name="Freeform 3" id="3"/>
            <p:cNvSpPr/>
            <p:nvPr/>
          </p:nvSpPr>
          <p:spPr>
            <a:xfrm flipH="false" flipV="false" rot="0">
              <a:off x="0" y="0"/>
              <a:ext cx="4992813" cy="2632229"/>
            </a:xfrm>
            <a:custGeom>
              <a:avLst/>
              <a:gdLst/>
              <a:ahLst/>
              <a:cxnLst/>
              <a:rect r="r" b="b" t="t" l="l"/>
              <a:pathLst>
                <a:path h="2632229" w="4992813">
                  <a:moveTo>
                    <a:pt x="0" y="0"/>
                  </a:moveTo>
                  <a:lnTo>
                    <a:pt x="4992813" y="0"/>
                  </a:lnTo>
                  <a:lnTo>
                    <a:pt x="4992813" y="2632229"/>
                  </a:lnTo>
                  <a:lnTo>
                    <a:pt x="0" y="2632229"/>
                  </a:lnTo>
                  <a:close/>
                </a:path>
              </a:pathLst>
            </a:custGeom>
            <a:solidFill>
              <a:srgbClr val="EDECED"/>
            </a:solidFill>
            <a:ln w="38100" cap="sq">
              <a:solidFill>
                <a:srgbClr val="855832"/>
              </a:solidFill>
              <a:prstDash val="solid"/>
              <a:miter/>
            </a:ln>
          </p:spPr>
        </p:sp>
        <p:sp>
          <p:nvSpPr>
            <p:cNvPr name="TextBox 4" id="4"/>
            <p:cNvSpPr txBox="true"/>
            <p:nvPr/>
          </p:nvSpPr>
          <p:spPr>
            <a:xfrm>
              <a:off x="0" y="-38100"/>
              <a:ext cx="4992813" cy="2670329"/>
            </a:xfrm>
            <a:prstGeom prst="rect">
              <a:avLst/>
            </a:prstGeom>
          </p:spPr>
          <p:txBody>
            <a:bodyPr anchor="t" rtlCol="false" tIns="19760" lIns="19760" bIns="19760" rIns="19760"/>
            <a:lstStyle/>
            <a:p>
              <a:pPr algn="l">
                <a:lnSpc>
                  <a:spcPts val="1470"/>
                </a:lnSpc>
              </a:pPr>
            </a:p>
          </p:txBody>
        </p:sp>
      </p:grpSp>
      <p:grpSp>
        <p:nvGrpSpPr>
          <p:cNvPr name="Group 5" id="5"/>
          <p:cNvGrpSpPr/>
          <p:nvPr/>
        </p:nvGrpSpPr>
        <p:grpSpPr>
          <a:xfrm rot="0">
            <a:off x="524719" y="6488137"/>
            <a:ext cx="5388767" cy="2982831"/>
            <a:chOff x="0" y="0"/>
            <a:chExt cx="4992813" cy="2763660"/>
          </a:xfrm>
        </p:grpSpPr>
        <p:sp>
          <p:nvSpPr>
            <p:cNvPr name="Freeform 6" id="6"/>
            <p:cNvSpPr/>
            <p:nvPr/>
          </p:nvSpPr>
          <p:spPr>
            <a:xfrm flipH="false" flipV="false" rot="0">
              <a:off x="0" y="0"/>
              <a:ext cx="4992813" cy="2763660"/>
            </a:xfrm>
            <a:custGeom>
              <a:avLst/>
              <a:gdLst/>
              <a:ahLst/>
              <a:cxnLst/>
              <a:rect r="r" b="b" t="t" l="l"/>
              <a:pathLst>
                <a:path h="2763660" w="4992813">
                  <a:moveTo>
                    <a:pt x="0" y="0"/>
                  </a:moveTo>
                  <a:lnTo>
                    <a:pt x="4992813" y="0"/>
                  </a:lnTo>
                  <a:lnTo>
                    <a:pt x="4992813" y="2763660"/>
                  </a:lnTo>
                  <a:lnTo>
                    <a:pt x="0" y="2763660"/>
                  </a:lnTo>
                  <a:close/>
                </a:path>
              </a:pathLst>
            </a:custGeom>
            <a:solidFill>
              <a:srgbClr val="FFDFA0"/>
            </a:solidFill>
            <a:ln w="38100" cap="sq">
              <a:solidFill>
                <a:srgbClr val="855832"/>
              </a:solidFill>
              <a:prstDash val="solid"/>
              <a:miter/>
            </a:ln>
          </p:spPr>
        </p:sp>
        <p:sp>
          <p:nvSpPr>
            <p:cNvPr name="TextBox 7" id="7"/>
            <p:cNvSpPr txBox="true"/>
            <p:nvPr/>
          </p:nvSpPr>
          <p:spPr>
            <a:xfrm>
              <a:off x="0" y="-38100"/>
              <a:ext cx="4992813" cy="2801760"/>
            </a:xfrm>
            <a:prstGeom prst="rect">
              <a:avLst/>
            </a:prstGeom>
          </p:spPr>
          <p:txBody>
            <a:bodyPr anchor="t" rtlCol="false" tIns="19760" lIns="19760" bIns="19760" rIns="19760"/>
            <a:lstStyle/>
            <a:p>
              <a:pPr algn="l">
                <a:lnSpc>
                  <a:spcPts val="1470"/>
                </a:lnSpc>
              </a:pPr>
            </a:p>
            <a:p>
              <a:pPr algn="l">
                <a:lnSpc>
                  <a:spcPts val="1470"/>
                </a:lnSpc>
              </a:pPr>
              <a:r>
                <a:rPr lang="en-US" sz="1050">
                  <a:solidFill>
                    <a:srgbClr val="373737"/>
                  </a:solidFill>
                  <a:latin typeface="Heading Now 71-78"/>
                  <a:ea typeface="Heading Now 71-78"/>
                  <a:cs typeface="Heading Now 71-78"/>
                  <a:sym typeface="Heading Now 71-78"/>
                </a:rPr>
                <a:t>    </a:t>
              </a:r>
            </a:p>
          </p:txBody>
        </p:sp>
      </p:grpSp>
      <p:grpSp>
        <p:nvGrpSpPr>
          <p:cNvPr name="Group 8" id="8"/>
          <p:cNvGrpSpPr/>
          <p:nvPr/>
        </p:nvGrpSpPr>
        <p:grpSpPr>
          <a:xfrm rot="0">
            <a:off x="6867022" y="2926154"/>
            <a:ext cx="5222246" cy="2840977"/>
            <a:chOff x="0" y="0"/>
            <a:chExt cx="4838527" cy="2632229"/>
          </a:xfrm>
        </p:grpSpPr>
        <p:sp>
          <p:nvSpPr>
            <p:cNvPr name="Freeform 9" id="9"/>
            <p:cNvSpPr/>
            <p:nvPr/>
          </p:nvSpPr>
          <p:spPr>
            <a:xfrm flipH="false" flipV="false" rot="0">
              <a:off x="0" y="0"/>
              <a:ext cx="4838528" cy="2632229"/>
            </a:xfrm>
            <a:custGeom>
              <a:avLst/>
              <a:gdLst/>
              <a:ahLst/>
              <a:cxnLst/>
              <a:rect r="r" b="b" t="t" l="l"/>
              <a:pathLst>
                <a:path h="2632229" w="4838528">
                  <a:moveTo>
                    <a:pt x="0" y="0"/>
                  </a:moveTo>
                  <a:lnTo>
                    <a:pt x="4838528" y="0"/>
                  </a:lnTo>
                  <a:lnTo>
                    <a:pt x="4838528" y="2632229"/>
                  </a:lnTo>
                  <a:lnTo>
                    <a:pt x="0" y="2632229"/>
                  </a:lnTo>
                  <a:close/>
                </a:path>
              </a:pathLst>
            </a:custGeom>
            <a:solidFill>
              <a:srgbClr val="FFDFA0"/>
            </a:solidFill>
            <a:ln w="38100" cap="sq">
              <a:solidFill>
                <a:srgbClr val="855832"/>
              </a:solidFill>
              <a:prstDash val="solid"/>
              <a:miter/>
            </a:ln>
          </p:spPr>
        </p:sp>
        <p:sp>
          <p:nvSpPr>
            <p:cNvPr name="TextBox 10" id="10"/>
            <p:cNvSpPr txBox="true"/>
            <p:nvPr/>
          </p:nvSpPr>
          <p:spPr>
            <a:xfrm>
              <a:off x="0" y="-38100"/>
              <a:ext cx="4838527" cy="2670329"/>
            </a:xfrm>
            <a:prstGeom prst="rect">
              <a:avLst/>
            </a:prstGeom>
          </p:spPr>
          <p:txBody>
            <a:bodyPr anchor="t" rtlCol="false" tIns="19760" lIns="19760" bIns="19760" rIns="19760"/>
            <a:lstStyle/>
            <a:p>
              <a:pPr algn="l">
                <a:lnSpc>
                  <a:spcPts val="1470"/>
                </a:lnSpc>
              </a:pPr>
            </a:p>
            <a:p>
              <a:pPr algn="l">
                <a:lnSpc>
                  <a:spcPts val="3570"/>
                </a:lnSpc>
              </a:pPr>
              <a:r>
                <a:rPr lang="en-US" sz="2550">
                  <a:solidFill>
                    <a:srgbClr val="373737"/>
                  </a:solidFill>
                  <a:latin typeface="Heading Now 71-78"/>
                  <a:ea typeface="Heading Now 71-78"/>
                  <a:cs typeface="Heading Now 71-78"/>
                  <a:sym typeface="Heading Now 71-78"/>
                </a:rPr>
                <a:t> </a:t>
              </a:r>
              <a:r>
                <a:rPr lang="en-US" sz="2550" b="true">
                  <a:solidFill>
                    <a:srgbClr val="373737"/>
                  </a:solidFill>
                  <a:latin typeface="Heading Now 71-78 Bold"/>
                  <a:ea typeface="Heading Now 71-78 Bold"/>
                  <a:cs typeface="Heading Now 71-78 Bold"/>
                  <a:sym typeface="Heading Now 71-78 Bold"/>
                </a:rPr>
                <a:t>   </a:t>
              </a:r>
            </a:p>
          </p:txBody>
        </p:sp>
      </p:grpSp>
      <p:grpSp>
        <p:nvGrpSpPr>
          <p:cNvPr name="Group 11" id="11"/>
          <p:cNvGrpSpPr/>
          <p:nvPr/>
        </p:nvGrpSpPr>
        <p:grpSpPr>
          <a:xfrm rot="0">
            <a:off x="12895396" y="2926154"/>
            <a:ext cx="4822572" cy="2840977"/>
            <a:chOff x="0" y="0"/>
            <a:chExt cx="4468221" cy="2632229"/>
          </a:xfrm>
        </p:grpSpPr>
        <p:sp>
          <p:nvSpPr>
            <p:cNvPr name="Freeform 12" id="12"/>
            <p:cNvSpPr/>
            <p:nvPr/>
          </p:nvSpPr>
          <p:spPr>
            <a:xfrm flipH="false" flipV="false" rot="0">
              <a:off x="0" y="0"/>
              <a:ext cx="4468221" cy="2632229"/>
            </a:xfrm>
            <a:custGeom>
              <a:avLst/>
              <a:gdLst/>
              <a:ahLst/>
              <a:cxnLst/>
              <a:rect r="r" b="b" t="t" l="l"/>
              <a:pathLst>
                <a:path h="2632229" w="4468221">
                  <a:moveTo>
                    <a:pt x="0" y="0"/>
                  </a:moveTo>
                  <a:lnTo>
                    <a:pt x="4468221" y="0"/>
                  </a:lnTo>
                  <a:lnTo>
                    <a:pt x="4468221" y="2632229"/>
                  </a:lnTo>
                  <a:lnTo>
                    <a:pt x="0" y="2632229"/>
                  </a:lnTo>
                  <a:close/>
                </a:path>
              </a:pathLst>
            </a:custGeom>
            <a:solidFill>
              <a:srgbClr val="EDECED"/>
            </a:solidFill>
            <a:ln w="38100" cap="sq">
              <a:solidFill>
                <a:srgbClr val="855832"/>
              </a:solidFill>
              <a:prstDash val="solid"/>
              <a:miter/>
            </a:ln>
          </p:spPr>
        </p:sp>
        <p:sp>
          <p:nvSpPr>
            <p:cNvPr name="TextBox 13" id="13"/>
            <p:cNvSpPr txBox="true"/>
            <p:nvPr/>
          </p:nvSpPr>
          <p:spPr>
            <a:xfrm>
              <a:off x="0" y="-38100"/>
              <a:ext cx="4468221" cy="2670329"/>
            </a:xfrm>
            <a:prstGeom prst="rect">
              <a:avLst/>
            </a:prstGeom>
          </p:spPr>
          <p:txBody>
            <a:bodyPr anchor="t" rtlCol="false" tIns="19760" lIns="19760" bIns="19760" rIns="19760"/>
            <a:lstStyle/>
            <a:p>
              <a:pPr algn="l">
                <a:lnSpc>
                  <a:spcPts val="1470"/>
                </a:lnSpc>
              </a:pPr>
            </a:p>
            <a:p>
              <a:pPr algn="l">
                <a:lnSpc>
                  <a:spcPts val="1470"/>
                </a:lnSpc>
              </a:pPr>
              <a:r>
                <a:rPr lang="en-US" sz="1050">
                  <a:solidFill>
                    <a:srgbClr val="373737"/>
                  </a:solidFill>
                  <a:latin typeface="Heading Now 71-78"/>
                  <a:ea typeface="Heading Now 71-78"/>
                  <a:cs typeface="Heading Now 71-78"/>
                  <a:sym typeface="Heading Now 71-78"/>
                </a:rPr>
                <a:t>   </a:t>
              </a:r>
            </a:p>
          </p:txBody>
        </p:sp>
      </p:grpSp>
      <p:grpSp>
        <p:nvGrpSpPr>
          <p:cNvPr name="Group 14" id="14"/>
          <p:cNvGrpSpPr/>
          <p:nvPr/>
        </p:nvGrpSpPr>
        <p:grpSpPr>
          <a:xfrm rot="0">
            <a:off x="6867022" y="6488137"/>
            <a:ext cx="5222246" cy="2973618"/>
            <a:chOff x="0" y="0"/>
            <a:chExt cx="4838527" cy="2755124"/>
          </a:xfrm>
        </p:grpSpPr>
        <p:sp>
          <p:nvSpPr>
            <p:cNvPr name="Freeform 15" id="15"/>
            <p:cNvSpPr/>
            <p:nvPr/>
          </p:nvSpPr>
          <p:spPr>
            <a:xfrm flipH="false" flipV="false" rot="0">
              <a:off x="0" y="0"/>
              <a:ext cx="4838528" cy="2755123"/>
            </a:xfrm>
            <a:custGeom>
              <a:avLst/>
              <a:gdLst/>
              <a:ahLst/>
              <a:cxnLst/>
              <a:rect r="r" b="b" t="t" l="l"/>
              <a:pathLst>
                <a:path h="2755123" w="4838528">
                  <a:moveTo>
                    <a:pt x="0" y="0"/>
                  </a:moveTo>
                  <a:lnTo>
                    <a:pt x="4838528" y="0"/>
                  </a:lnTo>
                  <a:lnTo>
                    <a:pt x="4838528" y="2755123"/>
                  </a:lnTo>
                  <a:lnTo>
                    <a:pt x="0" y="2755123"/>
                  </a:lnTo>
                  <a:close/>
                </a:path>
              </a:pathLst>
            </a:custGeom>
            <a:solidFill>
              <a:srgbClr val="EDECED"/>
            </a:solidFill>
            <a:ln w="38100" cap="sq">
              <a:solidFill>
                <a:srgbClr val="855832"/>
              </a:solidFill>
              <a:prstDash val="solid"/>
              <a:miter/>
            </a:ln>
          </p:spPr>
        </p:sp>
        <p:sp>
          <p:nvSpPr>
            <p:cNvPr name="TextBox 16" id="16"/>
            <p:cNvSpPr txBox="true"/>
            <p:nvPr/>
          </p:nvSpPr>
          <p:spPr>
            <a:xfrm>
              <a:off x="0" y="-38100"/>
              <a:ext cx="4838527" cy="2793224"/>
            </a:xfrm>
            <a:prstGeom prst="rect">
              <a:avLst/>
            </a:prstGeom>
          </p:spPr>
          <p:txBody>
            <a:bodyPr anchor="t" rtlCol="false" tIns="19760" lIns="19760" bIns="19760" rIns="19760"/>
            <a:lstStyle/>
            <a:p>
              <a:pPr algn="l">
                <a:lnSpc>
                  <a:spcPts val="1470"/>
                </a:lnSpc>
              </a:pPr>
            </a:p>
            <a:p>
              <a:pPr algn="l">
                <a:lnSpc>
                  <a:spcPts val="1470"/>
                </a:lnSpc>
              </a:pPr>
              <a:r>
                <a:rPr lang="en-US" sz="1050">
                  <a:solidFill>
                    <a:srgbClr val="373737"/>
                  </a:solidFill>
                  <a:latin typeface="Heading Now 71-78"/>
                  <a:ea typeface="Heading Now 71-78"/>
                  <a:cs typeface="Heading Now 71-78"/>
                  <a:sym typeface="Heading Now 71-78"/>
                </a:rPr>
                <a:t>    </a:t>
              </a:r>
            </a:p>
          </p:txBody>
        </p:sp>
      </p:grpSp>
      <p:grpSp>
        <p:nvGrpSpPr>
          <p:cNvPr name="Group 17" id="17"/>
          <p:cNvGrpSpPr/>
          <p:nvPr/>
        </p:nvGrpSpPr>
        <p:grpSpPr>
          <a:xfrm rot="0">
            <a:off x="12942457" y="6488137"/>
            <a:ext cx="4728451" cy="2957150"/>
            <a:chOff x="0" y="0"/>
            <a:chExt cx="4381015" cy="2739865"/>
          </a:xfrm>
        </p:grpSpPr>
        <p:sp>
          <p:nvSpPr>
            <p:cNvPr name="Freeform 18" id="18"/>
            <p:cNvSpPr/>
            <p:nvPr/>
          </p:nvSpPr>
          <p:spPr>
            <a:xfrm flipH="false" flipV="false" rot="0">
              <a:off x="0" y="0"/>
              <a:ext cx="4381016" cy="2739865"/>
            </a:xfrm>
            <a:custGeom>
              <a:avLst/>
              <a:gdLst/>
              <a:ahLst/>
              <a:cxnLst/>
              <a:rect r="r" b="b" t="t" l="l"/>
              <a:pathLst>
                <a:path h="2739865" w="4381016">
                  <a:moveTo>
                    <a:pt x="0" y="0"/>
                  </a:moveTo>
                  <a:lnTo>
                    <a:pt x="4381016" y="0"/>
                  </a:lnTo>
                  <a:lnTo>
                    <a:pt x="4381016" y="2739865"/>
                  </a:lnTo>
                  <a:lnTo>
                    <a:pt x="0" y="2739865"/>
                  </a:lnTo>
                  <a:close/>
                </a:path>
              </a:pathLst>
            </a:custGeom>
            <a:solidFill>
              <a:srgbClr val="FFDFA0"/>
            </a:solidFill>
            <a:ln w="38100" cap="sq">
              <a:solidFill>
                <a:srgbClr val="855832"/>
              </a:solidFill>
              <a:prstDash val="solid"/>
              <a:miter/>
            </a:ln>
          </p:spPr>
        </p:sp>
        <p:sp>
          <p:nvSpPr>
            <p:cNvPr name="TextBox 19" id="19"/>
            <p:cNvSpPr txBox="true"/>
            <p:nvPr/>
          </p:nvSpPr>
          <p:spPr>
            <a:xfrm>
              <a:off x="0" y="-38100"/>
              <a:ext cx="4381015" cy="2777965"/>
            </a:xfrm>
            <a:prstGeom prst="rect">
              <a:avLst/>
            </a:prstGeom>
          </p:spPr>
          <p:txBody>
            <a:bodyPr anchor="t" rtlCol="false" tIns="19760" lIns="19760" bIns="19760" rIns="19760"/>
            <a:lstStyle/>
            <a:p>
              <a:pPr algn="l">
                <a:lnSpc>
                  <a:spcPts val="1470"/>
                </a:lnSpc>
              </a:pPr>
            </a:p>
          </p:txBody>
        </p:sp>
      </p:grpSp>
      <p:sp>
        <p:nvSpPr>
          <p:cNvPr name="TextBox 20" id="20"/>
          <p:cNvSpPr txBox="true"/>
          <p:nvPr/>
        </p:nvSpPr>
        <p:spPr>
          <a:xfrm rot="0">
            <a:off x="-532095" y="2970335"/>
            <a:ext cx="3991558"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855832"/>
                </a:solidFill>
                <a:latin typeface="Open Sans Bold"/>
                <a:ea typeface="Open Sans Bold"/>
                <a:cs typeface="Open Sans Bold"/>
                <a:sym typeface="Open Sans Bold"/>
              </a:rPr>
              <a:t>Mayssa </a:t>
            </a:r>
          </a:p>
        </p:txBody>
      </p:sp>
      <p:sp>
        <p:nvSpPr>
          <p:cNvPr name="TextBox 21" id="21"/>
          <p:cNvSpPr txBox="true"/>
          <p:nvPr/>
        </p:nvSpPr>
        <p:spPr>
          <a:xfrm rot="0">
            <a:off x="5913486" y="6567971"/>
            <a:ext cx="3991558"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855832"/>
                </a:solidFill>
                <a:latin typeface="Open Sans Bold"/>
                <a:ea typeface="Open Sans Bold"/>
                <a:cs typeface="Open Sans Bold"/>
                <a:sym typeface="Open Sans Bold"/>
              </a:rPr>
              <a:t>Decaho</a:t>
            </a:r>
          </a:p>
        </p:txBody>
      </p:sp>
      <p:sp>
        <p:nvSpPr>
          <p:cNvPr name="TextBox 22" id="22"/>
          <p:cNvSpPr txBox="true"/>
          <p:nvPr/>
        </p:nvSpPr>
        <p:spPr>
          <a:xfrm rot="0">
            <a:off x="11811080" y="2970335"/>
            <a:ext cx="3991558"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855832"/>
                </a:solidFill>
                <a:latin typeface="Open Sans Bold"/>
                <a:ea typeface="Open Sans Bold"/>
                <a:cs typeface="Open Sans Bold"/>
                <a:sym typeface="Open Sans Bold"/>
              </a:rPr>
              <a:t>Esdras</a:t>
            </a:r>
          </a:p>
        </p:txBody>
      </p:sp>
      <p:sp>
        <p:nvSpPr>
          <p:cNvPr name="TextBox 23" id="23"/>
          <p:cNvSpPr txBox="true"/>
          <p:nvPr/>
        </p:nvSpPr>
        <p:spPr>
          <a:xfrm rot="0">
            <a:off x="11636510" y="6567971"/>
            <a:ext cx="3991558"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855832"/>
                </a:solidFill>
                <a:latin typeface="Open Sans Bold"/>
                <a:ea typeface="Open Sans Bold"/>
                <a:cs typeface="Open Sans Bold"/>
                <a:sym typeface="Open Sans Bold"/>
              </a:rPr>
              <a:t>Aya</a:t>
            </a:r>
          </a:p>
        </p:txBody>
      </p:sp>
      <p:sp>
        <p:nvSpPr>
          <p:cNvPr name="TextBox 24" id="24"/>
          <p:cNvSpPr txBox="true"/>
          <p:nvPr/>
        </p:nvSpPr>
        <p:spPr>
          <a:xfrm rot="0">
            <a:off x="5823743" y="2970335"/>
            <a:ext cx="3991558"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855832"/>
                </a:solidFill>
                <a:latin typeface="Open Sans Bold"/>
                <a:ea typeface="Open Sans Bold"/>
                <a:cs typeface="Open Sans Bold"/>
                <a:sym typeface="Open Sans Bold"/>
              </a:rPr>
              <a:t>Sultan</a:t>
            </a:r>
          </a:p>
        </p:txBody>
      </p:sp>
      <p:sp>
        <p:nvSpPr>
          <p:cNvPr name="TextBox 25" id="25"/>
          <p:cNvSpPr txBox="true"/>
          <p:nvPr/>
        </p:nvSpPr>
        <p:spPr>
          <a:xfrm rot="0">
            <a:off x="-551145" y="6567971"/>
            <a:ext cx="3991558" cy="587376"/>
          </a:xfrm>
          <a:prstGeom prst="rect">
            <a:avLst/>
          </a:prstGeom>
        </p:spPr>
        <p:txBody>
          <a:bodyPr anchor="t" rtlCol="false" tIns="0" lIns="0" bIns="0" rIns="0">
            <a:spAutoFit/>
          </a:bodyPr>
          <a:lstStyle/>
          <a:p>
            <a:pPr algn="ctr">
              <a:lnSpc>
                <a:spcPts val="4899"/>
              </a:lnSpc>
              <a:spcBef>
                <a:spcPct val="0"/>
              </a:spcBef>
            </a:pPr>
            <a:r>
              <a:rPr lang="en-US" b="true" sz="3499">
                <a:solidFill>
                  <a:srgbClr val="855832"/>
                </a:solidFill>
                <a:latin typeface="Open Sans Bold"/>
                <a:ea typeface="Open Sans Bold"/>
                <a:cs typeface="Open Sans Bold"/>
                <a:sym typeface="Open Sans Bold"/>
              </a:rPr>
              <a:t>Nujhat</a:t>
            </a:r>
          </a:p>
        </p:txBody>
      </p:sp>
      <p:sp>
        <p:nvSpPr>
          <p:cNvPr name="TextBox 26" id="26"/>
          <p:cNvSpPr txBox="true"/>
          <p:nvPr/>
        </p:nvSpPr>
        <p:spPr>
          <a:xfrm rot="0">
            <a:off x="562818" y="3846186"/>
            <a:ext cx="5312569" cy="1286563"/>
          </a:xfrm>
          <a:prstGeom prst="rect">
            <a:avLst/>
          </a:prstGeom>
        </p:spPr>
        <p:txBody>
          <a:bodyPr anchor="t" rtlCol="false" tIns="0" lIns="0" bIns="0" rIns="0">
            <a:spAutoFit/>
          </a:bodyPr>
          <a:lstStyle/>
          <a:p>
            <a:pPr algn="l" marL="398120" indent="-199060" lvl="1">
              <a:lnSpc>
                <a:spcPts val="2581"/>
              </a:lnSpc>
              <a:buFont typeface="Arial"/>
              <a:buChar char="•"/>
            </a:pPr>
            <a:r>
              <a:rPr lang="en-US" sz="1844">
                <a:solidFill>
                  <a:srgbClr val="373737"/>
                </a:solidFill>
                <a:latin typeface="Inter"/>
                <a:ea typeface="Inter"/>
                <a:cs typeface="Inter"/>
                <a:sym typeface="Inter"/>
              </a:rPr>
              <a:t>Project coordinator</a:t>
            </a:r>
          </a:p>
          <a:p>
            <a:pPr algn="l" marL="398120" indent="-199060" lvl="1">
              <a:lnSpc>
                <a:spcPts val="2581"/>
              </a:lnSpc>
              <a:buFont typeface="Arial"/>
              <a:buChar char="•"/>
            </a:pPr>
            <a:r>
              <a:rPr lang="en-US" sz="1844">
                <a:solidFill>
                  <a:srgbClr val="373737"/>
                </a:solidFill>
                <a:latin typeface="Inter"/>
                <a:ea typeface="Inter"/>
                <a:cs typeface="Inter"/>
                <a:sym typeface="Inter"/>
              </a:rPr>
              <a:t>Conveyor Belt</a:t>
            </a:r>
          </a:p>
          <a:p>
            <a:pPr algn="l" marL="398120" indent="-199060" lvl="1">
              <a:lnSpc>
                <a:spcPts val="2581"/>
              </a:lnSpc>
              <a:buFont typeface="Arial"/>
              <a:buChar char="•"/>
            </a:pPr>
            <a:r>
              <a:rPr lang="en-US" sz="1844">
                <a:solidFill>
                  <a:srgbClr val="373737"/>
                </a:solidFill>
                <a:latin typeface="Inter"/>
                <a:ea typeface="Inter"/>
                <a:cs typeface="Inter"/>
                <a:sym typeface="Inter"/>
              </a:rPr>
              <a:t>Linear accurator implementation</a:t>
            </a:r>
          </a:p>
          <a:p>
            <a:pPr algn="l" marL="398120" indent="-199060" lvl="1">
              <a:lnSpc>
                <a:spcPts val="2581"/>
              </a:lnSpc>
              <a:spcBef>
                <a:spcPct val="0"/>
              </a:spcBef>
              <a:buFont typeface="Arial"/>
              <a:buChar char="•"/>
            </a:pPr>
            <a:r>
              <a:rPr lang="en-US" sz="1844">
                <a:solidFill>
                  <a:srgbClr val="373737"/>
                </a:solidFill>
                <a:latin typeface="Inter"/>
                <a:ea typeface="Inter"/>
                <a:cs typeface="Inter"/>
                <a:sym typeface="Inter"/>
              </a:rPr>
              <a:t>box assembly</a:t>
            </a:r>
          </a:p>
        </p:txBody>
      </p:sp>
      <p:sp>
        <p:nvSpPr>
          <p:cNvPr name="TextBox 27" id="27"/>
          <p:cNvSpPr txBox="true"/>
          <p:nvPr/>
        </p:nvSpPr>
        <p:spPr>
          <a:xfrm rot="0">
            <a:off x="13090277" y="7306816"/>
            <a:ext cx="2839497" cy="1286662"/>
          </a:xfrm>
          <a:prstGeom prst="rect">
            <a:avLst/>
          </a:prstGeom>
        </p:spPr>
        <p:txBody>
          <a:bodyPr anchor="t" rtlCol="false" tIns="0" lIns="0" bIns="0" rIns="0">
            <a:spAutoFit/>
          </a:bodyPr>
          <a:lstStyle/>
          <a:p>
            <a:pPr algn="l" marL="398120" indent="-199060" lvl="1">
              <a:lnSpc>
                <a:spcPts val="2581"/>
              </a:lnSpc>
              <a:buFont typeface="Arial"/>
              <a:buChar char="•"/>
            </a:pPr>
            <a:r>
              <a:rPr lang="en-US" sz="1844">
                <a:solidFill>
                  <a:srgbClr val="373737"/>
                </a:solidFill>
                <a:latin typeface="Inter"/>
                <a:ea typeface="Inter"/>
                <a:cs typeface="Inter"/>
                <a:sym typeface="Inter"/>
              </a:rPr>
              <a:t>Hardware Specialist</a:t>
            </a:r>
          </a:p>
          <a:p>
            <a:pPr algn="l" marL="398120" indent="-199060" lvl="1">
              <a:lnSpc>
                <a:spcPts val="2581"/>
              </a:lnSpc>
              <a:buFont typeface="Arial"/>
              <a:buChar char="•"/>
            </a:pPr>
            <a:r>
              <a:rPr lang="en-US" sz="1844">
                <a:solidFill>
                  <a:srgbClr val="373737"/>
                </a:solidFill>
                <a:latin typeface="Inter"/>
                <a:ea typeface="Inter"/>
                <a:cs typeface="Inter"/>
                <a:sym typeface="Inter"/>
              </a:rPr>
              <a:t>System Integration Specialist</a:t>
            </a:r>
          </a:p>
          <a:p>
            <a:pPr algn="l">
              <a:lnSpc>
                <a:spcPts val="2581"/>
              </a:lnSpc>
              <a:spcBef>
                <a:spcPct val="0"/>
              </a:spcBef>
            </a:pPr>
          </a:p>
        </p:txBody>
      </p:sp>
      <p:grpSp>
        <p:nvGrpSpPr>
          <p:cNvPr name="Group 28" id="28"/>
          <p:cNvGrpSpPr/>
          <p:nvPr/>
        </p:nvGrpSpPr>
        <p:grpSpPr>
          <a:xfrm rot="0">
            <a:off x="-1917017" y="8488591"/>
            <a:ext cx="3085395" cy="2647085"/>
            <a:chOff x="0" y="0"/>
            <a:chExt cx="406400" cy="348667"/>
          </a:xfrm>
        </p:grpSpPr>
        <p:sp>
          <p:nvSpPr>
            <p:cNvPr name="Freeform 29" id="29"/>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30" id="30"/>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1" id="31"/>
          <p:cNvGrpSpPr/>
          <p:nvPr/>
        </p:nvGrpSpPr>
        <p:grpSpPr>
          <a:xfrm rot="0">
            <a:off x="-1886520" y="9812133"/>
            <a:ext cx="5830440" cy="3289372"/>
            <a:chOff x="0" y="0"/>
            <a:chExt cx="618015" cy="348667"/>
          </a:xfrm>
        </p:grpSpPr>
        <p:sp>
          <p:nvSpPr>
            <p:cNvPr name="Freeform 32" id="32"/>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33" id="33"/>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10711109">
            <a:off x="16370983" y="-1248977"/>
            <a:ext cx="3834034" cy="3289372"/>
            <a:chOff x="0" y="0"/>
            <a:chExt cx="406400" cy="348667"/>
          </a:xfrm>
        </p:grpSpPr>
        <p:sp>
          <p:nvSpPr>
            <p:cNvPr name="Freeform 35" id="35"/>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a:ln cap="sq">
              <a:noFill/>
              <a:prstDash val="solid"/>
              <a:miter/>
            </a:ln>
          </p:spPr>
        </p:sp>
        <p:sp>
          <p:nvSpPr>
            <p:cNvPr name="TextBox 36" id="36"/>
            <p:cNvSpPr txBox="true"/>
            <p:nvPr/>
          </p:nvSpPr>
          <p:spPr>
            <a:xfrm>
              <a:off x="101600" y="-38100"/>
              <a:ext cx="203200" cy="3867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7" id="37"/>
          <p:cNvGrpSpPr/>
          <p:nvPr/>
        </p:nvGrpSpPr>
        <p:grpSpPr>
          <a:xfrm rot="10711109">
            <a:off x="13986591" y="-2711241"/>
            <a:ext cx="5830440" cy="3289372"/>
            <a:chOff x="0" y="0"/>
            <a:chExt cx="618015" cy="348667"/>
          </a:xfrm>
        </p:grpSpPr>
        <p:sp>
          <p:nvSpPr>
            <p:cNvPr name="Freeform 38" id="38"/>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39" id="39"/>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sp>
        <p:nvSpPr>
          <p:cNvPr name="TextBox 40" id="40"/>
          <p:cNvSpPr txBox="true"/>
          <p:nvPr/>
        </p:nvSpPr>
        <p:spPr>
          <a:xfrm rot="0">
            <a:off x="128822" y="1124644"/>
            <a:ext cx="15800952" cy="1101267"/>
          </a:xfrm>
          <a:prstGeom prst="rect">
            <a:avLst/>
          </a:prstGeom>
        </p:spPr>
        <p:txBody>
          <a:bodyPr anchor="t" rtlCol="false" tIns="0" lIns="0" bIns="0" rIns="0">
            <a:spAutoFit/>
          </a:bodyPr>
          <a:lstStyle/>
          <a:p>
            <a:pPr algn="ctr" marL="0" indent="0" lvl="0">
              <a:lnSpc>
                <a:spcPts val="8077"/>
              </a:lnSpc>
              <a:spcBef>
                <a:spcPct val="0"/>
              </a:spcBef>
            </a:pPr>
            <a:r>
              <a:rPr lang="en-US" b="true" sz="5769" u="sng">
                <a:solidFill>
                  <a:srgbClr val="855832"/>
                </a:solidFill>
                <a:latin typeface="Arial Bold"/>
                <a:ea typeface="Arial Bold"/>
                <a:cs typeface="Arial Bold"/>
                <a:sym typeface="Arial Bold"/>
              </a:rPr>
              <a:t>HW and SW Distribution per team member</a:t>
            </a:r>
          </a:p>
        </p:txBody>
      </p:sp>
      <p:sp>
        <p:nvSpPr>
          <p:cNvPr name="TextBox 41" id="41"/>
          <p:cNvSpPr txBox="true"/>
          <p:nvPr/>
        </p:nvSpPr>
        <p:spPr>
          <a:xfrm rot="0">
            <a:off x="6964348" y="3653289"/>
            <a:ext cx="5337073" cy="962812"/>
          </a:xfrm>
          <a:prstGeom prst="rect">
            <a:avLst/>
          </a:prstGeom>
        </p:spPr>
        <p:txBody>
          <a:bodyPr anchor="t" rtlCol="false" tIns="0" lIns="0" bIns="0" rIns="0">
            <a:spAutoFit/>
          </a:bodyPr>
          <a:lstStyle/>
          <a:p>
            <a:pPr algn="l" marL="398120" indent="-199060" lvl="1">
              <a:lnSpc>
                <a:spcPts val="2581"/>
              </a:lnSpc>
              <a:buFont typeface="Arial"/>
              <a:buChar char="•"/>
            </a:pPr>
            <a:r>
              <a:rPr lang="en-US" sz="1844">
                <a:solidFill>
                  <a:srgbClr val="373737"/>
                </a:solidFill>
                <a:latin typeface="Inter"/>
                <a:ea typeface="Inter"/>
                <a:cs typeface="Inter"/>
                <a:sym typeface="Inter"/>
              </a:rPr>
              <a:t>Conveyor Belt (Panels)</a:t>
            </a:r>
          </a:p>
          <a:p>
            <a:pPr algn="l" marL="398120" indent="-199060" lvl="1">
              <a:lnSpc>
                <a:spcPts val="2581"/>
              </a:lnSpc>
              <a:buFont typeface="Arial"/>
              <a:buChar char="•"/>
            </a:pPr>
            <a:r>
              <a:rPr lang="en-US" sz="1844">
                <a:solidFill>
                  <a:srgbClr val="373737"/>
                </a:solidFill>
                <a:latin typeface="Inter"/>
                <a:ea typeface="Inter"/>
                <a:cs typeface="Inter"/>
                <a:sym typeface="Inter"/>
              </a:rPr>
              <a:t>Materials acquisition (3D Printing)</a:t>
            </a:r>
          </a:p>
          <a:p>
            <a:pPr algn="l">
              <a:lnSpc>
                <a:spcPts val="2581"/>
              </a:lnSpc>
              <a:spcBef>
                <a:spcPct val="0"/>
              </a:spcBef>
            </a:pPr>
          </a:p>
        </p:txBody>
      </p:sp>
      <p:sp>
        <p:nvSpPr>
          <p:cNvPr name="TextBox 42" id="42"/>
          <p:cNvSpPr txBox="true"/>
          <p:nvPr/>
        </p:nvSpPr>
        <p:spPr>
          <a:xfrm rot="0">
            <a:off x="600917" y="7226161"/>
            <a:ext cx="2839497" cy="1610512"/>
          </a:xfrm>
          <a:prstGeom prst="rect">
            <a:avLst/>
          </a:prstGeom>
        </p:spPr>
        <p:txBody>
          <a:bodyPr anchor="t" rtlCol="false" tIns="0" lIns="0" bIns="0" rIns="0">
            <a:spAutoFit/>
          </a:bodyPr>
          <a:lstStyle/>
          <a:p>
            <a:pPr algn="l" marL="398120" indent="-199060" lvl="1">
              <a:lnSpc>
                <a:spcPts val="2581"/>
              </a:lnSpc>
              <a:buFont typeface="Arial"/>
              <a:buChar char="•"/>
            </a:pPr>
            <a:r>
              <a:rPr lang="en-US" sz="1844">
                <a:solidFill>
                  <a:srgbClr val="373737"/>
                </a:solidFill>
                <a:latin typeface="Inter"/>
                <a:ea typeface="Inter"/>
                <a:cs typeface="Inter"/>
                <a:sym typeface="Inter"/>
              </a:rPr>
              <a:t>Software (AI Implementation) </a:t>
            </a:r>
          </a:p>
          <a:p>
            <a:pPr algn="l" marL="398120" indent="-199060" lvl="1">
              <a:lnSpc>
                <a:spcPts val="2581"/>
              </a:lnSpc>
              <a:spcBef>
                <a:spcPct val="0"/>
              </a:spcBef>
              <a:buFont typeface="Arial"/>
              <a:buChar char="•"/>
            </a:pPr>
            <a:r>
              <a:rPr lang="en-US" sz="1844">
                <a:solidFill>
                  <a:srgbClr val="373737"/>
                </a:solidFill>
                <a:latin typeface="Inter"/>
                <a:ea typeface="Inter"/>
                <a:cs typeface="Inter"/>
                <a:sym typeface="Inter"/>
              </a:rPr>
              <a:t>Hardware (camera maintenance &amp; synchronization)</a:t>
            </a:r>
          </a:p>
        </p:txBody>
      </p:sp>
      <p:sp>
        <p:nvSpPr>
          <p:cNvPr name="TextBox 43" id="43"/>
          <p:cNvSpPr txBox="true"/>
          <p:nvPr/>
        </p:nvSpPr>
        <p:spPr>
          <a:xfrm rot="0">
            <a:off x="6964348" y="7226161"/>
            <a:ext cx="4846732" cy="962812"/>
          </a:xfrm>
          <a:prstGeom prst="rect">
            <a:avLst/>
          </a:prstGeom>
        </p:spPr>
        <p:txBody>
          <a:bodyPr anchor="t" rtlCol="false" tIns="0" lIns="0" bIns="0" rIns="0">
            <a:spAutoFit/>
          </a:bodyPr>
          <a:lstStyle/>
          <a:p>
            <a:pPr algn="l" marL="398120" indent="-199060" lvl="1">
              <a:lnSpc>
                <a:spcPts val="2581"/>
              </a:lnSpc>
              <a:buFont typeface="Arial"/>
              <a:buChar char="•"/>
            </a:pPr>
            <a:r>
              <a:rPr lang="en-US" sz="1844">
                <a:solidFill>
                  <a:srgbClr val="373737"/>
                </a:solidFill>
                <a:latin typeface="Inter"/>
                <a:ea typeface="Inter"/>
                <a:cs typeface="Inter"/>
                <a:sym typeface="Inter"/>
              </a:rPr>
              <a:t>Software (database management,     implement the web application)</a:t>
            </a:r>
          </a:p>
          <a:p>
            <a:pPr algn="l" marL="398120" indent="-199060" lvl="1">
              <a:lnSpc>
                <a:spcPts val="2581"/>
              </a:lnSpc>
              <a:buFont typeface="Arial"/>
              <a:buChar char="•"/>
            </a:pPr>
            <a:r>
              <a:rPr lang="en-US" sz="1844">
                <a:solidFill>
                  <a:srgbClr val="373737"/>
                </a:solidFill>
                <a:latin typeface="Inter"/>
                <a:ea typeface="Inter"/>
                <a:cs typeface="Inter"/>
                <a:sym typeface="Inter"/>
              </a:rPr>
              <a:t>Hardware integration (support)</a:t>
            </a:r>
          </a:p>
        </p:txBody>
      </p:sp>
      <p:sp>
        <p:nvSpPr>
          <p:cNvPr name="TextBox 44" id="44"/>
          <p:cNvSpPr txBox="true"/>
          <p:nvPr/>
        </p:nvSpPr>
        <p:spPr>
          <a:xfrm rot="0">
            <a:off x="13090277" y="3545904"/>
            <a:ext cx="4846732" cy="962614"/>
          </a:xfrm>
          <a:prstGeom prst="rect">
            <a:avLst/>
          </a:prstGeom>
        </p:spPr>
        <p:txBody>
          <a:bodyPr anchor="t" rtlCol="false" tIns="0" lIns="0" bIns="0" rIns="0">
            <a:spAutoFit/>
          </a:bodyPr>
          <a:lstStyle/>
          <a:p>
            <a:pPr algn="l" marL="398120" indent="-199060" lvl="1">
              <a:lnSpc>
                <a:spcPts val="2581"/>
              </a:lnSpc>
              <a:buFont typeface="Arial"/>
              <a:buChar char="•"/>
            </a:pPr>
            <a:r>
              <a:rPr lang="en-US" sz="1844">
                <a:solidFill>
                  <a:srgbClr val="373737"/>
                </a:solidFill>
                <a:latin typeface="Inter"/>
                <a:ea typeface="Inter"/>
                <a:cs typeface="Inter"/>
                <a:sym typeface="Inter"/>
              </a:rPr>
              <a:t>Software (Database management )</a:t>
            </a:r>
          </a:p>
          <a:p>
            <a:pPr algn="l" marL="398120" indent="-199060" lvl="1">
              <a:lnSpc>
                <a:spcPts val="2581"/>
              </a:lnSpc>
              <a:buFont typeface="Arial"/>
              <a:buChar char="•"/>
            </a:pPr>
            <a:r>
              <a:rPr lang="en-US" sz="1844">
                <a:solidFill>
                  <a:srgbClr val="373737"/>
                </a:solidFill>
                <a:latin typeface="Inter"/>
                <a:ea typeface="Inter"/>
                <a:cs typeface="Inter"/>
                <a:sym typeface="Inter"/>
              </a:rPr>
              <a:t>Push notification with Firebase</a:t>
            </a:r>
          </a:p>
          <a:p>
            <a:pPr algn="l">
              <a:lnSpc>
                <a:spcPts val="2581"/>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917017" y="7846303"/>
            <a:ext cx="3834034" cy="3289372"/>
            <a:chOff x="0" y="0"/>
            <a:chExt cx="406400" cy="348667"/>
          </a:xfrm>
        </p:grpSpPr>
        <p:sp>
          <p:nvSpPr>
            <p:cNvPr name="Freeform 3" id="3"/>
            <p:cNvSpPr/>
            <p:nvPr/>
          </p:nvSpPr>
          <p:spPr>
            <a:xfrm flipH="false" flipV="false" rot="0">
              <a:off x="0" y="0"/>
              <a:ext cx="406400" cy="348667"/>
            </a:xfrm>
            <a:custGeom>
              <a:avLst/>
              <a:gdLst/>
              <a:ahLst/>
              <a:cxnLst/>
              <a:rect r="r" b="b" t="t" l="l"/>
              <a:pathLst>
                <a:path h="348667" w="406400">
                  <a:moveTo>
                    <a:pt x="203200" y="0"/>
                  </a:moveTo>
                  <a:lnTo>
                    <a:pt x="0" y="0"/>
                  </a:lnTo>
                  <a:lnTo>
                    <a:pt x="203200" y="348667"/>
                  </a:lnTo>
                  <a:lnTo>
                    <a:pt x="406400" y="348667"/>
                  </a:lnTo>
                  <a:lnTo>
                    <a:pt x="203200" y="0"/>
                  </a:lnTo>
                  <a:close/>
                </a:path>
              </a:pathLst>
            </a:custGeom>
            <a:solidFill>
              <a:srgbClr val="4B331F"/>
            </a:solidFill>
          </p:spPr>
        </p:sp>
        <p:sp>
          <p:nvSpPr>
            <p:cNvPr name="TextBox 4" id="4"/>
            <p:cNvSpPr txBox="true"/>
            <p:nvPr/>
          </p:nvSpPr>
          <p:spPr>
            <a:xfrm>
              <a:off x="101600" y="-38100"/>
              <a:ext cx="203200"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17017" y="9198322"/>
            <a:ext cx="5830440" cy="3289372"/>
            <a:chOff x="0" y="0"/>
            <a:chExt cx="618015" cy="348667"/>
          </a:xfrm>
        </p:grpSpPr>
        <p:sp>
          <p:nvSpPr>
            <p:cNvPr name="Freeform 6" id="6"/>
            <p:cNvSpPr/>
            <p:nvPr/>
          </p:nvSpPr>
          <p:spPr>
            <a:xfrm flipH="false" flipV="false" rot="0">
              <a:off x="0" y="0"/>
              <a:ext cx="618015" cy="348667"/>
            </a:xfrm>
            <a:custGeom>
              <a:avLst/>
              <a:gdLst/>
              <a:ahLst/>
              <a:cxnLst/>
              <a:rect r="r" b="b" t="t" l="l"/>
              <a:pathLst>
                <a:path h="348667" w="618015">
                  <a:moveTo>
                    <a:pt x="414815" y="0"/>
                  </a:moveTo>
                  <a:lnTo>
                    <a:pt x="0" y="0"/>
                  </a:lnTo>
                  <a:lnTo>
                    <a:pt x="203200" y="348667"/>
                  </a:lnTo>
                  <a:lnTo>
                    <a:pt x="618015" y="348667"/>
                  </a:lnTo>
                  <a:lnTo>
                    <a:pt x="414815" y="0"/>
                  </a:lnTo>
                  <a:close/>
                </a:path>
              </a:pathLst>
            </a:custGeom>
            <a:solidFill>
              <a:srgbClr val="000000">
                <a:alpha val="0"/>
              </a:srgbClr>
            </a:solidFill>
            <a:ln w="209550" cap="sq">
              <a:solidFill>
                <a:srgbClr val="BD9C6C"/>
              </a:solidFill>
              <a:prstDash val="solid"/>
              <a:miter/>
            </a:ln>
          </p:spPr>
        </p:sp>
        <p:sp>
          <p:nvSpPr>
            <p:cNvPr name="TextBox 7" id="7"/>
            <p:cNvSpPr txBox="true"/>
            <p:nvPr/>
          </p:nvSpPr>
          <p:spPr>
            <a:xfrm>
              <a:off x="101600" y="-38100"/>
              <a:ext cx="41481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925305" y="-2345430"/>
            <a:ext cx="5674700" cy="3289372"/>
            <a:chOff x="0" y="0"/>
            <a:chExt cx="601507" cy="348667"/>
          </a:xfrm>
        </p:grpSpPr>
        <p:sp>
          <p:nvSpPr>
            <p:cNvPr name="Freeform 9" id="9"/>
            <p:cNvSpPr/>
            <p:nvPr/>
          </p:nvSpPr>
          <p:spPr>
            <a:xfrm flipH="false" flipV="false" rot="0">
              <a:off x="0" y="0"/>
              <a:ext cx="601507" cy="348667"/>
            </a:xfrm>
            <a:custGeom>
              <a:avLst/>
              <a:gdLst/>
              <a:ahLst/>
              <a:cxnLst/>
              <a:rect r="r" b="b" t="t" l="l"/>
              <a:pathLst>
                <a:path h="348667" w="601507">
                  <a:moveTo>
                    <a:pt x="398307" y="0"/>
                  </a:moveTo>
                  <a:lnTo>
                    <a:pt x="0" y="0"/>
                  </a:lnTo>
                  <a:lnTo>
                    <a:pt x="203200" y="348667"/>
                  </a:lnTo>
                  <a:lnTo>
                    <a:pt x="601507" y="348667"/>
                  </a:lnTo>
                  <a:lnTo>
                    <a:pt x="398307" y="0"/>
                  </a:lnTo>
                  <a:close/>
                </a:path>
              </a:pathLst>
            </a:custGeom>
            <a:solidFill>
              <a:srgbClr val="FFFFFF"/>
            </a:solidFill>
            <a:ln w="209550" cap="sq">
              <a:solidFill>
                <a:srgbClr val="BD9C6C"/>
              </a:solidFill>
              <a:prstDash val="solid"/>
              <a:miter/>
            </a:ln>
          </p:spPr>
        </p:sp>
        <p:sp>
          <p:nvSpPr>
            <p:cNvPr name="TextBox 10" id="10"/>
            <p:cNvSpPr txBox="true"/>
            <p:nvPr/>
          </p:nvSpPr>
          <p:spPr>
            <a:xfrm>
              <a:off x="101600" y="-38100"/>
              <a:ext cx="398307"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480995" y="-1150365"/>
            <a:ext cx="11880332" cy="11993373"/>
            <a:chOff x="0" y="0"/>
            <a:chExt cx="15840442" cy="15991164"/>
          </a:xfrm>
        </p:grpSpPr>
        <p:grpSp>
          <p:nvGrpSpPr>
            <p:cNvPr name="Group 12" id="12"/>
            <p:cNvGrpSpPr/>
            <p:nvPr/>
          </p:nvGrpSpPr>
          <p:grpSpPr>
            <a:xfrm rot="0">
              <a:off x="612222" y="1998443"/>
              <a:ext cx="13390494" cy="13992722"/>
              <a:chOff x="0" y="0"/>
              <a:chExt cx="668437" cy="698500"/>
            </a:xfrm>
          </p:grpSpPr>
          <p:sp>
            <p:nvSpPr>
              <p:cNvPr name="Freeform 13" id="13"/>
              <p:cNvSpPr/>
              <p:nvPr/>
            </p:nvSpPr>
            <p:spPr>
              <a:xfrm flipH="false" flipV="false" rot="0">
                <a:off x="0" y="0"/>
                <a:ext cx="668437" cy="698500"/>
              </a:xfrm>
              <a:custGeom>
                <a:avLst/>
                <a:gdLst/>
                <a:ahLst/>
                <a:cxnLst/>
                <a:rect r="r" b="b" t="t" l="l"/>
                <a:pathLst>
                  <a:path h="698500" w="668437">
                    <a:moveTo>
                      <a:pt x="668437" y="349250"/>
                    </a:moveTo>
                    <a:lnTo>
                      <a:pt x="465237" y="698500"/>
                    </a:lnTo>
                    <a:lnTo>
                      <a:pt x="203200" y="698500"/>
                    </a:lnTo>
                    <a:lnTo>
                      <a:pt x="0" y="349250"/>
                    </a:lnTo>
                    <a:lnTo>
                      <a:pt x="203200" y="0"/>
                    </a:lnTo>
                    <a:lnTo>
                      <a:pt x="465237" y="0"/>
                    </a:lnTo>
                    <a:lnTo>
                      <a:pt x="668437" y="349250"/>
                    </a:lnTo>
                    <a:close/>
                  </a:path>
                </a:pathLst>
              </a:custGeom>
              <a:solidFill>
                <a:srgbClr val="BD9C6C"/>
              </a:solidFill>
            </p:spPr>
          </p:sp>
          <p:sp>
            <p:nvSpPr>
              <p:cNvPr name="TextBox 14" id="14"/>
              <p:cNvSpPr txBox="true"/>
              <p:nvPr/>
            </p:nvSpPr>
            <p:spPr>
              <a:xfrm>
                <a:off x="114300" y="-38100"/>
                <a:ext cx="439837"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0" y="0"/>
              <a:ext cx="13732767" cy="6846445"/>
              <a:chOff x="0" y="0"/>
              <a:chExt cx="699365" cy="348667"/>
            </a:xfrm>
          </p:grpSpPr>
          <p:sp>
            <p:nvSpPr>
              <p:cNvPr name="Freeform 16" id="16"/>
              <p:cNvSpPr/>
              <p:nvPr/>
            </p:nvSpPr>
            <p:spPr>
              <a:xfrm flipH="false" flipV="false" rot="0">
                <a:off x="0" y="0"/>
                <a:ext cx="699365" cy="348667"/>
              </a:xfrm>
              <a:custGeom>
                <a:avLst/>
                <a:gdLst/>
                <a:ahLst/>
                <a:cxnLst/>
                <a:rect r="r" b="b" t="t" l="l"/>
                <a:pathLst>
                  <a:path h="348667" w="699365">
                    <a:moveTo>
                      <a:pt x="496165" y="0"/>
                    </a:moveTo>
                    <a:lnTo>
                      <a:pt x="0" y="0"/>
                    </a:lnTo>
                    <a:lnTo>
                      <a:pt x="203200" y="348667"/>
                    </a:lnTo>
                    <a:lnTo>
                      <a:pt x="699365" y="348667"/>
                    </a:lnTo>
                    <a:lnTo>
                      <a:pt x="496165" y="0"/>
                    </a:lnTo>
                    <a:close/>
                  </a:path>
                </a:pathLst>
              </a:custGeom>
              <a:solidFill>
                <a:srgbClr val="4B331F"/>
              </a:solidFill>
            </p:spPr>
          </p:sp>
          <p:sp>
            <p:nvSpPr>
              <p:cNvPr name="TextBox 17" id="17"/>
              <p:cNvSpPr txBox="true"/>
              <p:nvPr/>
            </p:nvSpPr>
            <p:spPr>
              <a:xfrm>
                <a:off x="101600" y="-38100"/>
                <a:ext cx="496165" cy="386767"/>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2262668" y="4100042"/>
              <a:ext cx="13577774" cy="9789524"/>
              <a:chOff x="0" y="0"/>
              <a:chExt cx="968798" cy="698500"/>
            </a:xfrm>
          </p:grpSpPr>
          <p:sp>
            <p:nvSpPr>
              <p:cNvPr name="Freeform 19" id="19"/>
              <p:cNvSpPr/>
              <p:nvPr/>
            </p:nvSpPr>
            <p:spPr>
              <a:xfrm flipH="false" flipV="false" rot="0">
                <a:off x="0" y="0"/>
                <a:ext cx="968798" cy="698500"/>
              </a:xfrm>
              <a:custGeom>
                <a:avLst/>
                <a:gdLst/>
                <a:ahLst/>
                <a:cxnLst/>
                <a:rect r="r" b="b" t="t" l="l"/>
                <a:pathLst>
                  <a:path h="698500" w="968798">
                    <a:moveTo>
                      <a:pt x="968798" y="349250"/>
                    </a:moveTo>
                    <a:lnTo>
                      <a:pt x="765598" y="698500"/>
                    </a:lnTo>
                    <a:lnTo>
                      <a:pt x="203200" y="698500"/>
                    </a:lnTo>
                    <a:lnTo>
                      <a:pt x="0" y="349250"/>
                    </a:lnTo>
                    <a:lnTo>
                      <a:pt x="203200" y="0"/>
                    </a:lnTo>
                    <a:lnTo>
                      <a:pt x="765598" y="0"/>
                    </a:lnTo>
                    <a:lnTo>
                      <a:pt x="968798" y="349250"/>
                    </a:lnTo>
                    <a:close/>
                  </a:path>
                </a:pathLst>
              </a:custGeom>
              <a:solidFill>
                <a:srgbClr val="FFFFFF"/>
              </a:solidFill>
            </p:spPr>
          </p:sp>
          <p:sp>
            <p:nvSpPr>
              <p:cNvPr name="TextBox 20" id="20"/>
              <p:cNvSpPr txBox="true"/>
              <p:nvPr/>
            </p:nvSpPr>
            <p:spPr>
              <a:xfrm>
                <a:off x="114300" y="-38100"/>
                <a:ext cx="740198" cy="736600"/>
              </a:xfrm>
              <a:prstGeom prst="rect">
                <a:avLst/>
              </a:prstGeom>
            </p:spPr>
            <p:txBody>
              <a:bodyPr anchor="ctr" rtlCol="false" tIns="50800" lIns="50800" bIns="50800" rIns="50800"/>
              <a:lstStyle/>
              <a:p>
                <a:pPr algn="ctr">
                  <a:lnSpc>
                    <a:spcPts val="2659"/>
                  </a:lnSpc>
                  <a:spcBef>
                    <a:spcPct val="0"/>
                  </a:spcBef>
                </a:pPr>
              </a:p>
            </p:txBody>
          </p:sp>
        </p:grpSp>
      </p:grpSp>
      <p:sp>
        <p:nvSpPr>
          <p:cNvPr name="TextBox 21" id="21"/>
          <p:cNvSpPr txBox="true"/>
          <p:nvPr/>
        </p:nvSpPr>
        <p:spPr>
          <a:xfrm rot="0">
            <a:off x="5192981" y="4238943"/>
            <a:ext cx="11140338" cy="2904489"/>
          </a:xfrm>
          <a:prstGeom prst="rect">
            <a:avLst/>
          </a:prstGeom>
        </p:spPr>
        <p:txBody>
          <a:bodyPr anchor="t" rtlCol="false" tIns="0" lIns="0" bIns="0" rIns="0">
            <a:spAutoFit/>
          </a:bodyPr>
          <a:lstStyle/>
          <a:p>
            <a:pPr algn="ctr">
              <a:lnSpc>
                <a:spcPts val="11060"/>
              </a:lnSpc>
            </a:pPr>
            <a:r>
              <a:rPr lang="en-US" sz="7900" b="true">
                <a:solidFill>
                  <a:srgbClr val="4B331F"/>
                </a:solidFill>
                <a:latin typeface="Arial Bold"/>
                <a:ea typeface="Arial Bold"/>
                <a:cs typeface="Arial Bold"/>
                <a:sym typeface="Arial Bold"/>
              </a:rPr>
              <a:t>Thanks for </a:t>
            </a:r>
          </a:p>
          <a:p>
            <a:pPr algn="ctr" marL="0" indent="0" lvl="0">
              <a:lnSpc>
                <a:spcPts val="11060"/>
              </a:lnSpc>
              <a:spcBef>
                <a:spcPct val="0"/>
              </a:spcBef>
            </a:pPr>
            <a:r>
              <a:rPr lang="en-US" b="true" sz="7900">
                <a:solidFill>
                  <a:srgbClr val="4B331F"/>
                </a:solidFill>
                <a:latin typeface="Arial Bold"/>
                <a:ea typeface="Arial Bold"/>
                <a:cs typeface="Arial Bold"/>
                <a:sym typeface="Arial Bold"/>
              </a:rPr>
              <a:t>your attention</a:t>
            </a:r>
          </a:p>
        </p:txBody>
      </p:sp>
    </p:spTree>
  </p:cSld>
  <p:clrMapOvr>
    <a:masterClrMapping/>
  </p:clrMapOvr>
  <p:transition spd="fast">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DAF8Qt1EJsc</dc:identifier>
  <dcterms:modified xsi:type="dcterms:W3CDTF">2011-08-01T06:04:30Z</dcterms:modified>
  <cp:revision>1</cp:revision>
  <dc:title>CEG4913_2024F_Group2_Final_Presentation_20241203</dc:title>
</cp:coreProperties>
</file>