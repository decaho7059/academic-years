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37"/>
  </p:notesMasterIdLst>
  <p:handoutMasterIdLst>
    <p:handoutMasterId r:id="rId38"/>
  </p:handoutMasterIdLst>
  <p:sldIdLst>
    <p:sldId id="336" r:id="rId2"/>
    <p:sldId id="307" r:id="rId3"/>
    <p:sldId id="332" r:id="rId4"/>
    <p:sldId id="293" r:id="rId5"/>
    <p:sldId id="294" r:id="rId6"/>
    <p:sldId id="296" r:id="rId7"/>
    <p:sldId id="299" r:id="rId8"/>
    <p:sldId id="364" r:id="rId9"/>
    <p:sldId id="338" r:id="rId10"/>
    <p:sldId id="355" r:id="rId11"/>
    <p:sldId id="339" r:id="rId12"/>
    <p:sldId id="358" r:id="rId13"/>
    <p:sldId id="356" r:id="rId14"/>
    <p:sldId id="345" r:id="rId15"/>
    <p:sldId id="357" r:id="rId16"/>
    <p:sldId id="348" r:id="rId17"/>
    <p:sldId id="347" r:id="rId18"/>
    <p:sldId id="346" r:id="rId19"/>
    <p:sldId id="359" r:id="rId20"/>
    <p:sldId id="298" r:id="rId21"/>
    <p:sldId id="349" r:id="rId22"/>
    <p:sldId id="314" r:id="rId23"/>
    <p:sldId id="365" r:id="rId24"/>
    <p:sldId id="350" r:id="rId25"/>
    <p:sldId id="351" r:id="rId26"/>
    <p:sldId id="317" r:id="rId27"/>
    <p:sldId id="315" r:id="rId28"/>
    <p:sldId id="363" r:id="rId29"/>
    <p:sldId id="352" r:id="rId30"/>
    <p:sldId id="362" r:id="rId31"/>
    <p:sldId id="353" r:id="rId32"/>
    <p:sldId id="360" r:id="rId33"/>
    <p:sldId id="322" r:id="rId34"/>
    <p:sldId id="361" r:id="rId35"/>
    <p:sldId id="313" r:id="rId36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2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2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2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96">
          <p15:clr>
            <a:srgbClr val="A4A3A4"/>
          </p15:clr>
        </p15:guide>
        <p15:guide id="2" orient="horz" pos="4032">
          <p15:clr>
            <a:srgbClr val="A4A3A4"/>
          </p15:clr>
        </p15:guide>
        <p15:guide id="3" pos="5088">
          <p15:clr>
            <a:srgbClr val="A4A3A4"/>
          </p15:clr>
        </p15:guide>
        <p15:guide id="4" pos="27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149ACC"/>
    <a:srgbClr val="0092C8"/>
    <a:srgbClr val="179CCD"/>
    <a:srgbClr val="2FA6D2"/>
    <a:srgbClr val="BDE3F1"/>
    <a:srgbClr val="1487AB"/>
    <a:srgbClr val="0053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49" autoAdjust="0"/>
    <p:restoredTop sz="96006" autoAdjust="0"/>
  </p:normalViewPr>
  <p:slideViewPr>
    <p:cSldViewPr>
      <p:cViewPr varScale="1">
        <p:scale>
          <a:sx n="85" d="100"/>
          <a:sy n="85" d="100"/>
        </p:scale>
        <p:origin x="72" y="586"/>
      </p:cViewPr>
      <p:guideLst>
        <p:guide orient="horz" pos="2496"/>
        <p:guide orient="horz" pos="4032"/>
        <p:guide pos="5088"/>
        <p:guide pos="27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4" d="100"/>
          <a:sy n="124" d="100"/>
        </p:scale>
        <p:origin x="-3768" y="-12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665BBE-A07A-44B2-A490-B7B97CC6A100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97807181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>
              <a:defRPr b="0">
                <a:latin typeface="Arial" pitchFamily="34" charset="0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528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b="0">
                <a:latin typeface="Arial" pitchFamily="34" charset="0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34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360" y="4560570"/>
            <a:ext cx="536448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14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>
              <a:defRPr b="0">
                <a:latin typeface="Arial" pitchFamily="34" charset="0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5280" y="912114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b="0">
                <a:latin typeface="Arial" pitchFamily="34" charset="0"/>
              </a:defRPr>
            </a:lvl1pPr>
          </a:lstStyle>
          <a:p>
            <a:pPr>
              <a:defRPr/>
            </a:pPr>
            <a:fld id="{21FFB20A-EA9A-48E5-A99A-EB88C3141917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3956600171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 b="1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defRPr sz="1300" b="1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defRPr sz="1300" b="1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defRPr sz="1300" b="1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defRPr sz="1300" b="1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85633663-71CF-4417-8412-75E0336F224F}" type="slidenum">
              <a:rPr lang="en-US" altLang="fr-FR" b="0" smtClean="0"/>
              <a:pPr/>
              <a:t>1</a:t>
            </a:fld>
            <a:endParaRPr lang="en-US" altLang="fr-FR" b="0" dirty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fr-FR" altLang="fr-FR" dirty="0">
              <a:solidFill>
                <a:srgbClr val="000000"/>
              </a:solidFill>
            </a:endParaRPr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8888" y="720725"/>
            <a:ext cx="47974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D29D23-C3C1-4FCB-8730-A3CC4EFB9D6F}" type="slidenum">
              <a:rPr lang="en-CA" smtClean="0"/>
              <a:pPr/>
              <a:t>2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25973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83D1384-DFFE-43B3-BA44-E9392D580FC3}" type="slidenum">
              <a:rPr lang="fr-CH" smtClean="0"/>
              <a:pPr>
                <a:defRPr/>
              </a:pPr>
              <a:t>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78545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 b="1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defRPr sz="1300" b="1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defRPr sz="1300" b="1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defRPr sz="1300" b="1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defRPr sz="1300" b="1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39C7AF0B-9EFD-4981-A279-428E7B012CD9}" type="slidenum">
              <a:rPr lang="en-US" altLang="fr-FR" b="0" smtClean="0"/>
              <a:pPr/>
              <a:t>4</a:t>
            </a:fld>
            <a:endParaRPr lang="en-US" altLang="fr-FR" b="0" dirty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fr-CA" altLang="fr-FR" dirty="0">
              <a:solidFill>
                <a:srgbClr val="000000"/>
              </a:solidFill>
            </a:endParaRPr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 b="1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defRPr sz="1300" b="1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defRPr sz="1300" b="1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defRPr sz="1300" b="1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defRPr sz="1300" b="1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E0D84A2B-A78A-4D3F-8E84-3DF73F3B2BC0}" type="slidenum">
              <a:rPr lang="en-US" altLang="fr-FR" b="0" smtClean="0"/>
              <a:pPr/>
              <a:t>5</a:t>
            </a:fld>
            <a:endParaRPr lang="en-US" altLang="fr-FR" b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fr-FR" altLang="fr-FR">
              <a:solidFill>
                <a:srgbClr val="000000"/>
              </a:solidFill>
            </a:endParaRPr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 b="1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defRPr sz="1300" b="1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defRPr sz="1300" b="1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defRPr sz="1300" b="1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defRPr sz="1300" b="1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CDC09689-E799-4569-B805-67D00AEB78C4}" type="slidenum">
              <a:rPr lang="en-US" altLang="fr-FR" b="0" smtClean="0"/>
              <a:pPr/>
              <a:t>6</a:t>
            </a:fld>
            <a:endParaRPr lang="en-US" altLang="fr-FR" b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fr-FR" altLang="fr-FR">
              <a:solidFill>
                <a:srgbClr val="000000"/>
              </a:solidFill>
            </a:endParaRPr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 b="1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defRPr sz="1300" b="1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defRPr sz="1300" b="1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defRPr sz="1300" b="1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defRPr sz="1300" b="1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D410FA4D-665F-4A53-88A4-41EB79F1EA55}" type="slidenum">
              <a:rPr lang="en-US" altLang="fr-FR" b="0" smtClean="0"/>
              <a:pPr/>
              <a:t>7</a:t>
            </a:fld>
            <a:endParaRPr lang="en-US" altLang="fr-FR" b="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fr-FR" altLang="fr-FR">
              <a:solidFill>
                <a:srgbClr val="000000"/>
              </a:solidFill>
            </a:endParaRPr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 b="1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defRPr sz="1300" b="1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defRPr sz="1300" b="1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defRPr sz="1300" b="1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defRPr sz="1300" b="1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B26E3D2E-B404-417E-8CC0-3B20BC312131}" type="slidenum">
              <a:rPr lang="en-US" altLang="fr-FR" b="0" smtClean="0"/>
              <a:pPr/>
              <a:t>9</a:t>
            </a:fld>
            <a:endParaRPr lang="en-US" altLang="fr-FR" b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 b="1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defRPr sz="1300" b="1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defRPr sz="1300" b="1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defRPr sz="1300" b="1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defRPr sz="1300" b="1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1AA9AF57-1F04-40AE-A2C5-8BE580BC8DF0}" type="slidenum">
              <a:rPr lang="en-US" altLang="fr-FR" b="0" smtClean="0"/>
              <a:pPr/>
              <a:t>10</a:t>
            </a:fld>
            <a:endParaRPr lang="en-US" altLang="fr-FR" b="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fr-FR" altLang="fr-FR">
              <a:solidFill>
                <a:srgbClr val="000000"/>
              </a:solidFill>
            </a:endParaRPr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 b="1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defRPr sz="1300" b="1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defRPr sz="1300" b="1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defRPr sz="1300" b="1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defRPr sz="1300" b="1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9DCED293-417A-4B3D-B294-FDAD5FBD6481}" type="slidenum">
              <a:rPr lang="en-US" altLang="fr-FR" b="0" smtClean="0"/>
              <a:pPr/>
              <a:t>11</a:t>
            </a:fld>
            <a:endParaRPr lang="en-US" altLang="fr-FR" b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 b="1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defRPr sz="1300" b="1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defRPr sz="1300" b="1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defRPr sz="1300" b="1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defRPr sz="1300" b="1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DCB3788D-1450-4265-99FE-E4C55E376610}" type="slidenum">
              <a:rPr lang="en-US" altLang="fr-FR" b="0" smtClean="0"/>
              <a:pPr/>
              <a:t>12</a:t>
            </a:fld>
            <a:endParaRPr lang="en-US" altLang="fr-FR" b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 b="1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defRPr sz="1300" b="1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defRPr sz="1300" b="1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defRPr sz="1300" b="1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defRPr sz="1300" b="1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A3B542AC-3F34-4C1D-B8DF-A3A6D2FA20C2}" type="slidenum">
              <a:rPr lang="en-US" altLang="fr-FR" b="0" smtClean="0"/>
              <a:pPr/>
              <a:t>13</a:t>
            </a:fld>
            <a:endParaRPr lang="en-US" altLang="fr-FR" b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 b="1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defRPr sz="1300" b="1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defRPr sz="1300" b="1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defRPr sz="1300" b="1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defRPr sz="1300" b="1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43434A04-72E8-44D7-A1E5-8FE267107C5F}" type="slidenum">
              <a:rPr lang="en-US" altLang="fr-FR" b="0" smtClean="0"/>
              <a:pPr/>
              <a:t>14</a:t>
            </a:fld>
            <a:endParaRPr lang="en-US" altLang="fr-FR" b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 b="1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defRPr sz="1300" b="1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defRPr sz="1300" b="1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defRPr sz="1300" b="1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defRPr sz="1300" b="1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A2330360-08EE-44D2-8E37-FD023C435ABA}" type="slidenum">
              <a:rPr lang="en-US" altLang="fr-FR" b="0" smtClean="0"/>
              <a:pPr/>
              <a:t>15</a:t>
            </a:fld>
            <a:endParaRPr lang="en-US" altLang="fr-FR" b="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fr-FR" altLang="fr-FR">
              <a:solidFill>
                <a:srgbClr val="000000"/>
              </a:solidFill>
            </a:endParaRPr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 b="1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defRPr sz="1300" b="1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defRPr sz="1300" b="1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defRPr sz="1300" b="1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defRPr sz="1300" b="1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E425AB45-D65A-405C-B11D-D320998DC8DC}" type="slidenum">
              <a:rPr lang="en-US" altLang="fr-FR" b="0" smtClean="0"/>
              <a:pPr/>
              <a:t>16</a:t>
            </a:fld>
            <a:endParaRPr lang="en-US" altLang="fr-FR" b="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fr-FR" altLang="fr-FR">
              <a:solidFill>
                <a:srgbClr val="000000"/>
              </a:solidFill>
            </a:endParaRPr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 b="1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defRPr sz="1300" b="1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defRPr sz="1300" b="1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defRPr sz="1300" b="1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defRPr sz="1300" b="1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5A713A33-F1D2-4D90-BEF9-78D0902E00C0}" type="slidenum">
              <a:rPr lang="en-US" altLang="fr-FR" b="0" smtClean="0"/>
              <a:pPr/>
              <a:t>17</a:t>
            </a:fld>
            <a:endParaRPr lang="en-US" altLang="fr-FR" b="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fr-FR" altLang="fr-FR">
              <a:solidFill>
                <a:srgbClr val="000000"/>
              </a:solidFill>
            </a:endParaRPr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 dirty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 b="1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defRPr sz="1300" b="1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defRPr sz="1300" b="1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defRPr sz="1300" b="1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defRPr sz="1300" b="1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FB917E12-C285-4686-8970-63179CCA7416}" type="slidenum">
              <a:rPr lang="en-US" altLang="fr-FR" b="0" smtClean="0"/>
              <a:pPr/>
              <a:t>18</a:t>
            </a:fld>
            <a:endParaRPr lang="en-US" altLang="fr-FR" b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 b="1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defRPr sz="1300" b="1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defRPr sz="1300" b="1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defRPr sz="1300" b="1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defRPr sz="1300" b="1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FD73B880-0FBE-4B89-A3DA-55581F4766A6}" type="slidenum">
              <a:rPr lang="en-US" altLang="fr-FR" b="0" smtClean="0"/>
              <a:pPr/>
              <a:t>19</a:t>
            </a:fld>
            <a:endParaRPr lang="en-US" altLang="fr-FR" b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 b="1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defRPr sz="1300" b="1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defRPr sz="1300" b="1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defRPr sz="1300" b="1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defRPr sz="1300" b="1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8081AFEB-C872-4B5C-B8E4-1C24B6CAEF79}" type="slidenum">
              <a:rPr lang="en-US" altLang="fr-FR" b="0" smtClean="0"/>
              <a:pPr/>
              <a:t>20</a:t>
            </a:fld>
            <a:endParaRPr lang="en-US" altLang="fr-FR" b="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fr-FR" altLang="fr-FR">
              <a:solidFill>
                <a:srgbClr val="000000"/>
              </a:solidFill>
            </a:endParaRPr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 b="1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defRPr sz="1300" b="1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defRPr sz="1300" b="1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defRPr sz="1300" b="1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defRPr sz="1300" b="1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8B6CFFA2-57A4-4B0D-A7EB-AA4F1DF41F14}" type="slidenum">
              <a:rPr lang="en-US" altLang="fr-FR" b="0" smtClean="0"/>
              <a:pPr/>
              <a:t>21</a:t>
            </a:fld>
            <a:endParaRPr lang="en-US" altLang="fr-FR" b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 b="1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defRPr sz="1300" b="1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defRPr sz="1300" b="1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defRPr sz="1300" b="1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defRPr sz="1300" b="1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83381808-F72C-46BE-BCD6-9302D06D4298}" type="slidenum">
              <a:rPr lang="en-US" altLang="fr-FR" b="0" smtClean="0"/>
              <a:pPr/>
              <a:t>22</a:t>
            </a:fld>
            <a:endParaRPr lang="en-US" altLang="fr-FR" b="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fr-FR" altLang="fr-FR">
              <a:solidFill>
                <a:srgbClr val="000000"/>
              </a:solidFill>
            </a:endParaRPr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2"/>
            <a:endParaRPr lang="fr-FR" altLang="fr-FR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 b="1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defRPr sz="1300" b="1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defRPr sz="1300" b="1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defRPr sz="1300" b="1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defRPr sz="1300" b="1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F1330101-B169-4A55-B5D2-A629E02ABF30}" type="slidenum">
              <a:rPr lang="en-US" altLang="fr-FR" b="0" smtClean="0"/>
              <a:pPr/>
              <a:t>25</a:t>
            </a:fld>
            <a:endParaRPr lang="en-US" altLang="fr-FR" b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 b="1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defRPr sz="1300" b="1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defRPr sz="1300" b="1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defRPr sz="1300" b="1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defRPr sz="1300" b="1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0E3A72EE-EA59-4DC6-8F08-2B73C4A64CD2}" type="slidenum">
              <a:rPr lang="en-US" altLang="fr-FR" b="0" smtClean="0"/>
              <a:pPr/>
              <a:t>26</a:t>
            </a:fld>
            <a:endParaRPr lang="en-US" altLang="fr-FR" b="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fr-FR" altLang="fr-FR">
              <a:solidFill>
                <a:srgbClr val="000000"/>
              </a:solidFill>
            </a:endParaRPr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 b="1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defRPr sz="1300" b="1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defRPr sz="1300" b="1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defRPr sz="1300" b="1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defRPr sz="1300" b="1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2EB992D3-669B-4492-BABE-C7609C0C33EA}" type="slidenum">
              <a:rPr lang="en-US" altLang="fr-FR" b="0" smtClean="0"/>
              <a:pPr/>
              <a:t>27</a:t>
            </a:fld>
            <a:endParaRPr lang="en-US" altLang="fr-FR" b="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fr-FR" altLang="fr-FR">
              <a:solidFill>
                <a:srgbClr val="000000"/>
              </a:solidFill>
            </a:endParaRPr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 b="1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defRPr sz="1300" b="1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defRPr sz="1300" b="1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defRPr sz="1300" b="1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defRPr sz="1300" b="1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1DEB7B1C-1326-4121-BF41-B68AEC3B1A9D}" type="slidenum">
              <a:rPr lang="en-US" altLang="fr-FR" b="0" smtClean="0"/>
              <a:pPr/>
              <a:t>28</a:t>
            </a:fld>
            <a:endParaRPr lang="en-US" altLang="fr-FR" b="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fr-FR" altLang="fr-FR">
              <a:solidFill>
                <a:srgbClr val="000000"/>
              </a:solidFill>
            </a:endParaRPr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 b="1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defRPr sz="1300" b="1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defRPr sz="1300" b="1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defRPr sz="1300" b="1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defRPr sz="1300" b="1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E75FF6B6-FC67-4E4B-8849-F1B382CFE110}" type="slidenum">
              <a:rPr lang="en-US" altLang="fr-FR" b="0" smtClean="0"/>
              <a:pPr/>
              <a:t>29</a:t>
            </a:fld>
            <a:endParaRPr lang="en-US" altLang="fr-FR" b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 b="1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defRPr sz="1300" b="1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defRPr sz="1300" b="1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defRPr sz="1300" b="1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defRPr sz="1300" b="1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480B84D8-0905-48F4-BB10-57AC7A791B68}" type="slidenum">
              <a:rPr lang="en-US" altLang="fr-FR" b="0" smtClean="0"/>
              <a:pPr/>
              <a:t>30</a:t>
            </a:fld>
            <a:endParaRPr lang="en-US" altLang="fr-FR" b="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fr-FR" altLang="fr-FR">
              <a:solidFill>
                <a:srgbClr val="000000"/>
              </a:solidFill>
            </a:endParaRPr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 b="1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defRPr sz="1300" b="1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defRPr sz="1300" b="1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defRPr sz="1300" b="1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defRPr sz="1300" b="1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AD4F6B5B-D93C-431C-BD7E-75317DAD6CC4}" type="slidenum">
              <a:rPr lang="en-US" altLang="fr-FR" b="0" smtClean="0"/>
              <a:pPr/>
              <a:t>31</a:t>
            </a:fld>
            <a:endParaRPr lang="en-US" altLang="fr-FR" b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 b="1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defRPr sz="1300" b="1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defRPr sz="1300" b="1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defRPr sz="1300" b="1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defRPr sz="1300" b="1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E11A5742-56F3-4ABB-9787-54A640E328B0}" type="slidenum">
              <a:rPr lang="en-US" altLang="fr-FR" b="0" smtClean="0"/>
              <a:pPr/>
              <a:t>32</a:t>
            </a:fld>
            <a:endParaRPr lang="en-US" altLang="fr-FR" b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fr-FR" altLang="fr-FR">
              <a:solidFill>
                <a:srgbClr val="000000"/>
              </a:solidFill>
            </a:endParaRPr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 b="1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defRPr sz="1300" b="1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defRPr sz="1300" b="1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defRPr sz="1300" b="1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defRPr sz="1300" b="1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9C4DF9C9-97D8-49DF-9DFA-75052241422F}" type="slidenum">
              <a:rPr lang="en-US" altLang="fr-FR" b="0" smtClean="0"/>
              <a:pPr/>
              <a:t>33</a:t>
            </a:fld>
            <a:endParaRPr lang="en-US" altLang="fr-FR" b="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fr-FR" altLang="fr-FR">
              <a:solidFill>
                <a:srgbClr val="000000"/>
              </a:solidFill>
            </a:endParaRPr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3"/>
            <a:endParaRPr lang="en-CA" altLang="fr-FR" dirty="0"/>
          </a:p>
          <a:p>
            <a:endParaRPr lang="en-US" altLang="fr-FR" dirty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 b="1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defRPr sz="1300" b="1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defRPr sz="1300" b="1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defRPr sz="1300" b="1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defRPr sz="1300" b="1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BA04DB93-8EF3-4ECD-9E6D-2C9C35022A54}" type="slidenum">
              <a:rPr lang="en-US" altLang="fr-FR" b="0" smtClean="0"/>
              <a:pPr/>
              <a:t>34</a:t>
            </a:fld>
            <a:endParaRPr lang="en-US" altLang="fr-FR" b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 b="1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defRPr sz="1300" b="1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defRPr sz="1300" b="1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defRPr sz="1300" b="1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defRPr sz="1300" b="1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F060D1ED-7CD3-41AE-A26E-EF4957D2AE6F}" type="slidenum">
              <a:rPr lang="en-US" altLang="fr-FR" b="0" smtClean="0"/>
              <a:pPr/>
              <a:t>35</a:t>
            </a:fld>
            <a:endParaRPr lang="en-US" altLang="fr-FR" b="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fr-FR" altLang="fr-FR">
              <a:solidFill>
                <a:srgbClr val="000000"/>
              </a:solidFill>
            </a:endParaRPr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fr-FR" alt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0"/>
            <a:ext cx="9144000" cy="6096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defRPr/>
            </a:pPr>
            <a:endParaRPr lang="fr-FR" altLang="fr-FR"/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365125" y="44450"/>
            <a:ext cx="8001000" cy="519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2800" b="0">
                <a:solidFill>
                  <a:schemeClr val="bg1"/>
                </a:solidFill>
              </a:rPr>
              <a:t>Chapter X Lecture</a:t>
            </a:r>
          </a:p>
        </p:txBody>
      </p:sp>
      <p:sp>
        <p:nvSpPr>
          <p:cNvPr id="6" name="Rectangle 8"/>
          <p:cNvSpPr>
            <a:spLocks noChangeArrowheads="1"/>
          </p:cNvSpPr>
          <p:nvPr userDrawn="1"/>
        </p:nvSpPr>
        <p:spPr bwMode="gray">
          <a:xfrm>
            <a:off x="0" y="6400800"/>
            <a:ext cx="9144000" cy="4572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 sz="12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defRPr/>
            </a:pPr>
            <a:endParaRPr lang="fr-FR" altLang="fr-FR"/>
          </a:p>
        </p:txBody>
      </p:sp>
      <p:sp>
        <p:nvSpPr>
          <p:cNvPr id="7" name="Picture 11" descr="Pearson_Bound_White"/>
          <p:cNvSpPr>
            <a:spLocks noChangeAspect="1" noChangeArrowheads="1"/>
          </p:cNvSpPr>
          <p:nvPr userDrawn="1"/>
        </p:nvSpPr>
        <p:spPr bwMode="auto">
          <a:xfrm>
            <a:off x="7612063" y="6356350"/>
            <a:ext cx="1528762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defRPr/>
            </a:pPr>
            <a:endParaRPr lang="fr-CA" altLang="fr-FR"/>
          </a:p>
        </p:txBody>
      </p:sp>
      <p:sp>
        <p:nvSpPr>
          <p:cNvPr id="8" name="Picture 12" descr="Pearson_Strap_Bound_White"/>
          <p:cNvSpPr>
            <a:spLocks noChangeAspect="1" noChangeArrowheads="1"/>
          </p:cNvSpPr>
          <p:nvPr userDrawn="1"/>
        </p:nvSpPr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defRPr/>
            </a:pPr>
            <a:endParaRPr lang="fr-CA" altLang="fr-FR"/>
          </a:p>
        </p:txBody>
      </p:sp>
      <p:sp>
        <p:nvSpPr>
          <p:cNvPr id="9" name="Line 14"/>
          <p:cNvSpPr>
            <a:spLocks noChangeShapeType="1"/>
          </p:cNvSpPr>
          <p:nvPr userDrawn="1"/>
        </p:nvSpPr>
        <p:spPr bwMode="gray">
          <a:xfrm>
            <a:off x="0" y="6397625"/>
            <a:ext cx="9139238" cy="0"/>
          </a:xfrm>
          <a:prstGeom prst="line">
            <a:avLst/>
          </a:prstGeom>
          <a:noFill/>
          <a:ln w="635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63114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3077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41208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03841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fr-FR"/>
              <a:t>Click to edit Master title style</a:t>
            </a:r>
          </a:p>
        </p:txBody>
      </p:sp>
      <p:sp>
        <p:nvSpPr>
          <p:cNvPr id="3091" name="Rectangle 19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87313" y="6553200"/>
            <a:ext cx="5399087" cy="17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900" b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fr-CA" altLang="en-US"/>
              <a:t>© Pearson ERPI, tous droits réservés.</a:t>
            </a:r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33" r:id="rId1"/>
    <p:sldLayoutId id="2147484223" r:id="rId2"/>
    <p:sldLayoutId id="2147484234" r:id="rId3"/>
    <p:sldLayoutId id="2147484235" r:id="rId4"/>
  </p:sldLayoutIdLst>
  <p:hf sldNum="0" hdr="0" dt="0"/>
  <p:txStyles>
    <p:titleStyle>
      <a:lvl1pPr algn="l" rtl="0" eaLnBrk="0" fontAlgn="base" hangingPunct="0">
        <a:spcBef>
          <a:spcPct val="50000"/>
        </a:spcBef>
        <a:spcAft>
          <a:spcPct val="0"/>
        </a:spcAft>
        <a:defRPr sz="2000">
          <a:solidFill>
            <a:schemeClr val="tx1"/>
          </a:solidFill>
          <a:latin typeface="+mj-lt"/>
          <a:ea typeface="Arial" charset="0"/>
          <a:cs typeface="+mj-cs"/>
        </a:defRPr>
      </a:lvl1pPr>
      <a:lvl2pPr algn="l" rtl="0" eaLnBrk="0" fontAlgn="base" hangingPunct="0">
        <a:spcBef>
          <a:spcPct val="50000"/>
        </a:spcBef>
        <a:spcAft>
          <a:spcPct val="0"/>
        </a:spcAft>
        <a:defRPr sz="20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algn="l" rtl="0" eaLnBrk="0" fontAlgn="base" hangingPunct="0">
        <a:spcBef>
          <a:spcPct val="50000"/>
        </a:spcBef>
        <a:spcAft>
          <a:spcPct val="0"/>
        </a:spcAft>
        <a:defRPr sz="20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algn="l" rtl="0" eaLnBrk="0" fontAlgn="base" hangingPunct="0">
        <a:spcBef>
          <a:spcPct val="50000"/>
        </a:spcBef>
        <a:spcAft>
          <a:spcPct val="0"/>
        </a:spcAft>
        <a:defRPr sz="20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algn="l" rtl="0" eaLnBrk="0" fontAlgn="base" hangingPunct="0">
        <a:spcBef>
          <a:spcPct val="50000"/>
        </a:spcBef>
        <a:spcAft>
          <a:spcPct val="0"/>
        </a:spcAft>
        <a:defRPr sz="20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457200" algn="l" rtl="0" fontAlgn="base">
        <a:spcBef>
          <a:spcPct val="50000"/>
        </a:spcBef>
        <a:spcAft>
          <a:spcPct val="0"/>
        </a:spcAft>
        <a:defRPr sz="20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50000"/>
        </a:spcBef>
        <a:spcAft>
          <a:spcPct val="0"/>
        </a:spcAft>
        <a:defRPr sz="20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50000"/>
        </a:spcBef>
        <a:spcAft>
          <a:spcPct val="0"/>
        </a:spcAft>
        <a:defRPr sz="20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50000"/>
        </a:spcBef>
        <a:spcAft>
          <a:spcPct val="0"/>
        </a:spcAft>
        <a:defRPr sz="20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18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0"/>
            <a:ext cx="7696200" cy="1077218"/>
          </a:xfrm>
          <a:noFill/>
        </p:spPr>
        <p:txBody>
          <a:bodyPr/>
          <a:lstStyle/>
          <a:p>
            <a:pPr algn="ctr">
              <a:spcBef>
                <a:spcPts val="600"/>
              </a:spcBef>
            </a:pPr>
            <a:r>
              <a:rPr lang="fr-CA" altLang="en-US" sz="3200" dirty="0">
                <a:solidFill>
                  <a:srgbClr val="0000FF"/>
                </a:solidFill>
              </a:rPr>
              <a:t>Section 6.1</a:t>
            </a:r>
            <a:br>
              <a:rPr lang="fr-CA" altLang="en-US" sz="3200" dirty="0">
                <a:solidFill>
                  <a:srgbClr val="0000FF"/>
                </a:solidFill>
              </a:rPr>
            </a:br>
            <a:r>
              <a:rPr lang="fr-CA" altLang="en-US" sz="3200" dirty="0">
                <a:solidFill>
                  <a:srgbClr val="0000FF"/>
                </a:solidFill>
              </a:rPr>
              <a:t>Anatomie des vaisseaux sanguins</a:t>
            </a:r>
            <a:endParaRPr lang="fr-CA" altLang="en-US" dirty="0">
              <a:solidFill>
                <a:srgbClr val="0000FF"/>
              </a:solidFill>
            </a:endParaRPr>
          </a:p>
        </p:txBody>
      </p:sp>
      <p:sp>
        <p:nvSpPr>
          <p:cNvPr id="3076" name="Rectangle 25"/>
          <p:cNvSpPr>
            <a:spLocks noChangeArrowheads="1"/>
          </p:cNvSpPr>
          <p:nvPr/>
        </p:nvSpPr>
        <p:spPr bwMode="auto">
          <a:xfrm>
            <a:off x="6465888" y="3841750"/>
            <a:ext cx="1841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endParaRPr lang="fr-CA" altLang="fr-FR" dirty="0"/>
          </a:p>
        </p:txBody>
      </p:sp>
      <p:pic>
        <p:nvPicPr>
          <p:cNvPr id="3077" name="Picture 26" descr="system connections_19_01_labeled"/>
          <p:cNvPicPr preferRelativeResize="0"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69"/>
          <a:stretch>
            <a:fillRect/>
          </a:stretch>
        </p:blipFill>
        <p:spPr bwMode="auto">
          <a:xfrm>
            <a:off x="3435031" y="1219200"/>
            <a:ext cx="2359645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954223" y="5212278"/>
            <a:ext cx="496161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717550" indent="-717550"/>
            <a:r>
              <a:rPr lang="fr-CA" altLang="en-US" sz="1800" b="0" dirty="0">
                <a:solidFill>
                  <a:srgbClr val="0000FF"/>
                </a:solidFill>
              </a:rPr>
              <a:t>6.1.1	La circulation pulmonaire</a:t>
            </a:r>
          </a:p>
          <a:p>
            <a:pPr marL="717550" indent="-717550"/>
            <a:r>
              <a:rPr lang="fr-CA" altLang="en-US" sz="1800" b="0" dirty="0">
                <a:solidFill>
                  <a:srgbClr val="0000FF"/>
                </a:solidFill>
              </a:rPr>
              <a:t>6.1.2	Les artères de la circulation systémique</a:t>
            </a:r>
          </a:p>
          <a:p>
            <a:pPr marL="717550" indent="-717550"/>
            <a:r>
              <a:rPr lang="fr-CA" altLang="en-US" sz="1800" b="0" dirty="0">
                <a:solidFill>
                  <a:srgbClr val="0000FF"/>
                </a:solidFill>
              </a:rPr>
              <a:t>6.1.3	Les veines de la circulation systémique</a:t>
            </a: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457200" y="4572000"/>
            <a:ext cx="8686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447675" indent="-447675"/>
            <a:r>
              <a:rPr lang="fr-CA" altLang="en-US" sz="1800" b="0" dirty="0">
                <a:solidFill>
                  <a:srgbClr val="0000FF"/>
                </a:solidFill>
              </a:rPr>
              <a:t>6.1	Identifier les principales artères et veines du système cardio­­vasculaire</a:t>
            </a:r>
          </a:p>
          <a:p>
            <a:pPr marL="447675" indent="-447675"/>
            <a:r>
              <a:rPr lang="fr-CA" altLang="en-US" sz="1800" b="0" dirty="0">
                <a:solidFill>
                  <a:srgbClr val="0000FF"/>
                </a:solidFill>
              </a:rPr>
              <a:t>	Chapitre 19, p. 846-870 (6</a:t>
            </a:r>
            <a:r>
              <a:rPr lang="fr-CA" altLang="en-US" sz="1800" b="0" baseline="30000" dirty="0">
                <a:solidFill>
                  <a:srgbClr val="0000FF"/>
                </a:solidFill>
              </a:rPr>
              <a:t>ème</a:t>
            </a:r>
            <a:r>
              <a:rPr lang="fr-CA" altLang="en-US" sz="1800" b="0" dirty="0">
                <a:solidFill>
                  <a:srgbClr val="0000FF"/>
                </a:solidFill>
              </a:rPr>
              <a:t> éd.) ou </a:t>
            </a:r>
            <a:r>
              <a:rPr lang="fr-CA" altLang="en-US" sz="1800" b="0" i="1" dirty="0">
                <a:solidFill>
                  <a:srgbClr val="0000FF"/>
                </a:solidFill>
              </a:rPr>
              <a:t>849-872 (5</a:t>
            </a:r>
            <a:r>
              <a:rPr lang="fr-CA" altLang="en-US" sz="1800" b="0" i="1" baseline="30000" dirty="0">
                <a:solidFill>
                  <a:srgbClr val="0000FF"/>
                </a:solidFill>
              </a:rPr>
              <a:t>ème</a:t>
            </a:r>
            <a:r>
              <a:rPr lang="fr-CA" altLang="en-US" sz="1800" b="0" i="1" dirty="0">
                <a:solidFill>
                  <a:srgbClr val="0000FF"/>
                </a:solidFill>
              </a:rPr>
              <a:t> éd.</a:t>
            </a:r>
            <a:r>
              <a:rPr lang="fr-CA" altLang="en-US" sz="1800" b="0" dirty="0">
                <a:solidFill>
                  <a:srgbClr val="0000FF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47" name="Text Box 27"/>
          <p:cNvSpPr txBox="1">
            <a:spLocks noChangeArrowheads="1"/>
          </p:cNvSpPr>
          <p:nvPr/>
        </p:nvSpPr>
        <p:spPr bwMode="auto">
          <a:xfrm>
            <a:off x="223666" y="888792"/>
            <a:ext cx="5181600" cy="318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365125" indent="-185738"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>
              <a:defRPr>
                <a:solidFill>
                  <a:schemeClr val="tx1"/>
                </a:solidFill>
                <a:latin typeface="Arial" charset="0"/>
              </a:defRPr>
            </a:lvl4pPr>
            <a:lvl5pPr>
              <a:defRPr>
                <a:solidFill>
                  <a:schemeClr val="tx1"/>
                </a:solidFill>
                <a:latin typeface="Arial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sz="1600" dirty="0"/>
              <a:t>Le cœur pompe le sang vers deux circuits en série:</a:t>
            </a:r>
          </a:p>
          <a:p>
            <a:pPr marL="271463" indent="-271463">
              <a:spcBef>
                <a:spcPts val="600"/>
              </a:spcBef>
            </a:pPr>
            <a:r>
              <a:rPr lang="fr-CA" sz="1600" b="1" dirty="0"/>
              <a:t>i)	</a:t>
            </a:r>
            <a:r>
              <a:rPr lang="fr-CA" sz="1600" b="1" i="1" dirty="0"/>
              <a:t>Circulation pulmonaire </a:t>
            </a:r>
            <a:r>
              <a:rPr lang="fr-CA" sz="1600" b="1" dirty="0"/>
              <a:t>:</a:t>
            </a:r>
          </a:p>
          <a:p>
            <a:pPr marL="541338" lvl="1" indent="-269875">
              <a:spcBef>
                <a:spcPts val="200"/>
              </a:spcBef>
              <a:buFont typeface="Arial" pitchFamily="34" charset="0"/>
              <a:buChar char="−"/>
            </a:pPr>
            <a:r>
              <a:rPr lang="fr-CA" sz="1600" b="0" dirty="0"/>
              <a:t>Assurée par le </a:t>
            </a:r>
            <a:r>
              <a:rPr lang="fr-CA" sz="1600" b="0" u="sng" dirty="0"/>
              <a:t>côté droit</a:t>
            </a:r>
            <a:r>
              <a:rPr lang="fr-CA" sz="1600" b="0" dirty="0"/>
              <a:t> du cœur</a:t>
            </a:r>
          </a:p>
          <a:p>
            <a:pPr marL="541338" lvl="1" indent="-269875">
              <a:spcBef>
                <a:spcPts val="200"/>
              </a:spcBef>
              <a:buFont typeface="Arial" pitchFamily="34" charset="0"/>
              <a:buChar char="−"/>
            </a:pPr>
            <a:r>
              <a:rPr lang="fr-CA" sz="1600" b="0" dirty="0"/>
              <a:t>Achemine le sang vers les poumons pour oxygénation</a:t>
            </a:r>
          </a:p>
          <a:p>
            <a:pPr marL="541338" lvl="1" indent="-269875">
              <a:spcBef>
                <a:spcPts val="200"/>
              </a:spcBef>
              <a:buFont typeface="Arial" pitchFamily="34" charset="0"/>
              <a:buChar char="−"/>
            </a:pPr>
            <a:r>
              <a:rPr lang="fr-CA" sz="1600" b="0" i="1" dirty="0"/>
              <a:t>Petite circulation</a:t>
            </a:r>
          </a:p>
          <a:p>
            <a:pPr marL="271463" indent="-271463">
              <a:spcBef>
                <a:spcPts val="1200"/>
              </a:spcBef>
            </a:pPr>
            <a:r>
              <a:rPr lang="fr-CA" sz="1600" b="1" dirty="0"/>
              <a:t>ii)	</a:t>
            </a:r>
            <a:r>
              <a:rPr lang="fr-CA" sz="1600" b="1" i="1" dirty="0"/>
              <a:t>Circulation systémique </a:t>
            </a:r>
            <a:r>
              <a:rPr lang="fr-CA" sz="1600" b="1" dirty="0"/>
              <a:t>: </a:t>
            </a:r>
          </a:p>
          <a:p>
            <a:pPr marL="541338" lvl="1" indent="-269875">
              <a:spcBef>
                <a:spcPts val="200"/>
              </a:spcBef>
              <a:buFont typeface="Arial" pitchFamily="34" charset="0"/>
              <a:buChar char="−"/>
            </a:pPr>
            <a:r>
              <a:rPr lang="fr-CA" sz="1600" b="0" dirty="0"/>
              <a:t>Assurée par le </a:t>
            </a:r>
            <a:r>
              <a:rPr lang="fr-CA" sz="1600" b="0" u="sng" dirty="0"/>
              <a:t>côté gauche</a:t>
            </a:r>
            <a:r>
              <a:rPr lang="fr-CA" sz="1600" b="0" dirty="0"/>
              <a:t> du cœur</a:t>
            </a:r>
          </a:p>
          <a:p>
            <a:pPr marL="541338" lvl="1" indent="-269875">
              <a:spcBef>
                <a:spcPts val="200"/>
              </a:spcBef>
              <a:buFont typeface="Arial" pitchFamily="34" charset="0"/>
              <a:buChar char="−"/>
            </a:pPr>
            <a:r>
              <a:rPr lang="fr-CA" sz="1600" b="0" dirty="0"/>
              <a:t>Achemine le sang oxygéné vers l’ensemble des tissus de l’organisme</a:t>
            </a:r>
          </a:p>
          <a:p>
            <a:pPr marL="541338" lvl="1" indent="-269875">
              <a:spcBef>
                <a:spcPts val="200"/>
              </a:spcBef>
              <a:buFont typeface="Arial" pitchFamily="34" charset="0"/>
              <a:buChar char="−"/>
            </a:pPr>
            <a:r>
              <a:rPr lang="fr-CA" sz="1600" b="0" i="1" dirty="0"/>
              <a:t>Grande circulation</a:t>
            </a:r>
            <a:endParaRPr lang="fr-CA" sz="1600" b="0" dirty="0"/>
          </a:p>
        </p:txBody>
      </p:sp>
      <p:pic>
        <p:nvPicPr>
          <p:cNvPr id="110594" name="Picture 2" descr="http://cw2.erpi.com/cw/marieb/userfiles/07_Fig_18_5_p_773.jpg"/>
          <p:cNvPicPr>
            <a:picLocks noChangeAspect="1" noChangeArrowheads="1"/>
          </p:cNvPicPr>
          <p:nvPr/>
        </p:nvPicPr>
        <p:blipFill>
          <a:blip r:embed="rId3" cstate="print"/>
          <a:srcRect l="4021" t="1890" r="4021" b="19654"/>
          <a:stretch>
            <a:fillRect/>
          </a:stretch>
        </p:blipFill>
        <p:spPr bwMode="auto">
          <a:xfrm>
            <a:off x="5465020" y="152400"/>
            <a:ext cx="3429000" cy="6224903"/>
          </a:xfrm>
          <a:prstGeom prst="rect">
            <a:avLst/>
          </a:prstGeom>
          <a:noFill/>
        </p:spPr>
      </p:pic>
      <p:sp>
        <p:nvSpPr>
          <p:cNvPr id="107524" name="Text Box 4"/>
          <p:cNvSpPr txBox="1">
            <a:spLocks noChangeArrowheads="1"/>
          </p:cNvSpPr>
          <p:nvPr/>
        </p:nvSpPr>
        <p:spPr bwMode="auto">
          <a:xfrm>
            <a:off x="228600" y="152400"/>
            <a:ext cx="57912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898525" indent="-898525">
              <a:defRPr>
                <a:solidFill>
                  <a:schemeClr val="tx1"/>
                </a:solidFill>
                <a:latin typeface="Arial" charset="0"/>
              </a:defRPr>
            </a:lvl1pPr>
            <a:lvl2pPr marL="1263650" indent="-185738">
              <a:defRPr>
                <a:solidFill>
                  <a:schemeClr val="tx1"/>
                </a:solidFill>
                <a:latin typeface="Arial" charset="0"/>
              </a:defRPr>
            </a:lvl2pPr>
            <a:lvl3pPr marL="1443038">
              <a:defRPr>
                <a:solidFill>
                  <a:schemeClr val="tx1"/>
                </a:solidFill>
                <a:latin typeface="Arial" charset="0"/>
              </a:defRPr>
            </a:lvl3pPr>
            <a:lvl4pPr marL="1622425">
              <a:defRPr>
                <a:solidFill>
                  <a:schemeClr val="tx1"/>
                </a:solidFill>
                <a:latin typeface="Arial" charset="0"/>
              </a:defRPr>
            </a:lvl4pPr>
            <a:lvl5pPr>
              <a:defRPr>
                <a:solidFill>
                  <a:schemeClr val="tx1"/>
                </a:solidFill>
                <a:latin typeface="Arial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0" hangingPunct="0"/>
            <a:r>
              <a:rPr lang="fr-FR" sz="2000" b="1" u="sng" dirty="0">
                <a:solidFill>
                  <a:srgbClr val="0000FF"/>
                </a:solidFill>
              </a:rPr>
              <a:t>Le trajet du sang dans les circulations pulmonaire et systémique</a:t>
            </a:r>
            <a:endParaRPr lang="fr-FR" sz="2000" dirty="0">
              <a:solidFill>
                <a:srgbClr val="0000FF"/>
              </a:solidFill>
            </a:endParaRPr>
          </a:p>
        </p:txBody>
      </p:sp>
      <p:sp>
        <p:nvSpPr>
          <p:cNvPr id="107548" name="Text Box 28"/>
          <p:cNvSpPr txBox="1">
            <a:spLocks noChangeArrowheads="1"/>
          </p:cNvSpPr>
          <p:nvPr/>
        </p:nvSpPr>
        <p:spPr bwMode="auto">
          <a:xfrm>
            <a:off x="8153400" y="6060207"/>
            <a:ext cx="880369" cy="307777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r-CA" sz="1400" b="0" dirty="0">
                <a:solidFill>
                  <a:srgbClr val="0000FF"/>
                </a:solidFill>
              </a:rPr>
              <a:t>Fig. 18.1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6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145273" y="973663"/>
            <a:ext cx="3724053" cy="329353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69875" indent="-269875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fr-CA" sz="1600" dirty="0">
                <a:latin typeface="Arial" charset="0"/>
              </a:rPr>
              <a:t>Le sang est transporté dans un circuit fermé de vaisseaux qui commence et se termine au cœur.</a:t>
            </a:r>
          </a:p>
          <a:p>
            <a:pPr marL="269875" indent="-269875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fr-CA" sz="1600" dirty="0">
                <a:latin typeface="Arial" charset="0"/>
              </a:rPr>
              <a:t>Les 3 types majeurs de vaisseaux : </a:t>
            </a:r>
          </a:p>
          <a:p>
            <a:pPr marL="447675" lvl="1" indent="-168275">
              <a:spcBef>
                <a:spcPts val="300"/>
              </a:spcBef>
              <a:buSzPct val="80000"/>
              <a:buFont typeface="Wingdings" pitchFamily="2" charset="2"/>
              <a:buChar char="§"/>
            </a:pPr>
            <a:r>
              <a:rPr lang="fr-CA" sz="1600" b="1" dirty="0">
                <a:latin typeface="Arial" charset="0"/>
              </a:rPr>
              <a:t>Artères: </a:t>
            </a:r>
            <a:r>
              <a:rPr lang="fr-CA" sz="1600" dirty="0">
                <a:latin typeface="Arial" charset="0"/>
              </a:rPr>
              <a:t>transportent le sang du cœur jusqu’aux tissus </a:t>
            </a:r>
          </a:p>
          <a:p>
            <a:pPr marL="447675" lvl="1" indent="-168275">
              <a:spcBef>
                <a:spcPts val="300"/>
              </a:spcBef>
              <a:buSzPct val="80000"/>
              <a:buFont typeface="Wingdings" pitchFamily="2" charset="2"/>
              <a:buChar char="§"/>
            </a:pPr>
            <a:r>
              <a:rPr lang="fr-CA" sz="1600" b="1" dirty="0">
                <a:latin typeface="Arial" charset="0"/>
              </a:rPr>
              <a:t>Veines: </a:t>
            </a:r>
            <a:r>
              <a:rPr lang="fr-CA" sz="1600" dirty="0">
                <a:latin typeface="Arial" charset="0"/>
              </a:rPr>
              <a:t>transportent le sang des tissus jusqu’au cœur</a:t>
            </a:r>
          </a:p>
          <a:p>
            <a:pPr marL="447675" lvl="1" indent="-168275">
              <a:spcBef>
                <a:spcPts val="300"/>
              </a:spcBef>
              <a:buSzPct val="80000"/>
              <a:buFont typeface="Wingdings" pitchFamily="2" charset="2"/>
              <a:buChar char="§"/>
            </a:pPr>
            <a:r>
              <a:rPr lang="fr-CA" sz="1600" b="1" dirty="0">
                <a:latin typeface="Arial" charset="0"/>
              </a:rPr>
              <a:t>Capillaires: </a:t>
            </a:r>
            <a:r>
              <a:rPr lang="fr-CA" sz="1600" dirty="0">
                <a:latin typeface="Arial" charset="0"/>
              </a:rPr>
              <a:t>en contact avec les tissus; permettent les échanges entre le sang et le liquide interstitiel.</a:t>
            </a:r>
          </a:p>
          <a:p>
            <a:pPr marL="468313" lvl="1" indent="-168275">
              <a:spcBef>
                <a:spcPts val="300"/>
              </a:spcBef>
              <a:buSzPct val="80000"/>
              <a:buFont typeface="Wingdings" pitchFamily="2" charset="2"/>
              <a:buChar char="§"/>
            </a:pPr>
            <a:endParaRPr lang="fr-CA" sz="1600" dirty="0">
              <a:latin typeface="Arial" charset="0"/>
            </a:endParaRPr>
          </a:p>
        </p:txBody>
      </p: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115122" y="168757"/>
            <a:ext cx="3724053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SzPct val="110000"/>
            </a:pPr>
            <a:r>
              <a:rPr lang="fr-CA" sz="2000" i="0" u="sng" dirty="0">
                <a:solidFill>
                  <a:srgbClr val="0000FF"/>
                </a:solidFill>
                <a:latin typeface="Arial" charset="0"/>
              </a:rPr>
              <a:t>Caractéristiques générales du système vasculaire</a:t>
            </a:r>
          </a:p>
        </p:txBody>
      </p:sp>
      <p:pic>
        <p:nvPicPr>
          <p:cNvPr id="49" name="Content Placeholder 1">
            <a:extLst>
              <a:ext uri="{FF2B5EF4-FFF2-40B4-BE49-F238E27FC236}">
                <a16:creationId xmlns:a16="http://schemas.microsoft.com/office/drawing/2014/main" id="{756F017D-6F6F-4634-BDA5-D7430ACC7F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45" b="13325"/>
          <a:stretch/>
        </p:blipFill>
        <p:spPr>
          <a:xfrm>
            <a:off x="4022217" y="586324"/>
            <a:ext cx="5006661" cy="4866705"/>
          </a:xfrm>
          <a:prstGeom prst="rect">
            <a:avLst/>
          </a:prstGeom>
        </p:spPr>
      </p:pic>
      <p:sp>
        <p:nvSpPr>
          <p:cNvPr id="3080" name="Text Box 15"/>
          <p:cNvSpPr txBox="1">
            <a:spLocks noChangeArrowheads="1"/>
          </p:cNvSpPr>
          <p:nvPr/>
        </p:nvSpPr>
        <p:spPr bwMode="auto">
          <a:xfrm>
            <a:off x="6945141" y="198526"/>
            <a:ext cx="914400" cy="3877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rIns="0">
            <a:spAutoFit/>
          </a:bodyPr>
          <a:lstStyle/>
          <a:p>
            <a:pPr algn="ctr">
              <a:buFontTx/>
              <a:buNone/>
            </a:pPr>
            <a:r>
              <a:rPr lang="fr-CA" sz="1200" dirty="0">
                <a:solidFill>
                  <a:srgbClr val="FF0000"/>
                </a:solidFill>
                <a:latin typeface="Verdana" pitchFamily="34" charset="0"/>
              </a:rPr>
              <a:t>Réseau artériel</a:t>
            </a:r>
          </a:p>
        </p:txBody>
      </p:sp>
      <p:sp>
        <p:nvSpPr>
          <p:cNvPr id="3079" name="Text Box 14"/>
          <p:cNvSpPr txBox="1">
            <a:spLocks noChangeArrowheads="1"/>
          </p:cNvSpPr>
          <p:nvPr/>
        </p:nvSpPr>
        <p:spPr bwMode="auto">
          <a:xfrm>
            <a:off x="5036754" y="198526"/>
            <a:ext cx="701675" cy="3877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rIns="0">
            <a:spAutoFit/>
          </a:bodyPr>
          <a:lstStyle/>
          <a:p>
            <a:pPr algn="ctr">
              <a:buFontTx/>
              <a:buNone/>
            </a:pPr>
            <a:r>
              <a:rPr lang="fr-CA" sz="1200" dirty="0">
                <a:latin typeface="Verdana" pitchFamily="34" charset="0"/>
              </a:rPr>
              <a:t>Réseau veineux</a:t>
            </a:r>
          </a:p>
        </p:txBody>
      </p:sp>
      <p:sp>
        <p:nvSpPr>
          <p:cNvPr id="3091" name="Text Box 26"/>
          <p:cNvSpPr txBox="1">
            <a:spLocks noChangeArrowheads="1"/>
          </p:cNvSpPr>
          <p:nvPr/>
        </p:nvSpPr>
        <p:spPr bwMode="auto">
          <a:xfrm>
            <a:off x="78393" y="5026617"/>
            <a:ext cx="3597275" cy="523220"/>
          </a:xfrm>
          <a:prstGeom prst="rect">
            <a:avLst/>
          </a:prstGeom>
          <a:noFill/>
          <a:ln w="952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square" lIns="72000" rIns="72000">
            <a:spAutoFit/>
          </a:bodyPr>
          <a:lstStyle/>
          <a:p>
            <a:pPr marL="174625" indent="-174625">
              <a:lnSpc>
                <a:spcPct val="10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Char char="Ø"/>
            </a:pPr>
            <a:r>
              <a:rPr lang="fr-CA" sz="1400" b="0" dirty="0">
                <a:solidFill>
                  <a:srgbClr val="FF0000"/>
                </a:solidFill>
                <a:latin typeface="Arial" charset="0"/>
              </a:rPr>
              <a:t>Dans la circulation pulmonaire, quels vaisseaux transportent le sang oxygéné ?</a:t>
            </a:r>
          </a:p>
        </p:txBody>
      </p:sp>
      <p:sp>
        <p:nvSpPr>
          <p:cNvPr id="3076" name="Text Box 7"/>
          <p:cNvSpPr txBox="1">
            <a:spLocks noChangeArrowheads="1"/>
          </p:cNvSpPr>
          <p:nvPr/>
        </p:nvSpPr>
        <p:spPr bwMode="auto">
          <a:xfrm>
            <a:off x="8077200" y="5549837"/>
            <a:ext cx="914400" cy="314325"/>
          </a:xfrm>
          <a:prstGeom prst="rect">
            <a:avLst/>
          </a:prstGeom>
          <a:solidFill>
            <a:schemeClr val="bg1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1400" b="0" i="0" dirty="0">
                <a:solidFill>
                  <a:srgbClr val="0000FF"/>
                </a:solidFill>
                <a:latin typeface="Arial" charset="0"/>
              </a:rPr>
              <a:t>Fig. 19.1</a:t>
            </a:r>
            <a:endParaRPr lang="en-CA" sz="1400" b="0" i="0" dirty="0">
              <a:solidFill>
                <a:srgbClr val="0000FF"/>
              </a:solidFill>
              <a:latin typeface="Arial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figure_19_19_unlabel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t="44267" r="803" b="2705"/>
          <a:stretch>
            <a:fillRect/>
          </a:stretch>
        </p:blipFill>
        <p:spPr bwMode="auto">
          <a:xfrm>
            <a:off x="1558468" y="2535237"/>
            <a:ext cx="5684838" cy="351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70" name="TextBox 3"/>
          <p:cNvSpPr txBox="1">
            <a:spLocks noChangeArrowheads="1"/>
          </p:cNvSpPr>
          <p:nvPr/>
        </p:nvSpPr>
        <p:spPr bwMode="auto">
          <a:xfrm>
            <a:off x="304800" y="495245"/>
            <a:ext cx="8365331" cy="1606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36000" rIns="0" bIns="36000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FR" altLang="fr-FR" sz="1500" b="0" u="sng" dirty="0">
                <a:solidFill>
                  <a:srgbClr val="000000"/>
                </a:solidFill>
              </a:rPr>
              <a:t>R</a:t>
            </a:r>
            <a:r>
              <a:rPr lang="fr-CA" altLang="fr-FR" sz="1500" b="0" u="sng" dirty="0">
                <a:solidFill>
                  <a:srgbClr val="000000"/>
                </a:solidFill>
              </a:rPr>
              <a:t>ôle principal de la</a:t>
            </a:r>
            <a:r>
              <a:rPr lang="fr-FR" altLang="fr-FR" sz="1500" b="0" u="sng" dirty="0">
                <a:solidFill>
                  <a:srgbClr val="000000"/>
                </a:solidFill>
              </a:rPr>
              <a:t> circulation pulmonaire</a:t>
            </a:r>
            <a:r>
              <a:rPr lang="fr-FR" altLang="fr-FR" sz="1500" b="0" dirty="0">
                <a:solidFill>
                  <a:srgbClr val="000000"/>
                </a:solidFill>
              </a:rPr>
              <a:t> : </a:t>
            </a:r>
          </a:p>
          <a:p>
            <a:pPr>
              <a:spcBef>
                <a:spcPts val="100"/>
              </a:spcBef>
            </a:pPr>
            <a:r>
              <a:rPr lang="fr-CA" altLang="fr-FR" sz="1500" b="0" dirty="0">
                <a:solidFill>
                  <a:srgbClr val="000000"/>
                </a:solidFill>
              </a:rPr>
              <a:t>Amener le sang en contact étroit avec les alvéoles des poumons et assurer les échanges gazeux. </a:t>
            </a:r>
          </a:p>
          <a:p>
            <a:pPr>
              <a:spcBef>
                <a:spcPts val="600"/>
              </a:spcBef>
            </a:pPr>
            <a:r>
              <a:rPr lang="fr-CA" altLang="fr-FR" sz="1500" b="0" u="sng" dirty="0">
                <a:solidFill>
                  <a:srgbClr val="000000"/>
                </a:solidFill>
              </a:rPr>
              <a:t>Trajet du sang dans la circulation pulmonaire</a:t>
            </a:r>
            <a:r>
              <a:rPr lang="fr-CA" altLang="fr-FR" sz="1500" b="0" dirty="0">
                <a:solidFill>
                  <a:srgbClr val="000000"/>
                </a:solidFill>
              </a:rPr>
              <a:t> : </a:t>
            </a:r>
          </a:p>
          <a:p>
            <a:pPr>
              <a:spcBef>
                <a:spcPts val="100"/>
              </a:spcBef>
            </a:pPr>
            <a:r>
              <a:rPr lang="fr-CA" altLang="fr-FR" sz="1500" b="0" dirty="0">
                <a:solidFill>
                  <a:srgbClr val="000000"/>
                </a:solidFill>
              </a:rPr>
              <a:t>Oreillette droite  </a:t>
            </a:r>
            <a:r>
              <a:rPr lang="fr-CA" altLang="fr-FR" sz="1600" b="0" dirty="0">
                <a:solidFill>
                  <a:srgbClr val="000000"/>
                </a:solidFill>
                <a:sym typeface="Wingdings" pitchFamily="2" charset="2"/>
              </a:rPr>
              <a:t></a:t>
            </a:r>
            <a:r>
              <a:rPr lang="fr-CA" altLang="fr-FR" sz="1500" b="0" dirty="0">
                <a:solidFill>
                  <a:srgbClr val="000000"/>
                </a:solidFill>
                <a:sym typeface="Wingdings" pitchFamily="2" charset="2"/>
              </a:rPr>
              <a:t>  Ventricule droit  </a:t>
            </a:r>
            <a:r>
              <a:rPr lang="fr-CA" altLang="fr-FR" sz="1600" b="0" dirty="0">
                <a:solidFill>
                  <a:srgbClr val="000000"/>
                </a:solidFill>
                <a:sym typeface="Wingdings" pitchFamily="2" charset="2"/>
              </a:rPr>
              <a:t></a:t>
            </a:r>
            <a:r>
              <a:rPr lang="fr-CA" altLang="fr-FR" sz="1500" b="0" dirty="0">
                <a:solidFill>
                  <a:srgbClr val="000000"/>
                </a:solidFill>
                <a:sym typeface="Wingdings" pitchFamily="2" charset="2"/>
              </a:rPr>
              <a:t>  Tronc pulmonaire  </a:t>
            </a:r>
            <a:r>
              <a:rPr lang="fr-CA" altLang="fr-FR" sz="1600" b="0" dirty="0">
                <a:solidFill>
                  <a:srgbClr val="000000"/>
                </a:solidFill>
                <a:sym typeface="Wingdings" pitchFamily="2" charset="2"/>
              </a:rPr>
              <a:t></a:t>
            </a:r>
            <a:r>
              <a:rPr lang="fr-CA" altLang="fr-FR" sz="1500" b="0" dirty="0">
                <a:solidFill>
                  <a:srgbClr val="000000"/>
                </a:solidFill>
                <a:sym typeface="Wingdings" pitchFamily="2" charset="2"/>
              </a:rPr>
              <a:t>  Artères pulmonaires droite ou gauche </a:t>
            </a:r>
            <a:r>
              <a:rPr lang="fr-CA" altLang="fr-FR" sz="1600" b="0" dirty="0">
                <a:solidFill>
                  <a:srgbClr val="000000"/>
                </a:solidFill>
                <a:sym typeface="Wingdings" pitchFamily="2" charset="2"/>
              </a:rPr>
              <a:t> </a:t>
            </a:r>
            <a:r>
              <a:rPr lang="fr-CA" altLang="fr-FR" sz="1400" b="0" dirty="0">
                <a:solidFill>
                  <a:srgbClr val="000000"/>
                </a:solidFill>
                <a:sym typeface="Wingdings" pitchFamily="2" charset="2"/>
              </a:rPr>
              <a:t> </a:t>
            </a:r>
            <a:r>
              <a:rPr lang="fr-CA" altLang="fr-FR" sz="1500" b="0" dirty="0">
                <a:solidFill>
                  <a:srgbClr val="000000"/>
                </a:solidFill>
                <a:sym typeface="Wingdings" pitchFamily="2" charset="2"/>
              </a:rPr>
              <a:t>Artères lobaires </a:t>
            </a:r>
            <a:r>
              <a:rPr lang="fr-CA" altLang="fr-FR" sz="1500" b="0" dirty="0"/>
              <a:t>(3 au poumon droit, 2 au poumon gauche)  </a:t>
            </a:r>
            <a:r>
              <a:rPr lang="fr-CA" altLang="fr-FR" sz="1600" b="0" dirty="0">
                <a:solidFill>
                  <a:srgbClr val="000000"/>
                </a:solidFill>
                <a:sym typeface="Wingdings" pitchFamily="2" charset="2"/>
              </a:rPr>
              <a:t></a:t>
            </a:r>
            <a:r>
              <a:rPr lang="fr-CA" altLang="fr-FR" sz="1500" b="0" dirty="0">
                <a:solidFill>
                  <a:srgbClr val="000000"/>
                </a:solidFill>
                <a:sym typeface="Wingdings" pitchFamily="2" charset="2"/>
              </a:rPr>
              <a:t>  Capillaires pulmonaires </a:t>
            </a:r>
            <a:r>
              <a:rPr lang="fr-CA" altLang="fr-FR" sz="1600" b="0" dirty="0">
                <a:solidFill>
                  <a:srgbClr val="000000"/>
                </a:solidFill>
                <a:sym typeface="Wingdings" pitchFamily="2" charset="2"/>
              </a:rPr>
              <a:t>  </a:t>
            </a:r>
            <a:r>
              <a:rPr lang="fr-CA" altLang="fr-FR" sz="1500" b="0" dirty="0">
                <a:solidFill>
                  <a:srgbClr val="000000"/>
                </a:solidFill>
                <a:sym typeface="Wingdings" pitchFamily="2" charset="2"/>
              </a:rPr>
              <a:t>Veines pulmonaires  </a:t>
            </a:r>
            <a:r>
              <a:rPr lang="fr-CA" altLang="fr-FR" sz="1600" b="0" dirty="0">
                <a:solidFill>
                  <a:srgbClr val="000000"/>
                </a:solidFill>
                <a:sym typeface="Wingdings" pitchFamily="2" charset="2"/>
              </a:rPr>
              <a:t></a:t>
            </a:r>
            <a:r>
              <a:rPr lang="fr-CA" altLang="fr-FR" sz="1500" b="0" dirty="0">
                <a:solidFill>
                  <a:srgbClr val="000000"/>
                </a:solidFill>
                <a:sym typeface="Wingdings" pitchFamily="2" charset="2"/>
              </a:rPr>
              <a:t>  Oreillette gauche</a:t>
            </a:r>
            <a:endParaRPr lang="fr-CA" altLang="fr-FR" sz="1500" b="0" dirty="0">
              <a:solidFill>
                <a:srgbClr val="000000"/>
              </a:solidFill>
            </a:endParaRPr>
          </a:p>
        </p:txBody>
      </p:sp>
      <p:sp>
        <p:nvSpPr>
          <p:cNvPr id="4099" name="Rectangle 18"/>
          <p:cNvSpPr>
            <a:spLocks noGrp="1" noChangeArrowheads="1"/>
          </p:cNvSpPr>
          <p:nvPr>
            <p:ph type="title" idx="4294967295"/>
          </p:nvPr>
        </p:nvSpPr>
        <p:spPr>
          <a:xfrm>
            <a:off x="5401806" y="5819775"/>
            <a:ext cx="3689350" cy="307777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fr-CA" altLang="fr-FR" sz="1400" dirty="0">
                <a:solidFill>
                  <a:srgbClr val="0000FF"/>
                </a:solidFill>
              </a:rPr>
              <a:t>Figure 19.21  Circulation pulmonaire</a:t>
            </a:r>
          </a:p>
        </p:txBody>
      </p:sp>
      <p:sp>
        <p:nvSpPr>
          <p:cNvPr id="4112" name="Text Box 30"/>
          <p:cNvSpPr txBox="1">
            <a:spLocks noChangeArrowheads="1"/>
          </p:cNvSpPr>
          <p:nvPr/>
        </p:nvSpPr>
        <p:spPr bwMode="auto">
          <a:xfrm>
            <a:off x="212268" y="2505075"/>
            <a:ext cx="2154238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dirty="0">
                <a:solidFill>
                  <a:srgbClr val="0000FF"/>
                </a:solidFill>
              </a:rPr>
              <a:t>Artère pulmonaire gauche</a:t>
            </a:r>
          </a:p>
        </p:txBody>
      </p:sp>
      <p:sp>
        <p:nvSpPr>
          <p:cNvPr id="4113" name="Text Box 31"/>
          <p:cNvSpPr txBox="1">
            <a:spLocks noChangeArrowheads="1"/>
          </p:cNvSpPr>
          <p:nvPr/>
        </p:nvSpPr>
        <p:spPr bwMode="auto">
          <a:xfrm>
            <a:off x="691693" y="2754312"/>
            <a:ext cx="1431925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dirty="0"/>
              <a:t>Crosse de l’aorte</a:t>
            </a:r>
          </a:p>
        </p:txBody>
      </p:sp>
      <p:sp>
        <p:nvSpPr>
          <p:cNvPr id="4114" name="Text Box 32"/>
          <p:cNvSpPr txBox="1">
            <a:spLocks noChangeArrowheads="1"/>
          </p:cNvSpPr>
          <p:nvPr/>
        </p:nvSpPr>
        <p:spPr bwMode="auto">
          <a:xfrm>
            <a:off x="844093" y="2947987"/>
            <a:ext cx="1477963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dirty="0">
                <a:solidFill>
                  <a:srgbClr val="0000FF"/>
                </a:solidFill>
              </a:rPr>
              <a:t>Tronc</a:t>
            </a:r>
            <a:r>
              <a:rPr lang="fr-CA" altLang="fr-FR" dirty="0"/>
              <a:t> </a:t>
            </a:r>
            <a:r>
              <a:rPr lang="fr-CA" altLang="fr-FR" dirty="0">
                <a:solidFill>
                  <a:srgbClr val="0000FF"/>
                </a:solidFill>
              </a:rPr>
              <a:t>pulmonaire</a:t>
            </a:r>
          </a:p>
        </p:txBody>
      </p:sp>
      <p:sp>
        <p:nvSpPr>
          <p:cNvPr id="4115" name="Text Box 33"/>
          <p:cNvSpPr txBox="1">
            <a:spLocks noChangeArrowheads="1"/>
          </p:cNvSpPr>
          <p:nvPr/>
        </p:nvSpPr>
        <p:spPr bwMode="auto">
          <a:xfrm>
            <a:off x="461506" y="3171825"/>
            <a:ext cx="1979612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dirty="0">
                <a:solidFill>
                  <a:srgbClr val="0000FF"/>
                </a:solidFill>
              </a:rPr>
              <a:t>Artère pulmonaire droite</a:t>
            </a:r>
          </a:p>
        </p:txBody>
      </p:sp>
      <p:sp>
        <p:nvSpPr>
          <p:cNvPr id="4116" name="Text Box 34"/>
          <p:cNvSpPr txBox="1">
            <a:spLocks noChangeArrowheads="1"/>
          </p:cNvSpPr>
          <p:nvPr/>
        </p:nvSpPr>
        <p:spPr bwMode="auto">
          <a:xfrm>
            <a:off x="355143" y="3467100"/>
            <a:ext cx="2163763" cy="4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dirty="0">
                <a:solidFill>
                  <a:srgbClr val="0000FF"/>
                </a:solidFill>
              </a:rPr>
              <a:t>Trois artères lobaires dans le poumon droit</a:t>
            </a:r>
          </a:p>
        </p:txBody>
      </p:sp>
      <p:sp>
        <p:nvSpPr>
          <p:cNvPr id="4117" name="Text Box 35"/>
          <p:cNvSpPr txBox="1">
            <a:spLocks noChangeArrowheads="1"/>
          </p:cNvSpPr>
          <p:nvPr/>
        </p:nvSpPr>
        <p:spPr bwMode="auto">
          <a:xfrm>
            <a:off x="613906" y="4492625"/>
            <a:ext cx="1322387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dirty="0"/>
              <a:t>Oreillette droite</a:t>
            </a:r>
          </a:p>
        </p:txBody>
      </p:sp>
      <p:sp>
        <p:nvSpPr>
          <p:cNvPr id="4118" name="Text Box 36"/>
          <p:cNvSpPr txBox="1">
            <a:spLocks noChangeArrowheads="1"/>
          </p:cNvSpPr>
          <p:nvPr/>
        </p:nvSpPr>
        <p:spPr bwMode="auto">
          <a:xfrm>
            <a:off x="537706" y="4200525"/>
            <a:ext cx="1630362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dirty="0">
                <a:solidFill>
                  <a:srgbClr val="FF0000"/>
                </a:solidFill>
              </a:rPr>
              <a:t>Veines pulmonaires</a:t>
            </a:r>
          </a:p>
        </p:txBody>
      </p:sp>
      <p:sp>
        <p:nvSpPr>
          <p:cNvPr id="4119" name="Text Box 37"/>
          <p:cNvSpPr txBox="1">
            <a:spLocks noChangeArrowheads="1"/>
          </p:cNvSpPr>
          <p:nvPr/>
        </p:nvSpPr>
        <p:spPr bwMode="auto">
          <a:xfrm>
            <a:off x="1604506" y="5507037"/>
            <a:ext cx="1841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endParaRPr lang="fr-CA" altLang="fr-FR" dirty="0"/>
          </a:p>
        </p:txBody>
      </p:sp>
      <p:sp>
        <p:nvSpPr>
          <p:cNvPr id="4120" name="Text Box 38"/>
          <p:cNvSpPr txBox="1">
            <a:spLocks noChangeArrowheads="1"/>
          </p:cNvSpPr>
          <p:nvPr/>
        </p:nvSpPr>
        <p:spPr bwMode="auto">
          <a:xfrm>
            <a:off x="613906" y="4843462"/>
            <a:ext cx="1306512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dirty="0"/>
              <a:t>Ventricule droit</a:t>
            </a:r>
          </a:p>
        </p:txBody>
      </p:sp>
      <p:sp>
        <p:nvSpPr>
          <p:cNvPr id="4121" name="Text Box 39"/>
          <p:cNvSpPr txBox="1">
            <a:spLocks noChangeArrowheads="1"/>
          </p:cNvSpPr>
          <p:nvPr/>
        </p:nvSpPr>
        <p:spPr bwMode="auto">
          <a:xfrm>
            <a:off x="2823706" y="5576887"/>
            <a:ext cx="949325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dirty="0"/>
              <a:t>Ventricule gauche</a:t>
            </a:r>
          </a:p>
        </p:txBody>
      </p:sp>
      <p:sp>
        <p:nvSpPr>
          <p:cNvPr id="4122" name="Text Box 40"/>
          <p:cNvSpPr txBox="1">
            <a:spLocks noChangeArrowheads="1"/>
          </p:cNvSpPr>
          <p:nvPr/>
        </p:nvSpPr>
        <p:spPr bwMode="auto">
          <a:xfrm>
            <a:off x="5576431" y="4081462"/>
            <a:ext cx="3554412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dirty="0">
                <a:solidFill>
                  <a:srgbClr val="0000FF"/>
                </a:solidFill>
              </a:rPr>
              <a:t>Deux artères lobaires dans le poumon gauche</a:t>
            </a:r>
          </a:p>
        </p:txBody>
      </p:sp>
      <p:sp>
        <p:nvSpPr>
          <p:cNvPr id="4123" name="Text Box 41"/>
          <p:cNvSpPr txBox="1">
            <a:spLocks noChangeArrowheads="1"/>
          </p:cNvSpPr>
          <p:nvPr/>
        </p:nvSpPr>
        <p:spPr bwMode="auto">
          <a:xfrm>
            <a:off x="5579606" y="4433887"/>
            <a:ext cx="1630362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dirty="0">
                <a:solidFill>
                  <a:srgbClr val="FF0000"/>
                </a:solidFill>
              </a:rPr>
              <a:t>Veines pulmonaires</a:t>
            </a:r>
          </a:p>
        </p:txBody>
      </p:sp>
      <p:sp>
        <p:nvSpPr>
          <p:cNvPr id="4124" name="Text Box 42"/>
          <p:cNvSpPr txBox="1">
            <a:spLocks noChangeArrowheads="1"/>
          </p:cNvSpPr>
          <p:nvPr/>
        </p:nvSpPr>
        <p:spPr bwMode="auto">
          <a:xfrm>
            <a:off x="5570081" y="4773612"/>
            <a:ext cx="1433512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dirty="0"/>
              <a:t>Oreillette gauche</a:t>
            </a:r>
          </a:p>
        </p:txBody>
      </p:sp>
      <p:sp>
        <p:nvSpPr>
          <p:cNvPr id="4125" name="Text Box 44"/>
          <p:cNvSpPr txBox="1">
            <a:spLocks noChangeArrowheads="1"/>
          </p:cNvSpPr>
          <p:nvPr/>
        </p:nvSpPr>
        <p:spPr bwMode="auto">
          <a:xfrm>
            <a:off x="6676568" y="2565400"/>
            <a:ext cx="1649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sz="1100" dirty="0"/>
              <a:t>Alvéoles contenant de l’air</a:t>
            </a:r>
          </a:p>
        </p:txBody>
      </p:sp>
      <p:sp>
        <p:nvSpPr>
          <p:cNvPr id="4126" name="Freeform 47"/>
          <p:cNvSpPr>
            <a:spLocks/>
          </p:cNvSpPr>
          <p:nvPr/>
        </p:nvSpPr>
        <p:spPr bwMode="auto">
          <a:xfrm>
            <a:off x="6463843" y="2687637"/>
            <a:ext cx="246063" cy="198438"/>
          </a:xfrm>
          <a:custGeom>
            <a:avLst/>
            <a:gdLst>
              <a:gd name="T0" fmla="*/ 0 w 214"/>
              <a:gd name="T1" fmla="*/ 2147483647 h 122"/>
              <a:gd name="T2" fmla="*/ 2147483647 w 214"/>
              <a:gd name="T3" fmla="*/ 0 h 122"/>
              <a:gd name="T4" fmla="*/ 2147483647 w 214"/>
              <a:gd name="T5" fmla="*/ 0 h 122"/>
              <a:gd name="T6" fmla="*/ 0 60000 65536"/>
              <a:gd name="T7" fmla="*/ 0 60000 65536"/>
              <a:gd name="T8" fmla="*/ 0 60000 65536"/>
              <a:gd name="T9" fmla="*/ 0 w 214"/>
              <a:gd name="T10" fmla="*/ 0 h 122"/>
              <a:gd name="T11" fmla="*/ 214 w 214"/>
              <a:gd name="T12" fmla="*/ 122 h 12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4" h="122">
                <a:moveTo>
                  <a:pt x="0" y="122"/>
                </a:moveTo>
                <a:lnTo>
                  <a:pt x="126" y="0"/>
                </a:lnTo>
                <a:lnTo>
                  <a:pt x="214" y="0"/>
                </a:lnTo>
              </a:path>
            </a:pathLst>
          </a:custGeom>
          <a:noFill/>
          <a:ln w="2222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4127" name="Freeform 48"/>
          <p:cNvSpPr>
            <a:spLocks/>
          </p:cNvSpPr>
          <p:nvPr/>
        </p:nvSpPr>
        <p:spPr bwMode="auto">
          <a:xfrm>
            <a:off x="6574968" y="3606800"/>
            <a:ext cx="139700" cy="127000"/>
          </a:xfrm>
          <a:custGeom>
            <a:avLst/>
            <a:gdLst>
              <a:gd name="T0" fmla="*/ 0 w 88"/>
              <a:gd name="T1" fmla="*/ 0 h 80"/>
              <a:gd name="T2" fmla="*/ 2147483647 w 88"/>
              <a:gd name="T3" fmla="*/ 2147483647 h 80"/>
              <a:gd name="T4" fmla="*/ 2147483647 w 88"/>
              <a:gd name="T5" fmla="*/ 2147483647 h 80"/>
              <a:gd name="T6" fmla="*/ 0 60000 65536"/>
              <a:gd name="T7" fmla="*/ 0 60000 65536"/>
              <a:gd name="T8" fmla="*/ 0 60000 65536"/>
              <a:gd name="T9" fmla="*/ 0 w 88"/>
              <a:gd name="T10" fmla="*/ 0 h 80"/>
              <a:gd name="T11" fmla="*/ 88 w 88"/>
              <a:gd name="T12" fmla="*/ 80 h 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8" h="80">
                <a:moveTo>
                  <a:pt x="0" y="0"/>
                </a:moveTo>
                <a:lnTo>
                  <a:pt x="32" y="80"/>
                </a:lnTo>
                <a:lnTo>
                  <a:pt x="88" y="80"/>
                </a:lnTo>
              </a:path>
            </a:pathLst>
          </a:custGeom>
          <a:noFill/>
          <a:ln w="2222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4128" name="Freeform 49"/>
          <p:cNvSpPr>
            <a:spLocks/>
          </p:cNvSpPr>
          <p:nvPr/>
        </p:nvSpPr>
        <p:spPr bwMode="auto">
          <a:xfrm>
            <a:off x="6462256" y="2687637"/>
            <a:ext cx="247650" cy="203200"/>
          </a:xfrm>
          <a:custGeom>
            <a:avLst/>
            <a:gdLst>
              <a:gd name="T0" fmla="*/ 0 w 214"/>
              <a:gd name="T1" fmla="*/ 2147483647 h 122"/>
              <a:gd name="T2" fmla="*/ 2147483647 w 214"/>
              <a:gd name="T3" fmla="*/ 0 h 122"/>
              <a:gd name="T4" fmla="*/ 2147483647 w 214"/>
              <a:gd name="T5" fmla="*/ 0 h 122"/>
              <a:gd name="T6" fmla="*/ 0 60000 65536"/>
              <a:gd name="T7" fmla="*/ 0 60000 65536"/>
              <a:gd name="T8" fmla="*/ 0 60000 65536"/>
              <a:gd name="T9" fmla="*/ 0 w 214"/>
              <a:gd name="T10" fmla="*/ 0 h 122"/>
              <a:gd name="T11" fmla="*/ 214 w 214"/>
              <a:gd name="T12" fmla="*/ 122 h 12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4" h="122">
                <a:moveTo>
                  <a:pt x="0" y="122"/>
                </a:moveTo>
                <a:lnTo>
                  <a:pt x="126" y="0"/>
                </a:lnTo>
                <a:lnTo>
                  <a:pt x="214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4129" name="Freeform 50"/>
          <p:cNvSpPr>
            <a:spLocks/>
          </p:cNvSpPr>
          <p:nvPr/>
        </p:nvSpPr>
        <p:spPr bwMode="auto">
          <a:xfrm>
            <a:off x="6573381" y="3611562"/>
            <a:ext cx="60325" cy="142875"/>
          </a:xfrm>
          <a:custGeom>
            <a:avLst/>
            <a:gdLst>
              <a:gd name="T0" fmla="*/ 0 w 88"/>
              <a:gd name="T1" fmla="*/ 0 h 80"/>
              <a:gd name="T2" fmla="*/ 2147483647 w 88"/>
              <a:gd name="T3" fmla="*/ 2147483647 h 80"/>
              <a:gd name="T4" fmla="*/ 2147483647 w 88"/>
              <a:gd name="T5" fmla="*/ 2147483647 h 80"/>
              <a:gd name="T6" fmla="*/ 0 60000 65536"/>
              <a:gd name="T7" fmla="*/ 0 60000 65536"/>
              <a:gd name="T8" fmla="*/ 0 60000 65536"/>
              <a:gd name="T9" fmla="*/ 0 w 88"/>
              <a:gd name="T10" fmla="*/ 0 h 80"/>
              <a:gd name="T11" fmla="*/ 88 w 88"/>
              <a:gd name="T12" fmla="*/ 80 h 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8" h="80">
                <a:moveTo>
                  <a:pt x="0" y="0"/>
                </a:moveTo>
                <a:lnTo>
                  <a:pt x="32" y="80"/>
                </a:lnTo>
                <a:lnTo>
                  <a:pt x="88" y="8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4130" name="Text Box 51"/>
          <p:cNvSpPr txBox="1">
            <a:spLocks noChangeArrowheads="1"/>
          </p:cNvSpPr>
          <p:nvPr/>
        </p:nvSpPr>
        <p:spPr bwMode="auto">
          <a:xfrm>
            <a:off x="5338306" y="3873500"/>
            <a:ext cx="12922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sz="1100" i="1" dirty="0"/>
              <a:t>Échange gazeux</a:t>
            </a:r>
          </a:p>
        </p:txBody>
      </p:sp>
      <p:sp>
        <p:nvSpPr>
          <p:cNvPr id="4131" name="Line 52"/>
          <p:cNvSpPr>
            <a:spLocks noChangeShapeType="1"/>
          </p:cNvSpPr>
          <p:nvPr/>
        </p:nvSpPr>
        <p:spPr bwMode="auto">
          <a:xfrm>
            <a:off x="1852156" y="4973637"/>
            <a:ext cx="16891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4132" name="Line 53"/>
          <p:cNvSpPr>
            <a:spLocks noChangeShapeType="1"/>
          </p:cNvSpPr>
          <p:nvPr/>
        </p:nvSpPr>
        <p:spPr bwMode="auto">
          <a:xfrm>
            <a:off x="1842631" y="4621212"/>
            <a:ext cx="155575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4133" name="Line 54"/>
          <p:cNvSpPr>
            <a:spLocks noChangeShapeType="1"/>
          </p:cNvSpPr>
          <p:nvPr/>
        </p:nvSpPr>
        <p:spPr bwMode="auto">
          <a:xfrm>
            <a:off x="2074406" y="4341812"/>
            <a:ext cx="111125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4134" name="Line 55"/>
          <p:cNvSpPr>
            <a:spLocks noChangeShapeType="1"/>
          </p:cNvSpPr>
          <p:nvPr/>
        </p:nvSpPr>
        <p:spPr bwMode="auto">
          <a:xfrm>
            <a:off x="2779256" y="4341812"/>
            <a:ext cx="365125" cy="17145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4135" name="Freeform 56"/>
          <p:cNvSpPr>
            <a:spLocks/>
          </p:cNvSpPr>
          <p:nvPr/>
        </p:nvSpPr>
        <p:spPr bwMode="auto">
          <a:xfrm>
            <a:off x="2420481" y="3602037"/>
            <a:ext cx="606425" cy="387350"/>
          </a:xfrm>
          <a:custGeom>
            <a:avLst/>
            <a:gdLst>
              <a:gd name="T0" fmla="*/ 0 w 382"/>
              <a:gd name="T1" fmla="*/ 0 h 244"/>
              <a:gd name="T2" fmla="*/ 2147483647 w 382"/>
              <a:gd name="T3" fmla="*/ 0 h 244"/>
              <a:gd name="T4" fmla="*/ 2147483647 w 382"/>
              <a:gd name="T5" fmla="*/ 2147483647 h 244"/>
              <a:gd name="T6" fmla="*/ 0 60000 65536"/>
              <a:gd name="T7" fmla="*/ 0 60000 65536"/>
              <a:gd name="T8" fmla="*/ 0 60000 65536"/>
              <a:gd name="T9" fmla="*/ 0 w 382"/>
              <a:gd name="T10" fmla="*/ 0 h 244"/>
              <a:gd name="T11" fmla="*/ 382 w 382"/>
              <a:gd name="T12" fmla="*/ 244 h 2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2" h="244">
                <a:moveTo>
                  <a:pt x="0" y="0"/>
                </a:moveTo>
                <a:lnTo>
                  <a:pt x="196" y="0"/>
                </a:lnTo>
                <a:lnTo>
                  <a:pt x="382" y="244"/>
                </a:lnTo>
              </a:path>
            </a:pathLst>
          </a:custGeom>
          <a:noFill/>
          <a:ln w="1905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4136" name="Line 57"/>
          <p:cNvSpPr>
            <a:spLocks noChangeShapeType="1"/>
          </p:cNvSpPr>
          <p:nvPr/>
        </p:nvSpPr>
        <p:spPr bwMode="auto">
          <a:xfrm>
            <a:off x="2731631" y="3605212"/>
            <a:ext cx="266700" cy="54927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4137" name="Line 58"/>
          <p:cNvSpPr>
            <a:spLocks noChangeShapeType="1"/>
          </p:cNvSpPr>
          <p:nvPr/>
        </p:nvSpPr>
        <p:spPr bwMode="auto">
          <a:xfrm>
            <a:off x="2731631" y="3608387"/>
            <a:ext cx="111125" cy="5429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4138" name="Freeform 59"/>
          <p:cNvSpPr>
            <a:spLocks/>
          </p:cNvSpPr>
          <p:nvPr/>
        </p:nvSpPr>
        <p:spPr bwMode="auto">
          <a:xfrm>
            <a:off x="2296656" y="3303587"/>
            <a:ext cx="1006475" cy="765175"/>
          </a:xfrm>
          <a:custGeom>
            <a:avLst/>
            <a:gdLst>
              <a:gd name="T0" fmla="*/ 0 w 634"/>
              <a:gd name="T1" fmla="*/ 0 h 482"/>
              <a:gd name="T2" fmla="*/ 2147483647 w 634"/>
              <a:gd name="T3" fmla="*/ 2147483647 h 482"/>
              <a:gd name="T4" fmla="*/ 2147483647 w 634"/>
              <a:gd name="T5" fmla="*/ 2147483647 h 482"/>
              <a:gd name="T6" fmla="*/ 0 60000 65536"/>
              <a:gd name="T7" fmla="*/ 0 60000 65536"/>
              <a:gd name="T8" fmla="*/ 0 60000 65536"/>
              <a:gd name="T9" fmla="*/ 0 w 634"/>
              <a:gd name="T10" fmla="*/ 0 h 482"/>
              <a:gd name="T11" fmla="*/ 634 w 634"/>
              <a:gd name="T12" fmla="*/ 482 h 4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34" h="482">
                <a:moveTo>
                  <a:pt x="0" y="0"/>
                </a:moveTo>
                <a:lnTo>
                  <a:pt x="376" y="2"/>
                </a:lnTo>
                <a:lnTo>
                  <a:pt x="634" y="482"/>
                </a:lnTo>
              </a:path>
            </a:pathLst>
          </a:custGeom>
          <a:noFill/>
          <a:ln w="1905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4139" name="Freeform 60"/>
          <p:cNvSpPr>
            <a:spLocks/>
          </p:cNvSpPr>
          <p:nvPr/>
        </p:nvSpPr>
        <p:spPr bwMode="auto">
          <a:xfrm>
            <a:off x="2293481" y="3078162"/>
            <a:ext cx="1479550" cy="1165225"/>
          </a:xfrm>
          <a:custGeom>
            <a:avLst/>
            <a:gdLst>
              <a:gd name="T0" fmla="*/ 0 w 932"/>
              <a:gd name="T1" fmla="*/ 2147483647 h 734"/>
              <a:gd name="T2" fmla="*/ 2147483647 w 932"/>
              <a:gd name="T3" fmla="*/ 0 h 734"/>
              <a:gd name="T4" fmla="*/ 2147483647 w 932"/>
              <a:gd name="T5" fmla="*/ 2147483647 h 734"/>
              <a:gd name="T6" fmla="*/ 0 60000 65536"/>
              <a:gd name="T7" fmla="*/ 0 60000 65536"/>
              <a:gd name="T8" fmla="*/ 0 60000 65536"/>
              <a:gd name="T9" fmla="*/ 0 w 932"/>
              <a:gd name="T10" fmla="*/ 0 h 734"/>
              <a:gd name="T11" fmla="*/ 932 w 932"/>
              <a:gd name="T12" fmla="*/ 734 h 73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32" h="734">
                <a:moveTo>
                  <a:pt x="0" y="2"/>
                </a:moveTo>
                <a:lnTo>
                  <a:pt x="480" y="0"/>
                </a:lnTo>
                <a:lnTo>
                  <a:pt x="932" y="734"/>
                </a:lnTo>
              </a:path>
            </a:pathLst>
          </a:custGeom>
          <a:noFill/>
          <a:ln w="1905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4140" name="Freeform 61"/>
          <p:cNvSpPr>
            <a:spLocks/>
          </p:cNvSpPr>
          <p:nvPr/>
        </p:nvSpPr>
        <p:spPr bwMode="auto">
          <a:xfrm>
            <a:off x="2245856" y="2611437"/>
            <a:ext cx="1955800" cy="1412875"/>
          </a:xfrm>
          <a:custGeom>
            <a:avLst/>
            <a:gdLst>
              <a:gd name="T0" fmla="*/ 0 w 1232"/>
              <a:gd name="T1" fmla="*/ 0 h 890"/>
              <a:gd name="T2" fmla="*/ 2147483647 w 1232"/>
              <a:gd name="T3" fmla="*/ 0 h 890"/>
              <a:gd name="T4" fmla="*/ 2147483647 w 1232"/>
              <a:gd name="T5" fmla="*/ 2147483647 h 890"/>
              <a:gd name="T6" fmla="*/ 0 60000 65536"/>
              <a:gd name="T7" fmla="*/ 0 60000 65536"/>
              <a:gd name="T8" fmla="*/ 0 60000 65536"/>
              <a:gd name="T9" fmla="*/ 0 w 1232"/>
              <a:gd name="T10" fmla="*/ 0 h 890"/>
              <a:gd name="T11" fmla="*/ 1232 w 1232"/>
              <a:gd name="T12" fmla="*/ 890 h 8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32" h="890">
                <a:moveTo>
                  <a:pt x="0" y="0"/>
                </a:moveTo>
                <a:lnTo>
                  <a:pt x="954" y="0"/>
                </a:lnTo>
                <a:lnTo>
                  <a:pt x="1232" y="890"/>
                </a:lnTo>
              </a:path>
            </a:pathLst>
          </a:custGeom>
          <a:noFill/>
          <a:ln w="1905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4141" name="Freeform 62"/>
          <p:cNvSpPr>
            <a:spLocks/>
          </p:cNvSpPr>
          <p:nvPr/>
        </p:nvSpPr>
        <p:spPr bwMode="auto">
          <a:xfrm>
            <a:off x="2080756" y="2887662"/>
            <a:ext cx="1739900" cy="1006475"/>
          </a:xfrm>
          <a:custGeom>
            <a:avLst/>
            <a:gdLst>
              <a:gd name="T0" fmla="*/ 0 w 1096"/>
              <a:gd name="T1" fmla="*/ 0 h 634"/>
              <a:gd name="T2" fmla="*/ 2147483647 w 1096"/>
              <a:gd name="T3" fmla="*/ 0 h 634"/>
              <a:gd name="T4" fmla="*/ 2147483647 w 1096"/>
              <a:gd name="T5" fmla="*/ 2147483647 h 634"/>
              <a:gd name="T6" fmla="*/ 0 60000 65536"/>
              <a:gd name="T7" fmla="*/ 0 60000 65536"/>
              <a:gd name="T8" fmla="*/ 0 60000 65536"/>
              <a:gd name="T9" fmla="*/ 0 w 1096"/>
              <a:gd name="T10" fmla="*/ 0 h 634"/>
              <a:gd name="T11" fmla="*/ 1096 w 1096"/>
              <a:gd name="T12" fmla="*/ 634 h 63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96" h="634">
                <a:moveTo>
                  <a:pt x="0" y="0"/>
                </a:moveTo>
                <a:lnTo>
                  <a:pt x="830" y="0"/>
                </a:lnTo>
                <a:lnTo>
                  <a:pt x="1096" y="634"/>
                </a:lnTo>
              </a:path>
            </a:pathLst>
          </a:custGeom>
          <a:noFill/>
          <a:ln w="1905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4142" name="Line 63"/>
          <p:cNvSpPr>
            <a:spLocks noChangeShapeType="1"/>
          </p:cNvSpPr>
          <p:nvPr/>
        </p:nvSpPr>
        <p:spPr bwMode="auto">
          <a:xfrm>
            <a:off x="4455656" y="4198937"/>
            <a:ext cx="1190625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4143" name="Line 64"/>
          <p:cNvSpPr>
            <a:spLocks noChangeShapeType="1"/>
          </p:cNvSpPr>
          <p:nvPr/>
        </p:nvSpPr>
        <p:spPr bwMode="auto">
          <a:xfrm>
            <a:off x="4493756" y="4056062"/>
            <a:ext cx="209550" cy="14287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4144" name="Freeform 65"/>
          <p:cNvSpPr>
            <a:spLocks/>
          </p:cNvSpPr>
          <p:nvPr/>
        </p:nvSpPr>
        <p:spPr bwMode="auto">
          <a:xfrm>
            <a:off x="4268331" y="4379912"/>
            <a:ext cx="1371600" cy="174625"/>
          </a:xfrm>
          <a:custGeom>
            <a:avLst/>
            <a:gdLst>
              <a:gd name="T0" fmla="*/ 0 w 864"/>
              <a:gd name="T1" fmla="*/ 0 h 110"/>
              <a:gd name="T2" fmla="*/ 2147483647 w 864"/>
              <a:gd name="T3" fmla="*/ 2147483647 h 110"/>
              <a:gd name="T4" fmla="*/ 2147483647 w 864"/>
              <a:gd name="T5" fmla="*/ 2147483647 h 110"/>
              <a:gd name="T6" fmla="*/ 0 60000 65536"/>
              <a:gd name="T7" fmla="*/ 0 60000 65536"/>
              <a:gd name="T8" fmla="*/ 0 60000 65536"/>
              <a:gd name="T9" fmla="*/ 0 w 864"/>
              <a:gd name="T10" fmla="*/ 0 h 110"/>
              <a:gd name="T11" fmla="*/ 864 w 864"/>
              <a:gd name="T12" fmla="*/ 110 h 11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64" h="110">
                <a:moveTo>
                  <a:pt x="0" y="0"/>
                </a:moveTo>
                <a:lnTo>
                  <a:pt x="222" y="110"/>
                </a:lnTo>
                <a:lnTo>
                  <a:pt x="864" y="108"/>
                </a:lnTo>
              </a:path>
            </a:pathLst>
          </a:custGeom>
          <a:noFill/>
          <a:ln w="1905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4145" name="Line 66"/>
          <p:cNvSpPr>
            <a:spLocks noChangeShapeType="1"/>
          </p:cNvSpPr>
          <p:nvPr/>
        </p:nvSpPr>
        <p:spPr bwMode="auto">
          <a:xfrm>
            <a:off x="4246106" y="4256087"/>
            <a:ext cx="371475" cy="29845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4146" name="Freeform 67"/>
          <p:cNvSpPr>
            <a:spLocks/>
          </p:cNvSpPr>
          <p:nvPr/>
        </p:nvSpPr>
        <p:spPr bwMode="auto">
          <a:xfrm>
            <a:off x="4157206" y="4452937"/>
            <a:ext cx="1482725" cy="441325"/>
          </a:xfrm>
          <a:custGeom>
            <a:avLst/>
            <a:gdLst>
              <a:gd name="T0" fmla="*/ 0 w 934"/>
              <a:gd name="T1" fmla="*/ 0 h 278"/>
              <a:gd name="T2" fmla="*/ 2147483647 w 934"/>
              <a:gd name="T3" fmla="*/ 2147483647 h 278"/>
              <a:gd name="T4" fmla="*/ 2147483647 w 934"/>
              <a:gd name="T5" fmla="*/ 2147483647 h 278"/>
              <a:gd name="T6" fmla="*/ 0 60000 65536"/>
              <a:gd name="T7" fmla="*/ 0 60000 65536"/>
              <a:gd name="T8" fmla="*/ 0 60000 65536"/>
              <a:gd name="T9" fmla="*/ 0 w 934"/>
              <a:gd name="T10" fmla="*/ 0 h 278"/>
              <a:gd name="T11" fmla="*/ 934 w 934"/>
              <a:gd name="T12" fmla="*/ 278 h 2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34" h="278">
                <a:moveTo>
                  <a:pt x="0" y="0"/>
                </a:moveTo>
                <a:lnTo>
                  <a:pt x="386" y="276"/>
                </a:lnTo>
                <a:lnTo>
                  <a:pt x="934" y="278"/>
                </a:lnTo>
              </a:path>
            </a:pathLst>
          </a:custGeom>
          <a:noFill/>
          <a:ln w="1905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4147" name="Freeform 68"/>
          <p:cNvSpPr>
            <a:spLocks/>
          </p:cNvSpPr>
          <p:nvPr/>
        </p:nvSpPr>
        <p:spPr bwMode="auto">
          <a:xfrm>
            <a:off x="3661906" y="5027612"/>
            <a:ext cx="469900" cy="479425"/>
          </a:xfrm>
          <a:custGeom>
            <a:avLst/>
            <a:gdLst>
              <a:gd name="T0" fmla="*/ 0 w 356"/>
              <a:gd name="T1" fmla="*/ 2147483647 h 270"/>
              <a:gd name="T2" fmla="*/ 2147483647 w 356"/>
              <a:gd name="T3" fmla="*/ 2147483647 h 270"/>
              <a:gd name="T4" fmla="*/ 2147483647 w 356"/>
              <a:gd name="T5" fmla="*/ 0 h 270"/>
              <a:gd name="T6" fmla="*/ 0 60000 65536"/>
              <a:gd name="T7" fmla="*/ 0 60000 65536"/>
              <a:gd name="T8" fmla="*/ 0 60000 65536"/>
              <a:gd name="T9" fmla="*/ 0 w 356"/>
              <a:gd name="T10" fmla="*/ 0 h 270"/>
              <a:gd name="T11" fmla="*/ 356 w 356"/>
              <a:gd name="T12" fmla="*/ 270 h 27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56" h="270">
                <a:moveTo>
                  <a:pt x="0" y="268"/>
                </a:moveTo>
                <a:lnTo>
                  <a:pt x="70" y="270"/>
                </a:lnTo>
                <a:lnTo>
                  <a:pt x="356" y="0"/>
                </a:lnTo>
              </a:path>
            </a:pathLst>
          </a:custGeom>
          <a:noFill/>
          <a:ln w="1905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4148" name="Line 69"/>
          <p:cNvSpPr>
            <a:spLocks noChangeShapeType="1"/>
          </p:cNvSpPr>
          <p:nvPr/>
        </p:nvSpPr>
        <p:spPr bwMode="auto">
          <a:xfrm>
            <a:off x="1852156" y="4973637"/>
            <a:ext cx="1689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4149" name="Line 70"/>
          <p:cNvSpPr>
            <a:spLocks noChangeShapeType="1"/>
          </p:cNvSpPr>
          <p:nvPr/>
        </p:nvSpPr>
        <p:spPr bwMode="auto">
          <a:xfrm>
            <a:off x="1842631" y="4621212"/>
            <a:ext cx="1555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4150" name="Line 71"/>
          <p:cNvSpPr>
            <a:spLocks noChangeShapeType="1"/>
          </p:cNvSpPr>
          <p:nvPr/>
        </p:nvSpPr>
        <p:spPr bwMode="auto">
          <a:xfrm>
            <a:off x="2074406" y="4341812"/>
            <a:ext cx="1111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4151" name="Line 72"/>
          <p:cNvSpPr>
            <a:spLocks noChangeShapeType="1"/>
          </p:cNvSpPr>
          <p:nvPr/>
        </p:nvSpPr>
        <p:spPr bwMode="auto">
          <a:xfrm>
            <a:off x="2779256" y="4341812"/>
            <a:ext cx="365125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4152" name="Freeform 73"/>
          <p:cNvSpPr>
            <a:spLocks/>
          </p:cNvSpPr>
          <p:nvPr/>
        </p:nvSpPr>
        <p:spPr bwMode="auto">
          <a:xfrm>
            <a:off x="2420481" y="3602037"/>
            <a:ext cx="606425" cy="387350"/>
          </a:xfrm>
          <a:custGeom>
            <a:avLst/>
            <a:gdLst>
              <a:gd name="T0" fmla="*/ 0 w 382"/>
              <a:gd name="T1" fmla="*/ 0 h 244"/>
              <a:gd name="T2" fmla="*/ 2147483647 w 382"/>
              <a:gd name="T3" fmla="*/ 0 h 244"/>
              <a:gd name="T4" fmla="*/ 2147483647 w 382"/>
              <a:gd name="T5" fmla="*/ 2147483647 h 244"/>
              <a:gd name="T6" fmla="*/ 0 60000 65536"/>
              <a:gd name="T7" fmla="*/ 0 60000 65536"/>
              <a:gd name="T8" fmla="*/ 0 60000 65536"/>
              <a:gd name="T9" fmla="*/ 0 w 382"/>
              <a:gd name="T10" fmla="*/ 0 h 244"/>
              <a:gd name="T11" fmla="*/ 382 w 382"/>
              <a:gd name="T12" fmla="*/ 244 h 2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2" h="244">
                <a:moveTo>
                  <a:pt x="0" y="0"/>
                </a:moveTo>
                <a:lnTo>
                  <a:pt x="196" y="0"/>
                </a:lnTo>
                <a:lnTo>
                  <a:pt x="382" y="244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4153" name="Line 74"/>
          <p:cNvSpPr>
            <a:spLocks noChangeShapeType="1"/>
          </p:cNvSpPr>
          <p:nvPr/>
        </p:nvSpPr>
        <p:spPr bwMode="auto">
          <a:xfrm>
            <a:off x="2731631" y="3605212"/>
            <a:ext cx="266700" cy="549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4154" name="Line 75"/>
          <p:cNvSpPr>
            <a:spLocks noChangeShapeType="1"/>
          </p:cNvSpPr>
          <p:nvPr/>
        </p:nvSpPr>
        <p:spPr bwMode="auto">
          <a:xfrm>
            <a:off x="2731631" y="3608387"/>
            <a:ext cx="111125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4155" name="Freeform 76"/>
          <p:cNvSpPr>
            <a:spLocks/>
          </p:cNvSpPr>
          <p:nvPr/>
        </p:nvSpPr>
        <p:spPr bwMode="auto">
          <a:xfrm>
            <a:off x="2296656" y="3303587"/>
            <a:ext cx="1006475" cy="765175"/>
          </a:xfrm>
          <a:custGeom>
            <a:avLst/>
            <a:gdLst>
              <a:gd name="T0" fmla="*/ 0 w 634"/>
              <a:gd name="T1" fmla="*/ 0 h 482"/>
              <a:gd name="T2" fmla="*/ 2147483647 w 634"/>
              <a:gd name="T3" fmla="*/ 2147483647 h 482"/>
              <a:gd name="T4" fmla="*/ 2147483647 w 634"/>
              <a:gd name="T5" fmla="*/ 2147483647 h 482"/>
              <a:gd name="T6" fmla="*/ 0 60000 65536"/>
              <a:gd name="T7" fmla="*/ 0 60000 65536"/>
              <a:gd name="T8" fmla="*/ 0 60000 65536"/>
              <a:gd name="T9" fmla="*/ 0 w 634"/>
              <a:gd name="T10" fmla="*/ 0 h 482"/>
              <a:gd name="T11" fmla="*/ 634 w 634"/>
              <a:gd name="T12" fmla="*/ 482 h 4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34" h="482">
                <a:moveTo>
                  <a:pt x="0" y="0"/>
                </a:moveTo>
                <a:lnTo>
                  <a:pt x="376" y="2"/>
                </a:lnTo>
                <a:lnTo>
                  <a:pt x="634" y="482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4156" name="Freeform 77"/>
          <p:cNvSpPr>
            <a:spLocks/>
          </p:cNvSpPr>
          <p:nvPr/>
        </p:nvSpPr>
        <p:spPr bwMode="auto">
          <a:xfrm>
            <a:off x="2293481" y="3078162"/>
            <a:ext cx="1479550" cy="1165225"/>
          </a:xfrm>
          <a:custGeom>
            <a:avLst/>
            <a:gdLst>
              <a:gd name="T0" fmla="*/ 0 w 932"/>
              <a:gd name="T1" fmla="*/ 2147483647 h 734"/>
              <a:gd name="T2" fmla="*/ 2147483647 w 932"/>
              <a:gd name="T3" fmla="*/ 0 h 734"/>
              <a:gd name="T4" fmla="*/ 2147483647 w 932"/>
              <a:gd name="T5" fmla="*/ 2147483647 h 734"/>
              <a:gd name="T6" fmla="*/ 0 60000 65536"/>
              <a:gd name="T7" fmla="*/ 0 60000 65536"/>
              <a:gd name="T8" fmla="*/ 0 60000 65536"/>
              <a:gd name="T9" fmla="*/ 0 w 932"/>
              <a:gd name="T10" fmla="*/ 0 h 734"/>
              <a:gd name="T11" fmla="*/ 932 w 932"/>
              <a:gd name="T12" fmla="*/ 734 h 73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32" h="734">
                <a:moveTo>
                  <a:pt x="0" y="2"/>
                </a:moveTo>
                <a:lnTo>
                  <a:pt x="480" y="0"/>
                </a:lnTo>
                <a:lnTo>
                  <a:pt x="932" y="734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4157" name="Freeform 78"/>
          <p:cNvSpPr>
            <a:spLocks/>
          </p:cNvSpPr>
          <p:nvPr/>
        </p:nvSpPr>
        <p:spPr bwMode="auto">
          <a:xfrm>
            <a:off x="2245856" y="2611437"/>
            <a:ext cx="1955800" cy="1412875"/>
          </a:xfrm>
          <a:custGeom>
            <a:avLst/>
            <a:gdLst>
              <a:gd name="T0" fmla="*/ 0 w 1232"/>
              <a:gd name="T1" fmla="*/ 0 h 890"/>
              <a:gd name="T2" fmla="*/ 2147483647 w 1232"/>
              <a:gd name="T3" fmla="*/ 0 h 890"/>
              <a:gd name="T4" fmla="*/ 2147483647 w 1232"/>
              <a:gd name="T5" fmla="*/ 2147483647 h 890"/>
              <a:gd name="T6" fmla="*/ 0 60000 65536"/>
              <a:gd name="T7" fmla="*/ 0 60000 65536"/>
              <a:gd name="T8" fmla="*/ 0 60000 65536"/>
              <a:gd name="T9" fmla="*/ 0 w 1232"/>
              <a:gd name="T10" fmla="*/ 0 h 890"/>
              <a:gd name="T11" fmla="*/ 1232 w 1232"/>
              <a:gd name="T12" fmla="*/ 890 h 8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32" h="890">
                <a:moveTo>
                  <a:pt x="0" y="0"/>
                </a:moveTo>
                <a:lnTo>
                  <a:pt x="954" y="0"/>
                </a:lnTo>
                <a:lnTo>
                  <a:pt x="1232" y="89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4158" name="Freeform 79"/>
          <p:cNvSpPr>
            <a:spLocks/>
          </p:cNvSpPr>
          <p:nvPr/>
        </p:nvSpPr>
        <p:spPr bwMode="auto">
          <a:xfrm>
            <a:off x="2080756" y="2887662"/>
            <a:ext cx="1739900" cy="1006475"/>
          </a:xfrm>
          <a:custGeom>
            <a:avLst/>
            <a:gdLst>
              <a:gd name="T0" fmla="*/ 0 w 1096"/>
              <a:gd name="T1" fmla="*/ 0 h 634"/>
              <a:gd name="T2" fmla="*/ 2147483647 w 1096"/>
              <a:gd name="T3" fmla="*/ 0 h 634"/>
              <a:gd name="T4" fmla="*/ 2147483647 w 1096"/>
              <a:gd name="T5" fmla="*/ 2147483647 h 634"/>
              <a:gd name="T6" fmla="*/ 0 60000 65536"/>
              <a:gd name="T7" fmla="*/ 0 60000 65536"/>
              <a:gd name="T8" fmla="*/ 0 60000 65536"/>
              <a:gd name="T9" fmla="*/ 0 w 1096"/>
              <a:gd name="T10" fmla="*/ 0 h 634"/>
              <a:gd name="T11" fmla="*/ 1096 w 1096"/>
              <a:gd name="T12" fmla="*/ 634 h 63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96" h="634">
                <a:moveTo>
                  <a:pt x="0" y="0"/>
                </a:moveTo>
                <a:lnTo>
                  <a:pt x="830" y="0"/>
                </a:lnTo>
                <a:lnTo>
                  <a:pt x="1096" y="634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4159" name="Line 80"/>
          <p:cNvSpPr>
            <a:spLocks noChangeShapeType="1"/>
          </p:cNvSpPr>
          <p:nvPr/>
        </p:nvSpPr>
        <p:spPr bwMode="auto">
          <a:xfrm>
            <a:off x="4455656" y="4198937"/>
            <a:ext cx="1190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4160" name="Line 81"/>
          <p:cNvSpPr>
            <a:spLocks noChangeShapeType="1"/>
          </p:cNvSpPr>
          <p:nvPr/>
        </p:nvSpPr>
        <p:spPr bwMode="auto">
          <a:xfrm>
            <a:off x="4493756" y="4056062"/>
            <a:ext cx="20955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4161" name="Freeform 82"/>
          <p:cNvSpPr>
            <a:spLocks/>
          </p:cNvSpPr>
          <p:nvPr/>
        </p:nvSpPr>
        <p:spPr bwMode="auto">
          <a:xfrm>
            <a:off x="4268331" y="4379912"/>
            <a:ext cx="1371600" cy="174625"/>
          </a:xfrm>
          <a:custGeom>
            <a:avLst/>
            <a:gdLst>
              <a:gd name="T0" fmla="*/ 0 w 864"/>
              <a:gd name="T1" fmla="*/ 0 h 110"/>
              <a:gd name="T2" fmla="*/ 2147483647 w 864"/>
              <a:gd name="T3" fmla="*/ 2147483647 h 110"/>
              <a:gd name="T4" fmla="*/ 2147483647 w 864"/>
              <a:gd name="T5" fmla="*/ 2147483647 h 110"/>
              <a:gd name="T6" fmla="*/ 0 60000 65536"/>
              <a:gd name="T7" fmla="*/ 0 60000 65536"/>
              <a:gd name="T8" fmla="*/ 0 60000 65536"/>
              <a:gd name="T9" fmla="*/ 0 w 864"/>
              <a:gd name="T10" fmla="*/ 0 h 110"/>
              <a:gd name="T11" fmla="*/ 864 w 864"/>
              <a:gd name="T12" fmla="*/ 110 h 11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64" h="110">
                <a:moveTo>
                  <a:pt x="0" y="0"/>
                </a:moveTo>
                <a:lnTo>
                  <a:pt x="222" y="110"/>
                </a:lnTo>
                <a:lnTo>
                  <a:pt x="864" y="108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4162" name="Line 83"/>
          <p:cNvSpPr>
            <a:spLocks noChangeShapeType="1"/>
          </p:cNvSpPr>
          <p:nvPr/>
        </p:nvSpPr>
        <p:spPr bwMode="auto">
          <a:xfrm>
            <a:off x="4246106" y="4256087"/>
            <a:ext cx="371475" cy="298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4163" name="Freeform 84"/>
          <p:cNvSpPr>
            <a:spLocks/>
          </p:cNvSpPr>
          <p:nvPr/>
        </p:nvSpPr>
        <p:spPr bwMode="auto">
          <a:xfrm>
            <a:off x="4157206" y="4452937"/>
            <a:ext cx="1482725" cy="441325"/>
          </a:xfrm>
          <a:custGeom>
            <a:avLst/>
            <a:gdLst>
              <a:gd name="T0" fmla="*/ 0 w 934"/>
              <a:gd name="T1" fmla="*/ 0 h 278"/>
              <a:gd name="T2" fmla="*/ 2147483647 w 934"/>
              <a:gd name="T3" fmla="*/ 2147483647 h 278"/>
              <a:gd name="T4" fmla="*/ 2147483647 w 934"/>
              <a:gd name="T5" fmla="*/ 2147483647 h 278"/>
              <a:gd name="T6" fmla="*/ 0 60000 65536"/>
              <a:gd name="T7" fmla="*/ 0 60000 65536"/>
              <a:gd name="T8" fmla="*/ 0 60000 65536"/>
              <a:gd name="T9" fmla="*/ 0 w 934"/>
              <a:gd name="T10" fmla="*/ 0 h 278"/>
              <a:gd name="T11" fmla="*/ 934 w 934"/>
              <a:gd name="T12" fmla="*/ 278 h 2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34" h="278">
                <a:moveTo>
                  <a:pt x="0" y="0"/>
                </a:moveTo>
                <a:lnTo>
                  <a:pt x="386" y="276"/>
                </a:lnTo>
                <a:lnTo>
                  <a:pt x="934" y="278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4164" name="Freeform 85"/>
          <p:cNvSpPr>
            <a:spLocks/>
          </p:cNvSpPr>
          <p:nvPr/>
        </p:nvSpPr>
        <p:spPr bwMode="auto">
          <a:xfrm>
            <a:off x="3661906" y="5027612"/>
            <a:ext cx="469900" cy="708025"/>
          </a:xfrm>
          <a:custGeom>
            <a:avLst/>
            <a:gdLst>
              <a:gd name="T0" fmla="*/ 0 w 356"/>
              <a:gd name="T1" fmla="*/ 2147483647 h 270"/>
              <a:gd name="T2" fmla="*/ 2147483647 w 356"/>
              <a:gd name="T3" fmla="*/ 2147483647 h 270"/>
              <a:gd name="T4" fmla="*/ 2147483647 w 356"/>
              <a:gd name="T5" fmla="*/ 0 h 270"/>
              <a:gd name="T6" fmla="*/ 0 60000 65536"/>
              <a:gd name="T7" fmla="*/ 0 60000 65536"/>
              <a:gd name="T8" fmla="*/ 0 60000 65536"/>
              <a:gd name="T9" fmla="*/ 0 w 356"/>
              <a:gd name="T10" fmla="*/ 0 h 270"/>
              <a:gd name="T11" fmla="*/ 356 w 356"/>
              <a:gd name="T12" fmla="*/ 270 h 27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56" h="270">
                <a:moveTo>
                  <a:pt x="0" y="268"/>
                </a:moveTo>
                <a:lnTo>
                  <a:pt x="70" y="270"/>
                </a:lnTo>
                <a:lnTo>
                  <a:pt x="356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4167" name="Rectangle 88"/>
          <p:cNvSpPr>
            <a:spLocks noChangeArrowheads="1"/>
          </p:cNvSpPr>
          <p:nvPr/>
        </p:nvSpPr>
        <p:spPr bwMode="auto">
          <a:xfrm>
            <a:off x="1604506" y="5735637"/>
            <a:ext cx="1524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CA" altLang="fr-FR" dirty="0"/>
          </a:p>
        </p:txBody>
      </p:sp>
      <p:sp>
        <p:nvSpPr>
          <p:cNvPr id="4168" name="Text Box 43"/>
          <p:cNvSpPr txBox="1">
            <a:spLocks noChangeArrowheads="1"/>
          </p:cNvSpPr>
          <p:nvPr/>
        </p:nvSpPr>
        <p:spPr bwMode="auto">
          <a:xfrm>
            <a:off x="6567031" y="3603625"/>
            <a:ext cx="99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sz="1100" dirty="0"/>
              <a:t>Capillaire pulmonaire</a:t>
            </a:r>
          </a:p>
        </p:txBody>
      </p:sp>
      <p:sp>
        <p:nvSpPr>
          <p:cNvPr id="4171" name="TextBox 4"/>
          <p:cNvSpPr txBox="1">
            <a:spLocks noChangeArrowheads="1"/>
          </p:cNvSpPr>
          <p:nvPr/>
        </p:nvSpPr>
        <p:spPr bwMode="auto">
          <a:xfrm>
            <a:off x="212268" y="33580"/>
            <a:ext cx="40126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en-US" sz="2000" dirty="0">
                <a:solidFill>
                  <a:srgbClr val="0000FF"/>
                </a:solidFill>
              </a:rPr>
              <a:t>6.1.1 </a:t>
            </a:r>
            <a:r>
              <a:rPr lang="fr-CA" altLang="en-US" sz="2000" b="0" dirty="0">
                <a:solidFill>
                  <a:srgbClr val="0000FF"/>
                </a:solidFill>
              </a:rPr>
              <a:t> </a:t>
            </a:r>
            <a:r>
              <a:rPr lang="fr-CA" altLang="en-US" sz="2000" u="sng" dirty="0">
                <a:solidFill>
                  <a:srgbClr val="0000FF"/>
                </a:solidFill>
              </a:rPr>
              <a:t>La circulation pulmonaire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3" descr="figure_19_19a_unlabel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00"/>
          <a:stretch>
            <a:fillRect/>
          </a:stretch>
        </p:blipFill>
        <p:spPr bwMode="auto">
          <a:xfrm>
            <a:off x="2476500" y="484188"/>
            <a:ext cx="5434013" cy="532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838200" y="2227263"/>
            <a:ext cx="1447800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sz="1300" dirty="0"/>
              <a:t>Capillaires pulmonaires du poumon droit</a:t>
            </a:r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3398838" y="515938"/>
            <a:ext cx="1630362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sz="1300" dirty="0"/>
              <a:t>Artère pulmonaire droite</a:t>
            </a:r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5156200" y="528638"/>
            <a:ext cx="1778000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sz="1300" dirty="0"/>
              <a:t>Artère pulmonaire gauche</a:t>
            </a:r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7550150" y="1052513"/>
            <a:ext cx="1593850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sz="1300" dirty="0"/>
              <a:t>Capillaires pulmonaires du poumon gauche</a:t>
            </a:r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2703513" y="4244975"/>
            <a:ext cx="1389062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sz="1300" i="1" dirty="0">
                <a:solidFill>
                  <a:schemeClr val="bg1"/>
                </a:solidFill>
              </a:rPr>
              <a:t>De la circulation systémique</a:t>
            </a:r>
          </a:p>
        </p:txBody>
      </p:sp>
      <p:sp>
        <p:nvSpPr>
          <p:cNvPr id="5129" name="Text Box 9"/>
          <p:cNvSpPr txBox="1">
            <a:spLocks noChangeArrowheads="1"/>
          </p:cNvSpPr>
          <p:nvPr/>
        </p:nvSpPr>
        <p:spPr bwMode="auto">
          <a:xfrm>
            <a:off x="6813550" y="3832225"/>
            <a:ext cx="271145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sz="1300" dirty="0"/>
              <a:t>Veines pulmonaires droites</a:t>
            </a:r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3216275" y="1776413"/>
            <a:ext cx="12414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sz="1300" dirty="0"/>
              <a:t>Tronc pulmonaire</a:t>
            </a:r>
          </a:p>
        </p:txBody>
      </p:sp>
      <p:sp>
        <p:nvSpPr>
          <p:cNvPr id="5131" name="Text Box 11"/>
          <p:cNvSpPr txBox="1">
            <a:spLocks noChangeArrowheads="1"/>
          </p:cNvSpPr>
          <p:nvPr/>
        </p:nvSpPr>
        <p:spPr bwMode="auto">
          <a:xfrm>
            <a:off x="6191250" y="5253038"/>
            <a:ext cx="1809750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sz="1300" dirty="0"/>
              <a:t>Veines pulmonaires gauches</a:t>
            </a:r>
          </a:p>
        </p:txBody>
      </p:sp>
      <p:sp>
        <p:nvSpPr>
          <p:cNvPr id="5132" name="Text Box 12"/>
          <p:cNvSpPr txBox="1">
            <a:spLocks noChangeArrowheads="1"/>
          </p:cNvSpPr>
          <p:nvPr/>
        </p:nvSpPr>
        <p:spPr bwMode="auto">
          <a:xfrm>
            <a:off x="4022725" y="4416425"/>
            <a:ext cx="434975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sz="1300" i="1" dirty="0">
                <a:solidFill>
                  <a:schemeClr val="bg1"/>
                </a:solidFill>
              </a:rPr>
              <a:t>OD</a:t>
            </a:r>
          </a:p>
        </p:txBody>
      </p:sp>
      <p:sp>
        <p:nvSpPr>
          <p:cNvPr id="5133" name="Text Box 13"/>
          <p:cNvSpPr txBox="1">
            <a:spLocks noChangeArrowheads="1"/>
          </p:cNvSpPr>
          <p:nvPr/>
        </p:nvSpPr>
        <p:spPr bwMode="auto">
          <a:xfrm>
            <a:off x="4564063" y="5376863"/>
            <a:ext cx="415925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sz="1300" i="1" dirty="0">
                <a:solidFill>
                  <a:schemeClr val="bg1"/>
                </a:solidFill>
              </a:rPr>
              <a:t>VD</a:t>
            </a:r>
          </a:p>
        </p:txBody>
      </p:sp>
      <p:sp>
        <p:nvSpPr>
          <p:cNvPr id="5134" name="Text Box 14"/>
          <p:cNvSpPr txBox="1">
            <a:spLocks noChangeArrowheads="1"/>
          </p:cNvSpPr>
          <p:nvPr/>
        </p:nvSpPr>
        <p:spPr bwMode="auto">
          <a:xfrm>
            <a:off x="5000625" y="5376863"/>
            <a:ext cx="42545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sz="1300" i="1" dirty="0">
                <a:solidFill>
                  <a:schemeClr val="bg1"/>
                </a:solidFill>
              </a:rPr>
              <a:t>VG</a:t>
            </a:r>
          </a:p>
        </p:txBody>
      </p:sp>
      <p:sp>
        <p:nvSpPr>
          <p:cNvPr id="5135" name="Text Box 15"/>
          <p:cNvSpPr txBox="1">
            <a:spLocks noChangeArrowheads="1"/>
          </p:cNvSpPr>
          <p:nvPr/>
        </p:nvSpPr>
        <p:spPr bwMode="auto">
          <a:xfrm>
            <a:off x="5516563" y="4392613"/>
            <a:ext cx="442912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sz="1300" i="1" dirty="0">
                <a:solidFill>
                  <a:schemeClr val="bg1"/>
                </a:solidFill>
              </a:rPr>
              <a:t>OG</a:t>
            </a:r>
          </a:p>
        </p:txBody>
      </p:sp>
      <p:sp>
        <p:nvSpPr>
          <p:cNvPr id="5136" name="Text Box 17"/>
          <p:cNvSpPr txBox="1">
            <a:spLocks noChangeArrowheads="1"/>
          </p:cNvSpPr>
          <p:nvPr/>
        </p:nvSpPr>
        <p:spPr bwMode="auto">
          <a:xfrm>
            <a:off x="5734050" y="2120900"/>
            <a:ext cx="1328738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sz="1300" i="1" dirty="0">
                <a:solidFill>
                  <a:schemeClr val="bg1"/>
                </a:solidFill>
              </a:rPr>
              <a:t>Vers la circulation systémique</a:t>
            </a:r>
          </a:p>
        </p:txBody>
      </p:sp>
      <p:sp>
        <p:nvSpPr>
          <p:cNvPr id="5137" name="Line 18"/>
          <p:cNvSpPr>
            <a:spLocks noChangeShapeType="1"/>
          </p:cNvSpPr>
          <p:nvPr/>
        </p:nvSpPr>
        <p:spPr bwMode="auto">
          <a:xfrm>
            <a:off x="5146675" y="457200"/>
            <a:ext cx="0" cy="536575"/>
          </a:xfrm>
          <a:prstGeom prst="line">
            <a:avLst/>
          </a:prstGeom>
          <a:noFill/>
          <a:ln w="349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5138" name="Line 20"/>
          <p:cNvSpPr>
            <a:spLocks noChangeShapeType="1"/>
          </p:cNvSpPr>
          <p:nvPr/>
        </p:nvSpPr>
        <p:spPr bwMode="auto">
          <a:xfrm>
            <a:off x="2451100" y="679450"/>
            <a:ext cx="0" cy="1012825"/>
          </a:xfrm>
          <a:prstGeom prst="line">
            <a:avLst/>
          </a:prstGeom>
          <a:noFill/>
          <a:ln w="349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5139" name="Line 21"/>
          <p:cNvSpPr>
            <a:spLocks noChangeShapeType="1"/>
          </p:cNvSpPr>
          <p:nvPr/>
        </p:nvSpPr>
        <p:spPr bwMode="auto">
          <a:xfrm>
            <a:off x="3895725" y="1873250"/>
            <a:ext cx="330200" cy="0"/>
          </a:xfrm>
          <a:prstGeom prst="line">
            <a:avLst/>
          </a:prstGeom>
          <a:noFill/>
          <a:ln w="349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5140" name="Line 22"/>
          <p:cNvSpPr>
            <a:spLocks noChangeShapeType="1"/>
          </p:cNvSpPr>
          <p:nvPr/>
        </p:nvSpPr>
        <p:spPr bwMode="auto">
          <a:xfrm>
            <a:off x="7115175" y="682625"/>
            <a:ext cx="0" cy="1012825"/>
          </a:xfrm>
          <a:prstGeom prst="line">
            <a:avLst/>
          </a:prstGeom>
          <a:noFill/>
          <a:ln w="349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5141" name="Line 23"/>
          <p:cNvSpPr>
            <a:spLocks noChangeShapeType="1"/>
          </p:cNvSpPr>
          <p:nvPr/>
        </p:nvSpPr>
        <p:spPr bwMode="auto">
          <a:xfrm flipV="1">
            <a:off x="6083300" y="2981325"/>
            <a:ext cx="285750" cy="533400"/>
          </a:xfrm>
          <a:prstGeom prst="line">
            <a:avLst/>
          </a:prstGeom>
          <a:noFill/>
          <a:ln w="349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5142" name="Line 24"/>
          <p:cNvSpPr>
            <a:spLocks noChangeShapeType="1"/>
          </p:cNvSpPr>
          <p:nvPr/>
        </p:nvSpPr>
        <p:spPr bwMode="auto">
          <a:xfrm>
            <a:off x="6680200" y="4524375"/>
            <a:ext cx="0" cy="330200"/>
          </a:xfrm>
          <a:prstGeom prst="line">
            <a:avLst/>
          </a:prstGeom>
          <a:noFill/>
          <a:ln w="349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5143" name="Line 25"/>
          <p:cNvSpPr>
            <a:spLocks noChangeShapeType="1"/>
          </p:cNvSpPr>
          <p:nvPr/>
        </p:nvSpPr>
        <p:spPr bwMode="auto">
          <a:xfrm>
            <a:off x="5410200" y="944563"/>
            <a:ext cx="0" cy="536575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5144" name="Line 26"/>
          <p:cNvSpPr>
            <a:spLocks noChangeShapeType="1"/>
          </p:cNvSpPr>
          <p:nvPr/>
        </p:nvSpPr>
        <p:spPr bwMode="auto">
          <a:xfrm>
            <a:off x="3779838" y="944563"/>
            <a:ext cx="0" cy="530225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5145" name="Line 27"/>
          <p:cNvSpPr>
            <a:spLocks noChangeShapeType="1"/>
          </p:cNvSpPr>
          <p:nvPr/>
        </p:nvSpPr>
        <p:spPr bwMode="auto">
          <a:xfrm flipV="1">
            <a:off x="2209800" y="2535238"/>
            <a:ext cx="331788" cy="9525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5146" name="Line 28"/>
          <p:cNvSpPr>
            <a:spLocks noChangeShapeType="1"/>
          </p:cNvSpPr>
          <p:nvPr/>
        </p:nvSpPr>
        <p:spPr bwMode="auto">
          <a:xfrm>
            <a:off x="4225925" y="2081213"/>
            <a:ext cx="3302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5147" name="Line 29"/>
          <p:cNvSpPr>
            <a:spLocks noChangeShapeType="1"/>
          </p:cNvSpPr>
          <p:nvPr/>
        </p:nvSpPr>
        <p:spPr bwMode="auto">
          <a:xfrm flipH="1">
            <a:off x="7696200" y="1692275"/>
            <a:ext cx="304800" cy="441325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5148" name="Line 30"/>
          <p:cNvSpPr>
            <a:spLocks noChangeShapeType="1"/>
          </p:cNvSpPr>
          <p:nvPr/>
        </p:nvSpPr>
        <p:spPr bwMode="auto">
          <a:xfrm>
            <a:off x="6369050" y="3944938"/>
            <a:ext cx="476250" cy="4762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5149" name="Line 31"/>
          <p:cNvSpPr>
            <a:spLocks noChangeShapeType="1"/>
          </p:cNvSpPr>
          <p:nvPr/>
        </p:nvSpPr>
        <p:spPr bwMode="auto">
          <a:xfrm>
            <a:off x="6683375" y="4832350"/>
            <a:ext cx="0" cy="3302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 dirty="0"/>
          </a:p>
        </p:txBody>
      </p:sp>
      <p:sp>
        <p:nvSpPr>
          <p:cNvPr id="5151" name="TextBox 32"/>
          <p:cNvSpPr txBox="1">
            <a:spLocks noChangeArrowheads="1"/>
          </p:cNvSpPr>
          <p:nvPr/>
        </p:nvSpPr>
        <p:spPr bwMode="auto">
          <a:xfrm>
            <a:off x="380643" y="4035525"/>
            <a:ext cx="2073988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 b="0" dirty="0"/>
              <a:t>OD = oreillette droite</a:t>
            </a:r>
          </a:p>
          <a:p>
            <a:r>
              <a:rPr lang="fr-CA" altLang="fr-FR" sz="1400" b="0" dirty="0"/>
              <a:t>VD = ventricule droit</a:t>
            </a:r>
          </a:p>
          <a:p>
            <a:r>
              <a:rPr lang="fr-CA" altLang="fr-FR" sz="1400" b="0" dirty="0"/>
              <a:t>OG = oreillette gauche</a:t>
            </a:r>
          </a:p>
          <a:p>
            <a:r>
              <a:rPr lang="fr-CA" altLang="fr-FR" sz="1400" b="0" dirty="0"/>
              <a:t>VG = ventricule gauche</a:t>
            </a:r>
          </a:p>
        </p:txBody>
      </p:sp>
      <p:sp>
        <p:nvSpPr>
          <p:cNvPr id="5152" name="TextBox 1"/>
          <p:cNvSpPr txBox="1">
            <a:spLocks noChangeArrowheads="1"/>
          </p:cNvSpPr>
          <p:nvPr/>
        </p:nvSpPr>
        <p:spPr bwMode="auto">
          <a:xfrm>
            <a:off x="2243788" y="6073091"/>
            <a:ext cx="631615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en-US" sz="1600" b="0" dirty="0">
                <a:solidFill>
                  <a:srgbClr val="0000FF"/>
                </a:solidFill>
              </a:rPr>
              <a:t>Fig. 19.21 Représentation schématique de la circulation pulmonaire</a:t>
            </a:r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C092F283-B796-4129-A085-4541F0F26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77" y="-15873"/>
            <a:ext cx="40126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en-US" sz="2000" dirty="0">
                <a:solidFill>
                  <a:srgbClr val="0000FF"/>
                </a:solidFill>
              </a:rPr>
              <a:t>6.1.1 </a:t>
            </a:r>
            <a:r>
              <a:rPr lang="fr-CA" altLang="en-US" sz="2000" b="0" dirty="0">
                <a:solidFill>
                  <a:srgbClr val="0000FF"/>
                </a:solidFill>
              </a:rPr>
              <a:t> </a:t>
            </a:r>
            <a:r>
              <a:rPr lang="fr-CA" altLang="en-US" sz="2000" u="sng" dirty="0">
                <a:solidFill>
                  <a:srgbClr val="0000FF"/>
                </a:solidFill>
              </a:rPr>
              <a:t>La circulation pulmonaire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figure_19_20_unlabel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1"/>
          <a:stretch>
            <a:fillRect/>
          </a:stretch>
        </p:blipFill>
        <p:spPr bwMode="auto">
          <a:xfrm>
            <a:off x="5838029" y="251560"/>
            <a:ext cx="3011487" cy="645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Line 3"/>
          <p:cNvSpPr>
            <a:spLocks noChangeShapeType="1"/>
          </p:cNvSpPr>
          <p:nvPr/>
        </p:nvSpPr>
        <p:spPr bwMode="auto">
          <a:xfrm flipH="1">
            <a:off x="6260304" y="5699860"/>
            <a:ext cx="84137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 flipH="1">
            <a:off x="7984329" y="5039460"/>
            <a:ext cx="134937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6149" name="Line 5"/>
          <p:cNvSpPr>
            <a:spLocks noChangeShapeType="1"/>
          </p:cNvSpPr>
          <p:nvPr/>
        </p:nvSpPr>
        <p:spPr bwMode="auto">
          <a:xfrm flipH="1">
            <a:off x="6274591" y="4388585"/>
            <a:ext cx="762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6150" name="Line 6"/>
          <p:cNvSpPr>
            <a:spLocks noChangeShapeType="1"/>
          </p:cNvSpPr>
          <p:nvPr/>
        </p:nvSpPr>
        <p:spPr bwMode="auto">
          <a:xfrm flipV="1">
            <a:off x="7798591" y="3975835"/>
            <a:ext cx="0" cy="2254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6151" name="Line 7"/>
          <p:cNvSpPr>
            <a:spLocks noChangeShapeType="1"/>
          </p:cNvSpPr>
          <p:nvPr/>
        </p:nvSpPr>
        <p:spPr bwMode="auto">
          <a:xfrm flipV="1">
            <a:off x="6844504" y="3985360"/>
            <a:ext cx="0" cy="2127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6152" name="Line 8"/>
          <p:cNvSpPr>
            <a:spLocks noChangeShapeType="1"/>
          </p:cNvSpPr>
          <p:nvPr/>
        </p:nvSpPr>
        <p:spPr bwMode="auto">
          <a:xfrm flipH="1">
            <a:off x="6625429" y="3502760"/>
            <a:ext cx="93662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6153" name="Line 9"/>
          <p:cNvSpPr>
            <a:spLocks noChangeShapeType="1"/>
          </p:cNvSpPr>
          <p:nvPr/>
        </p:nvSpPr>
        <p:spPr bwMode="auto">
          <a:xfrm flipH="1">
            <a:off x="7971629" y="3502760"/>
            <a:ext cx="1524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6154" name="Line 10"/>
          <p:cNvSpPr>
            <a:spLocks noChangeShapeType="1"/>
          </p:cNvSpPr>
          <p:nvPr/>
        </p:nvSpPr>
        <p:spPr bwMode="auto">
          <a:xfrm flipH="1">
            <a:off x="6366666" y="1140560"/>
            <a:ext cx="1397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6155" name="Line 11"/>
          <p:cNvSpPr>
            <a:spLocks noChangeShapeType="1"/>
          </p:cNvSpPr>
          <p:nvPr/>
        </p:nvSpPr>
        <p:spPr bwMode="auto">
          <a:xfrm flipH="1">
            <a:off x="7458866" y="1908910"/>
            <a:ext cx="1905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6156" name="Line 12"/>
          <p:cNvSpPr>
            <a:spLocks noChangeShapeType="1"/>
          </p:cNvSpPr>
          <p:nvPr/>
        </p:nvSpPr>
        <p:spPr bwMode="auto">
          <a:xfrm flipH="1">
            <a:off x="7933529" y="1283435"/>
            <a:ext cx="427037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6157" name="Line 13"/>
          <p:cNvSpPr>
            <a:spLocks noChangeShapeType="1"/>
          </p:cNvSpPr>
          <p:nvPr/>
        </p:nvSpPr>
        <p:spPr bwMode="auto">
          <a:xfrm flipH="1">
            <a:off x="7785891" y="597635"/>
            <a:ext cx="2286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6158" name="Rectangle 15"/>
          <p:cNvSpPr>
            <a:spLocks noChangeArrowheads="1"/>
          </p:cNvSpPr>
          <p:nvPr/>
        </p:nvSpPr>
        <p:spPr bwMode="auto">
          <a:xfrm>
            <a:off x="7968454" y="456028"/>
            <a:ext cx="1178720" cy="683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fr-CA" altLang="fr-FR" sz="800" dirty="0"/>
              <a:t>Artères carotides communes vers la tête et artères subclavières vers les membres supérieurs</a:t>
            </a:r>
          </a:p>
        </p:txBody>
      </p:sp>
      <p:sp>
        <p:nvSpPr>
          <p:cNvPr id="6159" name="Rectangle 16"/>
          <p:cNvSpPr>
            <a:spLocks noChangeArrowheads="1"/>
          </p:cNvSpPr>
          <p:nvPr/>
        </p:nvSpPr>
        <p:spPr bwMode="auto">
          <a:xfrm>
            <a:off x="6430166" y="613510"/>
            <a:ext cx="1295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fr-CA" altLang="fr-FR" sz="800" i="1"/>
              <a:t>Lits capillaires de la tête et des membranes supérieurs</a:t>
            </a:r>
          </a:p>
        </p:txBody>
      </p:sp>
      <p:sp>
        <p:nvSpPr>
          <p:cNvPr id="6160" name="Rectangle 17"/>
          <p:cNvSpPr>
            <a:spLocks noChangeArrowheads="1"/>
          </p:cNvSpPr>
          <p:nvPr/>
        </p:nvSpPr>
        <p:spPr bwMode="auto">
          <a:xfrm>
            <a:off x="7595391" y="1813660"/>
            <a:ext cx="452438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800"/>
              <a:t>Aorte</a:t>
            </a:r>
          </a:p>
        </p:txBody>
      </p:sp>
      <p:sp>
        <p:nvSpPr>
          <p:cNvPr id="6161" name="Rectangle 18"/>
          <p:cNvSpPr>
            <a:spLocks noChangeArrowheads="1"/>
          </p:cNvSpPr>
          <p:nvPr/>
        </p:nvSpPr>
        <p:spPr bwMode="auto">
          <a:xfrm>
            <a:off x="6468266" y="1054835"/>
            <a:ext cx="1104900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fr-CA" altLang="fr-FR" sz="800"/>
              <a:t>Veine cave supérieure</a:t>
            </a:r>
          </a:p>
        </p:txBody>
      </p:sp>
      <p:sp>
        <p:nvSpPr>
          <p:cNvPr id="6162" name="Rectangle 19"/>
          <p:cNvSpPr>
            <a:spLocks noChangeArrowheads="1"/>
          </p:cNvSpPr>
          <p:nvPr/>
        </p:nvSpPr>
        <p:spPr bwMode="auto">
          <a:xfrm>
            <a:off x="8316117" y="1145325"/>
            <a:ext cx="678658" cy="301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fr-CA" altLang="fr-FR" sz="800" dirty="0"/>
              <a:t>Crosse  de l’aorte</a:t>
            </a:r>
          </a:p>
        </p:txBody>
      </p:sp>
      <p:sp>
        <p:nvSpPr>
          <p:cNvPr id="6163" name="Rectangle 20"/>
          <p:cNvSpPr>
            <a:spLocks noChangeArrowheads="1"/>
          </p:cNvSpPr>
          <p:nvPr/>
        </p:nvSpPr>
        <p:spPr bwMode="auto">
          <a:xfrm>
            <a:off x="6758779" y="2750285"/>
            <a:ext cx="3397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800" i="1">
                <a:solidFill>
                  <a:schemeClr val="bg1"/>
                </a:solidFill>
              </a:rPr>
              <a:t>OD</a:t>
            </a:r>
          </a:p>
        </p:txBody>
      </p:sp>
      <p:sp>
        <p:nvSpPr>
          <p:cNvPr id="6164" name="Rectangle 21"/>
          <p:cNvSpPr>
            <a:spLocks noChangeArrowheads="1"/>
          </p:cNvSpPr>
          <p:nvPr/>
        </p:nvSpPr>
        <p:spPr bwMode="auto">
          <a:xfrm>
            <a:off x="7484266" y="2750285"/>
            <a:ext cx="34448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800" i="1">
                <a:solidFill>
                  <a:schemeClr val="bg1"/>
                </a:solidFill>
              </a:rPr>
              <a:t>OG</a:t>
            </a:r>
          </a:p>
        </p:txBody>
      </p:sp>
      <p:sp>
        <p:nvSpPr>
          <p:cNvPr id="6165" name="Rectangle 22"/>
          <p:cNvSpPr>
            <a:spLocks noChangeArrowheads="1"/>
          </p:cNvSpPr>
          <p:nvPr/>
        </p:nvSpPr>
        <p:spPr bwMode="auto">
          <a:xfrm>
            <a:off x="7017541" y="3223360"/>
            <a:ext cx="3286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800" i="1">
                <a:solidFill>
                  <a:schemeClr val="bg1"/>
                </a:solidFill>
              </a:rPr>
              <a:t>VD</a:t>
            </a:r>
          </a:p>
        </p:txBody>
      </p:sp>
      <p:sp>
        <p:nvSpPr>
          <p:cNvPr id="6166" name="Rectangle 23"/>
          <p:cNvSpPr>
            <a:spLocks noChangeArrowheads="1"/>
          </p:cNvSpPr>
          <p:nvPr/>
        </p:nvSpPr>
        <p:spPr bwMode="auto">
          <a:xfrm>
            <a:off x="7236616" y="3226535"/>
            <a:ext cx="3333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800" i="1">
                <a:solidFill>
                  <a:schemeClr val="bg1"/>
                </a:solidFill>
              </a:rPr>
              <a:t>VG</a:t>
            </a:r>
          </a:p>
        </p:txBody>
      </p:sp>
      <p:sp>
        <p:nvSpPr>
          <p:cNvPr id="6167" name="Rectangle 24"/>
          <p:cNvSpPr>
            <a:spLocks noChangeArrowheads="1"/>
          </p:cNvSpPr>
          <p:nvPr/>
        </p:nvSpPr>
        <p:spPr bwMode="auto">
          <a:xfrm>
            <a:off x="6517479" y="3401160"/>
            <a:ext cx="779462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fr-CA" altLang="fr-FR" sz="800"/>
              <a:t>Veines azygos</a:t>
            </a:r>
          </a:p>
        </p:txBody>
      </p:sp>
      <p:sp>
        <p:nvSpPr>
          <p:cNvPr id="6168" name="Rectangle 25"/>
          <p:cNvSpPr>
            <a:spLocks noChangeArrowheads="1"/>
          </p:cNvSpPr>
          <p:nvPr/>
        </p:nvSpPr>
        <p:spPr bwMode="auto">
          <a:xfrm>
            <a:off x="7390604" y="3375760"/>
            <a:ext cx="906462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fr-CA" altLang="fr-FR" sz="800"/>
              <a:t>Aorte thoracique</a:t>
            </a:r>
          </a:p>
        </p:txBody>
      </p:sp>
      <p:sp>
        <p:nvSpPr>
          <p:cNvPr id="6169" name="Rectangle 26"/>
          <p:cNvSpPr>
            <a:spLocks noChangeArrowheads="1"/>
          </p:cNvSpPr>
          <p:nvPr/>
        </p:nvSpPr>
        <p:spPr bwMode="auto">
          <a:xfrm>
            <a:off x="6650829" y="3705960"/>
            <a:ext cx="76993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fr-CA" altLang="fr-FR" sz="800"/>
              <a:t>Sang veineux</a:t>
            </a:r>
          </a:p>
        </p:txBody>
      </p:sp>
      <p:sp>
        <p:nvSpPr>
          <p:cNvPr id="6170" name="Rectangle 27"/>
          <p:cNvSpPr>
            <a:spLocks noChangeArrowheads="1"/>
          </p:cNvSpPr>
          <p:nvPr/>
        </p:nvSpPr>
        <p:spPr bwMode="auto">
          <a:xfrm>
            <a:off x="7496966" y="3705960"/>
            <a:ext cx="681038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fr-CA" altLang="fr-FR" sz="800"/>
              <a:t>Sang artériel</a:t>
            </a:r>
          </a:p>
        </p:txBody>
      </p:sp>
      <p:sp>
        <p:nvSpPr>
          <p:cNvPr id="6171" name="Rectangle 28"/>
          <p:cNvSpPr>
            <a:spLocks noChangeArrowheads="1"/>
          </p:cNvSpPr>
          <p:nvPr/>
        </p:nvSpPr>
        <p:spPr bwMode="auto">
          <a:xfrm>
            <a:off x="6582566" y="4413985"/>
            <a:ext cx="1419225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fr-CA" altLang="fr-FR" sz="800" i="1"/>
              <a:t>Lits capillaires des structures du médiastin et de la paroi thoracique</a:t>
            </a:r>
          </a:p>
        </p:txBody>
      </p:sp>
      <p:sp>
        <p:nvSpPr>
          <p:cNvPr id="6172" name="Rectangle 29"/>
          <p:cNvSpPr>
            <a:spLocks noChangeArrowheads="1"/>
          </p:cNvSpPr>
          <p:nvPr/>
        </p:nvSpPr>
        <p:spPr bwMode="auto">
          <a:xfrm>
            <a:off x="5606254" y="4283810"/>
            <a:ext cx="8524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fr-CA" altLang="fr-FR" sz="800"/>
              <a:t>Veine cave inférieure</a:t>
            </a:r>
          </a:p>
        </p:txBody>
      </p:sp>
      <p:sp>
        <p:nvSpPr>
          <p:cNvPr id="6173" name="Rectangle 30"/>
          <p:cNvSpPr>
            <a:spLocks noChangeArrowheads="1"/>
          </p:cNvSpPr>
          <p:nvPr/>
        </p:nvSpPr>
        <p:spPr bwMode="auto">
          <a:xfrm>
            <a:off x="6884191" y="4785460"/>
            <a:ext cx="777875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800" i="1"/>
              <a:t>Diaphragme</a:t>
            </a:r>
          </a:p>
        </p:txBody>
      </p:sp>
      <p:sp>
        <p:nvSpPr>
          <p:cNvPr id="6174" name="Rectangle 31"/>
          <p:cNvSpPr>
            <a:spLocks noChangeArrowheads="1"/>
          </p:cNvSpPr>
          <p:nvPr/>
        </p:nvSpPr>
        <p:spPr bwMode="auto">
          <a:xfrm>
            <a:off x="6982616" y="4972785"/>
            <a:ext cx="1054100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fr-CA" altLang="fr-FR" sz="800"/>
              <a:t>Aorte abdominale</a:t>
            </a:r>
          </a:p>
        </p:txBody>
      </p:sp>
      <p:sp>
        <p:nvSpPr>
          <p:cNvPr id="6175" name="Rectangle 32"/>
          <p:cNvSpPr>
            <a:spLocks noChangeArrowheads="1"/>
          </p:cNvSpPr>
          <p:nvPr/>
        </p:nvSpPr>
        <p:spPr bwMode="auto">
          <a:xfrm>
            <a:off x="6506366" y="5509360"/>
            <a:ext cx="1531938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fr-CA" altLang="fr-FR" sz="800" i="1"/>
              <a:t>Lits capillaires du système digestif, de la rate, du pancréas et des reins</a:t>
            </a:r>
          </a:p>
        </p:txBody>
      </p:sp>
      <p:sp>
        <p:nvSpPr>
          <p:cNvPr id="6176" name="Rectangle 33"/>
          <p:cNvSpPr>
            <a:spLocks noChangeArrowheads="1"/>
          </p:cNvSpPr>
          <p:nvPr/>
        </p:nvSpPr>
        <p:spPr bwMode="auto">
          <a:xfrm>
            <a:off x="5596729" y="5607785"/>
            <a:ext cx="83343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fr-CA" altLang="fr-FR" sz="800"/>
              <a:t>Veine cave inférieure</a:t>
            </a:r>
          </a:p>
        </p:txBody>
      </p:sp>
      <p:sp>
        <p:nvSpPr>
          <p:cNvPr id="6177" name="Rectangle 34"/>
          <p:cNvSpPr>
            <a:spLocks noChangeArrowheads="1"/>
          </p:cNvSpPr>
          <p:nvPr/>
        </p:nvSpPr>
        <p:spPr bwMode="auto">
          <a:xfrm>
            <a:off x="6277766" y="6376135"/>
            <a:ext cx="2028825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fr-CA" altLang="fr-FR" sz="800" i="1"/>
              <a:t>Lits capillaires des gonades, du bassin et des membres inférieurs</a:t>
            </a:r>
          </a:p>
        </p:txBody>
      </p:sp>
      <p:sp>
        <p:nvSpPr>
          <p:cNvPr id="6178" name="Line 35"/>
          <p:cNvSpPr>
            <a:spLocks noChangeShapeType="1"/>
          </p:cNvSpPr>
          <p:nvPr/>
        </p:nvSpPr>
        <p:spPr bwMode="auto">
          <a:xfrm flipH="1">
            <a:off x="7793829" y="60398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6179" name="Line 36"/>
          <p:cNvSpPr>
            <a:spLocks noChangeShapeType="1"/>
          </p:cNvSpPr>
          <p:nvPr/>
        </p:nvSpPr>
        <p:spPr bwMode="auto">
          <a:xfrm flipH="1">
            <a:off x="7941466" y="1283435"/>
            <a:ext cx="4270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6180" name="Line 37"/>
          <p:cNvSpPr>
            <a:spLocks noChangeShapeType="1"/>
          </p:cNvSpPr>
          <p:nvPr/>
        </p:nvSpPr>
        <p:spPr bwMode="auto">
          <a:xfrm flipH="1">
            <a:off x="7466804" y="1912085"/>
            <a:ext cx="190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6181" name="Line 38"/>
          <p:cNvSpPr>
            <a:spLocks noChangeShapeType="1"/>
          </p:cNvSpPr>
          <p:nvPr/>
        </p:nvSpPr>
        <p:spPr bwMode="auto">
          <a:xfrm flipH="1">
            <a:off x="6374604" y="1143735"/>
            <a:ext cx="139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6182" name="Line 39"/>
          <p:cNvSpPr>
            <a:spLocks noChangeShapeType="1"/>
          </p:cNvSpPr>
          <p:nvPr/>
        </p:nvSpPr>
        <p:spPr bwMode="auto">
          <a:xfrm flipH="1">
            <a:off x="7966866" y="3505935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6183" name="Line 40"/>
          <p:cNvSpPr>
            <a:spLocks noChangeShapeType="1"/>
          </p:cNvSpPr>
          <p:nvPr/>
        </p:nvSpPr>
        <p:spPr bwMode="auto">
          <a:xfrm flipH="1">
            <a:off x="6628604" y="3505935"/>
            <a:ext cx="936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6184" name="Line 41"/>
          <p:cNvSpPr>
            <a:spLocks noChangeShapeType="1"/>
          </p:cNvSpPr>
          <p:nvPr/>
        </p:nvSpPr>
        <p:spPr bwMode="auto">
          <a:xfrm flipV="1">
            <a:off x="6844504" y="3985360"/>
            <a:ext cx="0" cy="212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6185" name="Line 42"/>
          <p:cNvSpPr>
            <a:spLocks noChangeShapeType="1"/>
          </p:cNvSpPr>
          <p:nvPr/>
        </p:nvSpPr>
        <p:spPr bwMode="auto">
          <a:xfrm flipV="1">
            <a:off x="7801766" y="3972660"/>
            <a:ext cx="0" cy="225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6186" name="Line 43"/>
          <p:cNvSpPr>
            <a:spLocks noChangeShapeType="1"/>
          </p:cNvSpPr>
          <p:nvPr/>
        </p:nvSpPr>
        <p:spPr bwMode="auto">
          <a:xfrm flipH="1">
            <a:off x="6269829" y="4388585"/>
            <a:ext cx="7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6187" name="Line 44"/>
          <p:cNvSpPr>
            <a:spLocks noChangeShapeType="1"/>
          </p:cNvSpPr>
          <p:nvPr/>
        </p:nvSpPr>
        <p:spPr bwMode="auto">
          <a:xfrm flipH="1">
            <a:off x="7979566" y="5042635"/>
            <a:ext cx="1349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6188" name="Line 45"/>
          <p:cNvSpPr>
            <a:spLocks noChangeShapeType="1"/>
          </p:cNvSpPr>
          <p:nvPr/>
        </p:nvSpPr>
        <p:spPr bwMode="auto">
          <a:xfrm flipH="1">
            <a:off x="6269829" y="5703035"/>
            <a:ext cx="841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6189" name="TextBox 1"/>
          <p:cNvSpPr txBox="1">
            <a:spLocks noChangeArrowheads="1"/>
          </p:cNvSpPr>
          <p:nvPr/>
        </p:nvSpPr>
        <p:spPr bwMode="auto">
          <a:xfrm>
            <a:off x="226268" y="5868747"/>
            <a:ext cx="5638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b="0" dirty="0">
                <a:solidFill>
                  <a:srgbClr val="0000FF"/>
                </a:solidFill>
              </a:rPr>
              <a:t>La circulation pulmonaire est représentée en gris à titre indicatif. (OD = oreillette droite, VD = ventricule droit, OG = oreillette gauche, VG = ventricule gauche).</a:t>
            </a:r>
          </a:p>
        </p:txBody>
      </p:sp>
      <p:sp>
        <p:nvSpPr>
          <p:cNvPr id="6190" name="Rectangle 1"/>
          <p:cNvSpPr>
            <a:spLocks noChangeArrowheads="1"/>
          </p:cNvSpPr>
          <p:nvPr/>
        </p:nvSpPr>
        <p:spPr bwMode="auto">
          <a:xfrm>
            <a:off x="221404" y="5645009"/>
            <a:ext cx="485616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en-US" b="0" dirty="0">
                <a:solidFill>
                  <a:srgbClr val="0000FF"/>
                </a:solidFill>
              </a:rPr>
              <a:t>Fig. 19.22   Représentation schématique de la circulation systémique</a:t>
            </a:r>
          </a:p>
        </p:txBody>
      </p:sp>
      <p:sp>
        <p:nvSpPr>
          <p:cNvPr id="49" name="Title 1"/>
          <p:cNvSpPr txBox="1">
            <a:spLocks/>
          </p:cNvSpPr>
          <p:nvPr/>
        </p:nvSpPr>
        <p:spPr bwMode="auto">
          <a:xfrm>
            <a:off x="152400" y="76200"/>
            <a:ext cx="694610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2000" rIns="72000">
            <a:spAutoFit/>
          </a:bodyPr>
          <a:lstStyle>
            <a:lvl1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j-lt"/>
                <a:ea typeface="Arial" charset="0"/>
                <a:cs typeface="+mj-cs"/>
              </a:defRPr>
            </a:lvl1pPr>
            <a:lvl2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algn="l" rtl="0" fontAlgn="base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808038" indent="-808038">
              <a:defRPr/>
            </a:pPr>
            <a:r>
              <a:rPr lang="fr-CA" altLang="en-US" kern="0" dirty="0">
                <a:solidFill>
                  <a:srgbClr val="0000FF"/>
                </a:solidFill>
              </a:rPr>
              <a:t>6.1.2 	</a:t>
            </a:r>
            <a:r>
              <a:rPr lang="fr-CA" altLang="en-US" u="sng" kern="0" dirty="0">
                <a:solidFill>
                  <a:srgbClr val="0000FF"/>
                </a:solidFill>
              </a:rPr>
              <a:t>Les artères de la circulation systémique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7322" y="1143777"/>
            <a:ext cx="5279232" cy="45012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defRPr/>
            </a:pPr>
            <a:r>
              <a:rPr lang="fr-FR" altLang="fr-FR" sz="1600" b="0" u="sng" dirty="0">
                <a:solidFill>
                  <a:srgbClr val="000000"/>
                </a:solidFill>
              </a:rPr>
              <a:t>R</a:t>
            </a:r>
            <a:r>
              <a:rPr lang="fr-CA" altLang="fr-FR" sz="1600" b="0" u="sng" dirty="0" err="1">
                <a:solidFill>
                  <a:srgbClr val="000000"/>
                </a:solidFill>
              </a:rPr>
              <a:t>ôle</a:t>
            </a:r>
            <a:r>
              <a:rPr lang="fr-CA" altLang="fr-FR" sz="1600" b="0" u="sng" dirty="0">
                <a:solidFill>
                  <a:srgbClr val="000000"/>
                </a:solidFill>
              </a:rPr>
              <a:t> de la</a:t>
            </a:r>
            <a:r>
              <a:rPr lang="fr-FR" altLang="fr-FR" sz="1600" b="0" u="sng" dirty="0">
                <a:solidFill>
                  <a:srgbClr val="000000"/>
                </a:solidFill>
              </a:rPr>
              <a:t> circulation systémique</a:t>
            </a:r>
            <a:r>
              <a:rPr lang="fr-FR" altLang="fr-FR" sz="1600" b="0" dirty="0">
                <a:solidFill>
                  <a:srgbClr val="000000"/>
                </a:solidFill>
              </a:rPr>
              <a:t> : </a:t>
            </a:r>
          </a:p>
          <a:p>
            <a:pPr>
              <a:defRPr/>
            </a:pPr>
            <a:r>
              <a:rPr lang="fr-CA" altLang="fr-FR" sz="1500" b="0" dirty="0"/>
              <a:t>Fournir à tous les tissus de l’organisme leur irrigation fonctionnelle, c’est-à-dire leur apporter de l’O</a:t>
            </a:r>
            <a:r>
              <a:rPr lang="fr-CA" altLang="fr-FR" sz="1500" b="0" baseline="-25000" dirty="0"/>
              <a:t>2</a:t>
            </a:r>
            <a:r>
              <a:rPr lang="fr-CA" altLang="fr-FR" sz="1500" b="0" dirty="0"/>
              <a:t>, des nutriments et d’autres substances essentielles, et les débarrasser du CO</a:t>
            </a:r>
            <a:r>
              <a:rPr lang="fr-CA" altLang="fr-FR" sz="1500" b="0" baseline="-25000" dirty="0"/>
              <a:t>2</a:t>
            </a:r>
            <a:r>
              <a:rPr lang="fr-CA" altLang="fr-FR" sz="1500" b="0" dirty="0"/>
              <a:t> et des autres déchets métaboliques.</a:t>
            </a:r>
            <a:endParaRPr lang="fr-CA" altLang="fr-FR" sz="1500" b="0" dirty="0">
              <a:solidFill>
                <a:srgbClr val="000000"/>
              </a:solidFill>
            </a:endParaRPr>
          </a:p>
          <a:p>
            <a:pPr>
              <a:defRPr/>
            </a:pPr>
            <a:endParaRPr lang="fr-CA" altLang="fr-FR" b="0" dirty="0">
              <a:solidFill>
                <a:srgbClr val="000000"/>
              </a:solidFill>
            </a:endParaRPr>
          </a:p>
          <a:p>
            <a:pPr>
              <a:defRPr/>
            </a:pPr>
            <a:r>
              <a:rPr lang="fr-CA" altLang="fr-FR" sz="1600" b="0" u="sng" dirty="0">
                <a:solidFill>
                  <a:srgbClr val="000000"/>
                </a:solidFill>
              </a:rPr>
              <a:t>Trajet du sang dans la circulation systémique</a:t>
            </a:r>
            <a:r>
              <a:rPr lang="fr-CA" altLang="fr-FR" sz="1600" b="0" dirty="0">
                <a:solidFill>
                  <a:srgbClr val="000000"/>
                </a:solidFill>
              </a:rPr>
              <a:t> : </a:t>
            </a:r>
          </a:p>
          <a:p>
            <a:pPr>
              <a:defRPr/>
            </a:pPr>
            <a:r>
              <a:rPr lang="fr-CA" altLang="fr-FR" sz="1500" b="0" dirty="0">
                <a:solidFill>
                  <a:srgbClr val="000000"/>
                </a:solidFill>
              </a:rPr>
              <a:t>Ventricule gauche  </a:t>
            </a:r>
            <a:r>
              <a:rPr lang="fr-CA" altLang="fr-FR" sz="1500" b="0" dirty="0">
                <a:solidFill>
                  <a:srgbClr val="000000"/>
                </a:solidFill>
                <a:sym typeface="Wingdings"/>
              </a:rPr>
              <a:t></a:t>
            </a:r>
            <a:r>
              <a:rPr lang="fr-CA" altLang="fr-FR" sz="1500" b="0" dirty="0">
                <a:solidFill>
                  <a:srgbClr val="000000"/>
                </a:solidFill>
                <a:sym typeface="Wingdings" pitchFamily="2" charset="2"/>
              </a:rPr>
              <a:t>  Aorte  </a:t>
            </a:r>
            <a:r>
              <a:rPr lang="fr-CA" altLang="fr-FR" sz="1500" b="0" dirty="0">
                <a:solidFill>
                  <a:srgbClr val="000000"/>
                </a:solidFill>
                <a:sym typeface="Wingdings"/>
              </a:rPr>
              <a:t></a:t>
            </a:r>
            <a:r>
              <a:rPr lang="fr-CA" altLang="fr-FR" sz="1500" b="0" dirty="0">
                <a:solidFill>
                  <a:srgbClr val="000000"/>
                </a:solidFill>
                <a:sym typeface="Wingdings" pitchFamily="2" charset="2"/>
              </a:rPr>
              <a:t>  Artères systémiques</a:t>
            </a:r>
          </a:p>
          <a:p>
            <a:pPr marL="285750" indent="-285750">
              <a:buFont typeface="Wingdings"/>
              <a:buChar char="ð"/>
              <a:defRPr/>
            </a:pPr>
            <a:r>
              <a:rPr lang="fr-CA" altLang="fr-FR" sz="1500" b="0" dirty="0">
                <a:solidFill>
                  <a:srgbClr val="000000"/>
                </a:solidFill>
                <a:sym typeface="Wingdings" pitchFamily="2" charset="2"/>
              </a:rPr>
              <a:t>Artérioles  </a:t>
            </a:r>
            <a:r>
              <a:rPr lang="fr-CA" altLang="fr-FR" sz="1500" b="0" dirty="0">
                <a:solidFill>
                  <a:srgbClr val="000000"/>
                </a:solidFill>
                <a:sym typeface="Wingdings"/>
              </a:rPr>
              <a:t></a:t>
            </a:r>
            <a:r>
              <a:rPr lang="fr-CA" altLang="fr-FR" sz="1500" b="0" dirty="0">
                <a:solidFill>
                  <a:srgbClr val="000000"/>
                </a:solidFill>
                <a:sym typeface="Wingdings" pitchFamily="2" charset="2"/>
              </a:rPr>
              <a:t>  Lits capillaires  </a:t>
            </a:r>
            <a:r>
              <a:rPr lang="fr-CA" altLang="fr-FR" sz="1500" b="0" dirty="0">
                <a:solidFill>
                  <a:srgbClr val="000000"/>
                </a:solidFill>
                <a:sym typeface="Wingdings"/>
              </a:rPr>
              <a:t></a:t>
            </a:r>
            <a:r>
              <a:rPr lang="fr-CA" altLang="fr-FR" sz="1500" b="0" dirty="0">
                <a:solidFill>
                  <a:srgbClr val="000000"/>
                </a:solidFill>
                <a:sym typeface="Wingdings" pitchFamily="2" charset="2"/>
              </a:rPr>
              <a:t>  Veinules</a:t>
            </a:r>
          </a:p>
          <a:p>
            <a:pPr marL="285750" indent="-285750">
              <a:buFont typeface="Wingdings"/>
              <a:buChar char="ð"/>
              <a:defRPr/>
            </a:pPr>
            <a:r>
              <a:rPr lang="fr-CA" altLang="fr-FR" sz="1500" b="0" dirty="0">
                <a:solidFill>
                  <a:srgbClr val="000000"/>
                </a:solidFill>
                <a:sym typeface="Wingdings" pitchFamily="2" charset="2"/>
              </a:rPr>
              <a:t>Veines systémiques  </a:t>
            </a:r>
            <a:r>
              <a:rPr lang="fr-CA" altLang="fr-FR" sz="1500" b="0" dirty="0">
                <a:solidFill>
                  <a:srgbClr val="000000"/>
                </a:solidFill>
                <a:sym typeface="Wingdings"/>
              </a:rPr>
              <a:t></a:t>
            </a:r>
            <a:r>
              <a:rPr lang="fr-CA" altLang="fr-FR" sz="1500" b="0" dirty="0">
                <a:solidFill>
                  <a:srgbClr val="000000"/>
                </a:solidFill>
                <a:sym typeface="Wingdings" pitchFamily="2" charset="2"/>
              </a:rPr>
              <a:t>  Veine cave inférieure ou supérieure  </a:t>
            </a:r>
            <a:r>
              <a:rPr lang="fr-CA" altLang="fr-FR" sz="1500" b="0" dirty="0">
                <a:solidFill>
                  <a:srgbClr val="000000"/>
                </a:solidFill>
                <a:sym typeface="Wingdings"/>
              </a:rPr>
              <a:t></a:t>
            </a:r>
            <a:r>
              <a:rPr lang="fr-CA" altLang="fr-FR" sz="1500" b="0" dirty="0">
                <a:solidFill>
                  <a:srgbClr val="000000"/>
                </a:solidFill>
                <a:sym typeface="Wingdings" pitchFamily="2" charset="2"/>
              </a:rPr>
              <a:t>  Oreillette droite</a:t>
            </a:r>
          </a:p>
          <a:p>
            <a:pPr>
              <a:buFont typeface="Arial" pitchFamily="34" charset="0"/>
              <a:buChar char="•"/>
              <a:defRPr/>
            </a:pPr>
            <a:endParaRPr lang="fr-CA" altLang="fr-FR" sz="1500" b="0" dirty="0">
              <a:solidFill>
                <a:srgbClr val="000000"/>
              </a:solidFill>
              <a:sym typeface="Wingdings" pitchFamily="2" charset="2"/>
            </a:endParaRPr>
          </a:p>
          <a:p>
            <a:pPr>
              <a:defRPr/>
            </a:pPr>
            <a:r>
              <a:rPr lang="fr-CA" altLang="fr-FR" sz="1500" b="0" u="sng" dirty="0">
                <a:solidFill>
                  <a:srgbClr val="000000"/>
                </a:solidFill>
                <a:sym typeface="Wingdings" pitchFamily="2" charset="2"/>
              </a:rPr>
              <a:t>Notes</a:t>
            </a:r>
            <a:r>
              <a:rPr lang="fr-CA" altLang="fr-FR" sz="1500" b="0" dirty="0">
                <a:solidFill>
                  <a:srgbClr val="000000"/>
                </a:solidFill>
                <a:sym typeface="Wingdings" pitchFamily="2" charset="2"/>
              </a:rPr>
              <a:t> : </a:t>
            </a:r>
          </a:p>
          <a:p>
            <a:pPr marL="268288" indent="-268288">
              <a:buFont typeface="Wingdings" pitchFamily="2" charset="2"/>
              <a:buChar char="ü"/>
              <a:defRPr/>
            </a:pPr>
            <a:r>
              <a:rPr lang="fr-CA" altLang="fr-FR" sz="1500" b="0" dirty="0"/>
              <a:t>La très grande majorité du sang ne passe des veines systémiques aux artères systémiques qu’après avoir traversé la circulation pulmonaire.</a:t>
            </a:r>
            <a:endParaRPr lang="en-CA" altLang="fr-FR" sz="1500" b="0" dirty="0"/>
          </a:p>
          <a:p>
            <a:pPr marL="268288" indent="-268288">
              <a:spcBef>
                <a:spcPts val="300"/>
              </a:spcBef>
              <a:buFont typeface="Wingdings" pitchFamily="2" charset="2"/>
              <a:buChar char="ü"/>
              <a:defRPr/>
            </a:pPr>
            <a:r>
              <a:rPr lang="fr-CA" altLang="fr-FR" sz="1500" b="0" dirty="0"/>
              <a:t>On peut comparer la circulation systémique à un réseau de conduits parallèles distribuant le sang à tous les organes.</a:t>
            </a:r>
            <a:endParaRPr lang="fr-CA" altLang="fr-FR" sz="1500" b="0" dirty="0">
              <a:solidFill>
                <a:srgbClr val="000000"/>
              </a:solidFill>
            </a:endParaRPr>
          </a:p>
        </p:txBody>
      </p:sp>
      <p:sp>
        <p:nvSpPr>
          <p:cNvPr id="51" name="Title 1"/>
          <p:cNvSpPr txBox="1">
            <a:spLocks/>
          </p:cNvSpPr>
          <p:nvPr/>
        </p:nvSpPr>
        <p:spPr bwMode="auto">
          <a:xfrm>
            <a:off x="146841" y="456028"/>
            <a:ext cx="56933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/>
          </a:extLst>
        </p:spPr>
        <p:txBody>
          <a:bodyPr wrap="square" lIns="72000" rIns="72000">
            <a:spAutoFit/>
          </a:bodyPr>
          <a:lstStyle>
            <a:lvl1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j-lt"/>
                <a:ea typeface="Arial" charset="0"/>
                <a:cs typeface="+mj-cs"/>
              </a:defRPr>
            </a:lvl1pPr>
            <a:lvl2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algn="l" rtl="0" fontAlgn="base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809625" indent="-809625">
              <a:defRPr/>
            </a:pPr>
            <a:r>
              <a:rPr lang="fr-CA" sz="1800" b="0" kern="0" dirty="0">
                <a:solidFill>
                  <a:srgbClr val="0000FF"/>
                </a:solidFill>
              </a:rPr>
              <a:t>6.1.2.1	Décrire les rôles et caractéristiques de la circulation systémique.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8"/>
          <p:cNvSpPr>
            <a:spLocks noGrp="1" noChangeArrowheads="1"/>
          </p:cNvSpPr>
          <p:nvPr>
            <p:ph type="title" idx="4294967295"/>
          </p:nvPr>
        </p:nvSpPr>
        <p:spPr>
          <a:xfrm>
            <a:off x="3843338" y="6500813"/>
            <a:ext cx="5300662" cy="276225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fr-CA" altLang="fr-FR" sz="1200" dirty="0">
                <a:solidFill>
                  <a:srgbClr val="0000FF"/>
                </a:solidFill>
              </a:rPr>
              <a:t>Figure 19.23b  Principales artères de la circulation systémique.</a:t>
            </a:r>
            <a:endParaRPr lang="fr-CA" altLang="fr-FR" dirty="0">
              <a:solidFill>
                <a:srgbClr val="0000FF"/>
              </a:solidFill>
            </a:endParaRPr>
          </a:p>
        </p:txBody>
      </p:sp>
      <p:pic>
        <p:nvPicPr>
          <p:cNvPr id="7171" name="Picture 85" descr="figure_19_21b_unlabel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87"/>
          <a:stretch>
            <a:fillRect/>
          </a:stretch>
        </p:blipFill>
        <p:spPr bwMode="auto">
          <a:xfrm>
            <a:off x="265113" y="438150"/>
            <a:ext cx="8597900" cy="598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369816" y="533400"/>
            <a:ext cx="285129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300" b="0" dirty="0">
                <a:latin typeface="Arial Black" pitchFamily="34" charset="0"/>
              </a:rPr>
              <a:t>Artères de la tête et du tronc</a:t>
            </a: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990600" y="805190"/>
            <a:ext cx="142058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100" dirty="0"/>
              <a:t>A. carotide interne</a:t>
            </a:r>
          </a:p>
        </p:txBody>
      </p:sp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990600" y="1072520"/>
            <a:ext cx="145264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100" dirty="0"/>
              <a:t>A. carotide externe</a:t>
            </a:r>
          </a:p>
        </p:txBody>
      </p:sp>
      <p:sp>
        <p:nvSpPr>
          <p:cNvPr id="7175" name="Rectangle 7"/>
          <p:cNvSpPr>
            <a:spLocks noChangeArrowheads="1"/>
          </p:cNvSpPr>
          <p:nvPr/>
        </p:nvSpPr>
        <p:spPr bwMode="auto">
          <a:xfrm>
            <a:off x="892155" y="1338590"/>
            <a:ext cx="177484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100" dirty="0"/>
              <a:t>A. carotides communes</a:t>
            </a:r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764944" y="1795790"/>
            <a:ext cx="1140056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100" dirty="0"/>
              <a:t>A. subclavière</a:t>
            </a:r>
          </a:p>
        </p:txBody>
      </p:sp>
      <p:sp>
        <p:nvSpPr>
          <p:cNvPr id="7177" name="Rectangle 9"/>
          <p:cNvSpPr>
            <a:spLocks noChangeArrowheads="1"/>
          </p:cNvSpPr>
          <p:nvPr/>
        </p:nvSpPr>
        <p:spPr bwMode="auto">
          <a:xfrm>
            <a:off x="194389" y="2100590"/>
            <a:ext cx="186301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100" dirty="0"/>
              <a:t>Tronc brachiocéphalique</a:t>
            </a:r>
          </a:p>
        </p:txBody>
      </p:sp>
      <p:sp>
        <p:nvSpPr>
          <p:cNvPr id="7178" name="Rectangle 10"/>
          <p:cNvSpPr>
            <a:spLocks noChangeArrowheads="1"/>
          </p:cNvSpPr>
          <p:nvPr/>
        </p:nvSpPr>
        <p:spPr bwMode="auto">
          <a:xfrm>
            <a:off x="1400937" y="1590044"/>
            <a:ext cx="103746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100" dirty="0"/>
              <a:t>A. vertébrale</a:t>
            </a:r>
          </a:p>
        </p:txBody>
      </p:sp>
      <p:sp>
        <p:nvSpPr>
          <p:cNvPr id="7179" name="Rectangle 11"/>
          <p:cNvSpPr>
            <a:spLocks noChangeArrowheads="1"/>
          </p:cNvSpPr>
          <p:nvPr/>
        </p:nvSpPr>
        <p:spPr bwMode="auto">
          <a:xfrm>
            <a:off x="381000" y="2362200"/>
            <a:ext cx="132760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100" dirty="0"/>
              <a:t>Crosse de l’aorte</a:t>
            </a:r>
          </a:p>
        </p:txBody>
      </p:sp>
      <p:sp>
        <p:nvSpPr>
          <p:cNvPr id="7180" name="Rectangle 12"/>
          <p:cNvSpPr>
            <a:spLocks noChangeArrowheads="1"/>
          </p:cNvSpPr>
          <p:nvPr/>
        </p:nvSpPr>
        <p:spPr bwMode="auto">
          <a:xfrm>
            <a:off x="611915" y="2672720"/>
            <a:ext cx="136928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100" dirty="0"/>
              <a:t>Aorte ascendante</a:t>
            </a:r>
          </a:p>
        </p:txBody>
      </p:sp>
      <p:sp>
        <p:nvSpPr>
          <p:cNvPr id="7181" name="Rectangle 13"/>
          <p:cNvSpPr>
            <a:spLocks noChangeArrowheads="1"/>
          </p:cNvSpPr>
          <p:nvPr/>
        </p:nvSpPr>
        <p:spPr bwMode="auto">
          <a:xfrm>
            <a:off x="897994" y="2938790"/>
            <a:ext cx="1007006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100" dirty="0"/>
              <a:t>A. coronaire</a:t>
            </a:r>
          </a:p>
        </p:txBody>
      </p:sp>
      <p:sp>
        <p:nvSpPr>
          <p:cNvPr id="7182" name="Rectangle 14"/>
          <p:cNvSpPr>
            <a:spLocks noChangeArrowheads="1"/>
          </p:cNvSpPr>
          <p:nvPr/>
        </p:nvSpPr>
        <p:spPr bwMode="auto">
          <a:xfrm>
            <a:off x="403296" y="3188657"/>
            <a:ext cx="1273104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100" dirty="0"/>
              <a:t>Tronc cœliaque </a:t>
            </a:r>
          </a:p>
        </p:txBody>
      </p:sp>
      <p:sp>
        <p:nvSpPr>
          <p:cNvPr id="7183" name="Rectangle 15"/>
          <p:cNvSpPr>
            <a:spLocks noChangeArrowheads="1"/>
          </p:cNvSpPr>
          <p:nvPr/>
        </p:nvSpPr>
        <p:spPr bwMode="auto">
          <a:xfrm>
            <a:off x="681702" y="3464882"/>
            <a:ext cx="137569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100" dirty="0"/>
              <a:t>Aorte abdominale</a:t>
            </a:r>
          </a:p>
        </p:txBody>
      </p:sp>
      <p:sp>
        <p:nvSpPr>
          <p:cNvPr id="7184" name="Rectangle 16"/>
          <p:cNvSpPr>
            <a:spLocks noChangeArrowheads="1"/>
          </p:cNvSpPr>
          <p:nvPr/>
        </p:nvSpPr>
        <p:spPr bwMode="auto">
          <a:xfrm>
            <a:off x="228600" y="3733800"/>
            <a:ext cx="224313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100" dirty="0"/>
              <a:t>A. mésentérique supérieure</a:t>
            </a:r>
          </a:p>
        </p:txBody>
      </p:sp>
      <p:sp>
        <p:nvSpPr>
          <p:cNvPr id="7185" name="Rectangle 17"/>
          <p:cNvSpPr>
            <a:spLocks noChangeArrowheads="1"/>
          </p:cNvSpPr>
          <p:nvPr/>
        </p:nvSpPr>
        <p:spPr bwMode="auto">
          <a:xfrm>
            <a:off x="1143000" y="3962400"/>
            <a:ext cx="77938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100" dirty="0"/>
              <a:t>A. rénale</a:t>
            </a:r>
          </a:p>
        </p:txBody>
      </p:sp>
      <p:sp>
        <p:nvSpPr>
          <p:cNvPr id="7186" name="Rectangle 18"/>
          <p:cNvSpPr>
            <a:spLocks noChangeArrowheads="1"/>
          </p:cNvSpPr>
          <p:nvPr/>
        </p:nvSpPr>
        <p:spPr bwMode="auto">
          <a:xfrm>
            <a:off x="200026" y="4191000"/>
            <a:ext cx="1857374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ts val="1200"/>
              </a:lnSpc>
            </a:pPr>
            <a:r>
              <a:rPr lang="fr-CA" altLang="fr-FR" sz="1100" dirty="0"/>
              <a:t>A. testiculaire (ovarique chez la femme)</a:t>
            </a:r>
          </a:p>
        </p:txBody>
      </p:sp>
      <p:sp>
        <p:nvSpPr>
          <p:cNvPr id="7187" name="Rectangle 19"/>
          <p:cNvSpPr>
            <a:spLocks noChangeArrowheads="1"/>
          </p:cNvSpPr>
          <p:nvPr/>
        </p:nvSpPr>
        <p:spPr bwMode="auto">
          <a:xfrm>
            <a:off x="304800" y="4495800"/>
            <a:ext cx="196079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100" dirty="0"/>
              <a:t>A. mésentérique inférieure</a:t>
            </a:r>
          </a:p>
        </p:txBody>
      </p:sp>
      <p:sp>
        <p:nvSpPr>
          <p:cNvPr id="7188" name="Rectangle 20"/>
          <p:cNvSpPr>
            <a:spLocks noChangeArrowheads="1"/>
          </p:cNvSpPr>
          <p:nvPr/>
        </p:nvSpPr>
        <p:spPr bwMode="auto">
          <a:xfrm>
            <a:off x="770842" y="4724400"/>
            <a:ext cx="151515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100" dirty="0"/>
              <a:t>A. Iliaque commune</a:t>
            </a:r>
          </a:p>
        </p:txBody>
      </p:sp>
      <p:sp>
        <p:nvSpPr>
          <p:cNvPr id="7189" name="Rectangle 21"/>
          <p:cNvSpPr>
            <a:spLocks noChangeArrowheads="1"/>
          </p:cNvSpPr>
          <p:nvPr/>
        </p:nvSpPr>
        <p:spPr bwMode="auto">
          <a:xfrm>
            <a:off x="815610" y="5327020"/>
            <a:ext cx="131799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100" dirty="0"/>
              <a:t>A. iliaque interne</a:t>
            </a:r>
          </a:p>
        </p:txBody>
      </p:sp>
      <p:sp>
        <p:nvSpPr>
          <p:cNvPr id="7190" name="Rectangle 23"/>
          <p:cNvSpPr>
            <a:spLocks noChangeArrowheads="1"/>
          </p:cNvSpPr>
          <p:nvPr/>
        </p:nvSpPr>
        <p:spPr bwMode="auto">
          <a:xfrm>
            <a:off x="5715000" y="930116"/>
            <a:ext cx="2970213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300" b="0" dirty="0">
                <a:latin typeface="Arial Black" pitchFamily="34" charset="0"/>
              </a:rPr>
              <a:t>Artères alimentant les membres supérieurs</a:t>
            </a:r>
          </a:p>
        </p:txBody>
      </p:sp>
      <p:sp>
        <p:nvSpPr>
          <p:cNvPr id="7191" name="Rectangle 24"/>
          <p:cNvSpPr>
            <a:spLocks noChangeArrowheads="1"/>
          </p:cNvSpPr>
          <p:nvPr/>
        </p:nvSpPr>
        <p:spPr bwMode="auto">
          <a:xfrm>
            <a:off x="5760000" y="1404000"/>
            <a:ext cx="1140056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100" dirty="0"/>
              <a:t>A. subclavière</a:t>
            </a:r>
          </a:p>
        </p:txBody>
      </p:sp>
      <p:sp>
        <p:nvSpPr>
          <p:cNvPr id="7192" name="Rectangle 25"/>
          <p:cNvSpPr>
            <a:spLocks noChangeArrowheads="1"/>
          </p:cNvSpPr>
          <p:nvPr/>
        </p:nvSpPr>
        <p:spPr bwMode="auto">
          <a:xfrm>
            <a:off x="5760000" y="1676400"/>
            <a:ext cx="88678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100" dirty="0"/>
              <a:t>A. axillaire</a:t>
            </a:r>
          </a:p>
        </p:txBody>
      </p:sp>
      <p:sp>
        <p:nvSpPr>
          <p:cNvPr id="7193" name="Rectangle 26"/>
          <p:cNvSpPr>
            <a:spLocks noChangeArrowheads="1"/>
          </p:cNvSpPr>
          <p:nvPr/>
        </p:nvSpPr>
        <p:spPr bwMode="auto">
          <a:xfrm>
            <a:off x="5791200" y="2175832"/>
            <a:ext cx="98296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100" dirty="0"/>
              <a:t>A. brachiale</a:t>
            </a:r>
          </a:p>
        </p:txBody>
      </p:sp>
      <p:sp>
        <p:nvSpPr>
          <p:cNvPr id="7194" name="Rectangle 27"/>
          <p:cNvSpPr>
            <a:spLocks noChangeArrowheads="1"/>
          </p:cNvSpPr>
          <p:nvPr/>
        </p:nvSpPr>
        <p:spPr bwMode="auto">
          <a:xfrm>
            <a:off x="5801373" y="2537782"/>
            <a:ext cx="81785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100"/>
              <a:t>A. radiale</a:t>
            </a:r>
          </a:p>
        </p:txBody>
      </p:sp>
      <p:sp>
        <p:nvSpPr>
          <p:cNvPr id="7195" name="Rectangle 28"/>
          <p:cNvSpPr>
            <a:spLocks noChangeArrowheads="1"/>
          </p:cNvSpPr>
          <p:nvPr/>
        </p:nvSpPr>
        <p:spPr bwMode="auto">
          <a:xfrm>
            <a:off x="5811654" y="2775907"/>
            <a:ext cx="82586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100"/>
              <a:t>A. ulnaire</a:t>
            </a:r>
          </a:p>
        </p:txBody>
      </p:sp>
      <p:sp>
        <p:nvSpPr>
          <p:cNvPr id="7196" name="Rectangle 29"/>
          <p:cNvSpPr>
            <a:spLocks noChangeArrowheads="1"/>
          </p:cNvSpPr>
          <p:nvPr/>
        </p:nvSpPr>
        <p:spPr bwMode="auto">
          <a:xfrm>
            <a:off x="5796000" y="3204000"/>
            <a:ext cx="1931939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100" dirty="0"/>
              <a:t>Arcade palmaire profonde</a:t>
            </a:r>
          </a:p>
        </p:txBody>
      </p:sp>
      <p:sp>
        <p:nvSpPr>
          <p:cNvPr id="7197" name="Rectangle 30"/>
          <p:cNvSpPr>
            <a:spLocks noChangeArrowheads="1"/>
          </p:cNvSpPr>
          <p:nvPr/>
        </p:nvSpPr>
        <p:spPr bwMode="auto">
          <a:xfrm>
            <a:off x="5784470" y="3505200"/>
            <a:ext cx="21403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100" dirty="0"/>
              <a:t>Arcade palmaire superficielle</a:t>
            </a:r>
          </a:p>
        </p:txBody>
      </p:sp>
      <p:sp>
        <p:nvSpPr>
          <p:cNvPr id="7198" name="Rectangle 32"/>
          <p:cNvSpPr>
            <a:spLocks noChangeArrowheads="1"/>
          </p:cNvSpPr>
          <p:nvPr/>
        </p:nvSpPr>
        <p:spPr bwMode="auto">
          <a:xfrm>
            <a:off x="5867400" y="3927157"/>
            <a:ext cx="263366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300" b="0" dirty="0">
                <a:latin typeface="Arial Black" pitchFamily="34" charset="0"/>
              </a:rPr>
              <a:t>Artères alimentant les membres inférieurs</a:t>
            </a:r>
          </a:p>
        </p:txBody>
      </p:sp>
      <p:sp>
        <p:nvSpPr>
          <p:cNvPr id="7199" name="Rectangle 33"/>
          <p:cNvSpPr>
            <a:spLocks noChangeArrowheads="1"/>
          </p:cNvSpPr>
          <p:nvPr/>
        </p:nvSpPr>
        <p:spPr bwMode="auto">
          <a:xfrm>
            <a:off x="5796000" y="4428000"/>
            <a:ext cx="1350049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100"/>
              <a:t>A. iliaque externe</a:t>
            </a:r>
          </a:p>
        </p:txBody>
      </p:sp>
      <p:sp>
        <p:nvSpPr>
          <p:cNvPr id="7200" name="Rectangle 34"/>
          <p:cNvSpPr>
            <a:spLocks noChangeArrowheads="1"/>
          </p:cNvSpPr>
          <p:nvPr/>
        </p:nvSpPr>
        <p:spPr bwMode="auto">
          <a:xfrm>
            <a:off x="5796000" y="4737600"/>
            <a:ext cx="95090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100" dirty="0"/>
              <a:t>A. fémorale</a:t>
            </a:r>
          </a:p>
        </p:txBody>
      </p:sp>
      <p:sp>
        <p:nvSpPr>
          <p:cNvPr id="7201" name="Rectangle 35"/>
          <p:cNvSpPr>
            <a:spLocks noChangeArrowheads="1"/>
          </p:cNvSpPr>
          <p:nvPr/>
        </p:nvSpPr>
        <p:spPr bwMode="auto">
          <a:xfrm>
            <a:off x="5796000" y="5040000"/>
            <a:ext cx="904414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100" dirty="0"/>
              <a:t>A. poplitée</a:t>
            </a:r>
          </a:p>
        </p:txBody>
      </p:sp>
      <p:sp>
        <p:nvSpPr>
          <p:cNvPr id="7202" name="Rectangle 36"/>
          <p:cNvSpPr>
            <a:spLocks noChangeArrowheads="1"/>
          </p:cNvSpPr>
          <p:nvPr/>
        </p:nvSpPr>
        <p:spPr bwMode="auto">
          <a:xfrm>
            <a:off x="5796000" y="5328000"/>
            <a:ext cx="148951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100" dirty="0"/>
              <a:t>A. tibiale antérieure</a:t>
            </a:r>
          </a:p>
        </p:txBody>
      </p:sp>
      <p:sp>
        <p:nvSpPr>
          <p:cNvPr id="7203" name="Rectangle 37"/>
          <p:cNvSpPr>
            <a:spLocks noChangeArrowheads="1"/>
          </p:cNvSpPr>
          <p:nvPr/>
        </p:nvSpPr>
        <p:spPr bwMode="auto">
          <a:xfrm>
            <a:off x="5796000" y="5652000"/>
            <a:ext cx="157607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100" dirty="0"/>
              <a:t>A. tibiale postérieure</a:t>
            </a:r>
          </a:p>
        </p:txBody>
      </p:sp>
      <p:sp>
        <p:nvSpPr>
          <p:cNvPr id="7204" name="Freeform 39"/>
          <p:cNvSpPr>
            <a:spLocks/>
          </p:cNvSpPr>
          <p:nvPr/>
        </p:nvSpPr>
        <p:spPr bwMode="auto">
          <a:xfrm>
            <a:off x="2368550" y="954088"/>
            <a:ext cx="1760538" cy="241300"/>
          </a:xfrm>
          <a:custGeom>
            <a:avLst/>
            <a:gdLst>
              <a:gd name="T0" fmla="*/ 2147483647 w 1109"/>
              <a:gd name="T1" fmla="*/ 2147483647 h 152"/>
              <a:gd name="T2" fmla="*/ 2147483647 w 1109"/>
              <a:gd name="T3" fmla="*/ 2147483647 h 152"/>
              <a:gd name="T4" fmla="*/ 0 w 1109"/>
              <a:gd name="T5" fmla="*/ 0 h 152"/>
              <a:gd name="T6" fmla="*/ 0 60000 65536"/>
              <a:gd name="T7" fmla="*/ 0 60000 65536"/>
              <a:gd name="T8" fmla="*/ 0 60000 65536"/>
              <a:gd name="T9" fmla="*/ 0 w 1109"/>
              <a:gd name="T10" fmla="*/ 0 h 152"/>
              <a:gd name="T11" fmla="*/ 1109 w 1109"/>
              <a:gd name="T12" fmla="*/ 152 h 1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9" h="152">
                <a:moveTo>
                  <a:pt x="1109" y="152"/>
                </a:moveTo>
                <a:lnTo>
                  <a:pt x="991" y="4"/>
                </a:ln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7205" name="Freeform 40"/>
          <p:cNvSpPr>
            <a:spLocks/>
          </p:cNvSpPr>
          <p:nvPr/>
        </p:nvSpPr>
        <p:spPr bwMode="auto">
          <a:xfrm>
            <a:off x="2427288" y="1217613"/>
            <a:ext cx="1752600" cy="31750"/>
          </a:xfrm>
          <a:custGeom>
            <a:avLst/>
            <a:gdLst>
              <a:gd name="T0" fmla="*/ 2147483647 w 1104"/>
              <a:gd name="T1" fmla="*/ 2147483647 h 20"/>
              <a:gd name="T2" fmla="*/ 2147483647 w 1104"/>
              <a:gd name="T3" fmla="*/ 2147483647 h 20"/>
              <a:gd name="T4" fmla="*/ 0 w 1104"/>
              <a:gd name="T5" fmla="*/ 0 h 20"/>
              <a:gd name="T6" fmla="*/ 0 60000 65536"/>
              <a:gd name="T7" fmla="*/ 0 60000 65536"/>
              <a:gd name="T8" fmla="*/ 0 60000 65536"/>
              <a:gd name="T9" fmla="*/ 0 w 1104"/>
              <a:gd name="T10" fmla="*/ 0 h 20"/>
              <a:gd name="T11" fmla="*/ 1104 w 1104"/>
              <a:gd name="T12" fmla="*/ 20 h 2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20">
                <a:moveTo>
                  <a:pt x="1104" y="20"/>
                </a:moveTo>
                <a:lnTo>
                  <a:pt x="925" y="4"/>
                </a:ln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7206" name="Freeform 41"/>
          <p:cNvSpPr>
            <a:spLocks/>
          </p:cNvSpPr>
          <p:nvPr/>
        </p:nvSpPr>
        <p:spPr bwMode="auto">
          <a:xfrm>
            <a:off x="2651125" y="1430338"/>
            <a:ext cx="1557338" cy="73025"/>
          </a:xfrm>
          <a:custGeom>
            <a:avLst/>
            <a:gdLst>
              <a:gd name="T0" fmla="*/ 2147483647 w 981"/>
              <a:gd name="T1" fmla="*/ 0 h 46"/>
              <a:gd name="T2" fmla="*/ 2147483647 w 981"/>
              <a:gd name="T3" fmla="*/ 2147483647 h 46"/>
              <a:gd name="T4" fmla="*/ 0 w 981"/>
              <a:gd name="T5" fmla="*/ 2147483647 h 46"/>
              <a:gd name="T6" fmla="*/ 0 60000 65536"/>
              <a:gd name="T7" fmla="*/ 0 60000 65536"/>
              <a:gd name="T8" fmla="*/ 0 60000 65536"/>
              <a:gd name="T9" fmla="*/ 0 w 981"/>
              <a:gd name="T10" fmla="*/ 0 h 46"/>
              <a:gd name="T11" fmla="*/ 981 w 981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81" h="46">
                <a:moveTo>
                  <a:pt x="981" y="0"/>
                </a:moveTo>
                <a:lnTo>
                  <a:pt x="675" y="46"/>
                </a:lnTo>
                <a:lnTo>
                  <a:pt x="0" y="45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7207" name="Freeform 42"/>
          <p:cNvSpPr>
            <a:spLocks/>
          </p:cNvSpPr>
          <p:nvPr/>
        </p:nvSpPr>
        <p:spPr bwMode="auto">
          <a:xfrm>
            <a:off x="3722688" y="1314450"/>
            <a:ext cx="612775" cy="185738"/>
          </a:xfrm>
          <a:custGeom>
            <a:avLst/>
            <a:gdLst>
              <a:gd name="T0" fmla="*/ 2147483647 w 386"/>
              <a:gd name="T1" fmla="*/ 2147483647 h 117"/>
              <a:gd name="T2" fmla="*/ 2147483647 w 386"/>
              <a:gd name="T3" fmla="*/ 0 h 117"/>
              <a:gd name="T4" fmla="*/ 0 w 386"/>
              <a:gd name="T5" fmla="*/ 2147483647 h 117"/>
              <a:gd name="T6" fmla="*/ 0 60000 65536"/>
              <a:gd name="T7" fmla="*/ 0 60000 65536"/>
              <a:gd name="T8" fmla="*/ 0 60000 65536"/>
              <a:gd name="T9" fmla="*/ 0 w 386"/>
              <a:gd name="T10" fmla="*/ 0 h 117"/>
              <a:gd name="T11" fmla="*/ 386 w 386"/>
              <a:gd name="T12" fmla="*/ 117 h 1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6" h="117">
                <a:moveTo>
                  <a:pt x="386" y="78"/>
                </a:moveTo>
                <a:lnTo>
                  <a:pt x="260" y="0"/>
                </a:lnTo>
                <a:lnTo>
                  <a:pt x="0" y="117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7208" name="Freeform 45"/>
          <p:cNvSpPr>
            <a:spLocks/>
          </p:cNvSpPr>
          <p:nvPr/>
        </p:nvSpPr>
        <p:spPr bwMode="auto">
          <a:xfrm>
            <a:off x="2393950" y="1477963"/>
            <a:ext cx="1746250" cy="254000"/>
          </a:xfrm>
          <a:custGeom>
            <a:avLst/>
            <a:gdLst>
              <a:gd name="T0" fmla="*/ 2147483647 w 1100"/>
              <a:gd name="T1" fmla="*/ 0 h 160"/>
              <a:gd name="T2" fmla="*/ 2147483647 w 1100"/>
              <a:gd name="T3" fmla="*/ 2147483647 h 160"/>
              <a:gd name="T4" fmla="*/ 0 w 1100"/>
              <a:gd name="T5" fmla="*/ 2147483647 h 160"/>
              <a:gd name="T6" fmla="*/ 0 60000 65536"/>
              <a:gd name="T7" fmla="*/ 0 60000 65536"/>
              <a:gd name="T8" fmla="*/ 0 60000 65536"/>
              <a:gd name="T9" fmla="*/ 0 w 1100"/>
              <a:gd name="T10" fmla="*/ 0 h 160"/>
              <a:gd name="T11" fmla="*/ 1100 w 1100"/>
              <a:gd name="T12" fmla="*/ 160 h 1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0" h="160">
                <a:moveTo>
                  <a:pt x="1100" y="0"/>
                </a:moveTo>
                <a:lnTo>
                  <a:pt x="409" y="160"/>
                </a:lnTo>
                <a:lnTo>
                  <a:pt x="0" y="158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7209" name="Freeform 47"/>
          <p:cNvSpPr>
            <a:spLocks/>
          </p:cNvSpPr>
          <p:nvPr/>
        </p:nvSpPr>
        <p:spPr bwMode="auto">
          <a:xfrm>
            <a:off x="1854200" y="1554163"/>
            <a:ext cx="2147888" cy="414337"/>
          </a:xfrm>
          <a:custGeom>
            <a:avLst/>
            <a:gdLst>
              <a:gd name="T0" fmla="*/ 2147483647 w 1353"/>
              <a:gd name="T1" fmla="*/ 0 h 261"/>
              <a:gd name="T2" fmla="*/ 2147483647 w 1353"/>
              <a:gd name="T3" fmla="*/ 2147483647 h 261"/>
              <a:gd name="T4" fmla="*/ 0 w 1353"/>
              <a:gd name="T5" fmla="*/ 2147483647 h 261"/>
              <a:gd name="T6" fmla="*/ 0 60000 65536"/>
              <a:gd name="T7" fmla="*/ 0 60000 65536"/>
              <a:gd name="T8" fmla="*/ 0 60000 65536"/>
              <a:gd name="T9" fmla="*/ 0 w 1353"/>
              <a:gd name="T10" fmla="*/ 0 h 261"/>
              <a:gd name="T11" fmla="*/ 1353 w 1353"/>
              <a:gd name="T12" fmla="*/ 261 h 26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53" h="261">
                <a:moveTo>
                  <a:pt x="1353" y="0"/>
                </a:moveTo>
                <a:lnTo>
                  <a:pt x="976" y="258"/>
                </a:lnTo>
                <a:lnTo>
                  <a:pt x="0" y="261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7210" name="Freeform 48"/>
          <p:cNvSpPr>
            <a:spLocks/>
          </p:cNvSpPr>
          <p:nvPr/>
        </p:nvSpPr>
        <p:spPr bwMode="auto">
          <a:xfrm>
            <a:off x="2001600" y="1710000"/>
            <a:ext cx="2195512" cy="561975"/>
          </a:xfrm>
          <a:custGeom>
            <a:avLst/>
            <a:gdLst>
              <a:gd name="T0" fmla="*/ 2147483647 w 1383"/>
              <a:gd name="T1" fmla="*/ 0 h 354"/>
              <a:gd name="T2" fmla="*/ 2147483647 w 1383"/>
              <a:gd name="T3" fmla="*/ 2147483647 h 354"/>
              <a:gd name="T4" fmla="*/ 0 w 1383"/>
              <a:gd name="T5" fmla="*/ 2147483647 h 354"/>
              <a:gd name="T6" fmla="*/ 0 60000 65536"/>
              <a:gd name="T7" fmla="*/ 0 60000 65536"/>
              <a:gd name="T8" fmla="*/ 0 60000 65536"/>
              <a:gd name="T9" fmla="*/ 0 w 1383"/>
              <a:gd name="T10" fmla="*/ 0 h 354"/>
              <a:gd name="T11" fmla="*/ 1383 w 1383"/>
              <a:gd name="T12" fmla="*/ 354 h 3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83" h="354">
                <a:moveTo>
                  <a:pt x="1383" y="0"/>
                </a:moveTo>
                <a:lnTo>
                  <a:pt x="642" y="352"/>
                </a:lnTo>
                <a:lnTo>
                  <a:pt x="0" y="354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7211" name="Freeform 50"/>
          <p:cNvSpPr>
            <a:spLocks/>
          </p:cNvSpPr>
          <p:nvPr/>
        </p:nvSpPr>
        <p:spPr bwMode="auto">
          <a:xfrm>
            <a:off x="1687513" y="1779587"/>
            <a:ext cx="2524125" cy="735013"/>
          </a:xfrm>
          <a:custGeom>
            <a:avLst/>
            <a:gdLst>
              <a:gd name="T0" fmla="*/ 2147483647 w 1718"/>
              <a:gd name="T1" fmla="*/ 0 h 465"/>
              <a:gd name="T2" fmla="*/ 2147483647 w 1718"/>
              <a:gd name="T3" fmla="*/ 2147483647 h 465"/>
              <a:gd name="T4" fmla="*/ 0 w 1718"/>
              <a:gd name="T5" fmla="*/ 2147483647 h 465"/>
              <a:gd name="T6" fmla="*/ 0 60000 65536"/>
              <a:gd name="T7" fmla="*/ 0 60000 65536"/>
              <a:gd name="T8" fmla="*/ 0 60000 65536"/>
              <a:gd name="T9" fmla="*/ 0 w 1718"/>
              <a:gd name="T10" fmla="*/ 0 h 465"/>
              <a:gd name="T11" fmla="*/ 1718 w 1718"/>
              <a:gd name="T12" fmla="*/ 465 h 4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18" h="465">
                <a:moveTo>
                  <a:pt x="1718" y="0"/>
                </a:moveTo>
                <a:lnTo>
                  <a:pt x="907" y="464"/>
                </a:lnTo>
                <a:lnTo>
                  <a:pt x="0" y="465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7212" name="Freeform 51"/>
          <p:cNvSpPr>
            <a:spLocks/>
          </p:cNvSpPr>
          <p:nvPr/>
        </p:nvSpPr>
        <p:spPr bwMode="auto">
          <a:xfrm>
            <a:off x="1928813" y="1873250"/>
            <a:ext cx="2271712" cy="931863"/>
          </a:xfrm>
          <a:custGeom>
            <a:avLst/>
            <a:gdLst>
              <a:gd name="T0" fmla="*/ 2147483647 w 1431"/>
              <a:gd name="T1" fmla="*/ 0 h 587"/>
              <a:gd name="T2" fmla="*/ 2147483647 w 1431"/>
              <a:gd name="T3" fmla="*/ 2147483647 h 587"/>
              <a:gd name="T4" fmla="*/ 0 w 1431"/>
              <a:gd name="T5" fmla="*/ 2147483647 h 587"/>
              <a:gd name="T6" fmla="*/ 0 60000 65536"/>
              <a:gd name="T7" fmla="*/ 0 60000 65536"/>
              <a:gd name="T8" fmla="*/ 0 60000 65536"/>
              <a:gd name="T9" fmla="*/ 0 w 1431"/>
              <a:gd name="T10" fmla="*/ 0 h 587"/>
              <a:gd name="T11" fmla="*/ 1431 w 1431"/>
              <a:gd name="T12" fmla="*/ 587 h 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31" h="587">
                <a:moveTo>
                  <a:pt x="1431" y="0"/>
                </a:moveTo>
                <a:lnTo>
                  <a:pt x="741" y="587"/>
                </a:lnTo>
                <a:lnTo>
                  <a:pt x="0" y="587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7213" name="Freeform 53"/>
          <p:cNvSpPr>
            <a:spLocks/>
          </p:cNvSpPr>
          <p:nvPr/>
        </p:nvSpPr>
        <p:spPr bwMode="auto">
          <a:xfrm>
            <a:off x="1878013" y="1974850"/>
            <a:ext cx="2363787" cy="1120775"/>
          </a:xfrm>
          <a:custGeom>
            <a:avLst/>
            <a:gdLst>
              <a:gd name="T0" fmla="*/ 2147483647 w 1489"/>
              <a:gd name="T1" fmla="*/ 0 h 706"/>
              <a:gd name="T2" fmla="*/ 2147483647 w 1489"/>
              <a:gd name="T3" fmla="*/ 2147483647 h 706"/>
              <a:gd name="T4" fmla="*/ 0 w 1489"/>
              <a:gd name="T5" fmla="*/ 2147483647 h 706"/>
              <a:gd name="T6" fmla="*/ 0 60000 65536"/>
              <a:gd name="T7" fmla="*/ 0 60000 65536"/>
              <a:gd name="T8" fmla="*/ 0 60000 65536"/>
              <a:gd name="T9" fmla="*/ 0 w 1489"/>
              <a:gd name="T10" fmla="*/ 0 h 706"/>
              <a:gd name="T11" fmla="*/ 1489 w 1489"/>
              <a:gd name="T12" fmla="*/ 706 h 70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89" h="706">
                <a:moveTo>
                  <a:pt x="1489" y="0"/>
                </a:moveTo>
                <a:lnTo>
                  <a:pt x="725" y="706"/>
                </a:lnTo>
                <a:lnTo>
                  <a:pt x="0" y="706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7214" name="Freeform 54"/>
          <p:cNvSpPr>
            <a:spLocks/>
          </p:cNvSpPr>
          <p:nvPr/>
        </p:nvSpPr>
        <p:spPr bwMode="auto">
          <a:xfrm>
            <a:off x="1568450" y="2352675"/>
            <a:ext cx="2708275" cy="973138"/>
          </a:xfrm>
          <a:custGeom>
            <a:avLst/>
            <a:gdLst>
              <a:gd name="T0" fmla="*/ 2147483647 w 1706"/>
              <a:gd name="T1" fmla="*/ 0 h 613"/>
              <a:gd name="T2" fmla="*/ 2147483647 w 1706"/>
              <a:gd name="T3" fmla="*/ 2147483647 h 613"/>
              <a:gd name="T4" fmla="*/ 0 w 1706"/>
              <a:gd name="T5" fmla="*/ 2147483647 h 613"/>
              <a:gd name="T6" fmla="*/ 0 60000 65536"/>
              <a:gd name="T7" fmla="*/ 0 60000 65536"/>
              <a:gd name="T8" fmla="*/ 0 60000 65536"/>
              <a:gd name="T9" fmla="*/ 0 w 1706"/>
              <a:gd name="T10" fmla="*/ 0 h 613"/>
              <a:gd name="T11" fmla="*/ 1706 w 1706"/>
              <a:gd name="T12" fmla="*/ 613 h 6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06" h="613">
                <a:moveTo>
                  <a:pt x="1706" y="0"/>
                </a:moveTo>
                <a:lnTo>
                  <a:pt x="906" y="612"/>
                </a:lnTo>
                <a:lnTo>
                  <a:pt x="0" y="613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7215" name="Freeform 55"/>
          <p:cNvSpPr>
            <a:spLocks/>
          </p:cNvSpPr>
          <p:nvPr/>
        </p:nvSpPr>
        <p:spPr bwMode="auto">
          <a:xfrm>
            <a:off x="1965325" y="2454275"/>
            <a:ext cx="2311400" cy="1154113"/>
          </a:xfrm>
          <a:custGeom>
            <a:avLst/>
            <a:gdLst>
              <a:gd name="T0" fmla="*/ 2147483647 w 1456"/>
              <a:gd name="T1" fmla="*/ 0 h 727"/>
              <a:gd name="T2" fmla="*/ 2147483647 w 1456"/>
              <a:gd name="T3" fmla="*/ 2147483647 h 727"/>
              <a:gd name="T4" fmla="*/ 0 w 1456"/>
              <a:gd name="T5" fmla="*/ 2147483647 h 727"/>
              <a:gd name="T6" fmla="*/ 0 60000 65536"/>
              <a:gd name="T7" fmla="*/ 0 60000 65536"/>
              <a:gd name="T8" fmla="*/ 0 60000 65536"/>
              <a:gd name="T9" fmla="*/ 0 w 1456"/>
              <a:gd name="T10" fmla="*/ 0 h 727"/>
              <a:gd name="T11" fmla="*/ 1456 w 1456"/>
              <a:gd name="T12" fmla="*/ 727 h 7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56" h="727">
                <a:moveTo>
                  <a:pt x="1456" y="0"/>
                </a:moveTo>
                <a:lnTo>
                  <a:pt x="535" y="727"/>
                </a:lnTo>
                <a:lnTo>
                  <a:pt x="0" y="727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7216" name="Freeform 58"/>
          <p:cNvSpPr>
            <a:spLocks/>
          </p:cNvSpPr>
          <p:nvPr/>
        </p:nvSpPr>
        <p:spPr bwMode="auto">
          <a:xfrm>
            <a:off x="4648200" y="5287963"/>
            <a:ext cx="1138238" cy="492125"/>
          </a:xfrm>
          <a:custGeom>
            <a:avLst/>
            <a:gdLst>
              <a:gd name="T0" fmla="*/ 2147483647 w 717"/>
              <a:gd name="T1" fmla="*/ 2147483647 h 310"/>
              <a:gd name="T2" fmla="*/ 2147483647 w 717"/>
              <a:gd name="T3" fmla="*/ 2147483647 h 310"/>
              <a:gd name="T4" fmla="*/ 0 w 717"/>
              <a:gd name="T5" fmla="*/ 0 h 310"/>
              <a:gd name="T6" fmla="*/ 0 60000 65536"/>
              <a:gd name="T7" fmla="*/ 0 60000 65536"/>
              <a:gd name="T8" fmla="*/ 0 60000 65536"/>
              <a:gd name="T9" fmla="*/ 0 w 717"/>
              <a:gd name="T10" fmla="*/ 0 h 310"/>
              <a:gd name="T11" fmla="*/ 717 w 717"/>
              <a:gd name="T12" fmla="*/ 310 h 31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17" h="310">
                <a:moveTo>
                  <a:pt x="717" y="310"/>
                </a:moveTo>
                <a:lnTo>
                  <a:pt x="273" y="31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7217" name="Freeform 59"/>
          <p:cNvSpPr>
            <a:spLocks/>
          </p:cNvSpPr>
          <p:nvPr/>
        </p:nvSpPr>
        <p:spPr bwMode="auto">
          <a:xfrm>
            <a:off x="4691063" y="5135563"/>
            <a:ext cx="1090612" cy="333375"/>
          </a:xfrm>
          <a:custGeom>
            <a:avLst/>
            <a:gdLst>
              <a:gd name="T0" fmla="*/ 2147483647 w 687"/>
              <a:gd name="T1" fmla="*/ 2147483647 h 210"/>
              <a:gd name="T2" fmla="*/ 2147483647 w 687"/>
              <a:gd name="T3" fmla="*/ 2147483647 h 210"/>
              <a:gd name="T4" fmla="*/ 0 w 687"/>
              <a:gd name="T5" fmla="*/ 0 h 210"/>
              <a:gd name="T6" fmla="*/ 0 60000 65536"/>
              <a:gd name="T7" fmla="*/ 0 60000 65536"/>
              <a:gd name="T8" fmla="*/ 0 60000 65536"/>
              <a:gd name="T9" fmla="*/ 0 w 687"/>
              <a:gd name="T10" fmla="*/ 0 h 210"/>
              <a:gd name="T11" fmla="*/ 687 w 687"/>
              <a:gd name="T12" fmla="*/ 210 h 21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87" h="210">
                <a:moveTo>
                  <a:pt x="687" y="210"/>
                </a:moveTo>
                <a:lnTo>
                  <a:pt x="265" y="21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7218" name="Freeform 60"/>
          <p:cNvSpPr>
            <a:spLocks/>
          </p:cNvSpPr>
          <p:nvPr/>
        </p:nvSpPr>
        <p:spPr bwMode="auto">
          <a:xfrm>
            <a:off x="4625975" y="4751388"/>
            <a:ext cx="1138238" cy="434975"/>
          </a:xfrm>
          <a:custGeom>
            <a:avLst/>
            <a:gdLst>
              <a:gd name="T0" fmla="*/ 2147483647 w 717"/>
              <a:gd name="T1" fmla="*/ 2147483647 h 274"/>
              <a:gd name="T2" fmla="*/ 2147483647 w 717"/>
              <a:gd name="T3" fmla="*/ 2147483647 h 274"/>
              <a:gd name="T4" fmla="*/ 0 w 717"/>
              <a:gd name="T5" fmla="*/ 0 h 274"/>
              <a:gd name="T6" fmla="*/ 0 60000 65536"/>
              <a:gd name="T7" fmla="*/ 0 60000 65536"/>
              <a:gd name="T8" fmla="*/ 0 60000 65536"/>
              <a:gd name="T9" fmla="*/ 0 w 717"/>
              <a:gd name="T10" fmla="*/ 0 h 274"/>
              <a:gd name="T11" fmla="*/ 717 w 717"/>
              <a:gd name="T12" fmla="*/ 274 h 2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17" h="274">
                <a:moveTo>
                  <a:pt x="717" y="274"/>
                </a:moveTo>
                <a:lnTo>
                  <a:pt x="284" y="27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7219" name="Freeform 61"/>
          <p:cNvSpPr>
            <a:spLocks/>
          </p:cNvSpPr>
          <p:nvPr/>
        </p:nvSpPr>
        <p:spPr bwMode="auto">
          <a:xfrm>
            <a:off x="4586288" y="3643313"/>
            <a:ext cx="1196975" cy="1235075"/>
          </a:xfrm>
          <a:custGeom>
            <a:avLst/>
            <a:gdLst>
              <a:gd name="T0" fmla="*/ 2147483647 w 754"/>
              <a:gd name="T1" fmla="*/ 2147483647 h 778"/>
              <a:gd name="T2" fmla="*/ 2147483647 w 754"/>
              <a:gd name="T3" fmla="*/ 2147483647 h 778"/>
              <a:gd name="T4" fmla="*/ 0 w 754"/>
              <a:gd name="T5" fmla="*/ 0 h 778"/>
              <a:gd name="T6" fmla="*/ 0 60000 65536"/>
              <a:gd name="T7" fmla="*/ 0 60000 65536"/>
              <a:gd name="T8" fmla="*/ 0 60000 65536"/>
              <a:gd name="T9" fmla="*/ 0 w 754"/>
              <a:gd name="T10" fmla="*/ 0 h 778"/>
              <a:gd name="T11" fmla="*/ 754 w 754"/>
              <a:gd name="T12" fmla="*/ 778 h 7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54" h="778">
                <a:moveTo>
                  <a:pt x="754" y="778"/>
                </a:moveTo>
                <a:lnTo>
                  <a:pt x="416" y="773"/>
                </a:ln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7220" name="Freeform 62"/>
          <p:cNvSpPr>
            <a:spLocks/>
          </p:cNvSpPr>
          <p:nvPr/>
        </p:nvSpPr>
        <p:spPr bwMode="auto">
          <a:xfrm>
            <a:off x="4575175" y="4308475"/>
            <a:ext cx="669925" cy="558800"/>
          </a:xfrm>
          <a:custGeom>
            <a:avLst/>
            <a:gdLst>
              <a:gd name="T0" fmla="*/ 2147483647 w 422"/>
              <a:gd name="T1" fmla="*/ 2147483647 h 352"/>
              <a:gd name="T2" fmla="*/ 0 w 422"/>
              <a:gd name="T3" fmla="*/ 0 h 352"/>
              <a:gd name="T4" fmla="*/ 0 60000 65536"/>
              <a:gd name="T5" fmla="*/ 0 60000 65536"/>
              <a:gd name="T6" fmla="*/ 0 w 422"/>
              <a:gd name="T7" fmla="*/ 0 h 352"/>
              <a:gd name="T8" fmla="*/ 422 w 422"/>
              <a:gd name="T9" fmla="*/ 352 h 35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22" h="352">
                <a:moveTo>
                  <a:pt x="422" y="352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7221" name="Freeform 63"/>
          <p:cNvSpPr>
            <a:spLocks/>
          </p:cNvSpPr>
          <p:nvPr/>
        </p:nvSpPr>
        <p:spPr bwMode="auto">
          <a:xfrm>
            <a:off x="4484688" y="3267075"/>
            <a:ext cx="1290637" cy="1287463"/>
          </a:xfrm>
          <a:custGeom>
            <a:avLst/>
            <a:gdLst>
              <a:gd name="T0" fmla="*/ 2147483647 w 813"/>
              <a:gd name="T1" fmla="*/ 2147483647 h 811"/>
              <a:gd name="T2" fmla="*/ 2147483647 w 813"/>
              <a:gd name="T3" fmla="*/ 2147483647 h 811"/>
              <a:gd name="T4" fmla="*/ 0 w 813"/>
              <a:gd name="T5" fmla="*/ 0 h 811"/>
              <a:gd name="T6" fmla="*/ 0 60000 65536"/>
              <a:gd name="T7" fmla="*/ 0 60000 65536"/>
              <a:gd name="T8" fmla="*/ 0 60000 65536"/>
              <a:gd name="T9" fmla="*/ 0 w 813"/>
              <a:gd name="T10" fmla="*/ 0 h 811"/>
              <a:gd name="T11" fmla="*/ 813 w 813"/>
              <a:gd name="T12" fmla="*/ 811 h 81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13" h="811">
                <a:moveTo>
                  <a:pt x="813" y="811"/>
                </a:moveTo>
                <a:lnTo>
                  <a:pt x="497" y="808"/>
                </a:ln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7222" name="Freeform 64"/>
          <p:cNvSpPr>
            <a:spLocks/>
          </p:cNvSpPr>
          <p:nvPr/>
        </p:nvSpPr>
        <p:spPr bwMode="auto">
          <a:xfrm>
            <a:off x="5435600" y="3635375"/>
            <a:ext cx="347663" cy="1588"/>
          </a:xfrm>
          <a:custGeom>
            <a:avLst/>
            <a:gdLst>
              <a:gd name="T0" fmla="*/ 2147483647 w 219"/>
              <a:gd name="T1" fmla="*/ 2147483647 h 1"/>
              <a:gd name="T2" fmla="*/ 0 w 219"/>
              <a:gd name="T3" fmla="*/ 0 h 1"/>
              <a:gd name="T4" fmla="*/ 0 60000 65536"/>
              <a:gd name="T5" fmla="*/ 0 60000 65536"/>
              <a:gd name="T6" fmla="*/ 0 w 219"/>
              <a:gd name="T7" fmla="*/ 0 h 1"/>
              <a:gd name="T8" fmla="*/ 219 w 219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9" h="1">
                <a:moveTo>
                  <a:pt x="219" y="1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7223" name="Freeform 67"/>
          <p:cNvSpPr>
            <a:spLocks/>
          </p:cNvSpPr>
          <p:nvPr/>
        </p:nvSpPr>
        <p:spPr bwMode="auto">
          <a:xfrm>
            <a:off x="5481638" y="3352800"/>
            <a:ext cx="338137" cy="211138"/>
          </a:xfrm>
          <a:custGeom>
            <a:avLst/>
            <a:gdLst>
              <a:gd name="T0" fmla="*/ 2147483647 w 213"/>
              <a:gd name="T1" fmla="*/ 2147483647 h 133"/>
              <a:gd name="T2" fmla="*/ 2147483647 w 213"/>
              <a:gd name="T3" fmla="*/ 0 h 133"/>
              <a:gd name="T4" fmla="*/ 0 w 213"/>
              <a:gd name="T5" fmla="*/ 2147483647 h 133"/>
              <a:gd name="T6" fmla="*/ 0 60000 65536"/>
              <a:gd name="T7" fmla="*/ 0 60000 65536"/>
              <a:gd name="T8" fmla="*/ 0 60000 65536"/>
              <a:gd name="T9" fmla="*/ 0 w 213"/>
              <a:gd name="T10" fmla="*/ 0 h 133"/>
              <a:gd name="T11" fmla="*/ 213 w 213"/>
              <a:gd name="T12" fmla="*/ 133 h 13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3" h="133">
                <a:moveTo>
                  <a:pt x="213" y="1"/>
                </a:moveTo>
                <a:lnTo>
                  <a:pt x="158" y="0"/>
                </a:lnTo>
                <a:lnTo>
                  <a:pt x="0" y="133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7224" name="Freeform 68"/>
          <p:cNvSpPr>
            <a:spLocks/>
          </p:cNvSpPr>
          <p:nvPr/>
        </p:nvSpPr>
        <p:spPr bwMode="auto">
          <a:xfrm>
            <a:off x="5495925" y="3352800"/>
            <a:ext cx="239713" cy="163513"/>
          </a:xfrm>
          <a:custGeom>
            <a:avLst/>
            <a:gdLst>
              <a:gd name="T0" fmla="*/ 2147483647 w 151"/>
              <a:gd name="T1" fmla="*/ 0 h 103"/>
              <a:gd name="T2" fmla="*/ 0 w 151"/>
              <a:gd name="T3" fmla="*/ 2147483647 h 103"/>
              <a:gd name="T4" fmla="*/ 0 60000 65536"/>
              <a:gd name="T5" fmla="*/ 0 60000 65536"/>
              <a:gd name="T6" fmla="*/ 0 w 151"/>
              <a:gd name="T7" fmla="*/ 0 h 103"/>
              <a:gd name="T8" fmla="*/ 151 w 151"/>
              <a:gd name="T9" fmla="*/ 103 h 10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1" h="103">
                <a:moveTo>
                  <a:pt x="151" y="0"/>
                </a:moveTo>
                <a:lnTo>
                  <a:pt x="0" y="103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7225" name="Freeform 69"/>
          <p:cNvSpPr>
            <a:spLocks/>
          </p:cNvSpPr>
          <p:nvPr/>
        </p:nvSpPr>
        <p:spPr bwMode="auto">
          <a:xfrm>
            <a:off x="4516438" y="1541463"/>
            <a:ext cx="1257300" cy="1587"/>
          </a:xfrm>
          <a:custGeom>
            <a:avLst/>
            <a:gdLst>
              <a:gd name="T0" fmla="*/ 2147483647 w 792"/>
              <a:gd name="T1" fmla="*/ 0 h 1"/>
              <a:gd name="T2" fmla="*/ 0 w 792"/>
              <a:gd name="T3" fmla="*/ 2147483647 h 1"/>
              <a:gd name="T4" fmla="*/ 0 60000 65536"/>
              <a:gd name="T5" fmla="*/ 0 60000 65536"/>
              <a:gd name="T6" fmla="*/ 0 w 792"/>
              <a:gd name="T7" fmla="*/ 0 h 1"/>
              <a:gd name="T8" fmla="*/ 792 w 792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92" h="1">
                <a:moveTo>
                  <a:pt x="792" y="0"/>
                </a:moveTo>
                <a:lnTo>
                  <a:pt x="0" y="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7228" name="Freeform 72"/>
          <p:cNvSpPr>
            <a:spLocks/>
          </p:cNvSpPr>
          <p:nvPr/>
        </p:nvSpPr>
        <p:spPr bwMode="auto">
          <a:xfrm>
            <a:off x="5105400" y="2660650"/>
            <a:ext cx="668338" cy="104775"/>
          </a:xfrm>
          <a:custGeom>
            <a:avLst/>
            <a:gdLst>
              <a:gd name="T0" fmla="*/ 2147483647 w 421"/>
              <a:gd name="T1" fmla="*/ 0 h 66"/>
              <a:gd name="T2" fmla="*/ 2147483647 w 421"/>
              <a:gd name="T3" fmla="*/ 0 h 66"/>
              <a:gd name="T4" fmla="*/ 0 w 421"/>
              <a:gd name="T5" fmla="*/ 2147483647 h 66"/>
              <a:gd name="T6" fmla="*/ 0 60000 65536"/>
              <a:gd name="T7" fmla="*/ 0 60000 65536"/>
              <a:gd name="T8" fmla="*/ 0 60000 65536"/>
              <a:gd name="T9" fmla="*/ 0 w 421"/>
              <a:gd name="T10" fmla="*/ 0 h 66"/>
              <a:gd name="T11" fmla="*/ 421 w 421"/>
              <a:gd name="T12" fmla="*/ 66 h 6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1" h="66">
                <a:moveTo>
                  <a:pt x="421" y="0"/>
                </a:moveTo>
                <a:lnTo>
                  <a:pt x="244" y="0"/>
                </a:lnTo>
                <a:lnTo>
                  <a:pt x="0" y="6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7229" name="Freeform 73"/>
          <p:cNvSpPr>
            <a:spLocks/>
          </p:cNvSpPr>
          <p:nvPr/>
        </p:nvSpPr>
        <p:spPr bwMode="auto">
          <a:xfrm>
            <a:off x="5043488" y="2906713"/>
            <a:ext cx="736600" cy="1587"/>
          </a:xfrm>
          <a:custGeom>
            <a:avLst/>
            <a:gdLst>
              <a:gd name="T0" fmla="*/ 2147483647 w 464"/>
              <a:gd name="T1" fmla="*/ 0 h 1"/>
              <a:gd name="T2" fmla="*/ 0 w 464"/>
              <a:gd name="T3" fmla="*/ 0 h 1"/>
              <a:gd name="T4" fmla="*/ 0 60000 65536"/>
              <a:gd name="T5" fmla="*/ 0 60000 65536"/>
              <a:gd name="T6" fmla="*/ 0 w 464"/>
              <a:gd name="T7" fmla="*/ 0 h 1"/>
              <a:gd name="T8" fmla="*/ 464 w 464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64" h="1">
                <a:moveTo>
                  <a:pt x="464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7230" name="Freeform 76"/>
          <p:cNvSpPr>
            <a:spLocks/>
          </p:cNvSpPr>
          <p:nvPr/>
        </p:nvSpPr>
        <p:spPr bwMode="auto">
          <a:xfrm>
            <a:off x="2241550" y="2544763"/>
            <a:ext cx="1989138" cy="1312862"/>
          </a:xfrm>
          <a:custGeom>
            <a:avLst/>
            <a:gdLst>
              <a:gd name="T0" fmla="*/ 2147483647 w 1253"/>
              <a:gd name="T1" fmla="*/ 0 h 827"/>
              <a:gd name="T2" fmla="*/ 2147483647 w 1253"/>
              <a:gd name="T3" fmla="*/ 2147483647 h 827"/>
              <a:gd name="T4" fmla="*/ 0 w 1253"/>
              <a:gd name="T5" fmla="*/ 2147483647 h 827"/>
              <a:gd name="T6" fmla="*/ 0 60000 65536"/>
              <a:gd name="T7" fmla="*/ 0 60000 65536"/>
              <a:gd name="T8" fmla="*/ 0 60000 65536"/>
              <a:gd name="T9" fmla="*/ 0 w 1253"/>
              <a:gd name="T10" fmla="*/ 0 h 827"/>
              <a:gd name="T11" fmla="*/ 1253 w 1253"/>
              <a:gd name="T12" fmla="*/ 827 h 8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3" h="827">
                <a:moveTo>
                  <a:pt x="1253" y="0"/>
                </a:moveTo>
                <a:lnTo>
                  <a:pt x="393" y="827"/>
                </a:lnTo>
                <a:lnTo>
                  <a:pt x="0" y="827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7231" name="Freeform 77"/>
          <p:cNvSpPr>
            <a:spLocks/>
          </p:cNvSpPr>
          <p:nvPr/>
        </p:nvSpPr>
        <p:spPr bwMode="auto">
          <a:xfrm>
            <a:off x="1905000" y="2601913"/>
            <a:ext cx="2295525" cy="1512887"/>
          </a:xfrm>
          <a:custGeom>
            <a:avLst/>
            <a:gdLst>
              <a:gd name="T0" fmla="*/ 2147483647 w 1661"/>
              <a:gd name="T1" fmla="*/ 0 h 1107"/>
              <a:gd name="T2" fmla="*/ 2147483647 w 1661"/>
              <a:gd name="T3" fmla="*/ 2147483647 h 1107"/>
              <a:gd name="T4" fmla="*/ 0 w 1661"/>
              <a:gd name="T5" fmla="*/ 2147483647 h 1107"/>
              <a:gd name="T6" fmla="*/ 0 60000 65536"/>
              <a:gd name="T7" fmla="*/ 0 60000 65536"/>
              <a:gd name="T8" fmla="*/ 0 60000 65536"/>
              <a:gd name="T9" fmla="*/ 0 w 1661"/>
              <a:gd name="T10" fmla="*/ 0 h 1107"/>
              <a:gd name="T11" fmla="*/ 1661 w 1661"/>
              <a:gd name="T12" fmla="*/ 1107 h 11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61" h="1107">
                <a:moveTo>
                  <a:pt x="1661" y="0"/>
                </a:moveTo>
                <a:lnTo>
                  <a:pt x="711" y="1107"/>
                </a:lnTo>
                <a:lnTo>
                  <a:pt x="0" y="1106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7232" name="Freeform 78"/>
          <p:cNvSpPr>
            <a:spLocks/>
          </p:cNvSpPr>
          <p:nvPr/>
        </p:nvSpPr>
        <p:spPr bwMode="auto">
          <a:xfrm>
            <a:off x="1981200" y="2798763"/>
            <a:ext cx="2209800" cy="1577647"/>
          </a:xfrm>
          <a:custGeom>
            <a:avLst/>
            <a:gdLst>
              <a:gd name="T0" fmla="*/ 2147483647 w 1502"/>
              <a:gd name="T1" fmla="*/ 0 h 1166"/>
              <a:gd name="T2" fmla="*/ 2147483647 w 1502"/>
              <a:gd name="T3" fmla="*/ 2147483647 h 1166"/>
              <a:gd name="T4" fmla="*/ 0 w 1502"/>
              <a:gd name="T5" fmla="*/ 2147483647 h 1166"/>
              <a:gd name="T6" fmla="*/ 0 60000 65536"/>
              <a:gd name="T7" fmla="*/ 0 60000 65536"/>
              <a:gd name="T8" fmla="*/ 0 60000 65536"/>
              <a:gd name="T9" fmla="*/ 0 w 1502"/>
              <a:gd name="T10" fmla="*/ 0 h 1166"/>
              <a:gd name="T11" fmla="*/ 1502 w 1502"/>
              <a:gd name="T12" fmla="*/ 1166 h 116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02" h="1166">
                <a:moveTo>
                  <a:pt x="1502" y="0"/>
                </a:moveTo>
                <a:lnTo>
                  <a:pt x="596" y="1166"/>
                </a:lnTo>
                <a:lnTo>
                  <a:pt x="0" y="1163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7233" name="Freeform 79"/>
          <p:cNvSpPr>
            <a:spLocks/>
          </p:cNvSpPr>
          <p:nvPr/>
        </p:nvSpPr>
        <p:spPr bwMode="auto">
          <a:xfrm>
            <a:off x="2286001" y="2805113"/>
            <a:ext cx="2046288" cy="1843087"/>
          </a:xfrm>
          <a:custGeom>
            <a:avLst/>
            <a:gdLst>
              <a:gd name="T0" fmla="*/ 2147483647 w 1054"/>
              <a:gd name="T1" fmla="*/ 0 h 1333"/>
              <a:gd name="T2" fmla="*/ 2147483647 w 1054"/>
              <a:gd name="T3" fmla="*/ 2147483647 h 1333"/>
              <a:gd name="T4" fmla="*/ 0 w 1054"/>
              <a:gd name="T5" fmla="*/ 2147483647 h 1333"/>
              <a:gd name="T6" fmla="*/ 0 60000 65536"/>
              <a:gd name="T7" fmla="*/ 0 60000 65536"/>
              <a:gd name="T8" fmla="*/ 0 60000 65536"/>
              <a:gd name="T9" fmla="*/ 0 w 1054"/>
              <a:gd name="T10" fmla="*/ 0 h 1333"/>
              <a:gd name="T11" fmla="*/ 1054 w 1054"/>
              <a:gd name="T12" fmla="*/ 1333 h 133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54" h="1333">
                <a:moveTo>
                  <a:pt x="1054" y="0"/>
                </a:moveTo>
                <a:lnTo>
                  <a:pt x="240" y="1333"/>
                </a:lnTo>
                <a:lnTo>
                  <a:pt x="0" y="1332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7234" name="Freeform 80"/>
          <p:cNvSpPr>
            <a:spLocks/>
          </p:cNvSpPr>
          <p:nvPr/>
        </p:nvSpPr>
        <p:spPr bwMode="auto">
          <a:xfrm>
            <a:off x="2259013" y="3070225"/>
            <a:ext cx="1909762" cy="1811337"/>
          </a:xfrm>
          <a:custGeom>
            <a:avLst/>
            <a:gdLst>
              <a:gd name="T0" fmla="*/ 2147483647 w 1203"/>
              <a:gd name="T1" fmla="*/ 0 h 1335"/>
              <a:gd name="T2" fmla="*/ 2147483647 w 1203"/>
              <a:gd name="T3" fmla="*/ 2147483647 h 1335"/>
              <a:gd name="T4" fmla="*/ 0 w 1203"/>
              <a:gd name="T5" fmla="*/ 2147483647 h 1335"/>
              <a:gd name="T6" fmla="*/ 0 60000 65536"/>
              <a:gd name="T7" fmla="*/ 0 60000 65536"/>
              <a:gd name="T8" fmla="*/ 0 60000 65536"/>
              <a:gd name="T9" fmla="*/ 0 w 1203"/>
              <a:gd name="T10" fmla="*/ 0 h 1335"/>
              <a:gd name="T11" fmla="*/ 1203 w 1203"/>
              <a:gd name="T12" fmla="*/ 1335 h 133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03" h="1335">
                <a:moveTo>
                  <a:pt x="1203" y="0"/>
                </a:moveTo>
                <a:lnTo>
                  <a:pt x="926" y="1335"/>
                </a:lnTo>
                <a:lnTo>
                  <a:pt x="0" y="1332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7235" name="Freeform 81"/>
          <p:cNvSpPr>
            <a:spLocks/>
          </p:cNvSpPr>
          <p:nvPr/>
        </p:nvSpPr>
        <p:spPr bwMode="auto">
          <a:xfrm>
            <a:off x="2112963" y="3227388"/>
            <a:ext cx="2081212" cy="2241550"/>
          </a:xfrm>
          <a:custGeom>
            <a:avLst/>
            <a:gdLst>
              <a:gd name="T0" fmla="*/ 2147483647 w 1311"/>
              <a:gd name="T1" fmla="*/ 0 h 1412"/>
              <a:gd name="T2" fmla="*/ 2147483647 w 1311"/>
              <a:gd name="T3" fmla="*/ 2147483647 h 1412"/>
              <a:gd name="T4" fmla="*/ 0 w 1311"/>
              <a:gd name="T5" fmla="*/ 2147483647 h 1412"/>
              <a:gd name="T6" fmla="*/ 0 60000 65536"/>
              <a:gd name="T7" fmla="*/ 0 60000 65536"/>
              <a:gd name="T8" fmla="*/ 0 60000 65536"/>
              <a:gd name="T9" fmla="*/ 0 w 1311"/>
              <a:gd name="T10" fmla="*/ 0 h 1412"/>
              <a:gd name="T11" fmla="*/ 1311 w 1311"/>
              <a:gd name="T12" fmla="*/ 1412 h 14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11" h="1412">
                <a:moveTo>
                  <a:pt x="1311" y="0"/>
                </a:moveTo>
                <a:lnTo>
                  <a:pt x="1185" y="1412"/>
                </a:lnTo>
                <a:lnTo>
                  <a:pt x="0" y="1409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7236" name="Rectangle 74"/>
          <p:cNvSpPr>
            <a:spLocks noChangeArrowheads="1"/>
          </p:cNvSpPr>
          <p:nvPr/>
        </p:nvSpPr>
        <p:spPr bwMode="auto">
          <a:xfrm>
            <a:off x="304800" y="6019800"/>
            <a:ext cx="3810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CA" altLang="fr-FR"/>
          </a:p>
        </p:txBody>
      </p:sp>
      <p:sp>
        <p:nvSpPr>
          <p:cNvPr id="78" name="Title 1"/>
          <p:cNvSpPr txBox="1">
            <a:spLocks/>
          </p:cNvSpPr>
          <p:nvPr/>
        </p:nvSpPr>
        <p:spPr bwMode="auto">
          <a:xfrm>
            <a:off x="0" y="0"/>
            <a:ext cx="9144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/>
          </a:extLst>
        </p:spPr>
        <p:txBody>
          <a:bodyPr wrap="square" lIns="36000" rIns="36000">
            <a:spAutoFit/>
          </a:bodyPr>
          <a:lstStyle>
            <a:lvl1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j-lt"/>
                <a:ea typeface="Arial" charset="0"/>
                <a:cs typeface="+mj-cs"/>
              </a:defRPr>
            </a:lvl1pPr>
            <a:lvl2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algn="l" rtl="0" fontAlgn="base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fr-CA" sz="1800" b="0" kern="0" dirty="0">
                <a:solidFill>
                  <a:srgbClr val="0000FF"/>
                </a:solidFill>
              </a:rPr>
              <a:t>6.1.2.2 Identifier les principales artères de la circulation systémique</a:t>
            </a:r>
          </a:p>
        </p:txBody>
      </p:sp>
      <p:cxnSp>
        <p:nvCxnSpPr>
          <p:cNvPr id="3" name="Straight Connector 2"/>
          <p:cNvCxnSpPr/>
          <p:nvPr/>
        </p:nvCxnSpPr>
        <p:spPr bwMode="auto">
          <a:xfrm>
            <a:off x="4886973" y="2306383"/>
            <a:ext cx="91440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7" name="Straight Connector 76"/>
          <p:cNvCxnSpPr/>
          <p:nvPr/>
        </p:nvCxnSpPr>
        <p:spPr bwMode="auto">
          <a:xfrm>
            <a:off x="4737894" y="1828800"/>
            <a:ext cx="1053306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126460" y="381000"/>
            <a:ext cx="8788940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/>
          </a:extLst>
        </p:spPr>
        <p:txBody>
          <a:bodyPr wrap="square" lIns="457200">
            <a:spAutoFit/>
          </a:bodyPr>
          <a:lstStyle>
            <a:lvl1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j-lt"/>
                <a:ea typeface="Arial" charset="0"/>
                <a:cs typeface="+mj-cs"/>
              </a:defRPr>
            </a:lvl1pPr>
            <a:lvl2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algn="l" rtl="0" fontAlgn="base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fr-CA" sz="2400" b="0" kern="0" dirty="0">
                <a:solidFill>
                  <a:srgbClr val="0000FF"/>
                </a:solidFill>
              </a:rPr>
              <a:t>6.1.2.2   Les principales artères de la circulation systémique</a:t>
            </a:r>
          </a:p>
          <a:p>
            <a:pPr marL="457200" indent="-457200">
              <a:buAutoNum type="alphaLcParenR"/>
              <a:defRPr/>
            </a:pPr>
            <a:r>
              <a:rPr lang="fr-CA" kern="0" dirty="0"/>
              <a:t>L’aorte</a:t>
            </a:r>
          </a:p>
          <a:p>
            <a:pPr marL="457200" indent="-457200">
              <a:buAutoNum type="alphaLcParenR"/>
              <a:defRPr/>
            </a:pPr>
            <a:r>
              <a:rPr lang="fr-CA" kern="0" dirty="0"/>
              <a:t>Artères de la tête et du cou</a:t>
            </a:r>
          </a:p>
          <a:p>
            <a:pPr marL="457200" indent="-457200">
              <a:buAutoNum type="alphaLcParenR"/>
              <a:defRPr/>
            </a:pPr>
            <a:r>
              <a:rPr lang="fr-CA" kern="0" dirty="0"/>
              <a:t>Artères des membres supérieurs et du thorax</a:t>
            </a:r>
          </a:p>
          <a:p>
            <a:pPr marL="457200" indent="-457200">
              <a:buAutoNum type="alphaLcParenR"/>
              <a:defRPr/>
            </a:pPr>
            <a:r>
              <a:rPr lang="fr-CA" kern="0" dirty="0"/>
              <a:t>Artères de l’abdomen</a:t>
            </a:r>
          </a:p>
          <a:p>
            <a:pPr marL="457200" indent="-457200">
              <a:buAutoNum type="alphaLcParenR"/>
              <a:defRPr/>
            </a:pPr>
            <a:r>
              <a:rPr lang="fr-CA" kern="0" dirty="0"/>
              <a:t>Artères du bassin et des membres inférieurs</a:t>
            </a:r>
          </a:p>
          <a:p>
            <a:pPr marL="457200" indent="-457200">
              <a:buAutoNum type="alphaLcParenR"/>
              <a:defRPr/>
            </a:pPr>
            <a:endParaRPr lang="fr-CA" b="0" kern="0" dirty="0">
              <a:solidFill>
                <a:srgbClr val="0000FF"/>
              </a:solidFill>
            </a:endParaRPr>
          </a:p>
          <a:p>
            <a:pPr marL="457200" indent="-457200">
              <a:buAutoNum type="alphaLcParenR"/>
              <a:defRPr/>
            </a:pPr>
            <a:endParaRPr lang="fr-CA" b="0" kern="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605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85" descr="figure_19_21b_unlabel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98" t="15729" r="43057" b="65015"/>
          <a:stretch>
            <a:fillRect/>
          </a:stretch>
        </p:blipFill>
        <p:spPr bwMode="auto">
          <a:xfrm>
            <a:off x="2819400" y="3505200"/>
            <a:ext cx="4443413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Freeform 50"/>
          <p:cNvSpPr>
            <a:spLocks/>
          </p:cNvSpPr>
          <p:nvPr/>
        </p:nvSpPr>
        <p:spPr bwMode="auto">
          <a:xfrm>
            <a:off x="1905000" y="4648200"/>
            <a:ext cx="2830513" cy="809625"/>
          </a:xfrm>
          <a:custGeom>
            <a:avLst/>
            <a:gdLst>
              <a:gd name="T0" fmla="*/ 2147483647 w 1718"/>
              <a:gd name="T1" fmla="*/ 0 h 465"/>
              <a:gd name="T2" fmla="*/ 2147483647 w 1718"/>
              <a:gd name="T3" fmla="*/ 2147483647 h 465"/>
              <a:gd name="T4" fmla="*/ 0 w 1718"/>
              <a:gd name="T5" fmla="*/ 2147483647 h 465"/>
              <a:gd name="T6" fmla="*/ 0 60000 65536"/>
              <a:gd name="T7" fmla="*/ 0 60000 65536"/>
              <a:gd name="T8" fmla="*/ 0 60000 65536"/>
              <a:gd name="T9" fmla="*/ 0 w 1718"/>
              <a:gd name="T10" fmla="*/ 0 h 465"/>
              <a:gd name="T11" fmla="*/ 1718 w 1718"/>
              <a:gd name="T12" fmla="*/ 465 h 4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18" h="465">
                <a:moveTo>
                  <a:pt x="1718" y="0"/>
                </a:moveTo>
                <a:lnTo>
                  <a:pt x="907" y="464"/>
                </a:lnTo>
                <a:lnTo>
                  <a:pt x="0" y="465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8196" name="Freeform 71"/>
          <p:cNvSpPr>
            <a:spLocks/>
          </p:cNvSpPr>
          <p:nvPr/>
        </p:nvSpPr>
        <p:spPr bwMode="auto">
          <a:xfrm>
            <a:off x="5067300" y="4543425"/>
            <a:ext cx="2247900" cy="68263"/>
          </a:xfrm>
          <a:custGeom>
            <a:avLst/>
            <a:gdLst>
              <a:gd name="T0" fmla="*/ 2147483647 w 545"/>
              <a:gd name="T1" fmla="*/ 2147483647 h 3"/>
              <a:gd name="T2" fmla="*/ 0 w 545"/>
              <a:gd name="T3" fmla="*/ 0 h 3"/>
              <a:gd name="T4" fmla="*/ 0 60000 65536"/>
              <a:gd name="T5" fmla="*/ 0 60000 65536"/>
              <a:gd name="T6" fmla="*/ 0 w 545"/>
              <a:gd name="T7" fmla="*/ 0 h 3"/>
              <a:gd name="T8" fmla="*/ 545 w 545"/>
              <a:gd name="T9" fmla="*/ 3 h 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45" h="3">
                <a:moveTo>
                  <a:pt x="545" y="3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8197" name="Freeform 50"/>
          <p:cNvSpPr>
            <a:spLocks/>
          </p:cNvSpPr>
          <p:nvPr/>
        </p:nvSpPr>
        <p:spPr bwMode="auto">
          <a:xfrm>
            <a:off x="1905000" y="4437063"/>
            <a:ext cx="2992438" cy="733425"/>
          </a:xfrm>
          <a:custGeom>
            <a:avLst/>
            <a:gdLst>
              <a:gd name="T0" fmla="*/ 2147483647 w 1718"/>
              <a:gd name="T1" fmla="*/ 0 h 465"/>
              <a:gd name="T2" fmla="*/ 2147483647 w 1718"/>
              <a:gd name="T3" fmla="*/ 2147483647 h 465"/>
              <a:gd name="T4" fmla="*/ 0 w 1718"/>
              <a:gd name="T5" fmla="*/ 2147483647 h 465"/>
              <a:gd name="T6" fmla="*/ 0 60000 65536"/>
              <a:gd name="T7" fmla="*/ 0 60000 65536"/>
              <a:gd name="T8" fmla="*/ 0 60000 65536"/>
              <a:gd name="T9" fmla="*/ 0 w 1718"/>
              <a:gd name="T10" fmla="*/ 0 h 465"/>
              <a:gd name="T11" fmla="*/ 1718 w 1718"/>
              <a:gd name="T12" fmla="*/ 465 h 4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18" h="465">
                <a:moveTo>
                  <a:pt x="1718" y="0"/>
                </a:moveTo>
                <a:lnTo>
                  <a:pt x="907" y="464"/>
                </a:lnTo>
                <a:lnTo>
                  <a:pt x="0" y="465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8198" name="Freeform 50"/>
          <p:cNvSpPr>
            <a:spLocks/>
          </p:cNvSpPr>
          <p:nvPr/>
        </p:nvSpPr>
        <p:spPr bwMode="auto">
          <a:xfrm>
            <a:off x="1905000" y="4238625"/>
            <a:ext cx="2895600" cy="650875"/>
          </a:xfrm>
          <a:custGeom>
            <a:avLst/>
            <a:gdLst>
              <a:gd name="T0" fmla="*/ 2147483647 w 1718"/>
              <a:gd name="T1" fmla="*/ 0 h 465"/>
              <a:gd name="T2" fmla="*/ 2147483647 w 1718"/>
              <a:gd name="T3" fmla="*/ 2147483647 h 465"/>
              <a:gd name="T4" fmla="*/ 0 w 1718"/>
              <a:gd name="T5" fmla="*/ 2147483647 h 465"/>
              <a:gd name="T6" fmla="*/ 0 60000 65536"/>
              <a:gd name="T7" fmla="*/ 0 60000 65536"/>
              <a:gd name="T8" fmla="*/ 0 60000 65536"/>
              <a:gd name="T9" fmla="*/ 0 w 1718"/>
              <a:gd name="T10" fmla="*/ 0 h 465"/>
              <a:gd name="T11" fmla="*/ 1718 w 1718"/>
              <a:gd name="T12" fmla="*/ 465 h 4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18" h="465">
                <a:moveTo>
                  <a:pt x="1718" y="0"/>
                </a:moveTo>
                <a:lnTo>
                  <a:pt x="907" y="464"/>
                </a:lnTo>
                <a:lnTo>
                  <a:pt x="0" y="465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8199" name="Freeform 71"/>
          <p:cNvSpPr>
            <a:spLocks/>
          </p:cNvSpPr>
          <p:nvPr/>
        </p:nvSpPr>
        <p:spPr bwMode="auto">
          <a:xfrm flipV="1">
            <a:off x="5008563" y="4222750"/>
            <a:ext cx="2306637" cy="92075"/>
          </a:xfrm>
          <a:custGeom>
            <a:avLst/>
            <a:gdLst>
              <a:gd name="T0" fmla="*/ 2147483647 w 545"/>
              <a:gd name="T1" fmla="*/ 2147483647 h 3"/>
              <a:gd name="T2" fmla="*/ 0 w 545"/>
              <a:gd name="T3" fmla="*/ 0 h 3"/>
              <a:gd name="T4" fmla="*/ 0 60000 65536"/>
              <a:gd name="T5" fmla="*/ 0 60000 65536"/>
              <a:gd name="T6" fmla="*/ 0 w 545"/>
              <a:gd name="T7" fmla="*/ 0 h 3"/>
              <a:gd name="T8" fmla="*/ 545 w 545"/>
              <a:gd name="T9" fmla="*/ 3 h 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45" h="3">
                <a:moveTo>
                  <a:pt x="545" y="3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8200" name="Rectangle 12"/>
          <p:cNvSpPr>
            <a:spLocks noChangeArrowheads="1"/>
          </p:cNvSpPr>
          <p:nvPr/>
        </p:nvSpPr>
        <p:spPr bwMode="auto">
          <a:xfrm>
            <a:off x="248444" y="5314950"/>
            <a:ext cx="16843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400" dirty="0">
                <a:solidFill>
                  <a:srgbClr val="FF0000"/>
                </a:solidFill>
              </a:rPr>
              <a:t>Aorte ascendante</a:t>
            </a:r>
          </a:p>
        </p:txBody>
      </p:sp>
      <p:sp>
        <p:nvSpPr>
          <p:cNvPr id="8201" name="Rectangle 11"/>
          <p:cNvSpPr>
            <a:spLocks noChangeArrowheads="1"/>
          </p:cNvSpPr>
          <p:nvPr/>
        </p:nvSpPr>
        <p:spPr bwMode="auto">
          <a:xfrm>
            <a:off x="170785" y="4502397"/>
            <a:ext cx="17811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400" b="0" dirty="0">
                <a:solidFill>
                  <a:srgbClr val="FF0000"/>
                </a:solidFill>
              </a:rPr>
              <a:t>Tronc brachiocéphalique</a:t>
            </a:r>
          </a:p>
        </p:txBody>
      </p:sp>
      <p:sp>
        <p:nvSpPr>
          <p:cNvPr id="8202" name="Rectangle 11"/>
          <p:cNvSpPr>
            <a:spLocks noChangeArrowheads="1"/>
          </p:cNvSpPr>
          <p:nvPr/>
        </p:nvSpPr>
        <p:spPr bwMode="auto">
          <a:xfrm>
            <a:off x="290016" y="5006975"/>
            <a:ext cx="16367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400" dirty="0">
                <a:solidFill>
                  <a:srgbClr val="FF0000"/>
                </a:solidFill>
              </a:rPr>
              <a:t>Crosse de l’aorte</a:t>
            </a:r>
          </a:p>
        </p:txBody>
      </p:sp>
      <p:sp>
        <p:nvSpPr>
          <p:cNvPr id="8203" name="Rectangle 7"/>
          <p:cNvSpPr>
            <a:spLocks noChangeArrowheads="1"/>
          </p:cNvSpPr>
          <p:nvPr/>
        </p:nvSpPr>
        <p:spPr bwMode="auto">
          <a:xfrm>
            <a:off x="7239000" y="3429000"/>
            <a:ext cx="17764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400" b="0" dirty="0">
                <a:solidFill>
                  <a:srgbClr val="FF0000"/>
                </a:solidFill>
              </a:rPr>
              <a:t>A. carotide commune gauche</a:t>
            </a:r>
          </a:p>
        </p:txBody>
      </p:sp>
      <p:sp>
        <p:nvSpPr>
          <p:cNvPr id="8204" name="Freeform 72"/>
          <p:cNvSpPr>
            <a:spLocks/>
          </p:cNvSpPr>
          <p:nvPr/>
        </p:nvSpPr>
        <p:spPr bwMode="auto">
          <a:xfrm>
            <a:off x="4897438" y="3811588"/>
            <a:ext cx="2417762" cy="411162"/>
          </a:xfrm>
          <a:custGeom>
            <a:avLst/>
            <a:gdLst>
              <a:gd name="T0" fmla="*/ 2147483647 w 421"/>
              <a:gd name="T1" fmla="*/ 0 h 66"/>
              <a:gd name="T2" fmla="*/ 2147483647 w 421"/>
              <a:gd name="T3" fmla="*/ 0 h 66"/>
              <a:gd name="T4" fmla="*/ 0 w 421"/>
              <a:gd name="T5" fmla="*/ 2147483647 h 66"/>
              <a:gd name="T6" fmla="*/ 0 60000 65536"/>
              <a:gd name="T7" fmla="*/ 0 60000 65536"/>
              <a:gd name="T8" fmla="*/ 0 60000 65536"/>
              <a:gd name="T9" fmla="*/ 0 w 421"/>
              <a:gd name="T10" fmla="*/ 0 h 66"/>
              <a:gd name="T11" fmla="*/ 421 w 421"/>
              <a:gd name="T12" fmla="*/ 66 h 6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1" h="66">
                <a:moveTo>
                  <a:pt x="421" y="0"/>
                </a:moveTo>
                <a:lnTo>
                  <a:pt x="244" y="0"/>
                </a:lnTo>
                <a:lnTo>
                  <a:pt x="0" y="6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8205" name="Rectangle 12"/>
          <p:cNvSpPr>
            <a:spLocks noChangeArrowheads="1"/>
          </p:cNvSpPr>
          <p:nvPr/>
        </p:nvSpPr>
        <p:spPr bwMode="auto">
          <a:xfrm>
            <a:off x="7273925" y="4419600"/>
            <a:ext cx="17938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400">
                <a:solidFill>
                  <a:srgbClr val="FF0000"/>
                </a:solidFill>
              </a:rPr>
              <a:t>Aorte descendante</a:t>
            </a:r>
          </a:p>
        </p:txBody>
      </p:sp>
      <p:sp>
        <p:nvSpPr>
          <p:cNvPr id="8206" name="Rectangle 18"/>
          <p:cNvSpPr>
            <a:spLocks noChangeArrowheads="1"/>
          </p:cNvSpPr>
          <p:nvPr/>
        </p:nvSpPr>
        <p:spPr bwMode="auto">
          <a:xfrm>
            <a:off x="7068945" y="3962400"/>
            <a:ext cx="197682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400" b="0" dirty="0">
                <a:solidFill>
                  <a:srgbClr val="FF0000"/>
                </a:solidFill>
              </a:rPr>
              <a:t>A. Subclavière gauche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587" y="87313"/>
            <a:ext cx="8939213" cy="339323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itchFamily="34" charset="0"/>
              </a:defRPr>
            </a:lvl1pPr>
            <a:lvl2pPr marL="628650" indent="-171450">
              <a:defRPr sz="12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268288" indent="-268288">
              <a:defRPr/>
            </a:pPr>
            <a:r>
              <a:rPr lang="fr-CA" sz="2000" dirty="0">
                <a:latin typeface="Arial" charset="0"/>
              </a:rPr>
              <a:t>a) </a:t>
            </a:r>
            <a:r>
              <a:rPr lang="fr-CA" sz="2000" u="sng" dirty="0">
                <a:latin typeface="Arial" charset="0"/>
              </a:rPr>
              <a:t>L’aorte</a:t>
            </a:r>
            <a:r>
              <a:rPr lang="fr-CA" sz="2000" dirty="0">
                <a:latin typeface="Arial" charset="0"/>
              </a:rPr>
              <a:t> </a:t>
            </a:r>
          </a:p>
          <a:p>
            <a:pPr marL="268288">
              <a:spcBef>
                <a:spcPts val="300"/>
              </a:spcBef>
              <a:defRPr/>
            </a:pPr>
            <a:r>
              <a:rPr lang="fr-CA" sz="1400" b="0" dirty="0">
                <a:latin typeface="Arial" charset="0"/>
              </a:rPr>
              <a:t>La plus grosse des artères (calibre moyen de 2,5 cm) </a:t>
            </a:r>
            <a:r>
              <a:rPr lang="fr-CA" sz="1400" dirty="0">
                <a:latin typeface="Arial" charset="0"/>
                <a:sym typeface="Wingdings 2"/>
              </a:rPr>
              <a:t>; </a:t>
            </a:r>
            <a:r>
              <a:rPr lang="fr-CA" altLang="fr-FR" sz="1400" b="0" dirty="0"/>
              <a:t>formée de 3 portions :</a:t>
            </a:r>
          </a:p>
          <a:p>
            <a:pPr marL="719138" indent="-268288">
              <a:spcBef>
                <a:spcPts val="300"/>
              </a:spcBef>
              <a:defRPr/>
            </a:pPr>
            <a:r>
              <a:rPr lang="fr-CA" altLang="fr-FR" sz="1400" dirty="0"/>
              <a:t>i)</a:t>
            </a:r>
            <a:r>
              <a:rPr lang="fr-CA" altLang="fr-FR" sz="1400" i="1" dirty="0"/>
              <a:t>	Aorte ascendante</a:t>
            </a:r>
            <a:r>
              <a:rPr lang="fr-CA" altLang="fr-FR" sz="1400" b="0" dirty="0"/>
              <a:t>, contient le </a:t>
            </a:r>
            <a:r>
              <a:rPr lang="fr-CA" altLang="fr-FR" sz="1400" b="0" i="1" dirty="0"/>
              <a:t>sinus de l'aorte</a:t>
            </a:r>
            <a:r>
              <a:rPr lang="fr-CA" altLang="fr-FR" sz="1400" b="0" dirty="0"/>
              <a:t>, site des </a:t>
            </a:r>
            <a:r>
              <a:rPr lang="fr-CA" altLang="fr-FR" sz="1400" b="0" i="1" dirty="0"/>
              <a:t>barorécepteurs</a:t>
            </a:r>
            <a:r>
              <a:rPr lang="fr-CA" altLang="fr-FR" sz="1400" b="0" dirty="0"/>
              <a:t>.</a:t>
            </a:r>
          </a:p>
          <a:p>
            <a:pPr marL="719138" lvl="1" indent="0">
              <a:buFont typeface="Wingdings" pitchFamily="2" charset="2"/>
              <a:buChar char="Ø"/>
              <a:defRPr/>
            </a:pPr>
            <a:r>
              <a:rPr lang="fr-CA" altLang="fr-FR" sz="1400" i="1" dirty="0"/>
              <a:t> </a:t>
            </a:r>
            <a:r>
              <a:rPr lang="fr-CA" altLang="fr-FR" sz="1400" b="0" dirty="0"/>
              <a:t>Seules ramifications: </a:t>
            </a:r>
            <a:r>
              <a:rPr lang="fr-CA" altLang="fr-FR" sz="1400" i="1" dirty="0"/>
              <a:t>artères coronaires droite et gauche </a:t>
            </a:r>
            <a:r>
              <a:rPr lang="fr-CA" altLang="fr-FR" sz="1400" b="0" dirty="0"/>
              <a:t>qui irriguent le cœur.</a:t>
            </a:r>
          </a:p>
          <a:p>
            <a:pPr marL="719138" indent="-268288">
              <a:spcBef>
                <a:spcPts val="600"/>
              </a:spcBef>
              <a:defRPr/>
            </a:pPr>
            <a:r>
              <a:rPr lang="fr-CA" altLang="fr-FR" sz="1400" dirty="0"/>
              <a:t>ii)</a:t>
            </a:r>
            <a:r>
              <a:rPr lang="fr-CA" altLang="fr-FR" sz="1400" i="1" dirty="0"/>
              <a:t>	Crosse de l'aorte</a:t>
            </a:r>
            <a:r>
              <a:rPr lang="fr-CA" altLang="fr-FR" sz="1400" b="0" dirty="0"/>
              <a:t>, de laquelle émergent 3 branches principales (irriguent la tête, le cou, les membres supérieurs et une partie de la paroi thoracique) qui sont :</a:t>
            </a:r>
          </a:p>
          <a:p>
            <a:pPr marL="895350" lvl="1" indent="-177800">
              <a:buSzPct val="120000"/>
              <a:buFont typeface="Arial" panose="020B0604020202020204" pitchFamily="34" charset="0"/>
              <a:buChar char="•"/>
              <a:defRPr/>
            </a:pPr>
            <a:r>
              <a:rPr lang="fr-CA" altLang="fr-FR" sz="1400" i="1" dirty="0"/>
              <a:t>Tronc brachiocéphalique</a:t>
            </a:r>
            <a:r>
              <a:rPr lang="fr-CA" altLang="fr-FR" sz="1400" dirty="0"/>
              <a:t> </a:t>
            </a:r>
            <a:r>
              <a:rPr lang="fr-CA" altLang="fr-FR" sz="1400" b="0" dirty="0"/>
              <a:t>(dessert le côté droit du corps)</a:t>
            </a:r>
          </a:p>
          <a:p>
            <a:pPr marL="895350" lvl="1" indent="-177800">
              <a:buSzPct val="120000"/>
              <a:buFont typeface="Arial" panose="020B0604020202020204" pitchFamily="34" charset="0"/>
              <a:buChar char="•"/>
              <a:defRPr/>
            </a:pPr>
            <a:r>
              <a:rPr lang="fr-CA" altLang="fr-FR" sz="1400" i="1" dirty="0"/>
              <a:t>Artère carotide commune gauche</a:t>
            </a:r>
            <a:endParaRPr lang="fr-CA" altLang="fr-FR" sz="1400" dirty="0"/>
          </a:p>
          <a:p>
            <a:pPr marL="895350" lvl="1" indent="-177800">
              <a:buSzPct val="120000"/>
              <a:buFont typeface="Arial" panose="020B0604020202020204" pitchFamily="34" charset="0"/>
              <a:buChar char="•"/>
              <a:defRPr/>
            </a:pPr>
            <a:r>
              <a:rPr lang="fr-CA" altLang="fr-FR" sz="1400" i="1" dirty="0"/>
              <a:t>Artère subclavière gauche</a:t>
            </a:r>
            <a:endParaRPr lang="fr-CA" altLang="fr-FR" sz="1400" dirty="0"/>
          </a:p>
          <a:p>
            <a:pPr marL="901700">
              <a:defRPr/>
            </a:pPr>
            <a:r>
              <a:rPr lang="fr-CA" altLang="fr-FR" sz="1400" b="0" dirty="0"/>
              <a:t>** Note : </a:t>
            </a:r>
            <a:r>
              <a:rPr lang="fr-CA" altLang="fr-FR" sz="1400" dirty="0"/>
              <a:t>l'artère subclavière droite </a:t>
            </a:r>
            <a:r>
              <a:rPr lang="fr-CA" altLang="fr-FR" sz="1400" b="0" dirty="0"/>
              <a:t>émerge du tronc brachiocéphalique.</a:t>
            </a:r>
          </a:p>
          <a:p>
            <a:pPr marL="719138" indent="-268288">
              <a:spcBef>
                <a:spcPts val="300"/>
              </a:spcBef>
              <a:defRPr/>
            </a:pPr>
            <a:r>
              <a:rPr lang="fr-CA" altLang="fr-FR" sz="1400" dirty="0"/>
              <a:t>iii)</a:t>
            </a:r>
            <a:r>
              <a:rPr lang="fr-CA" altLang="fr-FR" sz="1400" i="1" dirty="0"/>
              <a:t>	Aorte descendante</a:t>
            </a:r>
            <a:r>
              <a:rPr lang="fr-CA" altLang="fr-FR" sz="1400" b="0" dirty="0"/>
              <a:t>, constituée de deux segments : </a:t>
            </a:r>
          </a:p>
          <a:p>
            <a:pPr marL="895350" lvl="1" indent="-177800">
              <a:buSzPct val="120000"/>
              <a:buFont typeface="Arial" panose="020B0604020202020204" pitchFamily="34" charset="0"/>
              <a:buChar char="•"/>
              <a:defRPr/>
            </a:pPr>
            <a:r>
              <a:rPr lang="fr-CA" altLang="fr-FR" sz="1400" i="1" dirty="0"/>
              <a:t>Aorte thoracique</a:t>
            </a:r>
            <a:r>
              <a:rPr lang="fr-CA" altLang="fr-FR" sz="1400" b="0" dirty="0"/>
              <a:t> : partie supérieure qui s'étend de la crosse jusqu'au diaphragme.</a:t>
            </a:r>
          </a:p>
          <a:p>
            <a:pPr marL="895350" lvl="1" indent="-177800">
              <a:buSzPct val="120000"/>
              <a:buFont typeface="Arial" panose="020B0604020202020204" pitchFamily="34" charset="0"/>
              <a:buChar char="•"/>
              <a:defRPr/>
            </a:pPr>
            <a:r>
              <a:rPr lang="fr-CA" altLang="fr-FR" sz="1400" i="1" dirty="0"/>
              <a:t>Aorte abdominale</a:t>
            </a:r>
            <a:r>
              <a:rPr lang="fr-CA" altLang="fr-FR" sz="1400" b="0" dirty="0"/>
              <a:t> : dans la cavité abdominale; se termine en donnant naissance aux </a:t>
            </a:r>
            <a:r>
              <a:rPr lang="fr-CA" altLang="fr-FR" sz="1400" b="0" i="1" dirty="0"/>
              <a:t>artères iliaques communes</a:t>
            </a:r>
            <a:r>
              <a:rPr lang="fr-CA" altLang="fr-FR" sz="1400" b="0" dirty="0"/>
              <a:t> droite et gauche.</a:t>
            </a:r>
          </a:p>
        </p:txBody>
      </p:sp>
      <p:sp>
        <p:nvSpPr>
          <p:cNvPr id="8208" name="Freeform 71"/>
          <p:cNvSpPr>
            <a:spLocks/>
          </p:cNvSpPr>
          <p:nvPr/>
        </p:nvSpPr>
        <p:spPr bwMode="auto">
          <a:xfrm flipV="1">
            <a:off x="5037138" y="6091238"/>
            <a:ext cx="2308225" cy="90487"/>
          </a:xfrm>
          <a:custGeom>
            <a:avLst/>
            <a:gdLst>
              <a:gd name="T0" fmla="*/ 2147483647 w 545"/>
              <a:gd name="T1" fmla="*/ 2147483647 h 3"/>
              <a:gd name="T2" fmla="*/ 0 w 545"/>
              <a:gd name="T3" fmla="*/ 0 h 3"/>
              <a:gd name="T4" fmla="*/ 0 60000 65536"/>
              <a:gd name="T5" fmla="*/ 0 60000 65536"/>
              <a:gd name="T6" fmla="*/ 0 w 545"/>
              <a:gd name="T7" fmla="*/ 0 h 3"/>
              <a:gd name="T8" fmla="*/ 545 w 545"/>
              <a:gd name="T9" fmla="*/ 3 h 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45" h="3">
                <a:moveTo>
                  <a:pt x="545" y="3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8209" name="Rectangle 24"/>
          <p:cNvSpPr>
            <a:spLocks noChangeArrowheads="1"/>
          </p:cNvSpPr>
          <p:nvPr/>
        </p:nvSpPr>
        <p:spPr bwMode="auto">
          <a:xfrm>
            <a:off x="7288213" y="5942013"/>
            <a:ext cx="158729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 b="0" dirty="0">
                <a:solidFill>
                  <a:srgbClr val="FF0000"/>
                </a:solidFill>
              </a:rPr>
              <a:t>Aorte abdominale</a:t>
            </a:r>
            <a:endParaRPr lang="en-US" altLang="fr-FR" sz="1400" b="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117" descr="figure_19_22b_unlabeled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7346"/>
          <a:stretch/>
        </p:blipFill>
        <p:spPr bwMode="auto">
          <a:xfrm>
            <a:off x="1527175" y="152401"/>
            <a:ext cx="6988175" cy="614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Rectangle 65"/>
          <p:cNvSpPr>
            <a:spLocks noChangeArrowheads="1"/>
          </p:cNvSpPr>
          <p:nvPr/>
        </p:nvSpPr>
        <p:spPr bwMode="auto">
          <a:xfrm>
            <a:off x="6805613" y="4157663"/>
            <a:ext cx="7223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400" b="0"/>
              <a:t>Larynx</a:t>
            </a:r>
          </a:p>
        </p:txBody>
      </p:sp>
      <p:sp>
        <p:nvSpPr>
          <p:cNvPr id="9220" name="Rectangle 68"/>
          <p:cNvSpPr>
            <a:spLocks noChangeArrowheads="1"/>
          </p:cNvSpPr>
          <p:nvPr/>
        </p:nvSpPr>
        <p:spPr bwMode="auto">
          <a:xfrm>
            <a:off x="6810375" y="4883150"/>
            <a:ext cx="19462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400" b="0"/>
              <a:t>Clavicule (sectionnée)</a:t>
            </a:r>
          </a:p>
        </p:txBody>
      </p:sp>
      <p:sp>
        <p:nvSpPr>
          <p:cNvPr id="9221" name="Rectangle 69"/>
          <p:cNvSpPr>
            <a:spLocks noChangeArrowheads="1"/>
          </p:cNvSpPr>
          <p:nvPr/>
        </p:nvSpPr>
        <p:spPr bwMode="auto">
          <a:xfrm>
            <a:off x="6781800" y="5187950"/>
            <a:ext cx="2300288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sz="1400"/>
              <a:t>Tronc brachiocéphalique</a:t>
            </a:r>
          </a:p>
        </p:txBody>
      </p:sp>
      <p:sp>
        <p:nvSpPr>
          <p:cNvPr id="9222" name="Rectangle 70"/>
          <p:cNvSpPr>
            <a:spLocks noChangeArrowheads="1"/>
          </p:cNvSpPr>
          <p:nvPr/>
        </p:nvSpPr>
        <p:spPr bwMode="auto">
          <a:xfrm>
            <a:off x="6775450" y="5588000"/>
            <a:ext cx="1973263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sz="1400"/>
              <a:t>A. thoracique interne</a:t>
            </a:r>
          </a:p>
        </p:txBody>
      </p:sp>
      <p:sp>
        <p:nvSpPr>
          <p:cNvPr id="9223" name="Rectangle 73"/>
          <p:cNvSpPr>
            <a:spLocks noChangeArrowheads="1"/>
          </p:cNvSpPr>
          <p:nvPr/>
        </p:nvSpPr>
        <p:spPr bwMode="auto">
          <a:xfrm>
            <a:off x="1195388" y="1987550"/>
            <a:ext cx="1270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>
                <a:solidFill>
                  <a:srgbClr val="FF0000"/>
                </a:solidFill>
              </a:rPr>
              <a:t>A. vertébrale</a:t>
            </a:r>
          </a:p>
        </p:txBody>
      </p:sp>
      <p:sp>
        <p:nvSpPr>
          <p:cNvPr id="9224" name="Rectangle 74"/>
          <p:cNvSpPr>
            <a:spLocks noChangeArrowheads="1"/>
          </p:cNvSpPr>
          <p:nvPr/>
        </p:nvSpPr>
        <p:spPr bwMode="auto">
          <a:xfrm>
            <a:off x="585788" y="2463800"/>
            <a:ext cx="1755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>
                <a:solidFill>
                  <a:srgbClr val="FF0000"/>
                </a:solidFill>
              </a:rPr>
              <a:t>A. carotide interne</a:t>
            </a:r>
          </a:p>
        </p:txBody>
      </p:sp>
      <p:sp>
        <p:nvSpPr>
          <p:cNvPr id="9225" name="Rectangle 75"/>
          <p:cNvSpPr>
            <a:spLocks noChangeArrowheads="1"/>
          </p:cNvSpPr>
          <p:nvPr/>
        </p:nvSpPr>
        <p:spPr bwMode="auto">
          <a:xfrm>
            <a:off x="623888" y="2930525"/>
            <a:ext cx="17954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>
                <a:solidFill>
                  <a:srgbClr val="FF0000"/>
                </a:solidFill>
              </a:rPr>
              <a:t>A. carotide externe</a:t>
            </a:r>
          </a:p>
        </p:txBody>
      </p:sp>
      <p:sp>
        <p:nvSpPr>
          <p:cNvPr id="9226" name="Rectangle 76"/>
          <p:cNvSpPr>
            <a:spLocks noChangeArrowheads="1"/>
          </p:cNvSpPr>
          <p:nvPr/>
        </p:nvSpPr>
        <p:spPr bwMode="auto">
          <a:xfrm>
            <a:off x="457200" y="3413125"/>
            <a:ext cx="20050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>
                <a:solidFill>
                  <a:srgbClr val="FF0000"/>
                </a:solidFill>
              </a:rPr>
              <a:t>A. carotide commune</a:t>
            </a:r>
          </a:p>
        </p:txBody>
      </p:sp>
      <p:sp>
        <p:nvSpPr>
          <p:cNvPr id="9227" name="Rectangle 77"/>
          <p:cNvSpPr>
            <a:spLocks noChangeArrowheads="1"/>
          </p:cNvSpPr>
          <p:nvPr/>
        </p:nvSpPr>
        <p:spPr bwMode="auto">
          <a:xfrm>
            <a:off x="1014413" y="3873500"/>
            <a:ext cx="18351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/>
              <a:t>Tronc thyrocervical</a:t>
            </a:r>
          </a:p>
        </p:txBody>
      </p:sp>
      <p:sp>
        <p:nvSpPr>
          <p:cNvPr id="9228" name="Rectangle 81"/>
          <p:cNvSpPr>
            <a:spLocks noChangeArrowheads="1"/>
          </p:cNvSpPr>
          <p:nvPr/>
        </p:nvSpPr>
        <p:spPr bwMode="auto">
          <a:xfrm>
            <a:off x="985838" y="4349750"/>
            <a:ext cx="18637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/>
              <a:t>Tronc costocervical</a:t>
            </a:r>
          </a:p>
        </p:txBody>
      </p:sp>
      <p:sp>
        <p:nvSpPr>
          <p:cNvPr id="9229" name="Rectangle 82"/>
          <p:cNvSpPr>
            <a:spLocks noChangeArrowheads="1"/>
          </p:cNvSpPr>
          <p:nvPr/>
        </p:nvSpPr>
        <p:spPr bwMode="auto">
          <a:xfrm>
            <a:off x="1195388" y="4845050"/>
            <a:ext cx="13985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/>
              <a:t>A. subclavière</a:t>
            </a:r>
          </a:p>
        </p:txBody>
      </p:sp>
      <p:sp>
        <p:nvSpPr>
          <p:cNvPr id="9230" name="Rectangle 83"/>
          <p:cNvSpPr>
            <a:spLocks noChangeArrowheads="1"/>
          </p:cNvSpPr>
          <p:nvPr/>
        </p:nvSpPr>
        <p:spPr bwMode="auto">
          <a:xfrm>
            <a:off x="1271588" y="5302250"/>
            <a:ext cx="10810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/>
              <a:t>A. axillaire</a:t>
            </a:r>
          </a:p>
        </p:txBody>
      </p:sp>
      <p:sp>
        <p:nvSpPr>
          <p:cNvPr id="9231" name="Freeform 88"/>
          <p:cNvSpPr>
            <a:spLocks/>
          </p:cNvSpPr>
          <p:nvPr/>
        </p:nvSpPr>
        <p:spPr bwMode="auto">
          <a:xfrm>
            <a:off x="2419350" y="2139950"/>
            <a:ext cx="1828800" cy="654050"/>
          </a:xfrm>
          <a:custGeom>
            <a:avLst/>
            <a:gdLst>
              <a:gd name="T0" fmla="*/ 0 w 1152"/>
              <a:gd name="T1" fmla="*/ 2147483647 h 412"/>
              <a:gd name="T2" fmla="*/ 2147483647 w 1152"/>
              <a:gd name="T3" fmla="*/ 0 h 412"/>
              <a:gd name="T4" fmla="*/ 2147483647 w 1152"/>
              <a:gd name="T5" fmla="*/ 2147483647 h 412"/>
              <a:gd name="T6" fmla="*/ 0 60000 65536"/>
              <a:gd name="T7" fmla="*/ 0 60000 65536"/>
              <a:gd name="T8" fmla="*/ 0 60000 65536"/>
              <a:gd name="T9" fmla="*/ 0 w 1152"/>
              <a:gd name="T10" fmla="*/ 0 h 412"/>
              <a:gd name="T11" fmla="*/ 1152 w 1152"/>
              <a:gd name="T12" fmla="*/ 412 h 4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52" h="412">
                <a:moveTo>
                  <a:pt x="0" y="4"/>
                </a:moveTo>
                <a:lnTo>
                  <a:pt x="236" y="0"/>
                </a:lnTo>
                <a:lnTo>
                  <a:pt x="1152" y="412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9232" name="Freeform 90"/>
          <p:cNvSpPr>
            <a:spLocks/>
          </p:cNvSpPr>
          <p:nvPr/>
        </p:nvSpPr>
        <p:spPr bwMode="auto">
          <a:xfrm>
            <a:off x="2292350" y="2622550"/>
            <a:ext cx="2343150" cy="660400"/>
          </a:xfrm>
          <a:custGeom>
            <a:avLst/>
            <a:gdLst>
              <a:gd name="T0" fmla="*/ 0 w 1476"/>
              <a:gd name="T1" fmla="*/ 0 h 416"/>
              <a:gd name="T2" fmla="*/ 2147483647 w 1476"/>
              <a:gd name="T3" fmla="*/ 0 h 416"/>
              <a:gd name="T4" fmla="*/ 2147483647 w 1476"/>
              <a:gd name="T5" fmla="*/ 2147483647 h 416"/>
              <a:gd name="T6" fmla="*/ 0 60000 65536"/>
              <a:gd name="T7" fmla="*/ 0 60000 65536"/>
              <a:gd name="T8" fmla="*/ 0 60000 65536"/>
              <a:gd name="T9" fmla="*/ 0 w 1476"/>
              <a:gd name="T10" fmla="*/ 0 h 416"/>
              <a:gd name="T11" fmla="*/ 1476 w 1476"/>
              <a:gd name="T12" fmla="*/ 416 h 4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76" h="416">
                <a:moveTo>
                  <a:pt x="0" y="0"/>
                </a:moveTo>
                <a:lnTo>
                  <a:pt x="324" y="0"/>
                </a:lnTo>
                <a:lnTo>
                  <a:pt x="1476" y="416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9233" name="Freeform 91"/>
          <p:cNvSpPr>
            <a:spLocks/>
          </p:cNvSpPr>
          <p:nvPr/>
        </p:nvSpPr>
        <p:spPr bwMode="auto">
          <a:xfrm>
            <a:off x="2362200" y="3092450"/>
            <a:ext cx="2444750" cy="425450"/>
          </a:xfrm>
          <a:custGeom>
            <a:avLst/>
            <a:gdLst>
              <a:gd name="T0" fmla="*/ 0 w 1540"/>
              <a:gd name="T1" fmla="*/ 0 h 268"/>
              <a:gd name="T2" fmla="*/ 2147483647 w 1540"/>
              <a:gd name="T3" fmla="*/ 2147483647 h 268"/>
              <a:gd name="T4" fmla="*/ 2147483647 w 1540"/>
              <a:gd name="T5" fmla="*/ 2147483647 h 268"/>
              <a:gd name="T6" fmla="*/ 0 60000 65536"/>
              <a:gd name="T7" fmla="*/ 0 60000 65536"/>
              <a:gd name="T8" fmla="*/ 0 60000 65536"/>
              <a:gd name="T9" fmla="*/ 0 w 1540"/>
              <a:gd name="T10" fmla="*/ 0 h 268"/>
              <a:gd name="T11" fmla="*/ 1540 w 1540"/>
              <a:gd name="T12" fmla="*/ 268 h 2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40" h="268">
                <a:moveTo>
                  <a:pt x="0" y="0"/>
                </a:moveTo>
                <a:lnTo>
                  <a:pt x="412" y="4"/>
                </a:lnTo>
                <a:lnTo>
                  <a:pt x="1540" y="268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9234" name="Freeform 92"/>
          <p:cNvSpPr>
            <a:spLocks/>
          </p:cNvSpPr>
          <p:nvPr/>
        </p:nvSpPr>
        <p:spPr bwMode="auto">
          <a:xfrm>
            <a:off x="2419350" y="3575050"/>
            <a:ext cx="2343150" cy="609600"/>
          </a:xfrm>
          <a:custGeom>
            <a:avLst/>
            <a:gdLst>
              <a:gd name="T0" fmla="*/ 0 w 1476"/>
              <a:gd name="T1" fmla="*/ 0 h 384"/>
              <a:gd name="T2" fmla="*/ 2147483647 w 1476"/>
              <a:gd name="T3" fmla="*/ 0 h 384"/>
              <a:gd name="T4" fmla="*/ 2147483647 w 1476"/>
              <a:gd name="T5" fmla="*/ 2147483647 h 384"/>
              <a:gd name="T6" fmla="*/ 0 60000 65536"/>
              <a:gd name="T7" fmla="*/ 0 60000 65536"/>
              <a:gd name="T8" fmla="*/ 0 60000 65536"/>
              <a:gd name="T9" fmla="*/ 0 w 1476"/>
              <a:gd name="T10" fmla="*/ 0 h 384"/>
              <a:gd name="T11" fmla="*/ 1476 w 1476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76" h="384">
                <a:moveTo>
                  <a:pt x="0" y="0"/>
                </a:moveTo>
                <a:lnTo>
                  <a:pt x="384" y="0"/>
                </a:lnTo>
                <a:lnTo>
                  <a:pt x="1476" y="384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9235" name="Freeform 94"/>
          <p:cNvSpPr>
            <a:spLocks/>
          </p:cNvSpPr>
          <p:nvPr/>
        </p:nvSpPr>
        <p:spPr bwMode="auto">
          <a:xfrm>
            <a:off x="2800350" y="4044950"/>
            <a:ext cx="1454150" cy="736600"/>
          </a:xfrm>
          <a:custGeom>
            <a:avLst/>
            <a:gdLst>
              <a:gd name="T0" fmla="*/ 0 w 916"/>
              <a:gd name="T1" fmla="*/ 0 h 464"/>
              <a:gd name="T2" fmla="*/ 2147483647 w 916"/>
              <a:gd name="T3" fmla="*/ 0 h 464"/>
              <a:gd name="T4" fmla="*/ 2147483647 w 916"/>
              <a:gd name="T5" fmla="*/ 2147483647 h 464"/>
              <a:gd name="T6" fmla="*/ 0 60000 65536"/>
              <a:gd name="T7" fmla="*/ 0 60000 65536"/>
              <a:gd name="T8" fmla="*/ 0 60000 65536"/>
              <a:gd name="T9" fmla="*/ 0 w 916"/>
              <a:gd name="T10" fmla="*/ 0 h 464"/>
              <a:gd name="T11" fmla="*/ 916 w 916"/>
              <a:gd name="T12" fmla="*/ 464 h 4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6" h="464">
                <a:moveTo>
                  <a:pt x="0" y="0"/>
                </a:moveTo>
                <a:lnTo>
                  <a:pt x="128" y="0"/>
                </a:lnTo>
                <a:lnTo>
                  <a:pt x="916" y="464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9236" name="Freeform 95"/>
          <p:cNvSpPr>
            <a:spLocks/>
          </p:cNvSpPr>
          <p:nvPr/>
        </p:nvSpPr>
        <p:spPr bwMode="auto">
          <a:xfrm>
            <a:off x="2800350" y="4514850"/>
            <a:ext cx="1371600" cy="419100"/>
          </a:xfrm>
          <a:custGeom>
            <a:avLst/>
            <a:gdLst>
              <a:gd name="T0" fmla="*/ 0 w 864"/>
              <a:gd name="T1" fmla="*/ 0 h 264"/>
              <a:gd name="T2" fmla="*/ 2147483647 w 864"/>
              <a:gd name="T3" fmla="*/ 0 h 264"/>
              <a:gd name="T4" fmla="*/ 2147483647 w 864"/>
              <a:gd name="T5" fmla="*/ 2147483647 h 264"/>
              <a:gd name="T6" fmla="*/ 0 60000 65536"/>
              <a:gd name="T7" fmla="*/ 0 60000 65536"/>
              <a:gd name="T8" fmla="*/ 0 60000 65536"/>
              <a:gd name="T9" fmla="*/ 0 w 864"/>
              <a:gd name="T10" fmla="*/ 0 h 264"/>
              <a:gd name="T11" fmla="*/ 864 w 864"/>
              <a:gd name="T12" fmla="*/ 264 h 2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64" h="264">
                <a:moveTo>
                  <a:pt x="0" y="0"/>
                </a:moveTo>
                <a:lnTo>
                  <a:pt x="124" y="0"/>
                </a:lnTo>
                <a:lnTo>
                  <a:pt x="864" y="264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9237" name="Freeform 96"/>
          <p:cNvSpPr>
            <a:spLocks/>
          </p:cNvSpPr>
          <p:nvPr/>
        </p:nvSpPr>
        <p:spPr bwMode="auto">
          <a:xfrm>
            <a:off x="2565400" y="4991100"/>
            <a:ext cx="1593850" cy="127000"/>
          </a:xfrm>
          <a:custGeom>
            <a:avLst/>
            <a:gdLst>
              <a:gd name="T0" fmla="*/ 0 w 1004"/>
              <a:gd name="T1" fmla="*/ 2147483647 h 80"/>
              <a:gd name="T2" fmla="*/ 2147483647 w 1004"/>
              <a:gd name="T3" fmla="*/ 0 h 80"/>
              <a:gd name="T4" fmla="*/ 2147483647 w 1004"/>
              <a:gd name="T5" fmla="*/ 2147483647 h 80"/>
              <a:gd name="T6" fmla="*/ 0 60000 65536"/>
              <a:gd name="T7" fmla="*/ 0 60000 65536"/>
              <a:gd name="T8" fmla="*/ 0 60000 65536"/>
              <a:gd name="T9" fmla="*/ 0 w 1004"/>
              <a:gd name="T10" fmla="*/ 0 h 80"/>
              <a:gd name="T11" fmla="*/ 1004 w 1004"/>
              <a:gd name="T12" fmla="*/ 80 h 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04" h="80">
                <a:moveTo>
                  <a:pt x="0" y="4"/>
                </a:moveTo>
                <a:lnTo>
                  <a:pt x="236" y="0"/>
                </a:lnTo>
                <a:lnTo>
                  <a:pt x="1004" y="8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9238" name="Freeform 97"/>
          <p:cNvSpPr>
            <a:spLocks/>
          </p:cNvSpPr>
          <p:nvPr/>
        </p:nvSpPr>
        <p:spPr bwMode="auto">
          <a:xfrm>
            <a:off x="2292350" y="5461000"/>
            <a:ext cx="1498600" cy="1588"/>
          </a:xfrm>
          <a:custGeom>
            <a:avLst/>
            <a:gdLst>
              <a:gd name="T0" fmla="*/ 0 w 944"/>
              <a:gd name="T1" fmla="*/ 0 h 1"/>
              <a:gd name="T2" fmla="*/ 2147483647 w 944"/>
              <a:gd name="T3" fmla="*/ 0 h 1"/>
              <a:gd name="T4" fmla="*/ 0 60000 65536"/>
              <a:gd name="T5" fmla="*/ 0 60000 65536"/>
              <a:gd name="T6" fmla="*/ 0 w 944"/>
              <a:gd name="T7" fmla="*/ 0 h 1"/>
              <a:gd name="T8" fmla="*/ 944 w 944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44" h="1">
                <a:moveTo>
                  <a:pt x="0" y="0"/>
                </a:moveTo>
                <a:lnTo>
                  <a:pt x="944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9239" name="Freeform 98"/>
          <p:cNvSpPr>
            <a:spLocks/>
          </p:cNvSpPr>
          <p:nvPr/>
        </p:nvSpPr>
        <p:spPr bwMode="auto">
          <a:xfrm>
            <a:off x="4711700" y="5664200"/>
            <a:ext cx="2114550" cy="107950"/>
          </a:xfrm>
          <a:custGeom>
            <a:avLst/>
            <a:gdLst>
              <a:gd name="T0" fmla="*/ 0 w 1332"/>
              <a:gd name="T1" fmla="*/ 0 h 68"/>
              <a:gd name="T2" fmla="*/ 2147483647 w 1332"/>
              <a:gd name="T3" fmla="*/ 2147483647 h 68"/>
              <a:gd name="T4" fmla="*/ 2147483647 w 1332"/>
              <a:gd name="T5" fmla="*/ 2147483647 h 68"/>
              <a:gd name="T6" fmla="*/ 0 60000 65536"/>
              <a:gd name="T7" fmla="*/ 0 60000 65536"/>
              <a:gd name="T8" fmla="*/ 0 60000 65536"/>
              <a:gd name="T9" fmla="*/ 0 w 1332"/>
              <a:gd name="T10" fmla="*/ 0 h 68"/>
              <a:gd name="T11" fmla="*/ 1332 w 1332"/>
              <a:gd name="T12" fmla="*/ 68 h 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32" h="68">
                <a:moveTo>
                  <a:pt x="0" y="0"/>
                </a:moveTo>
                <a:lnTo>
                  <a:pt x="692" y="68"/>
                </a:lnTo>
                <a:lnTo>
                  <a:pt x="1332" y="68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9240" name="Freeform 99"/>
          <p:cNvSpPr>
            <a:spLocks/>
          </p:cNvSpPr>
          <p:nvPr/>
        </p:nvSpPr>
        <p:spPr bwMode="auto">
          <a:xfrm>
            <a:off x="4832350" y="5194300"/>
            <a:ext cx="2006600" cy="133350"/>
          </a:xfrm>
          <a:custGeom>
            <a:avLst/>
            <a:gdLst>
              <a:gd name="T0" fmla="*/ 0 w 1264"/>
              <a:gd name="T1" fmla="*/ 0 h 84"/>
              <a:gd name="T2" fmla="*/ 2147483647 w 1264"/>
              <a:gd name="T3" fmla="*/ 2147483647 h 84"/>
              <a:gd name="T4" fmla="*/ 2147483647 w 1264"/>
              <a:gd name="T5" fmla="*/ 2147483647 h 84"/>
              <a:gd name="T6" fmla="*/ 0 60000 65536"/>
              <a:gd name="T7" fmla="*/ 0 60000 65536"/>
              <a:gd name="T8" fmla="*/ 0 60000 65536"/>
              <a:gd name="T9" fmla="*/ 0 w 1264"/>
              <a:gd name="T10" fmla="*/ 0 h 84"/>
              <a:gd name="T11" fmla="*/ 1264 w 1264"/>
              <a:gd name="T12" fmla="*/ 84 h 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64" h="84">
                <a:moveTo>
                  <a:pt x="0" y="0"/>
                </a:moveTo>
                <a:lnTo>
                  <a:pt x="664" y="84"/>
                </a:lnTo>
                <a:lnTo>
                  <a:pt x="1264" y="84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9241" name="Freeform 100"/>
          <p:cNvSpPr>
            <a:spLocks/>
          </p:cNvSpPr>
          <p:nvPr/>
        </p:nvSpPr>
        <p:spPr bwMode="auto">
          <a:xfrm>
            <a:off x="5073650" y="5067300"/>
            <a:ext cx="1771650" cy="19050"/>
          </a:xfrm>
          <a:custGeom>
            <a:avLst/>
            <a:gdLst>
              <a:gd name="T0" fmla="*/ 0 w 1116"/>
              <a:gd name="T1" fmla="*/ 2147483647 h 12"/>
              <a:gd name="T2" fmla="*/ 2147483647 w 1116"/>
              <a:gd name="T3" fmla="*/ 0 h 12"/>
              <a:gd name="T4" fmla="*/ 0 60000 65536"/>
              <a:gd name="T5" fmla="*/ 0 60000 65536"/>
              <a:gd name="T6" fmla="*/ 0 w 1116"/>
              <a:gd name="T7" fmla="*/ 0 h 12"/>
              <a:gd name="T8" fmla="*/ 1116 w 1116"/>
              <a:gd name="T9" fmla="*/ 12 h 1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16" h="12">
                <a:moveTo>
                  <a:pt x="0" y="12"/>
                </a:moveTo>
                <a:lnTo>
                  <a:pt x="1116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9242" name="Freeform 102"/>
          <p:cNvSpPr>
            <a:spLocks/>
          </p:cNvSpPr>
          <p:nvPr/>
        </p:nvSpPr>
        <p:spPr bwMode="auto">
          <a:xfrm>
            <a:off x="5302250" y="3848100"/>
            <a:ext cx="1536700" cy="473075"/>
          </a:xfrm>
          <a:custGeom>
            <a:avLst/>
            <a:gdLst>
              <a:gd name="T0" fmla="*/ 0 w 968"/>
              <a:gd name="T1" fmla="*/ 0 h 298"/>
              <a:gd name="T2" fmla="*/ 2147483647 w 968"/>
              <a:gd name="T3" fmla="*/ 2147483647 h 298"/>
              <a:gd name="T4" fmla="*/ 2147483647 w 968"/>
              <a:gd name="T5" fmla="*/ 2147483647 h 298"/>
              <a:gd name="T6" fmla="*/ 0 60000 65536"/>
              <a:gd name="T7" fmla="*/ 0 60000 65536"/>
              <a:gd name="T8" fmla="*/ 0 60000 65536"/>
              <a:gd name="T9" fmla="*/ 0 w 968"/>
              <a:gd name="T10" fmla="*/ 0 h 298"/>
              <a:gd name="T11" fmla="*/ 968 w 968"/>
              <a:gd name="T12" fmla="*/ 298 h 29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8" h="298">
                <a:moveTo>
                  <a:pt x="0" y="0"/>
                </a:moveTo>
                <a:lnTo>
                  <a:pt x="707" y="298"/>
                </a:lnTo>
                <a:lnTo>
                  <a:pt x="968" y="296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9244" name="TextBox 1"/>
          <p:cNvSpPr txBox="1">
            <a:spLocks noChangeArrowheads="1"/>
          </p:cNvSpPr>
          <p:nvPr/>
        </p:nvSpPr>
        <p:spPr bwMode="auto">
          <a:xfrm>
            <a:off x="63500" y="0"/>
            <a:ext cx="45688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2000"/>
              <a:t>b) </a:t>
            </a:r>
            <a:r>
              <a:rPr lang="fr-CA" altLang="fr-FR" sz="2000" u="sng"/>
              <a:t>Artères de la tête et du cou</a:t>
            </a:r>
            <a:endParaRPr lang="en-US" altLang="fr-FR" sz="2000" b="0"/>
          </a:p>
        </p:txBody>
      </p:sp>
      <p:sp>
        <p:nvSpPr>
          <p:cNvPr id="9245" name="Rectangle 18"/>
          <p:cNvSpPr>
            <a:spLocks noGrp="1" noChangeArrowheads="1"/>
          </p:cNvSpPr>
          <p:nvPr>
            <p:ph type="title" idx="4294967295"/>
          </p:nvPr>
        </p:nvSpPr>
        <p:spPr>
          <a:xfrm>
            <a:off x="4775200" y="6299200"/>
            <a:ext cx="4314825" cy="276225"/>
          </a:xfrm>
          <a:noFill/>
        </p:spPr>
        <p:txBody>
          <a:bodyPr/>
          <a:lstStyle/>
          <a:p>
            <a:pPr eaLnBrk="1" hangingPunct="1"/>
            <a:r>
              <a:rPr lang="fr-CA" altLang="fr-FR" sz="1200" dirty="0">
                <a:solidFill>
                  <a:srgbClr val="0000FF"/>
                </a:solidFill>
              </a:rPr>
              <a:t>Figure 19.24b    Artères de la tête et du cou, profil droit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 idx="4294967295"/>
          </p:nvPr>
        </p:nvSpPr>
        <p:spPr>
          <a:xfrm>
            <a:off x="87313" y="15875"/>
            <a:ext cx="4006850" cy="400050"/>
          </a:xfrm>
        </p:spPr>
        <p:txBody>
          <a:bodyPr lIns="72000" rIns="72000"/>
          <a:lstStyle/>
          <a:p>
            <a:r>
              <a:rPr lang="fr-CA" altLang="fr-FR" b="1"/>
              <a:t>b) </a:t>
            </a:r>
            <a:r>
              <a:rPr lang="fr-CA" altLang="fr-FR" b="1" u="sng"/>
              <a:t>Artères de la tête et du cou</a:t>
            </a:r>
            <a:endParaRPr lang="en-US" altLang="fr-FR" sz="1400"/>
          </a:p>
        </p:txBody>
      </p:sp>
      <p:sp>
        <p:nvSpPr>
          <p:cNvPr id="10244" name="TextBox 97"/>
          <p:cNvSpPr txBox="1">
            <a:spLocks noChangeArrowheads="1"/>
          </p:cNvSpPr>
          <p:nvPr/>
        </p:nvSpPr>
        <p:spPr bwMode="auto">
          <a:xfrm>
            <a:off x="457200" y="457200"/>
            <a:ext cx="8382000" cy="517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fr-CA" altLang="fr-FR" sz="1800" i="1" dirty="0"/>
              <a:t>Artères carotides communes droite</a:t>
            </a:r>
            <a:r>
              <a:rPr lang="fr-CA" altLang="fr-FR" sz="1800" dirty="0"/>
              <a:t> et </a:t>
            </a:r>
            <a:r>
              <a:rPr lang="fr-CA" altLang="fr-FR" sz="1800" i="1" dirty="0"/>
              <a:t>gauche </a:t>
            </a:r>
            <a:r>
              <a:rPr lang="fr-CA" altLang="fr-FR" sz="1800" dirty="0"/>
              <a:t>:</a:t>
            </a:r>
          </a:p>
          <a:p>
            <a:pPr marL="285750" indent="-285750">
              <a:spcBef>
                <a:spcPts val="300"/>
              </a:spcBef>
              <a:buFont typeface="Wingdings" panose="05000000000000000000" pitchFamily="2" charset="2"/>
              <a:buChar char="ü"/>
              <a:defRPr/>
            </a:pPr>
            <a:r>
              <a:rPr lang="fr-CA" altLang="fr-FR" sz="1600" b="0" dirty="0"/>
              <a:t>Les artères carotides communes n’ont pas la même origine :</a:t>
            </a:r>
          </a:p>
          <a:p>
            <a:pPr marL="268287" lvl="1" indent="0">
              <a:spcBef>
                <a:spcPts val="0"/>
              </a:spcBef>
              <a:defRPr/>
            </a:pPr>
            <a:r>
              <a:rPr lang="fr-CA" altLang="fr-FR" sz="1600" b="0" dirty="0"/>
              <a:t>l’artère carotide commune droite naît du tronc brachiocéphalique alors que la gauche est la deuxième branche de la crosse de l’aorte.</a:t>
            </a:r>
          </a:p>
          <a:p>
            <a:pPr marL="285750" indent="-285750">
              <a:spcBef>
                <a:spcPts val="300"/>
              </a:spcBef>
              <a:buFont typeface="Wingdings" panose="05000000000000000000" pitchFamily="2" charset="2"/>
              <a:buChar char="ü"/>
              <a:defRPr/>
            </a:pPr>
            <a:r>
              <a:rPr lang="fr-CA" altLang="fr-FR" sz="1600" b="0" dirty="0"/>
              <a:t>Chacune se divise rapidement en deux branches: les</a:t>
            </a:r>
            <a:r>
              <a:rPr lang="fr-CA" altLang="fr-FR" sz="1600" b="0" i="1" dirty="0"/>
              <a:t> </a:t>
            </a:r>
            <a:r>
              <a:rPr lang="fr-CA" altLang="fr-FR" sz="1600" i="1" dirty="0"/>
              <a:t>artères carotides internes</a:t>
            </a:r>
            <a:r>
              <a:rPr lang="fr-CA" altLang="fr-FR" sz="1600" dirty="0"/>
              <a:t> </a:t>
            </a:r>
            <a:r>
              <a:rPr lang="fr-CA" altLang="fr-FR" sz="1600" b="0" dirty="0"/>
              <a:t>et </a:t>
            </a:r>
            <a:r>
              <a:rPr lang="fr-CA" altLang="fr-FR" sz="1600" i="1" dirty="0"/>
              <a:t>externes</a:t>
            </a:r>
            <a:r>
              <a:rPr lang="fr-CA" altLang="fr-FR" sz="1600" dirty="0"/>
              <a:t>.</a:t>
            </a:r>
            <a:r>
              <a:rPr lang="fr-CA" altLang="fr-FR" sz="1600" b="0" dirty="0"/>
              <a:t> </a:t>
            </a:r>
          </a:p>
          <a:p>
            <a:pPr marL="285750" indent="-285750">
              <a:spcBef>
                <a:spcPts val="300"/>
              </a:spcBef>
              <a:buFont typeface="Wingdings" panose="05000000000000000000" pitchFamily="2" charset="2"/>
              <a:buChar char="ü"/>
              <a:defRPr/>
            </a:pPr>
            <a:r>
              <a:rPr lang="fr-CA" altLang="fr-FR" sz="1600" b="0" dirty="0"/>
              <a:t>À la bifurcation, chaque artère carotide interne présente une légère dilatation, le </a:t>
            </a:r>
            <a:r>
              <a:rPr lang="fr-CA" altLang="fr-FR" sz="1600" b="0" i="1" dirty="0"/>
              <a:t>sinus carotidiens, </a:t>
            </a:r>
            <a:r>
              <a:rPr lang="fr-CA" altLang="fr-FR" sz="1600" b="0" dirty="0"/>
              <a:t>qui participe à la régulation réflexe de la pression artérielle systémique.</a:t>
            </a:r>
          </a:p>
          <a:p>
            <a:pPr marL="285750" indent="-285750">
              <a:spcBef>
                <a:spcPts val="300"/>
              </a:spcBef>
              <a:buFont typeface="Wingdings" panose="05000000000000000000" pitchFamily="2" charset="2"/>
              <a:buChar char="ü"/>
              <a:defRPr/>
            </a:pPr>
            <a:r>
              <a:rPr lang="fr-CA" altLang="fr-FR" sz="1600" b="0" dirty="0"/>
              <a:t>Les </a:t>
            </a:r>
            <a:r>
              <a:rPr lang="fr-CA" altLang="fr-FR" sz="1600" dirty="0"/>
              <a:t>artères carotides internes </a:t>
            </a:r>
            <a:r>
              <a:rPr lang="fr-CA" altLang="fr-FR" sz="1600" b="0" dirty="0"/>
              <a:t>irriguent la majeure partie du cerveau (80%) alors que les </a:t>
            </a:r>
            <a:r>
              <a:rPr lang="fr-CA" altLang="fr-FR" sz="1600" dirty="0"/>
              <a:t>artères carotides externes </a:t>
            </a:r>
            <a:r>
              <a:rPr lang="fr-CA" altLang="fr-FR" sz="1600" b="0" dirty="0"/>
              <a:t>desservent la majeure partie des tissus de la tête, à l’exception de l’encéphale et des orbites.</a:t>
            </a:r>
          </a:p>
          <a:p>
            <a:pPr marL="285750" indent="-285750">
              <a:spcBef>
                <a:spcPts val="300"/>
              </a:spcBef>
              <a:buFont typeface="Wingdings" panose="05000000000000000000" pitchFamily="2" charset="2"/>
              <a:buChar char="ü"/>
              <a:defRPr/>
            </a:pPr>
            <a:endParaRPr lang="fr-CA" altLang="fr-FR" sz="1600" b="0" dirty="0"/>
          </a:p>
          <a:p>
            <a:pPr>
              <a:defRPr/>
            </a:pPr>
            <a:r>
              <a:rPr lang="fr-CA" altLang="fr-FR" sz="1800" i="1" dirty="0"/>
              <a:t>Artères vertébrales </a:t>
            </a:r>
            <a:r>
              <a:rPr lang="fr-CA" altLang="fr-FR" sz="1800" dirty="0"/>
              <a:t>:</a:t>
            </a:r>
            <a:r>
              <a:rPr lang="fr-CA" altLang="fr-FR" sz="1800" b="0" dirty="0"/>
              <a:t> </a:t>
            </a:r>
          </a:p>
          <a:p>
            <a:pPr marL="285750" indent="-285750">
              <a:spcBef>
                <a:spcPts val="300"/>
              </a:spcBef>
              <a:buFont typeface="Wingdings" panose="05000000000000000000" pitchFamily="2" charset="2"/>
              <a:buChar char="ü"/>
              <a:defRPr/>
            </a:pPr>
            <a:r>
              <a:rPr lang="fr-CA" altLang="fr-FR" sz="1600" b="0" dirty="0"/>
              <a:t>Naissent des artères subclavières à la racine du cou.</a:t>
            </a:r>
          </a:p>
          <a:p>
            <a:pPr marL="285750" indent="-285750">
              <a:spcBef>
                <a:spcPts val="300"/>
              </a:spcBef>
              <a:buFont typeface="Wingdings" panose="05000000000000000000" pitchFamily="2" charset="2"/>
              <a:buChar char="ü"/>
              <a:defRPr/>
            </a:pPr>
            <a:r>
              <a:rPr lang="fr-CA" altLang="fr-FR" sz="1600" b="0" dirty="0"/>
              <a:t>Montent vers le cerveau en longeant les vertèbres cervicales et entrent dans le crâne par le foramen magnum (grande ouverture à la base du crâne par laquelle passe aussi la moelle épinière).</a:t>
            </a:r>
          </a:p>
          <a:p>
            <a:pPr marL="285750" indent="-285750">
              <a:spcBef>
                <a:spcPts val="300"/>
              </a:spcBef>
              <a:buFont typeface="Wingdings" panose="05000000000000000000" pitchFamily="2" charset="2"/>
              <a:buChar char="ü"/>
              <a:defRPr/>
            </a:pPr>
            <a:r>
              <a:rPr lang="fr-CA" altLang="fr-FR" sz="1600" b="0" dirty="0"/>
              <a:t>Desservent principalement la partie supérieure de la moelle épinière, les parties profondes du cou et le cerveau.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136" descr="figure_19_23b_unlabel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131" b="6961"/>
          <a:stretch>
            <a:fillRect/>
          </a:stretch>
        </p:blipFill>
        <p:spPr bwMode="auto">
          <a:xfrm>
            <a:off x="844550" y="287338"/>
            <a:ext cx="7761288" cy="637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Title 1"/>
          <p:cNvSpPr>
            <a:spLocks noGrp="1"/>
          </p:cNvSpPr>
          <p:nvPr>
            <p:ph type="title" idx="4294967295"/>
          </p:nvPr>
        </p:nvSpPr>
        <p:spPr>
          <a:xfrm>
            <a:off x="69850" y="76200"/>
            <a:ext cx="5949950" cy="400050"/>
          </a:xfrm>
        </p:spPr>
        <p:txBody>
          <a:bodyPr lIns="72000" rIns="72000"/>
          <a:lstStyle/>
          <a:p>
            <a:r>
              <a:rPr lang="fr-CA" altLang="fr-FR" b="1"/>
              <a:t>c) </a:t>
            </a:r>
            <a:r>
              <a:rPr lang="fr-CA" altLang="fr-FR" b="1" u="sng"/>
              <a:t>Artères des membres supérieurs et du thorax</a:t>
            </a:r>
            <a:endParaRPr lang="en-US" altLang="fr-FR"/>
          </a:p>
        </p:txBody>
      </p:sp>
      <p:sp>
        <p:nvSpPr>
          <p:cNvPr id="11268" name="Rectangle 18"/>
          <p:cNvSpPr txBox="1">
            <a:spLocks noChangeArrowheads="1"/>
          </p:cNvSpPr>
          <p:nvPr/>
        </p:nvSpPr>
        <p:spPr bwMode="auto">
          <a:xfrm>
            <a:off x="6861175" y="6251575"/>
            <a:ext cx="190341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0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CA" altLang="fr-FR" b="0" dirty="0">
                <a:solidFill>
                  <a:srgbClr val="0000FF"/>
                </a:solidFill>
                <a:cs typeface="Arial" charset="0"/>
              </a:rPr>
              <a:t>Figure 19.25b</a:t>
            </a:r>
          </a:p>
        </p:txBody>
      </p:sp>
      <p:sp>
        <p:nvSpPr>
          <p:cNvPr id="11269" name="Rectangle 75"/>
          <p:cNvSpPr>
            <a:spLocks noChangeArrowheads="1"/>
          </p:cNvSpPr>
          <p:nvPr/>
        </p:nvSpPr>
        <p:spPr bwMode="auto">
          <a:xfrm>
            <a:off x="6299200" y="625475"/>
            <a:ext cx="2205038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sz="1400"/>
              <a:t>A. carotides communes</a:t>
            </a:r>
          </a:p>
        </p:txBody>
      </p:sp>
      <p:sp>
        <p:nvSpPr>
          <p:cNvPr id="11270" name="Rectangle 76"/>
          <p:cNvSpPr>
            <a:spLocks noChangeArrowheads="1"/>
          </p:cNvSpPr>
          <p:nvPr/>
        </p:nvSpPr>
        <p:spPr bwMode="auto">
          <a:xfrm>
            <a:off x="6303963" y="890588"/>
            <a:ext cx="194468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sz="1400"/>
              <a:t>A. subclavière droite</a:t>
            </a:r>
          </a:p>
        </p:txBody>
      </p:sp>
      <p:sp>
        <p:nvSpPr>
          <p:cNvPr id="11271" name="Rectangle 77"/>
          <p:cNvSpPr>
            <a:spLocks noChangeArrowheads="1"/>
          </p:cNvSpPr>
          <p:nvPr/>
        </p:nvSpPr>
        <p:spPr bwMode="auto">
          <a:xfrm>
            <a:off x="6302375" y="1179513"/>
            <a:ext cx="207327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sz="1400"/>
              <a:t>A. subclavière gauche</a:t>
            </a:r>
          </a:p>
        </p:txBody>
      </p:sp>
      <p:sp>
        <p:nvSpPr>
          <p:cNvPr id="11272" name="Rectangle 78"/>
          <p:cNvSpPr>
            <a:spLocks noChangeArrowheads="1"/>
          </p:cNvSpPr>
          <p:nvPr/>
        </p:nvSpPr>
        <p:spPr bwMode="auto">
          <a:xfrm>
            <a:off x="6302375" y="1533525"/>
            <a:ext cx="2300288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sz="1400"/>
              <a:t>Tronc brachiocéphalique</a:t>
            </a:r>
          </a:p>
        </p:txBody>
      </p:sp>
      <p:sp>
        <p:nvSpPr>
          <p:cNvPr id="11273" name="Rectangle 79"/>
          <p:cNvSpPr>
            <a:spLocks noChangeArrowheads="1"/>
          </p:cNvSpPr>
          <p:nvPr/>
        </p:nvSpPr>
        <p:spPr bwMode="auto">
          <a:xfrm>
            <a:off x="6302375" y="1892300"/>
            <a:ext cx="2640013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sz="1400">
                <a:solidFill>
                  <a:srgbClr val="FF0000"/>
                </a:solidFill>
              </a:rPr>
              <a:t>A. intercostales postérieures</a:t>
            </a:r>
          </a:p>
        </p:txBody>
      </p:sp>
      <p:sp>
        <p:nvSpPr>
          <p:cNvPr id="11274" name="Rectangle 81"/>
          <p:cNvSpPr>
            <a:spLocks noChangeArrowheads="1"/>
          </p:cNvSpPr>
          <p:nvPr/>
        </p:nvSpPr>
        <p:spPr bwMode="auto">
          <a:xfrm>
            <a:off x="6302375" y="2760663"/>
            <a:ext cx="1973263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sz="1400">
                <a:solidFill>
                  <a:srgbClr val="FF0000"/>
                </a:solidFill>
              </a:rPr>
              <a:t>A. thoracique interne</a:t>
            </a:r>
          </a:p>
        </p:txBody>
      </p:sp>
      <p:sp>
        <p:nvSpPr>
          <p:cNvPr id="11275" name="Rectangle 83"/>
          <p:cNvSpPr>
            <a:spLocks noChangeArrowheads="1"/>
          </p:cNvSpPr>
          <p:nvPr/>
        </p:nvSpPr>
        <p:spPr bwMode="auto">
          <a:xfrm>
            <a:off x="6316663" y="3624263"/>
            <a:ext cx="17938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400"/>
              <a:t>Aorte descendante</a:t>
            </a:r>
          </a:p>
        </p:txBody>
      </p:sp>
      <p:sp>
        <p:nvSpPr>
          <p:cNvPr id="11276" name="Rectangle 85"/>
          <p:cNvSpPr>
            <a:spLocks noChangeArrowheads="1"/>
          </p:cNvSpPr>
          <p:nvPr/>
        </p:nvSpPr>
        <p:spPr bwMode="auto">
          <a:xfrm>
            <a:off x="344488" y="4657725"/>
            <a:ext cx="16367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400">
                <a:solidFill>
                  <a:srgbClr val="FF0000"/>
                </a:solidFill>
              </a:rPr>
              <a:t>Arcade palmaire profonde</a:t>
            </a:r>
          </a:p>
        </p:txBody>
      </p:sp>
      <p:sp>
        <p:nvSpPr>
          <p:cNvPr id="11277" name="Rectangle 86"/>
          <p:cNvSpPr>
            <a:spLocks noChangeArrowheads="1"/>
          </p:cNvSpPr>
          <p:nvPr/>
        </p:nvSpPr>
        <p:spPr bwMode="auto">
          <a:xfrm>
            <a:off x="76200" y="5257800"/>
            <a:ext cx="1676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400">
                <a:solidFill>
                  <a:srgbClr val="FF0000"/>
                </a:solidFill>
              </a:rPr>
              <a:t>Arcade palmaire superficielle</a:t>
            </a:r>
          </a:p>
        </p:txBody>
      </p:sp>
      <p:sp>
        <p:nvSpPr>
          <p:cNvPr id="11278" name="Rectangle 88"/>
          <p:cNvSpPr>
            <a:spLocks noChangeArrowheads="1"/>
          </p:cNvSpPr>
          <p:nvPr/>
        </p:nvSpPr>
        <p:spPr bwMode="auto">
          <a:xfrm>
            <a:off x="995363" y="4379913"/>
            <a:ext cx="10001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400">
                <a:solidFill>
                  <a:srgbClr val="FF0000"/>
                </a:solidFill>
              </a:rPr>
              <a:t>A. ulnaire</a:t>
            </a:r>
          </a:p>
        </p:txBody>
      </p:sp>
      <p:sp>
        <p:nvSpPr>
          <p:cNvPr id="11279" name="Rectangle 89"/>
          <p:cNvSpPr>
            <a:spLocks noChangeArrowheads="1"/>
          </p:cNvSpPr>
          <p:nvPr/>
        </p:nvSpPr>
        <p:spPr bwMode="auto">
          <a:xfrm>
            <a:off x="1143000" y="3962400"/>
            <a:ext cx="990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400">
                <a:solidFill>
                  <a:srgbClr val="FF0000"/>
                </a:solidFill>
              </a:rPr>
              <a:t>A. radiale</a:t>
            </a:r>
          </a:p>
        </p:txBody>
      </p:sp>
      <p:sp>
        <p:nvSpPr>
          <p:cNvPr id="11280" name="Rectangle 92"/>
          <p:cNvSpPr>
            <a:spLocks noChangeArrowheads="1"/>
          </p:cNvSpPr>
          <p:nvPr/>
        </p:nvSpPr>
        <p:spPr bwMode="auto">
          <a:xfrm>
            <a:off x="1033463" y="3028950"/>
            <a:ext cx="12001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400">
                <a:solidFill>
                  <a:srgbClr val="FF0000"/>
                </a:solidFill>
              </a:rPr>
              <a:t>A. brachiale</a:t>
            </a:r>
          </a:p>
        </p:txBody>
      </p:sp>
      <p:sp>
        <p:nvSpPr>
          <p:cNvPr id="11281" name="Rectangle 96"/>
          <p:cNvSpPr>
            <a:spLocks noChangeArrowheads="1"/>
          </p:cNvSpPr>
          <p:nvPr/>
        </p:nvSpPr>
        <p:spPr bwMode="auto">
          <a:xfrm>
            <a:off x="1081088" y="1614488"/>
            <a:ext cx="10810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400">
                <a:solidFill>
                  <a:srgbClr val="FF0000"/>
                </a:solidFill>
              </a:rPr>
              <a:t>A. axillaire</a:t>
            </a:r>
          </a:p>
        </p:txBody>
      </p:sp>
      <p:sp>
        <p:nvSpPr>
          <p:cNvPr id="11282" name="Rectangle 101"/>
          <p:cNvSpPr>
            <a:spLocks noChangeArrowheads="1"/>
          </p:cNvSpPr>
          <p:nvPr/>
        </p:nvSpPr>
        <p:spPr bwMode="auto">
          <a:xfrm>
            <a:off x="1030288" y="576263"/>
            <a:ext cx="1270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400"/>
              <a:t>A. vertébrale</a:t>
            </a:r>
          </a:p>
        </p:txBody>
      </p:sp>
      <p:sp>
        <p:nvSpPr>
          <p:cNvPr id="11283" name="Freeform 103"/>
          <p:cNvSpPr>
            <a:spLocks/>
          </p:cNvSpPr>
          <p:nvPr/>
        </p:nvSpPr>
        <p:spPr bwMode="auto">
          <a:xfrm>
            <a:off x="2254250" y="758825"/>
            <a:ext cx="2692400" cy="104775"/>
          </a:xfrm>
          <a:custGeom>
            <a:avLst/>
            <a:gdLst>
              <a:gd name="T0" fmla="*/ 0 w 1696"/>
              <a:gd name="T1" fmla="*/ 0 h 66"/>
              <a:gd name="T2" fmla="*/ 2147483647 w 1696"/>
              <a:gd name="T3" fmla="*/ 0 h 66"/>
              <a:gd name="T4" fmla="*/ 2147483647 w 1696"/>
              <a:gd name="T5" fmla="*/ 2147483647 h 66"/>
              <a:gd name="T6" fmla="*/ 0 60000 65536"/>
              <a:gd name="T7" fmla="*/ 0 60000 65536"/>
              <a:gd name="T8" fmla="*/ 0 60000 65536"/>
              <a:gd name="T9" fmla="*/ 0 w 1696"/>
              <a:gd name="T10" fmla="*/ 0 h 66"/>
              <a:gd name="T11" fmla="*/ 1696 w 1696"/>
              <a:gd name="T12" fmla="*/ 66 h 6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96" h="66">
                <a:moveTo>
                  <a:pt x="0" y="0"/>
                </a:moveTo>
                <a:lnTo>
                  <a:pt x="1510" y="0"/>
                </a:lnTo>
                <a:lnTo>
                  <a:pt x="1696" y="66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1284" name="Freeform 108"/>
          <p:cNvSpPr>
            <a:spLocks/>
          </p:cNvSpPr>
          <p:nvPr/>
        </p:nvSpPr>
        <p:spPr bwMode="auto">
          <a:xfrm>
            <a:off x="2143125" y="1660525"/>
            <a:ext cx="1943100" cy="130175"/>
          </a:xfrm>
          <a:custGeom>
            <a:avLst/>
            <a:gdLst>
              <a:gd name="T0" fmla="*/ 0 w 1224"/>
              <a:gd name="T1" fmla="*/ 2147483647 h 82"/>
              <a:gd name="T2" fmla="*/ 2147483647 w 1224"/>
              <a:gd name="T3" fmla="*/ 2147483647 h 82"/>
              <a:gd name="T4" fmla="*/ 2147483647 w 1224"/>
              <a:gd name="T5" fmla="*/ 0 h 82"/>
              <a:gd name="T6" fmla="*/ 0 60000 65536"/>
              <a:gd name="T7" fmla="*/ 0 60000 65536"/>
              <a:gd name="T8" fmla="*/ 0 60000 65536"/>
              <a:gd name="T9" fmla="*/ 0 w 1224"/>
              <a:gd name="T10" fmla="*/ 0 h 82"/>
              <a:gd name="T11" fmla="*/ 1224 w 1224"/>
              <a:gd name="T12" fmla="*/ 82 h 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24" h="82">
                <a:moveTo>
                  <a:pt x="0" y="82"/>
                </a:moveTo>
                <a:lnTo>
                  <a:pt x="1027" y="79"/>
                </a:lnTo>
                <a:lnTo>
                  <a:pt x="1224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1285" name="Freeform 112"/>
          <p:cNvSpPr>
            <a:spLocks/>
          </p:cNvSpPr>
          <p:nvPr/>
        </p:nvSpPr>
        <p:spPr bwMode="auto">
          <a:xfrm>
            <a:off x="2195513" y="2824163"/>
            <a:ext cx="1535112" cy="363537"/>
          </a:xfrm>
          <a:custGeom>
            <a:avLst/>
            <a:gdLst>
              <a:gd name="T0" fmla="*/ 0 w 967"/>
              <a:gd name="T1" fmla="*/ 2147483647 h 229"/>
              <a:gd name="T2" fmla="*/ 2147483647 w 967"/>
              <a:gd name="T3" fmla="*/ 2147483647 h 229"/>
              <a:gd name="T4" fmla="*/ 2147483647 w 967"/>
              <a:gd name="T5" fmla="*/ 0 h 229"/>
              <a:gd name="T6" fmla="*/ 0 60000 65536"/>
              <a:gd name="T7" fmla="*/ 0 60000 65536"/>
              <a:gd name="T8" fmla="*/ 0 60000 65536"/>
              <a:gd name="T9" fmla="*/ 0 w 967"/>
              <a:gd name="T10" fmla="*/ 0 h 229"/>
              <a:gd name="T11" fmla="*/ 967 w 967"/>
              <a:gd name="T12" fmla="*/ 229 h 22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7" h="229">
                <a:moveTo>
                  <a:pt x="0" y="228"/>
                </a:moveTo>
                <a:lnTo>
                  <a:pt x="663" y="229"/>
                </a:lnTo>
                <a:lnTo>
                  <a:pt x="967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1286" name="Freeform 115"/>
          <p:cNvSpPr>
            <a:spLocks/>
          </p:cNvSpPr>
          <p:nvPr/>
        </p:nvSpPr>
        <p:spPr bwMode="auto">
          <a:xfrm flipV="1">
            <a:off x="2041525" y="4159250"/>
            <a:ext cx="1020763" cy="46038"/>
          </a:xfrm>
          <a:custGeom>
            <a:avLst/>
            <a:gdLst>
              <a:gd name="T0" fmla="*/ 0 w 623"/>
              <a:gd name="T1" fmla="*/ 2147483647 h 4"/>
              <a:gd name="T2" fmla="*/ 2147483647 w 623"/>
              <a:gd name="T3" fmla="*/ 0 h 4"/>
              <a:gd name="T4" fmla="*/ 0 60000 65536"/>
              <a:gd name="T5" fmla="*/ 0 60000 65536"/>
              <a:gd name="T6" fmla="*/ 0 w 623"/>
              <a:gd name="T7" fmla="*/ 0 h 4"/>
              <a:gd name="T8" fmla="*/ 623 w 623"/>
              <a:gd name="T9" fmla="*/ 4 h 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23" h="4">
                <a:moveTo>
                  <a:pt x="0" y="4"/>
                </a:moveTo>
                <a:lnTo>
                  <a:pt x="623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1287" name="Freeform 116"/>
          <p:cNvSpPr>
            <a:spLocks/>
          </p:cNvSpPr>
          <p:nvPr/>
        </p:nvSpPr>
        <p:spPr bwMode="auto">
          <a:xfrm>
            <a:off x="1951038" y="4545013"/>
            <a:ext cx="1322387" cy="1587"/>
          </a:xfrm>
          <a:custGeom>
            <a:avLst/>
            <a:gdLst>
              <a:gd name="T0" fmla="*/ 0 w 833"/>
              <a:gd name="T1" fmla="*/ 0 h 1"/>
              <a:gd name="T2" fmla="*/ 2147483647 w 833"/>
              <a:gd name="T3" fmla="*/ 2147483647 h 1"/>
              <a:gd name="T4" fmla="*/ 0 60000 65536"/>
              <a:gd name="T5" fmla="*/ 0 60000 65536"/>
              <a:gd name="T6" fmla="*/ 0 w 833"/>
              <a:gd name="T7" fmla="*/ 0 h 1"/>
              <a:gd name="T8" fmla="*/ 833 w 833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33" h="1">
                <a:moveTo>
                  <a:pt x="0" y="0"/>
                </a:moveTo>
                <a:lnTo>
                  <a:pt x="833" y="1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1288" name="Freeform 118"/>
          <p:cNvSpPr>
            <a:spLocks/>
          </p:cNvSpPr>
          <p:nvPr/>
        </p:nvSpPr>
        <p:spPr bwMode="auto">
          <a:xfrm rot="817948">
            <a:off x="1482725" y="5641975"/>
            <a:ext cx="890588" cy="493713"/>
          </a:xfrm>
          <a:custGeom>
            <a:avLst/>
            <a:gdLst>
              <a:gd name="T0" fmla="*/ 0 w 264"/>
              <a:gd name="T1" fmla="*/ 0 h 1"/>
              <a:gd name="T2" fmla="*/ 2147483647 w 264"/>
              <a:gd name="T3" fmla="*/ 0 h 1"/>
              <a:gd name="T4" fmla="*/ 0 60000 65536"/>
              <a:gd name="T5" fmla="*/ 0 60000 65536"/>
              <a:gd name="T6" fmla="*/ 0 w 264"/>
              <a:gd name="T7" fmla="*/ 0 h 1"/>
              <a:gd name="T8" fmla="*/ 264 w 264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64" h="1">
                <a:moveTo>
                  <a:pt x="0" y="0"/>
                </a:moveTo>
                <a:lnTo>
                  <a:pt x="264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1289" name="Freeform 122"/>
          <p:cNvSpPr>
            <a:spLocks/>
          </p:cNvSpPr>
          <p:nvPr/>
        </p:nvSpPr>
        <p:spPr bwMode="auto">
          <a:xfrm>
            <a:off x="5014913" y="757238"/>
            <a:ext cx="1339850" cy="273050"/>
          </a:xfrm>
          <a:custGeom>
            <a:avLst/>
            <a:gdLst>
              <a:gd name="T0" fmla="*/ 0 w 844"/>
              <a:gd name="T1" fmla="*/ 2147483647 h 172"/>
              <a:gd name="T2" fmla="*/ 2147483647 w 844"/>
              <a:gd name="T3" fmla="*/ 0 h 172"/>
              <a:gd name="T4" fmla="*/ 2147483647 w 844"/>
              <a:gd name="T5" fmla="*/ 0 h 172"/>
              <a:gd name="T6" fmla="*/ 0 60000 65536"/>
              <a:gd name="T7" fmla="*/ 0 60000 65536"/>
              <a:gd name="T8" fmla="*/ 0 60000 65536"/>
              <a:gd name="T9" fmla="*/ 0 w 844"/>
              <a:gd name="T10" fmla="*/ 0 h 172"/>
              <a:gd name="T11" fmla="*/ 844 w 844"/>
              <a:gd name="T12" fmla="*/ 172 h 1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44" h="172">
                <a:moveTo>
                  <a:pt x="0" y="172"/>
                </a:moveTo>
                <a:lnTo>
                  <a:pt x="748" y="0"/>
                </a:lnTo>
                <a:lnTo>
                  <a:pt x="844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1290" name="Freeform 123"/>
          <p:cNvSpPr>
            <a:spLocks/>
          </p:cNvSpPr>
          <p:nvPr/>
        </p:nvSpPr>
        <p:spPr bwMode="auto">
          <a:xfrm>
            <a:off x="5272088" y="769938"/>
            <a:ext cx="885825" cy="352425"/>
          </a:xfrm>
          <a:custGeom>
            <a:avLst/>
            <a:gdLst>
              <a:gd name="T0" fmla="*/ 2147483647 w 558"/>
              <a:gd name="T1" fmla="*/ 0 h 222"/>
              <a:gd name="T2" fmla="*/ 0 w 558"/>
              <a:gd name="T3" fmla="*/ 2147483647 h 222"/>
              <a:gd name="T4" fmla="*/ 0 60000 65536"/>
              <a:gd name="T5" fmla="*/ 0 60000 65536"/>
              <a:gd name="T6" fmla="*/ 0 w 558"/>
              <a:gd name="T7" fmla="*/ 0 h 222"/>
              <a:gd name="T8" fmla="*/ 558 w 558"/>
              <a:gd name="T9" fmla="*/ 222 h 22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58" h="222">
                <a:moveTo>
                  <a:pt x="558" y="0"/>
                </a:moveTo>
                <a:lnTo>
                  <a:pt x="0" y="222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1291" name="Freeform 124"/>
          <p:cNvSpPr>
            <a:spLocks/>
          </p:cNvSpPr>
          <p:nvPr/>
        </p:nvSpPr>
        <p:spPr bwMode="auto">
          <a:xfrm>
            <a:off x="4987925" y="1025525"/>
            <a:ext cx="1374775" cy="247650"/>
          </a:xfrm>
          <a:custGeom>
            <a:avLst/>
            <a:gdLst>
              <a:gd name="T0" fmla="*/ 2147483647 w 866"/>
              <a:gd name="T1" fmla="*/ 0 h 156"/>
              <a:gd name="T2" fmla="*/ 2147483647 w 866"/>
              <a:gd name="T3" fmla="*/ 0 h 156"/>
              <a:gd name="T4" fmla="*/ 0 w 866"/>
              <a:gd name="T5" fmla="*/ 2147483647 h 156"/>
              <a:gd name="T6" fmla="*/ 0 60000 65536"/>
              <a:gd name="T7" fmla="*/ 0 60000 65536"/>
              <a:gd name="T8" fmla="*/ 0 60000 65536"/>
              <a:gd name="T9" fmla="*/ 0 w 866"/>
              <a:gd name="T10" fmla="*/ 0 h 156"/>
              <a:gd name="T11" fmla="*/ 866 w 866"/>
              <a:gd name="T12" fmla="*/ 156 h 1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66" h="156">
                <a:moveTo>
                  <a:pt x="866" y="0"/>
                </a:moveTo>
                <a:lnTo>
                  <a:pt x="752" y="0"/>
                </a:lnTo>
                <a:lnTo>
                  <a:pt x="0" y="156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1292" name="Freeform 125"/>
          <p:cNvSpPr>
            <a:spLocks/>
          </p:cNvSpPr>
          <p:nvPr/>
        </p:nvSpPr>
        <p:spPr bwMode="auto">
          <a:xfrm>
            <a:off x="5467350" y="1209675"/>
            <a:ext cx="879475" cy="111125"/>
          </a:xfrm>
          <a:custGeom>
            <a:avLst/>
            <a:gdLst>
              <a:gd name="T0" fmla="*/ 2147483647 w 554"/>
              <a:gd name="T1" fmla="*/ 2147483647 h 70"/>
              <a:gd name="T2" fmla="*/ 2147483647 w 554"/>
              <a:gd name="T3" fmla="*/ 2147483647 h 70"/>
              <a:gd name="T4" fmla="*/ 0 w 554"/>
              <a:gd name="T5" fmla="*/ 0 h 70"/>
              <a:gd name="T6" fmla="*/ 0 60000 65536"/>
              <a:gd name="T7" fmla="*/ 0 60000 65536"/>
              <a:gd name="T8" fmla="*/ 0 60000 65536"/>
              <a:gd name="T9" fmla="*/ 0 w 554"/>
              <a:gd name="T10" fmla="*/ 0 h 70"/>
              <a:gd name="T11" fmla="*/ 554 w 554"/>
              <a:gd name="T12" fmla="*/ 70 h 7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54" h="70">
                <a:moveTo>
                  <a:pt x="554" y="68"/>
                </a:moveTo>
                <a:lnTo>
                  <a:pt x="446" y="70"/>
                </a:ln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1293" name="Freeform 126"/>
          <p:cNvSpPr>
            <a:spLocks/>
          </p:cNvSpPr>
          <p:nvPr/>
        </p:nvSpPr>
        <p:spPr bwMode="auto">
          <a:xfrm>
            <a:off x="5035550" y="1352550"/>
            <a:ext cx="1311275" cy="311150"/>
          </a:xfrm>
          <a:custGeom>
            <a:avLst/>
            <a:gdLst>
              <a:gd name="T0" fmla="*/ 2147483647 w 826"/>
              <a:gd name="T1" fmla="*/ 2147483647 h 196"/>
              <a:gd name="T2" fmla="*/ 2147483647 w 826"/>
              <a:gd name="T3" fmla="*/ 2147483647 h 196"/>
              <a:gd name="T4" fmla="*/ 0 w 826"/>
              <a:gd name="T5" fmla="*/ 0 h 196"/>
              <a:gd name="T6" fmla="*/ 0 60000 65536"/>
              <a:gd name="T7" fmla="*/ 0 60000 65536"/>
              <a:gd name="T8" fmla="*/ 0 60000 65536"/>
              <a:gd name="T9" fmla="*/ 0 w 826"/>
              <a:gd name="T10" fmla="*/ 0 h 196"/>
              <a:gd name="T11" fmla="*/ 826 w 826"/>
              <a:gd name="T12" fmla="*/ 196 h 1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26" h="196">
                <a:moveTo>
                  <a:pt x="826" y="196"/>
                </a:moveTo>
                <a:lnTo>
                  <a:pt x="710" y="196"/>
                </a:ln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1294" name="Freeform 127"/>
          <p:cNvSpPr>
            <a:spLocks/>
          </p:cNvSpPr>
          <p:nvPr/>
        </p:nvSpPr>
        <p:spPr bwMode="auto">
          <a:xfrm>
            <a:off x="5570538" y="1997075"/>
            <a:ext cx="758825" cy="15875"/>
          </a:xfrm>
          <a:custGeom>
            <a:avLst/>
            <a:gdLst>
              <a:gd name="T0" fmla="*/ 2147483647 w 478"/>
              <a:gd name="T1" fmla="*/ 2147483647 h 10"/>
              <a:gd name="T2" fmla="*/ 0 w 478"/>
              <a:gd name="T3" fmla="*/ 0 h 10"/>
              <a:gd name="T4" fmla="*/ 0 60000 65536"/>
              <a:gd name="T5" fmla="*/ 0 60000 65536"/>
              <a:gd name="T6" fmla="*/ 0 w 478"/>
              <a:gd name="T7" fmla="*/ 0 h 10"/>
              <a:gd name="T8" fmla="*/ 478 w 478"/>
              <a:gd name="T9" fmla="*/ 10 h 1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78" h="10">
                <a:moveTo>
                  <a:pt x="478" y="10"/>
                </a:move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1295" name="Freeform 128"/>
          <p:cNvSpPr>
            <a:spLocks/>
          </p:cNvSpPr>
          <p:nvPr/>
        </p:nvSpPr>
        <p:spPr bwMode="auto">
          <a:xfrm>
            <a:off x="5630863" y="2011363"/>
            <a:ext cx="542925" cy="127000"/>
          </a:xfrm>
          <a:custGeom>
            <a:avLst/>
            <a:gdLst>
              <a:gd name="T0" fmla="*/ 2147483647 w 342"/>
              <a:gd name="T1" fmla="*/ 0 h 80"/>
              <a:gd name="T2" fmla="*/ 0 w 342"/>
              <a:gd name="T3" fmla="*/ 2147483647 h 80"/>
              <a:gd name="T4" fmla="*/ 0 60000 65536"/>
              <a:gd name="T5" fmla="*/ 0 60000 65536"/>
              <a:gd name="T6" fmla="*/ 0 w 342"/>
              <a:gd name="T7" fmla="*/ 0 h 80"/>
              <a:gd name="T8" fmla="*/ 342 w 342"/>
              <a:gd name="T9" fmla="*/ 80 h 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80">
                <a:moveTo>
                  <a:pt x="342" y="0"/>
                </a:moveTo>
                <a:lnTo>
                  <a:pt x="0" y="8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1296" name="Freeform 130"/>
          <p:cNvSpPr>
            <a:spLocks/>
          </p:cNvSpPr>
          <p:nvPr/>
        </p:nvSpPr>
        <p:spPr bwMode="auto">
          <a:xfrm>
            <a:off x="4857750" y="2552700"/>
            <a:ext cx="1484313" cy="376238"/>
          </a:xfrm>
          <a:custGeom>
            <a:avLst/>
            <a:gdLst>
              <a:gd name="T0" fmla="*/ 2147483647 w 935"/>
              <a:gd name="T1" fmla="*/ 2147483647 h 237"/>
              <a:gd name="T2" fmla="*/ 2147483647 w 935"/>
              <a:gd name="T3" fmla="*/ 2147483647 h 237"/>
              <a:gd name="T4" fmla="*/ 0 w 935"/>
              <a:gd name="T5" fmla="*/ 0 h 237"/>
              <a:gd name="T6" fmla="*/ 0 60000 65536"/>
              <a:gd name="T7" fmla="*/ 0 60000 65536"/>
              <a:gd name="T8" fmla="*/ 0 60000 65536"/>
              <a:gd name="T9" fmla="*/ 0 w 935"/>
              <a:gd name="T10" fmla="*/ 0 h 237"/>
              <a:gd name="T11" fmla="*/ 935 w 935"/>
              <a:gd name="T12" fmla="*/ 237 h 23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35" h="237">
                <a:moveTo>
                  <a:pt x="935" y="237"/>
                </a:moveTo>
                <a:lnTo>
                  <a:pt x="813" y="237"/>
                </a:ln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1297" name="Freeform 132"/>
          <p:cNvSpPr>
            <a:spLocks/>
          </p:cNvSpPr>
          <p:nvPr/>
        </p:nvSpPr>
        <p:spPr bwMode="auto">
          <a:xfrm>
            <a:off x="5305425" y="3251200"/>
            <a:ext cx="1038225" cy="539750"/>
          </a:xfrm>
          <a:custGeom>
            <a:avLst/>
            <a:gdLst>
              <a:gd name="T0" fmla="*/ 2147483647 w 654"/>
              <a:gd name="T1" fmla="*/ 2147483647 h 340"/>
              <a:gd name="T2" fmla="*/ 2147483647 w 654"/>
              <a:gd name="T3" fmla="*/ 2147483647 h 340"/>
              <a:gd name="T4" fmla="*/ 0 w 654"/>
              <a:gd name="T5" fmla="*/ 0 h 340"/>
              <a:gd name="T6" fmla="*/ 0 60000 65536"/>
              <a:gd name="T7" fmla="*/ 0 60000 65536"/>
              <a:gd name="T8" fmla="*/ 0 60000 65536"/>
              <a:gd name="T9" fmla="*/ 0 w 654"/>
              <a:gd name="T10" fmla="*/ 0 h 340"/>
              <a:gd name="T11" fmla="*/ 654 w 654"/>
              <a:gd name="T12" fmla="*/ 340 h 3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54" h="340">
                <a:moveTo>
                  <a:pt x="654" y="339"/>
                </a:moveTo>
                <a:lnTo>
                  <a:pt x="540" y="340"/>
                </a:ln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1298" name="Freeform 104"/>
          <p:cNvSpPr>
            <a:spLocks/>
          </p:cNvSpPr>
          <p:nvPr/>
        </p:nvSpPr>
        <p:spPr bwMode="auto">
          <a:xfrm>
            <a:off x="1873250" y="4876800"/>
            <a:ext cx="792163" cy="728663"/>
          </a:xfrm>
          <a:custGeom>
            <a:avLst/>
            <a:gdLst>
              <a:gd name="T0" fmla="*/ 0 w 1424"/>
              <a:gd name="T1" fmla="*/ 2147483647 h 121"/>
              <a:gd name="T2" fmla="*/ 2147483647 w 1424"/>
              <a:gd name="T3" fmla="*/ 0 h 121"/>
              <a:gd name="T4" fmla="*/ 2147483647 w 1424"/>
              <a:gd name="T5" fmla="*/ 2147483647 h 121"/>
              <a:gd name="T6" fmla="*/ 0 60000 65536"/>
              <a:gd name="T7" fmla="*/ 0 60000 65536"/>
              <a:gd name="T8" fmla="*/ 0 60000 65536"/>
              <a:gd name="T9" fmla="*/ 0 w 1424"/>
              <a:gd name="T10" fmla="*/ 0 h 121"/>
              <a:gd name="T11" fmla="*/ 1424 w 1424"/>
              <a:gd name="T12" fmla="*/ 121 h 12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24" h="121">
                <a:moveTo>
                  <a:pt x="0" y="1"/>
                </a:moveTo>
                <a:lnTo>
                  <a:pt x="1281" y="0"/>
                </a:lnTo>
                <a:lnTo>
                  <a:pt x="1424" y="121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 idx="4294967295"/>
          </p:nvPr>
        </p:nvSpPr>
        <p:spPr>
          <a:xfrm>
            <a:off x="23813" y="152400"/>
            <a:ext cx="6781800" cy="400050"/>
          </a:xfrm>
        </p:spPr>
        <p:txBody>
          <a:bodyPr lIns="72000" rIns="72000"/>
          <a:lstStyle/>
          <a:p>
            <a:r>
              <a:rPr lang="fr-CA" altLang="fr-FR" b="1"/>
              <a:t>c) </a:t>
            </a:r>
            <a:r>
              <a:rPr lang="fr-CA" altLang="fr-FR" b="1" u="sng"/>
              <a:t>Artères des membres supérieurs et du thorax</a:t>
            </a:r>
            <a:endParaRPr lang="en-US" altLang="fr-FR"/>
          </a:p>
        </p:txBody>
      </p:sp>
      <p:sp>
        <p:nvSpPr>
          <p:cNvPr id="14341" name="TextBox 4"/>
          <p:cNvSpPr txBox="1">
            <a:spLocks noChangeArrowheads="1"/>
          </p:cNvSpPr>
          <p:nvPr/>
        </p:nvSpPr>
        <p:spPr bwMode="auto">
          <a:xfrm>
            <a:off x="304800" y="609600"/>
            <a:ext cx="8077200" cy="6140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200150" indent="-28575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fr-CA" altLang="fr-FR" sz="1600" u="sng" dirty="0"/>
              <a:t>Artères des membres supérieurs</a:t>
            </a:r>
            <a:r>
              <a:rPr lang="fr-CA" altLang="fr-FR" sz="1600" dirty="0"/>
              <a:t> :</a:t>
            </a:r>
          </a:p>
          <a:p>
            <a:pPr>
              <a:defRPr/>
            </a:pPr>
            <a:r>
              <a:rPr lang="fr-CA" altLang="fr-FR" sz="1600" b="0" dirty="0"/>
              <a:t>Les membres supérieurs (bras, avant-bras, mains) sont entièrement irrigués par des artères issues des artères subclavières :</a:t>
            </a:r>
          </a:p>
          <a:p>
            <a:pPr marL="182563" indent="-182563">
              <a:spcBef>
                <a:spcPts val="600"/>
              </a:spcBef>
              <a:buSzPct val="120000"/>
              <a:buFont typeface="Arial" charset="0"/>
              <a:buChar char="•"/>
              <a:defRPr/>
            </a:pPr>
            <a:r>
              <a:rPr lang="fr-CA" altLang="fr-FR" sz="1600" i="1" dirty="0"/>
              <a:t>Artère axillaire</a:t>
            </a:r>
            <a:r>
              <a:rPr lang="fr-CA" altLang="fr-FR" sz="1600" dirty="0"/>
              <a:t> </a:t>
            </a:r>
            <a:r>
              <a:rPr lang="fr-CA" altLang="fr-FR" sz="1600" b="0" dirty="0"/>
              <a:t>– située dans l'aisselle, naît de l’artère subclavière.</a:t>
            </a:r>
          </a:p>
          <a:p>
            <a:pPr marL="182563" indent="-182563">
              <a:spcBef>
                <a:spcPts val="600"/>
              </a:spcBef>
              <a:buSzPct val="120000"/>
              <a:buFont typeface="Arial" charset="0"/>
              <a:buChar char="•"/>
              <a:defRPr/>
            </a:pPr>
            <a:r>
              <a:rPr lang="fr-CA" altLang="fr-FR" sz="1600" i="1" dirty="0"/>
              <a:t>Artère brachiale</a:t>
            </a:r>
            <a:r>
              <a:rPr lang="fr-CA" altLang="fr-FR" sz="1600" dirty="0"/>
              <a:t> –</a:t>
            </a:r>
            <a:r>
              <a:rPr lang="fr-CA" altLang="fr-FR" sz="1600" b="0" dirty="0"/>
              <a:t> située à la sortie de l'aisselle jusqu'au coude, naît de l’artère axillaire.</a:t>
            </a:r>
          </a:p>
          <a:p>
            <a:pPr marL="447675" lvl="1" indent="-273050">
              <a:buFont typeface="Wingdings" pitchFamily="2" charset="2"/>
              <a:buChar char="Ø"/>
              <a:defRPr/>
            </a:pPr>
            <a:r>
              <a:rPr lang="fr-CA" altLang="fr-FR" sz="1600" b="0" dirty="0"/>
              <a:t>Le </a:t>
            </a:r>
            <a:r>
              <a:rPr lang="fr-CA" altLang="fr-FR" sz="1600" b="0" i="1" dirty="0"/>
              <a:t>pouls brachial </a:t>
            </a:r>
            <a:r>
              <a:rPr lang="fr-CA" altLang="fr-FR" sz="1600" b="0" dirty="0"/>
              <a:t>est mesuré en palpant cette artère.</a:t>
            </a:r>
          </a:p>
          <a:p>
            <a:pPr marL="447675" lvl="1" indent="-273050">
              <a:buFont typeface="Wingdings" pitchFamily="2" charset="2"/>
              <a:buChar char="Ø"/>
              <a:defRPr/>
            </a:pPr>
            <a:r>
              <a:rPr lang="fr-CA" altLang="fr-FR" sz="1600" b="0" dirty="0"/>
              <a:t>Donne naissance aux </a:t>
            </a:r>
            <a:r>
              <a:rPr lang="fr-CA" altLang="fr-FR" sz="1600" i="1" dirty="0"/>
              <a:t>artères ulnaire</a:t>
            </a:r>
            <a:r>
              <a:rPr lang="fr-CA" altLang="fr-FR" sz="1600" dirty="0"/>
              <a:t> </a:t>
            </a:r>
            <a:r>
              <a:rPr lang="fr-CA" altLang="fr-FR" sz="1600" b="0" dirty="0"/>
              <a:t>et </a:t>
            </a:r>
            <a:r>
              <a:rPr lang="fr-CA" altLang="fr-FR" sz="1600" i="1" dirty="0"/>
              <a:t>radiale</a:t>
            </a:r>
            <a:r>
              <a:rPr lang="fr-CA" altLang="fr-FR" sz="1600" b="0" dirty="0"/>
              <a:t>.</a:t>
            </a:r>
          </a:p>
          <a:p>
            <a:pPr marL="719138" lvl="2" indent="-271463">
              <a:buFont typeface="Wingdings" pitchFamily="2" charset="2"/>
              <a:buChar char="ü"/>
              <a:defRPr/>
            </a:pPr>
            <a:r>
              <a:rPr lang="fr-CA" altLang="fr-FR" sz="1600" b="0" dirty="0"/>
              <a:t>Le </a:t>
            </a:r>
            <a:r>
              <a:rPr lang="fr-CA" altLang="fr-FR" sz="1600" b="0" i="1" dirty="0"/>
              <a:t>pouls radial </a:t>
            </a:r>
            <a:r>
              <a:rPr lang="fr-CA" altLang="fr-FR" sz="1600" b="0" dirty="0"/>
              <a:t>est mesuré en palpant l’artère radiale à la racine du pouce.</a:t>
            </a:r>
          </a:p>
          <a:p>
            <a:pPr marL="184150" lvl="1" indent="-193675">
              <a:spcBef>
                <a:spcPts val="600"/>
              </a:spcBef>
              <a:buSzPct val="120000"/>
              <a:buFont typeface="Arial" panose="020B0604020202020204" pitchFamily="34" charset="0"/>
              <a:buChar char="•"/>
              <a:defRPr/>
            </a:pPr>
            <a:r>
              <a:rPr lang="fr-CA" altLang="fr-FR" sz="1600" i="1" dirty="0"/>
              <a:t>Arcades palmaires</a:t>
            </a:r>
            <a:r>
              <a:rPr lang="fr-CA" altLang="fr-FR" sz="1600" dirty="0"/>
              <a:t> – </a:t>
            </a:r>
            <a:r>
              <a:rPr lang="fr-CA" altLang="fr-FR" sz="1600" b="0" dirty="0"/>
              <a:t>dans la paume des mains, les artères ulnaire et radiale s’anastomosent (se rejoignent) pour former les </a:t>
            </a:r>
            <a:r>
              <a:rPr lang="fr-CA" altLang="fr-FR" sz="1600" i="1" dirty="0"/>
              <a:t>arcades palmaires profonde</a:t>
            </a:r>
            <a:r>
              <a:rPr lang="fr-CA" altLang="fr-FR" sz="1600" b="0" dirty="0"/>
              <a:t> et </a:t>
            </a:r>
            <a:r>
              <a:rPr lang="fr-CA" altLang="fr-FR" sz="1600" i="1" dirty="0"/>
              <a:t>superficielle</a:t>
            </a:r>
            <a:r>
              <a:rPr lang="fr-CA" altLang="fr-FR" sz="1600" b="0" dirty="0"/>
              <a:t>, d’où émergent les artères qui irriguent les doigts.</a:t>
            </a:r>
            <a:endParaRPr lang="fr-CA" altLang="fr-FR" sz="1600" i="1" dirty="0"/>
          </a:p>
          <a:p>
            <a:pPr marL="0" lvl="1" indent="0">
              <a:defRPr/>
            </a:pPr>
            <a:endParaRPr lang="fr-CA" altLang="fr-FR" sz="1600" b="0" dirty="0"/>
          </a:p>
          <a:p>
            <a:pPr marL="0" lvl="1" indent="0">
              <a:defRPr/>
            </a:pPr>
            <a:r>
              <a:rPr lang="fr-CA" altLang="fr-FR" sz="1600" u="sng" dirty="0"/>
              <a:t>Artères de la paroi thoracique</a:t>
            </a:r>
            <a:r>
              <a:rPr lang="fr-CA" altLang="fr-FR" sz="1600" dirty="0"/>
              <a:t> :</a:t>
            </a:r>
            <a:endParaRPr lang="fr-CA" altLang="fr-FR" sz="1600" u="sng" dirty="0"/>
          </a:p>
          <a:p>
            <a:pPr marL="174625" lvl="1" indent="-174625">
              <a:spcBef>
                <a:spcPts val="600"/>
              </a:spcBef>
              <a:buSzPct val="120000"/>
              <a:buFont typeface="Arial" panose="020B0604020202020204" pitchFamily="34" charset="0"/>
              <a:buChar char="•"/>
              <a:defRPr/>
            </a:pPr>
            <a:r>
              <a:rPr lang="fr-CA" altLang="fr-FR" sz="1600" i="1" dirty="0"/>
              <a:t>Artères thoraciques internes</a:t>
            </a:r>
            <a:r>
              <a:rPr lang="fr-CA" altLang="fr-FR" sz="1600" b="0" dirty="0"/>
              <a:t> – issues des artères subclavières ; irriguent la partie antérieure de la paroi thoracique (sternum, espaces intercostaux antérieurs, peau, glandes mammaires).</a:t>
            </a:r>
          </a:p>
          <a:p>
            <a:pPr marL="174625" lvl="1" indent="-174625">
              <a:spcBef>
                <a:spcPts val="600"/>
              </a:spcBef>
              <a:buSzPct val="120000"/>
              <a:buFont typeface="Arial" panose="020B0604020202020204" pitchFamily="34" charset="0"/>
              <a:buChar char="•"/>
              <a:defRPr/>
            </a:pPr>
            <a:r>
              <a:rPr lang="fr-CA" altLang="fr-FR" sz="1600" i="1" dirty="0"/>
              <a:t>Artères intercostales postérieures</a:t>
            </a:r>
            <a:r>
              <a:rPr lang="fr-CA" altLang="fr-FR" sz="1600" b="0" dirty="0"/>
              <a:t> – au nombre de 11 paires, dont la majorité sont issues de l’aorte thoracique; irriguent les espaces intercostaux postérieurs, les muscles du dos, vertèbres, moelle épinière.</a:t>
            </a:r>
            <a:endParaRPr lang="fr-CA" altLang="fr-FR" sz="1600" i="1" dirty="0"/>
          </a:p>
          <a:p>
            <a:pPr marL="0" lvl="1" indent="0">
              <a:defRPr/>
            </a:pPr>
            <a:endParaRPr lang="fr-CA" altLang="fr-FR" sz="1600" dirty="0"/>
          </a:p>
          <a:p>
            <a:pPr marL="0" lvl="1" indent="0">
              <a:defRPr/>
            </a:pPr>
            <a:endParaRPr lang="en-US" altLang="fr-FR" sz="1600" b="0" dirty="0"/>
          </a:p>
          <a:p>
            <a:pPr>
              <a:defRPr/>
            </a:pPr>
            <a:endParaRPr lang="en-US" altLang="fr-FR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TextBox 4"/>
          <p:cNvSpPr txBox="1">
            <a:spLocks noChangeArrowheads="1"/>
          </p:cNvSpPr>
          <p:nvPr/>
        </p:nvSpPr>
        <p:spPr bwMode="auto">
          <a:xfrm>
            <a:off x="11906" y="0"/>
            <a:ext cx="5419725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360363" indent="-360363">
              <a:defRPr/>
            </a:pPr>
            <a:r>
              <a:rPr lang="fr-CA" altLang="fr-FR" sz="2000" dirty="0"/>
              <a:t>d)	</a:t>
            </a:r>
            <a:r>
              <a:rPr lang="fr-CA" altLang="fr-FR" sz="2000" u="sng" dirty="0"/>
              <a:t>Artères de l'abdomen</a:t>
            </a:r>
            <a:endParaRPr lang="fr-CA" altLang="fr-FR" sz="2000" b="0" dirty="0"/>
          </a:p>
          <a:p>
            <a:pPr marL="558800" indent="-198438">
              <a:spcBef>
                <a:spcPts val="600"/>
              </a:spcBef>
              <a:buFont typeface="Wingdings" panose="05000000000000000000" pitchFamily="2" charset="2"/>
              <a:buChar char="ü"/>
              <a:tabLst>
                <a:tab pos="534988" algn="l"/>
              </a:tabLst>
              <a:defRPr/>
            </a:pPr>
            <a:r>
              <a:rPr lang="fr-CA" altLang="fr-FR" sz="1300" b="0" dirty="0"/>
              <a:t>Les artères de l’abdomen naissent de l’aorte abdominale.</a:t>
            </a:r>
          </a:p>
          <a:p>
            <a:pPr marL="558800" indent="-198438">
              <a:spcBef>
                <a:spcPts val="300"/>
              </a:spcBef>
              <a:buFont typeface="Wingdings" panose="05000000000000000000" pitchFamily="2" charset="2"/>
              <a:buChar char="ü"/>
              <a:tabLst>
                <a:tab pos="534988" algn="l"/>
              </a:tabLst>
              <a:defRPr/>
            </a:pPr>
            <a:r>
              <a:rPr lang="fr-CA" altLang="fr-FR" sz="1300" b="0" dirty="0"/>
              <a:t>À l’exception du tronc cœliaque et des artères mésentériques supérieure et inférieure, toutes les artères de l’abdomen sont appariées (sont retrouvées en paires).</a:t>
            </a:r>
            <a:endParaRPr lang="en-CA" altLang="fr-FR" sz="1300" b="0" dirty="0"/>
          </a:p>
        </p:txBody>
      </p:sp>
      <p:sp>
        <p:nvSpPr>
          <p:cNvPr id="14342" name="TextBox 6"/>
          <p:cNvSpPr txBox="1">
            <a:spLocks noChangeArrowheads="1"/>
          </p:cNvSpPr>
          <p:nvPr/>
        </p:nvSpPr>
        <p:spPr bwMode="auto">
          <a:xfrm>
            <a:off x="297656" y="1346200"/>
            <a:ext cx="5334000" cy="544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/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200150" indent="-28575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87313" lvl="1" indent="0">
              <a:defRPr/>
            </a:pPr>
            <a:r>
              <a:rPr lang="fr-CA" altLang="fr-FR" sz="1400" dirty="0"/>
              <a:t>Principales artères qui émergent de l’aorte abdominale :</a:t>
            </a:r>
            <a:endParaRPr lang="fr-CA" altLang="fr-FR" sz="1400" i="1" dirty="0"/>
          </a:p>
          <a:p>
            <a:pPr marL="273050" lvl="1" indent="-185738">
              <a:spcBef>
                <a:spcPts val="300"/>
              </a:spcBef>
              <a:buSzPct val="120000"/>
              <a:buFont typeface="Arial" charset="0"/>
              <a:buChar char="•"/>
              <a:defRPr/>
            </a:pPr>
            <a:r>
              <a:rPr lang="fr-CA" altLang="fr-FR" sz="1400" i="1" dirty="0"/>
              <a:t>Tronc cœliaque </a:t>
            </a:r>
            <a:r>
              <a:rPr lang="fr-CA" altLang="fr-FR" sz="1300" dirty="0"/>
              <a:t>–</a:t>
            </a:r>
            <a:r>
              <a:rPr lang="fr-CA" altLang="fr-FR" sz="1400" i="1" dirty="0"/>
              <a:t> </a:t>
            </a:r>
            <a:r>
              <a:rPr lang="fr-CA" altLang="fr-FR" sz="1300" b="0" dirty="0"/>
              <a:t>grosse branche de l’aorte abdominale qui se divise en trois branches :</a:t>
            </a:r>
          </a:p>
          <a:p>
            <a:pPr marL="447675" lvl="2" indent="-185738">
              <a:buSzPct val="85000"/>
              <a:buFont typeface="Wingdings" panose="05000000000000000000" pitchFamily="2" charset="2"/>
              <a:buChar char="§"/>
              <a:defRPr/>
            </a:pPr>
            <a:r>
              <a:rPr lang="fr-CA" altLang="fr-FR" sz="1400" i="1" dirty="0"/>
              <a:t>Artère hépatique commune</a:t>
            </a:r>
            <a:r>
              <a:rPr lang="fr-CA" altLang="fr-FR" sz="1400" dirty="0"/>
              <a:t> </a:t>
            </a:r>
            <a:r>
              <a:rPr lang="fr-CA" altLang="fr-FR" sz="1300" dirty="0"/>
              <a:t>– </a:t>
            </a:r>
            <a:r>
              <a:rPr lang="fr-CA" altLang="fr-FR" sz="1300" b="0" dirty="0"/>
              <a:t>se termine en artère hépatique propre allant irriguer le foie.</a:t>
            </a:r>
          </a:p>
          <a:p>
            <a:pPr marL="447675" lvl="2" indent="-185738">
              <a:buSzPct val="85000"/>
              <a:buFont typeface="Wingdings" panose="05000000000000000000" pitchFamily="2" charset="2"/>
              <a:buChar char="§"/>
              <a:defRPr/>
            </a:pPr>
            <a:r>
              <a:rPr lang="fr-CA" altLang="fr-FR" sz="1400" i="1" dirty="0"/>
              <a:t>Artère splénique</a:t>
            </a:r>
            <a:r>
              <a:rPr lang="fr-CA" altLang="fr-FR" sz="1400" dirty="0"/>
              <a:t> </a:t>
            </a:r>
            <a:r>
              <a:rPr lang="fr-CA" altLang="fr-FR" sz="1300" dirty="0"/>
              <a:t>– </a:t>
            </a:r>
            <a:r>
              <a:rPr lang="fr-CA" altLang="fr-FR" sz="1300" b="0" dirty="0"/>
              <a:t>se termine dans la rate.</a:t>
            </a:r>
          </a:p>
          <a:p>
            <a:pPr marL="447675" lvl="2" indent="-185738">
              <a:buSzPct val="85000"/>
              <a:buFont typeface="Wingdings" panose="05000000000000000000" pitchFamily="2" charset="2"/>
              <a:buChar char="§"/>
              <a:defRPr/>
            </a:pPr>
            <a:r>
              <a:rPr lang="fr-CA" altLang="fr-FR" sz="1400" i="1" dirty="0"/>
              <a:t>Artère gastrique gauche</a:t>
            </a:r>
            <a:r>
              <a:rPr lang="fr-CA" altLang="fr-FR" sz="1400" dirty="0"/>
              <a:t> </a:t>
            </a:r>
            <a:r>
              <a:rPr lang="fr-CA" altLang="fr-FR" sz="1300" dirty="0"/>
              <a:t>– </a:t>
            </a:r>
            <a:r>
              <a:rPr lang="fr-CA" altLang="fr-FR" sz="1300" b="0" dirty="0"/>
              <a:t>dessert entre autres une partie de l'estomac.</a:t>
            </a:r>
            <a:endParaRPr lang="en-CA" altLang="fr-FR" sz="1300" b="0" dirty="0"/>
          </a:p>
          <a:p>
            <a:pPr marL="273050" lvl="1" indent="-185738">
              <a:spcBef>
                <a:spcPts val="300"/>
              </a:spcBef>
              <a:buSzPct val="120000"/>
              <a:buFont typeface="Arial" charset="0"/>
              <a:buChar char="•"/>
              <a:defRPr/>
            </a:pPr>
            <a:r>
              <a:rPr lang="fr-CA" altLang="fr-FR" sz="1400" i="1" dirty="0"/>
              <a:t>Artère mésentérique supérieure</a:t>
            </a:r>
            <a:r>
              <a:rPr lang="fr-CA" altLang="fr-FR" sz="1400" dirty="0"/>
              <a:t> </a:t>
            </a:r>
            <a:r>
              <a:rPr lang="fr-CA" altLang="fr-FR" sz="1300" dirty="0"/>
              <a:t>– </a:t>
            </a:r>
            <a:r>
              <a:rPr lang="fr-CA" altLang="fr-FR" sz="1300" b="0" dirty="0"/>
              <a:t>naît au-dessous du tronc cœliaque; irrigue l’intestin grêle (duodénum, jéjunum, iléum) et une partie du gros intestin.</a:t>
            </a:r>
          </a:p>
          <a:p>
            <a:pPr marL="447675" lvl="2" indent="-174625">
              <a:spcBef>
                <a:spcPts val="3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fr-CA" altLang="fr-FR" b="0" dirty="0"/>
              <a:t>Les artères mésentériques supérieure et inférieure émettent des branches qui se rejoignent (s’anastomosent), ce qui assure une irrigation du système digestif en cas d’occlusion d’une artère.</a:t>
            </a:r>
          </a:p>
          <a:p>
            <a:pPr marL="273050" lvl="1" indent="-185738">
              <a:spcBef>
                <a:spcPts val="300"/>
              </a:spcBef>
              <a:buSzPct val="120000"/>
              <a:buFont typeface="Arial" charset="0"/>
              <a:buChar char="•"/>
              <a:defRPr/>
            </a:pPr>
            <a:r>
              <a:rPr lang="fr-CA" altLang="fr-FR" sz="1400" i="1" dirty="0"/>
              <a:t>Artères surrénales moyennes </a:t>
            </a:r>
            <a:r>
              <a:rPr lang="fr-CA" altLang="fr-FR" sz="1300" dirty="0"/>
              <a:t>– </a:t>
            </a:r>
            <a:r>
              <a:rPr lang="fr-CA" altLang="fr-FR" sz="1300" b="0" dirty="0"/>
              <a:t>irriguent une partie des glandes surrénales.</a:t>
            </a:r>
            <a:endParaRPr lang="en-CA" altLang="fr-FR" sz="1300" b="0" dirty="0"/>
          </a:p>
          <a:p>
            <a:pPr marL="273050" lvl="1" indent="-185738">
              <a:spcBef>
                <a:spcPts val="300"/>
              </a:spcBef>
              <a:buSzPct val="120000"/>
              <a:buFont typeface="Arial" charset="0"/>
              <a:buChar char="•"/>
              <a:defRPr/>
            </a:pPr>
            <a:r>
              <a:rPr lang="fr-CA" altLang="fr-FR" sz="1400" i="1" dirty="0"/>
              <a:t>Artères rénales</a:t>
            </a:r>
            <a:r>
              <a:rPr lang="fr-CA" altLang="fr-FR" sz="1400" dirty="0"/>
              <a:t> </a:t>
            </a:r>
            <a:r>
              <a:rPr lang="fr-CA" altLang="fr-FR" sz="1300" dirty="0"/>
              <a:t>– </a:t>
            </a:r>
            <a:r>
              <a:rPr lang="fr-CA" altLang="fr-FR" sz="1300" b="0" dirty="0"/>
              <a:t>émergent en-dessous de l’artère mésentérique supérieure; desservent les reins.</a:t>
            </a:r>
            <a:endParaRPr lang="en-CA" altLang="fr-FR" sz="1300" b="0" dirty="0"/>
          </a:p>
          <a:p>
            <a:pPr marL="273050" lvl="1" indent="-185738">
              <a:spcBef>
                <a:spcPts val="300"/>
              </a:spcBef>
              <a:buSzPct val="120000"/>
              <a:buFont typeface="Arial" charset="0"/>
              <a:buChar char="•"/>
              <a:defRPr/>
            </a:pPr>
            <a:r>
              <a:rPr lang="fr-CA" altLang="fr-FR" sz="1400" i="1" dirty="0"/>
              <a:t>Artères ovariques</a:t>
            </a:r>
            <a:r>
              <a:rPr lang="fr-CA" altLang="fr-FR" sz="1400" dirty="0"/>
              <a:t> ou </a:t>
            </a:r>
            <a:r>
              <a:rPr lang="fr-CA" altLang="fr-FR" sz="1400" i="1" dirty="0"/>
              <a:t>testiculaires </a:t>
            </a:r>
            <a:r>
              <a:rPr lang="fr-CA" altLang="fr-FR" sz="1300" dirty="0"/>
              <a:t>–</a:t>
            </a:r>
            <a:r>
              <a:rPr lang="fr-CA" altLang="fr-FR" sz="1300" b="0" dirty="0"/>
              <a:t> se situent légèrement sous les artères rénales et irriguent les gonades.</a:t>
            </a:r>
            <a:endParaRPr lang="en-CA" altLang="fr-FR" sz="1300" b="0" dirty="0"/>
          </a:p>
          <a:p>
            <a:pPr marL="273050" lvl="1" indent="-185738">
              <a:spcBef>
                <a:spcPts val="300"/>
              </a:spcBef>
              <a:buSzPct val="120000"/>
              <a:buFont typeface="Arial" charset="0"/>
              <a:buChar char="•"/>
              <a:defRPr/>
            </a:pPr>
            <a:r>
              <a:rPr lang="fr-CA" altLang="fr-FR" sz="1400" i="1" dirty="0"/>
              <a:t>Artère mésentérique inférieure</a:t>
            </a:r>
            <a:r>
              <a:rPr lang="fr-CA" altLang="fr-FR" sz="1400" dirty="0"/>
              <a:t> </a:t>
            </a:r>
            <a:r>
              <a:rPr lang="fr-CA" altLang="fr-FR" sz="1300" dirty="0"/>
              <a:t>– </a:t>
            </a:r>
            <a:r>
              <a:rPr lang="fr-CA" altLang="fr-FR" sz="1300" b="0" dirty="0"/>
              <a:t>dessert la partie distale du gros intestin (du côlon transverse au rectum).</a:t>
            </a:r>
            <a:r>
              <a:rPr lang="fr-CA" altLang="fr-FR" sz="1400" b="0" dirty="0"/>
              <a:t> </a:t>
            </a:r>
          </a:p>
          <a:p>
            <a:pPr marL="273050" lvl="1" indent="-185738">
              <a:spcBef>
                <a:spcPts val="300"/>
              </a:spcBef>
              <a:buSzPct val="120000"/>
              <a:buFont typeface="Arial" charset="0"/>
              <a:buChar char="•"/>
              <a:defRPr/>
            </a:pPr>
            <a:r>
              <a:rPr lang="fr-CA" altLang="fr-FR" sz="1400" i="1" dirty="0"/>
              <a:t>Artères iliaques communes</a:t>
            </a:r>
            <a:r>
              <a:rPr lang="fr-CA" altLang="fr-FR" sz="1400" dirty="0"/>
              <a:t> </a:t>
            </a:r>
            <a:r>
              <a:rPr lang="fr-CA" altLang="fr-FR" sz="1300" dirty="0"/>
              <a:t>– </a:t>
            </a:r>
            <a:r>
              <a:rPr lang="fr-CA" altLang="fr-FR" sz="1300" b="0" dirty="0"/>
              <a:t>divisions de l’aorte abdominale à son extrémité inférieure.</a:t>
            </a:r>
            <a:endParaRPr lang="en-CA" altLang="fr-FR" sz="1300" b="0" dirty="0"/>
          </a:p>
        </p:txBody>
      </p:sp>
      <p:pic>
        <p:nvPicPr>
          <p:cNvPr id="13316" name="Picture 2" descr="figure_19_24a_unlabel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72"/>
          <a:stretch>
            <a:fillRect/>
          </a:stretch>
        </p:blipFill>
        <p:spPr bwMode="auto">
          <a:xfrm>
            <a:off x="5886450" y="0"/>
            <a:ext cx="3127375" cy="644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Rectangle 4"/>
          <p:cNvSpPr>
            <a:spLocks noChangeArrowheads="1"/>
          </p:cNvSpPr>
          <p:nvPr/>
        </p:nvSpPr>
        <p:spPr bwMode="auto">
          <a:xfrm>
            <a:off x="6038850" y="238125"/>
            <a:ext cx="777875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800" i="1"/>
              <a:t>Diaphragme</a:t>
            </a:r>
          </a:p>
        </p:txBody>
      </p:sp>
      <p:sp>
        <p:nvSpPr>
          <p:cNvPr id="13318" name="Rectangle 5"/>
          <p:cNvSpPr>
            <a:spLocks noChangeArrowheads="1"/>
          </p:cNvSpPr>
          <p:nvPr/>
        </p:nvSpPr>
        <p:spPr bwMode="auto">
          <a:xfrm>
            <a:off x="5562600" y="465138"/>
            <a:ext cx="1068388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rIns="36000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900">
                <a:solidFill>
                  <a:srgbClr val="FF0000"/>
                </a:solidFill>
              </a:rPr>
              <a:t>Aorte abdominale</a:t>
            </a:r>
          </a:p>
        </p:txBody>
      </p:sp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5638800" y="666750"/>
            <a:ext cx="941388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fr-CA" altLang="fr-FR" sz="800"/>
              <a:t>A. phréniques inférieures</a:t>
            </a:r>
          </a:p>
        </p:txBody>
      </p:sp>
      <p:sp>
        <p:nvSpPr>
          <p:cNvPr id="13320" name="Rectangle 7"/>
          <p:cNvSpPr>
            <a:spLocks noChangeArrowheads="1"/>
          </p:cNvSpPr>
          <p:nvPr/>
        </p:nvSpPr>
        <p:spPr bwMode="auto">
          <a:xfrm>
            <a:off x="5908675" y="1381125"/>
            <a:ext cx="6445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800" dirty="0">
                <a:solidFill>
                  <a:srgbClr val="FF0000"/>
                </a:solidFill>
              </a:rPr>
              <a:t>Tronc cœliaque </a:t>
            </a:r>
          </a:p>
        </p:txBody>
      </p:sp>
      <p:sp>
        <p:nvSpPr>
          <p:cNvPr id="13321" name="Rectangle 8"/>
          <p:cNvSpPr>
            <a:spLocks noChangeArrowheads="1"/>
          </p:cNvSpPr>
          <p:nvPr/>
        </p:nvSpPr>
        <p:spPr bwMode="auto">
          <a:xfrm>
            <a:off x="5791200" y="2676525"/>
            <a:ext cx="9159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800">
                <a:solidFill>
                  <a:srgbClr val="FF0000"/>
                </a:solidFill>
              </a:rPr>
              <a:t>A. surrénales moyennes</a:t>
            </a:r>
          </a:p>
        </p:txBody>
      </p:sp>
      <p:sp>
        <p:nvSpPr>
          <p:cNvPr id="13322" name="Rectangle 9"/>
          <p:cNvSpPr>
            <a:spLocks noChangeArrowheads="1"/>
          </p:cNvSpPr>
          <p:nvPr/>
        </p:nvSpPr>
        <p:spPr bwMode="auto">
          <a:xfrm>
            <a:off x="5702300" y="3252788"/>
            <a:ext cx="10033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800">
                <a:solidFill>
                  <a:srgbClr val="FF0000"/>
                </a:solidFill>
              </a:rPr>
              <a:t>A. mésentérique supérieure</a:t>
            </a:r>
          </a:p>
        </p:txBody>
      </p:sp>
      <p:sp>
        <p:nvSpPr>
          <p:cNvPr id="13323" name="Rectangle 10"/>
          <p:cNvSpPr>
            <a:spLocks noChangeArrowheads="1"/>
          </p:cNvSpPr>
          <p:nvPr/>
        </p:nvSpPr>
        <p:spPr bwMode="auto">
          <a:xfrm>
            <a:off x="5783263" y="4067175"/>
            <a:ext cx="6778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800">
                <a:solidFill>
                  <a:srgbClr val="FF0000"/>
                </a:solidFill>
              </a:rPr>
              <a:t>A. rénales</a:t>
            </a:r>
          </a:p>
        </p:txBody>
      </p:sp>
      <p:sp>
        <p:nvSpPr>
          <p:cNvPr id="13324" name="Rectangle 11"/>
          <p:cNvSpPr>
            <a:spLocks noChangeArrowheads="1"/>
          </p:cNvSpPr>
          <p:nvPr/>
        </p:nvSpPr>
        <p:spPr bwMode="auto">
          <a:xfrm>
            <a:off x="5573713" y="4700588"/>
            <a:ext cx="97948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800">
                <a:solidFill>
                  <a:srgbClr val="FF0000"/>
                </a:solidFill>
              </a:rPr>
              <a:t>A. mésentérique inférieure</a:t>
            </a:r>
          </a:p>
        </p:txBody>
      </p:sp>
      <p:sp>
        <p:nvSpPr>
          <p:cNvPr id="13325" name="Rectangle 12"/>
          <p:cNvSpPr>
            <a:spLocks noChangeArrowheads="1"/>
          </p:cNvSpPr>
          <p:nvPr/>
        </p:nvSpPr>
        <p:spPr bwMode="auto">
          <a:xfrm>
            <a:off x="5673725" y="4276725"/>
            <a:ext cx="9556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800">
                <a:solidFill>
                  <a:srgbClr val="FF0000"/>
                </a:solidFill>
              </a:rPr>
              <a:t>A. ovariques</a:t>
            </a:r>
          </a:p>
          <a:p>
            <a:pPr algn="ctr"/>
            <a:r>
              <a:rPr lang="fr-CA" altLang="fr-FR" sz="800">
                <a:solidFill>
                  <a:srgbClr val="FF0000"/>
                </a:solidFill>
              </a:rPr>
              <a:t>ou testiculaires</a:t>
            </a:r>
          </a:p>
        </p:txBody>
      </p:sp>
      <p:sp>
        <p:nvSpPr>
          <p:cNvPr id="13326" name="Rectangle 13"/>
          <p:cNvSpPr>
            <a:spLocks noChangeArrowheads="1"/>
          </p:cNvSpPr>
          <p:nvPr/>
        </p:nvSpPr>
        <p:spPr bwMode="auto">
          <a:xfrm>
            <a:off x="5829300" y="5607050"/>
            <a:ext cx="80486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800"/>
              <a:t>A. lombaires</a:t>
            </a:r>
          </a:p>
        </p:txBody>
      </p:sp>
      <p:sp>
        <p:nvSpPr>
          <p:cNvPr id="13327" name="Rectangle 15"/>
          <p:cNvSpPr>
            <a:spLocks noChangeArrowheads="1"/>
          </p:cNvSpPr>
          <p:nvPr/>
        </p:nvSpPr>
        <p:spPr bwMode="auto">
          <a:xfrm>
            <a:off x="7396163" y="495300"/>
            <a:ext cx="98425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rIns="36000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700">
                <a:solidFill>
                  <a:srgbClr val="FF0000"/>
                </a:solidFill>
              </a:rPr>
              <a:t>A. gastrique gauche</a:t>
            </a:r>
          </a:p>
        </p:txBody>
      </p:sp>
      <p:sp>
        <p:nvSpPr>
          <p:cNvPr id="13328" name="Rectangle 16"/>
          <p:cNvSpPr>
            <a:spLocks noChangeArrowheads="1"/>
          </p:cNvSpPr>
          <p:nvPr/>
        </p:nvSpPr>
        <p:spPr bwMode="auto">
          <a:xfrm>
            <a:off x="7283450" y="1219200"/>
            <a:ext cx="6985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8000"/>
              </a:lnSpc>
            </a:pPr>
            <a:r>
              <a:rPr lang="fr-CA" altLang="fr-FR" sz="600">
                <a:solidFill>
                  <a:srgbClr val="FF0000"/>
                </a:solidFill>
              </a:rPr>
              <a:t>A. hépatique commune</a:t>
            </a:r>
          </a:p>
        </p:txBody>
      </p:sp>
      <p:sp>
        <p:nvSpPr>
          <p:cNvPr id="13329" name="Rectangle 17"/>
          <p:cNvSpPr>
            <a:spLocks noChangeArrowheads="1"/>
          </p:cNvSpPr>
          <p:nvPr/>
        </p:nvSpPr>
        <p:spPr bwMode="auto">
          <a:xfrm>
            <a:off x="7315200" y="1728788"/>
            <a:ext cx="6365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>
                <a:solidFill>
                  <a:srgbClr val="FF0000"/>
                </a:solidFill>
              </a:rPr>
              <a:t>A. splénique</a:t>
            </a:r>
          </a:p>
        </p:txBody>
      </p:sp>
      <p:sp>
        <p:nvSpPr>
          <p:cNvPr id="13330" name="Rectangle 19"/>
          <p:cNvSpPr>
            <a:spLocks noChangeArrowheads="1"/>
          </p:cNvSpPr>
          <p:nvPr/>
        </p:nvSpPr>
        <p:spPr bwMode="auto">
          <a:xfrm>
            <a:off x="7845425" y="2779713"/>
            <a:ext cx="704850" cy="18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600"/>
              <a:t>A. intestinales</a:t>
            </a:r>
          </a:p>
        </p:txBody>
      </p:sp>
      <p:sp>
        <p:nvSpPr>
          <p:cNvPr id="13331" name="Rectangle 20"/>
          <p:cNvSpPr>
            <a:spLocks noChangeArrowheads="1"/>
          </p:cNvSpPr>
          <p:nvPr/>
        </p:nvSpPr>
        <p:spPr bwMode="auto">
          <a:xfrm>
            <a:off x="7086600" y="2981325"/>
            <a:ext cx="5476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600"/>
              <a:t>A. colique moyenne</a:t>
            </a:r>
          </a:p>
        </p:txBody>
      </p:sp>
      <p:sp>
        <p:nvSpPr>
          <p:cNvPr id="13332" name="Rectangle 21"/>
          <p:cNvSpPr>
            <a:spLocks noChangeArrowheads="1"/>
          </p:cNvSpPr>
          <p:nvPr/>
        </p:nvSpPr>
        <p:spPr bwMode="auto">
          <a:xfrm>
            <a:off x="7812088" y="3602038"/>
            <a:ext cx="7048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600"/>
              <a:t>A. colique droite</a:t>
            </a:r>
          </a:p>
        </p:txBody>
      </p:sp>
      <p:sp>
        <p:nvSpPr>
          <p:cNvPr id="13333" name="Rectangle 23"/>
          <p:cNvSpPr>
            <a:spLocks noChangeArrowheads="1"/>
          </p:cNvSpPr>
          <p:nvPr/>
        </p:nvSpPr>
        <p:spPr bwMode="auto">
          <a:xfrm>
            <a:off x="8018463" y="4445000"/>
            <a:ext cx="7270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600"/>
              <a:t>A. sigmoïdales</a:t>
            </a:r>
          </a:p>
        </p:txBody>
      </p:sp>
      <p:sp>
        <p:nvSpPr>
          <p:cNvPr id="13334" name="Rectangle 24"/>
          <p:cNvSpPr>
            <a:spLocks noChangeArrowheads="1"/>
          </p:cNvSpPr>
          <p:nvPr/>
        </p:nvSpPr>
        <p:spPr bwMode="auto">
          <a:xfrm>
            <a:off x="7131050" y="5219700"/>
            <a:ext cx="6302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600"/>
              <a:t>A. colique gauche</a:t>
            </a:r>
          </a:p>
        </p:txBody>
      </p:sp>
      <p:sp>
        <p:nvSpPr>
          <p:cNvPr id="13335" name="Rectangle 25"/>
          <p:cNvSpPr>
            <a:spLocks noChangeArrowheads="1"/>
          </p:cNvSpPr>
          <p:nvPr/>
        </p:nvSpPr>
        <p:spPr bwMode="auto">
          <a:xfrm>
            <a:off x="7804150" y="5495925"/>
            <a:ext cx="8826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600"/>
              <a:t>A. rectales supérieures</a:t>
            </a:r>
          </a:p>
        </p:txBody>
      </p:sp>
      <p:sp>
        <p:nvSpPr>
          <p:cNvPr id="13336" name="Rectangle 26"/>
          <p:cNvSpPr>
            <a:spLocks noChangeArrowheads="1"/>
          </p:cNvSpPr>
          <p:nvPr/>
        </p:nvSpPr>
        <p:spPr bwMode="auto">
          <a:xfrm>
            <a:off x="7453313" y="5843588"/>
            <a:ext cx="1122362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800"/>
              <a:t>A. sacrale médiane</a:t>
            </a:r>
          </a:p>
        </p:txBody>
      </p:sp>
      <p:sp>
        <p:nvSpPr>
          <p:cNvPr id="13337" name="Rectangle 27"/>
          <p:cNvSpPr>
            <a:spLocks noChangeArrowheads="1"/>
          </p:cNvSpPr>
          <p:nvPr/>
        </p:nvSpPr>
        <p:spPr bwMode="auto">
          <a:xfrm>
            <a:off x="7439025" y="5999163"/>
            <a:ext cx="1271588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800">
                <a:solidFill>
                  <a:srgbClr val="FF0000"/>
                </a:solidFill>
              </a:rPr>
              <a:t>A. iliaques communes</a:t>
            </a:r>
          </a:p>
        </p:txBody>
      </p:sp>
      <p:sp>
        <p:nvSpPr>
          <p:cNvPr id="13338" name="Rectangle 28"/>
          <p:cNvSpPr>
            <a:spLocks noChangeArrowheads="1"/>
          </p:cNvSpPr>
          <p:nvPr/>
        </p:nvSpPr>
        <p:spPr bwMode="auto">
          <a:xfrm>
            <a:off x="8018463" y="771525"/>
            <a:ext cx="862012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600"/>
              <a:t>A. gastrique droite</a:t>
            </a:r>
          </a:p>
        </p:txBody>
      </p:sp>
      <p:sp>
        <p:nvSpPr>
          <p:cNvPr id="13339" name="Rectangle 29"/>
          <p:cNvSpPr>
            <a:spLocks noChangeArrowheads="1"/>
          </p:cNvSpPr>
          <p:nvPr/>
        </p:nvSpPr>
        <p:spPr bwMode="auto">
          <a:xfrm>
            <a:off x="7888288" y="1214438"/>
            <a:ext cx="82232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600"/>
              <a:t>A. hépatique propre</a:t>
            </a:r>
          </a:p>
        </p:txBody>
      </p:sp>
      <p:sp>
        <p:nvSpPr>
          <p:cNvPr id="13340" name="Line 32"/>
          <p:cNvSpPr>
            <a:spLocks noChangeShapeType="1"/>
          </p:cNvSpPr>
          <p:nvPr/>
        </p:nvSpPr>
        <p:spPr bwMode="auto">
          <a:xfrm>
            <a:off x="6624638" y="595313"/>
            <a:ext cx="25400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3341" name="Line 33"/>
          <p:cNvSpPr>
            <a:spLocks noChangeShapeType="1"/>
          </p:cNvSpPr>
          <p:nvPr/>
        </p:nvSpPr>
        <p:spPr bwMode="auto">
          <a:xfrm>
            <a:off x="6453188" y="869950"/>
            <a:ext cx="6572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3342" name="Line 34"/>
          <p:cNvSpPr>
            <a:spLocks noChangeShapeType="1"/>
          </p:cNvSpPr>
          <p:nvPr/>
        </p:nvSpPr>
        <p:spPr bwMode="auto">
          <a:xfrm flipV="1">
            <a:off x="6529388" y="825500"/>
            <a:ext cx="82550" cy="41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3343" name="Line 35"/>
          <p:cNvSpPr>
            <a:spLocks noChangeShapeType="1"/>
          </p:cNvSpPr>
          <p:nvPr/>
        </p:nvSpPr>
        <p:spPr bwMode="auto">
          <a:xfrm flipV="1">
            <a:off x="6408738" y="1533525"/>
            <a:ext cx="701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3344" name="Freeform 36"/>
          <p:cNvSpPr>
            <a:spLocks/>
          </p:cNvSpPr>
          <p:nvPr/>
        </p:nvSpPr>
        <p:spPr bwMode="auto">
          <a:xfrm>
            <a:off x="7300913" y="600075"/>
            <a:ext cx="95250" cy="358775"/>
          </a:xfrm>
          <a:custGeom>
            <a:avLst/>
            <a:gdLst>
              <a:gd name="T0" fmla="*/ 2147483647 w 60"/>
              <a:gd name="T1" fmla="*/ 2147483647 h 226"/>
              <a:gd name="T2" fmla="*/ 0 w 60"/>
              <a:gd name="T3" fmla="*/ 0 h 226"/>
              <a:gd name="T4" fmla="*/ 2147483647 w 60"/>
              <a:gd name="T5" fmla="*/ 0 h 226"/>
              <a:gd name="T6" fmla="*/ 0 60000 65536"/>
              <a:gd name="T7" fmla="*/ 0 60000 65536"/>
              <a:gd name="T8" fmla="*/ 0 60000 65536"/>
              <a:gd name="T9" fmla="*/ 0 w 60"/>
              <a:gd name="T10" fmla="*/ 0 h 226"/>
              <a:gd name="T11" fmla="*/ 60 w 60"/>
              <a:gd name="T12" fmla="*/ 226 h 2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0" h="226">
                <a:moveTo>
                  <a:pt x="2" y="226"/>
                </a:moveTo>
                <a:lnTo>
                  <a:pt x="0" y="0"/>
                </a:lnTo>
                <a:lnTo>
                  <a:pt x="60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3345" name="Line 37"/>
          <p:cNvSpPr>
            <a:spLocks noChangeShapeType="1"/>
          </p:cNvSpPr>
          <p:nvPr/>
        </p:nvSpPr>
        <p:spPr bwMode="auto">
          <a:xfrm flipV="1">
            <a:off x="7888288" y="857250"/>
            <a:ext cx="187325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3346" name="Line 38"/>
          <p:cNvSpPr>
            <a:spLocks noChangeShapeType="1"/>
          </p:cNvSpPr>
          <p:nvPr/>
        </p:nvSpPr>
        <p:spPr bwMode="auto">
          <a:xfrm>
            <a:off x="7535863" y="1447800"/>
            <a:ext cx="0" cy="98425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3347" name="Line 39"/>
          <p:cNvSpPr>
            <a:spLocks noChangeShapeType="1"/>
          </p:cNvSpPr>
          <p:nvPr/>
        </p:nvSpPr>
        <p:spPr bwMode="auto">
          <a:xfrm>
            <a:off x="8259763" y="1457325"/>
            <a:ext cx="0" cy="120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3348" name="Line 40"/>
          <p:cNvSpPr>
            <a:spLocks noChangeShapeType="1"/>
          </p:cNvSpPr>
          <p:nvPr/>
        </p:nvSpPr>
        <p:spPr bwMode="auto">
          <a:xfrm flipH="1">
            <a:off x="7145338" y="1892300"/>
            <a:ext cx="231775" cy="384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3349" name="Line 41"/>
          <p:cNvSpPr>
            <a:spLocks noChangeShapeType="1"/>
          </p:cNvSpPr>
          <p:nvPr/>
        </p:nvSpPr>
        <p:spPr bwMode="auto">
          <a:xfrm>
            <a:off x="7215188" y="1889125"/>
            <a:ext cx="200025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3350" name="Freeform 46"/>
          <p:cNvSpPr>
            <a:spLocks/>
          </p:cNvSpPr>
          <p:nvPr/>
        </p:nvSpPr>
        <p:spPr bwMode="auto">
          <a:xfrm>
            <a:off x="6257925" y="3022600"/>
            <a:ext cx="839788" cy="152400"/>
          </a:xfrm>
          <a:custGeom>
            <a:avLst/>
            <a:gdLst>
              <a:gd name="T0" fmla="*/ 2147483647 w 529"/>
              <a:gd name="T1" fmla="*/ 0 h 96"/>
              <a:gd name="T2" fmla="*/ 0 w 529"/>
              <a:gd name="T3" fmla="*/ 2147483647 h 96"/>
              <a:gd name="T4" fmla="*/ 2147483647 w 529"/>
              <a:gd name="T5" fmla="*/ 2147483647 h 96"/>
              <a:gd name="T6" fmla="*/ 0 60000 65536"/>
              <a:gd name="T7" fmla="*/ 0 60000 65536"/>
              <a:gd name="T8" fmla="*/ 0 60000 65536"/>
              <a:gd name="T9" fmla="*/ 0 w 529"/>
              <a:gd name="T10" fmla="*/ 0 h 96"/>
              <a:gd name="T11" fmla="*/ 529 w 529"/>
              <a:gd name="T12" fmla="*/ 96 h 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29" h="96">
                <a:moveTo>
                  <a:pt x="1" y="0"/>
                </a:moveTo>
                <a:lnTo>
                  <a:pt x="0" y="26"/>
                </a:lnTo>
                <a:lnTo>
                  <a:pt x="529" y="96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3351" name="Line 47"/>
          <p:cNvSpPr>
            <a:spLocks noChangeShapeType="1"/>
          </p:cNvSpPr>
          <p:nvPr/>
        </p:nvSpPr>
        <p:spPr bwMode="auto">
          <a:xfrm>
            <a:off x="6256338" y="3063875"/>
            <a:ext cx="377825" cy="120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3352" name="Line 48"/>
          <p:cNvSpPr>
            <a:spLocks noChangeShapeType="1"/>
          </p:cNvSpPr>
          <p:nvPr/>
        </p:nvSpPr>
        <p:spPr bwMode="auto">
          <a:xfrm>
            <a:off x="6523038" y="3429000"/>
            <a:ext cx="5905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3353" name="Line 49"/>
          <p:cNvSpPr>
            <a:spLocks noChangeShapeType="1"/>
          </p:cNvSpPr>
          <p:nvPr/>
        </p:nvSpPr>
        <p:spPr bwMode="auto">
          <a:xfrm>
            <a:off x="7351713" y="3225800"/>
            <a:ext cx="0" cy="476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3354" name="Freeform 50"/>
          <p:cNvSpPr>
            <a:spLocks/>
          </p:cNvSpPr>
          <p:nvPr/>
        </p:nvSpPr>
        <p:spPr bwMode="auto">
          <a:xfrm>
            <a:off x="7805738" y="2997200"/>
            <a:ext cx="752475" cy="219075"/>
          </a:xfrm>
          <a:custGeom>
            <a:avLst/>
            <a:gdLst>
              <a:gd name="T0" fmla="*/ 0 w 474"/>
              <a:gd name="T1" fmla="*/ 2147483647 h 138"/>
              <a:gd name="T2" fmla="*/ 2147483647 w 474"/>
              <a:gd name="T3" fmla="*/ 0 h 138"/>
              <a:gd name="T4" fmla="*/ 2147483647 w 474"/>
              <a:gd name="T5" fmla="*/ 0 h 138"/>
              <a:gd name="T6" fmla="*/ 2147483647 w 474"/>
              <a:gd name="T7" fmla="*/ 2147483647 h 138"/>
              <a:gd name="T8" fmla="*/ 0 60000 65536"/>
              <a:gd name="T9" fmla="*/ 0 60000 65536"/>
              <a:gd name="T10" fmla="*/ 0 60000 65536"/>
              <a:gd name="T11" fmla="*/ 0 60000 65536"/>
              <a:gd name="T12" fmla="*/ 0 w 474"/>
              <a:gd name="T13" fmla="*/ 0 h 138"/>
              <a:gd name="T14" fmla="*/ 474 w 474"/>
              <a:gd name="T15" fmla="*/ 138 h 13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74" h="138">
                <a:moveTo>
                  <a:pt x="0" y="138"/>
                </a:moveTo>
                <a:lnTo>
                  <a:pt x="3" y="0"/>
                </a:lnTo>
                <a:lnTo>
                  <a:pt x="473" y="0"/>
                </a:lnTo>
                <a:lnTo>
                  <a:pt x="474" y="136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3355" name="Line 51"/>
          <p:cNvSpPr>
            <a:spLocks noChangeShapeType="1"/>
          </p:cNvSpPr>
          <p:nvPr/>
        </p:nvSpPr>
        <p:spPr bwMode="auto">
          <a:xfrm>
            <a:off x="8180388" y="2940050"/>
            <a:ext cx="0" cy="273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3356" name="Line 52"/>
          <p:cNvSpPr>
            <a:spLocks noChangeShapeType="1"/>
          </p:cNvSpPr>
          <p:nvPr/>
        </p:nvSpPr>
        <p:spPr bwMode="auto">
          <a:xfrm>
            <a:off x="7812088" y="3676650"/>
            <a:ext cx="603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3357" name="Line 53"/>
          <p:cNvSpPr>
            <a:spLocks noChangeShapeType="1"/>
          </p:cNvSpPr>
          <p:nvPr/>
        </p:nvSpPr>
        <p:spPr bwMode="auto">
          <a:xfrm>
            <a:off x="6380163" y="4181475"/>
            <a:ext cx="692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3358" name="Line 54"/>
          <p:cNvSpPr>
            <a:spLocks noChangeShapeType="1"/>
          </p:cNvSpPr>
          <p:nvPr/>
        </p:nvSpPr>
        <p:spPr bwMode="auto">
          <a:xfrm>
            <a:off x="6481763" y="4181475"/>
            <a:ext cx="92075" cy="41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3359" name="Line 55"/>
          <p:cNvSpPr>
            <a:spLocks noChangeShapeType="1"/>
          </p:cNvSpPr>
          <p:nvPr/>
        </p:nvSpPr>
        <p:spPr bwMode="auto">
          <a:xfrm>
            <a:off x="6494463" y="4435475"/>
            <a:ext cx="5937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3360" name="Line 56"/>
          <p:cNvSpPr>
            <a:spLocks noChangeShapeType="1"/>
          </p:cNvSpPr>
          <p:nvPr/>
        </p:nvSpPr>
        <p:spPr bwMode="auto">
          <a:xfrm>
            <a:off x="6535738" y="4435475"/>
            <a:ext cx="79375" cy="34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3361" name="Freeform 58"/>
          <p:cNvSpPr>
            <a:spLocks/>
          </p:cNvSpPr>
          <p:nvPr/>
        </p:nvSpPr>
        <p:spPr bwMode="auto">
          <a:xfrm>
            <a:off x="6443663" y="4883150"/>
            <a:ext cx="635000" cy="107950"/>
          </a:xfrm>
          <a:custGeom>
            <a:avLst/>
            <a:gdLst>
              <a:gd name="T0" fmla="*/ 0 w 400"/>
              <a:gd name="T1" fmla="*/ 0 h 68"/>
              <a:gd name="T2" fmla="*/ 2147483647 w 400"/>
              <a:gd name="T3" fmla="*/ 0 h 68"/>
              <a:gd name="T4" fmla="*/ 2147483647 w 400"/>
              <a:gd name="T5" fmla="*/ 2147483647 h 68"/>
              <a:gd name="T6" fmla="*/ 0 60000 65536"/>
              <a:gd name="T7" fmla="*/ 0 60000 65536"/>
              <a:gd name="T8" fmla="*/ 0 60000 65536"/>
              <a:gd name="T9" fmla="*/ 0 w 400"/>
              <a:gd name="T10" fmla="*/ 0 h 68"/>
              <a:gd name="T11" fmla="*/ 400 w 400"/>
              <a:gd name="T12" fmla="*/ 68 h 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0" h="68">
                <a:moveTo>
                  <a:pt x="0" y="0"/>
                </a:moveTo>
                <a:lnTo>
                  <a:pt x="92" y="0"/>
                </a:lnTo>
                <a:lnTo>
                  <a:pt x="400" y="68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3362" name="Line 59"/>
          <p:cNvSpPr>
            <a:spLocks noChangeShapeType="1"/>
          </p:cNvSpPr>
          <p:nvPr/>
        </p:nvSpPr>
        <p:spPr bwMode="auto">
          <a:xfrm>
            <a:off x="7761288" y="4600575"/>
            <a:ext cx="6191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3363" name="Line 60"/>
          <p:cNvSpPr>
            <a:spLocks noChangeShapeType="1"/>
          </p:cNvSpPr>
          <p:nvPr/>
        </p:nvSpPr>
        <p:spPr bwMode="auto">
          <a:xfrm>
            <a:off x="8008938" y="4600575"/>
            <a:ext cx="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3364" name="Line 61"/>
          <p:cNvSpPr>
            <a:spLocks noChangeShapeType="1"/>
          </p:cNvSpPr>
          <p:nvPr/>
        </p:nvSpPr>
        <p:spPr bwMode="auto">
          <a:xfrm>
            <a:off x="8285163" y="4597400"/>
            <a:ext cx="0" cy="279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3365" name="Line 62"/>
          <p:cNvSpPr>
            <a:spLocks noChangeShapeType="1"/>
          </p:cNvSpPr>
          <p:nvPr/>
        </p:nvSpPr>
        <p:spPr bwMode="auto">
          <a:xfrm>
            <a:off x="7358063" y="4756150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3366" name="Freeform 63"/>
          <p:cNvSpPr>
            <a:spLocks/>
          </p:cNvSpPr>
          <p:nvPr/>
        </p:nvSpPr>
        <p:spPr bwMode="auto">
          <a:xfrm>
            <a:off x="6281738" y="5280025"/>
            <a:ext cx="790575" cy="355600"/>
          </a:xfrm>
          <a:custGeom>
            <a:avLst/>
            <a:gdLst>
              <a:gd name="T0" fmla="*/ 2147483647 w 498"/>
              <a:gd name="T1" fmla="*/ 2147483647 h 224"/>
              <a:gd name="T2" fmla="*/ 0 w 498"/>
              <a:gd name="T3" fmla="*/ 0 h 224"/>
              <a:gd name="T4" fmla="*/ 2147483647 w 498"/>
              <a:gd name="T5" fmla="*/ 0 h 224"/>
              <a:gd name="T6" fmla="*/ 0 60000 65536"/>
              <a:gd name="T7" fmla="*/ 0 60000 65536"/>
              <a:gd name="T8" fmla="*/ 0 60000 65536"/>
              <a:gd name="T9" fmla="*/ 0 w 498"/>
              <a:gd name="T10" fmla="*/ 0 h 224"/>
              <a:gd name="T11" fmla="*/ 498 w 498"/>
              <a:gd name="T12" fmla="*/ 224 h 2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8" h="224">
                <a:moveTo>
                  <a:pt x="2" y="224"/>
                </a:moveTo>
                <a:lnTo>
                  <a:pt x="0" y="0"/>
                </a:lnTo>
                <a:lnTo>
                  <a:pt x="498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3367" name="Line 64"/>
          <p:cNvSpPr>
            <a:spLocks noChangeShapeType="1"/>
          </p:cNvSpPr>
          <p:nvPr/>
        </p:nvSpPr>
        <p:spPr bwMode="auto">
          <a:xfrm>
            <a:off x="6278563" y="5549900"/>
            <a:ext cx="7969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3368" name="Line 65"/>
          <p:cNvSpPr>
            <a:spLocks noChangeShapeType="1"/>
          </p:cNvSpPr>
          <p:nvPr/>
        </p:nvSpPr>
        <p:spPr bwMode="auto">
          <a:xfrm>
            <a:off x="6862763" y="5946775"/>
            <a:ext cx="6286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3369" name="Freeform 66"/>
          <p:cNvSpPr>
            <a:spLocks/>
          </p:cNvSpPr>
          <p:nvPr/>
        </p:nvSpPr>
        <p:spPr bwMode="auto">
          <a:xfrm>
            <a:off x="6453188" y="6102350"/>
            <a:ext cx="1041400" cy="1588"/>
          </a:xfrm>
          <a:custGeom>
            <a:avLst/>
            <a:gdLst>
              <a:gd name="T0" fmla="*/ 0 w 656"/>
              <a:gd name="T1" fmla="*/ 0 h 1"/>
              <a:gd name="T2" fmla="*/ 2147483647 w 656"/>
              <a:gd name="T3" fmla="*/ 0 h 1"/>
              <a:gd name="T4" fmla="*/ 0 60000 65536"/>
              <a:gd name="T5" fmla="*/ 0 60000 65536"/>
              <a:gd name="T6" fmla="*/ 0 w 656"/>
              <a:gd name="T7" fmla="*/ 0 h 1"/>
              <a:gd name="T8" fmla="*/ 656 w 65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56" h="1">
                <a:moveTo>
                  <a:pt x="0" y="0"/>
                </a:moveTo>
                <a:lnTo>
                  <a:pt x="656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3370" name="Line 67"/>
          <p:cNvSpPr>
            <a:spLocks noChangeShapeType="1"/>
          </p:cNvSpPr>
          <p:nvPr/>
        </p:nvSpPr>
        <p:spPr bwMode="auto">
          <a:xfrm>
            <a:off x="8304213" y="5597525"/>
            <a:ext cx="320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3371" name="Rectangle 68"/>
          <p:cNvSpPr>
            <a:spLocks noChangeArrowheads="1"/>
          </p:cNvSpPr>
          <p:nvPr/>
        </p:nvSpPr>
        <p:spPr bwMode="auto">
          <a:xfrm>
            <a:off x="8580438" y="1160463"/>
            <a:ext cx="466725" cy="18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600"/>
              <a:t>Gauche</a:t>
            </a:r>
          </a:p>
        </p:txBody>
      </p:sp>
      <p:sp>
        <p:nvSpPr>
          <p:cNvPr id="13372" name="Rectangle 69"/>
          <p:cNvSpPr>
            <a:spLocks noChangeArrowheads="1"/>
          </p:cNvSpPr>
          <p:nvPr/>
        </p:nvSpPr>
        <p:spPr bwMode="auto">
          <a:xfrm>
            <a:off x="8585200" y="1841500"/>
            <a:ext cx="407988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600"/>
              <a:t>Droite</a:t>
            </a:r>
          </a:p>
        </p:txBody>
      </p:sp>
      <p:sp>
        <p:nvSpPr>
          <p:cNvPr id="13373" name="Freeform 70"/>
          <p:cNvSpPr>
            <a:spLocks/>
          </p:cNvSpPr>
          <p:nvPr/>
        </p:nvSpPr>
        <p:spPr bwMode="auto">
          <a:xfrm>
            <a:off x="7261225" y="5999163"/>
            <a:ext cx="173038" cy="103187"/>
          </a:xfrm>
          <a:custGeom>
            <a:avLst/>
            <a:gdLst>
              <a:gd name="T0" fmla="*/ 2147483647 w 89"/>
              <a:gd name="T1" fmla="*/ 2147483647 h 21"/>
              <a:gd name="T2" fmla="*/ 0 w 89"/>
              <a:gd name="T3" fmla="*/ 0 h 21"/>
              <a:gd name="T4" fmla="*/ 0 60000 65536"/>
              <a:gd name="T5" fmla="*/ 0 60000 65536"/>
              <a:gd name="T6" fmla="*/ 0 w 89"/>
              <a:gd name="T7" fmla="*/ 0 h 21"/>
              <a:gd name="T8" fmla="*/ 89 w 89"/>
              <a:gd name="T9" fmla="*/ 21 h 2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9" h="21">
                <a:moveTo>
                  <a:pt x="89" y="21"/>
                </a:move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3374" name="Rectangle 71"/>
          <p:cNvSpPr>
            <a:spLocks noChangeArrowheads="1"/>
          </p:cNvSpPr>
          <p:nvPr/>
        </p:nvSpPr>
        <p:spPr bwMode="auto">
          <a:xfrm>
            <a:off x="6002338" y="6289675"/>
            <a:ext cx="228600" cy="152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CA" altLang="fr-FR"/>
          </a:p>
        </p:txBody>
      </p:sp>
      <p:sp>
        <p:nvSpPr>
          <p:cNvPr id="13375" name="Rectangle 18"/>
          <p:cNvSpPr>
            <a:spLocks noGrp="1" noChangeArrowheads="1"/>
          </p:cNvSpPr>
          <p:nvPr>
            <p:ph type="title" idx="4294967295"/>
          </p:nvPr>
        </p:nvSpPr>
        <p:spPr>
          <a:xfrm>
            <a:off x="5700713" y="6253163"/>
            <a:ext cx="3287712" cy="461962"/>
          </a:xfrm>
          <a:noFill/>
        </p:spPr>
        <p:txBody>
          <a:bodyPr lIns="36000" rIns="36000"/>
          <a:lstStyle/>
          <a:p>
            <a:pPr marL="1079500" indent="-1079500" eaLnBrk="1" hangingPunct="1">
              <a:spcBef>
                <a:spcPct val="0"/>
              </a:spcBef>
            </a:pPr>
            <a:r>
              <a:rPr lang="fr-CA" altLang="fr-FR" sz="1200" dirty="0">
                <a:solidFill>
                  <a:srgbClr val="0000FF"/>
                </a:solidFill>
              </a:rPr>
              <a:t>Figure 19.26a  Représentation schématique des artères de l’abdomen.</a:t>
            </a:r>
            <a:endParaRPr lang="fr-CA" altLang="fr-FR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3" descr="figure_19_24c_unlabel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70"/>
          <a:stretch>
            <a:fillRect/>
          </a:stretch>
        </p:blipFill>
        <p:spPr bwMode="auto">
          <a:xfrm>
            <a:off x="273050" y="846138"/>
            <a:ext cx="8597900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Freeform 4"/>
          <p:cNvSpPr>
            <a:spLocks/>
          </p:cNvSpPr>
          <p:nvPr/>
        </p:nvSpPr>
        <p:spPr bwMode="auto">
          <a:xfrm>
            <a:off x="1804988" y="1117600"/>
            <a:ext cx="2540000" cy="300038"/>
          </a:xfrm>
          <a:custGeom>
            <a:avLst/>
            <a:gdLst>
              <a:gd name="T0" fmla="*/ 0 w 1600"/>
              <a:gd name="T1" fmla="*/ 2147483647 h 189"/>
              <a:gd name="T2" fmla="*/ 2147483647 w 1600"/>
              <a:gd name="T3" fmla="*/ 0 h 189"/>
              <a:gd name="T4" fmla="*/ 2147483647 w 1600"/>
              <a:gd name="T5" fmla="*/ 2147483647 h 189"/>
              <a:gd name="T6" fmla="*/ 0 60000 65536"/>
              <a:gd name="T7" fmla="*/ 0 60000 65536"/>
              <a:gd name="T8" fmla="*/ 0 60000 65536"/>
              <a:gd name="T9" fmla="*/ 0 w 1600"/>
              <a:gd name="T10" fmla="*/ 0 h 189"/>
              <a:gd name="T11" fmla="*/ 1600 w 1600"/>
              <a:gd name="T12" fmla="*/ 189 h 1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00" h="189">
                <a:moveTo>
                  <a:pt x="0" y="3"/>
                </a:moveTo>
                <a:lnTo>
                  <a:pt x="265" y="0"/>
                </a:lnTo>
                <a:lnTo>
                  <a:pt x="1600" y="189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4340" name="Freeform 6"/>
          <p:cNvSpPr>
            <a:spLocks/>
          </p:cNvSpPr>
          <p:nvPr/>
        </p:nvSpPr>
        <p:spPr bwMode="auto">
          <a:xfrm>
            <a:off x="1828800" y="2209800"/>
            <a:ext cx="1849438" cy="58738"/>
          </a:xfrm>
          <a:custGeom>
            <a:avLst/>
            <a:gdLst>
              <a:gd name="T0" fmla="*/ 0 w 1661"/>
              <a:gd name="T1" fmla="*/ 2147483647 h 64"/>
              <a:gd name="T2" fmla="*/ 2147483647 w 1661"/>
              <a:gd name="T3" fmla="*/ 0 h 64"/>
              <a:gd name="T4" fmla="*/ 2147483647 w 1661"/>
              <a:gd name="T5" fmla="*/ 2147483647 h 64"/>
              <a:gd name="T6" fmla="*/ 0 60000 65536"/>
              <a:gd name="T7" fmla="*/ 0 60000 65536"/>
              <a:gd name="T8" fmla="*/ 0 60000 65536"/>
              <a:gd name="T9" fmla="*/ 0 w 1661"/>
              <a:gd name="T10" fmla="*/ 0 h 64"/>
              <a:gd name="T11" fmla="*/ 1661 w 1661"/>
              <a:gd name="T12" fmla="*/ 64 h 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61" h="64">
                <a:moveTo>
                  <a:pt x="0" y="3"/>
                </a:moveTo>
                <a:lnTo>
                  <a:pt x="349" y="0"/>
                </a:lnTo>
                <a:lnTo>
                  <a:pt x="1661" y="64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4341" name="Freeform 7"/>
          <p:cNvSpPr>
            <a:spLocks/>
          </p:cNvSpPr>
          <p:nvPr/>
        </p:nvSpPr>
        <p:spPr bwMode="auto">
          <a:xfrm>
            <a:off x="1676400" y="2484438"/>
            <a:ext cx="3048000" cy="215900"/>
          </a:xfrm>
          <a:custGeom>
            <a:avLst/>
            <a:gdLst>
              <a:gd name="T0" fmla="*/ 0 w 2083"/>
              <a:gd name="T1" fmla="*/ 2147483647 h 136"/>
              <a:gd name="T2" fmla="*/ 2147483647 w 2083"/>
              <a:gd name="T3" fmla="*/ 2147483647 h 136"/>
              <a:gd name="T4" fmla="*/ 2147483647 w 2083"/>
              <a:gd name="T5" fmla="*/ 0 h 136"/>
              <a:gd name="T6" fmla="*/ 0 60000 65536"/>
              <a:gd name="T7" fmla="*/ 0 60000 65536"/>
              <a:gd name="T8" fmla="*/ 0 60000 65536"/>
              <a:gd name="T9" fmla="*/ 0 w 2083"/>
              <a:gd name="T10" fmla="*/ 0 h 136"/>
              <a:gd name="T11" fmla="*/ 2083 w 2083"/>
              <a:gd name="T12" fmla="*/ 136 h 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83" h="136">
                <a:moveTo>
                  <a:pt x="0" y="136"/>
                </a:moveTo>
                <a:lnTo>
                  <a:pt x="299" y="136"/>
                </a:lnTo>
                <a:lnTo>
                  <a:pt x="2083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4342" name="Freeform 8"/>
          <p:cNvSpPr>
            <a:spLocks/>
          </p:cNvSpPr>
          <p:nvPr/>
        </p:nvSpPr>
        <p:spPr bwMode="auto">
          <a:xfrm>
            <a:off x="990600" y="2798763"/>
            <a:ext cx="2341563" cy="355600"/>
          </a:xfrm>
          <a:custGeom>
            <a:avLst/>
            <a:gdLst>
              <a:gd name="T0" fmla="*/ 2147483647 w 1475"/>
              <a:gd name="T1" fmla="*/ 0 h 224"/>
              <a:gd name="T2" fmla="*/ 2147483647 w 1475"/>
              <a:gd name="T3" fmla="*/ 2147483647 h 224"/>
              <a:gd name="T4" fmla="*/ 0 w 1475"/>
              <a:gd name="T5" fmla="*/ 2147483647 h 224"/>
              <a:gd name="T6" fmla="*/ 0 60000 65536"/>
              <a:gd name="T7" fmla="*/ 0 60000 65536"/>
              <a:gd name="T8" fmla="*/ 0 60000 65536"/>
              <a:gd name="T9" fmla="*/ 0 w 1475"/>
              <a:gd name="T10" fmla="*/ 0 h 224"/>
              <a:gd name="T11" fmla="*/ 1475 w 1475"/>
              <a:gd name="T12" fmla="*/ 224 h 2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75" h="224">
                <a:moveTo>
                  <a:pt x="1475" y="0"/>
                </a:moveTo>
                <a:lnTo>
                  <a:pt x="277" y="224"/>
                </a:lnTo>
                <a:lnTo>
                  <a:pt x="0" y="221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4343" name="Line 9"/>
          <p:cNvSpPr>
            <a:spLocks noChangeShapeType="1"/>
          </p:cNvSpPr>
          <p:nvPr/>
        </p:nvSpPr>
        <p:spPr bwMode="auto">
          <a:xfrm>
            <a:off x="1790700" y="3665538"/>
            <a:ext cx="2819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4344" name="Freeform 14"/>
          <p:cNvSpPr>
            <a:spLocks/>
          </p:cNvSpPr>
          <p:nvPr/>
        </p:nvSpPr>
        <p:spPr bwMode="auto">
          <a:xfrm>
            <a:off x="4868863" y="4513263"/>
            <a:ext cx="2395537" cy="558800"/>
          </a:xfrm>
          <a:custGeom>
            <a:avLst/>
            <a:gdLst>
              <a:gd name="T0" fmla="*/ 0 w 1509"/>
              <a:gd name="T1" fmla="*/ 0 h 352"/>
              <a:gd name="T2" fmla="*/ 2147483647 w 1509"/>
              <a:gd name="T3" fmla="*/ 2147483647 h 352"/>
              <a:gd name="T4" fmla="*/ 2147483647 w 1509"/>
              <a:gd name="T5" fmla="*/ 2147483647 h 352"/>
              <a:gd name="T6" fmla="*/ 0 60000 65536"/>
              <a:gd name="T7" fmla="*/ 0 60000 65536"/>
              <a:gd name="T8" fmla="*/ 0 60000 65536"/>
              <a:gd name="T9" fmla="*/ 0 w 1509"/>
              <a:gd name="T10" fmla="*/ 0 h 352"/>
              <a:gd name="T11" fmla="*/ 1509 w 1509"/>
              <a:gd name="T12" fmla="*/ 352 h 3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09" h="352">
                <a:moveTo>
                  <a:pt x="0" y="0"/>
                </a:moveTo>
                <a:lnTo>
                  <a:pt x="1205" y="352"/>
                </a:lnTo>
                <a:lnTo>
                  <a:pt x="1509" y="352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4345" name="Freeform 15"/>
          <p:cNvSpPr>
            <a:spLocks/>
          </p:cNvSpPr>
          <p:nvPr/>
        </p:nvSpPr>
        <p:spPr bwMode="auto">
          <a:xfrm>
            <a:off x="4805363" y="3957638"/>
            <a:ext cx="2459037" cy="487362"/>
          </a:xfrm>
          <a:custGeom>
            <a:avLst/>
            <a:gdLst>
              <a:gd name="T0" fmla="*/ 0 w 1549"/>
              <a:gd name="T1" fmla="*/ 0 h 307"/>
              <a:gd name="T2" fmla="*/ 2147483647 w 1549"/>
              <a:gd name="T3" fmla="*/ 2147483647 h 307"/>
              <a:gd name="T4" fmla="*/ 2147483647 w 1549"/>
              <a:gd name="T5" fmla="*/ 2147483647 h 307"/>
              <a:gd name="T6" fmla="*/ 0 60000 65536"/>
              <a:gd name="T7" fmla="*/ 0 60000 65536"/>
              <a:gd name="T8" fmla="*/ 0 60000 65536"/>
              <a:gd name="T9" fmla="*/ 0 w 1549"/>
              <a:gd name="T10" fmla="*/ 0 h 307"/>
              <a:gd name="T11" fmla="*/ 1549 w 1549"/>
              <a:gd name="T12" fmla="*/ 307 h 3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49" h="307">
                <a:moveTo>
                  <a:pt x="0" y="0"/>
                </a:moveTo>
                <a:lnTo>
                  <a:pt x="1237" y="307"/>
                </a:lnTo>
                <a:lnTo>
                  <a:pt x="1549" y="304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4346" name="Line 16"/>
          <p:cNvSpPr>
            <a:spLocks noChangeShapeType="1"/>
          </p:cNvSpPr>
          <p:nvPr/>
        </p:nvSpPr>
        <p:spPr bwMode="auto">
          <a:xfrm>
            <a:off x="5135563" y="3662363"/>
            <a:ext cx="2141537" cy="1984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4347" name="Freeform 17"/>
          <p:cNvSpPr>
            <a:spLocks/>
          </p:cNvSpPr>
          <p:nvPr/>
        </p:nvSpPr>
        <p:spPr bwMode="auto">
          <a:xfrm>
            <a:off x="4821238" y="3040063"/>
            <a:ext cx="2438400" cy="114300"/>
          </a:xfrm>
          <a:custGeom>
            <a:avLst/>
            <a:gdLst>
              <a:gd name="T0" fmla="*/ 0 w 1536"/>
              <a:gd name="T1" fmla="*/ 0 h 72"/>
              <a:gd name="T2" fmla="*/ 2147483647 w 1536"/>
              <a:gd name="T3" fmla="*/ 2147483647 h 72"/>
              <a:gd name="T4" fmla="*/ 2147483647 w 1536"/>
              <a:gd name="T5" fmla="*/ 2147483647 h 72"/>
              <a:gd name="T6" fmla="*/ 2147483647 w 1536"/>
              <a:gd name="T7" fmla="*/ 2147483647 h 72"/>
              <a:gd name="T8" fmla="*/ 0 60000 65536"/>
              <a:gd name="T9" fmla="*/ 0 60000 65536"/>
              <a:gd name="T10" fmla="*/ 0 60000 65536"/>
              <a:gd name="T11" fmla="*/ 0 60000 65536"/>
              <a:gd name="T12" fmla="*/ 0 w 1536"/>
              <a:gd name="T13" fmla="*/ 0 h 72"/>
              <a:gd name="T14" fmla="*/ 1536 w 1536"/>
              <a:gd name="T15" fmla="*/ 72 h 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36" h="72">
                <a:moveTo>
                  <a:pt x="0" y="0"/>
                </a:moveTo>
                <a:lnTo>
                  <a:pt x="78" y="32"/>
                </a:lnTo>
                <a:lnTo>
                  <a:pt x="1224" y="72"/>
                </a:lnTo>
                <a:lnTo>
                  <a:pt x="1536" y="72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4348" name="Freeform 18"/>
          <p:cNvSpPr>
            <a:spLocks/>
          </p:cNvSpPr>
          <p:nvPr/>
        </p:nvSpPr>
        <p:spPr bwMode="auto">
          <a:xfrm>
            <a:off x="5194300" y="2679700"/>
            <a:ext cx="2065338" cy="236538"/>
          </a:xfrm>
          <a:custGeom>
            <a:avLst/>
            <a:gdLst>
              <a:gd name="T0" fmla="*/ 0 w 1301"/>
              <a:gd name="T1" fmla="*/ 2147483647 h 149"/>
              <a:gd name="T2" fmla="*/ 2147483647 w 1301"/>
              <a:gd name="T3" fmla="*/ 0 h 149"/>
              <a:gd name="T4" fmla="*/ 2147483647 w 1301"/>
              <a:gd name="T5" fmla="*/ 0 h 149"/>
              <a:gd name="T6" fmla="*/ 0 60000 65536"/>
              <a:gd name="T7" fmla="*/ 0 60000 65536"/>
              <a:gd name="T8" fmla="*/ 0 60000 65536"/>
              <a:gd name="T9" fmla="*/ 0 w 1301"/>
              <a:gd name="T10" fmla="*/ 0 h 149"/>
              <a:gd name="T11" fmla="*/ 1301 w 1301"/>
              <a:gd name="T12" fmla="*/ 149 h 14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01" h="149">
                <a:moveTo>
                  <a:pt x="0" y="149"/>
                </a:moveTo>
                <a:lnTo>
                  <a:pt x="1003" y="0"/>
                </a:lnTo>
                <a:lnTo>
                  <a:pt x="1301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4349" name="Freeform 19"/>
          <p:cNvSpPr>
            <a:spLocks/>
          </p:cNvSpPr>
          <p:nvPr/>
        </p:nvSpPr>
        <p:spPr bwMode="auto">
          <a:xfrm>
            <a:off x="5041900" y="2138363"/>
            <a:ext cx="2214563" cy="542925"/>
          </a:xfrm>
          <a:custGeom>
            <a:avLst/>
            <a:gdLst>
              <a:gd name="T0" fmla="*/ 0 w 1395"/>
              <a:gd name="T1" fmla="*/ 2147483647 h 342"/>
              <a:gd name="T2" fmla="*/ 2147483647 w 1395"/>
              <a:gd name="T3" fmla="*/ 0 h 342"/>
              <a:gd name="T4" fmla="*/ 2147483647 w 1395"/>
              <a:gd name="T5" fmla="*/ 2147483647 h 342"/>
              <a:gd name="T6" fmla="*/ 0 60000 65536"/>
              <a:gd name="T7" fmla="*/ 0 60000 65536"/>
              <a:gd name="T8" fmla="*/ 0 60000 65536"/>
              <a:gd name="T9" fmla="*/ 0 w 1395"/>
              <a:gd name="T10" fmla="*/ 0 h 342"/>
              <a:gd name="T11" fmla="*/ 1395 w 1395"/>
              <a:gd name="T12" fmla="*/ 342 h 34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95" h="342">
                <a:moveTo>
                  <a:pt x="0" y="342"/>
                </a:moveTo>
                <a:lnTo>
                  <a:pt x="1096" y="0"/>
                </a:lnTo>
                <a:lnTo>
                  <a:pt x="1395" y="3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4350" name="Freeform 21"/>
          <p:cNvSpPr>
            <a:spLocks/>
          </p:cNvSpPr>
          <p:nvPr/>
        </p:nvSpPr>
        <p:spPr bwMode="auto">
          <a:xfrm>
            <a:off x="5783263" y="965200"/>
            <a:ext cx="1476375" cy="393700"/>
          </a:xfrm>
          <a:custGeom>
            <a:avLst/>
            <a:gdLst>
              <a:gd name="T0" fmla="*/ 0 w 930"/>
              <a:gd name="T1" fmla="*/ 2147483647 h 248"/>
              <a:gd name="T2" fmla="*/ 2147483647 w 930"/>
              <a:gd name="T3" fmla="*/ 0 h 248"/>
              <a:gd name="T4" fmla="*/ 2147483647 w 930"/>
              <a:gd name="T5" fmla="*/ 0 h 248"/>
              <a:gd name="T6" fmla="*/ 0 60000 65536"/>
              <a:gd name="T7" fmla="*/ 0 60000 65536"/>
              <a:gd name="T8" fmla="*/ 0 60000 65536"/>
              <a:gd name="T9" fmla="*/ 0 w 930"/>
              <a:gd name="T10" fmla="*/ 0 h 248"/>
              <a:gd name="T11" fmla="*/ 930 w 930"/>
              <a:gd name="T12" fmla="*/ 248 h 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30" h="248">
                <a:moveTo>
                  <a:pt x="0" y="248"/>
                </a:moveTo>
                <a:lnTo>
                  <a:pt x="626" y="0"/>
                </a:lnTo>
                <a:lnTo>
                  <a:pt x="930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4351" name="Text Box 22"/>
          <p:cNvSpPr txBox="1">
            <a:spLocks noChangeArrowheads="1"/>
          </p:cNvSpPr>
          <p:nvPr/>
        </p:nvSpPr>
        <p:spPr bwMode="auto">
          <a:xfrm>
            <a:off x="76200" y="908050"/>
            <a:ext cx="19050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6000"/>
              </a:lnSpc>
            </a:pPr>
            <a:r>
              <a:rPr lang="fr-CA" altLang="fr-FR" sz="1400" b="0"/>
              <a:t>Hiatus (orifice) de la veine cave inférieure</a:t>
            </a:r>
          </a:p>
        </p:txBody>
      </p:sp>
      <p:sp>
        <p:nvSpPr>
          <p:cNvPr id="14352" name="Text Box 24"/>
          <p:cNvSpPr txBox="1">
            <a:spLocks noChangeArrowheads="1"/>
          </p:cNvSpPr>
          <p:nvPr/>
        </p:nvSpPr>
        <p:spPr bwMode="auto">
          <a:xfrm>
            <a:off x="347663" y="2057400"/>
            <a:ext cx="15573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6000"/>
              </a:lnSpc>
            </a:pPr>
            <a:r>
              <a:rPr lang="fr-CA" altLang="fr-FR" sz="1400" b="0"/>
              <a:t>Glande surrénale</a:t>
            </a:r>
          </a:p>
        </p:txBody>
      </p:sp>
      <p:sp>
        <p:nvSpPr>
          <p:cNvPr id="14353" name="Text Box 25"/>
          <p:cNvSpPr txBox="1">
            <a:spLocks noChangeArrowheads="1"/>
          </p:cNvSpPr>
          <p:nvPr/>
        </p:nvSpPr>
        <p:spPr bwMode="auto">
          <a:xfrm>
            <a:off x="225425" y="2541588"/>
            <a:ext cx="159543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6000"/>
              </a:lnSpc>
            </a:pPr>
            <a:r>
              <a:rPr lang="fr-CA" altLang="fr-FR" sz="1400">
                <a:solidFill>
                  <a:srgbClr val="FF0000"/>
                </a:solidFill>
              </a:rPr>
              <a:t>Tronc cœliaque </a:t>
            </a:r>
          </a:p>
        </p:txBody>
      </p:sp>
      <p:sp>
        <p:nvSpPr>
          <p:cNvPr id="14354" name="Text Box 26"/>
          <p:cNvSpPr txBox="1">
            <a:spLocks noChangeArrowheads="1"/>
          </p:cNvSpPr>
          <p:nvPr/>
        </p:nvSpPr>
        <p:spPr bwMode="auto">
          <a:xfrm>
            <a:off x="493713" y="2998788"/>
            <a:ext cx="573087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6000"/>
              </a:lnSpc>
            </a:pPr>
            <a:r>
              <a:rPr lang="fr-CA" altLang="fr-FR" sz="1400" b="0"/>
              <a:t>Rein</a:t>
            </a:r>
          </a:p>
        </p:txBody>
      </p:sp>
      <p:sp>
        <p:nvSpPr>
          <p:cNvPr id="14355" name="Text Box 27"/>
          <p:cNvSpPr txBox="1">
            <a:spLocks noChangeArrowheads="1"/>
          </p:cNvSpPr>
          <p:nvPr/>
        </p:nvSpPr>
        <p:spPr bwMode="auto">
          <a:xfrm>
            <a:off x="131763" y="3536950"/>
            <a:ext cx="16970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6000"/>
              </a:lnSpc>
            </a:pPr>
            <a:r>
              <a:rPr lang="fr-CA" altLang="fr-FR" sz="1400">
                <a:solidFill>
                  <a:srgbClr val="FF0000"/>
                </a:solidFill>
              </a:rPr>
              <a:t>Aorte abdominale</a:t>
            </a:r>
          </a:p>
        </p:txBody>
      </p:sp>
      <p:sp>
        <p:nvSpPr>
          <p:cNvPr id="14356" name="Text Box 31"/>
          <p:cNvSpPr txBox="1">
            <a:spLocks noChangeArrowheads="1"/>
          </p:cNvSpPr>
          <p:nvPr/>
        </p:nvSpPr>
        <p:spPr bwMode="auto">
          <a:xfrm>
            <a:off x="7239000" y="839788"/>
            <a:ext cx="1158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6000"/>
              </a:lnSpc>
            </a:pPr>
            <a:r>
              <a:rPr lang="fr-CA" altLang="fr-FR" sz="1400" b="0"/>
              <a:t>Diaphragme</a:t>
            </a:r>
          </a:p>
        </p:txBody>
      </p:sp>
      <p:sp>
        <p:nvSpPr>
          <p:cNvPr id="14357" name="Text Box 33"/>
          <p:cNvSpPr txBox="1">
            <a:spLocks noChangeArrowheads="1"/>
          </p:cNvSpPr>
          <p:nvPr/>
        </p:nvSpPr>
        <p:spPr bwMode="auto">
          <a:xfrm>
            <a:off x="7239000" y="1981200"/>
            <a:ext cx="17526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6000"/>
              </a:lnSpc>
            </a:pPr>
            <a:r>
              <a:rPr lang="fr-CA" altLang="fr-FR" sz="1400">
                <a:solidFill>
                  <a:srgbClr val="FF0000"/>
                </a:solidFill>
              </a:rPr>
              <a:t>A. surrénale moyenne</a:t>
            </a:r>
          </a:p>
        </p:txBody>
      </p:sp>
      <p:sp>
        <p:nvSpPr>
          <p:cNvPr id="14358" name="Text Box 34"/>
          <p:cNvSpPr txBox="1">
            <a:spLocks noChangeArrowheads="1"/>
          </p:cNvSpPr>
          <p:nvPr/>
        </p:nvSpPr>
        <p:spPr bwMode="auto">
          <a:xfrm>
            <a:off x="7239000" y="2538413"/>
            <a:ext cx="94138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6000"/>
              </a:lnSpc>
            </a:pPr>
            <a:r>
              <a:rPr lang="fr-CA" altLang="fr-FR" sz="1400">
                <a:solidFill>
                  <a:srgbClr val="FF0000"/>
                </a:solidFill>
              </a:rPr>
              <a:t>A. rénale</a:t>
            </a:r>
          </a:p>
        </p:txBody>
      </p:sp>
      <p:sp>
        <p:nvSpPr>
          <p:cNvPr id="14359" name="Text Box 35"/>
          <p:cNvSpPr txBox="1">
            <a:spLocks noChangeArrowheads="1"/>
          </p:cNvSpPr>
          <p:nvPr/>
        </p:nvSpPr>
        <p:spPr bwMode="auto">
          <a:xfrm>
            <a:off x="7239000" y="2971800"/>
            <a:ext cx="19050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6000"/>
              </a:lnSpc>
            </a:pPr>
            <a:r>
              <a:rPr lang="fr-CA" altLang="fr-FR" sz="1400">
                <a:solidFill>
                  <a:srgbClr val="FF0000"/>
                </a:solidFill>
              </a:rPr>
              <a:t>A. mésentérique supérieure</a:t>
            </a:r>
          </a:p>
        </p:txBody>
      </p:sp>
      <p:sp>
        <p:nvSpPr>
          <p:cNvPr id="14360" name="Text Box 36"/>
          <p:cNvSpPr txBox="1">
            <a:spLocks noChangeArrowheads="1"/>
          </p:cNvSpPr>
          <p:nvPr/>
        </p:nvSpPr>
        <p:spPr bwMode="auto">
          <a:xfrm>
            <a:off x="7234238" y="3657600"/>
            <a:ext cx="16367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6000"/>
              </a:lnSpc>
            </a:pPr>
            <a:r>
              <a:rPr lang="fr-CA" altLang="fr-FR" sz="1400" dirty="0">
                <a:solidFill>
                  <a:srgbClr val="FF0000"/>
                </a:solidFill>
              </a:rPr>
              <a:t>A. ovarique ou testiculaire</a:t>
            </a:r>
          </a:p>
        </p:txBody>
      </p:sp>
      <p:sp>
        <p:nvSpPr>
          <p:cNvPr id="14361" name="Text Box 37"/>
          <p:cNvSpPr txBox="1">
            <a:spLocks noChangeArrowheads="1"/>
          </p:cNvSpPr>
          <p:nvPr/>
        </p:nvSpPr>
        <p:spPr bwMode="auto">
          <a:xfrm>
            <a:off x="7229475" y="4267200"/>
            <a:ext cx="176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6000"/>
              </a:lnSpc>
            </a:pPr>
            <a:r>
              <a:rPr lang="fr-CA" altLang="fr-FR" sz="1400">
                <a:solidFill>
                  <a:srgbClr val="FF0000"/>
                </a:solidFill>
              </a:rPr>
              <a:t>A. mésentérique inférieure</a:t>
            </a:r>
          </a:p>
        </p:txBody>
      </p:sp>
      <p:sp>
        <p:nvSpPr>
          <p:cNvPr id="14362" name="Text Box 38"/>
          <p:cNvSpPr txBox="1">
            <a:spLocks noChangeArrowheads="1"/>
          </p:cNvSpPr>
          <p:nvPr/>
        </p:nvSpPr>
        <p:spPr bwMode="auto">
          <a:xfrm>
            <a:off x="7200900" y="4954588"/>
            <a:ext cx="18764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6000"/>
              </a:lnSpc>
            </a:pPr>
            <a:r>
              <a:rPr lang="fr-CA" altLang="fr-FR" sz="1400">
                <a:solidFill>
                  <a:srgbClr val="FF0000"/>
                </a:solidFill>
              </a:rPr>
              <a:t>A. iliaque commune</a:t>
            </a:r>
          </a:p>
        </p:txBody>
      </p:sp>
      <p:sp>
        <p:nvSpPr>
          <p:cNvPr id="14363" name="Rectangle 40"/>
          <p:cNvSpPr>
            <a:spLocks noChangeArrowheads="1"/>
          </p:cNvSpPr>
          <p:nvPr/>
        </p:nvSpPr>
        <p:spPr bwMode="auto">
          <a:xfrm>
            <a:off x="304800" y="5562600"/>
            <a:ext cx="304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CA" altLang="fr-FR"/>
          </a:p>
        </p:txBody>
      </p:sp>
      <p:sp>
        <p:nvSpPr>
          <p:cNvPr id="16425" name="Text Box 39"/>
          <p:cNvSpPr txBox="1">
            <a:spLocks noChangeArrowheads="1"/>
          </p:cNvSpPr>
          <p:nvPr/>
        </p:nvSpPr>
        <p:spPr bwMode="auto">
          <a:xfrm>
            <a:off x="220663" y="5684838"/>
            <a:ext cx="51562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6000"/>
              </a:lnSpc>
              <a:defRPr/>
            </a:pPr>
            <a:r>
              <a:rPr lang="fr-CA" altLang="fr-FR" sz="1400" dirty="0">
                <a:solidFill>
                  <a:srgbClr val="0000FF"/>
                </a:solidFill>
                <a:latin typeface="+mn-lt"/>
              </a:rPr>
              <a:t>Fig. 19.26c Principales ramifications de l’aorte abdominale</a:t>
            </a:r>
          </a:p>
        </p:txBody>
      </p:sp>
      <p:sp>
        <p:nvSpPr>
          <p:cNvPr id="14365" name="Rectangle 18"/>
          <p:cNvSpPr>
            <a:spLocks noGrp="1" noChangeArrowheads="1"/>
          </p:cNvSpPr>
          <p:nvPr>
            <p:ph type="title" idx="4294967295"/>
          </p:nvPr>
        </p:nvSpPr>
        <p:spPr>
          <a:xfrm>
            <a:off x="96838" y="209550"/>
            <a:ext cx="3246437" cy="400050"/>
          </a:xfrm>
          <a:noFill/>
        </p:spPr>
        <p:txBody>
          <a:bodyPr lIns="72000" rIns="72000"/>
          <a:lstStyle/>
          <a:p>
            <a:pPr marL="360363" indent="-360363" eaLnBrk="1" hangingPunct="1">
              <a:spcBef>
                <a:spcPct val="0"/>
              </a:spcBef>
            </a:pPr>
            <a:r>
              <a:rPr lang="fr-CA" altLang="fr-FR" b="1"/>
              <a:t>d)	</a:t>
            </a:r>
            <a:r>
              <a:rPr lang="fr-CA" altLang="fr-FR" b="1" u="sng"/>
              <a:t>Artères de l’abdomen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8"/>
          <p:cNvSpPr>
            <a:spLocks noGrp="1" noChangeArrowheads="1"/>
          </p:cNvSpPr>
          <p:nvPr>
            <p:ph type="title" idx="4294967295"/>
          </p:nvPr>
        </p:nvSpPr>
        <p:spPr>
          <a:xfrm>
            <a:off x="96838" y="209550"/>
            <a:ext cx="3246437" cy="400050"/>
          </a:xfrm>
          <a:noFill/>
        </p:spPr>
        <p:txBody>
          <a:bodyPr lIns="72000" rIns="72000"/>
          <a:lstStyle/>
          <a:p>
            <a:pPr marL="360363" indent="-360363" eaLnBrk="1" hangingPunct="1">
              <a:spcBef>
                <a:spcPct val="0"/>
              </a:spcBef>
            </a:pPr>
            <a:r>
              <a:rPr lang="fr-CA" altLang="fr-FR" b="1"/>
              <a:t>d)	</a:t>
            </a:r>
            <a:r>
              <a:rPr lang="fr-CA" altLang="fr-FR" b="1" u="sng"/>
              <a:t>Artères de l’abdomen</a:t>
            </a:r>
          </a:p>
        </p:txBody>
      </p:sp>
      <p:pic>
        <p:nvPicPr>
          <p:cNvPr id="15363" name="Picture 3" descr="figure_19_24b_unlabel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38"/>
          <a:stretch>
            <a:fillRect/>
          </a:stretch>
        </p:blipFill>
        <p:spPr bwMode="auto">
          <a:xfrm>
            <a:off x="469900" y="1050925"/>
            <a:ext cx="8597900" cy="456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Freeform 4"/>
          <p:cNvSpPr>
            <a:spLocks/>
          </p:cNvSpPr>
          <p:nvPr/>
        </p:nvSpPr>
        <p:spPr bwMode="auto">
          <a:xfrm>
            <a:off x="2025650" y="3638550"/>
            <a:ext cx="1252538" cy="247650"/>
          </a:xfrm>
          <a:custGeom>
            <a:avLst/>
            <a:gdLst>
              <a:gd name="T0" fmla="*/ 0 w 1080"/>
              <a:gd name="T1" fmla="*/ 2147483647 h 172"/>
              <a:gd name="T2" fmla="*/ 2147483647 w 1080"/>
              <a:gd name="T3" fmla="*/ 2147483647 h 172"/>
              <a:gd name="T4" fmla="*/ 2147483647 w 1080"/>
              <a:gd name="T5" fmla="*/ 0 h 172"/>
              <a:gd name="T6" fmla="*/ 0 60000 65536"/>
              <a:gd name="T7" fmla="*/ 0 60000 65536"/>
              <a:gd name="T8" fmla="*/ 0 60000 65536"/>
              <a:gd name="T9" fmla="*/ 0 w 1080"/>
              <a:gd name="T10" fmla="*/ 0 h 172"/>
              <a:gd name="T11" fmla="*/ 1080 w 1080"/>
              <a:gd name="T12" fmla="*/ 172 h 1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80" h="172">
                <a:moveTo>
                  <a:pt x="0" y="172"/>
                </a:moveTo>
                <a:lnTo>
                  <a:pt x="280" y="172"/>
                </a:lnTo>
                <a:lnTo>
                  <a:pt x="1080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5365" name="Freeform 6"/>
          <p:cNvSpPr>
            <a:spLocks/>
          </p:cNvSpPr>
          <p:nvPr/>
        </p:nvSpPr>
        <p:spPr bwMode="auto">
          <a:xfrm>
            <a:off x="1522413" y="3905250"/>
            <a:ext cx="1925637" cy="666750"/>
          </a:xfrm>
          <a:custGeom>
            <a:avLst/>
            <a:gdLst>
              <a:gd name="T0" fmla="*/ 0 w 1213"/>
              <a:gd name="T1" fmla="*/ 2147483647 h 420"/>
              <a:gd name="T2" fmla="*/ 2147483647 w 1213"/>
              <a:gd name="T3" fmla="*/ 2147483647 h 420"/>
              <a:gd name="T4" fmla="*/ 2147483647 w 1213"/>
              <a:gd name="T5" fmla="*/ 0 h 420"/>
              <a:gd name="T6" fmla="*/ 0 60000 65536"/>
              <a:gd name="T7" fmla="*/ 0 60000 65536"/>
              <a:gd name="T8" fmla="*/ 0 60000 65536"/>
              <a:gd name="T9" fmla="*/ 0 w 1213"/>
              <a:gd name="T10" fmla="*/ 0 h 420"/>
              <a:gd name="T11" fmla="*/ 1213 w 1213"/>
              <a:gd name="T12" fmla="*/ 420 h 42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13" h="420">
                <a:moveTo>
                  <a:pt x="0" y="419"/>
                </a:moveTo>
                <a:lnTo>
                  <a:pt x="200" y="420"/>
                </a:lnTo>
                <a:lnTo>
                  <a:pt x="1213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5366" name="Freeform 7"/>
          <p:cNvSpPr>
            <a:spLocks/>
          </p:cNvSpPr>
          <p:nvPr/>
        </p:nvSpPr>
        <p:spPr bwMode="auto">
          <a:xfrm>
            <a:off x="2005013" y="4838700"/>
            <a:ext cx="2238375" cy="271463"/>
          </a:xfrm>
          <a:custGeom>
            <a:avLst/>
            <a:gdLst>
              <a:gd name="T0" fmla="*/ 0 w 1410"/>
              <a:gd name="T1" fmla="*/ 2147483647 h 171"/>
              <a:gd name="T2" fmla="*/ 2147483647 w 1410"/>
              <a:gd name="T3" fmla="*/ 2147483647 h 171"/>
              <a:gd name="T4" fmla="*/ 2147483647 w 1410"/>
              <a:gd name="T5" fmla="*/ 0 h 171"/>
              <a:gd name="T6" fmla="*/ 0 60000 65536"/>
              <a:gd name="T7" fmla="*/ 0 60000 65536"/>
              <a:gd name="T8" fmla="*/ 0 60000 65536"/>
              <a:gd name="T9" fmla="*/ 0 w 1410"/>
              <a:gd name="T10" fmla="*/ 0 h 171"/>
              <a:gd name="T11" fmla="*/ 1410 w 1410"/>
              <a:gd name="T12" fmla="*/ 171 h 17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10" h="171">
                <a:moveTo>
                  <a:pt x="0" y="168"/>
                </a:moveTo>
                <a:lnTo>
                  <a:pt x="162" y="171"/>
                </a:lnTo>
                <a:lnTo>
                  <a:pt x="1410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5367" name="Freeform 8"/>
          <p:cNvSpPr>
            <a:spLocks/>
          </p:cNvSpPr>
          <p:nvPr/>
        </p:nvSpPr>
        <p:spPr bwMode="auto">
          <a:xfrm>
            <a:off x="2101850" y="3352800"/>
            <a:ext cx="1982788" cy="50800"/>
          </a:xfrm>
          <a:custGeom>
            <a:avLst/>
            <a:gdLst>
              <a:gd name="T0" fmla="*/ 2147483647 w 1891"/>
              <a:gd name="T1" fmla="*/ 2147483647 h 23"/>
              <a:gd name="T2" fmla="*/ 2147483647 w 1891"/>
              <a:gd name="T3" fmla="*/ 2147483647 h 23"/>
              <a:gd name="T4" fmla="*/ 0 w 1891"/>
              <a:gd name="T5" fmla="*/ 0 h 23"/>
              <a:gd name="T6" fmla="*/ 0 60000 65536"/>
              <a:gd name="T7" fmla="*/ 0 60000 65536"/>
              <a:gd name="T8" fmla="*/ 0 60000 65536"/>
              <a:gd name="T9" fmla="*/ 0 w 1891"/>
              <a:gd name="T10" fmla="*/ 0 h 23"/>
              <a:gd name="T11" fmla="*/ 1891 w 1891"/>
              <a:gd name="T12" fmla="*/ 23 h 2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91" h="23">
                <a:moveTo>
                  <a:pt x="1891" y="23"/>
                </a:moveTo>
                <a:lnTo>
                  <a:pt x="709" y="2"/>
                </a:ln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5368" name="Freeform 10"/>
          <p:cNvSpPr>
            <a:spLocks/>
          </p:cNvSpPr>
          <p:nvPr/>
        </p:nvSpPr>
        <p:spPr bwMode="auto">
          <a:xfrm>
            <a:off x="1720850" y="2514600"/>
            <a:ext cx="2058988" cy="512763"/>
          </a:xfrm>
          <a:custGeom>
            <a:avLst/>
            <a:gdLst>
              <a:gd name="T0" fmla="*/ 2147483647 w 1609"/>
              <a:gd name="T1" fmla="*/ 2147483647 h 312"/>
              <a:gd name="T2" fmla="*/ 2147483647 w 1609"/>
              <a:gd name="T3" fmla="*/ 0 h 312"/>
              <a:gd name="T4" fmla="*/ 0 w 1609"/>
              <a:gd name="T5" fmla="*/ 0 h 312"/>
              <a:gd name="T6" fmla="*/ 0 60000 65536"/>
              <a:gd name="T7" fmla="*/ 0 60000 65536"/>
              <a:gd name="T8" fmla="*/ 0 60000 65536"/>
              <a:gd name="T9" fmla="*/ 0 w 1609"/>
              <a:gd name="T10" fmla="*/ 0 h 312"/>
              <a:gd name="T11" fmla="*/ 1609 w 1609"/>
              <a:gd name="T12" fmla="*/ 312 h 3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09" h="312">
                <a:moveTo>
                  <a:pt x="1609" y="312"/>
                </a:moveTo>
                <a:lnTo>
                  <a:pt x="704" y="0"/>
                </a:ln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5369" name="Freeform 11"/>
          <p:cNvSpPr>
            <a:spLocks/>
          </p:cNvSpPr>
          <p:nvPr/>
        </p:nvSpPr>
        <p:spPr bwMode="auto">
          <a:xfrm>
            <a:off x="1344613" y="2112963"/>
            <a:ext cx="2809875" cy="896937"/>
          </a:xfrm>
          <a:custGeom>
            <a:avLst/>
            <a:gdLst>
              <a:gd name="T0" fmla="*/ 0 w 1770"/>
              <a:gd name="T1" fmla="*/ 2147483647 h 565"/>
              <a:gd name="T2" fmla="*/ 2147483647 w 1770"/>
              <a:gd name="T3" fmla="*/ 0 h 565"/>
              <a:gd name="T4" fmla="*/ 2147483647 w 1770"/>
              <a:gd name="T5" fmla="*/ 2147483647 h 565"/>
              <a:gd name="T6" fmla="*/ 0 60000 65536"/>
              <a:gd name="T7" fmla="*/ 0 60000 65536"/>
              <a:gd name="T8" fmla="*/ 0 60000 65536"/>
              <a:gd name="T9" fmla="*/ 0 w 1770"/>
              <a:gd name="T10" fmla="*/ 0 h 565"/>
              <a:gd name="T11" fmla="*/ 1770 w 1770"/>
              <a:gd name="T12" fmla="*/ 565 h 5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70" h="565">
                <a:moveTo>
                  <a:pt x="0" y="2"/>
                </a:moveTo>
                <a:lnTo>
                  <a:pt x="378" y="0"/>
                </a:lnTo>
                <a:lnTo>
                  <a:pt x="1770" y="565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5370" name="Freeform 12"/>
          <p:cNvSpPr>
            <a:spLocks/>
          </p:cNvSpPr>
          <p:nvPr/>
        </p:nvSpPr>
        <p:spPr bwMode="auto">
          <a:xfrm>
            <a:off x="2025650" y="1828800"/>
            <a:ext cx="2278063" cy="989013"/>
          </a:xfrm>
          <a:custGeom>
            <a:avLst/>
            <a:gdLst>
              <a:gd name="T0" fmla="*/ 2147483647 w 1723"/>
              <a:gd name="T1" fmla="*/ 2147483647 h 566"/>
              <a:gd name="T2" fmla="*/ 2147483647 w 1723"/>
              <a:gd name="T3" fmla="*/ 0 h 566"/>
              <a:gd name="T4" fmla="*/ 0 w 1723"/>
              <a:gd name="T5" fmla="*/ 0 h 566"/>
              <a:gd name="T6" fmla="*/ 0 60000 65536"/>
              <a:gd name="T7" fmla="*/ 0 60000 65536"/>
              <a:gd name="T8" fmla="*/ 0 60000 65536"/>
              <a:gd name="T9" fmla="*/ 0 w 1723"/>
              <a:gd name="T10" fmla="*/ 0 h 566"/>
              <a:gd name="T11" fmla="*/ 1723 w 1723"/>
              <a:gd name="T12" fmla="*/ 566 h 56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23" h="566">
                <a:moveTo>
                  <a:pt x="1723" y="566"/>
                </a:moveTo>
                <a:lnTo>
                  <a:pt x="435" y="0"/>
                </a:ln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5371" name="Freeform 13"/>
          <p:cNvSpPr>
            <a:spLocks/>
          </p:cNvSpPr>
          <p:nvPr/>
        </p:nvSpPr>
        <p:spPr bwMode="auto">
          <a:xfrm>
            <a:off x="2330450" y="1560513"/>
            <a:ext cx="1562100" cy="809625"/>
          </a:xfrm>
          <a:custGeom>
            <a:avLst/>
            <a:gdLst>
              <a:gd name="T0" fmla="*/ 0 w 1152"/>
              <a:gd name="T1" fmla="*/ 0 h 509"/>
              <a:gd name="T2" fmla="*/ 2147483647 w 1152"/>
              <a:gd name="T3" fmla="*/ 0 h 509"/>
              <a:gd name="T4" fmla="*/ 2147483647 w 1152"/>
              <a:gd name="T5" fmla="*/ 2147483647 h 509"/>
              <a:gd name="T6" fmla="*/ 0 60000 65536"/>
              <a:gd name="T7" fmla="*/ 0 60000 65536"/>
              <a:gd name="T8" fmla="*/ 0 60000 65536"/>
              <a:gd name="T9" fmla="*/ 0 w 1152"/>
              <a:gd name="T10" fmla="*/ 0 h 509"/>
              <a:gd name="T11" fmla="*/ 1152 w 1152"/>
              <a:gd name="T12" fmla="*/ 509 h 50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52" h="509">
                <a:moveTo>
                  <a:pt x="0" y="0"/>
                </a:moveTo>
                <a:lnTo>
                  <a:pt x="85" y="0"/>
                </a:lnTo>
                <a:lnTo>
                  <a:pt x="1152" y="509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5372" name="Freeform 14"/>
          <p:cNvSpPr>
            <a:spLocks/>
          </p:cNvSpPr>
          <p:nvPr/>
        </p:nvSpPr>
        <p:spPr bwMode="auto">
          <a:xfrm>
            <a:off x="1949450" y="1143000"/>
            <a:ext cx="1549400" cy="833438"/>
          </a:xfrm>
          <a:custGeom>
            <a:avLst/>
            <a:gdLst>
              <a:gd name="T0" fmla="*/ 2147483647 w 1304"/>
              <a:gd name="T1" fmla="*/ 2147483647 h 490"/>
              <a:gd name="T2" fmla="*/ 2147483647 w 1304"/>
              <a:gd name="T3" fmla="*/ 0 h 490"/>
              <a:gd name="T4" fmla="*/ 0 w 1304"/>
              <a:gd name="T5" fmla="*/ 0 h 490"/>
              <a:gd name="T6" fmla="*/ 0 60000 65536"/>
              <a:gd name="T7" fmla="*/ 0 60000 65536"/>
              <a:gd name="T8" fmla="*/ 0 60000 65536"/>
              <a:gd name="T9" fmla="*/ 0 w 1304"/>
              <a:gd name="T10" fmla="*/ 0 h 490"/>
              <a:gd name="T11" fmla="*/ 1304 w 1304"/>
              <a:gd name="T12" fmla="*/ 490 h 4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04" h="490">
                <a:moveTo>
                  <a:pt x="1304" y="490"/>
                </a:moveTo>
                <a:lnTo>
                  <a:pt x="312" y="0"/>
                </a:ln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5373" name="Text Box 15"/>
          <p:cNvSpPr txBox="1">
            <a:spLocks noChangeArrowheads="1"/>
          </p:cNvSpPr>
          <p:nvPr/>
        </p:nvSpPr>
        <p:spPr bwMode="auto">
          <a:xfrm>
            <a:off x="688975" y="973138"/>
            <a:ext cx="13604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 b="0"/>
              <a:t>Foie </a:t>
            </a:r>
            <a:r>
              <a:rPr lang="fr-CA" altLang="fr-FR" b="0"/>
              <a:t>(sectionné)</a:t>
            </a:r>
          </a:p>
        </p:txBody>
      </p:sp>
      <p:sp>
        <p:nvSpPr>
          <p:cNvPr id="15374" name="Text Box 16"/>
          <p:cNvSpPr txBox="1">
            <a:spLocks noChangeArrowheads="1"/>
          </p:cNvSpPr>
          <p:nvPr/>
        </p:nvSpPr>
        <p:spPr bwMode="auto">
          <a:xfrm>
            <a:off x="582613" y="1371600"/>
            <a:ext cx="18557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 b="0"/>
              <a:t>Veine cave inférieure</a:t>
            </a:r>
          </a:p>
        </p:txBody>
      </p:sp>
      <p:sp>
        <p:nvSpPr>
          <p:cNvPr id="15375" name="Text Box 17"/>
          <p:cNvSpPr txBox="1">
            <a:spLocks noChangeArrowheads="1"/>
          </p:cNvSpPr>
          <p:nvPr/>
        </p:nvSpPr>
        <p:spPr bwMode="auto">
          <a:xfrm>
            <a:off x="557213" y="1658938"/>
            <a:ext cx="15446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>
                <a:solidFill>
                  <a:srgbClr val="FF0000"/>
                </a:solidFill>
              </a:rPr>
              <a:t>Tronc cœliaque</a:t>
            </a:r>
          </a:p>
        </p:txBody>
      </p:sp>
      <p:sp>
        <p:nvSpPr>
          <p:cNvPr id="15376" name="Text Box 18"/>
          <p:cNvSpPr txBox="1">
            <a:spLocks noChangeArrowheads="1"/>
          </p:cNvSpPr>
          <p:nvPr/>
        </p:nvSpPr>
        <p:spPr bwMode="auto">
          <a:xfrm>
            <a:off x="76200" y="1905000"/>
            <a:ext cx="13890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86000"/>
              </a:lnSpc>
            </a:pPr>
            <a:r>
              <a:rPr lang="fr-CA" altLang="fr-FR" sz="1400">
                <a:solidFill>
                  <a:srgbClr val="FF0000"/>
                </a:solidFill>
              </a:rPr>
              <a:t>A. hépatique commune</a:t>
            </a:r>
          </a:p>
        </p:txBody>
      </p:sp>
      <p:sp>
        <p:nvSpPr>
          <p:cNvPr id="15377" name="Text Box 19"/>
          <p:cNvSpPr txBox="1">
            <a:spLocks noChangeArrowheads="1"/>
          </p:cNvSpPr>
          <p:nvPr/>
        </p:nvSpPr>
        <p:spPr bwMode="auto">
          <a:xfrm>
            <a:off x="496888" y="2366963"/>
            <a:ext cx="1296987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86000"/>
              </a:lnSpc>
            </a:pPr>
            <a:r>
              <a:rPr lang="fr-CA" altLang="fr-FR" sz="1400"/>
              <a:t>A. hépatique propre</a:t>
            </a:r>
          </a:p>
        </p:txBody>
      </p:sp>
      <p:sp>
        <p:nvSpPr>
          <p:cNvPr id="15378" name="Text Box 21"/>
          <p:cNvSpPr txBox="1">
            <a:spLocks noChangeArrowheads="1"/>
          </p:cNvSpPr>
          <p:nvPr/>
        </p:nvSpPr>
        <p:spPr bwMode="auto">
          <a:xfrm>
            <a:off x="403225" y="3219450"/>
            <a:ext cx="17653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6000"/>
              </a:lnSpc>
            </a:pPr>
            <a:r>
              <a:rPr lang="fr-CA" altLang="fr-FR" sz="1400"/>
              <a:t>A. gastrique droite</a:t>
            </a:r>
          </a:p>
        </p:txBody>
      </p:sp>
      <p:sp>
        <p:nvSpPr>
          <p:cNvPr id="15379" name="Text Box 22"/>
          <p:cNvSpPr txBox="1">
            <a:spLocks noChangeArrowheads="1"/>
          </p:cNvSpPr>
          <p:nvPr/>
        </p:nvSpPr>
        <p:spPr bwMode="auto">
          <a:xfrm>
            <a:off x="654050" y="3746500"/>
            <a:ext cx="143033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6000"/>
              </a:lnSpc>
            </a:pPr>
            <a:r>
              <a:rPr lang="fr-CA" altLang="fr-FR" sz="1400" b="0"/>
              <a:t>Vésicule biliaire</a:t>
            </a:r>
          </a:p>
        </p:txBody>
      </p:sp>
      <p:sp>
        <p:nvSpPr>
          <p:cNvPr id="15380" name="Text Box 24"/>
          <p:cNvSpPr txBox="1">
            <a:spLocks noChangeArrowheads="1"/>
          </p:cNvSpPr>
          <p:nvPr/>
        </p:nvSpPr>
        <p:spPr bwMode="auto">
          <a:xfrm>
            <a:off x="533400" y="4392613"/>
            <a:ext cx="1082675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 b="0"/>
              <a:t>Duodénum</a:t>
            </a:r>
          </a:p>
        </p:txBody>
      </p:sp>
      <p:sp>
        <p:nvSpPr>
          <p:cNvPr id="15381" name="Text Box 25"/>
          <p:cNvSpPr txBox="1">
            <a:spLocks noChangeArrowheads="1"/>
          </p:cNvSpPr>
          <p:nvPr/>
        </p:nvSpPr>
        <p:spPr bwMode="auto">
          <a:xfrm>
            <a:off x="339725" y="4940300"/>
            <a:ext cx="16970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/>
              <a:t>Aorte abdominale</a:t>
            </a:r>
          </a:p>
        </p:txBody>
      </p:sp>
      <p:sp>
        <p:nvSpPr>
          <p:cNvPr id="15382" name="Text Box 26"/>
          <p:cNvSpPr txBox="1">
            <a:spLocks noChangeArrowheads="1"/>
          </p:cNvSpPr>
          <p:nvPr/>
        </p:nvSpPr>
        <p:spPr bwMode="auto">
          <a:xfrm>
            <a:off x="7202488" y="1022350"/>
            <a:ext cx="11588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 b="0"/>
              <a:t>Diaphragme</a:t>
            </a:r>
          </a:p>
        </p:txBody>
      </p:sp>
      <p:sp>
        <p:nvSpPr>
          <p:cNvPr id="15383" name="Text Box 27"/>
          <p:cNvSpPr txBox="1">
            <a:spLocks noChangeArrowheads="1"/>
          </p:cNvSpPr>
          <p:nvPr/>
        </p:nvSpPr>
        <p:spPr bwMode="auto">
          <a:xfrm>
            <a:off x="7202488" y="1508125"/>
            <a:ext cx="11001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 b="0"/>
              <a:t>Œsophage </a:t>
            </a:r>
          </a:p>
        </p:txBody>
      </p:sp>
      <p:sp>
        <p:nvSpPr>
          <p:cNvPr id="15384" name="Text Box 28"/>
          <p:cNvSpPr txBox="1">
            <a:spLocks noChangeArrowheads="1"/>
          </p:cNvSpPr>
          <p:nvPr/>
        </p:nvSpPr>
        <p:spPr bwMode="auto">
          <a:xfrm>
            <a:off x="7131050" y="1936750"/>
            <a:ext cx="20129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400">
                <a:solidFill>
                  <a:srgbClr val="FF0000"/>
                </a:solidFill>
              </a:rPr>
              <a:t>A. gastrique gauche</a:t>
            </a:r>
          </a:p>
        </p:txBody>
      </p:sp>
      <p:sp>
        <p:nvSpPr>
          <p:cNvPr id="15385" name="Text Box 29"/>
          <p:cNvSpPr txBox="1">
            <a:spLocks noChangeArrowheads="1"/>
          </p:cNvSpPr>
          <p:nvPr/>
        </p:nvSpPr>
        <p:spPr bwMode="auto">
          <a:xfrm>
            <a:off x="7200900" y="2393950"/>
            <a:ext cx="882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 b="0"/>
              <a:t>Estomac</a:t>
            </a:r>
          </a:p>
        </p:txBody>
      </p:sp>
      <p:sp>
        <p:nvSpPr>
          <p:cNvPr id="15386" name="Text Box 31"/>
          <p:cNvSpPr txBox="1">
            <a:spLocks noChangeArrowheads="1"/>
          </p:cNvSpPr>
          <p:nvPr/>
        </p:nvSpPr>
        <p:spPr bwMode="auto">
          <a:xfrm>
            <a:off x="7202488" y="3343275"/>
            <a:ext cx="7667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 b="0"/>
              <a:t>Rate</a:t>
            </a:r>
          </a:p>
        </p:txBody>
      </p:sp>
      <p:sp>
        <p:nvSpPr>
          <p:cNvPr id="15387" name="Text Box 33"/>
          <p:cNvSpPr txBox="1">
            <a:spLocks noChangeArrowheads="1"/>
          </p:cNvSpPr>
          <p:nvPr/>
        </p:nvSpPr>
        <p:spPr bwMode="auto">
          <a:xfrm>
            <a:off x="6902450" y="4572000"/>
            <a:ext cx="17573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86000"/>
              </a:lnSpc>
            </a:pPr>
            <a:r>
              <a:rPr lang="fr-CA" altLang="fr-FR" sz="1400"/>
              <a:t>A. mésentérique supérieure</a:t>
            </a:r>
          </a:p>
        </p:txBody>
      </p:sp>
      <p:sp>
        <p:nvSpPr>
          <p:cNvPr id="15388" name="Text Box 35"/>
          <p:cNvSpPr txBox="1">
            <a:spLocks noChangeArrowheads="1"/>
          </p:cNvSpPr>
          <p:nvPr/>
        </p:nvSpPr>
        <p:spPr bwMode="auto">
          <a:xfrm>
            <a:off x="7202488" y="2663825"/>
            <a:ext cx="1247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>
                <a:solidFill>
                  <a:srgbClr val="FF0000"/>
                </a:solidFill>
              </a:rPr>
              <a:t>A. splénique</a:t>
            </a:r>
          </a:p>
        </p:txBody>
      </p:sp>
      <p:sp>
        <p:nvSpPr>
          <p:cNvPr id="15389" name="Freeform 36"/>
          <p:cNvSpPr>
            <a:spLocks/>
          </p:cNvSpPr>
          <p:nvPr/>
        </p:nvSpPr>
        <p:spPr bwMode="auto">
          <a:xfrm>
            <a:off x="4295775" y="4260850"/>
            <a:ext cx="2936875" cy="596900"/>
          </a:xfrm>
          <a:custGeom>
            <a:avLst/>
            <a:gdLst>
              <a:gd name="T0" fmla="*/ 2147483647 w 1850"/>
              <a:gd name="T1" fmla="*/ 2147483647 h 376"/>
              <a:gd name="T2" fmla="*/ 2147483647 w 1850"/>
              <a:gd name="T3" fmla="*/ 2147483647 h 376"/>
              <a:gd name="T4" fmla="*/ 0 w 1850"/>
              <a:gd name="T5" fmla="*/ 0 h 376"/>
              <a:gd name="T6" fmla="*/ 0 60000 65536"/>
              <a:gd name="T7" fmla="*/ 0 60000 65536"/>
              <a:gd name="T8" fmla="*/ 0 60000 65536"/>
              <a:gd name="T9" fmla="*/ 0 w 1850"/>
              <a:gd name="T10" fmla="*/ 0 h 376"/>
              <a:gd name="T11" fmla="*/ 1850 w 1850"/>
              <a:gd name="T12" fmla="*/ 376 h 3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50" h="376">
                <a:moveTo>
                  <a:pt x="1850" y="376"/>
                </a:moveTo>
                <a:lnTo>
                  <a:pt x="1624" y="376"/>
                </a:ln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5390" name="Line 38"/>
          <p:cNvSpPr>
            <a:spLocks noChangeShapeType="1"/>
          </p:cNvSpPr>
          <p:nvPr/>
        </p:nvSpPr>
        <p:spPr bwMode="auto">
          <a:xfrm>
            <a:off x="6335713" y="3500438"/>
            <a:ext cx="901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5391" name="Line 40"/>
          <p:cNvSpPr>
            <a:spLocks noChangeShapeType="1"/>
          </p:cNvSpPr>
          <p:nvPr/>
        </p:nvSpPr>
        <p:spPr bwMode="auto">
          <a:xfrm>
            <a:off x="5865813" y="2547938"/>
            <a:ext cx="13795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5392" name="Freeform 41"/>
          <p:cNvSpPr>
            <a:spLocks/>
          </p:cNvSpPr>
          <p:nvPr/>
        </p:nvSpPr>
        <p:spPr bwMode="auto">
          <a:xfrm>
            <a:off x="4430713" y="2830513"/>
            <a:ext cx="2820987" cy="187325"/>
          </a:xfrm>
          <a:custGeom>
            <a:avLst/>
            <a:gdLst>
              <a:gd name="T0" fmla="*/ 2147483647 w 1777"/>
              <a:gd name="T1" fmla="*/ 0 h 154"/>
              <a:gd name="T2" fmla="*/ 2147483647 w 1777"/>
              <a:gd name="T3" fmla="*/ 0 h 154"/>
              <a:gd name="T4" fmla="*/ 0 w 1777"/>
              <a:gd name="T5" fmla="*/ 2147483647 h 154"/>
              <a:gd name="T6" fmla="*/ 0 60000 65536"/>
              <a:gd name="T7" fmla="*/ 0 60000 65536"/>
              <a:gd name="T8" fmla="*/ 0 60000 65536"/>
              <a:gd name="T9" fmla="*/ 0 w 1777"/>
              <a:gd name="T10" fmla="*/ 0 h 154"/>
              <a:gd name="T11" fmla="*/ 1777 w 1777"/>
              <a:gd name="T12" fmla="*/ 154 h 1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77" h="154">
                <a:moveTo>
                  <a:pt x="1777" y="0"/>
                </a:moveTo>
                <a:lnTo>
                  <a:pt x="1408" y="0"/>
                </a:lnTo>
                <a:lnTo>
                  <a:pt x="0" y="154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5393" name="Freeform 42"/>
          <p:cNvSpPr>
            <a:spLocks/>
          </p:cNvSpPr>
          <p:nvPr/>
        </p:nvSpPr>
        <p:spPr bwMode="auto">
          <a:xfrm>
            <a:off x="4522788" y="2128838"/>
            <a:ext cx="2714625" cy="315912"/>
          </a:xfrm>
          <a:custGeom>
            <a:avLst/>
            <a:gdLst>
              <a:gd name="T0" fmla="*/ 0 w 1710"/>
              <a:gd name="T1" fmla="*/ 2147483647 h 199"/>
              <a:gd name="T2" fmla="*/ 2147483647 w 1710"/>
              <a:gd name="T3" fmla="*/ 2147483647 h 199"/>
              <a:gd name="T4" fmla="*/ 2147483647 w 1710"/>
              <a:gd name="T5" fmla="*/ 0 h 199"/>
              <a:gd name="T6" fmla="*/ 0 60000 65536"/>
              <a:gd name="T7" fmla="*/ 0 60000 65536"/>
              <a:gd name="T8" fmla="*/ 0 60000 65536"/>
              <a:gd name="T9" fmla="*/ 0 w 1710"/>
              <a:gd name="T10" fmla="*/ 0 h 199"/>
              <a:gd name="T11" fmla="*/ 1710 w 1710"/>
              <a:gd name="T12" fmla="*/ 199 h 19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10" h="199">
                <a:moveTo>
                  <a:pt x="0" y="199"/>
                </a:moveTo>
                <a:lnTo>
                  <a:pt x="1318" y="3"/>
                </a:lnTo>
                <a:lnTo>
                  <a:pt x="1710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5394" name="Line 43"/>
          <p:cNvSpPr>
            <a:spLocks noChangeShapeType="1"/>
          </p:cNvSpPr>
          <p:nvPr/>
        </p:nvSpPr>
        <p:spPr bwMode="auto">
          <a:xfrm flipV="1">
            <a:off x="4405313" y="2138363"/>
            <a:ext cx="2192337" cy="4397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5395" name="Freeform 44"/>
          <p:cNvSpPr>
            <a:spLocks/>
          </p:cNvSpPr>
          <p:nvPr/>
        </p:nvSpPr>
        <p:spPr bwMode="auto">
          <a:xfrm>
            <a:off x="4672013" y="1676400"/>
            <a:ext cx="2573337" cy="500063"/>
          </a:xfrm>
          <a:custGeom>
            <a:avLst/>
            <a:gdLst>
              <a:gd name="T0" fmla="*/ 0 w 1621"/>
              <a:gd name="T1" fmla="*/ 2147483647 h 315"/>
              <a:gd name="T2" fmla="*/ 2147483647 w 1621"/>
              <a:gd name="T3" fmla="*/ 0 h 315"/>
              <a:gd name="T4" fmla="*/ 2147483647 w 1621"/>
              <a:gd name="T5" fmla="*/ 2147483647 h 315"/>
              <a:gd name="T6" fmla="*/ 0 60000 65536"/>
              <a:gd name="T7" fmla="*/ 0 60000 65536"/>
              <a:gd name="T8" fmla="*/ 0 60000 65536"/>
              <a:gd name="T9" fmla="*/ 0 w 1621"/>
              <a:gd name="T10" fmla="*/ 0 h 315"/>
              <a:gd name="T11" fmla="*/ 1621 w 1621"/>
              <a:gd name="T12" fmla="*/ 315 h 3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21" h="315">
                <a:moveTo>
                  <a:pt x="0" y="315"/>
                </a:moveTo>
                <a:lnTo>
                  <a:pt x="1360" y="0"/>
                </a:lnTo>
                <a:lnTo>
                  <a:pt x="1621" y="4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5396" name="Freeform 45"/>
          <p:cNvSpPr>
            <a:spLocks/>
          </p:cNvSpPr>
          <p:nvPr/>
        </p:nvSpPr>
        <p:spPr bwMode="auto">
          <a:xfrm>
            <a:off x="6038850" y="1181100"/>
            <a:ext cx="1211263" cy="584200"/>
          </a:xfrm>
          <a:custGeom>
            <a:avLst/>
            <a:gdLst>
              <a:gd name="T0" fmla="*/ 0 w 763"/>
              <a:gd name="T1" fmla="*/ 2147483647 h 368"/>
              <a:gd name="T2" fmla="*/ 2147483647 w 763"/>
              <a:gd name="T3" fmla="*/ 0 h 368"/>
              <a:gd name="T4" fmla="*/ 2147483647 w 763"/>
              <a:gd name="T5" fmla="*/ 0 h 368"/>
              <a:gd name="T6" fmla="*/ 0 60000 65536"/>
              <a:gd name="T7" fmla="*/ 0 60000 65536"/>
              <a:gd name="T8" fmla="*/ 0 60000 65536"/>
              <a:gd name="T9" fmla="*/ 0 w 763"/>
              <a:gd name="T10" fmla="*/ 0 h 368"/>
              <a:gd name="T11" fmla="*/ 763 w 763"/>
              <a:gd name="T12" fmla="*/ 368 h 3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63" h="368">
                <a:moveTo>
                  <a:pt x="0" y="368"/>
                </a:moveTo>
                <a:lnTo>
                  <a:pt x="501" y="0"/>
                </a:lnTo>
                <a:lnTo>
                  <a:pt x="763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5397" name="Rectangle 46"/>
          <p:cNvSpPr>
            <a:spLocks noChangeArrowheads="1"/>
          </p:cNvSpPr>
          <p:nvPr/>
        </p:nvSpPr>
        <p:spPr bwMode="auto">
          <a:xfrm>
            <a:off x="501650" y="5334000"/>
            <a:ext cx="3048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CA" altLang="fr-FR"/>
          </a:p>
        </p:txBody>
      </p:sp>
      <p:sp>
        <p:nvSpPr>
          <p:cNvPr id="15407" name="Text Box 34"/>
          <p:cNvSpPr txBox="1">
            <a:spLocks noChangeArrowheads="1"/>
          </p:cNvSpPr>
          <p:nvPr/>
        </p:nvSpPr>
        <p:spPr bwMode="auto">
          <a:xfrm>
            <a:off x="134938" y="5561112"/>
            <a:ext cx="87471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1166813" indent="-1166813">
              <a:defRPr/>
            </a:pPr>
            <a:r>
              <a:rPr lang="fr-CA" altLang="fr-FR" sz="1400" b="0" dirty="0">
                <a:solidFill>
                  <a:srgbClr val="0000FF"/>
                </a:solidFill>
                <a:latin typeface="+mn-lt"/>
              </a:rPr>
              <a:t>Fig. 14.26b Tronc cœliaque et ses principales ramifications. La moitié gauche du foie n’est pas illustrée.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53" descr="figure_19_24d_unlabel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68"/>
          <a:stretch>
            <a:fillRect/>
          </a:stretch>
        </p:blipFill>
        <p:spPr bwMode="auto">
          <a:xfrm>
            <a:off x="280988" y="558800"/>
            <a:ext cx="8597900" cy="592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Rectangle 4"/>
          <p:cNvSpPr>
            <a:spLocks noChangeArrowheads="1"/>
          </p:cNvSpPr>
          <p:nvPr/>
        </p:nvSpPr>
        <p:spPr bwMode="auto">
          <a:xfrm>
            <a:off x="360363" y="1031875"/>
            <a:ext cx="15446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/>
              <a:t>Tronc cœliaque</a:t>
            </a:r>
          </a:p>
        </p:txBody>
      </p:sp>
      <p:sp>
        <p:nvSpPr>
          <p:cNvPr id="16388" name="Rectangle 5"/>
          <p:cNvSpPr>
            <a:spLocks noChangeArrowheads="1"/>
          </p:cNvSpPr>
          <p:nvPr/>
        </p:nvSpPr>
        <p:spPr bwMode="auto">
          <a:xfrm>
            <a:off x="577850" y="1401763"/>
            <a:ext cx="2422525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fr-CA" altLang="fr-FR" sz="1400">
                <a:solidFill>
                  <a:srgbClr val="FF0000"/>
                </a:solidFill>
              </a:rPr>
              <a:t>A. mésentérique supérieure</a:t>
            </a:r>
          </a:p>
        </p:txBody>
      </p:sp>
      <p:sp>
        <p:nvSpPr>
          <p:cNvPr id="17415" name="Rectangle 6"/>
          <p:cNvSpPr>
            <a:spLocks noChangeArrowheads="1"/>
          </p:cNvSpPr>
          <p:nvPr/>
        </p:nvSpPr>
        <p:spPr bwMode="auto">
          <a:xfrm>
            <a:off x="595313" y="2717800"/>
            <a:ext cx="1309687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  <a:defRPr/>
            </a:pPr>
            <a:r>
              <a:rPr lang="fr-CA" altLang="fr-FR" sz="1400" b="0" dirty="0">
                <a:solidFill>
                  <a:srgbClr val="FF0000"/>
                </a:solidFill>
                <a:latin typeface="+mn-lt"/>
              </a:rPr>
              <a:t>Ramifications de l’artère mésentérique supérieure</a:t>
            </a:r>
          </a:p>
        </p:txBody>
      </p:sp>
      <p:sp>
        <p:nvSpPr>
          <p:cNvPr id="16390" name="Rectangle 11"/>
          <p:cNvSpPr>
            <a:spLocks noChangeArrowheads="1"/>
          </p:cNvSpPr>
          <p:nvPr/>
        </p:nvSpPr>
        <p:spPr bwMode="auto">
          <a:xfrm>
            <a:off x="376238" y="3767138"/>
            <a:ext cx="15287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 b="0"/>
              <a:t>Côlon ascendant</a:t>
            </a:r>
          </a:p>
        </p:txBody>
      </p:sp>
      <p:sp>
        <p:nvSpPr>
          <p:cNvPr id="16391" name="Rectangle 12"/>
          <p:cNvSpPr>
            <a:spLocks noChangeArrowheads="1"/>
          </p:cNvSpPr>
          <p:nvPr/>
        </p:nvSpPr>
        <p:spPr bwMode="auto">
          <a:xfrm>
            <a:off x="233363" y="4073525"/>
            <a:ext cx="226218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sz="1400"/>
              <a:t>A. iliaque commune droite</a:t>
            </a:r>
          </a:p>
        </p:txBody>
      </p:sp>
      <p:sp>
        <p:nvSpPr>
          <p:cNvPr id="16392" name="Rectangle 13"/>
          <p:cNvSpPr>
            <a:spLocks noChangeArrowheads="1"/>
          </p:cNvSpPr>
          <p:nvPr/>
        </p:nvSpPr>
        <p:spPr bwMode="auto">
          <a:xfrm>
            <a:off x="296863" y="4595813"/>
            <a:ext cx="6223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 b="0"/>
              <a:t>Iléum</a:t>
            </a:r>
          </a:p>
        </p:txBody>
      </p:sp>
      <p:sp>
        <p:nvSpPr>
          <p:cNvPr id="16393" name="Rectangle 16"/>
          <p:cNvSpPr>
            <a:spLocks noChangeArrowheads="1"/>
          </p:cNvSpPr>
          <p:nvPr/>
        </p:nvSpPr>
        <p:spPr bwMode="auto">
          <a:xfrm>
            <a:off x="7031038" y="1238250"/>
            <a:ext cx="15382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 b="0"/>
              <a:t>Côlon transverse</a:t>
            </a:r>
          </a:p>
        </p:txBody>
      </p:sp>
      <p:sp>
        <p:nvSpPr>
          <p:cNvPr id="16394" name="Rectangle 17"/>
          <p:cNvSpPr>
            <a:spLocks noChangeArrowheads="1"/>
          </p:cNvSpPr>
          <p:nvPr/>
        </p:nvSpPr>
        <p:spPr bwMode="auto">
          <a:xfrm>
            <a:off x="7080250" y="1766888"/>
            <a:ext cx="16970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/>
              <a:t>Aorte abdominale</a:t>
            </a:r>
          </a:p>
        </p:txBody>
      </p:sp>
      <p:sp>
        <p:nvSpPr>
          <p:cNvPr id="16395" name="Rectangle 18"/>
          <p:cNvSpPr>
            <a:spLocks noChangeArrowheads="1"/>
          </p:cNvSpPr>
          <p:nvPr/>
        </p:nvSpPr>
        <p:spPr bwMode="auto">
          <a:xfrm>
            <a:off x="7061200" y="2116138"/>
            <a:ext cx="162560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sz="1400">
                <a:solidFill>
                  <a:srgbClr val="FF0000"/>
                </a:solidFill>
              </a:rPr>
              <a:t>A. mésentérique inférieure</a:t>
            </a:r>
          </a:p>
        </p:txBody>
      </p:sp>
      <p:sp>
        <p:nvSpPr>
          <p:cNvPr id="17428" name="Rectangle 19"/>
          <p:cNvSpPr>
            <a:spLocks noChangeArrowheads="1"/>
          </p:cNvSpPr>
          <p:nvPr/>
        </p:nvSpPr>
        <p:spPr bwMode="auto">
          <a:xfrm>
            <a:off x="7243763" y="3294063"/>
            <a:ext cx="1371600" cy="86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  <a:defRPr/>
            </a:pPr>
            <a:r>
              <a:rPr lang="fr-CA" altLang="fr-FR" sz="1400" b="0" dirty="0">
                <a:solidFill>
                  <a:srgbClr val="FF0000"/>
                </a:solidFill>
                <a:latin typeface="+mn-lt"/>
              </a:rPr>
              <a:t>Ramifications de l’artère mésentérique inférieure</a:t>
            </a:r>
          </a:p>
        </p:txBody>
      </p:sp>
      <p:sp>
        <p:nvSpPr>
          <p:cNvPr id="16397" name="Rectangle 23"/>
          <p:cNvSpPr>
            <a:spLocks noChangeArrowheads="1"/>
          </p:cNvSpPr>
          <p:nvPr/>
        </p:nvSpPr>
        <p:spPr bwMode="auto">
          <a:xfrm>
            <a:off x="7062788" y="4605338"/>
            <a:ext cx="16271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 b="0"/>
              <a:t>Côlon descendant</a:t>
            </a:r>
          </a:p>
        </p:txBody>
      </p:sp>
      <p:sp>
        <p:nvSpPr>
          <p:cNvPr id="16398" name="Rectangle 25"/>
          <p:cNvSpPr>
            <a:spLocks noChangeArrowheads="1"/>
          </p:cNvSpPr>
          <p:nvPr/>
        </p:nvSpPr>
        <p:spPr bwMode="auto">
          <a:xfrm>
            <a:off x="7072313" y="5405438"/>
            <a:ext cx="8016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 b="0"/>
              <a:t>Rectum</a:t>
            </a:r>
          </a:p>
        </p:txBody>
      </p:sp>
      <p:sp>
        <p:nvSpPr>
          <p:cNvPr id="17435" name="Rectangle 26"/>
          <p:cNvSpPr>
            <a:spLocks noChangeArrowheads="1"/>
          </p:cNvSpPr>
          <p:nvPr/>
        </p:nvSpPr>
        <p:spPr bwMode="auto">
          <a:xfrm>
            <a:off x="608013" y="6225822"/>
            <a:ext cx="6364563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1166813" indent="-1166813">
              <a:lnSpc>
                <a:spcPct val="90000"/>
              </a:lnSpc>
              <a:defRPr/>
            </a:pPr>
            <a:r>
              <a:rPr lang="fr-CA" altLang="fr-FR" sz="1400" b="0" dirty="0">
                <a:solidFill>
                  <a:srgbClr val="0000FF"/>
                </a:solidFill>
                <a:latin typeface="+mn-lt"/>
              </a:rPr>
              <a:t>Fig. 19.26d	Distribution des artères mésentériques supérieure et inférieure.</a:t>
            </a:r>
          </a:p>
          <a:p>
            <a:pPr marL="1166813">
              <a:lnSpc>
                <a:spcPct val="90000"/>
              </a:lnSpc>
              <a:defRPr/>
            </a:pPr>
            <a:r>
              <a:rPr lang="fr-CA" altLang="fr-FR" sz="1400" b="0" dirty="0">
                <a:solidFill>
                  <a:srgbClr val="0000FF"/>
                </a:solidFill>
                <a:latin typeface="+mn-lt"/>
              </a:rPr>
              <a:t>(Le côlon transverse a été replié vers le haut.)</a:t>
            </a:r>
          </a:p>
        </p:txBody>
      </p:sp>
      <p:sp>
        <p:nvSpPr>
          <p:cNvPr id="16400" name="Freeform 27"/>
          <p:cNvSpPr>
            <a:spLocks/>
          </p:cNvSpPr>
          <p:nvPr/>
        </p:nvSpPr>
        <p:spPr bwMode="auto">
          <a:xfrm>
            <a:off x="1828800" y="1193800"/>
            <a:ext cx="2555875" cy="398463"/>
          </a:xfrm>
          <a:custGeom>
            <a:avLst/>
            <a:gdLst>
              <a:gd name="T0" fmla="*/ 0 w 1866"/>
              <a:gd name="T1" fmla="*/ 0 h 230"/>
              <a:gd name="T2" fmla="*/ 2147483647 w 1866"/>
              <a:gd name="T3" fmla="*/ 0 h 230"/>
              <a:gd name="T4" fmla="*/ 2147483647 w 1866"/>
              <a:gd name="T5" fmla="*/ 0 h 230"/>
              <a:gd name="T6" fmla="*/ 2147483647 w 1866"/>
              <a:gd name="T7" fmla="*/ 2147483647 h 230"/>
              <a:gd name="T8" fmla="*/ 0 60000 65536"/>
              <a:gd name="T9" fmla="*/ 0 60000 65536"/>
              <a:gd name="T10" fmla="*/ 0 60000 65536"/>
              <a:gd name="T11" fmla="*/ 0 60000 65536"/>
              <a:gd name="T12" fmla="*/ 0 w 1866"/>
              <a:gd name="T13" fmla="*/ 0 h 230"/>
              <a:gd name="T14" fmla="*/ 1866 w 1866"/>
              <a:gd name="T15" fmla="*/ 230 h 23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66" h="230">
                <a:moveTo>
                  <a:pt x="0" y="0"/>
                </a:moveTo>
                <a:lnTo>
                  <a:pt x="823" y="0"/>
                </a:lnTo>
                <a:lnTo>
                  <a:pt x="1467" y="0"/>
                </a:lnTo>
                <a:lnTo>
                  <a:pt x="1866" y="23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6401" name="Freeform 28"/>
          <p:cNvSpPr>
            <a:spLocks/>
          </p:cNvSpPr>
          <p:nvPr/>
        </p:nvSpPr>
        <p:spPr bwMode="auto">
          <a:xfrm>
            <a:off x="5640388" y="1390650"/>
            <a:ext cx="1433512" cy="1588"/>
          </a:xfrm>
          <a:custGeom>
            <a:avLst/>
            <a:gdLst>
              <a:gd name="T0" fmla="*/ 0 w 903"/>
              <a:gd name="T1" fmla="*/ 0 h 1"/>
              <a:gd name="T2" fmla="*/ 2147483647 w 903"/>
              <a:gd name="T3" fmla="*/ 2147483647 h 1"/>
              <a:gd name="T4" fmla="*/ 0 60000 65536"/>
              <a:gd name="T5" fmla="*/ 0 60000 65536"/>
              <a:gd name="T6" fmla="*/ 0 w 903"/>
              <a:gd name="T7" fmla="*/ 0 h 1"/>
              <a:gd name="T8" fmla="*/ 903 w 903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03" h="1">
                <a:moveTo>
                  <a:pt x="0" y="0"/>
                </a:moveTo>
                <a:lnTo>
                  <a:pt x="903" y="1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6402" name="Line 29"/>
          <p:cNvSpPr>
            <a:spLocks noChangeShapeType="1"/>
          </p:cNvSpPr>
          <p:nvPr/>
        </p:nvSpPr>
        <p:spPr bwMode="auto">
          <a:xfrm>
            <a:off x="4545013" y="1927225"/>
            <a:ext cx="25749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6403" name="Freeform 30"/>
          <p:cNvSpPr>
            <a:spLocks/>
          </p:cNvSpPr>
          <p:nvPr/>
        </p:nvSpPr>
        <p:spPr bwMode="auto">
          <a:xfrm>
            <a:off x="4549775" y="2262188"/>
            <a:ext cx="2532063" cy="928687"/>
          </a:xfrm>
          <a:custGeom>
            <a:avLst/>
            <a:gdLst>
              <a:gd name="T0" fmla="*/ 2147483647 w 1595"/>
              <a:gd name="T1" fmla="*/ 2147483647 h 585"/>
              <a:gd name="T2" fmla="*/ 2147483647 w 1595"/>
              <a:gd name="T3" fmla="*/ 0 h 585"/>
              <a:gd name="T4" fmla="*/ 0 w 1595"/>
              <a:gd name="T5" fmla="*/ 2147483647 h 585"/>
              <a:gd name="T6" fmla="*/ 0 60000 65536"/>
              <a:gd name="T7" fmla="*/ 0 60000 65536"/>
              <a:gd name="T8" fmla="*/ 0 60000 65536"/>
              <a:gd name="T9" fmla="*/ 0 w 1595"/>
              <a:gd name="T10" fmla="*/ 0 h 585"/>
              <a:gd name="T11" fmla="*/ 1595 w 1595"/>
              <a:gd name="T12" fmla="*/ 585 h 58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95" h="585">
                <a:moveTo>
                  <a:pt x="1595" y="1"/>
                </a:moveTo>
                <a:lnTo>
                  <a:pt x="1386" y="0"/>
                </a:lnTo>
                <a:lnTo>
                  <a:pt x="0" y="585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6404" name="Freeform 31"/>
          <p:cNvSpPr>
            <a:spLocks/>
          </p:cNvSpPr>
          <p:nvPr/>
        </p:nvSpPr>
        <p:spPr bwMode="auto">
          <a:xfrm>
            <a:off x="4879975" y="3144838"/>
            <a:ext cx="2201863" cy="366712"/>
          </a:xfrm>
          <a:custGeom>
            <a:avLst/>
            <a:gdLst>
              <a:gd name="T0" fmla="*/ 0 w 1387"/>
              <a:gd name="T1" fmla="*/ 0 h 231"/>
              <a:gd name="T2" fmla="*/ 2147483647 w 1387"/>
              <a:gd name="T3" fmla="*/ 2147483647 h 231"/>
              <a:gd name="T4" fmla="*/ 2147483647 w 1387"/>
              <a:gd name="T5" fmla="*/ 2147483647 h 231"/>
              <a:gd name="T6" fmla="*/ 0 60000 65536"/>
              <a:gd name="T7" fmla="*/ 0 60000 65536"/>
              <a:gd name="T8" fmla="*/ 0 60000 65536"/>
              <a:gd name="T9" fmla="*/ 0 w 1387"/>
              <a:gd name="T10" fmla="*/ 0 h 231"/>
              <a:gd name="T11" fmla="*/ 1387 w 1387"/>
              <a:gd name="T12" fmla="*/ 231 h 23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87" h="231">
                <a:moveTo>
                  <a:pt x="0" y="0"/>
                </a:moveTo>
                <a:lnTo>
                  <a:pt x="1203" y="229"/>
                </a:lnTo>
                <a:lnTo>
                  <a:pt x="1387" y="231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6405" name="Freeform 32"/>
          <p:cNvSpPr>
            <a:spLocks/>
          </p:cNvSpPr>
          <p:nvPr/>
        </p:nvSpPr>
        <p:spPr bwMode="auto">
          <a:xfrm>
            <a:off x="5133975" y="3751263"/>
            <a:ext cx="1963738" cy="44450"/>
          </a:xfrm>
          <a:custGeom>
            <a:avLst/>
            <a:gdLst>
              <a:gd name="T0" fmla="*/ 2147483647 w 1237"/>
              <a:gd name="T1" fmla="*/ 0 h 28"/>
              <a:gd name="T2" fmla="*/ 2147483647 w 1237"/>
              <a:gd name="T3" fmla="*/ 0 h 28"/>
              <a:gd name="T4" fmla="*/ 0 w 1237"/>
              <a:gd name="T5" fmla="*/ 2147483647 h 28"/>
              <a:gd name="T6" fmla="*/ 0 60000 65536"/>
              <a:gd name="T7" fmla="*/ 0 60000 65536"/>
              <a:gd name="T8" fmla="*/ 0 60000 65536"/>
              <a:gd name="T9" fmla="*/ 0 w 1237"/>
              <a:gd name="T10" fmla="*/ 0 h 28"/>
              <a:gd name="T11" fmla="*/ 1237 w 1237"/>
              <a:gd name="T12" fmla="*/ 28 h 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37" h="28">
                <a:moveTo>
                  <a:pt x="1237" y="0"/>
                </a:moveTo>
                <a:lnTo>
                  <a:pt x="1005" y="0"/>
                </a:lnTo>
                <a:lnTo>
                  <a:pt x="0" y="28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6406" name="Freeform 33"/>
          <p:cNvSpPr>
            <a:spLocks/>
          </p:cNvSpPr>
          <p:nvPr/>
        </p:nvSpPr>
        <p:spPr bwMode="auto">
          <a:xfrm>
            <a:off x="5041900" y="3751263"/>
            <a:ext cx="1697038" cy="277812"/>
          </a:xfrm>
          <a:custGeom>
            <a:avLst/>
            <a:gdLst>
              <a:gd name="T0" fmla="*/ 0 w 1069"/>
              <a:gd name="T1" fmla="*/ 2147483647 h 175"/>
              <a:gd name="T2" fmla="*/ 2147483647 w 1069"/>
              <a:gd name="T3" fmla="*/ 0 h 175"/>
              <a:gd name="T4" fmla="*/ 0 60000 65536"/>
              <a:gd name="T5" fmla="*/ 0 60000 65536"/>
              <a:gd name="T6" fmla="*/ 0 w 1069"/>
              <a:gd name="T7" fmla="*/ 0 h 175"/>
              <a:gd name="T8" fmla="*/ 1069 w 1069"/>
              <a:gd name="T9" fmla="*/ 175 h 1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69" h="175">
                <a:moveTo>
                  <a:pt x="0" y="175"/>
                </a:moveTo>
                <a:lnTo>
                  <a:pt x="1069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6407" name="Freeform 35"/>
          <p:cNvSpPr>
            <a:spLocks/>
          </p:cNvSpPr>
          <p:nvPr/>
        </p:nvSpPr>
        <p:spPr bwMode="auto">
          <a:xfrm>
            <a:off x="4224338" y="4024313"/>
            <a:ext cx="2873375" cy="792162"/>
          </a:xfrm>
          <a:custGeom>
            <a:avLst/>
            <a:gdLst>
              <a:gd name="T0" fmla="*/ 2147483647 w 1810"/>
              <a:gd name="T1" fmla="*/ 0 h 499"/>
              <a:gd name="T2" fmla="*/ 2147483647 w 1810"/>
              <a:gd name="T3" fmla="*/ 0 h 499"/>
              <a:gd name="T4" fmla="*/ 0 w 1810"/>
              <a:gd name="T5" fmla="*/ 2147483647 h 499"/>
              <a:gd name="T6" fmla="*/ 0 60000 65536"/>
              <a:gd name="T7" fmla="*/ 0 60000 65536"/>
              <a:gd name="T8" fmla="*/ 0 60000 65536"/>
              <a:gd name="T9" fmla="*/ 0 w 1810"/>
              <a:gd name="T10" fmla="*/ 0 h 499"/>
              <a:gd name="T11" fmla="*/ 1810 w 1810"/>
              <a:gd name="T12" fmla="*/ 499 h 49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10" h="499">
                <a:moveTo>
                  <a:pt x="1810" y="0"/>
                </a:moveTo>
                <a:lnTo>
                  <a:pt x="1611" y="0"/>
                </a:lnTo>
                <a:lnTo>
                  <a:pt x="0" y="499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6408" name="Freeform 36"/>
          <p:cNvSpPr>
            <a:spLocks/>
          </p:cNvSpPr>
          <p:nvPr/>
        </p:nvSpPr>
        <p:spPr bwMode="auto">
          <a:xfrm>
            <a:off x="4440238" y="4451350"/>
            <a:ext cx="211137" cy="204788"/>
          </a:xfrm>
          <a:custGeom>
            <a:avLst/>
            <a:gdLst>
              <a:gd name="T0" fmla="*/ 2147483647 w 133"/>
              <a:gd name="T1" fmla="*/ 2147483647 h 129"/>
              <a:gd name="T2" fmla="*/ 0 w 133"/>
              <a:gd name="T3" fmla="*/ 0 h 129"/>
              <a:gd name="T4" fmla="*/ 0 60000 65536"/>
              <a:gd name="T5" fmla="*/ 0 60000 65536"/>
              <a:gd name="T6" fmla="*/ 0 w 133"/>
              <a:gd name="T7" fmla="*/ 0 h 129"/>
              <a:gd name="T8" fmla="*/ 133 w 133"/>
              <a:gd name="T9" fmla="*/ 129 h 12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33" h="129">
                <a:moveTo>
                  <a:pt x="133" y="129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6409" name="Freeform 37"/>
          <p:cNvSpPr>
            <a:spLocks/>
          </p:cNvSpPr>
          <p:nvPr/>
        </p:nvSpPr>
        <p:spPr bwMode="auto">
          <a:xfrm>
            <a:off x="868363" y="4541838"/>
            <a:ext cx="2636837" cy="236537"/>
          </a:xfrm>
          <a:custGeom>
            <a:avLst/>
            <a:gdLst>
              <a:gd name="T0" fmla="*/ 2147483647 w 1661"/>
              <a:gd name="T1" fmla="*/ 0 h 149"/>
              <a:gd name="T2" fmla="*/ 2147483647 w 1661"/>
              <a:gd name="T3" fmla="*/ 2147483647 h 149"/>
              <a:gd name="T4" fmla="*/ 0 w 1661"/>
              <a:gd name="T5" fmla="*/ 2147483647 h 149"/>
              <a:gd name="T6" fmla="*/ 0 60000 65536"/>
              <a:gd name="T7" fmla="*/ 0 60000 65536"/>
              <a:gd name="T8" fmla="*/ 0 60000 65536"/>
              <a:gd name="T9" fmla="*/ 0 w 1661"/>
              <a:gd name="T10" fmla="*/ 0 h 149"/>
              <a:gd name="T11" fmla="*/ 1661 w 1661"/>
              <a:gd name="T12" fmla="*/ 149 h 14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61" h="149">
                <a:moveTo>
                  <a:pt x="1661" y="0"/>
                </a:moveTo>
                <a:lnTo>
                  <a:pt x="1334" y="148"/>
                </a:lnTo>
                <a:lnTo>
                  <a:pt x="0" y="149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6410" name="Freeform 38"/>
          <p:cNvSpPr>
            <a:spLocks/>
          </p:cNvSpPr>
          <p:nvPr/>
        </p:nvSpPr>
        <p:spPr bwMode="auto">
          <a:xfrm>
            <a:off x="2060575" y="4214813"/>
            <a:ext cx="2116138" cy="1587"/>
          </a:xfrm>
          <a:custGeom>
            <a:avLst/>
            <a:gdLst>
              <a:gd name="T0" fmla="*/ 0 w 1333"/>
              <a:gd name="T1" fmla="*/ 0 h 1"/>
              <a:gd name="T2" fmla="*/ 2147483647 w 1333"/>
              <a:gd name="T3" fmla="*/ 2147483647 h 1"/>
              <a:gd name="T4" fmla="*/ 0 60000 65536"/>
              <a:gd name="T5" fmla="*/ 0 60000 65536"/>
              <a:gd name="T6" fmla="*/ 0 w 1333"/>
              <a:gd name="T7" fmla="*/ 0 h 1"/>
              <a:gd name="T8" fmla="*/ 1333 w 1333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333" h="1">
                <a:moveTo>
                  <a:pt x="0" y="0"/>
                </a:moveTo>
                <a:lnTo>
                  <a:pt x="1333" y="1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6411" name="Freeform 39"/>
          <p:cNvSpPr>
            <a:spLocks/>
          </p:cNvSpPr>
          <p:nvPr/>
        </p:nvSpPr>
        <p:spPr bwMode="auto">
          <a:xfrm>
            <a:off x="1825625" y="3937000"/>
            <a:ext cx="806450" cy="4763"/>
          </a:xfrm>
          <a:custGeom>
            <a:avLst/>
            <a:gdLst>
              <a:gd name="T0" fmla="*/ 0 w 508"/>
              <a:gd name="T1" fmla="*/ 0 h 3"/>
              <a:gd name="T2" fmla="*/ 2147483647 w 508"/>
              <a:gd name="T3" fmla="*/ 2147483647 h 3"/>
              <a:gd name="T4" fmla="*/ 0 60000 65536"/>
              <a:gd name="T5" fmla="*/ 0 60000 65536"/>
              <a:gd name="T6" fmla="*/ 0 w 508"/>
              <a:gd name="T7" fmla="*/ 0 h 3"/>
              <a:gd name="T8" fmla="*/ 508 w 508"/>
              <a:gd name="T9" fmla="*/ 3 h 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08" h="3">
                <a:moveTo>
                  <a:pt x="0" y="0"/>
                </a:moveTo>
                <a:lnTo>
                  <a:pt x="508" y="3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6412" name="Freeform 40"/>
          <p:cNvSpPr>
            <a:spLocks/>
          </p:cNvSpPr>
          <p:nvPr/>
        </p:nvSpPr>
        <p:spPr bwMode="auto">
          <a:xfrm>
            <a:off x="1978025" y="3221038"/>
            <a:ext cx="2212975" cy="350837"/>
          </a:xfrm>
          <a:custGeom>
            <a:avLst/>
            <a:gdLst>
              <a:gd name="T0" fmla="*/ 0 w 1532"/>
              <a:gd name="T1" fmla="*/ 2147483647 h 221"/>
              <a:gd name="T2" fmla="*/ 2147483647 w 1532"/>
              <a:gd name="T3" fmla="*/ 2147483647 h 221"/>
              <a:gd name="T4" fmla="*/ 2147483647 w 1532"/>
              <a:gd name="T5" fmla="*/ 0 h 221"/>
              <a:gd name="T6" fmla="*/ 0 60000 65536"/>
              <a:gd name="T7" fmla="*/ 0 60000 65536"/>
              <a:gd name="T8" fmla="*/ 0 60000 65536"/>
              <a:gd name="T9" fmla="*/ 0 w 1532"/>
              <a:gd name="T10" fmla="*/ 0 h 221"/>
              <a:gd name="T11" fmla="*/ 1532 w 1532"/>
              <a:gd name="T12" fmla="*/ 221 h 22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32" h="221">
                <a:moveTo>
                  <a:pt x="0" y="221"/>
                </a:moveTo>
                <a:lnTo>
                  <a:pt x="518" y="221"/>
                </a:lnTo>
                <a:lnTo>
                  <a:pt x="1532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6413" name="Freeform 41"/>
          <p:cNvSpPr>
            <a:spLocks/>
          </p:cNvSpPr>
          <p:nvPr/>
        </p:nvSpPr>
        <p:spPr bwMode="auto">
          <a:xfrm>
            <a:off x="1968500" y="2927350"/>
            <a:ext cx="1562100" cy="414338"/>
          </a:xfrm>
          <a:custGeom>
            <a:avLst/>
            <a:gdLst>
              <a:gd name="T0" fmla="*/ 0 w 984"/>
              <a:gd name="T1" fmla="*/ 2147483647 h 261"/>
              <a:gd name="T2" fmla="*/ 2147483647 w 984"/>
              <a:gd name="T3" fmla="*/ 2147483647 h 261"/>
              <a:gd name="T4" fmla="*/ 2147483647 w 984"/>
              <a:gd name="T5" fmla="*/ 0 h 261"/>
              <a:gd name="T6" fmla="*/ 0 60000 65536"/>
              <a:gd name="T7" fmla="*/ 0 60000 65536"/>
              <a:gd name="T8" fmla="*/ 0 60000 65536"/>
              <a:gd name="T9" fmla="*/ 0 w 984"/>
              <a:gd name="T10" fmla="*/ 0 h 261"/>
              <a:gd name="T11" fmla="*/ 984 w 984"/>
              <a:gd name="T12" fmla="*/ 261 h 26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84" h="261">
                <a:moveTo>
                  <a:pt x="0" y="260"/>
                </a:moveTo>
                <a:lnTo>
                  <a:pt x="397" y="261"/>
                </a:lnTo>
                <a:lnTo>
                  <a:pt x="984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6414" name="Freeform 42"/>
          <p:cNvSpPr>
            <a:spLocks/>
          </p:cNvSpPr>
          <p:nvPr/>
        </p:nvSpPr>
        <p:spPr bwMode="auto">
          <a:xfrm>
            <a:off x="1978025" y="2463800"/>
            <a:ext cx="2466975" cy="587375"/>
          </a:xfrm>
          <a:custGeom>
            <a:avLst/>
            <a:gdLst>
              <a:gd name="T0" fmla="*/ 0 w 1554"/>
              <a:gd name="T1" fmla="*/ 2147483647 h 370"/>
              <a:gd name="T2" fmla="*/ 2147483647 w 1554"/>
              <a:gd name="T3" fmla="*/ 2147483647 h 370"/>
              <a:gd name="T4" fmla="*/ 2147483647 w 1554"/>
              <a:gd name="T5" fmla="*/ 0 h 370"/>
              <a:gd name="T6" fmla="*/ 0 60000 65536"/>
              <a:gd name="T7" fmla="*/ 0 60000 65536"/>
              <a:gd name="T8" fmla="*/ 0 60000 65536"/>
              <a:gd name="T9" fmla="*/ 0 w 1554"/>
              <a:gd name="T10" fmla="*/ 0 h 370"/>
              <a:gd name="T11" fmla="*/ 1554 w 1554"/>
              <a:gd name="T12" fmla="*/ 370 h 37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54" h="370">
                <a:moveTo>
                  <a:pt x="0" y="370"/>
                </a:moveTo>
                <a:lnTo>
                  <a:pt x="332" y="370"/>
                </a:lnTo>
                <a:lnTo>
                  <a:pt x="1554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6415" name="Freeform 43"/>
          <p:cNvSpPr>
            <a:spLocks/>
          </p:cNvSpPr>
          <p:nvPr/>
        </p:nvSpPr>
        <p:spPr bwMode="auto">
          <a:xfrm>
            <a:off x="2514600" y="2687638"/>
            <a:ext cx="1935163" cy="363537"/>
          </a:xfrm>
          <a:custGeom>
            <a:avLst/>
            <a:gdLst>
              <a:gd name="T0" fmla="*/ 2147483647 w 1219"/>
              <a:gd name="T1" fmla="*/ 0 h 229"/>
              <a:gd name="T2" fmla="*/ 0 w 1219"/>
              <a:gd name="T3" fmla="*/ 2147483647 h 229"/>
              <a:gd name="T4" fmla="*/ 0 60000 65536"/>
              <a:gd name="T5" fmla="*/ 0 60000 65536"/>
              <a:gd name="T6" fmla="*/ 0 w 1219"/>
              <a:gd name="T7" fmla="*/ 0 h 229"/>
              <a:gd name="T8" fmla="*/ 1219 w 1219"/>
              <a:gd name="T9" fmla="*/ 229 h 22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219" h="229">
                <a:moveTo>
                  <a:pt x="1219" y="0"/>
                </a:moveTo>
                <a:lnTo>
                  <a:pt x="0" y="229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6416" name="Freeform 44"/>
          <p:cNvSpPr>
            <a:spLocks/>
          </p:cNvSpPr>
          <p:nvPr/>
        </p:nvSpPr>
        <p:spPr bwMode="auto">
          <a:xfrm>
            <a:off x="1978025" y="2178050"/>
            <a:ext cx="2327275" cy="604838"/>
          </a:xfrm>
          <a:custGeom>
            <a:avLst/>
            <a:gdLst>
              <a:gd name="T0" fmla="*/ 0 w 1400"/>
              <a:gd name="T1" fmla="*/ 2147483647 h 381"/>
              <a:gd name="T2" fmla="*/ 2147483647 w 1400"/>
              <a:gd name="T3" fmla="*/ 2147483647 h 381"/>
              <a:gd name="T4" fmla="*/ 2147483647 w 1400"/>
              <a:gd name="T5" fmla="*/ 0 h 381"/>
              <a:gd name="T6" fmla="*/ 0 60000 65536"/>
              <a:gd name="T7" fmla="*/ 0 60000 65536"/>
              <a:gd name="T8" fmla="*/ 0 60000 65536"/>
              <a:gd name="T9" fmla="*/ 0 w 1400"/>
              <a:gd name="T10" fmla="*/ 0 h 381"/>
              <a:gd name="T11" fmla="*/ 1400 w 1400"/>
              <a:gd name="T12" fmla="*/ 381 h 38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00" h="381">
                <a:moveTo>
                  <a:pt x="0" y="381"/>
                </a:moveTo>
                <a:lnTo>
                  <a:pt x="263" y="381"/>
                </a:lnTo>
                <a:lnTo>
                  <a:pt x="1400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6417" name="Freeform 45"/>
          <p:cNvSpPr>
            <a:spLocks/>
          </p:cNvSpPr>
          <p:nvPr/>
        </p:nvSpPr>
        <p:spPr bwMode="auto">
          <a:xfrm>
            <a:off x="2120900" y="1539875"/>
            <a:ext cx="2309813" cy="487363"/>
          </a:xfrm>
          <a:custGeom>
            <a:avLst/>
            <a:gdLst>
              <a:gd name="T0" fmla="*/ 0 w 1455"/>
              <a:gd name="T1" fmla="*/ 0 h 307"/>
              <a:gd name="T2" fmla="*/ 2147483647 w 1455"/>
              <a:gd name="T3" fmla="*/ 2147483647 h 307"/>
              <a:gd name="T4" fmla="*/ 2147483647 w 1455"/>
              <a:gd name="T5" fmla="*/ 2147483647 h 307"/>
              <a:gd name="T6" fmla="*/ 0 60000 65536"/>
              <a:gd name="T7" fmla="*/ 0 60000 65536"/>
              <a:gd name="T8" fmla="*/ 0 60000 65536"/>
              <a:gd name="T9" fmla="*/ 0 w 1455"/>
              <a:gd name="T10" fmla="*/ 0 h 307"/>
              <a:gd name="T11" fmla="*/ 1455 w 1455"/>
              <a:gd name="T12" fmla="*/ 307 h 3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55" h="307">
                <a:moveTo>
                  <a:pt x="0" y="0"/>
                </a:moveTo>
                <a:lnTo>
                  <a:pt x="1037" y="3"/>
                </a:lnTo>
                <a:lnTo>
                  <a:pt x="1455" y="307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6418" name="Freeform 48"/>
          <p:cNvSpPr>
            <a:spLocks/>
          </p:cNvSpPr>
          <p:nvPr/>
        </p:nvSpPr>
        <p:spPr bwMode="auto">
          <a:xfrm>
            <a:off x="4506913" y="5556250"/>
            <a:ext cx="2592387" cy="1588"/>
          </a:xfrm>
          <a:custGeom>
            <a:avLst/>
            <a:gdLst>
              <a:gd name="T0" fmla="*/ 0 w 1633"/>
              <a:gd name="T1" fmla="*/ 0 h 1"/>
              <a:gd name="T2" fmla="*/ 2147483647 w 1633"/>
              <a:gd name="T3" fmla="*/ 2147483647 h 1"/>
              <a:gd name="T4" fmla="*/ 0 60000 65536"/>
              <a:gd name="T5" fmla="*/ 0 60000 65536"/>
              <a:gd name="T6" fmla="*/ 0 w 1633"/>
              <a:gd name="T7" fmla="*/ 0 h 1"/>
              <a:gd name="T8" fmla="*/ 1633 w 1633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633" h="1">
                <a:moveTo>
                  <a:pt x="0" y="0"/>
                </a:moveTo>
                <a:lnTo>
                  <a:pt x="1633" y="1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6419" name="Freeform 51"/>
          <p:cNvSpPr>
            <a:spLocks/>
          </p:cNvSpPr>
          <p:nvPr/>
        </p:nvSpPr>
        <p:spPr bwMode="auto">
          <a:xfrm>
            <a:off x="6299200" y="4356100"/>
            <a:ext cx="808038" cy="406400"/>
          </a:xfrm>
          <a:custGeom>
            <a:avLst/>
            <a:gdLst>
              <a:gd name="T0" fmla="*/ 0 w 509"/>
              <a:gd name="T1" fmla="*/ 0 h 256"/>
              <a:gd name="T2" fmla="*/ 2147483647 w 509"/>
              <a:gd name="T3" fmla="*/ 2147483647 h 256"/>
              <a:gd name="T4" fmla="*/ 2147483647 w 509"/>
              <a:gd name="T5" fmla="*/ 2147483647 h 256"/>
              <a:gd name="T6" fmla="*/ 0 60000 65536"/>
              <a:gd name="T7" fmla="*/ 0 60000 65536"/>
              <a:gd name="T8" fmla="*/ 0 60000 65536"/>
              <a:gd name="T9" fmla="*/ 0 w 509"/>
              <a:gd name="T10" fmla="*/ 0 h 256"/>
              <a:gd name="T11" fmla="*/ 509 w 509"/>
              <a:gd name="T12" fmla="*/ 256 h 2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09" h="256">
                <a:moveTo>
                  <a:pt x="0" y="0"/>
                </a:moveTo>
                <a:lnTo>
                  <a:pt x="301" y="256"/>
                </a:lnTo>
                <a:lnTo>
                  <a:pt x="509" y="256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6420" name="Rectangle 51"/>
          <p:cNvSpPr>
            <a:spLocks noChangeArrowheads="1"/>
          </p:cNvSpPr>
          <p:nvPr/>
        </p:nvSpPr>
        <p:spPr bwMode="auto">
          <a:xfrm>
            <a:off x="228600" y="6223000"/>
            <a:ext cx="3810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CA" altLang="fr-FR"/>
          </a:p>
        </p:txBody>
      </p:sp>
      <p:sp>
        <p:nvSpPr>
          <p:cNvPr id="16421" name="Left Brace 1"/>
          <p:cNvSpPr>
            <a:spLocks/>
          </p:cNvSpPr>
          <p:nvPr/>
        </p:nvSpPr>
        <p:spPr bwMode="auto">
          <a:xfrm>
            <a:off x="1789113" y="2714625"/>
            <a:ext cx="157162" cy="912813"/>
          </a:xfrm>
          <a:prstGeom prst="leftBrace">
            <a:avLst>
              <a:gd name="adj1" fmla="val 64750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CA" altLang="fr-FR"/>
          </a:p>
        </p:txBody>
      </p:sp>
      <p:sp>
        <p:nvSpPr>
          <p:cNvPr id="16422" name="Left Brace 53"/>
          <p:cNvSpPr>
            <a:spLocks/>
          </p:cNvSpPr>
          <p:nvPr/>
        </p:nvSpPr>
        <p:spPr bwMode="auto">
          <a:xfrm rot="10800000">
            <a:off x="7129463" y="3363913"/>
            <a:ext cx="138112" cy="801687"/>
          </a:xfrm>
          <a:prstGeom prst="leftBrace">
            <a:avLst>
              <a:gd name="adj1" fmla="val 64738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CA" altLang="fr-FR"/>
          </a:p>
        </p:txBody>
      </p:sp>
      <p:sp>
        <p:nvSpPr>
          <p:cNvPr id="16423" name="Rectangle 18"/>
          <p:cNvSpPr>
            <a:spLocks noGrp="1" noChangeArrowheads="1"/>
          </p:cNvSpPr>
          <p:nvPr>
            <p:ph type="title" idx="4294967295"/>
          </p:nvPr>
        </p:nvSpPr>
        <p:spPr>
          <a:xfrm>
            <a:off x="55563" y="76200"/>
            <a:ext cx="3246437" cy="400050"/>
          </a:xfrm>
          <a:noFill/>
        </p:spPr>
        <p:txBody>
          <a:bodyPr lIns="72000" rIns="72000"/>
          <a:lstStyle/>
          <a:p>
            <a:pPr marL="360363" indent="-360363" eaLnBrk="1" hangingPunct="1">
              <a:spcBef>
                <a:spcPct val="0"/>
              </a:spcBef>
            </a:pPr>
            <a:r>
              <a:rPr lang="fr-CA" altLang="fr-FR" b="1"/>
              <a:t>d)	</a:t>
            </a:r>
            <a:r>
              <a:rPr lang="fr-CA" altLang="fr-FR" b="1" u="sng"/>
              <a:t>Artères de l’abdomen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7" name="TextBox 130"/>
          <p:cNvSpPr txBox="1">
            <a:spLocks noChangeArrowheads="1"/>
          </p:cNvSpPr>
          <p:nvPr/>
        </p:nvSpPr>
        <p:spPr bwMode="auto">
          <a:xfrm>
            <a:off x="457200" y="615950"/>
            <a:ext cx="4953000" cy="4070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fr-CA" altLang="fr-FR" sz="1600" b="0" dirty="0"/>
              <a:t>À la hauteur des hanches, chaque artère iliaque commune se divise en deux grandes branches :</a:t>
            </a:r>
          </a:p>
          <a:p>
            <a:pPr marL="174625" indent="-174625">
              <a:spcBef>
                <a:spcPts val="300"/>
              </a:spcBef>
              <a:buSzPct val="120000"/>
              <a:buFont typeface="Arial" charset="0"/>
              <a:buChar char="•"/>
              <a:defRPr/>
            </a:pPr>
            <a:r>
              <a:rPr lang="fr-CA" altLang="fr-FR" sz="1600" dirty="0"/>
              <a:t>L'</a:t>
            </a:r>
            <a:r>
              <a:rPr lang="fr-CA" altLang="fr-FR" sz="1600" i="1" dirty="0"/>
              <a:t>artère iliaque interne</a:t>
            </a:r>
            <a:r>
              <a:rPr lang="fr-CA" altLang="fr-FR" sz="1600" dirty="0"/>
              <a:t> - </a:t>
            </a:r>
            <a:r>
              <a:rPr lang="fr-CA" altLang="fr-FR" sz="1600" b="0" dirty="0"/>
              <a:t>dessert le bassin et les fesses.</a:t>
            </a:r>
          </a:p>
          <a:p>
            <a:pPr marL="174625" indent="-174625">
              <a:spcBef>
                <a:spcPts val="300"/>
              </a:spcBef>
              <a:buSzPct val="120000"/>
              <a:buFont typeface="Arial" charset="0"/>
              <a:buChar char="•"/>
              <a:defRPr/>
            </a:pPr>
            <a:r>
              <a:rPr lang="fr-CA" altLang="fr-FR" sz="1600" dirty="0"/>
              <a:t>L'</a:t>
            </a:r>
            <a:r>
              <a:rPr lang="fr-CA" altLang="fr-FR" sz="1600" i="1" dirty="0"/>
              <a:t>artère iliaque externe</a:t>
            </a:r>
            <a:r>
              <a:rPr lang="fr-CA" altLang="fr-FR" sz="1600" dirty="0"/>
              <a:t> - </a:t>
            </a:r>
            <a:r>
              <a:rPr lang="fr-CA" altLang="fr-FR" sz="1600" b="0" dirty="0"/>
              <a:t>dessert principalement le membre inférieur (cuisse, jambe, pied).</a:t>
            </a:r>
          </a:p>
          <a:p>
            <a:pPr>
              <a:defRPr/>
            </a:pPr>
            <a:endParaRPr lang="fr-CA" altLang="fr-FR" sz="1500" b="0" dirty="0"/>
          </a:p>
          <a:p>
            <a:pPr>
              <a:defRPr/>
            </a:pPr>
            <a:r>
              <a:rPr lang="fr-CA" altLang="fr-FR" sz="1500" b="0" dirty="0"/>
              <a:t>Principales artères qui irriguent les membres inférieurs :</a:t>
            </a:r>
          </a:p>
          <a:p>
            <a:pPr marL="174625" indent="-174625">
              <a:spcBef>
                <a:spcPts val="300"/>
              </a:spcBef>
              <a:buSzPct val="120000"/>
              <a:buFont typeface="Arial" charset="0"/>
              <a:buChar char="•"/>
              <a:defRPr/>
            </a:pPr>
            <a:r>
              <a:rPr lang="fr-CA" altLang="fr-FR" sz="1500" i="1" dirty="0"/>
              <a:t>Artère iliaque externe</a:t>
            </a:r>
            <a:r>
              <a:rPr lang="fr-CA" altLang="fr-FR" sz="1500" dirty="0"/>
              <a:t> – </a:t>
            </a:r>
            <a:r>
              <a:rPr lang="fr-CA" altLang="fr-FR" sz="1500" b="0" dirty="0"/>
              <a:t>naît de l’artère iliaque commune et est située dans le bassin.</a:t>
            </a:r>
          </a:p>
          <a:p>
            <a:pPr marL="174625" indent="-174625">
              <a:spcBef>
                <a:spcPts val="300"/>
              </a:spcBef>
              <a:buSzPct val="120000"/>
              <a:buFont typeface="Arial" charset="0"/>
              <a:buChar char="•"/>
              <a:defRPr/>
            </a:pPr>
            <a:r>
              <a:rPr lang="fr-CA" altLang="fr-FR" sz="1500" i="1" dirty="0"/>
              <a:t>Artère fémorale</a:t>
            </a:r>
            <a:r>
              <a:rPr lang="fr-CA" altLang="fr-FR" sz="1500" dirty="0"/>
              <a:t> – </a:t>
            </a:r>
            <a:r>
              <a:rPr lang="fr-CA" altLang="fr-FR" sz="1500" b="0" dirty="0"/>
              <a:t>naît de l’artère iliaque externe et est située dans la cuisse.</a:t>
            </a:r>
          </a:p>
          <a:p>
            <a:pPr marL="174625" indent="-174625">
              <a:spcBef>
                <a:spcPts val="300"/>
              </a:spcBef>
              <a:buSzPct val="120000"/>
              <a:buFont typeface="Arial" charset="0"/>
              <a:buChar char="•"/>
              <a:defRPr/>
            </a:pPr>
            <a:r>
              <a:rPr lang="fr-CA" altLang="fr-FR" sz="1500" i="1" dirty="0"/>
              <a:t>Artère poplitée</a:t>
            </a:r>
            <a:r>
              <a:rPr lang="fr-CA" altLang="fr-FR" sz="1500" b="0" dirty="0"/>
              <a:t> – naît de l’artère fémorale et est située au niveau du genou.</a:t>
            </a:r>
          </a:p>
          <a:p>
            <a:pPr marL="360363" lvl="1" indent="-185738">
              <a:buSzPct val="90000"/>
              <a:buFont typeface="Wingdings" pitchFamily="2" charset="2"/>
              <a:buChar char="Ø"/>
              <a:defRPr/>
            </a:pPr>
            <a:r>
              <a:rPr lang="fr-CA" altLang="fr-FR" sz="1500" b="0" dirty="0"/>
              <a:t>Se divise en </a:t>
            </a:r>
            <a:r>
              <a:rPr lang="fr-CA" altLang="fr-FR" sz="1500" i="1" dirty="0"/>
              <a:t>artères tibiales antérieure</a:t>
            </a:r>
            <a:r>
              <a:rPr lang="fr-CA" altLang="fr-FR" sz="1500" dirty="0"/>
              <a:t> et </a:t>
            </a:r>
            <a:r>
              <a:rPr lang="fr-CA" altLang="fr-FR" sz="1500" i="1" dirty="0"/>
              <a:t>postérieure</a:t>
            </a:r>
            <a:r>
              <a:rPr lang="fr-CA" altLang="fr-FR" sz="1500" dirty="0"/>
              <a:t> - </a:t>
            </a:r>
            <a:r>
              <a:rPr lang="fr-CA" altLang="fr-FR" sz="1500" b="0" dirty="0"/>
              <a:t>desservent les régions du pied.</a:t>
            </a:r>
            <a:endParaRPr lang="en-CA" altLang="fr-FR" sz="1500" b="0" dirty="0"/>
          </a:p>
        </p:txBody>
      </p:sp>
      <p:pic>
        <p:nvPicPr>
          <p:cNvPr id="17411" name="Picture 3" descr="figure_19_25a_unlabel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62"/>
          <a:stretch>
            <a:fillRect/>
          </a:stretch>
        </p:blipFill>
        <p:spPr bwMode="auto">
          <a:xfrm>
            <a:off x="6065838" y="142875"/>
            <a:ext cx="2554287" cy="643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Rectangle 5"/>
          <p:cNvSpPr>
            <a:spLocks noChangeArrowheads="1"/>
          </p:cNvSpPr>
          <p:nvPr/>
        </p:nvSpPr>
        <p:spPr bwMode="auto">
          <a:xfrm>
            <a:off x="7239000" y="222250"/>
            <a:ext cx="83343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600"/>
              <a:t>Aorte abdominale</a:t>
            </a:r>
          </a:p>
        </p:txBody>
      </p:sp>
      <p:sp>
        <p:nvSpPr>
          <p:cNvPr id="17413" name="Rectangle 6"/>
          <p:cNvSpPr>
            <a:spLocks noChangeArrowheads="1"/>
          </p:cNvSpPr>
          <p:nvPr/>
        </p:nvSpPr>
        <p:spPr bwMode="auto">
          <a:xfrm>
            <a:off x="7115175" y="508000"/>
            <a:ext cx="6254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600"/>
              <a:t>A. glutéale supérieure</a:t>
            </a:r>
          </a:p>
        </p:txBody>
      </p:sp>
      <p:sp>
        <p:nvSpPr>
          <p:cNvPr id="17414" name="Rectangle 7"/>
          <p:cNvSpPr>
            <a:spLocks noChangeArrowheads="1"/>
          </p:cNvSpPr>
          <p:nvPr/>
        </p:nvSpPr>
        <p:spPr bwMode="auto">
          <a:xfrm>
            <a:off x="7429500" y="742950"/>
            <a:ext cx="642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>
                <a:solidFill>
                  <a:srgbClr val="FF0000"/>
                </a:solidFill>
              </a:rPr>
              <a:t>A. iliaque interne</a:t>
            </a:r>
          </a:p>
        </p:txBody>
      </p:sp>
      <p:sp>
        <p:nvSpPr>
          <p:cNvPr id="17415" name="Rectangle 8"/>
          <p:cNvSpPr>
            <a:spLocks noChangeArrowheads="1"/>
          </p:cNvSpPr>
          <p:nvPr/>
        </p:nvSpPr>
        <p:spPr bwMode="auto">
          <a:xfrm>
            <a:off x="8137525" y="946150"/>
            <a:ext cx="103505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>
                <a:solidFill>
                  <a:srgbClr val="FF0000"/>
                </a:solidFill>
              </a:rPr>
              <a:t>A. iliaque commune</a:t>
            </a:r>
          </a:p>
        </p:txBody>
      </p:sp>
      <p:sp>
        <p:nvSpPr>
          <p:cNvPr id="17416" name="Rectangle 9"/>
          <p:cNvSpPr>
            <a:spLocks noChangeArrowheads="1"/>
          </p:cNvSpPr>
          <p:nvPr/>
        </p:nvSpPr>
        <p:spPr bwMode="auto">
          <a:xfrm>
            <a:off x="7889875" y="1258888"/>
            <a:ext cx="684213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600"/>
              <a:t>A. obturatrice</a:t>
            </a:r>
          </a:p>
        </p:txBody>
      </p:sp>
      <p:sp>
        <p:nvSpPr>
          <p:cNvPr id="17417" name="Rectangle 10"/>
          <p:cNvSpPr>
            <a:spLocks noChangeArrowheads="1"/>
          </p:cNvSpPr>
          <p:nvPr/>
        </p:nvSpPr>
        <p:spPr bwMode="auto">
          <a:xfrm>
            <a:off x="7912100" y="1508125"/>
            <a:ext cx="93027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>
                <a:solidFill>
                  <a:srgbClr val="FF0000"/>
                </a:solidFill>
              </a:rPr>
              <a:t>A. iliaque externe</a:t>
            </a:r>
          </a:p>
        </p:txBody>
      </p:sp>
      <p:sp>
        <p:nvSpPr>
          <p:cNvPr id="17418" name="Rectangle 11"/>
          <p:cNvSpPr>
            <a:spLocks noChangeArrowheads="1"/>
          </p:cNvSpPr>
          <p:nvPr/>
        </p:nvSpPr>
        <p:spPr bwMode="auto">
          <a:xfrm>
            <a:off x="7705725" y="2106613"/>
            <a:ext cx="674688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>
                <a:solidFill>
                  <a:srgbClr val="FF0000"/>
                </a:solidFill>
              </a:rPr>
              <a:t>A. fémorale</a:t>
            </a:r>
          </a:p>
        </p:txBody>
      </p:sp>
      <p:sp>
        <p:nvSpPr>
          <p:cNvPr id="17419" name="Rectangle 12"/>
          <p:cNvSpPr>
            <a:spLocks noChangeArrowheads="1"/>
          </p:cNvSpPr>
          <p:nvPr/>
        </p:nvSpPr>
        <p:spPr bwMode="auto">
          <a:xfrm>
            <a:off x="7840663" y="2614613"/>
            <a:ext cx="8667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600"/>
              <a:t>Hiatus de l’adducteur</a:t>
            </a:r>
          </a:p>
        </p:txBody>
      </p:sp>
      <p:sp>
        <p:nvSpPr>
          <p:cNvPr id="17420" name="Rectangle 13"/>
          <p:cNvSpPr>
            <a:spLocks noChangeArrowheads="1"/>
          </p:cNvSpPr>
          <p:nvPr/>
        </p:nvSpPr>
        <p:spPr bwMode="auto">
          <a:xfrm>
            <a:off x="7900988" y="3430588"/>
            <a:ext cx="6445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>
                <a:solidFill>
                  <a:srgbClr val="FF0000"/>
                </a:solidFill>
              </a:rPr>
              <a:t>A. poplitée</a:t>
            </a:r>
          </a:p>
        </p:txBody>
      </p:sp>
      <p:sp>
        <p:nvSpPr>
          <p:cNvPr id="17421" name="Rectangle 14"/>
          <p:cNvSpPr>
            <a:spLocks noChangeArrowheads="1"/>
          </p:cNvSpPr>
          <p:nvPr/>
        </p:nvSpPr>
        <p:spPr bwMode="auto">
          <a:xfrm>
            <a:off x="7893050" y="3833813"/>
            <a:ext cx="10763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>
                <a:solidFill>
                  <a:srgbClr val="FF0000"/>
                </a:solidFill>
              </a:rPr>
              <a:t>A. tibiale postérieure</a:t>
            </a:r>
          </a:p>
        </p:txBody>
      </p:sp>
      <p:sp>
        <p:nvSpPr>
          <p:cNvPr id="17422" name="Rectangle 15"/>
          <p:cNvSpPr>
            <a:spLocks noChangeArrowheads="1"/>
          </p:cNvSpPr>
          <p:nvPr/>
        </p:nvSpPr>
        <p:spPr bwMode="auto">
          <a:xfrm>
            <a:off x="7893050" y="4459288"/>
            <a:ext cx="58102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600"/>
              <a:t>A. fibulaire</a:t>
            </a:r>
          </a:p>
        </p:txBody>
      </p:sp>
      <p:sp>
        <p:nvSpPr>
          <p:cNvPr id="17423" name="Rectangle 16"/>
          <p:cNvSpPr>
            <a:spLocks noChangeArrowheads="1"/>
          </p:cNvSpPr>
          <p:nvPr/>
        </p:nvSpPr>
        <p:spPr bwMode="auto">
          <a:xfrm>
            <a:off x="7893050" y="5084763"/>
            <a:ext cx="89535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600"/>
              <a:t>A. plantaire latérale</a:t>
            </a:r>
          </a:p>
        </p:txBody>
      </p:sp>
      <p:sp>
        <p:nvSpPr>
          <p:cNvPr id="17424" name="Rectangle 17"/>
          <p:cNvSpPr>
            <a:spLocks noChangeArrowheads="1"/>
          </p:cNvSpPr>
          <p:nvPr/>
        </p:nvSpPr>
        <p:spPr bwMode="auto">
          <a:xfrm>
            <a:off x="7893050" y="5522913"/>
            <a:ext cx="91122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600"/>
              <a:t>A. plantaire médiale</a:t>
            </a:r>
          </a:p>
        </p:txBody>
      </p:sp>
      <p:sp>
        <p:nvSpPr>
          <p:cNvPr id="17425" name="Rectangle 18"/>
          <p:cNvSpPr>
            <a:spLocks noChangeArrowheads="1"/>
          </p:cNvSpPr>
          <p:nvPr/>
        </p:nvSpPr>
        <p:spPr bwMode="auto">
          <a:xfrm>
            <a:off x="7891463" y="5880100"/>
            <a:ext cx="78898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600"/>
              <a:t>Arcade plantaire</a:t>
            </a:r>
          </a:p>
        </p:txBody>
      </p:sp>
      <p:sp>
        <p:nvSpPr>
          <p:cNvPr id="17426" name="Rectangle 19"/>
          <p:cNvSpPr>
            <a:spLocks noChangeArrowheads="1"/>
          </p:cNvSpPr>
          <p:nvPr/>
        </p:nvSpPr>
        <p:spPr bwMode="auto">
          <a:xfrm>
            <a:off x="7154863" y="6103938"/>
            <a:ext cx="1035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600"/>
              <a:t>A. métatarsiennes plantaires</a:t>
            </a:r>
          </a:p>
        </p:txBody>
      </p:sp>
      <p:sp>
        <p:nvSpPr>
          <p:cNvPr id="17427" name="Rectangle 20"/>
          <p:cNvSpPr>
            <a:spLocks noChangeArrowheads="1"/>
          </p:cNvSpPr>
          <p:nvPr/>
        </p:nvSpPr>
        <p:spPr bwMode="auto">
          <a:xfrm>
            <a:off x="6157913" y="6096000"/>
            <a:ext cx="954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600"/>
              <a:t>A. métatarsiennes dorsales</a:t>
            </a:r>
          </a:p>
        </p:txBody>
      </p:sp>
      <p:sp>
        <p:nvSpPr>
          <p:cNvPr id="17428" name="Rectangle 21"/>
          <p:cNvSpPr>
            <a:spLocks noChangeArrowheads="1"/>
          </p:cNvSpPr>
          <p:nvPr/>
        </p:nvSpPr>
        <p:spPr bwMode="auto">
          <a:xfrm>
            <a:off x="6069013" y="5716588"/>
            <a:ext cx="82708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600"/>
              <a:t>A. arquée du pied</a:t>
            </a:r>
          </a:p>
        </p:txBody>
      </p:sp>
      <p:sp>
        <p:nvSpPr>
          <p:cNvPr id="17429" name="Rectangle 22"/>
          <p:cNvSpPr>
            <a:spLocks noChangeArrowheads="1"/>
          </p:cNvSpPr>
          <p:nvPr/>
        </p:nvSpPr>
        <p:spPr bwMode="auto">
          <a:xfrm>
            <a:off x="5961063" y="5389563"/>
            <a:ext cx="89535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600"/>
              <a:t>A. plantaire latérale</a:t>
            </a:r>
          </a:p>
        </p:txBody>
      </p:sp>
      <p:sp>
        <p:nvSpPr>
          <p:cNvPr id="17430" name="Rectangle 23"/>
          <p:cNvSpPr>
            <a:spLocks noChangeArrowheads="1"/>
          </p:cNvSpPr>
          <p:nvPr/>
        </p:nvSpPr>
        <p:spPr bwMode="auto">
          <a:xfrm>
            <a:off x="6432550" y="4984750"/>
            <a:ext cx="84772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600"/>
              <a:t>A. dorsale du pied</a:t>
            </a:r>
          </a:p>
        </p:txBody>
      </p:sp>
      <p:sp>
        <p:nvSpPr>
          <p:cNvPr id="17431" name="Rectangle 24"/>
          <p:cNvSpPr>
            <a:spLocks noChangeArrowheads="1"/>
          </p:cNvSpPr>
          <p:nvPr/>
        </p:nvSpPr>
        <p:spPr bwMode="auto">
          <a:xfrm>
            <a:off x="6218238" y="3825875"/>
            <a:ext cx="1020762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>
                <a:solidFill>
                  <a:srgbClr val="FF0000"/>
                </a:solidFill>
              </a:rPr>
              <a:t>A. tibiale antérieure</a:t>
            </a:r>
          </a:p>
        </p:txBody>
      </p:sp>
      <p:sp>
        <p:nvSpPr>
          <p:cNvPr id="17432" name="Rectangle 25"/>
          <p:cNvSpPr>
            <a:spLocks noChangeArrowheads="1"/>
          </p:cNvSpPr>
          <p:nvPr/>
        </p:nvSpPr>
        <p:spPr bwMode="auto">
          <a:xfrm>
            <a:off x="5873750" y="3087688"/>
            <a:ext cx="8509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600"/>
              <a:t>Anastomose artérielle</a:t>
            </a:r>
          </a:p>
        </p:txBody>
      </p:sp>
      <p:sp>
        <p:nvSpPr>
          <p:cNvPr id="17433" name="Rectangle 26"/>
          <p:cNvSpPr>
            <a:spLocks noChangeArrowheads="1"/>
          </p:cNvSpPr>
          <p:nvPr/>
        </p:nvSpPr>
        <p:spPr bwMode="auto">
          <a:xfrm>
            <a:off x="5521325" y="1963738"/>
            <a:ext cx="10033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8000"/>
              </a:lnSpc>
            </a:pPr>
            <a:r>
              <a:rPr lang="fr-CA" altLang="fr-FR" sz="600"/>
              <a:t>A. circonflexe latérale de la cuisse</a:t>
            </a:r>
          </a:p>
        </p:txBody>
      </p:sp>
      <p:sp>
        <p:nvSpPr>
          <p:cNvPr id="17434" name="Rectangle 27"/>
          <p:cNvSpPr>
            <a:spLocks noChangeArrowheads="1"/>
          </p:cNvSpPr>
          <p:nvPr/>
        </p:nvSpPr>
        <p:spPr bwMode="auto">
          <a:xfrm>
            <a:off x="5502275" y="1495425"/>
            <a:ext cx="1000125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8000"/>
              </a:lnSpc>
            </a:pPr>
            <a:r>
              <a:rPr lang="fr-CA" altLang="fr-FR" sz="600"/>
              <a:t>A. circonflexe médiale de la cuisse</a:t>
            </a:r>
          </a:p>
        </p:txBody>
      </p:sp>
      <p:sp>
        <p:nvSpPr>
          <p:cNvPr id="17435" name="Rectangle 28"/>
          <p:cNvSpPr>
            <a:spLocks noChangeArrowheads="1"/>
          </p:cNvSpPr>
          <p:nvPr/>
        </p:nvSpPr>
        <p:spPr bwMode="auto">
          <a:xfrm>
            <a:off x="5608638" y="1247775"/>
            <a:ext cx="9017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600"/>
              <a:t>A. honteuse interne</a:t>
            </a:r>
          </a:p>
        </p:txBody>
      </p:sp>
      <p:sp>
        <p:nvSpPr>
          <p:cNvPr id="17436" name="Rectangle 29"/>
          <p:cNvSpPr>
            <a:spLocks noChangeArrowheads="1"/>
          </p:cNvSpPr>
          <p:nvPr/>
        </p:nvSpPr>
        <p:spPr bwMode="auto">
          <a:xfrm>
            <a:off x="5945188" y="866775"/>
            <a:ext cx="771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600"/>
              <a:t>A. glutéale inférieure</a:t>
            </a:r>
          </a:p>
        </p:txBody>
      </p:sp>
      <p:sp>
        <p:nvSpPr>
          <p:cNvPr id="17437" name="Line 30"/>
          <p:cNvSpPr>
            <a:spLocks noChangeShapeType="1"/>
          </p:cNvSpPr>
          <p:nvPr/>
        </p:nvSpPr>
        <p:spPr bwMode="auto">
          <a:xfrm>
            <a:off x="7978775" y="314325"/>
            <a:ext cx="196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7438" name="Line 31"/>
          <p:cNvSpPr>
            <a:spLocks noChangeShapeType="1"/>
          </p:cNvSpPr>
          <p:nvPr/>
        </p:nvSpPr>
        <p:spPr bwMode="auto">
          <a:xfrm>
            <a:off x="7464425" y="752475"/>
            <a:ext cx="0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7439" name="Line 32"/>
          <p:cNvSpPr>
            <a:spLocks noChangeShapeType="1"/>
          </p:cNvSpPr>
          <p:nvPr/>
        </p:nvSpPr>
        <p:spPr bwMode="auto">
          <a:xfrm>
            <a:off x="7943850" y="1038225"/>
            <a:ext cx="2508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7440" name="Line 33"/>
          <p:cNvSpPr>
            <a:spLocks noChangeShapeType="1"/>
          </p:cNvSpPr>
          <p:nvPr/>
        </p:nvSpPr>
        <p:spPr bwMode="auto">
          <a:xfrm>
            <a:off x="7623175" y="1035050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7441" name="Freeform 34"/>
          <p:cNvSpPr>
            <a:spLocks/>
          </p:cNvSpPr>
          <p:nvPr/>
        </p:nvSpPr>
        <p:spPr bwMode="auto">
          <a:xfrm>
            <a:off x="6432550" y="958850"/>
            <a:ext cx="460375" cy="285750"/>
          </a:xfrm>
          <a:custGeom>
            <a:avLst/>
            <a:gdLst>
              <a:gd name="T0" fmla="*/ 0 w 290"/>
              <a:gd name="T1" fmla="*/ 0 h 180"/>
              <a:gd name="T2" fmla="*/ 2147483647 w 290"/>
              <a:gd name="T3" fmla="*/ 0 h 180"/>
              <a:gd name="T4" fmla="*/ 2147483647 w 290"/>
              <a:gd name="T5" fmla="*/ 2147483647 h 180"/>
              <a:gd name="T6" fmla="*/ 0 60000 65536"/>
              <a:gd name="T7" fmla="*/ 0 60000 65536"/>
              <a:gd name="T8" fmla="*/ 0 60000 65536"/>
              <a:gd name="T9" fmla="*/ 0 w 290"/>
              <a:gd name="T10" fmla="*/ 0 h 180"/>
              <a:gd name="T11" fmla="*/ 290 w 290"/>
              <a:gd name="T12" fmla="*/ 180 h 1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90" h="180">
                <a:moveTo>
                  <a:pt x="0" y="0"/>
                </a:moveTo>
                <a:lnTo>
                  <a:pt x="28" y="0"/>
                </a:lnTo>
                <a:lnTo>
                  <a:pt x="290" y="18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7442" name="Line 35"/>
          <p:cNvSpPr>
            <a:spLocks noChangeShapeType="1"/>
          </p:cNvSpPr>
          <p:nvPr/>
        </p:nvSpPr>
        <p:spPr bwMode="auto">
          <a:xfrm>
            <a:off x="6432550" y="133985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7443" name="Line 36"/>
          <p:cNvSpPr>
            <a:spLocks noChangeShapeType="1"/>
          </p:cNvSpPr>
          <p:nvPr/>
        </p:nvSpPr>
        <p:spPr bwMode="auto">
          <a:xfrm>
            <a:off x="7299325" y="1339850"/>
            <a:ext cx="66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7444" name="Line 37"/>
          <p:cNvSpPr>
            <a:spLocks noChangeShapeType="1"/>
          </p:cNvSpPr>
          <p:nvPr/>
        </p:nvSpPr>
        <p:spPr bwMode="auto">
          <a:xfrm>
            <a:off x="7283450" y="1676400"/>
            <a:ext cx="0" cy="155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7445" name="Line 38"/>
          <p:cNvSpPr>
            <a:spLocks noChangeShapeType="1"/>
          </p:cNvSpPr>
          <p:nvPr/>
        </p:nvSpPr>
        <p:spPr bwMode="auto">
          <a:xfrm>
            <a:off x="7661275" y="1609725"/>
            <a:ext cx="3079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7446" name="Line 39"/>
          <p:cNvSpPr>
            <a:spLocks noChangeShapeType="1"/>
          </p:cNvSpPr>
          <p:nvPr/>
        </p:nvSpPr>
        <p:spPr bwMode="auto">
          <a:xfrm>
            <a:off x="6400800" y="1587500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7447" name="Line 40"/>
          <p:cNvSpPr>
            <a:spLocks noChangeShapeType="1"/>
          </p:cNvSpPr>
          <p:nvPr/>
        </p:nvSpPr>
        <p:spPr bwMode="auto">
          <a:xfrm>
            <a:off x="6413500" y="2054225"/>
            <a:ext cx="2730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7448" name="Line 41"/>
          <p:cNvSpPr>
            <a:spLocks noChangeShapeType="1"/>
          </p:cNvSpPr>
          <p:nvPr/>
        </p:nvSpPr>
        <p:spPr bwMode="auto">
          <a:xfrm>
            <a:off x="7527925" y="2203450"/>
            <a:ext cx="2476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7449" name="Line 42"/>
          <p:cNvSpPr>
            <a:spLocks noChangeShapeType="1"/>
          </p:cNvSpPr>
          <p:nvPr/>
        </p:nvSpPr>
        <p:spPr bwMode="auto">
          <a:xfrm flipV="1">
            <a:off x="8048625" y="2847975"/>
            <a:ext cx="0" cy="12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7450" name="Freeform 43"/>
          <p:cNvSpPr>
            <a:spLocks/>
          </p:cNvSpPr>
          <p:nvPr/>
        </p:nvSpPr>
        <p:spPr bwMode="auto">
          <a:xfrm>
            <a:off x="6645275" y="2863850"/>
            <a:ext cx="66675" cy="625475"/>
          </a:xfrm>
          <a:custGeom>
            <a:avLst/>
            <a:gdLst>
              <a:gd name="T0" fmla="*/ 2147483647 w 42"/>
              <a:gd name="T1" fmla="*/ 0 h 394"/>
              <a:gd name="T2" fmla="*/ 0 w 42"/>
              <a:gd name="T3" fmla="*/ 0 h 394"/>
              <a:gd name="T4" fmla="*/ 0 w 42"/>
              <a:gd name="T5" fmla="*/ 2147483647 h 394"/>
              <a:gd name="T6" fmla="*/ 2147483647 w 42"/>
              <a:gd name="T7" fmla="*/ 2147483647 h 394"/>
              <a:gd name="T8" fmla="*/ 0 60000 65536"/>
              <a:gd name="T9" fmla="*/ 0 60000 65536"/>
              <a:gd name="T10" fmla="*/ 0 60000 65536"/>
              <a:gd name="T11" fmla="*/ 0 60000 65536"/>
              <a:gd name="T12" fmla="*/ 0 w 42"/>
              <a:gd name="T13" fmla="*/ 0 h 394"/>
              <a:gd name="T14" fmla="*/ 42 w 42"/>
              <a:gd name="T15" fmla="*/ 394 h 39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2" h="394">
                <a:moveTo>
                  <a:pt x="38" y="0"/>
                </a:moveTo>
                <a:lnTo>
                  <a:pt x="0" y="0"/>
                </a:lnTo>
                <a:lnTo>
                  <a:pt x="0" y="394"/>
                </a:lnTo>
                <a:lnTo>
                  <a:pt x="42" y="394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7451" name="Line 44"/>
          <p:cNvSpPr>
            <a:spLocks noChangeShapeType="1"/>
          </p:cNvSpPr>
          <p:nvPr/>
        </p:nvSpPr>
        <p:spPr bwMode="auto">
          <a:xfrm>
            <a:off x="6432550" y="3178175"/>
            <a:ext cx="212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7452" name="Line 45"/>
          <p:cNvSpPr>
            <a:spLocks noChangeShapeType="1"/>
          </p:cNvSpPr>
          <p:nvPr/>
        </p:nvSpPr>
        <p:spPr bwMode="auto">
          <a:xfrm>
            <a:off x="7197725" y="3927475"/>
            <a:ext cx="1079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7453" name="Line 46"/>
          <p:cNvSpPr>
            <a:spLocks noChangeShapeType="1"/>
          </p:cNvSpPr>
          <p:nvPr/>
        </p:nvSpPr>
        <p:spPr bwMode="auto">
          <a:xfrm>
            <a:off x="7527925" y="3527425"/>
            <a:ext cx="4413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7454" name="Line 47"/>
          <p:cNvSpPr>
            <a:spLocks noChangeShapeType="1"/>
          </p:cNvSpPr>
          <p:nvPr/>
        </p:nvSpPr>
        <p:spPr bwMode="auto">
          <a:xfrm>
            <a:off x="7772400" y="3927475"/>
            <a:ext cx="1968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7455" name="Freeform 48"/>
          <p:cNvSpPr>
            <a:spLocks/>
          </p:cNvSpPr>
          <p:nvPr/>
        </p:nvSpPr>
        <p:spPr bwMode="auto">
          <a:xfrm>
            <a:off x="7785100" y="3930650"/>
            <a:ext cx="98425" cy="342900"/>
          </a:xfrm>
          <a:custGeom>
            <a:avLst/>
            <a:gdLst>
              <a:gd name="T0" fmla="*/ 0 w 62"/>
              <a:gd name="T1" fmla="*/ 2147483647 h 216"/>
              <a:gd name="T2" fmla="*/ 2147483647 w 62"/>
              <a:gd name="T3" fmla="*/ 2147483647 h 216"/>
              <a:gd name="T4" fmla="*/ 2147483647 w 62"/>
              <a:gd name="T5" fmla="*/ 0 h 216"/>
              <a:gd name="T6" fmla="*/ 0 60000 65536"/>
              <a:gd name="T7" fmla="*/ 0 60000 65536"/>
              <a:gd name="T8" fmla="*/ 0 60000 65536"/>
              <a:gd name="T9" fmla="*/ 0 w 62"/>
              <a:gd name="T10" fmla="*/ 0 h 216"/>
              <a:gd name="T11" fmla="*/ 62 w 62"/>
              <a:gd name="T12" fmla="*/ 216 h 2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2" h="216">
                <a:moveTo>
                  <a:pt x="0" y="216"/>
                </a:moveTo>
                <a:lnTo>
                  <a:pt x="62" y="216"/>
                </a:lnTo>
                <a:lnTo>
                  <a:pt x="62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7456" name="Line 49"/>
          <p:cNvSpPr>
            <a:spLocks noChangeShapeType="1"/>
          </p:cNvSpPr>
          <p:nvPr/>
        </p:nvSpPr>
        <p:spPr bwMode="auto">
          <a:xfrm>
            <a:off x="7591425" y="4549775"/>
            <a:ext cx="374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7457" name="Line 50"/>
          <p:cNvSpPr>
            <a:spLocks noChangeShapeType="1"/>
          </p:cNvSpPr>
          <p:nvPr/>
        </p:nvSpPr>
        <p:spPr bwMode="auto">
          <a:xfrm>
            <a:off x="7191375" y="5070475"/>
            <a:ext cx="1174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7458" name="Freeform 51"/>
          <p:cNvSpPr>
            <a:spLocks/>
          </p:cNvSpPr>
          <p:nvPr/>
        </p:nvSpPr>
        <p:spPr bwMode="auto">
          <a:xfrm>
            <a:off x="7661275" y="5165725"/>
            <a:ext cx="304800" cy="149225"/>
          </a:xfrm>
          <a:custGeom>
            <a:avLst/>
            <a:gdLst>
              <a:gd name="T0" fmla="*/ 0 w 192"/>
              <a:gd name="T1" fmla="*/ 2147483647 h 94"/>
              <a:gd name="T2" fmla="*/ 2147483647 w 192"/>
              <a:gd name="T3" fmla="*/ 0 h 94"/>
              <a:gd name="T4" fmla="*/ 2147483647 w 192"/>
              <a:gd name="T5" fmla="*/ 0 h 94"/>
              <a:gd name="T6" fmla="*/ 0 60000 65536"/>
              <a:gd name="T7" fmla="*/ 0 60000 65536"/>
              <a:gd name="T8" fmla="*/ 0 60000 65536"/>
              <a:gd name="T9" fmla="*/ 0 w 192"/>
              <a:gd name="T10" fmla="*/ 0 h 94"/>
              <a:gd name="T11" fmla="*/ 192 w 192"/>
              <a:gd name="T12" fmla="*/ 94 h 9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94">
                <a:moveTo>
                  <a:pt x="0" y="94"/>
                </a:moveTo>
                <a:lnTo>
                  <a:pt x="132" y="0"/>
                </a:lnTo>
                <a:lnTo>
                  <a:pt x="192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7459" name="Line 52"/>
          <p:cNvSpPr>
            <a:spLocks noChangeShapeType="1"/>
          </p:cNvSpPr>
          <p:nvPr/>
        </p:nvSpPr>
        <p:spPr bwMode="auto">
          <a:xfrm>
            <a:off x="6765925" y="5489575"/>
            <a:ext cx="5111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7460" name="Line 53"/>
          <p:cNvSpPr>
            <a:spLocks noChangeShapeType="1"/>
          </p:cNvSpPr>
          <p:nvPr/>
        </p:nvSpPr>
        <p:spPr bwMode="auto">
          <a:xfrm>
            <a:off x="7785100" y="5607050"/>
            <a:ext cx="1809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7461" name="Freeform 54"/>
          <p:cNvSpPr>
            <a:spLocks/>
          </p:cNvSpPr>
          <p:nvPr/>
        </p:nvSpPr>
        <p:spPr bwMode="auto">
          <a:xfrm>
            <a:off x="6807200" y="5708650"/>
            <a:ext cx="327025" cy="98425"/>
          </a:xfrm>
          <a:custGeom>
            <a:avLst/>
            <a:gdLst>
              <a:gd name="T0" fmla="*/ 0 w 206"/>
              <a:gd name="T1" fmla="*/ 2147483647 h 62"/>
              <a:gd name="T2" fmla="*/ 2147483647 w 206"/>
              <a:gd name="T3" fmla="*/ 2147483647 h 62"/>
              <a:gd name="T4" fmla="*/ 2147483647 w 206"/>
              <a:gd name="T5" fmla="*/ 0 h 62"/>
              <a:gd name="T6" fmla="*/ 0 60000 65536"/>
              <a:gd name="T7" fmla="*/ 0 60000 65536"/>
              <a:gd name="T8" fmla="*/ 0 60000 65536"/>
              <a:gd name="T9" fmla="*/ 0 w 206"/>
              <a:gd name="T10" fmla="*/ 0 h 62"/>
              <a:gd name="T11" fmla="*/ 206 w 206"/>
              <a:gd name="T12" fmla="*/ 62 h 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6" h="62">
                <a:moveTo>
                  <a:pt x="0" y="62"/>
                </a:moveTo>
                <a:lnTo>
                  <a:pt x="44" y="62"/>
                </a:lnTo>
                <a:lnTo>
                  <a:pt x="206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7462" name="Freeform 55"/>
          <p:cNvSpPr>
            <a:spLocks/>
          </p:cNvSpPr>
          <p:nvPr/>
        </p:nvSpPr>
        <p:spPr bwMode="auto">
          <a:xfrm>
            <a:off x="7575550" y="5889625"/>
            <a:ext cx="384175" cy="82550"/>
          </a:xfrm>
          <a:custGeom>
            <a:avLst/>
            <a:gdLst>
              <a:gd name="T0" fmla="*/ 0 w 242"/>
              <a:gd name="T1" fmla="*/ 0 h 52"/>
              <a:gd name="T2" fmla="*/ 2147483647 w 242"/>
              <a:gd name="T3" fmla="*/ 2147483647 h 52"/>
              <a:gd name="T4" fmla="*/ 2147483647 w 242"/>
              <a:gd name="T5" fmla="*/ 2147483647 h 52"/>
              <a:gd name="T6" fmla="*/ 0 60000 65536"/>
              <a:gd name="T7" fmla="*/ 0 60000 65536"/>
              <a:gd name="T8" fmla="*/ 0 60000 65536"/>
              <a:gd name="T9" fmla="*/ 0 w 242"/>
              <a:gd name="T10" fmla="*/ 0 h 52"/>
              <a:gd name="T11" fmla="*/ 242 w 242"/>
              <a:gd name="T12" fmla="*/ 52 h 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2" h="52">
                <a:moveTo>
                  <a:pt x="0" y="0"/>
                </a:moveTo>
                <a:lnTo>
                  <a:pt x="182" y="52"/>
                </a:lnTo>
                <a:lnTo>
                  <a:pt x="242" y="52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7463" name="Freeform 56"/>
          <p:cNvSpPr>
            <a:spLocks/>
          </p:cNvSpPr>
          <p:nvPr/>
        </p:nvSpPr>
        <p:spPr bwMode="auto">
          <a:xfrm>
            <a:off x="6902450" y="5838825"/>
            <a:ext cx="203200" cy="355600"/>
          </a:xfrm>
          <a:custGeom>
            <a:avLst/>
            <a:gdLst>
              <a:gd name="T0" fmla="*/ 2147483647 w 128"/>
              <a:gd name="T1" fmla="*/ 0 h 224"/>
              <a:gd name="T2" fmla="*/ 2147483647 w 128"/>
              <a:gd name="T3" fmla="*/ 2147483647 h 224"/>
              <a:gd name="T4" fmla="*/ 0 w 128"/>
              <a:gd name="T5" fmla="*/ 2147483647 h 224"/>
              <a:gd name="T6" fmla="*/ 0 60000 65536"/>
              <a:gd name="T7" fmla="*/ 0 60000 65536"/>
              <a:gd name="T8" fmla="*/ 0 60000 65536"/>
              <a:gd name="T9" fmla="*/ 0 w 128"/>
              <a:gd name="T10" fmla="*/ 0 h 224"/>
              <a:gd name="T11" fmla="*/ 128 w 128"/>
              <a:gd name="T12" fmla="*/ 224 h 2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8" h="224">
                <a:moveTo>
                  <a:pt x="128" y="0"/>
                </a:moveTo>
                <a:lnTo>
                  <a:pt x="128" y="224"/>
                </a:lnTo>
                <a:lnTo>
                  <a:pt x="0" y="224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7464" name="Line 57"/>
          <p:cNvSpPr>
            <a:spLocks noChangeShapeType="1"/>
          </p:cNvSpPr>
          <p:nvPr/>
        </p:nvSpPr>
        <p:spPr bwMode="auto">
          <a:xfrm>
            <a:off x="6975475" y="5835650"/>
            <a:ext cx="0" cy="355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7465" name="Freeform 58"/>
          <p:cNvSpPr>
            <a:spLocks/>
          </p:cNvSpPr>
          <p:nvPr/>
        </p:nvSpPr>
        <p:spPr bwMode="auto">
          <a:xfrm>
            <a:off x="7283450" y="5994400"/>
            <a:ext cx="149225" cy="85725"/>
          </a:xfrm>
          <a:custGeom>
            <a:avLst/>
            <a:gdLst>
              <a:gd name="T0" fmla="*/ 2147483647 w 94"/>
              <a:gd name="T1" fmla="*/ 0 h 54"/>
              <a:gd name="T2" fmla="*/ 2147483647 w 94"/>
              <a:gd name="T3" fmla="*/ 2147483647 h 54"/>
              <a:gd name="T4" fmla="*/ 0 w 94"/>
              <a:gd name="T5" fmla="*/ 2147483647 h 54"/>
              <a:gd name="T6" fmla="*/ 0 w 94"/>
              <a:gd name="T7" fmla="*/ 0 h 54"/>
              <a:gd name="T8" fmla="*/ 0 60000 65536"/>
              <a:gd name="T9" fmla="*/ 0 60000 65536"/>
              <a:gd name="T10" fmla="*/ 0 60000 65536"/>
              <a:gd name="T11" fmla="*/ 0 60000 65536"/>
              <a:gd name="T12" fmla="*/ 0 w 94"/>
              <a:gd name="T13" fmla="*/ 0 h 54"/>
              <a:gd name="T14" fmla="*/ 94 w 94"/>
              <a:gd name="T15" fmla="*/ 54 h 5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4" h="54">
                <a:moveTo>
                  <a:pt x="94" y="0"/>
                </a:moveTo>
                <a:lnTo>
                  <a:pt x="94" y="54"/>
                </a:lnTo>
                <a:lnTo>
                  <a:pt x="0" y="54"/>
                </a:ln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7466" name="Line 59"/>
          <p:cNvSpPr>
            <a:spLocks noChangeShapeType="1"/>
          </p:cNvSpPr>
          <p:nvPr/>
        </p:nvSpPr>
        <p:spPr bwMode="auto">
          <a:xfrm>
            <a:off x="7359650" y="6086475"/>
            <a:ext cx="0" cy="69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7467" name="Rectangle 60"/>
          <p:cNvSpPr>
            <a:spLocks noChangeArrowheads="1"/>
          </p:cNvSpPr>
          <p:nvPr/>
        </p:nvSpPr>
        <p:spPr bwMode="auto">
          <a:xfrm>
            <a:off x="7054850" y="1357313"/>
            <a:ext cx="7016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600"/>
              <a:t>A. profonde de la </a:t>
            </a:r>
          </a:p>
          <a:p>
            <a:r>
              <a:rPr lang="fr-CA" altLang="fr-FR" sz="600"/>
              <a:t>cuisse</a:t>
            </a:r>
          </a:p>
        </p:txBody>
      </p:sp>
      <p:sp>
        <p:nvSpPr>
          <p:cNvPr id="17468" name="Rectangle 61"/>
          <p:cNvSpPr>
            <a:spLocks noChangeArrowheads="1"/>
          </p:cNvSpPr>
          <p:nvPr/>
        </p:nvSpPr>
        <p:spPr bwMode="auto">
          <a:xfrm>
            <a:off x="6124575" y="6432550"/>
            <a:ext cx="1524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CA" altLang="fr-FR"/>
          </a:p>
        </p:txBody>
      </p:sp>
      <p:sp>
        <p:nvSpPr>
          <p:cNvPr id="17469" name="Title 1"/>
          <p:cNvSpPr>
            <a:spLocks noGrp="1"/>
          </p:cNvSpPr>
          <p:nvPr>
            <p:ph type="title" idx="4294967295"/>
          </p:nvPr>
        </p:nvSpPr>
        <p:spPr>
          <a:xfrm>
            <a:off x="103188" y="144463"/>
            <a:ext cx="5873750" cy="708025"/>
          </a:xfrm>
        </p:spPr>
        <p:txBody>
          <a:bodyPr lIns="72000" rIns="72000"/>
          <a:lstStyle/>
          <a:p>
            <a:r>
              <a:rPr lang="fr-CA" altLang="fr-FR" b="1"/>
              <a:t>e) </a:t>
            </a:r>
            <a:r>
              <a:rPr lang="fr-CA" altLang="fr-FR" b="1" u="sng"/>
              <a:t>Artères du bassin et des membres inférieurs</a:t>
            </a:r>
            <a:br>
              <a:rPr lang="en-CA" altLang="fr-FR"/>
            </a:br>
            <a:endParaRPr lang="en-US" altLang="fr-FR"/>
          </a:p>
        </p:txBody>
      </p:sp>
      <p:sp>
        <p:nvSpPr>
          <p:cNvPr id="65" name="Rectangle 18"/>
          <p:cNvSpPr txBox="1">
            <a:spLocks noChangeArrowheads="1"/>
          </p:cNvSpPr>
          <p:nvPr/>
        </p:nvSpPr>
        <p:spPr bwMode="auto">
          <a:xfrm>
            <a:off x="2286000" y="6411913"/>
            <a:ext cx="679767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2000" rIns="72000">
            <a:spAutoFit/>
          </a:bodyPr>
          <a:lstStyle>
            <a:lvl1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j-lt"/>
                <a:ea typeface="Arial" charset="0"/>
                <a:cs typeface="+mj-cs"/>
              </a:defRPr>
            </a:lvl1pPr>
            <a:lvl2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algn="l" rtl="0" fontAlgn="base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1079500" indent="-1079500" eaLnBrk="1" hangingPunct="1">
              <a:defRPr/>
            </a:pPr>
            <a:r>
              <a:rPr lang="fr-CA" altLang="fr-FR" sz="1200" b="0" kern="0" dirty="0">
                <a:solidFill>
                  <a:srgbClr val="0000FF"/>
                </a:solidFill>
              </a:rPr>
              <a:t>Figure 19.27a 	Représentation schématiques des artères du bassin et des membres inférieurs.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1140" descr="figure_19_25b-c_unlabel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67"/>
          <a:stretch>
            <a:fillRect/>
          </a:stretch>
        </p:blipFill>
        <p:spPr bwMode="auto">
          <a:xfrm>
            <a:off x="892175" y="420688"/>
            <a:ext cx="6880225" cy="6132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144000" cy="708025"/>
          </a:xfrm>
        </p:spPr>
        <p:txBody>
          <a:bodyPr/>
          <a:lstStyle/>
          <a:p>
            <a:r>
              <a:rPr lang="fr-CA" altLang="fr-FR" b="1"/>
              <a:t>e) </a:t>
            </a:r>
            <a:r>
              <a:rPr lang="fr-CA" altLang="fr-FR" b="1" u="sng"/>
              <a:t>Artères du bassin et des membres inférieurs</a:t>
            </a:r>
            <a:br>
              <a:rPr lang="en-CA" altLang="fr-FR"/>
            </a:br>
            <a:endParaRPr lang="en-US" altLang="fr-FR"/>
          </a:p>
        </p:txBody>
      </p:sp>
      <p:sp>
        <p:nvSpPr>
          <p:cNvPr id="18436" name="Rectangle 1087"/>
          <p:cNvSpPr>
            <a:spLocks noChangeAspect="1" noChangeArrowheads="1"/>
          </p:cNvSpPr>
          <p:nvPr/>
        </p:nvSpPr>
        <p:spPr bwMode="auto">
          <a:xfrm>
            <a:off x="892175" y="609600"/>
            <a:ext cx="18764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>
                <a:solidFill>
                  <a:srgbClr val="FF0000"/>
                </a:solidFill>
              </a:rPr>
              <a:t>A. iliaque commune</a:t>
            </a:r>
          </a:p>
        </p:txBody>
      </p:sp>
      <p:sp>
        <p:nvSpPr>
          <p:cNvPr id="18437" name="Rectangle 1088"/>
          <p:cNvSpPr>
            <a:spLocks noChangeAspect="1" noChangeArrowheads="1"/>
          </p:cNvSpPr>
          <p:nvPr/>
        </p:nvSpPr>
        <p:spPr bwMode="auto">
          <a:xfrm>
            <a:off x="955675" y="820738"/>
            <a:ext cx="1625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>
                <a:solidFill>
                  <a:srgbClr val="FF0000"/>
                </a:solidFill>
              </a:rPr>
              <a:t>A. iliaque interne</a:t>
            </a:r>
          </a:p>
        </p:txBody>
      </p:sp>
      <p:sp>
        <p:nvSpPr>
          <p:cNvPr id="18438" name="Rectangle 1090"/>
          <p:cNvSpPr>
            <a:spLocks noChangeAspect="1" noChangeArrowheads="1"/>
          </p:cNvSpPr>
          <p:nvPr/>
        </p:nvSpPr>
        <p:spPr bwMode="auto">
          <a:xfrm>
            <a:off x="981075" y="1166813"/>
            <a:ext cx="16652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>
                <a:solidFill>
                  <a:srgbClr val="FF0000"/>
                </a:solidFill>
              </a:rPr>
              <a:t>A. iliaque externe</a:t>
            </a:r>
          </a:p>
        </p:txBody>
      </p:sp>
      <p:sp>
        <p:nvSpPr>
          <p:cNvPr id="18439" name="Rectangle 1095"/>
          <p:cNvSpPr>
            <a:spLocks noChangeAspect="1" noChangeArrowheads="1"/>
          </p:cNvSpPr>
          <p:nvPr/>
        </p:nvSpPr>
        <p:spPr bwMode="auto">
          <a:xfrm>
            <a:off x="1144588" y="2643188"/>
            <a:ext cx="11604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>
                <a:solidFill>
                  <a:srgbClr val="FF0000"/>
                </a:solidFill>
              </a:rPr>
              <a:t>A. fémorale</a:t>
            </a:r>
          </a:p>
        </p:txBody>
      </p:sp>
      <p:sp>
        <p:nvSpPr>
          <p:cNvPr id="18441" name="Rectangle 1097"/>
          <p:cNvSpPr>
            <a:spLocks noChangeAspect="1" noChangeArrowheads="1"/>
          </p:cNvSpPr>
          <p:nvPr/>
        </p:nvSpPr>
        <p:spPr bwMode="auto">
          <a:xfrm>
            <a:off x="1190625" y="3273425"/>
            <a:ext cx="10985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>
                <a:solidFill>
                  <a:srgbClr val="FF0000"/>
                </a:solidFill>
              </a:rPr>
              <a:t>A. poplitée</a:t>
            </a:r>
          </a:p>
        </p:txBody>
      </p:sp>
      <p:sp>
        <p:nvSpPr>
          <p:cNvPr id="18442" name="Rectangle 1098"/>
          <p:cNvSpPr>
            <a:spLocks noChangeAspect="1" noChangeArrowheads="1"/>
          </p:cNvSpPr>
          <p:nvPr/>
        </p:nvSpPr>
        <p:spPr bwMode="auto">
          <a:xfrm>
            <a:off x="903288" y="4302125"/>
            <a:ext cx="18462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>
                <a:solidFill>
                  <a:srgbClr val="FF0000"/>
                </a:solidFill>
              </a:rPr>
              <a:t>A. tibiale antérieure</a:t>
            </a:r>
          </a:p>
        </p:txBody>
      </p:sp>
      <p:sp>
        <p:nvSpPr>
          <p:cNvPr id="18443" name="Rectangle 1099"/>
          <p:cNvSpPr>
            <a:spLocks noChangeAspect="1" noChangeArrowheads="1"/>
          </p:cNvSpPr>
          <p:nvPr/>
        </p:nvSpPr>
        <p:spPr bwMode="auto">
          <a:xfrm>
            <a:off x="874713" y="4700588"/>
            <a:ext cx="19542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>
                <a:solidFill>
                  <a:srgbClr val="FF0000"/>
                </a:solidFill>
              </a:rPr>
              <a:t>A. tibiale postérieure</a:t>
            </a:r>
          </a:p>
        </p:txBody>
      </p:sp>
      <p:sp>
        <p:nvSpPr>
          <p:cNvPr id="19479" name="Rectangle 1104"/>
          <p:cNvSpPr>
            <a:spLocks noChangeAspect="1" noChangeArrowheads="1"/>
          </p:cNvSpPr>
          <p:nvPr/>
        </p:nvSpPr>
        <p:spPr bwMode="auto">
          <a:xfrm>
            <a:off x="1978025" y="6294438"/>
            <a:ext cx="17049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fr-CA" altLang="fr-FR" sz="1400" b="0" dirty="0">
                <a:latin typeface="+mn-lt"/>
              </a:rPr>
              <a:t>(b) Face antérieure</a:t>
            </a:r>
          </a:p>
        </p:txBody>
      </p:sp>
      <p:sp>
        <p:nvSpPr>
          <p:cNvPr id="18445" name="Rectangle 1105"/>
          <p:cNvSpPr>
            <a:spLocks noChangeAspect="1" noChangeArrowheads="1"/>
          </p:cNvSpPr>
          <p:nvPr/>
        </p:nvSpPr>
        <p:spPr bwMode="auto">
          <a:xfrm>
            <a:off x="4119563" y="3276600"/>
            <a:ext cx="10985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>
                <a:solidFill>
                  <a:srgbClr val="FF0000"/>
                </a:solidFill>
              </a:rPr>
              <a:t>A. poplitée</a:t>
            </a:r>
          </a:p>
        </p:txBody>
      </p:sp>
      <p:sp>
        <p:nvSpPr>
          <p:cNvPr id="18446" name="Rectangle 1106"/>
          <p:cNvSpPr>
            <a:spLocks noChangeAspect="1" noChangeArrowheads="1"/>
          </p:cNvSpPr>
          <p:nvPr/>
        </p:nvSpPr>
        <p:spPr bwMode="auto">
          <a:xfrm>
            <a:off x="4332288" y="3600450"/>
            <a:ext cx="1236662" cy="43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fr-CA" altLang="fr-FR" sz="1400">
                <a:solidFill>
                  <a:srgbClr val="FF0000"/>
                </a:solidFill>
              </a:rPr>
              <a:t>A. tibiale antérieure</a:t>
            </a:r>
          </a:p>
        </p:txBody>
      </p:sp>
      <p:sp>
        <p:nvSpPr>
          <p:cNvPr id="18447" name="Rectangle 1110"/>
          <p:cNvSpPr>
            <a:spLocks noChangeAspect="1" noChangeArrowheads="1"/>
          </p:cNvSpPr>
          <p:nvPr/>
        </p:nvSpPr>
        <p:spPr bwMode="auto">
          <a:xfrm>
            <a:off x="4338638" y="4114800"/>
            <a:ext cx="12715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fr-CA" altLang="fr-FR" sz="1400">
                <a:solidFill>
                  <a:srgbClr val="FF0000"/>
                </a:solidFill>
              </a:rPr>
              <a:t>A. tibiale postérieure</a:t>
            </a:r>
          </a:p>
        </p:txBody>
      </p:sp>
      <p:sp>
        <p:nvSpPr>
          <p:cNvPr id="19488" name="Rectangle 1113"/>
          <p:cNvSpPr>
            <a:spLocks noChangeAspect="1" noChangeArrowheads="1"/>
          </p:cNvSpPr>
          <p:nvPr/>
        </p:nvSpPr>
        <p:spPr bwMode="auto">
          <a:xfrm>
            <a:off x="4648200" y="6310313"/>
            <a:ext cx="1784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fr-CA" altLang="fr-FR" sz="1400" b="0" dirty="0">
                <a:latin typeface="+mn-lt"/>
              </a:rPr>
              <a:t>(c) Face postérieure</a:t>
            </a:r>
          </a:p>
        </p:txBody>
      </p:sp>
      <p:sp>
        <p:nvSpPr>
          <p:cNvPr id="18449" name="Line 1114"/>
          <p:cNvSpPr>
            <a:spLocks noChangeAspect="1" noChangeShapeType="1"/>
          </p:cNvSpPr>
          <p:nvPr/>
        </p:nvSpPr>
        <p:spPr bwMode="auto">
          <a:xfrm>
            <a:off x="2700338" y="811213"/>
            <a:ext cx="14430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8450" name="Freeform 1115"/>
          <p:cNvSpPr>
            <a:spLocks noChangeAspect="1"/>
          </p:cNvSpPr>
          <p:nvPr/>
        </p:nvSpPr>
        <p:spPr bwMode="auto">
          <a:xfrm>
            <a:off x="2520950" y="985838"/>
            <a:ext cx="1543050" cy="114300"/>
          </a:xfrm>
          <a:custGeom>
            <a:avLst/>
            <a:gdLst>
              <a:gd name="T0" fmla="*/ 0 w 1022"/>
              <a:gd name="T1" fmla="*/ 0 h 76"/>
              <a:gd name="T2" fmla="*/ 2147483647 w 1022"/>
              <a:gd name="T3" fmla="*/ 0 h 76"/>
              <a:gd name="T4" fmla="*/ 2147483647 w 1022"/>
              <a:gd name="T5" fmla="*/ 2147483647 h 76"/>
              <a:gd name="T6" fmla="*/ 0 60000 65536"/>
              <a:gd name="T7" fmla="*/ 0 60000 65536"/>
              <a:gd name="T8" fmla="*/ 0 60000 65536"/>
              <a:gd name="T9" fmla="*/ 0 w 1022"/>
              <a:gd name="T10" fmla="*/ 0 h 76"/>
              <a:gd name="T11" fmla="*/ 1022 w 1022"/>
              <a:gd name="T12" fmla="*/ 76 h 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22" h="76">
                <a:moveTo>
                  <a:pt x="0" y="0"/>
                </a:moveTo>
                <a:lnTo>
                  <a:pt x="916" y="0"/>
                </a:lnTo>
                <a:lnTo>
                  <a:pt x="1022" y="76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8451" name="Freeform 1117"/>
          <p:cNvSpPr>
            <a:spLocks noChangeAspect="1"/>
          </p:cNvSpPr>
          <p:nvPr/>
        </p:nvSpPr>
        <p:spPr bwMode="auto">
          <a:xfrm>
            <a:off x="2589213" y="1233488"/>
            <a:ext cx="1314450" cy="109537"/>
          </a:xfrm>
          <a:custGeom>
            <a:avLst/>
            <a:gdLst>
              <a:gd name="T0" fmla="*/ 0 w 870"/>
              <a:gd name="T1" fmla="*/ 2147483647 h 72"/>
              <a:gd name="T2" fmla="*/ 2147483647 w 870"/>
              <a:gd name="T3" fmla="*/ 2147483647 h 72"/>
              <a:gd name="T4" fmla="*/ 2147483647 w 870"/>
              <a:gd name="T5" fmla="*/ 0 h 72"/>
              <a:gd name="T6" fmla="*/ 0 60000 65536"/>
              <a:gd name="T7" fmla="*/ 0 60000 65536"/>
              <a:gd name="T8" fmla="*/ 0 60000 65536"/>
              <a:gd name="T9" fmla="*/ 0 w 870"/>
              <a:gd name="T10" fmla="*/ 0 h 72"/>
              <a:gd name="T11" fmla="*/ 870 w 870"/>
              <a:gd name="T12" fmla="*/ 72 h 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70" h="72">
                <a:moveTo>
                  <a:pt x="0" y="70"/>
                </a:moveTo>
                <a:lnTo>
                  <a:pt x="204" y="72"/>
                </a:lnTo>
                <a:lnTo>
                  <a:pt x="870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8452" name="Freeform 1122"/>
          <p:cNvSpPr>
            <a:spLocks noChangeAspect="1"/>
          </p:cNvSpPr>
          <p:nvPr/>
        </p:nvSpPr>
        <p:spPr bwMode="auto">
          <a:xfrm>
            <a:off x="2230438" y="2632075"/>
            <a:ext cx="1462087" cy="193675"/>
          </a:xfrm>
          <a:custGeom>
            <a:avLst/>
            <a:gdLst>
              <a:gd name="T0" fmla="*/ 0 w 968"/>
              <a:gd name="T1" fmla="*/ 2147483647 h 128"/>
              <a:gd name="T2" fmla="*/ 2147483647 w 968"/>
              <a:gd name="T3" fmla="*/ 2147483647 h 128"/>
              <a:gd name="T4" fmla="*/ 2147483647 w 968"/>
              <a:gd name="T5" fmla="*/ 0 h 128"/>
              <a:gd name="T6" fmla="*/ 0 60000 65536"/>
              <a:gd name="T7" fmla="*/ 0 60000 65536"/>
              <a:gd name="T8" fmla="*/ 0 60000 65536"/>
              <a:gd name="T9" fmla="*/ 0 w 968"/>
              <a:gd name="T10" fmla="*/ 0 h 128"/>
              <a:gd name="T11" fmla="*/ 968 w 968"/>
              <a:gd name="T12" fmla="*/ 128 h 1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8" h="128">
                <a:moveTo>
                  <a:pt x="0" y="124"/>
                </a:moveTo>
                <a:lnTo>
                  <a:pt x="544" y="128"/>
                </a:lnTo>
                <a:lnTo>
                  <a:pt x="968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8454" name="Line 1124"/>
          <p:cNvSpPr>
            <a:spLocks noChangeAspect="1" noChangeShapeType="1"/>
          </p:cNvSpPr>
          <p:nvPr/>
        </p:nvSpPr>
        <p:spPr bwMode="auto">
          <a:xfrm>
            <a:off x="2244725" y="3433763"/>
            <a:ext cx="1384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8455" name="Line 1125"/>
          <p:cNvSpPr>
            <a:spLocks noChangeAspect="1" noChangeShapeType="1"/>
          </p:cNvSpPr>
          <p:nvPr/>
        </p:nvSpPr>
        <p:spPr bwMode="auto">
          <a:xfrm>
            <a:off x="2705100" y="4475163"/>
            <a:ext cx="7604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8456" name="Line 1126"/>
          <p:cNvSpPr>
            <a:spLocks noChangeAspect="1" noChangeShapeType="1"/>
          </p:cNvSpPr>
          <p:nvPr/>
        </p:nvSpPr>
        <p:spPr bwMode="auto">
          <a:xfrm>
            <a:off x="2789238" y="4872038"/>
            <a:ext cx="7524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8457" name="Line 1132"/>
          <p:cNvSpPr>
            <a:spLocks noChangeAspect="1" noChangeShapeType="1"/>
          </p:cNvSpPr>
          <p:nvPr/>
        </p:nvSpPr>
        <p:spPr bwMode="auto">
          <a:xfrm>
            <a:off x="5314950" y="4343400"/>
            <a:ext cx="317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8458" name="Rectangle 56"/>
          <p:cNvSpPr>
            <a:spLocks noChangeArrowheads="1"/>
          </p:cNvSpPr>
          <p:nvPr/>
        </p:nvSpPr>
        <p:spPr bwMode="auto">
          <a:xfrm>
            <a:off x="4394200" y="6321425"/>
            <a:ext cx="304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CA" altLang="fr-FR"/>
          </a:p>
        </p:txBody>
      </p:sp>
      <p:sp>
        <p:nvSpPr>
          <p:cNvPr id="18459" name="Rectangle 57"/>
          <p:cNvSpPr>
            <a:spLocks noChangeArrowheads="1"/>
          </p:cNvSpPr>
          <p:nvPr/>
        </p:nvSpPr>
        <p:spPr bwMode="auto">
          <a:xfrm>
            <a:off x="1727200" y="6321425"/>
            <a:ext cx="304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CA" altLang="fr-FR"/>
          </a:p>
        </p:txBody>
      </p:sp>
      <p:sp>
        <p:nvSpPr>
          <p:cNvPr id="18460" name="Freeform 1115"/>
          <p:cNvSpPr>
            <a:spLocks noChangeAspect="1"/>
          </p:cNvSpPr>
          <p:nvPr/>
        </p:nvSpPr>
        <p:spPr bwMode="auto">
          <a:xfrm>
            <a:off x="5116513" y="3433763"/>
            <a:ext cx="533400" cy="144462"/>
          </a:xfrm>
          <a:custGeom>
            <a:avLst/>
            <a:gdLst>
              <a:gd name="T0" fmla="*/ 0 w 1022"/>
              <a:gd name="T1" fmla="*/ 0 h 76"/>
              <a:gd name="T2" fmla="*/ 2147483647 w 1022"/>
              <a:gd name="T3" fmla="*/ 0 h 76"/>
              <a:gd name="T4" fmla="*/ 2147483647 w 1022"/>
              <a:gd name="T5" fmla="*/ 2147483647 h 76"/>
              <a:gd name="T6" fmla="*/ 0 60000 65536"/>
              <a:gd name="T7" fmla="*/ 0 60000 65536"/>
              <a:gd name="T8" fmla="*/ 0 60000 65536"/>
              <a:gd name="T9" fmla="*/ 0 w 1022"/>
              <a:gd name="T10" fmla="*/ 0 h 76"/>
              <a:gd name="T11" fmla="*/ 1022 w 1022"/>
              <a:gd name="T12" fmla="*/ 76 h 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22" h="76">
                <a:moveTo>
                  <a:pt x="0" y="0"/>
                </a:moveTo>
                <a:lnTo>
                  <a:pt x="916" y="0"/>
                </a:lnTo>
                <a:lnTo>
                  <a:pt x="1022" y="76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8461" name="Freeform 1122"/>
          <p:cNvSpPr>
            <a:spLocks noChangeAspect="1"/>
          </p:cNvSpPr>
          <p:nvPr/>
        </p:nvSpPr>
        <p:spPr bwMode="auto">
          <a:xfrm flipV="1">
            <a:off x="5314950" y="3836988"/>
            <a:ext cx="439738" cy="47625"/>
          </a:xfrm>
          <a:custGeom>
            <a:avLst/>
            <a:gdLst>
              <a:gd name="T0" fmla="*/ 0 w 968"/>
              <a:gd name="T1" fmla="*/ 2147483647 h 128"/>
              <a:gd name="T2" fmla="*/ 2147483647 w 968"/>
              <a:gd name="T3" fmla="*/ 2147483647 h 128"/>
              <a:gd name="T4" fmla="*/ 2147483647 w 968"/>
              <a:gd name="T5" fmla="*/ 0 h 128"/>
              <a:gd name="T6" fmla="*/ 0 60000 65536"/>
              <a:gd name="T7" fmla="*/ 0 60000 65536"/>
              <a:gd name="T8" fmla="*/ 0 60000 65536"/>
              <a:gd name="T9" fmla="*/ 0 w 968"/>
              <a:gd name="T10" fmla="*/ 0 h 128"/>
              <a:gd name="T11" fmla="*/ 968 w 968"/>
              <a:gd name="T12" fmla="*/ 128 h 1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8" h="128">
                <a:moveTo>
                  <a:pt x="0" y="124"/>
                </a:moveTo>
                <a:lnTo>
                  <a:pt x="544" y="128"/>
                </a:lnTo>
                <a:lnTo>
                  <a:pt x="968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8462" name="Rectangle 131"/>
          <p:cNvSpPr>
            <a:spLocks noChangeArrowheads="1"/>
          </p:cNvSpPr>
          <p:nvPr/>
        </p:nvSpPr>
        <p:spPr bwMode="auto">
          <a:xfrm>
            <a:off x="362114" y="6315544"/>
            <a:ext cx="108234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b="0" dirty="0">
                <a:solidFill>
                  <a:srgbClr val="0000FF"/>
                </a:solidFill>
              </a:rPr>
              <a:t>Figure 19.27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4" descr="figure_19_21a_unlabel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43"/>
          <a:stretch>
            <a:fillRect/>
          </a:stretch>
        </p:blipFill>
        <p:spPr bwMode="auto">
          <a:xfrm>
            <a:off x="1960563" y="169863"/>
            <a:ext cx="6713537" cy="624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Rectangle 5"/>
          <p:cNvSpPr>
            <a:spLocks noChangeArrowheads="1"/>
          </p:cNvSpPr>
          <p:nvPr/>
        </p:nvSpPr>
        <p:spPr bwMode="auto">
          <a:xfrm>
            <a:off x="3578225" y="214313"/>
            <a:ext cx="9064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800"/>
              <a:t>A. carotide externe droite</a:t>
            </a:r>
          </a:p>
        </p:txBody>
      </p:sp>
      <p:sp>
        <p:nvSpPr>
          <p:cNvPr id="19460" name="Rectangle 6"/>
          <p:cNvSpPr>
            <a:spLocks noChangeArrowheads="1"/>
          </p:cNvSpPr>
          <p:nvPr/>
        </p:nvSpPr>
        <p:spPr bwMode="auto">
          <a:xfrm>
            <a:off x="4373563" y="211138"/>
            <a:ext cx="8636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800"/>
              <a:t>A. carotide interne droite</a:t>
            </a:r>
          </a:p>
        </p:txBody>
      </p:sp>
      <p:sp>
        <p:nvSpPr>
          <p:cNvPr id="19461" name="Rectangle 7"/>
          <p:cNvSpPr>
            <a:spLocks noChangeArrowheads="1"/>
          </p:cNvSpPr>
          <p:nvPr/>
        </p:nvSpPr>
        <p:spPr bwMode="auto">
          <a:xfrm>
            <a:off x="5178425" y="228600"/>
            <a:ext cx="8493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/>
              <a:t>A. carotide externe gauche</a:t>
            </a:r>
          </a:p>
        </p:txBody>
      </p:sp>
      <p:sp>
        <p:nvSpPr>
          <p:cNvPr id="19462" name="Rectangle 8"/>
          <p:cNvSpPr>
            <a:spLocks noChangeArrowheads="1"/>
          </p:cNvSpPr>
          <p:nvPr/>
        </p:nvSpPr>
        <p:spPr bwMode="auto">
          <a:xfrm>
            <a:off x="5988050" y="230188"/>
            <a:ext cx="9636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/>
              <a:t>A. carotide interne gauche</a:t>
            </a:r>
          </a:p>
        </p:txBody>
      </p:sp>
      <p:sp>
        <p:nvSpPr>
          <p:cNvPr id="19463" name="Rectangle 9"/>
          <p:cNvSpPr>
            <a:spLocks noChangeArrowheads="1"/>
          </p:cNvSpPr>
          <p:nvPr/>
        </p:nvSpPr>
        <p:spPr bwMode="auto">
          <a:xfrm>
            <a:off x="2790825" y="682625"/>
            <a:ext cx="8556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800"/>
              <a:t>A. vertébrale droite</a:t>
            </a:r>
          </a:p>
        </p:txBody>
      </p:sp>
      <p:sp>
        <p:nvSpPr>
          <p:cNvPr id="19464" name="Rectangle 10"/>
          <p:cNvSpPr>
            <a:spLocks noChangeArrowheads="1"/>
          </p:cNvSpPr>
          <p:nvPr/>
        </p:nvSpPr>
        <p:spPr bwMode="auto">
          <a:xfrm>
            <a:off x="3595688" y="693738"/>
            <a:ext cx="16478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marL="228600" indent="-228600"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800"/>
              <a:t>A. carotide commune droite</a:t>
            </a:r>
          </a:p>
          <a:p>
            <a:r>
              <a:rPr lang="fr-CA" altLang="fr-FR" sz="800"/>
              <a:t>-côté droit de la tête et du cou</a:t>
            </a:r>
          </a:p>
        </p:txBody>
      </p:sp>
      <p:sp>
        <p:nvSpPr>
          <p:cNvPr id="19465" name="Rectangle 11"/>
          <p:cNvSpPr>
            <a:spLocks noChangeArrowheads="1"/>
          </p:cNvSpPr>
          <p:nvPr/>
        </p:nvSpPr>
        <p:spPr bwMode="auto">
          <a:xfrm>
            <a:off x="5267325" y="725488"/>
            <a:ext cx="1412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600"/>
              <a:t>A. carotide commune gauche</a:t>
            </a:r>
          </a:p>
          <a:p>
            <a:r>
              <a:rPr lang="fr-CA" altLang="fr-FR" sz="600"/>
              <a:t>– côté gauche de la tête et du cou</a:t>
            </a:r>
          </a:p>
        </p:txBody>
      </p:sp>
      <p:sp>
        <p:nvSpPr>
          <p:cNvPr id="19466" name="Rectangle 12"/>
          <p:cNvSpPr>
            <a:spLocks noChangeArrowheads="1"/>
          </p:cNvSpPr>
          <p:nvPr/>
        </p:nvSpPr>
        <p:spPr bwMode="auto">
          <a:xfrm>
            <a:off x="6716713" y="682625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800"/>
              <a:t>A. vertébrale gauche</a:t>
            </a:r>
          </a:p>
        </p:txBody>
      </p:sp>
      <p:sp>
        <p:nvSpPr>
          <p:cNvPr id="19467" name="Rectangle 13"/>
          <p:cNvSpPr>
            <a:spLocks noChangeArrowheads="1"/>
          </p:cNvSpPr>
          <p:nvPr/>
        </p:nvSpPr>
        <p:spPr bwMode="auto">
          <a:xfrm>
            <a:off x="1970088" y="1101725"/>
            <a:ext cx="8794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800"/>
              <a:t>A. axillaire droite</a:t>
            </a:r>
          </a:p>
        </p:txBody>
      </p:sp>
      <p:sp>
        <p:nvSpPr>
          <p:cNvPr id="19468" name="Rectangle 14"/>
          <p:cNvSpPr>
            <a:spLocks noChangeArrowheads="1"/>
          </p:cNvSpPr>
          <p:nvPr/>
        </p:nvSpPr>
        <p:spPr bwMode="auto">
          <a:xfrm>
            <a:off x="2808288" y="1185863"/>
            <a:ext cx="1066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600"/>
              <a:t>A. subclavière droite</a:t>
            </a:r>
          </a:p>
          <a:p>
            <a:r>
              <a:rPr lang="fr-CA" altLang="fr-FR" sz="600"/>
              <a:t>– cou et membre supérieur droit</a:t>
            </a:r>
          </a:p>
        </p:txBody>
      </p:sp>
      <p:sp>
        <p:nvSpPr>
          <p:cNvPr id="19469" name="Rectangle 15"/>
          <p:cNvSpPr>
            <a:spLocks noChangeArrowheads="1"/>
          </p:cNvSpPr>
          <p:nvPr/>
        </p:nvSpPr>
        <p:spPr bwMode="auto">
          <a:xfrm>
            <a:off x="3897313" y="1204913"/>
            <a:ext cx="11207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600"/>
              <a:t>Tronc brachiocéphalique</a:t>
            </a:r>
          </a:p>
          <a:p>
            <a:r>
              <a:rPr lang="fr-CA" altLang="fr-FR" sz="600"/>
              <a:t>– tête, cou et membre supérieur droit</a:t>
            </a:r>
          </a:p>
        </p:txBody>
      </p:sp>
      <p:sp>
        <p:nvSpPr>
          <p:cNvPr id="19470" name="Rectangle 16"/>
          <p:cNvSpPr>
            <a:spLocks noChangeArrowheads="1"/>
          </p:cNvSpPr>
          <p:nvPr/>
        </p:nvSpPr>
        <p:spPr bwMode="auto">
          <a:xfrm>
            <a:off x="5084763" y="1427163"/>
            <a:ext cx="10223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800" i="1"/>
              <a:t>Crosse de l’aorte</a:t>
            </a:r>
          </a:p>
        </p:txBody>
      </p:sp>
      <p:sp>
        <p:nvSpPr>
          <p:cNvPr id="19471" name="Rectangle 17"/>
          <p:cNvSpPr>
            <a:spLocks noChangeArrowheads="1"/>
          </p:cNvSpPr>
          <p:nvPr/>
        </p:nvSpPr>
        <p:spPr bwMode="auto">
          <a:xfrm>
            <a:off x="6719888" y="1163638"/>
            <a:ext cx="8318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600"/>
              <a:t>A. subclavière gauche</a:t>
            </a:r>
          </a:p>
          <a:p>
            <a:r>
              <a:rPr lang="fr-CA" altLang="fr-FR" sz="600"/>
              <a:t>– cou et membre supérieur gauche</a:t>
            </a:r>
          </a:p>
        </p:txBody>
      </p:sp>
      <p:sp>
        <p:nvSpPr>
          <p:cNvPr id="19472" name="Rectangle 18"/>
          <p:cNvSpPr>
            <a:spLocks noChangeArrowheads="1"/>
          </p:cNvSpPr>
          <p:nvPr/>
        </p:nvSpPr>
        <p:spPr bwMode="auto">
          <a:xfrm>
            <a:off x="7778750" y="1143000"/>
            <a:ext cx="68738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600"/>
              <a:t>A. axillaire gauche</a:t>
            </a:r>
          </a:p>
        </p:txBody>
      </p:sp>
      <p:sp>
        <p:nvSpPr>
          <p:cNvPr id="19473" name="Rectangle 19"/>
          <p:cNvSpPr>
            <a:spLocks noChangeArrowheads="1"/>
          </p:cNvSpPr>
          <p:nvPr/>
        </p:nvSpPr>
        <p:spPr bwMode="auto">
          <a:xfrm>
            <a:off x="7745413" y="1577975"/>
            <a:ext cx="85407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5000"/>
              </a:lnSpc>
            </a:pPr>
            <a:r>
              <a:rPr lang="fr-CA" altLang="fr-FR" sz="700"/>
              <a:t>Artères du membre sup. gauche</a:t>
            </a:r>
          </a:p>
        </p:txBody>
      </p:sp>
      <p:sp>
        <p:nvSpPr>
          <p:cNvPr id="19474" name="Rectangle 20"/>
          <p:cNvSpPr>
            <a:spLocks noChangeArrowheads="1"/>
          </p:cNvSpPr>
          <p:nvPr/>
        </p:nvSpPr>
        <p:spPr bwMode="auto">
          <a:xfrm>
            <a:off x="4430713" y="1644650"/>
            <a:ext cx="12922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/>
              <a:t>Aorte ascendante</a:t>
            </a:r>
          </a:p>
          <a:p>
            <a:r>
              <a:rPr lang="fr-CA" altLang="fr-FR" sz="700"/>
              <a:t>– ventricule gauche à angle sternal</a:t>
            </a:r>
          </a:p>
        </p:txBody>
      </p:sp>
      <p:sp>
        <p:nvSpPr>
          <p:cNvPr id="19475" name="Rectangle 21"/>
          <p:cNvSpPr>
            <a:spLocks noChangeArrowheads="1"/>
          </p:cNvSpPr>
          <p:nvPr/>
        </p:nvSpPr>
        <p:spPr bwMode="auto">
          <a:xfrm>
            <a:off x="5280025" y="2062163"/>
            <a:ext cx="1746250" cy="18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600"/>
              <a:t>Aorte thoracique, de T</a:t>
            </a:r>
            <a:r>
              <a:rPr lang="fr-CA" altLang="fr-FR" sz="600" baseline="-25000"/>
              <a:t>5</a:t>
            </a:r>
            <a:r>
              <a:rPr lang="fr-CA" altLang="fr-FR" sz="600"/>
              <a:t> à T</a:t>
            </a:r>
            <a:r>
              <a:rPr lang="fr-CA" altLang="fr-FR" sz="600" baseline="-25000"/>
              <a:t>12</a:t>
            </a:r>
            <a:r>
              <a:rPr lang="fr-CA" altLang="fr-FR" sz="600"/>
              <a:t> (diaphragme)</a:t>
            </a:r>
          </a:p>
        </p:txBody>
      </p:sp>
      <p:sp>
        <p:nvSpPr>
          <p:cNvPr id="19476" name="Rectangle 22"/>
          <p:cNvSpPr>
            <a:spLocks noChangeArrowheads="1"/>
          </p:cNvSpPr>
          <p:nvPr/>
        </p:nvSpPr>
        <p:spPr bwMode="auto">
          <a:xfrm>
            <a:off x="2806700" y="2017713"/>
            <a:ext cx="10874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800"/>
              <a:t>A. coronaires droite et gauche</a:t>
            </a:r>
          </a:p>
        </p:txBody>
      </p:sp>
      <p:sp>
        <p:nvSpPr>
          <p:cNvPr id="19477" name="Rectangle 23"/>
          <p:cNvSpPr>
            <a:spLocks noChangeArrowheads="1"/>
          </p:cNvSpPr>
          <p:nvPr/>
        </p:nvSpPr>
        <p:spPr bwMode="auto">
          <a:xfrm>
            <a:off x="1970088" y="1612900"/>
            <a:ext cx="771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800"/>
              <a:t>Artères du membre sup. droit</a:t>
            </a:r>
          </a:p>
        </p:txBody>
      </p:sp>
      <p:sp>
        <p:nvSpPr>
          <p:cNvPr id="19478" name="Rectangle 24"/>
          <p:cNvSpPr>
            <a:spLocks noChangeArrowheads="1"/>
          </p:cNvSpPr>
          <p:nvPr/>
        </p:nvSpPr>
        <p:spPr bwMode="auto">
          <a:xfrm>
            <a:off x="4554538" y="2309813"/>
            <a:ext cx="1073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800"/>
              <a:t>Ventricule gauche</a:t>
            </a:r>
          </a:p>
        </p:txBody>
      </p:sp>
      <p:sp>
        <p:nvSpPr>
          <p:cNvPr id="19479" name="Rectangle 25"/>
          <p:cNvSpPr>
            <a:spLocks noChangeArrowheads="1"/>
          </p:cNvSpPr>
          <p:nvPr/>
        </p:nvSpPr>
        <p:spPr bwMode="auto">
          <a:xfrm>
            <a:off x="3346450" y="2593975"/>
            <a:ext cx="1184275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800" i="1"/>
              <a:t>Branches viscérales</a:t>
            </a:r>
          </a:p>
        </p:txBody>
      </p:sp>
      <p:sp>
        <p:nvSpPr>
          <p:cNvPr id="19480" name="Rectangle 26"/>
          <p:cNvSpPr>
            <a:spLocks noChangeArrowheads="1"/>
          </p:cNvSpPr>
          <p:nvPr/>
        </p:nvSpPr>
        <p:spPr bwMode="auto">
          <a:xfrm>
            <a:off x="6454775" y="2598738"/>
            <a:ext cx="1165225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800" i="1"/>
              <a:t>Branches pariétales</a:t>
            </a:r>
          </a:p>
        </p:txBody>
      </p:sp>
      <p:sp>
        <p:nvSpPr>
          <p:cNvPr id="19481" name="Rectangle 27"/>
          <p:cNvSpPr>
            <a:spLocks noChangeArrowheads="1"/>
          </p:cNvSpPr>
          <p:nvPr/>
        </p:nvSpPr>
        <p:spPr bwMode="auto">
          <a:xfrm>
            <a:off x="1958975" y="3043238"/>
            <a:ext cx="763588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/>
              <a:t>Rameaux médiastinaux</a:t>
            </a:r>
          </a:p>
          <a:p>
            <a:r>
              <a:rPr lang="fr-CA" altLang="fr-FR" sz="700"/>
              <a:t>– partie postérieure du médiastin</a:t>
            </a:r>
          </a:p>
        </p:txBody>
      </p:sp>
      <p:sp>
        <p:nvSpPr>
          <p:cNvPr id="19482" name="Rectangle 28"/>
          <p:cNvSpPr>
            <a:spLocks noChangeArrowheads="1"/>
          </p:cNvSpPr>
          <p:nvPr/>
        </p:nvSpPr>
        <p:spPr bwMode="auto">
          <a:xfrm>
            <a:off x="2728913" y="3044825"/>
            <a:ext cx="10128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/>
              <a:t>Rameaux œsophagiens </a:t>
            </a:r>
          </a:p>
          <a:p>
            <a:r>
              <a:rPr lang="fr-CA" altLang="fr-FR" sz="700"/>
              <a:t>– œsophage </a:t>
            </a:r>
          </a:p>
        </p:txBody>
      </p:sp>
      <p:sp>
        <p:nvSpPr>
          <p:cNvPr id="19483" name="Rectangle 29"/>
          <p:cNvSpPr>
            <a:spLocks noChangeArrowheads="1"/>
          </p:cNvSpPr>
          <p:nvPr/>
        </p:nvSpPr>
        <p:spPr bwMode="auto">
          <a:xfrm>
            <a:off x="3530600" y="3046413"/>
            <a:ext cx="9921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 dirty="0"/>
              <a:t>Rameaux bronchiques</a:t>
            </a:r>
          </a:p>
          <a:p>
            <a:r>
              <a:rPr lang="fr-CA" altLang="fr-FR" sz="700" dirty="0"/>
              <a:t>– poumons et bronches</a:t>
            </a:r>
          </a:p>
        </p:txBody>
      </p:sp>
      <p:sp>
        <p:nvSpPr>
          <p:cNvPr id="19484" name="Rectangle 30"/>
          <p:cNvSpPr>
            <a:spLocks noChangeArrowheads="1"/>
          </p:cNvSpPr>
          <p:nvPr/>
        </p:nvSpPr>
        <p:spPr bwMode="auto">
          <a:xfrm>
            <a:off x="4375150" y="3044825"/>
            <a:ext cx="966788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/>
              <a:t>Rameaux péricardiques</a:t>
            </a:r>
          </a:p>
          <a:p>
            <a:r>
              <a:rPr lang="fr-CA" altLang="fr-FR" sz="700"/>
              <a:t>– péricarde</a:t>
            </a:r>
          </a:p>
        </p:txBody>
      </p:sp>
      <p:sp>
        <p:nvSpPr>
          <p:cNvPr id="19485" name="Rectangle 31"/>
          <p:cNvSpPr>
            <a:spLocks noChangeArrowheads="1"/>
          </p:cNvSpPr>
          <p:nvPr/>
        </p:nvSpPr>
        <p:spPr bwMode="auto">
          <a:xfrm>
            <a:off x="5438775" y="3103563"/>
            <a:ext cx="1655763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/>
              <a:t>A. intercostales postérieures</a:t>
            </a:r>
          </a:p>
          <a:p>
            <a:r>
              <a:rPr lang="fr-CA" altLang="fr-FR" sz="700"/>
              <a:t>– muscles intercostaux, moelle épinière, vertèbres, plèvre, peau</a:t>
            </a:r>
          </a:p>
        </p:txBody>
      </p:sp>
      <p:sp>
        <p:nvSpPr>
          <p:cNvPr id="19486" name="Rectangle 32"/>
          <p:cNvSpPr>
            <a:spLocks noChangeArrowheads="1"/>
          </p:cNvSpPr>
          <p:nvPr/>
        </p:nvSpPr>
        <p:spPr bwMode="auto">
          <a:xfrm>
            <a:off x="7246938" y="3105150"/>
            <a:ext cx="1371600" cy="41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/>
              <a:t>A. phréniques supérieures</a:t>
            </a:r>
          </a:p>
          <a:p>
            <a:r>
              <a:rPr lang="fr-CA" altLang="fr-FR" sz="700"/>
              <a:t>– parties postérieure et supérieure du diaphragme</a:t>
            </a:r>
          </a:p>
        </p:txBody>
      </p:sp>
      <p:sp>
        <p:nvSpPr>
          <p:cNvPr id="19487" name="Rectangle 33"/>
          <p:cNvSpPr>
            <a:spLocks noChangeArrowheads="1"/>
          </p:cNvSpPr>
          <p:nvPr/>
        </p:nvSpPr>
        <p:spPr bwMode="auto">
          <a:xfrm>
            <a:off x="3816350" y="3582988"/>
            <a:ext cx="777875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800" i="1"/>
              <a:t>Diaphragme</a:t>
            </a:r>
          </a:p>
        </p:txBody>
      </p:sp>
      <p:sp>
        <p:nvSpPr>
          <p:cNvPr id="19488" name="Rectangle 34"/>
          <p:cNvSpPr>
            <a:spLocks noChangeArrowheads="1"/>
          </p:cNvSpPr>
          <p:nvPr/>
        </p:nvSpPr>
        <p:spPr bwMode="auto">
          <a:xfrm>
            <a:off x="4430713" y="3836988"/>
            <a:ext cx="1757362" cy="18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600"/>
              <a:t>Aorte abdominale, de T</a:t>
            </a:r>
            <a:r>
              <a:rPr lang="fr-CA" altLang="fr-FR" sz="600" baseline="-25000"/>
              <a:t>12</a:t>
            </a:r>
            <a:r>
              <a:rPr lang="fr-CA" altLang="fr-FR" sz="600"/>
              <a:t> (diaphragme) à L</a:t>
            </a:r>
            <a:r>
              <a:rPr lang="fr-CA" altLang="fr-FR" sz="600" baseline="-25000"/>
              <a:t>4</a:t>
            </a:r>
            <a:endParaRPr lang="fr-CA" altLang="fr-FR" sz="600"/>
          </a:p>
        </p:txBody>
      </p:sp>
      <p:sp>
        <p:nvSpPr>
          <p:cNvPr id="19489" name="Rectangle 35"/>
          <p:cNvSpPr>
            <a:spLocks noChangeArrowheads="1"/>
          </p:cNvSpPr>
          <p:nvPr/>
        </p:nvSpPr>
        <p:spPr bwMode="auto">
          <a:xfrm>
            <a:off x="3284538" y="3941763"/>
            <a:ext cx="1184275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800" i="1"/>
              <a:t>Branches viscérales</a:t>
            </a:r>
          </a:p>
        </p:txBody>
      </p:sp>
      <p:sp>
        <p:nvSpPr>
          <p:cNvPr id="19490" name="Rectangle 36"/>
          <p:cNvSpPr>
            <a:spLocks noChangeArrowheads="1"/>
          </p:cNvSpPr>
          <p:nvPr/>
        </p:nvSpPr>
        <p:spPr bwMode="auto">
          <a:xfrm>
            <a:off x="6454775" y="3946525"/>
            <a:ext cx="1165225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800" i="1"/>
              <a:t>Branches pariétales</a:t>
            </a:r>
          </a:p>
        </p:txBody>
      </p:sp>
      <p:sp>
        <p:nvSpPr>
          <p:cNvPr id="19491" name="Rectangle 37"/>
          <p:cNvSpPr>
            <a:spLocks noChangeArrowheads="1"/>
          </p:cNvSpPr>
          <p:nvPr/>
        </p:nvSpPr>
        <p:spPr bwMode="auto">
          <a:xfrm>
            <a:off x="1973263" y="4381500"/>
            <a:ext cx="8159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600"/>
              <a:t>A. ovariques ou testiculaires</a:t>
            </a:r>
          </a:p>
          <a:p>
            <a:r>
              <a:rPr lang="fr-CA" altLang="fr-FR" sz="600"/>
              <a:t>– ovaires ou testicules</a:t>
            </a:r>
          </a:p>
        </p:txBody>
      </p:sp>
      <p:sp>
        <p:nvSpPr>
          <p:cNvPr id="47142" name="Rectangle 38"/>
          <p:cNvSpPr>
            <a:spLocks noChangeArrowheads="1"/>
          </p:cNvSpPr>
          <p:nvPr/>
        </p:nvSpPr>
        <p:spPr bwMode="auto">
          <a:xfrm>
            <a:off x="2751138" y="4478338"/>
            <a:ext cx="838200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defRPr/>
            </a:pPr>
            <a:r>
              <a:rPr lang="fr-CA" sz="750"/>
              <a:t>A. surrénales</a:t>
            </a:r>
          </a:p>
          <a:p>
            <a:pPr>
              <a:defRPr/>
            </a:pPr>
            <a:r>
              <a:rPr lang="fr-CA" sz="750"/>
              <a:t>– glandes surrénales et A. rénales</a:t>
            </a:r>
          </a:p>
          <a:p>
            <a:pPr>
              <a:defRPr/>
            </a:pPr>
            <a:r>
              <a:rPr lang="fr-CA" sz="750"/>
              <a:t>– reins</a:t>
            </a:r>
          </a:p>
        </p:txBody>
      </p:sp>
      <p:sp>
        <p:nvSpPr>
          <p:cNvPr id="19493" name="Rectangle 39"/>
          <p:cNvSpPr>
            <a:spLocks noChangeArrowheads="1"/>
          </p:cNvSpPr>
          <p:nvPr/>
        </p:nvSpPr>
        <p:spPr bwMode="auto">
          <a:xfrm>
            <a:off x="3582988" y="4556125"/>
            <a:ext cx="920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/>
              <a:t>A. mésentériques</a:t>
            </a:r>
          </a:p>
          <a:p>
            <a:r>
              <a:rPr lang="fr-CA" altLang="fr-FR" sz="700"/>
              <a:t>– intestin grêle</a:t>
            </a:r>
          </a:p>
          <a:p>
            <a:r>
              <a:rPr lang="fr-CA" altLang="fr-FR" sz="700"/>
              <a:t>– gros intestin</a:t>
            </a:r>
          </a:p>
        </p:txBody>
      </p:sp>
      <p:sp>
        <p:nvSpPr>
          <p:cNvPr id="19494" name="Rectangle 40"/>
          <p:cNvSpPr>
            <a:spLocks noChangeArrowheads="1"/>
          </p:cNvSpPr>
          <p:nvPr/>
        </p:nvSpPr>
        <p:spPr bwMode="auto">
          <a:xfrm>
            <a:off x="4365625" y="4405313"/>
            <a:ext cx="881063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/>
              <a:t>Tronc cœliaque </a:t>
            </a:r>
          </a:p>
          <a:p>
            <a:r>
              <a:rPr lang="fr-CA" altLang="fr-FR" sz="700"/>
              <a:t>– foie</a:t>
            </a:r>
          </a:p>
          <a:p>
            <a:r>
              <a:rPr lang="fr-CA" altLang="fr-FR" sz="700"/>
              <a:t>– vésicule biliaire</a:t>
            </a:r>
          </a:p>
          <a:p>
            <a:r>
              <a:rPr lang="fr-CA" altLang="fr-FR" sz="700"/>
              <a:t>– rate</a:t>
            </a:r>
          </a:p>
          <a:p>
            <a:r>
              <a:rPr lang="fr-CA" altLang="fr-FR" sz="700"/>
              <a:t>– estomac</a:t>
            </a:r>
          </a:p>
          <a:p>
            <a:r>
              <a:rPr lang="fr-CA" altLang="fr-FR" sz="700"/>
              <a:t>– œsophage </a:t>
            </a:r>
          </a:p>
          <a:p>
            <a:r>
              <a:rPr lang="fr-CA" altLang="fr-FR" sz="700"/>
              <a:t>– duodénum </a:t>
            </a:r>
          </a:p>
        </p:txBody>
      </p:sp>
      <p:sp>
        <p:nvSpPr>
          <p:cNvPr id="19495" name="Rectangle 41"/>
          <p:cNvSpPr>
            <a:spLocks noChangeArrowheads="1"/>
          </p:cNvSpPr>
          <p:nvPr/>
        </p:nvSpPr>
        <p:spPr bwMode="auto">
          <a:xfrm>
            <a:off x="5554663" y="4395788"/>
            <a:ext cx="13112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600"/>
              <a:t>A. phréniques inférieures</a:t>
            </a:r>
          </a:p>
          <a:p>
            <a:r>
              <a:rPr lang="fr-CA" altLang="fr-FR" sz="600"/>
              <a:t>– partie inférieure du diaphragme</a:t>
            </a:r>
          </a:p>
        </p:txBody>
      </p:sp>
      <p:sp>
        <p:nvSpPr>
          <p:cNvPr id="19496" name="Rectangle 42"/>
          <p:cNvSpPr>
            <a:spLocks noChangeArrowheads="1"/>
          </p:cNvSpPr>
          <p:nvPr/>
        </p:nvSpPr>
        <p:spPr bwMode="auto">
          <a:xfrm>
            <a:off x="6715125" y="4378325"/>
            <a:ext cx="836613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/>
              <a:t>A. lombaires</a:t>
            </a:r>
          </a:p>
          <a:p>
            <a:r>
              <a:rPr lang="fr-CA" altLang="fr-FR" sz="700"/>
              <a:t>– partie postérieure de la paroi abdominale</a:t>
            </a:r>
          </a:p>
        </p:txBody>
      </p:sp>
      <p:sp>
        <p:nvSpPr>
          <p:cNvPr id="19497" name="Rectangle 43"/>
          <p:cNvSpPr>
            <a:spLocks noChangeArrowheads="1"/>
          </p:cNvSpPr>
          <p:nvPr/>
        </p:nvSpPr>
        <p:spPr bwMode="auto">
          <a:xfrm>
            <a:off x="7496175" y="4402138"/>
            <a:ext cx="8175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800"/>
              <a:t>A. sacrale médiane</a:t>
            </a:r>
          </a:p>
          <a:p>
            <a:r>
              <a:rPr lang="fr-CA" altLang="fr-FR" sz="800"/>
              <a:t>– sacrum</a:t>
            </a:r>
          </a:p>
          <a:p>
            <a:r>
              <a:rPr lang="fr-CA" altLang="fr-FR" sz="800"/>
              <a:t>– coccyx</a:t>
            </a:r>
          </a:p>
        </p:txBody>
      </p:sp>
      <p:sp>
        <p:nvSpPr>
          <p:cNvPr id="19498" name="Rectangle 44"/>
          <p:cNvSpPr>
            <a:spLocks noChangeArrowheads="1"/>
          </p:cNvSpPr>
          <p:nvPr/>
        </p:nvSpPr>
        <p:spPr bwMode="auto">
          <a:xfrm>
            <a:off x="3570288" y="5648325"/>
            <a:ext cx="144780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/>
              <a:t>A. iliaque commune droite</a:t>
            </a:r>
          </a:p>
          <a:p>
            <a:r>
              <a:rPr lang="fr-CA" altLang="fr-FR" sz="700"/>
              <a:t>– bassin et membre inférieur droit</a:t>
            </a:r>
          </a:p>
        </p:txBody>
      </p:sp>
      <p:sp>
        <p:nvSpPr>
          <p:cNvPr id="19499" name="Rectangle 45"/>
          <p:cNvSpPr>
            <a:spLocks noChangeArrowheads="1"/>
          </p:cNvSpPr>
          <p:nvPr/>
        </p:nvSpPr>
        <p:spPr bwMode="auto">
          <a:xfrm>
            <a:off x="5670550" y="5638800"/>
            <a:ext cx="1500188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/>
              <a:t>A. iliaque commune gauche</a:t>
            </a:r>
          </a:p>
          <a:p>
            <a:r>
              <a:rPr lang="fr-CA" altLang="fr-FR" sz="700"/>
              <a:t>– bassin et membre inférieur gauche</a:t>
            </a:r>
          </a:p>
        </p:txBody>
      </p:sp>
      <p:sp>
        <p:nvSpPr>
          <p:cNvPr id="19500" name="Rectangle 46"/>
          <p:cNvSpPr>
            <a:spLocks noChangeArrowheads="1"/>
          </p:cNvSpPr>
          <p:nvPr/>
        </p:nvSpPr>
        <p:spPr bwMode="auto">
          <a:xfrm>
            <a:off x="2022475" y="5997575"/>
            <a:ext cx="1219200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600"/>
              <a:t>Artères du membre inf. droit</a:t>
            </a:r>
          </a:p>
        </p:txBody>
      </p:sp>
      <p:sp>
        <p:nvSpPr>
          <p:cNvPr id="19501" name="Rectangle 47"/>
          <p:cNvSpPr>
            <a:spLocks noChangeArrowheads="1"/>
          </p:cNvSpPr>
          <p:nvPr/>
        </p:nvSpPr>
        <p:spPr bwMode="auto">
          <a:xfrm>
            <a:off x="7342188" y="5997575"/>
            <a:ext cx="13493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600"/>
              <a:t>Artères du membre inf. gauche</a:t>
            </a:r>
          </a:p>
        </p:txBody>
      </p:sp>
      <p:sp>
        <p:nvSpPr>
          <p:cNvPr id="19502" name="Rectangle 48"/>
          <p:cNvSpPr>
            <a:spLocks noChangeArrowheads="1"/>
          </p:cNvSpPr>
          <p:nvPr/>
        </p:nvSpPr>
        <p:spPr bwMode="auto">
          <a:xfrm>
            <a:off x="2022475" y="6253163"/>
            <a:ext cx="187325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CA" altLang="fr-FR"/>
          </a:p>
        </p:txBody>
      </p:sp>
      <p:sp>
        <p:nvSpPr>
          <p:cNvPr id="19503" name="Rectangle 1"/>
          <p:cNvSpPr>
            <a:spLocks noChangeArrowheads="1"/>
          </p:cNvSpPr>
          <p:nvPr/>
        </p:nvSpPr>
        <p:spPr bwMode="auto">
          <a:xfrm>
            <a:off x="53975" y="0"/>
            <a:ext cx="29940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en-US" sz="1600"/>
              <a:t>Résumé schématique des artères de la circulation systémique</a:t>
            </a:r>
            <a:endParaRPr lang="fr-CA" altLang="fr-FR" sz="1600"/>
          </a:p>
        </p:txBody>
      </p:sp>
      <p:sp>
        <p:nvSpPr>
          <p:cNvPr id="19504" name="Rectangle 18"/>
          <p:cNvSpPr>
            <a:spLocks noGrp="1" noChangeArrowheads="1"/>
          </p:cNvSpPr>
          <p:nvPr>
            <p:ph type="title" idx="4294967295"/>
          </p:nvPr>
        </p:nvSpPr>
        <p:spPr>
          <a:xfrm>
            <a:off x="53975" y="6423025"/>
            <a:ext cx="4903788" cy="276225"/>
          </a:xfrm>
          <a:noFill/>
        </p:spPr>
        <p:txBody>
          <a:bodyPr lIns="72000" rIns="72000"/>
          <a:lstStyle/>
          <a:p>
            <a:pPr eaLnBrk="1" hangingPunct="1">
              <a:spcBef>
                <a:spcPct val="0"/>
              </a:spcBef>
            </a:pPr>
            <a:r>
              <a:rPr lang="fr-CA" altLang="fr-FR" sz="1200" dirty="0">
                <a:solidFill>
                  <a:srgbClr val="0000FF"/>
                </a:solidFill>
              </a:rPr>
              <a:t>Figure 19.23a  Principales artères de la circulation systémique.</a:t>
            </a:r>
            <a:endParaRPr lang="fr-CA" altLang="fr-FR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 idx="4294967295"/>
          </p:nvPr>
        </p:nvSpPr>
        <p:spPr>
          <a:xfrm>
            <a:off x="381000" y="762000"/>
            <a:ext cx="8382000" cy="707886"/>
          </a:xfrm>
        </p:spPr>
        <p:txBody>
          <a:bodyPr lIns="72000" rIns="72000"/>
          <a:lstStyle/>
          <a:p>
            <a:pPr marL="982663" indent="-982663"/>
            <a:r>
              <a:rPr lang="fr-CA" altLang="fr-FR" dirty="0">
                <a:solidFill>
                  <a:srgbClr val="0000FF"/>
                </a:solidFill>
              </a:rPr>
              <a:t>6.1.3.1	Reconnaître les différences suivantes au niveau de l'organisation des veines comparativement à celle des artères. </a:t>
            </a:r>
          </a:p>
        </p:txBody>
      </p:sp>
      <p:sp>
        <p:nvSpPr>
          <p:cNvPr id="20483" name="TextBox 4"/>
          <p:cNvSpPr txBox="1">
            <a:spLocks noChangeArrowheads="1"/>
          </p:cNvSpPr>
          <p:nvPr/>
        </p:nvSpPr>
        <p:spPr bwMode="auto">
          <a:xfrm>
            <a:off x="1295400" y="1583471"/>
            <a:ext cx="7315200" cy="433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Font typeface="Wingdings" pitchFamily="2" charset="2"/>
              <a:buChar char="ü"/>
            </a:pPr>
            <a:r>
              <a:rPr lang="fr-CA" altLang="fr-FR" sz="1800" b="0" dirty="0"/>
              <a:t>Une seule artère provient du cœur (l'aorte) alors que deux veines principales rentrent dans le cœur (veines caves supérieure et inférieure) en plus du sinus coronaire.</a:t>
            </a:r>
          </a:p>
          <a:p>
            <a:pPr>
              <a:buFont typeface="Wingdings" pitchFamily="2" charset="2"/>
              <a:buChar char="ü"/>
            </a:pPr>
            <a:endParaRPr lang="en-CA" altLang="fr-FR" b="0" dirty="0"/>
          </a:p>
          <a:p>
            <a:pPr>
              <a:buFont typeface="Wingdings" pitchFamily="2" charset="2"/>
              <a:buChar char="ü"/>
            </a:pPr>
            <a:r>
              <a:rPr lang="fr-CA" altLang="fr-FR" sz="1800" b="0" dirty="0"/>
              <a:t>Toutes les artères sont profondes, alors que les veines peuvent être profondes (elles portent alors généralement le nom de leur artère correspondante) OU superficielles (elles n’ont alors pas d’artères correspondantes).</a:t>
            </a:r>
          </a:p>
          <a:p>
            <a:pPr>
              <a:buFont typeface="Wingdings" pitchFamily="2" charset="2"/>
              <a:buChar char="ü"/>
            </a:pPr>
            <a:endParaRPr lang="en-CA" altLang="fr-FR" b="0" dirty="0"/>
          </a:p>
          <a:p>
            <a:pPr>
              <a:buFont typeface="Wingdings" pitchFamily="2" charset="2"/>
              <a:buChar char="ü"/>
            </a:pPr>
            <a:r>
              <a:rPr lang="fr-CA" altLang="fr-FR" sz="1800" b="0" dirty="0"/>
              <a:t>Pour un organe donné, le drainage veineux correspond bien à l'irrigation artérielle, avec deux exceptions  importantes:</a:t>
            </a:r>
          </a:p>
          <a:p>
            <a:pPr marL="536575" indent="-268288">
              <a:buAutoNum type="romanLcParenR"/>
            </a:pPr>
            <a:r>
              <a:rPr lang="fr-CA" altLang="fr-FR" sz="1800" b="0" dirty="0"/>
              <a:t>Dans l’encéphale, le sang veineux est recueilli par les </a:t>
            </a:r>
            <a:r>
              <a:rPr lang="fr-CA" altLang="fr-FR" sz="1800" b="0" i="1" dirty="0"/>
              <a:t>sinus de la dure-mère</a:t>
            </a:r>
            <a:r>
              <a:rPr lang="fr-CA" altLang="fr-FR" sz="1800" b="0" dirty="0"/>
              <a:t> plutôt que par des veines typiques.</a:t>
            </a:r>
          </a:p>
          <a:p>
            <a:pPr marL="536575" indent="-268288">
              <a:buAutoNum type="romanLcParenR"/>
            </a:pPr>
            <a:r>
              <a:rPr lang="fr-CA" altLang="fr-FR" sz="1800" b="0" dirty="0"/>
              <a:t>Dans le système digestif, le sang des veines mésentériques est acheminé au foie par le </a:t>
            </a:r>
            <a:r>
              <a:rPr lang="fr-CA" altLang="fr-FR" sz="1800" b="0" i="1" dirty="0"/>
              <a:t>système porte hépatique</a:t>
            </a:r>
            <a:r>
              <a:rPr lang="fr-CA" altLang="fr-FR" sz="1800" b="0" dirty="0"/>
              <a:t> plutôt que de retourner directement vers le cœur.</a:t>
            </a:r>
            <a:endParaRPr lang="en-US" altLang="fr-FR" sz="1800" b="0" dirty="0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0" y="186750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/>
          </a:extLst>
        </p:spPr>
        <p:txBody>
          <a:bodyPr lIns="457200">
            <a:spAutoFit/>
          </a:bodyPr>
          <a:lstStyle>
            <a:lvl1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j-lt"/>
                <a:ea typeface="Arial" charset="0"/>
                <a:cs typeface="+mj-cs"/>
              </a:defRPr>
            </a:lvl1pPr>
            <a:lvl2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algn="l" rtl="0" fontAlgn="base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fr-CA" sz="2400" kern="0" dirty="0">
                <a:solidFill>
                  <a:srgbClr val="0000FF"/>
                </a:solidFill>
              </a:rPr>
              <a:t>6.1.3   </a:t>
            </a:r>
            <a:r>
              <a:rPr lang="fr-CA" sz="2400" u="sng" kern="0" dirty="0">
                <a:solidFill>
                  <a:srgbClr val="0000FF"/>
                </a:solidFill>
              </a:rPr>
              <a:t>Les veines de la circulation systémique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92" descr="figure_19_26b_unlabel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34"/>
          <a:stretch>
            <a:fillRect/>
          </a:stretch>
        </p:blipFill>
        <p:spPr bwMode="auto">
          <a:xfrm>
            <a:off x="838200" y="558800"/>
            <a:ext cx="7642225" cy="629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Rectangle 82"/>
          <p:cNvSpPr>
            <a:spLocks noChangeArrowheads="1"/>
          </p:cNvSpPr>
          <p:nvPr/>
        </p:nvSpPr>
        <p:spPr bwMode="auto">
          <a:xfrm>
            <a:off x="838200" y="6610349"/>
            <a:ext cx="3048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CA" altLang="fr-FR" sz="1100"/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800100" y="538018"/>
            <a:ext cx="277736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300" b="0" dirty="0">
                <a:latin typeface="Arial Black" pitchFamily="34" charset="0"/>
              </a:rPr>
              <a:t>Veines de la tête et du tronc</a:t>
            </a:r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1109202" y="748669"/>
            <a:ext cx="165622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100" dirty="0"/>
              <a:t>Sinus de la dure-mère</a:t>
            </a:r>
          </a:p>
        </p:txBody>
      </p:sp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1206127" y="974094"/>
            <a:ext cx="148309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100" dirty="0"/>
              <a:t>V. jugulaire externe</a:t>
            </a:r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1089025" y="1189994"/>
            <a:ext cx="1029449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100" dirty="0"/>
              <a:t>V. vertébrale</a:t>
            </a:r>
          </a:p>
        </p:txBody>
      </p:sp>
      <p:sp>
        <p:nvSpPr>
          <p:cNvPr id="21512" name="Rectangle 8"/>
          <p:cNvSpPr>
            <a:spLocks noChangeArrowheads="1"/>
          </p:cNvSpPr>
          <p:nvPr/>
        </p:nvSpPr>
        <p:spPr bwMode="auto">
          <a:xfrm>
            <a:off x="1117600" y="1382082"/>
            <a:ext cx="145103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100"/>
              <a:t>V. jugulaire interne</a:t>
            </a:r>
          </a:p>
        </p:txBody>
      </p:sp>
      <p:sp>
        <p:nvSpPr>
          <p:cNvPr id="21513" name="Rectangle 9"/>
          <p:cNvSpPr>
            <a:spLocks noChangeArrowheads="1"/>
          </p:cNvSpPr>
          <p:nvPr/>
        </p:nvSpPr>
        <p:spPr bwMode="auto">
          <a:xfrm>
            <a:off x="403225" y="1582737"/>
            <a:ext cx="1758810" cy="380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174625" indent="-174625">
              <a:lnSpc>
                <a:spcPct val="85000"/>
              </a:lnSpc>
            </a:pPr>
            <a:r>
              <a:rPr lang="fr-CA" altLang="fr-FR" sz="1100" dirty="0"/>
              <a:t>V. brachiocéphaliques droite et gauche</a:t>
            </a:r>
          </a:p>
        </p:txBody>
      </p:sp>
      <p:sp>
        <p:nvSpPr>
          <p:cNvPr id="21514" name="Rectangle 10"/>
          <p:cNvSpPr>
            <a:spLocks noChangeArrowheads="1"/>
          </p:cNvSpPr>
          <p:nvPr/>
        </p:nvSpPr>
        <p:spPr bwMode="auto">
          <a:xfrm>
            <a:off x="1066800" y="1972632"/>
            <a:ext cx="14302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100"/>
              <a:t>V. cave supérieure</a:t>
            </a:r>
          </a:p>
        </p:txBody>
      </p:sp>
      <p:sp>
        <p:nvSpPr>
          <p:cNvPr id="21515" name="Rectangle 11"/>
          <p:cNvSpPr>
            <a:spLocks noChangeArrowheads="1"/>
          </p:cNvSpPr>
          <p:nvPr/>
        </p:nvSpPr>
        <p:spPr bwMode="auto">
          <a:xfrm>
            <a:off x="676275" y="2177419"/>
            <a:ext cx="168026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100"/>
              <a:t>Grande veine du cœur</a:t>
            </a:r>
          </a:p>
        </p:txBody>
      </p:sp>
      <p:sp>
        <p:nvSpPr>
          <p:cNvPr id="21516" name="Rectangle 12"/>
          <p:cNvSpPr>
            <a:spLocks noChangeArrowheads="1"/>
          </p:cNvSpPr>
          <p:nvPr/>
        </p:nvSpPr>
        <p:spPr bwMode="auto">
          <a:xfrm>
            <a:off x="1012825" y="2401257"/>
            <a:ext cx="1101584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100" dirty="0"/>
              <a:t>V. hépatiques</a:t>
            </a:r>
          </a:p>
        </p:txBody>
      </p:sp>
      <p:sp>
        <p:nvSpPr>
          <p:cNvPr id="21517" name="Rectangle 13"/>
          <p:cNvSpPr>
            <a:spLocks noChangeArrowheads="1"/>
          </p:cNvSpPr>
          <p:nvPr/>
        </p:nvSpPr>
        <p:spPr bwMode="auto">
          <a:xfrm>
            <a:off x="936625" y="2615569"/>
            <a:ext cx="101502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100" dirty="0"/>
              <a:t>V. splénique</a:t>
            </a:r>
          </a:p>
        </p:txBody>
      </p:sp>
      <p:sp>
        <p:nvSpPr>
          <p:cNvPr id="21518" name="Rectangle 14"/>
          <p:cNvSpPr>
            <a:spLocks noChangeArrowheads="1"/>
          </p:cNvSpPr>
          <p:nvPr/>
        </p:nvSpPr>
        <p:spPr bwMode="auto">
          <a:xfrm>
            <a:off x="1100430" y="2844169"/>
            <a:ext cx="141417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100" dirty="0"/>
              <a:t>V. porte hépatique</a:t>
            </a:r>
          </a:p>
        </p:txBody>
      </p:sp>
      <p:sp>
        <p:nvSpPr>
          <p:cNvPr id="21519" name="Rectangle 15"/>
          <p:cNvSpPr>
            <a:spLocks noChangeArrowheads="1"/>
          </p:cNvSpPr>
          <p:nvPr/>
        </p:nvSpPr>
        <p:spPr bwMode="auto">
          <a:xfrm>
            <a:off x="1089025" y="3077532"/>
            <a:ext cx="77136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100" dirty="0"/>
              <a:t>V. rénale</a:t>
            </a:r>
          </a:p>
        </p:txBody>
      </p:sp>
      <p:sp>
        <p:nvSpPr>
          <p:cNvPr id="21520" name="Rectangle 16"/>
          <p:cNvSpPr>
            <a:spLocks noChangeArrowheads="1"/>
          </p:cNvSpPr>
          <p:nvPr/>
        </p:nvSpPr>
        <p:spPr bwMode="auto">
          <a:xfrm>
            <a:off x="938871" y="3301369"/>
            <a:ext cx="2032929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100" dirty="0"/>
              <a:t>V. mésentérique supérieure</a:t>
            </a:r>
          </a:p>
        </p:txBody>
      </p:sp>
      <p:sp>
        <p:nvSpPr>
          <p:cNvPr id="21521" name="Rectangle 17"/>
          <p:cNvSpPr>
            <a:spLocks noChangeArrowheads="1"/>
          </p:cNvSpPr>
          <p:nvPr/>
        </p:nvSpPr>
        <p:spPr bwMode="auto">
          <a:xfrm>
            <a:off x="921408" y="3509332"/>
            <a:ext cx="1952779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100"/>
              <a:t>V. mésentérique inférieure</a:t>
            </a:r>
          </a:p>
        </p:txBody>
      </p:sp>
      <p:sp>
        <p:nvSpPr>
          <p:cNvPr id="21522" name="Rectangle 18"/>
          <p:cNvSpPr>
            <a:spLocks noChangeArrowheads="1"/>
          </p:cNvSpPr>
          <p:nvPr/>
        </p:nvSpPr>
        <p:spPr bwMode="auto">
          <a:xfrm>
            <a:off x="1055687" y="3710944"/>
            <a:ext cx="13500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100"/>
              <a:t>V. cave inférieure</a:t>
            </a:r>
          </a:p>
        </p:txBody>
      </p:sp>
      <p:sp>
        <p:nvSpPr>
          <p:cNvPr id="21523" name="Rectangle 19"/>
          <p:cNvSpPr>
            <a:spLocks noChangeArrowheads="1"/>
          </p:cNvSpPr>
          <p:nvPr/>
        </p:nvSpPr>
        <p:spPr bwMode="auto">
          <a:xfrm>
            <a:off x="938212" y="3922082"/>
            <a:ext cx="1507144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100"/>
              <a:t>V. iliaque commune</a:t>
            </a:r>
          </a:p>
        </p:txBody>
      </p:sp>
      <p:sp>
        <p:nvSpPr>
          <p:cNvPr id="21524" name="Rectangle 20"/>
          <p:cNvSpPr>
            <a:spLocks noChangeArrowheads="1"/>
          </p:cNvSpPr>
          <p:nvPr/>
        </p:nvSpPr>
        <p:spPr bwMode="auto">
          <a:xfrm>
            <a:off x="1071562" y="4137982"/>
            <a:ext cx="1309974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100"/>
              <a:t>V. iliaque interne</a:t>
            </a:r>
          </a:p>
        </p:txBody>
      </p:sp>
      <p:sp>
        <p:nvSpPr>
          <p:cNvPr id="21525" name="Rectangle 21"/>
          <p:cNvSpPr>
            <a:spLocks noChangeArrowheads="1"/>
          </p:cNvSpPr>
          <p:nvPr/>
        </p:nvSpPr>
        <p:spPr bwMode="auto">
          <a:xfrm>
            <a:off x="5751513" y="764156"/>
            <a:ext cx="2500312" cy="43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fr-CA" altLang="fr-FR" sz="1300" b="0">
                <a:latin typeface="Arial Black" pitchFamily="34" charset="0"/>
              </a:rPr>
              <a:t>Veines qui drainent le membre supérieur</a:t>
            </a:r>
          </a:p>
        </p:txBody>
      </p:sp>
      <p:sp>
        <p:nvSpPr>
          <p:cNvPr id="21526" name="Rectangle 22"/>
          <p:cNvSpPr>
            <a:spLocks noChangeArrowheads="1"/>
          </p:cNvSpPr>
          <p:nvPr/>
        </p:nvSpPr>
        <p:spPr bwMode="auto">
          <a:xfrm>
            <a:off x="5799138" y="1182057"/>
            <a:ext cx="113204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100"/>
              <a:t>V. subclavière</a:t>
            </a:r>
          </a:p>
        </p:txBody>
      </p:sp>
      <p:sp>
        <p:nvSpPr>
          <p:cNvPr id="21527" name="Rectangle 23"/>
          <p:cNvSpPr>
            <a:spLocks noChangeArrowheads="1"/>
          </p:cNvSpPr>
          <p:nvPr/>
        </p:nvSpPr>
        <p:spPr bwMode="auto">
          <a:xfrm>
            <a:off x="5803900" y="1382082"/>
            <a:ext cx="87876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100"/>
              <a:t>V. axillaire</a:t>
            </a:r>
          </a:p>
        </p:txBody>
      </p:sp>
      <p:sp>
        <p:nvSpPr>
          <p:cNvPr id="21528" name="Rectangle 24"/>
          <p:cNvSpPr>
            <a:spLocks noChangeArrowheads="1"/>
          </p:cNvSpPr>
          <p:nvPr/>
        </p:nvSpPr>
        <p:spPr bwMode="auto">
          <a:xfrm>
            <a:off x="5808663" y="1601157"/>
            <a:ext cx="1093569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100"/>
              <a:t>V. céphalique</a:t>
            </a:r>
          </a:p>
        </p:txBody>
      </p:sp>
      <p:sp>
        <p:nvSpPr>
          <p:cNvPr id="21529" name="Rectangle 25"/>
          <p:cNvSpPr>
            <a:spLocks noChangeArrowheads="1"/>
          </p:cNvSpPr>
          <p:nvPr/>
        </p:nvSpPr>
        <p:spPr bwMode="auto">
          <a:xfrm>
            <a:off x="5808663" y="1790069"/>
            <a:ext cx="97494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100"/>
              <a:t>V. brachiale</a:t>
            </a:r>
          </a:p>
        </p:txBody>
      </p:sp>
      <p:sp>
        <p:nvSpPr>
          <p:cNvPr id="21530" name="Rectangle 26"/>
          <p:cNvSpPr>
            <a:spLocks noChangeArrowheads="1"/>
          </p:cNvSpPr>
          <p:nvPr/>
        </p:nvSpPr>
        <p:spPr bwMode="auto">
          <a:xfrm>
            <a:off x="5813425" y="1996444"/>
            <a:ext cx="96693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100"/>
              <a:t>V. basilique</a:t>
            </a:r>
          </a:p>
        </p:txBody>
      </p:sp>
      <p:sp>
        <p:nvSpPr>
          <p:cNvPr id="21531" name="Rectangle 27"/>
          <p:cNvSpPr>
            <a:spLocks noChangeArrowheads="1"/>
          </p:cNvSpPr>
          <p:nvPr/>
        </p:nvSpPr>
        <p:spPr bwMode="auto">
          <a:xfrm>
            <a:off x="5818188" y="2658432"/>
            <a:ext cx="1595309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100"/>
              <a:t>V. médiane du coude</a:t>
            </a:r>
          </a:p>
        </p:txBody>
      </p:sp>
      <p:sp>
        <p:nvSpPr>
          <p:cNvPr id="21532" name="Rectangle 28"/>
          <p:cNvSpPr>
            <a:spLocks noChangeArrowheads="1"/>
          </p:cNvSpPr>
          <p:nvPr/>
        </p:nvSpPr>
        <p:spPr bwMode="auto">
          <a:xfrm>
            <a:off x="5821363" y="2858457"/>
            <a:ext cx="81785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100"/>
              <a:t>V. ulnaire</a:t>
            </a:r>
          </a:p>
        </p:txBody>
      </p:sp>
      <p:sp>
        <p:nvSpPr>
          <p:cNvPr id="21533" name="Rectangle 29"/>
          <p:cNvSpPr>
            <a:spLocks noChangeArrowheads="1"/>
          </p:cNvSpPr>
          <p:nvPr/>
        </p:nvSpPr>
        <p:spPr bwMode="auto">
          <a:xfrm>
            <a:off x="5813425" y="3053719"/>
            <a:ext cx="80983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100"/>
              <a:t>V. radiale</a:t>
            </a:r>
          </a:p>
        </p:txBody>
      </p:sp>
      <p:sp>
        <p:nvSpPr>
          <p:cNvPr id="21534" name="Rectangle 30"/>
          <p:cNvSpPr>
            <a:spLocks noChangeArrowheads="1"/>
          </p:cNvSpPr>
          <p:nvPr/>
        </p:nvSpPr>
        <p:spPr bwMode="auto">
          <a:xfrm>
            <a:off x="5808663" y="3453769"/>
            <a:ext cx="162256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100"/>
              <a:t>V. digitales palmaires</a:t>
            </a:r>
          </a:p>
        </p:txBody>
      </p:sp>
      <p:sp>
        <p:nvSpPr>
          <p:cNvPr id="21535" name="Rectangle 31"/>
          <p:cNvSpPr>
            <a:spLocks noChangeArrowheads="1"/>
          </p:cNvSpPr>
          <p:nvPr/>
        </p:nvSpPr>
        <p:spPr bwMode="auto">
          <a:xfrm>
            <a:off x="5895975" y="3924618"/>
            <a:ext cx="2355850" cy="47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5000"/>
              </a:lnSpc>
            </a:pPr>
            <a:r>
              <a:rPr lang="fr-CA" altLang="fr-FR" sz="1300" b="0">
                <a:latin typeface="Arial Black" pitchFamily="34" charset="0"/>
              </a:rPr>
              <a:t>Veines qui drainent le membre inférieur</a:t>
            </a:r>
          </a:p>
        </p:txBody>
      </p:sp>
      <p:sp>
        <p:nvSpPr>
          <p:cNvPr id="21536" name="Rectangle 32"/>
          <p:cNvSpPr>
            <a:spLocks noChangeArrowheads="1"/>
          </p:cNvSpPr>
          <p:nvPr/>
        </p:nvSpPr>
        <p:spPr bwMode="auto">
          <a:xfrm>
            <a:off x="5803900" y="4377694"/>
            <a:ext cx="1342034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100"/>
              <a:t>V. iliaque externe</a:t>
            </a:r>
          </a:p>
        </p:txBody>
      </p:sp>
      <p:sp>
        <p:nvSpPr>
          <p:cNvPr id="21537" name="Rectangle 33"/>
          <p:cNvSpPr>
            <a:spLocks noChangeArrowheads="1"/>
          </p:cNvSpPr>
          <p:nvPr/>
        </p:nvSpPr>
        <p:spPr bwMode="auto">
          <a:xfrm>
            <a:off x="5808663" y="4582482"/>
            <a:ext cx="94288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100"/>
              <a:t>V. fémorale</a:t>
            </a:r>
          </a:p>
        </p:txBody>
      </p:sp>
      <p:sp>
        <p:nvSpPr>
          <p:cNvPr id="21538" name="Rectangle 34"/>
          <p:cNvSpPr>
            <a:spLocks noChangeArrowheads="1"/>
          </p:cNvSpPr>
          <p:nvPr/>
        </p:nvSpPr>
        <p:spPr bwMode="auto">
          <a:xfrm>
            <a:off x="5808663" y="4763457"/>
            <a:ext cx="1683474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100"/>
              <a:t>Veine grande saphène</a:t>
            </a:r>
          </a:p>
        </p:txBody>
      </p:sp>
      <p:sp>
        <p:nvSpPr>
          <p:cNvPr id="21539" name="Rectangle 35"/>
          <p:cNvSpPr>
            <a:spLocks noChangeArrowheads="1"/>
          </p:cNvSpPr>
          <p:nvPr/>
        </p:nvSpPr>
        <p:spPr bwMode="auto">
          <a:xfrm>
            <a:off x="5803900" y="4958719"/>
            <a:ext cx="896399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100"/>
              <a:t>V. poplitée</a:t>
            </a:r>
          </a:p>
        </p:txBody>
      </p:sp>
      <p:sp>
        <p:nvSpPr>
          <p:cNvPr id="21540" name="Rectangle 36"/>
          <p:cNvSpPr>
            <a:spLocks noChangeArrowheads="1"/>
          </p:cNvSpPr>
          <p:nvPr/>
        </p:nvSpPr>
        <p:spPr bwMode="auto">
          <a:xfrm>
            <a:off x="5808663" y="5368294"/>
            <a:ext cx="156805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100"/>
              <a:t>V. tibiale postérieure</a:t>
            </a:r>
          </a:p>
        </p:txBody>
      </p:sp>
      <p:sp>
        <p:nvSpPr>
          <p:cNvPr id="21541" name="Rectangle 37"/>
          <p:cNvSpPr>
            <a:spLocks noChangeArrowheads="1"/>
          </p:cNvSpPr>
          <p:nvPr/>
        </p:nvSpPr>
        <p:spPr bwMode="auto">
          <a:xfrm>
            <a:off x="5803900" y="5573082"/>
            <a:ext cx="1481496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100"/>
              <a:t>V. tibiale antérieure</a:t>
            </a:r>
          </a:p>
        </p:txBody>
      </p:sp>
      <p:sp>
        <p:nvSpPr>
          <p:cNvPr id="21542" name="Rectangle 38"/>
          <p:cNvSpPr>
            <a:spLocks noChangeArrowheads="1"/>
          </p:cNvSpPr>
          <p:nvPr/>
        </p:nvSpPr>
        <p:spPr bwMode="auto">
          <a:xfrm>
            <a:off x="5803900" y="5787394"/>
            <a:ext cx="1587294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100"/>
              <a:t>Veine petite saphène</a:t>
            </a:r>
          </a:p>
        </p:txBody>
      </p:sp>
      <p:sp>
        <p:nvSpPr>
          <p:cNvPr id="21543" name="Rectangle 39"/>
          <p:cNvSpPr>
            <a:spLocks noChangeArrowheads="1"/>
          </p:cNvSpPr>
          <p:nvPr/>
        </p:nvSpPr>
        <p:spPr bwMode="auto">
          <a:xfrm>
            <a:off x="5803900" y="6082669"/>
            <a:ext cx="238719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100"/>
              <a:t>Arcade veineuse dorsale du pied</a:t>
            </a:r>
          </a:p>
        </p:txBody>
      </p:sp>
      <p:sp>
        <p:nvSpPr>
          <p:cNvPr id="21545" name="Rectangle 41"/>
          <p:cNvSpPr>
            <a:spLocks noChangeArrowheads="1"/>
          </p:cNvSpPr>
          <p:nvPr/>
        </p:nvSpPr>
        <p:spPr bwMode="auto">
          <a:xfrm>
            <a:off x="469901" y="6044197"/>
            <a:ext cx="2739230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100" dirty="0">
                <a:solidFill>
                  <a:srgbClr val="0000FF"/>
                </a:solidFill>
              </a:rPr>
              <a:t>Figure 19.28b  </a:t>
            </a:r>
            <a:r>
              <a:rPr lang="fr-CA" altLang="fr-FR" sz="1100" b="0" dirty="0">
                <a:solidFill>
                  <a:srgbClr val="0000FF"/>
                </a:solidFill>
              </a:rPr>
              <a:t>Les vaisseaux de la circulation pulmonaire ne sont pas représentés.</a:t>
            </a:r>
          </a:p>
        </p:txBody>
      </p:sp>
      <p:sp>
        <p:nvSpPr>
          <p:cNvPr id="21546" name="Freeform 42"/>
          <p:cNvSpPr>
            <a:spLocks/>
          </p:cNvSpPr>
          <p:nvPr/>
        </p:nvSpPr>
        <p:spPr bwMode="auto">
          <a:xfrm>
            <a:off x="2740025" y="903287"/>
            <a:ext cx="1417638" cy="106363"/>
          </a:xfrm>
          <a:custGeom>
            <a:avLst/>
            <a:gdLst>
              <a:gd name="T0" fmla="*/ 0 w 893"/>
              <a:gd name="T1" fmla="*/ 0 h 67"/>
              <a:gd name="T2" fmla="*/ 2147483647 w 893"/>
              <a:gd name="T3" fmla="*/ 2147483647 h 67"/>
              <a:gd name="T4" fmla="*/ 2147483647 w 893"/>
              <a:gd name="T5" fmla="*/ 2147483647 h 67"/>
              <a:gd name="T6" fmla="*/ 0 60000 65536"/>
              <a:gd name="T7" fmla="*/ 0 60000 65536"/>
              <a:gd name="T8" fmla="*/ 0 60000 65536"/>
              <a:gd name="T9" fmla="*/ 0 w 893"/>
              <a:gd name="T10" fmla="*/ 0 h 67"/>
              <a:gd name="T11" fmla="*/ 893 w 893"/>
              <a:gd name="T12" fmla="*/ 67 h 6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93" h="67">
                <a:moveTo>
                  <a:pt x="0" y="0"/>
                </a:moveTo>
                <a:lnTo>
                  <a:pt x="376" y="3"/>
                </a:lnTo>
                <a:lnTo>
                  <a:pt x="893" y="67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21547" name="Line 43"/>
          <p:cNvSpPr>
            <a:spLocks noChangeShapeType="1"/>
          </p:cNvSpPr>
          <p:nvPr/>
        </p:nvSpPr>
        <p:spPr bwMode="auto">
          <a:xfrm>
            <a:off x="4030663" y="995362"/>
            <a:ext cx="174625" cy="130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21548" name="Freeform 44"/>
          <p:cNvSpPr>
            <a:spLocks/>
          </p:cNvSpPr>
          <p:nvPr/>
        </p:nvSpPr>
        <p:spPr bwMode="auto">
          <a:xfrm>
            <a:off x="2647950" y="1111250"/>
            <a:ext cx="1631950" cy="274637"/>
          </a:xfrm>
          <a:custGeom>
            <a:avLst/>
            <a:gdLst>
              <a:gd name="T0" fmla="*/ 0 w 1028"/>
              <a:gd name="T1" fmla="*/ 2147483647 h 173"/>
              <a:gd name="T2" fmla="*/ 2147483647 w 1028"/>
              <a:gd name="T3" fmla="*/ 0 h 173"/>
              <a:gd name="T4" fmla="*/ 2147483647 w 1028"/>
              <a:gd name="T5" fmla="*/ 2147483647 h 173"/>
              <a:gd name="T6" fmla="*/ 0 60000 65536"/>
              <a:gd name="T7" fmla="*/ 0 60000 65536"/>
              <a:gd name="T8" fmla="*/ 0 60000 65536"/>
              <a:gd name="T9" fmla="*/ 0 w 1028"/>
              <a:gd name="T10" fmla="*/ 0 h 173"/>
              <a:gd name="T11" fmla="*/ 1028 w 1028"/>
              <a:gd name="T12" fmla="*/ 173 h 1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28" h="173">
                <a:moveTo>
                  <a:pt x="0" y="3"/>
                </a:moveTo>
                <a:lnTo>
                  <a:pt x="407" y="0"/>
                </a:lnTo>
                <a:lnTo>
                  <a:pt x="1028" y="173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21549" name="Freeform 45"/>
          <p:cNvSpPr>
            <a:spLocks/>
          </p:cNvSpPr>
          <p:nvPr/>
        </p:nvSpPr>
        <p:spPr bwMode="auto">
          <a:xfrm>
            <a:off x="2582863" y="1520825"/>
            <a:ext cx="1811337" cy="50800"/>
          </a:xfrm>
          <a:custGeom>
            <a:avLst/>
            <a:gdLst>
              <a:gd name="T0" fmla="*/ 0 w 1141"/>
              <a:gd name="T1" fmla="*/ 2147483647 h 32"/>
              <a:gd name="T2" fmla="*/ 2147483647 w 1141"/>
              <a:gd name="T3" fmla="*/ 0 h 32"/>
              <a:gd name="T4" fmla="*/ 2147483647 w 1141"/>
              <a:gd name="T5" fmla="*/ 2147483647 h 32"/>
              <a:gd name="T6" fmla="*/ 0 60000 65536"/>
              <a:gd name="T7" fmla="*/ 0 60000 65536"/>
              <a:gd name="T8" fmla="*/ 0 60000 65536"/>
              <a:gd name="T9" fmla="*/ 0 w 1141"/>
              <a:gd name="T10" fmla="*/ 0 h 32"/>
              <a:gd name="T11" fmla="*/ 1141 w 1141"/>
              <a:gd name="T12" fmla="*/ 32 h 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41" h="32">
                <a:moveTo>
                  <a:pt x="0" y="3"/>
                </a:moveTo>
                <a:lnTo>
                  <a:pt x="456" y="0"/>
                </a:lnTo>
                <a:lnTo>
                  <a:pt x="1141" y="3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21550" name="Freeform 47"/>
          <p:cNvSpPr>
            <a:spLocks/>
          </p:cNvSpPr>
          <p:nvPr/>
        </p:nvSpPr>
        <p:spPr bwMode="auto">
          <a:xfrm>
            <a:off x="2066925" y="1703387"/>
            <a:ext cx="2282825" cy="63500"/>
          </a:xfrm>
          <a:custGeom>
            <a:avLst/>
            <a:gdLst>
              <a:gd name="T0" fmla="*/ 0 w 1438"/>
              <a:gd name="T1" fmla="*/ 0 h 40"/>
              <a:gd name="T2" fmla="*/ 2147483647 w 1438"/>
              <a:gd name="T3" fmla="*/ 0 h 40"/>
              <a:gd name="T4" fmla="*/ 2147483647 w 1438"/>
              <a:gd name="T5" fmla="*/ 2147483647 h 40"/>
              <a:gd name="T6" fmla="*/ 0 60000 65536"/>
              <a:gd name="T7" fmla="*/ 0 60000 65536"/>
              <a:gd name="T8" fmla="*/ 0 60000 65536"/>
              <a:gd name="T9" fmla="*/ 0 w 1438"/>
              <a:gd name="T10" fmla="*/ 0 h 40"/>
              <a:gd name="T11" fmla="*/ 1438 w 1438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38" h="40">
                <a:moveTo>
                  <a:pt x="0" y="0"/>
                </a:moveTo>
                <a:lnTo>
                  <a:pt x="772" y="0"/>
                </a:lnTo>
                <a:lnTo>
                  <a:pt x="1438" y="4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21551" name="Line 48"/>
          <p:cNvSpPr>
            <a:spLocks noChangeShapeType="1"/>
          </p:cNvSpPr>
          <p:nvPr/>
        </p:nvSpPr>
        <p:spPr bwMode="auto">
          <a:xfrm>
            <a:off x="3289300" y="1703387"/>
            <a:ext cx="1130300" cy="9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21552" name="Freeform 49"/>
          <p:cNvSpPr>
            <a:spLocks/>
          </p:cNvSpPr>
          <p:nvPr/>
        </p:nvSpPr>
        <p:spPr bwMode="auto">
          <a:xfrm>
            <a:off x="2517775" y="1936750"/>
            <a:ext cx="1863725" cy="203200"/>
          </a:xfrm>
          <a:custGeom>
            <a:avLst/>
            <a:gdLst>
              <a:gd name="T0" fmla="*/ 0 w 1174"/>
              <a:gd name="T1" fmla="*/ 2147483647 h 128"/>
              <a:gd name="T2" fmla="*/ 2147483647 w 1174"/>
              <a:gd name="T3" fmla="*/ 2147483647 h 128"/>
              <a:gd name="T4" fmla="*/ 2147483647 w 1174"/>
              <a:gd name="T5" fmla="*/ 0 h 128"/>
              <a:gd name="T6" fmla="*/ 0 60000 65536"/>
              <a:gd name="T7" fmla="*/ 0 60000 65536"/>
              <a:gd name="T8" fmla="*/ 0 60000 65536"/>
              <a:gd name="T9" fmla="*/ 0 w 1174"/>
              <a:gd name="T10" fmla="*/ 0 h 128"/>
              <a:gd name="T11" fmla="*/ 1174 w 1174"/>
              <a:gd name="T12" fmla="*/ 128 h 1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74" h="128">
                <a:moveTo>
                  <a:pt x="0" y="128"/>
                </a:moveTo>
                <a:lnTo>
                  <a:pt x="873" y="128"/>
                </a:lnTo>
                <a:lnTo>
                  <a:pt x="1174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21553" name="Freeform 50"/>
          <p:cNvSpPr>
            <a:spLocks/>
          </p:cNvSpPr>
          <p:nvPr/>
        </p:nvSpPr>
        <p:spPr bwMode="auto">
          <a:xfrm>
            <a:off x="2430463" y="2114550"/>
            <a:ext cx="2082800" cy="211137"/>
          </a:xfrm>
          <a:custGeom>
            <a:avLst/>
            <a:gdLst>
              <a:gd name="T0" fmla="*/ 0 w 1312"/>
              <a:gd name="T1" fmla="*/ 2147483647 h 133"/>
              <a:gd name="T2" fmla="*/ 2147483647 w 1312"/>
              <a:gd name="T3" fmla="*/ 2147483647 h 133"/>
              <a:gd name="T4" fmla="*/ 2147483647 w 1312"/>
              <a:gd name="T5" fmla="*/ 0 h 133"/>
              <a:gd name="T6" fmla="*/ 0 60000 65536"/>
              <a:gd name="T7" fmla="*/ 0 60000 65536"/>
              <a:gd name="T8" fmla="*/ 0 60000 65536"/>
              <a:gd name="T9" fmla="*/ 0 w 1312"/>
              <a:gd name="T10" fmla="*/ 0 h 133"/>
              <a:gd name="T11" fmla="*/ 1312 w 1312"/>
              <a:gd name="T12" fmla="*/ 133 h 13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12" h="133">
                <a:moveTo>
                  <a:pt x="0" y="133"/>
                </a:moveTo>
                <a:lnTo>
                  <a:pt x="1064" y="133"/>
                </a:lnTo>
                <a:lnTo>
                  <a:pt x="1312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21554" name="Freeform 51"/>
          <p:cNvSpPr>
            <a:spLocks/>
          </p:cNvSpPr>
          <p:nvPr/>
        </p:nvSpPr>
        <p:spPr bwMode="auto">
          <a:xfrm>
            <a:off x="2057400" y="2490787"/>
            <a:ext cx="2417763" cy="63500"/>
          </a:xfrm>
          <a:custGeom>
            <a:avLst/>
            <a:gdLst>
              <a:gd name="T0" fmla="*/ 0 w 1523"/>
              <a:gd name="T1" fmla="*/ 2147483647 h 40"/>
              <a:gd name="T2" fmla="*/ 2147483647 w 1523"/>
              <a:gd name="T3" fmla="*/ 2147483647 h 40"/>
              <a:gd name="T4" fmla="*/ 2147483647 w 1523"/>
              <a:gd name="T5" fmla="*/ 0 h 40"/>
              <a:gd name="T6" fmla="*/ 0 60000 65536"/>
              <a:gd name="T7" fmla="*/ 0 60000 65536"/>
              <a:gd name="T8" fmla="*/ 0 60000 65536"/>
              <a:gd name="T9" fmla="*/ 0 w 1523"/>
              <a:gd name="T10" fmla="*/ 0 h 40"/>
              <a:gd name="T11" fmla="*/ 1523 w 1523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23" h="40">
                <a:moveTo>
                  <a:pt x="0" y="40"/>
                </a:moveTo>
                <a:lnTo>
                  <a:pt x="1136" y="37"/>
                </a:lnTo>
                <a:lnTo>
                  <a:pt x="1523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21555" name="Freeform 52"/>
          <p:cNvSpPr>
            <a:spLocks/>
          </p:cNvSpPr>
          <p:nvPr/>
        </p:nvSpPr>
        <p:spPr bwMode="auto">
          <a:xfrm>
            <a:off x="3860800" y="2444750"/>
            <a:ext cx="436563" cy="101600"/>
          </a:xfrm>
          <a:custGeom>
            <a:avLst/>
            <a:gdLst>
              <a:gd name="T0" fmla="*/ 0 w 275"/>
              <a:gd name="T1" fmla="*/ 2147483647 h 64"/>
              <a:gd name="T2" fmla="*/ 2147483647 w 275"/>
              <a:gd name="T3" fmla="*/ 0 h 64"/>
              <a:gd name="T4" fmla="*/ 0 60000 65536"/>
              <a:gd name="T5" fmla="*/ 0 60000 65536"/>
              <a:gd name="T6" fmla="*/ 0 w 275"/>
              <a:gd name="T7" fmla="*/ 0 h 64"/>
              <a:gd name="T8" fmla="*/ 275 w 275"/>
              <a:gd name="T9" fmla="*/ 64 h 6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75" h="64">
                <a:moveTo>
                  <a:pt x="0" y="64"/>
                </a:moveTo>
                <a:lnTo>
                  <a:pt x="275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21556" name="Freeform 53"/>
          <p:cNvSpPr>
            <a:spLocks/>
          </p:cNvSpPr>
          <p:nvPr/>
        </p:nvSpPr>
        <p:spPr bwMode="auto">
          <a:xfrm>
            <a:off x="1949450" y="2651125"/>
            <a:ext cx="2835275" cy="111125"/>
          </a:xfrm>
          <a:custGeom>
            <a:avLst/>
            <a:gdLst>
              <a:gd name="T0" fmla="*/ 0 w 1786"/>
              <a:gd name="T1" fmla="*/ 2147483647 h 70"/>
              <a:gd name="T2" fmla="*/ 2147483647 w 1786"/>
              <a:gd name="T3" fmla="*/ 2147483647 h 70"/>
              <a:gd name="T4" fmla="*/ 2147483647 w 1786"/>
              <a:gd name="T5" fmla="*/ 0 h 70"/>
              <a:gd name="T6" fmla="*/ 2147483647 w 1786"/>
              <a:gd name="T7" fmla="*/ 2147483647 h 70"/>
              <a:gd name="T8" fmla="*/ 2147483647 w 1786"/>
              <a:gd name="T9" fmla="*/ 2147483647 h 7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786"/>
              <a:gd name="T16" fmla="*/ 0 h 70"/>
              <a:gd name="T17" fmla="*/ 1786 w 1786"/>
              <a:gd name="T18" fmla="*/ 70 h 7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786" h="70">
                <a:moveTo>
                  <a:pt x="0" y="69"/>
                </a:moveTo>
                <a:lnTo>
                  <a:pt x="724" y="70"/>
                </a:lnTo>
                <a:lnTo>
                  <a:pt x="1175" y="0"/>
                </a:lnTo>
                <a:lnTo>
                  <a:pt x="1746" y="3"/>
                </a:lnTo>
                <a:lnTo>
                  <a:pt x="1786" y="22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21557" name="Freeform 54"/>
          <p:cNvSpPr>
            <a:spLocks/>
          </p:cNvSpPr>
          <p:nvPr/>
        </p:nvSpPr>
        <p:spPr bwMode="auto">
          <a:xfrm>
            <a:off x="2498725" y="2689225"/>
            <a:ext cx="1905000" cy="309562"/>
          </a:xfrm>
          <a:custGeom>
            <a:avLst/>
            <a:gdLst>
              <a:gd name="T0" fmla="*/ 0 w 1200"/>
              <a:gd name="T1" fmla="*/ 2147483647 h 195"/>
              <a:gd name="T2" fmla="*/ 2147483647 w 1200"/>
              <a:gd name="T3" fmla="*/ 2147483647 h 195"/>
              <a:gd name="T4" fmla="*/ 2147483647 w 1200"/>
              <a:gd name="T5" fmla="*/ 0 h 195"/>
              <a:gd name="T6" fmla="*/ 0 60000 65536"/>
              <a:gd name="T7" fmla="*/ 0 60000 65536"/>
              <a:gd name="T8" fmla="*/ 0 60000 65536"/>
              <a:gd name="T9" fmla="*/ 0 w 1200"/>
              <a:gd name="T10" fmla="*/ 0 h 195"/>
              <a:gd name="T11" fmla="*/ 1200 w 1200"/>
              <a:gd name="T12" fmla="*/ 195 h 19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00" h="195">
                <a:moveTo>
                  <a:pt x="0" y="195"/>
                </a:moveTo>
                <a:lnTo>
                  <a:pt x="378" y="195"/>
                </a:lnTo>
                <a:lnTo>
                  <a:pt x="120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21558" name="Freeform 55"/>
          <p:cNvSpPr>
            <a:spLocks/>
          </p:cNvSpPr>
          <p:nvPr/>
        </p:nvSpPr>
        <p:spPr bwMode="auto">
          <a:xfrm>
            <a:off x="1795463" y="2813050"/>
            <a:ext cx="2532062" cy="411162"/>
          </a:xfrm>
          <a:custGeom>
            <a:avLst/>
            <a:gdLst>
              <a:gd name="T0" fmla="*/ 0 w 1595"/>
              <a:gd name="T1" fmla="*/ 2147483647 h 259"/>
              <a:gd name="T2" fmla="*/ 2147483647 w 1595"/>
              <a:gd name="T3" fmla="*/ 2147483647 h 259"/>
              <a:gd name="T4" fmla="*/ 2147483647 w 1595"/>
              <a:gd name="T5" fmla="*/ 0 h 259"/>
              <a:gd name="T6" fmla="*/ 0 60000 65536"/>
              <a:gd name="T7" fmla="*/ 0 60000 65536"/>
              <a:gd name="T8" fmla="*/ 0 60000 65536"/>
              <a:gd name="T9" fmla="*/ 0 w 1595"/>
              <a:gd name="T10" fmla="*/ 0 h 259"/>
              <a:gd name="T11" fmla="*/ 1595 w 1595"/>
              <a:gd name="T12" fmla="*/ 259 h 25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95" h="259">
                <a:moveTo>
                  <a:pt x="0" y="259"/>
                </a:moveTo>
                <a:lnTo>
                  <a:pt x="696" y="256"/>
                </a:lnTo>
                <a:lnTo>
                  <a:pt x="1595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21559" name="Freeform 56"/>
          <p:cNvSpPr>
            <a:spLocks/>
          </p:cNvSpPr>
          <p:nvPr/>
        </p:nvSpPr>
        <p:spPr bwMode="auto">
          <a:xfrm>
            <a:off x="3003550" y="2927350"/>
            <a:ext cx="1454150" cy="528637"/>
          </a:xfrm>
          <a:custGeom>
            <a:avLst/>
            <a:gdLst>
              <a:gd name="T0" fmla="*/ 0 w 916"/>
              <a:gd name="T1" fmla="*/ 2147483647 h 333"/>
              <a:gd name="T2" fmla="*/ 2147483647 w 916"/>
              <a:gd name="T3" fmla="*/ 2147483647 h 333"/>
              <a:gd name="T4" fmla="*/ 2147483647 w 916"/>
              <a:gd name="T5" fmla="*/ 0 h 333"/>
              <a:gd name="T6" fmla="*/ 0 60000 65536"/>
              <a:gd name="T7" fmla="*/ 0 60000 65536"/>
              <a:gd name="T8" fmla="*/ 0 60000 65536"/>
              <a:gd name="T9" fmla="*/ 0 w 916"/>
              <a:gd name="T10" fmla="*/ 0 h 333"/>
              <a:gd name="T11" fmla="*/ 916 w 916"/>
              <a:gd name="T12" fmla="*/ 333 h 33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6" h="333">
                <a:moveTo>
                  <a:pt x="0" y="332"/>
                </a:moveTo>
                <a:lnTo>
                  <a:pt x="199" y="333"/>
                </a:lnTo>
                <a:lnTo>
                  <a:pt x="916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21560" name="Freeform 57"/>
          <p:cNvSpPr>
            <a:spLocks/>
          </p:cNvSpPr>
          <p:nvPr/>
        </p:nvSpPr>
        <p:spPr bwMode="auto">
          <a:xfrm>
            <a:off x="2878138" y="3062287"/>
            <a:ext cx="1635125" cy="596900"/>
          </a:xfrm>
          <a:custGeom>
            <a:avLst/>
            <a:gdLst>
              <a:gd name="T0" fmla="*/ 0 w 1030"/>
              <a:gd name="T1" fmla="*/ 2147483647 h 376"/>
              <a:gd name="T2" fmla="*/ 2147483647 w 1030"/>
              <a:gd name="T3" fmla="*/ 2147483647 h 376"/>
              <a:gd name="T4" fmla="*/ 2147483647 w 1030"/>
              <a:gd name="T5" fmla="*/ 2147483647 h 376"/>
              <a:gd name="T6" fmla="*/ 2147483647 w 1030"/>
              <a:gd name="T7" fmla="*/ 0 h 376"/>
              <a:gd name="T8" fmla="*/ 0 60000 65536"/>
              <a:gd name="T9" fmla="*/ 0 60000 65536"/>
              <a:gd name="T10" fmla="*/ 0 60000 65536"/>
              <a:gd name="T11" fmla="*/ 0 60000 65536"/>
              <a:gd name="T12" fmla="*/ 0 w 1030"/>
              <a:gd name="T13" fmla="*/ 0 h 376"/>
              <a:gd name="T14" fmla="*/ 1030 w 1030"/>
              <a:gd name="T15" fmla="*/ 376 h 3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30" h="376">
                <a:moveTo>
                  <a:pt x="0" y="376"/>
                </a:moveTo>
                <a:lnTo>
                  <a:pt x="270" y="371"/>
                </a:lnTo>
                <a:lnTo>
                  <a:pt x="833" y="45"/>
                </a:lnTo>
                <a:lnTo>
                  <a:pt x="103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21561" name="Freeform 58"/>
          <p:cNvSpPr>
            <a:spLocks/>
          </p:cNvSpPr>
          <p:nvPr/>
        </p:nvSpPr>
        <p:spPr bwMode="auto">
          <a:xfrm>
            <a:off x="2401888" y="3100387"/>
            <a:ext cx="2039937" cy="762000"/>
          </a:xfrm>
          <a:custGeom>
            <a:avLst/>
            <a:gdLst>
              <a:gd name="T0" fmla="*/ 0 w 1285"/>
              <a:gd name="T1" fmla="*/ 2147483647 h 480"/>
              <a:gd name="T2" fmla="*/ 2147483647 w 1285"/>
              <a:gd name="T3" fmla="*/ 2147483647 h 480"/>
              <a:gd name="T4" fmla="*/ 2147483647 w 1285"/>
              <a:gd name="T5" fmla="*/ 0 h 480"/>
              <a:gd name="T6" fmla="*/ 0 60000 65536"/>
              <a:gd name="T7" fmla="*/ 0 60000 65536"/>
              <a:gd name="T8" fmla="*/ 0 60000 65536"/>
              <a:gd name="T9" fmla="*/ 0 w 1285"/>
              <a:gd name="T10" fmla="*/ 0 h 480"/>
              <a:gd name="T11" fmla="*/ 1285 w 1285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85" h="480">
                <a:moveTo>
                  <a:pt x="0" y="480"/>
                </a:moveTo>
                <a:lnTo>
                  <a:pt x="687" y="475"/>
                </a:lnTo>
                <a:lnTo>
                  <a:pt x="1285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21562" name="Freeform 61"/>
          <p:cNvSpPr>
            <a:spLocks/>
          </p:cNvSpPr>
          <p:nvPr/>
        </p:nvSpPr>
        <p:spPr bwMode="auto">
          <a:xfrm>
            <a:off x="4795838" y="1520825"/>
            <a:ext cx="1063625" cy="254000"/>
          </a:xfrm>
          <a:custGeom>
            <a:avLst/>
            <a:gdLst>
              <a:gd name="T0" fmla="*/ 0 w 670"/>
              <a:gd name="T1" fmla="*/ 2147483647 h 160"/>
              <a:gd name="T2" fmla="*/ 2147483647 w 670"/>
              <a:gd name="T3" fmla="*/ 0 h 160"/>
              <a:gd name="T4" fmla="*/ 2147483647 w 670"/>
              <a:gd name="T5" fmla="*/ 2147483647 h 160"/>
              <a:gd name="T6" fmla="*/ 0 60000 65536"/>
              <a:gd name="T7" fmla="*/ 0 60000 65536"/>
              <a:gd name="T8" fmla="*/ 0 60000 65536"/>
              <a:gd name="T9" fmla="*/ 0 w 670"/>
              <a:gd name="T10" fmla="*/ 0 h 160"/>
              <a:gd name="T11" fmla="*/ 670 w 670"/>
              <a:gd name="T12" fmla="*/ 160 h 1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70" h="160">
                <a:moveTo>
                  <a:pt x="0" y="160"/>
                </a:moveTo>
                <a:lnTo>
                  <a:pt x="450" y="0"/>
                </a:lnTo>
                <a:lnTo>
                  <a:pt x="670" y="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21563" name="Freeform 62"/>
          <p:cNvSpPr>
            <a:spLocks/>
          </p:cNvSpPr>
          <p:nvPr/>
        </p:nvSpPr>
        <p:spPr bwMode="auto">
          <a:xfrm>
            <a:off x="4592638" y="1306512"/>
            <a:ext cx="1266825" cy="409575"/>
          </a:xfrm>
          <a:custGeom>
            <a:avLst/>
            <a:gdLst>
              <a:gd name="T0" fmla="*/ 0 w 798"/>
              <a:gd name="T1" fmla="*/ 2147483647 h 258"/>
              <a:gd name="T2" fmla="*/ 2147483647 w 798"/>
              <a:gd name="T3" fmla="*/ 0 h 258"/>
              <a:gd name="T4" fmla="*/ 2147483647 w 798"/>
              <a:gd name="T5" fmla="*/ 2147483647 h 258"/>
              <a:gd name="T6" fmla="*/ 0 60000 65536"/>
              <a:gd name="T7" fmla="*/ 0 60000 65536"/>
              <a:gd name="T8" fmla="*/ 0 60000 65536"/>
              <a:gd name="T9" fmla="*/ 0 w 798"/>
              <a:gd name="T10" fmla="*/ 0 h 258"/>
              <a:gd name="T11" fmla="*/ 798 w 798"/>
              <a:gd name="T12" fmla="*/ 258 h 2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98" h="258">
                <a:moveTo>
                  <a:pt x="0" y="258"/>
                </a:moveTo>
                <a:lnTo>
                  <a:pt x="622" y="0"/>
                </a:lnTo>
                <a:lnTo>
                  <a:pt x="798" y="4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21564" name="Freeform 63"/>
          <p:cNvSpPr>
            <a:spLocks/>
          </p:cNvSpPr>
          <p:nvPr/>
        </p:nvSpPr>
        <p:spPr bwMode="auto">
          <a:xfrm>
            <a:off x="4987925" y="1733550"/>
            <a:ext cx="871538" cy="163512"/>
          </a:xfrm>
          <a:custGeom>
            <a:avLst/>
            <a:gdLst>
              <a:gd name="T0" fmla="*/ 0 w 549"/>
              <a:gd name="T1" fmla="*/ 2147483647 h 103"/>
              <a:gd name="T2" fmla="*/ 2147483647 w 549"/>
              <a:gd name="T3" fmla="*/ 2147483647 h 103"/>
              <a:gd name="T4" fmla="*/ 2147483647 w 549"/>
              <a:gd name="T5" fmla="*/ 0 h 103"/>
              <a:gd name="T6" fmla="*/ 0 60000 65536"/>
              <a:gd name="T7" fmla="*/ 0 60000 65536"/>
              <a:gd name="T8" fmla="*/ 0 60000 65536"/>
              <a:gd name="T9" fmla="*/ 0 w 549"/>
              <a:gd name="T10" fmla="*/ 0 h 103"/>
              <a:gd name="T11" fmla="*/ 549 w 549"/>
              <a:gd name="T12" fmla="*/ 103 h 10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49" h="103">
                <a:moveTo>
                  <a:pt x="0" y="103"/>
                </a:moveTo>
                <a:lnTo>
                  <a:pt x="428" y="3"/>
                </a:lnTo>
                <a:lnTo>
                  <a:pt x="549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21565" name="Freeform 64"/>
          <p:cNvSpPr>
            <a:spLocks/>
          </p:cNvSpPr>
          <p:nvPr/>
        </p:nvSpPr>
        <p:spPr bwMode="auto">
          <a:xfrm>
            <a:off x="4983163" y="1927225"/>
            <a:ext cx="873125" cy="88900"/>
          </a:xfrm>
          <a:custGeom>
            <a:avLst/>
            <a:gdLst>
              <a:gd name="T0" fmla="*/ 0 w 550"/>
              <a:gd name="T1" fmla="*/ 2147483647 h 56"/>
              <a:gd name="T2" fmla="*/ 2147483647 w 550"/>
              <a:gd name="T3" fmla="*/ 0 h 56"/>
              <a:gd name="T4" fmla="*/ 2147483647 w 550"/>
              <a:gd name="T5" fmla="*/ 2147483647 h 56"/>
              <a:gd name="T6" fmla="*/ 0 60000 65536"/>
              <a:gd name="T7" fmla="*/ 0 60000 65536"/>
              <a:gd name="T8" fmla="*/ 0 60000 65536"/>
              <a:gd name="T9" fmla="*/ 0 w 550"/>
              <a:gd name="T10" fmla="*/ 0 h 56"/>
              <a:gd name="T11" fmla="*/ 550 w 55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50" h="56">
                <a:moveTo>
                  <a:pt x="0" y="56"/>
                </a:moveTo>
                <a:lnTo>
                  <a:pt x="438" y="0"/>
                </a:lnTo>
                <a:lnTo>
                  <a:pt x="550" y="4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21566" name="Line 65"/>
          <p:cNvSpPr>
            <a:spLocks noChangeShapeType="1"/>
          </p:cNvSpPr>
          <p:nvPr/>
        </p:nvSpPr>
        <p:spPr bwMode="auto">
          <a:xfrm>
            <a:off x="4979988" y="2120900"/>
            <a:ext cx="88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21567" name="Freeform 66"/>
          <p:cNvSpPr>
            <a:spLocks/>
          </p:cNvSpPr>
          <p:nvPr/>
        </p:nvSpPr>
        <p:spPr bwMode="auto">
          <a:xfrm>
            <a:off x="5278438" y="2786062"/>
            <a:ext cx="577850" cy="71438"/>
          </a:xfrm>
          <a:custGeom>
            <a:avLst/>
            <a:gdLst>
              <a:gd name="T0" fmla="*/ 0 w 364"/>
              <a:gd name="T1" fmla="*/ 2147483647 h 45"/>
              <a:gd name="T2" fmla="*/ 2147483647 w 364"/>
              <a:gd name="T3" fmla="*/ 0 h 45"/>
              <a:gd name="T4" fmla="*/ 2147483647 w 364"/>
              <a:gd name="T5" fmla="*/ 0 h 45"/>
              <a:gd name="T6" fmla="*/ 0 60000 65536"/>
              <a:gd name="T7" fmla="*/ 0 60000 65536"/>
              <a:gd name="T8" fmla="*/ 0 60000 65536"/>
              <a:gd name="T9" fmla="*/ 0 w 364"/>
              <a:gd name="T10" fmla="*/ 0 h 45"/>
              <a:gd name="T11" fmla="*/ 364 w 364"/>
              <a:gd name="T12" fmla="*/ 45 h 4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64" h="45">
                <a:moveTo>
                  <a:pt x="0" y="45"/>
                </a:moveTo>
                <a:lnTo>
                  <a:pt x="270" y="0"/>
                </a:lnTo>
                <a:lnTo>
                  <a:pt x="364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21568" name="Freeform 67"/>
          <p:cNvSpPr>
            <a:spLocks/>
          </p:cNvSpPr>
          <p:nvPr/>
        </p:nvSpPr>
        <p:spPr bwMode="auto">
          <a:xfrm>
            <a:off x="5265738" y="2974975"/>
            <a:ext cx="585787" cy="69850"/>
          </a:xfrm>
          <a:custGeom>
            <a:avLst/>
            <a:gdLst>
              <a:gd name="T0" fmla="*/ 0 w 369"/>
              <a:gd name="T1" fmla="*/ 2147483647 h 44"/>
              <a:gd name="T2" fmla="*/ 2147483647 w 369"/>
              <a:gd name="T3" fmla="*/ 0 h 44"/>
              <a:gd name="T4" fmla="*/ 2147483647 w 369"/>
              <a:gd name="T5" fmla="*/ 0 h 44"/>
              <a:gd name="T6" fmla="*/ 0 60000 65536"/>
              <a:gd name="T7" fmla="*/ 0 60000 65536"/>
              <a:gd name="T8" fmla="*/ 0 60000 65536"/>
              <a:gd name="T9" fmla="*/ 0 w 369"/>
              <a:gd name="T10" fmla="*/ 0 h 44"/>
              <a:gd name="T11" fmla="*/ 369 w 369"/>
              <a:gd name="T12" fmla="*/ 44 h 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69" h="44">
                <a:moveTo>
                  <a:pt x="0" y="44"/>
                </a:moveTo>
                <a:lnTo>
                  <a:pt x="278" y="0"/>
                </a:lnTo>
                <a:lnTo>
                  <a:pt x="369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21569" name="Line 68"/>
          <p:cNvSpPr>
            <a:spLocks noChangeShapeType="1"/>
          </p:cNvSpPr>
          <p:nvPr/>
        </p:nvSpPr>
        <p:spPr bwMode="auto">
          <a:xfrm>
            <a:off x="5400675" y="3171825"/>
            <a:ext cx="460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21570" name="Freeform 69"/>
          <p:cNvSpPr>
            <a:spLocks/>
          </p:cNvSpPr>
          <p:nvPr/>
        </p:nvSpPr>
        <p:spPr bwMode="auto">
          <a:xfrm>
            <a:off x="5637213" y="3592512"/>
            <a:ext cx="234950" cy="387350"/>
          </a:xfrm>
          <a:custGeom>
            <a:avLst/>
            <a:gdLst>
              <a:gd name="T0" fmla="*/ 0 w 148"/>
              <a:gd name="T1" fmla="*/ 2147483647 h 244"/>
              <a:gd name="T2" fmla="*/ 2147483647 w 148"/>
              <a:gd name="T3" fmla="*/ 0 h 244"/>
              <a:gd name="T4" fmla="*/ 2147483647 w 148"/>
              <a:gd name="T5" fmla="*/ 0 h 244"/>
              <a:gd name="T6" fmla="*/ 0 60000 65536"/>
              <a:gd name="T7" fmla="*/ 0 60000 65536"/>
              <a:gd name="T8" fmla="*/ 0 60000 65536"/>
              <a:gd name="T9" fmla="*/ 0 w 148"/>
              <a:gd name="T10" fmla="*/ 0 h 244"/>
              <a:gd name="T11" fmla="*/ 148 w 148"/>
              <a:gd name="T12" fmla="*/ 244 h 2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8" h="244">
                <a:moveTo>
                  <a:pt x="0" y="244"/>
                </a:moveTo>
                <a:lnTo>
                  <a:pt x="106" y="0"/>
                </a:lnTo>
                <a:lnTo>
                  <a:pt x="148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21572" name="Freeform 71"/>
          <p:cNvSpPr>
            <a:spLocks/>
          </p:cNvSpPr>
          <p:nvPr/>
        </p:nvSpPr>
        <p:spPr bwMode="auto">
          <a:xfrm>
            <a:off x="4637088" y="3454400"/>
            <a:ext cx="1230312" cy="1060450"/>
          </a:xfrm>
          <a:custGeom>
            <a:avLst/>
            <a:gdLst>
              <a:gd name="T0" fmla="*/ 0 w 775"/>
              <a:gd name="T1" fmla="*/ 0 h 668"/>
              <a:gd name="T2" fmla="*/ 2147483647 w 775"/>
              <a:gd name="T3" fmla="*/ 2147483647 h 668"/>
              <a:gd name="T4" fmla="*/ 2147483647 w 775"/>
              <a:gd name="T5" fmla="*/ 2147483647 h 668"/>
              <a:gd name="T6" fmla="*/ 0 60000 65536"/>
              <a:gd name="T7" fmla="*/ 0 60000 65536"/>
              <a:gd name="T8" fmla="*/ 0 60000 65536"/>
              <a:gd name="T9" fmla="*/ 0 w 775"/>
              <a:gd name="T10" fmla="*/ 0 h 668"/>
              <a:gd name="T11" fmla="*/ 775 w 775"/>
              <a:gd name="T12" fmla="*/ 668 h 6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75" h="668">
                <a:moveTo>
                  <a:pt x="0" y="0"/>
                </a:moveTo>
                <a:lnTo>
                  <a:pt x="411" y="668"/>
                </a:lnTo>
                <a:lnTo>
                  <a:pt x="775" y="668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21573" name="Freeform 72"/>
          <p:cNvSpPr>
            <a:spLocks/>
          </p:cNvSpPr>
          <p:nvPr/>
        </p:nvSpPr>
        <p:spPr bwMode="auto">
          <a:xfrm>
            <a:off x="4741863" y="3708400"/>
            <a:ext cx="357187" cy="1000125"/>
          </a:xfrm>
          <a:custGeom>
            <a:avLst/>
            <a:gdLst>
              <a:gd name="T0" fmla="*/ 0 w 225"/>
              <a:gd name="T1" fmla="*/ 0 h 630"/>
              <a:gd name="T2" fmla="*/ 2147483647 w 225"/>
              <a:gd name="T3" fmla="*/ 2147483647 h 630"/>
              <a:gd name="T4" fmla="*/ 0 60000 65536"/>
              <a:gd name="T5" fmla="*/ 0 60000 65536"/>
              <a:gd name="T6" fmla="*/ 0 w 225"/>
              <a:gd name="T7" fmla="*/ 0 h 630"/>
              <a:gd name="T8" fmla="*/ 225 w 225"/>
              <a:gd name="T9" fmla="*/ 630 h 63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25" h="630">
                <a:moveTo>
                  <a:pt x="0" y="0"/>
                </a:moveTo>
                <a:lnTo>
                  <a:pt x="225" y="63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21574" name="Freeform 73"/>
          <p:cNvSpPr>
            <a:spLocks/>
          </p:cNvSpPr>
          <p:nvPr/>
        </p:nvSpPr>
        <p:spPr bwMode="auto">
          <a:xfrm>
            <a:off x="4759325" y="4476750"/>
            <a:ext cx="1096963" cy="233362"/>
          </a:xfrm>
          <a:custGeom>
            <a:avLst/>
            <a:gdLst>
              <a:gd name="T0" fmla="*/ 0 w 691"/>
              <a:gd name="T1" fmla="*/ 0 h 147"/>
              <a:gd name="T2" fmla="*/ 2147483647 w 691"/>
              <a:gd name="T3" fmla="*/ 2147483647 h 147"/>
              <a:gd name="T4" fmla="*/ 2147483647 w 691"/>
              <a:gd name="T5" fmla="*/ 2147483647 h 147"/>
              <a:gd name="T6" fmla="*/ 0 60000 65536"/>
              <a:gd name="T7" fmla="*/ 0 60000 65536"/>
              <a:gd name="T8" fmla="*/ 0 60000 65536"/>
              <a:gd name="T9" fmla="*/ 0 w 691"/>
              <a:gd name="T10" fmla="*/ 0 h 147"/>
              <a:gd name="T11" fmla="*/ 691 w 691"/>
              <a:gd name="T12" fmla="*/ 147 h 1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91" h="147">
                <a:moveTo>
                  <a:pt x="0" y="0"/>
                </a:moveTo>
                <a:lnTo>
                  <a:pt x="208" y="146"/>
                </a:lnTo>
                <a:lnTo>
                  <a:pt x="691" y="147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21575" name="Freeform 74"/>
          <p:cNvSpPr>
            <a:spLocks/>
          </p:cNvSpPr>
          <p:nvPr/>
        </p:nvSpPr>
        <p:spPr bwMode="auto">
          <a:xfrm>
            <a:off x="4681538" y="4714875"/>
            <a:ext cx="1174750" cy="193675"/>
          </a:xfrm>
          <a:custGeom>
            <a:avLst/>
            <a:gdLst>
              <a:gd name="T0" fmla="*/ 0 w 740"/>
              <a:gd name="T1" fmla="*/ 0 h 122"/>
              <a:gd name="T2" fmla="*/ 2147483647 w 740"/>
              <a:gd name="T3" fmla="*/ 2147483647 h 122"/>
              <a:gd name="T4" fmla="*/ 2147483647 w 740"/>
              <a:gd name="T5" fmla="*/ 2147483647 h 122"/>
              <a:gd name="T6" fmla="*/ 0 60000 65536"/>
              <a:gd name="T7" fmla="*/ 0 60000 65536"/>
              <a:gd name="T8" fmla="*/ 0 60000 65536"/>
              <a:gd name="T9" fmla="*/ 0 w 740"/>
              <a:gd name="T10" fmla="*/ 0 h 122"/>
              <a:gd name="T11" fmla="*/ 740 w 740"/>
              <a:gd name="T12" fmla="*/ 122 h 12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40" h="122">
                <a:moveTo>
                  <a:pt x="0" y="0"/>
                </a:moveTo>
                <a:lnTo>
                  <a:pt x="427" y="122"/>
                </a:lnTo>
                <a:lnTo>
                  <a:pt x="740" y="122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21576" name="Freeform 75"/>
          <p:cNvSpPr>
            <a:spLocks/>
          </p:cNvSpPr>
          <p:nvPr/>
        </p:nvSpPr>
        <p:spPr bwMode="auto">
          <a:xfrm>
            <a:off x="4810125" y="4967287"/>
            <a:ext cx="1049338" cy="130175"/>
          </a:xfrm>
          <a:custGeom>
            <a:avLst/>
            <a:gdLst>
              <a:gd name="T0" fmla="*/ 0 w 661"/>
              <a:gd name="T1" fmla="*/ 0 h 82"/>
              <a:gd name="T2" fmla="*/ 2147483647 w 661"/>
              <a:gd name="T3" fmla="*/ 2147483647 h 82"/>
              <a:gd name="T4" fmla="*/ 2147483647 w 661"/>
              <a:gd name="T5" fmla="*/ 2147483647 h 82"/>
              <a:gd name="T6" fmla="*/ 0 60000 65536"/>
              <a:gd name="T7" fmla="*/ 0 60000 65536"/>
              <a:gd name="T8" fmla="*/ 0 60000 65536"/>
              <a:gd name="T9" fmla="*/ 0 w 661"/>
              <a:gd name="T10" fmla="*/ 0 h 82"/>
              <a:gd name="T11" fmla="*/ 661 w 661"/>
              <a:gd name="T12" fmla="*/ 82 h 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61" h="82">
                <a:moveTo>
                  <a:pt x="0" y="0"/>
                </a:moveTo>
                <a:lnTo>
                  <a:pt x="380" y="80"/>
                </a:lnTo>
                <a:lnTo>
                  <a:pt x="661" y="8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21577" name="Freeform 76"/>
          <p:cNvSpPr>
            <a:spLocks/>
          </p:cNvSpPr>
          <p:nvPr/>
        </p:nvSpPr>
        <p:spPr bwMode="auto">
          <a:xfrm>
            <a:off x="4795838" y="5297487"/>
            <a:ext cx="1065212" cy="209550"/>
          </a:xfrm>
          <a:custGeom>
            <a:avLst/>
            <a:gdLst>
              <a:gd name="T0" fmla="*/ 0 w 671"/>
              <a:gd name="T1" fmla="*/ 0 h 132"/>
              <a:gd name="T2" fmla="*/ 2147483647 w 671"/>
              <a:gd name="T3" fmla="*/ 2147483647 h 132"/>
              <a:gd name="T4" fmla="*/ 2147483647 w 671"/>
              <a:gd name="T5" fmla="*/ 2147483647 h 132"/>
              <a:gd name="T6" fmla="*/ 0 60000 65536"/>
              <a:gd name="T7" fmla="*/ 0 60000 65536"/>
              <a:gd name="T8" fmla="*/ 0 60000 65536"/>
              <a:gd name="T9" fmla="*/ 0 w 671"/>
              <a:gd name="T10" fmla="*/ 0 h 132"/>
              <a:gd name="T11" fmla="*/ 671 w 671"/>
              <a:gd name="T12" fmla="*/ 132 h 1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71" h="132">
                <a:moveTo>
                  <a:pt x="0" y="0"/>
                </a:moveTo>
                <a:lnTo>
                  <a:pt x="524" y="130"/>
                </a:lnTo>
                <a:lnTo>
                  <a:pt x="671" y="13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21578" name="Freeform 78"/>
          <p:cNvSpPr>
            <a:spLocks/>
          </p:cNvSpPr>
          <p:nvPr/>
        </p:nvSpPr>
        <p:spPr bwMode="auto">
          <a:xfrm>
            <a:off x="4843463" y="6229350"/>
            <a:ext cx="1006475" cy="171450"/>
          </a:xfrm>
          <a:custGeom>
            <a:avLst/>
            <a:gdLst>
              <a:gd name="T0" fmla="*/ 0 w 634"/>
              <a:gd name="T1" fmla="*/ 2147483647 h 108"/>
              <a:gd name="T2" fmla="*/ 2147483647 w 634"/>
              <a:gd name="T3" fmla="*/ 0 h 108"/>
              <a:gd name="T4" fmla="*/ 2147483647 w 634"/>
              <a:gd name="T5" fmla="*/ 0 h 108"/>
              <a:gd name="T6" fmla="*/ 0 60000 65536"/>
              <a:gd name="T7" fmla="*/ 0 60000 65536"/>
              <a:gd name="T8" fmla="*/ 0 60000 65536"/>
              <a:gd name="T9" fmla="*/ 0 w 634"/>
              <a:gd name="T10" fmla="*/ 0 h 108"/>
              <a:gd name="T11" fmla="*/ 634 w 634"/>
              <a:gd name="T12" fmla="*/ 108 h 10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34" h="108">
                <a:moveTo>
                  <a:pt x="0" y="108"/>
                </a:moveTo>
                <a:lnTo>
                  <a:pt x="139" y="0"/>
                </a:lnTo>
                <a:lnTo>
                  <a:pt x="634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21580" name="Freeform 83"/>
          <p:cNvSpPr>
            <a:spLocks/>
          </p:cNvSpPr>
          <p:nvPr/>
        </p:nvSpPr>
        <p:spPr bwMode="auto">
          <a:xfrm>
            <a:off x="2078038" y="1330325"/>
            <a:ext cx="2262187" cy="114300"/>
          </a:xfrm>
          <a:custGeom>
            <a:avLst/>
            <a:gdLst>
              <a:gd name="T0" fmla="*/ 0 w 1425"/>
              <a:gd name="T1" fmla="*/ 0 h 72"/>
              <a:gd name="T2" fmla="*/ 2147483647 w 1425"/>
              <a:gd name="T3" fmla="*/ 0 h 72"/>
              <a:gd name="T4" fmla="*/ 2147483647 w 1425"/>
              <a:gd name="T5" fmla="*/ 2147483647 h 72"/>
              <a:gd name="T6" fmla="*/ 0 60000 65536"/>
              <a:gd name="T7" fmla="*/ 0 60000 65536"/>
              <a:gd name="T8" fmla="*/ 0 60000 65536"/>
              <a:gd name="T9" fmla="*/ 0 w 1425"/>
              <a:gd name="T10" fmla="*/ 0 h 72"/>
              <a:gd name="T11" fmla="*/ 1425 w 1425"/>
              <a:gd name="T12" fmla="*/ 72 h 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25" h="72">
                <a:moveTo>
                  <a:pt x="0" y="0"/>
                </a:moveTo>
                <a:lnTo>
                  <a:pt x="667" y="0"/>
                </a:lnTo>
                <a:lnTo>
                  <a:pt x="1425" y="7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21581" name="Freeform 84"/>
          <p:cNvSpPr>
            <a:spLocks/>
          </p:cNvSpPr>
          <p:nvPr/>
        </p:nvSpPr>
        <p:spPr bwMode="auto">
          <a:xfrm>
            <a:off x="2474913" y="3316287"/>
            <a:ext cx="1890712" cy="758825"/>
          </a:xfrm>
          <a:custGeom>
            <a:avLst/>
            <a:gdLst>
              <a:gd name="T0" fmla="*/ 0 w 1191"/>
              <a:gd name="T1" fmla="*/ 2147483647 h 478"/>
              <a:gd name="T2" fmla="*/ 2147483647 w 1191"/>
              <a:gd name="T3" fmla="*/ 2147483647 h 478"/>
              <a:gd name="T4" fmla="*/ 2147483647 w 1191"/>
              <a:gd name="T5" fmla="*/ 0 h 478"/>
              <a:gd name="T6" fmla="*/ 0 60000 65536"/>
              <a:gd name="T7" fmla="*/ 0 60000 65536"/>
              <a:gd name="T8" fmla="*/ 0 60000 65536"/>
              <a:gd name="T9" fmla="*/ 0 w 1191"/>
              <a:gd name="T10" fmla="*/ 0 h 478"/>
              <a:gd name="T11" fmla="*/ 1191 w 1191"/>
              <a:gd name="T12" fmla="*/ 478 h 4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91" h="478">
                <a:moveTo>
                  <a:pt x="0" y="478"/>
                </a:moveTo>
                <a:lnTo>
                  <a:pt x="625" y="477"/>
                </a:lnTo>
                <a:lnTo>
                  <a:pt x="1191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21582" name="Freeform 85"/>
          <p:cNvSpPr>
            <a:spLocks/>
          </p:cNvSpPr>
          <p:nvPr/>
        </p:nvSpPr>
        <p:spPr bwMode="auto">
          <a:xfrm>
            <a:off x="2346325" y="3443287"/>
            <a:ext cx="2014538" cy="846138"/>
          </a:xfrm>
          <a:custGeom>
            <a:avLst/>
            <a:gdLst>
              <a:gd name="T0" fmla="*/ 0 w 1269"/>
              <a:gd name="T1" fmla="*/ 2147483647 h 533"/>
              <a:gd name="T2" fmla="*/ 2147483647 w 1269"/>
              <a:gd name="T3" fmla="*/ 2147483647 h 533"/>
              <a:gd name="T4" fmla="*/ 2147483647 w 1269"/>
              <a:gd name="T5" fmla="*/ 0 h 533"/>
              <a:gd name="T6" fmla="*/ 0 60000 65536"/>
              <a:gd name="T7" fmla="*/ 0 60000 65536"/>
              <a:gd name="T8" fmla="*/ 0 60000 65536"/>
              <a:gd name="T9" fmla="*/ 0 w 1269"/>
              <a:gd name="T10" fmla="*/ 0 h 533"/>
              <a:gd name="T11" fmla="*/ 1269 w 1269"/>
              <a:gd name="T12" fmla="*/ 533 h 53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69" h="533">
                <a:moveTo>
                  <a:pt x="0" y="529"/>
                </a:moveTo>
                <a:lnTo>
                  <a:pt x="760" y="533"/>
                </a:lnTo>
                <a:lnTo>
                  <a:pt x="1269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21583" name="Freeform 86"/>
          <p:cNvSpPr>
            <a:spLocks/>
          </p:cNvSpPr>
          <p:nvPr/>
        </p:nvSpPr>
        <p:spPr bwMode="auto">
          <a:xfrm>
            <a:off x="4879975" y="5441950"/>
            <a:ext cx="981075" cy="269875"/>
          </a:xfrm>
          <a:custGeom>
            <a:avLst/>
            <a:gdLst>
              <a:gd name="T0" fmla="*/ 0 w 618"/>
              <a:gd name="T1" fmla="*/ 0 h 170"/>
              <a:gd name="T2" fmla="*/ 2147483647 w 618"/>
              <a:gd name="T3" fmla="*/ 2147483647 h 170"/>
              <a:gd name="T4" fmla="*/ 2147483647 w 618"/>
              <a:gd name="T5" fmla="*/ 2147483647 h 170"/>
              <a:gd name="T6" fmla="*/ 0 60000 65536"/>
              <a:gd name="T7" fmla="*/ 0 60000 65536"/>
              <a:gd name="T8" fmla="*/ 0 60000 65536"/>
              <a:gd name="T9" fmla="*/ 0 w 618"/>
              <a:gd name="T10" fmla="*/ 0 h 170"/>
              <a:gd name="T11" fmla="*/ 618 w 618"/>
              <a:gd name="T12" fmla="*/ 170 h 17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18" h="170">
                <a:moveTo>
                  <a:pt x="0" y="0"/>
                </a:moveTo>
                <a:lnTo>
                  <a:pt x="489" y="170"/>
                </a:lnTo>
                <a:lnTo>
                  <a:pt x="618" y="169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21584" name="Freeform 87"/>
          <p:cNvSpPr>
            <a:spLocks/>
          </p:cNvSpPr>
          <p:nvPr/>
        </p:nvSpPr>
        <p:spPr bwMode="auto">
          <a:xfrm>
            <a:off x="4930775" y="5599112"/>
            <a:ext cx="927100" cy="315913"/>
          </a:xfrm>
          <a:custGeom>
            <a:avLst/>
            <a:gdLst>
              <a:gd name="T0" fmla="*/ 0 w 584"/>
              <a:gd name="T1" fmla="*/ 0 h 199"/>
              <a:gd name="T2" fmla="*/ 2147483647 w 584"/>
              <a:gd name="T3" fmla="*/ 2147483647 h 199"/>
              <a:gd name="T4" fmla="*/ 2147483647 w 584"/>
              <a:gd name="T5" fmla="*/ 2147483647 h 199"/>
              <a:gd name="T6" fmla="*/ 0 60000 65536"/>
              <a:gd name="T7" fmla="*/ 0 60000 65536"/>
              <a:gd name="T8" fmla="*/ 0 60000 65536"/>
              <a:gd name="T9" fmla="*/ 0 w 584"/>
              <a:gd name="T10" fmla="*/ 0 h 199"/>
              <a:gd name="T11" fmla="*/ 584 w 584"/>
              <a:gd name="T12" fmla="*/ 199 h 19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84" h="199">
                <a:moveTo>
                  <a:pt x="0" y="0"/>
                </a:moveTo>
                <a:lnTo>
                  <a:pt x="455" y="199"/>
                </a:lnTo>
                <a:lnTo>
                  <a:pt x="584" y="19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 sz="1100"/>
          </a:p>
        </p:txBody>
      </p:sp>
      <p:sp>
        <p:nvSpPr>
          <p:cNvPr id="83" name="Title 1"/>
          <p:cNvSpPr txBox="1">
            <a:spLocks/>
          </p:cNvSpPr>
          <p:nvPr/>
        </p:nvSpPr>
        <p:spPr bwMode="auto">
          <a:xfrm>
            <a:off x="0" y="0"/>
            <a:ext cx="9144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/>
          </a:extLst>
        </p:spPr>
        <p:txBody>
          <a:bodyPr lIns="36000" rIns="36000">
            <a:spAutoFit/>
          </a:bodyPr>
          <a:lstStyle>
            <a:lvl1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j-lt"/>
                <a:ea typeface="Arial" charset="0"/>
                <a:cs typeface="+mj-cs"/>
              </a:defRPr>
            </a:lvl1pPr>
            <a:lvl2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algn="l" rtl="0" fontAlgn="base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fr-CA" b="0" kern="0" dirty="0">
                <a:solidFill>
                  <a:srgbClr val="0000FF"/>
                </a:solidFill>
              </a:rPr>
              <a:t>6.1.3.2 Identifier les principales veines de la circulation systémique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126460" y="381000"/>
            <a:ext cx="8788940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/>
          </a:extLst>
        </p:spPr>
        <p:txBody>
          <a:bodyPr wrap="square" lIns="457200">
            <a:spAutoFit/>
          </a:bodyPr>
          <a:lstStyle>
            <a:lvl1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j-lt"/>
                <a:ea typeface="Arial" charset="0"/>
                <a:cs typeface="+mj-cs"/>
              </a:defRPr>
            </a:lvl1pPr>
            <a:lvl2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algn="l" rtl="0" fontAlgn="base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fr-CA" sz="2400" b="0" kern="0" dirty="0">
                <a:solidFill>
                  <a:srgbClr val="0000FF"/>
                </a:solidFill>
              </a:rPr>
              <a:t>6.1.3.2   Les principales veines de la circulation systémique</a:t>
            </a:r>
          </a:p>
          <a:p>
            <a:pPr marL="457200" indent="-457200">
              <a:buAutoNum type="alphaLcParenR"/>
              <a:defRPr/>
            </a:pPr>
            <a:r>
              <a:rPr lang="fr-CA" kern="0" dirty="0"/>
              <a:t>Les veines caves</a:t>
            </a:r>
          </a:p>
          <a:p>
            <a:pPr marL="457200" indent="-457200">
              <a:buAutoNum type="alphaLcParenR"/>
              <a:defRPr/>
            </a:pPr>
            <a:r>
              <a:rPr lang="fr-CA" kern="0" dirty="0"/>
              <a:t>Veines de la tête et du cou</a:t>
            </a:r>
          </a:p>
          <a:p>
            <a:pPr marL="457200" indent="-457200">
              <a:buAutoNum type="alphaLcParenR"/>
              <a:defRPr/>
            </a:pPr>
            <a:r>
              <a:rPr lang="fr-CA" kern="0" dirty="0"/>
              <a:t>Veines des membres supérieurs</a:t>
            </a:r>
          </a:p>
          <a:p>
            <a:pPr marL="457200" indent="-457200">
              <a:buAutoNum type="alphaLcParenR"/>
              <a:defRPr/>
            </a:pPr>
            <a:r>
              <a:rPr lang="fr-CA" kern="0" dirty="0"/>
              <a:t>Veines de l’abdomen</a:t>
            </a:r>
          </a:p>
          <a:p>
            <a:pPr marL="457200" indent="-457200">
              <a:buAutoNum type="alphaLcParenR"/>
              <a:defRPr/>
            </a:pPr>
            <a:r>
              <a:rPr lang="fr-CA" kern="0" dirty="0"/>
              <a:t>Veines du bassin et des membres inférieurs</a:t>
            </a:r>
          </a:p>
          <a:p>
            <a:pPr marL="457200" indent="-457200">
              <a:buAutoNum type="alphaLcParenR"/>
              <a:defRPr/>
            </a:pPr>
            <a:endParaRPr lang="fr-CA" b="0" kern="0" dirty="0">
              <a:solidFill>
                <a:srgbClr val="0000FF"/>
              </a:solidFill>
            </a:endParaRPr>
          </a:p>
          <a:p>
            <a:pPr marL="457200" indent="-457200">
              <a:buAutoNum type="alphaLcParenR"/>
              <a:defRPr/>
            </a:pPr>
            <a:endParaRPr lang="fr-CA" b="0" kern="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21447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4"/>
          <p:cNvSpPr>
            <a:spLocks noChangeArrowheads="1"/>
          </p:cNvSpPr>
          <p:nvPr/>
        </p:nvSpPr>
        <p:spPr bwMode="auto">
          <a:xfrm>
            <a:off x="291582" y="526396"/>
            <a:ext cx="4186039" cy="2288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360363" indent="-360363">
              <a:lnSpc>
                <a:spcPct val="115000"/>
              </a:lnSpc>
              <a:defRPr/>
            </a:pPr>
            <a:r>
              <a:rPr lang="fr-CA" altLang="fr-FR" sz="1600" u="sng" dirty="0">
                <a:solidFill>
                  <a:srgbClr val="000000"/>
                </a:solidFill>
                <a:ea typeface="Times New Roman" pitchFamily="18" charset="0"/>
                <a:cs typeface="Calibri" pitchFamily="34" charset="0"/>
              </a:rPr>
              <a:t>Veine cave supérieure</a:t>
            </a:r>
            <a:endParaRPr lang="en-CA" altLang="fr-FR" sz="1600" dirty="0">
              <a:ea typeface="Calibri" pitchFamily="34" charset="0"/>
              <a:cs typeface="Times New Roman" pitchFamily="18" charset="0"/>
            </a:endParaRPr>
          </a:p>
          <a:p>
            <a:pPr marL="174625" indent="-174625">
              <a:spcBef>
                <a:spcPts val="300"/>
              </a:spcBef>
              <a:buSzPts val="1100"/>
              <a:buFont typeface="Wingdings" panose="05000000000000000000" pitchFamily="2" charset="2"/>
              <a:buChar char="ü"/>
              <a:defRPr/>
            </a:pPr>
            <a:r>
              <a:rPr lang="fr-CA" altLang="fr-FR" sz="1400" b="0" dirty="0">
                <a:solidFill>
                  <a:srgbClr val="000000"/>
                </a:solidFill>
                <a:ea typeface="Times New Roman" pitchFamily="18" charset="0"/>
                <a:cs typeface="Calibri" pitchFamily="34" charset="0"/>
              </a:rPr>
              <a:t>Reçoit le sang systémique de toutes les régions situées au-dessus du diaphragme, à l’exception de la paroi du cœur.</a:t>
            </a:r>
            <a:endParaRPr lang="en-CA" altLang="fr-FR" sz="1400" b="0" dirty="0">
              <a:ea typeface="Calibri" pitchFamily="34" charset="0"/>
              <a:cs typeface="Times New Roman" pitchFamily="18" charset="0"/>
            </a:endParaRPr>
          </a:p>
          <a:p>
            <a:pPr marL="174625" indent="-174625">
              <a:spcBef>
                <a:spcPts val="300"/>
              </a:spcBef>
              <a:buSzPts val="1100"/>
              <a:buFont typeface="Wingdings" panose="05000000000000000000" pitchFamily="2" charset="2"/>
              <a:buChar char="ü"/>
              <a:defRPr/>
            </a:pPr>
            <a:r>
              <a:rPr lang="fr-CA" altLang="fr-FR" sz="1400" b="0" dirty="0">
                <a:solidFill>
                  <a:srgbClr val="000000"/>
                </a:solidFill>
                <a:ea typeface="Times New Roman" pitchFamily="18" charset="0"/>
                <a:cs typeface="Calibri" pitchFamily="34" charset="0"/>
              </a:rPr>
              <a:t>Rejoint la partie supérieure de l'oreillette droite.</a:t>
            </a:r>
            <a:endParaRPr lang="en-CA" altLang="fr-FR" sz="1400" b="0" dirty="0">
              <a:ea typeface="Calibri" pitchFamily="34" charset="0"/>
              <a:cs typeface="Times New Roman" pitchFamily="18" charset="0"/>
            </a:endParaRPr>
          </a:p>
          <a:p>
            <a:pPr marL="174625" indent="-174625">
              <a:spcBef>
                <a:spcPts val="300"/>
              </a:spcBef>
              <a:buSzPts val="1100"/>
              <a:buFont typeface="Wingdings" panose="05000000000000000000" pitchFamily="2" charset="2"/>
              <a:buChar char="ü"/>
              <a:defRPr/>
            </a:pPr>
            <a:r>
              <a:rPr lang="fr-CA" altLang="fr-FR" sz="1400" b="0" dirty="0">
                <a:solidFill>
                  <a:srgbClr val="000000"/>
                </a:solidFill>
                <a:ea typeface="Times New Roman" pitchFamily="18" charset="0"/>
                <a:cs typeface="Calibri" pitchFamily="34" charset="0"/>
              </a:rPr>
              <a:t>Son extrémité distale provient de la fusion des </a:t>
            </a:r>
            <a:r>
              <a:rPr lang="fr-CA" altLang="fr-FR" sz="1400" i="1" dirty="0">
                <a:solidFill>
                  <a:srgbClr val="000000"/>
                </a:solidFill>
                <a:ea typeface="Times New Roman" pitchFamily="18" charset="0"/>
                <a:cs typeface="Calibri" pitchFamily="34" charset="0"/>
              </a:rPr>
              <a:t>veines brachiocéphaliques droite</a:t>
            </a:r>
            <a:r>
              <a:rPr lang="fr-CA" altLang="fr-FR" sz="1400" b="0" dirty="0">
                <a:solidFill>
                  <a:srgbClr val="000000"/>
                </a:solidFill>
                <a:ea typeface="Times New Roman" pitchFamily="18" charset="0"/>
                <a:cs typeface="Calibri" pitchFamily="34" charset="0"/>
              </a:rPr>
              <a:t> et </a:t>
            </a:r>
            <a:r>
              <a:rPr lang="fr-CA" altLang="fr-FR" sz="1400" i="1" dirty="0">
                <a:solidFill>
                  <a:srgbClr val="000000"/>
                </a:solidFill>
                <a:ea typeface="Times New Roman" pitchFamily="18" charset="0"/>
                <a:cs typeface="Calibri" pitchFamily="34" charset="0"/>
              </a:rPr>
              <a:t>gauche</a:t>
            </a:r>
            <a:r>
              <a:rPr lang="fr-CA" altLang="fr-FR" sz="1400" b="0" dirty="0">
                <a:solidFill>
                  <a:srgbClr val="000000"/>
                </a:solidFill>
                <a:ea typeface="Times New Roman" pitchFamily="18" charset="0"/>
                <a:cs typeface="Calibri" pitchFamily="34" charset="0"/>
              </a:rPr>
              <a:t>. </a:t>
            </a:r>
          </a:p>
          <a:p>
            <a:pPr marL="174625">
              <a:spcBef>
                <a:spcPts val="300"/>
              </a:spcBef>
              <a:buSzPts val="1100"/>
              <a:defRPr/>
            </a:pPr>
            <a:r>
              <a:rPr lang="fr-CA" altLang="fr-FR" sz="1400" b="0" dirty="0">
                <a:solidFill>
                  <a:srgbClr val="000000"/>
                </a:solidFill>
                <a:ea typeface="Times New Roman" pitchFamily="18" charset="0"/>
                <a:cs typeface="Calibri" pitchFamily="34" charset="0"/>
              </a:rPr>
              <a:t>**À noter: il existe 2 veines brachiocéphaliques mais un seul tronc artériel du même nom.</a:t>
            </a:r>
            <a:endParaRPr lang="en-CA" altLang="fr-FR" sz="1400" b="0" dirty="0">
              <a:ea typeface="Calibri" pitchFamily="34" charset="0"/>
              <a:cs typeface="Times New Roman" pitchFamily="18" charset="0"/>
            </a:endParaRPr>
          </a:p>
        </p:txBody>
      </p:sp>
      <p:pic>
        <p:nvPicPr>
          <p:cNvPr id="22531" name="Picture 92" descr="figure_19_26b_unlabel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68" t="16599" r="45078" b="58012"/>
          <a:stretch>
            <a:fillRect/>
          </a:stretch>
        </p:blipFill>
        <p:spPr bwMode="auto">
          <a:xfrm>
            <a:off x="3531164" y="3177381"/>
            <a:ext cx="2466545" cy="3398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TextBox 8"/>
          <p:cNvSpPr txBox="1">
            <a:spLocks noChangeArrowheads="1"/>
          </p:cNvSpPr>
          <p:nvPr/>
        </p:nvSpPr>
        <p:spPr bwMode="auto">
          <a:xfrm>
            <a:off x="4682331" y="502077"/>
            <a:ext cx="4343400" cy="2506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360363" indent="-360363">
              <a:lnSpc>
                <a:spcPct val="115000"/>
              </a:lnSpc>
              <a:defRPr/>
            </a:pPr>
            <a:r>
              <a:rPr lang="fr-CA" altLang="fr-FR" sz="1600" u="sng" dirty="0">
                <a:solidFill>
                  <a:srgbClr val="000000"/>
                </a:solidFill>
                <a:ea typeface="Times New Roman" pitchFamily="18" charset="0"/>
                <a:cs typeface="Calibri" pitchFamily="34" charset="0"/>
              </a:rPr>
              <a:t>Veine cave inférieure</a:t>
            </a:r>
            <a:endParaRPr lang="en-CA" altLang="fr-FR" sz="1600" dirty="0">
              <a:ea typeface="Calibri" pitchFamily="34" charset="0"/>
              <a:cs typeface="Times New Roman" pitchFamily="18" charset="0"/>
            </a:endParaRPr>
          </a:p>
          <a:p>
            <a:pPr marL="174625" indent="-174625">
              <a:spcBef>
                <a:spcPts val="300"/>
              </a:spcBef>
              <a:buSzPts val="1100"/>
              <a:buFont typeface="Wingdings" panose="05000000000000000000" pitchFamily="2" charset="2"/>
              <a:buChar char="ü"/>
              <a:defRPr/>
            </a:pPr>
            <a:r>
              <a:rPr lang="fr-CA" altLang="fr-FR" sz="1400" b="0" dirty="0">
                <a:solidFill>
                  <a:srgbClr val="000000"/>
                </a:solidFill>
                <a:ea typeface="Times New Roman" pitchFamily="18" charset="0"/>
                <a:cs typeface="Calibri" pitchFamily="34" charset="0"/>
              </a:rPr>
              <a:t>Rapporte au cœur le sang provenant de régions situées sous le diaphragme.</a:t>
            </a:r>
            <a:endParaRPr lang="en-CA" altLang="fr-FR" sz="1400" b="0" dirty="0">
              <a:ea typeface="Calibri" pitchFamily="34" charset="0"/>
              <a:cs typeface="Times New Roman" pitchFamily="18" charset="0"/>
            </a:endParaRPr>
          </a:p>
          <a:p>
            <a:pPr marL="174625" indent="-174625">
              <a:spcBef>
                <a:spcPts val="300"/>
              </a:spcBef>
              <a:buSzPts val="1100"/>
              <a:buFont typeface="Wingdings" panose="05000000000000000000" pitchFamily="2" charset="2"/>
              <a:buChar char="ü"/>
              <a:defRPr/>
            </a:pPr>
            <a:r>
              <a:rPr lang="fr-CA" altLang="fr-FR" sz="1400" b="0" dirty="0">
                <a:solidFill>
                  <a:srgbClr val="000000"/>
                </a:solidFill>
                <a:ea typeface="Times New Roman" pitchFamily="18" charset="0"/>
                <a:cs typeface="Calibri" pitchFamily="34" charset="0"/>
              </a:rPr>
              <a:t>Le plus gros vaisseau sanguin de l'organisme.</a:t>
            </a:r>
            <a:endParaRPr lang="en-CA" altLang="fr-FR" sz="1400" b="0" dirty="0">
              <a:ea typeface="Calibri" pitchFamily="34" charset="0"/>
              <a:cs typeface="Times New Roman" pitchFamily="18" charset="0"/>
            </a:endParaRPr>
          </a:p>
          <a:p>
            <a:pPr marL="174625" indent="-174625">
              <a:spcBef>
                <a:spcPts val="300"/>
              </a:spcBef>
              <a:buSzPts val="1100"/>
              <a:buFont typeface="Wingdings" panose="05000000000000000000" pitchFamily="2" charset="2"/>
              <a:buChar char="ü"/>
              <a:defRPr/>
            </a:pPr>
            <a:r>
              <a:rPr lang="fr-CA" altLang="fr-FR" sz="1400" b="0" dirty="0">
                <a:solidFill>
                  <a:srgbClr val="000000"/>
                </a:solidFill>
                <a:ea typeface="Times New Roman" pitchFamily="18" charset="0"/>
                <a:cs typeface="Calibri" pitchFamily="34" charset="0"/>
              </a:rPr>
              <a:t>Est étroitement liée à l'aorte abdominale.</a:t>
            </a:r>
          </a:p>
          <a:p>
            <a:pPr marL="174625" indent="-174625">
              <a:spcBef>
                <a:spcPts val="300"/>
              </a:spcBef>
              <a:buSzPts val="1100"/>
              <a:buFont typeface="Wingdings" panose="05000000000000000000" pitchFamily="2" charset="2"/>
              <a:buChar char="ü"/>
              <a:defRPr/>
            </a:pPr>
            <a:r>
              <a:rPr lang="fr-CA" altLang="fr-FR" sz="1400" b="0" dirty="0">
                <a:solidFill>
                  <a:srgbClr val="000000"/>
                </a:solidFill>
                <a:ea typeface="Times New Roman" pitchFamily="18" charset="0"/>
                <a:cs typeface="Calibri" pitchFamily="34" charset="0"/>
              </a:rPr>
              <a:t>Débute avec la jonction des deux veines </a:t>
            </a:r>
            <a:r>
              <a:rPr lang="fr-CA" altLang="fr-FR" sz="1400" i="1" dirty="0">
                <a:solidFill>
                  <a:srgbClr val="000000"/>
                </a:solidFill>
                <a:ea typeface="Times New Roman" pitchFamily="18" charset="0"/>
                <a:cs typeface="Calibri" pitchFamily="34" charset="0"/>
              </a:rPr>
              <a:t>iliaques communes.</a:t>
            </a:r>
          </a:p>
          <a:p>
            <a:pPr marL="174625" indent="-174625">
              <a:spcBef>
                <a:spcPts val="300"/>
              </a:spcBef>
              <a:buSzPts val="1100"/>
              <a:buFont typeface="Wingdings" panose="05000000000000000000" pitchFamily="2" charset="2"/>
              <a:buChar char="ü"/>
              <a:defRPr/>
            </a:pPr>
            <a:r>
              <a:rPr lang="fr-CA" altLang="fr-FR" sz="1400" b="0" dirty="0">
                <a:solidFill>
                  <a:srgbClr val="000000"/>
                </a:solidFill>
                <a:ea typeface="Times New Roman" pitchFamily="18" charset="0"/>
                <a:cs typeface="Calibri" pitchFamily="34" charset="0"/>
              </a:rPr>
              <a:t>Se termine au dessus du diaphragme, là où elle communique avec la partie inférieure de l'oreillette droite.</a:t>
            </a:r>
            <a:endParaRPr lang="en-CA" altLang="fr-FR" sz="1400" b="0" dirty="0"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22533" name="Rectangle 9"/>
          <p:cNvSpPr>
            <a:spLocks noChangeArrowheads="1"/>
          </p:cNvSpPr>
          <p:nvPr/>
        </p:nvSpPr>
        <p:spPr bwMode="auto">
          <a:xfrm>
            <a:off x="1055688" y="3375025"/>
            <a:ext cx="2303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174625" indent="-174625">
              <a:lnSpc>
                <a:spcPct val="85000"/>
              </a:lnSpc>
            </a:pPr>
            <a:r>
              <a:rPr lang="fr-CA" altLang="fr-FR" sz="1400" dirty="0">
                <a:solidFill>
                  <a:srgbClr val="0000FF"/>
                </a:solidFill>
              </a:rPr>
              <a:t>V. brachiocéphaliques droite et gauche</a:t>
            </a:r>
          </a:p>
        </p:txBody>
      </p:sp>
      <p:sp>
        <p:nvSpPr>
          <p:cNvPr id="22534" name="Line 68"/>
          <p:cNvSpPr>
            <a:spLocks noChangeShapeType="1"/>
          </p:cNvSpPr>
          <p:nvPr/>
        </p:nvSpPr>
        <p:spPr bwMode="auto">
          <a:xfrm>
            <a:off x="4682331" y="3733800"/>
            <a:ext cx="1933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2535" name="Rectangle 10"/>
          <p:cNvSpPr>
            <a:spLocks noChangeArrowheads="1"/>
          </p:cNvSpPr>
          <p:nvPr/>
        </p:nvSpPr>
        <p:spPr bwMode="auto">
          <a:xfrm>
            <a:off x="6636983" y="3543300"/>
            <a:ext cx="17510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 dirty="0">
                <a:solidFill>
                  <a:srgbClr val="0000FF"/>
                </a:solidFill>
              </a:rPr>
              <a:t>V. cave supérieure</a:t>
            </a:r>
          </a:p>
        </p:txBody>
      </p:sp>
      <p:sp>
        <p:nvSpPr>
          <p:cNvPr id="22536" name="Line 68"/>
          <p:cNvSpPr>
            <a:spLocks noChangeShapeType="1"/>
          </p:cNvSpPr>
          <p:nvPr/>
        </p:nvSpPr>
        <p:spPr bwMode="auto">
          <a:xfrm>
            <a:off x="2917826" y="4876800"/>
            <a:ext cx="176450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2537" name="Freeform 85"/>
          <p:cNvSpPr>
            <a:spLocks/>
          </p:cNvSpPr>
          <p:nvPr/>
        </p:nvSpPr>
        <p:spPr bwMode="auto">
          <a:xfrm>
            <a:off x="3033713" y="3413125"/>
            <a:ext cx="1444005" cy="168275"/>
          </a:xfrm>
          <a:custGeom>
            <a:avLst/>
            <a:gdLst>
              <a:gd name="T0" fmla="*/ 0 w 1269"/>
              <a:gd name="T1" fmla="*/ 2147483647 h 533"/>
              <a:gd name="T2" fmla="*/ 2147483647 w 1269"/>
              <a:gd name="T3" fmla="*/ 2147483647 h 533"/>
              <a:gd name="T4" fmla="*/ 2147483647 w 1269"/>
              <a:gd name="T5" fmla="*/ 0 h 533"/>
              <a:gd name="T6" fmla="*/ 0 60000 65536"/>
              <a:gd name="T7" fmla="*/ 0 60000 65536"/>
              <a:gd name="T8" fmla="*/ 0 60000 65536"/>
              <a:gd name="T9" fmla="*/ 0 w 1269"/>
              <a:gd name="T10" fmla="*/ 0 h 533"/>
              <a:gd name="T11" fmla="*/ 1269 w 1269"/>
              <a:gd name="T12" fmla="*/ 533 h 53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69" h="533">
                <a:moveTo>
                  <a:pt x="0" y="529"/>
                </a:moveTo>
                <a:lnTo>
                  <a:pt x="760" y="533"/>
                </a:lnTo>
                <a:lnTo>
                  <a:pt x="1269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2538" name="Line 68"/>
          <p:cNvSpPr>
            <a:spLocks noChangeShapeType="1"/>
          </p:cNvSpPr>
          <p:nvPr/>
        </p:nvSpPr>
        <p:spPr bwMode="auto">
          <a:xfrm flipV="1">
            <a:off x="3912443" y="3543299"/>
            <a:ext cx="851993" cy="4683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2539" name="Rectangle 10"/>
          <p:cNvSpPr>
            <a:spLocks noChangeArrowheads="1"/>
          </p:cNvSpPr>
          <p:nvPr/>
        </p:nvSpPr>
        <p:spPr bwMode="auto">
          <a:xfrm>
            <a:off x="1320800" y="4695825"/>
            <a:ext cx="1651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 dirty="0">
                <a:solidFill>
                  <a:srgbClr val="0000FF"/>
                </a:solidFill>
              </a:rPr>
              <a:t>V. cave inférieure</a:t>
            </a:r>
          </a:p>
        </p:txBody>
      </p:sp>
      <p:sp>
        <p:nvSpPr>
          <p:cNvPr id="22540" name="Freeform 61"/>
          <p:cNvSpPr>
            <a:spLocks/>
          </p:cNvSpPr>
          <p:nvPr/>
        </p:nvSpPr>
        <p:spPr bwMode="auto">
          <a:xfrm>
            <a:off x="4876800" y="5984875"/>
            <a:ext cx="1544638" cy="434975"/>
          </a:xfrm>
          <a:custGeom>
            <a:avLst/>
            <a:gdLst>
              <a:gd name="T0" fmla="*/ 0 w 670"/>
              <a:gd name="T1" fmla="*/ 2147483647 h 160"/>
              <a:gd name="T2" fmla="*/ 2147483647 w 670"/>
              <a:gd name="T3" fmla="*/ 0 h 160"/>
              <a:gd name="T4" fmla="*/ 2147483647 w 670"/>
              <a:gd name="T5" fmla="*/ 2147483647 h 160"/>
              <a:gd name="T6" fmla="*/ 0 60000 65536"/>
              <a:gd name="T7" fmla="*/ 0 60000 65536"/>
              <a:gd name="T8" fmla="*/ 0 60000 65536"/>
              <a:gd name="T9" fmla="*/ 0 w 670"/>
              <a:gd name="T10" fmla="*/ 0 h 160"/>
              <a:gd name="T11" fmla="*/ 670 w 670"/>
              <a:gd name="T12" fmla="*/ 160 h 1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70" h="160">
                <a:moveTo>
                  <a:pt x="0" y="160"/>
                </a:moveTo>
                <a:lnTo>
                  <a:pt x="450" y="0"/>
                </a:lnTo>
                <a:lnTo>
                  <a:pt x="670" y="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2541" name="Line 68"/>
          <p:cNvSpPr>
            <a:spLocks noChangeShapeType="1"/>
          </p:cNvSpPr>
          <p:nvPr/>
        </p:nvSpPr>
        <p:spPr bwMode="auto">
          <a:xfrm flipV="1">
            <a:off x="4724400" y="5984874"/>
            <a:ext cx="1205706" cy="434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2542" name="Rectangle 19"/>
          <p:cNvSpPr>
            <a:spLocks noChangeArrowheads="1"/>
          </p:cNvSpPr>
          <p:nvPr/>
        </p:nvSpPr>
        <p:spPr bwMode="auto">
          <a:xfrm>
            <a:off x="6421438" y="5862433"/>
            <a:ext cx="20494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 dirty="0">
                <a:solidFill>
                  <a:srgbClr val="0000FF"/>
                </a:solidFill>
              </a:rPr>
              <a:t>V. iliaques communes</a:t>
            </a:r>
          </a:p>
        </p:txBody>
      </p:sp>
      <p:sp>
        <p:nvSpPr>
          <p:cNvPr id="15" name="TextBox 5"/>
          <p:cNvSpPr txBox="1">
            <a:spLocks noChangeArrowheads="1"/>
          </p:cNvSpPr>
          <p:nvPr/>
        </p:nvSpPr>
        <p:spPr bwMode="auto">
          <a:xfrm>
            <a:off x="152400" y="76200"/>
            <a:ext cx="264399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60363" indent="-360363"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2000" dirty="0"/>
              <a:t>a)	</a:t>
            </a:r>
            <a:r>
              <a:rPr lang="fr-CA" altLang="fr-FR" sz="2000" u="sng" dirty="0"/>
              <a:t>Les veines caves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1123" descr="figure_19_27b_c_unlabel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0" b="43231"/>
          <a:stretch>
            <a:fillRect/>
          </a:stretch>
        </p:blipFill>
        <p:spPr bwMode="auto">
          <a:xfrm>
            <a:off x="990600" y="3048000"/>
            <a:ext cx="6378575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TextBox 4"/>
          <p:cNvSpPr txBox="1">
            <a:spLocks noChangeArrowheads="1"/>
          </p:cNvSpPr>
          <p:nvPr/>
        </p:nvSpPr>
        <p:spPr bwMode="auto">
          <a:xfrm>
            <a:off x="609600" y="457200"/>
            <a:ext cx="84582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00" rIns="72000"/>
          <a:lstStyle>
            <a:lvl1pPr marL="285750" indent="-285750"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534988" indent="-174625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Font typeface="Wingdings" pitchFamily="2" charset="2"/>
              <a:buChar char="ü"/>
            </a:pPr>
            <a:r>
              <a:rPr lang="fr-CA" altLang="fr-FR" sz="1500" b="0" dirty="0"/>
              <a:t>Chacune des deux </a:t>
            </a:r>
            <a:r>
              <a:rPr lang="fr-CA" altLang="fr-FR" sz="1500" i="1" dirty="0"/>
              <a:t>veines brachiocéphaliques</a:t>
            </a:r>
            <a:r>
              <a:rPr lang="fr-CA" altLang="fr-FR" sz="1500" dirty="0"/>
              <a:t> </a:t>
            </a:r>
            <a:r>
              <a:rPr lang="fr-CA" altLang="fr-FR" sz="1500" b="0" dirty="0"/>
              <a:t>est formée de la jonction des </a:t>
            </a:r>
            <a:r>
              <a:rPr lang="fr-CA" altLang="fr-FR" sz="1500" i="1" dirty="0"/>
              <a:t>veines jugulaire interne</a:t>
            </a:r>
            <a:r>
              <a:rPr lang="fr-CA" altLang="fr-FR" sz="1500" dirty="0"/>
              <a:t> </a:t>
            </a:r>
            <a:r>
              <a:rPr lang="fr-CA" altLang="fr-FR" sz="1500" b="0" dirty="0"/>
              <a:t>et </a:t>
            </a:r>
            <a:r>
              <a:rPr lang="fr-CA" altLang="fr-FR" sz="1500" i="1" dirty="0"/>
              <a:t>subclavière</a:t>
            </a:r>
            <a:r>
              <a:rPr lang="fr-CA" altLang="fr-FR" sz="1500" b="0" i="1" dirty="0"/>
              <a:t>, </a:t>
            </a:r>
            <a:r>
              <a:rPr lang="fr-CA" altLang="fr-FR" sz="1500" b="0" dirty="0"/>
              <a:t>et se déverse dans la </a:t>
            </a:r>
            <a:r>
              <a:rPr lang="fr-CA" altLang="fr-FR" sz="1500" i="1" dirty="0"/>
              <a:t>veine cave supérieure</a:t>
            </a:r>
            <a:r>
              <a:rPr lang="fr-CA" altLang="fr-FR" sz="1500" b="0" dirty="0"/>
              <a:t>.</a:t>
            </a:r>
          </a:p>
          <a:p>
            <a:pPr>
              <a:spcBef>
                <a:spcPts val="600"/>
              </a:spcBef>
              <a:buFont typeface="Wingdings" pitchFamily="2" charset="2"/>
              <a:buChar char="ü"/>
            </a:pPr>
            <a:r>
              <a:rPr lang="fr-CA" altLang="fr-FR" sz="1500" b="0" dirty="0"/>
              <a:t>Trois paires de veines recueillent la majeure partie du sang de la tête et du cou :</a:t>
            </a:r>
          </a:p>
          <a:p>
            <a:pPr lvl="1">
              <a:spcBef>
                <a:spcPts val="300"/>
              </a:spcBef>
              <a:buSzPct val="120000"/>
              <a:buFont typeface="Arial" charset="0"/>
              <a:buChar char="•"/>
            </a:pPr>
            <a:r>
              <a:rPr lang="fr-CA" altLang="fr-FR" sz="1500" i="1" dirty="0"/>
              <a:t>Veines jugulaires externes </a:t>
            </a:r>
            <a:r>
              <a:rPr lang="fr-CA" altLang="fr-FR" sz="1400" b="0" dirty="0"/>
              <a:t>– drainent les régions desservies par les artères carotides externes (structures superficielles du cuir chevelu et du visage); se vident dans les veines subclavières.</a:t>
            </a:r>
          </a:p>
          <a:p>
            <a:pPr lvl="1">
              <a:spcBef>
                <a:spcPts val="300"/>
              </a:spcBef>
              <a:buSzPct val="120000"/>
              <a:buFont typeface="Arial" charset="0"/>
              <a:buChar char="•"/>
            </a:pPr>
            <a:r>
              <a:rPr lang="fr-CA" altLang="fr-FR" sz="1500" i="1" dirty="0"/>
              <a:t>Veines vertébrales </a:t>
            </a:r>
            <a:r>
              <a:rPr lang="fr-CA" altLang="fr-FR" sz="1400" b="0" dirty="0"/>
              <a:t>– drainent les vertèbres cervicales, la moelle épinière et quelques petits muscles du cou; se jettent dans la veine brachiocéphalique.</a:t>
            </a:r>
          </a:p>
          <a:p>
            <a:pPr lvl="1">
              <a:spcBef>
                <a:spcPts val="300"/>
              </a:spcBef>
              <a:buSzPct val="120000"/>
              <a:buFont typeface="Arial" charset="0"/>
              <a:buChar char="•"/>
            </a:pPr>
            <a:r>
              <a:rPr lang="fr-CA" altLang="fr-FR" sz="1500" i="1" dirty="0"/>
              <a:t>Veines jugulaires internes </a:t>
            </a:r>
            <a:r>
              <a:rPr lang="fr-CA" altLang="fr-FR" sz="1400" b="0" dirty="0"/>
              <a:t>– reçoivent l’essentiel du sang de l’encéphale et sortent du crâne pour descendre dans le cou le long des artères carotides internes; naissent des </a:t>
            </a:r>
            <a:r>
              <a:rPr lang="fr-CA" altLang="fr-FR" sz="1400" i="1" dirty="0"/>
              <a:t>sinus de la dure-mère</a:t>
            </a:r>
            <a:r>
              <a:rPr lang="fr-CA" altLang="fr-FR" sz="1400" b="0" dirty="0"/>
              <a:t>; s’unissent aux veines subclavières pour former les veines brachiocéphaliques.</a:t>
            </a:r>
          </a:p>
        </p:txBody>
      </p:sp>
      <p:sp>
        <p:nvSpPr>
          <p:cNvPr id="23556" name="TextBox 5"/>
          <p:cNvSpPr txBox="1">
            <a:spLocks noChangeArrowheads="1"/>
          </p:cNvSpPr>
          <p:nvPr/>
        </p:nvSpPr>
        <p:spPr bwMode="auto">
          <a:xfrm>
            <a:off x="228600" y="76200"/>
            <a:ext cx="37512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60363" indent="-360363"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2000" dirty="0"/>
              <a:t>b)	</a:t>
            </a:r>
            <a:r>
              <a:rPr lang="fr-CA" altLang="fr-FR" sz="2000" u="sng" dirty="0"/>
              <a:t>Veines de la tête et du cou</a:t>
            </a:r>
          </a:p>
        </p:txBody>
      </p:sp>
      <p:sp>
        <p:nvSpPr>
          <p:cNvPr id="23557" name="Rectangle 1074"/>
          <p:cNvSpPr>
            <a:spLocks noChangeAspect="1" noChangeArrowheads="1"/>
          </p:cNvSpPr>
          <p:nvPr/>
        </p:nvSpPr>
        <p:spPr bwMode="auto">
          <a:xfrm>
            <a:off x="889000" y="4456113"/>
            <a:ext cx="181927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sz="1400">
                <a:solidFill>
                  <a:srgbClr val="0000FF"/>
                </a:solidFill>
              </a:rPr>
              <a:t>V. jugulaire externe</a:t>
            </a:r>
          </a:p>
        </p:txBody>
      </p:sp>
      <p:sp>
        <p:nvSpPr>
          <p:cNvPr id="23558" name="Rectangle 1075"/>
          <p:cNvSpPr>
            <a:spLocks noChangeAspect="1" noChangeArrowheads="1"/>
          </p:cNvSpPr>
          <p:nvPr/>
        </p:nvSpPr>
        <p:spPr bwMode="auto">
          <a:xfrm>
            <a:off x="908050" y="4721225"/>
            <a:ext cx="1244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>
                <a:solidFill>
                  <a:srgbClr val="0000FF"/>
                </a:solidFill>
              </a:rPr>
              <a:t>V. vertébrale</a:t>
            </a:r>
          </a:p>
        </p:txBody>
      </p:sp>
      <p:sp>
        <p:nvSpPr>
          <p:cNvPr id="23559" name="Rectangle 1076"/>
          <p:cNvSpPr>
            <a:spLocks noChangeAspect="1" noChangeArrowheads="1"/>
          </p:cNvSpPr>
          <p:nvPr/>
        </p:nvSpPr>
        <p:spPr bwMode="auto">
          <a:xfrm>
            <a:off x="887413" y="5029200"/>
            <a:ext cx="1779587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sz="1400">
                <a:solidFill>
                  <a:srgbClr val="0000FF"/>
                </a:solidFill>
              </a:rPr>
              <a:t>V. jugulaire interne</a:t>
            </a:r>
          </a:p>
        </p:txBody>
      </p:sp>
      <p:sp>
        <p:nvSpPr>
          <p:cNvPr id="23560" name="Rectangle 1077"/>
          <p:cNvSpPr>
            <a:spLocks noChangeAspect="1" noChangeArrowheads="1"/>
          </p:cNvSpPr>
          <p:nvPr/>
        </p:nvSpPr>
        <p:spPr bwMode="auto">
          <a:xfrm>
            <a:off x="852488" y="5580063"/>
            <a:ext cx="1966912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sz="1400">
                <a:solidFill>
                  <a:srgbClr val="0000FF"/>
                </a:solidFill>
              </a:rPr>
              <a:t>V. brachiocéphalique</a:t>
            </a:r>
          </a:p>
        </p:txBody>
      </p:sp>
      <p:sp>
        <p:nvSpPr>
          <p:cNvPr id="23561" name="Rectangle 1078"/>
          <p:cNvSpPr>
            <a:spLocks noChangeAspect="1" noChangeArrowheads="1"/>
          </p:cNvSpPr>
          <p:nvPr/>
        </p:nvSpPr>
        <p:spPr bwMode="auto">
          <a:xfrm>
            <a:off x="941388" y="5834063"/>
            <a:ext cx="1371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>
                <a:solidFill>
                  <a:srgbClr val="0000FF"/>
                </a:solidFill>
              </a:rPr>
              <a:t>V. subclavière</a:t>
            </a:r>
          </a:p>
        </p:txBody>
      </p:sp>
      <p:sp>
        <p:nvSpPr>
          <p:cNvPr id="23562" name="Rectangle 1079"/>
          <p:cNvSpPr>
            <a:spLocks noChangeAspect="1" noChangeArrowheads="1"/>
          </p:cNvSpPr>
          <p:nvPr/>
        </p:nvSpPr>
        <p:spPr bwMode="auto">
          <a:xfrm>
            <a:off x="839788" y="6057900"/>
            <a:ext cx="1751012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sz="1400">
                <a:solidFill>
                  <a:srgbClr val="0000FF"/>
                </a:solidFill>
              </a:rPr>
              <a:t>V. cave supérieure</a:t>
            </a:r>
          </a:p>
        </p:txBody>
      </p:sp>
      <p:sp>
        <p:nvSpPr>
          <p:cNvPr id="23563" name="Freeform 1102"/>
          <p:cNvSpPr>
            <a:spLocks noChangeAspect="1"/>
          </p:cNvSpPr>
          <p:nvPr/>
        </p:nvSpPr>
        <p:spPr bwMode="auto">
          <a:xfrm>
            <a:off x="2662238" y="4602163"/>
            <a:ext cx="1700212" cy="93662"/>
          </a:xfrm>
          <a:custGeom>
            <a:avLst/>
            <a:gdLst>
              <a:gd name="T0" fmla="*/ 0 w 1126"/>
              <a:gd name="T1" fmla="*/ 2147483647 h 62"/>
              <a:gd name="T2" fmla="*/ 2147483647 w 1126"/>
              <a:gd name="T3" fmla="*/ 0 h 62"/>
              <a:gd name="T4" fmla="*/ 2147483647 w 1126"/>
              <a:gd name="T5" fmla="*/ 2147483647 h 62"/>
              <a:gd name="T6" fmla="*/ 0 60000 65536"/>
              <a:gd name="T7" fmla="*/ 0 60000 65536"/>
              <a:gd name="T8" fmla="*/ 0 60000 65536"/>
              <a:gd name="T9" fmla="*/ 0 w 1126"/>
              <a:gd name="T10" fmla="*/ 0 h 62"/>
              <a:gd name="T11" fmla="*/ 1126 w 1126"/>
              <a:gd name="T12" fmla="*/ 62 h 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26" h="62">
                <a:moveTo>
                  <a:pt x="0" y="4"/>
                </a:moveTo>
                <a:lnTo>
                  <a:pt x="396" y="0"/>
                </a:lnTo>
                <a:lnTo>
                  <a:pt x="1126" y="62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3564" name="Freeform 1103"/>
          <p:cNvSpPr>
            <a:spLocks noChangeAspect="1"/>
          </p:cNvSpPr>
          <p:nvPr/>
        </p:nvSpPr>
        <p:spPr bwMode="auto">
          <a:xfrm>
            <a:off x="2122488" y="4899025"/>
            <a:ext cx="2333625" cy="114300"/>
          </a:xfrm>
          <a:custGeom>
            <a:avLst/>
            <a:gdLst>
              <a:gd name="T0" fmla="*/ 0 w 1546"/>
              <a:gd name="T1" fmla="*/ 0 h 76"/>
              <a:gd name="T2" fmla="*/ 2147483647 w 1546"/>
              <a:gd name="T3" fmla="*/ 2147483647 h 76"/>
              <a:gd name="T4" fmla="*/ 2147483647 w 1546"/>
              <a:gd name="T5" fmla="*/ 2147483647 h 76"/>
              <a:gd name="T6" fmla="*/ 0 60000 65536"/>
              <a:gd name="T7" fmla="*/ 0 60000 65536"/>
              <a:gd name="T8" fmla="*/ 0 60000 65536"/>
              <a:gd name="T9" fmla="*/ 0 w 1546"/>
              <a:gd name="T10" fmla="*/ 0 h 76"/>
              <a:gd name="T11" fmla="*/ 1546 w 1546"/>
              <a:gd name="T12" fmla="*/ 76 h 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46" h="76">
                <a:moveTo>
                  <a:pt x="0" y="0"/>
                </a:moveTo>
                <a:lnTo>
                  <a:pt x="884" y="2"/>
                </a:lnTo>
                <a:lnTo>
                  <a:pt x="1546" y="76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3565" name="Line 1104"/>
          <p:cNvSpPr>
            <a:spLocks noChangeAspect="1" noChangeShapeType="1"/>
          </p:cNvSpPr>
          <p:nvPr/>
        </p:nvSpPr>
        <p:spPr bwMode="auto">
          <a:xfrm>
            <a:off x="2590800" y="5181600"/>
            <a:ext cx="20351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3566" name="Line 1107"/>
          <p:cNvSpPr>
            <a:spLocks noChangeAspect="1" noChangeShapeType="1"/>
          </p:cNvSpPr>
          <p:nvPr/>
        </p:nvSpPr>
        <p:spPr bwMode="auto">
          <a:xfrm>
            <a:off x="2743200" y="5791200"/>
            <a:ext cx="18700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3567" name="Freeform 1108"/>
          <p:cNvSpPr>
            <a:spLocks noChangeAspect="1"/>
          </p:cNvSpPr>
          <p:nvPr/>
        </p:nvSpPr>
        <p:spPr bwMode="auto">
          <a:xfrm>
            <a:off x="2276475" y="5832475"/>
            <a:ext cx="1992313" cy="185738"/>
          </a:xfrm>
          <a:custGeom>
            <a:avLst/>
            <a:gdLst>
              <a:gd name="T0" fmla="*/ 0 w 1320"/>
              <a:gd name="T1" fmla="*/ 2147483647 h 124"/>
              <a:gd name="T2" fmla="*/ 2147483647 w 1320"/>
              <a:gd name="T3" fmla="*/ 2147483647 h 124"/>
              <a:gd name="T4" fmla="*/ 2147483647 w 1320"/>
              <a:gd name="T5" fmla="*/ 0 h 124"/>
              <a:gd name="T6" fmla="*/ 0 60000 65536"/>
              <a:gd name="T7" fmla="*/ 0 60000 65536"/>
              <a:gd name="T8" fmla="*/ 0 60000 65536"/>
              <a:gd name="T9" fmla="*/ 0 w 1320"/>
              <a:gd name="T10" fmla="*/ 0 h 124"/>
              <a:gd name="T11" fmla="*/ 1320 w 1320"/>
              <a:gd name="T12" fmla="*/ 124 h 1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20" h="124">
                <a:moveTo>
                  <a:pt x="0" y="124"/>
                </a:moveTo>
                <a:lnTo>
                  <a:pt x="794" y="110"/>
                </a:lnTo>
                <a:lnTo>
                  <a:pt x="1320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3568" name="Freeform 1109"/>
          <p:cNvSpPr>
            <a:spLocks noChangeAspect="1"/>
          </p:cNvSpPr>
          <p:nvPr/>
        </p:nvSpPr>
        <p:spPr bwMode="auto">
          <a:xfrm>
            <a:off x="2560638" y="6140450"/>
            <a:ext cx="2182812" cy="71438"/>
          </a:xfrm>
          <a:custGeom>
            <a:avLst/>
            <a:gdLst>
              <a:gd name="T0" fmla="*/ 0 w 1446"/>
              <a:gd name="T1" fmla="*/ 2147483647 h 48"/>
              <a:gd name="T2" fmla="*/ 2147483647 w 1446"/>
              <a:gd name="T3" fmla="*/ 2147483647 h 48"/>
              <a:gd name="T4" fmla="*/ 2147483647 w 1446"/>
              <a:gd name="T5" fmla="*/ 0 h 48"/>
              <a:gd name="T6" fmla="*/ 0 60000 65536"/>
              <a:gd name="T7" fmla="*/ 0 60000 65536"/>
              <a:gd name="T8" fmla="*/ 0 60000 65536"/>
              <a:gd name="T9" fmla="*/ 0 w 1446"/>
              <a:gd name="T10" fmla="*/ 0 h 48"/>
              <a:gd name="T11" fmla="*/ 1446 w 1446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6" h="48">
                <a:moveTo>
                  <a:pt x="0" y="46"/>
                </a:moveTo>
                <a:lnTo>
                  <a:pt x="516" y="48"/>
                </a:lnTo>
                <a:lnTo>
                  <a:pt x="1446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3569" name="Rectangle 49"/>
          <p:cNvSpPr>
            <a:spLocks noChangeArrowheads="1"/>
          </p:cNvSpPr>
          <p:nvPr/>
        </p:nvSpPr>
        <p:spPr bwMode="auto">
          <a:xfrm>
            <a:off x="2185988" y="6399213"/>
            <a:ext cx="3048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CA" altLang="fr-FR"/>
          </a:p>
        </p:txBody>
      </p:sp>
      <p:sp>
        <p:nvSpPr>
          <p:cNvPr id="25632" name="Rectangle 1080"/>
          <p:cNvSpPr>
            <a:spLocks noChangeAspect="1" noChangeArrowheads="1"/>
          </p:cNvSpPr>
          <p:nvPr/>
        </p:nvSpPr>
        <p:spPr bwMode="auto">
          <a:xfrm>
            <a:off x="5928518" y="5847117"/>
            <a:ext cx="275351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fr-CA" altLang="fr-FR" sz="1400" b="0" dirty="0">
                <a:solidFill>
                  <a:srgbClr val="0000FF"/>
                </a:solidFill>
                <a:latin typeface="+mn-lt"/>
              </a:rPr>
              <a:t>Fig. 19.29b Veines superficielles de la tête et du cou, profil droit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5"/>
          <p:cNvSpPr txBox="1">
            <a:spLocks noChangeArrowheads="1"/>
          </p:cNvSpPr>
          <p:nvPr/>
        </p:nvSpPr>
        <p:spPr bwMode="auto">
          <a:xfrm>
            <a:off x="228600" y="76200"/>
            <a:ext cx="37512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60363" indent="-360363"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2000" dirty="0"/>
              <a:t>b)	</a:t>
            </a:r>
            <a:r>
              <a:rPr lang="fr-CA" altLang="fr-FR" sz="2000" u="sng" dirty="0"/>
              <a:t>Veines de la tête et du cou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609600"/>
            <a:ext cx="6492240" cy="4596384"/>
          </a:xfrm>
          <a:prstGeom prst="rect">
            <a:avLst/>
          </a:prstGeom>
        </p:spPr>
      </p:pic>
      <p:sp>
        <p:nvSpPr>
          <p:cNvPr id="26" name="Rectangle 13"/>
          <p:cNvSpPr>
            <a:spLocks noChangeArrowheads="1"/>
          </p:cNvSpPr>
          <p:nvPr/>
        </p:nvSpPr>
        <p:spPr bwMode="auto">
          <a:xfrm>
            <a:off x="381000" y="5072202"/>
            <a:ext cx="8153400" cy="984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rIns="36000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fr-CA" altLang="fr-FR" sz="1600" dirty="0">
                <a:solidFill>
                  <a:srgbClr val="0000FF"/>
                </a:solidFill>
                <a:latin typeface="+mn-lt"/>
              </a:rPr>
              <a:t>Fig. 19.29c   Sinus de la dure-mère. </a:t>
            </a:r>
            <a:r>
              <a:rPr lang="fr-CA" altLang="fr-FR" sz="1400" b="0" dirty="0">
                <a:latin typeface="+mn-lt"/>
              </a:rPr>
              <a:t>Ce sont des veines de forme aplatie situées dans la dure-mère, laquelle est la membrane externe des méninges qui enveloppent l’encéphale. La plupart des veines de l’encéphale déversent leur sang dans les sinus de la dure-mère qui est ensuite recueilli par les veines jugulaires internes.</a:t>
            </a:r>
            <a:endParaRPr lang="fr-CA" altLang="fr-FR" sz="1400" b="0" dirty="0">
              <a:solidFill>
                <a:srgbClr val="0000FF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figure_19_27a_unlabeled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32"/>
          <a:stretch/>
        </p:blipFill>
        <p:spPr bwMode="auto">
          <a:xfrm>
            <a:off x="2919412" y="152400"/>
            <a:ext cx="5995988" cy="601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4114800" y="201612"/>
            <a:ext cx="19304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dirty="0"/>
              <a:t>Sinus sagittal supérieur</a:t>
            </a:r>
          </a:p>
        </p:txBody>
      </p:sp>
      <p:sp>
        <p:nvSpPr>
          <p:cNvPr id="25604" name="Rectangle 5"/>
          <p:cNvSpPr>
            <a:spLocks noChangeArrowheads="1"/>
          </p:cNvSpPr>
          <p:nvPr/>
        </p:nvSpPr>
        <p:spPr bwMode="auto">
          <a:xfrm>
            <a:off x="4559300" y="889000"/>
            <a:ext cx="1493837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5000"/>
              </a:lnSpc>
            </a:pPr>
            <a:r>
              <a:rPr lang="fr-CA" altLang="fr-FR"/>
              <a:t>Sinus sagittal inférieur</a:t>
            </a:r>
          </a:p>
        </p:txBody>
      </p:sp>
      <p:sp>
        <p:nvSpPr>
          <p:cNvPr id="25605" name="Rectangle 8"/>
          <p:cNvSpPr>
            <a:spLocks noChangeArrowheads="1"/>
          </p:cNvSpPr>
          <p:nvPr/>
        </p:nvSpPr>
        <p:spPr bwMode="auto">
          <a:xfrm>
            <a:off x="5089526" y="1631950"/>
            <a:ext cx="696911" cy="443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5000"/>
              </a:lnSpc>
            </a:pPr>
            <a:r>
              <a:rPr lang="fr-CA" altLang="fr-FR" dirty="0"/>
              <a:t>Sinus droit</a:t>
            </a:r>
          </a:p>
        </p:txBody>
      </p:sp>
      <p:sp>
        <p:nvSpPr>
          <p:cNvPr id="25606" name="Rectangle 9"/>
          <p:cNvSpPr>
            <a:spLocks noChangeArrowheads="1"/>
          </p:cNvSpPr>
          <p:nvPr/>
        </p:nvSpPr>
        <p:spPr bwMode="auto">
          <a:xfrm>
            <a:off x="4670425" y="2106612"/>
            <a:ext cx="12303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5000"/>
              </a:lnSpc>
            </a:pPr>
            <a:r>
              <a:rPr lang="fr-CA" altLang="fr-FR"/>
              <a:t>Sinus trans-verse</a:t>
            </a:r>
          </a:p>
        </p:txBody>
      </p:sp>
      <p:sp>
        <p:nvSpPr>
          <p:cNvPr id="25608" name="Rectangle 11"/>
          <p:cNvSpPr>
            <a:spLocks noChangeArrowheads="1"/>
          </p:cNvSpPr>
          <p:nvPr/>
        </p:nvSpPr>
        <p:spPr bwMode="auto">
          <a:xfrm>
            <a:off x="6307137" y="2633662"/>
            <a:ext cx="11938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5000"/>
              </a:lnSpc>
            </a:pPr>
            <a:r>
              <a:rPr lang="fr-CA" altLang="fr-FR"/>
              <a:t>Sinus caverneux</a:t>
            </a:r>
          </a:p>
        </p:txBody>
      </p:sp>
      <p:sp>
        <p:nvSpPr>
          <p:cNvPr id="25609" name="Rectangle 12"/>
          <p:cNvSpPr>
            <a:spLocks noChangeArrowheads="1"/>
          </p:cNvSpPr>
          <p:nvPr/>
        </p:nvSpPr>
        <p:spPr bwMode="auto">
          <a:xfrm>
            <a:off x="7505700" y="2754312"/>
            <a:ext cx="8382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/>
              <a:t>V. faciale</a:t>
            </a:r>
          </a:p>
        </p:txBody>
      </p:sp>
      <p:sp>
        <p:nvSpPr>
          <p:cNvPr id="25610" name="Rectangle 14"/>
          <p:cNvSpPr>
            <a:spLocks noChangeArrowheads="1"/>
          </p:cNvSpPr>
          <p:nvPr/>
        </p:nvSpPr>
        <p:spPr bwMode="auto">
          <a:xfrm>
            <a:off x="2852737" y="3838575"/>
            <a:ext cx="13239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/>
              <a:t>Sinus sigmoïde</a:t>
            </a:r>
          </a:p>
        </p:txBody>
      </p:sp>
      <p:sp>
        <p:nvSpPr>
          <p:cNvPr id="25611" name="Rectangle 15"/>
          <p:cNvSpPr>
            <a:spLocks noChangeArrowheads="1"/>
          </p:cNvSpPr>
          <p:nvPr/>
        </p:nvSpPr>
        <p:spPr bwMode="auto">
          <a:xfrm>
            <a:off x="2716212" y="4191000"/>
            <a:ext cx="1590675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5000"/>
              </a:lnSpc>
            </a:pPr>
            <a:r>
              <a:rPr lang="fr-CA" altLang="fr-FR">
                <a:solidFill>
                  <a:srgbClr val="0000FF"/>
                </a:solidFill>
              </a:rPr>
              <a:t>V. jugulaire externe</a:t>
            </a:r>
          </a:p>
        </p:txBody>
      </p:sp>
      <p:sp>
        <p:nvSpPr>
          <p:cNvPr id="25612" name="Rectangle 16"/>
          <p:cNvSpPr>
            <a:spLocks noChangeArrowheads="1"/>
          </p:cNvSpPr>
          <p:nvPr/>
        </p:nvSpPr>
        <p:spPr bwMode="auto">
          <a:xfrm>
            <a:off x="3055937" y="4657725"/>
            <a:ext cx="10922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>
                <a:solidFill>
                  <a:srgbClr val="0000FF"/>
                </a:solidFill>
              </a:rPr>
              <a:t>V. vertébrale</a:t>
            </a:r>
          </a:p>
        </p:txBody>
      </p:sp>
      <p:sp>
        <p:nvSpPr>
          <p:cNvPr id="25613" name="Rectangle 17"/>
          <p:cNvSpPr>
            <a:spLocks noChangeArrowheads="1"/>
          </p:cNvSpPr>
          <p:nvPr/>
        </p:nvSpPr>
        <p:spPr bwMode="auto">
          <a:xfrm>
            <a:off x="3087687" y="5372100"/>
            <a:ext cx="1204913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>
                <a:solidFill>
                  <a:srgbClr val="0000FF"/>
                </a:solidFill>
              </a:rPr>
              <a:t>V. subclavière</a:t>
            </a:r>
          </a:p>
        </p:txBody>
      </p:sp>
      <p:sp>
        <p:nvSpPr>
          <p:cNvPr id="25614" name="Rectangle 18"/>
          <p:cNvSpPr>
            <a:spLocks noChangeArrowheads="1"/>
          </p:cNvSpPr>
          <p:nvPr/>
        </p:nvSpPr>
        <p:spPr bwMode="auto">
          <a:xfrm>
            <a:off x="6851650" y="3832225"/>
            <a:ext cx="155892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>
                <a:solidFill>
                  <a:srgbClr val="0000FF"/>
                </a:solidFill>
              </a:rPr>
              <a:t>V. jugulaire interne</a:t>
            </a:r>
          </a:p>
        </p:txBody>
      </p:sp>
      <p:sp>
        <p:nvSpPr>
          <p:cNvPr id="25615" name="Rectangle 21"/>
          <p:cNvSpPr>
            <a:spLocks noChangeArrowheads="1"/>
          </p:cNvSpPr>
          <p:nvPr/>
        </p:nvSpPr>
        <p:spPr bwMode="auto">
          <a:xfrm>
            <a:off x="6854825" y="4962525"/>
            <a:ext cx="1804987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>
                <a:solidFill>
                  <a:srgbClr val="0000FF"/>
                </a:solidFill>
              </a:rPr>
              <a:t>V. brachiocéphaliques</a:t>
            </a:r>
          </a:p>
        </p:txBody>
      </p:sp>
      <p:sp>
        <p:nvSpPr>
          <p:cNvPr id="25616" name="Rectangle 22"/>
          <p:cNvSpPr>
            <a:spLocks noChangeArrowheads="1"/>
          </p:cNvSpPr>
          <p:nvPr/>
        </p:nvSpPr>
        <p:spPr bwMode="auto">
          <a:xfrm>
            <a:off x="7369175" y="5902325"/>
            <a:ext cx="15287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>
                <a:solidFill>
                  <a:srgbClr val="0000FF"/>
                </a:solidFill>
              </a:rPr>
              <a:t>V. cave supérieure</a:t>
            </a:r>
          </a:p>
        </p:txBody>
      </p:sp>
      <p:sp>
        <p:nvSpPr>
          <p:cNvPr id="25617" name="Line 24"/>
          <p:cNvSpPr>
            <a:spLocks noChangeShapeType="1"/>
          </p:cNvSpPr>
          <p:nvPr/>
        </p:nvSpPr>
        <p:spPr bwMode="auto">
          <a:xfrm>
            <a:off x="5083175" y="428625"/>
            <a:ext cx="0" cy="180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5618" name="Line 25"/>
          <p:cNvSpPr>
            <a:spLocks noChangeShapeType="1"/>
          </p:cNvSpPr>
          <p:nvPr/>
        </p:nvSpPr>
        <p:spPr bwMode="auto">
          <a:xfrm>
            <a:off x="5092700" y="1281112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5619" name="Freeform 27"/>
          <p:cNvSpPr>
            <a:spLocks/>
          </p:cNvSpPr>
          <p:nvPr/>
        </p:nvSpPr>
        <p:spPr bwMode="auto">
          <a:xfrm>
            <a:off x="4714875" y="1860550"/>
            <a:ext cx="423862" cy="268287"/>
          </a:xfrm>
          <a:custGeom>
            <a:avLst/>
            <a:gdLst>
              <a:gd name="T0" fmla="*/ 0 w 366"/>
              <a:gd name="T1" fmla="*/ 2147483647 h 176"/>
              <a:gd name="T2" fmla="*/ 2147483647 w 366"/>
              <a:gd name="T3" fmla="*/ 0 h 176"/>
              <a:gd name="T4" fmla="*/ 2147483647 w 366"/>
              <a:gd name="T5" fmla="*/ 0 h 176"/>
              <a:gd name="T6" fmla="*/ 0 60000 65536"/>
              <a:gd name="T7" fmla="*/ 0 60000 65536"/>
              <a:gd name="T8" fmla="*/ 0 60000 65536"/>
              <a:gd name="T9" fmla="*/ 0 w 366"/>
              <a:gd name="T10" fmla="*/ 0 h 176"/>
              <a:gd name="T11" fmla="*/ 366 w 366"/>
              <a:gd name="T12" fmla="*/ 176 h 1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66" h="176">
                <a:moveTo>
                  <a:pt x="0" y="176"/>
                </a:moveTo>
                <a:lnTo>
                  <a:pt x="234" y="0"/>
                </a:lnTo>
                <a:lnTo>
                  <a:pt x="366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5620" name="Freeform 28"/>
          <p:cNvSpPr>
            <a:spLocks/>
          </p:cNvSpPr>
          <p:nvPr/>
        </p:nvSpPr>
        <p:spPr bwMode="auto">
          <a:xfrm>
            <a:off x="5310187" y="2246312"/>
            <a:ext cx="476250" cy="401638"/>
          </a:xfrm>
          <a:custGeom>
            <a:avLst/>
            <a:gdLst>
              <a:gd name="T0" fmla="*/ 2147483647 w 306"/>
              <a:gd name="T1" fmla="*/ 0 h 258"/>
              <a:gd name="T2" fmla="*/ 2147483647 w 306"/>
              <a:gd name="T3" fmla="*/ 0 h 258"/>
              <a:gd name="T4" fmla="*/ 0 w 306"/>
              <a:gd name="T5" fmla="*/ 2147483647 h 258"/>
              <a:gd name="T6" fmla="*/ 0 60000 65536"/>
              <a:gd name="T7" fmla="*/ 0 60000 65536"/>
              <a:gd name="T8" fmla="*/ 0 60000 65536"/>
              <a:gd name="T9" fmla="*/ 0 w 306"/>
              <a:gd name="T10" fmla="*/ 0 h 258"/>
              <a:gd name="T11" fmla="*/ 306 w 306"/>
              <a:gd name="T12" fmla="*/ 258 h 2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6" h="258">
                <a:moveTo>
                  <a:pt x="224" y="0"/>
                </a:moveTo>
                <a:lnTo>
                  <a:pt x="306" y="0"/>
                </a:lnTo>
                <a:lnTo>
                  <a:pt x="0" y="258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5621" name="Freeform 31"/>
          <p:cNvSpPr>
            <a:spLocks/>
          </p:cNvSpPr>
          <p:nvPr/>
        </p:nvSpPr>
        <p:spPr bwMode="auto">
          <a:xfrm>
            <a:off x="4102100" y="2843212"/>
            <a:ext cx="1584325" cy="1133475"/>
          </a:xfrm>
          <a:custGeom>
            <a:avLst/>
            <a:gdLst>
              <a:gd name="T0" fmla="*/ 2147483647 w 1018"/>
              <a:gd name="T1" fmla="*/ 0 h 728"/>
              <a:gd name="T2" fmla="*/ 2147483647 w 1018"/>
              <a:gd name="T3" fmla="*/ 2147483647 h 728"/>
              <a:gd name="T4" fmla="*/ 0 w 1018"/>
              <a:gd name="T5" fmla="*/ 2147483647 h 728"/>
              <a:gd name="T6" fmla="*/ 0 60000 65536"/>
              <a:gd name="T7" fmla="*/ 0 60000 65536"/>
              <a:gd name="T8" fmla="*/ 0 60000 65536"/>
              <a:gd name="T9" fmla="*/ 0 w 1018"/>
              <a:gd name="T10" fmla="*/ 0 h 728"/>
              <a:gd name="T11" fmla="*/ 1018 w 1018"/>
              <a:gd name="T12" fmla="*/ 728 h 7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18" h="728">
                <a:moveTo>
                  <a:pt x="1018" y="0"/>
                </a:moveTo>
                <a:lnTo>
                  <a:pt x="272" y="728"/>
                </a:lnTo>
                <a:lnTo>
                  <a:pt x="0" y="728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5622" name="Line 32"/>
          <p:cNvSpPr>
            <a:spLocks noChangeShapeType="1"/>
          </p:cNvSpPr>
          <p:nvPr/>
        </p:nvSpPr>
        <p:spPr bwMode="auto">
          <a:xfrm>
            <a:off x="6748462" y="2489200"/>
            <a:ext cx="0" cy="214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5623" name="Line 33"/>
          <p:cNvSpPr>
            <a:spLocks noChangeShapeType="1"/>
          </p:cNvSpPr>
          <p:nvPr/>
        </p:nvSpPr>
        <p:spPr bwMode="auto">
          <a:xfrm>
            <a:off x="7392987" y="2890837"/>
            <a:ext cx="184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5624" name="Line 34"/>
          <p:cNvSpPr>
            <a:spLocks noChangeShapeType="1"/>
          </p:cNvSpPr>
          <p:nvPr/>
        </p:nvSpPr>
        <p:spPr bwMode="auto">
          <a:xfrm>
            <a:off x="5795962" y="3976687"/>
            <a:ext cx="1130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5625" name="Freeform 37"/>
          <p:cNvSpPr>
            <a:spLocks/>
          </p:cNvSpPr>
          <p:nvPr/>
        </p:nvSpPr>
        <p:spPr bwMode="auto">
          <a:xfrm>
            <a:off x="6194425" y="5102225"/>
            <a:ext cx="585787" cy="420687"/>
          </a:xfrm>
          <a:custGeom>
            <a:avLst/>
            <a:gdLst>
              <a:gd name="T0" fmla="*/ 0 w 376"/>
              <a:gd name="T1" fmla="*/ 2147483647 h 270"/>
              <a:gd name="T2" fmla="*/ 2147483647 w 376"/>
              <a:gd name="T3" fmla="*/ 0 h 270"/>
              <a:gd name="T4" fmla="*/ 2147483647 w 376"/>
              <a:gd name="T5" fmla="*/ 2147483647 h 270"/>
              <a:gd name="T6" fmla="*/ 0 60000 65536"/>
              <a:gd name="T7" fmla="*/ 0 60000 65536"/>
              <a:gd name="T8" fmla="*/ 0 60000 65536"/>
              <a:gd name="T9" fmla="*/ 0 w 376"/>
              <a:gd name="T10" fmla="*/ 0 h 270"/>
              <a:gd name="T11" fmla="*/ 376 w 376"/>
              <a:gd name="T12" fmla="*/ 270 h 27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6" h="270">
                <a:moveTo>
                  <a:pt x="0" y="246"/>
                </a:moveTo>
                <a:lnTo>
                  <a:pt x="228" y="0"/>
                </a:lnTo>
                <a:lnTo>
                  <a:pt x="376" y="27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5626" name="Line 38"/>
          <p:cNvSpPr>
            <a:spLocks noChangeShapeType="1"/>
          </p:cNvSpPr>
          <p:nvPr/>
        </p:nvSpPr>
        <p:spPr bwMode="auto">
          <a:xfrm>
            <a:off x="6550025" y="5102225"/>
            <a:ext cx="373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5627" name="Line 39"/>
          <p:cNvSpPr>
            <a:spLocks noChangeShapeType="1"/>
          </p:cNvSpPr>
          <p:nvPr/>
        </p:nvSpPr>
        <p:spPr bwMode="auto">
          <a:xfrm>
            <a:off x="4217987" y="4327525"/>
            <a:ext cx="8397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5628" name="Line 40"/>
          <p:cNvSpPr>
            <a:spLocks noChangeShapeType="1"/>
          </p:cNvSpPr>
          <p:nvPr/>
        </p:nvSpPr>
        <p:spPr bwMode="auto">
          <a:xfrm>
            <a:off x="4059237" y="4794250"/>
            <a:ext cx="13414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5629" name="Line 41"/>
          <p:cNvSpPr>
            <a:spLocks noChangeShapeType="1"/>
          </p:cNvSpPr>
          <p:nvPr/>
        </p:nvSpPr>
        <p:spPr bwMode="auto">
          <a:xfrm>
            <a:off x="4214812" y="5529262"/>
            <a:ext cx="746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5630" name="Line 42"/>
          <p:cNvSpPr>
            <a:spLocks noChangeShapeType="1"/>
          </p:cNvSpPr>
          <p:nvPr/>
        </p:nvSpPr>
        <p:spPr bwMode="auto">
          <a:xfrm>
            <a:off x="6550025" y="6042025"/>
            <a:ext cx="887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5632" name="Rectangle 18"/>
          <p:cNvSpPr>
            <a:spLocks noGrp="1" noChangeArrowheads="1"/>
          </p:cNvSpPr>
          <p:nvPr>
            <p:ph type="title" idx="4294967295"/>
          </p:nvPr>
        </p:nvSpPr>
        <p:spPr>
          <a:xfrm>
            <a:off x="196056" y="5240337"/>
            <a:ext cx="2482056" cy="954107"/>
          </a:xfrm>
          <a:noFill/>
        </p:spPr>
        <p:txBody>
          <a:bodyPr lIns="72000" rIns="72000"/>
          <a:lstStyle/>
          <a:p>
            <a:r>
              <a:rPr lang="fr-CA" altLang="fr-FR" sz="1400" dirty="0">
                <a:solidFill>
                  <a:srgbClr val="0000FF"/>
                </a:solidFill>
              </a:rPr>
              <a:t>Figure 19.29a </a:t>
            </a:r>
            <a:br>
              <a:rPr lang="fr-CA" altLang="fr-FR" sz="1400" dirty="0">
                <a:solidFill>
                  <a:srgbClr val="0000FF"/>
                </a:solidFill>
              </a:rPr>
            </a:br>
            <a:r>
              <a:rPr lang="fr-CA" altLang="en-US" sz="1400" dirty="0">
                <a:solidFill>
                  <a:srgbClr val="0000FF"/>
                </a:solidFill>
              </a:rPr>
              <a:t>Résumé schématique des veines de la tête, du cou et de l’encéphale</a:t>
            </a:r>
          </a:p>
        </p:txBody>
      </p:sp>
      <p:sp>
        <p:nvSpPr>
          <p:cNvPr id="34" name="TextBox 5"/>
          <p:cNvSpPr txBox="1">
            <a:spLocks noChangeArrowheads="1"/>
          </p:cNvSpPr>
          <p:nvPr/>
        </p:nvSpPr>
        <p:spPr bwMode="auto">
          <a:xfrm>
            <a:off x="0" y="0"/>
            <a:ext cx="37512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60363" indent="-360363"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2000" dirty="0"/>
              <a:t>b)	</a:t>
            </a:r>
            <a:r>
              <a:rPr lang="fr-CA" altLang="fr-FR" sz="2000" u="sng" dirty="0"/>
              <a:t>Veines de la tête et du cou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63" descr="figure_19_28b_unlabeled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4"/>
          <a:stretch/>
        </p:blipFill>
        <p:spPr bwMode="auto">
          <a:xfrm>
            <a:off x="768350" y="533400"/>
            <a:ext cx="7707313" cy="619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Rectangle 18"/>
          <p:cNvSpPr>
            <a:spLocks noGrp="1" noChangeArrowheads="1"/>
          </p:cNvSpPr>
          <p:nvPr>
            <p:ph type="title" idx="4294967295"/>
          </p:nvPr>
        </p:nvSpPr>
        <p:spPr>
          <a:xfrm>
            <a:off x="6083300" y="5926882"/>
            <a:ext cx="2971800" cy="523220"/>
          </a:xfrm>
          <a:noFill/>
        </p:spPr>
        <p:txBody>
          <a:bodyPr lIns="72000" rIns="72000"/>
          <a:lstStyle/>
          <a:p>
            <a:pPr eaLnBrk="1" hangingPunct="1">
              <a:spcBef>
                <a:spcPct val="0"/>
              </a:spcBef>
            </a:pPr>
            <a:r>
              <a:rPr lang="fr-CA" altLang="fr-FR" sz="1400" dirty="0">
                <a:solidFill>
                  <a:srgbClr val="0000FF"/>
                </a:solidFill>
              </a:rPr>
              <a:t>Figure 19.30b</a:t>
            </a:r>
            <a:br>
              <a:rPr lang="fr-CA" altLang="fr-FR" sz="1400" dirty="0">
                <a:solidFill>
                  <a:srgbClr val="0000FF"/>
                </a:solidFill>
              </a:rPr>
            </a:br>
            <a:r>
              <a:rPr lang="fr-CA" altLang="fr-FR" sz="1400" dirty="0">
                <a:solidFill>
                  <a:srgbClr val="0000FF"/>
                </a:solidFill>
              </a:rPr>
              <a:t>Veines du membre supérieur droit. </a:t>
            </a:r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1700213" y="598488"/>
            <a:ext cx="23431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600">
                <a:solidFill>
                  <a:srgbClr val="0000FF"/>
                </a:solidFill>
              </a:rPr>
              <a:t>V. brachiocéphaliques</a:t>
            </a:r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1795463" y="874713"/>
            <a:ext cx="21748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600">
                <a:solidFill>
                  <a:srgbClr val="0000FF"/>
                </a:solidFill>
              </a:rPr>
              <a:t>V. subclavière droite</a:t>
            </a:r>
          </a:p>
        </p:txBody>
      </p:sp>
      <p:sp>
        <p:nvSpPr>
          <p:cNvPr id="27654" name="Rectangle 6"/>
          <p:cNvSpPr>
            <a:spLocks noChangeArrowheads="1"/>
          </p:cNvSpPr>
          <p:nvPr/>
        </p:nvSpPr>
        <p:spPr bwMode="auto">
          <a:xfrm>
            <a:off x="1916113" y="1304925"/>
            <a:ext cx="11842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600">
                <a:solidFill>
                  <a:srgbClr val="0000FF"/>
                </a:solidFill>
              </a:rPr>
              <a:t>V. axillaire</a:t>
            </a:r>
          </a:p>
        </p:txBody>
      </p:sp>
      <p:sp>
        <p:nvSpPr>
          <p:cNvPr id="27655" name="Rectangle 7"/>
          <p:cNvSpPr>
            <a:spLocks noChangeArrowheads="1"/>
          </p:cNvSpPr>
          <p:nvPr/>
        </p:nvSpPr>
        <p:spPr bwMode="auto">
          <a:xfrm>
            <a:off x="1841500" y="1562100"/>
            <a:ext cx="13192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600">
                <a:solidFill>
                  <a:srgbClr val="0000FF"/>
                </a:solidFill>
              </a:rPr>
              <a:t>V. brachiale</a:t>
            </a:r>
          </a:p>
        </p:txBody>
      </p:sp>
      <p:sp>
        <p:nvSpPr>
          <p:cNvPr id="27656" name="Rectangle 8"/>
          <p:cNvSpPr>
            <a:spLocks noChangeArrowheads="1"/>
          </p:cNvSpPr>
          <p:nvPr/>
        </p:nvSpPr>
        <p:spPr bwMode="auto">
          <a:xfrm>
            <a:off x="1701800" y="1825625"/>
            <a:ext cx="14890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600">
                <a:solidFill>
                  <a:srgbClr val="0000FF"/>
                </a:solidFill>
              </a:rPr>
              <a:t>V. céphalique</a:t>
            </a:r>
          </a:p>
        </p:txBody>
      </p:sp>
      <p:sp>
        <p:nvSpPr>
          <p:cNvPr id="27657" name="Rectangle 9"/>
          <p:cNvSpPr>
            <a:spLocks noChangeArrowheads="1"/>
          </p:cNvSpPr>
          <p:nvPr/>
        </p:nvSpPr>
        <p:spPr bwMode="auto">
          <a:xfrm>
            <a:off x="1706563" y="2093913"/>
            <a:ext cx="130651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600">
                <a:solidFill>
                  <a:srgbClr val="0000FF"/>
                </a:solidFill>
              </a:rPr>
              <a:t>V. basilique</a:t>
            </a:r>
          </a:p>
        </p:txBody>
      </p:sp>
      <p:sp>
        <p:nvSpPr>
          <p:cNvPr id="27658" name="Rectangle 10"/>
          <p:cNvSpPr>
            <a:spLocks noChangeArrowheads="1"/>
          </p:cNvSpPr>
          <p:nvPr/>
        </p:nvSpPr>
        <p:spPr bwMode="auto">
          <a:xfrm>
            <a:off x="1096963" y="3405188"/>
            <a:ext cx="147002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fr-CA" altLang="fr-FR" sz="1600">
                <a:solidFill>
                  <a:srgbClr val="0000FF"/>
                </a:solidFill>
              </a:rPr>
              <a:t>V. médiane du coude</a:t>
            </a:r>
          </a:p>
        </p:txBody>
      </p:sp>
      <p:sp>
        <p:nvSpPr>
          <p:cNvPr id="27659" name="Rectangle 12"/>
          <p:cNvSpPr>
            <a:spLocks noChangeArrowheads="1"/>
          </p:cNvSpPr>
          <p:nvPr/>
        </p:nvSpPr>
        <p:spPr bwMode="auto">
          <a:xfrm>
            <a:off x="741363" y="4659313"/>
            <a:ext cx="14890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600">
                <a:solidFill>
                  <a:srgbClr val="0000FF"/>
                </a:solidFill>
              </a:rPr>
              <a:t>V. céphalique</a:t>
            </a:r>
          </a:p>
        </p:txBody>
      </p:sp>
      <p:sp>
        <p:nvSpPr>
          <p:cNvPr id="27660" name="Rectangle 13"/>
          <p:cNvSpPr>
            <a:spLocks noChangeArrowheads="1"/>
          </p:cNvSpPr>
          <p:nvPr/>
        </p:nvSpPr>
        <p:spPr bwMode="auto">
          <a:xfrm>
            <a:off x="930275" y="5067300"/>
            <a:ext cx="10795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600">
                <a:solidFill>
                  <a:srgbClr val="0000FF"/>
                </a:solidFill>
              </a:rPr>
              <a:t>V. radiale</a:t>
            </a:r>
          </a:p>
        </p:txBody>
      </p:sp>
      <p:sp>
        <p:nvSpPr>
          <p:cNvPr id="27661" name="Rectangle 14"/>
          <p:cNvSpPr>
            <a:spLocks noChangeArrowheads="1"/>
          </p:cNvSpPr>
          <p:nvPr/>
        </p:nvSpPr>
        <p:spPr bwMode="auto">
          <a:xfrm>
            <a:off x="3197225" y="4557713"/>
            <a:ext cx="13065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600">
                <a:solidFill>
                  <a:srgbClr val="0000FF"/>
                </a:solidFill>
              </a:rPr>
              <a:t>V. basilique</a:t>
            </a:r>
          </a:p>
        </p:txBody>
      </p:sp>
      <p:sp>
        <p:nvSpPr>
          <p:cNvPr id="27662" name="Rectangle 15"/>
          <p:cNvSpPr>
            <a:spLocks noChangeArrowheads="1"/>
          </p:cNvSpPr>
          <p:nvPr/>
        </p:nvSpPr>
        <p:spPr bwMode="auto">
          <a:xfrm>
            <a:off x="3197225" y="4991100"/>
            <a:ext cx="10906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600">
                <a:solidFill>
                  <a:srgbClr val="0000FF"/>
                </a:solidFill>
              </a:rPr>
              <a:t>V. ulnaire</a:t>
            </a:r>
          </a:p>
        </p:txBody>
      </p:sp>
      <p:sp>
        <p:nvSpPr>
          <p:cNvPr id="27663" name="Rectangle 16"/>
          <p:cNvSpPr>
            <a:spLocks noChangeArrowheads="1"/>
          </p:cNvSpPr>
          <p:nvPr/>
        </p:nvSpPr>
        <p:spPr bwMode="auto">
          <a:xfrm>
            <a:off x="3197225" y="5487988"/>
            <a:ext cx="25177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fr-CA" altLang="fr-FR" sz="1600">
                <a:solidFill>
                  <a:srgbClr val="0000FF"/>
                </a:solidFill>
              </a:rPr>
              <a:t>Arcade veineuse palmaire profonde</a:t>
            </a:r>
          </a:p>
        </p:txBody>
      </p:sp>
      <p:sp>
        <p:nvSpPr>
          <p:cNvPr id="27664" name="Rectangle 17"/>
          <p:cNvSpPr>
            <a:spLocks noChangeArrowheads="1"/>
          </p:cNvSpPr>
          <p:nvPr/>
        </p:nvSpPr>
        <p:spPr bwMode="auto">
          <a:xfrm>
            <a:off x="3197225" y="5991225"/>
            <a:ext cx="2441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fr-CA" altLang="fr-FR" sz="1600">
                <a:solidFill>
                  <a:srgbClr val="0000FF"/>
                </a:solidFill>
              </a:rPr>
              <a:t>Arcade veineuse palmaire superficielle</a:t>
            </a:r>
          </a:p>
        </p:txBody>
      </p:sp>
      <p:sp>
        <p:nvSpPr>
          <p:cNvPr id="27665" name="Rectangle 20"/>
          <p:cNvSpPr>
            <a:spLocks noChangeArrowheads="1"/>
          </p:cNvSpPr>
          <p:nvPr/>
        </p:nvSpPr>
        <p:spPr bwMode="auto">
          <a:xfrm>
            <a:off x="6088063" y="693738"/>
            <a:ext cx="20161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600" dirty="0"/>
              <a:t>V. jugulaire interne</a:t>
            </a:r>
          </a:p>
        </p:txBody>
      </p:sp>
      <p:sp>
        <p:nvSpPr>
          <p:cNvPr id="27666" name="Rectangle 21"/>
          <p:cNvSpPr>
            <a:spLocks noChangeArrowheads="1"/>
          </p:cNvSpPr>
          <p:nvPr/>
        </p:nvSpPr>
        <p:spPr bwMode="auto">
          <a:xfrm>
            <a:off x="6088063" y="935038"/>
            <a:ext cx="20605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600" dirty="0"/>
              <a:t>V. jugulaire externe</a:t>
            </a:r>
          </a:p>
        </p:txBody>
      </p:sp>
      <p:sp>
        <p:nvSpPr>
          <p:cNvPr id="27667" name="Rectangle 22"/>
          <p:cNvSpPr>
            <a:spLocks noChangeArrowheads="1"/>
          </p:cNvSpPr>
          <p:nvPr/>
        </p:nvSpPr>
        <p:spPr bwMode="auto">
          <a:xfrm>
            <a:off x="6084888" y="1219200"/>
            <a:ext cx="23209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600"/>
              <a:t>V. subclavière gauche</a:t>
            </a:r>
          </a:p>
        </p:txBody>
      </p:sp>
      <p:sp>
        <p:nvSpPr>
          <p:cNvPr id="27668" name="Rectangle 23"/>
          <p:cNvSpPr>
            <a:spLocks noChangeArrowheads="1"/>
          </p:cNvSpPr>
          <p:nvPr/>
        </p:nvSpPr>
        <p:spPr bwMode="auto">
          <a:xfrm>
            <a:off x="6083300" y="1525588"/>
            <a:ext cx="19780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600"/>
              <a:t>V. cave supérieure</a:t>
            </a:r>
          </a:p>
        </p:txBody>
      </p:sp>
      <p:sp>
        <p:nvSpPr>
          <p:cNvPr id="27675" name="Freeform 30"/>
          <p:cNvSpPr>
            <a:spLocks/>
          </p:cNvSpPr>
          <p:nvPr/>
        </p:nvSpPr>
        <p:spPr bwMode="auto">
          <a:xfrm>
            <a:off x="3968750" y="795338"/>
            <a:ext cx="1033463" cy="612775"/>
          </a:xfrm>
          <a:custGeom>
            <a:avLst/>
            <a:gdLst>
              <a:gd name="T0" fmla="*/ 0 w 651"/>
              <a:gd name="T1" fmla="*/ 0 h 386"/>
              <a:gd name="T2" fmla="*/ 2147483647 w 651"/>
              <a:gd name="T3" fmla="*/ 0 h 386"/>
              <a:gd name="T4" fmla="*/ 2147483647 w 651"/>
              <a:gd name="T5" fmla="*/ 2147483647 h 386"/>
              <a:gd name="T6" fmla="*/ 0 60000 65536"/>
              <a:gd name="T7" fmla="*/ 0 60000 65536"/>
              <a:gd name="T8" fmla="*/ 0 60000 65536"/>
              <a:gd name="T9" fmla="*/ 0 w 651"/>
              <a:gd name="T10" fmla="*/ 0 h 386"/>
              <a:gd name="T11" fmla="*/ 651 w 651"/>
              <a:gd name="T12" fmla="*/ 386 h 3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51" h="386">
                <a:moveTo>
                  <a:pt x="0" y="0"/>
                </a:moveTo>
                <a:lnTo>
                  <a:pt x="243" y="0"/>
                </a:lnTo>
                <a:lnTo>
                  <a:pt x="651" y="386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7676" name="Freeform 31"/>
          <p:cNvSpPr>
            <a:spLocks/>
          </p:cNvSpPr>
          <p:nvPr/>
        </p:nvSpPr>
        <p:spPr bwMode="auto">
          <a:xfrm>
            <a:off x="4354513" y="795338"/>
            <a:ext cx="460375" cy="638175"/>
          </a:xfrm>
          <a:custGeom>
            <a:avLst/>
            <a:gdLst>
              <a:gd name="T0" fmla="*/ 0 w 290"/>
              <a:gd name="T1" fmla="*/ 0 h 402"/>
              <a:gd name="T2" fmla="*/ 2147483647 w 290"/>
              <a:gd name="T3" fmla="*/ 2147483647 h 402"/>
              <a:gd name="T4" fmla="*/ 0 60000 65536"/>
              <a:gd name="T5" fmla="*/ 0 60000 65536"/>
              <a:gd name="T6" fmla="*/ 0 w 290"/>
              <a:gd name="T7" fmla="*/ 0 h 402"/>
              <a:gd name="T8" fmla="*/ 290 w 290"/>
              <a:gd name="T9" fmla="*/ 402 h 40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90" h="402">
                <a:moveTo>
                  <a:pt x="0" y="0"/>
                </a:moveTo>
                <a:lnTo>
                  <a:pt x="290" y="40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7677" name="Freeform 33"/>
          <p:cNvSpPr>
            <a:spLocks/>
          </p:cNvSpPr>
          <p:nvPr/>
        </p:nvSpPr>
        <p:spPr bwMode="auto">
          <a:xfrm>
            <a:off x="3028950" y="1489075"/>
            <a:ext cx="1003300" cy="3175"/>
          </a:xfrm>
          <a:custGeom>
            <a:avLst/>
            <a:gdLst>
              <a:gd name="T0" fmla="*/ 0 w 632"/>
              <a:gd name="T1" fmla="*/ 2147483647 h 2"/>
              <a:gd name="T2" fmla="*/ 2147483647 w 632"/>
              <a:gd name="T3" fmla="*/ 0 h 2"/>
              <a:gd name="T4" fmla="*/ 0 60000 65536"/>
              <a:gd name="T5" fmla="*/ 0 60000 65536"/>
              <a:gd name="T6" fmla="*/ 0 w 632"/>
              <a:gd name="T7" fmla="*/ 0 h 2"/>
              <a:gd name="T8" fmla="*/ 632 w 632"/>
              <a:gd name="T9" fmla="*/ 2 h 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32" h="2">
                <a:moveTo>
                  <a:pt x="0" y="2"/>
                </a:moveTo>
                <a:lnTo>
                  <a:pt x="632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7678" name="Freeform 34"/>
          <p:cNvSpPr>
            <a:spLocks/>
          </p:cNvSpPr>
          <p:nvPr/>
        </p:nvSpPr>
        <p:spPr bwMode="auto">
          <a:xfrm>
            <a:off x="3090863" y="1757363"/>
            <a:ext cx="738187" cy="6350"/>
          </a:xfrm>
          <a:custGeom>
            <a:avLst/>
            <a:gdLst>
              <a:gd name="T0" fmla="*/ 0 w 465"/>
              <a:gd name="T1" fmla="*/ 0 h 4"/>
              <a:gd name="T2" fmla="*/ 2147483647 w 465"/>
              <a:gd name="T3" fmla="*/ 2147483647 h 4"/>
              <a:gd name="T4" fmla="*/ 0 60000 65536"/>
              <a:gd name="T5" fmla="*/ 0 60000 65536"/>
              <a:gd name="T6" fmla="*/ 0 w 465"/>
              <a:gd name="T7" fmla="*/ 0 h 4"/>
              <a:gd name="T8" fmla="*/ 465 w 465"/>
              <a:gd name="T9" fmla="*/ 4 h 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65" h="4">
                <a:moveTo>
                  <a:pt x="0" y="0"/>
                </a:moveTo>
                <a:lnTo>
                  <a:pt x="465" y="4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7679" name="Freeform 35"/>
          <p:cNvSpPr>
            <a:spLocks/>
          </p:cNvSpPr>
          <p:nvPr/>
        </p:nvSpPr>
        <p:spPr bwMode="auto">
          <a:xfrm>
            <a:off x="3141663" y="2024063"/>
            <a:ext cx="387350" cy="1587"/>
          </a:xfrm>
          <a:custGeom>
            <a:avLst/>
            <a:gdLst>
              <a:gd name="T0" fmla="*/ 0 w 244"/>
              <a:gd name="T1" fmla="*/ 0 h 1"/>
              <a:gd name="T2" fmla="*/ 2147483647 w 244"/>
              <a:gd name="T3" fmla="*/ 2147483647 h 1"/>
              <a:gd name="T4" fmla="*/ 0 60000 65536"/>
              <a:gd name="T5" fmla="*/ 0 60000 65536"/>
              <a:gd name="T6" fmla="*/ 0 w 244"/>
              <a:gd name="T7" fmla="*/ 0 h 1"/>
              <a:gd name="T8" fmla="*/ 244 w 244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44" h="1">
                <a:moveTo>
                  <a:pt x="0" y="0"/>
                </a:moveTo>
                <a:lnTo>
                  <a:pt x="244" y="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7680" name="Freeform 36"/>
          <p:cNvSpPr>
            <a:spLocks/>
          </p:cNvSpPr>
          <p:nvPr/>
        </p:nvSpPr>
        <p:spPr bwMode="auto">
          <a:xfrm>
            <a:off x="2949575" y="2282825"/>
            <a:ext cx="765175" cy="6350"/>
          </a:xfrm>
          <a:custGeom>
            <a:avLst/>
            <a:gdLst>
              <a:gd name="T0" fmla="*/ 0 w 482"/>
              <a:gd name="T1" fmla="*/ 0 h 4"/>
              <a:gd name="T2" fmla="*/ 2147483647 w 482"/>
              <a:gd name="T3" fmla="*/ 2147483647 h 4"/>
              <a:gd name="T4" fmla="*/ 0 60000 65536"/>
              <a:gd name="T5" fmla="*/ 0 60000 65536"/>
              <a:gd name="T6" fmla="*/ 0 w 482"/>
              <a:gd name="T7" fmla="*/ 0 h 4"/>
              <a:gd name="T8" fmla="*/ 482 w 482"/>
              <a:gd name="T9" fmla="*/ 4 h 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82" h="4">
                <a:moveTo>
                  <a:pt x="0" y="0"/>
                </a:moveTo>
                <a:lnTo>
                  <a:pt x="482" y="4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7681" name="Freeform 37"/>
          <p:cNvSpPr>
            <a:spLocks/>
          </p:cNvSpPr>
          <p:nvPr/>
        </p:nvSpPr>
        <p:spPr bwMode="auto">
          <a:xfrm>
            <a:off x="2274888" y="3567113"/>
            <a:ext cx="1079500" cy="1587"/>
          </a:xfrm>
          <a:custGeom>
            <a:avLst/>
            <a:gdLst>
              <a:gd name="T0" fmla="*/ 0 w 680"/>
              <a:gd name="T1" fmla="*/ 0 h 1"/>
              <a:gd name="T2" fmla="*/ 2147483647 w 680"/>
              <a:gd name="T3" fmla="*/ 0 h 1"/>
              <a:gd name="T4" fmla="*/ 0 60000 65536"/>
              <a:gd name="T5" fmla="*/ 0 60000 65536"/>
              <a:gd name="T6" fmla="*/ 0 w 680"/>
              <a:gd name="T7" fmla="*/ 0 h 1"/>
              <a:gd name="T8" fmla="*/ 680 w 680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80" h="1">
                <a:moveTo>
                  <a:pt x="0" y="0"/>
                </a:moveTo>
                <a:lnTo>
                  <a:pt x="68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7682" name="Freeform 39"/>
          <p:cNvSpPr>
            <a:spLocks/>
          </p:cNvSpPr>
          <p:nvPr/>
        </p:nvSpPr>
        <p:spPr bwMode="auto">
          <a:xfrm>
            <a:off x="2166938" y="4841875"/>
            <a:ext cx="400050" cy="6350"/>
          </a:xfrm>
          <a:custGeom>
            <a:avLst/>
            <a:gdLst>
              <a:gd name="T0" fmla="*/ 0 w 252"/>
              <a:gd name="T1" fmla="*/ 2147483647 h 4"/>
              <a:gd name="T2" fmla="*/ 2147483647 w 252"/>
              <a:gd name="T3" fmla="*/ 0 h 4"/>
              <a:gd name="T4" fmla="*/ 0 60000 65536"/>
              <a:gd name="T5" fmla="*/ 0 60000 65536"/>
              <a:gd name="T6" fmla="*/ 0 w 252"/>
              <a:gd name="T7" fmla="*/ 0 h 4"/>
              <a:gd name="T8" fmla="*/ 252 w 252"/>
              <a:gd name="T9" fmla="*/ 4 h 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52" h="4">
                <a:moveTo>
                  <a:pt x="0" y="4"/>
                </a:moveTo>
                <a:lnTo>
                  <a:pt x="252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7683" name="Line 40"/>
          <p:cNvSpPr>
            <a:spLocks noChangeShapeType="1"/>
          </p:cNvSpPr>
          <p:nvPr/>
        </p:nvSpPr>
        <p:spPr bwMode="auto">
          <a:xfrm>
            <a:off x="3033713" y="4727575"/>
            <a:ext cx="212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7684" name="Line 41"/>
          <p:cNvSpPr>
            <a:spLocks noChangeShapeType="1"/>
          </p:cNvSpPr>
          <p:nvPr/>
        </p:nvSpPr>
        <p:spPr bwMode="auto">
          <a:xfrm>
            <a:off x="2713038" y="5165725"/>
            <a:ext cx="520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7685" name="Freeform 42"/>
          <p:cNvSpPr>
            <a:spLocks/>
          </p:cNvSpPr>
          <p:nvPr/>
        </p:nvSpPr>
        <p:spPr bwMode="auto">
          <a:xfrm>
            <a:off x="1944688" y="5256213"/>
            <a:ext cx="530225" cy="3175"/>
          </a:xfrm>
          <a:custGeom>
            <a:avLst/>
            <a:gdLst>
              <a:gd name="T0" fmla="*/ 0 w 334"/>
              <a:gd name="T1" fmla="*/ 2147483647 h 2"/>
              <a:gd name="T2" fmla="*/ 2147483647 w 334"/>
              <a:gd name="T3" fmla="*/ 0 h 2"/>
              <a:gd name="T4" fmla="*/ 0 60000 65536"/>
              <a:gd name="T5" fmla="*/ 0 60000 65536"/>
              <a:gd name="T6" fmla="*/ 0 w 334"/>
              <a:gd name="T7" fmla="*/ 0 h 2"/>
              <a:gd name="T8" fmla="*/ 334 w 334"/>
              <a:gd name="T9" fmla="*/ 2 h 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34" h="2">
                <a:moveTo>
                  <a:pt x="0" y="2"/>
                </a:moveTo>
                <a:lnTo>
                  <a:pt x="334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7686" name="Freeform 43"/>
          <p:cNvSpPr>
            <a:spLocks/>
          </p:cNvSpPr>
          <p:nvPr/>
        </p:nvSpPr>
        <p:spPr bwMode="auto">
          <a:xfrm>
            <a:off x="2370138" y="5643563"/>
            <a:ext cx="869950" cy="117475"/>
          </a:xfrm>
          <a:custGeom>
            <a:avLst/>
            <a:gdLst>
              <a:gd name="T0" fmla="*/ 0 w 548"/>
              <a:gd name="T1" fmla="*/ 2147483647 h 74"/>
              <a:gd name="T2" fmla="*/ 2147483647 w 548"/>
              <a:gd name="T3" fmla="*/ 0 h 74"/>
              <a:gd name="T4" fmla="*/ 2147483647 w 548"/>
              <a:gd name="T5" fmla="*/ 0 h 74"/>
              <a:gd name="T6" fmla="*/ 0 60000 65536"/>
              <a:gd name="T7" fmla="*/ 0 60000 65536"/>
              <a:gd name="T8" fmla="*/ 0 60000 65536"/>
              <a:gd name="T9" fmla="*/ 0 w 548"/>
              <a:gd name="T10" fmla="*/ 0 h 74"/>
              <a:gd name="T11" fmla="*/ 548 w 548"/>
              <a:gd name="T12" fmla="*/ 74 h 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48" h="74">
                <a:moveTo>
                  <a:pt x="0" y="74"/>
                </a:moveTo>
                <a:lnTo>
                  <a:pt x="190" y="0"/>
                </a:lnTo>
                <a:lnTo>
                  <a:pt x="548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7687" name="Freeform 44"/>
          <p:cNvSpPr>
            <a:spLocks/>
          </p:cNvSpPr>
          <p:nvPr/>
        </p:nvSpPr>
        <p:spPr bwMode="auto">
          <a:xfrm>
            <a:off x="2490788" y="5878513"/>
            <a:ext cx="752475" cy="252412"/>
          </a:xfrm>
          <a:custGeom>
            <a:avLst/>
            <a:gdLst>
              <a:gd name="T0" fmla="*/ 0 w 474"/>
              <a:gd name="T1" fmla="*/ 0 h 159"/>
              <a:gd name="T2" fmla="*/ 2147483647 w 474"/>
              <a:gd name="T3" fmla="*/ 2147483647 h 159"/>
              <a:gd name="T4" fmla="*/ 2147483647 w 474"/>
              <a:gd name="T5" fmla="*/ 2147483647 h 159"/>
              <a:gd name="T6" fmla="*/ 0 60000 65536"/>
              <a:gd name="T7" fmla="*/ 0 60000 65536"/>
              <a:gd name="T8" fmla="*/ 0 60000 65536"/>
              <a:gd name="T9" fmla="*/ 0 w 474"/>
              <a:gd name="T10" fmla="*/ 0 h 159"/>
              <a:gd name="T11" fmla="*/ 474 w 474"/>
              <a:gd name="T12" fmla="*/ 159 h 15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4" h="159">
                <a:moveTo>
                  <a:pt x="0" y="0"/>
                </a:moveTo>
                <a:lnTo>
                  <a:pt x="352" y="159"/>
                </a:lnTo>
                <a:lnTo>
                  <a:pt x="474" y="159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7688" name="Freeform 47"/>
          <p:cNvSpPr>
            <a:spLocks/>
          </p:cNvSpPr>
          <p:nvPr/>
        </p:nvSpPr>
        <p:spPr bwMode="auto">
          <a:xfrm>
            <a:off x="5208588" y="871538"/>
            <a:ext cx="941387" cy="63500"/>
          </a:xfrm>
          <a:custGeom>
            <a:avLst/>
            <a:gdLst>
              <a:gd name="T0" fmla="*/ 0 w 593"/>
              <a:gd name="T1" fmla="*/ 2147483647 h 40"/>
              <a:gd name="T2" fmla="*/ 2147483647 w 593"/>
              <a:gd name="T3" fmla="*/ 0 h 40"/>
              <a:gd name="T4" fmla="*/ 2147483647 w 593"/>
              <a:gd name="T5" fmla="*/ 0 h 40"/>
              <a:gd name="T6" fmla="*/ 0 60000 65536"/>
              <a:gd name="T7" fmla="*/ 0 60000 65536"/>
              <a:gd name="T8" fmla="*/ 0 60000 65536"/>
              <a:gd name="T9" fmla="*/ 0 w 593"/>
              <a:gd name="T10" fmla="*/ 0 h 40"/>
              <a:gd name="T11" fmla="*/ 593 w 593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93" h="40">
                <a:moveTo>
                  <a:pt x="0" y="40"/>
                </a:moveTo>
                <a:lnTo>
                  <a:pt x="107" y="0"/>
                </a:lnTo>
                <a:lnTo>
                  <a:pt x="593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7689" name="Line 48"/>
          <p:cNvSpPr>
            <a:spLocks noChangeShapeType="1"/>
          </p:cNvSpPr>
          <p:nvPr/>
        </p:nvSpPr>
        <p:spPr bwMode="auto">
          <a:xfrm>
            <a:off x="5251450" y="1101725"/>
            <a:ext cx="904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7690" name="Freeform 49"/>
          <p:cNvSpPr>
            <a:spLocks/>
          </p:cNvSpPr>
          <p:nvPr/>
        </p:nvSpPr>
        <p:spPr bwMode="auto">
          <a:xfrm>
            <a:off x="5419725" y="1289050"/>
            <a:ext cx="733425" cy="107950"/>
          </a:xfrm>
          <a:custGeom>
            <a:avLst/>
            <a:gdLst>
              <a:gd name="T0" fmla="*/ 0 w 462"/>
              <a:gd name="T1" fmla="*/ 0 h 68"/>
              <a:gd name="T2" fmla="*/ 2147483647 w 462"/>
              <a:gd name="T3" fmla="*/ 2147483647 h 68"/>
              <a:gd name="T4" fmla="*/ 2147483647 w 462"/>
              <a:gd name="T5" fmla="*/ 2147483647 h 68"/>
              <a:gd name="T6" fmla="*/ 0 60000 65536"/>
              <a:gd name="T7" fmla="*/ 0 60000 65536"/>
              <a:gd name="T8" fmla="*/ 0 60000 65536"/>
              <a:gd name="T9" fmla="*/ 0 w 462"/>
              <a:gd name="T10" fmla="*/ 0 h 68"/>
              <a:gd name="T11" fmla="*/ 462 w 462"/>
              <a:gd name="T12" fmla="*/ 68 h 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62" h="68">
                <a:moveTo>
                  <a:pt x="0" y="0"/>
                </a:moveTo>
                <a:lnTo>
                  <a:pt x="208" y="68"/>
                </a:lnTo>
                <a:lnTo>
                  <a:pt x="462" y="68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7691" name="Line 50"/>
          <p:cNvSpPr>
            <a:spLocks noChangeShapeType="1"/>
          </p:cNvSpPr>
          <p:nvPr/>
        </p:nvSpPr>
        <p:spPr bwMode="auto">
          <a:xfrm>
            <a:off x="4879975" y="1695450"/>
            <a:ext cx="127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7701" name="Freeform 62"/>
          <p:cNvSpPr>
            <a:spLocks/>
          </p:cNvSpPr>
          <p:nvPr/>
        </p:nvSpPr>
        <p:spPr bwMode="auto">
          <a:xfrm>
            <a:off x="3908425" y="1073150"/>
            <a:ext cx="631825" cy="192088"/>
          </a:xfrm>
          <a:custGeom>
            <a:avLst/>
            <a:gdLst>
              <a:gd name="T0" fmla="*/ 0 w 398"/>
              <a:gd name="T1" fmla="*/ 0 h 121"/>
              <a:gd name="T2" fmla="*/ 2147483647 w 398"/>
              <a:gd name="T3" fmla="*/ 2147483647 h 121"/>
              <a:gd name="T4" fmla="*/ 2147483647 w 398"/>
              <a:gd name="T5" fmla="*/ 2147483647 h 121"/>
              <a:gd name="T6" fmla="*/ 0 60000 65536"/>
              <a:gd name="T7" fmla="*/ 0 60000 65536"/>
              <a:gd name="T8" fmla="*/ 0 60000 65536"/>
              <a:gd name="T9" fmla="*/ 0 w 398"/>
              <a:gd name="T10" fmla="*/ 0 h 121"/>
              <a:gd name="T11" fmla="*/ 398 w 398"/>
              <a:gd name="T12" fmla="*/ 121 h 12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98" h="121">
                <a:moveTo>
                  <a:pt x="0" y="0"/>
                </a:moveTo>
                <a:lnTo>
                  <a:pt x="203" y="1"/>
                </a:lnTo>
                <a:lnTo>
                  <a:pt x="398" y="121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55" name="Title 1"/>
          <p:cNvSpPr txBox="1">
            <a:spLocks/>
          </p:cNvSpPr>
          <p:nvPr/>
        </p:nvSpPr>
        <p:spPr bwMode="auto">
          <a:xfrm>
            <a:off x="165100" y="46038"/>
            <a:ext cx="441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2000" tIns="45720" rIns="72000" bIns="4572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j-lt"/>
                <a:ea typeface="Arial" charset="0"/>
                <a:cs typeface="+mj-cs"/>
              </a:defRPr>
            </a:lvl1pPr>
            <a:lvl2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algn="l" rtl="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algn="l" rtl="0" fontAlgn="base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/>
            <a:r>
              <a:rPr lang="en-US" altLang="fr-FR" kern="0" dirty="0"/>
              <a:t>c</a:t>
            </a:r>
            <a:r>
              <a:rPr lang="en-US" altLang="fr-FR" b="1" kern="0" dirty="0"/>
              <a:t>) </a:t>
            </a:r>
            <a:r>
              <a:rPr lang="fr-CA" altLang="fr-FR" b="1" u="sng" kern="0" dirty="0"/>
              <a:t>Veines des membres supérieurs</a:t>
            </a:r>
            <a:endParaRPr lang="en-US" altLang="fr-FR" b="1" u="sng" kern="0" dirty="0"/>
          </a:p>
        </p:txBody>
      </p:sp>
    </p:spTree>
    <p:extLst>
      <p:ext uri="{BB962C8B-B14F-4D97-AF65-F5344CB8AC3E}">
        <p14:creationId xmlns:p14="http://schemas.microsoft.com/office/powerpoint/2010/main" val="14610913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 idx="4294967295"/>
          </p:nvPr>
        </p:nvSpPr>
        <p:spPr>
          <a:xfrm>
            <a:off x="152400" y="228600"/>
            <a:ext cx="4419600" cy="400050"/>
          </a:xfrm>
        </p:spPr>
        <p:txBody>
          <a:bodyPr lIns="72000" rIns="72000"/>
          <a:lstStyle/>
          <a:p>
            <a:pPr marL="342900" indent="-342900"/>
            <a:r>
              <a:rPr lang="en-US" altLang="fr-FR" b="1" dirty="0"/>
              <a:t>c) </a:t>
            </a:r>
            <a:r>
              <a:rPr lang="fr-CA" altLang="fr-FR" b="1" u="sng" dirty="0"/>
              <a:t>Veines des membres supérieurs</a:t>
            </a:r>
            <a:endParaRPr lang="en-US" altLang="fr-FR" b="1" u="sng" dirty="0"/>
          </a:p>
        </p:txBody>
      </p:sp>
      <p:sp>
        <p:nvSpPr>
          <p:cNvPr id="28676" name="TextBox 4"/>
          <p:cNvSpPr txBox="1">
            <a:spLocks noChangeArrowheads="1"/>
          </p:cNvSpPr>
          <p:nvPr/>
        </p:nvSpPr>
        <p:spPr bwMode="auto">
          <a:xfrm>
            <a:off x="533400" y="685800"/>
            <a:ext cx="8153400" cy="450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fr-CA" altLang="fr-FR" sz="1600" b="0" dirty="0"/>
              <a:t>Les </a:t>
            </a:r>
            <a:r>
              <a:rPr lang="fr-CA" altLang="fr-FR" sz="1600" b="0" u="sng" dirty="0"/>
              <a:t>veines profondes</a:t>
            </a:r>
            <a:r>
              <a:rPr lang="fr-CA" altLang="fr-FR" sz="1600" b="0" dirty="0"/>
              <a:t> sont étroitement associées aux artères du même nom : </a:t>
            </a:r>
          </a:p>
          <a:p>
            <a:pPr marL="174625" indent="-174625">
              <a:spcBef>
                <a:spcPts val="600"/>
              </a:spcBef>
              <a:buSzPct val="120000"/>
              <a:buFont typeface="Arial" charset="0"/>
              <a:buChar char="•"/>
              <a:defRPr/>
            </a:pPr>
            <a:r>
              <a:rPr lang="fr-CA" altLang="fr-FR" sz="1600" i="1" dirty="0"/>
              <a:t>Veines radiale et ulnaire – </a:t>
            </a:r>
            <a:r>
              <a:rPr lang="fr-CA" altLang="fr-FR" sz="1600" b="0" dirty="0"/>
              <a:t>reçoivent le sang des </a:t>
            </a:r>
            <a:r>
              <a:rPr lang="fr-CA" altLang="fr-FR" sz="1600" i="1" dirty="0"/>
              <a:t>arcades veineuses palmaires profonde et superficielle</a:t>
            </a:r>
            <a:r>
              <a:rPr lang="fr-CA" altLang="fr-FR" sz="1600" b="0" dirty="0"/>
              <a:t>; se déversent dans la veine brachiale.</a:t>
            </a:r>
          </a:p>
          <a:p>
            <a:pPr marL="174625" indent="-174625">
              <a:spcBef>
                <a:spcPts val="600"/>
              </a:spcBef>
              <a:buSzPct val="120000"/>
              <a:buFont typeface="Arial" charset="0"/>
              <a:buChar char="•"/>
              <a:defRPr/>
            </a:pPr>
            <a:r>
              <a:rPr lang="fr-CA" altLang="fr-FR" sz="1600" i="1" dirty="0"/>
              <a:t>Veine brachiale – </a:t>
            </a:r>
            <a:r>
              <a:rPr lang="fr-CA" altLang="fr-FR" sz="1600" b="0" dirty="0"/>
              <a:t>formée par la jonction des veines radiale et ulnaire; se déverse dans la veine axillaire au niveau de l’aisselle.</a:t>
            </a:r>
          </a:p>
          <a:p>
            <a:pPr marL="174625" indent="-174625">
              <a:spcBef>
                <a:spcPts val="600"/>
              </a:spcBef>
              <a:buSzPct val="120000"/>
              <a:buFont typeface="Arial" charset="0"/>
              <a:buChar char="•"/>
              <a:defRPr/>
            </a:pPr>
            <a:r>
              <a:rPr lang="fr-CA" altLang="fr-FR" sz="1600" i="1" dirty="0"/>
              <a:t>Veine axillaire – </a:t>
            </a:r>
            <a:r>
              <a:rPr lang="fr-CA" altLang="fr-FR" sz="1600" b="0" dirty="0"/>
              <a:t>reçoit le sang provenant des veines brachiale, céphalique et basilique et se déverse dans la veine subclavière.</a:t>
            </a:r>
          </a:p>
          <a:p>
            <a:pPr marL="174625" indent="-174625">
              <a:spcBef>
                <a:spcPts val="600"/>
              </a:spcBef>
              <a:buSzPct val="120000"/>
              <a:buFont typeface="Arial" charset="0"/>
              <a:buChar char="•"/>
              <a:defRPr/>
            </a:pPr>
            <a:r>
              <a:rPr lang="fr-CA" altLang="fr-FR" sz="1600" i="1" dirty="0"/>
              <a:t>Veines subclavière –</a:t>
            </a:r>
            <a:r>
              <a:rPr lang="fr-CA" altLang="fr-FR" sz="1600" b="0" dirty="0"/>
              <a:t> reçoit le sang des veines axillaire et jugulaire et se déverse dans la veine brachiocéphalique.</a:t>
            </a:r>
            <a:endParaRPr lang="fr-CA" altLang="fr-FR" sz="1600" i="1" dirty="0"/>
          </a:p>
          <a:p>
            <a:pPr>
              <a:defRPr/>
            </a:pPr>
            <a:endParaRPr lang="fr-CA" altLang="fr-FR" sz="1600" b="0" dirty="0"/>
          </a:p>
          <a:p>
            <a:pPr>
              <a:defRPr/>
            </a:pPr>
            <a:r>
              <a:rPr lang="fr-CA" altLang="fr-FR" sz="1600" b="0" dirty="0"/>
              <a:t>Les deux plus importantes </a:t>
            </a:r>
            <a:r>
              <a:rPr lang="fr-CA" altLang="fr-FR" sz="1600" b="0" u="sng" dirty="0"/>
              <a:t>veines superficielles</a:t>
            </a:r>
            <a:r>
              <a:rPr lang="fr-CA" altLang="fr-FR" sz="1600" b="0" dirty="0"/>
              <a:t> du membre supérieur : </a:t>
            </a:r>
          </a:p>
          <a:p>
            <a:pPr marL="174625" indent="-174625">
              <a:spcBef>
                <a:spcPts val="600"/>
              </a:spcBef>
              <a:buSzPct val="120000"/>
              <a:buFont typeface="Arial" charset="0"/>
              <a:buChar char="•"/>
              <a:defRPr/>
            </a:pPr>
            <a:r>
              <a:rPr lang="fr-CA" altLang="fr-FR" sz="1600" i="1" dirty="0"/>
              <a:t>Veine céphalique</a:t>
            </a:r>
            <a:r>
              <a:rPr lang="fr-CA" altLang="fr-FR" sz="1600" b="0" dirty="0"/>
              <a:t> </a:t>
            </a:r>
            <a:r>
              <a:rPr lang="fr-CA" altLang="fr-FR" sz="1600" dirty="0"/>
              <a:t>– </a:t>
            </a:r>
            <a:r>
              <a:rPr lang="fr-CA" altLang="fr-FR" sz="1600" b="0" dirty="0"/>
              <a:t>rejoint la veine axillaire.</a:t>
            </a:r>
          </a:p>
          <a:p>
            <a:pPr marL="174625" indent="-174625">
              <a:spcBef>
                <a:spcPts val="600"/>
              </a:spcBef>
              <a:buSzPct val="120000"/>
              <a:buFont typeface="Arial" charset="0"/>
              <a:buChar char="•"/>
              <a:defRPr/>
            </a:pPr>
            <a:r>
              <a:rPr lang="fr-CA" altLang="fr-FR" sz="1600" i="1" dirty="0"/>
              <a:t>Veine basilique</a:t>
            </a:r>
            <a:r>
              <a:rPr lang="fr-CA" altLang="fr-FR" sz="1600" dirty="0"/>
              <a:t> – </a:t>
            </a:r>
            <a:r>
              <a:rPr lang="fr-CA" altLang="fr-FR" sz="1600" b="0" dirty="0"/>
              <a:t>s'unit à la veine brachiale pour former la veine axillaire.</a:t>
            </a:r>
            <a:endParaRPr lang="en-CA" altLang="fr-FR" sz="1600" b="0" dirty="0"/>
          </a:p>
          <a:p>
            <a:pPr marL="360363" indent="-185738">
              <a:spcBef>
                <a:spcPts val="600"/>
              </a:spcBef>
              <a:buSzPct val="80000"/>
              <a:buFont typeface="Wingdings" panose="05000000000000000000" pitchFamily="2" charset="2"/>
              <a:buChar char="Ø"/>
              <a:defRPr/>
            </a:pPr>
            <a:r>
              <a:rPr lang="fr-CA" altLang="fr-FR" sz="1600" i="1" dirty="0"/>
              <a:t>Veine médiane du coude</a:t>
            </a:r>
            <a:r>
              <a:rPr lang="fr-CA" altLang="fr-FR" sz="1600" b="0" dirty="0"/>
              <a:t> </a:t>
            </a:r>
            <a:r>
              <a:rPr lang="fr-CA" altLang="fr-FR" sz="1600" dirty="0"/>
              <a:t>– </a:t>
            </a:r>
            <a:r>
              <a:rPr lang="fr-CA" altLang="fr-FR" sz="1600" b="0" dirty="0"/>
              <a:t>unit les veines basilique et céphalique au niveau du coude; souvent utilisée pour les prélèvements de sang. </a:t>
            </a:r>
            <a:endParaRPr lang="en-CA" altLang="fr-FR" sz="1600" b="0" dirty="0"/>
          </a:p>
          <a:p>
            <a:pPr>
              <a:defRPr/>
            </a:pPr>
            <a:endParaRPr lang="en-US" altLang="fr-FR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35" descr="figure_19_29b_unlabel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71"/>
          <a:stretch>
            <a:fillRect/>
          </a:stretch>
        </p:blipFill>
        <p:spPr bwMode="auto">
          <a:xfrm>
            <a:off x="304800" y="609600"/>
            <a:ext cx="8597900" cy="545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Rectangle 4"/>
          <p:cNvSpPr>
            <a:spLocks noChangeArrowheads="1"/>
          </p:cNvSpPr>
          <p:nvPr/>
        </p:nvSpPr>
        <p:spPr bwMode="auto">
          <a:xfrm>
            <a:off x="301625" y="1479550"/>
            <a:ext cx="150018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600">
                <a:solidFill>
                  <a:srgbClr val="0000FF"/>
                </a:solidFill>
              </a:rPr>
              <a:t>V. hépatiques</a:t>
            </a:r>
          </a:p>
        </p:txBody>
      </p:sp>
      <p:sp>
        <p:nvSpPr>
          <p:cNvPr id="30724" name="Rectangle 5"/>
          <p:cNvSpPr>
            <a:spLocks noChangeArrowheads="1"/>
          </p:cNvSpPr>
          <p:nvPr/>
        </p:nvSpPr>
        <p:spPr bwMode="auto">
          <a:xfrm>
            <a:off x="311150" y="1911350"/>
            <a:ext cx="18669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600"/>
              <a:t>V. cave inférieure</a:t>
            </a:r>
          </a:p>
        </p:txBody>
      </p:sp>
      <p:sp>
        <p:nvSpPr>
          <p:cNvPr id="30725" name="Rectangle 6"/>
          <p:cNvSpPr>
            <a:spLocks noChangeArrowheads="1"/>
          </p:cNvSpPr>
          <p:nvPr/>
        </p:nvSpPr>
        <p:spPr bwMode="auto">
          <a:xfrm>
            <a:off x="239713" y="2328863"/>
            <a:ext cx="19700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fr-CA" altLang="fr-FR" sz="1600">
                <a:solidFill>
                  <a:srgbClr val="0000FF"/>
                </a:solidFill>
              </a:rPr>
              <a:t>V. surrénale droite</a:t>
            </a:r>
          </a:p>
        </p:txBody>
      </p:sp>
      <p:sp>
        <p:nvSpPr>
          <p:cNvPr id="30726" name="Rectangle 7"/>
          <p:cNvSpPr>
            <a:spLocks noChangeArrowheads="1"/>
          </p:cNvSpPr>
          <p:nvPr/>
        </p:nvSpPr>
        <p:spPr bwMode="auto">
          <a:xfrm>
            <a:off x="211138" y="3565525"/>
            <a:ext cx="2043112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fr-CA" altLang="fr-FR" sz="1600" dirty="0">
                <a:solidFill>
                  <a:srgbClr val="0000FF"/>
                </a:solidFill>
              </a:rPr>
              <a:t>V. ovarique ou testiculaire droite</a:t>
            </a:r>
          </a:p>
        </p:txBody>
      </p:sp>
      <p:sp>
        <p:nvSpPr>
          <p:cNvPr id="30727" name="Rectangle 8"/>
          <p:cNvSpPr>
            <a:spLocks noChangeArrowheads="1"/>
          </p:cNvSpPr>
          <p:nvPr/>
        </p:nvSpPr>
        <p:spPr bwMode="auto">
          <a:xfrm>
            <a:off x="514350" y="4883150"/>
            <a:ext cx="1663700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fr-CA" altLang="fr-FR" sz="1600"/>
              <a:t>V. iliaque externe</a:t>
            </a:r>
          </a:p>
        </p:txBody>
      </p:sp>
      <p:sp>
        <p:nvSpPr>
          <p:cNvPr id="30728" name="Rectangle 11"/>
          <p:cNvSpPr>
            <a:spLocks noChangeArrowheads="1"/>
          </p:cNvSpPr>
          <p:nvPr/>
        </p:nvSpPr>
        <p:spPr bwMode="auto">
          <a:xfrm>
            <a:off x="7239000" y="2786063"/>
            <a:ext cx="11366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600">
                <a:solidFill>
                  <a:srgbClr val="0000FF"/>
                </a:solidFill>
              </a:rPr>
              <a:t>V. rénales</a:t>
            </a:r>
          </a:p>
        </p:txBody>
      </p:sp>
      <p:sp>
        <p:nvSpPr>
          <p:cNvPr id="30729" name="Rectangle 12"/>
          <p:cNvSpPr>
            <a:spLocks noChangeArrowheads="1"/>
          </p:cNvSpPr>
          <p:nvPr/>
        </p:nvSpPr>
        <p:spPr bwMode="auto">
          <a:xfrm>
            <a:off x="7040563" y="3198813"/>
            <a:ext cx="2128837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fr-CA" altLang="fr-FR" sz="1600"/>
              <a:t>V. lombaire ascendante gauche</a:t>
            </a:r>
          </a:p>
        </p:txBody>
      </p:sp>
      <p:sp>
        <p:nvSpPr>
          <p:cNvPr id="30730" name="Rectangle 14"/>
          <p:cNvSpPr>
            <a:spLocks noChangeArrowheads="1"/>
          </p:cNvSpPr>
          <p:nvPr/>
        </p:nvSpPr>
        <p:spPr bwMode="auto">
          <a:xfrm>
            <a:off x="7086600" y="4060825"/>
            <a:ext cx="2082800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fr-CA" altLang="fr-FR" sz="1600" dirty="0">
                <a:solidFill>
                  <a:srgbClr val="0000FF"/>
                </a:solidFill>
              </a:rPr>
              <a:t>V. ovarique ou testiculaire gauche</a:t>
            </a:r>
          </a:p>
        </p:txBody>
      </p:sp>
      <p:sp>
        <p:nvSpPr>
          <p:cNvPr id="30731" name="Rectangle 15"/>
          <p:cNvSpPr>
            <a:spLocks noChangeArrowheads="1"/>
          </p:cNvSpPr>
          <p:nvPr/>
        </p:nvSpPr>
        <p:spPr bwMode="auto">
          <a:xfrm>
            <a:off x="7242175" y="4649788"/>
            <a:ext cx="167322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fr-CA" altLang="fr-FR" sz="1600">
                <a:solidFill>
                  <a:srgbClr val="0000FF"/>
                </a:solidFill>
              </a:rPr>
              <a:t>V. iliaque commune</a:t>
            </a:r>
          </a:p>
        </p:txBody>
      </p:sp>
      <p:sp>
        <p:nvSpPr>
          <p:cNvPr id="30732" name="Rectangle 16"/>
          <p:cNvSpPr>
            <a:spLocks noChangeArrowheads="1"/>
          </p:cNvSpPr>
          <p:nvPr/>
        </p:nvSpPr>
        <p:spPr bwMode="auto">
          <a:xfrm>
            <a:off x="7285038" y="5192713"/>
            <a:ext cx="1809750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fr-CA" altLang="fr-FR" sz="1600"/>
              <a:t>V. iliaque interne</a:t>
            </a:r>
          </a:p>
        </p:txBody>
      </p:sp>
      <p:sp>
        <p:nvSpPr>
          <p:cNvPr id="29710" name="Rectangle 17"/>
          <p:cNvSpPr>
            <a:spLocks noChangeArrowheads="1"/>
          </p:cNvSpPr>
          <p:nvPr/>
        </p:nvSpPr>
        <p:spPr bwMode="auto">
          <a:xfrm>
            <a:off x="457200" y="5915025"/>
            <a:ext cx="8382000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1166813" indent="-1166813">
              <a:lnSpc>
                <a:spcPct val="85000"/>
              </a:lnSpc>
              <a:defRPr/>
            </a:pPr>
            <a:r>
              <a:rPr lang="fr-CA" altLang="fr-FR" sz="1600" b="0" dirty="0">
                <a:solidFill>
                  <a:srgbClr val="0000FF"/>
                </a:solidFill>
                <a:latin typeface="+mn-lt"/>
              </a:rPr>
              <a:t>Fig. 19.31b	Veines des organes abdominaux que ne draine pas la veine porte hépatique.</a:t>
            </a:r>
          </a:p>
        </p:txBody>
      </p:sp>
      <p:sp>
        <p:nvSpPr>
          <p:cNvPr id="30734" name="Freeform 18"/>
          <p:cNvSpPr>
            <a:spLocks/>
          </p:cNvSpPr>
          <p:nvPr/>
        </p:nvSpPr>
        <p:spPr bwMode="auto">
          <a:xfrm>
            <a:off x="1671638" y="1662113"/>
            <a:ext cx="2900362" cy="3175"/>
          </a:xfrm>
          <a:custGeom>
            <a:avLst/>
            <a:gdLst>
              <a:gd name="T0" fmla="*/ 0 w 1827"/>
              <a:gd name="T1" fmla="*/ 0 h 2"/>
              <a:gd name="T2" fmla="*/ 2147483647 w 1827"/>
              <a:gd name="T3" fmla="*/ 2147483647 h 2"/>
              <a:gd name="T4" fmla="*/ 0 60000 65536"/>
              <a:gd name="T5" fmla="*/ 0 60000 65536"/>
              <a:gd name="T6" fmla="*/ 0 w 1827"/>
              <a:gd name="T7" fmla="*/ 0 h 2"/>
              <a:gd name="T8" fmla="*/ 1827 w 1827"/>
              <a:gd name="T9" fmla="*/ 2 h 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827" h="2">
                <a:moveTo>
                  <a:pt x="0" y="0"/>
                </a:moveTo>
                <a:lnTo>
                  <a:pt x="1827" y="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30735" name="Line 19"/>
          <p:cNvSpPr>
            <a:spLocks noChangeShapeType="1"/>
          </p:cNvSpPr>
          <p:nvPr/>
        </p:nvSpPr>
        <p:spPr bwMode="auto">
          <a:xfrm flipV="1">
            <a:off x="3581400" y="1536700"/>
            <a:ext cx="609600" cy="12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30736" name="Freeform 20"/>
          <p:cNvSpPr>
            <a:spLocks/>
          </p:cNvSpPr>
          <p:nvPr/>
        </p:nvSpPr>
        <p:spPr bwMode="auto">
          <a:xfrm flipV="1">
            <a:off x="2092325" y="2051050"/>
            <a:ext cx="2165350" cy="46038"/>
          </a:xfrm>
          <a:custGeom>
            <a:avLst/>
            <a:gdLst>
              <a:gd name="T0" fmla="*/ 0 w 1452"/>
              <a:gd name="T1" fmla="*/ 0 h 1"/>
              <a:gd name="T2" fmla="*/ 2147483647 w 1452"/>
              <a:gd name="T3" fmla="*/ 0 h 1"/>
              <a:gd name="T4" fmla="*/ 0 60000 65536"/>
              <a:gd name="T5" fmla="*/ 0 60000 65536"/>
              <a:gd name="T6" fmla="*/ 0 w 1452"/>
              <a:gd name="T7" fmla="*/ 0 h 1"/>
              <a:gd name="T8" fmla="*/ 1452 w 1452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452" h="1">
                <a:moveTo>
                  <a:pt x="0" y="0"/>
                </a:moveTo>
                <a:lnTo>
                  <a:pt x="1452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30737" name="Freeform 21"/>
          <p:cNvSpPr>
            <a:spLocks/>
          </p:cNvSpPr>
          <p:nvPr/>
        </p:nvSpPr>
        <p:spPr bwMode="auto">
          <a:xfrm flipV="1">
            <a:off x="2119313" y="2419350"/>
            <a:ext cx="1843087" cy="46038"/>
          </a:xfrm>
          <a:custGeom>
            <a:avLst/>
            <a:gdLst>
              <a:gd name="T0" fmla="*/ 0 w 1257"/>
              <a:gd name="T1" fmla="*/ 0 h 1"/>
              <a:gd name="T2" fmla="*/ 2147483647 w 1257"/>
              <a:gd name="T3" fmla="*/ 0 h 1"/>
              <a:gd name="T4" fmla="*/ 0 60000 65536"/>
              <a:gd name="T5" fmla="*/ 0 60000 65536"/>
              <a:gd name="T6" fmla="*/ 0 w 1257"/>
              <a:gd name="T7" fmla="*/ 0 h 1"/>
              <a:gd name="T8" fmla="*/ 1257 w 1257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257" h="1">
                <a:moveTo>
                  <a:pt x="0" y="0"/>
                </a:moveTo>
                <a:lnTo>
                  <a:pt x="1257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30738" name="Freeform 22"/>
          <p:cNvSpPr>
            <a:spLocks/>
          </p:cNvSpPr>
          <p:nvPr/>
        </p:nvSpPr>
        <p:spPr bwMode="auto">
          <a:xfrm>
            <a:off x="1905000" y="3706813"/>
            <a:ext cx="1946275" cy="46037"/>
          </a:xfrm>
          <a:custGeom>
            <a:avLst/>
            <a:gdLst>
              <a:gd name="T0" fmla="*/ 0 w 1361"/>
              <a:gd name="T1" fmla="*/ 0 h 2"/>
              <a:gd name="T2" fmla="*/ 2147483647 w 1361"/>
              <a:gd name="T3" fmla="*/ 2147483647 h 2"/>
              <a:gd name="T4" fmla="*/ 0 60000 65536"/>
              <a:gd name="T5" fmla="*/ 0 60000 65536"/>
              <a:gd name="T6" fmla="*/ 0 w 1361"/>
              <a:gd name="T7" fmla="*/ 0 h 2"/>
              <a:gd name="T8" fmla="*/ 1361 w 1361"/>
              <a:gd name="T9" fmla="*/ 2 h 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361" h="2">
                <a:moveTo>
                  <a:pt x="0" y="0"/>
                </a:moveTo>
                <a:lnTo>
                  <a:pt x="1361" y="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30739" name="Freeform 23"/>
          <p:cNvSpPr>
            <a:spLocks/>
          </p:cNvSpPr>
          <p:nvPr/>
        </p:nvSpPr>
        <p:spPr bwMode="auto">
          <a:xfrm>
            <a:off x="1541463" y="5154613"/>
            <a:ext cx="2233612" cy="6350"/>
          </a:xfrm>
          <a:custGeom>
            <a:avLst/>
            <a:gdLst>
              <a:gd name="T0" fmla="*/ 0 w 1407"/>
              <a:gd name="T1" fmla="*/ 2147483647 h 4"/>
              <a:gd name="T2" fmla="*/ 2147483647 w 1407"/>
              <a:gd name="T3" fmla="*/ 0 h 4"/>
              <a:gd name="T4" fmla="*/ 0 60000 65536"/>
              <a:gd name="T5" fmla="*/ 0 60000 65536"/>
              <a:gd name="T6" fmla="*/ 0 w 1407"/>
              <a:gd name="T7" fmla="*/ 0 h 4"/>
              <a:gd name="T8" fmla="*/ 1407 w 1407"/>
              <a:gd name="T9" fmla="*/ 4 h 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407" h="4">
                <a:moveTo>
                  <a:pt x="0" y="4"/>
                </a:moveTo>
                <a:lnTo>
                  <a:pt x="1407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30740" name="Freeform 25"/>
          <p:cNvSpPr>
            <a:spLocks/>
          </p:cNvSpPr>
          <p:nvPr/>
        </p:nvSpPr>
        <p:spPr bwMode="auto">
          <a:xfrm flipV="1">
            <a:off x="4803775" y="3381375"/>
            <a:ext cx="2251075" cy="65088"/>
          </a:xfrm>
          <a:custGeom>
            <a:avLst/>
            <a:gdLst>
              <a:gd name="T0" fmla="*/ 0 w 1544"/>
              <a:gd name="T1" fmla="*/ 0 h 1"/>
              <a:gd name="T2" fmla="*/ 2147483647 w 1544"/>
              <a:gd name="T3" fmla="*/ 2147483647 h 1"/>
              <a:gd name="T4" fmla="*/ 0 60000 65536"/>
              <a:gd name="T5" fmla="*/ 0 60000 65536"/>
              <a:gd name="T6" fmla="*/ 0 w 1544"/>
              <a:gd name="T7" fmla="*/ 0 h 1"/>
              <a:gd name="T8" fmla="*/ 1544 w 1544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44" h="1">
                <a:moveTo>
                  <a:pt x="0" y="0"/>
                </a:moveTo>
                <a:lnTo>
                  <a:pt x="1544" y="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30741" name="Freeform 28"/>
          <p:cNvSpPr>
            <a:spLocks/>
          </p:cNvSpPr>
          <p:nvPr/>
        </p:nvSpPr>
        <p:spPr bwMode="auto">
          <a:xfrm>
            <a:off x="5267325" y="4060825"/>
            <a:ext cx="1927225" cy="227013"/>
          </a:xfrm>
          <a:custGeom>
            <a:avLst/>
            <a:gdLst>
              <a:gd name="T0" fmla="*/ 0 w 1270"/>
              <a:gd name="T1" fmla="*/ 0 h 160"/>
              <a:gd name="T2" fmla="*/ 2147483647 w 1270"/>
              <a:gd name="T3" fmla="*/ 2147483647 h 160"/>
              <a:gd name="T4" fmla="*/ 2147483647 w 1270"/>
              <a:gd name="T5" fmla="*/ 2147483647 h 160"/>
              <a:gd name="T6" fmla="*/ 0 60000 65536"/>
              <a:gd name="T7" fmla="*/ 0 60000 65536"/>
              <a:gd name="T8" fmla="*/ 0 60000 65536"/>
              <a:gd name="T9" fmla="*/ 0 w 1270"/>
              <a:gd name="T10" fmla="*/ 0 h 160"/>
              <a:gd name="T11" fmla="*/ 1270 w 1270"/>
              <a:gd name="T12" fmla="*/ 160 h 1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70" h="160">
                <a:moveTo>
                  <a:pt x="0" y="0"/>
                </a:moveTo>
                <a:lnTo>
                  <a:pt x="188" y="160"/>
                </a:lnTo>
                <a:lnTo>
                  <a:pt x="1270" y="16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30742" name="Freeform 29"/>
          <p:cNvSpPr>
            <a:spLocks/>
          </p:cNvSpPr>
          <p:nvPr/>
        </p:nvSpPr>
        <p:spPr bwMode="auto">
          <a:xfrm>
            <a:off x="4826000" y="4681538"/>
            <a:ext cx="2416175" cy="119062"/>
          </a:xfrm>
          <a:custGeom>
            <a:avLst/>
            <a:gdLst>
              <a:gd name="T0" fmla="*/ 0 w 1522"/>
              <a:gd name="T1" fmla="*/ 0 h 75"/>
              <a:gd name="T2" fmla="*/ 2147483647 w 1522"/>
              <a:gd name="T3" fmla="*/ 2147483647 h 75"/>
              <a:gd name="T4" fmla="*/ 2147483647 w 1522"/>
              <a:gd name="T5" fmla="*/ 2147483647 h 75"/>
              <a:gd name="T6" fmla="*/ 0 60000 65536"/>
              <a:gd name="T7" fmla="*/ 0 60000 65536"/>
              <a:gd name="T8" fmla="*/ 0 60000 65536"/>
              <a:gd name="T9" fmla="*/ 0 w 1522"/>
              <a:gd name="T10" fmla="*/ 0 h 75"/>
              <a:gd name="T11" fmla="*/ 1522 w 1522"/>
              <a:gd name="T12" fmla="*/ 75 h 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22" h="75">
                <a:moveTo>
                  <a:pt x="0" y="0"/>
                </a:moveTo>
                <a:lnTo>
                  <a:pt x="232" y="72"/>
                </a:lnTo>
                <a:lnTo>
                  <a:pt x="1522" y="75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30743" name="Freeform 30"/>
          <p:cNvSpPr>
            <a:spLocks/>
          </p:cNvSpPr>
          <p:nvPr/>
        </p:nvSpPr>
        <p:spPr bwMode="auto">
          <a:xfrm>
            <a:off x="5022850" y="5184775"/>
            <a:ext cx="2238375" cy="160338"/>
          </a:xfrm>
          <a:custGeom>
            <a:avLst/>
            <a:gdLst>
              <a:gd name="T0" fmla="*/ 0 w 1410"/>
              <a:gd name="T1" fmla="*/ 0 h 101"/>
              <a:gd name="T2" fmla="*/ 2147483647 w 1410"/>
              <a:gd name="T3" fmla="*/ 2147483647 h 101"/>
              <a:gd name="T4" fmla="*/ 2147483647 w 1410"/>
              <a:gd name="T5" fmla="*/ 2147483647 h 101"/>
              <a:gd name="T6" fmla="*/ 0 60000 65536"/>
              <a:gd name="T7" fmla="*/ 0 60000 65536"/>
              <a:gd name="T8" fmla="*/ 0 60000 65536"/>
              <a:gd name="T9" fmla="*/ 0 w 1410"/>
              <a:gd name="T10" fmla="*/ 0 h 101"/>
              <a:gd name="T11" fmla="*/ 1410 w 1410"/>
              <a:gd name="T12" fmla="*/ 101 h 10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10" h="101">
                <a:moveTo>
                  <a:pt x="0" y="0"/>
                </a:moveTo>
                <a:lnTo>
                  <a:pt x="212" y="96"/>
                </a:lnTo>
                <a:lnTo>
                  <a:pt x="1410" y="10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30744" name="Freeform 31"/>
          <p:cNvSpPr>
            <a:spLocks/>
          </p:cNvSpPr>
          <p:nvPr/>
        </p:nvSpPr>
        <p:spPr bwMode="auto">
          <a:xfrm>
            <a:off x="4075113" y="2921000"/>
            <a:ext cx="3209925" cy="69850"/>
          </a:xfrm>
          <a:custGeom>
            <a:avLst/>
            <a:gdLst>
              <a:gd name="T0" fmla="*/ 2147483647 w 2022"/>
              <a:gd name="T1" fmla="*/ 2147483647 h 44"/>
              <a:gd name="T2" fmla="*/ 2147483647 w 2022"/>
              <a:gd name="T3" fmla="*/ 2147483647 h 44"/>
              <a:gd name="T4" fmla="*/ 0 w 2022"/>
              <a:gd name="T5" fmla="*/ 0 h 44"/>
              <a:gd name="T6" fmla="*/ 0 60000 65536"/>
              <a:gd name="T7" fmla="*/ 0 60000 65536"/>
              <a:gd name="T8" fmla="*/ 0 60000 65536"/>
              <a:gd name="T9" fmla="*/ 0 w 2022"/>
              <a:gd name="T10" fmla="*/ 0 h 44"/>
              <a:gd name="T11" fmla="*/ 2022 w 2022"/>
              <a:gd name="T12" fmla="*/ 44 h 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22" h="44">
                <a:moveTo>
                  <a:pt x="2022" y="44"/>
                </a:moveTo>
                <a:lnTo>
                  <a:pt x="972" y="42"/>
                </a:ln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30745" name="Line 32"/>
          <p:cNvSpPr>
            <a:spLocks noChangeShapeType="1"/>
          </p:cNvSpPr>
          <p:nvPr/>
        </p:nvSpPr>
        <p:spPr bwMode="auto">
          <a:xfrm flipH="1" flipV="1">
            <a:off x="4648200" y="2819400"/>
            <a:ext cx="11430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30746" name="Rectangle 34"/>
          <p:cNvSpPr>
            <a:spLocks noChangeArrowheads="1"/>
          </p:cNvSpPr>
          <p:nvPr/>
        </p:nvSpPr>
        <p:spPr bwMode="auto">
          <a:xfrm>
            <a:off x="271463" y="5638800"/>
            <a:ext cx="3810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CA" altLang="fr-FR"/>
          </a:p>
        </p:txBody>
      </p:sp>
      <p:sp>
        <p:nvSpPr>
          <p:cNvPr id="30747" name="Rectangle 6"/>
          <p:cNvSpPr>
            <a:spLocks noChangeArrowheads="1"/>
          </p:cNvSpPr>
          <p:nvPr/>
        </p:nvSpPr>
        <p:spPr bwMode="auto">
          <a:xfrm>
            <a:off x="6897688" y="2286000"/>
            <a:ext cx="211613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fr-CA" altLang="fr-FR" sz="1600">
                <a:solidFill>
                  <a:srgbClr val="0000FF"/>
                </a:solidFill>
              </a:rPr>
              <a:t>V. surrénale gauche</a:t>
            </a:r>
          </a:p>
        </p:txBody>
      </p:sp>
      <p:sp>
        <p:nvSpPr>
          <p:cNvPr id="30748" name="Freeform 21"/>
          <p:cNvSpPr>
            <a:spLocks/>
          </p:cNvSpPr>
          <p:nvPr/>
        </p:nvSpPr>
        <p:spPr bwMode="auto">
          <a:xfrm flipV="1">
            <a:off x="5054600" y="2443163"/>
            <a:ext cx="1843088" cy="46037"/>
          </a:xfrm>
          <a:custGeom>
            <a:avLst/>
            <a:gdLst>
              <a:gd name="T0" fmla="*/ 0 w 1257"/>
              <a:gd name="T1" fmla="*/ 0 h 1"/>
              <a:gd name="T2" fmla="*/ 2147483647 w 1257"/>
              <a:gd name="T3" fmla="*/ 0 h 1"/>
              <a:gd name="T4" fmla="*/ 0 60000 65536"/>
              <a:gd name="T5" fmla="*/ 0 60000 65536"/>
              <a:gd name="T6" fmla="*/ 0 w 1257"/>
              <a:gd name="T7" fmla="*/ 0 h 1"/>
              <a:gd name="T8" fmla="*/ 1257 w 1257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257" h="1">
                <a:moveTo>
                  <a:pt x="0" y="0"/>
                </a:moveTo>
                <a:lnTo>
                  <a:pt x="1257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30749" name="Title 1"/>
          <p:cNvSpPr txBox="1">
            <a:spLocks/>
          </p:cNvSpPr>
          <p:nvPr/>
        </p:nvSpPr>
        <p:spPr bwMode="auto">
          <a:xfrm>
            <a:off x="152400" y="152400"/>
            <a:ext cx="3200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00" tIns="36000" rIns="36000" bIns="36000"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360363" indent="-360363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lvl="2">
              <a:spcBef>
                <a:spcPct val="50000"/>
              </a:spcBef>
            </a:pPr>
            <a:r>
              <a:rPr lang="en-US" altLang="fr-FR" sz="2000" dirty="0">
                <a:cs typeface="Arial" charset="0"/>
              </a:rPr>
              <a:t>d)	</a:t>
            </a:r>
            <a:r>
              <a:rPr lang="fr-CA" altLang="fr-FR" sz="2000" u="sng" dirty="0">
                <a:cs typeface="Arial" charset="0"/>
              </a:rPr>
              <a:t>Veines de l’abdomen</a:t>
            </a:r>
            <a:endParaRPr lang="en-US" altLang="fr-FR" sz="2000" u="sng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7950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 txBox="1">
            <a:spLocks/>
          </p:cNvSpPr>
          <p:nvPr/>
        </p:nvSpPr>
        <p:spPr bwMode="auto">
          <a:xfrm>
            <a:off x="152400" y="0"/>
            <a:ext cx="3200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00" tIns="36000" rIns="36000" bIns="36000"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360363" indent="-360363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lvl="2">
              <a:spcBef>
                <a:spcPct val="50000"/>
              </a:spcBef>
            </a:pPr>
            <a:r>
              <a:rPr lang="en-US" altLang="fr-FR" sz="2000" dirty="0">
                <a:cs typeface="Arial" charset="0"/>
              </a:rPr>
              <a:t>d)	</a:t>
            </a:r>
            <a:r>
              <a:rPr lang="fr-CA" altLang="fr-FR" sz="2000" u="sng" dirty="0">
                <a:cs typeface="Arial" charset="0"/>
              </a:rPr>
              <a:t>Veines de l’abdomen</a:t>
            </a:r>
            <a:endParaRPr lang="en-US" altLang="fr-FR" sz="2000" u="sng" dirty="0">
              <a:cs typeface="Arial" charset="0"/>
            </a:endParaRPr>
          </a:p>
        </p:txBody>
      </p:sp>
      <p:sp>
        <p:nvSpPr>
          <p:cNvPr id="28675" name="Rectangle 5"/>
          <p:cNvSpPr>
            <a:spLocks noChangeArrowheads="1"/>
          </p:cNvSpPr>
          <p:nvPr/>
        </p:nvSpPr>
        <p:spPr bwMode="auto">
          <a:xfrm>
            <a:off x="490538" y="417513"/>
            <a:ext cx="8348662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Font typeface="Wingdings" pitchFamily="2" charset="2"/>
              <a:buChar char="ü"/>
            </a:pPr>
            <a:r>
              <a:rPr lang="fr-CA" altLang="fr-FR" sz="1400" b="0" dirty="0"/>
              <a:t>Le sang des viscères abdominaux et de la paroi abdominale retourne au cœur par la veine cave inférieure.</a:t>
            </a:r>
          </a:p>
          <a:p>
            <a:pPr>
              <a:buFont typeface="Wingdings" pitchFamily="2" charset="2"/>
              <a:buChar char="ü"/>
            </a:pPr>
            <a:r>
              <a:rPr lang="fr-CA" altLang="fr-FR" sz="1400" b="0" dirty="0"/>
              <a:t>Les noms des tributaires de cette veine correspondent en majorité à ceux des artères qui alimentent les viscères abdominaux.</a:t>
            </a:r>
          </a:p>
        </p:txBody>
      </p:sp>
      <p:sp>
        <p:nvSpPr>
          <p:cNvPr id="31750" name="TextBox 7"/>
          <p:cNvSpPr txBox="1">
            <a:spLocks noChangeArrowheads="1"/>
          </p:cNvSpPr>
          <p:nvPr/>
        </p:nvSpPr>
        <p:spPr bwMode="auto">
          <a:xfrm>
            <a:off x="457200" y="1371600"/>
            <a:ext cx="8153400" cy="50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>
              <a:buSzPct val="120000"/>
              <a:defRPr/>
            </a:pPr>
            <a:r>
              <a:rPr lang="fr-CA" altLang="fr-FR" sz="1400" dirty="0"/>
              <a:t>Veines qui drainent la paroi abdominale et les viscères de la cavité abdominale :</a:t>
            </a:r>
          </a:p>
          <a:p>
            <a:pPr marL="174625" indent="-174625">
              <a:spcBef>
                <a:spcPts val="600"/>
              </a:spcBef>
              <a:buSzPct val="120000"/>
              <a:buFont typeface="Arial" charset="0"/>
              <a:buChar char="•"/>
              <a:defRPr/>
            </a:pPr>
            <a:r>
              <a:rPr lang="fr-CA" altLang="fr-FR" sz="1400" i="1" dirty="0"/>
              <a:t>Veines hépatiques </a:t>
            </a:r>
            <a:r>
              <a:rPr lang="fr-CA" altLang="fr-FR" sz="1400" dirty="0"/>
              <a:t>(</a:t>
            </a:r>
            <a:r>
              <a:rPr lang="fr-CA" altLang="fr-FR" sz="1400" i="1" dirty="0"/>
              <a:t>droite</a:t>
            </a:r>
            <a:r>
              <a:rPr lang="fr-CA" altLang="fr-FR" sz="1400" dirty="0"/>
              <a:t>, </a:t>
            </a:r>
            <a:r>
              <a:rPr lang="fr-CA" altLang="fr-FR" sz="1400" i="1" dirty="0"/>
              <a:t>gauche</a:t>
            </a:r>
            <a:r>
              <a:rPr lang="fr-CA" altLang="fr-FR" sz="1400" dirty="0"/>
              <a:t> et </a:t>
            </a:r>
            <a:r>
              <a:rPr lang="fr-CA" altLang="fr-FR" sz="1400" i="1" dirty="0"/>
              <a:t>moyenne</a:t>
            </a:r>
            <a:r>
              <a:rPr lang="fr-CA" altLang="fr-FR" sz="1400" dirty="0"/>
              <a:t>) </a:t>
            </a:r>
            <a:r>
              <a:rPr lang="fr-CA" altLang="fr-FR" sz="1400" i="1" dirty="0"/>
              <a:t>–</a:t>
            </a:r>
            <a:r>
              <a:rPr lang="fr-CA" altLang="fr-FR" sz="1400" dirty="0"/>
              <a:t> </a:t>
            </a:r>
            <a:r>
              <a:rPr lang="fr-CA" altLang="fr-FR" sz="1400" b="0" dirty="0"/>
              <a:t>transportent le sang du foie jusqu'à la veine cave inférieure.</a:t>
            </a:r>
            <a:endParaRPr lang="fr-CA" altLang="fr-FR" sz="1400" i="1" dirty="0"/>
          </a:p>
          <a:p>
            <a:pPr marL="174625" indent="-174625">
              <a:spcBef>
                <a:spcPts val="300"/>
              </a:spcBef>
              <a:buSzPct val="120000"/>
              <a:buFont typeface="Arial" charset="0"/>
              <a:buChar char="•"/>
              <a:defRPr/>
            </a:pPr>
            <a:r>
              <a:rPr lang="fr-CA" altLang="fr-FR" sz="1400" i="1" dirty="0"/>
              <a:t>Veines surrénales</a:t>
            </a:r>
            <a:r>
              <a:rPr lang="fr-CA" altLang="fr-FR" sz="1400" dirty="0"/>
              <a:t> – </a:t>
            </a:r>
            <a:r>
              <a:rPr lang="fr-CA" altLang="fr-FR" sz="1400" b="0" dirty="0"/>
              <a:t>drainent le sang des glandes surrénales; la veine surrénale droite rejoint directement la veine cave inférieure alors que la gauche débouche dans la veine rénale gauche.</a:t>
            </a:r>
            <a:endParaRPr lang="fr-CA" altLang="fr-FR" sz="1400" i="1" dirty="0"/>
          </a:p>
          <a:p>
            <a:pPr marL="174625" indent="-174625">
              <a:spcBef>
                <a:spcPts val="300"/>
              </a:spcBef>
              <a:buSzPct val="120000"/>
              <a:buFont typeface="Arial" charset="0"/>
              <a:buChar char="•"/>
              <a:defRPr/>
            </a:pPr>
            <a:r>
              <a:rPr lang="fr-CA" altLang="fr-FR" sz="1400" i="1" dirty="0"/>
              <a:t>Veines rénales</a:t>
            </a:r>
            <a:r>
              <a:rPr lang="fr-CA" altLang="fr-FR" sz="1400" dirty="0"/>
              <a:t> – </a:t>
            </a:r>
            <a:r>
              <a:rPr lang="fr-CA" altLang="fr-FR" sz="1400" b="0" dirty="0"/>
              <a:t>drainent les reins.</a:t>
            </a:r>
          </a:p>
          <a:p>
            <a:pPr marL="174625" indent="-174625">
              <a:spcBef>
                <a:spcPts val="300"/>
              </a:spcBef>
              <a:buSzPct val="120000"/>
              <a:buFont typeface="Arial" charset="0"/>
              <a:buChar char="•"/>
              <a:defRPr/>
            </a:pPr>
            <a:r>
              <a:rPr lang="fr-CA" altLang="fr-FR" sz="1400" i="1" dirty="0"/>
              <a:t>Veines ovariques</a:t>
            </a:r>
            <a:r>
              <a:rPr lang="fr-CA" altLang="fr-FR" sz="1400" dirty="0"/>
              <a:t> ou </a:t>
            </a:r>
            <a:r>
              <a:rPr lang="fr-CA" altLang="fr-FR" sz="1400" i="1" dirty="0"/>
              <a:t>testiculaires </a:t>
            </a:r>
            <a:r>
              <a:rPr lang="fr-CA" altLang="fr-FR" sz="1400" dirty="0"/>
              <a:t>–</a:t>
            </a:r>
            <a:r>
              <a:rPr lang="fr-CA" altLang="fr-FR" sz="1400" b="0" dirty="0"/>
              <a:t> la veine ovarique ou testiculaire droite draine l’ovaire ou le testicule droit et se vide dans la veine cave inférieure; la veine ovarique ou testiculaire gauche se jette plus haut dans la veine rénale gauche.</a:t>
            </a:r>
          </a:p>
          <a:p>
            <a:pPr marL="174625" indent="-174625">
              <a:spcBef>
                <a:spcPts val="300"/>
              </a:spcBef>
              <a:buSzPct val="120000"/>
              <a:buFont typeface="Arial" charset="0"/>
              <a:buChar char="•"/>
              <a:defRPr/>
            </a:pPr>
            <a:r>
              <a:rPr lang="fr-CA" altLang="fr-FR" sz="1400" i="1" dirty="0"/>
              <a:t>Veines iliaques communes</a:t>
            </a:r>
            <a:r>
              <a:rPr lang="fr-CA" altLang="fr-FR" sz="1400" dirty="0"/>
              <a:t> – </a:t>
            </a:r>
            <a:r>
              <a:rPr lang="fr-CA" altLang="fr-FR" sz="1400" b="0" dirty="0"/>
              <a:t>fusionnent pour former l’extrémité distale de la veine cave inférieure; drainent la partie inférieure de la paroi abdominale, les organes du bassin et les membres inférieurs.</a:t>
            </a:r>
          </a:p>
          <a:p>
            <a:pPr marL="174625" indent="-174625">
              <a:spcBef>
                <a:spcPts val="1200"/>
              </a:spcBef>
              <a:buSzPct val="120000"/>
              <a:buFont typeface="Arial" charset="0"/>
              <a:buChar char="•"/>
              <a:defRPr/>
            </a:pPr>
            <a:r>
              <a:rPr lang="fr-CA" altLang="fr-FR" sz="1400" i="1" dirty="0"/>
              <a:t>Veine mésentérique supérieure </a:t>
            </a:r>
            <a:r>
              <a:rPr lang="fr-CA" altLang="fr-FR" sz="1400" dirty="0"/>
              <a:t>–</a:t>
            </a:r>
            <a:r>
              <a:rPr lang="fr-CA" altLang="fr-FR" sz="1400" b="0" dirty="0"/>
              <a:t> draine tout l’intestin grêle, une partie du gros intestin et l’estomac.</a:t>
            </a:r>
          </a:p>
          <a:p>
            <a:pPr marL="174625" indent="-174625">
              <a:spcBef>
                <a:spcPts val="300"/>
              </a:spcBef>
              <a:buSzPct val="120000"/>
              <a:buFont typeface="Arial" charset="0"/>
              <a:buChar char="•"/>
              <a:defRPr/>
            </a:pPr>
            <a:r>
              <a:rPr lang="fr-CA" altLang="fr-FR" sz="1400" i="1" dirty="0"/>
              <a:t>Veine splénique </a:t>
            </a:r>
            <a:r>
              <a:rPr lang="fr-CA" altLang="fr-FR" sz="1400" dirty="0"/>
              <a:t>–</a:t>
            </a:r>
            <a:r>
              <a:rPr lang="fr-CA" altLang="fr-FR" sz="1400" b="0" dirty="0"/>
              <a:t> recueille le sang entre autres de la rate; rejoint la veine mésentérique supérieure pour former la </a:t>
            </a:r>
            <a:r>
              <a:rPr lang="fr-CA" altLang="fr-FR" sz="1400" i="1" dirty="0"/>
              <a:t>veine porte hépatique</a:t>
            </a:r>
            <a:r>
              <a:rPr lang="fr-CA" altLang="fr-FR" sz="1400" b="0" dirty="0"/>
              <a:t>.</a:t>
            </a:r>
          </a:p>
          <a:p>
            <a:pPr marL="174625" indent="-174625">
              <a:spcBef>
                <a:spcPts val="300"/>
              </a:spcBef>
              <a:buSzPct val="120000"/>
              <a:buFont typeface="Arial" charset="0"/>
              <a:buChar char="•"/>
              <a:defRPr/>
            </a:pPr>
            <a:r>
              <a:rPr lang="fr-CA" altLang="fr-FR" sz="1400" i="1" dirty="0"/>
              <a:t>Veine mésentérique inférieure </a:t>
            </a:r>
            <a:r>
              <a:rPr lang="fr-CA" altLang="fr-FR" sz="1400" dirty="0"/>
              <a:t>–</a:t>
            </a:r>
            <a:r>
              <a:rPr lang="fr-CA" altLang="fr-FR" sz="1400" b="0" dirty="0"/>
              <a:t> draine les segments distaux du gros intestin et du rectum; rejoint la veine splénique tout juste avant que celle-ci ne fusionne avec la veine mésentérique supérieure pour former la veine porte hépatique.</a:t>
            </a:r>
          </a:p>
          <a:p>
            <a:pPr marL="174625" indent="-174625">
              <a:spcBef>
                <a:spcPts val="300"/>
              </a:spcBef>
              <a:buSzPct val="120000"/>
              <a:buFont typeface="Arial" charset="0"/>
              <a:buChar char="•"/>
              <a:defRPr/>
            </a:pPr>
            <a:r>
              <a:rPr lang="fr-CA" altLang="fr-FR" sz="1400" i="1" dirty="0"/>
              <a:t>Veine porte hépatique </a:t>
            </a:r>
            <a:r>
              <a:rPr lang="fr-CA" altLang="fr-FR" sz="1400" dirty="0"/>
              <a:t>– </a:t>
            </a:r>
            <a:r>
              <a:rPr lang="fr-CA" altLang="fr-FR" sz="1400" b="0" dirty="0"/>
              <a:t>reçoit le sang principalement des</a:t>
            </a:r>
            <a:r>
              <a:rPr lang="fr-CA" altLang="fr-FR" sz="1400" dirty="0"/>
              <a:t> </a:t>
            </a:r>
            <a:r>
              <a:rPr lang="fr-CA" altLang="fr-FR" sz="1400" i="1" dirty="0"/>
              <a:t>veines mésentériques supérieure </a:t>
            </a:r>
            <a:r>
              <a:rPr lang="fr-CA" altLang="fr-FR" sz="1400" b="0" dirty="0"/>
              <a:t>et </a:t>
            </a:r>
            <a:r>
              <a:rPr lang="fr-CA" altLang="fr-FR" sz="1400" i="1" dirty="0"/>
              <a:t>inférieure</a:t>
            </a:r>
            <a:r>
              <a:rPr lang="fr-CA" altLang="fr-FR" sz="1400" dirty="0"/>
              <a:t> </a:t>
            </a:r>
            <a:r>
              <a:rPr lang="fr-CA" altLang="fr-FR" sz="1400" b="0" dirty="0"/>
              <a:t>ainsi que de la </a:t>
            </a:r>
            <a:r>
              <a:rPr lang="fr-CA" altLang="fr-FR" sz="1400" i="1" dirty="0"/>
              <a:t>veine splénique</a:t>
            </a:r>
            <a:r>
              <a:rPr lang="fr-CA" altLang="fr-FR" sz="1400" b="0" dirty="0"/>
              <a:t>; achemine le sang au foie.</a:t>
            </a:r>
            <a:endParaRPr lang="fr-CA" altLang="fr-FR" sz="1400" b="0" i="1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figure_19_29a_unlabel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72"/>
          <a:stretch>
            <a:fillRect/>
          </a:stretch>
        </p:blipFill>
        <p:spPr bwMode="auto">
          <a:xfrm>
            <a:off x="3884612" y="39688"/>
            <a:ext cx="4359275" cy="644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9" name="Rectangle 4"/>
          <p:cNvSpPr>
            <a:spLocks noChangeArrowheads="1"/>
          </p:cNvSpPr>
          <p:nvPr/>
        </p:nvSpPr>
        <p:spPr bwMode="auto">
          <a:xfrm>
            <a:off x="6556375" y="101600"/>
            <a:ext cx="1239837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000"/>
              <a:t>V. cave inférieure</a:t>
            </a:r>
          </a:p>
        </p:txBody>
      </p:sp>
      <p:sp>
        <p:nvSpPr>
          <p:cNvPr id="29700" name="Rectangle 6"/>
          <p:cNvSpPr>
            <a:spLocks noChangeArrowheads="1"/>
          </p:cNvSpPr>
          <p:nvPr/>
        </p:nvSpPr>
        <p:spPr bwMode="auto">
          <a:xfrm>
            <a:off x="6559550" y="577220"/>
            <a:ext cx="1101584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100" dirty="0">
                <a:solidFill>
                  <a:srgbClr val="0000FF"/>
                </a:solidFill>
              </a:rPr>
              <a:t>V. hépatiques</a:t>
            </a:r>
          </a:p>
        </p:txBody>
      </p:sp>
      <p:sp>
        <p:nvSpPr>
          <p:cNvPr id="29701" name="Rectangle 7"/>
          <p:cNvSpPr>
            <a:spLocks noChangeArrowheads="1"/>
          </p:cNvSpPr>
          <p:nvPr/>
        </p:nvSpPr>
        <p:spPr bwMode="auto">
          <a:xfrm>
            <a:off x="6591300" y="1548770"/>
            <a:ext cx="141417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100" dirty="0">
                <a:solidFill>
                  <a:srgbClr val="0000FF"/>
                </a:solidFill>
              </a:rPr>
              <a:t>V. porte hépatique</a:t>
            </a:r>
          </a:p>
        </p:txBody>
      </p:sp>
      <p:sp>
        <p:nvSpPr>
          <p:cNvPr id="29702" name="Rectangle 8"/>
          <p:cNvSpPr>
            <a:spLocks noChangeArrowheads="1"/>
          </p:cNvSpPr>
          <p:nvPr/>
        </p:nvSpPr>
        <p:spPr bwMode="auto">
          <a:xfrm>
            <a:off x="6591300" y="1853570"/>
            <a:ext cx="2032929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100" dirty="0">
                <a:solidFill>
                  <a:srgbClr val="0000FF"/>
                </a:solidFill>
              </a:rPr>
              <a:t>V. mésentérique supérieure</a:t>
            </a:r>
          </a:p>
        </p:txBody>
      </p:sp>
      <p:sp>
        <p:nvSpPr>
          <p:cNvPr id="29703" name="Rectangle 9"/>
          <p:cNvSpPr>
            <a:spLocks noChangeArrowheads="1"/>
          </p:cNvSpPr>
          <p:nvPr/>
        </p:nvSpPr>
        <p:spPr bwMode="auto">
          <a:xfrm>
            <a:off x="7027862" y="2050420"/>
            <a:ext cx="101502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100">
                <a:solidFill>
                  <a:srgbClr val="0000FF"/>
                </a:solidFill>
              </a:rPr>
              <a:t>V. splénique</a:t>
            </a:r>
          </a:p>
        </p:txBody>
      </p:sp>
      <p:sp>
        <p:nvSpPr>
          <p:cNvPr id="29704" name="Rectangle 10"/>
          <p:cNvSpPr>
            <a:spLocks noChangeArrowheads="1"/>
          </p:cNvSpPr>
          <p:nvPr/>
        </p:nvSpPr>
        <p:spPr bwMode="auto">
          <a:xfrm>
            <a:off x="7299325" y="2497853"/>
            <a:ext cx="1692275" cy="397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sz="1100">
                <a:solidFill>
                  <a:srgbClr val="0000FF"/>
                </a:solidFill>
              </a:rPr>
              <a:t>V. mésentérique inférieure</a:t>
            </a:r>
          </a:p>
        </p:txBody>
      </p:sp>
      <p:sp>
        <p:nvSpPr>
          <p:cNvPr id="29705" name="Rectangle 11"/>
          <p:cNvSpPr>
            <a:spLocks noChangeArrowheads="1"/>
          </p:cNvSpPr>
          <p:nvPr/>
        </p:nvSpPr>
        <p:spPr bwMode="auto">
          <a:xfrm>
            <a:off x="6859587" y="4686300"/>
            <a:ext cx="15065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000"/>
              <a:t>V. lombaire ascendante gauche</a:t>
            </a:r>
          </a:p>
        </p:txBody>
      </p:sp>
      <p:sp>
        <p:nvSpPr>
          <p:cNvPr id="29706" name="Rectangle 12"/>
          <p:cNvSpPr>
            <a:spLocks noChangeArrowheads="1"/>
          </p:cNvSpPr>
          <p:nvPr/>
        </p:nvSpPr>
        <p:spPr bwMode="auto">
          <a:xfrm>
            <a:off x="6865937" y="5688013"/>
            <a:ext cx="1233488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000"/>
              <a:t>V. iliaque externe</a:t>
            </a:r>
          </a:p>
        </p:txBody>
      </p:sp>
      <p:sp>
        <p:nvSpPr>
          <p:cNvPr id="29707" name="Rectangle 13"/>
          <p:cNvSpPr>
            <a:spLocks noChangeArrowheads="1"/>
          </p:cNvSpPr>
          <p:nvPr/>
        </p:nvSpPr>
        <p:spPr bwMode="auto">
          <a:xfrm>
            <a:off x="6843712" y="6035675"/>
            <a:ext cx="134620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000"/>
              <a:t>V. iliaques internes</a:t>
            </a:r>
          </a:p>
        </p:txBody>
      </p:sp>
      <p:sp>
        <p:nvSpPr>
          <p:cNvPr id="29708" name="Rectangle 14"/>
          <p:cNvSpPr>
            <a:spLocks noChangeArrowheads="1"/>
          </p:cNvSpPr>
          <p:nvPr/>
        </p:nvSpPr>
        <p:spPr bwMode="auto">
          <a:xfrm>
            <a:off x="4022725" y="5524500"/>
            <a:ext cx="1525587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000"/>
              <a:t>V. iliaques communes</a:t>
            </a:r>
          </a:p>
        </p:txBody>
      </p:sp>
      <p:sp>
        <p:nvSpPr>
          <p:cNvPr id="29709" name="Rectangle 15"/>
          <p:cNvSpPr>
            <a:spLocks noChangeArrowheads="1"/>
          </p:cNvSpPr>
          <p:nvPr/>
        </p:nvSpPr>
        <p:spPr bwMode="auto">
          <a:xfrm>
            <a:off x="4403725" y="4600575"/>
            <a:ext cx="12319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000"/>
              <a:t>V. lombaire ascendante droite</a:t>
            </a:r>
          </a:p>
        </p:txBody>
      </p:sp>
      <p:sp>
        <p:nvSpPr>
          <p:cNvPr id="29710" name="Rectangle 16"/>
          <p:cNvSpPr>
            <a:spLocks noChangeArrowheads="1"/>
          </p:cNvSpPr>
          <p:nvPr/>
        </p:nvSpPr>
        <p:spPr bwMode="auto">
          <a:xfrm>
            <a:off x="4343400" y="3648075"/>
            <a:ext cx="94297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000"/>
              <a:t>V. lombaires</a:t>
            </a:r>
          </a:p>
        </p:txBody>
      </p:sp>
      <p:sp>
        <p:nvSpPr>
          <p:cNvPr id="29711" name="Rectangle 17"/>
          <p:cNvSpPr>
            <a:spLocks noChangeArrowheads="1"/>
          </p:cNvSpPr>
          <p:nvPr/>
        </p:nvSpPr>
        <p:spPr bwMode="auto">
          <a:xfrm>
            <a:off x="4600575" y="2965450"/>
            <a:ext cx="1387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000"/>
              <a:t>V. ovariques ou testiculaires</a:t>
            </a:r>
          </a:p>
        </p:txBody>
      </p:sp>
      <p:sp>
        <p:nvSpPr>
          <p:cNvPr id="29712" name="Rectangle 18"/>
          <p:cNvSpPr>
            <a:spLocks noChangeArrowheads="1"/>
          </p:cNvSpPr>
          <p:nvPr/>
        </p:nvSpPr>
        <p:spPr bwMode="auto">
          <a:xfrm>
            <a:off x="4781550" y="2749550"/>
            <a:ext cx="785812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000"/>
              <a:t>V. rénales</a:t>
            </a:r>
          </a:p>
        </p:txBody>
      </p:sp>
      <p:sp>
        <p:nvSpPr>
          <p:cNvPr id="29713" name="Rectangle 19"/>
          <p:cNvSpPr>
            <a:spLocks noChangeArrowheads="1"/>
          </p:cNvSpPr>
          <p:nvPr/>
        </p:nvSpPr>
        <p:spPr bwMode="auto">
          <a:xfrm>
            <a:off x="4546600" y="2451100"/>
            <a:ext cx="9842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000"/>
              <a:t>V. surrénales</a:t>
            </a:r>
          </a:p>
        </p:txBody>
      </p:sp>
      <p:sp>
        <p:nvSpPr>
          <p:cNvPr id="29714" name="Rectangle 20"/>
          <p:cNvSpPr>
            <a:spLocks noChangeArrowheads="1"/>
          </p:cNvSpPr>
          <p:nvPr/>
        </p:nvSpPr>
        <p:spPr bwMode="auto">
          <a:xfrm>
            <a:off x="3657600" y="1371600"/>
            <a:ext cx="993775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CA" altLang="fr-FR" sz="1100" dirty="0">
                <a:solidFill>
                  <a:srgbClr val="0000FF"/>
                </a:solidFill>
              </a:rPr>
              <a:t>Système porte hépatique</a:t>
            </a:r>
          </a:p>
        </p:txBody>
      </p:sp>
      <p:sp>
        <p:nvSpPr>
          <p:cNvPr id="29715" name="Line 23"/>
          <p:cNvSpPr>
            <a:spLocks noChangeShapeType="1"/>
          </p:cNvSpPr>
          <p:nvPr/>
        </p:nvSpPr>
        <p:spPr bwMode="auto">
          <a:xfrm>
            <a:off x="6099175" y="227013"/>
            <a:ext cx="523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9716" name="Freeform 26"/>
          <p:cNvSpPr>
            <a:spLocks/>
          </p:cNvSpPr>
          <p:nvPr/>
        </p:nvSpPr>
        <p:spPr bwMode="auto">
          <a:xfrm>
            <a:off x="5800725" y="706438"/>
            <a:ext cx="819150" cy="282575"/>
          </a:xfrm>
          <a:custGeom>
            <a:avLst/>
            <a:gdLst>
              <a:gd name="T0" fmla="*/ 0 w 516"/>
              <a:gd name="T1" fmla="*/ 2147483647 h 178"/>
              <a:gd name="T2" fmla="*/ 0 w 516"/>
              <a:gd name="T3" fmla="*/ 0 h 178"/>
              <a:gd name="T4" fmla="*/ 2147483647 w 516"/>
              <a:gd name="T5" fmla="*/ 0 h 178"/>
              <a:gd name="T6" fmla="*/ 0 60000 65536"/>
              <a:gd name="T7" fmla="*/ 0 60000 65536"/>
              <a:gd name="T8" fmla="*/ 0 60000 65536"/>
              <a:gd name="T9" fmla="*/ 0 w 516"/>
              <a:gd name="T10" fmla="*/ 0 h 178"/>
              <a:gd name="T11" fmla="*/ 516 w 516"/>
              <a:gd name="T12" fmla="*/ 178 h 1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16" h="178">
                <a:moveTo>
                  <a:pt x="0" y="178"/>
                </a:moveTo>
                <a:lnTo>
                  <a:pt x="0" y="0"/>
                </a:lnTo>
                <a:lnTo>
                  <a:pt x="516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9717" name="Line 27"/>
          <p:cNvSpPr>
            <a:spLocks noChangeShapeType="1"/>
          </p:cNvSpPr>
          <p:nvPr/>
        </p:nvSpPr>
        <p:spPr bwMode="auto">
          <a:xfrm>
            <a:off x="6280150" y="706438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9718" name="Freeform 29"/>
          <p:cNvSpPr>
            <a:spLocks/>
          </p:cNvSpPr>
          <p:nvPr/>
        </p:nvSpPr>
        <p:spPr bwMode="auto">
          <a:xfrm>
            <a:off x="6223000" y="1684338"/>
            <a:ext cx="444500" cy="158750"/>
          </a:xfrm>
          <a:custGeom>
            <a:avLst/>
            <a:gdLst>
              <a:gd name="T0" fmla="*/ 0 w 280"/>
              <a:gd name="T1" fmla="*/ 2147483647 h 100"/>
              <a:gd name="T2" fmla="*/ 2147483647 w 280"/>
              <a:gd name="T3" fmla="*/ 0 h 100"/>
              <a:gd name="T4" fmla="*/ 2147483647 w 280"/>
              <a:gd name="T5" fmla="*/ 0 h 100"/>
              <a:gd name="T6" fmla="*/ 0 60000 65536"/>
              <a:gd name="T7" fmla="*/ 0 60000 65536"/>
              <a:gd name="T8" fmla="*/ 0 60000 65536"/>
              <a:gd name="T9" fmla="*/ 0 w 280"/>
              <a:gd name="T10" fmla="*/ 0 h 100"/>
              <a:gd name="T11" fmla="*/ 280 w 280"/>
              <a:gd name="T12" fmla="*/ 100 h 1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100">
                <a:moveTo>
                  <a:pt x="0" y="100"/>
                </a:moveTo>
                <a:lnTo>
                  <a:pt x="200" y="0"/>
                </a:lnTo>
                <a:lnTo>
                  <a:pt x="280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9719" name="Line 30"/>
          <p:cNvSpPr>
            <a:spLocks noChangeShapeType="1"/>
          </p:cNvSpPr>
          <p:nvPr/>
        </p:nvSpPr>
        <p:spPr bwMode="auto">
          <a:xfrm>
            <a:off x="6721475" y="2049463"/>
            <a:ext cx="0" cy="476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9720" name="Line 31"/>
          <p:cNvSpPr>
            <a:spLocks noChangeShapeType="1"/>
          </p:cNvSpPr>
          <p:nvPr/>
        </p:nvSpPr>
        <p:spPr bwMode="auto">
          <a:xfrm>
            <a:off x="7308850" y="2265363"/>
            <a:ext cx="0" cy="139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9721" name="Line 32"/>
          <p:cNvSpPr>
            <a:spLocks noChangeShapeType="1"/>
          </p:cNvSpPr>
          <p:nvPr/>
        </p:nvSpPr>
        <p:spPr bwMode="auto">
          <a:xfrm>
            <a:off x="7137400" y="2614613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9722" name="Line 33"/>
          <p:cNvSpPr>
            <a:spLocks noChangeShapeType="1"/>
          </p:cNvSpPr>
          <p:nvPr/>
        </p:nvSpPr>
        <p:spPr bwMode="auto">
          <a:xfrm>
            <a:off x="5451475" y="2586038"/>
            <a:ext cx="10064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9723" name="Line 34"/>
          <p:cNvSpPr>
            <a:spLocks noChangeShapeType="1"/>
          </p:cNvSpPr>
          <p:nvPr/>
        </p:nvSpPr>
        <p:spPr bwMode="auto">
          <a:xfrm>
            <a:off x="5737225" y="2405063"/>
            <a:ext cx="0" cy="180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9724" name="Freeform 35"/>
          <p:cNvSpPr>
            <a:spLocks/>
          </p:cNvSpPr>
          <p:nvPr/>
        </p:nvSpPr>
        <p:spPr bwMode="auto">
          <a:xfrm>
            <a:off x="5502275" y="2732088"/>
            <a:ext cx="781050" cy="155575"/>
          </a:xfrm>
          <a:custGeom>
            <a:avLst/>
            <a:gdLst>
              <a:gd name="T0" fmla="*/ 0 w 492"/>
              <a:gd name="T1" fmla="*/ 2147483647 h 98"/>
              <a:gd name="T2" fmla="*/ 2147483647 w 492"/>
              <a:gd name="T3" fmla="*/ 2147483647 h 98"/>
              <a:gd name="T4" fmla="*/ 2147483647 w 492"/>
              <a:gd name="T5" fmla="*/ 0 h 98"/>
              <a:gd name="T6" fmla="*/ 0 60000 65536"/>
              <a:gd name="T7" fmla="*/ 0 60000 65536"/>
              <a:gd name="T8" fmla="*/ 0 60000 65536"/>
              <a:gd name="T9" fmla="*/ 0 w 492"/>
              <a:gd name="T10" fmla="*/ 0 h 98"/>
              <a:gd name="T11" fmla="*/ 492 w 492"/>
              <a:gd name="T12" fmla="*/ 98 h 9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2" h="98">
                <a:moveTo>
                  <a:pt x="0" y="98"/>
                </a:moveTo>
                <a:lnTo>
                  <a:pt x="492" y="98"/>
                </a:lnTo>
                <a:lnTo>
                  <a:pt x="492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9725" name="Line 36"/>
          <p:cNvSpPr>
            <a:spLocks noChangeShapeType="1"/>
          </p:cNvSpPr>
          <p:nvPr/>
        </p:nvSpPr>
        <p:spPr bwMode="auto">
          <a:xfrm>
            <a:off x="5737225" y="2709863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9726" name="Freeform 37"/>
          <p:cNvSpPr>
            <a:spLocks/>
          </p:cNvSpPr>
          <p:nvPr/>
        </p:nvSpPr>
        <p:spPr bwMode="auto">
          <a:xfrm>
            <a:off x="5657850" y="2871788"/>
            <a:ext cx="708025" cy="234950"/>
          </a:xfrm>
          <a:custGeom>
            <a:avLst/>
            <a:gdLst>
              <a:gd name="T0" fmla="*/ 0 w 446"/>
              <a:gd name="T1" fmla="*/ 2147483647 h 148"/>
              <a:gd name="T2" fmla="*/ 2147483647 w 446"/>
              <a:gd name="T3" fmla="*/ 2147483647 h 148"/>
              <a:gd name="T4" fmla="*/ 2147483647 w 446"/>
              <a:gd name="T5" fmla="*/ 0 h 148"/>
              <a:gd name="T6" fmla="*/ 0 60000 65536"/>
              <a:gd name="T7" fmla="*/ 0 60000 65536"/>
              <a:gd name="T8" fmla="*/ 0 60000 65536"/>
              <a:gd name="T9" fmla="*/ 0 w 446"/>
              <a:gd name="T10" fmla="*/ 0 h 148"/>
              <a:gd name="T11" fmla="*/ 446 w 446"/>
              <a:gd name="T12" fmla="*/ 148 h 1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6" h="148">
                <a:moveTo>
                  <a:pt x="0" y="148"/>
                </a:moveTo>
                <a:lnTo>
                  <a:pt x="446" y="148"/>
                </a:lnTo>
                <a:lnTo>
                  <a:pt x="446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9727" name="Line 38"/>
          <p:cNvSpPr>
            <a:spLocks noChangeShapeType="1"/>
          </p:cNvSpPr>
          <p:nvPr/>
        </p:nvSpPr>
        <p:spPr bwMode="auto">
          <a:xfrm>
            <a:off x="5740400" y="2960688"/>
            <a:ext cx="0" cy="14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9728" name="AutoShape 39"/>
          <p:cNvSpPr>
            <a:spLocks/>
          </p:cNvSpPr>
          <p:nvPr/>
        </p:nvSpPr>
        <p:spPr bwMode="auto">
          <a:xfrm>
            <a:off x="5276850" y="3532188"/>
            <a:ext cx="74612" cy="476250"/>
          </a:xfrm>
          <a:prstGeom prst="leftBracket">
            <a:avLst>
              <a:gd name="adj" fmla="val 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CA" altLang="fr-FR"/>
          </a:p>
        </p:txBody>
      </p:sp>
      <p:sp>
        <p:nvSpPr>
          <p:cNvPr id="29729" name="Line 40"/>
          <p:cNvSpPr>
            <a:spLocks noChangeShapeType="1"/>
          </p:cNvSpPr>
          <p:nvPr/>
        </p:nvSpPr>
        <p:spPr bwMode="auto">
          <a:xfrm>
            <a:off x="5197475" y="3789363"/>
            <a:ext cx="79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9730" name="Line 41"/>
          <p:cNvSpPr>
            <a:spLocks noChangeShapeType="1"/>
          </p:cNvSpPr>
          <p:nvPr/>
        </p:nvSpPr>
        <p:spPr bwMode="auto">
          <a:xfrm>
            <a:off x="5197475" y="4741863"/>
            <a:ext cx="311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9731" name="Line 42"/>
          <p:cNvSpPr>
            <a:spLocks noChangeShapeType="1"/>
          </p:cNvSpPr>
          <p:nvPr/>
        </p:nvSpPr>
        <p:spPr bwMode="auto">
          <a:xfrm>
            <a:off x="6654800" y="4818063"/>
            <a:ext cx="266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9732" name="Line 43"/>
          <p:cNvSpPr>
            <a:spLocks noChangeShapeType="1"/>
          </p:cNvSpPr>
          <p:nvPr/>
        </p:nvSpPr>
        <p:spPr bwMode="auto">
          <a:xfrm>
            <a:off x="5473700" y="5659438"/>
            <a:ext cx="920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9733" name="Line 44"/>
          <p:cNvSpPr>
            <a:spLocks noChangeShapeType="1"/>
          </p:cNvSpPr>
          <p:nvPr/>
        </p:nvSpPr>
        <p:spPr bwMode="auto">
          <a:xfrm flipV="1">
            <a:off x="5591175" y="5599113"/>
            <a:ext cx="311150" cy="60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9734" name="Line 45"/>
          <p:cNvSpPr>
            <a:spLocks noChangeShapeType="1"/>
          </p:cNvSpPr>
          <p:nvPr/>
        </p:nvSpPr>
        <p:spPr bwMode="auto">
          <a:xfrm>
            <a:off x="5721350" y="6167438"/>
            <a:ext cx="1193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9735" name="Line 46"/>
          <p:cNvSpPr>
            <a:spLocks noChangeShapeType="1"/>
          </p:cNvSpPr>
          <p:nvPr/>
        </p:nvSpPr>
        <p:spPr bwMode="auto">
          <a:xfrm>
            <a:off x="6451600" y="6113463"/>
            <a:ext cx="193675" cy="53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9736" name="Freeform 47"/>
          <p:cNvSpPr>
            <a:spLocks/>
          </p:cNvSpPr>
          <p:nvPr/>
        </p:nvSpPr>
        <p:spPr bwMode="auto">
          <a:xfrm>
            <a:off x="6696075" y="5808663"/>
            <a:ext cx="228600" cy="127000"/>
          </a:xfrm>
          <a:custGeom>
            <a:avLst/>
            <a:gdLst>
              <a:gd name="T0" fmla="*/ 0 w 144"/>
              <a:gd name="T1" fmla="*/ 2147483647 h 80"/>
              <a:gd name="T2" fmla="*/ 2147483647 w 144"/>
              <a:gd name="T3" fmla="*/ 0 h 80"/>
              <a:gd name="T4" fmla="*/ 2147483647 w 144"/>
              <a:gd name="T5" fmla="*/ 0 h 80"/>
              <a:gd name="T6" fmla="*/ 0 60000 65536"/>
              <a:gd name="T7" fmla="*/ 0 60000 65536"/>
              <a:gd name="T8" fmla="*/ 0 60000 65536"/>
              <a:gd name="T9" fmla="*/ 0 w 144"/>
              <a:gd name="T10" fmla="*/ 0 h 80"/>
              <a:gd name="T11" fmla="*/ 144 w 144"/>
              <a:gd name="T12" fmla="*/ 80 h 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" h="80">
                <a:moveTo>
                  <a:pt x="0" y="80"/>
                </a:moveTo>
                <a:lnTo>
                  <a:pt x="82" y="0"/>
                </a:lnTo>
                <a:lnTo>
                  <a:pt x="144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9737" name="AutoShape 48"/>
          <p:cNvSpPr>
            <a:spLocks/>
          </p:cNvSpPr>
          <p:nvPr/>
        </p:nvSpPr>
        <p:spPr bwMode="auto">
          <a:xfrm>
            <a:off x="4498975" y="909638"/>
            <a:ext cx="130175" cy="1558925"/>
          </a:xfrm>
          <a:prstGeom prst="leftBracket">
            <a:avLst>
              <a:gd name="adj" fmla="val 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CA" altLang="fr-FR"/>
          </a:p>
        </p:txBody>
      </p:sp>
      <p:sp>
        <p:nvSpPr>
          <p:cNvPr id="29738" name="Line 49"/>
          <p:cNvSpPr>
            <a:spLocks noChangeShapeType="1"/>
          </p:cNvSpPr>
          <p:nvPr/>
        </p:nvSpPr>
        <p:spPr bwMode="auto">
          <a:xfrm>
            <a:off x="4416425" y="1677988"/>
            <a:ext cx="82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29739" name="Rectangle 50"/>
          <p:cNvSpPr>
            <a:spLocks noChangeArrowheads="1"/>
          </p:cNvSpPr>
          <p:nvPr/>
        </p:nvSpPr>
        <p:spPr bwMode="auto">
          <a:xfrm>
            <a:off x="3930650" y="6253163"/>
            <a:ext cx="2286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CA" altLang="fr-FR"/>
          </a:p>
        </p:txBody>
      </p:sp>
      <p:sp>
        <p:nvSpPr>
          <p:cNvPr id="29740" name="Rectangle 18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6400800"/>
            <a:ext cx="8519453" cy="285749"/>
          </a:xfrm>
          <a:noFill/>
        </p:spPr>
        <p:txBody>
          <a:bodyPr lIns="72000" rIns="72000"/>
          <a:lstStyle/>
          <a:p>
            <a:pPr eaLnBrk="1" hangingPunct="1"/>
            <a:r>
              <a:rPr lang="fr-CA" altLang="fr-FR" sz="1200" dirty="0">
                <a:solidFill>
                  <a:srgbClr val="0000FF"/>
                </a:solidFill>
              </a:rPr>
              <a:t>Figure 19.31a   Représentation schématique des veines de l’abdomen (veines du système porte hépatique en bleu).</a:t>
            </a:r>
          </a:p>
        </p:txBody>
      </p:sp>
      <p:sp>
        <p:nvSpPr>
          <p:cNvPr id="29741" name="Title 1"/>
          <p:cNvSpPr txBox="1">
            <a:spLocks/>
          </p:cNvSpPr>
          <p:nvPr/>
        </p:nvSpPr>
        <p:spPr bwMode="auto">
          <a:xfrm>
            <a:off x="104776" y="0"/>
            <a:ext cx="3200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00" tIns="36000" rIns="36000" bIns="36000"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360363" indent="-360363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lvl="2">
              <a:spcBef>
                <a:spcPct val="50000"/>
              </a:spcBef>
            </a:pPr>
            <a:r>
              <a:rPr lang="en-US" altLang="fr-FR" sz="2000" dirty="0">
                <a:cs typeface="Arial" charset="0"/>
              </a:rPr>
              <a:t>d)	</a:t>
            </a:r>
            <a:r>
              <a:rPr lang="fr-CA" altLang="fr-FR" sz="2000" u="sng" dirty="0">
                <a:cs typeface="Arial" charset="0"/>
              </a:rPr>
              <a:t>Veines de l’abdomen</a:t>
            </a:r>
            <a:endParaRPr lang="en-US" altLang="fr-FR" sz="2000" u="sng" dirty="0">
              <a:cs typeface="Arial" charset="0"/>
            </a:endParaRPr>
          </a:p>
        </p:txBody>
      </p:sp>
      <p:sp>
        <p:nvSpPr>
          <p:cNvPr id="29742" name="Rectangle 1"/>
          <p:cNvSpPr>
            <a:spLocks noChangeArrowheads="1"/>
          </p:cNvSpPr>
          <p:nvPr/>
        </p:nvSpPr>
        <p:spPr bwMode="auto">
          <a:xfrm>
            <a:off x="119063" y="470386"/>
            <a:ext cx="3595686" cy="4124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0363"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360363" indent="-185738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182563" lvl="1" indent="-182563">
              <a:spcBef>
                <a:spcPts val="200"/>
              </a:spcBef>
              <a:buSzPct val="80000"/>
              <a:buFont typeface="Wingdings" pitchFamily="2" charset="2"/>
              <a:buChar char="Ø"/>
            </a:pPr>
            <a:r>
              <a:rPr lang="fr-CA" altLang="fr-FR" sz="1400" i="1" dirty="0"/>
              <a:t>Système porte hépatique </a:t>
            </a:r>
            <a:r>
              <a:rPr lang="fr-CA" altLang="fr-FR" sz="1400" dirty="0"/>
              <a:t>:</a:t>
            </a:r>
          </a:p>
          <a:p>
            <a:pPr marL="177800">
              <a:spcBef>
                <a:spcPts val="600"/>
              </a:spcBef>
              <a:buSzPct val="120000"/>
            </a:pPr>
            <a:r>
              <a:rPr lang="fr-CA" altLang="fr-FR" sz="1400" b="0" dirty="0"/>
              <a:t>Un </a:t>
            </a:r>
            <a:r>
              <a:rPr lang="fr-CA" altLang="fr-FR" sz="1400" b="0" i="1" dirty="0"/>
              <a:t>système porte </a:t>
            </a:r>
            <a:r>
              <a:rPr lang="fr-CA" altLang="fr-FR" sz="1400" b="0" dirty="0"/>
              <a:t>est un système formé d’une série de veines reliant deux réseaux de capillaires distincts et situés entre la circulation artérielle et la circulation veineuse. </a:t>
            </a:r>
          </a:p>
          <a:p>
            <a:pPr marL="177800">
              <a:spcBef>
                <a:spcPts val="600"/>
              </a:spcBef>
            </a:pPr>
            <a:r>
              <a:rPr lang="fr-CA" altLang="fr-FR" sz="1400" b="0" dirty="0"/>
              <a:t>Les veines de l’abdomen comprennent un tel système, nommé le </a:t>
            </a:r>
            <a:r>
              <a:rPr lang="fr-CA" altLang="fr-FR" sz="1400" i="1" dirty="0"/>
              <a:t>système porte hépatique.</a:t>
            </a:r>
            <a:r>
              <a:rPr lang="fr-CA" altLang="fr-FR" sz="1400" b="0" dirty="0"/>
              <a:t> Le 1</a:t>
            </a:r>
            <a:r>
              <a:rPr lang="fr-CA" altLang="fr-FR" sz="1400" b="0" baseline="30000" dirty="0"/>
              <a:t>er</a:t>
            </a:r>
            <a:r>
              <a:rPr lang="fr-CA" altLang="fr-FR" sz="1400" b="0" dirty="0"/>
              <a:t> réseau de capillaires est situé dans l’estomac et les intestins, et s’écoule dans les veines issues de la </a:t>
            </a:r>
            <a:r>
              <a:rPr lang="fr-CA" altLang="fr-FR" sz="1400" i="1" dirty="0"/>
              <a:t>veine porte hépatique</a:t>
            </a:r>
            <a:r>
              <a:rPr lang="fr-CA" altLang="fr-FR" sz="1400" b="0" dirty="0"/>
              <a:t>, qui le relie au 2</a:t>
            </a:r>
            <a:r>
              <a:rPr lang="fr-CA" altLang="fr-FR" sz="1400" b="0" baseline="30000" dirty="0"/>
              <a:t>e</a:t>
            </a:r>
            <a:r>
              <a:rPr lang="fr-CA" altLang="fr-FR" sz="1400" b="0" dirty="0"/>
              <a:t> réseau situé dans le foie. Le sang veineux acheminé au foie est chargé de nutriments en provenance du système digestif. Le sang y est alors traité avant d’être envoyé à la veine cave inférieure via les </a:t>
            </a:r>
            <a:r>
              <a:rPr lang="fr-CA" altLang="fr-FR" sz="1400" dirty="0"/>
              <a:t>veines hépatiques</a:t>
            </a:r>
            <a:r>
              <a:rPr lang="fr-CA" altLang="fr-FR" sz="1400" b="0" dirty="0"/>
              <a:t>. </a:t>
            </a:r>
            <a:endParaRPr lang="fr-CA" altLang="fr-FR" sz="1400" i="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34" descr="figure_19_29c_unlabel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" b="4805"/>
          <a:stretch>
            <a:fillRect/>
          </a:stretch>
        </p:blipFill>
        <p:spPr bwMode="auto">
          <a:xfrm>
            <a:off x="268288" y="449263"/>
            <a:ext cx="8597900" cy="604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7" name="Rectangle 4"/>
          <p:cNvSpPr>
            <a:spLocks noChangeArrowheads="1"/>
          </p:cNvSpPr>
          <p:nvPr/>
        </p:nvSpPr>
        <p:spPr bwMode="auto">
          <a:xfrm>
            <a:off x="273050" y="885825"/>
            <a:ext cx="150018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600">
                <a:solidFill>
                  <a:srgbClr val="0000FF"/>
                </a:solidFill>
              </a:rPr>
              <a:t>V. hépatiques</a:t>
            </a:r>
          </a:p>
        </p:txBody>
      </p:sp>
      <p:sp>
        <p:nvSpPr>
          <p:cNvPr id="33798" name="Rectangle 5"/>
          <p:cNvSpPr>
            <a:spLocks noChangeArrowheads="1"/>
          </p:cNvSpPr>
          <p:nvPr/>
        </p:nvSpPr>
        <p:spPr bwMode="auto">
          <a:xfrm>
            <a:off x="561975" y="1741488"/>
            <a:ext cx="5826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fr-CA" altLang="fr-FR" sz="1600" b="0">
                <a:latin typeface="+mn-lt"/>
              </a:rPr>
              <a:t>Foie</a:t>
            </a:r>
          </a:p>
        </p:txBody>
      </p:sp>
      <p:sp>
        <p:nvSpPr>
          <p:cNvPr id="31749" name="Rectangle 6"/>
          <p:cNvSpPr>
            <a:spLocks noChangeArrowheads="1"/>
          </p:cNvSpPr>
          <p:nvPr/>
        </p:nvSpPr>
        <p:spPr bwMode="auto">
          <a:xfrm>
            <a:off x="938213" y="2481263"/>
            <a:ext cx="197802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fr-CA" altLang="fr-FR" sz="1600" b="0">
                <a:solidFill>
                  <a:srgbClr val="0000FF"/>
                </a:solidFill>
                <a:latin typeface="Arial Black" pitchFamily="34" charset="0"/>
              </a:rPr>
              <a:t>V. porte hépatique</a:t>
            </a:r>
          </a:p>
        </p:txBody>
      </p:sp>
      <p:sp>
        <p:nvSpPr>
          <p:cNvPr id="33800" name="Rectangle 7"/>
          <p:cNvSpPr>
            <a:spLocks noChangeArrowheads="1"/>
          </p:cNvSpPr>
          <p:nvPr/>
        </p:nvSpPr>
        <p:spPr bwMode="auto">
          <a:xfrm>
            <a:off x="441325" y="4946650"/>
            <a:ext cx="13589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fr-CA" altLang="fr-FR" sz="1600" b="0">
                <a:latin typeface="+mn-lt"/>
              </a:rPr>
              <a:t>Intestin grêle</a:t>
            </a:r>
          </a:p>
        </p:txBody>
      </p:sp>
      <p:sp>
        <p:nvSpPr>
          <p:cNvPr id="31751" name="Rectangle 8"/>
          <p:cNvSpPr>
            <a:spLocks noChangeArrowheads="1"/>
          </p:cNvSpPr>
          <p:nvPr/>
        </p:nvSpPr>
        <p:spPr bwMode="auto">
          <a:xfrm>
            <a:off x="495300" y="5749925"/>
            <a:ext cx="8921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600" b="0"/>
              <a:t>Rectum</a:t>
            </a:r>
          </a:p>
        </p:txBody>
      </p:sp>
      <p:sp>
        <p:nvSpPr>
          <p:cNvPr id="33803" name="Rectangle 10"/>
          <p:cNvSpPr>
            <a:spLocks noChangeArrowheads="1"/>
          </p:cNvSpPr>
          <p:nvPr/>
        </p:nvSpPr>
        <p:spPr bwMode="auto">
          <a:xfrm>
            <a:off x="6894513" y="1882775"/>
            <a:ext cx="63023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defRPr/>
            </a:pPr>
            <a:r>
              <a:rPr lang="fr-CA" altLang="fr-FR" sz="1600" b="0">
                <a:latin typeface="+mn-lt"/>
              </a:rPr>
              <a:t>Rate</a:t>
            </a:r>
          </a:p>
        </p:txBody>
      </p:sp>
      <p:sp>
        <p:nvSpPr>
          <p:cNvPr id="31753" name="Rectangle 11"/>
          <p:cNvSpPr>
            <a:spLocks noChangeArrowheads="1"/>
          </p:cNvSpPr>
          <p:nvPr/>
        </p:nvSpPr>
        <p:spPr bwMode="auto">
          <a:xfrm>
            <a:off x="6896100" y="2301875"/>
            <a:ext cx="18669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600"/>
              <a:t>V. cave inférieure</a:t>
            </a:r>
          </a:p>
        </p:txBody>
      </p:sp>
      <p:sp>
        <p:nvSpPr>
          <p:cNvPr id="31754" name="Rectangle 12"/>
          <p:cNvSpPr>
            <a:spLocks noChangeArrowheads="1"/>
          </p:cNvSpPr>
          <p:nvPr/>
        </p:nvSpPr>
        <p:spPr bwMode="auto">
          <a:xfrm>
            <a:off x="6896100" y="2616200"/>
            <a:ext cx="13747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600">
                <a:solidFill>
                  <a:srgbClr val="0000FF"/>
                </a:solidFill>
              </a:rPr>
              <a:t>V. splénique</a:t>
            </a:r>
          </a:p>
        </p:txBody>
      </p:sp>
      <p:sp>
        <p:nvSpPr>
          <p:cNvPr id="31755" name="Rectangle 14"/>
          <p:cNvSpPr>
            <a:spLocks noChangeArrowheads="1"/>
          </p:cNvSpPr>
          <p:nvPr/>
        </p:nvSpPr>
        <p:spPr bwMode="auto">
          <a:xfrm>
            <a:off x="6873875" y="3570288"/>
            <a:ext cx="1992313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sz="1600">
                <a:solidFill>
                  <a:srgbClr val="0000FF"/>
                </a:solidFill>
              </a:rPr>
              <a:t>V. mésentérique inférieure</a:t>
            </a:r>
          </a:p>
        </p:txBody>
      </p:sp>
      <p:sp>
        <p:nvSpPr>
          <p:cNvPr id="31756" name="Rectangle 15"/>
          <p:cNvSpPr>
            <a:spLocks noChangeArrowheads="1"/>
          </p:cNvSpPr>
          <p:nvPr/>
        </p:nvSpPr>
        <p:spPr bwMode="auto">
          <a:xfrm>
            <a:off x="6875463" y="4264025"/>
            <a:ext cx="1887537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 sz="1600">
                <a:solidFill>
                  <a:srgbClr val="0000FF"/>
                </a:solidFill>
              </a:rPr>
              <a:t>V. mésentérique supérieure</a:t>
            </a:r>
          </a:p>
        </p:txBody>
      </p:sp>
      <p:sp>
        <p:nvSpPr>
          <p:cNvPr id="33809" name="Rectangle 16"/>
          <p:cNvSpPr>
            <a:spLocks noChangeArrowheads="1"/>
          </p:cNvSpPr>
          <p:nvPr/>
        </p:nvSpPr>
        <p:spPr bwMode="auto">
          <a:xfrm>
            <a:off x="6878638" y="5167313"/>
            <a:ext cx="71913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fr-CA" altLang="fr-FR" sz="1600" b="0" dirty="0">
                <a:latin typeface="+mn-lt"/>
              </a:rPr>
              <a:t>Côlon</a:t>
            </a:r>
          </a:p>
        </p:txBody>
      </p:sp>
      <p:sp>
        <p:nvSpPr>
          <p:cNvPr id="31758" name="Freeform 18"/>
          <p:cNvSpPr>
            <a:spLocks/>
          </p:cNvSpPr>
          <p:nvPr/>
        </p:nvSpPr>
        <p:spPr bwMode="auto">
          <a:xfrm>
            <a:off x="1719263" y="1079500"/>
            <a:ext cx="2581275" cy="3175"/>
          </a:xfrm>
          <a:custGeom>
            <a:avLst/>
            <a:gdLst>
              <a:gd name="T0" fmla="*/ 0 w 1626"/>
              <a:gd name="T1" fmla="*/ 2147483647 h 2"/>
              <a:gd name="T2" fmla="*/ 2147483647 w 1626"/>
              <a:gd name="T3" fmla="*/ 0 h 2"/>
              <a:gd name="T4" fmla="*/ 0 60000 65536"/>
              <a:gd name="T5" fmla="*/ 0 60000 65536"/>
              <a:gd name="T6" fmla="*/ 0 w 1626"/>
              <a:gd name="T7" fmla="*/ 0 h 2"/>
              <a:gd name="T8" fmla="*/ 1626 w 1626"/>
              <a:gd name="T9" fmla="*/ 2 h 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626" h="2">
                <a:moveTo>
                  <a:pt x="0" y="2"/>
                </a:moveTo>
                <a:lnTo>
                  <a:pt x="1626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31759" name="Freeform 19"/>
          <p:cNvSpPr>
            <a:spLocks/>
          </p:cNvSpPr>
          <p:nvPr/>
        </p:nvSpPr>
        <p:spPr bwMode="auto">
          <a:xfrm>
            <a:off x="3132138" y="1028700"/>
            <a:ext cx="914400" cy="53975"/>
          </a:xfrm>
          <a:custGeom>
            <a:avLst/>
            <a:gdLst>
              <a:gd name="T0" fmla="*/ 2147483647 w 576"/>
              <a:gd name="T1" fmla="*/ 0 h 34"/>
              <a:gd name="T2" fmla="*/ 0 w 576"/>
              <a:gd name="T3" fmla="*/ 2147483647 h 34"/>
              <a:gd name="T4" fmla="*/ 0 60000 65536"/>
              <a:gd name="T5" fmla="*/ 0 60000 65536"/>
              <a:gd name="T6" fmla="*/ 0 w 576"/>
              <a:gd name="T7" fmla="*/ 0 h 34"/>
              <a:gd name="T8" fmla="*/ 576 w 576"/>
              <a:gd name="T9" fmla="*/ 34 h 3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76" h="34">
                <a:moveTo>
                  <a:pt x="576" y="0"/>
                </a:moveTo>
                <a:lnTo>
                  <a:pt x="0" y="34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31760" name="Line 20"/>
          <p:cNvSpPr>
            <a:spLocks noChangeShapeType="1"/>
          </p:cNvSpPr>
          <p:nvPr/>
        </p:nvSpPr>
        <p:spPr bwMode="auto">
          <a:xfrm>
            <a:off x="1233488" y="1930400"/>
            <a:ext cx="1463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31761" name="Freeform 21"/>
          <p:cNvSpPr>
            <a:spLocks/>
          </p:cNvSpPr>
          <p:nvPr/>
        </p:nvSpPr>
        <p:spPr bwMode="auto">
          <a:xfrm>
            <a:off x="1941513" y="2632075"/>
            <a:ext cx="2295525" cy="3175"/>
          </a:xfrm>
          <a:custGeom>
            <a:avLst/>
            <a:gdLst>
              <a:gd name="T0" fmla="*/ 0 w 1446"/>
              <a:gd name="T1" fmla="*/ 0 h 2"/>
              <a:gd name="T2" fmla="*/ 2147483647 w 1446"/>
              <a:gd name="T3" fmla="*/ 2147483647 h 2"/>
              <a:gd name="T4" fmla="*/ 0 60000 65536"/>
              <a:gd name="T5" fmla="*/ 0 60000 65536"/>
              <a:gd name="T6" fmla="*/ 0 w 1446"/>
              <a:gd name="T7" fmla="*/ 0 h 2"/>
              <a:gd name="T8" fmla="*/ 1446 w 1446"/>
              <a:gd name="T9" fmla="*/ 2 h 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446" h="2">
                <a:moveTo>
                  <a:pt x="0" y="0"/>
                </a:moveTo>
                <a:lnTo>
                  <a:pt x="1446" y="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31762" name="Freeform 22"/>
          <p:cNvSpPr>
            <a:spLocks/>
          </p:cNvSpPr>
          <p:nvPr/>
        </p:nvSpPr>
        <p:spPr bwMode="auto">
          <a:xfrm>
            <a:off x="1820863" y="5118100"/>
            <a:ext cx="2352675" cy="3175"/>
          </a:xfrm>
          <a:custGeom>
            <a:avLst/>
            <a:gdLst>
              <a:gd name="T0" fmla="*/ 0 w 1482"/>
              <a:gd name="T1" fmla="*/ 2147483647 h 2"/>
              <a:gd name="T2" fmla="*/ 2147483647 w 1482"/>
              <a:gd name="T3" fmla="*/ 0 h 2"/>
              <a:gd name="T4" fmla="*/ 0 60000 65536"/>
              <a:gd name="T5" fmla="*/ 0 60000 65536"/>
              <a:gd name="T6" fmla="*/ 0 w 1482"/>
              <a:gd name="T7" fmla="*/ 0 h 2"/>
              <a:gd name="T8" fmla="*/ 1482 w 1482"/>
              <a:gd name="T9" fmla="*/ 2 h 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482" h="2">
                <a:moveTo>
                  <a:pt x="0" y="2"/>
                </a:moveTo>
                <a:lnTo>
                  <a:pt x="1482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31763" name="Freeform 23"/>
          <p:cNvSpPr>
            <a:spLocks/>
          </p:cNvSpPr>
          <p:nvPr/>
        </p:nvSpPr>
        <p:spPr bwMode="auto">
          <a:xfrm>
            <a:off x="1347788" y="5940425"/>
            <a:ext cx="3092450" cy="3175"/>
          </a:xfrm>
          <a:custGeom>
            <a:avLst/>
            <a:gdLst>
              <a:gd name="T0" fmla="*/ 0 w 1948"/>
              <a:gd name="T1" fmla="*/ 0 h 2"/>
              <a:gd name="T2" fmla="*/ 2147483647 w 1948"/>
              <a:gd name="T3" fmla="*/ 2147483647 h 2"/>
              <a:gd name="T4" fmla="*/ 0 60000 65536"/>
              <a:gd name="T5" fmla="*/ 0 60000 65536"/>
              <a:gd name="T6" fmla="*/ 0 w 1948"/>
              <a:gd name="T7" fmla="*/ 0 h 2"/>
              <a:gd name="T8" fmla="*/ 1948 w 1948"/>
              <a:gd name="T9" fmla="*/ 2 h 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948" h="2">
                <a:moveTo>
                  <a:pt x="0" y="0"/>
                </a:moveTo>
                <a:lnTo>
                  <a:pt x="1948" y="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31764" name="Line 26"/>
          <p:cNvSpPr>
            <a:spLocks noChangeShapeType="1"/>
          </p:cNvSpPr>
          <p:nvPr/>
        </p:nvSpPr>
        <p:spPr bwMode="auto">
          <a:xfrm>
            <a:off x="6403975" y="2062163"/>
            <a:ext cx="546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31765" name="Line 27"/>
          <p:cNvSpPr>
            <a:spLocks noChangeShapeType="1"/>
          </p:cNvSpPr>
          <p:nvPr/>
        </p:nvSpPr>
        <p:spPr bwMode="auto">
          <a:xfrm>
            <a:off x="4379913" y="2484438"/>
            <a:ext cx="2549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31766" name="Line 28"/>
          <p:cNvSpPr>
            <a:spLocks noChangeShapeType="1"/>
          </p:cNvSpPr>
          <p:nvPr/>
        </p:nvSpPr>
        <p:spPr bwMode="auto">
          <a:xfrm>
            <a:off x="5237163" y="2801938"/>
            <a:ext cx="1695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31767" name="Line 30"/>
          <p:cNvSpPr>
            <a:spLocks noChangeShapeType="1"/>
          </p:cNvSpPr>
          <p:nvPr/>
        </p:nvSpPr>
        <p:spPr bwMode="auto">
          <a:xfrm>
            <a:off x="4951413" y="3700463"/>
            <a:ext cx="1978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31768" name="Line 31"/>
          <p:cNvSpPr>
            <a:spLocks noChangeShapeType="1"/>
          </p:cNvSpPr>
          <p:nvPr/>
        </p:nvSpPr>
        <p:spPr bwMode="auto">
          <a:xfrm>
            <a:off x="4106863" y="4430713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31769" name="Line 32"/>
          <p:cNvSpPr>
            <a:spLocks noChangeShapeType="1"/>
          </p:cNvSpPr>
          <p:nvPr/>
        </p:nvSpPr>
        <p:spPr bwMode="auto">
          <a:xfrm>
            <a:off x="6205538" y="5370513"/>
            <a:ext cx="7270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31770" name="Rectangle 33"/>
          <p:cNvSpPr>
            <a:spLocks noChangeArrowheads="1"/>
          </p:cNvSpPr>
          <p:nvPr/>
        </p:nvSpPr>
        <p:spPr bwMode="auto">
          <a:xfrm>
            <a:off x="228600" y="6291263"/>
            <a:ext cx="3810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CA" altLang="fr-FR"/>
          </a:p>
        </p:txBody>
      </p:sp>
      <p:sp>
        <p:nvSpPr>
          <p:cNvPr id="31771" name="Rectangle 25"/>
          <p:cNvSpPr>
            <a:spLocks noChangeArrowheads="1"/>
          </p:cNvSpPr>
          <p:nvPr/>
        </p:nvSpPr>
        <p:spPr bwMode="auto">
          <a:xfrm>
            <a:off x="6705600" y="460375"/>
            <a:ext cx="2243138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1400"/>
              <a:t>Veine cave inférieure </a:t>
            </a:r>
            <a:r>
              <a:rPr lang="fr-CA" altLang="fr-FR" sz="1400" b="0"/>
              <a:t>(ne fait pas partie du système porte hépatique)</a:t>
            </a:r>
          </a:p>
        </p:txBody>
      </p:sp>
      <p:sp>
        <p:nvSpPr>
          <p:cNvPr id="31772" name="Line 55"/>
          <p:cNvSpPr>
            <a:spLocks noChangeShapeType="1"/>
          </p:cNvSpPr>
          <p:nvPr/>
        </p:nvSpPr>
        <p:spPr bwMode="auto">
          <a:xfrm flipV="1">
            <a:off x="4371975" y="615950"/>
            <a:ext cx="2330450" cy="1127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31773" name="Title 1"/>
          <p:cNvSpPr txBox="1">
            <a:spLocks/>
          </p:cNvSpPr>
          <p:nvPr/>
        </p:nvSpPr>
        <p:spPr bwMode="auto">
          <a:xfrm>
            <a:off x="152400" y="152400"/>
            <a:ext cx="3200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00" tIns="36000" rIns="36000" bIns="36000"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360363" indent="-360363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lvl="2">
              <a:spcBef>
                <a:spcPct val="50000"/>
              </a:spcBef>
            </a:pPr>
            <a:r>
              <a:rPr lang="en-US" altLang="fr-FR" sz="2000" dirty="0">
                <a:cs typeface="Arial" charset="0"/>
              </a:rPr>
              <a:t>d)	</a:t>
            </a:r>
            <a:r>
              <a:rPr lang="fr-CA" altLang="fr-FR" sz="2000" u="sng" dirty="0">
                <a:cs typeface="Arial" charset="0"/>
              </a:rPr>
              <a:t>Veines de l’abdomen</a:t>
            </a:r>
            <a:endParaRPr lang="en-US" altLang="fr-FR" sz="2000" u="sng" dirty="0">
              <a:cs typeface="Arial" charset="0"/>
            </a:endParaRPr>
          </a:p>
        </p:txBody>
      </p:sp>
      <p:sp>
        <p:nvSpPr>
          <p:cNvPr id="33810" name="Rectangle 17"/>
          <p:cNvSpPr>
            <a:spLocks noChangeArrowheads="1"/>
          </p:cNvSpPr>
          <p:nvPr/>
        </p:nvSpPr>
        <p:spPr bwMode="auto">
          <a:xfrm>
            <a:off x="268288" y="6476792"/>
            <a:ext cx="359585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fr-CA" altLang="fr-FR" sz="1600" b="0" dirty="0">
                <a:solidFill>
                  <a:srgbClr val="0000FF"/>
                </a:solidFill>
                <a:latin typeface="+mn-lt"/>
              </a:rPr>
              <a:t>Fig. 19.31c  Système porte hépatique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TextBox 5"/>
          <p:cNvSpPr txBox="1">
            <a:spLocks noChangeArrowheads="1"/>
          </p:cNvSpPr>
          <p:nvPr/>
        </p:nvSpPr>
        <p:spPr bwMode="auto">
          <a:xfrm>
            <a:off x="65087" y="469134"/>
            <a:ext cx="5019676" cy="628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00" tIns="36000" rIns="72000" bIns="36000">
            <a:no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fr-CA" altLang="fr-FR" sz="1400" b="0" dirty="0"/>
              <a:t>Tout comme pour les membres supérieurs, la plupart des veines profondes portent les mêmes noms que les artères qu’elles accompagnent. </a:t>
            </a:r>
          </a:p>
          <a:p>
            <a:pPr>
              <a:spcBef>
                <a:spcPts val="600"/>
              </a:spcBef>
              <a:defRPr/>
            </a:pPr>
            <a:r>
              <a:rPr lang="fr-CA" altLang="fr-FR" sz="1400" u="sng" dirty="0"/>
              <a:t>Veines profondes</a:t>
            </a:r>
            <a:r>
              <a:rPr lang="fr-CA" altLang="fr-FR" sz="1400" dirty="0"/>
              <a:t> :</a:t>
            </a:r>
          </a:p>
          <a:p>
            <a:pPr marL="174625" indent="-174625">
              <a:spcBef>
                <a:spcPts val="300"/>
              </a:spcBef>
              <a:buSzPct val="120000"/>
              <a:buFont typeface="Arial" charset="0"/>
              <a:buChar char="•"/>
              <a:defRPr/>
            </a:pPr>
            <a:r>
              <a:rPr lang="fr-CA" altLang="fr-FR" sz="1400" i="1" dirty="0"/>
              <a:t>Veines tibiales postérieure et antérieure</a:t>
            </a:r>
          </a:p>
          <a:p>
            <a:pPr marL="174625">
              <a:spcBef>
                <a:spcPts val="0"/>
              </a:spcBef>
              <a:buSzPct val="120000"/>
              <a:defRPr/>
            </a:pPr>
            <a:r>
              <a:rPr lang="fr-CA" altLang="fr-FR" sz="1400" b="0" dirty="0"/>
              <a:t>– naissent de la fusion des veines du pied.</a:t>
            </a:r>
          </a:p>
          <a:p>
            <a:pPr marL="174625" indent="-174625">
              <a:spcBef>
                <a:spcPts val="300"/>
              </a:spcBef>
              <a:buSzPct val="120000"/>
              <a:buFont typeface="Arial" charset="0"/>
              <a:buChar char="•"/>
              <a:defRPr/>
            </a:pPr>
            <a:r>
              <a:rPr lang="fr-CA" altLang="fr-FR" sz="1400" i="1" dirty="0"/>
              <a:t>Veine poplitée </a:t>
            </a:r>
            <a:r>
              <a:rPr lang="fr-CA" altLang="fr-FR" sz="1400" dirty="0"/>
              <a:t>– </a:t>
            </a:r>
            <a:r>
              <a:rPr lang="fr-CA" altLang="fr-FR" sz="1400" b="0" dirty="0"/>
              <a:t>naît de la jonction des </a:t>
            </a:r>
            <a:r>
              <a:rPr lang="fr-CA" altLang="fr-FR" sz="1400" b="0" i="1" dirty="0"/>
              <a:t>veines tibiales postérieure et antérieure.</a:t>
            </a:r>
            <a:r>
              <a:rPr lang="fr-CA" altLang="fr-FR" sz="1400" b="0" dirty="0"/>
              <a:t> En émergeant du genou, elle devient la </a:t>
            </a:r>
            <a:r>
              <a:rPr lang="fr-CA" altLang="fr-FR" sz="1400" b="0" i="1" dirty="0"/>
              <a:t>veine fémorale.</a:t>
            </a:r>
          </a:p>
          <a:p>
            <a:pPr marL="174625" indent="-174625">
              <a:spcBef>
                <a:spcPts val="300"/>
              </a:spcBef>
              <a:buSzPct val="120000"/>
              <a:buFont typeface="Arial" charset="0"/>
              <a:buChar char="•"/>
              <a:defRPr/>
            </a:pPr>
            <a:r>
              <a:rPr lang="fr-CA" altLang="fr-FR" sz="1400" i="1" dirty="0"/>
              <a:t>Veine fémorale </a:t>
            </a:r>
            <a:r>
              <a:rPr lang="fr-CA" altLang="fr-FR" sz="1400" dirty="0"/>
              <a:t>– </a:t>
            </a:r>
            <a:r>
              <a:rPr lang="fr-CA" altLang="fr-FR" sz="1400" b="0" dirty="0"/>
              <a:t>draine les structures profondes de la cuisse.</a:t>
            </a:r>
          </a:p>
          <a:p>
            <a:pPr marL="174625" indent="-174625">
              <a:spcBef>
                <a:spcPts val="300"/>
              </a:spcBef>
              <a:buSzPct val="120000"/>
              <a:buFont typeface="Arial" charset="0"/>
              <a:buChar char="•"/>
              <a:defRPr/>
            </a:pPr>
            <a:r>
              <a:rPr lang="fr-CA" altLang="fr-FR" sz="1400" i="1" dirty="0"/>
              <a:t>Veine iliaque externe </a:t>
            </a:r>
            <a:r>
              <a:rPr lang="fr-CA" altLang="fr-FR" sz="1400" dirty="0"/>
              <a:t>– </a:t>
            </a:r>
            <a:r>
              <a:rPr lang="fr-CA" altLang="fr-FR" sz="1400" b="0" dirty="0"/>
              <a:t>reçoit le sang de la veine fémorale.</a:t>
            </a:r>
          </a:p>
          <a:p>
            <a:pPr marL="174625" indent="-174625">
              <a:spcBef>
                <a:spcPts val="300"/>
              </a:spcBef>
              <a:buSzPct val="120000"/>
              <a:buFont typeface="Arial" charset="0"/>
              <a:buChar char="•"/>
              <a:defRPr/>
            </a:pPr>
            <a:r>
              <a:rPr lang="fr-CA" altLang="fr-FR" sz="1400" i="1" dirty="0"/>
              <a:t>Veine iliaque interne </a:t>
            </a:r>
            <a:r>
              <a:rPr lang="fr-CA" altLang="fr-FR" sz="1400" dirty="0"/>
              <a:t>– </a:t>
            </a:r>
            <a:r>
              <a:rPr lang="fr-CA" sz="1400" b="0" dirty="0"/>
              <a:t>dessert les muscles et organes dans la région du bassin et des fesses. Elle se joint à la veine iliaque externe pour donner la </a:t>
            </a:r>
            <a:r>
              <a:rPr lang="fr-CA" altLang="fr-FR" sz="1400" b="0" i="1" dirty="0"/>
              <a:t>veine iliaque commune</a:t>
            </a:r>
            <a:r>
              <a:rPr lang="fr-CA" altLang="fr-FR" sz="1400" b="0" dirty="0"/>
              <a:t>.</a:t>
            </a:r>
          </a:p>
          <a:p>
            <a:pPr marL="174625" indent="-174625">
              <a:spcBef>
                <a:spcPts val="300"/>
              </a:spcBef>
              <a:buSzPct val="120000"/>
              <a:buFont typeface="Arial" charset="0"/>
              <a:buChar char="•"/>
              <a:defRPr/>
            </a:pPr>
            <a:r>
              <a:rPr lang="fr-CA" altLang="fr-FR" sz="1400" i="1" dirty="0"/>
              <a:t>Veine iliaque commune </a:t>
            </a:r>
            <a:r>
              <a:rPr lang="fr-CA" altLang="fr-FR" sz="1400" dirty="0"/>
              <a:t>– </a:t>
            </a:r>
            <a:r>
              <a:rPr lang="fr-CA" altLang="fr-FR" sz="1400" b="0" dirty="0"/>
              <a:t>formée par la jonction de la </a:t>
            </a:r>
            <a:r>
              <a:rPr lang="fr-CA" altLang="fr-FR" sz="1400" b="0" i="1" dirty="0"/>
              <a:t>veine iliaque interne </a:t>
            </a:r>
            <a:r>
              <a:rPr lang="fr-CA" altLang="fr-FR" sz="1400" b="0" dirty="0"/>
              <a:t>et la </a:t>
            </a:r>
            <a:r>
              <a:rPr lang="fr-CA" altLang="fr-FR" sz="1400" b="0" i="1" dirty="0"/>
              <a:t>veine iliaque externe</a:t>
            </a:r>
            <a:r>
              <a:rPr lang="fr-CA" altLang="fr-FR" sz="1400" b="0" dirty="0"/>
              <a:t>, et se déverse dans la veine cave inférieure.</a:t>
            </a:r>
          </a:p>
          <a:p>
            <a:pPr>
              <a:spcBef>
                <a:spcPts val="1200"/>
              </a:spcBef>
              <a:defRPr/>
            </a:pPr>
            <a:r>
              <a:rPr lang="fr-CA" altLang="fr-FR" sz="1400" u="sng" dirty="0"/>
              <a:t>Veines superficielles</a:t>
            </a:r>
            <a:r>
              <a:rPr lang="fr-CA" altLang="fr-FR" sz="1400" dirty="0"/>
              <a:t> :</a:t>
            </a:r>
          </a:p>
          <a:p>
            <a:pPr marL="174625" indent="-174625">
              <a:spcBef>
                <a:spcPts val="300"/>
              </a:spcBef>
              <a:buSzPct val="120000"/>
              <a:buFont typeface="Arial" charset="0"/>
              <a:buChar char="•"/>
              <a:defRPr/>
            </a:pPr>
            <a:r>
              <a:rPr lang="fr-CA" altLang="fr-FR" sz="1400" i="1" dirty="0"/>
              <a:t>Veines grande et petite saphènes</a:t>
            </a:r>
            <a:endParaRPr lang="fr-CA" altLang="fr-FR" sz="1400" b="0" dirty="0"/>
          </a:p>
          <a:p>
            <a:pPr marL="447675" lvl="1" indent="-273050">
              <a:buFont typeface="Wingdings" pitchFamily="2" charset="2"/>
              <a:buChar char="Ø"/>
              <a:defRPr/>
            </a:pPr>
            <a:r>
              <a:rPr lang="fr-CA" altLang="fr-FR" sz="1400" b="0" dirty="0"/>
              <a:t>Prennent naissance dans le pied pour rejoindre la veine poplitée (petite saphène) ou la veine fémorale dans le bassin (grande saphène).</a:t>
            </a:r>
          </a:p>
          <a:p>
            <a:pPr marL="447675" lvl="1" indent="-273050">
              <a:buFont typeface="Wingdings" pitchFamily="2" charset="2"/>
              <a:buChar char="Ø"/>
              <a:defRPr/>
            </a:pPr>
            <a:r>
              <a:rPr lang="fr-CA" altLang="fr-FR" sz="1400" b="0" dirty="0"/>
              <a:t>La </a:t>
            </a:r>
            <a:r>
              <a:rPr lang="fr-CA" altLang="fr-FR" sz="1400" i="1" dirty="0"/>
              <a:t>veine grande saphène </a:t>
            </a:r>
            <a:r>
              <a:rPr lang="fr-CA" altLang="fr-FR" sz="1400" b="0" dirty="0"/>
              <a:t>est la plus grande veine de l'organisme.</a:t>
            </a:r>
          </a:p>
        </p:txBody>
      </p:sp>
      <p:pic>
        <p:nvPicPr>
          <p:cNvPr id="32771" name="Picture 144" descr="figure_19_30_unlabel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53" t="861" r="21957" b="2750"/>
          <a:stretch>
            <a:fillRect/>
          </a:stretch>
        </p:blipFill>
        <p:spPr bwMode="auto">
          <a:xfrm>
            <a:off x="5299075" y="304800"/>
            <a:ext cx="1728788" cy="639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57"/>
          <p:cNvSpPr>
            <a:spLocks noChangeArrowheads="1"/>
          </p:cNvSpPr>
          <p:nvPr/>
        </p:nvSpPr>
        <p:spPr bwMode="auto">
          <a:xfrm>
            <a:off x="4916488" y="3346450"/>
            <a:ext cx="950912" cy="26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5000"/>
              </a:lnSpc>
            </a:pPr>
            <a:r>
              <a:rPr lang="fr-CA" altLang="fr-FR">
                <a:solidFill>
                  <a:srgbClr val="0000FF"/>
                </a:solidFill>
              </a:rPr>
              <a:t>V. poplitée</a:t>
            </a:r>
          </a:p>
        </p:txBody>
      </p:sp>
      <p:sp>
        <p:nvSpPr>
          <p:cNvPr id="32773" name="Rectangle 58"/>
          <p:cNvSpPr>
            <a:spLocks noChangeArrowheads="1"/>
          </p:cNvSpPr>
          <p:nvPr/>
        </p:nvSpPr>
        <p:spPr bwMode="auto">
          <a:xfrm>
            <a:off x="4991100" y="3582988"/>
            <a:ext cx="91757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fr-CA" altLang="fr-FR">
                <a:solidFill>
                  <a:srgbClr val="0000FF"/>
                </a:solidFill>
              </a:rPr>
              <a:t>Veine petite saphène</a:t>
            </a:r>
          </a:p>
        </p:txBody>
      </p:sp>
      <p:sp>
        <p:nvSpPr>
          <p:cNvPr id="32774" name="Rectangle 60"/>
          <p:cNvSpPr>
            <a:spLocks noChangeArrowheads="1"/>
          </p:cNvSpPr>
          <p:nvPr/>
        </p:nvSpPr>
        <p:spPr bwMode="auto">
          <a:xfrm>
            <a:off x="4918075" y="4495800"/>
            <a:ext cx="955675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5000"/>
              </a:lnSpc>
            </a:pPr>
            <a:r>
              <a:rPr lang="fr-CA" altLang="fr-FR">
                <a:solidFill>
                  <a:srgbClr val="0000FF"/>
                </a:solidFill>
              </a:rPr>
              <a:t>V. tibiale antérieure</a:t>
            </a:r>
          </a:p>
        </p:txBody>
      </p:sp>
      <p:sp>
        <p:nvSpPr>
          <p:cNvPr id="32775" name="Rectangle 64"/>
          <p:cNvSpPr>
            <a:spLocks noChangeArrowheads="1"/>
          </p:cNvSpPr>
          <p:nvPr/>
        </p:nvSpPr>
        <p:spPr bwMode="auto">
          <a:xfrm>
            <a:off x="7526338" y="636587"/>
            <a:ext cx="1617662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dirty="0">
                <a:solidFill>
                  <a:srgbClr val="0000FF"/>
                </a:solidFill>
              </a:rPr>
              <a:t>V. iliaque commune</a:t>
            </a:r>
          </a:p>
        </p:txBody>
      </p:sp>
      <p:sp>
        <p:nvSpPr>
          <p:cNvPr id="32776" name="Rectangle 65"/>
          <p:cNvSpPr>
            <a:spLocks noChangeArrowheads="1"/>
          </p:cNvSpPr>
          <p:nvPr/>
        </p:nvSpPr>
        <p:spPr bwMode="auto">
          <a:xfrm>
            <a:off x="7526338" y="911225"/>
            <a:ext cx="14049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dirty="0">
                <a:solidFill>
                  <a:srgbClr val="0000FF"/>
                </a:solidFill>
              </a:rPr>
              <a:t>V. iliaque interne</a:t>
            </a:r>
          </a:p>
        </p:txBody>
      </p:sp>
      <p:sp>
        <p:nvSpPr>
          <p:cNvPr id="32777" name="Rectangle 66"/>
          <p:cNvSpPr>
            <a:spLocks noChangeArrowheads="1"/>
          </p:cNvSpPr>
          <p:nvPr/>
        </p:nvSpPr>
        <p:spPr bwMode="auto">
          <a:xfrm>
            <a:off x="7526338" y="1111250"/>
            <a:ext cx="14366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dirty="0">
                <a:solidFill>
                  <a:srgbClr val="0000FF"/>
                </a:solidFill>
              </a:rPr>
              <a:t>V. iliaque externe</a:t>
            </a:r>
          </a:p>
        </p:txBody>
      </p:sp>
      <p:sp>
        <p:nvSpPr>
          <p:cNvPr id="32778" name="Rectangle 67"/>
          <p:cNvSpPr>
            <a:spLocks noChangeArrowheads="1"/>
          </p:cNvSpPr>
          <p:nvPr/>
        </p:nvSpPr>
        <p:spPr bwMode="auto">
          <a:xfrm>
            <a:off x="7529513" y="1460500"/>
            <a:ext cx="13843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b="0" dirty="0"/>
              <a:t>Ligament inguinal</a:t>
            </a:r>
          </a:p>
        </p:txBody>
      </p:sp>
      <p:sp>
        <p:nvSpPr>
          <p:cNvPr id="32779" name="Rectangle 68"/>
          <p:cNvSpPr>
            <a:spLocks noChangeArrowheads="1"/>
          </p:cNvSpPr>
          <p:nvPr/>
        </p:nvSpPr>
        <p:spPr bwMode="auto">
          <a:xfrm>
            <a:off x="7531100" y="1876425"/>
            <a:ext cx="99853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dirty="0">
                <a:solidFill>
                  <a:srgbClr val="0000FF"/>
                </a:solidFill>
              </a:rPr>
              <a:t>V. fémorale</a:t>
            </a:r>
          </a:p>
        </p:txBody>
      </p:sp>
      <p:sp>
        <p:nvSpPr>
          <p:cNvPr id="32780" name="Rectangle 69"/>
          <p:cNvSpPr>
            <a:spLocks noChangeArrowheads="1"/>
          </p:cNvSpPr>
          <p:nvPr/>
        </p:nvSpPr>
        <p:spPr bwMode="auto">
          <a:xfrm>
            <a:off x="7245350" y="2224088"/>
            <a:ext cx="1822450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5000"/>
              </a:lnSpc>
            </a:pPr>
            <a:r>
              <a:rPr lang="fr-CA" altLang="fr-FR" dirty="0">
                <a:solidFill>
                  <a:srgbClr val="0000FF"/>
                </a:solidFill>
              </a:rPr>
              <a:t>Veine grande saphène (superficielle)</a:t>
            </a:r>
          </a:p>
        </p:txBody>
      </p:sp>
      <p:sp>
        <p:nvSpPr>
          <p:cNvPr id="32781" name="Line 117"/>
          <p:cNvSpPr>
            <a:spLocks noChangeShapeType="1"/>
          </p:cNvSpPr>
          <p:nvPr/>
        </p:nvSpPr>
        <p:spPr bwMode="auto">
          <a:xfrm flipV="1">
            <a:off x="5803900" y="3486150"/>
            <a:ext cx="434975" cy="14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32782" name="Freeform 118"/>
          <p:cNvSpPr>
            <a:spLocks/>
          </p:cNvSpPr>
          <p:nvPr/>
        </p:nvSpPr>
        <p:spPr bwMode="auto">
          <a:xfrm>
            <a:off x="5553075" y="3727450"/>
            <a:ext cx="403225" cy="384175"/>
          </a:xfrm>
          <a:custGeom>
            <a:avLst/>
            <a:gdLst>
              <a:gd name="T0" fmla="*/ 0 w 346"/>
              <a:gd name="T1" fmla="*/ 0 h 184"/>
              <a:gd name="T2" fmla="*/ 2147483647 w 346"/>
              <a:gd name="T3" fmla="*/ 0 h 184"/>
              <a:gd name="T4" fmla="*/ 2147483647 w 346"/>
              <a:gd name="T5" fmla="*/ 2147483647 h 184"/>
              <a:gd name="T6" fmla="*/ 0 60000 65536"/>
              <a:gd name="T7" fmla="*/ 0 60000 65536"/>
              <a:gd name="T8" fmla="*/ 0 60000 65536"/>
              <a:gd name="T9" fmla="*/ 0 w 346"/>
              <a:gd name="T10" fmla="*/ 0 h 184"/>
              <a:gd name="T11" fmla="*/ 346 w 346"/>
              <a:gd name="T12" fmla="*/ 184 h 1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6" h="184">
                <a:moveTo>
                  <a:pt x="0" y="0"/>
                </a:moveTo>
                <a:lnTo>
                  <a:pt x="186" y="0"/>
                </a:lnTo>
                <a:lnTo>
                  <a:pt x="346" y="184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32783" name="Line 120"/>
          <p:cNvSpPr>
            <a:spLocks noChangeShapeType="1"/>
          </p:cNvSpPr>
          <p:nvPr/>
        </p:nvSpPr>
        <p:spPr bwMode="auto">
          <a:xfrm flipV="1">
            <a:off x="5699125" y="4619625"/>
            <a:ext cx="384175" cy="7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32784" name="Line 126"/>
          <p:cNvSpPr>
            <a:spLocks noChangeShapeType="1"/>
          </p:cNvSpPr>
          <p:nvPr/>
        </p:nvSpPr>
        <p:spPr bwMode="auto">
          <a:xfrm>
            <a:off x="6769100" y="762000"/>
            <a:ext cx="81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32785" name="Line 127"/>
          <p:cNvSpPr>
            <a:spLocks noChangeShapeType="1"/>
          </p:cNvSpPr>
          <p:nvPr/>
        </p:nvSpPr>
        <p:spPr bwMode="auto">
          <a:xfrm>
            <a:off x="6721475" y="1054100"/>
            <a:ext cx="860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32786" name="Freeform 128"/>
          <p:cNvSpPr>
            <a:spLocks/>
          </p:cNvSpPr>
          <p:nvPr/>
        </p:nvSpPr>
        <p:spPr bwMode="auto">
          <a:xfrm>
            <a:off x="6604000" y="1092200"/>
            <a:ext cx="981075" cy="158750"/>
          </a:xfrm>
          <a:custGeom>
            <a:avLst/>
            <a:gdLst>
              <a:gd name="T0" fmla="*/ 0 w 618"/>
              <a:gd name="T1" fmla="*/ 0 h 100"/>
              <a:gd name="T2" fmla="*/ 2147483647 w 618"/>
              <a:gd name="T3" fmla="*/ 2147483647 h 100"/>
              <a:gd name="T4" fmla="*/ 2147483647 w 618"/>
              <a:gd name="T5" fmla="*/ 2147483647 h 100"/>
              <a:gd name="T6" fmla="*/ 0 60000 65536"/>
              <a:gd name="T7" fmla="*/ 0 60000 65536"/>
              <a:gd name="T8" fmla="*/ 0 60000 65536"/>
              <a:gd name="T9" fmla="*/ 0 w 618"/>
              <a:gd name="T10" fmla="*/ 0 h 100"/>
              <a:gd name="T11" fmla="*/ 618 w 618"/>
              <a:gd name="T12" fmla="*/ 100 h 1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18" h="100">
                <a:moveTo>
                  <a:pt x="0" y="0"/>
                </a:moveTo>
                <a:lnTo>
                  <a:pt x="118" y="98"/>
                </a:lnTo>
                <a:lnTo>
                  <a:pt x="618" y="10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32787" name="Freeform 129"/>
          <p:cNvSpPr>
            <a:spLocks/>
          </p:cNvSpPr>
          <p:nvPr/>
        </p:nvSpPr>
        <p:spPr bwMode="auto">
          <a:xfrm>
            <a:off x="6588125" y="1231900"/>
            <a:ext cx="993775" cy="374650"/>
          </a:xfrm>
          <a:custGeom>
            <a:avLst/>
            <a:gdLst>
              <a:gd name="T0" fmla="*/ 0 w 626"/>
              <a:gd name="T1" fmla="*/ 0 h 236"/>
              <a:gd name="T2" fmla="*/ 2147483647 w 626"/>
              <a:gd name="T3" fmla="*/ 2147483647 h 236"/>
              <a:gd name="T4" fmla="*/ 2147483647 w 626"/>
              <a:gd name="T5" fmla="*/ 2147483647 h 236"/>
              <a:gd name="T6" fmla="*/ 0 60000 65536"/>
              <a:gd name="T7" fmla="*/ 0 60000 65536"/>
              <a:gd name="T8" fmla="*/ 0 60000 65536"/>
              <a:gd name="T9" fmla="*/ 0 w 626"/>
              <a:gd name="T10" fmla="*/ 0 h 236"/>
              <a:gd name="T11" fmla="*/ 626 w 626"/>
              <a:gd name="T12" fmla="*/ 236 h 2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26" h="236">
                <a:moveTo>
                  <a:pt x="0" y="0"/>
                </a:moveTo>
                <a:lnTo>
                  <a:pt x="74" y="234"/>
                </a:lnTo>
                <a:lnTo>
                  <a:pt x="626" y="236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32788" name="Line 130"/>
          <p:cNvSpPr>
            <a:spLocks noChangeShapeType="1"/>
          </p:cNvSpPr>
          <p:nvPr/>
        </p:nvSpPr>
        <p:spPr bwMode="auto">
          <a:xfrm>
            <a:off x="6318250" y="2016125"/>
            <a:ext cx="1254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32789" name="Line 131"/>
          <p:cNvSpPr>
            <a:spLocks noChangeShapeType="1"/>
          </p:cNvSpPr>
          <p:nvPr/>
        </p:nvSpPr>
        <p:spPr bwMode="auto">
          <a:xfrm>
            <a:off x="6553200" y="2346325"/>
            <a:ext cx="688975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32790" name="Rectangle 104"/>
          <p:cNvSpPr>
            <a:spLocks noChangeArrowheads="1"/>
          </p:cNvSpPr>
          <p:nvPr/>
        </p:nvSpPr>
        <p:spPr bwMode="auto">
          <a:xfrm>
            <a:off x="5394325" y="6496050"/>
            <a:ext cx="2286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CA" altLang="fr-FR"/>
          </a:p>
        </p:txBody>
      </p:sp>
      <p:sp>
        <p:nvSpPr>
          <p:cNvPr id="32791" name="Rectangle 105"/>
          <p:cNvSpPr>
            <a:spLocks noChangeArrowheads="1"/>
          </p:cNvSpPr>
          <p:nvPr/>
        </p:nvSpPr>
        <p:spPr bwMode="auto">
          <a:xfrm>
            <a:off x="7146925" y="6540500"/>
            <a:ext cx="304800" cy="152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CA" altLang="fr-FR"/>
          </a:p>
        </p:txBody>
      </p:sp>
      <p:sp>
        <p:nvSpPr>
          <p:cNvPr id="32792" name="Title 1"/>
          <p:cNvSpPr txBox="1">
            <a:spLocks/>
          </p:cNvSpPr>
          <p:nvPr/>
        </p:nvSpPr>
        <p:spPr bwMode="auto">
          <a:xfrm>
            <a:off x="36513" y="57150"/>
            <a:ext cx="59197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00" rIns="72000"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273050" indent="-27305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lvl="2">
              <a:spcBef>
                <a:spcPct val="50000"/>
              </a:spcBef>
            </a:pPr>
            <a:r>
              <a:rPr lang="en-US" altLang="fr-FR" sz="2000" dirty="0">
                <a:cs typeface="Arial" charset="0"/>
              </a:rPr>
              <a:t>e)	</a:t>
            </a:r>
            <a:r>
              <a:rPr lang="fr-CA" altLang="fr-FR" sz="2000" u="sng" dirty="0">
                <a:cs typeface="Arial" charset="0"/>
              </a:rPr>
              <a:t>Veines du bassin et des membres inférieurs</a:t>
            </a:r>
            <a:endParaRPr lang="en-US" altLang="fr-FR" sz="2000" u="sng" dirty="0">
              <a:cs typeface="Arial" charset="0"/>
            </a:endParaRPr>
          </a:p>
        </p:txBody>
      </p:sp>
      <p:sp>
        <p:nvSpPr>
          <p:cNvPr id="32793" name="Rectangle 60"/>
          <p:cNvSpPr>
            <a:spLocks noChangeArrowheads="1"/>
          </p:cNvSpPr>
          <p:nvPr/>
        </p:nvSpPr>
        <p:spPr bwMode="auto">
          <a:xfrm>
            <a:off x="6645275" y="4054475"/>
            <a:ext cx="1050925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5000"/>
              </a:lnSpc>
            </a:pPr>
            <a:r>
              <a:rPr lang="fr-CA" altLang="fr-FR">
                <a:solidFill>
                  <a:srgbClr val="0000FF"/>
                </a:solidFill>
              </a:rPr>
              <a:t>V. tibiale postérieure</a:t>
            </a:r>
          </a:p>
        </p:txBody>
      </p:sp>
      <p:sp>
        <p:nvSpPr>
          <p:cNvPr id="32794" name="Line 120"/>
          <p:cNvSpPr>
            <a:spLocks noChangeShapeType="1"/>
          </p:cNvSpPr>
          <p:nvPr/>
        </p:nvSpPr>
        <p:spPr bwMode="auto">
          <a:xfrm flipV="1">
            <a:off x="6219825" y="4179888"/>
            <a:ext cx="384175" cy="79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32795" name="Rectangle 18"/>
          <p:cNvSpPr>
            <a:spLocks noGrp="1" noChangeArrowheads="1"/>
          </p:cNvSpPr>
          <p:nvPr>
            <p:ph type="title" idx="4294967295"/>
          </p:nvPr>
        </p:nvSpPr>
        <p:spPr>
          <a:xfrm>
            <a:off x="7242175" y="6096000"/>
            <a:ext cx="1808163" cy="276225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fr-CA" altLang="fr-FR" sz="1200" dirty="0">
                <a:solidFill>
                  <a:srgbClr val="0000FF"/>
                </a:solidFill>
              </a:rPr>
              <a:t>Figure 19.32b</a:t>
            </a:r>
            <a:endParaRPr lang="fr-CA" altLang="fr-FR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 descr="figure_19_26a_unlabel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62"/>
          <a:stretch>
            <a:fillRect/>
          </a:stretch>
        </p:blipFill>
        <p:spPr bwMode="auto">
          <a:xfrm>
            <a:off x="2863850" y="100013"/>
            <a:ext cx="5780088" cy="6430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5" name="Rectangle 18"/>
          <p:cNvSpPr>
            <a:spLocks noGrp="1" noChangeArrowheads="1"/>
          </p:cNvSpPr>
          <p:nvPr>
            <p:ph type="title" idx="4294967295"/>
          </p:nvPr>
        </p:nvSpPr>
        <p:spPr>
          <a:xfrm>
            <a:off x="128588" y="5817742"/>
            <a:ext cx="3732212" cy="442912"/>
          </a:xfrm>
          <a:noFill/>
        </p:spPr>
        <p:txBody>
          <a:bodyPr/>
          <a:lstStyle/>
          <a:p>
            <a:pPr eaLnBrk="1" hangingPunct="1"/>
            <a:r>
              <a:rPr lang="fr-CA" altLang="fr-FR" sz="1200" dirty="0">
                <a:solidFill>
                  <a:srgbClr val="0000FF"/>
                </a:solidFill>
              </a:rPr>
              <a:t>Figure 19.28a  Principales veines de la circulation systémique.</a:t>
            </a:r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2882900" y="174625"/>
            <a:ext cx="7556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/>
              <a:t>Veines du membre supérieur droit</a:t>
            </a:r>
          </a:p>
        </p:txBody>
      </p:sp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3627438" y="125413"/>
            <a:ext cx="908050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/>
              <a:t>V. jugulaire externe droite</a:t>
            </a:r>
          </a:p>
          <a:p>
            <a:r>
              <a:rPr lang="fr-CA" altLang="fr-FR" sz="700"/>
              <a:t>– partie superficielle de la tête et du cou</a:t>
            </a:r>
          </a:p>
        </p:txBody>
      </p:sp>
      <p:sp>
        <p:nvSpPr>
          <p:cNvPr id="33798" name="Rectangle 6"/>
          <p:cNvSpPr>
            <a:spLocks noChangeArrowheads="1"/>
          </p:cNvSpPr>
          <p:nvPr/>
        </p:nvSpPr>
        <p:spPr bwMode="auto">
          <a:xfrm>
            <a:off x="4475163" y="125413"/>
            <a:ext cx="927100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/>
              <a:t>V. vertébrale droite</a:t>
            </a:r>
          </a:p>
          <a:p>
            <a:r>
              <a:rPr lang="fr-CA" altLang="fr-FR" sz="700"/>
              <a:t>– moelle épinière et vertèbres cervicales</a:t>
            </a:r>
          </a:p>
        </p:txBody>
      </p:sp>
      <p:sp>
        <p:nvSpPr>
          <p:cNvPr id="33799" name="Rectangle 7"/>
          <p:cNvSpPr>
            <a:spLocks noChangeArrowheads="1"/>
          </p:cNvSpPr>
          <p:nvPr/>
        </p:nvSpPr>
        <p:spPr bwMode="auto">
          <a:xfrm>
            <a:off x="5416550" y="234950"/>
            <a:ext cx="112395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/>
              <a:t>Sinus de la dure-mère</a:t>
            </a:r>
          </a:p>
        </p:txBody>
      </p:sp>
      <p:sp>
        <p:nvSpPr>
          <p:cNvPr id="33800" name="Rectangle 8"/>
          <p:cNvSpPr>
            <a:spLocks noChangeArrowheads="1"/>
          </p:cNvSpPr>
          <p:nvPr/>
        </p:nvSpPr>
        <p:spPr bwMode="auto">
          <a:xfrm>
            <a:off x="2914650" y="1135063"/>
            <a:ext cx="782638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/>
              <a:t>V. axillaire droite</a:t>
            </a:r>
          </a:p>
        </p:txBody>
      </p:sp>
      <p:sp>
        <p:nvSpPr>
          <p:cNvPr id="33801" name="Rectangle 9"/>
          <p:cNvSpPr>
            <a:spLocks noChangeArrowheads="1"/>
          </p:cNvSpPr>
          <p:nvPr/>
        </p:nvSpPr>
        <p:spPr bwMode="auto">
          <a:xfrm>
            <a:off x="3576638" y="981075"/>
            <a:ext cx="105092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8000"/>
              </a:lnSpc>
            </a:pPr>
            <a:r>
              <a:rPr lang="fr-CA" altLang="fr-FR" sz="700"/>
              <a:t>V. subclavière droite</a:t>
            </a:r>
          </a:p>
          <a:p>
            <a:pPr>
              <a:lnSpc>
                <a:spcPct val="98000"/>
              </a:lnSpc>
            </a:pPr>
            <a:r>
              <a:rPr lang="fr-CA" altLang="fr-FR" sz="700"/>
              <a:t>– tête et cou (côté droit) et membre supérieur</a:t>
            </a:r>
          </a:p>
        </p:txBody>
      </p:sp>
      <p:sp>
        <p:nvSpPr>
          <p:cNvPr id="33802" name="Rectangle 10"/>
          <p:cNvSpPr>
            <a:spLocks noChangeArrowheads="1"/>
          </p:cNvSpPr>
          <p:nvPr/>
        </p:nvSpPr>
        <p:spPr bwMode="auto">
          <a:xfrm>
            <a:off x="5373688" y="719138"/>
            <a:ext cx="11715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/>
              <a:t>V. jugulaire interne droite</a:t>
            </a:r>
          </a:p>
          <a:p>
            <a:r>
              <a:rPr lang="fr-CA" altLang="fr-FR" sz="700"/>
              <a:t>– sinus de la dure-mère (encéphale)</a:t>
            </a:r>
          </a:p>
        </p:txBody>
      </p:sp>
      <p:sp>
        <p:nvSpPr>
          <p:cNvPr id="33803" name="Rectangle 11"/>
          <p:cNvSpPr>
            <a:spLocks noChangeArrowheads="1"/>
          </p:cNvSpPr>
          <p:nvPr/>
        </p:nvSpPr>
        <p:spPr bwMode="auto">
          <a:xfrm>
            <a:off x="4559300" y="1590675"/>
            <a:ext cx="1728788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/>
              <a:t>V. brachiocéphalique droite</a:t>
            </a:r>
          </a:p>
          <a:p>
            <a:r>
              <a:rPr lang="fr-CA" altLang="fr-FR" sz="700"/>
              <a:t>– côté droit de la tête et membre supérieur droit</a:t>
            </a:r>
          </a:p>
        </p:txBody>
      </p:sp>
      <p:sp>
        <p:nvSpPr>
          <p:cNvPr id="33804" name="Rectangle 12"/>
          <p:cNvSpPr>
            <a:spLocks noChangeArrowheads="1"/>
          </p:cNvSpPr>
          <p:nvPr/>
        </p:nvSpPr>
        <p:spPr bwMode="auto">
          <a:xfrm>
            <a:off x="6710363" y="1239838"/>
            <a:ext cx="1527175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/>
              <a:t>Mêmes tributaires que la veine brachiocéphalique droite</a:t>
            </a:r>
          </a:p>
        </p:txBody>
      </p:sp>
      <p:sp>
        <p:nvSpPr>
          <p:cNvPr id="33805" name="Rectangle 13"/>
          <p:cNvSpPr>
            <a:spLocks noChangeArrowheads="1"/>
          </p:cNvSpPr>
          <p:nvPr/>
        </p:nvSpPr>
        <p:spPr bwMode="auto">
          <a:xfrm>
            <a:off x="6742113" y="1593850"/>
            <a:ext cx="190817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/>
              <a:t>V. brachiocéphalique gauche</a:t>
            </a:r>
          </a:p>
          <a:p>
            <a:r>
              <a:rPr lang="fr-CA" altLang="fr-FR" sz="700"/>
              <a:t>– côté gauche de la tête et membre supérieur gauche</a:t>
            </a:r>
          </a:p>
        </p:txBody>
      </p:sp>
      <p:sp>
        <p:nvSpPr>
          <p:cNvPr id="33806" name="Rectangle 14"/>
          <p:cNvSpPr>
            <a:spLocks noChangeArrowheads="1"/>
          </p:cNvSpPr>
          <p:nvPr/>
        </p:nvSpPr>
        <p:spPr bwMode="auto">
          <a:xfrm>
            <a:off x="5499100" y="1985963"/>
            <a:ext cx="20478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/>
              <a:t>V. cave supérieure</a:t>
            </a:r>
          </a:p>
          <a:p>
            <a:r>
              <a:rPr lang="fr-CA" altLang="fr-FR" sz="700"/>
              <a:t>– de la jonction des veines brachiocéphaliques, derrière le manubrium sternal, jusqu’à l’oreillette droite</a:t>
            </a:r>
          </a:p>
        </p:txBody>
      </p:sp>
      <p:sp>
        <p:nvSpPr>
          <p:cNvPr id="33807" name="Rectangle 15"/>
          <p:cNvSpPr>
            <a:spLocks noChangeArrowheads="1"/>
          </p:cNvSpPr>
          <p:nvPr/>
        </p:nvSpPr>
        <p:spPr bwMode="auto">
          <a:xfrm>
            <a:off x="7516813" y="1978025"/>
            <a:ext cx="9652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/>
              <a:t>Réseau azygos</a:t>
            </a:r>
          </a:p>
          <a:p>
            <a:r>
              <a:rPr lang="fr-CA" altLang="fr-FR" sz="700"/>
              <a:t>– draine la majeure partie du thorax</a:t>
            </a:r>
          </a:p>
        </p:txBody>
      </p:sp>
      <p:sp>
        <p:nvSpPr>
          <p:cNvPr id="33808" name="Rectangle 16"/>
          <p:cNvSpPr>
            <a:spLocks noChangeArrowheads="1"/>
          </p:cNvSpPr>
          <p:nvPr/>
        </p:nvSpPr>
        <p:spPr bwMode="auto">
          <a:xfrm>
            <a:off x="6045200" y="2532063"/>
            <a:ext cx="852488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/>
              <a:t>Oreillette droite</a:t>
            </a:r>
          </a:p>
        </p:txBody>
      </p:sp>
      <p:sp>
        <p:nvSpPr>
          <p:cNvPr id="33809" name="Rectangle 17"/>
          <p:cNvSpPr>
            <a:spLocks noChangeArrowheads="1"/>
          </p:cNvSpPr>
          <p:nvPr/>
        </p:nvSpPr>
        <p:spPr bwMode="auto">
          <a:xfrm>
            <a:off x="5373688" y="2782888"/>
            <a:ext cx="701675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 i="1"/>
              <a:t>Diaphragme</a:t>
            </a:r>
          </a:p>
        </p:txBody>
      </p:sp>
      <p:sp>
        <p:nvSpPr>
          <p:cNvPr id="33810" name="Rectangle 18"/>
          <p:cNvSpPr>
            <a:spLocks noChangeArrowheads="1"/>
          </p:cNvSpPr>
          <p:nvPr/>
        </p:nvSpPr>
        <p:spPr bwMode="auto">
          <a:xfrm>
            <a:off x="5676900" y="3008313"/>
            <a:ext cx="19065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/>
              <a:t>V. cave inférieure</a:t>
            </a:r>
          </a:p>
          <a:p>
            <a:r>
              <a:rPr lang="fr-CA" altLang="fr-FR" sz="700"/>
              <a:t>– de la jonction des veines iliaques communes, à la hauteur de L</a:t>
            </a:r>
            <a:r>
              <a:rPr lang="fr-CA" altLang="fr-FR" sz="700" baseline="-25000"/>
              <a:t>5,</a:t>
            </a:r>
            <a:r>
              <a:rPr lang="fr-CA" altLang="fr-FR" sz="700"/>
              <a:t> jusqu’à l’oreillette droite</a:t>
            </a:r>
          </a:p>
        </p:txBody>
      </p:sp>
      <p:sp>
        <p:nvSpPr>
          <p:cNvPr id="33811" name="Rectangle 19"/>
          <p:cNvSpPr>
            <a:spLocks noChangeArrowheads="1"/>
          </p:cNvSpPr>
          <p:nvPr/>
        </p:nvSpPr>
        <p:spPr bwMode="auto">
          <a:xfrm>
            <a:off x="6745288" y="3560763"/>
            <a:ext cx="1295400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/>
              <a:t>V. hépatiques droite, gauche et moyenne</a:t>
            </a:r>
          </a:p>
          <a:p>
            <a:r>
              <a:rPr lang="fr-CA" altLang="fr-FR" sz="700"/>
              <a:t>– foie</a:t>
            </a:r>
          </a:p>
        </p:txBody>
      </p:sp>
      <p:sp>
        <p:nvSpPr>
          <p:cNvPr id="33812" name="Rectangle 20"/>
          <p:cNvSpPr>
            <a:spLocks noChangeArrowheads="1"/>
          </p:cNvSpPr>
          <p:nvPr/>
        </p:nvSpPr>
        <p:spPr bwMode="auto">
          <a:xfrm>
            <a:off x="6745288" y="4051300"/>
            <a:ext cx="129540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/>
              <a:t>V. rénales droite et gauche</a:t>
            </a:r>
          </a:p>
          <a:p>
            <a:r>
              <a:rPr lang="fr-CA" altLang="fr-FR" sz="700"/>
              <a:t>– rein</a:t>
            </a:r>
          </a:p>
        </p:txBody>
      </p:sp>
      <p:sp>
        <p:nvSpPr>
          <p:cNvPr id="33813" name="Rectangle 21"/>
          <p:cNvSpPr>
            <a:spLocks noChangeArrowheads="1"/>
          </p:cNvSpPr>
          <p:nvPr/>
        </p:nvSpPr>
        <p:spPr bwMode="auto">
          <a:xfrm>
            <a:off x="6745288" y="4564063"/>
            <a:ext cx="1219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/>
              <a:t>V. lombaires (quelques paires)</a:t>
            </a:r>
          </a:p>
          <a:p>
            <a:r>
              <a:rPr lang="fr-CA" altLang="fr-FR" sz="700"/>
              <a:t>– partie postérieure de la paroi abdominale</a:t>
            </a:r>
          </a:p>
        </p:txBody>
      </p:sp>
      <p:sp>
        <p:nvSpPr>
          <p:cNvPr id="33814" name="Rectangle 22"/>
          <p:cNvSpPr>
            <a:spLocks noChangeArrowheads="1"/>
          </p:cNvSpPr>
          <p:nvPr/>
        </p:nvSpPr>
        <p:spPr bwMode="auto">
          <a:xfrm>
            <a:off x="6669088" y="5289084"/>
            <a:ext cx="12287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 dirty="0"/>
              <a:t>V. iliaque commune gauche</a:t>
            </a:r>
          </a:p>
          <a:p>
            <a:r>
              <a:rPr lang="fr-CA" altLang="fr-FR" sz="700" dirty="0"/>
              <a:t>– bassin et membre inférieur gauche</a:t>
            </a:r>
          </a:p>
        </p:txBody>
      </p:sp>
      <p:sp>
        <p:nvSpPr>
          <p:cNvPr id="33815" name="Rectangle 23"/>
          <p:cNvSpPr>
            <a:spLocks noChangeArrowheads="1"/>
          </p:cNvSpPr>
          <p:nvPr/>
        </p:nvSpPr>
        <p:spPr bwMode="auto">
          <a:xfrm>
            <a:off x="7848600" y="5761038"/>
            <a:ext cx="838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/>
              <a:t>Veines du membre inférieur gauche</a:t>
            </a:r>
          </a:p>
        </p:txBody>
      </p:sp>
      <p:sp>
        <p:nvSpPr>
          <p:cNvPr id="33816" name="Rectangle 24"/>
          <p:cNvSpPr>
            <a:spLocks noChangeArrowheads="1"/>
          </p:cNvSpPr>
          <p:nvPr/>
        </p:nvSpPr>
        <p:spPr bwMode="auto">
          <a:xfrm>
            <a:off x="4354513" y="5807075"/>
            <a:ext cx="86677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/>
              <a:t>Veines du membre inférieur droit</a:t>
            </a:r>
          </a:p>
        </p:txBody>
      </p:sp>
      <p:sp>
        <p:nvSpPr>
          <p:cNvPr id="33817" name="Rectangle 25"/>
          <p:cNvSpPr>
            <a:spLocks noChangeArrowheads="1"/>
          </p:cNvSpPr>
          <p:nvPr/>
        </p:nvSpPr>
        <p:spPr bwMode="auto">
          <a:xfrm>
            <a:off x="5260975" y="5291138"/>
            <a:ext cx="11842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/>
              <a:t>V. iliaque commune droite</a:t>
            </a:r>
          </a:p>
          <a:p>
            <a:r>
              <a:rPr lang="fr-CA" altLang="fr-FR" sz="700"/>
              <a:t>– bassin et membre inférieur droit</a:t>
            </a:r>
          </a:p>
        </p:txBody>
      </p:sp>
      <p:sp>
        <p:nvSpPr>
          <p:cNvPr id="33818" name="Rectangle 26"/>
          <p:cNvSpPr>
            <a:spLocks noChangeArrowheads="1"/>
          </p:cNvSpPr>
          <p:nvPr/>
        </p:nvSpPr>
        <p:spPr bwMode="auto">
          <a:xfrm>
            <a:off x="5062538" y="4370388"/>
            <a:ext cx="1225550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 dirty="0"/>
              <a:t>V. ovarique ou testiculaire droite (la gauche se jette dans la veine rénale gauche)</a:t>
            </a:r>
          </a:p>
          <a:p>
            <a:r>
              <a:rPr lang="fr-CA" altLang="fr-FR" sz="700" dirty="0"/>
              <a:t>– ovaire ou testicule</a:t>
            </a:r>
          </a:p>
        </p:txBody>
      </p:sp>
      <p:sp>
        <p:nvSpPr>
          <p:cNvPr id="33819" name="Rectangle 27"/>
          <p:cNvSpPr>
            <a:spLocks noChangeArrowheads="1"/>
          </p:cNvSpPr>
          <p:nvPr/>
        </p:nvSpPr>
        <p:spPr bwMode="auto">
          <a:xfrm>
            <a:off x="5062538" y="3811588"/>
            <a:ext cx="1225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fr-FR" sz="700"/>
              <a:t>V. surrénale droite (la gauche se jette dans la veine rénale gauche)</a:t>
            </a:r>
          </a:p>
          <a:p>
            <a:r>
              <a:rPr lang="fr-CA" altLang="fr-FR" sz="700"/>
              <a:t>– glandes surrénales</a:t>
            </a:r>
          </a:p>
        </p:txBody>
      </p:sp>
      <p:sp>
        <p:nvSpPr>
          <p:cNvPr id="33820" name="Rectangle 29"/>
          <p:cNvSpPr>
            <a:spLocks noChangeArrowheads="1"/>
          </p:cNvSpPr>
          <p:nvPr/>
        </p:nvSpPr>
        <p:spPr bwMode="auto">
          <a:xfrm>
            <a:off x="2919413" y="6378575"/>
            <a:ext cx="1524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fr-CA" altLang="fr-FR"/>
          </a:p>
        </p:txBody>
      </p:sp>
      <p:sp>
        <p:nvSpPr>
          <p:cNvPr id="33821" name="Rectangle 29"/>
          <p:cNvSpPr>
            <a:spLocks noChangeArrowheads="1"/>
          </p:cNvSpPr>
          <p:nvPr/>
        </p:nvSpPr>
        <p:spPr bwMode="auto">
          <a:xfrm>
            <a:off x="63500" y="42863"/>
            <a:ext cx="285115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fr-CA" altLang="en-US" sz="1600"/>
              <a:t>Résumé schématique des veines de la circulation systémique</a:t>
            </a:r>
            <a:endParaRPr lang="fr-CA" altLang="fr-FR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5Lect_template">
  <a:themeElements>
    <a:clrScheme name="HA5Lect_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HA5Lect_template">
      <a:majorFont>
        <a:latin typeface="Arial"/>
        <a:ea typeface=""/>
        <a:cs typeface="Arial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HA5Lec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5Lect_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5Lect_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5Lect_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5Lect_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5Lect_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TCIG:Applications:Microsoft Office 2004:Templates:Presentations:Designs:Fossil</Template>
  <TotalTime>1763</TotalTime>
  <Words>4884</Words>
  <Application>Microsoft Office PowerPoint</Application>
  <PresentationFormat>On-screen Show (4:3)</PresentationFormat>
  <Paragraphs>721</Paragraphs>
  <Slides>35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Arial Black</vt:lpstr>
      <vt:lpstr>Verdana</vt:lpstr>
      <vt:lpstr>Wingdings</vt:lpstr>
      <vt:lpstr>HA5Lect_template</vt:lpstr>
      <vt:lpstr>Section 6.1 Anatomie des vaisseaux sanguins</vt:lpstr>
      <vt:lpstr>PowerPoint Presentation</vt:lpstr>
      <vt:lpstr>PowerPoint Presentation</vt:lpstr>
      <vt:lpstr>Figure 19.21  Circulation pulmonaire</vt:lpstr>
      <vt:lpstr>PowerPoint Presentation</vt:lpstr>
      <vt:lpstr>PowerPoint Presentation</vt:lpstr>
      <vt:lpstr>Figure 19.23b  Principales artères de la circulation systémique.</vt:lpstr>
      <vt:lpstr>PowerPoint Presentation</vt:lpstr>
      <vt:lpstr>PowerPoint Presentation</vt:lpstr>
      <vt:lpstr>Figure 19.24b    Artères de la tête et du cou, profil droit</vt:lpstr>
      <vt:lpstr>b) Artères de la tête et du cou</vt:lpstr>
      <vt:lpstr>c) Artères des membres supérieurs et du thorax</vt:lpstr>
      <vt:lpstr>c) Artères des membres supérieurs et du thorax</vt:lpstr>
      <vt:lpstr>Figure 19.26a  Représentation schématique des artères de l’abdomen.</vt:lpstr>
      <vt:lpstr>d) Artères de l’abdomen</vt:lpstr>
      <vt:lpstr>d) Artères de l’abdomen</vt:lpstr>
      <vt:lpstr>d) Artères de l’abdomen</vt:lpstr>
      <vt:lpstr>e) Artères du bassin et des membres inférieurs </vt:lpstr>
      <vt:lpstr>e) Artères du bassin et des membres inférieurs </vt:lpstr>
      <vt:lpstr>Figure 19.23a  Principales artères de la circulation systémique.</vt:lpstr>
      <vt:lpstr>6.1.3.1 Reconnaître les différences suivantes au niveau de l'organisation des veines comparativement à celle des artères.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Figure 19.29a  Résumé schématique des veines de la tête, du cou et de l’encéphale</vt:lpstr>
      <vt:lpstr>Figure 19.30b Veines du membre supérieur droit. </vt:lpstr>
      <vt:lpstr>c) Veines des membres supérieurs</vt:lpstr>
      <vt:lpstr>PowerPoint Presentation</vt:lpstr>
      <vt:lpstr>PowerPoint Presentation</vt:lpstr>
      <vt:lpstr>Figure 19.31a   Représentation schématique des veines de l’abdomen (veines du système porte hépatique en bleu).</vt:lpstr>
      <vt:lpstr>PowerPoint Presentation</vt:lpstr>
      <vt:lpstr>Figure 19.32b</vt:lpstr>
      <vt:lpstr>Figure 19.28a  Principales veines de la circulation systémique.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ANP1505 Section 6.1</dc:title>
  <dc:creator>michel.desilets@uottawa.ca</dc:creator>
  <cp:lastModifiedBy>Michel Désilets</cp:lastModifiedBy>
  <cp:revision>185</cp:revision>
  <cp:lastPrinted>2017-01-06T15:53:35Z</cp:lastPrinted>
  <dcterms:created xsi:type="dcterms:W3CDTF">2016-03-17T14:36:56Z</dcterms:created>
  <dcterms:modified xsi:type="dcterms:W3CDTF">2021-03-06T17:25:38Z</dcterms:modified>
</cp:coreProperties>
</file>