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29"/>
  </p:notesMasterIdLst>
  <p:handoutMasterIdLst>
    <p:handoutMasterId r:id="rId30"/>
  </p:handoutMasterIdLst>
  <p:sldIdLst>
    <p:sldId id="261" r:id="rId2"/>
    <p:sldId id="276" r:id="rId3"/>
    <p:sldId id="277" r:id="rId4"/>
    <p:sldId id="279" r:id="rId5"/>
    <p:sldId id="280" r:id="rId6"/>
    <p:sldId id="282" r:id="rId7"/>
    <p:sldId id="307" r:id="rId8"/>
    <p:sldId id="284" r:id="rId9"/>
    <p:sldId id="286" r:id="rId10"/>
    <p:sldId id="287" r:id="rId11"/>
    <p:sldId id="267" r:id="rId12"/>
    <p:sldId id="268" r:id="rId13"/>
    <p:sldId id="290" r:id="rId14"/>
    <p:sldId id="294" r:id="rId15"/>
    <p:sldId id="274" r:id="rId16"/>
    <p:sldId id="296" r:id="rId17"/>
    <p:sldId id="308" r:id="rId18"/>
    <p:sldId id="297" r:id="rId19"/>
    <p:sldId id="298" r:id="rId20"/>
    <p:sldId id="299" r:id="rId21"/>
    <p:sldId id="300" r:id="rId22"/>
    <p:sldId id="301" r:id="rId23"/>
    <p:sldId id="302" r:id="rId24"/>
    <p:sldId id="304" r:id="rId25"/>
    <p:sldId id="305" r:id="rId26"/>
    <p:sldId id="303" r:id="rId27"/>
    <p:sldId id="306"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99"/>
    <a:srgbClr val="E4851C"/>
    <a:srgbClr val="EAB200"/>
    <a:srgbClr val="068390"/>
    <a:srgbClr val="048F92"/>
    <a:srgbClr val="07A9B1"/>
    <a:srgbClr val="FFC5C6"/>
    <a:srgbClr val="E4E4E4"/>
    <a:srgbClr val="EBD1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05" autoAdjust="0"/>
    <p:restoredTop sz="94637" autoAdjust="0"/>
  </p:normalViewPr>
  <p:slideViewPr>
    <p:cSldViewPr snapToGrid="0">
      <p:cViewPr varScale="1">
        <p:scale>
          <a:sx n="115" d="100"/>
          <a:sy n="115" d="100"/>
        </p:scale>
        <p:origin x="224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84"/>
    </p:cViewPr>
  </p:sorterViewPr>
  <p:notesViewPr>
    <p:cSldViewPr snapToGrid="0">
      <p:cViewPr varScale="1">
        <p:scale>
          <a:sx n="92" d="100"/>
          <a:sy n="92" d="100"/>
        </p:scale>
        <p:origin x="4042"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6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fr-CA"/>
          </a:p>
        </p:txBody>
      </p:sp>
      <p:sp>
        <p:nvSpPr>
          <p:cNvPr id="55603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fr-CA"/>
          </a:p>
        </p:txBody>
      </p:sp>
      <p:sp>
        <p:nvSpPr>
          <p:cNvPr id="55603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fr-CA"/>
          </a:p>
        </p:txBody>
      </p:sp>
      <p:sp>
        <p:nvSpPr>
          <p:cNvPr id="55603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EB2DCCA-0E83-4243-B757-1CE4F56C457A}" type="slidenum">
              <a:rPr lang="fr-CA"/>
              <a:pPr/>
              <a:t>‹#›</a:t>
            </a:fld>
            <a:endParaRPr lang="fr-CA"/>
          </a:p>
        </p:txBody>
      </p:sp>
    </p:spTree>
    <p:extLst>
      <p:ext uri="{BB962C8B-B14F-4D97-AF65-F5344CB8AC3E}">
        <p14:creationId xmlns:p14="http://schemas.microsoft.com/office/powerpoint/2010/main" val="556077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09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fr-FR"/>
          </a:p>
        </p:txBody>
      </p:sp>
      <p:sp>
        <p:nvSpPr>
          <p:cNvPr id="51097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fr-FR"/>
          </a:p>
        </p:txBody>
      </p:sp>
      <p:sp>
        <p:nvSpPr>
          <p:cNvPr id="5109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098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1098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fr-FR"/>
          </a:p>
        </p:txBody>
      </p:sp>
      <p:sp>
        <p:nvSpPr>
          <p:cNvPr id="51098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FC3E9527-6BFE-44F1-857C-E866BF95FFE2}" type="slidenum">
              <a:rPr lang="fr-FR"/>
              <a:pPr/>
              <a:t>‹#›</a:t>
            </a:fld>
            <a:endParaRPr lang="fr-FR"/>
          </a:p>
        </p:txBody>
      </p:sp>
    </p:spTree>
    <p:extLst>
      <p:ext uri="{BB962C8B-B14F-4D97-AF65-F5344CB8AC3E}">
        <p14:creationId xmlns:p14="http://schemas.microsoft.com/office/powerpoint/2010/main" val="357631284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5CC814-FF77-4ADA-9B17-AED56E23AA3D}" type="slidenum">
              <a:rPr lang="fr-FR"/>
              <a:pPr/>
              <a:t>1</a:t>
            </a:fld>
            <a:endParaRPr lang="fr-FR"/>
          </a:p>
        </p:txBody>
      </p:sp>
      <p:sp>
        <p:nvSpPr>
          <p:cNvPr id="512002" name="Rectangle 2"/>
          <p:cNvSpPr>
            <a:spLocks noGrp="1" noRot="1" noChangeAspect="1" noChangeArrowheads="1" noTextEdit="1"/>
          </p:cNvSpPr>
          <p:nvPr>
            <p:ph type="sldImg"/>
          </p:nvPr>
        </p:nvSpPr>
        <p:spPr>
          <a:ln/>
        </p:spPr>
      </p:sp>
      <p:sp>
        <p:nvSpPr>
          <p:cNvPr id="51200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BD6834-9B30-4540-AA0E-080FB73BC902}" type="slidenum">
              <a:rPr lang="fr-FR"/>
              <a:pPr/>
              <a:t>2</a:t>
            </a:fld>
            <a:endParaRPr lang="fr-FR"/>
          </a:p>
        </p:txBody>
      </p:sp>
      <p:sp>
        <p:nvSpPr>
          <p:cNvPr id="557058" name="Rectangle 2"/>
          <p:cNvSpPr>
            <a:spLocks noGrp="1" noRot="1" noChangeAspec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fr-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2B4AC-2F05-47AC-BC2C-35CB5E877111}" type="slidenum">
              <a:rPr lang="fr-FR"/>
              <a:pPr/>
              <a:t>3</a:t>
            </a:fld>
            <a:endParaRPr lang="fr-FR"/>
          </a:p>
        </p:txBody>
      </p:sp>
      <p:sp>
        <p:nvSpPr>
          <p:cNvPr id="558082" name="Rectangle 2"/>
          <p:cNvSpPr>
            <a:spLocks noGrp="1" noRot="1" noChangeAspect="1" noChangeArrowheads="1" noTextEdit="1"/>
          </p:cNvSpPr>
          <p:nvPr>
            <p:ph type="sldImg"/>
          </p:nvPr>
        </p:nvSpPr>
        <p:spPr>
          <a:ln/>
        </p:spPr>
      </p:sp>
      <p:sp>
        <p:nvSpPr>
          <p:cNvPr id="55808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0277CA-32F2-4494-84D1-C660BCD6AFB7}" type="slidenum">
              <a:rPr lang="fr-FR"/>
              <a:pPr/>
              <a:t>4</a:t>
            </a:fld>
            <a:endParaRPr lang="fr-FR"/>
          </a:p>
        </p:txBody>
      </p:sp>
      <p:sp>
        <p:nvSpPr>
          <p:cNvPr id="559106" name="Rectangle 2"/>
          <p:cNvSpPr>
            <a:spLocks noGrp="1" noRot="1" noChangeAspect="1" noChangeArrowheads="1" noTextEdit="1"/>
          </p:cNvSpPr>
          <p:nvPr>
            <p:ph type="sldImg"/>
          </p:nvPr>
        </p:nvSpPr>
        <p:spPr>
          <a:ln/>
        </p:spPr>
      </p:sp>
      <p:sp>
        <p:nvSpPr>
          <p:cNvPr id="559107" name="Rectangle 3"/>
          <p:cNvSpPr>
            <a:spLocks noGrp="1" noChangeArrowheads="1"/>
          </p:cNvSpPr>
          <p:nvPr>
            <p:ph type="body" idx="1"/>
          </p:nvPr>
        </p:nvSpPr>
        <p:spPr/>
        <p:txBody>
          <a:bodyPr/>
          <a:lstStyle/>
          <a:p>
            <a:endParaRPr lang="fr-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9610D7-B714-43B1-9C2E-9630A666821A}" type="slidenum">
              <a:rPr lang="fr-FR"/>
              <a:pPr/>
              <a:t>5</a:t>
            </a:fld>
            <a:endParaRPr lang="fr-FR"/>
          </a:p>
        </p:txBody>
      </p:sp>
      <p:sp>
        <p:nvSpPr>
          <p:cNvPr id="560130" name="Rectangle 2"/>
          <p:cNvSpPr>
            <a:spLocks noGrp="1" noRot="1" noChangeAspect="1" noChangeArrowheads="1" noTextEdit="1"/>
          </p:cNvSpPr>
          <p:nvPr>
            <p:ph type="sldImg"/>
          </p:nvPr>
        </p:nvSpPr>
        <p:spPr>
          <a:ln/>
        </p:spPr>
      </p:sp>
      <p:sp>
        <p:nvSpPr>
          <p:cNvPr id="560131" name="Rectangle 3"/>
          <p:cNvSpPr>
            <a:spLocks noGrp="1" noChangeArrowheads="1"/>
          </p:cNvSpPr>
          <p:nvPr>
            <p:ph type="body" idx="1"/>
          </p:nvPr>
        </p:nvSpPr>
        <p:spPr/>
        <p:txBody>
          <a:bodyPr/>
          <a:lstStyle/>
          <a:p>
            <a:endParaRPr lang="fr-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C879AA-19F8-44FD-B2D9-B7629D8F8107}" type="slidenum">
              <a:rPr lang="fr-FR"/>
              <a:pPr/>
              <a:t>6</a:t>
            </a:fld>
            <a:endParaRPr lang="fr-FR"/>
          </a:p>
        </p:txBody>
      </p:sp>
      <p:sp>
        <p:nvSpPr>
          <p:cNvPr id="561154" name="Rectangle 2"/>
          <p:cNvSpPr>
            <a:spLocks noGrp="1" noRot="1" noChangeAspect="1" noChangeArrowheads="1" noTextEdit="1"/>
          </p:cNvSpPr>
          <p:nvPr>
            <p:ph type="sldImg"/>
          </p:nvPr>
        </p:nvSpPr>
        <p:spPr>
          <a:ln/>
        </p:spPr>
      </p:sp>
      <p:sp>
        <p:nvSpPr>
          <p:cNvPr id="561155" name="Rectangle 3"/>
          <p:cNvSpPr>
            <a:spLocks noGrp="1" noChangeArrowheads="1"/>
          </p:cNvSpPr>
          <p:nvPr>
            <p:ph type="body" idx="1"/>
          </p:nvPr>
        </p:nvSpPr>
        <p:spPr/>
        <p:txBody>
          <a:bodyPr/>
          <a:lstStyle/>
          <a:p>
            <a:endParaRPr lang="fr-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0B97BC-E271-4946-B102-1BCCA2E491D5}" type="slidenum">
              <a:rPr lang="fr-FR"/>
              <a:pPr/>
              <a:t>8</a:t>
            </a:fld>
            <a:endParaRPr lang="fr-FR"/>
          </a:p>
        </p:txBody>
      </p:sp>
      <p:sp>
        <p:nvSpPr>
          <p:cNvPr id="563202" name="Rectangle 2"/>
          <p:cNvSpPr>
            <a:spLocks noGrp="1" noRot="1" noChangeAspect="1" noChangeArrowheads="1" noTextEdit="1"/>
          </p:cNvSpPr>
          <p:nvPr>
            <p:ph type="sldImg"/>
          </p:nvPr>
        </p:nvSpPr>
        <p:spPr>
          <a:ln/>
        </p:spPr>
      </p:sp>
      <p:sp>
        <p:nvSpPr>
          <p:cNvPr id="56320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BB927B-9D5C-4882-8C11-38CF784A4CAE}" type="slidenum">
              <a:rPr lang="fr-FR"/>
              <a:pPr/>
              <a:t>9</a:t>
            </a:fld>
            <a:endParaRPr lang="fr-FR"/>
          </a:p>
        </p:txBody>
      </p:sp>
      <p:sp>
        <p:nvSpPr>
          <p:cNvPr id="565250" name="Rectangle 2"/>
          <p:cNvSpPr>
            <a:spLocks noGrp="1" noRot="1" noChangeAspect="1" noChangeArrowheads="1" noTextEdit="1"/>
          </p:cNvSpPr>
          <p:nvPr>
            <p:ph type="sldImg"/>
          </p:nvPr>
        </p:nvSpPr>
        <p:spPr>
          <a:ln/>
        </p:spPr>
      </p:sp>
      <p:sp>
        <p:nvSpPr>
          <p:cNvPr id="565251" name="Rectangle 3"/>
          <p:cNvSpPr>
            <a:spLocks noGrp="1" noChangeArrowheads="1"/>
          </p:cNvSpPr>
          <p:nvPr>
            <p:ph type="body" idx="1"/>
          </p:nvPr>
        </p:nvSpPr>
        <p:spPr/>
        <p:txBody>
          <a:bodyPr/>
          <a:lstStyle/>
          <a:p>
            <a:endParaRPr lang="fr-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CAE455-1BB9-48FA-AAB7-AEAECB416B14}" type="slidenum">
              <a:rPr lang="fr-FR"/>
              <a:pPr/>
              <a:t>10</a:t>
            </a:fld>
            <a:endParaRPr lang="fr-FR"/>
          </a:p>
        </p:txBody>
      </p:sp>
      <p:sp>
        <p:nvSpPr>
          <p:cNvPr id="566274" name="Rectangle 2"/>
          <p:cNvSpPr>
            <a:spLocks noGrp="1" noRot="1" noChangeAspect="1" noChangeArrowheads="1" noTextEdit="1"/>
          </p:cNvSpPr>
          <p:nvPr>
            <p:ph type="sldImg"/>
          </p:nvPr>
        </p:nvSpPr>
        <p:spPr>
          <a:ln/>
        </p:spPr>
      </p:sp>
      <p:sp>
        <p:nvSpPr>
          <p:cNvPr id="566275"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8B340A-CB7F-45BC-81BD-9935A28EF370}" type="slidenum">
              <a:rPr lang="fr-FR"/>
              <a:pPr/>
              <a:t>11</a:t>
            </a:fld>
            <a:endParaRPr lang="fr-FR"/>
          </a:p>
        </p:txBody>
      </p:sp>
      <p:sp>
        <p:nvSpPr>
          <p:cNvPr id="567298" name="Rectangle 2"/>
          <p:cNvSpPr>
            <a:spLocks noGrp="1" noRot="1" noChangeAspect="1" noChangeArrowheads="1" noTextEdit="1"/>
          </p:cNvSpPr>
          <p:nvPr>
            <p:ph type="sldImg"/>
          </p:nvPr>
        </p:nvSpPr>
        <p:spPr>
          <a:ln/>
        </p:spPr>
      </p:sp>
      <p:sp>
        <p:nvSpPr>
          <p:cNvPr id="567299"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238C3E-FB37-4CC5-B7B7-0F8A02E4DD5D}" type="slidenum">
              <a:rPr lang="fr-FR"/>
              <a:pPr/>
              <a:t>12</a:t>
            </a:fld>
            <a:endParaRPr lang="fr-FR"/>
          </a:p>
        </p:txBody>
      </p:sp>
      <p:sp>
        <p:nvSpPr>
          <p:cNvPr id="568322" name="Rectangle 2"/>
          <p:cNvSpPr>
            <a:spLocks noGrp="1" noRot="1" noChangeAspect="1" noChangeArrowheads="1" noTextEdit="1"/>
          </p:cNvSpPr>
          <p:nvPr>
            <p:ph type="sldImg"/>
          </p:nvPr>
        </p:nvSpPr>
        <p:spPr>
          <a:ln/>
        </p:spPr>
      </p:sp>
      <p:sp>
        <p:nvSpPr>
          <p:cNvPr id="568323" name="Rectangle 3"/>
          <p:cNvSpPr>
            <a:spLocks noGrp="1" noChangeArrowheads="1"/>
          </p:cNvSpPr>
          <p:nvPr>
            <p:ph type="body" idx="1"/>
          </p:nvPr>
        </p:nvSpPr>
        <p:spPr>
          <a:xfrm>
            <a:off x="685800" y="4343400"/>
            <a:ext cx="5831378" cy="4114800"/>
          </a:xfrm>
        </p:spPr>
        <p:txBody>
          <a:bodyPr/>
          <a:lstStyle/>
          <a:p>
            <a:pPr>
              <a:lnSpc>
                <a:spcPct val="115000"/>
              </a:lnSpc>
              <a:spcBef>
                <a:spcPts val="600"/>
              </a:spcBef>
              <a:spcAft>
                <a:spcPts val="300"/>
              </a:spcAft>
            </a:pPr>
            <a:r>
              <a:rPr lang="fr-CA" sz="1000" dirty="0">
                <a:effectLst/>
                <a:latin typeface="Calibri" panose="020F0502020204030204" pitchFamily="34" charset="0"/>
                <a:ea typeface="Calibri" panose="020F0502020204030204" pitchFamily="34" charset="0"/>
                <a:cs typeface="Times New Roman" panose="02020603050405020304" pitchFamily="18" charset="0"/>
              </a:rPr>
              <a:t>La muscarine imite les effets de l’acétylcholine en se liant aux récepteurs muscariniques qui lui sont accessibles. Puisque ces récepteurs sont principalement situés sur les effecteurs du système nerveux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parasympathique</a:t>
            </a:r>
            <a:r>
              <a:rPr lang="fr-CA" sz="1000" dirty="0">
                <a:effectLst/>
                <a:latin typeface="Calibri" panose="020F0502020204030204" pitchFamily="34" charset="0"/>
                <a:ea typeface="Calibri" panose="020F0502020204030204" pitchFamily="34" charset="0"/>
                <a:cs typeface="Times New Roman" panose="02020603050405020304" pitchFamily="18" charset="0"/>
              </a:rPr>
              <a:t> on s’attend donc à ce que les effets de la muscarine ressemblent surtout à une activité exagérée et incontrôlée de ce système. Une exception cependant: l’activation des glandes sudoripares qui est sous contrôle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sympathique</a:t>
            </a:r>
            <a:r>
              <a:rPr lang="fr-CA" sz="1000" dirty="0">
                <a:effectLst/>
                <a:latin typeface="Calibri" panose="020F0502020204030204" pitchFamily="34" charset="0"/>
                <a:ea typeface="Calibri" panose="020F0502020204030204" pitchFamily="34" charset="0"/>
                <a:cs typeface="Times New Roman" panose="02020603050405020304" pitchFamily="18" charset="0"/>
              </a:rPr>
              <a:t> mais dont les récepteurs sont muscariniques (plutôt que noradrénergiques). </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ts val="0"/>
              </a:spcBef>
              <a:spcAft>
                <a:spcPts val="100"/>
              </a:spcAft>
            </a:pPr>
            <a:r>
              <a:rPr lang="fr-CA" sz="1000" dirty="0">
                <a:effectLst/>
                <a:latin typeface="Calibri" panose="020F0502020204030204" pitchFamily="34" charset="0"/>
                <a:ea typeface="Calibri" panose="020F0502020204030204" pitchFamily="34" charset="0"/>
                <a:cs typeface="Times New Roman" panose="02020603050405020304" pitchFamily="18" charset="0"/>
              </a:rPr>
              <a:t>Les principaux symptômes de l’intoxication à la muscarine peuvent être regroupés en quatre catégories :</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a:p>
            <a:pPr marL="182563" lvl="0" indent="-182563">
              <a:lnSpc>
                <a:spcPct val="115000"/>
              </a:lnSpc>
              <a:spcBef>
                <a:spcPts val="0"/>
              </a:spcBef>
              <a:spcAft>
                <a:spcPts val="100"/>
              </a:spcAft>
              <a:buFont typeface="+mj-lt"/>
              <a:buAutoNum type="alphaLcParenR"/>
            </a:pPr>
            <a:r>
              <a:rPr lang="fr-CA" sz="1000" b="1" dirty="0">
                <a:effectLst/>
                <a:latin typeface="Calibri" panose="020F0502020204030204" pitchFamily="34" charset="0"/>
                <a:ea typeface="Calibri" panose="020F0502020204030204" pitchFamily="34" charset="0"/>
                <a:cs typeface="Times New Roman" panose="02020603050405020304" pitchFamily="18" charset="0"/>
              </a:rPr>
              <a:t>L’hypersécrétion : </a:t>
            </a:r>
            <a:r>
              <a:rPr lang="fr-CA" sz="1000" dirty="0">
                <a:effectLst/>
                <a:latin typeface="Calibri" panose="020F0502020204030204" pitchFamily="34" charset="0"/>
                <a:ea typeface="Calibri" panose="020F0502020204030204" pitchFamily="34" charset="0"/>
                <a:cs typeface="Times New Roman" panose="02020603050405020304" pitchFamily="18" charset="0"/>
              </a:rPr>
              <a:t>Ces symptômes comprennent l’hypersalivation (un excès de salive), l’hypersudation (un excès de sueur), des écoulements du nez, de larmes et de mucus dans les bronches. Tous ces symptômes sont équivalents à des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effets parasympathiques</a:t>
            </a:r>
            <a:r>
              <a:rPr lang="fr-CA" sz="1000" dirty="0">
                <a:effectLst/>
                <a:latin typeface="Calibri" panose="020F0502020204030204" pitchFamily="34" charset="0"/>
                <a:ea typeface="Calibri" panose="020F0502020204030204" pitchFamily="34" charset="0"/>
                <a:cs typeface="Times New Roman" panose="02020603050405020304" pitchFamily="18" charset="0"/>
              </a:rPr>
              <a:t>, à l’exception de la sudation qui est équivalent à une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activation sympathique</a:t>
            </a:r>
            <a:r>
              <a:rPr lang="fr-CA" sz="1000" dirty="0">
                <a:effectLst/>
                <a:latin typeface="Calibri" panose="020F0502020204030204" pitchFamily="34" charset="0"/>
                <a:ea typeface="Calibri" panose="020F0502020204030204" pitchFamily="34" charset="0"/>
                <a:cs typeface="Times New Roman" panose="02020603050405020304" pitchFamily="18" charset="0"/>
              </a:rPr>
              <a:t>.</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a:p>
            <a:pPr marL="182563" lvl="0" indent="-182563">
              <a:lnSpc>
                <a:spcPct val="115000"/>
              </a:lnSpc>
              <a:spcBef>
                <a:spcPts val="0"/>
              </a:spcBef>
              <a:spcAft>
                <a:spcPts val="100"/>
              </a:spcAft>
              <a:buFont typeface="+mj-lt"/>
              <a:buAutoNum type="alphaLcParenR"/>
            </a:pPr>
            <a:r>
              <a:rPr lang="fr-CA" sz="1000" b="1" dirty="0">
                <a:effectLst/>
                <a:latin typeface="Calibri" panose="020F0502020204030204" pitchFamily="34" charset="0"/>
                <a:ea typeface="Calibri" panose="020F0502020204030204" pitchFamily="34" charset="0"/>
                <a:cs typeface="Times New Roman" panose="02020603050405020304" pitchFamily="18" charset="0"/>
              </a:rPr>
              <a:t>Les troubles digestifs et urinaires :</a:t>
            </a:r>
            <a:r>
              <a:rPr lang="fr-CA" sz="1000" dirty="0">
                <a:effectLst/>
                <a:latin typeface="Calibri" panose="020F0502020204030204" pitchFamily="34" charset="0"/>
                <a:ea typeface="Calibri" panose="020F0502020204030204" pitchFamily="34" charset="0"/>
                <a:cs typeface="Times New Roman" panose="02020603050405020304" pitchFamily="18" charset="0"/>
              </a:rPr>
              <a:t> Ces symptômes comprennent des crampes, de la diarrhée, des coliques (douleurs abdominales), et des mictions impérieuses (pertes involontaires d’urine). Ces symptômes reproduisent principalement des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effets parasympathiques</a:t>
            </a:r>
            <a:r>
              <a:rPr lang="fr-CA" sz="1000" dirty="0">
                <a:effectLst/>
                <a:latin typeface="Calibri" panose="020F0502020204030204" pitchFamily="34" charset="0"/>
                <a:ea typeface="Calibri" panose="020F0502020204030204" pitchFamily="34" charset="0"/>
                <a:cs typeface="Times New Roman" panose="02020603050405020304" pitchFamily="18" charset="0"/>
              </a:rPr>
              <a:t>.</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a:p>
            <a:pPr marL="182563" lvl="0" indent="-182563">
              <a:lnSpc>
                <a:spcPct val="115000"/>
              </a:lnSpc>
              <a:spcBef>
                <a:spcPts val="0"/>
              </a:spcBef>
              <a:spcAft>
                <a:spcPts val="100"/>
              </a:spcAft>
              <a:buFont typeface="+mj-lt"/>
              <a:buAutoNum type="alphaLcParenR"/>
            </a:pPr>
            <a:r>
              <a:rPr lang="fr-CA" sz="1000" b="1" dirty="0">
                <a:effectLst/>
                <a:latin typeface="Calibri" panose="020F0502020204030204" pitchFamily="34" charset="0"/>
                <a:ea typeface="Calibri" panose="020F0502020204030204" pitchFamily="34" charset="0"/>
                <a:cs typeface="Times New Roman" panose="02020603050405020304" pitchFamily="18" charset="0"/>
              </a:rPr>
              <a:t>Les troubles cardiovasculaires et respiratoires:</a:t>
            </a:r>
            <a:r>
              <a:rPr lang="fr-CA" sz="1000" dirty="0">
                <a:effectLst/>
                <a:latin typeface="Calibri" panose="020F0502020204030204" pitchFamily="34" charset="0"/>
                <a:ea typeface="Calibri" panose="020F0502020204030204" pitchFamily="34" charset="0"/>
                <a:cs typeface="Times New Roman" panose="02020603050405020304" pitchFamily="18" charset="0"/>
              </a:rPr>
              <a:t> Ces symptômes comprennent un ralentissement du rythme cardiaque et une hypotension (chute de la pression sanguine). La muscarine peut aussi causer la constriction des voies respiratoires (bronchoconstriction), ce qui, avec l’hypersécrétion de mucus dans ces voies, peut entraîner de sérieux problèmes respiratoires. Ces symptômes représentent les effets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parasympathiques</a:t>
            </a:r>
            <a:r>
              <a:rPr lang="fr-CA" sz="1000" dirty="0">
                <a:effectLst/>
                <a:latin typeface="Calibri" panose="020F0502020204030204" pitchFamily="34" charset="0"/>
                <a:ea typeface="Calibri" panose="020F0502020204030204" pitchFamily="34" charset="0"/>
                <a:cs typeface="Times New Roman" panose="02020603050405020304" pitchFamily="18" charset="0"/>
              </a:rPr>
              <a:t> sur le système cardiovasculaire et respiratoire.</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a:p>
            <a:pPr marL="182563" lvl="0" indent="-182563">
              <a:lnSpc>
                <a:spcPct val="115000"/>
              </a:lnSpc>
              <a:spcBef>
                <a:spcPts val="0"/>
              </a:spcBef>
              <a:spcAft>
                <a:spcPts val="100"/>
              </a:spcAft>
              <a:buFont typeface="+mj-lt"/>
              <a:buAutoNum type="alphaLcParenR"/>
            </a:pPr>
            <a:r>
              <a:rPr lang="fr-CA" sz="1000" b="1" dirty="0">
                <a:effectLst/>
                <a:latin typeface="Calibri" panose="020F0502020204030204" pitchFamily="34" charset="0"/>
                <a:ea typeface="Calibri" panose="020F0502020204030204" pitchFamily="34" charset="0"/>
                <a:cs typeface="Times New Roman" panose="02020603050405020304" pitchFamily="18" charset="0"/>
              </a:rPr>
              <a:t>Les troubles de la vision :</a:t>
            </a:r>
            <a:r>
              <a:rPr lang="fr-CA" sz="1000" dirty="0">
                <a:effectLst/>
                <a:latin typeface="Calibri" panose="020F0502020204030204" pitchFamily="34" charset="0"/>
                <a:ea typeface="Calibri" panose="020F0502020204030204" pitchFamily="34" charset="0"/>
                <a:cs typeface="Times New Roman" panose="02020603050405020304" pitchFamily="18" charset="0"/>
              </a:rPr>
              <a:t> le rapetissement de la pupille dû à la contraction de l’iris entraîne une diminution de la capacité visuelle. Ce symptôme est équivalent à un </a:t>
            </a:r>
            <a:r>
              <a:rPr lang="fr-CA" sz="1000" u="sng" dirty="0">
                <a:effectLst/>
                <a:latin typeface="Calibri" panose="020F0502020204030204" pitchFamily="34" charset="0"/>
                <a:ea typeface="Calibri" panose="020F0502020204030204" pitchFamily="34" charset="0"/>
                <a:cs typeface="Times New Roman" panose="02020603050405020304" pitchFamily="18" charset="0"/>
              </a:rPr>
              <a:t>effet parasympathique</a:t>
            </a:r>
            <a:r>
              <a:rPr lang="fr-CA" sz="1000" dirty="0">
                <a:effectLst/>
                <a:latin typeface="Calibri" panose="020F0502020204030204" pitchFamily="34" charset="0"/>
                <a:ea typeface="Calibri" panose="020F0502020204030204" pitchFamily="34" charset="0"/>
                <a:cs typeface="Times New Roman" panose="02020603050405020304" pitchFamily="18" charset="0"/>
              </a:rPr>
              <a:t> sur la pupille.</a:t>
            </a:r>
            <a:endParaRPr lang="en-CA" sz="1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F700F-990C-400E-931C-CA05D7F8E107}" type="slidenum">
              <a:rPr lang="fr-FR"/>
              <a:pPr/>
              <a:t>13</a:t>
            </a:fld>
            <a:endParaRPr lang="fr-FR"/>
          </a:p>
        </p:txBody>
      </p:sp>
      <p:sp>
        <p:nvSpPr>
          <p:cNvPr id="573442" name="Rectangle 2"/>
          <p:cNvSpPr>
            <a:spLocks noGrp="1" noRot="1" noChangeAspect="1" noChangeArrowheads="1" noTextEdit="1"/>
          </p:cNvSpPr>
          <p:nvPr>
            <p:ph type="sldImg"/>
          </p:nvPr>
        </p:nvSpPr>
        <p:spPr>
          <a:ln/>
        </p:spPr>
      </p:sp>
      <p:sp>
        <p:nvSpPr>
          <p:cNvPr id="57344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FD92CE-C5BF-4041-A652-364BF87A6336}" type="slidenum">
              <a:rPr lang="fr-FR"/>
              <a:pPr/>
              <a:t>14</a:t>
            </a:fld>
            <a:endParaRPr lang="fr-FR"/>
          </a:p>
        </p:txBody>
      </p:sp>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fr-CA" sz="1400" dirty="0">
                <a:effectLst/>
                <a:latin typeface="Calibri" panose="020F0502020204030204" pitchFamily="34" charset="0"/>
                <a:ea typeface="Calibri" panose="020F0502020204030204" pitchFamily="34" charset="0"/>
                <a:cs typeface="Times New Roman" panose="02020603050405020304" pitchFamily="18" charset="0"/>
              </a:rPr>
              <a:t>Le tonus vagal est un tonus </a:t>
            </a:r>
            <a:r>
              <a:rPr lang="fr-CA" sz="1400" u="sng" dirty="0">
                <a:effectLst/>
                <a:latin typeface="Calibri" panose="020F0502020204030204" pitchFamily="34" charset="0"/>
                <a:ea typeface="Calibri" panose="020F0502020204030204" pitchFamily="34" charset="0"/>
                <a:cs typeface="Times New Roman" panose="02020603050405020304" pitchFamily="18" charset="0"/>
              </a:rPr>
              <a:t>parasympathique</a:t>
            </a:r>
            <a:r>
              <a:rPr lang="fr-CA" sz="1400" dirty="0">
                <a:effectLst/>
                <a:latin typeface="Calibri" panose="020F0502020204030204" pitchFamily="34" charset="0"/>
                <a:ea typeface="Calibri" panose="020F0502020204030204" pitchFamily="34" charset="0"/>
                <a:cs typeface="Times New Roman" panose="02020603050405020304" pitchFamily="18" charset="0"/>
              </a:rPr>
              <a:t> principalement associé aux systèmes cardiovasculaire, respiratoire et digestif. Il est appelé ainsi parce que tous les neurones parasympathiques préganglionnaires qui innervent ces organes sont rassemblés dans les deux nerfs (droit et gauche) qui sont appelés « </a:t>
            </a:r>
            <a:r>
              <a:rPr lang="fr-CA" sz="1400" u="sng" dirty="0">
                <a:effectLst/>
                <a:latin typeface="Calibri" panose="020F0502020204030204" pitchFamily="34" charset="0"/>
                <a:ea typeface="Calibri" panose="020F0502020204030204" pitchFamily="34" charset="0"/>
                <a:cs typeface="Times New Roman" panose="02020603050405020304" pitchFamily="18" charset="0"/>
              </a:rPr>
              <a:t>nerfs vagues</a:t>
            </a:r>
            <a:r>
              <a:rPr lang="fr-CA" sz="1400" dirty="0">
                <a:effectLst/>
                <a:latin typeface="Calibri" panose="020F0502020204030204" pitchFamily="34" charset="0"/>
                <a:ea typeface="Calibri" panose="020F0502020204030204" pitchFamily="34" charset="0"/>
                <a:cs typeface="Times New Roman" panose="02020603050405020304" pitchFamily="18" charset="0"/>
              </a:rPr>
              <a:t> »</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03C8ED-4B44-4012-BB22-D3744186A1EF}" type="slidenum">
              <a:rPr lang="fr-FR"/>
              <a:pPr/>
              <a:t>15</a:t>
            </a:fld>
            <a:endParaRPr lang="fr-FR"/>
          </a:p>
        </p:txBody>
      </p:sp>
      <p:sp>
        <p:nvSpPr>
          <p:cNvPr id="575490" name="Rectangle 2"/>
          <p:cNvSpPr>
            <a:spLocks noGrp="1" noRot="1" noChangeAspect="1" noChangeArrowheads="1" noTextEdit="1"/>
          </p:cNvSpPr>
          <p:nvPr>
            <p:ph type="sldImg"/>
          </p:nvPr>
        </p:nvSpPr>
        <p:spPr>
          <a:ln/>
        </p:spPr>
      </p:sp>
      <p:sp>
        <p:nvSpPr>
          <p:cNvPr id="575491"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BAE758-35D3-4885-A83D-3F6734FDE40F}" type="slidenum">
              <a:rPr lang="fr-FR"/>
              <a:pPr/>
              <a:t>16</a:t>
            </a:fld>
            <a:endParaRPr lang="fr-FR"/>
          </a:p>
        </p:txBody>
      </p:sp>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FAB9C7-7D62-41C4-9079-08365ED423E8}" type="slidenum">
              <a:rPr lang="fr-FR"/>
              <a:pPr/>
              <a:t>17</a:t>
            </a:fld>
            <a:endParaRPr lang="fr-FR"/>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FAB9C7-7D62-41C4-9079-08365ED423E8}" type="slidenum">
              <a:rPr lang="fr-FR"/>
              <a:pPr/>
              <a:t>18</a:t>
            </a:fld>
            <a:endParaRPr lang="fr-FR"/>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9ED0B0-C46A-4810-AC73-348609C1AA84}" type="slidenum">
              <a:rPr lang="fr-FR"/>
              <a:pPr/>
              <a:t>19</a:t>
            </a:fld>
            <a:endParaRPr lang="fr-FR"/>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fr-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C3E9527-6BFE-44F1-857C-E866BF95FFE2}" type="slidenum">
              <a:rPr lang="fr-FR" smtClean="0"/>
              <a:pPr/>
              <a:t>20</a:t>
            </a:fld>
            <a:endParaRPr lang="fr-FR"/>
          </a:p>
        </p:txBody>
      </p:sp>
    </p:spTree>
    <p:extLst>
      <p:ext uri="{BB962C8B-B14F-4D97-AF65-F5344CB8AC3E}">
        <p14:creationId xmlns:p14="http://schemas.microsoft.com/office/powerpoint/2010/main" val="1915787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2563" lvl="0" indent="-182563">
              <a:spcBef>
                <a:spcPts val="0"/>
              </a:spcBef>
              <a:spcAft>
                <a:spcPts val="0"/>
              </a:spcAft>
              <a:buFont typeface="+mj-lt"/>
              <a:buAutoNum type="alphaLcParenR"/>
            </a:pPr>
            <a:r>
              <a:rPr lang="fr-CA" dirty="0">
                <a:effectLst/>
                <a:latin typeface="+mn-lt"/>
                <a:ea typeface="Times New Roman" panose="02020603050405020304" pitchFamily="18" charset="0"/>
                <a:cs typeface="Arial" panose="020B0604020202020204" pitchFamily="34" charset="0"/>
              </a:rPr>
              <a:t>Les hormones hydrosolubles sont les mieux adaptées pour des réponses rapides et brèves.</a:t>
            </a:r>
            <a:endParaRPr lang="en-CA" dirty="0">
              <a:effectLst/>
              <a:latin typeface="+mn-lt"/>
              <a:ea typeface="Times New Roman" panose="02020603050405020304" pitchFamily="18" charset="0"/>
            </a:endParaRPr>
          </a:p>
          <a:p>
            <a:pPr marL="180340">
              <a:lnSpc>
                <a:spcPct val="115000"/>
              </a:lnSpc>
              <a:spcBef>
                <a:spcPts val="300"/>
              </a:spcBef>
              <a:spcAft>
                <a:spcPts val="600"/>
              </a:spcAft>
            </a:pPr>
            <a:r>
              <a:rPr lang="fr-CA" dirty="0">
                <a:effectLst/>
                <a:latin typeface="+mn-lt"/>
                <a:ea typeface="Calibri" panose="020F0502020204030204" pitchFamily="34" charset="0"/>
                <a:cs typeface="Arial" panose="020B0604020202020204" pitchFamily="34" charset="0"/>
              </a:rPr>
              <a:t>Les récepteurs membranaires des hormones hydrosolubles activent normalement des enzymes qui sont déjà présentes dans la cellule, par exemple l’adénylate </a:t>
            </a:r>
            <a:r>
              <a:rPr lang="fr-CA" dirty="0" err="1">
                <a:effectLst/>
                <a:latin typeface="+mn-lt"/>
                <a:ea typeface="Calibri" panose="020F0502020204030204" pitchFamily="34" charset="0"/>
                <a:cs typeface="Arial" panose="020B0604020202020204" pitchFamily="34" charset="0"/>
              </a:rPr>
              <a:t>cyclase</a:t>
            </a:r>
            <a:r>
              <a:rPr lang="fr-CA" dirty="0">
                <a:effectLst/>
                <a:latin typeface="+mn-lt"/>
                <a:ea typeface="Calibri" panose="020F0502020204030204" pitchFamily="34" charset="0"/>
                <a:cs typeface="Arial" panose="020B0604020202020204" pitchFamily="34" charset="0"/>
              </a:rPr>
              <a:t> pour la synthèse de l’</a:t>
            </a:r>
            <a:r>
              <a:rPr lang="fr-CA" dirty="0" err="1">
                <a:effectLst/>
                <a:latin typeface="+mn-lt"/>
                <a:ea typeface="Calibri" panose="020F0502020204030204" pitchFamily="34" charset="0"/>
                <a:cs typeface="Arial" panose="020B0604020202020204" pitchFamily="34" charset="0"/>
              </a:rPr>
              <a:t>AMPc</a:t>
            </a:r>
            <a:r>
              <a:rPr lang="fr-CA" dirty="0">
                <a:effectLst/>
                <a:latin typeface="+mn-lt"/>
                <a:ea typeface="Calibri" panose="020F0502020204030204" pitchFamily="34" charset="0"/>
                <a:cs typeface="Arial" panose="020B0604020202020204" pitchFamily="34" charset="0"/>
              </a:rPr>
              <a:t>, permettant ainsi des réponses rapides (quelques secondes). Ces réponses peuvent par contre être très brèves parce que le second messager (ex. </a:t>
            </a:r>
            <a:r>
              <a:rPr lang="fr-CA" dirty="0" err="1">
                <a:effectLst/>
                <a:latin typeface="+mn-lt"/>
                <a:ea typeface="Calibri" panose="020F0502020204030204" pitchFamily="34" charset="0"/>
                <a:cs typeface="Arial" panose="020B0604020202020204" pitchFamily="34" charset="0"/>
              </a:rPr>
              <a:t>AMPc</a:t>
            </a:r>
            <a:r>
              <a:rPr lang="fr-CA" dirty="0">
                <a:effectLst/>
                <a:latin typeface="+mn-lt"/>
                <a:ea typeface="Calibri" panose="020F0502020204030204" pitchFamily="34" charset="0"/>
                <a:cs typeface="Arial" panose="020B0604020202020204" pitchFamily="34" charset="0"/>
              </a:rPr>
              <a:t>) est rapidement détruit une fois la stimulation terminée.</a:t>
            </a:r>
            <a:endParaRPr lang="en-CA" dirty="0">
              <a:effectLst/>
              <a:latin typeface="+mn-lt"/>
              <a:ea typeface="Calibri" panose="020F0502020204030204" pitchFamily="34" charset="0"/>
              <a:cs typeface="Times New Roman" panose="02020603050405020304" pitchFamily="18" charset="0"/>
            </a:endParaRPr>
          </a:p>
          <a:p>
            <a:pPr marL="182563" lvl="0" indent="-182563">
              <a:spcBef>
                <a:spcPts val="600"/>
              </a:spcBef>
              <a:spcAft>
                <a:spcPts val="0"/>
              </a:spcAft>
              <a:buFont typeface="+mj-lt"/>
              <a:buAutoNum type="alphaLcParenR" startAt="2"/>
            </a:pPr>
            <a:r>
              <a:rPr lang="fr-CA" dirty="0">
                <a:effectLst/>
                <a:latin typeface="+mn-lt"/>
                <a:ea typeface="Times New Roman" panose="02020603050405020304" pitchFamily="18" charset="0"/>
                <a:cs typeface="Arial" panose="020B0604020202020204" pitchFamily="34" charset="0"/>
              </a:rPr>
              <a:t>Les hormones liposolubles sont les mieux adaptées pour des réponses prolongées.</a:t>
            </a:r>
            <a:endParaRPr lang="en-CA" dirty="0">
              <a:effectLst/>
              <a:latin typeface="+mn-lt"/>
              <a:ea typeface="Times New Roman" panose="02020603050405020304" pitchFamily="18" charset="0"/>
            </a:endParaRPr>
          </a:p>
          <a:p>
            <a:pPr marL="180340">
              <a:lnSpc>
                <a:spcPct val="115000"/>
              </a:lnSpc>
              <a:spcBef>
                <a:spcPts val="300"/>
              </a:spcBef>
              <a:spcAft>
                <a:spcPts val="0"/>
              </a:spcAft>
            </a:pPr>
            <a:r>
              <a:rPr lang="fr-CA" dirty="0">
                <a:effectLst/>
                <a:latin typeface="+mn-lt"/>
                <a:ea typeface="Calibri" panose="020F0502020204030204" pitchFamily="34" charset="0"/>
                <a:cs typeface="Arial" panose="020B0604020202020204" pitchFamily="34" charset="0"/>
              </a:rPr>
              <a:t>D’une façon générale, les réponses aux hormones liposolubles sont beaucoup plus lentes que celles aux hormones hydrosolubles  parce que leurs récepteurs intracellulaires agissent via la synthèse de nouvelles protéines, qui est une réaction très lente. Par contre, les effets sont généralement prolongés (heures, jours,…) parce que ces nouvelles protéines</a:t>
            </a:r>
            <a:r>
              <a:rPr lang="fr-CA" dirty="0">
                <a:effectLst/>
                <a:latin typeface="+mn-lt"/>
                <a:ea typeface="Calibri" panose="020F0502020204030204" pitchFamily="34" charset="0"/>
                <a:cs typeface="Times New Roman" panose="02020603050405020304" pitchFamily="18" charset="0"/>
              </a:rPr>
              <a:t> ne sont pas rapidement détruites.</a:t>
            </a:r>
            <a:endParaRPr lang="en-CA"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C3E9527-6BFE-44F1-857C-E866BF95FFE2}" type="slidenum">
              <a:rPr lang="fr-FR" smtClean="0"/>
              <a:pPr/>
              <a:t>21</a:t>
            </a:fld>
            <a:endParaRPr lang="fr-FR"/>
          </a:p>
        </p:txBody>
      </p:sp>
    </p:spTree>
    <p:extLst>
      <p:ext uri="{BB962C8B-B14F-4D97-AF65-F5344CB8AC3E}">
        <p14:creationId xmlns:p14="http://schemas.microsoft.com/office/powerpoint/2010/main" val="480969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457A97-C87A-4523-A27E-343456FC2293}" type="slidenum">
              <a:rPr lang="fr-FR"/>
              <a:pPr/>
              <a:t>22</a:t>
            </a:fld>
            <a:endParaRPr lang="fr-FR"/>
          </a:p>
        </p:txBody>
      </p:sp>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endParaRPr lang="fr-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6BB0B4-2B31-47C5-9615-141E1B229F9E}" type="slidenum">
              <a:rPr lang="fr-FR"/>
              <a:pPr/>
              <a:t>23</a:t>
            </a:fld>
            <a:endParaRPr lang="fr-FR"/>
          </a:p>
        </p:txBody>
      </p:sp>
      <p:sp>
        <p:nvSpPr>
          <p:cNvPr id="603138" name="Rectangle 2"/>
          <p:cNvSpPr>
            <a:spLocks noGrp="1" noRot="1" noChangeAspect="1" noChangeArrowheads="1" noTextEdit="1"/>
          </p:cNvSpPr>
          <p:nvPr>
            <p:ph type="sldImg"/>
          </p:nvPr>
        </p:nvSpPr>
        <p:spPr>
          <a:ln/>
        </p:spPr>
      </p:sp>
      <p:sp>
        <p:nvSpPr>
          <p:cNvPr id="603139" name="Rectangle 3"/>
          <p:cNvSpPr>
            <a:spLocks noGrp="1" noChangeArrowheads="1"/>
          </p:cNvSpPr>
          <p:nvPr>
            <p:ph type="body" idx="1"/>
          </p:nvPr>
        </p:nvSpPr>
        <p:spPr/>
        <p:txBody>
          <a:bodyPr/>
          <a:lstStyle/>
          <a:p>
            <a:endParaRPr lang="fr-CA"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315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065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Texte et contenu">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833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767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1" name="Rectangle 3"/>
          <p:cNvSpPr>
            <a:spLocks noGrp="1" noChangeArrowheads="1"/>
          </p:cNvSpPr>
          <p:nvPr>
            <p:ph type="body" idx="1"/>
          </p:nvPr>
        </p:nvSpPr>
        <p:spPr bwMode="auto">
          <a:xfrm>
            <a:off x="298450" y="977900"/>
            <a:ext cx="8270875" cy="505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Line 5"/>
          <p:cNvSpPr>
            <a:spLocks noChangeShapeType="1"/>
          </p:cNvSpPr>
          <p:nvPr userDrawn="1"/>
        </p:nvSpPr>
        <p:spPr bwMode="auto">
          <a:xfrm>
            <a:off x="298450" y="258763"/>
            <a:ext cx="8586788" cy="0"/>
          </a:xfrm>
          <a:prstGeom prst="line">
            <a:avLst/>
          </a:prstGeom>
          <a:noFill/>
          <a:ln w="381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fr-CA"/>
          </a:p>
        </p:txBody>
      </p:sp>
      <p:sp>
        <p:nvSpPr>
          <p:cNvPr id="5" name="Line 6"/>
          <p:cNvSpPr>
            <a:spLocks noChangeShapeType="1"/>
          </p:cNvSpPr>
          <p:nvPr userDrawn="1"/>
        </p:nvSpPr>
        <p:spPr bwMode="auto">
          <a:xfrm>
            <a:off x="293688" y="225425"/>
            <a:ext cx="85867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fr-CA"/>
          </a:p>
        </p:txBody>
      </p:sp>
    </p:spTree>
  </p:cSld>
  <p:clrMap bg1="lt1" tx1="dk1" bg2="lt2" tx2="dk2" accent1="accent1" accent2="accent2" accent3="accent3" accent4="accent4" accent5="accent5" accent6="accent6" hlink="hlink" folHlink="folHlink"/>
  <p:sldLayoutIdLst>
    <p:sldLayoutId id="2147483652" r:id="rId1"/>
    <p:sldLayoutId id="2147483657" r:id="rId2"/>
    <p:sldLayoutId id="2147483662" r:id="rId3"/>
    <p:sldLayoutId id="2147483663" r:id="rId4"/>
  </p:sldLayoutIdLst>
  <p:txStyles>
    <p:titleStyle>
      <a:lvl1pPr algn="l" rtl="0" fontAlgn="base">
        <a:spcBef>
          <a:spcPct val="0"/>
        </a:spcBef>
        <a:spcAft>
          <a:spcPct val="0"/>
        </a:spcAft>
        <a:defRPr sz="3000" b="1">
          <a:solidFill>
            <a:srgbClr val="0989C9"/>
          </a:solidFill>
          <a:latin typeface="+mj-lt"/>
          <a:ea typeface="+mj-ea"/>
          <a:cs typeface="+mj-cs"/>
        </a:defRPr>
      </a:lvl1pPr>
      <a:lvl2pPr algn="l" rtl="0" fontAlgn="base">
        <a:spcBef>
          <a:spcPct val="0"/>
        </a:spcBef>
        <a:spcAft>
          <a:spcPct val="0"/>
        </a:spcAft>
        <a:defRPr sz="3000" b="1">
          <a:solidFill>
            <a:srgbClr val="0989C9"/>
          </a:solidFill>
          <a:latin typeface="Arial" charset="0"/>
        </a:defRPr>
      </a:lvl2pPr>
      <a:lvl3pPr algn="l" rtl="0" fontAlgn="base">
        <a:spcBef>
          <a:spcPct val="0"/>
        </a:spcBef>
        <a:spcAft>
          <a:spcPct val="0"/>
        </a:spcAft>
        <a:defRPr sz="3000" b="1">
          <a:solidFill>
            <a:srgbClr val="0989C9"/>
          </a:solidFill>
          <a:latin typeface="Arial" charset="0"/>
        </a:defRPr>
      </a:lvl3pPr>
      <a:lvl4pPr algn="l" rtl="0" fontAlgn="base">
        <a:spcBef>
          <a:spcPct val="0"/>
        </a:spcBef>
        <a:spcAft>
          <a:spcPct val="0"/>
        </a:spcAft>
        <a:defRPr sz="3000" b="1">
          <a:solidFill>
            <a:srgbClr val="0989C9"/>
          </a:solidFill>
          <a:latin typeface="Arial" charset="0"/>
        </a:defRPr>
      </a:lvl4pPr>
      <a:lvl5pPr algn="l" rtl="0" fontAlgn="base">
        <a:spcBef>
          <a:spcPct val="0"/>
        </a:spcBef>
        <a:spcAft>
          <a:spcPct val="0"/>
        </a:spcAft>
        <a:defRPr sz="3000" b="1">
          <a:solidFill>
            <a:srgbClr val="0989C9"/>
          </a:solidFill>
          <a:latin typeface="Arial" charset="0"/>
        </a:defRPr>
      </a:lvl5pPr>
      <a:lvl6pPr marL="457200" algn="l" rtl="0" fontAlgn="base">
        <a:spcBef>
          <a:spcPct val="0"/>
        </a:spcBef>
        <a:spcAft>
          <a:spcPct val="0"/>
        </a:spcAft>
        <a:defRPr sz="3000" b="1">
          <a:solidFill>
            <a:srgbClr val="0989C9"/>
          </a:solidFill>
          <a:latin typeface="Arial" charset="0"/>
        </a:defRPr>
      </a:lvl6pPr>
      <a:lvl7pPr marL="914400" algn="l" rtl="0" fontAlgn="base">
        <a:spcBef>
          <a:spcPct val="0"/>
        </a:spcBef>
        <a:spcAft>
          <a:spcPct val="0"/>
        </a:spcAft>
        <a:defRPr sz="3000" b="1">
          <a:solidFill>
            <a:srgbClr val="0989C9"/>
          </a:solidFill>
          <a:latin typeface="Arial" charset="0"/>
        </a:defRPr>
      </a:lvl7pPr>
      <a:lvl8pPr marL="1371600" algn="l" rtl="0" fontAlgn="base">
        <a:spcBef>
          <a:spcPct val="0"/>
        </a:spcBef>
        <a:spcAft>
          <a:spcPct val="0"/>
        </a:spcAft>
        <a:defRPr sz="3000" b="1">
          <a:solidFill>
            <a:srgbClr val="0989C9"/>
          </a:solidFill>
          <a:latin typeface="Arial" charset="0"/>
        </a:defRPr>
      </a:lvl8pPr>
      <a:lvl9pPr marL="1828800" algn="l" rtl="0" fontAlgn="base">
        <a:spcBef>
          <a:spcPct val="0"/>
        </a:spcBef>
        <a:spcAft>
          <a:spcPct val="0"/>
        </a:spcAft>
        <a:defRPr sz="3000" b="1">
          <a:solidFill>
            <a:srgbClr val="0989C9"/>
          </a:solidFill>
          <a:latin typeface="Arial" charset="0"/>
        </a:defRPr>
      </a:lvl9pPr>
    </p:titleStyle>
    <p:bodyStyle>
      <a:lvl1pPr marL="231775" indent="-231775" algn="l" rtl="0" fontAlgn="base">
        <a:spcBef>
          <a:spcPct val="0"/>
        </a:spcBef>
        <a:spcAft>
          <a:spcPct val="50000"/>
        </a:spcAft>
        <a:buClr>
          <a:srgbClr val="0989C9"/>
        </a:buClr>
        <a:buSzPct val="60000"/>
        <a:buFont typeface="Wingdings" pitchFamily="2" charset="2"/>
        <a:buChar char="§"/>
        <a:defRPr sz="3000">
          <a:solidFill>
            <a:schemeClr val="tx1"/>
          </a:solidFill>
          <a:latin typeface="+mn-lt"/>
          <a:ea typeface="+mn-ea"/>
          <a:cs typeface="+mn-cs"/>
        </a:defRPr>
      </a:lvl1pPr>
      <a:lvl2pPr marL="742950" indent="-28575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2pPr>
      <a:lvl3pPr marL="11430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3pPr>
      <a:lvl4pPr marL="16002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4pPr>
      <a:lvl5pPr marL="20574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5pPr>
      <a:lvl6pPr marL="25146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6pPr>
      <a:lvl7pPr marL="29718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7pPr>
      <a:lvl8pPr marL="34290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8pPr>
      <a:lvl9pPr marL="38862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Text Box 2"/>
          <p:cNvSpPr txBox="1">
            <a:spLocks noChangeArrowheads="1"/>
          </p:cNvSpPr>
          <p:nvPr/>
        </p:nvSpPr>
        <p:spPr bwMode="auto">
          <a:xfrm>
            <a:off x="356575" y="300577"/>
            <a:ext cx="8658225" cy="4801314"/>
          </a:xfrm>
          <a:prstGeom prst="rect">
            <a:avLst/>
          </a:prstGeom>
          <a:noFill/>
          <a:ln w="9525">
            <a:noFill/>
            <a:miter lim="800000"/>
            <a:headEnd/>
            <a:tailEnd/>
          </a:ln>
          <a:effectLst/>
          <a:extLst>
            <a:ext uri="{909E8E84-426E-40DD-AFC4-6F175D3DCCD1}">
              <a14:hiddenFill xmlns:a14="http://schemas.microsoft.com/office/drawing/2010/main">
                <a:solidFill>
                  <a:srgbClr val="F8F8F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01688" indent="-619125">
              <a:tabLst>
                <a:tab pos="801688" algn="l"/>
              </a:tabLst>
              <a:defRPr sz="2400">
                <a:solidFill>
                  <a:schemeClr val="tx1"/>
                </a:solidFill>
                <a:latin typeface="Times New Roman" pitchFamily="18" charset="0"/>
              </a:defRPr>
            </a:lvl1pPr>
            <a:lvl2pPr marL="1620838" indent="-457200">
              <a:tabLst>
                <a:tab pos="801688" algn="l"/>
              </a:tabLst>
              <a:defRPr sz="2400">
                <a:solidFill>
                  <a:schemeClr val="tx1"/>
                </a:solidFill>
                <a:latin typeface="Times New Roman" pitchFamily="18" charset="0"/>
              </a:defRPr>
            </a:lvl2pPr>
            <a:lvl3pPr marL="2257425" indent="-457200">
              <a:tabLst>
                <a:tab pos="801688" algn="l"/>
              </a:tabLst>
              <a:defRPr sz="2400">
                <a:solidFill>
                  <a:schemeClr val="tx1"/>
                </a:solidFill>
                <a:latin typeface="Times New Roman" pitchFamily="18" charset="0"/>
              </a:defRPr>
            </a:lvl3pPr>
            <a:lvl4pPr marL="2894013" indent="-457200">
              <a:tabLst>
                <a:tab pos="801688" algn="l"/>
              </a:tabLst>
              <a:defRPr sz="2400">
                <a:solidFill>
                  <a:schemeClr val="tx1"/>
                </a:solidFill>
                <a:latin typeface="Times New Roman" pitchFamily="18" charset="0"/>
              </a:defRPr>
            </a:lvl4pPr>
            <a:lvl5pPr marL="3530600" indent="-457200">
              <a:tabLst>
                <a:tab pos="801688" algn="l"/>
              </a:tabLst>
              <a:defRPr sz="2400">
                <a:solidFill>
                  <a:schemeClr val="tx1"/>
                </a:solidFill>
                <a:latin typeface="Times New Roman" pitchFamily="18" charset="0"/>
              </a:defRPr>
            </a:lvl5pPr>
            <a:lvl6pPr marL="3987800" indent="-457200" eaLnBrk="0" fontAlgn="base" hangingPunct="0">
              <a:spcBef>
                <a:spcPct val="0"/>
              </a:spcBef>
              <a:spcAft>
                <a:spcPct val="0"/>
              </a:spcAft>
              <a:tabLst>
                <a:tab pos="801688" algn="l"/>
              </a:tabLst>
              <a:defRPr sz="2400">
                <a:solidFill>
                  <a:schemeClr val="tx1"/>
                </a:solidFill>
                <a:latin typeface="Times New Roman" pitchFamily="18" charset="0"/>
              </a:defRPr>
            </a:lvl6pPr>
            <a:lvl7pPr marL="4445000" indent="-457200" eaLnBrk="0" fontAlgn="base" hangingPunct="0">
              <a:spcBef>
                <a:spcPct val="0"/>
              </a:spcBef>
              <a:spcAft>
                <a:spcPct val="0"/>
              </a:spcAft>
              <a:tabLst>
                <a:tab pos="801688" algn="l"/>
              </a:tabLst>
              <a:defRPr sz="2400">
                <a:solidFill>
                  <a:schemeClr val="tx1"/>
                </a:solidFill>
                <a:latin typeface="Times New Roman" pitchFamily="18" charset="0"/>
              </a:defRPr>
            </a:lvl7pPr>
            <a:lvl8pPr marL="4902200" indent="-457200" eaLnBrk="0" fontAlgn="base" hangingPunct="0">
              <a:spcBef>
                <a:spcPct val="0"/>
              </a:spcBef>
              <a:spcAft>
                <a:spcPct val="0"/>
              </a:spcAft>
              <a:tabLst>
                <a:tab pos="801688" algn="l"/>
              </a:tabLst>
              <a:defRPr sz="2400">
                <a:solidFill>
                  <a:schemeClr val="tx1"/>
                </a:solidFill>
                <a:latin typeface="Times New Roman" pitchFamily="18" charset="0"/>
              </a:defRPr>
            </a:lvl8pPr>
            <a:lvl9pPr marL="5359400" indent="-457200" eaLnBrk="0" fontAlgn="base" hangingPunct="0">
              <a:spcBef>
                <a:spcPct val="0"/>
              </a:spcBef>
              <a:spcAft>
                <a:spcPct val="0"/>
              </a:spcAft>
              <a:tabLst>
                <a:tab pos="801688" algn="l"/>
              </a:tabLst>
              <a:defRPr sz="2400">
                <a:solidFill>
                  <a:schemeClr val="tx1"/>
                </a:solidFill>
                <a:latin typeface="Times New Roman" pitchFamily="18" charset="0"/>
              </a:defRPr>
            </a:lvl9pPr>
          </a:lstStyle>
          <a:p>
            <a:pPr>
              <a:spcBef>
                <a:spcPct val="50000"/>
              </a:spcBef>
            </a:pPr>
            <a:r>
              <a:rPr lang="fr-CA" sz="2800" b="1" dirty="0">
                <a:solidFill>
                  <a:srgbClr val="0000FF"/>
                </a:solidFill>
                <a:effectLst>
                  <a:outerShdw blurRad="38100" dist="38100" dir="2700000" algn="tl">
                    <a:srgbClr val="C0C0C0"/>
                  </a:outerShdw>
                </a:effectLst>
                <a:latin typeface="Arial" charset="0"/>
              </a:rPr>
              <a:t>4.	HOMÉOSTASIE, SYSTÈME NERVEUX AUTONOME ET SYSTÈME ENDOCRINIEN</a:t>
            </a:r>
            <a:endParaRPr lang="fr-CA" sz="2800" dirty="0">
              <a:solidFill>
                <a:srgbClr val="0000FF"/>
              </a:solidFill>
              <a:effectLst>
                <a:outerShdw blurRad="38100" dist="38100" dir="2700000" algn="tl">
                  <a:srgbClr val="C0C0C0"/>
                </a:outerShdw>
              </a:effectLst>
              <a:latin typeface="Arial" charset="0"/>
            </a:endParaRPr>
          </a:p>
          <a:p>
            <a:pPr>
              <a:spcBef>
                <a:spcPts val="1200"/>
              </a:spcBef>
            </a:pPr>
            <a:r>
              <a:rPr lang="fr-CA" sz="2000" b="1" dirty="0">
                <a:solidFill>
                  <a:srgbClr val="0000FF"/>
                </a:solidFill>
                <a:latin typeface="Arial" charset="0"/>
              </a:rPr>
              <a:t>4.1	Définir et identifier les principales caractéristiques de l’homéostasie (pp. 10-14 </a:t>
            </a:r>
            <a:r>
              <a:rPr lang="fr-CA" sz="2000" dirty="0">
                <a:solidFill>
                  <a:srgbClr val="0000FF"/>
                </a:solidFill>
                <a:latin typeface="Arial" charset="0"/>
              </a:rPr>
              <a:t>[</a:t>
            </a:r>
            <a:r>
              <a:rPr lang="fr-CA" sz="2000" i="1" dirty="0">
                <a:solidFill>
                  <a:srgbClr val="0000FF"/>
                </a:solidFill>
                <a:latin typeface="Arial" charset="0"/>
              </a:rPr>
              <a:t>9-12</a:t>
            </a:r>
            <a:r>
              <a:rPr lang="fr-CA" sz="2000" dirty="0">
                <a:solidFill>
                  <a:srgbClr val="0000FF"/>
                </a:solidFill>
                <a:latin typeface="Arial" charset="0"/>
              </a:rPr>
              <a:t>]</a:t>
            </a:r>
            <a:r>
              <a:rPr lang="fr-CA" sz="2000" b="1" dirty="0">
                <a:solidFill>
                  <a:srgbClr val="0000FF"/>
                </a:solidFill>
                <a:latin typeface="Arial" charset="0"/>
              </a:rPr>
              <a:t>)</a:t>
            </a:r>
            <a:r>
              <a:rPr lang="fr-CA" sz="2000" b="1" dirty="0">
                <a:solidFill>
                  <a:srgbClr val="FF0000"/>
                </a:solidFill>
                <a:latin typeface="Arial" charset="0"/>
              </a:rPr>
              <a:t>*</a:t>
            </a:r>
            <a:endParaRPr lang="fr-CA" sz="2000" b="1" dirty="0">
              <a:solidFill>
                <a:srgbClr val="0000FF"/>
              </a:solidFill>
              <a:latin typeface="Arial" charset="0"/>
            </a:endParaRPr>
          </a:p>
          <a:p>
            <a:pPr>
              <a:spcBef>
                <a:spcPts val="1200"/>
              </a:spcBef>
            </a:pPr>
            <a:r>
              <a:rPr lang="fr-CA" sz="2000" b="1" dirty="0">
                <a:solidFill>
                  <a:srgbClr val="0000FF"/>
                </a:solidFill>
                <a:latin typeface="Arial" charset="0"/>
              </a:rPr>
              <a:t>4.2	Décrire le système nerveux autonome, et comparer  ses divisions sympathique et parasympathique</a:t>
            </a:r>
          </a:p>
          <a:p>
            <a:pPr indent="0">
              <a:spcBef>
                <a:spcPts val="1200"/>
              </a:spcBef>
            </a:pPr>
            <a:r>
              <a:rPr lang="fr-CA" sz="2000" b="1" dirty="0">
                <a:solidFill>
                  <a:srgbClr val="0000FF"/>
                </a:solidFill>
                <a:latin typeface="Arial" charset="0"/>
              </a:rPr>
              <a:t>(pp. 603-607 </a:t>
            </a:r>
            <a:r>
              <a:rPr lang="fr-CA" sz="2000" dirty="0">
                <a:solidFill>
                  <a:srgbClr val="0000FF"/>
                </a:solidFill>
                <a:latin typeface="Arial" charset="0"/>
              </a:rPr>
              <a:t>[</a:t>
            </a:r>
            <a:r>
              <a:rPr lang="fr-CA" sz="2000" i="1" dirty="0">
                <a:solidFill>
                  <a:srgbClr val="0000FF"/>
                </a:solidFill>
                <a:latin typeface="Arial" charset="0"/>
              </a:rPr>
              <a:t>615-618</a:t>
            </a:r>
            <a:r>
              <a:rPr lang="fr-CA" sz="2000" dirty="0">
                <a:solidFill>
                  <a:srgbClr val="0000FF"/>
                </a:solidFill>
                <a:latin typeface="Arial" charset="0"/>
              </a:rPr>
              <a:t>], </a:t>
            </a:r>
            <a:r>
              <a:rPr lang="fr-CA" sz="2000" b="1" dirty="0">
                <a:solidFill>
                  <a:srgbClr val="0000FF"/>
                </a:solidFill>
                <a:latin typeface="Arial" charset="0"/>
              </a:rPr>
              <a:t>616-625 </a:t>
            </a:r>
            <a:r>
              <a:rPr lang="fr-CA" sz="2000" dirty="0">
                <a:solidFill>
                  <a:srgbClr val="0000FF"/>
                </a:solidFill>
                <a:latin typeface="Arial" charset="0"/>
              </a:rPr>
              <a:t>[</a:t>
            </a:r>
            <a:r>
              <a:rPr lang="fr-CA" sz="2000" i="1" dirty="0">
                <a:solidFill>
                  <a:srgbClr val="0000FF"/>
                </a:solidFill>
                <a:latin typeface="Arial" charset="0"/>
              </a:rPr>
              <a:t>626-633</a:t>
            </a:r>
            <a:r>
              <a:rPr lang="fr-CA" sz="2000" dirty="0">
                <a:solidFill>
                  <a:srgbClr val="0000FF"/>
                </a:solidFill>
                <a:latin typeface="Arial" charset="0"/>
              </a:rPr>
              <a:t>]</a:t>
            </a:r>
            <a:r>
              <a:rPr lang="fr-CA" sz="2000" b="1" dirty="0">
                <a:solidFill>
                  <a:srgbClr val="0000FF"/>
                </a:solidFill>
                <a:latin typeface="Arial" charset="0"/>
              </a:rPr>
              <a:t>)</a:t>
            </a:r>
            <a:endParaRPr lang="fr-CA" sz="2000" b="1" dirty="0">
              <a:solidFill>
                <a:srgbClr val="FF0000"/>
              </a:solidFill>
              <a:latin typeface="Arial" charset="0"/>
            </a:endParaRPr>
          </a:p>
          <a:p>
            <a:pPr marL="808038" indent="-633413">
              <a:spcBef>
                <a:spcPts val="1200"/>
              </a:spcBef>
              <a:tabLst/>
            </a:pPr>
            <a:r>
              <a:rPr lang="fr-CA" sz="2000" b="1" dirty="0">
                <a:solidFill>
                  <a:srgbClr val="0000FF"/>
                </a:solidFill>
                <a:latin typeface="Arial" charset="0"/>
              </a:rPr>
              <a:t>4.3	Décrire les caractéristiques générales du système endocrinien et des mécanismes hormonaux, et présenter les principales fonctions de l’axe hypothalamo-hypophysaire (pp. 685-702 </a:t>
            </a:r>
            <a:r>
              <a:rPr lang="fr-CA" sz="2000" dirty="0">
                <a:solidFill>
                  <a:srgbClr val="0000FF"/>
                </a:solidFill>
                <a:latin typeface="Arial" charset="0"/>
              </a:rPr>
              <a:t>[</a:t>
            </a:r>
            <a:r>
              <a:rPr lang="fr-CA" sz="2000" i="1" dirty="0">
                <a:solidFill>
                  <a:srgbClr val="0000FF"/>
                </a:solidFill>
                <a:latin typeface="Arial" charset="0"/>
              </a:rPr>
              <a:t>695-708</a:t>
            </a:r>
            <a:r>
              <a:rPr lang="fr-CA" sz="2000" dirty="0">
                <a:solidFill>
                  <a:srgbClr val="0000FF"/>
                </a:solidFill>
                <a:latin typeface="Arial" charset="0"/>
              </a:rPr>
              <a:t>]</a:t>
            </a:r>
            <a:r>
              <a:rPr lang="fr-CA" sz="2000" b="1" dirty="0">
                <a:solidFill>
                  <a:srgbClr val="0000FF"/>
                </a:solidFill>
                <a:latin typeface="Arial" charset="0"/>
              </a:rPr>
              <a:t>)</a:t>
            </a:r>
            <a:endParaRPr lang="fr-CA" sz="2000" b="1" dirty="0">
              <a:solidFill>
                <a:srgbClr val="0066FF"/>
              </a:solidFill>
              <a:latin typeface="Arial" charset="0"/>
            </a:endParaRPr>
          </a:p>
          <a:p>
            <a:pPr marL="176213" indent="7938">
              <a:spcBef>
                <a:spcPts val="1200"/>
              </a:spcBef>
              <a:spcAft>
                <a:spcPct val="50000"/>
              </a:spcAft>
              <a:tabLst/>
            </a:pPr>
            <a:r>
              <a:rPr lang="fr-CA" sz="1800" b="1" dirty="0">
                <a:solidFill>
                  <a:srgbClr val="FF0000"/>
                </a:solidFill>
                <a:latin typeface="+mj-lt"/>
              </a:rPr>
              <a:t>*</a:t>
            </a:r>
            <a:r>
              <a:rPr lang="fr-CA" sz="1800" dirty="0">
                <a:solidFill>
                  <a:srgbClr val="FF0000"/>
                </a:solidFill>
                <a:latin typeface="+mj-lt"/>
              </a:rPr>
              <a:t> </a:t>
            </a:r>
            <a:r>
              <a:rPr lang="fr-CA" sz="1800" i="1" dirty="0">
                <a:solidFill>
                  <a:srgbClr val="FF0000"/>
                </a:solidFill>
                <a:latin typeface="+mj-lt"/>
              </a:rPr>
              <a:t>Les pages entre crochets sont celles de la 5</a:t>
            </a:r>
            <a:r>
              <a:rPr lang="fr-CA" sz="1800" i="1" baseline="30000" dirty="0">
                <a:solidFill>
                  <a:srgbClr val="FF0000"/>
                </a:solidFill>
                <a:latin typeface="+mj-lt"/>
              </a:rPr>
              <a:t>ème</a:t>
            </a:r>
            <a:r>
              <a:rPr lang="fr-CA" sz="1800" i="1" dirty="0">
                <a:solidFill>
                  <a:srgbClr val="FF0000"/>
                </a:solidFill>
                <a:latin typeface="+mj-lt"/>
              </a:rPr>
              <a:t> édition de </a:t>
            </a:r>
            <a:r>
              <a:rPr lang="fr-CA" sz="1800" i="1" dirty="0" err="1">
                <a:solidFill>
                  <a:srgbClr val="FF0000"/>
                </a:solidFill>
                <a:latin typeface="+mj-lt"/>
              </a:rPr>
              <a:t>Marieb</a:t>
            </a:r>
            <a:r>
              <a:rPr lang="fr-CA" sz="2000" i="1" dirty="0">
                <a:solidFill>
                  <a:srgbClr val="FF0000"/>
                </a:solidFill>
                <a:latin typeface="+mj-lt"/>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idx="4294967295"/>
          </p:nvPr>
        </p:nvSpPr>
        <p:spPr>
          <a:xfrm>
            <a:off x="241300" y="344488"/>
            <a:ext cx="4479925" cy="520700"/>
          </a:xfrm>
          <a:prstGeom prst="rect">
            <a:avLst/>
          </a:prstGeom>
          <a:noFill/>
        </p:spPr>
        <p:txBody>
          <a:bodyPr tIns="10800" bIns="10800"/>
          <a:lstStyle/>
          <a:p>
            <a:pPr marL="690563" indent="-690563"/>
            <a:r>
              <a:rPr lang="fr-CA" sz="2800" dirty="0">
                <a:solidFill>
                  <a:srgbClr val="0000FF"/>
                </a:solidFill>
              </a:rPr>
              <a:t>4.1	L’HOMÉOSTASIE</a:t>
            </a:r>
            <a:endParaRPr lang="en-US" sz="2800" dirty="0">
              <a:solidFill>
                <a:srgbClr val="0000FF"/>
              </a:solidFill>
            </a:endParaRPr>
          </a:p>
        </p:txBody>
      </p:sp>
      <p:sp>
        <p:nvSpPr>
          <p:cNvPr id="530435" name="Rectangle 3"/>
          <p:cNvSpPr>
            <a:spLocks noGrp="1" noChangeArrowheads="1"/>
          </p:cNvSpPr>
          <p:nvPr>
            <p:ph type="body" idx="4294967295"/>
          </p:nvPr>
        </p:nvSpPr>
        <p:spPr>
          <a:xfrm>
            <a:off x="44746" y="1420813"/>
            <a:ext cx="8828088" cy="3919813"/>
          </a:xfrm>
          <a:noFill/>
          <a:ln w="6350">
            <a:noFill/>
            <a:miter lim="800000"/>
            <a:headEnd/>
            <a:tailEnd/>
          </a:ln>
        </p:spPr>
        <p:txBody>
          <a:bodyPr/>
          <a:lstStyle/>
          <a:p>
            <a:pPr marL="182563" lvl="1" indent="-3175">
              <a:spcBef>
                <a:spcPct val="25000"/>
              </a:spcBef>
              <a:spcAft>
                <a:spcPct val="0"/>
              </a:spcAft>
              <a:buClr>
                <a:schemeClr val="tx1"/>
              </a:buClr>
              <a:buSzTx/>
              <a:buFontTx/>
              <a:buNone/>
            </a:pPr>
            <a:r>
              <a:rPr lang="fr-CA" sz="2000" b="1" u="sng" dirty="0">
                <a:latin typeface="Arial" charset="0"/>
                <a:cs typeface="Arial" charset="0"/>
              </a:rPr>
              <a:t>Homéostasie</a:t>
            </a:r>
            <a:r>
              <a:rPr lang="fr-CA" sz="2000" dirty="0">
                <a:latin typeface="Arial" charset="0"/>
                <a:cs typeface="Arial" charset="0"/>
              </a:rPr>
              <a:t> (</a:t>
            </a:r>
            <a:r>
              <a:rPr lang="fr-CA" sz="2000" i="1" dirty="0" err="1">
                <a:latin typeface="Arial" charset="0"/>
                <a:cs typeface="Arial" charset="0"/>
              </a:rPr>
              <a:t>homoios</a:t>
            </a:r>
            <a:r>
              <a:rPr lang="fr-CA" sz="2000" i="1" dirty="0">
                <a:latin typeface="Arial" charset="0"/>
                <a:cs typeface="Arial" charset="0"/>
              </a:rPr>
              <a:t> = </a:t>
            </a:r>
            <a:r>
              <a:rPr lang="fr-CA" sz="2000" dirty="0">
                <a:latin typeface="Arial" charset="0"/>
                <a:cs typeface="Arial" charset="0"/>
              </a:rPr>
              <a:t>semblable; </a:t>
            </a:r>
            <a:r>
              <a:rPr lang="fr-CA" sz="2000" i="1" dirty="0" err="1">
                <a:latin typeface="Arial" charset="0"/>
                <a:cs typeface="Arial" charset="0"/>
              </a:rPr>
              <a:t>stasis</a:t>
            </a:r>
            <a:r>
              <a:rPr lang="fr-CA" sz="2000" i="1" dirty="0">
                <a:latin typeface="Arial" charset="0"/>
                <a:cs typeface="Arial" charset="0"/>
              </a:rPr>
              <a:t> = </a:t>
            </a:r>
            <a:r>
              <a:rPr lang="fr-CA" sz="2000" dirty="0">
                <a:latin typeface="Arial" charset="0"/>
                <a:cs typeface="Arial" charset="0"/>
              </a:rPr>
              <a:t>position)</a:t>
            </a:r>
            <a:endParaRPr lang="fr-CA" sz="2000" b="1" dirty="0">
              <a:latin typeface="Arial" charset="0"/>
              <a:cs typeface="Arial" charset="0"/>
            </a:endParaRPr>
          </a:p>
          <a:p>
            <a:pPr marL="182563" lvl="1" indent="-3175">
              <a:buClr>
                <a:schemeClr val="tx1"/>
              </a:buClr>
              <a:buSzTx/>
              <a:buFontTx/>
              <a:buNone/>
            </a:pPr>
            <a:r>
              <a:rPr lang="fr-CA" sz="1800" dirty="0">
                <a:latin typeface="Arial" charset="0"/>
                <a:cs typeface="Arial" charset="0"/>
              </a:rPr>
              <a:t>Capacité de maintenir le </a:t>
            </a:r>
            <a:r>
              <a:rPr lang="fr-CA" sz="1800" i="1" dirty="0">
                <a:latin typeface="Arial" charset="0"/>
                <a:cs typeface="Arial" charset="0"/>
              </a:rPr>
              <a:t>milieu interne</a:t>
            </a:r>
            <a:r>
              <a:rPr lang="fr-CA" sz="1800" dirty="0">
                <a:latin typeface="Arial" charset="0"/>
                <a:cs typeface="Arial" charset="0"/>
              </a:rPr>
              <a:t> relativement stable en dépit des variations de </a:t>
            </a:r>
            <a:r>
              <a:rPr lang="fr-CA" sz="1800" i="1" dirty="0">
                <a:latin typeface="Arial" charset="0"/>
                <a:cs typeface="Arial" charset="0"/>
              </a:rPr>
              <a:t>l’environnement externe</a:t>
            </a:r>
            <a:r>
              <a:rPr lang="fr-CA" sz="1800" dirty="0">
                <a:latin typeface="Arial" charset="0"/>
                <a:cs typeface="Arial" charset="0"/>
              </a:rPr>
              <a:t> et de l’activité du sujet.</a:t>
            </a:r>
            <a:endParaRPr lang="fr-CA" sz="1800" i="1" dirty="0">
              <a:latin typeface="Arial" charset="0"/>
              <a:cs typeface="Arial" charset="0"/>
            </a:endParaRPr>
          </a:p>
          <a:p>
            <a:pPr marL="358775" lvl="2" indent="-173038">
              <a:buClr>
                <a:schemeClr val="tx1"/>
              </a:buClr>
              <a:buSzPct val="120000"/>
              <a:buFontTx/>
              <a:buChar char="•"/>
            </a:pPr>
            <a:r>
              <a:rPr lang="fr-CA" sz="1600" dirty="0">
                <a:latin typeface="Arial" charset="0"/>
                <a:cs typeface="Arial" charset="0"/>
              </a:rPr>
              <a:t>État d’équilibre dynamique qui fait intervenir des mécanismes complexes de régulation du milieu interne : chimiques, neurologiques, thermiques.</a:t>
            </a:r>
          </a:p>
          <a:p>
            <a:pPr marL="358775" lvl="2" indent="-173038">
              <a:spcAft>
                <a:spcPct val="10000"/>
              </a:spcAft>
              <a:buClr>
                <a:schemeClr val="tx1"/>
              </a:buClr>
              <a:buSzPct val="120000"/>
              <a:buFontTx/>
              <a:buChar char="•"/>
            </a:pPr>
            <a:r>
              <a:rPr lang="fr-CA" sz="1600" dirty="0">
                <a:latin typeface="Arial" charset="0"/>
                <a:cs typeface="Arial" charset="0"/>
              </a:rPr>
              <a:t>Exemples de régulation homéostatique :</a:t>
            </a:r>
          </a:p>
          <a:p>
            <a:pPr marL="536575" lvl="3" indent="-187325">
              <a:spcAft>
                <a:spcPct val="10000"/>
              </a:spcAft>
              <a:buClr>
                <a:schemeClr val="tx1"/>
              </a:buClr>
              <a:buSzPct val="70000"/>
            </a:pPr>
            <a:r>
              <a:rPr lang="fr-CA" sz="1600" dirty="0">
                <a:latin typeface="Arial" charset="0"/>
                <a:cs typeface="Arial" charset="0"/>
              </a:rPr>
              <a:t>Contrôle de la température corporelle</a:t>
            </a:r>
          </a:p>
          <a:p>
            <a:pPr marL="536575" lvl="3" indent="-187325">
              <a:spcAft>
                <a:spcPct val="10000"/>
              </a:spcAft>
              <a:buClr>
                <a:schemeClr val="tx1"/>
              </a:buClr>
              <a:buSzPct val="70000"/>
            </a:pPr>
            <a:r>
              <a:rPr lang="fr-CA" sz="1600" dirty="0">
                <a:latin typeface="Arial" charset="0"/>
                <a:cs typeface="Arial" charset="0"/>
              </a:rPr>
              <a:t>Maintien d’une concentration adéquate des nutriments dans le sang, tel le glucose (</a:t>
            </a:r>
            <a:r>
              <a:rPr lang="fr-CA" sz="1600" i="1" dirty="0">
                <a:latin typeface="Arial" charset="0"/>
                <a:cs typeface="Arial" charset="0"/>
              </a:rPr>
              <a:t>glycémie</a:t>
            </a:r>
            <a:r>
              <a:rPr lang="fr-CA" sz="1600" dirty="0">
                <a:latin typeface="Arial" charset="0"/>
                <a:cs typeface="Arial" charset="0"/>
              </a:rPr>
              <a:t>: concentration sanguine de glucose)</a:t>
            </a:r>
          </a:p>
          <a:p>
            <a:pPr marL="536575" lvl="3" indent="-187325">
              <a:spcAft>
                <a:spcPct val="10000"/>
              </a:spcAft>
              <a:buClr>
                <a:schemeClr val="tx1"/>
              </a:buClr>
              <a:buSzPct val="70000"/>
            </a:pPr>
            <a:r>
              <a:rPr lang="fr-CA" sz="1600" dirty="0">
                <a:latin typeface="Arial" charset="0"/>
                <a:cs typeface="Arial" charset="0"/>
              </a:rPr>
              <a:t>Contrôle de la pression artérielle pour assurer une irrigation adéquation de tous les tissus</a:t>
            </a:r>
          </a:p>
          <a:p>
            <a:pPr marL="536575" lvl="3" indent="-187325">
              <a:spcAft>
                <a:spcPct val="10000"/>
              </a:spcAft>
              <a:buClr>
                <a:schemeClr val="tx1"/>
              </a:buClr>
              <a:buSzPct val="70000"/>
            </a:pPr>
            <a:r>
              <a:rPr lang="fr-CA" sz="1600" dirty="0">
                <a:latin typeface="Arial" charset="0"/>
                <a:cs typeface="Arial" charset="0"/>
              </a:rPr>
              <a:t>Maintien des concentrations sanguines des électrolytes (Na</a:t>
            </a:r>
            <a:r>
              <a:rPr lang="fr-CA" sz="1600" baseline="30000" dirty="0">
                <a:latin typeface="Arial" charset="0"/>
                <a:cs typeface="Arial" charset="0"/>
              </a:rPr>
              <a:t>+</a:t>
            </a:r>
            <a:r>
              <a:rPr lang="fr-CA" sz="1600" dirty="0">
                <a:latin typeface="Arial" charset="0"/>
                <a:cs typeface="Arial" charset="0"/>
              </a:rPr>
              <a:t>, Cl</a:t>
            </a:r>
            <a:r>
              <a:rPr lang="fr-CA" sz="1600" baseline="30000" dirty="0">
                <a:latin typeface="Arial" charset="0"/>
                <a:cs typeface="Arial" charset="0"/>
              </a:rPr>
              <a:t>−</a:t>
            </a:r>
            <a:r>
              <a:rPr lang="fr-CA" sz="1600" dirty="0">
                <a:latin typeface="Arial" charset="0"/>
                <a:cs typeface="Arial" charset="0"/>
              </a:rPr>
              <a:t>, K</a:t>
            </a:r>
            <a:r>
              <a:rPr lang="fr-CA" sz="1600" baseline="30000" dirty="0">
                <a:latin typeface="Arial" charset="0"/>
                <a:cs typeface="Arial" charset="0"/>
              </a:rPr>
              <a:t>+</a:t>
            </a:r>
            <a:r>
              <a:rPr lang="fr-CA" sz="1600" dirty="0">
                <a:latin typeface="Arial" charset="0"/>
                <a:cs typeface="Arial" charset="0"/>
              </a:rPr>
              <a:t>, Ca</a:t>
            </a:r>
            <a:r>
              <a:rPr lang="fr-CA" sz="1600" baseline="30000" dirty="0">
                <a:latin typeface="Arial" charset="0"/>
                <a:cs typeface="Arial" charset="0"/>
              </a:rPr>
              <a:t>2+</a:t>
            </a:r>
            <a:r>
              <a:rPr lang="fr-CA" sz="1600" dirty="0">
                <a:latin typeface="Arial" charset="0"/>
                <a:cs typeface="Arial" charset="0"/>
              </a:rPr>
              <a:t>, …)</a:t>
            </a:r>
          </a:p>
          <a:p>
            <a:pPr marL="536575" lvl="3" indent="-187325">
              <a:spcAft>
                <a:spcPct val="10000"/>
              </a:spcAft>
              <a:buClr>
                <a:schemeClr val="tx1"/>
              </a:buClr>
              <a:buSzPct val="70000"/>
            </a:pPr>
            <a:r>
              <a:rPr lang="fr-CA" sz="1600" dirty="0">
                <a:latin typeface="Arial" charset="0"/>
                <a:cs typeface="Arial" charset="0"/>
              </a:rPr>
              <a:t>Contrôle de la respiration pour assurer une oxygénation adéquate du sang et le maintien du pH sanguin</a:t>
            </a:r>
          </a:p>
        </p:txBody>
      </p:sp>
      <p:sp>
        <p:nvSpPr>
          <p:cNvPr id="530437" name="Rectangle 5"/>
          <p:cNvSpPr>
            <a:spLocks noChangeArrowheads="1"/>
          </p:cNvSpPr>
          <p:nvPr/>
        </p:nvSpPr>
        <p:spPr bwMode="auto">
          <a:xfrm>
            <a:off x="238125" y="933450"/>
            <a:ext cx="8637588" cy="48736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801688" indent="-801688" eaLnBrk="1" hangingPunct="1"/>
            <a:r>
              <a:rPr lang="fr-CA" sz="2200" b="1" dirty="0">
                <a:solidFill>
                  <a:srgbClr val="0000FF"/>
                </a:solidFill>
                <a:latin typeface="Arial" charset="0"/>
              </a:rPr>
              <a:t>4.1.1	</a:t>
            </a:r>
            <a:r>
              <a:rPr lang="fr-CA" sz="2200" b="1" u="sng" dirty="0">
                <a:solidFill>
                  <a:srgbClr val="0000FF"/>
                </a:solidFill>
                <a:latin typeface="Arial" charset="0"/>
              </a:rPr>
              <a:t>Définition et exemples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idx="4294967295"/>
          </p:nvPr>
        </p:nvSpPr>
        <p:spPr>
          <a:xfrm>
            <a:off x="239713" y="304142"/>
            <a:ext cx="8637587" cy="766762"/>
          </a:xfrm>
          <a:prstGeom prst="rect">
            <a:avLst/>
          </a:prstGeom>
        </p:spPr>
        <p:txBody>
          <a:bodyPr/>
          <a:lstStyle/>
          <a:p>
            <a:pPr marL="808038" indent="-808038"/>
            <a:r>
              <a:rPr lang="fr-CA" sz="2200" dirty="0">
                <a:solidFill>
                  <a:srgbClr val="0000FF"/>
                </a:solidFill>
              </a:rPr>
              <a:t>4.1.2	</a:t>
            </a:r>
            <a:r>
              <a:rPr lang="fr-CA" sz="2200" u="sng" dirty="0">
                <a:solidFill>
                  <a:srgbClr val="0000FF"/>
                </a:solidFill>
              </a:rPr>
              <a:t>Décrire les éléments essentiels qui participent aux mécanismes de régulation homéostatique</a:t>
            </a:r>
          </a:p>
        </p:txBody>
      </p:sp>
      <p:pic>
        <p:nvPicPr>
          <p:cNvPr id="3" name="Picture 2" descr="A close up of a map&#10;&#10;Description automatically generated">
            <a:extLst>
              <a:ext uri="{FF2B5EF4-FFF2-40B4-BE49-F238E27FC236}">
                <a16:creationId xmlns:a16="http://schemas.microsoft.com/office/drawing/2014/main" id="{67A1BB3C-598E-4F89-A1C1-A7D0371B7EDA}"/>
              </a:ext>
            </a:extLst>
          </p:cNvPr>
          <p:cNvPicPr>
            <a:picLocks noChangeAspect="1"/>
          </p:cNvPicPr>
          <p:nvPr/>
        </p:nvPicPr>
        <p:blipFill rotWithShape="1">
          <a:blip r:embed="rId3">
            <a:extLst>
              <a:ext uri="{28A0092B-C50C-407E-A947-70E740481C1C}">
                <a14:useLocalDpi xmlns:a14="http://schemas.microsoft.com/office/drawing/2010/main" val="0"/>
              </a:ext>
            </a:extLst>
          </a:blip>
          <a:srcRect b="3168"/>
          <a:stretch/>
        </p:blipFill>
        <p:spPr>
          <a:xfrm>
            <a:off x="1358832" y="1154036"/>
            <a:ext cx="5954493" cy="48999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Rectangle 3"/>
          <p:cNvSpPr>
            <a:spLocks noGrp="1" noChangeArrowheads="1"/>
          </p:cNvSpPr>
          <p:nvPr>
            <p:ph type="body" idx="4294967295"/>
          </p:nvPr>
        </p:nvSpPr>
        <p:spPr>
          <a:xfrm>
            <a:off x="492125" y="482600"/>
            <a:ext cx="8126413" cy="4395788"/>
          </a:xfrm>
          <a:noFill/>
          <a:ln w="6350">
            <a:noFill/>
            <a:miter lim="800000"/>
            <a:headEnd/>
            <a:tailEnd/>
          </a:ln>
        </p:spPr>
        <p:txBody>
          <a:bodyPr/>
          <a:lstStyle/>
          <a:p>
            <a:pPr marL="182563" indent="-182563">
              <a:buClr>
                <a:schemeClr val="tx1"/>
              </a:buClr>
              <a:buSzPct val="120000"/>
              <a:buFontTx/>
              <a:buChar char="•"/>
              <a:tabLst>
                <a:tab pos="809625" algn="l"/>
                <a:tab pos="2246313" algn="l"/>
              </a:tabLst>
            </a:pPr>
            <a:r>
              <a:rPr lang="fr-CA" sz="1600" b="1" i="1" dirty="0">
                <a:latin typeface="Arial" charset="0"/>
                <a:cs typeface="Arial" charset="0"/>
              </a:rPr>
              <a:t>Variable </a:t>
            </a:r>
            <a:r>
              <a:rPr lang="fr-CA" sz="1600" b="1" dirty="0">
                <a:latin typeface="Arial" charset="0"/>
                <a:cs typeface="Arial" charset="0"/>
              </a:rPr>
              <a:t>:</a:t>
            </a:r>
            <a:r>
              <a:rPr lang="fr-CA" sz="1600" dirty="0">
                <a:latin typeface="Arial" charset="0"/>
                <a:cs typeface="Arial" charset="0"/>
              </a:rPr>
              <a:t> facteur à contrôler</a:t>
            </a:r>
          </a:p>
          <a:p>
            <a:pPr marL="182563" indent="-182563">
              <a:spcAft>
                <a:spcPct val="25000"/>
              </a:spcAft>
              <a:buClr>
                <a:schemeClr val="tx1"/>
              </a:buClr>
              <a:buSzPct val="120000"/>
              <a:buFontTx/>
              <a:buChar char="•"/>
              <a:tabLst>
                <a:tab pos="809625" algn="l"/>
                <a:tab pos="2246313" algn="l"/>
              </a:tabLst>
            </a:pPr>
            <a:r>
              <a:rPr lang="fr-CA" sz="1600" dirty="0">
                <a:latin typeface="Arial" charset="0"/>
                <a:cs typeface="Arial" charset="0"/>
              </a:rPr>
              <a:t>Trois éléments interdépendants assurent le contrôle de la variable :</a:t>
            </a:r>
            <a:endParaRPr lang="fr-CA" sz="1600" b="1" dirty="0">
              <a:latin typeface="Arial" charset="0"/>
              <a:cs typeface="Arial" charset="0"/>
            </a:endParaRPr>
          </a:p>
          <a:p>
            <a:pPr marL="630238" lvl="1" indent="-450850">
              <a:spcAft>
                <a:spcPct val="25000"/>
              </a:spcAft>
              <a:buClr>
                <a:schemeClr val="tx1"/>
              </a:buClr>
              <a:buSzTx/>
              <a:buFont typeface="Wingdings" pitchFamily="2" charset="2"/>
              <a:buAutoNum type="romanLcParenBoth"/>
              <a:tabLst>
                <a:tab pos="2246313" algn="l"/>
              </a:tabLst>
            </a:pPr>
            <a:r>
              <a:rPr lang="fr-CA" sz="1600" b="1" u="sng" dirty="0">
                <a:latin typeface="Arial" charset="0"/>
                <a:cs typeface="Arial" charset="0"/>
              </a:rPr>
              <a:t>Récepteur</a:t>
            </a:r>
            <a:r>
              <a:rPr lang="fr-CA" sz="1600" b="1" dirty="0">
                <a:latin typeface="Arial" charset="0"/>
                <a:cs typeface="Arial" charset="0"/>
              </a:rPr>
              <a:t> : </a:t>
            </a:r>
            <a:r>
              <a:rPr lang="fr-CA" sz="1600" dirty="0">
                <a:latin typeface="Arial" charset="0"/>
                <a:cs typeface="Arial" charset="0"/>
              </a:rPr>
              <a:t>répond aux changements </a:t>
            </a:r>
            <a:r>
              <a:rPr lang="fr-CA" sz="1600" b="1" dirty="0">
                <a:latin typeface="Arial" charset="0"/>
                <a:cs typeface="Arial" charset="0"/>
              </a:rPr>
              <a:t>(</a:t>
            </a:r>
            <a:r>
              <a:rPr lang="fr-CA" sz="1600" b="1" i="1" dirty="0">
                <a:latin typeface="Arial" charset="0"/>
                <a:cs typeface="Arial" charset="0"/>
              </a:rPr>
              <a:t>stimulus</a:t>
            </a:r>
            <a:r>
              <a:rPr lang="fr-CA" sz="1600" b="1" dirty="0">
                <a:latin typeface="Arial" charset="0"/>
                <a:cs typeface="Arial" charset="0"/>
              </a:rPr>
              <a:t>)</a:t>
            </a:r>
            <a:r>
              <a:rPr lang="fr-CA" sz="1600" dirty="0">
                <a:latin typeface="Arial" charset="0"/>
                <a:cs typeface="Arial" charset="0"/>
              </a:rPr>
              <a:t> de la variable en envoyant l’information au centre de régulation.</a:t>
            </a:r>
          </a:p>
          <a:p>
            <a:pPr marL="630238" lvl="1" indent="-450850">
              <a:spcAft>
                <a:spcPct val="25000"/>
              </a:spcAft>
              <a:buClr>
                <a:schemeClr val="tx1"/>
              </a:buClr>
              <a:buSzTx/>
              <a:buFont typeface="Wingdings" pitchFamily="2" charset="2"/>
              <a:buAutoNum type="romanLcParenBoth"/>
              <a:tabLst>
                <a:tab pos="2246313" algn="l"/>
              </a:tabLst>
            </a:pPr>
            <a:r>
              <a:rPr lang="fr-CA" sz="1600" b="1" u="sng" dirty="0">
                <a:latin typeface="Arial" charset="0"/>
                <a:cs typeface="Arial" charset="0"/>
              </a:rPr>
              <a:t>Centre de régulation</a:t>
            </a:r>
            <a:r>
              <a:rPr lang="fr-CA" sz="1600" b="1" dirty="0">
                <a:latin typeface="Arial" charset="0"/>
                <a:cs typeface="Arial" charset="0"/>
              </a:rPr>
              <a:t> :</a:t>
            </a:r>
          </a:p>
          <a:p>
            <a:pPr marL="808038" lvl="2" indent="-179388">
              <a:spcAft>
                <a:spcPct val="25000"/>
              </a:spcAft>
              <a:buClr>
                <a:schemeClr val="tx1"/>
              </a:buClr>
              <a:buSzPct val="90000"/>
              <a:buFont typeface="Arial" charset="0"/>
              <a:buChar char="−"/>
              <a:tabLst>
                <a:tab pos="2246313" algn="l"/>
              </a:tabLst>
            </a:pPr>
            <a:r>
              <a:rPr lang="fr-CA" sz="1600" dirty="0">
                <a:latin typeface="Arial" charset="0"/>
                <a:cs typeface="Arial" charset="0"/>
              </a:rPr>
              <a:t>Détermine la </a:t>
            </a:r>
            <a:r>
              <a:rPr lang="fr-CA" sz="1600" b="1" i="1" dirty="0">
                <a:latin typeface="Arial" charset="0"/>
                <a:cs typeface="Arial" charset="0"/>
              </a:rPr>
              <a:t>valeur de référence </a:t>
            </a:r>
            <a:r>
              <a:rPr lang="fr-CA" sz="1600" dirty="0">
                <a:latin typeface="Arial" charset="0"/>
                <a:cs typeface="Arial" charset="0"/>
              </a:rPr>
              <a:t>de la variable</a:t>
            </a:r>
            <a:r>
              <a:rPr lang="fr-CA" sz="1600" b="1" dirty="0">
                <a:latin typeface="Arial" charset="0"/>
                <a:cs typeface="Arial" charset="0"/>
              </a:rPr>
              <a:t> </a:t>
            </a:r>
            <a:r>
              <a:rPr lang="fr-CA" sz="1600" dirty="0">
                <a:latin typeface="Arial" charset="0"/>
                <a:cs typeface="Arial" charset="0"/>
              </a:rPr>
              <a:t>contrôlée.</a:t>
            </a:r>
          </a:p>
          <a:p>
            <a:pPr marL="808038" lvl="2" indent="-179388">
              <a:spcAft>
                <a:spcPct val="25000"/>
              </a:spcAft>
              <a:buClr>
                <a:schemeClr val="tx1"/>
              </a:buClr>
              <a:buSzPct val="90000"/>
              <a:buFont typeface="Arial" charset="0"/>
              <a:buChar char="−"/>
              <a:tabLst>
                <a:tab pos="2246313" algn="l"/>
              </a:tabLst>
            </a:pPr>
            <a:r>
              <a:rPr lang="fr-CA" sz="1600" dirty="0">
                <a:latin typeface="Arial" charset="0"/>
                <a:cs typeface="Arial" charset="0"/>
              </a:rPr>
              <a:t>Compare cette valeur à l’information reçue (</a:t>
            </a:r>
            <a:r>
              <a:rPr lang="fr-CA" sz="1600" i="1" dirty="0">
                <a:latin typeface="Arial" charset="0"/>
                <a:cs typeface="Arial" charset="0"/>
              </a:rPr>
              <a:t>entrée = “input”</a:t>
            </a:r>
            <a:r>
              <a:rPr lang="fr-CA" sz="1600" dirty="0">
                <a:latin typeface="Arial" charset="0"/>
                <a:cs typeface="Arial" charset="0"/>
              </a:rPr>
              <a:t>).</a:t>
            </a:r>
          </a:p>
          <a:p>
            <a:pPr marL="808038" lvl="2" indent="-179388">
              <a:spcAft>
                <a:spcPct val="25000"/>
              </a:spcAft>
              <a:buClr>
                <a:schemeClr val="tx1"/>
              </a:buClr>
              <a:buSzPct val="90000"/>
              <a:buFont typeface="Arial" charset="0"/>
              <a:buChar char="−"/>
              <a:tabLst>
                <a:tab pos="2246313" algn="l"/>
              </a:tabLst>
            </a:pPr>
            <a:r>
              <a:rPr lang="fr-CA" sz="1600" dirty="0">
                <a:latin typeface="Arial" charset="0"/>
                <a:cs typeface="Arial" charset="0"/>
              </a:rPr>
              <a:t>Détermine la réaction appropriée en envoyant un signal (</a:t>
            </a:r>
            <a:r>
              <a:rPr lang="fr-CA" sz="1600" i="1" dirty="0">
                <a:latin typeface="Arial" charset="0"/>
                <a:cs typeface="Arial" charset="0"/>
              </a:rPr>
              <a:t>sortie = “output”</a:t>
            </a:r>
            <a:r>
              <a:rPr lang="fr-CA" sz="1600" dirty="0">
                <a:latin typeface="Arial" charset="0"/>
                <a:cs typeface="Arial" charset="0"/>
              </a:rPr>
              <a:t>) à l’effecteur.</a:t>
            </a:r>
          </a:p>
          <a:p>
            <a:pPr marL="630238" lvl="1" indent="-450850">
              <a:buClr>
                <a:schemeClr val="tx1"/>
              </a:buClr>
              <a:buSzTx/>
              <a:buFont typeface="Wingdings" pitchFamily="2" charset="2"/>
              <a:buAutoNum type="romanLcParenBoth"/>
              <a:tabLst>
                <a:tab pos="2246313" algn="l"/>
              </a:tabLst>
            </a:pPr>
            <a:r>
              <a:rPr lang="fr-CA" sz="1600" b="1" u="sng" dirty="0">
                <a:latin typeface="Arial" charset="0"/>
                <a:cs typeface="Arial" charset="0"/>
              </a:rPr>
              <a:t>Effecteur</a:t>
            </a:r>
            <a:r>
              <a:rPr lang="fr-CA" sz="1600" b="1" dirty="0">
                <a:latin typeface="Arial" charset="0"/>
                <a:cs typeface="Arial" charset="0"/>
              </a:rPr>
              <a:t> : </a:t>
            </a:r>
            <a:r>
              <a:rPr lang="fr-CA" sz="1600" dirty="0">
                <a:latin typeface="Arial" charset="0"/>
                <a:cs typeface="Arial" charset="0"/>
              </a:rPr>
              <a:t>système qui peut ramener la variable au niveau souhaité.</a:t>
            </a:r>
          </a:p>
          <a:p>
            <a:pPr marL="182563" indent="-182563">
              <a:spcBef>
                <a:spcPct val="50000"/>
              </a:spcBef>
              <a:spcAft>
                <a:spcPct val="25000"/>
              </a:spcAft>
              <a:buClr>
                <a:schemeClr val="tx1"/>
              </a:buClr>
              <a:buSzPct val="120000"/>
              <a:buFontTx/>
              <a:buChar char="•"/>
              <a:tabLst>
                <a:tab pos="809625" algn="l"/>
                <a:tab pos="2246313" algn="l"/>
              </a:tabLst>
            </a:pPr>
            <a:r>
              <a:rPr lang="fr-CA" sz="1600" b="1" i="1" dirty="0">
                <a:latin typeface="Arial" charset="0"/>
                <a:cs typeface="Arial" charset="0"/>
              </a:rPr>
              <a:t>Voie afférente </a:t>
            </a:r>
            <a:r>
              <a:rPr lang="fr-CA" sz="1600" b="1" dirty="0">
                <a:latin typeface="Arial" charset="0"/>
                <a:cs typeface="Arial" charset="0"/>
              </a:rPr>
              <a:t>: </a:t>
            </a:r>
            <a:r>
              <a:rPr lang="fr-CA" sz="1600" dirty="0">
                <a:latin typeface="Arial" charset="0"/>
                <a:cs typeface="Arial" charset="0"/>
              </a:rPr>
              <a:t>voie des informations du récepteur au centre de régulation</a:t>
            </a:r>
            <a:endParaRPr lang="fr-CA" sz="1600" b="1" i="1" dirty="0">
              <a:latin typeface="Arial" charset="0"/>
              <a:cs typeface="Arial" charset="0"/>
            </a:endParaRPr>
          </a:p>
          <a:p>
            <a:pPr marL="182563" indent="-182563">
              <a:spcAft>
                <a:spcPct val="25000"/>
              </a:spcAft>
              <a:buClr>
                <a:schemeClr val="tx1"/>
              </a:buClr>
              <a:buSzPct val="120000"/>
              <a:buFontTx/>
              <a:buChar char="•"/>
              <a:tabLst>
                <a:tab pos="809625" algn="l"/>
                <a:tab pos="2246313" algn="l"/>
              </a:tabLst>
            </a:pPr>
            <a:r>
              <a:rPr lang="fr-CA" sz="1600" b="1" i="1" dirty="0">
                <a:latin typeface="Arial" charset="0"/>
                <a:cs typeface="Arial" charset="0"/>
              </a:rPr>
              <a:t>Voie efférente </a:t>
            </a:r>
            <a:r>
              <a:rPr lang="fr-CA" sz="1600" b="1" dirty="0">
                <a:latin typeface="Arial" charset="0"/>
                <a:cs typeface="Arial" charset="0"/>
              </a:rPr>
              <a:t>:</a:t>
            </a:r>
            <a:r>
              <a:rPr lang="fr-CA" sz="1600" dirty="0">
                <a:latin typeface="Arial" charset="0"/>
                <a:cs typeface="Arial" charset="0"/>
              </a:rPr>
              <a:t> voie des informations du centre de régulation </a:t>
            </a:r>
            <a:r>
              <a:rPr lang="en-US" sz="1600" dirty="0">
                <a:latin typeface="Arial" charset="0"/>
                <a:cs typeface="Arial" charset="0"/>
              </a:rPr>
              <a:t>à l’effecteur</a:t>
            </a:r>
            <a:endParaRPr lang="fr-CA" sz="1600" dirty="0">
              <a:latin typeface="Arial" charset="0"/>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idx="4294967295"/>
          </p:nvPr>
        </p:nvSpPr>
        <p:spPr>
          <a:xfrm>
            <a:off x="304800" y="261938"/>
            <a:ext cx="8610600" cy="473558"/>
          </a:xfrm>
          <a:prstGeom prst="rect">
            <a:avLst/>
          </a:prstGeom>
        </p:spPr>
        <p:txBody>
          <a:bodyPr/>
          <a:lstStyle/>
          <a:p>
            <a:pPr marL="808038" indent="-808038"/>
            <a:r>
              <a:rPr lang="en-CA" sz="2200" dirty="0">
                <a:solidFill>
                  <a:srgbClr val="0000FF"/>
                </a:solidFill>
              </a:rPr>
              <a:t>4.1.3	</a:t>
            </a:r>
            <a:r>
              <a:rPr lang="fr-CA" sz="2200" u="sng" dirty="0">
                <a:solidFill>
                  <a:srgbClr val="0000FF"/>
                </a:solidFill>
              </a:rPr>
              <a:t>Distinguer entre rétro-inhibition et rétroactivation</a:t>
            </a:r>
          </a:p>
        </p:txBody>
      </p:sp>
      <p:sp>
        <p:nvSpPr>
          <p:cNvPr id="536579" name="Rectangle 3"/>
          <p:cNvSpPr>
            <a:spLocks noGrp="1" noChangeArrowheads="1"/>
          </p:cNvSpPr>
          <p:nvPr>
            <p:ph type="body" sz="half" idx="4294967295"/>
          </p:nvPr>
        </p:nvSpPr>
        <p:spPr>
          <a:xfrm>
            <a:off x="364272" y="831851"/>
            <a:ext cx="8610599" cy="4894186"/>
          </a:xfrm>
          <a:noFill/>
          <a:ln w="6350">
            <a:noFill/>
            <a:miter lim="800000"/>
            <a:headEnd/>
            <a:tailEnd/>
          </a:ln>
        </p:spPr>
        <p:txBody>
          <a:bodyPr lIns="36000" rIns="36000"/>
          <a:lstStyle/>
          <a:p>
            <a:pPr marL="0" indent="0">
              <a:spcBef>
                <a:spcPts val="600"/>
              </a:spcBef>
              <a:spcAft>
                <a:spcPts val="0"/>
              </a:spcAft>
              <a:buClr>
                <a:schemeClr val="tx1"/>
              </a:buClr>
              <a:buSzTx/>
              <a:buFontTx/>
              <a:buNone/>
              <a:tabLst>
                <a:tab pos="746125" algn="l"/>
              </a:tabLst>
            </a:pPr>
            <a:r>
              <a:rPr lang="fr-CA" sz="1600" b="1" dirty="0">
                <a:latin typeface="Arial" charset="0"/>
                <a:cs typeface="Arial" charset="0"/>
              </a:rPr>
              <a:t>RÉTROACTION </a:t>
            </a:r>
            <a:r>
              <a:rPr lang="fr-CA" sz="1600" dirty="0">
                <a:latin typeface="Arial" charset="0"/>
                <a:cs typeface="Arial" charset="0"/>
              </a:rPr>
              <a:t>(“rétrocontrôle”, “feed-back”) : système de réactions en boucle dont la réponse modifie le variable contrôlée (c’est-à-dire dont la sortie modifie l’entrée).</a:t>
            </a:r>
          </a:p>
          <a:p>
            <a:pPr marL="0" indent="0">
              <a:spcBef>
                <a:spcPts val="600"/>
              </a:spcBef>
              <a:buClr>
                <a:schemeClr val="tx1"/>
              </a:buClr>
              <a:buSzTx/>
              <a:buFontTx/>
              <a:buNone/>
              <a:tabLst>
                <a:tab pos="746125" algn="l"/>
              </a:tabLst>
            </a:pPr>
            <a:r>
              <a:rPr lang="fr-CA" sz="1600" dirty="0">
                <a:latin typeface="Arial" charset="0"/>
                <a:cs typeface="Arial" charset="0"/>
              </a:rPr>
              <a:t>La rétroaction peut être négative (</a:t>
            </a:r>
            <a:r>
              <a:rPr lang="fr-CA" sz="1600" i="1" dirty="0">
                <a:latin typeface="Arial" charset="0"/>
                <a:cs typeface="Arial" charset="0"/>
              </a:rPr>
              <a:t>rétro-inhibition</a:t>
            </a:r>
            <a:r>
              <a:rPr lang="fr-CA" sz="1600" dirty="0">
                <a:latin typeface="Arial" charset="0"/>
                <a:cs typeface="Arial" charset="0"/>
              </a:rPr>
              <a:t>) ou positive (</a:t>
            </a:r>
            <a:r>
              <a:rPr lang="fr-CA" sz="1600" i="1" dirty="0">
                <a:latin typeface="Arial" charset="0"/>
                <a:cs typeface="Arial" charset="0"/>
              </a:rPr>
              <a:t>rétroactivation</a:t>
            </a:r>
            <a:r>
              <a:rPr lang="fr-CA" sz="1600" dirty="0">
                <a:latin typeface="Arial" charset="0"/>
                <a:cs typeface="Arial" charset="0"/>
              </a:rPr>
              <a:t>). </a:t>
            </a:r>
          </a:p>
          <a:p>
            <a:pPr marL="265113" lvl="1" indent="-265113">
              <a:spcAft>
                <a:spcPct val="25000"/>
              </a:spcAft>
              <a:buClr>
                <a:schemeClr val="tx1"/>
              </a:buClr>
              <a:buSzPct val="110000"/>
              <a:buFontTx/>
              <a:buNone/>
              <a:tabLst>
                <a:tab pos="746125" algn="l"/>
              </a:tabLst>
            </a:pPr>
            <a:r>
              <a:rPr lang="fr-CA" sz="1800" b="1" dirty="0">
                <a:latin typeface="Arial" charset="0"/>
                <a:cs typeface="Arial" charset="0"/>
              </a:rPr>
              <a:t>i)	</a:t>
            </a:r>
            <a:r>
              <a:rPr lang="fr-CA" sz="1800" b="1" u="sng" dirty="0">
                <a:latin typeface="Arial" charset="0"/>
                <a:cs typeface="Arial" charset="0"/>
              </a:rPr>
              <a:t>RÉTRO-INHIBITION</a:t>
            </a:r>
            <a:endParaRPr lang="fr-CA" sz="1800" b="1" dirty="0">
              <a:latin typeface="Arial" charset="0"/>
              <a:cs typeface="Arial" charset="0"/>
            </a:endParaRPr>
          </a:p>
          <a:p>
            <a:pPr marL="450850" lvl="2" indent="-185738">
              <a:spcAft>
                <a:spcPct val="0"/>
              </a:spcAft>
              <a:buClr>
                <a:schemeClr val="tx1"/>
              </a:buClr>
              <a:buSzPct val="90000"/>
            </a:pPr>
            <a:r>
              <a:rPr lang="fr-CA" sz="1600" dirty="0">
                <a:latin typeface="Arial" charset="0"/>
                <a:cs typeface="Arial" charset="0"/>
              </a:rPr>
              <a:t>Lorsque la réponse tend </a:t>
            </a:r>
            <a:r>
              <a:rPr lang="en-US" sz="1600" dirty="0">
                <a:latin typeface="Arial" charset="0"/>
                <a:cs typeface="Arial" charset="0"/>
              </a:rPr>
              <a:t>à </a:t>
            </a:r>
            <a:r>
              <a:rPr lang="fr-CA" sz="1600" dirty="0">
                <a:latin typeface="Arial" charset="0"/>
                <a:cs typeface="Arial" charset="0"/>
              </a:rPr>
              <a:t>inhiber le stimulus de départ.</a:t>
            </a:r>
          </a:p>
          <a:p>
            <a:pPr marL="719138" lvl="2" indent="-182563">
              <a:spcAft>
                <a:spcPct val="0"/>
              </a:spcAft>
              <a:buClr>
                <a:schemeClr val="tx1"/>
              </a:buClr>
              <a:buSzPct val="70000"/>
              <a:buFont typeface="Wingdings" pitchFamily="2" charset="2"/>
              <a:buNone/>
              <a:tabLst>
                <a:tab pos="746125" algn="l"/>
              </a:tabLst>
            </a:pPr>
            <a:r>
              <a:rPr lang="fr-CA" sz="1600" dirty="0">
                <a:latin typeface="Arial" charset="0"/>
                <a:cs typeface="Arial" charset="0"/>
                <a:sym typeface="Wingdings" pitchFamily="2" charset="2"/>
              </a:rPr>
              <a:t></a:t>
            </a:r>
            <a:r>
              <a:rPr lang="fr-CA" sz="1600" dirty="0">
                <a:latin typeface="Arial" charset="0"/>
                <a:cs typeface="Arial" charset="0"/>
              </a:rPr>
              <a:t> La variable change dans une direction </a:t>
            </a:r>
            <a:r>
              <a:rPr lang="fr-CA" sz="1600" u="sng" dirty="0">
                <a:latin typeface="Arial" charset="0"/>
                <a:cs typeface="Arial" charset="0"/>
              </a:rPr>
              <a:t>opposée</a:t>
            </a:r>
            <a:r>
              <a:rPr lang="fr-CA" sz="1600" dirty="0">
                <a:latin typeface="Arial" charset="0"/>
                <a:cs typeface="Arial" charset="0"/>
              </a:rPr>
              <a:t> </a:t>
            </a:r>
            <a:r>
              <a:rPr lang="en-US" sz="1600" dirty="0">
                <a:latin typeface="Arial" charset="0"/>
                <a:cs typeface="Arial" charset="0"/>
              </a:rPr>
              <a:t>à</a:t>
            </a:r>
            <a:r>
              <a:rPr lang="fr-CA" sz="1600" dirty="0">
                <a:latin typeface="Arial" charset="0"/>
                <a:cs typeface="Arial" charset="0"/>
              </a:rPr>
              <a:t> son changement initial.</a:t>
            </a:r>
          </a:p>
          <a:p>
            <a:pPr marL="450850" lvl="2" indent="-185738">
              <a:spcBef>
                <a:spcPts val="600"/>
              </a:spcBef>
              <a:spcAft>
                <a:spcPts val="0"/>
              </a:spcAft>
              <a:buClr>
                <a:schemeClr val="tx1"/>
              </a:buClr>
              <a:buSzPct val="90000"/>
            </a:pPr>
            <a:r>
              <a:rPr lang="fr-CA" sz="1600" dirty="0">
                <a:latin typeface="Arial" charset="0"/>
                <a:cs typeface="Arial" charset="0"/>
              </a:rPr>
              <a:t>Objectif des systèmes de rétro-inhibition:</a:t>
            </a:r>
            <a:r>
              <a:rPr lang="fr-CA" sz="1600" b="1" dirty="0">
                <a:latin typeface="Arial" charset="0"/>
                <a:cs typeface="Arial" charset="0"/>
              </a:rPr>
              <a:t> </a:t>
            </a:r>
            <a:r>
              <a:rPr lang="fr-CA" sz="1600" dirty="0">
                <a:latin typeface="Arial" charset="0"/>
                <a:cs typeface="Arial" charset="0"/>
              </a:rPr>
              <a:t>maintenir le niveau d’une variable dans un intervalle donné; soit empêcher les changements majeurs au sein de l’organisme.</a:t>
            </a:r>
          </a:p>
          <a:p>
            <a:pPr marL="450850" lvl="2" indent="-185738">
              <a:spcBef>
                <a:spcPts val="600"/>
              </a:spcBef>
              <a:spcAft>
                <a:spcPts val="0"/>
              </a:spcAft>
              <a:buClr>
                <a:schemeClr val="tx1"/>
              </a:buClr>
              <a:buSzPct val="90000"/>
            </a:pPr>
            <a:r>
              <a:rPr lang="fr-CA" sz="1600" dirty="0">
                <a:latin typeface="Arial" charset="0"/>
                <a:cs typeface="Arial" charset="0"/>
              </a:rPr>
              <a:t>Les systèmes de rétro-inhibition constituent la très grande majorité des systèmes de régulation homéostatique.</a:t>
            </a:r>
          </a:p>
          <a:p>
            <a:pPr marL="450850" lvl="2" indent="-185738">
              <a:spcBef>
                <a:spcPts val="1200"/>
              </a:spcBef>
              <a:spcAft>
                <a:spcPts val="0"/>
              </a:spcAft>
              <a:buClr>
                <a:schemeClr val="tx1"/>
              </a:buClr>
              <a:buSzPct val="90000"/>
            </a:pPr>
            <a:r>
              <a:rPr lang="fr-CA" sz="1600" dirty="0">
                <a:latin typeface="Arial" charset="0"/>
                <a:cs typeface="Arial" charset="0"/>
              </a:rPr>
              <a:t>Exemples :</a:t>
            </a:r>
          </a:p>
          <a:p>
            <a:pPr marL="808038" lvl="3" indent="-271463">
              <a:spcAft>
                <a:spcPct val="10000"/>
              </a:spcAft>
              <a:buClr>
                <a:schemeClr val="tx1"/>
              </a:buClr>
              <a:buSzTx/>
              <a:buFont typeface="+mj-lt"/>
              <a:buAutoNum type="arabicPeriod"/>
            </a:pPr>
            <a:r>
              <a:rPr lang="fr-CA" sz="1600" i="1" dirty="0">
                <a:latin typeface="Arial" charset="0"/>
                <a:cs typeface="Arial" charset="0"/>
              </a:rPr>
              <a:t>Thermorégulation</a:t>
            </a:r>
            <a:r>
              <a:rPr lang="fr-CA" sz="1600" dirty="0">
                <a:latin typeface="Arial" charset="0"/>
                <a:cs typeface="Arial" charset="0"/>
              </a:rPr>
              <a:t> (régulation de la température corporelle)</a:t>
            </a:r>
          </a:p>
          <a:p>
            <a:pPr marL="808038" lvl="3" indent="-271463">
              <a:buClr>
                <a:schemeClr val="tx1"/>
              </a:buClr>
              <a:buSzTx/>
              <a:buFont typeface="+mj-lt"/>
              <a:buAutoNum type="arabicPeriod"/>
            </a:pPr>
            <a:r>
              <a:rPr lang="fr-CA" sz="1600" i="1" dirty="0">
                <a:latin typeface="Arial" charset="0"/>
                <a:cs typeface="Arial" charset="0"/>
              </a:rPr>
              <a:t>Régulation de l’érythropoïèse</a:t>
            </a:r>
            <a:r>
              <a:rPr lang="fr-CA" sz="1600" dirty="0">
                <a:latin typeface="Arial" charset="0"/>
                <a:cs typeface="Arial" charset="0"/>
              </a:rPr>
              <a:t> (formation des érythrocytes)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Text Box 4"/>
          <p:cNvSpPr txBox="1">
            <a:spLocks noChangeArrowheads="1"/>
          </p:cNvSpPr>
          <p:nvPr/>
        </p:nvSpPr>
        <p:spPr bwMode="auto">
          <a:xfrm>
            <a:off x="2211572" y="247031"/>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fr-CA"/>
          </a:p>
        </p:txBody>
      </p:sp>
      <p:sp>
        <p:nvSpPr>
          <p:cNvPr id="540685" name="Text Box 13"/>
          <p:cNvSpPr txBox="1">
            <a:spLocks noChangeArrowheads="1"/>
          </p:cNvSpPr>
          <p:nvPr/>
        </p:nvSpPr>
        <p:spPr bwMode="auto">
          <a:xfrm>
            <a:off x="233702" y="275272"/>
            <a:ext cx="5583580" cy="369332"/>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CA" dirty="0">
                <a:latin typeface="Arial" charset="0"/>
                <a:cs typeface="Arial" charset="0"/>
              </a:rPr>
              <a:t>Exemple 1 :  </a:t>
            </a:r>
            <a:r>
              <a:rPr lang="fr-CA" u="sng" dirty="0">
                <a:latin typeface="Arial" charset="0"/>
                <a:cs typeface="Arial" charset="0"/>
              </a:rPr>
              <a:t>Régulation de la température corporelle</a:t>
            </a:r>
          </a:p>
        </p:txBody>
      </p:sp>
      <p:pic>
        <p:nvPicPr>
          <p:cNvPr id="540722" name="Picture 50" descr="C:\OLD_PC\backup\DriveD\michel\Marieb\HAP8e_IRDVD\Chapter_01\B_JPEG_Images_and_Tables\b_unlabeled\figure_01_05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92" b="5707"/>
          <a:stretch/>
        </p:blipFill>
        <p:spPr bwMode="auto">
          <a:xfrm>
            <a:off x="1227287" y="761289"/>
            <a:ext cx="6063981" cy="5236638"/>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p:cNvSpPr txBox="1"/>
          <p:nvPr/>
        </p:nvSpPr>
        <p:spPr>
          <a:xfrm>
            <a:off x="3635285" y="803288"/>
            <a:ext cx="1277914" cy="438582"/>
          </a:xfrm>
          <a:prstGeom prst="rect">
            <a:avLst/>
          </a:prstGeom>
          <a:noFill/>
        </p:spPr>
        <p:txBody>
          <a:bodyPr wrap="none" rtlCol="0">
            <a:spAutoFit/>
          </a:bodyPr>
          <a:lstStyle/>
          <a:p>
            <a:r>
              <a:rPr lang="fr-CA" sz="1000" b="1" dirty="0">
                <a:latin typeface="Calibri" pitchFamily="34" charset="0"/>
                <a:cs typeface="Calibri" pitchFamily="34" charset="0"/>
              </a:rPr>
              <a:t>Centre de régulation</a:t>
            </a:r>
          </a:p>
          <a:p>
            <a:pPr algn="ctr">
              <a:spcBef>
                <a:spcPts val="300"/>
              </a:spcBef>
              <a:spcAft>
                <a:spcPts val="0"/>
              </a:spcAft>
            </a:pPr>
            <a:r>
              <a:rPr lang="fr-CA" sz="1000" b="1" dirty="0">
                <a:latin typeface="Calibri" pitchFamily="34" charset="0"/>
                <a:cs typeface="Calibri" pitchFamily="34" charset="0"/>
              </a:rPr>
              <a:t>Hypothalamus</a:t>
            </a:r>
          </a:p>
        </p:txBody>
      </p:sp>
      <p:sp>
        <p:nvSpPr>
          <p:cNvPr id="41" name="ZoneTexte 40"/>
          <p:cNvSpPr txBox="1"/>
          <p:nvPr/>
        </p:nvSpPr>
        <p:spPr>
          <a:xfrm>
            <a:off x="3619171" y="5513754"/>
            <a:ext cx="1277914" cy="438582"/>
          </a:xfrm>
          <a:prstGeom prst="rect">
            <a:avLst/>
          </a:prstGeom>
          <a:noFill/>
        </p:spPr>
        <p:txBody>
          <a:bodyPr wrap="none" rtlCol="0">
            <a:spAutoFit/>
          </a:bodyPr>
          <a:lstStyle/>
          <a:p>
            <a:r>
              <a:rPr lang="fr-CA" sz="1000" b="1" dirty="0">
                <a:latin typeface="Calibri" pitchFamily="34" charset="0"/>
                <a:cs typeface="Calibri" pitchFamily="34" charset="0"/>
              </a:rPr>
              <a:t>Centre de régulation</a:t>
            </a:r>
          </a:p>
          <a:p>
            <a:pPr algn="ctr">
              <a:spcBef>
                <a:spcPts val="300"/>
              </a:spcBef>
              <a:spcAft>
                <a:spcPts val="0"/>
              </a:spcAft>
            </a:pPr>
            <a:r>
              <a:rPr lang="fr-CA" sz="1000" b="1" dirty="0">
                <a:latin typeface="Calibri" pitchFamily="34" charset="0"/>
                <a:cs typeface="Calibri" pitchFamily="34" charset="0"/>
              </a:rPr>
              <a:t>Hypothalamus</a:t>
            </a:r>
          </a:p>
        </p:txBody>
      </p:sp>
      <p:sp>
        <p:nvSpPr>
          <p:cNvPr id="42" name="ZoneTexte 41"/>
          <p:cNvSpPr txBox="1"/>
          <p:nvPr/>
        </p:nvSpPr>
        <p:spPr>
          <a:xfrm>
            <a:off x="2320954" y="4293933"/>
            <a:ext cx="1201776" cy="450893"/>
          </a:xfrm>
          <a:prstGeom prst="rect">
            <a:avLst/>
          </a:prstGeom>
          <a:noFill/>
        </p:spPr>
        <p:txBody>
          <a:bodyPr wrap="square" lIns="36000" rIns="36000" rtlCol="0">
            <a:spAutoFit/>
          </a:bodyPr>
          <a:lstStyle/>
          <a:p>
            <a:pPr algn="ctr">
              <a:spcBef>
                <a:spcPts val="0"/>
              </a:spcBef>
              <a:spcAft>
                <a:spcPts val="0"/>
              </a:spcAft>
            </a:pPr>
            <a:r>
              <a:rPr lang="fr-CA" sz="1000" b="1" dirty="0">
                <a:latin typeface="Calibri" pitchFamily="34" charset="0"/>
                <a:cs typeface="Calibri" pitchFamily="34" charset="0"/>
              </a:rPr>
              <a:t>Effecteurs</a:t>
            </a:r>
          </a:p>
          <a:p>
            <a:pPr marL="88900">
              <a:lnSpc>
                <a:spcPct val="80000"/>
              </a:lnSpc>
              <a:spcBef>
                <a:spcPts val="0"/>
              </a:spcBef>
              <a:spcAft>
                <a:spcPts val="0"/>
              </a:spcAft>
            </a:pPr>
            <a:r>
              <a:rPr lang="fr-CA" sz="800" b="1" dirty="0">
                <a:latin typeface="Calibri" pitchFamily="34" charset="0"/>
                <a:cs typeface="Calibri" pitchFamily="34" charset="0"/>
              </a:rPr>
              <a:t>Vaisseaux cutanés</a:t>
            </a:r>
          </a:p>
          <a:p>
            <a:pPr marL="88900">
              <a:lnSpc>
                <a:spcPct val="80000"/>
              </a:lnSpc>
              <a:spcBef>
                <a:spcPts val="0"/>
              </a:spcBef>
              <a:spcAft>
                <a:spcPts val="0"/>
              </a:spcAft>
            </a:pPr>
            <a:r>
              <a:rPr lang="fr-CA" sz="800" b="1" dirty="0">
                <a:latin typeface="Calibri" pitchFamily="34" charset="0"/>
                <a:cs typeface="Calibri" pitchFamily="34" charset="0"/>
              </a:rPr>
              <a:t>Muscles squelettiques</a:t>
            </a:r>
          </a:p>
        </p:txBody>
      </p:sp>
      <p:sp>
        <p:nvSpPr>
          <p:cNvPr id="43" name="ZoneTexte 42"/>
          <p:cNvSpPr txBox="1"/>
          <p:nvPr/>
        </p:nvSpPr>
        <p:spPr>
          <a:xfrm>
            <a:off x="4897085" y="4287838"/>
            <a:ext cx="1300974" cy="488339"/>
          </a:xfrm>
          <a:prstGeom prst="rect">
            <a:avLst/>
          </a:prstGeom>
          <a:noFill/>
        </p:spPr>
        <p:txBody>
          <a:bodyPr wrap="square" rtlCol="0">
            <a:spAutoFit/>
          </a:bodyPr>
          <a:lstStyle/>
          <a:p>
            <a:pPr algn="ctr">
              <a:spcBef>
                <a:spcPts val="0"/>
              </a:spcBef>
              <a:spcAft>
                <a:spcPts val="0"/>
              </a:spcAft>
            </a:pPr>
            <a:r>
              <a:rPr lang="fr-CA" sz="1000" b="1" dirty="0">
                <a:latin typeface="Calibri" pitchFamily="34" charset="0"/>
                <a:cs typeface="Calibri" pitchFamily="34" charset="0"/>
              </a:rPr>
              <a:t>Récepteurs</a:t>
            </a:r>
          </a:p>
          <a:p>
            <a:pPr algn="ctr">
              <a:lnSpc>
                <a:spcPct val="90000"/>
              </a:lnSpc>
              <a:spcBef>
                <a:spcPts val="100"/>
              </a:spcBef>
              <a:spcAft>
                <a:spcPts val="0"/>
              </a:spcAft>
            </a:pPr>
            <a:r>
              <a:rPr lang="fr-CA" sz="800" b="1" dirty="0">
                <a:latin typeface="Calibri" pitchFamily="34" charset="0"/>
                <a:cs typeface="Calibri" pitchFamily="34" charset="0"/>
              </a:rPr>
              <a:t>Thermorécepteurs  de  la peau et de l’encéphale</a:t>
            </a:r>
          </a:p>
        </p:txBody>
      </p:sp>
      <p:sp>
        <p:nvSpPr>
          <p:cNvPr id="44" name="ZoneTexte 43"/>
          <p:cNvSpPr txBox="1"/>
          <p:nvPr/>
        </p:nvSpPr>
        <p:spPr>
          <a:xfrm>
            <a:off x="2241962" y="1826466"/>
            <a:ext cx="1300974" cy="488339"/>
          </a:xfrm>
          <a:prstGeom prst="rect">
            <a:avLst/>
          </a:prstGeom>
          <a:noFill/>
        </p:spPr>
        <p:txBody>
          <a:bodyPr wrap="square" rtlCol="0">
            <a:spAutoFit/>
          </a:bodyPr>
          <a:lstStyle/>
          <a:p>
            <a:pPr algn="ctr">
              <a:spcBef>
                <a:spcPts val="0"/>
              </a:spcBef>
              <a:spcAft>
                <a:spcPts val="0"/>
              </a:spcAft>
            </a:pPr>
            <a:r>
              <a:rPr lang="fr-CA" sz="1000" b="1" dirty="0">
                <a:latin typeface="Calibri" pitchFamily="34" charset="0"/>
                <a:cs typeface="Calibri" pitchFamily="34" charset="0"/>
              </a:rPr>
              <a:t>Récepteurs</a:t>
            </a:r>
          </a:p>
          <a:p>
            <a:pPr algn="ctr">
              <a:lnSpc>
                <a:spcPct val="90000"/>
              </a:lnSpc>
              <a:spcBef>
                <a:spcPts val="100"/>
              </a:spcBef>
              <a:spcAft>
                <a:spcPts val="0"/>
              </a:spcAft>
            </a:pPr>
            <a:r>
              <a:rPr lang="fr-CA" sz="800" b="1" dirty="0">
                <a:latin typeface="Calibri" pitchFamily="34" charset="0"/>
                <a:cs typeface="Calibri" pitchFamily="34" charset="0"/>
              </a:rPr>
              <a:t>Thermorécepteurs  de  la peau et de l’encéphale</a:t>
            </a:r>
          </a:p>
        </p:txBody>
      </p:sp>
      <p:sp>
        <p:nvSpPr>
          <p:cNvPr id="45" name="ZoneTexte 44"/>
          <p:cNvSpPr txBox="1"/>
          <p:nvPr/>
        </p:nvSpPr>
        <p:spPr>
          <a:xfrm>
            <a:off x="3520791" y="3040832"/>
            <a:ext cx="1300974" cy="276999"/>
          </a:xfrm>
          <a:prstGeom prst="rect">
            <a:avLst/>
          </a:prstGeom>
          <a:noFill/>
        </p:spPr>
        <p:txBody>
          <a:bodyPr wrap="square" rtlCol="0">
            <a:spAutoFit/>
          </a:bodyPr>
          <a:lstStyle/>
          <a:p>
            <a:pPr algn="ctr">
              <a:spcBef>
                <a:spcPts val="0"/>
              </a:spcBef>
              <a:spcAft>
                <a:spcPts val="0"/>
              </a:spcAft>
            </a:pPr>
            <a:r>
              <a:rPr lang="fr-CA" sz="1200" b="1" dirty="0">
                <a:latin typeface="Calibri" pitchFamily="34" charset="0"/>
                <a:cs typeface="Calibri" pitchFamily="34" charset="0"/>
              </a:rPr>
              <a:t>ÉQUILIBRE</a:t>
            </a:r>
          </a:p>
        </p:txBody>
      </p:sp>
      <p:sp>
        <p:nvSpPr>
          <p:cNvPr id="46" name="ZoneTexte 45"/>
          <p:cNvSpPr txBox="1"/>
          <p:nvPr/>
        </p:nvSpPr>
        <p:spPr>
          <a:xfrm rot="1365910">
            <a:off x="2829159" y="2665773"/>
            <a:ext cx="1300974" cy="276999"/>
          </a:xfrm>
          <a:prstGeom prst="rect">
            <a:avLst/>
          </a:prstGeom>
          <a:noFill/>
        </p:spPr>
        <p:txBody>
          <a:bodyPr wrap="square" rtlCol="0">
            <a:spAutoFit/>
          </a:bodyPr>
          <a:lstStyle/>
          <a:p>
            <a:pPr algn="ctr">
              <a:spcBef>
                <a:spcPts val="0"/>
              </a:spcBef>
              <a:spcAft>
                <a:spcPts val="0"/>
              </a:spcAft>
            </a:pPr>
            <a:r>
              <a:rPr lang="fr-CA" sz="1200" dirty="0">
                <a:latin typeface="Calibri" pitchFamily="34" charset="0"/>
                <a:cs typeface="Calibri" pitchFamily="34" charset="0"/>
              </a:rPr>
              <a:t>DÉSÉQUILIBRE</a:t>
            </a:r>
          </a:p>
        </p:txBody>
      </p:sp>
      <p:sp>
        <p:nvSpPr>
          <p:cNvPr id="48" name="ZoneTexte 47"/>
          <p:cNvSpPr txBox="1"/>
          <p:nvPr/>
        </p:nvSpPr>
        <p:spPr>
          <a:xfrm rot="1365910">
            <a:off x="4322192" y="3588463"/>
            <a:ext cx="1300974" cy="276999"/>
          </a:xfrm>
          <a:prstGeom prst="rect">
            <a:avLst/>
          </a:prstGeom>
          <a:noFill/>
        </p:spPr>
        <p:txBody>
          <a:bodyPr wrap="square" rtlCol="0">
            <a:spAutoFit/>
          </a:bodyPr>
          <a:lstStyle/>
          <a:p>
            <a:pPr algn="ctr">
              <a:spcBef>
                <a:spcPts val="0"/>
              </a:spcBef>
              <a:spcAft>
                <a:spcPts val="0"/>
              </a:spcAft>
            </a:pPr>
            <a:r>
              <a:rPr lang="fr-CA" sz="1200" dirty="0">
                <a:latin typeface="Calibri" pitchFamily="34" charset="0"/>
                <a:cs typeface="Calibri" pitchFamily="34" charset="0"/>
              </a:rPr>
              <a:t>DÉSÉQUILIBRE</a:t>
            </a:r>
          </a:p>
        </p:txBody>
      </p:sp>
      <p:sp>
        <p:nvSpPr>
          <p:cNvPr id="49" name="ZoneTexte 48"/>
          <p:cNvSpPr txBox="1"/>
          <p:nvPr/>
        </p:nvSpPr>
        <p:spPr>
          <a:xfrm>
            <a:off x="5745360" y="3289481"/>
            <a:ext cx="1439011" cy="553998"/>
          </a:xfrm>
          <a:prstGeom prst="rect">
            <a:avLst/>
          </a:prstGeom>
          <a:noFill/>
        </p:spPr>
        <p:txBody>
          <a:bodyPr wrap="square" rtlCol="0">
            <a:spAutoFit/>
          </a:bodyPr>
          <a:lstStyle/>
          <a:p>
            <a:pPr algn="ctr">
              <a:spcBef>
                <a:spcPts val="0"/>
              </a:spcBef>
              <a:spcAft>
                <a:spcPts val="0"/>
              </a:spcAft>
            </a:pPr>
            <a:r>
              <a:rPr lang="fr-CA" sz="1200" b="1" dirty="0">
                <a:latin typeface="Calibri" pitchFamily="34" charset="0"/>
                <a:cs typeface="Calibri" pitchFamily="34" charset="0"/>
              </a:rPr>
              <a:t>Stimulus</a:t>
            </a:r>
          </a:p>
          <a:p>
            <a:pPr algn="ctr">
              <a:lnSpc>
                <a:spcPct val="90000"/>
              </a:lnSpc>
              <a:spcBef>
                <a:spcPts val="0"/>
              </a:spcBef>
              <a:spcAft>
                <a:spcPts val="0"/>
              </a:spcAft>
            </a:pPr>
            <a:r>
              <a:rPr lang="fr-CA" sz="1000" dirty="0">
                <a:latin typeface="Calibri" pitchFamily="34" charset="0"/>
                <a:cs typeface="Calibri" pitchFamily="34" charset="0"/>
              </a:rPr>
              <a:t>Diminution de la température corporelle</a:t>
            </a:r>
          </a:p>
        </p:txBody>
      </p:sp>
      <p:sp>
        <p:nvSpPr>
          <p:cNvPr id="50" name="ZoneTexte 49"/>
          <p:cNvSpPr txBox="1"/>
          <p:nvPr/>
        </p:nvSpPr>
        <p:spPr>
          <a:xfrm>
            <a:off x="1330610" y="2669231"/>
            <a:ext cx="1473046" cy="553998"/>
          </a:xfrm>
          <a:prstGeom prst="rect">
            <a:avLst/>
          </a:prstGeom>
          <a:noFill/>
        </p:spPr>
        <p:txBody>
          <a:bodyPr wrap="square" rtlCol="0">
            <a:spAutoFit/>
          </a:bodyPr>
          <a:lstStyle/>
          <a:p>
            <a:pPr algn="ctr">
              <a:spcBef>
                <a:spcPts val="0"/>
              </a:spcBef>
              <a:spcAft>
                <a:spcPts val="0"/>
              </a:spcAft>
            </a:pPr>
            <a:r>
              <a:rPr lang="fr-CA" sz="1200" b="1" dirty="0">
                <a:latin typeface="Calibri" pitchFamily="34" charset="0"/>
                <a:cs typeface="Calibri" pitchFamily="34" charset="0"/>
              </a:rPr>
              <a:t>Stimulus</a:t>
            </a:r>
          </a:p>
          <a:p>
            <a:pPr algn="ctr">
              <a:lnSpc>
                <a:spcPct val="90000"/>
              </a:lnSpc>
              <a:spcBef>
                <a:spcPts val="0"/>
              </a:spcBef>
              <a:spcAft>
                <a:spcPts val="0"/>
              </a:spcAft>
            </a:pPr>
            <a:r>
              <a:rPr lang="fr-CA" sz="1000" dirty="0">
                <a:latin typeface="Calibri" pitchFamily="34" charset="0"/>
                <a:cs typeface="Calibri" pitchFamily="34" charset="0"/>
              </a:rPr>
              <a:t>Augmentation de la température corporelle</a:t>
            </a:r>
          </a:p>
        </p:txBody>
      </p:sp>
      <p:sp>
        <p:nvSpPr>
          <p:cNvPr id="51" name="ZoneTexte 50"/>
          <p:cNvSpPr txBox="1"/>
          <p:nvPr/>
        </p:nvSpPr>
        <p:spPr>
          <a:xfrm>
            <a:off x="4337563" y="4918625"/>
            <a:ext cx="1187855" cy="4154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Voie afférente</a:t>
            </a:r>
          </a:p>
          <a:p>
            <a:pPr>
              <a:lnSpc>
                <a:spcPct val="90000"/>
              </a:lnSpc>
              <a:spcBef>
                <a:spcPts val="0"/>
              </a:spcBef>
              <a:spcAft>
                <a:spcPts val="0"/>
              </a:spcAft>
            </a:pPr>
            <a:r>
              <a:rPr lang="fr-CA" sz="900" dirty="0">
                <a:latin typeface="Calibri" pitchFamily="34" charset="0"/>
                <a:cs typeface="Calibri" pitchFamily="34" charset="0"/>
              </a:rPr>
              <a:t>Neurones sensitifs</a:t>
            </a:r>
          </a:p>
        </p:txBody>
      </p:sp>
      <p:sp>
        <p:nvSpPr>
          <p:cNvPr id="52" name="ZoneTexte 51"/>
          <p:cNvSpPr txBox="1"/>
          <p:nvPr/>
        </p:nvSpPr>
        <p:spPr>
          <a:xfrm>
            <a:off x="3164015" y="1425122"/>
            <a:ext cx="1187855" cy="4154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Voie afférente</a:t>
            </a:r>
          </a:p>
          <a:p>
            <a:pPr>
              <a:lnSpc>
                <a:spcPct val="90000"/>
              </a:lnSpc>
              <a:spcBef>
                <a:spcPts val="0"/>
              </a:spcBef>
              <a:spcAft>
                <a:spcPts val="0"/>
              </a:spcAft>
            </a:pPr>
            <a:r>
              <a:rPr lang="fr-CA" sz="1000" dirty="0">
                <a:latin typeface="Calibri" pitchFamily="34" charset="0"/>
                <a:cs typeface="Calibri" pitchFamily="34" charset="0"/>
              </a:rPr>
              <a:t>Neurones sensitifs</a:t>
            </a:r>
          </a:p>
        </p:txBody>
      </p:sp>
      <p:sp>
        <p:nvSpPr>
          <p:cNvPr id="53" name="ZoneTexte 52"/>
          <p:cNvSpPr txBox="1"/>
          <p:nvPr/>
        </p:nvSpPr>
        <p:spPr>
          <a:xfrm>
            <a:off x="3164015" y="4908038"/>
            <a:ext cx="1187855" cy="4154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Voie efférente</a:t>
            </a:r>
          </a:p>
          <a:p>
            <a:pPr>
              <a:lnSpc>
                <a:spcPct val="90000"/>
              </a:lnSpc>
              <a:spcBef>
                <a:spcPts val="0"/>
              </a:spcBef>
              <a:spcAft>
                <a:spcPts val="0"/>
              </a:spcAft>
            </a:pPr>
            <a:r>
              <a:rPr lang="fr-CA" sz="900" dirty="0">
                <a:latin typeface="Calibri" pitchFamily="34" charset="0"/>
                <a:cs typeface="Calibri" pitchFamily="34" charset="0"/>
              </a:rPr>
              <a:t>Neurones moteurs</a:t>
            </a:r>
          </a:p>
        </p:txBody>
      </p:sp>
      <p:sp>
        <p:nvSpPr>
          <p:cNvPr id="54" name="ZoneTexte 53"/>
          <p:cNvSpPr txBox="1"/>
          <p:nvPr/>
        </p:nvSpPr>
        <p:spPr>
          <a:xfrm>
            <a:off x="4319272" y="1427739"/>
            <a:ext cx="1187855" cy="4154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Voie efférente</a:t>
            </a:r>
          </a:p>
          <a:p>
            <a:pPr>
              <a:lnSpc>
                <a:spcPct val="90000"/>
              </a:lnSpc>
              <a:spcBef>
                <a:spcPts val="0"/>
              </a:spcBef>
              <a:spcAft>
                <a:spcPts val="0"/>
              </a:spcAft>
            </a:pPr>
            <a:r>
              <a:rPr lang="fr-CA" sz="1000" dirty="0">
                <a:latin typeface="Calibri" pitchFamily="34" charset="0"/>
                <a:cs typeface="Calibri" pitchFamily="34" charset="0"/>
              </a:rPr>
              <a:t>Neurones moteurs</a:t>
            </a:r>
          </a:p>
        </p:txBody>
      </p:sp>
      <p:sp>
        <p:nvSpPr>
          <p:cNvPr id="55" name="ZoneTexte 54"/>
          <p:cNvSpPr txBox="1"/>
          <p:nvPr/>
        </p:nvSpPr>
        <p:spPr>
          <a:xfrm>
            <a:off x="5609798" y="2511979"/>
            <a:ext cx="1610809" cy="5539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Réponse</a:t>
            </a:r>
          </a:p>
          <a:p>
            <a:pPr>
              <a:lnSpc>
                <a:spcPct val="90000"/>
              </a:lnSpc>
              <a:spcBef>
                <a:spcPts val="0"/>
              </a:spcBef>
              <a:spcAft>
                <a:spcPts val="0"/>
              </a:spcAft>
            </a:pPr>
            <a:r>
              <a:rPr lang="fr-CA" sz="1000" dirty="0">
                <a:latin typeface="Calibri" pitchFamily="34" charset="0"/>
                <a:cs typeface="Calibri" pitchFamily="34" charset="0"/>
              </a:rPr>
              <a:t>La température corporelle diminue; le stimulus cesse</a:t>
            </a:r>
          </a:p>
        </p:txBody>
      </p:sp>
      <p:sp>
        <p:nvSpPr>
          <p:cNvPr id="56" name="ZoneTexte 55"/>
          <p:cNvSpPr txBox="1"/>
          <p:nvPr/>
        </p:nvSpPr>
        <p:spPr>
          <a:xfrm>
            <a:off x="1477122" y="3387688"/>
            <a:ext cx="1687663" cy="553998"/>
          </a:xfrm>
          <a:prstGeom prst="rect">
            <a:avLst/>
          </a:prstGeom>
          <a:noFill/>
        </p:spPr>
        <p:txBody>
          <a:bodyPr wrap="square" rtlCol="0">
            <a:spAutoFit/>
          </a:bodyPr>
          <a:lstStyle/>
          <a:p>
            <a:pPr>
              <a:spcBef>
                <a:spcPts val="0"/>
              </a:spcBef>
              <a:spcAft>
                <a:spcPts val="0"/>
              </a:spcAft>
            </a:pPr>
            <a:r>
              <a:rPr lang="fr-CA" sz="1200" b="1" dirty="0">
                <a:latin typeface="Calibri" pitchFamily="34" charset="0"/>
                <a:cs typeface="Calibri" pitchFamily="34" charset="0"/>
              </a:rPr>
              <a:t>Réponse</a:t>
            </a:r>
          </a:p>
          <a:p>
            <a:pPr>
              <a:lnSpc>
                <a:spcPct val="90000"/>
              </a:lnSpc>
              <a:spcBef>
                <a:spcPts val="0"/>
              </a:spcBef>
              <a:spcAft>
                <a:spcPts val="0"/>
              </a:spcAft>
            </a:pPr>
            <a:r>
              <a:rPr lang="fr-CA" sz="1000" dirty="0">
                <a:latin typeface="Calibri" pitchFamily="34" charset="0"/>
                <a:cs typeface="Calibri" pitchFamily="34" charset="0"/>
              </a:rPr>
              <a:t>La température corporelle augmente; le stimulus cesse</a:t>
            </a:r>
          </a:p>
        </p:txBody>
      </p:sp>
      <p:sp>
        <p:nvSpPr>
          <p:cNvPr id="57" name="ZoneTexte 56"/>
          <p:cNvSpPr txBox="1"/>
          <p:nvPr/>
        </p:nvSpPr>
        <p:spPr>
          <a:xfrm>
            <a:off x="693683" y="5115787"/>
            <a:ext cx="2251616" cy="570926"/>
          </a:xfrm>
          <a:prstGeom prst="rect">
            <a:avLst/>
          </a:prstGeom>
          <a:noFill/>
        </p:spPr>
        <p:txBody>
          <a:bodyPr wrap="square" rtlCol="0">
            <a:spAutoFit/>
          </a:bodyPr>
          <a:lstStyle/>
          <a:p>
            <a:pPr marL="87313" indent="-87313">
              <a:lnSpc>
                <a:spcPct val="80000"/>
              </a:lnSpc>
              <a:spcBef>
                <a:spcPts val="300"/>
              </a:spcBef>
              <a:spcAft>
                <a:spcPts val="0"/>
              </a:spcAft>
              <a:buFont typeface="Arial" panose="020B0604020202020204" pitchFamily="34" charset="0"/>
              <a:buChar char="•"/>
            </a:pPr>
            <a:r>
              <a:rPr lang="fr-CA" sz="1100" dirty="0">
                <a:latin typeface="Calibri" pitchFamily="34" charset="0"/>
                <a:cs typeface="Calibri" pitchFamily="34" charset="0"/>
              </a:rPr>
              <a:t>Constriction des vaisseaux cutanés</a:t>
            </a:r>
          </a:p>
          <a:p>
            <a:pPr marL="87313" indent="-87313">
              <a:lnSpc>
                <a:spcPct val="90000"/>
              </a:lnSpc>
              <a:spcBef>
                <a:spcPts val="300"/>
              </a:spcBef>
              <a:spcAft>
                <a:spcPts val="0"/>
              </a:spcAft>
              <a:buFont typeface="Arial" panose="020B0604020202020204" pitchFamily="34" charset="0"/>
              <a:buChar char="•"/>
            </a:pPr>
            <a:r>
              <a:rPr lang="fr-CA" sz="1100" dirty="0">
                <a:latin typeface="Calibri" pitchFamily="34" charset="0"/>
                <a:cs typeface="Calibri" pitchFamily="34" charset="0"/>
              </a:rPr>
              <a:t>Frissons (contraction des muscles squelettiques)</a:t>
            </a:r>
          </a:p>
        </p:txBody>
      </p:sp>
      <p:sp>
        <p:nvSpPr>
          <p:cNvPr id="58" name="ZoneTexte 57"/>
          <p:cNvSpPr txBox="1"/>
          <p:nvPr/>
        </p:nvSpPr>
        <p:spPr>
          <a:xfrm>
            <a:off x="6902037" y="1795468"/>
            <a:ext cx="2122145" cy="570926"/>
          </a:xfrm>
          <a:prstGeom prst="rect">
            <a:avLst/>
          </a:prstGeom>
          <a:noFill/>
        </p:spPr>
        <p:txBody>
          <a:bodyPr wrap="square" rtlCol="0">
            <a:spAutoFit/>
          </a:bodyPr>
          <a:lstStyle/>
          <a:p>
            <a:pPr marL="87313" indent="-87313">
              <a:lnSpc>
                <a:spcPct val="80000"/>
              </a:lnSpc>
              <a:spcBef>
                <a:spcPts val="0"/>
              </a:spcBef>
              <a:spcAft>
                <a:spcPts val="0"/>
              </a:spcAft>
              <a:buFont typeface="Arial" panose="020B0604020202020204" pitchFamily="34" charset="0"/>
              <a:buChar char="•"/>
            </a:pPr>
            <a:r>
              <a:rPr lang="fr-CA" sz="1100" dirty="0">
                <a:latin typeface="Calibri" pitchFamily="34" charset="0"/>
                <a:cs typeface="Calibri" pitchFamily="34" charset="0"/>
              </a:rPr>
              <a:t>Dilatation des vaisseaux cutanés</a:t>
            </a:r>
          </a:p>
          <a:p>
            <a:pPr marL="87313" indent="-87313">
              <a:lnSpc>
                <a:spcPct val="90000"/>
              </a:lnSpc>
              <a:spcBef>
                <a:spcPts val="300"/>
              </a:spcBef>
              <a:spcAft>
                <a:spcPts val="0"/>
              </a:spcAft>
              <a:buFont typeface="Arial" panose="020B0604020202020204" pitchFamily="34" charset="0"/>
              <a:buChar char="•"/>
            </a:pPr>
            <a:r>
              <a:rPr lang="fr-CA" sz="1100" dirty="0">
                <a:latin typeface="Calibri" pitchFamily="34" charset="0"/>
                <a:cs typeface="Calibri" pitchFamily="34" charset="0"/>
              </a:rPr>
              <a:t>Sudation (activation des glandes sudoripares)</a:t>
            </a:r>
          </a:p>
        </p:txBody>
      </p:sp>
      <p:sp>
        <p:nvSpPr>
          <p:cNvPr id="540675" name="Text Box 3"/>
          <p:cNvSpPr txBox="1">
            <a:spLocks noChangeArrowheads="1"/>
          </p:cNvSpPr>
          <p:nvPr/>
        </p:nvSpPr>
        <p:spPr bwMode="auto">
          <a:xfrm>
            <a:off x="7916713" y="876385"/>
            <a:ext cx="948547" cy="2923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300" dirty="0">
                <a:solidFill>
                  <a:schemeClr val="accent2"/>
                </a:solidFill>
                <a:latin typeface="Arial" charset="0"/>
              </a:rPr>
              <a:t>Figure 1.6</a:t>
            </a:r>
          </a:p>
        </p:txBody>
      </p:sp>
      <p:sp>
        <p:nvSpPr>
          <p:cNvPr id="25" name="ZoneTexte 39"/>
          <p:cNvSpPr txBox="1"/>
          <p:nvPr/>
        </p:nvSpPr>
        <p:spPr>
          <a:xfrm>
            <a:off x="4851289" y="1868359"/>
            <a:ext cx="1373895" cy="450893"/>
          </a:xfrm>
          <a:prstGeom prst="rect">
            <a:avLst/>
          </a:prstGeom>
          <a:noFill/>
        </p:spPr>
        <p:txBody>
          <a:bodyPr wrap="square" lIns="36000" rIns="36000" rtlCol="0">
            <a:spAutoFit/>
          </a:bodyPr>
          <a:lstStyle/>
          <a:p>
            <a:pPr marL="87313" algn="ctr">
              <a:spcBef>
                <a:spcPts val="0"/>
              </a:spcBef>
              <a:spcAft>
                <a:spcPts val="0"/>
              </a:spcAft>
            </a:pPr>
            <a:r>
              <a:rPr lang="fr-CA" sz="1000" b="1" dirty="0">
                <a:latin typeface="Calibri" pitchFamily="34" charset="0"/>
                <a:cs typeface="Calibri" pitchFamily="34" charset="0"/>
              </a:rPr>
              <a:t>Effecteurs</a:t>
            </a:r>
          </a:p>
          <a:p>
            <a:pPr marL="269875">
              <a:lnSpc>
                <a:spcPct val="80000"/>
              </a:lnSpc>
              <a:spcBef>
                <a:spcPts val="0"/>
              </a:spcBef>
              <a:spcAft>
                <a:spcPts val="0"/>
              </a:spcAft>
              <a:tabLst>
                <a:tab pos="358775" algn="l"/>
              </a:tabLst>
            </a:pPr>
            <a:r>
              <a:rPr lang="fr-CA" sz="800" b="1" dirty="0">
                <a:latin typeface="Calibri" pitchFamily="34" charset="0"/>
                <a:cs typeface="Calibri" pitchFamily="34" charset="0"/>
              </a:rPr>
              <a:t>Vaisseaux cutanés</a:t>
            </a:r>
          </a:p>
          <a:p>
            <a:pPr marL="269875">
              <a:lnSpc>
                <a:spcPct val="80000"/>
              </a:lnSpc>
              <a:spcBef>
                <a:spcPts val="0"/>
              </a:spcBef>
              <a:spcAft>
                <a:spcPts val="0"/>
              </a:spcAft>
              <a:tabLst>
                <a:tab pos="358775" algn="l"/>
              </a:tabLst>
            </a:pPr>
            <a:r>
              <a:rPr lang="fr-CA" sz="800" b="1" dirty="0">
                <a:latin typeface="Calibri" pitchFamily="34" charset="0"/>
                <a:cs typeface="Calibri" pitchFamily="34" charset="0"/>
              </a:rPr>
              <a:t>Glandes sudoripares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62" name="Picture 2" descr="http://cw2.erpi.com/cw/marieb/userfiles/07_Fig_17_6_p_738.jpg"/>
          <p:cNvPicPr>
            <a:picLocks noChangeAspect="1" noChangeArrowheads="1"/>
          </p:cNvPicPr>
          <p:nvPr/>
        </p:nvPicPr>
        <p:blipFill>
          <a:blip r:embed="rId2" cstate="print"/>
          <a:srcRect l="9071" t="3648" r="3024" b="16782"/>
          <a:stretch>
            <a:fillRect/>
          </a:stretch>
        </p:blipFill>
        <p:spPr bwMode="auto">
          <a:xfrm>
            <a:off x="327946" y="1135986"/>
            <a:ext cx="8602201" cy="4033323"/>
          </a:xfrm>
          <a:prstGeom prst="rect">
            <a:avLst/>
          </a:prstGeom>
          <a:noFill/>
        </p:spPr>
      </p:pic>
      <p:sp>
        <p:nvSpPr>
          <p:cNvPr id="21" name="Rectangle 2"/>
          <p:cNvSpPr>
            <a:spLocks noChangeArrowheads="1"/>
          </p:cNvSpPr>
          <p:nvPr/>
        </p:nvSpPr>
        <p:spPr bwMode="auto">
          <a:xfrm>
            <a:off x="203829" y="378987"/>
            <a:ext cx="8726317" cy="438150"/>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Aft>
                <a:spcPct val="10000"/>
              </a:spcAft>
              <a:buClr>
                <a:schemeClr val="tx1"/>
              </a:buClr>
            </a:pPr>
            <a:r>
              <a:rPr lang="fr-CA" sz="2000" dirty="0">
                <a:latin typeface="Arial" charset="0"/>
                <a:cs typeface="Arial" charset="0"/>
              </a:rPr>
              <a:t> Exemple 2 :  </a:t>
            </a:r>
            <a:r>
              <a:rPr lang="fr-CA" sz="2000" u="sng" dirty="0">
                <a:latin typeface="Arial" charset="0"/>
                <a:cs typeface="Arial" charset="0"/>
              </a:rPr>
              <a:t>Régulation de l’érythropoïèse</a:t>
            </a:r>
          </a:p>
          <a:p>
            <a:pPr eaLnBrk="1" hangingPunct="1">
              <a:spcAft>
                <a:spcPct val="10000"/>
              </a:spcAft>
              <a:buClr>
                <a:schemeClr val="tx1"/>
              </a:buClr>
              <a:buFontTx/>
              <a:buChar char="•"/>
            </a:pPr>
            <a:endParaRPr lang="fr-CA" sz="2000" u="sng" dirty="0">
              <a:latin typeface="Arial" charset="0"/>
              <a:cs typeface="Arial" charset="0"/>
            </a:endParaRPr>
          </a:p>
        </p:txBody>
      </p:sp>
      <p:sp>
        <p:nvSpPr>
          <p:cNvPr id="22" name="Text Box 3"/>
          <p:cNvSpPr txBox="1">
            <a:spLocks noChangeArrowheads="1"/>
          </p:cNvSpPr>
          <p:nvPr/>
        </p:nvSpPr>
        <p:spPr bwMode="auto">
          <a:xfrm>
            <a:off x="7482853" y="4876921"/>
            <a:ext cx="1236430" cy="2923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300" dirty="0">
                <a:solidFill>
                  <a:schemeClr val="accent2"/>
                </a:solidFill>
                <a:latin typeface="Arial" charset="0"/>
              </a:rPr>
              <a:t>Figure 17.6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1" name="Rectangle 3"/>
          <p:cNvSpPr>
            <a:spLocks noGrp="1" noChangeArrowheads="1"/>
          </p:cNvSpPr>
          <p:nvPr>
            <p:ph type="body" sz="half" idx="4294967295"/>
          </p:nvPr>
        </p:nvSpPr>
        <p:spPr>
          <a:xfrm>
            <a:off x="212935" y="394494"/>
            <a:ext cx="4536996" cy="4649787"/>
          </a:xfrm>
          <a:noFill/>
          <a:ln w="6350">
            <a:noFill/>
            <a:miter lim="800000"/>
            <a:headEnd/>
            <a:tailEnd/>
          </a:ln>
        </p:spPr>
        <p:txBody>
          <a:bodyPr/>
          <a:lstStyle/>
          <a:p>
            <a:pPr marL="361950" indent="-361950">
              <a:spcAft>
                <a:spcPts val="600"/>
              </a:spcAft>
              <a:buFont typeface="Wingdings" pitchFamily="2" charset="2"/>
              <a:buNone/>
            </a:pPr>
            <a:r>
              <a:rPr lang="fr-CA" sz="1800" b="1" dirty="0">
                <a:latin typeface="Arial" charset="0"/>
                <a:cs typeface="Arial" charset="0"/>
              </a:rPr>
              <a:t>ii)</a:t>
            </a:r>
            <a:r>
              <a:rPr lang="fr-CA" sz="1800" dirty="0">
                <a:latin typeface="Arial" charset="0"/>
                <a:cs typeface="Arial" charset="0"/>
              </a:rPr>
              <a:t>	</a:t>
            </a:r>
            <a:r>
              <a:rPr lang="fr-CA" sz="1800" b="1" u="sng" dirty="0">
                <a:latin typeface="Arial" charset="0"/>
                <a:cs typeface="Arial" charset="0"/>
              </a:rPr>
              <a:t>RÉTROACTIVATION</a:t>
            </a:r>
            <a:endParaRPr lang="fr-CA" sz="1800" dirty="0">
              <a:latin typeface="Arial" charset="0"/>
              <a:cs typeface="Arial" charset="0"/>
            </a:endParaRPr>
          </a:p>
          <a:p>
            <a:pPr marL="536575" lvl="1" indent="-173038">
              <a:spcAft>
                <a:spcPts val="300"/>
              </a:spcAft>
              <a:buClr>
                <a:schemeClr val="tx1"/>
              </a:buClr>
              <a:buSzPct val="90000"/>
            </a:pPr>
            <a:r>
              <a:rPr lang="fr-CA" sz="1600" dirty="0">
                <a:latin typeface="Arial" charset="0"/>
                <a:cs typeface="Arial" charset="0"/>
              </a:rPr>
              <a:t>Dans les systèmes de rétroactivation, la sortie amplifie le stimulus initial.</a:t>
            </a:r>
          </a:p>
          <a:p>
            <a:pPr marL="803275" lvl="2" indent="-265113">
              <a:spcAft>
                <a:spcPts val="300"/>
              </a:spcAft>
              <a:buClr>
                <a:schemeClr val="tx1"/>
              </a:buClr>
              <a:buSzPct val="75000"/>
              <a:buFont typeface="Wingdings" pitchFamily="2" charset="2"/>
              <a:buNone/>
            </a:pPr>
            <a:r>
              <a:rPr lang="fr-CA" sz="1600" dirty="0">
                <a:latin typeface="Arial" charset="0"/>
                <a:cs typeface="Arial" charset="0"/>
                <a:sym typeface="Wingdings" pitchFamily="2" charset="2"/>
              </a:rPr>
              <a:t></a:t>
            </a:r>
            <a:r>
              <a:rPr lang="fr-CA" sz="1600" dirty="0">
                <a:latin typeface="Arial" charset="0"/>
                <a:cs typeface="Arial" charset="0"/>
              </a:rPr>
              <a:t>	La variable change dans la </a:t>
            </a:r>
            <a:r>
              <a:rPr lang="fr-CA" sz="1600" u="sng" dirty="0">
                <a:latin typeface="Arial" charset="0"/>
                <a:cs typeface="Arial" charset="0"/>
              </a:rPr>
              <a:t>même</a:t>
            </a:r>
            <a:r>
              <a:rPr lang="fr-CA" sz="1600" dirty="0">
                <a:latin typeface="Arial" charset="0"/>
                <a:cs typeface="Arial" charset="0"/>
              </a:rPr>
              <a:t> direction que celle du changement initial.</a:t>
            </a:r>
          </a:p>
          <a:p>
            <a:pPr marL="803275" lvl="2" indent="-265113">
              <a:spcAft>
                <a:spcPct val="25000"/>
              </a:spcAft>
              <a:buClr>
                <a:schemeClr val="tx1"/>
              </a:buClr>
              <a:buSzPct val="75000"/>
              <a:buFont typeface="Wingdings" pitchFamily="2" charset="2"/>
              <a:buNone/>
            </a:pPr>
            <a:r>
              <a:rPr lang="fr-CA" sz="1600" dirty="0">
                <a:solidFill>
                  <a:srgbClr val="000000"/>
                </a:solidFill>
                <a:latin typeface="Arial" charset="0"/>
                <a:cs typeface="Arial" charset="0"/>
                <a:sym typeface="Wingdings" pitchFamily="2" charset="2"/>
              </a:rPr>
              <a:t></a:t>
            </a:r>
            <a:r>
              <a:rPr lang="fr-CA" sz="1600" dirty="0">
                <a:solidFill>
                  <a:srgbClr val="000000"/>
                </a:solidFill>
                <a:latin typeface="Arial" charset="0"/>
                <a:cs typeface="Arial" charset="0"/>
              </a:rPr>
              <a:t>	La variable dévie davantage de sa valeur initiale.</a:t>
            </a:r>
          </a:p>
          <a:p>
            <a:pPr marL="536575" lvl="1" indent="-173038">
              <a:buClr>
                <a:schemeClr val="tx1"/>
              </a:buClr>
              <a:buSzPct val="90000"/>
            </a:pPr>
            <a:r>
              <a:rPr lang="fr-CA" sz="1600" dirty="0">
                <a:solidFill>
                  <a:srgbClr val="000000"/>
                </a:solidFill>
                <a:latin typeface="Arial" charset="0"/>
                <a:cs typeface="Arial" charset="0"/>
              </a:rPr>
              <a:t>Très rarement utilisé parce que fondamentalement instable.</a:t>
            </a:r>
          </a:p>
          <a:p>
            <a:pPr marL="536575" lvl="1" indent="-173038">
              <a:buClr>
                <a:schemeClr val="tx1"/>
              </a:buClr>
              <a:buSzPct val="90000"/>
            </a:pPr>
            <a:r>
              <a:rPr lang="fr-CA" sz="1600" dirty="0">
                <a:solidFill>
                  <a:srgbClr val="000000"/>
                </a:solidFill>
                <a:latin typeface="Arial" charset="0"/>
                <a:cs typeface="Arial" charset="0"/>
              </a:rPr>
              <a:t>Contrôle des phénomènes peu fréquents qui ne nécessitent pas d’ajustements continus.</a:t>
            </a:r>
          </a:p>
          <a:p>
            <a:pPr marL="536575" lvl="1" indent="-173038">
              <a:lnSpc>
                <a:spcPct val="80000"/>
              </a:lnSpc>
              <a:spcAft>
                <a:spcPct val="0"/>
              </a:spcAft>
              <a:buClr>
                <a:schemeClr val="tx1"/>
              </a:buClr>
              <a:buSzPct val="90000"/>
            </a:pPr>
            <a:r>
              <a:rPr lang="fr-CA" sz="1600" dirty="0">
                <a:latin typeface="Arial" charset="0"/>
                <a:cs typeface="Arial" charset="0"/>
              </a:rPr>
              <a:t>Exemple :</a:t>
            </a:r>
          </a:p>
          <a:p>
            <a:pPr marL="536575" lvl="1" indent="9525">
              <a:spcAft>
                <a:spcPct val="25000"/>
              </a:spcAft>
              <a:buClr>
                <a:schemeClr val="tx1"/>
              </a:buClr>
              <a:buSzPct val="75000"/>
              <a:buFont typeface="Wingdings" pitchFamily="2" charset="2"/>
              <a:buNone/>
            </a:pPr>
            <a:r>
              <a:rPr lang="fr-CA" sz="1600" i="1" dirty="0">
                <a:latin typeface="Arial" charset="0"/>
                <a:cs typeface="Arial" charset="0"/>
              </a:rPr>
              <a:t>Coagulation sanguine</a:t>
            </a:r>
          </a:p>
        </p:txBody>
      </p:sp>
      <p:pic>
        <p:nvPicPr>
          <p:cNvPr id="3" name="Picture 2" descr="A screenshot of text&#10;&#10;Description automatically generated">
            <a:extLst>
              <a:ext uri="{FF2B5EF4-FFF2-40B4-BE49-F238E27FC236}">
                <a16:creationId xmlns:a16="http://schemas.microsoft.com/office/drawing/2014/main" id="{E2C5D40B-EA6C-48B9-9EBE-36ECE9B35DB0}"/>
              </a:ext>
            </a:extLst>
          </p:cNvPr>
          <p:cNvPicPr>
            <a:picLocks noChangeAspect="1"/>
          </p:cNvPicPr>
          <p:nvPr/>
        </p:nvPicPr>
        <p:blipFill rotWithShape="1">
          <a:blip r:embed="rId3">
            <a:extLst>
              <a:ext uri="{28A0092B-C50C-407E-A947-70E740481C1C}">
                <a14:useLocalDpi xmlns:a14="http://schemas.microsoft.com/office/drawing/2010/main" val="0"/>
              </a:ext>
            </a:extLst>
          </a:blip>
          <a:srcRect b="5238"/>
          <a:stretch/>
        </p:blipFill>
        <p:spPr>
          <a:xfrm>
            <a:off x="4749930" y="515832"/>
            <a:ext cx="4297093" cy="5069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6848"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23406" y="2324100"/>
            <a:ext cx="2584450" cy="2944813"/>
          </a:xfrm>
          <a:prstGeom prst="rect">
            <a:avLst/>
          </a:prstGeom>
          <a:noFill/>
          <a:extLst>
            <a:ext uri="{909E8E84-426E-40DD-AFC4-6F175D3DCCD1}">
              <a14:hiddenFill xmlns:a14="http://schemas.microsoft.com/office/drawing/2010/main">
                <a:solidFill>
                  <a:srgbClr val="FFFFFF"/>
                </a:solidFill>
              </a14:hiddenFill>
            </a:ext>
          </a:extLst>
        </p:spPr>
      </p:pic>
      <p:sp>
        <p:nvSpPr>
          <p:cNvPr id="546818" name="Rectangle 2"/>
          <p:cNvSpPr>
            <a:spLocks noGrp="1" noChangeArrowheads="1"/>
          </p:cNvSpPr>
          <p:nvPr>
            <p:ph type="title" idx="4294967295"/>
          </p:nvPr>
        </p:nvSpPr>
        <p:spPr>
          <a:xfrm>
            <a:off x="225425" y="300038"/>
            <a:ext cx="7780338" cy="565150"/>
          </a:xfrm>
          <a:prstGeom prst="rect">
            <a:avLst/>
          </a:prstGeom>
        </p:spPr>
        <p:txBody>
          <a:bodyPr/>
          <a:lstStyle/>
          <a:p>
            <a:pPr marL="630238" indent="-630238"/>
            <a:r>
              <a:rPr lang="fr-CA" sz="2800" dirty="0">
                <a:solidFill>
                  <a:srgbClr val="0000FF"/>
                </a:solidFill>
              </a:rPr>
              <a:t>4.2  LE SYSTÈME NERVEUX AUTONOME</a:t>
            </a:r>
            <a:endParaRPr lang="en-US" sz="2800" dirty="0">
              <a:solidFill>
                <a:srgbClr val="0000FF"/>
              </a:solidFill>
            </a:endParaRPr>
          </a:p>
        </p:txBody>
      </p:sp>
      <p:sp>
        <p:nvSpPr>
          <p:cNvPr id="546819" name="Rectangle 3"/>
          <p:cNvSpPr>
            <a:spLocks noGrp="1" noChangeArrowheads="1"/>
          </p:cNvSpPr>
          <p:nvPr>
            <p:ph type="body" sz="half" idx="4294967295"/>
          </p:nvPr>
        </p:nvSpPr>
        <p:spPr>
          <a:xfrm>
            <a:off x="225425" y="2601913"/>
            <a:ext cx="4591050" cy="3454330"/>
          </a:xfrm>
          <a:noFill/>
          <a:ln w="6350">
            <a:noFill/>
            <a:miter lim="800000"/>
            <a:headEnd/>
            <a:tailEnd/>
          </a:ln>
        </p:spPr>
        <p:txBody>
          <a:bodyPr/>
          <a:lstStyle/>
          <a:p>
            <a:pPr marL="0" indent="0">
              <a:spcAft>
                <a:spcPct val="10000"/>
              </a:spcAft>
              <a:buClr>
                <a:schemeClr val="tx1"/>
              </a:buClr>
              <a:buSzTx/>
              <a:buFontTx/>
              <a:buNone/>
            </a:pPr>
            <a:r>
              <a:rPr lang="fr-CA" sz="1600" b="1" dirty="0">
                <a:latin typeface="Arial" charset="0"/>
                <a:cs typeface="Arial" charset="0"/>
              </a:rPr>
              <a:t>• </a:t>
            </a:r>
            <a:r>
              <a:rPr lang="fr-CA" sz="1800" b="1" i="1" dirty="0">
                <a:latin typeface="Arial" charset="0"/>
                <a:cs typeface="Arial" charset="0"/>
              </a:rPr>
              <a:t>Système nerveux autonome </a:t>
            </a:r>
            <a:r>
              <a:rPr lang="fr-CA" sz="1700" b="1" dirty="0">
                <a:latin typeface="Arial" charset="0"/>
                <a:cs typeface="Arial" charset="0"/>
              </a:rPr>
              <a:t>(SNA) :</a:t>
            </a:r>
          </a:p>
          <a:p>
            <a:pPr marL="0" indent="0">
              <a:spcAft>
                <a:spcPct val="0"/>
              </a:spcAft>
              <a:buClr>
                <a:schemeClr val="tx1"/>
              </a:buClr>
              <a:buSzTx/>
              <a:buFontTx/>
              <a:buNone/>
            </a:pPr>
            <a:r>
              <a:rPr lang="fr-CA" sz="1600" i="1" dirty="0">
                <a:latin typeface="Arial" charset="0"/>
                <a:cs typeface="Arial" charset="0"/>
              </a:rPr>
              <a:t>   </a:t>
            </a:r>
            <a:r>
              <a:rPr lang="fr-CA" sz="1400" i="1" dirty="0">
                <a:latin typeface="Arial" charset="0"/>
                <a:cs typeface="Arial" charset="0"/>
              </a:rPr>
              <a:t>autos</a:t>
            </a:r>
            <a:r>
              <a:rPr lang="fr-CA" sz="1400" dirty="0">
                <a:latin typeface="Arial" charset="0"/>
                <a:cs typeface="Arial" charset="0"/>
              </a:rPr>
              <a:t> = soi-même; </a:t>
            </a:r>
            <a:r>
              <a:rPr lang="fr-CA" sz="1400" i="1" dirty="0" err="1">
                <a:latin typeface="Arial" charset="0"/>
                <a:cs typeface="Arial" charset="0"/>
              </a:rPr>
              <a:t>nomos</a:t>
            </a:r>
            <a:r>
              <a:rPr lang="fr-CA" sz="1400" dirty="0">
                <a:latin typeface="Arial" charset="0"/>
                <a:cs typeface="Arial" charset="0"/>
              </a:rPr>
              <a:t> = loi</a:t>
            </a:r>
          </a:p>
          <a:p>
            <a:pPr marL="0" indent="0">
              <a:spcAft>
                <a:spcPct val="20000"/>
              </a:spcAft>
              <a:buClr>
                <a:schemeClr val="tx1"/>
              </a:buClr>
              <a:buSzTx/>
              <a:buFontTx/>
              <a:buNone/>
            </a:pPr>
            <a:r>
              <a:rPr lang="fr-CA" sz="1400" dirty="0">
                <a:latin typeface="Arial" charset="0"/>
                <a:cs typeface="Arial" charset="0"/>
              </a:rPr>
              <a:t>   (qui se gouverne avec ses propres lois)</a:t>
            </a:r>
          </a:p>
          <a:p>
            <a:pPr marL="357188" lvl="1" indent="-179388">
              <a:spcAft>
                <a:spcPct val="15000"/>
              </a:spcAft>
              <a:buClr>
                <a:schemeClr val="tx1"/>
              </a:buClr>
              <a:buSzPct val="90000"/>
            </a:pPr>
            <a:r>
              <a:rPr lang="fr-CA" sz="1600" dirty="0">
                <a:latin typeface="Arial" charset="0"/>
                <a:cs typeface="Arial" charset="0"/>
              </a:rPr>
              <a:t>Composé de neurones moteurs qui </a:t>
            </a:r>
            <a:r>
              <a:rPr lang="fr-CA" sz="1600" dirty="0">
                <a:solidFill>
                  <a:srgbClr val="000000"/>
                </a:solidFill>
                <a:latin typeface="Arial" charset="0"/>
                <a:cs typeface="Arial" charset="0"/>
              </a:rPr>
              <a:t>régissent principalement l’activité des muscles lisses et cardiaque ainsi que certaines glandes</a:t>
            </a:r>
          </a:p>
          <a:p>
            <a:pPr marL="357188" lvl="1" indent="-179388">
              <a:spcAft>
                <a:spcPct val="15000"/>
              </a:spcAft>
              <a:buClr>
                <a:schemeClr val="tx1"/>
              </a:buClr>
              <a:buSzPct val="90000"/>
            </a:pPr>
            <a:r>
              <a:rPr lang="fr-CA" sz="1600" dirty="0">
                <a:solidFill>
                  <a:srgbClr val="000000"/>
                </a:solidFill>
                <a:latin typeface="Arial" charset="0"/>
                <a:cs typeface="Arial" charset="0"/>
              </a:rPr>
              <a:t>Aussi appelé </a:t>
            </a:r>
            <a:r>
              <a:rPr lang="fr-CA" sz="1600" i="1" dirty="0">
                <a:solidFill>
                  <a:srgbClr val="000000"/>
                </a:solidFill>
                <a:latin typeface="Arial" charset="0"/>
                <a:cs typeface="Arial" charset="0"/>
              </a:rPr>
              <a:t>système nerveux involontaire</a:t>
            </a:r>
            <a:r>
              <a:rPr lang="fr-CA" sz="1600" dirty="0">
                <a:solidFill>
                  <a:srgbClr val="000000"/>
                </a:solidFill>
                <a:latin typeface="Arial" charset="0"/>
                <a:cs typeface="Arial" charset="0"/>
              </a:rPr>
              <a:t> (son activité étant généralement inconsciente)</a:t>
            </a:r>
          </a:p>
          <a:p>
            <a:pPr marL="357188" lvl="1" indent="-179388">
              <a:spcAft>
                <a:spcPct val="0"/>
              </a:spcAft>
              <a:buClr>
                <a:schemeClr val="tx1"/>
              </a:buClr>
              <a:buSzPct val="90000"/>
            </a:pPr>
            <a:r>
              <a:rPr lang="fr-CA" sz="1600" dirty="0">
                <a:latin typeface="Arial" charset="0"/>
                <a:cs typeface="Arial" charset="0"/>
              </a:rPr>
              <a:t>Divisé en deux parties :</a:t>
            </a:r>
          </a:p>
          <a:p>
            <a:pPr marL="522288" lvl="2" indent="-130175">
              <a:spcAft>
                <a:spcPct val="0"/>
              </a:spcAft>
              <a:buClr>
                <a:schemeClr val="tx1"/>
              </a:buClr>
              <a:buSzTx/>
              <a:buFontTx/>
              <a:buChar char="•"/>
            </a:pPr>
            <a:r>
              <a:rPr lang="fr-CA" sz="1600" dirty="0">
                <a:latin typeface="Arial" charset="0"/>
                <a:cs typeface="Arial" charset="0"/>
              </a:rPr>
              <a:t>Système nerveux sympathique</a:t>
            </a:r>
          </a:p>
          <a:p>
            <a:pPr marL="522288" lvl="2" indent="-130175">
              <a:spcAft>
                <a:spcPct val="0"/>
              </a:spcAft>
              <a:buClr>
                <a:schemeClr val="tx1"/>
              </a:buClr>
              <a:buSzTx/>
              <a:buFontTx/>
              <a:buChar char="•"/>
            </a:pPr>
            <a:r>
              <a:rPr lang="fr-CA" sz="1600" dirty="0">
                <a:latin typeface="Arial" charset="0"/>
                <a:cs typeface="Arial" charset="0"/>
              </a:rPr>
              <a:t>Système nerveux parasympathique</a:t>
            </a:r>
          </a:p>
        </p:txBody>
      </p:sp>
      <p:sp>
        <p:nvSpPr>
          <p:cNvPr id="546820" name="Text Box 4"/>
          <p:cNvSpPr txBox="1">
            <a:spLocks noChangeArrowheads="1"/>
          </p:cNvSpPr>
          <p:nvPr/>
        </p:nvSpPr>
        <p:spPr bwMode="auto">
          <a:xfrm>
            <a:off x="225424" y="870152"/>
            <a:ext cx="851358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746125" indent="-746125">
              <a:defRPr sz="2400">
                <a:solidFill>
                  <a:schemeClr val="tx1"/>
                </a:solidFill>
                <a:latin typeface="Times New Roman" pitchFamily="18" charset="0"/>
              </a:defRPr>
            </a:lvl1pPr>
            <a:lvl2pPr marL="989013">
              <a:defRPr sz="2400">
                <a:solidFill>
                  <a:schemeClr val="tx1"/>
                </a:solidFill>
                <a:latin typeface="Times New Roman" pitchFamily="18" charset="0"/>
              </a:defRPr>
            </a:lvl2pPr>
            <a:lvl3pPr marL="11684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808038" indent="-808038"/>
            <a:r>
              <a:rPr lang="en-US" sz="2200" b="1" dirty="0">
                <a:solidFill>
                  <a:srgbClr val="0000FF"/>
                </a:solidFill>
                <a:latin typeface="Arial" charset="0"/>
                <a:cs typeface="Arial" charset="0"/>
              </a:rPr>
              <a:t>4.2.1	</a:t>
            </a:r>
            <a:r>
              <a:rPr lang="fr-CA" sz="2200" b="1" u="sng" dirty="0">
                <a:solidFill>
                  <a:srgbClr val="0000FF"/>
                </a:solidFill>
                <a:latin typeface="Arial" charset="0"/>
                <a:cs typeface="Arial" charset="0"/>
              </a:rPr>
              <a:t>Comparer les systèmes nerveux somatique et autonome</a:t>
            </a:r>
            <a:endParaRPr lang="fr-CA" sz="2200" u="sng" dirty="0">
              <a:solidFill>
                <a:srgbClr val="0000FF"/>
              </a:solidFill>
              <a:latin typeface="Arial" charset="0"/>
              <a:cs typeface="Arial" charset="0"/>
            </a:endParaRPr>
          </a:p>
        </p:txBody>
      </p:sp>
      <p:sp>
        <p:nvSpPr>
          <p:cNvPr id="546823" name="Text Box 7"/>
          <p:cNvSpPr txBox="1">
            <a:spLocks noChangeArrowheads="1"/>
          </p:cNvSpPr>
          <p:nvPr/>
        </p:nvSpPr>
        <p:spPr bwMode="auto">
          <a:xfrm>
            <a:off x="7756842" y="5615409"/>
            <a:ext cx="1077595" cy="2923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300" dirty="0">
                <a:solidFill>
                  <a:schemeClr val="accent2"/>
                </a:solidFill>
                <a:latin typeface="Arial" charset="0"/>
              </a:rPr>
              <a:t>Figure 14.1</a:t>
            </a:r>
          </a:p>
        </p:txBody>
      </p:sp>
      <p:sp>
        <p:nvSpPr>
          <p:cNvPr id="546850" name="Rectangle 34"/>
          <p:cNvSpPr>
            <a:spLocks noChangeArrowheads="1"/>
          </p:cNvSpPr>
          <p:nvPr/>
        </p:nvSpPr>
        <p:spPr bwMode="auto">
          <a:xfrm>
            <a:off x="6255762" y="1984529"/>
            <a:ext cx="1348998" cy="334092"/>
          </a:xfrm>
          <a:prstGeom prst="rect">
            <a:avLst/>
          </a:prstGeom>
          <a:solidFill>
            <a:srgbClr val="EBEDEB"/>
          </a:solidFill>
          <a:ln w="28575">
            <a:solidFill>
              <a:srgbClr val="99A7A6"/>
            </a:solidFill>
            <a:miter lim="800000"/>
            <a:headEnd/>
            <a:tailEnd/>
          </a:ln>
        </p:spPr>
        <p:txBody>
          <a:bodyPr/>
          <a:lstStyle/>
          <a:p>
            <a:endParaRPr lang="fr-CA">
              <a:latin typeface="Calibri" pitchFamily="34" charset="0"/>
              <a:cs typeface="Calibri" pitchFamily="34" charset="0"/>
            </a:endParaRPr>
          </a:p>
        </p:txBody>
      </p:sp>
      <p:sp>
        <p:nvSpPr>
          <p:cNvPr id="546852" name="Rectangle 36"/>
          <p:cNvSpPr>
            <a:spLocks noChangeArrowheads="1"/>
          </p:cNvSpPr>
          <p:nvPr/>
        </p:nvSpPr>
        <p:spPr bwMode="auto">
          <a:xfrm>
            <a:off x="5398226" y="3635375"/>
            <a:ext cx="1310549" cy="339417"/>
          </a:xfrm>
          <a:prstGeom prst="rect">
            <a:avLst/>
          </a:prstGeom>
          <a:solidFill>
            <a:srgbClr val="FBEFCF"/>
          </a:solidFill>
          <a:ln w="28575">
            <a:solidFill>
              <a:srgbClr val="F6CF79"/>
            </a:solidFill>
            <a:miter lim="800000"/>
            <a:headEnd/>
            <a:tailEnd/>
          </a:ln>
        </p:spPr>
        <p:txBody>
          <a:bodyPr/>
          <a:lstStyle/>
          <a:p>
            <a:endParaRPr lang="fr-CA">
              <a:latin typeface="Calibri" pitchFamily="34" charset="0"/>
              <a:cs typeface="Calibri" pitchFamily="34" charset="0"/>
            </a:endParaRPr>
          </a:p>
        </p:txBody>
      </p:sp>
      <p:sp>
        <p:nvSpPr>
          <p:cNvPr id="546854" name="Rectangle 38"/>
          <p:cNvSpPr>
            <a:spLocks noChangeArrowheads="1"/>
          </p:cNvSpPr>
          <p:nvPr/>
        </p:nvSpPr>
        <p:spPr bwMode="auto">
          <a:xfrm>
            <a:off x="6265565" y="2801995"/>
            <a:ext cx="1348998" cy="336754"/>
          </a:xfrm>
          <a:prstGeom prst="rect">
            <a:avLst/>
          </a:prstGeom>
          <a:solidFill>
            <a:srgbClr val="FBEFCF"/>
          </a:solidFill>
          <a:ln w="28575">
            <a:solidFill>
              <a:srgbClr val="F6CF79"/>
            </a:solidFill>
            <a:miter lim="800000"/>
            <a:headEnd/>
            <a:tailEnd/>
          </a:ln>
        </p:spPr>
        <p:txBody>
          <a:bodyPr/>
          <a:lstStyle/>
          <a:p>
            <a:endParaRPr lang="fr-CA">
              <a:latin typeface="Calibri" pitchFamily="34" charset="0"/>
              <a:cs typeface="Calibri" pitchFamily="34" charset="0"/>
            </a:endParaRPr>
          </a:p>
        </p:txBody>
      </p:sp>
      <p:sp>
        <p:nvSpPr>
          <p:cNvPr id="546856" name="Rectangle 40"/>
          <p:cNvSpPr>
            <a:spLocks noChangeArrowheads="1"/>
          </p:cNvSpPr>
          <p:nvPr/>
        </p:nvSpPr>
        <p:spPr bwMode="auto">
          <a:xfrm>
            <a:off x="7380523" y="3636963"/>
            <a:ext cx="1309451" cy="340747"/>
          </a:xfrm>
          <a:prstGeom prst="rect">
            <a:avLst/>
          </a:prstGeom>
          <a:solidFill>
            <a:srgbClr val="FBEFCF"/>
          </a:solidFill>
          <a:ln w="28575">
            <a:solidFill>
              <a:srgbClr val="F6CF79"/>
            </a:solidFill>
            <a:miter lim="800000"/>
            <a:headEnd/>
            <a:tailEnd/>
          </a:ln>
        </p:spPr>
        <p:txBody>
          <a:bodyPr/>
          <a:lstStyle/>
          <a:p>
            <a:endParaRPr lang="fr-CA">
              <a:latin typeface="Calibri" pitchFamily="34" charset="0"/>
              <a:cs typeface="Calibri" pitchFamily="34" charset="0"/>
            </a:endParaRPr>
          </a:p>
        </p:txBody>
      </p:sp>
      <p:sp>
        <p:nvSpPr>
          <p:cNvPr id="546857" name="Rectangle 41"/>
          <p:cNvSpPr>
            <a:spLocks noChangeArrowheads="1"/>
          </p:cNvSpPr>
          <p:nvPr/>
        </p:nvSpPr>
        <p:spPr bwMode="auto">
          <a:xfrm>
            <a:off x="7894528" y="4470400"/>
            <a:ext cx="939909" cy="809275"/>
          </a:xfrm>
          <a:prstGeom prst="rect">
            <a:avLst/>
          </a:prstGeom>
          <a:solidFill>
            <a:srgbClr val="FBEFCF"/>
          </a:solidFill>
          <a:ln w="28575">
            <a:solidFill>
              <a:srgbClr val="F6CF79"/>
            </a:solidFill>
            <a:miter lim="800000"/>
            <a:headEnd/>
            <a:tailEnd/>
          </a:ln>
        </p:spPr>
        <p:txBody>
          <a:bodyPr/>
          <a:lstStyle/>
          <a:p>
            <a:endParaRPr lang="fr-CA"/>
          </a:p>
        </p:txBody>
      </p:sp>
      <p:sp>
        <p:nvSpPr>
          <p:cNvPr id="546859" name="Rectangle 43"/>
          <p:cNvSpPr>
            <a:spLocks noChangeArrowheads="1"/>
          </p:cNvSpPr>
          <p:nvPr/>
        </p:nvSpPr>
        <p:spPr bwMode="auto">
          <a:xfrm>
            <a:off x="6678271" y="4470400"/>
            <a:ext cx="941289" cy="809275"/>
          </a:xfrm>
          <a:prstGeom prst="rect">
            <a:avLst/>
          </a:prstGeom>
          <a:solidFill>
            <a:srgbClr val="FEE060"/>
          </a:solidFill>
          <a:ln w="28575">
            <a:solidFill>
              <a:srgbClr val="F1AF2D"/>
            </a:solidFill>
            <a:miter lim="800000"/>
            <a:headEnd/>
            <a:tailEnd/>
          </a:ln>
        </p:spPr>
        <p:txBody>
          <a:bodyPr/>
          <a:lstStyle/>
          <a:p>
            <a:endParaRPr lang="fr-CA"/>
          </a:p>
        </p:txBody>
      </p:sp>
      <p:sp>
        <p:nvSpPr>
          <p:cNvPr id="546860" name="Rectangle 44"/>
          <p:cNvSpPr>
            <a:spLocks noChangeArrowheads="1"/>
          </p:cNvSpPr>
          <p:nvPr/>
        </p:nvSpPr>
        <p:spPr bwMode="auto">
          <a:xfrm>
            <a:off x="4915734" y="4476750"/>
            <a:ext cx="1166959" cy="332761"/>
          </a:xfrm>
          <a:prstGeom prst="rect">
            <a:avLst/>
          </a:prstGeom>
          <a:solidFill>
            <a:srgbClr val="FEE060"/>
          </a:solidFill>
          <a:ln w="28575">
            <a:solidFill>
              <a:srgbClr val="F1AF2D"/>
            </a:solidFill>
            <a:miter lim="800000"/>
            <a:headEnd/>
            <a:tailEnd/>
          </a:ln>
        </p:spPr>
        <p:txBody>
          <a:bodyPr/>
          <a:lstStyle/>
          <a:p>
            <a:endParaRPr lang="fr-CA" sz="1100" dirty="0"/>
          </a:p>
        </p:txBody>
      </p:sp>
      <p:sp>
        <p:nvSpPr>
          <p:cNvPr id="546861" name="Rectangle 45"/>
          <p:cNvSpPr>
            <a:spLocks noChangeArrowheads="1"/>
          </p:cNvSpPr>
          <p:nvPr/>
        </p:nvSpPr>
        <p:spPr bwMode="auto">
          <a:xfrm>
            <a:off x="4927329" y="5041900"/>
            <a:ext cx="1151853" cy="332761"/>
          </a:xfrm>
          <a:prstGeom prst="rect">
            <a:avLst/>
          </a:prstGeom>
          <a:solidFill>
            <a:srgbClr val="FEE060"/>
          </a:solidFill>
          <a:ln w="28575">
            <a:solidFill>
              <a:srgbClr val="F1AF2D"/>
            </a:solidFill>
            <a:miter lim="800000"/>
            <a:headEnd/>
            <a:tailEnd/>
          </a:ln>
        </p:spPr>
        <p:txBody>
          <a:bodyPr/>
          <a:lstStyle/>
          <a:p>
            <a:endParaRPr lang="fr-CA"/>
          </a:p>
        </p:txBody>
      </p:sp>
      <p:sp>
        <p:nvSpPr>
          <p:cNvPr id="546862" name="Rectangle 46"/>
          <p:cNvSpPr>
            <a:spLocks noChangeArrowheads="1"/>
          </p:cNvSpPr>
          <p:nvPr/>
        </p:nvSpPr>
        <p:spPr bwMode="auto">
          <a:xfrm>
            <a:off x="6672292" y="1992954"/>
            <a:ext cx="51593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sz="1700" b="1">
                <a:solidFill>
                  <a:srgbClr val="666666"/>
                </a:solidFill>
                <a:latin typeface="Arial" charset="0"/>
              </a:rPr>
              <a:t> SNC</a:t>
            </a:r>
            <a:endParaRPr lang="en-US" sz="1200">
              <a:latin typeface="Arial" charset="0"/>
            </a:endParaRPr>
          </a:p>
        </p:txBody>
      </p:sp>
      <p:sp>
        <p:nvSpPr>
          <p:cNvPr id="546863" name="Rectangle 47"/>
          <p:cNvSpPr>
            <a:spLocks noChangeArrowheads="1"/>
          </p:cNvSpPr>
          <p:nvPr/>
        </p:nvSpPr>
        <p:spPr bwMode="auto">
          <a:xfrm>
            <a:off x="5472667" y="3688784"/>
            <a:ext cx="117929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fr-CA" sz="1400" b="1" dirty="0">
                <a:solidFill>
                  <a:srgbClr val="666666"/>
                </a:solidFill>
                <a:latin typeface="Arial" charset="0"/>
              </a:rPr>
              <a:t>Voie sensitive</a:t>
            </a:r>
            <a:endParaRPr lang="fr-CA" sz="1400" dirty="0">
              <a:latin typeface="Arial" charset="0"/>
            </a:endParaRPr>
          </a:p>
        </p:txBody>
      </p:sp>
      <p:sp>
        <p:nvSpPr>
          <p:cNvPr id="546864" name="Rectangle 48"/>
          <p:cNvSpPr>
            <a:spLocks noChangeArrowheads="1"/>
          </p:cNvSpPr>
          <p:nvPr/>
        </p:nvSpPr>
        <p:spPr bwMode="auto">
          <a:xfrm>
            <a:off x="7504109" y="3704276"/>
            <a:ext cx="10622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fr-CA" sz="1400" b="1" dirty="0">
                <a:solidFill>
                  <a:srgbClr val="666666"/>
                </a:solidFill>
                <a:latin typeface="Arial" charset="0"/>
              </a:rPr>
              <a:t>Voie motrice</a:t>
            </a:r>
            <a:endParaRPr lang="fr-CA" sz="1400" dirty="0">
              <a:latin typeface="Arial" charset="0"/>
            </a:endParaRPr>
          </a:p>
        </p:txBody>
      </p:sp>
      <p:sp>
        <p:nvSpPr>
          <p:cNvPr id="546865" name="Rectangle 49"/>
          <p:cNvSpPr>
            <a:spLocks noChangeArrowheads="1"/>
          </p:cNvSpPr>
          <p:nvPr/>
        </p:nvSpPr>
        <p:spPr bwMode="auto">
          <a:xfrm>
            <a:off x="6678642" y="2862904"/>
            <a:ext cx="5048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sz="1700" b="1" dirty="0">
                <a:solidFill>
                  <a:srgbClr val="666666"/>
                </a:solidFill>
                <a:latin typeface="Arial" charset="0"/>
              </a:rPr>
              <a:t> SNP</a:t>
            </a:r>
            <a:endParaRPr lang="en-US" sz="1200" dirty="0">
              <a:latin typeface="Arial" charset="0"/>
            </a:endParaRPr>
          </a:p>
        </p:txBody>
      </p:sp>
      <p:sp>
        <p:nvSpPr>
          <p:cNvPr id="546866" name="Rectangle 50"/>
          <p:cNvSpPr>
            <a:spLocks noChangeArrowheads="1"/>
          </p:cNvSpPr>
          <p:nvPr/>
        </p:nvSpPr>
        <p:spPr bwMode="auto">
          <a:xfrm>
            <a:off x="6774220" y="4537029"/>
            <a:ext cx="7693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fr-CA" sz="1400" b="1" dirty="0">
                <a:solidFill>
                  <a:srgbClr val="000000"/>
                </a:solidFill>
                <a:latin typeface="Calibri" pitchFamily="34" charset="0"/>
                <a:cs typeface="Calibri" pitchFamily="34" charset="0"/>
              </a:rPr>
              <a:t>Système</a:t>
            </a:r>
          </a:p>
          <a:p>
            <a:pPr algn="ctr" eaLnBrk="1" hangingPunct="1"/>
            <a:r>
              <a:rPr lang="fr-CA" sz="1400" b="1" dirty="0">
                <a:solidFill>
                  <a:srgbClr val="000000"/>
                </a:solidFill>
                <a:latin typeface="Calibri" pitchFamily="34" charset="0"/>
                <a:cs typeface="Calibri" pitchFamily="34" charset="0"/>
              </a:rPr>
              <a:t>nerveux</a:t>
            </a:r>
          </a:p>
          <a:p>
            <a:pPr algn="ctr" eaLnBrk="1" hangingPunct="1"/>
            <a:r>
              <a:rPr lang="fr-CA" sz="1400" b="1" dirty="0">
                <a:solidFill>
                  <a:srgbClr val="000000"/>
                </a:solidFill>
                <a:latin typeface="Calibri" pitchFamily="34" charset="0"/>
                <a:cs typeface="Calibri" pitchFamily="34" charset="0"/>
              </a:rPr>
              <a:t>autonome</a:t>
            </a:r>
            <a:endParaRPr lang="fr-CA" sz="1400" dirty="0">
              <a:latin typeface="Calibri" pitchFamily="34" charset="0"/>
              <a:cs typeface="Calibri" pitchFamily="34" charset="0"/>
            </a:endParaRPr>
          </a:p>
        </p:txBody>
      </p:sp>
      <p:sp>
        <p:nvSpPr>
          <p:cNvPr id="546867" name="Rectangle 51"/>
          <p:cNvSpPr>
            <a:spLocks noChangeArrowheads="1"/>
          </p:cNvSpPr>
          <p:nvPr/>
        </p:nvSpPr>
        <p:spPr bwMode="auto">
          <a:xfrm>
            <a:off x="4983596" y="4552950"/>
            <a:ext cx="103153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1" hangingPunct="1"/>
            <a:r>
              <a:rPr lang="fr-CA" sz="1200" b="1" dirty="0">
                <a:solidFill>
                  <a:srgbClr val="000000"/>
                </a:solidFill>
                <a:latin typeface="Calibri" pitchFamily="34" charset="0"/>
                <a:cs typeface="Calibri" pitchFamily="34" charset="0"/>
              </a:rPr>
              <a:t>Sympathique</a:t>
            </a:r>
            <a:endParaRPr lang="fr-CA" sz="1200" dirty="0">
              <a:latin typeface="Calibri" pitchFamily="34" charset="0"/>
              <a:cs typeface="Calibri" pitchFamily="34" charset="0"/>
            </a:endParaRPr>
          </a:p>
        </p:txBody>
      </p:sp>
      <p:sp>
        <p:nvSpPr>
          <p:cNvPr id="546868" name="Rectangle 52"/>
          <p:cNvSpPr>
            <a:spLocks noChangeArrowheads="1"/>
          </p:cNvSpPr>
          <p:nvPr/>
        </p:nvSpPr>
        <p:spPr bwMode="auto">
          <a:xfrm>
            <a:off x="4923497" y="5107330"/>
            <a:ext cx="11556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1" hangingPunct="1"/>
            <a:r>
              <a:rPr lang="fr-CA" sz="1200" b="1" dirty="0">
                <a:solidFill>
                  <a:srgbClr val="000000"/>
                </a:solidFill>
                <a:latin typeface="Calibri" pitchFamily="34" charset="0"/>
                <a:cs typeface="Calibri" pitchFamily="34" charset="0"/>
              </a:rPr>
              <a:t>Parasympathique</a:t>
            </a:r>
            <a:endParaRPr lang="fr-CA" sz="1200" dirty="0">
              <a:latin typeface="Calibri" pitchFamily="34" charset="0"/>
              <a:cs typeface="Calibri" pitchFamily="34" charset="0"/>
            </a:endParaRPr>
          </a:p>
        </p:txBody>
      </p:sp>
      <p:sp>
        <p:nvSpPr>
          <p:cNvPr id="546869" name="Rectangle 53"/>
          <p:cNvSpPr>
            <a:spLocks noChangeArrowheads="1"/>
          </p:cNvSpPr>
          <p:nvPr/>
        </p:nvSpPr>
        <p:spPr bwMode="auto">
          <a:xfrm>
            <a:off x="7948792" y="4553337"/>
            <a:ext cx="7902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lang="fr-CA" sz="1400" b="1" dirty="0">
                <a:solidFill>
                  <a:srgbClr val="666666"/>
                </a:solidFill>
                <a:latin typeface="Calibri" pitchFamily="34" charset="0"/>
                <a:cs typeface="Calibri" pitchFamily="34" charset="0"/>
              </a:rPr>
              <a:t>Système</a:t>
            </a:r>
          </a:p>
          <a:p>
            <a:pPr algn="ctr" eaLnBrk="1" hangingPunct="1"/>
            <a:r>
              <a:rPr lang="fr-CA" sz="1400" b="1" dirty="0">
                <a:solidFill>
                  <a:srgbClr val="666666"/>
                </a:solidFill>
                <a:latin typeface="Calibri" pitchFamily="34" charset="0"/>
                <a:cs typeface="Calibri" pitchFamily="34" charset="0"/>
              </a:rPr>
              <a:t>nerveux</a:t>
            </a:r>
          </a:p>
          <a:p>
            <a:pPr algn="ctr" eaLnBrk="1" hangingPunct="1"/>
            <a:r>
              <a:rPr lang="fr-CA" sz="1400" b="1" dirty="0">
                <a:solidFill>
                  <a:srgbClr val="666666"/>
                </a:solidFill>
                <a:latin typeface="Calibri" pitchFamily="34" charset="0"/>
                <a:cs typeface="Calibri" pitchFamily="34" charset="0"/>
              </a:rPr>
              <a:t>somatique</a:t>
            </a:r>
            <a:endParaRPr lang="fr-CA" sz="1400" dirty="0">
              <a:latin typeface="Calibri" pitchFamily="34" charset="0"/>
              <a:cs typeface="Calibri" pitchFamily="34" charset="0"/>
            </a:endParaRPr>
          </a:p>
        </p:txBody>
      </p:sp>
      <p:sp>
        <p:nvSpPr>
          <p:cNvPr id="546871" name="Rectangle 55"/>
          <p:cNvSpPr>
            <a:spLocks noChangeArrowheads="1"/>
          </p:cNvSpPr>
          <p:nvPr/>
        </p:nvSpPr>
        <p:spPr bwMode="auto">
          <a:xfrm>
            <a:off x="233363" y="1377950"/>
            <a:ext cx="4750233" cy="1223962"/>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Aft>
                <a:spcPct val="10000"/>
              </a:spcAft>
              <a:buClr>
                <a:schemeClr val="tx1"/>
              </a:buClr>
            </a:pPr>
            <a:r>
              <a:rPr lang="fr-CA" sz="1600" b="1" dirty="0">
                <a:latin typeface="Arial" charset="0"/>
                <a:cs typeface="Arial" charset="0"/>
              </a:rPr>
              <a:t>• </a:t>
            </a:r>
            <a:r>
              <a:rPr lang="fr-CA" b="1" i="1" dirty="0">
                <a:latin typeface="Arial" charset="0"/>
                <a:cs typeface="Arial" charset="0"/>
              </a:rPr>
              <a:t>Système nerveux somatique </a:t>
            </a:r>
            <a:r>
              <a:rPr lang="fr-CA" b="1" dirty="0">
                <a:latin typeface="Arial" charset="0"/>
                <a:cs typeface="Arial" charset="0"/>
              </a:rPr>
              <a:t>:</a:t>
            </a:r>
          </a:p>
          <a:p>
            <a:pPr marL="357188" lvl="1" indent="-179388" eaLnBrk="1" hangingPunct="1">
              <a:buClr>
                <a:schemeClr val="tx1"/>
              </a:buClr>
              <a:buSzPct val="90000"/>
              <a:buFont typeface="Wingdings" panose="05000000000000000000" pitchFamily="2" charset="2"/>
              <a:buChar char="§"/>
            </a:pPr>
            <a:r>
              <a:rPr lang="fr-CA" sz="1600" dirty="0">
                <a:latin typeface="Arial" charset="0"/>
                <a:cs typeface="Arial" charset="0"/>
              </a:rPr>
              <a:t>Composé de neurones moteurs qui régissent l’activité des muscles squelettiques.</a:t>
            </a:r>
          </a:p>
          <a:p>
            <a:pPr marL="357188" lvl="1" indent="-179388" eaLnBrk="1" hangingPunct="1">
              <a:buClr>
                <a:schemeClr val="tx1"/>
              </a:buClr>
              <a:buSzPct val="90000"/>
              <a:buFont typeface="Wingdings" panose="05000000000000000000" pitchFamily="2" charset="2"/>
              <a:buChar char="§"/>
            </a:pPr>
            <a:r>
              <a:rPr lang="fr-CA" sz="1600" i="1" dirty="0">
                <a:latin typeface="Arial" charset="0"/>
                <a:cs typeface="Arial" charset="0"/>
              </a:rPr>
              <a:t>Système nerveux volontaire</a:t>
            </a:r>
          </a:p>
          <a:p>
            <a:pPr marL="336550" lvl="1" indent="-157163" eaLnBrk="1" hangingPunct="1">
              <a:buClr>
                <a:schemeClr val="tx1"/>
              </a:buClr>
              <a:buFontTx/>
              <a:buChar char="•"/>
            </a:pPr>
            <a:endParaRPr lang="fr-CA" sz="1600" i="1" dirty="0">
              <a:latin typeface="Arial" charset="0"/>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8" name="Text Box 4"/>
          <p:cNvSpPr txBox="1">
            <a:spLocks noChangeArrowheads="1"/>
          </p:cNvSpPr>
          <p:nvPr/>
        </p:nvSpPr>
        <p:spPr bwMode="auto">
          <a:xfrm>
            <a:off x="168275" y="320675"/>
            <a:ext cx="89757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23838" indent="-223838">
              <a:defRPr sz="2400">
                <a:solidFill>
                  <a:schemeClr val="tx1"/>
                </a:solidFill>
                <a:latin typeface="Times New Roman" pitchFamily="18" charset="0"/>
              </a:defRPr>
            </a:lvl1pPr>
            <a:lvl2pPr marL="1250950">
              <a:defRPr sz="2400">
                <a:solidFill>
                  <a:schemeClr val="tx1"/>
                </a:solidFill>
                <a:latin typeface="Times New Roman" pitchFamily="18" charset="0"/>
              </a:defRPr>
            </a:lvl2pPr>
            <a:lvl3pPr marL="1430338">
              <a:defRPr sz="2400">
                <a:solidFill>
                  <a:schemeClr val="tx1"/>
                </a:solidFill>
                <a:latin typeface="Times New Roman" pitchFamily="18" charset="0"/>
              </a:defRPr>
            </a:lvl3pPr>
            <a:lvl4pPr marL="1609725">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179388" indent="-179388">
              <a:buSzPct val="110000"/>
              <a:buFontTx/>
              <a:buChar char="•"/>
            </a:pPr>
            <a:r>
              <a:rPr lang="fr-CA" sz="2000" b="1" dirty="0">
                <a:latin typeface="Arial" charset="0"/>
                <a:cs typeface="Arial" charset="0"/>
              </a:rPr>
              <a:t>Comparer les systèmes nerveux autonome et somatique en termes de : i) effecteurs, ii) voies efférentes, iii) effets des neurotransmetteurs</a:t>
            </a:r>
            <a:endParaRPr lang="fr-CA" sz="2000" dirty="0">
              <a:latin typeface="Arial" charset="0"/>
              <a:cs typeface="Arial" charset="0"/>
            </a:endParaRP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3141" b="11773"/>
          <a:stretch/>
        </p:blipFill>
        <p:spPr>
          <a:xfrm>
            <a:off x="850271" y="1292984"/>
            <a:ext cx="7611732" cy="4475139"/>
          </a:xfrm>
          <a:prstGeom prst="rect">
            <a:avLst/>
          </a:prstGeom>
        </p:spPr>
      </p:pic>
      <p:sp>
        <p:nvSpPr>
          <p:cNvPr id="548870" name="Text Box 6"/>
          <p:cNvSpPr txBox="1">
            <a:spLocks noChangeArrowheads="1"/>
          </p:cNvSpPr>
          <p:nvPr/>
        </p:nvSpPr>
        <p:spPr bwMode="auto">
          <a:xfrm>
            <a:off x="7713663" y="5829502"/>
            <a:ext cx="1273175" cy="311150"/>
          </a:xfrm>
          <a:prstGeom prst="rect">
            <a:avLst/>
          </a:prstGeom>
          <a:noFill/>
          <a:ln w="63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400">
                <a:solidFill>
                  <a:schemeClr val="accent2"/>
                </a:solidFill>
                <a:latin typeface="Arial" charset="0"/>
              </a:rPr>
              <a:t>Figure 14.2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Text Box 2"/>
          <p:cNvSpPr txBox="1">
            <a:spLocks noChangeArrowheads="1"/>
          </p:cNvSpPr>
          <p:nvPr/>
        </p:nvSpPr>
        <p:spPr bwMode="auto">
          <a:xfrm>
            <a:off x="252567" y="329735"/>
            <a:ext cx="8393243" cy="5493812"/>
          </a:xfrm>
          <a:prstGeom prst="rect">
            <a:avLst/>
          </a:prstGeom>
          <a:noFill/>
          <a:ln w="6350">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2425" indent="-352425" defTabSz="1143000">
              <a:defRPr sz="2400">
                <a:solidFill>
                  <a:schemeClr val="tx1"/>
                </a:solidFill>
                <a:latin typeface="Times New Roman" pitchFamily="18" charset="0"/>
              </a:defRPr>
            </a:lvl1pPr>
            <a:lvl2pPr marL="719138" indent="-187325" defTabSz="1143000">
              <a:defRPr sz="2400">
                <a:solidFill>
                  <a:schemeClr val="tx1"/>
                </a:solidFill>
                <a:latin typeface="Times New Roman" pitchFamily="18" charset="0"/>
              </a:defRPr>
            </a:lvl2pPr>
            <a:lvl3pPr marL="1071563" indent="-169863" defTabSz="1143000">
              <a:defRPr sz="2400">
                <a:solidFill>
                  <a:schemeClr val="tx1"/>
                </a:solidFill>
                <a:latin typeface="Times New Roman" pitchFamily="18" charset="0"/>
              </a:defRPr>
            </a:lvl3pPr>
            <a:lvl4pPr marL="9239250" indent="-495300" defTabSz="1143000">
              <a:defRPr sz="2400">
                <a:solidFill>
                  <a:schemeClr val="tx1"/>
                </a:solidFill>
                <a:latin typeface="Times New Roman" pitchFamily="18" charset="0"/>
              </a:defRPr>
            </a:lvl4pPr>
            <a:lvl5pPr marL="9353550" indent="-495300" defTabSz="1143000">
              <a:defRPr sz="2400">
                <a:solidFill>
                  <a:schemeClr val="tx1"/>
                </a:solidFill>
                <a:latin typeface="Times New Roman" pitchFamily="18" charset="0"/>
              </a:defRPr>
            </a:lvl5pPr>
            <a:lvl6pPr marL="9810750" indent="-495300" defTabSz="1143000" eaLnBrk="0" fontAlgn="base" hangingPunct="0">
              <a:spcBef>
                <a:spcPct val="0"/>
              </a:spcBef>
              <a:spcAft>
                <a:spcPct val="0"/>
              </a:spcAft>
              <a:defRPr sz="2400">
                <a:solidFill>
                  <a:schemeClr val="tx1"/>
                </a:solidFill>
                <a:latin typeface="Times New Roman" pitchFamily="18" charset="0"/>
              </a:defRPr>
            </a:lvl6pPr>
            <a:lvl7pPr marL="10267950" indent="-495300" defTabSz="1143000" eaLnBrk="0" fontAlgn="base" hangingPunct="0">
              <a:spcBef>
                <a:spcPct val="0"/>
              </a:spcBef>
              <a:spcAft>
                <a:spcPct val="0"/>
              </a:spcAft>
              <a:defRPr sz="2400">
                <a:solidFill>
                  <a:schemeClr val="tx1"/>
                </a:solidFill>
                <a:latin typeface="Times New Roman" pitchFamily="18" charset="0"/>
              </a:defRPr>
            </a:lvl7pPr>
            <a:lvl8pPr marL="10725150" indent="-495300" defTabSz="1143000" eaLnBrk="0" fontAlgn="base" hangingPunct="0">
              <a:spcBef>
                <a:spcPct val="0"/>
              </a:spcBef>
              <a:spcAft>
                <a:spcPct val="0"/>
              </a:spcAft>
              <a:defRPr sz="2400">
                <a:solidFill>
                  <a:schemeClr val="tx1"/>
                </a:solidFill>
                <a:latin typeface="Times New Roman" pitchFamily="18" charset="0"/>
              </a:defRPr>
            </a:lvl8pPr>
            <a:lvl9pPr marL="11182350" indent="-495300" defTabSz="1143000" eaLnBrk="0" fontAlgn="base" hangingPunct="0">
              <a:spcBef>
                <a:spcPct val="0"/>
              </a:spcBef>
              <a:spcAft>
                <a:spcPct val="0"/>
              </a:spcAft>
              <a:defRPr sz="2400">
                <a:solidFill>
                  <a:schemeClr val="tx1"/>
                </a:solidFill>
                <a:latin typeface="Times New Roman" pitchFamily="18" charset="0"/>
              </a:defRPr>
            </a:lvl9pPr>
          </a:lstStyle>
          <a:p>
            <a:pPr>
              <a:buSzPct val="110000"/>
              <a:buFontTx/>
              <a:buAutoNum type="romanLcPeriod"/>
            </a:pPr>
            <a:r>
              <a:rPr lang="fr-CA" sz="1600" b="1" i="1" u="sng" dirty="0">
                <a:latin typeface="Arial" charset="0"/>
              </a:rPr>
              <a:t>Effecteurs</a:t>
            </a:r>
            <a:r>
              <a:rPr lang="fr-CA" sz="1600" b="1" i="1" dirty="0">
                <a:latin typeface="Arial" charset="0"/>
              </a:rPr>
              <a:t> </a:t>
            </a:r>
            <a:r>
              <a:rPr lang="fr-CA" sz="1600" b="1" dirty="0">
                <a:latin typeface="Arial" charset="0"/>
              </a:rPr>
              <a:t>:</a:t>
            </a:r>
          </a:p>
          <a:p>
            <a:pPr marL="534988" lvl="1" indent="-177800">
              <a:spcBef>
                <a:spcPts val="300"/>
              </a:spcBef>
              <a:buFontTx/>
              <a:buChar char="•"/>
            </a:pPr>
            <a:r>
              <a:rPr lang="fr-CA" sz="1400" b="1" i="1" dirty="0">
                <a:latin typeface="Arial" charset="0"/>
              </a:rPr>
              <a:t>Somatique </a:t>
            </a:r>
            <a:r>
              <a:rPr lang="fr-CA" sz="1400" b="1" dirty="0">
                <a:latin typeface="Arial" charset="0"/>
              </a:rPr>
              <a:t>:  </a:t>
            </a:r>
            <a:r>
              <a:rPr lang="fr-CA" sz="1400" dirty="0">
                <a:latin typeface="Arial" charset="0"/>
              </a:rPr>
              <a:t>muscles squelettiques</a:t>
            </a:r>
          </a:p>
          <a:p>
            <a:pPr marL="534988" lvl="1" indent="-177800">
              <a:spcBef>
                <a:spcPts val="300"/>
              </a:spcBef>
              <a:buFontTx/>
              <a:buChar char="•"/>
            </a:pPr>
            <a:r>
              <a:rPr lang="fr-CA" sz="1400" b="1" i="1" dirty="0">
                <a:latin typeface="Arial" charset="0"/>
              </a:rPr>
              <a:t>SNA </a:t>
            </a:r>
            <a:r>
              <a:rPr lang="fr-CA" sz="1400" b="1" dirty="0">
                <a:latin typeface="Arial" charset="0"/>
              </a:rPr>
              <a:t>:  </a:t>
            </a:r>
            <a:r>
              <a:rPr lang="fr-CA" sz="1400" dirty="0">
                <a:latin typeface="Arial" charset="0"/>
              </a:rPr>
              <a:t>muscles lisses, muscle cardiaque, glandes</a:t>
            </a:r>
          </a:p>
          <a:p>
            <a:pPr>
              <a:spcBef>
                <a:spcPct val="50000"/>
              </a:spcBef>
              <a:buSzPct val="110000"/>
              <a:buFontTx/>
              <a:buAutoNum type="romanLcPeriod"/>
            </a:pPr>
            <a:r>
              <a:rPr lang="fr-CA" sz="1600" b="1" i="1" u="sng" dirty="0">
                <a:latin typeface="Arial" charset="0"/>
              </a:rPr>
              <a:t>Voies efférentes et ganglions</a:t>
            </a:r>
            <a:r>
              <a:rPr lang="fr-CA" sz="1600" b="1" i="1" dirty="0">
                <a:latin typeface="Arial" charset="0"/>
              </a:rPr>
              <a:t> </a:t>
            </a:r>
            <a:r>
              <a:rPr lang="fr-CA" sz="1600" b="1" dirty="0">
                <a:latin typeface="Arial" charset="0"/>
              </a:rPr>
              <a:t>:</a:t>
            </a:r>
            <a:r>
              <a:rPr lang="fr-CA" sz="1600" dirty="0">
                <a:latin typeface="Arial" charset="0"/>
              </a:rPr>
              <a:t> </a:t>
            </a:r>
            <a:r>
              <a:rPr lang="fr-CA" sz="1400" dirty="0">
                <a:latin typeface="Arial" charset="0"/>
              </a:rPr>
              <a:t>(</a:t>
            </a:r>
            <a:r>
              <a:rPr lang="fr-CA" sz="1400" i="1" dirty="0">
                <a:latin typeface="Arial" charset="0"/>
              </a:rPr>
              <a:t>ganglion = </a:t>
            </a:r>
            <a:r>
              <a:rPr lang="fr-CA" sz="1400" dirty="0">
                <a:latin typeface="Arial" charset="0"/>
              </a:rPr>
              <a:t>regroupement de corps cellulaires dans le SNP)</a:t>
            </a:r>
            <a:endParaRPr lang="fr-CA" sz="1400" b="1" dirty="0">
              <a:latin typeface="Arial" charset="0"/>
            </a:endParaRPr>
          </a:p>
          <a:p>
            <a:pPr marL="534988" lvl="1" indent="-177800">
              <a:spcBef>
                <a:spcPct val="25000"/>
              </a:spcBef>
              <a:buFontTx/>
              <a:buChar char="•"/>
            </a:pPr>
            <a:r>
              <a:rPr lang="fr-CA" sz="1400" b="1" i="1" dirty="0">
                <a:latin typeface="Arial" charset="0"/>
                <a:cs typeface="Arial" charset="0"/>
              </a:rPr>
              <a:t>Somatique</a:t>
            </a:r>
            <a:r>
              <a:rPr lang="fr-CA" sz="1400" b="1" dirty="0">
                <a:latin typeface="Arial" charset="0"/>
                <a:cs typeface="Arial" charset="0"/>
              </a:rPr>
              <a:t>: </a:t>
            </a:r>
            <a:r>
              <a:rPr lang="fr-CA" sz="1400" dirty="0">
                <a:latin typeface="Arial" charset="0"/>
                <a:cs typeface="Arial" charset="0"/>
              </a:rPr>
              <a:t>neurone dont le</a:t>
            </a:r>
            <a:r>
              <a:rPr lang="fr-CA" sz="1400" b="1" dirty="0">
                <a:latin typeface="Arial" charset="0"/>
                <a:cs typeface="Arial" charset="0"/>
              </a:rPr>
              <a:t> </a:t>
            </a:r>
            <a:r>
              <a:rPr lang="fr-CA" sz="1400" dirty="0">
                <a:latin typeface="Arial" charset="0"/>
                <a:cs typeface="Arial" charset="0"/>
              </a:rPr>
              <a:t>corps cellulaire est situé dans le SNC, et l’axone fait synapse avec le muscle squelettique (absence de ganglions).</a:t>
            </a:r>
          </a:p>
          <a:p>
            <a:pPr marL="541338" lvl="1" indent="0">
              <a:spcBef>
                <a:spcPts val="0"/>
              </a:spcBef>
            </a:pPr>
            <a:r>
              <a:rPr lang="fr-CA" sz="1400" dirty="0">
                <a:latin typeface="Arial" charset="0"/>
                <a:cs typeface="Arial" charset="0"/>
              </a:rPr>
              <a:t>Axones généralement épais et fortement myélinisés → conduction rapide de l’influx nerveux.</a:t>
            </a:r>
          </a:p>
          <a:p>
            <a:pPr marL="534988" lvl="1" indent="-177800">
              <a:spcBef>
                <a:spcPct val="25000"/>
              </a:spcBef>
              <a:buFontTx/>
              <a:buChar char="•"/>
            </a:pPr>
            <a:r>
              <a:rPr lang="fr-CA" sz="1400" b="1" i="1" dirty="0">
                <a:latin typeface="Arial" charset="0"/>
              </a:rPr>
              <a:t>SNA </a:t>
            </a:r>
            <a:r>
              <a:rPr lang="fr-CA" sz="1400" b="1" dirty="0">
                <a:latin typeface="Arial" charset="0"/>
              </a:rPr>
              <a:t>:  </a:t>
            </a:r>
            <a:r>
              <a:rPr lang="fr-CA" sz="1400" dirty="0">
                <a:latin typeface="Arial" charset="0"/>
              </a:rPr>
              <a:t>chaînes de deux neurones moteurs</a:t>
            </a:r>
            <a:endParaRPr lang="fr-CA" sz="1400" b="1" dirty="0">
              <a:latin typeface="Arial" charset="0"/>
            </a:endParaRPr>
          </a:p>
          <a:p>
            <a:pPr marL="720725" lvl="2" indent="-187325">
              <a:buSzPct val="85000"/>
              <a:buFont typeface="Wingdings" pitchFamily="2" charset="2"/>
              <a:buChar char="§"/>
            </a:pPr>
            <a:r>
              <a:rPr lang="fr-CA" sz="1400" b="1" dirty="0">
                <a:latin typeface="Arial" charset="0"/>
              </a:rPr>
              <a:t>Neurone préganglionnaire : </a:t>
            </a:r>
            <a:r>
              <a:rPr lang="fr-CA" sz="1400" dirty="0">
                <a:latin typeface="Arial" charset="0"/>
              </a:rPr>
              <a:t>corps cellulaire situé dans le SNC; axone fait synapse avec le 2</a:t>
            </a:r>
            <a:r>
              <a:rPr lang="fr-CA" sz="1400" baseline="30000" dirty="0">
                <a:latin typeface="Arial" charset="0"/>
              </a:rPr>
              <a:t>ème</a:t>
            </a:r>
            <a:r>
              <a:rPr lang="fr-CA" sz="1400" dirty="0">
                <a:latin typeface="Arial" charset="0"/>
              </a:rPr>
              <a:t> neurone</a:t>
            </a:r>
            <a:r>
              <a:rPr lang="fr-CA" sz="1400" b="1" dirty="0">
                <a:latin typeface="Arial" charset="0"/>
              </a:rPr>
              <a:t> </a:t>
            </a:r>
            <a:r>
              <a:rPr lang="fr-CA" sz="1400" dirty="0">
                <a:latin typeface="Arial" charset="0"/>
              </a:rPr>
              <a:t>(postganglionnaire)</a:t>
            </a:r>
            <a:r>
              <a:rPr lang="fr-CA" sz="1400" b="1" dirty="0">
                <a:latin typeface="Arial" charset="0"/>
              </a:rPr>
              <a:t> </a:t>
            </a:r>
            <a:r>
              <a:rPr lang="fr-CA" sz="1400" dirty="0">
                <a:latin typeface="Arial" charset="0"/>
              </a:rPr>
              <a:t>dans un ganglion autonome.</a:t>
            </a:r>
          </a:p>
          <a:p>
            <a:pPr marL="720725" lvl="2" indent="-187325">
              <a:buSzPct val="85000"/>
              <a:buFont typeface="Wingdings" pitchFamily="2" charset="2"/>
              <a:buChar char="§"/>
            </a:pPr>
            <a:r>
              <a:rPr lang="fr-CA" sz="1400" b="1" dirty="0">
                <a:latin typeface="Arial" charset="0"/>
              </a:rPr>
              <a:t>Neurone postganglionnaire :</a:t>
            </a:r>
            <a:r>
              <a:rPr lang="fr-CA" sz="1400" dirty="0">
                <a:latin typeface="Arial" charset="0"/>
              </a:rPr>
              <a:t> corps cellulaire situé dans le ganglion; axone fait synapse avec l’organe effecteur.</a:t>
            </a:r>
          </a:p>
          <a:p>
            <a:pPr marL="534988" lvl="2" indent="0">
              <a:buSzPct val="90000"/>
              <a:tabLst>
                <a:tab pos="538163" algn="l"/>
              </a:tabLst>
            </a:pPr>
            <a:r>
              <a:rPr lang="fr-CA" sz="1400" dirty="0">
                <a:latin typeface="Arial" charset="0"/>
              </a:rPr>
              <a:t>Conduction lente: axones minces qui ne sont que faiblement myélinisés (axones préganglionnaires) ou amyélinisés (axones postganglionnaires)</a:t>
            </a:r>
          </a:p>
          <a:p>
            <a:pPr>
              <a:spcBef>
                <a:spcPct val="50000"/>
              </a:spcBef>
              <a:buSzPct val="110000"/>
              <a:buFontTx/>
              <a:buAutoNum type="romanLcPeriod"/>
            </a:pPr>
            <a:r>
              <a:rPr lang="fr-CA" sz="1600" b="1" i="1" u="sng" dirty="0">
                <a:latin typeface="Arial" charset="0"/>
              </a:rPr>
              <a:t>Effets des neurotransmetteurs</a:t>
            </a:r>
            <a:r>
              <a:rPr lang="fr-CA" sz="1600" b="1" dirty="0">
                <a:latin typeface="Arial" charset="0"/>
              </a:rPr>
              <a:t> :</a:t>
            </a:r>
          </a:p>
          <a:p>
            <a:pPr marL="534988" lvl="1" indent="-177800">
              <a:spcBef>
                <a:spcPct val="25000"/>
              </a:spcBef>
              <a:buFontTx/>
              <a:buChar char="•"/>
            </a:pPr>
            <a:r>
              <a:rPr lang="fr-CA" sz="1400" b="1" i="1" dirty="0">
                <a:latin typeface="Arial" charset="0"/>
              </a:rPr>
              <a:t>Somatique </a:t>
            </a:r>
            <a:r>
              <a:rPr lang="fr-CA" sz="1400" b="1" dirty="0">
                <a:latin typeface="Arial" charset="0"/>
              </a:rPr>
              <a:t>:  </a:t>
            </a:r>
            <a:r>
              <a:rPr lang="fr-CA" sz="1400" dirty="0">
                <a:latin typeface="Arial" charset="0"/>
              </a:rPr>
              <a:t>tous les neurones moteurs somatiques libèrent de l’ACh, et l’effet est toujours excitateur.</a:t>
            </a:r>
          </a:p>
          <a:p>
            <a:pPr marL="534988" lvl="1" indent="-177800">
              <a:spcBef>
                <a:spcPct val="25000"/>
              </a:spcBef>
              <a:buFontTx/>
              <a:buChar char="•"/>
            </a:pPr>
            <a:r>
              <a:rPr lang="fr-CA" sz="1400" b="1" i="1" dirty="0">
                <a:latin typeface="Arial" charset="0"/>
              </a:rPr>
              <a:t>SNA </a:t>
            </a:r>
            <a:r>
              <a:rPr lang="fr-CA" sz="1400" b="1" dirty="0">
                <a:latin typeface="Arial" charset="0"/>
              </a:rPr>
              <a:t>:</a:t>
            </a:r>
          </a:p>
          <a:p>
            <a:pPr marL="720725" lvl="2" indent="-185738">
              <a:buFontTx/>
              <a:buChar char="•"/>
            </a:pPr>
            <a:r>
              <a:rPr lang="fr-CA" sz="1400" b="1" dirty="0">
                <a:latin typeface="Arial" charset="0"/>
              </a:rPr>
              <a:t>Préganglionnaire:  </a:t>
            </a:r>
            <a:r>
              <a:rPr lang="fr-CA" sz="1400" dirty="0">
                <a:latin typeface="Arial" charset="0"/>
              </a:rPr>
              <a:t>toujours ACh (excitateur, récepteurs nicotiniques)</a:t>
            </a:r>
          </a:p>
          <a:p>
            <a:pPr marL="720725" lvl="2" indent="-185738">
              <a:buFontTx/>
              <a:buChar char="•"/>
            </a:pPr>
            <a:r>
              <a:rPr lang="fr-CA" sz="1400" b="1" dirty="0">
                <a:latin typeface="Arial" charset="0"/>
              </a:rPr>
              <a:t>Postganglionnaire:  </a:t>
            </a:r>
            <a:r>
              <a:rPr lang="fr-CA" sz="1400" dirty="0">
                <a:latin typeface="Arial" charset="0"/>
              </a:rPr>
              <a:t>généralement </a:t>
            </a:r>
            <a:r>
              <a:rPr lang="fr-CA" sz="1400" b="1" dirty="0">
                <a:latin typeface="Arial" charset="0"/>
              </a:rPr>
              <a:t>NA </a:t>
            </a:r>
            <a:r>
              <a:rPr lang="fr-CA" sz="1400" dirty="0">
                <a:latin typeface="Arial" charset="0"/>
              </a:rPr>
              <a:t>par les neurones</a:t>
            </a:r>
            <a:r>
              <a:rPr lang="fr-CA" sz="1400" b="1" dirty="0">
                <a:latin typeface="Arial" charset="0"/>
              </a:rPr>
              <a:t> sympathiques; </a:t>
            </a:r>
            <a:r>
              <a:rPr lang="fr-CA" sz="1400" dirty="0">
                <a:latin typeface="Arial" charset="0"/>
              </a:rPr>
              <a:t>toujours</a:t>
            </a:r>
            <a:r>
              <a:rPr lang="fr-CA" sz="1400" b="1" dirty="0">
                <a:latin typeface="Arial" charset="0"/>
              </a:rPr>
              <a:t> ACh </a:t>
            </a:r>
            <a:r>
              <a:rPr lang="fr-CA" sz="1400" dirty="0">
                <a:latin typeface="Arial" charset="0"/>
              </a:rPr>
              <a:t>par les neurones</a:t>
            </a:r>
            <a:r>
              <a:rPr lang="fr-CA" sz="1400" b="1" dirty="0">
                <a:latin typeface="Arial" charset="0"/>
              </a:rPr>
              <a:t> parasympathiques</a:t>
            </a:r>
            <a:r>
              <a:rPr lang="fr-CA" sz="1400" dirty="0">
                <a:latin typeface="Arial" charset="0"/>
              </a:rPr>
              <a:t> (récepteurs muscariniques); effets peuvent être excitateurs ou inhibiteurs selon le type de récepteurs sur l’organe cible.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1218" name="Text Box 2"/>
          <p:cNvSpPr txBox="1">
            <a:spLocks noChangeArrowheads="1"/>
          </p:cNvSpPr>
          <p:nvPr/>
        </p:nvSpPr>
        <p:spPr bwMode="auto">
          <a:xfrm>
            <a:off x="370729" y="1112672"/>
            <a:ext cx="8514854" cy="4175167"/>
          </a:xfrm>
          <a:prstGeom prst="rect">
            <a:avLst/>
          </a:prstGeom>
          <a:noFill/>
          <a:ln w="6350">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228600">
            <a:noAutofit/>
          </a:bodyPr>
          <a:lstStyle>
            <a:lvl1pPr>
              <a:defRPr sz="2400">
                <a:solidFill>
                  <a:schemeClr val="tx1"/>
                </a:solidFill>
                <a:latin typeface="Times New Roman" pitchFamily="18" charset="0"/>
              </a:defRPr>
            </a:lvl1pPr>
            <a:lvl2pPr marL="352425" indent="-173038">
              <a:defRPr sz="2400">
                <a:solidFill>
                  <a:schemeClr val="tx1"/>
                </a:solidFill>
                <a:latin typeface="Times New Roman" pitchFamily="18" charset="0"/>
              </a:defRPr>
            </a:lvl2pPr>
            <a:lvl3pPr marL="719138" indent="-187325">
              <a:defRPr sz="2400">
                <a:solidFill>
                  <a:schemeClr val="tx1"/>
                </a:solidFill>
                <a:latin typeface="Times New Roman" pitchFamily="18" charset="0"/>
              </a:defRPr>
            </a:lvl3pPr>
            <a:lvl4pPr marL="1071563" indent="-173038">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lvl="1">
              <a:spcBef>
                <a:spcPct val="25000"/>
              </a:spcBef>
            </a:pPr>
            <a:r>
              <a:rPr lang="fr-CA" sz="1800" b="1" dirty="0">
                <a:latin typeface="Arial" charset="0"/>
                <a:cs typeface="Arial" charset="0"/>
              </a:rPr>
              <a:t>• </a:t>
            </a:r>
            <a:r>
              <a:rPr lang="fr-CA" sz="1800" b="1" i="1" u="sng" dirty="0">
                <a:latin typeface="Arial" charset="0"/>
                <a:cs typeface="Arial" charset="0"/>
              </a:rPr>
              <a:t>Système nerveux p</a:t>
            </a:r>
            <a:r>
              <a:rPr lang="fr-CA" sz="1800" b="1" i="1" u="sng" dirty="0">
                <a:latin typeface="Arial" charset="0"/>
              </a:rPr>
              <a:t>arasympathique</a:t>
            </a:r>
            <a:r>
              <a:rPr lang="fr-CA" sz="1800" b="1" i="1" dirty="0">
                <a:latin typeface="Arial" charset="0"/>
              </a:rPr>
              <a:t> </a:t>
            </a:r>
            <a:r>
              <a:rPr lang="fr-CA" sz="1800" b="1" dirty="0">
                <a:latin typeface="Arial" charset="0"/>
              </a:rPr>
              <a:t>:</a:t>
            </a:r>
            <a:endParaRPr lang="fr-CA" sz="1600" dirty="0">
              <a:latin typeface="Arial" charset="0"/>
            </a:endParaRPr>
          </a:p>
          <a:p>
            <a:pPr marL="534988" lvl="2" indent="-177800">
              <a:spcBef>
                <a:spcPct val="25000"/>
              </a:spcBef>
              <a:buSzPct val="90000"/>
              <a:buFont typeface="Arial" pitchFamily="34" charset="0"/>
              <a:buChar char="–"/>
            </a:pPr>
            <a:r>
              <a:rPr lang="fr-CA" sz="1400" dirty="0">
                <a:latin typeface="Arial" charset="0"/>
              </a:rPr>
              <a:t>Stimule les fonctions qui économisent et restaurent l’énergie en situation de repos :  favorise la digestion et l’absorption des aliments, ralentit les fonctions physiologiques associés </a:t>
            </a:r>
            <a:r>
              <a:rPr lang="en-US" sz="1400" dirty="0">
                <a:latin typeface="Arial" charset="0"/>
                <a:cs typeface="Arial" charset="0"/>
              </a:rPr>
              <a:t>à l’</a:t>
            </a:r>
            <a:r>
              <a:rPr lang="fr-CA" sz="1400" dirty="0">
                <a:latin typeface="Arial" charset="0"/>
                <a:cs typeface="Arial" charset="0"/>
              </a:rPr>
              <a:t>exercice</a:t>
            </a:r>
            <a:r>
              <a:rPr lang="en-US" sz="1400" dirty="0">
                <a:latin typeface="Arial" charset="0"/>
                <a:cs typeface="Arial" charset="0"/>
              </a:rPr>
              <a:t>.</a:t>
            </a:r>
          </a:p>
          <a:p>
            <a:pPr marL="534988" lvl="2" indent="-177800">
              <a:spcBef>
                <a:spcPct val="25000"/>
              </a:spcBef>
              <a:buSzPct val="90000"/>
              <a:buFont typeface="Arial" pitchFamily="34" charset="0"/>
              <a:buChar char="–"/>
            </a:pPr>
            <a:r>
              <a:rPr lang="fr-CA" sz="1400" dirty="0">
                <a:latin typeface="Arial" charset="0"/>
              </a:rPr>
              <a:t>Favorise l’élimination des déchets (défécation, miction)</a:t>
            </a:r>
          </a:p>
          <a:p>
            <a:pPr marL="534988" lvl="2" indent="-177800">
              <a:spcBef>
                <a:spcPct val="25000"/>
              </a:spcBef>
              <a:buSzPct val="90000"/>
              <a:buFont typeface="Arial" pitchFamily="34" charset="0"/>
              <a:buChar char="–"/>
            </a:pPr>
            <a:r>
              <a:rPr lang="fr-CA" sz="1400" dirty="0">
                <a:solidFill>
                  <a:srgbClr val="000000"/>
                </a:solidFill>
                <a:latin typeface="Arial" charset="0"/>
                <a:cs typeface="Arial" charset="0"/>
              </a:rPr>
              <a:t>Sa fonction est bien illustrée chez une personne qui relaxe après un repas :</a:t>
            </a:r>
          </a:p>
          <a:p>
            <a:pPr marL="900113" lvl="4" indent="-187325">
              <a:buSzPct val="90000"/>
              <a:buFont typeface="Arial" pitchFamily="34" charset="0"/>
              <a:buChar char="•"/>
            </a:pPr>
            <a:r>
              <a:rPr lang="fr-CA" sz="1400" dirty="0">
                <a:solidFill>
                  <a:srgbClr val="000000"/>
                </a:solidFill>
                <a:latin typeface="Arial" charset="0"/>
                <a:cs typeface="Arial" charset="0"/>
              </a:rPr>
              <a:t>Activité gastro-intestinale est élevée</a:t>
            </a:r>
          </a:p>
          <a:p>
            <a:pPr marL="900113" lvl="4" indent="-187325">
              <a:buSzPct val="90000"/>
              <a:buFont typeface="Arial" pitchFamily="34" charset="0"/>
              <a:buChar char="•"/>
            </a:pPr>
            <a:r>
              <a:rPr lang="fr-CA" sz="1400" dirty="0">
                <a:latin typeface="Arial" charset="0"/>
                <a:cs typeface="Arial" charset="0"/>
              </a:rPr>
              <a:t>Fréquences cardiaque et respiratoire lentes, pupilles en constriction</a:t>
            </a:r>
          </a:p>
          <a:p>
            <a:pPr marL="534988" lvl="2" indent="-177800">
              <a:spcBef>
                <a:spcPct val="25000"/>
              </a:spcBef>
              <a:buSzPct val="90000"/>
              <a:buFont typeface="Arial" pitchFamily="34" charset="0"/>
              <a:buChar char="–"/>
            </a:pPr>
            <a:r>
              <a:rPr lang="fr-CA" sz="1400" b="1" dirty="0">
                <a:latin typeface="Arial" charset="0"/>
                <a:cs typeface="Arial" charset="0"/>
              </a:rPr>
              <a:t>«Système D» :  </a:t>
            </a:r>
            <a:r>
              <a:rPr lang="fr-CA" sz="1400" dirty="0">
                <a:latin typeface="Arial" charset="0"/>
                <a:cs typeface="Arial" charset="0"/>
              </a:rPr>
              <a:t>détente, digestion, défécation, diurèse</a:t>
            </a:r>
          </a:p>
          <a:p>
            <a:pPr lvl="1">
              <a:spcBef>
                <a:spcPts val="1200"/>
              </a:spcBef>
            </a:pPr>
            <a:r>
              <a:rPr lang="fr-CA" sz="1800" b="1" dirty="0">
                <a:latin typeface="Arial" charset="0"/>
                <a:cs typeface="Arial" charset="0"/>
              </a:rPr>
              <a:t>• </a:t>
            </a:r>
            <a:r>
              <a:rPr lang="fr-CA" sz="1800" b="1" i="1" u="sng" dirty="0">
                <a:latin typeface="Arial" charset="0"/>
              </a:rPr>
              <a:t>Système nerveux sympathique</a:t>
            </a:r>
            <a:r>
              <a:rPr lang="fr-CA" sz="1800" b="1" i="1" dirty="0">
                <a:latin typeface="Arial" charset="0"/>
              </a:rPr>
              <a:t> </a:t>
            </a:r>
            <a:r>
              <a:rPr lang="fr-CA" sz="1800" b="1" dirty="0">
                <a:latin typeface="Arial" charset="0"/>
              </a:rPr>
              <a:t>:</a:t>
            </a:r>
          </a:p>
          <a:p>
            <a:pPr marL="534988" lvl="2" indent="-177800">
              <a:spcBef>
                <a:spcPct val="25000"/>
              </a:spcBef>
              <a:buSzPct val="90000"/>
              <a:buFont typeface="Arial" pitchFamily="34" charset="0"/>
              <a:buChar char="–"/>
            </a:pPr>
            <a:r>
              <a:rPr lang="fr-CA" sz="1400" dirty="0">
                <a:latin typeface="Arial" charset="0"/>
              </a:rPr>
              <a:t>Actif en période de stress physique ou psychologique; prépare les réactions </a:t>
            </a:r>
            <a:r>
              <a:rPr lang="fr-CA" sz="1400" b="1" dirty="0">
                <a:latin typeface="Arial" charset="0"/>
              </a:rPr>
              <a:t>“de lutte ou de fuite”</a:t>
            </a:r>
            <a:r>
              <a:rPr lang="fr-CA" sz="1400" dirty="0">
                <a:latin typeface="Arial" charset="0"/>
              </a:rPr>
              <a:t>, important aussi durant l’effort physique.</a:t>
            </a:r>
          </a:p>
          <a:p>
            <a:pPr marL="534988" lvl="2" indent="-177800">
              <a:spcBef>
                <a:spcPct val="25000"/>
              </a:spcBef>
              <a:buSzPct val="90000"/>
              <a:buFont typeface="Arial" pitchFamily="34" charset="0"/>
              <a:buChar char="–"/>
            </a:pPr>
            <a:r>
              <a:rPr lang="fr-CA" sz="1400" dirty="0">
                <a:solidFill>
                  <a:srgbClr val="000000"/>
                </a:solidFill>
                <a:latin typeface="Arial" charset="0"/>
                <a:cs typeface="Arial" charset="0"/>
              </a:rPr>
              <a:t>Son activité est bien illustrée chez une personne qui est menacée :</a:t>
            </a:r>
          </a:p>
          <a:p>
            <a:pPr marL="900113" lvl="3" indent="-179388">
              <a:buFontTx/>
              <a:buChar char="•"/>
            </a:pPr>
            <a:r>
              <a:rPr lang="fr-CA" sz="1400" dirty="0">
                <a:solidFill>
                  <a:srgbClr val="000000"/>
                </a:solidFill>
                <a:latin typeface="Arial" charset="0"/>
                <a:cs typeface="Arial" charset="0"/>
              </a:rPr>
              <a:t>Rythme cardiaque augmente, respiration devient rapide et profonde</a:t>
            </a:r>
          </a:p>
          <a:p>
            <a:pPr marL="900113" lvl="3" indent="-179388">
              <a:buFontTx/>
              <a:buChar char="•"/>
            </a:pPr>
            <a:r>
              <a:rPr lang="fr-CA" sz="1400" dirty="0">
                <a:latin typeface="Arial" charset="0"/>
                <a:cs typeface="Arial" charset="0"/>
              </a:rPr>
              <a:t>La peau est froide et moite, les pupilles sont dilatées</a:t>
            </a:r>
          </a:p>
          <a:p>
            <a:pPr marL="534988" lvl="2" indent="-177800">
              <a:spcBef>
                <a:spcPct val="25000"/>
              </a:spcBef>
              <a:buSzPct val="90000"/>
              <a:buFont typeface="Arial" pitchFamily="34" charset="0"/>
              <a:buChar char="–"/>
            </a:pPr>
            <a:r>
              <a:rPr lang="fr-CA" sz="1400" b="1" dirty="0">
                <a:latin typeface="Arial" charset="0"/>
              </a:rPr>
              <a:t>«Système E» :  </a:t>
            </a:r>
            <a:r>
              <a:rPr lang="fr-CA" sz="1400" dirty="0">
                <a:latin typeface="Arial" charset="0"/>
              </a:rPr>
              <a:t>exercice, excitation, embarras</a:t>
            </a:r>
          </a:p>
        </p:txBody>
      </p:sp>
      <p:sp>
        <p:nvSpPr>
          <p:cNvPr id="521221" name="Rectangle 5"/>
          <p:cNvSpPr>
            <a:spLocks noChangeArrowheads="1"/>
          </p:cNvSpPr>
          <p:nvPr/>
        </p:nvSpPr>
        <p:spPr bwMode="auto">
          <a:xfrm>
            <a:off x="200957" y="250183"/>
            <a:ext cx="8742086"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808038" indent="-808038">
              <a:spcBef>
                <a:spcPct val="50000"/>
              </a:spcBef>
            </a:pPr>
            <a:r>
              <a:rPr lang="fr-CA" sz="2200" b="1" dirty="0">
                <a:solidFill>
                  <a:srgbClr val="0000FF"/>
                </a:solidFill>
                <a:latin typeface="Arial" charset="0"/>
                <a:cs typeface="Arial" charset="0"/>
              </a:rPr>
              <a:t>4.2.2</a:t>
            </a:r>
            <a:r>
              <a:rPr lang="fr-CA" sz="2200" dirty="0">
                <a:solidFill>
                  <a:srgbClr val="0000FF"/>
                </a:solidFill>
                <a:latin typeface="Arial" charset="0"/>
                <a:cs typeface="Arial" charset="0"/>
              </a:rPr>
              <a:t>	</a:t>
            </a:r>
            <a:r>
              <a:rPr lang="fr-CA" sz="2200" b="1" u="sng" dirty="0">
                <a:solidFill>
                  <a:srgbClr val="0000FF"/>
                </a:solidFill>
                <a:latin typeface="Arial" charset="0"/>
                <a:cs typeface="Arial" charset="0"/>
              </a:rPr>
              <a:t>Comparer les systèmes parasympathique et sympathique</a:t>
            </a:r>
            <a:endParaRPr lang="fr-CA" sz="2200" b="1" dirty="0">
              <a:solidFill>
                <a:srgbClr val="0000FF"/>
              </a:solidFill>
              <a:latin typeface="Arial" charset="0"/>
              <a:cs typeface="Arial" charset="0"/>
            </a:endParaRPr>
          </a:p>
        </p:txBody>
      </p:sp>
      <p:sp>
        <p:nvSpPr>
          <p:cNvPr id="521222" name="Text Box 6"/>
          <p:cNvSpPr txBox="1">
            <a:spLocks noChangeArrowheads="1"/>
          </p:cNvSpPr>
          <p:nvPr/>
        </p:nvSpPr>
        <p:spPr bwMode="auto">
          <a:xfrm>
            <a:off x="200957" y="702829"/>
            <a:ext cx="17524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CA" sz="2000" b="1" dirty="0">
                <a:latin typeface="Arial" charset="0"/>
              </a:rPr>
              <a:t>A) </a:t>
            </a:r>
            <a:r>
              <a:rPr lang="fr-CA" sz="2000" b="1" u="sng" dirty="0">
                <a:latin typeface="Arial" charset="0"/>
              </a:rPr>
              <a:t>Fonctions</a:t>
            </a:r>
            <a:endParaRPr lang="en-US" sz="2000" dirty="0">
              <a:latin typeface="Arial" charset="0"/>
            </a:endParaRPr>
          </a:p>
        </p:txBody>
      </p:sp>
      <p:sp>
        <p:nvSpPr>
          <p:cNvPr id="5" name="Text Box 5"/>
          <p:cNvSpPr txBox="1">
            <a:spLocks noChangeArrowheads="1"/>
          </p:cNvSpPr>
          <p:nvPr/>
        </p:nvSpPr>
        <p:spPr bwMode="auto">
          <a:xfrm>
            <a:off x="200957" y="5355175"/>
            <a:ext cx="8382938" cy="492443"/>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182563" indent="-182563">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indent="0"/>
            <a:r>
              <a:rPr lang="fr-CA" sz="1300" dirty="0">
                <a:solidFill>
                  <a:srgbClr val="FF0000"/>
                </a:solidFill>
                <a:latin typeface="Calibri" panose="020F0502020204030204" pitchFamily="34" charset="0"/>
                <a:cs typeface="Arial" charset="0"/>
              </a:rPr>
              <a:t>La muscarine est une toxine produite par certains types de champignon (dont les inocybes retrouvés dans nos régions !)</a:t>
            </a:r>
          </a:p>
          <a:p>
            <a:pPr marL="0" indent="0"/>
            <a:r>
              <a:rPr lang="fr-CA" sz="1300" dirty="0">
                <a:solidFill>
                  <a:srgbClr val="FF0000"/>
                </a:solidFill>
                <a:latin typeface="Calibri" panose="020F0502020204030204" pitchFamily="34" charset="0"/>
                <a:cs typeface="Arial" charset="0"/>
              </a:rPr>
              <a:t>Prédisez et expliquez les principaux effets d’une intoxication à de tels champignons.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3" name="Rectangle 3"/>
          <p:cNvSpPr>
            <a:spLocks noGrp="1" noChangeArrowheads="1"/>
          </p:cNvSpPr>
          <p:nvPr>
            <p:ph type="body" idx="4294967295"/>
          </p:nvPr>
        </p:nvSpPr>
        <p:spPr>
          <a:xfrm>
            <a:off x="188940" y="320579"/>
            <a:ext cx="8766120" cy="4238169"/>
          </a:xfrm>
          <a:noFill/>
          <a:ln w="6350">
            <a:noFill/>
            <a:miter lim="800000"/>
            <a:headEnd/>
            <a:tailEnd/>
          </a:ln>
        </p:spPr>
        <p:txBody>
          <a:bodyPr tIns="82800" bIns="82800"/>
          <a:lstStyle/>
          <a:p>
            <a:pPr marL="182563" indent="-182563">
              <a:spcAft>
                <a:spcPct val="25000"/>
              </a:spcAft>
              <a:buClr>
                <a:schemeClr val="tx1"/>
              </a:buClr>
              <a:buSzPct val="120000"/>
              <a:buFontTx/>
              <a:buChar char="•"/>
            </a:pPr>
            <a:r>
              <a:rPr lang="fr-CA" sz="1800" b="1" u="sng" dirty="0">
                <a:latin typeface="Arial" charset="0"/>
                <a:cs typeface="Arial" charset="0"/>
              </a:rPr>
              <a:t>Rôles exclusifs du système nerveux sympathique</a:t>
            </a:r>
          </a:p>
          <a:p>
            <a:pPr marL="357188" lvl="1" indent="-177800">
              <a:buClr>
                <a:schemeClr val="tx1"/>
              </a:buClr>
              <a:buSzPct val="90000"/>
            </a:pPr>
            <a:r>
              <a:rPr lang="fr-CA" sz="1600" dirty="0">
                <a:latin typeface="Arial" charset="0"/>
                <a:cs typeface="Arial" charset="0"/>
              </a:rPr>
              <a:t>Plusieurs fonctions ne sont contrôlées que par le système sympathique (plusieurs organes étant dépourvus d’innervation parasympathique).</a:t>
            </a:r>
          </a:p>
          <a:p>
            <a:pPr marL="357188" lvl="1" indent="-177800">
              <a:spcAft>
                <a:spcPct val="0"/>
              </a:spcAft>
              <a:buClr>
                <a:schemeClr val="tx1"/>
              </a:buClr>
              <a:buSzPct val="90000"/>
            </a:pPr>
            <a:r>
              <a:rPr lang="fr-CA" sz="1600" dirty="0">
                <a:latin typeface="Arial" charset="0"/>
                <a:cs typeface="Arial" charset="0"/>
              </a:rPr>
              <a:t>Organes dont l’innervation parasympathique est minimale ou absente :</a:t>
            </a:r>
          </a:p>
          <a:p>
            <a:pPr marL="808038" lvl="2" indent="-271463">
              <a:spcBef>
                <a:spcPts val="300"/>
              </a:spcBef>
              <a:spcAft>
                <a:spcPts val="0"/>
              </a:spcAft>
              <a:buClr>
                <a:schemeClr val="tx1"/>
              </a:buClr>
              <a:buSzPct val="90000"/>
              <a:buFont typeface="Wingdings" panose="05000000000000000000" pitchFamily="2" charset="2"/>
              <a:buChar char="ü"/>
            </a:pPr>
            <a:r>
              <a:rPr lang="fr-CA" sz="1600" dirty="0">
                <a:latin typeface="Arial" charset="0"/>
                <a:cs typeface="Arial" charset="0"/>
              </a:rPr>
              <a:t>La médulla surrénale (qui libère de l’adrénaline et de la noradrénaline)</a:t>
            </a:r>
          </a:p>
          <a:p>
            <a:pPr marL="808038" lvl="2" indent="-271463">
              <a:spcBef>
                <a:spcPts val="300"/>
              </a:spcBef>
              <a:spcAft>
                <a:spcPts val="0"/>
              </a:spcAft>
              <a:buClr>
                <a:schemeClr val="tx1"/>
              </a:buClr>
              <a:buSzPct val="90000"/>
              <a:buFont typeface="Wingdings" panose="05000000000000000000" pitchFamily="2" charset="2"/>
              <a:buChar char="ü"/>
            </a:pPr>
            <a:r>
              <a:rPr lang="fr-CA" sz="1600" dirty="0">
                <a:latin typeface="Arial" charset="0"/>
                <a:cs typeface="Arial" charset="0"/>
              </a:rPr>
              <a:t>Les glandes sudoripares</a:t>
            </a:r>
          </a:p>
          <a:p>
            <a:pPr marL="808038" lvl="2" indent="-271463">
              <a:spcBef>
                <a:spcPts val="300"/>
              </a:spcBef>
              <a:spcAft>
                <a:spcPts val="0"/>
              </a:spcAft>
              <a:buClr>
                <a:schemeClr val="tx1"/>
              </a:buClr>
              <a:buSzPct val="90000"/>
              <a:buFont typeface="Wingdings" panose="05000000000000000000" pitchFamily="2" charset="2"/>
              <a:buChar char="ü"/>
            </a:pPr>
            <a:r>
              <a:rPr lang="fr-CA" sz="1600" dirty="0">
                <a:latin typeface="Arial" charset="0"/>
                <a:cs typeface="Arial" charset="0"/>
              </a:rPr>
              <a:t>Les reins, le foie, le tissu adipeux</a:t>
            </a:r>
          </a:p>
          <a:p>
            <a:pPr marL="808038" lvl="2" indent="-271463">
              <a:spcBef>
                <a:spcPts val="300"/>
              </a:spcBef>
              <a:spcAft>
                <a:spcPts val="0"/>
              </a:spcAft>
              <a:buClr>
                <a:schemeClr val="tx1"/>
              </a:buClr>
              <a:buSzPct val="90000"/>
              <a:buFont typeface="Wingdings" panose="05000000000000000000" pitchFamily="2" charset="2"/>
              <a:buChar char="ü"/>
            </a:pPr>
            <a:r>
              <a:rPr lang="fr-CA" sz="1600" dirty="0">
                <a:latin typeface="Arial" charset="0"/>
                <a:cs typeface="Arial" charset="0"/>
              </a:rPr>
              <a:t>La plupart des vaisseaux sanguins</a:t>
            </a:r>
          </a:p>
          <a:p>
            <a:pPr marL="357188" lvl="1" indent="-187325">
              <a:spcBef>
                <a:spcPct val="50000"/>
              </a:spcBef>
              <a:spcAft>
                <a:spcPct val="0"/>
              </a:spcAft>
              <a:buClr>
                <a:schemeClr val="tx1"/>
              </a:buClr>
              <a:buSzPct val="90000"/>
            </a:pPr>
            <a:r>
              <a:rPr lang="fr-CA" sz="1600" dirty="0">
                <a:latin typeface="Arial" charset="0"/>
                <a:cs typeface="Arial" charset="0"/>
              </a:rPr>
              <a:t>Fonctions dont l’influence du système nerveux autonome ne se fait que par le système sympathique :</a:t>
            </a:r>
          </a:p>
          <a:p>
            <a:pPr marL="808038" lvl="2" indent="-271463">
              <a:spcBef>
                <a:spcPts val="300"/>
              </a:spcBef>
              <a:spcAft>
                <a:spcPct val="0"/>
              </a:spcAft>
              <a:buClr>
                <a:schemeClr val="tx1"/>
              </a:buClr>
              <a:buSzPct val="90000"/>
              <a:buFont typeface="Wingdings" panose="05000000000000000000" pitchFamily="2" charset="2"/>
              <a:buChar char="ü"/>
            </a:pPr>
            <a:r>
              <a:rPr lang="fr-CA" sz="1600" dirty="0">
                <a:latin typeface="Arial" charset="0"/>
                <a:cs typeface="Arial" charset="0"/>
              </a:rPr>
              <a:t>La thermorégulation</a:t>
            </a:r>
          </a:p>
          <a:p>
            <a:pPr marL="808038" lvl="2" indent="-271463">
              <a:spcBef>
                <a:spcPts val="300"/>
              </a:spcBef>
              <a:spcAft>
                <a:spcPct val="0"/>
              </a:spcAft>
              <a:buClr>
                <a:schemeClr val="tx1"/>
              </a:buClr>
              <a:buSzPct val="90000"/>
              <a:buFont typeface="Wingdings" panose="05000000000000000000" pitchFamily="2" charset="2"/>
              <a:buChar char="ü"/>
            </a:pPr>
            <a:r>
              <a:rPr lang="fr-CA" sz="1600" dirty="0">
                <a:latin typeface="Arial" charset="0"/>
                <a:cs typeface="Arial" charset="0"/>
              </a:rPr>
              <a:t>La libération de rénine (une hormone qui élève la pression sanguine) des reins, des catécholamines de la médulla surrénale</a:t>
            </a:r>
          </a:p>
          <a:p>
            <a:pPr marL="808038" lvl="2" indent="-271463">
              <a:spcBef>
                <a:spcPts val="300"/>
              </a:spcBef>
              <a:spcAft>
                <a:spcPct val="0"/>
              </a:spcAft>
              <a:buClr>
                <a:schemeClr val="tx1"/>
              </a:buClr>
              <a:buSzPct val="90000"/>
              <a:buFont typeface="Wingdings" panose="05000000000000000000" pitchFamily="2" charset="2"/>
              <a:buChar char="ü"/>
            </a:pPr>
            <a:r>
              <a:rPr lang="fr-CA" sz="1600" dirty="0">
                <a:latin typeface="Arial" charset="0"/>
                <a:cs typeface="Arial" charset="0"/>
              </a:rPr>
              <a:t>Divers effets métaboliques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9" name="Rectangle 5"/>
          <p:cNvSpPr>
            <a:spLocks noChangeArrowheads="1"/>
          </p:cNvSpPr>
          <p:nvPr/>
        </p:nvSpPr>
        <p:spPr bwMode="auto">
          <a:xfrm>
            <a:off x="482990" y="778890"/>
            <a:ext cx="8332131" cy="3607579"/>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57188" lvl="1" indent="-242888" eaLnBrk="1" hangingPunct="1">
              <a:spcAft>
                <a:spcPct val="10000"/>
              </a:spcAft>
              <a:buClr>
                <a:schemeClr val="tx1"/>
              </a:buClr>
              <a:buSzPct val="120000"/>
              <a:buFont typeface="Arial" panose="020B0604020202020204" pitchFamily="34" charset="0"/>
              <a:buChar char="•"/>
            </a:pPr>
            <a:r>
              <a:rPr lang="fr-CA" b="1" dirty="0">
                <a:solidFill>
                  <a:srgbClr val="000000"/>
                </a:solidFill>
                <a:latin typeface="Arial" charset="0"/>
                <a:cs typeface="Arial" charset="0"/>
              </a:rPr>
              <a:t>Tonus sympathique :</a:t>
            </a:r>
          </a:p>
          <a:p>
            <a:pPr marL="357188" lvl="2" eaLnBrk="1" hangingPunct="1">
              <a:buClr>
                <a:schemeClr val="tx1"/>
              </a:buClr>
            </a:pPr>
            <a:r>
              <a:rPr lang="fr-CA" sz="1600" dirty="0">
                <a:solidFill>
                  <a:srgbClr val="000000"/>
                </a:solidFill>
                <a:latin typeface="Arial" charset="0"/>
                <a:cs typeface="Arial" charset="0"/>
              </a:rPr>
              <a:t>Activité soutenue de certaines voies sympathiques qui maintiennent les vaisseaux sanguins dans un état de constriction partielle.</a:t>
            </a:r>
          </a:p>
          <a:p>
            <a:pPr marL="715963" lvl="3" indent="-265113" eaLnBrk="1" hangingPunct="1">
              <a:spcBef>
                <a:spcPts val="200"/>
              </a:spcBef>
              <a:spcAft>
                <a:spcPts val="0"/>
              </a:spcAft>
              <a:buClr>
                <a:schemeClr val="tx1"/>
              </a:buClr>
              <a:buFont typeface="Symbol"/>
              <a:buChar char="®"/>
            </a:pPr>
            <a:r>
              <a:rPr lang="fr-CA" sz="1600" dirty="0">
                <a:solidFill>
                  <a:srgbClr val="000000"/>
                </a:solidFill>
                <a:latin typeface="Arial" charset="0"/>
                <a:cs typeface="Arial" charset="0"/>
                <a:sym typeface="Symbol" pitchFamily="18" charset="2"/>
              </a:rPr>
              <a:t>Une </a:t>
            </a:r>
            <a:r>
              <a:rPr lang="fr-CA" sz="1600" b="1" i="1" dirty="0">
                <a:solidFill>
                  <a:srgbClr val="000000"/>
                </a:solidFill>
                <a:latin typeface="Arial" charset="0"/>
                <a:cs typeface="Arial" charset="0"/>
                <a:sym typeface="Symbol" pitchFamily="18" charset="2"/>
              </a:rPr>
              <a:t>vasodilatation</a:t>
            </a:r>
            <a:r>
              <a:rPr lang="fr-CA" sz="1600" dirty="0">
                <a:solidFill>
                  <a:srgbClr val="000000"/>
                </a:solidFill>
                <a:latin typeface="Arial" charset="0"/>
                <a:cs typeface="Arial" charset="0"/>
                <a:sym typeface="Symbol" pitchFamily="18" charset="2"/>
              </a:rPr>
              <a:t> est obtenue par une diminution du tonus sympathique</a:t>
            </a:r>
          </a:p>
          <a:p>
            <a:pPr marL="715963" lvl="3" indent="-265113" eaLnBrk="1" hangingPunct="1">
              <a:spcBef>
                <a:spcPts val="200"/>
              </a:spcBef>
              <a:spcAft>
                <a:spcPts val="0"/>
              </a:spcAft>
              <a:buClr>
                <a:schemeClr val="tx1"/>
              </a:buClr>
              <a:buFont typeface="Symbol"/>
              <a:buChar char="®"/>
            </a:pPr>
            <a:r>
              <a:rPr lang="fr-CA" sz="1600" dirty="0">
                <a:solidFill>
                  <a:srgbClr val="000000"/>
                </a:solidFill>
                <a:latin typeface="Arial" charset="0"/>
                <a:cs typeface="Arial" charset="0"/>
                <a:sym typeface="Symbol" pitchFamily="18" charset="2"/>
              </a:rPr>
              <a:t>Une </a:t>
            </a:r>
            <a:r>
              <a:rPr lang="fr-CA" sz="1600" b="1" i="1" dirty="0">
                <a:solidFill>
                  <a:srgbClr val="000000"/>
                </a:solidFill>
                <a:latin typeface="Arial" charset="0"/>
                <a:cs typeface="Arial" charset="0"/>
                <a:sym typeface="Symbol" pitchFamily="18" charset="2"/>
              </a:rPr>
              <a:t>vasoconstriction</a:t>
            </a:r>
            <a:r>
              <a:rPr lang="fr-CA" sz="1600" dirty="0">
                <a:solidFill>
                  <a:srgbClr val="000000"/>
                </a:solidFill>
                <a:latin typeface="Arial" charset="0"/>
                <a:cs typeface="Arial" charset="0"/>
                <a:sym typeface="Symbol" pitchFamily="18" charset="2"/>
              </a:rPr>
              <a:t> est obtenue par une augmentation du tonus sympathique</a:t>
            </a:r>
          </a:p>
          <a:p>
            <a:pPr marL="357188" lvl="1" indent="-242888" eaLnBrk="1" hangingPunct="1">
              <a:spcBef>
                <a:spcPts val="1200"/>
              </a:spcBef>
              <a:spcAft>
                <a:spcPts val="0"/>
              </a:spcAft>
              <a:buClr>
                <a:schemeClr val="tx1"/>
              </a:buClr>
              <a:buSzPct val="120000"/>
              <a:buFont typeface="Arial" panose="020B0604020202020204" pitchFamily="34" charset="0"/>
              <a:buChar char="•"/>
            </a:pPr>
            <a:r>
              <a:rPr lang="fr-CA" b="1" dirty="0">
                <a:solidFill>
                  <a:srgbClr val="000000"/>
                </a:solidFill>
                <a:latin typeface="Arial" charset="0"/>
                <a:cs typeface="Arial" charset="0"/>
                <a:sym typeface="Symbol" pitchFamily="18" charset="2"/>
              </a:rPr>
              <a:t>Tonus parasympathique :</a:t>
            </a:r>
          </a:p>
          <a:p>
            <a:pPr marL="352425" lvl="2" eaLnBrk="1" hangingPunct="1">
              <a:spcBef>
                <a:spcPts val="200"/>
              </a:spcBef>
              <a:spcAft>
                <a:spcPts val="0"/>
              </a:spcAft>
              <a:buClr>
                <a:schemeClr val="tx1"/>
              </a:buClr>
            </a:pPr>
            <a:r>
              <a:rPr lang="fr-CA" sz="1600" dirty="0">
                <a:solidFill>
                  <a:srgbClr val="000000"/>
                </a:solidFill>
                <a:latin typeface="Arial" charset="0"/>
                <a:cs typeface="Arial" charset="0"/>
                <a:sym typeface="Symbol" pitchFamily="18" charset="2"/>
              </a:rPr>
              <a:t>Activité soutenue de voies parasympathiques qui assurent le maintien de certaines fonctions durant les périodes de repos, telles une faible fréquence cardiaque et l’activité du système digestif.</a:t>
            </a:r>
          </a:p>
          <a:p>
            <a:pPr marL="715963" lvl="3" indent="-265113" eaLnBrk="1" hangingPunct="1">
              <a:spcBef>
                <a:spcPts val="200"/>
              </a:spcBef>
              <a:spcAft>
                <a:spcPts val="0"/>
              </a:spcAft>
              <a:buClr>
                <a:schemeClr val="tx1"/>
              </a:buClr>
            </a:pPr>
            <a:r>
              <a:rPr lang="fr-CA" sz="1600" dirty="0">
                <a:solidFill>
                  <a:srgbClr val="000000"/>
                </a:solidFill>
                <a:latin typeface="Arial" charset="0"/>
                <a:cs typeface="Arial" charset="0"/>
                <a:sym typeface="Symbol" pitchFamily="18" charset="2"/>
              </a:rPr>
              <a:t>	En absence de tonus parasympathique, le cœur bat plus rapidement et les fonctions digestives sont ralenties.</a:t>
            </a:r>
          </a:p>
          <a:p>
            <a:pPr marL="715963" lvl="3" indent="-265113" eaLnBrk="1" hangingPunct="1">
              <a:spcBef>
                <a:spcPts val="200"/>
              </a:spcBef>
              <a:spcAft>
                <a:spcPts val="0"/>
              </a:spcAft>
              <a:buClr>
                <a:schemeClr val="tx1"/>
              </a:buClr>
            </a:pPr>
            <a:r>
              <a:rPr lang="fr-CA" sz="1600" dirty="0">
                <a:solidFill>
                  <a:srgbClr val="000000"/>
                </a:solidFill>
                <a:latin typeface="Arial" charset="0"/>
                <a:cs typeface="Arial" charset="0"/>
                <a:sym typeface="Symbol" pitchFamily="18" charset="2"/>
              </a:rPr>
              <a:t>	Les effets du tonus parasympathique peuvent être rapidement annulés par le système sympathique en situation d’urgence.</a:t>
            </a:r>
          </a:p>
        </p:txBody>
      </p:sp>
      <p:sp>
        <p:nvSpPr>
          <p:cNvPr id="584710" name="Text Box 6"/>
          <p:cNvSpPr txBox="1">
            <a:spLocks noChangeArrowheads="1"/>
          </p:cNvSpPr>
          <p:nvPr/>
        </p:nvSpPr>
        <p:spPr bwMode="auto">
          <a:xfrm>
            <a:off x="212104" y="378781"/>
            <a:ext cx="64166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2113" indent="-392113">
              <a:defRPr sz="2400">
                <a:solidFill>
                  <a:schemeClr val="tx1"/>
                </a:solidFill>
                <a:latin typeface="Times New Roman" pitchFamily="18" charset="0"/>
              </a:defRPr>
            </a:lvl1pPr>
            <a:lvl2pPr marL="50641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eaLnBrk="1" hangingPunct="1">
              <a:spcAft>
                <a:spcPct val="25000"/>
              </a:spcAft>
              <a:buClr>
                <a:schemeClr val="tx1"/>
              </a:buClr>
              <a:buSzPct val="120000"/>
            </a:pPr>
            <a:r>
              <a:rPr lang="fr-CA" sz="2000" b="1" dirty="0">
                <a:latin typeface="Arial" charset="0"/>
              </a:rPr>
              <a:t>B)	</a:t>
            </a:r>
            <a:r>
              <a:rPr lang="fr-CA" sz="2000" b="1" u="sng" dirty="0">
                <a:latin typeface="Arial" charset="0"/>
              </a:rPr>
              <a:t>Tonus sympathique et parasympathique</a:t>
            </a:r>
            <a:endParaRPr lang="en-US" sz="2000" u="sng" dirty="0"/>
          </a:p>
        </p:txBody>
      </p:sp>
      <p:sp>
        <p:nvSpPr>
          <p:cNvPr id="4" name="Text Box 5"/>
          <p:cNvSpPr txBox="1">
            <a:spLocks noChangeArrowheads="1"/>
          </p:cNvSpPr>
          <p:nvPr/>
        </p:nvSpPr>
        <p:spPr bwMode="auto">
          <a:xfrm>
            <a:off x="681774" y="4695822"/>
            <a:ext cx="5294956" cy="338554"/>
          </a:xfrm>
          <a:prstGeom prst="rect">
            <a:avLst/>
          </a:prstGeom>
          <a:noFill/>
          <a:ln w="63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182563" indent="-182563">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indent="0"/>
            <a:r>
              <a:rPr lang="fr-CA" sz="1600" dirty="0">
                <a:solidFill>
                  <a:srgbClr val="FF0000"/>
                </a:solidFill>
                <a:latin typeface="Calibri" panose="020F0502020204030204" pitchFamily="34" charset="0"/>
                <a:cs typeface="Arial" charset="0"/>
              </a:rPr>
              <a:t>Qu’est-ce que le tonus vagal ?   Pourquoi l’appelle-t-on ainsi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399" name="Picture 15" descr="C:\OLD_PC\backup\DriveD\michel\Marieb\HAP8e_IRDVD\Chapter_14\B_JPEG_Images_and_Tables\b_unlabeled\figure_14_09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027" b="4300"/>
          <a:stretch/>
        </p:blipFill>
        <p:spPr bwMode="auto">
          <a:xfrm>
            <a:off x="4750808" y="1249910"/>
            <a:ext cx="4210630" cy="4220195"/>
          </a:xfrm>
          <a:prstGeom prst="rect">
            <a:avLst/>
          </a:prstGeom>
          <a:noFill/>
          <a:extLst>
            <a:ext uri="{909E8E84-426E-40DD-AFC4-6F175D3DCCD1}">
              <a14:hiddenFill xmlns:a14="http://schemas.microsoft.com/office/drawing/2010/main">
                <a:solidFill>
                  <a:srgbClr val="FFFFFF"/>
                </a:solidFill>
              </a14:hiddenFill>
            </a:ext>
          </a:extLst>
        </p:spPr>
      </p:pic>
      <p:sp>
        <p:nvSpPr>
          <p:cNvPr id="528391" name="Text Box 7"/>
          <p:cNvSpPr txBox="1">
            <a:spLocks noChangeArrowheads="1"/>
          </p:cNvSpPr>
          <p:nvPr/>
        </p:nvSpPr>
        <p:spPr bwMode="auto">
          <a:xfrm>
            <a:off x="7828583" y="5794045"/>
            <a:ext cx="1189037" cy="3143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sz="1400" dirty="0">
                <a:solidFill>
                  <a:schemeClr val="accent2"/>
                </a:solidFill>
                <a:latin typeface="Arial" charset="0"/>
              </a:rPr>
              <a:t>Figure 14.10</a:t>
            </a:r>
          </a:p>
        </p:txBody>
      </p:sp>
      <p:sp>
        <p:nvSpPr>
          <p:cNvPr id="528392" name="Text Box 8"/>
          <p:cNvSpPr txBox="1">
            <a:spLocks noChangeArrowheads="1"/>
          </p:cNvSpPr>
          <p:nvPr/>
        </p:nvSpPr>
        <p:spPr bwMode="auto">
          <a:xfrm>
            <a:off x="4809157" y="1849831"/>
            <a:ext cx="1413223" cy="276999"/>
          </a:xfrm>
          <a:prstGeom prst="rect">
            <a:avLst/>
          </a:prstGeom>
          <a:noFill/>
          <a:ln>
            <a:noFill/>
          </a:ln>
          <a:effectLst/>
        </p:spPr>
        <p:txBody>
          <a:bodyPr wrap="square">
            <a:spAutoFit/>
          </a:bodyPr>
          <a:lstStyle/>
          <a:p>
            <a:pPr algn="ctr"/>
            <a:r>
              <a:rPr lang="fr-CA" sz="1200" b="1" dirty="0">
                <a:latin typeface="Calibri" pitchFamily="34" charset="0"/>
                <a:cs typeface="Calibri" pitchFamily="34" charset="0"/>
              </a:rPr>
              <a:t>Cortex cérébral</a:t>
            </a:r>
          </a:p>
        </p:txBody>
      </p:sp>
      <p:sp>
        <p:nvSpPr>
          <p:cNvPr id="528393" name="Text Box 9"/>
          <p:cNvSpPr txBox="1">
            <a:spLocks noChangeArrowheads="1"/>
          </p:cNvSpPr>
          <p:nvPr/>
        </p:nvSpPr>
        <p:spPr bwMode="auto">
          <a:xfrm>
            <a:off x="5098336" y="2519096"/>
            <a:ext cx="1677988" cy="461665"/>
          </a:xfrm>
          <a:prstGeom prst="rect">
            <a:avLst/>
          </a:prstGeom>
          <a:noFill/>
          <a:ln>
            <a:noFill/>
          </a:ln>
          <a:effectLst/>
        </p:spPr>
        <p:txBody>
          <a:bodyPr>
            <a:spAutoFit/>
          </a:bodyPr>
          <a:lstStyle/>
          <a:p>
            <a:pPr algn="ctr"/>
            <a:r>
              <a:rPr lang="fr-CA" sz="1200" b="1" dirty="0">
                <a:latin typeface="Calibri" pitchFamily="34" charset="0"/>
                <a:cs typeface="Calibri" pitchFamily="34" charset="0"/>
              </a:rPr>
              <a:t>Système limbique</a:t>
            </a:r>
          </a:p>
          <a:p>
            <a:pPr algn="ctr"/>
            <a:r>
              <a:rPr lang="fr-CA" sz="1200" b="1" dirty="0">
                <a:latin typeface="Calibri" pitchFamily="34" charset="0"/>
                <a:cs typeface="Calibri" pitchFamily="34" charset="0"/>
              </a:rPr>
              <a:t>(émotions)</a:t>
            </a:r>
          </a:p>
        </p:txBody>
      </p:sp>
      <p:sp>
        <p:nvSpPr>
          <p:cNvPr id="528394" name="Text Box 10"/>
          <p:cNvSpPr txBox="1">
            <a:spLocks noChangeArrowheads="1"/>
          </p:cNvSpPr>
          <p:nvPr/>
        </p:nvSpPr>
        <p:spPr bwMode="auto">
          <a:xfrm>
            <a:off x="7304088" y="1006815"/>
            <a:ext cx="1657350" cy="523220"/>
          </a:xfrm>
          <a:prstGeom prst="rect">
            <a:avLst/>
          </a:prstGeom>
          <a:noFill/>
          <a:ln>
            <a:noFill/>
          </a:ln>
          <a:effectLst/>
        </p:spPr>
        <p:txBody>
          <a:bodyPr wrap="square">
            <a:spAutoFit/>
          </a:bodyPr>
          <a:lstStyle/>
          <a:p>
            <a:r>
              <a:rPr lang="fr-CA" sz="1400" b="1" dirty="0"/>
              <a:t>Communication au</a:t>
            </a:r>
          </a:p>
          <a:p>
            <a:r>
              <a:rPr lang="fr-CA" sz="1400" b="1" dirty="0"/>
              <a:t>niveau inconscient</a:t>
            </a:r>
          </a:p>
        </p:txBody>
      </p:sp>
      <p:sp>
        <p:nvSpPr>
          <p:cNvPr id="528395" name="Text Box 11"/>
          <p:cNvSpPr txBox="1">
            <a:spLocks noChangeArrowheads="1"/>
          </p:cNvSpPr>
          <p:nvPr/>
        </p:nvSpPr>
        <p:spPr bwMode="auto">
          <a:xfrm>
            <a:off x="6559765" y="2927432"/>
            <a:ext cx="1796216" cy="572464"/>
          </a:xfrm>
          <a:prstGeom prst="rect">
            <a:avLst/>
          </a:prstGeom>
          <a:noFill/>
          <a:ln>
            <a:noFill/>
          </a:ln>
          <a:effectLst/>
        </p:spPr>
        <p:txBody>
          <a:bodyPr wrap="square">
            <a:spAutoFit/>
          </a:bodyPr>
          <a:lstStyle/>
          <a:p>
            <a:pPr algn="ctr">
              <a:lnSpc>
                <a:spcPct val="80000"/>
              </a:lnSpc>
            </a:pPr>
            <a:r>
              <a:rPr lang="fr-CA" sz="1400" b="1" u="sng" dirty="0">
                <a:latin typeface="Calibri" pitchFamily="34" charset="0"/>
                <a:cs typeface="Calibri" pitchFamily="34" charset="0"/>
              </a:rPr>
              <a:t>Hypothalamus</a:t>
            </a:r>
          </a:p>
          <a:p>
            <a:pPr algn="ctr">
              <a:lnSpc>
                <a:spcPts val="1200"/>
              </a:lnSpc>
            </a:pPr>
            <a:r>
              <a:rPr lang="fr-CA" sz="1100" dirty="0">
                <a:latin typeface="Calibri" pitchFamily="34" charset="0"/>
                <a:cs typeface="Calibri" pitchFamily="34" charset="0"/>
              </a:rPr>
              <a:t>Principal centre d’intégration du SNA</a:t>
            </a:r>
          </a:p>
        </p:txBody>
      </p:sp>
      <p:sp>
        <p:nvSpPr>
          <p:cNvPr id="528396" name="Text Box 12"/>
          <p:cNvSpPr txBox="1">
            <a:spLocks noChangeArrowheads="1"/>
          </p:cNvSpPr>
          <p:nvPr/>
        </p:nvSpPr>
        <p:spPr bwMode="auto">
          <a:xfrm>
            <a:off x="6458609" y="3649397"/>
            <a:ext cx="2075791" cy="832536"/>
          </a:xfrm>
          <a:prstGeom prst="rect">
            <a:avLst/>
          </a:prstGeom>
          <a:noFill/>
          <a:ln>
            <a:noFill/>
          </a:ln>
          <a:effectLst/>
        </p:spPr>
        <p:txBody>
          <a:bodyPr wrap="square" lIns="0" rIns="0">
            <a:spAutoFit/>
          </a:bodyPr>
          <a:lstStyle/>
          <a:p>
            <a:pPr algn="ctr">
              <a:lnSpc>
                <a:spcPct val="80000"/>
              </a:lnSpc>
              <a:spcAft>
                <a:spcPts val="0"/>
              </a:spcAft>
            </a:pPr>
            <a:r>
              <a:rPr lang="fr-CA" sz="1400" b="1" u="sng" dirty="0">
                <a:latin typeface="Calibri" pitchFamily="34" charset="0"/>
                <a:cs typeface="Calibri" pitchFamily="34" charset="0"/>
              </a:rPr>
              <a:t>Tronc cérébral</a:t>
            </a:r>
          </a:p>
          <a:p>
            <a:pPr algn="ctr">
              <a:spcBef>
                <a:spcPts val="300"/>
              </a:spcBef>
            </a:pPr>
            <a:r>
              <a:rPr lang="fr-CA" sz="1100" dirty="0">
                <a:latin typeface="Calibri" pitchFamily="34" charset="0"/>
                <a:cs typeface="Calibri" pitchFamily="34" charset="0"/>
              </a:rPr>
              <a:t>Contrôle: pupilles, respiration, activité cardiaque, pression artérielle, déglutition, etc.</a:t>
            </a:r>
          </a:p>
        </p:txBody>
      </p:sp>
      <p:sp>
        <p:nvSpPr>
          <p:cNvPr id="528397" name="Text Box 13"/>
          <p:cNvSpPr txBox="1">
            <a:spLocks noChangeArrowheads="1"/>
          </p:cNvSpPr>
          <p:nvPr/>
        </p:nvSpPr>
        <p:spPr bwMode="auto">
          <a:xfrm>
            <a:off x="6495531" y="4726600"/>
            <a:ext cx="1994263" cy="624786"/>
          </a:xfrm>
          <a:prstGeom prst="rect">
            <a:avLst/>
          </a:prstGeom>
          <a:noFill/>
          <a:ln>
            <a:noFill/>
          </a:ln>
          <a:effectLst/>
        </p:spPr>
        <p:txBody>
          <a:bodyPr wrap="square">
            <a:spAutoFit/>
          </a:bodyPr>
          <a:lstStyle/>
          <a:p>
            <a:pPr algn="ctr">
              <a:lnSpc>
                <a:spcPct val="80000"/>
              </a:lnSpc>
              <a:spcAft>
                <a:spcPct val="10000"/>
              </a:spcAft>
            </a:pPr>
            <a:r>
              <a:rPr lang="fr-CA" sz="1400" b="1" u="sng" dirty="0">
                <a:latin typeface="Calibri" pitchFamily="34" charset="0"/>
                <a:cs typeface="Calibri" pitchFamily="34" charset="0"/>
              </a:rPr>
              <a:t>Moelle épinière</a:t>
            </a:r>
          </a:p>
          <a:p>
            <a:pPr algn="ctr"/>
            <a:r>
              <a:rPr lang="fr-CA" sz="1100" dirty="0">
                <a:latin typeface="Calibri" pitchFamily="34" charset="0"/>
                <a:cs typeface="Calibri" pitchFamily="34" charset="0"/>
              </a:rPr>
              <a:t>Réflexes de miction, défé-cation, érection, éjaculation</a:t>
            </a:r>
          </a:p>
        </p:txBody>
      </p:sp>
      <p:sp>
        <p:nvSpPr>
          <p:cNvPr id="528398" name="Rectangle 14"/>
          <p:cNvSpPr>
            <a:spLocks noChangeArrowheads="1"/>
          </p:cNvSpPr>
          <p:nvPr/>
        </p:nvSpPr>
        <p:spPr bwMode="auto">
          <a:xfrm>
            <a:off x="265732" y="283021"/>
            <a:ext cx="87518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p>
            <a:pPr marL="442913" indent="-442913">
              <a:spcBef>
                <a:spcPct val="50000"/>
              </a:spcBef>
            </a:pPr>
            <a:r>
              <a:rPr lang="fr-CA" sz="2000" b="1" dirty="0">
                <a:latin typeface="Arial" charset="0"/>
                <a:cs typeface="Arial" charset="0"/>
              </a:rPr>
              <a:t>C)	</a:t>
            </a:r>
            <a:r>
              <a:rPr lang="fr-CA" sz="2000" b="1" u="sng" dirty="0">
                <a:latin typeface="Arial" charset="0"/>
                <a:cs typeface="Arial" charset="0"/>
              </a:rPr>
              <a:t>Niveaux de régulation du système nerveux autonome dans le SNC</a:t>
            </a:r>
          </a:p>
        </p:txBody>
      </p:sp>
      <p:sp>
        <p:nvSpPr>
          <p:cNvPr id="528388" name="Text Box 4"/>
          <p:cNvSpPr txBox="1">
            <a:spLocks noChangeArrowheads="1"/>
          </p:cNvSpPr>
          <p:nvPr/>
        </p:nvSpPr>
        <p:spPr bwMode="auto">
          <a:xfrm>
            <a:off x="222630" y="805464"/>
            <a:ext cx="4325579" cy="5109086"/>
          </a:xfrm>
          <a:prstGeom prst="rect">
            <a:avLst/>
          </a:prstGeom>
          <a:noFill/>
          <a:ln w="6350">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tabLst>
                <a:tab pos="0" algn="l"/>
              </a:tabLst>
              <a:defRPr sz="2400">
                <a:solidFill>
                  <a:schemeClr val="tx1"/>
                </a:solidFill>
                <a:latin typeface="Times New Roman" pitchFamily="18" charset="0"/>
              </a:defRPr>
            </a:lvl1pPr>
            <a:lvl2pPr marL="298450" indent="-184150">
              <a:tabLst>
                <a:tab pos="0" algn="l"/>
              </a:tabLst>
              <a:defRPr sz="2400">
                <a:solidFill>
                  <a:schemeClr val="tx1"/>
                </a:solidFill>
                <a:latin typeface="Times New Roman" pitchFamily="18" charset="0"/>
              </a:defRPr>
            </a:lvl2pPr>
            <a:lvl3pPr marL="623888" indent="-146050">
              <a:tabLst>
                <a:tab pos="0" algn="l"/>
              </a:tabLst>
              <a:defRPr sz="2400">
                <a:solidFill>
                  <a:schemeClr val="tx1"/>
                </a:solidFill>
                <a:latin typeface="Times New Roman" pitchFamily="18" charset="0"/>
              </a:defRPr>
            </a:lvl3pPr>
            <a:lvl4pPr marL="2817813" indent="-609600">
              <a:tabLst>
                <a:tab pos="0" algn="l"/>
              </a:tabLst>
              <a:defRPr sz="2400">
                <a:solidFill>
                  <a:schemeClr val="tx1"/>
                </a:solidFill>
                <a:latin typeface="Times New Roman" pitchFamily="18" charset="0"/>
              </a:defRPr>
            </a:lvl4pPr>
            <a:lvl5pPr marL="3606800" indent="-609600">
              <a:tabLst>
                <a:tab pos="0" algn="l"/>
              </a:tabLst>
              <a:defRPr sz="2400">
                <a:solidFill>
                  <a:schemeClr val="tx1"/>
                </a:solidFill>
                <a:latin typeface="Times New Roman" pitchFamily="18" charset="0"/>
              </a:defRPr>
            </a:lvl5pPr>
            <a:lvl6pPr marL="4064000" indent="-609600" eaLnBrk="0" fontAlgn="base" hangingPunct="0">
              <a:spcBef>
                <a:spcPct val="0"/>
              </a:spcBef>
              <a:spcAft>
                <a:spcPct val="0"/>
              </a:spcAft>
              <a:tabLst>
                <a:tab pos="0" algn="l"/>
              </a:tabLst>
              <a:defRPr sz="2400">
                <a:solidFill>
                  <a:schemeClr val="tx1"/>
                </a:solidFill>
                <a:latin typeface="Times New Roman" pitchFamily="18" charset="0"/>
              </a:defRPr>
            </a:lvl6pPr>
            <a:lvl7pPr marL="4521200" indent="-609600" eaLnBrk="0" fontAlgn="base" hangingPunct="0">
              <a:spcBef>
                <a:spcPct val="0"/>
              </a:spcBef>
              <a:spcAft>
                <a:spcPct val="0"/>
              </a:spcAft>
              <a:tabLst>
                <a:tab pos="0" algn="l"/>
              </a:tabLst>
              <a:defRPr sz="2400">
                <a:solidFill>
                  <a:schemeClr val="tx1"/>
                </a:solidFill>
                <a:latin typeface="Times New Roman" pitchFamily="18" charset="0"/>
              </a:defRPr>
            </a:lvl7pPr>
            <a:lvl8pPr marL="4978400" indent="-609600" eaLnBrk="0" fontAlgn="base" hangingPunct="0">
              <a:spcBef>
                <a:spcPct val="0"/>
              </a:spcBef>
              <a:spcAft>
                <a:spcPct val="0"/>
              </a:spcAft>
              <a:tabLst>
                <a:tab pos="0" algn="l"/>
              </a:tabLst>
              <a:defRPr sz="2400">
                <a:solidFill>
                  <a:schemeClr val="tx1"/>
                </a:solidFill>
                <a:latin typeface="Times New Roman" pitchFamily="18" charset="0"/>
              </a:defRPr>
            </a:lvl8pPr>
            <a:lvl9pPr marL="5435600" indent="-609600" eaLnBrk="0" fontAlgn="base" hangingPunct="0">
              <a:spcBef>
                <a:spcPct val="0"/>
              </a:spcBef>
              <a:spcAft>
                <a:spcPct val="0"/>
              </a:spcAft>
              <a:tabLst>
                <a:tab pos="0" algn="l"/>
              </a:tabLst>
              <a:defRPr sz="2400">
                <a:solidFill>
                  <a:schemeClr val="tx1"/>
                </a:solidFill>
                <a:latin typeface="Times New Roman" pitchFamily="18" charset="0"/>
              </a:defRPr>
            </a:lvl9pPr>
          </a:lstStyle>
          <a:p>
            <a:pPr>
              <a:spcAft>
                <a:spcPts val="300"/>
              </a:spcAft>
            </a:pPr>
            <a:r>
              <a:rPr lang="fr-CA" sz="1600" dirty="0">
                <a:latin typeface="Arial" charset="0"/>
              </a:rPr>
              <a:t>Trois principaux niveaux de régulation :</a:t>
            </a:r>
          </a:p>
          <a:p>
            <a:pPr marL="265113" indent="-265113">
              <a:spcBef>
                <a:spcPct val="10000"/>
              </a:spcBef>
              <a:buFontTx/>
              <a:buAutoNum type="romanLcPeriod"/>
              <a:tabLst/>
            </a:pPr>
            <a:r>
              <a:rPr lang="fr-CA" sz="1600" b="1" i="1" u="sng" dirty="0">
                <a:latin typeface="Arial" charset="0"/>
              </a:rPr>
              <a:t>Tronc cérébral et moelle épinière</a:t>
            </a:r>
          </a:p>
          <a:p>
            <a:pPr marL="265113" lvl="1" indent="0">
              <a:spcBef>
                <a:spcPts val="200"/>
              </a:spcBef>
            </a:pPr>
            <a:r>
              <a:rPr lang="fr-CA" sz="1600" dirty="0">
                <a:latin typeface="Arial" charset="0"/>
              </a:rPr>
              <a:t>Exemples de centres de régulation dans le tronc cérébral:</a:t>
            </a:r>
            <a:r>
              <a:rPr lang="fr-CA" sz="1600" b="1" dirty="0">
                <a:latin typeface="Arial" charset="0"/>
              </a:rPr>
              <a:t> centre cardiovasculaire </a:t>
            </a:r>
            <a:r>
              <a:rPr lang="fr-CA" sz="1600" dirty="0">
                <a:latin typeface="Arial" charset="0"/>
                <a:sym typeface="WP IconicSymbolsA" pitchFamily="2" charset="2"/>
              </a:rPr>
              <a:t>; </a:t>
            </a:r>
            <a:r>
              <a:rPr lang="fr-CA" sz="1600" b="1" dirty="0">
                <a:latin typeface="Arial" charset="0"/>
                <a:sym typeface="WP IconicSymbolsA" pitchFamily="2" charset="2"/>
              </a:rPr>
              <a:t>centres respiratoires</a:t>
            </a:r>
          </a:p>
          <a:p>
            <a:pPr marL="268288" indent="-268288">
              <a:spcBef>
                <a:spcPts val="600"/>
              </a:spcBef>
              <a:buFontTx/>
              <a:buAutoNum type="romanLcPeriod"/>
              <a:tabLst>
                <a:tab pos="268288" algn="l"/>
              </a:tabLst>
            </a:pPr>
            <a:r>
              <a:rPr lang="fr-CA" sz="1600" b="1" i="1" u="sng" dirty="0">
                <a:latin typeface="Arial" charset="0"/>
              </a:rPr>
              <a:t>Hypothalamus</a:t>
            </a:r>
            <a:endParaRPr lang="fr-CA" sz="1600" b="1" dirty="0">
              <a:latin typeface="Arial" charset="0"/>
            </a:endParaRPr>
          </a:p>
          <a:p>
            <a:pPr marL="268288" lvl="1" indent="0">
              <a:spcBef>
                <a:spcPts val="200"/>
              </a:spcBef>
              <a:tabLst/>
            </a:pPr>
            <a:r>
              <a:rPr lang="fr-CA" sz="1600" b="1" dirty="0">
                <a:latin typeface="Arial" charset="0"/>
              </a:rPr>
              <a:t>Hypothalamus = principal centre d’intégration du SNA</a:t>
            </a:r>
            <a:endParaRPr lang="fr-CA" sz="1600" dirty="0">
              <a:latin typeface="Arial" charset="0"/>
              <a:sym typeface="WP IconicSymbolsA" pitchFamily="2" charset="2"/>
            </a:endParaRPr>
          </a:p>
          <a:p>
            <a:pPr marL="265113" lvl="1" indent="0">
              <a:spcBef>
                <a:spcPct val="10000"/>
              </a:spcBef>
            </a:pPr>
            <a:r>
              <a:rPr lang="fr-CA" sz="1600" dirty="0">
                <a:latin typeface="Arial" charset="0"/>
                <a:sym typeface="WP IconicSymbolsA" pitchFamily="2" charset="2"/>
              </a:rPr>
              <a:t>Il contient des centres qui coordonnent :</a:t>
            </a:r>
          </a:p>
          <a:p>
            <a:pPr marL="449263" lvl="2" indent="-184150">
              <a:spcBef>
                <a:spcPct val="10000"/>
              </a:spcBef>
              <a:buFontTx/>
              <a:buChar char="•"/>
              <a:tabLst/>
            </a:pPr>
            <a:r>
              <a:rPr lang="fr-CA" sz="1600" dirty="0">
                <a:latin typeface="Arial" charset="0"/>
                <a:cs typeface="Arial" charset="0"/>
                <a:sym typeface="WP IconicSymbolsA" pitchFamily="2" charset="2"/>
              </a:rPr>
              <a:t>Activité cardiaque et pression sanguine</a:t>
            </a:r>
          </a:p>
          <a:p>
            <a:pPr marL="449263" lvl="2" indent="-184150">
              <a:spcBef>
                <a:spcPct val="10000"/>
              </a:spcBef>
              <a:buFontTx/>
              <a:buChar char="•"/>
              <a:tabLst/>
            </a:pPr>
            <a:r>
              <a:rPr lang="fr-CA" sz="1600" dirty="0">
                <a:latin typeface="Arial" charset="0"/>
                <a:cs typeface="Arial" charset="0"/>
                <a:sym typeface="WP IconicSymbolsA" pitchFamily="2" charset="2"/>
              </a:rPr>
              <a:t>Température corporelle, équilibre hydrique, activités endocriniennes</a:t>
            </a:r>
          </a:p>
          <a:p>
            <a:pPr marL="449263" lvl="2" indent="-184150">
              <a:spcBef>
                <a:spcPct val="10000"/>
              </a:spcBef>
              <a:buFontTx/>
              <a:buChar char="•"/>
              <a:tabLst/>
            </a:pPr>
            <a:r>
              <a:rPr lang="fr-CA" sz="1600" dirty="0">
                <a:solidFill>
                  <a:srgbClr val="000000"/>
                </a:solidFill>
                <a:latin typeface="Arial" charset="0"/>
                <a:cs typeface="Arial" charset="0"/>
              </a:rPr>
              <a:t>Émotions (colère, plaisir) et pulsions (faim, soif, sexe)</a:t>
            </a:r>
          </a:p>
          <a:p>
            <a:pPr marL="449263" lvl="2" indent="-184150">
              <a:spcBef>
                <a:spcPct val="10000"/>
              </a:spcBef>
              <a:buFontTx/>
              <a:buChar char="•"/>
              <a:tabLst/>
            </a:pPr>
            <a:r>
              <a:rPr lang="fr-CA" sz="1600" dirty="0">
                <a:latin typeface="Arial" charset="0"/>
                <a:cs typeface="Arial" charset="0"/>
              </a:rPr>
              <a:t>Réactions de “lutte et fuite”</a:t>
            </a:r>
            <a:endParaRPr lang="fr-CA" sz="1600" dirty="0">
              <a:latin typeface="Arial" charset="0"/>
              <a:sym typeface="WP IconicSymbolsA" pitchFamily="2" charset="2"/>
            </a:endParaRPr>
          </a:p>
          <a:p>
            <a:pPr marL="361950" indent="-361950">
              <a:spcBef>
                <a:spcPts val="600"/>
              </a:spcBef>
              <a:tabLst>
                <a:tab pos="361950" algn="l"/>
              </a:tabLst>
            </a:pPr>
            <a:r>
              <a:rPr lang="fr-CA" sz="1600" b="1" i="1" dirty="0">
                <a:latin typeface="Arial" charset="0"/>
                <a:sym typeface="WP IconicSymbolsA" pitchFamily="2" charset="2"/>
              </a:rPr>
              <a:t>iii.	</a:t>
            </a:r>
            <a:r>
              <a:rPr lang="fr-CA" sz="1600" b="1" i="1" u="sng" dirty="0">
                <a:latin typeface="Arial" charset="0"/>
                <a:sym typeface="WP IconicSymbolsA" pitchFamily="2" charset="2"/>
              </a:rPr>
              <a:t>Cortex cérébral</a:t>
            </a:r>
            <a:r>
              <a:rPr lang="fr-CA" sz="1600" b="1" dirty="0">
                <a:latin typeface="Arial" charset="0"/>
                <a:sym typeface="WP IconicSymbolsA" pitchFamily="2" charset="2"/>
              </a:rPr>
              <a:t>  </a:t>
            </a:r>
            <a:r>
              <a:rPr lang="fr-CA" sz="1600" dirty="0">
                <a:latin typeface="Arial" charset="0"/>
                <a:sym typeface="WP IconicSymbolsA" pitchFamily="2" charset="2"/>
              </a:rPr>
              <a:t>(région de la volonté)</a:t>
            </a:r>
          </a:p>
          <a:p>
            <a:pPr marL="361950" lvl="1" indent="0">
              <a:spcBef>
                <a:spcPts val="200"/>
              </a:spcBef>
              <a:tabLst/>
            </a:pPr>
            <a:r>
              <a:rPr lang="fr-CA" sz="1600" dirty="0">
                <a:latin typeface="Arial" charset="0"/>
                <a:sym typeface="WP IconicSymbolsA" pitchFamily="2" charset="2"/>
              </a:rPr>
              <a:t>Ex. : méditation &amp; méthodes de rétroaction permettent un certain contrôle conscient des activités viscérales</a:t>
            </a:r>
          </a:p>
        </p:txBody>
      </p:sp>
      <p:cxnSp>
        <p:nvCxnSpPr>
          <p:cNvPr id="3" name="Connecteur droit 2"/>
          <p:cNvCxnSpPr/>
          <p:nvPr/>
        </p:nvCxnSpPr>
        <p:spPr bwMode="auto">
          <a:xfrm flipV="1">
            <a:off x="5568176" y="1988330"/>
            <a:ext cx="2237678" cy="380651"/>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p:cNvCxnSpPr/>
          <p:nvPr/>
        </p:nvCxnSpPr>
        <p:spPr bwMode="auto">
          <a:xfrm flipV="1">
            <a:off x="6287645" y="1988330"/>
            <a:ext cx="1518209" cy="1225334"/>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droit 5"/>
          <p:cNvCxnSpPr/>
          <p:nvPr/>
        </p:nvCxnSpPr>
        <p:spPr bwMode="auto">
          <a:xfrm flipV="1">
            <a:off x="7805854" y="1530035"/>
            <a:ext cx="0" cy="458295"/>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9"/>
          <p:cNvSpPr/>
          <p:nvPr/>
        </p:nvSpPr>
        <p:spPr bwMode="auto">
          <a:xfrm>
            <a:off x="4653776" y="904467"/>
            <a:ext cx="4363844" cy="5203903"/>
          </a:xfrm>
          <a:prstGeom prst="rect">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CA" sz="1800" b="0"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2905" b="11292"/>
          <a:stretch/>
        </p:blipFill>
        <p:spPr>
          <a:xfrm>
            <a:off x="4593005" y="822106"/>
            <a:ext cx="4392404" cy="5391807"/>
          </a:xfrm>
          <a:prstGeom prst="rect">
            <a:avLst/>
          </a:prstGeom>
        </p:spPr>
      </p:pic>
      <p:sp>
        <p:nvSpPr>
          <p:cNvPr id="587778" name="Rectangle 2"/>
          <p:cNvSpPr>
            <a:spLocks noGrp="1" noChangeArrowheads="1"/>
          </p:cNvSpPr>
          <p:nvPr>
            <p:ph type="title" idx="4294967295"/>
          </p:nvPr>
        </p:nvSpPr>
        <p:spPr>
          <a:xfrm>
            <a:off x="188913" y="302993"/>
            <a:ext cx="8955087" cy="519113"/>
          </a:xfrm>
          <a:prstGeom prst="rect">
            <a:avLst/>
          </a:prstGeom>
          <a:noFill/>
        </p:spPr>
        <p:txBody>
          <a:bodyPr tIns="10800" bIns="10800"/>
          <a:lstStyle/>
          <a:p>
            <a:pPr marL="539750" indent="-539750"/>
            <a:r>
              <a:rPr lang="fr-CA" sz="2800" dirty="0">
                <a:solidFill>
                  <a:srgbClr val="0000FF"/>
                </a:solidFill>
              </a:rPr>
              <a:t>4.3	  LE SYSTÈME ENDOCRINIEN</a:t>
            </a:r>
            <a:endParaRPr lang="en-US" sz="2800" dirty="0">
              <a:solidFill>
                <a:srgbClr val="0000FF"/>
              </a:solidFill>
            </a:endParaRPr>
          </a:p>
        </p:txBody>
      </p:sp>
      <p:sp>
        <p:nvSpPr>
          <p:cNvPr id="587809" name="Text Box 33"/>
          <p:cNvSpPr txBox="1">
            <a:spLocks noChangeArrowheads="1"/>
          </p:cNvSpPr>
          <p:nvPr/>
        </p:nvSpPr>
        <p:spPr bwMode="auto">
          <a:xfrm>
            <a:off x="7967793" y="6137963"/>
            <a:ext cx="1096911"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1400" dirty="0">
                <a:solidFill>
                  <a:schemeClr val="accent2"/>
                </a:solidFill>
                <a:latin typeface="Arial" charset="0"/>
              </a:rPr>
              <a:t>Figure 16.1</a:t>
            </a:r>
          </a:p>
        </p:txBody>
      </p:sp>
      <p:sp>
        <p:nvSpPr>
          <p:cNvPr id="587814" name="Text Box 38"/>
          <p:cNvSpPr txBox="1">
            <a:spLocks noChangeArrowheads="1"/>
          </p:cNvSpPr>
          <p:nvPr/>
        </p:nvSpPr>
        <p:spPr bwMode="auto">
          <a:xfrm>
            <a:off x="188913" y="822106"/>
            <a:ext cx="4512800" cy="561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0800" bIns="0" anchor="ctr">
            <a:spAutoFit/>
          </a:bodyPr>
          <a:lstStyle>
            <a:lvl1pPr>
              <a:defRPr sz="2400">
                <a:solidFill>
                  <a:schemeClr val="tx1"/>
                </a:solidFill>
                <a:latin typeface="Times New Roman" pitchFamily="18" charset="0"/>
              </a:defRPr>
            </a:lvl1pPr>
            <a:lvl2pPr marL="352425" indent="-173038">
              <a:defRPr sz="2400">
                <a:solidFill>
                  <a:schemeClr val="tx1"/>
                </a:solidFill>
                <a:latin typeface="Times New Roman" pitchFamily="18" charset="0"/>
              </a:defRPr>
            </a:lvl2pPr>
            <a:lvl3pPr marL="627063" indent="-9525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808038" indent="-808038">
              <a:spcAft>
                <a:spcPct val="20000"/>
              </a:spcAft>
              <a:buSzPct val="120000"/>
            </a:pPr>
            <a:r>
              <a:rPr lang="fr-CA" sz="2200" b="1" dirty="0">
                <a:solidFill>
                  <a:srgbClr val="0000FF"/>
                </a:solidFill>
                <a:latin typeface="Arial" charset="0"/>
                <a:cs typeface="Arial" charset="0"/>
              </a:rPr>
              <a:t>4.3.1	</a:t>
            </a:r>
            <a:r>
              <a:rPr lang="fr-CA" sz="2200" b="1" u="sng" dirty="0">
                <a:solidFill>
                  <a:srgbClr val="0000FF"/>
                </a:solidFill>
                <a:latin typeface="Arial" charset="0"/>
                <a:cs typeface="Arial" charset="0"/>
              </a:rPr>
              <a:t>Glandes endocrines</a:t>
            </a:r>
            <a:endParaRPr lang="fr-CA" sz="2200" b="1" dirty="0">
              <a:solidFill>
                <a:srgbClr val="0000FF"/>
              </a:solidFill>
              <a:latin typeface="Arial" charset="0"/>
              <a:cs typeface="Arial" charset="0"/>
            </a:endParaRPr>
          </a:p>
          <a:p>
            <a:r>
              <a:rPr lang="fr-CA" sz="1600" dirty="0">
                <a:latin typeface="Arial" charset="0"/>
                <a:cs typeface="Arial" charset="0"/>
              </a:rPr>
              <a:t>Produisent et libèrent des </a:t>
            </a:r>
            <a:r>
              <a:rPr lang="fr-CA" sz="1600" i="1" dirty="0">
                <a:latin typeface="Arial" charset="0"/>
                <a:cs typeface="Arial" charset="0"/>
              </a:rPr>
              <a:t>hormones </a:t>
            </a:r>
            <a:r>
              <a:rPr lang="fr-CA" sz="1600" dirty="0">
                <a:latin typeface="Arial" charset="0"/>
                <a:cs typeface="Arial" charset="0"/>
              </a:rPr>
              <a:t>dans la circulation</a:t>
            </a:r>
            <a:r>
              <a:rPr lang="fr-CA" sz="1600" i="1" dirty="0">
                <a:latin typeface="Arial" charset="0"/>
                <a:cs typeface="Arial" charset="0"/>
              </a:rPr>
              <a:t>.</a:t>
            </a:r>
          </a:p>
          <a:p>
            <a:pPr marL="179388" lvl="1" indent="-179388">
              <a:spcBef>
                <a:spcPct val="25000"/>
              </a:spcBef>
              <a:buSzPct val="110000"/>
              <a:buFontTx/>
              <a:buChar char="•"/>
            </a:pPr>
            <a:r>
              <a:rPr lang="fr-CA" sz="1600" b="1" dirty="0">
                <a:latin typeface="Arial" charset="0"/>
                <a:cs typeface="Arial" charset="0"/>
              </a:rPr>
              <a:t>Glandes strictement endocrines :</a:t>
            </a:r>
          </a:p>
          <a:p>
            <a:pPr marL="357188" lvl="2" indent="-177800">
              <a:buSzPct val="80000"/>
              <a:buFont typeface="Wingdings" pitchFamily="2" charset="2"/>
              <a:buChar char="§"/>
            </a:pPr>
            <a:r>
              <a:rPr lang="fr-CA" sz="1500" dirty="0">
                <a:latin typeface="Arial" charset="0"/>
                <a:cs typeface="Arial" charset="0"/>
              </a:rPr>
              <a:t>Corps pinéal</a:t>
            </a:r>
          </a:p>
          <a:p>
            <a:pPr marL="357188" lvl="2" indent="-177800">
              <a:buSzPct val="80000"/>
              <a:buFont typeface="Wingdings" pitchFamily="2" charset="2"/>
              <a:buChar char="§"/>
            </a:pPr>
            <a:r>
              <a:rPr lang="fr-CA" sz="1500" dirty="0">
                <a:latin typeface="Arial" charset="0"/>
                <a:cs typeface="Arial" charset="0"/>
              </a:rPr>
              <a:t>Hypophyse</a:t>
            </a:r>
          </a:p>
          <a:p>
            <a:pPr marL="357188" lvl="2" indent="-177800">
              <a:buSzPct val="80000"/>
              <a:buFont typeface="Wingdings" pitchFamily="2" charset="2"/>
              <a:buChar char="§"/>
            </a:pPr>
            <a:r>
              <a:rPr lang="fr-CA" sz="1500" dirty="0">
                <a:latin typeface="Arial" charset="0"/>
                <a:cs typeface="Arial" charset="0"/>
              </a:rPr>
              <a:t>Glande thyroïde</a:t>
            </a:r>
          </a:p>
          <a:p>
            <a:pPr marL="357188" lvl="2" indent="-177800">
              <a:buSzPct val="80000"/>
              <a:buFont typeface="Wingdings" pitchFamily="2" charset="2"/>
              <a:buChar char="§"/>
            </a:pPr>
            <a:r>
              <a:rPr lang="fr-CA" sz="1500" dirty="0">
                <a:latin typeface="Arial" charset="0"/>
                <a:cs typeface="Arial" charset="0"/>
              </a:rPr>
              <a:t>Glandes parathyroïdes</a:t>
            </a:r>
          </a:p>
          <a:p>
            <a:pPr marL="357188" lvl="2" indent="-177800">
              <a:buSzPct val="80000"/>
              <a:buFont typeface="Wingdings" pitchFamily="2" charset="2"/>
              <a:buChar char="§"/>
            </a:pPr>
            <a:r>
              <a:rPr lang="fr-CA" sz="1500" dirty="0">
                <a:latin typeface="Arial" charset="0"/>
                <a:cs typeface="Arial" charset="0"/>
              </a:rPr>
              <a:t>Thymus</a:t>
            </a:r>
          </a:p>
          <a:p>
            <a:pPr marL="357188" lvl="2" indent="-177800">
              <a:buSzPct val="80000"/>
              <a:buFont typeface="Wingdings" pitchFamily="2" charset="2"/>
              <a:buChar char="§"/>
            </a:pPr>
            <a:r>
              <a:rPr lang="fr-CA" sz="1500" dirty="0">
                <a:latin typeface="Arial" charset="0"/>
                <a:cs typeface="Arial" charset="0"/>
              </a:rPr>
              <a:t>Glandes surrénales</a:t>
            </a:r>
          </a:p>
          <a:p>
            <a:pPr marL="179388" lvl="1" indent="-179388">
              <a:spcBef>
                <a:spcPct val="25000"/>
              </a:spcBef>
              <a:buSzPct val="110000"/>
              <a:buFontTx/>
              <a:buChar char="•"/>
            </a:pPr>
            <a:r>
              <a:rPr lang="fr-CA" sz="1600" b="1" dirty="0">
                <a:latin typeface="Arial" charset="0"/>
                <a:cs typeface="Arial" charset="0"/>
              </a:rPr>
              <a:t>Glandes mixtes (endocrines et exocrines) :</a:t>
            </a:r>
          </a:p>
          <a:p>
            <a:pPr marL="357188" lvl="2" indent="-177800">
              <a:buSzPct val="80000"/>
              <a:buFont typeface="Wingdings" pitchFamily="2" charset="2"/>
              <a:buChar char="§"/>
            </a:pPr>
            <a:r>
              <a:rPr lang="fr-CA" sz="1500" dirty="0">
                <a:latin typeface="Arial" charset="0"/>
                <a:cs typeface="Arial" charset="0"/>
              </a:rPr>
              <a:t>Pancréas</a:t>
            </a:r>
          </a:p>
          <a:p>
            <a:pPr marL="357188" lvl="2" indent="-177800">
              <a:buSzPct val="80000"/>
              <a:buFont typeface="Wingdings" pitchFamily="2" charset="2"/>
              <a:buChar char="§"/>
            </a:pPr>
            <a:r>
              <a:rPr lang="fr-CA" sz="1500" dirty="0">
                <a:latin typeface="Arial" charset="0"/>
                <a:cs typeface="Arial" charset="0"/>
              </a:rPr>
              <a:t>Gonades (ovaire, testicule)</a:t>
            </a:r>
          </a:p>
          <a:p>
            <a:pPr marL="179388" lvl="1" indent="-179388">
              <a:spcBef>
                <a:spcPct val="25000"/>
              </a:spcBef>
              <a:buSzPct val="110000"/>
              <a:buFontTx/>
              <a:buChar char="•"/>
            </a:pPr>
            <a:r>
              <a:rPr lang="fr-CA" sz="1600" b="1" dirty="0">
                <a:latin typeface="Arial" charset="0"/>
                <a:cs typeface="Arial" charset="0"/>
              </a:rPr>
              <a:t>Organe </a:t>
            </a:r>
            <a:r>
              <a:rPr lang="fr-CA" sz="1600" b="1" dirty="0" err="1">
                <a:latin typeface="Arial" charset="0"/>
                <a:cs typeface="Arial" charset="0"/>
              </a:rPr>
              <a:t>neuro-endocrinien</a:t>
            </a:r>
            <a:r>
              <a:rPr lang="fr-CA" sz="1600" b="1" dirty="0">
                <a:latin typeface="Arial" charset="0"/>
                <a:cs typeface="Arial" charset="0"/>
              </a:rPr>
              <a:t> :</a:t>
            </a:r>
          </a:p>
          <a:p>
            <a:pPr marL="357188" lvl="2" indent="-177800">
              <a:buSzPct val="80000"/>
              <a:buFont typeface="Wingdings" pitchFamily="2" charset="2"/>
              <a:buChar char="§"/>
            </a:pPr>
            <a:r>
              <a:rPr lang="fr-CA" sz="1500" dirty="0">
                <a:latin typeface="Arial" charset="0"/>
                <a:cs typeface="Arial" charset="0"/>
              </a:rPr>
              <a:t>Hypothalamus</a:t>
            </a:r>
          </a:p>
          <a:p>
            <a:pPr marL="179388" lvl="1" indent="-179388">
              <a:spcBef>
                <a:spcPct val="25000"/>
              </a:spcBef>
              <a:buSzPct val="110000"/>
              <a:buFontTx/>
              <a:buChar char="•"/>
            </a:pPr>
            <a:r>
              <a:rPr lang="fr-CA" sz="1600" b="1" dirty="0">
                <a:latin typeface="Arial" charset="0"/>
                <a:cs typeface="Arial" charset="0"/>
              </a:rPr>
              <a:t>Plusieurs autres tissus et organes libèrent aussi des hormones.  </a:t>
            </a:r>
            <a:r>
              <a:rPr lang="fr-CA" sz="1600" dirty="0">
                <a:latin typeface="Arial" charset="0"/>
                <a:cs typeface="Arial" charset="0"/>
              </a:rPr>
              <a:t>Ex. :</a:t>
            </a:r>
          </a:p>
          <a:p>
            <a:pPr marL="357188" lvl="2" indent="-177800">
              <a:buSzPct val="80000"/>
              <a:buFont typeface="Wingdings" pitchFamily="2" charset="2"/>
              <a:buChar char="§"/>
            </a:pPr>
            <a:r>
              <a:rPr lang="fr-CA" sz="1500" dirty="0">
                <a:latin typeface="Arial" charset="0"/>
                <a:cs typeface="Arial" charset="0"/>
              </a:rPr>
              <a:t>Reins (rénine, érythropoïétine…)</a:t>
            </a:r>
          </a:p>
          <a:p>
            <a:pPr marL="357188" lvl="2" indent="-177800">
              <a:buSzPct val="80000"/>
              <a:buFont typeface="Wingdings" pitchFamily="2" charset="2"/>
              <a:buChar char="§"/>
            </a:pPr>
            <a:r>
              <a:rPr lang="fr-CA" sz="1500" dirty="0">
                <a:latin typeface="Arial" charset="0"/>
                <a:cs typeface="Arial" charset="0"/>
              </a:rPr>
              <a:t>Cœur (facteur </a:t>
            </a:r>
            <a:r>
              <a:rPr lang="fr-CA" sz="1500" dirty="0" err="1">
                <a:latin typeface="Arial" charset="0"/>
                <a:cs typeface="Arial" charset="0"/>
              </a:rPr>
              <a:t>natriurétique</a:t>
            </a:r>
            <a:r>
              <a:rPr lang="fr-CA" sz="1500" dirty="0">
                <a:latin typeface="Arial" charset="0"/>
                <a:cs typeface="Arial" charset="0"/>
              </a:rPr>
              <a:t> auriculaire)</a:t>
            </a:r>
          </a:p>
          <a:p>
            <a:pPr marL="357188" lvl="2" indent="-177800">
              <a:buSzPct val="80000"/>
              <a:buFont typeface="Wingdings" pitchFamily="2" charset="2"/>
              <a:buChar char="§"/>
            </a:pPr>
            <a:r>
              <a:rPr lang="fr-CA" sz="1500" dirty="0">
                <a:latin typeface="Arial" charset="0"/>
                <a:cs typeface="Arial" charset="0"/>
              </a:rPr>
              <a:t>Estomac, intestin</a:t>
            </a:r>
          </a:p>
          <a:p>
            <a:pPr marL="357188" lvl="2" indent="-177800">
              <a:buSzPct val="80000"/>
              <a:buFont typeface="Wingdings" pitchFamily="2" charset="2"/>
              <a:buChar char="§"/>
            </a:pPr>
            <a:r>
              <a:rPr lang="fr-CA" sz="1500" dirty="0">
                <a:latin typeface="Arial" charset="0"/>
                <a:cs typeface="Arial" charset="0"/>
              </a:rPr>
              <a:t>Tissu adipeux, tissu endothélial</a:t>
            </a:r>
          </a:p>
          <a:p>
            <a:pPr marL="357188" lvl="2" indent="-177800">
              <a:buSzPct val="80000"/>
              <a:buFont typeface="Wingdings" pitchFamily="2" charset="2"/>
              <a:buChar char="§"/>
            </a:pPr>
            <a:r>
              <a:rPr lang="fr-CA" sz="1500" dirty="0">
                <a:latin typeface="Arial" charset="0"/>
                <a:cs typeface="Arial" charset="0"/>
              </a:rPr>
              <a:t>etc…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ChangeArrowheads="1"/>
          </p:cNvSpPr>
          <p:nvPr/>
        </p:nvSpPr>
        <p:spPr bwMode="auto">
          <a:xfrm>
            <a:off x="1021450" y="948071"/>
            <a:ext cx="7749457" cy="4491947"/>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eaLnBrk="1" hangingPunct="1">
              <a:spcBef>
                <a:spcPts val="1200"/>
              </a:spcBef>
              <a:buClr>
                <a:schemeClr val="tx1"/>
              </a:buClr>
              <a:buSzPct val="100000"/>
              <a:buAutoNum type="alphaUcParenR"/>
            </a:pPr>
            <a:r>
              <a:rPr lang="fr-CA" sz="2000" b="1" dirty="0">
                <a:latin typeface="Arial" charset="0"/>
                <a:cs typeface="Arial" charset="0"/>
              </a:rPr>
              <a:t>Définitions</a:t>
            </a:r>
          </a:p>
          <a:p>
            <a:pPr marL="457200" indent="-457200" eaLnBrk="1" hangingPunct="1">
              <a:spcBef>
                <a:spcPts val="1200"/>
              </a:spcBef>
              <a:buClr>
                <a:schemeClr val="tx1"/>
              </a:buClr>
              <a:buSzPct val="100000"/>
              <a:buFontTx/>
              <a:buAutoNum type="alphaUcParenR"/>
            </a:pPr>
            <a:r>
              <a:rPr lang="fr-CA" sz="2000" b="1" dirty="0">
                <a:latin typeface="Arial" charset="0"/>
                <a:cs typeface="Arial" charset="0"/>
              </a:rPr>
              <a:t>Classification chimique des hormones</a:t>
            </a:r>
          </a:p>
          <a:p>
            <a:pPr marL="457200" indent="-457200" eaLnBrk="1" hangingPunct="1">
              <a:spcBef>
                <a:spcPts val="1200"/>
              </a:spcBef>
              <a:buClr>
                <a:schemeClr val="tx1"/>
              </a:buClr>
              <a:buSzPct val="100000"/>
              <a:buFontTx/>
              <a:buAutoNum type="alphaUcParenR"/>
            </a:pPr>
            <a:r>
              <a:rPr lang="fr-CA" sz="2000" b="1" dirty="0">
                <a:latin typeface="Arial" charset="0"/>
                <a:cs typeface="Arial" charset="0"/>
              </a:rPr>
              <a:t>Mécanismes de l’action hormonale</a:t>
            </a:r>
          </a:p>
          <a:p>
            <a:pPr marL="900113" lvl="1" indent="-442913" eaLnBrk="1" hangingPunct="1">
              <a:spcBef>
                <a:spcPts val="300"/>
              </a:spcBef>
              <a:buClr>
                <a:schemeClr val="tx1"/>
              </a:buClr>
              <a:buSzPct val="100000"/>
              <a:buFont typeface="+mj-lt"/>
              <a:buAutoNum type="romanLcPeriod"/>
            </a:pPr>
            <a:r>
              <a:rPr lang="fr-CA" sz="2000" dirty="0">
                <a:latin typeface="Arial" charset="0"/>
                <a:cs typeface="Arial" charset="0"/>
              </a:rPr>
              <a:t>L’action des hormones hydrosolubles</a:t>
            </a:r>
          </a:p>
          <a:p>
            <a:pPr marL="900113" lvl="1" indent="-442913" eaLnBrk="1" hangingPunct="1">
              <a:spcBef>
                <a:spcPts val="300"/>
              </a:spcBef>
              <a:buClr>
                <a:schemeClr val="tx1"/>
              </a:buClr>
              <a:buSzPct val="100000"/>
              <a:buFont typeface="+mj-lt"/>
              <a:buAutoNum type="romanLcPeriod"/>
            </a:pPr>
            <a:r>
              <a:rPr lang="fr-CA" sz="2000" dirty="0">
                <a:latin typeface="Arial" charset="0"/>
                <a:cs typeface="Arial" charset="0"/>
              </a:rPr>
              <a:t>L’action des hormones liposolubles</a:t>
            </a:r>
          </a:p>
          <a:p>
            <a:pPr marL="457200" indent="-457200" eaLnBrk="1" hangingPunct="1">
              <a:spcBef>
                <a:spcPts val="1200"/>
              </a:spcBef>
              <a:buClr>
                <a:schemeClr val="tx1"/>
              </a:buClr>
              <a:buSzPct val="100000"/>
              <a:buFontTx/>
              <a:buAutoNum type="alphaUcParenR"/>
            </a:pPr>
            <a:r>
              <a:rPr lang="fr-CA" sz="2000" b="1" dirty="0">
                <a:latin typeface="Arial" charset="0"/>
                <a:cs typeface="Arial" charset="0"/>
              </a:rPr>
              <a:t>Régulation de la libération des hormones</a:t>
            </a:r>
          </a:p>
          <a:p>
            <a:pPr marL="457200" indent="-457200" eaLnBrk="1" hangingPunct="1">
              <a:spcBef>
                <a:spcPts val="1200"/>
              </a:spcBef>
              <a:buClr>
                <a:schemeClr val="tx1"/>
              </a:buClr>
              <a:buSzPct val="100000"/>
              <a:buFontTx/>
              <a:buAutoNum type="alphaUcParenR"/>
            </a:pPr>
            <a:r>
              <a:rPr lang="fr-CA" sz="2000" b="1" dirty="0">
                <a:latin typeface="Arial" charset="0"/>
                <a:cs typeface="Arial" charset="0"/>
              </a:rPr>
              <a:t>L’axe hypothalamo-hypophysaire</a:t>
            </a:r>
          </a:p>
          <a:p>
            <a:pPr marL="900113" lvl="1" indent="-442913" eaLnBrk="1" hangingPunct="1">
              <a:spcBef>
                <a:spcPts val="300"/>
              </a:spcBef>
              <a:buClr>
                <a:schemeClr val="tx1"/>
              </a:buClr>
              <a:buSzPct val="100000"/>
              <a:buFont typeface="+mj-lt"/>
              <a:buAutoNum type="romanLcPeriod"/>
            </a:pPr>
            <a:r>
              <a:rPr lang="fr-CA" sz="2000" dirty="0">
                <a:latin typeface="Arial" charset="0"/>
                <a:cs typeface="Arial" charset="0"/>
              </a:rPr>
              <a:t>Anatomie de l’hypophyse</a:t>
            </a:r>
          </a:p>
          <a:p>
            <a:pPr marL="900113" lvl="1" indent="-442913" eaLnBrk="1" hangingPunct="1">
              <a:spcBef>
                <a:spcPts val="300"/>
              </a:spcBef>
              <a:buClr>
                <a:schemeClr val="tx1"/>
              </a:buClr>
              <a:buSzPct val="100000"/>
              <a:buFont typeface="+mj-lt"/>
              <a:buAutoNum type="romanLcPeriod"/>
            </a:pPr>
            <a:r>
              <a:rPr lang="fr-CA" sz="2000" dirty="0">
                <a:latin typeface="Arial" charset="0"/>
              </a:rPr>
              <a:t>Hormones de la </a:t>
            </a:r>
            <a:r>
              <a:rPr lang="fr-CA" sz="2000" dirty="0" err="1">
                <a:latin typeface="Arial" charset="0"/>
              </a:rPr>
              <a:t>neurohypophyse</a:t>
            </a:r>
            <a:endParaRPr lang="fr-CA" sz="2000" dirty="0">
              <a:latin typeface="Arial" charset="0"/>
            </a:endParaRPr>
          </a:p>
          <a:p>
            <a:pPr marL="900113" lvl="1" indent="-442913" eaLnBrk="1" hangingPunct="1">
              <a:spcBef>
                <a:spcPts val="300"/>
              </a:spcBef>
              <a:buClr>
                <a:schemeClr val="tx1"/>
              </a:buClr>
              <a:buSzPct val="100000"/>
              <a:buFont typeface="+mj-lt"/>
              <a:buAutoNum type="romanLcPeriod"/>
            </a:pPr>
            <a:r>
              <a:rPr lang="fr-CA" sz="2000" dirty="0">
                <a:latin typeface="Arial" charset="0"/>
              </a:rPr>
              <a:t>Hormones de l’</a:t>
            </a:r>
            <a:r>
              <a:rPr lang="fr-CA" sz="2000" dirty="0" err="1">
                <a:latin typeface="Arial" charset="0"/>
              </a:rPr>
              <a:t>adénohypophyse</a:t>
            </a:r>
            <a:endParaRPr lang="fr-CA" sz="2000" dirty="0">
              <a:latin typeface="Arial" charset="0"/>
            </a:endParaRPr>
          </a:p>
          <a:p>
            <a:pPr marL="900113" lvl="1" indent="-442913" eaLnBrk="1" hangingPunct="1">
              <a:spcBef>
                <a:spcPts val="300"/>
              </a:spcBef>
              <a:buClr>
                <a:schemeClr val="tx1"/>
              </a:buClr>
              <a:buSzPct val="100000"/>
              <a:buFont typeface="+mj-lt"/>
              <a:buAutoNum type="romanLcPeriod"/>
            </a:pPr>
            <a:r>
              <a:rPr lang="fr-CA" sz="2000" dirty="0">
                <a:latin typeface="Arial" charset="0"/>
              </a:rPr>
              <a:t>Régulation des hormones de l’</a:t>
            </a:r>
            <a:r>
              <a:rPr lang="fr-CA" sz="2000" dirty="0" err="1">
                <a:latin typeface="Arial" charset="0"/>
              </a:rPr>
              <a:t>adénohypophyse</a:t>
            </a:r>
            <a:endParaRPr lang="fr-CA" sz="2000" dirty="0">
              <a:solidFill>
                <a:srgbClr val="000000"/>
              </a:solidFill>
              <a:latin typeface="Arial" charset="0"/>
              <a:cs typeface="Arial" charset="0"/>
            </a:endParaRPr>
          </a:p>
        </p:txBody>
      </p:sp>
      <p:sp>
        <p:nvSpPr>
          <p:cNvPr id="590851" name="Text Box 3"/>
          <p:cNvSpPr txBox="1">
            <a:spLocks noChangeArrowheads="1"/>
          </p:cNvSpPr>
          <p:nvPr/>
        </p:nvSpPr>
        <p:spPr bwMode="auto">
          <a:xfrm>
            <a:off x="244475" y="420383"/>
            <a:ext cx="292740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803275" indent="-803275">
              <a:buSzPct val="120000"/>
            </a:pPr>
            <a:r>
              <a:rPr lang="fr-CA" sz="2200" b="1" dirty="0">
                <a:solidFill>
                  <a:srgbClr val="0000FF"/>
                </a:solidFill>
                <a:latin typeface="Arial" charset="0"/>
                <a:cs typeface="Arial" charset="0"/>
              </a:rPr>
              <a:t>4.3.2	</a:t>
            </a:r>
            <a:r>
              <a:rPr lang="fr-CA" sz="2200" b="1" u="sng" dirty="0">
                <a:solidFill>
                  <a:srgbClr val="0000FF"/>
                </a:solidFill>
                <a:latin typeface="Arial" charset="0"/>
                <a:cs typeface="Arial" charset="0"/>
              </a:rPr>
              <a:t>Les hormones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ChangeArrowheads="1"/>
          </p:cNvSpPr>
          <p:nvPr/>
        </p:nvSpPr>
        <p:spPr bwMode="auto">
          <a:xfrm>
            <a:off x="244171" y="748034"/>
            <a:ext cx="8820315" cy="1882523"/>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57188" indent="-357188" eaLnBrk="1" hangingPunct="1">
              <a:buClr>
                <a:schemeClr val="tx1"/>
              </a:buClr>
              <a:buSzPct val="120000"/>
            </a:pPr>
            <a:r>
              <a:rPr lang="fr-CA" sz="2000" b="1" dirty="0">
                <a:latin typeface="Arial" charset="0"/>
                <a:cs typeface="Arial" charset="0"/>
              </a:rPr>
              <a:t>A)	Définitions</a:t>
            </a:r>
            <a:endParaRPr lang="fr-CA" sz="2000" b="1" dirty="0">
              <a:solidFill>
                <a:srgbClr val="000000"/>
              </a:solidFill>
              <a:latin typeface="Arial" charset="0"/>
              <a:cs typeface="Arial" charset="0"/>
            </a:endParaRPr>
          </a:p>
          <a:p>
            <a:pPr marL="531813" lvl="1" indent="-176213" eaLnBrk="1" hangingPunct="1">
              <a:spcBef>
                <a:spcPts val="300"/>
              </a:spcBef>
              <a:spcAft>
                <a:spcPct val="10000"/>
              </a:spcAft>
              <a:buClr>
                <a:schemeClr val="tx1"/>
              </a:buClr>
              <a:buSzPct val="85000"/>
              <a:buFont typeface="Wingdings" pitchFamily="2" charset="2"/>
              <a:buChar char="§"/>
            </a:pPr>
            <a:r>
              <a:rPr lang="fr-CA" sz="1600" i="1" u="sng" dirty="0">
                <a:solidFill>
                  <a:srgbClr val="000000"/>
                </a:solidFill>
                <a:latin typeface="Arial" charset="0"/>
                <a:cs typeface="Arial" charset="0"/>
              </a:rPr>
              <a:t>Hormones circulantes</a:t>
            </a:r>
            <a:r>
              <a:rPr lang="fr-CA" sz="1600" u="sng" dirty="0">
                <a:solidFill>
                  <a:srgbClr val="000000"/>
                </a:solidFill>
                <a:latin typeface="Arial" charset="0"/>
                <a:cs typeface="Arial" charset="0"/>
              </a:rPr>
              <a:t> (</a:t>
            </a:r>
            <a:r>
              <a:rPr lang="fr-CA" sz="1600" i="1" u="sng" dirty="0">
                <a:solidFill>
                  <a:srgbClr val="000000"/>
                </a:solidFill>
                <a:latin typeface="Arial" charset="0"/>
                <a:cs typeface="Arial" charset="0"/>
              </a:rPr>
              <a:t>endocrines</a:t>
            </a:r>
            <a:r>
              <a:rPr lang="fr-CA" sz="1600" dirty="0">
                <a:solidFill>
                  <a:srgbClr val="000000"/>
                </a:solidFill>
                <a:latin typeface="Arial" charset="0"/>
                <a:cs typeface="Arial" charset="0"/>
              </a:rPr>
              <a:t>)</a:t>
            </a:r>
          </a:p>
          <a:p>
            <a:pPr marL="534988" lvl="2" eaLnBrk="1" hangingPunct="1">
              <a:spcAft>
                <a:spcPct val="10000"/>
              </a:spcAft>
              <a:buClr>
                <a:schemeClr val="tx1"/>
              </a:buClr>
            </a:pPr>
            <a:r>
              <a:rPr lang="fr-CA" sz="1400" dirty="0">
                <a:solidFill>
                  <a:srgbClr val="000000"/>
                </a:solidFill>
                <a:latin typeface="Arial" charset="0"/>
                <a:cs typeface="Arial" charset="0"/>
              </a:rPr>
              <a:t>Messagers chimiques déversés dans le </a:t>
            </a:r>
            <a:r>
              <a:rPr lang="fr-CA" sz="1400" u="sng" dirty="0">
                <a:solidFill>
                  <a:srgbClr val="000000"/>
                </a:solidFill>
                <a:latin typeface="Arial" charset="0"/>
                <a:cs typeface="Arial" charset="0"/>
              </a:rPr>
              <a:t>sang</a:t>
            </a:r>
            <a:r>
              <a:rPr lang="fr-CA" sz="1400" dirty="0">
                <a:solidFill>
                  <a:srgbClr val="000000"/>
                </a:solidFill>
                <a:latin typeface="Arial" charset="0"/>
                <a:cs typeface="Arial" charset="0"/>
              </a:rPr>
              <a:t> et transportés dans </a:t>
            </a:r>
            <a:r>
              <a:rPr lang="fr-CA" sz="1400" u="sng" dirty="0">
                <a:solidFill>
                  <a:srgbClr val="000000"/>
                </a:solidFill>
                <a:latin typeface="Arial" charset="0"/>
                <a:cs typeface="Arial" charset="0"/>
              </a:rPr>
              <a:t>tout</a:t>
            </a:r>
            <a:r>
              <a:rPr lang="fr-CA" sz="1400" dirty="0">
                <a:solidFill>
                  <a:srgbClr val="000000"/>
                </a:solidFill>
                <a:latin typeface="Arial" charset="0"/>
                <a:cs typeface="Arial" charset="0"/>
              </a:rPr>
              <a:t> l’organisme.</a:t>
            </a:r>
          </a:p>
          <a:p>
            <a:pPr marL="530225" lvl="1" indent="-174625" eaLnBrk="1" hangingPunct="1">
              <a:spcAft>
                <a:spcPct val="10000"/>
              </a:spcAft>
              <a:buClr>
                <a:schemeClr val="tx1"/>
              </a:buClr>
              <a:buSzPct val="85000"/>
              <a:buFont typeface="Wingdings" pitchFamily="2" charset="2"/>
              <a:buChar char="§"/>
            </a:pPr>
            <a:r>
              <a:rPr lang="fr-CA" sz="1600" i="1" u="sng" dirty="0">
                <a:solidFill>
                  <a:srgbClr val="000000"/>
                </a:solidFill>
                <a:latin typeface="Arial" charset="0"/>
                <a:cs typeface="Arial" charset="0"/>
              </a:rPr>
              <a:t>Hormones locales</a:t>
            </a:r>
            <a:endParaRPr lang="fr-CA" sz="1600" dirty="0">
              <a:solidFill>
                <a:srgbClr val="000000"/>
              </a:solidFill>
              <a:latin typeface="Arial" charset="0"/>
              <a:cs typeface="Arial" charset="0"/>
            </a:endParaRPr>
          </a:p>
          <a:p>
            <a:pPr marL="723900" lvl="2" indent="-192088" eaLnBrk="1" hangingPunct="1">
              <a:spcAft>
                <a:spcPct val="10000"/>
              </a:spcAft>
              <a:buClr>
                <a:schemeClr val="tx1"/>
              </a:buClr>
              <a:buSzPct val="85000"/>
              <a:buFont typeface="Wingdings" pitchFamily="2" charset="2"/>
              <a:buChar char="§"/>
            </a:pPr>
            <a:r>
              <a:rPr lang="fr-CA" sz="1400" i="1" dirty="0">
                <a:solidFill>
                  <a:srgbClr val="000000"/>
                </a:solidFill>
                <a:latin typeface="Arial" charset="0"/>
                <a:cs typeface="Arial" charset="0"/>
                <a:sym typeface="Symbol" pitchFamily="18" charset="2"/>
              </a:rPr>
              <a:t>Hormones paracrines </a:t>
            </a:r>
            <a:r>
              <a:rPr lang="fr-CA" sz="1400" dirty="0">
                <a:solidFill>
                  <a:srgbClr val="000000"/>
                </a:solidFill>
                <a:latin typeface="Arial" charset="0"/>
                <a:cs typeface="Arial" charset="0"/>
                <a:sym typeface="Symbol" pitchFamily="18" charset="2"/>
              </a:rPr>
              <a:t>: agissent </a:t>
            </a:r>
            <a:r>
              <a:rPr lang="fr-CA" sz="1400" u="sng" dirty="0">
                <a:solidFill>
                  <a:srgbClr val="000000"/>
                </a:solidFill>
                <a:latin typeface="Arial" charset="0"/>
                <a:cs typeface="Arial" charset="0"/>
                <a:sym typeface="Symbol" pitchFamily="18" charset="2"/>
              </a:rPr>
              <a:t>localement</a:t>
            </a:r>
            <a:r>
              <a:rPr lang="fr-CA" sz="1400" dirty="0">
                <a:solidFill>
                  <a:srgbClr val="000000"/>
                </a:solidFill>
                <a:latin typeface="Arial" charset="0"/>
                <a:cs typeface="Arial" charset="0"/>
                <a:sym typeface="Symbol" pitchFamily="18" charset="2"/>
              </a:rPr>
              <a:t> sur des cellules situées près des cellules qui libèrent ces messagers. Ex.: le NO libéré par les cellules endothéliales agit sur les muscles lisses avoisinants.</a:t>
            </a:r>
          </a:p>
          <a:p>
            <a:pPr marL="723900" lvl="2" indent="-192088" eaLnBrk="1" hangingPunct="1">
              <a:spcAft>
                <a:spcPct val="10000"/>
              </a:spcAft>
              <a:buClr>
                <a:schemeClr val="tx1"/>
              </a:buClr>
              <a:buSzPct val="85000"/>
              <a:buFont typeface="Wingdings" pitchFamily="2" charset="2"/>
              <a:buChar char="§"/>
            </a:pPr>
            <a:r>
              <a:rPr lang="fr-CA" sz="1400" i="1" dirty="0">
                <a:solidFill>
                  <a:srgbClr val="000000"/>
                </a:solidFill>
                <a:latin typeface="Arial" charset="0"/>
                <a:cs typeface="Arial" charset="0"/>
                <a:sym typeface="Symbol" pitchFamily="18" charset="2"/>
              </a:rPr>
              <a:t>Hormones autocrines </a:t>
            </a:r>
            <a:r>
              <a:rPr lang="fr-CA" sz="1400" dirty="0">
                <a:solidFill>
                  <a:srgbClr val="000000"/>
                </a:solidFill>
                <a:latin typeface="Arial" charset="0"/>
                <a:cs typeface="Arial" charset="0"/>
                <a:sym typeface="Symbol" pitchFamily="18" charset="2"/>
              </a:rPr>
              <a:t>: ont pour cible la cellule même qui les a sécrétées.</a:t>
            </a:r>
          </a:p>
        </p:txBody>
      </p:sp>
      <p:sp>
        <p:nvSpPr>
          <p:cNvPr id="590851" name="Text Box 3"/>
          <p:cNvSpPr txBox="1">
            <a:spLocks noChangeArrowheads="1"/>
          </p:cNvSpPr>
          <p:nvPr/>
        </p:nvSpPr>
        <p:spPr bwMode="auto">
          <a:xfrm>
            <a:off x="244475" y="317147"/>
            <a:ext cx="309507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808038" indent="-808038">
              <a:buSzPct val="120000"/>
            </a:pPr>
            <a:r>
              <a:rPr lang="fr-CA" sz="2200" b="1" dirty="0">
                <a:solidFill>
                  <a:srgbClr val="0000FF"/>
                </a:solidFill>
                <a:latin typeface="Arial" charset="0"/>
                <a:cs typeface="Arial" charset="0"/>
              </a:rPr>
              <a:t>4.3.2	</a:t>
            </a:r>
            <a:r>
              <a:rPr lang="fr-CA" sz="2200" b="1" u="sng" dirty="0">
                <a:solidFill>
                  <a:srgbClr val="0000FF"/>
                </a:solidFill>
                <a:latin typeface="Arial" charset="0"/>
                <a:cs typeface="Arial" charset="0"/>
              </a:rPr>
              <a:t>Les hormones</a:t>
            </a:r>
          </a:p>
        </p:txBody>
      </p:sp>
      <p:sp>
        <p:nvSpPr>
          <p:cNvPr id="590852" name="Rectangle 4"/>
          <p:cNvSpPr>
            <a:spLocks noChangeArrowheads="1"/>
          </p:cNvSpPr>
          <p:nvPr/>
        </p:nvSpPr>
        <p:spPr bwMode="auto">
          <a:xfrm>
            <a:off x="244171" y="2758580"/>
            <a:ext cx="8564302" cy="3351386"/>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a:lstStyle/>
          <a:p>
            <a:pPr marL="355600" indent="-355600" eaLnBrk="1" hangingPunct="1">
              <a:buClr>
                <a:schemeClr val="tx1"/>
              </a:buClr>
              <a:buSzPct val="120000"/>
            </a:pPr>
            <a:r>
              <a:rPr lang="fr-CA" sz="2000" b="1" dirty="0">
                <a:latin typeface="Arial" charset="0"/>
                <a:cs typeface="Arial" charset="0"/>
              </a:rPr>
              <a:t>B)	Classification chimique des hormones</a:t>
            </a:r>
            <a:endParaRPr lang="fr-CA" sz="2000" b="1" dirty="0">
              <a:solidFill>
                <a:srgbClr val="000000"/>
              </a:solidFill>
              <a:latin typeface="Arial" charset="0"/>
              <a:cs typeface="Arial" charset="0"/>
            </a:endParaRPr>
          </a:p>
          <a:p>
            <a:pPr marL="530225" lvl="1" indent="-174625" eaLnBrk="1" hangingPunct="1">
              <a:spcBef>
                <a:spcPts val="300"/>
              </a:spcBef>
              <a:spcAft>
                <a:spcPct val="10000"/>
              </a:spcAft>
              <a:buClr>
                <a:schemeClr val="tx1"/>
              </a:buClr>
              <a:buSzPct val="85000"/>
              <a:buFont typeface="Wingdings" pitchFamily="2" charset="2"/>
              <a:buChar char="§"/>
            </a:pPr>
            <a:r>
              <a:rPr lang="fr-CA" sz="1600" i="1" u="sng" dirty="0">
                <a:solidFill>
                  <a:srgbClr val="000000"/>
                </a:solidFill>
                <a:latin typeface="Arial" charset="0"/>
                <a:cs typeface="Arial" charset="0"/>
              </a:rPr>
              <a:t>Hormones dérivées d’acides aminés</a:t>
            </a:r>
            <a:endParaRPr lang="fr-CA" sz="1600" dirty="0">
              <a:solidFill>
                <a:srgbClr val="000000"/>
              </a:solidFill>
              <a:latin typeface="Arial" charset="0"/>
              <a:cs typeface="Arial" charset="0"/>
            </a:endParaRPr>
          </a:p>
          <a:p>
            <a:pPr marL="723900" lvl="2" indent="-192088" eaLnBrk="1" hangingPunct="1">
              <a:spcAft>
                <a:spcPct val="10000"/>
              </a:spcAft>
              <a:buClr>
                <a:schemeClr val="tx1"/>
              </a:buClr>
              <a:buFontTx/>
              <a:buChar char="•"/>
            </a:pPr>
            <a:r>
              <a:rPr lang="fr-CA" sz="1400" i="1" dirty="0">
                <a:solidFill>
                  <a:srgbClr val="000000"/>
                </a:solidFill>
                <a:latin typeface="Arial" charset="0"/>
                <a:cs typeface="Arial" charset="0"/>
              </a:rPr>
              <a:t>Amines</a:t>
            </a:r>
            <a:r>
              <a:rPr lang="fr-CA" sz="1400" dirty="0">
                <a:solidFill>
                  <a:srgbClr val="000000"/>
                </a:solidFill>
                <a:latin typeface="Arial" charset="0"/>
                <a:cs typeface="Arial" charset="0"/>
              </a:rPr>
              <a:t> (contiennent un groupement –NH</a:t>
            </a:r>
            <a:r>
              <a:rPr lang="fr-CA" sz="1400" baseline="-14000" dirty="0">
                <a:solidFill>
                  <a:srgbClr val="000000"/>
                </a:solidFill>
                <a:latin typeface="Arial" charset="0"/>
                <a:cs typeface="Arial" charset="0"/>
              </a:rPr>
              <a:t>2</a:t>
            </a:r>
            <a:r>
              <a:rPr lang="fr-CA" sz="1400" dirty="0">
                <a:solidFill>
                  <a:srgbClr val="000000"/>
                </a:solidFill>
                <a:latin typeface="Arial" charset="0"/>
                <a:cs typeface="Arial" charset="0"/>
              </a:rPr>
              <a:t>)</a:t>
            </a:r>
          </a:p>
          <a:p>
            <a:pPr marL="723900" lvl="2" indent="-192088" eaLnBrk="1" hangingPunct="1">
              <a:spcAft>
                <a:spcPct val="10000"/>
              </a:spcAft>
              <a:buClr>
                <a:schemeClr val="tx1"/>
              </a:buClr>
              <a:buFont typeface="Arial" charset="0"/>
              <a:buNone/>
            </a:pPr>
            <a:r>
              <a:rPr lang="fr-CA" sz="1400" dirty="0">
                <a:solidFill>
                  <a:srgbClr val="000000"/>
                </a:solidFill>
                <a:latin typeface="Arial" charset="0"/>
                <a:cs typeface="Arial" charset="0"/>
              </a:rPr>
              <a:t>	Ex.: adrénaline, sérotonine, histamine, hormones </a:t>
            </a:r>
            <a:r>
              <a:rPr lang="fr-CA" sz="1400" dirty="0">
                <a:latin typeface="Arial" charset="0"/>
                <a:cs typeface="Arial" charset="0"/>
              </a:rPr>
              <a:t>thyroïdiennes</a:t>
            </a:r>
            <a:r>
              <a:rPr lang="fr-CA" sz="1400" dirty="0">
                <a:solidFill>
                  <a:srgbClr val="000000"/>
                </a:solidFill>
                <a:latin typeface="Arial" charset="0"/>
                <a:cs typeface="Arial" charset="0"/>
              </a:rPr>
              <a:t>.</a:t>
            </a:r>
          </a:p>
          <a:p>
            <a:pPr marL="723900" lvl="2" indent="-192088" eaLnBrk="1" hangingPunct="1">
              <a:spcAft>
                <a:spcPct val="10000"/>
              </a:spcAft>
              <a:buClr>
                <a:schemeClr val="tx1"/>
              </a:buClr>
              <a:buFontTx/>
              <a:buChar char="•"/>
            </a:pPr>
            <a:r>
              <a:rPr lang="fr-CA" sz="1400" i="1" dirty="0">
                <a:solidFill>
                  <a:srgbClr val="000000"/>
                </a:solidFill>
                <a:latin typeface="Arial" charset="0"/>
                <a:cs typeface="Arial" charset="0"/>
              </a:rPr>
              <a:t>Peptides</a:t>
            </a:r>
            <a:r>
              <a:rPr lang="fr-CA" sz="1400" dirty="0">
                <a:solidFill>
                  <a:srgbClr val="000000"/>
                </a:solidFill>
                <a:latin typeface="Arial" charset="0"/>
                <a:cs typeface="Arial" charset="0"/>
              </a:rPr>
              <a:t> (3 à 49 acides aminés) et </a:t>
            </a:r>
            <a:r>
              <a:rPr lang="fr-CA" sz="1400" i="1" dirty="0">
                <a:solidFill>
                  <a:srgbClr val="000000"/>
                </a:solidFill>
                <a:latin typeface="Arial" charset="0"/>
                <a:cs typeface="Arial" charset="0"/>
              </a:rPr>
              <a:t>protéines</a:t>
            </a:r>
            <a:r>
              <a:rPr lang="fr-CA" sz="1400" dirty="0">
                <a:solidFill>
                  <a:srgbClr val="000000"/>
                </a:solidFill>
                <a:latin typeface="Arial" charset="0"/>
                <a:cs typeface="Arial" charset="0"/>
              </a:rPr>
              <a:t> (50 et plus acides aminés)</a:t>
            </a:r>
          </a:p>
          <a:p>
            <a:pPr marL="723900" lvl="2" indent="-192088" eaLnBrk="1" hangingPunct="1">
              <a:spcAft>
                <a:spcPct val="10000"/>
              </a:spcAft>
              <a:buClr>
                <a:schemeClr val="tx1"/>
              </a:buClr>
            </a:pPr>
            <a:r>
              <a:rPr lang="fr-CA" sz="1400" dirty="0">
                <a:solidFill>
                  <a:srgbClr val="000000"/>
                </a:solidFill>
                <a:latin typeface="Arial" charset="0"/>
                <a:cs typeface="Arial" charset="0"/>
              </a:rPr>
              <a:t>	Ex.: Hormone antidiurétique (peptide), insuline, hormone de croissance (protéines).</a:t>
            </a:r>
          </a:p>
          <a:p>
            <a:pPr marL="723900" lvl="2" indent="-192088" eaLnBrk="1" hangingPunct="1">
              <a:spcAft>
                <a:spcPct val="10000"/>
              </a:spcAft>
              <a:buClr>
                <a:schemeClr val="tx1"/>
              </a:buClr>
              <a:buFont typeface="Arial" charset="0"/>
              <a:buChar char="−"/>
            </a:pPr>
            <a:r>
              <a:rPr lang="fr-CA" sz="1400" dirty="0">
                <a:solidFill>
                  <a:srgbClr val="000000"/>
                </a:solidFill>
                <a:latin typeface="Arial" charset="0"/>
                <a:cs typeface="Arial" charset="0"/>
              </a:rPr>
              <a:t>À l’exception des hormones thyr</a:t>
            </a:r>
            <a:r>
              <a:rPr lang="fr-CA" sz="1400" dirty="0">
                <a:latin typeface="Arial" charset="0"/>
                <a:cs typeface="Arial" charset="0"/>
              </a:rPr>
              <a:t>oïdiennes, toutes ces hormones sont </a:t>
            </a:r>
            <a:r>
              <a:rPr lang="fr-CA" sz="1400" u="sng" dirty="0">
                <a:latin typeface="Arial" charset="0"/>
                <a:cs typeface="Arial" charset="0"/>
              </a:rPr>
              <a:t>hydrosolubles</a:t>
            </a:r>
            <a:r>
              <a:rPr lang="fr-CA" sz="1400" dirty="0">
                <a:latin typeface="Arial" charset="0"/>
                <a:cs typeface="Arial" charset="0"/>
              </a:rPr>
              <a:t>.</a:t>
            </a:r>
          </a:p>
          <a:p>
            <a:pPr marL="531813" lvl="1" indent="-176213" eaLnBrk="1" hangingPunct="1">
              <a:spcAft>
                <a:spcPct val="10000"/>
              </a:spcAft>
              <a:buClr>
                <a:schemeClr val="tx1"/>
              </a:buClr>
              <a:buSzPct val="85000"/>
              <a:buFont typeface="Wingdings" pitchFamily="2" charset="2"/>
              <a:buChar char="§"/>
            </a:pPr>
            <a:r>
              <a:rPr lang="fr-CA" sz="1600" i="1" u="sng" dirty="0">
                <a:latin typeface="Arial" charset="0"/>
                <a:cs typeface="Arial" charset="0"/>
              </a:rPr>
              <a:t>Hormones stéroïdes</a:t>
            </a:r>
            <a:endParaRPr lang="fr-CA" sz="1600" dirty="0">
              <a:latin typeface="Arial" charset="0"/>
              <a:cs typeface="Arial" charset="0"/>
            </a:endParaRPr>
          </a:p>
          <a:p>
            <a:pPr marL="723900" lvl="2" indent="-192088" eaLnBrk="1" hangingPunct="1">
              <a:spcAft>
                <a:spcPct val="10000"/>
              </a:spcAft>
              <a:buClr>
                <a:schemeClr val="tx1"/>
              </a:buClr>
              <a:buFont typeface="Arial" charset="0"/>
              <a:buChar char="−"/>
            </a:pPr>
            <a:r>
              <a:rPr lang="fr-CA" sz="1400" dirty="0">
                <a:latin typeface="Arial" charset="0"/>
                <a:cs typeface="Arial" charset="0"/>
              </a:rPr>
              <a:t>Synthétisées à partir du cholestérol. Toutes ces hormones sont </a:t>
            </a:r>
            <a:r>
              <a:rPr lang="fr-CA" sz="1400" u="sng" dirty="0">
                <a:latin typeface="Arial" charset="0"/>
                <a:cs typeface="Arial" charset="0"/>
              </a:rPr>
              <a:t>liposolubles</a:t>
            </a:r>
            <a:r>
              <a:rPr lang="fr-CA" sz="1400" dirty="0">
                <a:latin typeface="Arial" charset="0"/>
                <a:cs typeface="Arial" charset="0"/>
              </a:rPr>
              <a:t>.</a:t>
            </a:r>
          </a:p>
          <a:p>
            <a:pPr marL="723900" lvl="2" eaLnBrk="1" hangingPunct="1">
              <a:spcAft>
                <a:spcPct val="10000"/>
              </a:spcAft>
              <a:buClr>
                <a:schemeClr val="tx1"/>
              </a:buClr>
              <a:buFont typeface="Arial" charset="0"/>
              <a:buNone/>
            </a:pPr>
            <a:r>
              <a:rPr lang="fr-CA" sz="1400" dirty="0">
                <a:latin typeface="Arial" charset="0"/>
                <a:cs typeface="Arial" charset="0"/>
              </a:rPr>
              <a:t>Ex.: hormones </a:t>
            </a:r>
            <a:r>
              <a:rPr lang="fr-CA" sz="1400" i="1" dirty="0">
                <a:latin typeface="Arial" charset="0"/>
                <a:cs typeface="Arial" charset="0"/>
              </a:rPr>
              <a:t>gonadiques</a:t>
            </a:r>
            <a:r>
              <a:rPr lang="fr-CA" sz="1400" dirty="0">
                <a:latin typeface="Arial" charset="0"/>
                <a:cs typeface="Arial" charset="0"/>
              </a:rPr>
              <a:t> (testostérone, œstrogènes, …), certaines hormones des  </a:t>
            </a:r>
            <a:r>
              <a:rPr lang="fr-CA" sz="1400" i="1" dirty="0">
                <a:latin typeface="Arial" charset="0"/>
                <a:cs typeface="Arial" charset="0"/>
              </a:rPr>
              <a:t>glandes surrénales </a:t>
            </a:r>
            <a:r>
              <a:rPr lang="fr-CA" sz="1400" dirty="0">
                <a:latin typeface="Arial" charset="0"/>
                <a:cs typeface="Arial" charset="0"/>
              </a:rPr>
              <a:t>(aldostérone, cortisol).</a:t>
            </a:r>
          </a:p>
          <a:p>
            <a:pPr marL="531813" lvl="1" indent="-176213" eaLnBrk="1" hangingPunct="1">
              <a:spcAft>
                <a:spcPct val="10000"/>
              </a:spcAft>
              <a:buClr>
                <a:schemeClr val="tx1"/>
              </a:buClr>
              <a:buSzPct val="85000"/>
              <a:buFont typeface="Wingdings" pitchFamily="2" charset="2"/>
              <a:buChar char="§"/>
            </a:pPr>
            <a:r>
              <a:rPr lang="fr-CA" sz="1600" i="1" u="sng" dirty="0">
                <a:latin typeface="Arial" charset="0"/>
                <a:cs typeface="Arial" charset="0"/>
              </a:rPr>
              <a:t>Eicosanoïdes</a:t>
            </a:r>
            <a:endParaRPr lang="fr-CA" sz="1600" dirty="0">
              <a:latin typeface="Arial" charset="0"/>
              <a:cs typeface="Arial" charset="0"/>
            </a:endParaRPr>
          </a:p>
          <a:p>
            <a:pPr marL="723900" lvl="2" indent="-192088" eaLnBrk="1" hangingPunct="1">
              <a:spcAft>
                <a:spcPct val="10000"/>
              </a:spcAft>
              <a:buClr>
                <a:schemeClr val="tx1"/>
              </a:buClr>
              <a:buFont typeface="Arial" charset="0"/>
              <a:buChar char="−"/>
            </a:pPr>
            <a:r>
              <a:rPr lang="fr-CA" sz="1400" dirty="0">
                <a:latin typeface="Arial" charset="0"/>
                <a:cs typeface="Arial" charset="0"/>
              </a:rPr>
              <a:t>Hormones locales dérivées de phospholipides.   Ex. : prostaglandines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ChangeArrowheads="1"/>
          </p:cNvSpPr>
          <p:nvPr/>
        </p:nvSpPr>
        <p:spPr bwMode="auto">
          <a:xfrm>
            <a:off x="189737" y="404813"/>
            <a:ext cx="8490684" cy="5081587"/>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49263" indent="-449263" eaLnBrk="1" hangingPunct="1">
              <a:buClr>
                <a:schemeClr val="tx1"/>
              </a:buClr>
              <a:buSzPct val="120000"/>
            </a:pPr>
            <a:r>
              <a:rPr lang="fr-CA" sz="2000" b="1" dirty="0">
                <a:latin typeface="Arial" charset="0"/>
                <a:cs typeface="Arial" charset="0"/>
              </a:rPr>
              <a:t>C)	Mécanismes de l’action hormonale</a:t>
            </a:r>
            <a:endParaRPr lang="fr-CA" sz="2000" b="1" dirty="0">
              <a:solidFill>
                <a:srgbClr val="000000"/>
              </a:solidFill>
              <a:latin typeface="Arial" charset="0"/>
              <a:cs typeface="Arial" charset="0"/>
            </a:endParaRPr>
          </a:p>
          <a:p>
            <a:pPr marL="628650" lvl="1" indent="-176213" eaLnBrk="1" hangingPunct="1">
              <a:spcBef>
                <a:spcPts val="600"/>
              </a:spcBef>
              <a:spcAft>
                <a:spcPts val="0"/>
              </a:spcAft>
              <a:buClr>
                <a:schemeClr val="tx1"/>
              </a:buClr>
              <a:buSzPct val="90000"/>
              <a:buFont typeface="Arial" pitchFamily="34" charset="0"/>
              <a:buChar char="‒"/>
            </a:pPr>
            <a:r>
              <a:rPr lang="fr-CA" sz="1600" dirty="0">
                <a:solidFill>
                  <a:srgbClr val="000000"/>
                </a:solidFill>
                <a:latin typeface="Arial" charset="0"/>
                <a:cs typeface="Arial" charset="0"/>
                <a:sym typeface="Symbol" pitchFamily="18" charset="2"/>
              </a:rPr>
              <a:t>Une hormone donnée agit spécifiquement sur des </a:t>
            </a:r>
            <a:r>
              <a:rPr lang="fr-CA" sz="1600" i="1" dirty="0">
                <a:solidFill>
                  <a:srgbClr val="000000"/>
                </a:solidFill>
                <a:latin typeface="Arial" charset="0"/>
                <a:cs typeface="Arial" charset="0"/>
                <a:sym typeface="Symbol" pitchFamily="18" charset="2"/>
              </a:rPr>
              <a:t>cellules cibles</a:t>
            </a:r>
            <a:r>
              <a:rPr lang="fr-CA" sz="1600" dirty="0">
                <a:solidFill>
                  <a:srgbClr val="000000"/>
                </a:solidFill>
                <a:latin typeface="Arial" charset="0"/>
                <a:cs typeface="Arial" charset="0"/>
                <a:sym typeface="Symbol" pitchFamily="18" charset="2"/>
              </a:rPr>
              <a:t>.</a:t>
            </a:r>
          </a:p>
          <a:p>
            <a:pPr marL="628650" lvl="1" indent="-176213" eaLnBrk="1" hangingPunct="1">
              <a:spcBef>
                <a:spcPts val="600"/>
              </a:spcBef>
              <a:spcAft>
                <a:spcPts val="0"/>
              </a:spcAft>
              <a:buClr>
                <a:schemeClr val="tx1"/>
              </a:buClr>
              <a:buSzPct val="90000"/>
              <a:buFont typeface="Arial" pitchFamily="34" charset="0"/>
              <a:buChar char="‒"/>
            </a:pPr>
            <a:r>
              <a:rPr lang="fr-CA" sz="1600" dirty="0">
                <a:solidFill>
                  <a:srgbClr val="000000"/>
                </a:solidFill>
                <a:latin typeface="Arial" charset="0"/>
                <a:cs typeface="Arial" charset="0"/>
                <a:sym typeface="Symbol" pitchFamily="18" charset="2"/>
              </a:rPr>
              <a:t>Effets possibles d’une hormone sur ses cellules cibles :</a:t>
            </a:r>
          </a:p>
          <a:p>
            <a:pPr marL="893763" lvl="2" indent="-268288" defTabSz="893763" eaLnBrk="1" hangingPunct="1">
              <a:spcBef>
                <a:spcPts val="200"/>
              </a:spcBef>
              <a:spcAft>
                <a:spcPts val="0"/>
              </a:spcAft>
              <a:buClr>
                <a:schemeClr val="tx1"/>
              </a:buClr>
              <a:buSzPct val="90000"/>
              <a:buFont typeface="Wingdings" panose="05000000000000000000" pitchFamily="2" charset="2"/>
              <a:buChar char="ü"/>
            </a:pPr>
            <a:r>
              <a:rPr lang="fr-CA" sz="1600" dirty="0">
                <a:solidFill>
                  <a:srgbClr val="000000"/>
                </a:solidFill>
                <a:latin typeface="Arial" charset="0"/>
                <a:cs typeface="Arial" charset="0"/>
                <a:sym typeface="Symbol" pitchFamily="18" charset="2"/>
              </a:rPr>
              <a:t>Modification de la perméabilité membranaire à certains solutés (ex.: glucose, acides aminés, ions, ces derniers entraînant une modification du potentiel de membrane)</a:t>
            </a:r>
          </a:p>
          <a:p>
            <a:pPr marL="893763" lvl="2" indent="-268288" defTabSz="893763" eaLnBrk="1" hangingPunct="1">
              <a:spcBef>
                <a:spcPts val="200"/>
              </a:spcBef>
              <a:spcAft>
                <a:spcPts val="0"/>
              </a:spcAft>
              <a:buClr>
                <a:schemeClr val="tx1"/>
              </a:buClr>
              <a:buSzPct val="90000"/>
              <a:buFont typeface="Wingdings" panose="05000000000000000000" pitchFamily="2" charset="2"/>
              <a:buChar char="ü"/>
            </a:pPr>
            <a:r>
              <a:rPr lang="fr-CA" sz="1600" dirty="0">
                <a:solidFill>
                  <a:srgbClr val="000000"/>
                </a:solidFill>
                <a:latin typeface="Arial" charset="0"/>
                <a:cs typeface="Arial" charset="0"/>
                <a:sym typeface="Symbol" pitchFamily="18" charset="2"/>
              </a:rPr>
              <a:t>Activation on inhibition d’enzymes</a:t>
            </a:r>
          </a:p>
          <a:p>
            <a:pPr marL="893763" lvl="2" indent="-268288" defTabSz="893763" eaLnBrk="1" hangingPunct="1">
              <a:spcBef>
                <a:spcPts val="200"/>
              </a:spcBef>
              <a:spcAft>
                <a:spcPts val="0"/>
              </a:spcAft>
              <a:buClr>
                <a:schemeClr val="tx1"/>
              </a:buClr>
              <a:buSzPct val="90000"/>
              <a:buFont typeface="Wingdings" panose="05000000000000000000" pitchFamily="2" charset="2"/>
              <a:buChar char="ü"/>
            </a:pPr>
            <a:r>
              <a:rPr lang="fr-CA" sz="1600" dirty="0">
                <a:solidFill>
                  <a:srgbClr val="000000"/>
                </a:solidFill>
                <a:latin typeface="Arial" charset="0"/>
                <a:cs typeface="Arial" charset="0"/>
                <a:sym typeface="Symbol" pitchFamily="18" charset="2"/>
              </a:rPr>
              <a:t>Synthèse de protéines</a:t>
            </a:r>
          </a:p>
          <a:p>
            <a:pPr marL="893763" lvl="2" indent="-268288" defTabSz="893763" eaLnBrk="1" hangingPunct="1">
              <a:spcBef>
                <a:spcPts val="200"/>
              </a:spcBef>
              <a:spcAft>
                <a:spcPts val="0"/>
              </a:spcAft>
              <a:buClr>
                <a:schemeClr val="tx1"/>
              </a:buClr>
              <a:buSzPct val="90000"/>
              <a:buFont typeface="Wingdings" panose="05000000000000000000" pitchFamily="2" charset="2"/>
              <a:buChar char="ü"/>
            </a:pPr>
            <a:r>
              <a:rPr lang="fr-CA" sz="1600" dirty="0">
                <a:solidFill>
                  <a:srgbClr val="000000"/>
                </a:solidFill>
                <a:latin typeface="Arial" charset="0"/>
                <a:cs typeface="Arial" charset="0"/>
                <a:sym typeface="Symbol" pitchFamily="18" charset="2"/>
              </a:rPr>
              <a:t>Sécrétion</a:t>
            </a:r>
          </a:p>
          <a:p>
            <a:pPr marL="893763" lvl="2" indent="-268288" defTabSz="893763" eaLnBrk="1" hangingPunct="1">
              <a:spcBef>
                <a:spcPts val="200"/>
              </a:spcBef>
              <a:spcAft>
                <a:spcPts val="0"/>
              </a:spcAft>
              <a:buClr>
                <a:schemeClr val="tx1"/>
              </a:buClr>
              <a:buSzPct val="90000"/>
              <a:buFont typeface="Wingdings" panose="05000000000000000000" pitchFamily="2" charset="2"/>
              <a:buChar char="ü"/>
            </a:pPr>
            <a:r>
              <a:rPr lang="fr-CA" sz="1600" dirty="0">
                <a:solidFill>
                  <a:srgbClr val="000000"/>
                </a:solidFill>
                <a:latin typeface="Arial" charset="0"/>
                <a:cs typeface="Arial" charset="0"/>
                <a:sym typeface="Symbol" pitchFamily="18" charset="2"/>
              </a:rPr>
              <a:t>Stimulation de la division cellulaire</a:t>
            </a:r>
          </a:p>
          <a:p>
            <a:pPr marL="628650" lvl="1" indent="-176213" eaLnBrk="1" hangingPunct="1">
              <a:spcBef>
                <a:spcPts val="600"/>
              </a:spcBef>
              <a:spcAft>
                <a:spcPts val="0"/>
              </a:spcAft>
              <a:buClr>
                <a:schemeClr val="tx1"/>
              </a:buClr>
              <a:buSzPct val="90000"/>
              <a:buFont typeface="Arial" pitchFamily="34" charset="0"/>
              <a:buChar char="‒"/>
            </a:pPr>
            <a:r>
              <a:rPr lang="fr-CA" sz="1600" dirty="0">
                <a:solidFill>
                  <a:srgbClr val="000000"/>
                </a:solidFill>
                <a:latin typeface="Arial" charset="0"/>
                <a:cs typeface="Arial" charset="0"/>
                <a:sym typeface="Symbol" pitchFamily="18" charset="2"/>
              </a:rPr>
              <a:t>L’action d’une hormone est déclenchée par sa liaison avec des </a:t>
            </a:r>
            <a:r>
              <a:rPr lang="fr-CA" sz="1600" i="1" dirty="0">
                <a:solidFill>
                  <a:srgbClr val="000000"/>
                </a:solidFill>
                <a:latin typeface="Arial" charset="0"/>
                <a:cs typeface="Arial" charset="0"/>
                <a:sym typeface="Symbol" pitchFamily="18" charset="2"/>
              </a:rPr>
              <a:t>récepteurs</a:t>
            </a:r>
            <a:r>
              <a:rPr lang="fr-CA" sz="1600" dirty="0">
                <a:solidFill>
                  <a:srgbClr val="000000"/>
                </a:solidFill>
                <a:latin typeface="Arial" charset="0"/>
                <a:cs typeface="Arial" charset="0"/>
                <a:sym typeface="Symbol" pitchFamily="18" charset="2"/>
              </a:rPr>
              <a:t> de la cellule cibles.</a:t>
            </a:r>
          </a:p>
          <a:p>
            <a:pPr marL="628650" lvl="1" indent="-176213" eaLnBrk="1" hangingPunct="1">
              <a:spcBef>
                <a:spcPts val="600"/>
              </a:spcBef>
              <a:spcAft>
                <a:spcPts val="0"/>
              </a:spcAft>
              <a:buClr>
                <a:schemeClr val="tx1"/>
              </a:buClr>
              <a:buSzPct val="90000"/>
              <a:buFont typeface="Arial" pitchFamily="34" charset="0"/>
              <a:buChar char="‒"/>
            </a:pPr>
            <a:r>
              <a:rPr lang="fr-CA" sz="1600" dirty="0">
                <a:solidFill>
                  <a:srgbClr val="000000"/>
                </a:solidFill>
                <a:latin typeface="Arial" charset="0"/>
                <a:cs typeface="Arial" charset="0"/>
                <a:sym typeface="Symbol" pitchFamily="18" charset="2"/>
              </a:rPr>
              <a:t>Deux grands types de mécanismes d’action, selon que l’hormone est hydrosoluble ou liposoluble :</a:t>
            </a:r>
          </a:p>
          <a:p>
            <a:pPr marL="900113" lvl="2" indent="-273050" eaLnBrk="1" hangingPunct="1">
              <a:spcBef>
                <a:spcPts val="200"/>
              </a:spcBef>
              <a:spcAft>
                <a:spcPts val="0"/>
              </a:spcAft>
              <a:buClr>
                <a:schemeClr val="tx1"/>
              </a:buClr>
              <a:buFont typeface="Wingdings" pitchFamily="2" charset="2"/>
              <a:buAutoNum type="romanLcPeriod"/>
            </a:pPr>
            <a:r>
              <a:rPr lang="fr-CA" sz="1600" b="1" i="1" dirty="0">
                <a:solidFill>
                  <a:srgbClr val="000000"/>
                </a:solidFill>
                <a:latin typeface="Arial" charset="0"/>
                <a:cs typeface="Arial" charset="0"/>
                <a:sym typeface="Symbol" pitchFamily="18" charset="2"/>
              </a:rPr>
              <a:t>Hormones hydrosolubles </a:t>
            </a:r>
            <a:r>
              <a:rPr lang="fr-CA" sz="1600" b="1" dirty="0">
                <a:solidFill>
                  <a:srgbClr val="000000"/>
                </a:solidFill>
                <a:latin typeface="Arial" charset="0"/>
                <a:cs typeface="Arial" charset="0"/>
                <a:sym typeface="Symbol" pitchFamily="18" charset="2"/>
              </a:rPr>
              <a:t>:</a:t>
            </a:r>
            <a:r>
              <a:rPr lang="fr-CA" sz="1600" dirty="0">
                <a:solidFill>
                  <a:srgbClr val="000000"/>
                </a:solidFill>
                <a:latin typeface="Arial" charset="0"/>
                <a:cs typeface="Arial" charset="0"/>
                <a:sym typeface="Symbol" pitchFamily="18" charset="2"/>
              </a:rPr>
              <a:t> se lient à des </a:t>
            </a:r>
            <a:r>
              <a:rPr lang="fr-CA" sz="1600" u="sng" dirty="0">
                <a:solidFill>
                  <a:srgbClr val="000000"/>
                </a:solidFill>
                <a:latin typeface="Arial" charset="0"/>
                <a:cs typeface="Arial" charset="0"/>
                <a:sym typeface="Symbol" pitchFamily="18" charset="2"/>
              </a:rPr>
              <a:t>récepteurs de la membrane plasmique</a:t>
            </a:r>
            <a:r>
              <a:rPr lang="fr-CA" sz="1600" dirty="0">
                <a:solidFill>
                  <a:srgbClr val="000000"/>
                </a:solidFill>
                <a:latin typeface="Arial" charset="0"/>
                <a:cs typeface="Arial" charset="0"/>
                <a:sym typeface="Symbol" pitchFamily="18" charset="2"/>
              </a:rPr>
              <a:t> des cellules cibles.</a:t>
            </a:r>
          </a:p>
          <a:p>
            <a:pPr marL="900113" lvl="2" indent="-273050" eaLnBrk="1" hangingPunct="1">
              <a:spcBef>
                <a:spcPts val="200"/>
              </a:spcBef>
              <a:spcAft>
                <a:spcPts val="0"/>
              </a:spcAft>
              <a:buClr>
                <a:schemeClr val="tx1"/>
              </a:buClr>
              <a:buFont typeface="Wingdings" pitchFamily="2" charset="2"/>
              <a:buAutoNum type="romanLcPeriod"/>
            </a:pPr>
            <a:r>
              <a:rPr lang="fr-CA" sz="1600" b="1" i="1" dirty="0">
                <a:solidFill>
                  <a:srgbClr val="000000"/>
                </a:solidFill>
                <a:latin typeface="Arial" charset="0"/>
                <a:cs typeface="Arial" charset="0"/>
                <a:sym typeface="Symbol" pitchFamily="18" charset="2"/>
              </a:rPr>
              <a:t>Hormones liposolubles </a:t>
            </a:r>
            <a:r>
              <a:rPr lang="fr-CA" sz="1600" b="1" dirty="0">
                <a:solidFill>
                  <a:srgbClr val="000000"/>
                </a:solidFill>
                <a:latin typeface="Arial" charset="0"/>
                <a:cs typeface="Arial" charset="0"/>
                <a:sym typeface="Symbol" pitchFamily="18" charset="2"/>
              </a:rPr>
              <a:t>: </a:t>
            </a:r>
            <a:r>
              <a:rPr lang="fr-CA" sz="1600" dirty="0">
                <a:solidFill>
                  <a:srgbClr val="000000"/>
                </a:solidFill>
                <a:latin typeface="Arial" charset="0"/>
                <a:cs typeface="Arial" charset="0"/>
                <a:sym typeface="Symbol" pitchFamily="18" charset="2"/>
              </a:rPr>
              <a:t>se lient à </a:t>
            </a:r>
            <a:r>
              <a:rPr lang="fr-CA" sz="1600" u="sng" dirty="0">
                <a:solidFill>
                  <a:srgbClr val="000000"/>
                </a:solidFill>
                <a:latin typeface="Arial" charset="0"/>
                <a:cs typeface="Arial" charset="0"/>
                <a:sym typeface="Symbol" pitchFamily="18" charset="2"/>
              </a:rPr>
              <a:t>des récepteurs situés à l’intérieur</a:t>
            </a:r>
            <a:r>
              <a:rPr lang="fr-CA" sz="1600" dirty="0">
                <a:solidFill>
                  <a:srgbClr val="000000"/>
                </a:solidFill>
                <a:latin typeface="Arial" charset="0"/>
                <a:cs typeface="Arial" charset="0"/>
                <a:sym typeface="Symbol" pitchFamily="18" charset="2"/>
              </a:rPr>
              <a:t> des cellules cibles.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4959" name="Picture 15" descr="C:\OLD_PC\backup\DriveD\michel\Marieb\HAP8e_IRDVD\Chapter_16\B_JPEG_Images_and_Tables\b_unlabeled\figure_16_02_unlabele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134" b="6273"/>
          <a:stretch/>
        </p:blipFill>
        <p:spPr bwMode="auto">
          <a:xfrm>
            <a:off x="153275" y="1433855"/>
            <a:ext cx="8969969" cy="4729666"/>
          </a:xfrm>
          <a:prstGeom prst="rect">
            <a:avLst/>
          </a:prstGeom>
          <a:noFill/>
          <a:extLst>
            <a:ext uri="{909E8E84-426E-40DD-AFC4-6F175D3DCCD1}">
              <a14:hiddenFill xmlns:a14="http://schemas.microsoft.com/office/drawing/2010/main">
                <a:solidFill>
                  <a:srgbClr val="FFFFFF"/>
                </a:solidFill>
              </a14:hiddenFill>
            </a:ext>
          </a:extLst>
        </p:spPr>
      </p:pic>
      <p:sp>
        <p:nvSpPr>
          <p:cNvPr id="12" name="Ellipse 11"/>
          <p:cNvSpPr/>
          <p:nvPr/>
        </p:nvSpPr>
        <p:spPr bwMode="auto">
          <a:xfrm>
            <a:off x="6419620" y="3180993"/>
            <a:ext cx="527822" cy="247573"/>
          </a:xfrm>
          <a:prstGeom prst="ellipse">
            <a:avLst/>
          </a:prstGeom>
          <a:gradFill>
            <a:gsLst>
              <a:gs pos="28000">
                <a:srgbClr val="EAB200"/>
              </a:gs>
              <a:gs pos="100000">
                <a:srgbClr val="E4851C"/>
              </a:gs>
              <a:gs pos="0">
                <a:srgbClr val="E4851C"/>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CA" sz="1800" b="0" i="0" u="none" strike="noStrike" cap="none" normalizeH="0" baseline="0">
              <a:ln>
                <a:noFill/>
              </a:ln>
              <a:solidFill>
                <a:schemeClr val="tx1"/>
              </a:solidFill>
              <a:effectLst/>
              <a:latin typeface="Times New Roman" pitchFamily="18" charset="0"/>
            </a:endParaRPr>
          </a:p>
        </p:txBody>
      </p:sp>
      <p:sp>
        <p:nvSpPr>
          <p:cNvPr id="594950" name="Rectangle 6"/>
          <p:cNvSpPr>
            <a:spLocks noChangeArrowheads="1"/>
          </p:cNvSpPr>
          <p:nvPr/>
        </p:nvSpPr>
        <p:spPr bwMode="auto">
          <a:xfrm>
            <a:off x="-39507" y="315517"/>
            <a:ext cx="9156318" cy="1168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p>
            <a:pPr marL="536575" indent="-273050" eaLnBrk="1" hangingPunct="1">
              <a:buClr>
                <a:schemeClr val="tx1"/>
              </a:buClr>
              <a:buSzPct val="120000"/>
              <a:tabLst>
                <a:tab pos="536575" algn="l"/>
              </a:tabLst>
            </a:pPr>
            <a:r>
              <a:rPr lang="fr-CA" b="1" dirty="0">
                <a:latin typeface="Arial" charset="0"/>
                <a:cs typeface="Arial" charset="0"/>
              </a:rPr>
              <a:t>i.</a:t>
            </a:r>
            <a:r>
              <a:rPr lang="fr-CA" b="1" i="1" dirty="0">
                <a:latin typeface="Arial" charset="0"/>
                <a:cs typeface="Arial" charset="0"/>
              </a:rPr>
              <a:t>	</a:t>
            </a:r>
            <a:r>
              <a:rPr lang="fr-CA" b="1" u="sng" dirty="0">
                <a:latin typeface="Arial" charset="0"/>
                <a:cs typeface="Arial" charset="0"/>
              </a:rPr>
              <a:t>L’action des hormones hydrosolubles</a:t>
            </a:r>
            <a:r>
              <a:rPr lang="fr-CA" sz="1600" b="1" dirty="0">
                <a:latin typeface="Arial" charset="0"/>
                <a:cs typeface="Arial" charset="0"/>
              </a:rPr>
              <a:t> </a:t>
            </a:r>
          </a:p>
          <a:p>
            <a:pPr marL="536575" eaLnBrk="1" hangingPunct="1">
              <a:spcBef>
                <a:spcPts val="300"/>
              </a:spcBef>
              <a:buClr>
                <a:schemeClr val="tx1"/>
              </a:buClr>
              <a:buSzPct val="120000"/>
            </a:pPr>
            <a:r>
              <a:rPr lang="fr-CA" sz="1600" dirty="0">
                <a:latin typeface="Arial" charset="0"/>
                <a:cs typeface="Arial" charset="0"/>
              </a:rPr>
              <a:t>Se fait par l’intermédiaire de </a:t>
            </a:r>
            <a:r>
              <a:rPr lang="fr-CA" sz="1600" b="1" i="1" dirty="0">
                <a:latin typeface="Arial" charset="0"/>
                <a:cs typeface="Arial" charset="0"/>
              </a:rPr>
              <a:t>seconds messagers</a:t>
            </a:r>
            <a:r>
              <a:rPr lang="fr-CA" sz="1600" dirty="0">
                <a:latin typeface="Arial" charset="0"/>
                <a:cs typeface="Arial" charset="0"/>
              </a:rPr>
              <a:t> produits suite à la liaison hormone-récepteur.</a:t>
            </a:r>
          </a:p>
          <a:p>
            <a:pPr marL="536575" eaLnBrk="1" hangingPunct="1">
              <a:spcBef>
                <a:spcPts val="300"/>
              </a:spcBef>
              <a:buClr>
                <a:schemeClr val="tx1"/>
              </a:buClr>
              <a:buSzPct val="120000"/>
            </a:pPr>
            <a:r>
              <a:rPr lang="fr-CA" sz="1600" b="1" dirty="0">
                <a:latin typeface="Arial" charset="0"/>
                <a:cs typeface="Arial" charset="0"/>
              </a:rPr>
              <a:t>Exemple :</a:t>
            </a:r>
            <a:r>
              <a:rPr lang="fr-CA" sz="1600" dirty="0">
                <a:latin typeface="Arial" charset="0"/>
                <a:cs typeface="Arial" charset="0"/>
              </a:rPr>
              <a:t> </a:t>
            </a:r>
            <a:r>
              <a:rPr lang="fr-CA" sz="1600" b="1" dirty="0">
                <a:latin typeface="Arial" charset="0"/>
                <a:cs typeface="Arial" charset="0"/>
              </a:rPr>
              <a:t>l’AMP cyclique (</a:t>
            </a:r>
            <a:r>
              <a:rPr lang="fr-CA" sz="1600" b="1" i="1" dirty="0">
                <a:latin typeface="Arial" charset="0"/>
                <a:cs typeface="Arial" charset="0"/>
              </a:rPr>
              <a:t>AMPc</a:t>
            </a:r>
            <a:r>
              <a:rPr lang="fr-CA" sz="1600" b="1" dirty="0">
                <a:latin typeface="Arial" charset="0"/>
                <a:cs typeface="Arial" charset="0"/>
              </a:rPr>
              <a:t>) comme second messager</a:t>
            </a:r>
            <a:endParaRPr lang="fr-CA" sz="1600" b="1" dirty="0">
              <a:solidFill>
                <a:srgbClr val="000000"/>
              </a:solidFill>
              <a:latin typeface="Arial" charset="0"/>
              <a:cs typeface="Arial" charset="0"/>
            </a:endParaRPr>
          </a:p>
        </p:txBody>
      </p:sp>
      <p:sp>
        <p:nvSpPr>
          <p:cNvPr id="594951" name="Text Box 7"/>
          <p:cNvSpPr txBox="1">
            <a:spLocks noChangeArrowheads="1"/>
          </p:cNvSpPr>
          <p:nvPr/>
        </p:nvSpPr>
        <p:spPr bwMode="auto">
          <a:xfrm>
            <a:off x="7865988" y="1599071"/>
            <a:ext cx="1042364" cy="29238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300" dirty="0">
                <a:solidFill>
                  <a:schemeClr val="accent2"/>
                </a:solidFill>
                <a:latin typeface="Arial" charset="0"/>
              </a:rPr>
              <a:t>Figure 16.2</a:t>
            </a:r>
          </a:p>
        </p:txBody>
      </p:sp>
      <p:sp>
        <p:nvSpPr>
          <p:cNvPr id="2" name="ZoneTexte 1"/>
          <p:cNvSpPr txBox="1"/>
          <p:nvPr/>
        </p:nvSpPr>
        <p:spPr>
          <a:xfrm>
            <a:off x="427696" y="4523478"/>
            <a:ext cx="2170769" cy="1485022"/>
          </a:xfrm>
          <a:prstGeom prst="rect">
            <a:avLst/>
          </a:prstGeom>
          <a:noFill/>
        </p:spPr>
        <p:txBody>
          <a:bodyPr wrap="square" rtlCol="0">
            <a:spAutoFit/>
          </a:bodyPr>
          <a:lstStyle/>
          <a:p>
            <a:r>
              <a:rPr lang="fr-CA" sz="1400" dirty="0">
                <a:latin typeface="Calibri" pitchFamily="34" charset="0"/>
                <a:cs typeface="Calibri" pitchFamily="34" charset="0"/>
              </a:rPr>
              <a:t>Exemples d’hormones qui agissent via l’AMPc:</a:t>
            </a:r>
          </a:p>
          <a:p>
            <a:pPr marL="88900" indent="-88900">
              <a:spcBef>
                <a:spcPts val="300"/>
              </a:spcBef>
              <a:buFont typeface="Arial" pitchFamily="34" charset="0"/>
              <a:buChar char="•"/>
            </a:pPr>
            <a:r>
              <a:rPr lang="fr-CA" sz="1200" dirty="0">
                <a:latin typeface="Calibri" pitchFamily="34" charset="0"/>
                <a:cs typeface="Calibri" pitchFamily="34" charset="0"/>
              </a:rPr>
              <a:t>Adrénaline</a:t>
            </a:r>
          </a:p>
          <a:p>
            <a:pPr marL="88900" indent="-88900">
              <a:buFont typeface="Arial" pitchFamily="34" charset="0"/>
              <a:buChar char="•"/>
            </a:pPr>
            <a:r>
              <a:rPr lang="fr-CA" sz="1200" dirty="0">
                <a:latin typeface="Calibri" pitchFamily="34" charset="0"/>
                <a:cs typeface="Calibri" pitchFamily="34" charset="0"/>
              </a:rPr>
              <a:t>Angiotensine II</a:t>
            </a:r>
          </a:p>
          <a:p>
            <a:pPr marL="88900" indent="-88900">
              <a:buFont typeface="Arial" pitchFamily="34" charset="0"/>
              <a:buChar char="•"/>
            </a:pPr>
            <a:r>
              <a:rPr lang="fr-CA" sz="1200" dirty="0">
                <a:latin typeface="Calibri" pitchFamily="34" charset="0"/>
                <a:cs typeface="Calibri" pitchFamily="34" charset="0"/>
              </a:rPr>
              <a:t>PTH</a:t>
            </a:r>
          </a:p>
          <a:p>
            <a:pPr marL="88900" indent="-88900">
              <a:buFont typeface="Arial" pitchFamily="34" charset="0"/>
              <a:buChar char="•"/>
            </a:pPr>
            <a:r>
              <a:rPr lang="fr-CA" sz="1200" dirty="0">
                <a:latin typeface="Calibri" pitchFamily="34" charset="0"/>
                <a:cs typeface="Calibri" pitchFamily="34" charset="0"/>
              </a:rPr>
              <a:t>TSH, ACTH</a:t>
            </a:r>
          </a:p>
          <a:p>
            <a:pPr marL="88900" indent="-88900">
              <a:buFont typeface="Arial" pitchFamily="34" charset="0"/>
              <a:buChar char="•"/>
            </a:pPr>
            <a:r>
              <a:rPr lang="fr-CA" sz="1200" dirty="0">
                <a:latin typeface="Calibri" pitchFamily="34" charset="0"/>
                <a:cs typeface="Calibri" pitchFamily="34" charset="0"/>
              </a:rPr>
              <a:t>FSH, LH</a:t>
            </a:r>
          </a:p>
        </p:txBody>
      </p:sp>
      <p:sp>
        <p:nvSpPr>
          <p:cNvPr id="7" name="ZoneTexte 6"/>
          <p:cNvSpPr txBox="1"/>
          <p:nvPr/>
        </p:nvSpPr>
        <p:spPr>
          <a:xfrm>
            <a:off x="1360447" y="4096013"/>
            <a:ext cx="538976" cy="253916"/>
          </a:xfrm>
          <a:prstGeom prst="rect">
            <a:avLst/>
          </a:prstGeom>
          <a:noFill/>
        </p:spPr>
        <p:txBody>
          <a:bodyPr wrap="square" rtlCol="0">
            <a:spAutoFit/>
          </a:bodyPr>
          <a:lstStyle/>
          <a:p>
            <a:r>
              <a:rPr lang="fr-CA" sz="1050" b="1" dirty="0">
                <a:latin typeface="+mj-lt"/>
                <a:cs typeface="Calibri" pitchFamily="34" charset="0"/>
              </a:rPr>
              <a:t>GDP</a:t>
            </a:r>
          </a:p>
        </p:txBody>
      </p:sp>
      <p:sp>
        <p:nvSpPr>
          <p:cNvPr id="8" name="ZoneTexte 7"/>
          <p:cNvSpPr txBox="1"/>
          <p:nvPr/>
        </p:nvSpPr>
        <p:spPr>
          <a:xfrm>
            <a:off x="317849" y="3371284"/>
            <a:ext cx="899319" cy="261610"/>
          </a:xfrm>
          <a:prstGeom prst="rect">
            <a:avLst/>
          </a:prstGeom>
          <a:noFill/>
        </p:spPr>
        <p:txBody>
          <a:bodyPr wrap="square" rtlCol="0">
            <a:spAutoFit/>
          </a:bodyPr>
          <a:lstStyle/>
          <a:p>
            <a:r>
              <a:rPr lang="fr-CA" sz="1100" b="1" dirty="0">
                <a:latin typeface="Calibri" pitchFamily="34" charset="0"/>
                <a:cs typeface="Calibri" pitchFamily="34" charset="0"/>
              </a:rPr>
              <a:t>Récepteur</a:t>
            </a:r>
          </a:p>
        </p:txBody>
      </p:sp>
      <p:cxnSp>
        <p:nvCxnSpPr>
          <p:cNvPr id="4" name="Connecteur droit 3"/>
          <p:cNvCxnSpPr/>
          <p:nvPr/>
        </p:nvCxnSpPr>
        <p:spPr bwMode="auto">
          <a:xfrm flipH="1">
            <a:off x="1059599" y="3460395"/>
            <a:ext cx="200722" cy="63996"/>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ZoneTexte 10"/>
          <p:cNvSpPr txBox="1"/>
          <p:nvPr/>
        </p:nvSpPr>
        <p:spPr>
          <a:xfrm>
            <a:off x="2293671" y="2282181"/>
            <a:ext cx="899319" cy="261610"/>
          </a:xfrm>
          <a:prstGeom prst="rect">
            <a:avLst/>
          </a:prstGeom>
          <a:noFill/>
        </p:spPr>
        <p:txBody>
          <a:bodyPr wrap="square" rtlCol="0">
            <a:spAutoFit/>
          </a:bodyPr>
          <a:lstStyle/>
          <a:p>
            <a:r>
              <a:rPr lang="fr-CA" sz="1100" b="1" dirty="0">
                <a:latin typeface="Calibri" pitchFamily="34" charset="0"/>
                <a:cs typeface="Calibri" pitchFamily="34" charset="0"/>
              </a:rPr>
              <a:t>Protéine G</a:t>
            </a:r>
          </a:p>
        </p:txBody>
      </p:sp>
      <p:cxnSp>
        <p:nvCxnSpPr>
          <p:cNvPr id="6" name="Connecteur droit 5"/>
          <p:cNvCxnSpPr/>
          <p:nvPr/>
        </p:nvCxnSpPr>
        <p:spPr bwMode="auto">
          <a:xfrm flipV="1">
            <a:off x="2040906" y="2499187"/>
            <a:ext cx="631902" cy="872097"/>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ZoneTexte 13"/>
          <p:cNvSpPr txBox="1"/>
          <p:nvPr/>
        </p:nvSpPr>
        <p:spPr>
          <a:xfrm>
            <a:off x="4915871" y="1731447"/>
            <a:ext cx="1280724" cy="261610"/>
          </a:xfrm>
          <a:prstGeom prst="rect">
            <a:avLst/>
          </a:prstGeom>
          <a:noFill/>
        </p:spPr>
        <p:txBody>
          <a:bodyPr wrap="square" rtlCol="0">
            <a:spAutoFit/>
          </a:bodyPr>
          <a:lstStyle/>
          <a:p>
            <a:r>
              <a:rPr lang="fr-CA" sz="1100" b="1" dirty="0">
                <a:latin typeface="Calibri" pitchFamily="34" charset="0"/>
                <a:cs typeface="Calibri" pitchFamily="34" charset="0"/>
              </a:rPr>
              <a:t>Adénylate cyclase</a:t>
            </a:r>
          </a:p>
        </p:txBody>
      </p:sp>
      <p:cxnSp>
        <p:nvCxnSpPr>
          <p:cNvPr id="15" name="Connecteur droit 14"/>
          <p:cNvCxnSpPr/>
          <p:nvPr/>
        </p:nvCxnSpPr>
        <p:spPr bwMode="auto">
          <a:xfrm>
            <a:off x="5556233" y="1961011"/>
            <a:ext cx="0" cy="188665"/>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ZoneTexte 18"/>
          <p:cNvSpPr txBox="1"/>
          <p:nvPr/>
        </p:nvSpPr>
        <p:spPr>
          <a:xfrm>
            <a:off x="6527412" y="3999110"/>
            <a:ext cx="1230349" cy="430887"/>
          </a:xfrm>
          <a:prstGeom prst="rect">
            <a:avLst/>
          </a:prstGeom>
          <a:noFill/>
        </p:spPr>
        <p:txBody>
          <a:bodyPr wrap="square" rtlCol="0">
            <a:spAutoFit/>
          </a:bodyPr>
          <a:lstStyle/>
          <a:p>
            <a:r>
              <a:rPr lang="fr-CA" sz="1100" b="1" dirty="0">
                <a:latin typeface="Calibri" pitchFamily="34" charset="0"/>
                <a:cs typeface="Calibri" pitchFamily="34" charset="0"/>
              </a:rPr>
              <a:t>Protéine-kinase inactive</a:t>
            </a:r>
          </a:p>
        </p:txBody>
      </p:sp>
      <p:sp>
        <p:nvSpPr>
          <p:cNvPr id="20" name="ZoneTexte 19"/>
          <p:cNvSpPr txBox="1"/>
          <p:nvPr/>
        </p:nvSpPr>
        <p:spPr>
          <a:xfrm>
            <a:off x="8223715" y="3668647"/>
            <a:ext cx="847491" cy="600164"/>
          </a:xfrm>
          <a:prstGeom prst="rect">
            <a:avLst/>
          </a:prstGeom>
          <a:noFill/>
        </p:spPr>
        <p:txBody>
          <a:bodyPr wrap="square" rtlCol="0">
            <a:spAutoFit/>
          </a:bodyPr>
          <a:lstStyle/>
          <a:p>
            <a:r>
              <a:rPr lang="fr-CA" sz="1100" b="1" dirty="0">
                <a:latin typeface="Calibri" pitchFamily="34" charset="0"/>
                <a:cs typeface="Calibri" pitchFamily="34" charset="0"/>
              </a:rPr>
              <a:t>Protéine- kinase activée</a:t>
            </a:r>
          </a:p>
        </p:txBody>
      </p:sp>
      <p:sp>
        <p:nvSpPr>
          <p:cNvPr id="21" name="ZoneTexte 20"/>
          <p:cNvSpPr txBox="1"/>
          <p:nvPr/>
        </p:nvSpPr>
        <p:spPr>
          <a:xfrm>
            <a:off x="7345702" y="4560389"/>
            <a:ext cx="1636295" cy="915635"/>
          </a:xfrm>
          <a:prstGeom prst="rect">
            <a:avLst/>
          </a:prstGeom>
          <a:noFill/>
        </p:spPr>
        <p:txBody>
          <a:bodyPr wrap="square" rtlCol="0">
            <a:spAutoFit/>
          </a:bodyPr>
          <a:lstStyle/>
          <a:p>
            <a:r>
              <a:rPr lang="fr-CA" sz="1100" b="1" dirty="0">
                <a:solidFill>
                  <a:schemeClr val="accent1">
                    <a:lumMod val="50000"/>
                  </a:schemeClr>
                </a:solidFill>
                <a:latin typeface="Calibri" pitchFamily="34" charset="0"/>
                <a:cs typeface="Calibri" pitchFamily="34" charset="0"/>
              </a:rPr>
              <a:t>Déclenchement des réponses cellulaires</a:t>
            </a:r>
          </a:p>
          <a:p>
            <a:r>
              <a:rPr lang="fr-CA" sz="1000" b="1" dirty="0">
                <a:solidFill>
                  <a:schemeClr val="accent1">
                    <a:lumMod val="50000"/>
                  </a:schemeClr>
                </a:solidFill>
                <a:latin typeface="Calibri" pitchFamily="34" charset="0"/>
                <a:cs typeface="Calibri" pitchFamily="34" charset="0"/>
              </a:rPr>
              <a:t>(Ex.: activation d’enzymes, changements de perméabilité, sécrétion)</a:t>
            </a:r>
          </a:p>
        </p:txBody>
      </p:sp>
      <p:sp>
        <p:nvSpPr>
          <p:cNvPr id="22" name="ZoneTexte 21"/>
          <p:cNvSpPr txBox="1"/>
          <p:nvPr/>
        </p:nvSpPr>
        <p:spPr>
          <a:xfrm>
            <a:off x="705588" y="1614208"/>
            <a:ext cx="1759486" cy="577081"/>
          </a:xfrm>
          <a:prstGeom prst="rect">
            <a:avLst/>
          </a:prstGeom>
          <a:noFill/>
        </p:spPr>
        <p:txBody>
          <a:bodyPr wrap="square" rtlCol="0">
            <a:spAutoFit/>
          </a:bodyPr>
          <a:lstStyle/>
          <a:p>
            <a:r>
              <a:rPr lang="fr-CA" sz="1050" b="1" dirty="0">
                <a:solidFill>
                  <a:srgbClr val="068390"/>
                </a:solidFill>
                <a:latin typeface="Calibri" pitchFamily="34" charset="0"/>
                <a:cs typeface="Calibri" pitchFamily="34" charset="0"/>
              </a:rPr>
              <a:t>Liaison de l’hormone (</a:t>
            </a:r>
            <a:r>
              <a:rPr lang="fr-CA" sz="1050" b="1" i="1" dirty="0">
                <a:solidFill>
                  <a:srgbClr val="068390"/>
                </a:solidFill>
                <a:latin typeface="Calibri" pitchFamily="34" charset="0"/>
                <a:cs typeface="Calibri" pitchFamily="34" charset="0"/>
              </a:rPr>
              <a:t>premier messager</a:t>
            </a:r>
            <a:r>
              <a:rPr lang="fr-CA" sz="1050" b="1" dirty="0">
                <a:solidFill>
                  <a:srgbClr val="068390"/>
                </a:solidFill>
                <a:latin typeface="Calibri" pitchFamily="34" charset="0"/>
                <a:cs typeface="Calibri" pitchFamily="34" charset="0"/>
              </a:rPr>
              <a:t>) avec le récepteur</a:t>
            </a:r>
            <a:endParaRPr lang="fr-CA" sz="1050" dirty="0">
              <a:solidFill>
                <a:srgbClr val="068390"/>
              </a:solidFill>
              <a:latin typeface="Calibri" pitchFamily="34" charset="0"/>
              <a:cs typeface="Calibri" pitchFamily="34" charset="0"/>
            </a:endParaRPr>
          </a:p>
        </p:txBody>
      </p:sp>
      <p:sp>
        <p:nvSpPr>
          <p:cNvPr id="23" name="ZoneTexte 22"/>
          <p:cNvSpPr txBox="1"/>
          <p:nvPr/>
        </p:nvSpPr>
        <p:spPr>
          <a:xfrm>
            <a:off x="2917248" y="4267966"/>
            <a:ext cx="1116010" cy="577081"/>
          </a:xfrm>
          <a:prstGeom prst="rect">
            <a:avLst/>
          </a:prstGeom>
          <a:noFill/>
        </p:spPr>
        <p:txBody>
          <a:bodyPr wrap="square" rtlCol="0">
            <a:spAutoFit/>
          </a:bodyPr>
          <a:lstStyle/>
          <a:p>
            <a:r>
              <a:rPr lang="fr-CA" sz="1050" b="1" dirty="0">
                <a:solidFill>
                  <a:srgbClr val="068390"/>
                </a:solidFill>
                <a:latin typeface="Calibri" pitchFamily="34" charset="0"/>
                <a:cs typeface="Calibri" pitchFamily="34" charset="0"/>
              </a:rPr>
              <a:t>Activation de la protéine G par le récepteur</a:t>
            </a:r>
            <a:endParaRPr lang="fr-CA" sz="1050" dirty="0">
              <a:solidFill>
                <a:srgbClr val="068390"/>
              </a:solidFill>
              <a:latin typeface="Calibri" pitchFamily="34" charset="0"/>
              <a:cs typeface="Calibri" pitchFamily="34" charset="0"/>
            </a:endParaRPr>
          </a:p>
        </p:txBody>
      </p:sp>
      <p:sp>
        <p:nvSpPr>
          <p:cNvPr id="24" name="ZoneTexte 23"/>
          <p:cNvSpPr txBox="1"/>
          <p:nvPr/>
        </p:nvSpPr>
        <p:spPr>
          <a:xfrm>
            <a:off x="4276092" y="4267966"/>
            <a:ext cx="1116010" cy="756000"/>
          </a:xfrm>
          <a:prstGeom prst="rect">
            <a:avLst/>
          </a:prstGeom>
          <a:noFill/>
        </p:spPr>
        <p:txBody>
          <a:bodyPr wrap="square" rtlCol="0">
            <a:spAutoFit/>
          </a:bodyPr>
          <a:lstStyle/>
          <a:p>
            <a:r>
              <a:rPr lang="fr-CA" sz="1050" b="1" dirty="0">
                <a:solidFill>
                  <a:srgbClr val="068390"/>
                </a:solidFill>
                <a:latin typeface="Calibri" pitchFamily="34" charset="0"/>
                <a:cs typeface="Calibri" pitchFamily="34" charset="0"/>
              </a:rPr>
              <a:t>Activation de l’adénylate cyclase par la protéine G</a:t>
            </a:r>
            <a:endParaRPr lang="fr-CA" sz="1050" dirty="0">
              <a:solidFill>
                <a:srgbClr val="068390"/>
              </a:solidFill>
              <a:latin typeface="Calibri" pitchFamily="34" charset="0"/>
              <a:cs typeface="Calibri" pitchFamily="34" charset="0"/>
            </a:endParaRPr>
          </a:p>
        </p:txBody>
      </p:sp>
      <p:sp>
        <p:nvSpPr>
          <p:cNvPr id="26" name="ZoneTexte 25"/>
          <p:cNvSpPr txBox="1"/>
          <p:nvPr/>
        </p:nvSpPr>
        <p:spPr>
          <a:xfrm>
            <a:off x="5571683" y="4267966"/>
            <a:ext cx="1241943" cy="900246"/>
          </a:xfrm>
          <a:prstGeom prst="rect">
            <a:avLst/>
          </a:prstGeom>
          <a:noFill/>
        </p:spPr>
        <p:txBody>
          <a:bodyPr wrap="square" rtlCol="0">
            <a:spAutoFit/>
          </a:bodyPr>
          <a:lstStyle/>
          <a:p>
            <a:r>
              <a:rPr lang="fr-CA" sz="1050" b="1" dirty="0">
                <a:solidFill>
                  <a:srgbClr val="068390"/>
                </a:solidFill>
                <a:latin typeface="Calibri" pitchFamily="34" charset="0"/>
                <a:cs typeface="Calibri" pitchFamily="34" charset="0"/>
              </a:rPr>
              <a:t>Conversion de l’ATP en AMPc (</a:t>
            </a:r>
            <a:r>
              <a:rPr lang="fr-CA" sz="1050" b="1" i="1" dirty="0">
                <a:solidFill>
                  <a:srgbClr val="068390"/>
                </a:solidFill>
                <a:latin typeface="Calibri" pitchFamily="34" charset="0"/>
                <a:cs typeface="Calibri" pitchFamily="34" charset="0"/>
              </a:rPr>
              <a:t>second messager</a:t>
            </a:r>
            <a:r>
              <a:rPr lang="fr-CA" sz="1050" b="1" dirty="0">
                <a:solidFill>
                  <a:srgbClr val="068390"/>
                </a:solidFill>
                <a:latin typeface="Calibri" pitchFamily="34" charset="0"/>
                <a:cs typeface="Calibri" pitchFamily="34" charset="0"/>
              </a:rPr>
              <a:t>) par l’adénylate cyclase</a:t>
            </a:r>
            <a:endParaRPr lang="fr-CA" sz="1050" dirty="0">
              <a:solidFill>
                <a:srgbClr val="068390"/>
              </a:solidFill>
              <a:latin typeface="Calibri" pitchFamily="34" charset="0"/>
              <a:cs typeface="Calibri" pitchFamily="34" charset="0"/>
            </a:endParaRPr>
          </a:p>
        </p:txBody>
      </p:sp>
      <p:sp>
        <p:nvSpPr>
          <p:cNvPr id="27" name="ZoneTexte 26"/>
          <p:cNvSpPr txBox="1"/>
          <p:nvPr/>
        </p:nvSpPr>
        <p:spPr>
          <a:xfrm>
            <a:off x="7865988" y="3041869"/>
            <a:ext cx="1249822" cy="577081"/>
          </a:xfrm>
          <a:prstGeom prst="rect">
            <a:avLst/>
          </a:prstGeom>
          <a:noFill/>
        </p:spPr>
        <p:txBody>
          <a:bodyPr wrap="square" rtlCol="0">
            <a:spAutoFit/>
          </a:bodyPr>
          <a:lstStyle/>
          <a:p>
            <a:r>
              <a:rPr lang="fr-CA" sz="1050" b="1" dirty="0">
                <a:solidFill>
                  <a:srgbClr val="068390"/>
                </a:solidFill>
                <a:latin typeface="Calibri" pitchFamily="34" charset="0"/>
                <a:cs typeface="Calibri" pitchFamily="34" charset="0"/>
              </a:rPr>
              <a:t>Activation de protéines-kinases par l’AMPc</a:t>
            </a:r>
            <a:endParaRPr lang="fr-CA" sz="1050" dirty="0">
              <a:solidFill>
                <a:srgbClr val="068390"/>
              </a:solidFill>
              <a:latin typeface="Calibri" pitchFamily="34" charset="0"/>
              <a:cs typeface="Calibri" pitchFamily="34" charset="0"/>
            </a:endParaRPr>
          </a:p>
        </p:txBody>
      </p:sp>
      <p:sp>
        <p:nvSpPr>
          <p:cNvPr id="28" name="ZoneTexte 27"/>
          <p:cNvSpPr txBox="1"/>
          <p:nvPr/>
        </p:nvSpPr>
        <p:spPr>
          <a:xfrm>
            <a:off x="6486526" y="3223987"/>
            <a:ext cx="423746" cy="161583"/>
          </a:xfrm>
          <a:prstGeom prst="rect">
            <a:avLst/>
          </a:prstGeom>
          <a:noFill/>
        </p:spPr>
        <p:txBody>
          <a:bodyPr wrap="square" lIns="18000" tIns="0" rIns="18000" bIns="0" rtlCol="0">
            <a:spAutoFit/>
          </a:bodyPr>
          <a:lstStyle/>
          <a:p>
            <a:r>
              <a:rPr lang="fr-CA" sz="1050" b="1" dirty="0">
                <a:latin typeface="+mj-lt"/>
                <a:cs typeface="Calibri" pitchFamily="34" charset="0"/>
              </a:rPr>
              <a:t>AMPc</a:t>
            </a:r>
          </a:p>
        </p:txBody>
      </p:sp>
      <p:grpSp>
        <p:nvGrpSpPr>
          <p:cNvPr id="25" name="Group 24">
            <a:extLst>
              <a:ext uri="{FF2B5EF4-FFF2-40B4-BE49-F238E27FC236}">
                <a16:creationId xmlns:a16="http://schemas.microsoft.com/office/drawing/2014/main" id="{BF337E2E-EDF3-4096-B9D1-50A69527AE80}"/>
              </a:ext>
            </a:extLst>
          </p:cNvPr>
          <p:cNvGrpSpPr/>
          <p:nvPr/>
        </p:nvGrpSpPr>
        <p:grpSpPr>
          <a:xfrm>
            <a:off x="393109" y="5444960"/>
            <a:ext cx="7527066" cy="1297561"/>
            <a:chOff x="977171" y="5051068"/>
            <a:chExt cx="7527066" cy="1297561"/>
          </a:xfrm>
        </p:grpSpPr>
        <p:sp>
          <p:nvSpPr>
            <p:cNvPr id="29" name="TextBox 28">
              <a:extLst>
                <a:ext uri="{FF2B5EF4-FFF2-40B4-BE49-F238E27FC236}">
                  <a16:creationId xmlns:a16="http://schemas.microsoft.com/office/drawing/2014/main" id="{CC5C39C7-FCCD-4609-83B6-B5777F6F3B3B}"/>
                </a:ext>
              </a:extLst>
            </p:cNvPr>
            <p:cNvSpPr txBox="1"/>
            <p:nvPr/>
          </p:nvSpPr>
          <p:spPr>
            <a:xfrm>
              <a:off x="977171" y="5825409"/>
              <a:ext cx="3312420" cy="523220"/>
            </a:xfrm>
            <a:prstGeom prst="rect">
              <a:avLst/>
            </a:prstGeom>
            <a:noFill/>
          </p:spPr>
          <p:txBody>
            <a:bodyPr wrap="square">
              <a:spAutoFit/>
            </a:bodyPr>
            <a:lstStyle/>
            <a:p>
              <a:pPr algn="ctr"/>
              <a:r>
                <a:rPr lang="fr-CA" sz="1000" dirty="0"/>
                <a:t>© </a:t>
              </a:r>
              <a:r>
                <a:rPr lang="fr-CA" sz="1000" dirty="0" err="1"/>
                <a:t>Yikrazuul</a:t>
              </a:r>
              <a:r>
                <a:rPr lang="fr-CA" sz="1000" dirty="0"/>
                <a:t>, </a:t>
              </a:r>
              <a:r>
                <a:rPr lang="fr-CA" sz="1000" dirty="0" err="1"/>
                <a:t>Wikimedia</a:t>
              </a:r>
              <a:endParaRPr lang="fr-CA" sz="1000" dirty="0"/>
            </a:p>
            <a:p>
              <a:r>
                <a:rPr lang="fr-CA" sz="900" dirty="0"/>
                <a:t>https://commons.wikimedia.org/wiki/Category:Adenylate_cyclase#/media/File:Adenylate_kinase.png</a:t>
              </a:r>
            </a:p>
          </p:txBody>
        </p:sp>
        <p:pic>
          <p:nvPicPr>
            <p:cNvPr id="30" name="Picture 29">
              <a:extLst>
                <a:ext uri="{FF2B5EF4-FFF2-40B4-BE49-F238E27FC236}">
                  <a16:creationId xmlns:a16="http://schemas.microsoft.com/office/drawing/2014/main" id="{14219E4A-38B8-49CB-91D1-21A88C3737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7140" y="5051068"/>
              <a:ext cx="4057097" cy="1297561"/>
            </a:xfrm>
            <a:prstGeom prst="rect">
              <a:avLst/>
            </a:prstGeom>
            <a:solidFill>
              <a:schemeClr val="bg1"/>
            </a:solidFill>
            <a:ln>
              <a:solidFill>
                <a:schemeClr val="accent1"/>
              </a:solidFill>
            </a:ln>
          </p:spPr>
        </p:pic>
        <p:sp>
          <p:nvSpPr>
            <p:cNvPr id="31" name="TextBox 30">
              <a:extLst>
                <a:ext uri="{FF2B5EF4-FFF2-40B4-BE49-F238E27FC236}">
                  <a16:creationId xmlns:a16="http://schemas.microsoft.com/office/drawing/2014/main" id="{67C267C2-BE62-41C0-A13E-AC0E776457F2}"/>
                </a:ext>
              </a:extLst>
            </p:cNvPr>
            <p:cNvSpPr txBox="1"/>
            <p:nvPr/>
          </p:nvSpPr>
          <p:spPr>
            <a:xfrm>
              <a:off x="5142534" y="5092835"/>
              <a:ext cx="424283" cy="184666"/>
            </a:xfrm>
            <a:prstGeom prst="rect">
              <a:avLst/>
            </a:prstGeom>
            <a:solidFill>
              <a:schemeClr val="bg1"/>
            </a:solidFill>
          </p:spPr>
          <p:txBody>
            <a:bodyPr wrap="none" tIns="0" bIns="0" rtlCol="0">
              <a:spAutoFit/>
            </a:bodyPr>
            <a:lstStyle/>
            <a:p>
              <a:r>
                <a:rPr lang="en-US" sz="1200" b="1" dirty="0">
                  <a:latin typeface="Calibri" panose="020F0502020204030204" pitchFamily="34" charset="0"/>
                  <a:cs typeface="Calibri" panose="020F0502020204030204" pitchFamily="34" charset="0"/>
                </a:rPr>
                <a:t>ATP</a:t>
              </a:r>
              <a:endParaRPr lang="en-CA" sz="1200" b="1" dirty="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AE367369-3C30-43A1-B169-C283B3BA83BC}"/>
                </a:ext>
              </a:extLst>
            </p:cNvPr>
            <p:cNvSpPr txBox="1"/>
            <p:nvPr/>
          </p:nvSpPr>
          <p:spPr>
            <a:xfrm>
              <a:off x="7374485" y="5092835"/>
              <a:ext cx="555280" cy="184666"/>
            </a:xfrm>
            <a:prstGeom prst="rect">
              <a:avLst/>
            </a:prstGeom>
            <a:solidFill>
              <a:schemeClr val="bg1"/>
            </a:solidFill>
          </p:spPr>
          <p:txBody>
            <a:bodyPr wrap="none" tIns="0" bIns="0" rtlCol="0">
              <a:spAutoFit/>
            </a:bodyPr>
            <a:lstStyle/>
            <a:p>
              <a:r>
                <a:rPr lang="en-US" sz="1200" b="1" dirty="0">
                  <a:latin typeface="Calibri" panose="020F0502020204030204" pitchFamily="34" charset="0"/>
                  <a:cs typeface="Calibri" panose="020F0502020204030204" pitchFamily="34" charset="0"/>
                </a:rPr>
                <a:t>AMPc</a:t>
              </a:r>
              <a:endParaRPr lang="en-CA" sz="1200" b="1" dirty="0">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050D55F6-4BD3-493F-B072-0AFF782CB146}"/>
                </a:ext>
              </a:extLst>
            </p:cNvPr>
            <p:cNvSpPr txBox="1"/>
            <p:nvPr/>
          </p:nvSpPr>
          <p:spPr>
            <a:xfrm>
              <a:off x="6520447" y="5459415"/>
              <a:ext cx="707780" cy="224357"/>
            </a:xfrm>
            <a:prstGeom prst="rect">
              <a:avLst/>
            </a:prstGeom>
            <a:solidFill>
              <a:schemeClr val="bg1"/>
            </a:solidFill>
          </p:spPr>
          <p:txBody>
            <a:bodyPr wrap="square" tIns="0" bIns="0" rtlCol="0">
              <a:spAutoFit/>
            </a:bodyPr>
            <a:lstStyle/>
            <a:p>
              <a:pPr algn="ctr">
                <a:lnSpc>
                  <a:spcPct val="80000"/>
                </a:lnSpc>
              </a:pPr>
              <a:r>
                <a:rPr lang="fr-CA" sz="900" b="1" dirty="0">
                  <a:latin typeface="Calibri" panose="020F0502020204030204" pitchFamily="34" charset="0"/>
                  <a:cs typeface="Calibri" panose="020F0502020204030204" pitchFamily="34" charset="0"/>
                </a:rPr>
                <a:t>Adénylate cyclase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nodeType="clickEffect">
                                  <p:stCondLst>
                                    <p:cond delay="0"/>
                                  </p:stCondLst>
                                  <p:childTnLst>
                                    <p:anim calcmode="lin" valueType="num">
                                      <p:cBhvr additive="base">
                                        <p:cTn id="10" dur="500"/>
                                        <p:tgtEl>
                                          <p:spTgt spid="25"/>
                                        </p:tgtEl>
                                        <p:attrNameLst>
                                          <p:attrName>ppt_x</p:attrName>
                                        </p:attrNameLst>
                                      </p:cBhvr>
                                      <p:tavLst>
                                        <p:tav tm="0">
                                          <p:val>
                                            <p:strVal val="ppt_x"/>
                                          </p:val>
                                        </p:tav>
                                        <p:tav tm="100000">
                                          <p:val>
                                            <p:strVal val="ppt_x"/>
                                          </p:val>
                                        </p:tav>
                                      </p:tavLst>
                                    </p:anim>
                                    <p:anim calcmode="lin" valueType="num">
                                      <p:cBhvr additive="base">
                                        <p:cTn id="11" dur="500"/>
                                        <p:tgtEl>
                                          <p:spTgt spid="25"/>
                                        </p:tgtEl>
                                        <p:attrNameLst>
                                          <p:attrName>ppt_y</p:attrName>
                                        </p:attrNameLst>
                                      </p:cBhvr>
                                      <p:tavLst>
                                        <p:tav tm="0">
                                          <p:val>
                                            <p:strVal val="ppt_y"/>
                                          </p:val>
                                        </p:tav>
                                        <p:tav tm="100000">
                                          <p:val>
                                            <p:strVal val="1+ppt_h/2"/>
                                          </p:val>
                                        </p:tav>
                                      </p:tavLst>
                                    </p:anim>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5" name="Rectangle 3"/>
          <p:cNvSpPr>
            <a:spLocks noChangeArrowheads="1"/>
          </p:cNvSpPr>
          <p:nvPr/>
        </p:nvSpPr>
        <p:spPr bwMode="auto">
          <a:xfrm>
            <a:off x="225832" y="352454"/>
            <a:ext cx="4605338" cy="41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p>
            <a:pPr marL="265113" indent="-265113" eaLnBrk="1" hangingPunct="1">
              <a:buClr>
                <a:schemeClr val="tx1"/>
              </a:buClr>
              <a:buSzPct val="120000"/>
            </a:pPr>
            <a:r>
              <a:rPr lang="fr-CA" b="1" dirty="0">
                <a:latin typeface="Arial" charset="0"/>
                <a:cs typeface="Arial" charset="0"/>
              </a:rPr>
              <a:t>ii.	</a:t>
            </a:r>
            <a:r>
              <a:rPr lang="fr-CA" b="1" u="sng" dirty="0">
                <a:latin typeface="Arial" charset="0"/>
                <a:cs typeface="Arial" charset="0"/>
              </a:rPr>
              <a:t>L’action des hormones liposolubles</a:t>
            </a:r>
            <a:r>
              <a:rPr lang="fr-CA" sz="1600" dirty="0">
                <a:latin typeface="Arial" charset="0"/>
                <a:cs typeface="Arial" charset="0"/>
              </a:rPr>
              <a:t> </a:t>
            </a:r>
          </a:p>
        </p:txBody>
      </p:sp>
      <p:pic>
        <p:nvPicPr>
          <p:cNvPr id="600066" name="Picture 2" descr="http://cw2.erpi.com/cw/marieb/userfiles/03_Fig_16_3_p_689.jpg"/>
          <p:cNvPicPr>
            <a:picLocks noChangeAspect="1" noChangeArrowheads="1"/>
          </p:cNvPicPr>
          <p:nvPr/>
        </p:nvPicPr>
        <p:blipFill>
          <a:blip r:embed="rId3" cstate="print"/>
          <a:srcRect l="2493" t="2268" r="2493" b="13228"/>
          <a:stretch>
            <a:fillRect/>
          </a:stretch>
        </p:blipFill>
        <p:spPr bwMode="auto">
          <a:xfrm>
            <a:off x="4333262" y="766916"/>
            <a:ext cx="4641525" cy="5446082"/>
          </a:xfrm>
          <a:prstGeom prst="rect">
            <a:avLst/>
          </a:prstGeom>
          <a:noFill/>
        </p:spPr>
      </p:pic>
      <p:sp>
        <p:nvSpPr>
          <p:cNvPr id="30" name="Rectangle 3"/>
          <p:cNvSpPr>
            <a:spLocks noChangeArrowheads="1"/>
          </p:cNvSpPr>
          <p:nvPr/>
        </p:nvSpPr>
        <p:spPr bwMode="auto">
          <a:xfrm>
            <a:off x="481470" y="718705"/>
            <a:ext cx="3719361" cy="251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p>
            <a:pPr eaLnBrk="1" hangingPunct="1">
              <a:spcBef>
                <a:spcPct val="25000"/>
              </a:spcBef>
              <a:spcAft>
                <a:spcPct val="25000"/>
              </a:spcAft>
              <a:buClr>
                <a:schemeClr val="tx1"/>
              </a:buClr>
              <a:buSzPct val="120000"/>
            </a:pPr>
            <a:r>
              <a:rPr lang="fr-CA" sz="1600" dirty="0">
                <a:latin typeface="Arial" charset="0"/>
                <a:cs typeface="Arial" charset="0"/>
              </a:rPr>
              <a:t>Ces hormones traversent la membrane plasmique et se lient à des récepteurs situés dans le cytosol ou le noyau.</a:t>
            </a:r>
          </a:p>
          <a:p>
            <a:pPr eaLnBrk="1" hangingPunct="1">
              <a:spcAft>
                <a:spcPct val="25000"/>
              </a:spcAft>
              <a:buClr>
                <a:schemeClr val="tx1"/>
              </a:buClr>
              <a:buSzPct val="120000"/>
            </a:pPr>
            <a:r>
              <a:rPr lang="fr-CA" sz="1600" dirty="0">
                <a:latin typeface="Arial" charset="0"/>
                <a:cs typeface="Arial" charset="0"/>
              </a:rPr>
              <a:t>Le complexe hormone-récepteur interagit avec l’ADN du noyau et déclenche la synthèse de protéines.</a:t>
            </a:r>
          </a:p>
          <a:p>
            <a:pPr eaLnBrk="1" hangingPunct="1">
              <a:spcBef>
                <a:spcPct val="25000"/>
              </a:spcBef>
              <a:buClr>
                <a:schemeClr val="tx1"/>
              </a:buClr>
              <a:buSzPct val="120000"/>
            </a:pPr>
            <a:r>
              <a:rPr lang="fr-CA" sz="1700" b="1" dirty="0">
                <a:latin typeface="Arial" charset="0"/>
                <a:cs typeface="Arial" charset="0"/>
              </a:rPr>
              <a:t>Exemple :</a:t>
            </a:r>
            <a:endParaRPr lang="fr-CA" sz="1700" dirty="0">
              <a:latin typeface="Arial" charset="0"/>
              <a:cs typeface="Arial" charset="0"/>
            </a:endParaRPr>
          </a:p>
          <a:p>
            <a:pPr eaLnBrk="1" hangingPunct="1">
              <a:spcBef>
                <a:spcPts val="0"/>
              </a:spcBef>
              <a:buClr>
                <a:schemeClr val="tx1"/>
              </a:buClr>
              <a:buSzPct val="120000"/>
            </a:pPr>
            <a:r>
              <a:rPr lang="fr-CA" sz="1700" b="1" dirty="0">
                <a:latin typeface="Arial" charset="0"/>
                <a:cs typeface="Arial" charset="0"/>
              </a:rPr>
              <a:t>les hormones stéroïdes</a:t>
            </a:r>
          </a:p>
        </p:txBody>
      </p:sp>
      <p:sp>
        <p:nvSpPr>
          <p:cNvPr id="2" name="Rectangle 1"/>
          <p:cNvSpPr/>
          <p:nvPr/>
        </p:nvSpPr>
        <p:spPr>
          <a:xfrm>
            <a:off x="225831" y="4728387"/>
            <a:ext cx="3719362" cy="1092607"/>
          </a:xfrm>
          <a:prstGeom prst="rect">
            <a:avLst/>
          </a:prstGeom>
          <a:ln>
            <a:solidFill>
              <a:srgbClr val="FF0000"/>
            </a:solidFill>
          </a:ln>
        </p:spPr>
        <p:txBody>
          <a:bodyPr wrap="square">
            <a:spAutoFit/>
          </a:bodyPr>
          <a:lstStyle/>
          <a:p>
            <a:pPr marL="0" indent="0"/>
            <a:r>
              <a:rPr lang="fr-CA" sz="1300" dirty="0">
                <a:solidFill>
                  <a:srgbClr val="FF0000"/>
                </a:solidFill>
                <a:latin typeface="Calibri" panose="020F0502020204030204" pitchFamily="34" charset="0"/>
                <a:cs typeface="Arial" charset="0"/>
              </a:rPr>
              <a:t>Si l’on compare l’action des hormones hydrosolubles à celles liposolubles, lesquelles sont les mieux adaptées pour :</a:t>
            </a:r>
          </a:p>
          <a:p>
            <a:pPr marL="265113" indent="-265113">
              <a:buAutoNum type="alphaLcParenR"/>
            </a:pPr>
            <a:r>
              <a:rPr lang="fr-CA" sz="1300" dirty="0">
                <a:solidFill>
                  <a:srgbClr val="FF0000"/>
                </a:solidFill>
                <a:latin typeface="Calibri" panose="020F0502020204030204" pitchFamily="34" charset="0"/>
                <a:cs typeface="Arial" charset="0"/>
              </a:rPr>
              <a:t>une réponse rapide ?</a:t>
            </a:r>
          </a:p>
          <a:p>
            <a:pPr marL="265113" indent="-265113">
              <a:buAutoNum type="alphaLcParenR"/>
            </a:pPr>
            <a:r>
              <a:rPr lang="fr-CA" sz="1300" dirty="0">
                <a:solidFill>
                  <a:srgbClr val="FF0000"/>
                </a:solidFill>
                <a:latin typeface="Calibri" panose="020F0502020204030204" pitchFamily="34" charset="0"/>
                <a:cs typeface="Arial" charset="0"/>
              </a:rPr>
              <a:t>une réponse  prolongée ?</a:t>
            </a:r>
          </a:p>
        </p:txBody>
      </p:sp>
      <p:sp>
        <p:nvSpPr>
          <p:cNvPr id="597009" name="Text Box 17"/>
          <p:cNvSpPr txBox="1">
            <a:spLocks noChangeArrowheads="1"/>
          </p:cNvSpPr>
          <p:nvPr/>
        </p:nvSpPr>
        <p:spPr bwMode="auto">
          <a:xfrm>
            <a:off x="7917837" y="6066804"/>
            <a:ext cx="1056950" cy="29238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300" dirty="0">
                <a:solidFill>
                  <a:schemeClr val="accent2"/>
                </a:solidFill>
                <a:latin typeface="Arial" charset="0"/>
              </a:rPr>
              <a:t>Figure 16.3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ChangeArrowheads="1"/>
          </p:cNvSpPr>
          <p:nvPr/>
        </p:nvSpPr>
        <p:spPr bwMode="auto">
          <a:xfrm>
            <a:off x="253619" y="292506"/>
            <a:ext cx="8890381"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eaLnBrk="1" hangingPunct="1">
              <a:buClr>
                <a:schemeClr val="tx1"/>
              </a:buClr>
              <a:buSzPct val="120000"/>
            </a:pPr>
            <a:r>
              <a:rPr lang="fr-CA" sz="2000" b="1" dirty="0">
                <a:latin typeface="Arial" charset="0"/>
                <a:cs typeface="Arial" charset="0"/>
              </a:rPr>
              <a:t>D) Régulation de la libération des hormones</a:t>
            </a:r>
            <a:endParaRPr lang="fr-CA" sz="2000" b="1" dirty="0">
              <a:solidFill>
                <a:srgbClr val="000000"/>
              </a:solidFill>
              <a:latin typeface="Arial" charset="0"/>
              <a:cs typeface="Arial" charset="0"/>
            </a:endParaRPr>
          </a:p>
          <a:p>
            <a:pPr marL="339725" lvl="1" indent="17463" eaLnBrk="1" hangingPunct="1">
              <a:spcBef>
                <a:spcPct val="20000"/>
              </a:spcBef>
              <a:spcAft>
                <a:spcPct val="10000"/>
              </a:spcAft>
              <a:buClr>
                <a:schemeClr val="tx1"/>
              </a:buClr>
              <a:buSzPct val="85000"/>
              <a:buFont typeface="Wingdings" pitchFamily="2" charset="2"/>
              <a:buNone/>
            </a:pPr>
            <a:r>
              <a:rPr lang="fr-CA" sz="1500" dirty="0">
                <a:solidFill>
                  <a:srgbClr val="000000"/>
                </a:solidFill>
                <a:latin typeface="Arial" charset="0"/>
                <a:cs typeface="Arial" charset="0"/>
                <a:sym typeface="Symbol" pitchFamily="18" charset="2"/>
              </a:rPr>
              <a:t>Trois types majeurs de stimulus :   Stimulus humoraux    Stimulus nerveux     Stimulus hormonaux</a:t>
            </a:r>
          </a:p>
        </p:txBody>
      </p:sp>
      <p:pic>
        <p:nvPicPr>
          <p:cNvPr id="599066" name="Picture 26" descr="http://cw2.erpi.com/cw/marieb/userfiles/04_Fig_16_4_p_691.jpg"/>
          <p:cNvPicPr>
            <a:picLocks noChangeAspect="1" noChangeArrowheads="1"/>
          </p:cNvPicPr>
          <p:nvPr/>
        </p:nvPicPr>
        <p:blipFill>
          <a:blip r:embed="rId3" cstate="print"/>
          <a:srcRect l="2268" t="3032" r="2268" b="5558"/>
          <a:stretch>
            <a:fillRect/>
          </a:stretch>
        </p:blipFill>
        <p:spPr bwMode="auto">
          <a:xfrm>
            <a:off x="905736" y="1052480"/>
            <a:ext cx="7229811" cy="5178051"/>
          </a:xfrm>
          <a:prstGeom prst="rect">
            <a:avLst/>
          </a:prstGeom>
          <a:noFill/>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ChangeArrowheads="1"/>
          </p:cNvSpPr>
          <p:nvPr/>
        </p:nvSpPr>
        <p:spPr bwMode="auto">
          <a:xfrm>
            <a:off x="160469" y="276224"/>
            <a:ext cx="5583238"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Clr>
                <a:schemeClr val="tx1"/>
              </a:buClr>
              <a:buSzPct val="120000"/>
            </a:pPr>
            <a:r>
              <a:rPr lang="fr-CA" sz="2000" b="1" dirty="0">
                <a:latin typeface="Arial" charset="0"/>
                <a:cs typeface="Arial" charset="0"/>
              </a:rPr>
              <a:t>E) L’axe hypothalamo-hypophysaire</a:t>
            </a:r>
            <a:endParaRPr lang="fr-CA" sz="2000" b="1" dirty="0">
              <a:solidFill>
                <a:srgbClr val="000000"/>
              </a:solidFill>
              <a:latin typeface="Arial" charset="0"/>
              <a:cs typeface="Arial" charset="0"/>
            </a:endParaRPr>
          </a:p>
          <a:p>
            <a:pPr marL="339725" lvl="1" indent="-225425" eaLnBrk="1" hangingPunct="1">
              <a:spcAft>
                <a:spcPct val="10000"/>
              </a:spcAft>
              <a:buClr>
                <a:schemeClr val="tx1"/>
              </a:buClr>
              <a:buSzPct val="85000"/>
              <a:buFont typeface="Wingdings" pitchFamily="2" charset="2"/>
              <a:buNone/>
            </a:pPr>
            <a:endParaRPr lang="fr-CA" sz="2000" dirty="0">
              <a:solidFill>
                <a:srgbClr val="000000"/>
              </a:solidFill>
              <a:latin typeface="Arial" charset="0"/>
              <a:cs typeface="Arial" charset="0"/>
              <a:sym typeface="Symbol" pitchFamily="18" charset="2"/>
            </a:endParaRPr>
          </a:p>
        </p:txBody>
      </p:sp>
      <p:sp>
        <p:nvSpPr>
          <p:cNvPr id="602121" name="Text Box 9"/>
          <p:cNvSpPr txBox="1">
            <a:spLocks noChangeArrowheads="1"/>
          </p:cNvSpPr>
          <p:nvPr/>
        </p:nvSpPr>
        <p:spPr bwMode="auto">
          <a:xfrm>
            <a:off x="388921" y="1773632"/>
            <a:ext cx="4361984" cy="3646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92075" indent="-92075">
              <a:defRPr sz="2400">
                <a:solidFill>
                  <a:schemeClr val="tx1"/>
                </a:solidFill>
                <a:latin typeface="Times New Roman" pitchFamily="18" charset="0"/>
              </a:defRPr>
            </a:lvl1pPr>
            <a:lvl2pPr marL="444500" indent="-173038">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0" indent="0"/>
            <a:r>
              <a:rPr lang="fr-CA" sz="1500" dirty="0">
                <a:latin typeface="Arial" charset="0"/>
                <a:cs typeface="Arial" charset="0"/>
              </a:rPr>
              <a:t>Constituée de deux lobes :</a:t>
            </a:r>
          </a:p>
          <a:p>
            <a:pPr>
              <a:spcBef>
                <a:spcPts val="300"/>
              </a:spcBef>
              <a:spcAft>
                <a:spcPct val="10000"/>
              </a:spcAft>
              <a:buSzPct val="85000"/>
              <a:buFont typeface="Wingdings" pitchFamily="2" charset="2"/>
              <a:buChar char="§"/>
            </a:pPr>
            <a:r>
              <a:rPr lang="fr-CA" sz="1400" dirty="0">
                <a:latin typeface="Arial" charset="0"/>
                <a:cs typeface="Arial" charset="0"/>
              </a:rPr>
              <a:t> </a:t>
            </a:r>
            <a:r>
              <a:rPr lang="fr-CA" sz="1400" u="sng" dirty="0">
                <a:latin typeface="Arial" charset="0"/>
                <a:cs typeface="Arial" charset="0"/>
              </a:rPr>
              <a:t>Lobe postérieur</a:t>
            </a:r>
            <a:r>
              <a:rPr lang="fr-CA" sz="1400" dirty="0">
                <a:latin typeface="Arial" charset="0"/>
                <a:cs typeface="Arial" charset="0"/>
              </a:rPr>
              <a:t> (25%) </a:t>
            </a:r>
            <a:r>
              <a:rPr lang="fr-CA" sz="1400" b="1" i="1" dirty="0">
                <a:latin typeface="Arial" charset="0"/>
                <a:cs typeface="Arial" charset="0"/>
              </a:rPr>
              <a:t>= Neurohypophyse</a:t>
            </a:r>
            <a:endParaRPr lang="fr-CA" sz="1400" dirty="0">
              <a:latin typeface="Arial" charset="0"/>
              <a:cs typeface="Arial" charset="0"/>
            </a:endParaRPr>
          </a:p>
          <a:p>
            <a:pPr marL="357188" lvl="1" indent="-177800">
              <a:spcBef>
                <a:spcPts val="200"/>
              </a:spcBef>
              <a:spcAft>
                <a:spcPts val="0"/>
              </a:spcAft>
              <a:buSzPct val="90000"/>
              <a:buFont typeface="Arial" pitchFamily="34" charset="0"/>
              <a:buChar char="–"/>
            </a:pPr>
            <a:r>
              <a:rPr lang="fr-CA" sz="1400" dirty="0">
                <a:latin typeface="Arial" charset="0"/>
                <a:cs typeface="Arial" charset="0"/>
              </a:rPr>
              <a:t>Composé principalement de tissu nerveux</a:t>
            </a:r>
          </a:p>
          <a:p>
            <a:pPr marL="357188" lvl="1" indent="-177800">
              <a:spcBef>
                <a:spcPts val="200"/>
              </a:spcBef>
              <a:spcAft>
                <a:spcPts val="0"/>
              </a:spcAft>
              <a:buSzPct val="90000"/>
              <a:buFont typeface="Arial" pitchFamily="34" charset="0"/>
              <a:buChar char="–"/>
            </a:pPr>
            <a:r>
              <a:rPr lang="fr-CA" sz="1400" dirty="0">
                <a:latin typeface="Arial" charset="0"/>
                <a:cs typeface="Arial" charset="0"/>
              </a:rPr>
              <a:t>Contient des terminaisons axonales dont les corps cellulaires sont situés dans l’hypothalamus. Leurs axones forment le </a:t>
            </a:r>
            <a:r>
              <a:rPr lang="fr-CA" sz="1400" i="1" dirty="0">
                <a:latin typeface="Arial" charset="0"/>
                <a:cs typeface="Arial" charset="0"/>
              </a:rPr>
              <a:t>tractus hypothalamo-hypophysaire </a:t>
            </a:r>
            <a:r>
              <a:rPr lang="fr-CA" sz="1400" dirty="0">
                <a:latin typeface="Arial" charset="0"/>
                <a:cs typeface="Arial" charset="0"/>
              </a:rPr>
              <a:t>de l’infundibulum</a:t>
            </a:r>
            <a:r>
              <a:rPr lang="fr-CA" sz="1400" i="1" dirty="0">
                <a:latin typeface="Arial" charset="0"/>
                <a:cs typeface="Arial" charset="0"/>
              </a:rPr>
              <a:t>.</a:t>
            </a:r>
            <a:endParaRPr lang="fr-CA" sz="1400" b="1" i="1" dirty="0">
              <a:latin typeface="Arial" charset="0"/>
              <a:cs typeface="Arial" charset="0"/>
            </a:endParaRPr>
          </a:p>
          <a:p>
            <a:pPr>
              <a:spcBef>
                <a:spcPct val="50000"/>
              </a:spcBef>
              <a:spcAft>
                <a:spcPct val="10000"/>
              </a:spcAft>
              <a:buSzPct val="85000"/>
              <a:buFont typeface="Wingdings" pitchFamily="2" charset="2"/>
              <a:buChar char="§"/>
            </a:pPr>
            <a:r>
              <a:rPr lang="fr-CA" sz="1400" dirty="0">
                <a:latin typeface="Arial" charset="0"/>
                <a:cs typeface="Arial" charset="0"/>
              </a:rPr>
              <a:t> </a:t>
            </a:r>
            <a:r>
              <a:rPr lang="fr-CA" sz="1400" u="sng" dirty="0">
                <a:latin typeface="Arial" charset="0"/>
                <a:cs typeface="Arial" charset="0"/>
              </a:rPr>
              <a:t>Lobe antérieur</a:t>
            </a:r>
            <a:r>
              <a:rPr lang="fr-CA" sz="1400" dirty="0">
                <a:latin typeface="Arial" charset="0"/>
                <a:cs typeface="Arial" charset="0"/>
              </a:rPr>
              <a:t> (75%) </a:t>
            </a:r>
            <a:r>
              <a:rPr lang="fr-CA" sz="1400" b="1" i="1" dirty="0">
                <a:latin typeface="Arial" charset="0"/>
                <a:cs typeface="Arial" charset="0"/>
              </a:rPr>
              <a:t>= Adénohypophyse</a:t>
            </a:r>
            <a:endParaRPr lang="fr-CA" sz="1400" dirty="0">
              <a:latin typeface="Arial" charset="0"/>
              <a:cs typeface="Arial" charset="0"/>
            </a:endParaRPr>
          </a:p>
          <a:p>
            <a:pPr marL="357188" lvl="1" indent="-177800">
              <a:spcBef>
                <a:spcPts val="200"/>
              </a:spcBef>
              <a:spcAft>
                <a:spcPts val="0"/>
              </a:spcAft>
              <a:buSzPct val="90000"/>
              <a:buFont typeface="Arial" pitchFamily="34" charset="0"/>
              <a:buChar char="–"/>
            </a:pPr>
            <a:r>
              <a:rPr lang="fr-CA" sz="1400" dirty="0">
                <a:latin typeface="Arial" charset="0"/>
                <a:cs typeface="Arial" charset="0"/>
              </a:rPr>
              <a:t>Composé principalement de tissu glandulaire qui produit et libère des hormones.</a:t>
            </a:r>
          </a:p>
          <a:p>
            <a:pPr marL="357188" lvl="1" indent="-177800">
              <a:spcBef>
                <a:spcPts val="200"/>
              </a:spcBef>
              <a:spcAft>
                <a:spcPts val="0"/>
              </a:spcAft>
              <a:buSzPct val="90000"/>
              <a:buFont typeface="Arial" pitchFamily="34" charset="0"/>
              <a:buChar char="–"/>
            </a:pPr>
            <a:r>
              <a:rPr lang="fr-CA" sz="1400" dirty="0">
                <a:latin typeface="Arial" charset="0"/>
                <a:cs typeface="Arial" charset="0"/>
              </a:rPr>
              <a:t>Reliée à l’hypothalamus par le </a:t>
            </a:r>
            <a:r>
              <a:rPr lang="fr-CA" sz="1400" i="1" dirty="0">
                <a:latin typeface="Arial" charset="0"/>
                <a:cs typeface="Arial" charset="0"/>
              </a:rPr>
              <a:t>système porte hypothalamo-hypophysaire</a:t>
            </a:r>
            <a:r>
              <a:rPr lang="fr-CA" sz="1400" dirty="0">
                <a:latin typeface="Arial" charset="0"/>
                <a:cs typeface="Arial" charset="0"/>
              </a:rPr>
              <a:t>, où le sang passe des capillaires de l’hypothalamus dans les veines portes qui le transportent vers les capillaires de l’hypophyse.</a:t>
            </a:r>
          </a:p>
        </p:txBody>
      </p:sp>
      <p:sp>
        <p:nvSpPr>
          <p:cNvPr id="602122" name="Text Box 10"/>
          <p:cNvSpPr txBox="1">
            <a:spLocks noChangeArrowheads="1"/>
          </p:cNvSpPr>
          <p:nvPr/>
        </p:nvSpPr>
        <p:spPr bwMode="auto">
          <a:xfrm>
            <a:off x="157352" y="719137"/>
            <a:ext cx="4484647" cy="1127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68275" indent="-168275">
              <a:defRPr sz="2400">
                <a:solidFill>
                  <a:schemeClr val="tx1"/>
                </a:solidFill>
                <a:latin typeface="Times New Roman" pitchFamily="18" charset="0"/>
              </a:defRPr>
            </a:lvl1pPr>
            <a:lvl2pPr marL="522288" indent="-139700">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65113" indent="-265113">
              <a:buSzPct val="110000"/>
              <a:buFont typeface="+mj-lt"/>
              <a:buAutoNum type="romanLcPeriod"/>
            </a:pPr>
            <a:r>
              <a:rPr lang="fr-CA" sz="1800" b="1" u="sng" dirty="0">
                <a:latin typeface="Arial" charset="0"/>
                <a:cs typeface="Arial" charset="0"/>
              </a:rPr>
              <a:t>Anatomie de l’hypophyse</a:t>
            </a:r>
            <a:endParaRPr lang="fr-CA" sz="1800" b="1" dirty="0">
              <a:latin typeface="Arial" charset="0"/>
              <a:cs typeface="Arial" charset="0"/>
            </a:endParaRPr>
          </a:p>
          <a:p>
            <a:pPr marL="268288" lvl="1" indent="0">
              <a:spcBef>
                <a:spcPts val="400"/>
              </a:spcBef>
              <a:buSzPct val="120000"/>
            </a:pPr>
            <a:r>
              <a:rPr lang="fr-CA" sz="1500" dirty="0">
                <a:latin typeface="Arial" charset="0"/>
                <a:cs typeface="Arial" charset="0"/>
              </a:rPr>
              <a:t>Petite structure en forme de pois (1-1,5 cm) ; reliée à l’hypothalamus par une tige, l’</a:t>
            </a:r>
            <a:r>
              <a:rPr lang="fr-CA" sz="1500" i="1" dirty="0">
                <a:latin typeface="Arial" charset="0"/>
                <a:cs typeface="Arial" charset="0"/>
              </a:rPr>
              <a:t>infundibulum.</a:t>
            </a:r>
            <a:endParaRPr lang="fr-CA" sz="1500" dirty="0">
              <a:latin typeface="Arial" charset="0"/>
              <a:cs typeface="Arial" charset="0"/>
            </a:endParaRPr>
          </a:p>
        </p:txBody>
      </p:sp>
      <p:pic>
        <p:nvPicPr>
          <p:cNvPr id="602143" name="Picture 31" descr="http://cw2.erpi.com/cw/marieb/userfiles/05_Fig_16_5_p_693.jpg"/>
          <p:cNvPicPr>
            <a:picLocks noChangeAspect="1" noChangeArrowheads="1"/>
          </p:cNvPicPr>
          <p:nvPr/>
        </p:nvPicPr>
        <p:blipFill>
          <a:blip r:embed="rId3" cstate="print"/>
          <a:srcRect l="2451" t="1890" r="2451" b="7559"/>
          <a:stretch>
            <a:fillRect/>
          </a:stretch>
        </p:blipFill>
        <p:spPr bwMode="auto">
          <a:xfrm>
            <a:off x="4641999" y="803788"/>
            <a:ext cx="4465553" cy="5515032"/>
          </a:xfrm>
          <a:prstGeom prst="rect">
            <a:avLst/>
          </a:prstGeom>
          <a:noFill/>
        </p:spPr>
      </p:pic>
      <p:sp>
        <p:nvSpPr>
          <p:cNvPr id="602116" name="Text Box 4"/>
          <p:cNvSpPr txBox="1">
            <a:spLocks noChangeArrowheads="1"/>
          </p:cNvSpPr>
          <p:nvPr/>
        </p:nvSpPr>
        <p:spPr bwMode="auto">
          <a:xfrm>
            <a:off x="7744705" y="484236"/>
            <a:ext cx="1200191" cy="288147"/>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72000" bIns="36000">
            <a:spAutoFit/>
          </a:bodyPr>
          <a:lstStyle/>
          <a:p>
            <a:pPr algn="ctr"/>
            <a:r>
              <a:rPr lang="en-US" sz="1400" dirty="0">
                <a:solidFill>
                  <a:schemeClr val="accent2"/>
                </a:solidFill>
                <a:latin typeface="Arial" charset="0"/>
              </a:rPr>
              <a:t>“Zoom” 16.2</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5297" name="Group 113"/>
          <p:cNvGraphicFramePr>
            <a:graphicFrameLocks noGrp="1"/>
          </p:cNvGraphicFramePr>
          <p:nvPr>
            <p:ph idx="4294967295"/>
            <p:extLst>
              <p:ext uri="{D42A27DB-BD31-4B8C-83A1-F6EECF244321}">
                <p14:modId xmlns:p14="http://schemas.microsoft.com/office/powerpoint/2010/main" val="797541200"/>
              </p:ext>
            </p:extLst>
          </p:nvPr>
        </p:nvGraphicFramePr>
        <p:xfrm>
          <a:off x="636927" y="2472988"/>
          <a:ext cx="8090863" cy="3290507"/>
        </p:xfrm>
        <a:graphic>
          <a:graphicData uri="http://schemas.openxmlformats.org/drawingml/2006/table">
            <a:tbl>
              <a:tblPr/>
              <a:tblGrid>
                <a:gridCol w="1456734">
                  <a:extLst>
                    <a:ext uri="{9D8B030D-6E8A-4147-A177-3AD203B41FA5}">
                      <a16:colId xmlns:a16="http://schemas.microsoft.com/office/drawing/2014/main" val="20000"/>
                    </a:ext>
                  </a:extLst>
                </a:gridCol>
                <a:gridCol w="2889436">
                  <a:extLst>
                    <a:ext uri="{9D8B030D-6E8A-4147-A177-3AD203B41FA5}">
                      <a16:colId xmlns:a16="http://schemas.microsoft.com/office/drawing/2014/main" val="20001"/>
                    </a:ext>
                  </a:extLst>
                </a:gridCol>
                <a:gridCol w="3744693">
                  <a:extLst>
                    <a:ext uri="{9D8B030D-6E8A-4147-A177-3AD203B41FA5}">
                      <a16:colId xmlns:a16="http://schemas.microsoft.com/office/drawing/2014/main" val="20002"/>
                    </a:ext>
                  </a:extLst>
                </a:gridCol>
              </a:tblGrid>
              <a:tr h="461963">
                <a:tc>
                  <a:txBody>
                    <a:bodyPr/>
                    <a:lstStyle/>
                    <a:p>
                      <a:pPr marL="0" marR="0" lvl="0" indent="0" algn="ctr"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endParaRPr kumimoji="0" lang="fr-CA" sz="1600" b="1" i="1" u="none" strike="noStrike" cap="none" normalizeH="0" baseline="0">
                        <a:ln>
                          <a:noFill/>
                        </a:ln>
                        <a:solidFill>
                          <a:schemeClr val="accent2"/>
                        </a:solidFill>
                        <a:effectLst/>
                        <a:latin typeface="Arial" charset="0"/>
                      </a:endParaRP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r>
                        <a:rPr kumimoji="0" lang="fr-CA" sz="1600" b="1" i="0" u="none" strike="noStrike" cap="none" normalizeH="0" baseline="0">
                          <a:ln>
                            <a:noFill/>
                          </a:ln>
                          <a:solidFill>
                            <a:schemeClr val="accent2"/>
                          </a:solidFill>
                          <a:effectLst/>
                          <a:latin typeface="Arial" charset="0"/>
                        </a:rPr>
                        <a:t>Principaux effets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r>
                        <a:rPr kumimoji="0" lang="fr-CA" sz="1600" b="1" i="0" u="none" strike="noStrike" cap="none" normalizeH="0" baseline="0">
                          <a:ln>
                            <a:noFill/>
                          </a:ln>
                          <a:solidFill>
                            <a:schemeClr val="accent2"/>
                          </a:solidFill>
                          <a:effectLst/>
                          <a:latin typeface="Arial" charset="0"/>
                        </a:rPr>
                        <a:t>Régulation de la sécrétion</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7250">
                <a:tc>
                  <a:txBody>
                    <a:bodyPr/>
                    <a:lstStyle/>
                    <a:p>
                      <a:pPr marL="0" marR="0" lvl="0" indent="0" algn="l"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r>
                        <a:rPr kumimoji="0" lang="fr-CA" sz="1500" b="1" i="1" u="none" strike="noStrike" cap="none" normalizeH="0" baseline="0" dirty="0">
                          <a:ln>
                            <a:noFill/>
                          </a:ln>
                          <a:solidFill>
                            <a:schemeClr val="tx1"/>
                          </a:solidFill>
                          <a:effectLst/>
                          <a:latin typeface="Arial" charset="0"/>
                        </a:rPr>
                        <a:t>Hormone antidiurétique (ADH)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l" defTabSz="914400" rtl="0" eaLnBrk="1" fontAlgn="base" latinLnBrk="0" hangingPunct="1">
                        <a:lnSpc>
                          <a:spcPct val="100000"/>
                        </a:lnSpc>
                        <a:spcBef>
                          <a:spcPct val="0"/>
                        </a:spcBef>
                        <a:spcAft>
                          <a:spcPct val="50000"/>
                        </a:spcAft>
                        <a:buClr>
                          <a:schemeClr val="tx1"/>
                        </a:buClr>
                        <a:buSzPct val="80000"/>
                        <a:buFont typeface="Wingdings" pitchFamily="2" charset="2"/>
                        <a:buChar char="§"/>
                        <a:tabLst/>
                      </a:pPr>
                      <a:r>
                        <a:rPr kumimoji="0" lang="fr-CA" sz="1400" b="0" i="0" u="none" strike="noStrike" cap="none" normalizeH="0" baseline="0" dirty="0">
                          <a:ln>
                            <a:noFill/>
                          </a:ln>
                          <a:solidFill>
                            <a:schemeClr val="tx1"/>
                          </a:solidFill>
                          <a:effectLst/>
                          <a:latin typeface="Arial" charset="0"/>
                        </a:rPr>
                        <a:t>Reins : conserve l’eau du corps en stimulant la réabsorption de l’eau par les reins</a:t>
                      </a:r>
                    </a:p>
                    <a:p>
                      <a:pPr marL="185738" marR="0" lvl="0" indent="-185738" algn="l" defTabSz="914400" rtl="0" eaLnBrk="1" fontAlgn="base" latinLnBrk="0" hangingPunct="1">
                        <a:lnSpc>
                          <a:spcPct val="100000"/>
                        </a:lnSpc>
                        <a:spcBef>
                          <a:spcPct val="0"/>
                        </a:spcBef>
                        <a:spcAft>
                          <a:spcPct val="50000"/>
                        </a:spcAft>
                        <a:buClr>
                          <a:schemeClr val="tx1"/>
                        </a:buClr>
                        <a:buSzPct val="80000"/>
                        <a:buFont typeface="Wingdings" pitchFamily="2" charset="2"/>
                        <a:buChar char="§"/>
                        <a:tabLst/>
                      </a:pPr>
                      <a:r>
                        <a:rPr kumimoji="0" lang="fr-CA" sz="1400" b="0" i="0" u="none" strike="noStrike" cap="none" normalizeH="0" baseline="0" dirty="0">
                          <a:ln>
                            <a:noFill/>
                          </a:ln>
                          <a:solidFill>
                            <a:schemeClr val="tx1"/>
                          </a:solidFill>
                          <a:effectLst/>
                          <a:latin typeface="Arial" charset="0"/>
                        </a:rPr>
                        <a:t>Vaisseaux sanguins : augmente la pression sanguine par constriction des vaisseaux sanguins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marR="0" lvl="0" indent="0" algn="l" defTabSz="914400" rtl="0" eaLnBrk="1" fontAlgn="base" latinLnBrk="0" hangingPunct="1">
                        <a:lnSpc>
                          <a:spcPct val="100000"/>
                        </a:lnSpc>
                        <a:spcBef>
                          <a:spcPct val="0"/>
                        </a:spcBef>
                        <a:spcAft>
                          <a:spcPct val="10000"/>
                        </a:spcAft>
                        <a:buClr>
                          <a:srgbClr val="0989C9"/>
                        </a:buClr>
                        <a:buSzPct val="60000"/>
                        <a:buFont typeface="Wingdings" pitchFamily="2" charset="2"/>
                        <a:buNone/>
                        <a:tabLst/>
                      </a:pPr>
                      <a:r>
                        <a:rPr kumimoji="0" lang="fr-CA" sz="1400" b="0" i="0" u="none" strike="noStrike" cap="none" normalizeH="0" baseline="0" dirty="0">
                          <a:ln>
                            <a:noFill/>
                          </a:ln>
                          <a:solidFill>
                            <a:schemeClr val="tx1"/>
                          </a:solidFill>
                          <a:effectLst/>
                          <a:latin typeface="Arial" charset="0"/>
                        </a:rPr>
                        <a:t>Contrôlée par des </a:t>
                      </a:r>
                      <a:r>
                        <a:rPr kumimoji="0" lang="fr-CA" sz="1400" b="0" i="1" u="none" strike="noStrike" cap="none" normalizeH="0" baseline="0" dirty="0">
                          <a:ln>
                            <a:noFill/>
                          </a:ln>
                          <a:solidFill>
                            <a:schemeClr val="tx1"/>
                          </a:solidFill>
                          <a:effectLst/>
                          <a:latin typeface="Arial" charset="0"/>
                        </a:rPr>
                        <a:t>osmorécepteurs</a:t>
                      </a:r>
                      <a:r>
                        <a:rPr kumimoji="0" lang="fr-CA" sz="1400" b="0" i="0" u="none" strike="noStrike" cap="none" normalizeH="0" baseline="0" dirty="0">
                          <a:ln>
                            <a:noFill/>
                          </a:ln>
                          <a:solidFill>
                            <a:schemeClr val="tx1"/>
                          </a:solidFill>
                          <a:effectLst/>
                          <a:latin typeface="Arial" charset="0"/>
                        </a:rPr>
                        <a:t> dans l’hypothalamus, lesquels font synapse avec les neurones qui sécrètent l’ADH.</a:t>
                      </a:r>
                    </a:p>
                    <a:p>
                      <a:pPr marL="88900" marR="0" lvl="0" indent="0" algn="l" defTabSz="914400" rtl="0" eaLnBrk="1" fontAlgn="base" latinLnBrk="0" hangingPunct="1">
                        <a:lnSpc>
                          <a:spcPct val="100000"/>
                        </a:lnSpc>
                        <a:spcBef>
                          <a:spcPct val="0"/>
                        </a:spcBef>
                        <a:spcAft>
                          <a:spcPct val="10000"/>
                        </a:spcAft>
                        <a:buClr>
                          <a:srgbClr val="0989C9"/>
                        </a:buClr>
                        <a:buSzPct val="60000"/>
                        <a:buFont typeface="Wingdings" pitchFamily="2" charset="2"/>
                        <a:buNone/>
                        <a:tabLst/>
                      </a:pPr>
                      <a:r>
                        <a:rPr kumimoji="0" lang="fr-CA" sz="1400" b="0" i="0" u="none" strike="noStrike" cap="none" normalizeH="0" baseline="0" dirty="0">
                          <a:ln>
                            <a:noFill/>
                          </a:ln>
                          <a:solidFill>
                            <a:schemeClr val="tx1"/>
                          </a:solidFill>
                          <a:effectLst/>
                          <a:latin typeface="Arial" charset="0"/>
                        </a:rPr>
                        <a:t>Libérée lors de l’élévation de l’osmolarité sanguine ou de la diminution de la pression sanguine.</a:t>
                      </a:r>
                    </a:p>
                    <a:p>
                      <a:pPr marL="88900" marR="0" lvl="0" indent="0" algn="l" defTabSz="914400" rtl="0" eaLnBrk="1" fontAlgn="base" latinLnBrk="0" hangingPunct="1">
                        <a:lnSpc>
                          <a:spcPct val="100000"/>
                        </a:lnSpc>
                        <a:spcBef>
                          <a:spcPct val="0"/>
                        </a:spcBef>
                        <a:spcAft>
                          <a:spcPct val="10000"/>
                        </a:spcAft>
                        <a:buClr>
                          <a:srgbClr val="0989C9"/>
                        </a:buClr>
                        <a:buSzPct val="60000"/>
                        <a:buFont typeface="Wingdings" pitchFamily="2" charset="2"/>
                        <a:buNone/>
                        <a:tabLst/>
                      </a:pPr>
                      <a:r>
                        <a:rPr kumimoji="0" lang="fr-CA" sz="1400" b="0" i="0" u="none" strike="noStrike" cap="none" normalizeH="0" baseline="0" dirty="0">
                          <a:ln>
                            <a:noFill/>
                          </a:ln>
                          <a:solidFill>
                            <a:schemeClr val="tx1"/>
                          </a:solidFill>
                          <a:effectLst/>
                          <a:latin typeface="Arial" charset="0"/>
                        </a:rPr>
                        <a:t>Inhibée par des effets opposés.</a:t>
                      </a:r>
                    </a:p>
                    <a:p>
                      <a:pPr marL="88900" marR="0" lvl="0" indent="0" algn="l" defTabSz="914400" rtl="0" eaLnBrk="1" fontAlgn="base" latinLnBrk="0" hangingPunct="1">
                        <a:lnSpc>
                          <a:spcPct val="100000"/>
                        </a:lnSpc>
                        <a:spcBef>
                          <a:spcPct val="0"/>
                        </a:spcBef>
                        <a:spcAft>
                          <a:spcPct val="10000"/>
                        </a:spcAft>
                        <a:buClr>
                          <a:srgbClr val="D20000"/>
                        </a:buClr>
                        <a:buSzTx/>
                        <a:buFont typeface="Symbol" pitchFamily="18" charset="2"/>
                        <a:buChar char="®"/>
                        <a:tabLst/>
                      </a:pPr>
                      <a:r>
                        <a:rPr kumimoji="0" lang="fr-CA" sz="1400" b="0" i="0" u="none" strike="noStrike" cap="none" normalizeH="0" baseline="0" dirty="0">
                          <a:ln>
                            <a:noFill/>
                          </a:ln>
                          <a:solidFill>
                            <a:schemeClr val="tx1"/>
                          </a:solidFill>
                          <a:effectLst/>
                          <a:latin typeface="Arial" charset="0"/>
                        </a:rPr>
                        <a:t> Rétro-inhibition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7250">
                <a:tc>
                  <a:txBody>
                    <a:bodyPr/>
                    <a:lstStyle/>
                    <a:p>
                      <a:pPr marL="0" marR="0" lvl="0" indent="0" algn="l" defTabSz="914400" rtl="0" eaLnBrk="0" fontAlgn="base" latinLnBrk="0" hangingPunct="0">
                        <a:lnSpc>
                          <a:spcPct val="100000"/>
                        </a:lnSpc>
                        <a:spcBef>
                          <a:spcPct val="0"/>
                        </a:spcBef>
                        <a:spcAft>
                          <a:spcPct val="0"/>
                        </a:spcAft>
                        <a:buClrTx/>
                        <a:buSzPct val="85000"/>
                        <a:buFont typeface="Wingdings" pitchFamily="2" charset="2"/>
                        <a:buNone/>
                        <a:tabLst/>
                      </a:pPr>
                      <a:r>
                        <a:rPr kumimoji="0" lang="fr-CA" sz="1500" b="1" i="1" u="none" strike="noStrike" cap="none" normalizeH="0" baseline="0" dirty="0">
                          <a:ln>
                            <a:noFill/>
                          </a:ln>
                          <a:solidFill>
                            <a:schemeClr val="tx1"/>
                          </a:solidFill>
                          <a:effectLst/>
                          <a:latin typeface="Arial" charset="0"/>
                        </a:rPr>
                        <a:t>Ocytocine</a:t>
                      </a:r>
                    </a:p>
                    <a:p>
                      <a:pPr marL="0" marR="0" lvl="0" indent="0" algn="l"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endParaRPr kumimoji="0" lang="fr-CA" sz="15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l" defTabSz="914400" rtl="0" eaLnBrk="1" fontAlgn="base" latinLnBrk="0" hangingPunct="1">
                        <a:lnSpc>
                          <a:spcPct val="100000"/>
                        </a:lnSpc>
                        <a:spcBef>
                          <a:spcPct val="0"/>
                        </a:spcBef>
                        <a:spcAft>
                          <a:spcPct val="50000"/>
                        </a:spcAft>
                        <a:buClr>
                          <a:schemeClr val="tx1"/>
                        </a:buClr>
                        <a:buSzPct val="80000"/>
                        <a:buFont typeface="Wingdings" pitchFamily="2" charset="2"/>
                        <a:buChar char="§"/>
                        <a:tabLst/>
                      </a:pPr>
                      <a:r>
                        <a:rPr kumimoji="0" lang="fr-CA" sz="1400" b="0" i="0" u="none" strike="noStrike" cap="none" normalizeH="0" baseline="0" dirty="0">
                          <a:ln>
                            <a:noFill/>
                          </a:ln>
                          <a:solidFill>
                            <a:schemeClr val="tx1"/>
                          </a:solidFill>
                          <a:effectLst/>
                          <a:latin typeface="Arial" charset="0"/>
                        </a:rPr>
                        <a:t>Utérus : stimule la contraction des muscles lisses de l’utérus</a:t>
                      </a:r>
                    </a:p>
                    <a:p>
                      <a:pPr marL="185738" marR="0" lvl="0" indent="-185738" algn="l" defTabSz="914400" rtl="0" eaLnBrk="1" fontAlgn="base" latinLnBrk="0" hangingPunct="1">
                        <a:lnSpc>
                          <a:spcPct val="100000"/>
                        </a:lnSpc>
                        <a:spcBef>
                          <a:spcPct val="0"/>
                        </a:spcBef>
                        <a:spcAft>
                          <a:spcPct val="50000"/>
                        </a:spcAft>
                        <a:buClr>
                          <a:schemeClr val="tx1"/>
                        </a:buClr>
                        <a:buSzPct val="80000"/>
                        <a:buFont typeface="Wingdings" pitchFamily="2" charset="2"/>
                        <a:buChar char="§"/>
                        <a:tabLst/>
                      </a:pPr>
                      <a:r>
                        <a:rPr kumimoji="0" lang="fr-CA" sz="1400" b="0" i="0" u="none" strike="noStrike" cap="none" normalizeH="0" baseline="0" dirty="0">
                          <a:ln>
                            <a:noFill/>
                          </a:ln>
                          <a:solidFill>
                            <a:schemeClr val="tx1"/>
                          </a:solidFill>
                          <a:effectLst/>
                          <a:latin typeface="Arial" charset="0"/>
                        </a:rPr>
                        <a:t>Seins : stimule l’éjection du lait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marR="0" lvl="0" indent="0" algn="l" defTabSz="914400" rtl="0" eaLnBrk="1" fontAlgn="base" latinLnBrk="0" hangingPunct="1">
                        <a:lnSpc>
                          <a:spcPct val="100000"/>
                        </a:lnSpc>
                        <a:spcBef>
                          <a:spcPct val="0"/>
                        </a:spcBef>
                        <a:spcAft>
                          <a:spcPct val="10000"/>
                        </a:spcAft>
                        <a:buClr>
                          <a:srgbClr val="0989C9"/>
                        </a:buClr>
                        <a:buSzPct val="60000"/>
                        <a:buFont typeface="Wingdings" pitchFamily="2" charset="2"/>
                        <a:buNone/>
                        <a:tabLst/>
                      </a:pPr>
                      <a:r>
                        <a:rPr kumimoji="0" lang="fr-CA" sz="1400" b="0" i="0" u="none" strike="noStrike" cap="none" normalizeH="0" baseline="0" dirty="0">
                          <a:ln>
                            <a:noFill/>
                          </a:ln>
                          <a:solidFill>
                            <a:schemeClr val="tx1"/>
                          </a:solidFill>
                          <a:effectLst/>
                          <a:latin typeface="Arial" charset="0"/>
                        </a:rPr>
                        <a:t>Libérée en réponse à la stimulation par des influx nerveux générés lors de la distension de l’utérus et lors de la succion</a:t>
                      </a:r>
                    </a:p>
                    <a:p>
                      <a:pPr marL="88900" marR="0" lvl="0" indent="0" algn="l" defTabSz="914400" rtl="0" eaLnBrk="1" fontAlgn="base" latinLnBrk="0" hangingPunct="1">
                        <a:lnSpc>
                          <a:spcPct val="100000"/>
                        </a:lnSpc>
                        <a:spcBef>
                          <a:spcPct val="0"/>
                        </a:spcBef>
                        <a:spcAft>
                          <a:spcPct val="10000"/>
                        </a:spcAft>
                        <a:buClr>
                          <a:srgbClr val="D20000"/>
                        </a:buClr>
                        <a:buSzTx/>
                        <a:buFont typeface="Symbol" pitchFamily="18" charset="2"/>
                        <a:buChar char="®"/>
                        <a:tabLst/>
                      </a:pPr>
                      <a:r>
                        <a:rPr kumimoji="0" lang="fr-CA" sz="1400" b="0" i="0" u="none" strike="noStrike" cap="none" normalizeH="0" baseline="0" dirty="0">
                          <a:ln>
                            <a:noFill/>
                          </a:ln>
                          <a:solidFill>
                            <a:schemeClr val="tx1"/>
                          </a:solidFill>
                          <a:effectLst/>
                          <a:latin typeface="Arial" charset="0"/>
                        </a:rPr>
                        <a:t> Rétroactivation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05204" name="Text Box 20"/>
          <p:cNvSpPr txBox="1">
            <a:spLocks noChangeArrowheads="1"/>
          </p:cNvSpPr>
          <p:nvPr/>
        </p:nvSpPr>
        <p:spPr bwMode="auto">
          <a:xfrm>
            <a:off x="216822" y="287338"/>
            <a:ext cx="8587964" cy="21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357188" indent="-177800">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65113" indent="-265113">
              <a:buSzPct val="100000"/>
              <a:buFont typeface="+mj-lt"/>
              <a:buAutoNum type="romanLcPeriod" startAt="2"/>
            </a:pPr>
            <a:r>
              <a:rPr lang="fr-CA" sz="1800" b="1" u="sng" dirty="0">
                <a:latin typeface="Arial" charset="0"/>
              </a:rPr>
              <a:t>Hormones de la </a:t>
            </a:r>
            <a:r>
              <a:rPr lang="fr-CA" sz="1800" b="1" u="sng" dirty="0" err="1">
                <a:latin typeface="Arial" charset="0"/>
              </a:rPr>
              <a:t>neurohypophyse</a:t>
            </a:r>
            <a:endParaRPr lang="fr-CA" sz="1800" b="1" dirty="0">
              <a:latin typeface="Arial" charset="0"/>
            </a:endParaRPr>
          </a:p>
          <a:p>
            <a:pPr marL="452438" lvl="1">
              <a:spcBef>
                <a:spcPct val="20000"/>
              </a:spcBef>
              <a:buSzPct val="90000"/>
              <a:buFont typeface="Arial" pitchFamily="34" charset="0"/>
              <a:buChar char="–"/>
            </a:pPr>
            <a:r>
              <a:rPr lang="fr-CA" sz="1500" dirty="0">
                <a:latin typeface="Arial" charset="0"/>
              </a:rPr>
              <a:t>Produites par des neurones dont les corps cellulaires sont dans l’hypothalamus.</a:t>
            </a:r>
          </a:p>
          <a:p>
            <a:pPr marL="452438" lvl="1">
              <a:spcBef>
                <a:spcPct val="15000"/>
              </a:spcBef>
              <a:buSzPct val="90000"/>
              <a:buFont typeface="Arial" pitchFamily="34" charset="0"/>
              <a:buChar char="–"/>
            </a:pPr>
            <a:r>
              <a:rPr lang="fr-CA" sz="1500" dirty="0">
                <a:latin typeface="Arial" charset="0"/>
              </a:rPr>
              <a:t>Produites dans les corps cellulaires, emballées dans des vésicules et acheminées à l’intérieur des axones du tractus hypothalamo-hypophysaire jusqu’à leurs terminaisons situées dans la neurohypophyse.</a:t>
            </a:r>
          </a:p>
          <a:p>
            <a:pPr marL="452438" lvl="1">
              <a:spcBef>
                <a:spcPct val="15000"/>
              </a:spcBef>
              <a:buSzPct val="90000"/>
              <a:buFont typeface="Arial" pitchFamily="34" charset="0"/>
              <a:buChar char="–"/>
            </a:pPr>
            <a:r>
              <a:rPr lang="fr-CA" sz="1500" dirty="0">
                <a:latin typeface="Arial" charset="0"/>
              </a:rPr>
              <a:t>Libérées dans la circulation sanguine par les influx nerveux qui déclenchent l’exocytose.</a:t>
            </a:r>
          </a:p>
          <a:p>
            <a:pPr marL="452438" lvl="1">
              <a:spcBef>
                <a:spcPct val="15000"/>
              </a:spcBef>
              <a:buSzPct val="90000"/>
              <a:buFont typeface="Arial" pitchFamily="34" charset="0"/>
              <a:buChar char="–"/>
            </a:pPr>
            <a:r>
              <a:rPr lang="fr-CA" sz="1500" dirty="0">
                <a:latin typeface="Arial" charset="0"/>
              </a:rPr>
              <a:t>Deux hormones produites par deux types différents de neurones :</a:t>
            </a:r>
          </a:p>
          <a:p>
            <a:pPr marL="452438" lvl="1">
              <a:buSzPct val="85000"/>
              <a:buFont typeface="Wingdings" pitchFamily="2" charset="2"/>
              <a:buNone/>
            </a:pPr>
            <a:r>
              <a:rPr lang="fr-CA" sz="1500" b="1" i="1" dirty="0">
                <a:latin typeface="Arial" charset="0"/>
              </a:rPr>
              <a:t>	hormone antidiurétique</a:t>
            </a:r>
            <a:r>
              <a:rPr lang="fr-CA" sz="1500" dirty="0">
                <a:latin typeface="Arial" charset="0"/>
              </a:rPr>
              <a:t> et </a:t>
            </a:r>
            <a:r>
              <a:rPr lang="fr-CA" sz="1500" b="1" i="1" dirty="0">
                <a:latin typeface="Arial" charset="0"/>
              </a:rPr>
              <a:t>ocytocine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6" name="Text Box 4"/>
          <p:cNvSpPr txBox="1">
            <a:spLocks noChangeArrowheads="1"/>
          </p:cNvSpPr>
          <p:nvPr/>
        </p:nvSpPr>
        <p:spPr bwMode="auto">
          <a:xfrm>
            <a:off x="216822" y="346811"/>
            <a:ext cx="8381488" cy="462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357188" indent="-177800">
              <a:defRPr sz="2400">
                <a:solidFill>
                  <a:schemeClr val="tx1"/>
                </a:solidFill>
                <a:latin typeface="Times New Roman" pitchFamily="18" charset="0"/>
              </a:defRPr>
            </a:lvl2pPr>
            <a:lvl3pPr marL="714375" indent="-1778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361950" indent="-361950">
              <a:buSzPct val="100000"/>
              <a:buFont typeface="+mj-lt"/>
              <a:buAutoNum type="romanLcPeriod" startAt="3"/>
            </a:pPr>
            <a:r>
              <a:rPr lang="fr-CA" sz="1800" b="1" u="sng" dirty="0">
                <a:latin typeface="Arial" charset="0"/>
              </a:rPr>
              <a:t>Hormones de l’</a:t>
            </a:r>
            <a:r>
              <a:rPr lang="fr-CA" sz="1800" b="1" u="sng" dirty="0" err="1">
                <a:latin typeface="Arial" charset="0"/>
              </a:rPr>
              <a:t>adénohypophyse</a:t>
            </a:r>
            <a:endParaRPr lang="fr-CA" sz="1800" b="1" dirty="0">
              <a:latin typeface="Arial" charset="0"/>
            </a:endParaRPr>
          </a:p>
          <a:p>
            <a:pPr marL="541338" lvl="1">
              <a:spcBef>
                <a:spcPct val="25000"/>
              </a:spcBef>
              <a:buSzPct val="90000"/>
              <a:buFont typeface="Arial" pitchFamily="34" charset="0"/>
              <a:buChar char="–"/>
            </a:pPr>
            <a:r>
              <a:rPr lang="fr-CA" sz="1600" dirty="0">
                <a:latin typeface="Arial" charset="0"/>
              </a:rPr>
              <a:t>Produites par des cellules dérivées de </a:t>
            </a:r>
            <a:r>
              <a:rPr lang="fr-CA" sz="1600" u="sng" dirty="0">
                <a:latin typeface="Arial" charset="0"/>
              </a:rPr>
              <a:t>tissus épithéliaux</a:t>
            </a:r>
            <a:r>
              <a:rPr lang="fr-CA" sz="1600" dirty="0">
                <a:latin typeface="Arial" charset="0"/>
              </a:rPr>
              <a:t> (et non des neurones).</a:t>
            </a:r>
          </a:p>
          <a:p>
            <a:pPr marL="541338" lvl="1">
              <a:spcBef>
                <a:spcPct val="25000"/>
              </a:spcBef>
              <a:buSzPct val="90000"/>
              <a:buFont typeface="Arial" pitchFamily="34" charset="0"/>
              <a:buChar char="–"/>
            </a:pPr>
            <a:r>
              <a:rPr lang="fr-CA" sz="1600" dirty="0">
                <a:latin typeface="Arial" charset="0"/>
              </a:rPr>
              <a:t>Libérées suite à un stimulus </a:t>
            </a:r>
            <a:r>
              <a:rPr lang="fr-CA" sz="1600" u="sng" dirty="0">
                <a:latin typeface="Arial" charset="0"/>
              </a:rPr>
              <a:t>hormonal</a:t>
            </a:r>
            <a:r>
              <a:rPr lang="fr-CA" sz="1600" dirty="0">
                <a:latin typeface="Arial" charset="0"/>
              </a:rPr>
              <a:t> (et non nerveux).</a:t>
            </a:r>
          </a:p>
          <a:p>
            <a:pPr marL="712788" lvl="2">
              <a:spcBef>
                <a:spcPct val="25000"/>
              </a:spcBef>
              <a:buSzPct val="85000"/>
              <a:buFont typeface="Wingdings" pitchFamily="2" charset="2"/>
              <a:buChar char="§"/>
            </a:pPr>
            <a:r>
              <a:rPr lang="fr-CA" sz="1600" dirty="0">
                <a:latin typeface="Arial" charset="0"/>
              </a:rPr>
              <a:t>Les </a:t>
            </a:r>
            <a:r>
              <a:rPr lang="fr-CA" sz="1600" b="1" i="1" dirty="0">
                <a:latin typeface="Arial" charset="0"/>
              </a:rPr>
              <a:t>hormones de libération</a:t>
            </a:r>
            <a:r>
              <a:rPr lang="fr-CA" sz="1600" dirty="0">
                <a:latin typeface="Arial" charset="0"/>
              </a:rPr>
              <a:t> proviennent de l’hypothalamus et acheminées jusqu’à l’adénohypophyse via le système porte hypothalamo-hypophysaire.</a:t>
            </a:r>
          </a:p>
          <a:p>
            <a:pPr marL="541338" lvl="1">
              <a:spcBef>
                <a:spcPct val="25000"/>
              </a:spcBef>
              <a:buSzPct val="90000"/>
              <a:buFont typeface="Arial" pitchFamily="34" charset="0"/>
              <a:buChar char="–"/>
            </a:pPr>
            <a:r>
              <a:rPr lang="fr-CA" sz="1600" dirty="0">
                <a:latin typeface="Arial" charset="0"/>
              </a:rPr>
              <a:t>Six principales hormones (appelées « stimulines » ou « trophines ») sont libérées par six types de cellules:</a:t>
            </a:r>
          </a:p>
          <a:p>
            <a:pPr marL="712788" lvl="2">
              <a:spcBef>
                <a:spcPct val="25000"/>
              </a:spcBef>
              <a:buSzPct val="85000"/>
              <a:buFont typeface="Wingdings" pitchFamily="2" charset="2"/>
              <a:buChar char="§"/>
            </a:pPr>
            <a:r>
              <a:rPr lang="fr-CA" sz="1600" b="1" i="1" dirty="0">
                <a:latin typeface="Arial" charset="0"/>
              </a:rPr>
              <a:t>Hormone de croissance (GH) </a:t>
            </a:r>
            <a:r>
              <a:rPr lang="fr-CA" sz="1600" b="1" dirty="0">
                <a:latin typeface="Arial" charset="0"/>
              </a:rPr>
              <a:t>:</a:t>
            </a:r>
            <a:r>
              <a:rPr lang="fr-CA" sz="1600" dirty="0">
                <a:latin typeface="Arial" charset="0"/>
              </a:rPr>
              <a:t> favorise la croissance des cellules du corps, la synthèse des protéines, la réparation des tissus, la mobilisation des lipides.</a:t>
            </a:r>
          </a:p>
          <a:p>
            <a:pPr marL="712788" lvl="2">
              <a:spcBef>
                <a:spcPct val="25000"/>
              </a:spcBef>
              <a:buSzPct val="85000"/>
              <a:buFont typeface="Wingdings" pitchFamily="2" charset="2"/>
              <a:buChar char="§"/>
            </a:pPr>
            <a:r>
              <a:rPr lang="fr-CA" sz="1600" b="1" i="1" dirty="0">
                <a:latin typeface="Arial" charset="0"/>
              </a:rPr>
              <a:t>Thyréotrophine (TSH) </a:t>
            </a:r>
            <a:r>
              <a:rPr lang="fr-CA" sz="1600" b="1" dirty="0">
                <a:latin typeface="Arial" charset="0"/>
              </a:rPr>
              <a:t>:</a:t>
            </a:r>
            <a:r>
              <a:rPr lang="fr-CA" sz="1600" dirty="0">
                <a:latin typeface="Arial" charset="0"/>
              </a:rPr>
              <a:t> cause la libération des hormones thyroïdiennes par la glande thyroïde</a:t>
            </a:r>
          </a:p>
          <a:p>
            <a:pPr marL="712788" lvl="2">
              <a:spcBef>
                <a:spcPct val="25000"/>
              </a:spcBef>
              <a:buSzPct val="85000"/>
              <a:buFont typeface="Wingdings" pitchFamily="2" charset="2"/>
              <a:buChar char="§"/>
            </a:pPr>
            <a:r>
              <a:rPr lang="fr-CA" sz="1600" b="1" i="1" dirty="0">
                <a:latin typeface="Arial" charset="0"/>
              </a:rPr>
              <a:t>Corticotrophine (ACTH) </a:t>
            </a:r>
            <a:r>
              <a:rPr lang="fr-CA" sz="1600" b="1" dirty="0">
                <a:latin typeface="Arial" charset="0"/>
              </a:rPr>
              <a:t>: </a:t>
            </a:r>
            <a:r>
              <a:rPr lang="fr-CA" sz="1600" dirty="0">
                <a:latin typeface="Arial" charset="0"/>
              </a:rPr>
              <a:t>cause la libération des hormones du cortex surrénal (en particulier le cortisol)</a:t>
            </a:r>
          </a:p>
          <a:p>
            <a:pPr marL="712788" lvl="2">
              <a:spcBef>
                <a:spcPct val="25000"/>
              </a:spcBef>
              <a:buSzPct val="85000"/>
              <a:buFont typeface="Wingdings" pitchFamily="2" charset="2"/>
              <a:buChar char="§"/>
            </a:pPr>
            <a:r>
              <a:rPr lang="fr-CA" sz="1600" b="1" i="1" dirty="0">
                <a:latin typeface="Arial" charset="0"/>
              </a:rPr>
              <a:t>Gonadotrophines (LH </a:t>
            </a:r>
            <a:r>
              <a:rPr lang="fr-CA" sz="1600" b="1" dirty="0">
                <a:latin typeface="Arial" charset="0"/>
              </a:rPr>
              <a:t>et</a:t>
            </a:r>
            <a:r>
              <a:rPr lang="fr-CA" sz="1600" b="1" i="1" dirty="0">
                <a:latin typeface="Arial" charset="0"/>
              </a:rPr>
              <a:t> FSH) </a:t>
            </a:r>
            <a:r>
              <a:rPr lang="fr-CA" sz="1600" b="1" dirty="0">
                <a:latin typeface="Arial" charset="0"/>
              </a:rPr>
              <a:t>: </a:t>
            </a:r>
            <a:r>
              <a:rPr lang="fr-CA" sz="1600" dirty="0">
                <a:latin typeface="Arial" charset="0"/>
              </a:rPr>
              <a:t>régissent le fonctionnement des gonades (ovaires et testicules)</a:t>
            </a:r>
          </a:p>
          <a:p>
            <a:pPr marL="712788" lvl="2">
              <a:spcBef>
                <a:spcPct val="25000"/>
              </a:spcBef>
              <a:buSzPct val="85000"/>
              <a:buFont typeface="Wingdings" pitchFamily="2" charset="2"/>
              <a:buChar char="§"/>
            </a:pPr>
            <a:r>
              <a:rPr lang="fr-CA" sz="1600" b="1" i="1" dirty="0">
                <a:latin typeface="Arial" charset="0"/>
              </a:rPr>
              <a:t>Prolactine (PRL) </a:t>
            </a:r>
            <a:r>
              <a:rPr lang="fr-CA" sz="1600" b="1" dirty="0">
                <a:latin typeface="Arial" charset="0"/>
              </a:rPr>
              <a:t>: </a:t>
            </a:r>
            <a:r>
              <a:rPr lang="fr-CA" sz="1600" dirty="0">
                <a:latin typeface="Arial" charset="0"/>
              </a:rPr>
              <a:t>stimule la fabrication de lait par les glandes mammaires</a:t>
            </a:r>
            <a:endParaRPr lang="fr-CA" sz="1600" b="1" i="1" dirty="0">
              <a:latin typeface="Arial"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4" name="Rectangle 4"/>
          <p:cNvSpPr>
            <a:spLocks noChangeArrowheads="1"/>
          </p:cNvSpPr>
          <p:nvPr/>
        </p:nvSpPr>
        <p:spPr bwMode="auto">
          <a:xfrm>
            <a:off x="3230666" y="1158426"/>
            <a:ext cx="2649537"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600" b="1" u="sng" dirty="0">
                <a:latin typeface="Verdana" pitchFamily="34" charset="0"/>
              </a:rPr>
              <a:t>Hypothalamus</a:t>
            </a:r>
          </a:p>
          <a:p>
            <a:pPr algn="ctr">
              <a:spcBef>
                <a:spcPts val="300"/>
              </a:spcBef>
            </a:pPr>
            <a:r>
              <a:rPr lang="fr-CA" sz="1400" b="1" dirty="0">
                <a:latin typeface="Verdana" pitchFamily="34" charset="0"/>
                <a:sym typeface="Symbol" pitchFamily="18" charset="2"/>
              </a:rPr>
              <a:t></a:t>
            </a:r>
          </a:p>
          <a:p>
            <a:pPr algn="ctr"/>
            <a:r>
              <a:rPr lang="fr-CA" sz="1400" b="1" i="1" dirty="0">
                <a:latin typeface="Verdana" pitchFamily="34" charset="0"/>
              </a:rPr>
              <a:t>Hormone de libération</a:t>
            </a:r>
          </a:p>
        </p:txBody>
      </p:sp>
      <p:sp>
        <p:nvSpPr>
          <p:cNvPr id="604165" name="Rectangle 5"/>
          <p:cNvSpPr>
            <a:spLocks noChangeArrowheads="1"/>
          </p:cNvSpPr>
          <p:nvPr/>
        </p:nvSpPr>
        <p:spPr bwMode="auto">
          <a:xfrm>
            <a:off x="3313216" y="2390326"/>
            <a:ext cx="2578100" cy="6508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600" b="1" u="sng" dirty="0" err="1">
                <a:latin typeface="Verdana" pitchFamily="34" charset="0"/>
              </a:rPr>
              <a:t>Adénohypophyse</a:t>
            </a:r>
            <a:endParaRPr lang="fr-CA" sz="1600" b="1" u="sng" dirty="0">
              <a:latin typeface="Verdana" pitchFamily="34" charset="0"/>
            </a:endParaRPr>
          </a:p>
          <a:p>
            <a:pPr algn="ctr"/>
            <a:r>
              <a:rPr lang="fr-CA" sz="1400" b="1" dirty="0">
                <a:latin typeface="Verdana" pitchFamily="34" charset="0"/>
                <a:sym typeface="Symbol" pitchFamily="18" charset="2"/>
              </a:rPr>
              <a:t></a:t>
            </a:r>
          </a:p>
          <a:p>
            <a:pPr algn="ctr">
              <a:lnSpc>
                <a:spcPct val="80000"/>
              </a:lnSpc>
            </a:pPr>
            <a:r>
              <a:rPr lang="fr-CA" sz="1400" b="1" i="1" dirty="0">
                <a:latin typeface="Verdana" pitchFamily="34" charset="0"/>
              </a:rPr>
              <a:t>Sécrétion d’une hormone</a:t>
            </a:r>
          </a:p>
        </p:txBody>
      </p:sp>
      <p:sp>
        <p:nvSpPr>
          <p:cNvPr id="604167" name="Line 7"/>
          <p:cNvSpPr>
            <a:spLocks noChangeShapeType="1"/>
          </p:cNvSpPr>
          <p:nvPr/>
        </p:nvSpPr>
        <p:spPr bwMode="auto">
          <a:xfrm flipH="1">
            <a:off x="4495903" y="1949001"/>
            <a:ext cx="0" cy="36195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68" name="Line 8"/>
          <p:cNvSpPr>
            <a:spLocks noChangeShapeType="1"/>
          </p:cNvSpPr>
          <p:nvPr/>
        </p:nvSpPr>
        <p:spPr bwMode="auto">
          <a:xfrm flipH="1">
            <a:off x="3391003" y="3109464"/>
            <a:ext cx="596900" cy="1476375"/>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69" name="Oval 9"/>
          <p:cNvSpPr>
            <a:spLocks noChangeArrowheads="1"/>
          </p:cNvSpPr>
          <p:nvPr/>
        </p:nvSpPr>
        <p:spPr bwMode="auto">
          <a:xfrm>
            <a:off x="2373416" y="4647751"/>
            <a:ext cx="1497012" cy="7350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400" b="1">
                <a:latin typeface="Verdana" pitchFamily="34" charset="0"/>
              </a:rPr>
              <a:t>Cellules cibles</a:t>
            </a:r>
          </a:p>
        </p:txBody>
      </p:sp>
      <p:sp>
        <p:nvSpPr>
          <p:cNvPr id="604181" name="AutoShape 21"/>
          <p:cNvSpPr>
            <a:spLocks noChangeArrowheads="1"/>
          </p:cNvSpPr>
          <p:nvPr/>
        </p:nvSpPr>
        <p:spPr bwMode="auto">
          <a:xfrm>
            <a:off x="1297091" y="709164"/>
            <a:ext cx="1181100" cy="762000"/>
          </a:xfrm>
          <a:prstGeom prst="star8">
            <a:avLst>
              <a:gd name="adj" fmla="val 3825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400" b="1">
                <a:latin typeface="Verdana" pitchFamily="34" charset="0"/>
              </a:rPr>
              <a:t>Stimulus</a:t>
            </a:r>
          </a:p>
        </p:txBody>
      </p:sp>
      <p:sp>
        <p:nvSpPr>
          <p:cNvPr id="604182" name="Line 22"/>
          <p:cNvSpPr>
            <a:spLocks noChangeShapeType="1"/>
          </p:cNvSpPr>
          <p:nvPr/>
        </p:nvSpPr>
        <p:spPr bwMode="auto">
          <a:xfrm>
            <a:off x="4616553" y="3134864"/>
            <a:ext cx="112713" cy="309562"/>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84" name="Rectangle 24"/>
          <p:cNvSpPr>
            <a:spLocks noChangeArrowheads="1"/>
          </p:cNvSpPr>
          <p:nvPr/>
        </p:nvSpPr>
        <p:spPr bwMode="auto">
          <a:xfrm>
            <a:off x="4373666" y="3523801"/>
            <a:ext cx="2254250" cy="6080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400" b="1">
                <a:latin typeface="Verdana" pitchFamily="34" charset="0"/>
              </a:rPr>
              <a:t>Glande endocrine</a:t>
            </a:r>
          </a:p>
          <a:p>
            <a:pPr algn="ctr"/>
            <a:r>
              <a:rPr lang="fr-CA" sz="1400" b="1">
                <a:latin typeface="Verdana" pitchFamily="34" charset="0"/>
                <a:sym typeface="Symbol" pitchFamily="18" charset="2"/>
              </a:rPr>
              <a:t></a:t>
            </a:r>
          </a:p>
          <a:p>
            <a:pPr algn="ctr"/>
            <a:r>
              <a:rPr lang="fr-CA" sz="1200" b="1" i="1">
                <a:latin typeface="Verdana" pitchFamily="34" charset="0"/>
              </a:rPr>
              <a:t>Sécrétion d’une hormone</a:t>
            </a:r>
          </a:p>
        </p:txBody>
      </p:sp>
      <p:sp>
        <p:nvSpPr>
          <p:cNvPr id="604185" name="Oval 25"/>
          <p:cNvSpPr>
            <a:spLocks noChangeArrowheads="1"/>
          </p:cNvSpPr>
          <p:nvPr/>
        </p:nvSpPr>
        <p:spPr bwMode="auto">
          <a:xfrm>
            <a:off x="5243616" y="4700139"/>
            <a:ext cx="1497012" cy="7350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sz="1400" b="1">
                <a:latin typeface="Verdana" pitchFamily="34" charset="0"/>
              </a:rPr>
              <a:t>Cellules cibles</a:t>
            </a:r>
          </a:p>
        </p:txBody>
      </p:sp>
      <p:sp>
        <p:nvSpPr>
          <p:cNvPr id="604186" name="Line 26"/>
          <p:cNvSpPr>
            <a:spLocks noChangeShapeType="1"/>
          </p:cNvSpPr>
          <p:nvPr/>
        </p:nvSpPr>
        <p:spPr bwMode="auto">
          <a:xfrm>
            <a:off x="3573566" y="5360539"/>
            <a:ext cx="349250" cy="18415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87" name="Line 27"/>
          <p:cNvSpPr>
            <a:spLocks noChangeShapeType="1"/>
          </p:cNvSpPr>
          <p:nvPr/>
        </p:nvSpPr>
        <p:spPr bwMode="auto">
          <a:xfrm flipH="1">
            <a:off x="5034066" y="5370064"/>
            <a:ext cx="369887" cy="182562"/>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88" name="AutoShape 28"/>
          <p:cNvSpPr>
            <a:spLocks noChangeArrowheads="1"/>
          </p:cNvSpPr>
          <p:nvPr/>
        </p:nvSpPr>
        <p:spPr bwMode="auto">
          <a:xfrm>
            <a:off x="3892653" y="5503414"/>
            <a:ext cx="1190625" cy="534987"/>
          </a:xfrm>
          <a:prstGeom prst="octagon">
            <a:avLst>
              <a:gd name="adj" fmla="val 2928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fr-CA">
                <a:latin typeface="Verdana" pitchFamily="34" charset="0"/>
              </a:rPr>
              <a:t>Réponse</a:t>
            </a:r>
          </a:p>
        </p:txBody>
      </p:sp>
      <p:sp>
        <p:nvSpPr>
          <p:cNvPr id="604189" name="Line 29"/>
          <p:cNvSpPr>
            <a:spLocks noChangeShapeType="1"/>
          </p:cNvSpPr>
          <p:nvPr/>
        </p:nvSpPr>
        <p:spPr bwMode="auto">
          <a:xfrm>
            <a:off x="5453166" y="4220714"/>
            <a:ext cx="171450" cy="447675"/>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92" name="Line 32"/>
          <p:cNvSpPr>
            <a:spLocks noChangeShapeType="1"/>
          </p:cNvSpPr>
          <p:nvPr/>
        </p:nvSpPr>
        <p:spPr bwMode="auto">
          <a:xfrm>
            <a:off x="2549628" y="1104451"/>
            <a:ext cx="595313" cy="293688"/>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194" name="Text Box 34"/>
          <p:cNvSpPr txBox="1">
            <a:spLocks noChangeArrowheads="1"/>
          </p:cNvSpPr>
          <p:nvPr/>
        </p:nvSpPr>
        <p:spPr bwMode="auto">
          <a:xfrm>
            <a:off x="412853" y="1995039"/>
            <a:ext cx="3786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CA" sz="1400">
                <a:latin typeface="Comic Sans MS" pitchFamily="66" charset="0"/>
              </a:rPr>
              <a:t>(Système porte hypothalamo-hypophysaire)</a:t>
            </a:r>
          </a:p>
        </p:txBody>
      </p:sp>
      <p:sp>
        <p:nvSpPr>
          <p:cNvPr id="604195" name="Text Box 35"/>
          <p:cNvSpPr txBox="1">
            <a:spLocks noChangeArrowheads="1"/>
          </p:cNvSpPr>
          <p:nvPr/>
        </p:nvSpPr>
        <p:spPr bwMode="auto">
          <a:xfrm>
            <a:off x="4699103" y="3111051"/>
            <a:ext cx="2020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CA" b="1"/>
              <a:t> </a:t>
            </a:r>
            <a:r>
              <a:rPr lang="fr-CA" sz="1400">
                <a:latin typeface="Comic Sans MS" pitchFamily="66" charset="0"/>
              </a:rPr>
              <a:t>(Circulation sanguine)</a:t>
            </a:r>
          </a:p>
        </p:txBody>
      </p:sp>
      <p:sp>
        <p:nvSpPr>
          <p:cNvPr id="604196" name="Text Box 36"/>
          <p:cNvSpPr txBox="1">
            <a:spLocks noChangeArrowheads="1"/>
          </p:cNvSpPr>
          <p:nvPr/>
        </p:nvSpPr>
        <p:spPr bwMode="auto">
          <a:xfrm>
            <a:off x="3479903" y="4314376"/>
            <a:ext cx="2001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CA" sz="1400">
                <a:latin typeface="Comic Sans MS" pitchFamily="66" charset="0"/>
              </a:rPr>
              <a:t> (Circulation sanguine)</a:t>
            </a:r>
          </a:p>
        </p:txBody>
      </p:sp>
      <p:sp>
        <p:nvSpPr>
          <p:cNvPr id="604209" name="Line 49"/>
          <p:cNvSpPr>
            <a:spLocks noChangeShapeType="1"/>
          </p:cNvSpPr>
          <p:nvPr/>
        </p:nvSpPr>
        <p:spPr bwMode="auto">
          <a:xfrm>
            <a:off x="6150078" y="4338189"/>
            <a:ext cx="140017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210" name="Line 50"/>
          <p:cNvSpPr>
            <a:spLocks noChangeShapeType="1"/>
          </p:cNvSpPr>
          <p:nvPr/>
        </p:nvSpPr>
        <p:spPr bwMode="auto">
          <a:xfrm flipV="1">
            <a:off x="7535966" y="2480814"/>
            <a:ext cx="0" cy="185737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211" name="Line 51"/>
          <p:cNvSpPr>
            <a:spLocks noChangeShapeType="1"/>
          </p:cNvSpPr>
          <p:nvPr/>
        </p:nvSpPr>
        <p:spPr bwMode="auto">
          <a:xfrm flipH="1">
            <a:off x="6150078" y="2495101"/>
            <a:ext cx="1385888" cy="0"/>
          </a:xfrm>
          <a:prstGeom prst="line">
            <a:avLst/>
          </a:prstGeom>
          <a:noFill/>
          <a:ln w="25400">
            <a:solidFill>
              <a:srgbClr val="FF0000"/>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212" name="Line 52"/>
          <p:cNvSpPr>
            <a:spLocks noChangeShapeType="1"/>
          </p:cNvSpPr>
          <p:nvPr/>
        </p:nvSpPr>
        <p:spPr bwMode="auto">
          <a:xfrm flipH="1" flipV="1">
            <a:off x="7521678" y="1466401"/>
            <a:ext cx="14288" cy="10287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213" name="Line 53"/>
          <p:cNvSpPr>
            <a:spLocks noChangeShapeType="1"/>
          </p:cNvSpPr>
          <p:nvPr/>
        </p:nvSpPr>
        <p:spPr bwMode="auto">
          <a:xfrm flipH="1">
            <a:off x="6064353" y="1480689"/>
            <a:ext cx="1457325" cy="0"/>
          </a:xfrm>
          <a:prstGeom prst="line">
            <a:avLst/>
          </a:prstGeom>
          <a:noFill/>
          <a:ln w="25400">
            <a:solidFill>
              <a:srgbClr val="FF0000"/>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CA"/>
          </a:p>
        </p:txBody>
      </p:sp>
      <p:sp>
        <p:nvSpPr>
          <p:cNvPr id="604214" name="Text Box 54"/>
          <p:cNvSpPr txBox="1">
            <a:spLocks noChangeArrowheads="1"/>
          </p:cNvSpPr>
          <p:nvPr/>
        </p:nvSpPr>
        <p:spPr bwMode="auto">
          <a:xfrm>
            <a:off x="6221516" y="2164901"/>
            <a:ext cx="1343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CA" sz="1600">
                <a:solidFill>
                  <a:srgbClr val="FF0000"/>
                </a:solidFill>
                <a:sym typeface="Symbol" pitchFamily="18" charset="2"/>
              </a:rPr>
              <a:t>(</a:t>
            </a:r>
            <a:r>
              <a:rPr lang="fr-CA" sz="1600">
                <a:solidFill>
                  <a:srgbClr val="FF0000"/>
                </a:solidFill>
                <a:latin typeface="Courier New" pitchFamily="49" charset="0"/>
                <a:cs typeface="Courier New" pitchFamily="49" charset="0"/>
                <a:sym typeface="Symbol" pitchFamily="18" charset="2"/>
              </a:rPr>
              <a:t>─</a:t>
            </a:r>
            <a:r>
              <a:rPr lang="fr-CA" sz="1600">
                <a:solidFill>
                  <a:srgbClr val="FF0000"/>
                </a:solidFill>
                <a:sym typeface="Symbol" pitchFamily="18" charset="2"/>
              </a:rPr>
              <a:t>) Inhibition</a:t>
            </a:r>
          </a:p>
        </p:txBody>
      </p:sp>
      <p:sp>
        <p:nvSpPr>
          <p:cNvPr id="604215" name="Text Box 55"/>
          <p:cNvSpPr txBox="1">
            <a:spLocks noChangeArrowheads="1"/>
          </p:cNvSpPr>
          <p:nvPr/>
        </p:nvSpPr>
        <p:spPr bwMode="auto">
          <a:xfrm>
            <a:off x="6145316" y="1117151"/>
            <a:ext cx="1343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CA" sz="1600">
                <a:solidFill>
                  <a:srgbClr val="FF0000"/>
                </a:solidFill>
                <a:sym typeface="Symbol" pitchFamily="18" charset="2"/>
              </a:rPr>
              <a:t>(</a:t>
            </a:r>
            <a:r>
              <a:rPr lang="fr-CA" sz="1600">
                <a:solidFill>
                  <a:srgbClr val="FF0000"/>
                </a:solidFill>
                <a:latin typeface="Courier New" pitchFamily="49" charset="0"/>
                <a:cs typeface="Courier New" pitchFamily="49" charset="0"/>
                <a:sym typeface="Symbol" pitchFamily="18" charset="2"/>
              </a:rPr>
              <a:t>─</a:t>
            </a:r>
            <a:r>
              <a:rPr lang="fr-CA" sz="1600">
                <a:solidFill>
                  <a:srgbClr val="FF0000"/>
                </a:solidFill>
                <a:sym typeface="Symbol" pitchFamily="18" charset="2"/>
              </a:rPr>
              <a:t>) Inhibition</a:t>
            </a:r>
          </a:p>
        </p:txBody>
      </p:sp>
      <p:sp>
        <p:nvSpPr>
          <p:cNvPr id="604216" name="Text Box 56"/>
          <p:cNvSpPr txBox="1">
            <a:spLocks noChangeArrowheads="1"/>
          </p:cNvSpPr>
          <p:nvPr/>
        </p:nvSpPr>
        <p:spPr bwMode="auto">
          <a:xfrm>
            <a:off x="7643916" y="2428426"/>
            <a:ext cx="13065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CA">
                <a:solidFill>
                  <a:srgbClr val="FF0000"/>
                </a:solidFill>
                <a:latin typeface="Verdana" pitchFamily="34" charset="0"/>
              </a:rPr>
              <a:t>Rétro-inhibition</a:t>
            </a:r>
          </a:p>
        </p:txBody>
      </p:sp>
      <p:sp>
        <p:nvSpPr>
          <p:cNvPr id="604217" name="Text Box 57"/>
          <p:cNvSpPr txBox="1">
            <a:spLocks noChangeArrowheads="1"/>
          </p:cNvSpPr>
          <p:nvPr/>
        </p:nvSpPr>
        <p:spPr bwMode="auto">
          <a:xfrm>
            <a:off x="230775" y="276506"/>
            <a:ext cx="83327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357188" indent="-177800">
              <a:defRPr sz="2400">
                <a:solidFill>
                  <a:schemeClr val="tx1"/>
                </a:solidFill>
                <a:latin typeface="Times New Roman" pitchFamily="18" charset="0"/>
              </a:defRPr>
            </a:lvl2pPr>
            <a:lvl3pPr marL="714375" indent="-1778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buSzPct val="110000"/>
            </a:pPr>
            <a:r>
              <a:rPr lang="fr-CA" sz="1800" b="1" dirty="0">
                <a:latin typeface="Arial" charset="0"/>
              </a:rPr>
              <a:t>iv. </a:t>
            </a:r>
            <a:r>
              <a:rPr lang="fr-CA" sz="1800" b="1" u="sng" dirty="0">
                <a:latin typeface="Arial" charset="0"/>
              </a:rPr>
              <a:t>Régulation des hormones de l’adénohypophyse</a:t>
            </a:r>
          </a:p>
        </p:txBody>
      </p:sp>
      <p:sp>
        <p:nvSpPr>
          <p:cNvPr id="604218" name="Text Box 58"/>
          <p:cNvSpPr txBox="1">
            <a:spLocks noChangeArrowheads="1"/>
          </p:cNvSpPr>
          <p:nvPr/>
        </p:nvSpPr>
        <p:spPr bwMode="auto">
          <a:xfrm>
            <a:off x="2636941" y="856801"/>
            <a:ext cx="212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ym typeface="Wingdings 2" pitchFamily="18" charset="2"/>
              </a:rPr>
              <a:t></a:t>
            </a:r>
          </a:p>
        </p:txBody>
      </p:sp>
      <p:sp>
        <p:nvSpPr>
          <p:cNvPr id="604219" name="Text Box 59"/>
          <p:cNvSpPr txBox="1">
            <a:spLocks noChangeArrowheads="1"/>
          </p:cNvSpPr>
          <p:nvPr/>
        </p:nvSpPr>
        <p:spPr bwMode="auto">
          <a:xfrm>
            <a:off x="4661003" y="1966464"/>
            <a:ext cx="2127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ym typeface="Wingdings 2" pitchFamily="18" charset="2"/>
              </a:rPr>
              <a:t></a:t>
            </a:r>
          </a:p>
        </p:txBody>
      </p:sp>
      <p:sp>
        <p:nvSpPr>
          <p:cNvPr id="604220" name="Text Box 60"/>
          <p:cNvSpPr txBox="1">
            <a:spLocks noChangeArrowheads="1"/>
          </p:cNvSpPr>
          <p:nvPr/>
        </p:nvSpPr>
        <p:spPr bwMode="auto">
          <a:xfrm>
            <a:off x="4189516" y="3095176"/>
            <a:ext cx="212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ym typeface="Wingdings 2" pitchFamily="18" charset="2"/>
              </a:rPr>
              <a:t></a:t>
            </a:r>
          </a:p>
        </p:txBody>
      </p:sp>
      <p:sp>
        <p:nvSpPr>
          <p:cNvPr id="604221" name="Text Box 61"/>
          <p:cNvSpPr txBox="1">
            <a:spLocks noChangeArrowheads="1"/>
          </p:cNvSpPr>
          <p:nvPr/>
        </p:nvSpPr>
        <p:spPr bwMode="auto">
          <a:xfrm>
            <a:off x="5603978" y="4166739"/>
            <a:ext cx="2127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ym typeface="Wingdings 2" pitchFamily="18" charset="2"/>
              </a:rPr>
              <a:t></a:t>
            </a:r>
          </a:p>
        </p:txBody>
      </p:sp>
      <p:sp>
        <p:nvSpPr>
          <p:cNvPr id="604222" name="Text Box 62"/>
          <p:cNvSpPr txBox="1">
            <a:spLocks noChangeArrowheads="1"/>
          </p:cNvSpPr>
          <p:nvPr/>
        </p:nvSpPr>
        <p:spPr bwMode="auto">
          <a:xfrm>
            <a:off x="4318103" y="5224014"/>
            <a:ext cx="2127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ym typeface="Wingdings 2" pitchFamily="18" charset="2"/>
              </a:rPr>
              <a:t></a:t>
            </a:r>
          </a:p>
        </p:txBody>
      </p:sp>
      <p:sp>
        <p:nvSpPr>
          <p:cNvPr id="604223" name="Text Box 63"/>
          <p:cNvSpPr txBox="1">
            <a:spLocks noChangeArrowheads="1"/>
          </p:cNvSpPr>
          <p:nvPr/>
        </p:nvSpPr>
        <p:spPr bwMode="auto">
          <a:xfrm>
            <a:off x="7147028" y="4009576"/>
            <a:ext cx="212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lang="fr-CA">
                <a:solidFill>
                  <a:srgbClr val="FF0000"/>
                </a:solidFill>
                <a:sym typeface="Wingdings 2" pitchFamily="18" charset="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60" name="Text Box 4"/>
          <p:cNvSpPr txBox="1">
            <a:spLocks noChangeArrowheads="1"/>
          </p:cNvSpPr>
          <p:nvPr/>
        </p:nvSpPr>
        <p:spPr bwMode="auto">
          <a:xfrm>
            <a:off x="383100" y="496990"/>
            <a:ext cx="8374062" cy="54419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28600" bIns="228600">
            <a:spAutoFit/>
          </a:bodyPr>
          <a:lstStyle>
            <a:lvl1pPr marL="336550" indent="-336550">
              <a:defRPr sz="2400">
                <a:solidFill>
                  <a:schemeClr val="tx1"/>
                </a:solidFill>
                <a:latin typeface="Times New Roman" pitchFamily="18" charset="0"/>
              </a:defRPr>
            </a:lvl1pPr>
            <a:lvl2pPr marL="963613" indent="-457200">
              <a:defRPr sz="2400">
                <a:solidFill>
                  <a:schemeClr val="tx1"/>
                </a:solidFill>
                <a:latin typeface="Times New Roman" pitchFamily="18" charset="0"/>
              </a:defRPr>
            </a:lvl2pPr>
            <a:lvl3pPr marL="1535113" indent="-457200">
              <a:defRPr sz="2400">
                <a:solidFill>
                  <a:schemeClr val="tx1"/>
                </a:solidFill>
                <a:latin typeface="Times New Roman" pitchFamily="18" charset="0"/>
              </a:defRPr>
            </a:lvl3pPr>
            <a:lvl4pPr marL="2106613" indent="-457200">
              <a:defRPr sz="2400">
                <a:solidFill>
                  <a:schemeClr val="tx1"/>
                </a:solidFill>
                <a:latin typeface="Times New Roman" pitchFamily="18" charset="0"/>
              </a:defRPr>
            </a:lvl4pPr>
            <a:lvl5pPr marL="2678113" indent="-457200">
              <a:defRPr sz="2400">
                <a:solidFill>
                  <a:schemeClr val="tx1"/>
                </a:solidFill>
                <a:latin typeface="Times New Roman" pitchFamily="18" charset="0"/>
              </a:defRPr>
            </a:lvl5pPr>
            <a:lvl6pPr marL="3135313" indent="-457200" eaLnBrk="0" fontAlgn="base" hangingPunct="0">
              <a:spcBef>
                <a:spcPct val="0"/>
              </a:spcBef>
              <a:spcAft>
                <a:spcPct val="0"/>
              </a:spcAft>
              <a:defRPr sz="2400">
                <a:solidFill>
                  <a:schemeClr val="tx1"/>
                </a:solidFill>
                <a:latin typeface="Times New Roman" pitchFamily="18" charset="0"/>
              </a:defRPr>
            </a:lvl6pPr>
            <a:lvl7pPr marL="3592513" indent="-457200" eaLnBrk="0" fontAlgn="base" hangingPunct="0">
              <a:spcBef>
                <a:spcPct val="0"/>
              </a:spcBef>
              <a:spcAft>
                <a:spcPct val="0"/>
              </a:spcAft>
              <a:defRPr sz="2400">
                <a:solidFill>
                  <a:schemeClr val="tx1"/>
                </a:solidFill>
                <a:latin typeface="Times New Roman" pitchFamily="18" charset="0"/>
              </a:defRPr>
            </a:lvl7pPr>
            <a:lvl8pPr marL="4049713" indent="-457200" eaLnBrk="0" fontAlgn="base" hangingPunct="0">
              <a:spcBef>
                <a:spcPct val="0"/>
              </a:spcBef>
              <a:spcAft>
                <a:spcPct val="0"/>
              </a:spcAft>
              <a:defRPr sz="2400">
                <a:solidFill>
                  <a:schemeClr val="tx1"/>
                </a:solidFill>
                <a:latin typeface="Times New Roman" pitchFamily="18" charset="0"/>
              </a:defRPr>
            </a:lvl8pPr>
            <a:lvl9pPr marL="4506913" indent="-457200" eaLnBrk="0" fontAlgn="base" hangingPunct="0">
              <a:spcBef>
                <a:spcPct val="0"/>
              </a:spcBef>
              <a:spcAft>
                <a:spcPct val="0"/>
              </a:spcAft>
              <a:defRPr sz="2400">
                <a:solidFill>
                  <a:schemeClr val="tx1"/>
                </a:solidFill>
                <a:latin typeface="Times New Roman" pitchFamily="18" charset="0"/>
              </a:defRPr>
            </a:lvl9pPr>
          </a:lstStyle>
          <a:p>
            <a:pPr>
              <a:spcAft>
                <a:spcPct val="35000"/>
              </a:spcAft>
              <a:buFont typeface="Wingdings 2" pitchFamily="18" charset="2"/>
              <a:buNone/>
            </a:pPr>
            <a:r>
              <a:rPr lang="fr-CA" sz="1800">
                <a:sym typeface="Wingdings 2" pitchFamily="18" charset="2"/>
              </a:rPr>
              <a:t> 	</a:t>
            </a:r>
            <a:r>
              <a:rPr lang="fr-CA" sz="1800">
                <a:latin typeface="Arial" charset="0"/>
                <a:sym typeface="Wingdings 2" pitchFamily="18" charset="2"/>
              </a:rPr>
              <a:t>Stimulus: entraîne l’activation des neurones de l’hypothalamus qui sécrètent des hormones de libération (ou selon le cas, des hormones d’inhibition).</a:t>
            </a:r>
          </a:p>
          <a:p>
            <a:pPr>
              <a:spcAft>
                <a:spcPct val="35000"/>
              </a:spcAft>
              <a:buFont typeface="Wingdings 2" pitchFamily="18" charset="2"/>
              <a:buChar char="k"/>
            </a:pPr>
            <a:r>
              <a:rPr lang="fr-CA" sz="1800">
                <a:latin typeface="Arial" charset="0"/>
                <a:sym typeface="Wingdings 2" pitchFamily="18" charset="2"/>
              </a:rPr>
              <a:t>L’hormone sécrétée est transportée dans le système porte hypothalamo-hypophysaire jusqu’à l’adénohypophyse.</a:t>
            </a:r>
          </a:p>
          <a:p>
            <a:pPr>
              <a:spcAft>
                <a:spcPct val="35000"/>
              </a:spcAft>
              <a:buFont typeface="Wingdings 2" pitchFamily="18" charset="2"/>
              <a:buChar char="l"/>
            </a:pPr>
            <a:r>
              <a:rPr lang="fr-CA" sz="1800">
                <a:latin typeface="Arial" charset="0"/>
                <a:sym typeface="Symbol" pitchFamily="18" charset="2"/>
              </a:rPr>
              <a:t>Sécrétion de l’hormone adénohypophysaire dans la circulation sanguine. L’hormone peut agir directement sur des tissus cibles ou, plus souvent, sur une glande endocrine (glande thyroïde, cortex surrénal, gonades)</a:t>
            </a:r>
          </a:p>
          <a:p>
            <a:pPr>
              <a:spcAft>
                <a:spcPct val="35000"/>
              </a:spcAft>
              <a:buFont typeface="Wingdings 2" pitchFamily="18" charset="2"/>
              <a:buChar char="m"/>
            </a:pPr>
            <a:r>
              <a:rPr lang="fr-CA" sz="1800">
                <a:latin typeface="Arial" charset="0"/>
                <a:sym typeface="Wingdings 2" pitchFamily="18" charset="2"/>
              </a:rPr>
              <a:t>La glande endocrine activée par l’hormone adénohypophysaire libère à son tour ses hormones.</a:t>
            </a:r>
          </a:p>
          <a:p>
            <a:pPr>
              <a:spcAft>
                <a:spcPct val="35000"/>
              </a:spcAft>
              <a:buFont typeface="Wingdings 2" pitchFamily="18" charset="2"/>
              <a:buChar char="n"/>
            </a:pPr>
            <a:r>
              <a:rPr lang="fr-CA" sz="1800">
                <a:latin typeface="Arial" charset="0"/>
                <a:sym typeface="Wingdings 2" pitchFamily="18" charset="2"/>
              </a:rPr>
              <a:t>Les hormones, qu’elles proviennent de l’adénohypophyse ou de glandes endocrines, engendrent les réponses de leurs cellules cibles.</a:t>
            </a:r>
          </a:p>
          <a:p>
            <a:pPr>
              <a:spcAft>
                <a:spcPct val="35000"/>
              </a:spcAft>
              <a:buFont typeface="Wingdings 2" pitchFamily="18" charset="2"/>
              <a:buNone/>
            </a:pPr>
            <a:r>
              <a:rPr lang="fr-CA" sz="1800">
                <a:solidFill>
                  <a:srgbClr val="FF0000"/>
                </a:solidFill>
                <a:latin typeface="Arial" charset="0"/>
                <a:sym typeface="Wingdings 2" pitchFamily="18" charset="2"/>
              </a:rPr>
              <a:t></a:t>
            </a:r>
            <a:r>
              <a:rPr lang="fr-CA" sz="1800">
                <a:latin typeface="Arial" charset="0"/>
                <a:sym typeface="Wingdings 2" pitchFamily="18" charset="2"/>
              </a:rPr>
              <a:t>	L’augmentation de la concentration sanguine d’hormone inhibe l’hypothalamus et/ou l’adénohypophyse. (Inversement, une diminution de la concentration sanguine de l’hormone aurait un effet stimulateur)</a:t>
            </a:r>
          </a:p>
          <a:p>
            <a:pPr>
              <a:spcAft>
                <a:spcPct val="35000"/>
              </a:spcAft>
              <a:buFont typeface="Wingdings 2" pitchFamily="18" charset="2"/>
              <a:buNone/>
            </a:pPr>
            <a:r>
              <a:rPr lang="fr-CA" sz="1800">
                <a:latin typeface="Arial" charset="0"/>
                <a:sym typeface="Wingdings 2" pitchFamily="18" charset="2"/>
              </a:rPr>
              <a:t>	C’est un mécanisme de rétro-inhibition qui assure un contrôle du taux sanguin de l’hormone.</a:t>
            </a:r>
          </a:p>
        </p:txBody>
      </p:sp>
    </p:spTree>
  </p:cSld>
  <p:clrMapOvr>
    <a:masterClrMapping/>
  </p:clrMapOvr>
</p:sld>
</file>

<file path=ppt/theme/theme1.xml><?xml version="1.0" encoding="utf-8"?>
<a:theme xmlns:a="http://schemas.openxmlformats.org/drawingml/2006/main" name="HAP7">
  <a:themeElements>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AP7">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AP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AP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AP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AP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AP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AP7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AP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AP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AP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AP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AP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HAP7_lecture_notes:HAP7.pot</Template>
  <TotalTime>8650</TotalTime>
  <Words>3548</Words>
  <Application>Microsoft Office PowerPoint</Application>
  <PresentationFormat>On-screen Show (4:3)</PresentationFormat>
  <Paragraphs>406</Paragraphs>
  <Slides>27</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Calibri</vt:lpstr>
      <vt:lpstr>Comic Sans MS</vt:lpstr>
      <vt:lpstr>Courier New</vt:lpstr>
      <vt:lpstr>Symbol</vt:lpstr>
      <vt:lpstr>Times New Roman</vt:lpstr>
      <vt:lpstr>Verdana</vt:lpstr>
      <vt:lpstr>Wingdings</vt:lpstr>
      <vt:lpstr>Wingdings 2</vt:lpstr>
      <vt:lpstr>HAP7</vt:lpstr>
      <vt:lpstr>PowerPoint Presentation</vt:lpstr>
      <vt:lpstr>4.1 L’HOMÉOSTASIE</vt:lpstr>
      <vt:lpstr>4.1.2 Décrire les éléments essentiels qui participent aux mécanismes de régulation homéostatique</vt:lpstr>
      <vt:lpstr>PowerPoint Presentation</vt:lpstr>
      <vt:lpstr>4.1.3 Distinguer entre rétro-inhibition et rétroactivation</vt:lpstr>
      <vt:lpstr>PowerPoint Presentation</vt:lpstr>
      <vt:lpstr>PowerPoint Presentation</vt:lpstr>
      <vt:lpstr>PowerPoint Presentation</vt:lpstr>
      <vt:lpstr>4.2  LE SYSTÈME NERVEUX AUTONOME</vt:lpstr>
      <vt:lpstr>PowerPoint Presentation</vt:lpstr>
      <vt:lpstr>PowerPoint Presentation</vt:lpstr>
      <vt:lpstr>PowerPoint Presentation</vt:lpstr>
      <vt:lpstr>PowerPoint Presentation</vt:lpstr>
      <vt:lpstr>PowerPoint Presentation</vt:lpstr>
      <vt:lpstr>PowerPoint Presentation</vt:lpstr>
      <vt:lpstr>4.3   LE SYSTÈME ENDOCRINIEN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ANP1505</dc:title>
  <dc:creator/>
  <cp:lastModifiedBy>Michel Désilets</cp:lastModifiedBy>
  <cp:revision>724</cp:revision>
  <dcterms:created xsi:type="dcterms:W3CDTF">2002-11-19T06:42:31Z</dcterms:created>
  <dcterms:modified xsi:type="dcterms:W3CDTF">2021-02-22T21:41:54Z</dcterms:modified>
</cp:coreProperties>
</file>