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8" r:id="rId10"/>
    <p:sldId id="269" r:id="rId11"/>
    <p:sldId id="270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44" autoAdjust="0"/>
    <p:restoredTop sz="86957" autoAdjust="0"/>
  </p:normalViewPr>
  <p:slideViewPr>
    <p:cSldViewPr snapToGrid="0">
      <p:cViewPr varScale="1">
        <p:scale>
          <a:sx n="99" d="100"/>
          <a:sy n="99" d="100"/>
        </p:scale>
        <p:origin x="10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88AB8-1C01-41DC-AFCA-28305AC61B27}" type="datetimeFigureOut">
              <a:rPr lang="fr-CA" smtClean="0"/>
              <a:t>2021-11-01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F1DE7-72A5-40DE-843D-98ED1D33E9C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178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AADC-90C4-42A0-92DD-A3EB1E3F99BC}" type="datetime1">
              <a:rPr lang="fr-CA" smtClean="0"/>
              <a:t>2021-11-01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135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81BE-FF7C-4713-86B5-98B3635F7575}" type="datetime1">
              <a:rPr lang="fr-CA" smtClean="0"/>
              <a:t>2021-11-01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56662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F1A6-A103-49CB-B28A-B5B8CE7CCF08}" type="datetime1">
              <a:rPr lang="fr-CA" smtClean="0"/>
              <a:t>2021-11-01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1871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FE57F-B680-462B-BBFD-7518F74AF714}" type="datetime1">
              <a:rPr lang="fr-CA" smtClean="0"/>
              <a:t>2021-11-01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621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B3B4F-1CE8-448C-951A-2E287C7816DA}" type="datetime1">
              <a:rPr lang="fr-CA" smtClean="0"/>
              <a:t>2021-11-01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7481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3F50-9144-44F9-A37F-D55A19808CF4}" type="datetime1">
              <a:rPr lang="fr-CA" smtClean="0"/>
              <a:t>2021-11-01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743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B2447-19AC-45D2-83F5-5B12576F084D}" type="datetime1">
              <a:rPr lang="fr-CA" smtClean="0"/>
              <a:t>2021-11-01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59948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9AF-12D3-47FA-A0D6-97746BB8E776}" type="datetime1">
              <a:rPr lang="fr-CA" smtClean="0"/>
              <a:t>2021-11-01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165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19D18-3682-4189-B23C-B8B496B3307C}" type="datetime1">
              <a:rPr lang="fr-CA" smtClean="0"/>
              <a:t>2021-11-01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09409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AFDA-2171-49C0-B449-3733417EA82F}" type="datetime1">
              <a:rPr lang="fr-CA" smtClean="0"/>
              <a:t>2021-11-01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7122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BD924-29A3-4FF2-B149-61A5377F8882}" type="datetime1">
              <a:rPr lang="fr-CA" smtClean="0"/>
              <a:t>2021-11-01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0238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18466-3607-4A57-8167-9FAB5784D41C}" type="datetime1">
              <a:rPr lang="fr-CA" smtClean="0"/>
              <a:t>2021-11-01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7AD9-CE17-438C-A638-C64D2D42D7C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374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56F5A5-858F-46CA-9BFD-D00A43A1C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Cas 2:</a:t>
            </a:r>
            <a:r>
              <a:rPr lang="fr-CA" dirty="0"/>
              <a:t> X est normale, l’écart type est inconnu et la taille de l’échantillon est inférieure à 30.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20947A4-826B-445D-9AAA-AD54C03FF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5C86AC-1A2A-4FC8-8B54-D33F8080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8C14A59C-59DF-4D94-B2B1-4BAB8A5098E4}"/>
                  </a:ext>
                </a:extLst>
              </p:cNvPr>
              <p:cNvSpPr txBox="1"/>
              <p:nvPr/>
            </p:nvSpPr>
            <p:spPr>
              <a:xfrm>
                <a:off x="1264025" y="1690689"/>
                <a:ext cx="9762564" cy="4039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Puisque la variable X est normale alors si on prend un échantillon aléatoire de n mesures de cette variable, on sait que: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𝑣𝑎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ê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𝑡𝑟𝑒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𝑛𝑜𝑟𝑚𝑎𝑙𝑒𝑚𝑒𝑛𝑡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𝑑𝑖𝑠𝑡𝑟𝑖𝑏𝑢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é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𝑎𝑣𝑒𝑐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𝑢𝑛𝑒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𝑚𝑜𝑦𝑒𝑛𝑛𝑒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é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𝑔𝑎𝑙𝑒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à 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𝑢𝑛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é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𝑐𝑎𝑟𝑡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Or on ne connait pas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fr-CA" dirty="0"/>
                  <a:t>, on va donc l’estimer par l’écart type de l’échantillon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fr-CA" dirty="0"/>
                  <a:t> et par conséquent,  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𝑣𝑎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ê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𝑡𝑟𝑒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𝑛𝑜𝑟𝑚𝑎𝑙𝑒𝑚𝑒𝑛𝑡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𝑑𝑖𝑠𝑡𝑟𝑖𝑏𝑢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𝑎𝑣𝑒𝑐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𝑢𝑛𝑒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𝑚𝑜𝑦𝑒𝑛𝑛𝑒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é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𝑔𝑎𝑙𝑒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à 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𝑒𝑡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𝑢𝑛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é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𝑐𝑎𝑟𝑡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fr-CA" dirty="0"/>
              </a:p>
              <a:p>
                <a:r>
                  <a:rPr lang="fr-CA" dirty="0"/>
                  <a:t>Si on la standardise, on obtient: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𝐿𝑜𝑖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𝑆𝑡𝑢𝑑𝑒𝑛𝑡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à 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𝑑𝑒𝑔𝑟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é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𝑙𝑖𝑏𝑒𝑟𝑡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é.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Histoire: Raconté par le chameau!!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8C14A59C-59DF-4D94-B2B1-4BAB8A509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025" y="1690689"/>
                <a:ext cx="9762564" cy="4039760"/>
              </a:xfrm>
              <a:prstGeom prst="rect">
                <a:avLst/>
              </a:prstGeom>
              <a:blipFill>
                <a:blip r:embed="rId2"/>
                <a:stretch>
                  <a:fillRect l="-499" t="-754" b="-135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808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B7E24B-CC20-4901-8700-16A7FFA7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859" y="640081"/>
            <a:ext cx="3494341" cy="379348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CA" sz="3600" dirty="0"/>
              <a:t>Lorsque n dépasse 30 la loi </a:t>
            </a:r>
            <a:r>
              <a:rPr lang="fr-CA" sz="3600" dirty="0" err="1"/>
              <a:t>Student</a:t>
            </a:r>
            <a:r>
              <a:rPr lang="fr-CA" sz="3600" dirty="0"/>
              <a:t> épouse la forme d’une loi normale centrée et réduite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FC7D98-7B8B-402A-90FC-F027482F2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926" y="0"/>
            <a:ext cx="756607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28">
            <a:extLst>
              <a:ext uri="{FF2B5EF4-FFF2-40B4-BE49-F238E27FC236}">
                <a16:creationId xmlns:a16="http://schemas.microsoft.com/office/drawing/2014/main" id="{AD7356EA-285B-4E5D-8FEC-104659A4F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5903" y="640091"/>
            <a:ext cx="6266120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D30A0CB-0587-472A-A5F5-C8E7A931BFDD}"/>
              </a:ext>
            </a:extLst>
          </p:cNvPr>
          <p:cNvPicPr/>
          <p:nvPr/>
        </p:nvPicPr>
        <p:blipFill rotWithShape="1">
          <a:blip r:embed="rId2"/>
          <a:srcRect r="-1" b="11334"/>
          <a:stretch/>
        </p:blipFill>
        <p:spPr>
          <a:xfrm>
            <a:off x="5441735" y="804672"/>
            <a:ext cx="5934456" cy="5248656"/>
          </a:xfrm>
          <a:prstGeom prst="rect">
            <a:avLst/>
          </a:prstGeom>
          <a:effectLst/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DF190E7-F386-486E-A083-438109976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5858" y="6356350"/>
            <a:ext cx="3627692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defRPr/>
            </a:pPr>
            <a:endParaRPr lang="en-US" sz="1200" kern="1200">
              <a:solidFill>
                <a:srgbClr val="898989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FA80213-D7CC-475B-AC27-8064929A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9470" y="6356350"/>
            <a:ext cx="689322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  <a:defRPr/>
            </a:pPr>
            <a:fld id="{26377AD9-CE17-438C-A638-C64D2D42D7CF}" type="slidenum">
              <a:rPr lang="en-US">
                <a:solidFill>
                  <a:srgbClr val="595959"/>
                </a:solidFill>
                <a:latin typeface="Calibri" panose="020F0502020204030204"/>
              </a:rPr>
              <a:pPr algn="l" defTabSz="914400"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srgbClr val="595959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65448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16F4FE-490A-40F5-9855-BBFCE316E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842046"/>
          </a:xfrm>
        </p:spPr>
        <p:txBody>
          <a:bodyPr>
            <a:normAutofit fontScale="90000"/>
          </a:bodyPr>
          <a:lstStyle/>
          <a:p>
            <a:r>
              <a:rPr lang="fr-CA" dirty="0"/>
              <a:t>On va donc se baser sur cette variable pour trouver un intervalle de confiance pour la moyenne de la variable.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A0A3F6E-2916-4AA7-BE6B-4A4914F20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221ADF-73E6-46F5-BE58-5B6B6C9C0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3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ED5393A-2D8F-4BF8-B9CE-0DBE57772EB2}"/>
                  </a:ext>
                </a:extLst>
              </p:cNvPr>
              <p:cNvSpPr txBox="1"/>
              <p:nvPr/>
            </p:nvSpPr>
            <p:spPr>
              <a:xfrm>
                <a:off x="94130" y="2585545"/>
                <a:ext cx="11833412" cy="320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On se fixe alors un seuil de signification </a:t>
                </a:r>
                <a14:m>
                  <m:oMath xmlns:m="http://schemas.openxmlformats.org/officeDocument/2006/math"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CA" dirty="0"/>
                  <a:t> et on va chercher un intervalle de confiance de niveau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%.</m:t>
                    </m:r>
                  </m:oMath>
                </a14:m>
                <a:endParaRPr lang="fr-CA" b="0" dirty="0">
                  <a:ea typeface="Cambria Math" panose="02040503050406030204" pitchFamily="18" charset="0"/>
                </a:endParaRPr>
              </a:p>
              <a:p>
                <a:r>
                  <a:rPr lang="fr-CA" dirty="0"/>
                  <a:t>Comme la variable de </a:t>
                </a:r>
                <a:r>
                  <a:rPr lang="fr-CA" dirty="0" err="1"/>
                  <a:t>Student</a:t>
                </a:r>
                <a:r>
                  <a:rPr lang="fr-CA" dirty="0"/>
                  <a:t> est symétrique par rapport à zéro, on va donc suivre la même méthode utilisée dans le cas 1:</a:t>
                </a:r>
              </a:p>
              <a:p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−1;</m:t>
                            </m:r>
                            <m:f>
                              <m:fPr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num>
                          <m:den>
                            <m:f>
                              <m:fPr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fr-CA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fr-CA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den>
                            </m:f>
                          </m:den>
                        </m:f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−1;</m:t>
                            </m:r>
                            <m:f>
                              <m:fPr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</m:sSub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(−</m:t>
                    </m:r>
                    <m:sSub>
                      <m:sSubPr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−1;</m:t>
                        </m:r>
                        <m:f>
                          <m:fPr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fr-CA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fr-CA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fr-CA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fr-CA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−1;</m:t>
                        </m:r>
                        <m:f>
                          <m:fPr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fr-CA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fr-CA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fr-CA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fr-CA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−1;</m:t>
                        </m:r>
                        <m:f>
                          <m:fPr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m:rPr>
                        <m:nor/>
                      </m:rPr>
                      <a:rPr lang="fr-CA" dirty="0"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fr-CA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−1;</m:t>
                        </m:r>
                        <m:f>
                          <m:fPr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m:rPr>
                        <m:nor/>
                      </m:rPr>
                      <a:rPr lang="fr-CA" dirty="0"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fr-CA" dirty="0"/>
                  <a:t>)</a:t>
                </a:r>
              </a:p>
              <a:p>
                <a:endParaRPr lang="fr-CA" dirty="0"/>
              </a:p>
              <a:p>
                <a:r>
                  <a:rPr lang="fr-CA" dirty="0"/>
                  <a:t>Donc un intervalle de confiance de niveau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fr-CA" dirty="0"/>
                  <a:t> pour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fr-CA" dirty="0"/>
                  <a:t> est de la forme:</a:t>
                </a:r>
              </a:p>
              <a:p>
                <a:r>
                  <a:rPr lang="fr-CA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fr-CA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; </m:t>
                        </m:r>
                        <m:acc>
                          <m:accPr>
                            <m:chr m:val="̅"/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𝑎𝑣𝑒𝑐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𝑙𝑎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𝑚𝑎𝑟𝑔𝑒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𝑒𝑟𝑟𝑒𝑢𝑟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−1;</m:t>
                        </m:r>
                        <m:f>
                          <m:fPr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m:rPr>
                        <m:nor/>
                      </m:rPr>
                      <a:rPr lang="fr-CA" dirty="0"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Le point critique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−1;</m:t>
                        </m:r>
                        <m:f>
                          <m:fPr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fr-CA" dirty="0"/>
                  <a:t>  se trouve en utilisant la table de </a:t>
                </a:r>
                <a:r>
                  <a:rPr lang="fr-CA" dirty="0" err="1"/>
                  <a:t>Student</a:t>
                </a:r>
                <a:r>
                  <a:rPr lang="fr-CA" dirty="0"/>
                  <a:t> qui est à la fin de votre livre ou bien en utilisant le Logiciel R.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ED5393A-2D8F-4BF8-B9CE-0DBE57772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30" y="2585545"/>
                <a:ext cx="11833412" cy="3201197"/>
              </a:xfrm>
              <a:prstGeom prst="rect">
                <a:avLst/>
              </a:prstGeom>
              <a:blipFill>
                <a:blip r:embed="rId2"/>
                <a:stretch>
                  <a:fillRect l="-412" t="-952" b="-209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499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4DA34-B5A0-4E47-9D1E-D69A91FA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Utilisation de R pour déterminer les points critiques.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68EFBCA-6C70-4E5F-BA1E-C5B0B974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E59021-5764-40BB-870A-BC8ADED67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4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F0B78060-5EBF-42D7-B194-D8D0944EAA6B}"/>
                  </a:ext>
                </a:extLst>
              </p:cNvPr>
              <p:cNvSpPr txBox="1"/>
              <p:nvPr/>
            </p:nvSpPr>
            <p:spPr>
              <a:xfrm>
                <a:off x="726141" y="2043953"/>
                <a:ext cx="11308977" cy="3363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fr-CA" dirty="0"/>
                  <a:t>Trouver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−1; 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=12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=10%.</m:t>
                    </m:r>
                  </m:oMath>
                </a14:m>
                <a:endParaRPr lang="fr-CA" b="0" dirty="0">
                  <a:ea typeface="Cambria Math" panose="02040503050406030204" pitchFamily="18" charset="0"/>
                </a:endParaRPr>
              </a:p>
              <a:p>
                <a:r>
                  <a:rPr lang="fr-CA" dirty="0"/>
                  <a:t>  </a:t>
                </a:r>
                <a14:m>
                  <m:oMath xmlns:m="http://schemas.openxmlformats.org/officeDocument/2006/math"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=0,10→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=0,05→1−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=0,95→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11,0.05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𝑡𝑎𝑝𝑒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𝑞𝑡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0.95,11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𝑞𝑢𝑖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𝑑𝑜𝑛𝑛𝑒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fr-CA" dirty="0"/>
                  <a:t>1,795885</a:t>
                </a:r>
                <a14:m>
                  <m:oMath xmlns:m="http://schemas.openxmlformats.org/officeDocument/2006/math">
                    <m:r>
                      <a:rPr lang="fr-CA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fr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1,796</m:t>
                    </m:r>
                  </m:oMath>
                </a14:m>
                <a:endParaRPr lang="fr-CA" dirty="0"/>
              </a:p>
              <a:p>
                <a:r>
                  <a:rPr lang="fr-CA" dirty="0"/>
                  <a:t>2. Trouver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−1; 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=5%.</m:t>
                    </m:r>
                  </m:oMath>
                </a14:m>
                <a:endParaRPr lang="fr-CA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=0,05→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=0,025→1−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=0,975→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9,0.025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𝑜𝑛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𝑡𝑎𝑝𝑒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𝑞𝑡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0.975,9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𝑞𝑢𝑖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𝑑𝑜𝑛𝑛𝑒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:2.262157~2,262</m:t>
                      </m:r>
                    </m:oMath>
                  </m:oMathPara>
                </a14:m>
                <a:endParaRPr lang="fr-CA" dirty="0"/>
              </a:p>
              <a:p>
                <a:r>
                  <a:rPr lang="fr-CA" dirty="0"/>
                  <a:t>3. Trouver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−1; 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=22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=2%.</m:t>
                    </m:r>
                  </m:oMath>
                </a14:m>
                <a:endParaRPr lang="fr-CA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=0,02→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=0,01→1−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=0,99→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21,0.01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𝑜𝑛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𝑡𝑎𝑝𝑒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𝑞𝑡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0.99,21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𝑞𝑢𝑖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𝑑𝑜𝑛𝑛𝑒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2,517648~2,518</m:t>
                      </m:r>
                    </m:oMath>
                  </m:oMathPara>
                </a14:m>
                <a:endParaRPr lang="fr-CA" dirty="0">
                  <a:ea typeface="Cambria Math" panose="02040503050406030204" pitchFamily="18" charset="0"/>
                </a:endParaRPr>
              </a:p>
              <a:p>
                <a:r>
                  <a:rPr lang="fr-CA" b="0" dirty="0">
                    <a:ea typeface="Cambria Math" panose="02040503050406030204" pitchFamily="18" charset="0"/>
                  </a:rPr>
                  <a:t>4. </a:t>
                </a:r>
                <a:r>
                  <a:rPr lang="fr-CA" dirty="0"/>
                  <a:t>Trouver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−1; 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𝑝𝑜𝑢𝑟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=8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=1%.</m:t>
                    </m:r>
                  </m:oMath>
                </a14:m>
                <a:endParaRPr lang="fr-CA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=0,01→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=0,005→1−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=0,995→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7,0.995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𝑜𝑛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𝑡𝑎𝑝𝑒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𝑞𝑡</m:t>
                      </m:r>
                      <m:d>
                        <m:d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0.995,7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𝑞𝑢𝑖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𝑑𝑜𝑛𝑛𝑒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fr-CA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3,499483</m:t>
                      </m:r>
                      <m:r>
                        <a:rPr lang="fr-CA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fr-CA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3,499</m:t>
                      </m:r>
                    </m:oMath>
                  </m:oMathPara>
                </a14:m>
                <a:endParaRPr lang="fr-CA" b="0" dirty="0">
                  <a:ea typeface="Cambria Math" panose="02040503050406030204" pitchFamily="18" charset="0"/>
                </a:endParaRP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F0B78060-5EBF-42D7-B194-D8D0944EA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41" y="2043953"/>
                <a:ext cx="11308977" cy="3363485"/>
              </a:xfrm>
              <a:prstGeom prst="rect">
                <a:avLst/>
              </a:prstGeom>
              <a:blipFill>
                <a:blip r:embed="rId2"/>
                <a:stretch>
                  <a:fillRect l="-431" t="-72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847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1DBC36-7539-433C-A910-6DA34A28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211793"/>
          </a:xfrm>
        </p:spPr>
        <p:txBody>
          <a:bodyPr>
            <a:normAutofit fontScale="90000"/>
          </a:bodyPr>
          <a:lstStyle/>
          <a:p>
            <a:pPr algn="l">
              <a:lnSpc>
                <a:spcPct val="200000"/>
              </a:lnSpc>
              <a:spcAft>
                <a:spcPts val="800"/>
              </a:spcAft>
            </a:pPr>
            <a:r>
              <a:rPr lang="fr-CA" dirty="0"/>
              <a:t>Exemple 1: 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Soit </a:t>
            </a:r>
            <a:r>
              <a:rPr lang="fr-FR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 :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le taux de cholestérol (en mg/</a:t>
            </a:r>
            <a:r>
              <a:rPr lang="fr-FR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dL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chez des adultes d’un certain groupe d’âge d’une population. En supposant cette variable normalement distribuée avec une variance inconnue, on a prélevé un échantillon aléatoire de cinq adultes dans ce groupe, sur lesquels on a mesuré cette variable </a:t>
            </a:r>
            <a:r>
              <a:rPr lang="fr-FR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et obtenu les résultats suivants :</a:t>
            </a:r>
            <a:br>
              <a:rPr lang="fr-C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fr-C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120 116 130 132 111</a:t>
            </a:r>
            <a:br>
              <a:rPr lang="fr-C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fr-C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 doit déterminer un intervalle de confiance de niveau 95 % pour le taux de cholestérol moyen de ce groupe d’âge.</a:t>
            </a:r>
            <a:br>
              <a:rPr lang="fr-C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fr-CA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AC92314-82BF-4434-A961-04D1EFFB2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544F7D-6015-4646-BC92-B49FE0554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5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C041FC5-30D4-4F79-BDDE-2336C32CBE10}"/>
                  </a:ext>
                </a:extLst>
              </p:cNvPr>
              <p:cNvSpPr txBox="1"/>
              <p:nvPr/>
            </p:nvSpPr>
            <p:spPr>
              <a:xfrm>
                <a:off x="1062318" y="3429000"/>
                <a:ext cx="10291482" cy="2615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b="1" dirty="0"/>
                  <a:t>Réponse: </a:t>
                </a:r>
              </a:p>
              <a:p>
                <a:r>
                  <a:rPr lang="fr-CA" b="1" dirty="0"/>
                  <a:t>Méthode 1: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=5; </m:t>
                    </m:r>
                    <m:acc>
                      <m:accPr>
                        <m:chr m:val="̅"/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CA" b="0" i="1" smtClean="0">
                        <a:latin typeface="Cambria Math" panose="02040503050406030204" pitchFamily="18" charset="0"/>
                      </a:rPr>
                      <m:t>=121,8  ; </m:t>
                    </m:r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=9,01 ;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=5%→</m:t>
                    </m:r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4;0,025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=2,776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𝐷𝑜𝑛𝑐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𝑚𝑎𝑟𝑔𝑒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fr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𝑒𝑟𝑟𝑒𝑢𝑟</m:t>
                    </m:r>
                  </m:oMath>
                </a14:m>
                <a:endParaRPr lang="fr-CA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=2,776</m:t>
                      </m:r>
                      <m:f>
                        <m:f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9,01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CA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=11.19 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𝑃𝑎𝑟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𝑐𝑜𝑛𝑠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𝑞𝑢𝑒𝑛𝑡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fr-CA" dirty="0"/>
              </a:p>
              <a:p>
                <a:r>
                  <a:rPr lang="fr-CA" dirty="0"/>
                  <a:t>Un intervalle de confiance de niveau 95% pour la moyenne est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121,8−11,19;121,8+11,19</m:t>
                          </m:r>
                        </m:e>
                      </m:d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110,61;132,99</m:t>
                          </m:r>
                        </m:e>
                      </m:d>
                    </m:oMath>
                  </m:oMathPara>
                </a14:m>
                <a:endParaRPr lang="fr-CA" dirty="0"/>
              </a:p>
              <a:p>
                <a:r>
                  <a:rPr lang="fr-CA" b="1" dirty="0"/>
                  <a:t>Méthode 2:</a:t>
                </a:r>
                <a:r>
                  <a:rPr lang="fr-CA" dirty="0"/>
                  <a:t>  Utilisation de R.</a:t>
                </a:r>
              </a:p>
              <a:p>
                <a:r>
                  <a:rPr lang="fr-CA" dirty="0"/>
                  <a:t>On met les données dans un vecteur x et on tape:</a:t>
                </a:r>
              </a:p>
              <a:p>
                <a:r>
                  <a:rPr lang="fr-CA" dirty="0" err="1"/>
                  <a:t>t.test</a:t>
                </a:r>
                <a:r>
                  <a:rPr lang="fr-CA" dirty="0"/>
                  <a:t>(x) et on obtient le même intervalle de confiance.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C041FC5-30D4-4F79-BDDE-2336C32CB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318" y="3429000"/>
                <a:ext cx="10291482" cy="2615781"/>
              </a:xfrm>
              <a:prstGeom prst="rect">
                <a:avLst/>
              </a:prstGeom>
              <a:blipFill>
                <a:blip r:embed="rId2"/>
                <a:stretch>
                  <a:fillRect l="-474" t="-1399" b="-256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592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A2B491-A1E4-453E-A419-C8B00B243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01557"/>
          </a:xfrm>
        </p:spPr>
        <p:txBody>
          <a:bodyPr>
            <a:normAutofit/>
          </a:bodyPr>
          <a:lstStyle/>
          <a:p>
            <a:r>
              <a:rPr lang="fr-CA" dirty="0"/>
              <a:t>Exemple 2: 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 concentration de mercure dans un lac est supposée normalement distribuée. On a prélevé un échantillon aléatoire de 10 mesures dans ce lac et obtenu les résultats suivants (en nanogrammes par litre) Déterminer un intervalle de confiance de niveau 99% de la moyenne de cette variable</a:t>
            </a:r>
            <a:br>
              <a:rPr lang="fr-C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fr-CA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0926E1-2143-42E9-B329-0C6DB0B0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EFB9A6-B9FB-456C-BA3D-C8C693094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6</a:t>
            </a:fld>
            <a:endParaRPr lang="fr-CA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7986EF04-5983-4797-A3F4-01EE5348F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966371"/>
              </p:ext>
            </p:extLst>
          </p:nvPr>
        </p:nvGraphicFramePr>
        <p:xfrm>
          <a:off x="1043152" y="1778747"/>
          <a:ext cx="10515600" cy="8536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43769229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08821743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04940154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35667297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36626403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667864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52667718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90227833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1069675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992130275"/>
                    </a:ext>
                  </a:extLst>
                </a:gridCol>
              </a:tblGrid>
              <a:tr h="853670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 dirty="0">
                          <a:effectLst/>
                        </a:rPr>
                        <a:t>5,67</a:t>
                      </a:r>
                      <a:endParaRPr lang="fr-CA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>
                          <a:effectLst/>
                        </a:rPr>
                        <a:t>4,78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>
                          <a:effectLst/>
                        </a:rPr>
                        <a:t>6,56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>
                          <a:effectLst/>
                        </a:rPr>
                        <a:t>4,23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>
                          <a:effectLst/>
                        </a:rPr>
                        <a:t>3,17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 dirty="0">
                          <a:effectLst/>
                        </a:rPr>
                        <a:t>3,89</a:t>
                      </a:r>
                      <a:endParaRPr lang="fr-CA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>
                          <a:effectLst/>
                        </a:rPr>
                        <a:t>4,78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>
                          <a:effectLst/>
                        </a:rPr>
                        <a:t>4,67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>
                          <a:effectLst/>
                        </a:rPr>
                        <a:t>5,17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 dirty="0">
                          <a:effectLst/>
                        </a:rPr>
                        <a:t>6,34</a:t>
                      </a:r>
                      <a:endParaRPr lang="fr-CA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1569369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20F225FA-C866-427A-A806-BD685F716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152" y="177874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74CAE9F3-161C-4F17-97D1-34A291D00CCC}"/>
                  </a:ext>
                </a:extLst>
              </p:cNvPr>
              <p:cNvSpPr txBox="1"/>
              <p:nvPr/>
            </p:nvSpPr>
            <p:spPr>
              <a:xfrm>
                <a:off x="1143000" y="3092824"/>
                <a:ext cx="1051560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b="1" dirty="0"/>
                  <a:t>Réponse: </a:t>
                </a:r>
              </a:p>
              <a:p>
                <a:r>
                  <a:rPr lang="fr-CA" dirty="0"/>
                  <a:t>On met ces données dans un vecteur y et on tape:</a:t>
                </a:r>
              </a:p>
              <a:p>
                <a:r>
                  <a:rPr lang="fr-CA" dirty="0" err="1"/>
                  <a:t>t.test</a:t>
                </a:r>
                <a:r>
                  <a:rPr lang="fr-CA" dirty="0"/>
                  <a:t>(</a:t>
                </a:r>
                <a:r>
                  <a:rPr lang="fr-CA" dirty="0" err="1"/>
                  <a:t>y,conf.level</a:t>
                </a:r>
                <a:r>
                  <a:rPr lang="fr-CA" dirty="0"/>
                  <a:t>=0.99)  et on obtient:</a:t>
                </a:r>
              </a:p>
              <a:p>
                <a:r>
                  <a:rPr lang="en-US" b="1" dirty="0"/>
                  <a:t>t = 14.755, df = 9, p-value = 1.302e-07</a:t>
                </a:r>
              </a:p>
              <a:p>
                <a:r>
                  <a:rPr lang="en-US" b="1" dirty="0"/>
                  <a:t>alternative hypothesis: true mean is not equal to 0</a:t>
                </a:r>
              </a:p>
              <a:p>
                <a:r>
                  <a:rPr lang="en-US" b="1" dirty="0"/>
                  <a:t>99 percent confidence interval:</a:t>
                </a:r>
              </a:p>
              <a:p>
                <a:r>
                  <a:rPr lang="en-US" b="1" dirty="0"/>
                  <a:t> 3.840998 6.011002</a:t>
                </a:r>
              </a:p>
              <a:p>
                <a:r>
                  <a:rPr lang="en-US" b="1" dirty="0"/>
                  <a:t>sample estimates:</a:t>
                </a:r>
              </a:p>
              <a:p>
                <a:r>
                  <a:rPr lang="en-US" b="1" dirty="0"/>
                  <a:t>mean of x </a:t>
                </a:r>
              </a:p>
              <a:p>
                <a:r>
                  <a:rPr lang="en-US" b="1" dirty="0"/>
                  <a:t>    4.926 </a:t>
                </a:r>
              </a:p>
              <a:p>
                <a:endParaRPr lang="fr-CA" dirty="0"/>
              </a:p>
              <a:p>
                <a:r>
                  <a:rPr lang="fr-CA" dirty="0"/>
                  <a:t>Donc un intervalle de confiance de niveau 99% pour la concentration moyenne est: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3,84;6,01</m:t>
                        </m:r>
                      </m:e>
                    </m:d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74CAE9F3-161C-4F17-97D1-34A291D00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092824"/>
                <a:ext cx="10515600" cy="3416320"/>
              </a:xfrm>
              <a:prstGeom prst="rect">
                <a:avLst/>
              </a:prstGeom>
              <a:blipFill>
                <a:blip r:embed="rId2"/>
                <a:stretch>
                  <a:fillRect l="-522" t="-891" b="-1783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107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775EC3-8C0A-4159-9476-FDC16415D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83780"/>
            <a:ext cx="10985942" cy="1418896"/>
          </a:xfrm>
        </p:spPr>
        <p:txBody>
          <a:bodyPr>
            <a:normAutofit fontScale="90000"/>
          </a:bodyPr>
          <a:lstStyle/>
          <a:p>
            <a:r>
              <a:rPr lang="fr-CA" dirty="0"/>
              <a:t>Exemple 3: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Dans une étude sur l’effet de la fumée sur la santé des bébés, on a mesuré le taux de cadmium (en nanogrammes par gramme), qu’on suppose normalement distribué, à partir du tissu placentaire d’un échantillon de cinq femmes qui fument de façon régulière. On a relevé les données suivantes , déterminer un intervalle de confiance de niveau 97% pour le taux de calcium moyen chez cette catégorie de la population</a:t>
            </a:r>
            <a:br>
              <a:rPr lang="fr-C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fr-CA" dirty="0"/>
              <a:t> 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EA7F596-AB77-4C20-A3FF-81B8BA109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0BF23-B008-41CB-A581-D9265C0A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7</a:t>
            </a:fld>
            <a:endParaRPr lang="fr-CA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66463C69-DB45-4EE4-8A12-346AA8627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390326"/>
              </p:ext>
            </p:extLst>
          </p:nvPr>
        </p:nvGraphicFramePr>
        <p:xfrm>
          <a:off x="1153511" y="1702676"/>
          <a:ext cx="10670630" cy="10405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4126">
                  <a:extLst>
                    <a:ext uri="{9D8B030D-6E8A-4147-A177-3AD203B41FA5}">
                      <a16:colId xmlns:a16="http://schemas.microsoft.com/office/drawing/2014/main" val="2372151837"/>
                    </a:ext>
                  </a:extLst>
                </a:gridCol>
                <a:gridCol w="2134126">
                  <a:extLst>
                    <a:ext uri="{9D8B030D-6E8A-4147-A177-3AD203B41FA5}">
                      <a16:colId xmlns:a16="http://schemas.microsoft.com/office/drawing/2014/main" val="728742651"/>
                    </a:ext>
                  </a:extLst>
                </a:gridCol>
                <a:gridCol w="2134126">
                  <a:extLst>
                    <a:ext uri="{9D8B030D-6E8A-4147-A177-3AD203B41FA5}">
                      <a16:colId xmlns:a16="http://schemas.microsoft.com/office/drawing/2014/main" val="3505341564"/>
                    </a:ext>
                  </a:extLst>
                </a:gridCol>
                <a:gridCol w="2134126">
                  <a:extLst>
                    <a:ext uri="{9D8B030D-6E8A-4147-A177-3AD203B41FA5}">
                      <a16:colId xmlns:a16="http://schemas.microsoft.com/office/drawing/2014/main" val="702411472"/>
                    </a:ext>
                  </a:extLst>
                </a:gridCol>
                <a:gridCol w="2134126">
                  <a:extLst>
                    <a:ext uri="{9D8B030D-6E8A-4147-A177-3AD203B41FA5}">
                      <a16:colId xmlns:a16="http://schemas.microsoft.com/office/drawing/2014/main" val="2888466535"/>
                    </a:ext>
                  </a:extLst>
                </a:gridCol>
              </a:tblGrid>
              <a:tr h="104052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>
                          <a:effectLst/>
                        </a:rPr>
                        <a:t>30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>
                          <a:effectLst/>
                        </a:rPr>
                        <a:t>30,1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>
                          <a:effectLst/>
                        </a:rPr>
                        <a:t>15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>
                          <a:effectLst/>
                        </a:rPr>
                        <a:t>24,1</a:t>
                      </a:r>
                      <a:endParaRPr lang="fr-CA" sz="10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800"/>
                        </a:spcAft>
                      </a:pPr>
                      <a:r>
                        <a:rPr lang="fr-CA" sz="1000" dirty="0">
                          <a:effectLst/>
                        </a:rPr>
                        <a:t>30,5</a:t>
                      </a:r>
                      <a:endParaRPr lang="fr-CA" sz="1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00941415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BBA5D743-951E-44ED-995E-2110DBD3F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510" y="1403282"/>
            <a:ext cx="12371742" cy="120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E0A5BE7E-7E85-4318-A4E9-216EBBC43B55}"/>
                  </a:ext>
                </a:extLst>
              </p:cNvPr>
              <p:cNvSpPr txBox="1"/>
              <p:nvPr/>
            </p:nvSpPr>
            <p:spPr>
              <a:xfrm>
                <a:off x="1153509" y="2907964"/>
                <a:ext cx="10670629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b="1" dirty="0"/>
                  <a:t>Réponse: </a:t>
                </a:r>
              </a:p>
              <a:p>
                <a:r>
                  <a:rPr lang="fr-CA" dirty="0"/>
                  <a:t>On met ces données dans un vecteur x et on tape:</a:t>
                </a:r>
              </a:p>
              <a:p>
                <a:r>
                  <a:rPr lang="fr-CA" dirty="0" err="1"/>
                  <a:t>t.test</a:t>
                </a:r>
                <a:r>
                  <a:rPr lang="fr-CA" dirty="0"/>
                  <a:t>(</a:t>
                </a:r>
                <a:r>
                  <a:rPr lang="fr-CA" dirty="0" err="1"/>
                  <a:t>x,conf.level</a:t>
                </a:r>
                <a:r>
                  <a:rPr lang="fr-CA" dirty="0"/>
                  <a:t>=0.97)  et on obtient:</a:t>
                </a:r>
              </a:p>
              <a:p>
                <a:endParaRPr lang="fr-CA" b="1" dirty="0"/>
              </a:p>
              <a:p>
                <a:r>
                  <a:rPr lang="en-US" b="1" dirty="0"/>
                  <a:t>t = 8.7036, df = 4, p-value = 0.0009595</a:t>
                </a:r>
              </a:p>
              <a:p>
                <a:r>
                  <a:rPr lang="en-US" b="1" dirty="0"/>
                  <a:t>alternative hypothesis: true mean is not equal to 0</a:t>
                </a:r>
              </a:p>
              <a:p>
                <a:r>
                  <a:rPr lang="en-US" b="1" dirty="0"/>
                  <a:t>97 percent confidence interval:</a:t>
                </a:r>
              </a:p>
              <a:p>
                <a:r>
                  <a:rPr lang="en-US" b="1" dirty="0"/>
                  <a:t> 16.11185 35.76815</a:t>
                </a:r>
              </a:p>
              <a:p>
                <a:r>
                  <a:rPr lang="en-US" b="1" dirty="0"/>
                  <a:t>sample estimates:</a:t>
                </a:r>
              </a:p>
              <a:p>
                <a:r>
                  <a:rPr lang="en-US" b="1" dirty="0"/>
                  <a:t>mean of x </a:t>
                </a:r>
              </a:p>
              <a:p>
                <a:r>
                  <a:rPr lang="en-US" b="1" dirty="0"/>
                  <a:t>    25.94 </a:t>
                </a:r>
              </a:p>
              <a:p>
                <a:endParaRPr lang="en-US" b="1" dirty="0"/>
              </a:p>
              <a:p>
                <a:r>
                  <a:rPr lang="en-US" dirty="0" err="1"/>
                  <a:t>Donc</a:t>
                </a:r>
                <a:r>
                  <a:rPr lang="en-US" dirty="0"/>
                  <a:t> un </a:t>
                </a:r>
                <a:r>
                  <a:rPr lang="en-US" dirty="0" err="1"/>
                  <a:t>intervalle</a:t>
                </a:r>
                <a:r>
                  <a:rPr lang="en-US" dirty="0"/>
                  <a:t> de </a:t>
                </a:r>
                <a:r>
                  <a:rPr lang="en-US" dirty="0" err="1"/>
                  <a:t>confiance</a:t>
                </a:r>
                <a:r>
                  <a:rPr lang="en-US" dirty="0"/>
                  <a:t> de </a:t>
                </a:r>
                <a:r>
                  <a:rPr lang="en-US" dirty="0" err="1"/>
                  <a:t>niveau</a:t>
                </a:r>
                <a:r>
                  <a:rPr lang="en-US" dirty="0"/>
                  <a:t> 97% pour le  </a:t>
                </a:r>
                <a:r>
                  <a:rPr lang="en-US" dirty="0" err="1"/>
                  <a:t>taux</a:t>
                </a:r>
                <a:r>
                  <a:rPr lang="en-US" dirty="0"/>
                  <a:t> de </a:t>
                </a:r>
                <a:r>
                  <a:rPr lang="en-US" dirty="0" err="1"/>
                  <a:t>cacium</a:t>
                </a:r>
                <a:r>
                  <a:rPr lang="en-US" dirty="0"/>
                  <a:t> </a:t>
                </a:r>
                <a:r>
                  <a:rPr lang="en-US" dirty="0" err="1"/>
                  <a:t>moyen</a:t>
                </a:r>
                <a:r>
                  <a:rPr lang="en-US" dirty="0"/>
                  <a:t> chez les femmes qui </a:t>
                </a:r>
                <a:r>
                  <a:rPr lang="en-US" dirty="0" err="1"/>
                  <a:t>fument</a:t>
                </a:r>
                <a:r>
                  <a:rPr lang="en-US" dirty="0"/>
                  <a:t> </a:t>
                </a:r>
                <a:r>
                  <a:rPr lang="en-US" dirty="0" err="1"/>
                  <a:t>est</a:t>
                </a:r>
                <a:r>
                  <a:rPr lang="en-US" dirty="0"/>
                  <a:t> 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16,11;35,77</m:t>
                        </m:r>
                      </m:e>
                    </m:d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E0A5BE7E-7E85-4318-A4E9-216EBBC43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509" y="2907964"/>
                <a:ext cx="10670629" cy="3970318"/>
              </a:xfrm>
              <a:prstGeom prst="rect">
                <a:avLst/>
              </a:prstGeom>
              <a:blipFill>
                <a:blip r:embed="rId2"/>
                <a:stretch>
                  <a:fillRect l="-457" t="-768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565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0A4437-4B97-4FE6-BC4B-021273F81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Cas 3:</a:t>
            </a:r>
            <a:r>
              <a:rPr lang="fr-CA" dirty="0"/>
              <a:t> X est quelconque et la taille de l’échantillon est supérieure à 30.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5F9ED69-B6DC-4512-8F6F-AE25B093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9C7364-4A86-4E4C-9F3F-5195BE0EF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8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F4312376-8C6A-4435-A49C-CE5605462B31}"/>
                  </a:ext>
                </a:extLst>
              </p:cNvPr>
              <p:cNvSpPr txBox="1"/>
              <p:nvPr/>
            </p:nvSpPr>
            <p:spPr>
              <a:xfrm>
                <a:off x="954740" y="1559860"/>
                <a:ext cx="10165977" cy="4234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Puisque X n’est pas nécessairement normale, mais que n a dépassé 30; on sait que d’après le théorème central limite (TCL) que:</a:t>
                </a:r>
              </a:p>
              <a:p>
                <a:endParaRPr lang="fr-CA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fr-CA" dirty="0"/>
                  <a:t>  va être normalement normale avec une moyenne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𝑢𝑛𝑒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𝑣𝑎𝑟𝑖𝑎𝑛𝑐𝑒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𝑞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𝑝𝑒𝑢𝑡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𝑒𝑠𝑡𝑖𝑚𝑒𝑟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𝑝𝑎𝑟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fr-CA" dirty="0"/>
                  <a:t>  donc en standardisant cette variable on obtient: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𝑐𝑎𝑟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&gt;30</m:t>
                      </m:r>
                    </m:oMath>
                  </m:oMathPara>
                </a14:m>
                <a:endParaRPr lang="fr-CA" dirty="0"/>
              </a:p>
              <a:p>
                <a:endParaRPr lang="fr-CA" dirty="0"/>
              </a:p>
              <a:p>
                <a:r>
                  <a:rPr lang="fr-CA" dirty="0"/>
                  <a:t>Ce qui fait que pour un </a:t>
                </a:r>
                <a14:m>
                  <m:oMath xmlns:m="http://schemas.openxmlformats.org/officeDocument/2006/math"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CA" dirty="0"/>
                  <a:t> donné; la marge d’erreur est :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fr-CA" dirty="0"/>
                  <a:t>  et un intervalle de confiance de niveau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𝑝𝑜𝑢𝑟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𝑒𝑠𝑡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d>
                      <m:dPr>
                        <m:begChr m:val="["/>
                        <m:endChr m:val="]"/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; </m:t>
                        </m:r>
                        <m:acc>
                          <m:accPr>
                            <m:chr m:val="̅"/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fr-CA" dirty="0"/>
                  <a:t>.</a:t>
                </a:r>
              </a:p>
              <a:p>
                <a:r>
                  <a:rPr lang="fr-CA" b="1" dirty="0"/>
                  <a:t>Remarque:</a:t>
                </a:r>
                <a:r>
                  <a:rPr lang="fr-CA" dirty="0"/>
                  <a:t> En utilisant le logiciel R, on fait comme le cas 2. ce logiciel est majeur et vacciné, il va reconnaître dans quel cas on est.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F4312376-8C6A-4435-A49C-CE5605462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740" y="1559860"/>
                <a:ext cx="10165977" cy="4234749"/>
              </a:xfrm>
              <a:prstGeom prst="rect">
                <a:avLst/>
              </a:prstGeom>
              <a:blipFill>
                <a:blip r:embed="rId2"/>
                <a:stretch>
                  <a:fillRect l="-540" t="-863" b="-129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865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BAEA35-1255-4BB2-AC33-74B8184D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Taille </a:t>
            </a:r>
            <a:r>
              <a:rPr lang="fr-CA" dirty="0" err="1"/>
              <a:t>échantillonnale</a:t>
            </a:r>
            <a:r>
              <a:rPr lang="fr-CA" dirty="0"/>
              <a:t> minimum pour estimer une moyenne.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A2DC7C-E6C7-494A-B73F-BCFFD3E03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CC336D-6AC1-4B7E-90BE-32E268D5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9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9945D6E2-E7CD-4469-B0E7-45B109B2AE05}"/>
                  </a:ext>
                </a:extLst>
              </p:cNvPr>
              <p:cNvSpPr txBox="1"/>
              <p:nvPr/>
            </p:nvSpPr>
            <p:spPr>
              <a:xfrm>
                <a:off x="1116106" y="2124633"/>
                <a:ext cx="10421470" cy="3543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On sait que la marge d’erreur pour estimer une moyenne dans le cas 1 est: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fr-CA" dirty="0"/>
              </a:p>
              <a:p>
                <a:r>
                  <a:rPr lang="fr-CA" dirty="0"/>
                  <a:t>Donc si on veut estimer une moyenne avec une marge d’erreur E et un seuil </a:t>
                </a:r>
                <a14:m>
                  <m:oMath xmlns:m="http://schemas.openxmlformats.org/officeDocument/2006/math"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CA" dirty="0"/>
                  <a:t> fixés, le nombre d’observations minimal est: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/2</m:t>
                            </m:r>
                          </m:sub>
                        </m:sSub>
                        <m:sSub>
                          <m:sSubPr>
                            <m:ctrlPr>
                              <a:rPr lang="fr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fr-CA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CA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f>
                                  <m:fPr>
                                    <m:ctrlPr>
                                      <a:rPr lang="fr-CA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CA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fr-CA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</m:sSub>
                            <m:sSub>
                              <m:sSubPr>
                                <m:ctrlPr>
                                  <a:rPr lang="fr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CA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fr-CA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num>
                          <m:den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den>
                        </m:f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CA" dirty="0"/>
              </a:p>
              <a:p>
                <a:endParaRPr lang="fr-CA" dirty="0"/>
              </a:p>
              <a:p>
                <a:r>
                  <a:rPr lang="fr-CA" b="1" dirty="0"/>
                  <a:t>Exemple:</a:t>
                </a:r>
                <a:r>
                  <a:rPr lang="fr-CA" dirty="0"/>
                  <a:t> Si on veut estimer une moyenne avec une marge d’erreur qui ne dépasse pas 2 et un niveau de confiance de 95% et en supposant que l’écart type de la variable est égal à 6. Alors on sait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0,025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=1,96</m:t>
                    </m:r>
                  </m:oMath>
                </a14:m>
                <a:endParaRPr lang="fr-CA" b="0" dirty="0"/>
              </a:p>
              <a:p>
                <a:endParaRPr lang="fr-CA" dirty="0"/>
              </a:p>
              <a:p>
                <a:r>
                  <a:rPr lang="fr-CA" dirty="0"/>
                  <a:t>Par conséquent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1,96∗6</m:t>
                            </m:r>
                          </m:num>
                          <m:den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=34,5744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~35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𝑜𝑏𝑠𝑒𝑟𝑣𝑎𝑡𝑖𝑜𝑛𝑠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9945D6E2-E7CD-4469-B0E7-45B109B2A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106" y="2124633"/>
                <a:ext cx="10421470" cy="3543471"/>
              </a:xfrm>
              <a:prstGeom prst="rect">
                <a:avLst/>
              </a:prstGeom>
              <a:blipFill>
                <a:blip r:embed="rId2"/>
                <a:stretch>
                  <a:fillRect l="-468" t="-1033" r="-23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48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56F5A5-858F-46CA-9BFD-D00A43A1C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/>
              <a:t>Estimation d’une proportion par intervalle de confiance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20947A4-826B-445D-9AAA-AD54C03FF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5C86AC-1A2A-4FC8-8B54-D33F8080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10</a:t>
            </a:fld>
            <a:endParaRPr lang="fr-CA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C14A59C-59DF-4D94-B2B1-4BAB8A5098E4}"/>
              </a:ext>
            </a:extLst>
          </p:cNvPr>
          <p:cNvSpPr txBox="1"/>
          <p:nvPr/>
        </p:nvSpPr>
        <p:spPr>
          <a:xfrm>
            <a:off x="1264025" y="1690689"/>
            <a:ext cx="976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 </a:t>
            </a:r>
            <a:endParaRPr lang="fr-CA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10BA955-01C3-452A-998B-4086EF8FE738}"/>
                  </a:ext>
                </a:extLst>
              </p:cNvPr>
              <p:cNvSpPr txBox="1"/>
              <p:nvPr/>
            </p:nvSpPr>
            <p:spPr>
              <a:xfrm>
                <a:off x="1075766" y="1586753"/>
                <a:ext cx="9950824" cy="3753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Lorsqu’on s’intéresse à une proportion p (inconnue) dans une population, on a vu que si on prend un échantillon aléatoire de taille n et qu’on calcule la proportion de l’échantillon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fr-CA" dirty="0"/>
                  <a:t> et que si: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&gt;30;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̂"/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&gt;5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𝑒𝑡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∗(1−</m:t>
                      </m:r>
                      <m:acc>
                        <m:accPr>
                          <m:chr m:val="̂"/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&gt;5</m:t>
                      </m:r>
                    </m:oMath>
                  </m:oMathPara>
                </a14:m>
                <a:endParaRPr lang="fr-CA" dirty="0"/>
              </a:p>
              <a:p>
                <a:r>
                  <a:rPr lang="fr-CA" dirty="0"/>
                  <a:t>Alors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fr-CA" dirty="0"/>
                  <a:t> est un estimateur sans biais de p et en plus elle est normalement distribuée avec une moyenne p et un écart type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CA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fr-CA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fr-CA" dirty="0"/>
                  <a:t>et alors si on la standardise on obtient: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CA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fr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A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fr-CA" i="1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fr-CA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fr-CA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fr-CA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fr-CA" dirty="0"/>
              </a:p>
              <a:p>
                <a:r>
                  <a:rPr lang="fr-CA" dirty="0"/>
                  <a:t>Cette variable est symétrique par rapport à zéro, Donc si on se fixe un seuil de signification </a:t>
                </a:r>
                <a14:m>
                  <m:oMath xmlns:m="http://schemas.openxmlformats.org/officeDocument/2006/math"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CA" dirty="0"/>
                  <a:t>. On peut démontrer qu’un intervalle de confiance de niveau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𝑝𝑜𝑢𝑟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𝑒𝑠𝑡𝑖𝑚𝑒𝑟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fr-CA" dirty="0"/>
                  <a:t> est: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fr-CA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acc>
                          <m:accPr>
                            <m:chr m:val="̂"/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fr-CA" dirty="0"/>
                  <a:t> avec 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𝑙𝑎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𝑚𝑎𝑟𝑔𝑒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CA" b="0" i="1" smtClean="0">
                        <a:latin typeface="Cambria Math" panose="02040503050406030204" pitchFamily="18" charset="0"/>
                      </a:rPr>
                      <m:t>𝑒𝑟𝑟𝑒𝑢𝑟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fr-CA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fr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CA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lang="fr-CA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acc>
                              <m:accPr>
                                <m:chr m:val="̂"/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C10BA955-01C3-452A-998B-4086EF8FE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766" y="1586753"/>
                <a:ext cx="9950824" cy="3753528"/>
              </a:xfrm>
              <a:prstGeom prst="rect">
                <a:avLst/>
              </a:prstGeom>
              <a:blipFill>
                <a:blip r:embed="rId2"/>
                <a:stretch>
                  <a:fillRect l="-490" t="-812" r="-30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5648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64B356-6020-4BE8-8653-67768176E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660463"/>
          </a:xfrm>
        </p:spPr>
        <p:txBody>
          <a:bodyPr>
            <a:normAutofit/>
          </a:bodyPr>
          <a:lstStyle/>
          <a:p>
            <a:r>
              <a:rPr lang="fr-CA" dirty="0"/>
              <a:t>Exemple 1: 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Quelques jours avant les élections fédérales de mai 2011, un sondage a été mené auprès de 1 120 électeurs québécois ; parmi eux, 404 ont déclaré qu’ils allaient voter pour le Nouveau Parti démocratique (NPD). On doit déterminer un intervalle de confiance de niveau 95 % de la proportion des Québécois qui ont l’intention de voter pour ce parti (si la tendance se maintient).</a:t>
            </a:r>
            <a:br>
              <a:rPr lang="fr-CA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fr-CA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A95E279-A754-4B40-BF0C-5BA3DD872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4B1728-20AA-4244-A644-9CEE5D36D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11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71470B97-4689-4CAC-8E37-E95A9EA434C3}"/>
                  </a:ext>
                </a:extLst>
              </p:cNvPr>
              <p:cNvSpPr txBox="1"/>
              <p:nvPr/>
            </p:nvSpPr>
            <p:spPr>
              <a:xfrm>
                <a:off x="1062318" y="2581835"/>
                <a:ext cx="10408023" cy="3268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Réponse: </a:t>
                </a:r>
                <a:r>
                  <a:rPr lang="fr-FR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La proportion de cet échantillon des électeurs favorables au NPD est 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18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404</m:t>
                        </m:r>
                      </m:num>
                      <m:den>
                        <m:r>
                          <a:rPr lang="fr-CA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1120</m:t>
                        </m:r>
                      </m:den>
                    </m:f>
                    <m:r>
                      <a:rPr lang="fr-CA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=0,3607</m:t>
                    </m:r>
                  </m:oMath>
                </a14:m>
                <a: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  <a:p>
                <a:r>
                  <a:rPr lang="fr-CA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On a </a:t>
                </a:r>
                <a14:m>
                  <m:oMath xmlns:m="http://schemas.openxmlformats.org/officeDocument/2006/math"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=1120&gt;30;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acc>
                      <m:accPr>
                        <m:chr m:val="̂"/>
                        <m:ctrlP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=404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&gt;5  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𝑒𝑡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acc>
                          <m:accPr>
                            <m:chr m:val="̂"/>
                            <m:ctrlPr>
                              <a:rPr lang="fr-CA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A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</m:d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&gt;5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𝑑𝑜𝑛𝑐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𝑙𝑒𝑠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𝑐𝑜𝑛𝑑𝑖𝑡𝑖𝑜𝑛𝑠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𝑠𝑜𝑛𝑡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𝑠𝑎𝑡𝑖𝑠𝑓𝑎𝑖𝑡𝑒𝑠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fr-CA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On a aussi </a:t>
                </a:r>
                <a14:m>
                  <m:oMath xmlns:m="http://schemas.openxmlformats.org/officeDocument/2006/math">
                    <m:r>
                      <a:rPr lang="fr-CA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=5%   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𝑑𝑜𝑛𝑐</m:t>
                    </m:r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0,025</m:t>
                        </m:r>
                      </m:sub>
                    </m:sSub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=1,96</m:t>
                    </m:r>
                  </m:oMath>
                </a14:m>
                <a: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donc la marge d’erreur de l’estimation est: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𝐸</m:t>
                      </m:r>
                      <m:r>
                        <a:rPr lang="fr-CA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CA" sz="1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lang="fr-CA" sz="18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CA" sz="18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fr-CA" sz="1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acc>
                                <m:accPr>
                                  <m:chr m:val="̂"/>
                                  <m:ctrlPr>
                                    <a:rPr lang="fr-CA" sz="18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CA" sz="18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r>
                                <a:rPr lang="fr-CA" sz="1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fr-CA" sz="1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  <m:r>
                        <a:rPr lang="fr-CA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=1,96</m:t>
                      </m:r>
                      <m:rad>
                        <m:radPr>
                          <m:degHide m:val="on"/>
                          <m:ctrlPr>
                            <a:rPr lang="fr-CA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CA" sz="1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sz="1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0,3607∗(1−0,3607)</m:t>
                              </m:r>
                            </m:num>
                            <m:den>
                              <m:r>
                                <a:rPr lang="fr-CA" sz="1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1120</m:t>
                              </m:r>
                            </m:den>
                          </m:f>
                        </m:e>
                      </m:rad>
                      <m:r>
                        <a:rPr lang="fr-CA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=0,0281</m:t>
                      </m:r>
                    </m:oMath>
                  </m:oMathPara>
                </a14:m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fr-CA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Par conséquent un intervalle de confiance de niveau 95% pour la proportion des électeurs qui vont voter pour le NPD est: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CA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fr-CA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A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; </m:t>
                        </m:r>
                        <m:acc>
                          <m:accPr>
                            <m:chr m:val="̂"/>
                            <m:ctrlPr>
                              <a:rPr lang="fr-CA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A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0,3607−0,0281;0,3607+0,0281</m:t>
                        </m:r>
                      </m:e>
                    </m:d>
                    <m:r>
                      <a:rPr lang="fr-CA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0,3326;0,3888</m:t>
                        </m:r>
                      </m:e>
                    </m:d>
                  </m:oMath>
                </a14:m>
                <a:r>
                  <a:rPr lang="fr-CA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  <a:p>
                <a:r>
                  <a:rPr lang="fr-CA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Conclusion:</a:t>
                </a:r>
                <a:r>
                  <a:rPr lang="fr-CA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Sur la base de cet échantillon, le pourcentage des électeurs qui vont voter pour le NPD est 36,07% avec une marge d’erreur de 2,81% et cela 19 fois sur 20.</a:t>
                </a:r>
                <a:endParaRPr lang="fr-CA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71470B97-4689-4CAC-8E37-E95A9EA43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318" y="2581835"/>
                <a:ext cx="10408023" cy="3268011"/>
              </a:xfrm>
              <a:prstGeom prst="rect">
                <a:avLst/>
              </a:prstGeom>
              <a:blipFill>
                <a:blip r:embed="rId2"/>
                <a:stretch>
                  <a:fillRect l="-468" r="-878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4760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2FE582-4568-4E42-8ED7-8706F5283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/>
              <a:t>Utilisation du logiciel R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4E12AB5-3D15-4925-A10B-2F1F5710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643C8A-523B-428B-91C6-8ACD7B5E6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12</a:t>
            </a:fld>
            <a:endParaRPr lang="fr-CA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3734774-7EB9-4925-B235-A98A40EB773D}"/>
              </a:ext>
            </a:extLst>
          </p:cNvPr>
          <p:cNvSpPr txBox="1"/>
          <p:nvPr/>
        </p:nvSpPr>
        <p:spPr>
          <a:xfrm>
            <a:off x="645459" y="1882588"/>
            <a:ext cx="107083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On doit taper:</a:t>
            </a:r>
          </a:p>
          <a:p>
            <a:r>
              <a:rPr lang="fr-CA" dirty="0" err="1"/>
              <a:t>prop.test</a:t>
            </a:r>
            <a:r>
              <a:rPr lang="fr-CA" dirty="0"/>
              <a:t>(404,1120,conf.level=0.95)       et on obtient:</a:t>
            </a:r>
          </a:p>
          <a:p>
            <a:endParaRPr lang="fr-CA" dirty="0"/>
          </a:p>
          <a:p>
            <a:r>
              <a:rPr lang="en-US" dirty="0"/>
              <a:t>data:  404 out of 1120, null probability 0.5</a:t>
            </a:r>
          </a:p>
          <a:p>
            <a:r>
              <a:rPr lang="en-US" dirty="0"/>
              <a:t>X-squared = 86.358, df = 1, p-value &lt; 2.2e-16</a:t>
            </a:r>
          </a:p>
          <a:p>
            <a:r>
              <a:rPr lang="en-US" dirty="0"/>
              <a:t>alternative hypothesis: true p is not equal to 0.5</a:t>
            </a:r>
          </a:p>
          <a:p>
            <a:r>
              <a:rPr lang="en-US" dirty="0"/>
              <a:t>95 percent confidence interval:</a:t>
            </a:r>
          </a:p>
          <a:p>
            <a:r>
              <a:rPr lang="en-US" dirty="0">
                <a:solidFill>
                  <a:srgbClr val="FF0000"/>
                </a:solidFill>
              </a:rPr>
              <a:t> 0.3326737 0.3897222</a:t>
            </a:r>
          </a:p>
          <a:p>
            <a:r>
              <a:rPr lang="en-US" dirty="0"/>
              <a:t>sample estimates:</a:t>
            </a:r>
          </a:p>
          <a:p>
            <a:r>
              <a:rPr lang="en-US" dirty="0"/>
              <a:t>        p </a:t>
            </a:r>
          </a:p>
          <a:p>
            <a:r>
              <a:rPr lang="en-US" dirty="0"/>
              <a:t>0.3607143</a:t>
            </a:r>
          </a:p>
          <a:p>
            <a:endParaRPr lang="en-US" dirty="0"/>
          </a:p>
          <a:p>
            <a:r>
              <a:rPr lang="fr-CA" b="1" dirty="0"/>
              <a:t>Remarque: </a:t>
            </a:r>
            <a:r>
              <a:rPr lang="fr-CA" dirty="0"/>
              <a:t>Il y a une petite différence lorsqu’on utilise le logiciel, cela est dû  aux arrondis</a:t>
            </a:r>
            <a:endParaRPr lang="fr-CA" b="1" dirty="0"/>
          </a:p>
        </p:txBody>
      </p:sp>
    </p:spTree>
    <p:extLst>
      <p:ext uri="{BB962C8B-B14F-4D97-AF65-F5344CB8AC3E}">
        <p14:creationId xmlns:p14="http://schemas.microsoft.com/office/powerpoint/2010/main" val="4029588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757265-3C60-46A8-8BC1-F596A4C57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6525"/>
            <a:ext cx="10887636" cy="6219825"/>
          </a:xfrm>
        </p:spPr>
        <p:txBody>
          <a:bodyPr>
            <a:normAutofit fontScale="90000"/>
          </a:bodyPr>
          <a:lstStyle/>
          <a:p>
            <a:pPr marL="274320" indent="-274320">
              <a:lnSpc>
                <a:spcPct val="200000"/>
              </a:lnSpc>
              <a:spcBef>
                <a:spcPts val="1800"/>
              </a:spcBef>
              <a:spcAft>
                <a:spcPts val="900"/>
              </a:spcAft>
            </a:pPr>
            <a:r>
              <a:rPr lang="fr-CA" b="1" dirty="0"/>
              <a:t>Exemple 2</a:t>
            </a:r>
            <a:r>
              <a:rPr lang="fr-CA" dirty="0"/>
              <a:t>: </a:t>
            </a:r>
            <a:r>
              <a:rPr lang="fr-FR" sz="1800" b="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maison de sondage a mené une étude sur le pourcentage des canadiens qui reçoivent des messages de publicité non sollicités sur leur téléphone cellulaire. Elle a trouvé un intervalle de confiance de 95% pour cette proportion qui est égal à 17% plus ou moins 3%. Que signifie cet intervalle de confiance ?</a:t>
            </a:r>
            <a:br>
              <a:rPr lang="fr-CA" sz="1800" b="1" spc="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A" sz="1800" b="1" spc="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fr-FR" sz="1800" b="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Dans l’échantillon utilisé par cette maison de sondage, entre 14% et 20% des répondants ont reçu des messages de publicité non sollicités sur leur téléphone cellulaire.</a:t>
            </a:r>
            <a:br>
              <a:rPr lang="fr-CA" sz="1800" b="1" spc="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A" sz="1800" b="1" spc="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fr-FR" sz="1800" b="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peut être confiant que 17% des Canadiens ont reçu des messages de publicité non sollicités sur leur téléphone cellulaire.</a:t>
            </a:r>
            <a:br>
              <a:rPr lang="fr-CA" sz="1800" b="1" spc="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A" sz="1800" b="1" spc="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fr-FR" sz="1800" b="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peut être confiant qu’entre 14% et 20% de tous les Canadiens qui ont un cellulaire, ont reçu des messages de publicité non sollicités sur leur téléphone cellulaire.</a:t>
            </a:r>
            <a:br>
              <a:rPr lang="fr-CA" sz="1800" b="1" spc="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A" sz="1800" b="1" spc="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fr-FR" sz="1800" b="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95% de de tous les Canadiens qui ont un cellulaire, ont reçu des messages de publicité non sollicités sur leur téléphone cellulaire.</a:t>
            </a:r>
            <a:br>
              <a:rPr lang="fr-CA" sz="1800" b="1" spc="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b="1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Réponse :</a:t>
            </a:r>
            <a:r>
              <a:rPr lang="fr-FR" sz="1800" b="0" spc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La bonne réponse est c. C’est cela la signification d’un tel intervalle de confiance.</a:t>
            </a:r>
            <a:br>
              <a:rPr lang="fr-CA" sz="1800" b="1" spc="1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C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5BC11D-5781-454F-9E1D-6C09A8F5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DFE2A7-C83A-49C4-848B-5F07E09E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62298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570069-8E44-4174-9E54-8C34496E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/>
              <a:t>Taille échantillonnale minimale pour estimer une proportion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77F9DC2-77CA-419C-9372-B6E54320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769A06-AC11-4731-A140-B55BED3B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14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B34A1DD-BFFE-4820-B620-42B4DF0ED0D4}"/>
                  </a:ext>
                </a:extLst>
              </p:cNvPr>
              <p:cNvSpPr txBox="1"/>
              <p:nvPr/>
            </p:nvSpPr>
            <p:spPr>
              <a:xfrm>
                <a:off x="874059" y="2259106"/>
                <a:ext cx="9816353" cy="3329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On a vu que la marge d’erreur est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fr-CA" dirty="0"/>
                  <a:t>     </a:t>
                </a:r>
              </a:p>
              <a:p>
                <a:r>
                  <a:rPr lang="fr-CA" dirty="0">
                    <a:solidFill>
                      <a:srgbClr val="FF0000"/>
                    </a:solidFill>
                  </a:rPr>
                  <a:t>1</a:t>
                </a:r>
                <a:r>
                  <a:rPr lang="fr-CA" baseline="30000" dirty="0">
                    <a:solidFill>
                      <a:srgbClr val="FF0000"/>
                    </a:solidFill>
                  </a:rPr>
                  <a:t>er</a:t>
                </a:r>
                <a:r>
                  <a:rPr lang="fr-CA" dirty="0">
                    <a:solidFill>
                      <a:srgbClr val="FF0000"/>
                    </a:solidFill>
                  </a:rPr>
                  <a:t> Cas:  </a:t>
                </a:r>
                <a:r>
                  <a:rPr lang="fr-CA" dirty="0">
                    <a:solidFill>
                      <a:schemeClr val="tx1"/>
                    </a:solidFill>
                  </a:rPr>
                  <a:t>On a une certaine expérience et on sait que la proportion qui nous intéresse est autour d’une certaine valeur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CA" dirty="0">
                    <a:solidFill>
                      <a:schemeClr val="tx1"/>
                    </a:solidFill>
                  </a:rPr>
                  <a:t>. Dans ce cas, on remplace p par cette valeur et on isole n et on trouve que: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fr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fr-CA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A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CA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fr-CA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fr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(1−</m:t>
                          </m:r>
                          <m:sSub>
                            <m:sSubPr>
                              <m:ctrlPr>
                                <a:rPr lang="fr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fr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fr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CA" dirty="0">
                  <a:solidFill>
                    <a:srgbClr val="FF0000"/>
                  </a:solidFill>
                </a:endParaRPr>
              </a:p>
              <a:p>
                <a:r>
                  <a:rPr lang="fr-CA" b="1" dirty="0"/>
                  <a:t>Exemple:</a:t>
                </a:r>
                <a:r>
                  <a:rPr lang="fr-CA" dirty="0"/>
                  <a:t>  Quelle est la taille minimale de l’échantillon nécessaire pour estimer une proportion avec une marge d’erreur qui ne dépasse pas 2% avec un intervalle de confiance de 90% si on sait que cette proportion est voisine de 35%?</a:t>
                </a:r>
              </a:p>
              <a:p>
                <a:endParaRPr lang="fr-CA" dirty="0"/>
              </a:p>
              <a:p>
                <a:r>
                  <a:rPr lang="fr-CA" b="1" dirty="0"/>
                  <a:t>Réponse:</a:t>
                </a:r>
                <a:r>
                  <a:rPr lang="fr-CA" dirty="0"/>
                  <a:t>  </a:t>
                </a:r>
                <a14:m>
                  <m:oMath xmlns:m="http://schemas.openxmlformats.org/officeDocument/2006/math"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=10%. 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0,05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=1,645  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𝑑𝑜𝑛𝑐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1,645</m:t>
                            </m:r>
                          </m:e>
                          <m:sup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0,35</m:t>
                        </m:r>
                        <m:r>
                          <a:rPr lang="fr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0,35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0,02</m:t>
                            </m:r>
                          </m:e>
                          <m:sup>
                            <m:r>
                              <a:rPr lang="fr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=1539,05→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≥1540</m:t>
                    </m:r>
                  </m:oMath>
                </a14:m>
                <a:endParaRPr lang="fr-CA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B34A1DD-BFFE-4820-B620-42B4DF0ED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59" y="2259106"/>
                <a:ext cx="9816353" cy="3329629"/>
              </a:xfrm>
              <a:prstGeom prst="rect">
                <a:avLst/>
              </a:prstGeom>
              <a:blipFill>
                <a:blip r:embed="rId2"/>
                <a:stretch>
                  <a:fillRect l="-49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8801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979427-D3B1-43FF-ADB7-4CB9DCFCA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>
                <a:solidFill>
                  <a:srgbClr val="FF0000"/>
                </a:solidFill>
              </a:rPr>
              <a:t>2</a:t>
            </a:r>
            <a:r>
              <a:rPr lang="fr-CA" b="1" baseline="30000" dirty="0">
                <a:solidFill>
                  <a:srgbClr val="FF0000"/>
                </a:solidFill>
              </a:rPr>
              <a:t>ième</a:t>
            </a:r>
            <a:r>
              <a:rPr lang="fr-CA" b="1" dirty="0">
                <a:solidFill>
                  <a:srgbClr val="FF0000"/>
                </a:solidFill>
              </a:rPr>
              <a:t> cas: </a:t>
            </a:r>
            <a:r>
              <a:rPr lang="fr-CA" b="1" dirty="0"/>
              <a:t>On ne connait rien sur p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C2EA8C6-E386-4E20-9164-757019B61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550864-0C2D-4008-A165-91CCC3994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7AD9-CE17-438C-A638-C64D2D42D7CF}" type="slidenum">
              <a:rPr lang="fr-CA" smtClean="0"/>
              <a:t>15</a:t>
            </a:fld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801B0E43-F9B8-4CF8-9683-560A3063A20D}"/>
                  </a:ext>
                </a:extLst>
              </p:cNvPr>
              <p:cNvSpPr txBox="1"/>
              <p:nvPr/>
            </p:nvSpPr>
            <p:spPr>
              <a:xfrm>
                <a:off x="1089212" y="968188"/>
                <a:ext cx="10264588" cy="5117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Si on revient à la formule de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r>
                  <a:rPr lang="fr-CA" dirty="0"/>
                  <a:t>    on pose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fr-CA" b="0" dirty="0">
                  <a:ea typeface="Cambria Math" panose="02040503050406030204" pitchFamily="18" charset="0"/>
                </a:endParaRPr>
              </a:p>
              <a:p>
                <a:r>
                  <a:rPr lang="fr-CA" dirty="0"/>
                  <a:t>Est une fonction qui atteint son maximum lorsque: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𝑚𝑎𝑥𝑓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)=1/4</m:t>
                      </m:r>
                    </m:oMath>
                  </m:oMathPara>
                </a14:m>
                <a:endParaRPr lang="fr-CA" dirty="0"/>
              </a:p>
              <a:p>
                <a:r>
                  <a:rPr lang="fr-CA" dirty="0"/>
                  <a:t>Donc en isolant, on trouve que:</a:t>
                </a:r>
              </a:p>
              <a:p>
                <a:endParaRPr lang="fr-CA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/2</m:t>
                              </m:r>
                            </m:sub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CA" dirty="0"/>
              </a:p>
              <a:p>
                <a:r>
                  <a:rPr lang="fr-CA" b="1" dirty="0"/>
                  <a:t>Exemple:</a:t>
                </a:r>
                <a:r>
                  <a:rPr lang="fr-CA" dirty="0"/>
                  <a:t> Un sociologue veut estimer le pourcentage d’une population qui soufre d’un certain type de dépression avec une marge d’erreur  qui ne dépasse pas 1,5% et un seuil de signification de 3%. Quelle est la taille de l’échantillon nécessaire?</a:t>
                </a:r>
              </a:p>
              <a:p>
                <a:endParaRPr lang="fr-CA" dirty="0"/>
              </a:p>
              <a:p>
                <a:r>
                  <a:rPr lang="fr-CA" b="1" dirty="0"/>
                  <a:t>Réponse: </a:t>
                </a:r>
                <a:r>
                  <a:rPr lang="fr-CA" dirty="0"/>
                  <a:t>Ici, </a:t>
                </a:r>
                <a14:m>
                  <m:oMath xmlns:m="http://schemas.openxmlformats.org/officeDocument/2006/math"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=0,03→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=0,015→1−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=0,985→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𝑡𝑎𝑝𝑒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𝑞𝑛𝑜𝑟𝑚</m:t>
                    </m:r>
                    <m:d>
                      <m:dPr>
                        <m:ctrlP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0.985,0,1</m:t>
                        </m:r>
                      </m:e>
                    </m:d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𝑒𝑡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𝑜𝑛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𝑡𝑟𝑜𝑢𝑣𝑒</m:t>
                    </m:r>
                    <m:r>
                      <a:rPr lang="fr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CA" b="0" dirty="0">
                    <a:ea typeface="Cambria Math" panose="02040503050406030204" pitchFamily="18" charset="0"/>
                  </a:rPr>
                  <a:t>2,17</a:t>
                </a:r>
              </a:p>
              <a:p>
                <a:endParaRPr lang="fr-CA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f>
                                <m:fPr>
                                  <m:ctrlPr>
                                    <a:rPr lang="fr-CA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fr-CA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2,17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4∗</m:t>
                          </m:r>
                          <m:sSup>
                            <m:sSupPr>
                              <m:ctrlP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0,015</m:t>
                              </m:r>
                            </m:e>
                            <m:sup>
                              <m:r>
                                <a:rPr lang="fr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=5232,11≈5233</m:t>
                      </m:r>
                    </m:oMath>
                  </m:oMathPara>
                </a14:m>
                <a:endParaRPr lang="fr-CA" b="1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801B0E43-F9B8-4CF8-9683-560A3063A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212" y="968188"/>
                <a:ext cx="10264588" cy="5117555"/>
              </a:xfrm>
              <a:prstGeom prst="rect">
                <a:avLst/>
              </a:prstGeom>
              <a:blipFill>
                <a:blip r:embed="rId2"/>
                <a:stretch>
                  <a:fillRect l="-534" r="-77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145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2167</Words>
  <Application>Microsoft Office PowerPoint</Application>
  <PresentationFormat>Grand écran</PresentationFormat>
  <Paragraphs>162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Times New Roman</vt:lpstr>
      <vt:lpstr>Office Theme</vt:lpstr>
      <vt:lpstr>Cas 2: X est normale, l’écart type est inconnu et la taille de l’échantillon est inférieure à 30.</vt:lpstr>
      <vt:lpstr>Lorsque n dépasse 30 la loi Student épouse la forme d’une loi normale centrée et réduite</vt:lpstr>
      <vt:lpstr>On va donc se baser sur cette variable pour trouver un intervalle de confiance pour la moyenne de la variable.</vt:lpstr>
      <vt:lpstr>Utilisation de R pour déterminer les points critiques.</vt:lpstr>
      <vt:lpstr>Exemple 1: Soit X : le taux de cholestérol (en mg/dL) chez des adultes d’un certain groupe d’âge d’une population. En supposant cette variable normalement distribuée avec une variance inconnue, on a prélevé un échantillon aléatoire de cinq adultes dans ce groupe, sur lesquels on a mesuré cette variable X et obtenu les résultats suivants : 120 116 130 132 111 On doit déterminer un intervalle de confiance de niveau 95 % pour le taux de cholestérol moyen de ce groupe d’âge. </vt:lpstr>
      <vt:lpstr>Exemple 2: La concentration de mercure dans un lac est supposée normalement distribuée. On a prélevé un échantillon aléatoire de 10 mesures dans ce lac et obtenu les résultats suivants (en nanogrammes par litre) Déterminer un intervalle de confiance de niveau 99% de la moyenne de cette variable </vt:lpstr>
      <vt:lpstr>Exemple 3:Dans une étude sur l’effet de la fumée sur la santé des bébés, on a mesuré le taux de cadmium (en nanogrammes par gramme), qu’on suppose normalement distribué, à partir du tissu placentaire d’un échantillon de cinq femmes qui fument de façon régulière. On a relevé les données suivantes , déterminer un intervalle de confiance de niveau 97% pour le taux de calcium moyen chez cette catégorie de la population  </vt:lpstr>
      <vt:lpstr>Cas 3: X est quelconque et la taille de l’échantillon est supérieure à 30.</vt:lpstr>
      <vt:lpstr>Taille échantillonnale minimum pour estimer une moyenne.</vt:lpstr>
      <vt:lpstr>Estimation d’une proportion par intervalle de confiance</vt:lpstr>
      <vt:lpstr>Exemple 1: Quelques jours avant les élections fédérales de mai 2011, un sondage a été mené auprès de 1 120 électeurs québécois ; parmi eux, 404 ont déclaré qu’ils allaient voter pour le Nouveau Parti démocratique (NPD). On doit déterminer un intervalle de confiance de niveau 95 % de la proportion des Québécois qui ont l’intention de voter pour ce parti (si la tendance se maintient). </vt:lpstr>
      <vt:lpstr>Utilisation du logiciel R</vt:lpstr>
      <vt:lpstr>Exemple 2: Une maison de sondage a mené une étude sur le pourcentage des canadiens qui reçoivent des messages de publicité non sollicités sur leur téléphone cellulaire. Elle a trouvé un intervalle de confiance de 95% pour cette proportion qui est égal à 17% plus ou moins 3%. Que signifie cet intervalle de confiance ? (a)Dans l’échantillon utilisé par cette maison de sondage, entre 14% et 20% des répondants ont reçu des messages de publicité non sollicités sur leur téléphone cellulaire. (b) On peut être confiant que 17% des Canadiens ont reçu des messages de publicité non sollicités sur leur téléphone cellulaire. (c) On peut être confiant qu’entre 14% et 20% de tous les Canadiens qui ont un cellulaire, ont reçu des messages de publicité non sollicités sur leur téléphone cellulaire. (d) 95% de de tous les Canadiens qui ont un cellulaire, ont reçu des messages de publicité non sollicités sur leur téléphone cellulaire. Réponse :  La bonne réponse est c. C’est cela la signification d’un tel intervalle de confiance. </vt:lpstr>
      <vt:lpstr>Taille échantillonnale minimale pour estimer une proportion</vt:lpstr>
      <vt:lpstr>2ième cas: On ne connait rien sur 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 2: X est normale, l’écart type est inconnu et la taille de l’échantillon est inférieure à 30.</dc:title>
  <dc:creator>Mhammed Mountassir</dc:creator>
  <cp:lastModifiedBy>Mhammed Mountassir</cp:lastModifiedBy>
  <cp:revision>19</cp:revision>
  <dcterms:created xsi:type="dcterms:W3CDTF">2020-10-20T11:10:26Z</dcterms:created>
  <dcterms:modified xsi:type="dcterms:W3CDTF">2021-11-01T10:16:25Z</dcterms:modified>
</cp:coreProperties>
</file>