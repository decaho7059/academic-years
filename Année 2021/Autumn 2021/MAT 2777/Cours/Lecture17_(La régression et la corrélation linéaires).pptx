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0"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44" autoAdjust="0"/>
    <p:restoredTop sz="86957" autoAdjust="0"/>
  </p:normalViewPr>
  <p:slideViewPr>
    <p:cSldViewPr snapToGrid="0">
      <p:cViewPr varScale="1">
        <p:scale>
          <a:sx n="97" d="100"/>
          <a:sy n="97" d="100"/>
        </p:scale>
        <p:origin x="112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A88AB8-1C01-41DC-AFCA-28305AC61B27}" type="datetimeFigureOut">
              <a:rPr lang="fr-CA" smtClean="0"/>
              <a:t>2021-11-29</a:t>
            </a:fld>
            <a:endParaRPr lang="fr-C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9F1DE7-72A5-40DE-843D-98ED1D33E9CB}" type="slidenum">
              <a:rPr lang="fr-CA" smtClean="0"/>
              <a:t>‹N°›</a:t>
            </a:fld>
            <a:endParaRPr lang="fr-CA"/>
          </a:p>
        </p:txBody>
      </p:sp>
    </p:spTree>
    <p:extLst>
      <p:ext uri="{BB962C8B-B14F-4D97-AF65-F5344CB8AC3E}">
        <p14:creationId xmlns:p14="http://schemas.microsoft.com/office/powerpoint/2010/main" val="711788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B59F1DE7-72A5-40DE-843D-98ED1D33E9CB}" type="slidenum">
              <a:rPr lang="fr-CA" smtClean="0"/>
              <a:t>3</a:t>
            </a:fld>
            <a:endParaRPr lang="fr-CA"/>
          </a:p>
        </p:txBody>
      </p:sp>
    </p:spTree>
    <p:extLst>
      <p:ext uri="{BB962C8B-B14F-4D97-AF65-F5344CB8AC3E}">
        <p14:creationId xmlns:p14="http://schemas.microsoft.com/office/powerpoint/2010/main" val="1428771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DEBCAADC-90C4-42A0-92DD-A3EB1E3F99BC}" type="datetime1">
              <a:rPr lang="fr-CA" smtClean="0"/>
              <a:t>2021-11-29</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3971358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2FE81BE-FF7C-4713-86B5-98B3635F7575}" type="datetime1">
              <a:rPr lang="fr-CA" smtClean="0"/>
              <a:t>2021-11-29</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4256662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5307F1A6-A103-49CB-B28A-B5B8CE7CCF08}" type="datetime1">
              <a:rPr lang="fr-CA" smtClean="0"/>
              <a:t>2021-11-29</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8187118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B67FE57F-B680-462B-BBFD-7518F74AF714}" type="datetime1">
              <a:rPr lang="fr-CA" smtClean="0"/>
              <a:t>2021-11-29</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2046219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C91B3B4F-1CE8-448C-951A-2E287C7816DA}" type="datetime1">
              <a:rPr lang="fr-CA" smtClean="0"/>
              <a:t>2021-11-29</a:t>
            </a:fld>
            <a:endParaRPr lang="fr-CA"/>
          </a:p>
        </p:txBody>
      </p:sp>
      <p:sp>
        <p:nvSpPr>
          <p:cNvPr id="8" name="Footer Placeholder 7"/>
          <p:cNvSpPr>
            <a:spLocks noGrp="1"/>
          </p:cNvSpPr>
          <p:nvPr>
            <p:ph type="ftr" sz="quarter" idx="11"/>
          </p:nvPr>
        </p:nvSpPr>
        <p:spPr/>
        <p:txBody>
          <a:bodyPr/>
          <a:lstStyle/>
          <a:p>
            <a:endParaRPr lang="fr-CA"/>
          </a:p>
        </p:txBody>
      </p:sp>
      <p:sp>
        <p:nvSpPr>
          <p:cNvPr id="9" name="Slide Number Placeholder 8"/>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474818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1F763F50-9144-44F9-A37F-D55A19808CF4}" type="datetime1">
              <a:rPr lang="fr-CA" smtClean="0"/>
              <a:t>2021-11-29</a:t>
            </a:fld>
            <a:endParaRPr lang="fr-CA"/>
          </a:p>
        </p:txBody>
      </p:sp>
      <p:sp>
        <p:nvSpPr>
          <p:cNvPr id="4" name="Footer Placeholder 3"/>
          <p:cNvSpPr>
            <a:spLocks noGrp="1"/>
          </p:cNvSpPr>
          <p:nvPr>
            <p:ph type="ftr" sz="quarter" idx="11"/>
          </p:nvPr>
        </p:nvSpPr>
        <p:spPr/>
        <p:txBody>
          <a:bodyPr/>
          <a:lstStyle/>
          <a:p>
            <a:endParaRPr lang="fr-CA"/>
          </a:p>
        </p:txBody>
      </p:sp>
      <p:sp>
        <p:nvSpPr>
          <p:cNvPr id="5" name="Slide Number Placeholder 4"/>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937437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AB2447-19AC-45D2-83F5-5B12576F084D}" type="datetime1">
              <a:rPr lang="fr-CA" smtClean="0"/>
              <a:t>2021-11-29</a:t>
            </a:fld>
            <a:endParaRPr lang="fr-CA"/>
          </a:p>
        </p:txBody>
      </p:sp>
      <p:sp>
        <p:nvSpPr>
          <p:cNvPr id="3" name="Footer Placeholder 2"/>
          <p:cNvSpPr>
            <a:spLocks noGrp="1"/>
          </p:cNvSpPr>
          <p:nvPr>
            <p:ph type="ftr" sz="quarter" idx="11"/>
          </p:nvPr>
        </p:nvSpPr>
        <p:spPr/>
        <p:txBody>
          <a:bodyPr/>
          <a:lstStyle/>
          <a:p>
            <a:endParaRPr lang="fr-CA"/>
          </a:p>
        </p:txBody>
      </p:sp>
      <p:sp>
        <p:nvSpPr>
          <p:cNvPr id="4" name="Slide Number Placeholder 3"/>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059948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5B17A9AF-12D3-47FA-A0D6-97746BB8E776}" type="datetime1">
              <a:rPr lang="fr-CA" smtClean="0"/>
              <a:t>2021-11-29</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3331655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CF19D18-3682-4189-B23C-B8B496B3307C}" type="datetime1">
              <a:rPr lang="fr-CA" smtClean="0"/>
              <a:t>2021-11-29</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309409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D6BEAFDA-2171-49C0-B449-3733417EA82F}" type="datetime1">
              <a:rPr lang="fr-CA" smtClean="0"/>
              <a:t>2021-11-29</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23712250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9EBD924-29A3-4FF2-B149-61A5377F8882}" type="datetime1">
              <a:rPr lang="fr-CA" smtClean="0"/>
              <a:t>2021-11-29</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2402387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418466-3607-4A57-8167-9FAB5784D41C}" type="datetime1">
              <a:rPr lang="fr-CA" smtClean="0"/>
              <a:t>2021-11-29</a:t>
            </a:fld>
            <a:endParaRPr lang="fr-C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377AD9-CE17-438C-A638-C64D2D42D7CF}" type="slidenum">
              <a:rPr lang="fr-CA" smtClean="0"/>
              <a:t>‹N°›</a:t>
            </a:fld>
            <a:endParaRPr lang="fr-CA"/>
          </a:p>
        </p:txBody>
      </p:sp>
    </p:spTree>
    <p:extLst>
      <p:ext uri="{BB962C8B-B14F-4D97-AF65-F5344CB8AC3E}">
        <p14:creationId xmlns:p14="http://schemas.microsoft.com/office/powerpoint/2010/main" val="1533741373"/>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1" Type="http://schemas.openxmlformats.org/officeDocument/2006/relationships/slideLayout" Target="../slideLayouts/slideLayout6.xml"/><Relationship Id="rId5" Type="http://schemas.openxmlformats.org/officeDocument/2006/relationships/image" Target="../media/image9.wmf"/><Relationship Id="rId4" Type="http://schemas.openxmlformats.org/officeDocument/2006/relationships/image" Target="../media/image8.wmf"/></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D8BC5F-69A2-4DCF-95F3-3302AB8298E8}"/>
              </a:ext>
            </a:extLst>
          </p:cNvPr>
          <p:cNvSpPr>
            <a:spLocks noGrp="1"/>
          </p:cNvSpPr>
          <p:nvPr>
            <p:ph type="title"/>
          </p:nvPr>
        </p:nvSpPr>
        <p:spPr/>
        <p:txBody>
          <a:bodyPr/>
          <a:lstStyle/>
          <a:p>
            <a:r>
              <a:rPr lang="fr-CA" dirty="0"/>
              <a:t>La corrélation et régression linéaire</a:t>
            </a:r>
          </a:p>
        </p:txBody>
      </p:sp>
      <p:sp>
        <p:nvSpPr>
          <p:cNvPr id="3" name="Espace réservé du pied de page 2">
            <a:extLst>
              <a:ext uri="{FF2B5EF4-FFF2-40B4-BE49-F238E27FC236}">
                <a16:creationId xmlns:a16="http://schemas.microsoft.com/office/drawing/2014/main" id="{D067625B-6DF7-485F-A950-A75F3F2436AA}"/>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F20CD23F-E253-4E93-A7BC-1E9C91763071}"/>
              </a:ext>
            </a:extLst>
          </p:cNvPr>
          <p:cNvSpPr>
            <a:spLocks noGrp="1"/>
          </p:cNvSpPr>
          <p:nvPr>
            <p:ph type="sldNum" sz="quarter" idx="12"/>
          </p:nvPr>
        </p:nvSpPr>
        <p:spPr/>
        <p:txBody>
          <a:bodyPr/>
          <a:lstStyle/>
          <a:p>
            <a:fld id="{26377AD9-CE17-438C-A638-C64D2D42D7CF}" type="slidenum">
              <a:rPr lang="fr-CA" smtClean="0"/>
              <a:t>1</a:t>
            </a:fld>
            <a:endParaRPr lang="fr-CA"/>
          </a:p>
        </p:txBody>
      </p:sp>
      <p:sp>
        <p:nvSpPr>
          <p:cNvPr id="5" name="ZoneTexte 4">
            <a:extLst>
              <a:ext uri="{FF2B5EF4-FFF2-40B4-BE49-F238E27FC236}">
                <a16:creationId xmlns:a16="http://schemas.microsoft.com/office/drawing/2014/main" id="{218E5B77-BB3B-4E2C-AA59-6EE0C98DEB05}"/>
              </a:ext>
            </a:extLst>
          </p:cNvPr>
          <p:cNvSpPr txBox="1"/>
          <p:nvPr/>
        </p:nvSpPr>
        <p:spPr>
          <a:xfrm>
            <a:off x="1317812" y="1465729"/>
            <a:ext cx="10300447" cy="5262979"/>
          </a:xfrm>
          <a:prstGeom prst="rect">
            <a:avLst/>
          </a:prstGeom>
          <a:noFill/>
        </p:spPr>
        <p:txBody>
          <a:bodyPr wrap="square" rtlCol="0">
            <a:spAutoFit/>
          </a:bodyPr>
          <a:lstStyle/>
          <a:p>
            <a:r>
              <a:rPr lang="fr-FR" sz="1800" b="1" dirty="0">
                <a:solidFill>
                  <a:srgbClr val="000000"/>
                </a:solidFill>
                <a:effectLst/>
                <a:latin typeface="Times New Roman" panose="02020603050405020304" pitchFamily="18" charset="0"/>
                <a:ea typeface="Times New Roman" panose="02020603050405020304" pitchFamily="18" charset="0"/>
              </a:rPr>
              <a:t>INTRODUCTION:</a:t>
            </a:r>
            <a:r>
              <a:rPr lang="fr-FR" sz="1800" dirty="0">
                <a:solidFill>
                  <a:srgbClr val="000000"/>
                </a:solidFill>
                <a:effectLst/>
                <a:latin typeface="Times New Roman" panose="02020603050405020304" pitchFamily="18" charset="0"/>
                <a:ea typeface="Times New Roman" panose="02020603050405020304" pitchFamily="18" charset="0"/>
              </a:rPr>
              <a:t> </a:t>
            </a:r>
            <a:r>
              <a:rPr lang="fr-FR" sz="2000" dirty="0">
                <a:solidFill>
                  <a:srgbClr val="000000"/>
                </a:solidFill>
                <a:effectLst/>
                <a:latin typeface="Times New Roman" panose="02020603050405020304" pitchFamily="18" charset="0"/>
                <a:ea typeface="Times New Roman" panose="02020603050405020304" pitchFamily="18" charset="0"/>
              </a:rPr>
              <a:t>Célèbre savant anglais, cousin de Charles Darwin, Galton Francis est l’un des premiers à avoir effectué la modélisation des phénomènes psychologiques grâce aux équations de régression linéaire et logistique. Il a mené un important travail de recherche sur les empreintes digitales dans le but d’identifier les criminels. C’est en remarquant que des pères de grandes tailles tendent à avoir des fils plus petits et qu’inversement les pères à petites tailles ont des fils petits mais généralement plus grandes que la moyenne. C’est ce qu’il a appelé </a:t>
            </a:r>
            <a:r>
              <a:rPr lang="fr-FR" sz="2000" b="1" dirty="0">
                <a:solidFill>
                  <a:srgbClr val="000000"/>
                </a:solidFill>
                <a:effectLst/>
                <a:latin typeface="Times New Roman" panose="02020603050405020304" pitchFamily="18" charset="0"/>
                <a:ea typeface="Times New Roman" panose="02020603050405020304" pitchFamily="18" charset="0"/>
              </a:rPr>
              <a:t>la régression</a:t>
            </a:r>
            <a:r>
              <a:rPr lang="fr-FR" sz="2000" dirty="0">
                <a:solidFill>
                  <a:srgbClr val="000000"/>
                </a:solidFill>
                <a:effectLst/>
                <a:latin typeface="Times New Roman" panose="02020603050405020304" pitchFamily="18" charset="0"/>
                <a:ea typeface="Times New Roman" panose="02020603050405020304" pitchFamily="18" charset="0"/>
              </a:rPr>
              <a:t> vers la médiocrité. </a:t>
            </a:r>
          </a:p>
          <a:p>
            <a:r>
              <a:rPr lang="fr-FR" sz="2000" dirty="0">
                <a:solidFill>
                  <a:srgbClr val="000000"/>
                </a:solidFill>
                <a:effectLst/>
                <a:latin typeface="Times New Roman" panose="02020603050405020304" pitchFamily="18" charset="0"/>
                <a:ea typeface="Times New Roman" panose="02020603050405020304" pitchFamily="18" charset="0"/>
                <a:cs typeface="Helvetica Neue (T1) 45 Light"/>
              </a:rPr>
              <a:t>Lorsque nous observons deux variables quantitatives, nous nous interrogeons très souvent sur la relation qui pourrait exister entre elles. Par exemple, une grande entreprise voudrait savoir s’il y a un lien entre ses revenus et ses dépenses en publicité ; un biologiste s’interroge sur le rapport entre la taille des poissons et la température de l’eau ; un ingénieur cherche à savoir s’il existe un lien entre la compression appliquée au ciment et sa rigidité ; en épidémiologie, dans le but de détecter les retards de croissance, on voudrait quantifier la relation entre la taille et l’âge des enfants ; en médecine, on cherche à trouver si la fumée secondaire, la pollution ou le profil génétique influent de façon significative sur un certain type de cancer… Les exemples sont innombrables.</a:t>
            </a:r>
            <a:endParaRPr lang="fr-CA" sz="2000" dirty="0">
              <a:solidFill>
                <a:srgbClr val="000000"/>
              </a:solidFill>
              <a:effectLst/>
              <a:latin typeface="Helvetica Neue (T1) 45 Light"/>
              <a:ea typeface="Times New Roman" panose="02020603050405020304" pitchFamily="18" charset="0"/>
              <a:cs typeface="Helvetica Neue (T1) 45 Light"/>
            </a:endParaRPr>
          </a:p>
          <a:p>
            <a:endParaRPr lang="fr-CA" sz="1800" dirty="0">
              <a:solidFill>
                <a:srgbClr val="000000"/>
              </a:solidFill>
              <a:effectLst/>
              <a:latin typeface="Times New Roman" panose="02020603050405020304" pitchFamily="18" charset="0"/>
              <a:ea typeface="Times New Roman" panose="02020603050405020304" pitchFamily="18" charset="0"/>
            </a:endParaRPr>
          </a:p>
          <a:p>
            <a:endParaRPr lang="fr-CA" dirty="0"/>
          </a:p>
        </p:txBody>
      </p:sp>
    </p:spTree>
    <p:extLst>
      <p:ext uri="{BB962C8B-B14F-4D97-AF65-F5344CB8AC3E}">
        <p14:creationId xmlns:p14="http://schemas.microsoft.com/office/powerpoint/2010/main" val="27541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E6B3384-6FE1-4E7F-AF85-62FA469CC41F}"/>
              </a:ext>
            </a:extLst>
          </p:cNvPr>
          <p:cNvSpPr>
            <a:spLocks noGrp="1"/>
          </p:cNvSpPr>
          <p:nvPr>
            <p:ph type="title"/>
          </p:nvPr>
        </p:nvSpPr>
        <p:spPr>
          <a:xfrm>
            <a:off x="838200" y="365125"/>
            <a:ext cx="10174941" cy="5390216"/>
          </a:xfrm>
        </p:spPr>
        <p:txBody>
          <a:bodyPr>
            <a:noAutofit/>
          </a:bodyPr>
          <a:lstStyle/>
          <a:p>
            <a:r>
              <a:rPr lang="fr-CA" sz="2400" dirty="0">
                <a:solidFill>
                  <a:srgbClr val="000000"/>
                </a:solidFill>
                <a:effectLst/>
                <a:latin typeface="Times New Roman" panose="02020603050405020304" pitchFamily="18" charset="0"/>
                <a:ea typeface="Times New Roman" panose="02020603050405020304" pitchFamily="18" charset="0"/>
              </a:rPr>
              <a:t>Généralement, en présence de deux variables, nous connaissons mieux l’une d’entre elles ou encore nous pouvons exercer sur elle un certain contrôle, c’est-à-dire l’ajuster. Cette variable est notée</a:t>
            </a:r>
            <a:r>
              <a:rPr lang="fr-CA" sz="2400" i="1" dirty="0">
                <a:solidFill>
                  <a:srgbClr val="000000"/>
                </a:solidFill>
                <a:effectLst/>
                <a:latin typeface="Times New Roman" panose="02020603050405020304" pitchFamily="18" charset="0"/>
                <a:ea typeface="Times New Roman" panose="02020603050405020304" pitchFamily="18" charset="0"/>
              </a:rPr>
              <a:t> X</a:t>
            </a:r>
            <a:r>
              <a:rPr lang="fr-CA" sz="2400" dirty="0">
                <a:solidFill>
                  <a:srgbClr val="000000"/>
                </a:solidFill>
                <a:effectLst/>
                <a:latin typeface="Times New Roman" panose="02020603050405020304" pitchFamily="18" charset="0"/>
                <a:ea typeface="Times New Roman" panose="02020603050405020304" pitchFamily="18" charset="0"/>
              </a:rPr>
              <a:t> et appelée </a:t>
            </a:r>
            <a:r>
              <a:rPr lang="fr-CA" sz="2400" b="1" dirty="0">
                <a:solidFill>
                  <a:srgbClr val="000000"/>
                </a:solidFill>
                <a:effectLst/>
                <a:latin typeface="Times New Roman" panose="02020603050405020304" pitchFamily="18" charset="0"/>
                <a:ea typeface="Times New Roman" panose="02020603050405020304" pitchFamily="18" charset="0"/>
              </a:rPr>
              <a:t>variable indépendante</a:t>
            </a:r>
            <a:r>
              <a:rPr lang="fr-CA" sz="2400" dirty="0">
                <a:solidFill>
                  <a:srgbClr val="000000"/>
                </a:solidFill>
                <a:effectLst/>
                <a:latin typeface="Times New Roman" panose="02020603050405020304" pitchFamily="18" charset="0"/>
                <a:ea typeface="Times New Roman" panose="02020603050405020304" pitchFamily="18" charset="0"/>
              </a:rPr>
              <a:t> ou </a:t>
            </a:r>
            <a:r>
              <a:rPr lang="fr-CA" sz="2400" b="1" dirty="0">
                <a:solidFill>
                  <a:srgbClr val="000000"/>
                </a:solidFill>
                <a:effectLst/>
                <a:latin typeface="Times New Roman" panose="02020603050405020304" pitchFamily="18" charset="0"/>
                <a:ea typeface="Times New Roman" panose="02020603050405020304" pitchFamily="18" charset="0"/>
              </a:rPr>
              <a:t>variable explicative</a:t>
            </a:r>
            <a:r>
              <a:rPr lang="fr-CA" sz="2400" dirty="0">
                <a:solidFill>
                  <a:srgbClr val="000000"/>
                </a:solidFill>
                <a:effectLst/>
                <a:latin typeface="Times New Roman" panose="02020603050405020304" pitchFamily="18" charset="0"/>
                <a:ea typeface="Times New Roman" panose="02020603050405020304" pitchFamily="18" charset="0"/>
              </a:rPr>
              <a:t>. L’autre variable, celle que nous connaissons moins ou que nous ne pouvons pas contrôler, est notée </a:t>
            </a:r>
            <a:r>
              <a:rPr lang="fr-CA" sz="2400" i="1" dirty="0">
                <a:solidFill>
                  <a:srgbClr val="000000"/>
                </a:solidFill>
                <a:effectLst/>
                <a:latin typeface="Times New Roman" panose="02020603050405020304" pitchFamily="18" charset="0"/>
                <a:ea typeface="Times New Roman" panose="02020603050405020304" pitchFamily="18" charset="0"/>
              </a:rPr>
              <a:t>Y</a:t>
            </a:r>
            <a:r>
              <a:rPr lang="fr-CA" sz="2400" dirty="0">
                <a:solidFill>
                  <a:srgbClr val="000000"/>
                </a:solidFill>
                <a:effectLst/>
                <a:latin typeface="Times New Roman" panose="02020603050405020304" pitchFamily="18" charset="0"/>
                <a:ea typeface="Times New Roman" panose="02020603050405020304" pitchFamily="18" charset="0"/>
              </a:rPr>
              <a:t> et appelée </a:t>
            </a:r>
            <a:r>
              <a:rPr lang="fr-CA" sz="2400" b="1" dirty="0">
                <a:solidFill>
                  <a:srgbClr val="000000"/>
                </a:solidFill>
                <a:effectLst/>
                <a:latin typeface="Times New Roman" panose="02020603050405020304" pitchFamily="18" charset="0"/>
                <a:ea typeface="Times New Roman" panose="02020603050405020304" pitchFamily="18" charset="0"/>
              </a:rPr>
              <a:t>variable dépendante</a:t>
            </a:r>
            <a:r>
              <a:rPr lang="fr-CA" sz="2400" dirty="0">
                <a:solidFill>
                  <a:srgbClr val="000000"/>
                </a:solidFill>
                <a:effectLst/>
                <a:latin typeface="Times New Roman" panose="02020603050405020304" pitchFamily="18" charset="0"/>
                <a:ea typeface="Times New Roman" panose="02020603050405020304" pitchFamily="18" charset="0"/>
              </a:rPr>
              <a:t> ou </a:t>
            </a:r>
            <a:r>
              <a:rPr lang="fr-CA" sz="2400" b="1" dirty="0">
                <a:solidFill>
                  <a:srgbClr val="000000"/>
                </a:solidFill>
                <a:effectLst/>
                <a:latin typeface="Times New Roman" panose="02020603050405020304" pitchFamily="18" charset="0"/>
                <a:ea typeface="Times New Roman" panose="02020603050405020304" pitchFamily="18" charset="0"/>
              </a:rPr>
              <a:t>variable expliquée</a:t>
            </a:r>
            <a:r>
              <a:rPr lang="fr-CA" sz="2400" dirty="0">
                <a:solidFill>
                  <a:srgbClr val="000000"/>
                </a:solidFill>
                <a:effectLst/>
                <a:latin typeface="Times New Roman" panose="02020603050405020304" pitchFamily="18" charset="0"/>
                <a:ea typeface="Times New Roman" panose="02020603050405020304" pitchFamily="18" charset="0"/>
              </a:rPr>
              <a:t> ; on la nomme aussi </a:t>
            </a:r>
            <a:r>
              <a:rPr lang="fr-CA" sz="2400" b="1" dirty="0">
                <a:solidFill>
                  <a:srgbClr val="000000"/>
                </a:solidFill>
                <a:effectLst/>
                <a:latin typeface="Times New Roman" panose="02020603050405020304" pitchFamily="18" charset="0"/>
                <a:ea typeface="Times New Roman" panose="02020603050405020304" pitchFamily="18" charset="0"/>
              </a:rPr>
              <a:t>variable réponse</a:t>
            </a:r>
            <a:r>
              <a:rPr lang="fr-CA" sz="2400" dirty="0">
                <a:solidFill>
                  <a:srgbClr val="000000"/>
                </a:solidFill>
                <a:effectLst/>
                <a:latin typeface="Times New Roman" panose="02020603050405020304" pitchFamily="18" charset="0"/>
                <a:ea typeface="Times New Roman" panose="02020603050405020304" pitchFamily="18" charset="0"/>
              </a:rPr>
              <a:t>, pour signifier qu’elle répond aux fluctuations de</a:t>
            </a:r>
            <a:r>
              <a:rPr lang="fr-CA" sz="2400" i="1" dirty="0">
                <a:solidFill>
                  <a:srgbClr val="000000"/>
                </a:solidFill>
                <a:effectLst/>
                <a:latin typeface="Times New Roman" panose="02020603050405020304" pitchFamily="18" charset="0"/>
                <a:ea typeface="Times New Roman" panose="02020603050405020304" pitchFamily="18" charset="0"/>
              </a:rPr>
              <a:t> X</a:t>
            </a:r>
            <a:r>
              <a:rPr lang="fr-CA" sz="2400" dirty="0">
                <a:solidFill>
                  <a:srgbClr val="000000"/>
                </a:solidFill>
                <a:effectLst/>
                <a:latin typeface="Times New Roman" panose="02020603050405020304" pitchFamily="18" charset="0"/>
                <a:ea typeface="Times New Roman" panose="02020603050405020304" pitchFamily="18" charset="0"/>
              </a:rPr>
              <a:t>. Si nous reprenons un des exemples de l’introduction, une entreprise peut ajuster ses dépenses en publicité (variable indépendante) pour augmenter ses revenus (variable dépendante).</a:t>
            </a:r>
            <a:br>
              <a:rPr lang="fr-CA" sz="2400" dirty="0">
                <a:solidFill>
                  <a:srgbClr val="000000"/>
                </a:solidFill>
                <a:effectLst/>
                <a:latin typeface="Times New Roman" panose="02020603050405020304" pitchFamily="18" charset="0"/>
                <a:ea typeface="Times New Roman" panose="02020603050405020304" pitchFamily="18" charset="0"/>
              </a:rPr>
            </a:br>
            <a:br>
              <a:rPr lang="fr-CA" sz="2400" dirty="0">
                <a:solidFill>
                  <a:srgbClr val="000000"/>
                </a:solidFill>
                <a:effectLst/>
                <a:latin typeface="Times New Roman" panose="02020603050405020304" pitchFamily="18" charset="0"/>
                <a:ea typeface="Times New Roman" panose="02020603050405020304" pitchFamily="18" charset="0"/>
              </a:rPr>
            </a:br>
            <a:r>
              <a:rPr lang="fr-CA" sz="2400" dirty="0">
                <a:solidFill>
                  <a:srgbClr val="000000"/>
                </a:solidFill>
                <a:effectLst/>
                <a:latin typeface="Times New Roman" panose="02020603050405020304" pitchFamily="18" charset="0"/>
                <a:ea typeface="Times New Roman" panose="02020603050405020304" pitchFamily="18" charset="0"/>
              </a:rPr>
              <a:t>Le modèle le plus simple qui puisse lier la variable dépendante et la variable indépendante est une droite. Il faut trouver la droite la plus « efficace » possible, c’est-à-dire celle qui peut lier le plus de points possible.</a:t>
            </a:r>
            <a:br>
              <a:rPr lang="fr-CA" sz="2400" dirty="0">
                <a:solidFill>
                  <a:srgbClr val="000000"/>
                </a:solidFill>
                <a:effectLst/>
                <a:latin typeface="Times New Roman" panose="02020603050405020304" pitchFamily="18" charset="0"/>
                <a:ea typeface="Times New Roman" panose="02020603050405020304" pitchFamily="18" charset="0"/>
              </a:rPr>
            </a:br>
            <a:endParaRPr lang="fr-CA" sz="2400" dirty="0"/>
          </a:p>
        </p:txBody>
      </p:sp>
      <p:sp>
        <p:nvSpPr>
          <p:cNvPr id="3" name="Espace réservé du pied de page 2">
            <a:extLst>
              <a:ext uri="{FF2B5EF4-FFF2-40B4-BE49-F238E27FC236}">
                <a16:creationId xmlns:a16="http://schemas.microsoft.com/office/drawing/2014/main" id="{3544846B-3FA9-4220-A018-E19B95DD26B4}"/>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567EC8C6-2DBF-423C-84A7-4FDB1462C4BB}"/>
              </a:ext>
            </a:extLst>
          </p:cNvPr>
          <p:cNvSpPr>
            <a:spLocks noGrp="1"/>
          </p:cNvSpPr>
          <p:nvPr>
            <p:ph type="sldNum" sz="quarter" idx="12"/>
          </p:nvPr>
        </p:nvSpPr>
        <p:spPr/>
        <p:txBody>
          <a:bodyPr/>
          <a:lstStyle/>
          <a:p>
            <a:fld id="{26377AD9-CE17-438C-A638-C64D2D42D7CF}" type="slidenum">
              <a:rPr lang="fr-CA" smtClean="0"/>
              <a:t>2</a:t>
            </a:fld>
            <a:endParaRPr lang="fr-CA"/>
          </a:p>
        </p:txBody>
      </p:sp>
    </p:spTree>
    <p:extLst>
      <p:ext uri="{BB962C8B-B14F-4D97-AF65-F5344CB8AC3E}">
        <p14:creationId xmlns:p14="http://schemas.microsoft.com/office/powerpoint/2010/main" val="23732227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0155189-D96C-4527-B0EC-654B946BE6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76B07D5-8206-4A0C-BDA0-6456F15A988E}"/>
              </a:ext>
            </a:extLst>
          </p:cNvPr>
          <p:cNvSpPr>
            <a:spLocks noGrp="1"/>
          </p:cNvSpPr>
          <p:nvPr>
            <p:ph type="title"/>
          </p:nvPr>
        </p:nvSpPr>
        <p:spPr>
          <a:xfrm>
            <a:off x="1198181" y="557189"/>
            <a:ext cx="9795637" cy="1104857"/>
          </a:xfrm>
        </p:spPr>
        <p:txBody>
          <a:bodyPr vert="horz" lIns="91440" tIns="45720" rIns="91440" bIns="45720" rtlCol="0" anchor="b">
            <a:noAutofit/>
          </a:bodyPr>
          <a:lstStyle/>
          <a:p>
            <a:pPr algn="ctr"/>
            <a:r>
              <a:rPr lang="fr-CA" sz="2000" dirty="0"/>
              <a:t>Donc on doit d’abord mesurer les variables X et Y sur un échantillon aléatoire de taille n.</a:t>
            </a:r>
            <a:br>
              <a:rPr lang="fr-CA" sz="2000" dirty="0"/>
            </a:br>
            <a:r>
              <a:rPr lang="fr-CA" sz="2000" dirty="0"/>
              <a:t>On fait un graphique du nuage des points. </a:t>
            </a:r>
            <a:r>
              <a:rPr lang="fr-CA" sz="2000" dirty="0">
                <a:effectLst/>
              </a:rPr>
              <a:t>Mais avant d’essayer de déterminer cette droite, il faut s’assurer que le nuage des points a une tendance linéaire. Ce qui n’est pas le cas des trois nuages des points suivants</a:t>
            </a:r>
            <a:br>
              <a:rPr lang="fr-CA" sz="2000" dirty="0">
                <a:effectLst/>
              </a:rPr>
            </a:br>
            <a:endParaRPr lang="fr-CA" sz="2000" dirty="0"/>
          </a:p>
        </p:txBody>
      </p:sp>
      <p:pic>
        <p:nvPicPr>
          <p:cNvPr id="7" name="Image 6">
            <a:extLst>
              <a:ext uri="{FF2B5EF4-FFF2-40B4-BE49-F238E27FC236}">
                <a16:creationId xmlns:a16="http://schemas.microsoft.com/office/drawing/2014/main" id="{D135AC47-A540-4106-BA9F-C84B90010BFB}"/>
              </a:ext>
            </a:extLst>
          </p:cNvPr>
          <p:cNvPicPr/>
          <p:nvPr/>
        </p:nvPicPr>
        <p:blipFill>
          <a:blip r:embed="rId3"/>
          <a:stretch>
            <a:fillRect/>
          </a:stretch>
        </p:blipFill>
        <p:spPr>
          <a:xfrm>
            <a:off x="331034" y="2124636"/>
            <a:ext cx="3531357" cy="4176170"/>
          </a:xfrm>
          <a:prstGeom prst="rect">
            <a:avLst/>
          </a:prstGeom>
        </p:spPr>
      </p:pic>
      <p:pic>
        <p:nvPicPr>
          <p:cNvPr id="6" name="Image 5">
            <a:extLst>
              <a:ext uri="{FF2B5EF4-FFF2-40B4-BE49-F238E27FC236}">
                <a16:creationId xmlns:a16="http://schemas.microsoft.com/office/drawing/2014/main" id="{206F1419-672C-482D-A4C6-21268EFA1FC2}"/>
              </a:ext>
            </a:extLst>
          </p:cNvPr>
          <p:cNvPicPr/>
          <p:nvPr/>
        </p:nvPicPr>
        <p:blipFill>
          <a:blip r:embed="rId4"/>
          <a:stretch>
            <a:fillRect/>
          </a:stretch>
        </p:blipFill>
        <p:spPr>
          <a:xfrm>
            <a:off x="4365813" y="2219235"/>
            <a:ext cx="3523664" cy="4000590"/>
          </a:xfrm>
          <a:prstGeom prst="rect">
            <a:avLst/>
          </a:prstGeom>
        </p:spPr>
      </p:pic>
      <p:pic>
        <p:nvPicPr>
          <p:cNvPr id="5" name="Image 4">
            <a:extLst>
              <a:ext uri="{FF2B5EF4-FFF2-40B4-BE49-F238E27FC236}">
                <a16:creationId xmlns:a16="http://schemas.microsoft.com/office/drawing/2014/main" id="{36C48014-46DB-4BF3-83A0-4996B5FFAF3E}"/>
              </a:ext>
            </a:extLst>
          </p:cNvPr>
          <p:cNvPicPr/>
          <p:nvPr/>
        </p:nvPicPr>
        <p:blipFill>
          <a:blip r:embed="rId5"/>
          <a:stretch>
            <a:fillRect/>
          </a:stretch>
        </p:blipFill>
        <p:spPr>
          <a:xfrm>
            <a:off x="8220368" y="1864312"/>
            <a:ext cx="3523664" cy="4436494"/>
          </a:xfrm>
          <a:prstGeom prst="rect">
            <a:avLst/>
          </a:prstGeom>
        </p:spPr>
      </p:pic>
      <p:sp>
        <p:nvSpPr>
          <p:cNvPr id="3" name="Espace réservé du pied de page 2">
            <a:extLst>
              <a:ext uri="{FF2B5EF4-FFF2-40B4-BE49-F238E27FC236}">
                <a16:creationId xmlns:a16="http://schemas.microsoft.com/office/drawing/2014/main" id="{FF632E88-4F96-4CDA-BCE8-57B354E5B81B}"/>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defTabSz="914400"/>
            <a:endParaRPr lang="en-US" sz="1200" kern="1200">
              <a:solidFill>
                <a:schemeClr val="tx1">
                  <a:tint val="75000"/>
                </a:schemeClr>
              </a:solidFill>
              <a:latin typeface="+mn-lt"/>
              <a:ea typeface="+mn-ea"/>
              <a:cs typeface="+mn-cs"/>
            </a:endParaRPr>
          </a:p>
        </p:txBody>
      </p:sp>
      <p:sp>
        <p:nvSpPr>
          <p:cNvPr id="4" name="Espace réservé du numéro de diapositive 3">
            <a:extLst>
              <a:ext uri="{FF2B5EF4-FFF2-40B4-BE49-F238E27FC236}">
                <a16:creationId xmlns:a16="http://schemas.microsoft.com/office/drawing/2014/main" id="{DF4DC07B-47D3-4FD4-A0B3-6D20E871CB8C}"/>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defTabSz="914400">
              <a:spcAft>
                <a:spcPts val="600"/>
              </a:spcAft>
            </a:pPr>
            <a:fld id="{26377AD9-CE17-438C-A638-C64D2D42D7CF}" type="slidenum">
              <a:rPr lang="en-US" smtClean="0"/>
              <a:pPr defTabSz="914400">
                <a:spcAft>
                  <a:spcPts val="600"/>
                </a:spcAft>
              </a:pPr>
              <a:t>3</a:t>
            </a:fld>
            <a:endParaRPr lang="en-US"/>
          </a:p>
        </p:txBody>
      </p:sp>
    </p:spTree>
    <p:extLst>
      <p:ext uri="{BB962C8B-B14F-4D97-AF65-F5344CB8AC3E}">
        <p14:creationId xmlns:p14="http://schemas.microsoft.com/office/powerpoint/2010/main" val="5887658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5452E782-06A1-491E-98A8-90AAAF82E941}"/>
              </a:ext>
            </a:extLst>
          </p:cNvPr>
          <p:cNvSpPr>
            <a:spLocks noGrp="1"/>
          </p:cNvSpPr>
          <p:nvPr>
            <p:ph type="title"/>
          </p:nvPr>
        </p:nvSpPr>
        <p:spPr>
          <a:xfrm>
            <a:off x="838200" y="184805"/>
            <a:ext cx="10512554" cy="1975071"/>
          </a:xfrm>
        </p:spPr>
        <p:txBody>
          <a:bodyPr anchor="ctr">
            <a:normAutofit fontScale="90000"/>
          </a:bodyPr>
          <a:lstStyle/>
          <a:p>
            <a:pPr>
              <a:spcAft>
                <a:spcPts val="800"/>
              </a:spcAft>
            </a:pPr>
            <a:r>
              <a:rPr lang="fr-CA" sz="1800" b="1" dirty="0"/>
              <a:t>Exemple 1</a:t>
            </a:r>
            <a:r>
              <a:rPr lang="fr-CA" sz="1800" dirty="0"/>
              <a:t>: </a:t>
            </a:r>
            <a:r>
              <a:rPr lang="fr-FR" sz="1800" dirty="0">
                <a:effectLst/>
                <a:latin typeface="Times New Roman" panose="02020603050405020304" pitchFamily="18" charset="0"/>
                <a:ea typeface="Times New Roman" panose="02020603050405020304" pitchFamily="18" charset="0"/>
              </a:rPr>
              <a:t>La Ville de Gatineau veut modéliser les fluctuations du taux d’ozone dans l’air à midi au cours du mois de juillet. Nous sommes donc en présence de deux variables, soit </a:t>
            </a:r>
            <a:r>
              <a:rPr lang="fr-FR" sz="1800" i="1" dirty="0">
                <a:effectLst/>
                <a:latin typeface="Times New Roman" panose="02020603050405020304" pitchFamily="18" charset="0"/>
                <a:ea typeface="Times New Roman" panose="02020603050405020304" pitchFamily="18" charset="0"/>
              </a:rPr>
              <a:t>X</a:t>
            </a:r>
            <a:r>
              <a:rPr lang="fr-FR" sz="1800" dirty="0">
                <a:effectLst/>
                <a:latin typeface="Times New Roman" panose="02020603050405020304" pitchFamily="18" charset="0"/>
                <a:ea typeface="Times New Roman" panose="02020603050405020304" pitchFamily="18" charset="0"/>
              </a:rPr>
              <a:t>, la température à midi au mois de juillet (en degrés Celsius), qui est parfaitement observable et connue, et </a:t>
            </a:r>
            <a:r>
              <a:rPr lang="fr-FR" sz="1800" i="1" dirty="0">
                <a:effectLst/>
                <a:latin typeface="Times New Roman" panose="02020603050405020304" pitchFamily="18" charset="0"/>
                <a:ea typeface="Times New Roman" panose="02020603050405020304" pitchFamily="18" charset="0"/>
              </a:rPr>
              <a:t>Y</a:t>
            </a:r>
            <a:r>
              <a:rPr lang="fr-FR" sz="1800" dirty="0">
                <a:effectLst/>
                <a:latin typeface="Times New Roman" panose="02020603050405020304" pitchFamily="18" charset="0"/>
                <a:ea typeface="Times New Roman" panose="02020603050405020304" pitchFamily="18" charset="0"/>
              </a:rPr>
              <a:t>, le taux d’ozone dans l’air (en parties par million), qui est moins connu. Nous allons donc tenter de modéliser cette dernière en fonction de la première.</a:t>
            </a:r>
            <a:br>
              <a:rPr lang="fr-CA" sz="1800" dirty="0">
                <a:effectLst/>
                <a:latin typeface="Times New Roman" panose="02020603050405020304" pitchFamily="18" charset="0"/>
                <a:ea typeface="Times New Roman" panose="02020603050405020304" pitchFamily="18" charset="0"/>
              </a:rPr>
            </a:br>
            <a:r>
              <a:rPr lang="fr-FR" sz="1800" dirty="0">
                <a:effectLst/>
                <a:latin typeface="Times New Roman" panose="02020603050405020304" pitchFamily="18" charset="0"/>
                <a:ea typeface="Times New Roman" panose="02020603050405020304" pitchFamily="18" charset="0"/>
              </a:rPr>
              <a:t>La Ville a commencé par choisir au hasard 10 journées du mois de juillet, pour lesquelles elle a noté les mesures de la température et du taux d’ozone à midi. Elle a obtenu les résultats suivants.</a:t>
            </a:r>
            <a:br>
              <a:rPr lang="fr-CA" sz="1800" dirty="0">
                <a:effectLst/>
                <a:latin typeface="Times New Roman" panose="02020603050405020304" pitchFamily="18" charset="0"/>
                <a:ea typeface="Times New Roman" panose="02020603050405020304" pitchFamily="18" charset="0"/>
              </a:rPr>
            </a:br>
            <a:endParaRPr lang="fr-CA" sz="1800" dirty="0"/>
          </a:p>
        </p:txBody>
      </p:sp>
      <p:sp>
        <p:nvSpPr>
          <p:cNvPr id="3" name="Espace réservé du pied de page 2">
            <a:extLst>
              <a:ext uri="{FF2B5EF4-FFF2-40B4-BE49-F238E27FC236}">
                <a16:creationId xmlns:a16="http://schemas.microsoft.com/office/drawing/2014/main" id="{D2181E82-5C3D-4A1D-B03F-8B50FA9362DF}"/>
              </a:ext>
            </a:extLst>
          </p:cNvPr>
          <p:cNvSpPr>
            <a:spLocks noGrp="1"/>
          </p:cNvSpPr>
          <p:nvPr>
            <p:ph type="ftr" sz="quarter" idx="11"/>
          </p:nvPr>
        </p:nvSpPr>
        <p:spPr>
          <a:xfrm>
            <a:off x="4038600" y="6356350"/>
            <a:ext cx="4114800" cy="365125"/>
          </a:xfrm>
        </p:spPr>
        <p:txBody>
          <a:bodyPr>
            <a:normAutofit/>
          </a:bodyPr>
          <a:lstStyle/>
          <a:p>
            <a:endParaRPr lang="fr-CA"/>
          </a:p>
        </p:txBody>
      </p:sp>
      <p:sp>
        <p:nvSpPr>
          <p:cNvPr id="4" name="Espace réservé du numéro de diapositive 3">
            <a:extLst>
              <a:ext uri="{FF2B5EF4-FFF2-40B4-BE49-F238E27FC236}">
                <a16:creationId xmlns:a16="http://schemas.microsoft.com/office/drawing/2014/main" id="{1276B689-87D7-4A5C-B07A-3C4483C1D76B}"/>
              </a:ext>
            </a:extLst>
          </p:cNvPr>
          <p:cNvSpPr>
            <a:spLocks noGrp="1"/>
          </p:cNvSpPr>
          <p:nvPr>
            <p:ph type="sldNum" sz="quarter" idx="12"/>
          </p:nvPr>
        </p:nvSpPr>
        <p:spPr>
          <a:xfrm>
            <a:off x="8610600" y="6356350"/>
            <a:ext cx="2743200" cy="365125"/>
          </a:xfrm>
        </p:spPr>
        <p:txBody>
          <a:bodyPr>
            <a:normAutofit/>
          </a:bodyPr>
          <a:lstStyle/>
          <a:p>
            <a:pPr>
              <a:spcAft>
                <a:spcPts val="600"/>
              </a:spcAft>
            </a:pPr>
            <a:fld id="{26377AD9-CE17-438C-A638-C64D2D42D7CF}" type="slidenum">
              <a:rPr lang="fr-CA" smtClean="0"/>
              <a:pPr>
                <a:spcAft>
                  <a:spcPts val="600"/>
                </a:spcAft>
              </a:pPr>
              <a:t>4</a:t>
            </a:fld>
            <a:endParaRPr lang="fr-CA"/>
          </a:p>
        </p:txBody>
      </p:sp>
      <p:graphicFrame>
        <p:nvGraphicFramePr>
          <p:cNvPr id="5" name="Tableau 4">
            <a:extLst>
              <a:ext uri="{FF2B5EF4-FFF2-40B4-BE49-F238E27FC236}">
                <a16:creationId xmlns:a16="http://schemas.microsoft.com/office/drawing/2014/main" id="{D7BDC1D3-9B9D-4584-82FA-1B50D8169823}"/>
              </a:ext>
            </a:extLst>
          </p:cNvPr>
          <p:cNvGraphicFramePr>
            <a:graphicFrameLocks noGrp="1"/>
          </p:cNvGraphicFramePr>
          <p:nvPr>
            <p:extLst>
              <p:ext uri="{D42A27DB-BD31-4B8C-83A1-F6EECF244321}">
                <p14:modId xmlns:p14="http://schemas.microsoft.com/office/powerpoint/2010/main" val="384086079"/>
              </p:ext>
            </p:extLst>
          </p:nvPr>
        </p:nvGraphicFramePr>
        <p:xfrm>
          <a:off x="838200" y="2744364"/>
          <a:ext cx="10512554" cy="2652430"/>
        </p:xfrm>
        <a:graphic>
          <a:graphicData uri="http://schemas.openxmlformats.org/drawingml/2006/table">
            <a:tbl>
              <a:tblPr firstRow="1" bandRow="1">
                <a:tableStyleId>{5C22544A-7EE6-4342-B048-85BDC9FD1C3A}</a:tableStyleId>
              </a:tblPr>
              <a:tblGrid>
                <a:gridCol w="1710242">
                  <a:extLst>
                    <a:ext uri="{9D8B030D-6E8A-4147-A177-3AD203B41FA5}">
                      <a16:colId xmlns:a16="http://schemas.microsoft.com/office/drawing/2014/main" val="3501210174"/>
                    </a:ext>
                  </a:extLst>
                </a:gridCol>
                <a:gridCol w="917472">
                  <a:extLst>
                    <a:ext uri="{9D8B030D-6E8A-4147-A177-3AD203B41FA5}">
                      <a16:colId xmlns:a16="http://schemas.microsoft.com/office/drawing/2014/main" val="511314291"/>
                    </a:ext>
                  </a:extLst>
                </a:gridCol>
                <a:gridCol w="917472">
                  <a:extLst>
                    <a:ext uri="{9D8B030D-6E8A-4147-A177-3AD203B41FA5}">
                      <a16:colId xmlns:a16="http://schemas.microsoft.com/office/drawing/2014/main" val="3493241584"/>
                    </a:ext>
                  </a:extLst>
                </a:gridCol>
                <a:gridCol w="917472">
                  <a:extLst>
                    <a:ext uri="{9D8B030D-6E8A-4147-A177-3AD203B41FA5}">
                      <a16:colId xmlns:a16="http://schemas.microsoft.com/office/drawing/2014/main" val="1488077363"/>
                    </a:ext>
                  </a:extLst>
                </a:gridCol>
                <a:gridCol w="793336">
                  <a:extLst>
                    <a:ext uri="{9D8B030D-6E8A-4147-A177-3AD203B41FA5}">
                      <a16:colId xmlns:a16="http://schemas.microsoft.com/office/drawing/2014/main" val="3836136511"/>
                    </a:ext>
                  </a:extLst>
                </a:gridCol>
                <a:gridCol w="917472">
                  <a:extLst>
                    <a:ext uri="{9D8B030D-6E8A-4147-A177-3AD203B41FA5}">
                      <a16:colId xmlns:a16="http://schemas.microsoft.com/office/drawing/2014/main" val="2255434823"/>
                    </a:ext>
                  </a:extLst>
                </a:gridCol>
                <a:gridCol w="917472">
                  <a:extLst>
                    <a:ext uri="{9D8B030D-6E8A-4147-A177-3AD203B41FA5}">
                      <a16:colId xmlns:a16="http://schemas.microsoft.com/office/drawing/2014/main" val="1986309263"/>
                    </a:ext>
                  </a:extLst>
                </a:gridCol>
                <a:gridCol w="793336">
                  <a:extLst>
                    <a:ext uri="{9D8B030D-6E8A-4147-A177-3AD203B41FA5}">
                      <a16:colId xmlns:a16="http://schemas.microsoft.com/office/drawing/2014/main" val="166152774"/>
                    </a:ext>
                  </a:extLst>
                </a:gridCol>
                <a:gridCol w="793336">
                  <a:extLst>
                    <a:ext uri="{9D8B030D-6E8A-4147-A177-3AD203B41FA5}">
                      <a16:colId xmlns:a16="http://schemas.microsoft.com/office/drawing/2014/main" val="4104418927"/>
                    </a:ext>
                  </a:extLst>
                </a:gridCol>
                <a:gridCol w="917472">
                  <a:extLst>
                    <a:ext uri="{9D8B030D-6E8A-4147-A177-3AD203B41FA5}">
                      <a16:colId xmlns:a16="http://schemas.microsoft.com/office/drawing/2014/main" val="590415202"/>
                    </a:ext>
                  </a:extLst>
                </a:gridCol>
                <a:gridCol w="917472">
                  <a:extLst>
                    <a:ext uri="{9D8B030D-6E8A-4147-A177-3AD203B41FA5}">
                      <a16:colId xmlns:a16="http://schemas.microsoft.com/office/drawing/2014/main" val="1999109830"/>
                    </a:ext>
                  </a:extLst>
                </a:gridCol>
              </a:tblGrid>
              <a:tr h="561542">
                <a:tc gridSpan="11">
                  <a:txBody>
                    <a:bodyPr/>
                    <a:lstStyle/>
                    <a:p>
                      <a:pPr algn="ctr">
                        <a:lnSpc>
                          <a:spcPts val="1200"/>
                        </a:lnSpc>
                        <a:spcAft>
                          <a:spcPts val="1000"/>
                        </a:spcAft>
                      </a:pPr>
                      <a:r>
                        <a:rPr lang="fr-FR" sz="1800">
                          <a:effectLst/>
                        </a:rPr>
                        <a:t>Distribution de la température et du taux d’ozone selon la journée</a:t>
                      </a:r>
                      <a:endParaRPr lang="fr-CA" sz="1800" b="1">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280" marR="90280" marT="112850" marB="112850" anchor="ctr"/>
                </a:tc>
                <a:tc hMerge="1">
                  <a:txBody>
                    <a:bodyPr/>
                    <a:lstStyle/>
                    <a:p>
                      <a:endParaRPr lang="fr-CA"/>
                    </a:p>
                  </a:txBody>
                  <a:tcPr/>
                </a:tc>
                <a:tc hMerge="1">
                  <a:txBody>
                    <a:bodyPr/>
                    <a:lstStyle/>
                    <a:p>
                      <a:endParaRPr lang="fr-CA"/>
                    </a:p>
                  </a:txBody>
                  <a:tcPr/>
                </a:tc>
                <a:tc hMerge="1">
                  <a:txBody>
                    <a:bodyPr/>
                    <a:lstStyle/>
                    <a:p>
                      <a:endParaRPr lang="fr-CA"/>
                    </a:p>
                  </a:txBody>
                  <a:tcPr/>
                </a:tc>
                <a:tc hMerge="1">
                  <a:txBody>
                    <a:bodyPr/>
                    <a:lstStyle/>
                    <a:p>
                      <a:endParaRPr lang="fr-CA"/>
                    </a:p>
                  </a:txBody>
                  <a:tcPr/>
                </a:tc>
                <a:tc hMerge="1">
                  <a:txBody>
                    <a:bodyPr/>
                    <a:lstStyle/>
                    <a:p>
                      <a:endParaRPr lang="fr-CA"/>
                    </a:p>
                  </a:txBody>
                  <a:tcPr/>
                </a:tc>
                <a:tc hMerge="1">
                  <a:txBody>
                    <a:bodyPr/>
                    <a:lstStyle/>
                    <a:p>
                      <a:endParaRPr lang="fr-CA"/>
                    </a:p>
                  </a:txBody>
                  <a:tcPr/>
                </a:tc>
                <a:tc hMerge="1">
                  <a:txBody>
                    <a:bodyPr/>
                    <a:lstStyle/>
                    <a:p>
                      <a:endParaRPr lang="fr-CA"/>
                    </a:p>
                  </a:txBody>
                  <a:tcPr/>
                </a:tc>
                <a:tc hMerge="1">
                  <a:txBody>
                    <a:bodyPr/>
                    <a:lstStyle/>
                    <a:p>
                      <a:endParaRPr lang="fr-CA"/>
                    </a:p>
                  </a:txBody>
                  <a:tcPr/>
                </a:tc>
                <a:tc hMerge="1">
                  <a:txBody>
                    <a:bodyPr/>
                    <a:lstStyle/>
                    <a:p>
                      <a:endParaRPr lang="fr-CA"/>
                    </a:p>
                  </a:txBody>
                  <a:tcPr/>
                </a:tc>
                <a:tc hMerge="1">
                  <a:txBody>
                    <a:bodyPr/>
                    <a:lstStyle/>
                    <a:p>
                      <a:endParaRPr lang="fr-CA"/>
                    </a:p>
                  </a:txBody>
                  <a:tcPr/>
                </a:tc>
                <a:extLst>
                  <a:ext uri="{0D108BD9-81ED-4DB2-BD59-A6C34878D82A}">
                    <a16:rowId xmlns:a16="http://schemas.microsoft.com/office/drawing/2014/main" val="3824082075"/>
                  </a:ext>
                </a:extLst>
              </a:tr>
              <a:tr h="516402">
                <a:tc>
                  <a:txBody>
                    <a:bodyPr/>
                    <a:lstStyle/>
                    <a:p>
                      <a:pPr algn="ctr">
                        <a:lnSpc>
                          <a:spcPts val="1200"/>
                        </a:lnSpc>
                        <a:spcAft>
                          <a:spcPts val="1000"/>
                        </a:spcAft>
                      </a:pPr>
                      <a:r>
                        <a:rPr lang="fr-FR" sz="1800">
                          <a:effectLst/>
                        </a:rPr>
                        <a:t>Journée</a:t>
                      </a:r>
                      <a:endParaRPr lang="fr-CA" sz="18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280" marR="90280" marT="90280" marB="90280" anchor="ctr"/>
                </a:tc>
                <a:tc>
                  <a:txBody>
                    <a:bodyPr/>
                    <a:lstStyle/>
                    <a:p>
                      <a:pPr algn="ctr">
                        <a:lnSpc>
                          <a:spcPts val="1200"/>
                        </a:lnSpc>
                        <a:spcAft>
                          <a:spcPts val="1000"/>
                        </a:spcAft>
                      </a:pPr>
                      <a:r>
                        <a:rPr lang="fr-FR" sz="1800">
                          <a:effectLst/>
                        </a:rPr>
                        <a:t>1</a:t>
                      </a:r>
                      <a:endParaRPr lang="fr-CA" sz="18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280" marR="90280" marT="90280" marB="90280" anchor="ctr"/>
                </a:tc>
                <a:tc>
                  <a:txBody>
                    <a:bodyPr/>
                    <a:lstStyle/>
                    <a:p>
                      <a:pPr algn="ctr">
                        <a:lnSpc>
                          <a:spcPts val="1200"/>
                        </a:lnSpc>
                        <a:spcAft>
                          <a:spcPts val="1000"/>
                        </a:spcAft>
                      </a:pPr>
                      <a:r>
                        <a:rPr lang="fr-FR" sz="1800">
                          <a:effectLst/>
                        </a:rPr>
                        <a:t>2</a:t>
                      </a:r>
                      <a:endParaRPr lang="fr-CA" sz="18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280" marR="90280" marT="90280" marB="90280" anchor="ctr"/>
                </a:tc>
                <a:tc>
                  <a:txBody>
                    <a:bodyPr/>
                    <a:lstStyle/>
                    <a:p>
                      <a:pPr algn="ctr">
                        <a:lnSpc>
                          <a:spcPts val="1200"/>
                        </a:lnSpc>
                        <a:spcAft>
                          <a:spcPts val="1000"/>
                        </a:spcAft>
                      </a:pPr>
                      <a:r>
                        <a:rPr lang="fr-FR" sz="1800">
                          <a:effectLst/>
                        </a:rPr>
                        <a:t>3</a:t>
                      </a:r>
                      <a:endParaRPr lang="fr-CA" sz="18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280" marR="90280" marT="90280" marB="90280" anchor="ctr"/>
                </a:tc>
                <a:tc>
                  <a:txBody>
                    <a:bodyPr/>
                    <a:lstStyle/>
                    <a:p>
                      <a:pPr algn="ctr">
                        <a:lnSpc>
                          <a:spcPts val="1200"/>
                        </a:lnSpc>
                        <a:spcAft>
                          <a:spcPts val="1000"/>
                        </a:spcAft>
                      </a:pPr>
                      <a:r>
                        <a:rPr lang="fr-FR" sz="1800">
                          <a:effectLst/>
                        </a:rPr>
                        <a:t>4</a:t>
                      </a:r>
                      <a:endParaRPr lang="fr-CA" sz="18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280" marR="90280" marT="90280" marB="90280" anchor="ctr"/>
                </a:tc>
                <a:tc>
                  <a:txBody>
                    <a:bodyPr/>
                    <a:lstStyle/>
                    <a:p>
                      <a:pPr algn="ctr">
                        <a:lnSpc>
                          <a:spcPts val="1200"/>
                        </a:lnSpc>
                        <a:spcAft>
                          <a:spcPts val="1000"/>
                        </a:spcAft>
                      </a:pPr>
                      <a:r>
                        <a:rPr lang="fr-FR" sz="1800">
                          <a:effectLst/>
                        </a:rPr>
                        <a:t>5</a:t>
                      </a:r>
                      <a:endParaRPr lang="fr-CA" sz="18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280" marR="90280" marT="90280" marB="90280" anchor="ctr"/>
                </a:tc>
                <a:tc>
                  <a:txBody>
                    <a:bodyPr/>
                    <a:lstStyle/>
                    <a:p>
                      <a:pPr algn="ctr">
                        <a:lnSpc>
                          <a:spcPts val="1200"/>
                        </a:lnSpc>
                        <a:spcAft>
                          <a:spcPts val="1000"/>
                        </a:spcAft>
                      </a:pPr>
                      <a:r>
                        <a:rPr lang="fr-FR" sz="1800">
                          <a:effectLst/>
                        </a:rPr>
                        <a:t>6</a:t>
                      </a:r>
                      <a:endParaRPr lang="fr-CA" sz="18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280" marR="90280" marT="90280" marB="90280" anchor="ctr"/>
                </a:tc>
                <a:tc>
                  <a:txBody>
                    <a:bodyPr/>
                    <a:lstStyle/>
                    <a:p>
                      <a:pPr algn="ctr">
                        <a:lnSpc>
                          <a:spcPts val="1200"/>
                        </a:lnSpc>
                        <a:spcAft>
                          <a:spcPts val="1000"/>
                        </a:spcAft>
                      </a:pPr>
                      <a:r>
                        <a:rPr lang="fr-FR" sz="1800">
                          <a:effectLst/>
                        </a:rPr>
                        <a:t>7</a:t>
                      </a:r>
                      <a:endParaRPr lang="fr-CA" sz="18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280" marR="90280" marT="90280" marB="90280" anchor="ctr"/>
                </a:tc>
                <a:tc>
                  <a:txBody>
                    <a:bodyPr/>
                    <a:lstStyle/>
                    <a:p>
                      <a:pPr algn="ctr">
                        <a:lnSpc>
                          <a:spcPts val="1200"/>
                        </a:lnSpc>
                        <a:spcAft>
                          <a:spcPts val="1000"/>
                        </a:spcAft>
                      </a:pPr>
                      <a:r>
                        <a:rPr lang="fr-FR" sz="1800">
                          <a:effectLst/>
                        </a:rPr>
                        <a:t>8</a:t>
                      </a:r>
                      <a:endParaRPr lang="fr-CA" sz="18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280" marR="90280" marT="90280" marB="90280" anchor="ctr"/>
                </a:tc>
                <a:tc>
                  <a:txBody>
                    <a:bodyPr/>
                    <a:lstStyle/>
                    <a:p>
                      <a:pPr algn="ctr">
                        <a:lnSpc>
                          <a:spcPts val="1200"/>
                        </a:lnSpc>
                        <a:spcAft>
                          <a:spcPts val="1000"/>
                        </a:spcAft>
                      </a:pPr>
                      <a:r>
                        <a:rPr lang="fr-FR" sz="1800">
                          <a:effectLst/>
                        </a:rPr>
                        <a:t>9</a:t>
                      </a:r>
                      <a:endParaRPr lang="fr-CA" sz="18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280" marR="90280" marT="90280" marB="90280" anchor="ctr"/>
                </a:tc>
                <a:tc>
                  <a:txBody>
                    <a:bodyPr/>
                    <a:lstStyle/>
                    <a:p>
                      <a:pPr algn="ctr">
                        <a:lnSpc>
                          <a:spcPts val="1200"/>
                        </a:lnSpc>
                        <a:spcAft>
                          <a:spcPts val="1000"/>
                        </a:spcAft>
                      </a:pPr>
                      <a:r>
                        <a:rPr lang="fr-FR" sz="1800">
                          <a:effectLst/>
                        </a:rPr>
                        <a:t>10</a:t>
                      </a:r>
                      <a:endParaRPr lang="fr-CA" sz="18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280" marR="90280" marT="90280" marB="90280" anchor="ctr"/>
                </a:tc>
                <a:extLst>
                  <a:ext uri="{0D108BD9-81ED-4DB2-BD59-A6C34878D82A}">
                    <a16:rowId xmlns:a16="http://schemas.microsoft.com/office/drawing/2014/main" val="3813771973"/>
                  </a:ext>
                </a:extLst>
              </a:tr>
              <a:tr h="787243">
                <a:tc>
                  <a:txBody>
                    <a:bodyPr/>
                    <a:lstStyle/>
                    <a:p>
                      <a:pPr algn="ctr">
                        <a:lnSpc>
                          <a:spcPts val="1200"/>
                        </a:lnSpc>
                      </a:pPr>
                      <a:r>
                        <a:rPr lang="fr-FR" sz="1800">
                          <a:effectLst/>
                        </a:rPr>
                        <a:t>Température (°C)</a:t>
                      </a:r>
                      <a:endParaRPr lang="fr-CA"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280" marR="90280" marT="90280" marB="90280" anchor="ctr"/>
                </a:tc>
                <a:tc>
                  <a:txBody>
                    <a:bodyPr/>
                    <a:lstStyle/>
                    <a:p>
                      <a:pPr algn="ctr">
                        <a:lnSpc>
                          <a:spcPts val="1200"/>
                        </a:lnSpc>
                      </a:pPr>
                      <a:r>
                        <a:rPr lang="fr-FR" sz="1800">
                          <a:effectLst/>
                        </a:rPr>
                        <a:t>23,9</a:t>
                      </a:r>
                      <a:endParaRPr lang="fr-CA"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280" marR="90280" marT="90280" marB="90280" anchor="ctr"/>
                </a:tc>
                <a:tc>
                  <a:txBody>
                    <a:bodyPr/>
                    <a:lstStyle/>
                    <a:p>
                      <a:pPr algn="ctr">
                        <a:lnSpc>
                          <a:spcPts val="1200"/>
                        </a:lnSpc>
                      </a:pPr>
                      <a:r>
                        <a:rPr lang="fr-FR" sz="1800">
                          <a:effectLst/>
                        </a:rPr>
                        <a:t>32,8</a:t>
                      </a:r>
                      <a:endParaRPr lang="fr-CA"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280" marR="90280" marT="90280" marB="90280" anchor="ctr"/>
                </a:tc>
                <a:tc>
                  <a:txBody>
                    <a:bodyPr/>
                    <a:lstStyle/>
                    <a:p>
                      <a:pPr algn="ctr">
                        <a:lnSpc>
                          <a:spcPts val="1200"/>
                        </a:lnSpc>
                      </a:pPr>
                      <a:r>
                        <a:rPr lang="fr-FR" sz="1800">
                          <a:effectLst/>
                        </a:rPr>
                        <a:t>23,7</a:t>
                      </a:r>
                      <a:endParaRPr lang="fr-CA"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280" marR="90280" marT="90280" marB="90280" anchor="ctr"/>
                </a:tc>
                <a:tc>
                  <a:txBody>
                    <a:bodyPr/>
                    <a:lstStyle/>
                    <a:p>
                      <a:pPr algn="ctr">
                        <a:lnSpc>
                          <a:spcPts val="1200"/>
                        </a:lnSpc>
                      </a:pPr>
                      <a:r>
                        <a:rPr lang="fr-FR" sz="1800">
                          <a:effectLst/>
                        </a:rPr>
                        <a:t>7,4</a:t>
                      </a:r>
                      <a:endParaRPr lang="fr-CA"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280" marR="90280" marT="90280" marB="90280" anchor="ctr"/>
                </a:tc>
                <a:tc>
                  <a:txBody>
                    <a:bodyPr/>
                    <a:lstStyle/>
                    <a:p>
                      <a:pPr algn="ctr">
                        <a:lnSpc>
                          <a:spcPts val="1200"/>
                        </a:lnSpc>
                      </a:pPr>
                      <a:r>
                        <a:rPr lang="fr-FR" sz="1800">
                          <a:effectLst/>
                        </a:rPr>
                        <a:t>19,7</a:t>
                      </a:r>
                      <a:endParaRPr lang="fr-CA"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280" marR="90280" marT="90280" marB="90280" anchor="ctr"/>
                </a:tc>
                <a:tc>
                  <a:txBody>
                    <a:bodyPr/>
                    <a:lstStyle/>
                    <a:p>
                      <a:pPr algn="ctr">
                        <a:lnSpc>
                          <a:spcPts val="1200"/>
                        </a:lnSpc>
                      </a:pPr>
                      <a:r>
                        <a:rPr lang="fr-FR" sz="1800">
                          <a:effectLst/>
                        </a:rPr>
                        <a:t>30,7</a:t>
                      </a:r>
                      <a:endParaRPr lang="fr-CA"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280" marR="90280" marT="90280" marB="90280" anchor="ctr"/>
                </a:tc>
                <a:tc>
                  <a:txBody>
                    <a:bodyPr/>
                    <a:lstStyle/>
                    <a:p>
                      <a:pPr algn="ctr">
                        <a:lnSpc>
                          <a:spcPts val="1200"/>
                        </a:lnSpc>
                      </a:pPr>
                      <a:r>
                        <a:rPr lang="fr-FR" sz="1800">
                          <a:effectLst/>
                        </a:rPr>
                        <a:t>28,9</a:t>
                      </a:r>
                      <a:endParaRPr lang="fr-CA"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280" marR="90280" marT="90280" marB="90280" anchor="ctr"/>
                </a:tc>
                <a:tc>
                  <a:txBody>
                    <a:bodyPr/>
                    <a:lstStyle/>
                    <a:p>
                      <a:pPr algn="ctr">
                        <a:lnSpc>
                          <a:spcPts val="1200"/>
                        </a:lnSpc>
                      </a:pPr>
                      <a:r>
                        <a:rPr lang="fr-FR" sz="1800">
                          <a:effectLst/>
                        </a:rPr>
                        <a:t>25,4</a:t>
                      </a:r>
                      <a:endParaRPr lang="fr-CA"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280" marR="90280" marT="90280" marB="90280" anchor="ctr"/>
                </a:tc>
                <a:tc>
                  <a:txBody>
                    <a:bodyPr/>
                    <a:lstStyle/>
                    <a:p>
                      <a:pPr algn="ctr">
                        <a:lnSpc>
                          <a:spcPts val="1200"/>
                        </a:lnSpc>
                      </a:pPr>
                      <a:r>
                        <a:rPr lang="fr-FR" sz="1800">
                          <a:effectLst/>
                        </a:rPr>
                        <a:t>28,9</a:t>
                      </a:r>
                      <a:endParaRPr lang="fr-CA"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280" marR="90280" marT="90280" marB="90280" anchor="ctr"/>
                </a:tc>
                <a:tc>
                  <a:txBody>
                    <a:bodyPr/>
                    <a:lstStyle/>
                    <a:p>
                      <a:pPr algn="ctr">
                        <a:lnSpc>
                          <a:spcPts val="1200"/>
                        </a:lnSpc>
                      </a:pPr>
                      <a:r>
                        <a:rPr lang="fr-FR" sz="1800">
                          <a:effectLst/>
                        </a:rPr>
                        <a:t>27,5</a:t>
                      </a:r>
                      <a:endParaRPr lang="fr-CA"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280" marR="90280" marT="90280" marB="90280" anchor="ctr"/>
                </a:tc>
                <a:extLst>
                  <a:ext uri="{0D108BD9-81ED-4DB2-BD59-A6C34878D82A}">
                    <a16:rowId xmlns:a16="http://schemas.microsoft.com/office/drawing/2014/main" val="2364696736"/>
                  </a:ext>
                </a:extLst>
              </a:tr>
              <a:tr h="787243">
                <a:tc>
                  <a:txBody>
                    <a:bodyPr/>
                    <a:lstStyle/>
                    <a:p>
                      <a:pPr algn="ctr">
                        <a:lnSpc>
                          <a:spcPts val="1200"/>
                        </a:lnSpc>
                      </a:pPr>
                      <a:r>
                        <a:rPr lang="fr-FR" sz="1800">
                          <a:effectLst/>
                        </a:rPr>
                        <a:t>Taux d’ozone (ppm)</a:t>
                      </a:r>
                      <a:endParaRPr lang="fr-CA"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280" marR="90280" marT="90280" marB="90280" anchor="ctr"/>
                </a:tc>
                <a:tc>
                  <a:txBody>
                    <a:bodyPr/>
                    <a:lstStyle/>
                    <a:p>
                      <a:pPr algn="ctr">
                        <a:lnSpc>
                          <a:spcPts val="1200"/>
                        </a:lnSpc>
                      </a:pPr>
                      <a:r>
                        <a:rPr lang="fr-FR" sz="1800">
                          <a:effectLst/>
                        </a:rPr>
                        <a:t>118,9</a:t>
                      </a:r>
                      <a:endParaRPr lang="fr-CA"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280" marR="90280" marT="90280" marB="90280" anchor="ctr"/>
                </a:tc>
                <a:tc>
                  <a:txBody>
                    <a:bodyPr/>
                    <a:lstStyle/>
                    <a:p>
                      <a:pPr algn="ctr">
                        <a:lnSpc>
                          <a:spcPts val="1200"/>
                        </a:lnSpc>
                      </a:pPr>
                      <a:r>
                        <a:rPr lang="fr-FR" sz="1800">
                          <a:effectLst/>
                        </a:rPr>
                        <a:t>143,8</a:t>
                      </a:r>
                      <a:endParaRPr lang="fr-CA"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280" marR="90280" marT="90280" marB="90280" anchor="ctr"/>
                </a:tc>
                <a:tc>
                  <a:txBody>
                    <a:bodyPr/>
                    <a:lstStyle/>
                    <a:p>
                      <a:pPr algn="ctr">
                        <a:lnSpc>
                          <a:spcPts val="1200"/>
                        </a:lnSpc>
                      </a:pPr>
                      <a:r>
                        <a:rPr lang="fr-FR" sz="1800">
                          <a:effectLst/>
                        </a:rPr>
                        <a:t>116,2</a:t>
                      </a:r>
                      <a:endParaRPr lang="fr-CA"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280" marR="90280" marT="90280" marB="90280" anchor="ctr"/>
                </a:tc>
                <a:tc>
                  <a:txBody>
                    <a:bodyPr/>
                    <a:lstStyle/>
                    <a:p>
                      <a:pPr algn="ctr">
                        <a:lnSpc>
                          <a:spcPts val="1200"/>
                        </a:lnSpc>
                      </a:pPr>
                      <a:r>
                        <a:rPr lang="fr-FR" sz="1800">
                          <a:effectLst/>
                        </a:rPr>
                        <a:t>87,6</a:t>
                      </a:r>
                      <a:endParaRPr lang="fr-CA"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280" marR="90280" marT="90280" marB="90280" anchor="ctr"/>
                </a:tc>
                <a:tc>
                  <a:txBody>
                    <a:bodyPr/>
                    <a:lstStyle/>
                    <a:p>
                      <a:pPr algn="ctr">
                        <a:lnSpc>
                          <a:spcPts val="1200"/>
                        </a:lnSpc>
                      </a:pPr>
                      <a:r>
                        <a:rPr lang="fr-FR" sz="1800">
                          <a:effectLst/>
                        </a:rPr>
                        <a:t>100,9</a:t>
                      </a:r>
                      <a:endParaRPr lang="fr-CA"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280" marR="90280" marT="90280" marB="90280" anchor="ctr"/>
                </a:tc>
                <a:tc>
                  <a:txBody>
                    <a:bodyPr/>
                    <a:lstStyle/>
                    <a:p>
                      <a:pPr algn="ctr">
                        <a:lnSpc>
                          <a:spcPts val="1200"/>
                        </a:lnSpc>
                      </a:pPr>
                      <a:r>
                        <a:rPr lang="fr-FR" sz="1800">
                          <a:effectLst/>
                        </a:rPr>
                        <a:t>134,8</a:t>
                      </a:r>
                      <a:endParaRPr lang="fr-CA"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280" marR="90280" marT="90280" marB="90280" anchor="ctr"/>
                </a:tc>
                <a:tc>
                  <a:txBody>
                    <a:bodyPr/>
                    <a:lstStyle/>
                    <a:p>
                      <a:pPr algn="ctr">
                        <a:lnSpc>
                          <a:spcPts val="1200"/>
                        </a:lnSpc>
                      </a:pPr>
                      <a:r>
                        <a:rPr lang="fr-FR" sz="1800">
                          <a:effectLst/>
                        </a:rPr>
                        <a:t>98,7</a:t>
                      </a:r>
                      <a:endParaRPr lang="fr-CA"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280" marR="90280" marT="90280" marB="90280" anchor="ctr"/>
                </a:tc>
                <a:tc>
                  <a:txBody>
                    <a:bodyPr/>
                    <a:lstStyle/>
                    <a:p>
                      <a:pPr algn="ctr">
                        <a:lnSpc>
                          <a:spcPts val="1200"/>
                        </a:lnSpc>
                      </a:pPr>
                      <a:r>
                        <a:rPr lang="fr-FR" sz="1800">
                          <a:effectLst/>
                        </a:rPr>
                        <a:t>78,6</a:t>
                      </a:r>
                      <a:endParaRPr lang="fr-CA"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280" marR="90280" marT="90280" marB="90280" anchor="ctr"/>
                </a:tc>
                <a:tc>
                  <a:txBody>
                    <a:bodyPr/>
                    <a:lstStyle/>
                    <a:p>
                      <a:pPr algn="ctr">
                        <a:lnSpc>
                          <a:spcPts val="1200"/>
                        </a:lnSpc>
                      </a:pPr>
                      <a:r>
                        <a:rPr lang="fr-FR" sz="1800">
                          <a:effectLst/>
                        </a:rPr>
                        <a:t>109,2</a:t>
                      </a:r>
                      <a:endParaRPr lang="fr-CA"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280" marR="90280" marT="90280" marB="90280" anchor="ctr"/>
                </a:tc>
                <a:tc>
                  <a:txBody>
                    <a:bodyPr/>
                    <a:lstStyle/>
                    <a:p>
                      <a:pPr algn="ctr">
                        <a:lnSpc>
                          <a:spcPts val="1200"/>
                        </a:lnSpc>
                      </a:pPr>
                      <a:r>
                        <a:rPr lang="fr-FR" sz="1800">
                          <a:effectLst/>
                        </a:rPr>
                        <a:t>102,6</a:t>
                      </a:r>
                      <a:endParaRPr lang="fr-CA" sz="18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0280" marR="90280" marT="90280" marB="90280" anchor="ctr"/>
                </a:tc>
                <a:extLst>
                  <a:ext uri="{0D108BD9-81ED-4DB2-BD59-A6C34878D82A}">
                    <a16:rowId xmlns:a16="http://schemas.microsoft.com/office/drawing/2014/main" val="67668982"/>
                  </a:ext>
                </a:extLst>
              </a:tr>
            </a:tbl>
          </a:graphicData>
        </a:graphic>
      </p:graphicFrame>
    </p:spTree>
    <p:extLst>
      <p:ext uri="{BB962C8B-B14F-4D97-AF65-F5344CB8AC3E}">
        <p14:creationId xmlns:p14="http://schemas.microsoft.com/office/powerpoint/2010/main" val="22774490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0">
            <a:extLst>
              <a:ext uri="{FF2B5EF4-FFF2-40B4-BE49-F238E27FC236}">
                <a16:creationId xmlns:a16="http://schemas.microsoft.com/office/drawing/2014/main" id="{20D5D19D-0789-4518-B5DC-D47ADF69D2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3EA465FE-1A1B-4B77-B289-DB7648886F37}"/>
              </a:ext>
            </a:extLst>
          </p:cNvPr>
          <p:cNvSpPr>
            <a:spLocks noGrp="1"/>
          </p:cNvSpPr>
          <p:nvPr>
            <p:ph type="title"/>
          </p:nvPr>
        </p:nvSpPr>
        <p:spPr>
          <a:xfrm>
            <a:off x="1113810" y="3130041"/>
            <a:ext cx="4036334" cy="2387600"/>
          </a:xfrm>
        </p:spPr>
        <p:txBody>
          <a:bodyPr vert="horz" lIns="91440" tIns="45720" rIns="91440" bIns="45720" rtlCol="0" anchor="t">
            <a:normAutofit/>
          </a:bodyPr>
          <a:lstStyle/>
          <a:p>
            <a:r>
              <a:rPr lang="en-US" sz="2200">
                <a:effectLst/>
              </a:rPr>
              <a:t>Nous allons d’abord visualiser le nuage de points au moyen d’un graphique.</a:t>
            </a:r>
            <a:r>
              <a:rPr lang="en-US" sz="2200"/>
              <a:t> Avec R:</a:t>
            </a:r>
            <a:br>
              <a:rPr lang="en-US" sz="2200"/>
            </a:br>
            <a:r>
              <a:rPr lang="en-US" sz="2200"/>
              <a:t>Il suffit de taper:</a:t>
            </a:r>
            <a:br>
              <a:rPr lang="en-US" sz="2200"/>
            </a:br>
            <a:r>
              <a:rPr lang="en-US" sz="2200"/>
              <a:t>plot(x,y,xlab=……,ylab=…….,main=…….) et on obtient:</a:t>
            </a:r>
          </a:p>
        </p:txBody>
      </p:sp>
      <p:grpSp>
        <p:nvGrpSpPr>
          <p:cNvPr id="21" name="Group 12">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154317"/>
            <a:ext cx="731521" cy="673460"/>
            <a:chOff x="3940602" y="308034"/>
            <a:chExt cx="2116791" cy="3428999"/>
          </a:xfrm>
          <a:solidFill>
            <a:schemeClr val="accent4"/>
          </a:solidFill>
        </p:grpSpPr>
        <p:sp>
          <p:nvSpPr>
            <p:cNvPr id="14" name="Rectangle 13">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1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 5">
            <a:extLst>
              <a:ext uri="{FF2B5EF4-FFF2-40B4-BE49-F238E27FC236}">
                <a16:creationId xmlns:a16="http://schemas.microsoft.com/office/drawing/2014/main" id="{503A6551-BE30-481B-8748-0C3093EB1F67}"/>
              </a:ext>
            </a:extLst>
          </p:cNvPr>
          <p:cNvPicPr/>
          <p:nvPr/>
        </p:nvPicPr>
        <p:blipFill rotWithShape="1">
          <a:blip r:embed="rId2"/>
          <a:srcRect b="1021"/>
          <a:stretch/>
        </p:blipFill>
        <p:spPr>
          <a:xfrm>
            <a:off x="5922492" y="666728"/>
            <a:ext cx="5536001" cy="5465791"/>
          </a:xfrm>
          <a:prstGeom prst="rect">
            <a:avLst/>
          </a:prstGeom>
        </p:spPr>
      </p:pic>
      <p:sp>
        <p:nvSpPr>
          <p:cNvPr id="3" name="Espace réservé du pied de page 2">
            <a:extLst>
              <a:ext uri="{FF2B5EF4-FFF2-40B4-BE49-F238E27FC236}">
                <a16:creationId xmlns:a16="http://schemas.microsoft.com/office/drawing/2014/main" id="{86764FEE-2C6B-47BF-B346-396AA72891B4}"/>
              </a:ext>
            </a:extLst>
          </p:cNvPr>
          <p:cNvSpPr>
            <a:spLocks noGrp="1"/>
          </p:cNvSpPr>
          <p:nvPr>
            <p:ph type="ftr" sz="quarter" idx="11"/>
          </p:nvPr>
        </p:nvSpPr>
        <p:spPr>
          <a:xfrm>
            <a:off x="1113809" y="6492240"/>
            <a:ext cx="3765762" cy="365125"/>
          </a:xfrm>
        </p:spPr>
        <p:txBody>
          <a:bodyPr vert="horz" lIns="91440" tIns="45720" rIns="91440" bIns="45720" rtlCol="0" anchor="ctr">
            <a:normAutofit/>
          </a:bodyPr>
          <a:lstStyle/>
          <a:p>
            <a:pPr algn="l" defTabSz="914400">
              <a:defRPr/>
            </a:pPr>
            <a:endParaRPr lang="en-US" sz="1200" kern="1200">
              <a:solidFill>
                <a:prstClr val="black">
                  <a:tint val="75000"/>
                </a:prstClr>
              </a:solidFill>
              <a:latin typeface="Calibri" panose="020F0502020204030204"/>
              <a:ea typeface="+mn-ea"/>
              <a:cs typeface="+mn-cs"/>
            </a:endParaRPr>
          </a:p>
        </p:txBody>
      </p:sp>
      <p:sp>
        <p:nvSpPr>
          <p:cNvPr id="4" name="Espace réservé du numéro de diapositive 3">
            <a:extLst>
              <a:ext uri="{FF2B5EF4-FFF2-40B4-BE49-F238E27FC236}">
                <a16:creationId xmlns:a16="http://schemas.microsoft.com/office/drawing/2014/main" id="{6AEFFE43-DCD6-488B-A9BD-3CD4A2C9A5E7}"/>
              </a:ext>
            </a:extLst>
          </p:cNvPr>
          <p:cNvSpPr>
            <a:spLocks noGrp="1"/>
          </p:cNvSpPr>
          <p:nvPr>
            <p:ph type="sldNum" sz="quarter" idx="12"/>
          </p:nvPr>
        </p:nvSpPr>
        <p:spPr>
          <a:xfrm>
            <a:off x="8610600" y="6492240"/>
            <a:ext cx="1871749" cy="365125"/>
          </a:xfrm>
        </p:spPr>
        <p:txBody>
          <a:bodyPr vert="horz" lIns="91440" tIns="45720" rIns="91440" bIns="45720" rtlCol="0" anchor="ctr">
            <a:normAutofit/>
          </a:bodyPr>
          <a:lstStyle/>
          <a:p>
            <a:pPr defTabSz="914400">
              <a:spcAft>
                <a:spcPts val="600"/>
              </a:spcAft>
              <a:defRPr/>
            </a:pPr>
            <a:fld id="{26377AD9-CE17-438C-A638-C64D2D42D7CF}" type="slidenum">
              <a:rPr lang="en-US" smtClean="0">
                <a:solidFill>
                  <a:prstClr val="black">
                    <a:tint val="75000"/>
                  </a:prstClr>
                </a:solidFill>
                <a:latin typeface="Calibri" panose="020F0502020204030204"/>
              </a:rPr>
              <a:pPr defTabSz="914400">
                <a:spcAft>
                  <a:spcPts val="600"/>
                </a:spcAft>
                <a:defRPr/>
              </a:pPr>
              <a:t>5</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27285679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re 1">
                <a:extLst>
                  <a:ext uri="{FF2B5EF4-FFF2-40B4-BE49-F238E27FC236}">
                    <a16:creationId xmlns:a16="http://schemas.microsoft.com/office/drawing/2014/main" id="{5A188257-8C73-42E8-A619-58BAAC8E7383}"/>
                  </a:ext>
                </a:extLst>
              </p:cNvPr>
              <p:cNvSpPr>
                <a:spLocks noGrp="1"/>
              </p:cNvSpPr>
              <p:nvPr>
                <p:ph type="title"/>
              </p:nvPr>
            </p:nvSpPr>
            <p:spPr>
              <a:xfrm>
                <a:off x="838200" y="365124"/>
                <a:ext cx="10322859" cy="5991225"/>
              </a:xfrm>
            </p:spPr>
            <p:txBody>
              <a:bodyPr>
                <a:normAutofit/>
              </a:bodyPr>
              <a:lstStyle/>
              <a:p>
                <a:pPr>
                  <a:lnSpc>
                    <a:spcPct val="200000"/>
                  </a:lnSpc>
                  <a:spcAft>
                    <a:spcPts val="800"/>
                  </a:spcAft>
                </a:pPr>
                <a:r>
                  <a:rPr lang="fr-FR" sz="1800" dirty="0">
                    <a:solidFill>
                      <a:srgbClr val="000000"/>
                    </a:solidFill>
                    <a:effectLst/>
                    <a:latin typeface="Times New Roman" panose="02020603050405020304" pitchFamily="18" charset="0"/>
                    <a:ea typeface="Times New Roman" panose="02020603050405020304" pitchFamily="18" charset="0"/>
                  </a:rPr>
                  <a:t>Comme nous le voyons dans ce graphique, nous pouvons faire passer plusieurs droites à travers le nuage. Le but de l’exercice est donc de trouver la droite qui puisse passer le plus près de la majorité de ces points.</a:t>
                </a:r>
                <a:br>
                  <a:rPr lang="fr-CA" sz="1800" dirty="0">
                    <a:solidFill>
                      <a:srgbClr val="000000"/>
                    </a:solidFill>
                    <a:effectLst/>
                    <a:latin typeface="Times New Roman" panose="02020603050405020304" pitchFamily="18" charset="0"/>
                    <a:ea typeface="Times New Roman" panose="02020603050405020304" pitchFamily="18" charset="0"/>
                  </a:rPr>
                </a:br>
                <a:r>
                  <a:rPr lang="en-IN" sz="1800" dirty="0">
                    <a:effectLst/>
                    <a:latin typeface="Calibri" panose="020F0502020204030204" pitchFamily="34" charset="0"/>
                    <a:ea typeface="Times New Roman" panose="02020603050405020304" pitchFamily="18" charset="0"/>
                    <a:cs typeface="Times New Roman" panose="02020603050405020304" pitchFamily="18" charset="0"/>
                  </a:rPr>
                  <a:t>Le modèle que nous tentons de trouver </a:t>
                </a:r>
                <a:r>
                  <a:rPr lang="fr-FR" sz="1800" dirty="0">
                    <a:solidFill>
                      <a:srgbClr val="000000"/>
                    </a:solidFill>
                    <a:effectLst/>
                    <a:latin typeface="Times New Roman" panose="02020603050405020304" pitchFamily="18" charset="0"/>
                    <a:ea typeface="Times New Roman" panose="02020603050405020304" pitchFamily="18" charset="0"/>
                  </a:rPr>
                  <a:t>est de la forme </a:t>
                </a:r>
                <a14:m>
                  <m:oMath xmlns:m="http://schemas.openxmlformats.org/officeDocument/2006/math">
                    <m:r>
                      <a:rPr lang="fr-FR" sz="1800" i="1">
                        <a:solidFill>
                          <a:srgbClr val="000000"/>
                        </a:solidFill>
                        <a:effectLst/>
                        <a:latin typeface="Cambria Math" panose="02040503050406030204" pitchFamily="18" charset="0"/>
                        <a:ea typeface="Times New Roman" panose="02020603050405020304" pitchFamily="18" charset="0"/>
                      </a:rPr>
                      <m:t>𝑌</m:t>
                    </m:r>
                    <m:r>
                      <a:rPr lang="fr-FR" sz="1800" i="1">
                        <a:solidFill>
                          <a:srgbClr val="000000"/>
                        </a:solidFill>
                        <a:effectLst/>
                        <a:latin typeface="Cambria Math" panose="02040503050406030204" pitchFamily="18" charset="0"/>
                        <a:ea typeface="Times New Roman" panose="02020603050405020304" pitchFamily="18" charset="0"/>
                      </a:rPr>
                      <m:t>=</m:t>
                    </m:r>
                    <m:r>
                      <a:rPr lang="fr-FR" sz="1800" i="1">
                        <a:solidFill>
                          <a:srgbClr val="000000"/>
                        </a:solidFill>
                        <a:effectLst/>
                        <a:latin typeface="Cambria Math" panose="02040503050406030204" pitchFamily="18" charset="0"/>
                        <a:ea typeface="Times New Roman" panose="02020603050405020304" pitchFamily="18" charset="0"/>
                      </a:rPr>
                      <m:t>𝛼</m:t>
                    </m:r>
                    <m:r>
                      <a:rPr lang="fr-FR" sz="1800" i="1">
                        <a:solidFill>
                          <a:srgbClr val="000000"/>
                        </a:solidFill>
                        <a:effectLst/>
                        <a:latin typeface="Cambria Math" panose="02040503050406030204" pitchFamily="18" charset="0"/>
                        <a:ea typeface="Times New Roman" panose="02020603050405020304" pitchFamily="18" charset="0"/>
                      </a:rPr>
                      <m:t>+</m:t>
                    </m:r>
                    <m:r>
                      <a:rPr lang="fr-FR" sz="1800" i="1">
                        <a:solidFill>
                          <a:srgbClr val="000000"/>
                        </a:solidFill>
                        <a:effectLst/>
                        <a:latin typeface="Cambria Math" panose="02040503050406030204" pitchFamily="18" charset="0"/>
                        <a:ea typeface="Times New Roman" panose="02020603050405020304" pitchFamily="18" charset="0"/>
                      </a:rPr>
                      <m:t>𝛽</m:t>
                    </m:r>
                    <m:r>
                      <a:rPr lang="fr-FR" sz="1800" i="1">
                        <a:solidFill>
                          <a:srgbClr val="000000"/>
                        </a:solidFill>
                        <a:effectLst/>
                        <a:latin typeface="Cambria Math" panose="02040503050406030204" pitchFamily="18" charset="0"/>
                        <a:ea typeface="Times New Roman" panose="02020603050405020304" pitchFamily="18" charset="0"/>
                      </a:rPr>
                      <m:t>𝑋</m:t>
                    </m:r>
                    <m:r>
                      <a:rPr lang="fr-FR" sz="1800" i="1">
                        <a:solidFill>
                          <a:srgbClr val="000000"/>
                        </a:solidFill>
                        <a:effectLst/>
                        <a:latin typeface="Cambria Math" panose="02040503050406030204" pitchFamily="18" charset="0"/>
                        <a:ea typeface="Times New Roman" panose="02020603050405020304" pitchFamily="18" charset="0"/>
                      </a:rPr>
                      <m:t>+</m:t>
                    </m:r>
                    <m:r>
                      <a:rPr lang="fr-FR" sz="1800" i="1">
                        <a:solidFill>
                          <a:srgbClr val="000000"/>
                        </a:solidFill>
                        <a:effectLst/>
                        <a:latin typeface="Cambria Math" panose="02040503050406030204" pitchFamily="18" charset="0"/>
                        <a:ea typeface="Times New Roman" panose="02020603050405020304" pitchFamily="18" charset="0"/>
                      </a:rPr>
                      <m:t>𝜀</m:t>
                    </m:r>
                    <m:r>
                      <a:rPr lang="fr-FR" sz="1800" i="1">
                        <a:solidFill>
                          <a:srgbClr val="000000"/>
                        </a:solidFill>
                        <a:effectLst/>
                        <a:latin typeface="Cambria Math" panose="02040503050406030204" pitchFamily="18" charset="0"/>
                        <a:ea typeface="Times New Roman" panose="02020603050405020304" pitchFamily="18" charset="0"/>
                      </a:rPr>
                      <m:t>,</m:t>
                    </m:r>
                  </m:oMath>
                </a14:m>
                <a:r>
                  <a:rPr lang="fr-FR" sz="1800" dirty="0">
                    <a:solidFill>
                      <a:srgbClr val="000000"/>
                    </a:solidFill>
                    <a:effectLst/>
                    <a:latin typeface="Times New Roman" panose="02020603050405020304" pitchFamily="18" charset="0"/>
                    <a:ea typeface="Times New Roman" panose="02020603050405020304" pitchFamily="18" charset="0"/>
                  </a:rPr>
                  <a:t> où </a:t>
                </a:r>
                <a:r>
                  <a:rPr lang="fr-FR" sz="1800" i="1" dirty="0">
                    <a:solidFill>
                      <a:srgbClr val="000000"/>
                    </a:solidFill>
                    <a:latin typeface="Symbol (T1) Medium"/>
                    <a:ea typeface="Times New Roman" panose="02020603050405020304" pitchFamily="18" charset="0"/>
                  </a:rPr>
                  <a:t> </a:t>
                </a:r>
                <a14:m>
                  <m:oMath xmlns:m="http://schemas.openxmlformats.org/officeDocument/2006/math">
                    <m:r>
                      <a:rPr lang="fr-FR" sz="1800" i="1" smtClean="0">
                        <a:solidFill>
                          <a:srgbClr val="000000"/>
                        </a:solidFill>
                        <a:latin typeface="Cambria Math" panose="02040503050406030204" pitchFamily="18" charset="0"/>
                        <a:ea typeface="Cambria Math" panose="02040503050406030204" pitchFamily="18" charset="0"/>
                      </a:rPr>
                      <m:t>𝛼</m:t>
                    </m:r>
                    <m:r>
                      <a:rPr lang="fr-CA" sz="1800" b="0" i="1" smtClean="0">
                        <a:solidFill>
                          <a:srgbClr val="000000"/>
                        </a:solidFill>
                        <a:latin typeface="Cambria Math" panose="02040503050406030204" pitchFamily="18" charset="0"/>
                        <a:ea typeface="Cambria Math" panose="02040503050406030204" pitchFamily="18" charset="0"/>
                      </a:rPr>
                      <m:t> </m:t>
                    </m:r>
                  </m:oMath>
                </a14:m>
                <a:r>
                  <a:rPr lang="fr-FR" sz="1800" dirty="0">
                    <a:solidFill>
                      <a:srgbClr val="000000"/>
                    </a:solidFill>
                    <a:effectLst/>
                    <a:latin typeface="Times New Roman" panose="02020603050405020304" pitchFamily="18" charset="0"/>
                    <a:ea typeface="Times New Roman" panose="02020603050405020304" pitchFamily="18" charset="0"/>
                  </a:rPr>
                  <a:t>et </a:t>
                </a:r>
                <a:r>
                  <a:rPr lang="fr-FR" sz="1800" i="1" dirty="0">
                    <a:solidFill>
                      <a:srgbClr val="000000"/>
                    </a:solidFill>
                    <a:latin typeface="Symbol (T1) Italic"/>
                    <a:ea typeface="Times New Roman" panose="02020603050405020304" pitchFamily="18" charset="0"/>
                  </a:rPr>
                  <a:t> </a:t>
                </a:r>
                <a14:m>
                  <m:oMath xmlns:m="http://schemas.openxmlformats.org/officeDocument/2006/math">
                    <m:r>
                      <a:rPr lang="fr-FR" sz="1800" i="1" smtClean="0">
                        <a:solidFill>
                          <a:srgbClr val="000000"/>
                        </a:solidFill>
                        <a:latin typeface="Cambria Math" panose="02040503050406030204" pitchFamily="18" charset="0"/>
                        <a:ea typeface="Cambria Math" panose="02040503050406030204" pitchFamily="18" charset="0"/>
                      </a:rPr>
                      <m:t>𝛽</m:t>
                    </m:r>
                    <m:r>
                      <a:rPr lang="fr-CA" sz="1800" b="0" i="1" smtClean="0">
                        <a:solidFill>
                          <a:srgbClr val="000000"/>
                        </a:solidFill>
                        <a:latin typeface="Cambria Math" panose="02040503050406030204" pitchFamily="18" charset="0"/>
                        <a:ea typeface="Cambria Math" panose="02040503050406030204" pitchFamily="18" charset="0"/>
                      </a:rPr>
                      <m:t> </m:t>
                    </m:r>
                  </m:oMath>
                </a14:m>
                <a:r>
                  <a:rPr lang="fr-FR" sz="1800" dirty="0">
                    <a:solidFill>
                      <a:srgbClr val="000000"/>
                    </a:solidFill>
                    <a:effectLst/>
                    <a:latin typeface="Times New Roman" panose="02020603050405020304" pitchFamily="18" charset="0"/>
                    <a:ea typeface="Times New Roman" panose="02020603050405020304" pitchFamily="18" charset="0"/>
                  </a:rPr>
                  <a:t>sont des constantes réelles qu’il faudrait estimer et </a:t>
                </a:r>
                <a:r>
                  <a:rPr lang="fr-FR" sz="1800" i="1" dirty="0">
                    <a:solidFill>
                      <a:srgbClr val="000000"/>
                    </a:solidFill>
                    <a:latin typeface="Symbol (T1) Italic"/>
                    <a:ea typeface="Times New Roman" panose="02020603050405020304" pitchFamily="18" charset="0"/>
                  </a:rPr>
                  <a:t> </a:t>
                </a:r>
                <a14:m>
                  <m:oMath xmlns:m="http://schemas.openxmlformats.org/officeDocument/2006/math">
                    <m:r>
                      <a:rPr lang="fr-FR" sz="1800" i="1" smtClean="0">
                        <a:solidFill>
                          <a:srgbClr val="000000"/>
                        </a:solidFill>
                        <a:latin typeface="Cambria Math" panose="02040503050406030204" pitchFamily="18" charset="0"/>
                        <a:ea typeface="Cambria Math" panose="02040503050406030204" pitchFamily="18" charset="0"/>
                      </a:rPr>
                      <m:t>𝜀</m:t>
                    </m:r>
                    <m:r>
                      <a:rPr lang="fr-CA" sz="1800" b="0" i="1" smtClean="0">
                        <a:solidFill>
                          <a:srgbClr val="000000"/>
                        </a:solidFill>
                        <a:latin typeface="Cambria Math" panose="02040503050406030204" pitchFamily="18" charset="0"/>
                        <a:ea typeface="Cambria Math" panose="02040503050406030204" pitchFamily="18" charset="0"/>
                      </a:rPr>
                      <m:t> </m:t>
                    </m:r>
                  </m:oMath>
                </a14:m>
                <a:r>
                  <a:rPr lang="fr-FR" sz="1800" dirty="0">
                    <a:solidFill>
                      <a:srgbClr val="000000"/>
                    </a:solidFill>
                    <a:effectLst/>
                    <a:latin typeface="Times New Roman" panose="02020603050405020304" pitchFamily="18" charset="0"/>
                    <a:ea typeface="Times New Roman" panose="02020603050405020304" pitchFamily="18" charset="0"/>
                  </a:rPr>
                  <a:t>est le résidu (l’erreur) associé au modèle, car il est impossible que tous les points choisis au hasard soient alignés sur la droite. Le paramètre </a:t>
                </a:r>
                <a14:m>
                  <m:oMath xmlns:m="http://schemas.openxmlformats.org/officeDocument/2006/math">
                    <m:r>
                      <a:rPr lang="fr-FR" sz="1800" i="1">
                        <a:solidFill>
                          <a:srgbClr val="000000"/>
                        </a:solidFill>
                        <a:latin typeface="Cambria Math" panose="02040503050406030204" pitchFamily="18" charset="0"/>
                        <a:ea typeface="Cambria Math" panose="02040503050406030204" pitchFamily="18" charset="0"/>
                      </a:rPr>
                      <m:t>𝛽</m:t>
                    </m:r>
                    <m:r>
                      <a:rPr lang="fr-FR" sz="1800" i="1">
                        <a:solidFill>
                          <a:srgbClr val="000000"/>
                        </a:solidFill>
                        <a:latin typeface="Cambria Math" panose="02040503050406030204" pitchFamily="18" charset="0"/>
                        <a:ea typeface="Cambria Math" panose="02040503050406030204" pitchFamily="18" charset="0"/>
                      </a:rPr>
                      <m:t> </m:t>
                    </m:r>
                  </m:oMath>
                </a14:m>
                <a:r>
                  <a:rPr lang="fr-FR" sz="1800" dirty="0">
                    <a:solidFill>
                      <a:srgbClr val="000000"/>
                    </a:solidFill>
                    <a:effectLst/>
                    <a:latin typeface="Times New Roman" panose="02020603050405020304" pitchFamily="18" charset="0"/>
                    <a:ea typeface="Times New Roman" panose="02020603050405020304" pitchFamily="18" charset="0"/>
                  </a:rPr>
                  <a:t> est la </a:t>
                </a:r>
                <a:r>
                  <a:rPr lang="fr-FR" sz="1800" b="1" dirty="0">
                    <a:solidFill>
                      <a:srgbClr val="000000"/>
                    </a:solidFill>
                    <a:effectLst/>
                    <a:latin typeface="Times New Roman" panose="02020603050405020304" pitchFamily="18" charset="0"/>
                    <a:ea typeface="Times New Roman" panose="02020603050405020304" pitchFamily="18" charset="0"/>
                  </a:rPr>
                  <a:t>pente</a:t>
                </a:r>
                <a:r>
                  <a:rPr lang="fr-FR" sz="1800" dirty="0">
                    <a:solidFill>
                      <a:srgbClr val="000000"/>
                    </a:solidFill>
                    <a:effectLst/>
                    <a:latin typeface="Times New Roman" panose="02020603050405020304" pitchFamily="18" charset="0"/>
                    <a:ea typeface="Times New Roman" panose="02020603050405020304" pitchFamily="18" charset="0"/>
                  </a:rPr>
                  <a:t> de la droite, qui donne la variation de </a:t>
                </a:r>
                <a:r>
                  <a:rPr lang="fr-FR" sz="1800" i="1" dirty="0">
                    <a:solidFill>
                      <a:srgbClr val="000000"/>
                    </a:solidFill>
                    <a:effectLst/>
                    <a:latin typeface="Times New Roman" panose="02020603050405020304" pitchFamily="18" charset="0"/>
                    <a:ea typeface="Times New Roman" panose="02020603050405020304" pitchFamily="18" charset="0"/>
                  </a:rPr>
                  <a:t>Y</a:t>
                </a:r>
                <a:r>
                  <a:rPr lang="fr-FR" sz="1800" dirty="0">
                    <a:solidFill>
                      <a:srgbClr val="000000"/>
                    </a:solidFill>
                    <a:effectLst/>
                    <a:latin typeface="Times New Roman" panose="02020603050405020304" pitchFamily="18" charset="0"/>
                    <a:ea typeface="Times New Roman" panose="02020603050405020304" pitchFamily="18" charset="0"/>
                  </a:rPr>
                  <a:t> lorsque</a:t>
                </a:r>
                <a:r>
                  <a:rPr lang="fr-FR" sz="1800" i="1" dirty="0">
                    <a:solidFill>
                      <a:srgbClr val="000000"/>
                    </a:solidFill>
                    <a:effectLst/>
                    <a:latin typeface="Times New Roman" panose="02020603050405020304" pitchFamily="18" charset="0"/>
                    <a:ea typeface="Times New Roman" panose="02020603050405020304" pitchFamily="18" charset="0"/>
                  </a:rPr>
                  <a:t> X</a:t>
                </a:r>
                <a:r>
                  <a:rPr lang="fr-FR" sz="1800" dirty="0">
                    <a:solidFill>
                      <a:srgbClr val="000000"/>
                    </a:solidFill>
                    <a:effectLst/>
                    <a:latin typeface="Times New Roman" panose="02020603050405020304" pitchFamily="18" charset="0"/>
                    <a:ea typeface="Times New Roman" panose="02020603050405020304" pitchFamily="18" charset="0"/>
                  </a:rPr>
                  <a:t> varie d’une unité. Le paramètre </a:t>
                </a:r>
                <a14:m>
                  <m:oMath xmlns:m="http://schemas.openxmlformats.org/officeDocument/2006/math">
                    <m:r>
                      <a:rPr lang="fr-FR" sz="1800" i="1">
                        <a:solidFill>
                          <a:srgbClr val="000000"/>
                        </a:solidFill>
                        <a:latin typeface="Cambria Math" panose="02040503050406030204" pitchFamily="18" charset="0"/>
                        <a:ea typeface="Cambria Math" panose="02040503050406030204" pitchFamily="18" charset="0"/>
                      </a:rPr>
                      <m:t>𝛼</m:t>
                    </m:r>
                    <m:r>
                      <a:rPr lang="fr-FR" sz="1800" i="1">
                        <a:solidFill>
                          <a:srgbClr val="000000"/>
                        </a:solidFill>
                        <a:latin typeface="Cambria Math" panose="02040503050406030204" pitchFamily="18" charset="0"/>
                        <a:ea typeface="Cambria Math" panose="02040503050406030204" pitchFamily="18" charset="0"/>
                      </a:rPr>
                      <m:t> </m:t>
                    </m:r>
                  </m:oMath>
                </a14:m>
                <a:r>
                  <a:rPr lang="fr-FR" sz="1800" dirty="0">
                    <a:solidFill>
                      <a:srgbClr val="000000"/>
                    </a:solidFill>
                    <a:effectLst/>
                    <a:latin typeface="Times New Roman" panose="02020603050405020304" pitchFamily="18" charset="0"/>
                    <a:ea typeface="Times New Roman" panose="02020603050405020304" pitchFamily="18" charset="0"/>
                  </a:rPr>
                  <a:t> est l’</a:t>
                </a:r>
                <a:r>
                  <a:rPr lang="fr-FR" sz="1800" b="1" dirty="0">
                    <a:solidFill>
                      <a:srgbClr val="000000"/>
                    </a:solidFill>
                    <a:effectLst/>
                    <a:latin typeface="Times New Roman" panose="02020603050405020304" pitchFamily="18" charset="0"/>
                    <a:ea typeface="Times New Roman" panose="02020603050405020304" pitchFamily="18" charset="0"/>
                  </a:rPr>
                  <a:t>ordonnée à l’origine</a:t>
                </a:r>
                <a:r>
                  <a:rPr lang="fr-FR" sz="1800" dirty="0">
                    <a:solidFill>
                      <a:srgbClr val="000000"/>
                    </a:solidFill>
                    <a:effectLst/>
                    <a:latin typeface="Times New Roman" panose="02020603050405020304" pitchFamily="18" charset="0"/>
                    <a:ea typeface="Times New Roman" panose="02020603050405020304" pitchFamily="18" charset="0"/>
                  </a:rPr>
                  <a:t>, qui donne l’ordonnée du point par lequel la droite coupe l’axe des </a:t>
                </a:r>
                <a:r>
                  <a:rPr lang="fr-FR" sz="1800" i="1" dirty="0">
                    <a:solidFill>
                      <a:srgbClr val="000000"/>
                    </a:solidFill>
                    <a:effectLst/>
                    <a:latin typeface="Times New Roman" panose="02020603050405020304" pitchFamily="18" charset="0"/>
                    <a:ea typeface="Times New Roman" panose="02020603050405020304" pitchFamily="18" charset="0"/>
                  </a:rPr>
                  <a:t>Y</a:t>
                </a:r>
                <a:r>
                  <a:rPr lang="fr-FR" sz="1800" dirty="0">
                    <a:solidFill>
                      <a:srgbClr val="000000"/>
                    </a:solidFill>
                    <a:effectLst/>
                    <a:latin typeface="Times New Roman" panose="02020603050405020304" pitchFamily="18" charset="0"/>
                    <a:ea typeface="Times New Roman" panose="02020603050405020304" pitchFamily="18" charset="0"/>
                  </a:rPr>
                  <a:t>.</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Comme tout modèle possède ses conditions d’application, nous allons maintenant formaliser celles de ce modèle. Tout modèle de régression linéaire simple doit satisfaire 4 conditions :</a:t>
                </a:r>
                <a:br>
                  <a:rPr lang="fr-CA" sz="1800" dirty="0">
                    <a:solidFill>
                      <a:srgbClr val="000000"/>
                    </a:solidFill>
                    <a:effectLst/>
                    <a:latin typeface="Times New Roman" panose="02020603050405020304" pitchFamily="18" charset="0"/>
                    <a:ea typeface="Times New Roman" panose="02020603050405020304" pitchFamily="18" charset="0"/>
                  </a:rPr>
                </a:br>
                <a:endParaRPr lang="fr-CA" sz="1800" dirty="0"/>
              </a:p>
            </p:txBody>
          </p:sp>
        </mc:Choice>
        <mc:Fallback xmlns="">
          <p:sp>
            <p:nvSpPr>
              <p:cNvPr id="2" name="Titre 1">
                <a:extLst>
                  <a:ext uri="{FF2B5EF4-FFF2-40B4-BE49-F238E27FC236}">
                    <a16:creationId xmlns:a16="http://schemas.microsoft.com/office/drawing/2014/main" id="{5A188257-8C73-42E8-A619-58BAAC8E7383}"/>
                  </a:ext>
                </a:extLst>
              </p:cNvPr>
              <p:cNvSpPr>
                <a:spLocks noGrp="1" noRot="1" noChangeAspect="1" noMove="1" noResize="1" noEditPoints="1" noAdjustHandles="1" noChangeArrowheads="1" noChangeShapeType="1" noTextEdit="1"/>
              </p:cNvSpPr>
              <p:nvPr>
                <p:ph type="title"/>
              </p:nvPr>
            </p:nvSpPr>
            <p:spPr>
              <a:xfrm>
                <a:off x="838200" y="365124"/>
                <a:ext cx="10322859" cy="5991225"/>
              </a:xfrm>
              <a:blipFill>
                <a:blip r:embed="rId2"/>
                <a:stretch>
                  <a:fillRect l="-532"/>
                </a:stretch>
              </a:blipFill>
            </p:spPr>
            <p:txBody>
              <a:bodyPr/>
              <a:lstStyle/>
              <a:p>
                <a:r>
                  <a:rPr lang="fr-CA">
                    <a:noFill/>
                  </a:rPr>
                  <a:t> </a:t>
                </a:r>
              </a:p>
            </p:txBody>
          </p:sp>
        </mc:Fallback>
      </mc:AlternateContent>
      <p:sp>
        <p:nvSpPr>
          <p:cNvPr id="3" name="Espace réservé du pied de page 2">
            <a:extLst>
              <a:ext uri="{FF2B5EF4-FFF2-40B4-BE49-F238E27FC236}">
                <a16:creationId xmlns:a16="http://schemas.microsoft.com/office/drawing/2014/main" id="{9BCAE8E6-4578-40D7-89F5-4DF031CAEF28}"/>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A2B5B839-88B3-43CE-B7CA-7F636A011A04}"/>
              </a:ext>
            </a:extLst>
          </p:cNvPr>
          <p:cNvSpPr>
            <a:spLocks noGrp="1"/>
          </p:cNvSpPr>
          <p:nvPr>
            <p:ph type="sldNum" sz="quarter" idx="12"/>
          </p:nvPr>
        </p:nvSpPr>
        <p:spPr/>
        <p:txBody>
          <a:bodyPr/>
          <a:lstStyle/>
          <a:p>
            <a:fld id="{26377AD9-CE17-438C-A638-C64D2D42D7CF}" type="slidenum">
              <a:rPr lang="fr-CA" smtClean="0"/>
              <a:t>6</a:t>
            </a:fld>
            <a:endParaRPr lang="fr-CA"/>
          </a:p>
        </p:txBody>
      </p:sp>
    </p:spTree>
    <p:extLst>
      <p:ext uri="{BB962C8B-B14F-4D97-AF65-F5344CB8AC3E}">
        <p14:creationId xmlns:p14="http://schemas.microsoft.com/office/powerpoint/2010/main" val="26398398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re 1">
                <a:extLst>
                  <a:ext uri="{FF2B5EF4-FFF2-40B4-BE49-F238E27FC236}">
                    <a16:creationId xmlns:a16="http://schemas.microsoft.com/office/drawing/2014/main" id="{A31AD2E5-EEF3-4C10-AA69-6BD5E66F0FE5}"/>
                  </a:ext>
                </a:extLst>
              </p:cNvPr>
              <p:cNvSpPr>
                <a:spLocks noGrp="1"/>
              </p:cNvSpPr>
              <p:nvPr>
                <p:ph type="title"/>
              </p:nvPr>
            </p:nvSpPr>
            <p:spPr>
              <a:xfrm>
                <a:off x="403412" y="297890"/>
                <a:ext cx="11109511" cy="5780181"/>
              </a:xfrm>
            </p:spPr>
            <p:txBody>
              <a:bodyPr>
                <a:normAutofit fontScale="90000"/>
              </a:bodyPr>
              <a:lstStyle/>
              <a:p>
                <a:pPr lvl="0">
                  <a:lnSpc>
                    <a:spcPct val="200000"/>
                  </a:lnSpc>
                  <a:spcAft>
                    <a:spcPts val="800"/>
                  </a:spcAft>
                </a:pPr>
                <a:r>
                  <a:rPr lang="fr-FR" sz="1800" dirty="0">
                    <a:solidFill>
                      <a:srgbClr val="000000"/>
                    </a:solidFill>
                    <a:effectLst/>
                    <a:latin typeface="Times New Roman" panose="02020603050405020304" pitchFamily="18" charset="0"/>
                    <a:ea typeface="Times New Roman" panose="02020603050405020304" pitchFamily="18" charset="0"/>
                  </a:rPr>
                  <a:t>1</a:t>
                </a:r>
                <a:r>
                  <a:rPr lang="fr-FR" sz="2200" dirty="0">
                    <a:solidFill>
                      <a:srgbClr val="000000"/>
                    </a:solidFill>
                    <a:effectLst/>
                    <a:latin typeface="Times New Roman" panose="02020603050405020304" pitchFamily="18" charset="0"/>
                    <a:ea typeface="Times New Roman" panose="02020603050405020304" pitchFamily="18" charset="0"/>
                  </a:rPr>
                  <a:t>, L’indépendance des observations : On suppose qu’on dispose de n observations indépendantes sur les deux variables : </a:t>
                </a:r>
                <a14:m>
                  <m:oMath xmlns:m="http://schemas.openxmlformats.org/officeDocument/2006/math">
                    <m:d>
                      <m:dPr>
                        <m:ctrlPr>
                          <a:rPr lang="fr-CA" sz="2200" i="1">
                            <a:solidFill>
                              <a:srgbClr val="000000"/>
                            </a:solidFill>
                            <a:effectLst/>
                            <a:latin typeface="Cambria Math" panose="02040503050406030204" pitchFamily="18" charset="0"/>
                            <a:ea typeface="Times New Roman" panose="02020603050405020304" pitchFamily="18" charset="0"/>
                          </a:rPr>
                        </m:ctrlPr>
                      </m:dPr>
                      <m:e>
                        <m:sSub>
                          <m:sSubPr>
                            <m:ctrlPr>
                              <a:rPr lang="fr-CA" sz="2200" i="1">
                                <a:solidFill>
                                  <a:srgbClr val="000000"/>
                                </a:solidFill>
                                <a:effectLst/>
                                <a:latin typeface="Cambria Math" panose="02040503050406030204" pitchFamily="18" charset="0"/>
                                <a:ea typeface="Times New Roman" panose="02020603050405020304" pitchFamily="18" charset="0"/>
                              </a:rPr>
                            </m:ctrlPr>
                          </m:sSubPr>
                          <m:e>
                            <m:r>
                              <a:rPr lang="fr-FR" sz="2200" i="1">
                                <a:solidFill>
                                  <a:srgbClr val="000000"/>
                                </a:solidFill>
                                <a:effectLst/>
                                <a:latin typeface="Cambria Math" panose="02040503050406030204" pitchFamily="18" charset="0"/>
                                <a:ea typeface="Times New Roman" panose="02020603050405020304" pitchFamily="18" charset="0"/>
                              </a:rPr>
                              <m:t>𝑥</m:t>
                            </m:r>
                          </m:e>
                          <m:sub>
                            <m:r>
                              <a:rPr lang="fr-FR" sz="2200" i="1">
                                <a:solidFill>
                                  <a:srgbClr val="000000"/>
                                </a:solidFill>
                                <a:effectLst/>
                                <a:latin typeface="Cambria Math" panose="02040503050406030204" pitchFamily="18" charset="0"/>
                                <a:ea typeface="Times New Roman" panose="02020603050405020304" pitchFamily="18" charset="0"/>
                              </a:rPr>
                              <m:t>1</m:t>
                            </m:r>
                          </m:sub>
                        </m:sSub>
                        <m:r>
                          <a:rPr lang="fr-FR" sz="2200" i="1">
                            <a:solidFill>
                              <a:srgbClr val="000000"/>
                            </a:solidFill>
                            <a:effectLst/>
                            <a:latin typeface="Cambria Math" panose="02040503050406030204" pitchFamily="18" charset="0"/>
                            <a:ea typeface="Times New Roman" panose="02020603050405020304" pitchFamily="18" charset="0"/>
                          </a:rPr>
                          <m:t>;</m:t>
                        </m:r>
                        <m:sSub>
                          <m:sSubPr>
                            <m:ctrlPr>
                              <a:rPr lang="fr-CA" sz="2200" i="1">
                                <a:solidFill>
                                  <a:srgbClr val="000000"/>
                                </a:solidFill>
                                <a:effectLst/>
                                <a:latin typeface="Cambria Math" panose="02040503050406030204" pitchFamily="18" charset="0"/>
                                <a:ea typeface="Times New Roman" panose="02020603050405020304" pitchFamily="18" charset="0"/>
                              </a:rPr>
                            </m:ctrlPr>
                          </m:sSubPr>
                          <m:e>
                            <m:r>
                              <a:rPr lang="fr-FR" sz="2200" i="1">
                                <a:solidFill>
                                  <a:srgbClr val="000000"/>
                                </a:solidFill>
                                <a:effectLst/>
                                <a:latin typeface="Cambria Math" panose="02040503050406030204" pitchFamily="18" charset="0"/>
                                <a:ea typeface="Times New Roman" panose="02020603050405020304" pitchFamily="18" charset="0"/>
                              </a:rPr>
                              <m:t>𝑦</m:t>
                            </m:r>
                          </m:e>
                          <m:sub>
                            <m:r>
                              <a:rPr lang="fr-FR" sz="2200" i="1">
                                <a:solidFill>
                                  <a:srgbClr val="000000"/>
                                </a:solidFill>
                                <a:effectLst/>
                                <a:latin typeface="Cambria Math" panose="02040503050406030204" pitchFamily="18" charset="0"/>
                                <a:ea typeface="Times New Roman" panose="02020603050405020304" pitchFamily="18" charset="0"/>
                              </a:rPr>
                              <m:t>1</m:t>
                            </m:r>
                          </m:sub>
                        </m:sSub>
                      </m:e>
                    </m:d>
                    <m:r>
                      <a:rPr lang="fr-FR" sz="2200" i="1">
                        <a:solidFill>
                          <a:srgbClr val="000000"/>
                        </a:solidFill>
                        <a:effectLst/>
                        <a:latin typeface="Cambria Math" panose="02040503050406030204" pitchFamily="18" charset="0"/>
                        <a:ea typeface="Times New Roman" panose="02020603050405020304" pitchFamily="18" charset="0"/>
                      </a:rPr>
                      <m:t>, </m:t>
                    </m:r>
                    <m:d>
                      <m:dPr>
                        <m:ctrlPr>
                          <a:rPr lang="fr-CA" sz="2200" i="1">
                            <a:solidFill>
                              <a:srgbClr val="000000"/>
                            </a:solidFill>
                            <a:effectLst/>
                            <a:latin typeface="Cambria Math" panose="02040503050406030204" pitchFamily="18" charset="0"/>
                            <a:ea typeface="Times New Roman" panose="02020603050405020304" pitchFamily="18" charset="0"/>
                          </a:rPr>
                        </m:ctrlPr>
                      </m:dPr>
                      <m:e>
                        <m:sSub>
                          <m:sSubPr>
                            <m:ctrlPr>
                              <a:rPr lang="fr-CA" sz="2200" i="1">
                                <a:solidFill>
                                  <a:srgbClr val="000000"/>
                                </a:solidFill>
                                <a:effectLst/>
                                <a:latin typeface="Cambria Math" panose="02040503050406030204" pitchFamily="18" charset="0"/>
                                <a:ea typeface="Times New Roman" panose="02020603050405020304" pitchFamily="18" charset="0"/>
                              </a:rPr>
                            </m:ctrlPr>
                          </m:sSubPr>
                          <m:e>
                            <m:r>
                              <a:rPr lang="fr-FR" sz="2200" i="1">
                                <a:solidFill>
                                  <a:srgbClr val="000000"/>
                                </a:solidFill>
                                <a:effectLst/>
                                <a:latin typeface="Cambria Math" panose="02040503050406030204" pitchFamily="18" charset="0"/>
                                <a:ea typeface="Times New Roman" panose="02020603050405020304" pitchFamily="18" charset="0"/>
                              </a:rPr>
                              <m:t>𝑥</m:t>
                            </m:r>
                          </m:e>
                          <m:sub>
                            <m:r>
                              <a:rPr lang="fr-FR" sz="2200" i="1">
                                <a:solidFill>
                                  <a:srgbClr val="000000"/>
                                </a:solidFill>
                                <a:effectLst/>
                                <a:latin typeface="Cambria Math" panose="02040503050406030204" pitchFamily="18" charset="0"/>
                                <a:ea typeface="Times New Roman" panose="02020603050405020304" pitchFamily="18" charset="0"/>
                              </a:rPr>
                              <m:t>2</m:t>
                            </m:r>
                          </m:sub>
                        </m:sSub>
                        <m:r>
                          <a:rPr lang="fr-FR" sz="2200" i="1">
                            <a:solidFill>
                              <a:srgbClr val="000000"/>
                            </a:solidFill>
                            <a:effectLst/>
                            <a:latin typeface="Cambria Math" panose="02040503050406030204" pitchFamily="18" charset="0"/>
                            <a:ea typeface="Times New Roman" panose="02020603050405020304" pitchFamily="18" charset="0"/>
                          </a:rPr>
                          <m:t>,</m:t>
                        </m:r>
                        <m:sSub>
                          <m:sSubPr>
                            <m:ctrlPr>
                              <a:rPr lang="fr-CA" sz="2200" i="1">
                                <a:solidFill>
                                  <a:srgbClr val="000000"/>
                                </a:solidFill>
                                <a:effectLst/>
                                <a:latin typeface="Cambria Math" panose="02040503050406030204" pitchFamily="18" charset="0"/>
                                <a:ea typeface="Times New Roman" panose="02020603050405020304" pitchFamily="18" charset="0"/>
                              </a:rPr>
                            </m:ctrlPr>
                          </m:sSubPr>
                          <m:e>
                            <m:r>
                              <a:rPr lang="fr-FR" sz="2200" i="1">
                                <a:solidFill>
                                  <a:srgbClr val="000000"/>
                                </a:solidFill>
                                <a:effectLst/>
                                <a:latin typeface="Cambria Math" panose="02040503050406030204" pitchFamily="18" charset="0"/>
                                <a:ea typeface="Times New Roman" panose="02020603050405020304" pitchFamily="18" charset="0"/>
                              </a:rPr>
                              <m:t>𝑦</m:t>
                            </m:r>
                          </m:e>
                          <m:sub>
                            <m:r>
                              <a:rPr lang="fr-FR" sz="2200" i="1">
                                <a:solidFill>
                                  <a:srgbClr val="000000"/>
                                </a:solidFill>
                                <a:effectLst/>
                                <a:latin typeface="Cambria Math" panose="02040503050406030204" pitchFamily="18" charset="0"/>
                                <a:ea typeface="Times New Roman" panose="02020603050405020304" pitchFamily="18" charset="0"/>
                              </a:rPr>
                              <m:t>2</m:t>
                            </m:r>
                          </m:sub>
                        </m:sSub>
                      </m:e>
                    </m:d>
                    <m:r>
                      <a:rPr lang="fr-FR" sz="2200" i="1">
                        <a:solidFill>
                          <a:srgbClr val="000000"/>
                        </a:solidFill>
                        <a:effectLst/>
                        <a:latin typeface="Cambria Math" panose="02040503050406030204" pitchFamily="18" charset="0"/>
                        <a:ea typeface="Times New Roman" panose="02020603050405020304" pitchFamily="18" charset="0"/>
                      </a:rPr>
                      <m:t>,….,(</m:t>
                    </m:r>
                    <m:sSub>
                      <m:sSubPr>
                        <m:ctrlPr>
                          <a:rPr lang="fr-CA" sz="2200" i="1">
                            <a:solidFill>
                              <a:srgbClr val="000000"/>
                            </a:solidFill>
                            <a:effectLst/>
                            <a:latin typeface="Cambria Math" panose="02040503050406030204" pitchFamily="18" charset="0"/>
                            <a:ea typeface="Times New Roman" panose="02020603050405020304" pitchFamily="18" charset="0"/>
                          </a:rPr>
                        </m:ctrlPr>
                      </m:sSubPr>
                      <m:e>
                        <m:r>
                          <a:rPr lang="fr-FR" sz="2200" i="1">
                            <a:solidFill>
                              <a:srgbClr val="000000"/>
                            </a:solidFill>
                            <a:effectLst/>
                            <a:latin typeface="Cambria Math" panose="02040503050406030204" pitchFamily="18" charset="0"/>
                            <a:ea typeface="Times New Roman" panose="02020603050405020304" pitchFamily="18" charset="0"/>
                          </a:rPr>
                          <m:t>𝑥</m:t>
                        </m:r>
                      </m:e>
                      <m:sub>
                        <m:r>
                          <a:rPr lang="fr-FR" sz="2200" i="1">
                            <a:solidFill>
                              <a:srgbClr val="000000"/>
                            </a:solidFill>
                            <a:effectLst/>
                            <a:latin typeface="Cambria Math" panose="02040503050406030204" pitchFamily="18" charset="0"/>
                            <a:ea typeface="Times New Roman" panose="02020603050405020304" pitchFamily="18" charset="0"/>
                          </a:rPr>
                          <m:t>𝑛</m:t>
                        </m:r>
                      </m:sub>
                    </m:sSub>
                    <m:r>
                      <a:rPr lang="fr-FR" sz="2200" i="1">
                        <a:solidFill>
                          <a:srgbClr val="000000"/>
                        </a:solidFill>
                        <a:effectLst/>
                        <a:latin typeface="Cambria Math" panose="02040503050406030204" pitchFamily="18" charset="0"/>
                        <a:ea typeface="Times New Roman" panose="02020603050405020304" pitchFamily="18" charset="0"/>
                      </a:rPr>
                      <m:t>,</m:t>
                    </m:r>
                    <m:sSub>
                      <m:sSubPr>
                        <m:ctrlPr>
                          <a:rPr lang="fr-CA" sz="2200" i="1">
                            <a:solidFill>
                              <a:srgbClr val="000000"/>
                            </a:solidFill>
                            <a:effectLst/>
                            <a:latin typeface="Cambria Math" panose="02040503050406030204" pitchFamily="18" charset="0"/>
                            <a:ea typeface="Times New Roman" panose="02020603050405020304" pitchFamily="18" charset="0"/>
                          </a:rPr>
                        </m:ctrlPr>
                      </m:sSubPr>
                      <m:e>
                        <m:r>
                          <a:rPr lang="fr-FR" sz="2200" i="1">
                            <a:solidFill>
                              <a:srgbClr val="000000"/>
                            </a:solidFill>
                            <a:effectLst/>
                            <a:latin typeface="Cambria Math" panose="02040503050406030204" pitchFamily="18" charset="0"/>
                            <a:ea typeface="Times New Roman" panose="02020603050405020304" pitchFamily="18" charset="0"/>
                          </a:rPr>
                          <m:t>𝑦</m:t>
                        </m:r>
                      </m:e>
                      <m:sub>
                        <m:r>
                          <a:rPr lang="fr-FR" sz="2200" i="1">
                            <a:solidFill>
                              <a:srgbClr val="000000"/>
                            </a:solidFill>
                            <a:effectLst/>
                            <a:latin typeface="Cambria Math" panose="02040503050406030204" pitchFamily="18" charset="0"/>
                            <a:ea typeface="Times New Roman" panose="02020603050405020304" pitchFamily="18" charset="0"/>
                          </a:rPr>
                          <m:t>𝑛</m:t>
                        </m:r>
                      </m:sub>
                    </m:sSub>
                    <m:r>
                      <a:rPr lang="fr-FR" sz="2200" i="1">
                        <a:solidFill>
                          <a:srgbClr val="000000"/>
                        </a:solidFill>
                        <a:effectLst/>
                        <a:latin typeface="Cambria Math" panose="02040503050406030204" pitchFamily="18" charset="0"/>
                        <a:ea typeface="Times New Roman" panose="02020603050405020304" pitchFamily="18" charset="0"/>
                      </a:rPr>
                      <m:t>)</m:t>
                    </m:r>
                  </m:oMath>
                </a14:m>
                <a:r>
                  <a:rPr lang="fr-FR" sz="2200" dirty="0">
                    <a:solidFill>
                      <a:srgbClr val="000000"/>
                    </a:solidFill>
                    <a:effectLst/>
                    <a:latin typeface="Times New Roman" panose="02020603050405020304" pitchFamily="18" charset="0"/>
                    <a:ea typeface="Times New Roman" panose="02020603050405020304" pitchFamily="18" charset="0"/>
                  </a:rPr>
                  <a:t>.</a:t>
                </a:r>
                <a:br>
                  <a:rPr lang="fr-CA" sz="2200" dirty="0">
                    <a:solidFill>
                      <a:srgbClr val="000000"/>
                    </a:solidFill>
                    <a:effectLst/>
                    <a:latin typeface="Times New Roman" panose="02020603050405020304" pitchFamily="18" charset="0"/>
                    <a:ea typeface="Times New Roman" panose="02020603050405020304" pitchFamily="18" charset="0"/>
                  </a:rPr>
                </a:br>
                <a:r>
                  <a:rPr lang="fr-CA" sz="2200" dirty="0">
                    <a:solidFill>
                      <a:srgbClr val="000000"/>
                    </a:solidFill>
                    <a:effectLst/>
                    <a:latin typeface="Times New Roman" panose="02020603050405020304" pitchFamily="18" charset="0"/>
                    <a:ea typeface="Times New Roman" panose="02020603050405020304" pitchFamily="18" charset="0"/>
                  </a:rPr>
                  <a:t>2. </a:t>
                </a:r>
                <a:r>
                  <a:rPr lang="fr-FR" sz="2200" dirty="0">
                    <a:solidFill>
                      <a:srgbClr val="000000"/>
                    </a:solidFill>
                    <a:effectLst/>
                    <a:latin typeface="Times New Roman" panose="02020603050405020304" pitchFamily="18" charset="0"/>
                    <a:ea typeface="Times New Roman" panose="02020603050405020304" pitchFamily="18" charset="0"/>
                  </a:rPr>
                  <a:t>On suppose que la variable X est mesurée soit sans erreur soit que l’erreur des mesures est négligeable.</a:t>
                </a:r>
                <a:br>
                  <a:rPr lang="fr-CA" sz="2200" dirty="0">
                    <a:solidFill>
                      <a:srgbClr val="000000"/>
                    </a:solidFill>
                    <a:effectLst/>
                    <a:latin typeface="Times New Roman" panose="02020603050405020304" pitchFamily="18" charset="0"/>
                    <a:ea typeface="Times New Roman" panose="02020603050405020304" pitchFamily="18" charset="0"/>
                  </a:rPr>
                </a:br>
                <a:r>
                  <a:rPr lang="fr-FR" sz="2200" dirty="0">
                    <a:solidFill>
                      <a:srgbClr val="000000"/>
                    </a:solidFill>
                    <a:effectLst/>
                    <a:latin typeface="Times New Roman" panose="02020603050405020304" pitchFamily="18" charset="0"/>
                    <a:ea typeface="Times New Roman" panose="02020603050405020304" pitchFamily="18" charset="0"/>
                  </a:rPr>
                  <a:t> 3. Normalité et homogénéité de la variance : On suppose que la fonction résidu </a:t>
                </a:r>
                <a14:m>
                  <m:oMath xmlns:m="http://schemas.openxmlformats.org/officeDocument/2006/math">
                    <m:r>
                      <a:rPr lang="fr-FR" sz="2200" i="1" smtClean="0">
                        <a:solidFill>
                          <a:srgbClr val="000000"/>
                        </a:solidFill>
                        <a:effectLst/>
                        <a:latin typeface="Cambria Math" panose="02040503050406030204" pitchFamily="18" charset="0"/>
                        <a:ea typeface="Cambria Math" panose="02040503050406030204" pitchFamily="18" charset="0"/>
                      </a:rPr>
                      <m:t>𝜀</m:t>
                    </m:r>
                  </m:oMath>
                </a14:m>
                <a:r>
                  <a:rPr lang="fr-FR" sz="2200" dirty="0">
                    <a:solidFill>
                      <a:srgbClr val="000000"/>
                    </a:solidFill>
                    <a:effectLst/>
                    <a:latin typeface="Times New Roman" panose="02020603050405020304" pitchFamily="18" charset="0"/>
                    <a:ea typeface="Times New Roman" panose="02020603050405020304" pitchFamily="18" charset="0"/>
                  </a:rPr>
                  <a:t> est normalement distribuée avec une moyenne nulle et une variance </a:t>
                </a:r>
                <a14:m>
                  <m:oMath xmlns:m="http://schemas.openxmlformats.org/officeDocument/2006/math">
                    <m:sSup>
                      <m:sSupPr>
                        <m:ctrlPr>
                          <a:rPr lang="fr-FR" sz="2200" i="1" smtClean="0">
                            <a:solidFill>
                              <a:srgbClr val="000000"/>
                            </a:solidFill>
                            <a:effectLst/>
                            <a:latin typeface="Cambria Math" panose="02040503050406030204" pitchFamily="18" charset="0"/>
                          </a:rPr>
                        </m:ctrlPr>
                      </m:sSupPr>
                      <m:e>
                        <m:r>
                          <a:rPr lang="fr-FR" sz="2200" i="1" smtClean="0">
                            <a:solidFill>
                              <a:srgbClr val="000000"/>
                            </a:solidFill>
                            <a:effectLst/>
                            <a:latin typeface="Cambria Math" panose="02040503050406030204" pitchFamily="18" charset="0"/>
                            <a:ea typeface="Cambria Math" panose="02040503050406030204" pitchFamily="18" charset="0"/>
                          </a:rPr>
                          <m:t>𝜎</m:t>
                        </m:r>
                      </m:e>
                      <m:sup>
                        <m:r>
                          <a:rPr lang="fr-CA" sz="2200" b="0" i="1" smtClean="0">
                            <a:solidFill>
                              <a:srgbClr val="000000"/>
                            </a:solidFill>
                            <a:effectLst/>
                            <a:latin typeface="Cambria Math" panose="02040503050406030204" pitchFamily="18" charset="0"/>
                          </a:rPr>
                          <m:t>2</m:t>
                        </m:r>
                      </m:sup>
                    </m:sSup>
                  </m:oMath>
                </a14:m>
                <a:r>
                  <a:rPr lang="fr-FR" sz="2200" dirty="0">
                    <a:solidFill>
                      <a:srgbClr val="000000"/>
                    </a:solidFill>
                    <a:effectLst/>
                    <a:latin typeface="Times New Roman" panose="02020603050405020304" pitchFamily="18" charset="0"/>
                    <a:ea typeface="Times New Roman" panose="02020603050405020304" pitchFamily="18" charset="0"/>
                  </a:rPr>
                  <a:t>. Cela signifie qu’il y aura des points au-dessus de la droite donnant le modèle, mais aussi sous et sur cette droite ; cependant, la moyenne des écarts de tous les points par rapport à la droite doit être nulle. </a:t>
                </a:r>
                <a:br>
                  <a:rPr lang="fr-CA" sz="2200" dirty="0">
                    <a:solidFill>
                      <a:srgbClr val="000000"/>
                    </a:solidFill>
                    <a:effectLst/>
                    <a:latin typeface="Times New Roman" panose="02020603050405020304" pitchFamily="18" charset="0"/>
                    <a:ea typeface="Times New Roman" panose="02020603050405020304" pitchFamily="18" charset="0"/>
                  </a:rPr>
                </a:br>
                <a:r>
                  <a:rPr lang="fr-CA" sz="2200" dirty="0">
                    <a:solidFill>
                      <a:srgbClr val="000000"/>
                    </a:solidFill>
                    <a:effectLst/>
                    <a:latin typeface="Times New Roman" panose="02020603050405020304" pitchFamily="18" charset="0"/>
                    <a:ea typeface="Times New Roman" panose="02020603050405020304" pitchFamily="18" charset="0"/>
                  </a:rPr>
                  <a:t>4. </a:t>
                </a:r>
                <a:r>
                  <a:rPr lang="fr-FR" sz="2200" dirty="0">
                    <a:solidFill>
                      <a:srgbClr val="000000"/>
                    </a:solidFill>
                    <a:effectLst/>
                    <a:latin typeface="Times New Roman" panose="02020603050405020304" pitchFamily="18" charset="0"/>
                    <a:ea typeface="Times New Roman" panose="02020603050405020304" pitchFamily="18" charset="0"/>
                  </a:rPr>
                  <a:t>La distribution de la variable dépendante pour chaque valeur fixée de X ; </a:t>
                </a:r>
                <a14:m>
                  <m:oMath xmlns:m="http://schemas.openxmlformats.org/officeDocument/2006/math">
                    <m:r>
                      <a:rPr lang="fr-FR" sz="2200" i="1">
                        <a:solidFill>
                          <a:srgbClr val="000000"/>
                        </a:solidFill>
                        <a:effectLst/>
                        <a:latin typeface="Cambria Math" panose="02040503050406030204" pitchFamily="18" charset="0"/>
                        <a:ea typeface="Times New Roman" panose="02020603050405020304" pitchFamily="18" charset="0"/>
                      </a:rPr>
                      <m:t>𝑌</m:t>
                    </m:r>
                    <m:r>
                      <a:rPr lang="fr-FR" sz="2200" i="1">
                        <a:solidFill>
                          <a:srgbClr val="000000"/>
                        </a:solidFill>
                        <a:effectLst/>
                        <a:latin typeface="Cambria Math" panose="02040503050406030204" pitchFamily="18" charset="0"/>
                        <a:ea typeface="Times New Roman" panose="02020603050405020304" pitchFamily="18" charset="0"/>
                      </a:rPr>
                      <m:t>|</m:t>
                    </m:r>
                    <m:r>
                      <a:rPr lang="fr-FR" sz="2200" i="1">
                        <a:solidFill>
                          <a:srgbClr val="000000"/>
                        </a:solidFill>
                        <a:effectLst/>
                        <a:latin typeface="Cambria Math" panose="02040503050406030204" pitchFamily="18" charset="0"/>
                        <a:ea typeface="Times New Roman" panose="02020603050405020304" pitchFamily="18" charset="0"/>
                      </a:rPr>
                      <m:t>𝑋</m:t>
                    </m:r>
                    <m:r>
                      <a:rPr lang="fr-FR" sz="2200" i="1">
                        <a:solidFill>
                          <a:srgbClr val="000000"/>
                        </a:solidFill>
                        <a:effectLst/>
                        <a:latin typeface="Cambria Math" panose="02040503050406030204" pitchFamily="18" charset="0"/>
                        <a:ea typeface="Times New Roman" panose="02020603050405020304" pitchFamily="18" charset="0"/>
                      </a:rPr>
                      <m:t>=</m:t>
                    </m:r>
                    <m:r>
                      <a:rPr lang="fr-FR" sz="2200" i="1">
                        <a:solidFill>
                          <a:srgbClr val="000000"/>
                        </a:solidFill>
                        <a:effectLst/>
                        <a:latin typeface="Cambria Math" panose="02040503050406030204" pitchFamily="18" charset="0"/>
                        <a:ea typeface="Times New Roman" panose="02020603050405020304" pitchFamily="18" charset="0"/>
                      </a:rPr>
                      <m:t>𝑥</m:t>
                    </m:r>
                    <m:r>
                      <a:rPr lang="fr-FR" sz="2200" i="1">
                        <a:solidFill>
                          <a:srgbClr val="000000"/>
                        </a:solidFill>
                        <a:effectLst/>
                        <a:latin typeface="Cambria Math" panose="02040503050406030204" pitchFamily="18" charset="0"/>
                        <a:ea typeface="Times New Roman" panose="02020603050405020304" pitchFamily="18" charset="0"/>
                      </a:rPr>
                      <m:t> </m:t>
                    </m:r>
                  </m:oMath>
                </a14:m>
                <a:r>
                  <a:rPr lang="fr-FR" sz="2200" dirty="0">
                    <a:solidFill>
                      <a:srgbClr val="000000"/>
                    </a:solidFill>
                    <a:effectLst/>
                    <a:latin typeface="Times New Roman" panose="02020603050405020304" pitchFamily="18" charset="0"/>
                    <a:ea typeface="Times New Roman" panose="02020603050405020304" pitchFamily="18" charset="0"/>
                  </a:rPr>
                  <a:t>sera alors distribuée normalement avec une moyenne égale à </a:t>
                </a:r>
                <a14:m>
                  <m:oMath xmlns:m="http://schemas.openxmlformats.org/officeDocument/2006/math">
                    <m:r>
                      <a:rPr lang="fr-FR" sz="2200" i="1">
                        <a:solidFill>
                          <a:srgbClr val="000000"/>
                        </a:solidFill>
                        <a:effectLst/>
                        <a:latin typeface="Cambria Math" panose="02040503050406030204" pitchFamily="18" charset="0"/>
                        <a:ea typeface="Times New Roman" panose="02020603050405020304" pitchFamily="18" charset="0"/>
                      </a:rPr>
                      <m:t>𝛼</m:t>
                    </m:r>
                    <m:r>
                      <a:rPr lang="fr-FR" sz="2200" i="1">
                        <a:solidFill>
                          <a:srgbClr val="000000"/>
                        </a:solidFill>
                        <a:effectLst/>
                        <a:latin typeface="Cambria Math" panose="02040503050406030204" pitchFamily="18" charset="0"/>
                        <a:ea typeface="Times New Roman" panose="02020603050405020304" pitchFamily="18" charset="0"/>
                      </a:rPr>
                      <m:t>+</m:t>
                    </m:r>
                    <m:r>
                      <a:rPr lang="fr-FR" sz="2200" i="1">
                        <a:solidFill>
                          <a:srgbClr val="000000"/>
                        </a:solidFill>
                        <a:effectLst/>
                        <a:latin typeface="Cambria Math" panose="02040503050406030204" pitchFamily="18" charset="0"/>
                        <a:ea typeface="Times New Roman" panose="02020603050405020304" pitchFamily="18" charset="0"/>
                      </a:rPr>
                      <m:t>𝛽</m:t>
                    </m:r>
                    <m:r>
                      <a:rPr lang="fr-FR" sz="2200" i="1">
                        <a:solidFill>
                          <a:srgbClr val="000000"/>
                        </a:solidFill>
                        <a:effectLst/>
                        <a:latin typeface="Cambria Math" panose="02040503050406030204" pitchFamily="18" charset="0"/>
                        <a:ea typeface="Times New Roman" panose="02020603050405020304" pitchFamily="18" charset="0"/>
                      </a:rPr>
                      <m:t>𝑥</m:t>
                    </m:r>
                    <m:r>
                      <a:rPr lang="fr-FR" sz="2200" i="1">
                        <a:solidFill>
                          <a:srgbClr val="000000"/>
                        </a:solidFill>
                        <a:effectLst/>
                        <a:latin typeface="Cambria Math" panose="02040503050406030204" pitchFamily="18" charset="0"/>
                        <a:ea typeface="Times New Roman" panose="02020603050405020304" pitchFamily="18" charset="0"/>
                      </a:rPr>
                      <m:t> </m:t>
                    </m:r>
                  </m:oMath>
                </a14:m>
                <a:r>
                  <a:rPr lang="fr-FR" sz="2200" dirty="0">
                    <a:solidFill>
                      <a:srgbClr val="000000"/>
                    </a:solidFill>
                    <a:effectLst/>
                    <a:latin typeface="Times New Roman" panose="02020603050405020304" pitchFamily="18" charset="0"/>
                    <a:ea typeface="Times New Roman" panose="02020603050405020304" pitchFamily="18" charset="0"/>
                  </a:rPr>
                  <a:t>et une variance </a:t>
                </a:r>
                <a14:m>
                  <m:oMath xmlns:m="http://schemas.openxmlformats.org/officeDocument/2006/math">
                    <m:sSup>
                      <m:sSupPr>
                        <m:ctrlPr>
                          <a:rPr lang="fr-FR" sz="2200" i="1">
                            <a:solidFill>
                              <a:srgbClr val="000000"/>
                            </a:solidFill>
                            <a:latin typeface="Cambria Math" panose="02040503050406030204" pitchFamily="18" charset="0"/>
                          </a:rPr>
                        </m:ctrlPr>
                      </m:sSupPr>
                      <m:e>
                        <m:r>
                          <a:rPr lang="fr-FR" sz="2200" i="1">
                            <a:solidFill>
                              <a:srgbClr val="000000"/>
                            </a:solidFill>
                            <a:latin typeface="Cambria Math" panose="02040503050406030204" pitchFamily="18" charset="0"/>
                            <a:ea typeface="Cambria Math" panose="02040503050406030204" pitchFamily="18" charset="0"/>
                          </a:rPr>
                          <m:t>𝜎</m:t>
                        </m:r>
                      </m:e>
                      <m:sup>
                        <m:r>
                          <a:rPr lang="fr-CA" sz="2200" i="1">
                            <a:solidFill>
                              <a:srgbClr val="000000"/>
                            </a:solidFill>
                            <a:latin typeface="Cambria Math" panose="02040503050406030204" pitchFamily="18" charset="0"/>
                          </a:rPr>
                          <m:t>2</m:t>
                        </m:r>
                      </m:sup>
                    </m:sSup>
                  </m:oMath>
                </a14:m>
                <a:r>
                  <a:rPr lang="fr-FR" sz="2200" dirty="0">
                    <a:solidFill>
                      <a:srgbClr val="000000"/>
                    </a:solidFill>
                    <a:effectLst/>
                    <a:latin typeface="Times New Roman" panose="02020603050405020304" pitchFamily="18" charset="0"/>
                    <a:ea typeface="Times New Roman" panose="02020603050405020304" pitchFamily="18" charset="0"/>
                  </a:rPr>
                  <a:t>.</a:t>
                </a:r>
                <a:br>
                  <a:rPr lang="fr-CA" sz="2200" dirty="0">
                    <a:solidFill>
                      <a:srgbClr val="000000"/>
                    </a:solidFill>
                    <a:effectLst/>
                    <a:latin typeface="Times New Roman" panose="02020603050405020304" pitchFamily="18" charset="0"/>
                    <a:ea typeface="Times New Roman" panose="02020603050405020304" pitchFamily="18" charset="0"/>
                  </a:rPr>
                </a:br>
                <a:endParaRPr lang="fr-CA" sz="2200" dirty="0"/>
              </a:p>
            </p:txBody>
          </p:sp>
        </mc:Choice>
        <mc:Fallback xmlns="">
          <p:sp>
            <p:nvSpPr>
              <p:cNvPr id="2" name="Titre 1">
                <a:extLst>
                  <a:ext uri="{FF2B5EF4-FFF2-40B4-BE49-F238E27FC236}">
                    <a16:creationId xmlns:a16="http://schemas.microsoft.com/office/drawing/2014/main" id="{A31AD2E5-EEF3-4C10-AA69-6BD5E66F0FE5}"/>
                  </a:ext>
                </a:extLst>
              </p:cNvPr>
              <p:cNvSpPr>
                <a:spLocks noGrp="1" noRot="1" noChangeAspect="1" noMove="1" noResize="1" noEditPoints="1" noAdjustHandles="1" noChangeArrowheads="1" noChangeShapeType="1" noTextEdit="1"/>
              </p:cNvSpPr>
              <p:nvPr>
                <p:ph type="title"/>
              </p:nvPr>
            </p:nvSpPr>
            <p:spPr>
              <a:xfrm>
                <a:off x="403412" y="297890"/>
                <a:ext cx="11109511" cy="5780181"/>
              </a:xfrm>
              <a:blipFill>
                <a:blip r:embed="rId2"/>
                <a:stretch>
                  <a:fillRect l="-549"/>
                </a:stretch>
              </a:blipFill>
            </p:spPr>
            <p:txBody>
              <a:bodyPr/>
              <a:lstStyle/>
              <a:p>
                <a:r>
                  <a:rPr lang="fr-CA">
                    <a:noFill/>
                  </a:rPr>
                  <a:t> </a:t>
                </a:r>
              </a:p>
            </p:txBody>
          </p:sp>
        </mc:Fallback>
      </mc:AlternateContent>
      <p:sp>
        <p:nvSpPr>
          <p:cNvPr id="3" name="Espace réservé du pied de page 2">
            <a:extLst>
              <a:ext uri="{FF2B5EF4-FFF2-40B4-BE49-F238E27FC236}">
                <a16:creationId xmlns:a16="http://schemas.microsoft.com/office/drawing/2014/main" id="{9240E9D8-67BB-452A-9F93-BF8AF4D68360}"/>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09F4A56C-D449-4479-96BB-8A629561C3DD}"/>
              </a:ext>
            </a:extLst>
          </p:cNvPr>
          <p:cNvSpPr>
            <a:spLocks noGrp="1"/>
          </p:cNvSpPr>
          <p:nvPr>
            <p:ph type="sldNum" sz="quarter" idx="12"/>
          </p:nvPr>
        </p:nvSpPr>
        <p:spPr/>
        <p:txBody>
          <a:bodyPr/>
          <a:lstStyle/>
          <a:p>
            <a:fld id="{26377AD9-CE17-438C-A638-C64D2D42D7CF}" type="slidenum">
              <a:rPr lang="fr-CA" smtClean="0"/>
              <a:t>7</a:t>
            </a:fld>
            <a:endParaRPr lang="fr-CA"/>
          </a:p>
        </p:txBody>
      </p:sp>
    </p:spTree>
    <p:extLst>
      <p:ext uri="{BB962C8B-B14F-4D97-AF65-F5344CB8AC3E}">
        <p14:creationId xmlns:p14="http://schemas.microsoft.com/office/powerpoint/2010/main" val="28587213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re 1">
                <a:extLst>
                  <a:ext uri="{FF2B5EF4-FFF2-40B4-BE49-F238E27FC236}">
                    <a16:creationId xmlns:a16="http://schemas.microsoft.com/office/drawing/2014/main" id="{C2EA8B4A-85FD-4E7E-B9FE-1ABDD8530514}"/>
                  </a:ext>
                </a:extLst>
              </p:cNvPr>
              <p:cNvSpPr>
                <a:spLocks noGrp="1"/>
              </p:cNvSpPr>
              <p:nvPr>
                <p:ph type="title"/>
              </p:nvPr>
            </p:nvSpPr>
            <p:spPr>
              <a:xfrm>
                <a:off x="838200" y="365125"/>
                <a:ext cx="10322859" cy="5833969"/>
              </a:xfrm>
            </p:spPr>
            <p:txBody>
              <a:bodyPr>
                <a:noAutofit/>
              </a:bodyPr>
              <a:lstStyle/>
              <a:p>
                <a:pPr>
                  <a:lnSpc>
                    <a:spcPct val="200000"/>
                  </a:lnSpc>
                  <a:spcAft>
                    <a:spcPts val="800"/>
                  </a:spcAft>
                </a:pPr>
                <a:r>
                  <a:rPr lang="fr-FR" sz="1800" dirty="0">
                    <a:solidFill>
                      <a:srgbClr val="000000"/>
                    </a:solidFill>
                    <a:effectLst/>
                    <a:latin typeface="Times New Roman" panose="02020603050405020304" pitchFamily="18" charset="0"/>
                    <a:ea typeface="Times New Roman" panose="02020603050405020304" pitchFamily="18" charset="0"/>
                  </a:rPr>
                  <a:t>Ainsi, à chaque couple est associé un résidu théorique </a:t>
                </a:r>
                <a14:m>
                  <m:oMath xmlns:m="http://schemas.openxmlformats.org/officeDocument/2006/math">
                    <m:sSub>
                      <m:sSubPr>
                        <m:ctrlPr>
                          <a:rPr lang="fr-CA" sz="1800" i="1">
                            <a:solidFill>
                              <a:srgbClr val="000000"/>
                            </a:solidFill>
                            <a:effectLst/>
                            <a:latin typeface="Cambria Math" panose="02040503050406030204" pitchFamily="18" charset="0"/>
                            <a:ea typeface="Times New Roman" panose="02020603050405020304" pitchFamily="18" charset="0"/>
                          </a:rPr>
                        </m:ctrlPr>
                      </m:sSubPr>
                      <m:e>
                        <m:r>
                          <a:rPr lang="fr-FR" sz="1800" i="1">
                            <a:solidFill>
                              <a:srgbClr val="000000"/>
                            </a:solidFill>
                            <a:effectLst/>
                            <a:latin typeface="Cambria Math" panose="02040503050406030204" pitchFamily="18" charset="0"/>
                            <a:ea typeface="Times New Roman" panose="02020603050405020304" pitchFamily="18" charset="0"/>
                          </a:rPr>
                          <m:t>𝜀</m:t>
                        </m:r>
                      </m:e>
                      <m:sub>
                        <m:r>
                          <a:rPr lang="fr-FR" sz="1800" i="1">
                            <a:solidFill>
                              <a:srgbClr val="000000"/>
                            </a:solidFill>
                            <a:effectLst/>
                            <a:latin typeface="Cambria Math" panose="02040503050406030204" pitchFamily="18" charset="0"/>
                            <a:ea typeface="Times New Roman" panose="02020603050405020304" pitchFamily="18" charset="0"/>
                          </a:rPr>
                          <m:t>𝑖</m:t>
                        </m:r>
                      </m:sub>
                    </m:sSub>
                    <m:r>
                      <a:rPr lang="fr-FR" sz="1800" i="1">
                        <a:solidFill>
                          <a:srgbClr val="000000"/>
                        </a:solidFill>
                        <a:effectLst/>
                        <a:latin typeface="Cambria Math" panose="02040503050406030204" pitchFamily="18" charset="0"/>
                        <a:ea typeface="Times New Roman" panose="02020603050405020304" pitchFamily="18" charset="0"/>
                      </a:rPr>
                      <m:t>=</m:t>
                    </m:r>
                    <m:sSub>
                      <m:sSubPr>
                        <m:ctrlPr>
                          <a:rPr lang="fr-CA" sz="1800" i="1">
                            <a:solidFill>
                              <a:srgbClr val="000000"/>
                            </a:solidFill>
                            <a:effectLst/>
                            <a:latin typeface="Cambria Math" panose="02040503050406030204" pitchFamily="18" charset="0"/>
                            <a:ea typeface="Times New Roman" panose="02020603050405020304" pitchFamily="18" charset="0"/>
                          </a:rPr>
                        </m:ctrlPr>
                      </m:sSubPr>
                      <m:e>
                        <m:r>
                          <a:rPr lang="fr-FR" sz="1800" i="1">
                            <a:solidFill>
                              <a:srgbClr val="000000"/>
                            </a:solidFill>
                            <a:effectLst/>
                            <a:latin typeface="Cambria Math" panose="02040503050406030204" pitchFamily="18" charset="0"/>
                            <a:ea typeface="Times New Roman" panose="02020603050405020304" pitchFamily="18" charset="0"/>
                          </a:rPr>
                          <m:t>𝑦</m:t>
                        </m:r>
                      </m:e>
                      <m:sub>
                        <m:r>
                          <a:rPr lang="fr-FR" sz="1800" i="1">
                            <a:solidFill>
                              <a:srgbClr val="000000"/>
                            </a:solidFill>
                            <a:effectLst/>
                            <a:latin typeface="Cambria Math" panose="02040503050406030204" pitchFamily="18" charset="0"/>
                            <a:ea typeface="Times New Roman" panose="02020603050405020304" pitchFamily="18" charset="0"/>
                          </a:rPr>
                          <m:t>𝑖</m:t>
                        </m:r>
                      </m:sub>
                    </m:sSub>
                    <m:r>
                      <a:rPr lang="fr-FR" sz="1800" i="1">
                        <a:solidFill>
                          <a:srgbClr val="000000"/>
                        </a:solidFill>
                        <a:effectLst/>
                        <a:latin typeface="Cambria Math" panose="02040503050406030204" pitchFamily="18" charset="0"/>
                        <a:ea typeface="Times New Roman" panose="02020603050405020304" pitchFamily="18" charset="0"/>
                      </a:rPr>
                      <m:t>−</m:t>
                    </m:r>
                    <m:r>
                      <a:rPr lang="fr-FR" sz="1800" i="1">
                        <a:solidFill>
                          <a:srgbClr val="000000"/>
                        </a:solidFill>
                        <a:effectLst/>
                        <a:latin typeface="Cambria Math" panose="02040503050406030204" pitchFamily="18" charset="0"/>
                        <a:ea typeface="Times New Roman" panose="02020603050405020304" pitchFamily="18" charset="0"/>
                      </a:rPr>
                      <m:t>𝛼</m:t>
                    </m:r>
                    <m:r>
                      <a:rPr lang="fr-CA" sz="1800" b="0" i="1" smtClean="0">
                        <a:solidFill>
                          <a:srgbClr val="000000"/>
                        </a:solidFill>
                        <a:effectLst/>
                        <a:latin typeface="Cambria Math" panose="02040503050406030204" pitchFamily="18" charset="0"/>
                        <a:ea typeface="Times New Roman" panose="02020603050405020304" pitchFamily="18" charset="0"/>
                      </a:rPr>
                      <m:t>−</m:t>
                    </m:r>
                    <m:r>
                      <a:rPr lang="fr-FR" sz="1800" i="1">
                        <a:solidFill>
                          <a:srgbClr val="000000"/>
                        </a:solidFill>
                        <a:effectLst/>
                        <a:latin typeface="Cambria Math" panose="02040503050406030204" pitchFamily="18" charset="0"/>
                        <a:ea typeface="Times New Roman" panose="02020603050405020304" pitchFamily="18" charset="0"/>
                      </a:rPr>
                      <m:t>𝛽</m:t>
                    </m:r>
                    <m:sSub>
                      <m:sSubPr>
                        <m:ctrlPr>
                          <a:rPr lang="fr-CA" sz="1800" i="1">
                            <a:solidFill>
                              <a:srgbClr val="000000"/>
                            </a:solidFill>
                            <a:effectLst/>
                            <a:latin typeface="Cambria Math" panose="02040503050406030204" pitchFamily="18" charset="0"/>
                            <a:ea typeface="Times New Roman" panose="02020603050405020304" pitchFamily="18" charset="0"/>
                          </a:rPr>
                        </m:ctrlPr>
                      </m:sSubPr>
                      <m:e>
                        <m:r>
                          <a:rPr lang="fr-FR" sz="1800" i="1">
                            <a:solidFill>
                              <a:srgbClr val="000000"/>
                            </a:solidFill>
                            <a:effectLst/>
                            <a:latin typeface="Cambria Math" panose="02040503050406030204" pitchFamily="18" charset="0"/>
                            <a:ea typeface="Times New Roman" panose="02020603050405020304" pitchFamily="18" charset="0"/>
                          </a:rPr>
                          <m:t>𝑥</m:t>
                        </m:r>
                      </m:e>
                      <m:sub>
                        <m:r>
                          <a:rPr lang="fr-FR" sz="1800" i="1">
                            <a:solidFill>
                              <a:srgbClr val="000000"/>
                            </a:solidFill>
                            <a:effectLst/>
                            <a:latin typeface="Cambria Math" panose="02040503050406030204" pitchFamily="18" charset="0"/>
                            <a:ea typeface="Times New Roman" panose="02020603050405020304" pitchFamily="18" charset="0"/>
                          </a:rPr>
                          <m:t>𝑖</m:t>
                        </m:r>
                      </m:sub>
                    </m:sSub>
                    <m:r>
                      <a:rPr lang="fr-FR" sz="1800" i="1">
                        <a:solidFill>
                          <a:srgbClr val="000000"/>
                        </a:solidFill>
                        <a:effectLst/>
                        <a:latin typeface="Cambria Math" panose="02040503050406030204" pitchFamily="18" charset="0"/>
                        <a:ea typeface="Times New Roman" panose="02020603050405020304" pitchFamily="18" charset="0"/>
                      </a:rPr>
                      <m:t>,</m:t>
                    </m:r>
                  </m:oMath>
                </a14:m>
                <a:r>
                  <a:rPr lang="fr-FR" sz="1800" dirty="0">
                    <a:solidFill>
                      <a:srgbClr val="000000"/>
                    </a:solidFill>
                    <a:effectLst/>
                    <a:latin typeface="Times New Roman" panose="02020603050405020304" pitchFamily="18" charset="0"/>
                    <a:ea typeface="Times New Roman" panose="02020603050405020304" pitchFamily="18" charset="0"/>
                  </a:rPr>
                  <a:t> qui indique l’écart entre la valeur observée de </a:t>
                </a:r>
                <a:r>
                  <a:rPr lang="fr-FR" sz="1800" i="1" dirty="0">
                    <a:solidFill>
                      <a:srgbClr val="000000"/>
                    </a:solidFill>
                    <a:effectLst/>
                    <a:latin typeface="Times New Roman" panose="02020603050405020304" pitchFamily="18" charset="0"/>
                    <a:ea typeface="Times New Roman" panose="02020603050405020304" pitchFamily="18" charset="0"/>
                  </a:rPr>
                  <a:t>Y</a:t>
                </a:r>
                <a:r>
                  <a:rPr lang="fr-FR" sz="1800" dirty="0">
                    <a:solidFill>
                      <a:srgbClr val="000000"/>
                    </a:solidFill>
                    <a:effectLst/>
                    <a:latin typeface="Times New Roman" panose="02020603050405020304" pitchFamily="18" charset="0"/>
                    <a:ea typeface="Times New Roman" panose="02020603050405020304" pitchFamily="18" charset="0"/>
                  </a:rPr>
                  <a:t> et la valeur qu’elle devrait prendre si elle était exactement sur la droite du modèle. On sait déjà que :</a:t>
                </a:r>
                <a:br>
                  <a:rPr lang="fr-CA" sz="1800" dirty="0">
                    <a:solidFill>
                      <a:srgbClr val="000000"/>
                    </a:solidFill>
                    <a:effectLst/>
                    <a:latin typeface="Times New Roman" panose="02020603050405020304" pitchFamily="18" charset="0"/>
                    <a:ea typeface="Times New Roman" panose="02020603050405020304" pitchFamily="18" charset="0"/>
                  </a:rPr>
                </a:br>
                <a14:m>
                  <m:oMathPara xmlns:m="http://schemas.openxmlformats.org/officeDocument/2006/math">
                    <m:oMathParaPr>
                      <m:jc m:val="centerGroup"/>
                    </m:oMathParaPr>
                    <m:oMath xmlns:m="http://schemas.openxmlformats.org/officeDocument/2006/math">
                      <m:nary>
                        <m:naryPr>
                          <m:chr m:val="∑"/>
                          <m:ctrlPr>
                            <a:rPr lang="fr-CA" sz="1800" i="1">
                              <a:solidFill>
                                <a:srgbClr val="000000"/>
                              </a:solidFill>
                              <a:effectLst/>
                              <a:latin typeface="Cambria Math" panose="02040503050406030204" pitchFamily="18" charset="0"/>
                              <a:ea typeface="Times New Roman" panose="02020603050405020304" pitchFamily="18" charset="0"/>
                            </a:rPr>
                          </m:ctrlPr>
                        </m:naryPr>
                        <m:sub>
                          <m:r>
                            <a:rPr lang="fr-FR" sz="1800" i="1">
                              <a:solidFill>
                                <a:srgbClr val="000000"/>
                              </a:solidFill>
                              <a:effectLst/>
                              <a:latin typeface="Cambria Math" panose="02040503050406030204" pitchFamily="18" charset="0"/>
                              <a:ea typeface="Times New Roman" panose="02020603050405020304" pitchFamily="18" charset="0"/>
                            </a:rPr>
                            <m:t>𝑖</m:t>
                          </m:r>
                          <m:r>
                            <a:rPr lang="fr-FR" sz="1800" i="1">
                              <a:solidFill>
                                <a:srgbClr val="000000"/>
                              </a:solidFill>
                              <a:effectLst/>
                              <a:latin typeface="Cambria Math" panose="02040503050406030204" pitchFamily="18" charset="0"/>
                              <a:ea typeface="Times New Roman" panose="02020603050405020304" pitchFamily="18" charset="0"/>
                            </a:rPr>
                            <m:t> = 1</m:t>
                          </m:r>
                        </m:sub>
                        <m:sup>
                          <m:r>
                            <a:rPr lang="fr-FR" sz="1800" i="1">
                              <a:solidFill>
                                <a:srgbClr val="000000"/>
                              </a:solidFill>
                              <a:effectLst/>
                              <a:latin typeface="Cambria Math" panose="02040503050406030204" pitchFamily="18" charset="0"/>
                              <a:ea typeface="Times New Roman" panose="02020603050405020304" pitchFamily="18" charset="0"/>
                            </a:rPr>
                            <m:t>𝑛</m:t>
                          </m:r>
                        </m:sup>
                        <m:e>
                          <m:sSub>
                            <m:sSubPr>
                              <m:ctrlPr>
                                <a:rPr lang="fr-CA" sz="1800" i="1">
                                  <a:solidFill>
                                    <a:srgbClr val="000000"/>
                                  </a:solidFill>
                                  <a:effectLst/>
                                  <a:latin typeface="Cambria Math" panose="02040503050406030204" pitchFamily="18" charset="0"/>
                                  <a:ea typeface="Times New Roman" panose="02020603050405020304" pitchFamily="18" charset="0"/>
                                </a:rPr>
                              </m:ctrlPr>
                            </m:sSubPr>
                            <m:e>
                              <m:r>
                                <a:rPr lang="fr-FR" sz="1800" i="1">
                                  <a:solidFill>
                                    <a:srgbClr val="000000"/>
                                  </a:solidFill>
                                  <a:effectLst/>
                                  <a:latin typeface="Cambria Math" panose="02040503050406030204" pitchFamily="18" charset="0"/>
                                  <a:ea typeface="Times New Roman" panose="02020603050405020304" pitchFamily="18" charset="0"/>
                                </a:rPr>
                                <m:t>𝜀</m:t>
                              </m:r>
                            </m:e>
                            <m:sub>
                              <m:r>
                                <a:rPr lang="fr-FR" sz="1800" i="1">
                                  <a:solidFill>
                                    <a:srgbClr val="000000"/>
                                  </a:solidFill>
                                  <a:effectLst/>
                                  <a:latin typeface="Cambria Math" panose="02040503050406030204" pitchFamily="18" charset="0"/>
                                  <a:ea typeface="Times New Roman" panose="02020603050405020304" pitchFamily="18" charset="0"/>
                                </a:rPr>
                                <m:t>𝑖</m:t>
                              </m:r>
                            </m:sub>
                          </m:sSub>
                        </m:e>
                      </m:nary>
                      <m:r>
                        <a:rPr lang="fr-FR" sz="1800" i="1">
                          <a:solidFill>
                            <a:srgbClr val="000000"/>
                          </a:solidFill>
                          <a:effectLst/>
                          <a:latin typeface="Cambria Math" panose="02040503050406030204" pitchFamily="18" charset="0"/>
                          <a:ea typeface="Times New Roman" panose="02020603050405020304" pitchFamily="18" charset="0"/>
                        </a:rPr>
                        <m:t>=0</m:t>
                      </m:r>
                    </m:oMath>
                  </m:oMathPara>
                </a14:m>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La droite qu’on cherche est celle qui minimise la somme des carrés de tous ces résidus. C’est ce qui s’appelle la </a:t>
                </a:r>
                <a:r>
                  <a:rPr lang="fr-FR" sz="1800" b="1" dirty="0">
                    <a:solidFill>
                      <a:srgbClr val="000000"/>
                    </a:solidFill>
                    <a:effectLst/>
                    <a:latin typeface="Times New Roman" panose="02020603050405020304" pitchFamily="18" charset="0"/>
                    <a:ea typeface="Times New Roman" panose="02020603050405020304" pitchFamily="18" charset="0"/>
                  </a:rPr>
                  <a:t>méthode des moindres carrés</a:t>
                </a:r>
                <a:r>
                  <a:rPr lang="fr-FR" sz="1800" dirty="0">
                    <a:solidFill>
                      <a:srgbClr val="000000"/>
                    </a:solidFill>
                    <a:effectLst/>
                    <a:latin typeface="Times New Roman" panose="02020603050405020304" pitchFamily="18" charset="0"/>
                    <a:ea typeface="Times New Roman" panose="02020603050405020304" pitchFamily="18" charset="0"/>
                  </a:rPr>
                  <a:t>, que nous allons utiliser dans ce chapitre. On nomme </a:t>
                </a:r>
                <a:r>
                  <a:rPr lang="fr-FR" sz="1800" b="1" dirty="0">
                    <a:solidFill>
                      <a:srgbClr val="000000"/>
                    </a:solidFill>
                    <a:effectLst/>
                    <a:latin typeface="Times New Roman" panose="02020603050405020304" pitchFamily="18" charset="0"/>
                    <a:ea typeface="Times New Roman" panose="02020603050405020304" pitchFamily="18" charset="0"/>
                  </a:rPr>
                  <a:t>droite de régression</a:t>
                </a:r>
                <a:r>
                  <a:rPr lang="fr-FR" sz="1800" dirty="0">
                    <a:solidFill>
                      <a:srgbClr val="000000"/>
                    </a:solidFill>
                    <a:effectLst/>
                    <a:latin typeface="Times New Roman" panose="02020603050405020304" pitchFamily="18" charset="0"/>
                    <a:ea typeface="Times New Roman" panose="02020603050405020304" pitchFamily="18" charset="0"/>
                  </a:rPr>
                  <a:t> </a:t>
                </a:r>
                <a:r>
                  <a:rPr lang="fr-FR" sz="1800" b="1" dirty="0">
                    <a:solidFill>
                      <a:srgbClr val="000000"/>
                    </a:solidFill>
                    <a:effectLst/>
                    <a:latin typeface="Times New Roman" panose="02020603050405020304" pitchFamily="18" charset="0"/>
                    <a:ea typeface="Times New Roman" panose="02020603050405020304" pitchFamily="18" charset="0"/>
                  </a:rPr>
                  <a:t>simple</a:t>
                </a:r>
                <a:r>
                  <a:rPr lang="fr-FR" sz="1800" dirty="0">
                    <a:solidFill>
                      <a:srgbClr val="000000"/>
                    </a:solidFill>
                    <a:effectLst/>
                    <a:latin typeface="Times New Roman" panose="02020603050405020304" pitchFamily="18" charset="0"/>
                    <a:ea typeface="Times New Roman" panose="02020603050405020304" pitchFamily="18" charset="0"/>
                  </a:rPr>
                  <a:t> entre les variables </a:t>
                </a:r>
                <a:r>
                  <a:rPr lang="fr-FR" sz="1800" i="1" dirty="0">
                    <a:solidFill>
                      <a:srgbClr val="000000"/>
                    </a:solidFill>
                    <a:effectLst/>
                    <a:latin typeface="Times New Roman" panose="02020603050405020304" pitchFamily="18" charset="0"/>
                    <a:ea typeface="Times New Roman" panose="02020603050405020304" pitchFamily="18" charset="0"/>
                  </a:rPr>
                  <a:t>X</a:t>
                </a:r>
                <a:r>
                  <a:rPr lang="fr-FR" sz="1800" dirty="0">
                    <a:solidFill>
                      <a:srgbClr val="000000"/>
                    </a:solidFill>
                    <a:effectLst/>
                    <a:latin typeface="Times New Roman" panose="02020603050405020304" pitchFamily="18" charset="0"/>
                    <a:ea typeface="Times New Roman" panose="02020603050405020304" pitchFamily="18" charset="0"/>
                  </a:rPr>
                  <a:t> et </a:t>
                </a:r>
                <a:r>
                  <a:rPr lang="fr-FR" sz="1800" i="1" dirty="0">
                    <a:solidFill>
                      <a:srgbClr val="000000"/>
                    </a:solidFill>
                    <a:effectLst/>
                    <a:latin typeface="Times New Roman" panose="02020603050405020304" pitchFamily="18" charset="0"/>
                    <a:ea typeface="Times New Roman" panose="02020603050405020304" pitchFamily="18" charset="0"/>
                  </a:rPr>
                  <a:t>Y</a:t>
                </a:r>
                <a:r>
                  <a:rPr lang="fr-FR" sz="1800" dirty="0">
                    <a:solidFill>
                      <a:srgbClr val="000000"/>
                    </a:solidFill>
                    <a:effectLst/>
                    <a:latin typeface="Times New Roman" panose="02020603050405020304" pitchFamily="18" charset="0"/>
                    <a:ea typeface="Times New Roman" panose="02020603050405020304" pitchFamily="18" charset="0"/>
                  </a:rPr>
                  <a:t> la droite qui minimise :</a:t>
                </a:r>
                <a:br>
                  <a:rPr lang="fr-CA" sz="1800" dirty="0">
                    <a:solidFill>
                      <a:srgbClr val="000000"/>
                    </a:solidFill>
                    <a:effectLst/>
                    <a:latin typeface="Times New Roman" panose="02020603050405020304" pitchFamily="18" charset="0"/>
                    <a:ea typeface="Times New Roman" panose="02020603050405020304" pitchFamily="18" charset="0"/>
                  </a:rPr>
                </a:br>
                <a14:m>
                  <m:oMathPara xmlns:m="http://schemas.openxmlformats.org/officeDocument/2006/math">
                    <m:oMathParaPr>
                      <m:jc m:val="centerGroup"/>
                    </m:oMathParaPr>
                    <m:oMath xmlns:m="http://schemas.openxmlformats.org/officeDocument/2006/math">
                      <m:nary>
                        <m:naryPr>
                          <m:chr m:val="∑"/>
                          <m:ctrlPr>
                            <a:rPr lang="fr-CA" sz="1800" i="1">
                              <a:solidFill>
                                <a:srgbClr val="000000"/>
                              </a:solidFill>
                              <a:effectLst/>
                              <a:latin typeface="Cambria Math" panose="02040503050406030204" pitchFamily="18" charset="0"/>
                              <a:ea typeface="Times New Roman" panose="02020603050405020304" pitchFamily="18" charset="0"/>
                            </a:rPr>
                          </m:ctrlPr>
                        </m:naryPr>
                        <m:sub>
                          <m:r>
                            <a:rPr lang="fr-FR" sz="1800" i="1">
                              <a:solidFill>
                                <a:srgbClr val="000000"/>
                              </a:solidFill>
                              <a:effectLst/>
                              <a:latin typeface="Cambria Math" panose="02040503050406030204" pitchFamily="18" charset="0"/>
                              <a:ea typeface="Times New Roman" panose="02020603050405020304" pitchFamily="18" charset="0"/>
                            </a:rPr>
                            <m:t>𝑖</m:t>
                          </m:r>
                          <m:r>
                            <a:rPr lang="fr-FR" sz="1800" i="1">
                              <a:solidFill>
                                <a:srgbClr val="000000"/>
                              </a:solidFill>
                              <a:effectLst/>
                              <a:latin typeface="Cambria Math" panose="02040503050406030204" pitchFamily="18" charset="0"/>
                              <a:ea typeface="Times New Roman" panose="02020603050405020304" pitchFamily="18" charset="0"/>
                            </a:rPr>
                            <m:t> = 1</m:t>
                          </m:r>
                        </m:sub>
                        <m:sup>
                          <m:r>
                            <a:rPr lang="fr-FR" sz="1800" i="1">
                              <a:solidFill>
                                <a:srgbClr val="000000"/>
                              </a:solidFill>
                              <a:effectLst/>
                              <a:latin typeface="Cambria Math" panose="02040503050406030204" pitchFamily="18" charset="0"/>
                              <a:ea typeface="Times New Roman" panose="02020603050405020304" pitchFamily="18" charset="0"/>
                            </a:rPr>
                            <m:t>𝑛</m:t>
                          </m:r>
                        </m:sup>
                        <m:e>
                          <m:sSubSup>
                            <m:sSubSupPr>
                              <m:ctrlPr>
                                <a:rPr lang="fr-CA" sz="1800" i="1">
                                  <a:solidFill>
                                    <a:srgbClr val="000000"/>
                                  </a:solidFill>
                                  <a:effectLst/>
                                  <a:latin typeface="Cambria Math" panose="02040503050406030204" pitchFamily="18" charset="0"/>
                                  <a:ea typeface="Times New Roman" panose="02020603050405020304" pitchFamily="18" charset="0"/>
                                </a:rPr>
                              </m:ctrlPr>
                            </m:sSubSupPr>
                            <m:e>
                              <m:r>
                                <a:rPr lang="fr-FR" sz="1800" i="1">
                                  <a:solidFill>
                                    <a:srgbClr val="000000"/>
                                  </a:solidFill>
                                  <a:effectLst/>
                                  <a:latin typeface="Cambria Math" panose="02040503050406030204" pitchFamily="18" charset="0"/>
                                  <a:ea typeface="Times New Roman" panose="02020603050405020304" pitchFamily="18" charset="0"/>
                                </a:rPr>
                                <m:t>𝜀</m:t>
                              </m:r>
                            </m:e>
                            <m:sub>
                              <m:r>
                                <a:rPr lang="fr-FR" sz="1800" i="1">
                                  <a:solidFill>
                                    <a:srgbClr val="000000"/>
                                  </a:solidFill>
                                  <a:effectLst/>
                                  <a:latin typeface="Cambria Math" panose="02040503050406030204" pitchFamily="18" charset="0"/>
                                  <a:ea typeface="Times New Roman" panose="02020603050405020304" pitchFamily="18" charset="0"/>
                                </a:rPr>
                                <m:t>𝑖</m:t>
                              </m:r>
                            </m:sub>
                            <m:sup>
                              <m:r>
                                <a:rPr lang="fr-FR" sz="1800" i="1">
                                  <a:solidFill>
                                    <a:srgbClr val="000000"/>
                                  </a:solidFill>
                                  <a:effectLst/>
                                  <a:latin typeface="Cambria Math" panose="02040503050406030204" pitchFamily="18" charset="0"/>
                                  <a:ea typeface="Times New Roman" panose="02020603050405020304" pitchFamily="18" charset="0"/>
                                </a:rPr>
                                <m:t>2</m:t>
                              </m:r>
                            </m:sup>
                          </m:sSubSup>
                        </m:e>
                      </m:nary>
                      <m:r>
                        <a:rPr lang="fr-FR" sz="1800" i="1">
                          <a:solidFill>
                            <a:srgbClr val="000000"/>
                          </a:solidFill>
                          <a:effectLst/>
                          <a:latin typeface="Cambria Math" panose="02040503050406030204" pitchFamily="18" charset="0"/>
                          <a:ea typeface="Times New Roman" panose="02020603050405020304" pitchFamily="18" charset="0"/>
                        </a:rPr>
                        <m:t>=</m:t>
                      </m:r>
                      <m:nary>
                        <m:naryPr>
                          <m:chr m:val="∑"/>
                          <m:ctrlPr>
                            <a:rPr lang="fr-CA" sz="1800" i="1">
                              <a:solidFill>
                                <a:srgbClr val="000000"/>
                              </a:solidFill>
                              <a:effectLst/>
                              <a:latin typeface="Cambria Math" panose="02040503050406030204" pitchFamily="18" charset="0"/>
                              <a:ea typeface="Times New Roman" panose="02020603050405020304" pitchFamily="18" charset="0"/>
                            </a:rPr>
                          </m:ctrlPr>
                        </m:naryPr>
                        <m:sub>
                          <m:r>
                            <a:rPr lang="fr-FR" sz="1800" i="1">
                              <a:solidFill>
                                <a:srgbClr val="000000"/>
                              </a:solidFill>
                              <a:effectLst/>
                              <a:latin typeface="Cambria Math" panose="02040503050406030204" pitchFamily="18" charset="0"/>
                              <a:ea typeface="Times New Roman" panose="02020603050405020304" pitchFamily="18" charset="0"/>
                            </a:rPr>
                            <m:t>𝑖</m:t>
                          </m:r>
                          <m:r>
                            <a:rPr lang="fr-FR" sz="1800" i="1">
                              <a:solidFill>
                                <a:srgbClr val="000000"/>
                              </a:solidFill>
                              <a:effectLst/>
                              <a:latin typeface="Cambria Math" panose="02040503050406030204" pitchFamily="18" charset="0"/>
                              <a:ea typeface="Times New Roman" panose="02020603050405020304" pitchFamily="18" charset="0"/>
                            </a:rPr>
                            <m:t> = 1</m:t>
                          </m:r>
                        </m:sub>
                        <m:sup>
                          <m:r>
                            <a:rPr lang="fr-FR" sz="1800" i="1">
                              <a:solidFill>
                                <a:srgbClr val="000000"/>
                              </a:solidFill>
                              <a:effectLst/>
                              <a:latin typeface="Cambria Math" panose="02040503050406030204" pitchFamily="18" charset="0"/>
                              <a:ea typeface="Times New Roman" panose="02020603050405020304" pitchFamily="18" charset="0"/>
                            </a:rPr>
                            <m:t>𝑛</m:t>
                          </m:r>
                        </m:sup>
                        <m:e>
                          <m:r>
                            <a:rPr lang="fr-FR" sz="1800" i="1">
                              <a:solidFill>
                                <a:srgbClr val="000000"/>
                              </a:solidFill>
                              <a:effectLst/>
                              <a:latin typeface="Cambria Math" panose="02040503050406030204" pitchFamily="18" charset="0"/>
                              <a:ea typeface="Times New Roman" panose="02020603050405020304" pitchFamily="18" charset="0"/>
                            </a:rPr>
                            <m:t>(</m:t>
                          </m:r>
                          <m:sSub>
                            <m:sSubPr>
                              <m:ctrlPr>
                                <a:rPr lang="fr-CA" sz="1800" i="1">
                                  <a:solidFill>
                                    <a:srgbClr val="000000"/>
                                  </a:solidFill>
                                  <a:effectLst/>
                                  <a:latin typeface="Cambria Math" panose="02040503050406030204" pitchFamily="18" charset="0"/>
                                  <a:ea typeface="Times New Roman" panose="02020603050405020304" pitchFamily="18" charset="0"/>
                                </a:rPr>
                              </m:ctrlPr>
                            </m:sSubPr>
                            <m:e>
                              <m:r>
                                <a:rPr lang="fr-FR" sz="1800" i="1">
                                  <a:solidFill>
                                    <a:srgbClr val="000000"/>
                                  </a:solidFill>
                                  <a:effectLst/>
                                  <a:latin typeface="Cambria Math" panose="02040503050406030204" pitchFamily="18" charset="0"/>
                                  <a:ea typeface="Times New Roman" panose="02020603050405020304" pitchFamily="18" charset="0"/>
                                </a:rPr>
                                <m:t>𝑦</m:t>
                              </m:r>
                            </m:e>
                            <m:sub>
                              <m:r>
                                <a:rPr lang="fr-FR" sz="1800" i="1">
                                  <a:solidFill>
                                    <a:srgbClr val="000000"/>
                                  </a:solidFill>
                                  <a:effectLst/>
                                  <a:latin typeface="Cambria Math" panose="02040503050406030204" pitchFamily="18" charset="0"/>
                                  <a:ea typeface="Times New Roman" panose="02020603050405020304" pitchFamily="18" charset="0"/>
                                </a:rPr>
                                <m:t>𝑖</m:t>
                              </m:r>
                            </m:sub>
                          </m:sSub>
                          <m:r>
                            <a:rPr lang="fr-FR" sz="1800" i="1">
                              <a:solidFill>
                                <a:srgbClr val="000000"/>
                              </a:solidFill>
                              <a:effectLst/>
                              <a:latin typeface="Cambria Math" panose="02040503050406030204" pitchFamily="18" charset="0"/>
                              <a:ea typeface="Times New Roman" panose="02020603050405020304" pitchFamily="18" charset="0"/>
                            </a:rPr>
                            <m:t>−</m:t>
                          </m:r>
                          <m:r>
                            <a:rPr lang="fr-FR" sz="1800" i="1">
                              <a:solidFill>
                                <a:srgbClr val="000000"/>
                              </a:solidFill>
                              <a:effectLst/>
                              <a:latin typeface="Cambria Math" panose="02040503050406030204" pitchFamily="18" charset="0"/>
                              <a:ea typeface="Times New Roman" panose="02020603050405020304" pitchFamily="18" charset="0"/>
                            </a:rPr>
                            <m:t>𝛼</m:t>
                          </m:r>
                          <m:r>
                            <a:rPr lang="fr-FR" sz="1800" i="1">
                              <a:solidFill>
                                <a:srgbClr val="000000"/>
                              </a:solidFill>
                              <a:effectLst/>
                              <a:latin typeface="Cambria Math" panose="02040503050406030204" pitchFamily="18" charset="0"/>
                              <a:ea typeface="Times New Roman" panose="02020603050405020304" pitchFamily="18" charset="0"/>
                            </a:rPr>
                            <m:t>−</m:t>
                          </m:r>
                          <m:r>
                            <a:rPr lang="fr-FR" sz="1800" i="1">
                              <a:solidFill>
                                <a:srgbClr val="000000"/>
                              </a:solidFill>
                              <a:effectLst/>
                              <a:latin typeface="Cambria Math" panose="02040503050406030204" pitchFamily="18" charset="0"/>
                              <a:ea typeface="Times New Roman" panose="02020603050405020304" pitchFamily="18" charset="0"/>
                            </a:rPr>
                            <m:t>𝛽</m:t>
                          </m:r>
                          <m:sSub>
                            <m:sSubPr>
                              <m:ctrlPr>
                                <a:rPr lang="fr-CA" sz="1800" i="1">
                                  <a:solidFill>
                                    <a:srgbClr val="000000"/>
                                  </a:solidFill>
                                  <a:effectLst/>
                                  <a:latin typeface="Cambria Math" panose="02040503050406030204" pitchFamily="18" charset="0"/>
                                  <a:ea typeface="Times New Roman" panose="02020603050405020304" pitchFamily="18" charset="0"/>
                                </a:rPr>
                              </m:ctrlPr>
                            </m:sSubPr>
                            <m:e>
                              <m:r>
                                <a:rPr lang="fr-FR" sz="1800" i="1">
                                  <a:solidFill>
                                    <a:srgbClr val="000000"/>
                                  </a:solidFill>
                                  <a:effectLst/>
                                  <a:latin typeface="Cambria Math" panose="02040503050406030204" pitchFamily="18" charset="0"/>
                                  <a:ea typeface="Times New Roman" panose="02020603050405020304" pitchFamily="18" charset="0"/>
                                </a:rPr>
                                <m:t>𝑥</m:t>
                              </m:r>
                            </m:e>
                            <m:sub>
                              <m:r>
                                <a:rPr lang="fr-FR" sz="1800" i="1">
                                  <a:solidFill>
                                    <a:srgbClr val="000000"/>
                                  </a:solidFill>
                                  <a:effectLst/>
                                  <a:latin typeface="Cambria Math" panose="02040503050406030204" pitchFamily="18" charset="0"/>
                                  <a:ea typeface="Times New Roman" panose="02020603050405020304" pitchFamily="18" charset="0"/>
                                </a:rPr>
                                <m:t>𝑖</m:t>
                              </m:r>
                            </m:sub>
                          </m:sSub>
                          <m:sSup>
                            <m:sSupPr>
                              <m:ctrlPr>
                                <a:rPr lang="fr-CA" sz="1800" i="1">
                                  <a:solidFill>
                                    <a:srgbClr val="000000"/>
                                  </a:solidFill>
                                  <a:effectLst/>
                                  <a:latin typeface="Cambria Math" panose="02040503050406030204" pitchFamily="18" charset="0"/>
                                  <a:ea typeface="Times New Roman" panose="02020603050405020304" pitchFamily="18" charset="0"/>
                                </a:rPr>
                              </m:ctrlPr>
                            </m:sSupPr>
                            <m:e>
                              <m:r>
                                <a:rPr lang="fr-FR" sz="1800" i="1">
                                  <a:solidFill>
                                    <a:srgbClr val="000000"/>
                                  </a:solidFill>
                                  <a:effectLst/>
                                  <a:latin typeface="Cambria Math" panose="02040503050406030204" pitchFamily="18" charset="0"/>
                                  <a:ea typeface="Times New Roman" panose="02020603050405020304" pitchFamily="18" charset="0"/>
                                </a:rPr>
                                <m:t>)</m:t>
                              </m:r>
                            </m:e>
                            <m:sup>
                              <m:r>
                                <a:rPr lang="fr-FR" sz="1800" i="1">
                                  <a:solidFill>
                                    <a:srgbClr val="000000"/>
                                  </a:solidFill>
                                  <a:effectLst/>
                                  <a:latin typeface="Cambria Math" panose="02040503050406030204" pitchFamily="18" charset="0"/>
                                  <a:ea typeface="Times New Roman" panose="02020603050405020304" pitchFamily="18" charset="0"/>
                                </a:rPr>
                                <m:t>2</m:t>
                              </m:r>
                            </m:sup>
                          </m:sSup>
                        </m:e>
                      </m:nary>
                      <m:r>
                        <a:rPr lang="fr-FR" sz="1800" i="1">
                          <a:solidFill>
                            <a:srgbClr val="000000"/>
                          </a:solidFill>
                          <a:effectLst/>
                          <a:latin typeface="Cambria Math" panose="02040503050406030204" pitchFamily="18" charset="0"/>
                          <a:ea typeface="Times New Roman" panose="02020603050405020304" pitchFamily="18" charset="0"/>
                        </a:rPr>
                        <m:t> </m:t>
                      </m:r>
                    </m:oMath>
                  </m:oMathPara>
                </a14:m>
                <a:br>
                  <a:rPr lang="fr-CA" sz="1800" dirty="0">
                    <a:solidFill>
                      <a:srgbClr val="000000"/>
                    </a:solidFill>
                    <a:effectLst/>
                    <a:latin typeface="Times New Roman" panose="02020603050405020304" pitchFamily="18" charset="0"/>
                    <a:ea typeface="Times New Roman" panose="02020603050405020304" pitchFamily="18" charset="0"/>
                  </a:rPr>
                </a:br>
                <a:endParaRPr lang="fr-CA" sz="1800" dirty="0"/>
              </a:p>
            </p:txBody>
          </p:sp>
        </mc:Choice>
        <mc:Fallback>
          <p:sp>
            <p:nvSpPr>
              <p:cNvPr id="2" name="Titre 1">
                <a:extLst>
                  <a:ext uri="{FF2B5EF4-FFF2-40B4-BE49-F238E27FC236}">
                    <a16:creationId xmlns:a16="http://schemas.microsoft.com/office/drawing/2014/main" id="{C2EA8B4A-85FD-4E7E-B9FE-1ABDD8530514}"/>
                  </a:ext>
                </a:extLst>
              </p:cNvPr>
              <p:cNvSpPr>
                <a:spLocks noGrp="1" noRot="1" noChangeAspect="1" noMove="1" noResize="1" noEditPoints="1" noAdjustHandles="1" noChangeArrowheads="1" noChangeShapeType="1" noTextEdit="1"/>
              </p:cNvSpPr>
              <p:nvPr>
                <p:ph type="title"/>
              </p:nvPr>
            </p:nvSpPr>
            <p:spPr>
              <a:xfrm>
                <a:off x="838200" y="365125"/>
                <a:ext cx="10322859" cy="5833969"/>
              </a:xfrm>
              <a:blipFill>
                <a:blip r:embed="rId2"/>
                <a:stretch>
                  <a:fillRect l="-532" t="-1881" b="-731"/>
                </a:stretch>
              </a:blipFill>
            </p:spPr>
            <p:txBody>
              <a:bodyPr/>
              <a:lstStyle/>
              <a:p>
                <a:r>
                  <a:rPr lang="fr-CA">
                    <a:noFill/>
                  </a:rPr>
                  <a:t> </a:t>
                </a:r>
              </a:p>
            </p:txBody>
          </p:sp>
        </mc:Fallback>
      </mc:AlternateContent>
      <p:sp>
        <p:nvSpPr>
          <p:cNvPr id="3" name="Espace réservé du pied de page 2">
            <a:extLst>
              <a:ext uri="{FF2B5EF4-FFF2-40B4-BE49-F238E27FC236}">
                <a16:creationId xmlns:a16="http://schemas.microsoft.com/office/drawing/2014/main" id="{92F723D2-0848-4015-B164-B9316266EB08}"/>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32A1B109-3FD6-474E-A80C-632AEAFBB73E}"/>
              </a:ext>
            </a:extLst>
          </p:cNvPr>
          <p:cNvSpPr>
            <a:spLocks noGrp="1"/>
          </p:cNvSpPr>
          <p:nvPr>
            <p:ph type="sldNum" sz="quarter" idx="12"/>
          </p:nvPr>
        </p:nvSpPr>
        <p:spPr/>
        <p:txBody>
          <a:bodyPr/>
          <a:lstStyle/>
          <a:p>
            <a:fld id="{26377AD9-CE17-438C-A638-C64D2D42D7CF}" type="slidenum">
              <a:rPr lang="fr-CA" smtClean="0"/>
              <a:t>8</a:t>
            </a:fld>
            <a:endParaRPr lang="fr-CA"/>
          </a:p>
        </p:txBody>
      </p:sp>
    </p:spTree>
    <p:extLst>
      <p:ext uri="{BB962C8B-B14F-4D97-AF65-F5344CB8AC3E}">
        <p14:creationId xmlns:p14="http://schemas.microsoft.com/office/powerpoint/2010/main" val="952137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A10757-DEC9-4807-8912-4B578A5F1CD8}"/>
              </a:ext>
            </a:extLst>
          </p:cNvPr>
          <p:cNvSpPr>
            <a:spLocks noGrp="1"/>
          </p:cNvSpPr>
          <p:nvPr>
            <p:ph type="title"/>
          </p:nvPr>
        </p:nvSpPr>
        <p:spPr/>
        <p:txBody>
          <a:bodyPr/>
          <a:lstStyle/>
          <a:p>
            <a:r>
              <a:rPr lang="fr-CA" dirty="0"/>
              <a:t>Après quelques manipulations du calcul différentielle, on obtient:</a:t>
            </a:r>
          </a:p>
        </p:txBody>
      </p:sp>
      <p:sp>
        <p:nvSpPr>
          <p:cNvPr id="3" name="Espace réservé du pied de page 2">
            <a:extLst>
              <a:ext uri="{FF2B5EF4-FFF2-40B4-BE49-F238E27FC236}">
                <a16:creationId xmlns:a16="http://schemas.microsoft.com/office/drawing/2014/main" id="{15886A7F-FFCE-4E4D-BB19-C2D6A35B4EC1}"/>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63D15AFF-A6E0-4C09-B3AB-64935E424D55}"/>
              </a:ext>
            </a:extLst>
          </p:cNvPr>
          <p:cNvSpPr>
            <a:spLocks noGrp="1"/>
          </p:cNvSpPr>
          <p:nvPr>
            <p:ph type="sldNum" sz="quarter" idx="12"/>
          </p:nvPr>
        </p:nvSpPr>
        <p:spPr/>
        <p:txBody>
          <a:bodyPr/>
          <a:lstStyle/>
          <a:p>
            <a:fld id="{26377AD9-CE17-438C-A638-C64D2D42D7CF}" type="slidenum">
              <a:rPr lang="fr-CA" smtClean="0"/>
              <a:t>9</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6F3A7C13-701F-4000-B88D-8D9112E0175E}"/>
                  </a:ext>
                </a:extLst>
              </p:cNvPr>
              <p:cNvSpPr txBox="1"/>
              <p:nvPr/>
            </p:nvSpPr>
            <p:spPr>
              <a:xfrm>
                <a:off x="1304365" y="1869142"/>
                <a:ext cx="9224682" cy="47480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fr-CA" sz="2000" i="1" smtClean="0">
                              <a:latin typeface="Cambria Math" panose="02040503050406030204" pitchFamily="18" charset="0"/>
                            </a:rPr>
                          </m:ctrlPr>
                        </m:accPr>
                        <m:e>
                          <m:r>
                            <a:rPr lang="fr-CA" sz="2000" i="1" smtClean="0">
                              <a:latin typeface="Cambria Math" panose="02040503050406030204" pitchFamily="18" charset="0"/>
                              <a:ea typeface="Cambria Math" panose="02040503050406030204" pitchFamily="18" charset="0"/>
                            </a:rPr>
                            <m:t>𝛽</m:t>
                          </m:r>
                        </m:e>
                      </m:acc>
                      <m:r>
                        <a:rPr lang="fr-CA" sz="2000" b="0" i="1" smtClean="0">
                          <a:latin typeface="Cambria Math" panose="02040503050406030204" pitchFamily="18" charset="0"/>
                        </a:rPr>
                        <m:t>=</m:t>
                      </m:r>
                      <m:r>
                        <a:rPr lang="fr-CA" sz="2000" b="0" i="1" smtClean="0">
                          <a:latin typeface="Cambria Math" panose="02040503050406030204" pitchFamily="18" charset="0"/>
                        </a:rPr>
                        <m:t>𝑏</m:t>
                      </m:r>
                      <m:r>
                        <a:rPr lang="fr-CA" sz="2000" b="0" i="1" smtClean="0">
                          <a:latin typeface="Cambria Math" panose="02040503050406030204" pitchFamily="18" charset="0"/>
                        </a:rPr>
                        <m:t>=</m:t>
                      </m:r>
                      <m:f>
                        <m:fPr>
                          <m:ctrlPr>
                            <a:rPr lang="fr-CA" sz="2000" b="0" i="1" smtClean="0">
                              <a:latin typeface="Cambria Math" panose="02040503050406030204" pitchFamily="18" charset="0"/>
                            </a:rPr>
                          </m:ctrlPr>
                        </m:fPr>
                        <m:num>
                          <m:nary>
                            <m:naryPr>
                              <m:chr m:val="∑"/>
                              <m:ctrlPr>
                                <a:rPr lang="fr-CA" sz="2000" b="0" i="1" smtClean="0">
                                  <a:latin typeface="Cambria Math" panose="02040503050406030204" pitchFamily="18" charset="0"/>
                                </a:rPr>
                              </m:ctrlPr>
                            </m:naryPr>
                            <m:sub>
                              <m:r>
                                <m:rPr>
                                  <m:brk m:alnAt="23"/>
                                </m:rPr>
                                <a:rPr lang="fr-CA" sz="2000" b="0" i="1" smtClean="0">
                                  <a:latin typeface="Cambria Math" panose="02040503050406030204" pitchFamily="18" charset="0"/>
                                </a:rPr>
                                <m:t>𝑖</m:t>
                              </m:r>
                              <m:r>
                                <a:rPr lang="fr-CA" sz="2000" b="0" i="1" smtClean="0">
                                  <a:latin typeface="Cambria Math" panose="02040503050406030204" pitchFamily="18" charset="0"/>
                                </a:rPr>
                                <m:t>=1</m:t>
                              </m:r>
                            </m:sub>
                            <m:sup>
                              <m:r>
                                <a:rPr lang="fr-CA" sz="2000" b="0" i="1" smtClean="0">
                                  <a:latin typeface="Cambria Math" panose="02040503050406030204" pitchFamily="18" charset="0"/>
                                </a:rPr>
                                <m:t>𝑛</m:t>
                              </m:r>
                            </m:sup>
                            <m:e>
                              <m:r>
                                <a:rPr lang="fr-CA" sz="2000" b="0" i="1" smtClean="0">
                                  <a:latin typeface="Cambria Math" panose="02040503050406030204" pitchFamily="18" charset="0"/>
                                </a:rPr>
                                <m:t>(</m:t>
                              </m:r>
                              <m:sSub>
                                <m:sSubPr>
                                  <m:ctrlPr>
                                    <a:rPr lang="fr-CA" sz="2000" b="0" i="1" smtClean="0">
                                      <a:latin typeface="Cambria Math" panose="02040503050406030204" pitchFamily="18" charset="0"/>
                                    </a:rPr>
                                  </m:ctrlPr>
                                </m:sSubPr>
                                <m:e>
                                  <m:r>
                                    <a:rPr lang="fr-CA" sz="2000" b="0" i="1" smtClean="0">
                                      <a:latin typeface="Cambria Math" panose="02040503050406030204" pitchFamily="18" charset="0"/>
                                    </a:rPr>
                                    <m:t>𝑥</m:t>
                                  </m:r>
                                </m:e>
                                <m:sub>
                                  <m:r>
                                    <a:rPr lang="fr-CA" sz="2000" b="0" i="1" smtClean="0">
                                      <a:latin typeface="Cambria Math" panose="02040503050406030204" pitchFamily="18" charset="0"/>
                                    </a:rPr>
                                    <m:t>𝑖</m:t>
                                  </m:r>
                                </m:sub>
                              </m:sSub>
                              <m:r>
                                <a:rPr lang="fr-CA" sz="2000" b="0" i="1" smtClean="0">
                                  <a:latin typeface="Cambria Math" panose="02040503050406030204" pitchFamily="18" charset="0"/>
                                </a:rPr>
                                <m:t>−</m:t>
                              </m:r>
                              <m:acc>
                                <m:accPr>
                                  <m:chr m:val="̅"/>
                                  <m:ctrlPr>
                                    <a:rPr lang="fr-CA" sz="2000" b="0" i="1" smtClean="0">
                                      <a:latin typeface="Cambria Math" panose="02040503050406030204" pitchFamily="18" charset="0"/>
                                    </a:rPr>
                                  </m:ctrlPr>
                                </m:accPr>
                                <m:e>
                                  <m:r>
                                    <a:rPr lang="fr-CA" sz="2000" b="0" i="1" smtClean="0">
                                      <a:latin typeface="Cambria Math" panose="02040503050406030204" pitchFamily="18" charset="0"/>
                                    </a:rPr>
                                    <m:t>𝑥</m:t>
                                  </m:r>
                                </m:e>
                              </m:acc>
                              <m:r>
                                <a:rPr lang="fr-CA" sz="2000" b="0" i="1" smtClean="0">
                                  <a:latin typeface="Cambria Math" panose="02040503050406030204" pitchFamily="18" charset="0"/>
                                </a:rPr>
                                <m:t>)(</m:t>
                              </m:r>
                              <m:sSub>
                                <m:sSubPr>
                                  <m:ctrlPr>
                                    <a:rPr lang="fr-CA" sz="2000" b="0" i="1" smtClean="0">
                                      <a:latin typeface="Cambria Math" panose="02040503050406030204" pitchFamily="18" charset="0"/>
                                    </a:rPr>
                                  </m:ctrlPr>
                                </m:sSubPr>
                                <m:e>
                                  <m:r>
                                    <a:rPr lang="fr-CA" sz="2000" b="0" i="1" smtClean="0">
                                      <a:latin typeface="Cambria Math" panose="02040503050406030204" pitchFamily="18" charset="0"/>
                                    </a:rPr>
                                    <m:t>𝑦</m:t>
                                  </m:r>
                                </m:e>
                                <m:sub>
                                  <m:r>
                                    <a:rPr lang="fr-CA" sz="2000" b="0" i="1" smtClean="0">
                                      <a:latin typeface="Cambria Math" panose="02040503050406030204" pitchFamily="18" charset="0"/>
                                    </a:rPr>
                                    <m:t>𝑖</m:t>
                                  </m:r>
                                </m:sub>
                              </m:sSub>
                              <m:r>
                                <a:rPr lang="fr-CA" sz="2000" b="0" i="1" smtClean="0">
                                  <a:latin typeface="Cambria Math" panose="02040503050406030204" pitchFamily="18" charset="0"/>
                                </a:rPr>
                                <m:t>−</m:t>
                              </m:r>
                              <m:acc>
                                <m:accPr>
                                  <m:chr m:val="̅"/>
                                  <m:ctrlPr>
                                    <a:rPr lang="fr-CA" sz="2000" b="0" i="1" smtClean="0">
                                      <a:latin typeface="Cambria Math" panose="02040503050406030204" pitchFamily="18" charset="0"/>
                                    </a:rPr>
                                  </m:ctrlPr>
                                </m:accPr>
                                <m:e>
                                  <m:r>
                                    <a:rPr lang="fr-CA" sz="2000" b="0" i="1" smtClean="0">
                                      <a:latin typeface="Cambria Math" panose="02040503050406030204" pitchFamily="18" charset="0"/>
                                    </a:rPr>
                                    <m:t>𝑦</m:t>
                                  </m:r>
                                </m:e>
                              </m:acc>
                              <m:r>
                                <a:rPr lang="fr-CA" sz="2000" b="0" i="1" smtClean="0">
                                  <a:latin typeface="Cambria Math" panose="02040503050406030204" pitchFamily="18" charset="0"/>
                                </a:rPr>
                                <m:t>)</m:t>
                              </m:r>
                            </m:e>
                          </m:nary>
                        </m:num>
                        <m:den>
                          <m:nary>
                            <m:naryPr>
                              <m:chr m:val="∑"/>
                              <m:ctrlPr>
                                <a:rPr lang="fr-CA" sz="2000" b="0" i="1" smtClean="0">
                                  <a:latin typeface="Cambria Math" panose="02040503050406030204" pitchFamily="18" charset="0"/>
                                </a:rPr>
                              </m:ctrlPr>
                            </m:naryPr>
                            <m:sub>
                              <m:r>
                                <m:rPr>
                                  <m:brk m:alnAt="23"/>
                                </m:rPr>
                                <a:rPr lang="fr-CA" sz="2000" b="0" i="1" smtClean="0">
                                  <a:latin typeface="Cambria Math" panose="02040503050406030204" pitchFamily="18" charset="0"/>
                                </a:rPr>
                                <m:t>𝑖</m:t>
                              </m:r>
                              <m:r>
                                <a:rPr lang="fr-CA" sz="2000" b="0" i="1" smtClean="0">
                                  <a:latin typeface="Cambria Math" panose="02040503050406030204" pitchFamily="18" charset="0"/>
                                </a:rPr>
                                <m:t>=1</m:t>
                              </m:r>
                            </m:sub>
                            <m:sup>
                              <m:r>
                                <a:rPr lang="fr-CA" sz="2000" b="0" i="1" smtClean="0">
                                  <a:latin typeface="Cambria Math" panose="02040503050406030204" pitchFamily="18" charset="0"/>
                                </a:rPr>
                                <m:t>𝑛</m:t>
                              </m:r>
                            </m:sup>
                            <m:e>
                              <m:sSup>
                                <m:sSupPr>
                                  <m:ctrlPr>
                                    <a:rPr lang="fr-CA" sz="2000" b="0" i="1" smtClean="0">
                                      <a:latin typeface="Cambria Math" panose="02040503050406030204" pitchFamily="18" charset="0"/>
                                    </a:rPr>
                                  </m:ctrlPr>
                                </m:sSupPr>
                                <m:e>
                                  <m:r>
                                    <a:rPr lang="fr-CA" sz="2000" b="0" i="1" smtClean="0">
                                      <a:latin typeface="Cambria Math" panose="02040503050406030204" pitchFamily="18" charset="0"/>
                                    </a:rPr>
                                    <m:t>(</m:t>
                                  </m:r>
                                  <m:sSub>
                                    <m:sSubPr>
                                      <m:ctrlPr>
                                        <a:rPr lang="fr-CA" sz="2000" b="0" i="1" smtClean="0">
                                          <a:latin typeface="Cambria Math" panose="02040503050406030204" pitchFamily="18" charset="0"/>
                                        </a:rPr>
                                      </m:ctrlPr>
                                    </m:sSubPr>
                                    <m:e>
                                      <m:r>
                                        <a:rPr lang="fr-CA" sz="2000" b="0" i="1" smtClean="0">
                                          <a:latin typeface="Cambria Math" panose="02040503050406030204" pitchFamily="18" charset="0"/>
                                        </a:rPr>
                                        <m:t>𝑥</m:t>
                                      </m:r>
                                    </m:e>
                                    <m:sub>
                                      <m:r>
                                        <a:rPr lang="fr-CA" sz="2000" b="0" i="1" smtClean="0">
                                          <a:latin typeface="Cambria Math" panose="02040503050406030204" pitchFamily="18" charset="0"/>
                                        </a:rPr>
                                        <m:t>𝑖</m:t>
                                      </m:r>
                                    </m:sub>
                                  </m:sSub>
                                  <m:r>
                                    <a:rPr lang="fr-CA" sz="2000" b="0" i="1" smtClean="0">
                                      <a:latin typeface="Cambria Math" panose="02040503050406030204" pitchFamily="18" charset="0"/>
                                    </a:rPr>
                                    <m:t>−</m:t>
                                  </m:r>
                                  <m:acc>
                                    <m:accPr>
                                      <m:chr m:val="̅"/>
                                      <m:ctrlPr>
                                        <a:rPr lang="fr-CA" sz="2000" b="0" i="1" smtClean="0">
                                          <a:latin typeface="Cambria Math" panose="02040503050406030204" pitchFamily="18" charset="0"/>
                                        </a:rPr>
                                      </m:ctrlPr>
                                    </m:accPr>
                                    <m:e>
                                      <m:r>
                                        <a:rPr lang="fr-CA" sz="2000" b="0" i="1" smtClean="0">
                                          <a:latin typeface="Cambria Math" panose="02040503050406030204" pitchFamily="18" charset="0"/>
                                        </a:rPr>
                                        <m:t>𝑥</m:t>
                                      </m:r>
                                    </m:e>
                                  </m:acc>
                                  <m:r>
                                    <a:rPr lang="fr-CA" sz="2000" b="0" i="1" smtClean="0">
                                      <a:latin typeface="Cambria Math" panose="02040503050406030204" pitchFamily="18" charset="0"/>
                                    </a:rPr>
                                    <m:t>)</m:t>
                                  </m:r>
                                </m:e>
                                <m:sup>
                                  <m:r>
                                    <a:rPr lang="fr-CA" sz="2000" b="0" i="1" smtClean="0">
                                      <a:latin typeface="Cambria Math" panose="02040503050406030204" pitchFamily="18" charset="0"/>
                                    </a:rPr>
                                    <m:t>2</m:t>
                                  </m:r>
                                </m:sup>
                              </m:sSup>
                            </m:e>
                          </m:nary>
                        </m:den>
                      </m:f>
                      <m:r>
                        <a:rPr lang="fr-CA" sz="2000" b="0" i="1" smtClean="0">
                          <a:latin typeface="Cambria Math" panose="02040503050406030204" pitchFamily="18" charset="0"/>
                        </a:rPr>
                        <m:t>=</m:t>
                      </m:r>
                      <m:f>
                        <m:fPr>
                          <m:ctrlPr>
                            <a:rPr lang="fr-CA" sz="2000" b="0" i="1" smtClean="0">
                              <a:latin typeface="Cambria Math" panose="02040503050406030204" pitchFamily="18" charset="0"/>
                            </a:rPr>
                          </m:ctrlPr>
                        </m:fPr>
                        <m:num>
                          <m:nary>
                            <m:naryPr>
                              <m:chr m:val="∑"/>
                              <m:ctrlPr>
                                <a:rPr lang="fr-CA" sz="2000" b="0" i="1" smtClean="0">
                                  <a:latin typeface="Cambria Math" panose="02040503050406030204" pitchFamily="18" charset="0"/>
                                </a:rPr>
                              </m:ctrlPr>
                            </m:naryPr>
                            <m:sub>
                              <m:r>
                                <m:rPr>
                                  <m:brk m:alnAt="23"/>
                                </m:rPr>
                                <a:rPr lang="fr-CA" sz="2000" b="0" i="1" smtClean="0">
                                  <a:latin typeface="Cambria Math" panose="02040503050406030204" pitchFamily="18" charset="0"/>
                                </a:rPr>
                                <m:t>𝑖</m:t>
                              </m:r>
                              <m:r>
                                <a:rPr lang="fr-CA" sz="2000" b="0" i="1" smtClean="0">
                                  <a:latin typeface="Cambria Math" panose="02040503050406030204" pitchFamily="18" charset="0"/>
                                </a:rPr>
                                <m:t>=1</m:t>
                              </m:r>
                            </m:sub>
                            <m:sup>
                              <m:r>
                                <a:rPr lang="fr-CA" sz="2000" b="0" i="1" smtClean="0">
                                  <a:latin typeface="Cambria Math" panose="02040503050406030204" pitchFamily="18" charset="0"/>
                                </a:rPr>
                                <m:t>𝑛</m:t>
                              </m:r>
                            </m:sup>
                            <m:e>
                              <m:sSub>
                                <m:sSubPr>
                                  <m:ctrlPr>
                                    <a:rPr lang="fr-CA" sz="2000" b="0" i="1" smtClean="0">
                                      <a:latin typeface="Cambria Math" panose="02040503050406030204" pitchFamily="18" charset="0"/>
                                    </a:rPr>
                                  </m:ctrlPr>
                                </m:sSubPr>
                                <m:e>
                                  <m:r>
                                    <a:rPr lang="fr-CA" sz="2000" b="0" i="1" smtClean="0">
                                      <a:latin typeface="Cambria Math" panose="02040503050406030204" pitchFamily="18" charset="0"/>
                                    </a:rPr>
                                    <m:t>𝑥</m:t>
                                  </m:r>
                                </m:e>
                                <m:sub>
                                  <m:r>
                                    <a:rPr lang="fr-CA" sz="2000" b="0" i="1" smtClean="0">
                                      <a:latin typeface="Cambria Math" panose="02040503050406030204" pitchFamily="18" charset="0"/>
                                    </a:rPr>
                                    <m:t>𝑖</m:t>
                                  </m:r>
                                </m:sub>
                              </m:sSub>
                              <m:sSub>
                                <m:sSubPr>
                                  <m:ctrlPr>
                                    <a:rPr lang="fr-CA" sz="2000" b="0" i="1" smtClean="0">
                                      <a:latin typeface="Cambria Math" panose="02040503050406030204" pitchFamily="18" charset="0"/>
                                    </a:rPr>
                                  </m:ctrlPr>
                                </m:sSubPr>
                                <m:e>
                                  <m:r>
                                    <a:rPr lang="fr-CA" sz="2000" b="0" i="1" smtClean="0">
                                      <a:latin typeface="Cambria Math" panose="02040503050406030204" pitchFamily="18" charset="0"/>
                                    </a:rPr>
                                    <m:t>𝑦</m:t>
                                  </m:r>
                                </m:e>
                                <m:sub>
                                  <m:r>
                                    <a:rPr lang="fr-CA" sz="2000" b="0" i="1" smtClean="0">
                                      <a:latin typeface="Cambria Math" panose="02040503050406030204" pitchFamily="18" charset="0"/>
                                    </a:rPr>
                                    <m:t>𝑖</m:t>
                                  </m:r>
                                </m:sub>
                              </m:sSub>
                              <m:r>
                                <a:rPr lang="fr-CA" sz="2000" b="0" i="1" smtClean="0">
                                  <a:latin typeface="Cambria Math" panose="02040503050406030204" pitchFamily="18" charset="0"/>
                                </a:rPr>
                                <m:t>−</m:t>
                              </m:r>
                              <m:r>
                                <a:rPr lang="fr-CA" sz="2000" b="0" i="1" smtClean="0">
                                  <a:latin typeface="Cambria Math" panose="02040503050406030204" pitchFamily="18" charset="0"/>
                                </a:rPr>
                                <m:t>𝑛</m:t>
                              </m:r>
                              <m:r>
                                <a:rPr lang="fr-CA" sz="2000" b="0" i="1" smtClean="0">
                                  <a:latin typeface="Cambria Math" panose="02040503050406030204" pitchFamily="18" charset="0"/>
                                </a:rPr>
                                <m:t>∗</m:t>
                              </m:r>
                              <m:d>
                                <m:dPr>
                                  <m:ctrlPr>
                                    <a:rPr lang="fr-CA" sz="2000" b="0" i="1" smtClean="0">
                                      <a:latin typeface="Cambria Math" panose="02040503050406030204" pitchFamily="18" charset="0"/>
                                    </a:rPr>
                                  </m:ctrlPr>
                                </m:dPr>
                                <m:e>
                                  <m:acc>
                                    <m:accPr>
                                      <m:chr m:val="̅"/>
                                      <m:ctrlPr>
                                        <a:rPr lang="fr-CA" sz="2000" b="0" i="1" smtClean="0">
                                          <a:latin typeface="Cambria Math" panose="02040503050406030204" pitchFamily="18" charset="0"/>
                                        </a:rPr>
                                      </m:ctrlPr>
                                    </m:accPr>
                                    <m:e>
                                      <m:r>
                                        <a:rPr lang="fr-CA" sz="2000" b="0" i="1" smtClean="0">
                                          <a:latin typeface="Cambria Math" panose="02040503050406030204" pitchFamily="18" charset="0"/>
                                        </a:rPr>
                                        <m:t>𝑥</m:t>
                                      </m:r>
                                    </m:e>
                                  </m:acc>
                                </m:e>
                              </m:d>
                              <m:r>
                                <a:rPr lang="fr-CA" sz="2000" b="0" i="1" smtClean="0">
                                  <a:latin typeface="Cambria Math" panose="02040503050406030204" pitchFamily="18" charset="0"/>
                                </a:rPr>
                                <m:t>∗(</m:t>
                              </m:r>
                              <m:acc>
                                <m:accPr>
                                  <m:chr m:val="̅"/>
                                  <m:ctrlPr>
                                    <a:rPr lang="fr-CA" sz="2000" b="0" i="1" smtClean="0">
                                      <a:latin typeface="Cambria Math" panose="02040503050406030204" pitchFamily="18" charset="0"/>
                                    </a:rPr>
                                  </m:ctrlPr>
                                </m:accPr>
                                <m:e>
                                  <m:r>
                                    <a:rPr lang="fr-CA" sz="2000" b="0" i="1" smtClean="0">
                                      <a:latin typeface="Cambria Math" panose="02040503050406030204" pitchFamily="18" charset="0"/>
                                    </a:rPr>
                                    <m:t>𝑦</m:t>
                                  </m:r>
                                </m:e>
                              </m:acc>
                              <m:r>
                                <a:rPr lang="fr-CA" sz="2000" b="0" i="1" smtClean="0">
                                  <a:latin typeface="Cambria Math" panose="02040503050406030204" pitchFamily="18" charset="0"/>
                                </a:rPr>
                                <m:t>)</m:t>
                              </m:r>
                            </m:e>
                          </m:nary>
                        </m:num>
                        <m:den>
                          <m:nary>
                            <m:naryPr>
                              <m:chr m:val="∑"/>
                              <m:ctrlPr>
                                <a:rPr lang="fr-CA" sz="2000" b="0" i="1" smtClean="0">
                                  <a:latin typeface="Cambria Math" panose="02040503050406030204" pitchFamily="18" charset="0"/>
                                </a:rPr>
                              </m:ctrlPr>
                            </m:naryPr>
                            <m:sub>
                              <m:r>
                                <m:rPr>
                                  <m:brk m:alnAt="23"/>
                                </m:rPr>
                                <a:rPr lang="fr-CA" sz="2000" b="0" i="1" smtClean="0">
                                  <a:latin typeface="Cambria Math" panose="02040503050406030204" pitchFamily="18" charset="0"/>
                                </a:rPr>
                                <m:t>𝑖</m:t>
                              </m:r>
                              <m:r>
                                <a:rPr lang="fr-CA" sz="2000" b="0" i="1" smtClean="0">
                                  <a:latin typeface="Cambria Math" panose="02040503050406030204" pitchFamily="18" charset="0"/>
                                </a:rPr>
                                <m:t>=1</m:t>
                              </m:r>
                            </m:sub>
                            <m:sup>
                              <m:r>
                                <a:rPr lang="fr-CA" sz="2000" b="0" i="1" smtClean="0">
                                  <a:latin typeface="Cambria Math" panose="02040503050406030204" pitchFamily="18" charset="0"/>
                                </a:rPr>
                                <m:t>𝑛</m:t>
                              </m:r>
                            </m:sup>
                            <m:e>
                              <m:sSubSup>
                                <m:sSubSupPr>
                                  <m:ctrlPr>
                                    <a:rPr lang="fr-CA" sz="2000" b="0" i="1" smtClean="0">
                                      <a:latin typeface="Cambria Math" panose="02040503050406030204" pitchFamily="18" charset="0"/>
                                    </a:rPr>
                                  </m:ctrlPr>
                                </m:sSubSupPr>
                                <m:e>
                                  <m:r>
                                    <a:rPr lang="fr-CA" sz="2000" b="0" i="1" smtClean="0">
                                      <a:latin typeface="Cambria Math" panose="02040503050406030204" pitchFamily="18" charset="0"/>
                                    </a:rPr>
                                    <m:t>𝑥</m:t>
                                  </m:r>
                                </m:e>
                                <m:sub>
                                  <m:r>
                                    <a:rPr lang="fr-CA" sz="2000" b="0" i="1" smtClean="0">
                                      <a:latin typeface="Cambria Math" panose="02040503050406030204" pitchFamily="18" charset="0"/>
                                    </a:rPr>
                                    <m:t>𝑖</m:t>
                                  </m:r>
                                </m:sub>
                                <m:sup>
                                  <m:r>
                                    <a:rPr lang="fr-CA" sz="2000" b="0" i="1" smtClean="0">
                                      <a:latin typeface="Cambria Math" panose="02040503050406030204" pitchFamily="18" charset="0"/>
                                    </a:rPr>
                                    <m:t>2</m:t>
                                  </m:r>
                                </m:sup>
                              </m:sSubSup>
                              <m:r>
                                <a:rPr lang="fr-CA" sz="2000" b="0" i="1" smtClean="0">
                                  <a:latin typeface="Cambria Math" panose="02040503050406030204" pitchFamily="18" charset="0"/>
                                </a:rPr>
                                <m:t>−</m:t>
                              </m:r>
                              <m:r>
                                <a:rPr lang="fr-CA" sz="2000" b="0" i="1" smtClean="0">
                                  <a:latin typeface="Cambria Math" panose="02040503050406030204" pitchFamily="18" charset="0"/>
                                </a:rPr>
                                <m:t>𝑛</m:t>
                              </m:r>
                              <m:sSup>
                                <m:sSupPr>
                                  <m:ctrlPr>
                                    <a:rPr lang="fr-CA" sz="2000" b="0" i="1" smtClean="0">
                                      <a:latin typeface="Cambria Math" panose="02040503050406030204" pitchFamily="18" charset="0"/>
                                    </a:rPr>
                                  </m:ctrlPr>
                                </m:sSupPr>
                                <m:e>
                                  <m:r>
                                    <a:rPr lang="fr-CA" sz="2000" b="0" i="1" smtClean="0">
                                      <a:latin typeface="Cambria Math" panose="02040503050406030204" pitchFamily="18" charset="0"/>
                                    </a:rPr>
                                    <m:t>(</m:t>
                                  </m:r>
                                  <m:acc>
                                    <m:accPr>
                                      <m:chr m:val="̅"/>
                                      <m:ctrlPr>
                                        <a:rPr lang="fr-CA" sz="2000" b="0" i="1" smtClean="0">
                                          <a:latin typeface="Cambria Math" panose="02040503050406030204" pitchFamily="18" charset="0"/>
                                        </a:rPr>
                                      </m:ctrlPr>
                                    </m:accPr>
                                    <m:e>
                                      <m:r>
                                        <a:rPr lang="fr-CA" sz="2000" b="0" i="1" smtClean="0">
                                          <a:latin typeface="Cambria Math" panose="02040503050406030204" pitchFamily="18" charset="0"/>
                                        </a:rPr>
                                        <m:t>𝑥</m:t>
                                      </m:r>
                                    </m:e>
                                  </m:acc>
                                  <m:r>
                                    <a:rPr lang="fr-CA" sz="2000" b="0" i="1" smtClean="0">
                                      <a:latin typeface="Cambria Math" panose="02040503050406030204" pitchFamily="18" charset="0"/>
                                    </a:rPr>
                                    <m:t>)</m:t>
                                  </m:r>
                                </m:e>
                                <m:sup>
                                  <m:r>
                                    <a:rPr lang="fr-CA" sz="2000" b="0" i="1" smtClean="0">
                                      <a:latin typeface="Cambria Math" panose="02040503050406030204" pitchFamily="18" charset="0"/>
                                    </a:rPr>
                                    <m:t>2</m:t>
                                  </m:r>
                                </m:sup>
                              </m:sSup>
                            </m:e>
                          </m:nary>
                        </m:den>
                      </m:f>
                    </m:oMath>
                  </m:oMathPara>
                </a14:m>
                <a:endParaRPr lang="fr-CA" sz="2000" dirty="0"/>
              </a:p>
              <a:p>
                <a:endParaRPr lang="fr-CA" sz="2000" dirty="0"/>
              </a:p>
              <a:p>
                <a:endParaRPr lang="fr-CA" sz="2000" dirty="0"/>
              </a:p>
              <a:p>
                <a:endParaRPr lang="fr-CA" sz="2000" dirty="0"/>
              </a:p>
              <a:p>
                <a:r>
                  <a:rPr lang="fr-CA" sz="2000" dirty="0"/>
                  <a:t>Et            </a:t>
                </a:r>
                <a14:m>
                  <m:oMath xmlns:m="http://schemas.openxmlformats.org/officeDocument/2006/math">
                    <m:acc>
                      <m:accPr>
                        <m:chr m:val="̂"/>
                        <m:ctrlPr>
                          <a:rPr lang="fr-CA" sz="2000" i="1" smtClean="0">
                            <a:latin typeface="Cambria Math" panose="02040503050406030204" pitchFamily="18" charset="0"/>
                          </a:rPr>
                        </m:ctrlPr>
                      </m:accPr>
                      <m:e>
                        <m:r>
                          <a:rPr lang="fr-CA" sz="2000" i="1" smtClean="0">
                            <a:latin typeface="Cambria Math" panose="02040503050406030204" pitchFamily="18" charset="0"/>
                            <a:ea typeface="Cambria Math" panose="02040503050406030204" pitchFamily="18" charset="0"/>
                          </a:rPr>
                          <m:t>𝛼</m:t>
                        </m:r>
                      </m:e>
                    </m:acc>
                    <m:r>
                      <a:rPr lang="fr-CA" sz="2000" b="0" i="1" smtClean="0">
                        <a:latin typeface="Cambria Math" panose="02040503050406030204" pitchFamily="18" charset="0"/>
                      </a:rPr>
                      <m:t>=</m:t>
                    </m:r>
                    <m:r>
                      <a:rPr lang="fr-CA" sz="2000" b="0" i="1" smtClean="0">
                        <a:latin typeface="Cambria Math" panose="02040503050406030204" pitchFamily="18" charset="0"/>
                      </a:rPr>
                      <m:t>𝑎</m:t>
                    </m:r>
                    <m:r>
                      <a:rPr lang="fr-CA" sz="2000" b="0" i="1" smtClean="0">
                        <a:latin typeface="Cambria Math" panose="02040503050406030204" pitchFamily="18" charset="0"/>
                      </a:rPr>
                      <m:t>=</m:t>
                    </m:r>
                    <m:acc>
                      <m:accPr>
                        <m:chr m:val="̅"/>
                        <m:ctrlPr>
                          <a:rPr lang="fr-CA" sz="2000" b="0" i="1" smtClean="0">
                            <a:latin typeface="Cambria Math" panose="02040503050406030204" pitchFamily="18" charset="0"/>
                          </a:rPr>
                        </m:ctrlPr>
                      </m:accPr>
                      <m:e>
                        <m:r>
                          <a:rPr lang="fr-CA" sz="2000" b="0" i="1" smtClean="0">
                            <a:latin typeface="Cambria Math" panose="02040503050406030204" pitchFamily="18" charset="0"/>
                          </a:rPr>
                          <m:t>𝑦</m:t>
                        </m:r>
                      </m:e>
                    </m:acc>
                    <m:r>
                      <a:rPr lang="fr-CA" sz="2000" b="0" i="1" smtClean="0">
                        <a:latin typeface="Cambria Math" panose="02040503050406030204" pitchFamily="18" charset="0"/>
                      </a:rPr>
                      <m:t>−</m:t>
                    </m:r>
                    <m:r>
                      <a:rPr lang="fr-CA" sz="2000" b="0" i="1" smtClean="0">
                        <a:latin typeface="Cambria Math" panose="02040503050406030204" pitchFamily="18" charset="0"/>
                      </a:rPr>
                      <m:t>𝑏</m:t>
                    </m:r>
                    <m:r>
                      <a:rPr lang="fr-CA" sz="2000" b="0" i="1" smtClean="0">
                        <a:latin typeface="Cambria Math" panose="02040503050406030204" pitchFamily="18" charset="0"/>
                      </a:rPr>
                      <m:t>∗</m:t>
                    </m:r>
                    <m:acc>
                      <m:accPr>
                        <m:chr m:val="̅"/>
                        <m:ctrlPr>
                          <a:rPr lang="fr-CA" sz="2000" b="0" i="1" smtClean="0">
                            <a:latin typeface="Cambria Math" panose="02040503050406030204" pitchFamily="18" charset="0"/>
                          </a:rPr>
                        </m:ctrlPr>
                      </m:accPr>
                      <m:e>
                        <m:r>
                          <a:rPr lang="fr-CA" sz="2000" b="0" i="1" smtClean="0">
                            <a:latin typeface="Cambria Math" panose="02040503050406030204" pitchFamily="18" charset="0"/>
                          </a:rPr>
                          <m:t>𝑥</m:t>
                        </m:r>
                      </m:e>
                    </m:acc>
                  </m:oMath>
                </a14:m>
                <a:endParaRPr lang="fr-CA" sz="2000" dirty="0"/>
              </a:p>
              <a:p>
                <a:endParaRPr lang="fr-CA" sz="2000" dirty="0"/>
              </a:p>
              <a:p>
                <a:endParaRPr lang="fr-CA" sz="2000" dirty="0"/>
              </a:p>
              <a:p>
                <a:r>
                  <a:rPr lang="fr-CA" sz="2000" dirty="0"/>
                  <a:t>L’équation de régression linéaire entre ces deux variables est alors:</a:t>
                </a:r>
              </a:p>
              <a:p>
                <a:endParaRPr lang="fr-CA" sz="2000" dirty="0"/>
              </a:p>
              <a:p>
                <a:pPr/>
                <a14:m>
                  <m:oMathPara xmlns:m="http://schemas.openxmlformats.org/officeDocument/2006/math">
                    <m:oMathParaPr>
                      <m:jc m:val="centerGroup"/>
                    </m:oMathParaPr>
                    <m:oMath xmlns:m="http://schemas.openxmlformats.org/officeDocument/2006/math">
                      <m:acc>
                        <m:accPr>
                          <m:chr m:val="̂"/>
                          <m:ctrlPr>
                            <a:rPr lang="fr-CA" sz="2000" i="1" smtClean="0">
                              <a:latin typeface="Cambria Math" panose="02040503050406030204" pitchFamily="18" charset="0"/>
                            </a:rPr>
                          </m:ctrlPr>
                        </m:accPr>
                        <m:e>
                          <m:r>
                            <a:rPr lang="fr-CA" sz="2000" b="0" i="1" smtClean="0">
                              <a:latin typeface="Cambria Math" panose="02040503050406030204" pitchFamily="18" charset="0"/>
                            </a:rPr>
                            <m:t>𝑦</m:t>
                          </m:r>
                        </m:e>
                      </m:acc>
                      <m:r>
                        <a:rPr lang="fr-CA" sz="2000" b="0" i="0" smtClean="0">
                          <a:latin typeface="Cambria Math" panose="02040503050406030204" pitchFamily="18" charset="0"/>
                        </a:rPr>
                        <m:t>=</m:t>
                      </m:r>
                      <m:r>
                        <m:rPr>
                          <m:sty m:val="p"/>
                        </m:rPr>
                        <a:rPr lang="fr-CA" sz="2000" b="0" i="0" smtClean="0">
                          <a:latin typeface="Cambria Math" panose="02040503050406030204" pitchFamily="18" charset="0"/>
                        </a:rPr>
                        <m:t>a</m:t>
                      </m:r>
                      <m:r>
                        <a:rPr lang="fr-CA" sz="2000" b="0" i="0" smtClean="0">
                          <a:latin typeface="Cambria Math" panose="02040503050406030204" pitchFamily="18" charset="0"/>
                        </a:rPr>
                        <m:t>+</m:t>
                      </m:r>
                      <m:r>
                        <m:rPr>
                          <m:sty m:val="p"/>
                        </m:rPr>
                        <a:rPr lang="fr-CA" sz="2000" b="0" i="0" smtClean="0">
                          <a:latin typeface="Cambria Math" panose="02040503050406030204" pitchFamily="18" charset="0"/>
                        </a:rPr>
                        <m:t>b</m:t>
                      </m:r>
                      <m:r>
                        <a:rPr lang="fr-CA" sz="2000" b="0" i="0" smtClean="0">
                          <a:latin typeface="Cambria Math" panose="02040503050406030204" pitchFamily="18" charset="0"/>
                        </a:rPr>
                        <m:t>∗</m:t>
                      </m:r>
                      <m:r>
                        <m:rPr>
                          <m:sty m:val="p"/>
                        </m:rPr>
                        <a:rPr lang="fr-CA" sz="2000" b="0" i="0" smtClean="0">
                          <a:latin typeface="Cambria Math" panose="02040503050406030204" pitchFamily="18" charset="0"/>
                        </a:rPr>
                        <m:t>x</m:t>
                      </m:r>
                    </m:oMath>
                  </m:oMathPara>
                </a14:m>
                <a:endParaRPr lang="fr-CA" sz="2000" dirty="0"/>
              </a:p>
              <a:p>
                <a:r>
                  <a:rPr lang="fr-FR" sz="2000" dirty="0">
                    <a:solidFill>
                      <a:srgbClr val="000000"/>
                    </a:solidFill>
                    <a:effectLst/>
                    <a:latin typeface="Times New Roman" panose="02020603050405020304" pitchFamily="18" charset="0"/>
                    <a:ea typeface="Times New Roman" panose="02020603050405020304" pitchFamily="18" charset="0"/>
                  </a:rPr>
                  <a:t>Si </a:t>
                </a:r>
                <a:r>
                  <a:rPr lang="fr-FR" sz="2000" i="1" dirty="0">
                    <a:solidFill>
                      <a:srgbClr val="000000"/>
                    </a:solidFill>
                    <a:effectLst/>
                    <a:latin typeface="Times New Roman" panose="02020603050405020304" pitchFamily="18" charset="0"/>
                    <a:ea typeface="Times New Roman" panose="02020603050405020304" pitchFamily="18" charset="0"/>
                  </a:rPr>
                  <a:t>b</a:t>
                </a:r>
                <a:r>
                  <a:rPr lang="fr-FR" sz="2000" dirty="0">
                    <a:solidFill>
                      <a:srgbClr val="000000"/>
                    </a:solidFill>
                    <a:effectLst/>
                    <a:latin typeface="Times New Roman" panose="02020603050405020304" pitchFamily="18" charset="0"/>
                    <a:ea typeface="Times New Roman" panose="02020603050405020304" pitchFamily="18" charset="0"/>
                  </a:rPr>
                  <a:t> est positif, alors la droite est ascendante et les deux variables varient dans le même sens. Cependant, si </a:t>
                </a:r>
                <a:r>
                  <a:rPr lang="fr-FR" sz="2000" i="1" dirty="0">
                    <a:solidFill>
                      <a:srgbClr val="000000"/>
                    </a:solidFill>
                    <a:effectLst/>
                    <a:latin typeface="Times New Roman" panose="02020603050405020304" pitchFamily="18" charset="0"/>
                    <a:ea typeface="Times New Roman" panose="02020603050405020304" pitchFamily="18" charset="0"/>
                  </a:rPr>
                  <a:t>b</a:t>
                </a:r>
                <a:r>
                  <a:rPr lang="fr-FR" sz="2000" dirty="0">
                    <a:solidFill>
                      <a:srgbClr val="000000"/>
                    </a:solidFill>
                    <a:effectLst/>
                    <a:latin typeface="Times New Roman" panose="02020603050405020304" pitchFamily="18" charset="0"/>
                    <a:ea typeface="Times New Roman" panose="02020603050405020304" pitchFamily="18" charset="0"/>
                  </a:rPr>
                  <a:t> est négatif, la droite de régression est descendante et les deux variables varient dans des sens opposés : si l’une augmente, l’autre diminue.</a:t>
                </a:r>
                <a:endParaRPr lang="fr-CA" sz="2000" dirty="0">
                  <a:solidFill>
                    <a:srgbClr val="000000"/>
                  </a:solidFill>
                  <a:effectLst/>
                  <a:latin typeface="Times New Roman" panose="02020603050405020304" pitchFamily="18" charset="0"/>
                  <a:ea typeface="Times New Roman" panose="02020603050405020304" pitchFamily="18" charset="0"/>
                </a:endParaRPr>
              </a:p>
              <a:p>
                <a:endParaRPr lang="fr-CA" dirty="0"/>
              </a:p>
            </p:txBody>
          </p:sp>
        </mc:Choice>
        <mc:Fallback xmlns="">
          <p:sp>
            <p:nvSpPr>
              <p:cNvPr id="5" name="ZoneTexte 4">
                <a:extLst>
                  <a:ext uri="{FF2B5EF4-FFF2-40B4-BE49-F238E27FC236}">
                    <a16:creationId xmlns:a16="http://schemas.microsoft.com/office/drawing/2014/main" id="{6F3A7C13-701F-4000-B88D-8D9112E0175E}"/>
                  </a:ext>
                </a:extLst>
              </p:cNvPr>
              <p:cNvSpPr txBox="1">
                <a:spLocks noRot="1" noChangeAspect="1" noMove="1" noResize="1" noEditPoints="1" noAdjustHandles="1" noChangeArrowheads="1" noChangeShapeType="1" noTextEdit="1"/>
              </p:cNvSpPr>
              <p:nvPr/>
            </p:nvSpPr>
            <p:spPr>
              <a:xfrm>
                <a:off x="1304365" y="1869142"/>
                <a:ext cx="9224682" cy="4748031"/>
              </a:xfrm>
              <a:prstGeom prst="rect">
                <a:avLst/>
              </a:prstGeom>
              <a:blipFill>
                <a:blip r:embed="rId2"/>
                <a:stretch>
                  <a:fillRect l="-727"/>
                </a:stretch>
              </a:blipFill>
            </p:spPr>
            <p:txBody>
              <a:bodyPr/>
              <a:lstStyle/>
              <a:p>
                <a:r>
                  <a:rPr lang="fr-CA">
                    <a:noFill/>
                  </a:rPr>
                  <a:t> </a:t>
                </a:r>
              </a:p>
            </p:txBody>
          </p:sp>
        </mc:Fallback>
      </mc:AlternateContent>
    </p:spTree>
    <p:extLst>
      <p:ext uri="{BB962C8B-B14F-4D97-AF65-F5344CB8AC3E}">
        <p14:creationId xmlns:p14="http://schemas.microsoft.com/office/powerpoint/2010/main" val="6631769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1974B2-F282-45A6-A61F-DDDDED9287AF}"/>
              </a:ext>
            </a:extLst>
          </p:cNvPr>
          <p:cNvSpPr>
            <a:spLocks noGrp="1"/>
          </p:cNvSpPr>
          <p:nvPr>
            <p:ph type="title"/>
          </p:nvPr>
        </p:nvSpPr>
        <p:spPr>
          <a:xfrm>
            <a:off x="838200" y="365126"/>
            <a:ext cx="10515600" cy="818216"/>
          </a:xfrm>
        </p:spPr>
        <p:txBody>
          <a:bodyPr/>
          <a:lstStyle/>
          <a:p>
            <a:r>
              <a:rPr lang="fr-CA" dirty="0"/>
              <a:t>Traitement des données à la main:</a:t>
            </a:r>
          </a:p>
        </p:txBody>
      </p:sp>
      <p:sp>
        <p:nvSpPr>
          <p:cNvPr id="3" name="Espace réservé du pied de page 2">
            <a:extLst>
              <a:ext uri="{FF2B5EF4-FFF2-40B4-BE49-F238E27FC236}">
                <a16:creationId xmlns:a16="http://schemas.microsoft.com/office/drawing/2014/main" id="{65A1EADB-317E-4CFE-8893-FA49A5E7BAEF}"/>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88D39457-64CA-4BC0-B602-5C5FD4B388EA}"/>
              </a:ext>
            </a:extLst>
          </p:cNvPr>
          <p:cNvSpPr>
            <a:spLocks noGrp="1"/>
          </p:cNvSpPr>
          <p:nvPr>
            <p:ph type="sldNum" sz="quarter" idx="12"/>
          </p:nvPr>
        </p:nvSpPr>
        <p:spPr/>
        <p:txBody>
          <a:bodyPr/>
          <a:lstStyle/>
          <a:p>
            <a:fld id="{26377AD9-CE17-438C-A638-C64D2D42D7CF}" type="slidenum">
              <a:rPr lang="fr-CA" smtClean="0"/>
              <a:t>10</a:t>
            </a:fld>
            <a:endParaRPr lang="fr-CA"/>
          </a:p>
        </p:txBody>
      </p:sp>
      <mc:AlternateContent xmlns:mc="http://schemas.openxmlformats.org/markup-compatibility/2006" xmlns:a14="http://schemas.microsoft.com/office/drawing/2010/main">
        <mc:Choice Requires="a14">
          <p:graphicFrame>
            <p:nvGraphicFramePr>
              <p:cNvPr id="14" name="Tableau 13">
                <a:extLst>
                  <a:ext uri="{FF2B5EF4-FFF2-40B4-BE49-F238E27FC236}">
                    <a16:creationId xmlns:a16="http://schemas.microsoft.com/office/drawing/2014/main" id="{22E0D318-E1EE-4EDB-9A30-6800D44E1384}"/>
                  </a:ext>
                </a:extLst>
              </p:cNvPr>
              <p:cNvGraphicFramePr>
                <a:graphicFrameLocks noGrp="1"/>
              </p:cNvGraphicFramePr>
              <p:nvPr>
                <p:extLst>
                  <p:ext uri="{D42A27DB-BD31-4B8C-83A1-F6EECF244321}">
                    <p14:modId xmlns:p14="http://schemas.microsoft.com/office/powerpoint/2010/main" val="53882076"/>
                  </p:ext>
                </p:extLst>
              </p:nvPr>
            </p:nvGraphicFramePr>
            <p:xfrm>
              <a:off x="838200" y="1479176"/>
              <a:ext cx="10753167" cy="4877172"/>
            </p:xfrm>
            <a:graphic>
              <a:graphicData uri="http://schemas.openxmlformats.org/drawingml/2006/table">
                <a:tbl>
                  <a:tblPr>
                    <a:tableStyleId>{5C22544A-7EE6-4342-B048-85BDC9FD1C3A}</a:tableStyleId>
                  </a:tblPr>
                  <a:tblGrid>
                    <a:gridCol w="1320489">
                      <a:extLst>
                        <a:ext uri="{9D8B030D-6E8A-4147-A177-3AD203B41FA5}">
                          <a16:colId xmlns:a16="http://schemas.microsoft.com/office/drawing/2014/main" val="160739242"/>
                        </a:ext>
                      </a:extLst>
                    </a:gridCol>
                    <a:gridCol w="2359245">
                      <a:extLst>
                        <a:ext uri="{9D8B030D-6E8A-4147-A177-3AD203B41FA5}">
                          <a16:colId xmlns:a16="http://schemas.microsoft.com/office/drawing/2014/main" val="111152396"/>
                        </a:ext>
                      </a:extLst>
                    </a:gridCol>
                    <a:gridCol w="2359245">
                      <a:extLst>
                        <a:ext uri="{9D8B030D-6E8A-4147-A177-3AD203B41FA5}">
                          <a16:colId xmlns:a16="http://schemas.microsoft.com/office/drawing/2014/main" val="2337203539"/>
                        </a:ext>
                      </a:extLst>
                    </a:gridCol>
                    <a:gridCol w="2359245">
                      <a:extLst>
                        <a:ext uri="{9D8B030D-6E8A-4147-A177-3AD203B41FA5}">
                          <a16:colId xmlns:a16="http://schemas.microsoft.com/office/drawing/2014/main" val="2142173623"/>
                        </a:ext>
                      </a:extLst>
                    </a:gridCol>
                    <a:gridCol w="2354943">
                      <a:extLst>
                        <a:ext uri="{9D8B030D-6E8A-4147-A177-3AD203B41FA5}">
                          <a16:colId xmlns:a16="http://schemas.microsoft.com/office/drawing/2014/main" val="2174297217"/>
                        </a:ext>
                      </a:extLst>
                    </a:gridCol>
                  </a:tblGrid>
                  <a:tr h="370503">
                    <a:tc gridSpan="5">
                      <a:txBody>
                        <a:bodyPr/>
                        <a:lstStyle/>
                        <a:p>
                          <a:pPr algn="ctr">
                            <a:lnSpc>
                              <a:spcPts val="1200"/>
                            </a:lnSpc>
                            <a:spcAft>
                              <a:spcPts val="1000"/>
                            </a:spcAft>
                          </a:pPr>
                          <a:r>
                            <a:rPr lang="fr-FR" sz="1400" dirty="0">
                              <a:effectLst/>
                            </a:rPr>
                            <a:t>Calculs intermédiaires sur les données de la température et du taux d’ozone</a:t>
                          </a:r>
                          <a:endParaRPr lang="fr-CA" sz="1400" b="1" dirty="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63500" marB="63500" anchor="ctr"/>
                    </a:tc>
                    <a:tc hMerge="1">
                      <a:txBody>
                        <a:bodyPr/>
                        <a:lstStyle/>
                        <a:p>
                          <a:endParaRPr lang="fr-CA"/>
                        </a:p>
                      </a:txBody>
                      <a:tcPr/>
                    </a:tc>
                    <a:tc hMerge="1">
                      <a:txBody>
                        <a:bodyPr/>
                        <a:lstStyle/>
                        <a:p>
                          <a:endParaRPr lang="fr-CA"/>
                        </a:p>
                      </a:txBody>
                      <a:tcPr/>
                    </a:tc>
                    <a:tc hMerge="1">
                      <a:txBody>
                        <a:bodyPr/>
                        <a:lstStyle/>
                        <a:p>
                          <a:endParaRPr lang="fr-CA"/>
                        </a:p>
                      </a:txBody>
                      <a:tcPr/>
                    </a:tc>
                    <a:tc hMerge="1">
                      <a:txBody>
                        <a:bodyPr/>
                        <a:lstStyle/>
                        <a:p>
                          <a:endParaRPr lang="fr-CA"/>
                        </a:p>
                      </a:txBody>
                      <a:tcPr/>
                    </a:tc>
                    <a:extLst>
                      <a:ext uri="{0D108BD9-81ED-4DB2-BD59-A6C34878D82A}">
                        <a16:rowId xmlns:a16="http://schemas.microsoft.com/office/drawing/2014/main" val="3758539412"/>
                      </a:ext>
                    </a:extLst>
                  </a:tr>
                  <a:tr h="505232">
                    <a:tc>
                      <a:txBody>
                        <a:bodyPr/>
                        <a:lstStyle/>
                        <a:p>
                          <a:pPr algn="ctr">
                            <a:lnSpc>
                              <a:spcPts val="1200"/>
                            </a:lnSpc>
                            <a:spcAft>
                              <a:spcPts val="1000"/>
                            </a:spcAft>
                          </a:pPr>
                          <a:r>
                            <a:rPr lang="fr-FR" sz="1000">
                              <a:effectLst/>
                            </a:rPr>
                            <a:t>Journée</a:t>
                          </a:r>
                          <a:endParaRPr lang="fr-CA" sz="10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spcAft>
                              <a:spcPts val="1000"/>
                            </a:spcAft>
                          </a:pPr>
                          <a14:m>
                            <m:oMathPara xmlns:m="http://schemas.openxmlformats.org/officeDocument/2006/math">
                              <m:oMathParaPr>
                                <m:jc m:val="centerGroup"/>
                              </m:oMathParaPr>
                              <m:oMath xmlns:m="http://schemas.openxmlformats.org/officeDocument/2006/math">
                                <m:sSub>
                                  <m:sSubPr>
                                    <m:ctrlPr>
                                      <a:rPr lang="fr-CA" sz="1400" i="1">
                                        <a:effectLst/>
                                        <a:latin typeface="Cambria Math" panose="02040503050406030204" pitchFamily="18" charset="0"/>
                                      </a:rPr>
                                    </m:ctrlPr>
                                  </m:sSubPr>
                                  <m:e>
                                    <m:r>
                                      <a:rPr lang="fr-FR" sz="1400">
                                        <a:effectLst/>
                                        <a:latin typeface="Cambria Math" panose="02040503050406030204" pitchFamily="18" charset="0"/>
                                      </a:rPr>
                                      <m:t>𝒙</m:t>
                                    </m:r>
                                  </m:e>
                                  <m:sub>
                                    <m:r>
                                      <a:rPr lang="fr-FR" sz="1400">
                                        <a:effectLst/>
                                        <a:latin typeface="Cambria Math" panose="02040503050406030204" pitchFamily="18" charset="0"/>
                                      </a:rPr>
                                      <m:t>𝒊</m:t>
                                    </m:r>
                                  </m:sub>
                                </m:sSub>
                              </m:oMath>
                            </m:oMathPara>
                          </a14:m>
                          <a:endParaRPr lang="fr-CA" sz="1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spcAft>
                              <a:spcPts val="1000"/>
                            </a:spcAft>
                          </a:pPr>
                          <a14:m>
                            <m:oMathPara xmlns:m="http://schemas.openxmlformats.org/officeDocument/2006/math">
                              <m:oMathParaPr>
                                <m:jc m:val="centerGroup"/>
                              </m:oMathParaPr>
                              <m:oMath xmlns:m="http://schemas.openxmlformats.org/officeDocument/2006/math">
                                <m:sSub>
                                  <m:sSubPr>
                                    <m:ctrlPr>
                                      <a:rPr lang="fr-CA" sz="1400" i="1">
                                        <a:effectLst/>
                                        <a:latin typeface="Cambria Math" panose="02040503050406030204" pitchFamily="18" charset="0"/>
                                      </a:rPr>
                                    </m:ctrlPr>
                                  </m:sSubPr>
                                  <m:e>
                                    <m:r>
                                      <a:rPr lang="fr-FR" sz="1400">
                                        <a:effectLst/>
                                        <a:latin typeface="Cambria Math" panose="02040503050406030204" pitchFamily="18" charset="0"/>
                                      </a:rPr>
                                      <m:t>𝒚</m:t>
                                    </m:r>
                                  </m:e>
                                  <m:sub>
                                    <m:r>
                                      <a:rPr lang="fr-FR" sz="1400">
                                        <a:effectLst/>
                                        <a:latin typeface="Cambria Math" panose="02040503050406030204" pitchFamily="18" charset="0"/>
                                      </a:rPr>
                                      <m:t>𝒊</m:t>
                                    </m:r>
                                  </m:sub>
                                </m:sSub>
                              </m:oMath>
                            </m:oMathPara>
                          </a14:m>
                          <a:endParaRPr lang="fr-CA" sz="14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spcAft>
                              <a:spcPts val="1000"/>
                            </a:spcAft>
                          </a:pPr>
                          <a14:m>
                            <m:oMathPara xmlns:m="http://schemas.openxmlformats.org/officeDocument/2006/math">
                              <m:oMathParaPr>
                                <m:jc m:val="centerGroup"/>
                              </m:oMathParaPr>
                              <m:oMath xmlns:m="http://schemas.openxmlformats.org/officeDocument/2006/math">
                                <m:sSub>
                                  <m:sSubPr>
                                    <m:ctrlPr>
                                      <a:rPr lang="fr-CA" sz="1400" i="1">
                                        <a:effectLst/>
                                        <a:latin typeface="Cambria Math" panose="02040503050406030204" pitchFamily="18" charset="0"/>
                                      </a:rPr>
                                    </m:ctrlPr>
                                  </m:sSubPr>
                                  <m:e>
                                    <m:r>
                                      <a:rPr lang="fr-FR" sz="1400">
                                        <a:effectLst/>
                                        <a:latin typeface="Cambria Math" panose="02040503050406030204" pitchFamily="18" charset="0"/>
                                      </a:rPr>
                                      <m:t>𝒙</m:t>
                                    </m:r>
                                  </m:e>
                                  <m:sub>
                                    <m:r>
                                      <a:rPr lang="fr-FR" sz="1400">
                                        <a:effectLst/>
                                        <a:latin typeface="Cambria Math" panose="02040503050406030204" pitchFamily="18" charset="0"/>
                                      </a:rPr>
                                      <m:t>𝒊</m:t>
                                    </m:r>
                                  </m:sub>
                                </m:sSub>
                                <m:r>
                                  <a:rPr lang="fr-FR" sz="1400">
                                    <a:effectLst/>
                                    <a:latin typeface="Cambria Math" panose="02040503050406030204" pitchFamily="18" charset="0"/>
                                  </a:rPr>
                                  <m:t>×</m:t>
                                </m:r>
                                <m:sSub>
                                  <m:sSubPr>
                                    <m:ctrlPr>
                                      <a:rPr lang="fr-CA" sz="1400" i="1">
                                        <a:effectLst/>
                                        <a:latin typeface="Cambria Math" panose="02040503050406030204" pitchFamily="18" charset="0"/>
                                      </a:rPr>
                                    </m:ctrlPr>
                                  </m:sSubPr>
                                  <m:e>
                                    <m:r>
                                      <a:rPr lang="fr-FR" sz="1400">
                                        <a:effectLst/>
                                        <a:latin typeface="Cambria Math" panose="02040503050406030204" pitchFamily="18" charset="0"/>
                                      </a:rPr>
                                      <m:t>𝒚</m:t>
                                    </m:r>
                                  </m:e>
                                  <m:sub>
                                    <m:r>
                                      <a:rPr lang="fr-FR" sz="1400">
                                        <a:effectLst/>
                                        <a:latin typeface="Cambria Math" panose="02040503050406030204" pitchFamily="18" charset="0"/>
                                      </a:rPr>
                                      <m:t>𝒊</m:t>
                                    </m:r>
                                  </m:sub>
                                </m:sSub>
                              </m:oMath>
                            </m:oMathPara>
                          </a14:m>
                          <a:endParaRPr lang="fr-CA" sz="14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spcAft>
                              <a:spcPts val="1000"/>
                            </a:spcAft>
                          </a:pPr>
                          <a14:m>
                            <m:oMathPara xmlns:m="http://schemas.openxmlformats.org/officeDocument/2006/math">
                              <m:oMathParaPr>
                                <m:jc m:val="centerGroup"/>
                              </m:oMathParaPr>
                              <m:oMath xmlns:m="http://schemas.openxmlformats.org/officeDocument/2006/math">
                                <m:sSubSup>
                                  <m:sSubSupPr>
                                    <m:ctrlPr>
                                      <a:rPr lang="fr-CA" sz="1400" i="1">
                                        <a:effectLst/>
                                        <a:latin typeface="Cambria Math" panose="02040503050406030204" pitchFamily="18" charset="0"/>
                                      </a:rPr>
                                    </m:ctrlPr>
                                  </m:sSubSupPr>
                                  <m:e>
                                    <m:r>
                                      <a:rPr lang="fr-FR" sz="1400">
                                        <a:effectLst/>
                                        <a:latin typeface="Cambria Math" panose="02040503050406030204" pitchFamily="18" charset="0"/>
                                      </a:rPr>
                                      <m:t>𝒙</m:t>
                                    </m:r>
                                  </m:e>
                                  <m:sub>
                                    <m:r>
                                      <a:rPr lang="fr-FR" sz="1400">
                                        <a:effectLst/>
                                        <a:latin typeface="Cambria Math" panose="02040503050406030204" pitchFamily="18" charset="0"/>
                                      </a:rPr>
                                      <m:t>𝒊</m:t>
                                    </m:r>
                                  </m:sub>
                                  <m:sup>
                                    <m:r>
                                      <a:rPr lang="fr-FR" sz="1400">
                                        <a:effectLst/>
                                        <a:latin typeface="Cambria Math" panose="02040503050406030204" pitchFamily="18" charset="0"/>
                                      </a:rPr>
                                      <m:t>𝟐</m:t>
                                    </m:r>
                                  </m:sup>
                                </m:sSubSup>
                              </m:oMath>
                            </m:oMathPara>
                          </a14:m>
                          <a:endParaRPr lang="fr-CA" sz="14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3597950305"/>
                      </a:ext>
                    </a:extLst>
                  </a:tr>
                  <a:tr h="363767">
                    <a:tc>
                      <a:txBody>
                        <a:bodyPr/>
                        <a:lstStyle/>
                        <a:p>
                          <a:pPr algn="ctr">
                            <a:lnSpc>
                              <a:spcPts val="1200"/>
                            </a:lnSpc>
                          </a:pPr>
                          <a:r>
                            <a:rPr lang="fr-FR" sz="1000">
                              <a:effectLst/>
                            </a:rPr>
                            <a:t>1</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dirty="0">
                              <a:effectLst/>
                            </a:rPr>
                            <a:t>23,9</a:t>
                          </a:r>
                          <a:endParaRPr lang="fr-CA"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dirty="0">
                              <a:effectLst/>
                            </a:rPr>
                            <a:t>118,9</a:t>
                          </a:r>
                          <a:endParaRPr lang="fr-CA"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2841,71</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517,21</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2008741609"/>
                      </a:ext>
                    </a:extLst>
                  </a:tr>
                  <a:tr h="363767">
                    <a:tc>
                      <a:txBody>
                        <a:bodyPr/>
                        <a:lstStyle/>
                        <a:p>
                          <a:pPr algn="ctr">
                            <a:lnSpc>
                              <a:spcPts val="1200"/>
                            </a:lnSpc>
                          </a:pPr>
                          <a:r>
                            <a:rPr lang="fr-FR" sz="1000">
                              <a:effectLst/>
                            </a:rPr>
                            <a:t>2</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32,8</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dirty="0">
                              <a:effectLst/>
                            </a:rPr>
                            <a:t>143,8</a:t>
                          </a:r>
                          <a:endParaRPr lang="fr-CA"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4716,64</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1075,84</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3393748423"/>
                      </a:ext>
                    </a:extLst>
                  </a:tr>
                  <a:tr h="363767">
                    <a:tc>
                      <a:txBody>
                        <a:bodyPr/>
                        <a:lstStyle/>
                        <a:p>
                          <a:pPr algn="ctr">
                            <a:lnSpc>
                              <a:spcPts val="1200"/>
                            </a:lnSpc>
                          </a:pPr>
                          <a:r>
                            <a:rPr lang="fr-FR" sz="1000">
                              <a:effectLst/>
                            </a:rPr>
                            <a:t>3</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23,7</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dirty="0">
                              <a:effectLst/>
                            </a:rPr>
                            <a:t>116,2</a:t>
                          </a:r>
                          <a:endParaRPr lang="fr-CA"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2753,94</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561,69</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1261828703"/>
                      </a:ext>
                    </a:extLst>
                  </a:tr>
                  <a:tr h="363767">
                    <a:tc>
                      <a:txBody>
                        <a:bodyPr/>
                        <a:lstStyle/>
                        <a:p>
                          <a:pPr algn="ctr">
                            <a:lnSpc>
                              <a:spcPts val="1200"/>
                            </a:lnSpc>
                          </a:pPr>
                          <a:r>
                            <a:rPr lang="fr-FR" sz="1000">
                              <a:effectLst/>
                            </a:rPr>
                            <a:t>4</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7,4</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dirty="0">
                              <a:effectLst/>
                            </a:rPr>
                            <a:t>87,6</a:t>
                          </a:r>
                          <a:endParaRPr lang="fr-CA"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648,24</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54,76</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2439231925"/>
                      </a:ext>
                    </a:extLst>
                  </a:tr>
                  <a:tr h="363767">
                    <a:tc>
                      <a:txBody>
                        <a:bodyPr/>
                        <a:lstStyle/>
                        <a:p>
                          <a:pPr algn="ctr">
                            <a:lnSpc>
                              <a:spcPts val="1200"/>
                            </a:lnSpc>
                          </a:pPr>
                          <a:r>
                            <a:rPr lang="fr-FR" sz="1000">
                              <a:effectLst/>
                            </a:rPr>
                            <a:t>5</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19,7</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dirty="0">
                              <a:effectLst/>
                            </a:rPr>
                            <a:t>100,9</a:t>
                          </a:r>
                          <a:endParaRPr lang="fr-CA"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1987,73</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388,09</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3898629436"/>
                      </a:ext>
                    </a:extLst>
                  </a:tr>
                  <a:tr h="363767">
                    <a:tc>
                      <a:txBody>
                        <a:bodyPr/>
                        <a:lstStyle/>
                        <a:p>
                          <a:pPr algn="ctr">
                            <a:lnSpc>
                              <a:spcPts val="1200"/>
                            </a:lnSpc>
                          </a:pPr>
                          <a:r>
                            <a:rPr lang="fr-FR" sz="1000">
                              <a:effectLst/>
                            </a:rPr>
                            <a:t>6</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30,7</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dirty="0">
                              <a:effectLst/>
                            </a:rPr>
                            <a:t>134,8</a:t>
                          </a:r>
                          <a:endParaRPr lang="fr-CA"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4138,36</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942,49</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336879367"/>
                      </a:ext>
                    </a:extLst>
                  </a:tr>
                  <a:tr h="363767">
                    <a:tc>
                      <a:txBody>
                        <a:bodyPr/>
                        <a:lstStyle/>
                        <a:p>
                          <a:pPr algn="ctr">
                            <a:lnSpc>
                              <a:spcPts val="1200"/>
                            </a:lnSpc>
                          </a:pPr>
                          <a:r>
                            <a:rPr lang="fr-FR" sz="1000">
                              <a:effectLst/>
                            </a:rPr>
                            <a:t>7</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28,9</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dirty="0">
                              <a:effectLst/>
                            </a:rPr>
                            <a:t>98,7</a:t>
                          </a:r>
                          <a:endParaRPr lang="fr-CA"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dirty="0">
                              <a:effectLst/>
                            </a:rPr>
                            <a:t>2852,43</a:t>
                          </a:r>
                          <a:endParaRPr lang="fr-CA"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835,21</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3894903641"/>
                      </a:ext>
                    </a:extLst>
                  </a:tr>
                  <a:tr h="363767">
                    <a:tc>
                      <a:txBody>
                        <a:bodyPr/>
                        <a:lstStyle/>
                        <a:p>
                          <a:pPr algn="ctr">
                            <a:lnSpc>
                              <a:spcPts val="1200"/>
                            </a:lnSpc>
                          </a:pPr>
                          <a:r>
                            <a:rPr lang="fr-FR" sz="1000">
                              <a:effectLst/>
                            </a:rPr>
                            <a:t>8</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25,4</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78,6</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dirty="0">
                              <a:effectLst/>
                            </a:rPr>
                            <a:t>1996,44</a:t>
                          </a:r>
                          <a:endParaRPr lang="fr-CA"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645,16</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1253985299"/>
                      </a:ext>
                    </a:extLst>
                  </a:tr>
                  <a:tr h="363767">
                    <a:tc>
                      <a:txBody>
                        <a:bodyPr/>
                        <a:lstStyle/>
                        <a:p>
                          <a:pPr algn="ctr">
                            <a:lnSpc>
                              <a:spcPts val="1200"/>
                            </a:lnSpc>
                          </a:pPr>
                          <a:r>
                            <a:rPr lang="fr-FR" sz="1000">
                              <a:effectLst/>
                            </a:rPr>
                            <a:t>9</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28,9</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109,2</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dirty="0">
                              <a:effectLst/>
                            </a:rPr>
                            <a:t>3155,88</a:t>
                          </a:r>
                          <a:endParaRPr lang="fr-CA"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dirty="0">
                              <a:effectLst/>
                            </a:rPr>
                            <a:t>835,21</a:t>
                          </a:r>
                          <a:endParaRPr lang="fr-CA"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152130891"/>
                      </a:ext>
                    </a:extLst>
                  </a:tr>
                  <a:tr h="363767">
                    <a:tc>
                      <a:txBody>
                        <a:bodyPr/>
                        <a:lstStyle/>
                        <a:p>
                          <a:pPr algn="ctr">
                            <a:lnSpc>
                              <a:spcPts val="1200"/>
                            </a:lnSpc>
                          </a:pPr>
                          <a:r>
                            <a:rPr lang="fr-FR" sz="1000">
                              <a:effectLst/>
                            </a:rPr>
                            <a:t>10</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27,5</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102,6</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2821,15</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dirty="0">
                              <a:effectLst/>
                            </a:rPr>
                            <a:t>756,25</a:t>
                          </a:r>
                          <a:endParaRPr lang="fr-CA"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1918980373"/>
                      </a:ext>
                    </a:extLst>
                  </a:tr>
                  <a:tr h="363767">
                    <a:tc>
                      <a:txBody>
                        <a:bodyPr/>
                        <a:lstStyle/>
                        <a:p>
                          <a:pPr algn="ctr">
                            <a:lnSpc>
                              <a:spcPts val="1200"/>
                            </a:lnSpc>
                          </a:pPr>
                          <a:r>
                            <a:rPr lang="fr-FR" sz="1000">
                              <a:effectLst/>
                            </a:rPr>
                            <a:t>Total</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ctr">
                            <a:lnSpc>
                              <a:spcPts val="1200"/>
                            </a:lnSpc>
                          </a:pPr>
                          <a:r>
                            <a:rPr lang="fr-FR" sz="1400">
                              <a:effectLst/>
                            </a:rPr>
                            <a:t>248,9</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ctr">
                            <a:lnSpc>
                              <a:spcPts val="1200"/>
                            </a:lnSpc>
                          </a:pPr>
                          <a:r>
                            <a:rPr lang="fr-FR" sz="1400">
                              <a:effectLst/>
                            </a:rPr>
                            <a:t>1091,3</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ctr">
                            <a:lnSpc>
                              <a:spcPts val="1200"/>
                            </a:lnSpc>
                          </a:pPr>
                          <a:r>
                            <a:rPr lang="fr-FR" sz="1400">
                              <a:effectLst/>
                            </a:rPr>
                            <a:t>27 912,87</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dirty="0">
                              <a:effectLst/>
                            </a:rPr>
                            <a:t>6665,91</a:t>
                          </a:r>
                          <a:endParaRPr lang="fr-CA"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1973658614"/>
                      </a:ext>
                    </a:extLst>
                  </a:tr>
                </a:tbl>
              </a:graphicData>
            </a:graphic>
          </p:graphicFrame>
        </mc:Choice>
        <mc:Fallback xmlns="">
          <p:graphicFrame>
            <p:nvGraphicFramePr>
              <p:cNvPr id="14" name="Tableau 13">
                <a:extLst>
                  <a:ext uri="{FF2B5EF4-FFF2-40B4-BE49-F238E27FC236}">
                    <a16:creationId xmlns:a16="http://schemas.microsoft.com/office/drawing/2014/main" id="{22E0D318-E1EE-4EDB-9A30-6800D44E1384}"/>
                  </a:ext>
                </a:extLst>
              </p:cNvPr>
              <p:cNvGraphicFramePr>
                <a:graphicFrameLocks noGrp="1"/>
              </p:cNvGraphicFramePr>
              <p:nvPr>
                <p:extLst>
                  <p:ext uri="{D42A27DB-BD31-4B8C-83A1-F6EECF244321}">
                    <p14:modId xmlns:p14="http://schemas.microsoft.com/office/powerpoint/2010/main" val="53882076"/>
                  </p:ext>
                </p:extLst>
              </p:nvPr>
            </p:nvGraphicFramePr>
            <p:xfrm>
              <a:off x="838200" y="1479176"/>
              <a:ext cx="10753167" cy="4877172"/>
            </p:xfrm>
            <a:graphic>
              <a:graphicData uri="http://schemas.openxmlformats.org/drawingml/2006/table">
                <a:tbl>
                  <a:tblPr>
                    <a:tableStyleId>{5C22544A-7EE6-4342-B048-85BDC9FD1C3A}</a:tableStyleId>
                  </a:tblPr>
                  <a:tblGrid>
                    <a:gridCol w="1320489">
                      <a:extLst>
                        <a:ext uri="{9D8B030D-6E8A-4147-A177-3AD203B41FA5}">
                          <a16:colId xmlns:a16="http://schemas.microsoft.com/office/drawing/2014/main" val="160739242"/>
                        </a:ext>
                      </a:extLst>
                    </a:gridCol>
                    <a:gridCol w="2359245">
                      <a:extLst>
                        <a:ext uri="{9D8B030D-6E8A-4147-A177-3AD203B41FA5}">
                          <a16:colId xmlns:a16="http://schemas.microsoft.com/office/drawing/2014/main" val="111152396"/>
                        </a:ext>
                      </a:extLst>
                    </a:gridCol>
                    <a:gridCol w="2359245">
                      <a:extLst>
                        <a:ext uri="{9D8B030D-6E8A-4147-A177-3AD203B41FA5}">
                          <a16:colId xmlns:a16="http://schemas.microsoft.com/office/drawing/2014/main" val="2337203539"/>
                        </a:ext>
                      </a:extLst>
                    </a:gridCol>
                    <a:gridCol w="2359245">
                      <a:extLst>
                        <a:ext uri="{9D8B030D-6E8A-4147-A177-3AD203B41FA5}">
                          <a16:colId xmlns:a16="http://schemas.microsoft.com/office/drawing/2014/main" val="2142173623"/>
                        </a:ext>
                      </a:extLst>
                    </a:gridCol>
                    <a:gridCol w="2354943">
                      <a:extLst>
                        <a:ext uri="{9D8B030D-6E8A-4147-A177-3AD203B41FA5}">
                          <a16:colId xmlns:a16="http://schemas.microsoft.com/office/drawing/2014/main" val="2174297217"/>
                        </a:ext>
                      </a:extLst>
                    </a:gridCol>
                  </a:tblGrid>
                  <a:tr h="370503">
                    <a:tc gridSpan="5">
                      <a:txBody>
                        <a:bodyPr/>
                        <a:lstStyle/>
                        <a:p>
                          <a:pPr algn="ctr">
                            <a:lnSpc>
                              <a:spcPts val="1200"/>
                            </a:lnSpc>
                            <a:spcAft>
                              <a:spcPts val="1000"/>
                            </a:spcAft>
                          </a:pPr>
                          <a:r>
                            <a:rPr lang="fr-FR" sz="1400" dirty="0">
                              <a:effectLst/>
                            </a:rPr>
                            <a:t>Calculs intermédiaires sur les données de la température et du taux d’ozone</a:t>
                          </a:r>
                          <a:endParaRPr lang="fr-CA" sz="1400" b="1" dirty="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63500" marB="63500" anchor="ctr"/>
                    </a:tc>
                    <a:tc hMerge="1">
                      <a:txBody>
                        <a:bodyPr/>
                        <a:lstStyle/>
                        <a:p>
                          <a:endParaRPr lang="fr-CA"/>
                        </a:p>
                      </a:txBody>
                      <a:tcPr/>
                    </a:tc>
                    <a:tc hMerge="1">
                      <a:txBody>
                        <a:bodyPr/>
                        <a:lstStyle/>
                        <a:p>
                          <a:endParaRPr lang="fr-CA"/>
                        </a:p>
                      </a:txBody>
                      <a:tcPr/>
                    </a:tc>
                    <a:tc hMerge="1">
                      <a:txBody>
                        <a:bodyPr/>
                        <a:lstStyle/>
                        <a:p>
                          <a:endParaRPr lang="fr-CA"/>
                        </a:p>
                      </a:txBody>
                      <a:tcPr/>
                    </a:tc>
                    <a:tc hMerge="1">
                      <a:txBody>
                        <a:bodyPr/>
                        <a:lstStyle/>
                        <a:p>
                          <a:endParaRPr lang="fr-CA"/>
                        </a:p>
                      </a:txBody>
                      <a:tcPr/>
                    </a:tc>
                    <a:extLst>
                      <a:ext uri="{0D108BD9-81ED-4DB2-BD59-A6C34878D82A}">
                        <a16:rowId xmlns:a16="http://schemas.microsoft.com/office/drawing/2014/main" val="3758539412"/>
                      </a:ext>
                    </a:extLst>
                  </a:tr>
                  <a:tr h="505232">
                    <a:tc>
                      <a:txBody>
                        <a:bodyPr/>
                        <a:lstStyle/>
                        <a:p>
                          <a:pPr algn="ctr">
                            <a:lnSpc>
                              <a:spcPts val="1200"/>
                            </a:lnSpc>
                            <a:spcAft>
                              <a:spcPts val="1000"/>
                            </a:spcAft>
                          </a:pPr>
                          <a:r>
                            <a:rPr lang="fr-FR" sz="1000">
                              <a:effectLst/>
                            </a:rPr>
                            <a:t>Journée</a:t>
                          </a:r>
                          <a:endParaRPr lang="fr-CA" sz="1000" b="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endParaRPr lang="fr-FR"/>
                        </a:p>
                      </a:txBody>
                      <a:tcPr marL="50800" marR="50800" marT="50800" marB="50800" anchor="ctr">
                        <a:blipFill>
                          <a:blip r:embed="rId3"/>
                          <a:stretch>
                            <a:fillRect l="-56331" t="-74699" r="-300517" b="-793976"/>
                          </a:stretch>
                        </a:blipFill>
                      </a:tcPr>
                    </a:tc>
                    <a:tc>
                      <a:txBody>
                        <a:bodyPr/>
                        <a:lstStyle/>
                        <a:p>
                          <a:endParaRPr lang="fr-FR"/>
                        </a:p>
                      </a:txBody>
                      <a:tcPr marL="50800" marR="50800" marT="50800" marB="50800" anchor="ctr">
                        <a:blipFill>
                          <a:blip r:embed="rId3"/>
                          <a:stretch>
                            <a:fillRect l="-156331" t="-74699" r="-200517" b="-793976"/>
                          </a:stretch>
                        </a:blipFill>
                      </a:tcPr>
                    </a:tc>
                    <a:tc>
                      <a:txBody>
                        <a:bodyPr/>
                        <a:lstStyle/>
                        <a:p>
                          <a:endParaRPr lang="fr-FR"/>
                        </a:p>
                      </a:txBody>
                      <a:tcPr marL="50800" marR="50800" marT="50800" marB="50800" anchor="ctr">
                        <a:blipFill>
                          <a:blip r:embed="rId3"/>
                          <a:stretch>
                            <a:fillRect l="-256331" t="-74699" r="-100517" b="-793976"/>
                          </a:stretch>
                        </a:blipFill>
                      </a:tcPr>
                    </a:tc>
                    <a:tc>
                      <a:txBody>
                        <a:bodyPr/>
                        <a:lstStyle/>
                        <a:p>
                          <a:endParaRPr lang="fr-FR"/>
                        </a:p>
                      </a:txBody>
                      <a:tcPr marL="50800" marR="50800" marT="50800" marB="50800" anchor="ctr">
                        <a:blipFill>
                          <a:blip r:embed="rId3"/>
                          <a:stretch>
                            <a:fillRect l="-356331" t="-74699" r="-517" b="-793976"/>
                          </a:stretch>
                        </a:blipFill>
                      </a:tcPr>
                    </a:tc>
                    <a:extLst>
                      <a:ext uri="{0D108BD9-81ED-4DB2-BD59-A6C34878D82A}">
                        <a16:rowId xmlns:a16="http://schemas.microsoft.com/office/drawing/2014/main" val="3597950305"/>
                      </a:ext>
                    </a:extLst>
                  </a:tr>
                  <a:tr h="363767">
                    <a:tc>
                      <a:txBody>
                        <a:bodyPr/>
                        <a:lstStyle/>
                        <a:p>
                          <a:pPr algn="ctr">
                            <a:lnSpc>
                              <a:spcPts val="1200"/>
                            </a:lnSpc>
                          </a:pPr>
                          <a:r>
                            <a:rPr lang="fr-FR" sz="1000">
                              <a:effectLst/>
                            </a:rPr>
                            <a:t>1</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dirty="0">
                              <a:effectLst/>
                            </a:rPr>
                            <a:t>23,9</a:t>
                          </a:r>
                          <a:endParaRPr lang="fr-CA"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dirty="0">
                              <a:effectLst/>
                            </a:rPr>
                            <a:t>118,9</a:t>
                          </a:r>
                          <a:endParaRPr lang="fr-CA"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2841,71</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517,21</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2008741609"/>
                      </a:ext>
                    </a:extLst>
                  </a:tr>
                  <a:tr h="363767">
                    <a:tc>
                      <a:txBody>
                        <a:bodyPr/>
                        <a:lstStyle/>
                        <a:p>
                          <a:pPr algn="ctr">
                            <a:lnSpc>
                              <a:spcPts val="1200"/>
                            </a:lnSpc>
                          </a:pPr>
                          <a:r>
                            <a:rPr lang="fr-FR" sz="1000">
                              <a:effectLst/>
                            </a:rPr>
                            <a:t>2</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32,8</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dirty="0">
                              <a:effectLst/>
                            </a:rPr>
                            <a:t>143,8</a:t>
                          </a:r>
                          <a:endParaRPr lang="fr-CA"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4716,64</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1075,84</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3393748423"/>
                      </a:ext>
                    </a:extLst>
                  </a:tr>
                  <a:tr h="363767">
                    <a:tc>
                      <a:txBody>
                        <a:bodyPr/>
                        <a:lstStyle/>
                        <a:p>
                          <a:pPr algn="ctr">
                            <a:lnSpc>
                              <a:spcPts val="1200"/>
                            </a:lnSpc>
                          </a:pPr>
                          <a:r>
                            <a:rPr lang="fr-FR" sz="1000">
                              <a:effectLst/>
                            </a:rPr>
                            <a:t>3</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23,7</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dirty="0">
                              <a:effectLst/>
                            </a:rPr>
                            <a:t>116,2</a:t>
                          </a:r>
                          <a:endParaRPr lang="fr-CA"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2753,94</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561,69</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1261828703"/>
                      </a:ext>
                    </a:extLst>
                  </a:tr>
                  <a:tr h="363767">
                    <a:tc>
                      <a:txBody>
                        <a:bodyPr/>
                        <a:lstStyle/>
                        <a:p>
                          <a:pPr algn="ctr">
                            <a:lnSpc>
                              <a:spcPts val="1200"/>
                            </a:lnSpc>
                          </a:pPr>
                          <a:r>
                            <a:rPr lang="fr-FR" sz="1000">
                              <a:effectLst/>
                            </a:rPr>
                            <a:t>4</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7,4</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dirty="0">
                              <a:effectLst/>
                            </a:rPr>
                            <a:t>87,6</a:t>
                          </a:r>
                          <a:endParaRPr lang="fr-CA"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648,24</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54,76</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2439231925"/>
                      </a:ext>
                    </a:extLst>
                  </a:tr>
                  <a:tr h="363767">
                    <a:tc>
                      <a:txBody>
                        <a:bodyPr/>
                        <a:lstStyle/>
                        <a:p>
                          <a:pPr algn="ctr">
                            <a:lnSpc>
                              <a:spcPts val="1200"/>
                            </a:lnSpc>
                          </a:pPr>
                          <a:r>
                            <a:rPr lang="fr-FR" sz="1000">
                              <a:effectLst/>
                            </a:rPr>
                            <a:t>5</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19,7</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dirty="0">
                              <a:effectLst/>
                            </a:rPr>
                            <a:t>100,9</a:t>
                          </a:r>
                          <a:endParaRPr lang="fr-CA"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1987,73</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388,09</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3898629436"/>
                      </a:ext>
                    </a:extLst>
                  </a:tr>
                  <a:tr h="363767">
                    <a:tc>
                      <a:txBody>
                        <a:bodyPr/>
                        <a:lstStyle/>
                        <a:p>
                          <a:pPr algn="ctr">
                            <a:lnSpc>
                              <a:spcPts val="1200"/>
                            </a:lnSpc>
                          </a:pPr>
                          <a:r>
                            <a:rPr lang="fr-FR" sz="1000">
                              <a:effectLst/>
                            </a:rPr>
                            <a:t>6</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30,7</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dirty="0">
                              <a:effectLst/>
                            </a:rPr>
                            <a:t>134,8</a:t>
                          </a:r>
                          <a:endParaRPr lang="fr-CA"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4138,36</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942,49</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336879367"/>
                      </a:ext>
                    </a:extLst>
                  </a:tr>
                  <a:tr h="363767">
                    <a:tc>
                      <a:txBody>
                        <a:bodyPr/>
                        <a:lstStyle/>
                        <a:p>
                          <a:pPr algn="ctr">
                            <a:lnSpc>
                              <a:spcPts val="1200"/>
                            </a:lnSpc>
                          </a:pPr>
                          <a:r>
                            <a:rPr lang="fr-FR" sz="1000">
                              <a:effectLst/>
                            </a:rPr>
                            <a:t>7</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28,9</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dirty="0">
                              <a:effectLst/>
                            </a:rPr>
                            <a:t>98,7</a:t>
                          </a:r>
                          <a:endParaRPr lang="fr-CA"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dirty="0">
                              <a:effectLst/>
                            </a:rPr>
                            <a:t>2852,43</a:t>
                          </a:r>
                          <a:endParaRPr lang="fr-CA"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835,21</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3894903641"/>
                      </a:ext>
                    </a:extLst>
                  </a:tr>
                  <a:tr h="363767">
                    <a:tc>
                      <a:txBody>
                        <a:bodyPr/>
                        <a:lstStyle/>
                        <a:p>
                          <a:pPr algn="ctr">
                            <a:lnSpc>
                              <a:spcPts val="1200"/>
                            </a:lnSpc>
                          </a:pPr>
                          <a:r>
                            <a:rPr lang="fr-FR" sz="1000">
                              <a:effectLst/>
                            </a:rPr>
                            <a:t>8</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25,4</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78,6</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dirty="0">
                              <a:effectLst/>
                            </a:rPr>
                            <a:t>1996,44</a:t>
                          </a:r>
                          <a:endParaRPr lang="fr-CA"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645,16</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1253985299"/>
                      </a:ext>
                    </a:extLst>
                  </a:tr>
                  <a:tr h="363767">
                    <a:tc>
                      <a:txBody>
                        <a:bodyPr/>
                        <a:lstStyle/>
                        <a:p>
                          <a:pPr algn="ctr">
                            <a:lnSpc>
                              <a:spcPts val="1200"/>
                            </a:lnSpc>
                          </a:pPr>
                          <a:r>
                            <a:rPr lang="fr-FR" sz="1000">
                              <a:effectLst/>
                            </a:rPr>
                            <a:t>9</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28,9</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109,2</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dirty="0">
                              <a:effectLst/>
                            </a:rPr>
                            <a:t>3155,88</a:t>
                          </a:r>
                          <a:endParaRPr lang="fr-CA"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dirty="0">
                              <a:effectLst/>
                            </a:rPr>
                            <a:t>835,21</a:t>
                          </a:r>
                          <a:endParaRPr lang="fr-CA"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152130891"/>
                      </a:ext>
                    </a:extLst>
                  </a:tr>
                  <a:tr h="363767">
                    <a:tc>
                      <a:txBody>
                        <a:bodyPr/>
                        <a:lstStyle/>
                        <a:p>
                          <a:pPr algn="ctr">
                            <a:lnSpc>
                              <a:spcPts val="1200"/>
                            </a:lnSpc>
                          </a:pPr>
                          <a:r>
                            <a:rPr lang="fr-FR" sz="1000">
                              <a:effectLst/>
                            </a:rPr>
                            <a:t>10</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27,5</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102,6</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a:effectLst/>
                            </a:rPr>
                            <a:t>2821,15</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dirty="0">
                              <a:effectLst/>
                            </a:rPr>
                            <a:t>756,25</a:t>
                          </a:r>
                          <a:endParaRPr lang="fr-CA"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extLst>
                      <a:ext uri="{0D108BD9-81ED-4DB2-BD59-A6C34878D82A}">
                        <a16:rowId xmlns:a16="http://schemas.microsoft.com/office/drawing/2014/main" val="1918980373"/>
                      </a:ext>
                    </a:extLst>
                  </a:tr>
                  <a:tr h="363767">
                    <a:tc>
                      <a:txBody>
                        <a:bodyPr/>
                        <a:lstStyle/>
                        <a:p>
                          <a:pPr algn="ctr">
                            <a:lnSpc>
                              <a:spcPts val="1200"/>
                            </a:lnSpc>
                          </a:pPr>
                          <a:r>
                            <a:rPr lang="fr-FR" sz="1000">
                              <a:effectLst/>
                            </a:rPr>
                            <a:t>Total</a:t>
                          </a:r>
                          <a:endParaRPr lang="fr-CA" sz="1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ctr">
                            <a:lnSpc>
                              <a:spcPts val="1200"/>
                            </a:lnSpc>
                          </a:pPr>
                          <a:r>
                            <a:rPr lang="fr-FR" sz="1400">
                              <a:effectLst/>
                            </a:rPr>
                            <a:t>248,9</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ctr">
                            <a:lnSpc>
                              <a:spcPts val="1200"/>
                            </a:lnSpc>
                          </a:pPr>
                          <a:r>
                            <a:rPr lang="fr-FR" sz="1400">
                              <a:effectLst/>
                            </a:rPr>
                            <a:t>1091,3</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ctr">
                            <a:lnSpc>
                              <a:spcPts val="1200"/>
                            </a:lnSpc>
                          </a:pPr>
                          <a:r>
                            <a:rPr lang="fr-FR" sz="1400">
                              <a:effectLst/>
                            </a:rPr>
                            <a:t>27 912,87</a:t>
                          </a:r>
                          <a:endParaRPr lang="fr-CA" sz="14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0800" marR="50800" marT="50800" marB="50800" anchor="ctr"/>
                    </a:tc>
                    <a:tc>
                      <a:txBody>
                        <a:bodyPr/>
                        <a:lstStyle/>
                        <a:p>
                          <a:pPr algn="ctr">
                            <a:lnSpc>
                              <a:spcPts val="1200"/>
                            </a:lnSpc>
                          </a:pPr>
                          <a:r>
                            <a:rPr lang="fr-FR" sz="1400" dirty="0">
                              <a:effectLst/>
                            </a:rPr>
                            <a:t>6665,91</a:t>
                          </a:r>
                          <a:endParaRPr lang="fr-CA"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1973658614"/>
                      </a:ext>
                    </a:extLst>
                  </a:tr>
                </a:tbl>
              </a:graphicData>
            </a:graphic>
          </p:graphicFrame>
        </mc:Fallback>
      </mc:AlternateContent>
      <p:pic>
        <p:nvPicPr>
          <p:cNvPr id="3074" name="Picture 2">
            <a:extLst>
              <a:ext uri="{FF2B5EF4-FFF2-40B4-BE49-F238E27FC236}">
                <a16:creationId xmlns:a16="http://schemas.microsoft.com/office/drawing/2014/main" id="{26909B4A-26DA-4CFE-B328-7B4AB9CB1C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361950" cy="190500"/>
          </a:xfrm>
          <a:prstGeom prst="rect">
            <a:avLst/>
          </a:prstGeom>
          <a:noFill/>
          <a:extLst>
            <a:ext uri="{909E8E84-426E-40DD-AFC4-6F175D3DCCD1}">
              <a14:hiddenFill xmlns:a14="http://schemas.microsoft.com/office/drawing/2010/main">
                <a:solidFill>
                  <a:srgbClr val="FFFFFF"/>
                </a:solidFill>
              </a14:hiddenFill>
            </a:ext>
          </a:extLst>
        </p:spPr>
      </p:pic>
      <p:pic>
        <p:nvPicPr>
          <p:cNvPr id="3073" name="Picture 1">
            <a:extLst>
              <a:ext uri="{FF2B5EF4-FFF2-40B4-BE49-F238E27FC236}">
                <a16:creationId xmlns:a16="http://schemas.microsoft.com/office/drawing/2014/main" id="{A8AF2D16-C1BF-4C8E-A8CD-1FB20D7A380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71450" cy="209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61165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9FC2E9-6DB8-4A2C-B462-39B10259CF32}"/>
              </a:ext>
            </a:extLst>
          </p:cNvPr>
          <p:cNvSpPr>
            <a:spLocks noGrp="1"/>
          </p:cNvSpPr>
          <p:nvPr>
            <p:ph type="title"/>
          </p:nvPr>
        </p:nvSpPr>
        <p:spPr/>
        <p:txBody>
          <a:bodyPr/>
          <a:lstStyle/>
          <a:p>
            <a:r>
              <a:rPr lang="fr-CA" dirty="0"/>
              <a:t>Suite)</a:t>
            </a:r>
          </a:p>
        </p:txBody>
      </p:sp>
      <p:sp>
        <p:nvSpPr>
          <p:cNvPr id="3" name="Espace réservé du pied de page 2">
            <a:extLst>
              <a:ext uri="{FF2B5EF4-FFF2-40B4-BE49-F238E27FC236}">
                <a16:creationId xmlns:a16="http://schemas.microsoft.com/office/drawing/2014/main" id="{03076983-836B-436C-9670-D66174B6ACD2}"/>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9D4D6805-8790-4D48-8DA5-EEA00452777A}"/>
              </a:ext>
            </a:extLst>
          </p:cNvPr>
          <p:cNvSpPr>
            <a:spLocks noGrp="1"/>
          </p:cNvSpPr>
          <p:nvPr>
            <p:ph type="sldNum" sz="quarter" idx="12"/>
          </p:nvPr>
        </p:nvSpPr>
        <p:spPr/>
        <p:txBody>
          <a:bodyPr/>
          <a:lstStyle/>
          <a:p>
            <a:fld id="{26377AD9-CE17-438C-A638-C64D2D42D7CF}" type="slidenum">
              <a:rPr lang="fr-CA" smtClean="0"/>
              <a:t>11</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B8FBC74C-91D6-4D72-9703-B96C1980344A}"/>
                  </a:ext>
                </a:extLst>
              </p:cNvPr>
              <p:cNvSpPr txBox="1"/>
              <p:nvPr/>
            </p:nvSpPr>
            <p:spPr>
              <a:xfrm>
                <a:off x="161365" y="1277472"/>
                <a:ext cx="11456894" cy="5203091"/>
              </a:xfrm>
              <a:prstGeom prst="rect">
                <a:avLst/>
              </a:prstGeom>
              <a:noFill/>
            </p:spPr>
            <p:txBody>
              <a:bodyPr wrap="square" rtlCol="0">
                <a:spAutoFit/>
              </a:bodyPr>
              <a:lstStyle/>
              <a:p>
                <a:pPr algn="l">
                  <a:lnSpc>
                    <a:spcPct val="200000"/>
                  </a:lnSpc>
                  <a:spcAft>
                    <a:spcPts val="800"/>
                  </a:spcAft>
                </a:pPr>
                <a:r>
                  <a:rPr lang="fr-FR" sz="1800" dirty="0">
                    <a:solidFill>
                      <a:srgbClr val="000000"/>
                    </a:solidFill>
                    <a:effectLst/>
                    <a:latin typeface="Times New Roman" panose="02020603050405020304" pitchFamily="18" charset="0"/>
                    <a:ea typeface="Times New Roman" panose="02020603050405020304" pitchFamily="18" charset="0"/>
                  </a:rPr>
                  <a:t>Cela donne </a:t>
                </a:r>
                <a14:m>
                  <m:oMath xmlns:m="http://schemas.openxmlformats.org/officeDocument/2006/math">
                    <m:acc>
                      <m:accPr>
                        <m:chr m:val="̄"/>
                        <m:ctrlPr>
                          <a:rPr lang="fr-CA" sz="1800" i="1">
                            <a:solidFill>
                              <a:srgbClr val="000000"/>
                            </a:solidFill>
                            <a:effectLst/>
                            <a:latin typeface="Cambria Math" panose="02040503050406030204" pitchFamily="18" charset="0"/>
                            <a:ea typeface="Times New Roman" panose="02020603050405020304" pitchFamily="18" charset="0"/>
                          </a:rPr>
                        </m:ctrlPr>
                      </m:accPr>
                      <m:e>
                        <m:r>
                          <a:rPr lang="fr-FR" sz="1800" i="1">
                            <a:solidFill>
                              <a:srgbClr val="000000"/>
                            </a:solidFill>
                            <a:effectLst/>
                            <a:latin typeface="Cambria Math" panose="02040503050406030204" pitchFamily="18" charset="0"/>
                            <a:ea typeface="Times New Roman" panose="02020603050405020304" pitchFamily="18" charset="0"/>
                          </a:rPr>
                          <m:t>𝑥</m:t>
                        </m:r>
                      </m:e>
                    </m:acc>
                    <m:r>
                      <a:rPr lang="fr-FR" sz="1800" i="1">
                        <a:solidFill>
                          <a:srgbClr val="000000"/>
                        </a:solidFill>
                        <a:effectLst/>
                        <a:latin typeface="Cambria Math" panose="02040503050406030204" pitchFamily="18" charset="0"/>
                        <a:ea typeface="Times New Roman" panose="02020603050405020304" pitchFamily="18" charset="0"/>
                      </a:rPr>
                      <m:t>=24,89;  </m:t>
                    </m:r>
                    <m:acc>
                      <m:accPr>
                        <m:chr m:val="̄"/>
                        <m:ctrlPr>
                          <a:rPr lang="fr-CA" sz="1800" i="1">
                            <a:solidFill>
                              <a:srgbClr val="000000"/>
                            </a:solidFill>
                            <a:effectLst/>
                            <a:latin typeface="Cambria Math" panose="02040503050406030204" pitchFamily="18" charset="0"/>
                            <a:ea typeface="Times New Roman" panose="02020603050405020304" pitchFamily="18" charset="0"/>
                          </a:rPr>
                        </m:ctrlPr>
                      </m:accPr>
                      <m:e>
                        <m:r>
                          <a:rPr lang="fr-FR" sz="1800" i="1">
                            <a:solidFill>
                              <a:srgbClr val="000000"/>
                            </a:solidFill>
                            <a:effectLst/>
                            <a:latin typeface="Cambria Math" panose="02040503050406030204" pitchFamily="18" charset="0"/>
                            <a:ea typeface="Times New Roman" panose="02020603050405020304" pitchFamily="18" charset="0"/>
                          </a:rPr>
                          <m:t>𝑦</m:t>
                        </m:r>
                      </m:e>
                    </m:acc>
                    <m:r>
                      <a:rPr lang="fr-FR" sz="1800" i="1">
                        <a:solidFill>
                          <a:srgbClr val="000000"/>
                        </a:solidFill>
                        <a:effectLst/>
                        <a:latin typeface="Cambria Math" panose="02040503050406030204" pitchFamily="18" charset="0"/>
                        <a:ea typeface="Times New Roman" panose="02020603050405020304" pitchFamily="18" charset="0"/>
                      </a:rPr>
                      <m:t>=109,13;</m:t>
                    </m:r>
                  </m:oMath>
                </a14:m>
                <a:r>
                  <a:rPr lang="fr-FR" sz="1800" dirty="0">
                    <a:solidFill>
                      <a:srgbClr val="000000"/>
                    </a:solidFill>
                    <a:effectLst/>
                    <a:latin typeface="Times New Roman" panose="02020603050405020304" pitchFamily="18" charset="0"/>
                    <a:ea typeface="Times New Roman" panose="02020603050405020304" pitchFamily="18" charset="0"/>
                  </a:rPr>
                  <a:t> en appliquant les formules précédentes, on obtient les estimations des paramètres du modèle :</a:t>
                </a:r>
                <a:endParaRPr lang="fr-CA" sz="1800" dirty="0">
                  <a:solidFill>
                    <a:srgbClr val="000000"/>
                  </a:solidFill>
                  <a:effectLst/>
                  <a:latin typeface="Times New Roman" panose="02020603050405020304" pitchFamily="18" charset="0"/>
                  <a:ea typeface="Times New Roman" panose="02020603050405020304" pitchFamily="18" charset="0"/>
                </a:endParaRPr>
              </a:p>
              <a:p>
                <a:pPr algn="ctr">
                  <a:lnSpc>
                    <a:spcPct val="200000"/>
                  </a:lnSpc>
                  <a:spcAft>
                    <a:spcPts val="800"/>
                  </a:spcAft>
                </a:pPr>
                <a14:m>
                  <m:oMathPara xmlns:m="http://schemas.openxmlformats.org/officeDocument/2006/math">
                    <m:oMathParaPr>
                      <m:jc m:val="centerGroup"/>
                    </m:oMathParaPr>
                    <m:oMath xmlns:m="http://schemas.openxmlformats.org/officeDocument/2006/math">
                      <m:r>
                        <a:rPr lang="fr-CA" sz="1800" i="1">
                          <a:solidFill>
                            <a:srgbClr val="000000"/>
                          </a:solidFill>
                          <a:effectLst/>
                          <a:latin typeface="Cambria Math" panose="02040503050406030204" pitchFamily="18" charset="0"/>
                          <a:ea typeface="Times New Roman" panose="02020603050405020304" pitchFamily="18" charset="0"/>
                        </a:rPr>
                        <m:t>𝑏</m:t>
                      </m:r>
                      <m:r>
                        <a:rPr lang="fr-CA" sz="1800" i="1">
                          <a:solidFill>
                            <a:srgbClr val="000000"/>
                          </a:solidFill>
                          <a:effectLst/>
                          <a:latin typeface="Cambria Math" panose="02040503050406030204" pitchFamily="18" charset="0"/>
                          <a:ea typeface="Times New Roman" panose="02020603050405020304" pitchFamily="18" charset="0"/>
                        </a:rPr>
                        <m:t>=</m:t>
                      </m:r>
                      <m:acc>
                        <m:accPr>
                          <m:chr m:val="̂"/>
                          <m:ctrlPr>
                            <a:rPr lang="fr-CA" sz="1800" i="1">
                              <a:solidFill>
                                <a:srgbClr val="000000"/>
                              </a:solidFill>
                              <a:effectLst/>
                              <a:latin typeface="Cambria Math" panose="02040503050406030204" pitchFamily="18" charset="0"/>
                              <a:ea typeface="Times New Roman" panose="02020603050405020304" pitchFamily="18" charset="0"/>
                            </a:rPr>
                          </m:ctrlPr>
                        </m:accPr>
                        <m:e>
                          <m:r>
                            <a:rPr lang="fr-CA" sz="1800" i="1">
                              <a:solidFill>
                                <a:srgbClr val="000000"/>
                              </a:solidFill>
                              <a:effectLst/>
                              <a:latin typeface="Cambria Math" panose="02040503050406030204" pitchFamily="18" charset="0"/>
                              <a:ea typeface="Times New Roman" panose="02020603050405020304" pitchFamily="18" charset="0"/>
                            </a:rPr>
                            <m:t>𝛽</m:t>
                          </m:r>
                        </m:e>
                      </m:acc>
                      <m:r>
                        <a:rPr lang="fr-CA" sz="1800" i="1">
                          <a:solidFill>
                            <a:srgbClr val="000000"/>
                          </a:solidFill>
                          <a:effectLst/>
                          <a:latin typeface="Cambria Math" panose="02040503050406030204" pitchFamily="18" charset="0"/>
                          <a:ea typeface="Times New Roman" panose="02020603050405020304" pitchFamily="18" charset="0"/>
                        </a:rPr>
                        <m:t>=</m:t>
                      </m:r>
                      <m:f>
                        <m:fPr>
                          <m:ctrlPr>
                            <a:rPr lang="fr-CA" sz="1800" i="1">
                              <a:solidFill>
                                <a:srgbClr val="000000"/>
                              </a:solidFill>
                              <a:effectLst/>
                              <a:latin typeface="Cambria Math" panose="02040503050406030204" pitchFamily="18" charset="0"/>
                              <a:ea typeface="Times New Roman" panose="02020603050405020304" pitchFamily="18" charset="0"/>
                            </a:rPr>
                          </m:ctrlPr>
                        </m:fPr>
                        <m:num>
                          <m:r>
                            <a:rPr lang="fr-CA" sz="1800" i="1">
                              <a:solidFill>
                                <a:srgbClr val="000000"/>
                              </a:solidFill>
                              <a:effectLst/>
                              <a:latin typeface="Cambria Math" panose="02040503050406030204" pitchFamily="18" charset="0"/>
                              <a:ea typeface="Times New Roman" panose="02020603050405020304" pitchFamily="18" charset="0"/>
                            </a:rPr>
                            <m:t>27 912,87−10×24,89×109,13</m:t>
                          </m:r>
                        </m:num>
                        <m:den>
                          <m:r>
                            <a:rPr lang="fr-CA" sz="1800" i="1">
                              <a:solidFill>
                                <a:srgbClr val="000000"/>
                              </a:solidFill>
                              <a:effectLst/>
                              <a:latin typeface="Cambria Math" panose="02040503050406030204" pitchFamily="18" charset="0"/>
                              <a:ea typeface="Times New Roman" panose="02020603050405020304" pitchFamily="18" charset="0"/>
                            </a:rPr>
                            <m:t>6665,91−10×24,8</m:t>
                          </m:r>
                          <m:sSup>
                            <m:sSupPr>
                              <m:ctrlPr>
                                <a:rPr lang="fr-CA" sz="1800" i="1">
                                  <a:solidFill>
                                    <a:srgbClr val="000000"/>
                                  </a:solidFill>
                                  <a:effectLst/>
                                  <a:latin typeface="Cambria Math" panose="02040503050406030204" pitchFamily="18" charset="0"/>
                                  <a:ea typeface="Times New Roman" panose="02020603050405020304" pitchFamily="18" charset="0"/>
                                </a:rPr>
                              </m:ctrlPr>
                            </m:sSupPr>
                            <m:e>
                              <m:r>
                                <a:rPr lang="fr-CA" sz="1800" i="1">
                                  <a:solidFill>
                                    <a:srgbClr val="000000"/>
                                  </a:solidFill>
                                  <a:effectLst/>
                                  <a:latin typeface="Cambria Math" panose="02040503050406030204" pitchFamily="18" charset="0"/>
                                  <a:ea typeface="Times New Roman" panose="02020603050405020304" pitchFamily="18" charset="0"/>
                                </a:rPr>
                                <m:t>9</m:t>
                              </m:r>
                            </m:e>
                            <m:sup>
                              <m:r>
                                <a:rPr lang="fr-CA" sz="1800" i="1">
                                  <a:solidFill>
                                    <a:srgbClr val="000000"/>
                                  </a:solidFill>
                                  <a:effectLst/>
                                  <a:latin typeface="Cambria Math" panose="02040503050406030204" pitchFamily="18" charset="0"/>
                                  <a:ea typeface="Times New Roman" panose="02020603050405020304" pitchFamily="18" charset="0"/>
                                </a:rPr>
                                <m:t>2</m:t>
                              </m:r>
                            </m:sup>
                          </m:sSup>
                        </m:den>
                      </m:f>
                      <m:r>
                        <a:rPr lang="fr-CA" sz="1800" i="1">
                          <a:solidFill>
                            <a:srgbClr val="000000"/>
                          </a:solidFill>
                          <a:effectLst/>
                          <a:latin typeface="Cambria Math" panose="02040503050406030204" pitchFamily="18" charset="0"/>
                          <a:ea typeface="Times New Roman" panose="02020603050405020304" pitchFamily="18" charset="0"/>
                        </a:rPr>
                        <m:t>=1,594</m:t>
                      </m:r>
                    </m:oMath>
                  </m:oMathPara>
                </a14:m>
                <a:endParaRPr lang="fr-CA" sz="1800" dirty="0">
                  <a:solidFill>
                    <a:srgbClr val="000000"/>
                  </a:solidFill>
                  <a:effectLst/>
                  <a:latin typeface="Times New Roman" panose="02020603050405020304" pitchFamily="18" charset="0"/>
                  <a:ea typeface="Times New Roman" panose="02020603050405020304" pitchFamily="18" charset="0"/>
                </a:endParaRPr>
              </a:p>
              <a:p>
                <a:pPr algn="l">
                  <a:lnSpc>
                    <a:spcPct val="200000"/>
                  </a:lnSpc>
                  <a:spcAft>
                    <a:spcPts val="800"/>
                  </a:spcAft>
                </a:pPr>
                <a:r>
                  <a:rPr lang="fr-CA" sz="1800" dirty="0">
                    <a:solidFill>
                      <a:srgbClr val="000000"/>
                    </a:solidFill>
                    <a:effectLst/>
                    <a:latin typeface="Times New Roman" panose="02020603050405020304" pitchFamily="18" charset="0"/>
                    <a:ea typeface="Times New Roman" panose="02020603050405020304" pitchFamily="18" charset="0"/>
                  </a:rPr>
                  <a:t>Et                 </a:t>
                </a:r>
                <a14:m>
                  <m:oMath xmlns:m="http://schemas.openxmlformats.org/officeDocument/2006/math">
                    <m:r>
                      <a:rPr lang="fr-CA" sz="1800" i="1">
                        <a:solidFill>
                          <a:srgbClr val="000000"/>
                        </a:solidFill>
                        <a:effectLst/>
                        <a:latin typeface="Cambria Math" panose="02040503050406030204" pitchFamily="18" charset="0"/>
                        <a:ea typeface="Times New Roman" panose="02020603050405020304" pitchFamily="18" charset="0"/>
                      </a:rPr>
                      <m:t>𝑎</m:t>
                    </m:r>
                    <m:r>
                      <a:rPr lang="fr-CA" sz="1800" i="1">
                        <a:solidFill>
                          <a:srgbClr val="000000"/>
                        </a:solidFill>
                        <a:effectLst/>
                        <a:latin typeface="Cambria Math" panose="02040503050406030204" pitchFamily="18" charset="0"/>
                        <a:ea typeface="Times New Roman" panose="02020603050405020304" pitchFamily="18" charset="0"/>
                      </a:rPr>
                      <m:t>=</m:t>
                    </m:r>
                    <m:acc>
                      <m:accPr>
                        <m:chr m:val="̂"/>
                        <m:ctrlPr>
                          <a:rPr lang="fr-CA" sz="1800" i="1">
                            <a:solidFill>
                              <a:srgbClr val="000000"/>
                            </a:solidFill>
                            <a:effectLst/>
                            <a:latin typeface="Cambria Math" panose="02040503050406030204" pitchFamily="18" charset="0"/>
                            <a:ea typeface="Times New Roman" panose="02020603050405020304" pitchFamily="18" charset="0"/>
                          </a:rPr>
                        </m:ctrlPr>
                      </m:accPr>
                      <m:e>
                        <m:r>
                          <a:rPr lang="fr-CA" sz="1800" i="1">
                            <a:solidFill>
                              <a:srgbClr val="000000"/>
                            </a:solidFill>
                            <a:effectLst/>
                            <a:latin typeface="Cambria Math" panose="02040503050406030204" pitchFamily="18" charset="0"/>
                            <a:ea typeface="Times New Roman" panose="02020603050405020304" pitchFamily="18" charset="0"/>
                          </a:rPr>
                          <m:t>𝛼</m:t>
                        </m:r>
                      </m:e>
                    </m:acc>
                    <m:r>
                      <a:rPr lang="fr-CA" sz="1800" i="1">
                        <a:solidFill>
                          <a:srgbClr val="000000"/>
                        </a:solidFill>
                        <a:effectLst/>
                        <a:latin typeface="Cambria Math" panose="02040503050406030204" pitchFamily="18" charset="0"/>
                        <a:ea typeface="Times New Roman" panose="02020603050405020304" pitchFamily="18" charset="0"/>
                      </a:rPr>
                      <m:t> =109,13−1,594×24,89=69,455</m:t>
                    </m:r>
                  </m:oMath>
                </a14:m>
                <a:endParaRPr lang="fr-CA" sz="1800" dirty="0">
                  <a:solidFill>
                    <a:srgbClr val="000000"/>
                  </a:solidFill>
                  <a:effectLst/>
                  <a:latin typeface="Times New Roman" panose="02020603050405020304" pitchFamily="18" charset="0"/>
                  <a:ea typeface="Times New Roman" panose="02020603050405020304" pitchFamily="18" charset="0"/>
                </a:endParaRPr>
              </a:p>
              <a:p>
                <a:pPr algn="l">
                  <a:lnSpc>
                    <a:spcPct val="200000"/>
                  </a:lnSpc>
                  <a:spcAft>
                    <a:spcPts val="800"/>
                  </a:spcAft>
                </a:pPr>
                <a:r>
                  <a:rPr lang="fr-FR" sz="1800" dirty="0">
                    <a:solidFill>
                      <a:srgbClr val="000000"/>
                    </a:solidFill>
                    <a:effectLst/>
                    <a:latin typeface="Times New Roman" panose="02020603050405020304" pitchFamily="18" charset="0"/>
                    <a:ea typeface="Times New Roman" panose="02020603050405020304" pitchFamily="18" charset="0"/>
                  </a:rPr>
                  <a:t>La droite de régression est alors </a:t>
                </a:r>
                <a14:m>
                  <m:oMath xmlns:m="http://schemas.openxmlformats.org/officeDocument/2006/math">
                    <m:acc>
                      <m:accPr>
                        <m:chr m:val="̂"/>
                        <m:ctrlPr>
                          <a:rPr lang="fr-CA" sz="1800" i="1">
                            <a:solidFill>
                              <a:srgbClr val="000000"/>
                            </a:solidFill>
                            <a:effectLst/>
                            <a:latin typeface="Cambria Math" panose="02040503050406030204" pitchFamily="18" charset="0"/>
                            <a:ea typeface="Times New Roman" panose="02020603050405020304" pitchFamily="18" charset="0"/>
                          </a:rPr>
                        </m:ctrlPr>
                      </m:accPr>
                      <m:e>
                        <m:r>
                          <a:rPr lang="fr-FR" sz="1800" i="1">
                            <a:solidFill>
                              <a:srgbClr val="000000"/>
                            </a:solidFill>
                            <a:effectLst/>
                            <a:latin typeface="Cambria Math" panose="02040503050406030204" pitchFamily="18" charset="0"/>
                            <a:ea typeface="Times New Roman" panose="02020603050405020304" pitchFamily="18" charset="0"/>
                          </a:rPr>
                          <m:t>𝑦</m:t>
                        </m:r>
                      </m:e>
                    </m:acc>
                    <m:r>
                      <a:rPr lang="fr-FR" sz="1800" i="1">
                        <a:solidFill>
                          <a:srgbClr val="000000"/>
                        </a:solidFill>
                        <a:effectLst/>
                        <a:latin typeface="Cambria Math" panose="02040503050406030204" pitchFamily="18" charset="0"/>
                        <a:ea typeface="Times New Roman" panose="02020603050405020304" pitchFamily="18" charset="0"/>
                      </a:rPr>
                      <m:t>=69,455+1,594</m:t>
                    </m:r>
                    <m:r>
                      <a:rPr lang="fr-FR" sz="1800" i="1">
                        <a:solidFill>
                          <a:srgbClr val="000000"/>
                        </a:solidFill>
                        <a:effectLst/>
                        <a:latin typeface="Cambria Math" panose="02040503050406030204" pitchFamily="18" charset="0"/>
                        <a:ea typeface="Times New Roman" panose="02020603050405020304" pitchFamily="18" charset="0"/>
                      </a:rPr>
                      <m:t>𝑥</m:t>
                    </m:r>
                    <m:r>
                      <a:rPr lang="fr-FR" sz="1800" i="1">
                        <a:solidFill>
                          <a:srgbClr val="000000"/>
                        </a:solidFill>
                        <a:effectLst/>
                        <a:latin typeface="Cambria Math" panose="02040503050406030204" pitchFamily="18" charset="0"/>
                        <a:ea typeface="Times New Roman" panose="02020603050405020304" pitchFamily="18" charset="0"/>
                      </a:rPr>
                      <m:t>,</m:t>
                    </m:r>
                  </m:oMath>
                </a14:m>
                <a:r>
                  <a:rPr lang="fr-FR" sz="1800" dirty="0">
                    <a:solidFill>
                      <a:srgbClr val="000000"/>
                    </a:solidFill>
                    <a:effectLst/>
                    <a:latin typeface="Times New Roman" panose="02020603050405020304" pitchFamily="18" charset="0"/>
                    <a:ea typeface="Times New Roman" panose="02020603050405020304" pitchFamily="18" charset="0"/>
                  </a:rPr>
                  <a:t> ce qui signifie qu’à partir des 10 observations prises au hasard, à Gatineau, on peut estimer à 69,455 ppm le taux d’ozone au mois de juillet s’il fait 0 °C à midi, et qu’à chaque augmentation de 1°C de la température à midi, le taux d’ozone augmente de 1,594 ppm.</a:t>
                </a:r>
                <a:endParaRPr lang="fr-CA" sz="1800" dirty="0">
                  <a:solidFill>
                    <a:srgbClr val="000000"/>
                  </a:solidFill>
                  <a:effectLst/>
                  <a:latin typeface="Times New Roman" panose="02020603050405020304" pitchFamily="18" charset="0"/>
                  <a:ea typeface="Times New Roman" panose="02020603050405020304" pitchFamily="18" charset="0"/>
                </a:endParaRPr>
              </a:p>
              <a:p>
                <a:endParaRPr lang="fr-CA" dirty="0"/>
              </a:p>
            </p:txBody>
          </p:sp>
        </mc:Choice>
        <mc:Fallback xmlns="">
          <p:sp>
            <p:nvSpPr>
              <p:cNvPr id="5" name="ZoneTexte 4">
                <a:extLst>
                  <a:ext uri="{FF2B5EF4-FFF2-40B4-BE49-F238E27FC236}">
                    <a16:creationId xmlns:a16="http://schemas.microsoft.com/office/drawing/2014/main" id="{B8FBC74C-91D6-4D72-9703-B96C1980344A}"/>
                  </a:ext>
                </a:extLst>
              </p:cNvPr>
              <p:cNvSpPr txBox="1">
                <a:spLocks noRot="1" noChangeAspect="1" noMove="1" noResize="1" noEditPoints="1" noAdjustHandles="1" noChangeArrowheads="1" noChangeShapeType="1" noTextEdit="1"/>
              </p:cNvSpPr>
              <p:nvPr/>
            </p:nvSpPr>
            <p:spPr>
              <a:xfrm>
                <a:off x="161365" y="1277472"/>
                <a:ext cx="11456894" cy="5203091"/>
              </a:xfrm>
              <a:prstGeom prst="rect">
                <a:avLst/>
              </a:prstGeom>
              <a:blipFill>
                <a:blip r:embed="rId2"/>
                <a:stretch>
                  <a:fillRect l="-426" r="-691"/>
                </a:stretch>
              </a:blipFill>
            </p:spPr>
            <p:txBody>
              <a:bodyPr/>
              <a:lstStyle/>
              <a:p>
                <a:r>
                  <a:rPr lang="fr-CA">
                    <a:noFill/>
                  </a:rPr>
                  <a:t> </a:t>
                </a:r>
              </a:p>
            </p:txBody>
          </p:sp>
        </mc:Fallback>
      </mc:AlternateContent>
    </p:spTree>
    <p:extLst>
      <p:ext uri="{BB962C8B-B14F-4D97-AF65-F5344CB8AC3E}">
        <p14:creationId xmlns:p14="http://schemas.microsoft.com/office/powerpoint/2010/main" val="25928454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1A457C0-A928-447D-8644-5B80CC7DF51D}"/>
              </a:ext>
            </a:extLst>
          </p:cNvPr>
          <p:cNvSpPr>
            <a:spLocks noGrp="1"/>
          </p:cNvSpPr>
          <p:nvPr>
            <p:ph type="title"/>
          </p:nvPr>
        </p:nvSpPr>
        <p:spPr/>
        <p:txBody>
          <a:bodyPr/>
          <a:lstStyle/>
          <a:p>
            <a:r>
              <a:rPr lang="fr-CA" b="1" dirty="0"/>
              <a:t>Calcul avec le logiciel R</a:t>
            </a:r>
          </a:p>
        </p:txBody>
      </p:sp>
      <p:sp>
        <p:nvSpPr>
          <p:cNvPr id="3" name="Espace réservé du pied de page 2">
            <a:extLst>
              <a:ext uri="{FF2B5EF4-FFF2-40B4-BE49-F238E27FC236}">
                <a16:creationId xmlns:a16="http://schemas.microsoft.com/office/drawing/2014/main" id="{152582FE-8FFF-400D-BAD2-CD4F13893BCD}"/>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D3987F5B-294A-490F-B32A-051D1D55C72D}"/>
              </a:ext>
            </a:extLst>
          </p:cNvPr>
          <p:cNvSpPr>
            <a:spLocks noGrp="1"/>
          </p:cNvSpPr>
          <p:nvPr>
            <p:ph type="sldNum" sz="quarter" idx="12"/>
          </p:nvPr>
        </p:nvSpPr>
        <p:spPr/>
        <p:txBody>
          <a:bodyPr/>
          <a:lstStyle/>
          <a:p>
            <a:fld id="{26377AD9-CE17-438C-A638-C64D2D42D7CF}" type="slidenum">
              <a:rPr lang="fr-CA" smtClean="0"/>
              <a:t>12</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752E9ED5-6CCC-4E36-B4A7-F4E26DF9FAC4}"/>
                  </a:ext>
                </a:extLst>
              </p:cNvPr>
              <p:cNvSpPr txBox="1"/>
              <p:nvPr/>
            </p:nvSpPr>
            <p:spPr>
              <a:xfrm>
                <a:off x="838200" y="997050"/>
                <a:ext cx="10730753" cy="6052939"/>
              </a:xfrm>
              <a:prstGeom prst="rect">
                <a:avLst/>
              </a:prstGeom>
              <a:noFill/>
            </p:spPr>
            <p:txBody>
              <a:bodyPr wrap="square" rtlCol="0">
                <a:spAutoFit/>
              </a:bodyPr>
              <a:lstStyle/>
              <a:p>
                <a:pPr algn="l">
                  <a:lnSpc>
                    <a:spcPct val="200000"/>
                  </a:lnSpc>
                  <a:spcAft>
                    <a:spcPts val="800"/>
                  </a:spcAft>
                </a:pPr>
                <a:r>
                  <a:rPr lang="fr-FR" sz="2400" dirty="0">
                    <a:solidFill>
                      <a:srgbClr val="000000"/>
                    </a:solidFill>
                    <a:effectLst/>
                    <a:latin typeface="Times New Roman" panose="02020603050405020304" pitchFamily="18" charset="0"/>
                    <a:ea typeface="Times New Roman" panose="02020603050405020304" pitchFamily="18" charset="0"/>
                  </a:rPr>
                  <a:t>On peut aussi utiliser le logiciel R pour déterminer la droite de régression entre ces deux variables, il suffit de mettre les données de X dans un vecteur x et celles de Y dans un autre vecteur y et de taper :</a:t>
                </a:r>
                <a:endParaRPr lang="fr-CA" sz="2400" dirty="0">
                  <a:solidFill>
                    <a:srgbClr val="000000"/>
                  </a:solidFill>
                  <a:effectLst/>
                  <a:latin typeface="Times New Roman" panose="02020603050405020304" pitchFamily="18" charset="0"/>
                  <a:ea typeface="Times New Roman" panose="02020603050405020304" pitchFamily="18" charset="0"/>
                </a:endParaRPr>
              </a:p>
              <a:p>
                <a:pPr algn="just">
                  <a:lnSpc>
                    <a:spcPct val="200000"/>
                  </a:lnSpc>
                  <a:spcAft>
                    <a:spcPts val="800"/>
                  </a:spcAft>
                </a:pPr>
                <a:r>
                  <a:rPr lang="fr-FR" sz="2400" dirty="0" err="1">
                    <a:solidFill>
                      <a:srgbClr val="000000"/>
                    </a:solidFill>
                    <a:effectLst/>
                    <a:latin typeface="Times New Roman" panose="02020603050405020304" pitchFamily="18" charset="0"/>
                    <a:ea typeface="Times New Roman" panose="02020603050405020304" pitchFamily="18" charset="0"/>
                  </a:rPr>
                  <a:t>Modele</a:t>
                </a:r>
                <a:r>
                  <a:rPr lang="fr-FR" sz="2400" dirty="0">
                    <a:solidFill>
                      <a:srgbClr val="000000"/>
                    </a:solidFill>
                    <a:effectLst/>
                    <a:latin typeface="Times New Roman" panose="02020603050405020304" pitchFamily="18" charset="0"/>
                    <a:ea typeface="Times New Roman" panose="02020603050405020304" pitchFamily="18" charset="0"/>
                  </a:rPr>
                  <a:t>=lm(</a:t>
                </a:r>
                <a:r>
                  <a:rPr lang="fr-FR" sz="2400" dirty="0" err="1">
                    <a:solidFill>
                      <a:srgbClr val="000000"/>
                    </a:solidFill>
                    <a:effectLst/>
                    <a:latin typeface="Times New Roman" panose="02020603050405020304" pitchFamily="18" charset="0"/>
                    <a:ea typeface="Times New Roman" panose="02020603050405020304" pitchFamily="18" charset="0"/>
                  </a:rPr>
                  <a:t>y~x</a:t>
                </a:r>
                <a:r>
                  <a:rPr lang="fr-FR" sz="2400" dirty="0">
                    <a:solidFill>
                      <a:srgbClr val="000000"/>
                    </a:solidFill>
                    <a:effectLst/>
                    <a:latin typeface="Times New Roman" panose="02020603050405020304" pitchFamily="18" charset="0"/>
                    <a:ea typeface="Times New Roman" panose="02020603050405020304" pitchFamily="18" charset="0"/>
                  </a:rPr>
                  <a:t>)  et on obtient :</a:t>
                </a:r>
                <a:endParaRPr lang="fr-CA" sz="2400" dirty="0">
                  <a:solidFill>
                    <a:srgbClr val="000000"/>
                  </a:solidFill>
                  <a:effectLst/>
                  <a:latin typeface="Times New Roman" panose="02020603050405020304" pitchFamily="18" charset="0"/>
                  <a:ea typeface="Times New Roman" panose="02020603050405020304" pitchFamily="18" charset="0"/>
                </a:endParaRPr>
              </a:p>
              <a:p>
                <a:pPr algn="just">
                  <a:lnSpc>
                    <a:spcPct val="200000"/>
                  </a:lnSpc>
                  <a:spcAft>
                    <a:spcPts val="800"/>
                  </a:spcAft>
                </a:pPr>
                <a:r>
                  <a:rPr lang="fr-FR" sz="2400" dirty="0">
                    <a:solidFill>
                      <a:srgbClr val="000000"/>
                    </a:solidFill>
                    <a:effectLst/>
                    <a:latin typeface="Times New Roman" panose="02020603050405020304" pitchFamily="18" charset="0"/>
                    <a:ea typeface="Times New Roman" panose="02020603050405020304" pitchFamily="18" charset="0"/>
                  </a:rPr>
                  <a:t>(Intercept)            x  </a:t>
                </a:r>
                <a:endParaRPr lang="fr-CA" sz="2400" dirty="0">
                  <a:solidFill>
                    <a:srgbClr val="000000"/>
                  </a:solidFill>
                  <a:effectLst/>
                  <a:latin typeface="Times New Roman" panose="02020603050405020304" pitchFamily="18" charset="0"/>
                  <a:ea typeface="Times New Roman" panose="02020603050405020304" pitchFamily="18" charset="0"/>
                </a:endParaRPr>
              </a:p>
              <a:p>
                <a:pPr algn="l">
                  <a:lnSpc>
                    <a:spcPct val="200000"/>
                  </a:lnSpc>
                  <a:spcAft>
                    <a:spcPts val="800"/>
                  </a:spcAft>
                </a:pPr>
                <a:r>
                  <a:rPr lang="fr-FR" sz="2400" dirty="0">
                    <a:solidFill>
                      <a:srgbClr val="000000"/>
                    </a:solidFill>
                    <a:effectLst/>
                    <a:latin typeface="Times New Roman" panose="02020603050405020304" pitchFamily="18" charset="0"/>
                    <a:ea typeface="Times New Roman" panose="02020603050405020304" pitchFamily="18" charset="0"/>
                  </a:rPr>
                  <a:t>     69.457        1.594</a:t>
                </a:r>
                <a:endParaRPr lang="fr-CA" sz="2400" dirty="0">
                  <a:solidFill>
                    <a:srgbClr val="000000"/>
                  </a:solidFill>
                  <a:effectLst/>
                  <a:latin typeface="Times New Roman" panose="02020603050405020304" pitchFamily="18" charset="0"/>
                  <a:ea typeface="Times New Roman" panose="02020603050405020304" pitchFamily="18" charset="0"/>
                </a:endParaRPr>
              </a:p>
              <a:p>
                <a:pPr algn="l">
                  <a:lnSpc>
                    <a:spcPct val="200000"/>
                  </a:lnSpc>
                  <a:spcAft>
                    <a:spcPts val="800"/>
                  </a:spcAft>
                </a:pPr>
                <a:r>
                  <a:rPr lang="fr-FR" sz="2400" dirty="0">
                    <a:solidFill>
                      <a:srgbClr val="000000"/>
                    </a:solidFill>
                    <a:effectLst/>
                    <a:latin typeface="Times New Roman" panose="02020603050405020304" pitchFamily="18" charset="0"/>
                    <a:ea typeface="Times New Roman" panose="02020603050405020304" pitchFamily="18" charset="0"/>
                  </a:rPr>
                  <a:t>C’est-à-dire que la droite de régression est </a:t>
                </a:r>
                <a14:m>
                  <m:oMath xmlns:m="http://schemas.openxmlformats.org/officeDocument/2006/math">
                    <m:acc>
                      <m:accPr>
                        <m:chr m:val="̂"/>
                        <m:ctrlPr>
                          <a:rPr lang="fr-CA" sz="2400" i="1">
                            <a:solidFill>
                              <a:srgbClr val="000000"/>
                            </a:solidFill>
                            <a:effectLst/>
                            <a:latin typeface="Cambria Math" panose="02040503050406030204" pitchFamily="18" charset="0"/>
                            <a:ea typeface="Times New Roman" panose="02020603050405020304" pitchFamily="18" charset="0"/>
                          </a:rPr>
                        </m:ctrlPr>
                      </m:accPr>
                      <m:e>
                        <m:r>
                          <a:rPr lang="fr-FR" sz="2400" i="1">
                            <a:solidFill>
                              <a:srgbClr val="000000"/>
                            </a:solidFill>
                            <a:effectLst/>
                            <a:latin typeface="Cambria Math" panose="02040503050406030204" pitchFamily="18" charset="0"/>
                            <a:ea typeface="Times New Roman" panose="02020603050405020304" pitchFamily="18" charset="0"/>
                          </a:rPr>
                          <m:t>𝑦</m:t>
                        </m:r>
                      </m:e>
                    </m:acc>
                    <m:r>
                      <a:rPr lang="fr-FR" sz="2400" i="1">
                        <a:solidFill>
                          <a:srgbClr val="000000"/>
                        </a:solidFill>
                        <a:effectLst/>
                        <a:latin typeface="Cambria Math" panose="02040503050406030204" pitchFamily="18" charset="0"/>
                        <a:ea typeface="Times New Roman" panose="02020603050405020304" pitchFamily="18" charset="0"/>
                      </a:rPr>
                      <m:t>=69,457+1,594</m:t>
                    </m:r>
                    <m:r>
                      <a:rPr lang="fr-FR" sz="2400" i="1">
                        <a:solidFill>
                          <a:srgbClr val="000000"/>
                        </a:solidFill>
                        <a:effectLst/>
                        <a:latin typeface="Cambria Math" panose="02040503050406030204" pitchFamily="18" charset="0"/>
                        <a:ea typeface="Times New Roman" panose="02020603050405020304" pitchFamily="18" charset="0"/>
                      </a:rPr>
                      <m:t>𝑥</m:t>
                    </m:r>
                  </m:oMath>
                </a14:m>
                <a:endParaRPr lang="fr-CA" sz="2400" dirty="0">
                  <a:solidFill>
                    <a:srgbClr val="000000"/>
                  </a:solidFill>
                  <a:effectLst/>
                  <a:latin typeface="Times New Roman" panose="02020603050405020304" pitchFamily="18" charset="0"/>
                  <a:ea typeface="Times New Roman" panose="02020603050405020304" pitchFamily="18" charset="0"/>
                </a:endParaRPr>
              </a:p>
              <a:p>
                <a:endParaRPr lang="fr-CA" dirty="0"/>
              </a:p>
            </p:txBody>
          </p:sp>
        </mc:Choice>
        <mc:Fallback xmlns="">
          <p:sp>
            <p:nvSpPr>
              <p:cNvPr id="5" name="ZoneTexte 4">
                <a:extLst>
                  <a:ext uri="{FF2B5EF4-FFF2-40B4-BE49-F238E27FC236}">
                    <a16:creationId xmlns:a16="http://schemas.microsoft.com/office/drawing/2014/main" id="{752E9ED5-6CCC-4E36-B4A7-F4E26DF9FAC4}"/>
                  </a:ext>
                </a:extLst>
              </p:cNvPr>
              <p:cNvSpPr txBox="1">
                <a:spLocks noRot="1" noChangeAspect="1" noMove="1" noResize="1" noEditPoints="1" noAdjustHandles="1" noChangeArrowheads="1" noChangeShapeType="1" noTextEdit="1"/>
              </p:cNvSpPr>
              <p:nvPr/>
            </p:nvSpPr>
            <p:spPr>
              <a:xfrm>
                <a:off x="838200" y="997050"/>
                <a:ext cx="10730753" cy="6052939"/>
              </a:xfrm>
              <a:prstGeom prst="rect">
                <a:avLst/>
              </a:prstGeom>
              <a:blipFill>
                <a:blip r:embed="rId2"/>
                <a:stretch>
                  <a:fillRect l="-909"/>
                </a:stretch>
              </a:blipFill>
            </p:spPr>
            <p:txBody>
              <a:bodyPr/>
              <a:lstStyle/>
              <a:p>
                <a:r>
                  <a:rPr lang="fr-CA">
                    <a:noFill/>
                  </a:rPr>
                  <a:t> </a:t>
                </a:r>
              </a:p>
            </p:txBody>
          </p:sp>
        </mc:Fallback>
      </mc:AlternateContent>
    </p:spTree>
    <p:extLst>
      <p:ext uri="{BB962C8B-B14F-4D97-AF65-F5344CB8AC3E}">
        <p14:creationId xmlns:p14="http://schemas.microsoft.com/office/powerpoint/2010/main" val="29578799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94D6AA1-A0E1-45F9-8E25-BAB8092293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 name="Titre 1">
                <a:extLst>
                  <a:ext uri="{FF2B5EF4-FFF2-40B4-BE49-F238E27FC236}">
                    <a16:creationId xmlns:a16="http://schemas.microsoft.com/office/drawing/2014/main" id="{6ABBB848-C44C-4DB8-8453-1515995F5CE7}"/>
                  </a:ext>
                </a:extLst>
              </p:cNvPr>
              <p:cNvSpPr>
                <a:spLocks noGrp="1"/>
              </p:cNvSpPr>
              <p:nvPr>
                <p:ph type="title"/>
              </p:nvPr>
            </p:nvSpPr>
            <p:spPr>
              <a:xfrm>
                <a:off x="107576" y="399534"/>
                <a:ext cx="11448548" cy="2201776"/>
              </a:xfrm>
            </p:spPr>
            <p:txBody>
              <a:bodyPr vert="horz" lIns="91440" tIns="45720" rIns="91440" bIns="45720" rtlCol="0" anchor="b">
                <a:noAutofit/>
              </a:bodyPr>
              <a:lstStyle/>
              <a:p>
                <a:pPr algn="ctr">
                  <a:spcAft>
                    <a:spcPts val="800"/>
                  </a:spcAft>
                </a:pPr>
                <a:r>
                  <a:rPr lang="fr-CA" sz="1800" kern="1200" dirty="0">
                    <a:solidFill>
                      <a:schemeClr val="tx1"/>
                    </a:solidFill>
                    <a:effectLst/>
                    <a:ea typeface="+mj-ea"/>
                    <a:cs typeface="+mj-cs"/>
                  </a:rPr>
                  <a:t>Avant l’utilisation de l’équation de cette droite de régression, soit à des fins descriptives ou inférentielles, il faut s’assurer de la véracité des 4 conditions de l’application de cette méthodologie. Ce qu’on va faire ci-dessous :</a:t>
                </a:r>
                <a:br>
                  <a:rPr lang="fr-CA" sz="1800" kern="1200" dirty="0">
                    <a:solidFill>
                      <a:schemeClr val="tx1"/>
                    </a:solidFill>
                    <a:effectLst/>
                    <a:ea typeface="+mj-ea"/>
                    <a:cs typeface="+mj-cs"/>
                  </a:rPr>
                </a:br>
                <a:r>
                  <a:rPr lang="fr-CA" sz="1800" kern="1200" dirty="0">
                    <a:solidFill>
                      <a:schemeClr val="tx1"/>
                    </a:solidFill>
                    <a:effectLst/>
                    <a:ea typeface="+mj-ea"/>
                    <a:cs typeface="+mj-cs"/>
                  </a:rPr>
                  <a:t>L’indépendance : On doit s’assurer que les données sont prises au hasard.</a:t>
                </a:r>
                <a:br>
                  <a:rPr lang="fr-CA" sz="1800" kern="1200" dirty="0">
                    <a:solidFill>
                      <a:schemeClr val="tx1"/>
                    </a:solidFill>
                    <a:effectLst/>
                    <a:ea typeface="+mj-ea"/>
                    <a:cs typeface="+mj-cs"/>
                  </a:rPr>
                </a:br>
                <a:r>
                  <a:rPr lang="fr-CA" sz="1800" kern="1200" dirty="0">
                    <a:solidFill>
                      <a:schemeClr val="tx1"/>
                    </a:solidFill>
                    <a:effectLst/>
                    <a:ea typeface="+mj-ea"/>
                    <a:cs typeface="+mj-cs"/>
                  </a:rPr>
                  <a:t>La variable X, température est supposée sans erreur autre que celle de la lecture du thermomètre.</a:t>
                </a:r>
                <a:br>
                  <a:rPr lang="fr-CA" sz="1800" kern="1200" dirty="0">
                    <a:solidFill>
                      <a:schemeClr val="tx1"/>
                    </a:solidFill>
                    <a:effectLst/>
                    <a:ea typeface="+mj-ea"/>
                    <a:cs typeface="+mj-cs"/>
                  </a:rPr>
                </a:br>
                <a:r>
                  <a:rPr lang="fr-CA" sz="1800" kern="1200" dirty="0">
                    <a:solidFill>
                      <a:schemeClr val="tx1"/>
                    </a:solidFill>
                    <a:effectLst/>
                    <a:ea typeface="+mj-ea"/>
                    <a:cs typeface="+mj-cs"/>
                  </a:rPr>
                  <a:t>Pour la normalité et l’homogénéité de la variance, il faut faire l’étude des résidus expérimentaux à savoir </a:t>
                </a:r>
                <a14:m>
                  <m:oMath xmlns:m="http://schemas.openxmlformats.org/officeDocument/2006/math">
                    <m:acc>
                      <m:accPr>
                        <m:chr m:val="̂"/>
                        <m:ctrlPr>
                          <a:rPr lang="fr-CA" sz="1800" i="1" kern="1200">
                            <a:solidFill>
                              <a:schemeClr val="tx1"/>
                            </a:solidFill>
                            <a:effectLst/>
                            <a:latin typeface="Cambria Math" panose="02040503050406030204" pitchFamily="18" charset="0"/>
                            <a:ea typeface="+mj-ea"/>
                            <a:cs typeface="+mj-cs"/>
                          </a:rPr>
                        </m:ctrlPr>
                      </m:accPr>
                      <m:e>
                        <m:sSub>
                          <m:sSubPr>
                            <m:ctrlPr>
                              <a:rPr lang="fr-CA" sz="1800" i="1" kern="1200">
                                <a:solidFill>
                                  <a:schemeClr val="tx1"/>
                                </a:solidFill>
                                <a:effectLst/>
                                <a:latin typeface="Cambria Math" panose="02040503050406030204" pitchFamily="18" charset="0"/>
                                <a:ea typeface="+mj-ea"/>
                                <a:cs typeface="+mj-cs"/>
                              </a:rPr>
                            </m:ctrlPr>
                          </m:sSubPr>
                          <m:e>
                            <m:r>
                              <a:rPr lang="fr-CA" sz="1800" i="1" kern="1200">
                                <a:solidFill>
                                  <a:schemeClr val="tx1"/>
                                </a:solidFill>
                                <a:effectLst/>
                                <a:latin typeface="Cambria Math" panose="02040503050406030204" pitchFamily="18" charset="0"/>
                                <a:ea typeface="+mj-ea"/>
                                <a:cs typeface="+mj-cs"/>
                              </a:rPr>
                              <m:t>𝑒</m:t>
                            </m:r>
                          </m:e>
                          <m:sub>
                            <m:r>
                              <a:rPr lang="fr-CA" sz="1800" i="1" kern="1200">
                                <a:solidFill>
                                  <a:schemeClr val="tx1"/>
                                </a:solidFill>
                                <a:effectLst/>
                                <a:latin typeface="Cambria Math" panose="02040503050406030204" pitchFamily="18" charset="0"/>
                                <a:ea typeface="+mj-ea"/>
                                <a:cs typeface="+mj-cs"/>
                              </a:rPr>
                              <m:t>𝑖</m:t>
                            </m:r>
                          </m:sub>
                        </m:sSub>
                      </m:e>
                    </m:acc>
                    <m:r>
                      <a:rPr lang="fr-CA" sz="1800" i="1" kern="1200">
                        <a:solidFill>
                          <a:schemeClr val="tx1"/>
                        </a:solidFill>
                        <a:effectLst/>
                        <a:latin typeface="Cambria Math" panose="02040503050406030204" pitchFamily="18" charset="0"/>
                        <a:ea typeface="+mj-ea"/>
                        <a:cs typeface="+mj-cs"/>
                      </a:rPr>
                      <m:t>=</m:t>
                    </m:r>
                    <m:sSub>
                      <m:sSubPr>
                        <m:ctrlPr>
                          <a:rPr lang="fr-CA" sz="1800" i="1" kern="1200">
                            <a:solidFill>
                              <a:schemeClr val="tx1"/>
                            </a:solidFill>
                            <a:effectLst/>
                            <a:latin typeface="Cambria Math" panose="02040503050406030204" pitchFamily="18" charset="0"/>
                            <a:ea typeface="+mj-ea"/>
                            <a:cs typeface="+mj-cs"/>
                          </a:rPr>
                        </m:ctrlPr>
                      </m:sSubPr>
                      <m:e>
                        <m:r>
                          <a:rPr lang="fr-CA" sz="1800" i="1" kern="1200">
                            <a:solidFill>
                              <a:schemeClr val="tx1"/>
                            </a:solidFill>
                            <a:effectLst/>
                            <a:latin typeface="Cambria Math" panose="02040503050406030204" pitchFamily="18" charset="0"/>
                            <a:ea typeface="+mj-ea"/>
                            <a:cs typeface="+mj-cs"/>
                          </a:rPr>
                          <m:t>𝑦</m:t>
                        </m:r>
                      </m:e>
                      <m:sub>
                        <m:r>
                          <a:rPr lang="fr-CA" sz="1800" i="1" kern="1200">
                            <a:solidFill>
                              <a:schemeClr val="tx1"/>
                            </a:solidFill>
                            <a:effectLst/>
                            <a:latin typeface="Cambria Math" panose="02040503050406030204" pitchFamily="18" charset="0"/>
                            <a:ea typeface="+mj-ea"/>
                            <a:cs typeface="+mj-cs"/>
                          </a:rPr>
                          <m:t>𝑖</m:t>
                        </m:r>
                      </m:sub>
                    </m:sSub>
                    <m:r>
                      <a:rPr lang="fr-CA" sz="1800" i="1" kern="1200">
                        <a:solidFill>
                          <a:schemeClr val="tx1"/>
                        </a:solidFill>
                        <a:effectLst/>
                        <a:latin typeface="Cambria Math" panose="02040503050406030204" pitchFamily="18" charset="0"/>
                        <a:ea typeface="+mj-ea"/>
                        <a:cs typeface="+mj-cs"/>
                      </a:rPr>
                      <m:t>−</m:t>
                    </m:r>
                    <m:acc>
                      <m:accPr>
                        <m:chr m:val="̂"/>
                        <m:ctrlPr>
                          <a:rPr lang="fr-CA" sz="1800" i="1" kern="1200">
                            <a:solidFill>
                              <a:schemeClr val="tx1"/>
                            </a:solidFill>
                            <a:effectLst/>
                            <a:latin typeface="Cambria Math" panose="02040503050406030204" pitchFamily="18" charset="0"/>
                            <a:ea typeface="+mj-ea"/>
                            <a:cs typeface="+mj-cs"/>
                          </a:rPr>
                        </m:ctrlPr>
                      </m:accPr>
                      <m:e>
                        <m:sSub>
                          <m:sSubPr>
                            <m:ctrlPr>
                              <a:rPr lang="fr-CA" sz="1800" i="1" kern="1200">
                                <a:solidFill>
                                  <a:schemeClr val="tx1"/>
                                </a:solidFill>
                                <a:effectLst/>
                                <a:latin typeface="Cambria Math" panose="02040503050406030204" pitchFamily="18" charset="0"/>
                                <a:ea typeface="+mj-ea"/>
                                <a:cs typeface="+mj-cs"/>
                              </a:rPr>
                            </m:ctrlPr>
                          </m:sSubPr>
                          <m:e>
                            <m:r>
                              <a:rPr lang="fr-CA" sz="1800" i="1" kern="1200">
                                <a:solidFill>
                                  <a:schemeClr val="tx1"/>
                                </a:solidFill>
                                <a:effectLst/>
                                <a:latin typeface="Cambria Math" panose="02040503050406030204" pitchFamily="18" charset="0"/>
                                <a:ea typeface="+mj-ea"/>
                                <a:cs typeface="+mj-cs"/>
                              </a:rPr>
                              <m:t>𝑦</m:t>
                            </m:r>
                          </m:e>
                          <m:sub>
                            <m:r>
                              <a:rPr lang="fr-CA" sz="1800" i="1" kern="1200">
                                <a:solidFill>
                                  <a:schemeClr val="tx1"/>
                                </a:solidFill>
                                <a:effectLst/>
                                <a:latin typeface="Cambria Math" panose="02040503050406030204" pitchFamily="18" charset="0"/>
                                <a:ea typeface="+mj-ea"/>
                                <a:cs typeface="+mj-cs"/>
                              </a:rPr>
                              <m:t>𝑖</m:t>
                            </m:r>
                          </m:sub>
                        </m:sSub>
                      </m:e>
                    </m:acc>
                    <m:r>
                      <a:rPr lang="fr-CA" sz="1800" i="1" kern="1200">
                        <a:solidFill>
                          <a:schemeClr val="tx1"/>
                        </a:solidFill>
                        <a:effectLst/>
                        <a:latin typeface="Cambria Math" panose="02040503050406030204" pitchFamily="18" charset="0"/>
                        <a:ea typeface="+mj-ea"/>
                        <a:cs typeface="+mj-cs"/>
                      </a:rPr>
                      <m:t>=</m:t>
                    </m:r>
                    <m:sSub>
                      <m:sSubPr>
                        <m:ctrlPr>
                          <a:rPr lang="fr-CA" sz="1800" i="1" kern="1200">
                            <a:solidFill>
                              <a:schemeClr val="tx1"/>
                            </a:solidFill>
                            <a:effectLst/>
                            <a:latin typeface="Cambria Math" panose="02040503050406030204" pitchFamily="18" charset="0"/>
                            <a:ea typeface="+mj-ea"/>
                            <a:cs typeface="+mj-cs"/>
                          </a:rPr>
                        </m:ctrlPr>
                      </m:sSubPr>
                      <m:e>
                        <m:r>
                          <a:rPr lang="fr-CA" sz="1800" i="1" kern="1200">
                            <a:solidFill>
                              <a:schemeClr val="tx1"/>
                            </a:solidFill>
                            <a:effectLst/>
                            <a:latin typeface="Cambria Math" panose="02040503050406030204" pitchFamily="18" charset="0"/>
                            <a:ea typeface="+mj-ea"/>
                            <a:cs typeface="+mj-cs"/>
                          </a:rPr>
                          <m:t>𝑦</m:t>
                        </m:r>
                      </m:e>
                      <m:sub>
                        <m:r>
                          <a:rPr lang="fr-CA" sz="1800" i="1" kern="1200">
                            <a:solidFill>
                              <a:schemeClr val="tx1"/>
                            </a:solidFill>
                            <a:effectLst/>
                            <a:latin typeface="Cambria Math" panose="02040503050406030204" pitchFamily="18" charset="0"/>
                            <a:ea typeface="+mj-ea"/>
                            <a:cs typeface="+mj-cs"/>
                          </a:rPr>
                          <m:t>𝑖</m:t>
                        </m:r>
                      </m:sub>
                    </m:sSub>
                    <m:r>
                      <a:rPr lang="fr-CA" sz="1800" i="1" kern="1200">
                        <a:solidFill>
                          <a:schemeClr val="tx1"/>
                        </a:solidFill>
                        <a:effectLst/>
                        <a:latin typeface="Cambria Math" panose="02040503050406030204" pitchFamily="18" charset="0"/>
                        <a:ea typeface="+mj-ea"/>
                        <a:cs typeface="+mj-cs"/>
                      </a:rPr>
                      <m:t>−69,457−1,594</m:t>
                    </m:r>
                    <m:sSub>
                      <m:sSubPr>
                        <m:ctrlPr>
                          <a:rPr lang="fr-CA" sz="1800" i="1" kern="1200">
                            <a:solidFill>
                              <a:schemeClr val="tx1"/>
                            </a:solidFill>
                            <a:effectLst/>
                            <a:latin typeface="Cambria Math" panose="02040503050406030204" pitchFamily="18" charset="0"/>
                            <a:ea typeface="+mj-ea"/>
                            <a:cs typeface="+mj-cs"/>
                          </a:rPr>
                        </m:ctrlPr>
                      </m:sSubPr>
                      <m:e>
                        <m:r>
                          <a:rPr lang="fr-CA" sz="1800" i="1" kern="1200">
                            <a:solidFill>
                              <a:schemeClr val="tx1"/>
                            </a:solidFill>
                            <a:effectLst/>
                            <a:latin typeface="Cambria Math" panose="02040503050406030204" pitchFamily="18" charset="0"/>
                            <a:ea typeface="+mj-ea"/>
                            <a:cs typeface="+mj-cs"/>
                          </a:rPr>
                          <m:t>𝑥</m:t>
                        </m:r>
                      </m:e>
                      <m:sub>
                        <m:r>
                          <a:rPr lang="fr-CA" sz="1800" i="1" kern="1200">
                            <a:solidFill>
                              <a:schemeClr val="tx1"/>
                            </a:solidFill>
                            <a:effectLst/>
                            <a:latin typeface="Cambria Math" panose="02040503050406030204" pitchFamily="18" charset="0"/>
                            <a:ea typeface="+mj-ea"/>
                            <a:cs typeface="+mj-cs"/>
                          </a:rPr>
                          <m:t>𝑖</m:t>
                        </m:r>
                      </m:sub>
                    </m:sSub>
                    <m:r>
                      <a:rPr lang="fr-CA" sz="1800" i="1" kern="1200">
                        <a:solidFill>
                          <a:schemeClr val="tx1"/>
                        </a:solidFill>
                        <a:effectLst/>
                        <a:latin typeface="Cambria Math" panose="02040503050406030204" pitchFamily="18" charset="0"/>
                        <a:ea typeface="+mj-ea"/>
                        <a:cs typeface="+mj-cs"/>
                      </a:rPr>
                      <m:t>      </m:t>
                    </m:r>
                    <m:r>
                      <a:rPr lang="fr-CA" sz="1800" i="1" kern="1200">
                        <a:solidFill>
                          <a:schemeClr val="tx1"/>
                        </a:solidFill>
                        <a:effectLst/>
                        <a:latin typeface="Cambria Math" panose="02040503050406030204" pitchFamily="18" charset="0"/>
                        <a:ea typeface="+mj-ea"/>
                        <a:cs typeface="+mj-cs"/>
                      </a:rPr>
                      <m:t>𝑝𝑜𝑢𝑟</m:t>
                    </m:r>
                    <m:r>
                      <a:rPr lang="fr-CA" sz="1800" i="1" kern="1200">
                        <a:solidFill>
                          <a:schemeClr val="tx1"/>
                        </a:solidFill>
                        <a:effectLst/>
                        <a:latin typeface="Cambria Math" panose="02040503050406030204" pitchFamily="18" charset="0"/>
                        <a:ea typeface="+mj-ea"/>
                        <a:cs typeface="+mj-cs"/>
                      </a:rPr>
                      <m:t> </m:t>
                    </m:r>
                    <m:r>
                      <a:rPr lang="fr-CA" sz="1800" i="1" kern="1200">
                        <a:solidFill>
                          <a:schemeClr val="tx1"/>
                        </a:solidFill>
                        <a:effectLst/>
                        <a:latin typeface="Cambria Math" panose="02040503050406030204" pitchFamily="18" charset="0"/>
                        <a:ea typeface="+mj-ea"/>
                        <a:cs typeface="+mj-cs"/>
                      </a:rPr>
                      <m:t>𝑖</m:t>
                    </m:r>
                    <m:r>
                      <a:rPr lang="fr-CA" sz="1800" i="1" kern="1200">
                        <a:solidFill>
                          <a:schemeClr val="tx1"/>
                        </a:solidFill>
                        <a:effectLst/>
                        <a:latin typeface="Cambria Math" panose="02040503050406030204" pitchFamily="18" charset="0"/>
                        <a:ea typeface="+mj-ea"/>
                        <a:cs typeface="+mj-cs"/>
                      </a:rPr>
                      <m:t>=1,…..,</m:t>
                    </m:r>
                    <m:r>
                      <a:rPr lang="fr-CA" sz="1800" i="1" kern="1200">
                        <a:solidFill>
                          <a:schemeClr val="tx1"/>
                        </a:solidFill>
                        <a:effectLst/>
                        <a:latin typeface="Cambria Math" panose="02040503050406030204" pitchFamily="18" charset="0"/>
                        <a:ea typeface="+mj-ea"/>
                        <a:cs typeface="+mj-cs"/>
                      </a:rPr>
                      <m:t>𝑛</m:t>
                    </m:r>
                  </m:oMath>
                </a14:m>
                <a:br>
                  <a:rPr lang="fr-CA" sz="1800" kern="1200" dirty="0">
                    <a:solidFill>
                      <a:schemeClr val="tx1"/>
                    </a:solidFill>
                    <a:effectLst/>
                    <a:ea typeface="+mj-ea"/>
                    <a:cs typeface="+mj-cs"/>
                  </a:rPr>
                </a:br>
                <a:r>
                  <a:rPr lang="fr-CA" sz="1800" kern="1200" dirty="0">
                    <a:solidFill>
                      <a:schemeClr val="tx1"/>
                    </a:solidFill>
                    <a:effectLst/>
                    <a:ea typeface="+mj-ea"/>
                    <a:cs typeface="+mj-cs"/>
                  </a:rPr>
                  <a:t>Cette étude des résidus, on va la faire en utilisant le logiciel R. En traçant le graphique quantiles-quantiles des résidus. En tapant:</a:t>
                </a:r>
                <a:br>
                  <a:rPr lang="fr-CA" sz="1800" kern="1200" dirty="0">
                    <a:solidFill>
                      <a:schemeClr val="tx1"/>
                    </a:solidFill>
                    <a:effectLst/>
                    <a:ea typeface="+mj-ea"/>
                    <a:cs typeface="+mj-cs"/>
                  </a:rPr>
                </a:br>
                <a:endParaRPr lang="fr-CA" sz="1800" kern="1200" dirty="0">
                  <a:solidFill>
                    <a:schemeClr val="tx1"/>
                  </a:solidFill>
                  <a:ea typeface="+mj-ea"/>
                  <a:cs typeface="+mj-cs"/>
                </a:endParaRPr>
              </a:p>
            </p:txBody>
          </p:sp>
        </mc:Choice>
        <mc:Fallback xmlns="">
          <p:sp>
            <p:nvSpPr>
              <p:cNvPr id="2" name="Titre 1">
                <a:extLst>
                  <a:ext uri="{FF2B5EF4-FFF2-40B4-BE49-F238E27FC236}">
                    <a16:creationId xmlns:a16="http://schemas.microsoft.com/office/drawing/2014/main" id="{6ABBB848-C44C-4DB8-8453-1515995F5CE7}"/>
                  </a:ext>
                </a:extLst>
              </p:cNvPr>
              <p:cNvSpPr>
                <a:spLocks noGrp="1" noRot="1" noChangeAspect="1" noMove="1" noResize="1" noEditPoints="1" noAdjustHandles="1" noChangeArrowheads="1" noChangeShapeType="1" noTextEdit="1"/>
              </p:cNvSpPr>
              <p:nvPr>
                <p:ph type="title"/>
              </p:nvPr>
            </p:nvSpPr>
            <p:spPr>
              <a:xfrm>
                <a:off x="107576" y="399534"/>
                <a:ext cx="11448548" cy="2201776"/>
              </a:xfrm>
              <a:blipFill>
                <a:blip r:embed="rId2"/>
                <a:stretch>
                  <a:fillRect t="-7756"/>
                </a:stretch>
              </a:blipFill>
            </p:spPr>
            <p:txBody>
              <a:bodyPr/>
              <a:lstStyle/>
              <a:p>
                <a:r>
                  <a:rPr lang="fr-CA">
                    <a:noFill/>
                  </a:rPr>
                  <a:t> </a:t>
                </a:r>
              </a:p>
            </p:txBody>
          </p:sp>
        </mc:Fallback>
      </mc:AlternateContent>
      <p:sp>
        <p:nvSpPr>
          <p:cNvPr id="3" name="Espace réservé du pied de page 2">
            <a:extLst>
              <a:ext uri="{FF2B5EF4-FFF2-40B4-BE49-F238E27FC236}">
                <a16:creationId xmlns:a16="http://schemas.microsoft.com/office/drawing/2014/main" id="{BF7BD41A-BAF1-4134-90C3-B45D2A6ADD2C}"/>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defTabSz="914400"/>
            <a:endParaRPr lang="en-US" sz="1200" kern="1200">
              <a:solidFill>
                <a:schemeClr val="tx1">
                  <a:tint val="75000"/>
                </a:schemeClr>
              </a:solidFill>
              <a:latin typeface="+mn-lt"/>
              <a:ea typeface="+mn-ea"/>
              <a:cs typeface="+mn-cs"/>
            </a:endParaRPr>
          </a:p>
        </p:txBody>
      </p:sp>
      <p:sp>
        <p:nvSpPr>
          <p:cNvPr id="4" name="Espace réservé du numéro de diapositive 3">
            <a:extLst>
              <a:ext uri="{FF2B5EF4-FFF2-40B4-BE49-F238E27FC236}">
                <a16:creationId xmlns:a16="http://schemas.microsoft.com/office/drawing/2014/main" id="{4836CFC2-8AE3-41A1-BAB1-6D114C030B3F}"/>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defTabSz="914400">
              <a:spcAft>
                <a:spcPts val="600"/>
              </a:spcAft>
            </a:pPr>
            <a:fld id="{26377AD9-CE17-438C-A638-C64D2D42D7CF}" type="slidenum">
              <a:rPr lang="en-US" smtClean="0"/>
              <a:pPr defTabSz="914400">
                <a:spcAft>
                  <a:spcPts val="600"/>
                </a:spcAft>
              </a:pPr>
              <a:t>13</a:t>
            </a:fld>
            <a:endParaRPr lang="en-US"/>
          </a:p>
        </p:txBody>
      </p:sp>
      <p:graphicFrame>
        <p:nvGraphicFramePr>
          <p:cNvPr id="5" name="Tableau 4">
            <a:extLst>
              <a:ext uri="{FF2B5EF4-FFF2-40B4-BE49-F238E27FC236}">
                <a16:creationId xmlns:a16="http://schemas.microsoft.com/office/drawing/2014/main" id="{2DABBCF6-4827-43C6-A536-06101DB98F65}"/>
              </a:ext>
            </a:extLst>
          </p:cNvPr>
          <p:cNvGraphicFramePr>
            <a:graphicFrameLocks noGrp="1"/>
          </p:cNvGraphicFramePr>
          <p:nvPr>
            <p:extLst>
              <p:ext uri="{D42A27DB-BD31-4B8C-83A1-F6EECF244321}">
                <p14:modId xmlns:p14="http://schemas.microsoft.com/office/powerpoint/2010/main" val="764524766"/>
              </p:ext>
            </p:extLst>
          </p:nvPr>
        </p:nvGraphicFramePr>
        <p:xfrm>
          <a:off x="838200" y="3098719"/>
          <a:ext cx="10515599" cy="3082704"/>
        </p:xfrm>
        <a:graphic>
          <a:graphicData uri="http://schemas.openxmlformats.org/drawingml/2006/table">
            <a:tbl>
              <a:tblPr firstRow="1" firstCol="1" bandRow="1">
                <a:tableStyleId>{5C22544A-7EE6-4342-B048-85BDC9FD1C3A}</a:tableStyleId>
              </a:tblPr>
              <a:tblGrid>
                <a:gridCol w="10515599">
                  <a:extLst>
                    <a:ext uri="{9D8B030D-6E8A-4147-A177-3AD203B41FA5}">
                      <a16:colId xmlns:a16="http://schemas.microsoft.com/office/drawing/2014/main" val="3495994464"/>
                    </a:ext>
                  </a:extLst>
                </a:gridCol>
              </a:tblGrid>
              <a:tr h="609723">
                <a:tc>
                  <a:txBody>
                    <a:bodyPr/>
                    <a:lstStyle/>
                    <a:p>
                      <a:pPr>
                        <a:lnSpc>
                          <a:spcPct val="200000"/>
                        </a:lnSpc>
                      </a:pPr>
                      <a:r>
                        <a:rPr lang="fr-CA" sz="2100">
                          <a:effectLst/>
                        </a:rPr>
                        <a:t>Pour trouver les résidus :</a:t>
                      </a:r>
                      <a:endParaRPr lang="fr-CA" sz="2100">
                        <a:solidFill>
                          <a:srgbClr val="000000"/>
                        </a:solidFill>
                        <a:effectLst/>
                        <a:latin typeface="Times (TT) Regular"/>
                        <a:ea typeface="Times New Roman" panose="02020603050405020304" pitchFamily="18" charset="0"/>
                        <a:cs typeface="Times (TT) Regular"/>
                      </a:endParaRPr>
                    </a:p>
                  </a:txBody>
                  <a:tcPr marL="120715" marR="120715" marT="0" marB="0"/>
                </a:tc>
                <a:extLst>
                  <a:ext uri="{0D108BD9-81ED-4DB2-BD59-A6C34878D82A}">
                    <a16:rowId xmlns:a16="http://schemas.microsoft.com/office/drawing/2014/main" val="1681765445"/>
                  </a:ext>
                </a:extLst>
              </a:tr>
              <a:tr h="609723">
                <a:tc>
                  <a:txBody>
                    <a:bodyPr/>
                    <a:lstStyle/>
                    <a:p>
                      <a:pPr>
                        <a:lnSpc>
                          <a:spcPct val="200000"/>
                        </a:lnSpc>
                      </a:pPr>
                      <a:r>
                        <a:rPr lang="fr-CA" sz="2100">
                          <a:effectLst/>
                        </a:rPr>
                        <a:t>z=Modele$residuals</a:t>
                      </a:r>
                      <a:endParaRPr lang="fr-CA" sz="2100">
                        <a:solidFill>
                          <a:srgbClr val="000000"/>
                        </a:solidFill>
                        <a:effectLst/>
                        <a:latin typeface="Times (TT) Regular"/>
                        <a:ea typeface="Times New Roman" panose="02020603050405020304" pitchFamily="18" charset="0"/>
                        <a:cs typeface="Times (TT) Regular"/>
                      </a:endParaRPr>
                    </a:p>
                  </a:txBody>
                  <a:tcPr marL="120715" marR="120715" marT="0" marB="0"/>
                </a:tc>
                <a:extLst>
                  <a:ext uri="{0D108BD9-81ED-4DB2-BD59-A6C34878D82A}">
                    <a16:rowId xmlns:a16="http://schemas.microsoft.com/office/drawing/2014/main" val="3542989736"/>
                  </a:ext>
                </a:extLst>
              </a:tr>
              <a:tr h="609723">
                <a:tc>
                  <a:txBody>
                    <a:bodyPr/>
                    <a:lstStyle/>
                    <a:p>
                      <a:pPr>
                        <a:lnSpc>
                          <a:spcPct val="200000"/>
                        </a:lnSpc>
                      </a:pPr>
                      <a:r>
                        <a:rPr lang="fr-CA" sz="2100">
                          <a:effectLst/>
                        </a:rPr>
                        <a:t>Pour vérifier la normalité des résidus et l’homogénéité de leur variance :</a:t>
                      </a:r>
                      <a:endParaRPr lang="fr-CA" sz="2100">
                        <a:solidFill>
                          <a:srgbClr val="000000"/>
                        </a:solidFill>
                        <a:effectLst/>
                        <a:latin typeface="Times (TT) Regular"/>
                        <a:ea typeface="Times New Roman" panose="02020603050405020304" pitchFamily="18" charset="0"/>
                        <a:cs typeface="Times (TT) Regular"/>
                      </a:endParaRPr>
                    </a:p>
                  </a:txBody>
                  <a:tcPr marL="120715" marR="120715" marT="0" marB="0"/>
                </a:tc>
                <a:extLst>
                  <a:ext uri="{0D108BD9-81ED-4DB2-BD59-A6C34878D82A}">
                    <a16:rowId xmlns:a16="http://schemas.microsoft.com/office/drawing/2014/main" val="2022183118"/>
                  </a:ext>
                </a:extLst>
              </a:tr>
              <a:tr h="1253535">
                <a:tc>
                  <a:txBody>
                    <a:bodyPr/>
                    <a:lstStyle/>
                    <a:p>
                      <a:pPr>
                        <a:lnSpc>
                          <a:spcPct val="200000"/>
                        </a:lnSpc>
                      </a:pPr>
                      <a:r>
                        <a:rPr lang="en-CA" sz="2100">
                          <a:effectLst/>
                        </a:rPr>
                        <a:t>qqnorm(z,xlab="…",ylab="…",main="…",col="…")</a:t>
                      </a:r>
                      <a:endParaRPr lang="fr-CA" sz="2100">
                        <a:effectLst/>
                      </a:endParaRPr>
                    </a:p>
                    <a:p>
                      <a:pPr>
                        <a:lnSpc>
                          <a:spcPct val="200000"/>
                        </a:lnSpc>
                      </a:pPr>
                      <a:r>
                        <a:rPr lang="en-CA" sz="2100">
                          <a:effectLst/>
                        </a:rPr>
                        <a:t>abline(mean(z),sd(z),col="…")</a:t>
                      </a:r>
                      <a:endParaRPr lang="fr-CA" sz="2100">
                        <a:solidFill>
                          <a:srgbClr val="000000"/>
                        </a:solidFill>
                        <a:effectLst/>
                        <a:latin typeface="Times (TT) Regular"/>
                        <a:ea typeface="Times New Roman" panose="02020603050405020304" pitchFamily="18" charset="0"/>
                        <a:cs typeface="Times (TT) Regular"/>
                      </a:endParaRPr>
                    </a:p>
                  </a:txBody>
                  <a:tcPr marL="120715" marR="120715" marT="0" marB="0"/>
                </a:tc>
                <a:extLst>
                  <a:ext uri="{0D108BD9-81ED-4DB2-BD59-A6C34878D82A}">
                    <a16:rowId xmlns:a16="http://schemas.microsoft.com/office/drawing/2014/main" val="3471955083"/>
                  </a:ext>
                </a:extLst>
              </a:tr>
            </a:tbl>
          </a:graphicData>
        </a:graphic>
      </p:graphicFrame>
    </p:spTree>
    <p:extLst>
      <p:ext uri="{BB962C8B-B14F-4D97-AF65-F5344CB8AC3E}">
        <p14:creationId xmlns:p14="http://schemas.microsoft.com/office/powerpoint/2010/main" val="34921733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4A73CB-D4D8-4F42-A1A3-A6E1756D6A87}"/>
              </a:ext>
            </a:extLst>
          </p:cNvPr>
          <p:cNvSpPr>
            <a:spLocks noGrp="1"/>
          </p:cNvSpPr>
          <p:nvPr>
            <p:ph type="title"/>
          </p:nvPr>
        </p:nvSpPr>
        <p:spPr/>
        <p:txBody>
          <a:bodyPr/>
          <a:lstStyle/>
          <a:p>
            <a:r>
              <a:rPr lang="fr-CA" dirty="0"/>
              <a:t>On obtient:</a:t>
            </a:r>
          </a:p>
        </p:txBody>
      </p:sp>
      <p:sp>
        <p:nvSpPr>
          <p:cNvPr id="3" name="Espace réservé du pied de page 2">
            <a:extLst>
              <a:ext uri="{FF2B5EF4-FFF2-40B4-BE49-F238E27FC236}">
                <a16:creationId xmlns:a16="http://schemas.microsoft.com/office/drawing/2014/main" id="{F59E7451-41C1-49FC-BAAC-C7B75CB72336}"/>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7843DF30-A8F5-4611-B901-5B9B15D1EE1C}"/>
              </a:ext>
            </a:extLst>
          </p:cNvPr>
          <p:cNvSpPr>
            <a:spLocks noGrp="1"/>
          </p:cNvSpPr>
          <p:nvPr>
            <p:ph type="sldNum" sz="quarter" idx="12"/>
          </p:nvPr>
        </p:nvSpPr>
        <p:spPr/>
        <p:txBody>
          <a:bodyPr/>
          <a:lstStyle/>
          <a:p>
            <a:fld id="{26377AD9-CE17-438C-A638-C64D2D42D7CF}" type="slidenum">
              <a:rPr lang="fr-CA" smtClean="0"/>
              <a:t>14</a:t>
            </a:fld>
            <a:endParaRPr lang="fr-CA"/>
          </a:p>
        </p:txBody>
      </p:sp>
      <p:pic>
        <p:nvPicPr>
          <p:cNvPr id="5" name="Image 4">
            <a:extLst>
              <a:ext uri="{FF2B5EF4-FFF2-40B4-BE49-F238E27FC236}">
                <a16:creationId xmlns:a16="http://schemas.microsoft.com/office/drawing/2014/main" id="{E22C90BD-239B-44EC-93EE-88297EBFCD17}"/>
              </a:ext>
            </a:extLst>
          </p:cNvPr>
          <p:cNvPicPr/>
          <p:nvPr/>
        </p:nvPicPr>
        <p:blipFill>
          <a:blip r:embed="rId2"/>
          <a:stretch>
            <a:fillRect/>
          </a:stretch>
        </p:blipFill>
        <p:spPr>
          <a:xfrm>
            <a:off x="1481805" y="1321356"/>
            <a:ext cx="10213428" cy="4044019"/>
          </a:xfrm>
          <a:prstGeom prst="rect">
            <a:avLst/>
          </a:prstGeom>
        </p:spPr>
      </p:pic>
      <p:sp>
        <p:nvSpPr>
          <p:cNvPr id="6" name="ZoneTexte 5">
            <a:extLst>
              <a:ext uri="{FF2B5EF4-FFF2-40B4-BE49-F238E27FC236}">
                <a16:creationId xmlns:a16="http://schemas.microsoft.com/office/drawing/2014/main" id="{2AB263FD-17D7-4F8D-B2AD-7F88F857DC35}"/>
              </a:ext>
            </a:extLst>
          </p:cNvPr>
          <p:cNvSpPr txBox="1"/>
          <p:nvPr/>
        </p:nvSpPr>
        <p:spPr>
          <a:xfrm>
            <a:off x="838200" y="5486400"/>
            <a:ext cx="10213428" cy="369332"/>
          </a:xfrm>
          <a:prstGeom prst="rect">
            <a:avLst/>
          </a:prstGeom>
          <a:noFill/>
        </p:spPr>
        <p:txBody>
          <a:bodyPr wrap="square" rtlCol="0">
            <a:spAutoFit/>
          </a:bodyPr>
          <a:lstStyle/>
          <a:p>
            <a:r>
              <a:rPr lang="fr-CA" sz="1800" dirty="0">
                <a:effectLst/>
                <a:latin typeface="Calibri" panose="020F0502020204030204" pitchFamily="34" charset="0"/>
                <a:ea typeface="Times New Roman" panose="02020603050405020304" pitchFamily="18" charset="0"/>
                <a:cs typeface="Times New Roman" panose="02020603050405020304" pitchFamily="18" charset="0"/>
              </a:rPr>
              <a:t>Ce graphique montre que les résidus peuvent être supposés normalement distribués</a:t>
            </a:r>
            <a:endParaRPr lang="fr-CA" dirty="0"/>
          </a:p>
        </p:txBody>
      </p:sp>
    </p:spTree>
    <p:extLst>
      <p:ext uri="{BB962C8B-B14F-4D97-AF65-F5344CB8AC3E}">
        <p14:creationId xmlns:p14="http://schemas.microsoft.com/office/powerpoint/2010/main" val="11912532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re 1">
                <a:extLst>
                  <a:ext uri="{FF2B5EF4-FFF2-40B4-BE49-F238E27FC236}">
                    <a16:creationId xmlns:a16="http://schemas.microsoft.com/office/drawing/2014/main" id="{F110851E-0222-4F7E-AF64-FC7E02EE4C42}"/>
                  </a:ext>
                </a:extLst>
              </p:cNvPr>
              <p:cNvSpPr>
                <a:spLocks noGrp="1"/>
              </p:cNvSpPr>
              <p:nvPr>
                <p:ph type="title"/>
              </p:nvPr>
            </p:nvSpPr>
            <p:spPr>
              <a:xfrm>
                <a:off x="838200" y="365125"/>
                <a:ext cx="10515600" cy="5753287"/>
              </a:xfrm>
            </p:spPr>
            <p:txBody>
              <a:bodyPr>
                <a:noAutofit/>
              </a:bodyPr>
              <a:lstStyle/>
              <a:p>
                <a:pPr>
                  <a:lnSpc>
                    <a:spcPct val="200000"/>
                  </a:lnSpc>
                  <a:spcAft>
                    <a:spcPts val="800"/>
                  </a:spcAft>
                </a:pPr>
                <a:r>
                  <a:rPr lang="fr-FR" sz="2000" dirty="0">
                    <a:solidFill>
                      <a:srgbClr val="000000"/>
                    </a:solidFill>
                    <a:effectLst/>
                    <a:latin typeface="Times New Roman" panose="02020603050405020304" pitchFamily="18" charset="0"/>
                    <a:ea typeface="Times New Roman" panose="02020603050405020304" pitchFamily="18" charset="0"/>
                  </a:rPr>
                  <a:t>Quant à la variance des résidus, son estimateur est égal à :</a:t>
                </a:r>
                <a:br>
                  <a:rPr lang="fr-CA" sz="2000" dirty="0">
                    <a:solidFill>
                      <a:srgbClr val="000000"/>
                    </a:solidFill>
                    <a:effectLst/>
                    <a:latin typeface="Times New Roman" panose="02020603050405020304" pitchFamily="18" charset="0"/>
                    <a:ea typeface="Times New Roman" panose="02020603050405020304" pitchFamily="18" charset="0"/>
                  </a:rPr>
                </a:br>
                <a14:m>
                  <m:oMathPara xmlns:m="http://schemas.openxmlformats.org/officeDocument/2006/math">
                    <m:oMathParaPr>
                      <m:jc m:val="centerGroup"/>
                    </m:oMathParaPr>
                    <m:oMath xmlns:m="http://schemas.openxmlformats.org/officeDocument/2006/math">
                      <m:acc>
                        <m:accPr>
                          <m:chr m:val="̂"/>
                          <m:ctrlPr>
                            <a:rPr lang="fr-CA" sz="2000" i="1">
                              <a:solidFill>
                                <a:srgbClr val="000000"/>
                              </a:solidFill>
                              <a:effectLst/>
                              <a:latin typeface="Cambria Math" panose="02040503050406030204" pitchFamily="18" charset="0"/>
                              <a:ea typeface="Times New Roman" panose="02020603050405020304" pitchFamily="18" charset="0"/>
                            </a:rPr>
                          </m:ctrlPr>
                        </m:accPr>
                        <m:e>
                          <m:sSup>
                            <m:sSupPr>
                              <m:ctrlPr>
                                <a:rPr lang="fr-CA" sz="2000" i="1">
                                  <a:solidFill>
                                    <a:srgbClr val="000000"/>
                                  </a:solidFill>
                                  <a:effectLst/>
                                  <a:latin typeface="Cambria Math" panose="02040503050406030204" pitchFamily="18" charset="0"/>
                                  <a:ea typeface="Times New Roman" panose="02020603050405020304" pitchFamily="18" charset="0"/>
                                </a:rPr>
                              </m:ctrlPr>
                            </m:sSupPr>
                            <m:e>
                              <m:r>
                                <a:rPr lang="fr-FR" sz="2000" i="1">
                                  <a:solidFill>
                                    <a:srgbClr val="000000"/>
                                  </a:solidFill>
                                  <a:effectLst/>
                                  <a:latin typeface="Cambria Math" panose="02040503050406030204" pitchFamily="18" charset="0"/>
                                  <a:ea typeface="Times New Roman" panose="02020603050405020304" pitchFamily="18" charset="0"/>
                                </a:rPr>
                                <m:t>𝜎</m:t>
                              </m:r>
                            </m:e>
                            <m:sup>
                              <m:r>
                                <a:rPr lang="fr-FR" sz="2000" i="1">
                                  <a:solidFill>
                                    <a:srgbClr val="000000"/>
                                  </a:solidFill>
                                  <a:effectLst/>
                                  <a:latin typeface="Cambria Math" panose="02040503050406030204" pitchFamily="18" charset="0"/>
                                  <a:ea typeface="Times New Roman" panose="02020603050405020304" pitchFamily="18" charset="0"/>
                                </a:rPr>
                                <m:t>2</m:t>
                              </m:r>
                            </m:sup>
                          </m:sSup>
                        </m:e>
                      </m:acc>
                      <m:r>
                        <a:rPr lang="fr-FR" sz="2000" i="1">
                          <a:solidFill>
                            <a:srgbClr val="000000"/>
                          </a:solidFill>
                          <a:effectLst/>
                          <a:latin typeface="Cambria Math" panose="02040503050406030204" pitchFamily="18" charset="0"/>
                          <a:ea typeface="Times New Roman" panose="02020603050405020304" pitchFamily="18" charset="0"/>
                        </a:rPr>
                        <m:t>=</m:t>
                      </m:r>
                      <m:sSup>
                        <m:sSupPr>
                          <m:ctrlPr>
                            <a:rPr lang="fr-CA" sz="2000" i="1">
                              <a:solidFill>
                                <a:srgbClr val="000000"/>
                              </a:solidFill>
                              <a:effectLst/>
                              <a:latin typeface="Cambria Math" panose="02040503050406030204" pitchFamily="18" charset="0"/>
                              <a:ea typeface="Times New Roman" panose="02020603050405020304" pitchFamily="18" charset="0"/>
                            </a:rPr>
                          </m:ctrlPr>
                        </m:sSupPr>
                        <m:e>
                          <m:r>
                            <a:rPr lang="fr-FR" sz="2000" i="1">
                              <a:solidFill>
                                <a:srgbClr val="000000"/>
                              </a:solidFill>
                              <a:effectLst/>
                              <a:latin typeface="Cambria Math" panose="02040503050406030204" pitchFamily="18" charset="0"/>
                              <a:ea typeface="Times New Roman" panose="02020603050405020304" pitchFamily="18" charset="0"/>
                            </a:rPr>
                            <m:t>𝑠</m:t>
                          </m:r>
                        </m:e>
                        <m:sup>
                          <m:r>
                            <a:rPr lang="fr-FR" sz="2000" i="1">
                              <a:solidFill>
                                <a:srgbClr val="000000"/>
                              </a:solidFill>
                              <a:effectLst/>
                              <a:latin typeface="Cambria Math" panose="02040503050406030204" pitchFamily="18" charset="0"/>
                              <a:ea typeface="Times New Roman" panose="02020603050405020304" pitchFamily="18" charset="0"/>
                            </a:rPr>
                            <m:t>2</m:t>
                          </m:r>
                        </m:sup>
                      </m:sSup>
                      <m:r>
                        <a:rPr lang="fr-FR" sz="2000" i="1">
                          <a:solidFill>
                            <a:srgbClr val="000000"/>
                          </a:solidFill>
                          <a:effectLst/>
                          <a:latin typeface="Cambria Math" panose="02040503050406030204" pitchFamily="18" charset="0"/>
                          <a:ea typeface="Times New Roman" panose="02020603050405020304" pitchFamily="18" charset="0"/>
                        </a:rPr>
                        <m:t>=</m:t>
                      </m:r>
                      <m:f>
                        <m:fPr>
                          <m:ctrlPr>
                            <a:rPr lang="fr-CA" sz="2000" i="1">
                              <a:solidFill>
                                <a:srgbClr val="000000"/>
                              </a:solidFill>
                              <a:effectLst/>
                              <a:latin typeface="Cambria Math" panose="02040503050406030204" pitchFamily="18" charset="0"/>
                              <a:ea typeface="Times New Roman" panose="02020603050405020304" pitchFamily="18" charset="0"/>
                            </a:rPr>
                          </m:ctrlPr>
                        </m:fPr>
                        <m:num>
                          <m:nary>
                            <m:naryPr>
                              <m:chr m:val="∑"/>
                              <m:limLoc m:val="undOvr"/>
                              <m:ctrlPr>
                                <a:rPr lang="fr-CA" sz="2000" i="1">
                                  <a:solidFill>
                                    <a:srgbClr val="000000"/>
                                  </a:solidFill>
                                  <a:effectLst/>
                                  <a:latin typeface="Cambria Math" panose="02040503050406030204" pitchFamily="18" charset="0"/>
                                  <a:ea typeface="Times New Roman" panose="02020603050405020304" pitchFamily="18" charset="0"/>
                                </a:rPr>
                              </m:ctrlPr>
                            </m:naryPr>
                            <m:sub>
                              <m:r>
                                <a:rPr lang="fr-FR" sz="2000" i="1">
                                  <a:solidFill>
                                    <a:srgbClr val="000000"/>
                                  </a:solidFill>
                                  <a:effectLst/>
                                  <a:latin typeface="Cambria Math" panose="02040503050406030204" pitchFamily="18" charset="0"/>
                                  <a:ea typeface="Times New Roman" panose="02020603050405020304" pitchFamily="18" charset="0"/>
                                </a:rPr>
                                <m:t>𝑖</m:t>
                              </m:r>
                              <m:r>
                                <a:rPr lang="fr-FR" sz="2000" i="1">
                                  <a:solidFill>
                                    <a:srgbClr val="000000"/>
                                  </a:solidFill>
                                  <a:effectLst/>
                                  <a:latin typeface="Cambria Math" panose="02040503050406030204" pitchFamily="18" charset="0"/>
                                  <a:ea typeface="Times New Roman" panose="02020603050405020304" pitchFamily="18" charset="0"/>
                                </a:rPr>
                                <m:t>=1</m:t>
                              </m:r>
                            </m:sub>
                            <m:sup>
                              <m:r>
                                <a:rPr lang="fr-FR" sz="2000" i="1">
                                  <a:solidFill>
                                    <a:srgbClr val="000000"/>
                                  </a:solidFill>
                                  <a:effectLst/>
                                  <a:latin typeface="Cambria Math" panose="02040503050406030204" pitchFamily="18" charset="0"/>
                                  <a:ea typeface="Times New Roman" panose="02020603050405020304" pitchFamily="18" charset="0"/>
                                </a:rPr>
                                <m:t>𝑛</m:t>
                              </m:r>
                            </m:sup>
                            <m:e>
                              <m:acc>
                                <m:accPr>
                                  <m:chr m:val="̂"/>
                                  <m:ctrlPr>
                                    <a:rPr lang="fr-CA" sz="2000" i="1">
                                      <a:solidFill>
                                        <a:srgbClr val="000000"/>
                                      </a:solidFill>
                                      <a:effectLst/>
                                      <a:latin typeface="Cambria Math" panose="02040503050406030204" pitchFamily="18" charset="0"/>
                                      <a:ea typeface="Times New Roman" panose="02020603050405020304" pitchFamily="18" charset="0"/>
                                    </a:rPr>
                                  </m:ctrlPr>
                                </m:accPr>
                                <m:e>
                                  <m:sSubSup>
                                    <m:sSubSupPr>
                                      <m:ctrlPr>
                                        <a:rPr lang="fr-CA" sz="2000" i="1">
                                          <a:solidFill>
                                            <a:srgbClr val="000000"/>
                                          </a:solidFill>
                                          <a:effectLst/>
                                          <a:latin typeface="Cambria Math" panose="02040503050406030204" pitchFamily="18" charset="0"/>
                                          <a:ea typeface="Times New Roman" panose="02020603050405020304" pitchFamily="18" charset="0"/>
                                        </a:rPr>
                                      </m:ctrlPr>
                                    </m:sSubSupPr>
                                    <m:e>
                                      <m:r>
                                        <a:rPr lang="fr-FR" sz="2000" i="1">
                                          <a:solidFill>
                                            <a:srgbClr val="000000"/>
                                          </a:solidFill>
                                          <a:effectLst/>
                                          <a:latin typeface="Cambria Math" panose="02040503050406030204" pitchFamily="18" charset="0"/>
                                          <a:ea typeface="Times New Roman" panose="02020603050405020304" pitchFamily="18" charset="0"/>
                                        </a:rPr>
                                        <m:t>𝑒</m:t>
                                      </m:r>
                                    </m:e>
                                    <m:sub>
                                      <m:r>
                                        <a:rPr lang="fr-FR" sz="2000" i="1">
                                          <a:solidFill>
                                            <a:srgbClr val="000000"/>
                                          </a:solidFill>
                                          <a:effectLst/>
                                          <a:latin typeface="Cambria Math" panose="02040503050406030204" pitchFamily="18" charset="0"/>
                                          <a:ea typeface="Times New Roman" panose="02020603050405020304" pitchFamily="18" charset="0"/>
                                        </a:rPr>
                                        <m:t>𝑖</m:t>
                                      </m:r>
                                    </m:sub>
                                    <m:sup>
                                      <m:r>
                                        <a:rPr lang="fr-FR" sz="2000" i="1">
                                          <a:solidFill>
                                            <a:srgbClr val="000000"/>
                                          </a:solidFill>
                                          <a:effectLst/>
                                          <a:latin typeface="Cambria Math" panose="02040503050406030204" pitchFamily="18" charset="0"/>
                                          <a:ea typeface="Times New Roman" panose="02020603050405020304" pitchFamily="18" charset="0"/>
                                        </a:rPr>
                                        <m:t>2</m:t>
                                      </m:r>
                                    </m:sup>
                                  </m:sSubSup>
                                </m:e>
                              </m:acc>
                            </m:e>
                          </m:nary>
                        </m:num>
                        <m:den>
                          <m:r>
                            <a:rPr lang="fr-FR" sz="2000" i="1">
                              <a:solidFill>
                                <a:srgbClr val="000000"/>
                              </a:solidFill>
                              <a:effectLst/>
                              <a:latin typeface="Cambria Math" panose="02040503050406030204" pitchFamily="18" charset="0"/>
                              <a:ea typeface="Times New Roman" panose="02020603050405020304" pitchFamily="18" charset="0"/>
                            </a:rPr>
                            <m:t>𝑛</m:t>
                          </m:r>
                          <m:r>
                            <a:rPr lang="fr-FR" sz="2000" i="1">
                              <a:solidFill>
                                <a:srgbClr val="000000"/>
                              </a:solidFill>
                              <a:effectLst/>
                              <a:latin typeface="Cambria Math" panose="02040503050406030204" pitchFamily="18" charset="0"/>
                              <a:ea typeface="Times New Roman" panose="02020603050405020304" pitchFamily="18" charset="0"/>
                            </a:rPr>
                            <m:t>−2</m:t>
                          </m:r>
                        </m:den>
                      </m:f>
                      <m:r>
                        <a:rPr lang="fr-FR" sz="2000" i="1">
                          <a:solidFill>
                            <a:srgbClr val="000000"/>
                          </a:solidFill>
                          <a:effectLst/>
                          <a:latin typeface="Cambria Math" panose="02040503050406030204" pitchFamily="18" charset="0"/>
                          <a:ea typeface="Times New Roman" panose="02020603050405020304" pitchFamily="18" charset="0"/>
                        </a:rPr>
                        <m:t>=</m:t>
                      </m:r>
                      <m:f>
                        <m:fPr>
                          <m:ctrlPr>
                            <a:rPr lang="fr-CA" sz="2000" i="1">
                              <a:solidFill>
                                <a:srgbClr val="000000"/>
                              </a:solidFill>
                              <a:effectLst/>
                              <a:latin typeface="Cambria Math" panose="02040503050406030204" pitchFamily="18" charset="0"/>
                              <a:ea typeface="Times New Roman" panose="02020603050405020304" pitchFamily="18" charset="0"/>
                            </a:rPr>
                          </m:ctrlPr>
                        </m:fPr>
                        <m:num>
                          <m:r>
                            <a:rPr lang="fr-FR" sz="2000" i="1">
                              <a:solidFill>
                                <a:srgbClr val="000000"/>
                              </a:solidFill>
                              <a:effectLst/>
                              <a:latin typeface="Cambria Math" panose="02040503050406030204" pitchFamily="18" charset="0"/>
                              <a:ea typeface="Times New Roman" panose="02020603050405020304" pitchFamily="18" charset="0"/>
                            </a:rPr>
                            <m:t>𝐿𝑎</m:t>
                          </m:r>
                          <m:r>
                            <a:rPr lang="fr-FR" sz="2000" i="1">
                              <a:solidFill>
                                <a:srgbClr val="000000"/>
                              </a:solidFill>
                              <a:effectLst/>
                              <a:latin typeface="Cambria Math" panose="02040503050406030204" pitchFamily="18" charset="0"/>
                              <a:ea typeface="Times New Roman" panose="02020603050405020304" pitchFamily="18" charset="0"/>
                            </a:rPr>
                            <m:t> </m:t>
                          </m:r>
                          <m:r>
                            <a:rPr lang="fr-FR" sz="2000" i="1">
                              <a:solidFill>
                                <a:srgbClr val="000000"/>
                              </a:solidFill>
                              <a:effectLst/>
                              <a:latin typeface="Cambria Math" panose="02040503050406030204" pitchFamily="18" charset="0"/>
                              <a:ea typeface="Times New Roman" panose="02020603050405020304" pitchFamily="18" charset="0"/>
                            </a:rPr>
                            <m:t>𝑠𝑜𝑚𝑚𝑒</m:t>
                          </m:r>
                          <m:r>
                            <a:rPr lang="fr-FR" sz="2000" i="1">
                              <a:solidFill>
                                <a:srgbClr val="000000"/>
                              </a:solidFill>
                              <a:effectLst/>
                              <a:latin typeface="Cambria Math" panose="02040503050406030204" pitchFamily="18" charset="0"/>
                              <a:ea typeface="Times New Roman" panose="02020603050405020304" pitchFamily="18" charset="0"/>
                            </a:rPr>
                            <m:t> </m:t>
                          </m:r>
                          <m:r>
                            <a:rPr lang="fr-FR" sz="2000" i="1">
                              <a:solidFill>
                                <a:srgbClr val="000000"/>
                              </a:solidFill>
                              <a:effectLst/>
                              <a:latin typeface="Cambria Math" panose="02040503050406030204" pitchFamily="18" charset="0"/>
                              <a:ea typeface="Times New Roman" panose="02020603050405020304" pitchFamily="18" charset="0"/>
                            </a:rPr>
                            <m:t>𝑑𝑒𝑠</m:t>
                          </m:r>
                          <m:r>
                            <a:rPr lang="fr-FR" sz="2000" i="1">
                              <a:solidFill>
                                <a:srgbClr val="000000"/>
                              </a:solidFill>
                              <a:effectLst/>
                              <a:latin typeface="Cambria Math" panose="02040503050406030204" pitchFamily="18" charset="0"/>
                              <a:ea typeface="Times New Roman" panose="02020603050405020304" pitchFamily="18" charset="0"/>
                            </a:rPr>
                            <m:t> </m:t>
                          </m:r>
                          <m:r>
                            <a:rPr lang="fr-FR" sz="2000" i="1">
                              <a:solidFill>
                                <a:srgbClr val="000000"/>
                              </a:solidFill>
                              <a:effectLst/>
                              <a:latin typeface="Cambria Math" panose="02040503050406030204" pitchFamily="18" charset="0"/>
                              <a:ea typeface="Times New Roman" panose="02020603050405020304" pitchFamily="18" charset="0"/>
                            </a:rPr>
                            <m:t>𝑐𝑎𝑟𝑟</m:t>
                          </m:r>
                          <m:r>
                            <a:rPr lang="fr-FR" sz="2000" i="1">
                              <a:solidFill>
                                <a:srgbClr val="000000"/>
                              </a:solidFill>
                              <a:effectLst/>
                              <a:latin typeface="Cambria Math" panose="02040503050406030204" pitchFamily="18" charset="0"/>
                              <a:ea typeface="Times New Roman" panose="02020603050405020304" pitchFamily="18" charset="0"/>
                            </a:rPr>
                            <m:t>é</m:t>
                          </m:r>
                          <m:r>
                            <a:rPr lang="fr-FR" sz="2000" i="1">
                              <a:solidFill>
                                <a:srgbClr val="000000"/>
                              </a:solidFill>
                              <a:effectLst/>
                              <a:latin typeface="Cambria Math" panose="02040503050406030204" pitchFamily="18" charset="0"/>
                              <a:ea typeface="Times New Roman" panose="02020603050405020304" pitchFamily="18" charset="0"/>
                            </a:rPr>
                            <m:t>𝑠</m:t>
                          </m:r>
                          <m:r>
                            <a:rPr lang="fr-FR" sz="2000" i="1">
                              <a:solidFill>
                                <a:srgbClr val="000000"/>
                              </a:solidFill>
                              <a:effectLst/>
                              <a:latin typeface="Cambria Math" panose="02040503050406030204" pitchFamily="18" charset="0"/>
                              <a:ea typeface="Times New Roman" panose="02020603050405020304" pitchFamily="18" charset="0"/>
                            </a:rPr>
                            <m:t> </m:t>
                          </m:r>
                          <m:r>
                            <a:rPr lang="fr-FR" sz="2000" i="1">
                              <a:solidFill>
                                <a:srgbClr val="000000"/>
                              </a:solidFill>
                              <a:effectLst/>
                              <a:latin typeface="Cambria Math" panose="02040503050406030204" pitchFamily="18" charset="0"/>
                              <a:ea typeface="Times New Roman" panose="02020603050405020304" pitchFamily="18" charset="0"/>
                            </a:rPr>
                            <m:t>𝑑𝑒𝑠</m:t>
                          </m:r>
                          <m:r>
                            <a:rPr lang="fr-FR" sz="2000" i="1">
                              <a:solidFill>
                                <a:srgbClr val="000000"/>
                              </a:solidFill>
                              <a:effectLst/>
                              <a:latin typeface="Cambria Math" panose="02040503050406030204" pitchFamily="18" charset="0"/>
                              <a:ea typeface="Times New Roman" panose="02020603050405020304" pitchFamily="18" charset="0"/>
                            </a:rPr>
                            <m:t> </m:t>
                          </m:r>
                          <m:r>
                            <a:rPr lang="fr-FR" sz="2000" i="1">
                              <a:solidFill>
                                <a:srgbClr val="000000"/>
                              </a:solidFill>
                              <a:effectLst/>
                              <a:latin typeface="Cambria Math" panose="02040503050406030204" pitchFamily="18" charset="0"/>
                              <a:ea typeface="Times New Roman" panose="02020603050405020304" pitchFamily="18" charset="0"/>
                            </a:rPr>
                            <m:t>𝑟</m:t>
                          </m:r>
                          <m:r>
                            <a:rPr lang="fr-FR" sz="2000" i="1">
                              <a:solidFill>
                                <a:srgbClr val="000000"/>
                              </a:solidFill>
                              <a:effectLst/>
                              <a:latin typeface="Cambria Math" panose="02040503050406030204" pitchFamily="18" charset="0"/>
                              <a:ea typeface="Times New Roman" panose="02020603050405020304" pitchFamily="18" charset="0"/>
                            </a:rPr>
                            <m:t>é</m:t>
                          </m:r>
                          <m:r>
                            <a:rPr lang="fr-FR" sz="2000" i="1">
                              <a:solidFill>
                                <a:srgbClr val="000000"/>
                              </a:solidFill>
                              <a:effectLst/>
                              <a:latin typeface="Cambria Math" panose="02040503050406030204" pitchFamily="18" charset="0"/>
                              <a:ea typeface="Times New Roman" panose="02020603050405020304" pitchFamily="18" charset="0"/>
                            </a:rPr>
                            <m:t>𝑠𝑖𝑑𝑢𝑠</m:t>
                          </m:r>
                          <m:r>
                            <a:rPr lang="fr-FR" sz="2000" i="1">
                              <a:solidFill>
                                <a:srgbClr val="000000"/>
                              </a:solidFill>
                              <a:effectLst/>
                              <a:latin typeface="Cambria Math" panose="02040503050406030204" pitchFamily="18" charset="0"/>
                              <a:ea typeface="Times New Roman" panose="02020603050405020304" pitchFamily="18" charset="0"/>
                            </a:rPr>
                            <m:t> </m:t>
                          </m:r>
                          <m:r>
                            <a:rPr lang="fr-FR" sz="2000" i="1">
                              <a:solidFill>
                                <a:srgbClr val="000000"/>
                              </a:solidFill>
                              <a:effectLst/>
                              <a:latin typeface="Cambria Math" panose="02040503050406030204" pitchFamily="18" charset="0"/>
                              <a:ea typeface="Times New Roman" panose="02020603050405020304" pitchFamily="18" charset="0"/>
                            </a:rPr>
                            <m:t>𝑒𝑥𝑝</m:t>
                          </m:r>
                          <m:r>
                            <a:rPr lang="fr-FR" sz="2000" i="1">
                              <a:solidFill>
                                <a:srgbClr val="000000"/>
                              </a:solidFill>
                              <a:effectLst/>
                              <a:latin typeface="Cambria Math" panose="02040503050406030204" pitchFamily="18" charset="0"/>
                              <a:ea typeface="Times New Roman" panose="02020603050405020304" pitchFamily="18" charset="0"/>
                            </a:rPr>
                            <m:t>é</m:t>
                          </m:r>
                          <m:r>
                            <a:rPr lang="fr-FR" sz="2000" i="1">
                              <a:solidFill>
                                <a:srgbClr val="000000"/>
                              </a:solidFill>
                              <a:effectLst/>
                              <a:latin typeface="Cambria Math" panose="02040503050406030204" pitchFamily="18" charset="0"/>
                              <a:ea typeface="Times New Roman" panose="02020603050405020304" pitchFamily="18" charset="0"/>
                            </a:rPr>
                            <m:t>𝑟𝑖𝑚𝑒𝑛𝑛𝑡𝑎𝑢𝑥</m:t>
                          </m:r>
                        </m:num>
                        <m:den>
                          <m:r>
                            <a:rPr lang="fr-FR" sz="2000" i="1">
                              <a:solidFill>
                                <a:srgbClr val="000000"/>
                              </a:solidFill>
                              <a:effectLst/>
                              <a:latin typeface="Cambria Math" panose="02040503050406030204" pitchFamily="18" charset="0"/>
                              <a:ea typeface="Times New Roman" panose="02020603050405020304" pitchFamily="18" charset="0"/>
                            </a:rPr>
                            <m:t>𝑛</m:t>
                          </m:r>
                          <m:r>
                            <a:rPr lang="fr-FR" sz="2000" i="1">
                              <a:solidFill>
                                <a:srgbClr val="000000"/>
                              </a:solidFill>
                              <a:effectLst/>
                              <a:latin typeface="Cambria Math" panose="02040503050406030204" pitchFamily="18" charset="0"/>
                              <a:ea typeface="Times New Roman" panose="02020603050405020304" pitchFamily="18" charset="0"/>
                            </a:rPr>
                            <m:t>−2</m:t>
                          </m:r>
                        </m:den>
                      </m:f>
                    </m:oMath>
                  </m:oMathPara>
                </a14:m>
                <a:br>
                  <a:rPr lang="fr-CA" sz="2000" dirty="0">
                    <a:solidFill>
                      <a:srgbClr val="000000"/>
                    </a:solidFill>
                    <a:effectLst/>
                    <a:latin typeface="Times New Roman" panose="02020603050405020304" pitchFamily="18" charset="0"/>
                    <a:ea typeface="Times New Roman" panose="02020603050405020304" pitchFamily="18" charset="0"/>
                  </a:rPr>
                </a:br>
                <a:r>
                  <a:rPr lang="fr-FR" sz="2000" dirty="0">
                    <a:solidFill>
                      <a:srgbClr val="000000"/>
                    </a:solidFill>
                    <a:effectLst/>
                    <a:latin typeface="Times New Roman" panose="02020603050405020304" pitchFamily="18" charset="0"/>
                    <a:ea typeface="Times New Roman" panose="02020603050405020304" pitchFamily="18" charset="0"/>
                  </a:rPr>
                  <a:t>On divise par (n-2) car on perd deux degrés de liberté en estimant les deux paramètres de la droite de régression. La quantité </a:t>
                </a:r>
                <a14:m>
                  <m:oMath xmlns:m="http://schemas.openxmlformats.org/officeDocument/2006/math">
                    <m:r>
                      <a:rPr lang="fr-FR" sz="2000" i="1">
                        <a:solidFill>
                          <a:srgbClr val="000000"/>
                        </a:solidFill>
                        <a:effectLst/>
                        <a:latin typeface="Cambria Math" panose="02040503050406030204" pitchFamily="18" charset="0"/>
                        <a:ea typeface="Times New Roman" panose="02020603050405020304" pitchFamily="18" charset="0"/>
                      </a:rPr>
                      <m:t>𝑠</m:t>
                    </m:r>
                    <m:r>
                      <a:rPr lang="fr-FR" sz="2000" i="1">
                        <a:solidFill>
                          <a:srgbClr val="000000"/>
                        </a:solidFill>
                        <a:effectLst/>
                        <a:latin typeface="Cambria Math" panose="02040503050406030204" pitchFamily="18" charset="0"/>
                        <a:ea typeface="Times New Roman" panose="02020603050405020304" pitchFamily="18" charset="0"/>
                      </a:rPr>
                      <m:t>=</m:t>
                    </m:r>
                    <m:rad>
                      <m:radPr>
                        <m:degHide m:val="on"/>
                        <m:ctrlPr>
                          <a:rPr lang="fr-CA" sz="2000" i="1">
                            <a:solidFill>
                              <a:srgbClr val="000000"/>
                            </a:solidFill>
                            <a:effectLst/>
                            <a:latin typeface="Cambria Math" panose="02040503050406030204" pitchFamily="18" charset="0"/>
                            <a:ea typeface="Times New Roman" panose="02020603050405020304" pitchFamily="18" charset="0"/>
                          </a:rPr>
                        </m:ctrlPr>
                      </m:radPr>
                      <m:deg/>
                      <m:e>
                        <m:f>
                          <m:fPr>
                            <m:ctrlPr>
                              <a:rPr lang="fr-CA" sz="2000" i="1">
                                <a:solidFill>
                                  <a:srgbClr val="000000"/>
                                </a:solidFill>
                                <a:effectLst/>
                                <a:latin typeface="Cambria Math" panose="02040503050406030204" pitchFamily="18" charset="0"/>
                                <a:ea typeface="Times New Roman" panose="02020603050405020304" pitchFamily="18" charset="0"/>
                              </a:rPr>
                            </m:ctrlPr>
                          </m:fPr>
                          <m:num>
                            <m:nary>
                              <m:naryPr>
                                <m:chr m:val="∑"/>
                                <m:limLoc m:val="undOvr"/>
                                <m:ctrlPr>
                                  <a:rPr lang="fr-CA" sz="2000" i="1">
                                    <a:solidFill>
                                      <a:srgbClr val="000000"/>
                                    </a:solidFill>
                                    <a:effectLst/>
                                    <a:latin typeface="Cambria Math" panose="02040503050406030204" pitchFamily="18" charset="0"/>
                                    <a:ea typeface="Times New Roman" panose="02020603050405020304" pitchFamily="18" charset="0"/>
                                  </a:rPr>
                                </m:ctrlPr>
                              </m:naryPr>
                              <m:sub>
                                <m:r>
                                  <a:rPr lang="fr-FR" sz="2000" i="1">
                                    <a:solidFill>
                                      <a:srgbClr val="000000"/>
                                    </a:solidFill>
                                    <a:effectLst/>
                                    <a:latin typeface="Cambria Math" panose="02040503050406030204" pitchFamily="18" charset="0"/>
                                    <a:ea typeface="Times New Roman" panose="02020603050405020304" pitchFamily="18" charset="0"/>
                                  </a:rPr>
                                  <m:t>𝑖</m:t>
                                </m:r>
                                <m:r>
                                  <a:rPr lang="fr-FR" sz="2000" i="1">
                                    <a:solidFill>
                                      <a:srgbClr val="000000"/>
                                    </a:solidFill>
                                    <a:effectLst/>
                                    <a:latin typeface="Cambria Math" panose="02040503050406030204" pitchFamily="18" charset="0"/>
                                    <a:ea typeface="Times New Roman" panose="02020603050405020304" pitchFamily="18" charset="0"/>
                                  </a:rPr>
                                  <m:t>=1</m:t>
                                </m:r>
                              </m:sub>
                              <m:sup>
                                <m:r>
                                  <a:rPr lang="fr-FR" sz="2000" i="1">
                                    <a:solidFill>
                                      <a:srgbClr val="000000"/>
                                    </a:solidFill>
                                    <a:effectLst/>
                                    <a:latin typeface="Cambria Math" panose="02040503050406030204" pitchFamily="18" charset="0"/>
                                    <a:ea typeface="Times New Roman" panose="02020603050405020304" pitchFamily="18" charset="0"/>
                                  </a:rPr>
                                  <m:t>𝑛</m:t>
                                </m:r>
                              </m:sup>
                              <m:e>
                                <m:acc>
                                  <m:accPr>
                                    <m:chr m:val="̂"/>
                                    <m:ctrlPr>
                                      <a:rPr lang="fr-CA" sz="2000" i="1">
                                        <a:solidFill>
                                          <a:srgbClr val="000000"/>
                                        </a:solidFill>
                                        <a:effectLst/>
                                        <a:latin typeface="Cambria Math" panose="02040503050406030204" pitchFamily="18" charset="0"/>
                                        <a:ea typeface="Times New Roman" panose="02020603050405020304" pitchFamily="18" charset="0"/>
                                      </a:rPr>
                                    </m:ctrlPr>
                                  </m:accPr>
                                  <m:e>
                                    <m:sSubSup>
                                      <m:sSubSupPr>
                                        <m:ctrlPr>
                                          <a:rPr lang="fr-CA" sz="2000" i="1">
                                            <a:solidFill>
                                              <a:srgbClr val="000000"/>
                                            </a:solidFill>
                                            <a:effectLst/>
                                            <a:latin typeface="Cambria Math" panose="02040503050406030204" pitchFamily="18" charset="0"/>
                                            <a:ea typeface="Times New Roman" panose="02020603050405020304" pitchFamily="18" charset="0"/>
                                          </a:rPr>
                                        </m:ctrlPr>
                                      </m:sSubSupPr>
                                      <m:e>
                                        <m:r>
                                          <a:rPr lang="fr-FR" sz="2000" i="1">
                                            <a:solidFill>
                                              <a:srgbClr val="000000"/>
                                            </a:solidFill>
                                            <a:effectLst/>
                                            <a:latin typeface="Cambria Math" panose="02040503050406030204" pitchFamily="18" charset="0"/>
                                            <a:ea typeface="Times New Roman" panose="02020603050405020304" pitchFamily="18" charset="0"/>
                                          </a:rPr>
                                          <m:t>𝑒</m:t>
                                        </m:r>
                                      </m:e>
                                      <m:sub>
                                        <m:r>
                                          <a:rPr lang="fr-FR" sz="2000" i="1">
                                            <a:solidFill>
                                              <a:srgbClr val="000000"/>
                                            </a:solidFill>
                                            <a:effectLst/>
                                            <a:latin typeface="Cambria Math" panose="02040503050406030204" pitchFamily="18" charset="0"/>
                                            <a:ea typeface="Times New Roman" panose="02020603050405020304" pitchFamily="18" charset="0"/>
                                          </a:rPr>
                                          <m:t>𝑖</m:t>
                                        </m:r>
                                      </m:sub>
                                      <m:sup>
                                        <m:r>
                                          <a:rPr lang="fr-FR" sz="2000" i="1">
                                            <a:solidFill>
                                              <a:srgbClr val="000000"/>
                                            </a:solidFill>
                                            <a:effectLst/>
                                            <a:latin typeface="Cambria Math" panose="02040503050406030204" pitchFamily="18" charset="0"/>
                                            <a:ea typeface="Times New Roman" panose="02020603050405020304" pitchFamily="18" charset="0"/>
                                          </a:rPr>
                                          <m:t>2</m:t>
                                        </m:r>
                                      </m:sup>
                                    </m:sSubSup>
                                  </m:e>
                                </m:acc>
                              </m:e>
                            </m:nary>
                          </m:num>
                          <m:den>
                            <m:r>
                              <a:rPr lang="fr-FR" sz="2000" i="1">
                                <a:solidFill>
                                  <a:srgbClr val="000000"/>
                                </a:solidFill>
                                <a:effectLst/>
                                <a:latin typeface="Cambria Math" panose="02040503050406030204" pitchFamily="18" charset="0"/>
                                <a:ea typeface="Times New Roman" panose="02020603050405020304" pitchFamily="18" charset="0"/>
                              </a:rPr>
                              <m:t>𝑛</m:t>
                            </m:r>
                            <m:r>
                              <a:rPr lang="fr-FR" sz="2000" i="1">
                                <a:solidFill>
                                  <a:srgbClr val="000000"/>
                                </a:solidFill>
                                <a:effectLst/>
                                <a:latin typeface="Cambria Math" panose="02040503050406030204" pitchFamily="18" charset="0"/>
                                <a:ea typeface="Times New Roman" panose="02020603050405020304" pitchFamily="18" charset="0"/>
                              </a:rPr>
                              <m:t>−2</m:t>
                            </m:r>
                          </m:den>
                        </m:f>
                      </m:e>
                    </m:rad>
                  </m:oMath>
                </a14:m>
                <a:r>
                  <a:rPr lang="fr-FR" sz="2000" dirty="0">
                    <a:solidFill>
                      <a:srgbClr val="000000"/>
                    </a:solidFill>
                    <a:effectLst/>
                    <a:latin typeface="Times New Roman" panose="02020603050405020304" pitchFamily="18" charset="0"/>
                    <a:ea typeface="Times New Roman" panose="02020603050405020304" pitchFamily="18" charset="0"/>
                  </a:rPr>
                  <a:t> s’appelle erreur type des résidus. Dans cet exemple</a:t>
                </a:r>
                <a:br>
                  <a:rPr lang="fr-CA" sz="2000" dirty="0">
                    <a:solidFill>
                      <a:srgbClr val="000000"/>
                    </a:solidFill>
                    <a:effectLst/>
                    <a:latin typeface="Times New Roman" panose="02020603050405020304" pitchFamily="18" charset="0"/>
                    <a:ea typeface="Times New Roman" panose="02020603050405020304" pitchFamily="18" charset="0"/>
                  </a:rPr>
                </a:br>
                <a:r>
                  <a:rPr lang="fr-FR" sz="2000" dirty="0">
                    <a:solidFill>
                      <a:srgbClr val="000000"/>
                    </a:solidFill>
                    <a:effectLst/>
                    <a:latin typeface="Times New Roman" panose="02020603050405020304" pitchFamily="18" charset="0"/>
                    <a:ea typeface="Times New Roman" panose="02020603050405020304" pitchFamily="18" charset="0"/>
                  </a:rPr>
                  <a:t> </a:t>
                </a:r>
                <a14:m>
                  <m:oMath xmlns:m="http://schemas.openxmlformats.org/officeDocument/2006/math">
                    <m:r>
                      <a:rPr lang="fr-FR" sz="2000" i="1">
                        <a:solidFill>
                          <a:srgbClr val="000000"/>
                        </a:solidFill>
                        <a:effectLst/>
                        <a:latin typeface="Cambria Math" panose="02040503050406030204" pitchFamily="18" charset="0"/>
                        <a:ea typeface="Times New Roman" panose="02020603050405020304" pitchFamily="18" charset="0"/>
                      </a:rPr>
                      <m:t>𝑠</m:t>
                    </m:r>
                    <m:r>
                      <a:rPr lang="fr-FR" sz="2000" i="1">
                        <a:solidFill>
                          <a:srgbClr val="000000"/>
                        </a:solidFill>
                        <a:effectLst/>
                        <a:latin typeface="Cambria Math" panose="02040503050406030204" pitchFamily="18" charset="0"/>
                        <a:ea typeface="Times New Roman" panose="02020603050405020304" pitchFamily="18" charset="0"/>
                      </a:rPr>
                      <m:t>=17,41</m:t>
                    </m:r>
                  </m:oMath>
                </a14:m>
                <a:r>
                  <a:rPr lang="fr-FR" sz="2000" dirty="0">
                    <a:solidFill>
                      <a:srgbClr val="000000"/>
                    </a:solidFill>
                    <a:effectLst/>
                    <a:latin typeface="Times New Roman" panose="02020603050405020304" pitchFamily="18" charset="0"/>
                    <a:ea typeface="Times New Roman" panose="02020603050405020304" pitchFamily="18" charset="0"/>
                  </a:rPr>
                  <a:t>. Pour vérifier l’homogénéité de la variance, on doit s’assurer (grosso-modo) que les résidus se répartissent entre plus ou moins deux erreurs types. Ce qu’on peut vérifier directement à partir du graphique </a:t>
                </a:r>
                <a:r>
                  <a:rPr lang="fr-FR" sz="2000" dirty="0">
                    <a:solidFill>
                      <a:srgbClr val="000000"/>
                    </a:solidFill>
                    <a:latin typeface="Times New Roman" panose="02020603050405020304" pitchFamily="18" charset="0"/>
                    <a:ea typeface="Times New Roman" panose="02020603050405020304" pitchFamily="18" charset="0"/>
                  </a:rPr>
                  <a:t>des résidus précédent.</a:t>
                </a:r>
                <a:r>
                  <a:rPr lang="fr-FR" sz="2000" dirty="0">
                    <a:solidFill>
                      <a:srgbClr val="000000"/>
                    </a:solidFill>
                    <a:effectLst/>
                    <a:latin typeface="Times New Roman" panose="02020603050405020304" pitchFamily="18" charset="0"/>
                    <a:ea typeface="Times New Roman" panose="02020603050405020304" pitchFamily="18" charset="0"/>
                  </a:rPr>
                  <a:t>.</a:t>
                </a:r>
                <a:br>
                  <a:rPr lang="fr-CA" sz="2000" dirty="0">
                    <a:solidFill>
                      <a:srgbClr val="000000"/>
                    </a:solidFill>
                    <a:effectLst/>
                    <a:latin typeface="Times New Roman" panose="02020603050405020304" pitchFamily="18" charset="0"/>
                    <a:ea typeface="Times New Roman" panose="02020603050405020304" pitchFamily="18" charset="0"/>
                  </a:rPr>
                </a:br>
                <a:endParaRPr lang="fr-CA" sz="2000" dirty="0"/>
              </a:p>
            </p:txBody>
          </p:sp>
        </mc:Choice>
        <mc:Fallback xmlns="">
          <p:sp>
            <p:nvSpPr>
              <p:cNvPr id="2" name="Titre 1">
                <a:extLst>
                  <a:ext uri="{FF2B5EF4-FFF2-40B4-BE49-F238E27FC236}">
                    <a16:creationId xmlns:a16="http://schemas.microsoft.com/office/drawing/2014/main" id="{F110851E-0222-4F7E-AF64-FC7E02EE4C42}"/>
                  </a:ext>
                </a:extLst>
              </p:cNvPr>
              <p:cNvSpPr>
                <a:spLocks noGrp="1" noRot="1" noChangeAspect="1" noMove="1" noResize="1" noEditPoints="1" noAdjustHandles="1" noChangeArrowheads="1" noChangeShapeType="1" noTextEdit="1"/>
              </p:cNvSpPr>
              <p:nvPr>
                <p:ph type="title"/>
              </p:nvPr>
            </p:nvSpPr>
            <p:spPr>
              <a:xfrm>
                <a:off x="838200" y="365125"/>
                <a:ext cx="10515600" cy="5753287"/>
              </a:xfrm>
              <a:blipFill>
                <a:blip r:embed="rId2"/>
                <a:stretch>
                  <a:fillRect l="-638" t="-1059" r="-348"/>
                </a:stretch>
              </a:blipFill>
            </p:spPr>
            <p:txBody>
              <a:bodyPr/>
              <a:lstStyle/>
              <a:p>
                <a:r>
                  <a:rPr lang="fr-CA">
                    <a:noFill/>
                  </a:rPr>
                  <a:t> </a:t>
                </a:r>
              </a:p>
            </p:txBody>
          </p:sp>
        </mc:Fallback>
      </mc:AlternateContent>
      <p:sp>
        <p:nvSpPr>
          <p:cNvPr id="3" name="Espace réservé du pied de page 2">
            <a:extLst>
              <a:ext uri="{FF2B5EF4-FFF2-40B4-BE49-F238E27FC236}">
                <a16:creationId xmlns:a16="http://schemas.microsoft.com/office/drawing/2014/main" id="{EA341A35-6B4E-4284-B9F3-3EC65DC01B08}"/>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162A5E95-903D-4D9D-9245-5A59722DA733}"/>
              </a:ext>
            </a:extLst>
          </p:cNvPr>
          <p:cNvSpPr>
            <a:spLocks noGrp="1"/>
          </p:cNvSpPr>
          <p:nvPr>
            <p:ph type="sldNum" sz="quarter" idx="12"/>
          </p:nvPr>
        </p:nvSpPr>
        <p:spPr/>
        <p:txBody>
          <a:bodyPr/>
          <a:lstStyle/>
          <a:p>
            <a:fld id="{26377AD9-CE17-438C-A638-C64D2D42D7CF}" type="slidenum">
              <a:rPr lang="fr-CA" smtClean="0"/>
              <a:t>15</a:t>
            </a:fld>
            <a:endParaRPr lang="fr-CA"/>
          </a:p>
        </p:txBody>
      </p:sp>
    </p:spTree>
    <p:extLst>
      <p:ext uri="{BB962C8B-B14F-4D97-AF65-F5344CB8AC3E}">
        <p14:creationId xmlns:p14="http://schemas.microsoft.com/office/powerpoint/2010/main" val="8293528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re 1">
                <a:extLst>
                  <a:ext uri="{FF2B5EF4-FFF2-40B4-BE49-F238E27FC236}">
                    <a16:creationId xmlns:a16="http://schemas.microsoft.com/office/drawing/2014/main" id="{75E9E526-13D3-4A06-8450-D90E393172F2}"/>
                  </a:ext>
                </a:extLst>
              </p:cNvPr>
              <p:cNvSpPr>
                <a:spLocks noGrp="1"/>
              </p:cNvSpPr>
              <p:nvPr>
                <p:ph type="title"/>
              </p:nvPr>
            </p:nvSpPr>
            <p:spPr>
              <a:xfrm>
                <a:off x="838200" y="309282"/>
                <a:ext cx="10515600" cy="5230905"/>
              </a:xfrm>
            </p:spPr>
            <p:txBody>
              <a:bodyPr>
                <a:normAutofit fontScale="90000"/>
              </a:bodyPr>
              <a:lstStyle/>
              <a:p>
                <a:pPr/>
                <a:r>
                  <a:rPr lang="fr-FR" sz="2700" dirty="0">
                    <a:solidFill>
                      <a:srgbClr val="000000"/>
                    </a:solidFill>
                    <a:effectLst/>
                    <a:latin typeface="Times New Roman" panose="02020603050405020304" pitchFamily="18" charset="0"/>
                    <a:ea typeface="Times New Roman" panose="02020603050405020304" pitchFamily="18" charset="0"/>
                  </a:rPr>
                  <a:t>Une fois qu’on s’assure que ces conditions sont satisfaites, on peut utiliser l’équation de la droite de régression pour prédire les valeurs de </a:t>
                </a:r>
                <a:r>
                  <a:rPr lang="fr-FR" sz="2700" i="1" dirty="0">
                    <a:solidFill>
                      <a:srgbClr val="000000"/>
                    </a:solidFill>
                    <a:effectLst/>
                    <a:latin typeface="Times New Roman" panose="02020603050405020304" pitchFamily="18" charset="0"/>
                    <a:ea typeface="Times New Roman" panose="02020603050405020304" pitchFamily="18" charset="0"/>
                  </a:rPr>
                  <a:t>Y</a:t>
                </a:r>
                <a:r>
                  <a:rPr lang="fr-FR" sz="2700" dirty="0">
                    <a:solidFill>
                      <a:srgbClr val="000000"/>
                    </a:solidFill>
                    <a:effectLst/>
                    <a:latin typeface="Times New Roman" panose="02020603050405020304" pitchFamily="18" charset="0"/>
                    <a:ea typeface="Times New Roman" panose="02020603050405020304" pitchFamily="18" charset="0"/>
                  </a:rPr>
                  <a:t> pour des valeurs fixées de </a:t>
                </a:r>
                <a:r>
                  <a:rPr lang="fr-FR" sz="2700" i="1" dirty="0">
                    <a:solidFill>
                      <a:srgbClr val="000000"/>
                    </a:solidFill>
                    <a:effectLst/>
                    <a:latin typeface="Times New Roman" panose="02020603050405020304" pitchFamily="18" charset="0"/>
                    <a:ea typeface="Times New Roman" panose="02020603050405020304" pitchFamily="18" charset="0"/>
                  </a:rPr>
                  <a:t>X</a:t>
                </a:r>
                <a:r>
                  <a:rPr lang="fr-FR" sz="2700" dirty="0">
                    <a:solidFill>
                      <a:srgbClr val="000000"/>
                    </a:solidFill>
                    <a:effectLst/>
                    <a:latin typeface="Times New Roman" panose="02020603050405020304" pitchFamily="18" charset="0"/>
                    <a:ea typeface="Times New Roman" panose="02020603050405020304" pitchFamily="18" charset="0"/>
                  </a:rPr>
                  <a:t>. Par exemple, si on veut prédire le taux d’azote dans l’air à Gatineau un jour de juillet où il fait 28 °C à midi, on le formalise comme suit :</a:t>
                </a:r>
                <a:br>
                  <a:rPr lang="fr-CA" sz="2700" dirty="0">
                    <a:solidFill>
                      <a:srgbClr val="000000"/>
                    </a:solidFill>
                    <a:effectLst/>
                    <a:latin typeface="Times New Roman" panose="02020603050405020304" pitchFamily="18" charset="0"/>
                    <a:ea typeface="Times New Roman" panose="02020603050405020304" pitchFamily="18" charset="0"/>
                  </a:rPr>
                </a:br>
                <a14:m>
                  <m:oMathPara xmlns:m="http://schemas.openxmlformats.org/officeDocument/2006/math">
                    <m:oMathParaPr>
                      <m:jc m:val="centerGroup"/>
                    </m:oMathParaPr>
                    <m:oMath xmlns:m="http://schemas.openxmlformats.org/officeDocument/2006/math">
                      <m:sSub>
                        <m:sSubPr>
                          <m:ctrlPr>
                            <a:rPr lang="fr-CA" sz="2700" i="1">
                              <a:solidFill>
                                <a:srgbClr val="000000"/>
                              </a:solidFill>
                              <a:effectLst/>
                              <a:latin typeface="Cambria Math" panose="02040503050406030204" pitchFamily="18" charset="0"/>
                              <a:ea typeface="Times New Roman" panose="02020603050405020304" pitchFamily="18" charset="0"/>
                            </a:rPr>
                          </m:ctrlPr>
                        </m:sSubPr>
                        <m:e>
                          <m:acc>
                            <m:accPr>
                              <m:chr m:val="̂"/>
                              <m:ctrlPr>
                                <a:rPr lang="fr-CA" sz="2700" i="1">
                                  <a:solidFill>
                                    <a:srgbClr val="000000"/>
                                  </a:solidFill>
                                  <a:effectLst/>
                                  <a:latin typeface="Cambria Math" panose="02040503050406030204" pitchFamily="18" charset="0"/>
                                  <a:ea typeface="Times New Roman" panose="02020603050405020304" pitchFamily="18" charset="0"/>
                                </a:rPr>
                              </m:ctrlPr>
                            </m:accPr>
                            <m:e>
                              <m:r>
                                <a:rPr lang="fr-FR" sz="2700" i="1">
                                  <a:solidFill>
                                    <a:srgbClr val="000000"/>
                                  </a:solidFill>
                                  <a:effectLst/>
                                  <a:latin typeface="Cambria Math" panose="02040503050406030204" pitchFamily="18" charset="0"/>
                                  <a:ea typeface="Times New Roman" panose="02020603050405020304" pitchFamily="18" charset="0"/>
                                </a:rPr>
                                <m:t>𝑦</m:t>
                              </m:r>
                            </m:e>
                          </m:acc>
                        </m:e>
                        <m:sub>
                          <m:r>
                            <a:rPr lang="fr-FR" sz="2700" i="1">
                              <a:solidFill>
                                <a:srgbClr val="000000"/>
                              </a:solidFill>
                              <a:effectLst/>
                              <a:latin typeface="Cambria Math" panose="02040503050406030204" pitchFamily="18" charset="0"/>
                              <a:ea typeface="Times New Roman" panose="02020603050405020304" pitchFamily="18" charset="0"/>
                            </a:rPr>
                            <m:t>|</m:t>
                          </m:r>
                          <m:r>
                            <a:rPr lang="fr-FR" sz="2700" i="1">
                              <a:solidFill>
                                <a:srgbClr val="000000"/>
                              </a:solidFill>
                              <a:effectLst/>
                              <a:latin typeface="Cambria Math" panose="02040503050406030204" pitchFamily="18" charset="0"/>
                              <a:ea typeface="Times New Roman" panose="02020603050405020304" pitchFamily="18" charset="0"/>
                            </a:rPr>
                            <m:t>𝑥</m:t>
                          </m:r>
                          <m:r>
                            <a:rPr lang="fr-FR" sz="2700" i="1">
                              <a:solidFill>
                                <a:srgbClr val="000000"/>
                              </a:solidFill>
                              <a:effectLst/>
                              <a:latin typeface="Cambria Math" panose="02040503050406030204" pitchFamily="18" charset="0"/>
                              <a:ea typeface="Times New Roman" panose="02020603050405020304" pitchFamily="18" charset="0"/>
                            </a:rPr>
                            <m:t>| = 28</m:t>
                          </m:r>
                        </m:sub>
                      </m:sSub>
                      <m:r>
                        <a:rPr lang="fr-FR" sz="2700" i="1">
                          <a:solidFill>
                            <a:srgbClr val="000000"/>
                          </a:solidFill>
                          <a:effectLst/>
                          <a:latin typeface="Cambria Math" panose="02040503050406030204" pitchFamily="18" charset="0"/>
                          <a:ea typeface="Times New Roman" panose="02020603050405020304" pitchFamily="18" charset="0"/>
                        </a:rPr>
                        <m:t>=69,4578+1,5939×28=114,087 </m:t>
                      </m:r>
                      <m:r>
                        <m:rPr>
                          <m:nor/>
                        </m:rPr>
                        <a:rPr lang="fr-FR" sz="2700">
                          <a:solidFill>
                            <a:srgbClr val="000000"/>
                          </a:solidFill>
                          <a:effectLst/>
                          <a:latin typeface="Cambria Math" panose="02040503050406030204" pitchFamily="18" charset="0"/>
                          <a:ea typeface="Times New Roman" panose="02020603050405020304" pitchFamily="18" charset="0"/>
                        </a:rPr>
                        <m:t>ppm</m:t>
                      </m:r>
                    </m:oMath>
                  </m:oMathPara>
                </a14:m>
                <a:br>
                  <a:rPr lang="fr-CA" sz="1800" dirty="0">
                    <a:solidFill>
                      <a:srgbClr val="000000"/>
                    </a:solidFill>
                    <a:effectLst/>
                    <a:latin typeface="Times New Roman" panose="02020603050405020304" pitchFamily="18" charset="0"/>
                    <a:ea typeface="Times New Roman" panose="02020603050405020304" pitchFamily="18" charset="0"/>
                  </a:rPr>
                </a:br>
                <a:br>
                  <a:rPr lang="fr-CA" sz="1800" dirty="0">
                    <a:solidFill>
                      <a:srgbClr val="000000"/>
                    </a:solidFill>
                    <a:effectLst/>
                    <a:latin typeface="Times New Roman" panose="02020603050405020304" pitchFamily="18" charset="0"/>
                    <a:ea typeface="Times New Roman" panose="02020603050405020304" pitchFamily="18" charset="0"/>
                  </a:rPr>
                </a:br>
                <a:br>
                  <a:rPr lang="fr-CA" sz="1800" dirty="0">
                    <a:solidFill>
                      <a:srgbClr val="000000"/>
                    </a:solidFill>
                    <a:latin typeface="Times New Roman" panose="02020603050405020304" pitchFamily="18" charset="0"/>
                    <a:ea typeface="Times New Roman" panose="02020603050405020304" pitchFamily="18" charset="0"/>
                  </a:rPr>
                </a:br>
                <a:br>
                  <a:rPr lang="fr-CA" sz="1800" dirty="0">
                    <a:solidFill>
                      <a:srgbClr val="000000"/>
                    </a:solidFill>
                    <a:latin typeface="Times New Roman" panose="02020603050405020304" pitchFamily="18" charset="0"/>
                    <a:ea typeface="Times New Roman" panose="02020603050405020304" pitchFamily="18" charset="0"/>
                  </a:rPr>
                </a:br>
                <a:br>
                  <a:rPr lang="fr-CA" sz="1800" dirty="0">
                    <a:solidFill>
                      <a:srgbClr val="000000"/>
                    </a:solidFill>
                    <a:latin typeface="Times New Roman" panose="02020603050405020304" pitchFamily="18" charset="0"/>
                    <a:ea typeface="Times New Roman" panose="02020603050405020304" pitchFamily="18" charset="0"/>
                  </a:rPr>
                </a:br>
                <a:r>
                  <a:rPr lang="fr-FR" sz="2700" b="1" cap="all" dirty="0"/>
                  <a:t>REMARQUE</a:t>
                </a:r>
                <a:br>
                  <a:rPr lang="fr-CA" sz="2700" b="1" cap="all" dirty="0"/>
                </a:br>
                <a:r>
                  <a:rPr lang="fr-FR" sz="2700" b="1" dirty="0"/>
                  <a:t>La droite de régression s’utilise pour estimer les valeurs de </a:t>
                </a:r>
                <a:r>
                  <a:rPr lang="fr-FR" sz="2700" b="1" i="1" dirty="0"/>
                  <a:t>Y</a:t>
                </a:r>
                <a:r>
                  <a:rPr lang="fr-FR" sz="2700" b="1" dirty="0"/>
                  <a:t> uniquement à l’intérieur de l’intervalle où la variable </a:t>
                </a:r>
                <a:r>
                  <a:rPr lang="fr-FR" sz="2700" b="1" i="1" dirty="0"/>
                  <a:t>X</a:t>
                </a:r>
                <a:r>
                  <a:rPr lang="fr-FR" sz="2700" b="1" dirty="0"/>
                  <a:t> varie. On ne peut donc pas extrapoler ce qu’on a observé au-delà des limites où l’on a pris l’échantillon des mesures de </a:t>
                </a:r>
                <a:r>
                  <a:rPr lang="fr-FR" sz="2700" b="1" i="1" dirty="0"/>
                  <a:t>X</a:t>
                </a:r>
                <a:r>
                  <a:rPr lang="fr-FR" b="1" dirty="0"/>
                  <a:t>.</a:t>
                </a:r>
                <a:br>
                  <a:rPr lang="fr-CA" b="1" dirty="0"/>
                </a:br>
                <a:br>
                  <a:rPr lang="fr-CA" sz="1800" b="1" dirty="0">
                    <a:solidFill>
                      <a:srgbClr val="000000"/>
                    </a:solidFill>
                    <a:effectLst/>
                    <a:latin typeface="Times New Roman" panose="02020603050405020304" pitchFamily="18" charset="0"/>
                    <a:ea typeface="Times New Roman" panose="02020603050405020304" pitchFamily="18" charset="0"/>
                  </a:rPr>
                </a:br>
                <a:endParaRPr lang="fr-CA" b="1" dirty="0"/>
              </a:p>
            </p:txBody>
          </p:sp>
        </mc:Choice>
        <mc:Fallback xmlns="">
          <p:sp>
            <p:nvSpPr>
              <p:cNvPr id="2" name="Titre 1">
                <a:extLst>
                  <a:ext uri="{FF2B5EF4-FFF2-40B4-BE49-F238E27FC236}">
                    <a16:creationId xmlns:a16="http://schemas.microsoft.com/office/drawing/2014/main" id="{75E9E526-13D3-4A06-8450-D90E393172F2}"/>
                  </a:ext>
                </a:extLst>
              </p:cNvPr>
              <p:cNvSpPr>
                <a:spLocks noGrp="1" noRot="1" noChangeAspect="1" noMove="1" noResize="1" noEditPoints="1" noAdjustHandles="1" noChangeArrowheads="1" noChangeShapeType="1" noTextEdit="1"/>
              </p:cNvSpPr>
              <p:nvPr>
                <p:ph type="title"/>
              </p:nvPr>
            </p:nvSpPr>
            <p:spPr>
              <a:xfrm>
                <a:off x="838200" y="309282"/>
                <a:ext cx="10515600" cy="5230905"/>
              </a:xfrm>
              <a:blipFill>
                <a:blip r:embed="rId2"/>
                <a:stretch>
                  <a:fillRect l="-928" r="-406"/>
                </a:stretch>
              </a:blipFill>
            </p:spPr>
            <p:txBody>
              <a:bodyPr/>
              <a:lstStyle/>
              <a:p>
                <a:r>
                  <a:rPr lang="fr-CA">
                    <a:noFill/>
                  </a:rPr>
                  <a:t> </a:t>
                </a:r>
              </a:p>
            </p:txBody>
          </p:sp>
        </mc:Fallback>
      </mc:AlternateContent>
      <p:sp>
        <p:nvSpPr>
          <p:cNvPr id="3" name="Espace réservé du pied de page 2">
            <a:extLst>
              <a:ext uri="{FF2B5EF4-FFF2-40B4-BE49-F238E27FC236}">
                <a16:creationId xmlns:a16="http://schemas.microsoft.com/office/drawing/2014/main" id="{5A2F6D15-53F3-4AAA-BC57-2345A7ED8312}"/>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B3AB9E64-B032-41F2-8D2C-25C573941BCE}"/>
              </a:ext>
            </a:extLst>
          </p:cNvPr>
          <p:cNvSpPr>
            <a:spLocks noGrp="1"/>
          </p:cNvSpPr>
          <p:nvPr>
            <p:ph type="sldNum" sz="quarter" idx="12"/>
          </p:nvPr>
        </p:nvSpPr>
        <p:spPr/>
        <p:txBody>
          <a:bodyPr/>
          <a:lstStyle/>
          <a:p>
            <a:fld id="{26377AD9-CE17-438C-A638-C64D2D42D7CF}" type="slidenum">
              <a:rPr lang="fr-CA" smtClean="0"/>
              <a:t>16</a:t>
            </a:fld>
            <a:endParaRPr lang="fr-CA"/>
          </a:p>
        </p:txBody>
      </p:sp>
    </p:spTree>
    <p:extLst>
      <p:ext uri="{BB962C8B-B14F-4D97-AF65-F5344CB8AC3E}">
        <p14:creationId xmlns:p14="http://schemas.microsoft.com/office/powerpoint/2010/main" val="2244683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6153114-1223-4F22-9C10-6B12F6D653A6}"/>
              </a:ext>
            </a:extLst>
          </p:cNvPr>
          <p:cNvSpPr>
            <a:spLocks noGrp="1"/>
          </p:cNvSpPr>
          <p:nvPr>
            <p:ph type="title"/>
          </p:nvPr>
        </p:nvSpPr>
        <p:spPr>
          <a:xfrm>
            <a:off x="838200" y="365126"/>
            <a:ext cx="10515600" cy="785758"/>
          </a:xfrm>
        </p:spPr>
        <p:txBody>
          <a:bodyPr>
            <a:normAutofit fontScale="90000"/>
          </a:bodyPr>
          <a:lstStyle/>
          <a:p>
            <a:r>
              <a:rPr lang="fr-CA" dirty="0"/>
              <a:t>On peut visualiser la droite au dessus du nuage des points.</a:t>
            </a:r>
            <a:br>
              <a:rPr lang="fr-CA" dirty="0"/>
            </a:br>
            <a:endParaRPr lang="fr-CA" dirty="0"/>
          </a:p>
        </p:txBody>
      </p:sp>
      <p:sp>
        <p:nvSpPr>
          <p:cNvPr id="3" name="Espace réservé du pied de page 2">
            <a:extLst>
              <a:ext uri="{FF2B5EF4-FFF2-40B4-BE49-F238E27FC236}">
                <a16:creationId xmlns:a16="http://schemas.microsoft.com/office/drawing/2014/main" id="{B27E5671-C2B8-467D-81B1-5F57C2E03550}"/>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ECE0A1E9-A994-4F0E-BF90-8EF5FCA956C4}"/>
              </a:ext>
            </a:extLst>
          </p:cNvPr>
          <p:cNvSpPr>
            <a:spLocks noGrp="1"/>
          </p:cNvSpPr>
          <p:nvPr>
            <p:ph type="sldNum" sz="quarter" idx="12"/>
          </p:nvPr>
        </p:nvSpPr>
        <p:spPr/>
        <p:txBody>
          <a:bodyPr/>
          <a:lstStyle/>
          <a:p>
            <a:fld id="{26377AD9-CE17-438C-A638-C64D2D42D7CF}" type="slidenum">
              <a:rPr lang="fr-CA" smtClean="0"/>
              <a:t>17</a:t>
            </a:fld>
            <a:endParaRPr lang="fr-CA"/>
          </a:p>
        </p:txBody>
      </p:sp>
      <p:graphicFrame>
        <p:nvGraphicFramePr>
          <p:cNvPr id="5" name="Tableau 4">
            <a:extLst>
              <a:ext uri="{FF2B5EF4-FFF2-40B4-BE49-F238E27FC236}">
                <a16:creationId xmlns:a16="http://schemas.microsoft.com/office/drawing/2014/main" id="{254DC321-DBD5-47E9-AFE3-A828004FEABF}"/>
              </a:ext>
            </a:extLst>
          </p:cNvPr>
          <p:cNvGraphicFramePr>
            <a:graphicFrameLocks noGrp="1"/>
          </p:cNvGraphicFramePr>
          <p:nvPr>
            <p:extLst>
              <p:ext uri="{D42A27DB-BD31-4B8C-83A1-F6EECF244321}">
                <p14:modId xmlns:p14="http://schemas.microsoft.com/office/powerpoint/2010/main" val="3021905481"/>
              </p:ext>
            </p:extLst>
          </p:nvPr>
        </p:nvGraphicFramePr>
        <p:xfrm>
          <a:off x="2564679" y="1150885"/>
          <a:ext cx="7991262" cy="1983702"/>
        </p:xfrm>
        <a:graphic>
          <a:graphicData uri="http://schemas.openxmlformats.org/drawingml/2006/table">
            <a:tbl>
              <a:tblPr firstRow="1" firstCol="1" bandRow="1">
                <a:tableStyleId>{5C22544A-7EE6-4342-B048-85BDC9FD1C3A}</a:tableStyleId>
              </a:tblPr>
              <a:tblGrid>
                <a:gridCol w="7991262">
                  <a:extLst>
                    <a:ext uri="{9D8B030D-6E8A-4147-A177-3AD203B41FA5}">
                      <a16:colId xmlns:a16="http://schemas.microsoft.com/office/drawing/2014/main" val="960021105"/>
                    </a:ext>
                  </a:extLst>
                </a:gridCol>
              </a:tblGrid>
              <a:tr h="626519">
                <a:tc>
                  <a:txBody>
                    <a:bodyPr/>
                    <a:lstStyle/>
                    <a:p>
                      <a:pPr>
                        <a:lnSpc>
                          <a:spcPct val="200000"/>
                        </a:lnSpc>
                      </a:pPr>
                      <a:r>
                        <a:rPr lang="fr-CA" sz="1200" dirty="0">
                          <a:effectLst/>
                        </a:rPr>
                        <a:t>Pour illustrer les données sous forme d’un nuage de points avec la droite de régression :</a:t>
                      </a:r>
                      <a:endParaRPr lang="fr-CA" sz="1200" dirty="0">
                        <a:solidFill>
                          <a:srgbClr val="000000"/>
                        </a:solidFill>
                        <a:effectLst/>
                        <a:latin typeface="Times (TT) Regular"/>
                        <a:ea typeface="Times New Roman" panose="02020603050405020304" pitchFamily="18" charset="0"/>
                        <a:cs typeface="Times (TT) Regular"/>
                      </a:endParaRPr>
                    </a:p>
                  </a:txBody>
                  <a:tcPr marL="68580" marR="68580" marT="0" marB="0"/>
                </a:tc>
                <a:extLst>
                  <a:ext uri="{0D108BD9-81ED-4DB2-BD59-A6C34878D82A}">
                    <a16:rowId xmlns:a16="http://schemas.microsoft.com/office/drawing/2014/main" val="3695254116"/>
                  </a:ext>
                </a:extLst>
              </a:tr>
              <a:tr h="1357183">
                <a:tc>
                  <a:txBody>
                    <a:bodyPr/>
                    <a:lstStyle/>
                    <a:p>
                      <a:pPr>
                        <a:lnSpc>
                          <a:spcPct val="200000"/>
                        </a:lnSpc>
                      </a:pPr>
                      <a:r>
                        <a:rPr lang="en-CA" sz="1200" dirty="0">
                          <a:effectLst/>
                        </a:rPr>
                        <a:t>plot(</a:t>
                      </a:r>
                      <a:r>
                        <a:rPr lang="en-CA" sz="1200" dirty="0" err="1">
                          <a:effectLst/>
                        </a:rPr>
                        <a:t>x,y,xlab</a:t>
                      </a:r>
                      <a:r>
                        <a:rPr lang="en-CA" sz="1200" dirty="0">
                          <a:effectLst/>
                        </a:rPr>
                        <a:t>="…",</a:t>
                      </a:r>
                      <a:r>
                        <a:rPr lang="en-CA" sz="1200" dirty="0" err="1">
                          <a:effectLst/>
                        </a:rPr>
                        <a:t>ylab</a:t>
                      </a:r>
                      <a:r>
                        <a:rPr lang="en-CA" sz="1200" dirty="0">
                          <a:effectLst/>
                        </a:rPr>
                        <a:t>="…",main="…",col="red")</a:t>
                      </a:r>
                      <a:endParaRPr lang="fr-CA" sz="1200" dirty="0">
                        <a:effectLst/>
                      </a:endParaRPr>
                    </a:p>
                    <a:p>
                      <a:pPr>
                        <a:lnSpc>
                          <a:spcPct val="200000"/>
                        </a:lnSpc>
                      </a:pPr>
                      <a:r>
                        <a:rPr lang="en-CA" sz="1200" dirty="0">
                          <a:effectLst/>
                        </a:rPr>
                        <a:t> </a:t>
                      </a:r>
                      <a:r>
                        <a:rPr lang="en-CA" sz="1200" dirty="0" err="1">
                          <a:effectLst/>
                        </a:rPr>
                        <a:t>abline</a:t>
                      </a:r>
                      <a:r>
                        <a:rPr lang="en-CA" sz="1200" dirty="0">
                          <a:effectLst/>
                        </a:rPr>
                        <a:t>(</a:t>
                      </a:r>
                      <a:r>
                        <a:rPr lang="en-CA" sz="1200" dirty="0" err="1">
                          <a:effectLst/>
                        </a:rPr>
                        <a:t>lm</a:t>
                      </a:r>
                      <a:r>
                        <a:rPr lang="en-CA" sz="1200" dirty="0">
                          <a:effectLst/>
                        </a:rPr>
                        <a:t>(</a:t>
                      </a:r>
                      <a:r>
                        <a:rPr lang="en-CA" sz="1200" dirty="0" err="1">
                          <a:effectLst/>
                        </a:rPr>
                        <a:t>y~x</a:t>
                      </a:r>
                      <a:r>
                        <a:rPr lang="en-CA" sz="1200" dirty="0">
                          <a:effectLst/>
                        </a:rPr>
                        <a:t>))</a:t>
                      </a:r>
                      <a:endParaRPr lang="fr-CA" sz="1200" dirty="0">
                        <a:solidFill>
                          <a:srgbClr val="000000"/>
                        </a:solidFill>
                        <a:effectLst/>
                        <a:latin typeface="Times (TT) Regular"/>
                        <a:ea typeface="Times New Roman" panose="02020603050405020304" pitchFamily="18" charset="0"/>
                        <a:cs typeface="Times (TT) Regular"/>
                      </a:endParaRPr>
                    </a:p>
                  </a:txBody>
                  <a:tcPr marL="68580" marR="68580" marT="0" marB="0"/>
                </a:tc>
                <a:extLst>
                  <a:ext uri="{0D108BD9-81ED-4DB2-BD59-A6C34878D82A}">
                    <a16:rowId xmlns:a16="http://schemas.microsoft.com/office/drawing/2014/main" val="3883914016"/>
                  </a:ext>
                </a:extLst>
              </a:tr>
            </a:tbl>
          </a:graphicData>
        </a:graphic>
      </p:graphicFrame>
      <p:pic>
        <p:nvPicPr>
          <p:cNvPr id="6" name="Image 5">
            <a:extLst>
              <a:ext uri="{FF2B5EF4-FFF2-40B4-BE49-F238E27FC236}">
                <a16:creationId xmlns:a16="http://schemas.microsoft.com/office/drawing/2014/main" id="{B8C9D050-9712-417F-9079-A0726673674A}"/>
              </a:ext>
            </a:extLst>
          </p:cNvPr>
          <p:cNvPicPr/>
          <p:nvPr/>
        </p:nvPicPr>
        <p:blipFill>
          <a:blip r:embed="rId2"/>
          <a:stretch>
            <a:fillRect/>
          </a:stretch>
        </p:blipFill>
        <p:spPr>
          <a:xfrm>
            <a:off x="2084294" y="3134587"/>
            <a:ext cx="9030396" cy="3404325"/>
          </a:xfrm>
          <a:prstGeom prst="rect">
            <a:avLst/>
          </a:prstGeom>
        </p:spPr>
      </p:pic>
    </p:spTree>
    <p:extLst>
      <p:ext uri="{BB962C8B-B14F-4D97-AF65-F5344CB8AC3E}">
        <p14:creationId xmlns:p14="http://schemas.microsoft.com/office/powerpoint/2010/main" val="3217981186"/>
      </p:ext>
    </p:extLst>
  </p:cSld>
  <p:clrMapOvr>
    <a:masterClrMapping/>
  </p:clrMapOvr>
</p:sld>
</file>

<file path=ppt/theme/theme1.xml><?xml version="1.0" encoding="utf-8"?>
<a:theme xmlns:a="http://schemas.openxmlformats.org/drawingml/2006/main" name="Office Them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TotalTime>
  <Words>1996</Words>
  <Application>Microsoft Office PowerPoint</Application>
  <PresentationFormat>Grand écran</PresentationFormat>
  <Paragraphs>161</Paragraphs>
  <Slides>17</Slides>
  <Notes>1</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17</vt:i4>
      </vt:variant>
    </vt:vector>
  </HeadingPairs>
  <TitlesOfParts>
    <vt:vector size="27" baseType="lpstr">
      <vt:lpstr>Arial</vt:lpstr>
      <vt:lpstr>Calibri</vt:lpstr>
      <vt:lpstr>Calibri Light</vt:lpstr>
      <vt:lpstr>Cambria Math</vt:lpstr>
      <vt:lpstr>Helvetica Neue (T1) 45 Light</vt:lpstr>
      <vt:lpstr>Symbol (T1) Italic</vt:lpstr>
      <vt:lpstr>Symbol (T1) Medium</vt:lpstr>
      <vt:lpstr>Times (TT) Regular</vt:lpstr>
      <vt:lpstr>Times New Roman</vt:lpstr>
      <vt:lpstr>Office Theme</vt:lpstr>
      <vt:lpstr>La corrélation et régression linéaire</vt:lpstr>
      <vt:lpstr>Généralement, en présence de deux variables, nous connaissons mieux l’une d’entre elles ou encore nous pouvons exercer sur elle un certain contrôle, c’est-à-dire l’ajuster. Cette variable est notée X et appelée variable indépendante ou variable explicative. L’autre variable, celle que nous connaissons moins ou que nous ne pouvons pas contrôler, est notée Y et appelée variable dépendante ou variable expliquée ; on la nomme aussi variable réponse, pour signifier qu’elle répond aux fluctuations de X. Si nous reprenons un des exemples de l’introduction, une entreprise peut ajuster ses dépenses en publicité (variable indépendante) pour augmenter ses revenus (variable dépendante).  Le modèle le plus simple qui puisse lier la variable dépendante et la variable indépendante est une droite. Il faut trouver la droite la plus « efficace » possible, c’est-à-dire celle qui peut lier le plus de points possible. </vt:lpstr>
      <vt:lpstr>Donc on doit d’abord mesurer les variables X et Y sur un échantillon aléatoire de taille n. On fait un graphique du nuage des points. Mais avant d’essayer de déterminer cette droite, il faut s’assurer que le nuage des points a une tendance linéaire. Ce qui n’est pas le cas des trois nuages des points suivants </vt:lpstr>
      <vt:lpstr>Exemple 1: La Ville de Gatineau veut modéliser les fluctuations du taux d’ozone dans l’air à midi au cours du mois de juillet. Nous sommes donc en présence de deux variables, soit X, la température à midi au mois de juillet (en degrés Celsius), qui est parfaitement observable et connue, et Y, le taux d’ozone dans l’air (en parties par million), qui est moins connu. Nous allons donc tenter de modéliser cette dernière en fonction de la première. La Ville a commencé par choisir au hasard 10 journées du mois de juillet, pour lesquelles elle a noté les mesures de la température et du taux d’ozone à midi. Elle a obtenu les résultats suivants. </vt:lpstr>
      <vt:lpstr>Nous allons d’abord visualiser le nuage de points au moyen d’un graphique. Avec R: Il suffit de taper: plot(x,y,xlab=……,ylab=…….,main=…….) et on obtient:</vt:lpstr>
      <vt:lpstr>Comme nous le voyons dans ce graphique, nous pouvons faire passer plusieurs droites à travers le nuage. Le but de l’exercice est donc de trouver la droite qui puisse passer le plus près de la majorité de ces points. Le modèle que nous tentons de trouver est de la forme Y=α+βX+ε, où  α et  β sont des constantes réelles qu’il faudrait estimer et  ε est le résidu (l’erreur) associé au modèle, car il est impossible que tous les points choisis au hasard soient alignés sur la droite. Le paramètre β  est la pente de la droite, qui donne la variation de Y lorsque X varie d’une unité. Le paramètre α  est l’ordonnée à l’origine, qui donne l’ordonnée du point par lequel la droite coupe l’axe des Y. Comme tout modèle possède ses conditions d’application, nous allons maintenant formaliser celles de ce modèle. Tout modèle de régression linéaire simple doit satisfaire 4 conditions : </vt:lpstr>
      <vt:lpstr>1, L’indépendance des observations : On suppose qu’on dispose de n observations indépendantes sur les deux variables : (x_1;y_1 ), (x_2,y_2 ),….,(x_n,y_n). 2. On suppose que la variable X est mesurée soit sans erreur soit que l’erreur des mesures est négligeable.  3. Normalité et homogénéité de la variance : On suppose que la fonction résidu ε est normalement distribuée avec une moyenne nulle et une variance σ^2. Cela signifie qu’il y aura des points au-dessus de la droite donnant le modèle, mais aussi sous et sur cette droite ; cependant, la moyenne des écarts de tous les points par rapport à la droite doit être nulle.  4. La distribution de la variable dépendante pour chaque valeur fixée de X ; Y|X=x sera alors distribuée normalement avec une moyenne égale à α+βx et une variance σ^2. </vt:lpstr>
      <vt:lpstr>Ainsi, à chaque couple est associé un résidu théorique ε_i=y_i-α-βx_i, qui indique l’écart entre la valeur observée de Y et la valeur qu’elle devrait prendre si elle était exactement sur la droite du modèle. On sait déjà que : ∑_(i = 1)^n▒ε_i =0 La droite qu’on cherche est celle qui minimise la somme des carrés de tous ces résidus. C’est ce qui s’appelle la méthode des moindres carrés, que nous allons utiliser dans ce chapitre. On nomme droite de régression simple entre les variables X et Y la droite qui minimise : ∑_(i = 1)^n▒ε_i^2 =∑_(i = 1)^n▒〖(y_i-α-βx_i )^2 〗   </vt:lpstr>
      <vt:lpstr>Après quelques manipulations du calcul différentielle, on obtient:</vt:lpstr>
      <vt:lpstr>Traitement des données à la main:</vt:lpstr>
      <vt:lpstr>Suite)</vt:lpstr>
      <vt:lpstr>Calcul avec le logiciel R</vt:lpstr>
      <vt:lpstr>Avant l’utilisation de l’équation de cette droite de régression, soit à des fins descriptives ou inférentielles, il faut s’assurer de la véracité des 4 conditions de l’application de cette méthodologie. Ce qu’on va faire ci-dessous : L’indépendance : On doit s’assurer que les données sont prises au hasard. La variable X, température est supposée sans erreur autre que celle de la lecture du thermomètre. Pour la normalité et l’homogénéité de la variance, il faut faire l’étude des résidus expérimentaux à savoir (e_i ) ̂=y_i-(y_i ) ̂=y_i-69,457-1,594x_i       pour i=1,…..,n Cette étude des résidus, on va la faire en utilisant le logiciel R. En traçant le graphique quantiles-quantiles des résidus. En tapant: </vt:lpstr>
      <vt:lpstr>On obtient:</vt:lpstr>
      <vt:lpstr>Quant à la variance des résidus, son estimateur est égal à : (σ^2 ) ̂=s^2=(∑1_(i=1)^n▒(e_i^2 ) ̂ )/(n-2)=(La somme des carrés des résidus expérimenntaux)/(n-2) On divise par (n-2) car on perd deux degrés de liberté en estimant les deux paramètres de la droite de régression. La quantité s=√((∑1_(i=1)^n▒(e_i^2 ) ̂ )/(n-2)) s’appelle erreur type des résidus. Dans cet exemple  s=17,41. Pour vérifier l’homogénéité de la variance, on doit s’assurer (grosso-modo) que les résidus se répartissent entre plus ou moins deux erreurs types. Ce qu’on peut vérifier directement à partir du graphique des résidus précédent.. </vt:lpstr>
      <vt:lpstr>Une fois qu’on s’assure que ces conditions sont satisfaites, on peut utiliser l’équation de la droite de régression pour prédire les valeurs de Y pour des valeurs fixées de X. Par exemple, si on veut prédire le taux d’azote dans l’air à Gatineau un jour de juillet où il fait 28 °C à midi, on le formalise comme suit : y ̂_(|x| = 28)=69,4578+1,5939×28=114,087 "ppm"     REMARQUE La droite de régression s’utilise pour estimer les valeurs de Y uniquement à l’intérieur de l’intervalle où la variable X varie. On ne peut donc pas extrapoler ce qu’on a observé au-delà des limites où l’on a pris l’échantillon des mesures de X.  </vt:lpstr>
      <vt:lpstr>On peut visualiser la droite au dessus du nuage des points.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corrélation et régression linéaire</dc:title>
  <dc:creator>Mhammed Mountassir</dc:creator>
  <cp:lastModifiedBy>Mhammed Mountassir</cp:lastModifiedBy>
  <cp:revision>5</cp:revision>
  <dcterms:created xsi:type="dcterms:W3CDTF">2020-11-23T13:19:07Z</dcterms:created>
  <dcterms:modified xsi:type="dcterms:W3CDTF">2021-11-29T20:44:16Z</dcterms:modified>
</cp:coreProperties>
</file>