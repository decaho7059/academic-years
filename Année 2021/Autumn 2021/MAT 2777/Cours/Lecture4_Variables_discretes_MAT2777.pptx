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810" r:id="rId1"/>
  </p:sldMasterIdLst>
  <p:notesMasterIdLst>
    <p:notesMasterId r:id="rId25"/>
  </p:notesMasterIdLst>
  <p:sldIdLst>
    <p:sldId id="299" r:id="rId2"/>
    <p:sldId id="271" r:id="rId3"/>
    <p:sldId id="273" r:id="rId4"/>
    <p:sldId id="268" r:id="rId5"/>
    <p:sldId id="269" r:id="rId6"/>
    <p:sldId id="270" r:id="rId7"/>
    <p:sldId id="277" r:id="rId8"/>
    <p:sldId id="278" r:id="rId9"/>
    <p:sldId id="279" r:id="rId10"/>
    <p:sldId id="280" r:id="rId11"/>
    <p:sldId id="281" r:id="rId12"/>
    <p:sldId id="285" r:id="rId13"/>
    <p:sldId id="282" r:id="rId14"/>
    <p:sldId id="283" r:id="rId15"/>
    <p:sldId id="284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57" autoAdjust="0"/>
  </p:normalViewPr>
  <p:slideViewPr>
    <p:cSldViewPr snapToGrid="0">
      <p:cViewPr varScale="1">
        <p:scale>
          <a:sx n="71" d="100"/>
          <a:sy n="71" d="100"/>
        </p:scale>
        <p:origin x="3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88AB8-1C01-41DC-AFCA-28305AC61B27}" type="datetimeFigureOut">
              <a:rPr lang="fr-CA" smtClean="0"/>
              <a:t>2021-09-21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1DE7-72A5-40DE-843D-98ED1D33E9C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178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F1DE7-72A5-40DE-843D-98ED1D33E9CB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28663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AADC-90C4-42A0-92DD-A3EB1E3F99BC}" type="datetime1">
              <a:rPr lang="fr-CA" smtClean="0"/>
              <a:t>2021-09-21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35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81BE-FF7C-4713-86B5-98B3635F7575}" type="datetime1">
              <a:rPr lang="fr-CA" smtClean="0"/>
              <a:t>2021-09-21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666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F1A6-A103-49CB-B28A-B5B8CE7CCF08}" type="datetime1">
              <a:rPr lang="fr-CA" smtClean="0"/>
              <a:t>2021-09-21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871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E57F-B680-462B-BBFD-7518F74AF714}" type="datetime1">
              <a:rPr lang="fr-CA" smtClean="0"/>
              <a:t>2021-09-21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621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B3B4F-1CE8-448C-951A-2E287C7816DA}" type="datetime1">
              <a:rPr lang="fr-CA" smtClean="0"/>
              <a:t>2021-09-21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481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3F50-9144-44F9-A37F-D55A19808CF4}" type="datetime1">
              <a:rPr lang="fr-CA" smtClean="0"/>
              <a:t>2021-09-21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743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2447-19AC-45D2-83F5-5B12576F084D}" type="datetime1">
              <a:rPr lang="fr-CA" smtClean="0"/>
              <a:t>2021-09-21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99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9AF-12D3-47FA-A0D6-97746BB8E776}" type="datetime1">
              <a:rPr lang="fr-CA" smtClean="0"/>
              <a:t>2021-09-21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165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9D18-3682-4189-B23C-B8B496B3307C}" type="datetime1">
              <a:rPr lang="fr-CA" smtClean="0"/>
              <a:t>2021-09-21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940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AFDA-2171-49C0-B449-3733417EA82F}" type="datetime1">
              <a:rPr lang="fr-CA" smtClean="0"/>
              <a:t>2021-09-21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122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D924-29A3-4FF2-B149-61A5377F8882}" type="datetime1">
              <a:rPr lang="fr-CA" smtClean="0"/>
              <a:t>2021-09-21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238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8466-3607-4A57-8167-9FAB5784D41C}" type="datetime1">
              <a:rPr lang="fr-CA" smtClean="0"/>
              <a:t>2021-09-21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7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F2C45-6755-4B69-ABC2-4A9714E0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011" y="-436690"/>
            <a:ext cx="12603480" cy="2944759"/>
          </a:xfrm>
        </p:spPr>
        <p:txBody>
          <a:bodyPr>
            <a:normAutofit fontScale="90000"/>
          </a:bodyPr>
          <a:lstStyle/>
          <a:p>
            <a:br>
              <a:rPr lang="fr-CA" dirty="0"/>
            </a:br>
            <a:br>
              <a:rPr lang="fr-CA" dirty="0"/>
            </a:br>
            <a:br>
              <a:rPr lang="fr-CA" dirty="0"/>
            </a:br>
            <a:r>
              <a:rPr lang="fr-CA" dirty="0"/>
              <a:t>Théorème: Si A et B sont indépendants, alors:</a:t>
            </a:r>
            <a:br>
              <a:rPr lang="fr-CA" dirty="0"/>
            </a:br>
            <a:r>
              <a:rPr lang="fr-CA" dirty="0"/>
              <a:t>. A et B’ le sont aussi.</a:t>
            </a:r>
            <a:br>
              <a:rPr lang="fr-CA" dirty="0"/>
            </a:br>
            <a:r>
              <a:rPr lang="fr-CA" dirty="0"/>
              <a:t>. A’ et B le sont aussi.</a:t>
            </a:r>
            <a:br>
              <a:rPr lang="fr-CA" dirty="0"/>
            </a:br>
            <a:r>
              <a:rPr lang="fr-CA" dirty="0"/>
              <a:t>. A’ et B’ le sont aussi.</a:t>
            </a:r>
            <a:br>
              <a:rPr lang="fr-CA" dirty="0"/>
            </a:br>
            <a:br>
              <a:rPr lang="fr-CA" dirty="0"/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863F1F-C17A-4143-9738-EE1DE328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D9CCAF-CE26-485C-8C99-6D0BB57F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D832E17-6E0C-4B8D-9EAA-4E444F8A5768}"/>
                  </a:ext>
                </a:extLst>
              </p:cNvPr>
              <p:cNvSpPr txBox="1"/>
              <p:nvPr/>
            </p:nvSpPr>
            <p:spPr>
              <a:xfrm>
                <a:off x="838199" y="2508069"/>
                <a:ext cx="9729652" cy="237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Démonstration: Démontrer la 3</a:t>
                </a:r>
                <a:r>
                  <a:rPr lang="fr-CA" b="1" baseline="30000" dirty="0"/>
                  <a:t>ième</a:t>
                </a:r>
                <a:r>
                  <a:rPr lang="fr-CA" b="1" dirty="0"/>
                  <a:t> </a:t>
                </a:r>
                <a:r>
                  <a:rPr lang="fr-CA" dirty="0"/>
                  <a:t>.</a:t>
                </a:r>
              </a:p>
              <a:p>
                <a:r>
                  <a:rPr lang="fr-CA" dirty="0"/>
                  <a:t>Supposons que A et B sont indépendants. Alors: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∪</m:t>
                                  </m:r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Ce qui prouve que A’ et B’ sont aussi indépendants.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D832E17-6E0C-4B8D-9EAA-4E444F8A5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508069"/>
                <a:ext cx="9729652" cy="2379626"/>
              </a:xfrm>
              <a:prstGeom prst="rect">
                <a:avLst/>
              </a:prstGeom>
              <a:blipFill>
                <a:blip r:embed="rId2"/>
                <a:stretch>
                  <a:fillRect l="-501" t="-1279" b="-306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6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A9BDB8-71E4-42F2-BE61-32EA959F0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6555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Formule de Bayes</a:t>
            </a:r>
            <a:r>
              <a:rPr lang="fr-CA" dirty="0"/>
              <a:t>: Soit une expérience aléatoire avec S décomposé en deux groupes formant sa partition. 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3DB2E4-5C8C-4CE2-ADF5-1D7ED44F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ACCE71-50FD-46C7-A274-278119A4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DC3C0DE-2AD4-4E3B-8F9F-97295A1B3D1A}"/>
                  </a:ext>
                </a:extLst>
              </p:cNvPr>
              <p:cNvSpPr txBox="1"/>
              <p:nvPr/>
            </p:nvSpPr>
            <p:spPr>
              <a:xfrm>
                <a:off x="1188720" y="2586446"/>
                <a:ext cx="9222377" cy="3449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Exemple1</a:t>
                </a:r>
                <a:r>
                  <a:rPr lang="fr-CA" dirty="0"/>
                  <a:t>: H: les hommes   et F: les femmes. M: les personnes atteintes d’une certaine maladie..</a:t>
                </a:r>
              </a:p>
              <a:p>
                <a:r>
                  <a:rPr lang="fr-CA" dirty="0"/>
                  <a:t>On suppose que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=0,45;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=0,55;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=0,05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=0,08</m:t>
                    </m:r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1</a:t>
                </a:r>
                <a:r>
                  <a:rPr lang="fr-CA" baseline="30000" dirty="0"/>
                  <a:t>ère</a:t>
                </a:r>
                <a:r>
                  <a:rPr lang="fr-CA" dirty="0"/>
                  <a:t> étape: On veut calculer le pourcentage des malades dans cette population.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=0,05∗0,45+0,08∗0,55=0,0665=6,65%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2</a:t>
                </a:r>
                <a:r>
                  <a:rPr lang="fr-CA" baseline="30000" dirty="0"/>
                  <a:t>ième</a:t>
                </a:r>
                <a:r>
                  <a:rPr lang="fr-CA" dirty="0"/>
                  <a:t> étape: On veut calculer le pourcentage des femmes parmi les malades.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0,08∗0,55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0,0665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=0,6617=66,17%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C’est cette dernière formule qu’on appelle </a:t>
                </a:r>
                <a:r>
                  <a:rPr lang="fr-CA" b="1" dirty="0"/>
                  <a:t>formule de Bayes</a:t>
                </a:r>
                <a:r>
                  <a:rPr lang="fr-CA" dirty="0"/>
                  <a:t>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DC3C0DE-2AD4-4E3B-8F9F-97295A1B3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586446"/>
                <a:ext cx="9222377" cy="3449021"/>
              </a:xfrm>
              <a:prstGeom prst="rect">
                <a:avLst/>
              </a:prstGeom>
              <a:blipFill>
                <a:blip r:embed="rId2"/>
                <a:stretch>
                  <a:fillRect l="-529" t="-883" b="-176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61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6ED22-F3D3-4323-BF52-9B4F218E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69069"/>
          </a:xfrm>
        </p:spPr>
        <p:txBody>
          <a:bodyPr>
            <a:normAutofit/>
          </a:bodyPr>
          <a:lstStyle/>
          <a:p>
            <a:r>
              <a:rPr lang="fr-CA" dirty="0"/>
              <a:t>Exemple 2: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s’intéresse à une maladie présente dans une population </a:t>
            </a:r>
            <a:r>
              <a:rPr lang="fr-FR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Soit </a:t>
            </a:r>
            <a:r>
              <a:rPr lang="fr-FR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Les personnes atteintes de cette maladie ; et </a:t>
            </a:r>
            <a:r>
              <a:rPr lang="fr-FR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M′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Les personnes non atteintes de cette maladie. Une compagnie pharmaceutique a mis au point un procédé pour détecter la présence ou non de cette maladie. Soit alors </a:t>
            </a:r>
            <a:r>
              <a:rPr lang="fr-FR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T+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 test est positif. </a:t>
            </a:r>
            <a:r>
              <a:rPr lang="fr-CA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CA" sz="200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762A1-96A0-45B1-AE9E-9A03EEED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7CF95F5-3A4D-43ED-B8BE-8A59C9618A32}"/>
                  </a:ext>
                </a:extLst>
              </p:cNvPr>
              <p:cNvSpPr txBox="1"/>
              <p:nvPr/>
            </p:nvSpPr>
            <p:spPr>
              <a:xfrm>
                <a:off x="509450" y="3540034"/>
                <a:ext cx="10515600" cy="2608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fr-CA" dirty="0"/>
              </a:p>
              <a:p>
                <a:r>
                  <a:rPr lang="fr-CA" dirty="0"/>
                  <a:t>Supposons qu’on connaisse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=0,15;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=0,90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=0,13</m:t>
                    </m:r>
                  </m:oMath>
                </a14:m>
                <a:r>
                  <a:rPr lang="fr-CA" dirty="0"/>
                  <a:t> </a:t>
                </a:r>
              </a:p>
              <a:p>
                <a:endParaRPr lang="fr-CA" dirty="0"/>
              </a:p>
              <a:p>
                <a:r>
                  <a:rPr lang="fr-CA" b="1" dirty="0"/>
                  <a:t>1</a:t>
                </a:r>
                <a:r>
                  <a:rPr lang="fr-CA" b="1" baseline="30000" dirty="0"/>
                  <a:t>ère</a:t>
                </a:r>
                <a:r>
                  <a:rPr lang="fr-CA" b="1" dirty="0"/>
                  <a:t> étape</a:t>
                </a:r>
                <a:r>
                  <a:rPr lang="fr-CA" dirty="0"/>
                  <a:t>: On calcule le pourcentage de la population qui a été testée positive.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=0,90∗0,15+0,13∗0,85=0,2455=24,55%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2</a:t>
                </a:r>
                <a:r>
                  <a:rPr lang="fr-CA" b="1" baseline="30000" dirty="0"/>
                  <a:t>ième</a:t>
                </a:r>
                <a:r>
                  <a:rPr lang="fr-CA" b="1" dirty="0"/>
                  <a:t> étape</a:t>
                </a:r>
                <a:r>
                  <a:rPr lang="fr-CA" dirty="0"/>
                  <a:t>: Supposons qu’on veuille calculer le pourcentage des malades parmi ceux qui ont été testés positifs.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+)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+)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+)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0,90∗0,15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0,2455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=0,5499=54,99%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7CF95F5-3A4D-43ED-B8BE-8A59C9618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50" y="3540034"/>
                <a:ext cx="10515600" cy="2608086"/>
              </a:xfrm>
              <a:prstGeom prst="rect">
                <a:avLst/>
              </a:prstGeom>
              <a:blipFill>
                <a:blip r:embed="rId2"/>
                <a:stretch>
                  <a:fillRect l="-522" r="-4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3AA7B002-0993-48FA-A589-24AE0CE76F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2" y="2259284"/>
            <a:ext cx="5514975" cy="1457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770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DBD17-DF03-4D87-8C3D-2D0E2BED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1257"/>
            <a:ext cx="10944497" cy="1789612"/>
          </a:xfrm>
        </p:spPr>
        <p:txBody>
          <a:bodyPr>
            <a:normAutofit fontScale="90000"/>
          </a:bodyPr>
          <a:lstStyle/>
          <a:p>
            <a:r>
              <a:rPr lang="fr-CA" dirty="0"/>
              <a:t>Exemple2: Formule de Bayes avec une partition formée de 4 groupes. Avec un arbre des probabilités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D87C38-DBB9-4E91-AA61-FCE0ECAA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983484-FD70-4602-98BB-0153E5C7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4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F58DA6-D6C4-40D4-B337-748AA97CB0B0}"/>
              </a:ext>
            </a:extLst>
          </p:cNvPr>
          <p:cNvSpPr txBox="1"/>
          <p:nvPr/>
        </p:nvSpPr>
        <p:spPr>
          <a:xfrm>
            <a:off x="966651" y="1854926"/>
            <a:ext cx="10515600" cy="446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Soit une population d’enfants où la répartition de la couleur des cheveux du père est la suivante : 55 % des enfants ont un père aux cheveux châtains, 20 %, un père aux cheveux noirs, 15 %, un père aux cheveux blonds et 10 %, un père aux cheveux roux. Supposons par ailleurs que 25 % des enfants de pères aux cheveux châtains aient des cheveux blonds, que 5 % des enfants de pères aux cheveux noirs aient des cheveux blonds, que 65 % des enfants de pères aux cheveux blonds aient des cheveux blonds et que 10 % des enfants de pères aux cheveux roux aient des cheveux blonds.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	Dressez un diagramme en arbre qui décrit la situation.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  <a:tabLst>
                <a:tab pos="101600" algn="l"/>
                <a:tab pos="152400" algn="l"/>
                <a:tab pos="449580" algn="l"/>
              </a:tabLst>
            </a:pP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	Quelle est la probabilité qu’un enfant choisi au hasard dans cette population ait des cheveux blonds ?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  <a:tabLst>
                <a:tab pos="101600" algn="l"/>
                <a:tab pos="152400" algn="l"/>
                <a:tab pos="449580" algn="l"/>
              </a:tabLst>
            </a:pP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	Quelle est la probabilité que le père soit blond sachant que l’enfant est blond ?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9300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A2FB73-B1A7-4201-93F4-DBBE574B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>
            <a:normAutofit/>
          </a:bodyPr>
          <a:lstStyle/>
          <a:p>
            <a:pPr algn="ctr"/>
            <a:r>
              <a:rPr lang="fr-CA" sz="3000">
                <a:solidFill>
                  <a:srgbClr val="FFFFFF"/>
                </a:solidFill>
              </a:rPr>
              <a:t>Réponse: </a:t>
            </a:r>
            <a:r>
              <a:rPr lang="fr-FR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Soit </a:t>
            </a:r>
            <a:r>
              <a:rPr lang="fr-FR" sz="3000" i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fr-FR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 père a les cheveux châtains, </a:t>
            </a:r>
            <a:r>
              <a:rPr lang="fr-FR" sz="3000" i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fr-FR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 père a les cheveux noirs, </a:t>
            </a:r>
            <a:r>
              <a:rPr lang="fr-FR" sz="3000" i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fr-FR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 père a les cheveux blonds, </a:t>
            </a:r>
            <a:r>
              <a:rPr lang="fr-FR" sz="3000" i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fr-FR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Le père a les cheveux roux et </a:t>
            </a:r>
            <a:r>
              <a:rPr lang="fr-FR" sz="3000" i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fr-FR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L’enfant a les cheveux blonds.</a:t>
            </a:r>
            <a:br>
              <a:rPr lang="fr-CA" sz="30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sz="3000">
              <a:solidFill>
                <a:srgbClr val="FFFFFF"/>
              </a:solidFill>
            </a:endParaRPr>
          </a:p>
        </p:txBody>
      </p:sp>
      <p:pic>
        <p:nvPicPr>
          <p:cNvPr id="8" name="Image 7" descr="Une image contenant texte, carte&#10;&#10;Description générée automatiquement">
            <a:extLst>
              <a:ext uri="{FF2B5EF4-FFF2-40B4-BE49-F238E27FC236}">
                <a16:creationId xmlns:a16="http://schemas.microsoft.com/office/drawing/2014/main" id="{3437F2AA-5FF1-415B-B22A-6F36C7EEAF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85814" y="492573"/>
            <a:ext cx="5889560" cy="5880796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A890A4-17FB-447D-B49D-D2BB28373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4297" y="6423025"/>
            <a:ext cx="5618954" cy="365125"/>
          </a:xfrm>
        </p:spPr>
        <p:txBody>
          <a:bodyPr>
            <a:normAutofit/>
          </a:bodyPr>
          <a:lstStyle/>
          <a:p>
            <a:pPr algn="l"/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09AF29-7456-4A70-9B38-E34EE3BF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317" y="6423025"/>
            <a:ext cx="7715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6377AD9-CE17-438C-A638-C64D2D42D7CF}" type="slidenum">
              <a:rPr lang="fr-CA" smtClean="0"/>
              <a:pPr>
                <a:spcAft>
                  <a:spcPts val="600"/>
                </a:spcAft>
              </a:pPr>
              <a:t>5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8BEA40-57B3-4496-BE02-F8D9011A23FE}"/>
              </a:ext>
            </a:extLst>
          </p:cNvPr>
          <p:cNvSpPr txBox="1"/>
          <p:nvPr/>
        </p:nvSpPr>
        <p:spPr>
          <a:xfrm>
            <a:off x="1018903" y="1763486"/>
            <a:ext cx="10334897" cy="4454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2263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097AD-3116-44C6-B867-067BF1018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Suite)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FC44FF6-42C7-4CE1-A7A6-638B5FDD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8A297-B4B5-4C7D-94B7-575EFE9E8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6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3385AD5-935C-4E60-92AC-99A05CDB0F19}"/>
                  </a:ext>
                </a:extLst>
              </p:cNvPr>
              <p:cNvSpPr txBox="1"/>
              <p:nvPr/>
            </p:nvSpPr>
            <p:spPr>
              <a:xfrm>
                <a:off x="1097280" y="2377440"/>
                <a:ext cx="10256520" cy="3439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b) 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lorsqu’on utilise l’arbre des probabilités, simplement faire la somme des probabilités des feuilles de l’arbre qui finissent par E, ce qui donne 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𝐸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=0,255</m:t>
                    </m:r>
                  </m:oMath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c) </a:t>
                </a:r>
                <a: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La probabilité que le père soit blond sachant que l’enfant est blond est :</a:t>
                </a: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fr-CA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𝐸</m:t>
                          </m:r>
                        </m:e>
                      </m:d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0,0975</m:t>
                          </m:r>
                        </m:num>
                        <m:den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0,255</m:t>
                          </m:r>
                        </m:den>
                      </m:f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=0,3824</m:t>
                      </m:r>
                    </m:oMath>
                  </m:oMathPara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Valeur qu’on peut obtenir directement de l’arbre des probabilités, en divisant la probabilité de passer par le chemin B et E par la probabilité de E.</a:t>
                </a: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3385AD5-935C-4E60-92AC-99A05CDB0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377440"/>
                <a:ext cx="10256520" cy="3439083"/>
              </a:xfrm>
              <a:prstGeom prst="rect">
                <a:avLst/>
              </a:prstGeom>
              <a:blipFill>
                <a:blip r:embed="rId2"/>
                <a:stretch>
                  <a:fillRect l="-475" t="-1064" r="-53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55ECAA25-0106-4BE2-A540-A5C7C971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1910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C31189-1928-4F21-8919-5B8885CB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 3: 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Dans une usine, trois ouvriers assemblent toutes les pièces fabriquées </a:t>
            </a:r>
            <a:r>
              <a:rPr lang="en-US" sz="18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(chaque pièce n’est assemblée que par un seul ouvrier). Soit les événements suivants (</a:t>
            </a:r>
            <a:r>
              <a:rPr lang="en-US" sz="18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voir le diagramme de Venn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 :</a:t>
            </a:r>
            <a:b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•	</a:t>
            </a:r>
            <a:r>
              <a:rPr lang="en-US" sz="18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: Les pièces sont assemblées par le 1</a:t>
            </a:r>
            <a:r>
              <a:rPr lang="en-US" sz="1800" kern="1200" baseline="300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er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ouvrier ;</a:t>
            </a:r>
            <a:b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•	</a:t>
            </a:r>
            <a:r>
              <a:rPr lang="en-US" sz="18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B :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Les pièces sont assemblées par le 2</a:t>
            </a:r>
            <a:r>
              <a:rPr lang="en-US" sz="1800" kern="1200" baseline="300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ouvrier ;</a:t>
            </a:r>
            <a:b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•	</a:t>
            </a:r>
            <a:r>
              <a:rPr lang="en-US" sz="18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 :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Les pièces sont assemblées par le 3</a:t>
            </a:r>
            <a:r>
              <a:rPr lang="en-US" sz="1800" kern="1200" baseline="300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ouvrier ;</a:t>
            </a:r>
            <a:b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•	</a:t>
            </a:r>
            <a:r>
              <a:rPr lang="en-US" sz="18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</a:t>
            </a:r>
            <a: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: Les pièces sont défectueuses.</a:t>
            </a:r>
            <a:br>
              <a:rPr lang="en-US" sz="18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96F41A-38BF-4D4F-9A20-04401FC818A7}"/>
              </a:ext>
            </a:extLst>
          </p:cNvPr>
          <p:cNvSpPr txBox="1"/>
          <p:nvPr/>
        </p:nvSpPr>
        <p:spPr>
          <a:xfrm>
            <a:off x="4699818" y="640082"/>
            <a:ext cx="6848715" cy="24848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01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Supposons qu’on connaisse les probabilités suivantes :</a:t>
            </a:r>
          </a:p>
          <a:p>
            <a:pPr marL="228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effectLst/>
              </a:rPr>
              <a:t>•	P</a:t>
            </a:r>
            <a:r>
              <a:rPr lang="en-US" sz="1100">
                <a:effectLst/>
              </a:rPr>
              <a:t>(</a:t>
            </a:r>
            <a:r>
              <a:rPr lang="en-US" sz="1100" i="1">
                <a:effectLst/>
              </a:rPr>
              <a:t>A</a:t>
            </a:r>
            <a:r>
              <a:rPr lang="en-US" sz="1100">
                <a:effectLst/>
              </a:rPr>
              <a:t>) = la probabilité qu’une pièce soit assemblée par le 1</a:t>
            </a:r>
            <a:r>
              <a:rPr lang="en-US" sz="1100" baseline="30000">
                <a:effectLst/>
              </a:rPr>
              <a:t>er</a:t>
            </a:r>
            <a:r>
              <a:rPr lang="en-US" sz="1100">
                <a:effectLst/>
              </a:rPr>
              <a:t> ouvrier = 0,35 ;</a:t>
            </a:r>
          </a:p>
          <a:p>
            <a:pPr marL="228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effectLst/>
              </a:rPr>
              <a:t>•	P</a:t>
            </a:r>
            <a:r>
              <a:rPr lang="en-US" sz="1100">
                <a:effectLst/>
              </a:rPr>
              <a:t>(</a:t>
            </a:r>
            <a:r>
              <a:rPr lang="en-US" sz="1100" i="1">
                <a:effectLst/>
              </a:rPr>
              <a:t>B</a:t>
            </a:r>
            <a:r>
              <a:rPr lang="en-US" sz="1100">
                <a:effectLst/>
              </a:rPr>
              <a:t>) = la probabilité qu’une pièce soit assemblée par le 2</a:t>
            </a:r>
            <a:r>
              <a:rPr lang="en-US" sz="1100" baseline="30000">
                <a:effectLst/>
              </a:rPr>
              <a:t>e</a:t>
            </a:r>
            <a:r>
              <a:rPr lang="en-US" sz="1100">
                <a:effectLst/>
              </a:rPr>
              <a:t> ouvrier = 0,45 ;</a:t>
            </a:r>
          </a:p>
          <a:p>
            <a:pPr marL="228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effectLst/>
              </a:rPr>
              <a:t>•	P</a:t>
            </a:r>
            <a:r>
              <a:rPr lang="en-US" sz="1100">
                <a:effectLst/>
              </a:rPr>
              <a:t>(</a:t>
            </a:r>
            <a:r>
              <a:rPr lang="en-US" sz="1100" i="1">
                <a:effectLst/>
              </a:rPr>
              <a:t>C</a:t>
            </a:r>
            <a:r>
              <a:rPr lang="en-US" sz="1100">
                <a:effectLst/>
              </a:rPr>
              <a:t>) = la probabilité qu’une pièce soit assemblée par le 3</a:t>
            </a:r>
            <a:r>
              <a:rPr lang="en-US" sz="1100" baseline="30000">
                <a:effectLst/>
              </a:rPr>
              <a:t>e</a:t>
            </a:r>
            <a:r>
              <a:rPr lang="en-US" sz="1100">
                <a:effectLst/>
              </a:rPr>
              <a:t> ouvrier = 0,20.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On connaît également les probabilités conditionnelles suivantes :</a:t>
            </a:r>
          </a:p>
          <a:p>
            <a:pPr marL="228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effectLst/>
              </a:rPr>
              <a:t>•	P</a:t>
            </a:r>
            <a:r>
              <a:rPr lang="en-US" sz="1100">
                <a:effectLst/>
              </a:rPr>
              <a:t>(</a:t>
            </a:r>
            <a:r>
              <a:rPr lang="en-US" sz="1100" i="1">
                <a:effectLst/>
              </a:rPr>
              <a:t>D</a:t>
            </a:r>
            <a:r>
              <a:rPr lang="en-US" sz="1100">
                <a:effectLst/>
              </a:rPr>
              <a:t>|</a:t>
            </a:r>
            <a:r>
              <a:rPr lang="en-US" sz="1100" i="1">
                <a:effectLst/>
              </a:rPr>
              <a:t>A</a:t>
            </a:r>
            <a:r>
              <a:rPr lang="en-US" sz="1100">
                <a:effectLst/>
              </a:rPr>
              <a:t>) = la probabilité qu’une pièce choisie au hasard soit défectueuse sachant qu’elle provient de </a:t>
            </a:r>
            <a:r>
              <a:rPr lang="en-US" sz="1100" i="1">
                <a:effectLst/>
              </a:rPr>
              <a:t>A</a:t>
            </a:r>
            <a:r>
              <a:rPr lang="en-US" sz="1100">
                <a:effectLst/>
              </a:rPr>
              <a:t> = 0,05 ;</a:t>
            </a:r>
          </a:p>
          <a:p>
            <a:pPr marL="228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effectLst/>
              </a:rPr>
              <a:t>•	P</a:t>
            </a:r>
            <a:r>
              <a:rPr lang="en-US" sz="1100">
                <a:effectLst/>
              </a:rPr>
              <a:t>(</a:t>
            </a:r>
            <a:r>
              <a:rPr lang="en-US" sz="1100" i="1">
                <a:effectLst/>
              </a:rPr>
              <a:t>D</a:t>
            </a:r>
            <a:r>
              <a:rPr lang="en-US" sz="1100">
                <a:effectLst/>
              </a:rPr>
              <a:t>|</a:t>
            </a:r>
            <a:r>
              <a:rPr lang="en-US" sz="1100" i="1">
                <a:effectLst/>
              </a:rPr>
              <a:t>B</a:t>
            </a:r>
            <a:r>
              <a:rPr lang="en-US" sz="1100">
                <a:effectLst/>
              </a:rPr>
              <a:t>) = la probabilité qu’une pièce choisie au hasard soit défectueuse sachant qu’elle provient de </a:t>
            </a:r>
            <a:r>
              <a:rPr lang="en-US" sz="1100" i="1">
                <a:effectLst/>
              </a:rPr>
              <a:t>B</a:t>
            </a:r>
            <a:r>
              <a:rPr lang="en-US" sz="1100">
                <a:effectLst/>
              </a:rPr>
              <a:t> = 0,07 ;</a:t>
            </a:r>
          </a:p>
          <a:p>
            <a:pPr marL="2286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effectLst/>
              </a:rPr>
              <a:t>•	P</a:t>
            </a:r>
            <a:r>
              <a:rPr lang="en-US" sz="1100">
                <a:effectLst/>
              </a:rPr>
              <a:t>(</a:t>
            </a:r>
            <a:r>
              <a:rPr lang="en-US" sz="1100" i="1">
                <a:effectLst/>
              </a:rPr>
              <a:t>D</a:t>
            </a:r>
            <a:r>
              <a:rPr lang="en-US" sz="1100">
                <a:effectLst/>
              </a:rPr>
              <a:t>|</a:t>
            </a:r>
            <a:r>
              <a:rPr lang="en-US" sz="1100" i="1">
                <a:effectLst/>
              </a:rPr>
              <a:t>C</a:t>
            </a:r>
            <a:r>
              <a:rPr lang="en-US" sz="1100">
                <a:effectLst/>
              </a:rPr>
              <a:t>) = la probabilité qu’une pièce choisie au hasard soit défectueuse sachant qu’elle provient de </a:t>
            </a:r>
            <a:r>
              <a:rPr lang="en-US" sz="1100" i="1">
                <a:effectLst/>
              </a:rPr>
              <a:t>C</a:t>
            </a:r>
            <a:r>
              <a:rPr lang="en-US" sz="1100">
                <a:effectLst/>
              </a:rPr>
              <a:t> = 0,04.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2815D98-41D0-46A1-B6E2-0D0D455275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7" y="3799369"/>
            <a:ext cx="6894236" cy="1782992"/>
          </a:xfrm>
          <a:prstGeom prst="rect">
            <a:avLst/>
          </a:prstGeom>
          <a:noFill/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BA597F-BC05-4299-AC2C-1C3C459F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4" y="6356350"/>
            <a:ext cx="57194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endParaRPr lang="en-US" kern="120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9E092A-691B-440D-9C81-27CE0781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4650" y="6356350"/>
            <a:ext cx="81915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60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42BEED-6C4E-47D6-A4B3-7313A2B4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Suite)On peut dresser un arbre des probabilités</a:t>
            </a:r>
          </a:p>
        </p:txBody>
      </p:sp>
      <p:pic>
        <p:nvPicPr>
          <p:cNvPr id="7" name="Image 6" descr="Une image contenant texte, carte&#10;&#10;Description générée automatiquement">
            <a:extLst>
              <a:ext uri="{FF2B5EF4-FFF2-40B4-BE49-F238E27FC236}">
                <a16:creationId xmlns:a16="http://schemas.microsoft.com/office/drawing/2014/main" id="{8E791029-B4DD-42EF-B1F5-D1F8CEC12D8E}"/>
              </a:ext>
            </a:extLst>
          </p:cNvPr>
          <p:cNvPicPr/>
          <p:nvPr/>
        </p:nvPicPr>
        <p:blipFill rotWithShape="1">
          <a:blip r:embed="rId2"/>
          <a:srcRect b="1021"/>
          <a:stretch/>
        </p:blipFill>
        <p:spPr>
          <a:xfrm>
            <a:off x="5452419" y="492573"/>
            <a:ext cx="5956351" cy="5880796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B599D0-6199-46B4-91A1-63486926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4297" y="6423025"/>
            <a:ext cx="5618954" cy="365125"/>
          </a:xfrm>
        </p:spPr>
        <p:txBody>
          <a:bodyPr vert="horz" lIns="91440" tIns="45720" rIns="91440" bIns="45720" rtlCol="0">
            <a:normAutofit/>
          </a:bodyPr>
          <a:lstStyle/>
          <a:p>
            <a:pPr algn="l" defTabSz="914400">
              <a:defRPr/>
            </a:pPr>
            <a:endParaRPr lang="en-US" kern="1200"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18BBA8-E83C-41AF-BDC3-B58834EF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317" y="6423025"/>
            <a:ext cx="77152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26377AD9-CE17-438C-A638-C64D2D42D7CF}" type="slidenum">
              <a:rPr lang="en-US" smtClean="0"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8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453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3BE95-9062-41C8-BD97-663993156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Suite)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25FE661-5076-4539-A1D7-5A05055C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279AAF-866B-4CC0-8011-0CD66A3D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D2E4B79-2346-4002-B532-6097DD344C42}"/>
                  </a:ext>
                </a:extLst>
              </p:cNvPr>
              <p:cNvSpPr txBox="1"/>
              <p:nvPr/>
            </p:nvSpPr>
            <p:spPr>
              <a:xfrm>
                <a:off x="1031966" y="2704011"/>
                <a:ext cx="10128068" cy="2264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Donc si on veut par exemple, calculer </a:t>
                </a:r>
                <a14:m>
                  <m:oMath xmlns:m="http://schemas.openxmlformats.org/officeDocument/2006/math">
                    <m:r>
                      <a:rPr lang="fr-FR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fr-CA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𝐷</m:t>
                        </m:r>
                      </m:e>
                    </m:d>
                    <m:r>
                      <a:rPr lang="fr-FR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CA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𝐵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∩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𝐷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𝐷</m:t>
                        </m:r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fr-FR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fr-CA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0,0315</m:t>
                        </m:r>
                      </m:num>
                      <m:den>
                        <m:r>
                          <a:rPr lang="fr-FR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0,0175+0,0315+0,008</m:t>
                        </m:r>
                      </m:den>
                    </m:f>
                    <m:r>
                      <a:rPr lang="fr-FR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fr-FR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hlinkClick r:id="" action="ppaction://noaction"/>
                      </a:rPr>
                      <m:t>0,5526</m:t>
                    </m:r>
                  </m:oMath>
                </a14:m>
                <a: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=55,26% </a:t>
                </a: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 même chose, si on veut calculer:</a:t>
                </a:r>
              </a:p>
              <a:p>
                <a:endParaRPr lang="fr-CA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0,0175</m:t>
                          </m:r>
                        </m:num>
                        <m:den>
                          <m:r>
                            <a:rPr lang="fr-CA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0,0175+0,0315+0,008</m:t>
                          </m:r>
                        </m:den>
                      </m:f>
                      <m:r>
                        <a:rPr lang="fr-CA" sz="1800" b="0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=0,3070=30,70%</m:t>
                      </m:r>
                    </m:oMath>
                  </m:oMathPara>
                </a14:m>
                <a:endParaRPr lang="fr-C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D2E4B79-2346-4002-B532-6097DD344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66" y="2704011"/>
                <a:ext cx="10128068" cy="2264531"/>
              </a:xfrm>
              <a:prstGeom prst="rect">
                <a:avLst/>
              </a:prstGeom>
              <a:blipFill>
                <a:blip r:embed="rId2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35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C4D7AA-1B5A-4C4E-BABB-9B897433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LECTURE4: Les variables aléatoires discrètes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D0B0DC-C334-475F-9A81-5F74A8CC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1724C6-02C3-407D-AB89-8F0FEFFA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10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0764D7-4015-4EF8-AF7F-57B5AE186285}"/>
              </a:ext>
            </a:extLst>
          </p:cNvPr>
          <p:cNvSpPr txBox="1"/>
          <p:nvPr/>
        </p:nvSpPr>
        <p:spPr>
          <a:xfrm>
            <a:off x="1018903" y="1802674"/>
            <a:ext cx="100845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On appelle variable aléatoire, toute variable associée à une expérience aléatoire. Les variables aléatoires seront notées par les dernières lettres de l’alphabet: X, Y, Z, U,……</a:t>
            </a:r>
          </a:p>
          <a:p>
            <a:r>
              <a:rPr lang="fr-CA" dirty="0"/>
              <a:t>Dans ce chapitre, on va s’intéresser aux variables aléatoires discrètes, c’est-à-dire aux variables qui ne peuvent prendre que des valeurs isolées, généralement des valeurs entières.</a:t>
            </a:r>
          </a:p>
          <a:p>
            <a:endParaRPr lang="fr-CA" dirty="0"/>
          </a:p>
          <a:p>
            <a:r>
              <a:rPr lang="fr-CA" b="1" dirty="0"/>
              <a:t>Exemple: </a:t>
            </a:r>
          </a:p>
          <a:p>
            <a:pPr marL="342900" indent="-342900">
              <a:buAutoNum type="alphaLcParenBoth"/>
            </a:pPr>
            <a:r>
              <a:rPr lang="fr-CA" dirty="0"/>
              <a:t>X: le nombre d’enfants dans un ménage.</a:t>
            </a:r>
          </a:p>
          <a:p>
            <a:pPr marL="342900" indent="-342900">
              <a:buAutoNum type="alphaLcParenBoth"/>
            </a:pPr>
            <a:r>
              <a:rPr lang="fr-CA" dirty="0"/>
              <a:t>Y: le nombre de pannes dans une usine par jour.</a:t>
            </a:r>
          </a:p>
          <a:p>
            <a:pPr marL="342900" indent="-342900">
              <a:buAutoNum type="alphaLcParenBoth"/>
            </a:pPr>
            <a:r>
              <a:rPr lang="fr-CA" dirty="0"/>
              <a:t>Z: Le nombre d’accidents par heure dans un certain endroit……..</a:t>
            </a:r>
          </a:p>
          <a:p>
            <a:pPr marL="342900" indent="-342900">
              <a:buAutoNum type="alphaLcParenBoth"/>
            </a:pPr>
            <a:r>
              <a:rPr lang="fr-CA" dirty="0"/>
              <a:t>U: le nombre de cellules mutantes par heure dans un centimètre cube.</a:t>
            </a:r>
          </a:p>
        </p:txBody>
      </p:sp>
    </p:spTree>
    <p:extLst>
      <p:ext uri="{BB962C8B-B14F-4D97-AF65-F5344CB8AC3E}">
        <p14:creationId xmlns:p14="http://schemas.microsoft.com/office/powerpoint/2010/main" val="425407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59DBD-810B-484C-968C-231B4235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Fonction de masse d’une variable aléatoire discrète.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06976C-3667-48FB-812A-75793F6F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19C6D8-0FE8-4E56-A858-FB82CFC5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442E80D-4E4A-4B98-89D1-E600E88E2733}"/>
                  </a:ext>
                </a:extLst>
              </p:cNvPr>
              <p:cNvSpPr txBox="1"/>
              <p:nvPr/>
            </p:nvSpPr>
            <p:spPr>
              <a:xfrm>
                <a:off x="1240971" y="2142309"/>
                <a:ext cx="9483635" cy="3744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Soit X, une variable aléatoire discrète. Cette variable peut prendre des valeurs dans un ensemble raisonnable, qu’on appelle support de X.</a:t>
                </a:r>
              </a:p>
              <a:p>
                <a:endParaRPr lang="fr-CA" dirty="0"/>
              </a:p>
              <a:p>
                <a:r>
                  <a:rPr lang="fr-CA" b="1" dirty="0"/>
                  <a:t>Exemple:</a:t>
                </a:r>
                <a:r>
                  <a:rPr lang="fr-CA" dirty="0"/>
                  <a:t>  X: le nombre d’enfants dans une famille,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𝑆𝑢𝑝𝑝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0,1,2,….,20</m:t>
                        </m:r>
                      </m:e>
                    </m:d>
                  </m:oMath>
                </a14:m>
                <a:endParaRPr lang="fr-CA" dirty="0"/>
              </a:p>
              <a:p>
                <a:r>
                  <a:rPr lang="fr-CA" dirty="0"/>
                  <a:t>Y: le nombre de lancers d’un dé nécessaires pour observer 2 faces  ’’6 »,  alors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𝑆𝑢𝑝𝑝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2,3,…,..</m:t>
                        </m:r>
                      </m:e>
                    </m:d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Pour une variable aléatoire discrète X, on doit savoir déterminer sa fonction de masse des probabilités . C’est-à-dire une fonction telle que: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𝑡𝑜𝑢𝑡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𝑆𝑢𝑝𝑝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fr-CA" dirty="0"/>
              </a:p>
              <a:p>
                <a:r>
                  <a:rPr lang="fr-CA" b="1" dirty="0"/>
                  <a:t>Cette fonction doit vérifier 2 conditions:</a:t>
                </a: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𝑡𝑜𝑢𝑡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𝑆𝑢𝑝𝑝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CA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𝑆𝑢𝑝𝑝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sub>
                      <m:sup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442E80D-4E4A-4B98-89D1-E600E88E2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971" y="2142309"/>
                <a:ext cx="9483635" cy="3744871"/>
              </a:xfrm>
              <a:prstGeom prst="rect">
                <a:avLst/>
              </a:prstGeom>
              <a:blipFill>
                <a:blip r:embed="rId2"/>
                <a:stretch>
                  <a:fillRect l="-579" t="-813" b="-1609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5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1573B-A35F-4BBC-B3C6-FE345347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1: On lance un dé et on pose </a:t>
            </a:r>
            <a:br>
              <a:rPr lang="fr-CA" dirty="0"/>
            </a:br>
            <a:r>
              <a:rPr lang="fr-CA" dirty="0"/>
              <a:t>X: le numéro de la face qui apparait.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D48857-CF0E-47DB-B355-716323548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EB730B-1F09-4D64-9CDE-9F7C074C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12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4D1F665-9BD8-44BE-81AB-9E6F51F77305}"/>
                  </a:ext>
                </a:extLst>
              </p:cNvPr>
              <p:cNvSpPr txBox="1"/>
              <p:nvPr/>
            </p:nvSpPr>
            <p:spPr>
              <a:xfrm>
                <a:off x="1188720" y="2116183"/>
                <a:ext cx="9065623" cy="1870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Alors la fonction de masse de X est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=1,2,…6</m:t>
                    </m:r>
                  </m:oMath>
                </a14:m>
                <a:r>
                  <a:rPr lang="fr-CA" dirty="0"/>
                  <a:t>   qu’on peut mettre dans un tableau, auquel on peut ajouter la fonction cumulative des probabilités.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4D1F665-9BD8-44BE-81AB-9E6F51F77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116183"/>
                <a:ext cx="9065623" cy="1870192"/>
              </a:xfrm>
              <a:prstGeom prst="rect">
                <a:avLst/>
              </a:prstGeom>
              <a:blipFill>
                <a:blip r:embed="rId2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F2A18418-B106-4B8A-B623-05D95C44F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391149"/>
                  </p:ext>
                </p:extLst>
              </p:nvPr>
            </p:nvGraphicFramePr>
            <p:xfrm>
              <a:off x="1322247" y="3654802"/>
              <a:ext cx="8932096" cy="23656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9429">
                      <a:extLst>
                        <a:ext uri="{9D8B030D-6E8A-4147-A177-3AD203B41FA5}">
                          <a16:colId xmlns:a16="http://schemas.microsoft.com/office/drawing/2014/main" val="3755085389"/>
                        </a:ext>
                      </a:extLst>
                    </a:gridCol>
                    <a:gridCol w="901337">
                      <a:extLst>
                        <a:ext uri="{9D8B030D-6E8A-4147-A177-3AD203B41FA5}">
                          <a16:colId xmlns:a16="http://schemas.microsoft.com/office/drawing/2014/main" val="1148989605"/>
                        </a:ext>
                      </a:extLst>
                    </a:gridCol>
                    <a:gridCol w="1123406">
                      <a:extLst>
                        <a:ext uri="{9D8B030D-6E8A-4147-A177-3AD203B41FA5}">
                          <a16:colId xmlns:a16="http://schemas.microsoft.com/office/drawing/2014/main" val="3506758396"/>
                        </a:ext>
                      </a:extLst>
                    </a:gridCol>
                    <a:gridCol w="1058091">
                      <a:extLst>
                        <a:ext uri="{9D8B030D-6E8A-4147-A177-3AD203B41FA5}">
                          <a16:colId xmlns:a16="http://schemas.microsoft.com/office/drawing/2014/main" val="1129999901"/>
                        </a:ext>
                      </a:extLst>
                    </a:gridCol>
                    <a:gridCol w="1031966">
                      <a:extLst>
                        <a:ext uri="{9D8B030D-6E8A-4147-A177-3AD203B41FA5}">
                          <a16:colId xmlns:a16="http://schemas.microsoft.com/office/drawing/2014/main" val="2997756733"/>
                        </a:ext>
                      </a:extLst>
                    </a:gridCol>
                    <a:gridCol w="849086">
                      <a:extLst>
                        <a:ext uri="{9D8B030D-6E8A-4147-A177-3AD203B41FA5}">
                          <a16:colId xmlns:a16="http://schemas.microsoft.com/office/drawing/2014/main" val="3927341111"/>
                        </a:ext>
                      </a:extLst>
                    </a:gridCol>
                    <a:gridCol w="892269">
                      <a:extLst>
                        <a:ext uri="{9D8B030D-6E8A-4147-A177-3AD203B41FA5}">
                          <a16:colId xmlns:a16="http://schemas.microsoft.com/office/drawing/2014/main" val="3317573788"/>
                        </a:ext>
                      </a:extLst>
                    </a:gridCol>
                    <a:gridCol w="1116512">
                      <a:extLst>
                        <a:ext uri="{9D8B030D-6E8A-4147-A177-3AD203B41FA5}">
                          <a16:colId xmlns:a16="http://schemas.microsoft.com/office/drawing/2014/main" val="12344288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5766099"/>
                      </a:ext>
                    </a:extLst>
                  </a:tr>
                  <a:tr h="99995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8742462"/>
                      </a:ext>
                    </a:extLst>
                  </a:tr>
                  <a:tr h="99995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CA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r>
                            <a:rPr lang="fr-CA" dirty="0"/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fr-CA" dirty="0"/>
                        </a:p>
                        <a:p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1/6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5/6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8658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F2A18418-B106-4B8A-B623-05D95C44F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391149"/>
                  </p:ext>
                </p:extLst>
              </p:nvPr>
            </p:nvGraphicFramePr>
            <p:xfrm>
              <a:off x="1322247" y="3654802"/>
              <a:ext cx="8932096" cy="23656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9429">
                      <a:extLst>
                        <a:ext uri="{9D8B030D-6E8A-4147-A177-3AD203B41FA5}">
                          <a16:colId xmlns:a16="http://schemas.microsoft.com/office/drawing/2014/main" val="3755085389"/>
                        </a:ext>
                      </a:extLst>
                    </a:gridCol>
                    <a:gridCol w="901337">
                      <a:extLst>
                        <a:ext uri="{9D8B030D-6E8A-4147-A177-3AD203B41FA5}">
                          <a16:colId xmlns:a16="http://schemas.microsoft.com/office/drawing/2014/main" val="1148989605"/>
                        </a:ext>
                      </a:extLst>
                    </a:gridCol>
                    <a:gridCol w="1123406">
                      <a:extLst>
                        <a:ext uri="{9D8B030D-6E8A-4147-A177-3AD203B41FA5}">
                          <a16:colId xmlns:a16="http://schemas.microsoft.com/office/drawing/2014/main" val="3506758396"/>
                        </a:ext>
                      </a:extLst>
                    </a:gridCol>
                    <a:gridCol w="1058091">
                      <a:extLst>
                        <a:ext uri="{9D8B030D-6E8A-4147-A177-3AD203B41FA5}">
                          <a16:colId xmlns:a16="http://schemas.microsoft.com/office/drawing/2014/main" val="1129999901"/>
                        </a:ext>
                      </a:extLst>
                    </a:gridCol>
                    <a:gridCol w="1031966">
                      <a:extLst>
                        <a:ext uri="{9D8B030D-6E8A-4147-A177-3AD203B41FA5}">
                          <a16:colId xmlns:a16="http://schemas.microsoft.com/office/drawing/2014/main" val="2997756733"/>
                        </a:ext>
                      </a:extLst>
                    </a:gridCol>
                    <a:gridCol w="849086">
                      <a:extLst>
                        <a:ext uri="{9D8B030D-6E8A-4147-A177-3AD203B41FA5}">
                          <a16:colId xmlns:a16="http://schemas.microsoft.com/office/drawing/2014/main" val="3927341111"/>
                        </a:ext>
                      </a:extLst>
                    </a:gridCol>
                    <a:gridCol w="892269">
                      <a:extLst>
                        <a:ext uri="{9D8B030D-6E8A-4147-A177-3AD203B41FA5}">
                          <a16:colId xmlns:a16="http://schemas.microsoft.com/office/drawing/2014/main" val="3317573788"/>
                        </a:ext>
                      </a:extLst>
                    </a:gridCol>
                    <a:gridCol w="1116512">
                      <a:extLst>
                        <a:ext uri="{9D8B030D-6E8A-4147-A177-3AD203B41FA5}">
                          <a16:colId xmlns:a16="http://schemas.microsoft.com/office/drawing/2014/main" val="123442880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5766099"/>
                      </a:ext>
                    </a:extLst>
                  </a:tr>
                  <a:tr h="99995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11" t="-39394" r="-356832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18243" t="-39394" r="-676351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55978" t="-39394" r="-444022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76437" t="-39394" r="-369540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87647" t="-39394" r="-278235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718705" t="-39394" r="-240288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774150" t="-39394" r="-127211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8742462"/>
                      </a:ext>
                    </a:extLst>
                  </a:tr>
                  <a:tr h="99995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11" t="-140244" r="-356832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1/6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2/6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3/6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4/6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5/6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8658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26698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ABA6A-C920-4716-A9B8-7046EA40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774680" cy="2247446"/>
          </a:xfrm>
        </p:spPr>
        <p:txBody>
          <a:bodyPr>
            <a:normAutofit fontScale="90000"/>
          </a:bodyPr>
          <a:lstStyle/>
          <a:p>
            <a:pPr algn="l">
              <a:lnSpc>
                <a:spcPct val="200000"/>
              </a:lnSpc>
              <a:spcAft>
                <a:spcPts val="800"/>
              </a:spcAft>
            </a:pPr>
            <a:r>
              <a:rPr lang="fr-CA" dirty="0"/>
              <a:t>Exemple 2: 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 couple décide d’avoir des enfants jusqu’à ce qu’il ait un enfant de chaque sexe ou trois enfants au maximum. Soit </a:t>
            </a:r>
            <a:r>
              <a:rPr lang="fr-FR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: la variable aléatoire qui indique le nombre de filles que pourrait avoir ce couple. Déterminez </a:t>
            </a:r>
            <a:r>
              <a:rPr lang="fr-FR" sz="20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</a:t>
            </a:r>
            <a:r>
              <a:rPr lang="fr-FR" sz="20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et la fonction de masse (fonction densité de probabilité) de </a:t>
            </a:r>
            <a:r>
              <a:rPr lang="fr-FR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fr-CA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sz="200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AC2864-2E50-4D38-8C11-6F81A939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B81BE0-68A3-4878-80C8-32F4D94F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13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0180CC7-FE1D-4F74-BA11-36D570011FC3}"/>
                  </a:ext>
                </a:extLst>
              </p:cNvPr>
              <p:cNvSpPr txBox="1"/>
              <p:nvPr/>
            </p:nvSpPr>
            <p:spPr>
              <a:xfrm>
                <a:off x="1031967" y="2612571"/>
                <a:ext cx="1032183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Soit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: L’enfant est une fille et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: L’enfant est un garçon. L’espace </a:t>
                </a:r>
                <a:r>
                  <a:rPr lang="fr-FR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échantillonnal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est </a:t>
                </a:r>
              </a:p>
              <a:p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{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fff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ggg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ffg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ggf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}.</a:t>
                </a:r>
              </a:p>
              <a:p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Ainsi,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= 0 si le couple n’a aucune fille,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1 si le couple a exactement une fille,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2 si le couple a exactement deux filles et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3 si le couple a exactement trois filles. De là, on trouve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0 pour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ggg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1 pour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gf, fg et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ggf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2 pour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ffg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et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3 pour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fff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;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donc </a:t>
                </a:r>
                <a:r>
                  <a:rPr lang="fr-FR" sz="18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Supp</a:t>
                </a:r>
                <a:r>
                  <a:rPr lang="fr-FR" sz="1800" i="1" baseline="-250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{0, 1, 2, 3}. Le tableau suivant indique la fonction de masse de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fr-FR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À laquelle on peut ajouter la fonction  cumulative des probabilités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0180CC7-FE1D-4F74-BA11-36D570011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67" y="2612571"/>
                <a:ext cx="10321834" cy="2585323"/>
              </a:xfrm>
              <a:prstGeom prst="rect">
                <a:avLst/>
              </a:prstGeom>
              <a:blipFill>
                <a:blip r:embed="rId2"/>
                <a:stretch>
                  <a:fillRect l="-472" t="-141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6658ADE9-27D5-4AF6-AAD9-3B9BB6FECF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3958386"/>
                  </p:ext>
                </p:extLst>
              </p:nvPr>
            </p:nvGraphicFramePr>
            <p:xfrm>
              <a:off x="1031966" y="4532812"/>
              <a:ext cx="10515599" cy="229918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048439">
                      <a:extLst>
                        <a:ext uri="{9D8B030D-6E8A-4147-A177-3AD203B41FA5}">
                          <a16:colId xmlns:a16="http://schemas.microsoft.com/office/drawing/2014/main" val="491324929"/>
                        </a:ext>
                      </a:extLst>
                    </a:gridCol>
                    <a:gridCol w="1579443">
                      <a:extLst>
                        <a:ext uri="{9D8B030D-6E8A-4147-A177-3AD203B41FA5}">
                          <a16:colId xmlns:a16="http://schemas.microsoft.com/office/drawing/2014/main" val="405532061"/>
                        </a:ext>
                      </a:extLst>
                    </a:gridCol>
                    <a:gridCol w="2145182">
                      <a:extLst>
                        <a:ext uri="{9D8B030D-6E8A-4147-A177-3AD203B41FA5}">
                          <a16:colId xmlns:a16="http://schemas.microsoft.com/office/drawing/2014/main" val="1886921106"/>
                        </a:ext>
                      </a:extLst>
                    </a:gridCol>
                    <a:gridCol w="1581546">
                      <a:extLst>
                        <a:ext uri="{9D8B030D-6E8A-4147-A177-3AD203B41FA5}">
                          <a16:colId xmlns:a16="http://schemas.microsoft.com/office/drawing/2014/main" val="1952209349"/>
                        </a:ext>
                      </a:extLst>
                    </a:gridCol>
                    <a:gridCol w="1579443">
                      <a:extLst>
                        <a:ext uri="{9D8B030D-6E8A-4147-A177-3AD203B41FA5}">
                          <a16:colId xmlns:a16="http://schemas.microsoft.com/office/drawing/2014/main" val="3105555024"/>
                        </a:ext>
                      </a:extLst>
                    </a:gridCol>
                    <a:gridCol w="1581546">
                      <a:extLst>
                        <a:ext uri="{9D8B030D-6E8A-4147-A177-3AD203B41FA5}">
                          <a16:colId xmlns:a16="http://schemas.microsoft.com/office/drawing/2014/main" val="2086931823"/>
                        </a:ext>
                      </a:extLst>
                    </a:gridCol>
                  </a:tblGrid>
                  <a:tr h="404886"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 dirty="0">
                              <a:effectLst/>
                            </a:rPr>
                            <a:t>Fonction de masse de X</a:t>
                          </a:r>
                          <a:endParaRPr lang="fr-CA" sz="1000" b="1" dirty="0">
                            <a:solidFill>
                              <a:srgbClr val="FFFFFF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63500" marB="63500" anchor="ctr"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577467"/>
                      </a:ext>
                    </a:extLst>
                  </a:tr>
                  <a:tr h="40488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 dirty="0">
                              <a:effectLst/>
                            </a:rPr>
                            <a:t>X</a:t>
                          </a:r>
                          <a:endParaRPr lang="fr-CA" sz="1000" b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0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1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2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3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CA" sz="1000">
                              <a:effectLst/>
                            </a:rPr>
                            <a:t>Total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extLst>
                      <a:ext uri="{0D108BD9-81ED-4DB2-BD59-A6C34878D82A}">
                        <a16:rowId xmlns:a16="http://schemas.microsoft.com/office/drawing/2014/main" val="3499711777"/>
                      </a:ext>
                    </a:extLst>
                  </a:tr>
                  <a:tr h="74470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effectLst/>
                            </a:rPr>
                            <a:t>f(x) = P(X = x)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1/8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1/4+1/4 + 1/8 = 5/8</a:t>
                          </a:r>
                          <a:r>
                            <a:rPr lang="fr-FR" sz="800" dirty="0">
                              <a:effectLst/>
                            </a:rPr>
                            <a:t>  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1/8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1/8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effectLst/>
                            </a:rPr>
                            <a:t>1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905934592"/>
                      </a:ext>
                    </a:extLst>
                  </a:tr>
                  <a:tr h="74470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1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CA" sz="10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CA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sz="1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sz="1000" dirty="0"/>
                        </a:p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1/8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6/8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7/8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789111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6658ADE9-27D5-4AF6-AAD9-3B9BB6FECF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3958386"/>
                  </p:ext>
                </p:extLst>
              </p:nvPr>
            </p:nvGraphicFramePr>
            <p:xfrm>
              <a:off x="1031966" y="4532812"/>
              <a:ext cx="10515599" cy="229918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048439">
                      <a:extLst>
                        <a:ext uri="{9D8B030D-6E8A-4147-A177-3AD203B41FA5}">
                          <a16:colId xmlns:a16="http://schemas.microsoft.com/office/drawing/2014/main" val="491324929"/>
                        </a:ext>
                      </a:extLst>
                    </a:gridCol>
                    <a:gridCol w="1579443">
                      <a:extLst>
                        <a:ext uri="{9D8B030D-6E8A-4147-A177-3AD203B41FA5}">
                          <a16:colId xmlns:a16="http://schemas.microsoft.com/office/drawing/2014/main" val="405532061"/>
                        </a:ext>
                      </a:extLst>
                    </a:gridCol>
                    <a:gridCol w="2145182">
                      <a:extLst>
                        <a:ext uri="{9D8B030D-6E8A-4147-A177-3AD203B41FA5}">
                          <a16:colId xmlns:a16="http://schemas.microsoft.com/office/drawing/2014/main" val="1886921106"/>
                        </a:ext>
                      </a:extLst>
                    </a:gridCol>
                    <a:gridCol w="1581546">
                      <a:extLst>
                        <a:ext uri="{9D8B030D-6E8A-4147-A177-3AD203B41FA5}">
                          <a16:colId xmlns:a16="http://schemas.microsoft.com/office/drawing/2014/main" val="1952209349"/>
                        </a:ext>
                      </a:extLst>
                    </a:gridCol>
                    <a:gridCol w="1579443">
                      <a:extLst>
                        <a:ext uri="{9D8B030D-6E8A-4147-A177-3AD203B41FA5}">
                          <a16:colId xmlns:a16="http://schemas.microsoft.com/office/drawing/2014/main" val="3105555024"/>
                        </a:ext>
                      </a:extLst>
                    </a:gridCol>
                    <a:gridCol w="1581546">
                      <a:extLst>
                        <a:ext uri="{9D8B030D-6E8A-4147-A177-3AD203B41FA5}">
                          <a16:colId xmlns:a16="http://schemas.microsoft.com/office/drawing/2014/main" val="2086931823"/>
                        </a:ext>
                      </a:extLst>
                    </a:gridCol>
                  </a:tblGrid>
                  <a:tr h="404886"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 dirty="0">
                              <a:effectLst/>
                            </a:rPr>
                            <a:t>Fonction de masse de X</a:t>
                          </a:r>
                          <a:endParaRPr lang="fr-CA" sz="1000" b="1" dirty="0">
                            <a:solidFill>
                              <a:srgbClr val="FFFFFF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63500" marB="63500" anchor="ctr"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9577467"/>
                      </a:ext>
                    </a:extLst>
                  </a:tr>
                  <a:tr h="40488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 dirty="0">
                              <a:effectLst/>
                            </a:rPr>
                            <a:t>X</a:t>
                          </a:r>
                          <a:endParaRPr lang="fr-CA" sz="1000" b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0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1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2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000">
                              <a:effectLst/>
                            </a:rPr>
                            <a:t>3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CA" sz="1000">
                              <a:effectLst/>
                            </a:rPr>
                            <a:t>Total</a:t>
                          </a:r>
                          <a:endParaRPr lang="fr-CA" sz="1000" b="1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76200" anchor="ctr"/>
                    </a:tc>
                    <a:extLst>
                      <a:ext uri="{0D108BD9-81ED-4DB2-BD59-A6C34878D82A}">
                        <a16:rowId xmlns:a16="http://schemas.microsoft.com/office/drawing/2014/main" val="3499711777"/>
                      </a:ext>
                    </a:extLst>
                  </a:tr>
                  <a:tr h="74470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effectLst/>
                            </a:rPr>
                            <a:t>f(x) = P(X = x)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1/8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1/4+1/4 + 1/8 = 5/8</a:t>
                          </a:r>
                          <a:r>
                            <a:rPr lang="fr-FR" sz="800" dirty="0">
                              <a:effectLst/>
                            </a:rPr>
                            <a:t>  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1/8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FR" sz="1000" dirty="0">
                              <a:effectLst/>
                            </a:rPr>
                            <a:t>1/8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effectLst/>
                            </a:rPr>
                            <a:t>1</a:t>
                          </a: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905934592"/>
                      </a:ext>
                    </a:extLst>
                  </a:tr>
                  <a:tr h="744708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50800" marR="50800" marT="50800" marB="50800" anchor="ctr">
                        <a:blipFill>
                          <a:blip r:embed="rId3"/>
                          <a:stretch>
                            <a:fillRect l="-298" t="-210656" r="-414286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1/8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6/8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7/8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fr-CA" sz="1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50800" marR="508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fr-CA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50800" marR="508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7891113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4">
            <a:extLst>
              <a:ext uri="{FF2B5EF4-FFF2-40B4-BE49-F238E27FC236}">
                <a16:creationId xmlns:a16="http://schemas.microsoft.com/office/drawing/2014/main" id="{001A4A41-19C5-4D88-9F77-9CB95A586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966" y="49491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9012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64E6C89-C6CC-4CCB-820C-7D52B09E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FECD4E6-CBAB-4AB1-B046-2BEDC5CB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3: </a:t>
            </a:r>
            <a:r>
              <a:rPr lang="fr-F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Un panier contient 6 boules rouges, 5 boules blanches et 4 boules jaunes. On en tire 5 sans les remettre dans le panier. On note </a:t>
            </a:r>
            <a:r>
              <a:rPr lang="fr-FR" sz="18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</a:t>
            </a:r>
            <a:r>
              <a:rPr lang="fr-F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le nombre de boules jaunes parmi les 5 tirées.  Déterminer la fonction de masse des probabilités de U.</a:t>
            </a: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9E66790-8463-4F56-8728-D70DD9A77274}"/>
                  </a:ext>
                </a:extLst>
              </p:cNvPr>
              <p:cNvSpPr txBox="1"/>
              <p:nvPr/>
            </p:nvSpPr>
            <p:spPr>
              <a:xfrm>
                <a:off x="1018903" y="1959429"/>
                <a:ext cx="10515600" cy="3277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On peut tirer 0, 1, 2, 3 ou 4 boules jaunes ; donc </a:t>
                </a:r>
                <a:r>
                  <a:rPr lang="fr-CA" sz="1800" i="1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Supp</a:t>
                </a:r>
                <a:r>
                  <a:rPr lang="fr-CA" sz="1800" i="1" baseline="-25000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U</a:t>
                </a:r>
                <a:r>
                  <a:rPr lang="fr-CA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= {0, 1, 2, 3, 4}  et  pour tout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fr-CA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fr-CA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𝑆𝑢𝑝𝑝</m:t>
                        </m:r>
                      </m:e>
                      <m:sub>
                        <m:r>
                          <a:rPr lang="fr-CA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fr-CA" dirty="0"/>
                  <a:t> on a: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eqArr>
                            </m:e>
                          </m:d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e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eqAr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eqArr>
                            </m:e>
                          </m:d>
                        </m:den>
                      </m:f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Ce qui donne le tableau suivant.  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9E66790-8463-4F56-8728-D70DD9A77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03" y="1959429"/>
                <a:ext cx="10515600" cy="3277629"/>
              </a:xfrm>
              <a:prstGeom prst="rect">
                <a:avLst/>
              </a:prstGeom>
              <a:blipFill>
                <a:blip r:embed="rId2"/>
                <a:stretch>
                  <a:fillRect l="-464" t="-9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au 19">
                <a:extLst>
                  <a:ext uri="{FF2B5EF4-FFF2-40B4-BE49-F238E27FC236}">
                    <a16:creationId xmlns:a16="http://schemas.microsoft.com/office/drawing/2014/main" id="{8BFF6D4D-43D8-449A-9DCA-2F2ED40D1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009122"/>
                  </p:ext>
                </p:extLst>
              </p:nvPr>
            </p:nvGraphicFramePr>
            <p:xfrm>
              <a:off x="1219201" y="4129618"/>
              <a:ext cx="9324706" cy="1890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4844">
                      <a:extLst>
                        <a:ext uri="{9D8B030D-6E8A-4147-A177-3AD203B41FA5}">
                          <a16:colId xmlns:a16="http://schemas.microsoft.com/office/drawing/2014/main" val="1474263322"/>
                        </a:ext>
                      </a:extLst>
                    </a:gridCol>
                    <a:gridCol w="1100754">
                      <a:extLst>
                        <a:ext uri="{9D8B030D-6E8A-4147-A177-3AD203B41FA5}">
                          <a16:colId xmlns:a16="http://schemas.microsoft.com/office/drawing/2014/main" val="1638887034"/>
                        </a:ext>
                      </a:extLst>
                    </a:gridCol>
                    <a:gridCol w="870704">
                      <a:extLst>
                        <a:ext uri="{9D8B030D-6E8A-4147-A177-3AD203B41FA5}">
                          <a16:colId xmlns:a16="http://schemas.microsoft.com/office/drawing/2014/main" val="115230120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1134790494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1602030677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2714123719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3588116145"/>
                        </a:ext>
                      </a:extLst>
                    </a:gridCol>
                  </a:tblGrid>
                  <a:tr h="839348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494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den>
                                </m:f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CA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15</m:t>
                                            </m:r>
                                          </m:e>
                                          <m:e>
                                            <m:r>
                                              <a:rPr lang="fr-CA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16827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au 19">
                <a:extLst>
                  <a:ext uri="{FF2B5EF4-FFF2-40B4-BE49-F238E27FC236}">
                    <a16:creationId xmlns:a16="http://schemas.microsoft.com/office/drawing/2014/main" id="{8BFF6D4D-43D8-449A-9DCA-2F2ED40D1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0009122"/>
                  </p:ext>
                </p:extLst>
              </p:nvPr>
            </p:nvGraphicFramePr>
            <p:xfrm>
              <a:off x="1219201" y="4129618"/>
              <a:ext cx="9324706" cy="1890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4844">
                      <a:extLst>
                        <a:ext uri="{9D8B030D-6E8A-4147-A177-3AD203B41FA5}">
                          <a16:colId xmlns:a16="http://schemas.microsoft.com/office/drawing/2014/main" val="1474263322"/>
                        </a:ext>
                      </a:extLst>
                    </a:gridCol>
                    <a:gridCol w="1100754">
                      <a:extLst>
                        <a:ext uri="{9D8B030D-6E8A-4147-A177-3AD203B41FA5}">
                          <a16:colId xmlns:a16="http://schemas.microsoft.com/office/drawing/2014/main" val="1638887034"/>
                        </a:ext>
                      </a:extLst>
                    </a:gridCol>
                    <a:gridCol w="870704">
                      <a:extLst>
                        <a:ext uri="{9D8B030D-6E8A-4147-A177-3AD203B41FA5}">
                          <a16:colId xmlns:a16="http://schemas.microsoft.com/office/drawing/2014/main" val="115230120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1134790494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1602030677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2714123719"/>
                        </a:ext>
                      </a:extLst>
                    </a:gridCol>
                    <a:gridCol w="1332101">
                      <a:extLst>
                        <a:ext uri="{9D8B030D-6E8A-4147-A177-3AD203B41FA5}">
                          <a16:colId xmlns:a16="http://schemas.microsoft.com/office/drawing/2014/main" val="3588116145"/>
                        </a:ext>
                      </a:extLst>
                    </a:gridCol>
                  </a:tblGrid>
                  <a:tr h="839348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494507"/>
                      </a:ext>
                    </a:extLst>
                  </a:tr>
                  <a:tr h="105143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602" t="-82659" r="-362048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84530" t="-82659" r="-564088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60140" t="-82659" r="-613986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82659" r="-302752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82659" r="-201370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02294" t="-82659" r="-102294" b="-1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16827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3283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8F622BE-2FD6-46C7-8ED0-3F73B90757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fr-CA" dirty="0"/>
                  <a:t>Suite)</a:t>
                </a:r>
                <a:r>
                  <a:rPr lang="fr-FR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À laquelle on peut ajouter la fonction  cumulative des probabilités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fr-CA" dirty="0"/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8F622BE-2FD6-46C7-8ED0-3F73B9075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2903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6887ED-BC88-45E4-9CCE-22D96BA6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45F90D-CE0E-41F9-BB3B-0858A4B0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15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6">
                <a:extLst>
                  <a:ext uri="{FF2B5EF4-FFF2-40B4-BE49-F238E27FC236}">
                    <a16:creationId xmlns:a16="http://schemas.microsoft.com/office/drawing/2014/main" id="{E94F1949-E7DB-426D-B276-F071334C7D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2403064"/>
                  </p:ext>
                </p:extLst>
              </p:nvPr>
            </p:nvGraphicFramePr>
            <p:xfrm>
              <a:off x="838200" y="1933620"/>
              <a:ext cx="9321802" cy="3036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4817">
                      <a:extLst>
                        <a:ext uri="{9D8B030D-6E8A-4147-A177-3AD203B41FA5}">
                          <a16:colId xmlns:a16="http://schemas.microsoft.com/office/drawing/2014/main" val="4119982900"/>
                        </a:ext>
                      </a:extLst>
                    </a:gridCol>
                    <a:gridCol w="1436914">
                      <a:extLst>
                        <a:ext uri="{9D8B030D-6E8A-4147-A177-3AD203B41FA5}">
                          <a16:colId xmlns:a16="http://schemas.microsoft.com/office/drawing/2014/main" val="2501823091"/>
                        </a:ext>
                      </a:extLst>
                    </a:gridCol>
                    <a:gridCol w="1123406">
                      <a:extLst>
                        <a:ext uri="{9D8B030D-6E8A-4147-A177-3AD203B41FA5}">
                          <a16:colId xmlns:a16="http://schemas.microsoft.com/office/drawing/2014/main" val="269694998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2700423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918617476"/>
                        </a:ext>
                      </a:extLst>
                    </a:gridCol>
                    <a:gridCol w="1214846">
                      <a:extLst>
                        <a:ext uri="{9D8B030D-6E8A-4147-A177-3AD203B41FA5}">
                          <a16:colId xmlns:a16="http://schemas.microsoft.com/office/drawing/2014/main" val="4283762675"/>
                        </a:ext>
                      </a:extLst>
                    </a:gridCol>
                    <a:gridCol w="911499">
                      <a:extLst>
                        <a:ext uri="{9D8B030D-6E8A-4147-A177-3AD203B41FA5}">
                          <a16:colId xmlns:a16="http://schemas.microsoft.com/office/drawing/2014/main" val="790109661"/>
                        </a:ext>
                      </a:extLst>
                    </a:gridCol>
                  </a:tblGrid>
                  <a:tr h="1012213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8608460"/>
                      </a:ext>
                    </a:extLst>
                  </a:tr>
                  <a:tr h="10122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CA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462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1320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990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220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5987248"/>
                      </a:ext>
                    </a:extLst>
                  </a:tr>
                  <a:tr h="10122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br>
                            <a:rPr lang="fr-CA" dirty="0"/>
                          </a:br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462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1782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2772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2992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02388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6">
                <a:extLst>
                  <a:ext uri="{FF2B5EF4-FFF2-40B4-BE49-F238E27FC236}">
                    <a16:creationId xmlns:a16="http://schemas.microsoft.com/office/drawing/2014/main" id="{E94F1949-E7DB-426D-B276-F071334C7D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2403064"/>
                  </p:ext>
                </p:extLst>
              </p:nvPr>
            </p:nvGraphicFramePr>
            <p:xfrm>
              <a:off x="838200" y="1933620"/>
              <a:ext cx="9321802" cy="3036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4817">
                      <a:extLst>
                        <a:ext uri="{9D8B030D-6E8A-4147-A177-3AD203B41FA5}">
                          <a16:colId xmlns:a16="http://schemas.microsoft.com/office/drawing/2014/main" val="4119982900"/>
                        </a:ext>
                      </a:extLst>
                    </a:gridCol>
                    <a:gridCol w="1436914">
                      <a:extLst>
                        <a:ext uri="{9D8B030D-6E8A-4147-A177-3AD203B41FA5}">
                          <a16:colId xmlns:a16="http://schemas.microsoft.com/office/drawing/2014/main" val="2501823091"/>
                        </a:ext>
                      </a:extLst>
                    </a:gridCol>
                    <a:gridCol w="1123406">
                      <a:extLst>
                        <a:ext uri="{9D8B030D-6E8A-4147-A177-3AD203B41FA5}">
                          <a16:colId xmlns:a16="http://schemas.microsoft.com/office/drawing/2014/main" val="269694998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2700423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918617476"/>
                        </a:ext>
                      </a:extLst>
                    </a:gridCol>
                    <a:gridCol w="1214846">
                      <a:extLst>
                        <a:ext uri="{9D8B030D-6E8A-4147-A177-3AD203B41FA5}">
                          <a16:colId xmlns:a16="http://schemas.microsoft.com/office/drawing/2014/main" val="4283762675"/>
                        </a:ext>
                      </a:extLst>
                    </a:gridCol>
                    <a:gridCol w="911499">
                      <a:extLst>
                        <a:ext uri="{9D8B030D-6E8A-4147-A177-3AD203B41FA5}">
                          <a16:colId xmlns:a16="http://schemas.microsoft.com/office/drawing/2014/main" val="790109661"/>
                        </a:ext>
                      </a:extLst>
                    </a:gridCol>
                  </a:tblGrid>
                  <a:tr h="1012213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8608460"/>
                      </a:ext>
                    </a:extLst>
                  </a:tr>
                  <a:tr h="101221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93" t="-102395" r="-349853" b="-1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45532" t="-102395" r="-407660" b="-1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11892" t="-102395" r="-417838" b="-1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90769" t="-102395" r="-296410" b="-1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25333" t="-102395" r="-156889" b="-1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93970" t="-102395" r="-77387" b="-1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5987248"/>
                      </a:ext>
                    </a:extLst>
                  </a:tr>
                  <a:tr h="101221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293" t="-203614" r="-349853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145532" t="-203614" r="-407660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11892" t="-203614" r="-417838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90769" t="-203614" r="-296410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425333" t="-203614" r="-156889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02388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68685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F9578D-3096-429B-93C4-1C816D8B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L’espérance mathématique (ou moyenne théorique)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F609883-5FD6-4E44-B96B-148239B8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12490C-F731-4B83-A635-BF208DBC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16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BD49409-ABDA-4020-80A0-3A387CE4184B}"/>
                  </a:ext>
                </a:extLst>
              </p:cNvPr>
              <p:cNvSpPr txBox="1"/>
              <p:nvPr/>
            </p:nvSpPr>
            <p:spPr>
              <a:xfrm>
                <a:off x="1110343" y="2116183"/>
                <a:ext cx="10243457" cy="3515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Soit X, une variable aléatoire discrète, on appelle espérance de X  (mu de X), la quantité: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𝑆𝑢𝑝𝑝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𝑘𝑃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CA" dirty="0"/>
              </a:p>
              <a:p>
                <a:r>
                  <a:rPr lang="fr-CA" b="1" dirty="0"/>
                  <a:t>Exemple1:</a:t>
                </a:r>
                <a:r>
                  <a:rPr lang="fr-CA" dirty="0"/>
                  <a:t>  Si on reprend le lancer d’un dé. On a: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𝑘𝑃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+….+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=3,5</m:t>
                          </m:r>
                        </m:e>
                      </m:nary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Interprétation:</a:t>
                </a:r>
                <a:r>
                  <a:rPr lang="fr-CA" dirty="0"/>
                  <a:t> Si on lance un dé indéfiniment  et qu’on calcule la moyenne des numéros des faces qui apparaissent, on devrait trouver 3,5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BD49409-ABDA-4020-80A0-3A387CE41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2116183"/>
                <a:ext cx="10243457" cy="3515065"/>
              </a:xfrm>
              <a:prstGeom prst="rect">
                <a:avLst/>
              </a:prstGeom>
              <a:blipFill>
                <a:blip r:embed="rId2"/>
                <a:stretch>
                  <a:fillRect l="-476" t="-867" b="-173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848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EEAD3-40CF-4155-BBD6-21131294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2: Si on reprend l’exemple du couple avec X: le nombre de filles.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05974C-43CF-4169-925B-E6E31694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FCC691-9421-46ED-8358-DAEE4930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17</a:t>
            </a:fld>
            <a:endParaRPr lang="fr-CA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2D650CC-E1E7-4990-9D1F-C744E9DE5AB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515599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439">
                  <a:extLst>
                    <a:ext uri="{9D8B030D-6E8A-4147-A177-3AD203B41FA5}">
                      <a16:colId xmlns:a16="http://schemas.microsoft.com/office/drawing/2014/main" val="406112046"/>
                    </a:ext>
                  </a:extLst>
                </a:gridCol>
                <a:gridCol w="1579443">
                  <a:extLst>
                    <a:ext uri="{9D8B030D-6E8A-4147-A177-3AD203B41FA5}">
                      <a16:colId xmlns:a16="http://schemas.microsoft.com/office/drawing/2014/main" val="3980994891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1530556761"/>
                    </a:ext>
                  </a:extLst>
                </a:gridCol>
                <a:gridCol w="1581546">
                  <a:extLst>
                    <a:ext uri="{9D8B030D-6E8A-4147-A177-3AD203B41FA5}">
                      <a16:colId xmlns:a16="http://schemas.microsoft.com/office/drawing/2014/main" val="3086024302"/>
                    </a:ext>
                  </a:extLst>
                </a:gridCol>
                <a:gridCol w="1579443">
                  <a:extLst>
                    <a:ext uri="{9D8B030D-6E8A-4147-A177-3AD203B41FA5}">
                      <a16:colId xmlns:a16="http://schemas.microsoft.com/office/drawing/2014/main" val="2095417123"/>
                    </a:ext>
                  </a:extLst>
                </a:gridCol>
                <a:gridCol w="1581546">
                  <a:extLst>
                    <a:ext uri="{9D8B030D-6E8A-4147-A177-3AD203B41FA5}">
                      <a16:colId xmlns:a16="http://schemas.microsoft.com/office/drawing/2014/main" val="2261517480"/>
                    </a:ext>
                  </a:extLst>
                </a:gridCol>
              </a:tblGrid>
              <a:tr h="404886">
                <a:tc gridSpan="6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1000" dirty="0">
                          <a:effectLst/>
                        </a:rPr>
                        <a:t>Fonction de masse de X</a:t>
                      </a:r>
                      <a:endParaRPr lang="fr-CA" sz="1000" b="1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63500" marB="63500" anchor="ctr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339180"/>
                  </a:ext>
                </a:extLst>
              </a:tr>
              <a:tr h="40488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1000" dirty="0">
                          <a:effectLst/>
                        </a:rPr>
                        <a:t>X</a:t>
                      </a:r>
                      <a:endParaRPr lang="fr-CA" sz="1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1000">
                          <a:effectLst/>
                        </a:rPr>
                        <a:t>0</a:t>
                      </a:r>
                      <a:endParaRPr lang="fr-CA" sz="1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1000">
                          <a:effectLst/>
                        </a:rPr>
                        <a:t>1</a:t>
                      </a:r>
                      <a:endParaRPr lang="fr-CA" sz="1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1000">
                          <a:effectLst/>
                        </a:rPr>
                        <a:t>2</a:t>
                      </a:r>
                      <a:endParaRPr lang="fr-CA" sz="1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FR" sz="1000">
                          <a:effectLst/>
                        </a:rPr>
                        <a:t>3</a:t>
                      </a:r>
                      <a:endParaRPr lang="fr-CA" sz="1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1000"/>
                        </a:spcAft>
                      </a:pPr>
                      <a:r>
                        <a:rPr lang="fr-CA" sz="1000">
                          <a:effectLst/>
                        </a:rPr>
                        <a:t>Total</a:t>
                      </a:r>
                      <a:endParaRPr lang="fr-CA" sz="1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76200" anchor="ctr"/>
                </a:tc>
                <a:extLst>
                  <a:ext uri="{0D108BD9-81ED-4DB2-BD59-A6C34878D82A}">
                    <a16:rowId xmlns:a16="http://schemas.microsoft.com/office/drawing/2014/main" val="464182292"/>
                  </a:ext>
                </a:extLst>
              </a:tr>
              <a:tr h="74470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CA" sz="1000" dirty="0">
                          <a:effectLst/>
                        </a:rPr>
                        <a:t>f(x) = P(X = x)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1000" dirty="0">
                          <a:effectLst/>
                        </a:rPr>
                        <a:t>1/8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fr-FR" sz="1000" dirty="0">
                          <a:effectLst/>
                        </a:rPr>
                        <a:t>1/4+1/4 + 1/8 = 5/8</a:t>
                      </a:r>
                      <a:r>
                        <a:rPr lang="fr-FR" sz="800" dirty="0">
                          <a:effectLst/>
                        </a:rPr>
                        <a:t>  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1000" dirty="0">
                          <a:effectLst/>
                        </a:rPr>
                        <a:t>1/8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FR" sz="1000" dirty="0">
                          <a:effectLst/>
                        </a:rPr>
                        <a:t>1/8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r-CA" sz="1000" dirty="0">
                          <a:effectLst/>
                        </a:rPr>
                        <a:t>1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081502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D1F25891-06B0-46E6-A048-4DB3C3225583}"/>
                  </a:ext>
                </a:extLst>
              </p:cNvPr>
              <p:cNvSpPr txBox="1"/>
              <p:nvPr/>
            </p:nvSpPr>
            <p:spPr>
              <a:xfrm>
                <a:off x="1084217" y="3827417"/>
                <a:ext cx="10515599" cy="2459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Alors, la moyenne de X est: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CA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fr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𝑆𝑢𝑝𝑝</m:t>
                              </m:r>
                            </m:e>
                            <m:sub>
                              <m:r>
                                <a:rPr lang="fr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𝑘𝑃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=1,25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Interprétation:</a:t>
                </a:r>
                <a:r>
                  <a:rPr lang="fr-CA" dirty="0"/>
                  <a:t> Le nombre de filles que devrait avoir de tels couples dans une très grandes populations est 1,25 filles par couple.</a:t>
                </a: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D1F25891-06B0-46E6-A048-4DB3C322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7" y="3827417"/>
                <a:ext cx="10515599" cy="2459328"/>
              </a:xfrm>
              <a:prstGeom prst="rect">
                <a:avLst/>
              </a:prstGeom>
              <a:blipFill>
                <a:blip r:embed="rId2"/>
                <a:stretch>
                  <a:fillRect l="-522" t="-1489" r="-75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49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5E442-2740-4F39-9722-C68A04EA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Exemple3: Si on reprend l’exemple dans lequel U: le nombre de boules jaunes parmi les 5 tirées.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887F1D-3628-41A8-B88D-74E84EB3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BCD829-AC89-4E7F-8E95-01ABA92C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18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1D34EA32-B5ED-4FDE-828E-F205DC3613B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825625"/>
              <a:ext cx="9321802" cy="20244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4817">
                      <a:extLst>
                        <a:ext uri="{9D8B030D-6E8A-4147-A177-3AD203B41FA5}">
                          <a16:colId xmlns:a16="http://schemas.microsoft.com/office/drawing/2014/main" val="1671422324"/>
                        </a:ext>
                      </a:extLst>
                    </a:gridCol>
                    <a:gridCol w="1436914">
                      <a:extLst>
                        <a:ext uri="{9D8B030D-6E8A-4147-A177-3AD203B41FA5}">
                          <a16:colId xmlns:a16="http://schemas.microsoft.com/office/drawing/2014/main" val="1407927022"/>
                        </a:ext>
                      </a:extLst>
                    </a:gridCol>
                    <a:gridCol w="1123406">
                      <a:extLst>
                        <a:ext uri="{9D8B030D-6E8A-4147-A177-3AD203B41FA5}">
                          <a16:colId xmlns:a16="http://schemas.microsoft.com/office/drawing/2014/main" val="149738029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1511234847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1033095949"/>
                        </a:ext>
                      </a:extLst>
                    </a:gridCol>
                    <a:gridCol w="1214846">
                      <a:extLst>
                        <a:ext uri="{9D8B030D-6E8A-4147-A177-3AD203B41FA5}">
                          <a16:colId xmlns:a16="http://schemas.microsoft.com/office/drawing/2014/main" val="2393658839"/>
                        </a:ext>
                      </a:extLst>
                    </a:gridCol>
                    <a:gridCol w="911499">
                      <a:extLst>
                        <a:ext uri="{9D8B030D-6E8A-4147-A177-3AD203B41FA5}">
                          <a16:colId xmlns:a16="http://schemas.microsoft.com/office/drawing/2014/main" val="1263858072"/>
                        </a:ext>
                      </a:extLst>
                    </a:gridCol>
                  </a:tblGrid>
                  <a:tr h="1012213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4760833"/>
                      </a:ext>
                    </a:extLst>
                  </a:tr>
                  <a:tr h="10122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CA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462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1320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990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220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3003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44673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1D34EA32-B5ED-4FDE-828E-F205DC3613B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825625"/>
              <a:ext cx="9321802" cy="20244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74817">
                      <a:extLst>
                        <a:ext uri="{9D8B030D-6E8A-4147-A177-3AD203B41FA5}">
                          <a16:colId xmlns:a16="http://schemas.microsoft.com/office/drawing/2014/main" val="1671422324"/>
                        </a:ext>
                      </a:extLst>
                    </a:gridCol>
                    <a:gridCol w="1436914">
                      <a:extLst>
                        <a:ext uri="{9D8B030D-6E8A-4147-A177-3AD203B41FA5}">
                          <a16:colId xmlns:a16="http://schemas.microsoft.com/office/drawing/2014/main" val="1407927022"/>
                        </a:ext>
                      </a:extLst>
                    </a:gridCol>
                    <a:gridCol w="1123406">
                      <a:extLst>
                        <a:ext uri="{9D8B030D-6E8A-4147-A177-3AD203B41FA5}">
                          <a16:colId xmlns:a16="http://schemas.microsoft.com/office/drawing/2014/main" val="149738029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1511234847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1033095949"/>
                        </a:ext>
                      </a:extLst>
                    </a:gridCol>
                    <a:gridCol w="1214846">
                      <a:extLst>
                        <a:ext uri="{9D8B030D-6E8A-4147-A177-3AD203B41FA5}">
                          <a16:colId xmlns:a16="http://schemas.microsoft.com/office/drawing/2014/main" val="2393658839"/>
                        </a:ext>
                      </a:extLst>
                    </a:gridCol>
                    <a:gridCol w="911499">
                      <a:extLst>
                        <a:ext uri="{9D8B030D-6E8A-4147-A177-3AD203B41FA5}">
                          <a16:colId xmlns:a16="http://schemas.microsoft.com/office/drawing/2014/main" val="1263858072"/>
                        </a:ext>
                      </a:extLst>
                    </a:gridCol>
                  </a:tblGrid>
                  <a:tr h="1012213"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4760833"/>
                      </a:ext>
                    </a:extLst>
                  </a:tr>
                  <a:tr h="101221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93" t="-103614" r="-349853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45532" t="-103614" r="-407660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11892" t="-103614" r="-417838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0769" t="-103614" r="-296410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25333" t="-103614" r="-156889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93970" t="-103614" r="-77387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44673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A85C961-31E3-47B8-A645-F7979E3DBEEC}"/>
                  </a:ext>
                </a:extLst>
              </p:cNvPr>
              <p:cNvSpPr txBox="1"/>
              <p:nvPr/>
            </p:nvSpPr>
            <p:spPr>
              <a:xfrm>
                <a:off x="1071154" y="4323806"/>
                <a:ext cx="9849395" cy="1346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aurait: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CA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fr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𝑆𝑢𝑝𝑝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𝑘𝑃</m:t>
                          </m:r>
                          <m:d>
                            <m:d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462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3003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1330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3003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990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3003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220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3003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3003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=1,3333</m:t>
                          </m:r>
                        </m:e>
                      </m:nary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A85C961-31E3-47B8-A645-F7979E3DB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54" y="4323806"/>
                <a:ext cx="9849395" cy="1346715"/>
              </a:xfrm>
              <a:prstGeom prst="rect">
                <a:avLst/>
              </a:prstGeom>
              <a:blipFill>
                <a:blip r:embed="rId3"/>
                <a:stretch>
                  <a:fillRect l="-557" t="-226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07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5F76E-B584-4641-81D4-86F76919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variance et l’écart type (théoriques)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7B35E2-E89F-4EA0-90A9-041A511A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AC0ECF-FBC4-4160-B9E6-8CF53D48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07F2AD0-49EC-4108-BF6F-292509F7A4FF}"/>
                  </a:ext>
                </a:extLst>
              </p:cNvPr>
              <p:cNvSpPr txBox="1"/>
              <p:nvPr/>
            </p:nvSpPr>
            <p:spPr>
              <a:xfrm>
                <a:off x="1175657" y="1841863"/>
                <a:ext cx="10019212" cy="3859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Soit X, une variable aléatoire discrète, on appelle variance de X, la quantité:</a:t>
                </a:r>
              </a:p>
              <a:p>
                <a:endParaRPr lang="fr-CA" dirty="0"/>
              </a:p>
              <a:p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CA" dirty="0"/>
                  <a:t> </a:t>
                </a:r>
              </a:p>
              <a:p>
                <a:endParaRPr lang="fr-CA" dirty="0"/>
              </a:p>
              <a:p>
                <a:r>
                  <a:rPr lang="fr-CA" dirty="0"/>
                  <a:t>Avec 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𝑆𝑢𝑝𝑝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(la  moyenne du carré de X)-(le carré de la moyenne de X).</a:t>
                </a: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On appelle écart type de X, la quantité: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07F2AD0-49EC-4108-BF6F-292509F7A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657" y="1841863"/>
                <a:ext cx="10019212" cy="3859839"/>
              </a:xfrm>
              <a:prstGeom prst="rect">
                <a:avLst/>
              </a:prstGeom>
              <a:blipFill>
                <a:blip r:embed="rId2"/>
                <a:stretch>
                  <a:fillRect l="-548" t="-7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579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CBA4F0-A33F-4BEF-B2F0-48020B59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Exemple 1:</a:t>
            </a:r>
            <a:r>
              <a:rPr lang="fr-CA" dirty="0"/>
              <a:t> Si on reprend le cas du lancer d’un dé.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7994D3-3CCC-49F4-8C18-2FBAE2B9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81EA00-98D5-4AD3-AC61-E31A9225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20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8C1BF93-49A9-4452-B7C0-6768A8587C6D}"/>
                  </a:ext>
                </a:extLst>
              </p:cNvPr>
              <p:cNvSpPr txBox="1"/>
              <p:nvPr/>
            </p:nvSpPr>
            <p:spPr>
              <a:xfrm>
                <a:off x="1084217" y="2024743"/>
                <a:ext cx="10045337" cy="2555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avait trouvé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=3,5</m:t>
                    </m:r>
                  </m:oMath>
                </a14:m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+….+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=15,1667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Donc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=15,1667−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=2,9167</m:t>
                    </m:r>
                  </m:oMath>
                </a14:m>
                <a:r>
                  <a:rPr lang="fr-CA" dirty="0"/>
                  <a:t>  et  par conséquent:</a:t>
                </a:r>
              </a:p>
              <a:p>
                <a:endParaRPr lang="fr-CA" dirty="0"/>
              </a:p>
              <a:p>
                <a:r>
                  <a:rPr lang="fr-CA" dirty="0"/>
                  <a:t>L’écart type de X est 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=1,7078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8C1BF93-49A9-4452-B7C0-6768A8587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7" y="2024743"/>
                <a:ext cx="10045337" cy="2555571"/>
              </a:xfrm>
              <a:prstGeom prst="rect">
                <a:avLst/>
              </a:prstGeom>
              <a:blipFill>
                <a:blip r:embed="rId2"/>
                <a:stretch>
                  <a:fillRect l="-546" t="-119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83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14A5A-2C9B-4405-A7BC-E957AEBAA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94749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Exemple 2:</a:t>
            </a:r>
            <a:r>
              <a:rPr lang="fr-CA" dirty="0"/>
              <a:t> Si on reprend l’exemple dans lequel X:le nombre de filles dans le couple qui avait une certaine politique de naissances.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CB1894-3BD4-4C7A-A3D7-ED6320B0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78EEC9-1876-4922-A2F1-3155FDBA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9133610-7328-4ABB-AF58-9DBFDE2F0301}"/>
                  </a:ext>
                </a:extLst>
              </p:cNvPr>
              <p:cNvSpPr txBox="1"/>
              <p:nvPr/>
            </p:nvSpPr>
            <p:spPr>
              <a:xfrm>
                <a:off x="1188720" y="2664823"/>
                <a:ext cx="9509760" cy="2909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avait trouvé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=1,25</m:t>
                    </m:r>
                  </m:oMath>
                </a14:m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8 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=2,25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Donc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=2,25−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1,25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=0,6875</m:t>
                    </m:r>
                  </m:oMath>
                </a14:m>
                <a:r>
                  <a:rPr lang="fr-CA" dirty="0"/>
                  <a:t>  et  par conséquent:</a:t>
                </a:r>
              </a:p>
              <a:p>
                <a:endParaRPr lang="fr-CA" dirty="0"/>
              </a:p>
              <a:p>
                <a:r>
                  <a:rPr lang="fr-CA" dirty="0"/>
                  <a:t>L’écart type de X est 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0,6875</m:t>
                          </m:r>
                        </m:e>
                      </m:ra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=0,8292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9133610-7328-4ABB-AF58-9DBFDE2F0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664823"/>
                <a:ext cx="9509760" cy="2909323"/>
              </a:xfrm>
              <a:prstGeom prst="rect">
                <a:avLst/>
              </a:prstGeom>
              <a:blipFill>
                <a:blip r:embed="rId2"/>
                <a:stretch>
                  <a:fillRect l="-513" t="-104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701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2AC0C-4226-4148-8E8F-BC6F6FB4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Interprétation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A4B148-F249-4F8F-83D3-66AE429B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8BBED3-622B-40F8-B944-4D1E695E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22</a:t>
            </a:fld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688DB7B-B49A-4CF2-A686-78E1136A3531}"/>
                  </a:ext>
                </a:extLst>
              </p:cNvPr>
              <p:cNvSpPr txBox="1"/>
              <p:nvPr/>
            </p:nvSpPr>
            <p:spPr>
              <a:xfrm>
                <a:off x="1084217" y="2011680"/>
                <a:ext cx="9784080" cy="3657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Plus l’écart type est grand, plus la variable est dispersée. C’est-à-dire que ses valeurs s’écartent de la moyenne.</a:t>
                </a:r>
              </a:p>
              <a:p>
                <a:r>
                  <a:rPr lang="fr-CA" dirty="0"/>
                  <a:t>En fait, on calcule le coefficient de variation de la variable, qui est: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≤15%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𝑣𝑎𝑟𝑖𝑎𝑏𝑙𝑒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h𝑜𝑚𝑜𝑔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è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15%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𝑣𝑎𝑟𝑖𝑎𝑏𝑙𝑒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𝑟𝑜𝑔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è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</m:t>
                    </m:r>
                  </m:oMath>
                </a14:m>
                <a:r>
                  <a:rPr lang="fr-CA" dirty="0"/>
                  <a:t>.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 </a:t>
                </a:r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688DB7B-B49A-4CF2-A686-78E1136A3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7" y="2011680"/>
                <a:ext cx="9784080" cy="3657091"/>
              </a:xfrm>
              <a:prstGeom prst="rect">
                <a:avLst/>
              </a:prstGeom>
              <a:blipFill>
                <a:blip r:embed="rId2"/>
                <a:stretch>
                  <a:fillRect l="-561" t="-83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524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A299A5E0-0418-42F9-9FBF-8238618EA4C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1886" y="365125"/>
                <a:ext cx="10750731" cy="3063875"/>
              </a:xfrm>
            </p:spPr>
            <p:txBody>
              <a:bodyPr>
                <a:normAutofit fontScale="90000"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fr-CA" dirty="0"/>
                  <a:t>Exemple 4: </a:t>
                </a: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Un vendeur de voitures a trouvé que X, le nombre de voitures qu’il peut vendre par semaine, est une variable aléatoire dont la fonction de masse des probabilités est donnée par :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fr-CA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8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fr-FR" sz="1800" b="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CA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𝐶</m:t>
                                  </m:r>
                                  <m:sSup>
                                    <m:sSupPr>
                                      <m:ctrlPr>
                                        <a:rPr lang="fr-CA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 b="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fr-FR" sz="1800" b="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sz="1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fr-FR" sz="18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𝑝𝑜𝑢𝑟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=1,2, 3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𝑜𝑢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4</m:t>
                              </m:r>
                            </m:e>
                            <m:e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0                  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𝑠𝑖𝑛𝑜𝑛</m:t>
                              </m:r>
                              <m:r>
                                <a:rPr lang="fr-FR" sz="1800" b="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Déterminer la constante C.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Calculer la probabilité que ce vendeur vend au moins 2 voitures durant une semaine.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Déterminer la fonction cumulative des probabilités de X.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r>
                  <a:rPr lang="fr-FR" sz="1800" b="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 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A299A5E0-0418-42F9-9FBF-8238618EA4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1886" y="365125"/>
                <a:ext cx="10750731" cy="3063875"/>
              </a:xfrm>
              <a:blipFill>
                <a:blip r:embed="rId2"/>
                <a:stretch>
                  <a:fillRect l="-1984" t="-1312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2E698C-B9E6-4436-9135-53161CF8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49D643-EC0A-418C-8107-2ED3E076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23</a:t>
            </a:fld>
            <a:endParaRPr lang="fr-CA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396B36A-FBF2-46FD-98F8-EF5AD80AA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199725"/>
              </p:ext>
            </p:extLst>
          </p:nvPr>
        </p:nvGraphicFramePr>
        <p:xfrm>
          <a:off x="914400" y="2965269"/>
          <a:ext cx="9457509" cy="1168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7781">
                  <a:extLst>
                    <a:ext uri="{9D8B030D-6E8A-4147-A177-3AD203B41FA5}">
                      <a16:colId xmlns:a16="http://schemas.microsoft.com/office/drawing/2014/main" val="69412370"/>
                    </a:ext>
                  </a:extLst>
                </a:gridCol>
                <a:gridCol w="1171520">
                  <a:extLst>
                    <a:ext uri="{9D8B030D-6E8A-4147-A177-3AD203B41FA5}">
                      <a16:colId xmlns:a16="http://schemas.microsoft.com/office/drawing/2014/main" val="2836537251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2052582837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3209833629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2270968272"/>
                    </a:ext>
                  </a:extLst>
                </a:gridCol>
                <a:gridCol w="1857052">
                  <a:extLst>
                    <a:ext uri="{9D8B030D-6E8A-4147-A177-3AD203B41FA5}">
                      <a16:colId xmlns:a16="http://schemas.microsoft.com/office/drawing/2014/main" val="2525470100"/>
                    </a:ext>
                  </a:extLst>
                </a:gridCol>
              </a:tblGrid>
              <a:tr h="5841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1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2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3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4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Total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6403237"/>
                  </a:ext>
                </a:extLst>
              </a:tr>
              <a:tr h="5841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P(X=k)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C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2C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3C/2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effectLst/>
                        </a:rPr>
                        <a:t>2C/3</a:t>
                      </a:r>
                      <a:endParaRPr lang="fr-CA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1</a:t>
                      </a:r>
                      <a:endParaRPr lang="fr-CA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5090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84796F5-A7D9-413D-A738-2B88F009DBB2}"/>
                  </a:ext>
                </a:extLst>
              </p:cNvPr>
              <p:cNvSpPr txBox="1"/>
              <p:nvPr/>
            </p:nvSpPr>
            <p:spPr>
              <a:xfrm>
                <a:off x="914400" y="4133667"/>
                <a:ext cx="9888583" cy="116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b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+2</m:t>
                    </m:r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  <m:r>
                      <a:rPr lang="fr-FR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sz="1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ce qui donne </a:t>
                </a:r>
                <a14:m>
                  <m:oMath xmlns:m="http://schemas.openxmlformats.org/officeDocument/2006/math"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  <m:r>
                      <a:rPr lang="fr-FR" sz="18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=6/31</m:t>
                    </m:r>
                  </m:oMath>
                </a14:m>
                <a:r>
                  <a:rPr lang="fr-FR" sz="1800" b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</a:p>
              <a:p>
                <a:r>
                  <a:rPr lang="fr-FR" b="1" dirty="0">
                    <a:solidFill>
                      <a:srgbClr val="000000"/>
                    </a:solidFill>
                  </a:rPr>
                  <a:t>b) </a:t>
                </a:r>
                <a14:m>
                  <m:oMath xmlns:m="http://schemas.openxmlformats.org/officeDocument/2006/math"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  <m:r>
                      <a:rPr lang="fr-CA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r>
                          <a:rPr lang="fr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𝟑𝟏</m:t>
                        </m:r>
                      </m:den>
                    </m:f>
                  </m:oMath>
                </a14:m>
                <a:endParaRPr lang="fr-CA" b="1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r>
                  <a:rPr lang="fr-CA" dirty="0"/>
                  <a:t>c)  </a:t>
                </a: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84796F5-A7D9-413D-A738-2B88F009D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33667"/>
                <a:ext cx="9888583" cy="1168397"/>
              </a:xfrm>
              <a:prstGeom prst="rect">
                <a:avLst/>
              </a:prstGeom>
              <a:blipFill>
                <a:blip r:embed="rId3"/>
                <a:stretch>
                  <a:fillRect l="-493" b="-729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au 12">
                <a:extLst>
                  <a:ext uri="{FF2B5EF4-FFF2-40B4-BE49-F238E27FC236}">
                    <a16:creationId xmlns:a16="http://schemas.microsoft.com/office/drawing/2014/main" id="{64BDBFA3-CE7F-4B6C-8255-D77988B97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7739269"/>
                  </p:ext>
                </p:extLst>
              </p:nvPr>
            </p:nvGraphicFramePr>
            <p:xfrm>
              <a:off x="787038" y="5187951"/>
              <a:ext cx="10566762" cy="116839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61127">
                      <a:extLst>
                        <a:ext uri="{9D8B030D-6E8A-4147-A177-3AD203B41FA5}">
                          <a16:colId xmlns:a16="http://schemas.microsoft.com/office/drawing/2014/main" val="643986545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62956417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1507410239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83725823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3815643702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001491577"/>
                        </a:ext>
                      </a:extLst>
                    </a:gridCol>
                  </a:tblGrid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 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3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Total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68862011"/>
                      </a:ext>
                    </a:extLst>
                  </a:tr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P(X=k)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12/31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9/31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20495395"/>
                      </a:ext>
                    </a:extLst>
                  </a:tr>
                  <a:tr h="53745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fr-CA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18/31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27/31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 dirty="0">
                              <a:effectLst/>
                            </a:rPr>
                            <a:t> </a:t>
                          </a:r>
                          <a:endParaRPr lang="fr-CA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821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au 12">
                <a:extLst>
                  <a:ext uri="{FF2B5EF4-FFF2-40B4-BE49-F238E27FC236}">
                    <a16:creationId xmlns:a16="http://schemas.microsoft.com/office/drawing/2014/main" id="{64BDBFA3-CE7F-4B6C-8255-D77988B97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7739269"/>
                  </p:ext>
                </p:extLst>
              </p:nvPr>
            </p:nvGraphicFramePr>
            <p:xfrm>
              <a:off x="787038" y="5187951"/>
              <a:ext cx="10566762" cy="116839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61127">
                      <a:extLst>
                        <a:ext uri="{9D8B030D-6E8A-4147-A177-3AD203B41FA5}">
                          <a16:colId xmlns:a16="http://schemas.microsoft.com/office/drawing/2014/main" val="643986545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62956417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1507410239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583725823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3815643702"/>
                        </a:ext>
                      </a:extLst>
                    </a:gridCol>
                    <a:gridCol w="1761127">
                      <a:extLst>
                        <a:ext uri="{9D8B030D-6E8A-4147-A177-3AD203B41FA5}">
                          <a16:colId xmlns:a16="http://schemas.microsoft.com/office/drawing/2014/main" val="2001491577"/>
                        </a:ext>
                      </a:extLst>
                    </a:gridCol>
                  </a:tblGrid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 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3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Total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68862011"/>
                      </a:ext>
                    </a:extLst>
                  </a:tr>
                  <a:tr h="3154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P(X=k)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12/31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9/31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4/31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20495395"/>
                      </a:ext>
                    </a:extLst>
                  </a:tr>
                  <a:tr h="53745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46" t="-123864" r="-50138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6/31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18/31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27/31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>
                              <a:effectLst/>
                            </a:rPr>
                            <a:t>1</a:t>
                          </a:r>
                          <a:endParaRPr lang="fr-CA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fr-FR" sz="1200" dirty="0">
                              <a:effectLst/>
                            </a:rPr>
                            <a:t> </a:t>
                          </a:r>
                          <a:endParaRPr lang="fr-CA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8210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919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2533</Words>
  <Application>Microsoft Office PowerPoint</Application>
  <PresentationFormat>Grand écran</PresentationFormat>
  <Paragraphs>318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Office Theme</vt:lpstr>
      <vt:lpstr>   Théorème: Si A et B sont indépendants, alors: . A et B’ le sont aussi. . A’ et B le sont aussi. . A’ et B’ le sont aussi.  </vt:lpstr>
      <vt:lpstr>Formule de Bayes: Soit une expérience aléatoire avec S décomposé en deux groupes formant sa partition.  </vt:lpstr>
      <vt:lpstr>Exemple 2: On s’intéresse à une maladie présente dans une population S. Soit M : Les personnes atteintes de cette maladie ; et M′ : Les personnes non atteintes de cette maladie. Une compagnie pharmaceutique a mis au point un procédé pour détecter la présence ou non de cette maladie. Soit alors T+ : Le test est positif.  </vt:lpstr>
      <vt:lpstr>Exemple2: Formule de Bayes avec une partition formée de 4 groupes. Avec un arbre des probabilités</vt:lpstr>
      <vt:lpstr>Réponse: Soit C : Le père a les cheveux châtains, N : Le père a les cheveux noirs, B : Le père a les cheveux blonds, R : Le père a les cheveux roux et E : L’enfant a les cheveux blonds. </vt:lpstr>
      <vt:lpstr>Suite)</vt:lpstr>
      <vt:lpstr>Exemple 3: Dans une usine, trois ouvriers assemblent toutes les pièces fabriquées S (chaque pièce n’est assemblée que par un seul ouvrier). Soit les événements suivants (voir le diagramme de Venn) : • A : Les pièces sont assemblées par le 1er ouvrier ; • B : Les pièces sont assemblées par le 2e ouvrier ; • C : Les pièces sont assemblées par le 3e ouvrier ; • D : Les pièces sont défectueuses. </vt:lpstr>
      <vt:lpstr>Suite)On peut dresser un arbre des probabilités</vt:lpstr>
      <vt:lpstr>Suite)</vt:lpstr>
      <vt:lpstr>LECTURE4: Les variables aléatoires discrètes</vt:lpstr>
      <vt:lpstr>Fonction de masse d’une variable aléatoire discrète.</vt:lpstr>
      <vt:lpstr>Exemple 1: On lance un dé et on pose  X: le numéro de la face qui apparait.</vt:lpstr>
      <vt:lpstr>Exemple 2: Un couple décide d’avoir des enfants jusqu’à ce qu’il ait un enfant de chaque sexe ou trois enfants au maximum. Soit X : la variable aléatoire qui indique le nombre de filles que pourrait avoir ce couple. Déterminez SuppX et la fonction de masse (fonction densité de probabilité) de X. </vt:lpstr>
      <vt:lpstr>Exemple 3: Un panier contient 6 boules rouges, 5 boules blanches et 4 boules jaunes. On en tire 5 sans les remettre dans le panier. On note U le nombre de boules jaunes parmi les 5 tirées.  Déterminer la fonction de masse des probabilités de U.</vt:lpstr>
      <vt:lpstr>Suite) À laquelle on peut ajouter la fonction  cumulative des probabilités F_U (k)=P(U≤k) </vt:lpstr>
      <vt:lpstr>L’espérance mathématique (ou moyenne théorique)</vt:lpstr>
      <vt:lpstr>Exemple 2: Si on reprend l’exemple du couple avec X: le nombre de filles.</vt:lpstr>
      <vt:lpstr>Exemple3: Si on reprend l’exemple dans lequel U: le nombre de boules jaunes parmi les 5 tirées.</vt:lpstr>
      <vt:lpstr>La variance et l’écart type (théoriques)</vt:lpstr>
      <vt:lpstr>Exemple 1: Si on reprend le cas du lancer d’un dé. </vt:lpstr>
      <vt:lpstr>Exemple 2: Si on reprend l’exemple dans lequel X:le nombre de filles dans le couple qui avait une certaine politique de naissances.</vt:lpstr>
      <vt:lpstr>Interprétation </vt:lpstr>
      <vt:lpstr>Exemple 4: Un vendeur de voitures a trouvé que X, le nombre de voitures qu’il peut vendre par semaine, est une variable aléatoire dont la fonction de masse des probabilités est donnée par : f(k)=P(X=k)={█((Ck^2)/k!     pour k=1,2, 3 ou 4@0                  sinon                )┤ Déterminer la constante C. Calculer la probabilité que ce vendeur vend au moins 2 voitures durant une semaine. Déterminer la fonction cumulative des probabilités de X.  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Exemple2: Avec un arbre des probabilités</dc:title>
  <dc:creator>Mhammed Mountassir</dc:creator>
  <cp:lastModifiedBy>Mhammed Mountassir</cp:lastModifiedBy>
  <cp:revision>31</cp:revision>
  <dcterms:created xsi:type="dcterms:W3CDTF">2020-09-19T18:00:40Z</dcterms:created>
  <dcterms:modified xsi:type="dcterms:W3CDTF">2021-09-21T12:10:12Z</dcterms:modified>
</cp:coreProperties>
</file>