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57" autoAdjust="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88AB8-1C01-41DC-AFCA-28305AC61B27}" type="datetimeFigureOut">
              <a:rPr lang="fr-CA" smtClean="0"/>
              <a:t>2021-09-29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F1DE7-72A5-40DE-843D-98ED1D33E9C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178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AADC-90C4-42A0-92DD-A3EB1E3F99BC}" type="datetime1">
              <a:rPr lang="fr-CA" smtClean="0"/>
              <a:t>2021-09-29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135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81BE-FF7C-4713-86B5-98B3635F7575}" type="datetime1">
              <a:rPr lang="fr-CA" smtClean="0"/>
              <a:t>2021-09-29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666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F1A6-A103-49CB-B28A-B5B8CE7CCF08}" type="datetime1">
              <a:rPr lang="fr-CA" smtClean="0"/>
              <a:t>2021-09-29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871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E57F-B680-462B-BBFD-7518F74AF714}" type="datetime1">
              <a:rPr lang="fr-CA" smtClean="0"/>
              <a:t>2021-09-29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621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B3B4F-1CE8-448C-951A-2E287C7816DA}" type="datetime1">
              <a:rPr lang="fr-CA" smtClean="0"/>
              <a:t>2021-09-29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481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3F50-9144-44F9-A37F-D55A19808CF4}" type="datetime1">
              <a:rPr lang="fr-CA" smtClean="0"/>
              <a:t>2021-09-29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743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2447-19AC-45D2-83F5-5B12576F084D}" type="datetime1">
              <a:rPr lang="fr-CA" smtClean="0"/>
              <a:t>2021-09-29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99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9AF-12D3-47FA-A0D6-97746BB8E776}" type="datetime1">
              <a:rPr lang="fr-CA" smtClean="0"/>
              <a:t>2021-09-29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165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9D18-3682-4189-B23C-B8B496B3307C}" type="datetime1">
              <a:rPr lang="fr-CA" smtClean="0"/>
              <a:t>2021-09-29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940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AFDA-2171-49C0-B449-3733417EA82F}" type="datetime1">
              <a:rPr lang="fr-CA" smtClean="0"/>
              <a:t>2021-09-29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122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BD924-29A3-4FF2-B149-61A5377F8882}" type="datetime1">
              <a:rPr lang="fr-CA" smtClean="0"/>
              <a:t>2021-09-29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238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18466-3607-4A57-8167-9FAB5784D41C}" type="datetime1">
              <a:rPr lang="fr-CA" smtClean="0"/>
              <a:t>2021-09-29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37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5B244F-B4C8-49BA-BA8C-03AC053E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Les variables aléatoires continues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A048382C-14F6-43EE-A7C9-7BC474C1DD17}"/>
                  </a:ext>
                </a:extLst>
              </p:cNvPr>
              <p:cNvSpPr txBox="1"/>
              <p:nvPr/>
            </p:nvSpPr>
            <p:spPr>
              <a:xfrm>
                <a:off x="355197" y="2412801"/>
                <a:ext cx="5330612" cy="389728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CA" sz="1700" dirty="0"/>
                  <a:t>X est dite variable aléatoire continue, si elle peut prendre n’importe quelle valeur réelle et si on peut lui faire correspondre une fonction, appelée fonction densité des probabilités (</a:t>
                </a:r>
                <a:r>
                  <a:rPr lang="fr-CA" sz="1700" dirty="0" err="1"/>
                  <a:t>f.d.p</a:t>
                </a:r>
                <a:r>
                  <a:rPr lang="fr-CA" sz="1700" dirty="0"/>
                  <a:t>) telle que:</a:t>
                </a: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fr-CA" sz="1700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CA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≥0    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𝑡𝑜𝑢𝑡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é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trlPr>
                          <a:rPr lang="fr-CA" sz="17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sz="17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fr-CA" sz="1700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fr-CA" sz="1700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CA" sz="1700" dirty="0"/>
                  <a:t>Exemple A: Soit X, une V.A.C telle que:</a:t>
                </a: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CA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CA" sz="1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fr-CA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   0&lt;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  <m:e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          1&lt;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&lt;2</m:t>
                            </m:r>
                          </m:e>
                          <m:e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0              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𝑎𝑖𝑙𝑙𝑒𝑢𝑟𝑠</m:t>
                            </m:r>
                            <m:r>
                              <a:rPr lang="fr-CA" sz="17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fr-CA" sz="1700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7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A048382C-14F6-43EE-A7C9-7BC474C1D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97" y="2412801"/>
                <a:ext cx="5330612" cy="3897289"/>
              </a:xfrm>
              <a:prstGeom prst="rect">
                <a:avLst/>
              </a:prstGeom>
              <a:blipFill>
                <a:blip r:embed="rId2"/>
                <a:stretch>
                  <a:fillRect l="-68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8E7D75-2599-4B84-B173-36BA200568F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" r="4" b="2372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9BFCB1-4FBF-424C-A36F-0F616F2C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5810" y="6492240"/>
            <a:ext cx="305086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defRPr/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3CA245-87B5-4517-9094-E09C0B94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26377AD9-CE17-438C-A638-C64D2D42D7CF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79743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4BC9D3-085D-4F61-9136-A7F6F6BD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Exemple B:  </a:t>
            </a:r>
            <a:r>
              <a:rPr lang="fr-CA" dirty="0"/>
              <a:t>Soit X, une V.A.C telle que sa </a:t>
            </a:r>
            <a:r>
              <a:rPr lang="fr-CA" dirty="0" err="1"/>
              <a:t>f.d.p</a:t>
            </a:r>
            <a:r>
              <a:rPr lang="fr-CA" dirty="0"/>
              <a:t> est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5397AD-2BFD-4818-B3E2-A0DCDE4E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6B2EDF-537F-4336-AA80-E6B1A881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2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FD4AE267-7E78-4818-A54C-D7F0A6406CED}"/>
                  </a:ext>
                </a:extLst>
              </p:cNvPr>
              <p:cNvSpPr txBox="1"/>
              <p:nvPr/>
            </p:nvSpPr>
            <p:spPr>
              <a:xfrm>
                <a:off x="1110343" y="2076994"/>
                <a:ext cx="9705703" cy="1940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𝑐𝑜𝑠𝑥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    0&lt;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e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0         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𝑎𝑖𝑙𝑙𝑒𝑢𝑟𝑠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Alors cette fonction est positive ou nulle   et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fr-CA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CA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𝑐𝑜𝑠𝑥𝑑𝑥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nary>
                      </m:e>
                    </m:nary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FD4AE267-7E78-4818-A54C-D7F0A6406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2076994"/>
                <a:ext cx="9705703" cy="1940147"/>
              </a:xfrm>
              <a:prstGeom prst="rect">
                <a:avLst/>
              </a:prstGeom>
              <a:blipFill>
                <a:blip r:embed="rId2"/>
                <a:stretch>
                  <a:fillRect l="-503" b="-3993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808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C7C1CF-402E-4423-9B35-64F67BEE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Fonction cumulative des probabilités.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4270A5A-578F-4CE1-B1F5-D3EE2F7041EF}"/>
                  </a:ext>
                </a:extLst>
              </p:cNvPr>
              <p:cNvSpPr txBox="1"/>
              <p:nvPr/>
            </p:nvSpPr>
            <p:spPr>
              <a:xfrm>
                <a:off x="793661" y="2599509"/>
                <a:ext cx="4530898" cy="36394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dirty="0" err="1"/>
                  <a:t>Soit</a:t>
                </a:r>
                <a:r>
                  <a:rPr lang="en-US" sz="1700" dirty="0"/>
                  <a:t> X </a:t>
                </a:r>
                <a:r>
                  <a:rPr lang="en-US" sz="1700" dirty="0" err="1"/>
                  <a:t>une</a:t>
                </a:r>
                <a:r>
                  <a:rPr lang="en-US" sz="1700" dirty="0"/>
                  <a:t> V.A.C </a:t>
                </a:r>
                <a:r>
                  <a:rPr lang="en-US" sz="1700" dirty="0" err="1"/>
                  <a:t>alors</a:t>
                </a:r>
                <a:r>
                  <a:rPr lang="en-US" sz="1700" dirty="0"/>
                  <a:t> on </a:t>
                </a:r>
                <a:r>
                  <a:rPr lang="en-US" sz="1700" dirty="0" err="1"/>
                  <a:t>peut</a:t>
                </a:r>
                <a:r>
                  <a:rPr lang="en-US" sz="1700" dirty="0"/>
                  <a:t> </a:t>
                </a:r>
                <a:r>
                  <a:rPr lang="en-US" sz="1700" dirty="0" err="1"/>
                  <a:t>lui</a:t>
                </a:r>
                <a:r>
                  <a:rPr lang="en-US" sz="1700" dirty="0"/>
                  <a:t> </a:t>
                </a:r>
                <a:r>
                  <a:rPr lang="en-US" sz="1700" dirty="0" err="1"/>
                  <a:t>associer</a:t>
                </a:r>
                <a:r>
                  <a:rPr lang="en-US" sz="1700" dirty="0"/>
                  <a:t> </a:t>
                </a:r>
                <a:r>
                  <a:rPr lang="en-US" sz="1700" dirty="0" err="1"/>
                  <a:t>sa</a:t>
                </a:r>
                <a:r>
                  <a:rPr lang="en-US" sz="1700" dirty="0"/>
                  <a:t> </a:t>
                </a:r>
                <a:r>
                  <a:rPr lang="en-US" sz="1700" dirty="0" err="1"/>
                  <a:t>fonction</a:t>
                </a:r>
                <a:r>
                  <a:rPr lang="en-US" sz="1700" dirty="0"/>
                  <a:t> cumulative des </a:t>
                </a:r>
                <a:r>
                  <a:rPr lang="en-US" sz="1700" dirty="0" err="1"/>
                  <a:t>probabilités</a:t>
                </a:r>
                <a:r>
                  <a:rPr lang="en-US" sz="1700" dirty="0"/>
                  <a:t> qui </a:t>
                </a:r>
                <a:r>
                  <a:rPr lang="en-US" sz="1700" dirty="0" err="1"/>
                  <a:t>est</a:t>
                </a:r>
                <a:r>
                  <a:rPr lang="en-US" sz="1700" dirty="0"/>
                  <a:t> </a:t>
                </a:r>
                <a:r>
                  <a:rPr lang="en-US" sz="1700" dirty="0" err="1"/>
                  <a:t>telle</a:t>
                </a:r>
                <a:r>
                  <a:rPr lang="en-US" sz="1700" dirty="0"/>
                  <a:t>:</a:t>
                </a: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7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7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7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sSub>
                          <m:sSubPr>
                            <m:ctrlPr>
                              <a:rPr lang="en-US" sz="17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sz="17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1700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dirty="0" err="1"/>
                  <a:t>Exemple</a:t>
                </a:r>
                <a:r>
                  <a:rPr lang="en-US" sz="1700" dirty="0"/>
                  <a:t> 1: Si on </a:t>
                </a:r>
                <a:r>
                  <a:rPr lang="en-US" sz="1700" dirty="0" err="1"/>
                  <a:t>reprend</a:t>
                </a:r>
                <a:r>
                  <a:rPr lang="en-US" sz="1700" dirty="0"/>
                  <a:t> </a:t>
                </a:r>
                <a:r>
                  <a:rPr lang="en-US" sz="1700" dirty="0" err="1"/>
                  <a:t>l’exemple</a:t>
                </a:r>
                <a:r>
                  <a:rPr lang="en-US" sz="1700" dirty="0"/>
                  <a:t> A, </a:t>
                </a:r>
                <a:r>
                  <a:rPr lang="en-US" sz="1700" dirty="0" err="1"/>
                  <a:t>précédent</a:t>
                </a:r>
                <a:r>
                  <a:rPr lang="en-US" sz="1700" dirty="0"/>
                  <a:t>.</a:t>
                </a: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7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700" b="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0        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nary>
                              <m:naryPr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  <m:e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𝑥𝑑𝑥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7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7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700" b="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1700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7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      0&lt;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&lt;1</m:t>
                                </m:r>
                              </m:e>
                            </m:nary>
                          </m:e>
                          <m:e>
                            <m:f>
                              <m:fPr>
                                <m:ctrlP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trlP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sz="17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  <m:r>
                                      <a:rPr lang="en-US" sz="17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             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𝑠𝑖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  1&lt;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700" b="0" i="1">
                                    <a:latin typeface="Cambria Math" panose="02040503050406030204" pitchFamily="18" charset="0"/>
                                  </a:rPr>
                                  <m:t>&lt;2</m:t>
                                </m:r>
                              </m:e>
                            </m:nary>
                          </m:e>
                          <m:e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1          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&gt;2</m:t>
                            </m:r>
                          </m:e>
                        </m:eqArr>
                      </m:e>
                    </m:d>
                  </m:oMath>
                </a14:m>
                <a:endParaRPr lang="en-US" sz="1700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dirty="0"/>
                  <a:t>Et son </a:t>
                </a:r>
                <a:r>
                  <a:rPr lang="en-US" sz="1700" dirty="0" err="1"/>
                  <a:t>graphique</a:t>
                </a:r>
                <a:r>
                  <a:rPr lang="en-US" sz="1700" dirty="0"/>
                  <a:t> </a:t>
                </a:r>
                <a:r>
                  <a:rPr lang="en-US" sz="1700" dirty="0" err="1"/>
                  <a:t>est</a:t>
                </a:r>
                <a:r>
                  <a:rPr lang="en-US" sz="1700" dirty="0"/>
                  <a:t> :</a:t>
                </a: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7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4270A5A-578F-4CE1-B1F5-D3EE2F704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61" y="2599509"/>
                <a:ext cx="4530898" cy="3639450"/>
              </a:xfrm>
              <a:prstGeom prst="rect">
                <a:avLst/>
              </a:prstGeom>
              <a:blipFill>
                <a:blip r:embed="rId2"/>
                <a:stretch>
                  <a:fillRect l="-808" t="-33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49B8AEB-5FC7-46C7-9F29-C3C33839FBE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760565"/>
            <a:ext cx="5150277" cy="3161623"/>
          </a:xfrm>
          <a:prstGeom prst="rect">
            <a:avLst/>
          </a:prstGeom>
          <a:noFill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41433CC-B45F-40B4-8A06-56A8D786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2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DD8D16-B10C-4278-976F-BC08980D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 smtClean="0"/>
              <a:pPr defTabSz="914400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8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8C64B-A8BC-4560-811A-0F92F9F0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2: Si on reprend l’exemple B précédent.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838C1C-9969-44E3-99F9-FE50E8CC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735938-B1B9-4F37-BCDA-FBAE427F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4</a:t>
            </a:fld>
            <a:endParaRPr lang="fr-CA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DC4C6D8-1CF0-44AC-9F7C-E564EE979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0723520" cy="66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  <p:graphicFrame>
        <p:nvGraphicFramePr>
          <p:cNvPr id="7" name="Objet 6" descr="14">
            <a:extLst>
              <a:ext uri="{FF2B5EF4-FFF2-40B4-BE49-F238E27FC236}">
                <a16:creationId xmlns:a16="http://schemas.microsoft.com/office/drawing/2014/main" id="{BECC449D-E93E-42CB-89D9-C68BA18B2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652117"/>
              </p:ext>
            </p:extLst>
          </p:nvPr>
        </p:nvGraphicFramePr>
        <p:xfrm>
          <a:off x="1026459" y="1989061"/>
          <a:ext cx="9139517" cy="2818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82900" imgH="990600" progId="Equation.DSMT4">
                  <p:embed/>
                </p:oleObj>
              </mc:Choice>
              <mc:Fallback>
                <p:oleObj r:id="rId2" imgW="2882900" imgH="990600" progId="Equation.DSMT4">
                  <p:embed/>
                  <p:pic>
                    <p:nvPicPr>
                      <p:cNvPr id="0" name="Object 1" descr="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459" y="1989061"/>
                        <a:ext cx="9139517" cy="28180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1618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6DA593-656A-4659-A629-593C5E2D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Calcul des probabilités sur une V.A.C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935D36-FC8F-48E1-8442-EE9375165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A239D5-CD97-4EF7-BE1D-7D277296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5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9CD9E52-69B4-40E7-A096-2A174F409500}"/>
                  </a:ext>
                </a:extLst>
              </p:cNvPr>
              <p:cNvSpPr txBox="1"/>
              <p:nvPr/>
            </p:nvSpPr>
            <p:spPr>
              <a:xfrm>
                <a:off x="966651" y="1867989"/>
                <a:ext cx="10006149" cy="1118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=0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𝑡𝑜𝑢𝑡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é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9CD9E52-69B4-40E7-A096-2A174F409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51" y="1867989"/>
                <a:ext cx="10006149" cy="1118127"/>
              </a:xfrm>
              <a:prstGeom prst="rect">
                <a:avLst/>
              </a:prstGeom>
              <a:blipFill>
                <a:blip r:embed="rId2"/>
                <a:stretch>
                  <a:fillRect l="-427" t="-43478" b="-4565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393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7467B08-2D48-4393-86D7-5FBCC4F2BE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03514" y="404949"/>
                <a:ext cx="10866120" cy="2389867"/>
              </a:xfrm>
            </p:spPr>
            <p:txBody>
              <a:bodyPr>
                <a:normAutofit fontScale="90000"/>
              </a:bodyPr>
              <a:lstStyle/>
              <a:p>
                <a:pPr/>
                <a:r>
                  <a:rPr lang="fr-CA" dirty="0"/>
                  <a:t>Exemple: 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La durée de vie (en années) d’une marque de téléviseur suit une loi continue dont la fonction densité de probabilité est :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sz="1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CA" sz="1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fr-CA" sz="18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CA" sz="18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fr-CA" sz="18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CA" sz="18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fr-CA" sz="1800" b="0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/15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CA" sz="1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𝑝𝑜𝑢𝑟</m:t>
                              </m:r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𝑠𝑖𝑛𝑜𝑛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fr-CA" dirty="0"/>
                </a:br>
                <a:br>
                  <a:rPr lang="fr-CA" dirty="0"/>
                </a:br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7467B08-2D48-4393-86D7-5FBCC4F2B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03514" y="404949"/>
                <a:ext cx="10866120" cy="2389867"/>
              </a:xfrm>
              <a:blipFill>
                <a:blip r:embed="rId2"/>
                <a:stretch>
                  <a:fillRect l="-1963" t="-1862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1CCFA4-A1A8-4FE0-9673-95016EF3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54C421-0764-42F3-8E4D-55B664712056}"/>
              </a:ext>
            </a:extLst>
          </p:cNvPr>
          <p:cNvSpPr txBox="1"/>
          <p:nvPr/>
        </p:nvSpPr>
        <p:spPr>
          <a:xfrm>
            <a:off x="535577" y="1959429"/>
            <a:ext cx="11234057" cy="1859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0385" indent="-269875" algn="l">
              <a:lnSpc>
                <a:spcPct val="150000"/>
              </a:lnSpc>
              <a:spcBef>
                <a:spcPts val="1300"/>
              </a:spcBef>
              <a:spcAft>
                <a:spcPts val="300"/>
              </a:spcAft>
              <a:tabLst>
                <a:tab pos="152400" algn="r"/>
                <a:tab pos="449580" algn="l"/>
              </a:tabLst>
            </a:pPr>
            <a:r>
              <a:rPr lang="fr-CA" dirty="0"/>
              <a:t>a)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Déterminez la probabilité qu’un téléviseur de cette marque choisi au hasard dure entre 6 ans et 10 ans.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indent="-269875" algn="l">
              <a:lnSpc>
                <a:spcPct val="150000"/>
              </a:lnSpc>
              <a:spcBef>
                <a:spcPts val="1300"/>
              </a:spcBef>
              <a:spcAft>
                <a:spcPts val="300"/>
              </a:spcAft>
              <a:tabLst>
                <a:tab pos="152400" algn="r"/>
                <a:tab pos="449580" algn="l"/>
              </a:tabLst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	Si on sélectionne au hasard 20 téléviseurs de cette marque, quelle est la probabilité qu’au moins 12 d’entre eux durent entre 6 ans et 10 ans ?</a:t>
            </a:r>
            <a:endParaRPr lang="fr-CA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E6952E9B-2B71-49E9-B5FF-A09BF80E6DFC}"/>
                  </a:ext>
                </a:extLst>
              </p:cNvPr>
              <p:cNvSpPr txBox="1"/>
              <p:nvPr/>
            </p:nvSpPr>
            <p:spPr>
              <a:xfrm>
                <a:off x="1384663" y="3818912"/>
                <a:ext cx="9969137" cy="1924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Réponse:</a:t>
                </a:r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&lt;10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ctrlPr>
                              <a:rPr lang="fr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fr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fr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/15</m:t>
                                </m:r>
                              </m:sup>
                            </m:sSup>
                          </m:num>
                          <m:den>
                            <m:r>
                              <a:rPr lang="fr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−6/15</m:t>
                            </m:r>
                          </m:sup>
                        </m:sSup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fr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sup>
                        </m:sSup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=0,1569=</m:t>
                        </m:r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</m:oMath>
                </a14:m>
                <a:endParaRPr lang="fr-CA" dirty="0"/>
              </a:p>
              <a:p>
                <a:pPr marL="342900" indent="-342900">
                  <a:buAutoNum type="alphaLcParenR"/>
                </a:pPr>
                <a:r>
                  <a:rPr lang="fr-CA" dirty="0"/>
                  <a:t>Si on pose Y= le nombre de téléviseurs qui durent entre 6 et 10 ans parmi les 20 choisis. Y est une variable Binomiale avec n=20 et p=0,1569. On veut calculer:</a:t>
                </a:r>
              </a:p>
              <a:p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≥12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≤11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  1−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𝑝𝑏𝑖𝑛𝑜𝑚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11,20,0.1569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𝑞𝑢𝑖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𝑑𝑜𝑛𝑛𝑒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CA" b="0" dirty="0">
                    <a:ea typeface="Cambria Math" panose="02040503050406030204" pitchFamily="18" charset="0"/>
                  </a:rPr>
                  <a:t> 0,000008</a:t>
                </a: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E6952E9B-2B71-49E9-B5FF-A09BF80E6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663" y="3818912"/>
                <a:ext cx="9969137" cy="1924116"/>
              </a:xfrm>
              <a:prstGeom prst="rect">
                <a:avLst/>
              </a:prstGeom>
              <a:blipFill>
                <a:blip r:embed="rId3"/>
                <a:stretch>
                  <a:fillRect l="-489" t="-158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539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700721-D346-45C0-8FCB-5418ED27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Espérance mathématique 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407D1B-DD59-4CA7-954E-BC816781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D3AD1F-EEA6-4C95-B6F1-F5FD3DB0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7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6CF297-DA9E-451D-86F1-B0848F7B541E}"/>
              </a:ext>
            </a:extLst>
          </p:cNvPr>
          <p:cNvSpPr txBox="1"/>
          <p:nvPr/>
        </p:nvSpPr>
        <p:spPr>
          <a:xfrm>
            <a:off x="1058091" y="1841863"/>
            <a:ext cx="10295709" cy="4271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E822C763-21C4-4857-A5D2-439346DDEC99}"/>
                  </a:ext>
                </a:extLst>
              </p:cNvPr>
              <p:cNvSpPr txBox="1"/>
              <p:nvPr/>
            </p:nvSpPr>
            <p:spPr>
              <a:xfrm>
                <a:off x="1058091" y="1841863"/>
                <a:ext cx="10295709" cy="422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Soit X une V.A.C, on appelle espérance mathématique , la quantité: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𝑥𝑓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Exemple 1</a:t>
                </a:r>
                <a:r>
                  <a:rPr lang="fr-CA" dirty="0"/>
                  <a:t>: Si on reprend la variable de l’exemple A.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𝑥𝑓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CA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CA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Ce qui logique car la fonction densité est symétrique par rapport à 1.</a:t>
                </a:r>
              </a:p>
              <a:p>
                <a:endParaRPr lang="fr-CA" dirty="0"/>
              </a:p>
              <a:p>
                <a:r>
                  <a:rPr lang="fr-CA" b="1" dirty="0"/>
                  <a:t>Exemple 2:</a:t>
                </a:r>
                <a:r>
                  <a:rPr lang="fr-CA" dirty="0"/>
                  <a:t> Si on reprend la variable de l’exemple B, calculer l’espérance de X.</a:t>
                </a:r>
              </a:p>
              <a:p>
                <a:endParaRPr lang="fr-CA" dirty="0"/>
              </a:p>
              <a:p>
                <a:r>
                  <a:rPr lang="fr-CA" dirty="0"/>
                  <a:t>Réponse: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𝑥𝑓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fr-CA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𝑥𝑐𝑜𝑠𝑥𝑑𝑥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 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𝑎𝑝𝑟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è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𝑢𝑛𝑒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𝑖𝑛𝑡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𝑔𝑟𝑎𝑡𝑖𝑜𝑛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𝑝𝑎𝑟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𝑝𝑎𝑟𝑡𝑖𝑒𝑠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E822C763-21C4-4857-A5D2-439346DDE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091" y="1841863"/>
                <a:ext cx="10295709" cy="4226926"/>
              </a:xfrm>
              <a:prstGeom prst="rect">
                <a:avLst/>
              </a:prstGeom>
              <a:blipFill>
                <a:blip r:embed="rId2"/>
                <a:stretch>
                  <a:fillRect l="-533" t="-720" b="-1743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805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DD2E2C96-30DE-4828-881A-B6B35341FBF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CA" dirty="0"/>
                  <a:t>On peut aussi calculer l’espérance de n’importe quelle variable Y=g(X)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DD2E2C96-30DE-4828-881A-B6B35341F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CAEA61-F411-40CE-BB04-589FE881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3968B3-783D-48ED-86F8-6C6A2FD62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8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58D0DAE-47DD-44BC-A4E7-9F5BDDD515FA}"/>
                  </a:ext>
                </a:extLst>
              </p:cNvPr>
              <p:cNvSpPr txBox="1"/>
              <p:nvPr/>
            </p:nvSpPr>
            <p:spPr>
              <a:xfrm>
                <a:off x="1071154" y="2037806"/>
                <a:ext cx="10019212" cy="2986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En posant que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Exemple1:</a:t>
                </a:r>
                <a:r>
                  <a:rPr lang="fr-CA" dirty="0"/>
                  <a:t> Si on reprend les données de l’exemple B, calculer l’espérance de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CA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Réponse:</a:t>
                </a:r>
                <a:r>
                  <a:rPr lang="fr-CA" dirty="0"/>
                  <a:t>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unc>
                          <m:func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CA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CA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𝑠𝑖𝑛𝑥𝑐𝑜𝑠𝑥𝑑𝑥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/2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fr-CA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⁡(2</m:t>
                                    </m:r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Exemple 2: </a:t>
                </a:r>
                <a:r>
                  <a:rPr lang="fr-CA" dirty="0"/>
                  <a:t>Si on reprend la variable de l’exemple A, calculer l’espérance de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Réponse:  </a:t>
                </a:r>
                <a14:m>
                  <m:oMath xmlns:m="http://schemas.openxmlformats.org/officeDocument/2006/math">
                    <m:r>
                      <a:rPr lang="fr-CA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fr-CA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fr-CA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fr-CA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rad>
                        <m:sSub>
                          <m:sSubPr>
                            <m:ctrlPr>
                              <a:rPr lang="fr-CA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CA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d>
                          <m:dPr>
                            <m:ctrlPr>
                              <a:rPr lang="fr-CA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fr-CA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  <m:r>
                          <a:rPr lang="fr-CA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fr-CA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CA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fr-CA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fr-CA" b="1" i="1" smtClean="0">
                                <a:latin typeface="Cambria Math" panose="02040503050406030204" pitchFamily="18" charset="0"/>
                              </a:rPr>
                              <m:t>𝒅𝒙</m:t>
                            </m:r>
                            <m:r>
                              <a:rPr lang="fr-CA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trlP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fr-CA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CA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fr-CA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sup>
                                </m:sSup>
                                <m:d>
                                  <m:dPr>
                                    <m:ctrlP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𝒅𝒙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fr-CA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𝟓𝟕𝟓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CA" b="1" i="1" smtClean="0">
                                    <a:latin typeface="Cambria Math" panose="02040503050406030204" pitchFamily="18" charset="0"/>
                                  </a:rPr>
                                  <m:t>𝟗𝟕𝟓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fr-CA" b="1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58D0DAE-47DD-44BC-A4E7-9F5BDDD51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154" y="2037806"/>
                <a:ext cx="10019212" cy="2986202"/>
              </a:xfrm>
              <a:prstGeom prst="rect">
                <a:avLst/>
              </a:prstGeom>
              <a:blipFill>
                <a:blip r:embed="rId3"/>
                <a:stretch>
                  <a:fillRect l="-548" t="-16735" b="-102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43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B6672-D268-48FF-87E5-95D08FBE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L’écart type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4ED0C25-2458-49FC-980F-ECFC74FB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E750BD-E0CC-4087-A891-9FA1DD5D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F774D22-66FB-4772-83AF-A79FE0FA50D4}"/>
                  </a:ext>
                </a:extLst>
              </p:cNvPr>
              <p:cNvSpPr txBox="1"/>
              <p:nvPr/>
            </p:nvSpPr>
            <p:spPr>
              <a:xfrm>
                <a:off x="1162594" y="1690688"/>
                <a:ext cx="10398035" cy="4347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appelle variance de X, la quantité: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Avec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fr-CA" dirty="0"/>
                  <a:t>  et on appelle l’écart type de X, la quantité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Exemple 1</a:t>
                </a:r>
                <a:r>
                  <a:rPr lang="fr-CA" dirty="0"/>
                  <a:t>: Si on reprend la variable de l’exemple A, calculer l’écart type de X.</a:t>
                </a:r>
              </a:p>
              <a:p>
                <a:endParaRPr lang="fr-CA" dirty="0"/>
              </a:p>
              <a:p>
                <a:r>
                  <a:rPr lang="fr-CA" b="1" dirty="0"/>
                  <a:t>Réponse:</a:t>
                </a:r>
                <a14:m>
                  <m:oMath xmlns:m="http://schemas.openxmlformats.org/officeDocument/2006/math">
                    <m:r>
                      <a:rPr lang="fr-CA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fr-CA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nary>
                      </m:e>
                    </m:nary>
                  </m:oMath>
                </a14:m>
                <a:endParaRPr lang="fr-CA" dirty="0"/>
              </a:p>
              <a:p>
                <a:r>
                  <a:rPr lang="fr-CA" dirty="0"/>
                  <a:t>Et alors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fr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CA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fr-CA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endParaRPr lang="fr-CA" dirty="0"/>
              </a:p>
              <a:p>
                <a:r>
                  <a:rPr lang="fr-CA" b="1" dirty="0"/>
                  <a:t>Exemple 2: </a:t>
                </a:r>
                <a:r>
                  <a:rPr lang="fr-CA" dirty="0"/>
                  <a:t>Si on reprend la variable de l’exemple B, calculer l’écart type de X.</a:t>
                </a:r>
              </a:p>
              <a:p>
                <a:endParaRPr lang="fr-CA" dirty="0"/>
              </a:p>
              <a:p>
                <a:r>
                  <a:rPr lang="fr-CA" b="1" dirty="0"/>
                  <a:t>Réponse</a:t>
                </a:r>
                <a:r>
                  <a:rPr lang="fr-CA" dirty="0"/>
                  <a:t>: 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fr-CA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CA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fr-CA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p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𝑐𝑜𝑠𝑥𝑑𝑥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nary>
                  </m:oMath>
                </a14:m>
                <a:r>
                  <a:rPr lang="fr-CA" dirty="0"/>
                  <a:t> et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fr-CA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fr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A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CA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CA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fr-CA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−3→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e>
                      </m:rad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F774D22-66FB-4772-83AF-A79FE0FA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594" y="1690688"/>
                <a:ext cx="10398035" cy="4347793"/>
              </a:xfrm>
              <a:prstGeom prst="rect">
                <a:avLst/>
              </a:prstGeom>
              <a:blipFill>
                <a:blip r:embed="rId2"/>
                <a:stretch>
                  <a:fillRect l="-528" t="-70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43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788E91CD-85F2-4399-96BE-10DC8F31888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489801"/>
              </a:xfrm>
            </p:spPr>
            <p:txBody>
              <a:bodyPr>
                <a:normAutofit fontScale="90000"/>
              </a:bodyPr>
              <a:lstStyle/>
              <a:p>
                <a:r>
                  <a:rPr lang="fr-CA" b="1" dirty="0"/>
                  <a:t>Théorème 1:</a:t>
                </a:r>
                <a:r>
                  <a:rPr lang="fr-CA" dirty="0"/>
                  <a:t> Soient 2 variables aléatoires continues. dont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fr-CA" dirty="0"/>
                  <a:t>est la fonction densité conjointe</a:t>
                </a:r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788E91CD-85F2-4399-96BE-10DC8F3188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489801"/>
              </a:xfrm>
              <a:blipFill>
                <a:blip r:embed="rId2"/>
                <a:stretch>
                  <a:fillRect l="-2087" t="-21721" b="-2786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21EA70-3A6B-4001-B07B-4BD21148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55C95A-FB74-41AB-B085-55CDA835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10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EFC6E04-981F-4D01-8C88-7518A853162C}"/>
                  </a:ext>
                </a:extLst>
              </p:cNvPr>
              <p:cNvSpPr txBox="1"/>
              <p:nvPr/>
            </p:nvSpPr>
            <p:spPr>
              <a:xfrm>
                <a:off x="992777" y="1985554"/>
                <a:ext cx="10361023" cy="3426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appelle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fonction densité conjointe des probabilités du couple (X, Y).</a:t>
                </a:r>
                <a:endParaRPr lang="fr-CA" dirty="0"/>
              </a:p>
              <a:p>
                <a:endParaRPr lang="fr-CA" dirty="0"/>
              </a:p>
              <a:p>
                <a:pPr lvl="0" algn="just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fr-C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fr-C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𝑋</m:t>
                              </m:r>
                              <m:r>
                                <a:rPr lang="fr-C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fr-C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𝑌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  <m: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</m:d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≥0 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𝑝𝑜𝑢𝑟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𝑡𝑜𝑢𝑡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𝑐𝑜𝑢𝑝𝑙𝑒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 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é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𝑒𝑙</m:t>
                      </m:r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d>
                        <m:dPr>
                          <m:ctrlP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  <m: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𝑦</m:t>
                          </m:r>
                        </m:e>
                      </m:d>
                      <m:r>
                        <a:rPr lang="fr-C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.</m:t>
                      </m:r>
                    </m:oMath>
                  </m:oMathPara>
                </a14:m>
                <a:endParaRPr lang="fr-CA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lvl="0"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CA" sz="1800" dirty="0">
                    <a:effectLst/>
                    <a:ea typeface="Calibri" panose="020F0502020204030204" pitchFamily="34" charset="0"/>
                  </a:rPr>
                  <a:t>                                  et        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−∞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+∞</m:t>
                        </m:r>
                      </m:sup>
                      <m:e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𝑓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𝑋</m:t>
                                    </m:r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,</m:t>
                                    </m:r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𝑌</m:t>
                                    </m:r>
                                  </m:e>
                                </m:d>
                              </m:sub>
                            </m:sSub>
                          </m:e>
                        </m:nary>
                      </m:e>
                    </m:nary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𝑑𝑥𝑑𝑦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fr-C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fonction densité marginale de X, la fonction: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d>
                              <m:d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fonction densité marginale de Y, la fonction: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d>
                              <m:d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Ces 2 variables sont dites indépendantes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𝑡𝑜𝑢𝑡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𝑐𝑜𝑢𝑝𝑙𝑒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é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EFC6E04-981F-4D01-8C88-7518A8531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777" y="1985554"/>
                <a:ext cx="10361023" cy="3426579"/>
              </a:xfrm>
              <a:prstGeom prst="rect">
                <a:avLst/>
              </a:prstGeom>
              <a:blipFill>
                <a:blip r:embed="rId3"/>
                <a:stretch>
                  <a:fillRect l="-529" t="-1068" b="-1387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011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75D8B0E-63A0-4987-BB12-65255F1017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31074" y="587829"/>
                <a:ext cx="11142617" cy="2299062"/>
              </a:xfrm>
            </p:spPr>
            <p:txBody>
              <a:bodyPr>
                <a:normAutofit fontScale="90000"/>
              </a:bodyPr>
              <a:lstStyle/>
              <a:p>
                <a:pPr algn="just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fr-CA" dirty="0"/>
                  <a:t>Exemple 1: </a:t>
                </a: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Soient deux variables aléatoires continues X et Y admettant comme </a:t>
                </a:r>
                <a:b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distribution conjointe de probabilité :</a:t>
                </a:r>
                <a:br>
                  <a:rPr lang="fr-C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fr-C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fr-CA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&gt;0  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𝑒𝑡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0&lt;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&lt;1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0           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𝑎𝑖𝑙𝑙𝑒𝑢𝑟𝑠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fr-C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fr-C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(a) </a:t>
                </a: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Déterminer la constante k.</a:t>
                </a:r>
                <a:b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(b)  Déterminer les fonctions densité marginales de X et de Y.</a:t>
                </a:r>
                <a:b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(c) Que peut-on dire sur l’indépendance de ces deux variables ?</a:t>
                </a:r>
                <a:b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75D8B0E-63A0-4987-BB12-65255F101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31074" y="587829"/>
                <a:ext cx="11142617" cy="2299062"/>
              </a:xfrm>
              <a:blipFill>
                <a:blip r:embed="rId2"/>
                <a:stretch>
                  <a:fillRect l="-1969" t="-34656" r="-274" b="-502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479C58-03A5-4ABD-B6B1-7D56E4C9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C715B5-78DF-436A-B74A-E1033B3B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26E4B38B-9671-43B6-A124-E76B5824CEBA}"/>
                  </a:ext>
                </a:extLst>
              </p:cNvPr>
              <p:cNvSpPr txBox="1"/>
              <p:nvPr/>
            </p:nvSpPr>
            <p:spPr>
              <a:xfrm>
                <a:off x="809897" y="3108960"/>
                <a:ext cx="11025052" cy="3653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b="1" dirty="0"/>
                  <a:t>Réponse: </a:t>
                </a:r>
              </a:p>
              <a:p>
                <a:pPr marL="342900" lvl="0" indent="-342900" algn="l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Both"/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La constante k  doit être positive et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−∞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+∞</m:t>
                        </m:r>
                      </m:sup>
                      <m:e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𝑓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𝑋</m:t>
                                    </m:r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,</m:t>
                                    </m:r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𝑌</m:t>
                                    </m:r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𝑑𝑥𝑑𝑦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=1</m:t>
                            </m:r>
                          </m:e>
                        </m:nary>
                      </m:e>
                    </m:nary>
                  </m:oMath>
                </a14:m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ce qui donne </a:t>
                </a:r>
                <a14:m>
                  <m:oMath xmlns:m="http://schemas.openxmlformats.org/officeDocument/2006/math"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+∞</m:t>
                        </m:r>
                      </m:sup>
                      <m:e>
                        <m:sSup>
                          <m:sSup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sup>
                        </m:s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𝑑𝑥</m:t>
                        </m:r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p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𝑦𝑑𝑦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</m:e>
                    </m:nary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   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𝑑𝑜𝑛𝑐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=2</m:t>
                    </m:r>
                  </m:oMath>
                </a14:m>
                <a:endParaRPr lang="fr-CA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342900" lvl="0" indent="-342900" algn="l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Both"/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La fonction marginale de X 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−∞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d>
                              <m:d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𝑋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𝑌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</m:e>
                        </m:d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𝑑𝑦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=2</m:t>
                        </m:r>
                        <m:sSup>
                          <m:sSup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sup>
                        </m:sSup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p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𝑦𝑑𝑦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−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   </m:t>
                                </m:r>
                              </m:sup>
                            </m:s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 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𝑝𝑜𝑢𝑟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&gt;0 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𝑒𝑡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0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𝑠𝑖𝑛𝑜𝑛</m:t>
                            </m:r>
                          </m:e>
                        </m:nary>
                      </m:e>
                    </m:nary>
                  </m:oMath>
                </a14:m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La fonction marginale de Y 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−∞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d>
                              <m:d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=2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=2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𝑝𝑜𝑢𝑟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0&lt;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&lt;1  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𝑒𝑡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0 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𝑠𝑖𝑛𝑜𝑛</m:t>
                            </m:r>
                          </m:e>
                        </m:nary>
                      </m:e>
                    </m:nary>
                  </m:oMath>
                </a14:m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fr-CA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l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(c) On a bien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d>
                          <m:d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𝑋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𝑌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∗</m:t>
                    </m:r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  </m:t>
                    </m:r>
                  </m:oMath>
                </a14:m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donc ces deux variables sont indépendantes.</a:t>
                </a: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26E4B38B-9671-43B6-A124-E76B5824C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97" y="3108960"/>
                <a:ext cx="11025052" cy="3653436"/>
              </a:xfrm>
              <a:prstGeom prst="rect">
                <a:avLst/>
              </a:prstGeom>
              <a:blipFill>
                <a:blip r:embed="rId3"/>
                <a:stretch>
                  <a:fillRect l="-498" t="-183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08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C1E9100B-9FA7-475C-9401-C3CA736E94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78823"/>
                <a:ext cx="10515600" cy="2495006"/>
              </a:xfrm>
            </p:spPr>
            <p:txBody>
              <a:bodyPr>
                <a:normAutofit fontScale="90000"/>
              </a:bodyPr>
              <a:lstStyle/>
              <a:p>
                <a:pPr algn="just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fr-CA" dirty="0"/>
                  <a:t>Exemple 2: </a:t>
                </a: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Soient deux variables aléatoires continues X et Y admettant comme distribution conjointe de probabilité :</a:t>
                </a:r>
                <a:br>
                  <a:rPr lang="fr-C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fr-C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CA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CA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𝑘𝑥</m:t>
                              </m:r>
                              <m:sSup>
                                <m:sSupPr>
                                  <m:ctrlPr>
                                    <a:rPr lang="fr-CA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𝑠𝑖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0&lt;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&lt;1        </m:t>
                              </m:r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0               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𝑎𝑖𝑙𝑙𝑒𝑢𝑟𝑠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fr-C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fr-CA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(a) </a:t>
                </a: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Déterminer la constante k.</a:t>
                </a:r>
                <a:b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(b) Déterminer les fonctions densité marginales de X et de Y.</a:t>
                </a:r>
                <a:b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(c) Que peut-on dire sur l’indépendance de ces deux variables ?</a:t>
                </a:r>
                <a:b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C1E9100B-9FA7-475C-9401-C3CA736E94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78823"/>
                <a:ext cx="10515600" cy="2495006"/>
              </a:xfrm>
              <a:blipFill>
                <a:blip r:embed="rId2"/>
                <a:stretch>
                  <a:fillRect l="-2087" t="-28117" r="-290" b="-97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CB52DD-EA39-455B-B202-9D66707A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E4384B-C18A-45BE-B213-5A2EA17C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12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595C42D-FED6-4726-937E-C0E10E17BD64}"/>
                  </a:ext>
                </a:extLst>
              </p:cNvPr>
              <p:cNvSpPr txBox="1"/>
              <p:nvPr/>
            </p:nvSpPr>
            <p:spPr>
              <a:xfrm>
                <a:off x="0" y="3252651"/>
                <a:ext cx="12192000" cy="3709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Réponse: </a:t>
                </a:r>
              </a:p>
              <a:p>
                <a:pPr marL="342900" lvl="0" indent="-342900" algn="l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Both"/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La constante k  doit être positive et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−∞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+∞</m:t>
                        </m:r>
                      </m:sup>
                      <m:e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𝑓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𝑋</m:t>
                                    </m:r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,</m:t>
                                    </m:r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𝑌</m:t>
                                    </m:r>
                                  </m:e>
                                </m:d>
                              </m:sub>
                            </m:sSub>
                            <m:d>
                              <m:d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𝑑𝑥𝑑𝑦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=1</m:t>
                            </m:r>
                          </m:e>
                        </m:nary>
                      </m:e>
                    </m:nary>
                  </m:oMath>
                </a14:m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ce qui donne </a:t>
                </a:r>
                <a14:m>
                  <m:oMath xmlns:m="http://schemas.openxmlformats.org/officeDocument/2006/math"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p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𝑑𝑦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  <m:nary>
                              <m:naryPr>
                                <m:limLoc m:val="subSup"/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naryPr>
                              <m:sub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nary>
                          </m:e>
                        </m:nary>
                      </m:e>
                    </m:nary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f>
                      <m:f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𝑑𝑥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num>
                      <m:den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10</m:t>
                        </m:r>
                      </m:den>
                    </m:f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   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𝑑𝑜𝑛𝑐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=10.</m:t>
                    </m:r>
                  </m:oMath>
                </a14:m>
                <a:endParaRPr lang="fr-CA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342900" lvl="0" indent="-342900" algn="l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Both"/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La fonction marginale de X 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−∞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d>
                              <m:d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𝑋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𝑌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</m:e>
                        </m:d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𝑑𝑦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=10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𝑑𝑦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fr-CA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𝑝𝑜𝑢𝑟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0&lt;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&lt;1 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𝑒𝑡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0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𝑠𝑖𝑛𝑜𝑛</m:t>
                            </m:r>
                          </m:e>
                        </m:nary>
                      </m:e>
                    </m:nary>
                  </m:oMath>
                </a14:m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La fonction marginale de Y 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−∞</m:t>
                        </m:r>
                      </m:sub>
                      <m:sup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+∞</m:t>
                        </m:r>
                      </m:sup>
                      <m:e>
                        <m:sSub>
                          <m:sSub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𝑓</m:t>
                            </m:r>
                          </m:e>
                          <m:sub>
                            <m:d>
                              <m:d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𝑋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𝑌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</m:e>
                        </m:d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𝑑𝑥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=10</m:t>
                        </m:r>
                        <m:sSup>
                          <m:sSup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  <m:nary>
                          <m:naryPr>
                            <m:limLoc m:val="subSup"/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</m:sup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𝑥𝑑𝑥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=5</m:t>
                            </m:r>
                            <m:sSup>
                              <m:sSupPr>
                                <m:ctrlP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fr-CA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  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𝑝𝑜𝑢𝑟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0&lt;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𝑦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&lt;1 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𝑒𝑡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 0 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𝑠𝑖𝑛𝑜𝑛</m:t>
                            </m:r>
                          </m:e>
                        </m:nary>
                      </m:e>
                    </m:nary>
                  </m:oMath>
                </a14:m>
                <a:endParaRPr lang="fr-CA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lphaLcParenBoth"/>
                </a:pPr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Ici on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d>
                          <m:dPr>
                            <m:ctrlP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𝑋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,</m:t>
                            </m:r>
                            <m:r>
                              <a:rPr lang="fr-CA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𝑌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</m:t>
                    </m:r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fr-CA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∗</m:t>
                    </m:r>
                    <m:sSub>
                      <m:sSub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fr-CA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fr-CA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donc ces deux variables sont dépendantes.</a:t>
                </a: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3595C42D-FED6-4726-937E-C0E10E17B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52651"/>
                <a:ext cx="12192000" cy="3709029"/>
              </a:xfrm>
              <a:prstGeom prst="rect">
                <a:avLst/>
              </a:prstGeom>
              <a:blipFill>
                <a:blip r:embed="rId3"/>
                <a:stretch>
                  <a:fillRect l="-400" t="-98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320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1010</Words>
  <Application>Microsoft Office PowerPoint</Application>
  <PresentationFormat>Grand écran</PresentationFormat>
  <Paragraphs>100</Paragraphs>
  <Slides>12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Equation.DSMT4</vt:lpstr>
      <vt:lpstr>Les variables aléatoires continues</vt:lpstr>
      <vt:lpstr>Exemple B:  Soit X, une V.A.C telle que sa f.d.p est</vt:lpstr>
      <vt:lpstr>Fonction cumulative des probabilités.</vt:lpstr>
      <vt:lpstr>Exemple 2: Si on reprend l’exemple B précédent.</vt:lpstr>
      <vt:lpstr>Calcul des probabilités sur une V.A.C</vt:lpstr>
      <vt:lpstr>Exemple: La durée de vie (en années) d’une marque de téléviseur suit une loi continue dont la fonction densité de probabilité est : f_X (x)={█(e^(-x/15)/15      pour x&gt;0@0      sinon)┤  </vt:lpstr>
      <vt:lpstr>Espérance mathématique  </vt:lpstr>
      <vt:lpstr>On peut aussi calculer l’espérance de n’importe quelle variable Y=g(X) </vt:lpstr>
      <vt:lpstr>L’écart type</vt:lpstr>
      <vt:lpstr>Théorème 1: Soient 2 variables aléatoires continues. dont f_((X,Y))est la fonction densité conjointe</vt:lpstr>
      <vt:lpstr>Exemple 1: Soient deux variables aléatoires continues X et Y admettant comme  distribution conjointe de probabilité : f_((X,Y) ) (x,y)={█(ke^(-x) y          si  x&gt;0   et  0&lt;y&lt;1@0           ailleurs                            )┤ (a) Déterminer la constante k. (b)  Déterminer les fonctions densité marginales de X et de Y. (c) Que peut-on dire sur l’indépendance de ces deux variables ? </vt:lpstr>
      <vt:lpstr>Exemple 2: Soient deux variables aléatoires continues X et Y admettant comme distribution conjointe de probabilité : f_((X,Y) ) (x,y)={█(kxy^2           si  0&lt;x&lt;y&lt;1        @0               ailleurs                            )┤ (a) Déterminer la constante k. (b) Déterminer les fonctions densité marginales de X et de Y. (c) Que peut-on dire sur l’indépendance de ces deux variables 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variables aléatoires continues</dc:title>
  <dc:creator>Mhammed Mountassir</dc:creator>
  <cp:lastModifiedBy>Mhammed Mountassir</cp:lastModifiedBy>
  <cp:revision>15</cp:revision>
  <dcterms:created xsi:type="dcterms:W3CDTF">2020-09-30T12:25:50Z</dcterms:created>
  <dcterms:modified xsi:type="dcterms:W3CDTF">2021-09-29T19:37:25Z</dcterms:modified>
</cp:coreProperties>
</file>