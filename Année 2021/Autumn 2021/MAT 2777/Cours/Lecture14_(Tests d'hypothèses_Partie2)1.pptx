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7" r:id="rId11"/>
    <p:sldId id="270" r:id="rId12"/>
    <p:sldId id="268"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44" autoAdjust="0"/>
    <p:restoredTop sz="86957" autoAdjust="0"/>
  </p:normalViewPr>
  <p:slideViewPr>
    <p:cSldViewPr snapToGrid="0">
      <p:cViewPr varScale="1">
        <p:scale>
          <a:sx n="71" d="100"/>
          <a:sy n="71" d="100"/>
        </p:scale>
        <p:origin x="42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A88AB8-1C01-41DC-AFCA-28305AC61B27}" type="datetimeFigureOut">
              <a:rPr lang="fr-CA" smtClean="0"/>
              <a:t>2021-11-11</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9F1DE7-72A5-40DE-843D-98ED1D33E9CB}" type="slidenum">
              <a:rPr lang="fr-CA" smtClean="0"/>
              <a:t>‹N°›</a:t>
            </a:fld>
            <a:endParaRPr lang="fr-CA"/>
          </a:p>
        </p:txBody>
      </p:sp>
    </p:spTree>
    <p:extLst>
      <p:ext uri="{BB962C8B-B14F-4D97-AF65-F5344CB8AC3E}">
        <p14:creationId xmlns:p14="http://schemas.microsoft.com/office/powerpoint/2010/main" val="711788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DEBCAADC-90C4-42A0-92DD-A3EB1E3F99BC}" type="datetime1">
              <a:rPr lang="fr-CA" smtClean="0"/>
              <a:t>2021-11-11</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971358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2FE81BE-FF7C-4713-86B5-98B3635F7575}" type="datetime1">
              <a:rPr lang="fr-CA" smtClean="0"/>
              <a:t>2021-11-11</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425666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307F1A6-A103-49CB-B28A-B5B8CE7CCF08}" type="datetime1">
              <a:rPr lang="fr-CA" smtClean="0"/>
              <a:t>2021-11-11</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818711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67FE57F-B680-462B-BBFD-7518F74AF714}" type="datetime1">
              <a:rPr lang="fr-CA" smtClean="0"/>
              <a:t>2021-11-11</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046219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91B3B4F-1CE8-448C-951A-2E287C7816DA}" type="datetime1">
              <a:rPr lang="fr-CA" smtClean="0"/>
              <a:t>2021-11-11</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474818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1F763F50-9144-44F9-A37F-D55A19808CF4}" type="datetime1">
              <a:rPr lang="fr-CA" smtClean="0"/>
              <a:t>2021-11-11</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937437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AB2447-19AC-45D2-83F5-5B12576F084D}" type="datetime1">
              <a:rPr lang="fr-CA" smtClean="0"/>
              <a:t>2021-11-11</a:t>
            </a:fld>
            <a:endParaRPr lang="fr-CA"/>
          </a:p>
        </p:txBody>
      </p:sp>
      <p:sp>
        <p:nvSpPr>
          <p:cNvPr id="3" name="Footer Placeholder 2"/>
          <p:cNvSpPr>
            <a:spLocks noGrp="1"/>
          </p:cNvSpPr>
          <p:nvPr>
            <p:ph type="ftr" sz="quarter" idx="11"/>
          </p:nvPr>
        </p:nvSpPr>
        <p:spPr/>
        <p:txBody>
          <a:bodyPr/>
          <a:lstStyle/>
          <a:p>
            <a:endParaRPr lang="fr-CA"/>
          </a:p>
        </p:txBody>
      </p:sp>
      <p:sp>
        <p:nvSpPr>
          <p:cNvPr id="4" name="Slide Number Placeholder 3"/>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059948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B17A9AF-12D3-47FA-A0D6-97746BB8E776}" type="datetime1">
              <a:rPr lang="fr-CA" smtClean="0"/>
              <a:t>2021-11-11</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331655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CF19D18-3682-4189-B23C-B8B496B3307C}" type="datetime1">
              <a:rPr lang="fr-CA" smtClean="0"/>
              <a:t>2021-11-11</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309409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6BEAFDA-2171-49C0-B449-3733417EA82F}" type="datetime1">
              <a:rPr lang="fr-CA" smtClean="0"/>
              <a:t>2021-11-11</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371225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9EBD924-29A3-4FF2-B149-61A5377F8882}" type="datetime1">
              <a:rPr lang="fr-CA" smtClean="0"/>
              <a:t>2021-11-11</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402387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418466-3607-4A57-8167-9FAB5784D41C}" type="datetime1">
              <a:rPr lang="fr-CA" smtClean="0"/>
              <a:t>2021-11-11</a:t>
            </a:fld>
            <a:endParaRPr lang="fr-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77AD9-CE17-438C-A638-C64D2D42D7CF}" type="slidenum">
              <a:rPr lang="fr-CA" smtClean="0"/>
              <a:t>‹N°›</a:t>
            </a:fld>
            <a:endParaRPr lang="fr-CA"/>
          </a:p>
        </p:txBody>
      </p:sp>
    </p:spTree>
    <p:extLst>
      <p:ext uri="{BB962C8B-B14F-4D97-AF65-F5344CB8AC3E}">
        <p14:creationId xmlns:p14="http://schemas.microsoft.com/office/powerpoint/2010/main" val="1533741373"/>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1.e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04E7C0-3684-41E1-B341-014455604DEC}"/>
              </a:ext>
            </a:extLst>
          </p:cNvPr>
          <p:cNvSpPr>
            <a:spLocks noGrp="1"/>
          </p:cNvSpPr>
          <p:nvPr>
            <p:ph type="title"/>
          </p:nvPr>
        </p:nvSpPr>
        <p:spPr/>
        <p:txBody>
          <a:bodyPr/>
          <a:lstStyle/>
          <a:p>
            <a:r>
              <a:rPr lang="fr-CA" b="1" dirty="0"/>
              <a:t>Tests d’hypothèses sur deux moyennes indépendantes.</a:t>
            </a:r>
          </a:p>
        </p:txBody>
      </p:sp>
      <p:sp>
        <p:nvSpPr>
          <p:cNvPr id="3" name="Espace réservé du pied de page 2">
            <a:extLst>
              <a:ext uri="{FF2B5EF4-FFF2-40B4-BE49-F238E27FC236}">
                <a16:creationId xmlns:a16="http://schemas.microsoft.com/office/drawing/2014/main" id="{742E433D-8954-4222-8541-F84A9116494B}"/>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FC3C8B6F-CB5E-4D17-80FB-32ABF9EC4EA0}"/>
              </a:ext>
            </a:extLst>
          </p:cNvPr>
          <p:cNvSpPr>
            <a:spLocks noGrp="1"/>
          </p:cNvSpPr>
          <p:nvPr>
            <p:ph type="sldNum" sz="quarter" idx="12"/>
          </p:nvPr>
        </p:nvSpPr>
        <p:spPr/>
        <p:txBody>
          <a:bodyPr/>
          <a:lstStyle/>
          <a:p>
            <a:fld id="{26377AD9-CE17-438C-A638-C64D2D42D7CF}" type="slidenum">
              <a:rPr lang="fr-CA" smtClean="0"/>
              <a:t>1</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170AFC9E-A1D3-44CA-9159-1FF92BB8E81B}"/>
                  </a:ext>
                </a:extLst>
              </p:cNvPr>
              <p:cNvSpPr txBox="1"/>
              <p:nvPr/>
            </p:nvSpPr>
            <p:spPr>
              <a:xfrm>
                <a:off x="1062318" y="2003612"/>
                <a:ext cx="10085294" cy="4532010"/>
              </a:xfrm>
              <a:prstGeom prst="rect">
                <a:avLst/>
              </a:prstGeom>
              <a:noFill/>
            </p:spPr>
            <p:txBody>
              <a:bodyPr wrap="square" rtlCol="0">
                <a:spAutoFit/>
              </a:bodyPr>
              <a:lstStyle/>
              <a:p>
                <a:r>
                  <a:rPr lang="fr-CA" dirty="0"/>
                  <a:t>Soient deux populations indépendantes sur lesquelles on mesure la même variable. Cette variable sera notée X dans la première population et Y dans la seconde population. On suppose que X a une moyenne </a:t>
                </a:r>
                <a14:m>
                  <m:oMath xmlns:m="http://schemas.openxmlformats.org/officeDocument/2006/math">
                    <m:sSub>
                      <m:sSubPr>
                        <m:ctrlPr>
                          <a:rPr lang="fr-CA" i="1" smtClean="0">
                            <a:latin typeface="Cambria Math" panose="02040503050406030204" pitchFamily="18" charset="0"/>
                          </a:rPr>
                        </m:ctrlPr>
                      </m:sSubPr>
                      <m:e>
                        <m:r>
                          <a:rPr lang="fr-CA"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r>
                          <a:rPr lang="fr-CA" b="0" i="1" smtClean="0">
                            <a:latin typeface="Cambria Math" panose="02040503050406030204" pitchFamily="18" charset="0"/>
                          </a:rPr>
                          <m:t>  </m:t>
                        </m:r>
                      </m:sub>
                    </m:sSub>
                    <m:r>
                      <a:rPr lang="fr-CA" b="0" i="1" smtClean="0">
                        <a:latin typeface="Cambria Math" panose="02040503050406030204" pitchFamily="18" charset="0"/>
                      </a:rPr>
                      <m:t>𝑒𝑠𝑡</m:t>
                    </m:r>
                    <m:r>
                      <a:rPr lang="fr-CA" b="0" i="1" smtClean="0">
                        <a:latin typeface="Cambria Math" panose="02040503050406030204" pitchFamily="18" charset="0"/>
                      </a:rPr>
                      <m:t> </m:t>
                    </m:r>
                    <m:r>
                      <a:rPr lang="fr-CA" b="0" i="1" smtClean="0">
                        <a:latin typeface="Cambria Math" panose="02040503050406030204" pitchFamily="18" charset="0"/>
                      </a:rPr>
                      <m:t>𝑢𝑛𝑒</m:t>
                    </m:r>
                    <m:r>
                      <a:rPr lang="fr-CA" b="0" i="1" smtClean="0">
                        <a:latin typeface="Cambria Math" panose="02040503050406030204" pitchFamily="18" charset="0"/>
                      </a:rPr>
                      <m:t> </m:t>
                    </m:r>
                    <m:r>
                      <a:rPr lang="fr-CA" b="0" i="1" smtClean="0">
                        <a:latin typeface="Cambria Math" panose="02040503050406030204" pitchFamily="18" charset="0"/>
                      </a:rPr>
                      <m:t>𝑣𝑎𝑟𝑖𝑎𝑛𝑐𝑒</m:t>
                    </m:r>
                    <m:r>
                      <a:rPr lang="fr-CA" b="0" i="1" smtClean="0">
                        <a:latin typeface="Cambria Math" panose="02040503050406030204" pitchFamily="18" charset="0"/>
                      </a:rPr>
                      <m:t>   </m:t>
                    </m:r>
                    <m:sSubSup>
                      <m:sSubSupPr>
                        <m:ctrlPr>
                          <a:rPr lang="fr-CA" b="0" i="1" smtClean="0">
                            <a:latin typeface="Cambria Math" panose="02040503050406030204" pitchFamily="18" charset="0"/>
                          </a:rPr>
                        </m:ctrlPr>
                      </m:sSubSupPr>
                      <m:e>
                        <m:r>
                          <a:rPr lang="fr-CA" b="0" i="1" smtClean="0">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rPr>
                          <m:t>𝑋</m:t>
                        </m:r>
                      </m:sub>
                      <m:sup>
                        <m:r>
                          <a:rPr lang="fr-CA" b="0" i="1" smtClean="0">
                            <a:latin typeface="Cambria Math" panose="02040503050406030204" pitchFamily="18" charset="0"/>
                          </a:rPr>
                          <m:t>2</m:t>
                        </m:r>
                      </m:sup>
                    </m:sSubSup>
                    <m:r>
                      <a:rPr lang="fr-CA" b="0" i="1" smtClean="0">
                        <a:latin typeface="Cambria Math" panose="02040503050406030204" pitchFamily="18" charset="0"/>
                      </a:rPr>
                      <m:t>    </m:t>
                    </m:r>
                  </m:oMath>
                </a14:m>
                <a:r>
                  <a:rPr lang="fr-CA" dirty="0"/>
                  <a:t>et que la variable Y a une moyenne </a:t>
                </a:r>
                <a14:m>
                  <m:oMath xmlns:m="http://schemas.openxmlformats.org/officeDocument/2006/math">
                    <m:sSub>
                      <m:sSubPr>
                        <m:ctrlPr>
                          <a:rPr lang="fr-CA" i="1">
                            <a:latin typeface="Cambria Math" panose="02040503050406030204" pitchFamily="18" charset="0"/>
                          </a:rPr>
                        </m:ctrlPr>
                      </m:sSubPr>
                      <m:e>
                        <m:r>
                          <a:rPr lang="fr-CA" i="1">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ea typeface="Cambria Math" panose="02040503050406030204" pitchFamily="18" charset="0"/>
                          </a:rPr>
                          <m:t>𝑌</m:t>
                        </m:r>
                        <m:r>
                          <a:rPr lang="fr-CA" i="1">
                            <a:latin typeface="Cambria Math" panose="02040503050406030204" pitchFamily="18" charset="0"/>
                          </a:rPr>
                          <m:t>  </m:t>
                        </m:r>
                      </m:sub>
                    </m:sSub>
                    <m:r>
                      <a:rPr lang="fr-CA" i="1">
                        <a:latin typeface="Cambria Math" panose="02040503050406030204" pitchFamily="18" charset="0"/>
                      </a:rPr>
                      <m:t>𝑒𝑠𝑡</m:t>
                    </m:r>
                    <m:r>
                      <a:rPr lang="fr-CA" i="1">
                        <a:latin typeface="Cambria Math" panose="02040503050406030204" pitchFamily="18" charset="0"/>
                      </a:rPr>
                      <m:t> </m:t>
                    </m:r>
                    <m:r>
                      <a:rPr lang="fr-CA" i="1">
                        <a:latin typeface="Cambria Math" panose="02040503050406030204" pitchFamily="18" charset="0"/>
                      </a:rPr>
                      <m:t>𝑢𝑛𝑒</m:t>
                    </m:r>
                    <m:r>
                      <a:rPr lang="fr-CA" i="1">
                        <a:latin typeface="Cambria Math" panose="02040503050406030204" pitchFamily="18" charset="0"/>
                      </a:rPr>
                      <m:t> </m:t>
                    </m:r>
                    <m:r>
                      <a:rPr lang="fr-CA" i="1">
                        <a:latin typeface="Cambria Math" panose="02040503050406030204" pitchFamily="18" charset="0"/>
                      </a:rPr>
                      <m:t>𝑣𝑎𝑟𝑖𝑎𝑛𝑐𝑒</m:t>
                    </m:r>
                    <m:r>
                      <a:rPr lang="fr-CA" i="1">
                        <a:latin typeface="Cambria Math" panose="02040503050406030204" pitchFamily="18" charset="0"/>
                      </a:rPr>
                      <m:t>   </m:t>
                    </m:r>
                    <m:sSubSup>
                      <m:sSubSupPr>
                        <m:ctrlPr>
                          <a:rPr lang="fr-CA" i="1">
                            <a:latin typeface="Cambria Math" panose="02040503050406030204" pitchFamily="18" charset="0"/>
                          </a:rPr>
                        </m:ctrlPr>
                      </m:sSubSupPr>
                      <m:e>
                        <m:r>
                          <a:rPr lang="fr-CA" i="1">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ea typeface="Cambria Math" panose="02040503050406030204" pitchFamily="18" charset="0"/>
                          </a:rPr>
                          <m:t>𝑌</m:t>
                        </m:r>
                      </m:sub>
                      <m:sup>
                        <m:r>
                          <a:rPr lang="fr-CA" i="1">
                            <a:latin typeface="Cambria Math" panose="02040503050406030204" pitchFamily="18" charset="0"/>
                          </a:rPr>
                          <m:t>2</m:t>
                        </m:r>
                      </m:sup>
                    </m:sSubSup>
                    <m:r>
                      <a:rPr lang="fr-CA" i="1">
                        <a:latin typeface="Cambria Math" panose="02040503050406030204" pitchFamily="18" charset="0"/>
                      </a:rPr>
                      <m:t> </m:t>
                    </m:r>
                  </m:oMath>
                </a14:m>
                <a:r>
                  <a:rPr lang="fr-CA" dirty="0"/>
                  <a:t> (toutes inconnues).</a:t>
                </a:r>
              </a:p>
              <a:p>
                <a:r>
                  <a:rPr lang="fr-CA" dirty="0"/>
                  <a:t>On veut tester une des hypothèses suivantes:</a:t>
                </a:r>
              </a:p>
              <a:p>
                <a:endParaRPr lang="fr-CA" dirty="0"/>
              </a:p>
              <a:p>
                <a:pPr marL="342900" indent="-342900">
                  <a:buFont typeface="+mj-lt"/>
                  <a:buAutoNum type="arabicPeriod"/>
                </a:pP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0</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𝑌</m:t>
                        </m:r>
                      </m:sub>
                    </m:sSub>
                    <m:r>
                      <a:rPr lang="fr-CA" b="0" i="1" smtClean="0">
                        <a:latin typeface="Cambria Math" panose="02040503050406030204" pitchFamily="18" charset="0"/>
                      </a:rPr>
                      <m:t>   </m:t>
                    </m:r>
                    <m:r>
                      <a:rPr lang="fr-CA" b="0" i="1" smtClean="0">
                        <a:latin typeface="Cambria Math" panose="02040503050406030204" pitchFamily="18" charset="0"/>
                      </a:rPr>
                      <m:t>𝑐𝑜𝑛𝑡𝑟𝑒</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sub>
                    </m:sSub>
                    <m:r>
                      <a:rPr lang="fr-CA" b="0" i="1" smtClean="0">
                        <a:latin typeface="Cambria Math" panose="02040503050406030204" pitchFamily="18" charset="0"/>
                        <a:ea typeface="Cambria Math" panose="02040503050406030204" pitchFamily="18" charset="0"/>
                      </a:rPr>
                      <m: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ea typeface="Cambria Math" panose="02040503050406030204" pitchFamily="18" charset="0"/>
                          </a:rPr>
                          <m:t>𝑌</m:t>
                        </m:r>
                      </m:sub>
                    </m:sSub>
                    <m:r>
                      <a:rPr lang="fr-CA" b="0" i="1" smtClean="0">
                        <a:latin typeface="Cambria Math" panose="02040503050406030204" pitchFamily="18" charset="0"/>
                        <a:ea typeface="Cambria Math" panose="02040503050406030204" pitchFamily="18" charset="0"/>
                      </a:rPr>
                      <m:t> </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𝐻𝑦𝑝𝑜𝑡h</m:t>
                        </m:r>
                        <m:r>
                          <a:rPr lang="fr-CA" b="0" i="1" smtClean="0">
                            <a:latin typeface="Cambria Math" panose="02040503050406030204" pitchFamily="18" charset="0"/>
                            <a:ea typeface="Cambria Math" panose="02040503050406030204" pitchFamily="18" charset="0"/>
                          </a:rPr>
                          <m:t>è</m:t>
                        </m:r>
                        <m:r>
                          <a:rPr lang="fr-CA" b="0" i="1" smtClean="0">
                            <a:latin typeface="Cambria Math" panose="02040503050406030204" pitchFamily="18" charset="0"/>
                            <a:ea typeface="Cambria Math" panose="02040503050406030204" pitchFamily="18" charset="0"/>
                          </a:rPr>
                          <m:t>𝑠𝑒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𝑏𝑖𝑙𝑎𝑡</m:t>
                        </m:r>
                        <m:r>
                          <a:rPr lang="fr-CA" b="0" i="1" smtClean="0">
                            <a:latin typeface="Cambria Math" panose="02040503050406030204" pitchFamily="18" charset="0"/>
                            <a:ea typeface="Cambria Math" panose="02040503050406030204" pitchFamily="18" charset="0"/>
                          </a:rPr>
                          <m:t>é</m:t>
                        </m:r>
                        <m:r>
                          <a:rPr lang="fr-CA" b="0" i="1" smtClean="0">
                            <a:latin typeface="Cambria Math" panose="02040503050406030204" pitchFamily="18" charset="0"/>
                            <a:ea typeface="Cambria Math" panose="02040503050406030204" pitchFamily="18" charset="0"/>
                          </a:rPr>
                          <m:t>𝑟𝑎𝑙𝑒</m:t>
                        </m:r>
                      </m:e>
                    </m:d>
                    <m:r>
                      <a:rPr lang="fr-CA" b="0" i="1" smtClean="0">
                        <a:latin typeface="Cambria Math" panose="02040503050406030204" pitchFamily="18" charset="0"/>
                        <a:ea typeface="Cambria Math" panose="02040503050406030204" pitchFamily="18" charset="0"/>
                      </a:rPr>
                      <m:t>.</m:t>
                    </m:r>
                  </m:oMath>
                </a14:m>
                <a:endParaRPr lang="fr-CA" dirty="0"/>
              </a:p>
              <a:p>
                <a:pPr marL="342900" indent="-342900">
                  <a:buFont typeface="+mj-lt"/>
                  <a:buAutoNum type="arabicPeriod"/>
                </a:pP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0</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𝑌</m:t>
                        </m:r>
                      </m:sub>
                    </m:sSub>
                    <m:r>
                      <a:rPr lang="fr-CA" b="0" i="1" smtClean="0">
                        <a:latin typeface="Cambria Math" panose="02040503050406030204" pitchFamily="18" charset="0"/>
                      </a:rPr>
                      <m:t>   </m:t>
                    </m:r>
                    <m:r>
                      <a:rPr lang="fr-CA" b="0" i="1" smtClean="0">
                        <a:latin typeface="Cambria Math" panose="02040503050406030204" pitchFamily="18" charset="0"/>
                      </a:rPr>
                      <m:t>𝑐𝑜𝑛𝑡𝑟𝑒</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sub>
                    </m:sSub>
                    <m:r>
                      <a:rPr lang="fr-CA" i="1">
                        <a:latin typeface="Cambria Math" panose="02040503050406030204" pitchFamily="18" charset="0"/>
                        <a:ea typeface="Cambria Math" panose="02040503050406030204" pitchFamily="18" charset="0"/>
                      </a:rPr>
                      <m:t>&gt;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ea typeface="Cambria Math" panose="02040503050406030204" pitchFamily="18" charset="0"/>
                          </a:rPr>
                          <m:t>𝑌</m:t>
                        </m:r>
                      </m:sub>
                    </m:sSub>
                    <m:r>
                      <a:rPr lang="fr-CA" b="0" i="1" smtClean="0">
                        <a:latin typeface="Cambria Math" panose="02040503050406030204" pitchFamily="18" charset="0"/>
                        <a:ea typeface="Cambria Math" panose="02040503050406030204" pitchFamily="18" charset="0"/>
                      </a:rPr>
                      <m:t> </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𝐻𝑦𝑝𝑜𝑡h</m:t>
                        </m:r>
                        <m:r>
                          <a:rPr lang="fr-CA" b="0" i="1" smtClean="0">
                            <a:latin typeface="Cambria Math" panose="02040503050406030204" pitchFamily="18" charset="0"/>
                            <a:ea typeface="Cambria Math" panose="02040503050406030204" pitchFamily="18" charset="0"/>
                          </a:rPr>
                          <m:t>è</m:t>
                        </m:r>
                        <m:r>
                          <a:rPr lang="fr-CA" b="0" i="1" smtClean="0">
                            <a:latin typeface="Cambria Math" panose="02040503050406030204" pitchFamily="18" charset="0"/>
                            <a:ea typeface="Cambria Math" panose="02040503050406030204" pitchFamily="18" charset="0"/>
                          </a:rPr>
                          <m:t>𝑠𝑒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𝑢𝑛𝑖𝑙𝑎𝑡</m:t>
                        </m:r>
                        <m:r>
                          <a:rPr lang="fr-CA" b="0" i="1" smtClean="0">
                            <a:latin typeface="Cambria Math" panose="02040503050406030204" pitchFamily="18" charset="0"/>
                            <a:ea typeface="Cambria Math" panose="02040503050406030204" pitchFamily="18" charset="0"/>
                          </a:rPr>
                          <m:t>é</m:t>
                        </m:r>
                        <m:r>
                          <a:rPr lang="fr-CA" b="0" i="1" smtClean="0">
                            <a:latin typeface="Cambria Math" panose="02040503050406030204" pitchFamily="18" charset="0"/>
                            <a:ea typeface="Cambria Math" panose="02040503050406030204" pitchFamily="18" charset="0"/>
                          </a:rPr>
                          <m:t>𝑟𝑎𝑙𝑒</m:t>
                        </m:r>
                        <m:r>
                          <a:rPr lang="fr-CA" b="0" i="1" smtClean="0">
                            <a:latin typeface="Cambria Math" panose="02040503050406030204" pitchFamily="18" charset="0"/>
                            <a:ea typeface="Cambria Math" panose="02040503050406030204" pitchFamily="18" charset="0"/>
                          </a:rPr>
                          <m:t> à </m:t>
                        </m:r>
                        <m:r>
                          <a:rPr lang="fr-CA" b="0" i="1" smtClean="0">
                            <a:latin typeface="Cambria Math" panose="02040503050406030204" pitchFamily="18" charset="0"/>
                            <a:ea typeface="Cambria Math" panose="02040503050406030204" pitchFamily="18" charset="0"/>
                          </a:rPr>
                          <m:t>𝑑𝑟𝑜𝑖𝑡𝑒</m:t>
                        </m:r>
                      </m:e>
                    </m:d>
                  </m:oMath>
                </a14:m>
                <a:endParaRPr lang="fr-CA" dirty="0"/>
              </a:p>
              <a:p>
                <a:pPr marL="342900" indent="-342900">
                  <a:buFont typeface="+mj-lt"/>
                  <a:buAutoNum type="arabicPeriod"/>
                </a:pP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0</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𝑌</m:t>
                        </m:r>
                      </m:sub>
                    </m:sSub>
                    <m:r>
                      <a:rPr lang="fr-CA" b="0" i="1" smtClean="0">
                        <a:latin typeface="Cambria Math" panose="02040503050406030204" pitchFamily="18" charset="0"/>
                      </a:rPr>
                      <m:t>   </m:t>
                    </m:r>
                    <m:r>
                      <a:rPr lang="fr-CA" b="0" i="1" smtClean="0">
                        <a:latin typeface="Cambria Math" panose="02040503050406030204" pitchFamily="18" charset="0"/>
                      </a:rPr>
                      <m:t>𝑐𝑜𝑛𝑡𝑟𝑒</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sub>
                    </m:sSub>
                    <m:r>
                      <a:rPr lang="fr-CA" i="1">
                        <a:latin typeface="Cambria Math" panose="02040503050406030204" pitchFamily="18" charset="0"/>
                        <a:ea typeface="Cambria Math" panose="02040503050406030204" pitchFamily="18" charset="0"/>
                      </a:rPr>
                      <m:t>&lt;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ea typeface="Cambria Math" panose="02040503050406030204" pitchFamily="18" charset="0"/>
                          </a:rPr>
                          <m:t>𝑌</m:t>
                        </m:r>
                      </m:sub>
                    </m:sSub>
                    <m:r>
                      <a:rPr lang="fr-CA" b="0" i="1" smtClean="0">
                        <a:latin typeface="Cambria Math" panose="02040503050406030204" pitchFamily="18" charset="0"/>
                        <a:ea typeface="Cambria Math" panose="02040503050406030204" pitchFamily="18" charset="0"/>
                      </a:rPr>
                      <m:t> </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𝐻𝑦𝑝𝑜𝑡h</m:t>
                        </m:r>
                        <m:r>
                          <a:rPr lang="fr-CA" b="0" i="1" smtClean="0">
                            <a:latin typeface="Cambria Math" panose="02040503050406030204" pitchFamily="18" charset="0"/>
                            <a:ea typeface="Cambria Math" panose="02040503050406030204" pitchFamily="18" charset="0"/>
                          </a:rPr>
                          <m:t>è</m:t>
                        </m:r>
                        <m:r>
                          <a:rPr lang="fr-CA" b="0" i="1" smtClean="0">
                            <a:latin typeface="Cambria Math" panose="02040503050406030204" pitchFamily="18" charset="0"/>
                            <a:ea typeface="Cambria Math" panose="02040503050406030204" pitchFamily="18" charset="0"/>
                          </a:rPr>
                          <m:t>𝑠𝑒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𝑢𝑛𝑖𝑙𝑎𝑡</m:t>
                        </m:r>
                        <m:r>
                          <a:rPr lang="fr-CA" b="0" i="1" smtClean="0">
                            <a:latin typeface="Cambria Math" panose="02040503050406030204" pitchFamily="18" charset="0"/>
                            <a:ea typeface="Cambria Math" panose="02040503050406030204" pitchFamily="18" charset="0"/>
                          </a:rPr>
                          <m:t>é</m:t>
                        </m:r>
                        <m:r>
                          <a:rPr lang="fr-CA" b="0" i="1" smtClean="0">
                            <a:latin typeface="Cambria Math" panose="02040503050406030204" pitchFamily="18" charset="0"/>
                            <a:ea typeface="Cambria Math" panose="02040503050406030204" pitchFamily="18" charset="0"/>
                          </a:rPr>
                          <m:t>𝑟𝑎𝑙𝑒</m:t>
                        </m:r>
                        <m:r>
                          <a:rPr lang="fr-CA" b="0" i="1" smtClean="0">
                            <a:latin typeface="Cambria Math" panose="02040503050406030204" pitchFamily="18" charset="0"/>
                            <a:ea typeface="Cambria Math" panose="02040503050406030204" pitchFamily="18" charset="0"/>
                          </a:rPr>
                          <m:t>  à </m:t>
                        </m:r>
                        <m:r>
                          <a:rPr lang="fr-CA" b="0" i="1" smtClean="0">
                            <a:latin typeface="Cambria Math" panose="02040503050406030204" pitchFamily="18" charset="0"/>
                            <a:ea typeface="Cambria Math" panose="02040503050406030204" pitchFamily="18" charset="0"/>
                          </a:rPr>
                          <m:t>𝑔𝑎𝑢𝑐h𝑒</m:t>
                        </m:r>
                      </m:e>
                    </m:d>
                  </m:oMath>
                </a14:m>
                <a:endParaRPr lang="fr-CA" dirty="0"/>
              </a:p>
              <a:p>
                <a:endParaRPr lang="fr-CA" dirty="0"/>
              </a:p>
              <a:p>
                <a:r>
                  <a:rPr lang="fr-CA" dirty="0">
                    <a:solidFill>
                      <a:srgbClr val="FF0000"/>
                    </a:solidFill>
                  </a:rPr>
                  <a:t>1</a:t>
                </a:r>
                <a:r>
                  <a:rPr lang="fr-CA" baseline="30000" dirty="0">
                    <a:solidFill>
                      <a:srgbClr val="FF0000"/>
                    </a:solidFill>
                  </a:rPr>
                  <a:t>er</a:t>
                </a:r>
                <a:r>
                  <a:rPr lang="fr-CA" dirty="0">
                    <a:solidFill>
                      <a:srgbClr val="FF0000"/>
                    </a:solidFill>
                  </a:rPr>
                  <a:t> Cas: </a:t>
                </a:r>
                <a:r>
                  <a:rPr lang="fr-CA" dirty="0"/>
                  <a:t>On suppose que les variances </a:t>
                </a:r>
                <a14:m>
                  <m:oMath xmlns:m="http://schemas.openxmlformats.org/officeDocument/2006/math">
                    <m:sSubSup>
                      <m:sSubSupPr>
                        <m:ctrlPr>
                          <a:rPr lang="fr-CA" b="0" i="1" smtClean="0">
                            <a:latin typeface="Cambria Math" panose="02040503050406030204" pitchFamily="18" charset="0"/>
                          </a:rPr>
                        </m:ctrlPr>
                      </m:sSubSupPr>
                      <m:e>
                        <m:r>
                          <a:rPr lang="fr-CA" b="0" i="1" smtClean="0">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rPr>
                          <m:t>𝑋</m:t>
                        </m:r>
                      </m:sub>
                      <m:sup>
                        <m:r>
                          <a:rPr lang="fr-CA" b="0" i="1" smtClean="0">
                            <a:latin typeface="Cambria Math" panose="02040503050406030204" pitchFamily="18" charset="0"/>
                          </a:rPr>
                          <m:t>2</m:t>
                        </m:r>
                      </m:sup>
                    </m:sSubSup>
                    <m:r>
                      <a:rPr lang="fr-CA" b="0" i="1" smtClean="0">
                        <a:latin typeface="Cambria Math" panose="02040503050406030204" pitchFamily="18" charset="0"/>
                      </a:rPr>
                      <m:t> </m:t>
                    </m:r>
                  </m:oMath>
                </a14:m>
                <a:r>
                  <a:rPr lang="fr-CA" dirty="0"/>
                  <a:t> et </a:t>
                </a:r>
                <a14:m>
                  <m:oMath xmlns:m="http://schemas.openxmlformats.org/officeDocument/2006/math">
                    <m:sSubSup>
                      <m:sSubSupPr>
                        <m:ctrlPr>
                          <a:rPr lang="fr-CA" i="1">
                            <a:latin typeface="Cambria Math" panose="02040503050406030204" pitchFamily="18" charset="0"/>
                          </a:rPr>
                        </m:ctrlPr>
                      </m:sSubSupPr>
                      <m:e>
                        <m:r>
                          <a:rPr lang="fr-CA" i="1">
                            <a:latin typeface="Cambria Math" panose="02040503050406030204" pitchFamily="18" charset="0"/>
                            <a:ea typeface="Cambria Math" panose="02040503050406030204" pitchFamily="18" charset="0"/>
                          </a:rPr>
                          <m:t>𝜎</m:t>
                        </m:r>
                      </m:e>
                      <m:sub>
                        <m:r>
                          <a:rPr lang="fr-CA" i="1">
                            <a:latin typeface="Cambria Math" panose="02040503050406030204" pitchFamily="18" charset="0"/>
                            <a:ea typeface="Cambria Math" panose="02040503050406030204" pitchFamily="18" charset="0"/>
                          </a:rPr>
                          <m:t>𝑌</m:t>
                        </m:r>
                      </m:sub>
                      <m:sup>
                        <m:r>
                          <a:rPr lang="fr-CA" i="1">
                            <a:latin typeface="Cambria Math" panose="02040503050406030204" pitchFamily="18" charset="0"/>
                          </a:rPr>
                          <m:t>2</m:t>
                        </m:r>
                      </m:sup>
                    </m:sSubSup>
                  </m:oMath>
                </a14:m>
                <a:r>
                  <a:rPr lang="fr-CA" dirty="0"/>
                  <a:t> peuvent être supposées égales.</a:t>
                </a:r>
              </a:p>
              <a:p>
                <a:r>
                  <a:rPr lang="fr-CA" dirty="0"/>
                  <a:t>On sélectionne un échantillon aléatoire de taille n de X et de taille m de Y.</a:t>
                </a:r>
              </a:p>
              <a:p>
                <a:endParaRPr lang="fr-CA" dirty="0"/>
              </a:p>
              <a:p>
                <a:r>
                  <a:rPr lang="fr-CA" b="1" dirty="0"/>
                  <a:t>Remarque: Si n et m sont tous les deux plus grands que 30; on n’a pas besoin de la normalité des variables X et Y. Sinon, la normalité de ces variables est requise.</a:t>
                </a:r>
              </a:p>
              <a:p>
                <a:endParaRPr lang="fr-CA" dirty="0"/>
              </a:p>
            </p:txBody>
          </p:sp>
        </mc:Choice>
        <mc:Fallback xmlns="">
          <p:sp>
            <p:nvSpPr>
              <p:cNvPr id="5" name="ZoneTexte 4">
                <a:extLst>
                  <a:ext uri="{FF2B5EF4-FFF2-40B4-BE49-F238E27FC236}">
                    <a16:creationId xmlns:a16="http://schemas.microsoft.com/office/drawing/2014/main" id="{170AFC9E-A1D3-44CA-9159-1FF92BB8E81B}"/>
                  </a:ext>
                </a:extLst>
              </p:cNvPr>
              <p:cNvSpPr txBox="1">
                <a:spLocks noRot="1" noChangeAspect="1" noMove="1" noResize="1" noEditPoints="1" noAdjustHandles="1" noChangeArrowheads="1" noChangeShapeType="1" noTextEdit="1"/>
              </p:cNvSpPr>
              <p:nvPr/>
            </p:nvSpPr>
            <p:spPr>
              <a:xfrm>
                <a:off x="1062318" y="2003612"/>
                <a:ext cx="10085294" cy="4532010"/>
              </a:xfrm>
              <a:prstGeom prst="rect">
                <a:avLst/>
              </a:prstGeom>
              <a:blipFill>
                <a:blip r:embed="rId2"/>
                <a:stretch>
                  <a:fillRect l="-483" t="-808"/>
                </a:stretch>
              </a:blipFill>
            </p:spPr>
            <p:txBody>
              <a:bodyPr/>
              <a:lstStyle/>
              <a:p>
                <a:r>
                  <a:rPr lang="fr-CA">
                    <a:noFill/>
                  </a:rPr>
                  <a:t> </a:t>
                </a:r>
              </a:p>
            </p:txBody>
          </p:sp>
        </mc:Fallback>
      </mc:AlternateContent>
    </p:spTree>
    <p:extLst>
      <p:ext uri="{BB962C8B-B14F-4D97-AF65-F5344CB8AC3E}">
        <p14:creationId xmlns:p14="http://schemas.microsoft.com/office/powerpoint/2010/main" val="4194942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1106B4-B114-48AD-BF11-8E2517FF2907}"/>
              </a:ext>
            </a:extLst>
          </p:cNvPr>
          <p:cNvSpPr>
            <a:spLocks noGrp="1"/>
          </p:cNvSpPr>
          <p:nvPr>
            <p:ph type="title"/>
          </p:nvPr>
        </p:nvSpPr>
        <p:spPr/>
        <p:txBody>
          <a:bodyPr/>
          <a:lstStyle/>
          <a:p>
            <a:r>
              <a:rPr lang="fr-CA" dirty="0"/>
              <a:t> </a:t>
            </a:r>
            <a:r>
              <a:rPr lang="fr-CA" b="1" dirty="0"/>
              <a:t>Méthode 1:</a:t>
            </a:r>
          </a:p>
        </p:txBody>
      </p:sp>
      <p:sp>
        <p:nvSpPr>
          <p:cNvPr id="3" name="Espace réservé du pied de page 2">
            <a:extLst>
              <a:ext uri="{FF2B5EF4-FFF2-40B4-BE49-F238E27FC236}">
                <a16:creationId xmlns:a16="http://schemas.microsoft.com/office/drawing/2014/main" id="{18891348-82B1-4DF3-A6CF-A57DE54DACAD}"/>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8329B950-67FB-454B-A608-C952359AEC20}"/>
              </a:ext>
            </a:extLst>
          </p:cNvPr>
          <p:cNvSpPr>
            <a:spLocks noGrp="1"/>
          </p:cNvSpPr>
          <p:nvPr>
            <p:ph type="sldNum" sz="quarter" idx="12"/>
          </p:nvPr>
        </p:nvSpPr>
        <p:spPr/>
        <p:txBody>
          <a:bodyPr/>
          <a:lstStyle/>
          <a:p>
            <a:fld id="{26377AD9-CE17-438C-A638-C64D2D42D7CF}" type="slidenum">
              <a:rPr lang="fr-CA" smtClean="0"/>
              <a:t>2</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3B12CF2B-BE2D-49F1-87BD-E19B5DC47264}"/>
                  </a:ext>
                </a:extLst>
              </p:cNvPr>
              <p:cNvSpPr txBox="1"/>
              <p:nvPr/>
            </p:nvSpPr>
            <p:spPr>
              <a:xfrm>
                <a:off x="1021976" y="1690688"/>
                <a:ext cx="9870142" cy="4276492"/>
              </a:xfrm>
              <a:prstGeom prst="rect">
                <a:avLst/>
              </a:prstGeom>
              <a:noFill/>
            </p:spPr>
            <p:txBody>
              <a:bodyPr wrap="square" rtlCol="0">
                <a:spAutoFit/>
              </a:bodyPr>
              <a:lstStyle/>
              <a:p>
                <a:r>
                  <a:rPr lang="fr-CA" dirty="0"/>
                  <a:t>On calcule  </a:t>
                </a:r>
                <a14:m>
                  <m:oMath xmlns:m="http://schemas.openxmlformats.org/officeDocument/2006/math">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𝑥</m:t>
                        </m:r>
                        <m:r>
                          <a:rPr lang="fr-CA" b="0" i="1" smtClean="0">
                            <a:latin typeface="Cambria Math" panose="02040503050406030204" pitchFamily="18" charset="0"/>
                          </a:rPr>
                          <m:t> </m:t>
                        </m:r>
                      </m:e>
                    </m:acc>
                    <m:r>
                      <a:rPr lang="fr-CA" b="0" i="1" smtClean="0">
                        <a:latin typeface="Cambria Math" panose="02040503050406030204" pitchFamily="18" charset="0"/>
                      </a:rPr>
                      <m:t> </m:t>
                    </m:r>
                    <m:r>
                      <a:rPr lang="fr-CA" b="0" i="1" smtClean="0">
                        <a:latin typeface="Cambria Math" panose="02040503050406030204" pitchFamily="18" charset="0"/>
                      </a:rPr>
                      <m:t>𝑒𝑡</m:t>
                    </m:r>
                    <m:r>
                      <a:rPr lang="fr-CA" b="0" i="1" smtClean="0">
                        <a:latin typeface="Cambria Math" panose="02040503050406030204" pitchFamily="18" charset="0"/>
                      </a:rPr>
                      <m:t> </m:t>
                    </m:r>
                    <m:sSubSup>
                      <m:sSubSupPr>
                        <m:ctrlPr>
                          <a:rPr lang="fr-CA" b="0" i="1" smtClean="0">
                            <a:latin typeface="Cambria Math" panose="02040503050406030204" pitchFamily="18" charset="0"/>
                          </a:rPr>
                        </m:ctrlPr>
                      </m:sSubSupPr>
                      <m:e>
                        <m:r>
                          <a:rPr lang="fr-CA" b="0" i="1" smtClean="0">
                            <a:latin typeface="Cambria Math" panose="02040503050406030204" pitchFamily="18" charset="0"/>
                          </a:rPr>
                          <m:t>𝑠</m:t>
                        </m:r>
                      </m:e>
                      <m:sub>
                        <m:r>
                          <a:rPr lang="fr-CA" b="0" i="1" smtClean="0">
                            <a:latin typeface="Cambria Math" panose="02040503050406030204" pitchFamily="18" charset="0"/>
                          </a:rPr>
                          <m:t>𝑋</m:t>
                        </m:r>
                      </m:sub>
                      <m:sup>
                        <m:r>
                          <a:rPr lang="fr-CA" b="0" i="1" smtClean="0">
                            <a:latin typeface="Cambria Math" panose="02040503050406030204" pitchFamily="18" charset="0"/>
                          </a:rPr>
                          <m:t>2</m:t>
                        </m:r>
                      </m:sup>
                    </m:sSubSup>
                    <m:r>
                      <a:rPr lang="fr-CA" b="0" i="1" smtClean="0">
                        <a:latin typeface="Cambria Math" panose="02040503050406030204" pitchFamily="18" charset="0"/>
                      </a:rPr>
                      <m:t>      </m:t>
                    </m:r>
                    <m:r>
                      <a:rPr lang="fr-CA" b="0" i="1" smtClean="0">
                        <a:latin typeface="Cambria Math" panose="02040503050406030204" pitchFamily="18" charset="0"/>
                      </a:rPr>
                      <m:t>𝑒𝑡</m:t>
                    </m:r>
                    <m:r>
                      <a:rPr lang="fr-CA" b="0" i="1" smtClean="0">
                        <a:latin typeface="Cambria Math" panose="02040503050406030204" pitchFamily="18" charset="0"/>
                      </a:rPr>
                      <m:t> </m:t>
                    </m:r>
                    <m:r>
                      <a:rPr lang="fr-CA" b="0" i="1" smtClean="0">
                        <a:latin typeface="Cambria Math" panose="02040503050406030204" pitchFamily="18" charset="0"/>
                      </a:rPr>
                      <m:t>𝑜𝑛</m:t>
                    </m:r>
                    <m:r>
                      <a:rPr lang="fr-CA" b="0" i="1" smtClean="0">
                        <a:latin typeface="Cambria Math" panose="02040503050406030204" pitchFamily="18" charset="0"/>
                      </a:rPr>
                      <m:t> </m:t>
                    </m:r>
                    <m:r>
                      <a:rPr lang="fr-CA" b="0" i="1" smtClean="0">
                        <a:latin typeface="Cambria Math" panose="02040503050406030204" pitchFamily="18" charset="0"/>
                      </a:rPr>
                      <m:t>𝑐𝑎𝑙𝑐𝑢𝑙𝑒</m:t>
                    </m:r>
                    <m:r>
                      <a:rPr lang="fr-CA" b="0" i="1" smtClean="0">
                        <a:latin typeface="Cambria Math" panose="02040503050406030204" pitchFamily="18" charset="0"/>
                      </a:rPr>
                      <m:t>    </m:t>
                    </m:r>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𝑦</m:t>
                        </m:r>
                      </m:e>
                    </m:acc>
                    <m:r>
                      <a:rPr lang="fr-CA" b="0" i="1" smtClean="0">
                        <a:latin typeface="Cambria Math" panose="02040503050406030204" pitchFamily="18" charset="0"/>
                      </a:rPr>
                      <m:t>  </m:t>
                    </m:r>
                    <m:r>
                      <a:rPr lang="fr-CA" b="0" i="1" smtClean="0">
                        <a:latin typeface="Cambria Math" panose="02040503050406030204" pitchFamily="18" charset="0"/>
                      </a:rPr>
                      <m:t>𝑒𝑡</m:t>
                    </m:r>
                    <m:r>
                      <a:rPr lang="fr-CA" b="0" i="1" smtClean="0">
                        <a:latin typeface="Cambria Math" panose="02040503050406030204" pitchFamily="18" charset="0"/>
                      </a:rPr>
                      <m:t> </m:t>
                    </m:r>
                    <m:sSubSup>
                      <m:sSubSupPr>
                        <m:ctrlPr>
                          <a:rPr lang="fr-CA" b="0" i="1" smtClean="0">
                            <a:latin typeface="Cambria Math" panose="02040503050406030204" pitchFamily="18" charset="0"/>
                          </a:rPr>
                        </m:ctrlPr>
                      </m:sSubSupPr>
                      <m:e>
                        <m:r>
                          <a:rPr lang="fr-CA" b="0" i="1" smtClean="0">
                            <a:latin typeface="Cambria Math" panose="02040503050406030204" pitchFamily="18" charset="0"/>
                          </a:rPr>
                          <m:t>𝑠</m:t>
                        </m:r>
                      </m:e>
                      <m:sub>
                        <m:r>
                          <a:rPr lang="fr-CA" b="0" i="1" smtClean="0">
                            <a:latin typeface="Cambria Math" panose="02040503050406030204" pitchFamily="18" charset="0"/>
                          </a:rPr>
                          <m:t>𝑌</m:t>
                        </m:r>
                      </m:sub>
                      <m:sup>
                        <m:r>
                          <a:rPr lang="fr-CA" b="0" i="1" smtClean="0">
                            <a:latin typeface="Cambria Math" panose="02040503050406030204" pitchFamily="18" charset="0"/>
                          </a:rPr>
                          <m:t>2</m:t>
                        </m:r>
                      </m:sup>
                    </m:sSubSup>
                    <m:r>
                      <a:rPr lang="fr-CA" b="0" i="1" smtClean="0">
                        <a:latin typeface="Cambria Math" panose="02040503050406030204" pitchFamily="18" charset="0"/>
                      </a:rPr>
                      <m:t>  </m:t>
                    </m:r>
                    <m:d>
                      <m:dPr>
                        <m:ctrlPr>
                          <a:rPr lang="fr-CA" b="0" i="1" smtClean="0">
                            <a:latin typeface="Cambria Math" panose="02040503050406030204" pitchFamily="18" charset="0"/>
                          </a:rPr>
                        </m:ctrlPr>
                      </m:dPr>
                      <m:e>
                        <m:r>
                          <a:rPr lang="fr-CA" b="0" i="1" smtClean="0">
                            <a:latin typeface="Cambria Math" panose="02040503050406030204" pitchFamily="18" charset="0"/>
                          </a:rPr>
                          <m:t> </m:t>
                        </m:r>
                        <m:r>
                          <a:rPr lang="fr-CA" b="0" i="1" smtClean="0">
                            <a:latin typeface="Cambria Math" panose="02040503050406030204" pitchFamily="18" charset="0"/>
                          </a:rPr>
                          <m:t>𝑙𝑒𝑠</m:t>
                        </m:r>
                        <m:r>
                          <a:rPr lang="fr-CA" b="0" i="1" smtClean="0">
                            <a:latin typeface="Cambria Math" panose="02040503050406030204" pitchFamily="18" charset="0"/>
                          </a:rPr>
                          <m:t> </m:t>
                        </m:r>
                        <m:r>
                          <a:rPr lang="fr-CA" b="0" i="1" smtClean="0">
                            <a:latin typeface="Cambria Math" panose="02040503050406030204" pitchFamily="18" charset="0"/>
                          </a:rPr>
                          <m:t>𝑚𝑜𝑦𝑒𝑛𝑛𝑒𝑠</m:t>
                        </m:r>
                        <m:r>
                          <a:rPr lang="fr-CA" b="0" i="1" smtClean="0">
                            <a:latin typeface="Cambria Math" panose="02040503050406030204" pitchFamily="18" charset="0"/>
                          </a:rPr>
                          <m:t> </m:t>
                        </m:r>
                        <m:r>
                          <a:rPr lang="fr-CA" b="0" i="1" smtClean="0">
                            <a:latin typeface="Cambria Math" panose="02040503050406030204" pitchFamily="18" charset="0"/>
                          </a:rPr>
                          <m:t>𝑒𝑡</m:t>
                        </m:r>
                        <m:r>
                          <a:rPr lang="fr-CA" b="0" i="1" smtClean="0">
                            <a:latin typeface="Cambria Math" panose="02040503050406030204" pitchFamily="18" charset="0"/>
                          </a:rPr>
                          <m:t> </m:t>
                        </m:r>
                        <m:r>
                          <a:rPr lang="fr-CA" b="0" i="1" smtClean="0">
                            <a:latin typeface="Cambria Math" panose="02040503050406030204" pitchFamily="18" charset="0"/>
                          </a:rPr>
                          <m:t>𝑣𝑎𝑟𝑖𝑎𝑛𝑐𝑒𝑠</m:t>
                        </m:r>
                        <m:r>
                          <a:rPr lang="fr-CA" b="0" i="1" smtClean="0">
                            <a:latin typeface="Cambria Math" panose="02040503050406030204" pitchFamily="18" charset="0"/>
                          </a:rPr>
                          <m:t> </m:t>
                        </m:r>
                        <m:r>
                          <a:rPr lang="fr-CA" b="0" i="1" smtClean="0">
                            <a:latin typeface="Cambria Math" panose="02040503050406030204" pitchFamily="18" charset="0"/>
                          </a:rPr>
                          <m:t>𝑑𝑒𝑠</m:t>
                        </m:r>
                        <m:r>
                          <a:rPr lang="fr-CA" b="0" i="1" smtClean="0">
                            <a:latin typeface="Cambria Math" panose="02040503050406030204" pitchFamily="18" charset="0"/>
                          </a:rPr>
                          <m:t> 2 é</m:t>
                        </m:r>
                        <m:r>
                          <a:rPr lang="fr-CA" b="0" i="1" smtClean="0">
                            <a:latin typeface="Cambria Math" panose="02040503050406030204" pitchFamily="18" charset="0"/>
                          </a:rPr>
                          <m:t>𝑐h𝑎𝑡𝑖𝑙𝑙𝑜𝑛𝑠</m:t>
                        </m:r>
                      </m:e>
                    </m:d>
                  </m:oMath>
                </a14:m>
                <a:endParaRPr lang="fr-CA" b="0" dirty="0"/>
              </a:p>
              <a:p>
                <a:r>
                  <a:rPr lang="fr-CA" dirty="0"/>
                  <a:t>Puisqu’on a supposé que les variances des populations </a:t>
                </a:r>
                <a14:m>
                  <m:oMath xmlns:m="http://schemas.openxmlformats.org/officeDocument/2006/math">
                    <m:sSubSup>
                      <m:sSubSupPr>
                        <m:ctrlPr>
                          <a:rPr lang="fr-CA" b="0" i="1" smtClean="0">
                            <a:latin typeface="Cambria Math" panose="02040503050406030204" pitchFamily="18" charset="0"/>
                          </a:rPr>
                        </m:ctrlPr>
                      </m:sSubSupPr>
                      <m:e>
                        <m:r>
                          <a:rPr lang="fr-CA" b="0" i="1" smtClean="0">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rPr>
                          <m:t>𝑋</m:t>
                        </m:r>
                      </m:sub>
                      <m:sup>
                        <m:r>
                          <a:rPr lang="fr-CA" b="0" i="1" smtClean="0">
                            <a:latin typeface="Cambria Math" panose="02040503050406030204" pitchFamily="18" charset="0"/>
                          </a:rPr>
                          <m:t>2</m:t>
                        </m:r>
                      </m:sup>
                    </m:sSubSup>
                    <m:r>
                      <a:rPr lang="fr-CA" b="0" i="1" smtClean="0">
                        <a:latin typeface="Cambria Math" panose="02040503050406030204" pitchFamily="18" charset="0"/>
                      </a:rPr>
                      <m:t> </m:t>
                    </m:r>
                  </m:oMath>
                </a14:m>
                <a:r>
                  <a:rPr lang="fr-CA" dirty="0"/>
                  <a:t> et </a:t>
                </a:r>
                <a14:m>
                  <m:oMath xmlns:m="http://schemas.openxmlformats.org/officeDocument/2006/math">
                    <m:sSubSup>
                      <m:sSubSupPr>
                        <m:ctrlPr>
                          <a:rPr lang="fr-CA" i="1">
                            <a:latin typeface="Cambria Math" panose="02040503050406030204" pitchFamily="18" charset="0"/>
                          </a:rPr>
                        </m:ctrlPr>
                      </m:sSubSupPr>
                      <m:e>
                        <m:r>
                          <a:rPr lang="fr-CA" i="1">
                            <a:latin typeface="Cambria Math" panose="02040503050406030204" pitchFamily="18" charset="0"/>
                            <a:ea typeface="Cambria Math" panose="02040503050406030204" pitchFamily="18" charset="0"/>
                          </a:rPr>
                          <m:t>𝜎</m:t>
                        </m:r>
                      </m:e>
                      <m:sub>
                        <m:r>
                          <a:rPr lang="fr-CA" i="1">
                            <a:latin typeface="Cambria Math" panose="02040503050406030204" pitchFamily="18" charset="0"/>
                            <a:ea typeface="Cambria Math" panose="02040503050406030204" pitchFamily="18" charset="0"/>
                          </a:rPr>
                          <m:t>𝑌</m:t>
                        </m:r>
                      </m:sub>
                      <m:sup>
                        <m:r>
                          <a:rPr lang="fr-CA" i="1">
                            <a:latin typeface="Cambria Math" panose="02040503050406030204" pitchFamily="18" charset="0"/>
                          </a:rPr>
                          <m:t>2</m:t>
                        </m:r>
                      </m:sup>
                    </m:sSubSup>
                  </m:oMath>
                </a14:m>
                <a:r>
                  <a:rPr lang="fr-CA" dirty="0"/>
                  <a:t> sont inconnues mais supposées égales. On doit donc les estimer par la même quantité. On prend alors comme estimateur, la variance pondérée des échantillons : </a:t>
                </a:r>
              </a:p>
              <a:p>
                <a:pPr/>
                <a14:m>
                  <m:oMathPara xmlns:m="http://schemas.openxmlformats.org/officeDocument/2006/math">
                    <m:oMathParaPr>
                      <m:jc m:val="centerGroup"/>
                    </m:oMathParaPr>
                    <m:oMath xmlns:m="http://schemas.openxmlformats.org/officeDocument/2006/math">
                      <m:sSubSup>
                        <m:sSubSupPr>
                          <m:ctrlPr>
                            <a:rPr lang="fr-CA" i="1" smtClean="0">
                              <a:latin typeface="Cambria Math" panose="02040503050406030204" pitchFamily="18" charset="0"/>
                            </a:rPr>
                          </m:ctrlPr>
                        </m:sSubSupPr>
                        <m:e>
                          <m:r>
                            <a:rPr lang="fr-CA" b="0" i="1" smtClean="0">
                              <a:latin typeface="Cambria Math" panose="02040503050406030204" pitchFamily="18" charset="0"/>
                            </a:rPr>
                            <m:t>𝑠</m:t>
                          </m:r>
                        </m:e>
                        <m:sub>
                          <m:r>
                            <a:rPr lang="fr-CA" b="0" i="1" smtClean="0">
                              <a:latin typeface="Cambria Math" panose="02040503050406030204" pitchFamily="18" charset="0"/>
                            </a:rPr>
                            <m:t>𝑝</m:t>
                          </m:r>
                        </m:sub>
                        <m:sup>
                          <m:r>
                            <a:rPr lang="fr-CA" b="0" i="1" smtClean="0">
                              <a:latin typeface="Cambria Math" panose="02040503050406030204" pitchFamily="18" charset="0"/>
                            </a:rPr>
                            <m:t>2</m:t>
                          </m:r>
                        </m:sup>
                      </m:sSubSup>
                      <m:r>
                        <a:rPr lang="fr-CA" b="0" i="1" smtClean="0">
                          <a:latin typeface="Cambria Math" panose="02040503050406030204" pitchFamily="18" charset="0"/>
                        </a:rPr>
                        <m:t>=</m:t>
                      </m:r>
                      <m:f>
                        <m:fPr>
                          <m:ctrlPr>
                            <a:rPr lang="fr-CA" b="0" i="1" smtClean="0">
                              <a:latin typeface="Cambria Math" panose="02040503050406030204" pitchFamily="18" charset="0"/>
                            </a:rPr>
                          </m:ctrlPr>
                        </m:fPr>
                        <m:num>
                          <m:d>
                            <m:dPr>
                              <m:ctrlPr>
                                <a:rPr lang="fr-CA" b="0" i="1" smtClean="0">
                                  <a:latin typeface="Cambria Math" panose="02040503050406030204" pitchFamily="18" charset="0"/>
                                </a:rPr>
                              </m:ctrlPr>
                            </m:dPr>
                            <m:e>
                              <m:r>
                                <a:rPr lang="fr-CA" b="0" i="1" smtClean="0">
                                  <a:latin typeface="Cambria Math" panose="02040503050406030204" pitchFamily="18" charset="0"/>
                                </a:rPr>
                                <m:t>𝑛</m:t>
                              </m:r>
                              <m:r>
                                <a:rPr lang="fr-CA" b="0" i="1" smtClean="0">
                                  <a:latin typeface="Cambria Math" panose="02040503050406030204" pitchFamily="18" charset="0"/>
                                </a:rPr>
                                <m:t>−1</m:t>
                              </m:r>
                            </m:e>
                          </m:d>
                          <m:sSubSup>
                            <m:sSubSupPr>
                              <m:ctrlPr>
                                <a:rPr lang="fr-CA" b="0" i="1" smtClean="0">
                                  <a:latin typeface="Cambria Math" panose="02040503050406030204" pitchFamily="18" charset="0"/>
                                </a:rPr>
                              </m:ctrlPr>
                            </m:sSubSupPr>
                            <m:e>
                              <m:r>
                                <a:rPr lang="fr-CA" b="0" i="1" smtClean="0">
                                  <a:latin typeface="Cambria Math" panose="02040503050406030204" pitchFamily="18" charset="0"/>
                                </a:rPr>
                                <m:t>𝑠</m:t>
                              </m:r>
                            </m:e>
                            <m:sub>
                              <m:r>
                                <a:rPr lang="fr-CA" b="0" i="1" smtClean="0">
                                  <a:latin typeface="Cambria Math" panose="02040503050406030204" pitchFamily="18" charset="0"/>
                                </a:rPr>
                                <m:t>𝑋</m:t>
                              </m:r>
                            </m:sub>
                            <m:sup>
                              <m:r>
                                <a:rPr lang="fr-CA" b="0" i="1" smtClean="0">
                                  <a:latin typeface="Cambria Math" panose="02040503050406030204" pitchFamily="18" charset="0"/>
                                </a:rPr>
                                <m:t>2</m:t>
                              </m:r>
                            </m:sup>
                          </m:sSubSup>
                          <m:r>
                            <a:rPr lang="fr-CA" b="0" i="1" smtClean="0">
                              <a:latin typeface="Cambria Math" panose="02040503050406030204" pitchFamily="18" charset="0"/>
                            </a:rPr>
                            <m:t>+(</m:t>
                          </m:r>
                          <m:r>
                            <a:rPr lang="fr-CA" b="0" i="1" smtClean="0">
                              <a:latin typeface="Cambria Math" panose="02040503050406030204" pitchFamily="18" charset="0"/>
                            </a:rPr>
                            <m:t>𝑚</m:t>
                          </m:r>
                          <m:r>
                            <a:rPr lang="fr-CA" b="0" i="1" smtClean="0">
                              <a:latin typeface="Cambria Math" panose="02040503050406030204" pitchFamily="18" charset="0"/>
                            </a:rPr>
                            <m:t>−1)</m:t>
                          </m:r>
                          <m:sSubSup>
                            <m:sSubSupPr>
                              <m:ctrlPr>
                                <a:rPr lang="fr-CA" b="0" i="1" smtClean="0">
                                  <a:latin typeface="Cambria Math" panose="02040503050406030204" pitchFamily="18" charset="0"/>
                                </a:rPr>
                              </m:ctrlPr>
                            </m:sSubSupPr>
                            <m:e>
                              <m:r>
                                <a:rPr lang="fr-CA" b="0" i="1" smtClean="0">
                                  <a:latin typeface="Cambria Math" panose="02040503050406030204" pitchFamily="18" charset="0"/>
                                </a:rPr>
                                <m:t>𝑠</m:t>
                              </m:r>
                            </m:e>
                            <m:sub>
                              <m:r>
                                <a:rPr lang="fr-CA" b="0" i="1" smtClean="0">
                                  <a:latin typeface="Cambria Math" panose="02040503050406030204" pitchFamily="18" charset="0"/>
                                </a:rPr>
                                <m:t>𝑌</m:t>
                              </m:r>
                            </m:sub>
                            <m:sup>
                              <m:r>
                                <a:rPr lang="fr-CA" b="0" i="1" smtClean="0">
                                  <a:latin typeface="Cambria Math" panose="02040503050406030204" pitchFamily="18" charset="0"/>
                                </a:rPr>
                                <m:t>2</m:t>
                              </m:r>
                            </m:sup>
                          </m:sSubSup>
                        </m:num>
                        <m:den>
                          <m:r>
                            <a:rPr lang="fr-CA" b="0" i="1" smtClean="0">
                              <a:latin typeface="Cambria Math" panose="02040503050406030204" pitchFamily="18" charset="0"/>
                            </a:rPr>
                            <m:t>𝑛</m:t>
                          </m:r>
                          <m:r>
                            <a:rPr lang="fr-CA" b="0" i="1" smtClean="0">
                              <a:latin typeface="Cambria Math" panose="02040503050406030204" pitchFamily="18" charset="0"/>
                            </a:rPr>
                            <m:t>+</m:t>
                          </m:r>
                          <m:r>
                            <a:rPr lang="fr-CA" b="0" i="1" smtClean="0">
                              <a:latin typeface="Cambria Math" panose="02040503050406030204" pitchFamily="18" charset="0"/>
                            </a:rPr>
                            <m:t>𝑚</m:t>
                          </m:r>
                          <m:r>
                            <a:rPr lang="fr-CA" b="0" i="1" smtClean="0">
                              <a:latin typeface="Cambria Math" panose="02040503050406030204" pitchFamily="18" charset="0"/>
                            </a:rPr>
                            <m:t>−2</m:t>
                          </m:r>
                        </m:den>
                      </m:f>
                    </m:oMath>
                  </m:oMathPara>
                </a14:m>
                <a:endParaRPr lang="fr-CA" dirty="0"/>
              </a:p>
              <a:p>
                <a:r>
                  <a:rPr lang="fr-CA" dirty="0"/>
                  <a:t>On sait aussi que </a:t>
                </a:r>
                <a14:m>
                  <m:oMath xmlns:m="http://schemas.openxmlformats.org/officeDocument/2006/math">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𝑋</m:t>
                        </m:r>
                      </m:e>
                    </m:acc>
                    <m:r>
                      <a:rPr lang="fr-CA" b="0" i="1" smtClean="0">
                        <a:latin typeface="Cambria Math" panose="02040503050406030204" pitchFamily="18" charset="0"/>
                      </a:rPr>
                      <m:t> </m:t>
                    </m:r>
                    <m:r>
                      <a:rPr lang="fr-CA" b="0" i="1" smtClean="0">
                        <a:latin typeface="Cambria Math" panose="02040503050406030204" pitchFamily="18" charset="0"/>
                      </a:rPr>
                      <m:t>𝑣𝑎</m:t>
                    </m:r>
                    <m:r>
                      <a:rPr lang="fr-CA" b="0" i="1" smtClean="0">
                        <a:latin typeface="Cambria Math" panose="02040503050406030204" pitchFamily="18" charset="0"/>
                      </a:rPr>
                      <m:t> ê</m:t>
                    </m:r>
                    <m:r>
                      <a:rPr lang="fr-CA" b="0" i="1" smtClean="0">
                        <a:latin typeface="Cambria Math" panose="02040503050406030204" pitchFamily="18" charset="0"/>
                      </a:rPr>
                      <m:t>𝑡𝑟𝑒</m:t>
                    </m:r>
                    <m:r>
                      <a:rPr lang="fr-CA" b="0" i="1" smtClean="0">
                        <a:latin typeface="Cambria Math" panose="02040503050406030204" pitchFamily="18" charset="0"/>
                      </a:rPr>
                      <m:t> </m:t>
                    </m:r>
                    <m:r>
                      <a:rPr lang="fr-CA" b="0" i="1" smtClean="0">
                        <a:latin typeface="Cambria Math" panose="02040503050406030204" pitchFamily="18" charset="0"/>
                      </a:rPr>
                      <m:t>𝑛𝑜𝑟𝑚𝑎𝑙𝑒𝑚𝑒𝑛𝑡</m:t>
                    </m:r>
                    <m:r>
                      <a:rPr lang="fr-CA" b="0" i="1" smtClean="0">
                        <a:latin typeface="Cambria Math" panose="02040503050406030204" pitchFamily="18" charset="0"/>
                      </a:rPr>
                      <m:t>   </m:t>
                    </m:r>
                    <m:r>
                      <a:rPr lang="fr-CA" b="0" i="1" smtClean="0">
                        <a:latin typeface="Cambria Math" panose="02040503050406030204" pitchFamily="18" charset="0"/>
                      </a:rPr>
                      <m:t>𝑑𝑖𝑠𝑡𝑟𝑖𝑏𝑢</m:t>
                    </m:r>
                    <m:r>
                      <a:rPr lang="fr-CA" b="0" i="1" smtClean="0">
                        <a:latin typeface="Cambria Math" panose="02040503050406030204" pitchFamily="18" charset="0"/>
                      </a:rPr>
                      <m:t>é</m:t>
                    </m:r>
                    <m:r>
                      <a:rPr lang="fr-CA" b="0" i="1" smtClean="0">
                        <a:latin typeface="Cambria Math" panose="02040503050406030204" pitchFamily="18" charset="0"/>
                      </a:rPr>
                      <m:t>𝑒</m:t>
                    </m:r>
                    <m:r>
                      <a:rPr lang="fr-CA" b="0" i="1" smtClean="0">
                        <a:latin typeface="Cambria Math" panose="02040503050406030204" pitchFamily="18" charset="0"/>
                      </a:rPr>
                      <m:t>  </m:t>
                    </m:r>
                    <m:r>
                      <a:rPr lang="fr-CA" b="0" i="1" smtClean="0">
                        <a:latin typeface="Cambria Math" panose="02040503050406030204" pitchFamily="18" charset="0"/>
                      </a:rPr>
                      <m:t>𝑎𝑣𝑒𝑐</m:t>
                    </m:r>
                    <m:r>
                      <a:rPr lang="fr-CA" b="0" i="1" smtClean="0">
                        <a:latin typeface="Cambria Math" panose="02040503050406030204" pitchFamily="18" charset="0"/>
                      </a:rPr>
                      <m:t> </m:t>
                    </m:r>
                    <m:r>
                      <a:rPr lang="fr-CA" b="0" i="1" smtClean="0">
                        <a:latin typeface="Cambria Math" panose="02040503050406030204" pitchFamily="18" charset="0"/>
                      </a:rPr>
                      <m:t>𝑢𝑛𝑒</m:t>
                    </m:r>
                    <m:r>
                      <a:rPr lang="fr-CA" b="0" i="1" smtClean="0">
                        <a:latin typeface="Cambria Math" panose="02040503050406030204" pitchFamily="18" charset="0"/>
                      </a:rPr>
                      <m:t> </m:t>
                    </m:r>
                    <m:r>
                      <a:rPr lang="fr-CA" b="0" i="1" smtClean="0">
                        <a:latin typeface="Cambria Math" panose="02040503050406030204" pitchFamily="18" charset="0"/>
                      </a:rPr>
                      <m:t>𝑚𝑜𝑦𝑒𝑛𝑛𝑒</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sub>
                    </m:sSub>
                    <m:r>
                      <a:rPr lang="fr-CA" b="0" i="1" smtClean="0">
                        <a:latin typeface="Cambria Math" panose="02040503050406030204" pitchFamily="18" charset="0"/>
                      </a:rPr>
                      <m:t> </m:t>
                    </m:r>
                    <m:r>
                      <a:rPr lang="fr-CA" b="0" i="1" smtClean="0">
                        <a:latin typeface="Cambria Math" panose="02040503050406030204" pitchFamily="18" charset="0"/>
                      </a:rPr>
                      <m:t>𝑒𝑡</m:t>
                    </m:r>
                    <m:r>
                      <a:rPr lang="fr-CA" b="0" i="1" smtClean="0">
                        <a:latin typeface="Cambria Math" panose="02040503050406030204" pitchFamily="18" charset="0"/>
                      </a:rPr>
                      <m:t> </m:t>
                    </m:r>
                    <m:r>
                      <a:rPr lang="fr-CA" b="0" i="1" smtClean="0">
                        <a:latin typeface="Cambria Math" panose="02040503050406030204" pitchFamily="18" charset="0"/>
                      </a:rPr>
                      <m:t>𝑢𝑛𝑒</m:t>
                    </m:r>
                    <m:r>
                      <a:rPr lang="fr-CA" b="0" i="1" smtClean="0">
                        <a:latin typeface="Cambria Math" panose="02040503050406030204" pitchFamily="18" charset="0"/>
                      </a:rPr>
                      <m:t> </m:t>
                    </m:r>
                    <m:r>
                      <a:rPr lang="fr-CA" b="0" i="1" smtClean="0">
                        <a:latin typeface="Cambria Math" panose="02040503050406030204" pitchFamily="18" charset="0"/>
                      </a:rPr>
                      <m:t>𝑣𝑎𝑟𝑖𝑎𝑛𝑐𝑒</m:t>
                    </m:r>
                    <m:r>
                      <a:rPr lang="fr-CA" b="0" i="1" smtClean="0">
                        <a:latin typeface="Cambria Math" panose="02040503050406030204" pitchFamily="18" charset="0"/>
                      </a:rPr>
                      <m:t> </m:t>
                    </m:r>
                    <m:f>
                      <m:fPr>
                        <m:ctrlPr>
                          <a:rPr lang="fr-CA" b="0" i="1" smtClean="0">
                            <a:latin typeface="Cambria Math" panose="02040503050406030204" pitchFamily="18" charset="0"/>
                          </a:rPr>
                        </m:ctrlPr>
                      </m:fPr>
                      <m:num>
                        <m:sSubSup>
                          <m:sSubSupPr>
                            <m:ctrlPr>
                              <a:rPr lang="fr-CA" b="0" i="1" smtClean="0">
                                <a:latin typeface="Cambria Math" panose="02040503050406030204" pitchFamily="18" charset="0"/>
                              </a:rPr>
                            </m:ctrlPr>
                          </m:sSubSupPr>
                          <m:e>
                            <m:r>
                              <a:rPr lang="fr-CA" b="0" i="1" smtClean="0">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rPr>
                              <m:t>𝑋</m:t>
                            </m:r>
                          </m:sub>
                          <m:sup>
                            <m:r>
                              <a:rPr lang="fr-CA" b="0" i="1" smtClean="0">
                                <a:latin typeface="Cambria Math" panose="02040503050406030204" pitchFamily="18" charset="0"/>
                              </a:rPr>
                              <m:t>2</m:t>
                            </m:r>
                          </m:sup>
                        </m:sSubSup>
                      </m:num>
                      <m:den>
                        <m:r>
                          <a:rPr lang="fr-CA" b="0" i="1" smtClean="0">
                            <a:latin typeface="Cambria Math" panose="02040503050406030204" pitchFamily="18" charset="0"/>
                          </a:rPr>
                          <m:t>𝑛</m:t>
                        </m:r>
                      </m:den>
                    </m:f>
                  </m:oMath>
                </a14:m>
                <a:r>
                  <a:rPr lang="fr-CA" dirty="0"/>
                  <a:t>  et que </a:t>
                </a:r>
                <a14:m>
                  <m:oMath xmlns:m="http://schemas.openxmlformats.org/officeDocument/2006/math">
                    <m:acc>
                      <m:accPr>
                        <m:chr m:val="̅"/>
                        <m:ctrlPr>
                          <a:rPr lang="fr-CA" i="1">
                            <a:latin typeface="Cambria Math" panose="02040503050406030204" pitchFamily="18" charset="0"/>
                          </a:rPr>
                        </m:ctrlPr>
                      </m:accPr>
                      <m:e>
                        <m:r>
                          <a:rPr lang="fr-CA" b="0" i="1" smtClean="0">
                            <a:latin typeface="Cambria Math" panose="02040503050406030204" pitchFamily="18" charset="0"/>
                          </a:rPr>
                          <m:t>𝑌</m:t>
                        </m:r>
                      </m:e>
                    </m:acc>
                    <m:r>
                      <a:rPr lang="fr-CA" i="1">
                        <a:latin typeface="Cambria Math" panose="02040503050406030204" pitchFamily="18" charset="0"/>
                      </a:rPr>
                      <m:t> </m:t>
                    </m:r>
                    <m:r>
                      <a:rPr lang="fr-CA" i="1">
                        <a:latin typeface="Cambria Math" panose="02040503050406030204" pitchFamily="18" charset="0"/>
                      </a:rPr>
                      <m:t>𝑣𝑎</m:t>
                    </m:r>
                    <m:r>
                      <a:rPr lang="fr-CA" i="1">
                        <a:latin typeface="Cambria Math" panose="02040503050406030204" pitchFamily="18" charset="0"/>
                      </a:rPr>
                      <m:t> ê</m:t>
                    </m:r>
                    <m:r>
                      <a:rPr lang="fr-CA" i="1">
                        <a:latin typeface="Cambria Math" panose="02040503050406030204" pitchFamily="18" charset="0"/>
                      </a:rPr>
                      <m:t>𝑡𝑟𝑒</m:t>
                    </m:r>
                    <m:r>
                      <a:rPr lang="fr-CA" i="1">
                        <a:latin typeface="Cambria Math" panose="02040503050406030204" pitchFamily="18" charset="0"/>
                      </a:rPr>
                      <m:t> </m:t>
                    </m:r>
                    <m:r>
                      <a:rPr lang="fr-CA" i="1">
                        <a:latin typeface="Cambria Math" panose="02040503050406030204" pitchFamily="18" charset="0"/>
                      </a:rPr>
                      <m:t>𝑛𝑜𝑟𝑚𝑎𝑙𝑒𝑚𝑒𝑛𝑡</m:t>
                    </m:r>
                    <m:r>
                      <a:rPr lang="fr-CA" i="1">
                        <a:latin typeface="Cambria Math" panose="02040503050406030204" pitchFamily="18" charset="0"/>
                      </a:rPr>
                      <m:t>   </m:t>
                    </m:r>
                    <m:r>
                      <a:rPr lang="fr-CA" i="1">
                        <a:latin typeface="Cambria Math" panose="02040503050406030204" pitchFamily="18" charset="0"/>
                      </a:rPr>
                      <m:t>𝑑𝑖𝑠𝑡𝑟𝑖𝑏𝑢</m:t>
                    </m:r>
                    <m:r>
                      <a:rPr lang="fr-CA" i="1">
                        <a:latin typeface="Cambria Math" panose="02040503050406030204" pitchFamily="18" charset="0"/>
                      </a:rPr>
                      <m:t>é</m:t>
                    </m:r>
                    <m:r>
                      <a:rPr lang="fr-CA" i="1">
                        <a:latin typeface="Cambria Math" panose="02040503050406030204" pitchFamily="18" charset="0"/>
                      </a:rPr>
                      <m:t>𝑒</m:t>
                    </m:r>
                    <m:r>
                      <a:rPr lang="fr-CA" i="1">
                        <a:latin typeface="Cambria Math" panose="02040503050406030204" pitchFamily="18" charset="0"/>
                      </a:rPr>
                      <m:t>  </m:t>
                    </m:r>
                    <m:r>
                      <a:rPr lang="fr-CA" i="1">
                        <a:latin typeface="Cambria Math" panose="02040503050406030204" pitchFamily="18" charset="0"/>
                      </a:rPr>
                      <m:t>𝑎𝑣𝑒𝑐</m:t>
                    </m:r>
                    <m:r>
                      <a:rPr lang="fr-CA" i="1">
                        <a:latin typeface="Cambria Math" panose="02040503050406030204" pitchFamily="18" charset="0"/>
                      </a:rPr>
                      <m:t> </m:t>
                    </m:r>
                    <m:r>
                      <a:rPr lang="fr-CA" i="1">
                        <a:latin typeface="Cambria Math" panose="02040503050406030204" pitchFamily="18" charset="0"/>
                      </a:rPr>
                      <m:t>𝑢𝑛𝑒</m:t>
                    </m:r>
                    <m:r>
                      <a:rPr lang="fr-CA" i="1">
                        <a:latin typeface="Cambria Math" panose="02040503050406030204" pitchFamily="18" charset="0"/>
                      </a:rPr>
                      <m:t> </m:t>
                    </m:r>
                    <m:r>
                      <a:rPr lang="fr-CA" i="1">
                        <a:latin typeface="Cambria Math" panose="02040503050406030204" pitchFamily="18" charset="0"/>
                      </a:rPr>
                      <m:t>𝑚𝑜𝑦𝑒𝑛𝑛𝑒</m:t>
                    </m:r>
                    <m:r>
                      <a:rPr lang="fr-CA" i="1">
                        <a:latin typeface="Cambria Math" panose="02040503050406030204" pitchFamily="18" charset="0"/>
                      </a:rPr>
                      <m:t> </m:t>
                    </m:r>
                    <m:sSub>
                      <m:sSubPr>
                        <m:ctrlPr>
                          <a:rPr lang="fr-CA" i="1">
                            <a:latin typeface="Cambria Math" panose="02040503050406030204" pitchFamily="18" charset="0"/>
                          </a:rPr>
                        </m:ctrlPr>
                      </m:sSubPr>
                      <m:e>
                        <m:r>
                          <a:rPr lang="fr-CA" i="1">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ea typeface="Cambria Math" panose="02040503050406030204" pitchFamily="18" charset="0"/>
                          </a:rPr>
                          <m:t>𝑌</m:t>
                        </m:r>
                      </m:sub>
                    </m:sSub>
                    <m:r>
                      <a:rPr lang="fr-CA" i="1">
                        <a:latin typeface="Cambria Math" panose="02040503050406030204" pitchFamily="18" charset="0"/>
                      </a:rPr>
                      <m:t> </m:t>
                    </m:r>
                    <m:r>
                      <a:rPr lang="fr-CA" i="1">
                        <a:latin typeface="Cambria Math" panose="02040503050406030204" pitchFamily="18" charset="0"/>
                      </a:rPr>
                      <m:t>𝑒𝑡</m:t>
                    </m:r>
                    <m:r>
                      <a:rPr lang="fr-CA" i="1">
                        <a:latin typeface="Cambria Math" panose="02040503050406030204" pitchFamily="18" charset="0"/>
                      </a:rPr>
                      <m:t> </m:t>
                    </m:r>
                    <m:r>
                      <a:rPr lang="fr-CA" i="1">
                        <a:latin typeface="Cambria Math" panose="02040503050406030204" pitchFamily="18" charset="0"/>
                      </a:rPr>
                      <m:t>𝑢𝑛𝑒</m:t>
                    </m:r>
                    <m:r>
                      <a:rPr lang="fr-CA" i="1">
                        <a:latin typeface="Cambria Math" panose="02040503050406030204" pitchFamily="18" charset="0"/>
                      </a:rPr>
                      <m:t> </m:t>
                    </m:r>
                    <m:r>
                      <a:rPr lang="fr-CA" i="1">
                        <a:latin typeface="Cambria Math" panose="02040503050406030204" pitchFamily="18" charset="0"/>
                      </a:rPr>
                      <m:t>𝑣𝑎𝑟𝑖𝑎𝑛𝑐𝑒</m:t>
                    </m:r>
                    <m:r>
                      <a:rPr lang="fr-CA" i="1">
                        <a:latin typeface="Cambria Math" panose="02040503050406030204" pitchFamily="18" charset="0"/>
                      </a:rPr>
                      <m:t> </m:t>
                    </m:r>
                    <m:f>
                      <m:fPr>
                        <m:ctrlPr>
                          <a:rPr lang="fr-CA" i="1">
                            <a:latin typeface="Cambria Math" panose="02040503050406030204" pitchFamily="18" charset="0"/>
                          </a:rPr>
                        </m:ctrlPr>
                      </m:fPr>
                      <m:num>
                        <m:sSubSup>
                          <m:sSubSupPr>
                            <m:ctrlPr>
                              <a:rPr lang="fr-CA" i="1">
                                <a:latin typeface="Cambria Math" panose="02040503050406030204" pitchFamily="18" charset="0"/>
                              </a:rPr>
                            </m:ctrlPr>
                          </m:sSubSupPr>
                          <m:e>
                            <m:r>
                              <a:rPr lang="fr-CA" i="1">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ea typeface="Cambria Math" panose="02040503050406030204" pitchFamily="18" charset="0"/>
                              </a:rPr>
                              <m:t>𝑌</m:t>
                            </m:r>
                          </m:sub>
                          <m:sup>
                            <m:r>
                              <a:rPr lang="fr-CA" i="1">
                                <a:latin typeface="Cambria Math" panose="02040503050406030204" pitchFamily="18" charset="0"/>
                              </a:rPr>
                              <m:t>2</m:t>
                            </m:r>
                          </m:sup>
                        </m:sSubSup>
                      </m:num>
                      <m:den>
                        <m:r>
                          <a:rPr lang="fr-CA" b="0" i="1" smtClean="0">
                            <a:latin typeface="Cambria Math" panose="02040503050406030204" pitchFamily="18" charset="0"/>
                          </a:rPr>
                          <m:t>𝑚</m:t>
                        </m:r>
                      </m:den>
                    </m:f>
                    <m:r>
                      <a:rPr lang="fr-CA" b="0" i="1" smtClean="0">
                        <a:latin typeface="Cambria Math" panose="02040503050406030204" pitchFamily="18" charset="0"/>
                      </a:rPr>
                      <m:t>   </m:t>
                    </m:r>
                  </m:oMath>
                </a14:m>
                <a:r>
                  <a:rPr lang="fr-CA" dirty="0"/>
                  <a:t>et en plus ces deux variables sont indépendantes. Par conséquent:</a:t>
                </a:r>
              </a:p>
              <a:p>
                <a14:m>
                  <m:oMath xmlns:m="http://schemas.openxmlformats.org/officeDocument/2006/math">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𝑋</m:t>
                        </m:r>
                      </m:e>
                    </m:acc>
                    <m:r>
                      <a:rPr lang="fr-CA" b="0" i="1" smtClean="0">
                        <a:latin typeface="Cambria Math" panose="02040503050406030204" pitchFamily="18" charset="0"/>
                      </a:rPr>
                      <m:t>−</m:t>
                    </m:r>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𝑌</m:t>
                        </m:r>
                      </m:e>
                    </m:acc>
                    <m:r>
                      <a:rPr lang="fr-CA" b="0" i="1" smtClean="0">
                        <a:latin typeface="Cambria Math" panose="02040503050406030204" pitchFamily="18" charset="0"/>
                      </a:rPr>
                      <m:t>  </m:t>
                    </m:r>
                    <m:r>
                      <a:rPr lang="fr-CA" b="0" i="1" smtClean="0">
                        <a:latin typeface="Cambria Math" panose="02040503050406030204" pitchFamily="18" charset="0"/>
                      </a:rPr>
                      <m:t>𝑣𝑎</m:t>
                    </m:r>
                    <m:r>
                      <a:rPr lang="fr-CA" b="0" i="1" smtClean="0">
                        <a:latin typeface="Cambria Math" panose="02040503050406030204" pitchFamily="18" charset="0"/>
                      </a:rPr>
                      <m:t> ê</m:t>
                    </m:r>
                    <m:r>
                      <a:rPr lang="fr-CA" b="0" i="1" smtClean="0">
                        <a:latin typeface="Cambria Math" panose="02040503050406030204" pitchFamily="18" charset="0"/>
                      </a:rPr>
                      <m:t>𝑡𝑟𝑒</m:t>
                    </m:r>
                    <m:r>
                      <a:rPr lang="fr-CA" b="0" i="1" smtClean="0">
                        <a:latin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𝒩</m:t>
                    </m:r>
                    <m:r>
                      <a:rPr lang="fr-CA" b="0" i="1" smtClean="0">
                        <a:latin typeface="Cambria Math" panose="02040503050406030204" pitchFamily="18" charset="0"/>
                        <a:ea typeface="Cambria Math" panose="02040503050406030204" pitchFamily="18" charset="0"/>
                      </a:rPr>
                      <m: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ea typeface="Cambria Math" panose="02040503050406030204" pitchFamily="18" charset="0"/>
                          </a:rPr>
                          <m:t>𝑋</m:t>
                        </m:r>
                      </m:sub>
                    </m:sSub>
                    <m:r>
                      <a:rPr lang="fr-CA" b="0" i="1" smtClean="0">
                        <a:latin typeface="Cambria Math" panose="02040503050406030204" pitchFamily="18" charset="0"/>
                        <a:ea typeface="Cambria Math" panose="02040503050406030204" pitchFamily="18" charset="0"/>
                      </a:rPr>
                      <m: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ea typeface="Cambria Math" panose="02040503050406030204" pitchFamily="18" charset="0"/>
                          </a:rPr>
                          <m:t>𝑌</m:t>
                        </m:r>
                      </m:sub>
                    </m:sSub>
                    <m:r>
                      <a:rPr lang="fr-CA" b="0" i="1" smtClean="0">
                        <a:latin typeface="Cambria Math" panose="02040503050406030204" pitchFamily="18" charset="0"/>
                        <a:ea typeface="Cambria Math" panose="02040503050406030204" pitchFamily="18" charset="0"/>
                      </a:rPr>
                      <m:t>; </m:t>
                    </m:r>
                    <m:f>
                      <m:fPr>
                        <m:ctrlPr>
                          <a:rPr lang="fr-CA" i="1">
                            <a:latin typeface="Cambria Math" panose="02040503050406030204" pitchFamily="18" charset="0"/>
                          </a:rPr>
                        </m:ctrlPr>
                      </m:fPr>
                      <m:num>
                        <m:sSubSup>
                          <m:sSubSupPr>
                            <m:ctrlPr>
                              <a:rPr lang="fr-CA" i="1">
                                <a:latin typeface="Cambria Math" panose="02040503050406030204" pitchFamily="18" charset="0"/>
                              </a:rPr>
                            </m:ctrlPr>
                          </m:sSubSupPr>
                          <m:e>
                            <m:r>
                              <a:rPr lang="fr-CA" i="1">
                                <a:latin typeface="Cambria Math" panose="02040503050406030204" pitchFamily="18" charset="0"/>
                                <a:ea typeface="Cambria Math" panose="02040503050406030204" pitchFamily="18" charset="0"/>
                              </a:rPr>
                              <m:t>𝜎</m:t>
                            </m:r>
                          </m:e>
                          <m:sub>
                            <m:r>
                              <a:rPr lang="fr-CA" i="1">
                                <a:latin typeface="Cambria Math" panose="02040503050406030204" pitchFamily="18" charset="0"/>
                              </a:rPr>
                              <m:t>𝑋</m:t>
                            </m:r>
                          </m:sub>
                          <m:sup>
                            <m:r>
                              <a:rPr lang="fr-CA" i="1">
                                <a:latin typeface="Cambria Math" panose="02040503050406030204" pitchFamily="18" charset="0"/>
                              </a:rPr>
                              <m:t>2</m:t>
                            </m:r>
                          </m:sup>
                        </m:sSubSup>
                      </m:num>
                      <m:den>
                        <m:r>
                          <a:rPr lang="fr-CA" i="1">
                            <a:latin typeface="Cambria Math" panose="02040503050406030204" pitchFamily="18" charset="0"/>
                          </a:rPr>
                          <m:t>𝑛</m:t>
                        </m:r>
                      </m:den>
                    </m:f>
                  </m:oMath>
                </a14:m>
                <a:r>
                  <a:rPr lang="fr-CA" dirty="0"/>
                  <a:t>+ </a:t>
                </a:r>
                <a14:m>
                  <m:oMath xmlns:m="http://schemas.openxmlformats.org/officeDocument/2006/math">
                    <m:f>
                      <m:fPr>
                        <m:ctrlPr>
                          <a:rPr lang="fr-CA" i="1">
                            <a:latin typeface="Cambria Math" panose="02040503050406030204" pitchFamily="18" charset="0"/>
                          </a:rPr>
                        </m:ctrlPr>
                      </m:fPr>
                      <m:num>
                        <m:sSubSup>
                          <m:sSubSupPr>
                            <m:ctrlPr>
                              <a:rPr lang="fr-CA" i="1">
                                <a:latin typeface="Cambria Math" panose="02040503050406030204" pitchFamily="18" charset="0"/>
                              </a:rPr>
                            </m:ctrlPr>
                          </m:sSubSupPr>
                          <m:e>
                            <m:r>
                              <a:rPr lang="fr-CA" i="1">
                                <a:latin typeface="Cambria Math" panose="02040503050406030204" pitchFamily="18" charset="0"/>
                                <a:ea typeface="Cambria Math" panose="02040503050406030204" pitchFamily="18" charset="0"/>
                              </a:rPr>
                              <m:t>𝜎</m:t>
                            </m:r>
                          </m:e>
                          <m:sub>
                            <m:r>
                              <a:rPr lang="fr-CA" i="1">
                                <a:latin typeface="Cambria Math" panose="02040503050406030204" pitchFamily="18" charset="0"/>
                                <a:ea typeface="Cambria Math" panose="02040503050406030204" pitchFamily="18" charset="0"/>
                              </a:rPr>
                              <m:t>𝑌</m:t>
                            </m:r>
                          </m:sub>
                          <m:sup>
                            <m:r>
                              <a:rPr lang="fr-CA" i="1">
                                <a:latin typeface="Cambria Math" panose="02040503050406030204" pitchFamily="18" charset="0"/>
                              </a:rPr>
                              <m:t>2</m:t>
                            </m:r>
                          </m:sup>
                        </m:sSubSup>
                      </m:num>
                      <m:den>
                        <m:r>
                          <a:rPr lang="fr-CA" i="1">
                            <a:latin typeface="Cambria Math" panose="02040503050406030204" pitchFamily="18" charset="0"/>
                          </a:rPr>
                          <m:t>𝑚</m:t>
                        </m:r>
                      </m:den>
                    </m:f>
                    <m:r>
                      <a:rPr lang="fr-CA" i="1">
                        <a:latin typeface="Cambria Math" panose="02040503050406030204" pitchFamily="18" charset="0"/>
                      </a:rPr>
                      <m:t> </m:t>
                    </m:r>
                  </m:oMath>
                </a14:m>
                <a:r>
                  <a:rPr lang="fr-CA" dirty="0"/>
                  <a:t>)   en estimant les variances on aura:</a:t>
                </a:r>
              </a:p>
              <a:p>
                <a:endParaRPr lang="fr-CA" dirty="0"/>
              </a:p>
              <a:p>
                <a:pPr/>
                <a14:m>
                  <m:oMathPara xmlns:m="http://schemas.openxmlformats.org/officeDocument/2006/math">
                    <m:oMathParaPr>
                      <m:jc m:val="centerGroup"/>
                    </m:oMathParaPr>
                    <m:oMath xmlns:m="http://schemas.openxmlformats.org/officeDocument/2006/math">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𝑋</m:t>
                          </m:r>
                        </m:e>
                      </m:acc>
                      <m:r>
                        <a:rPr lang="fr-CA" b="0" i="1" smtClean="0">
                          <a:latin typeface="Cambria Math" panose="02040503050406030204" pitchFamily="18" charset="0"/>
                        </a:rPr>
                        <m:t>−</m:t>
                      </m:r>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𝑌</m:t>
                          </m:r>
                        </m:e>
                      </m:acc>
                      <m:r>
                        <a:rPr lang="fr-CA" b="0" i="1" smtClean="0">
                          <a:latin typeface="Cambria Math" panose="02040503050406030204" pitchFamily="18" charset="0"/>
                        </a:rPr>
                        <m:t>  </m:t>
                      </m:r>
                      <m:r>
                        <a:rPr lang="fr-CA" b="0" i="1" smtClean="0">
                          <a:latin typeface="Cambria Math" panose="02040503050406030204" pitchFamily="18" charset="0"/>
                        </a:rPr>
                        <m:t>𝑣𝑎</m:t>
                      </m:r>
                      <m:r>
                        <a:rPr lang="fr-CA" b="0" i="1" smtClean="0">
                          <a:latin typeface="Cambria Math" panose="02040503050406030204" pitchFamily="18" charset="0"/>
                        </a:rPr>
                        <m:t> ê</m:t>
                      </m:r>
                      <m:r>
                        <a:rPr lang="fr-CA" b="0" i="1" smtClean="0">
                          <a:latin typeface="Cambria Math" panose="02040503050406030204" pitchFamily="18" charset="0"/>
                        </a:rPr>
                        <m:t>𝑡𝑟𝑒</m:t>
                      </m:r>
                      <m:r>
                        <a:rPr lang="fr-CA" b="0" i="1" smtClean="0">
                          <a:latin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𝒩</m:t>
                      </m:r>
                      <m:r>
                        <a:rPr lang="fr-CA" b="0" i="1" smtClean="0">
                          <a:latin typeface="Cambria Math" panose="02040503050406030204" pitchFamily="18" charset="0"/>
                          <a:ea typeface="Cambria Math" panose="02040503050406030204" pitchFamily="18" charset="0"/>
                        </a:rPr>
                        <m: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ea typeface="Cambria Math" panose="02040503050406030204" pitchFamily="18" charset="0"/>
                            </a:rPr>
                            <m:t>𝑋</m:t>
                          </m:r>
                        </m:sub>
                      </m:sSub>
                      <m:r>
                        <a:rPr lang="fr-CA" b="0" i="1" smtClean="0">
                          <a:latin typeface="Cambria Math" panose="02040503050406030204" pitchFamily="18" charset="0"/>
                          <a:ea typeface="Cambria Math" panose="02040503050406030204" pitchFamily="18" charset="0"/>
                        </a:rPr>
                        <m: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ea typeface="Cambria Math" panose="02040503050406030204" pitchFamily="18" charset="0"/>
                            </a:rPr>
                            <m:t>𝑌</m:t>
                          </m:r>
                        </m:sub>
                      </m:sSub>
                      <m:r>
                        <a:rPr lang="fr-CA" b="0" i="0" smtClean="0">
                          <a:latin typeface="Cambria Math" panose="02040503050406030204" pitchFamily="18" charset="0"/>
                          <a:ea typeface="Cambria Math" panose="02040503050406030204" pitchFamily="18" charset="0"/>
                        </a:rPr>
                        <m:t>; </m:t>
                      </m:r>
                      <m:sSubSup>
                        <m:sSubSupPr>
                          <m:ctrlPr>
                            <a:rPr lang="fr-CA" b="0" i="1" smtClean="0">
                              <a:latin typeface="Cambria Math" panose="02040503050406030204" pitchFamily="18" charset="0"/>
                              <a:ea typeface="Cambria Math" panose="02040503050406030204" pitchFamily="18" charset="0"/>
                            </a:rPr>
                          </m:ctrlPr>
                        </m:sSubSupPr>
                        <m:e>
                          <m:r>
                            <a:rPr lang="fr-CA" b="0" i="1" smtClean="0">
                              <a:latin typeface="Cambria Math" panose="02040503050406030204" pitchFamily="18" charset="0"/>
                              <a:ea typeface="Cambria Math" panose="02040503050406030204" pitchFamily="18" charset="0"/>
                            </a:rPr>
                            <m:t>𝑠</m:t>
                          </m:r>
                        </m:e>
                        <m:sub>
                          <m:r>
                            <a:rPr lang="fr-CA" b="0" i="1" smtClean="0">
                              <a:latin typeface="Cambria Math" panose="02040503050406030204" pitchFamily="18" charset="0"/>
                              <a:ea typeface="Cambria Math" panose="02040503050406030204" pitchFamily="18" charset="0"/>
                            </a:rPr>
                            <m:t>𝑝</m:t>
                          </m:r>
                        </m:sub>
                        <m:sup>
                          <m:r>
                            <a:rPr lang="fr-CA" b="0" i="1" smtClean="0">
                              <a:latin typeface="Cambria Math" panose="02040503050406030204" pitchFamily="18" charset="0"/>
                              <a:ea typeface="Cambria Math" panose="02040503050406030204" pitchFamily="18" charset="0"/>
                            </a:rPr>
                            <m:t>2</m:t>
                          </m:r>
                        </m:sup>
                      </m:sSubSup>
                      <m:d>
                        <m:dPr>
                          <m:ctrlPr>
                            <a:rPr lang="fr-CA" b="0" i="1" smtClean="0">
                              <a:latin typeface="Cambria Math" panose="02040503050406030204" pitchFamily="18" charset="0"/>
                              <a:ea typeface="Cambria Math" panose="02040503050406030204" pitchFamily="18" charset="0"/>
                            </a:rPr>
                          </m:ctrlPr>
                        </m:dPr>
                        <m:e>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1</m:t>
                              </m:r>
                            </m:num>
                            <m:den>
                              <m:r>
                                <a:rPr lang="fr-CA" b="0" i="1" smtClean="0">
                                  <a:latin typeface="Cambria Math" panose="02040503050406030204" pitchFamily="18" charset="0"/>
                                  <a:ea typeface="Cambria Math" panose="02040503050406030204" pitchFamily="18" charset="0"/>
                                </a:rPr>
                                <m:t>𝑛</m:t>
                              </m:r>
                            </m:den>
                          </m:f>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1</m:t>
                              </m:r>
                            </m:num>
                            <m:den>
                              <m:r>
                                <a:rPr lang="fr-CA" b="0" i="1" smtClean="0">
                                  <a:latin typeface="Cambria Math" panose="02040503050406030204" pitchFamily="18" charset="0"/>
                                  <a:ea typeface="Cambria Math" panose="02040503050406030204" pitchFamily="18" charset="0"/>
                                </a:rPr>
                                <m:t>𝑚</m:t>
                              </m:r>
                            </m:den>
                          </m:f>
                        </m:e>
                      </m:d>
                      <m:r>
                        <a:rPr lang="fr-CA" b="0" i="1" smtClean="0">
                          <a:latin typeface="Cambria Math" panose="02040503050406030204" pitchFamily="18" charset="0"/>
                          <a:ea typeface="Cambria Math" panose="02040503050406030204" pitchFamily="18" charset="0"/>
                        </a:rPr>
                        <m:t>)</m:t>
                      </m:r>
                    </m:oMath>
                  </m:oMathPara>
                </a14:m>
                <a:endParaRPr lang="fr-CA" dirty="0"/>
              </a:p>
            </p:txBody>
          </p:sp>
        </mc:Choice>
        <mc:Fallback xmlns="">
          <p:sp>
            <p:nvSpPr>
              <p:cNvPr id="5" name="ZoneTexte 4">
                <a:extLst>
                  <a:ext uri="{FF2B5EF4-FFF2-40B4-BE49-F238E27FC236}">
                    <a16:creationId xmlns:a16="http://schemas.microsoft.com/office/drawing/2014/main" id="{3B12CF2B-BE2D-49F1-87BD-E19B5DC47264}"/>
                  </a:ext>
                </a:extLst>
              </p:cNvPr>
              <p:cNvSpPr txBox="1">
                <a:spLocks noRot="1" noChangeAspect="1" noMove="1" noResize="1" noEditPoints="1" noAdjustHandles="1" noChangeArrowheads="1" noChangeShapeType="1" noTextEdit="1"/>
              </p:cNvSpPr>
              <p:nvPr/>
            </p:nvSpPr>
            <p:spPr>
              <a:xfrm>
                <a:off x="1021976" y="1690688"/>
                <a:ext cx="9870142" cy="4276492"/>
              </a:xfrm>
              <a:prstGeom prst="rect">
                <a:avLst/>
              </a:prstGeom>
              <a:blipFill>
                <a:blip r:embed="rId2"/>
                <a:stretch>
                  <a:fillRect l="-556" t="-570" r="-803"/>
                </a:stretch>
              </a:blipFill>
            </p:spPr>
            <p:txBody>
              <a:bodyPr/>
              <a:lstStyle/>
              <a:p>
                <a:r>
                  <a:rPr lang="fr-CA">
                    <a:noFill/>
                  </a:rPr>
                  <a:t> </a:t>
                </a:r>
              </a:p>
            </p:txBody>
          </p:sp>
        </mc:Fallback>
      </mc:AlternateContent>
    </p:spTree>
    <p:extLst>
      <p:ext uri="{BB962C8B-B14F-4D97-AF65-F5344CB8AC3E}">
        <p14:creationId xmlns:p14="http://schemas.microsoft.com/office/powerpoint/2010/main" val="1631836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7E9A4A-53F0-4F57-947B-E4AF136F2C62}"/>
              </a:ext>
            </a:extLst>
          </p:cNvPr>
          <p:cNvSpPr>
            <a:spLocks noGrp="1"/>
          </p:cNvSpPr>
          <p:nvPr>
            <p:ph type="title"/>
          </p:nvPr>
        </p:nvSpPr>
        <p:spPr/>
        <p:txBody>
          <a:bodyPr/>
          <a:lstStyle/>
          <a:p>
            <a:r>
              <a:rPr lang="fr-CA" dirty="0"/>
              <a:t>En standardisant cette différence, on obtient:</a:t>
            </a:r>
          </a:p>
        </p:txBody>
      </p:sp>
      <p:sp>
        <p:nvSpPr>
          <p:cNvPr id="3" name="Espace réservé du pied de page 2">
            <a:extLst>
              <a:ext uri="{FF2B5EF4-FFF2-40B4-BE49-F238E27FC236}">
                <a16:creationId xmlns:a16="http://schemas.microsoft.com/office/drawing/2014/main" id="{221E1DBE-057C-4F3B-88F0-3DB30046D3BE}"/>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5C94ECA1-D55C-4A9C-AF20-05FCCE6EEC5F}"/>
              </a:ext>
            </a:extLst>
          </p:cNvPr>
          <p:cNvSpPr>
            <a:spLocks noGrp="1"/>
          </p:cNvSpPr>
          <p:nvPr>
            <p:ph type="sldNum" sz="quarter" idx="12"/>
          </p:nvPr>
        </p:nvSpPr>
        <p:spPr/>
        <p:txBody>
          <a:bodyPr/>
          <a:lstStyle/>
          <a:p>
            <a:fld id="{26377AD9-CE17-438C-A638-C64D2D42D7CF}" type="slidenum">
              <a:rPr lang="fr-CA" smtClean="0"/>
              <a:t>3</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0D3D6715-FA72-42B2-8AF7-4E2195EB16FE}"/>
                  </a:ext>
                </a:extLst>
              </p:cNvPr>
              <p:cNvSpPr txBox="1"/>
              <p:nvPr/>
            </p:nvSpPr>
            <p:spPr>
              <a:xfrm>
                <a:off x="1048871" y="1788459"/>
                <a:ext cx="9628094" cy="430156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CA" sz="2000" i="1" smtClean="0">
                              <a:latin typeface="Cambria Math" panose="02040503050406030204" pitchFamily="18" charset="0"/>
                            </a:rPr>
                          </m:ctrlPr>
                        </m:sSubPr>
                        <m:e>
                          <m:r>
                            <a:rPr lang="fr-CA" sz="2000" b="0" i="1" smtClean="0">
                              <a:latin typeface="Cambria Math" panose="02040503050406030204" pitchFamily="18" charset="0"/>
                            </a:rPr>
                            <m:t>𝑇</m:t>
                          </m:r>
                        </m:e>
                        <m:sub>
                          <m:r>
                            <a:rPr lang="fr-CA" sz="2000" b="0" i="1" smtClean="0">
                              <a:latin typeface="Cambria Math" panose="02040503050406030204" pitchFamily="18" charset="0"/>
                            </a:rPr>
                            <m:t>𝑛</m:t>
                          </m:r>
                          <m:r>
                            <a:rPr lang="fr-CA" sz="2000" b="0" i="1" smtClean="0">
                              <a:latin typeface="Cambria Math" panose="02040503050406030204" pitchFamily="18" charset="0"/>
                            </a:rPr>
                            <m:t>+</m:t>
                          </m:r>
                          <m:r>
                            <a:rPr lang="fr-CA" sz="2000" b="0" i="1" smtClean="0">
                              <a:latin typeface="Cambria Math" panose="02040503050406030204" pitchFamily="18" charset="0"/>
                            </a:rPr>
                            <m:t>𝑚</m:t>
                          </m:r>
                          <m:r>
                            <a:rPr lang="fr-CA" sz="2000" b="0" i="1" smtClean="0">
                              <a:latin typeface="Cambria Math" panose="02040503050406030204" pitchFamily="18" charset="0"/>
                            </a:rPr>
                            <m:t>−2</m:t>
                          </m:r>
                        </m:sub>
                      </m:sSub>
                      <m:r>
                        <a:rPr lang="fr-CA" sz="2000" b="0" i="1" smtClean="0">
                          <a:latin typeface="Cambria Math" panose="02040503050406030204" pitchFamily="18" charset="0"/>
                        </a:rPr>
                        <m:t>=</m:t>
                      </m:r>
                      <m:f>
                        <m:fPr>
                          <m:ctrlPr>
                            <a:rPr lang="fr-CA" sz="2000" b="0" i="1" smtClean="0">
                              <a:latin typeface="Cambria Math" panose="02040503050406030204" pitchFamily="18" charset="0"/>
                            </a:rPr>
                          </m:ctrlPr>
                        </m:fPr>
                        <m:num>
                          <m:d>
                            <m:dPr>
                              <m:ctrlPr>
                                <a:rPr lang="fr-CA" sz="2000" b="0" i="1" smtClean="0">
                                  <a:latin typeface="Cambria Math" panose="02040503050406030204" pitchFamily="18" charset="0"/>
                                </a:rPr>
                              </m:ctrlPr>
                            </m:dPr>
                            <m:e>
                              <m:acc>
                                <m:accPr>
                                  <m:chr m:val="̅"/>
                                  <m:ctrlPr>
                                    <a:rPr lang="fr-CA" sz="2000" b="0" i="1" smtClean="0">
                                      <a:latin typeface="Cambria Math" panose="02040503050406030204" pitchFamily="18" charset="0"/>
                                    </a:rPr>
                                  </m:ctrlPr>
                                </m:accPr>
                                <m:e>
                                  <m:r>
                                    <a:rPr lang="fr-CA" sz="2000" b="0" i="1" smtClean="0">
                                      <a:latin typeface="Cambria Math" panose="02040503050406030204" pitchFamily="18" charset="0"/>
                                    </a:rPr>
                                    <m:t>𝑋</m:t>
                                  </m:r>
                                </m:e>
                              </m:acc>
                              <m:r>
                                <a:rPr lang="fr-CA" sz="2000" b="0" i="1" smtClean="0">
                                  <a:latin typeface="Cambria Math" panose="02040503050406030204" pitchFamily="18" charset="0"/>
                                </a:rPr>
                                <m:t>−</m:t>
                              </m:r>
                              <m:acc>
                                <m:accPr>
                                  <m:chr m:val="̅"/>
                                  <m:ctrlPr>
                                    <a:rPr lang="fr-CA" sz="2000" b="0" i="1" smtClean="0">
                                      <a:latin typeface="Cambria Math" panose="02040503050406030204" pitchFamily="18" charset="0"/>
                                    </a:rPr>
                                  </m:ctrlPr>
                                </m:accPr>
                                <m:e>
                                  <m:r>
                                    <a:rPr lang="fr-CA" sz="2000" b="0" i="1" smtClean="0">
                                      <a:latin typeface="Cambria Math" panose="02040503050406030204" pitchFamily="18" charset="0"/>
                                    </a:rPr>
                                    <m:t>𝑌</m:t>
                                  </m:r>
                                </m:e>
                              </m:acc>
                            </m:e>
                          </m:d>
                          <m:r>
                            <a:rPr lang="fr-CA" sz="2000" b="0" i="1" smtClean="0">
                              <a:latin typeface="Cambria Math" panose="02040503050406030204" pitchFamily="18" charset="0"/>
                            </a:rPr>
                            <m:t>−(</m:t>
                          </m:r>
                          <m:sSub>
                            <m:sSubPr>
                              <m:ctrlPr>
                                <a:rPr lang="fr-CA" sz="2000" b="0" i="1" smtClean="0">
                                  <a:latin typeface="Cambria Math" panose="02040503050406030204" pitchFamily="18" charset="0"/>
                                </a:rPr>
                              </m:ctrlPr>
                            </m:sSubPr>
                            <m:e>
                              <m:r>
                                <a:rPr lang="fr-CA" sz="2000" b="0" i="1" smtClean="0">
                                  <a:latin typeface="Cambria Math" panose="02040503050406030204" pitchFamily="18" charset="0"/>
                                  <a:ea typeface="Cambria Math" panose="02040503050406030204" pitchFamily="18" charset="0"/>
                                </a:rPr>
                                <m:t>𝜇</m:t>
                              </m:r>
                            </m:e>
                            <m:sub>
                              <m:r>
                                <a:rPr lang="fr-CA" sz="2000" b="0" i="1" smtClean="0">
                                  <a:latin typeface="Cambria Math" panose="02040503050406030204" pitchFamily="18" charset="0"/>
                                </a:rPr>
                                <m:t>𝑋</m:t>
                              </m:r>
                            </m:sub>
                          </m:sSub>
                          <m:r>
                            <a:rPr lang="fr-CA" sz="2000" b="0" i="1" smtClean="0">
                              <a:latin typeface="Cambria Math" panose="02040503050406030204" pitchFamily="18" charset="0"/>
                            </a:rPr>
                            <m:t>−</m:t>
                          </m:r>
                          <m:sSub>
                            <m:sSubPr>
                              <m:ctrlPr>
                                <a:rPr lang="fr-CA" sz="2000" b="0" i="1" smtClean="0">
                                  <a:latin typeface="Cambria Math" panose="02040503050406030204" pitchFamily="18" charset="0"/>
                                </a:rPr>
                              </m:ctrlPr>
                            </m:sSubPr>
                            <m:e>
                              <m:r>
                                <a:rPr lang="fr-CA" sz="2000" b="0" i="1" smtClean="0">
                                  <a:latin typeface="Cambria Math" panose="02040503050406030204" pitchFamily="18" charset="0"/>
                                  <a:ea typeface="Cambria Math" panose="02040503050406030204" pitchFamily="18" charset="0"/>
                                </a:rPr>
                                <m:t>𝜇</m:t>
                              </m:r>
                            </m:e>
                            <m:sub>
                              <m:r>
                                <a:rPr lang="fr-CA" sz="2000" b="0" i="1" smtClean="0">
                                  <a:latin typeface="Cambria Math" panose="02040503050406030204" pitchFamily="18" charset="0"/>
                                </a:rPr>
                                <m:t>𝑌</m:t>
                              </m:r>
                            </m:sub>
                          </m:sSub>
                          <m:r>
                            <a:rPr lang="fr-CA" sz="2000" b="0" i="1" smtClean="0">
                              <a:latin typeface="Cambria Math" panose="02040503050406030204" pitchFamily="18" charset="0"/>
                            </a:rPr>
                            <m:t>)</m:t>
                          </m:r>
                        </m:num>
                        <m:den>
                          <m:sSub>
                            <m:sSubPr>
                              <m:ctrlPr>
                                <a:rPr lang="fr-CA" sz="2000" b="0" i="1" smtClean="0">
                                  <a:latin typeface="Cambria Math" panose="02040503050406030204" pitchFamily="18" charset="0"/>
                                </a:rPr>
                              </m:ctrlPr>
                            </m:sSubPr>
                            <m:e>
                              <m:r>
                                <a:rPr lang="fr-CA" sz="2000" b="0" i="1" smtClean="0">
                                  <a:latin typeface="Cambria Math" panose="02040503050406030204" pitchFamily="18" charset="0"/>
                                </a:rPr>
                                <m:t>𝑠</m:t>
                              </m:r>
                            </m:e>
                            <m:sub>
                              <m:r>
                                <a:rPr lang="fr-CA" sz="2000" b="0" i="1" smtClean="0">
                                  <a:latin typeface="Cambria Math" panose="02040503050406030204" pitchFamily="18" charset="0"/>
                                </a:rPr>
                                <m:t>𝑝</m:t>
                              </m:r>
                            </m:sub>
                          </m:sSub>
                          <m:rad>
                            <m:radPr>
                              <m:degHide m:val="on"/>
                              <m:ctrlPr>
                                <a:rPr lang="fr-CA" sz="2000" b="0" i="1" smtClean="0">
                                  <a:latin typeface="Cambria Math" panose="02040503050406030204" pitchFamily="18" charset="0"/>
                                </a:rPr>
                              </m:ctrlPr>
                            </m:radPr>
                            <m:deg/>
                            <m:e>
                              <m:f>
                                <m:fPr>
                                  <m:ctrlPr>
                                    <a:rPr lang="fr-CA" sz="2000" b="0" i="1" smtClean="0">
                                      <a:latin typeface="Cambria Math" panose="02040503050406030204" pitchFamily="18" charset="0"/>
                                    </a:rPr>
                                  </m:ctrlPr>
                                </m:fPr>
                                <m:num>
                                  <m:r>
                                    <a:rPr lang="fr-CA" sz="2000" b="0" i="1" smtClean="0">
                                      <a:latin typeface="Cambria Math" panose="02040503050406030204" pitchFamily="18" charset="0"/>
                                    </a:rPr>
                                    <m:t>1</m:t>
                                  </m:r>
                                </m:num>
                                <m:den>
                                  <m:r>
                                    <a:rPr lang="fr-CA" sz="2000" b="0" i="1" smtClean="0">
                                      <a:latin typeface="Cambria Math" panose="02040503050406030204" pitchFamily="18" charset="0"/>
                                    </a:rPr>
                                    <m:t>𝑛</m:t>
                                  </m:r>
                                </m:den>
                              </m:f>
                              <m:r>
                                <a:rPr lang="fr-CA" sz="2000" b="0" i="1" smtClean="0">
                                  <a:latin typeface="Cambria Math" panose="02040503050406030204" pitchFamily="18" charset="0"/>
                                </a:rPr>
                                <m:t>+</m:t>
                              </m:r>
                              <m:f>
                                <m:fPr>
                                  <m:ctrlPr>
                                    <a:rPr lang="fr-CA" sz="2000" b="0" i="1" smtClean="0">
                                      <a:latin typeface="Cambria Math" panose="02040503050406030204" pitchFamily="18" charset="0"/>
                                    </a:rPr>
                                  </m:ctrlPr>
                                </m:fPr>
                                <m:num>
                                  <m:r>
                                    <a:rPr lang="fr-CA" sz="2000" b="0" i="1" smtClean="0">
                                      <a:latin typeface="Cambria Math" panose="02040503050406030204" pitchFamily="18" charset="0"/>
                                    </a:rPr>
                                    <m:t>1</m:t>
                                  </m:r>
                                </m:num>
                                <m:den>
                                  <m:r>
                                    <a:rPr lang="fr-CA" sz="2000" b="0" i="1" smtClean="0">
                                      <a:latin typeface="Cambria Math" panose="02040503050406030204" pitchFamily="18" charset="0"/>
                                    </a:rPr>
                                    <m:t>𝑚</m:t>
                                  </m:r>
                                </m:den>
                              </m:f>
                            </m:e>
                          </m:rad>
                        </m:den>
                      </m:f>
                    </m:oMath>
                  </m:oMathPara>
                </a14:m>
                <a:endParaRPr lang="fr-CA" sz="2000" dirty="0"/>
              </a:p>
              <a:p>
                <a:r>
                  <a:rPr lang="fr-CA" sz="2000" dirty="0"/>
                  <a:t>On va donc se baser sur cette variable pour mener nos tests d’hypothèses.</a:t>
                </a:r>
              </a:p>
              <a:p>
                <a:endParaRPr lang="fr-CA" sz="2000" dirty="0"/>
              </a:p>
              <a:p>
                <a:r>
                  <a:rPr lang="fr-CA" sz="2000" dirty="0"/>
                  <a:t>Si </a:t>
                </a:r>
                <a14:m>
                  <m:oMath xmlns:m="http://schemas.openxmlformats.org/officeDocument/2006/math">
                    <m:sSub>
                      <m:sSubPr>
                        <m:ctrlPr>
                          <a:rPr lang="fr-CA" sz="2000" i="1" smtClean="0">
                            <a:latin typeface="Cambria Math" panose="02040503050406030204" pitchFamily="18" charset="0"/>
                          </a:rPr>
                        </m:ctrlPr>
                      </m:sSubPr>
                      <m:e>
                        <m:r>
                          <a:rPr lang="fr-CA" sz="2000" b="0" i="1" smtClean="0">
                            <a:latin typeface="Cambria Math" panose="02040503050406030204" pitchFamily="18" charset="0"/>
                          </a:rPr>
                          <m:t>𝐻</m:t>
                        </m:r>
                      </m:e>
                      <m:sub>
                        <m:r>
                          <a:rPr lang="fr-CA" sz="2000" b="0" i="1" smtClean="0">
                            <a:latin typeface="Cambria Math" panose="02040503050406030204" pitchFamily="18" charset="0"/>
                          </a:rPr>
                          <m:t>0   </m:t>
                        </m:r>
                      </m:sub>
                    </m:sSub>
                    <m:r>
                      <a:rPr lang="fr-CA" sz="2000" b="0" i="1" smtClean="0">
                        <a:latin typeface="Cambria Math" panose="02040503050406030204" pitchFamily="18" charset="0"/>
                      </a:rPr>
                      <m:t>𝑒𝑠𝑡</m:t>
                    </m:r>
                    <m:r>
                      <a:rPr lang="fr-CA" sz="2000" b="0" i="1" smtClean="0">
                        <a:latin typeface="Cambria Math" panose="02040503050406030204" pitchFamily="18" charset="0"/>
                      </a:rPr>
                      <m:t> </m:t>
                    </m:r>
                    <m:r>
                      <a:rPr lang="fr-CA" sz="2000" b="0" i="1" smtClean="0">
                        <a:latin typeface="Cambria Math" panose="02040503050406030204" pitchFamily="18" charset="0"/>
                      </a:rPr>
                      <m:t>𝑣𝑟𝑎𝑖𝑒</m:t>
                    </m:r>
                    <m:r>
                      <a:rPr lang="fr-CA" sz="2000" b="0" i="1" smtClean="0">
                        <a:latin typeface="Cambria Math" panose="02040503050406030204" pitchFamily="18" charset="0"/>
                      </a:rPr>
                      <m:t> </m:t>
                    </m:r>
                    <m:r>
                      <a:rPr lang="fr-CA" sz="2000" b="0" i="1" smtClean="0">
                        <a:latin typeface="Cambria Math" panose="02040503050406030204" pitchFamily="18" charset="0"/>
                      </a:rPr>
                      <m:t>𝑒𝑡</m:t>
                    </m:r>
                    <m:r>
                      <a:rPr lang="fr-CA" sz="2000" b="0" i="1" smtClean="0">
                        <a:latin typeface="Cambria Math" panose="02040503050406030204" pitchFamily="18" charset="0"/>
                      </a:rPr>
                      <m:t> </m:t>
                    </m:r>
                    <m:r>
                      <a:rPr lang="fr-CA" sz="2000" b="0" i="1" smtClean="0">
                        <a:latin typeface="Cambria Math" panose="02040503050406030204" pitchFamily="18" charset="0"/>
                      </a:rPr>
                      <m:t>𝑝𝑜𝑢𝑟</m:t>
                    </m:r>
                    <m:r>
                      <a:rPr lang="fr-CA" sz="2000" b="0" i="1" smtClean="0">
                        <a:latin typeface="Cambria Math" panose="02040503050406030204" pitchFamily="18" charset="0"/>
                      </a:rPr>
                      <m:t> </m:t>
                    </m:r>
                    <m:r>
                      <a:rPr lang="fr-CA" sz="2000" b="0" i="1" smtClean="0">
                        <a:latin typeface="Cambria Math" panose="02040503050406030204" pitchFamily="18" charset="0"/>
                      </a:rPr>
                      <m:t>𝑢𝑛</m:t>
                    </m:r>
                    <m:r>
                      <a:rPr lang="fr-CA" sz="2000" b="0" i="1" smtClean="0">
                        <a:latin typeface="Cambria Math" panose="02040503050406030204" pitchFamily="18" charset="0"/>
                      </a:rPr>
                      <m:t> </m:t>
                    </m:r>
                    <m:r>
                      <a:rPr lang="fr-CA" sz="2000" b="0" i="1" smtClean="0">
                        <a:latin typeface="Cambria Math" panose="02040503050406030204" pitchFamily="18" charset="0"/>
                      </a:rPr>
                      <m:t>𝑠𝑒𝑢𝑖𝑙</m:t>
                    </m:r>
                    <m:r>
                      <a:rPr lang="fr-CA" sz="2000" b="0" i="1" smtClean="0">
                        <a:latin typeface="Cambria Math" panose="02040503050406030204" pitchFamily="18" charset="0"/>
                      </a:rPr>
                      <m:t> </m:t>
                    </m:r>
                    <m:r>
                      <a:rPr lang="fr-CA" sz="2000" b="0" i="1" smtClean="0">
                        <a:latin typeface="Cambria Math" panose="02040503050406030204" pitchFamily="18" charset="0"/>
                      </a:rPr>
                      <m:t>𝑑𝑒</m:t>
                    </m:r>
                    <m:r>
                      <a:rPr lang="fr-CA" sz="2000" b="0" i="1" smtClean="0">
                        <a:latin typeface="Cambria Math" panose="02040503050406030204" pitchFamily="18" charset="0"/>
                      </a:rPr>
                      <m:t> </m:t>
                    </m:r>
                    <m:r>
                      <a:rPr lang="fr-CA" sz="2000" b="0" i="1" smtClean="0">
                        <a:latin typeface="Cambria Math" panose="02040503050406030204" pitchFamily="18" charset="0"/>
                      </a:rPr>
                      <m:t>𝑠𝑖𝑔𝑛𝑖𝑓𝑖𝑐𝑎𝑡𝑖𝑜𝑛</m:t>
                    </m:r>
                    <m:r>
                      <a:rPr lang="fr-CA" sz="2000" b="0" i="1" smtClean="0">
                        <a:latin typeface="Cambria Math" panose="02040503050406030204" pitchFamily="18" charset="0"/>
                      </a:rPr>
                      <m:t> </m:t>
                    </m:r>
                    <m:r>
                      <a:rPr lang="fr-CA" sz="2000" b="0" i="1" smtClean="0">
                        <a:latin typeface="Cambria Math" panose="02040503050406030204" pitchFamily="18" charset="0"/>
                        <a:ea typeface="Cambria Math" panose="02040503050406030204" pitchFamily="18" charset="0"/>
                      </a:rPr>
                      <m:t>𝛼</m:t>
                    </m:r>
                    <m:r>
                      <a:rPr lang="fr-CA" sz="2000" b="0" i="1" smtClean="0">
                        <a:latin typeface="Cambria Math" panose="02040503050406030204" pitchFamily="18" charset="0"/>
                        <a:ea typeface="Cambria Math" panose="02040503050406030204" pitchFamily="18" charset="0"/>
                      </a:rPr>
                      <m:t> </m:t>
                    </m:r>
                    <m:r>
                      <a:rPr lang="fr-CA" sz="2000" b="0" i="1" smtClean="0">
                        <a:latin typeface="Cambria Math" panose="02040503050406030204" pitchFamily="18" charset="0"/>
                        <a:ea typeface="Cambria Math" panose="02040503050406030204" pitchFamily="18" charset="0"/>
                      </a:rPr>
                      <m:t>𝑑𝑜𝑛𝑛</m:t>
                    </m:r>
                    <m:r>
                      <a:rPr lang="fr-CA" sz="2000" b="0" i="1" smtClean="0">
                        <a:latin typeface="Cambria Math" panose="02040503050406030204" pitchFamily="18" charset="0"/>
                        <a:ea typeface="Cambria Math" panose="02040503050406030204" pitchFamily="18" charset="0"/>
                      </a:rPr>
                      <m:t>é. </m:t>
                    </m:r>
                  </m:oMath>
                </a14:m>
                <a:endParaRPr lang="fr-CA" sz="2000" dirty="0"/>
              </a:p>
              <a:p>
                <a:r>
                  <a:rPr lang="fr-CA" sz="2000" dirty="0"/>
                  <a:t>Cette variable T va prendre une valeur: </a:t>
                </a:r>
                <a14:m>
                  <m:oMath xmlns:m="http://schemas.openxmlformats.org/officeDocument/2006/math">
                    <m:sSub>
                      <m:sSubPr>
                        <m:ctrlPr>
                          <a:rPr lang="fr-CA" sz="2000" i="1" smtClean="0">
                            <a:latin typeface="Cambria Math" panose="02040503050406030204" pitchFamily="18" charset="0"/>
                          </a:rPr>
                        </m:ctrlPr>
                      </m:sSubPr>
                      <m:e>
                        <m:r>
                          <a:rPr lang="fr-CA" sz="2000" b="0" i="1" smtClean="0">
                            <a:latin typeface="Cambria Math" panose="02040503050406030204" pitchFamily="18" charset="0"/>
                          </a:rPr>
                          <m:t>𝑡</m:t>
                        </m:r>
                      </m:e>
                      <m:sub>
                        <m:r>
                          <a:rPr lang="fr-CA" sz="2000" b="0" i="1" smtClean="0">
                            <a:latin typeface="Cambria Math" panose="02040503050406030204" pitchFamily="18" charset="0"/>
                          </a:rPr>
                          <m:t>0</m:t>
                        </m:r>
                      </m:sub>
                    </m:sSub>
                    <m:r>
                      <a:rPr lang="fr-CA" sz="2000" b="0" i="1" smtClean="0">
                        <a:latin typeface="Cambria Math" panose="02040503050406030204" pitchFamily="18" charset="0"/>
                      </a:rPr>
                      <m:t>=</m:t>
                    </m:r>
                    <m:sSub>
                      <m:sSubPr>
                        <m:ctrlPr>
                          <a:rPr lang="fr-CA" sz="2000" b="0" i="1" smtClean="0">
                            <a:latin typeface="Cambria Math" panose="02040503050406030204" pitchFamily="18" charset="0"/>
                          </a:rPr>
                        </m:ctrlPr>
                      </m:sSubPr>
                      <m:e>
                        <m:r>
                          <a:rPr lang="fr-CA" sz="2000" b="0" i="1" smtClean="0">
                            <a:latin typeface="Cambria Math" panose="02040503050406030204" pitchFamily="18" charset="0"/>
                          </a:rPr>
                          <m:t>𝑡</m:t>
                        </m:r>
                      </m:e>
                      <m:sub>
                        <m:r>
                          <a:rPr lang="fr-CA" sz="2000" b="0" i="1" smtClean="0">
                            <a:latin typeface="Cambria Math" panose="02040503050406030204" pitchFamily="18" charset="0"/>
                          </a:rPr>
                          <m:t>𝑜𝑏𝑠𝑒𝑟𝑣</m:t>
                        </m:r>
                        <m:r>
                          <a:rPr lang="fr-CA" sz="2000" b="0" i="1" smtClean="0">
                            <a:latin typeface="Cambria Math" panose="02040503050406030204" pitchFamily="18" charset="0"/>
                          </a:rPr>
                          <m:t>é</m:t>
                        </m:r>
                        <m:r>
                          <a:rPr lang="fr-CA" sz="2000" b="0" i="1" smtClean="0">
                            <a:latin typeface="Cambria Math" panose="02040503050406030204" pitchFamily="18" charset="0"/>
                          </a:rPr>
                          <m:t>𝑒</m:t>
                        </m:r>
                      </m:sub>
                    </m:sSub>
                    <m:r>
                      <a:rPr lang="fr-CA" sz="2000" b="0" i="1" smtClean="0">
                        <a:latin typeface="Cambria Math" panose="02040503050406030204" pitchFamily="18" charset="0"/>
                      </a:rPr>
                      <m:t>=</m:t>
                    </m:r>
                    <m:f>
                      <m:fPr>
                        <m:ctrlPr>
                          <a:rPr lang="fr-CA" sz="2000" b="0" i="1" smtClean="0">
                            <a:latin typeface="Cambria Math" panose="02040503050406030204" pitchFamily="18" charset="0"/>
                          </a:rPr>
                        </m:ctrlPr>
                      </m:fPr>
                      <m:num>
                        <m:acc>
                          <m:accPr>
                            <m:chr m:val="̅"/>
                            <m:ctrlPr>
                              <a:rPr lang="fr-CA" sz="2000" b="0" i="1" smtClean="0">
                                <a:latin typeface="Cambria Math" panose="02040503050406030204" pitchFamily="18" charset="0"/>
                              </a:rPr>
                            </m:ctrlPr>
                          </m:accPr>
                          <m:e>
                            <m:r>
                              <a:rPr lang="fr-CA" sz="2000" b="0" i="1" smtClean="0">
                                <a:latin typeface="Cambria Math" panose="02040503050406030204" pitchFamily="18" charset="0"/>
                              </a:rPr>
                              <m:t>𝑥</m:t>
                            </m:r>
                          </m:e>
                        </m:acc>
                        <m:r>
                          <a:rPr lang="fr-CA" sz="2000" b="0" i="1" smtClean="0">
                            <a:latin typeface="Cambria Math" panose="02040503050406030204" pitchFamily="18" charset="0"/>
                          </a:rPr>
                          <m:t>−</m:t>
                        </m:r>
                        <m:acc>
                          <m:accPr>
                            <m:chr m:val="̅"/>
                            <m:ctrlPr>
                              <a:rPr lang="fr-CA" sz="2000" b="0" i="1" smtClean="0">
                                <a:latin typeface="Cambria Math" panose="02040503050406030204" pitchFamily="18" charset="0"/>
                              </a:rPr>
                            </m:ctrlPr>
                          </m:accPr>
                          <m:e>
                            <m:r>
                              <a:rPr lang="fr-CA" sz="2000" b="0" i="1" smtClean="0">
                                <a:latin typeface="Cambria Math" panose="02040503050406030204" pitchFamily="18" charset="0"/>
                              </a:rPr>
                              <m:t>𝑦</m:t>
                            </m:r>
                          </m:e>
                        </m:acc>
                      </m:num>
                      <m:den>
                        <m:sSub>
                          <m:sSubPr>
                            <m:ctrlPr>
                              <a:rPr lang="fr-CA" sz="2000" b="0" i="1" smtClean="0">
                                <a:latin typeface="Cambria Math" panose="02040503050406030204" pitchFamily="18" charset="0"/>
                              </a:rPr>
                            </m:ctrlPr>
                          </m:sSubPr>
                          <m:e>
                            <m:r>
                              <a:rPr lang="fr-CA" sz="2000" b="0" i="1" smtClean="0">
                                <a:latin typeface="Cambria Math" panose="02040503050406030204" pitchFamily="18" charset="0"/>
                              </a:rPr>
                              <m:t>𝑠</m:t>
                            </m:r>
                          </m:e>
                          <m:sub>
                            <m:r>
                              <a:rPr lang="fr-CA" sz="2000" b="0" i="1" smtClean="0">
                                <a:latin typeface="Cambria Math" panose="02040503050406030204" pitchFamily="18" charset="0"/>
                              </a:rPr>
                              <m:t>𝑝</m:t>
                            </m:r>
                          </m:sub>
                        </m:sSub>
                        <m:rad>
                          <m:radPr>
                            <m:degHide m:val="on"/>
                            <m:ctrlPr>
                              <a:rPr lang="fr-CA" sz="2000" b="0" i="1" smtClean="0">
                                <a:latin typeface="Cambria Math" panose="02040503050406030204" pitchFamily="18" charset="0"/>
                              </a:rPr>
                            </m:ctrlPr>
                          </m:radPr>
                          <m:deg/>
                          <m:e>
                            <m:f>
                              <m:fPr>
                                <m:ctrlPr>
                                  <a:rPr lang="fr-CA" sz="2000" b="0" i="1" smtClean="0">
                                    <a:latin typeface="Cambria Math" panose="02040503050406030204" pitchFamily="18" charset="0"/>
                                  </a:rPr>
                                </m:ctrlPr>
                              </m:fPr>
                              <m:num>
                                <m:r>
                                  <a:rPr lang="fr-CA" sz="2000" b="0" i="1" smtClean="0">
                                    <a:latin typeface="Cambria Math" panose="02040503050406030204" pitchFamily="18" charset="0"/>
                                  </a:rPr>
                                  <m:t>1</m:t>
                                </m:r>
                              </m:num>
                              <m:den>
                                <m:r>
                                  <a:rPr lang="fr-CA" sz="2000" b="0" i="1" smtClean="0">
                                    <a:latin typeface="Cambria Math" panose="02040503050406030204" pitchFamily="18" charset="0"/>
                                  </a:rPr>
                                  <m:t>𝑛</m:t>
                                </m:r>
                              </m:den>
                            </m:f>
                            <m:r>
                              <a:rPr lang="fr-CA" sz="2000" b="0" i="1" smtClean="0">
                                <a:latin typeface="Cambria Math" panose="02040503050406030204" pitchFamily="18" charset="0"/>
                              </a:rPr>
                              <m:t>=1/</m:t>
                            </m:r>
                            <m:r>
                              <a:rPr lang="fr-CA" sz="2000" b="0" i="1" smtClean="0">
                                <a:latin typeface="Cambria Math" panose="02040503050406030204" pitchFamily="18" charset="0"/>
                              </a:rPr>
                              <m:t>𝑚</m:t>
                            </m:r>
                          </m:e>
                        </m:rad>
                      </m:den>
                    </m:f>
                  </m:oMath>
                </a14:m>
                <a:endParaRPr lang="fr-CA" sz="2000" dirty="0"/>
              </a:p>
              <a:p>
                <a:endParaRPr lang="fr-CA" sz="2000" dirty="0"/>
              </a:p>
              <a:p>
                <a:r>
                  <a:rPr lang="fr-CA" sz="2000" b="1" dirty="0"/>
                  <a:t>Les règles de décision sont les suivantes:</a:t>
                </a:r>
              </a:p>
              <a:p>
                <a:pPr marL="342900" indent="-342900">
                  <a:buFont typeface="+mj-lt"/>
                  <a:buAutoNum type="arabicPeriod"/>
                </a:pPr>
                <a:r>
                  <a:rPr lang="fr-CA" sz="2000" dirty="0"/>
                  <a:t>Dans un test bilatéral: On rejette l’hypothèse nulle lorsque </a:t>
                </a:r>
                <a14:m>
                  <m:oMath xmlns:m="http://schemas.openxmlformats.org/officeDocument/2006/math">
                    <m:d>
                      <m:dPr>
                        <m:begChr m:val="|"/>
                        <m:endChr m:val="|"/>
                        <m:ctrlPr>
                          <a:rPr lang="fr-CA" sz="2000" i="1" smtClean="0">
                            <a:latin typeface="Cambria Math" panose="02040503050406030204" pitchFamily="18" charset="0"/>
                          </a:rPr>
                        </m:ctrlPr>
                      </m:dPr>
                      <m:e>
                        <m:sSub>
                          <m:sSubPr>
                            <m:ctrlPr>
                              <a:rPr lang="fr-CA" sz="2000" i="1" smtClean="0">
                                <a:latin typeface="Cambria Math" panose="02040503050406030204" pitchFamily="18" charset="0"/>
                              </a:rPr>
                            </m:ctrlPr>
                          </m:sSubPr>
                          <m:e>
                            <m:r>
                              <a:rPr lang="fr-CA" sz="2000" b="0" i="1" smtClean="0">
                                <a:latin typeface="Cambria Math" panose="02040503050406030204" pitchFamily="18" charset="0"/>
                              </a:rPr>
                              <m:t>𝑡</m:t>
                            </m:r>
                          </m:e>
                          <m:sub>
                            <m:r>
                              <a:rPr lang="fr-CA" sz="2000" b="0" i="1" smtClean="0">
                                <a:latin typeface="Cambria Math" panose="02040503050406030204" pitchFamily="18" charset="0"/>
                              </a:rPr>
                              <m:t>𝑜</m:t>
                            </m:r>
                          </m:sub>
                        </m:sSub>
                      </m:e>
                    </m:d>
                    <m:r>
                      <a:rPr lang="fr-CA" sz="2000" i="1" smtClean="0">
                        <a:latin typeface="Cambria Math" panose="02040503050406030204" pitchFamily="18" charset="0"/>
                        <a:ea typeface="Cambria Math" panose="02040503050406030204" pitchFamily="18" charset="0"/>
                      </a:rPr>
                      <m:t>&gt;</m:t>
                    </m:r>
                    <m:sSub>
                      <m:sSubPr>
                        <m:ctrlPr>
                          <a:rPr lang="fr-CA" sz="2000" i="1" smtClean="0">
                            <a:latin typeface="Cambria Math" panose="02040503050406030204" pitchFamily="18" charset="0"/>
                            <a:ea typeface="Cambria Math" panose="02040503050406030204" pitchFamily="18" charset="0"/>
                          </a:rPr>
                        </m:ctrlPr>
                      </m:sSubPr>
                      <m:e>
                        <m:r>
                          <a:rPr lang="fr-CA" sz="2000" b="0" i="1" smtClean="0">
                            <a:latin typeface="Cambria Math" panose="02040503050406030204" pitchFamily="18" charset="0"/>
                            <a:ea typeface="Cambria Math" panose="02040503050406030204" pitchFamily="18" charset="0"/>
                          </a:rPr>
                          <m:t>𝑡</m:t>
                        </m:r>
                      </m:e>
                      <m:sub>
                        <m:r>
                          <a:rPr lang="fr-CA" sz="2000" b="0" i="1" smtClean="0">
                            <a:latin typeface="Cambria Math" panose="02040503050406030204" pitchFamily="18" charset="0"/>
                            <a:ea typeface="Cambria Math" panose="02040503050406030204" pitchFamily="18" charset="0"/>
                          </a:rPr>
                          <m:t>𝑛</m:t>
                        </m:r>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𝑚</m:t>
                        </m:r>
                        <m:r>
                          <a:rPr lang="fr-CA" sz="2000" b="0" i="1" smtClean="0">
                            <a:latin typeface="Cambria Math" panose="02040503050406030204" pitchFamily="18" charset="0"/>
                            <a:ea typeface="Cambria Math" panose="02040503050406030204" pitchFamily="18" charset="0"/>
                          </a:rPr>
                          <m:t>−2;</m:t>
                        </m:r>
                        <m:r>
                          <a:rPr lang="fr-CA" sz="2000" b="0" i="1" smtClean="0">
                            <a:latin typeface="Cambria Math" panose="02040503050406030204" pitchFamily="18" charset="0"/>
                            <a:ea typeface="Cambria Math" panose="02040503050406030204" pitchFamily="18" charset="0"/>
                          </a:rPr>
                          <m:t>𝛼</m:t>
                        </m:r>
                        <m:r>
                          <a:rPr lang="fr-CA" sz="2000" b="0" i="1" smtClean="0">
                            <a:latin typeface="Cambria Math" panose="02040503050406030204" pitchFamily="18" charset="0"/>
                            <a:ea typeface="Cambria Math" panose="02040503050406030204" pitchFamily="18" charset="0"/>
                          </a:rPr>
                          <m:t>/2</m:t>
                        </m:r>
                      </m:sub>
                    </m:sSub>
                  </m:oMath>
                </a14:m>
                <a:r>
                  <a:rPr lang="fr-CA" sz="2000" dirty="0"/>
                  <a:t>.</a:t>
                </a:r>
              </a:p>
              <a:p>
                <a:pPr marL="342900" indent="-342900">
                  <a:buFont typeface="+mj-lt"/>
                  <a:buAutoNum type="arabicPeriod"/>
                </a:pPr>
                <a:r>
                  <a:rPr lang="fr-CA" sz="2000" dirty="0"/>
                  <a:t>Dans un test unilatéral à droite: On rejette l’hypothèse nulle lorsque </a:t>
                </a:r>
                <a14:m>
                  <m:oMath xmlns:m="http://schemas.openxmlformats.org/officeDocument/2006/math">
                    <m:sSub>
                      <m:sSubPr>
                        <m:ctrlPr>
                          <a:rPr lang="fr-CA" sz="2000" i="1" smtClean="0">
                            <a:latin typeface="Cambria Math" panose="02040503050406030204" pitchFamily="18" charset="0"/>
                          </a:rPr>
                        </m:ctrlPr>
                      </m:sSubPr>
                      <m:e>
                        <m:r>
                          <a:rPr lang="fr-CA" sz="2000" b="0" i="1" smtClean="0">
                            <a:latin typeface="Cambria Math" panose="02040503050406030204" pitchFamily="18" charset="0"/>
                          </a:rPr>
                          <m:t>𝑡</m:t>
                        </m:r>
                      </m:e>
                      <m:sub>
                        <m:r>
                          <a:rPr lang="fr-CA" sz="2000" b="0" i="1" smtClean="0">
                            <a:latin typeface="Cambria Math" panose="02040503050406030204" pitchFamily="18" charset="0"/>
                          </a:rPr>
                          <m:t>0</m:t>
                        </m:r>
                      </m:sub>
                    </m:sSub>
                    <m:r>
                      <a:rPr lang="fr-CA" sz="2000" i="1" smtClean="0">
                        <a:latin typeface="Cambria Math" panose="02040503050406030204" pitchFamily="18" charset="0"/>
                        <a:ea typeface="Cambria Math" panose="02040503050406030204" pitchFamily="18" charset="0"/>
                      </a:rPr>
                      <m:t>&gt;</m:t>
                    </m:r>
                    <m:sSub>
                      <m:sSubPr>
                        <m:ctrlPr>
                          <a:rPr lang="fr-CA" sz="2000" i="1" smtClean="0">
                            <a:latin typeface="Cambria Math" panose="02040503050406030204" pitchFamily="18" charset="0"/>
                            <a:ea typeface="Cambria Math" panose="02040503050406030204" pitchFamily="18" charset="0"/>
                          </a:rPr>
                        </m:ctrlPr>
                      </m:sSubPr>
                      <m:e>
                        <m:r>
                          <a:rPr lang="fr-CA" sz="2000" b="0" i="1" smtClean="0">
                            <a:latin typeface="Cambria Math" panose="02040503050406030204" pitchFamily="18" charset="0"/>
                            <a:ea typeface="Cambria Math" panose="02040503050406030204" pitchFamily="18" charset="0"/>
                          </a:rPr>
                          <m:t>𝑡</m:t>
                        </m:r>
                      </m:e>
                      <m:sub>
                        <m:r>
                          <a:rPr lang="fr-CA" sz="2000" b="0" i="1" smtClean="0">
                            <a:latin typeface="Cambria Math" panose="02040503050406030204" pitchFamily="18" charset="0"/>
                            <a:ea typeface="Cambria Math" panose="02040503050406030204" pitchFamily="18" charset="0"/>
                          </a:rPr>
                          <m:t>𝑛</m:t>
                        </m:r>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𝑚</m:t>
                        </m:r>
                        <m:r>
                          <a:rPr lang="fr-CA" sz="2000" b="0" i="1" smtClean="0">
                            <a:latin typeface="Cambria Math" panose="02040503050406030204" pitchFamily="18" charset="0"/>
                            <a:ea typeface="Cambria Math" panose="02040503050406030204" pitchFamily="18" charset="0"/>
                          </a:rPr>
                          <m:t>−2;</m:t>
                        </m:r>
                        <m:r>
                          <a:rPr lang="fr-CA" sz="2000" b="0" i="1" smtClean="0">
                            <a:latin typeface="Cambria Math" panose="02040503050406030204" pitchFamily="18" charset="0"/>
                            <a:ea typeface="Cambria Math" panose="02040503050406030204" pitchFamily="18" charset="0"/>
                          </a:rPr>
                          <m:t>𝛼</m:t>
                        </m:r>
                      </m:sub>
                    </m:sSub>
                  </m:oMath>
                </a14:m>
                <a:endParaRPr lang="fr-CA" sz="2000" dirty="0"/>
              </a:p>
              <a:p>
                <a:pPr marL="342900" indent="-342900">
                  <a:buFont typeface="+mj-lt"/>
                  <a:buAutoNum type="arabicPeriod"/>
                </a:pPr>
                <a:r>
                  <a:rPr lang="fr-CA" sz="2000" dirty="0"/>
                  <a:t>Dans un test unilatéral à gauche: On rejette l’hypothèse nulle lorsque </a:t>
                </a:r>
                <a14:m>
                  <m:oMath xmlns:m="http://schemas.openxmlformats.org/officeDocument/2006/math">
                    <m:sSub>
                      <m:sSubPr>
                        <m:ctrlPr>
                          <a:rPr lang="fr-CA" sz="2000" i="1" smtClean="0">
                            <a:latin typeface="Cambria Math" panose="02040503050406030204" pitchFamily="18" charset="0"/>
                          </a:rPr>
                        </m:ctrlPr>
                      </m:sSubPr>
                      <m:e>
                        <m:r>
                          <a:rPr lang="fr-CA" sz="2000" b="0" i="1" smtClean="0">
                            <a:latin typeface="Cambria Math" panose="02040503050406030204" pitchFamily="18" charset="0"/>
                          </a:rPr>
                          <m:t>𝑡</m:t>
                        </m:r>
                      </m:e>
                      <m:sub>
                        <m:r>
                          <a:rPr lang="fr-CA" sz="2000" b="0" i="1" smtClean="0">
                            <a:latin typeface="Cambria Math" panose="02040503050406030204" pitchFamily="18" charset="0"/>
                          </a:rPr>
                          <m:t>0</m:t>
                        </m:r>
                      </m:sub>
                    </m:sSub>
                    <m:r>
                      <a:rPr lang="fr-CA" sz="2000" i="1" smtClean="0">
                        <a:latin typeface="Cambria Math" panose="02040503050406030204" pitchFamily="18" charset="0"/>
                        <a:ea typeface="Cambria Math" panose="02040503050406030204" pitchFamily="18" charset="0"/>
                      </a:rPr>
                      <m:t>&lt;</m:t>
                    </m:r>
                    <m:r>
                      <a:rPr lang="fr-CA" sz="2000" b="0" i="1" smtClean="0">
                        <a:latin typeface="Cambria Math" panose="02040503050406030204" pitchFamily="18" charset="0"/>
                        <a:ea typeface="Cambria Math" panose="02040503050406030204" pitchFamily="18" charset="0"/>
                      </a:rPr>
                      <m:t>−</m:t>
                    </m:r>
                  </m:oMath>
                </a14:m>
                <a:r>
                  <a:rPr lang="fr-CA" sz="2000" dirty="0">
                    <a:ea typeface="Cambria Math" panose="02040503050406030204" pitchFamily="18" charset="0"/>
                  </a:rPr>
                  <a:t> </a:t>
                </a:r>
                <a14:m>
                  <m:oMath xmlns:m="http://schemas.openxmlformats.org/officeDocument/2006/math">
                    <m:sSub>
                      <m:sSubPr>
                        <m:ctrlPr>
                          <a:rPr lang="fr-CA" sz="2000" i="1">
                            <a:latin typeface="Cambria Math" panose="02040503050406030204" pitchFamily="18" charset="0"/>
                            <a:ea typeface="Cambria Math" panose="02040503050406030204" pitchFamily="18" charset="0"/>
                          </a:rPr>
                        </m:ctrlPr>
                      </m:sSubPr>
                      <m:e>
                        <m:r>
                          <a:rPr lang="fr-CA" sz="2000" i="1">
                            <a:latin typeface="Cambria Math" panose="02040503050406030204" pitchFamily="18" charset="0"/>
                            <a:ea typeface="Cambria Math" panose="02040503050406030204" pitchFamily="18" charset="0"/>
                          </a:rPr>
                          <m:t>𝑡</m:t>
                        </m:r>
                      </m:e>
                      <m:sub>
                        <m:r>
                          <a:rPr lang="fr-CA" sz="2000" i="1">
                            <a:latin typeface="Cambria Math" panose="02040503050406030204" pitchFamily="18" charset="0"/>
                            <a:ea typeface="Cambria Math" panose="02040503050406030204" pitchFamily="18" charset="0"/>
                          </a:rPr>
                          <m:t>𝑛</m:t>
                        </m:r>
                        <m:r>
                          <a:rPr lang="fr-CA" sz="2000" i="1">
                            <a:latin typeface="Cambria Math" panose="02040503050406030204" pitchFamily="18" charset="0"/>
                            <a:ea typeface="Cambria Math" panose="02040503050406030204" pitchFamily="18" charset="0"/>
                          </a:rPr>
                          <m:t>+</m:t>
                        </m:r>
                        <m:r>
                          <a:rPr lang="fr-CA" sz="2000" i="1">
                            <a:latin typeface="Cambria Math" panose="02040503050406030204" pitchFamily="18" charset="0"/>
                            <a:ea typeface="Cambria Math" panose="02040503050406030204" pitchFamily="18" charset="0"/>
                          </a:rPr>
                          <m:t>𝑚</m:t>
                        </m:r>
                        <m:r>
                          <a:rPr lang="fr-CA" sz="2000" i="1">
                            <a:latin typeface="Cambria Math" panose="02040503050406030204" pitchFamily="18" charset="0"/>
                            <a:ea typeface="Cambria Math" panose="02040503050406030204" pitchFamily="18" charset="0"/>
                          </a:rPr>
                          <m:t>−2;</m:t>
                        </m:r>
                        <m:r>
                          <a:rPr lang="fr-CA" sz="2000" i="1">
                            <a:latin typeface="Cambria Math" panose="02040503050406030204" pitchFamily="18" charset="0"/>
                            <a:ea typeface="Cambria Math" panose="02040503050406030204" pitchFamily="18" charset="0"/>
                          </a:rPr>
                          <m:t>𝛼</m:t>
                        </m:r>
                      </m:sub>
                    </m:sSub>
                  </m:oMath>
                </a14:m>
                <a:endParaRPr lang="fr-CA" sz="2000" dirty="0"/>
              </a:p>
            </p:txBody>
          </p:sp>
        </mc:Choice>
        <mc:Fallback xmlns="">
          <p:sp>
            <p:nvSpPr>
              <p:cNvPr id="5" name="ZoneTexte 4">
                <a:extLst>
                  <a:ext uri="{FF2B5EF4-FFF2-40B4-BE49-F238E27FC236}">
                    <a16:creationId xmlns:a16="http://schemas.microsoft.com/office/drawing/2014/main" id="{0D3D6715-FA72-42B2-8AF7-4E2195EB16FE}"/>
                  </a:ext>
                </a:extLst>
              </p:cNvPr>
              <p:cNvSpPr txBox="1">
                <a:spLocks noRot="1" noChangeAspect="1" noMove="1" noResize="1" noEditPoints="1" noAdjustHandles="1" noChangeArrowheads="1" noChangeShapeType="1" noTextEdit="1"/>
              </p:cNvSpPr>
              <p:nvPr/>
            </p:nvSpPr>
            <p:spPr>
              <a:xfrm>
                <a:off x="1048871" y="1788459"/>
                <a:ext cx="9628094" cy="4301562"/>
              </a:xfrm>
              <a:prstGeom prst="rect">
                <a:avLst/>
              </a:prstGeom>
              <a:blipFill>
                <a:blip r:embed="rId2"/>
                <a:stretch>
                  <a:fillRect l="-697" b="-1416"/>
                </a:stretch>
              </a:blipFill>
            </p:spPr>
            <p:txBody>
              <a:bodyPr/>
              <a:lstStyle/>
              <a:p>
                <a:r>
                  <a:rPr lang="fr-CA">
                    <a:noFill/>
                  </a:rPr>
                  <a:t> </a:t>
                </a:r>
              </a:p>
            </p:txBody>
          </p:sp>
        </mc:Fallback>
      </mc:AlternateContent>
    </p:spTree>
    <p:extLst>
      <p:ext uri="{BB962C8B-B14F-4D97-AF65-F5344CB8AC3E}">
        <p14:creationId xmlns:p14="http://schemas.microsoft.com/office/powerpoint/2010/main" val="3131115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B93163-7228-48D6-9F6B-E7549C280898}"/>
              </a:ext>
            </a:extLst>
          </p:cNvPr>
          <p:cNvSpPr>
            <a:spLocks noGrp="1"/>
          </p:cNvSpPr>
          <p:nvPr>
            <p:ph type="title"/>
          </p:nvPr>
        </p:nvSpPr>
        <p:spPr/>
        <p:txBody>
          <a:bodyPr/>
          <a:lstStyle/>
          <a:p>
            <a:r>
              <a:rPr lang="fr-CA" b="1" dirty="0"/>
              <a:t>Méthode 2:</a:t>
            </a:r>
            <a:r>
              <a:rPr lang="fr-CA" dirty="0"/>
              <a:t> On se base sur les valeur-P.</a:t>
            </a:r>
          </a:p>
        </p:txBody>
      </p:sp>
      <p:sp>
        <p:nvSpPr>
          <p:cNvPr id="3" name="Espace réservé du pied de page 2">
            <a:extLst>
              <a:ext uri="{FF2B5EF4-FFF2-40B4-BE49-F238E27FC236}">
                <a16:creationId xmlns:a16="http://schemas.microsoft.com/office/drawing/2014/main" id="{4D00561E-2107-4C8C-8962-C4871F4B7F8F}"/>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AB4BAAA6-DF48-403A-9C73-C97607F9DA9C}"/>
              </a:ext>
            </a:extLst>
          </p:cNvPr>
          <p:cNvSpPr>
            <a:spLocks noGrp="1"/>
          </p:cNvSpPr>
          <p:nvPr>
            <p:ph type="sldNum" sz="quarter" idx="12"/>
          </p:nvPr>
        </p:nvSpPr>
        <p:spPr/>
        <p:txBody>
          <a:bodyPr/>
          <a:lstStyle/>
          <a:p>
            <a:fld id="{26377AD9-CE17-438C-A638-C64D2D42D7CF}" type="slidenum">
              <a:rPr lang="fr-CA" smtClean="0"/>
              <a:t>4</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0FFF317E-ECD3-408E-AA1A-EE54342079B7}"/>
                  </a:ext>
                </a:extLst>
              </p:cNvPr>
              <p:cNvSpPr txBox="1"/>
              <p:nvPr/>
            </p:nvSpPr>
            <p:spPr>
              <a:xfrm>
                <a:off x="1021976" y="1690688"/>
                <a:ext cx="10206318" cy="2585323"/>
              </a:xfrm>
              <a:prstGeom prst="rect">
                <a:avLst/>
              </a:prstGeom>
              <a:noFill/>
            </p:spPr>
            <p:txBody>
              <a:bodyPr wrap="square" rtlCol="0">
                <a:spAutoFit/>
              </a:bodyPr>
              <a:lstStyle/>
              <a:p>
                <a:r>
                  <a:rPr lang="fr-CA" dirty="0"/>
                  <a:t>Les formules pour calculer la valeur-P sont les suivantes:</a:t>
                </a:r>
              </a:p>
              <a:p>
                <a:pPr marL="342900" indent="-342900">
                  <a:buFont typeface="+mj-lt"/>
                  <a:buAutoNum type="arabicPeriod"/>
                </a:pPr>
                <a:r>
                  <a:rPr lang="fr-CA" dirty="0"/>
                  <a:t>Dans le cas d’un test bilatéral: </a:t>
                </a:r>
                <a14:m>
                  <m:oMath xmlns:m="http://schemas.openxmlformats.org/officeDocument/2006/math">
                    <m:r>
                      <a:rPr lang="fr-CA" b="0" i="1" smtClean="0">
                        <a:latin typeface="Cambria Math" panose="02040503050406030204" pitchFamily="18" charset="0"/>
                      </a:rPr>
                      <m:t>𝑉𝑎𝑙𝑒𝑢𝑟</m:t>
                    </m:r>
                    <m:r>
                      <a:rPr lang="fr-CA" b="0" i="1" smtClean="0">
                        <a:latin typeface="Cambria Math" panose="02040503050406030204" pitchFamily="18" charset="0"/>
                      </a:rPr>
                      <m:t>−</m:t>
                    </m:r>
                    <m:r>
                      <a:rPr lang="fr-CA" b="0" i="1" smtClean="0">
                        <a:latin typeface="Cambria Math" panose="02040503050406030204" pitchFamily="18" charset="0"/>
                      </a:rPr>
                      <m:t>𝑃</m:t>
                    </m:r>
                    <m:r>
                      <a:rPr lang="fr-CA" b="0" i="1" smtClean="0">
                        <a:latin typeface="Cambria Math" panose="02040503050406030204" pitchFamily="18" charset="0"/>
                      </a:rPr>
                      <m:t>=2</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𝑇</m:t>
                            </m:r>
                          </m:e>
                          <m:sub>
                            <m:r>
                              <a:rPr lang="fr-CA" b="0" i="1" smtClean="0">
                                <a:latin typeface="Cambria Math" panose="02040503050406030204" pitchFamily="18" charset="0"/>
                              </a:rPr>
                              <m:t>𝑛</m:t>
                            </m:r>
                            <m:r>
                              <a:rPr lang="fr-CA" b="0" i="1" smtClean="0">
                                <a:latin typeface="Cambria Math" panose="02040503050406030204" pitchFamily="18" charset="0"/>
                              </a:rPr>
                              <m:t>+</m:t>
                            </m:r>
                            <m:r>
                              <a:rPr lang="fr-CA" b="0" i="1" smtClean="0">
                                <a:latin typeface="Cambria Math" panose="02040503050406030204" pitchFamily="18" charset="0"/>
                              </a:rPr>
                              <m:t>𝑚</m:t>
                            </m:r>
                            <m:r>
                              <a:rPr lang="fr-CA" b="0" i="1" smtClean="0">
                                <a:latin typeface="Cambria Math" panose="02040503050406030204" pitchFamily="18" charset="0"/>
                              </a:rPr>
                              <m:t>−2</m:t>
                            </m:r>
                          </m:sub>
                        </m:sSub>
                        <m:r>
                          <a:rPr lang="fr-CA" b="0" i="1" smtClean="0">
                            <a:latin typeface="Cambria Math" panose="02040503050406030204" pitchFamily="18" charset="0"/>
                            <a:ea typeface="Cambria Math" panose="02040503050406030204" pitchFamily="18" charset="0"/>
                          </a:rPr>
                          <m:t>&gt;</m:t>
                        </m:r>
                        <m:d>
                          <m:dPr>
                            <m:begChr m:val="|"/>
                            <m:endChr m:val="|"/>
                            <m:ctrlPr>
                              <a:rPr lang="fr-CA" b="0" i="1" smtClean="0">
                                <a:latin typeface="Cambria Math" panose="02040503050406030204" pitchFamily="18" charset="0"/>
                                <a:ea typeface="Cambria Math" panose="02040503050406030204" pitchFamily="18" charset="0"/>
                              </a:rPr>
                            </m:ctrlPr>
                          </m:dPr>
                          <m:e>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𝑡</m:t>
                                </m:r>
                              </m:e>
                              <m:sub>
                                <m:r>
                                  <a:rPr lang="fr-CA" b="0" i="1" smtClean="0">
                                    <a:latin typeface="Cambria Math" panose="02040503050406030204" pitchFamily="18" charset="0"/>
                                    <a:ea typeface="Cambria Math" panose="02040503050406030204" pitchFamily="18" charset="0"/>
                                  </a:rPr>
                                  <m:t>0</m:t>
                                </m:r>
                              </m:sub>
                            </m:sSub>
                          </m:e>
                        </m:d>
                      </m:e>
                    </m:d>
                    <m:r>
                      <a:rPr lang="fr-CA" b="0" i="1" smtClean="0">
                        <a:latin typeface="Cambria Math" panose="02040503050406030204" pitchFamily="18" charset="0"/>
                        <a:ea typeface="Cambria Math" panose="02040503050406030204" pitchFamily="18" charset="0"/>
                      </a:rPr>
                      <m:t>.</m:t>
                    </m:r>
                  </m:oMath>
                </a14:m>
                <a:endParaRPr lang="fr-CA" dirty="0"/>
              </a:p>
              <a:p>
                <a:pPr marL="342900" indent="-342900">
                  <a:buFont typeface="+mj-lt"/>
                  <a:buAutoNum type="arabicPeriod"/>
                </a:pPr>
                <a:r>
                  <a:rPr lang="fr-CA" dirty="0"/>
                  <a:t>Dans le cas d’un test unilatéral à droite: </a:t>
                </a:r>
                <a14:m>
                  <m:oMath xmlns:m="http://schemas.openxmlformats.org/officeDocument/2006/math">
                    <m:r>
                      <a:rPr lang="fr-CA" b="0" i="1" smtClean="0">
                        <a:latin typeface="Cambria Math" panose="02040503050406030204" pitchFamily="18" charset="0"/>
                      </a:rPr>
                      <m:t>𝑉𝑎𝑙𝑒𝑢𝑟</m:t>
                    </m:r>
                    <m:r>
                      <a:rPr lang="fr-CA" b="0" i="1" smtClean="0">
                        <a:latin typeface="Cambria Math" panose="02040503050406030204" pitchFamily="18" charset="0"/>
                      </a:rPr>
                      <m:t>−</m:t>
                    </m:r>
                    <m:r>
                      <a:rPr lang="fr-CA" b="0" i="1" smtClean="0">
                        <a:latin typeface="Cambria Math" panose="02040503050406030204" pitchFamily="18" charset="0"/>
                      </a:rPr>
                      <m:t>𝑃</m:t>
                    </m:r>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𝑇</m:t>
                            </m:r>
                          </m:e>
                          <m:sub>
                            <m:r>
                              <a:rPr lang="fr-CA" b="0" i="1" smtClean="0">
                                <a:latin typeface="Cambria Math" panose="02040503050406030204" pitchFamily="18" charset="0"/>
                              </a:rPr>
                              <m:t>𝑛</m:t>
                            </m:r>
                            <m:r>
                              <a:rPr lang="fr-CA" b="0" i="1" smtClean="0">
                                <a:latin typeface="Cambria Math" panose="02040503050406030204" pitchFamily="18" charset="0"/>
                              </a:rPr>
                              <m:t>+</m:t>
                            </m:r>
                            <m:r>
                              <a:rPr lang="fr-CA" b="0" i="1" smtClean="0">
                                <a:latin typeface="Cambria Math" panose="02040503050406030204" pitchFamily="18" charset="0"/>
                              </a:rPr>
                              <m:t>𝑚</m:t>
                            </m:r>
                            <m:r>
                              <a:rPr lang="fr-CA" b="0" i="1" smtClean="0">
                                <a:latin typeface="Cambria Math" panose="02040503050406030204" pitchFamily="18" charset="0"/>
                              </a:rPr>
                              <m:t>−2</m:t>
                            </m:r>
                          </m:sub>
                        </m:sSub>
                        <m:r>
                          <a:rPr lang="fr-CA" b="0" i="1" smtClean="0">
                            <a:latin typeface="Cambria Math" panose="02040503050406030204" pitchFamily="18" charset="0"/>
                            <a:ea typeface="Cambria Math" panose="02040503050406030204" pitchFamily="18" charset="0"/>
                          </a:rPr>
                          <m:t>&gt;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𝑡</m:t>
                            </m:r>
                          </m:e>
                          <m:sub>
                            <m:r>
                              <a:rPr lang="fr-CA" b="0" i="1" smtClean="0">
                                <a:latin typeface="Cambria Math" panose="02040503050406030204" pitchFamily="18" charset="0"/>
                                <a:ea typeface="Cambria Math" panose="02040503050406030204" pitchFamily="18" charset="0"/>
                              </a:rPr>
                              <m:t>0</m:t>
                            </m:r>
                          </m:sub>
                        </m:sSub>
                      </m:e>
                    </m:d>
                    <m:r>
                      <a:rPr lang="fr-CA" b="0" i="1" smtClean="0">
                        <a:latin typeface="Cambria Math" panose="02040503050406030204" pitchFamily="18" charset="0"/>
                        <a:ea typeface="Cambria Math" panose="02040503050406030204" pitchFamily="18" charset="0"/>
                      </a:rPr>
                      <m:t>.</m:t>
                    </m:r>
                  </m:oMath>
                </a14:m>
                <a:endParaRPr lang="fr-CA" dirty="0"/>
              </a:p>
              <a:p>
                <a:pPr marL="342900" indent="-342900">
                  <a:buFont typeface="+mj-lt"/>
                  <a:buAutoNum type="arabicPeriod"/>
                </a:pPr>
                <a:r>
                  <a:rPr lang="fr-CA" dirty="0"/>
                  <a:t>Dans le cas d’un test unilatéral à gauche: </a:t>
                </a:r>
                <a14:m>
                  <m:oMath xmlns:m="http://schemas.openxmlformats.org/officeDocument/2006/math">
                    <m:r>
                      <a:rPr lang="fr-CA" b="0" i="1" smtClean="0">
                        <a:latin typeface="Cambria Math" panose="02040503050406030204" pitchFamily="18" charset="0"/>
                      </a:rPr>
                      <m:t>𝑉𝑎𝑙𝑒𝑢𝑟</m:t>
                    </m:r>
                    <m:r>
                      <a:rPr lang="fr-CA" b="0" i="1" smtClean="0">
                        <a:latin typeface="Cambria Math" panose="02040503050406030204" pitchFamily="18" charset="0"/>
                      </a:rPr>
                      <m:t>−</m:t>
                    </m:r>
                    <m:r>
                      <a:rPr lang="fr-CA" b="0" i="1" smtClean="0">
                        <a:latin typeface="Cambria Math" panose="02040503050406030204" pitchFamily="18" charset="0"/>
                      </a:rPr>
                      <m:t>𝑃</m:t>
                    </m:r>
                    <m:r>
                      <a:rPr lang="fr-CA" b="0" i="1" smtClean="0">
                        <a:latin typeface="Cambria Math" panose="02040503050406030204" pitchFamily="18" charset="0"/>
                      </a:rPr>
                      <m:t>=</m:t>
                    </m:r>
                    <m:r>
                      <a:rPr lang="fr-CA" b="0" i="1" smtClean="0">
                        <a:latin typeface="Cambria Math" panose="02040503050406030204" pitchFamily="18" charset="0"/>
                      </a:rPr>
                      <m:t>𝑃</m:t>
                    </m:r>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𝑇</m:t>
                        </m:r>
                      </m:e>
                      <m:sub>
                        <m:r>
                          <a:rPr lang="fr-CA" b="0" i="1" smtClean="0">
                            <a:latin typeface="Cambria Math" panose="02040503050406030204" pitchFamily="18" charset="0"/>
                          </a:rPr>
                          <m:t>𝑛</m:t>
                        </m:r>
                        <m:r>
                          <a:rPr lang="fr-CA" b="0" i="1" smtClean="0">
                            <a:latin typeface="Cambria Math" panose="02040503050406030204" pitchFamily="18" charset="0"/>
                          </a:rPr>
                          <m:t>+</m:t>
                        </m:r>
                        <m:r>
                          <a:rPr lang="fr-CA" b="0" i="1" smtClean="0">
                            <a:latin typeface="Cambria Math" panose="02040503050406030204" pitchFamily="18" charset="0"/>
                          </a:rPr>
                          <m:t>𝑚</m:t>
                        </m:r>
                        <m:r>
                          <a:rPr lang="fr-CA" b="0" i="1" smtClean="0">
                            <a:latin typeface="Cambria Math" panose="02040503050406030204" pitchFamily="18" charset="0"/>
                          </a:rPr>
                          <m:t>−2</m:t>
                        </m:r>
                      </m:sub>
                    </m:sSub>
                    <m:r>
                      <a:rPr lang="fr-CA" b="0" i="1" smtClean="0">
                        <a:latin typeface="Cambria Math" panose="02040503050406030204" pitchFamily="18" charset="0"/>
                        <a:ea typeface="Cambria Math" panose="02040503050406030204" pitchFamily="18" charset="0"/>
                      </a:rPr>
                      <m:t>&lt;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𝑡</m:t>
                        </m:r>
                      </m:e>
                      <m:sub>
                        <m:r>
                          <a:rPr lang="fr-CA" b="0" i="1" smtClean="0">
                            <a:latin typeface="Cambria Math" panose="02040503050406030204" pitchFamily="18" charset="0"/>
                            <a:ea typeface="Cambria Math" panose="02040503050406030204" pitchFamily="18" charset="0"/>
                          </a:rPr>
                          <m:t>0</m:t>
                        </m:r>
                      </m:sub>
                    </m:sSub>
                    <m:r>
                      <a:rPr lang="fr-CA" b="0" i="1" smtClean="0">
                        <a:latin typeface="Cambria Math" panose="02040503050406030204" pitchFamily="18" charset="0"/>
                        <a:ea typeface="Cambria Math" panose="02040503050406030204" pitchFamily="18" charset="0"/>
                      </a:rPr>
                      <m:t>)</m:t>
                    </m:r>
                  </m:oMath>
                </a14:m>
                <a:endParaRPr lang="fr-CA" dirty="0"/>
              </a:p>
              <a:p>
                <a:pPr marL="342900" indent="-342900">
                  <a:buFont typeface="+mj-lt"/>
                  <a:buAutoNum type="arabicPeriod"/>
                </a:pPr>
                <a:endParaRPr lang="fr-CA" dirty="0"/>
              </a:p>
              <a:p>
                <a:endParaRPr lang="fr-CA" dirty="0"/>
              </a:p>
              <a:p>
                <a:r>
                  <a:rPr lang="fr-CA" b="1" dirty="0"/>
                  <a:t>On rejette l’hypothèse nulle lorsque la valeur-P est inférieure à alpha.</a:t>
                </a:r>
              </a:p>
              <a:p>
                <a:endParaRPr lang="fr-CA" b="1" dirty="0"/>
              </a:p>
              <a:p>
                <a:r>
                  <a:rPr lang="fr-CA" b="1" dirty="0"/>
                  <a:t>N’oubliez pas de conclure vos calculs par une phrase intelligente.</a:t>
                </a:r>
              </a:p>
            </p:txBody>
          </p:sp>
        </mc:Choice>
        <mc:Fallback xmlns="">
          <p:sp>
            <p:nvSpPr>
              <p:cNvPr id="5" name="ZoneTexte 4">
                <a:extLst>
                  <a:ext uri="{FF2B5EF4-FFF2-40B4-BE49-F238E27FC236}">
                    <a16:creationId xmlns:a16="http://schemas.microsoft.com/office/drawing/2014/main" id="{0FFF317E-ECD3-408E-AA1A-EE54342079B7}"/>
                  </a:ext>
                </a:extLst>
              </p:cNvPr>
              <p:cNvSpPr txBox="1">
                <a:spLocks noRot="1" noChangeAspect="1" noMove="1" noResize="1" noEditPoints="1" noAdjustHandles="1" noChangeArrowheads="1" noChangeShapeType="1" noTextEdit="1"/>
              </p:cNvSpPr>
              <p:nvPr/>
            </p:nvSpPr>
            <p:spPr>
              <a:xfrm>
                <a:off x="1021976" y="1690688"/>
                <a:ext cx="10206318" cy="2585323"/>
              </a:xfrm>
              <a:prstGeom prst="rect">
                <a:avLst/>
              </a:prstGeom>
              <a:blipFill>
                <a:blip r:embed="rId2"/>
                <a:stretch>
                  <a:fillRect l="-538" t="-1179" b="-2830"/>
                </a:stretch>
              </a:blipFill>
            </p:spPr>
            <p:txBody>
              <a:bodyPr/>
              <a:lstStyle/>
              <a:p>
                <a:r>
                  <a:rPr lang="fr-CA">
                    <a:noFill/>
                  </a:rPr>
                  <a:t> </a:t>
                </a:r>
              </a:p>
            </p:txBody>
          </p:sp>
        </mc:Fallback>
      </mc:AlternateContent>
    </p:spTree>
    <p:extLst>
      <p:ext uri="{BB962C8B-B14F-4D97-AF65-F5344CB8AC3E}">
        <p14:creationId xmlns:p14="http://schemas.microsoft.com/office/powerpoint/2010/main" val="2585932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621F7-A5A2-4AC2-913D-194A19AEBAEC}"/>
              </a:ext>
            </a:extLst>
          </p:cNvPr>
          <p:cNvSpPr>
            <a:spLocks noGrp="1"/>
          </p:cNvSpPr>
          <p:nvPr>
            <p:ph type="title"/>
          </p:nvPr>
        </p:nvSpPr>
        <p:spPr/>
        <p:txBody>
          <a:bodyPr/>
          <a:lstStyle/>
          <a:p>
            <a:r>
              <a:rPr lang="fr-CA" b="1" dirty="0"/>
              <a:t>Méthode 3:</a:t>
            </a:r>
            <a:r>
              <a:rPr lang="fr-CA" dirty="0"/>
              <a:t> L’utilisation du logiciel R.</a:t>
            </a:r>
          </a:p>
        </p:txBody>
      </p:sp>
      <p:sp>
        <p:nvSpPr>
          <p:cNvPr id="3" name="Espace réservé du pied de page 2">
            <a:extLst>
              <a:ext uri="{FF2B5EF4-FFF2-40B4-BE49-F238E27FC236}">
                <a16:creationId xmlns:a16="http://schemas.microsoft.com/office/drawing/2014/main" id="{483132A6-CD08-4274-A3FF-9AD746724CB4}"/>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BA3E7CAA-C7D5-42AF-A2F2-9B4703980D17}"/>
              </a:ext>
            </a:extLst>
          </p:cNvPr>
          <p:cNvSpPr>
            <a:spLocks noGrp="1"/>
          </p:cNvSpPr>
          <p:nvPr>
            <p:ph type="sldNum" sz="quarter" idx="12"/>
          </p:nvPr>
        </p:nvSpPr>
        <p:spPr/>
        <p:txBody>
          <a:bodyPr/>
          <a:lstStyle/>
          <a:p>
            <a:fld id="{26377AD9-CE17-438C-A638-C64D2D42D7CF}" type="slidenum">
              <a:rPr lang="fr-CA" smtClean="0"/>
              <a:t>5</a:t>
            </a:fld>
            <a:endParaRPr lang="fr-CA"/>
          </a:p>
        </p:txBody>
      </p:sp>
      <p:sp>
        <p:nvSpPr>
          <p:cNvPr id="5" name="ZoneTexte 4">
            <a:extLst>
              <a:ext uri="{FF2B5EF4-FFF2-40B4-BE49-F238E27FC236}">
                <a16:creationId xmlns:a16="http://schemas.microsoft.com/office/drawing/2014/main" id="{ED02F604-E97B-4515-B5E8-B5547E85DAE7}"/>
              </a:ext>
            </a:extLst>
          </p:cNvPr>
          <p:cNvSpPr txBox="1"/>
          <p:nvPr/>
        </p:nvSpPr>
        <p:spPr>
          <a:xfrm>
            <a:off x="1021976" y="2380129"/>
            <a:ext cx="10233212" cy="3508653"/>
          </a:xfrm>
          <a:prstGeom prst="rect">
            <a:avLst/>
          </a:prstGeom>
          <a:noFill/>
        </p:spPr>
        <p:txBody>
          <a:bodyPr wrap="square" rtlCol="0">
            <a:spAutoFit/>
          </a:bodyPr>
          <a:lstStyle/>
          <a:p>
            <a:r>
              <a:rPr lang="fr-CA" sz="2400" dirty="0"/>
              <a:t>On met les données dans 2 vecteurs nommés x et y et on tape:</a:t>
            </a:r>
          </a:p>
          <a:p>
            <a:pPr marL="342900" indent="-342900">
              <a:buFont typeface="+mj-lt"/>
              <a:buAutoNum type="arabicPeriod"/>
            </a:pPr>
            <a:r>
              <a:rPr lang="fr-CA" sz="2400" dirty="0"/>
              <a:t>Pour un test bilatéral: </a:t>
            </a:r>
            <a:r>
              <a:rPr lang="fr-CA" sz="2400" dirty="0" err="1"/>
              <a:t>t.test</a:t>
            </a:r>
            <a:r>
              <a:rPr lang="fr-CA" sz="2400" dirty="0"/>
              <a:t>(</a:t>
            </a:r>
            <a:r>
              <a:rPr lang="fr-CA" sz="2400" dirty="0" err="1"/>
              <a:t>x,y,equal.var</a:t>
            </a:r>
            <a:r>
              <a:rPr lang="fr-CA" sz="2400" dirty="0"/>
              <a:t>=</a:t>
            </a:r>
            <a:r>
              <a:rPr lang="fr-CA" sz="2400" dirty="0" err="1"/>
              <a:t>TRUE,conf.level</a:t>
            </a:r>
            <a:r>
              <a:rPr lang="fr-CA" sz="2400" dirty="0"/>
              <a:t>=....)</a:t>
            </a:r>
          </a:p>
          <a:p>
            <a:pPr marL="342900" indent="-342900">
              <a:buFont typeface="+mj-lt"/>
              <a:buAutoNum type="arabicPeriod"/>
            </a:pPr>
            <a:r>
              <a:rPr lang="fr-CA" sz="2400" dirty="0"/>
              <a:t>Pour un test unilatéral à droite: </a:t>
            </a:r>
            <a:r>
              <a:rPr lang="fr-CA" sz="2400" dirty="0" err="1"/>
              <a:t>t.test</a:t>
            </a:r>
            <a:r>
              <a:rPr lang="fr-CA" sz="2400" dirty="0"/>
              <a:t>(</a:t>
            </a:r>
            <a:r>
              <a:rPr lang="fr-CA" sz="2400" dirty="0" err="1"/>
              <a:t>x,y,equal.var</a:t>
            </a:r>
            <a:r>
              <a:rPr lang="fr-CA" sz="2400" dirty="0"/>
              <a:t>=</a:t>
            </a:r>
            <a:r>
              <a:rPr lang="fr-CA" sz="2400" dirty="0" err="1"/>
              <a:t>TRUE,alternative</a:t>
            </a:r>
            <a:r>
              <a:rPr lang="fr-CA" sz="2400" dirty="0"/>
              <a:t>="</a:t>
            </a:r>
            <a:r>
              <a:rPr lang="fr-CA" sz="2400" dirty="0" err="1"/>
              <a:t>greater</a:t>
            </a:r>
            <a:r>
              <a:rPr lang="fr-CA" sz="2400" dirty="0"/>
              <a:t>",</a:t>
            </a:r>
            <a:r>
              <a:rPr lang="fr-CA" sz="2400" dirty="0" err="1"/>
              <a:t>conf.level</a:t>
            </a:r>
            <a:r>
              <a:rPr lang="fr-CA" sz="2400" dirty="0"/>
              <a:t>=...)</a:t>
            </a:r>
          </a:p>
          <a:p>
            <a:pPr marL="342900" indent="-342900">
              <a:buFont typeface="+mj-lt"/>
              <a:buAutoNum type="arabicPeriod"/>
            </a:pPr>
            <a:r>
              <a:rPr lang="fr-CA" sz="2400" dirty="0"/>
              <a:t>Pour un test unilatéral à gauche: </a:t>
            </a:r>
            <a:r>
              <a:rPr lang="fr-CA" sz="2400" dirty="0" err="1"/>
              <a:t>t.test</a:t>
            </a:r>
            <a:r>
              <a:rPr lang="fr-CA" sz="2400" dirty="0"/>
              <a:t>(</a:t>
            </a:r>
            <a:r>
              <a:rPr lang="fr-CA" sz="2400" dirty="0" err="1"/>
              <a:t>x,y,equal.var</a:t>
            </a:r>
            <a:r>
              <a:rPr lang="fr-CA" sz="2400" dirty="0"/>
              <a:t>=</a:t>
            </a:r>
            <a:r>
              <a:rPr lang="fr-CA" sz="2400" dirty="0" err="1"/>
              <a:t>TRUE,alternative</a:t>
            </a:r>
            <a:r>
              <a:rPr lang="fr-CA" sz="2400" dirty="0"/>
              <a:t>="</a:t>
            </a:r>
            <a:r>
              <a:rPr lang="fr-CA" sz="2400" dirty="0" err="1"/>
              <a:t>less</a:t>
            </a:r>
            <a:r>
              <a:rPr lang="fr-CA" sz="2400" dirty="0"/>
              <a:t>",</a:t>
            </a:r>
            <a:r>
              <a:rPr lang="fr-CA" sz="2400" dirty="0" err="1"/>
              <a:t>conf.level</a:t>
            </a:r>
            <a:r>
              <a:rPr lang="fr-CA" sz="2400" dirty="0"/>
              <a:t>=...)</a:t>
            </a:r>
          </a:p>
          <a:p>
            <a:pPr marL="342900" indent="-342900">
              <a:buFont typeface="+mj-lt"/>
              <a:buAutoNum type="arabicPeriod"/>
            </a:pPr>
            <a:endParaRPr lang="fr-CA" sz="2400" dirty="0"/>
          </a:p>
          <a:p>
            <a:pPr marL="342900" indent="-342900">
              <a:buFont typeface="+mj-lt"/>
              <a:buAutoNum type="arabicPeriod"/>
            </a:pPr>
            <a:endParaRPr lang="fr-CA" dirty="0"/>
          </a:p>
          <a:p>
            <a:pPr marL="342900" indent="-342900">
              <a:buFont typeface="+mj-lt"/>
              <a:buAutoNum type="arabicPeriod"/>
            </a:pPr>
            <a:endParaRPr lang="fr-CA" dirty="0"/>
          </a:p>
          <a:p>
            <a:r>
              <a:rPr lang="fr-CA" b="1" dirty="0"/>
              <a:t>ET ON A PLEIN D’INFORMATIONS</a:t>
            </a:r>
          </a:p>
        </p:txBody>
      </p:sp>
    </p:spTree>
    <p:extLst>
      <p:ext uri="{BB962C8B-B14F-4D97-AF65-F5344CB8AC3E}">
        <p14:creationId xmlns:p14="http://schemas.microsoft.com/office/powerpoint/2010/main" val="18211918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999279-2E40-4E8A-A70B-BDAE262AAA34}"/>
              </a:ext>
            </a:extLst>
          </p:cNvPr>
          <p:cNvSpPr>
            <a:spLocks noGrp="1"/>
          </p:cNvSpPr>
          <p:nvPr>
            <p:ph type="title"/>
          </p:nvPr>
        </p:nvSpPr>
        <p:spPr>
          <a:xfrm>
            <a:off x="838199" y="365125"/>
            <a:ext cx="10914529" cy="3293110"/>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fr-CA" dirty="0"/>
              <a:t>Exemple 1: </a:t>
            </a:r>
            <a:r>
              <a:rPr kumimoji="0" lang="fr-FR" altLang="fr-FR"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La concentration des ingrédients actifs dans un détergent liquide peut être affectée par le catalyseur utilisé dans le processus de fabrication.</a:t>
            </a:r>
            <a:br>
              <a:rPr kumimoji="0" lang="fr-CA" altLang="fr-FR" sz="2000" b="0" i="0" u="none" strike="noStrike" cap="none" normalizeH="0" baseline="0" dirty="0">
                <a:ln>
                  <a:noFill/>
                </a:ln>
                <a:solidFill>
                  <a:schemeClr val="tx1"/>
                </a:solidFill>
                <a:effectLst/>
                <a:latin typeface="Arial" panose="020B0604020202020204" pitchFamily="34" charset="0"/>
              </a:rPr>
            </a:br>
            <a:r>
              <a:rPr kumimoji="0" lang="fr-FR" altLang="fr-FR"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Dix mesures de la concentration ont été prises avec deux types de catalyseur. Voici les données obtenues :</a:t>
            </a:r>
            <a:br>
              <a:rPr kumimoji="0" lang="fr-CA" altLang="fr-FR" sz="2000" b="0" i="0" u="none" strike="noStrike" cap="none" normalizeH="0" baseline="0" dirty="0">
                <a:ln>
                  <a:noFill/>
                </a:ln>
                <a:solidFill>
                  <a:schemeClr val="tx1"/>
                </a:solidFill>
                <a:effectLst/>
                <a:latin typeface="Arial" panose="020B0604020202020204" pitchFamily="34" charset="0"/>
              </a:rPr>
            </a:br>
            <a:endParaRPr lang="fr-CA" sz="2000" dirty="0"/>
          </a:p>
        </p:txBody>
      </p:sp>
      <p:sp>
        <p:nvSpPr>
          <p:cNvPr id="3" name="Espace réservé du pied de page 2">
            <a:extLst>
              <a:ext uri="{FF2B5EF4-FFF2-40B4-BE49-F238E27FC236}">
                <a16:creationId xmlns:a16="http://schemas.microsoft.com/office/drawing/2014/main" id="{482A1C4D-BD2B-45B0-8EEF-8778AF4CA2C2}"/>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00BCFCEE-033D-41FE-AFF5-58A0A3CD489F}"/>
              </a:ext>
            </a:extLst>
          </p:cNvPr>
          <p:cNvSpPr>
            <a:spLocks noGrp="1"/>
          </p:cNvSpPr>
          <p:nvPr>
            <p:ph type="sldNum" sz="quarter" idx="12"/>
          </p:nvPr>
        </p:nvSpPr>
        <p:spPr/>
        <p:txBody>
          <a:bodyPr/>
          <a:lstStyle/>
          <a:p>
            <a:fld id="{26377AD9-CE17-438C-A638-C64D2D42D7CF}" type="slidenum">
              <a:rPr lang="fr-CA" smtClean="0"/>
              <a:t>6</a:t>
            </a:fld>
            <a:endParaRPr lang="fr-CA"/>
          </a:p>
        </p:txBody>
      </p:sp>
      <p:graphicFrame>
        <p:nvGraphicFramePr>
          <p:cNvPr id="5" name="Tableau 4">
            <a:extLst>
              <a:ext uri="{FF2B5EF4-FFF2-40B4-BE49-F238E27FC236}">
                <a16:creationId xmlns:a16="http://schemas.microsoft.com/office/drawing/2014/main" id="{D03875B0-7170-4414-921F-E670F905B74D}"/>
              </a:ext>
            </a:extLst>
          </p:cNvPr>
          <p:cNvGraphicFramePr>
            <a:graphicFrameLocks noGrp="1"/>
          </p:cNvGraphicFramePr>
          <p:nvPr>
            <p:extLst>
              <p:ext uri="{D42A27DB-BD31-4B8C-83A1-F6EECF244321}">
                <p14:modId xmlns:p14="http://schemas.microsoft.com/office/powerpoint/2010/main" val="567118515"/>
              </p:ext>
            </p:extLst>
          </p:nvPr>
        </p:nvGraphicFramePr>
        <p:xfrm>
          <a:off x="1044080" y="2702859"/>
          <a:ext cx="10143871" cy="1960264"/>
        </p:xfrm>
        <a:graphic>
          <a:graphicData uri="http://schemas.openxmlformats.org/drawingml/2006/table">
            <a:tbl>
              <a:tblPr firstRow="1" firstCol="1" bandRow="1">
                <a:tableStyleId>{5C22544A-7EE6-4342-B048-85BDC9FD1C3A}</a:tableStyleId>
              </a:tblPr>
              <a:tblGrid>
                <a:gridCol w="1327219">
                  <a:extLst>
                    <a:ext uri="{9D8B030D-6E8A-4147-A177-3AD203B41FA5}">
                      <a16:colId xmlns:a16="http://schemas.microsoft.com/office/drawing/2014/main" val="431870407"/>
                    </a:ext>
                  </a:extLst>
                </a:gridCol>
                <a:gridCol w="889584">
                  <a:extLst>
                    <a:ext uri="{9D8B030D-6E8A-4147-A177-3AD203B41FA5}">
                      <a16:colId xmlns:a16="http://schemas.microsoft.com/office/drawing/2014/main" val="9721407"/>
                    </a:ext>
                  </a:extLst>
                </a:gridCol>
                <a:gridCol w="889584">
                  <a:extLst>
                    <a:ext uri="{9D8B030D-6E8A-4147-A177-3AD203B41FA5}">
                      <a16:colId xmlns:a16="http://schemas.microsoft.com/office/drawing/2014/main" val="1330531138"/>
                    </a:ext>
                  </a:extLst>
                </a:gridCol>
                <a:gridCol w="889584">
                  <a:extLst>
                    <a:ext uri="{9D8B030D-6E8A-4147-A177-3AD203B41FA5}">
                      <a16:colId xmlns:a16="http://schemas.microsoft.com/office/drawing/2014/main" val="2334166700"/>
                    </a:ext>
                  </a:extLst>
                </a:gridCol>
                <a:gridCol w="889584">
                  <a:extLst>
                    <a:ext uri="{9D8B030D-6E8A-4147-A177-3AD203B41FA5}">
                      <a16:colId xmlns:a16="http://schemas.microsoft.com/office/drawing/2014/main" val="3081372530"/>
                    </a:ext>
                  </a:extLst>
                </a:gridCol>
                <a:gridCol w="889584">
                  <a:extLst>
                    <a:ext uri="{9D8B030D-6E8A-4147-A177-3AD203B41FA5}">
                      <a16:colId xmlns:a16="http://schemas.microsoft.com/office/drawing/2014/main" val="63019155"/>
                    </a:ext>
                  </a:extLst>
                </a:gridCol>
                <a:gridCol w="889584">
                  <a:extLst>
                    <a:ext uri="{9D8B030D-6E8A-4147-A177-3AD203B41FA5}">
                      <a16:colId xmlns:a16="http://schemas.microsoft.com/office/drawing/2014/main" val="877939898"/>
                    </a:ext>
                  </a:extLst>
                </a:gridCol>
                <a:gridCol w="889584">
                  <a:extLst>
                    <a:ext uri="{9D8B030D-6E8A-4147-A177-3AD203B41FA5}">
                      <a16:colId xmlns:a16="http://schemas.microsoft.com/office/drawing/2014/main" val="2557734980"/>
                    </a:ext>
                  </a:extLst>
                </a:gridCol>
                <a:gridCol w="889584">
                  <a:extLst>
                    <a:ext uri="{9D8B030D-6E8A-4147-A177-3AD203B41FA5}">
                      <a16:colId xmlns:a16="http://schemas.microsoft.com/office/drawing/2014/main" val="3180520042"/>
                    </a:ext>
                  </a:extLst>
                </a:gridCol>
                <a:gridCol w="889584">
                  <a:extLst>
                    <a:ext uri="{9D8B030D-6E8A-4147-A177-3AD203B41FA5}">
                      <a16:colId xmlns:a16="http://schemas.microsoft.com/office/drawing/2014/main" val="2407883833"/>
                    </a:ext>
                  </a:extLst>
                </a:gridCol>
                <a:gridCol w="810396">
                  <a:extLst>
                    <a:ext uri="{9D8B030D-6E8A-4147-A177-3AD203B41FA5}">
                      <a16:colId xmlns:a16="http://schemas.microsoft.com/office/drawing/2014/main" val="2909831139"/>
                    </a:ext>
                  </a:extLst>
                </a:gridCol>
              </a:tblGrid>
              <a:tr h="980132">
                <a:tc>
                  <a:txBody>
                    <a:bodyPr/>
                    <a:lstStyle/>
                    <a:p>
                      <a:pPr algn="l">
                        <a:lnSpc>
                          <a:spcPts val="1200"/>
                        </a:lnSpc>
                        <a:spcAft>
                          <a:spcPts val="800"/>
                        </a:spcAft>
                      </a:pPr>
                      <a:r>
                        <a:rPr lang="fr-CA" sz="1000">
                          <a:effectLst/>
                        </a:rPr>
                        <a:t>Catalyseur 1(X</a:t>
                      </a:r>
                      <a:r>
                        <a:rPr lang="fr-CA" sz="1000" baseline="-25000">
                          <a:effectLst/>
                        </a:rPr>
                        <a:t>1</a:t>
                      </a:r>
                      <a:r>
                        <a:rPr lang="fr-CA" sz="1000">
                          <a:effectLst/>
                        </a:rPr>
                        <a:t>) :</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lnSpc>
                          <a:spcPts val="1200"/>
                        </a:lnSpc>
                        <a:spcAft>
                          <a:spcPts val="800"/>
                        </a:spcAft>
                      </a:pPr>
                      <a:r>
                        <a:rPr lang="fr-CA" sz="1000">
                          <a:effectLst/>
                        </a:rPr>
                        <a:t>57,9</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lnSpc>
                          <a:spcPts val="1200"/>
                        </a:lnSpc>
                        <a:spcAft>
                          <a:spcPts val="800"/>
                        </a:spcAft>
                      </a:pPr>
                      <a:r>
                        <a:rPr lang="fr-CA" sz="1000">
                          <a:effectLst/>
                        </a:rPr>
                        <a:t>66,2</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lnSpc>
                          <a:spcPts val="1200"/>
                        </a:lnSpc>
                        <a:spcAft>
                          <a:spcPts val="800"/>
                        </a:spcAft>
                      </a:pPr>
                      <a:r>
                        <a:rPr lang="fr-CA" sz="1000">
                          <a:effectLst/>
                        </a:rPr>
                        <a:t>65,4</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lnSpc>
                          <a:spcPts val="1200"/>
                        </a:lnSpc>
                        <a:spcAft>
                          <a:spcPts val="800"/>
                        </a:spcAft>
                      </a:pPr>
                      <a:r>
                        <a:rPr lang="fr-CA" sz="1000">
                          <a:effectLst/>
                        </a:rPr>
                        <a:t>65,3</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lnSpc>
                          <a:spcPts val="1200"/>
                        </a:lnSpc>
                        <a:spcAft>
                          <a:spcPts val="800"/>
                        </a:spcAft>
                      </a:pPr>
                      <a:r>
                        <a:rPr lang="fr-CA" sz="1000">
                          <a:effectLst/>
                        </a:rPr>
                        <a:t>62,6</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lnSpc>
                          <a:spcPts val="1200"/>
                        </a:lnSpc>
                        <a:spcAft>
                          <a:spcPts val="800"/>
                        </a:spcAft>
                      </a:pPr>
                      <a:r>
                        <a:rPr lang="fr-CA" sz="1000" dirty="0">
                          <a:effectLst/>
                        </a:rPr>
                        <a:t>67,6</a:t>
                      </a:r>
                      <a:endParaRPr lang="fr-CA" sz="10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lnSpc>
                          <a:spcPts val="1200"/>
                        </a:lnSpc>
                        <a:spcAft>
                          <a:spcPts val="800"/>
                        </a:spcAft>
                      </a:pPr>
                      <a:r>
                        <a:rPr lang="fr-CA" sz="1000">
                          <a:effectLst/>
                        </a:rPr>
                        <a:t>63,7</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lnSpc>
                          <a:spcPts val="1200"/>
                        </a:lnSpc>
                        <a:spcAft>
                          <a:spcPts val="800"/>
                        </a:spcAft>
                      </a:pPr>
                      <a:r>
                        <a:rPr lang="fr-CA" sz="1000">
                          <a:effectLst/>
                        </a:rPr>
                        <a:t>67,2</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lnSpc>
                          <a:spcPts val="1200"/>
                        </a:lnSpc>
                        <a:spcAft>
                          <a:spcPts val="800"/>
                        </a:spcAft>
                      </a:pPr>
                      <a:r>
                        <a:rPr lang="fr-CA" sz="1000">
                          <a:effectLst/>
                        </a:rPr>
                        <a:t>65,2</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lnSpc>
                          <a:spcPts val="1200"/>
                        </a:lnSpc>
                        <a:spcAft>
                          <a:spcPts val="800"/>
                        </a:spcAft>
                      </a:pPr>
                      <a:r>
                        <a:rPr lang="fr-CA" sz="1000">
                          <a:effectLst/>
                        </a:rPr>
                        <a:t>71,0</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796505550"/>
                  </a:ext>
                </a:extLst>
              </a:tr>
              <a:tr h="980132">
                <a:tc>
                  <a:txBody>
                    <a:bodyPr/>
                    <a:lstStyle/>
                    <a:p>
                      <a:pPr algn="l">
                        <a:lnSpc>
                          <a:spcPts val="1200"/>
                        </a:lnSpc>
                        <a:spcAft>
                          <a:spcPts val="800"/>
                        </a:spcAft>
                      </a:pPr>
                      <a:r>
                        <a:rPr lang="fr-CA" sz="1000">
                          <a:effectLst/>
                        </a:rPr>
                        <a:t>Catalyseur 2 (X</a:t>
                      </a:r>
                      <a:r>
                        <a:rPr lang="fr-CA" sz="1000" baseline="-25000">
                          <a:effectLst/>
                        </a:rPr>
                        <a:t>2</a:t>
                      </a:r>
                      <a:r>
                        <a:rPr lang="fr-CA" sz="1000">
                          <a:effectLst/>
                        </a:rPr>
                        <a:t>) :</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lnSpc>
                          <a:spcPts val="1200"/>
                        </a:lnSpc>
                        <a:spcAft>
                          <a:spcPts val="800"/>
                        </a:spcAft>
                      </a:pPr>
                      <a:r>
                        <a:rPr lang="fr-CA" sz="1000">
                          <a:effectLst/>
                        </a:rPr>
                        <a:t>66,4</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lnSpc>
                          <a:spcPts val="1200"/>
                        </a:lnSpc>
                        <a:spcAft>
                          <a:spcPts val="800"/>
                        </a:spcAft>
                      </a:pPr>
                      <a:r>
                        <a:rPr lang="fr-CA" sz="1000">
                          <a:effectLst/>
                        </a:rPr>
                        <a:t>71,7</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lnSpc>
                          <a:spcPts val="1200"/>
                        </a:lnSpc>
                        <a:spcAft>
                          <a:spcPts val="800"/>
                        </a:spcAft>
                      </a:pPr>
                      <a:r>
                        <a:rPr lang="fr-CA" sz="1000">
                          <a:effectLst/>
                        </a:rPr>
                        <a:t>70,3</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lnSpc>
                          <a:spcPts val="1200"/>
                        </a:lnSpc>
                        <a:spcAft>
                          <a:spcPts val="800"/>
                        </a:spcAft>
                      </a:pPr>
                      <a:r>
                        <a:rPr lang="fr-CA" sz="1000">
                          <a:effectLst/>
                        </a:rPr>
                        <a:t>69,3</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lnSpc>
                          <a:spcPts val="1200"/>
                        </a:lnSpc>
                        <a:spcAft>
                          <a:spcPts val="800"/>
                        </a:spcAft>
                      </a:pPr>
                      <a:r>
                        <a:rPr lang="fr-CA" sz="1000">
                          <a:effectLst/>
                        </a:rPr>
                        <a:t>64,8</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lnSpc>
                          <a:spcPts val="1200"/>
                        </a:lnSpc>
                        <a:spcAft>
                          <a:spcPts val="800"/>
                        </a:spcAft>
                      </a:pPr>
                      <a:r>
                        <a:rPr lang="fr-CA" sz="1000">
                          <a:effectLst/>
                        </a:rPr>
                        <a:t>69,6</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lnSpc>
                          <a:spcPts val="1200"/>
                        </a:lnSpc>
                        <a:spcAft>
                          <a:spcPts val="800"/>
                        </a:spcAft>
                      </a:pPr>
                      <a:r>
                        <a:rPr lang="fr-CA" sz="1000">
                          <a:effectLst/>
                        </a:rPr>
                        <a:t>68,6</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lnSpc>
                          <a:spcPts val="1200"/>
                        </a:lnSpc>
                        <a:spcAft>
                          <a:spcPts val="800"/>
                        </a:spcAft>
                      </a:pPr>
                      <a:r>
                        <a:rPr lang="fr-CA" sz="1000">
                          <a:effectLst/>
                        </a:rPr>
                        <a:t>69,4</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lnSpc>
                          <a:spcPts val="1200"/>
                        </a:lnSpc>
                        <a:spcAft>
                          <a:spcPts val="800"/>
                        </a:spcAft>
                      </a:pPr>
                      <a:r>
                        <a:rPr lang="fr-CA" sz="1000">
                          <a:effectLst/>
                        </a:rPr>
                        <a:t>65,3</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lnSpc>
                          <a:spcPts val="1200"/>
                        </a:lnSpc>
                        <a:spcAft>
                          <a:spcPts val="800"/>
                        </a:spcAft>
                      </a:pPr>
                      <a:r>
                        <a:rPr lang="fr-CA" sz="1000" dirty="0">
                          <a:effectLst/>
                        </a:rPr>
                        <a:t>68,8</a:t>
                      </a:r>
                      <a:endParaRPr lang="fr-CA" sz="10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4076658986"/>
                  </a:ext>
                </a:extLst>
              </a:tr>
            </a:tbl>
          </a:graphicData>
        </a:graphic>
      </p:graphicFrame>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D60F7E73-93C8-4E65-AE50-5DD42BE64AA8}"/>
                  </a:ext>
                </a:extLst>
              </p:cNvPr>
              <p:cNvSpPr txBox="1"/>
              <p:nvPr/>
            </p:nvSpPr>
            <p:spPr>
              <a:xfrm>
                <a:off x="1196788" y="4656439"/>
                <a:ext cx="10555940" cy="1754326"/>
              </a:xfrm>
              <a:prstGeom prst="rect">
                <a:avLst/>
              </a:prstGeom>
              <a:noFill/>
            </p:spPr>
            <p:txBody>
              <a:bodyPr wrap="square" rtlCol="0">
                <a:spAutoFit/>
              </a:bodyPr>
              <a:lstStyle/>
              <a:p>
                <a:r>
                  <a:rPr lang="fr-CA" dirty="0"/>
                  <a:t>On veut </a:t>
                </a:r>
                <a:r>
                  <a:rPr lang="fr-FR" sz="1800" dirty="0">
                    <a:effectLst/>
                    <a:latin typeface="Calibri" panose="020F0502020204030204" pitchFamily="34" charset="0"/>
                    <a:ea typeface="Times New Roman" panose="02020603050405020304" pitchFamily="18" charset="0"/>
                  </a:rPr>
                  <a:t>tester l’hypothèse selon laquelle la concentration moyenne de l’ingrédient actif résultant de l’utilisation du catalyseur 2 dépasse la concentration moyenne de l’ingrédient actif résultant de l’utilisation du catalyseur 1 . On suppose que les deux variables sont normalement distribuées avec des variances inconnues mais supposées égales.</a:t>
                </a:r>
              </a:p>
              <a:p>
                <a:endParaRPr lang="fr-FR" dirty="0">
                  <a:latin typeface="Calibri" panose="020F0502020204030204" pitchFamily="34" charset="0"/>
                </a:endParaRPr>
              </a:p>
              <a:p>
                <a:pPr/>
                <a14:m>
                  <m:oMathPara xmlns:m="http://schemas.openxmlformats.org/officeDocument/2006/math">
                    <m:oMathParaPr>
                      <m:jc m:val="centerGroup"/>
                    </m:oMathParaPr>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0</m:t>
                          </m:r>
                        </m:sub>
                      </m:sSub>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r>
                            <a:rPr lang="fr-CA" b="0" i="1" smtClean="0">
                              <a:latin typeface="Cambria Math" panose="02040503050406030204" pitchFamily="18" charset="0"/>
                            </a:rPr>
                            <m:t>2</m:t>
                          </m:r>
                        </m:sub>
                      </m:sSub>
                      <m:r>
                        <a:rPr lang="fr-CA" b="0" i="1" smtClean="0">
                          <a:latin typeface="Cambria Math" panose="02040503050406030204" pitchFamily="18" charset="0"/>
                        </a:rPr>
                        <m:t>  </m:t>
                      </m:r>
                      <m:r>
                        <a:rPr lang="fr-CA" b="0" i="1" smtClean="0">
                          <a:latin typeface="Cambria Math" panose="02040503050406030204" pitchFamily="18" charset="0"/>
                        </a:rPr>
                        <m:t>𝑐𝑜𝑛𝑡𝑟𝑒</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r>
                            <a:rPr lang="fr-CA" b="0" i="1" smtClean="0">
                              <a:latin typeface="Cambria Math" panose="02040503050406030204" pitchFamily="18" charset="0"/>
                            </a:rPr>
                            <m:t>1 </m:t>
                          </m:r>
                        </m:sub>
                      </m:sSub>
                      <m:r>
                        <a:rPr lang="fr-CA" b="0" i="1" smtClean="0">
                          <a:latin typeface="Cambria Math" panose="02040503050406030204" pitchFamily="18" charset="0"/>
                          <a:ea typeface="Cambria Math" panose="02040503050406030204" pitchFamily="18" charset="0"/>
                        </a:rPr>
                        <m:t>&lt;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2</m:t>
                          </m:r>
                        </m:sub>
                      </m:sSub>
                    </m:oMath>
                  </m:oMathPara>
                </a14:m>
                <a:endParaRPr lang="fr-CA" dirty="0"/>
              </a:p>
            </p:txBody>
          </p:sp>
        </mc:Choice>
        <mc:Fallback xmlns="">
          <p:sp>
            <p:nvSpPr>
              <p:cNvPr id="7" name="ZoneTexte 6">
                <a:extLst>
                  <a:ext uri="{FF2B5EF4-FFF2-40B4-BE49-F238E27FC236}">
                    <a16:creationId xmlns:a16="http://schemas.microsoft.com/office/drawing/2014/main" id="{D60F7E73-93C8-4E65-AE50-5DD42BE64AA8}"/>
                  </a:ext>
                </a:extLst>
              </p:cNvPr>
              <p:cNvSpPr txBox="1">
                <a:spLocks noRot="1" noChangeAspect="1" noMove="1" noResize="1" noEditPoints="1" noAdjustHandles="1" noChangeArrowheads="1" noChangeShapeType="1" noTextEdit="1"/>
              </p:cNvSpPr>
              <p:nvPr/>
            </p:nvSpPr>
            <p:spPr>
              <a:xfrm>
                <a:off x="1196788" y="4656439"/>
                <a:ext cx="10555940" cy="1754326"/>
              </a:xfrm>
              <a:prstGeom prst="rect">
                <a:avLst/>
              </a:prstGeom>
              <a:blipFill>
                <a:blip r:embed="rId2"/>
                <a:stretch>
                  <a:fillRect l="-462" t="-2083"/>
                </a:stretch>
              </a:blipFill>
            </p:spPr>
            <p:txBody>
              <a:bodyPr/>
              <a:lstStyle/>
              <a:p>
                <a:r>
                  <a:rPr lang="fr-CA">
                    <a:noFill/>
                  </a:rPr>
                  <a:t> </a:t>
                </a:r>
              </a:p>
            </p:txBody>
          </p:sp>
        </mc:Fallback>
      </mc:AlternateContent>
    </p:spTree>
    <p:extLst>
      <p:ext uri="{BB962C8B-B14F-4D97-AF65-F5344CB8AC3E}">
        <p14:creationId xmlns:p14="http://schemas.microsoft.com/office/powerpoint/2010/main" val="1484172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1B035B32-383A-44B2-BA0C-284A05C18864}"/>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2D87AC34-98A0-4E01-9C74-8223CCCE8F12}"/>
              </a:ext>
            </a:extLst>
          </p:cNvPr>
          <p:cNvSpPr>
            <a:spLocks noGrp="1"/>
          </p:cNvSpPr>
          <p:nvPr>
            <p:ph type="sldNum" sz="quarter" idx="12"/>
          </p:nvPr>
        </p:nvSpPr>
        <p:spPr/>
        <p:txBody>
          <a:bodyPr/>
          <a:lstStyle/>
          <a:p>
            <a:fld id="{26377AD9-CE17-438C-A638-C64D2D42D7CF}" type="slidenum">
              <a:rPr lang="fr-CA" smtClean="0"/>
              <a:t>7</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291D19CA-250F-4225-9717-FD985A0138EE}"/>
                  </a:ext>
                </a:extLst>
              </p:cNvPr>
              <p:cNvSpPr txBox="1"/>
              <p:nvPr/>
            </p:nvSpPr>
            <p:spPr>
              <a:xfrm>
                <a:off x="1021975" y="1815352"/>
                <a:ext cx="10219765" cy="4731167"/>
              </a:xfrm>
              <a:prstGeom prst="rect">
                <a:avLst/>
              </a:prstGeom>
              <a:noFill/>
            </p:spPr>
            <p:txBody>
              <a:bodyPr wrap="square" rtlCol="0">
                <a:spAutoFit/>
              </a:bodyPr>
              <a:lstStyle/>
              <a:p>
                <a:r>
                  <a:rPr lang="fr-CA" dirty="0"/>
                  <a:t>On a </a:t>
                </a:r>
              </a:p>
              <a:p>
                <a:endParaRPr lang="fr-CA" dirty="0"/>
              </a:p>
              <a:p>
                <a:r>
                  <a:rPr lang="fr-CA" dirty="0"/>
                  <a:t>Donc   </a:t>
                </a:r>
                <a14:m>
                  <m:oMath xmlns:m="http://schemas.openxmlformats.org/officeDocument/2006/math">
                    <m:sSubSup>
                      <m:sSubSupPr>
                        <m:ctrlPr>
                          <a:rPr lang="fr-CA" i="1" smtClean="0">
                            <a:latin typeface="Cambria Math" panose="02040503050406030204" pitchFamily="18" charset="0"/>
                          </a:rPr>
                        </m:ctrlPr>
                      </m:sSubSupPr>
                      <m:e>
                        <m:r>
                          <a:rPr lang="fr-CA" b="0" i="1" smtClean="0">
                            <a:latin typeface="Cambria Math" panose="02040503050406030204" pitchFamily="18" charset="0"/>
                          </a:rPr>
                          <m:t>𝑠</m:t>
                        </m:r>
                      </m:e>
                      <m:sub>
                        <m:r>
                          <a:rPr lang="fr-CA" b="0" i="1" smtClean="0">
                            <a:latin typeface="Cambria Math" panose="02040503050406030204" pitchFamily="18" charset="0"/>
                          </a:rPr>
                          <m:t>𝑝</m:t>
                        </m:r>
                      </m:sub>
                      <m:sup>
                        <m:r>
                          <a:rPr lang="fr-CA" b="0" i="1" smtClean="0">
                            <a:latin typeface="Cambria Math" panose="02040503050406030204" pitchFamily="18" charset="0"/>
                          </a:rPr>
                          <m:t>2</m:t>
                        </m:r>
                      </m:sup>
                    </m:sSubSup>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9∗</m:t>
                        </m:r>
                        <m:sSup>
                          <m:sSupPr>
                            <m:ctrlPr>
                              <a:rPr lang="fr-CA" b="0" i="1" smtClean="0">
                                <a:latin typeface="Cambria Math" panose="02040503050406030204" pitchFamily="18" charset="0"/>
                              </a:rPr>
                            </m:ctrlPr>
                          </m:sSupPr>
                          <m:e>
                            <m:r>
                              <a:rPr lang="fr-CA" b="0" i="1" smtClean="0">
                                <a:latin typeface="Cambria Math" panose="02040503050406030204" pitchFamily="18" charset="0"/>
                              </a:rPr>
                              <m:t>3,44</m:t>
                            </m:r>
                          </m:e>
                          <m:sup>
                            <m:r>
                              <a:rPr lang="fr-CA" b="0" i="1" smtClean="0">
                                <a:latin typeface="Cambria Math" panose="02040503050406030204" pitchFamily="18" charset="0"/>
                              </a:rPr>
                              <m:t>2</m:t>
                            </m:r>
                          </m:sup>
                        </m:sSup>
                        <m:r>
                          <a:rPr lang="fr-CA" b="0" i="1" smtClean="0">
                            <a:latin typeface="Cambria Math" panose="02040503050406030204" pitchFamily="18" charset="0"/>
                          </a:rPr>
                          <m:t>+9∗</m:t>
                        </m:r>
                        <m:sSup>
                          <m:sSupPr>
                            <m:ctrlPr>
                              <a:rPr lang="fr-CA" b="0" i="1" smtClean="0">
                                <a:latin typeface="Cambria Math" panose="02040503050406030204" pitchFamily="18" charset="0"/>
                              </a:rPr>
                            </m:ctrlPr>
                          </m:sSupPr>
                          <m:e>
                            <m:r>
                              <a:rPr lang="fr-CA" b="0" i="1" smtClean="0">
                                <a:latin typeface="Cambria Math" panose="02040503050406030204" pitchFamily="18" charset="0"/>
                              </a:rPr>
                              <m:t>2,22</m:t>
                            </m:r>
                          </m:e>
                          <m:sup>
                            <m:r>
                              <a:rPr lang="fr-CA" b="0" i="1" smtClean="0">
                                <a:latin typeface="Cambria Math" panose="02040503050406030204" pitchFamily="18" charset="0"/>
                              </a:rPr>
                              <m:t>2</m:t>
                            </m:r>
                          </m:sup>
                        </m:sSup>
                      </m:num>
                      <m:den>
                        <m:r>
                          <a:rPr lang="fr-CA" b="0" i="1" smtClean="0">
                            <a:latin typeface="Cambria Math" panose="02040503050406030204" pitchFamily="18" charset="0"/>
                          </a:rPr>
                          <m:t>10+10−2</m:t>
                        </m:r>
                      </m:den>
                    </m:f>
                    <m:r>
                      <a:rPr lang="fr-CA" b="0" i="1" smtClean="0">
                        <a:latin typeface="Cambria Math" panose="02040503050406030204" pitchFamily="18" charset="0"/>
                      </a:rPr>
                      <m:t>=8,381</m:t>
                    </m:r>
                    <m:r>
                      <a:rPr lang="fr-CA" b="0" i="1" smtClean="0">
                        <a:latin typeface="Cambria Math" panose="02040503050406030204" pitchFamily="18" charset="0"/>
                        <a:ea typeface="Cambria Math" panose="02040503050406030204" pitchFamily="18" charset="0"/>
                      </a:rPr>
                      <m: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𝑠</m:t>
                        </m:r>
                      </m:e>
                      <m:sub>
                        <m:r>
                          <a:rPr lang="fr-CA" b="0" i="1" smtClean="0">
                            <a:latin typeface="Cambria Math" panose="02040503050406030204" pitchFamily="18" charset="0"/>
                            <a:ea typeface="Cambria Math" panose="02040503050406030204" pitchFamily="18" charset="0"/>
                          </a:rPr>
                          <m:t>𝑝</m:t>
                        </m:r>
                      </m:sub>
                    </m:sSub>
                    <m:r>
                      <a:rPr lang="fr-CA" b="0" i="1" smtClean="0">
                        <a:latin typeface="Cambria Math" panose="02040503050406030204" pitchFamily="18" charset="0"/>
                        <a:ea typeface="Cambria Math" panose="02040503050406030204" pitchFamily="18" charset="0"/>
                      </a:rPr>
                      <m:t>=2,89   </m:t>
                    </m:r>
                    <m:r>
                      <a:rPr lang="fr-CA" b="0" i="1" smtClean="0">
                        <a:latin typeface="Cambria Math" panose="02040503050406030204" pitchFamily="18" charset="0"/>
                        <a:ea typeface="Cambria Math" panose="02040503050406030204" pitchFamily="18" charset="0"/>
                      </a:rPr>
                      <m:t>𝑒𝑡</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𝑎𝑙𝑜𝑟𝑠</m:t>
                    </m:r>
                    <m:r>
                      <a:rPr lang="fr-CA" b="0" i="1" smtClean="0">
                        <a:latin typeface="Cambria Math" panose="02040503050406030204" pitchFamily="18" charset="0"/>
                        <a:ea typeface="Cambria Math" panose="02040503050406030204" pitchFamily="18" charset="0"/>
                      </a:rPr>
                      <m:t>:</m:t>
                    </m:r>
                  </m:oMath>
                </a14:m>
                <a:endParaRPr lang="fr-CA" b="0" dirty="0">
                  <a:ea typeface="Cambria Math" panose="02040503050406030204" pitchFamily="18" charset="0"/>
                </a:endParaRPr>
              </a:p>
              <a:p>
                <a:endParaRPr lang="fr-CA" dirty="0"/>
              </a:p>
              <a:p>
                <a:pPr/>
                <a14:m>
                  <m:oMathPara xmlns:m="http://schemas.openxmlformats.org/officeDocument/2006/math">
                    <m:oMathParaPr>
                      <m:jc m:val="centerGroup"/>
                    </m:oMathParaPr>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𝑡</m:t>
                          </m:r>
                        </m:e>
                        <m:sub>
                          <m:r>
                            <a:rPr lang="fr-CA" b="0" i="1" smtClean="0">
                              <a:latin typeface="Cambria Math" panose="02040503050406030204" pitchFamily="18" charset="0"/>
                            </a:rPr>
                            <m:t>0</m:t>
                          </m:r>
                        </m:sub>
                      </m:sSub>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65,21−68,42</m:t>
                          </m:r>
                        </m:num>
                        <m:den>
                          <m:r>
                            <a:rPr lang="fr-CA" b="0" i="1" smtClean="0">
                              <a:latin typeface="Cambria Math" panose="02040503050406030204" pitchFamily="18" charset="0"/>
                            </a:rPr>
                            <m:t>2,89</m:t>
                          </m:r>
                          <m:rad>
                            <m:radPr>
                              <m:degHide m:val="on"/>
                              <m:ctrlPr>
                                <a:rPr lang="fr-CA" b="0" i="1" smtClean="0">
                                  <a:latin typeface="Cambria Math" panose="02040503050406030204" pitchFamily="18" charset="0"/>
                                </a:rPr>
                              </m:ctrlPr>
                            </m:radPr>
                            <m:deg/>
                            <m:e>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10</m:t>
                                  </m:r>
                                </m:den>
                              </m:f>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10</m:t>
                                  </m:r>
                                </m:den>
                              </m:f>
                            </m:e>
                          </m:rad>
                        </m:den>
                      </m:f>
                      <m:r>
                        <a:rPr lang="fr-CA" b="0" i="1" smtClean="0">
                          <a:latin typeface="Cambria Math" panose="02040503050406030204" pitchFamily="18" charset="0"/>
                        </a:rPr>
                        <m:t>=−2,48</m:t>
                      </m:r>
                    </m:oMath>
                  </m:oMathPara>
                </a14:m>
                <a:endParaRPr lang="fr-CA" dirty="0"/>
              </a:p>
              <a:p>
                <a:endParaRPr lang="fr-CA" dirty="0"/>
              </a:p>
              <a:p>
                <a:r>
                  <a:rPr lang="fr-CA" dirty="0"/>
                  <a:t>Et le point critique pour un alpha =5% est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𝑡</m:t>
                        </m:r>
                      </m:e>
                      <m:sub>
                        <m:r>
                          <a:rPr lang="fr-CA" b="0" i="1" smtClean="0">
                            <a:latin typeface="Cambria Math" panose="02040503050406030204" pitchFamily="18" charset="0"/>
                          </a:rPr>
                          <m:t>18;0,05</m:t>
                        </m:r>
                      </m:sub>
                    </m:sSub>
                    <m:r>
                      <a:rPr lang="fr-CA" b="0" i="1" smtClean="0">
                        <a:latin typeface="Cambria Math" panose="02040503050406030204" pitchFamily="18" charset="0"/>
                      </a:rPr>
                      <m:t>=1,734</m:t>
                    </m:r>
                  </m:oMath>
                </a14:m>
                <a:endParaRPr lang="fr-CA" dirty="0"/>
              </a:p>
              <a:p>
                <a:endParaRPr lang="fr-CA" dirty="0"/>
              </a:p>
              <a:p>
                <a:r>
                  <a:rPr lang="fr-CA" dirty="0"/>
                  <a:t>On applique la règle de décision pour un test unilatéral à gauche: on rejette l’hypothèse nulle lorsque :</a:t>
                </a:r>
              </a:p>
              <a:p>
                <a:pPr/>
                <a14:m>
                  <m:oMathPara xmlns:m="http://schemas.openxmlformats.org/officeDocument/2006/math">
                    <m:oMathParaPr>
                      <m:jc m:val="centerGroup"/>
                    </m:oMathParaPr>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𝑡</m:t>
                          </m:r>
                        </m:e>
                        <m:sub>
                          <m:r>
                            <a:rPr lang="fr-CA" b="0" i="1" smtClean="0">
                              <a:latin typeface="Cambria Math" panose="02040503050406030204" pitchFamily="18" charset="0"/>
                            </a:rPr>
                            <m:t>0</m:t>
                          </m:r>
                        </m:sub>
                      </m:sSub>
                      <m:r>
                        <a:rPr lang="fr-CA"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−1,734</m:t>
                      </m:r>
                    </m:oMath>
                  </m:oMathPara>
                </a14:m>
                <a:endParaRPr lang="fr-CA" dirty="0"/>
              </a:p>
              <a:p>
                <a:r>
                  <a:rPr lang="fr-CA" dirty="0"/>
                  <a:t>Ce qui est le cas ici, donc on doit rejeter l’hypothèse nulle.</a:t>
                </a:r>
              </a:p>
              <a:p>
                <a:r>
                  <a:rPr lang="fr-CA" b="1" dirty="0"/>
                  <a:t>Conclusion: La concentration de l’ingrédient actif dans le détergent 2 est significativement supérieur à celui du détergent 1.</a:t>
                </a:r>
              </a:p>
              <a:p>
                <a:endParaRPr lang="fr-CA" dirty="0"/>
              </a:p>
            </p:txBody>
          </p:sp>
        </mc:Choice>
        <mc:Fallback xmlns="">
          <p:sp>
            <p:nvSpPr>
              <p:cNvPr id="5" name="ZoneTexte 4">
                <a:extLst>
                  <a:ext uri="{FF2B5EF4-FFF2-40B4-BE49-F238E27FC236}">
                    <a16:creationId xmlns:a16="http://schemas.microsoft.com/office/drawing/2014/main" id="{291D19CA-250F-4225-9717-FD985A0138EE}"/>
                  </a:ext>
                </a:extLst>
              </p:cNvPr>
              <p:cNvSpPr txBox="1">
                <a:spLocks noRot="1" noChangeAspect="1" noMove="1" noResize="1" noEditPoints="1" noAdjustHandles="1" noChangeArrowheads="1" noChangeShapeType="1" noTextEdit="1"/>
              </p:cNvSpPr>
              <p:nvPr/>
            </p:nvSpPr>
            <p:spPr>
              <a:xfrm>
                <a:off x="1021975" y="1815352"/>
                <a:ext cx="10219765" cy="4731167"/>
              </a:xfrm>
              <a:prstGeom prst="rect">
                <a:avLst/>
              </a:prstGeom>
              <a:blipFill>
                <a:blip r:embed="rId3"/>
                <a:stretch>
                  <a:fillRect l="-537" t="-773"/>
                </a:stretch>
              </a:blipFill>
            </p:spPr>
            <p:txBody>
              <a:bodyPr/>
              <a:lstStyle/>
              <a:p>
                <a:r>
                  <a:rPr lang="fr-CA">
                    <a:noFill/>
                  </a:rPr>
                  <a:t> </a:t>
                </a:r>
              </a:p>
            </p:txBody>
          </p:sp>
        </mc:Fallback>
      </mc:AlternateContent>
      <p:sp>
        <p:nvSpPr>
          <p:cNvPr id="9" name="Titre 8">
            <a:extLst>
              <a:ext uri="{FF2B5EF4-FFF2-40B4-BE49-F238E27FC236}">
                <a16:creationId xmlns:a16="http://schemas.microsoft.com/office/drawing/2014/main" id="{BEDB58C8-C7EA-4BBE-8A2A-53CA804028C6}"/>
              </a:ext>
            </a:extLst>
          </p:cNvPr>
          <p:cNvSpPr>
            <a:spLocks noGrp="1"/>
          </p:cNvSpPr>
          <p:nvPr>
            <p:ph type="title"/>
          </p:nvPr>
        </p:nvSpPr>
        <p:spPr/>
        <p:txBody>
          <a:bodyPr/>
          <a:lstStyle/>
          <a:p>
            <a:r>
              <a:rPr lang="fr-CA" b="1" dirty="0"/>
              <a:t>Méthode 1</a:t>
            </a:r>
            <a:r>
              <a:rPr lang="fr-CA" dirty="0"/>
              <a:t>: L’utilisation des régions de rejet</a:t>
            </a:r>
          </a:p>
        </p:txBody>
      </p:sp>
      <p:sp>
        <p:nvSpPr>
          <p:cNvPr id="11" name="Rectangle 5">
            <a:extLst>
              <a:ext uri="{FF2B5EF4-FFF2-40B4-BE49-F238E27FC236}">
                <a16:creationId xmlns:a16="http://schemas.microsoft.com/office/drawing/2014/main" id="{AC6F0BF9-F25D-4A64-9B63-D03484B2E049}"/>
              </a:ext>
            </a:extLst>
          </p:cNvPr>
          <p:cNvSpPr>
            <a:spLocks noChangeArrowheads="1"/>
          </p:cNvSpPr>
          <p:nvPr/>
        </p:nvSpPr>
        <p:spPr bwMode="auto">
          <a:xfrm>
            <a:off x="3173506" y="18349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CA"/>
          </a:p>
        </p:txBody>
      </p:sp>
      <p:graphicFrame>
        <p:nvGraphicFramePr>
          <p:cNvPr id="12" name="Objet 11">
            <a:extLst>
              <a:ext uri="{FF2B5EF4-FFF2-40B4-BE49-F238E27FC236}">
                <a16:creationId xmlns:a16="http://schemas.microsoft.com/office/drawing/2014/main" id="{202DD473-A61E-4BA2-AA10-AF17BD158EAA}"/>
              </a:ext>
            </a:extLst>
          </p:cNvPr>
          <p:cNvGraphicFramePr>
            <a:graphicFrameLocks noChangeAspect="1"/>
          </p:cNvGraphicFramePr>
          <p:nvPr>
            <p:extLst>
              <p:ext uri="{D42A27DB-BD31-4B8C-83A1-F6EECF244321}">
                <p14:modId xmlns:p14="http://schemas.microsoft.com/office/powerpoint/2010/main" val="61675739"/>
              </p:ext>
            </p:extLst>
          </p:nvPr>
        </p:nvGraphicFramePr>
        <p:xfrm>
          <a:off x="3173412" y="1835150"/>
          <a:ext cx="5437187" cy="276225"/>
        </p:xfrm>
        <a:graphic>
          <a:graphicData uri="http://schemas.openxmlformats.org/presentationml/2006/ole">
            <mc:AlternateContent xmlns:mc="http://schemas.openxmlformats.org/markup-compatibility/2006">
              <mc:Choice xmlns:v="urn:schemas-microsoft-com:vml" Requires="v">
                <p:oleObj spid="_x0000_s2066" r:id="rId4" imgW="4022640" imgH="264960" progId="Equation.DSMT4">
                  <p:embed/>
                </p:oleObj>
              </mc:Choice>
              <mc:Fallback>
                <p:oleObj r:id="rId4" imgW="4022640" imgH="26496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3412" y="1835150"/>
                        <a:ext cx="5437187" cy="276225"/>
                      </a:xfrm>
                      <a:prstGeom prst="rect">
                        <a:avLst/>
                      </a:prstGeom>
                      <a:noFill/>
                    </p:spPr>
                  </p:pic>
                </p:oleObj>
              </mc:Fallback>
            </mc:AlternateContent>
          </a:graphicData>
        </a:graphic>
      </p:graphicFrame>
      <p:sp>
        <p:nvSpPr>
          <p:cNvPr id="13" name="Rectangle 7">
            <a:extLst>
              <a:ext uri="{FF2B5EF4-FFF2-40B4-BE49-F238E27FC236}">
                <a16:creationId xmlns:a16="http://schemas.microsoft.com/office/drawing/2014/main" id="{4922446D-EBFD-4AB1-A155-F8F3905F116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CA"/>
          </a:p>
        </p:txBody>
      </p:sp>
    </p:spTree>
    <p:extLst>
      <p:ext uri="{BB962C8B-B14F-4D97-AF65-F5344CB8AC3E}">
        <p14:creationId xmlns:p14="http://schemas.microsoft.com/office/powerpoint/2010/main" val="1763630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1EB589-B236-4739-BE49-D7B49AB35234}"/>
              </a:ext>
            </a:extLst>
          </p:cNvPr>
          <p:cNvSpPr>
            <a:spLocks noGrp="1"/>
          </p:cNvSpPr>
          <p:nvPr>
            <p:ph type="title"/>
          </p:nvPr>
        </p:nvSpPr>
        <p:spPr/>
        <p:txBody>
          <a:bodyPr/>
          <a:lstStyle/>
          <a:p>
            <a:r>
              <a:rPr lang="fr-CA" dirty="0"/>
              <a:t>Méthode 2: </a:t>
            </a:r>
            <a:r>
              <a:rPr lang="fr-CA" sz="2400" b="1" dirty="0">
                <a:solidFill>
                  <a:srgbClr val="000000"/>
                </a:solidFill>
                <a:effectLst/>
                <a:latin typeface="Times New Roman" panose="02020603050405020304" pitchFamily="18" charset="0"/>
                <a:ea typeface="Times New Roman" panose="02020603050405020304" pitchFamily="18" charset="0"/>
              </a:rPr>
              <a:t>L’utilisation de la valeur P.</a:t>
            </a:r>
            <a:br>
              <a:rPr lang="fr-CA" sz="2400" dirty="0">
                <a:solidFill>
                  <a:srgbClr val="000000"/>
                </a:solidFill>
                <a:effectLst/>
                <a:latin typeface="Times New Roman" panose="02020603050405020304" pitchFamily="18" charset="0"/>
                <a:ea typeface="Times New Roman" panose="02020603050405020304" pitchFamily="18" charset="0"/>
              </a:rPr>
            </a:br>
            <a:endParaRPr lang="fr-CA" sz="2400" dirty="0"/>
          </a:p>
        </p:txBody>
      </p:sp>
      <p:sp>
        <p:nvSpPr>
          <p:cNvPr id="3" name="Espace réservé du pied de page 2">
            <a:extLst>
              <a:ext uri="{FF2B5EF4-FFF2-40B4-BE49-F238E27FC236}">
                <a16:creationId xmlns:a16="http://schemas.microsoft.com/office/drawing/2014/main" id="{EC95A769-3F9A-4002-8CEE-F7D298C3E4D6}"/>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BDFA4FBF-FB27-4214-BF86-F963FF2A3D48}"/>
              </a:ext>
            </a:extLst>
          </p:cNvPr>
          <p:cNvSpPr>
            <a:spLocks noGrp="1"/>
          </p:cNvSpPr>
          <p:nvPr>
            <p:ph type="sldNum" sz="quarter" idx="12"/>
          </p:nvPr>
        </p:nvSpPr>
        <p:spPr/>
        <p:txBody>
          <a:bodyPr/>
          <a:lstStyle/>
          <a:p>
            <a:fld id="{26377AD9-CE17-438C-A638-C64D2D42D7CF}" type="slidenum">
              <a:rPr lang="fr-CA" smtClean="0"/>
              <a:t>8</a:t>
            </a:fld>
            <a:endParaRPr lang="fr-CA"/>
          </a:p>
        </p:txBody>
      </p:sp>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0B859243-2019-494F-89B1-60871D7DBE9B}"/>
                  </a:ext>
                </a:extLst>
              </p:cNvPr>
              <p:cNvSpPr txBox="1"/>
              <p:nvPr/>
            </p:nvSpPr>
            <p:spPr>
              <a:xfrm>
                <a:off x="1097280" y="1885071"/>
                <a:ext cx="9495692" cy="2246769"/>
              </a:xfrm>
              <a:prstGeom prst="rect">
                <a:avLst/>
              </a:prstGeom>
              <a:noFill/>
            </p:spPr>
            <p:txBody>
              <a:bodyPr wrap="square" rtlCol="0">
                <a:spAutoFit/>
              </a:bodyPr>
              <a:lstStyle/>
              <a:p>
                <a:r>
                  <a:rPr lang="fr-CA" sz="2800" dirty="0"/>
                  <a:t>La valeur –P=</a:t>
                </a:r>
                <a14:m>
                  <m:oMath xmlns:m="http://schemas.openxmlformats.org/officeDocument/2006/math">
                    <m:r>
                      <a:rPr lang="fr-CA" sz="2800" b="0" i="1" smtClean="0">
                        <a:latin typeface="Cambria Math" panose="02040503050406030204" pitchFamily="18" charset="0"/>
                      </a:rPr>
                      <m:t>𝑃</m:t>
                    </m:r>
                    <m:d>
                      <m:dPr>
                        <m:ctrlPr>
                          <a:rPr lang="fr-CA" sz="2800" b="0" i="1" smtClean="0">
                            <a:latin typeface="Cambria Math" panose="02040503050406030204" pitchFamily="18" charset="0"/>
                          </a:rPr>
                        </m:ctrlPr>
                      </m:dPr>
                      <m:e>
                        <m:sSub>
                          <m:sSubPr>
                            <m:ctrlPr>
                              <a:rPr lang="fr-CA" sz="2800" b="0" i="1" smtClean="0">
                                <a:latin typeface="Cambria Math" panose="02040503050406030204" pitchFamily="18" charset="0"/>
                              </a:rPr>
                            </m:ctrlPr>
                          </m:sSubPr>
                          <m:e>
                            <m:r>
                              <a:rPr lang="fr-CA" sz="2800" b="0" i="1" smtClean="0">
                                <a:latin typeface="Cambria Math" panose="02040503050406030204" pitchFamily="18" charset="0"/>
                              </a:rPr>
                              <m:t>𝑇</m:t>
                            </m:r>
                          </m:e>
                          <m:sub>
                            <m:r>
                              <a:rPr lang="fr-CA" sz="2800" b="0" i="1" smtClean="0">
                                <a:latin typeface="Cambria Math" panose="02040503050406030204" pitchFamily="18" charset="0"/>
                              </a:rPr>
                              <m:t>18</m:t>
                            </m:r>
                          </m:sub>
                        </m:sSub>
                        <m:r>
                          <a:rPr lang="fr-CA" sz="2800" b="0" i="1" smtClean="0">
                            <a:latin typeface="Cambria Math" panose="02040503050406030204" pitchFamily="18" charset="0"/>
                            <a:ea typeface="Cambria Math" panose="02040503050406030204" pitchFamily="18" charset="0"/>
                          </a:rPr>
                          <m:t>&lt;−2,48</m:t>
                        </m:r>
                      </m:e>
                    </m:d>
                    <m:r>
                      <a:rPr lang="fr-CA" sz="2800" b="0" i="1" smtClean="0">
                        <a:latin typeface="Cambria Math" panose="02040503050406030204" pitchFamily="18" charset="0"/>
                        <a:ea typeface="Cambria Math" panose="02040503050406030204" pitchFamily="18" charset="0"/>
                      </a:rPr>
                      <m:t>=</m:t>
                    </m:r>
                    <m:r>
                      <a:rPr lang="fr-CA" sz="2800" b="0" i="1" smtClean="0">
                        <a:latin typeface="Cambria Math" panose="02040503050406030204" pitchFamily="18" charset="0"/>
                        <a:ea typeface="Cambria Math" panose="02040503050406030204" pitchFamily="18" charset="0"/>
                      </a:rPr>
                      <m:t>𝑃</m:t>
                    </m:r>
                    <m:d>
                      <m:dPr>
                        <m:ctrlPr>
                          <a:rPr lang="fr-CA" sz="2800" b="0" i="1" smtClean="0">
                            <a:latin typeface="Cambria Math" panose="02040503050406030204" pitchFamily="18" charset="0"/>
                            <a:ea typeface="Cambria Math" panose="02040503050406030204" pitchFamily="18" charset="0"/>
                          </a:rPr>
                        </m:ctrlPr>
                      </m:dPr>
                      <m:e>
                        <m:sSub>
                          <m:sSubPr>
                            <m:ctrlPr>
                              <a:rPr lang="fr-CA" sz="2800" b="0" i="1" smtClean="0">
                                <a:latin typeface="Cambria Math" panose="02040503050406030204" pitchFamily="18" charset="0"/>
                                <a:ea typeface="Cambria Math" panose="02040503050406030204" pitchFamily="18" charset="0"/>
                              </a:rPr>
                            </m:ctrlPr>
                          </m:sSubPr>
                          <m:e>
                            <m:r>
                              <a:rPr lang="fr-CA" sz="2800" b="0" i="1" smtClean="0">
                                <a:latin typeface="Cambria Math" panose="02040503050406030204" pitchFamily="18" charset="0"/>
                                <a:ea typeface="Cambria Math" panose="02040503050406030204" pitchFamily="18" charset="0"/>
                              </a:rPr>
                              <m:t>𝑇</m:t>
                            </m:r>
                          </m:e>
                          <m:sub>
                            <m:r>
                              <a:rPr lang="fr-CA" sz="2800" b="0" i="1" smtClean="0">
                                <a:latin typeface="Cambria Math" panose="02040503050406030204" pitchFamily="18" charset="0"/>
                                <a:ea typeface="Cambria Math" panose="02040503050406030204" pitchFamily="18" charset="0"/>
                              </a:rPr>
                              <m:t>18</m:t>
                            </m:r>
                          </m:sub>
                        </m:sSub>
                        <m:r>
                          <a:rPr lang="fr-CA" sz="2800" b="0" i="1" smtClean="0">
                            <a:latin typeface="Cambria Math" panose="02040503050406030204" pitchFamily="18" charset="0"/>
                            <a:ea typeface="Cambria Math" panose="02040503050406030204" pitchFamily="18" charset="0"/>
                          </a:rPr>
                          <m:t>&gt;2,48</m:t>
                        </m:r>
                      </m:e>
                    </m:d>
                    <m:r>
                      <a:rPr lang="fr-CA" sz="2800" b="0" i="1" smtClean="0">
                        <a:latin typeface="Cambria Math" panose="02040503050406030204" pitchFamily="18" charset="0"/>
                        <a:ea typeface="Cambria Math" panose="02040503050406030204" pitchFamily="18" charset="0"/>
                      </a:rPr>
                      <m:t>   </m:t>
                    </m:r>
                  </m:oMath>
                </a14:m>
                <a:r>
                  <a:rPr lang="fr-CA" sz="2800" dirty="0"/>
                  <a:t> or la table de </a:t>
                </a:r>
                <a:r>
                  <a:rPr lang="fr-CA" sz="2800" dirty="0" err="1"/>
                  <a:t>Student</a:t>
                </a:r>
                <a:r>
                  <a:rPr lang="fr-CA" sz="2800" dirty="0"/>
                  <a:t> nous indique que cette probabilité est comprise entre 1% et 2% donc inférieur au seuil de signification de 5%. Donc on doit rejeter l’hypothèse nulle et conclure de la même façon que la méthode 1.</a:t>
                </a:r>
              </a:p>
            </p:txBody>
          </p:sp>
        </mc:Choice>
        <mc:Fallback xmlns="">
          <p:sp>
            <p:nvSpPr>
              <p:cNvPr id="8" name="ZoneTexte 7">
                <a:extLst>
                  <a:ext uri="{FF2B5EF4-FFF2-40B4-BE49-F238E27FC236}">
                    <a16:creationId xmlns:a16="http://schemas.microsoft.com/office/drawing/2014/main" id="{0B859243-2019-494F-89B1-60871D7DBE9B}"/>
                  </a:ext>
                </a:extLst>
              </p:cNvPr>
              <p:cNvSpPr txBox="1">
                <a:spLocks noRot="1" noChangeAspect="1" noMove="1" noResize="1" noEditPoints="1" noAdjustHandles="1" noChangeArrowheads="1" noChangeShapeType="1" noTextEdit="1"/>
              </p:cNvSpPr>
              <p:nvPr/>
            </p:nvSpPr>
            <p:spPr>
              <a:xfrm>
                <a:off x="1097280" y="1885071"/>
                <a:ext cx="9495692" cy="2246769"/>
              </a:xfrm>
              <a:prstGeom prst="rect">
                <a:avLst/>
              </a:prstGeom>
              <a:blipFill>
                <a:blip r:embed="rId2"/>
                <a:stretch>
                  <a:fillRect l="-1284" t="-2439" r="-1027" b="-6775"/>
                </a:stretch>
              </a:blipFill>
            </p:spPr>
            <p:txBody>
              <a:bodyPr/>
              <a:lstStyle/>
              <a:p>
                <a:r>
                  <a:rPr lang="fr-CA">
                    <a:noFill/>
                  </a:rPr>
                  <a:t> </a:t>
                </a:r>
              </a:p>
            </p:txBody>
          </p:sp>
        </mc:Fallback>
      </mc:AlternateContent>
    </p:spTree>
    <p:extLst>
      <p:ext uri="{BB962C8B-B14F-4D97-AF65-F5344CB8AC3E}">
        <p14:creationId xmlns:p14="http://schemas.microsoft.com/office/powerpoint/2010/main" val="1223257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373E9B-A884-4B42-A46B-A39E4C5759E8}"/>
              </a:ext>
            </a:extLst>
          </p:cNvPr>
          <p:cNvSpPr>
            <a:spLocks noGrp="1"/>
          </p:cNvSpPr>
          <p:nvPr>
            <p:ph type="title"/>
          </p:nvPr>
        </p:nvSpPr>
        <p:spPr/>
        <p:txBody>
          <a:bodyPr/>
          <a:lstStyle/>
          <a:p>
            <a:r>
              <a:rPr lang="fr-CA" dirty="0"/>
              <a:t>Méthode 3: </a:t>
            </a:r>
            <a:r>
              <a:rPr lang="fr-CA" sz="2400" b="1" dirty="0">
                <a:solidFill>
                  <a:srgbClr val="000000"/>
                </a:solidFill>
                <a:effectLst/>
                <a:latin typeface="Times New Roman" panose="02020603050405020304" pitchFamily="18" charset="0"/>
                <a:ea typeface="Times New Roman" panose="02020603050405020304" pitchFamily="18" charset="0"/>
              </a:rPr>
              <a:t>L’utilisation du logiciel R.</a:t>
            </a:r>
            <a:br>
              <a:rPr lang="fr-CA" sz="2400" dirty="0">
                <a:solidFill>
                  <a:srgbClr val="000000"/>
                </a:solidFill>
                <a:effectLst/>
                <a:latin typeface="Times New Roman" panose="02020603050405020304" pitchFamily="18" charset="0"/>
                <a:ea typeface="Times New Roman" panose="02020603050405020304" pitchFamily="18" charset="0"/>
              </a:rPr>
            </a:br>
            <a:endParaRPr lang="fr-CA" sz="2400" dirty="0"/>
          </a:p>
        </p:txBody>
      </p:sp>
      <p:sp>
        <p:nvSpPr>
          <p:cNvPr id="3" name="Espace réservé du pied de page 2">
            <a:extLst>
              <a:ext uri="{FF2B5EF4-FFF2-40B4-BE49-F238E27FC236}">
                <a16:creationId xmlns:a16="http://schemas.microsoft.com/office/drawing/2014/main" id="{DC7CC4D8-DE87-4D35-B45F-03A8780D7B17}"/>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9DEE00A1-AE58-40BC-838F-4B5E50804E62}"/>
              </a:ext>
            </a:extLst>
          </p:cNvPr>
          <p:cNvSpPr>
            <a:spLocks noGrp="1"/>
          </p:cNvSpPr>
          <p:nvPr>
            <p:ph type="sldNum" sz="quarter" idx="12"/>
          </p:nvPr>
        </p:nvSpPr>
        <p:spPr/>
        <p:txBody>
          <a:bodyPr/>
          <a:lstStyle/>
          <a:p>
            <a:fld id="{26377AD9-CE17-438C-A638-C64D2D42D7CF}" type="slidenum">
              <a:rPr lang="fr-CA" smtClean="0"/>
              <a:t>9</a:t>
            </a:fld>
            <a:endParaRPr lang="fr-CA"/>
          </a:p>
        </p:txBody>
      </p:sp>
      <p:sp>
        <p:nvSpPr>
          <p:cNvPr id="5" name="ZoneTexte 4">
            <a:extLst>
              <a:ext uri="{FF2B5EF4-FFF2-40B4-BE49-F238E27FC236}">
                <a16:creationId xmlns:a16="http://schemas.microsoft.com/office/drawing/2014/main" id="{4C34FE94-3FF6-4900-AAE5-2E3875350E34}"/>
              </a:ext>
            </a:extLst>
          </p:cNvPr>
          <p:cNvSpPr txBox="1"/>
          <p:nvPr/>
        </p:nvSpPr>
        <p:spPr>
          <a:xfrm>
            <a:off x="981635" y="1788459"/>
            <a:ext cx="9923930" cy="4406334"/>
          </a:xfrm>
          <a:prstGeom prst="rect">
            <a:avLst/>
          </a:prstGeom>
          <a:noFill/>
        </p:spPr>
        <p:txBody>
          <a:bodyPr wrap="square" rtlCol="0">
            <a:spAutoFit/>
          </a:bodyPr>
          <a:lstStyle/>
          <a:p>
            <a:pPr algn="l">
              <a:lnSpc>
                <a:spcPct val="200000"/>
              </a:lnSpc>
              <a:spcAft>
                <a:spcPts val="800"/>
              </a:spcAft>
            </a:pPr>
            <a:r>
              <a:rPr lang="fr-CA" sz="1800" dirty="0">
                <a:solidFill>
                  <a:srgbClr val="000000"/>
                </a:solidFill>
                <a:effectLst/>
                <a:latin typeface="Times New Roman" panose="02020603050405020304" pitchFamily="18" charset="0"/>
                <a:ea typeface="Times New Roman" panose="02020603050405020304" pitchFamily="18" charset="0"/>
              </a:rPr>
              <a:t>On met les données dans deux vecteurs nommés x et y et on tape :</a:t>
            </a:r>
          </a:p>
          <a:p>
            <a:pPr algn="l">
              <a:lnSpc>
                <a:spcPct val="200000"/>
              </a:lnSpc>
              <a:spcAft>
                <a:spcPts val="800"/>
              </a:spcAft>
            </a:pPr>
            <a:r>
              <a:rPr lang="en-US" sz="1800" dirty="0" err="1">
                <a:solidFill>
                  <a:srgbClr val="000000"/>
                </a:solidFill>
                <a:effectLst/>
                <a:latin typeface="Times New Roman" panose="02020603050405020304" pitchFamily="18" charset="0"/>
                <a:ea typeface="Times New Roman" panose="02020603050405020304" pitchFamily="18" charset="0"/>
              </a:rPr>
              <a:t>t.test</a:t>
            </a:r>
            <a:r>
              <a:rPr lang="en-US" sz="1800" dirty="0">
                <a:solidFill>
                  <a:srgbClr val="000000"/>
                </a:solidFill>
                <a:effectLst/>
                <a:latin typeface="Times New Roman" panose="02020603050405020304" pitchFamily="18" charset="0"/>
                <a:ea typeface="Times New Roman" panose="02020603050405020304" pitchFamily="18" charset="0"/>
              </a:rPr>
              <a:t>(</a:t>
            </a:r>
            <a:r>
              <a:rPr lang="en-US" sz="1800" dirty="0" err="1">
                <a:solidFill>
                  <a:srgbClr val="000000"/>
                </a:solidFill>
                <a:effectLst/>
                <a:latin typeface="Times New Roman" panose="02020603050405020304" pitchFamily="18" charset="0"/>
                <a:ea typeface="Times New Roman" panose="02020603050405020304" pitchFamily="18" charset="0"/>
              </a:rPr>
              <a:t>x,y,equal.var</a:t>
            </a:r>
            <a:r>
              <a:rPr lang="en-US" sz="1800" dirty="0">
                <a:solidFill>
                  <a:srgbClr val="000000"/>
                </a:solidFill>
                <a:effectLst/>
                <a:latin typeface="Times New Roman" panose="02020603050405020304" pitchFamily="18" charset="0"/>
                <a:ea typeface="Times New Roman" panose="02020603050405020304" pitchFamily="18" charset="0"/>
              </a:rPr>
              <a:t>=TRUE, alternative="less") </a:t>
            </a:r>
            <a:endParaRPr lang="fr-CA" sz="1800" dirty="0">
              <a:solidFill>
                <a:srgbClr val="000000"/>
              </a:solidFill>
              <a:effectLst/>
              <a:latin typeface="Times New Roman" panose="02020603050405020304" pitchFamily="18" charset="0"/>
              <a:ea typeface="Times New Roman" panose="02020603050405020304" pitchFamily="18" charset="0"/>
            </a:endParaRPr>
          </a:p>
          <a:p>
            <a:pPr algn="l">
              <a:lnSpc>
                <a:spcPct val="200000"/>
              </a:lnSpc>
              <a:spcAft>
                <a:spcPts val="800"/>
              </a:spcAft>
            </a:pPr>
            <a:r>
              <a:rPr lang="fr-CA" sz="1800" dirty="0">
                <a:solidFill>
                  <a:srgbClr val="000000"/>
                </a:solidFill>
                <a:effectLst/>
                <a:latin typeface="Times New Roman" panose="02020603050405020304" pitchFamily="18" charset="0"/>
                <a:ea typeface="Times New Roman" panose="02020603050405020304" pitchFamily="18" charset="0"/>
              </a:rPr>
              <a:t>et on obtient une valeur P égale à 0,01267 qui est inférieure au seuil de signification de 5 %, donc on </a:t>
            </a:r>
            <a:r>
              <a:rPr lang="fr-FR" sz="1800" dirty="0">
                <a:solidFill>
                  <a:srgbClr val="000000"/>
                </a:solidFill>
                <a:effectLst/>
                <a:latin typeface="Calibri" panose="020F0502020204030204" pitchFamily="34" charset="0"/>
                <a:ea typeface="Times New Roman" panose="02020603050405020304" pitchFamily="18" charset="0"/>
              </a:rPr>
              <a:t>  </a:t>
            </a:r>
            <a:r>
              <a:rPr lang="fr-CA" sz="1800" dirty="0">
                <a:solidFill>
                  <a:srgbClr val="000000"/>
                </a:solidFill>
                <a:effectLst/>
                <a:latin typeface="Times New Roman" panose="02020603050405020304" pitchFamily="18" charset="0"/>
                <a:ea typeface="Times New Roman" panose="02020603050405020304" pitchFamily="18" charset="0"/>
              </a:rPr>
              <a:t>doit rejeter l’hypothèse nulle et conclure que la concentration moyenne de l’ingrédient actif résultant de l’utilisation du catalyseur 2 dépasse significativement la concentration moyenne de l’ingrédient actif résultant de l’utilisation du catalyseur 1.</a:t>
            </a:r>
          </a:p>
          <a:p>
            <a:pPr>
              <a:spcAft>
                <a:spcPts val="1000"/>
              </a:spcAft>
            </a:pPr>
            <a:r>
              <a:rPr lang="fr-FR" sz="1800" dirty="0">
                <a:solidFill>
                  <a:srgbClr val="000000"/>
                </a:solidFill>
                <a:effectLst/>
                <a:latin typeface="Calibri" panose="020F0502020204030204" pitchFamily="34" charset="0"/>
                <a:ea typeface="Times New Roman" panose="02020603050405020304" pitchFamily="18" charset="0"/>
              </a:rPr>
              <a:t> </a:t>
            </a:r>
            <a:r>
              <a:rPr lang="fr-CA" sz="1800">
                <a:solidFill>
                  <a:srgbClr val="000000"/>
                </a:solidFill>
                <a:effectLst/>
                <a:latin typeface="Calibri" panose="020F0502020204030204" pitchFamily="34" charset="0"/>
                <a:ea typeface="Times New Roman" panose="02020603050405020304" pitchFamily="18" charset="0"/>
              </a:rPr>
              <a:t> </a:t>
            </a:r>
            <a:endParaRPr lang="fr-CA" sz="1800" dirty="0">
              <a:solidFill>
                <a:srgbClr val="000000"/>
              </a:solidFill>
              <a:effectLst/>
              <a:latin typeface="Calibri" panose="020F0502020204030204" pitchFamily="34" charset="0"/>
              <a:ea typeface="Times New Roman" panose="02020603050405020304" pitchFamily="18" charset="0"/>
            </a:endParaRPr>
          </a:p>
          <a:p>
            <a:endParaRPr lang="fr-CA" dirty="0"/>
          </a:p>
        </p:txBody>
      </p:sp>
    </p:spTree>
    <p:extLst>
      <p:ext uri="{BB962C8B-B14F-4D97-AF65-F5344CB8AC3E}">
        <p14:creationId xmlns:p14="http://schemas.microsoft.com/office/powerpoint/2010/main" val="3831814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A8B52525-B3E4-44C9-8588-97F3B626B998}"/>
              </a:ext>
            </a:extLst>
          </p:cNvPr>
          <p:cNvSpPr>
            <a:spLocks noGrp="1"/>
          </p:cNvSpPr>
          <p:nvPr>
            <p:ph type="title"/>
          </p:nvPr>
        </p:nvSpPr>
        <p:spPr>
          <a:xfrm>
            <a:off x="1046746" y="586822"/>
            <a:ext cx="3560252" cy="1645920"/>
          </a:xfrm>
        </p:spPr>
        <p:txBody>
          <a:bodyPr vert="horz" lIns="91440" tIns="45720" rIns="91440" bIns="45720" rtlCol="0" anchor="ctr">
            <a:noAutofit/>
          </a:bodyPr>
          <a:lstStyle/>
          <a:p>
            <a:pPr>
              <a:spcAft>
                <a:spcPts val="1000"/>
              </a:spcAft>
            </a:pPr>
            <a:r>
              <a:rPr lang="fr-CA" sz="1800" b="1" kern="1200" dirty="0">
                <a:solidFill>
                  <a:schemeClr val="tx1"/>
                </a:solidFill>
                <a:latin typeface="+mj-lt"/>
                <a:ea typeface="+mj-ea"/>
                <a:cs typeface="+mj-cs"/>
              </a:rPr>
              <a:t>Exemple 2: </a:t>
            </a:r>
            <a:r>
              <a:rPr lang="fr-CA" sz="1800" kern="1200" dirty="0">
                <a:solidFill>
                  <a:schemeClr val="tx1"/>
                </a:solidFill>
                <a:effectLst/>
                <a:latin typeface="+mj-lt"/>
                <a:ea typeface="+mj-ea"/>
                <a:cs typeface="+mj-cs"/>
              </a:rPr>
              <a:t>Une étude a porté sur la force à l’adhérence des jambes chez les femmes et les hommes sportifs. Les données suivantes sont en Newtons :    Je ne comprends pas ce problème. Les jambes adhèrent à quoi au juste ?</a:t>
            </a:r>
            <a:br>
              <a:rPr lang="fr-CA" sz="1800" kern="1200" dirty="0">
                <a:solidFill>
                  <a:schemeClr val="tx1"/>
                </a:solidFill>
                <a:effectLst/>
                <a:latin typeface="+mj-lt"/>
                <a:ea typeface="+mj-ea"/>
                <a:cs typeface="+mj-cs"/>
              </a:rPr>
            </a:br>
            <a:r>
              <a:rPr lang="fr-CA" sz="1800" kern="1200" dirty="0">
                <a:solidFill>
                  <a:schemeClr val="tx1"/>
                </a:solidFill>
                <a:effectLst/>
                <a:latin typeface="+mj-lt"/>
                <a:ea typeface="+mj-ea"/>
                <a:cs typeface="+mj-cs"/>
              </a:rPr>
              <a:t> A la surface de la piste.</a:t>
            </a:r>
            <a:br>
              <a:rPr lang="fr-CA" sz="1800" kern="1200" dirty="0">
                <a:solidFill>
                  <a:schemeClr val="tx1"/>
                </a:solidFill>
                <a:effectLst/>
                <a:latin typeface="+mj-lt"/>
                <a:ea typeface="+mj-ea"/>
                <a:cs typeface="+mj-cs"/>
              </a:rPr>
            </a:br>
            <a:endParaRPr lang="fr-CA" sz="1800" kern="1200" dirty="0">
              <a:solidFill>
                <a:schemeClr val="tx1"/>
              </a:solidFill>
              <a:latin typeface="+mj-lt"/>
              <a:ea typeface="+mj-ea"/>
              <a:cs typeface="+mj-cs"/>
            </a:endParaRPr>
          </a:p>
        </p:txBody>
      </p:sp>
      <p:sp>
        <p:nvSpPr>
          <p:cNvPr id="15" name="Rectangle 14">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7" name="Rectangle 16">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ZoneTexte 5">
            <a:extLst>
              <a:ext uri="{FF2B5EF4-FFF2-40B4-BE49-F238E27FC236}">
                <a16:creationId xmlns:a16="http://schemas.microsoft.com/office/drawing/2014/main" id="{46256600-324F-4E87-ACBF-6B5DF2D6D4D8}"/>
              </a:ext>
            </a:extLst>
          </p:cNvPr>
          <p:cNvSpPr txBox="1"/>
          <p:nvPr/>
        </p:nvSpPr>
        <p:spPr>
          <a:xfrm>
            <a:off x="5351164" y="586822"/>
            <a:ext cx="6002636" cy="1645920"/>
          </a:xfrm>
          <a:prstGeom prst="rect">
            <a:avLst/>
          </a:prstGeom>
        </p:spPr>
        <p:txBody>
          <a:bodyPr vert="horz" lIns="91440" tIns="45720" rIns="91440" bIns="45720" rtlCol="0" anchor="ctr">
            <a:normAutofit/>
          </a:bodyPr>
          <a:lstStyle/>
          <a:p>
            <a:pPr marL="342900" lvl="0" indent="-228600" defTabSz="914400">
              <a:lnSpc>
                <a:spcPct val="90000"/>
              </a:lnSpc>
              <a:spcBef>
                <a:spcPts val="1300"/>
              </a:spcBef>
              <a:spcAft>
                <a:spcPts val="300"/>
              </a:spcAft>
              <a:buFont typeface="Arial" panose="020B0604020202020204" pitchFamily="34" charset="0"/>
              <a:buChar char="•"/>
              <a:tabLst>
                <a:tab pos="152400" algn="r"/>
                <a:tab pos="449580" algn="l"/>
              </a:tabLst>
            </a:pPr>
            <a:r>
              <a:rPr lang="fr-CA" sz="1500" dirty="0"/>
              <a:t>(a) </a:t>
            </a:r>
            <a:r>
              <a:rPr lang="fr-CA" sz="1500" dirty="0">
                <a:effectLst/>
              </a:rPr>
              <a:t>Analysez la normalité de ces données.</a:t>
            </a:r>
          </a:p>
          <a:p>
            <a:pPr marL="342900" lvl="0" indent="-228600" defTabSz="914400">
              <a:lnSpc>
                <a:spcPct val="90000"/>
              </a:lnSpc>
              <a:spcBef>
                <a:spcPts val="1300"/>
              </a:spcBef>
              <a:spcAft>
                <a:spcPts val="300"/>
              </a:spcAft>
              <a:buFont typeface="Arial" panose="020B0604020202020204" pitchFamily="34" charset="0"/>
              <a:buChar char="•"/>
              <a:tabLst>
                <a:tab pos="152400" algn="r"/>
                <a:tab pos="449580" algn="l"/>
              </a:tabLst>
            </a:pPr>
            <a:r>
              <a:rPr lang="fr-CA" sz="1500" dirty="0">
                <a:effectLst/>
              </a:rPr>
              <a:t>Peut-on supposer l’égalité des variances de ces deux groupes ?</a:t>
            </a:r>
          </a:p>
          <a:p>
            <a:pPr marL="342900" lvl="0" indent="-228600" defTabSz="914400">
              <a:lnSpc>
                <a:spcPct val="90000"/>
              </a:lnSpc>
              <a:spcBef>
                <a:spcPts val="1300"/>
              </a:spcBef>
              <a:spcAft>
                <a:spcPts val="300"/>
              </a:spcAft>
              <a:buFont typeface="Arial" panose="020B0604020202020204" pitchFamily="34" charset="0"/>
              <a:buChar char="•"/>
              <a:tabLst>
                <a:tab pos="152400" algn="r"/>
                <a:tab pos="449580" algn="l"/>
              </a:tabLst>
            </a:pPr>
            <a:r>
              <a:rPr lang="fr-CA" sz="1500" dirty="0">
                <a:effectLst/>
              </a:rPr>
              <a:t>Avec un seuil de signification de 5%, Peut-on en conclure que la force d’adhésion des jambes chez les hommes dépasse celle des femmes ?</a:t>
            </a:r>
          </a:p>
          <a:p>
            <a:pPr indent="-228600" defTabSz="914400">
              <a:lnSpc>
                <a:spcPct val="90000"/>
              </a:lnSpc>
              <a:buFont typeface="Arial" panose="020B0604020202020204" pitchFamily="34" charset="0"/>
              <a:buChar char="•"/>
            </a:pPr>
            <a:endParaRPr lang="en-US" sz="1500" dirty="0"/>
          </a:p>
        </p:txBody>
      </p:sp>
      <p:sp>
        <p:nvSpPr>
          <p:cNvPr id="3" name="Espace réservé du pied de page 2">
            <a:extLst>
              <a:ext uri="{FF2B5EF4-FFF2-40B4-BE49-F238E27FC236}">
                <a16:creationId xmlns:a16="http://schemas.microsoft.com/office/drawing/2014/main" id="{D4D29CCD-9C67-448E-AD6E-AB99B5FE90D6}"/>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defTabSz="914400"/>
            <a:endParaRPr lang="en-US" kern="1200">
              <a:solidFill>
                <a:schemeClr val="tx1">
                  <a:lumMod val="50000"/>
                  <a:lumOff val="50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9440ABC6-1D4C-4DF7-B007-FDE4DDE48406}"/>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a:spcAft>
                <a:spcPts val="600"/>
              </a:spcAft>
            </a:pPr>
            <a:fld id="{26377AD9-CE17-438C-A638-C64D2D42D7CF}" type="slidenum">
              <a:rPr lang="en-US">
                <a:solidFill>
                  <a:schemeClr val="tx1">
                    <a:lumMod val="50000"/>
                    <a:lumOff val="50000"/>
                  </a:schemeClr>
                </a:solidFill>
              </a:rPr>
              <a:pPr defTabSz="914400">
                <a:spcAft>
                  <a:spcPts val="600"/>
                </a:spcAft>
              </a:pPr>
              <a:t>10</a:t>
            </a:fld>
            <a:endParaRPr lang="en-US">
              <a:solidFill>
                <a:schemeClr val="tx1">
                  <a:lumMod val="50000"/>
                  <a:lumOff val="50000"/>
                </a:schemeClr>
              </a:solidFill>
            </a:endParaRPr>
          </a:p>
        </p:txBody>
      </p:sp>
      <p:graphicFrame>
        <p:nvGraphicFramePr>
          <p:cNvPr id="5" name="Tableau 4">
            <a:extLst>
              <a:ext uri="{FF2B5EF4-FFF2-40B4-BE49-F238E27FC236}">
                <a16:creationId xmlns:a16="http://schemas.microsoft.com/office/drawing/2014/main" id="{4A7D7782-7ACA-42DE-A461-71241510D89B}"/>
              </a:ext>
            </a:extLst>
          </p:cNvPr>
          <p:cNvGraphicFramePr>
            <a:graphicFrameLocks noGrp="1"/>
          </p:cNvGraphicFramePr>
          <p:nvPr>
            <p:extLst>
              <p:ext uri="{D42A27DB-BD31-4B8C-83A1-F6EECF244321}">
                <p14:modId xmlns:p14="http://schemas.microsoft.com/office/powerpoint/2010/main" val="464830104"/>
              </p:ext>
            </p:extLst>
          </p:nvPr>
        </p:nvGraphicFramePr>
        <p:xfrm>
          <a:off x="557784" y="2990302"/>
          <a:ext cx="11164825" cy="2971373"/>
        </p:xfrm>
        <a:graphic>
          <a:graphicData uri="http://schemas.openxmlformats.org/drawingml/2006/table">
            <a:tbl>
              <a:tblPr firstRow="1" firstCol="1" bandRow="1">
                <a:tableStyleId>{5C22544A-7EE6-4342-B048-85BDC9FD1C3A}</a:tableStyleId>
              </a:tblPr>
              <a:tblGrid>
                <a:gridCol w="6022886">
                  <a:extLst>
                    <a:ext uri="{9D8B030D-6E8A-4147-A177-3AD203B41FA5}">
                      <a16:colId xmlns:a16="http://schemas.microsoft.com/office/drawing/2014/main" val="356043626"/>
                    </a:ext>
                  </a:extLst>
                </a:gridCol>
                <a:gridCol w="5141939">
                  <a:extLst>
                    <a:ext uri="{9D8B030D-6E8A-4147-A177-3AD203B41FA5}">
                      <a16:colId xmlns:a16="http://schemas.microsoft.com/office/drawing/2014/main" val="13825119"/>
                    </a:ext>
                  </a:extLst>
                </a:gridCol>
              </a:tblGrid>
              <a:tr h="722642">
                <a:tc>
                  <a:txBody>
                    <a:bodyPr/>
                    <a:lstStyle/>
                    <a:p>
                      <a:pPr marL="190500" indent="-190500" algn="ctr">
                        <a:lnSpc>
                          <a:spcPct val="200000"/>
                        </a:lnSpc>
                        <a:spcBef>
                          <a:spcPts val="1300"/>
                        </a:spcBef>
                        <a:spcAft>
                          <a:spcPts val="300"/>
                        </a:spcAft>
                        <a:tabLst>
                          <a:tab pos="152400" algn="r"/>
                          <a:tab pos="449580" algn="l"/>
                        </a:tabLst>
                      </a:pPr>
                      <a:r>
                        <a:rPr lang="fr-FR" sz="2500">
                          <a:effectLst/>
                        </a:rPr>
                        <a:t>Hommes</a:t>
                      </a:r>
                      <a:endParaRPr lang="fr-CA" sz="2100">
                        <a:solidFill>
                          <a:srgbClr val="000000"/>
                        </a:solidFill>
                        <a:effectLst/>
                        <a:latin typeface="Times New Roman" panose="02020603050405020304" pitchFamily="18" charset="0"/>
                        <a:ea typeface="Times New Roman" panose="02020603050405020304" pitchFamily="18" charset="0"/>
                      </a:endParaRPr>
                    </a:p>
                  </a:txBody>
                  <a:tcPr marL="143071" marR="143071" marT="0" marB="0"/>
                </a:tc>
                <a:tc>
                  <a:txBody>
                    <a:bodyPr/>
                    <a:lstStyle/>
                    <a:p>
                      <a:pPr marL="190500" indent="-190500" algn="ctr">
                        <a:lnSpc>
                          <a:spcPct val="200000"/>
                        </a:lnSpc>
                        <a:spcBef>
                          <a:spcPts val="1300"/>
                        </a:spcBef>
                        <a:spcAft>
                          <a:spcPts val="300"/>
                        </a:spcAft>
                        <a:tabLst>
                          <a:tab pos="152400" algn="r"/>
                          <a:tab pos="449580" algn="l"/>
                        </a:tabLst>
                      </a:pPr>
                      <a:r>
                        <a:rPr lang="fr-FR" sz="2500">
                          <a:effectLst/>
                        </a:rPr>
                        <a:t>Femmes</a:t>
                      </a:r>
                      <a:endParaRPr lang="fr-CA" sz="2100">
                        <a:solidFill>
                          <a:srgbClr val="000000"/>
                        </a:solidFill>
                        <a:effectLst/>
                        <a:latin typeface="Times New Roman" panose="02020603050405020304" pitchFamily="18" charset="0"/>
                        <a:ea typeface="Times New Roman" panose="02020603050405020304" pitchFamily="18" charset="0"/>
                      </a:endParaRPr>
                    </a:p>
                  </a:txBody>
                  <a:tcPr marL="143071" marR="143071" marT="0" marB="0"/>
                </a:tc>
                <a:extLst>
                  <a:ext uri="{0D108BD9-81ED-4DB2-BD59-A6C34878D82A}">
                    <a16:rowId xmlns:a16="http://schemas.microsoft.com/office/drawing/2014/main" val="1512568863"/>
                  </a:ext>
                </a:extLst>
              </a:tr>
              <a:tr h="2248731">
                <a:tc>
                  <a:txBody>
                    <a:bodyPr/>
                    <a:lstStyle/>
                    <a:p>
                      <a:pPr marL="190500" indent="-190500" algn="ctr">
                        <a:lnSpc>
                          <a:spcPct val="200000"/>
                        </a:lnSpc>
                        <a:spcBef>
                          <a:spcPts val="1300"/>
                        </a:spcBef>
                        <a:spcAft>
                          <a:spcPts val="300"/>
                        </a:spcAft>
                        <a:tabLst>
                          <a:tab pos="152400" algn="r"/>
                          <a:tab pos="449580" algn="l"/>
                        </a:tabLst>
                      </a:pPr>
                      <a:r>
                        <a:rPr lang="fr-FR" sz="2500">
                          <a:effectLst/>
                        </a:rPr>
                        <a:t>2632  1796   2256  2233  2296  1917   1105 1926  2644  1568  1129  2167  1977</a:t>
                      </a:r>
                      <a:endParaRPr lang="fr-CA" sz="2100">
                        <a:solidFill>
                          <a:srgbClr val="000000"/>
                        </a:solidFill>
                        <a:effectLst/>
                        <a:latin typeface="Times New Roman" panose="02020603050405020304" pitchFamily="18" charset="0"/>
                        <a:ea typeface="Times New Roman" panose="02020603050405020304" pitchFamily="18" charset="0"/>
                      </a:endParaRPr>
                    </a:p>
                  </a:txBody>
                  <a:tcPr marL="143071" marR="143071" marT="0" marB="0"/>
                </a:tc>
                <a:tc>
                  <a:txBody>
                    <a:bodyPr/>
                    <a:lstStyle/>
                    <a:p>
                      <a:pPr marL="190500" indent="-190500" algn="ctr">
                        <a:lnSpc>
                          <a:spcPct val="200000"/>
                        </a:lnSpc>
                        <a:spcBef>
                          <a:spcPts val="1300"/>
                        </a:spcBef>
                        <a:spcAft>
                          <a:spcPts val="300"/>
                        </a:spcAft>
                        <a:tabLst>
                          <a:tab pos="152400" algn="r"/>
                          <a:tab pos="449580" algn="l"/>
                        </a:tabLst>
                      </a:pPr>
                      <a:r>
                        <a:rPr lang="fr-FR" sz="2500">
                          <a:effectLst/>
                        </a:rPr>
                        <a:t>1344  1331  1369  2479  1573  1665  1791 1566  2339  1694  2790  1868  2069</a:t>
                      </a:r>
                      <a:endParaRPr lang="fr-CA" sz="2100">
                        <a:solidFill>
                          <a:srgbClr val="000000"/>
                        </a:solidFill>
                        <a:effectLst/>
                        <a:latin typeface="Times New Roman" panose="02020603050405020304" pitchFamily="18" charset="0"/>
                        <a:ea typeface="Times New Roman" panose="02020603050405020304" pitchFamily="18" charset="0"/>
                      </a:endParaRPr>
                    </a:p>
                  </a:txBody>
                  <a:tcPr marL="143071" marR="143071" marT="0" marB="0"/>
                </a:tc>
                <a:extLst>
                  <a:ext uri="{0D108BD9-81ED-4DB2-BD59-A6C34878D82A}">
                    <a16:rowId xmlns:a16="http://schemas.microsoft.com/office/drawing/2014/main" val="563715292"/>
                  </a:ext>
                </a:extLst>
              </a:tr>
            </a:tbl>
          </a:graphicData>
        </a:graphic>
      </p:graphicFrame>
    </p:spTree>
    <p:extLst>
      <p:ext uri="{BB962C8B-B14F-4D97-AF65-F5344CB8AC3E}">
        <p14:creationId xmlns:p14="http://schemas.microsoft.com/office/powerpoint/2010/main" val="2756178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0BB5E6-0E5A-430E-8173-C5E267B1529C}"/>
              </a:ext>
            </a:extLst>
          </p:cNvPr>
          <p:cNvSpPr>
            <a:spLocks noGrp="1"/>
          </p:cNvSpPr>
          <p:nvPr>
            <p:ph type="title"/>
          </p:nvPr>
        </p:nvSpPr>
        <p:spPr/>
        <p:txBody>
          <a:bodyPr/>
          <a:lstStyle/>
          <a:p>
            <a:r>
              <a:rPr lang="fr-CA" dirty="0"/>
              <a:t>Suite)</a:t>
            </a:r>
          </a:p>
        </p:txBody>
      </p:sp>
      <p:sp>
        <p:nvSpPr>
          <p:cNvPr id="3" name="Espace réservé du pied de page 2">
            <a:extLst>
              <a:ext uri="{FF2B5EF4-FFF2-40B4-BE49-F238E27FC236}">
                <a16:creationId xmlns:a16="http://schemas.microsoft.com/office/drawing/2014/main" id="{318D72FD-3E91-413D-96A2-6F9D7DB726AA}"/>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A79939F7-FCFA-49ED-A29F-196EAA89FE5F}"/>
              </a:ext>
            </a:extLst>
          </p:cNvPr>
          <p:cNvSpPr>
            <a:spLocks noGrp="1"/>
          </p:cNvSpPr>
          <p:nvPr>
            <p:ph type="sldNum" sz="quarter" idx="12"/>
          </p:nvPr>
        </p:nvSpPr>
        <p:spPr/>
        <p:txBody>
          <a:bodyPr/>
          <a:lstStyle/>
          <a:p>
            <a:fld id="{26377AD9-CE17-438C-A638-C64D2D42D7CF}" type="slidenum">
              <a:rPr lang="fr-CA" smtClean="0"/>
              <a:t>11</a:t>
            </a:fld>
            <a:endParaRPr lang="fr-CA"/>
          </a:p>
        </p:txBody>
      </p:sp>
      <p:sp>
        <p:nvSpPr>
          <p:cNvPr id="5" name="ZoneTexte 4">
            <a:extLst>
              <a:ext uri="{FF2B5EF4-FFF2-40B4-BE49-F238E27FC236}">
                <a16:creationId xmlns:a16="http://schemas.microsoft.com/office/drawing/2014/main" id="{BF5EAA7A-CE76-4C17-A9B8-9690C2D42FF2}"/>
              </a:ext>
            </a:extLst>
          </p:cNvPr>
          <p:cNvSpPr txBox="1"/>
          <p:nvPr/>
        </p:nvSpPr>
        <p:spPr>
          <a:xfrm>
            <a:off x="954741" y="1690688"/>
            <a:ext cx="10515600" cy="3693319"/>
          </a:xfrm>
          <a:prstGeom prst="rect">
            <a:avLst/>
          </a:prstGeom>
          <a:noFill/>
        </p:spPr>
        <p:txBody>
          <a:bodyPr wrap="square" rtlCol="0">
            <a:spAutoFit/>
          </a:bodyPr>
          <a:lstStyle/>
          <a:p>
            <a:r>
              <a:rPr lang="fr-CA" dirty="0"/>
              <a:t>On va mettre les données dans 2 vecteurs:</a:t>
            </a:r>
          </a:p>
          <a:p>
            <a:r>
              <a:rPr lang="fr-CA" dirty="0"/>
              <a:t>x=c(2632,………..,1977)</a:t>
            </a:r>
          </a:p>
          <a:p>
            <a:r>
              <a:rPr lang="fr-CA" dirty="0"/>
              <a:t>y=c(1344,………..,2069)</a:t>
            </a:r>
          </a:p>
          <a:p>
            <a:r>
              <a:rPr lang="fr-CA" dirty="0"/>
              <a:t>On tape les commandes </a:t>
            </a:r>
            <a:r>
              <a:rPr lang="fr-CA"/>
              <a:t>suivantes :</a:t>
            </a:r>
            <a:endParaRPr lang="fr-CA" dirty="0"/>
          </a:p>
          <a:p>
            <a:endParaRPr lang="fr-CA" dirty="0"/>
          </a:p>
          <a:p>
            <a:r>
              <a:rPr lang="fr-CA" dirty="0"/>
              <a:t>Lm=range (</a:t>
            </a:r>
            <a:r>
              <a:rPr lang="fr-CA" dirty="0" err="1"/>
              <a:t>x,y</a:t>
            </a:r>
            <a:r>
              <a:rPr lang="fr-CA" dirty="0"/>
              <a:t>)</a:t>
            </a:r>
          </a:p>
          <a:p>
            <a:r>
              <a:rPr lang="it-IT" dirty="0"/>
              <a:t>qqnorm(x,ylim=Lm,col="  ")</a:t>
            </a:r>
          </a:p>
          <a:p>
            <a:r>
              <a:rPr lang="en-US" dirty="0"/>
              <a:t> </a:t>
            </a:r>
            <a:r>
              <a:rPr lang="en-US" dirty="0" err="1"/>
              <a:t>abline</a:t>
            </a:r>
            <a:r>
              <a:rPr lang="en-US" dirty="0"/>
              <a:t>(mean(x),</a:t>
            </a:r>
            <a:r>
              <a:rPr lang="en-US" dirty="0" err="1"/>
              <a:t>sd</a:t>
            </a:r>
            <a:r>
              <a:rPr lang="en-US" dirty="0"/>
              <a:t>(x),col="   ")</a:t>
            </a:r>
          </a:p>
          <a:p>
            <a:r>
              <a:rPr lang="fr-CA" dirty="0"/>
              <a:t>par(new=T)</a:t>
            </a:r>
          </a:p>
          <a:p>
            <a:r>
              <a:rPr lang="it-IT" dirty="0"/>
              <a:t>qqnorm(y,ylim=Lm,col="  ")</a:t>
            </a:r>
          </a:p>
          <a:p>
            <a:r>
              <a:rPr lang="en-US" dirty="0" err="1"/>
              <a:t>abline</a:t>
            </a:r>
            <a:r>
              <a:rPr lang="en-US" dirty="0"/>
              <a:t>(mean(y),</a:t>
            </a:r>
            <a:r>
              <a:rPr lang="en-US" dirty="0" err="1"/>
              <a:t>sd</a:t>
            </a:r>
            <a:r>
              <a:rPr lang="en-US" dirty="0"/>
              <a:t>(y),col="   ")</a:t>
            </a:r>
            <a:endParaRPr lang="it-IT" dirty="0"/>
          </a:p>
          <a:p>
            <a:endParaRPr lang="fr-CA" dirty="0"/>
          </a:p>
          <a:p>
            <a:r>
              <a:rPr lang="fr-CA" dirty="0"/>
              <a:t>Et on obtient: </a:t>
            </a:r>
          </a:p>
        </p:txBody>
      </p:sp>
    </p:spTree>
    <p:extLst>
      <p:ext uri="{BB962C8B-B14F-4D97-AF65-F5344CB8AC3E}">
        <p14:creationId xmlns:p14="http://schemas.microsoft.com/office/powerpoint/2010/main" val="4134927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C252381-99F1-429F-9620-5DDD87B0E26C}"/>
              </a:ext>
            </a:extLst>
          </p:cNvPr>
          <p:cNvSpPr>
            <a:spLocks noGrp="1"/>
          </p:cNvSpPr>
          <p:nvPr>
            <p:ph type="title"/>
          </p:nvPr>
        </p:nvSpPr>
        <p:spPr>
          <a:xfrm>
            <a:off x="589560" y="856180"/>
            <a:ext cx="4560584" cy="1128068"/>
          </a:xfrm>
        </p:spPr>
        <p:txBody>
          <a:bodyPr vert="horz" lIns="91440" tIns="45720" rIns="91440" bIns="45720" rtlCol="0" anchor="ctr">
            <a:normAutofit fontScale="90000"/>
          </a:bodyPr>
          <a:lstStyle/>
          <a:p>
            <a:r>
              <a:rPr lang="en-US" sz="1600" b="1" dirty="0" err="1"/>
              <a:t>Réponse</a:t>
            </a:r>
            <a:r>
              <a:rPr lang="en-US" sz="1600" b="1" dirty="0"/>
              <a:t>: </a:t>
            </a:r>
            <a:r>
              <a:rPr lang="en-US" sz="2000" dirty="0" err="1">
                <a:effectLst/>
              </a:rPr>
              <a:t>Soient</a:t>
            </a:r>
            <a:r>
              <a:rPr lang="en-US" sz="2000" dirty="0">
                <a:effectLst/>
              </a:rPr>
              <a:t> X : la force à </a:t>
            </a:r>
            <a:r>
              <a:rPr lang="en-US" sz="2000" dirty="0" err="1">
                <a:effectLst/>
              </a:rPr>
              <a:t>l’adhérence</a:t>
            </a:r>
            <a:r>
              <a:rPr lang="en-US" sz="2000" dirty="0">
                <a:effectLst/>
              </a:rPr>
              <a:t> des jambes chez les hommes </a:t>
            </a:r>
            <a:r>
              <a:rPr lang="en-US" sz="2000" dirty="0" err="1">
                <a:effectLst/>
              </a:rPr>
              <a:t>sportifs</a:t>
            </a:r>
            <a:r>
              <a:rPr lang="en-US" sz="2000" dirty="0">
                <a:effectLst/>
              </a:rPr>
              <a:t> et Y : la force à </a:t>
            </a:r>
            <a:r>
              <a:rPr lang="en-US" sz="2000" dirty="0" err="1">
                <a:effectLst/>
              </a:rPr>
              <a:t>l’adhérence</a:t>
            </a:r>
            <a:r>
              <a:rPr lang="en-US" sz="2000" dirty="0">
                <a:effectLst/>
              </a:rPr>
              <a:t> des jambes chez les femmes </a:t>
            </a:r>
            <a:r>
              <a:rPr lang="en-US" sz="2000" dirty="0" err="1">
                <a:effectLst/>
              </a:rPr>
              <a:t>sportives</a:t>
            </a:r>
            <a:r>
              <a:rPr lang="en-US" sz="2000" dirty="0">
                <a:effectLst/>
              </a:rPr>
              <a:t>.</a:t>
            </a:r>
            <a:br>
              <a:rPr lang="en-US" sz="2000" dirty="0">
                <a:effectLst/>
              </a:rPr>
            </a:br>
            <a:endParaRPr lang="en-US" sz="2000" dirty="0"/>
          </a:p>
        </p:txBody>
      </p:sp>
      <p:grpSp>
        <p:nvGrpSpPr>
          <p:cNvPr id="13" name="Group 1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a:extLst>
              <a:ext uri="{FF2B5EF4-FFF2-40B4-BE49-F238E27FC236}">
                <a16:creationId xmlns:a16="http://schemas.microsoft.com/office/drawing/2014/main" id="{2A95B329-10C7-4BD5-8147-4E47B7E7A100}"/>
              </a:ext>
            </a:extLst>
          </p:cNvPr>
          <p:cNvSpPr txBox="1"/>
          <p:nvPr/>
        </p:nvSpPr>
        <p:spPr>
          <a:xfrm>
            <a:off x="590719" y="2224323"/>
            <a:ext cx="4598268" cy="4085768"/>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sz="2000" dirty="0"/>
              <a:t>On </a:t>
            </a:r>
            <a:r>
              <a:rPr lang="en-US" sz="2000" dirty="0" err="1"/>
              <a:t>va</a:t>
            </a:r>
            <a:r>
              <a:rPr lang="en-US" sz="2000" dirty="0"/>
              <a:t> </a:t>
            </a:r>
            <a:r>
              <a:rPr lang="en-US" sz="2000" dirty="0" err="1"/>
              <a:t>répondre</a:t>
            </a:r>
            <a:r>
              <a:rPr lang="en-US" sz="2000" dirty="0"/>
              <a:t> à la question (a) et (b) ensemble; </a:t>
            </a:r>
            <a:r>
              <a:rPr lang="en-US" sz="2000" dirty="0" err="1"/>
              <a:t>en</a:t>
            </a:r>
            <a:r>
              <a:rPr lang="en-US" sz="2000" dirty="0">
                <a:effectLst/>
              </a:rPr>
              <a:t> </a:t>
            </a:r>
            <a:r>
              <a:rPr lang="en-US" sz="2000" dirty="0" err="1">
                <a:effectLst/>
              </a:rPr>
              <a:t>analysant</a:t>
            </a:r>
            <a:r>
              <a:rPr lang="en-US" sz="2000" dirty="0">
                <a:effectLst/>
              </a:rPr>
              <a:t> la </a:t>
            </a:r>
            <a:r>
              <a:rPr lang="en-US" sz="2000" dirty="0" err="1">
                <a:effectLst/>
              </a:rPr>
              <a:t>normalité</a:t>
            </a:r>
            <a:r>
              <a:rPr lang="en-US" sz="2000" dirty="0">
                <a:effectLst/>
              </a:rPr>
              <a:t> des </a:t>
            </a:r>
            <a:r>
              <a:rPr lang="en-US" sz="2000" dirty="0" err="1">
                <a:effectLst/>
              </a:rPr>
              <a:t>données</a:t>
            </a:r>
            <a:r>
              <a:rPr lang="en-US" sz="2000" dirty="0">
                <a:effectLst/>
              </a:rPr>
              <a:t> et </a:t>
            </a:r>
            <a:r>
              <a:rPr lang="en-US" sz="2000" dirty="0" err="1">
                <a:effectLst/>
              </a:rPr>
              <a:t>l’égalité</a:t>
            </a:r>
            <a:r>
              <a:rPr lang="en-US" sz="2000" dirty="0">
                <a:effectLst/>
              </a:rPr>
              <a:t> des variances avec des </a:t>
            </a:r>
            <a:r>
              <a:rPr lang="en-US" sz="2000" dirty="0" err="1">
                <a:effectLst/>
              </a:rPr>
              <a:t>graphiques</a:t>
            </a:r>
            <a:r>
              <a:rPr lang="en-US" sz="2000" dirty="0">
                <a:effectLst/>
              </a:rPr>
              <a:t> quantiles-quantiles </a:t>
            </a:r>
            <a:r>
              <a:rPr lang="en-US" sz="2000" dirty="0" err="1">
                <a:effectLst/>
              </a:rPr>
              <a:t>superposés</a:t>
            </a:r>
            <a:r>
              <a:rPr lang="en-US" sz="2000" dirty="0">
                <a:effectLst/>
              </a:rPr>
              <a:t>.</a:t>
            </a:r>
          </a:p>
          <a:p>
            <a:pPr indent="-228600" defTabSz="914400">
              <a:lnSpc>
                <a:spcPct val="90000"/>
              </a:lnSpc>
              <a:spcAft>
                <a:spcPts val="600"/>
              </a:spcAft>
              <a:buFont typeface="Arial" panose="020B0604020202020204" pitchFamily="34" charset="0"/>
              <a:buChar char="•"/>
            </a:pPr>
            <a:r>
              <a:rPr lang="fr-CA" sz="1800" dirty="0">
                <a:solidFill>
                  <a:srgbClr val="000000"/>
                </a:solidFill>
                <a:effectLst/>
                <a:latin typeface="Times New Roman" panose="02020603050405020304" pitchFamily="18" charset="0"/>
                <a:ea typeface="Times New Roman" panose="02020603050405020304" pitchFamily="18" charset="0"/>
              </a:rPr>
              <a:t>Ce graphique montre que les données des deux échantillons se répartissent le long de leur droite oblique qui leur est associée ce qui indique la normalité des données des deux échantillons. Les droites obliques sont presque parallèles, ce qui indiquent que les variances des deux groupes sont similaires.</a:t>
            </a:r>
          </a:p>
          <a:p>
            <a:pPr indent="-228600" defTabSz="914400">
              <a:lnSpc>
                <a:spcPct val="90000"/>
              </a:lnSpc>
              <a:spcAft>
                <a:spcPts val="600"/>
              </a:spcAft>
              <a:buFont typeface="Arial" panose="020B0604020202020204" pitchFamily="34" charset="0"/>
              <a:buChar char="•"/>
            </a:pPr>
            <a:endParaRPr lang="en-US" sz="2000" dirty="0"/>
          </a:p>
        </p:txBody>
      </p:sp>
      <p:sp>
        <p:nvSpPr>
          <p:cNvPr id="19" name="Rectangle 1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 5">
            <a:extLst>
              <a:ext uri="{FF2B5EF4-FFF2-40B4-BE49-F238E27FC236}">
                <a16:creationId xmlns:a16="http://schemas.microsoft.com/office/drawing/2014/main" id="{FABD7C45-8338-4F43-B0D6-74C34591F2D9}"/>
              </a:ext>
            </a:extLst>
          </p:cNvPr>
          <p:cNvPicPr/>
          <p:nvPr/>
        </p:nvPicPr>
        <p:blipFill rotWithShape="1">
          <a:blip r:embed="rId2"/>
          <a:srcRect r="4" b="2822"/>
          <a:stretch/>
        </p:blipFill>
        <p:spPr>
          <a:xfrm>
            <a:off x="5977788" y="799352"/>
            <a:ext cx="5425410" cy="5259296"/>
          </a:xfrm>
          <a:prstGeom prst="rect">
            <a:avLst/>
          </a:prstGeom>
        </p:spPr>
      </p:pic>
      <p:sp>
        <p:nvSpPr>
          <p:cNvPr id="3" name="Espace réservé du pied de page 2">
            <a:extLst>
              <a:ext uri="{FF2B5EF4-FFF2-40B4-BE49-F238E27FC236}">
                <a16:creationId xmlns:a16="http://schemas.microsoft.com/office/drawing/2014/main" id="{E395BABC-D670-43DB-BA3D-E81AC0A0CEC5}"/>
              </a:ext>
            </a:extLst>
          </p:cNvPr>
          <p:cNvSpPr>
            <a:spLocks noGrp="1"/>
          </p:cNvSpPr>
          <p:nvPr>
            <p:ph type="ftr" sz="quarter" idx="11"/>
          </p:nvPr>
        </p:nvSpPr>
        <p:spPr>
          <a:xfrm>
            <a:off x="5685810" y="6492240"/>
            <a:ext cx="3050866" cy="365125"/>
          </a:xfrm>
        </p:spPr>
        <p:txBody>
          <a:bodyPr vert="horz" lIns="91440" tIns="45720" rIns="91440" bIns="45720" rtlCol="0" anchor="ctr">
            <a:normAutofit/>
          </a:bodyPr>
          <a:lstStyle/>
          <a:p>
            <a:pPr algn="l" defTabSz="914400">
              <a:defRPr/>
            </a:pPr>
            <a:endParaRPr lang="en-US" sz="1200" kern="1200">
              <a:solidFill>
                <a:prstClr val="black">
                  <a:tint val="75000"/>
                </a:prstClr>
              </a:solidFill>
              <a:latin typeface="Calibri" panose="020F0502020204030204"/>
              <a:ea typeface="+mn-ea"/>
              <a:cs typeface="+mn-cs"/>
            </a:endParaRPr>
          </a:p>
        </p:txBody>
      </p:sp>
      <p:sp>
        <p:nvSpPr>
          <p:cNvPr id="4" name="Espace réservé du numéro de diapositive 3">
            <a:extLst>
              <a:ext uri="{FF2B5EF4-FFF2-40B4-BE49-F238E27FC236}">
                <a16:creationId xmlns:a16="http://schemas.microsoft.com/office/drawing/2014/main" id="{5F16CA8A-5BAE-406B-A82C-C2C372E559E7}"/>
              </a:ext>
            </a:extLst>
          </p:cNvPr>
          <p:cNvSpPr>
            <a:spLocks noGrp="1"/>
          </p:cNvSpPr>
          <p:nvPr>
            <p:ph type="sldNum" sz="quarter" idx="12"/>
          </p:nvPr>
        </p:nvSpPr>
        <p:spPr>
          <a:xfrm>
            <a:off x="9385070" y="6492240"/>
            <a:ext cx="1055716" cy="365125"/>
          </a:xfrm>
        </p:spPr>
        <p:txBody>
          <a:bodyPr vert="horz" lIns="91440" tIns="45720" rIns="91440" bIns="45720" rtlCol="0" anchor="ctr">
            <a:normAutofit/>
          </a:bodyPr>
          <a:lstStyle/>
          <a:p>
            <a:pPr defTabSz="914400">
              <a:spcAft>
                <a:spcPts val="600"/>
              </a:spcAft>
              <a:defRPr/>
            </a:pPr>
            <a:fld id="{26377AD9-CE17-438C-A638-C64D2D42D7CF}" type="slidenum">
              <a:rPr lang="en-US" smtClean="0">
                <a:solidFill>
                  <a:prstClr val="black">
                    <a:tint val="75000"/>
                  </a:prstClr>
                </a:solidFill>
                <a:latin typeface="Calibri" panose="020F0502020204030204"/>
              </a:rPr>
              <a:pPr defTabSz="914400">
                <a:spcAft>
                  <a:spcPts val="600"/>
                </a:spcAft>
                <a:defRPr/>
              </a:pPr>
              <a:t>12</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3017035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37A49C-1F54-49F0-91C2-1CD7831AD4C5}"/>
              </a:ext>
            </a:extLst>
          </p:cNvPr>
          <p:cNvSpPr>
            <a:spLocks noGrp="1"/>
          </p:cNvSpPr>
          <p:nvPr>
            <p:ph type="title"/>
          </p:nvPr>
        </p:nvSpPr>
        <p:spPr/>
        <p:txBody>
          <a:bodyPr/>
          <a:lstStyle/>
          <a:p>
            <a:r>
              <a:rPr lang="fr-CA" dirty="0"/>
              <a:t>Suite)</a:t>
            </a:r>
          </a:p>
        </p:txBody>
      </p:sp>
      <p:sp>
        <p:nvSpPr>
          <p:cNvPr id="3" name="Espace réservé du pied de page 2">
            <a:extLst>
              <a:ext uri="{FF2B5EF4-FFF2-40B4-BE49-F238E27FC236}">
                <a16:creationId xmlns:a16="http://schemas.microsoft.com/office/drawing/2014/main" id="{62B691A2-223E-4F95-A193-E7B276B1E387}"/>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FE7B6031-4005-4CF7-86DD-9784E1EA5D62}"/>
              </a:ext>
            </a:extLst>
          </p:cNvPr>
          <p:cNvSpPr>
            <a:spLocks noGrp="1"/>
          </p:cNvSpPr>
          <p:nvPr>
            <p:ph type="sldNum" sz="quarter" idx="12"/>
          </p:nvPr>
        </p:nvSpPr>
        <p:spPr/>
        <p:txBody>
          <a:bodyPr/>
          <a:lstStyle/>
          <a:p>
            <a:fld id="{26377AD9-CE17-438C-A638-C64D2D42D7CF}" type="slidenum">
              <a:rPr lang="fr-CA" smtClean="0"/>
              <a:t>13</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5749BBCF-3F2C-475C-BFD9-BDD0C506343D}"/>
                  </a:ext>
                </a:extLst>
              </p:cNvPr>
              <p:cNvSpPr txBox="1"/>
              <p:nvPr/>
            </p:nvSpPr>
            <p:spPr>
              <a:xfrm>
                <a:off x="900953" y="1922929"/>
                <a:ext cx="10031506" cy="3447354"/>
              </a:xfrm>
              <a:prstGeom prst="rect">
                <a:avLst/>
              </a:prstGeom>
              <a:noFill/>
            </p:spPr>
            <p:txBody>
              <a:bodyPr wrap="square" rtlCol="0">
                <a:spAutoFit/>
              </a:bodyPr>
              <a:lstStyle/>
              <a:p>
                <a:pPr marL="190500" indent="-152400" algn="l">
                  <a:lnSpc>
                    <a:spcPct val="200000"/>
                  </a:lnSpc>
                  <a:spcAft>
                    <a:spcPts val="300"/>
                  </a:spcAft>
                  <a:tabLst>
                    <a:tab pos="266700" algn="r"/>
                    <a:tab pos="449580" algn="l"/>
                  </a:tabLst>
                </a:pPr>
                <a:r>
                  <a:rPr lang="fr-CA" sz="1800" dirty="0">
                    <a:solidFill>
                      <a:srgbClr val="000000"/>
                    </a:solidFill>
                    <a:effectLst/>
                    <a:latin typeface="Times New Roman" panose="02020603050405020304" pitchFamily="18" charset="0"/>
                    <a:ea typeface="Times New Roman" panose="02020603050405020304" pitchFamily="18" charset="0"/>
                  </a:rPr>
                  <a:t>(c) On veut tester les hypothèses suivantes : </a:t>
                </a:r>
                <a14:m>
                  <m:oMath xmlns:m="http://schemas.openxmlformats.org/officeDocument/2006/math">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𝐻</m:t>
                        </m:r>
                      </m:e>
                      <m:sub>
                        <m:r>
                          <a:rPr lang="fr-CA" sz="1800" i="1">
                            <a:solidFill>
                              <a:srgbClr val="000000"/>
                            </a:solidFill>
                            <a:effectLst/>
                            <a:latin typeface="Cambria Math" panose="02040503050406030204" pitchFamily="18" charset="0"/>
                            <a:ea typeface="Times New Roman" panose="02020603050405020304" pitchFamily="18" charset="0"/>
                          </a:rPr>
                          <m:t>0</m:t>
                        </m:r>
                      </m:sub>
                    </m:sSub>
                    <m:r>
                      <a:rPr lang="fr-CA" sz="1800" i="1">
                        <a:solidFill>
                          <a:srgbClr val="000000"/>
                        </a:solidFill>
                        <a:effectLst/>
                        <a:latin typeface="Cambria Math" panose="02040503050406030204" pitchFamily="18" charset="0"/>
                        <a:ea typeface="Times New Roman" panose="02020603050405020304" pitchFamily="18" charset="0"/>
                      </a:rPr>
                      <m:t>: </m:t>
                    </m:r>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𝜇</m:t>
                        </m:r>
                      </m:e>
                      <m:sub>
                        <m:r>
                          <a:rPr lang="fr-CA" sz="1800" i="1">
                            <a:solidFill>
                              <a:srgbClr val="000000"/>
                            </a:solidFill>
                            <a:effectLst/>
                            <a:latin typeface="Cambria Math" panose="02040503050406030204" pitchFamily="18" charset="0"/>
                            <a:ea typeface="Times New Roman" panose="02020603050405020304" pitchFamily="18" charset="0"/>
                          </a:rPr>
                          <m:t>𝑋</m:t>
                        </m:r>
                      </m:sub>
                    </m:sSub>
                    <m:r>
                      <a:rPr lang="fr-CA" sz="1800" i="1">
                        <a:solidFill>
                          <a:srgbClr val="000000"/>
                        </a:solidFill>
                        <a:effectLst/>
                        <a:latin typeface="Cambria Math" panose="02040503050406030204" pitchFamily="18" charset="0"/>
                        <a:ea typeface="Times New Roman" panose="02020603050405020304" pitchFamily="18" charset="0"/>
                      </a:rPr>
                      <m:t>=</m:t>
                    </m:r>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𝜇</m:t>
                        </m:r>
                      </m:e>
                      <m:sub>
                        <m:r>
                          <a:rPr lang="fr-CA" sz="1800" i="1">
                            <a:solidFill>
                              <a:srgbClr val="000000"/>
                            </a:solidFill>
                            <a:effectLst/>
                            <a:latin typeface="Cambria Math" panose="02040503050406030204" pitchFamily="18" charset="0"/>
                            <a:ea typeface="Times New Roman" panose="02020603050405020304" pitchFamily="18" charset="0"/>
                          </a:rPr>
                          <m:t>𝑌</m:t>
                        </m:r>
                      </m:sub>
                    </m:sSub>
                    <m:r>
                      <a:rPr lang="fr-CA" sz="1800" i="1">
                        <a:solidFill>
                          <a:srgbClr val="000000"/>
                        </a:solidFill>
                        <a:effectLst/>
                        <a:latin typeface="Cambria Math" panose="02040503050406030204" pitchFamily="18" charset="0"/>
                        <a:ea typeface="Times New Roman" panose="02020603050405020304" pitchFamily="18" charset="0"/>
                      </a:rPr>
                      <m:t>    </m:t>
                    </m:r>
                    <m:r>
                      <a:rPr lang="fr-CA" sz="1800" i="1">
                        <a:solidFill>
                          <a:srgbClr val="000000"/>
                        </a:solidFill>
                        <a:effectLst/>
                        <a:latin typeface="Cambria Math" panose="02040503050406030204" pitchFamily="18" charset="0"/>
                        <a:ea typeface="Times New Roman" panose="02020603050405020304" pitchFamily="18" charset="0"/>
                      </a:rPr>
                      <m:t>𝑐𝑜𝑛𝑡𝑟𝑒</m:t>
                    </m:r>
                    <m:r>
                      <a:rPr lang="fr-CA" sz="1800" i="1">
                        <a:solidFill>
                          <a:srgbClr val="000000"/>
                        </a:solidFill>
                        <a:effectLst/>
                        <a:latin typeface="Cambria Math" panose="02040503050406030204" pitchFamily="18" charset="0"/>
                        <a:ea typeface="Times New Roman" panose="02020603050405020304" pitchFamily="18" charset="0"/>
                      </a:rPr>
                      <m:t>   </m:t>
                    </m:r>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𝐻</m:t>
                        </m:r>
                      </m:e>
                      <m:sub>
                        <m:r>
                          <a:rPr lang="fr-CA" sz="1800" i="1">
                            <a:solidFill>
                              <a:srgbClr val="000000"/>
                            </a:solidFill>
                            <a:effectLst/>
                            <a:latin typeface="Cambria Math" panose="02040503050406030204" pitchFamily="18" charset="0"/>
                            <a:ea typeface="Times New Roman" panose="02020603050405020304" pitchFamily="18" charset="0"/>
                          </a:rPr>
                          <m:t>1</m:t>
                        </m:r>
                      </m:sub>
                    </m:sSub>
                    <m:r>
                      <a:rPr lang="fr-CA" sz="1800" i="1">
                        <a:solidFill>
                          <a:srgbClr val="000000"/>
                        </a:solidFill>
                        <a:effectLst/>
                        <a:latin typeface="Cambria Math" panose="02040503050406030204" pitchFamily="18" charset="0"/>
                        <a:ea typeface="Times New Roman" panose="02020603050405020304" pitchFamily="18" charset="0"/>
                      </a:rPr>
                      <m:t>:</m:t>
                    </m:r>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𝜇</m:t>
                        </m:r>
                      </m:e>
                      <m:sub>
                        <m:r>
                          <a:rPr lang="fr-CA" sz="1800" i="1">
                            <a:solidFill>
                              <a:srgbClr val="000000"/>
                            </a:solidFill>
                            <a:effectLst/>
                            <a:latin typeface="Cambria Math" panose="02040503050406030204" pitchFamily="18" charset="0"/>
                            <a:ea typeface="Times New Roman" panose="02020603050405020304" pitchFamily="18" charset="0"/>
                          </a:rPr>
                          <m:t>𝑋</m:t>
                        </m:r>
                      </m:sub>
                    </m:sSub>
                    <m:r>
                      <a:rPr lang="fr-CA" sz="1800" i="1">
                        <a:solidFill>
                          <a:srgbClr val="000000"/>
                        </a:solidFill>
                        <a:effectLst/>
                        <a:latin typeface="Cambria Math" panose="02040503050406030204" pitchFamily="18" charset="0"/>
                        <a:ea typeface="Times New Roman" panose="02020603050405020304" pitchFamily="18" charset="0"/>
                      </a:rPr>
                      <m:t>&gt;</m:t>
                    </m:r>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𝜇</m:t>
                        </m:r>
                      </m:e>
                      <m:sub>
                        <m:r>
                          <a:rPr lang="fr-CA" sz="1800" i="1">
                            <a:solidFill>
                              <a:srgbClr val="000000"/>
                            </a:solidFill>
                            <a:effectLst/>
                            <a:latin typeface="Cambria Math" panose="02040503050406030204" pitchFamily="18" charset="0"/>
                            <a:ea typeface="Times New Roman" panose="02020603050405020304" pitchFamily="18" charset="0"/>
                          </a:rPr>
                          <m:t>𝑌</m:t>
                        </m:r>
                      </m:sub>
                    </m:sSub>
                  </m:oMath>
                </a14:m>
                <a:endParaRPr lang="fr-CA" sz="1800" dirty="0">
                  <a:solidFill>
                    <a:srgbClr val="000000"/>
                  </a:solidFill>
                  <a:effectLst/>
                  <a:latin typeface="Times New Roman" panose="02020603050405020304" pitchFamily="18" charset="0"/>
                  <a:ea typeface="Times New Roman" panose="02020603050405020304" pitchFamily="18" charset="0"/>
                </a:endParaRPr>
              </a:p>
              <a:p>
                <a:pPr marL="190500" indent="-152400" algn="l">
                  <a:lnSpc>
                    <a:spcPct val="200000"/>
                  </a:lnSpc>
                  <a:spcAft>
                    <a:spcPts val="300"/>
                  </a:spcAft>
                  <a:tabLst>
                    <a:tab pos="266700" algn="r"/>
                    <a:tab pos="449580" algn="l"/>
                  </a:tabLst>
                </a:pPr>
                <a:r>
                  <a:rPr lang="fr-CA" sz="1800" dirty="0">
                    <a:solidFill>
                      <a:srgbClr val="000000"/>
                    </a:solidFill>
                    <a:effectLst/>
                    <a:latin typeface="Times New Roman" panose="02020603050405020304" pitchFamily="18" charset="0"/>
                    <a:ea typeface="Times New Roman" panose="02020603050405020304" pitchFamily="18" charset="0"/>
                  </a:rPr>
                  <a:t>On obtient :</a:t>
                </a:r>
              </a:p>
              <a:p>
                <a:pPr marL="190500" indent="-152400" algn="l">
                  <a:lnSpc>
                    <a:spcPct val="200000"/>
                  </a:lnSpc>
                  <a:spcAft>
                    <a:spcPts val="300"/>
                  </a:spcAft>
                  <a:tabLst>
                    <a:tab pos="266700" algn="r"/>
                    <a:tab pos="449580" algn="l"/>
                  </a:tabLst>
                </a:pPr>
                <a:r>
                  <a:rPr lang="fr-CA" sz="1800" dirty="0">
                    <a:solidFill>
                      <a:srgbClr val="000000"/>
                    </a:solidFill>
                    <a:effectLst/>
                    <a:latin typeface="Times New Roman" panose="02020603050405020304" pitchFamily="18" charset="0"/>
                    <a:ea typeface="Times New Roman" panose="02020603050405020304" pitchFamily="18" charset="0"/>
                  </a:rPr>
                  <a:t>t = 0.73225, </a:t>
                </a:r>
                <a:r>
                  <a:rPr lang="fr-CA" sz="1800" dirty="0" err="1">
                    <a:solidFill>
                      <a:srgbClr val="000000"/>
                    </a:solidFill>
                    <a:effectLst/>
                    <a:latin typeface="Times New Roman" panose="02020603050405020304" pitchFamily="18" charset="0"/>
                    <a:ea typeface="Times New Roman" panose="02020603050405020304" pitchFamily="18" charset="0"/>
                  </a:rPr>
                  <a:t>df</a:t>
                </a:r>
                <a:r>
                  <a:rPr lang="fr-CA" sz="1800" dirty="0">
                    <a:solidFill>
                      <a:srgbClr val="000000"/>
                    </a:solidFill>
                    <a:effectLst/>
                    <a:latin typeface="Times New Roman" panose="02020603050405020304" pitchFamily="18" charset="0"/>
                    <a:ea typeface="Times New Roman" panose="02020603050405020304" pitchFamily="18" charset="0"/>
                  </a:rPr>
                  <a:t> = 23.926, p-value = 0.2356</a:t>
                </a:r>
              </a:p>
              <a:p>
                <a:pPr marL="190500" indent="-152400" algn="l">
                  <a:lnSpc>
                    <a:spcPct val="200000"/>
                  </a:lnSpc>
                  <a:spcAft>
                    <a:spcPts val="300"/>
                  </a:spcAft>
                  <a:tabLst>
                    <a:tab pos="266700" algn="r"/>
                    <a:tab pos="449580" algn="l"/>
                  </a:tabLst>
                </a:pPr>
                <a:r>
                  <a:rPr lang="fr-CA" sz="1800" dirty="0">
                    <a:solidFill>
                      <a:srgbClr val="000000"/>
                    </a:solidFill>
                    <a:effectLst/>
                    <a:latin typeface="Times New Roman" panose="02020603050405020304" pitchFamily="18" charset="0"/>
                    <a:ea typeface="Times New Roman" panose="02020603050405020304" pitchFamily="18" charset="0"/>
                  </a:rPr>
                  <a:t>Une valeur P qui dépasse le seuil de signification de 5%, donc on ne rejette pas l’hypothèse nulle, ce qui signifie qu’on n’a pas pu montrer que la force à l’adhérence moyenne chez les sportifs dépasse significativement celle des sportives.</a:t>
                </a:r>
              </a:p>
            </p:txBody>
          </p:sp>
        </mc:Choice>
        <mc:Fallback xmlns="">
          <p:sp>
            <p:nvSpPr>
              <p:cNvPr id="5" name="ZoneTexte 4">
                <a:extLst>
                  <a:ext uri="{FF2B5EF4-FFF2-40B4-BE49-F238E27FC236}">
                    <a16:creationId xmlns:a16="http://schemas.microsoft.com/office/drawing/2014/main" id="{5749BBCF-3F2C-475C-BFD9-BDD0C506343D}"/>
                  </a:ext>
                </a:extLst>
              </p:cNvPr>
              <p:cNvSpPr txBox="1">
                <a:spLocks noRot="1" noChangeAspect="1" noMove="1" noResize="1" noEditPoints="1" noAdjustHandles="1" noChangeArrowheads="1" noChangeShapeType="1" noTextEdit="1"/>
              </p:cNvSpPr>
              <p:nvPr/>
            </p:nvSpPr>
            <p:spPr>
              <a:xfrm>
                <a:off x="900953" y="1922929"/>
                <a:ext cx="10031506" cy="3447354"/>
              </a:xfrm>
              <a:prstGeom prst="rect">
                <a:avLst/>
              </a:prstGeom>
              <a:blipFill>
                <a:blip r:embed="rId2"/>
                <a:stretch>
                  <a:fillRect l="-182" b="-1767"/>
                </a:stretch>
              </a:blipFill>
            </p:spPr>
            <p:txBody>
              <a:bodyPr/>
              <a:lstStyle/>
              <a:p>
                <a:r>
                  <a:rPr lang="fr-CA">
                    <a:noFill/>
                  </a:rPr>
                  <a:t> </a:t>
                </a:r>
              </a:p>
            </p:txBody>
          </p:sp>
        </mc:Fallback>
      </mc:AlternateContent>
    </p:spTree>
    <p:extLst>
      <p:ext uri="{BB962C8B-B14F-4D97-AF65-F5344CB8AC3E}">
        <p14:creationId xmlns:p14="http://schemas.microsoft.com/office/powerpoint/2010/main" val="3312811433"/>
      </p:ext>
    </p:extLst>
  </p:cSld>
  <p:clrMapOvr>
    <a:masterClrMapping/>
  </p:clrMapOvr>
</p:sld>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1465</Words>
  <Application>Microsoft Office PowerPoint</Application>
  <PresentationFormat>Grand écran</PresentationFormat>
  <Paragraphs>139</Paragraphs>
  <Slides>13</Slides>
  <Notes>0</Notes>
  <HiddenSlides>0</HiddenSlides>
  <MMClips>0</MMClips>
  <ScaleCrop>false</ScaleCrop>
  <HeadingPairs>
    <vt:vector size="8" baseType="variant">
      <vt:variant>
        <vt:lpstr>Polices utilisées</vt:lpstr>
      </vt:variant>
      <vt:variant>
        <vt:i4>5</vt:i4>
      </vt:variant>
      <vt:variant>
        <vt:lpstr>Thème</vt:lpstr>
      </vt:variant>
      <vt:variant>
        <vt:i4>1</vt:i4>
      </vt:variant>
      <vt:variant>
        <vt:lpstr>Serveurs OLE incorporés</vt:lpstr>
      </vt:variant>
      <vt:variant>
        <vt:i4>1</vt:i4>
      </vt:variant>
      <vt:variant>
        <vt:lpstr>Titres des diapositives</vt:lpstr>
      </vt:variant>
      <vt:variant>
        <vt:i4>13</vt:i4>
      </vt:variant>
    </vt:vector>
  </HeadingPairs>
  <TitlesOfParts>
    <vt:vector size="20" baseType="lpstr">
      <vt:lpstr>Arial</vt:lpstr>
      <vt:lpstr>Calibri</vt:lpstr>
      <vt:lpstr>Calibri Light</vt:lpstr>
      <vt:lpstr>Cambria Math</vt:lpstr>
      <vt:lpstr>Times New Roman</vt:lpstr>
      <vt:lpstr>Office Theme</vt:lpstr>
      <vt:lpstr>Equation.DSMT4</vt:lpstr>
      <vt:lpstr>Tests d’hypothèses sur deux moyennes indépendantes.</vt:lpstr>
      <vt:lpstr> Méthode 1:</vt:lpstr>
      <vt:lpstr>En standardisant cette différence, on obtient:</vt:lpstr>
      <vt:lpstr>Méthode 2: On se base sur les valeur-P.</vt:lpstr>
      <vt:lpstr>Méthode 3: L’utilisation du logiciel R.</vt:lpstr>
      <vt:lpstr>Exemple 1: La concentration des ingrédients actifs dans un détergent liquide peut être affectée par le catalyseur utilisé dans le processus de fabrication. Dix mesures de la concentration ont été prises avec deux types de catalyseur. Voici les données obtenues : </vt:lpstr>
      <vt:lpstr>Méthode 1: L’utilisation des régions de rejet</vt:lpstr>
      <vt:lpstr>Méthode 2: L’utilisation de la valeur P. </vt:lpstr>
      <vt:lpstr>Méthode 3: L’utilisation du logiciel R. </vt:lpstr>
      <vt:lpstr>Exemple 2: Une étude a porté sur la force à l’adhérence des jambes chez les femmes et les hommes sportifs. Les données suivantes sont en Newtons :    Je ne comprends pas ce problème. Les jambes adhèrent à quoi au juste ?  A la surface de la piste. </vt:lpstr>
      <vt:lpstr>Suite)</vt:lpstr>
      <vt:lpstr>Réponse: Soient X : la force à l’adhérence des jambes chez les hommes sportifs et Y : la force à l’adhérence des jambes chez les femmes sportives. </vt:lpstr>
      <vt:lpstr>Suite)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Tests d’hypothèses sur deux moyennes indépendantes.</dc:title>
  <dc:creator>Mhammed Mountassir</dc:creator>
  <cp:lastModifiedBy>Mhammed Mountassir</cp:lastModifiedBy>
  <cp:revision>3</cp:revision>
  <dcterms:created xsi:type="dcterms:W3CDTF">2020-11-10T12:14:52Z</dcterms:created>
  <dcterms:modified xsi:type="dcterms:W3CDTF">2021-11-11T14:42:34Z</dcterms:modified>
</cp:coreProperties>
</file>