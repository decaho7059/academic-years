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0" r:id="rId1"/>
  </p:sldMasterIdLst>
  <p:notesMasterIdLst>
    <p:notesMasterId r:id="rId39"/>
  </p:notesMasterIdLst>
  <p:handoutMasterIdLst>
    <p:handoutMasterId r:id="rId40"/>
  </p:handoutMasterIdLst>
  <p:sldIdLst>
    <p:sldId id="261" r:id="rId2"/>
    <p:sldId id="262" r:id="rId3"/>
    <p:sldId id="360" r:id="rId4"/>
    <p:sldId id="298" r:id="rId5"/>
    <p:sldId id="292" r:id="rId6"/>
    <p:sldId id="291" r:id="rId7"/>
    <p:sldId id="299" r:id="rId8"/>
    <p:sldId id="289" r:id="rId9"/>
    <p:sldId id="266" r:id="rId10"/>
    <p:sldId id="297" r:id="rId11"/>
    <p:sldId id="296" r:id="rId12"/>
    <p:sldId id="370" r:id="rId13"/>
    <p:sldId id="371" r:id="rId14"/>
    <p:sldId id="365" r:id="rId15"/>
    <p:sldId id="373" r:id="rId16"/>
    <p:sldId id="268" r:id="rId17"/>
    <p:sldId id="269" r:id="rId18"/>
    <p:sldId id="378" r:id="rId19"/>
    <p:sldId id="374" r:id="rId20"/>
    <p:sldId id="368" r:id="rId21"/>
    <p:sldId id="271" r:id="rId22"/>
    <p:sldId id="272" r:id="rId23"/>
    <p:sldId id="294" r:id="rId24"/>
    <p:sldId id="273" r:id="rId25"/>
    <p:sldId id="379" r:id="rId26"/>
    <p:sldId id="275" r:id="rId27"/>
    <p:sldId id="277" r:id="rId28"/>
    <p:sldId id="278" r:id="rId29"/>
    <p:sldId id="287" r:id="rId30"/>
    <p:sldId id="288" r:id="rId31"/>
    <p:sldId id="284" r:id="rId32"/>
    <p:sldId id="380" r:id="rId33"/>
    <p:sldId id="381" r:id="rId34"/>
    <p:sldId id="285" r:id="rId35"/>
    <p:sldId id="382" r:id="rId36"/>
    <p:sldId id="286" r:id="rId37"/>
    <p:sldId id="282" r:id="rId38"/>
  </p:sldIdLst>
  <p:sldSz cx="9144000" cy="6858000" type="screen4x3"/>
  <p:notesSz cx="7315200" cy="9601200"/>
  <p:defaultTextStyle>
    <a:defPPr>
      <a:defRPr lang="en-US"/>
    </a:defPPr>
    <a:lvl1pPr algn="l" rtl="0" fontAlgn="base">
      <a:spcBef>
        <a:spcPct val="0"/>
      </a:spcBef>
      <a:spcAft>
        <a:spcPct val="0"/>
      </a:spcAft>
      <a:defRPr kern="1200">
        <a:solidFill>
          <a:schemeClr val="tx1"/>
        </a:solidFill>
        <a:latin typeface="Times New Roman" pitchFamily="18" charset="0"/>
        <a:ea typeface="+mn-ea"/>
        <a:cs typeface="Arial" charset="0"/>
      </a:defRPr>
    </a:lvl1pPr>
    <a:lvl2pPr marL="457200" algn="l" rtl="0" fontAlgn="base">
      <a:spcBef>
        <a:spcPct val="0"/>
      </a:spcBef>
      <a:spcAft>
        <a:spcPct val="0"/>
      </a:spcAft>
      <a:defRPr kern="1200">
        <a:solidFill>
          <a:schemeClr val="tx1"/>
        </a:solidFill>
        <a:latin typeface="Times New Roman" pitchFamily="18" charset="0"/>
        <a:ea typeface="+mn-ea"/>
        <a:cs typeface="Arial" charset="0"/>
      </a:defRPr>
    </a:lvl2pPr>
    <a:lvl3pPr marL="914400" algn="l" rtl="0" fontAlgn="base">
      <a:spcBef>
        <a:spcPct val="0"/>
      </a:spcBef>
      <a:spcAft>
        <a:spcPct val="0"/>
      </a:spcAft>
      <a:defRPr kern="1200">
        <a:solidFill>
          <a:schemeClr val="tx1"/>
        </a:solidFill>
        <a:latin typeface="Times New Roman" pitchFamily="18" charset="0"/>
        <a:ea typeface="+mn-ea"/>
        <a:cs typeface="Arial" charset="0"/>
      </a:defRPr>
    </a:lvl3pPr>
    <a:lvl4pPr marL="1371600" algn="l" rtl="0" fontAlgn="base">
      <a:spcBef>
        <a:spcPct val="0"/>
      </a:spcBef>
      <a:spcAft>
        <a:spcPct val="0"/>
      </a:spcAft>
      <a:defRPr kern="1200">
        <a:solidFill>
          <a:schemeClr val="tx1"/>
        </a:solidFill>
        <a:latin typeface="Times New Roman" pitchFamily="18" charset="0"/>
        <a:ea typeface="+mn-ea"/>
        <a:cs typeface="Arial" charset="0"/>
      </a:defRPr>
    </a:lvl4pPr>
    <a:lvl5pPr marL="1828800" algn="l" rtl="0" fontAlgn="base">
      <a:spcBef>
        <a:spcPct val="0"/>
      </a:spcBef>
      <a:spcAft>
        <a:spcPct val="0"/>
      </a:spcAft>
      <a:defRPr kern="1200">
        <a:solidFill>
          <a:schemeClr val="tx1"/>
        </a:solidFill>
        <a:latin typeface="Times New Roman" pitchFamily="18" charset="0"/>
        <a:ea typeface="+mn-ea"/>
        <a:cs typeface="Arial" charset="0"/>
      </a:defRPr>
    </a:lvl5pPr>
    <a:lvl6pPr marL="2286000" algn="l" defTabSz="914400" rtl="0" eaLnBrk="1" latinLnBrk="0" hangingPunct="1">
      <a:defRPr kern="1200">
        <a:solidFill>
          <a:schemeClr val="tx1"/>
        </a:solidFill>
        <a:latin typeface="Times New Roman" pitchFamily="18" charset="0"/>
        <a:ea typeface="+mn-ea"/>
        <a:cs typeface="Arial" charset="0"/>
      </a:defRPr>
    </a:lvl6pPr>
    <a:lvl7pPr marL="2743200" algn="l" defTabSz="914400" rtl="0" eaLnBrk="1" latinLnBrk="0" hangingPunct="1">
      <a:defRPr kern="1200">
        <a:solidFill>
          <a:schemeClr val="tx1"/>
        </a:solidFill>
        <a:latin typeface="Times New Roman" pitchFamily="18" charset="0"/>
        <a:ea typeface="+mn-ea"/>
        <a:cs typeface="Arial" charset="0"/>
      </a:defRPr>
    </a:lvl7pPr>
    <a:lvl8pPr marL="3200400" algn="l" defTabSz="914400" rtl="0" eaLnBrk="1" latinLnBrk="0" hangingPunct="1">
      <a:defRPr kern="1200">
        <a:solidFill>
          <a:schemeClr val="tx1"/>
        </a:solidFill>
        <a:latin typeface="Times New Roman" pitchFamily="18" charset="0"/>
        <a:ea typeface="+mn-ea"/>
        <a:cs typeface="Arial" charset="0"/>
      </a:defRPr>
    </a:lvl8pPr>
    <a:lvl9pPr marL="3657600" algn="l" defTabSz="914400" rtl="0" eaLnBrk="1" latinLnBrk="0" hangingPunct="1">
      <a:defRPr kern="1200">
        <a:solidFill>
          <a:schemeClr val="tx1"/>
        </a:solidFill>
        <a:latin typeface="Times New Roman" pitchFamily="18"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99FF"/>
    <a:srgbClr val="FF0000"/>
    <a:srgbClr val="99CC99"/>
    <a:srgbClr val="009999"/>
    <a:srgbClr val="00CC99"/>
    <a:srgbClr val="009966"/>
    <a:srgbClr val="FFCC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366" autoAdjust="0"/>
    <p:restoredTop sz="76211" autoAdjust="0"/>
  </p:normalViewPr>
  <p:slideViewPr>
    <p:cSldViewPr snapToGrid="0">
      <p:cViewPr varScale="1">
        <p:scale>
          <a:sx n="91" d="100"/>
          <a:sy n="91" d="100"/>
        </p:scale>
        <p:origin x="2938" y="7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88" d="100"/>
          <a:sy n="88" d="100"/>
        </p:scale>
        <p:origin x="4003" y="62"/>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79425"/>
          </a:xfrm>
          <a:prstGeom prst="rect">
            <a:avLst/>
          </a:prstGeom>
        </p:spPr>
        <p:txBody>
          <a:bodyPr vert="horz" lIns="91440" tIns="45720" rIns="91440" bIns="45720" rtlCol="0"/>
          <a:lstStyle>
            <a:lvl1pPr algn="l">
              <a:defRPr sz="1200"/>
            </a:lvl1pPr>
          </a:lstStyle>
          <a:p>
            <a:endParaRPr lang="fr-CA"/>
          </a:p>
        </p:txBody>
      </p:sp>
      <p:sp>
        <p:nvSpPr>
          <p:cNvPr id="3" name="Date Placeholder 2"/>
          <p:cNvSpPr>
            <a:spLocks noGrp="1"/>
          </p:cNvSpPr>
          <p:nvPr>
            <p:ph type="dt" sz="quarter" idx="1"/>
          </p:nvPr>
        </p:nvSpPr>
        <p:spPr>
          <a:xfrm>
            <a:off x="4143375" y="0"/>
            <a:ext cx="3170238" cy="479425"/>
          </a:xfrm>
          <a:prstGeom prst="rect">
            <a:avLst/>
          </a:prstGeom>
        </p:spPr>
        <p:txBody>
          <a:bodyPr vert="horz" lIns="91440" tIns="45720" rIns="91440" bIns="45720" rtlCol="0"/>
          <a:lstStyle>
            <a:lvl1pPr algn="r">
              <a:defRPr sz="1200"/>
            </a:lvl1pPr>
          </a:lstStyle>
          <a:p>
            <a:fld id="{9E2D56DD-59F1-4258-9942-8A62BB6D5541}" type="datetimeFigureOut">
              <a:rPr lang="fr-CA" smtClean="0"/>
              <a:t>2021-01-19</a:t>
            </a:fld>
            <a:endParaRPr lang="fr-CA"/>
          </a:p>
        </p:txBody>
      </p:sp>
      <p:sp>
        <p:nvSpPr>
          <p:cNvPr id="4" name="Footer Placeholder 3"/>
          <p:cNvSpPr>
            <a:spLocks noGrp="1"/>
          </p:cNvSpPr>
          <p:nvPr>
            <p:ph type="ftr" sz="quarter" idx="2"/>
          </p:nvPr>
        </p:nvSpPr>
        <p:spPr>
          <a:xfrm>
            <a:off x="0" y="9120188"/>
            <a:ext cx="3170238" cy="479425"/>
          </a:xfrm>
          <a:prstGeom prst="rect">
            <a:avLst/>
          </a:prstGeom>
        </p:spPr>
        <p:txBody>
          <a:bodyPr vert="horz" lIns="91440" tIns="45720" rIns="91440" bIns="45720" rtlCol="0" anchor="b"/>
          <a:lstStyle>
            <a:lvl1pPr algn="l">
              <a:defRPr sz="1200"/>
            </a:lvl1pPr>
          </a:lstStyle>
          <a:p>
            <a:endParaRPr lang="fr-CA"/>
          </a:p>
        </p:txBody>
      </p:sp>
      <p:sp>
        <p:nvSpPr>
          <p:cNvPr id="5" name="Slide Number Placeholder 4"/>
          <p:cNvSpPr>
            <a:spLocks noGrp="1"/>
          </p:cNvSpPr>
          <p:nvPr>
            <p:ph type="sldNum" sz="quarter" idx="3"/>
          </p:nvPr>
        </p:nvSpPr>
        <p:spPr>
          <a:xfrm>
            <a:off x="4143375" y="9120188"/>
            <a:ext cx="3170238" cy="479425"/>
          </a:xfrm>
          <a:prstGeom prst="rect">
            <a:avLst/>
          </a:prstGeom>
        </p:spPr>
        <p:txBody>
          <a:bodyPr vert="horz" lIns="91440" tIns="45720" rIns="91440" bIns="45720" rtlCol="0" anchor="b"/>
          <a:lstStyle>
            <a:lvl1pPr algn="r">
              <a:defRPr sz="1200"/>
            </a:lvl1pPr>
          </a:lstStyle>
          <a:p>
            <a:fld id="{2D2565A0-DA93-4C3D-B8C7-C8F675CED6F8}" type="slidenum">
              <a:rPr lang="fr-CA" smtClean="0"/>
              <a:t>‹#›</a:t>
            </a:fld>
            <a:endParaRPr lang="fr-CA"/>
          </a:p>
        </p:txBody>
      </p:sp>
    </p:spTree>
    <p:extLst>
      <p:ext uri="{BB962C8B-B14F-4D97-AF65-F5344CB8AC3E}">
        <p14:creationId xmlns:p14="http://schemas.microsoft.com/office/powerpoint/2010/main" val="203660220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smtClean="0"/>
            </a:lvl1pPr>
          </a:lstStyle>
          <a:p>
            <a:pPr>
              <a:defRPr/>
            </a:pPr>
            <a:endParaRPr lang="fr-CA"/>
          </a:p>
        </p:txBody>
      </p:sp>
      <p:sp>
        <p:nvSpPr>
          <p:cNvPr id="3" name="Espace réservé de la date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smtClean="0"/>
            </a:lvl1pPr>
          </a:lstStyle>
          <a:p>
            <a:pPr>
              <a:defRPr/>
            </a:pPr>
            <a:fld id="{6D68EE8C-DC0F-46BE-9EFA-5FBBF540CAEE}" type="datetimeFigureOut">
              <a:rPr lang="fr-CA"/>
              <a:pPr>
                <a:defRPr/>
              </a:pPr>
              <a:t>2021-01-19</a:t>
            </a:fld>
            <a:endParaRPr lang="fr-CA"/>
          </a:p>
        </p:txBody>
      </p:sp>
      <p:sp>
        <p:nvSpPr>
          <p:cNvPr id="4" name="Espace réservé de l'image des diapositives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pPr lvl="0"/>
            <a:endParaRPr lang="fr-CA" noProof="0"/>
          </a:p>
        </p:txBody>
      </p:sp>
      <p:sp>
        <p:nvSpPr>
          <p:cNvPr id="5" name="Espace réservé des commentaires 4"/>
          <p:cNvSpPr>
            <a:spLocks noGrp="1"/>
          </p:cNvSpPr>
          <p:nvPr>
            <p:ph type="body" sz="quarter" idx="3"/>
          </p:nvPr>
        </p:nvSpPr>
        <p:spPr>
          <a:xfrm>
            <a:off x="731520" y="4560570"/>
            <a:ext cx="5852160" cy="4320540"/>
          </a:xfrm>
          <a:prstGeom prst="rect">
            <a:avLst/>
          </a:prstGeom>
        </p:spPr>
        <p:txBody>
          <a:bodyPr vert="horz" lIns="96661" tIns="48331" rIns="96661" bIns="48331" rtlCol="0"/>
          <a:lstStyle/>
          <a:p>
            <a:pPr lvl="0"/>
            <a:r>
              <a:rPr lang="fr-FR" noProof="0"/>
              <a:t>Modifiez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endParaRPr lang="fr-CA" noProof="0"/>
          </a:p>
        </p:txBody>
      </p:sp>
      <p:sp>
        <p:nvSpPr>
          <p:cNvPr id="6" name="Espace réservé du pied de page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smtClean="0"/>
            </a:lvl1pPr>
          </a:lstStyle>
          <a:p>
            <a:pPr>
              <a:defRPr/>
            </a:pPr>
            <a:endParaRPr lang="fr-CA"/>
          </a:p>
        </p:txBody>
      </p:sp>
      <p:sp>
        <p:nvSpPr>
          <p:cNvPr id="7" name="Espace réservé du numéro de diapositive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smtClean="0"/>
            </a:lvl1pPr>
          </a:lstStyle>
          <a:p>
            <a:pPr>
              <a:defRPr/>
            </a:pPr>
            <a:fld id="{07FBCF2F-6636-40C0-80F2-EE6D30514956}" type="slidenum">
              <a:rPr lang="fr-CA"/>
              <a:pPr>
                <a:defRPr/>
              </a:pPr>
              <a:t>‹#›</a:t>
            </a:fld>
            <a:endParaRPr lang="fr-CA"/>
          </a:p>
        </p:txBody>
      </p:sp>
    </p:spTree>
    <p:extLst>
      <p:ext uri="{BB962C8B-B14F-4D97-AF65-F5344CB8AC3E}">
        <p14:creationId xmlns:p14="http://schemas.microsoft.com/office/powerpoint/2010/main" val="1974794740"/>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07FBCF2F-6636-40C0-80F2-EE6D30514956}" type="slidenum">
              <a:rPr lang="fr-CA" smtClean="0"/>
              <a:pPr>
                <a:defRPr/>
              </a:pPr>
              <a:t>1</a:t>
            </a:fld>
            <a:endParaRPr lang="fr-CA"/>
          </a:p>
        </p:txBody>
      </p:sp>
    </p:spTree>
    <p:extLst>
      <p:ext uri="{BB962C8B-B14F-4D97-AF65-F5344CB8AC3E}">
        <p14:creationId xmlns:p14="http://schemas.microsoft.com/office/powerpoint/2010/main" val="15743783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07FBCF2F-6636-40C0-80F2-EE6D30514956}" type="slidenum">
              <a:rPr lang="fr-CA" smtClean="0"/>
              <a:pPr>
                <a:defRPr/>
              </a:pPr>
              <a:t>2</a:t>
            </a:fld>
            <a:endParaRPr lang="fr-CA"/>
          </a:p>
        </p:txBody>
      </p:sp>
    </p:spTree>
    <p:extLst>
      <p:ext uri="{BB962C8B-B14F-4D97-AF65-F5344CB8AC3E}">
        <p14:creationId xmlns:p14="http://schemas.microsoft.com/office/powerpoint/2010/main" val="26336382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07FBCF2F-6636-40C0-80F2-EE6D30514956}" type="slidenum">
              <a:rPr lang="fr-CA" smtClean="0"/>
              <a:pPr>
                <a:defRPr/>
              </a:pPr>
              <a:t>3</a:t>
            </a:fld>
            <a:endParaRPr lang="fr-CA"/>
          </a:p>
        </p:txBody>
      </p:sp>
    </p:spTree>
    <p:extLst>
      <p:ext uri="{BB962C8B-B14F-4D97-AF65-F5344CB8AC3E}">
        <p14:creationId xmlns:p14="http://schemas.microsoft.com/office/powerpoint/2010/main" val="29661436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07FBCF2F-6636-40C0-80F2-EE6D30514956}" type="slidenum">
              <a:rPr lang="fr-CA" smtClean="0"/>
              <a:pPr>
                <a:defRPr/>
              </a:pPr>
              <a:t>4</a:t>
            </a:fld>
            <a:endParaRPr lang="fr-CA"/>
          </a:p>
        </p:txBody>
      </p:sp>
    </p:spTree>
    <p:extLst>
      <p:ext uri="{BB962C8B-B14F-4D97-AF65-F5344CB8AC3E}">
        <p14:creationId xmlns:p14="http://schemas.microsoft.com/office/powerpoint/2010/main" val="33981194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07FBCF2F-6636-40C0-80F2-EE6D30514956}" type="slidenum">
              <a:rPr lang="fr-CA" smtClean="0"/>
              <a:pPr>
                <a:defRPr/>
              </a:pPr>
              <a:t>5</a:t>
            </a:fld>
            <a:endParaRPr lang="fr-CA"/>
          </a:p>
        </p:txBody>
      </p:sp>
    </p:spTree>
    <p:extLst>
      <p:ext uri="{BB962C8B-B14F-4D97-AF65-F5344CB8AC3E}">
        <p14:creationId xmlns:p14="http://schemas.microsoft.com/office/powerpoint/2010/main" val="33981194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07FBCF2F-6636-40C0-80F2-EE6D30514956}" type="slidenum">
              <a:rPr lang="fr-CA" smtClean="0"/>
              <a:pPr>
                <a:defRPr/>
              </a:pPr>
              <a:t>6</a:t>
            </a:fld>
            <a:endParaRPr lang="fr-CA"/>
          </a:p>
        </p:txBody>
      </p:sp>
    </p:spTree>
    <p:extLst>
      <p:ext uri="{BB962C8B-B14F-4D97-AF65-F5344CB8AC3E}">
        <p14:creationId xmlns:p14="http://schemas.microsoft.com/office/powerpoint/2010/main" val="12238094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dirty="0"/>
          </a:p>
        </p:txBody>
      </p:sp>
      <p:sp>
        <p:nvSpPr>
          <p:cNvPr id="4" name="Slide Number Placeholder 3"/>
          <p:cNvSpPr>
            <a:spLocks noGrp="1"/>
          </p:cNvSpPr>
          <p:nvPr>
            <p:ph type="sldNum" sz="quarter" idx="10"/>
          </p:nvPr>
        </p:nvSpPr>
        <p:spPr/>
        <p:txBody>
          <a:bodyPr/>
          <a:lstStyle/>
          <a:p>
            <a:pPr>
              <a:defRPr/>
            </a:pPr>
            <a:fld id="{0D61BAEE-60D0-4618-A540-1C52A58FB561}" type="slidenum">
              <a:rPr lang="en-CA" smtClean="0"/>
              <a:pPr>
                <a:defRPr/>
              </a:pPr>
              <a:t>7</a:t>
            </a:fld>
            <a:endParaRPr lang="en-CA"/>
          </a:p>
        </p:txBody>
      </p:sp>
    </p:spTree>
    <p:extLst>
      <p:ext uri="{BB962C8B-B14F-4D97-AF65-F5344CB8AC3E}">
        <p14:creationId xmlns:p14="http://schemas.microsoft.com/office/powerpoint/2010/main" val="32826796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N’oublions pas la relation inverse entre le pH et la concentration des ions H</a:t>
            </a:r>
            <a:r>
              <a:rPr lang="en-US" baseline="30000" dirty="0"/>
              <a:t>+</a:t>
            </a:r>
            <a:r>
              <a:rPr lang="en-US" baseline="0" dirty="0"/>
              <a:t> ([H</a:t>
            </a:r>
            <a:r>
              <a:rPr lang="en-US" baseline="30000" dirty="0"/>
              <a:t>+</a:t>
            </a:r>
            <a:r>
              <a:rPr lang="en-US" baseline="0" dirty="0"/>
              <a:t>])</a:t>
            </a:r>
            <a:r>
              <a:rPr lang="en-US" dirty="0"/>
              <a:t>: plus le pH </a:t>
            </a:r>
            <a:r>
              <a:rPr lang="en-US" dirty="0" err="1"/>
              <a:t>est</a:t>
            </a:r>
            <a:r>
              <a:rPr lang="en-US" baseline="0" dirty="0"/>
              <a:t> </a:t>
            </a:r>
            <a:r>
              <a:rPr lang="en-US" baseline="0" dirty="0" err="1"/>
              <a:t>faible</a:t>
            </a:r>
            <a:r>
              <a:rPr lang="en-US" dirty="0"/>
              <a:t> et plus [H</a:t>
            </a:r>
            <a:r>
              <a:rPr lang="en-US" baseline="30000" dirty="0"/>
              <a:t>+</a:t>
            </a:r>
            <a:r>
              <a:rPr lang="en-US" baseline="0" dirty="0"/>
              <a:t>] </a:t>
            </a:r>
            <a:r>
              <a:rPr lang="en-US" baseline="0" dirty="0" err="1"/>
              <a:t>est</a:t>
            </a:r>
            <a:r>
              <a:rPr lang="en-US" baseline="0" dirty="0"/>
              <a:t> </a:t>
            </a:r>
            <a:r>
              <a:rPr lang="en-US" baseline="0" dirty="0" err="1"/>
              <a:t>élevée</a:t>
            </a:r>
            <a:r>
              <a:rPr lang="en-US" baseline="0" dirty="0"/>
              <a:t> (la solution </a:t>
            </a:r>
            <a:r>
              <a:rPr lang="en-US" baseline="0" dirty="0" err="1"/>
              <a:t>est</a:t>
            </a:r>
            <a:r>
              <a:rPr lang="en-US" baseline="0" dirty="0"/>
              <a:t> plus </a:t>
            </a:r>
            <a:r>
              <a:rPr lang="en-US" baseline="0" dirty="0" err="1"/>
              <a:t>acide</a:t>
            </a:r>
            <a:r>
              <a:rPr lang="en-US" baseline="0" dirty="0"/>
              <a:t>).</a:t>
            </a:r>
            <a:endParaRPr lang="en-US" dirty="0"/>
          </a:p>
          <a:p>
            <a:r>
              <a:rPr lang="en-US" dirty="0"/>
              <a:t>pH</a:t>
            </a:r>
            <a:r>
              <a:rPr lang="en-US" baseline="0" dirty="0"/>
              <a:t> = - log[H</a:t>
            </a:r>
            <a:r>
              <a:rPr lang="en-US" baseline="30000" dirty="0"/>
              <a:t>+</a:t>
            </a:r>
            <a:r>
              <a:rPr lang="en-US" baseline="0" dirty="0"/>
              <a:t>] </a:t>
            </a:r>
            <a:r>
              <a:rPr lang="en-US" baseline="0" dirty="0">
                <a:sym typeface="Symbol"/>
              </a:rPr>
              <a:t> </a:t>
            </a:r>
            <a:r>
              <a:rPr lang="en-US" baseline="0" dirty="0"/>
              <a:t>[H</a:t>
            </a:r>
            <a:r>
              <a:rPr lang="en-US" baseline="30000" dirty="0"/>
              <a:t>+</a:t>
            </a:r>
            <a:r>
              <a:rPr lang="en-US" baseline="0" dirty="0"/>
              <a:t>] = 10</a:t>
            </a:r>
            <a:r>
              <a:rPr lang="en-US" baseline="30000" dirty="0">
                <a:latin typeface="Arial"/>
                <a:cs typeface="Arial"/>
              </a:rPr>
              <a:t>−pH</a:t>
            </a:r>
          </a:p>
          <a:p>
            <a:r>
              <a:rPr lang="en-US" baseline="0" dirty="0"/>
              <a:t>[H</a:t>
            </a:r>
            <a:r>
              <a:rPr lang="en-US" baseline="30000" dirty="0"/>
              <a:t>+</a:t>
            </a:r>
            <a:r>
              <a:rPr lang="en-US" baseline="0" dirty="0"/>
              <a:t>] </a:t>
            </a:r>
            <a:r>
              <a:rPr lang="en-US" baseline="0" dirty="0" err="1"/>
              <a:t>extracellulaire</a:t>
            </a:r>
            <a:r>
              <a:rPr lang="en-US" baseline="0" dirty="0"/>
              <a:t> = 10</a:t>
            </a:r>
            <a:r>
              <a:rPr lang="en-US" baseline="30000" dirty="0">
                <a:latin typeface="Arial"/>
                <a:cs typeface="Arial"/>
              </a:rPr>
              <a:t>−7,4</a:t>
            </a:r>
            <a:r>
              <a:rPr lang="en-US" baseline="0" dirty="0">
                <a:latin typeface="Arial"/>
                <a:cs typeface="Arial"/>
              </a:rPr>
              <a:t> mole/L</a:t>
            </a:r>
            <a:endParaRPr lang="en-US" baseline="30000" dirty="0">
              <a:latin typeface="Arial"/>
              <a:cs typeface="Arial"/>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baseline="0" dirty="0"/>
              <a:t>[H</a:t>
            </a:r>
            <a:r>
              <a:rPr lang="en-US" baseline="30000" dirty="0"/>
              <a:t>+</a:t>
            </a:r>
            <a:r>
              <a:rPr lang="en-US" baseline="0" dirty="0"/>
              <a:t>] </a:t>
            </a:r>
            <a:r>
              <a:rPr lang="en-US" baseline="0" dirty="0" err="1"/>
              <a:t>intracellulaire</a:t>
            </a:r>
            <a:r>
              <a:rPr lang="en-US" baseline="0" dirty="0"/>
              <a:t> = 10</a:t>
            </a:r>
            <a:r>
              <a:rPr lang="en-US" baseline="30000" dirty="0">
                <a:latin typeface="Arial"/>
                <a:cs typeface="Arial"/>
              </a:rPr>
              <a:t>−7</a:t>
            </a:r>
            <a:r>
              <a:rPr lang="en-US" baseline="0" dirty="0">
                <a:latin typeface="Arial"/>
                <a:cs typeface="Arial"/>
              </a:rPr>
              <a:t> mole/L</a:t>
            </a:r>
            <a:endParaRPr lang="en-US" baseline="30000" dirty="0">
              <a:latin typeface="Arial"/>
              <a:cs typeface="Arial"/>
            </a:endParaRPr>
          </a:p>
          <a:p>
            <a:pPr marL="171450" indent="-171450">
              <a:buFont typeface="Symbol"/>
              <a:buChar char="®"/>
            </a:pPr>
            <a:r>
              <a:rPr lang="en-US" baseline="0" dirty="0"/>
              <a:t>[H</a:t>
            </a:r>
            <a:r>
              <a:rPr lang="en-US" baseline="30000" dirty="0"/>
              <a:t>+</a:t>
            </a:r>
            <a:r>
              <a:rPr lang="en-US" baseline="0" dirty="0"/>
              <a:t>] </a:t>
            </a:r>
            <a:r>
              <a:rPr lang="en-US" baseline="0" dirty="0" err="1"/>
              <a:t>intracellulaire</a:t>
            </a:r>
            <a:r>
              <a:rPr lang="en-US" baseline="0" dirty="0"/>
              <a:t> &gt; [H</a:t>
            </a:r>
            <a:r>
              <a:rPr lang="en-US" baseline="30000" dirty="0"/>
              <a:t>+</a:t>
            </a:r>
            <a:r>
              <a:rPr lang="en-US" baseline="0" dirty="0"/>
              <a:t>] </a:t>
            </a:r>
            <a:r>
              <a:rPr lang="en-US" baseline="0" dirty="0" err="1"/>
              <a:t>extracellulaire</a:t>
            </a:r>
            <a:endParaRPr lang="en-US" baseline="0" dirty="0"/>
          </a:p>
        </p:txBody>
      </p:sp>
      <p:sp>
        <p:nvSpPr>
          <p:cNvPr id="4" name="Slide Number Placeholder 3"/>
          <p:cNvSpPr>
            <a:spLocks noGrp="1"/>
          </p:cNvSpPr>
          <p:nvPr>
            <p:ph type="sldNum" sz="quarter" idx="10"/>
          </p:nvPr>
        </p:nvSpPr>
        <p:spPr/>
        <p:txBody>
          <a:bodyPr/>
          <a:lstStyle/>
          <a:p>
            <a:pPr>
              <a:defRPr/>
            </a:pPr>
            <a:fld id="{07FBCF2F-6636-40C0-80F2-EE6D30514956}" type="slidenum">
              <a:rPr lang="fr-CA" smtClean="0"/>
              <a:pPr>
                <a:defRPr/>
              </a:pPr>
              <a:t>8</a:t>
            </a:fld>
            <a:endParaRPr lang="fr-CA"/>
          </a:p>
        </p:txBody>
      </p:sp>
    </p:spTree>
    <p:extLst>
      <p:ext uri="{BB962C8B-B14F-4D97-AF65-F5344CB8AC3E}">
        <p14:creationId xmlns:p14="http://schemas.microsoft.com/office/powerpoint/2010/main" val="42079473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07FBCF2F-6636-40C0-80F2-EE6D30514956}" type="slidenum">
              <a:rPr lang="fr-CA" smtClean="0"/>
              <a:pPr>
                <a:defRPr/>
              </a:pPr>
              <a:t>9</a:t>
            </a:fld>
            <a:endParaRPr lang="fr-CA"/>
          </a:p>
        </p:txBody>
      </p:sp>
    </p:spTree>
    <p:extLst>
      <p:ext uri="{BB962C8B-B14F-4D97-AF65-F5344CB8AC3E}">
        <p14:creationId xmlns:p14="http://schemas.microsoft.com/office/powerpoint/2010/main" val="42253545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b="1">
                <a:solidFill>
                  <a:schemeClr val="tx1"/>
                </a:solidFill>
                <a:latin typeface="Arial" pitchFamily="34" charset="0"/>
              </a:defRPr>
            </a:lvl1pPr>
            <a:lvl2pPr marL="785372" indent="-302066">
              <a:defRPr sz="1300" b="1">
                <a:solidFill>
                  <a:schemeClr val="tx1"/>
                </a:solidFill>
                <a:latin typeface="Arial" pitchFamily="34" charset="0"/>
              </a:defRPr>
            </a:lvl2pPr>
            <a:lvl3pPr marL="1208265" indent="-241653">
              <a:defRPr sz="1300" b="1">
                <a:solidFill>
                  <a:schemeClr val="tx1"/>
                </a:solidFill>
                <a:latin typeface="Arial" pitchFamily="34" charset="0"/>
              </a:defRPr>
            </a:lvl3pPr>
            <a:lvl4pPr marL="1691571" indent="-241653">
              <a:defRPr sz="1300" b="1">
                <a:solidFill>
                  <a:schemeClr val="tx1"/>
                </a:solidFill>
                <a:latin typeface="Arial" pitchFamily="34" charset="0"/>
              </a:defRPr>
            </a:lvl4pPr>
            <a:lvl5pPr marL="2174878" indent="-241653">
              <a:defRPr sz="1300" b="1">
                <a:solidFill>
                  <a:schemeClr val="tx1"/>
                </a:solidFill>
                <a:latin typeface="Arial" pitchFamily="34" charset="0"/>
              </a:defRPr>
            </a:lvl5pPr>
            <a:lvl6pPr marL="2658184" indent="-241653" eaLnBrk="0" fontAlgn="base" hangingPunct="0">
              <a:spcBef>
                <a:spcPct val="0"/>
              </a:spcBef>
              <a:spcAft>
                <a:spcPct val="0"/>
              </a:spcAft>
              <a:defRPr sz="1300" b="1">
                <a:solidFill>
                  <a:schemeClr val="tx1"/>
                </a:solidFill>
                <a:latin typeface="Arial" pitchFamily="34" charset="0"/>
              </a:defRPr>
            </a:lvl6pPr>
            <a:lvl7pPr marL="3141490" indent="-241653" eaLnBrk="0" fontAlgn="base" hangingPunct="0">
              <a:spcBef>
                <a:spcPct val="0"/>
              </a:spcBef>
              <a:spcAft>
                <a:spcPct val="0"/>
              </a:spcAft>
              <a:defRPr sz="1300" b="1">
                <a:solidFill>
                  <a:schemeClr val="tx1"/>
                </a:solidFill>
                <a:latin typeface="Arial" pitchFamily="34" charset="0"/>
              </a:defRPr>
            </a:lvl7pPr>
            <a:lvl8pPr marL="3624796" indent="-241653" eaLnBrk="0" fontAlgn="base" hangingPunct="0">
              <a:spcBef>
                <a:spcPct val="0"/>
              </a:spcBef>
              <a:spcAft>
                <a:spcPct val="0"/>
              </a:spcAft>
              <a:defRPr sz="1300" b="1">
                <a:solidFill>
                  <a:schemeClr val="tx1"/>
                </a:solidFill>
                <a:latin typeface="Arial" pitchFamily="34" charset="0"/>
              </a:defRPr>
            </a:lvl8pPr>
            <a:lvl9pPr marL="4108102" indent="-241653" eaLnBrk="0" fontAlgn="base" hangingPunct="0">
              <a:spcBef>
                <a:spcPct val="0"/>
              </a:spcBef>
              <a:spcAft>
                <a:spcPct val="0"/>
              </a:spcAft>
              <a:defRPr sz="1300" b="1">
                <a:solidFill>
                  <a:schemeClr val="tx1"/>
                </a:solidFill>
                <a:latin typeface="Arial" pitchFamily="34" charset="0"/>
              </a:defRPr>
            </a:lvl9pPr>
          </a:lstStyle>
          <a:p>
            <a:fld id="{79149446-CE73-4CAC-93EB-34FF59F5E298}" type="slidenum">
              <a:rPr lang="en-US" altLang="fr-FR" b="0"/>
              <a:pPr/>
              <a:t>10</a:t>
            </a:fld>
            <a:endParaRPr lang="en-US" altLang="fr-FR" b="0"/>
          </a:p>
        </p:txBody>
      </p:sp>
      <p:sp>
        <p:nvSpPr>
          <p:cNvPr id="104451" name="Rectangle 2"/>
          <p:cNvSpPr>
            <a:spLocks noGrp="1" noRot="1" noChangeAspect="1" noChangeArrowheads="1" noTextEdit="1"/>
          </p:cNvSpPr>
          <p:nvPr>
            <p:ph type="sldImg"/>
          </p:nvPr>
        </p:nvSpPr>
        <p:spPr>
          <a:solidFill>
            <a:srgbClr val="FFFFFF"/>
          </a:solidFill>
          <a:ln/>
        </p:spPr>
      </p:sp>
      <p:sp>
        <p:nvSpPr>
          <p:cNvPr id="104452" name="Rectangle 3"/>
          <p:cNvSpPr>
            <a:spLocks noGrp="1" noChangeArrowheads="1"/>
          </p:cNvSpPr>
          <p:nvPr>
            <p:ph type="body" idx="1"/>
          </p:nvPr>
        </p:nvSpPr>
        <p:spPr>
          <a:solidFill>
            <a:srgbClr val="FFFFFF"/>
          </a:solidFill>
          <a:ln>
            <a:solidFill>
              <a:srgbClr val="000000"/>
            </a:solidFill>
          </a:ln>
        </p:spPr>
        <p:txBody>
          <a:bodyPr/>
          <a:lstStyle/>
          <a:p>
            <a:pPr eaLnBrk="1" hangingPunct="1"/>
            <a:endParaRPr lang="fr-FR" altLang="fr-FR" dirty="0">
              <a:solidFill>
                <a:srgbClr val="000000"/>
              </a:solidFill>
              <a:latin typeface="Arial"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07FBCF2F-6636-40C0-80F2-EE6D30514956}" type="slidenum">
              <a:rPr lang="fr-CA" smtClean="0"/>
              <a:pPr>
                <a:defRPr/>
              </a:pPr>
              <a:t>11</a:t>
            </a:fld>
            <a:endParaRPr lang="fr-CA"/>
          </a:p>
        </p:txBody>
      </p:sp>
    </p:spTree>
    <p:extLst>
      <p:ext uri="{BB962C8B-B14F-4D97-AF65-F5344CB8AC3E}">
        <p14:creationId xmlns:p14="http://schemas.microsoft.com/office/powerpoint/2010/main" val="42253545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07FBCF2F-6636-40C0-80F2-EE6D30514956}" type="slidenum">
              <a:rPr lang="fr-CA" smtClean="0"/>
              <a:pPr>
                <a:defRPr/>
              </a:pPr>
              <a:t>12</a:t>
            </a:fld>
            <a:endParaRPr lang="fr-CA"/>
          </a:p>
        </p:txBody>
      </p:sp>
    </p:spTree>
    <p:extLst>
      <p:ext uri="{BB962C8B-B14F-4D97-AF65-F5344CB8AC3E}">
        <p14:creationId xmlns:p14="http://schemas.microsoft.com/office/powerpoint/2010/main" val="42253545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CA" noProof="0" dirty="0"/>
              <a:t>Le</a:t>
            </a:r>
            <a:r>
              <a:rPr lang="fr-CA" baseline="0" noProof="0" dirty="0"/>
              <a:t> changement de</a:t>
            </a:r>
            <a:r>
              <a:rPr lang="fr-CA" noProof="0" dirty="0"/>
              <a:t> perméabilité membranaire est de loin le mécanisme le plus important pour contrôler la</a:t>
            </a:r>
            <a:r>
              <a:rPr lang="fr-CA" baseline="0" noProof="0" dirty="0"/>
              <a:t> vitesse de diffusion d’un soluté donné. Le gradient de concentration et la température sont maintenus relativement constants. La taille des molécules du soluté à transporter ne peut évidemment pas être modifiée.</a:t>
            </a:r>
          </a:p>
          <a:p>
            <a:r>
              <a:rPr lang="fr-CA" baseline="0" noProof="0" dirty="0"/>
              <a:t>Nous verrons à la section 3 comment la perméabilité membranaire peut être modifiée.</a:t>
            </a:r>
            <a:endParaRPr lang="fr-CA" noProof="0" dirty="0"/>
          </a:p>
        </p:txBody>
      </p:sp>
      <p:sp>
        <p:nvSpPr>
          <p:cNvPr id="4" name="Slide Number Placeholder 3"/>
          <p:cNvSpPr>
            <a:spLocks noGrp="1"/>
          </p:cNvSpPr>
          <p:nvPr>
            <p:ph type="sldNum" sz="quarter" idx="10"/>
          </p:nvPr>
        </p:nvSpPr>
        <p:spPr/>
        <p:txBody>
          <a:bodyPr/>
          <a:lstStyle/>
          <a:p>
            <a:pPr>
              <a:defRPr/>
            </a:pPr>
            <a:fld id="{07FBCF2F-6636-40C0-80F2-EE6D30514956}" type="slidenum">
              <a:rPr lang="fr-CA" smtClean="0"/>
              <a:pPr>
                <a:defRPr/>
              </a:pPr>
              <a:t>13</a:t>
            </a:fld>
            <a:endParaRPr lang="fr-CA"/>
          </a:p>
        </p:txBody>
      </p:sp>
    </p:spTree>
    <p:extLst>
      <p:ext uri="{BB962C8B-B14F-4D97-AF65-F5344CB8AC3E}">
        <p14:creationId xmlns:p14="http://schemas.microsoft.com/office/powerpoint/2010/main" val="42253545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07FBCF2F-6636-40C0-80F2-EE6D30514956}" type="slidenum">
              <a:rPr lang="fr-CA" smtClean="0"/>
              <a:pPr>
                <a:defRPr/>
              </a:pPr>
              <a:t>14</a:t>
            </a:fld>
            <a:endParaRPr lang="fr-CA"/>
          </a:p>
        </p:txBody>
      </p:sp>
    </p:spTree>
    <p:extLst>
      <p:ext uri="{BB962C8B-B14F-4D97-AF65-F5344CB8AC3E}">
        <p14:creationId xmlns:p14="http://schemas.microsoft.com/office/powerpoint/2010/main" val="5753400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07FBCF2F-6636-40C0-80F2-EE6D30514956}" type="slidenum">
              <a:rPr lang="fr-CA" smtClean="0"/>
              <a:pPr>
                <a:defRPr/>
              </a:pPr>
              <a:t>15</a:t>
            </a:fld>
            <a:endParaRPr lang="fr-CA"/>
          </a:p>
        </p:txBody>
      </p:sp>
    </p:spTree>
    <p:extLst>
      <p:ext uri="{BB962C8B-B14F-4D97-AF65-F5344CB8AC3E}">
        <p14:creationId xmlns:p14="http://schemas.microsoft.com/office/powerpoint/2010/main" val="5753400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07FBCF2F-6636-40C0-80F2-EE6D30514956}" type="slidenum">
              <a:rPr lang="fr-CA" smtClean="0"/>
              <a:pPr>
                <a:defRPr/>
              </a:pPr>
              <a:t>16</a:t>
            </a:fld>
            <a:endParaRPr lang="fr-CA"/>
          </a:p>
        </p:txBody>
      </p:sp>
    </p:spTree>
    <p:extLst>
      <p:ext uri="{BB962C8B-B14F-4D97-AF65-F5344CB8AC3E}">
        <p14:creationId xmlns:p14="http://schemas.microsoft.com/office/powerpoint/2010/main" val="9191612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07FBCF2F-6636-40C0-80F2-EE6D30514956}" type="slidenum">
              <a:rPr lang="fr-CA" smtClean="0"/>
              <a:pPr>
                <a:defRPr/>
              </a:pPr>
              <a:t>17</a:t>
            </a:fld>
            <a:endParaRPr lang="fr-CA"/>
          </a:p>
        </p:txBody>
      </p:sp>
    </p:spTree>
    <p:extLst>
      <p:ext uri="{BB962C8B-B14F-4D97-AF65-F5344CB8AC3E}">
        <p14:creationId xmlns:p14="http://schemas.microsoft.com/office/powerpoint/2010/main" val="7011445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dirty="0"/>
          </a:p>
        </p:txBody>
      </p:sp>
      <p:sp>
        <p:nvSpPr>
          <p:cNvPr id="4" name="Slide Number Placeholder 3"/>
          <p:cNvSpPr>
            <a:spLocks noGrp="1"/>
          </p:cNvSpPr>
          <p:nvPr>
            <p:ph type="sldNum" sz="quarter" idx="10"/>
          </p:nvPr>
        </p:nvSpPr>
        <p:spPr/>
        <p:txBody>
          <a:bodyPr/>
          <a:lstStyle/>
          <a:p>
            <a:pPr>
              <a:defRPr/>
            </a:pPr>
            <a:fld id="{0D61BAEE-60D0-4618-A540-1C52A58FB561}" type="slidenum">
              <a:rPr lang="en-CA" smtClean="0"/>
              <a:pPr>
                <a:defRPr/>
              </a:pPr>
              <a:t>18</a:t>
            </a:fld>
            <a:endParaRPr lang="en-CA"/>
          </a:p>
        </p:txBody>
      </p:sp>
    </p:spTree>
    <p:extLst>
      <p:ext uri="{BB962C8B-B14F-4D97-AF65-F5344CB8AC3E}">
        <p14:creationId xmlns:p14="http://schemas.microsoft.com/office/powerpoint/2010/main" val="35710177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07FBCF2F-6636-40C0-80F2-EE6D30514956}" type="slidenum">
              <a:rPr lang="fr-CA" smtClean="0"/>
              <a:pPr>
                <a:defRPr/>
              </a:pPr>
              <a:t>19</a:t>
            </a:fld>
            <a:endParaRPr lang="fr-CA"/>
          </a:p>
        </p:txBody>
      </p:sp>
    </p:spTree>
    <p:extLst>
      <p:ext uri="{BB962C8B-B14F-4D97-AF65-F5344CB8AC3E}">
        <p14:creationId xmlns:p14="http://schemas.microsoft.com/office/powerpoint/2010/main" val="31615433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07FBCF2F-6636-40C0-80F2-EE6D30514956}" type="slidenum">
              <a:rPr lang="fr-CA" smtClean="0"/>
              <a:pPr>
                <a:defRPr/>
              </a:pPr>
              <a:t>20</a:t>
            </a:fld>
            <a:endParaRPr lang="fr-CA"/>
          </a:p>
        </p:txBody>
      </p:sp>
    </p:spTree>
    <p:extLst>
      <p:ext uri="{BB962C8B-B14F-4D97-AF65-F5344CB8AC3E}">
        <p14:creationId xmlns:p14="http://schemas.microsoft.com/office/powerpoint/2010/main" val="18640905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07FBCF2F-6636-40C0-80F2-EE6D30514956}" type="slidenum">
              <a:rPr lang="fr-CA" smtClean="0"/>
              <a:pPr>
                <a:defRPr/>
              </a:pPr>
              <a:t>21</a:t>
            </a:fld>
            <a:endParaRPr lang="fr-CA"/>
          </a:p>
        </p:txBody>
      </p:sp>
    </p:spTree>
    <p:extLst>
      <p:ext uri="{BB962C8B-B14F-4D97-AF65-F5344CB8AC3E}">
        <p14:creationId xmlns:p14="http://schemas.microsoft.com/office/powerpoint/2010/main" val="2196131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07FBCF2F-6636-40C0-80F2-EE6D30514956}" type="slidenum">
              <a:rPr lang="fr-CA" smtClean="0"/>
              <a:pPr>
                <a:defRPr/>
              </a:pPr>
              <a:t>22</a:t>
            </a:fld>
            <a:endParaRPr lang="fr-CA"/>
          </a:p>
        </p:txBody>
      </p:sp>
    </p:spTree>
    <p:extLst>
      <p:ext uri="{BB962C8B-B14F-4D97-AF65-F5344CB8AC3E}">
        <p14:creationId xmlns:p14="http://schemas.microsoft.com/office/powerpoint/2010/main" val="15761416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07FBCF2F-6636-40C0-80F2-EE6D30514956}" type="slidenum">
              <a:rPr lang="fr-CA" smtClean="0"/>
              <a:pPr>
                <a:defRPr/>
              </a:pPr>
              <a:t>23</a:t>
            </a:fld>
            <a:endParaRPr lang="fr-CA"/>
          </a:p>
        </p:txBody>
      </p:sp>
    </p:spTree>
    <p:extLst>
      <p:ext uri="{BB962C8B-B14F-4D97-AF65-F5344CB8AC3E}">
        <p14:creationId xmlns:p14="http://schemas.microsoft.com/office/powerpoint/2010/main" val="41328745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spcBef>
                <a:spcPts val="300"/>
              </a:spcBef>
              <a:spcAft>
                <a:spcPts val="0"/>
              </a:spcAft>
            </a:pPr>
            <a:r>
              <a:rPr lang="fr-FR" sz="1200" dirty="0">
                <a:solidFill>
                  <a:srgbClr val="000000"/>
                </a:solidFill>
                <a:effectLst/>
                <a:latin typeface="Times New Roman" panose="02020603050405020304" pitchFamily="18" charset="0"/>
                <a:ea typeface="Times New Roman"/>
                <a:cs typeface="Times New Roman" panose="02020603050405020304" pitchFamily="18" charset="0"/>
              </a:rPr>
              <a:t>La pompe Na-K est essentielle au maintien des concentrations intracellu­laires de Na</a:t>
            </a:r>
            <a:r>
              <a:rPr lang="fr-FR" sz="1200" baseline="30000" dirty="0">
                <a:solidFill>
                  <a:srgbClr val="000000"/>
                </a:solidFill>
                <a:effectLst/>
                <a:latin typeface="Times New Roman" panose="02020603050405020304" pitchFamily="18" charset="0"/>
                <a:ea typeface="Times New Roman"/>
                <a:cs typeface="Times New Roman" panose="02020603050405020304" pitchFamily="18" charset="0"/>
              </a:rPr>
              <a:t>+</a:t>
            </a:r>
            <a:r>
              <a:rPr lang="fr-FR" sz="1200" dirty="0">
                <a:solidFill>
                  <a:srgbClr val="000000"/>
                </a:solidFill>
                <a:effectLst/>
                <a:latin typeface="Times New Roman" panose="02020603050405020304" pitchFamily="18" charset="0"/>
                <a:ea typeface="Times New Roman"/>
                <a:cs typeface="Times New Roman" panose="02020603050405020304" pitchFamily="18" charset="0"/>
              </a:rPr>
              <a:t> et K</a:t>
            </a:r>
            <a:r>
              <a:rPr lang="fr-FR" sz="1200" baseline="30000" dirty="0">
                <a:solidFill>
                  <a:srgbClr val="000000"/>
                </a:solidFill>
                <a:effectLst/>
                <a:latin typeface="Times New Roman" panose="02020603050405020304" pitchFamily="18" charset="0"/>
                <a:ea typeface="Times New Roman"/>
                <a:cs typeface="Times New Roman" panose="02020603050405020304" pitchFamily="18" charset="0"/>
              </a:rPr>
              <a:t>+</a:t>
            </a:r>
            <a:r>
              <a:rPr lang="fr-FR" sz="1200" dirty="0">
                <a:solidFill>
                  <a:srgbClr val="000000"/>
                </a:solidFill>
                <a:effectLst/>
                <a:latin typeface="Times New Roman" panose="02020603050405020304" pitchFamily="18" charset="0"/>
                <a:ea typeface="Times New Roman"/>
                <a:cs typeface="Times New Roman" panose="02020603050405020304" pitchFamily="18" charset="0"/>
              </a:rPr>
              <a:t> parce que ces ions tendent à diffuser continuellement à traverser la membrane (via des canaux protéiques) dans le sens de leurs gradients de concentration.</a:t>
            </a:r>
            <a:endParaRPr lang="fr-CA" sz="1400" dirty="0">
              <a:solidFill>
                <a:srgbClr val="000000"/>
              </a:solidFill>
              <a:effectLst/>
              <a:latin typeface="Times New Roman" panose="02020603050405020304" pitchFamily="18" charset="0"/>
              <a:ea typeface="Times New Roman"/>
              <a:cs typeface="Times New Roman" panose="02020603050405020304" pitchFamily="18" charset="0"/>
            </a:endParaRPr>
          </a:p>
          <a:p>
            <a:pPr marL="0" indent="3810">
              <a:spcBef>
                <a:spcPts val="300"/>
              </a:spcBef>
              <a:spcAft>
                <a:spcPts val="0"/>
              </a:spcAft>
            </a:pPr>
            <a:r>
              <a:rPr lang="fr-FR" sz="1200" dirty="0">
                <a:solidFill>
                  <a:srgbClr val="000000"/>
                </a:solidFill>
                <a:effectLst/>
                <a:latin typeface="Times New Roman" panose="02020603050405020304" pitchFamily="18" charset="0"/>
                <a:ea typeface="Times New Roman"/>
                <a:cs typeface="Times New Roman" panose="02020603050405020304" pitchFamily="18" charset="0"/>
              </a:rPr>
              <a:t>Une inhibition de la pompe causerait donc une dissipation des gradients de concentration des ions Na</a:t>
            </a:r>
            <a:r>
              <a:rPr lang="fr-FR" sz="1200" baseline="30000" dirty="0">
                <a:solidFill>
                  <a:srgbClr val="000000"/>
                </a:solidFill>
                <a:effectLst/>
                <a:latin typeface="Times New Roman" panose="02020603050405020304" pitchFamily="18" charset="0"/>
                <a:ea typeface="Times New Roman"/>
                <a:cs typeface="Times New Roman" panose="02020603050405020304" pitchFamily="18" charset="0"/>
              </a:rPr>
              <a:t>+</a:t>
            </a:r>
            <a:r>
              <a:rPr lang="fr-FR" sz="1200" dirty="0">
                <a:solidFill>
                  <a:srgbClr val="000000"/>
                </a:solidFill>
                <a:effectLst/>
                <a:latin typeface="Times New Roman" panose="02020603050405020304" pitchFamily="18" charset="0"/>
                <a:ea typeface="Times New Roman"/>
                <a:cs typeface="Times New Roman" panose="02020603050405020304" pitchFamily="18" charset="0"/>
              </a:rPr>
              <a:t> et K</a:t>
            </a:r>
            <a:r>
              <a:rPr lang="fr-FR" sz="1200" baseline="30000" dirty="0">
                <a:solidFill>
                  <a:srgbClr val="000000"/>
                </a:solidFill>
                <a:effectLst/>
                <a:latin typeface="Times New Roman" panose="02020603050405020304" pitchFamily="18" charset="0"/>
                <a:ea typeface="Times New Roman"/>
                <a:cs typeface="Times New Roman" panose="02020603050405020304" pitchFamily="18" charset="0"/>
              </a:rPr>
              <a:t>+</a:t>
            </a:r>
            <a:r>
              <a:rPr lang="fr-FR" sz="1200" dirty="0">
                <a:solidFill>
                  <a:srgbClr val="000000"/>
                </a:solidFill>
                <a:effectLst/>
                <a:latin typeface="Times New Roman" panose="02020603050405020304" pitchFamily="18" charset="0"/>
                <a:ea typeface="Times New Roman"/>
                <a:cs typeface="Times New Roman" panose="02020603050405020304" pitchFamily="18" charset="0"/>
              </a:rPr>
              <a:t> :</a:t>
            </a:r>
            <a:r>
              <a:rPr lang="fr-CA" sz="1400" baseline="0" dirty="0">
                <a:solidFill>
                  <a:srgbClr val="000000"/>
                </a:solidFill>
                <a:effectLst/>
                <a:latin typeface="Times New Roman" panose="02020603050405020304" pitchFamily="18" charset="0"/>
                <a:ea typeface="Times New Roman"/>
                <a:cs typeface="Times New Roman" panose="02020603050405020304" pitchFamily="18" charset="0"/>
              </a:rPr>
              <a:t> </a:t>
            </a:r>
            <a:r>
              <a:rPr lang="fr-FR" sz="1200" dirty="0">
                <a:solidFill>
                  <a:srgbClr val="000000"/>
                </a:solidFill>
                <a:effectLst/>
                <a:latin typeface="Times New Roman" panose="02020603050405020304" pitchFamily="18" charset="0"/>
                <a:ea typeface="Times New Roman"/>
                <a:cs typeface="Times New Roman" panose="02020603050405020304" pitchFamily="18" charset="0"/>
              </a:rPr>
              <a:t>[Na</a:t>
            </a:r>
            <a:r>
              <a:rPr lang="fr-FR" sz="1200" baseline="30000" dirty="0">
                <a:solidFill>
                  <a:srgbClr val="000000"/>
                </a:solidFill>
                <a:effectLst/>
                <a:latin typeface="Times New Roman" panose="02020603050405020304" pitchFamily="18" charset="0"/>
                <a:ea typeface="Times New Roman"/>
                <a:cs typeface="Times New Roman" panose="02020603050405020304" pitchFamily="18" charset="0"/>
              </a:rPr>
              <a:t>+</a:t>
            </a:r>
            <a:r>
              <a:rPr lang="fr-FR" sz="1200" dirty="0">
                <a:solidFill>
                  <a:srgbClr val="000000"/>
                </a:solidFill>
                <a:effectLst/>
                <a:latin typeface="Times New Roman" panose="02020603050405020304" pitchFamily="18" charset="0"/>
                <a:ea typeface="Times New Roman"/>
                <a:cs typeface="Times New Roman" panose="02020603050405020304" pitchFamily="18" charset="0"/>
              </a:rPr>
              <a:t>]</a:t>
            </a:r>
            <a:r>
              <a:rPr lang="fr-FR" sz="1200" baseline="-25000" dirty="0">
                <a:solidFill>
                  <a:srgbClr val="000000"/>
                </a:solidFill>
                <a:effectLst/>
                <a:latin typeface="Times New Roman" panose="02020603050405020304" pitchFamily="18" charset="0"/>
                <a:ea typeface="Times New Roman"/>
                <a:cs typeface="Times New Roman" panose="02020603050405020304" pitchFamily="18" charset="0"/>
              </a:rPr>
              <a:t>in</a:t>
            </a:r>
            <a:r>
              <a:rPr lang="fr-FR" sz="1200" dirty="0">
                <a:solidFill>
                  <a:srgbClr val="000000"/>
                </a:solidFill>
                <a:effectLst/>
                <a:latin typeface="Times New Roman" panose="02020603050405020304" pitchFamily="18" charset="0"/>
                <a:ea typeface="Times New Roman"/>
                <a:cs typeface="Times New Roman" panose="02020603050405020304" pitchFamily="18" charset="0"/>
              </a:rPr>
              <a:t> augmenterait alors que [K</a:t>
            </a:r>
            <a:r>
              <a:rPr lang="fr-FR" sz="1200" baseline="30000" dirty="0">
                <a:solidFill>
                  <a:srgbClr val="000000"/>
                </a:solidFill>
                <a:effectLst/>
                <a:latin typeface="Times New Roman" panose="02020603050405020304" pitchFamily="18" charset="0"/>
                <a:ea typeface="Times New Roman"/>
                <a:cs typeface="Times New Roman" panose="02020603050405020304" pitchFamily="18" charset="0"/>
              </a:rPr>
              <a:t>+</a:t>
            </a:r>
            <a:r>
              <a:rPr lang="fr-FR" sz="1200" dirty="0">
                <a:solidFill>
                  <a:srgbClr val="000000"/>
                </a:solidFill>
                <a:effectLst/>
                <a:latin typeface="Times New Roman" panose="02020603050405020304" pitchFamily="18" charset="0"/>
                <a:ea typeface="Times New Roman"/>
                <a:cs typeface="Times New Roman" panose="02020603050405020304" pitchFamily="18" charset="0"/>
              </a:rPr>
              <a:t>]</a:t>
            </a:r>
            <a:r>
              <a:rPr lang="fr-FR" sz="1200" baseline="-25000" dirty="0">
                <a:solidFill>
                  <a:srgbClr val="000000"/>
                </a:solidFill>
                <a:effectLst/>
                <a:latin typeface="Times New Roman" panose="02020603050405020304" pitchFamily="18" charset="0"/>
                <a:ea typeface="Times New Roman"/>
                <a:cs typeface="Times New Roman" panose="02020603050405020304" pitchFamily="18" charset="0"/>
              </a:rPr>
              <a:t>in</a:t>
            </a:r>
            <a:r>
              <a:rPr lang="fr-FR" sz="1200" dirty="0">
                <a:solidFill>
                  <a:srgbClr val="000000"/>
                </a:solidFill>
                <a:effectLst/>
                <a:latin typeface="Times New Roman" panose="02020603050405020304" pitchFamily="18" charset="0"/>
                <a:ea typeface="Times New Roman"/>
                <a:cs typeface="Times New Roman" panose="02020603050405020304" pitchFamily="18" charset="0"/>
              </a:rPr>
              <a:t> diminuerait.</a:t>
            </a:r>
            <a:endParaRPr lang="fr-CA" sz="1400" dirty="0">
              <a:solidFill>
                <a:srgbClr val="000000"/>
              </a:solidFill>
              <a:effectLst/>
              <a:latin typeface="Times New Roman" panose="02020603050405020304" pitchFamily="18" charset="0"/>
              <a:ea typeface="Times New Roman"/>
              <a:cs typeface="Times New Roman" panose="02020603050405020304" pitchFamily="18" charset="0"/>
            </a:endParaRPr>
          </a:p>
          <a:p>
            <a:pPr marL="0" indent="3810">
              <a:spcBef>
                <a:spcPts val="300"/>
              </a:spcBef>
              <a:spcAft>
                <a:spcPts val="0"/>
              </a:spcAft>
            </a:pPr>
            <a:r>
              <a:rPr lang="fr-CA" sz="1400" baseline="0" dirty="0">
                <a:solidFill>
                  <a:srgbClr val="000000"/>
                </a:solidFill>
                <a:effectLst/>
                <a:latin typeface="Times New Roman" panose="02020603050405020304" pitchFamily="18" charset="0"/>
                <a:cs typeface="Times New Roman" panose="02020603050405020304" pitchFamily="18" charset="0"/>
              </a:rPr>
              <a:t>Cette</a:t>
            </a:r>
            <a:r>
              <a:rPr lang="fr-CA" baseline="0" dirty="0">
                <a:latin typeface="Times New Roman" panose="02020603050405020304" pitchFamily="18" charset="0"/>
                <a:cs typeface="Times New Roman" panose="02020603050405020304" pitchFamily="18" charset="0"/>
              </a:rPr>
              <a:t> conclusion importante: </a:t>
            </a:r>
            <a:r>
              <a:rPr lang="fr-CA" i="0" baseline="0" dirty="0">
                <a:latin typeface="Times New Roman" panose="02020603050405020304" pitchFamily="18" charset="0"/>
                <a:cs typeface="Times New Roman" panose="02020603050405020304" pitchFamily="18" charset="0"/>
              </a:rPr>
              <a:t>nous verrons dans la prochaine section que l’activité des nerfs dépend des gradients de concentration des ions Na</a:t>
            </a:r>
            <a:r>
              <a:rPr lang="fr-CA" i="0" baseline="30000" dirty="0">
                <a:latin typeface="Times New Roman" panose="02020603050405020304" pitchFamily="18" charset="0"/>
                <a:cs typeface="Times New Roman" panose="02020603050405020304" pitchFamily="18" charset="0"/>
              </a:rPr>
              <a:t>+</a:t>
            </a:r>
            <a:r>
              <a:rPr lang="fr-CA" i="0" baseline="0" dirty="0">
                <a:latin typeface="Times New Roman" panose="02020603050405020304" pitchFamily="18" charset="0"/>
                <a:cs typeface="Times New Roman" panose="02020603050405020304" pitchFamily="18" charset="0"/>
              </a:rPr>
              <a:t> et K</a:t>
            </a:r>
            <a:r>
              <a:rPr lang="fr-CA" i="0" baseline="30000" dirty="0">
                <a:latin typeface="Times New Roman" panose="02020603050405020304" pitchFamily="18" charset="0"/>
                <a:cs typeface="Times New Roman" panose="02020603050405020304" pitchFamily="18" charset="0"/>
              </a:rPr>
              <a:t>+</a:t>
            </a:r>
            <a:r>
              <a:rPr lang="fr-CA" i="0" baseline="0" dirty="0">
                <a:latin typeface="Times New Roman" panose="02020603050405020304" pitchFamily="18" charset="0"/>
                <a:cs typeface="Times New Roman" panose="02020603050405020304" pitchFamily="18" charset="0"/>
              </a:rPr>
              <a:t>. Une dissipation de ces gradients abolirait toute activité électrique et la cellule nerveuse (neurone) arrêterait de fonctionner.</a:t>
            </a:r>
          </a:p>
          <a:p>
            <a:pPr marL="228600" indent="-228600">
              <a:buAutoNum type="arabicParenR"/>
            </a:pPr>
            <a:endParaRPr lang="fr-CA" i="0" baseline="0" dirty="0">
              <a:latin typeface="Times New Roman" panose="02020603050405020304" pitchFamily="18" charset="0"/>
              <a:cs typeface="Times New Roman" panose="02020603050405020304" pitchFamily="18" charset="0"/>
            </a:endParaRPr>
          </a:p>
          <a:p>
            <a:pPr marL="0" indent="0">
              <a:buNone/>
            </a:pPr>
            <a:r>
              <a:rPr lang="fr-FR" sz="1200" dirty="0">
                <a:effectLst/>
                <a:latin typeface="Times New Roman" panose="02020603050405020304" pitchFamily="18" charset="0"/>
                <a:ea typeface="Cambria"/>
                <a:cs typeface="Times New Roman" panose="02020603050405020304" pitchFamily="18" charset="0"/>
              </a:rPr>
              <a:t>Encadré rouge :</a:t>
            </a:r>
          </a:p>
          <a:p>
            <a:pPr marL="0" indent="0">
              <a:buNone/>
            </a:pPr>
            <a:r>
              <a:rPr lang="fr-FR" sz="1200" dirty="0">
                <a:effectLst/>
                <a:latin typeface="Times New Roman" panose="02020603050405020304" pitchFamily="18" charset="0"/>
                <a:ea typeface="Cambria"/>
                <a:cs typeface="Times New Roman" panose="02020603050405020304" pitchFamily="18" charset="0"/>
              </a:rPr>
              <a:t>Une carence en ATP (suite à un manque d’oxygène) ou encore des toxines pourraient causer une inhibition de la pompe Na-K. Un manque d’oxygène (hypoxie) mène à une incapacité de produire de l’ATP. Sans ATP, les transporteurs actifs arrêtent de fonctionner. De plus, certaines toxines bloquent la pompe Na-K en s’y liant directement (ex.: la digitaline produite par une plante, la digitale). L’inhibition de la pompe Na-K est l’un des mécanismes principaux qui</a:t>
            </a:r>
            <a:r>
              <a:rPr lang="fr-FR" sz="1200" baseline="0" dirty="0">
                <a:effectLst/>
                <a:latin typeface="Times New Roman" panose="02020603050405020304" pitchFamily="18" charset="0"/>
                <a:ea typeface="Cambria"/>
                <a:cs typeface="Times New Roman" panose="02020603050405020304" pitchFamily="18" charset="0"/>
              </a:rPr>
              <a:t> provoquent</a:t>
            </a:r>
            <a:r>
              <a:rPr lang="fr-FR" sz="1200" dirty="0">
                <a:effectLst/>
                <a:latin typeface="Times New Roman" panose="02020603050405020304" pitchFamily="18" charset="0"/>
                <a:ea typeface="Cambria"/>
                <a:cs typeface="Times New Roman" panose="02020603050405020304" pitchFamily="18" charset="0"/>
              </a:rPr>
              <a:t> la mort suite à une suffocation ou à un accident vasculaire cérébral.</a:t>
            </a:r>
            <a:r>
              <a:rPr lang="fr-FR" sz="1200" baseline="0" dirty="0">
                <a:effectLst/>
                <a:latin typeface="Times New Roman" panose="02020603050405020304" pitchFamily="18" charset="0"/>
                <a:ea typeface="Cambria"/>
                <a:cs typeface="Times New Roman" panose="02020603050405020304" pitchFamily="18" charset="0"/>
              </a:rPr>
              <a:t> Sans oxygène, le système nerveux arrête de fonctionner parce que ses neurones ne peuvent pas générer d’activité électrique en l’absence des gradients de concentration Na</a:t>
            </a:r>
            <a:r>
              <a:rPr lang="fr-FR" sz="1200" baseline="30000" dirty="0">
                <a:effectLst/>
                <a:latin typeface="Times New Roman" panose="02020603050405020304" pitchFamily="18" charset="0"/>
                <a:ea typeface="Cambria"/>
                <a:cs typeface="Times New Roman" panose="02020603050405020304" pitchFamily="18" charset="0"/>
              </a:rPr>
              <a:t>+</a:t>
            </a:r>
            <a:r>
              <a:rPr lang="fr-FR" sz="1200" baseline="0" dirty="0">
                <a:effectLst/>
                <a:latin typeface="Times New Roman" panose="02020603050405020304" pitchFamily="18" charset="0"/>
                <a:ea typeface="Cambria"/>
                <a:cs typeface="Times New Roman" panose="02020603050405020304" pitchFamily="18" charset="0"/>
              </a:rPr>
              <a:t> et K</a:t>
            </a:r>
            <a:r>
              <a:rPr lang="fr-FR" sz="1200" baseline="30000" dirty="0">
                <a:effectLst/>
                <a:latin typeface="Times New Roman" panose="02020603050405020304" pitchFamily="18" charset="0"/>
                <a:ea typeface="Cambria"/>
                <a:cs typeface="Times New Roman" panose="02020603050405020304" pitchFamily="18" charset="0"/>
              </a:rPr>
              <a:t>+</a:t>
            </a:r>
            <a:r>
              <a:rPr lang="fr-FR" sz="1200" baseline="0" dirty="0">
                <a:effectLst/>
                <a:latin typeface="Times New Roman" panose="02020603050405020304" pitchFamily="18" charset="0"/>
                <a:ea typeface="Cambria"/>
                <a:cs typeface="Times New Roman" panose="02020603050405020304" pitchFamily="18" charset="0"/>
              </a:rPr>
              <a:t>.</a:t>
            </a:r>
            <a:endParaRPr lang="fr-CA" i="0" baseline="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pPr>
              <a:defRPr/>
            </a:pPr>
            <a:fld id="{07FBCF2F-6636-40C0-80F2-EE6D30514956}" type="slidenum">
              <a:rPr lang="fr-CA" smtClean="0"/>
              <a:pPr>
                <a:defRPr/>
              </a:pPr>
              <a:t>24</a:t>
            </a:fld>
            <a:endParaRPr lang="fr-CA"/>
          </a:p>
        </p:txBody>
      </p:sp>
    </p:spTree>
    <p:extLst>
      <p:ext uri="{BB962C8B-B14F-4D97-AF65-F5344CB8AC3E}">
        <p14:creationId xmlns:p14="http://schemas.microsoft.com/office/powerpoint/2010/main" val="20270744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07FBCF2F-6636-40C0-80F2-EE6D30514956}" type="slidenum">
              <a:rPr lang="fr-CA" smtClean="0"/>
              <a:pPr>
                <a:defRPr/>
              </a:pPr>
              <a:t>25</a:t>
            </a:fld>
            <a:endParaRPr lang="fr-CA"/>
          </a:p>
        </p:txBody>
      </p:sp>
    </p:spTree>
    <p:extLst>
      <p:ext uri="{BB962C8B-B14F-4D97-AF65-F5344CB8AC3E}">
        <p14:creationId xmlns:p14="http://schemas.microsoft.com/office/powerpoint/2010/main" val="347096256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914400" rtl="0" eaLnBrk="1" fontAlgn="base" latinLnBrk="0" hangingPunct="1">
              <a:lnSpc>
                <a:spcPct val="100000"/>
              </a:lnSpc>
              <a:spcBef>
                <a:spcPct val="30000"/>
              </a:spcBef>
              <a:spcAft>
                <a:spcPct val="0"/>
              </a:spcAft>
              <a:buClrTx/>
              <a:buSzTx/>
              <a:buFont typeface="Arial" panose="020B0604020202020204" pitchFamily="34" charset="0"/>
              <a:buNone/>
              <a:tabLst>
                <a:tab pos="139700" algn="l"/>
                <a:tab pos="457200" algn="l"/>
              </a:tabLst>
              <a:defRPr/>
            </a:pPr>
            <a:r>
              <a:rPr lang="fr-FR" sz="1400" dirty="0">
                <a:effectLst/>
                <a:latin typeface="Times New Roman" panose="02020603050405020304" pitchFamily="18" charset="0"/>
                <a:ea typeface="Cambria" panose="02040503050406030204" pitchFamily="18" charset="0"/>
                <a:cs typeface="Times New Roman" panose="02020603050405020304" pitchFamily="18" charset="0"/>
              </a:rPr>
              <a:t>Dans plusieurs types de cellules, (ex.: cellules musculaires), le calcium intracellulaire peut être maintenu à des concentrations très faibles (&lt; 0,1 </a:t>
            </a:r>
            <a:r>
              <a:rPr lang="el-GR" sz="1400" dirty="0">
                <a:effectLst/>
                <a:latin typeface="Times New Roman" panose="02020603050405020304" pitchFamily="18" charset="0"/>
                <a:ea typeface="Cambria" panose="02040503050406030204" pitchFamily="18" charset="0"/>
                <a:cs typeface="Times New Roman" panose="02020603050405020304" pitchFamily="18" charset="0"/>
              </a:rPr>
              <a:t>μ</a:t>
            </a:r>
            <a:r>
              <a:rPr lang="en-US" sz="1400" dirty="0">
                <a:effectLst/>
                <a:latin typeface="Times New Roman" panose="02020603050405020304" pitchFamily="18" charset="0"/>
                <a:ea typeface="Cambria" panose="02040503050406030204" pitchFamily="18" charset="0"/>
                <a:cs typeface="Times New Roman" panose="02020603050405020304" pitchFamily="18" charset="0"/>
              </a:rPr>
              <a:t>mole/L !)</a:t>
            </a:r>
            <a:r>
              <a:rPr lang="fr-FR" sz="1400" dirty="0">
                <a:effectLst/>
                <a:latin typeface="Times New Roman" panose="02020603050405020304" pitchFamily="18" charset="0"/>
                <a:ea typeface="Cambria" panose="02040503050406030204" pitchFamily="18" charset="0"/>
                <a:cs typeface="Times New Roman" panose="02020603050405020304" pitchFamily="18" charset="0"/>
              </a:rPr>
              <a:t> grâce à l’antiport Na-Ca. Cet antiport utilise ainsi l’énergie du gradient de concentration des ions Na</a:t>
            </a:r>
            <a:r>
              <a:rPr lang="fr-FR" sz="1400" baseline="30000" dirty="0">
                <a:effectLst/>
                <a:latin typeface="Times New Roman" panose="02020603050405020304" pitchFamily="18" charset="0"/>
                <a:ea typeface="Cambria" panose="02040503050406030204" pitchFamily="18" charset="0"/>
                <a:cs typeface="Times New Roman" panose="02020603050405020304" pitchFamily="18" charset="0"/>
              </a:rPr>
              <a:t>+</a:t>
            </a:r>
            <a:r>
              <a:rPr lang="fr-FR" sz="1400" dirty="0">
                <a:effectLst/>
                <a:latin typeface="Times New Roman" panose="02020603050405020304" pitchFamily="18" charset="0"/>
                <a:ea typeface="Cambria" panose="02040503050406030204" pitchFamily="18" charset="0"/>
                <a:cs typeface="Times New Roman" panose="02020603050405020304" pitchFamily="18" charset="0"/>
              </a:rPr>
              <a:t> pour expulser activement les ions Ca</a:t>
            </a:r>
            <a:r>
              <a:rPr lang="fr-FR" sz="1400" baseline="30000" dirty="0">
                <a:effectLst/>
                <a:latin typeface="Times New Roman" panose="02020603050405020304" pitchFamily="18" charset="0"/>
                <a:ea typeface="Cambria" panose="02040503050406030204" pitchFamily="18" charset="0"/>
                <a:cs typeface="Times New Roman" panose="02020603050405020304" pitchFamily="18" charset="0"/>
              </a:rPr>
              <a:t>2+</a:t>
            </a:r>
            <a:r>
              <a:rPr lang="fr-FR" sz="1400" dirty="0">
                <a:effectLst/>
                <a:latin typeface="Times New Roman" panose="02020603050405020304" pitchFamily="18" charset="0"/>
                <a:ea typeface="Cambria" panose="02040503050406030204" pitchFamily="18" charset="0"/>
                <a:cs typeface="Times New Roman" panose="02020603050405020304" pitchFamily="18" charset="0"/>
              </a:rPr>
              <a:t> à l’extérieur de la cellule. Une inhibition de la pompe Na-K causerait ultimement une inhibition de l’antiport Na-Ca à cause de la dissipation du gradient des ions Ca</a:t>
            </a:r>
            <a:r>
              <a:rPr lang="fr-FR" sz="1400" baseline="30000" dirty="0">
                <a:effectLst/>
                <a:latin typeface="Times New Roman" panose="02020603050405020304" pitchFamily="18" charset="0"/>
                <a:ea typeface="Cambria" panose="02040503050406030204" pitchFamily="18" charset="0"/>
                <a:cs typeface="Times New Roman" panose="02020603050405020304" pitchFamily="18" charset="0"/>
              </a:rPr>
              <a:t>2+</a:t>
            </a:r>
            <a:r>
              <a:rPr lang="fr-FR" sz="1400" dirty="0">
                <a:effectLst/>
                <a:latin typeface="Times New Roman" panose="02020603050405020304" pitchFamily="18" charset="0"/>
                <a:ea typeface="Cambria" panose="02040503050406030204" pitchFamily="18" charset="0"/>
                <a:cs typeface="Times New Roman" panose="02020603050405020304" pitchFamily="18" charset="0"/>
              </a:rPr>
              <a:t>. Cette inhibition de l’antiport entraînerait à son tour une augmentation du Ca</a:t>
            </a:r>
            <a:r>
              <a:rPr lang="fr-FR" sz="1400" baseline="30000" dirty="0">
                <a:effectLst/>
                <a:latin typeface="Times New Roman" panose="02020603050405020304" pitchFamily="18" charset="0"/>
                <a:ea typeface="Cambria" panose="02040503050406030204" pitchFamily="18" charset="0"/>
                <a:cs typeface="Times New Roman" panose="02020603050405020304" pitchFamily="18" charset="0"/>
              </a:rPr>
              <a:t>2+</a:t>
            </a:r>
            <a:r>
              <a:rPr lang="fr-FR" sz="1400" dirty="0">
                <a:effectLst/>
                <a:latin typeface="Times New Roman" panose="02020603050405020304" pitchFamily="18" charset="0"/>
                <a:ea typeface="Cambria" panose="02040503050406030204" pitchFamily="18" charset="0"/>
                <a:cs typeface="Times New Roman" panose="02020603050405020304" pitchFamily="18" charset="0"/>
              </a:rPr>
              <a:t> intracellulaire parce que l’entrée spontanée des ions Ca</a:t>
            </a:r>
            <a:r>
              <a:rPr lang="fr-FR" sz="1400" baseline="30000" dirty="0">
                <a:effectLst/>
                <a:latin typeface="Times New Roman" panose="02020603050405020304" pitchFamily="18" charset="0"/>
                <a:ea typeface="Cambria" panose="02040503050406030204" pitchFamily="18" charset="0"/>
                <a:cs typeface="Times New Roman" panose="02020603050405020304" pitchFamily="18" charset="0"/>
              </a:rPr>
              <a:t>2+</a:t>
            </a:r>
            <a:r>
              <a:rPr lang="fr-FR" sz="1400" baseline="0" dirty="0">
                <a:effectLst/>
                <a:latin typeface="Times New Roman" panose="02020603050405020304" pitchFamily="18" charset="0"/>
                <a:ea typeface="Cambria" panose="02040503050406030204" pitchFamily="18" charset="0"/>
                <a:cs typeface="Times New Roman" panose="02020603050405020304" pitchFamily="18" charset="0"/>
              </a:rPr>
              <a:t> par diffusion ne pourrait plus être contrecarrée.</a:t>
            </a:r>
          </a:p>
          <a:p>
            <a:pPr marL="0" marR="0" lvl="0" indent="0" algn="just" defTabSz="914400" rtl="0" eaLnBrk="1" fontAlgn="base" latinLnBrk="0" hangingPunct="1">
              <a:lnSpc>
                <a:spcPct val="100000"/>
              </a:lnSpc>
              <a:spcBef>
                <a:spcPct val="30000"/>
              </a:spcBef>
              <a:spcAft>
                <a:spcPct val="0"/>
              </a:spcAft>
              <a:buClrTx/>
              <a:buSzTx/>
              <a:buFont typeface="Arial" panose="020B0604020202020204" pitchFamily="34" charset="0"/>
              <a:buNone/>
              <a:tabLst>
                <a:tab pos="139700" algn="l"/>
                <a:tab pos="457200" algn="l"/>
              </a:tabLst>
              <a:defRPr/>
            </a:pPr>
            <a:endParaRPr lang="fr-FR" sz="1400" baseline="0" dirty="0">
              <a:effectLst/>
              <a:latin typeface="Times New Roman" panose="02020603050405020304" pitchFamily="18" charset="0"/>
              <a:ea typeface="Cambria" panose="02040503050406030204" pitchFamily="18" charset="0"/>
              <a:cs typeface="Times New Roman" panose="02020603050405020304" pitchFamily="18" charset="0"/>
            </a:endParaRPr>
          </a:p>
          <a:p>
            <a:pPr marL="0" marR="0" lvl="0" indent="0" algn="just" defTabSz="914400" rtl="0" eaLnBrk="1" fontAlgn="base" latinLnBrk="0" hangingPunct="1">
              <a:lnSpc>
                <a:spcPct val="100000"/>
              </a:lnSpc>
              <a:spcBef>
                <a:spcPct val="30000"/>
              </a:spcBef>
              <a:spcAft>
                <a:spcPct val="0"/>
              </a:spcAft>
              <a:buClrTx/>
              <a:buSzTx/>
              <a:buFont typeface="Arial" panose="020B0604020202020204" pitchFamily="34" charset="0"/>
              <a:buNone/>
              <a:tabLst>
                <a:tab pos="139700" algn="l"/>
                <a:tab pos="457200" algn="l"/>
              </a:tabLst>
              <a:defRPr/>
            </a:pPr>
            <a:r>
              <a:rPr lang="fr-FR" sz="1400" baseline="0" dirty="0">
                <a:effectLst/>
                <a:latin typeface="Times New Roman" panose="02020603050405020304" pitchFamily="18" charset="0"/>
                <a:ea typeface="Cambria" panose="02040503050406030204" pitchFamily="18" charset="0"/>
                <a:cs typeface="Times New Roman" panose="02020603050405020304" pitchFamily="18" charset="0"/>
              </a:rPr>
              <a:t>Encadré rouge :</a:t>
            </a:r>
            <a:endParaRPr lang="fr-FR" sz="1400" baseline="30000" dirty="0">
              <a:effectLst/>
              <a:latin typeface="Times New Roman" panose="02020603050405020304" pitchFamily="18" charset="0"/>
              <a:ea typeface="Cambria" panose="02040503050406030204" pitchFamily="18" charset="0"/>
              <a:cs typeface="Times New Roman" panose="02020603050405020304" pitchFamily="18" charset="0"/>
            </a:endParaRPr>
          </a:p>
          <a:p>
            <a:pPr marL="0" lvl="0" indent="0" algn="just">
              <a:buFont typeface="Arial" panose="020B0604020202020204" pitchFamily="34" charset="0"/>
              <a:buNone/>
              <a:tabLst>
                <a:tab pos="139700" algn="l"/>
                <a:tab pos="457200" algn="l"/>
              </a:tabLst>
            </a:pPr>
            <a:r>
              <a:rPr lang="fr-FR" sz="1400" dirty="0">
                <a:effectLst/>
                <a:latin typeface="Times New Roman" panose="02020603050405020304" pitchFamily="18" charset="0"/>
                <a:ea typeface="Cambria" panose="02040503050406030204" pitchFamily="18" charset="0"/>
                <a:cs typeface="Times New Roman" panose="02020603050405020304" pitchFamily="18" charset="0"/>
              </a:rPr>
              <a:t>Suite à une inhibition de la pompe Na-K, le pH intracellulaire diminuerait dans les cellules qui utilisent l’antiport Na-H. Tout comme pour l’antiport Na-Ca, l’antiport Na-H</a:t>
            </a:r>
            <a:r>
              <a:rPr lang="en-CA" sz="1400" dirty="0">
                <a:effectLst/>
                <a:latin typeface="Cambria" panose="02040503050406030204" pitchFamily="18" charset="0"/>
                <a:ea typeface="Cambria" panose="02040503050406030204" pitchFamily="18" charset="0"/>
                <a:cs typeface="Times New Roman" panose="02020603050405020304" pitchFamily="18" charset="0"/>
              </a:rPr>
              <a:t> </a:t>
            </a:r>
            <a:r>
              <a:rPr lang="fr-FR" sz="1400" dirty="0">
                <a:effectLst/>
                <a:latin typeface="Times New Roman" panose="02020603050405020304" pitchFamily="18" charset="0"/>
                <a:ea typeface="Cambria" panose="02040503050406030204" pitchFamily="18" charset="0"/>
                <a:cs typeface="Times New Roman" panose="02020603050405020304" pitchFamily="18" charset="0"/>
              </a:rPr>
              <a:t>serait inhibé suite à la perte du gradient Na</a:t>
            </a:r>
            <a:r>
              <a:rPr lang="fr-FR" sz="1400" baseline="30000" dirty="0">
                <a:effectLst/>
                <a:latin typeface="Times New Roman" panose="02020603050405020304" pitchFamily="18" charset="0"/>
                <a:ea typeface="Cambria" panose="02040503050406030204" pitchFamily="18" charset="0"/>
                <a:cs typeface="Times New Roman" panose="02020603050405020304" pitchFamily="18" charset="0"/>
              </a:rPr>
              <a:t>+</a:t>
            </a:r>
            <a:r>
              <a:rPr lang="fr-FR" sz="1400" dirty="0">
                <a:effectLst/>
                <a:latin typeface="Times New Roman" panose="02020603050405020304" pitchFamily="18" charset="0"/>
                <a:ea typeface="Cambria" panose="02040503050406030204" pitchFamily="18" charset="0"/>
                <a:cs typeface="Times New Roman" panose="02020603050405020304" pitchFamily="18" charset="0"/>
              </a:rPr>
              <a:t>. Dans ces conditions, les ions H</a:t>
            </a:r>
            <a:r>
              <a:rPr lang="fr-FR" sz="1400" baseline="30000" dirty="0">
                <a:effectLst/>
                <a:latin typeface="Times New Roman" panose="02020603050405020304" pitchFamily="18" charset="0"/>
                <a:ea typeface="Cambria" panose="02040503050406030204" pitchFamily="18" charset="0"/>
                <a:cs typeface="Times New Roman" panose="02020603050405020304" pitchFamily="18" charset="0"/>
              </a:rPr>
              <a:t>+</a:t>
            </a:r>
            <a:r>
              <a:rPr lang="fr-FR" sz="1400" dirty="0">
                <a:effectLst/>
                <a:latin typeface="Times New Roman" panose="02020603050405020304" pitchFamily="18" charset="0"/>
                <a:ea typeface="Cambria" panose="02040503050406030204" pitchFamily="18" charset="0"/>
                <a:cs typeface="Times New Roman" panose="02020603050405020304" pitchFamily="18" charset="0"/>
              </a:rPr>
              <a:t> ne pourraient plus être expulsés de la cellule, ce qui entraînerait leur accumulation intracellulaire et donc une diminution du pH.</a:t>
            </a:r>
            <a:endParaRPr lang="en-CA" sz="1400" dirty="0">
              <a:effectLst/>
              <a:latin typeface="Cambria" panose="02040503050406030204" pitchFamily="18" charset="0"/>
              <a:ea typeface="Cambria" panose="02040503050406030204" pitchFamily="18" charset="0"/>
              <a:cs typeface="Times New Roman" panose="02020603050405020304" pitchFamily="18" charset="0"/>
            </a:endParaRPr>
          </a:p>
          <a:p>
            <a:endParaRPr lang="en-US" sz="1400" dirty="0"/>
          </a:p>
        </p:txBody>
      </p:sp>
      <p:sp>
        <p:nvSpPr>
          <p:cNvPr id="4" name="Slide Number Placeholder 3"/>
          <p:cNvSpPr>
            <a:spLocks noGrp="1"/>
          </p:cNvSpPr>
          <p:nvPr>
            <p:ph type="sldNum" sz="quarter" idx="10"/>
          </p:nvPr>
        </p:nvSpPr>
        <p:spPr/>
        <p:txBody>
          <a:bodyPr/>
          <a:lstStyle/>
          <a:p>
            <a:pPr>
              <a:defRPr/>
            </a:pPr>
            <a:fld id="{07FBCF2F-6636-40C0-80F2-EE6D30514956}" type="slidenum">
              <a:rPr lang="fr-CA" smtClean="0"/>
              <a:pPr>
                <a:defRPr/>
              </a:pPr>
              <a:t>26</a:t>
            </a:fld>
            <a:endParaRPr lang="fr-CA"/>
          </a:p>
        </p:txBody>
      </p:sp>
    </p:spTree>
    <p:extLst>
      <p:ext uri="{BB962C8B-B14F-4D97-AF65-F5344CB8AC3E}">
        <p14:creationId xmlns:p14="http://schemas.microsoft.com/office/powerpoint/2010/main" val="5019803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07FBCF2F-6636-40C0-80F2-EE6D30514956}" type="slidenum">
              <a:rPr lang="fr-CA" smtClean="0"/>
              <a:pPr>
                <a:defRPr/>
              </a:pPr>
              <a:t>27</a:t>
            </a:fld>
            <a:endParaRPr lang="fr-CA"/>
          </a:p>
        </p:txBody>
      </p:sp>
    </p:spTree>
    <p:extLst>
      <p:ext uri="{BB962C8B-B14F-4D97-AF65-F5344CB8AC3E}">
        <p14:creationId xmlns:p14="http://schemas.microsoft.com/office/powerpoint/2010/main" val="37077006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4">
              <a:buSzPts val="1100"/>
              <a:buFont typeface="Arial" panose="020B0604020202020204" pitchFamily="34" charset="0"/>
              <a:buNone/>
            </a:pPr>
            <a:r>
              <a:rPr lang="fr-CA" sz="1200" b="1" i="1" dirty="0">
                <a:solidFill>
                  <a:srgbClr val="000000"/>
                </a:solidFill>
                <a:effectLst/>
                <a:latin typeface="Arial" panose="020B0604020202020204" pitchFamily="34" charset="0"/>
                <a:ea typeface="Times New Roman" panose="02020603050405020304" pitchFamily="18" charset="0"/>
              </a:rPr>
              <a:t>Exocytose </a:t>
            </a:r>
            <a:r>
              <a:rPr lang="fr-CA" sz="1200" b="1" dirty="0">
                <a:solidFill>
                  <a:srgbClr val="000000"/>
                </a:solidFill>
                <a:effectLst/>
                <a:latin typeface="Arial" panose="020B0604020202020204" pitchFamily="34" charset="0"/>
                <a:ea typeface="Times New Roman" panose="02020603050405020304" pitchFamily="18" charset="0"/>
              </a:rPr>
              <a:t>:</a:t>
            </a:r>
            <a:endParaRPr lang="en-CA" sz="1200" dirty="0">
              <a:solidFill>
                <a:srgbClr val="000000"/>
              </a:solidFill>
              <a:effectLst/>
              <a:latin typeface="Times New Roman" panose="02020603050405020304" pitchFamily="18" charset="0"/>
              <a:ea typeface="Times New Roman" panose="02020603050405020304" pitchFamily="18" charset="0"/>
            </a:endParaRPr>
          </a:p>
          <a:p>
            <a:pPr lvl="0">
              <a:spcBef>
                <a:spcPts val="300"/>
              </a:spcBef>
              <a:spcAft>
                <a:spcPts val="0"/>
              </a:spcAft>
              <a:buSzPts val="900"/>
            </a:pPr>
            <a:r>
              <a:rPr lang="fr-FR" sz="1100" dirty="0">
                <a:solidFill>
                  <a:srgbClr val="000000"/>
                </a:solidFill>
                <a:effectLst/>
                <a:latin typeface="Arial" panose="020B0604020202020204" pitchFamily="34" charset="0"/>
                <a:ea typeface="Times New Roman" panose="02020603050405020304" pitchFamily="18" charset="0"/>
              </a:rPr>
              <a:t>Mouvement de substances de l’intérieur de la cellule à l’espace extracellulaire.</a:t>
            </a:r>
            <a:endParaRPr lang="en-CA" sz="1200" dirty="0">
              <a:solidFill>
                <a:srgbClr val="000000"/>
              </a:solidFill>
              <a:effectLst/>
              <a:latin typeface="Times New Roman" panose="02020603050405020304" pitchFamily="18" charset="0"/>
              <a:ea typeface="Times New Roman" panose="02020603050405020304" pitchFamily="18" charset="0"/>
            </a:endParaRPr>
          </a:p>
          <a:p>
            <a:pPr marL="444500" lvl="1" indent="-261938">
              <a:buFont typeface="Symbol" panose="05050102010706020507" pitchFamily="18" charset="2"/>
              <a:buChar char=""/>
            </a:pPr>
            <a:r>
              <a:rPr lang="fr-FR" sz="1100" dirty="0">
                <a:solidFill>
                  <a:srgbClr val="000000"/>
                </a:solidFill>
                <a:effectLst/>
                <a:latin typeface="Arial" panose="020B0604020202020204" pitchFamily="34" charset="0"/>
                <a:ea typeface="Times New Roman" panose="02020603050405020304" pitchFamily="18" charset="0"/>
              </a:rPr>
              <a:t>La substance à être sécrétée est contenue dans une </a:t>
            </a:r>
            <a:r>
              <a:rPr lang="fr-FR" sz="1100" i="1" dirty="0">
                <a:solidFill>
                  <a:srgbClr val="000000"/>
                </a:solidFill>
                <a:effectLst/>
                <a:latin typeface="Arial" panose="020B0604020202020204" pitchFamily="34" charset="0"/>
                <a:ea typeface="Times New Roman" panose="02020603050405020304" pitchFamily="18" charset="0"/>
              </a:rPr>
              <a:t>vésicule de sécrétion</a:t>
            </a:r>
            <a:r>
              <a:rPr lang="fr-FR" sz="1100" dirty="0">
                <a:solidFill>
                  <a:srgbClr val="000000"/>
                </a:solidFill>
                <a:effectLst/>
                <a:latin typeface="Arial" panose="020B0604020202020204" pitchFamily="34" charset="0"/>
                <a:ea typeface="Times New Roman" panose="02020603050405020304" pitchFamily="18" charset="0"/>
              </a:rPr>
              <a:t>.</a:t>
            </a:r>
            <a:endParaRPr lang="en-CA" sz="1200" dirty="0">
              <a:solidFill>
                <a:srgbClr val="000000"/>
              </a:solidFill>
              <a:effectLst/>
              <a:latin typeface="Times New Roman" panose="02020603050405020304" pitchFamily="18" charset="0"/>
              <a:ea typeface="Times New Roman" panose="02020603050405020304" pitchFamily="18" charset="0"/>
            </a:endParaRPr>
          </a:p>
          <a:p>
            <a:pPr marL="444500" lvl="1" indent="-261938">
              <a:buFont typeface="Symbol" panose="05050102010706020507" pitchFamily="18" charset="2"/>
              <a:buChar char=""/>
            </a:pPr>
            <a:r>
              <a:rPr lang="fr-FR" sz="1100" dirty="0">
                <a:solidFill>
                  <a:srgbClr val="000000"/>
                </a:solidFill>
                <a:effectLst/>
                <a:latin typeface="Arial" panose="020B0604020202020204" pitchFamily="34" charset="0"/>
                <a:ea typeface="Times New Roman" panose="02020603050405020304" pitchFamily="18" charset="0"/>
              </a:rPr>
              <a:t>La vésicule migre vers la membrane plasmique.</a:t>
            </a:r>
            <a:endParaRPr lang="en-CA" sz="1200" dirty="0">
              <a:solidFill>
                <a:srgbClr val="000000"/>
              </a:solidFill>
              <a:effectLst/>
              <a:latin typeface="Times New Roman" panose="02020603050405020304" pitchFamily="18" charset="0"/>
              <a:ea typeface="Times New Roman" panose="02020603050405020304" pitchFamily="18" charset="0"/>
            </a:endParaRPr>
          </a:p>
          <a:p>
            <a:pPr marL="444500" lvl="1" indent="-261938">
              <a:buFont typeface="Symbol" panose="05050102010706020507" pitchFamily="18" charset="2"/>
              <a:buChar char=""/>
            </a:pPr>
            <a:r>
              <a:rPr lang="fr-FR" sz="1100" dirty="0">
                <a:solidFill>
                  <a:srgbClr val="000000"/>
                </a:solidFill>
                <a:effectLst/>
                <a:latin typeface="Arial" panose="020B0604020202020204" pitchFamily="34" charset="0"/>
                <a:ea typeface="Times New Roman" panose="02020603050405020304" pitchFamily="18" charset="0"/>
              </a:rPr>
              <a:t>Interaction entre des protéines membranaires de la vésicule (les </a:t>
            </a:r>
            <a:r>
              <a:rPr lang="fr-FR" sz="1100" b="1" dirty="0">
                <a:solidFill>
                  <a:srgbClr val="000000"/>
                </a:solidFill>
                <a:effectLst/>
                <a:latin typeface="Arial" panose="020B0604020202020204" pitchFamily="34" charset="0"/>
                <a:ea typeface="Times New Roman" panose="02020603050405020304" pitchFamily="18" charset="0"/>
              </a:rPr>
              <a:t>v-SNARE</a:t>
            </a:r>
            <a:r>
              <a:rPr lang="fr-FR" sz="1100" dirty="0">
                <a:solidFill>
                  <a:srgbClr val="000000"/>
                </a:solidFill>
                <a:effectLst/>
                <a:latin typeface="Arial" panose="020B0604020202020204" pitchFamily="34" charset="0"/>
                <a:ea typeface="Times New Roman" panose="02020603050405020304" pitchFamily="18" charset="0"/>
              </a:rPr>
              <a:t>) et des protéines de la membrane plasmique (</a:t>
            </a:r>
            <a:r>
              <a:rPr lang="fr-FR" sz="1100" b="1" dirty="0">
                <a:solidFill>
                  <a:srgbClr val="000000"/>
                </a:solidFill>
                <a:effectLst/>
                <a:latin typeface="Arial" panose="020B0604020202020204" pitchFamily="34" charset="0"/>
                <a:ea typeface="Times New Roman" panose="02020603050405020304" pitchFamily="18" charset="0"/>
              </a:rPr>
              <a:t>t-SNARE</a:t>
            </a:r>
            <a:r>
              <a:rPr lang="fr-FR" sz="1100" dirty="0">
                <a:solidFill>
                  <a:srgbClr val="000000"/>
                </a:solidFill>
                <a:effectLst/>
                <a:latin typeface="Arial" panose="020B0604020202020204" pitchFamily="34" charset="0"/>
                <a:ea typeface="Times New Roman" panose="02020603050405020304" pitchFamily="18" charset="0"/>
              </a:rPr>
              <a:t>).</a:t>
            </a:r>
            <a:endParaRPr lang="en-CA" sz="1200" dirty="0">
              <a:solidFill>
                <a:srgbClr val="000000"/>
              </a:solidFill>
              <a:effectLst/>
              <a:latin typeface="Times New Roman" panose="02020603050405020304" pitchFamily="18" charset="0"/>
              <a:ea typeface="Times New Roman" panose="02020603050405020304" pitchFamily="18" charset="0"/>
            </a:endParaRPr>
          </a:p>
          <a:p>
            <a:pPr marL="444500" lvl="1" indent="-261938">
              <a:buFont typeface="Symbol" panose="05050102010706020507" pitchFamily="18" charset="2"/>
              <a:buChar char=""/>
            </a:pPr>
            <a:r>
              <a:rPr lang="fr-FR" sz="1100" dirty="0">
                <a:solidFill>
                  <a:srgbClr val="000000"/>
                </a:solidFill>
                <a:effectLst/>
                <a:latin typeface="Arial" panose="020B0604020202020204" pitchFamily="34" charset="0"/>
                <a:ea typeface="Times New Roman" panose="02020603050405020304" pitchFamily="18" charset="0"/>
              </a:rPr>
              <a:t>Fusion de la vésicule avec la membrane plasmique.</a:t>
            </a:r>
            <a:endParaRPr lang="en-CA" sz="1200" dirty="0">
              <a:solidFill>
                <a:srgbClr val="000000"/>
              </a:solidFill>
              <a:effectLst/>
              <a:latin typeface="Times New Roman" panose="02020603050405020304" pitchFamily="18" charset="0"/>
              <a:ea typeface="Times New Roman" panose="02020603050405020304" pitchFamily="18" charset="0"/>
            </a:endParaRPr>
          </a:p>
          <a:p>
            <a:pPr marL="444500" lvl="1" indent="-261938">
              <a:buFont typeface="Symbol" panose="05050102010706020507" pitchFamily="18" charset="2"/>
              <a:buChar char=""/>
            </a:pPr>
            <a:r>
              <a:rPr lang="fr-FR" sz="1100" dirty="0">
                <a:solidFill>
                  <a:srgbClr val="000000"/>
                </a:solidFill>
                <a:effectLst/>
                <a:latin typeface="Arial" panose="020B0604020202020204" pitchFamily="34" charset="0"/>
                <a:ea typeface="Times New Roman" panose="02020603050405020304" pitchFamily="18" charset="0"/>
              </a:rPr>
              <a:t>Libération du contenu de la vésicule à l’extérieur de la cellule.</a:t>
            </a:r>
            <a:endParaRPr lang="en-CA" sz="1200" dirty="0">
              <a:solidFill>
                <a:srgbClr val="000000"/>
              </a:solidFill>
              <a:effectLst/>
              <a:latin typeface="Times New Roman" panose="02020603050405020304" pitchFamily="18" charset="0"/>
              <a:ea typeface="Times New Roman" panose="02020603050405020304" pitchFamily="18" charset="0"/>
            </a:endParaRPr>
          </a:p>
        </p:txBody>
      </p:sp>
      <p:sp>
        <p:nvSpPr>
          <p:cNvPr id="4" name="Slide Number Placeholder 3"/>
          <p:cNvSpPr>
            <a:spLocks noGrp="1"/>
          </p:cNvSpPr>
          <p:nvPr>
            <p:ph type="sldNum" sz="quarter" idx="10"/>
          </p:nvPr>
        </p:nvSpPr>
        <p:spPr/>
        <p:txBody>
          <a:bodyPr/>
          <a:lstStyle/>
          <a:p>
            <a:pPr>
              <a:defRPr/>
            </a:pPr>
            <a:fld id="{07FBCF2F-6636-40C0-80F2-EE6D30514956}" type="slidenum">
              <a:rPr lang="fr-CA" smtClean="0"/>
              <a:pPr>
                <a:defRPr/>
              </a:pPr>
              <a:t>28</a:t>
            </a:fld>
            <a:endParaRPr lang="fr-CA" dirty="0"/>
          </a:p>
        </p:txBody>
      </p:sp>
    </p:spTree>
    <p:extLst>
      <p:ext uri="{BB962C8B-B14F-4D97-AF65-F5344CB8AC3E}">
        <p14:creationId xmlns:p14="http://schemas.microsoft.com/office/powerpoint/2010/main" val="38614040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07FBCF2F-6636-40C0-80F2-EE6D30514956}" type="slidenum">
              <a:rPr lang="fr-CA" smtClean="0"/>
              <a:pPr>
                <a:defRPr/>
              </a:pPr>
              <a:t>29</a:t>
            </a:fld>
            <a:endParaRPr lang="fr-CA"/>
          </a:p>
        </p:txBody>
      </p:sp>
    </p:spTree>
    <p:extLst>
      <p:ext uri="{BB962C8B-B14F-4D97-AF65-F5344CB8AC3E}">
        <p14:creationId xmlns:p14="http://schemas.microsoft.com/office/powerpoint/2010/main" val="137843033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165464" y="4447359"/>
            <a:ext cx="7148043" cy="5262698"/>
          </a:xfrm>
        </p:spPr>
        <p:txBody>
          <a:bodyPr/>
          <a:lstStyle/>
          <a:p>
            <a:pPr marL="182563" lvl="1" indent="-182563">
              <a:spcBef>
                <a:spcPts val="600"/>
              </a:spcBef>
              <a:spcAft>
                <a:spcPts val="0"/>
              </a:spcAft>
              <a:buSzPts val="1000"/>
              <a:buFont typeface="Wingdings" panose="05000000000000000000" pitchFamily="2" charset="2"/>
              <a:buChar char=""/>
            </a:pPr>
            <a:r>
              <a:rPr lang="fr-CA" sz="1200" b="1" i="1" dirty="0">
                <a:solidFill>
                  <a:srgbClr val="000000"/>
                </a:solidFill>
                <a:effectLst/>
                <a:latin typeface="Arial" panose="020B0604020202020204" pitchFamily="34" charset="0"/>
                <a:ea typeface="Times New Roman" panose="02020603050405020304" pitchFamily="18" charset="0"/>
              </a:rPr>
              <a:t>Phagocytose</a:t>
            </a:r>
            <a:endParaRPr lang="en-CA" sz="1200" dirty="0">
              <a:solidFill>
                <a:srgbClr val="000000"/>
              </a:solidFill>
              <a:effectLst/>
              <a:latin typeface="Times New Roman" panose="02020603050405020304" pitchFamily="18" charset="0"/>
              <a:ea typeface="Times New Roman" panose="02020603050405020304" pitchFamily="18" charset="0"/>
            </a:endParaRPr>
          </a:p>
          <a:p>
            <a:pPr marL="87313">
              <a:spcBef>
                <a:spcPts val="0"/>
              </a:spcBef>
              <a:tabLst>
                <a:tab pos="800100" algn="l"/>
              </a:tabLst>
            </a:pPr>
            <a:r>
              <a:rPr lang="fr-FR" sz="1100" dirty="0">
                <a:solidFill>
                  <a:srgbClr val="000000"/>
                </a:solidFill>
                <a:effectLst/>
                <a:latin typeface="Arial" panose="020B0604020202020204" pitchFamily="34" charset="0"/>
                <a:ea typeface="Times New Roman" panose="02020603050405020304" pitchFamily="18" charset="0"/>
              </a:rPr>
              <a:t>(“</a:t>
            </a:r>
            <a:r>
              <a:rPr lang="fr-FR" sz="1100" i="1" dirty="0" err="1">
                <a:solidFill>
                  <a:srgbClr val="000000"/>
                </a:solidFill>
                <a:effectLst/>
                <a:latin typeface="Arial" panose="020B0604020202020204" pitchFamily="34" charset="0"/>
                <a:ea typeface="Times New Roman" panose="02020603050405020304" pitchFamily="18" charset="0"/>
              </a:rPr>
              <a:t>phagein</a:t>
            </a:r>
            <a:r>
              <a:rPr lang="fr-FR" sz="1100" dirty="0">
                <a:solidFill>
                  <a:srgbClr val="000000"/>
                </a:solidFill>
                <a:effectLst/>
                <a:latin typeface="Arial" panose="020B0604020202020204" pitchFamily="34" charset="0"/>
                <a:ea typeface="Times New Roman" panose="02020603050405020304" pitchFamily="18" charset="0"/>
              </a:rPr>
              <a:t>” = manger) ; la cellule engloutit de grosses particules solides, telles des  bactéries, des virus ou des cellules usées.</a:t>
            </a:r>
            <a:endParaRPr lang="en-CA" sz="1200" dirty="0">
              <a:solidFill>
                <a:srgbClr val="000000"/>
              </a:solidFill>
              <a:effectLst/>
              <a:latin typeface="Times New Roman" panose="02020603050405020304" pitchFamily="18" charset="0"/>
              <a:ea typeface="Times New Roman" panose="02020603050405020304" pitchFamily="18" charset="0"/>
            </a:endParaRPr>
          </a:p>
          <a:p>
            <a:pPr marL="269875" lvl="1" indent="-182563">
              <a:spcBef>
                <a:spcPts val="0"/>
              </a:spcBef>
              <a:buFont typeface="Symbol" panose="05050102010706020507" pitchFamily="18" charset="2"/>
              <a:buChar char=""/>
              <a:tabLst>
                <a:tab pos="800100" algn="l"/>
              </a:tabLst>
            </a:pPr>
            <a:r>
              <a:rPr lang="fr-FR" sz="1100" dirty="0">
                <a:solidFill>
                  <a:srgbClr val="000000"/>
                </a:solidFill>
                <a:effectLst/>
                <a:latin typeface="Arial" panose="020B0604020202020204" pitchFamily="34" charset="0"/>
                <a:ea typeface="Times New Roman" panose="02020603050405020304" pitchFamily="18" charset="0"/>
              </a:rPr>
              <a:t>Débute lorsque la particule se lie à un récepteur situé sur la membrane plasmique.</a:t>
            </a:r>
            <a:endParaRPr lang="en-CA" sz="1200" dirty="0">
              <a:solidFill>
                <a:srgbClr val="000000"/>
              </a:solidFill>
              <a:effectLst/>
              <a:latin typeface="Times New Roman" panose="02020603050405020304" pitchFamily="18" charset="0"/>
              <a:ea typeface="Times New Roman" panose="02020603050405020304" pitchFamily="18" charset="0"/>
            </a:endParaRPr>
          </a:p>
          <a:p>
            <a:pPr marL="269875" lvl="1" indent="-182563">
              <a:spcBef>
                <a:spcPts val="0"/>
              </a:spcBef>
              <a:buFont typeface="Symbol" panose="05050102010706020507" pitchFamily="18" charset="2"/>
              <a:buChar char=""/>
              <a:tabLst>
                <a:tab pos="800100" algn="l"/>
              </a:tabLst>
            </a:pPr>
            <a:r>
              <a:rPr lang="fr-FR" sz="1100" dirty="0">
                <a:solidFill>
                  <a:srgbClr val="000000"/>
                </a:solidFill>
                <a:effectLst/>
                <a:latin typeface="Arial" panose="020B0604020202020204" pitchFamily="34" charset="0"/>
                <a:ea typeface="Times New Roman" panose="02020603050405020304" pitchFamily="18" charset="0"/>
              </a:rPr>
              <a:t>Ceci amène la cellule à projeter des </a:t>
            </a:r>
            <a:r>
              <a:rPr lang="fr-FR" sz="1100" i="1" dirty="0">
                <a:solidFill>
                  <a:srgbClr val="000000"/>
                </a:solidFill>
                <a:effectLst/>
                <a:latin typeface="Arial" panose="020B0604020202020204" pitchFamily="34" charset="0"/>
                <a:ea typeface="Times New Roman" panose="02020603050405020304" pitchFamily="18" charset="0"/>
              </a:rPr>
              <a:t>pseudopodes</a:t>
            </a:r>
            <a:r>
              <a:rPr lang="fr-FR" sz="1100" dirty="0">
                <a:solidFill>
                  <a:srgbClr val="000000"/>
                </a:solidFill>
                <a:effectLst/>
                <a:latin typeface="Arial" panose="020B0604020202020204" pitchFamily="34" charset="0"/>
                <a:ea typeface="Times New Roman" panose="02020603050405020304" pitchFamily="18" charset="0"/>
              </a:rPr>
              <a:t> qui entourent la particule puis l’engloutissent.</a:t>
            </a:r>
            <a:endParaRPr lang="en-CA" sz="1200" dirty="0">
              <a:solidFill>
                <a:srgbClr val="000000"/>
              </a:solidFill>
              <a:effectLst/>
              <a:latin typeface="Times New Roman" panose="02020603050405020304" pitchFamily="18" charset="0"/>
              <a:ea typeface="Times New Roman" panose="02020603050405020304" pitchFamily="18" charset="0"/>
            </a:endParaRPr>
          </a:p>
          <a:p>
            <a:pPr marL="269875" lvl="1" indent="-182563">
              <a:spcBef>
                <a:spcPts val="0"/>
              </a:spcBef>
              <a:buFont typeface="Symbol" panose="05050102010706020507" pitchFamily="18" charset="2"/>
              <a:buChar char=""/>
              <a:tabLst>
                <a:tab pos="800100" algn="l"/>
              </a:tabLst>
            </a:pPr>
            <a:r>
              <a:rPr lang="fr-FR" sz="1100" dirty="0">
                <a:solidFill>
                  <a:srgbClr val="000000"/>
                </a:solidFill>
                <a:effectLst/>
                <a:latin typeface="Arial" panose="020B0604020202020204" pitchFamily="34" charset="0"/>
                <a:ea typeface="Times New Roman" panose="02020603050405020304" pitchFamily="18" charset="0"/>
              </a:rPr>
              <a:t>La vésicule ainsi formée est appelée </a:t>
            </a:r>
            <a:r>
              <a:rPr lang="fr-FR" sz="1100" i="1" dirty="0">
                <a:solidFill>
                  <a:srgbClr val="000000"/>
                </a:solidFill>
                <a:effectLst/>
                <a:latin typeface="Arial" panose="020B0604020202020204" pitchFamily="34" charset="0"/>
                <a:ea typeface="Times New Roman" panose="02020603050405020304" pitchFamily="18" charset="0"/>
              </a:rPr>
              <a:t>phagosome</a:t>
            </a:r>
            <a:r>
              <a:rPr lang="fr-FR" sz="1100" dirty="0">
                <a:solidFill>
                  <a:srgbClr val="000000"/>
                </a:solidFill>
                <a:effectLst/>
                <a:latin typeface="Arial" panose="020B0604020202020204" pitchFamily="34" charset="0"/>
                <a:ea typeface="Times New Roman" panose="02020603050405020304" pitchFamily="18" charset="0"/>
              </a:rPr>
              <a:t>.</a:t>
            </a:r>
            <a:endParaRPr lang="en-CA" sz="1200" dirty="0">
              <a:solidFill>
                <a:srgbClr val="000000"/>
              </a:solidFill>
              <a:effectLst/>
              <a:latin typeface="Times New Roman" panose="02020603050405020304" pitchFamily="18" charset="0"/>
              <a:ea typeface="Times New Roman" panose="02020603050405020304" pitchFamily="18" charset="0"/>
            </a:endParaRPr>
          </a:p>
          <a:p>
            <a:pPr marL="269875" lvl="1" indent="-182563">
              <a:spcBef>
                <a:spcPts val="0"/>
              </a:spcBef>
              <a:buFont typeface="Symbol" panose="05050102010706020507" pitchFamily="18" charset="2"/>
              <a:buChar char=""/>
              <a:tabLst>
                <a:tab pos="800100" algn="l"/>
              </a:tabLst>
            </a:pPr>
            <a:r>
              <a:rPr lang="fr-FR" sz="1100" dirty="0">
                <a:solidFill>
                  <a:srgbClr val="000000"/>
                </a:solidFill>
                <a:effectLst/>
                <a:latin typeface="Arial" panose="020B0604020202020204" pitchFamily="34" charset="0"/>
                <a:ea typeface="Times New Roman" panose="02020603050405020304" pitchFamily="18" charset="0"/>
              </a:rPr>
              <a:t>Le phagosome s’unit à son tour avec un ou plusieurs lysosomes et son contenu est dégradé.</a:t>
            </a:r>
            <a:endParaRPr lang="en-CA" sz="1200" dirty="0">
              <a:solidFill>
                <a:srgbClr val="000000"/>
              </a:solidFill>
              <a:effectLst/>
              <a:latin typeface="Times New Roman" panose="02020603050405020304" pitchFamily="18" charset="0"/>
              <a:ea typeface="Times New Roman" panose="02020603050405020304" pitchFamily="18" charset="0"/>
            </a:endParaRPr>
          </a:p>
          <a:p>
            <a:pPr marL="87313">
              <a:spcBef>
                <a:spcPts val="300"/>
              </a:spcBef>
              <a:spcAft>
                <a:spcPts val="0"/>
              </a:spcAft>
              <a:tabLst>
                <a:tab pos="800100" algn="l"/>
              </a:tabLst>
            </a:pPr>
            <a:r>
              <a:rPr lang="fr-FR" sz="1100" dirty="0">
                <a:solidFill>
                  <a:srgbClr val="000000"/>
                </a:solidFill>
                <a:effectLst/>
                <a:latin typeface="Arial" panose="020B0604020202020204" pitchFamily="34" charset="0"/>
                <a:ea typeface="Times New Roman" panose="02020603050405020304" pitchFamily="18" charset="0"/>
              </a:rPr>
              <a:t>La phagocytose est une activité des macrophagocytes et de certains globules blancs. Elle constitue un mécanisme de défense essentiel.</a:t>
            </a:r>
            <a:endParaRPr lang="en-CA" sz="1200" dirty="0">
              <a:solidFill>
                <a:srgbClr val="000000"/>
              </a:solidFill>
              <a:effectLst/>
              <a:latin typeface="Times New Roman" panose="02020603050405020304" pitchFamily="18" charset="0"/>
              <a:ea typeface="Times New Roman" panose="02020603050405020304" pitchFamily="18" charset="0"/>
            </a:endParaRPr>
          </a:p>
          <a:p>
            <a:pPr marL="182563" lvl="0" indent="-182563">
              <a:spcBef>
                <a:spcPts val="600"/>
              </a:spcBef>
              <a:spcAft>
                <a:spcPts val="0"/>
              </a:spcAft>
              <a:buSzPts val="1000"/>
              <a:buFont typeface="Wingdings" panose="05000000000000000000" pitchFamily="2" charset="2"/>
              <a:buChar char=""/>
              <a:tabLst>
                <a:tab pos="1530350" algn="l"/>
              </a:tabLst>
            </a:pPr>
            <a:r>
              <a:rPr lang="fr-CA" sz="1200" b="1" i="1" dirty="0">
                <a:solidFill>
                  <a:srgbClr val="000000"/>
                </a:solidFill>
                <a:effectLst/>
                <a:latin typeface="Arial" panose="020B0604020202020204" pitchFamily="34" charset="0"/>
                <a:ea typeface="Times New Roman" panose="02020603050405020304" pitchFamily="18" charset="0"/>
              </a:rPr>
              <a:t>Pinocytose</a:t>
            </a:r>
            <a:endParaRPr lang="en-CA" sz="1200" dirty="0">
              <a:solidFill>
                <a:srgbClr val="000000"/>
              </a:solidFill>
              <a:effectLst/>
              <a:latin typeface="Times New Roman" panose="02020603050405020304" pitchFamily="18" charset="0"/>
              <a:ea typeface="Times New Roman" panose="02020603050405020304" pitchFamily="18" charset="0"/>
            </a:endParaRPr>
          </a:p>
          <a:p>
            <a:pPr marL="87313">
              <a:spcBef>
                <a:spcPts val="0"/>
              </a:spcBef>
              <a:tabLst>
                <a:tab pos="1710690" algn="l"/>
              </a:tabLst>
            </a:pPr>
            <a:r>
              <a:rPr lang="fr-CA" sz="1100" dirty="0">
                <a:solidFill>
                  <a:srgbClr val="000000"/>
                </a:solidFill>
                <a:effectLst/>
                <a:latin typeface="Arial" panose="020B0604020202020204" pitchFamily="34" charset="0"/>
                <a:ea typeface="Times New Roman" panose="02020603050405020304" pitchFamily="18" charset="0"/>
              </a:rPr>
              <a:t>(“</a:t>
            </a:r>
            <a:r>
              <a:rPr lang="fr-CA" sz="1100" i="1" dirty="0" err="1">
                <a:solidFill>
                  <a:srgbClr val="000000"/>
                </a:solidFill>
                <a:effectLst/>
                <a:latin typeface="Arial" panose="020B0604020202020204" pitchFamily="34" charset="0"/>
                <a:ea typeface="Times New Roman" panose="02020603050405020304" pitchFamily="18" charset="0"/>
              </a:rPr>
              <a:t>pinein</a:t>
            </a:r>
            <a:r>
              <a:rPr lang="fr-CA" sz="1100" dirty="0">
                <a:solidFill>
                  <a:srgbClr val="000000"/>
                </a:solidFill>
                <a:effectLst/>
                <a:latin typeface="Arial" panose="020B0604020202020204" pitchFamily="34" charset="0"/>
                <a:ea typeface="Times New Roman" panose="02020603050405020304" pitchFamily="18" charset="0"/>
              </a:rPr>
              <a:t>” = boire); la cellule absorbe de minuscules gouttelettes de liquide extracellulaire; produit une absorption non sélective de solutés extra­cellu­laires.</a:t>
            </a:r>
            <a:endParaRPr lang="en-CA" sz="1200" dirty="0">
              <a:solidFill>
                <a:srgbClr val="000000"/>
              </a:solidFill>
              <a:effectLst/>
              <a:latin typeface="Times New Roman" panose="02020603050405020304" pitchFamily="18" charset="0"/>
              <a:ea typeface="Times New Roman" panose="02020603050405020304" pitchFamily="18" charset="0"/>
            </a:endParaRPr>
          </a:p>
          <a:p>
            <a:pPr marL="269875" lvl="1" indent="-182563">
              <a:spcBef>
                <a:spcPts val="0"/>
              </a:spcBef>
              <a:buFont typeface="Symbol" panose="05050102010706020507" pitchFamily="18" charset="2"/>
              <a:buChar char=""/>
            </a:pPr>
            <a:r>
              <a:rPr lang="fr-FR" sz="1100" dirty="0">
                <a:solidFill>
                  <a:srgbClr val="000000"/>
                </a:solidFill>
                <a:effectLst/>
                <a:latin typeface="Arial" panose="020B0604020202020204" pitchFamily="34" charset="0"/>
                <a:ea typeface="Times New Roman" panose="02020603050405020304" pitchFamily="18" charset="0"/>
              </a:rPr>
              <a:t>La membrane plasmique se replie vers l’intérieur et constitue une vésicule contenant une gouttelette de liquide extracellulaire.</a:t>
            </a:r>
            <a:endParaRPr lang="en-CA" sz="1200" dirty="0">
              <a:solidFill>
                <a:srgbClr val="000000"/>
              </a:solidFill>
              <a:effectLst/>
              <a:latin typeface="Times New Roman" panose="02020603050405020304" pitchFamily="18" charset="0"/>
              <a:ea typeface="Times New Roman" panose="02020603050405020304" pitchFamily="18" charset="0"/>
            </a:endParaRPr>
          </a:p>
          <a:p>
            <a:pPr marL="269875" lvl="1" indent="-182563">
              <a:spcBef>
                <a:spcPts val="0"/>
              </a:spcBef>
              <a:buFont typeface="Symbol" panose="05050102010706020507" pitchFamily="18" charset="2"/>
              <a:buChar char=""/>
            </a:pPr>
            <a:r>
              <a:rPr lang="fr-FR" sz="1100" dirty="0">
                <a:solidFill>
                  <a:srgbClr val="000000"/>
                </a:solidFill>
                <a:effectLst/>
                <a:latin typeface="Arial" panose="020B0604020202020204" pitchFamily="34" charset="0"/>
                <a:ea typeface="Times New Roman" panose="02020603050405020304" pitchFamily="18" charset="0"/>
              </a:rPr>
              <a:t>Les solutés dans les vésicules sont typiquement dégradés par des lysosomes.</a:t>
            </a:r>
            <a:endParaRPr lang="en-CA" sz="1200" dirty="0">
              <a:solidFill>
                <a:srgbClr val="000000"/>
              </a:solidFill>
              <a:effectLst/>
              <a:latin typeface="Times New Roman" panose="02020603050405020304" pitchFamily="18" charset="0"/>
              <a:ea typeface="Times New Roman" panose="02020603050405020304" pitchFamily="18" charset="0"/>
            </a:endParaRPr>
          </a:p>
          <a:p>
            <a:pPr marL="87313">
              <a:spcBef>
                <a:spcPts val="300"/>
              </a:spcBef>
              <a:spcAft>
                <a:spcPts val="0"/>
              </a:spcAft>
            </a:pPr>
            <a:r>
              <a:rPr lang="fr-FR" sz="1100" dirty="0">
                <a:solidFill>
                  <a:srgbClr val="000000"/>
                </a:solidFill>
                <a:effectLst/>
                <a:latin typeface="Arial" panose="020B0604020202020204" pitchFamily="34" charset="0"/>
                <a:ea typeface="Times New Roman" panose="02020603050405020304" pitchFamily="18" charset="0"/>
              </a:rPr>
              <a:t>La pinocytose est accomplie par la plupart des cellules; très active dans les cellules épithéliales qui permettent l’absorption dans l’intestin et les reins.</a:t>
            </a:r>
            <a:endParaRPr lang="en-CA" sz="1200" dirty="0">
              <a:solidFill>
                <a:srgbClr val="000000"/>
              </a:solidFill>
              <a:effectLst/>
              <a:latin typeface="Times New Roman" panose="02020603050405020304" pitchFamily="18" charset="0"/>
              <a:ea typeface="Times New Roman" panose="02020603050405020304" pitchFamily="18" charset="0"/>
            </a:endParaRPr>
          </a:p>
          <a:p>
            <a:pPr marL="182563" lvl="0" indent="-182563">
              <a:spcBef>
                <a:spcPts val="600"/>
              </a:spcBef>
              <a:spcAft>
                <a:spcPts val="0"/>
              </a:spcAft>
              <a:buSzPts val="1000"/>
              <a:buFont typeface="Wingdings" panose="05000000000000000000" pitchFamily="2" charset="2"/>
              <a:buChar char=""/>
              <a:tabLst>
                <a:tab pos="1530350" algn="l"/>
              </a:tabLst>
            </a:pPr>
            <a:r>
              <a:rPr lang="fr-FR" sz="1200" b="1" i="1" dirty="0">
                <a:solidFill>
                  <a:srgbClr val="000000"/>
                </a:solidFill>
                <a:effectLst/>
                <a:latin typeface="Arial" panose="020B0604020202020204" pitchFamily="34" charset="0"/>
                <a:ea typeface="Times New Roman" panose="02020603050405020304" pitchFamily="18" charset="0"/>
              </a:rPr>
              <a:t>Endocytose par récepteurs interposés</a:t>
            </a:r>
            <a:endParaRPr lang="en-CA" sz="1200" dirty="0">
              <a:solidFill>
                <a:srgbClr val="000000"/>
              </a:solidFill>
              <a:effectLst/>
              <a:latin typeface="Times New Roman" panose="02020603050405020304" pitchFamily="18" charset="0"/>
              <a:ea typeface="Times New Roman" panose="02020603050405020304" pitchFamily="18" charset="0"/>
            </a:endParaRPr>
          </a:p>
          <a:p>
            <a:pPr marL="182563">
              <a:spcBef>
                <a:spcPts val="0"/>
              </a:spcBef>
            </a:pPr>
            <a:r>
              <a:rPr lang="fr-FR" sz="1100" dirty="0">
                <a:solidFill>
                  <a:srgbClr val="000000"/>
                </a:solidFill>
                <a:effectLst/>
                <a:latin typeface="Arial" panose="020B0604020202020204" pitchFamily="34" charset="0"/>
                <a:ea typeface="Times New Roman" panose="02020603050405020304" pitchFamily="18" charset="0"/>
              </a:rPr>
              <a:t>Semblable à la pinocytose, mais hautement </a:t>
            </a:r>
            <a:r>
              <a:rPr lang="fr-FR" sz="1100" u="sng" dirty="0">
                <a:solidFill>
                  <a:srgbClr val="000000"/>
                </a:solidFill>
                <a:effectLst/>
                <a:latin typeface="Arial" panose="020B0604020202020204" pitchFamily="34" charset="0"/>
                <a:ea typeface="Times New Roman" panose="02020603050405020304" pitchFamily="18" charset="0"/>
              </a:rPr>
              <a:t>sélectif</a:t>
            </a:r>
            <a:r>
              <a:rPr lang="fr-FR" sz="1100" dirty="0">
                <a:solidFill>
                  <a:srgbClr val="000000"/>
                </a:solidFill>
                <a:effectLst/>
                <a:latin typeface="Arial" panose="020B0604020202020204" pitchFamily="34" charset="0"/>
                <a:ea typeface="Times New Roman" panose="02020603050405020304" pitchFamily="18" charset="0"/>
              </a:rPr>
              <a:t>; permet aux cellules d’absorber des molécules spécifiques; par ex.: hormones, lipoprotéines, la plupart des macromolécules.</a:t>
            </a:r>
            <a:endParaRPr lang="en-CA" sz="1200" dirty="0">
              <a:solidFill>
                <a:srgbClr val="000000"/>
              </a:solidFill>
              <a:effectLst/>
              <a:latin typeface="Times New Roman" panose="02020603050405020304" pitchFamily="18" charset="0"/>
              <a:ea typeface="Times New Roman" panose="02020603050405020304" pitchFamily="18" charset="0"/>
            </a:endParaRPr>
          </a:p>
          <a:p>
            <a:pPr marL="269875" lvl="1" indent="-182563">
              <a:spcBef>
                <a:spcPts val="0"/>
              </a:spcBef>
              <a:buFont typeface="Symbol" panose="05050102010706020507" pitchFamily="18" charset="2"/>
              <a:buChar char=""/>
            </a:pPr>
            <a:r>
              <a:rPr lang="fr-FR" sz="1100" dirty="0">
                <a:solidFill>
                  <a:srgbClr val="000000"/>
                </a:solidFill>
                <a:effectLst/>
                <a:latin typeface="Arial" panose="020B0604020202020204" pitchFamily="34" charset="0"/>
                <a:ea typeface="Times New Roman" panose="02020603050405020304" pitchFamily="18" charset="0"/>
              </a:rPr>
              <a:t>La formation des puits tapissés de clathrine est initiée seulement lorsque des molécules du liquide extracellulaire se lient à des récepteurs de la membrane plasmique.</a:t>
            </a:r>
            <a:endParaRPr lang="en-CA" sz="1200" dirty="0">
              <a:solidFill>
                <a:srgbClr val="000000"/>
              </a:solidFill>
              <a:effectLst/>
              <a:latin typeface="Times New Roman" panose="02020603050405020304" pitchFamily="18" charset="0"/>
              <a:ea typeface="Times New Roman" panose="02020603050405020304" pitchFamily="18" charset="0"/>
            </a:endParaRPr>
          </a:p>
          <a:p>
            <a:pPr marL="269875" lvl="1" indent="-182563">
              <a:spcBef>
                <a:spcPts val="0"/>
              </a:spcBef>
              <a:buFont typeface="Symbol" panose="05050102010706020507" pitchFamily="18" charset="2"/>
              <a:buChar char=""/>
            </a:pPr>
            <a:r>
              <a:rPr lang="fr-FR" sz="1100" dirty="0">
                <a:solidFill>
                  <a:srgbClr val="000000"/>
                </a:solidFill>
                <a:effectLst/>
                <a:latin typeface="Arial" panose="020B0604020202020204" pitchFamily="34" charset="0"/>
                <a:ea typeface="Times New Roman" panose="02020603050405020304" pitchFamily="18" charset="0"/>
              </a:rPr>
              <a:t>Les molécules et leurs récepteurs sont alors internalisés dans des vésicules.</a:t>
            </a:r>
            <a:endParaRPr lang="en-CA" sz="1200" dirty="0">
              <a:solidFill>
                <a:srgbClr val="000000"/>
              </a:solidFill>
              <a:effectLst/>
              <a:latin typeface="Times New Roman" panose="02020603050405020304" pitchFamily="18" charset="0"/>
              <a:ea typeface="Times New Roman" panose="02020603050405020304" pitchFamily="18" charset="0"/>
            </a:endParaRPr>
          </a:p>
          <a:p>
            <a:pPr marL="269875" lvl="1" indent="-182563">
              <a:spcBef>
                <a:spcPts val="0"/>
              </a:spcBef>
              <a:buFont typeface="Symbol" panose="05050102010706020507" pitchFamily="18" charset="2"/>
              <a:buChar char=""/>
            </a:pPr>
            <a:r>
              <a:rPr lang="fr-FR" sz="1100" dirty="0">
                <a:solidFill>
                  <a:srgbClr val="000000"/>
                </a:solidFill>
                <a:effectLst/>
                <a:latin typeface="Arial" panose="020B0604020202020204" pitchFamily="34" charset="0"/>
                <a:ea typeface="Times New Roman" panose="02020603050405020304" pitchFamily="18" charset="0"/>
              </a:rPr>
              <a:t>Les molécules ainsi absorbées sont généralement traitées par l’entremise de lysosomes puis libérées dans le cytosol. Les récepteurs retournent sur la membrane plasmique par l’entremise des vésicules vidées de leur contenu.</a:t>
            </a:r>
            <a:endParaRPr lang="en-CA" sz="1200" dirty="0">
              <a:solidFill>
                <a:srgbClr val="000000"/>
              </a:solidFill>
              <a:effectLst/>
              <a:latin typeface="Times New Roman" panose="02020603050405020304" pitchFamily="18" charset="0"/>
              <a:ea typeface="Times New Roman" panose="02020603050405020304" pitchFamily="18" charset="0"/>
            </a:endParaRPr>
          </a:p>
          <a:p>
            <a:endParaRPr lang="en-US" dirty="0"/>
          </a:p>
        </p:txBody>
      </p:sp>
      <p:sp>
        <p:nvSpPr>
          <p:cNvPr id="4" name="Slide Number Placeholder 3"/>
          <p:cNvSpPr>
            <a:spLocks noGrp="1"/>
          </p:cNvSpPr>
          <p:nvPr>
            <p:ph type="sldNum" sz="quarter" idx="10"/>
          </p:nvPr>
        </p:nvSpPr>
        <p:spPr/>
        <p:txBody>
          <a:bodyPr/>
          <a:lstStyle/>
          <a:p>
            <a:pPr>
              <a:defRPr/>
            </a:pPr>
            <a:fld id="{07FBCF2F-6636-40C0-80F2-EE6D30514956}" type="slidenum">
              <a:rPr lang="fr-CA" smtClean="0"/>
              <a:pPr>
                <a:defRPr/>
              </a:pPr>
              <a:t>30</a:t>
            </a:fld>
            <a:endParaRPr lang="fr-CA"/>
          </a:p>
        </p:txBody>
      </p:sp>
    </p:spTree>
    <p:extLst>
      <p:ext uri="{BB962C8B-B14F-4D97-AF65-F5344CB8AC3E}">
        <p14:creationId xmlns:p14="http://schemas.microsoft.com/office/powerpoint/2010/main" val="364199884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07FBCF2F-6636-40C0-80F2-EE6D30514956}" type="slidenum">
              <a:rPr lang="fr-CA" smtClean="0"/>
              <a:pPr>
                <a:defRPr/>
              </a:pPr>
              <a:t>31</a:t>
            </a:fld>
            <a:endParaRPr lang="fr-CA"/>
          </a:p>
        </p:txBody>
      </p:sp>
    </p:spTree>
    <p:extLst>
      <p:ext uri="{BB962C8B-B14F-4D97-AF65-F5344CB8AC3E}">
        <p14:creationId xmlns:p14="http://schemas.microsoft.com/office/powerpoint/2010/main" val="411311547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07FBCF2F-6636-40C0-80F2-EE6D30514956}" type="slidenum">
              <a:rPr lang="fr-CA" smtClean="0"/>
              <a:pPr>
                <a:defRPr/>
              </a:pPr>
              <a:t>32</a:t>
            </a:fld>
            <a:endParaRPr lang="fr-CA"/>
          </a:p>
        </p:txBody>
      </p:sp>
    </p:spTree>
    <p:extLst>
      <p:ext uri="{BB962C8B-B14F-4D97-AF65-F5344CB8AC3E}">
        <p14:creationId xmlns:p14="http://schemas.microsoft.com/office/powerpoint/2010/main" val="361321695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07FBCF2F-6636-40C0-80F2-EE6D30514956}" type="slidenum">
              <a:rPr lang="fr-CA" smtClean="0"/>
              <a:pPr>
                <a:defRPr/>
              </a:pPr>
              <a:t>33</a:t>
            </a:fld>
            <a:endParaRPr lang="fr-CA"/>
          </a:p>
        </p:txBody>
      </p:sp>
    </p:spTree>
    <p:extLst>
      <p:ext uri="{BB962C8B-B14F-4D97-AF65-F5344CB8AC3E}">
        <p14:creationId xmlns:p14="http://schemas.microsoft.com/office/powerpoint/2010/main" val="35187196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spcBef>
                <a:spcPts val="300"/>
              </a:spcBef>
              <a:spcAft>
                <a:spcPts val="0"/>
              </a:spcAft>
              <a:buSzPts val="1000"/>
            </a:pPr>
            <a:r>
              <a:rPr lang="fr-CA" u="sng" dirty="0">
                <a:solidFill>
                  <a:srgbClr val="000000"/>
                </a:solidFill>
                <a:effectLst/>
                <a:latin typeface="Arial" panose="020B0604020202020204" pitchFamily="34" charset="0"/>
                <a:ea typeface="Times New Roman" panose="02020603050405020304" pitchFamily="18" charset="0"/>
              </a:rPr>
              <a:t>Osmolarité des solutions physiologiques</a:t>
            </a:r>
            <a:r>
              <a:rPr lang="fr-CA" dirty="0">
                <a:solidFill>
                  <a:srgbClr val="000000"/>
                </a:solidFill>
                <a:effectLst/>
                <a:latin typeface="Arial" panose="020B0604020202020204" pitchFamily="34" charset="0"/>
                <a:ea typeface="Times New Roman" panose="02020603050405020304" pitchFamily="18" charset="0"/>
              </a:rPr>
              <a:t> :</a:t>
            </a:r>
            <a:endParaRPr lang="en-CA" dirty="0">
              <a:solidFill>
                <a:srgbClr val="000000"/>
              </a:solidFill>
              <a:effectLst/>
              <a:latin typeface="Times New Roman" panose="02020603050405020304" pitchFamily="18" charset="0"/>
              <a:ea typeface="Times New Roman" panose="02020603050405020304" pitchFamily="18" charset="0"/>
            </a:endParaRPr>
          </a:p>
          <a:p>
            <a:r>
              <a:rPr lang="fr-FR" dirty="0">
                <a:solidFill>
                  <a:srgbClr val="000000"/>
                </a:solidFill>
                <a:effectLst/>
                <a:latin typeface="Arial" panose="020B0604020202020204" pitchFamily="34" charset="0"/>
                <a:ea typeface="Times New Roman" panose="02020603050405020304" pitchFamily="18" charset="0"/>
              </a:rPr>
              <a:t>Du tableau, l’osmolarité extracellulaire = 281,2 </a:t>
            </a:r>
            <a:r>
              <a:rPr lang="fr-FR" dirty="0" err="1">
                <a:solidFill>
                  <a:srgbClr val="000000"/>
                </a:solidFill>
                <a:effectLst/>
                <a:latin typeface="Arial" panose="020B0604020202020204" pitchFamily="34" charset="0"/>
                <a:ea typeface="Times New Roman" panose="02020603050405020304" pitchFamily="18" charset="0"/>
              </a:rPr>
              <a:t>mOsmol</a:t>
            </a:r>
            <a:r>
              <a:rPr lang="fr-FR" dirty="0">
                <a:solidFill>
                  <a:srgbClr val="000000"/>
                </a:solidFill>
                <a:effectLst/>
                <a:latin typeface="Arial" panose="020B0604020202020204" pitchFamily="34" charset="0"/>
                <a:ea typeface="Times New Roman" panose="02020603050405020304" pitchFamily="18" charset="0"/>
              </a:rPr>
              <a:t>/L</a:t>
            </a:r>
            <a:r>
              <a:rPr lang="en-CA" dirty="0">
                <a:solidFill>
                  <a:srgbClr val="000000"/>
                </a:solidFill>
                <a:latin typeface="Times New Roman" panose="02020603050405020304" pitchFamily="18" charset="0"/>
                <a:ea typeface="Times New Roman" panose="02020603050405020304" pitchFamily="18" charset="0"/>
              </a:rPr>
              <a:t> </a:t>
            </a:r>
            <a:r>
              <a:rPr lang="en-CA" dirty="0">
                <a:solidFill>
                  <a:srgbClr val="000000"/>
                </a:solidFill>
                <a:effectLst/>
                <a:latin typeface="Arial" panose="020B0604020202020204" pitchFamily="34" charset="0"/>
                <a:ea typeface="Times New Roman" panose="02020603050405020304" pitchFamily="18" charset="0"/>
              </a:rPr>
              <a:t>(142 Na</a:t>
            </a:r>
            <a:r>
              <a:rPr lang="en-CA" baseline="30000" dirty="0">
                <a:solidFill>
                  <a:srgbClr val="000000"/>
                </a:solidFill>
                <a:effectLst/>
                <a:latin typeface="Arial" panose="020B0604020202020204" pitchFamily="34" charset="0"/>
                <a:ea typeface="Times New Roman" panose="02020603050405020304" pitchFamily="18" charset="0"/>
              </a:rPr>
              <a:t>+</a:t>
            </a:r>
            <a:r>
              <a:rPr lang="en-CA" dirty="0">
                <a:solidFill>
                  <a:srgbClr val="000000"/>
                </a:solidFill>
                <a:effectLst/>
                <a:latin typeface="Arial" panose="020B0604020202020204" pitchFamily="34" charset="0"/>
                <a:ea typeface="Times New Roman" panose="02020603050405020304" pitchFamily="18" charset="0"/>
              </a:rPr>
              <a:t> + 4 K</a:t>
            </a:r>
            <a:r>
              <a:rPr lang="en-CA" baseline="30000" dirty="0">
                <a:solidFill>
                  <a:srgbClr val="000000"/>
                </a:solidFill>
                <a:effectLst/>
                <a:latin typeface="Arial" panose="020B0604020202020204" pitchFamily="34" charset="0"/>
                <a:ea typeface="Times New Roman" panose="02020603050405020304" pitchFamily="18" charset="0"/>
              </a:rPr>
              <a:t>+</a:t>
            </a:r>
            <a:r>
              <a:rPr lang="en-CA" dirty="0">
                <a:solidFill>
                  <a:srgbClr val="000000"/>
                </a:solidFill>
                <a:effectLst/>
                <a:latin typeface="Arial" panose="020B0604020202020204" pitchFamily="34" charset="0"/>
                <a:ea typeface="Times New Roman" panose="02020603050405020304" pitchFamily="18" charset="0"/>
              </a:rPr>
              <a:t> + 1,2 Ca</a:t>
            </a:r>
            <a:r>
              <a:rPr lang="en-CA" baseline="30000" dirty="0">
                <a:solidFill>
                  <a:srgbClr val="000000"/>
                </a:solidFill>
                <a:effectLst/>
                <a:latin typeface="Arial" panose="020B0604020202020204" pitchFamily="34" charset="0"/>
                <a:ea typeface="Times New Roman" panose="02020603050405020304" pitchFamily="18" charset="0"/>
              </a:rPr>
              <a:t>2+</a:t>
            </a:r>
            <a:r>
              <a:rPr lang="en-CA" dirty="0">
                <a:solidFill>
                  <a:srgbClr val="000000"/>
                </a:solidFill>
                <a:effectLst/>
                <a:latin typeface="Arial" panose="020B0604020202020204" pitchFamily="34" charset="0"/>
                <a:ea typeface="Times New Roman" panose="02020603050405020304" pitchFamily="18" charset="0"/>
              </a:rPr>
              <a:t> + 105 Cl¯ + 24 HCO</a:t>
            </a:r>
            <a:r>
              <a:rPr lang="en-CA" baseline="-25000" dirty="0">
                <a:solidFill>
                  <a:srgbClr val="000000"/>
                </a:solidFill>
                <a:effectLst/>
                <a:latin typeface="Arial" panose="020B0604020202020204" pitchFamily="34" charset="0"/>
                <a:ea typeface="Times New Roman" panose="02020603050405020304" pitchFamily="18" charset="0"/>
              </a:rPr>
              <a:t>3</a:t>
            </a:r>
            <a:r>
              <a:rPr lang="en-CA" dirty="0">
                <a:solidFill>
                  <a:srgbClr val="000000"/>
                </a:solidFill>
                <a:effectLst/>
                <a:latin typeface="Arial" panose="020B0604020202020204" pitchFamily="34" charset="0"/>
                <a:ea typeface="Times New Roman" panose="02020603050405020304" pitchFamily="18" charset="0"/>
              </a:rPr>
              <a:t>¯ + 5 glucose)</a:t>
            </a:r>
            <a:endParaRPr lang="en-CA" dirty="0">
              <a:solidFill>
                <a:srgbClr val="000000"/>
              </a:solidFill>
              <a:effectLst/>
              <a:latin typeface="Times New Roman" panose="02020603050405020304" pitchFamily="18" charset="0"/>
              <a:ea typeface="Times New Roman" panose="02020603050405020304" pitchFamily="18" charset="0"/>
            </a:endParaRPr>
          </a:p>
          <a:p>
            <a:r>
              <a:rPr lang="fr-FR" dirty="0">
                <a:solidFill>
                  <a:srgbClr val="000000"/>
                </a:solidFill>
                <a:effectLst/>
                <a:latin typeface="Arial" panose="020B0604020202020204" pitchFamily="34" charset="0"/>
                <a:ea typeface="Times New Roman" panose="02020603050405020304" pitchFamily="18" charset="0"/>
              </a:rPr>
              <a:t>En fait, l’osmolarité des solutions physiologiques est égale à environ </a:t>
            </a:r>
            <a:r>
              <a:rPr lang="fr-FR" b="1" dirty="0">
                <a:solidFill>
                  <a:srgbClr val="000000"/>
                </a:solidFill>
                <a:effectLst/>
                <a:latin typeface="Arial" panose="020B0604020202020204" pitchFamily="34" charset="0"/>
                <a:ea typeface="Times New Roman" panose="02020603050405020304" pitchFamily="18" charset="0"/>
              </a:rPr>
              <a:t>300 </a:t>
            </a:r>
            <a:r>
              <a:rPr lang="fr-FR" b="1" dirty="0" err="1">
                <a:solidFill>
                  <a:srgbClr val="000000"/>
                </a:solidFill>
                <a:effectLst/>
                <a:latin typeface="Arial" panose="020B0604020202020204" pitchFamily="34" charset="0"/>
                <a:ea typeface="Times New Roman" panose="02020603050405020304" pitchFamily="18" charset="0"/>
              </a:rPr>
              <a:t>mOsmol</a:t>
            </a:r>
            <a:r>
              <a:rPr lang="fr-FR" b="1" dirty="0">
                <a:solidFill>
                  <a:srgbClr val="000000"/>
                </a:solidFill>
                <a:effectLst/>
                <a:latin typeface="Arial" panose="020B0604020202020204" pitchFamily="34" charset="0"/>
                <a:ea typeface="Times New Roman" panose="02020603050405020304" pitchFamily="18" charset="0"/>
              </a:rPr>
              <a:t>/L </a:t>
            </a:r>
            <a:r>
              <a:rPr lang="fr-FR" dirty="0">
                <a:solidFill>
                  <a:srgbClr val="000000"/>
                </a:solidFill>
                <a:effectLst/>
                <a:latin typeface="Arial" panose="020B0604020202020204" pitchFamily="34" charset="0"/>
                <a:ea typeface="Times New Roman" panose="02020603050405020304" pitchFamily="18" charset="0"/>
              </a:rPr>
              <a:t>parce que d’autres. solutés ne sont pas donnés dans ce tableau ; H</a:t>
            </a:r>
            <a:r>
              <a:rPr lang="fr-FR" baseline="-25000" dirty="0">
                <a:solidFill>
                  <a:srgbClr val="000000"/>
                </a:solidFill>
                <a:effectLst/>
                <a:latin typeface="Arial" panose="020B0604020202020204" pitchFamily="34" charset="0"/>
                <a:ea typeface="Times New Roman" panose="02020603050405020304" pitchFamily="18" charset="0"/>
              </a:rPr>
              <a:t>2</a:t>
            </a:r>
            <a:r>
              <a:rPr lang="fr-FR" dirty="0">
                <a:solidFill>
                  <a:srgbClr val="000000"/>
                </a:solidFill>
                <a:effectLst/>
                <a:latin typeface="Arial" panose="020B0604020202020204" pitchFamily="34" charset="0"/>
                <a:ea typeface="Times New Roman" panose="02020603050405020304" pitchFamily="18" charset="0"/>
              </a:rPr>
              <a:t>PO</a:t>
            </a:r>
            <a:r>
              <a:rPr lang="fr-FR" baseline="-25000" dirty="0">
                <a:solidFill>
                  <a:srgbClr val="000000"/>
                </a:solidFill>
                <a:effectLst/>
                <a:latin typeface="Arial" panose="020B0604020202020204" pitchFamily="34" charset="0"/>
                <a:ea typeface="Times New Roman" panose="02020603050405020304" pitchFamily="18" charset="0"/>
              </a:rPr>
              <a:t>4</a:t>
            </a:r>
            <a:r>
              <a:rPr lang="fr-FR" dirty="0">
                <a:solidFill>
                  <a:srgbClr val="000000"/>
                </a:solidFill>
                <a:effectLst/>
                <a:latin typeface="Arial" panose="020B0604020202020204" pitchFamily="34" charset="0"/>
                <a:ea typeface="Times New Roman" panose="02020603050405020304" pitchFamily="18" charset="0"/>
              </a:rPr>
              <a:t>¯, Mg</a:t>
            </a:r>
            <a:r>
              <a:rPr lang="fr-FR" baseline="30000" dirty="0">
                <a:solidFill>
                  <a:srgbClr val="000000"/>
                </a:solidFill>
                <a:effectLst/>
                <a:latin typeface="Arial" panose="020B0604020202020204" pitchFamily="34" charset="0"/>
                <a:ea typeface="Times New Roman" panose="02020603050405020304" pitchFamily="18" charset="0"/>
              </a:rPr>
              <a:t>2+</a:t>
            </a:r>
            <a:r>
              <a:rPr lang="fr-FR" dirty="0">
                <a:solidFill>
                  <a:srgbClr val="000000"/>
                </a:solidFill>
                <a:effectLst/>
                <a:latin typeface="Arial" panose="020B0604020202020204" pitchFamily="34" charset="0"/>
                <a:ea typeface="Times New Roman" panose="02020603050405020304" pitchFamily="18" charset="0"/>
              </a:rPr>
              <a:t>, acides aminés, protéines, etc.</a:t>
            </a:r>
          </a:p>
          <a:p>
            <a:endParaRPr lang="fr-FR" dirty="0">
              <a:solidFill>
                <a:srgbClr val="000000"/>
              </a:solidFill>
              <a:effectLst/>
              <a:latin typeface="Arial" panose="020B0604020202020204" pitchFamily="34" charset="0"/>
            </a:endParaRPr>
          </a:p>
          <a:p>
            <a:pPr marR="195580" algn="just">
              <a:spcBef>
                <a:spcPts val="285"/>
              </a:spcBef>
              <a:spcAft>
                <a:spcPts val="0"/>
              </a:spcAft>
            </a:pPr>
            <a:r>
              <a:rPr lang="fr-FR" dirty="0">
                <a:solidFill>
                  <a:srgbClr val="FF0000"/>
                </a:solidFill>
                <a:effectLst/>
              </a:rPr>
              <a:t>Encadré rouge : </a:t>
            </a:r>
          </a:p>
          <a:p>
            <a:pPr marR="195580" algn="just">
              <a:spcBef>
                <a:spcPts val="285"/>
              </a:spcBef>
              <a:spcAft>
                <a:spcPts val="0"/>
              </a:spcAft>
            </a:pPr>
            <a:r>
              <a:rPr lang="fr-FR" dirty="0">
                <a:solidFill>
                  <a:srgbClr val="FF0000"/>
                </a:solidFill>
                <a:effectLst/>
                <a:ea typeface="Calibri" panose="020F0502020204030204" pitchFamily="34" charset="0"/>
                <a:cs typeface="Times New Roman" panose="02020603050405020304" pitchFamily="18" charset="0"/>
              </a:rPr>
              <a:t>C</a:t>
            </a:r>
            <a:r>
              <a:rPr lang="fr-FR" spc="-5" dirty="0">
                <a:solidFill>
                  <a:srgbClr val="FF0000"/>
                </a:solidFill>
                <a:effectLst/>
                <a:ea typeface="Calibri" panose="020F0502020204030204" pitchFamily="34" charset="0"/>
                <a:cs typeface="Times New Roman" panose="02020603050405020304" pitchFamily="18" charset="0"/>
              </a:rPr>
              <a:t>omme</a:t>
            </a:r>
            <a:r>
              <a:rPr lang="fr-FR" spc="-15" dirty="0">
                <a:solidFill>
                  <a:srgbClr val="FF0000"/>
                </a:solidFill>
                <a:effectLst/>
                <a:ea typeface="Calibri" panose="020F0502020204030204" pitchFamily="34" charset="0"/>
                <a:cs typeface="Times New Roman" panose="02020603050405020304" pitchFamily="18" charset="0"/>
              </a:rPr>
              <a:t>n</a:t>
            </a:r>
            <a:r>
              <a:rPr lang="fr-FR" dirty="0">
                <a:solidFill>
                  <a:srgbClr val="FF0000"/>
                </a:solidFill>
                <a:effectLst/>
                <a:ea typeface="Calibri" panose="020F0502020204030204" pitchFamily="34" charset="0"/>
                <a:cs typeface="Times New Roman" panose="02020603050405020304" pitchFamily="18" charset="0"/>
              </a:rPr>
              <a:t>t</a:t>
            </a:r>
            <a:r>
              <a:rPr lang="fr-FR" spc="-40" dirty="0">
                <a:solidFill>
                  <a:srgbClr val="FF0000"/>
                </a:solidFill>
                <a:effectLst/>
                <a:ea typeface="Calibri" panose="020F0502020204030204" pitchFamily="34" charset="0"/>
                <a:cs typeface="Times New Roman" panose="02020603050405020304" pitchFamily="18" charset="0"/>
              </a:rPr>
              <a:t> </a:t>
            </a:r>
            <a:r>
              <a:rPr lang="fr-FR" spc="-35" dirty="0">
                <a:solidFill>
                  <a:srgbClr val="FF0000"/>
                </a:solidFill>
                <a:effectLst/>
                <a:ea typeface="Calibri" panose="020F0502020204030204" pitchFamily="34" charset="0"/>
                <a:cs typeface="Times New Roman" panose="02020603050405020304" pitchFamily="18" charset="0"/>
              </a:rPr>
              <a:t>e</a:t>
            </a:r>
            <a:r>
              <a:rPr lang="fr-FR" dirty="0">
                <a:solidFill>
                  <a:srgbClr val="FF0000"/>
                </a:solidFill>
                <a:effectLst/>
                <a:ea typeface="Calibri" panose="020F0502020204030204" pitchFamily="34" charset="0"/>
                <a:cs typeface="Times New Roman" panose="02020603050405020304" pitchFamily="18" charset="0"/>
              </a:rPr>
              <a:t>xp</a:t>
            </a:r>
            <a:r>
              <a:rPr lang="fr-FR" spc="5" dirty="0">
                <a:solidFill>
                  <a:srgbClr val="FF0000"/>
                </a:solidFill>
                <a:effectLst/>
                <a:ea typeface="Calibri" panose="020F0502020204030204" pitchFamily="34" charset="0"/>
                <a:cs typeface="Times New Roman" panose="02020603050405020304" pitchFamily="18" charset="0"/>
              </a:rPr>
              <a:t>li</a:t>
            </a:r>
            <a:r>
              <a:rPr lang="fr-FR" dirty="0">
                <a:solidFill>
                  <a:srgbClr val="FF0000"/>
                </a:solidFill>
                <a:effectLst/>
                <a:ea typeface="Calibri" panose="020F0502020204030204" pitchFamily="34" charset="0"/>
                <a:cs typeface="Times New Roman" panose="02020603050405020304" pitchFamily="18" charset="0"/>
              </a:rPr>
              <a:t>qu</a:t>
            </a:r>
            <a:r>
              <a:rPr lang="fr-FR" spc="-5" dirty="0">
                <a:solidFill>
                  <a:srgbClr val="FF0000"/>
                </a:solidFill>
                <a:effectLst/>
                <a:ea typeface="Calibri" panose="020F0502020204030204" pitchFamily="34" charset="0"/>
                <a:cs typeface="Times New Roman" panose="02020603050405020304" pitchFamily="18" charset="0"/>
              </a:rPr>
              <a:t>e</a:t>
            </a:r>
            <a:r>
              <a:rPr lang="fr-FR" dirty="0">
                <a:solidFill>
                  <a:srgbClr val="FF0000"/>
                </a:solidFill>
                <a:effectLst/>
                <a:ea typeface="Calibri" panose="020F0502020204030204" pitchFamily="34" charset="0"/>
                <a:cs typeface="Times New Roman" panose="02020603050405020304" pitchFamily="18" charset="0"/>
              </a:rPr>
              <a:t>r</a:t>
            </a:r>
            <a:r>
              <a:rPr lang="fr-FR" spc="-60" dirty="0">
                <a:solidFill>
                  <a:srgbClr val="FF0000"/>
                </a:solidFill>
                <a:effectLst/>
                <a:ea typeface="Calibri" panose="020F0502020204030204" pitchFamily="34" charset="0"/>
                <a:cs typeface="Times New Roman" panose="02020603050405020304" pitchFamily="18" charset="0"/>
              </a:rPr>
              <a:t> </a:t>
            </a:r>
            <a:r>
              <a:rPr lang="fr-FR" spc="5" dirty="0">
                <a:solidFill>
                  <a:srgbClr val="FF0000"/>
                </a:solidFill>
                <a:effectLst/>
                <a:ea typeface="Calibri" panose="020F0502020204030204" pitchFamily="34" charset="0"/>
                <a:cs typeface="Times New Roman" panose="02020603050405020304" pitchFamily="18" charset="0"/>
              </a:rPr>
              <a:t>l</a:t>
            </a:r>
            <a:r>
              <a:rPr lang="fr-FR" dirty="0">
                <a:solidFill>
                  <a:srgbClr val="FF0000"/>
                </a:solidFill>
                <a:effectLst/>
                <a:ea typeface="Calibri" panose="020F0502020204030204" pitchFamily="34" charset="0"/>
                <a:cs typeface="Times New Roman" panose="02020603050405020304" pitchFamily="18" charset="0"/>
              </a:rPr>
              <a:t>a</a:t>
            </a:r>
            <a:r>
              <a:rPr lang="fr-FR" spc="-65" dirty="0">
                <a:solidFill>
                  <a:srgbClr val="FF0000"/>
                </a:solidFill>
                <a:effectLst/>
                <a:ea typeface="Calibri" panose="020F0502020204030204" pitchFamily="34" charset="0"/>
                <a:cs typeface="Times New Roman" panose="02020603050405020304" pitchFamily="18" charset="0"/>
              </a:rPr>
              <a:t> </a:t>
            </a:r>
            <a:r>
              <a:rPr lang="fr-FR" dirty="0">
                <a:solidFill>
                  <a:srgbClr val="FF0000"/>
                </a:solidFill>
                <a:effectLst/>
                <a:ea typeface="Calibri" panose="020F0502020204030204" pitchFamily="34" charset="0"/>
                <a:cs typeface="Times New Roman" panose="02020603050405020304" pitchFamily="18" charset="0"/>
              </a:rPr>
              <a:t>g</a:t>
            </a:r>
            <a:r>
              <a:rPr lang="fr-FR" spc="-50" dirty="0">
                <a:solidFill>
                  <a:srgbClr val="FF0000"/>
                </a:solidFill>
                <a:effectLst/>
                <a:ea typeface="Calibri" panose="020F0502020204030204" pitchFamily="34" charset="0"/>
                <a:cs typeface="Times New Roman" panose="02020603050405020304" pitchFamily="18" charset="0"/>
              </a:rPr>
              <a:t>r</a:t>
            </a:r>
            <a:r>
              <a:rPr lang="fr-FR" dirty="0">
                <a:solidFill>
                  <a:srgbClr val="FF0000"/>
                </a:solidFill>
                <a:effectLst/>
                <a:ea typeface="Calibri" panose="020F0502020204030204" pitchFamily="34" charset="0"/>
                <a:cs typeface="Times New Roman" panose="02020603050405020304" pitchFamily="18" charset="0"/>
              </a:rPr>
              <a:t>ande</a:t>
            </a:r>
            <a:r>
              <a:rPr lang="fr-FR" spc="-55" dirty="0">
                <a:solidFill>
                  <a:srgbClr val="FF0000"/>
                </a:solidFill>
                <a:effectLst/>
                <a:ea typeface="Calibri" panose="020F0502020204030204" pitchFamily="34" charset="0"/>
                <a:cs typeface="Times New Roman" panose="02020603050405020304" pitchFamily="18" charset="0"/>
              </a:rPr>
              <a:t> </a:t>
            </a:r>
            <a:r>
              <a:rPr lang="fr-FR" dirty="0">
                <a:solidFill>
                  <a:srgbClr val="FF0000"/>
                </a:solidFill>
                <a:effectLst/>
                <a:ea typeface="Calibri" panose="020F0502020204030204" pitchFamily="34" charset="0"/>
                <a:cs typeface="Times New Roman" panose="02020603050405020304" pitchFamily="18" charset="0"/>
              </a:rPr>
              <a:t>d</a:t>
            </a:r>
            <a:r>
              <a:rPr lang="fr-FR" spc="5" dirty="0">
                <a:solidFill>
                  <a:srgbClr val="FF0000"/>
                </a:solidFill>
                <a:effectLst/>
                <a:ea typeface="Calibri" panose="020F0502020204030204" pitchFamily="34" charset="0"/>
                <a:cs typeface="Times New Roman" panose="02020603050405020304" pitchFamily="18" charset="0"/>
              </a:rPr>
              <a:t>i</a:t>
            </a:r>
            <a:r>
              <a:rPr lang="fr-FR" spc="-10" dirty="0">
                <a:solidFill>
                  <a:srgbClr val="FF0000"/>
                </a:solidFill>
                <a:effectLst/>
                <a:ea typeface="Calibri" panose="020F0502020204030204" pitchFamily="34" charset="0"/>
                <a:cs typeface="Times New Roman" panose="02020603050405020304" pitchFamily="18" charset="0"/>
              </a:rPr>
              <a:t>f</a:t>
            </a:r>
            <a:r>
              <a:rPr lang="fr-FR" spc="-40" dirty="0">
                <a:solidFill>
                  <a:srgbClr val="FF0000"/>
                </a:solidFill>
                <a:effectLst/>
                <a:ea typeface="Calibri" panose="020F0502020204030204" pitchFamily="34" charset="0"/>
                <a:cs typeface="Times New Roman" panose="02020603050405020304" pitchFamily="18" charset="0"/>
              </a:rPr>
              <a:t>f</a:t>
            </a:r>
            <a:r>
              <a:rPr lang="fr-FR" spc="-5" dirty="0">
                <a:solidFill>
                  <a:srgbClr val="FF0000"/>
                </a:solidFill>
                <a:effectLst/>
                <a:ea typeface="Calibri" panose="020F0502020204030204" pitchFamily="34" charset="0"/>
                <a:cs typeface="Times New Roman" panose="02020603050405020304" pitchFamily="18" charset="0"/>
              </a:rPr>
              <a:t>é</a:t>
            </a:r>
            <a:r>
              <a:rPr lang="fr-FR" spc="-35" dirty="0">
                <a:solidFill>
                  <a:srgbClr val="FF0000"/>
                </a:solidFill>
                <a:effectLst/>
                <a:ea typeface="Calibri" panose="020F0502020204030204" pitchFamily="34" charset="0"/>
                <a:cs typeface="Times New Roman" panose="02020603050405020304" pitchFamily="18" charset="0"/>
              </a:rPr>
              <a:t>r</a:t>
            </a:r>
            <a:r>
              <a:rPr lang="fr-FR" spc="-5" dirty="0">
                <a:solidFill>
                  <a:srgbClr val="FF0000"/>
                </a:solidFill>
                <a:effectLst/>
                <a:ea typeface="Calibri" panose="020F0502020204030204" pitchFamily="34" charset="0"/>
                <a:cs typeface="Times New Roman" panose="02020603050405020304" pitchFamily="18" charset="0"/>
              </a:rPr>
              <a:t>e</a:t>
            </a:r>
            <a:r>
              <a:rPr lang="fr-FR" dirty="0">
                <a:solidFill>
                  <a:srgbClr val="FF0000"/>
                </a:solidFill>
                <a:effectLst/>
                <a:ea typeface="Calibri" panose="020F0502020204030204" pitchFamily="34" charset="0"/>
                <a:cs typeface="Times New Roman" panose="02020603050405020304" pitchFamily="18" charset="0"/>
              </a:rPr>
              <a:t>n</a:t>
            </a:r>
            <a:r>
              <a:rPr lang="fr-FR" spc="-5" dirty="0">
                <a:solidFill>
                  <a:srgbClr val="FF0000"/>
                </a:solidFill>
                <a:effectLst/>
                <a:ea typeface="Calibri" panose="020F0502020204030204" pitchFamily="34" charset="0"/>
                <a:cs typeface="Times New Roman" panose="02020603050405020304" pitchFamily="18" charset="0"/>
              </a:rPr>
              <a:t>c</a:t>
            </a:r>
            <a:r>
              <a:rPr lang="fr-FR" dirty="0">
                <a:solidFill>
                  <a:srgbClr val="FF0000"/>
                </a:solidFill>
                <a:effectLst/>
                <a:ea typeface="Calibri" panose="020F0502020204030204" pitchFamily="34" charset="0"/>
                <a:cs typeface="Times New Roman" panose="02020603050405020304" pitchFamily="18" charset="0"/>
              </a:rPr>
              <a:t>e</a:t>
            </a:r>
            <a:r>
              <a:rPr lang="fr-FR" spc="-45" dirty="0">
                <a:solidFill>
                  <a:srgbClr val="FF0000"/>
                </a:solidFill>
                <a:effectLst/>
                <a:ea typeface="Calibri" panose="020F0502020204030204" pitchFamily="34" charset="0"/>
                <a:cs typeface="Times New Roman" panose="02020603050405020304" pitchFamily="18" charset="0"/>
              </a:rPr>
              <a:t> </a:t>
            </a:r>
            <a:r>
              <a:rPr lang="fr-FR" spc="-5" dirty="0">
                <a:solidFill>
                  <a:srgbClr val="FF0000"/>
                </a:solidFill>
                <a:effectLst/>
                <a:ea typeface="Calibri" panose="020F0502020204030204" pitchFamily="34" charset="0"/>
                <a:cs typeface="Times New Roman" panose="02020603050405020304" pitchFamily="18" charset="0"/>
              </a:rPr>
              <a:t>e</a:t>
            </a:r>
            <a:r>
              <a:rPr lang="fr-FR" spc="-15" dirty="0">
                <a:solidFill>
                  <a:srgbClr val="FF0000"/>
                </a:solidFill>
                <a:effectLst/>
                <a:ea typeface="Calibri" panose="020F0502020204030204" pitchFamily="34" charset="0"/>
                <a:cs typeface="Times New Roman" panose="02020603050405020304" pitchFamily="18" charset="0"/>
              </a:rPr>
              <a:t>n</a:t>
            </a:r>
            <a:r>
              <a:rPr lang="fr-FR" spc="5" dirty="0">
                <a:solidFill>
                  <a:srgbClr val="FF0000"/>
                </a:solidFill>
                <a:effectLst/>
                <a:ea typeface="Calibri" panose="020F0502020204030204" pitchFamily="34" charset="0"/>
                <a:cs typeface="Times New Roman" panose="02020603050405020304" pitchFamily="18" charset="0"/>
              </a:rPr>
              <a:t>t</a:t>
            </a:r>
            <a:r>
              <a:rPr lang="fr-FR" spc="-35" dirty="0">
                <a:solidFill>
                  <a:srgbClr val="FF0000"/>
                </a:solidFill>
                <a:effectLst/>
                <a:ea typeface="Calibri" panose="020F0502020204030204" pitchFamily="34" charset="0"/>
                <a:cs typeface="Times New Roman" panose="02020603050405020304" pitchFamily="18" charset="0"/>
              </a:rPr>
              <a:t>r</a:t>
            </a:r>
            <a:r>
              <a:rPr lang="fr-FR" dirty="0">
                <a:solidFill>
                  <a:srgbClr val="FF0000"/>
                </a:solidFill>
                <a:effectLst/>
                <a:ea typeface="Calibri" panose="020F0502020204030204" pitchFamily="34" charset="0"/>
                <a:cs typeface="Times New Roman" panose="02020603050405020304" pitchFamily="18" charset="0"/>
              </a:rPr>
              <a:t>e</a:t>
            </a:r>
            <a:r>
              <a:rPr lang="fr-FR" spc="-35" dirty="0">
                <a:solidFill>
                  <a:srgbClr val="FF0000"/>
                </a:solidFill>
                <a:effectLst/>
                <a:ea typeface="Calibri" panose="020F0502020204030204" pitchFamily="34" charset="0"/>
                <a:cs typeface="Times New Roman" panose="02020603050405020304" pitchFamily="18" charset="0"/>
              </a:rPr>
              <a:t> </a:t>
            </a:r>
            <a:r>
              <a:rPr lang="fr-FR" spc="5" dirty="0">
                <a:solidFill>
                  <a:srgbClr val="FF0000"/>
                </a:solidFill>
                <a:effectLst/>
                <a:ea typeface="Calibri" panose="020F0502020204030204" pitchFamily="34" charset="0"/>
                <a:cs typeface="Times New Roman" panose="02020603050405020304" pitchFamily="18" charset="0"/>
              </a:rPr>
              <a:t>l</a:t>
            </a:r>
            <a:r>
              <a:rPr lang="fr-FR" spc="-130" dirty="0">
                <a:solidFill>
                  <a:srgbClr val="FF0000"/>
                </a:solidFill>
                <a:effectLst/>
                <a:ea typeface="Calibri" panose="020F0502020204030204" pitchFamily="34" charset="0"/>
                <a:cs typeface="Times New Roman" panose="02020603050405020304" pitchFamily="18" charset="0"/>
              </a:rPr>
              <a:t>’</a:t>
            </a:r>
            <a:r>
              <a:rPr lang="fr-FR" spc="-5" dirty="0">
                <a:solidFill>
                  <a:srgbClr val="FF0000"/>
                </a:solidFill>
                <a:effectLst/>
                <a:ea typeface="Calibri" panose="020F0502020204030204" pitchFamily="34" charset="0"/>
                <a:cs typeface="Times New Roman" panose="02020603050405020304" pitchFamily="18" charset="0"/>
              </a:rPr>
              <a:t>osmo</a:t>
            </a:r>
            <a:r>
              <a:rPr lang="fr-FR" spc="5" dirty="0">
                <a:solidFill>
                  <a:srgbClr val="FF0000"/>
                </a:solidFill>
                <a:effectLst/>
                <a:ea typeface="Calibri" panose="020F0502020204030204" pitchFamily="34" charset="0"/>
                <a:cs typeface="Times New Roman" panose="02020603050405020304" pitchFamily="18" charset="0"/>
              </a:rPr>
              <a:t>l</a:t>
            </a:r>
            <a:r>
              <a:rPr lang="fr-FR" dirty="0">
                <a:solidFill>
                  <a:srgbClr val="FF0000"/>
                </a:solidFill>
                <a:effectLst/>
                <a:ea typeface="Calibri" panose="020F0502020204030204" pitchFamily="34" charset="0"/>
                <a:cs typeface="Times New Roman" panose="02020603050405020304" pitchFamily="18" charset="0"/>
              </a:rPr>
              <a:t>a</a:t>
            </a:r>
            <a:r>
              <a:rPr lang="fr-FR" spc="-5" dirty="0">
                <a:solidFill>
                  <a:srgbClr val="FF0000"/>
                </a:solidFill>
                <a:effectLst/>
                <a:ea typeface="Calibri" panose="020F0502020204030204" pitchFamily="34" charset="0"/>
                <a:cs typeface="Times New Roman" panose="02020603050405020304" pitchFamily="18" charset="0"/>
              </a:rPr>
              <a:t>r</a:t>
            </a:r>
            <a:r>
              <a:rPr lang="fr-FR" spc="5" dirty="0">
                <a:solidFill>
                  <a:srgbClr val="FF0000"/>
                </a:solidFill>
                <a:effectLst/>
                <a:ea typeface="Calibri" panose="020F0502020204030204" pitchFamily="34" charset="0"/>
                <a:cs typeface="Times New Roman" panose="02020603050405020304" pitchFamily="18" charset="0"/>
              </a:rPr>
              <a:t>i</a:t>
            </a:r>
            <a:r>
              <a:rPr lang="fr-FR" spc="-10" dirty="0">
                <a:solidFill>
                  <a:srgbClr val="FF0000"/>
                </a:solidFill>
                <a:effectLst/>
                <a:ea typeface="Calibri" panose="020F0502020204030204" pitchFamily="34" charset="0"/>
                <a:cs typeface="Times New Roman" panose="02020603050405020304" pitchFamily="18" charset="0"/>
              </a:rPr>
              <a:t>t</a:t>
            </a:r>
            <a:r>
              <a:rPr lang="fr-FR" dirty="0">
                <a:solidFill>
                  <a:srgbClr val="FF0000"/>
                </a:solidFill>
                <a:effectLst/>
                <a:ea typeface="Calibri" panose="020F0502020204030204" pitchFamily="34" charset="0"/>
                <a:cs typeface="Times New Roman" panose="02020603050405020304" pitchFamily="18" charset="0"/>
              </a:rPr>
              <a:t>é</a:t>
            </a:r>
            <a:r>
              <a:rPr lang="fr-FR" spc="-45" dirty="0">
                <a:solidFill>
                  <a:srgbClr val="FF0000"/>
                </a:solidFill>
                <a:effectLst/>
                <a:ea typeface="Calibri" panose="020F0502020204030204" pitchFamily="34" charset="0"/>
                <a:cs typeface="Times New Roman" panose="02020603050405020304" pitchFamily="18" charset="0"/>
              </a:rPr>
              <a:t> </a:t>
            </a:r>
            <a:r>
              <a:rPr lang="fr-FR" spc="5" dirty="0">
                <a:solidFill>
                  <a:srgbClr val="FF0000"/>
                </a:solidFill>
                <a:effectLst/>
                <a:ea typeface="Calibri" panose="020F0502020204030204" pitchFamily="34" charset="0"/>
                <a:cs typeface="Times New Roman" panose="02020603050405020304" pitchFamily="18" charset="0"/>
              </a:rPr>
              <a:t>i</a:t>
            </a:r>
            <a:r>
              <a:rPr lang="fr-FR" spc="-15" dirty="0">
                <a:solidFill>
                  <a:srgbClr val="FF0000"/>
                </a:solidFill>
                <a:effectLst/>
                <a:ea typeface="Calibri" panose="020F0502020204030204" pitchFamily="34" charset="0"/>
                <a:cs typeface="Times New Roman" panose="02020603050405020304" pitchFamily="18" charset="0"/>
              </a:rPr>
              <a:t>n</a:t>
            </a:r>
            <a:r>
              <a:rPr lang="fr-FR" spc="5" dirty="0">
                <a:solidFill>
                  <a:srgbClr val="FF0000"/>
                </a:solidFill>
                <a:effectLst/>
                <a:ea typeface="Calibri" panose="020F0502020204030204" pitchFamily="34" charset="0"/>
                <a:cs typeface="Times New Roman" panose="02020603050405020304" pitchFamily="18" charset="0"/>
              </a:rPr>
              <a:t>t</a:t>
            </a:r>
            <a:r>
              <a:rPr lang="fr-FR" spc="-50" dirty="0">
                <a:solidFill>
                  <a:srgbClr val="FF0000"/>
                </a:solidFill>
                <a:effectLst/>
                <a:ea typeface="Calibri" panose="020F0502020204030204" pitchFamily="34" charset="0"/>
                <a:cs typeface="Times New Roman" panose="02020603050405020304" pitchFamily="18" charset="0"/>
              </a:rPr>
              <a:t>r</a:t>
            </a:r>
            <a:r>
              <a:rPr lang="fr-FR" dirty="0">
                <a:solidFill>
                  <a:srgbClr val="FF0000"/>
                </a:solidFill>
                <a:effectLst/>
                <a:ea typeface="Calibri" panose="020F0502020204030204" pitchFamily="34" charset="0"/>
                <a:cs typeface="Times New Roman" panose="02020603050405020304" pitchFamily="18" charset="0"/>
              </a:rPr>
              <a:t>a</a:t>
            </a:r>
            <a:r>
              <a:rPr lang="fr-FR" spc="-5" dirty="0">
                <a:solidFill>
                  <a:srgbClr val="FF0000"/>
                </a:solidFill>
                <a:effectLst/>
                <a:ea typeface="Calibri" panose="020F0502020204030204" pitchFamily="34" charset="0"/>
                <a:cs typeface="Times New Roman" panose="02020603050405020304" pitchFamily="18" charset="0"/>
              </a:rPr>
              <a:t>ce</a:t>
            </a:r>
            <a:r>
              <a:rPr lang="fr-FR" spc="5" dirty="0">
                <a:solidFill>
                  <a:srgbClr val="FF0000"/>
                </a:solidFill>
                <a:effectLst/>
                <a:ea typeface="Calibri" panose="020F0502020204030204" pitchFamily="34" charset="0"/>
                <a:cs typeface="Times New Roman" panose="02020603050405020304" pitchFamily="18" charset="0"/>
              </a:rPr>
              <a:t>ll</a:t>
            </a:r>
            <a:r>
              <a:rPr lang="fr-FR" dirty="0">
                <a:solidFill>
                  <a:srgbClr val="FF0000"/>
                </a:solidFill>
                <a:effectLst/>
                <a:ea typeface="Calibri" panose="020F0502020204030204" pitchFamily="34" charset="0"/>
                <a:cs typeface="Times New Roman" panose="02020603050405020304" pitchFamily="18" charset="0"/>
              </a:rPr>
              <a:t>u</a:t>
            </a:r>
            <a:r>
              <a:rPr lang="fr-FR" spc="5" dirty="0">
                <a:solidFill>
                  <a:srgbClr val="FF0000"/>
                </a:solidFill>
                <a:effectLst/>
                <a:ea typeface="Calibri" panose="020F0502020204030204" pitchFamily="34" charset="0"/>
                <a:cs typeface="Times New Roman" panose="02020603050405020304" pitchFamily="18" charset="0"/>
              </a:rPr>
              <a:t>l</a:t>
            </a:r>
            <a:r>
              <a:rPr lang="fr-FR" dirty="0">
                <a:solidFill>
                  <a:srgbClr val="FF0000"/>
                </a:solidFill>
                <a:effectLst/>
                <a:ea typeface="Calibri" panose="020F0502020204030204" pitchFamily="34" charset="0"/>
                <a:cs typeface="Times New Roman" panose="02020603050405020304" pitchFamily="18" charset="0"/>
              </a:rPr>
              <a:t>a</a:t>
            </a:r>
            <a:r>
              <a:rPr lang="fr-FR" spc="5" dirty="0">
                <a:solidFill>
                  <a:srgbClr val="FF0000"/>
                </a:solidFill>
                <a:effectLst/>
                <a:ea typeface="Calibri" panose="020F0502020204030204" pitchFamily="34" charset="0"/>
                <a:cs typeface="Times New Roman" panose="02020603050405020304" pitchFamily="18" charset="0"/>
              </a:rPr>
              <a:t>i</a:t>
            </a:r>
            <a:r>
              <a:rPr lang="fr-FR" spc="-35" dirty="0">
                <a:solidFill>
                  <a:srgbClr val="FF0000"/>
                </a:solidFill>
                <a:effectLst/>
                <a:ea typeface="Calibri" panose="020F0502020204030204" pitchFamily="34" charset="0"/>
                <a:cs typeface="Times New Roman" panose="02020603050405020304" pitchFamily="18" charset="0"/>
              </a:rPr>
              <a:t>r</a:t>
            </a:r>
            <a:r>
              <a:rPr lang="fr-FR" dirty="0">
                <a:solidFill>
                  <a:srgbClr val="FF0000"/>
                </a:solidFill>
                <a:effectLst/>
                <a:ea typeface="Calibri" panose="020F0502020204030204" pitchFamily="34" charset="0"/>
                <a:cs typeface="Times New Roman" panose="02020603050405020304" pitchFamily="18" charset="0"/>
              </a:rPr>
              <a:t>e </a:t>
            </a:r>
            <a:r>
              <a:rPr lang="fr-FR" spc="-10" dirty="0">
                <a:solidFill>
                  <a:srgbClr val="FF0000"/>
                </a:solidFill>
                <a:effectLst/>
                <a:ea typeface="Calibri" panose="020F0502020204030204" pitchFamily="34" charset="0"/>
                <a:cs typeface="Times New Roman" panose="02020603050405020304" pitchFamily="18" charset="0"/>
              </a:rPr>
              <a:t>mesurée</a:t>
            </a:r>
            <a:r>
              <a:rPr lang="fr-FR" spc="-20" dirty="0">
                <a:solidFill>
                  <a:srgbClr val="FF0000"/>
                </a:solidFill>
                <a:effectLst/>
                <a:ea typeface="Calibri" panose="020F0502020204030204" pitchFamily="34" charset="0"/>
                <a:cs typeface="Times New Roman" panose="02020603050405020304" pitchFamily="18" charset="0"/>
              </a:rPr>
              <a:t> </a:t>
            </a:r>
            <a:r>
              <a:rPr lang="fr-FR" spc="-5" dirty="0">
                <a:solidFill>
                  <a:srgbClr val="FF0000"/>
                </a:solidFill>
                <a:effectLst/>
                <a:ea typeface="Calibri" panose="020F0502020204030204" pitchFamily="34" charset="0"/>
                <a:cs typeface="Times New Roman" panose="02020603050405020304" pitchFamily="18" charset="0"/>
              </a:rPr>
              <a:t>(300</a:t>
            </a:r>
            <a:r>
              <a:rPr lang="fr-FR" spc="-20" dirty="0">
                <a:solidFill>
                  <a:srgbClr val="FF0000"/>
                </a:solidFill>
                <a:effectLst/>
                <a:ea typeface="Calibri" panose="020F0502020204030204" pitchFamily="34" charset="0"/>
                <a:cs typeface="Times New Roman" panose="02020603050405020304" pitchFamily="18" charset="0"/>
              </a:rPr>
              <a:t> </a:t>
            </a:r>
            <a:r>
              <a:rPr lang="fr-FR" spc="-5" dirty="0">
                <a:solidFill>
                  <a:srgbClr val="FF0000"/>
                </a:solidFill>
                <a:effectLst/>
                <a:ea typeface="Calibri" panose="020F0502020204030204" pitchFamily="34" charset="0"/>
                <a:cs typeface="Times New Roman" panose="02020603050405020304" pitchFamily="18" charset="0"/>
              </a:rPr>
              <a:t>mOsm/L)</a:t>
            </a:r>
            <a:r>
              <a:rPr lang="fr-FR" spc="-15" dirty="0">
                <a:solidFill>
                  <a:srgbClr val="FF0000"/>
                </a:solidFill>
                <a:effectLst/>
                <a:ea typeface="Calibri" panose="020F0502020204030204" pitchFamily="34" charset="0"/>
                <a:cs typeface="Times New Roman" panose="02020603050405020304" pitchFamily="18" charset="0"/>
              </a:rPr>
              <a:t> </a:t>
            </a:r>
            <a:r>
              <a:rPr lang="fr-FR" spc="-10" dirty="0">
                <a:solidFill>
                  <a:srgbClr val="FF0000"/>
                </a:solidFill>
                <a:effectLst/>
                <a:ea typeface="Calibri" panose="020F0502020204030204" pitchFamily="34" charset="0"/>
                <a:cs typeface="Times New Roman" panose="02020603050405020304" pitchFamily="18" charset="0"/>
              </a:rPr>
              <a:t>et</a:t>
            </a:r>
            <a:r>
              <a:rPr lang="fr-FR" spc="-30" dirty="0">
                <a:solidFill>
                  <a:srgbClr val="FF0000"/>
                </a:solidFill>
                <a:effectLst/>
                <a:ea typeface="Calibri" panose="020F0502020204030204" pitchFamily="34" charset="0"/>
                <a:cs typeface="Times New Roman" panose="02020603050405020304" pitchFamily="18" charset="0"/>
              </a:rPr>
              <a:t> </a:t>
            </a:r>
            <a:r>
              <a:rPr lang="fr-FR" dirty="0">
                <a:solidFill>
                  <a:srgbClr val="FF0000"/>
                </a:solidFill>
                <a:effectLst/>
                <a:ea typeface="Calibri" panose="020F0502020204030204" pitchFamily="34" charset="0"/>
                <a:cs typeface="Times New Roman" panose="02020603050405020304" pitchFamily="18" charset="0"/>
              </a:rPr>
              <a:t>celle</a:t>
            </a:r>
            <a:r>
              <a:rPr lang="fr-FR" spc="-50" dirty="0">
                <a:solidFill>
                  <a:srgbClr val="FF0000"/>
                </a:solidFill>
                <a:effectLst/>
                <a:ea typeface="Calibri" panose="020F0502020204030204" pitchFamily="34" charset="0"/>
                <a:cs typeface="Times New Roman" panose="02020603050405020304" pitchFamily="18" charset="0"/>
              </a:rPr>
              <a:t> </a:t>
            </a:r>
            <a:r>
              <a:rPr lang="fr-FR" spc="-5" dirty="0">
                <a:solidFill>
                  <a:srgbClr val="FF0000"/>
                </a:solidFill>
                <a:effectLst/>
                <a:ea typeface="Calibri" panose="020F0502020204030204" pitchFamily="34" charset="0"/>
                <a:cs typeface="Times New Roman" panose="02020603050405020304" pitchFamily="18" charset="0"/>
              </a:rPr>
              <a:t>calculée</a:t>
            </a:r>
            <a:r>
              <a:rPr lang="fr-FR" spc="-45" dirty="0">
                <a:solidFill>
                  <a:srgbClr val="FF0000"/>
                </a:solidFill>
                <a:effectLst/>
                <a:ea typeface="Calibri" panose="020F0502020204030204" pitchFamily="34" charset="0"/>
                <a:cs typeface="Times New Roman" panose="02020603050405020304" pitchFamily="18" charset="0"/>
              </a:rPr>
              <a:t> </a:t>
            </a:r>
            <a:r>
              <a:rPr lang="fr-FR" dirty="0">
                <a:solidFill>
                  <a:srgbClr val="FF0000"/>
                </a:solidFill>
                <a:effectLst/>
                <a:ea typeface="Calibri" panose="020F0502020204030204" pitchFamily="34" charset="0"/>
                <a:cs typeface="Times New Roman" panose="02020603050405020304" pitchFamily="18" charset="0"/>
              </a:rPr>
              <a:t>dans</a:t>
            </a:r>
            <a:r>
              <a:rPr lang="fr-FR" spc="-60" dirty="0">
                <a:solidFill>
                  <a:srgbClr val="FF0000"/>
                </a:solidFill>
                <a:effectLst/>
                <a:ea typeface="Calibri" panose="020F0502020204030204" pitchFamily="34" charset="0"/>
                <a:cs typeface="Times New Roman" panose="02020603050405020304" pitchFamily="18" charset="0"/>
              </a:rPr>
              <a:t> </a:t>
            </a:r>
            <a:r>
              <a:rPr lang="fr-FR" dirty="0">
                <a:solidFill>
                  <a:srgbClr val="FF0000"/>
                </a:solidFill>
                <a:effectLst/>
                <a:ea typeface="Calibri" panose="020F0502020204030204" pitchFamily="34" charset="0"/>
                <a:cs typeface="Times New Roman" panose="02020603050405020304" pitchFamily="18" charset="0"/>
              </a:rPr>
              <a:t>le</a:t>
            </a:r>
            <a:r>
              <a:rPr lang="fr-FR" spc="-45" dirty="0">
                <a:solidFill>
                  <a:srgbClr val="FF0000"/>
                </a:solidFill>
                <a:effectLst/>
                <a:ea typeface="Calibri" panose="020F0502020204030204" pitchFamily="34" charset="0"/>
                <a:cs typeface="Times New Roman" panose="02020603050405020304" pitchFamily="18" charset="0"/>
              </a:rPr>
              <a:t> </a:t>
            </a:r>
            <a:r>
              <a:rPr lang="fr-FR" spc="-5" dirty="0">
                <a:solidFill>
                  <a:srgbClr val="FF0000"/>
                </a:solidFill>
                <a:effectLst/>
                <a:ea typeface="Calibri" panose="020F0502020204030204" pitchFamily="34" charset="0"/>
                <a:cs typeface="Times New Roman" panose="02020603050405020304" pitchFamily="18" charset="0"/>
              </a:rPr>
              <a:t>tableau</a:t>
            </a:r>
            <a:r>
              <a:rPr lang="fr-FR" spc="-60" dirty="0">
                <a:solidFill>
                  <a:srgbClr val="FF0000"/>
                </a:solidFill>
                <a:effectLst/>
                <a:ea typeface="Calibri" panose="020F0502020204030204" pitchFamily="34" charset="0"/>
                <a:cs typeface="Times New Roman" panose="02020603050405020304" pitchFamily="18" charset="0"/>
              </a:rPr>
              <a:t> </a:t>
            </a:r>
            <a:r>
              <a:rPr lang="fr-FR" spc="-5" dirty="0">
                <a:solidFill>
                  <a:srgbClr val="FF0000"/>
                </a:solidFill>
                <a:effectLst/>
                <a:ea typeface="Calibri" panose="020F0502020204030204" pitchFamily="34" charset="0"/>
                <a:cs typeface="Times New Roman" panose="02020603050405020304" pitchFamily="18" charset="0"/>
              </a:rPr>
              <a:t>(164,5</a:t>
            </a:r>
            <a:r>
              <a:rPr lang="fr-FR" spc="-10" dirty="0">
                <a:solidFill>
                  <a:srgbClr val="FF0000"/>
                </a:solidFill>
                <a:effectLst/>
                <a:ea typeface="Calibri" panose="020F0502020204030204" pitchFamily="34" charset="0"/>
                <a:cs typeface="Times New Roman" panose="02020603050405020304" pitchFamily="18" charset="0"/>
              </a:rPr>
              <a:t> </a:t>
            </a:r>
            <a:r>
              <a:rPr lang="fr-FR" spc="-5" dirty="0">
                <a:solidFill>
                  <a:srgbClr val="FF0000"/>
                </a:solidFill>
                <a:effectLst/>
                <a:ea typeface="Calibri" panose="020F0502020204030204" pitchFamily="34" charset="0"/>
                <a:cs typeface="Times New Roman" panose="02020603050405020304" pitchFamily="18" charset="0"/>
              </a:rPr>
              <a:t>mOsm/L)?</a:t>
            </a:r>
            <a:endParaRPr lang="en-CA" dirty="0">
              <a:effectLst/>
              <a:ea typeface="Cambria" panose="02040503050406030204" pitchFamily="18" charset="0"/>
              <a:cs typeface="Times New Roman" panose="02020603050405020304" pitchFamily="18" charset="0"/>
            </a:endParaRPr>
          </a:p>
          <a:p>
            <a:pPr algn="just"/>
            <a:r>
              <a:rPr lang="fr-FR" dirty="0">
                <a:effectLst/>
                <a:ea typeface="Cambria" panose="02040503050406030204" pitchFamily="18" charset="0"/>
                <a:cs typeface="Times New Roman" panose="02020603050405020304" pitchFamily="18" charset="0"/>
              </a:rPr>
              <a:t>En fait, l’osmolarité intracellulaire est nécessairement égale à l’osmolarité extracellulaire à l’équilibre, parce qu’autrement il y aurait un mouvement net d’eau et un changement de volume de la cellule. Par exemple la cellule perdrait son eau si l’osmolarité intracellulaire n’était que de 164,5 </a:t>
            </a:r>
            <a:r>
              <a:rPr lang="fr-FR" dirty="0" err="1">
                <a:effectLst/>
                <a:ea typeface="Cambria" panose="02040503050406030204" pitchFamily="18" charset="0"/>
                <a:cs typeface="Times New Roman" panose="02020603050405020304" pitchFamily="18" charset="0"/>
              </a:rPr>
              <a:t>mOsmol</a:t>
            </a:r>
            <a:r>
              <a:rPr lang="fr-FR" dirty="0">
                <a:effectLst/>
                <a:ea typeface="Cambria" panose="02040503050406030204" pitchFamily="18" charset="0"/>
                <a:cs typeface="Times New Roman" panose="02020603050405020304" pitchFamily="18" charset="0"/>
              </a:rPr>
              <a:t>/L par rapport à 300 mOsm/L à l’extérieur.</a:t>
            </a:r>
          </a:p>
          <a:p>
            <a:pPr algn="just"/>
            <a:r>
              <a:rPr lang="fr-FR" dirty="0">
                <a:effectLst/>
                <a:ea typeface="Cambria" panose="02040503050406030204" pitchFamily="18" charset="0"/>
                <a:cs typeface="Times New Roman" panose="02020603050405020304" pitchFamily="18" charset="0"/>
              </a:rPr>
              <a:t>Donc, si le calcul ne correspond pas à la valeur extracellulaire, c’est parce que plusieurs solutés intracellulaires ne sont pas indiqués dans le tableau, dont les protéines, qui contribuent pour une grande partie à l’osmolarité intracellulaire. </a:t>
            </a:r>
            <a:endParaRPr lang="en-CA" dirty="0">
              <a:effectLst/>
              <a:ea typeface="Cambria" panose="02040503050406030204" pitchFamily="18" charset="0"/>
              <a:cs typeface="Times New Roman" panose="02020603050405020304" pitchFamily="18" charset="0"/>
            </a:endParaRPr>
          </a:p>
          <a:p>
            <a:endParaRPr lang="en-US" dirty="0"/>
          </a:p>
        </p:txBody>
      </p:sp>
      <p:sp>
        <p:nvSpPr>
          <p:cNvPr id="4" name="Slide Number Placeholder 3"/>
          <p:cNvSpPr>
            <a:spLocks noGrp="1"/>
          </p:cNvSpPr>
          <p:nvPr>
            <p:ph type="sldNum" sz="quarter" idx="10"/>
          </p:nvPr>
        </p:nvSpPr>
        <p:spPr/>
        <p:txBody>
          <a:bodyPr/>
          <a:lstStyle/>
          <a:p>
            <a:pPr>
              <a:defRPr/>
            </a:pPr>
            <a:fld id="{07FBCF2F-6636-40C0-80F2-EE6D30514956}" type="slidenum">
              <a:rPr lang="fr-CA" smtClean="0"/>
              <a:pPr>
                <a:defRPr/>
              </a:pPr>
              <a:t>34</a:t>
            </a:fld>
            <a:endParaRPr lang="fr-CA"/>
          </a:p>
        </p:txBody>
      </p:sp>
    </p:spTree>
    <p:extLst>
      <p:ext uri="{BB962C8B-B14F-4D97-AF65-F5344CB8AC3E}">
        <p14:creationId xmlns:p14="http://schemas.microsoft.com/office/powerpoint/2010/main" val="202408463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pPr>
              <a:defRPr/>
            </a:pPr>
            <a:fld id="{07FBCF2F-6636-40C0-80F2-EE6D30514956}" type="slidenum">
              <a:rPr lang="fr-CA" smtClean="0"/>
              <a:pPr>
                <a:defRPr/>
              </a:pPr>
              <a:t>35</a:t>
            </a:fld>
            <a:endParaRPr lang="fr-CA"/>
          </a:p>
        </p:txBody>
      </p:sp>
    </p:spTree>
    <p:extLst>
      <p:ext uri="{BB962C8B-B14F-4D97-AF65-F5344CB8AC3E}">
        <p14:creationId xmlns:p14="http://schemas.microsoft.com/office/powerpoint/2010/main" val="304536417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121921" y="4560570"/>
            <a:ext cx="6966856" cy="4923064"/>
          </a:xfrm>
        </p:spPr>
        <p:txBody>
          <a:bodyPr/>
          <a:lstStyle/>
          <a:p>
            <a:pPr marL="226695">
              <a:lnSpc>
                <a:spcPct val="50000"/>
              </a:lnSpc>
            </a:pPr>
            <a:r>
              <a:rPr lang="fr-FR" sz="1200" dirty="0">
                <a:solidFill>
                  <a:srgbClr val="000000"/>
                </a:solidFill>
                <a:effectLst/>
                <a:latin typeface="Times New Roman" panose="02020603050405020304" pitchFamily="18" charset="0"/>
                <a:ea typeface="Times New Roman" panose="02020603050405020304" pitchFamily="18" charset="0"/>
              </a:rPr>
              <a:t> </a:t>
            </a:r>
            <a:endParaRPr lang="en-CA" sz="1200" dirty="0">
              <a:solidFill>
                <a:srgbClr val="000000"/>
              </a:solidFill>
              <a:effectLst/>
              <a:latin typeface="Times New Roman" panose="02020603050405020304" pitchFamily="18" charset="0"/>
              <a:ea typeface="Times New Roman" panose="02020603050405020304" pitchFamily="18" charset="0"/>
            </a:endParaRPr>
          </a:p>
          <a:p>
            <a:pPr marL="182563" lvl="0" indent="-182563">
              <a:buSzPts val="1000"/>
              <a:buFont typeface="Wingdings" panose="05000000000000000000" pitchFamily="2" charset="2"/>
              <a:buChar char=""/>
            </a:pPr>
            <a:r>
              <a:rPr lang="fr-FR" sz="1100" b="1" i="1" dirty="0">
                <a:solidFill>
                  <a:srgbClr val="000000"/>
                </a:solidFill>
                <a:effectLst/>
                <a:latin typeface="Arial" panose="020B0604020202020204" pitchFamily="34" charset="0"/>
                <a:ea typeface="Times New Roman" panose="02020603050405020304" pitchFamily="18" charset="0"/>
              </a:rPr>
              <a:t>Solution isotonique </a:t>
            </a:r>
            <a:r>
              <a:rPr lang="fr-FR" sz="1100" b="1" dirty="0">
                <a:solidFill>
                  <a:srgbClr val="000000"/>
                </a:solidFill>
                <a:effectLst/>
                <a:latin typeface="Arial" panose="020B0604020202020204" pitchFamily="34" charset="0"/>
                <a:ea typeface="Times New Roman" panose="02020603050405020304" pitchFamily="18" charset="0"/>
              </a:rPr>
              <a:t>:</a:t>
            </a:r>
            <a:r>
              <a:rPr lang="fr-FR" sz="1100" dirty="0">
                <a:solidFill>
                  <a:srgbClr val="000000"/>
                </a:solidFill>
                <a:effectLst/>
                <a:latin typeface="Arial" panose="020B0604020202020204" pitchFamily="34" charset="0"/>
                <a:ea typeface="Times New Roman" panose="02020603050405020304" pitchFamily="18" charset="0"/>
              </a:rPr>
              <a:t> solution qui ne cause de changement de volume cellulaire.</a:t>
            </a:r>
            <a:endParaRPr lang="en-CA" sz="1200" dirty="0">
              <a:solidFill>
                <a:srgbClr val="000000"/>
              </a:solidFill>
              <a:effectLst/>
              <a:latin typeface="Times New Roman" panose="02020603050405020304" pitchFamily="18" charset="0"/>
              <a:ea typeface="Times New Roman" panose="02020603050405020304" pitchFamily="18" charset="0"/>
            </a:endParaRPr>
          </a:p>
          <a:p>
            <a:pPr marL="357188" lvl="1" indent="-174625">
              <a:buFont typeface="Symbol" panose="05050102010706020507" pitchFamily="18" charset="2"/>
              <a:buChar char=""/>
              <a:tabLst>
                <a:tab pos="1257300" algn="l"/>
              </a:tabLst>
            </a:pPr>
            <a:r>
              <a:rPr lang="fr-FR" sz="1100" dirty="0">
                <a:solidFill>
                  <a:srgbClr val="000000"/>
                </a:solidFill>
                <a:effectLst/>
                <a:latin typeface="Arial" panose="020B0604020202020204" pitchFamily="34" charset="0"/>
                <a:ea typeface="Times New Roman" panose="02020603050405020304" pitchFamily="18" charset="0"/>
              </a:rPr>
              <a:t>L’osmolarité des solutés non-diffusibles d’une solution isotonique est </a:t>
            </a:r>
            <a:r>
              <a:rPr lang="fr-FR" sz="1100" u="sng" dirty="0">
                <a:solidFill>
                  <a:srgbClr val="000000"/>
                </a:solidFill>
                <a:effectLst/>
                <a:latin typeface="Arial" panose="020B0604020202020204" pitchFamily="34" charset="0"/>
                <a:ea typeface="Times New Roman" panose="02020603050405020304" pitchFamily="18" charset="0"/>
              </a:rPr>
              <a:t>égale</a:t>
            </a:r>
            <a:r>
              <a:rPr lang="fr-FR" sz="1100" dirty="0">
                <a:solidFill>
                  <a:srgbClr val="000000"/>
                </a:solidFill>
                <a:effectLst/>
                <a:latin typeface="Arial" panose="020B0604020202020204" pitchFamily="34" charset="0"/>
                <a:ea typeface="Times New Roman" panose="02020603050405020304" pitchFamily="18" charset="0"/>
              </a:rPr>
              <a:t> à l’osmolarité intracellulaire.</a:t>
            </a:r>
            <a:endParaRPr lang="en-CA" sz="1200" dirty="0">
              <a:solidFill>
                <a:srgbClr val="000000"/>
              </a:solidFill>
              <a:effectLst/>
              <a:latin typeface="Times New Roman" panose="02020603050405020304" pitchFamily="18" charset="0"/>
              <a:ea typeface="Times New Roman" panose="02020603050405020304" pitchFamily="18" charset="0"/>
            </a:endParaRPr>
          </a:p>
          <a:p>
            <a:pPr marL="539750" indent="-346075"/>
            <a:r>
              <a:rPr lang="fr-FR" sz="1100" dirty="0">
                <a:solidFill>
                  <a:srgbClr val="000000"/>
                </a:solidFill>
                <a:effectLst/>
                <a:latin typeface="Arial" panose="020B0604020202020204" pitchFamily="34" charset="0"/>
                <a:ea typeface="Times New Roman" panose="02020603050405020304" pitchFamily="18" charset="0"/>
              </a:rPr>
              <a:t>Ex.: 	</a:t>
            </a:r>
            <a:r>
              <a:rPr lang="fr-FR" sz="1100" dirty="0" err="1">
                <a:solidFill>
                  <a:srgbClr val="000000"/>
                </a:solidFill>
                <a:effectLst/>
                <a:latin typeface="Arial" panose="020B0604020202020204" pitchFamily="34" charset="0"/>
                <a:ea typeface="Times New Roman" panose="02020603050405020304" pitchFamily="18" charset="0"/>
              </a:rPr>
              <a:t>NaCl</a:t>
            </a:r>
            <a:r>
              <a:rPr lang="fr-FR" sz="1100" dirty="0">
                <a:solidFill>
                  <a:srgbClr val="000000"/>
                </a:solidFill>
                <a:effectLst/>
                <a:latin typeface="Arial" panose="020B0604020202020204" pitchFamily="34" charset="0"/>
                <a:ea typeface="Times New Roman" panose="02020603050405020304" pitchFamily="18" charset="0"/>
              </a:rPr>
              <a:t> 0,9%  (solution standard utilisée couramment pour des injections intraveineuses) :</a:t>
            </a:r>
            <a:endParaRPr lang="en-CA" sz="1200" dirty="0">
              <a:solidFill>
                <a:srgbClr val="000000"/>
              </a:solidFill>
              <a:effectLst/>
              <a:latin typeface="Times New Roman" panose="02020603050405020304" pitchFamily="18" charset="0"/>
              <a:ea typeface="Times New Roman" panose="02020603050405020304" pitchFamily="18" charset="0"/>
            </a:endParaRPr>
          </a:p>
          <a:p>
            <a:pPr marL="539750"/>
            <a:r>
              <a:rPr lang="fr-FR" sz="1100" dirty="0">
                <a:solidFill>
                  <a:srgbClr val="000000"/>
                </a:solidFill>
                <a:effectLst/>
                <a:latin typeface="Arial" panose="020B0604020202020204" pitchFamily="34" charset="0"/>
                <a:ea typeface="Times New Roman" panose="02020603050405020304" pitchFamily="18" charset="0"/>
              </a:rPr>
              <a:t>0,9 % </a:t>
            </a:r>
            <a:r>
              <a:rPr lang="fr-FR" sz="1100" dirty="0" err="1">
                <a:solidFill>
                  <a:srgbClr val="000000"/>
                </a:solidFill>
                <a:effectLst/>
                <a:latin typeface="Arial" panose="020B0604020202020204" pitchFamily="34" charset="0"/>
                <a:ea typeface="Times New Roman" panose="02020603050405020304" pitchFamily="18" charset="0"/>
              </a:rPr>
              <a:t>NaCl</a:t>
            </a:r>
            <a:r>
              <a:rPr lang="fr-FR" sz="1100" dirty="0">
                <a:solidFill>
                  <a:srgbClr val="000000"/>
                </a:solidFill>
                <a:effectLst/>
                <a:latin typeface="Arial" panose="020B0604020202020204" pitchFamily="34" charset="0"/>
                <a:ea typeface="Times New Roman" panose="02020603050405020304" pitchFamily="18" charset="0"/>
              </a:rPr>
              <a:t> = 0,9 g </a:t>
            </a:r>
            <a:r>
              <a:rPr lang="fr-FR" sz="1100" dirty="0" err="1">
                <a:solidFill>
                  <a:srgbClr val="000000"/>
                </a:solidFill>
                <a:effectLst/>
                <a:latin typeface="Arial" panose="020B0604020202020204" pitchFamily="34" charset="0"/>
                <a:ea typeface="Times New Roman" panose="02020603050405020304" pitchFamily="18" charset="0"/>
              </a:rPr>
              <a:t>NaCl</a:t>
            </a:r>
            <a:r>
              <a:rPr lang="fr-FR" sz="1100" dirty="0">
                <a:solidFill>
                  <a:srgbClr val="000000"/>
                </a:solidFill>
                <a:effectLst/>
                <a:latin typeface="Arial" panose="020B0604020202020204" pitchFamily="34" charset="0"/>
                <a:ea typeface="Times New Roman" panose="02020603050405020304" pitchFamily="18" charset="0"/>
              </a:rPr>
              <a:t> / 100 </a:t>
            </a:r>
            <a:r>
              <a:rPr lang="fr-FR" sz="1100" dirty="0" err="1">
                <a:solidFill>
                  <a:srgbClr val="000000"/>
                </a:solidFill>
                <a:effectLst/>
                <a:latin typeface="Arial" panose="020B0604020202020204" pitchFamily="34" charset="0"/>
                <a:ea typeface="Times New Roman" panose="02020603050405020304" pitchFamily="18" charset="0"/>
              </a:rPr>
              <a:t>mL</a:t>
            </a:r>
            <a:r>
              <a:rPr lang="fr-FR" sz="1100" dirty="0">
                <a:solidFill>
                  <a:srgbClr val="000000"/>
                </a:solidFill>
                <a:effectLst/>
                <a:latin typeface="Arial" panose="020B0604020202020204" pitchFamily="34" charset="0"/>
                <a:ea typeface="Times New Roman" panose="02020603050405020304" pitchFamily="18" charset="0"/>
              </a:rPr>
              <a:t> de solution. </a:t>
            </a:r>
            <a:endParaRPr lang="en-CA" sz="1200" dirty="0">
              <a:solidFill>
                <a:srgbClr val="000000"/>
              </a:solidFill>
              <a:effectLst/>
              <a:latin typeface="Times New Roman" panose="02020603050405020304" pitchFamily="18" charset="0"/>
              <a:ea typeface="Times New Roman" panose="02020603050405020304" pitchFamily="18" charset="0"/>
            </a:endParaRPr>
          </a:p>
          <a:p>
            <a:pPr marL="539750"/>
            <a:r>
              <a:rPr lang="fr-FR" sz="1100" dirty="0">
                <a:solidFill>
                  <a:srgbClr val="000000"/>
                </a:solidFill>
                <a:effectLst/>
                <a:latin typeface="Arial" panose="020B0604020202020204" pitchFamily="34" charset="0"/>
                <a:ea typeface="Times New Roman" panose="02020603050405020304" pitchFamily="18" charset="0"/>
              </a:rPr>
              <a:t>Puisque le poids moléculaire du </a:t>
            </a:r>
            <a:r>
              <a:rPr lang="fr-FR" sz="1100" dirty="0" err="1">
                <a:solidFill>
                  <a:srgbClr val="000000"/>
                </a:solidFill>
                <a:effectLst/>
                <a:latin typeface="Arial" panose="020B0604020202020204" pitchFamily="34" charset="0"/>
                <a:ea typeface="Times New Roman" panose="02020603050405020304" pitchFamily="18" charset="0"/>
              </a:rPr>
              <a:t>NaCl</a:t>
            </a:r>
            <a:r>
              <a:rPr lang="fr-FR" sz="1100" dirty="0">
                <a:solidFill>
                  <a:srgbClr val="000000"/>
                </a:solidFill>
                <a:effectLst/>
                <a:latin typeface="Arial" panose="020B0604020202020204" pitchFamily="34" charset="0"/>
                <a:ea typeface="Times New Roman" panose="02020603050405020304" pitchFamily="18" charset="0"/>
              </a:rPr>
              <a:t> = 58,5g/mole</a:t>
            </a:r>
            <a:endParaRPr lang="en-CA" sz="1200" dirty="0">
              <a:solidFill>
                <a:srgbClr val="000000"/>
              </a:solidFill>
              <a:effectLst/>
              <a:latin typeface="Times New Roman" panose="02020603050405020304" pitchFamily="18" charset="0"/>
              <a:ea typeface="Times New Roman" panose="02020603050405020304" pitchFamily="18" charset="0"/>
            </a:endParaRPr>
          </a:p>
          <a:p>
            <a:pPr marL="714375" lvl="1" indent="-174625">
              <a:spcBef>
                <a:spcPts val="0"/>
              </a:spcBef>
              <a:buFont typeface="Symbol" panose="05050102010706020507" pitchFamily="18" charset="2"/>
              <a:buChar char=""/>
              <a:tabLst>
                <a:tab pos="1600200" algn="l"/>
              </a:tabLst>
            </a:pPr>
            <a:r>
              <a:rPr lang="fr-FR" sz="1100" dirty="0">
                <a:solidFill>
                  <a:srgbClr val="000000"/>
                </a:solidFill>
                <a:effectLst/>
                <a:latin typeface="Arial" panose="020B0604020202020204" pitchFamily="34" charset="0"/>
                <a:ea typeface="Times New Roman" panose="02020603050405020304" pitchFamily="18" charset="0"/>
              </a:rPr>
              <a:t>Concentration de </a:t>
            </a:r>
            <a:r>
              <a:rPr lang="fr-FR" sz="1100" dirty="0" err="1">
                <a:solidFill>
                  <a:srgbClr val="000000"/>
                </a:solidFill>
                <a:effectLst/>
                <a:latin typeface="Arial" panose="020B0604020202020204" pitchFamily="34" charset="0"/>
                <a:ea typeface="Times New Roman" panose="02020603050405020304" pitchFamily="18" charset="0"/>
              </a:rPr>
              <a:t>NaCl</a:t>
            </a:r>
            <a:r>
              <a:rPr lang="fr-FR" sz="1100" dirty="0">
                <a:solidFill>
                  <a:srgbClr val="000000"/>
                </a:solidFill>
                <a:effectLst/>
                <a:latin typeface="Arial" panose="020B0604020202020204" pitchFamily="34" charset="0"/>
                <a:ea typeface="Times New Roman" panose="02020603050405020304" pitchFamily="18" charset="0"/>
              </a:rPr>
              <a:t> = 154 </a:t>
            </a:r>
            <a:r>
              <a:rPr lang="fr-FR" sz="1100" dirty="0" err="1">
                <a:solidFill>
                  <a:srgbClr val="000000"/>
                </a:solidFill>
                <a:effectLst/>
                <a:latin typeface="Arial" panose="020B0604020202020204" pitchFamily="34" charset="0"/>
                <a:ea typeface="Times New Roman" panose="02020603050405020304" pitchFamily="18" charset="0"/>
              </a:rPr>
              <a:t>mM.</a:t>
            </a:r>
            <a:endParaRPr lang="en-CA" sz="1200" dirty="0">
              <a:solidFill>
                <a:srgbClr val="000000"/>
              </a:solidFill>
              <a:effectLst/>
              <a:latin typeface="Times New Roman" panose="02020603050405020304" pitchFamily="18" charset="0"/>
              <a:ea typeface="Times New Roman" panose="02020603050405020304" pitchFamily="18" charset="0"/>
            </a:endParaRPr>
          </a:p>
          <a:p>
            <a:pPr marL="714375" indent="-174625">
              <a:spcBef>
                <a:spcPts val="0"/>
              </a:spcBef>
            </a:pPr>
            <a:r>
              <a:rPr lang="fr-FR" sz="1100" dirty="0">
                <a:solidFill>
                  <a:srgbClr val="000000"/>
                </a:solidFill>
                <a:effectLst/>
                <a:latin typeface="Arial" panose="020B0604020202020204" pitchFamily="34" charset="0"/>
                <a:ea typeface="Times New Roman" panose="02020603050405020304" pitchFamily="18" charset="0"/>
                <a:cs typeface="Arial" panose="020B0604020202020204" pitchFamily="34" charset="0"/>
                <a:sym typeface="Symbol" panose="05050102010706020507" pitchFamily="18" charset="2"/>
              </a:rPr>
              <a:t></a:t>
            </a:r>
            <a:r>
              <a:rPr lang="fr-FR" sz="1100" dirty="0">
                <a:solidFill>
                  <a:srgbClr val="000000"/>
                </a:solidFill>
                <a:effectLst/>
                <a:latin typeface="Arial" panose="020B0604020202020204" pitchFamily="34" charset="0"/>
                <a:ea typeface="Times New Roman" panose="02020603050405020304" pitchFamily="18" charset="0"/>
              </a:rPr>
              <a:t> Osmolarité de cette solution ≈ 308 </a:t>
            </a:r>
            <a:r>
              <a:rPr lang="fr-FR" sz="1100" dirty="0" err="1">
                <a:solidFill>
                  <a:srgbClr val="000000"/>
                </a:solidFill>
                <a:effectLst/>
                <a:latin typeface="Arial" panose="020B0604020202020204" pitchFamily="34" charset="0"/>
                <a:ea typeface="Times New Roman" panose="02020603050405020304" pitchFamily="18" charset="0"/>
              </a:rPr>
              <a:t>mOsmol</a:t>
            </a:r>
            <a:r>
              <a:rPr lang="fr-FR" sz="1100" dirty="0">
                <a:solidFill>
                  <a:srgbClr val="000000"/>
                </a:solidFill>
                <a:effectLst/>
                <a:latin typeface="Arial" panose="020B0604020202020204" pitchFamily="34" charset="0"/>
                <a:ea typeface="Times New Roman" panose="02020603050405020304" pitchFamily="18" charset="0"/>
              </a:rPr>
              <a:t>/L, ce qui est très près de la valeur de l’osmolarité intracellulaire.</a:t>
            </a:r>
            <a:endParaRPr lang="en-CA" sz="1200" dirty="0">
              <a:solidFill>
                <a:srgbClr val="000000"/>
              </a:solidFill>
              <a:effectLst/>
              <a:latin typeface="Times New Roman" panose="02020603050405020304" pitchFamily="18" charset="0"/>
              <a:ea typeface="Times New Roman" panose="02020603050405020304" pitchFamily="18" charset="0"/>
            </a:endParaRPr>
          </a:p>
          <a:p>
            <a:pPr>
              <a:lnSpc>
                <a:spcPct val="50000"/>
              </a:lnSpc>
            </a:pPr>
            <a:r>
              <a:rPr lang="fr-FR" sz="1200" dirty="0">
                <a:solidFill>
                  <a:srgbClr val="000000"/>
                </a:solidFill>
                <a:effectLst/>
                <a:latin typeface="Times New Roman" panose="02020603050405020304" pitchFamily="18" charset="0"/>
                <a:ea typeface="Times New Roman" panose="02020603050405020304" pitchFamily="18" charset="0"/>
              </a:rPr>
              <a:t> </a:t>
            </a:r>
            <a:endParaRPr lang="en-CA" sz="1200" dirty="0">
              <a:solidFill>
                <a:srgbClr val="000000"/>
              </a:solidFill>
              <a:effectLst/>
              <a:latin typeface="Times New Roman" panose="02020603050405020304" pitchFamily="18" charset="0"/>
              <a:ea typeface="Times New Roman" panose="02020603050405020304" pitchFamily="18" charset="0"/>
            </a:endParaRPr>
          </a:p>
          <a:p>
            <a:pPr marL="182563" lvl="0" indent="-182563">
              <a:buSzPts val="1000"/>
              <a:buFont typeface="Wingdings" panose="05000000000000000000" pitchFamily="2" charset="2"/>
              <a:buChar char=""/>
            </a:pPr>
            <a:r>
              <a:rPr lang="fr-FR" sz="1100" b="1" i="1" dirty="0">
                <a:solidFill>
                  <a:srgbClr val="000000"/>
                </a:solidFill>
                <a:effectLst/>
                <a:latin typeface="Arial" panose="020B0604020202020204" pitchFamily="34" charset="0"/>
                <a:ea typeface="Times New Roman" panose="02020603050405020304" pitchFamily="18" charset="0"/>
              </a:rPr>
              <a:t>Solution hypertonique </a:t>
            </a:r>
            <a:r>
              <a:rPr lang="fr-FR" sz="1100" b="1" dirty="0">
                <a:solidFill>
                  <a:srgbClr val="000000"/>
                </a:solidFill>
                <a:effectLst/>
                <a:latin typeface="Arial" panose="020B0604020202020204" pitchFamily="34" charset="0"/>
                <a:ea typeface="Times New Roman" panose="02020603050405020304" pitchFamily="18" charset="0"/>
              </a:rPr>
              <a:t>:</a:t>
            </a:r>
            <a:r>
              <a:rPr lang="fr-FR" sz="1100" dirty="0">
                <a:solidFill>
                  <a:srgbClr val="000000"/>
                </a:solidFill>
                <a:effectLst/>
                <a:latin typeface="Arial" panose="020B0604020202020204" pitchFamily="34" charset="0"/>
                <a:ea typeface="Times New Roman" panose="02020603050405020304" pitchFamily="18" charset="0"/>
              </a:rPr>
              <a:t> solution qui cause une diminution du volume cellulaire.</a:t>
            </a:r>
            <a:r>
              <a:rPr lang="fr-FR" sz="1100" i="1" dirty="0">
                <a:solidFill>
                  <a:srgbClr val="000000"/>
                </a:solidFill>
                <a:effectLst/>
                <a:latin typeface="Arial" panose="020B0604020202020204" pitchFamily="34" charset="0"/>
                <a:ea typeface="Times New Roman" panose="02020603050405020304" pitchFamily="18" charset="0"/>
              </a:rPr>
              <a:t> </a:t>
            </a:r>
            <a:endParaRPr lang="en-CA" sz="1200" dirty="0">
              <a:solidFill>
                <a:srgbClr val="000000"/>
              </a:solidFill>
              <a:effectLst/>
              <a:latin typeface="Times New Roman" panose="02020603050405020304" pitchFamily="18" charset="0"/>
              <a:ea typeface="Times New Roman" panose="02020603050405020304" pitchFamily="18" charset="0"/>
            </a:endParaRPr>
          </a:p>
          <a:p>
            <a:pPr marL="357188" lvl="1" indent="-174625">
              <a:buFont typeface="Symbol" panose="05050102010706020507" pitchFamily="18" charset="2"/>
              <a:buChar char=""/>
              <a:tabLst>
                <a:tab pos="1257300" algn="l"/>
                <a:tab pos="1363980" algn="l"/>
              </a:tabLst>
            </a:pPr>
            <a:r>
              <a:rPr lang="fr-FR" sz="1100" dirty="0">
                <a:solidFill>
                  <a:srgbClr val="000000"/>
                </a:solidFill>
                <a:effectLst/>
                <a:latin typeface="Arial" panose="020B0604020202020204" pitchFamily="34" charset="0"/>
                <a:ea typeface="Times New Roman" panose="02020603050405020304" pitchFamily="18" charset="0"/>
              </a:rPr>
              <a:t>L’osmolarité des solutés non diffusibles d’une solution hypertonique est </a:t>
            </a:r>
            <a:r>
              <a:rPr lang="fr-FR" sz="1100" u="sng" dirty="0">
                <a:solidFill>
                  <a:srgbClr val="000000"/>
                </a:solidFill>
                <a:effectLst/>
                <a:latin typeface="Arial" panose="020B0604020202020204" pitchFamily="34" charset="0"/>
                <a:ea typeface="Times New Roman" panose="02020603050405020304" pitchFamily="18" charset="0"/>
              </a:rPr>
              <a:t>plus grande</a:t>
            </a:r>
            <a:r>
              <a:rPr lang="fr-FR" sz="1100" dirty="0">
                <a:solidFill>
                  <a:srgbClr val="000000"/>
                </a:solidFill>
                <a:effectLst/>
                <a:latin typeface="Arial" panose="020B0604020202020204" pitchFamily="34" charset="0"/>
                <a:ea typeface="Times New Roman" panose="02020603050405020304" pitchFamily="18" charset="0"/>
              </a:rPr>
              <a:t> que l’osmolarité intracellulaire.</a:t>
            </a:r>
            <a:endParaRPr lang="en-CA" sz="1200" dirty="0">
              <a:solidFill>
                <a:srgbClr val="000000"/>
              </a:solidFill>
              <a:effectLst/>
              <a:latin typeface="Times New Roman" panose="02020603050405020304" pitchFamily="18" charset="0"/>
              <a:ea typeface="Times New Roman" panose="02020603050405020304" pitchFamily="18" charset="0"/>
            </a:endParaRPr>
          </a:p>
          <a:p>
            <a:pPr marL="357188" lvl="1" indent="-174625">
              <a:buFont typeface="Symbol" panose="05050102010706020507" pitchFamily="18" charset="2"/>
              <a:buChar char=""/>
              <a:tabLst>
                <a:tab pos="1257300" algn="l"/>
                <a:tab pos="1363980" algn="l"/>
              </a:tabLst>
            </a:pPr>
            <a:r>
              <a:rPr lang="fr-FR" sz="1100" dirty="0">
                <a:solidFill>
                  <a:srgbClr val="000000"/>
                </a:solidFill>
                <a:effectLst/>
                <a:latin typeface="Arial" panose="020B0604020202020204" pitchFamily="34" charset="0"/>
                <a:ea typeface="Times New Roman" panose="02020603050405020304" pitchFamily="18" charset="0"/>
              </a:rPr>
              <a:t>L’eau sort de la cellule, causant ainsi une diminution de son volume.</a:t>
            </a:r>
            <a:endParaRPr lang="en-CA" sz="1200" dirty="0">
              <a:solidFill>
                <a:srgbClr val="000000"/>
              </a:solidFill>
              <a:effectLst/>
              <a:latin typeface="Times New Roman" panose="02020603050405020304" pitchFamily="18" charset="0"/>
              <a:ea typeface="Times New Roman" panose="02020603050405020304" pitchFamily="18" charset="0"/>
            </a:endParaRPr>
          </a:p>
          <a:p>
            <a:pPr marL="539750" indent="-357188"/>
            <a:r>
              <a:rPr lang="fr-FR" sz="1100" dirty="0">
                <a:solidFill>
                  <a:srgbClr val="000000"/>
                </a:solidFill>
                <a:effectLst/>
                <a:latin typeface="Arial" panose="020B0604020202020204" pitchFamily="34" charset="0"/>
                <a:ea typeface="Times New Roman" panose="02020603050405020304" pitchFamily="18" charset="0"/>
              </a:rPr>
              <a:t>Ex.: 	Des cellules placées dans une solution de 300 mM </a:t>
            </a:r>
            <a:r>
              <a:rPr lang="fr-FR" sz="1100" dirty="0" err="1">
                <a:solidFill>
                  <a:srgbClr val="000000"/>
                </a:solidFill>
                <a:effectLst/>
                <a:latin typeface="Arial" panose="020B0604020202020204" pitchFamily="34" charset="0"/>
                <a:ea typeface="Times New Roman" panose="02020603050405020304" pitchFamily="18" charset="0"/>
              </a:rPr>
              <a:t>NaCl</a:t>
            </a:r>
            <a:r>
              <a:rPr lang="fr-FR" sz="1100" dirty="0">
                <a:solidFill>
                  <a:srgbClr val="000000"/>
                </a:solidFill>
                <a:effectLst/>
                <a:latin typeface="Arial" panose="020B0604020202020204" pitchFamily="34" charset="0"/>
                <a:ea typeface="Times New Roman" panose="02020603050405020304" pitchFamily="18" charset="0"/>
              </a:rPr>
              <a:t> (osmolarité = 600 </a:t>
            </a:r>
            <a:r>
              <a:rPr lang="fr-FR" sz="1100" dirty="0" err="1">
                <a:solidFill>
                  <a:srgbClr val="000000"/>
                </a:solidFill>
                <a:effectLst/>
                <a:latin typeface="Arial" panose="020B0604020202020204" pitchFamily="34" charset="0"/>
                <a:ea typeface="Times New Roman" panose="02020603050405020304" pitchFamily="18" charset="0"/>
              </a:rPr>
              <a:t>mOsmol</a:t>
            </a:r>
            <a:r>
              <a:rPr lang="fr-FR" sz="1100" dirty="0">
                <a:solidFill>
                  <a:srgbClr val="000000"/>
                </a:solidFill>
                <a:effectLst/>
                <a:latin typeface="Arial" panose="020B0604020202020204" pitchFamily="34" charset="0"/>
                <a:ea typeface="Times New Roman" panose="02020603050405020304" pitchFamily="18" charset="0"/>
              </a:rPr>
              <a:t>/L) diminueraient de volume.</a:t>
            </a:r>
            <a:endParaRPr lang="en-CA" sz="1200" dirty="0">
              <a:solidFill>
                <a:srgbClr val="000000"/>
              </a:solidFill>
              <a:effectLst/>
              <a:latin typeface="Times New Roman" panose="02020603050405020304" pitchFamily="18" charset="0"/>
              <a:ea typeface="Times New Roman" panose="02020603050405020304" pitchFamily="18" charset="0"/>
            </a:endParaRPr>
          </a:p>
          <a:p>
            <a:pPr>
              <a:lnSpc>
                <a:spcPct val="50000"/>
              </a:lnSpc>
              <a:tabLst>
                <a:tab pos="685800" algn="l"/>
              </a:tabLst>
            </a:pPr>
            <a:r>
              <a:rPr lang="fr-FR" sz="1200" dirty="0">
                <a:solidFill>
                  <a:srgbClr val="000000"/>
                </a:solidFill>
                <a:effectLst/>
                <a:latin typeface="Times New Roman" panose="02020603050405020304" pitchFamily="18" charset="0"/>
                <a:ea typeface="Times New Roman" panose="02020603050405020304" pitchFamily="18" charset="0"/>
              </a:rPr>
              <a:t> </a:t>
            </a:r>
            <a:endParaRPr lang="en-CA" sz="1200" dirty="0">
              <a:solidFill>
                <a:srgbClr val="000000"/>
              </a:solidFill>
              <a:effectLst/>
              <a:latin typeface="Times New Roman" panose="02020603050405020304" pitchFamily="18" charset="0"/>
              <a:ea typeface="Times New Roman" panose="02020603050405020304" pitchFamily="18" charset="0"/>
            </a:endParaRPr>
          </a:p>
          <a:p>
            <a:pPr marL="182563" lvl="0" indent="-182563">
              <a:buSzPts val="1000"/>
              <a:buFont typeface="Wingdings" panose="05000000000000000000" pitchFamily="2" charset="2"/>
              <a:buChar char=""/>
            </a:pPr>
            <a:r>
              <a:rPr lang="fr-FR" sz="1100" b="1" i="1" dirty="0">
                <a:solidFill>
                  <a:srgbClr val="000000"/>
                </a:solidFill>
                <a:effectLst/>
                <a:latin typeface="Arial" panose="020B0604020202020204" pitchFamily="34" charset="0"/>
                <a:ea typeface="Times New Roman" panose="02020603050405020304" pitchFamily="18" charset="0"/>
              </a:rPr>
              <a:t>Solution hypotonique </a:t>
            </a:r>
            <a:r>
              <a:rPr lang="fr-FR" sz="1100" b="1" dirty="0">
                <a:solidFill>
                  <a:srgbClr val="000000"/>
                </a:solidFill>
                <a:effectLst/>
                <a:latin typeface="Arial" panose="020B0604020202020204" pitchFamily="34" charset="0"/>
                <a:ea typeface="Times New Roman" panose="02020603050405020304" pitchFamily="18" charset="0"/>
              </a:rPr>
              <a:t>: </a:t>
            </a:r>
            <a:r>
              <a:rPr lang="fr-FR" sz="1100" dirty="0">
                <a:solidFill>
                  <a:srgbClr val="000000"/>
                </a:solidFill>
                <a:effectLst/>
                <a:latin typeface="Arial" panose="020B0604020202020204" pitchFamily="34" charset="0"/>
                <a:ea typeface="Times New Roman" panose="02020603050405020304" pitchFamily="18" charset="0"/>
              </a:rPr>
              <a:t>solution qui cause une augmentation du volume cellulaire.</a:t>
            </a:r>
            <a:r>
              <a:rPr lang="fr-FR" sz="1100" i="1" dirty="0">
                <a:solidFill>
                  <a:srgbClr val="000000"/>
                </a:solidFill>
                <a:effectLst/>
                <a:latin typeface="Arial" panose="020B0604020202020204" pitchFamily="34" charset="0"/>
                <a:ea typeface="Times New Roman" panose="02020603050405020304" pitchFamily="18" charset="0"/>
              </a:rPr>
              <a:t> </a:t>
            </a:r>
            <a:endParaRPr lang="en-CA" sz="1200" dirty="0">
              <a:solidFill>
                <a:srgbClr val="000000"/>
              </a:solidFill>
              <a:effectLst/>
              <a:latin typeface="Times New Roman" panose="02020603050405020304" pitchFamily="18" charset="0"/>
              <a:ea typeface="Times New Roman" panose="02020603050405020304" pitchFamily="18" charset="0"/>
            </a:endParaRPr>
          </a:p>
          <a:p>
            <a:pPr marL="357188" lvl="1" indent="-174625">
              <a:buFont typeface="Symbol" panose="05050102010706020507" pitchFamily="18" charset="2"/>
              <a:buChar char=""/>
              <a:tabLst>
                <a:tab pos="1257300" algn="l"/>
              </a:tabLst>
            </a:pPr>
            <a:r>
              <a:rPr lang="fr-FR" sz="1100" dirty="0">
                <a:solidFill>
                  <a:srgbClr val="000000"/>
                </a:solidFill>
                <a:effectLst/>
                <a:latin typeface="Arial" panose="020B0604020202020204" pitchFamily="34" charset="0"/>
                <a:ea typeface="Times New Roman" panose="02020603050405020304" pitchFamily="18" charset="0"/>
              </a:rPr>
              <a:t>L’osmolarité des solutés non diffusibles d’une solution hypotonique est </a:t>
            </a:r>
            <a:r>
              <a:rPr lang="fr-FR" sz="1100" u="sng" dirty="0">
                <a:solidFill>
                  <a:srgbClr val="000000"/>
                </a:solidFill>
                <a:effectLst/>
                <a:latin typeface="Arial" panose="020B0604020202020204" pitchFamily="34" charset="0"/>
                <a:ea typeface="Times New Roman" panose="02020603050405020304" pitchFamily="18" charset="0"/>
              </a:rPr>
              <a:t>plus faible</a:t>
            </a:r>
            <a:r>
              <a:rPr lang="fr-FR" sz="1100" dirty="0">
                <a:solidFill>
                  <a:srgbClr val="000000"/>
                </a:solidFill>
                <a:effectLst/>
                <a:latin typeface="Arial" panose="020B0604020202020204" pitchFamily="34" charset="0"/>
                <a:ea typeface="Times New Roman" panose="02020603050405020304" pitchFamily="18" charset="0"/>
              </a:rPr>
              <a:t> que l’osmolarité intracellulaire.</a:t>
            </a:r>
            <a:endParaRPr lang="en-CA" sz="1200" dirty="0">
              <a:solidFill>
                <a:srgbClr val="000000"/>
              </a:solidFill>
              <a:effectLst/>
              <a:latin typeface="Times New Roman" panose="02020603050405020304" pitchFamily="18" charset="0"/>
              <a:ea typeface="Times New Roman" panose="02020603050405020304" pitchFamily="18" charset="0"/>
            </a:endParaRPr>
          </a:p>
          <a:p>
            <a:pPr marL="357188" lvl="1" indent="-174625">
              <a:buFont typeface="Symbol" panose="05050102010706020507" pitchFamily="18" charset="2"/>
              <a:buChar char=""/>
              <a:tabLst>
                <a:tab pos="1257300" algn="l"/>
              </a:tabLst>
            </a:pPr>
            <a:r>
              <a:rPr lang="fr-FR" sz="1100" dirty="0">
                <a:solidFill>
                  <a:srgbClr val="000000"/>
                </a:solidFill>
                <a:effectLst/>
                <a:latin typeface="Arial" panose="020B0604020202020204" pitchFamily="34" charset="0"/>
                <a:ea typeface="Times New Roman" panose="02020603050405020304" pitchFamily="18" charset="0"/>
              </a:rPr>
              <a:t>L’eau entre dans la cellule, causant ainsi une augmentation de son volume.</a:t>
            </a:r>
            <a:endParaRPr lang="en-CA" sz="1200" dirty="0">
              <a:solidFill>
                <a:srgbClr val="000000"/>
              </a:solidFill>
              <a:effectLst/>
              <a:latin typeface="Times New Roman" panose="02020603050405020304" pitchFamily="18" charset="0"/>
              <a:ea typeface="Times New Roman" panose="02020603050405020304" pitchFamily="18" charset="0"/>
            </a:endParaRPr>
          </a:p>
          <a:p>
            <a:pPr marL="182563" lvl="1">
              <a:tabLst>
                <a:tab pos="1257300" algn="l"/>
              </a:tabLst>
            </a:pPr>
            <a:r>
              <a:rPr lang="fr-FR" sz="1100" dirty="0">
                <a:solidFill>
                  <a:srgbClr val="000000"/>
                </a:solidFill>
                <a:effectLst/>
                <a:latin typeface="Arial" panose="020B0604020202020204" pitchFamily="34" charset="0"/>
                <a:ea typeface="Times New Roman" panose="02020603050405020304" pitchFamily="18" charset="0"/>
              </a:rPr>
              <a:t>Ex.: Le volume de cellules placées dans une solution de 75 mM </a:t>
            </a:r>
            <a:r>
              <a:rPr lang="fr-FR" sz="1100" dirty="0" err="1">
                <a:solidFill>
                  <a:srgbClr val="000000"/>
                </a:solidFill>
                <a:effectLst/>
                <a:latin typeface="Arial" panose="020B0604020202020204" pitchFamily="34" charset="0"/>
                <a:ea typeface="Times New Roman" panose="02020603050405020304" pitchFamily="18" charset="0"/>
              </a:rPr>
              <a:t>NaCl</a:t>
            </a:r>
            <a:r>
              <a:rPr lang="fr-FR" sz="1100" dirty="0">
                <a:solidFill>
                  <a:srgbClr val="000000"/>
                </a:solidFill>
                <a:effectLst/>
                <a:latin typeface="Arial" panose="020B0604020202020204" pitchFamily="34" charset="0"/>
                <a:ea typeface="Times New Roman" panose="02020603050405020304" pitchFamily="18" charset="0"/>
              </a:rPr>
              <a:t> (osmolarité = 150 </a:t>
            </a:r>
            <a:r>
              <a:rPr lang="fr-FR" sz="1100" dirty="0" err="1">
                <a:solidFill>
                  <a:srgbClr val="000000"/>
                </a:solidFill>
                <a:effectLst/>
                <a:latin typeface="Arial" panose="020B0604020202020204" pitchFamily="34" charset="0"/>
                <a:ea typeface="Times New Roman" panose="02020603050405020304" pitchFamily="18" charset="0"/>
              </a:rPr>
              <a:t>mOsmol</a:t>
            </a:r>
            <a:r>
              <a:rPr lang="fr-FR" sz="1100" dirty="0">
                <a:solidFill>
                  <a:srgbClr val="000000"/>
                </a:solidFill>
                <a:effectLst/>
                <a:latin typeface="Arial" panose="020B0604020202020204" pitchFamily="34" charset="0"/>
                <a:ea typeface="Times New Roman" panose="02020603050405020304" pitchFamily="18" charset="0"/>
              </a:rPr>
              <a:t>/L) doublerait. </a:t>
            </a:r>
            <a:endParaRPr lang="en-CA" sz="1200" dirty="0">
              <a:solidFill>
                <a:srgbClr val="000000"/>
              </a:solidFill>
              <a:effectLst/>
              <a:latin typeface="Times New Roman" panose="02020603050405020304" pitchFamily="18" charset="0"/>
              <a:ea typeface="Times New Roman" panose="02020603050405020304" pitchFamily="18" charset="0"/>
            </a:endParaRPr>
          </a:p>
          <a:p>
            <a:pPr marL="539750" indent="-182563"/>
            <a:r>
              <a:rPr lang="fr-FR" sz="1100" dirty="0">
                <a:solidFill>
                  <a:srgbClr val="000000"/>
                </a:solidFill>
                <a:effectLst/>
                <a:latin typeface="Arial" panose="020B0604020202020204" pitchFamily="34" charset="0"/>
                <a:ea typeface="Times New Roman" panose="02020603050405020304" pitchFamily="18" charset="0"/>
              </a:rPr>
              <a:t>** 	Si l’osmolarité d’une solution hypotonique est trop faible, la cellule éclaterait (elle se lyserait).</a:t>
            </a:r>
            <a:endParaRPr lang="en-CA" sz="1200" dirty="0">
              <a:solidFill>
                <a:srgbClr val="000000"/>
              </a:solidFill>
              <a:effectLst/>
              <a:latin typeface="Times New Roman" panose="02020603050405020304" pitchFamily="18" charset="0"/>
              <a:ea typeface="Times New Roman" panose="02020603050405020304" pitchFamily="18" charset="0"/>
            </a:endParaRPr>
          </a:p>
        </p:txBody>
      </p:sp>
      <p:sp>
        <p:nvSpPr>
          <p:cNvPr id="4" name="Slide Number Placeholder 3"/>
          <p:cNvSpPr>
            <a:spLocks noGrp="1"/>
          </p:cNvSpPr>
          <p:nvPr>
            <p:ph type="sldNum" sz="quarter" idx="10"/>
          </p:nvPr>
        </p:nvSpPr>
        <p:spPr/>
        <p:txBody>
          <a:bodyPr/>
          <a:lstStyle/>
          <a:p>
            <a:pPr>
              <a:defRPr/>
            </a:pPr>
            <a:fld id="{07FBCF2F-6636-40C0-80F2-EE6D30514956}" type="slidenum">
              <a:rPr lang="fr-CA" smtClean="0"/>
              <a:pPr>
                <a:defRPr/>
              </a:pPr>
              <a:t>36</a:t>
            </a:fld>
            <a:endParaRPr lang="fr-CA"/>
          </a:p>
        </p:txBody>
      </p:sp>
    </p:spTree>
    <p:extLst>
      <p:ext uri="{BB962C8B-B14F-4D97-AF65-F5344CB8AC3E}">
        <p14:creationId xmlns:p14="http://schemas.microsoft.com/office/powerpoint/2010/main" val="34608665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07FBCF2F-6636-40C0-80F2-EE6D30514956}" type="slidenum">
              <a:rPr lang="fr-CA" smtClean="0"/>
              <a:pPr>
                <a:defRPr/>
              </a:pPr>
              <a:t>37</a:t>
            </a:fld>
            <a:endParaRPr lang="fr-CA"/>
          </a:p>
        </p:txBody>
      </p:sp>
    </p:spTree>
    <p:extLst>
      <p:ext uri="{BB962C8B-B14F-4D97-AF65-F5344CB8AC3E}">
        <p14:creationId xmlns:p14="http://schemas.microsoft.com/office/powerpoint/2010/main" val="41050200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261938"/>
            <a:ext cx="8610600" cy="609600"/>
          </a:xfrm>
        </p:spPr>
        <p:txBody>
          <a:bodyPr/>
          <a:lstStyle/>
          <a:p>
            <a:r>
              <a:rPr lang="en-US"/>
              <a:t>Click to edit Master title style</a:t>
            </a:r>
          </a:p>
        </p:txBody>
      </p:sp>
      <p:sp>
        <p:nvSpPr>
          <p:cNvPr id="3" name="Text Placeholder 2"/>
          <p:cNvSpPr>
            <a:spLocks noGrp="1"/>
          </p:cNvSpPr>
          <p:nvPr>
            <p:ph type="body" sz="half" idx="1"/>
          </p:nvPr>
        </p:nvSpPr>
        <p:spPr>
          <a:xfrm>
            <a:off x="298450" y="977900"/>
            <a:ext cx="4059238" cy="505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10088" y="977900"/>
            <a:ext cx="4059237" cy="505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298450" y="261938"/>
            <a:ext cx="8616950" cy="5772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Line 5"/>
          <p:cNvSpPr>
            <a:spLocks noChangeShapeType="1"/>
          </p:cNvSpPr>
          <p:nvPr userDrawn="1"/>
        </p:nvSpPr>
        <p:spPr bwMode="auto">
          <a:xfrm>
            <a:off x="298450" y="173038"/>
            <a:ext cx="8586788" cy="0"/>
          </a:xfrm>
          <a:prstGeom prst="line">
            <a:avLst/>
          </a:prstGeom>
          <a:noFill/>
          <a:ln w="38100">
            <a:solidFill>
              <a:srgbClr val="D9E30D"/>
            </a:solidFill>
            <a:round/>
            <a:headEnd/>
            <a:tailEnd/>
          </a:ln>
          <a:effectLst/>
        </p:spPr>
        <p:txBody>
          <a:bodyPr anchor="ctr"/>
          <a:lstStyle/>
          <a:p>
            <a:pPr>
              <a:defRPr/>
            </a:pPr>
            <a:endParaRPr lang="en-US"/>
          </a:p>
        </p:txBody>
      </p:sp>
      <p:sp>
        <p:nvSpPr>
          <p:cNvPr id="4" name="Line 6"/>
          <p:cNvSpPr>
            <a:spLocks noChangeShapeType="1"/>
          </p:cNvSpPr>
          <p:nvPr userDrawn="1"/>
        </p:nvSpPr>
        <p:spPr bwMode="auto">
          <a:xfrm>
            <a:off x="293688" y="139700"/>
            <a:ext cx="8586787" cy="0"/>
          </a:xfrm>
          <a:prstGeom prst="line">
            <a:avLst/>
          </a:prstGeom>
          <a:noFill/>
          <a:ln w="19050">
            <a:solidFill>
              <a:schemeClr val="tx1"/>
            </a:solidFill>
            <a:round/>
            <a:headEnd/>
            <a:tailEnd/>
          </a:ln>
          <a:effectLst/>
        </p:spPr>
        <p:txBody>
          <a:bodyPr anchor="ctr"/>
          <a:lstStyle/>
          <a:p>
            <a:pPr>
              <a:defRPr/>
            </a:pP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04800" y="261938"/>
            <a:ext cx="8610600" cy="609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298450" y="977900"/>
            <a:ext cx="8270875" cy="50561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Line 5"/>
          <p:cNvSpPr>
            <a:spLocks noChangeShapeType="1"/>
          </p:cNvSpPr>
          <p:nvPr userDrawn="1"/>
        </p:nvSpPr>
        <p:spPr bwMode="auto">
          <a:xfrm>
            <a:off x="298450" y="173038"/>
            <a:ext cx="8586788" cy="0"/>
          </a:xfrm>
          <a:prstGeom prst="line">
            <a:avLst/>
          </a:prstGeom>
          <a:noFill/>
          <a:ln w="38100">
            <a:solidFill>
              <a:srgbClr val="D9E30D"/>
            </a:solidFill>
            <a:round/>
            <a:headEnd/>
            <a:tailEnd/>
          </a:ln>
          <a:effectLst/>
        </p:spPr>
        <p:txBody>
          <a:bodyPr anchor="ctr"/>
          <a:lstStyle/>
          <a:p>
            <a:pPr>
              <a:defRPr/>
            </a:pPr>
            <a:endParaRPr lang="en-US"/>
          </a:p>
        </p:txBody>
      </p:sp>
      <p:sp>
        <p:nvSpPr>
          <p:cNvPr id="5" name="Line 6"/>
          <p:cNvSpPr>
            <a:spLocks noChangeShapeType="1"/>
          </p:cNvSpPr>
          <p:nvPr userDrawn="1"/>
        </p:nvSpPr>
        <p:spPr bwMode="auto">
          <a:xfrm>
            <a:off x="293688" y="139700"/>
            <a:ext cx="8586787" cy="0"/>
          </a:xfrm>
          <a:prstGeom prst="line">
            <a:avLst/>
          </a:prstGeom>
          <a:noFill/>
          <a:ln w="19050">
            <a:solidFill>
              <a:schemeClr val="tx1"/>
            </a:solidFill>
            <a:round/>
            <a:headEnd/>
            <a:tailEnd/>
          </a:ln>
          <a:effectLst/>
        </p:spPr>
        <p:txBody>
          <a:bodyPr anchor="ctr"/>
          <a:lstStyle/>
          <a:p>
            <a:pPr>
              <a:defRPr/>
            </a:pPr>
            <a:endParaRPr lang="en-US"/>
          </a:p>
        </p:txBody>
      </p:sp>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Lst>
  <p:txStyles>
    <p:titleStyle>
      <a:lvl1pPr algn="l" rtl="0" eaLnBrk="0" fontAlgn="base" hangingPunct="0">
        <a:spcBef>
          <a:spcPct val="0"/>
        </a:spcBef>
        <a:spcAft>
          <a:spcPct val="0"/>
        </a:spcAft>
        <a:defRPr sz="3000" b="1">
          <a:solidFill>
            <a:srgbClr val="0989C9"/>
          </a:solidFill>
          <a:latin typeface="+mj-lt"/>
          <a:ea typeface="+mj-ea"/>
          <a:cs typeface="+mj-cs"/>
        </a:defRPr>
      </a:lvl1pPr>
      <a:lvl2pPr algn="l" rtl="0" eaLnBrk="0" fontAlgn="base" hangingPunct="0">
        <a:spcBef>
          <a:spcPct val="0"/>
        </a:spcBef>
        <a:spcAft>
          <a:spcPct val="0"/>
        </a:spcAft>
        <a:defRPr sz="3000" b="1">
          <a:solidFill>
            <a:srgbClr val="0989C9"/>
          </a:solidFill>
          <a:latin typeface="Arial" charset="0"/>
        </a:defRPr>
      </a:lvl2pPr>
      <a:lvl3pPr algn="l" rtl="0" eaLnBrk="0" fontAlgn="base" hangingPunct="0">
        <a:spcBef>
          <a:spcPct val="0"/>
        </a:spcBef>
        <a:spcAft>
          <a:spcPct val="0"/>
        </a:spcAft>
        <a:defRPr sz="3000" b="1">
          <a:solidFill>
            <a:srgbClr val="0989C9"/>
          </a:solidFill>
          <a:latin typeface="Arial" charset="0"/>
        </a:defRPr>
      </a:lvl3pPr>
      <a:lvl4pPr algn="l" rtl="0" eaLnBrk="0" fontAlgn="base" hangingPunct="0">
        <a:spcBef>
          <a:spcPct val="0"/>
        </a:spcBef>
        <a:spcAft>
          <a:spcPct val="0"/>
        </a:spcAft>
        <a:defRPr sz="3000" b="1">
          <a:solidFill>
            <a:srgbClr val="0989C9"/>
          </a:solidFill>
          <a:latin typeface="Arial" charset="0"/>
        </a:defRPr>
      </a:lvl4pPr>
      <a:lvl5pPr algn="l" rtl="0" eaLnBrk="0" fontAlgn="base" hangingPunct="0">
        <a:spcBef>
          <a:spcPct val="0"/>
        </a:spcBef>
        <a:spcAft>
          <a:spcPct val="0"/>
        </a:spcAft>
        <a:defRPr sz="3000" b="1">
          <a:solidFill>
            <a:srgbClr val="0989C9"/>
          </a:solidFill>
          <a:latin typeface="Arial" charset="0"/>
        </a:defRPr>
      </a:lvl5pPr>
      <a:lvl6pPr marL="457200" algn="l" rtl="0" fontAlgn="base">
        <a:spcBef>
          <a:spcPct val="0"/>
        </a:spcBef>
        <a:spcAft>
          <a:spcPct val="0"/>
        </a:spcAft>
        <a:defRPr sz="3000" b="1">
          <a:solidFill>
            <a:srgbClr val="0989C9"/>
          </a:solidFill>
          <a:latin typeface="Arial" charset="0"/>
        </a:defRPr>
      </a:lvl6pPr>
      <a:lvl7pPr marL="914400" algn="l" rtl="0" fontAlgn="base">
        <a:spcBef>
          <a:spcPct val="0"/>
        </a:spcBef>
        <a:spcAft>
          <a:spcPct val="0"/>
        </a:spcAft>
        <a:defRPr sz="3000" b="1">
          <a:solidFill>
            <a:srgbClr val="0989C9"/>
          </a:solidFill>
          <a:latin typeface="Arial" charset="0"/>
        </a:defRPr>
      </a:lvl7pPr>
      <a:lvl8pPr marL="1371600" algn="l" rtl="0" fontAlgn="base">
        <a:spcBef>
          <a:spcPct val="0"/>
        </a:spcBef>
        <a:spcAft>
          <a:spcPct val="0"/>
        </a:spcAft>
        <a:defRPr sz="3000" b="1">
          <a:solidFill>
            <a:srgbClr val="0989C9"/>
          </a:solidFill>
          <a:latin typeface="Arial" charset="0"/>
        </a:defRPr>
      </a:lvl8pPr>
      <a:lvl9pPr marL="1828800" algn="l" rtl="0" fontAlgn="base">
        <a:spcBef>
          <a:spcPct val="0"/>
        </a:spcBef>
        <a:spcAft>
          <a:spcPct val="0"/>
        </a:spcAft>
        <a:defRPr sz="3000" b="1">
          <a:solidFill>
            <a:srgbClr val="0989C9"/>
          </a:solidFill>
          <a:latin typeface="Arial" charset="0"/>
        </a:defRPr>
      </a:lvl9pPr>
    </p:titleStyle>
    <p:bodyStyle>
      <a:lvl1pPr marL="231775" indent="-231775" algn="l" rtl="0" eaLnBrk="0" fontAlgn="base" hangingPunct="0">
        <a:spcBef>
          <a:spcPct val="0"/>
        </a:spcBef>
        <a:spcAft>
          <a:spcPct val="50000"/>
        </a:spcAft>
        <a:buClr>
          <a:srgbClr val="0989C9"/>
        </a:buClr>
        <a:buSzPct val="60000"/>
        <a:buFont typeface="Wingdings" pitchFamily="2" charset="2"/>
        <a:buChar char="§"/>
        <a:defRPr sz="3000">
          <a:solidFill>
            <a:schemeClr val="tx1"/>
          </a:solidFill>
          <a:latin typeface="+mn-lt"/>
          <a:ea typeface="+mn-ea"/>
          <a:cs typeface="+mn-cs"/>
        </a:defRPr>
      </a:lvl1pPr>
      <a:lvl2pPr marL="742950" indent="-285750" algn="l" rtl="0" eaLnBrk="0" fontAlgn="base" hangingPunct="0">
        <a:spcBef>
          <a:spcPct val="0"/>
        </a:spcBef>
        <a:spcAft>
          <a:spcPct val="50000"/>
        </a:spcAft>
        <a:buClr>
          <a:srgbClr val="0989C9"/>
        </a:buClr>
        <a:buSzPct val="60000"/>
        <a:buFont typeface="Wingdings" pitchFamily="2" charset="2"/>
        <a:buChar char="§"/>
        <a:defRPr sz="2800">
          <a:solidFill>
            <a:schemeClr val="tx1"/>
          </a:solidFill>
          <a:latin typeface="+mn-lt"/>
        </a:defRPr>
      </a:lvl2pPr>
      <a:lvl3pPr marL="1143000" indent="-228600" algn="l" rtl="0" eaLnBrk="0" fontAlgn="base" hangingPunct="0">
        <a:spcBef>
          <a:spcPct val="0"/>
        </a:spcBef>
        <a:spcAft>
          <a:spcPct val="50000"/>
        </a:spcAft>
        <a:buClr>
          <a:srgbClr val="0989C9"/>
        </a:buClr>
        <a:buSzPct val="60000"/>
        <a:buFont typeface="Wingdings" pitchFamily="2" charset="2"/>
        <a:buChar char="§"/>
        <a:defRPr sz="2800">
          <a:solidFill>
            <a:schemeClr val="tx1"/>
          </a:solidFill>
          <a:latin typeface="+mn-lt"/>
        </a:defRPr>
      </a:lvl3pPr>
      <a:lvl4pPr marL="1600200" indent="-228600" algn="l" rtl="0" eaLnBrk="0" fontAlgn="base" hangingPunct="0">
        <a:spcBef>
          <a:spcPct val="0"/>
        </a:spcBef>
        <a:spcAft>
          <a:spcPct val="50000"/>
        </a:spcAft>
        <a:buClr>
          <a:srgbClr val="0989C9"/>
        </a:buClr>
        <a:buSzPct val="60000"/>
        <a:buFont typeface="Wingdings" pitchFamily="2" charset="2"/>
        <a:buChar char="§"/>
        <a:defRPr sz="2800">
          <a:solidFill>
            <a:schemeClr val="tx1"/>
          </a:solidFill>
          <a:latin typeface="+mn-lt"/>
        </a:defRPr>
      </a:lvl4pPr>
      <a:lvl5pPr marL="2057400" indent="-228600" algn="l" rtl="0" eaLnBrk="0" fontAlgn="base" hangingPunct="0">
        <a:spcBef>
          <a:spcPct val="0"/>
        </a:spcBef>
        <a:spcAft>
          <a:spcPct val="50000"/>
        </a:spcAft>
        <a:buClr>
          <a:srgbClr val="0989C9"/>
        </a:buClr>
        <a:buSzPct val="60000"/>
        <a:buFont typeface="Wingdings" pitchFamily="2" charset="2"/>
        <a:buChar char="§"/>
        <a:defRPr sz="2800">
          <a:solidFill>
            <a:schemeClr val="tx1"/>
          </a:solidFill>
          <a:latin typeface="+mn-lt"/>
        </a:defRPr>
      </a:lvl5pPr>
      <a:lvl6pPr marL="2514600" indent="-228600" algn="l" rtl="0" fontAlgn="base">
        <a:spcBef>
          <a:spcPct val="0"/>
        </a:spcBef>
        <a:spcAft>
          <a:spcPct val="50000"/>
        </a:spcAft>
        <a:buClr>
          <a:srgbClr val="0989C9"/>
        </a:buClr>
        <a:buSzPct val="60000"/>
        <a:buFont typeface="Wingdings" pitchFamily="2" charset="2"/>
        <a:buChar char="§"/>
        <a:defRPr sz="2800">
          <a:solidFill>
            <a:schemeClr val="tx1"/>
          </a:solidFill>
          <a:latin typeface="+mn-lt"/>
        </a:defRPr>
      </a:lvl6pPr>
      <a:lvl7pPr marL="2971800" indent="-228600" algn="l" rtl="0" fontAlgn="base">
        <a:spcBef>
          <a:spcPct val="0"/>
        </a:spcBef>
        <a:spcAft>
          <a:spcPct val="50000"/>
        </a:spcAft>
        <a:buClr>
          <a:srgbClr val="0989C9"/>
        </a:buClr>
        <a:buSzPct val="60000"/>
        <a:buFont typeface="Wingdings" pitchFamily="2" charset="2"/>
        <a:buChar char="§"/>
        <a:defRPr sz="2800">
          <a:solidFill>
            <a:schemeClr val="tx1"/>
          </a:solidFill>
          <a:latin typeface="+mn-lt"/>
        </a:defRPr>
      </a:lvl7pPr>
      <a:lvl8pPr marL="3429000" indent="-228600" algn="l" rtl="0" fontAlgn="base">
        <a:spcBef>
          <a:spcPct val="0"/>
        </a:spcBef>
        <a:spcAft>
          <a:spcPct val="50000"/>
        </a:spcAft>
        <a:buClr>
          <a:srgbClr val="0989C9"/>
        </a:buClr>
        <a:buSzPct val="60000"/>
        <a:buFont typeface="Wingdings" pitchFamily="2" charset="2"/>
        <a:buChar char="§"/>
        <a:defRPr sz="2800">
          <a:solidFill>
            <a:schemeClr val="tx1"/>
          </a:solidFill>
          <a:latin typeface="+mn-lt"/>
        </a:defRPr>
      </a:lvl8pPr>
      <a:lvl9pPr marL="3886200" indent="-228600" algn="l" rtl="0" fontAlgn="base">
        <a:spcBef>
          <a:spcPct val="0"/>
        </a:spcBef>
        <a:spcAft>
          <a:spcPct val="50000"/>
        </a:spcAft>
        <a:buClr>
          <a:srgbClr val="0989C9"/>
        </a:buClr>
        <a:buSzPct val="60000"/>
        <a:buFont typeface="Wingdings" pitchFamily="2" charset="2"/>
        <a:buChar char="§"/>
        <a:defRPr sz="28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hyperlink" Target="https://media.pearsoncmg.com/intl/streaming/erpi/etext/erpi_animations_biologie/bioflix/transport_membranaine.mp4"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3.xml"/><Relationship Id="rId1" Type="http://schemas.openxmlformats.org/officeDocument/2006/relationships/slideLayout" Target="../slideLayouts/slideLayout4.xml"/><Relationship Id="rId4" Type="http://schemas.openxmlformats.org/officeDocument/2006/relationships/image" Target="../media/image14.jpe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3"/>
          <p:cNvSpPr>
            <a:spLocks noChangeArrowheads="1"/>
          </p:cNvSpPr>
          <p:nvPr/>
        </p:nvSpPr>
        <p:spPr bwMode="auto">
          <a:xfrm>
            <a:off x="173520" y="53973"/>
            <a:ext cx="8901112" cy="1147763"/>
          </a:xfrm>
          <a:prstGeom prst="rect">
            <a:avLst/>
          </a:prstGeom>
          <a:noFill/>
          <a:ln w="31750">
            <a:noFill/>
            <a:miter lim="800000"/>
            <a:headEnd/>
            <a:tailEnd/>
          </a:ln>
        </p:spPr>
        <p:txBody>
          <a:bodyPr tIns="118800" bIns="118800" anchor="ctr"/>
          <a:lstStyle/>
          <a:p>
            <a:pPr marL="627063" indent="-627063">
              <a:lnSpc>
                <a:spcPct val="90000"/>
              </a:lnSpc>
            </a:pPr>
            <a:r>
              <a:rPr lang="fr-CA" sz="3600" b="1" dirty="0">
                <a:solidFill>
                  <a:schemeClr val="accent2"/>
                </a:solidFill>
                <a:latin typeface="Arial" charset="0"/>
              </a:rPr>
              <a:t>2. </a:t>
            </a:r>
            <a:r>
              <a:rPr lang="fr-FR" sz="3600" b="1" dirty="0">
                <a:solidFill>
                  <a:schemeClr val="accent2"/>
                </a:solidFill>
                <a:latin typeface="Arial" charset="0"/>
              </a:rPr>
              <a:t>LES TRANSPORTS MEMBRANAIRES</a:t>
            </a:r>
            <a:endParaRPr lang="en-US" sz="3600" b="1" dirty="0">
              <a:solidFill>
                <a:schemeClr val="accent2"/>
              </a:solidFill>
              <a:latin typeface="Arial" charset="0"/>
            </a:endParaRPr>
          </a:p>
        </p:txBody>
      </p:sp>
      <p:sp>
        <p:nvSpPr>
          <p:cNvPr id="2052" name="Rectangle 6"/>
          <p:cNvSpPr>
            <a:spLocks noChangeArrowheads="1"/>
          </p:cNvSpPr>
          <p:nvPr/>
        </p:nvSpPr>
        <p:spPr bwMode="auto">
          <a:xfrm>
            <a:off x="728474" y="1014968"/>
            <a:ext cx="7488958" cy="3831818"/>
          </a:xfrm>
          <a:prstGeom prst="rect">
            <a:avLst/>
          </a:prstGeom>
          <a:noFill/>
          <a:ln w="9525">
            <a:noFill/>
            <a:miter lim="800000"/>
            <a:headEnd/>
            <a:tailEnd/>
          </a:ln>
        </p:spPr>
        <p:txBody>
          <a:bodyPr wrap="square">
            <a:spAutoFit/>
          </a:bodyPr>
          <a:lstStyle/>
          <a:p>
            <a:pPr marL="804863" indent="-804863" eaLnBrk="0" hangingPunct="0">
              <a:spcBef>
                <a:spcPct val="50000"/>
              </a:spcBef>
            </a:pPr>
            <a:r>
              <a:rPr lang="en-CA" sz="3000" b="1" dirty="0">
                <a:solidFill>
                  <a:schemeClr val="accent2"/>
                </a:solidFill>
                <a:latin typeface="Arial" charset="0"/>
              </a:rPr>
              <a:t>2.1 	La membrane plasmique</a:t>
            </a:r>
            <a:endParaRPr lang="fr-CA" sz="3000" b="1" dirty="0">
              <a:solidFill>
                <a:schemeClr val="accent2"/>
              </a:solidFill>
              <a:latin typeface="Arial" charset="0"/>
            </a:endParaRPr>
          </a:p>
          <a:p>
            <a:pPr marL="804863" indent="-804863" eaLnBrk="0" hangingPunct="0">
              <a:spcBef>
                <a:spcPct val="50000"/>
              </a:spcBef>
            </a:pPr>
            <a:r>
              <a:rPr lang="fr-CA" sz="3000" b="1" dirty="0">
                <a:solidFill>
                  <a:schemeClr val="accent2"/>
                </a:solidFill>
                <a:latin typeface="Arial" charset="0"/>
              </a:rPr>
              <a:t>2.2	Types de transport à travers la membrane plasmique</a:t>
            </a:r>
          </a:p>
          <a:p>
            <a:pPr marL="1166813" indent="-266700" eaLnBrk="0" hangingPunct="0">
              <a:spcBef>
                <a:spcPts val="600"/>
              </a:spcBef>
              <a:buSzPct val="125000"/>
              <a:buFont typeface="Arial" panose="020B0604020202020204" pitchFamily="34" charset="0"/>
              <a:buChar char="•"/>
            </a:pPr>
            <a:r>
              <a:rPr lang="fr-CA" sz="2600" b="1" dirty="0">
                <a:solidFill>
                  <a:schemeClr val="accent2"/>
                </a:solidFill>
                <a:latin typeface="Arial" charset="0"/>
              </a:rPr>
              <a:t>Transports passifs</a:t>
            </a:r>
          </a:p>
          <a:p>
            <a:pPr marL="1166813" indent="-266700" eaLnBrk="0" hangingPunct="0">
              <a:spcBef>
                <a:spcPts val="600"/>
              </a:spcBef>
              <a:buSzPct val="125000"/>
              <a:buFont typeface="Arial" panose="020B0604020202020204" pitchFamily="34" charset="0"/>
              <a:buChar char="•"/>
            </a:pPr>
            <a:r>
              <a:rPr lang="fr-CA" sz="2600" b="1" dirty="0">
                <a:solidFill>
                  <a:schemeClr val="accent2"/>
                </a:solidFill>
                <a:latin typeface="Arial" charset="0"/>
              </a:rPr>
              <a:t>Transports actifs</a:t>
            </a:r>
          </a:p>
          <a:p>
            <a:pPr marL="1166813" indent="-266700" eaLnBrk="0" hangingPunct="0">
              <a:spcBef>
                <a:spcPts val="600"/>
              </a:spcBef>
              <a:buSzPct val="125000"/>
              <a:buFont typeface="Arial" panose="020B0604020202020204" pitchFamily="34" charset="0"/>
              <a:buChar char="•"/>
            </a:pPr>
            <a:r>
              <a:rPr lang="fr-CA" sz="2600" b="1" dirty="0">
                <a:solidFill>
                  <a:schemeClr val="accent2"/>
                </a:solidFill>
                <a:latin typeface="Arial" charset="0"/>
              </a:rPr>
              <a:t>Transports vésiculaires</a:t>
            </a:r>
          </a:p>
          <a:p>
            <a:pPr marL="804863" indent="-804863" eaLnBrk="0" hangingPunct="0">
              <a:spcBef>
                <a:spcPct val="50000"/>
              </a:spcBef>
            </a:pPr>
            <a:r>
              <a:rPr lang="fr-CA" sz="3000" b="1" dirty="0">
                <a:solidFill>
                  <a:schemeClr val="accent2"/>
                </a:solidFill>
                <a:latin typeface="Arial" charset="0"/>
              </a:rPr>
              <a:t>2.3	L’osmose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Figures\Avec légendes\Figures chapitre03\marieb-ch03_fig_03.jpg"/>
          <p:cNvPicPr>
            <a:picLocks noChangeAspect="1" noChangeArrowheads="1"/>
          </p:cNvPicPr>
          <p:nvPr/>
        </p:nvPicPr>
        <p:blipFill rotWithShape="1">
          <a:blip r:embed="rId3">
            <a:extLst>
              <a:ext uri="{28A0092B-C50C-407E-A947-70E740481C1C}">
                <a14:useLocalDpi xmlns:a14="http://schemas.microsoft.com/office/drawing/2010/main" val="0"/>
              </a:ext>
            </a:extLst>
          </a:blip>
          <a:srcRect l="2573" t="4206" r="2569" b="30704"/>
          <a:stretch/>
        </p:blipFill>
        <p:spPr bwMode="auto">
          <a:xfrm>
            <a:off x="2969519" y="1076452"/>
            <a:ext cx="5916065" cy="4956703"/>
          </a:xfrm>
          <a:prstGeom prst="rect">
            <a:avLst/>
          </a:prstGeom>
          <a:noFill/>
          <a:extLst>
            <a:ext uri="{909E8E84-426E-40DD-AFC4-6F175D3DCCD1}">
              <a14:hiddenFill xmlns:a14="http://schemas.microsoft.com/office/drawing/2010/main">
                <a:solidFill>
                  <a:srgbClr val="FFFFFF"/>
                </a:solidFill>
              </a14:hiddenFill>
            </a:ext>
          </a:extLst>
        </p:spPr>
      </p:pic>
      <p:sp>
        <p:nvSpPr>
          <p:cNvPr id="3076" name="Text Box 21"/>
          <p:cNvSpPr txBox="1">
            <a:spLocks noChangeArrowheads="1"/>
          </p:cNvSpPr>
          <p:nvPr/>
        </p:nvSpPr>
        <p:spPr bwMode="auto">
          <a:xfrm>
            <a:off x="3045464" y="5690255"/>
            <a:ext cx="817563" cy="342900"/>
          </a:xfrm>
          <a:prstGeom prst="rect">
            <a:avLst/>
          </a:prstGeom>
          <a:noFill/>
          <a:ln w="6350">
            <a:solidFill>
              <a:srgbClr val="0000FF"/>
            </a:solidFill>
            <a:miter lim="800000"/>
            <a:headEnd/>
            <a:tailEnd/>
          </a:ln>
        </p:spPr>
        <p:txBody>
          <a:bodyPr wrap="none">
            <a:spAutoFit/>
          </a:bodyPr>
          <a:lstStyle/>
          <a:p>
            <a:pPr eaLnBrk="0" hangingPunct="0"/>
            <a:r>
              <a:rPr lang="fr-CA" sz="1600" dirty="0">
                <a:solidFill>
                  <a:srgbClr val="3333FF"/>
                </a:solidFill>
              </a:rPr>
              <a:t>Fig. 3.3</a:t>
            </a:r>
            <a:endParaRPr lang="en-US" sz="1600" dirty="0">
              <a:solidFill>
                <a:srgbClr val="3333FF"/>
              </a:solidFill>
            </a:endParaRPr>
          </a:p>
        </p:txBody>
      </p:sp>
      <p:sp>
        <p:nvSpPr>
          <p:cNvPr id="2" name="Rectangle 1"/>
          <p:cNvSpPr/>
          <p:nvPr/>
        </p:nvSpPr>
        <p:spPr>
          <a:xfrm>
            <a:off x="122710" y="143310"/>
            <a:ext cx="4998484" cy="523220"/>
          </a:xfrm>
          <a:prstGeom prst="rect">
            <a:avLst/>
          </a:prstGeom>
        </p:spPr>
        <p:txBody>
          <a:bodyPr wrap="none">
            <a:spAutoFit/>
          </a:bodyPr>
          <a:lstStyle/>
          <a:p>
            <a:r>
              <a:rPr lang="fr-CA" sz="2800" b="1" dirty="0">
                <a:solidFill>
                  <a:schemeClr val="accent2"/>
                </a:solidFill>
                <a:latin typeface="+mj-lt"/>
              </a:rPr>
              <a:t>2.1 </a:t>
            </a:r>
            <a:r>
              <a:rPr lang="fr-CA" sz="2800" b="1" u="sng" dirty="0">
                <a:solidFill>
                  <a:schemeClr val="accent2"/>
                </a:solidFill>
                <a:latin typeface="+mj-lt"/>
              </a:rPr>
              <a:t>La membrane plasmique</a:t>
            </a:r>
            <a:endParaRPr lang="en-US" sz="2800" u="sng" dirty="0">
              <a:solidFill>
                <a:schemeClr val="accent2"/>
              </a:solidFill>
              <a:latin typeface="+mj-lt"/>
            </a:endParaRPr>
          </a:p>
        </p:txBody>
      </p:sp>
      <p:sp>
        <p:nvSpPr>
          <p:cNvPr id="8" name="Rectangle 7"/>
          <p:cNvSpPr/>
          <p:nvPr/>
        </p:nvSpPr>
        <p:spPr>
          <a:xfrm>
            <a:off x="224475" y="645565"/>
            <a:ext cx="3764172" cy="430887"/>
          </a:xfrm>
          <a:prstGeom prst="rect">
            <a:avLst/>
          </a:prstGeom>
        </p:spPr>
        <p:txBody>
          <a:bodyPr wrap="none">
            <a:spAutoFit/>
          </a:bodyPr>
          <a:lstStyle/>
          <a:p>
            <a:r>
              <a:rPr lang="fr-CA" sz="2200" b="1" dirty="0">
                <a:solidFill>
                  <a:schemeClr val="accent2"/>
                </a:solidFill>
                <a:latin typeface="+mj-lt"/>
              </a:rPr>
              <a:t>2.1.1  Propriétés générales</a:t>
            </a:r>
            <a:endParaRPr lang="en-US" sz="2200" dirty="0">
              <a:solidFill>
                <a:schemeClr val="accent2"/>
              </a:solidFill>
              <a:latin typeface="+mj-lt"/>
            </a:endParaRPr>
          </a:p>
        </p:txBody>
      </p:sp>
      <p:sp>
        <p:nvSpPr>
          <p:cNvPr id="3" name="Rectangle 2">
            <a:extLst>
              <a:ext uri="{FF2B5EF4-FFF2-40B4-BE49-F238E27FC236}">
                <a16:creationId xmlns:a16="http://schemas.microsoft.com/office/drawing/2014/main" id="{A18726A9-F51F-41EB-AAA3-C06E43A28AA6}"/>
              </a:ext>
            </a:extLst>
          </p:cNvPr>
          <p:cNvSpPr/>
          <p:nvPr/>
        </p:nvSpPr>
        <p:spPr>
          <a:xfrm>
            <a:off x="258416" y="1350599"/>
            <a:ext cx="2408440" cy="1661993"/>
          </a:xfrm>
          <a:prstGeom prst="rect">
            <a:avLst/>
          </a:prstGeom>
        </p:spPr>
        <p:txBody>
          <a:bodyPr wrap="square" lIns="0" rIns="0">
            <a:spAutoFit/>
          </a:bodyPr>
          <a:lstStyle/>
          <a:p>
            <a:pPr eaLnBrk="0" hangingPunct="0">
              <a:spcBef>
                <a:spcPct val="25000"/>
              </a:spcBef>
            </a:pPr>
            <a:r>
              <a:rPr lang="fr-CA" sz="1700" dirty="0">
                <a:latin typeface="Arial" charset="0"/>
              </a:rPr>
              <a:t>La membrane plasmique peut être vue comme une </a:t>
            </a:r>
            <a:r>
              <a:rPr lang="fr-CA" sz="1700" i="1" dirty="0">
                <a:latin typeface="Arial" charset="0"/>
              </a:rPr>
              <a:t>mosaïque de </a:t>
            </a:r>
            <a:r>
              <a:rPr lang="fr-CA" sz="1700" b="1" i="1" dirty="0">
                <a:latin typeface="Arial" charset="0"/>
              </a:rPr>
              <a:t>protéines</a:t>
            </a:r>
            <a:r>
              <a:rPr lang="fr-CA" sz="1700" i="1" dirty="0">
                <a:latin typeface="Arial" charset="0"/>
              </a:rPr>
              <a:t> qui flottent dans une bicouche fluide de </a:t>
            </a:r>
            <a:r>
              <a:rPr lang="fr-CA" sz="1700" b="1" i="1" dirty="0">
                <a:latin typeface="Arial" charset="0"/>
              </a:rPr>
              <a:t>lipides</a:t>
            </a:r>
            <a:r>
              <a:rPr lang="fr-CA" sz="1700" dirty="0">
                <a:latin typeface="Arial" charset="0"/>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77425" y="717524"/>
            <a:ext cx="4812735" cy="3046988"/>
          </a:xfrm>
          <a:prstGeom prst="rect">
            <a:avLst/>
          </a:prstGeom>
        </p:spPr>
        <p:txBody>
          <a:bodyPr wrap="square">
            <a:spAutoFit/>
          </a:bodyPr>
          <a:lstStyle/>
          <a:p>
            <a:pPr marL="274638" lvl="0" indent="-274638">
              <a:buFont typeface="Wingdings" panose="05000000000000000000" pitchFamily="2" charset="2"/>
              <a:buChar char="ü"/>
            </a:pPr>
            <a:r>
              <a:rPr lang="fr-CA" sz="1600" dirty="0">
                <a:latin typeface="+mj-lt"/>
              </a:rPr>
              <a:t>Consiste principalement en une double couche de </a:t>
            </a:r>
            <a:r>
              <a:rPr lang="fr-CA" sz="1600" b="1" i="1" dirty="0">
                <a:latin typeface="+mj-lt"/>
              </a:rPr>
              <a:t>phospholipides</a:t>
            </a:r>
            <a:r>
              <a:rPr lang="fr-CA" sz="1600" dirty="0">
                <a:latin typeface="+mj-lt"/>
              </a:rPr>
              <a:t>. Cet arrangement spontané en deux couches parallèles provient des propriétés des phospholipides, molécules qui ont deux régions : </a:t>
            </a:r>
          </a:p>
          <a:p>
            <a:pPr marL="441325" lvl="1" indent="-182563">
              <a:buFont typeface="Arial" panose="020B0604020202020204" pitchFamily="34" charset="0"/>
              <a:buChar char="•"/>
            </a:pPr>
            <a:r>
              <a:rPr lang="fr-CA" sz="1600" dirty="0">
                <a:latin typeface="+mj-lt"/>
              </a:rPr>
              <a:t>Une région </a:t>
            </a:r>
            <a:r>
              <a:rPr lang="fr-CA" sz="1600" i="1" dirty="0">
                <a:latin typeface="+mj-lt"/>
              </a:rPr>
              <a:t>hydrophile</a:t>
            </a:r>
            <a:r>
              <a:rPr lang="fr-CA" sz="1600" dirty="0">
                <a:latin typeface="+mj-lt"/>
              </a:rPr>
              <a:t>, la “tête polaire”, qui est chargée et attirée par l’eau.</a:t>
            </a:r>
          </a:p>
          <a:p>
            <a:pPr marL="441325" lvl="1" indent="-182563">
              <a:buFont typeface="Arial" panose="020B0604020202020204" pitchFamily="34" charset="0"/>
              <a:buChar char="•"/>
            </a:pPr>
            <a:r>
              <a:rPr lang="fr-CA" sz="1600" dirty="0">
                <a:latin typeface="+mj-lt"/>
              </a:rPr>
              <a:t>Une région</a:t>
            </a:r>
            <a:r>
              <a:rPr lang="fr-CA" sz="1600" i="1" dirty="0">
                <a:latin typeface="+mj-lt"/>
              </a:rPr>
              <a:t> hydrophobe</a:t>
            </a:r>
            <a:r>
              <a:rPr lang="fr-CA" sz="1600" dirty="0">
                <a:latin typeface="+mj-lt"/>
              </a:rPr>
              <a:t>, la “queue non polaire”, composée des longues chaînes d’acides gras insolubles dans l’eau et qui s’alignent vers le centre de la membrane, éloignées des molécules d’eau.</a:t>
            </a:r>
          </a:p>
        </p:txBody>
      </p:sp>
      <p:pic>
        <p:nvPicPr>
          <p:cNvPr id="5" name="Picture 2" descr="E:\Figures\Avec légendes\Figures chapitre03\marieb-ch03_fig_03.jpg"/>
          <p:cNvPicPr>
            <a:picLocks noChangeAspect="1" noChangeArrowheads="1"/>
          </p:cNvPicPr>
          <p:nvPr/>
        </p:nvPicPr>
        <p:blipFill rotWithShape="1">
          <a:blip r:embed="rId3">
            <a:extLst>
              <a:ext uri="{28A0092B-C50C-407E-A947-70E740481C1C}">
                <a14:useLocalDpi xmlns:a14="http://schemas.microsoft.com/office/drawing/2010/main" val="0"/>
              </a:ext>
            </a:extLst>
          </a:blip>
          <a:srcRect l="2571" t="31299" r="66809" b="49710"/>
          <a:stretch/>
        </p:blipFill>
        <p:spPr bwMode="auto">
          <a:xfrm>
            <a:off x="5242560" y="839047"/>
            <a:ext cx="3703320" cy="2803942"/>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277423" y="3764512"/>
            <a:ext cx="8744655" cy="2693045"/>
          </a:xfrm>
          <a:prstGeom prst="rect">
            <a:avLst/>
          </a:prstGeom>
        </p:spPr>
        <p:txBody>
          <a:bodyPr wrap="square">
            <a:spAutoFit/>
          </a:bodyPr>
          <a:lstStyle/>
          <a:p>
            <a:pPr marL="274638" lvl="1" indent="-274638" eaLnBrk="1" hangingPunct="1">
              <a:spcBef>
                <a:spcPts val="1200"/>
              </a:spcBef>
              <a:buFont typeface="Wingdings" panose="05000000000000000000" pitchFamily="2" charset="2"/>
              <a:buChar char="ü"/>
              <a:tabLst>
                <a:tab pos="274638" algn="l"/>
              </a:tabLst>
            </a:pPr>
            <a:r>
              <a:rPr lang="fr-CA" sz="1600" dirty="0">
                <a:solidFill>
                  <a:srgbClr val="000000"/>
                </a:solidFill>
                <a:latin typeface="Arial"/>
                <a:cs typeface="Arial" charset="0"/>
              </a:rPr>
              <a:t>Perméable aux molécules </a:t>
            </a:r>
            <a:r>
              <a:rPr lang="fr-CA" sz="1600" u="sng" dirty="0">
                <a:solidFill>
                  <a:srgbClr val="000000"/>
                </a:solidFill>
                <a:latin typeface="Arial"/>
                <a:cs typeface="Arial" charset="0"/>
              </a:rPr>
              <a:t>non polaires</a:t>
            </a:r>
            <a:r>
              <a:rPr lang="fr-CA" sz="1600" dirty="0">
                <a:solidFill>
                  <a:srgbClr val="000000"/>
                </a:solidFill>
                <a:latin typeface="Arial"/>
                <a:cs typeface="Arial" charset="0"/>
              </a:rPr>
              <a:t> et </a:t>
            </a:r>
            <a:r>
              <a:rPr lang="fr-CA" sz="1600" u="sng" dirty="0">
                <a:solidFill>
                  <a:srgbClr val="000000"/>
                </a:solidFill>
                <a:latin typeface="Arial"/>
                <a:cs typeface="Arial" charset="0"/>
              </a:rPr>
              <a:t>liposolubles</a:t>
            </a:r>
            <a:r>
              <a:rPr lang="fr-CA" sz="1600" dirty="0">
                <a:solidFill>
                  <a:srgbClr val="000000"/>
                </a:solidFill>
                <a:latin typeface="Arial"/>
                <a:cs typeface="Arial" charset="0"/>
              </a:rPr>
              <a:t> (ex.: O</a:t>
            </a:r>
            <a:r>
              <a:rPr lang="fr-CA" sz="1600" baseline="-25000" dirty="0">
                <a:solidFill>
                  <a:srgbClr val="000000"/>
                </a:solidFill>
                <a:latin typeface="Arial"/>
                <a:cs typeface="Arial" charset="0"/>
              </a:rPr>
              <a:t>2</a:t>
            </a:r>
            <a:r>
              <a:rPr lang="fr-CA" sz="1600" dirty="0">
                <a:solidFill>
                  <a:srgbClr val="000000"/>
                </a:solidFill>
                <a:latin typeface="Arial"/>
                <a:cs typeface="Arial" charset="0"/>
              </a:rPr>
              <a:t>, CO</a:t>
            </a:r>
            <a:r>
              <a:rPr lang="fr-CA" sz="1600" baseline="-25000" dirty="0">
                <a:solidFill>
                  <a:srgbClr val="000000"/>
                </a:solidFill>
                <a:latin typeface="Arial"/>
                <a:cs typeface="Arial" charset="0"/>
              </a:rPr>
              <a:t>2</a:t>
            </a:r>
            <a:r>
              <a:rPr lang="fr-CA" sz="1600" dirty="0">
                <a:solidFill>
                  <a:srgbClr val="000000"/>
                </a:solidFill>
                <a:latin typeface="Arial"/>
                <a:cs typeface="Arial" charset="0"/>
              </a:rPr>
              <a:t>) mais imperméable aux ions (ex.: Na</a:t>
            </a:r>
            <a:r>
              <a:rPr lang="fr-CA" sz="1600" baseline="30000" dirty="0">
                <a:solidFill>
                  <a:srgbClr val="000000"/>
                </a:solidFill>
                <a:latin typeface="Arial"/>
                <a:cs typeface="Arial" charset="0"/>
              </a:rPr>
              <a:t>+</a:t>
            </a:r>
            <a:r>
              <a:rPr lang="fr-CA" sz="1600" dirty="0">
                <a:solidFill>
                  <a:srgbClr val="000000"/>
                </a:solidFill>
                <a:latin typeface="Arial"/>
                <a:cs typeface="Arial" charset="0"/>
              </a:rPr>
              <a:t>, Cl</a:t>
            </a:r>
            <a:r>
              <a:rPr lang="fr-CA" sz="1600" baseline="30000" dirty="0">
                <a:solidFill>
                  <a:srgbClr val="000000"/>
                </a:solidFill>
                <a:latin typeface="Arial"/>
                <a:cs typeface="Arial" charset="0"/>
              </a:rPr>
              <a:t>─</a:t>
            </a:r>
            <a:r>
              <a:rPr lang="fr-CA" sz="1600" dirty="0">
                <a:solidFill>
                  <a:srgbClr val="000000"/>
                </a:solidFill>
                <a:latin typeface="Arial"/>
                <a:cs typeface="Arial" charset="0"/>
              </a:rPr>
              <a:t>) et molécules polaires (ex.: glucose).</a:t>
            </a:r>
            <a:endParaRPr lang="fr-CA" sz="1600" dirty="0">
              <a:latin typeface="+mj-lt"/>
            </a:endParaRPr>
          </a:p>
          <a:p>
            <a:pPr marL="274638" lvl="1" indent="-274638" eaLnBrk="1" hangingPunct="1">
              <a:spcBef>
                <a:spcPts val="1200"/>
              </a:spcBef>
              <a:buFont typeface="Wingdings" panose="05000000000000000000" pitchFamily="2" charset="2"/>
              <a:buChar char="ü"/>
              <a:tabLst>
                <a:tab pos="274638" algn="l"/>
              </a:tabLst>
            </a:pPr>
            <a:r>
              <a:rPr lang="fr-CA" sz="1600" dirty="0">
                <a:latin typeface="+mj-lt"/>
              </a:rPr>
              <a:t>La bicouche est de nature </a:t>
            </a:r>
            <a:r>
              <a:rPr lang="fr-CA" sz="1600" i="1" dirty="0">
                <a:latin typeface="+mj-lt"/>
              </a:rPr>
              <a:t>fluide </a:t>
            </a:r>
            <a:r>
              <a:rPr lang="fr-CA" sz="1600" dirty="0">
                <a:latin typeface="+mj-lt"/>
              </a:rPr>
              <a:t>: les phospholipides sont mobiles et peuvent diffuser latéralement le long de leur couche.</a:t>
            </a:r>
            <a:r>
              <a:rPr lang="fr-CA" sz="1600" u="sng" dirty="0">
                <a:latin typeface="+mj-lt"/>
              </a:rPr>
              <a:t> </a:t>
            </a:r>
            <a:endParaRPr lang="fr-CA" sz="1600" dirty="0">
              <a:latin typeface="+mj-lt"/>
            </a:endParaRPr>
          </a:p>
          <a:p>
            <a:pPr marL="274638" lvl="1" indent="-274638" eaLnBrk="1" hangingPunct="1">
              <a:spcBef>
                <a:spcPts val="1200"/>
              </a:spcBef>
              <a:buFont typeface="Wingdings" panose="05000000000000000000" pitchFamily="2" charset="2"/>
              <a:buChar char="ü"/>
              <a:tabLst>
                <a:tab pos="274638" algn="l"/>
              </a:tabLst>
            </a:pPr>
            <a:r>
              <a:rPr lang="fr-CA" sz="1600" u="sng" dirty="0">
                <a:latin typeface="+mj-lt"/>
              </a:rPr>
              <a:t>Fonctions de la bicouche de lipides</a:t>
            </a:r>
            <a:r>
              <a:rPr lang="fr-CA" sz="1600" dirty="0">
                <a:latin typeface="+mj-lt"/>
              </a:rPr>
              <a:t> :</a:t>
            </a:r>
          </a:p>
          <a:p>
            <a:pPr marL="441325" lvl="1" indent="-166688">
              <a:spcBef>
                <a:spcPts val="200"/>
              </a:spcBef>
              <a:buFont typeface="Arial" panose="020B0604020202020204" pitchFamily="34" charset="0"/>
              <a:buChar char="•"/>
            </a:pPr>
            <a:r>
              <a:rPr lang="fr-CA" sz="1600" dirty="0">
                <a:latin typeface="+mj-lt"/>
              </a:rPr>
              <a:t>Elle forme la structure de base de la membrane plasmique.</a:t>
            </a:r>
          </a:p>
          <a:p>
            <a:pPr marL="441325" lvl="1" indent="-166688">
              <a:spcBef>
                <a:spcPts val="200"/>
              </a:spcBef>
              <a:buFont typeface="Arial" panose="020B0604020202020204" pitchFamily="34" charset="0"/>
              <a:buChar char="•"/>
            </a:pPr>
            <a:r>
              <a:rPr lang="fr-CA" sz="1600" dirty="0">
                <a:latin typeface="+mj-lt"/>
              </a:rPr>
              <a:t>Elle est responsable de la fluidité de la membrane</a:t>
            </a:r>
            <a:r>
              <a:rPr lang="fr-FR" sz="1600" dirty="0">
                <a:latin typeface="+mj-lt"/>
              </a:rPr>
              <a:t>.</a:t>
            </a:r>
            <a:endParaRPr lang="fr-CA" sz="1600" dirty="0">
              <a:latin typeface="+mj-lt"/>
            </a:endParaRPr>
          </a:p>
          <a:p>
            <a:pPr marL="441325" lvl="1" indent="-166688">
              <a:spcBef>
                <a:spcPts val="200"/>
              </a:spcBef>
              <a:buFont typeface="Arial" panose="020B0604020202020204" pitchFamily="34" charset="0"/>
              <a:buChar char="•"/>
            </a:pPr>
            <a:r>
              <a:rPr lang="fr-FR" sz="1600" dirty="0">
                <a:latin typeface="+mj-lt"/>
              </a:rPr>
              <a:t>Elle constitue une barrière très hermétique aux molécules qui ne sont pas solubles dans les lipides (ex.: ions, molécules polaires tels les sucres).</a:t>
            </a:r>
            <a:endParaRPr lang="fr-CA" sz="1600" dirty="0">
              <a:latin typeface="+mj-lt"/>
            </a:endParaRPr>
          </a:p>
        </p:txBody>
      </p:sp>
      <p:sp>
        <p:nvSpPr>
          <p:cNvPr id="2" name="Rectangle 1">
            <a:extLst>
              <a:ext uri="{FF2B5EF4-FFF2-40B4-BE49-F238E27FC236}">
                <a16:creationId xmlns:a16="http://schemas.microsoft.com/office/drawing/2014/main" id="{9739D357-A77C-40B0-9EC1-16BD377F79D6}"/>
              </a:ext>
            </a:extLst>
          </p:cNvPr>
          <p:cNvSpPr/>
          <p:nvPr/>
        </p:nvSpPr>
        <p:spPr>
          <a:xfrm>
            <a:off x="211281" y="225875"/>
            <a:ext cx="7568097" cy="430887"/>
          </a:xfrm>
          <a:prstGeom prst="rect">
            <a:avLst/>
          </a:prstGeom>
        </p:spPr>
        <p:txBody>
          <a:bodyPr wrap="none">
            <a:spAutoFit/>
          </a:bodyPr>
          <a:lstStyle/>
          <a:p>
            <a:r>
              <a:rPr lang="fr-CA" sz="2200" b="1" dirty="0">
                <a:solidFill>
                  <a:schemeClr val="accent2"/>
                </a:solidFill>
                <a:latin typeface="+mj-lt"/>
              </a:rPr>
              <a:t>2.1.2  La bicouche lipidique de la membrane plasmique</a:t>
            </a:r>
            <a:endParaRPr lang="en-US" sz="2200" dirty="0">
              <a:solidFill>
                <a:schemeClr val="accent2"/>
              </a:solidFill>
              <a:latin typeface="+mj-lt"/>
            </a:endParaRPr>
          </a:p>
        </p:txBody>
      </p:sp>
    </p:spTree>
    <p:extLst>
      <p:ext uri="{BB962C8B-B14F-4D97-AF65-F5344CB8AC3E}">
        <p14:creationId xmlns:p14="http://schemas.microsoft.com/office/powerpoint/2010/main" val="15079362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E:\Figures\Avec légendes\Figures chapitre03\marieb-ch03_fig_03.jpg"/>
          <p:cNvPicPr>
            <a:picLocks noChangeAspect="1" noChangeArrowheads="1"/>
          </p:cNvPicPr>
          <p:nvPr/>
        </p:nvPicPr>
        <p:blipFill rotWithShape="1">
          <a:blip r:embed="rId3">
            <a:extLst>
              <a:ext uri="{28A0092B-C50C-407E-A947-70E740481C1C}">
                <a14:useLocalDpi xmlns:a14="http://schemas.microsoft.com/office/drawing/2010/main" val="0"/>
              </a:ext>
            </a:extLst>
          </a:blip>
          <a:srcRect l="15046" t="14797" r="39285" b="50214"/>
          <a:stretch/>
        </p:blipFill>
        <p:spPr bwMode="auto">
          <a:xfrm>
            <a:off x="4287473" y="282265"/>
            <a:ext cx="4574872" cy="4279872"/>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8E97C44C-2869-4A89-898E-36B506207429}"/>
              </a:ext>
            </a:extLst>
          </p:cNvPr>
          <p:cNvSpPr/>
          <p:nvPr/>
        </p:nvSpPr>
        <p:spPr>
          <a:xfrm>
            <a:off x="200474" y="207099"/>
            <a:ext cx="3956744" cy="4355038"/>
          </a:xfrm>
          <a:prstGeom prst="rect">
            <a:avLst/>
          </a:prstGeom>
        </p:spPr>
        <p:txBody>
          <a:bodyPr wrap="square">
            <a:spAutoFit/>
          </a:bodyPr>
          <a:lstStyle/>
          <a:p>
            <a:pPr marL="182563" lvl="1" indent="-182563">
              <a:spcBef>
                <a:spcPts val="600"/>
              </a:spcBef>
              <a:spcAft>
                <a:spcPts val="0"/>
              </a:spcAft>
              <a:buSzPct val="100000"/>
              <a:buFont typeface="Symbol"/>
              <a:buChar char=""/>
            </a:pPr>
            <a:r>
              <a:rPr lang="fr-CA" sz="2000" b="1" i="1" dirty="0">
                <a:solidFill>
                  <a:srgbClr val="000000"/>
                </a:solidFill>
                <a:latin typeface="+mj-lt"/>
                <a:ea typeface="Times New Roman"/>
              </a:rPr>
              <a:t>Cholestérol </a:t>
            </a:r>
            <a:r>
              <a:rPr lang="fr-CA" sz="2000" b="1" dirty="0">
                <a:solidFill>
                  <a:srgbClr val="000000"/>
                </a:solidFill>
                <a:latin typeface="+mj-lt"/>
                <a:ea typeface="Times New Roman"/>
              </a:rPr>
              <a:t>: </a:t>
            </a:r>
          </a:p>
          <a:p>
            <a:pPr marL="365125" lvl="0" indent="-168275">
              <a:spcBef>
                <a:spcPts val="200"/>
              </a:spcBef>
              <a:spcAft>
                <a:spcPts val="0"/>
              </a:spcAft>
              <a:buSzPts val="900"/>
              <a:buFont typeface="Arial"/>
              <a:buChar char="─"/>
            </a:pPr>
            <a:r>
              <a:rPr lang="fr-FR" dirty="0">
                <a:solidFill>
                  <a:srgbClr val="000000"/>
                </a:solidFill>
                <a:latin typeface="+mj-lt"/>
                <a:ea typeface="Times New Roman"/>
              </a:rPr>
              <a:t>Lipide dont la structure en anneau s’insère entre les phospholipides.</a:t>
            </a:r>
          </a:p>
          <a:p>
            <a:pPr marL="365125" lvl="0" indent="-168275">
              <a:spcBef>
                <a:spcPts val="200"/>
              </a:spcBef>
              <a:spcAft>
                <a:spcPts val="0"/>
              </a:spcAft>
              <a:buSzPts val="900"/>
              <a:buFont typeface="Arial"/>
              <a:buChar char="─"/>
            </a:pPr>
            <a:r>
              <a:rPr lang="fr-FR" dirty="0">
                <a:solidFill>
                  <a:srgbClr val="000000"/>
                </a:solidFill>
                <a:latin typeface="+mj-lt"/>
                <a:ea typeface="Times New Roman"/>
              </a:rPr>
              <a:t>Peut constituer jusqu’à 20% de la quantité totale en lipides d’une membrane plasmique.</a:t>
            </a:r>
            <a:endParaRPr lang="fr-CA" dirty="0">
              <a:solidFill>
                <a:srgbClr val="000000"/>
              </a:solidFill>
              <a:latin typeface="+mj-lt"/>
              <a:ea typeface="Times New Roman"/>
            </a:endParaRPr>
          </a:p>
          <a:p>
            <a:pPr marL="365125" lvl="0" indent="-168275">
              <a:spcBef>
                <a:spcPts val="200"/>
              </a:spcBef>
              <a:spcAft>
                <a:spcPts val="0"/>
              </a:spcAft>
              <a:buSzPts val="900"/>
              <a:buFont typeface="Arial"/>
              <a:buChar char="─"/>
            </a:pPr>
            <a:r>
              <a:rPr lang="fr-FR" u="sng" dirty="0">
                <a:solidFill>
                  <a:srgbClr val="000000"/>
                </a:solidFill>
                <a:latin typeface="+mj-lt"/>
                <a:ea typeface="Times New Roman"/>
              </a:rPr>
              <a:t>Fonction du cholestérol</a:t>
            </a:r>
            <a:r>
              <a:rPr lang="fr-FR" dirty="0">
                <a:solidFill>
                  <a:srgbClr val="000000"/>
                </a:solidFill>
                <a:latin typeface="+mj-lt"/>
                <a:ea typeface="Times New Roman"/>
              </a:rPr>
              <a:t> : “stabilise” la membrane en diminuant la mobilité des molécules de phospholipide tout en empêchant leur interaction. Absolument essentiel pour maintenir l’intégrité de la membrane.</a:t>
            </a:r>
            <a:endParaRPr lang="fr-CA" dirty="0">
              <a:solidFill>
                <a:srgbClr val="000000"/>
              </a:solidFill>
              <a:latin typeface="+mj-lt"/>
              <a:ea typeface="Times New Roman"/>
            </a:endParaRPr>
          </a:p>
        </p:txBody>
      </p:sp>
      <p:sp>
        <p:nvSpPr>
          <p:cNvPr id="5" name="Rectangle 4">
            <a:extLst>
              <a:ext uri="{FF2B5EF4-FFF2-40B4-BE49-F238E27FC236}">
                <a16:creationId xmlns:a16="http://schemas.microsoft.com/office/drawing/2014/main" id="{F21A5081-2582-4BD3-B598-9201C8199FF9}"/>
              </a:ext>
            </a:extLst>
          </p:cNvPr>
          <p:cNvSpPr/>
          <p:nvPr/>
        </p:nvSpPr>
        <p:spPr>
          <a:xfrm>
            <a:off x="330729" y="4562137"/>
            <a:ext cx="8633365" cy="1862048"/>
          </a:xfrm>
          <a:prstGeom prst="rect">
            <a:avLst/>
          </a:prstGeom>
        </p:spPr>
        <p:txBody>
          <a:bodyPr wrap="square">
            <a:spAutoFit/>
          </a:bodyPr>
          <a:lstStyle/>
          <a:p>
            <a:pPr marL="182563" lvl="1" indent="-182563">
              <a:spcBef>
                <a:spcPts val="300"/>
              </a:spcBef>
              <a:spcAft>
                <a:spcPts val="0"/>
              </a:spcAft>
              <a:buSzPct val="100000"/>
              <a:buFont typeface="Symbol"/>
              <a:buChar char=""/>
            </a:pPr>
            <a:r>
              <a:rPr lang="en-CA" sz="2000" b="1" i="1" dirty="0">
                <a:solidFill>
                  <a:srgbClr val="000000"/>
                </a:solidFill>
                <a:latin typeface="+mj-lt"/>
                <a:ea typeface="Times New Roman"/>
              </a:rPr>
              <a:t>Glycocalyx </a:t>
            </a:r>
            <a:r>
              <a:rPr lang="en-CA" sz="2000" b="1" dirty="0">
                <a:solidFill>
                  <a:srgbClr val="000000"/>
                </a:solidFill>
                <a:latin typeface="+mj-lt"/>
                <a:ea typeface="Times New Roman"/>
              </a:rPr>
              <a:t>:</a:t>
            </a:r>
            <a:endParaRPr lang="fr-CA" sz="2000" b="1" dirty="0">
              <a:solidFill>
                <a:srgbClr val="000000"/>
              </a:solidFill>
              <a:latin typeface="+mj-lt"/>
              <a:ea typeface="Times New Roman"/>
            </a:endParaRPr>
          </a:p>
          <a:p>
            <a:pPr marL="365125" lvl="0" indent="-182563">
              <a:spcBef>
                <a:spcPts val="200"/>
              </a:spcBef>
              <a:spcAft>
                <a:spcPts val="0"/>
              </a:spcAft>
              <a:buSzPts val="900"/>
              <a:buFont typeface="Arial"/>
              <a:buChar char="─"/>
              <a:tabLst>
                <a:tab pos="457200" algn="l"/>
                <a:tab pos="990600" algn="l"/>
              </a:tabLst>
            </a:pPr>
            <a:r>
              <a:rPr lang="fr-FR" dirty="0">
                <a:solidFill>
                  <a:srgbClr val="000000"/>
                </a:solidFill>
                <a:latin typeface="+mj-lt"/>
                <a:ea typeface="Times New Roman"/>
              </a:rPr>
              <a:t>Recouvre la surface externe de la membrane plasmique; riche en </a:t>
            </a:r>
            <a:r>
              <a:rPr lang="fr-FR" i="1" dirty="0">
                <a:solidFill>
                  <a:srgbClr val="000000"/>
                </a:solidFill>
                <a:latin typeface="+mj-lt"/>
                <a:ea typeface="Times New Roman"/>
              </a:rPr>
              <a:t>glycoprotéines</a:t>
            </a:r>
            <a:r>
              <a:rPr lang="fr-FR" dirty="0">
                <a:solidFill>
                  <a:srgbClr val="000000"/>
                </a:solidFill>
                <a:latin typeface="+mj-lt"/>
                <a:ea typeface="Times New Roman"/>
              </a:rPr>
              <a:t> et </a:t>
            </a:r>
            <a:r>
              <a:rPr lang="fr-FR" i="1" dirty="0">
                <a:solidFill>
                  <a:srgbClr val="000000"/>
                </a:solidFill>
                <a:latin typeface="+mj-lt"/>
                <a:ea typeface="Times New Roman"/>
              </a:rPr>
              <a:t>glycolipides</a:t>
            </a:r>
            <a:r>
              <a:rPr lang="fr-FR" dirty="0">
                <a:solidFill>
                  <a:srgbClr val="000000"/>
                </a:solidFill>
                <a:latin typeface="+mj-lt"/>
                <a:ea typeface="Times New Roman"/>
              </a:rPr>
              <a:t>.</a:t>
            </a:r>
            <a:endParaRPr lang="fr-CA" dirty="0">
              <a:solidFill>
                <a:srgbClr val="000000"/>
              </a:solidFill>
              <a:latin typeface="+mj-lt"/>
              <a:ea typeface="Times New Roman"/>
            </a:endParaRPr>
          </a:p>
          <a:p>
            <a:pPr marL="365125" lvl="0" indent="-182563">
              <a:spcBef>
                <a:spcPts val="200"/>
              </a:spcBef>
              <a:spcAft>
                <a:spcPts val="0"/>
              </a:spcAft>
              <a:buSzPts val="900"/>
              <a:buFont typeface="Arial"/>
              <a:buChar char="─"/>
              <a:tabLst>
                <a:tab pos="457200" algn="l"/>
                <a:tab pos="914400" algn="l"/>
              </a:tabLst>
            </a:pPr>
            <a:r>
              <a:rPr lang="fr-CA" dirty="0">
                <a:solidFill>
                  <a:srgbClr val="000000"/>
                </a:solidFill>
                <a:latin typeface="+mj-lt"/>
                <a:ea typeface="Times New Roman"/>
              </a:rPr>
              <a:t> </a:t>
            </a:r>
            <a:r>
              <a:rPr lang="fr-CA" u="sng" dirty="0">
                <a:solidFill>
                  <a:srgbClr val="000000"/>
                </a:solidFill>
                <a:latin typeface="+mj-lt"/>
                <a:ea typeface="Times New Roman"/>
              </a:rPr>
              <a:t>Fonctions du glycocalyx</a:t>
            </a:r>
            <a:r>
              <a:rPr lang="fr-CA" dirty="0">
                <a:solidFill>
                  <a:srgbClr val="000000"/>
                </a:solidFill>
                <a:latin typeface="+mj-lt"/>
                <a:ea typeface="Times New Roman"/>
              </a:rPr>
              <a:t> :</a:t>
            </a:r>
          </a:p>
          <a:p>
            <a:pPr marL="533400" lvl="1" indent="-168275">
              <a:spcBef>
                <a:spcPts val="100"/>
              </a:spcBef>
              <a:spcAft>
                <a:spcPts val="0"/>
              </a:spcAft>
              <a:buSzPct val="100000"/>
              <a:buFont typeface="Wingdings"/>
              <a:buChar char=""/>
            </a:pPr>
            <a:r>
              <a:rPr lang="fr-FR" dirty="0">
                <a:solidFill>
                  <a:srgbClr val="000000"/>
                </a:solidFill>
                <a:latin typeface="+mj-lt"/>
                <a:ea typeface="Times New Roman"/>
              </a:rPr>
              <a:t>Constitue un ensemble de marqueurs pour la reconnaissance entre cellules.</a:t>
            </a:r>
            <a:endParaRPr lang="fr-CA" dirty="0">
              <a:solidFill>
                <a:srgbClr val="000000"/>
              </a:solidFill>
              <a:latin typeface="+mj-lt"/>
              <a:ea typeface="Times New Roman"/>
            </a:endParaRPr>
          </a:p>
          <a:p>
            <a:pPr marL="533400" lvl="1" indent="-168275">
              <a:spcBef>
                <a:spcPts val="100"/>
              </a:spcBef>
              <a:spcAft>
                <a:spcPts val="0"/>
              </a:spcAft>
              <a:buSzPct val="100000"/>
              <a:buFont typeface="Wingdings"/>
              <a:buChar char=""/>
            </a:pPr>
            <a:r>
              <a:rPr lang="fr-FR" dirty="0">
                <a:solidFill>
                  <a:srgbClr val="000000"/>
                </a:solidFill>
                <a:latin typeface="+mj-lt"/>
                <a:ea typeface="Times New Roman"/>
              </a:rPr>
              <a:t>Sert d’adhésif entre les cellules.</a:t>
            </a:r>
            <a:endParaRPr lang="fr-CA" dirty="0">
              <a:solidFill>
                <a:srgbClr val="000000"/>
              </a:solidFill>
              <a:latin typeface="+mj-lt"/>
              <a:ea typeface="Times New Roman"/>
            </a:endParaRPr>
          </a:p>
        </p:txBody>
      </p:sp>
    </p:spTree>
    <p:extLst>
      <p:ext uri="{BB962C8B-B14F-4D97-AF65-F5344CB8AC3E}">
        <p14:creationId xmlns:p14="http://schemas.microsoft.com/office/powerpoint/2010/main" val="12840126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33921" y="902827"/>
            <a:ext cx="3448904" cy="4162678"/>
          </a:xfrm>
          <a:prstGeom prst="rect">
            <a:avLst/>
          </a:prstGeom>
        </p:spPr>
        <p:txBody>
          <a:bodyPr wrap="square">
            <a:spAutoFit/>
          </a:bodyPr>
          <a:lstStyle/>
          <a:p>
            <a:r>
              <a:rPr lang="fr-FR" dirty="0">
                <a:latin typeface="+mj-lt"/>
              </a:rPr>
              <a:t> Deux types :</a:t>
            </a:r>
            <a:endParaRPr lang="en-US" dirty="0">
              <a:latin typeface="+mj-lt"/>
            </a:endParaRPr>
          </a:p>
          <a:p>
            <a:pPr marL="363538" lvl="1" indent="-188913">
              <a:spcBef>
                <a:spcPts val="600"/>
              </a:spcBef>
              <a:buSzPct val="125000"/>
              <a:buFont typeface="Arial" panose="020B0604020202020204" pitchFamily="34" charset="0"/>
              <a:buChar char="•"/>
            </a:pPr>
            <a:r>
              <a:rPr lang="fr-FR" b="1" i="1" dirty="0">
                <a:latin typeface="+mj-lt"/>
              </a:rPr>
              <a:t>Protéines périphériques</a:t>
            </a:r>
            <a:r>
              <a:rPr lang="fr-FR" i="1" dirty="0">
                <a:latin typeface="+mj-lt"/>
              </a:rPr>
              <a:t> </a:t>
            </a:r>
            <a:r>
              <a:rPr lang="fr-FR" b="1" dirty="0">
                <a:latin typeface="+mj-lt"/>
              </a:rPr>
              <a:t>:</a:t>
            </a:r>
            <a:r>
              <a:rPr lang="fr-FR" dirty="0">
                <a:latin typeface="+mj-lt"/>
              </a:rPr>
              <a:t> Situées à la surface (cytoplasmique ou extracellulaire) de la membrane. </a:t>
            </a:r>
            <a:endParaRPr lang="en-US" dirty="0">
              <a:latin typeface="+mj-lt"/>
            </a:endParaRPr>
          </a:p>
          <a:p>
            <a:pPr marL="363538" lvl="1" indent="-188913">
              <a:spcBef>
                <a:spcPts val="600"/>
              </a:spcBef>
              <a:buSzPct val="125000"/>
              <a:buFont typeface="Arial" panose="020B0604020202020204" pitchFamily="34" charset="0"/>
              <a:buChar char="•"/>
            </a:pPr>
            <a:r>
              <a:rPr lang="fr-FR" b="1" i="1" dirty="0">
                <a:latin typeface="+mj-lt"/>
              </a:rPr>
              <a:t>Protéines intégrées</a:t>
            </a:r>
            <a:r>
              <a:rPr lang="fr-FR" i="1" dirty="0">
                <a:latin typeface="+mj-lt"/>
              </a:rPr>
              <a:t> </a:t>
            </a:r>
            <a:r>
              <a:rPr lang="fr-FR" b="1" dirty="0">
                <a:latin typeface="+mj-lt"/>
              </a:rPr>
              <a:t>: </a:t>
            </a:r>
            <a:r>
              <a:rPr lang="fr-FR" dirty="0">
                <a:latin typeface="+mj-lt"/>
              </a:rPr>
              <a:t>Insérées dans la bicouche lipidique</a:t>
            </a:r>
            <a:endParaRPr lang="en-US" dirty="0">
              <a:latin typeface="+mj-lt"/>
            </a:endParaRPr>
          </a:p>
          <a:p>
            <a:pPr marL="536575" lvl="2" indent="-173038">
              <a:spcBef>
                <a:spcPts val="300"/>
              </a:spcBef>
              <a:buSzPct val="80000"/>
              <a:buFont typeface="Wingdings" panose="05000000000000000000" pitchFamily="2" charset="2"/>
              <a:buChar char="§"/>
            </a:pPr>
            <a:r>
              <a:rPr lang="fr-FR" b="1" i="1" dirty="0">
                <a:latin typeface="+mj-lt"/>
              </a:rPr>
              <a:t>Protéines transmembranaires</a:t>
            </a:r>
            <a:r>
              <a:rPr lang="fr-FR" dirty="0">
                <a:latin typeface="+mj-lt"/>
              </a:rPr>
              <a:t> </a:t>
            </a:r>
            <a:r>
              <a:rPr lang="fr-FR" b="1" dirty="0">
                <a:latin typeface="+mj-lt"/>
              </a:rPr>
              <a:t>: </a:t>
            </a:r>
            <a:r>
              <a:rPr lang="fr-FR" dirty="0">
                <a:latin typeface="+mj-lt"/>
              </a:rPr>
              <a:t>Protéines intégrées qui traversent complètement la membrane plasmique</a:t>
            </a:r>
            <a:endParaRPr lang="en-US" dirty="0">
              <a:latin typeface="+mj-lt"/>
            </a:endParaRPr>
          </a:p>
        </p:txBody>
      </p:sp>
      <p:sp>
        <p:nvSpPr>
          <p:cNvPr id="6" name="Rectangle 5"/>
          <p:cNvSpPr/>
          <p:nvPr/>
        </p:nvSpPr>
        <p:spPr>
          <a:xfrm>
            <a:off x="233921" y="300485"/>
            <a:ext cx="4993675" cy="461665"/>
          </a:xfrm>
          <a:prstGeom prst="rect">
            <a:avLst/>
          </a:prstGeom>
        </p:spPr>
        <p:txBody>
          <a:bodyPr wrap="none">
            <a:spAutoFit/>
          </a:bodyPr>
          <a:lstStyle/>
          <a:p>
            <a:r>
              <a:rPr lang="fr-CA" sz="2200" b="1" dirty="0">
                <a:solidFill>
                  <a:schemeClr val="accent2"/>
                </a:solidFill>
                <a:latin typeface="+mj-lt"/>
              </a:rPr>
              <a:t>2.1.3  Les protéines </a:t>
            </a:r>
            <a:r>
              <a:rPr lang="fr-CA" sz="2400" b="1" dirty="0">
                <a:solidFill>
                  <a:schemeClr val="accent2"/>
                </a:solidFill>
                <a:latin typeface="+mj-lt"/>
              </a:rPr>
              <a:t>membranaires</a:t>
            </a:r>
            <a:endParaRPr lang="en-US" sz="2400" dirty="0">
              <a:solidFill>
                <a:schemeClr val="accent2"/>
              </a:solidFill>
              <a:latin typeface="+mj-lt"/>
            </a:endParaRPr>
          </a:p>
        </p:txBody>
      </p:sp>
      <p:pic>
        <p:nvPicPr>
          <p:cNvPr id="5" name="Picture 2" descr="E:\Figures\Avec légendes\Figures chapitre03\marieb-ch03_fig_03.jpg"/>
          <p:cNvPicPr>
            <a:picLocks noChangeAspect="1" noChangeArrowheads="1"/>
          </p:cNvPicPr>
          <p:nvPr/>
        </p:nvPicPr>
        <p:blipFill rotWithShape="1">
          <a:blip r:embed="rId3">
            <a:extLst>
              <a:ext uri="{28A0092B-C50C-407E-A947-70E740481C1C}">
                <a14:useLocalDpi xmlns:a14="http://schemas.microsoft.com/office/drawing/2010/main" val="0"/>
              </a:ext>
            </a:extLst>
          </a:blip>
          <a:srcRect l="32598" t="22024" r="15795" b="31741"/>
          <a:stretch/>
        </p:blipFill>
        <p:spPr bwMode="auto">
          <a:xfrm>
            <a:off x="4170682" y="902827"/>
            <a:ext cx="4608000" cy="504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1528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Figures\Avec légendes\Figures chapitre03\marieb-ch03_fig_04.jpg"/>
          <p:cNvPicPr>
            <a:picLocks noChangeAspect="1" noChangeArrowheads="1"/>
          </p:cNvPicPr>
          <p:nvPr/>
        </p:nvPicPr>
        <p:blipFill rotWithShape="1">
          <a:blip r:embed="rId3">
            <a:extLst>
              <a:ext uri="{28A0092B-C50C-407E-A947-70E740481C1C}">
                <a14:useLocalDpi xmlns:a14="http://schemas.microsoft.com/office/drawing/2010/main" val="0"/>
              </a:ext>
            </a:extLst>
          </a:blip>
          <a:srcRect b="51710"/>
          <a:stretch/>
        </p:blipFill>
        <p:spPr bwMode="auto">
          <a:xfrm>
            <a:off x="137787" y="1247594"/>
            <a:ext cx="4178674" cy="5057348"/>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H:\Figures\Avec légendes\Figures chapitre03\marieb-ch03_fig_04.jpg"/>
          <p:cNvPicPr>
            <a:picLocks noChangeAspect="1" noChangeArrowheads="1"/>
          </p:cNvPicPr>
          <p:nvPr/>
        </p:nvPicPr>
        <p:blipFill rotWithShape="1">
          <a:blip r:embed="rId3">
            <a:extLst>
              <a:ext uri="{28A0092B-C50C-407E-A947-70E740481C1C}">
                <a14:useLocalDpi xmlns:a14="http://schemas.microsoft.com/office/drawing/2010/main" val="0"/>
              </a:ext>
            </a:extLst>
          </a:blip>
          <a:srcRect t="48067" b="3131"/>
          <a:stretch/>
        </p:blipFill>
        <p:spPr bwMode="auto">
          <a:xfrm>
            <a:off x="4690010" y="1410432"/>
            <a:ext cx="4229596" cy="5173252"/>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bwMode="auto">
          <a:xfrm>
            <a:off x="335890" y="1410432"/>
            <a:ext cx="3920646" cy="1678490"/>
          </a:xfrm>
          <a:prstGeom prst="rect">
            <a:avLst/>
          </a:prstGeom>
          <a:noFill/>
          <a:ln w="25400" cap="flat" cmpd="sng" algn="ctr">
            <a:solidFill>
              <a:srgbClr val="FF0000"/>
            </a:solidFill>
            <a:prstDash val="solid"/>
            <a:round/>
            <a:headEnd type="triangle" w="med" len="med"/>
            <a:tailEnd type="triangl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Times New Roman" pitchFamily="18" charset="0"/>
            </a:endParaRPr>
          </a:p>
        </p:txBody>
      </p:sp>
      <p:sp>
        <p:nvSpPr>
          <p:cNvPr id="6" name="Rectangle 5"/>
          <p:cNvSpPr/>
          <p:nvPr/>
        </p:nvSpPr>
        <p:spPr>
          <a:xfrm>
            <a:off x="233921" y="300485"/>
            <a:ext cx="4993675" cy="461665"/>
          </a:xfrm>
          <a:prstGeom prst="rect">
            <a:avLst/>
          </a:prstGeom>
        </p:spPr>
        <p:txBody>
          <a:bodyPr wrap="none">
            <a:spAutoFit/>
          </a:bodyPr>
          <a:lstStyle/>
          <a:p>
            <a:r>
              <a:rPr lang="fr-CA" sz="2200" b="1" dirty="0">
                <a:solidFill>
                  <a:schemeClr val="accent2"/>
                </a:solidFill>
                <a:latin typeface="+mj-lt"/>
              </a:rPr>
              <a:t>2.1.3  Les protéines </a:t>
            </a:r>
            <a:r>
              <a:rPr lang="fr-CA" sz="2400" b="1" dirty="0">
                <a:solidFill>
                  <a:schemeClr val="accent2"/>
                </a:solidFill>
                <a:latin typeface="+mj-lt"/>
              </a:rPr>
              <a:t>membranaires</a:t>
            </a:r>
            <a:endParaRPr lang="en-US" sz="2400" dirty="0">
              <a:solidFill>
                <a:schemeClr val="accent2"/>
              </a:solidFill>
              <a:latin typeface="+mj-lt"/>
            </a:endParaRPr>
          </a:p>
        </p:txBody>
      </p:sp>
      <p:sp>
        <p:nvSpPr>
          <p:cNvPr id="2" name="Rectangle 1"/>
          <p:cNvSpPr/>
          <p:nvPr/>
        </p:nvSpPr>
        <p:spPr>
          <a:xfrm>
            <a:off x="307754" y="818052"/>
            <a:ext cx="1960323" cy="400110"/>
          </a:xfrm>
          <a:prstGeom prst="rect">
            <a:avLst/>
          </a:prstGeom>
        </p:spPr>
        <p:txBody>
          <a:bodyPr wrap="square">
            <a:spAutoFit/>
          </a:bodyPr>
          <a:lstStyle/>
          <a:p>
            <a:pPr marL="0" lvl="1">
              <a:spcBef>
                <a:spcPts val="600"/>
              </a:spcBef>
              <a:buSzPct val="125000"/>
            </a:pPr>
            <a:r>
              <a:rPr lang="fr-FR" sz="2000" b="1" u="sng" dirty="0">
                <a:latin typeface="+mj-lt"/>
              </a:rPr>
              <a:t>Fonctions</a:t>
            </a:r>
            <a:r>
              <a:rPr lang="fr-FR" sz="2000" b="1" dirty="0">
                <a:latin typeface="+mj-lt"/>
              </a:rPr>
              <a:t> :  </a:t>
            </a:r>
            <a:endParaRPr lang="en-US" sz="2000" b="1" dirty="0">
              <a:latin typeface="+mj-lt"/>
            </a:endParaRPr>
          </a:p>
        </p:txBody>
      </p:sp>
    </p:spTree>
    <p:extLst>
      <p:ext uri="{BB962C8B-B14F-4D97-AF65-F5344CB8AC3E}">
        <p14:creationId xmlns:p14="http://schemas.microsoft.com/office/powerpoint/2010/main" val="3085426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614289" y="1110725"/>
            <a:ext cx="7955280" cy="1831271"/>
          </a:xfrm>
          <a:prstGeom prst="rect">
            <a:avLst/>
          </a:prstGeom>
          <a:solidFill>
            <a:schemeClr val="accent2">
              <a:lumMod val="20000"/>
              <a:lumOff val="80000"/>
              <a:alpha val="50000"/>
            </a:schemeClr>
          </a:solidFill>
          <a:ln>
            <a:solidFill>
              <a:srgbClr val="3333FF"/>
            </a:solidFill>
          </a:ln>
        </p:spPr>
        <p:txBody>
          <a:bodyPr wrap="square">
            <a:spAutoFit/>
          </a:bodyPr>
          <a:lstStyle/>
          <a:p>
            <a:r>
              <a:rPr lang="fr-CA" sz="2400" b="1" dirty="0">
                <a:latin typeface="Arial" panose="020B0604020202020204" pitchFamily="34" charset="0"/>
                <a:cs typeface="Arial" panose="020B0604020202020204" pitchFamily="34" charset="0"/>
              </a:rPr>
              <a:t>Section 2.2</a:t>
            </a:r>
          </a:p>
          <a:p>
            <a:r>
              <a:rPr lang="fr-CA" sz="2400" b="1" dirty="0">
                <a:latin typeface="Arial" panose="020B0604020202020204" pitchFamily="34" charset="0"/>
                <a:cs typeface="Arial" panose="020B0604020202020204" pitchFamily="34" charset="0"/>
              </a:rPr>
              <a:t>Animation à visionner sur le site de Pearson-ERPI :</a:t>
            </a:r>
          </a:p>
          <a:p>
            <a:pPr marL="274638" indent="-274638">
              <a:spcBef>
                <a:spcPts val="600"/>
              </a:spcBef>
              <a:buFont typeface="Arial" panose="020B0604020202020204" pitchFamily="34" charset="0"/>
              <a:buChar char="•"/>
            </a:pPr>
            <a:r>
              <a:rPr lang="fr-CA" sz="2400" b="1" i="1" dirty="0">
                <a:latin typeface="Arial" panose="020B0604020202020204" pitchFamily="34" charset="0"/>
                <a:cs typeface="Arial" panose="020B0604020202020204" pitchFamily="34" charset="0"/>
                <a:hlinkClick r:id="rId3"/>
              </a:rPr>
              <a:t>Les transports membranaires </a:t>
            </a:r>
            <a:r>
              <a:rPr lang="fr-CA" dirty="0"/>
              <a:t>https://media.pearsoncmg.com/intl/streaming/erpi/etext/erpi_animations_biologie/bioflix/transport_membranaine.mp4</a:t>
            </a:r>
          </a:p>
        </p:txBody>
      </p:sp>
      <p:sp>
        <p:nvSpPr>
          <p:cNvPr id="4" name="Rectangle 3"/>
          <p:cNvSpPr/>
          <p:nvPr/>
        </p:nvSpPr>
        <p:spPr>
          <a:xfrm>
            <a:off x="230279" y="292413"/>
            <a:ext cx="6351995" cy="523220"/>
          </a:xfrm>
          <a:prstGeom prst="rect">
            <a:avLst/>
          </a:prstGeom>
        </p:spPr>
        <p:txBody>
          <a:bodyPr wrap="none">
            <a:spAutoFit/>
          </a:bodyPr>
          <a:lstStyle/>
          <a:p>
            <a:r>
              <a:rPr lang="fr-CA" sz="2800" b="1" dirty="0">
                <a:solidFill>
                  <a:schemeClr val="accent2"/>
                </a:solidFill>
                <a:latin typeface="+mj-lt"/>
              </a:rPr>
              <a:t>2.2 </a:t>
            </a:r>
            <a:r>
              <a:rPr lang="fr-CA" sz="2800" b="1" u="sng" dirty="0">
                <a:solidFill>
                  <a:schemeClr val="accent2"/>
                </a:solidFill>
                <a:latin typeface="+mj-lt"/>
              </a:rPr>
              <a:t>Types de transport membranaire</a:t>
            </a:r>
            <a:endParaRPr lang="en-US" sz="2800" u="sng" dirty="0">
              <a:solidFill>
                <a:schemeClr val="accent2"/>
              </a:solidFill>
              <a:latin typeface="+mj-lt"/>
            </a:endParaRPr>
          </a:p>
        </p:txBody>
      </p:sp>
    </p:spTree>
    <p:extLst>
      <p:ext uri="{BB962C8B-B14F-4D97-AF65-F5344CB8AC3E}">
        <p14:creationId xmlns:p14="http://schemas.microsoft.com/office/powerpoint/2010/main" val="32573171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19"/>
          <p:cNvSpPr>
            <a:spLocks noChangeArrowheads="1"/>
          </p:cNvSpPr>
          <p:nvPr/>
        </p:nvSpPr>
        <p:spPr bwMode="auto">
          <a:xfrm>
            <a:off x="410052" y="1224401"/>
            <a:ext cx="8402028" cy="1877437"/>
          </a:xfrm>
          <a:prstGeom prst="rect">
            <a:avLst/>
          </a:prstGeom>
          <a:noFill/>
          <a:ln w="9525">
            <a:noFill/>
            <a:miter lim="800000"/>
            <a:headEnd/>
            <a:tailEnd/>
          </a:ln>
        </p:spPr>
        <p:txBody>
          <a:bodyPr wrap="square" anchor="ctr">
            <a:spAutoFit/>
          </a:bodyPr>
          <a:lstStyle/>
          <a:p>
            <a:pPr marL="168275" indent="-168275" eaLnBrk="0" hangingPunct="0">
              <a:spcBef>
                <a:spcPct val="25000"/>
              </a:spcBef>
              <a:buFontTx/>
              <a:buChar char="•"/>
              <a:tabLst>
                <a:tab pos="914400" algn="l"/>
              </a:tabLst>
            </a:pPr>
            <a:r>
              <a:rPr lang="fr-CA" sz="1600" dirty="0">
                <a:latin typeface="+mj-lt"/>
              </a:rPr>
              <a:t>La membrane plasmique f</a:t>
            </a:r>
            <a:r>
              <a:rPr lang="fr-FR" sz="1600" dirty="0">
                <a:latin typeface="+mj-lt"/>
              </a:rPr>
              <a:t>orme une barrière à </a:t>
            </a:r>
            <a:r>
              <a:rPr lang="fr-FR" sz="1600" b="1" i="1" dirty="0">
                <a:latin typeface="+mj-lt"/>
              </a:rPr>
              <a:t>perméabilité sélective</a:t>
            </a:r>
            <a:r>
              <a:rPr lang="fr-FR" sz="1600" b="1" dirty="0">
                <a:latin typeface="+mj-lt"/>
              </a:rPr>
              <a:t> </a:t>
            </a:r>
            <a:r>
              <a:rPr lang="fr-FR" sz="1600" dirty="0">
                <a:latin typeface="+mj-lt"/>
              </a:rPr>
              <a:t>entre le liquide extracellulaire et le liquide intracellulaire.</a:t>
            </a:r>
          </a:p>
          <a:p>
            <a:pPr marL="168275" indent="-168275" eaLnBrk="0" hangingPunct="0">
              <a:spcBef>
                <a:spcPct val="25000"/>
              </a:spcBef>
              <a:buFontTx/>
              <a:buChar char="•"/>
              <a:tabLst>
                <a:tab pos="914400" algn="l"/>
              </a:tabLst>
            </a:pPr>
            <a:r>
              <a:rPr lang="fr-FR" sz="1600" dirty="0">
                <a:latin typeface="+mj-lt"/>
              </a:rPr>
              <a:t>Protéines intégrées qui agissent  comme canaux ou transporteurs :</a:t>
            </a:r>
            <a:endParaRPr lang="en-US" sz="1600" dirty="0">
              <a:latin typeface="+mj-lt"/>
            </a:endParaRPr>
          </a:p>
          <a:p>
            <a:pPr marL="363538" lvl="1" indent="-187325" eaLnBrk="0" hangingPunct="0">
              <a:buSzPct val="90000"/>
              <a:buFont typeface="Times New Roman" pitchFamily="18" charset="0"/>
              <a:buChar char="−"/>
              <a:tabLst>
                <a:tab pos="914400" algn="l"/>
              </a:tabLst>
            </a:pPr>
            <a:r>
              <a:rPr lang="fr-FR" sz="1600" dirty="0">
                <a:latin typeface="+mj-lt"/>
              </a:rPr>
              <a:t>Permettent le passage spécifique d’ions ou molécules membrane à travers la membrane, ce qui lui confère sa propriété de </a:t>
            </a:r>
            <a:r>
              <a:rPr lang="fr-FR" sz="1600" u="sng" dirty="0">
                <a:latin typeface="+mj-lt"/>
              </a:rPr>
              <a:t>perméabilité sélective</a:t>
            </a:r>
            <a:r>
              <a:rPr lang="fr-FR" sz="1600" dirty="0">
                <a:latin typeface="+mj-lt"/>
              </a:rPr>
              <a:t>.</a:t>
            </a:r>
            <a:endParaRPr lang="en-US" sz="1600" dirty="0">
              <a:latin typeface="+mj-lt"/>
            </a:endParaRPr>
          </a:p>
          <a:p>
            <a:pPr marL="363538" lvl="1" indent="-187325" eaLnBrk="0" hangingPunct="0">
              <a:buSzPct val="90000"/>
              <a:buFont typeface="Times New Roman" pitchFamily="18" charset="0"/>
              <a:buChar char="−"/>
              <a:tabLst>
                <a:tab pos="914400" algn="l"/>
              </a:tabLst>
            </a:pPr>
            <a:r>
              <a:rPr lang="en-US" sz="1600" dirty="0">
                <a:latin typeface="+mj-lt"/>
              </a:rPr>
              <a:t>E</a:t>
            </a:r>
            <a:r>
              <a:rPr lang="fr-FR" sz="1600" dirty="0">
                <a:latin typeface="+mj-lt"/>
              </a:rPr>
              <a:t>n grande partie responsables des </a:t>
            </a:r>
            <a:r>
              <a:rPr lang="fr-FR" sz="1600" b="1" i="1" dirty="0">
                <a:latin typeface="+mj-lt"/>
              </a:rPr>
              <a:t>gradients de concentration</a:t>
            </a:r>
            <a:r>
              <a:rPr lang="fr-FR" sz="1600" dirty="0">
                <a:latin typeface="+mj-lt"/>
              </a:rPr>
              <a:t> des solutés de part et d’autre de la membrane.</a:t>
            </a:r>
          </a:p>
        </p:txBody>
      </p:sp>
      <p:graphicFrame>
        <p:nvGraphicFramePr>
          <p:cNvPr id="513230" name="Group 206"/>
          <p:cNvGraphicFramePr>
            <a:graphicFrameLocks noGrp="1"/>
          </p:cNvGraphicFramePr>
          <p:nvPr>
            <p:ph/>
            <p:extLst>
              <p:ext uri="{D42A27DB-BD31-4B8C-83A1-F6EECF244321}">
                <p14:modId xmlns:p14="http://schemas.microsoft.com/office/powerpoint/2010/main" val="2462859198"/>
              </p:ext>
            </p:extLst>
          </p:nvPr>
        </p:nvGraphicFramePr>
        <p:xfrm>
          <a:off x="376921" y="3262663"/>
          <a:ext cx="8655050" cy="2654836"/>
        </p:xfrm>
        <a:graphic>
          <a:graphicData uri="http://schemas.openxmlformats.org/drawingml/2006/table">
            <a:tbl>
              <a:tblPr/>
              <a:tblGrid>
                <a:gridCol w="1622425">
                  <a:extLst>
                    <a:ext uri="{9D8B030D-6E8A-4147-A177-3AD203B41FA5}">
                      <a16:colId xmlns:a16="http://schemas.microsoft.com/office/drawing/2014/main" val="20000"/>
                    </a:ext>
                  </a:extLst>
                </a:gridCol>
                <a:gridCol w="1117600">
                  <a:extLst>
                    <a:ext uri="{9D8B030D-6E8A-4147-A177-3AD203B41FA5}">
                      <a16:colId xmlns:a16="http://schemas.microsoft.com/office/drawing/2014/main" val="20001"/>
                    </a:ext>
                  </a:extLst>
                </a:gridCol>
                <a:gridCol w="1028700">
                  <a:extLst>
                    <a:ext uri="{9D8B030D-6E8A-4147-A177-3AD203B41FA5}">
                      <a16:colId xmlns:a16="http://schemas.microsoft.com/office/drawing/2014/main" val="20002"/>
                    </a:ext>
                  </a:extLst>
                </a:gridCol>
                <a:gridCol w="1044575">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989012">
                  <a:extLst>
                    <a:ext uri="{9D8B030D-6E8A-4147-A177-3AD203B41FA5}">
                      <a16:colId xmlns:a16="http://schemas.microsoft.com/office/drawing/2014/main" val="20005"/>
                    </a:ext>
                  </a:extLst>
                </a:gridCol>
                <a:gridCol w="1041400">
                  <a:extLst>
                    <a:ext uri="{9D8B030D-6E8A-4147-A177-3AD203B41FA5}">
                      <a16:colId xmlns:a16="http://schemas.microsoft.com/office/drawing/2014/main" val="20006"/>
                    </a:ext>
                  </a:extLst>
                </a:gridCol>
                <a:gridCol w="896938">
                  <a:extLst>
                    <a:ext uri="{9D8B030D-6E8A-4147-A177-3AD203B41FA5}">
                      <a16:colId xmlns:a16="http://schemas.microsoft.com/office/drawing/2014/main" val="20007"/>
                    </a:ext>
                  </a:extLst>
                </a:gridCol>
              </a:tblGrid>
              <a:tr h="823371">
                <a:tc gridSpan="8">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sz="1800" b="1" i="0" u="none" strike="noStrike" cap="none" normalizeH="0" baseline="0" dirty="0">
                          <a:ln>
                            <a:noFill/>
                          </a:ln>
                          <a:solidFill>
                            <a:srgbClr val="000000"/>
                          </a:solidFill>
                          <a:effectLst/>
                          <a:latin typeface="Arial" charset="0"/>
                          <a:cs typeface="Times New Roman" pitchFamily="18" charset="0"/>
                        </a:rPr>
                        <a:t>Concentrations typiques de quelques solutés des liquides extracellulaire et intracellulaire</a:t>
                      </a:r>
                      <a:endParaRPr kumimoji="0" lang="fr-FR" sz="1800" b="0" i="0" u="none" strike="noStrike" cap="none" normalizeH="0" baseline="0" dirty="0">
                        <a:ln>
                          <a:noFill/>
                        </a:ln>
                        <a:solidFill>
                          <a:schemeClr val="tx1"/>
                        </a:solidFill>
                        <a:effectLst/>
                        <a:latin typeface="Arial" charset="0"/>
                        <a:cs typeface="Times New Roman" pitchFamily="18" charset="0"/>
                      </a:endParaRPr>
                    </a:p>
                  </a:txBody>
                  <a:tcPr marT="45741" marB="4574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fr-CA"/>
                    </a:p>
                  </a:txBody>
                  <a:tcPr/>
                </a:tc>
                <a:tc hMerge="1">
                  <a:txBody>
                    <a:bodyPr/>
                    <a:lstStyle/>
                    <a:p>
                      <a:endParaRPr lang="fr-CA"/>
                    </a:p>
                  </a:txBody>
                  <a:tcPr/>
                </a:tc>
                <a:tc hMerge="1">
                  <a:txBody>
                    <a:bodyPr/>
                    <a:lstStyle/>
                    <a:p>
                      <a:endParaRPr lang="fr-CA"/>
                    </a:p>
                  </a:txBody>
                  <a:tcPr/>
                </a:tc>
                <a:tc hMerge="1">
                  <a:txBody>
                    <a:bodyPr/>
                    <a:lstStyle/>
                    <a:p>
                      <a:endParaRPr lang="fr-CA"/>
                    </a:p>
                  </a:txBody>
                  <a:tcPr/>
                </a:tc>
                <a:tc hMerge="1">
                  <a:txBody>
                    <a:bodyPr/>
                    <a:lstStyle/>
                    <a:p>
                      <a:endParaRPr lang="fr-CA"/>
                    </a:p>
                  </a:txBody>
                  <a:tcPr/>
                </a:tc>
                <a:tc hMerge="1">
                  <a:txBody>
                    <a:bodyPr/>
                    <a:lstStyle/>
                    <a:p>
                      <a:endParaRPr lang="fr-CA"/>
                    </a:p>
                  </a:txBody>
                  <a:tcPr/>
                </a:tc>
                <a:tc hMerge="1">
                  <a:txBody>
                    <a:bodyPr/>
                    <a:lstStyle/>
                    <a:p>
                      <a:endParaRPr lang="fr-CA"/>
                    </a:p>
                  </a:txBody>
                  <a:tcPr/>
                </a:tc>
                <a:extLst>
                  <a:ext uri="{0D108BD9-81ED-4DB2-BD59-A6C34878D82A}">
                    <a16:rowId xmlns:a16="http://schemas.microsoft.com/office/drawing/2014/main" val="10000"/>
                  </a:ext>
                </a:extLst>
              </a:tr>
              <a:tr h="550985">
                <a:tc>
                  <a:txBody>
                    <a:bodyPr/>
                    <a:lstStyle/>
                    <a:p>
                      <a:pPr marL="0" marR="0" lvl="0" indent="0" algn="l" defTabSz="914400" rtl="0" eaLnBrk="1" fontAlgn="base" latinLnBrk="0" hangingPunct="1">
                        <a:lnSpc>
                          <a:spcPct val="100000"/>
                        </a:lnSpc>
                        <a:spcBef>
                          <a:spcPct val="0"/>
                        </a:spcBef>
                        <a:spcAft>
                          <a:spcPct val="50000"/>
                        </a:spcAft>
                        <a:buClr>
                          <a:srgbClr val="0989C9"/>
                        </a:buClr>
                        <a:buSzPct val="60000"/>
                        <a:buFont typeface="Wingdings" pitchFamily="2" charset="2"/>
                        <a:buNone/>
                        <a:tabLst/>
                      </a:pPr>
                      <a:endParaRPr kumimoji="0" lang="fr-FR" sz="1800" b="0" i="0" u="none" strike="noStrike" cap="none" normalizeH="0" baseline="0">
                        <a:ln>
                          <a:noFill/>
                        </a:ln>
                        <a:solidFill>
                          <a:schemeClr val="tx1"/>
                        </a:solidFill>
                        <a:effectLst/>
                        <a:latin typeface="Arial" charset="0"/>
                        <a:cs typeface="Arial" charset="0"/>
                      </a:endParaRPr>
                    </a:p>
                  </a:txBody>
                  <a:tcPr marT="45741" marB="4574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CA" sz="1800" b="0" i="0" u="none" strike="noStrike" cap="none" normalizeH="0" baseline="0">
                          <a:ln>
                            <a:noFill/>
                          </a:ln>
                          <a:solidFill>
                            <a:srgbClr val="000000"/>
                          </a:solidFill>
                          <a:effectLst/>
                          <a:latin typeface="Arial" charset="0"/>
                          <a:cs typeface="Times New Roman" pitchFamily="18" charset="0"/>
                        </a:rPr>
                        <a:t>Na</a:t>
                      </a:r>
                      <a:r>
                        <a:rPr kumimoji="0" lang="fr-CA" sz="1800" b="0" i="0" u="none" strike="noStrike" cap="none" normalizeH="0" baseline="30000">
                          <a:ln>
                            <a:noFill/>
                          </a:ln>
                          <a:solidFill>
                            <a:srgbClr val="000000"/>
                          </a:solidFill>
                          <a:effectLst/>
                          <a:latin typeface="Arial" charset="0"/>
                          <a:cs typeface="Times New Roman" pitchFamily="18" charset="0"/>
                        </a:rPr>
                        <a:t>+</a:t>
                      </a:r>
                      <a:endParaRPr kumimoji="0" lang="fr-CA" sz="1800" b="0" i="0" u="none" strike="noStrike" cap="none" normalizeH="0" baseline="0">
                        <a:ln>
                          <a:noFill/>
                        </a:ln>
                        <a:solidFill>
                          <a:schemeClr val="tx1"/>
                        </a:solidFill>
                        <a:effectLst/>
                        <a:latin typeface="Arial" charset="0"/>
                        <a:cs typeface="Times New Roman" pitchFamily="18" charset="0"/>
                      </a:endParaRPr>
                    </a:p>
                  </a:txBody>
                  <a:tcPr marT="45741" marB="45741"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CA" sz="1800" b="0" i="0" u="none" strike="noStrike" cap="none" normalizeH="0" baseline="0">
                          <a:ln>
                            <a:noFill/>
                          </a:ln>
                          <a:solidFill>
                            <a:srgbClr val="000000"/>
                          </a:solidFill>
                          <a:effectLst/>
                          <a:latin typeface="Arial" charset="0"/>
                          <a:cs typeface="Times New Roman" pitchFamily="18" charset="0"/>
                        </a:rPr>
                        <a:t>K</a:t>
                      </a:r>
                      <a:r>
                        <a:rPr kumimoji="0" lang="fr-CA" sz="1800" b="0" i="0" u="none" strike="noStrike" cap="none" normalizeH="0" baseline="30000">
                          <a:ln>
                            <a:noFill/>
                          </a:ln>
                          <a:solidFill>
                            <a:srgbClr val="000000"/>
                          </a:solidFill>
                          <a:effectLst/>
                          <a:latin typeface="Arial" charset="0"/>
                          <a:cs typeface="Times New Roman" pitchFamily="18" charset="0"/>
                        </a:rPr>
                        <a:t>+</a:t>
                      </a:r>
                      <a:endParaRPr kumimoji="0" lang="fr-CA" sz="1800" b="0" i="0" u="none" strike="noStrike" cap="none" normalizeH="0" baseline="0">
                        <a:ln>
                          <a:noFill/>
                        </a:ln>
                        <a:solidFill>
                          <a:schemeClr val="tx1"/>
                        </a:solidFill>
                        <a:effectLst/>
                        <a:latin typeface="Arial" charset="0"/>
                        <a:cs typeface="Times New Roman" pitchFamily="18" charset="0"/>
                      </a:endParaRPr>
                    </a:p>
                  </a:txBody>
                  <a:tcPr marT="45741" marB="45741"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CA" sz="1800" b="0" i="0" u="none" strike="noStrike" cap="none" normalizeH="0" baseline="0" dirty="0">
                          <a:ln>
                            <a:noFill/>
                          </a:ln>
                          <a:solidFill>
                            <a:srgbClr val="000000"/>
                          </a:solidFill>
                          <a:effectLst/>
                          <a:latin typeface="Arial" charset="0"/>
                          <a:cs typeface="Times New Roman" pitchFamily="18" charset="0"/>
                        </a:rPr>
                        <a:t>Ca</a:t>
                      </a:r>
                      <a:r>
                        <a:rPr kumimoji="0" lang="fr-CA" sz="1800" b="0" i="0" u="none" strike="noStrike" cap="none" normalizeH="0" baseline="30000" dirty="0">
                          <a:ln>
                            <a:noFill/>
                          </a:ln>
                          <a:solidFill>
                            <a:srgbClr val="000000"/>
                          </a:solidFill>
                          <a:effectLst/>
                          <a:latin typeface="Arial" charset="0"/>
                          <a:cs typeface="Times New Roman" pitchFamily="18" charset="0"/>
                        </a:rPr>
                        <a:t>2+</a:t>
                      </a:r>
                      <a:endParaRPr kumimoji="0" lang="fr-CA" sz="1800" b="0" i="0" u="none" strike="noStrike" cap="none" normalizeH="0" baseline="0" dirty="0">
                        <a:ln>
                          <a:noFill/>
                        </a:ln>
                        <a:solidFill>
                          <a:schemeClr val="tx1"/>
                        </a:solidFill>
                        <a:effectLst/>
                        <a:latin typeface="Arial" charset="0"/>
                        <a:cs typeface="Times New Roman" pitchFamily="18" charset="0"/>
                      </a:endParaRPr>
                    </a:p>
                  </a:txBody>
                  <a:tcPr marT="45741" marB="45741"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CA" sz="1800" b="0" i="0" u="none" strike="noStrike" cap="none" normalizeH="0" baseline="0" dirty="0">
                          <a:ln>
                            <a:noFill/>
                          </a:ln>
                          <a:solidFill>
                            <a:srgbClr val="000000"/>
                          </a:solidFill>
                          <a:effectLst/>
                          <a:latin typeface="Arial" charset="0"/>
                          <a:cs typeface="Times New Roman" pitchFamily="18" charset="0"/>
                        </a:rPr>
                        <a:t>Cl</a:t>
                      </a:r>
                      <a:r>
                        <a:rPr kumimoji="0" lang="fr-CA" sz="1800" b="0" i="0" u="none" strike="noStrike" cap="none" normalizeH="0" baseline="30000" dirty="0">
                          <a:ln>
                            <a:noFill/>
                          </a:ln>
                          <a:solidFill>
                            <a:srgbClr val="000000"/>
                          </a:solidFill>
                          <a:effectLst/>
                          <a:latin typeface="Arial" charset="0"/>
                          <a:cs typeface="Times New Roman" pitchFamily="18" charset="0"/>
                        </a:rPr>
                        <a:t>─</a:t>
                      </a:r>
                      <a:endParaRPr kumimoji="0" lang="fr-CA" sz="1800" b="0" i="0" u="none" strike="noStrike" cap="none" normalizeH="0" baseline="0" dirty="0">
                        <a:ln>
                          <a:noFill/>
                        </a:ln>
                        <a:solidFill>
                          <a:schemeClr val="tx1"/>
                        </a:solidFill>
                        <a:effectLst/>
                        <a:latin typeface="Arial" charset="0"/>
                        <a:cs typeface="Times New Roman" pitchFamily="18" charset="0"/>
                      </a:endParaRPr>
                    </a:p>
                  </a:txBody>
                  <a:tcPr marT="45741" marB="45741"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CA" sz="1800" b="0" i="0" u="none" strike="noStrike" cap="none" normalizeH="0" baseline="0">
                          <a:ln>
                            <a:noFill/>
                          </a:ln>
                          <a:solidFill>
                            <a:srgbClr val="000000"/>
                          </a:solidFill>
                          <a:effectLst/>
                          <a:latin typeface="Arial" charset="0"/>
                          <a:cs typeface="Times New Roman" pitchFamily="18" charset="0"/>
                        </a:rPr>
                        <a:t>HCO</a:t>
                      </a:r>
                      <a:r>
                        <a:rPr kumimoji="0" lang="fr-CA" sz="1800" b="0" i="0" u="none" strike="noStrike" cap="none" normalizeH="0" baseline="-30000">
                          <a:ln>
                            <a:noFill/>
                          </a:ln>
                          <a:solidFill>
                            <a:srgbClr val="000000"/>
                          </a:solidFill>
                          <a:effectLst/>
                          <a:latin typeface="Arial" charset="0"/>
                          <a:cs typeface="Times New Roman" pitchFamily="18" charset="0"/>
                        </a:rPr>
                        <a:t>3</a:t>
                      </a:r>
                      <a:r>
                        <a:rPr kumimoji="0" lang="fr-CA" sz="1800" b="0" i="0" u="none" strike="noStrike" cap="none" normalizeH="0" baseline="30000">
                          <a:ln>
                            <a:noFill/>
                          </a:ln>
                          <a:solidFill>
                            <a:srgbClr val="000000"/>
                          </a:solidFill>
                          <a:effectLst/>
                          <a:latin typeface="Arial" charset="0"/>
                          <a:cs typeface="Times New Roman" pitchFamily="18" charset="0"/>
                        </a:rPr>
                        <a:t>─</a:t>
                      </a:r>
                      <a:endParaRPr kumimoji="0" lang="fr-CA" sz="1800" b="0" i="0" u="none" strike="noStrike" cap="none" normalizeH="0" baseline="0">
                        <a:ln>
                          <a:noFill/>
                        </a:ln>
                        <a:solidFill>
                          <a:schemeClr val="tx1"/>
                        </a:solidFill>
                        <a:effectLst/>
                        <a:latin typeface="Arial" charset="0"/>
                        <a:cs typeface="Times New Roman" pitchFamily="18" charset="0"/>
                      </a:endParaRPr>
                    </a:p>
                  </a:txBody>
                  <a:tcPr marT="45741" marB="45741"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CA" sz="1800" b="0" i="0" u="none" strike="noStrike" cap="none" normalizeH="0" baseline="0">
                          <a:ln>
                            <a:noFill/>
                          </a:ln>
                          <a:solidFill>
                            <a:srgbClr val="000000"/>
                          </a:solidFill>
                          <a:effectLst/>
                          <a:latin typeface="Arial" charset="0"/>
                          <a:cs typeface="Times New Roman" pitchFamily="18" charset="0"/>
                        </a:rPr>
                        <a:t>Glucose</a:t>
                      </a:r>
                      <a:endParaRPr kumimoji="0" lang="fr-CA" sz="1800" b="0" i="0" u="none" strike="noStrike" cap="none" normalizeH="0" baseline="0">
                        <a:ln>
                          <a:noFill/>
                        </a:ln>
                        <a:solidFill>
                          <a:schemeClr val="tx1"/>
                        </a:solidFill>
                        <a:effectLst/>
                        <a:latin typeface="Arial" charset="0"/>
                        <a:cs typeface="Times New Roman" pitchFamily="18" charset="0"/>
                      </a:endParaRPr>
                    </a:p>
                  </a:txBody>
                  <a:tcPr marT="45741" marB="45741"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CA" sz="1800" b="0" i="0" u="none" strike="noStrike" cap="none" normalizeH="0" baseline="0">
                          <a:ln>
                            <a:noFill/>
                          </a:ln>
                          <a:solidFill>
                            <a:srgbClr val="000000"/>
                          </a:solidFill>
                          <a:effectLst/>
                          <a:latin typeface="Arial" charset="0"/>
                          <a:cs typeface="Times New Roman" pitchFamily="18" charset="0"/>
                        </a:rPr>
                        <a:t>pH</a:t>
                      </a:r>
                      <a:endParaRPr kumimoji="0" lang="fr-CA" sz="1800" b="0" i="0" u="none" strike="noStrike" cap="none" normalizeH="0" baseline="0">
                        <a:ln>
                          <a:noFill/>
                        </a:ln>
                        <a:solidFill>
                          <a:schemeClr val="tx1"/>
                        </a:solidFill>
                        <a:effectLst/>
                        <a:latin typeface="Arial" charset="0"/>
                        <a:cs typeface="Times New Roman" pitchFamily="18" charset="0"/>
                      </a:endParaRPr>
                    </a:p>
                  </a:txBody>
                  <a:tcPr marT="45741" marB="45741"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4024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CA" sz="1800" b="0" i="0" u="none" strike="noStrike" cap="none" normalizeH="0" baseline="0">
                          <a:ln>
                            <a:noFill/>
                          </a:ln>
                          <a:solidFill>
                            <a:srgbClr val="000000"/>
                          </a:solidFill>
                          <a:effectLst/>
                          <a:latin typeface="Arial" charset="0"/>
                          <a:cs typeface="Times New Roman" pitchFamily="18" charset="0"/>
                        </a:rPr>
                        <a:t>Extracellulaire</a:t>
                      </a:r>
                      <a:endParaRPr kumimoji="0" lang="fr-CA" sz="1800" b="0" i="0" u="none" strike="noStrike" cap="none" normalizeH="0" baseline="0">
                        <a:ln>
                          <a:noFill/>
                        </a:ln>
                        <a:solidFill>
                          <a:schemeClr val="tx1"/>
                        </a:solidFill>
                        <a:effectLst/>
                        <a:latin typeface="Arial" charset="0"/>
                        <a:cs typeface="Times New Roman" pitchFamily="18" charset="0"/>
                      </a:endParaRPr>
                    </a:p>
                  </a:txBody>
                  <a:tcPr marT="45741" marB="4574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CA" sz="1800" b="0" i="0" u="none" strike="noStrike" cap="none" normalizeH="0" baseline="0" dirty="0">
                          <a:ln>
                            <a:noFill/>
                          </a:ln>
                          <a:solidFill>
                            <a:srgbClr val="000000"/>
                          </a:solidFill>
                          <a:effectLst/>
                          <a:latin typeface="Arial" charset="0"/>
                          <a:cs typeface="Times New Roman" pitchFamily="18" charset="0"/>
                        </a:rPr>
                        <a:t>142 mM</a:t>
                      </a:r>
                      <a:endParaRPr kumimoji="0" lang="fr-CA" sz="1800" b="0" i="0" u="none" strike="noStrike" cap="none" normalizeH="0" baseline="0" dirty="0">
                        <a:ln>
                          <a:noFill/>
                        </a:ln>
                        <a:solidFill>
                          <a:schemeClr val="tx1"/>
                        </a:solidFill>
                        <a:effectLst/>
                        <a:latin typeface="Arial" charset="0"/>
                        <a:cs typeface="Times New Roman" pitchFamily="18" charset="0"/>
                      </a:endParaRPr>
                    </a:p>
                  </a:txBody>
                  <a:tcPr marT="45741" marB="4574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CA" sz="1800" b="0" i="0" u="none" strike="noStrike" cap="none" normalizeH="0" baseline="0" dirty="0">
                          <a:ln>
                            <a:noFill/>
                          </a:ln>
                          <a:solidFill>
                            <a:srgbClr val="000000"/>
                          </a:solidFill>
                          <a:effectLst/>
                          <a:latin typeface="Arial" charset="0"/>
                          <a:cs typeface="Times New Roman" pitchFamily="18" charset="0"/>
                        </a:rPr>
                        <a:t>4 mM</a:t>
                      </a:r>
                      <a:endParaRPr kumimoji="0" lang="fr-CA" sz="1800" b="0" i="0" u="none" strike="noStrike" cap="none" normalizeH="0" baseline="0" dirty="0">
                        <a:ln>
                          <a:noFill/>
                        </a:ln>
                        <a:solidFill>
                          <a:schemeClr val="tx1"/>
                        </a:solidFill>
                        <a:effectLst/>
                        <a:latin typeface="Arial" charset="0"/>
                        <a:cs typeface="Times New Roman" pitchFamily="18" charset="0"/>
                      </a:endParaRPr>
                    </a:p>
                  </a:txBody>
                  <a:tcPr marT="45741" marB="4574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CA" sz="1800" b="0" i="0" u="none" strike="noStrike" cap="none" normalizeH="0" baseline="0" dirty="0">
                          <a:ln>
                            <a:noFill/>
                          </a:ln>
                          <a:solidFill>
                            <a:srgbClr val="000000"/>
                          </a:solidFill>
                          <a:effectLst/>
                          <a:latin typeface="Arial" charset="0"/>
                          <a:cs typeface="Times New Roman" pitchFamily="18" charset="0"/>
                        </a:rPr>
                        <a:t>1.2 mM</a:t>
                      </a:r>
                      <a:endParaRPr kumimoji="0" lang="fr-CA" sz="1800" b="0" i="0" u="none" strike="noStrike" cap="none" normalizeH="0" baseline="0" dirty="0">
                        <a:ln>
                          <a:noFill/>
                        </a:ln>
                        <a:solidFill>
                          <a:schemeClr val="tx1"/>
                        </a:solidFill>
                        <a:effectLst/>
                        <a:latin typeface="Arial" charset="0"/>
                        <a:cs typeface="Times New Roman" pitchFamily="18" charset="0"/>
                      </a:endParaRPr>
                    </a:p>
                  </a:txBody>
                  <a:tcPr marT="45741" marB="4574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CA" sz="1800" b="0" i="0" u="none" strike="noStrike" cap="none" normalizeH="0" baseline="0" dirty="0">
                          <a:ln>
                            <a:noFill/>
                          </a:ln>
                          <a:solidFill>
                            <a:srgbClr val="000000"/>
                          </a:solidFill>
                          <a:effectLst/>
                          <a:latin typeface="Arial" charset="0"/>
                          <a:cs typeface="Times New Roman" pitchFamily="18" charset="0"/>
                        </a:rPr>
                        <a:t>105 mM</a:t>
                      </a:r>
                      <a:endParaRPr kumimoji="0" lang="fr-CA" sz="1800" b="0" i="0" u="none" strike="noStrike" cap="none" normalizeH="0" baseline="0" dirty="0">
                        <a:ln>
                          <a:noFill/>
                        </a:ln>
                        <a:solidFill>
                          <a:schemeClr val="tx1"/>
                        </a:solidFill>
                        <a:effectLst/>
                        <a:latin typeface="Arial" charset="0"/>
                        <a:cs typeface="Times New Roman" pitchFamily="18" charset="0"/>
                      </a:endParaRPr>
                    </a:p>
                  </a:txBody>
                  <a:tcPr marT="45741" marB="4574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CA" sz="1800" b="0" i="0" u="none" strike="noStrike" cap="none" normalizeH="0" baseline="0" dirty="0">
                          <a:ln>
                            <a:noFill/>
                          </a:ln>
                          <a:solidFill>
                            <a:srgbClr val="000000"/>
                          </a:solidFill>
                          <a:effectLst/>
                          <a:latin typeface="Arial" charset="0"/>
                          <a:cs typeface="Times New Roman" pitchFamily="18" charset="0"/>
                        </a:rPr>
                        <a:t>24 mM</a:t>
                      </a:r>
                      <a:endParaRPr kumimoji="0" lang="fr-CA" sz="1800" b="0" i="0" u="none" strike="noStrike" cap="none" normalizeH="0" baseline="0" dirty="0">
                        <a:ln>
                          <a:noFill/>
                        </a:ln>
                        <a:solidFill>
                          <a:schemeClr val="tx1"/>
                        </a:solidFill>
                        <a:effectLst/>
                        <a:latin typeface="Arial" charset="0"/>
                        <a:cs typeface="Times New Roman" pitchFamily="18" charset="0"/>
                      </a:endParaRPr>
                    </a:p>
                  </a:txBody>
                  <a:tcPr marT="45741" marB="4574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CA" sz="1800" b="0" i="0" u="none" strike="noStrike" cap="none" normalizeH="0" baseline="0" dirty="0">
                          <a:ln>
                            <a:noFill/>
                          </a:ln>
                          <a:solidFill>
                            <a:srgbClr val="000000"/>
                          </a:solidFill>
                          <a:effectLst/>
                          <a:latin typeface="Arial" charset="0"/>
                          <a:cs typeface="Times New Roman" pitchFamily="18" charset="0"/>
                        </a:rPr>
                        <a:t>5 mM</a:t>
                      </a:r>
                      <a:endParaRPr kumimoji="0" lang="fr-CA" sz="1800" b="0" i="0" u="none" strike="noStrike" cap="none" normalizeH="0" baseline="0" dirty="0">
                        <a:ln>
                          <a:noFill/>
                        </a:ln>
                        <a:solidFill>
                          <a:schemeClr val="tx1"/>
                        </a:solidFill>
                        <a:effectLst/>
                        <a:latin typeface="Arial" charset="0"/>
                        <a:cs typeface="Times New Roman" pitchFamily="18" charset="0"/>
                      </a:endParaRPr>
                    </a:p>
                  </a:txBody>
                  <a:tcPr marT="45741" marB="4574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CA" sz="1800" b="0" i="0" u="none" strike="noStrike" cap="none" normalizeH="0" baseline="0">
                          <a:ln>
                            <a:noFill/>
                          </a:ln>
                          <a:solidFill>
                            <a:srgbClr val="000000"/>
                          </a:solidFill>
                          <a:effectLst/>
                          <a:latin typeface="Arial" charset="0"/>
                          <a:cs typeface="Times New Roman" pitchFamily="18" charset="0"/>
                        </a:rPr>
                        <a:t>7.4</a:t>
                      </a:r>
                      <a:endParaRPr kumimoji="0" lang="fr-CA" sz="1800" b="0" i="0" u="none" strike="noStrike" cap="none" normalizeH="0" baseline="0">
                        <a:ln>
                          <a:noFill/>
                        </a:ln>
                        <a:solidFill>
                          <a:schemeClr val="tx1"/>
                        </a:solidFill>
                        <a:effectLst/>
                        <a:latin typeface="Arial" charset="0"/>
                        <a:cs typeface="Times New Roman" pitchFamily="18" charset="0"/>
                      </a:endParaRPr>
                    </a:p>
                  </a:txBody>
                  <a:tcPr marT="45741" marB="4574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40240">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CA" sz="1800" b="0" i="0" u="none" strike="noStrike" cap="none" normalizeH="0" baseline="0">
                          <a:ln>
                            <a:noFill/>
                          </a:ln>
                          <a:solidFill>
                            <a:srgbClr val="000000"/>
                          </a:solidFill>
                          <a:effectLst/>
                          <a:latin typeface="Arial" charset="0"/>
                          <a:cs typeface="Times New Roman" pitchFamily="18" charset="0"/>
                        </a:rPr>
                        <a:t>Intracellulaire</a:t>
                      </a:r>
                      <a:endParaRPr kumimoji="0" lang="fr-CA" sz="1800" b="0" i="0" u="none" strike="noStrike" cap="none" normalizeH="0" baseline="0">
                        <a:ln>
                          <a:noFill/>
                        </a:ln>
                        <a:solidFill>
                          <a:schemeClr val="tx1"/>
                        </a:solidFill>
                        <a:effectLst/>
                        <a:latin typeface="Arial" charset="0"/>
                        <a:cs typeface="Times New Roman" pitchFamily="18" charset="0"/>
                      </a:endParaRPr>
                    </a:p>
                  </a:txBody>
                  <a:tcPr marT="45741" marB="4574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CA" sz="1800" b="0" i="0" u="none" strike="noStrike" cap="none" normalizeH="0" baseline="0" dirty="0">
                          <a:ln>
                            <a:noFill/>
                          </a:ln>
                          <a:solidFill>
                            <a:srgbClr val="000000"/>
                          </a:solidFill>
                          <a:effectLst/>
                          <a:latin typeface="Arial" charset="0"/>
                          <a:cs typeface="Times New Roman" pitchFamily="18" charset="0"/>
                        </a:rPr>
                        <a:t>10 mM</a:t>
                      </a:r>
                      <a:endParaRPr kumimoji="0" lang="fr-CA" sz="1800" b="0" i="0" u="none" strike="noStrike" cap="none" normalizeH="0" baseline="0" dirty="0">
                        <a:ln>
                          <a:noFill/>
                        </a:ln>
                        <a:solidFill>
                          <a:schemeClr val="tx1"/>
                        </a:solidFill>
                        <a:effectLst/>
                        <a:latin typeface="Arial" charset="0"/>
                        <a:cs typeface="Times New Roman" pitchFamily="18" charset="0"/>
                      </a:endParaRPr>
                    </a:p>
                  </a:txBody>
                  <a:tcPr marT="45741" marB="4574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CA" sz="1800" b="0" i="0" u="none" strike="noStrike" cap="none" normalizeH="0" baseline="0" dirty="0">
                          <a:ln>
                            <a:noFill/>
                          </a:ln>
                          <a:solidFill>
                            <a:srgbClr val="000000"/>
                          </a:solidFill>
                          <a:effectLst/>
                          <a:latin typeface="Arial" charset="0"/>
                          <a:cs typeface="Times New Roman" pitchFamily="18" charset="0"/>
                        </a:rPr>
                        <a:t>140 mM</a:t>
                      </a:r>
                      <a:endParaRPr kumimoji="0" lang="fr-CA" sz="1800" b="0" i="0" u="none" strike="noStrike" cap="none" normalizeH="0" baseline="0" dirty="0">
                        <a:ln>
                          <a:noFill/>
                        </a:ln>
                        <a:solidFill>
                          <a:schemeClr val="tx1"/>
                        </a:solidFill>
                        <a:effectLst/>
                        <a:latin typeface="Arial" charset="0"/>
                        <a:cs typeface="Times New Roman" pitchFamily="18" charset="0"/>
                      </a:endParaRPr>
                    </a:p>
                  </a:txBody>
                  <a:tcPr marT="45741" marB="4574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CA" sz="1800" b="0" i="0" u="none" strike="noStrike" cap="none" normalizeH="0" baseline="0" dirty="0">
                          <a:ln>
                            <a:noFill/>
                          </a:ln>
                          <a:solidFill>
                            <a:srgbClr val="000000"/>
                          </a:solidFill>
                          <a:effectLst/>
                          <a:latin typeface="Arial" charset="0"/>
                          <a:cs typeface="Times New Roman" pitchFamily="18" charset="0"/>
                        </a:rPr>
                        <a:t>0.0001 mM</a:t>
                      </a:r>
                      <a:endParaRPr kumimoji="0" lang="fr-CA" sz="1800" b="0" i="0" u="none" strike="noStrike" cap="none" normalizeH="0" baseline="0" dirty="0">
                        <a:ln>
                          <a:noFill/>
                        </a:ln>
                        <a:solidFill>
                          <a:schemeClr val="tx1"/>
                        </a:solidFill>
                        <a:effectLst/>
                        <a:latin typeface="Arial" charset="0"/>
                        <a:cs typeface="Times New Roman" pitchFamily="18" charset="0"/>
                      </a:endParaRPr>
                    </a:p>
                  </a:txBody>
                  <a:tcPr marT="45741" marB="4574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CA" sz="1800" b="0" i="0" u="none" strike="noStrike" cap="none" normalizeH="0" baseline="0" dirty="0">
                          <a:ln>
                            <a:noFill/>
                          </a:ln>
                          <a:solidFill>
                            <a:srgbClr val="000000"/>
                          </a:solidFill>
                          <a:effectLst/>
                          <a:latin typeface="Arial" charset="0"/>
                          <a:cs typeface="Times New Roman" pitchFamily="18" charset="0"/>
                        </a:rPr>
                        <a:t>4 mM</a:t>
                      </a:r>
                      <a:endParaRPr kumimoji="0" lang="fr-CA" sz="1800" b="0" i="0" u="none" strike="noStrike" cap="none" normalizeH="0" baseline="0" dirty="0">
                        <a:ln>
                          <a:noFill/>
                        </a:ln>
                        <a:solidFill>
                          <a:schemeClr val="tx1"/>
                        </a:solidFill>
                        <a:effectLst/>
                        <a:latin typeface="Arial" charset="0"/>
                        <a:cs typeface="Times New Roman" pitchFamily="18" charset="0"/>
                      </a:endParaRPr>
                    </a:p>
                  </a:txBody>
                  <a:tcPr marT="45741" marB="4574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CA" sz="1800" b="0" i="0" u="none" strike="noStrike" cap="none" normalizeH="0" baseline="0" dirty="0">
                          <a:ln>
                            <a:noFill/>
                          </a:ln>
                          <a:solidFill>
                            <a:srgbClr val="000000"/>
                          </a:solidFill>
                          <a:effectLst/>
                          <a:latin typeface="Arial" charset="0"/>
                          <a:cs typeface="Times New Roman" pitchFamily="18" charset="0"/>
                        </a:rPr>
                        <a:t>10 mM</a:t>
                      </a:r>
                      <a:endParaRPr kumimoji="0" lang="fr-CA" sz="1800" b="0" i="0" u="none" strike="noStrike" cap="none" normalizeH="0" baseline="0" dirty="0">
                        <a:ln>
                          <a:noFill/>
                        </a:ln>
                        <a:solidFill>
                          <a:schemeClr val="tx1"/>
                        </a:solidFill>
                        <a:effectLst/>
                        <a:latin typeface="Arial" charset="0"/>
                        <a:cs typeface="Times New Roman" pitchFamily="18" charset="0"/>
                      </a:endParaRPr>
                    </a:p>
                  </a:txBody>
                  <a:tcPr marT="45741" marB="4574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CA" sz="1800" b="0" i="0" u="none" strike="noStrike" cap="none" normalizeH="0" baseline="0" dirty="0">
                          <a:ln>
                            <a:noFill/>
                          </a:ln>
                          <a:solidFill>
                            <a:srgbClr val="000000"/>
                          </a:solidFill>
                          <a:effectLst/>
                          <a:latin typeface="Arial" charset="0"/>
                          <a:cs typeface="Times New Roman" pitchFamily="18" charset="0"/>
                        </a:rPr>
                        <a:t>0-1 mM</a:t>
                      </a:r>
                      <a:endParaRPr kumimoji="0" lang="fr-CA" sz="1800" b="0" i="0" u="none" strike="noStrike" cap="none" normalizeH="0" baseline="0" dirty="0">
                        <a:ln>
                          <a:noFill/>
                        </a:ln>
                        <a:solidFill>
                          <a:schemeClr val="tx1"/>
                        </a:solidFill>
                        <a:effectLst/>
                        <a:latin typeface="Arial" charset="0"/>
                        <a:cs typeface="Times New Roman" pitchFamily="18" charset="0"/>
                      </a:endParaRPr>
                    </a:p>
                  </a:txBody>
                  <a:tcPr marT="45741" marB="4574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CA" sz="1800" b="0" i="0" u="none" strike="noStrike" cap="none" normalizeH="0" baseline="0" dirty="0">
                          <a:ln>
                            <a:noFill/>
                          </a:ln>
                          <a:solidFill>
                            <a:srgbClr val="000000"/>
                          </a:solidFill>
                          <a:effectLst/>
                          <a:latin typeface="Arial" charset="0"/>
                          <a:cs typeface="Times New Roman" pitchFamily="18" charset="0"/>
                        </a:rPr>
                        <a:t>7.0</a:t>
                      </a:r>
                      <a:endParaRPr kumimoji="0" lang="fr-CA" sz="1800" b="0" i="0" u="none" strike="noStrike" cap="none" normalizeH="0" baseline="0" dirty="0">
                        <a:ln>
                          <a:noFill/>
                        </a:ln>
                        <a:solidFill>
                          <a:schemeClr val="tx1"/>
                        </a:solidFill>
                        <a:effectLst/>
                        <a:latin typeface="Arial" charset="0"/>
                        <a:cs typeface="Times New Roman" pitchFamily="18" charset="0"/>
                      </a:endParaRPr>
                    </a:p>
                  </a:txBody>
                  <a:tcPr marT="45741" marB="4574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4" name="Rectangle 3"/>
          <p:cNvSpPr/>
          <p:nvPr/>
        </p:nvSpPr>
        <p:spPr>
          <a:xfrm>
            <a:off x="230279" y="292413"/>
            <a:ext cx="6351995" cy="523220"/>
          </a:xfrm>
          <a:prstGeom prst="rect">
            <a:avLst/>
          </a:prstGeom>
        </p:spPr>
        <p:txBody>
          <a:bodyPr wrap="none">
            <a:spAutoFit/>
          </a:bodyPr>
          <a:lstStyle/>
          <a:p>
            <a:r>
              <a:rPr lang="fr-CA" sz="2800" b="1" dirty="0">
                <a:solidFill>
                  <a:schemeClr val="accent2"/>
                </a:solidFill>
                <a:latin typeface="+mj-lt"/>
              </a:rPr>
              <a:t>2.2 </a:t>
            </a:r>
            <a:r>
              <a:rPr lang="fr-CA" sz="2800" b="1" u="sng" dirty="0">
                <a:solidFill>
                  <a:schemeClr val="accent2"/>
                </a:solidFill>
                <a:latin typeface="+mj-lt"/>
              </a:rPr>
              <a:t>Types de transport membranaire</a:t>
            </a:r>
            <a:endParaRPr lang="en-US" sz="2800" u="sng" dirty="0">
              <a:solidFill>
                <a:schemeClr val="accent2"/>
              </a:solidFill>
              <a:latin typeface="+mj-lt"/>
            </a:endParaRPr>
          </a:p>
        </p:txBody>
      </p:sp>
      <p:sp>
        <p:nvSpPr>
          <p:cNvPr id="5" name="Rectangle 4"/>
          <p:cNvSpPr/>
          <p:nvPr/>
        </p:nvSpPr>
        <p:spPr>
          <a:xfrm>
            <a:off x="258415" y="832490"/>
            <a:ext cx="8537915" cy="430887"/>
          </a:xfrm>
          <a:prstGeom prst="rect">
            <a:avLst/>
          </a:prstGeom>
        </p:spPr>
        <p:txBody>
          <a:bodyPr wrap="none">
            <a:spAutoFit/>
          </a:bodyPr>
          <a:lstStyle/>
          <a:p>
            <a:r>
              <a:rPr lang="fr-CA" sz="2200" b="1" dirty="0">
                <a:solidFill>
                  <a:schemeClr val="accent2"/>
                </a:solidFill>
                <a:latin typeface="+mj-lt"/>
              </a:rPr>
              <a:t>2.2.1  Perméabilité membranaire et gradients de concentration</a:t>
            </a:r>
            <a:endParaRPr lang="en-US" sz="2400" dirty="0">
              <a:solidFill>
                <a:schemeClr val="accent2"/>
              </a:solidFill>
              <a:latin typeface="+mj-lt"/>
            </a:endParaRPr>
          </a:p>
        </p:txBody>
      </p:sp>
      <p:sp>
        <p:nvSpPr>
          <p:cNvPr id="6" name="Text Box 31"/>
          <p:cNvSpPr txBox="1">
            <a:spLocks noChangeArrowheads="1"/>
          </p:cNvSpPr>
          <p:nvPr/>
        </p:nvSpPr>
        <p:spPr bwMode="auto">
          <a:xfrm>
            <a:off x="305777" y="6066942"/>
            <a:ext cx="8733948" cy="538061"/>
          </a:xfrm>
          <a:prstGeom prst="rect">
            <a:avLst/>
          </a:prstGeom>
          <a:noFill/>
          <a:ln w="9525">
            <a:solidFill>
              <a:srgbClr val="FF0000"/>
            </a:solidFill>
            <a:miter lim="800000"/>
            <a:headEnd/>
            <a:tailEnd/>
          </a:ln>
        </p:spPr>
        <p:txBody>
          <a:bodyPr wrap="square" lIns="36000" tIns="36000" rIns="36000" bIns="36000" anchor="ctr" anchorCtr="0">
            <a:noAutofit/>
          </a:bodyPr>
          <a:lstStyle/>
          <a:p>
            <a:pPr algn="ctr" eaLnBrk="1" hangingPunct="1">
              <a:spcBef>
                <a:spcPts val="0"/>
              </a:spcBef>
            </a:pPr>
            <a:r>
              <a:rPr lang="fr-FR" sz="1500" dirty="0">
                <a:solidFill>
                  <a:srgbClr val="FF0000"/>
                </a:solidFill>
                <a:latin typeface="Calibri" panose="020F0502020204030204" pitchFamily="34" charset="0"/>
                <a:cs typeface="Arial" charset="0"/>
              </a:rPr>
              <a:t>Quel est le sens du gradient de concentration des ions H</a:t>
            </a:r>
            <a:r>
              <a:rPr lang="fr-FR" sz="1500" baseline="30000" dirty="0">
                <a:solidFill>
                  <a:srgbClr val="FF0000"/>
                </a:solidFill>
                <a:latin typeface="Calibri" panose="020F0502020204030204" pitchFamily="34" charset="0"/>
                <a:cs typeface="Arial" charset="0"/>
              </a:rPr>
              <a:t>+</a:t>
            </a:r>
            <a:r>
              <a:rPr lang="fr-FR" sz="1500" dirty="0">
                <a:solidFill>
                  <a:srgbClr val="FF0000"/>
                </a:solidFill>
                <a:latin typeface="Calibri" panose="020F0502020204030204" pitchFamily="34" charset="0"/>
                <a:cs typeface="Arial" charset="0"/>
              </a:rPr>
              <a:t>, sont-ils plus concentrés à l’intérieur ou à l’extérieur ? </a:t>
            </a:r>
          </a:p>
        </p:txBody>
      </p:sp>
    </p:spTree>
    <p:extLst>
      <p:ext uri="{BB962C8B-B14F-4D97-AF65-F5344CB8AC3E}">
        <p14:creationId xmlns:p14="http://schemas.microsoft.com/office/powerpoint/2010/main" val="18719316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4"/>
          <p:cNvSpPr>
            <a:spLocks noChangeArrowheads="1"/>
          </p:cNvSpPr>
          <p:nvPr/>
        </p:nvSpPr>
        <p:spPr bwMode="auto">
          <a:xfrm>
            <a:off x="254000" y="530491"/>
            <a:ext cx="8890000" cy="473075"/>
          </a:xfrm>
          <a:prstGeom prst="rect">
            <a:avLst/>
          </a:prstGeom>
          <a:noFill/>
          <a:ln w="9525">
            <a:noFill/>
            <a:miter lim="800000"/>
            <a:headEnd/>
            <a:tailEnd/>
          </a:ln>
        </p:spPr>
        <p:txBody>
          <a:bodyPr anchor="ctr">
            <a:spAutoFit/>
          </a:bodyPr>
          <a:lstStyle/>
          <a:p>
            <a:pPr eaLnBrk="0" hangingPunct="0">
              <a:tabLst>
                <a:tab pos="1371600" algn="l"/>
              </a:tabLst>
            </a:pPr>
            <a:r>
              <a:rPr lang="fr-FR" sz="2500" b="1" dirty="0">
                <a:solidFill>
                  <a:schemeClr val="accent2"/>
                </a:solidFill>
                <a:latin typeface="Arial" charset="0"/>
              </a:rPr>
              <a:t>Transports membranaires </a:t>
            </a:r>
            <a:r>
              <a:rPr lang="fr-FR" sz="2500" b="1" i="1" u="sng" dirty="0">
                <a:solidFill>
                  <a:schemeClr val="accent2"/>
                </a:solidFill>
                <a:latin typeface="Arial" charset="0"/>
              </a:rPr>
              <a:t>passifs</a:t>
            </a:r>
            <a:r>
              <a:rPr lang="fr-FR" sz="2500" b="1" dirty="0">
                <a:solidFill>
                  <a:schemeClr val="accent2"/>
                </a:solidFill>
                <a:latin typeface="Arial" charset="0"/>
              </a:rPr>
              <a:t> et </a:t>
            </a:r>
            <a:r>
              <a:rPr lang="fr-FR" sz="2500" b="1" i="1" u="sng" dirty="0">
                <a:solidFill>
                  <a:schemeClr val="accent2"/>
                </a:solidFill>
                <a:latin typeface="Arial" charset="0"/>
              </a:rPr>
              <a:t>actifs</a:t>
            </a:r>
            <a:endParaRPr lang="en-US" sz="2500" dirty="0">
              <a:solidFill>
                <a:schemeClr val="accent2"/>
              </a:solidFill>
              <a:latin typeface="Arial" charset="0"/>
            </a:endParaRPr>
          </a:p>
        </p:txBody>
      </p:sp>
      <p:sp>
        <p:nvSpPr>
          <p:cNvPr id="7171" name="Rectangle 7"/>
          <p:cNvSpPr>
            <a:spLocks noChangeArrowheads="1"/>
          </p:cNvSpPr>
          <p:nvPr/>
        </p:nvSpPr>
        <p:spPr bwMode="auto">
          <a:xfrm>
            <a:off x="309563" y="1098647"/>
            <a:ext cx="8665625" cy="2262158"/>
          </a:xfrm>
          <a:prstGeom prst="rect">
            <a:avLst/>
          </a:prstGeom>
          <a:noFill/>
          <a:ln w="9525">
            <a:noFill/>
            <a:miter lim="800000"/>
            <a:headEnd/>
            <a:tailEnd/>
          </a:ln>
        </p:spPr>
        <p:txBody>
          <a:bodyPr wrap="square">
            <a:spAutoFit/>
          </a:bodyPr>
          <a:lstStyle/>
          <a:p>
            <a:pPr marL="811213" indent="-811213" eaLnBrk="0" hangingPunct="0"/>
            <a:r>
              <a:rPr lang="fr-FR" sz="2200" b="1" dirty="0">
                <a:solidFill>
                  <a:schemeClr val="accent2"/>
                </a:solidFill>
                <a:latin typeface="Arial" charset="0"/>
              </a:rPr>
              <a:t>2.2.2 	</a:t>
            </a:r>
            <a:r>
              <a:rPr lang="fr-FR" sz="2200" b="1" u="sng" dirty="0">
                <a:solidFill>
                  <a:schemeClr val="accent2"/>
                </a:solidFill>
                <a:latin typeface="Arial" charset="0"/>
              </a:rPr>
              <a:t>Transports passifs</a:t>
            </a:r>
            <a:endParaRPr lang="en-US" sz="2200" dirty="0">
              <a:solidFill>
                <a:schemeClr val="accent2"/>
              </a:solidFill>
              <a:latin typeface="Arial" charset="0"/>
            </a:endParaRPr>
          </a:p>
          <a:p>
            <a:pPr marL="1074738" lvl="1" indent="-263525" eaLnBrk="0" hangingPunct="0">
              <a:spcBef>
                <a:spcPct val="20000"/>
              </a:spcBef>
            </a:pPr>
            <a:r>
              <a:rPr lang="fr-FR" sz="2000" b="1" dirty="0">
                <a:solidFill>
                  <a:schemeClr val="accent2"/>
                </a:solidFill>
                <a:latin typeface="Arial" charset="0"/>
              </a:rPr>
              <a:t>i)	Caractéristiques générales des transports passifs :</a:t>
            </a:r>
          </a:p>
          <a:p>
            <a:pPr marL="1074738" lvl="1" indent="-1588" eaLnBrk="0" hangingPunct="0">
              <a:spcBef>
                <a:spcPts val="300"/>
              </a:spcBef>
            </a:pPr>
            <a:r>
              <a:rPr lang="fr-FR" sz="2000" dirty="0">
                <a:latin typeface="Arial" charset="0"/>
              </a:rPr>
              <a:t>Ne requièrent </a:t>
            </a:r>
            <a:r>
              <a:rPr lang="fr-FR" sz="2000" u="sng" dirty="0">
                <a:latin typeface="Arial" charset="0"/>
              </a:rPr>
              <a:t>pas</a:t>
            </a:r>
            <a:r>
              <a:rPr lang="fr-FR" sz="2000" dirty="0">
                <a:latin typeface="Arial" charset="0"/>
              </a:rPr>
              <a:t> de dépense d’énergie de la part de la cellule.</a:t>
            </a:r>
            <a:endParaRPr lang="en-US" sz="2000" dirty="0">
              <a:latin typeface="Arial" charset="0"/>
            </a:endParaRPr>
          </a:p>
          <a:p>
            <a:pPr marL="1617663" lvl="1" indent="-268288" eaLnBrk="0" hangingPunct="0">
              <a:spcBef>
                <a:spcPts val="300"/>
              </a:spcBef>
              <a:buFont typeface="Times New Roman" pitchFamily="18" charset="0"/>
              <a:buChar char="−"/>
            </a:pPr>
            <a:r>
              <a:rPr lang="fr-FR" sz="2000" dirty="0">
                <a:latin typeface="Arial" charset="0"/>
              </a:rPr>
              <a:t>Deux types majeurs :</a:t>
            </a:r>
            <a:endParaRPr lang="en-US" sz="2000" dirty="0">
              <a:latin typeface="Arial" charset="0"/>
            </a:endParaRPr>
          </a:p>
          <a:p>
            <a:pPr marL="1800225" lvl="2" indent="-182563" eaLnBrk="0" hangingPunct="0">
              <a:spcBef>
                <a:spcPts val="600"/>
              </a:spcBef>
              <a:buSzPct val="120000"/>
              <a:buFontTx/>
              <a:buChar char="•"/>
            </a:pPr>
            <a:r>
              <a:rPr lang="fr-FR" sz="2000" b="1" i="1" dirty="0">
                <a:latin typeface="Arial" charset="0"/>
              </a:rPr>
              <a:t>Diffusion</a:t>
            </a:r>
            <a:r>
              <a:rPr lang="fr-FR" sz="2000" b="1" dirty="0">
                <a:latin typeface="Arial" charset="0"/>
              </a:rPr>
              <a:t>:</a:t>
            </a:r>
            <a:r>
              <a:rPr lang="fr-FR" sz="2000" dirty="0">
                <a:latin typeface="Arial" charset="0"/>
              </a:rPr>
              <a:t> déterminée par les</a:t>
            </a:r>
            <a:r>
              <a:rPr lang="fr-CA" sz="2000" i="1" dirty="0">
                <a:latin typeface="Arial" charset="0"/>
              </a:rPr>
              <a:t> </a:t>
            </a:r>
            <a:r>
              <a:rPr lang="fr-CA" sz="2000" b="1" i="1" dirty="0">
                <a:latin typeface="Arial" charset="0"/>
              </a:rPr>
              <a:t>gradients de concentration</a:t>
            </a:r>
          </a:p>
          <a:p>
            <a:pPr marL="1800225" lvl="2" indent="-182563" eaLnBrk="0" hangingPunct="0">
              <a:spcBef>
                <a:spcPts val="600"/>
              </a:spcBef>
              <a:buSzPct val="120000"/>
              <a:buFontTx/>
              <a:buChar char="•"/>
            </a:pPr>
            <a:r>
              <a:rPr lang="fr-CA" sz="2000" b="1" i="1" dirty="0">
                <a:latin typeface="Arial" charset="0"/>
              </a:rPr>
              <a:t>Filtration</a:t>
            </a:r>
            <a:r>
              <a:rPr lang="fr-CA" sz="2000" b="1" dirty="0">
                <a:latin typeface="Arial" charset="0"/>
              </a:rPr>
              <a:t>:</a:t>
            </a:r>
            <a:r>
              <a:rPr lang="fr-CA" sz="2000" dirty="0">
                <a:latin typeface="Arial" charset="0"/>
              </a:rPr>
              <a:t> déterminée par les </a:t>
            </a:r>
            <a:r>
              <a:rPr lang="fr-CA" sz="2000" b="1" i="1" dirty="0">
                <a:latin typeface="Arial" charset="0"/>
              </a:rPr>
              <a:t>gradients de pression</a:t>
            </a:r>
            <a:endParaRPr lang="en-US" sz="2000" b="1" i="1" dirty="0">
              <a:latin typeface="Arial"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3"/>
          <p:cNvSpPr>
            <a:spLocks noChangeArrowheads="1"/>
          </p:cNvSpPr>
          <p:nvPr/>
        </p:nvSpPr>
        <p:spPr bwMode="auto">
          <a:xfrm>
            <a:off x="211772" y="213349"/>
            <a:ext cx="8154987" cy="400110"/>
          </a:xfrm>
          <a:prstGeom prst="rect">
            <a:avLst/>
          </a:prstGeom>
          <a:noFill/>
          <a:ln w="9525">
            <a:noFill/>
            <a:miter lim="800000"/>
            <a:headEnd/>
            <a:tailEnd/>
          </a:ln>
        </p:spPr>
        <p:txBody>
          <a:bodyPr>
            <a:spAutoFit/>
          </a:bodyPr>
          <a:lstStyle/>
          <a:p>
            <a:pPr marL="182563" indent="-182563" eaLnBrk="0" hangingPunct="0">
              <a:buSzPct val="120000"/>
              <a:buFont typeface="Arial" panose="020B0604020202020204" pitchFamily="34" charset="0"/>
              <a:buChar char="•"/>
            </a:pPr>
            <a:r>
              <a:rPr lang="fr-FR" sz="2000" b="1" u="sng" dirty="0">
                <a:latin typeface="Arial" charset="0"/>
              </a:rPr>
              <a:t>Filtration</a:t>
            </a:r>
            <a:endParaRPr lang="en-US" sz="2000" i="1" u="sng" dirty="0">
              <a:latin typeface="Arial" charset="0"/>
            </a:endParaRPr>
          </a:p>
        </p:txBody>
      </p:sp>
      <p:sp>
        <p:nvSpPr>
          <p:cNvPr id="27" name="Rectangle 9"/>
          <p:cNvSpPr>
            <a:spLocks noChangeArrowheads="1"/>
          </p:cNvSpPr>
          <p:nvPr/>
        </p:nvSpPr>
        <p:spPr bwMode="auto">
          <a:xfrm>
            <a:off x="281088" y="588171"/>
            <a:ext cx="8792315" cy="2585323"/>
          </a:xfrm>
          <a:prstGeom prst="rect">
            <a:avLst/>
          </a:prstGeom>
          <a:noFill/>
          <a:ln w="9525">
            <a:noFill/>
            <a:miter lim="800000"/>
            <a:headEnd/>
            <a:tailEnd/>
          </a:ln>
        </p:spPr>
        <p:txBody>
          <a:bodyPr wrap="square" lIns="0" rIns="0" anchor="ctr">
            <a:spAutoFit/>
          </a:bodyPr>
          <a:lstStyle/>
          <a:p>
            <a:pPr marL="560387" indent="-285750" eaLnBrk="0" hangingPunct="0">
              <a:spcBef>
                <a:spcPct val="25000"/>
              </a:spcBef>
              <a:buFont typeface="Wingdings" panose="05000000000000000000" pitchFamily="2" charset="2"/>
              <a:buChar char="ü"/>
              <a:tabLst>
                <a:tab pos="2286000" algn="l"/>
              </a:tabLst>
            </a:pPr>
            <a:r>
              <a:rPr lang="fr-FR" sz="1600" dirty="0">
                <a:latin typeface="Arial" charset="0"/>
              </a:rPr>
              <a:t>Se produit sous l’effet d’un </a:t>
            </a:r>
            <a:r>
              <a:rPr lang="fr-FR" sz="1600" b="1" u="sng" dirty="0">
                <a:latin typeface="Arial" charset="0"/>
              </a:rPr>
              <a:t>gradient de pression</a:t>
            </a:r>
            <a:r>
              <a:rPr lang="fr-FR" sz="1600" b="1" dirty="0">
                <a:latin typeface="Arial" charset="0"/>
              </a:rPr>
              <a:t> </a:t>
            </a:r>
            <a:r>
              <a:rPr lang="fr-FR" sz="1600" dirty="0">
                <a:latin typeface="Arial" charset="0"/>
              </a:rPr>
              <a:t>plutôt que de concentration.</a:t>
            </a:r>
          </a:p>
          <a:p>
            <a:pPr marL="560387" indent="-285750" eaLnBrk="0" hangingPunct="0">
              <a:spcBef>
                <a:spcPct val="25000"/>
              </a:spcBef>
              <a:buFont typeface="Wingdings" panose="05000000000000000000" pitchFamily="2" charset="2"/>
              <a:buChar char="ü"/>
              <a:tabLst>
                <a:tab pos="2286000" algn="l"/>
              </a:tabLst>
            </a:pPr>
            <a:r>
              <a:rPr lang="fr-FR" sz="1600" dirty="0">
                <a:latin typeface="Arial" charset="0"/>
              </a:rPr>
              <a:t>Se produit à travers des </a:t>
            </a:r>
            <a:r>
              <a:rPr lang="fr-FR" sz="1600" u="sng" dirty="0">
                <a:latin typeface="Arial" charset="0"/>
              </a:rPr>
              <a:t>parois multicellulaires</a:t>
            </a:r>
            <a:r>
              <a:rPr lang="fr-FR" sz="1600" dirty="0">
                <a:latin typeface="Arial" charset="0"/>
              </a:rPr>
              <a:t> plutôt qu’à travers la membrane plasmique.</a:t>
            </a:r>
          </a:p>
          <a:p>
            <a:pPr marL="801688" indent="-273050" eaLnBrk="0" hangingPunct="0">
              <a:spcBef>
                <a:spcPts val="0"/>
              </a:spcBef>
              <a:tabLst>
                <a:tab pos="2286000" algn="l"/>
              </a:tabLst>
            </a:pPr>
            <a:r>
              <a:rPr lang="fr-FR" sz="1600" dirty="0">
                <a:latin typeface="Arial" charset="0"/>
                <a:sym typeface="Symbol"/>
              </a:rPr>
              <a:t> </a:t>
            </a:r>
            <a:r>
              <a:rPr lang="fr-FR" sz="1600" dirty="0">
                <a:latin typeface="Arial" charset="0"/>
              </a:rPr>
              <a:t>Généralement des épithéliums simples squameux tel l’endothélium des capillaires sanguins.</a:t>
            </a:r>
          </a:p>
          <a:p>
            <a:pPr marL="560387" indent="-285750" eaLnBrk="0" hangingPunct="0">
              <a:spcBef>
                <a:spcPct val="25000"/>
              </a:spcBef>
              <a:buFont typeface="Wingdings" panose="05000000000000000000" pitchFamily="2" charset="2"/>
              <a:buChar char="ü"/>
              <a:tabLst>
                <a:tab pos="2286000" algn="l"/>
              </a:tabLst>
            </a:pPr>
            <a:r>
              <a:rPr lang="fr-FR" sz="1600" dirty="0">
                <a:latin typeface="Arial" charset="0"/>
              </a:rPr>
              <a:t>La filtration est généralement </a:t>
            </a:r>
            <a:r>
              <a:rPr lang="fr-FR" sz="1600" u="sng" dirty="0">
                <a:latin typeface="Arial" charset="0"/>
              </a:rPr>
              <a:t>très peu sélective</a:t>
            </a:r>
            <a:r>
              <a:rPr lang="fr-FR" sz="1600" dirty="0">
                <a:latin typeface="Arial" charset="0"/>
              </a:rPr>
              <a:t>. L’eau et les solutés passent en vrac entre les cellules (« fentes intercellulaires ») ou à travers des pores (« fenestrations »). Seules les macromolécules telles les protéines ne passent pas.</a:t>
            </a:r>
          </a:p>
          <a:p>
            <a:pPr marL="274637">
              <a:spcBef>
                <a:spcPts val="1200"/>
              </a:spcBef>
              <a:tabLst>
                <a:tab pos="274638" algn="l"/>
                <a:tab pos="2286000" algn="l"/>
              </a:tabLst>
            </a:pPr>
            <a:r>
              <a:rPr lang="fr-FR" sz="1600" u="sng" dirty="0">
                <a:latin typeface="Arial" charset="0"/>
              </a:rPr>
              <a:t>Exemple</a:t>
            </a:r>
            <a:r>
              <a:rPr lang="fr-FR" sz="1600" dirty="0">
                <a:latin typeface="Arial" charset="0"/>
              </a:rPr>
              <a:t>. La filtration dans les tissus vascularisés pour permettre l’échange de liquide entre le sang et l’espace interstitiel.  </a:t>
            </a:r>
            <a:r>
              <a:rPr lang="fr-FR" sz="1600" dirty="0">
                <a:latin typeface="Arial" charset="0"/>
                <a:sym typeface="Symbol"/>
              </a:rPr>
              <a:t> P</a:t>
            </a:r>
            <a:r>
              <a:rPr lang="fr-FR" sz="1600" dirty="0">
                <a:latin typeface="Arial" charset="0"/>
              </a:rPr>
              <a:t>ression sanguine générée par le cœur.</a:t>
            </a:r>
          </a:p>
        </p:txBody>
      </p:sp>
      <p:sp>
        <p:nvSpPr>
          <p:cNvPr id="9" name="TextBox 8"/>
          <p:cNvSpPr txBox="1"/>
          <p:nvPr/>
        </p:nvSpPr>
        <p:spPr>
          <a:xfrm>
            <a:off x="407964" y="3434737"/>
            <a:ext cx="3981157" cy="2208297"/>
          </a:xfrm>
          <a:prstGeom prst="rect">
            <a:avLst/>
          </a:prstGeom>
          <a:noFill/>
        </p:spPr>
        <p:txBody>
          <a:bodyPr wrap="square" rtlCol="0">
            <a:spAutoFit/>
          </a:bodyPr>
          <a:lstStyle/>
          <a:p>
            <a:r>
              <a:rPr lang="fr-CA" sz="1500" i="1" dirty="0">
                <a:latin typeface="+mj-lt"/>
              </a:rPr>
              <a:t>Filtration du plasma à travers la paroi d’un capillaire. La sortie du liquide par les fentes intercellulaires et les pores est provoquée par la pression sanguine dans le capillaire.</a:t>
            </a:r>
          </a:p>
          <a:p>
            <a:pPr>
              <a:spcBef>
                <a:spcPts val="300"/>
              </a:spcBef>
            </a:pPr>
            <a:r>
              <a:rPr lang="fr-CA" sz="1500" i="1" dirty="0">
                <a:latin typeface="+mj-lt"/>
              </a:rPr>
              <a:t>Notez la dimension microscopique d’un capillaire (diamètre de l’ordre de celui d’un globule rouge). La paroi des capillaires est constituée de cellules endothéliales et de leur membrane basale. </a:t>
            </a:r>
          </a:p>
        </p:txBody>
      </p:sp>
      <p:grpSp>
        <p:nvGrpSpPr>
          <p:cNvPr id="2" name="Group 1"/>
          <p:cNvGrpSpPr/>
          <p:nvPr/>
        </p:nvGrpSpPr>
        <p:grpSpPr>
          <a:xfrm>
            <a:off x="4742256" y="3317768"/>
            <a:ext cx="4177823" cy="2664348"/>
            <a:chOff x="4707096" y="4074597"/>
            <a:chExt cx="4177823" cy="2664348"/>
          </a:xfrm>
        </p:grpSpPr>
        <p:sp>
          <p:nvSpPr>
            <p:cNvPr id="36" name="Rectangle 5"/>
            <p:cNvSpPr>
              <a:spLocks noChangeArrowheads="1"/>
            </p:cNvSpPr>
            <p:nvPr/>
          </p:nvSpPr>
          <p:spPr bwMode="auto">
            <a:xfrm>
              <a:off x="5154287" y="4074597"/>
              <a:ext cx="2023989" cy="501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1200" b="1">
                  <a:solidFill>
                    <a:schemeClr val="tx1"/>
                  </a:solidFill>
                  <a:latin typeface="Arial" pitchFamily="34" charset="0"/>
                </a:defRPr>
              </a:lvl1pPr>
              <a:lvl2pPr marL="742950" indent="-285750">
                <a:defRPr sz="1200" b="1">
                  <a:solidFill>
                    <a:schemeClr val="tx1"/>
                  </a:solidFill>
                  <a:latin typeface="Arial" pitchFamily="34" charset="0"/>
                </a:defRPr>
              </a:lvl2pPr>
              <a:lvl3pPr marL="1143000" indent="-228600">
                <a:defRPr sz="1200" b="1">
                  <a:solidFill>
                    <a:schemeClr val="tx1"/>
                  </a:solidFill>
                  <a:latin typeface="Arial" pitchFamily="34" charset="0"/>
                </a:defRPr>
              </a:lvl3pPr>
              <a:lvl4pPr marL="1600200" indent="-228600">
                <a:defRPr sz="1200" b="1">
                  <a:solidFill>
                    <a:schemeClr val="tx1"/>
                  </a:solidFill>
                  <a:latin typeface="Arial" pitchFamily="34" charset="0"/>
                </a:defRPr>
              </a:lvl4pPr>
              <a:lvl5pPr marL="2057400" indent="-228600">
                <a:defRPr sz="1200" b="1">
                  <a:solidFill>
                    <a:schemeClr val="tx1"/>
                  </a:solidFill>
                  <a:latin typeface="Arial" pitchFamily="34" charset="0"/>
                </a:defRPr>
              </a:lvl5pPr>
              <a:lvl6pPr marL="2514600" indent="-228600" eaLnBrk="0" fontAlgn="base" hangingPunct="0">
                <a:spcBef>
                  <a:spcPct val="0"/>
                </a:spcBef>
                <a:spcAft>
                  <a:spcPct val="0"/>
                </a:spcAft>
                <a:defRPr sz="1200" b="1">
                  <a:solidFill>
                    <a:schemeClr val="tx1"/>
                  </a:solidFill>
                  <a:latin typeface="Arial" pitchFamily="34" charset="0"/>
                </a:defRPr>
              </a:lvl6pPr>
              <a:lvl7pPr marL="2971800" indent="-228600" eaLnBrk="0" fontAlgn="base" hangingPunct="0">
                <a:spcBef>
                  <a:spcPct val="0"/>
                </a:spcBef>
                <a:spcAft>
                  <a:spcPct val="0"/>
                </a:spcAft>
                <a:defRPr sz="1200" b="1">
                  <a:solidFill>
                    <a:schemeClr val="tx1"/>
                  </a:solidFill>
                  <a:latin typeface="Arial" pitchFamily="34" charset="0"/>
                </a:defRPr>
              </a:lvl7pPr>
              <a:lvl8pPr marL="3429000" indent="-228600" eaLnBrk="0" fontAlgn="base" hangingPunct="0">
                <a:spcBef>
                  <a:spcPct val="0"/>
                </a:spcBef>
                <a:spcAft>
                  <a:spcPct val="0"/>
                </a:spcAft>
                <a:defRPr sz="1200" b="1">
                  <a:solidFill>
                    <a:schemeClr val="tx1"/>
                  </a:solidFill>
                  <a:latin typeface="Arial" pitchFamily="34" charset="0"/>
                </a:defRPr>
              </a:lvl8pPr>
              <a:lvl9pPr marL="3886200" indent="-228600" eaLnBrk="0" fontAlgn="base" hangingPunct="0">
                <a:spcBef>
                  <a:spcPct val="0"/>
                </a:spcBef>
                <a:spcAft>
                  <a:spcPct val="0"/>
                </a:spcAft>
                <a:defRPr sz="1200" b="1">
                  <a:solidFill>
                    <a:schemeClr val="tx1"/>
                  </a:solidFill>
                  <a:latin typeface="Arial" pitchFamily="34" charset="0"/>
                </a:defRPr>
              </a:lvl9pPr>
            </a:lstStyle>
            <a:p>
              <a:pPr algn="ctr">
                <a:lnSpc>
                  <a:spcPct val="95000"/>
                </a:lnSpc>
              </a:pPr>
              <a:r>
                <a:rPr lang="fr-CA" altLang="fr-FR" sz="1400" i="1" dirty="0">
                  <a:latin typeface="Calibri" panose="020F0502020204030204" pitchFamily="34" charset="0"/>
                </a:rPr>
                <a:t>Sortie du liquide par filtration</a:t>
              </a:r>
            </a:p>
          </p:txBody>
        </p:sp>
        <p:grpSp>
          <p:nvGrpSpPr>
            <p:cNvPr id="15" name="Group 14"/>
            <p:cNvGrpSpPr/>
            <p:nvPr/>
          </p:nvGrpSpPr>
          <p:grpSpPr>
            <a:xfrm>
              <a:off x="4707096" y="4348935"/>
              <a:ext cx="4177821" cy="2390010"/>
              <a:chOff x="4707096" y="4318455"/>
              <a:chExt cx="4177821" cy="2390010"/>
            </a:xfrm>
          </p:grpSpPr>
          <p:grpSp>
            <p:nvGrpSpPr>
              <p:cNvPr id="12" name="Group 11"/>
              <p:cNvGrpSpPr/>
              <p:nvPr/>
            </p:nvGrpSpPr>
            <p:grpSpPr>
              <a:xfrm>
                <a:off x="4707096" y="4318455"/>
                <a:ext cx="4177821" cy="2390010"/>
                <a:chOff x="4707096" y="4318455"/>
                <a:chExt cx="4177821" cy="2390010"/>
              </a:xfrm>
            </p:grpSpPr>
            <p:grpSp>
              <p:nvGrpSpPr>
                <p:cNvPr id="8" name="Group 7"/>
                <p:cNvGrpSpPr/>
                <p:nvPr/>
              </p:nvGrpSpPr>
              <p:grpSpPr>
                <a:xfrm>
                  <a:off x="4707096" y="4318455"/>
                  <a:ext cx="4177821" cy="2390010"/>
                  <a:chOff x="2713370" y="3778864"/>
                  <a:chExt cx="4781289" cy="2838618"/>
                </a:xfrm>
              </p:grpSpPr>
              <p:pic>
                <p:nvPicPr>
                  <p:cNvPr id="33795" name="Picture 63" descr="figure_19_16_1_unlabeled"/>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11187"/>
                  <a:stretch/>
                </p:blipFill>
                <p:spPr bwMode="auto">
                  <a:xfrm>
                    <a:off x="2774584" y="4074084"/>
                    <a:ext cx="4224297" cy="241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807" name="Freeform 54"/>
                  <p:cNvSpPr>
                    <a:spLocks/>
                  </p:cNvSpPr>
                  <p:nvPr/>
                </p:nvSpPr>
                <p:spPr bwMode="auto">
                  <a:xfrm>
                    <a:off x="5125909" y="4712268"/>
                    <a:ext cx="953598" cy="279030"/>
                  </a:xfrm>
                  <a:custGeom>
                    <a:avLst/>
                    <a:gdLst>
                      <a:gd name="T0" fmla="*/ 0 w 1226"/>
                      <a:gd name="T1" fmla="*/ 2147483647 h 397"/>
                      <a:gd name="T2" fmla="*/ 2147483647 w 1226"/>
                      <a:gd name="T3" fmla="*/ 0 h 397"/>
                      <a:gd name="T4" fmla="*/ 2147483647 w 1226"/>
                      <a:gd name="T5" fmla="*/ 2147483647 h 397"/>
                      <a:gd name="T6" fmla="*/ 0 60000 65536"/>
                      <a:gd name="T7" fmla="*/ 0 60000 65536"/>
                      <a:gd name="T8" fmla="*/ 0 60000 65536"/>
                      <a:gd name="T9" fmla="*/ 0 w 1226"/>
                      <a:gd name="T10" fmla="*/ 0 h 397"/>
                      <a:gd name="T11" fmla="*/ 1226 w 1226"/>
                      <a:gd name="T12" fmla="*/ 397 h 397"/>
                    </a:gdLst>
                    <a:ahLst/>
                    <a:cxnLst>
                      <a:cxn ang="T6">
                        <a:pos x="T0" y="T1"/>
                      </a:cxn>
                      <a:cxn ang="T7">
                        <a:pos x="T2" y="T3"/>
                      </a:cxn>
                      <a:cxn ang="T8">
                        <a:pos x="T4" y="T5"/>
                      </a:cxn>
                    </a:cxnLst>
                    <a:rect l="T9" t="T10" r="T11" b="T12"/>
                    <a:pathLst>
                      <a:path w="1226" h="397">
                        <a:moveTo>
                          <a:pt x="0" y="397"/>
                        </a:moveTo>
                        <a:lnTo>
                          <a:pt x="994" y="0"/>
                        </a:lnTo>
                        <a:lnTo>
                          <a:pt x="1226" y="3"/>
                        </a:lnTo>
                      </a:path>
                    </a:pathLst>
                  </a:custGeom>
                  <a:noFill/>
                  <a:ln w="25400"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fr-CA"/>
                  </a:p>
                </p:txBody>
              </p:sp>
              <p:sp>
                <p:nvSpPr>
                  <p:cNvPr id="33812" name="Freeform 59"/>
                  <p:cNvSpPr>
                    <a:spLocks/>
                  </p:cNvSpPr>
                  <p:nvPr/>
                </p:nvSpPr>
                <p:spPr bwMode="auto">
                  <a:xfrm>
                    <a:off x="3742181" y="5978092"/>
                    <a:ext cx="487688" cy="267784"/>
                  </a:xfrm>
                  <a:custGeom>
                    <a:avLst/>
                    <a:gdLst>
                      <a:gd name="T0" fmla="*/ 0 w 627"/>
                      <a:gd name="T1" fmla="*/ 2147483647 h 381"/>
                      <a:gd name="T2" fmla="*/ 2147483647 w 627"/>
                      <a:gd name="T3" fmla="*/ 2147483647 h 381"/>
                      <a:gd name="T4" fmla="*/ 2147483647 w 627"/>
                      <a:gd name="T5" fmla="*/ 0 h 381"/>
                      <a:gd name="T6" fmla="*/ 0 60000 65536"/>
                      <a:gd name="T7" fmla="*/ 0 60000 65536"/>
                      <a:gd name="T8" fmla="*/ 0 60000 65536"/>
                      <a:gd name="T9" fmla="*/ 0 w 627"/>
                      <a:gd name="T10" fmla="*/ 0 h 381"/>
                      <a:gd name="T11" fmla="*/ 627 w 627"/>
                      <a:gd name="T12" fmla="*/ 381 h 381"/>
                    </a:gdLst>
                    <a:ahLst/>
                    <a:cxnLst>
                      <a:cxn ang="T6">
                        <a:pos x="T0" y="T1"/>
                      </a:cxn>
                      <a:cxn ang="T7">
                        <a:pos x="T2" y="T3"/>
                      </a:cxn>
                      <a:cxn ang="T8">
                        <a:pos x="T4" y="T5"/>
                      </a:cxn>
                    </a:cxnLst>
                    <a:rect l="T9" t="T10" r="T11" b="T12"/>
                    <a:pathLst>
                      <a:path w="627" h="381">
                        <a:moveTo>
                          <a:pt x="0" y="381"/>
                        </a:moveTo>
                        <a:lnTo>
                          <a:pt x="117" y="380"/>
                        </a:lnTo>
                        <a:lnTo>
                          <a:pt x="627" y="0"/>
                        </a:lnTo>
                      </a:path>
                    </a:pathLst>
                  </a:custGeom>
                  <a:noFill/>
                  <a:ln w="25400"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fr-CA"/>
                  </a:p>
                </p:txBody>
              </p:sp>
              <p:sp>
                <p:nvSpPr>
                  <p:cNvPr id="33813" name="Freeform 60"/>
                  <p:cNvSpPr>
                    <a:spLocks/>
                  </p:cNvSpPr>
                  <p:nvPr/>
                </p:nvSpPr>
                <p:spPr bwMode="auto">
                  <a:xfrm flipV="1">
                    <a:off x="4376876" y="5951738"/>
                    <a:ext cx="52323" cy="357872"/>
                  </a:xfrm>
                  <a:custGeom>
                    <a:avLst/>
                    <a:gdLst>
                      <a:gd name="T0" fmla="*/ 0 w 659"/>
                      <a:gd name="T1" fmla="*/ 2147483647 h 69"/>
                      <a:gd name="T2" fmla="*/ 2147483647 w 659"/>
                      <a:gd name="T3" fmla="*/ 2147483647 h 69"/>
                      <a:gd name="T4" fmla="*/ 2147483647 w 659"/>
                      <a:gd name="T5" fmla="*/ 0 h 69"/>
                      <a:gd name="T6" fmla="*/ 0 60000 65536"/>
                      <a:gd name="T7" fmla="*/ 0 60000 65536"/>
                      <a:gd name="T8" fmla="*/ 0 60000 65536"/>
                      <a:gd name="T9" fmla="*/ 0 w 659"/>
                      <a:gd name="T10" fmla="*/ 0 h 69"/>
                      <a:gd name="T11" fmla="*/ 659 w 659"/>
                      <a:gd name="T12" fmla="*/ 69 h 69"/>
                    </a:gdLst>
                    <a:ahLst/>
                    <a:cxnLst>
                      <a:cxn ang="T6">
                        <a:pos x="T0" y="T1"/>
                      </a:cxn>
                      <a:cxn ang="T7">
                        <a:pos x="T2" y="T3"/>
                      </a:cxn>
                      <a:cxn ang="T8">
                        <a:pos x="T4" y="T5"/>
                      </a:cxn>
                    </a:cxnLst>
                    <a:rect l="T9" t="T10" r="T11" b="T12"/>
                    <a:pathLst>
                      <a:path w="659" h="69">
                        <a:moveTo>
                          <a:pt x="0" y="66"/>
                        </a:moveTo>
                        <a:lnTo>
                          <a:pt x="144" y="69"/>
                        </a:lnTo>
                        <a:lnTo>
                          <a:pt x="659" y="0"/>
                        </a:lnTo>
                      </a:path>
                    </a:pathLst>
                  </a:custGeom>
                  <a:noFill/>
                  <a:ln w="25400" cap="flat"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wrap="none" anchor="ctr"/>
                  <a:lstStyle/>
                  <a:p>
                    <a:endParaRPr lang="fr-CA"/>
                  </a:p>
                </p:txBody>
              </p:sp>
              <p:sp>
                <p:nvSpPr>
                  <p:cNvPr id="33797" name="Rectangle 5"/>
                  <p:cNvSpPr>
                    <a:spLocks noChangeArrowheads="1"/>
                  </p:cNvSpPr>
                  <p:nvPr/>
                </p:nvSpPr>
                <p:spPr bwMode="auto">
                  <a:xfrm>
                    <a:off x="6006150" y="4532388"/>
                    <a:ext cx="1488509" cy="352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1200" b="1">
                        <a:solidFill>
                          <a:schemeClr val="tx1"/>
                        </a:solidFill>
                        <a:latin typeface="Arial" pitchFamily="34" charset="0"/>
                      </a:defRPr>
                    </a:lvl1pPr>
                    <a:lvl2pPr marL="742950" indent="-285750">
                      <a:defRPr sz="1200" b="1">
                        <a:solidFill>
                          <a:schemeClr val="tx1"/>
                        </a:solidFill>
                        <a:latin typeface="Arial" pitchFamily="34" charset="0"/>
                      </a:defRPr>
                    </a:lvl2pPr>
                    <a:lvl3pPr marL="1143000" indent="-228600">
                      <a:defRPr sz="1200" b="1">
                        <a:solidFill>
                          <a:schemeClr val="tx1"/>
                        </a:solidFill>
                        <a:latin typeface="Arial" pitchFamily="34" charset="0"/>
                      </a:defRPr>
                    </a:lvl3pPr>
                    <a:lvl4pPr marL="1600200" indent="-228600">
                      <a:defRPr sz="1200" b="1">
                        <a:solidFill>
                          <a:schemeClr val="tx1"/>
                        </a:solidFill>
                        <a:latin typeface="Arial" pitchFamily="34" charset="0"/>
                      </a:defRPr>
                    </a:lvl4pPr>
                    <a:lvl5pPr marL="2057400" indent="-228600">
                      <a:defRPr sz="1200" b="1">
                        <a:solidFill>
                          <a:schemeClr val="tx1"/>
                        </a:solidFill>
                        <a:latin typeface="Arial" pitchFamily="34" charset="0"/>
                      </a:defRPr>
                    </a:lvl5pPr>
                    <a:lvl6pPr marL="2514600" indent="-228600" eaLnBrk="0" fontAlgn="base" hangingPunct="0">
                      <a:spcBef>
                        <a:spcPct val="0"/>
                      </a:spcBef>
                      <a:spcAft>
                        <a:spcPct val="0"/>
                      </a:spcAft>
                      <a:defRPr sz="1200" b="1">
                        <a:solidFill>
                          <a:schemeClr val="tx1"/>
                        </a:solidFill>
                        <a:latin typeface="Arial" pitchFamily="34" charset="0"/>
                      </a:defRPr>
                    </a:lvl6pPr>
                    <a:lvl7pPr marL="2971800" indent="-228600" eaLnBrk="0" fontAlgn="base" hangingPunct="0">
                      <a:spcBef>
                        <a:spcPct val="0"/>
                      </a:spcBef>
                      <a:spcAft>
                        <a:spcPct val="0"/>
                      </a:spcAft>
                      <a:defRPr sz="1200" b="1">
                        <a:solidFill>
                          <a:schemeClr val="tx1"/>
                        </a:solidFill>
                        <a:latin typeface="Arial" pitchFamily="34" charset="0"/>
                      </a:defRPr>
                    </a:lvl7pPr>
                    <a:lvl8pPr marL="3429000" indent="-228600" eaLnBrk="0" fontAlgn="base" hangingPunct="0">
                      <a:spcBef>
                        <a:spcPct val="0"/>
                      </a:spcBef>
                      <a:spcAft>
                        <a:spcPct val="0"/>
                      </a:spcAft>
                      <a:defRPr sz="1200" b="1">
                        <a:solidFill>
                          <a:schemeClr val="tx1"/>
                        </a:solidFill>
                        <a:latin typeface="Arial" pitchFamily="34" charset="0"/>
                      </a:defRPr>
                    </a:lvl8pPr>
                    <a:lvl9pPr marL="3886200" indent="-228600" eaLnBrk="0" fontAlgn="base" hangingPunct="0">
                      <a:spcBef>
                        <a:spcPct val="0"/>
                      </a:spcBef>
                      <a:spcAft>
                        <a:spcPct val="0"/>
                      </a:spcAft>
                      <a:defRPr sz="1200" b="1">
                        <a:solidFill>
                          <a:schemeClr val="tx1"/>
                        </a:solidFill>
                        <a:latin typeface="Arial" pitchFamily="34" charset="0"/>
                      </a:defRPr>
                    </a:lvl9pPr>
                  </a:lstStyle>
                  <a:p>
                    <a:pPr>
                      <a:lnSpc>
                        <a:spcPct val="95000"/>
                      </a:lnSpc>
                    </a:pPr>
                    <a:r>
                      <a:rPr lang="fr-CA" altLang="fr-FR" sz="1400" dirty="0">
                        <a:latin typeface="Calibri" panose="020F0502020204030204" pitchFamily="34" charset="0"/>
                      </a:rPr>
                      <a:t>Globule rouge</a:t>
                    </a:r>
                  </a:p>
                </p:txBody>
              </p:sp>
              <p:sp>
                <p:nvSpPr>
                  <p:cNvPr id="33799" name="Rectangle 7"/>
                  <p:cNvSpPr>
                    <a:spLocks noChangeArrowheads="1"/>
                  </p:cNvSpPr>
                  <p:nvPr/>
                </p:nvSpPr>
                <p:spPr bwMode="auto">
                  <a:xfrm>
                    <a:off x="5865278" y="5757129"/>
                    <a:ext cx="1579265" cy="441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noAutofit/>
                  </a:bodyPr>
                  <a:lstStyle>
                    <a:lvl1pPr>
                      <a:defRPr sz="1200" b="1">
                        <a:solidFill>
                          <a:schemeClr val="tx1"/>
                        </a:solidFill>
                        <a:latin typeface="Arial" pitchFamily="34" charset="0"/>
                      </a:defRPr>
                    </a:lvl1pPr>
                    <a:lvl2pPr marL="742950" indent="-285750">
                      <a:defRPr sz="1200" b="1">
                        <a:solidFill>
                          <a:schemeClr val="tx1"/>
                        </a:solidFill>
                        <a:latin typeface="Arial" pitchFamily="34" charset="0"/>
                      </a:defRPr>
                    </a:lvl2pPr>
                    <a:lvl3pPr marL="1143000" indent="-228600">
                      <a:defRPr sz="1200" b="1">
                        <a:solidFill>
                          <a:schemeClr val="tx1"/>
                        </a:solidFill>
                        <a:latin typeface="Arial" pitchFamily="34" charset="0"/>
                      </a:defRPr>
                    </a:lvl3pPr>
                    <a:lvl4pPr marL="1600200" indent="-228600">
                      <a:defRPr sz="1200" b="1">
                        <a:solidFill>
                          <a:schemeClr val="tx1"/>
                        </a:solidFill>
                        <a:latin typeface="Arial" pitchFamily="34" charset="0"/>
                      </a:defRPr>
                    </a:lvl4pPr>
                    <a:lvl5pPr marL="2057400" indent="-228600">
                      <a:defRPr sz="1200" b="1">
                        <a:solidFill>
                          <a:schemeClr val="tx1"/>
                        </a:solidFill>
                        <a:latin typeface="Arial" pitchFamily="34" charset="0"/>
                      </a:defRPr>
                    </a:lvl5pPr>
                    <a:lvl6pPr marL="2514600" indent="-228600" eaLnBrk="0" fontAlgn="base" hangingPunct="0">
                      <a:spcBef>
                        <a:spcPct val="0"/>
                      </a:spcBef>
                      <a:spcAft>
                        <a:spcPct val="0"/>
                      </a:spcAft>
                      <a:defRPr sz="1200" b="1">
                        <a:solidFill>
                          <a:schemeClr val="tx1"/>
                        </a:solidFill>
                        <a:latin typeface="Arial" pitchFamily="34" charset="0"/>
                      </a:defRPr>
                    </a:lvl6pPr>
                    <a:lvl7pPr marL="2971800" indent="-228600" eaLnBrk="0" fontAlgn="base" hangingPunct="0">
                      <a:spcBef>
                        <a:spcPct val="0"/>
                      </a:spcBef>
                      <a:spcAft>
                        <a:spcPct val="0"/>
                      </a:spcAft>
                      <a:defRPr sz="1200" b="1">
                        <a:solidFill>
                          <a:schemeClr val="tx1"/>
                        </a:solidFill>
                        <a:latin typeface="Arial" pitchFamily="34" charset="0"/>
                      </a:defRPr>
                    </a:lvl7pPr>
                    <a:lvl8pPr marL="3429000" indent="-228600" eaLnBrk="0" fontAlgn="base" hangingPunct="0">
                      <a:spcBef>
                        <a:spcPct val="0"/>
                      </a:spcBef>
                      <a:spcAft>
                        <a:spcPct val="0"/>
                      </a:spcAft>
                      <a:defRPr sz="1200" b="1">
                        <a:solidFill>
                          <a:schemeClr val="tx1"/>
                        </a:solidFill>
                        <a:latin typeface="Arial" pitchFamily="34" charset="0"/>
                      </a:defRPr>
                    </a:lvl8pPr>
                    <a:lvl9pPr marL="3886200" indent="-228600" eaLnBrk="0" fontAlgn="base" hangingPunct="0">
                      <a:spcBef>
                        <a:spcPct val="0"/>
                      </a:spcBef>
                      <a:spcAft>
                        <a:spcPct val="0"/>
                      </a:spcAft>
                      <a:defRPr sz="1200" b="1">
                        <a:solidFill>
                          <a:schemeClr val="tx1"/>
                        </a:solidFill>
                        <a:latin typeface="Arial" pitchFamily="34" charset="0"/>
                      </a:defRPr>
                    </a:lvl9pPr>
                  </a:lstStyle>
                  <a:p>
                    <a:pPr>
                      <a:lnSpc>
                        <a:spcPct val="80000"/>
                      </a:lnSpc>
                    </a:pPr>
                    <a:r>
                      <a:rPr lang="fr-CA" altLang="fr-FR" sz="1400" dirty="0">
                        <a:latin typeface="Calibri" panose="020F0502020204030204" pitchFamily="34" charset="0"/>
                      </a:rPr>
                      <a:t>Pore (fenestration)</a:t>
                    </a:r>
                  </a:p>
                </p:txBody>
              </p:sp>
              <p:sp>
                <p:nvSpPr>
                  <p:cNvPr id="33800" name="Rectangle 8"/>
                  <p:cNvSpPr>
                    <a:spLocks noChangeArrowheads="1"/>
                  </p:cNvSpPr>
                  <p:nvPr/>
                </p:nvSpPr>
                <p:spPr bwMode="auto">
                  <a:xfrm>
                    <a:off x="5997524" y="5163694"/>
                    <a:ext cx="1479693" cy="519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1200" b="1">
                        <a:solidFill>
                          <a:schemeClr val="tx1"/>
                        </a:solidFill>
                        <a:latin typeface="Arial" pitchFamily="34" charset="0"/>
                      </a:defRPr>
                    </a:lvl1pPr>
                    <a:lvl2pPr marL="742950" indent="-285750">
                      <a:defRPr sz="1200" b="1">
                        <a:solidFill>
                          <a:schemeClr val="tx1"/>
                        </a:solidFill>
                        <a:latin typeface="Arial" pitchFamily="34" charset="0"/>
                      </a:defRPr>
                    </a:lvl2pPr>
                    <a:lvl3pPr marL="1143000" indent="-228600">
                      <a:defRPr sz="1200" b="1">
                        <a:solidFill>
                          <a:schemeClr val="tx1"/>
                        </a:solidFill>
                        <a:latin typeface="Arial" pitchFamily="34" charset="0"/>
                      </a:defRPr>
                    </a:lvl3pPr>
                    <a:lvl4pPr marL="1600200" indent="-228600">
                      <a:defRPr sz="1200" b="1">
                        <a:solidFill>
                          <a:schemeClr val="tx1"/>
                        </a:solidFill>
                        <a:latin typeface="Arial" pitchFamily="34" charset="0"/>
                      </a:defRPr>
                    </a:lvl4pPr>
                    <a:lvl5pPr marL="2057400" indent="-228600">
                      <a:defRPr sz="1200" b="1">
                        <a:solidFill>
                          <a:schemeClr val="tx1"/>
                        </a:solidFill>
                        <a:latin typeface="Arial" pitchFamily="34" charset="0"/>
                      </a:defRPr>
                    </a:lvl5pPr>
                    <a:lvl6pPr marL="2514600" indent="-228600" eaLnBrk="0" fontAlgn="base" hangingPunct="0">
                      <a:spcBef>
                        <a:spcPct val="0"/>
                      </a:spcBef>
                      <a:spcAft>
                        <a:spcPct val="0"/>
                      </a:spcAft>
                      <a:defRPr sz="1200" b="1">
                        <a:solidFill>
                          <a:schemeClr val="tx1"/>
                        </a:solidFill>
                        <a:latin typeface="Arial" pitchFamily="34" charset="0"/>
                      </a:defRPr>
                    </a:lvl6pPr>
                    <a:lvl7pPr marL="2971800" indent="-228600" eaLnBrk="0" fontAlgn="base" hangingPunct="0">
                      <a:spcBef>
                        <a:spcPct val="0"/>
                      </a:spcBef>
                      <a:spcAft>
                        <a:spcPct val="0"/>
                      </a:spcAft>
                      <a:defRPr sz="1200" b="1">
                        <a:solidFill>
                          <a:schemeClr val="tx1"/>
                        </a:solidFill>
                        <a:latin typeface="Arial" pitchFamily="34" charset="0"/>
                      </a:defRPr>
                    </a:lvl7pPr>
                    <a:lvl8pPr marL="3429000" indent="-228600" eaLnBrk="0" fontAlgn="base" hangingPunct="0">
                      <a:spcBef>
                        <a:spcPct val="0"/>
                      </a:spcBef>
                      <a:spcAft>
                        <a:spcPct val="0"/>
                      </a:spcAft>
                      <a:defRPr sz="1200" b="1">
                        <a:solidFill>
                          <a:schemeClr val="tx1"/>
                        </a:solidFill>
                        <a:latin typeface="Arial" pitchFamily="34" charset="0"/>
                      </a:defRPr>
                    </a:lvl8pPr>
                    <a:lvl9pPr marL="3886200" indent="-228600" eaLnBrk="0" fontAlgn="base" hangingPunct="0">
                      <a:spcBef>
                        <a:spcPct val="0"/>
                      </a:spcBef>
                      <a:spcAft>
                        <a:spcPct val="0"/>
                      </a:spcAft>
                      <a:defRPr sz="1200" b="1">
                        <a:solidFill>
                          <a:schemeClr val="tx1"/>
                        </a:solidFill>
                        <a:latin typeface="Arial" pitchFamily="34" charset="0"/>
                      </a:defRPr>
                    </a:lvl9pPr>
                  </a:lstStyle>
                  <a:p>
                    <a:pPr>
                      <a:lnSpc>
                        <a:spcPct val="80000"/>
                      </a:lnSpc>
                    </a:pPr>
                    <a:r>
                      <a:rPr lang="fr-CA" altLang="fr-FR" sz="1400" dirty="0">
                        <a:latin typeface="Calibri" panose="020F0502020204030204" pitchFamily="34" charset="0"/>
                      </a:rPr>
                      <a:t>Fente intercellulaire</a:t>
                    </a:r>
                  </a:p>
                </p:txBody>
              </p:sp>
              <p:sp>
                <p:nvSpPr>
                  <p:cNvPr id="33802" name="Rectangle 10"/>
                  <p:cNvSpPr>
                    <a:spLocks noChangeArrowheads="1"/>
                  </p:cNvSpPr>
                  <p:nvPr/>
                </p:nvSpPr>
                <p:spPr bwMode="auto">
                  <a:xfrm>
                    <a:off x="3986876" y="6264730"/>
                    <a:ext cx="2025270" cy="352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1200" b="1">
                        <a:solidFill>
                          <a:schemeClr val="tx1"/>
                        </a:solidFill>
                        <a:latin typeface="Arial" pitchFamily="34" charset="0"/>
                      </a:defRPr>
                    </a:lvl1pPr>
                    <a:lvl2pPr marL="742950" indent="-285750">
                      <a:defRPr sz="1200" b="1">
                        <a:solidFill>
                          <a:schemeClr val="tx1"/>
                        </a:solidFill>
                        <a:latin typeface="Arial" pitchFamily="34" charset="0"/>
                      </a:defRPr>
                    </a:lvl2pPr>
                    <a:lvl3pPr marL="1143000" indent="-228600">
                      <a:defRPr sz="1200" b="1">
                        <a:solidFill>
                          <a:schemeClr val="tx1"/>
                        </a:solidFill>
                        <a:latin typeface="Arial" pitchFamily="34" charset="0"/>
                      </a:defRPr>
                    </a:lvl3pPr>
                    <a:lvl4pPr marL="1600200" indent="-228600">
                      <a:defRPr sz="1200" b="1">
                        <a:solidFill>
                          <a:schemeClr val="tx1"/>
                        </a:solidFill>
                        <a:latin typeface="Arial" pitchFamily="34" charset="0"/>
                      </a:defRPr>
                    </a:lvl4pPr>
                    <a:lvl5pPr marL="2057400" indent="-228600">
                      <a:defRPr sz="1200" b="1">
                        <a:solidFill>
                          <a:schemeClr val="tx1"/>
                        </a:solidFill>
                        <a:latin typeface="Arial" pitchFamily="34" charset="0"/>
                      </a:defRPr>
                    </a:lvl5pPr>
                    <a:lvl6pPr marL="2514600" indent="-228600" eaLnBrk="0" fontAlgn="base" hangingPunct="0">
                      <a:spcBef>
                        <a:spcPct val="0"/>
                      </a:spcBef>
                      <a:spcAft>
                        <a:spcPct val="0"/>
                      </a:spcAft>
                      <a:defRPr sz="1200" b="1">
                        <a:solidFill>
                          <a:schemeClr val="tx1"/>
                        </a:solidFill>
                        <a:latin typeface="Arial" pitchFamily="34" charset="0"/>
                      </a:defRPr>
                    </a:lvl6pPr>
                    <a:lvl7pPr marL="2971800" indent="-228600" eaLnBrk="0" fontAlgn="base" hangingPunct="0">
                      <a:spcBef>
                        <a:spcPct val="0"/>
                      </a:spcBef>
                      <a:spcAft>
                        <a:spcPct val="0"/>
                      </a:spcAft>
                      <a:defRPr sz="1200" b="1">
                        <a:solidFill>
                          <a:schemeClr val="tx1"/>
                        </a:solidFill>
                        <a:latin typeface="Arial" pitchFamily="34" charset="0"/>
                      </a:defRPr>
                    </a:lvl7pPr>
                    <a:lvl8pPr marL="3429000" indent="-228600" eaLnBrk="0" fontAlgn="base" hangingPunct="0">
                      <a:spcBef>
                        <a:spcPct val="0"/>
                      </a:spcBef>
                      <a:spcAft>
                        <a:spcPct val="0"/>
                      </a:spcAft>
                      <a:defRPr sz="1200" b="1">
                        <a:solidFill>
                          <a:schemeClr val="tx1"/>
                        </a:solidFill>
                        <a:latin typeface="Arial" pitchFamily="34" charset="0"/>
                      </a:defRPr>
                    </a:lvl8pPr>
                    <a:lvl9pPr marL="3886200" indent="-228600" eaLnBrk="0" fontAlgn="base" hangingPunct="0">
                      <a:spcBef>
                        <a:spcPct val="0"/>
                      </a:spcBef>
                      <a:spcAft>
                        <a:spcPct val="0"/>
                      </a:spcAft>
                      <a:defRPr sz="1200" b="1">
                        <a:solidFill>
                          <a:schemeClr val="tx1"/>
                        </a:solidFill>
                        <a:latin typeface="Arial" pitchFamily="34" charset="0"/>
                      </a:defRPr>
                    </a:lvl9pPr>
                  </a:lstStyle>
                  <a:p>
                    <a:pPr>
                      <a:lnSpc>
                        <a:spcPct val="95000"/>
                      </a:lnSpc>
                    </a:pPr>
                    <a:r>
                      <a:rPr lang="fr-CA" altLang="fr-FR" sz="1400" dirty="0">
                        <a:latin typeface="Calibri" panose="020F0502020204030204" pitchFamily="34" charset="0"/>
                      </a:rPr>
                      <a:t>Cellule endothéliale</a:t>
                    </a:r>
                  </a:p>
                </p:txBody>
              </p:sp>
              <p:sp>
                <p:nvSpPr>
                  <p:cNvPr id="33804" name="Rectangle 21"/>
                  <p:cNvSpPr>
                    <a:spLocks noChangeArrowheads="1"/>
                  </p:cNvSpPr>
                  <p:nvPr/>
                </p:nvSpPr>
                <p:spPr bwMode="auto">
                  <a:xfrm>
                    <a:off x="2713370" y="5912508"/>
                    <a:ext cx="1368973" cy="5958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1200" b="1">
                        <a:solidFill>
                          <a:schemeClr val="tx1"/>
                        </a:solidFill>
                        <a:latin typeface="Arial" pitchFamily="34" charset="0"/>
                      </a:defRPr>
                    </a:lvl1pPr>
                    <a:lvl2pPr marL="742950" indent="-285750">
                      <a:defRPr sz="1200" b="1">
                        <a:solidFill>
                          <a:schemeClr val="tx1"/>
                        </a:solidFill>
                        <a:latin typeface="Arial" pitchFamily="34" charset="0"/>
                      </a:defRPr>
                    </a:lvl2pPr>
                    <a:lvl3pPr marL="1143000" indent="-228600">
                      <a:defRPr sz="1200" b="1">
                        <a:solidFill>
                          <a:schemeClr val="tx1"/>
                        </a:solidFill>
                        <a:latin typeface="Arial" pitchFamily="34" charset="0"/>
                      </a:defRPr>
                    </a:lvl3pPr>
                    <a:lvl4pPr marL="1600200" indent="-228600">
                      <a:defRPr sz="1200" b="1">
                        <a:solidFill>
                          <a:schemeClr val="tx1"/>
                        </a:solidFill>
                        <a:latin typeface="Arial" pitchFamily="34" charset="0"/>
                      </a:defRPr>
                    </a:lvl4pPr>
                    <a:lvl5pPr marL="2057400" indent="-228600">
                      <a:defRPr sz="1200" b="1">
                        <a:solidFill>
                          <a:schemeClr val="tx1"/>
                        </a:solidFill>
                        <a:latin typeface="Arial" pitchFamily="34" charset="0"/>
                      </a:defRPr>
                    </a:lvl5pPr>
                    <a:lvl6pPr marL="2514600" indent="-228600" eaLnBrk="0" fontAlgn="base" hangingPunct="0">
                      <a:spcBef>
                        <a:spcPct val="0"/>
                      </a:spcBef>
                      <a:spcAft>
                        <a:spcPct val="0"/>
                      </a:spcAft>
                      <a:defRPr sz="1200" b="1">
                        <a:solidFill>
                          <a:schemeClr val="tx1"/>
                        </a:solidFill>
                        <a:latin typeface="Arial" pitchFamily="34" charset="0"/>
                      </a:defRPr>
                    </a:lvl6pPr>
                    <a:lvl7pPr marL="2971800" indent="-228600" eaLnBrk="0" fontAlgn="base" hangingPunct="0">
                      <a:spcBef>
                        <a:spcPct val="0"/>
                      </a:spcBef>
                      <a:spcAft>
                        <a:spcPct val="0"/>
                      </a:spcAft>
                      <a:defRPr sz="1200" b="1">
                        <a:solidFill>
                          <a:schemeClr val="tx1"/>
                        </a:solidFill>
                        <a:latin typeface="Arial" pitchFamily="34" charset="0"/>
                      </a:defRPr>
                    </a:lvl7pPr>
                    <a:lvl8pPr marL="3429000" indent="-228600" eaLnBrk="0" fontAlgn="base" hangingPunct="0">
                      <a:spcBef>
                        <a:spcPct val="0"/>
                      </a:spcBef>
                      <a:spcAft>
                        <a:spcPct val="0"/>
                      </a:spcAft>
                      <a:defRPr sz="1200" b="1">
                        <a:solidFill>
                          <a:schemeClr val="tx1"/>
                        </a:solidFill>
                        <a:latin typeface="Arial" pitchFamily="34" charset="0"/>
                      </a:defRPr>
                    </a:lvl8pPr>
                    <a:lvl9pPr marL="3886200" indent="-228600" eaLnBrk="0" fontAlgn="base" hangingPunct="0">
                      <a:spcBef>
                        <a:spcPct val="0"/>
                      </a:spcBef>
                      <a:spcAft>
                        <a:spcPct val="0"/>
                      </a:spcAft>
                      <a:defRPr sz="1200" b="1">
                        <a:solidFill>
                          <a:schemeClr val="tx1"/>
                        </a:solidFill>
                        <a:latin typeface="Arial" pitchFamily="34" charset="0"/>
                      </a:defRPr>
                    </a:lvl9pPr>
                  </a:lstStyle>
                  <a:p>
                    <a:pPr algn="ctr">
                      <a:lnSpc>
                        <a:spcPct val="95000"/>
                      </a:lnSpc>
                    </a:pPr>
                    <a:r>
                      <a:rPr lang="fr-CA" altLang="fr-FR" sz="1400" dirty="0">
                        <a:latin typeface="Calibri" panose="020F0502020204030204" pitchFamily="34" charset="0"/>
                      </a:rPr>
                      <a:t>Membrane basale</a:t>
                    </a:r>
                  </a:p>
                </p:txBody>
              </p:sp>
              <p:sp>
                <p:nvSpPr>
                  <p:cNvPr id="5" name="Curved Down Arrow 4"/>
                  <p:cNvSpPr/>
                  <p:nvPr/>
                </p:nvSpPr>
                <p:spPr bwMode="auto">
                  <a:xfrm rot="16659704">
                    <a:off x="4367132" y="4222187"/>
                    <a:ext cx="618802" cy="288000"/>
                  </a:xfrm>
                  <a:prstGeom prst="curvedDownArrow">
                    <a:avLst>
                      <a:gd name="adj1" fmla="val 12879"/>
                      <a:gd name="adj2" fmla="val 40925"/>
                      <a:gd name="adj3" fmla="val 38391"/>
                    </a:avLst>
                  </a:prstGeom>
                  <a:ln>
                    <a:solidFill>
                      <a:schemeClr val="tx1"/>
                    </a:solidFill>
                  </a:ln>
                </p:spPr>
                <p:txBody>
                  <a:bodyPr rot="0" spcFirstLastPara="0" vertOverflow="overflow" horzOverflow="overflow" vert="horz" wrap="none" lIns="91440" tIns="45720" rIns="91440" bIns="45720" numCol="1" spcCol="0" rtlCol="0" fromWordArt="1" anchor="ctr" anchorCtr="0" forceAA="0" compatLnSpc="1">
                    <a:prstTxWarp prst="textPlain">
                      <a:avLst>
                        <a:gd name="adj" fmla="val 47339"/>
                      </a:avLst>
                    </a:prstTxWarp>
                    <a:noAutofit/>
                  </a:bodyPr>
                  <a:lstStyle/>
                  <a:p>
                    <a:pPr algn="ctr"/>
                    <a:endParaRPr lang="fr-CA" sz="3600" kern="0" dirty="0">
                      <a:ln w="19050">
                        <a:solidFill>
                          <a:srgbClr val="0066CC"/>
                        </a:solidFill>
                        <a:round/>
                        <a:headEnd/>
                        <a:tailEnd/>
                      </a:ln>
                      <a:solidFill>
                        <a:srgbClr val="0066CC"/>
                      </a:solidFill>
                      <a:latin typeface="Calibri" panose="020F0502020204030204" pitchFamily="34" charset="0"/>
                      <a:cs typeface="Arial" panose="020B0604020202020204" pitchFamily="34" charset="0"/>
                    </a:endParaRPr>
                  </a:p>
                </p:txBody>
              </p:sp>
              <p:sp>
                <p:nvSpPr>
                  <p:cNvPr id="29" name="Curved Down Arrow 28"/>
                  <p:cNvSpPr/>
                  <p:nvPr/>
                </p:nvSpPr>
                <p:spPr bwMode="auto">
                  <a:xfrm rot="16659704">
                    <a:off x="3329880" y="3944265"/>
                    <a:ext cx="618802" cy="288000"/>
                  </a:xfrm>
                  <a:prstGeom prst="curvedDownArrow">
                    <a:avLst>
                      <a:gd name="adj1" fmla="val 12879"/>
                      <a:gd name="adj2" fmla="val 40925"/>
                      <a:gd name="adj3" fmla="val 38391"/>
                    </a:avLst>
                  </a:prstGeom>
                  <a:ln>
                    <a:solidFill>
                      <a:schemeClr val="tx1"/>
                    </a:solidFill>
                  </a:ln>
                </p:spPr>
                <p:txBody>
                  <a:bodyPr rot="0" spcFirstLastPara="0" vertOverflow="overflow" horzOverflow="overflow" vert="horz" wrap="none" lIns="91440" tIns="45720" rIns="91440" bIns="45720" numCol="1" spcCol="0" rtlCol="0" fromWordArt="1" anchor="ctr" anchorCtr="0" forceAA="0" compatLnSpc="1">
                    <a:prstTxWarp prst="textPlain">
                      <a:avLst>
                        <a:gd name="adj" fmla="val 47339"/>
                      </a:avLst>
                    </a:prstTxWarp>
                    <a:noAutofit/>
                  </a:bodyPr>
                  <a:lstStyle/>
                  <a:p>
                    <a:pPr algn="ctr"/>
                    <a:endParaRPr lang="fr-CA" sz="3600" kern="0" dirty="0">
                      <a:ln w="19050">
                        <a:solidFill>
                          <a:srgbClr val="0066CC"/>
                        </a:solidFill>
                        <a:round/>
                        <a:headEnd/>
                        <a:tailEnd/>
                      </a:ln>
                      <a:solidFill>
                        <a:srgbClr val="0066CC"/>
                      </a:solidFill>
                      <a:latin typeface="Calibri" panose="020F0502020204030204" pitchFamily="34" charset="0"/>
                      <a:cs typeface="Arial" panose="020B0604020202020204" pitchFamily="34" charset="0"/>
                    </a:endParaRPr>
                  </a:p>
                </p:txBody>
              </p:sp>
              <p:sp>
                <p:nvSpPr>
                  <p:cNvPr id="30" name="Curved Down Arrow 29"/>
                  <p:cNvSpPr/>
                  <p:nvPr/>
                </p:nvSpPr>
                <p:spPr bwMode="auto">
                  <a:xfrm rot="16659704">
                    <a:off x="3783262" y="4333370"/>
                    <a:ext cx="618802" cy="288000"/>
                  </a:xfrm>
                  <a:prstGeom prst="curvedDownArrow">
                    <a:avLst>
                      <a:gd name="adj1" fmla="val 12879"/>
                      <a:gd name="adj2" fmla="val 40925"/>
                      <a:gd name="adj3" fmla="val 38391"/>
                    </a:avLst>
                  </a:prstGeom>
                  <a:ln>
                    <a:solidFill>
                      <a:schemeClr val="tx1"/>
                    </a:solidFill>
                  </a:ln>
                </p:spPr>
                <p:txBody>
                  <a:bodyPr rot="0" spcFirstLastPara="0" vertOverflow="overflow" horzOverflow="overflow" vert="horz" wrap="none" lIns="91440" tIns="45720" rIns="91440" bIns="45720" numCol="1" spcCol="0" rtlCol="0" fromWordArt="1" anchor="ctr" anchorCtr="0" forceAA="0" compatLnSpc="1">
                    <a:prstTxWarp prst="textPlain">
                      <a:avLst>
                        <a:gd name="adj" fmla="val 47339"/>
                      </a:avLst>
                    </a:prstTxWarp>
                    <a:noAutofit/>
                  </a:bodyPr>
                  <a:lstStyle/>
                  <a:p>
                    <a:pPr algn="ctr"/>
                    <a:endParaRPr lang="fr-CA" sz="3600" kern="0" dirty="0">
                      <a:ln w="19050">
                        <a:solidFill>
                          <a:srgbClr val="0066CC"/>
                        </a:solidFill>
                        <a:round/>
                        <a:headEnd/>
                        <a:tailEnd/>
                      </a:ln>
                      <a:solidFill>
                        <a:srgbClr val="0066CC"/>
                      </a:solidFill>
                      <a:latin typeface="Calibri" panose="020F0502020204030204" pitchFamily="34" charset="0"/>
                      <a:cs typeface="Arial" panose="020B0604020202020204" pitchFamily="34" charset="0"/>
                    </a:endParaRPr>
                  </a:p>
                </p:txBody>
              </p:sp>
            </p:grpSp>
            <p:cxnSp>
              <p:nvCxnSpPr>
                <p:cNvPr id="11" name="Straight Connector 10"/>
                <p:cNvCxnSpPr/>
                <p:nvPr/>
              </p:nvCxnSpPr>
              <p:spPr bwMode="auto">
                <a:xfrm>
                  <a:off x="7387166" y="5691746"/>
                  <a:ext cx="261213"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grpSp>
          <p:cxnSp>
            <p:nvCxnSpPr>
              <p:cNvPr id="42" name="Straight Connector 41"/>
              <p:cNvCxnSpPr/>
              <p:nvPr/>
            </p:nvCxnSpPr>
            <p:spPr bwMode="auto">
              <a:xfrm>
                <a:off x="7114360" y="6077163"/>
                <a:ext cx="388172" cy="0"/>
              </a:xfrm>
              <a:prstGeom prst="line">
                <a:avLst/>
              </a:prstGeom>
              <a:solidFill>
                <a:schemeClr val="accent1"/>
              </a:solidFill>
              <a:ln w="25400" cap="flat" cmpd="sng" algn="ctr">
                <a:solidFill>
                  <a:schemeClr val="tx1"/>
                </a:solidFill>
                <a:prstDash val="solid"/>
                <a:round/>
                <a:headEnd type="none" w="med" len="med"/>
                <a:tailEnd type="none" w="med" len="med"/>
              </a:ln>
              <a:effectLst/>
            </p:spPr>
          </p:cxnSp>
        </p:grpSp>
        <p:sp>
          <p:nvSpPr>
            <p:cNvPr id="35" name="Rectangle 5"/>
            <p:cNvSpPr>
              <a:spLocks noChangeArrowheads="1"/>
            </p:cNvSpPr>
            <p:nvPr/>
          </p:nvSpPr>
          <p:spPr bwMode="auto">
            <a:xfrm>
              <a:off x="6860930" y="4437951"/>
              <a:ext cx="2023989" cy="326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1200" b="1">
                  <a:solidFill>
                    <a:schemeClr val="tx1"/>
                  </a:solidFill>
                  <a:latin typeface="Arial" pitchFamily="34" charset="0"/>
                </a:defRPr>
              </a:lvl1pPr>
              <a:lvl2pPr marL="742950" indent="-285750">
                <a:defRPr sz="1200" b="1">
                  <a:solidFill>
                    <a:schemeClr val="tx1"/>
                  </a:solidFill>
                  <a:latin typeface="Arial" pitchFamily="34" charset="0"/>
                </a:defRPr>
              </a:lvl2pPr>
              <a:lvl3pPr marL="1143000" indent="-228600">
                <a:defRPr sz="1200" b="1">
                  <a:solidFill>
                    <a:schemeClr val="tx1"/>
                  </a:solidFill>
                  <a:latin typeface="Arial" pitchFamily="34" charset="0"/>
                </a:defRPr>
              </a:lvl3pPr>
              <a:lvl4pPr marL="1600200" indent="-228600">
                <a:defRPr sz="1200" b="1">
                  <a:solidFill>
                    <a:schemeClr val="tx1"/>
                  </a:solidFill>
                  <a:latin typeface="Arial" pitchFamily="34" charset="0"/>
                </a:defRPr>
              </a:lvl4pPr>
              <a:lvl5pPr marL="2057400" indent="-228600">
                <a:defRPr sz="1200" b="1">
                  <a:solidFill>
                    <a:schemeClr val="tx1"/>
                  </a:solidFill>
                  <a:latin typeface="Arial" pitchFamily="34" charset="0"/>
                </a:defRPr>
              </a:lvl5pPr>
              <a:lvl6pPr marL="2514600" indent="-228600" eaLnBrk="0" fontAlgn="base" hangingPunct="0">
                <a:spcBef>
                  <a:spcPct val="0"/>
                </a:spcBef>
                <a:spcAft>
                  <a:spcPct val="0"/>
                </a:spcAft>
                <a:defRPr sz="1200" b="1">
                  <a:solidFill>
                    <a:schemeClr val="tx1"/>
                  </a:solidFill>
                  <a:latin typeface="Arial" pitchFamily="34" charset="0"/>
                </a:defRPr>
              </a:lvl6pPr>
              <a:lvl7pPr marL="2971800" indent="-228600" eaLnBrk="0" fontAlgn="base" hangingPunct="0">
                <a:spcBef>
                  <a:spcPct val="0"/>
                </a:spcBef>
                <a:spcAft>
                  <a:spcPct val="0"/>
                </a:spcAft>
                <a:defRPr sz="1200" b="1">
                  <a:solidFill>
                    <a:schemeClr val="tx1"/>
                  </a:solidFill>
                  <a:latin typeface="Arial" pitchFamily="34" charset="0"/>
                </a:defRPr>
              </a:lvl7pPr>
              <a:lvl8pPr marL="3429000" indent="-228600" eaLnBrk="0" fontAlgn="base" hangingPunct="0">
                <a:spcBef>
                  <a:spcPct val="0"/>
                </a:spcBef>
                <a:spcAft>
                  <a:spcPct val="0"/>
                </a:spcAft>
                <a:defRPr sz="1200" b="1">
                  <a:solidFill>
                    <a:schemeClr val="tx1"/>
                  </a:solidFill>
                  <a:latin typeface="Arial" pitchFamily="34" charset="0"/>
                </a:defRPr>
              </a:lvl8pPr>
              <a:lvl9pPr marL="3886200" indent="-228600" eaLnBrk="0" fontAlgn="base" hangingPunct="0">
                <a:spcBef>
                  <a:spcPct val="0"/>
                </a:spcBef>
                <a:spcAft>
                  <a:spcPct val="0"/>
                </a:spcAft>
                <a:defRPr sz="1200" b="1">
                  <a:solidFill>
                    <a:schemeClr val="tx1"/>
                  </a:solidFill>
                  <a:latin typeface="Arial" pitchFamily="34" charset="0"/>
                </a:defRPr>
              </a:lvl9pPr>
            </a:lstStyle>
            <a:p>
              <a:pPr>
                <a:lnSpc>
                  <a:spcPct val="95000"/>
                </a:lnSpc>
              </a:pPr>
              <a:r>
                <a:rPr lang="fr-CA" altLang="fr-FR" sz="1600" i="1" dirty="0">
                  <a:latin typeface="Calibri" panose="020F0502020204030204" pitchFamily="34" charset="0"/>
                </a:rPr>
                <a:t>Espace interstitiel</a:t>
              </a:r>
            </a:p>
          </p:txBody>
        </p:sp>
      </p:grpSp>
    </p:spTree>
    <p:extLst>
      <p:ext uri="{BB962C8B-B14F-4D97-AF65-F5344CB8AC3E}">
        <p14:creationId xmlns:p14="http://schemas.microsoft.com/office/powerpoint/2010/main" val="7175785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7"/>
          <p:cNvSpPr>
            <a:spLocks noChangeArrowheads="1"/>
          </p:cNvSpPr>
          <p:nvPr/>
        </p:nvSpPr>
        <p:spPr bwMode="auto">
          <a:xfrm>
            <a:off x="234639" y="187623"/>
            <a:ext cx="8154987" cy="430887"/>
          </a:xfrm>
          <a:prstGeom prst="rect">
            <a:avLst/>
          </a:prstGeom>
          <a:noFill/>
          <a:ln w="9525">
            <a:noFill/>
            <a:miter lim="800000"/>
            <a:headEnd/>
            <a:tailEnd/>
          </a:ln>
        </p:spPr>
        <p:txBody>
          <a:bodyPr>
            <a:spAutoFit/>
          </a:bodyPr>
          <a:lstStyle/>
          <a:p>
            <a:pPr marL="1082675" indent="-1082675" eaLnBrk="0" hangingPunct="0"/>
            <a:r>
              <a:rPr lang="fr-FR" sz="2200" b="1" u="sng" dirty="0">
                <a:solidFill>
                  <a:schemeClr val="accent2"/>
                </a:solidFill>
                <a:latin typeface="Arial" charset="0"/>
              </a:rPr>
              <a:t>Transports passifs</a:t>
            </a:r>
            <a:endParaRPr lang="en-US" sz="2200" dirty="0">
              <a:solidFill>
                <a:schemeClr val="accent2"/>
              </a:solidFill>
              <a:latin typeface="Arial" charset="0"/>
            </a:endParaRPr>
          </a:p>
        </p:txBody>
      </p:sp>
      <p:sp>
        <p:nvSpPr>
          <p:cNvPr id="7173" name="Rectangle 11"/>
          <p:cNvSpPr>
            <a:spLocks noChangeArrowheads="1"/>
          </p:cNvSpPr>
          <p:nvPr/>
        </p:nvSpPr>
        <p:spPr bwMode="auto">
          <a:xfrm>
            <a:off x="357187" y="618510"/>
            <a:ext cx="8786813" cy="1642364"/>
          </a:xfrm>
          <a:prstGeom prst="rect">
            <a:avLst/>
          </a:prstGeom>
          <a:noFill/>
          <a:ln w="9525">
            <a:noFill/>
            <a:miter lim="800000"/>
            <a:headEnd/>
            <a:tailEnd/>
          </a:ln>
        </p:spPr>
        <p:txBody>
          <a:bodyPr wrap="square" lIns="36000" tIns="36000" rIns="36000" bIns="36000" anchor="ctr">
            <a:spAutoFit/>
          </a:bodyPr>
          <a:lstStyle/>
          <a:p>
            <a:pPr eaLnBrk="0" hangingPunct="0">
              <a:tabLst>
                <a:tab pos="1371600" algn="l"/>
              </a:tabLst>
            </a:pPr>
            <a:r>
              <a:rPr lang="fr-CA" sz="2000" b="1" dirty="0">
                <a:solidFill>
                  <a:schemeClr val="accent2"/>
                </a:solidFill>
                <a:latin typeface="Arial" charset="0"/>
              </a:rPr>
              <a:t>ii) </a:t>
            </a:r>
            <a:r>
              <a:rPr lang="fr-CA" sz="2000" b="1" u="sng" dirty="0">
                <a:solidFill>
                  <a:schemeClr val="accent2"/>
                </a:solidFill>
                <a:latin typeface="Arial" charset="0"/>
              </a:rPr>
              <a:t>Diffusion</a:t>
            </a:r>
            <a:endParaRPr lang="en-US" sz="2000" u="sng" dirty="0">
              <a:solidFill>
                <a:schemeClr val="accent2"/>
              </a:solidFill>
              <a:latin typeface="Arial" charset="0"/>
            </a:endParaRPr>
          </a:p>
          <a:p>
            <a:pPr marL="633413" lvl="1" indent="-268288" eaLnBrk="0" hangingPunct="0">
              <a:spcBef>
                <a:spcPts val="600"/>
              </a:spcBef>
              <a:buSzPct val="100000"/>
              <a:buFont typeface="Times New Roman" pitchFamily="18" charset="0"/>
              <a:buChar char="−"/>
              <a:tabLst>
                <a:tab pos="1371600" algn="l"/>
              </a:tabLst>
            </a:pPr>
            <a:r>
              <a:rPr lang="fr-CA" dirty="0">
                <a:latin typeface="Arial" charset="0"/>
              </a:rPr>
              <a:t>« </a:t>
            </a:r>
            <a:r>
              <a:rPr lang="fr-FR" dirty="0">
                <a:latin typeface="Arial" charset="0"/>
              </a:rPr>
              <a:t>Tendance qu’ont les molécules et les ions à se répandre dans l’environnement. » </a:t>
            </a:r>
          </a:p>
          <a:p>
            <a:pPr marL="633413" lvl="1" indent="-268288" eaLnBrk="0" hangingPunct="0">
              <a:spcBef>
                <a:spcPts val="600"/>
              </a:spcBef>
              <a:buSzPct val="100000"/>
              <a:buFont typeface="Times New Roman" pitchFamily="18" charset="0"/>
              <a:buChar char="−"/>
              <a:tabLst>
                <a:tab pos="1371600" algn="l"/>
              </a:tabLst>
            </a:pPr>
            <a:r>
              <a:rPr lang="fr-FR" dirty="0">
                <a:latin typeface="Arial" charset="0"/>
              </a:rPr>
              <a:t>Due à l’</a:t>
            </a:r>
            <a:r>
              <a:rPr lang="fr-FR" i="1" dirty="0">
                <a:latin typeface="Arial" charset="0"/>
              </a:rPr>
              <a:t>énergie cinétique</a:t>
            </a:r>
            <a:r>
              <a:rPr lang="fr-FR" dirty="0">
                <a:latin typeface="Arial" charset="0"/>
              </a:rPr>
              <a:t> des molécules et ions (ils sont en mouvement constant).</a:t>
            </a:r>
          </a:p>
        </p:txBody>
      </p:sp>
      <p:pic>
        <p:nvPicPr>
          <p:cNvPr id="7172" name="Picture 9" descr="03-06Diffusion_L.jpg"/>
          <p:cNvPicPr>
            <a:picLocks noGrp="1" noChangeAspect="1" noChangeArrowheads="1"/>
          </p:cNvPicPr>
          <p:nvPr>
            <p:ph/>
          </p:nvPr>
        </p:nvPicPr>
        <p:blipFill>
          <a:blip r:embed="rId3" cstate="print"/>
          <a:srcRect b="8780"/>
          <a:stretch>
            <a:fillRect/>
          </a:stretch>
        </p:blipFill>
        <p:spPr>
          <a:xfrm>
            <a:off x="1905255" y="2371726"/>
            <a:ext cx="5214029" cy="3473498"/>
          </a:xfrm>
        </p:spPr>
      </p:pic>
      <p:sp>
        <p:nvSpPr>
          <p:cNvPr id="7175" name="Text Box 13"/>
          <p:cNvSpPr txBox="1">
            <a:spLocks noChangeArrowheads="1"/>
          </p:cNvSpPr>
          <p:nvPr/>
        </p:nvSpPr>
        <p:spPr bwMode="auto">
          <a:xfrm>
            <a:off x="8247982" y="5380862"/>
            <a:ext cx="817562" cy="342900"/>
          </a:xfrm>
          <a:prstGeom prst="rect">
            <a:avLst/>
          </a:prstGeom>
          <a:noFill/>
          <a:ln w="6350">
            <a:solidFill>
              <a:srgbClr val="0000FF"/>
            </a:solidFill>
            <a:miter lim="800000"/>
            <a:headEnd/>
            <a:tailEnd/>
          </a:ln>
        </p:spPr>
        <p:txBody>
          <a:bodyPr wrap="none">
            <a:spAutoFit/>
          </a:bodyPr>
          <a:lstStyle/>
          <a:p>
            <a:pPr eaLnBrk="0" hangingPunct="0"/>
            <a:r>
              <a:rPr lang="fr-CA" sz="1600">
                <a:solidFill>
                  <a:srgbClr val="3333FF"/>
                </a:solidFill>
              </a:rPr>
              <a:t>Fig. 3.6</a:t>
            </a:r>
            <a:endParaRPr lang="en-US" sz="1600">
              <a:solidFill>
                <a:srgbClr val="3333FF"/>
              </a:solidFill>
            </a:endParaRPr>
          </a:p>
        </p:txBody>
      </p:sp>
      <p:sp>
        <p:nvSpPr>
          <p:cNvPr id="9" name="Right Arrow 8"/>
          <p:cNvSpPr/>
          <p:nvPr/>
        </p:nvSpPr>
        <p:spPr bwMode="auto">
          <a:xfrm>
            <a:off x="4296269" y="4000475"/>
            <a:ext cx="432000" cy="216000"/>
          </a:xfrm>
          <a:prstGeom prst="rightArrow">
            <a:avLst/>
          </a:prstGeom>
          <a:solidFill>
            <a:schemeClr val="accent2"/>
          </a:solidFill>
          <a:ln>
            <a:solidFill>
              <a:srgbClr val="0000FF"/>
            </a:solidFill>
          </a:ln>
        </p:spPr>
        <p:txBody>
          <a:bodyPr wrap="none" rtlCol="0" fromWordArt="1" anchor="ctr" anchorCtr="0">
            <a:prstTxWarp prst="textPlain">
              <a:avLst>
                <a:gd name="adj" fmla="val 50000"/>
              </a:avLst>
            </a:prstTxWarp>
          </a:bodyPr>
          <a:lstStyle/>
          <a:p>
            <a:pPr algn="ctr"/>
            <a:endParaRPr lang="fr-CA" sz="3600" kern="0" dirty="0">
              <a:ln w="19050">
                <a:solidFill>
                  <a:srgbClr val="0066CC"/>
                </a:solidFill>
                <a:round/>
                <a:headEnd/>
                <a:tailEnd/>
              </a:ln>
              <a:solidFill>
                <a:srgbClr val="0066CC"/>
              </a:solidFill>
              <a:latin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804076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3838" y="681107"/>
            <a:ext cx="8834174" cy="3016210"/>
          </a:xfrm>
          <a:prstGeom prst="rect">
            <a:avLst/>
          </a:prstGeom>
        </p:spPr>
        <p:txBody>
          <a:bodyPr wrap="square">
            <a:spAutoFit/>
          </a:bodyPr>
          <a:lstStyle/>
          <a:p>
            <a:pPr marL="274638" lvl="0" indent="-274638">
              <a:spcAft>
                <a:spcPts val="0"/>
              </a:spcAft>
              <a:buSzPct val="90000"/>
              <a:buFont typeface="Arial"/>
              <a:buChar char="─"/>
            </a:pPr>
            <a:r>
              <a:rPr lang="fr-FR" dirty="0">
                <a:solidFill>
                  <a:srgbClr val="000000"/>
                </a:solidFill>
                <a:latin typeface="Arial"/>
                <a:ea typeface="Times New Roman"/>
              </a:rPr>
              <a:t>Le mouvement </a:t>
            </a:r>
            <a:r>
              <a:rPr lang="fr-FR" u="sng" dirty="0">
                <a:solidFill>
                  <a:srgbClr val="000000"/>
                </a:solidFill>
                <a:latin typeface="Arial"/>
                <a:ea typeface="Times New Roman"/>
              </a:rPr>
              <a:t>net</a:t>
            </a:r>
            <a:r>
              <a:rPr lang="fr-FR" dirty="0">
                <a:solidFill>
                  <a:srgbClr val="000000"/>
                </a:solidFill>
                <a:latin typeface="Arial"/>
                <a:ea typeface="Times New Roman"/>
              </a:rPr>
              <a:t> des solutés est déterminé par leur</a:t>
            </a:r>
            <a:r>
              <a:rPr lang="fr-FR" i="1" dirty="0">
                <a:solidFill>
                  <a:srgbClr val="000000"/>
                </a:solidFill>
                <a:latin typeface="Arial"/>
                <a:ea typeface="Times New Roman"/>
              </a:rPr>
              <a:t> gradient de concentration </a:t>
            </a:r>
            <a:r>
              <a:rPr lang="fr-FR" dirty="0">
                <a:solidFill>
                  <a:srgbClr val="000000"/>
                </a:solidFill>
                <a:latin typeface="Arial"/>
                <a:ea typeface="Times New Roman"/>
              </a:rPr>
              <a:t>:</a:t>
            </a:r>
            <a:endParaRPr lang="fr-CA" sz="2000" dirty="0">
              <a:solidFill>
                <a:srgbClr val="000000"/>
              </a:solidFill>
              <a:latin typeface="Times New Roman"/>
              <a:ea typeface="Times New Roman"/>
            </a:endParaRPr>
          </a:p>
          <a:p>
            <a:pPr marL="441325" lvl="0" indent="-168275">
              <a:spcBef>
                <a:spcPts val="600"/>
              </a:spcBef>
              <a:spcAft>
                <a:spcPts val="0"/>
              </a:spcAft>
              <a:buSzPct val="100000"/>
              <a:buFont typeface="Wingdings"/>
              <a:buChar char=""/>
            </a:pPr>
            <a:r>
              <a:rPr lang="fr-FR" dirty="0">
                <a:solidFill>
                  <a:srgbClr val="000000"/>
                </a:solidFill>
                <a:latin typeface="Arial"/>
                <a:ea typeface="Times New Roman"/>
              </a:rPr>
              <a:t>Avec la diffusion, le mouvement net suit le gradient de concentration, de la concentration la plus élevée à la concentration la plus faible.</a:t>
            </a:r>
            <a:endParaRPr lang="fr-CA" sz="2000" dirty="0">
              <a:solidFill>
                <a:srgbClr val="000000"/>
              </a:solidFill>
              <a:latin typeface="Times New Roman"/>
              <a:ea typeface="Times New Roman"/>
            </a:endParaRPr>
          </a:p>
          <a:p>
            <a:pPr marL="434975">
              <a:spcBef>
                <a:spcPts val="300"/>
              </a:spcBef>
              <a:spcAft>
                <a:spcPts val="0"/>
              </a:spcAft>
            </a:pPr>
            <a:r>
              <a:rPr lang="fr-FR" dirty="0">
                <a:solidFill>
                  <a:srgbClr val="000000"/>
                </a:solidFill>
                <a:latin typeface="Arial"/>
                <a:ea typeface="Times New Roman"/>
              </a:rPr>
              <a:t>Exemple :</a:t>
            </a:r>
          </a:p>
          <a:p>
            <a:pPr marL="434975">
              <a:spcBef>
                <a:spcPts val="0"/>
              </a:spcBef>
              <a:spcAft>
                <a:spcPts val="0"/>
              </a:spcAft>
            </a:pPr>
            <a:r>
              <a:rPr lang="fr-FR" dirty="0">
                <a:solidFill>
                  <a:srgbClr val="000000"/>
                </a:solidFill>
                <a:latin typeface="Arial"/>
                <a:ea typeface="Times New Roman"/>
              </a:rPr>
              <a:t>Le glucose diffuse spontanément à l’intérieur de la plupart des cellules parce que [glucose]</a:t>
            </a:r>
            <a:r>
              <a:rPr lang="fr-FR" baseline="-25000" dirty="0" err="1">
                <a:solidFill>
                  <a:srgbClr val="000000"/>
                </a:solidFill>
                <a:latin typeface="Arial"/>
                <a:ea typeface="Times New Roman"/>
              </a:rPr>
              <a:t>ext</a:t>
            </a:r>
            <a:r>
              <a:rPr lang="fr-FR" dirty="0">
                <a:solidFill>
                  <a:srgbClr val="000000"/>
                </a:solidFill>
                <a:latin typeface="Arial"/>
                <a:ea typeface="Times New Roman"/>
              </a:rPr>
              <a:t> &gt; [glucose]</a:t>
            </a:r>
            <a:r>
              <a:rPr lang="fr-FR" baseline="-25000" dirty="0" err="1">
                <a:solidFill>
                  <a:srgbClr val="000000"/>
                </a:solidFill>
                <a:latin typeface="Arial"/>
                <a:ea typeface="Times New Roman"/>
              </a:rPr>
              <a:t>int</a:t>
            </a:r>
            <a:r>
              <a:rPr lang="fr-FR" dirty="0">
                <a:solidFill>
                  <a:srgbClr val="000000"/>
                </a:solidFill>
                <a:latin typeface="Arial"/>
                <a:ea typeface="Times New Roman"/>
              </a:rPr>
              <a:t>  (le glucose, une fois à l’intérieur des cellules, est rapidement métabolisé).</a:t>
            </a:r>
            <a:endParaRPr lang="fr-CA" sz="2000" dirty="0">
              <a:solidFill>
                <a:srgbClr val="000000"/>
              </a:solidFill>
              <a:latin typeface="Times New Roman"/>
              <a:ea typeface="Times New Roman"/>
            </a:endParaRPr>
          </a:p>
          <a:p>
            <a:pPr marL="1166813" indent="-725488">
              <a:spcBef>
                <a:spcPts val="300"/>
              </a:spcBef>
              <a:spcAft>
                <a:spcPts val="0"/>
              </a:spcAft>
            </a:pPr>
            <a:r>
              <a:rPr lang="fr-FR" sz="1600" dirty="0">
                <a:solidFill>
                  <a:srgbClr val="000000"/>
                </a:solidFill>
                <a:latin typeface="Arial"/>
                <a:ea typeface="Times New Roman"/>
              </a:rPr>
              <a:t>NOTE : </a:t>
            </a:r>
            <a:r>
              <a:rPr lang="fr-FR" sz="1600" dirty="0">
                <a:solidFill>
                  <a:srgbClr val="000000"/>
                </a:solidFill>
                <a:latin typeface="+mj-lt"/>
                <a:ea typeface="Times New Roman"/>
              </a:rPr>
              <a:t>Par convention, les crochets sont utilisés pour désigner les concentrations :</a:t>
            </a:r>
            <a:endParaRPr lang="fr-CA" sz="1600" dirty="0">
              <a:solidFill>
                <a:srgbClr val="000000"/>
              </a:solidFill>
              <a:latin typeface="+mj-lt"/>
              <a:ea typeface="Times New Roman"/>
            </a:endParaRPr>
          </a:p>
          <a:p>
            <a:pPr marL="1166813">
              <a:spcAft>
                <a:spcPts val="0"/>
              </a:spcAft>
              <a:tabLst>
                <a:tab pos="571500" algn="l"/>
              </a:tabLst>
            </a:pPr>
            <a:r>
              <a:rPr lang="fr-FR" sz="1600" dirty="0">
                <a:solidFill>
                  <a:srgbClr val="000000"/>
                </a:solidFill>
                <a:latin typeface="+mj-lt"/>
                <a:ea typeface="Times New Roman"/>
              </a:rPr>
              <a:t>[glucose]</a:t>
            </a:r>
            <a:r>
              <a:rPr lang="fr-FR" sz="1600" baseline="-25000" dirty="0" err="1">
                <a:solidFill>
                  <a:srgbClr val="000000"/>
                </a:solidFill>
                <a:latin typeface="+mj-lt"/>
                <a:ea typeface="Times New Roman"/>
              </a:rPr>
              <a:t>ext</a:t>
            </a:r>
            <a:r>
              <a:rPr lang="fr-FR" sz="1600" dirty="0">
                <a:solidFill>
                  <a:srgbClr val="000000"/>
                </a:solidFill>
                <a:latin typeface="+mj-lt"/>
                <a:ea typeface="Times New Roman"/>
              </a:rPr>
              <a:t> = concentration extracellulaire de glucose</a:t>
            </a:r>
            <a:endParaRPr lang="fr-CA" sz="1600" dirty="0">
              <a:solidFill>
                <a:srgbClr val="000000"/>
              </a:solidFill>
              <a:latin typeface="+mj-lt"/>
              <a:ea typeface="Times New Roman"/>
            </a:endParaRPr>
          </a:p>
          <a:p>
            <a:pPr marL="1166813">
              <a:spcAft>
                <a:spcPts val="0"/>
              </a:spcAft>
              <a:tabLst>
                <a:tab pos="571500" algn="l"/>
              </a:tabLst>
            </a:pPr>
            <a:r>
              <a:rPr lang="fr-FR" sz="1600" dirty="0">
                <a:solidFill>
                  <a:srgbClr val="000000"/>
                </a:solidFill>
                <a:latin typeface="+mj-lt"/>
                <a:ea typeface="Times New Roman"/>
              </a:rPr>
              <a:t>[glucose]</a:t>
            </a:r>
            <a:r>
              <a:rPr lang="fr-FR" sz="1600" baseline="-25000" dirty="0" err="1">
                <a:solidFill>
                  <a:srgbClr val="000000"/>
                </a:solidFill>
                <a:latin typeface="+mj-lt"/>
                <a:ea typeface="Times New Roman"/>
              </a:rPr>
              <a:t>int</a:t>
            </a:r>
            <a:r>
              <a:rPr lang="fr-FR" sz="1600" dirty="0">
                <a:solidFill>
                  <a:srgbClr val="000000"/>
                </a:solidFill>
                <a:latin typeface="+mj-lt"/>
                <a:ea typeface="Times New Roman"/>
              </a:rPr>
              <a:t> = concentration intracellulaire de glucose</a:t>
            </a:r>
            <a:endParaRPr lang="fr-CA" sz="1600" dirty="0">
              <a:solidFill>
                <a:srgbClr val="000000"/>
              </a:solidFill>
              <a:latin typeface="+mj-lt"/>
              <a:ea typeface="Times New Roman"/>
            </a:endParaRPr>
          </a:p>
        </p:txBody>
      </p:sp>
      <p:sp>
        <p:nvSpPr>
          <p:cNvPr id="9" name="Rectangle 11"/>
          <p:cNvSpPr>
            <a:spLocks noChangeArrowheads="1"/>
          </p:cNvSpPr>
          <p:nvPr/>
        </p:nvSpPr>
        <p:spPr bwMode="auto">
          <a:xfrm>
            <a:off x="245428" y="304939"/>
            <a:ext cx="1613852" cy="380480"/>
          </a:xfrm>
          <a:prstGeom prst="rect">
            <a:avLst/>
          </a:prstGeom>
          <a:noFill/>
          <a:ln w="9525">
            <a:noFill/>
            <a:miter lim="800000"/>
            <a:headEnd/>
            <a:tailEnd/>
          </a:ln>
        </p:spPr>
        <p:txBody>
          <a:bodyPr wrap="square" lIns="36000" tIns="36000" rIns="36000" bIns="36000" anchor="ctr">
            <a:spAutoFit/>
          </a:bodyPr>
          <a:lstStyle/>
          <a:p>
            <a:pPr eaLnBrk="0" hangingPunct="0">
              <a:tabLst>
                <a:tab pos="1371600" algn="l"/>
              </a:tabLst>
            </a:pPr>
            <a:r>
              <a:rPr lang="fr-CA" sz="2000" b="1" dirty="0">
                <a:latin typeface="Arial" charset="0"/>
              </a:rPr>
              <a:t> Diffusion</a:t>
            </a:r>
            <a:endParaRPr lang="en-US" sz="2000" b="1" dirty="0">
              <a:latin typeface="Arial" charset="0"/>
            </a:endParaRPr>
          </a:p>
        </p:txBody>
      </p:sp>
      <p:pic>
        <p:nvPicPr>
          <p:cNvPr id="4" name="Picture 9" descr="03-06Diffusion_L.jpg">
            <a:extLst>
              <a:ext uri="{FF2B5EF4-FFF2-40B4-BE49-F238E27FC236}">
                <a16:creationId xmlns:a16="http://schemas.microsoft.com/office/drawing/2014/main" id="{C070E964-4537-489D-A2BF-73DAE3DE8222}"/>
              </a:ext>
            </a:extLst>
          </p:cNvPr>
          <p:cNvPicPr>
            <a:picLocks noGrp="1" noChangeAspect="1" noChangeArrowheads="1"/>
          </p:cNvPicPr>
          <p:nvPr>
            <p:ph/>
          </p:nvPr>
        </p:nvPicPr>
        <p:blipFill>
          <a:blip r:embed="rId3" cstate="print"/>
          <a:srcRect b="8780"/>
          <a:stretch>
            <a:fillRect/>
          </a:stretch>
        </p:blipFill>
        <p:spPr>
          <a:xfrm>
            <a:off x="5232116" y="3857585"/>
            <a:ext cx="3845896" cy="2562070"/>
          </a:xfrm>
        </p:spPr>
      </p:pic>
      <p:sp>
        <p:nvSpPr>
          <p:cNvPr id="5" name="Right Arrow 28">
            <a:extLst>
              <a:ext uri="{FF2B5EF4-FFF2-40B4-BE49-F238E27FC236}">
                <a16:creationId xmlns:a16="http://schemas.microsoft.com/office/drawing/2014/main" id="{9DE353B0-B902-47B5-BD45-9E414154DDF6}"/>
              </a:ext>
            </a:extLst>
          </p:cNvPr>
          <p:cNvSpPr/>
          <p:nvPr/>
        </p:nvSpPr>
        <p:spPr bwMode="auto">
          <a:xfrm>
            <a:off x="6975082" y="5011647"/>
            <a:ext cx="349709" cy="188222"/>
          </a:xfrm>
          <a:prstGeom prst="rightArrow">
            <a:avLst/>
          </a:prstGeom>
          <a:solidFill>
            <a:schemeClr val="accent2"/>
          </a:solidFill>
          <a:ln>
            <a:solidFill>
              <a:srgbClr val="0000FF"/>
            </a:solidFill>
          </a:ln>
        </p:spPr>
        <p:txBody>
          <a:bodyPr wrap="none" rtlCol="0" fromWordArt="1" anchor="ctr" anchorCtr="0">
            <a:prstTxWarp prst="textPlain">
              <a:avLst>
                <a:gd name="adj" fmla="val 50000"/>
              </a:avLst>
            </a:prstTxWarp>
          </a:bodyPr>
          <a:lstStyle/>
          <a:p>
            <a:pPr algn="ctr"/>
            <a:endParaRPr lang="fr-CA" sz="3600" kern="0" dirty="0">
              <a:ln w="19050">
                <a:solidFill>
                  <a:srgbClr val="0066CC"/>
                </a:solidFill>
                <a:round/>
                <a:headEnd/>
                <a:tailEnd/>
              </a:ln>
              <a:solidFill>
                <a:srgbClr val="0066CC"/>
              </a:solidFill>
              <a:latin typeface="Calibri" panose="020F0502020204030204" pitchFamily="34" charset="0"/>
              <a:cs typeface="Arial" panose="020B0604020202020204" pitchFamily="34" charset="0"/>
            </a:endParaRPr>
          </a:p>
        </p:txBody>
      </p:sp>
      <p:sp>
        <p:nvSpPr>
          <p:cNvPr id="3" name="Rectangle 2">
            <a:extLst>
              <a:ext uri="{FF2B5EF4-FFF2-40B4-BE49-F238E27FC236}">
                <a16:creationId xmlns:a16="http://schemas.microsoft.com/office/drawing/2014/main" id="{C3846EE6-15F9-40F3-A119-B7A559DCB018}"/>
              </a:ext>
            </a:extLst>
          </p:cNvPr>
          <p:cNvSpPr/>
          <p:nvPr/>
        </p:nvSpPr>
        <p:spPr>
          <a:xfrm>
            <a:off x="328680" y="3980595"/>
            <a:ext cx="4413474" cy="2062103"/>
          </a:xfrm>
          <a:prstGeom prst="rect">
            <a:avLst/>
          </a:prstGeom>
        </p:spPr>
        <p:txBody>
          <a:bodyPr wrap="square">
            <a:spAutoFit/>
          </a:bodyPr>
          <a:lstStyle/>
          <a:p>
            <a:pPr marL="441325" lvl="0" indent="-166688">
              <a:spcBef>
                <a:spcPts val="900"/>
              </a:spcBef>
              <a:spcAft>
                <a:spcPts val="0"/>
              </a:spcAft>
              <a:buSzPct val="100000"/>
              <a:buFont typeface="Wingdings"/>
              <a:buChar char=""/>
            </a:pPr>
            <a:r>
              <a:rPr lang="fr-FR" dirty="0">
                <a:solidFill>
                  <a:srgbClr val="000000"/>
                </a:solidFill>
                <a:latin typeface="Arial"/>
                <a:ea typeface="Times New Roman"/>
              </a:rPr>
              <a:t>Si le gradient entre deux régions est égal à zéro, il n’y a pas de diffusion </a:t>
            </a:r>
            <a:r>
              <a:rPr lang="fr-FR" u="sng" dirty="0">
                <a:solidFill>
                  <a:srgbClr val="000000"/>
                </a:solidFill>
                <a:latin typeface="Arial"/>
                <a:ea typeface="Times New Roman"/>
              </a:rPr>
              <a:t>nette</a:t>
            </a:r>
            <a:r>
              <a:rPr lang="fr-FR" dirty="0">
                <a:solidFill>
                  <a:srgbClr val="000000"/>
                </a:solidFill>
                <a:latin typeface="Arial"/>
                <a:ea typeface="Times New Roman"/>
              </a:rPr>
              <a:t> de molécules.  Ces molécules sont toujours en mouvement, mais elles se déplacent également dans toutes les directions et le gradient de concentration demeure nul.</a:t>
            </a:r>
            <a:endParaRPr lang="fr-CA" sz="2000" dirty="0">
              <a:solidFill>
                <a:srgbClr val="000000"/>
              </a:solidFill>
              <a:latin typeface="Times New Roman"/>
              <a:ea typeface="Times New Roman"/>
            </a:endParaRPr>
          </a:p>
        </p:txBody>
      </p:sp>
    </p:spTree>
    <p:extLst>
      <p:ext uri="{BB962C8B-B14F-4D97-AF65-F5344CB8AC3E}">
        <p14:creationId xmlns:p14="http://schemas.microsoft.com/office/powerpoint/2010/main" val="23096204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3" name="Rectangle 11"/>
          <p:cNvSpPr>
            <a:spLocks noChangeArrowheads="1"/>
          </p:cNvSpPr>
          <p:nvPr/>
        </p:nvSpPr>
        <p:spPr bwMode="auto">
          <a:xfrm>
            <a:off x="245428" y="304939"/>
            <a:ext cx="1613852" cy="380480"/>
          </a:xfrm>
          <a:prstGeom prst="rect">
            <a:avLst/>
          </a:prstGeom>
          <a:noFill/>
          <a:ln w="9525">
            <a:noFill/>
            <a:miter lim="800000"/>
            <a:headEnd/>
            <a:tailEnd/>
          </a:ln>
        </p:spPr>
        <p:txBody>
          <a:bodyPr wrap="square" lIns="36000" tIns="36000" rIns="36000" bIns="36000" anchor="ctr">
            <a:spAutoFit/>
          </a:bodyPr>
          <a:lstStyle/>
          <a:p>
            <a:pPr eaLnBrk="0" hangingPunct="0">
              <a:tabLst>
                <a:tab pos="1371600" algn="l"/>
              </a:tabLst>
            </a:pPr>
            <a:r>
              <a:rPr lang="fr-CA" sz="2000" b="1" dirty="0">
                <a:latin typeface="Arial" charset="0"/>
              </a:rPr>
              <a:t> Diffusion</a:t>
            </a:r>
            <a:endParaRPr lang="en-US" sz="2000" b="1" dirty="0">
              <a:latin typeface="Arial" charset="0"/>
            </a:endParaRPr>
          </a:p>
        </p:txBody>
      </p:sp>
      <p:sp>
        <p:nvSpPr>
          <p:cNvPr id="7174" name="Rectangle 12"/>
          <p:cNvSpPr>
            <a:spLocks noChangeArrowheads="1"/>
          </p:cNvSpPr>
          <p:nvPr/>
        </p:nvSpPr>
        <p:spPr bwMode="auto">
          <a:xfrm>
            <a:off x="294840" y="685419"/>
            <a:ext cx="6855618" cy="2177519"/>
          </a:xfrm>
          <a:prstGeom prst="rect">
            <a:avLst/>
          </a:prstGeom>
          <a:solidFill>
            <a:schemeClr val="bg1"/>
          </a:solidFill>
          <a:ln w="9525">
            <a:noFill/>
            <a:miter lim="800000"/>
            <a:headEnd/>
            <a:tailEnd/>
          </a:ln>
        </p:spPr>
        <p:txBody>
          <a:bodyPr wrap="square" anchor="ctr">
            <a:spAutoFit/>
          </a:bodyPr>
          <a:lstStyle/>
          <a:p>
            <a:pPr marL="266700" indent="-266700" eaLnBrk="0" hangingPunct="0">
              <a:buFont typeface="Times New Roman" pitchFamily="18" charset="0"/>
              <a:buChar char="−"/>
              <a:tabLst>
                <a:tab pos="1371600" algn="l"/>
              </a:tabLst>
            </a:pPr>
            <a:r>
              <a:rPr lang="fr-CA" dirty="0">
                <a:latin typeface="Arial" charset="0"/>
              </a:rPr>
              <a:t>4 facteurs qui influencent la </a:t>
            </a:r>
            <a:r>
              <a:rPr lang="fr-CA" u="sng" dirty="0">
                <a:latin typeface="Arial" charset="0"/>
              </a:rPr>
              <a:t>vitesse de diffusion</a:t>
            </a:r>
            <a:r>
              <a:rPr lang="fr-CA" dirty="0">
                <a:latin typeface="Arial" charset="0"/>
              </a:rPr>
              <a:t> :</a:t>
            </a:r>
          </a:p>
          <a:p>
            <a:pPr marL="441325" lvl="1" indent="-166688" eaLnBrk="0" hangingPunct="0">
              <a:spcBef>
                <a:spcPts val="600"/>
              </a:spcBef>
              <a:buSzPct val="80000"/>
              <a:buFont typeface="Wingdings" pitchFamily="2" charset="2"/>
              <a:buChar char="§"/>
              <a:tabLst>
                <a:tab pos="1371600" algn="l"/>
              </a:tabLst>
            </a:pPr>
            <a:r>
              <a:rPr lang="fr-CA" b="1" i="1" dirty="0">
                <a:latin typeface="Arial" charset="0"/>
              </a:rPr>
              <a:t>Gradient de concentration </a:t>
            </a:r>
            <a:r>
              <a:rPr lang="fr-CA" b="1" dirty="0">
                <a:latin typeface="Arial" charset="0"/>
              </a:rPr>
              <a:t>:</a:t>
            </a:r>
          </a:p>
          <a:p>
            <a:pPr marL="441325" lvl="1" indent="-166688">
              <a:tabLst>
                <a:tab pos="1371600" algn="l"/>
              </a:tabLst>
            </a:pPr>
            <a:r>
              <a:rPr lang="fr-CA" dirty="0">
                <a:latin typeface="Arial" charset="0"/>
                <a:sym typeface="Wingdings" pitchFamily="2" charset="2"/>
              </a:rPr>
              <a:t>	</a:t>
            </a:r>
            <a:r>
              <a:rPr lang="fr-CA" dirty="0">
                <a:latin typeface="Arial" charset="0"/>
                <a:sym typeface="Symbol"/>
              </a:rPr>
              <a:t></a:t>
            </a:r>
            <a:r>
              <a:rPr lang="fr-CA" dirty="0">
                <a:latin typeface="Arial" charset="0"/>
                <a:sym typeface="Wingdings" pitchFamily="2" charset="2"/>
              </a:rPr>
              <a:t> gradient de [ ]</a:t>
            </a:r>
            <a:r>
              <a:rPr lang="fr-CA" dirty="0">
                <a:latin typeface="Arial" charset="0"/>
              </a:rPr>
              <a:t> </a:t>
            </a:r>
            <a:r>
              <a:rPr lang="fr-CA" dirty="0">
                <a:latin typeface="Arial" charset="0"/>
                <a:sym typeface="Wingdings" pitchFamily="2" charset="2"/>
              </a:rPr>
              <a:t> </a:t>
            </a:r>
            <a:r>
              <a:rPr lang="fr-CA" dirty="0">
                <a:latin typeface="Arial" charset="0"/>
                <a:sym typeface="Symbol"/>
              </a:rPr>
              <a:t></a:t>
            </a:r>
            <a:r>
              <a:rPr lang="fr-CA" dirty="0">
                <a:latin typeface="Arial" charset="0"/>
                <a:sym typeface="Wingdings" pitchFamily="2" charset="2"/>
              </a:rPr>
              <a:t> vitesse</a:t>
            </a:r>
          </a:p>
          <a:p>
            <a:pPr marL="441325" lvl="1" indent="-166688">
              <a:spcBef>
                <a:spcPts val="900"/>
              </a:spcBef>
              <a:buSzPct val="80000"/>
              <a:buFont typeface="Wingdings" pitchFamily="2" charset="2"/>
              <a:buChar char="§"/>
              <a:tabLst>
                <a:tab pos="1371600" algn="l"/>
              </a:tabLst>
            </a:pPr>
            <a:r>
              <a:rPr lang="fr-CA" b="1" i="1" dirty="0">
                <a:latin typeface="Arial" charset="0"/>
              </a:rPr>
              <a:t>Température </a:t>
            </a:r>
            <a:r>
              <a:rPr lang="fr-CA" b="1" dirty="0">
                <a:latin typeface="Arial" charset="0"/>
              </a:rPr>
              <a:t>: </a:t>
            </a:r>
            <a:r>
              <a:rPr lang="fr-CA" dirty="0">
                <a:latin typeface="Arial" charset="0"/>
                <a:sym typeface="Symbol"/>
              </a:rPr>
              <a:t></a:t>
            </a:r>
            <a:r>
              <a:rPr lang="fr-CA" dirty="0">
                <a:latin typeface="Arial" charset="0"/>
                <a:sym typeface="Wingdings" pitchFamily="2" charset="2"/>
              </a:rPr>
              <a:t> T</a:t>
            </a:r>
            <a:r>
              <a:rPr lang="fr-CA" dirty="0">
                <a:latin typeface="Arial" charset="0"/>
                <a:cs typeface="Times New Roman" pitchFamily="18" charset="0"/>
                <a:sym typeface="Wingdings" pitchFamily="2" charset="2"/>
              </a:rPr>
              <a:t>°</a:t>
            </a:r>
            <a:r>
              <a:rPr lang="fr-CA" dirty="0">
                <a:latin typeface="Arial" charset="0"/>
                <a:sym typeface="Wingdings" pitchFamily="2" charset="2"/>
              </a:rPr>
              <a:t>  </a:t>
            </a:r>
            <a:r>
              <a:rPr lang="fr-CA" dirty="0">
                <a:latin typeface="Arial" charset="0"/>
                <a:sym typeface="Symbol"/>
              </a:rPr>
              <a:t></a:t>
            </a:r>
            <a:r>
              <a:rPr lang="fr-CA" dirty="0">
                <a:latin typeface="Arial" charset="0"/>
                <a:sym typeface="Wingdings" pitchFamily="2" charset="2"/>
              </a:rPr>
              <a:t> vitesse</a:t>
            </a:r>
            <a:endParaRPr lang="fr-CA" dirty="0">
              <a:latin typeface="Arial" charset="0"/>
            </a:endParaRPr>
          </a:p>
          <a:p>
            <a:pPr marL="441325" lvl="1" indent="-166688">
              <a:spcBef>
                <a:spcPts val="900"/>
              </a:spcBef>
              <a:buSzPct val="80000"/>
              <a:buFont typeface="Wingdings" pitchFamily="2" charset="2"/>
              <a:buChar char="§"/>
              <a:tabLst>
                <a:tab pos="1371600" algn="l"/>
                <a:tab pos="2868613" algn="l"/>
              </a:tabLst>
            </a:pPr>
            <a:r>
              <a:rPr lang="fr-CA" b="1" i="1" dirty="0">
                <a:latin typeface="Arial" charset="0"/>
              </a:rPr>
              <a:t>Taille des molécules </a:t>
            </a:r>
            <a:r>
              <a:rPr lang="fr-CA" b="1" dirty="0">
                <a:latin typeface="Arial" charset="0"/>
              </a:rPr>
              <a:t>:</a:t>
            </a:r>
            <a:r>
              <a:rPr lang="fr-CA" dirty="0">
                <a:latin typeface="Arial" charset="0"/>
                <a:sym typeface="Wingdings" pitchFamily="2" charset="2"/>
              </a:rPr>
              <a:t>	</a:t>
            </a:r>
            <a:r>
              <a:rPr lang="fr-CA" dirty="0">
                <a:latin typeface="Arial" charset="0"/>
                <a:sym typeface="Symbol"/>
              </a:rPr>
              <a:t> </a:t>
            </a:r>
            <a:r>
              <a:rPr lang="fr-CA" dirty="0">
                <a:latin typeface="Arial" charset="0"/>
                <a:sym typeface="Symbol" panose="05050102010706020507" pitchFamily="18" charset="2"/>
              </a:rPr>
              <a:t></a:t>
            </a:r>
            <a:r>
              <a:rPr lang="fr-CA" dirty="0">
                <a:latin typeface="Arial" charset="0"/>
                <a:sym typeface="Wingdings" pitchFamily="2" charset="2"/>
              </a:rPr>
              <a:t> taille  </a:t>
            </a:r>
            <a:r>
              <a:rPr lang="fr-CA" dirty="0">
                <a:latin typeface="Arial" charset="0"/>
                <a:sym typeface="Symbol"/>
              </a:rPr>
              <a:t></a:t>
            </a:r>
            <a:r>
              <a:rPr lang="fr-CA" dirty="0">
                <a:latin typeface="Arial" charset="0"/>
                <a:sym typeface="Wingdings" pitchFamily="2" charset="2"/>
              </a:rPr>
              <a:t> vitesse</a:t>
            </a:r>
            <a:endParaRPr lang="fr-CA" dirty="0">
              <a:latin typeface="Arial" charset="0"/>
            </a:endParaRPr>
          </a:p>
          <a:p>
            <a:pPr marL="441325" lvl="1" indent="-166688">
              <a:spcBef>
                <a:spcPts val="900"/>
              </a:spcBef>
              <a:buSzPct val="80000"/>
              <a:buFont typeface="Wingdings" pitchFamily="2" charset="2"/>
              <a:buChar char="§"/>
              <a:tabLst>
                <a:tab pos="1371600" algn="l"/>
              </a:tabLst>
            </a:pPr>
            <a:r>
              <a:rPr lang="fr-CA" b="1" i="1" dirty="0">
                <a:latin typeface="Arial" charset="0"/>
              </a:rPr>
              <a:t>Perméabilité membranaire</a:t>
            </a:r>
            <a:r>
              <a:rPr lang="fr-CA" b="1" dirty="0">
                <a:latin typeface="Arial" charset="0"/>
              </a:rPr>
              <a:t>: </a:t>
            </a:r>
            <a:r>
              <a:rPr lang="fr-CA" dirty="0">
                <a:latin typeface="Arial" charset="0"/>
                <a:sym typeface="Symbol"/>
              </a:rPr>
              <a:t></a:t>
            </a:r>
            <a:r>
              <a:rPr lang="fr-CA" dirty="0">
                <a:latin typeface="Arial" charset="0"/>
                <a:sym typeface="Wingdings" pitchFamily="2" charset="2"/>
              </a:rPr>
              <a:t> perméabilité  </a:t>
            </a:r>
            <a:r>
              <a:rPr lang="fr-CA" dirty="0">
                <a:latin typeface="Arial" charset="0"/>
                <a:sym typeface="Symbol"/>
              </a:rPr>
              <a:t></a:t>
            </a:r>
            <a:r>
              <a:rPr lang="fr-CA" dirty="0">
                <a:latin typeface="Arial" charset="0"/>
                <a:sym typeface="Wingdings" pitchFamily="2" charset="2"/>
              </a:rPr>
              <a:t> </a:t>
            </a:r>
            <a:r>
              <a:rPr lang="fr-CA" dirty="0">
                <a:latin typeface="Arial" charset="0"/>
              </a:rPr>
              <a:t>vitesse</a:t>
            </a:r>
          </a:p>
        </p:txBody>
      </p:sp>
      <p:pic>
        <p:nvPicPr>
          <p:cNvPr id="9" name="Picture 9" descr="03-06Diffusion_L.jpg"/>
          <p:cNvPicPr>
            <a:picLocks noGrp="1" noChangeAspect="1" noChangeArrowheads="1"/>
          </p:cNvPicPr>
          <p:nvPr>
            <p:ph/>
          </p:nvPr>
        </p:nvPicPr>
        <p:blipFill rotWithShape="1">
          <a:blip r:embed="rId3" cstate="print"/>
          <a:srcRect t="-2" b="16970"/>
          <a:stretch/>
        </p:blipFill>
        <p:spPr>
          <a:xfrm>
            <a:off x="5683773" y="301488"/>
            <a:ext cx="3384027" cy="2052000"/>
          </a:xfrm>
        </p:spPr>
      </p:pic>
      <p:sp>
        <p:nvSpPr>
          <p:cNvPr id="11" name="Right Arrow 10"/>
          <p:cNvSpPr/>
          <p:nvPr/>
        </p:nvSpPr>
        <p:spPr bwMode="auto">
          <a:xfrm>
            <a:off x="7131526" y="1297296"/>
            <a:ext cx="432000" cy="216000"/>
          </a:xfrm>
          <a:prstGeom prst="rightArrow">
            <a:avLst/>
          </a:prstGeom>
          <a:solidFill>
            <a:schemeClr val="accent2"/>
          </a:solidFill>
          <a:ln>
            <a:solidFill>
              <a:srgbClr val="0000FF"/>
            </a:solidFill>
          </a:ln>
        </p:spPr>
        <p:txBody>
          <a:bodyPr wrap="none" rtlCol="0" fromWordArt="1" anchor="ctr" anchorCtr="0">
            <a:prstTxWarp prst="textPlain">
              <a:avLst>
                <a:gd name="adj" fmla="val 50000"/>
              </a:avLst>
            </a:prstTxWarp>
          </a:bodyPr>
          <a:lstStyle/>
          <a:p>
            <a:pPr algn="ctr"/>
            <a:endParaRPr lang="fr-CA" sz="3600" kern="0" dirty="0">
              <a:ln w="19050">
                <a:solidFill>
                  <a:srgbClr val="0066CC"/>
                </a:solidFill>
                <a:round/>
                <a:headEnd/>
                <a:tailEnd/>
              </a:ln>
              <a:solidFill>
                <a:srgbClr val="0066CC"/>
              </a:solidFill>
              <a:latin typeface="Calibri" panose="020F0502020204030204" pitchFamily="34" charset="0"/>
              <a:cs typeface="Arial" panose="020B0604020202020204" pitchFamily="34" charset="0"/>
            </a:endParaRPr>
          </a:p>
        </p:txBody>
      </p:sp>
      <p:sp>
        <p:nvSpPr>
          <p:cNvPr id="6" name="Rectangle 5"/>
          <p:cNvSpPr/>
          <p:nvPr/>
        </p:nvSpPr>
        <p:spPr>
          <a:xfrm>
            <a:off x="505558" y="3072944"/>
            <a:ext cx="8254800" cy="2139047"/>
          </a:xfrm>
          <a:prstGeom prst="rect">
            <a:avLst/>
          </a:prstGeom>
        </p:spPr>
        <p:txBody>
          <a:bodyPr wrap="square">
            <a:spAutoFit/>
          </a:bodyPr>
          <a:lstStyle/>
          <a:p>
            <a:pPr>
              <a:spcAft>
                <a:spcPts val="0"/>
              </a:spcAft>
            </a:pPr>
            <a:r>
              <a:rPr lang="fr-FR" sz="1600" dirty="0">
                <a:solidFill>
                  <a:srgbClr val="000000"/>
                </a:solidFill>
                <a:latin typeface="Arial" panose="020B0604020202020204" pitchFamily="34" charset="0"/>
                <a:ea typeface="Times New Roman"/>
                <a:cs typeface="Arial" panose="020B0604020202020204" pitchFamily="34" charset="0"/>
              </a:rPr>
              <a:t>NOTES :</a:t>
            </a:r>
          </a:p>
          <a:p>
            <a:pPr>
              <a:spcBef>
                <a:spcPts val="300"/>
              </a:spcBef>
              <a:spcAft>
                <a:spcPts val="0"/>
              </a:spcAft>
            </a:pPr>
            <a:r>
              <a:rPr lang="fr-FR" sz="1600" dirty="0">
                <a:solidFill>
                  <a:srgbClr val="000000"/>
                </a:solidFill>
                <a:latin typeface="Arial" panose="020B0604020202020204" pitchFamily="34" charset="0"/>
                <a:ea typeface="Times New Roman"/>
                <a:cs typeface="Arial" panose="020B0604020202020204" pitchFamily="34" charset="0"/>
              </a:rPr>
              <a:t>La </a:t>
            </a:r>
            <a:r>
              <a:rPr lang="fr-FR" sz="1600" u="sng" dirty="0">
                <a:solidFill>
                  <a:srgbClr val="000000"/>
                </a:solidFill>
                <a:latin typeface="Arial" panose="020B0604020202020204" pitchFamily="34" charset="0"/>
                <a:ea typeface="Times New Roman"/>
                <a:cs typeface="Arial" panose="020B0604020202020204" pitchFamily="34" charset="0"/>
              </a:rPr>
              <a:t>vitesse de diffusion</a:t>
            </a:r>
            <a:r>
              <a:rPr lang="fr-FR" sz="1600" dirty="0">
                <a:solidFill>
                  <a:srgbClr val="000000"/>
                </a:solidFill>
                <a:latin typeface="Arial" panose="020B0604020202020204" pitchFamily="34" charset="0"/>
                <a:ea typeface="Times New Roman"/>
                <a:cs typeface="Arial" panose="020B0604020202020204" pitchFamily="34" charset="0"/>
              </a:rPr>
              <a:t> est définie comme étant le nombre de molécules qui traversent une région donnée, ou une membrane, par unité de temps (et non une distance par unité de temps). Si le gradient de concentration est égal à zéro, il n’y a pas de mouvement net et la vitesse de diffusion est égale à zéro.</a:t>
            </a:r>
          </a:p>
          <a:p>
            <a:pPr lvl="0">
              <a:spcBef>
                <a:spcPts val="300"/>
              </a:spcBef>
              <a:spcAft>
                <a:spcPts val="0"/>
              </a:spcAft>
              <a:buSzPts val="1000"/>
            </a:pPr>
            <a:r>
              <a:rPr lang="fr-FR" sz="1600" dirty="0">
                <a:solidFill>
                  <a:srgbClr val="000000"/>
                </a:solidFill>
                <a:latin typeface="Arial" panose="020B0604020202020204" pitchFamily="34" charset="0"/>
                <a:ea typeface="Times New Roman"/>
                <a:cs typeface="Arial" panose="020B0604020202020204" pitchFamily="34" charset="0"/>
              </a:rPr>
              <a:t>La </a:t>
            </a:r>
            <a:r>
              <a:rPr lang="fr-FR" sz="1600" u="sng" dirty="0">
                <a:solidFill>
                  <a:srgbClr val="000000"/>
                </a:solidFill>
                <a:latin typeface="Arial" panose="020B0604020202020204" pitchFamily="34" charset="0"/>
                <a:ea typeface="Times New Roman"/>
                <a:cs typeface="Arial" panose="020B0604020202020204" pitchFamily="34" charset="0"/>
              </a:rPr>
              <a:t>perméabilité membranaire</a:t>
            </a:r>
            <a:r>
              <a:rPr lang="fr-FR" sz="1600" dirty="0">
                <a:solidFill>
                  <a:srgbClr val="000000"/>
                </a:solidFill>
                <a:latin typeface="Arial" panose="020B0604020202020204" pitchFamily="34" charset="0"/>
                <a:ea typeface="Times New Roman"/>
                <a:cs typeface="Arial" panose="020B0604020202020204" pitchFamily="34" charset="0"/>
              </a:rPr>
              <a:t> est la facilité avec laquelle des molécules ou ions peuvent traverser une membrane. La perméabilité dépend des propriétés de la membrane: plus la perméabilité est grande, plus la diffusion nette à travers la membrane est grande.</a:t>
            </a:r>
            <a:endParaRPr lang="fr-CA" sz="1600" dirty="0">
              <a:solidFill>
                <a:srgbClr val="000000"/>
              </a:solidFill>
              <a:latin typeface="Arial" panose="020B0604020202020204" pitchFamily="34" charset="0"/>
              <a:ea typeface="Times New Roman"/>
              <a:cs typeface="Arial" panose="020B0604020202020204" pitchFamily="34" charset="0"/>
            </a:endParaRPr>
          </a:p>
        </p:txBody>
      </p:sp>
      <p:sp>
        <p:nvSpPr>
          <p:cNvPr id="15" name="Text Box 31"/>
          <p:cNvSpPr txBox="1">
            <a:spLocks noChangeArrowheads="1"/>
          </p:cNvSpPr>
          <p:nvPr/>
        </p:nvSpPr>
        <p:spPr bwMode="auto">
          <a:xfrm>
            <a:off x="612678" y="5388818"/>
            <a:ext cx="7918644" cy="588506"/>
          </a:xfrm>
          <a:prstGeom prst="rect">
            <a:avLst/>
          </a:prstGeom>
          <a:noFill/>
          <a:ln w="9525">
            <a:solidFill>
              <a:srgbClr val="FF0000"/>
            </a:solidFill>
            <a:miter lim="800000"/>
            <a:headEnd/>
            <a:tailEnd/>
          </a:ln>
        </p:spPr>
        <p:txBody>
          <a:bodyPr wrap="square" tIns="36000" bIns="36000" anchor="ctr" anchorCtr="0">
            <a:noAutofit/>
          </a:bodyPr>
          <a:lstStyle/>
          <a:p>
            <a:pPr eaLnBrk="1" hangingPunct="1">
              <a:spcBef>
                <a:spcPts val="0"/>
              </a:spcBef>
            </a:pPr>
            <a:r>
              <a:rPr lang="fr-FR" sz="1600" dirty="0">
                <a:solidFill>
                  <a:srgbClr val="FF0000"/>
                </a:solidFill>
                <a:latin typeface="Calibri" panose="020F0502020204030204" pitchFamily="34" charset="0"/>
                <a:cs typeface="Arial" charset="0"/>
              </a:rPr>
              <a:t>Parmi les 4 facteurs, lequel ou lesquels sont utilisés par les cellules pour contrôler la vitesse de diffusion des solutés à travers leur membrane ?</a:t>
            </a:r>
          </a:p>
        </p:txBody>
      </p:sp>
    </p:spTree>
    <p:extLst>
      <p:ext uri="{BB962C8B-B14F-4D97-AF65-F5344CB8AC3E}">
        <p14:creationId xmlns:p14="http://schemas.microsoft.com/office/powerpoint/2010/main" val="14636278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6" name="Picture 10" descr="03-07DiffuPlasMem_LE.jpg"/>
          <p:cNvPicPr>
            <a:picLocks noGrp="1" noChangeAspect="1" noChangeArrowheads="1"/>
          </p:cNvPicPr>
          <p:nvPr>
            <p:ph/>
          </p:nvPr>
        </p:nvPicPr>
        <p:blipFill rotWithShape="1">
          <a:blip r:embed="rId3" cstate="print"/>
          <a:srcRect b="30544"/>
          <a:stretch/>
        </p:blipFill>
        <p:spPr>
          <a:xfrm>
            <a:off x="746760" y="1261109"/>
            <a:ext cx="8278654" cy="2448000"/>
          </a:xfrm>
        </p:spPr>
      </p:pic>
      <p:sp>
        <p:nvSpPr>
          <p:cNvPr id="8195" name="Text Box 7"/>
          <p:cNvSpPr txBox="1">
            <a:spLocks noChangeArrowheads="1"/>
          </p:cNvSpPr>
          <p:nvPr/>
        </p:nvSpPr>
        <p:spPr bwMode="auto">
          <a:xfrm>
            <a:off x="98264" y="3345313"/>
            <a:ext cx="705890" cy="338554"/>
          </a:xfrm>
          <a:prstGeom prst="rect">
            <a:avLst/>
          </a:prstGeom>
          <a:noFill/>
          <a:ln w="6350">
            <a:solidFill>
              <a:srgbClr val="0000FF"/>
            </a:solidFill>
            <a:miter lim="800000"/>
            <a:headEnd/>
            <a:tailEnd/>
          </a:ln>
        </p:spPr>
        <p:txBody>
          <a:bodyPr wrap="none" lIns="36000" rIns="36000">
            <a:spAutoFit/>
          </a:bodyPr>
          <a:lstStyle/>
          <a:p>
            <a:pPr eaLnBrk="0" hangingPunct="0"/>
            <a:r>
              <a:rPr lang="fr-CA" sz="1600" dirty="0">
                <a:solidFill>
                  <a:srgbClr val="3333FF"/>
                </a:solidFill>
              </a:rPr>
              <a:t>Fig. 3.7</a:t>
            </a:r>
            <a:endParaRPr lang="en-US" sz="1600" dirty="0">
              <a:solidFill>
                <a:srgbClr val="3333FF"/>
              </a:solidFill>
            </a:endParaRPr>
          </a:p>
        </p:txBody>
      </p:sp>
      <p:sp>
        <p:nvSpPr>
          <p:cNvPr id="8197" name="Text Box 12"/>
          <p:cNvSpPr txBox="1">
            <a:spLocks noChangeArrowheads="1"/>
          </p:cNvSpPr>
          <p:nvPr/>
        </p:nvSpPr>
        <p:spPr bwMode="auto">
          <a:xfrm>
            <a:off x="8460740" y="2558096"/>
            <a:ext cx="633412" cy="304800"/>
          </a:xfrm>
          <a:prstGeom prst="rect">
            <a:avLst/>
          </a:prstGeom>
          <a:noFill/>
          <a:ln w="9525">
            <a:noFill/>
            <a:miter lim="800000"/>
            <a:headEnd/>
            <a:tailEnd/>
          </a:ln>
        </p:spPr>
        <p:txBody>
          <a:bodyPr lIns="0" tIns="0" rIns="0" bIns="0">
            <a:spAutoFit/>
          </a:bodyPr>
          <a:lstStyle/>
          <a:p>
            <a:pPr eaLnBrk="0" hangingPunct="0"/>
            <a:r>
              <a:rPr lang="fr-CA" sz="1000" b="1" dirty="0">
                <a:latin typeface="Arial" charset="0"/>
              </a:rPr>
              <a:t>Bicouche lipidique</a:t>
            </a:r>
            <a:endParaRPr lang="en-US" sz="1000" b="1" dirty="0">
              <a:latin typeface="Arial" charset="0"/>
            </a:endParaRPr>
          </a:p>
        </p:txBody>
      </p:sp>
      <p:sp>
        <p:nvSpPr>
          <p:cNvPr id="8198" name="Text Box 13"/>
          <p:cNvSpPr txBox="1">
            <a:spLocks noChangeArrowheads="1"/>
          </p:cNvSpPr>
          <p:nvPr/>
        </p:nvSpPr>
        <p:spPr bwMode="auto">
          <a:xfrm>
            <a:off x="1632268" y="1520189"/>
            <a:ext cx="801687" cy="304800"/>
          </a:xfrm>
          <a:prstGeom prst="rect">
            <a:avLst/>
          </a:prstGeom>
          <a:noFill/>
          <a:ln w="9525">
            <a:noFill/>
            <a:miter lim="800000"/>
            <a:headEnd/>
            <a:tailEnd/>
          </a:ln>
        </p:spPr>
        <p:txBody>
          <a:bodyPr lIns="0" tIns="0" rIns="0" bIns="0">
            <a:spAutoFit/>
          </a:bodyPr>
          <a:lstStyle/>
          <a:p>
            <a:pPr eaLnBrk="0" hangingPunct="0"/>
            <a:r>
              <a:rPr lang="fr-CA" sz="1000" b="1" dirty="0">
                <a:latin typeface="Arial" charset="0"/>
              </a:rPr>
              <a:t>Solutés liposolubles</a:t>
            </a:r>
            <a:endParaRPr lang="en-US" sz="1000" b="1" dirty="0">
              <a:latin typeface="Arial" charset="0"/>
            </a:endParaRPr>
          </a:p>
        </p:txBody>
      </p:sp>
      <p:sp>
        <p:nvSpPr>
          <p:cNvPr id="8199" name="Text Box 14"/>
          <p:cNvSpPr txBox="1">
            <a:spLocks noChangeArrowheads="1"/>
          </p:cNvSpPr>
          <p:nvPr/>
        </p:nvSpPr>
        <p:spPr bwMode="auto">
          <a:xfrm>
            <a:off x="3809683" y="1445576"/>
            <a:ext cx="801687" cy="461665"/>
          </a:xfrm>
          <a:prstGeom prst="rect">
            <a:avLst/>
          </a:prstGeom>
          <a:noFill/>
          <a:ln w="9525">
            <a:noFill/>
            <a:miter lim="800000"/>
            <a:headEnd/>
            <a:tailEnd/>
          </a:ln>
        </p:spPr>
        <p:txBody>
          <a:bodyPr lIns="0" tIns="0" rIns="0" bIns="0">
            <a:spAutoFit/>
          </a:bodyPr>
          <a:lstStyle/>
          <a:p>
            <a:pPr algn="ctr" eaLnBrk="0" hangingPunct="0"/>
            <a:r>
              <a:rPr lang="fr-CA" sz="1000" b="1" dirty="0">
                <a:latin typeface="Arial" charset="0"/>
              </a:rPr>
              <a:t>Solutés non liposolubles (ex. glucose)</a:t>
            </a:r>
            <a:endParaRPr lang="en-US" sz="1000" b="1" dirty="0">
              <a:latin typeface="Arial" charset="0"/>
            </a:endParaRPr>
          </a:p>
        </p:txBody>
      </p:sp>
      <p:sp>
        <p:nvSpPr>
          <p:cNvPr id="8200" name="Text Box 15"/>
          <p:cNvSpPr txBox="1">
            <a:spLocks noChangeArrowheads="1"/>
          </p:cNvSpPr>
          <p:nvPr/>
        </p:nvSpPr>
        <p:spPr bwMode="auto">
          <a:xfrm>
            <a:off x="5828030" y="1406206"/>
            <a:ext cx="1073150" cy="461665"/>
          </a:xfrm>
          <a:prstGeom prst="rect">
            <a:avLst/>
          </a:prstGeom>
          <a:noFill/>
          <a:ln w="9525">
            <a:noFill/>
            <a:miter lim="800000"/>
            <a:headEnd/>
            <a:tailEnd/>
          </a:ln>
        </p:spPr>
        <p:txBody>
          <a:bodyPr wrap="square" lIns="0" tIns="0" rIns="0" bIns="0">
            <a:spAutoFit/>
          </a:bodyPr>
          <a:lstStyle/>
          <a:p>
            <a:pPr eaLnBrk="0" hangingPunct="0"/>
            <a:r>
              <a:rPr lang="fr-CA" sz="1000" b="1" dirty="0">
                <a:latin typeface="Arial" charset="0"/>
              </a:rPr>
              <a:t>Petits solutés non liposolubles</a:t>
            </a:r>
          </a:p>
          <a:p>
            <a:pPr eaLnBrk="0" hangingPunct="0"/>
            <a:r>
              <a:rPr lang="fr-CA" sz="1000" b="1" dirty="0">
                <a:latin typeface="Arial" charset="0"/>
              </a:rPr>
              <a:t>(ions)</a:t>
            </a:r>
            <a:endParaRPr lang="en-US" sz="1000" b="1" dirty="0">
              <a:latin typeface="Arial" charset="0"/>
            </a:endParaRPr>
          </a:p>
        </p:txBody>
      </p:sp>
      <p:sp>
        <p:nvSpPr>
          <p:cNvPr id="8201" name="Text Box 16"/>
          <p:cNvSpPr txBox="1">
            <a:spLocks noChangeArrowheads="1"/>
          </p:cNvSpPr>
          <p:nvPr/>
        </p:nvSpPr>
        <p:spPr bwMode="auto">
          <a:xfrm>
            <a:off x="7628573" y="1511299"/>
            <a:ext cx="801687" cy="304800"/>
          </a:xfrm>
          <a:prstGeom prst="rect">
            <a:avLst/>
          </a:prstGeom>
          <a:noFill/>
          <a:ln w="9525">
            <a:noFill/>
            <a:miter lim="800000"/>
            <a:headEnd/>
            <a:tailEnd/>
          </a:ln>
        </p:spPr>
        <p:txBody>
          <a:bodyPr lIns="0" tIns="0" rIns="0" bIns="0">
            <a:spAutoFit/>
          </a:bodyPr>
          <a:lstStyle/>
          <a:p>
            <a:pPr eaLnBrk="0" hangingPunct="0"/>
            <a:r>
              <a:rPr lang="fr-CA" sz="1000" b="1" dirty="0">
                <a:latin typeface="Arial" charset="0"/>
              </a:rPr>
              <a:t>Molécules d’eau</a:t>
            </a:r>
            <a:endParaRPr lang="en-US" sz="1000" b="1" dirty="0">
              <a:latin typeface="Arial" charset="0"/>
            </a:endParaRPr>
          </a:p>
        </p:txBody>
      </p:sp>
      <p:sp>
        <p:nvSpPr>
          <p:cNvPr id="8202" name="Text Box 17"/>
          <p:cNvSpPr txBox="1">
            <a:spLocks noChangeArrowheads="1"/>
          </p:cNvSpPr>
          <p:nvPr/>
        </p:nvSpPr>
        <p:spPr bwMode="auto">
          <a:xfrm>
            <a:off x="833865" y="1099111"/>
            <a:ext cx="1486304" cy="292388"/>
          </a:xfrm>
          <a:prstGeom prst="rect">
            <a:avLst/>
          </a:prstGeom>
          <a:noFill/>
          <a:ln w="9525">
            <a:noFill/>
            <a:miter lim="800000"/>
            <a:headEnd/>
            <a:tailEnd/>
          </a:ln>
        </p:spPr>
        <p:txBody>
          <a:bodyPr wrap="none">
            <a:spAutoFit/>
          </a:bodyPr>
          <a:lstStyle/>
          <a:p>
            <a:pPr algn="ctr" eaLnBrk="0" hangingPunct="0"/>
            <a:r>
              <a:rPr lang="fr-CA" sz="1300" b="1" dirty="0">
                <a:latin typeface="Arial" charset="0"/>
              </a:rPr>
              <a:t>Diffusion simple</a:t>
            </a:r>
            <a:endParaRPr lang="en-US" sz="1300" b="1" dirty="0">
              <a:latin typeface="Arial" charset="0"/>
            </a:endParaRPr>
          </a:p>
        </p:txBody>
      </p:sp>
      <p:sp>
        <p:nvSpPr>
          <p:cNvPr id="8203" name="Text Box 18"/>
          <p:cNvSpPr txBox="1">
            <a:spLocks noChangeArrowheads="1"/>
          </p:cNvSpPr>
          <p:nvPr/>
        </p:nvSpPr>
        <p:spPr bwMode="auto">
          <a:xfrm>
            <a:off x="2791850" y="707179"/>
            <a:ext cx="2024063" cy="692497"/>
          </a:xfrm>
          <a:prstGeom prst="rect">
            <a:avLst/>
          </a:prstGeom>
          <a:noFill/>
          <a:ln w="9525">
            <a:noFill/>
            <a:miter lim="800000"/>
            <a:headEnd/>
            <a:tailEnd/>
          </a:ln>
        </p:spPr>
        <p:txBody>
          <a:bodyPr>
            <a:spAutoFit/>
          </a:bodyPr>
          <a:lstStyle/>
          <a:p>
            <a:pPr algn="ctr" eaLnBrk="0" hangingPunct="0"/>
            <a:r>
              <a:rPr lang="fr-CA" sz="1300" b="1" dirty="0">
                <a:latin typeface="Arial" charset="0"/>
              </a:rPr>
              <a:t>Diffusion facilitée par transporteurs transmembranaires</a:t>
            </a:r>
            <a:endParaRPr lang="en-US" sz="1300" b="1" dirty="0">
              <a:latin typeface="Arial" charset="0"/>
            </a:endParaRPr>
          </a:p>
        </p:txBody>
      </p:sp>
      <p:sp>
        <p:nvSpPr>
          <p:cNvPr id="8204" name="Text Box 19"/>
          <p:cNvSpPr txBox="1">
            <a:spLocks noChangeArrowheads="1"/>
          </p:cNvSpPr>
          <p:nvPr/>
        </p:nvSpPr>
        <p:spPr bwMode="auto">
          <a:xfrm>
            <a:off x="4963160" y="707180"/>
            <a:ext cx="1836737" cy="692497"/>
          </a:xfrm>
          <a:prstGeom prst="rect">
            <a:avLst/>
          </a:prstGeom>
          <a:noFill/>
          <a:ln w="9525">
            <a:noFill/>
            <a:miter lim="800000"/>
            <a:headEnd/>
            <a:tailEnd/>
          </a:ln>
        </p:spPr>
        <p:txBody>
          <a:bodyPr>
            <a:spAutoFit/>
          </a:bodyPr>
          <a:lstStyle/>
          <a:p>
            <a:pPr algn="ctr" eaLnBrk="0" hangingPunct="0"/>
            <a:r>
              <a:rPr lang="fr-CA" sz="1300" b="1" dirty="0">
                <a:latin typeface="Arial" charset="0"/>
              </a:rPr>
              <a:t>Diffusion facilitée par canaux protéiques</a:t>
            </a:r>
            <a:endParaRPr lang="en-US" sz="1300" b="1" dirty="0">
              <a:latin typeface="Arial" charset="0"/>
            </a:endParaRPr>
          </a:p>
        </p:txBody>
      </p:sp>
      <p:sp>
        <p:nvSpPr>
          <p:cNvPr id="8205" name="Text Box 20"/>
          <p:cNvSpPr txBox="1">
            <a:spLocks noChangeArrowheads="1"/>
          </p:cNvSpPr>
          <p:nvPr/>
        </p:nvSpPr>
        <p:spPr bwMode="auto">
          <a:xfrm>
            <a:off x="6767102" y="907234"/>
            <a:ext cx="1693092" cy="492443"/>
          </a:xfrm>
          <a:prstGeom prst="rect">
            <a:avLst/>
          </a:prstGeom>
          <a:noFill/>
          <a:ln w="9525">
            <a:noFill/>
            <a:miter lim="800000"/>
            <a:headEnd/>
            <a:tailEnd/>
          </a:ln>
        </p:spPr>
        <p:txBody>
          <a:bodyPr wrap="none">
            <a:spAutoFit/>
          </a:bodyPr>
          <a:lstStyle/>
          <a:p>
            <a:pPr algn="ctr" eaLnBrk="0" hangingPunct="0"/>
            <a:r>
              <a:rPr lang="fr-CA" sz="1300" b="1" dirty="0">
                <a:latin typeface="Arial" charset="0"/>
              </a:rPr>
              <a:t>Osmose</a:t>
            </a:r>
          </a:p>
          <a:p>
            <a:pPr algn="ctr" eaLnBrk="0" hangingPunct="0"/>
            <a:r>
              <a:rPr lang="fr-CA" sz="1300" b="1" dirty="0">
                <a:latin typeface="Arial" charset="0"/>
              </a:rPr>
              <a:t>(Diffusion de l’eau)</a:t>
            </a:r>
            <a:endParaRPr lang="en-US" sz="1300" b="1" dirty="0">
              <a:latin typeface="Arial" charset="0"/>
            </a:endParaRPr>
          </a:p>
        </p:txBody>
      </p:sp>
      <p:sp>
        <p:nvSpPr>
          <p:cNvPr id="16" name="Text Box 16"/>
          <p:cNvSpPr txBox="1">
            <a:spLocks noChangeArrowheads="1"/>
          </p:cNvSpPr>
          <p:nvPr/>
        </p:nvSpPr>
        <p:spPr bwMode="auto">
          <a:xfrm>
            <a:off x="6648020" y="3161689"/>
            <a:ext cx="833119" cy="153888"/>
          </a:xfrm>
          <a:prstGeom prst="rect">
            <a:avLst/>
          </a:prstGeom>
          <a:noFill/>
          <a:ln w="9525">
            <a:noFill/>
            <a:miter lim="800000"/>
            <a:headEnd/>
            <a:tailEnd/>
          </a:ln>
        </p:spPr>
        <p:txBody>
          <a:bodyPr wrap="square" lIns="0" tIns="0" rIns="0" bIns="0">
            <a:spAutoFit/>
          </a:bodyPr>
          <a:lstStyle/>
          <a:p>
            <a:pPr eaLnBrk="0" hangingPunct="0"/>
            <a:r>
              <a:rPr lang="fr-CA" sz="1000" b="1" dirty="0">
                <a:latin typeface="Arial" charset="0"/>
              </a:rPr>
              <a:t>Aquaporine</a:t>
            </a:r>
            <a:endParaRPr lang="en-US" sz="1000" b="1" dirty="0">
              <a:latin typeface="Arial" charset="0"/>
            </a:endParaRPr>
          </a:p>
        </p:txBody>
      </p:sp>
      <p:cxnSp>
        <p:nvCxnSpPr>
          <p:cNvPr id="3" name="Straight Connector 2"/>
          <p:cNvCxnSpPr/>
          <p:nvPr/>
        </p:nvCxnSpPr>
        <p:spPr bwMode="auto">
          <a:xfrm flipV="1">
            <a:off x="7051172" y="2932644"/>
            <a:ext cx="209828" cy="203214"/>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22" name="Text Box 16"/>
          <p:cNvSpPr txBox="1">
            <a:spLocks noChangeArrowheads="1"/>
          </p:cNvSpPr>
          <p:nvPr/>
        </p:nvSpPr>
        <p:spPr bwMode="auto">
          <a:xfrm>
            <a:off x="5108371" y="3070992"/>
            <a:ext cx="582012" cy="307777"/>
          </a:xfrm>
          <a:prstGeom prst="rect">
            <a:avLst/>
          </a:prstGeom>
          <a:noFill/>
          <a:ln w="9525">
            <a:noFill/>
            <a:miter lim="800000"/>
            <a:headEnd/>
            <a:tailEnd/>
          </a:ln>
        </p:spPr>
        <p:txBody>
          <a:bodyPr wrap="square" lIns="0" tIns="0" rIns="0" bIns="0">
            <a:spAutoFit/>
          </a:bodyPr>
          <a:lstStyle/>
          <a:p>
            <a:pPr eaLnBrk="0" hangingPunct="0"/>
            <a:r>
              <a:rPr lang="fr-CA" sz="1000" b="1" dirty="0">
                <a:latin typeface="Arial" charset="0"/>
              </a:rPr>
              <a:t>Canal ionique</a:t>
            </a:r>
            <a:endParaRPr lang="en-US" sz="1000" b="1" dirty="0">
              <a:latin typeface="Arial" charset="0"/>
            </a:endParaRPr>
          </a:p>
        </p:txBody>
      </p:sp>
      <p:cxnSp>
        <p:nvCxnSpPr>
          <p:cNvPr id="23" name="Straight Connector 22"/>
          <p:cNvCxnSpPr/>
          <p:nvPr/>
        </p:nvCxnSpPr>
        <p:spPr bwMode="auto">
          <a:xfrm flipV="1">
            <a:off x="5481042" y="2917404"/>
            <a:ext cx="266282" cy="280158"/>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2" name="TextBox 1"/>
          <p:cNvSpPr txBox="1"/>
          <p:nvPr/>
        </p:nvSpPr>
        <p:spPr>
          <a:xfrm>
            <a:off x="260131" y="604716"/>
            <a:ext cx="1433406" cy="461665"/>
          </a:xfrm>
          <a:prstGeom prst="rect">
            <a:avLst/>
          </a:prstGeom>
          <a:noFill/>
        </p:spPr>
        <p:txBody>
          <a:bodyPr wrap="none" rtlCol="0">
            <a:spAutoFit/>
          </a:bodyPr>
          <a:lstStyle/>
          <a:p>
            <a:r>
              <a:rPr lang="fr-CA" sz="2400" b="1" u="sng" dirty="0">
                <a:latin typeface="+mj-lt"/>
              </a:rPr>
              <a:t>4 types</a:t>
            </a:r>
            <a:r>
              <a:rPr lang="fr-CA" sz="2400" b="1" dirty="0">
                <a:latin typeface="+mj-lt"/>
              </a:rPr>
              <a:t> :</a:t>
            </a:r>
          </a:p>
        </p:txBody>
      </p:sp>
      <p:sp>
        <p:nvSpPr>
          <p:cNvPr id="5" name="Rectangle 4"/>
          <p:cNvSpPr/>
          <p:nvPr/>
        </p:nvSpPr>
        <p:spPr>
          <a:xfrm>
            <a:off x="773826" y="3800493"/>
            <a:ext cx="8224522" cy="2811915"/>
          </a:xfrm>
          <a:prstGeom prst="rect">
            <a:avLst/>
          </a:prstGeom>
        </p:spPr>
        <p:txBody>
          <a:bodyPr wrap="square" lIns="0" tIns="36000" rIns="0" bIns="36000">
            <a:spAutoFit/>
          </a:bodyPr>
          <a:lstStyle/>
          <a:p>
            <a:pPr marL="182563" lvl="0" indent="-182563">
              <a:spcBef>
                <a:spcPts val="600"/>
              </a:spcBef>
              <a:spcAft>
                <a:spcPts val="0"/>
              </a:spcAft>
              <a:buSzPct val="100000"/>
              <a:buFont typeface="Symbol"/>
              <a:buChar char=""/>
            </a:pPr>
            <a:r>
              <a:rPr lang="fr-CA" sz="1600" b="1" i="1" dirty="0">
                <a:solidFill>
                  <a:srgbClr val="000000"/>
                </a:solidFill>
                <a:latin typeface="Arial" panose="020B0604020202020204" pitchFamily="34" charset="0"/>
                <a:ea typeface="Times New Roman"/>
                <a:cs typeface="Arial" panose="020B0604020202020204" pitchFamily="34" charset="0"/>
              </a:rPr>
              <a:t>Diffusion simple</a:t>
            </a:r>
            <a:endParaRPr lang="fr-CA" sz="1600" dirty="0">
              <a:solidFill>
                <a:srgbClr val="000000"/>
              </a:solidFill>
              <a:latin typeface="Arial" panose="020B0604020202020204" pitchFamily="34" charset="0"/>
              <a:ea typeface="Times New Roman"/>
              <a:cs typeface="Arial" panose="020B0604020202020204" pitchFamily="34" charset="0"/>
            </a:endParaRPr>
          </a:p>
          <a:p>
            <a:pPr marL="365125" lvl="0" indent="-168275">
              <a:spcBef>
                <a:spcPts val="0"/>
              </a:spcBef>
              <a:spcAft>
                <a:spcPts val="0"/>
              </a:spcAft>
              <a:buSzPct val="100000"/>
              <a:buFont typeface="Arial" panose="020B0604020202020204" pitchFamily="34" charset="0"/>
              <a:buChar char="−"/>
            </a:pPr>
            <a:r>
              <a:rPr lang="fr-FR" sz="1500" dirty="0">
                <a:solidFill>
                  <a:srgbClr val="000000"/>
                </a:solidFill>
                <a:latin typeface="Arial" panose="020B0604020202020204" pitchFamily="34" charset="0"/>
                <a:ea typeface="Times New Roman"/>
                <a:cs typeface="Arial" panose="020B0604020202020204" pitchFamily="34" charset="0"/>
              </a:rPr>
              <a:t>Diffusion de substances qui passent directement à travers la bicouche lipidique.</a:t>
            </a:r>
            <a:endParaRPr lang="fr-CA" sz="1500" dirty="0">
              <a:solidFill>
                <a:srgbClr val="000000"/>
              </a:solidFill>
              <a:latin typeface="Arial" panose="020B0604020202020204" pitchFamily="34" charset="0"/>
              <a:ea typeface="Times New Roman"/>
              <a:cs typeface="Arial" panose="020B0604020202020204" pitchFamily="34" charset="0"/>
            </a:endParaRPr>
          </a:p>
          <a:p>
            <a:pPr marL="365125" lvl="0" indent="-168275">
              <a:spcBef>
                <a:spcPts val="0"/>
              </a:spcBef>
              <a:spcAft>
                <a:spcPts val="0"/>
              </a:spcAft>
              <a:buSzPct val="100000"/>
              <a:buFont typeface="Arial" panose="020B0604020202020204" pitchFamily="34" charset="0"/>
              <a:buChar char="−"/>
            </a:pPr>
            <a:r>
              <a:rPr lang="fr-FR" sz="1500" dirty="0">
                <a:solidFill>
                  <a:srgbClr val="000000"/>
                </a:solidFill>
                <a:latin typeface="Arial" panose="020B0604020202020204" pitchFamily="34" charset="0"/>
                <a:ea typeface="Times New Roman"/>
                <a:cs typeface="Arial" panose="020B0604020202020204" pitchFamily="34" charset="0"/>
              </a:rPr>
              <a:t>Mouvement des substances non polaires et liposolubles.</a:t>
            </a:r>
            <a:endParaRPr lang="fr-CA" sz="1500" dirty="0">
              <a:solidFill>
                <a:srgbClr val="000000"/>
              </a:solidFill>
              <a:latin typeface="Arial" panose="020B0604020202020204" pitchFamily="34" charset="0"/>
              <a:ea typeface="Times New Roman"/>
              <a:cs typeface="Arial" panose="020B0604020202020204" pitchFamily="34" charset="0"/>
            </a:endParaRPr>
          </a:p>
          <a:p>
            <a:pPr marL="363538" lvl="0">
              <a:spcBef>
                <a:spcPts val="0"/>
              </a:spcBef>
              <a:spcAft>
                <a:spcPts val="0"/>
              </a:spcAft>
              <a:buSzPct val="100000"/>
            </a:pPr>
            <a:r>
              <a:rPr lang="fr-FR" sz="1500" dirty="0">
                <a:solidFill>
                  <a:srgbClr val="000000"/>
                </a:solidFill>
                <a:latin typeface="Arial" panose="020B0604020202020204" pitchFamily="34" charset="0"/>
                <a:ea typeface="Times New Roman"/>
                <a:cs typeface="Arial" panose="020B0604020202020204" pitchFamily="34" charset="0"/>
              </a:rPr>
              <a:t>Ex.: O</a:t>
            </a:r>
            <a:r>
              <a:rPr lang="fr-FR" sz="1500" baseline="-25000" dirty="0">
                <a:solidFill>
                  <a:srgbClr val="000000"/>
                </a:solidFill>
                <a:latin typeface="Arial" panose="020B0604020202020204" pitchFamily="34" charset="0"/>
                <a:ea typeface="Times New Roman"/>
                <a:cs typeface="Arial" panose="020B0604020202020204" pitchFamily="34" charset="0"/>
              </a:rPr>
              <a:t>2</a:t>
            </a:r>
            <a:r>
              <a:rPr lang="fr-FR" sz="1500" dirty="0">
                <a:solidFill>
                  <a:srgbClr val="000000"/>
                </a:solidFill>
                <a:latin typeface="Arial" panose="020B0604020202020204" pitchFamily="34" charset="0"/>
                <a:ea typeface="Times New Roman"/>
                <a:cs typeface="Arial" panose="020B0604020202020204" pitchFamily="34" charset="0"/>
              </a:rPr>
              <a:t>, CO</a:t>
            </a:r>
            <a:r>
              <a:rPr lang="fr-FR" sz="1500" baseline="-25000" dirty="0">
                <a:solidFill>
                  <a:srgbClr val="000000"/>
                </a:solidFill>
                <a:latin typeface="Arial" panose="020B0604020202020204" pitchFamily="34" charset="0"/>
                <a:ea typeface="Times New Roman"/>
                <a:cs typeface="Arial" panose="020B0604020202020204" pitchFamily="34" charset="0"/>
              </a:rPr>
              <a:t>2</a:t>
            </a:r>
            <a:r>
              <a:rPr lang="fr-FR" sz="1500" dirty="0">
                <a:solidFill>
                  <a:srgbClr val="000000"/>
                </a:solidFill>
                <a:latin typeface="Arial" panose="020B0604020202020204" pitchFamily="34" charset="0"/>
                <a:ea typeface="Times New Roman"/>
                <a:cs typeface="Arial" panose="020B0604020202020204" pitchFamily="34" charset="0"/>
              </a:rPr>
              <a:t>, stéroïdes, vitamines liposolubles, alcool…</a:t>
            </a:r>
          </a:p>
          <a:p>
            <a:pPr marL="182563" lvl="0" indent="-182563">
              <a:spcBef>
                <a:spcPts val="600"/>
              </a:spcBef>
              <a:spcAft>
                <a:spcPts val="0"/>
              </a:spcAft>
              <a:buSzPct val="100000"/>
              <a:buFont typeface="Symbol"/>
              <a:buChar char=""/>
            </a:pPr>
            <a:r>
              <a:rPr lang="fr-CA" sz="1600" b="1" i="1" dirty="0">
                <a:solidFill>
                  <a:srgbClr val="000000"/>
                </a:solidFill>
                <a:latin typeface="Arial" panose="020B0604020202020204" pitchFamily="34" charset="0"/>
                <a:ea typeface="Times New Roman"/>
                <a:cs typeface="Arial" panose="020B0604020202020204" pitchFamily="34" charset="0"/>
              </a:rPr>
              <a:t>Diffusion facilitée </a:t>
            </a:r>
            <a:r>
              <a:rPr lang="fr-CA" sz="1600" b="1" dirty="0">
                <a:solidFill>
                  <a:srgbClr val="000000"/>
                </a:solidFill>
                <a:latin typeface="Arial" panose="020B0604020202020204" pitchFamily="34" charset="0"/>
                <a:ea typeface="Times New Roman"/>
                <a:cs typeface="Arial" panose="020B0604020202020204" pitchFamily="34" charset="0"/>
              </a:rPr>
              <a:t>:</a:t>
            </a:r>
            <a:r>
              <a:rPr lang="fr-CA" sz="1600" b="1" i="1" dirty="0">
                <a:solidFill>
                  <a:srgbClr val="000000"/>
                </a:solidFill>
                <a:latin typeface="Arial" panose="020B0604020202020204" pitchFamily="34" charset="0"/>
                <a:ea typeface="Times New Roman"/>
                <a:cs typeface="Arial" panose="020B0604020202020204" pitchFamily="34" charset="0"/>
              </a:rPr>
              <a:t> </a:t>
            </a:r>
            <a:r>
              <a:rPr lang="fr-CA" sz="1600" b="1" dirty="0">
                <a:solidFill>
                  <a:srgbClr val="000000"/>
                </a:solidFill>
                <a:latin typeface="Arial" panose="020B0604020202020204" pitchFamily="34" charset="0"/>
                <a:ea typeface="Times New Roman"/>
                <a:cs typeface="Arial" panose="020B0604020202020204" pitchFamily="34" charset="0"/>
              </a:rPr>
              <a:t>i)</a:t>
            </a:r>
            <a:r>
              <a:rPr lang="fr-CA" sz="1600" b="1" i="1" dirty="0">
                <a:solidFill>
                  <a:srgbClr val="000000"/>
                </a:solidFill>
                <a:latin typeface="Arial" panose="020B0604020202020204" pitchFamily="34" charset="0"/>
                <a:ea typeface="Times New Roman"/>
                <a:cs typeface="Arial" panose="020B0604020202020204" pitchFamily="34" charset="0"/>
              </a:rPr>
              <a:t> par transporteurs membranaires, </a:t>
            </a:r>
            <a:r>
              <a:rPr lang="fr-CA" sz="1600" b="1" dirty="0">
                <a:solidFill>
                  <a:srgbClr val="000000"/>
                </a:solidFill>
                <a:latin typeface="Arial" panose="020B0604020202020204" pitchFamily="34" charset="0"/>
                <a:ea typeface="Times New Roman"/>
                <a:cs typeface="Arial" panose="020B0604020202020204" pitchFamily="34" charset="0"/>
              </a:rPr>
              <a:t>ii) </a:t>
            </a:r>
            <a:r>
              <a:rPr lang="fr-CA" sz="1600" b="1" i="1" dirty="0">
                <a:solidFill>
                  <a:srgbClr val="000000"/>
                </a:solidFill>
                <a:latin typeface="Arial" panose="020B0604020202020204" pitchFamily="34" charset="0"/>
                <a:ea typeface="Times New Roman"/>
                <a:cs typeface="Arial" panose="020B0604020202020204" pitchFamily="34" charset="0"/>
              </a:rPr>
              <a:t>par canaux protéiques</a:t>
            </a:r>
            <a:endParaRPr lang="fr-CA" sz="1600" dirty="0">
              <a:solidFill>
                <a:srgbClr val="000000"/>
              </a:solidFill>
              <a:latin typeface="Arial" panose="020B0604020202020204" pitchFamily="34" charset="0"/>
              <a:ea typeface="Times New Roman"/>
              <a:cs typeface="Arial" panose="020B0604020202020204" pitchFamily="34" charset="0"/>
            </a:endParaRPr>
          </a:p>
          <a:p>
            <a:pPr marL="365125" lvl="0" indent="-184150">
              <a:spcBef>
                <a:spcPts val="0"/>
              </a:spcBef>
              <a:spcAft>
                <a:spcPts val="0"/>
              </a:spcAft>
              <a:buSzPct val="100000"/>
              <a:buFont typeface="Arial" panose="020B0604020202020204" pitchFamily="34" charset="0"/>
              <a:buChar char="−"/>
            </a:pPr>
            <a:r>
              <a:rPr lang="fr-FR" sz="1500" dirty="0">
                <a:solidFill>
                  <a:srgbClr val="000000"/>
                </a:solidFill>
                <a:latin typeface="Arial" panose="020B0604020202020204" pitchFamily="34" charset="0"/>
                <a:ea typeface="Times New Roman"/>
                <a:cs typeface="Arial" panose="020B0604020202020204" pitchFamily="34" charset="0"/>
              </a:rPr>
              <a:t>Se font par l’intermédiaire de protéines transmembranaires.</a:t>
            </a:r>
          </a:p>
          <a:p>
            <a:pPr marL="365125" lvl="0" indent="-184150">
              <a:spcBef>
                <a:spcPts val="0"/>
              </a:spcBef>
              <a:spcAft>
                <a:spcPts val="0"/>
              </a:spcAft>
              <a:buSzPct val="100000"/>
              <a:buFont typeface="Arial" panose="020B0604020202020204" pitchFamily="34" charset="0"/>
              <a:buChar char="−"/>
            </a:pPr>
            <a:r>
              <a:rPr lang="fr-FR" sz="1500" dirty="0">
                <a:solidFill>
                  <a:srgbClr val="000000"/>
                </a:solidFill>
                <a:latin typeface="Arial"/>
                <a:ea typeface="Times New Roman"/>
              </a:rPr>
              <a:t>Permettent le mouvement d’ions et de petites molécules polaires.</a:t>
            </a:r>
          </a:p>
          <a:p>
            <a:pPr marL="363538" lvl="0">
              <a:spcBef>
                <a:spcPts val="0"/>
              </a:spcBef>
              <a:spcAft>
                <a:spcPts val="0"/>
              </a:spcAft>
              <a:buSzPct val="100000"/>
            </a:pPr>
            <a:r>
              <a:rPr lang="fr-FR" sz="1500" dirty="0">
                <a:solidFill>
                  <a:srgbClr val="000000"/>
                </a:solidFill>
                <a:latin typeface="Arial"/>
                <a:ea typeface="Times New Roman"/>
              </a:rPr>
              <a:t>Ex.: glucose, acides aminés, Na</a:t>
            </a:r>
            <a:r>
              <a:rPr lang="fr-FR" sz="1500" baseline="30000" dirty="0">
                <a:solidFill>
                  <a:srgbClr val="000000"/>
                </a:solidFill>
                <a:latin typeface="Arial"/>
                <a:ea typeface="Times New Roman"/>
              </a:rPr>
              <a:t>+</a:t>
            </a:r>
            <a:r>
              <a:rPr lang="fr-FR" sz="1500" dirty="0">
                <a:solidFill>
                  <a:srgbClr val="000000"/>
                </a:solidFill>
                <a:latin typeface="Arial"/>
                <a:ea typeface="Times New Roman"/>
              </a:rPr>
              <a:t>, Ca</a:t>
            </a:r>
            <a:r>
              <a:rPr lang="fr-FR" sz="1500" baseline="30000" dirty="0">
                <a:solidFill>
                  <a:srgbClr val="000000"/>
                </a:solidFill>
                <a:latin typeface="Arial"/>
                <a:ea typeface="Times New Roman"/>
              </a:rPr>
              <a:t>2+</a:t>
            </a:r>
            <a:r>
              <a:rPr lang="fr-FR" sz="1500" dirty="0">
                <a:solidFill>
                  <a:srgbClr val="000000"/>
                </a:solidFill>
                <a:latin typeface="Arial"/>
                <a:ea typeface="Times New Roman"/>
              </a:rPr>
              <a:t>, Cl</a:t>
            </a:r>
            <a:r>
              <a:rPr lang="fr-FR" sz="1500" baseline="30000" dirty="0">
                <a:solidFill>
                  <a:srgbClr val="000000"/>
                </a:solidFill>
                <a:latin typeface="Arial"/>
                <a:ea typeface="Times New Roman"/>
                <a:cs typeface="Arial"/>
              </a:rPr>
              <a:t>−</a:t>
            </a:r>
            <a:r>
              <a:rPr lang="fr-FR" sz="1500" dirty="0">
                <a:solidFill>
                  <a:srgbClr val="000000"/>
                </a:solidFill>
                <a:latin typeface="Arial"/>
                <a:ea typeface="Times New Roman"/>
                <a:cs typeface="Arial"/>
              </a:rPr>
              <a:t>, …</a:t>
            </a:r>
            <a:endParaRPr lang="fr-FR" sz="1500" dirty="0">
              <a:solidFill>
                <a:srgbClr val="000000"/>
              </a:solidFill>
              <a:latin typeface="Arial"/>
              <a:ea typeface="Times New Roman"/>
            </a:endParaRPr>
          </a:p>
          <a:p>
            <a:pPr marL="182563" lvl="0" indent="-182563">
              <a:spcBef>
                <a:spcPts val="600"/>
              </a:spcBef>
              <a:spcAft>
                <a:spcPts val="0"/>
              </a:spcAft>
              <a:buSzPct val="100000"/>
              <a:buFont typeface="Arial" panose="020B0604020202020204" pitchFamily="34" charset="0"/>
              <a:buChar char="•"/>
            </a:pPr>
            <a:r>
              <a:rPr lang="fr-FR" sz="1600" b="1" i="1" dirty="0">
                <a:solidFill>
                  <a:srgbClr val="000000"/>
                </a:solidFill>
                <a:latin typeface="Arial"/>
                <a:ea typeface="Times New Roman"/>
              </a:rPr>
              <a:t>Osmose </a:t>
            </a:r>
            <a:r>
              <a:rPr lang="fr-CA" sz="1600" b="1" dirty="0">
                <a:solidFill>
                  <a:srgbClr val="000000"/>
                </a:solidFill>
                <a:latin typeface="Arial" panose="020B0604020202020204" pitchFamily="34" charset="0"/>
                <a:ea typeface="Times New Roman"/>
                <a:cs typeface="Arial" panose="020B0604020202020204" pitchFamily="34" charset="0"/>
              </a:rPr>
              <a:t>:</a:t>
            </a:r>
            <a:r>
              <a:rPr lang="fr-CA" sz="1600" dirty="0">
                <a:solidFill>
                  <a:srgbClr val="000000"/>
                </a:solidFill>
                <a:latin typeface="Arial" panose="020B0604020202020204" pitchFamily="34" charset="0"/>
                <a:ea typeface="Times New Roman"/>
                <a:cs typeface="Arial" panose="020B0604020202020204" pitchFamily="34" charset="0"/>
              </a:rPr>
              <a:t> Diffusion du solvant (eau)</a:t>
            </a:r>
          </a:p>
          <a:p>
            <a:pPr marL="361950" lvl="0" indent="-179388">
              <a:spcBef>
                <a:spcPts val="0"/>
              </a:spcBef>
              <a:spcAft>
                <a:spcPts val="0"/>
              </a:spcAft>
              <a:buSzPct val="100000"/>
              <a:buFont typeface="Arial" panose="020B0604020202020204" pitchFamily="34" charset="0"/>
              <a:buChar char="−"/>
            </a:pPr>
            <a:r>
              <a:rPr lang="fr-CA" sz="1500" dirty="0">
                <a:solidFill>
                  <a:srgbClr val="000000"/>
                </a:solidFill>
                <a:latin typeface="Arial" panose="020B0604020202020204" pitchFamily="34" charset="0"/>
                <a:ea typeface="Times New Roman"/>
                <a:cs typeface="Arial" panose="020B0604020202020204" pitchFamily="34" charset="0"/>
              </a:rPr>
              <a:t>Se produit par diffusion simple et, surtout, par diffusion facilitée par canaux protéiques, les </a:t>
            </a:r>
            <a:r>
              <a:rPr lang="fr-CA" sz="1500" i="1" dirty="0">
                <a:solidFill>
                  <a:srgbClr val="000000"/>
                </a:solidFill>
                <a:latin typeface="Arial" panose="020B0604020202020204" pitchFamily="34" charset="0"/>
                <a:ea typeface="Times New Roman"/>
                <a:cs typeface="Arial" panose="020B0604020202020204" pitchFamily="34" charset="0"/>
              </a:rPr>
              <a:t>aquaporines.</a:t>
            </a:r>
            <a:endParaRPr lang="fr-CA" sz="1500" dirty="0">
              <a:solidFill>
                <a:srgbClr val="000000"/>
              </a:solidFill>
              <a:latin typeface="Arial" panose="020B0604020202020204" pitchFamily="34" charset="0"/>
              <a:ea typeface="Times New Roman"/>
              <a:cs typeface="Arial" panose="020B0604020202020204" pitchFamily="34" charset="0"/>
            </a:endParaRPr>
          </a:p>
        </p:txBody>
      </p:sp>
      <p:sp>
        <p:nvSpPr>
          <p:cNvPr id="4" name="Rectangle 3">
            <a:extLst>
              <a:ext uri="{FF2B5EF4-FFF2-40B4-BE49-F238E27FC236}">
                <a16:creationId xmlns:a16="http://schemas.microsoft.com/office/drawing/2014/main" id="{0135E3E9-50CC-4EA7-AAF8-7CC5C394523F}"/>
              </a:ext>
            </a:extLst>
          </p:cNvPr>
          <p:cNvSpPr>
            <a:spLocks noChangeArrowheads="1"/>
          </p:cNvSpPr>
          <p:nvPr/>
        </p:nvSpPr>
        <p:spPr bwMode="auto">
          <a:xfrm>
            <a:off x="247992" y="133031"/>
            <a:ext cx="8846160" cy="492443"/>
          </a:xfrm>
          <a:prstGeom prst="rect">
            <a:avLst/>
          </a:prstGeom>
          <a:noFill/>
          <a:ln w="9525">
            <a:noFill/>
            <a:miter lim="800000"/>
            <a:headEnd/>
            <a:tailEnd/>
          </a:ln>
        </p:spPr>
        <p:txBody>
          <a:bodyPr wrap="square">
            <a:spAutoFit/>
          </a:bodyPr>
          <a:lstStyle/>
          <a:p>
            <a:pPr marL="571500" indent="-571500" eaLnBrk="0" hangingPunct="0">
              <a:buAutoNum type="romanLcParenR" startAt="3"/>
            </a:pPr>
            <a:r>
              <a:rPr lang="fr-FR" sz="2600" b="1" u="sng" dirty="0">
                <a:solidFill>
                  <a:schemeClr val="accent2"/>
                </a:solidFill>
                <a:latin typeface="Arial" charset="0"/>
              </a:rPr>
              <a:t>Types de diffusion</a:t>
            </a:r>
            <a:endParaRPr lang="en-US" sz="2400" b="1" i="1" dirty="0">
              <a:solidFill>
                <a:schemeClr val="accent2"/>
              </a:solidFill>
              <a:latin typeface="Arial" charset="0"/>
            </a:endParaRPr>
          </a:p>
        </p:txBody>
      </p:sp>
    </p:spTree>
    <p:extLst>
      <p:ext uri="{BB962C8B-B14F-4D97-AF65-F5344CB8AC3E}">
        <p14:creationId xmlns:p14="http://schemas.microsoft.com/office/powerpoint/2010/main" val="32508201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6" name="Picture 10" descr="03-07DiffuPlasMem_LE.jpg"/>
          <p:cNvPicPr>
            <a:picLocks noGrp="1" noChangeAspect="1" noChangeArrowheads="1"/>
          </p:cNvPicPr>
          <p:nvPr>
            <p:ph/>
          </p:nvPr>
        </p:nvPicPr>
        <p:blipFill rotWithShape="1">
          <a:blip r:embed="rId3" cstate="print"/>
          <a:srcRect l="22300" t="-1" r="28999" b="28500"/>
          <a:stretch/>
        </p:blipFill>
        <p:spPr>
          <a:xfrm>
            <a:off x="5239848" y="1310719"/>
            <a:ext cx="3716811" cy="2829013"/>
          </a:xfrm>
        </p:spPr>
      </p:pic>
      <p:sp>
        <p:nvSpPr>
          <p:cNvPr id="8194" name="Rectangle 3"/>
          <p:cNvSpPr>
            <a:spLocks noChangeArrowheads="1"/>
          </p:cNvSpPr>
          <p:nvPr/>
        </p:nvSpPr>
        <p:spPr bwMode="auto">
          <a:xfrm>
            <a:off x="236218" y="173829"/>
            <a:ext cx="8224521" cy="461665"/>
          </a:xfrm>
          <a:prstGeom prst="rect">
            <a:avLst/>
          </a:prstGeom>
          <a:noFill/>
          <a:ln w="9525">
            <a:noFill/>
            <a:miter lim="800000"/>
            <a:headEnd/>
            <a:tailEnd/>
          </a:ln>
        </p:spPr>
        <p:txBody>
          <a:bodyPr wrap="square">
            <a:spAutoFit/>
          </a:bodyPr>
          <a:lstStyle/>
          <a:p>
            <a:pPr eaLnBrk="0" hangingPunct="0"/>
            <a:r>
              <a:rPr lang="fr-FR" sz="2400" b="1" u="sng" dirty="0">
                <a:solidFill>
                  <a:schemeClr val="accent2"/>
                </a:solidFill>
                <a:latin typeface="Arial" charset="0"/>
              </a:rPr>
              <a:t>Les deux types de diffusion facilitée</a:t>
            </a:r>
            <a:endParaRPr lang="en-US" sz="2400" b="1" i="1" u="sng" dirty="0">
              <a:solidFill>
                <a:schemeClr val="accent2"/>
              </a:solidFill>
              <a:latin typeface="Arial" charset="0"/>
            </a:endParaRPr>
          </a:p>
        </p:txBody>
      </p:sp>
      <p:sp>
        <p:nvSpPr>
          <p:cNvPr id="8199" name="Text Box 14"/>
          <p:cNvSpPr txBox="1">
            <a:spLocks noChangeArrowheads="1"/>
          </p:cNvSpPr>
          <p:nvPr/>
        </p:nvSpPr>
        <p:spPr bwMode="auto">
          <a:xfrm>
            <a:off x="6407456" y="1684026"/>
            <a:ext cx="755317" cy="153888"/>
          </a:xfrm>
          <a:prstGeom prst="rect">
            <a:avLst/>
          </a:prstGeom>
          <a:noFill/>
          <a:ln w="9525">
            <a:noFill/>
            <a:miter lim="800000"/>
            <a:headEnd/>
            <a:tailEnd/>
          </a:ln>
        </p:spPr>
        <p:txBody>
          <a:bodyPr wrap="square" lIns="0" tIns="0" rIns="0" bIns="0">
            <a:spAutoFit/>
          </a:bodyPr>
          <a:lstStyle/>
          <a:p>
            <a:pPr algn="ctr" eaLnBrk="0" hangingPunct="0"/>
            <a:r>
              <a:rPr lang="fr-CA" sz="1000" b="1" dirty="0">
                <a:latin typeface="Arial" charset="0"/>
              </a:rPr>
              <a:t>Ex.: glucose</a:t>
            </a:r>
            <a:endParaRPr lang="en-US" sz="1000" b="1" dirty="0">
              <a:latin typeface="Arial" charset="0"/>
            </a:endParaRPr>
          </a:p>
        </p:txBody>
      </p:sp>
      <p:sp>
        <p:nvSpPr>
          <p:cNvPr id="8200" name="Text Box 15"/>
          <p:cNvSpPr txBox="1">
            <a:spLocks noChangeArrowheads="1"/>
          </p:cNvSpPr>
          <p:nvPr/>
        </p:nvSpPr>
        <p:spPr bwMode="auto">
          <a:xfrm>
            <a:off x="8252129" y="1575068"/>
            <a:ext cx="675800" cy="153888"/>
          </a:xfrm>
          <a:prstGeom prst="rect">
            <a:avLst/>
          </a:prstGeom>
          <a:noFill/>
          <a:ln w="9525">
            <a:noFill/>
            <a:miter lim="800000"/>
            <a:headEnd/>
            <a:tailEnd/>
          </a:ln>
        </p:spPr>
        <p:txBody>
          <a:bodyPr wrap="square" lIns="0" tIns="0" rIns="0" bIns="0">
            <a:spAutoFit/>
          </a:bodyPr>
          <a:lstStyle/>
          <a:p>
            <a:pPr eaLnBrk="0" hangingPunct="0"/>
            <a:r>
              <a:rPr lang="fr-CA" sz="1000" b="1" dirty="0">
                <a:latin typeface="Arial" charset="0"/>
              </a:rPr>
              <a:t>Ex.: ions</a:t>
            </a:r>
            <a:endParaRPr lang="en-US" sz="1000" b="1" dirty="0">
              <a:latin typeface="Arial" charset="0"/>
            </a:endParaRPr>
          </a:p>
        </p:txBody>
      </p:sp>
      <p:sp>
        <p:nvSpPr>
          <p:cNvPr id="8203" name="Text Box 18"/>
          <p:cNvSpPr txBox="1">
            <a:spLocks noChangeArrowheads="1"/>
          </p:cNvSpPr>
          <p:nvPr/>
        </p:nvSpPr>
        <p:spPr bwMode="auto">
          <a:xfrm>
            <a:off x="5258579" y="689164"/>
            <a:ext cx="2024063" cy="692497"/>
          </a:xfrm>
          <a:prstGeom prst="rect">
            <a:avLst/>
          </a:prstGeom>
          <a:noFill/>
          <a:ln w="9525">
            <a:noFill/>
            <a:miter lim="800000"/>
            <a:headEnd/>
            <a:tailEnd/>
          </a:ln>
        </p:spPr>
        <p:txBody>
          <a:bodyPr>
            <a:spAutoFit/>
          </a:bodyPr>
          <a:lstStyle/>
          <a:p>
            <a:pPr algn="ctr" eaLnBrk="0" hangingPunct="0"/>
            <a:r>
              <a:rPr lang="fr-CA" sz="1300" b="1" dirty="0">
                <a:latin typeface="Arial" charset="0"/>
              </a:rPr>
              <a:t>Diffusion facilitée par transporteurs transmembranaires</a:t>
            </a:r>
            <a:endParaRPr lang="en-US" sz="1300" b="1" dirty="0">
              <a:latin typeface="Arial" charset="0"/>
            </a:endParaRPr>
          </a:p>
        </p:txBody>
      </p:sp>
      <p:sp>
        <p:nvSpPr>
          <p:cNvPr id="8204" name="Text Box 19"/>
          <p:cNvSpPr txBox="1">
            <a:spLocks noChangeArrowheads="1"/>
          </p:cNvSpPr>
          <p:nvPr/>
        </p:nvSpPr>
        <p:spPr bwMode="auto">
          <a:xfrm>
            <a:off x="7488714" y="689164"/>
            <a:ext cx="1571914" cy="692497"/>
          </a:xfrm>
          <a:prstGeom prst="rect">
            <a:avLst/>
          </a:prstGeom>
          <a:noFill/>
          <a:ln w="9525">
            <a:noFill/>
            <a:miter lim="800000"/>
            <a:headEnd/>
            <a:tailEnd/>
          </a:ln>
        </p:spPr>
        <p:txBody>
          <a:bodyPr wrap="square">
            <a:spAutoFit/>
          </a:bodyPr>
          <a:lstStyle/>
          <a:p>
            <a:pPr algn="ctr" eaLnBrk="0" hangingPunct="0"/>
            <a:r>
              <a:rPr lang="fr-CA" sz="1300" b="1" dirty="0">
                <a:latin typeface="Arial" charset="0"/>
              </a:rPr>
              <a:t>Diffusion facilitée par canaux protéiques</a:t>
            </a:r>
            <a:endParaRPr lang="en-US" sz="1300" b="1" dirty="0">
              <a:latin typeface="Arial" charset="0"/>
            </a:endParaRPr>
          </a:p>
        </p:txBody>
      </p:sp>
      <p:sp>
        <p:nvSpPr>
          <p:cNvPr id="22" name="Text Box 16"/>
          <p:cNvSpPr txBox="1">
            <a:spLocks noChangeArrowheads="1"/>
          </p:cNvSpPr>
          <p:nvPr/>
        </p:nvSpPr>
        <p:spPr bwMode="auto">
          <a:xfrm>
            <a:off x="7547741" y="3273003"/>
            <a:ext cx="582012" cy="307777"/>
          </a:xfrm>
          <a:prstGeom prst="rect">
            <a:avLst/>
          </a:prstGeom>
          <a:noFill/>
          <a:ln w="9525">
            <a:noFill/>
            <a:miter lim="800000"/>
            <a:headEnd/>
            <a:tailEnd/>
          </a:ln>
        </p:spPr>
        <p:txBody>
          <a:bodyPr wrap="square" lIns="0" tIns="0" rIns="0" bIns="0">
            <a:spAutoFit/>
          </a:bodyPr>
          <a:lstStyle/>
          <a:p>
            <a:pPr eaLnBrk="0" hangingPunct="0"/>
            <a:r>
              <a:rPr lang="fr-CA" sz="1000" b="1" dirty="0">
                <a:latin typeface="Arial" charset="0"/>
              </a:rPr>
              <a:t>Canal ionique</a:t>
            </a:r>
            <a:endParaRPr lang="en-US" sz="1000" b="1" dirty="0">
              <a:latin typeface="Arial" charset="0"/>
            </a:endParaRPr>
          </a:p>
        </p:txBody>
      </p:sp>
      <p:cxnSp>
        <p:nvCxnSpPr>
          <p:cNvPr id="23" name="Straight Connector 22"/>
          <p:cNvCxnSpPr/>
          <p:nvPr/>
        </p:nvCxnSpPr>
        <p:spPr bwMode="auto">
          <a:xfrm flipV="1">
            <a:off x="7842874" y="2959272"/>
            <a:ext cx="266282" cy="280158"/>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4" name="Rectangle 3"/>
          <p:cNvSpPr/>
          <p:nvPr/>
        </p:nvSpPr>
        <p:spPr>
          <a:xfrm>
            <a:off x="144778" y="727609"/>
            <a:ext cx="4907730" cy="3639458"/>
          </a:xfrm>
          <a:prstGeom prst="rect">
            <a:avLst/>
          </a:prstGeom>
        </p:spPr>
        <p:txBody>
          <a:bodyPr wrap="square" lIns="0" rIns="0">
            <a:spAutoFit/>
          </a:bodyPr>
          <a:lstStyle/>
          <a:p>
            <a:pPr marL="182563" lvl="0" indent="-182563">
              <a:spcBef>
                <a:spcPts val="300"/>
              </a:spcBef>
              <a:spcAft>
                <a:spcPts val="0"/>
              </a:spcAft>
              <a:buSzPct val="100000"/>
              <a:buFont typeface="Arial" panose="020B0604020202020204" pitchFamily="34" charset="0"/>
              <a:buChar char="•"/>
            </a:pPr>
            <a:r>
              <a:rPr lang="fr-CA" sz="1600" b="1" i="1" dirty="0">
                <a:solidFill>
                  <a:srgbClr val="000000"/>
                </a:solidFill>
                <a:latin typeface="Arial" panose="020B0604020202020204" pitchFamily="34" charset="0"/>
                <a:ea typeface="Times New Roman"/>
                <a:cs typeface="Arial" panose="020B0604020202020204" pitchFamily="34" charset="0"/>
              </a:rPr>
              <a:t>Diffusion facilitée par transporteurs transmembranaires </a:t>
            </a:r>
            <a:r>
              <a:rPr lang="fr-CA" sz="1600" b="1" dirty="0">
                <a:solidFill>
                  <a:srgbClr val="000000"/>
                </a:solidFill>
                <a:latin typeface="Arial" panose="020B0604020202020204" pitchFamily="34" charset="0"/>
                <a:ea typeface="Times New Roman"/>
                <a:cs typeface="Arial" panose="020B0604020202020204" pitchFamily="34" charset="0"/>
              </a:rPr>
              <a:t>:</a:t>
            </a:r>
          </a:p>
          <a:p>
            <a:pPr marL="365125" lvl="0" indent="-182563">
              <a:spcBef>
                <a:spcPts val="400"/>
              </a:spcBef>
              <a:spcAft>
                <a:spcPts val="0"/>
              </a:spcAft>
              <a:buSzPts val="1000"/>
              <a:buFont typeface="Courier New"/>
              <a:buChar char="─"/>
            </a:pPr>
            <a:r>
              <a:rPr lang="fr-CA" sz="1500" dirty="0">
                <a:solidFill>
                  <a:srgbClr val="000000"/>
                </a:solidFill>
                <a:latin typeface="Arial"/>
                <a:ea typeface="Times New Roman"/>
                <a:cs typeface="Times New Roman"/>
              </a:rPr>
              <a:t>Protéines intégrées qui transportent certaines molécules trop larges pour passer à travers des canaux protéiques</a:t>
            </a:r>
            <a:endParaRPr lang="fr-CA" sz="1500" dirty="0">
              <a:solidFill>
                <a:srgbClr val="000000"/>
              </a:solidFill>
              <a:latin typeface="Times New Roman"/>
              <a:ea typeface="Times New Roman"/>
              <a:cs typeface="Times New Roman"/>
            </a:endParaRPr>
          </a:p>
          <a:p>
            <a:pPr marL="365125" lvl="0">
              <a:spcAft>
                <a:spcPts val="0"/>
              </a:spcAft>
            </a:pPr>
            <a:r>
              <a:rPr lang="fr-FR" sz="1500" dirty="0">
                <a:solidFill>
                  <a:srgbClr val="000000"/>
                </a:solidFill>
                <a:latin typeface="Arial"/>
                <a:ea typeface="Times New Roman"/>
              </a:rPr>
              <a:t>Ex.: transport de glucose et d’acides aminés.</a:t>
            </a:r>
            <a:endParaRPr lang="fr-CA" sz="1500" dirty="0">
              <a:solidFill>
                <a:srgbClr val="000000"/>
              </a:solidFill>
              <a:latin typeface="Times New Roman"/>
              <a:ea typeface="Times New Roman"/>
            </a:endParaRPr>
          </a:p>
          <a:p>
            <a:pPr marL="365125" lvl="0" indent="-182563">
              <a:spcBef>
                <a:spcPts val="400"/>
              </a:spcBef>
              <a:spcAft>
                <a:spcPts val="0"/>
              </a:spcAft>
              <a:buSzPts val="1000"/>
              <a:buFont typeface="Courier New"/>
              <a:buChar char="─"/>
            </a:pPr>
            <a:r>
              <a:rPr lang="fr-FR" sz="1500" dirty="0">
                <a:solidFill>
                  <a:srgbClr val="000000"/>
                </a:solidFill>
                <a:latin typeface="Arial"/>
                <a:ea typeface="Times New Roman"/>
                <a:cs typeface="Times New Roman"/>
              </a:rPr>
              <a:t>Impliquent une liaison </a:t>
            </a:r>
            <a:r>
              <a:rPr lang="fr-FR" sz="1500" i="1" dirty="0">
                <a:solidFill>
                  <a:srgbClr val="000000"/>
                </a:solidFill>
                <a:latin typeface="Arial"/>
                <a:ea typeface="Times New Roman"/>
                <a:cs typeface="Times New Roman"/>
              </a:rPr>
              <a:t>spécifique</a:t>
            </a:r>
            <a:r>
              <a:rPr lang="fr-FR" sz="1500" dirty="0">
                <a:solidFill>
                  <a:srgbClr val="000000"/>
                </a:solidFill>
                <a:latin typeface="Arial"/>
                <a:ea typeface="Times New Roman"/>
                <a:cs typeface="Times New Roman"/>
              </a:rPr>
              <a:t> et </a:t>
            </a:r>
            <a:r>
              <a:rPr lang="fr-FR" sz="1500" i="1" dirty="0">
                <a:solidFill>
                  <a:srgbClr val="000000"/>
                </a:solidFill>
                <a:latin typeface="Arial"/>
                <a:ea typeface="Times New Roman"/>
                <a:cs typeface="Times New Roman"/>
              </a:rPr>
              <a:t>réversible</a:t>
            </a:r>
            <a:r>
              <a:rPr lang="fr-FR" sz="1500" dirty="0">
                <a:solidFill>
                  <a:srgbClr val="000000"/>
                </a:solidFill>
                <a:latin typeface="Arial"/>
                <a:ea typeface="Times New Roman"/>
                <a:cs typeface="Times New Roman"/>
              </a:rPr>
              <a:t> de la molécule avec le transporteur; la translocation de la molécule se produit par des changements de conformation du transporteur.</a:t>
            </a:r>
          </a:p>
          <a:p>
            <a:pPr marL="182563" lvl="0" indent="-182563">
              <a:spcBef>
                <a:spcPts val="600"/>
              </a:spcBef>
              <a:spcAft>
                <a:spcPts val="0"/>
              </a:spcAft>
              <a:buSzPct val="100000"/>
              <a:buFont typeface="Arial" panose="020B0604020202020204" pitchFamily="34" charset="0"/>
              <a:buChar char="•"/>
            </a:pPr>
            <a:r>
              <a:rPr lang="fr-CA" sz="1600" b="1" i="1" dirty="0">
                <a:solidFill>
                  <a:srgbClr val="000000"/>
                </a:solidFill>
                <a:latin typeface="Arial" panose="020B0604020202020204" pitchFamily="34" charset="0"/>
                <a:ea typeface="Times New Roman"/>
                <a:cs typeface="Arial" panose="020B0604020202020204" pitchFamily="34" charset="0"/>
              </a:rPr>
              <a:t>Diffusion facilitée par canaux protéiques </a:t>
            </a:r>
            <a:r>
              <a:rPr lang="fr-CA" sz="1600" b="1" dirty="0">
                <a:solidFill>
                  <a:srgbClr val="000000"/>
                </a:solidFill>
                <a:latin typeface="Arial" panose="020B0604020202020204" pitchFamily="34" charset="0"/>
                <a:ea typeface="Times New Roman"/>
                <a:cs typeface="Arial" panose="020B0604020202020204" pitchFamily="34" charset="0"/>
              </a:rPr>
              <a:t>:</a:t>
            </a:r>
          </a:p>
          <a:p>
            <a:pPr marL="365125" lvl="0" indent="-182563">
              <a:spcBef>
                <a:spcPts val="400"/>
              </a:spcBef>
              <a:spcAft>
                <a:spcPts val="0"/>
              </a:spcAft>
              <a:buSzPts val="1000"/>
              <a:buFont typeface="Courier New"/>
              <a:buChar char="─"/>
            </a:pPr>
            <a:r>
              <a:rPr lang="fr-FR" sz="1500" dirty="0">
                <a:solidFill>
                  <a:srgbClr val="000000"/>
                </a:solidFill>
                <a:latin typeface="Arial" panose="020B0604020202020204" pitchFamily="34" charset="0"/>
                <a:ea typeface="Times New Roman"/>
                <a:cs typeface="Arial" panose="020B0604020202020204" pitchFamily="34" charset="0"/>
              </a:rPr>
              <a:t>Protéines intégrées qui forment des canaux permettant le passage de petits ions (canaux ioniques) ou de molécules d’eau (aquaporines).</a:t>
            </a:r>
            <a:endParaRPr lang="fr-CA" sz="1500" dirty="0">
              <a:solidFill>
                <a:srgbClr val="000000"/>
              </a:solidFill>
              <a:latin typeface="Arial" panose="020B0604020202020204" pitchFamily="34" charset="0"/>
              <a:ea typeface="Times New Roman"/>
              <a:cs typeface="Arial" panose="020B0604020202020204" pitchFamily="34" charset="0"/>
            </a:endParaRPr>
          </a:p>
        </p:txBody>
      </p:sp>
      <p:sp>
        <p:nvSpPr>
          <p:cNvPr id="21" name="Rectangle 20"/>
          <p:cNvSpPr/>
          <p:nvPr/>
        </p:nvSpPr>
        <p:spPr>
          <a:xfrm>
            <a:off x="175258" y="4367067"/>
            <a:ext cx="8968742" cy="1800493"/>
          </a:xfrm>
          <a:prstGeom prst="rect">
            <a:avLst/>
          </a:prstGeom>
        </p:spPr>
        <p:txBody>
          <a:bodyPr wrap="square" lIns="0" rIns="0">
            <a:spAutoFit/>
          </a:bodyPr>
          <a:lstStyle/>
          <a:p>
            <a:pPr lvl="0">
              <a:spcBef>
                <a:spcPts val="1200"/>
              </a:spcBef>
              <a:spcAft>
                <a:spcPts val="0"/>
              </a:spcAft>
              <a:buSzPts val="1000"/>
            </a:pPr>
            <a:r>
              <a:rPr lang="fr-FR" sz="1600" b="1" dirty="0">
                <a:solidFill>
                  <a:srgbClr val="000000"/>
                </a:solidFill>
                <a:latin typeface="Arial" panose="020B0604020202020204" pitchFamily="34" charset="0"/>
                <a:ea typeface="Times New Roman"/>
                <a:cs typeface="Arial" panose="020B0604020202020204" pitchFamily="34" charset="0"/>
              </a:rPr>
              <a:t>Principale caractéristique de la diffusion facilitée: la </a:t>
            </a:r>
            <a:r>
              <a:rPr lang="fr-FR" sz="1600" b="1" u="sng" dirty="0">
                <a:solidFill>
                  <a:srgbClr val="000000"/>
                </a:solidFill>
                <a:latin typeface="Arial" panose="020B0604020202020204" pitchFamily="34" charset="0"/>
                <a:ea typeface="Times New Roman"/>
                <a:cs typeface="Arial" panose="020B0604020202020204" pitchFamily="34" charset="0"/>
              </a:rPr>
              <a:t>spécificité</a:t>
            </a:r>
            <a:endParaRPr lang="fr-CA" sz="1600" b="1" u="sng" dirty="0">
              <a:solidFill>
                <a:srgbClr val="000000"/>
              </a:solidFill>
              <a:latin typeface="Arial" panose="020B0604020202020204" pitchFamily="34" charset="0"/>
              <a:ea typeface="Times New Roman"/>
              <a:cs typeface="Arial" panose="020B0604020202020204" pitchFamily="34" charset="0"/>
            </a:endParaRPr>
          </a:p>
          <a:p>
            <a:pPr marL="182563" lvl="1" indent="-182563">
              <a:spcBef>
                <a:spcPts val="300"/>
              </a:spcBef>
              <a:spcAft>
                <a:spcPts val="0"/>
              </a:spcAft>
              <a:buSzPct val="100000"/>
              <a:buFont typeface="Arial" panose="020B0604020202020204" pitchFamily="34" charset="0"/>
              <a:buChar char="−"/>
            </a:pPr>
            <a:r>
              <a:rPr lang="fr-FR" sz="1500" dirty="0">
                <a:solidFill>
                  <a:srgbClr val="000000"/>
                </a:solidFill>
                <a:latin typeface="Arial" panose="020B0604020202020204" pitchFamily="34" charset="0"/>
                <a:ea typeface="Times New Roman"/>
                <a:cs typeface="Arial" panose="020B0604020202020204" pitchFamily="34" charset="0"/>
              </a:rPr>
              <a:t>Les transporteurs ou canaux protéiques sont généralement spécifiques à une substance donnée ; permet un contrôle cellulaire des mouvements transmembranaires.</a:t>
            </a:r>
            <a:endParaRPr lang="fr-CA" sz="1500" dirty="0">
              <a:solidFill>
                <a:srgbClr val="000000"/>
              </a:solidFill>
              <a:latin typeface="Arial" panose="020B0604020202020204" pitchFamily="34" charset="0"/>
              <a:ea typeface="Times New Roman"/>
              <a:cs typeface="Arial" panose="020B0604020202020204" pitchFamily="34" charset="0"/>
            </a:endParaRPr>
          </a:p>
          <a:p>
            <a:pPr marL="182563" lvl="0" indent="-182563">
              <a:spcBef>
                <a:spcPts val="300"/>
              </a:spcBef>
              <a:spcAft>
                <a:spcPts val="0"/>
              </a:spcAft>
              <a:buSzPts val="1000"/>
              <a:buFont typeface="Courier New"/>
              <a:buChar char="─"/>
            </a:pPr>
            <a:r>
              <a:rPr lang="fr-FR" sz="1500" dirty="0">
                <a:solidFill>
                  <a:srgbClr val="000000"/>
                </a:solidFill>
                <a:latin typeface="Arial" panose="020B0604020202020204" pitchFamily="34" charset="0"/>
                <a:ea typeface="Times New Roman"/>
                <a:cs typeface="Arial" panose="020B0604020202020204" pitchFamily="34" charset="0"/>
              </a:rPr>
              <a:t>La perméabilité membranaire aux ions et petites molécules polaires dépend du nombre de transporteurs ou canaux dans la membrane.</a:t>
            </a:r>
            <a:endParaRPr lang="fr-CA" sz="1500" dirty="0">
              <a:solidFill>
                <a:srgbClr val="000000"/>
              </a:solidFill>
              <a:latin typeface="Arial" panose="020B0604020202020204" pitchFamily="34" charset="0"/>
              <a:ea typeface="Times New Roman"/>
              <a:cs typeface="Arial" panose="020B0604020202020204" pitchFamily="34" charset="0"/>
            </a:endParaRPr>
          </a:p>
          <a:p>
            <a:pPr marL="185738">
              <a:spcAft>
                <a:spcPts val="0"/>
              </a:spcAft>
            </a:pPr>
            <a:r>
              <a:rPr lang="fr-FR" sz="1500" dirty="0">
                <a:solidFill>
                  <a:srgbClr val="000000"/>
                </a:solidFill>
                <a:latin typeface="Arial" panose="020B0604020202020204" pitchFamily="34" charset="0"/>
                <a:ea typeface="Times New Roman"/>
                <a:cs typeface="Arial" panose="020B0604020202020204" pitchFamily="34" charset="0"/>
              </a:rPr>
              <a:t>Ex.: L’insuline augmente la perméabilité au glucose des cellules en augmentant le nombre de transporteurs au glucose dans leur membrane plasmique.</a:t>
            </a:r>
            <a:endParaRPr lang="fr-CA" sz="1500" dirty="0">
              <a:solidFill>
                <a:srgbClr val="000000"/>
              </a:solidFill>
              <a:latin typeface="Arial" panose="020B0604020202020204" pitchFamily="34" charset="0"/>
              <a:ea typeface="Times New Roman"/>
              <a:cs typeface="Arial" panose="020B0604020202020204" pitchFamily="34" charset="0"/>
            </a:endParaRPr>
          </a:p>
        </p:txBody>
      </p:sp>
    </p:spTree>
    <p:extLst>
      <p:ext uri="{BB962C8B-B14F-4D97-AF65-F5344CB8AC3E}">
        <p14:creationId xmlns:p14="http://schemas.microsoft.com/office/powerpoint/2010/main" val="26187517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3"/>
          <p:cNvSpPr>
            <a:spLocks noChangeArrowheads="1"/>
          </p:cNvSpPr>
          <p:nvPr/>
        </p:nvSpPr>
        <p:spPr bwMode="auto">
          <a:xfrm>
            <a:off x="252413" y="283754"/>
            <a:ext cx="8154987" cy="523220"/>
          </a:xfrm>
          <a:prstGeom prst="rect">
            <a:avLst/>
          </a:prstGeom>
          <a:noFill/>
          <a:ln w="9525">
            <a:noFill/>
            <a:miter lim="800000"/>
            <a:headEnd/>
            <a:tailEnd/>
          </a:ln>
        </p:spPr>
        <p:txBody>
          <a:bodyPr>
            <a:spAutoFit/>
          </a:bodyPr>
          <a:lstStyle/>
          <a:p>
            <a:pPr marL="990600" indent="-990600" eaLnBrk="0" hangingPunct="0"/>
            <a:r>
              <a:rPr lang="fr-FR" sz="2800" b="1" dirty="0">
                <a:solidFill>
                  <a:schemeClr val="accent2"/>
                </a:solidFill>
                <a:latin typeface="Arial" charset="0"/>
              </a:rPr>
              <a:t>2.2.3	</a:t>
            </a:r>
            <a:r>
              <a:rPr lang="fr-FR" sz="2800" b="1" u="sng" dirty="0">
                <a:solidFill>
                  <a:schemeClr val="accent2"/>
                </a:solidFill>
                <a:latin typeface="Arial" charset="0"/>
              </a:rPr>
              <a:t>Transports actifs</a:t>
            </a:r>
            <a:endParaRPr lang="en-US" sz="2800" i="1" dirty="0">
              <a:solidFill>
                <a:schemeClr val="accent2"/>
              </a:solidFill>
              <a:latin typeface="Arial" charset="0"/>
            </a:endParaRPr>
          </a:p>
        </p:txBody>
      </p:sp>
      <p:sp>
        <p:nvSpPr>
          <p:cNvPr id="2" name="Rectangle 9">
            <a:extLst>
              <a:ext uri="{FF2B5EF4-FFF2-40B4-BE49-F238E27FC236}">
                <a16:creationId xmlns:a16="http://schemas.microsoft.com/office/drawing/2014/main" id="{85630869-5F19-4649-AC91-8801362B7BC1}"/>
              </a:ext>
            </a:extLst>
          </p:cNvPr>
          <p:cNvSpPr>
            <a:spLocks noChangeArrowheads="1"/>
          </p:cNvSpPr>
          <p:nvPr/>
        </p:nvSpPr>
        <p:spPr bwMode="auto">
          <a:xfrm>
            <a:off x="252413" y="1046239"/>
            <a:ext cx="8338503" cy="3560975"/>
          </a:xfrm>
          <a:prstGeom prst="rect">
            <a:avLst/>
          </a:prstGeom>
          <a:noFill/>
          <a:ln w="9525">
            <a:noFill/>
            <a:miter lim="800000"/>
            <a:headEnd/>
            <a:tailEnd/>
          </a:ln>
        </p:spPr>
        <p:txBody>
          <a:bodyPr wrap="square" anchor="ctr">
            <a:spAutoFit/>
          </a:bodyPr>
          <a:lstStyle/>
          <a:p>
            <a:pPr eaLnBrk="0" hangingPunct="0">
              <a:spcBef>
                <a:spcPct val="25000"/>
              </a:spcBef>
              <a:tabLst>
                <a:tab pos="2286000" algn="l"/>
              </a:tabLst>
            </a:pPr>
            <a:r>
              <a:rPr lang="fr-FR" sz="2000" b="1" dirty="0">
                <a:latin typeface="Arial" charset="0"/>
              </a:rPr>
              <a:t>i) Caractéristiques générales des transports actifs</a:t>
            </a:r>
          </a:p>
          <a:p>
            <a:pPr marL="533400" indent="-258763" eaLnBrk="0" hangingPunct="0">
              <a:spcBef>
                <a:spcPct val="25000"/>
              </a:spcBef>
              <a:buFont typeface="Times New Roman" pitchFamily="18" charset="0"/>
              <a:buChar char="−"/>
              <a:tabLst>
                <a:tab pos="2286000" algn="l"/>
              </a:tabLst>
            </a:pPr>
            <a:r>
              <a:rPr lang="fr-FR" dirty="0">
                <a:latin typeface="Arial" charset="0"/>
              </a:rPr>
              <a:t>Requièrent de l’énergie cellulaire.</a:t>
            </a:r>
            <a:endParaRPr lang="en-US" dirty="0">
              <a:latin typeface="Arial" charset="0"/>
            </a:endParaRPr>
          </a:p>
          <a:p>
            <a:pPr marL="533400" indent="-258763" eaLnBrk="0" hangingPunct="0">
              <a:spcBef>
                <a:spcPct val="25000"/>
              </a:spcBef>
              <a:buFont typeface="Times New Roman" pitchFamily="18" charset="0"/>
              <a:buChar char="−"/>
              <a:tabLst>
                <a:tab pos="2286000" algn="l"/>
              </a:tabLst>
            </a:pPr>
            <a:r>
              <a:rPr lang="en-US" dirty="0">
                <a:latin typeface="Arial" charset="0"/>
              </a:rPr>
              <a:t>S</a:t>
            </a:r>
            <a:r>
              <a:rPr lang="fr-FR" dirty="0">
                <a:latin typeface="Arial" charset="0"/>
              </a:rPr>
              <a:t>e font par l’intermédiaire de transporteurs protéiques qui se combinent </a:t>
            </a:r>
            <a:r>
              <a:rPr lang="fr-FR" i="1" dirty="0">
                <a:latin typeface="Arial" charset="0"/>
              </a:rPr>
              <a:t>spécifiquement</a:t>
            </a:r>
            <a:r>
              <a:rPr lang="fr-FR" dirty="0">
                <a:latin typeface="Arial" charset="0"/>
              </a:rPr>
              <a:t> et </a:t>
            </a:r>
            <a:r>
              <a:rPr lang="fr-FR" i="1" dirty="0">
                <a:latin typeface="Arial" charset="0"/>
              </a:rPr>
              <a:t>réversiblement</a:t>
            </a:r>
            <a:r>
              <a:rPr lang="fr-FR" dirty="0">
                <a:latin typeface="Arial" charset="0"/>
              </a:rPr>
              <a:t> avec les substances transportées</a:t>
            </a:r>
          </a:p>
          <a:p>
            <a:pPr marL="533400" indent="-258763" eaLnBrk="0" hangingPunct="0">
              <a:spcBef>
                <a:spcPct val="25000"/>
              </a:spcBef>
              <a:buFont typeface="Times New Roman" pitchFamily="18" charset="0"/>
              <a:buChar char="−"/>
              <a:tabLst>
                <a:tab pos="2286000" algn="l"/>
              </a:tabLst>
            </a:pPr>
            <a:r>
              <a:rPr lang="fr-FR" dirty="0">
                <a:latin typeface="Arial" charset="0"/>
              </a:rPr>
              <a:t>Entraînent le mouvement de solutés </a:t>
            </a:r>
            <a:r>
              <a:rPr lang="fr-FR" u="sng" dirty="0">
                <a:latin typeface="Arial" charset="0"/>
              </a:rPr>
              <a:t>contre</a:t>
            </a:r>
            <a:r>
              <a:rPr lang="fr-FR" dirty="0">
                <a:latin typeface="Arial" charset="0"/>
              </a:rPr>
              <a:t> leur gradient de concentration.</a:t>
            </a:r>
          </a:p>
          <a:p>
            <a:pPr marL="709613" lvl="1" indent="-128588" eaLnBrk="0" hangingPunct="0">
              <a:buSzPct val="80000"/>
              <a:buFont typeface="Wingdings" pitchFamily="2" charset="2"/>
              <a:buChar char="§"/>
              <a:tabLst>
                <a:tab pos="2286000" algn="l"/>
              </a:tabLst>
            </a:pPr>
            <a:r>
              <a:rPr lang="fr-FR" i="1" dirty="0">
                <a:latin typeface="Arial" charset="0"/>
              </a:rPr>
              <a:t>Pompes à solutés</a:t>
            </a:r>
            <a:r>
              <a:rPr lang="fr-FR" b="1" i="1" dirty="0">
                <a:latin typeface="Arial" charset="0"/>
              </a:rPr>
              <a:t> </a:t>
            </a:r>
            <a:r>
              <a:rPr lang="fr-FR" dirty="0">
                <a:latin typeface="Arial" charset="0"/>
                <a:sym typeface="Wingdings" pitchFamily="2" charset="2"/>
              </a:rPr>
              <a:t> </a:t>
            </a:r>
            <a:r>
              <a:rPr lang="fr-FR" dirty="0">
                <a:latin typeface="Arial" charset="0"/>
              </a:rPr>
              <a:t>requièrent l’apport d’énergie cellulaire.</a:t>
            </a:r>
            <a:endParaRPr lang="en-US" dirty="0">
              <a:latin typeface="Arial" charset="0"/>
              <a:sym typeface="Symbol" pitchFamily="18" charset="2"/>
            </a:endParaRPr>
          </a:p>
          <a:p>
            <a:pPr marL="533400" indent="-258763" eaLnBrk="0" hangingPunct="0">
              <a:spcBef>
                <a:spcPct val="25000"/>
              </a:spcBef>
              <a:buSzPct val="80000"/>
              <a:buFont typeface="Times New Roman" pitchFamily="18" charset="0"/>
              <a:buChar char="−"/>
              <a:tabLst>
                <a:tab pos="2286000" algn="l"/>
              </a:tabLst>
            </a:pPr>
            <a:r>
              <a:rPr lang="fr-FR" dirty="0">
                <a:latin typeface="Arial" charset="0"/>
                <a:sym typeface="Symbol" pitchFamily="18" charset="2"/>
              </a:rPr>
              <a:t>Deux types de transport actif, selon la source d’énergie:</a:t>
            </a:r>
            <a:endParaRPr lang="en-US" dirty="0">
              <a:latin typeface="Arial" charset="0"/>
              <a:sym typeface="Symbol" pitchFamily="18" charset="2"/>
            </a:endParaRPr>
          </a:p>
          <a:p>
            <a:pPr marL="715963" lvl="1" indent="-182563" eaLnBrk="0" hangingPunct="0">
              <a:spcBef>
                <a:spcPct val="15000"/>
              </a:spcBef>
              <a:buSzPct val="130000"/>
              <a:buFont typeface="Arial" panose="020B0604020202020204" pitchFamily="34" charset="0"/>
              <a:buChar char="•"/>
              <a:tabLst>
                <a:tab pos="2286000" algn="l"/>
              </a:tabLst>
            </a:pPr>
            <a:r>
              <a:rPr lang="fr-FR" b="1" i="1" dirty="0">
                <a:latin typeface="Arial" charset="0"/>
                <a:sym typeface="Symbol" pitchFamily="18" charset="2"/>
              </a:rPr>
              <a:t>Transports actifs primaires</a:t>
            </a:r>
            <a:r>
              <a:rPr lang="fr-FR" b="1" dirty="0">
                <a:latin typeface="Arial" charset="0"/>
                <a:sym typeface="Symbol" pitchFamily="18" charset="2"/>
              </a:rPr>
              <a:t>:</a:t>
            </a:r>
            <a:r>
              <a:rPr lang="fr-FR" b="1" i="1" dirty="0">
                <a:latin typeface="Arial" charset="0"/>
                <a:sym typeface="Symbol" pitchFamily="18" charset="2"/>
              </a:rPr>
              <a:t> </a:t>
            </a:r>
            <a:r>
              <a:rPr lang="fr-FR" dirty="0">
                <a:latin typeface="Arial" charset="0"/>
                <a:sym typeface="Symbol" pitchFamily="18" charset="2"/>
              </a:rPr>
              <a:t>utilisent directement l’ATP.</a:t>
            </a:r>
            <a:endParaRPr lang="en-US" dirty="0">
              <a:latin typeface="Arial" charset="0"/>
              <a:sym typeface="Symbol" pitchFamily="18" charset="2"/>
            </a:endParaRPr>
          </a:p>
          <a:p>
            <a:pPr marL="715963" lvl="1" indent="-182563" eaLnBrk="0" hangingPunct="0">
              <a:spcBef>
                <a:spcPct val="15000"/>
              </a:spcBef>
              <a:buSzPct val="130000"/>
              <a:buFont typeface="Arial" panose="020B0604020202020204" pitchFamily="34" charset="0"/>
              <a:buChar char="•"/>
              <a:tabLst>
                <a:tab pos="2286000" algn="l"/>
              </a:tabLst>
            </a:pPr>
            <a:r>
              <a:rPr lang="fr-FR" b="1" i="1" dirty="0">
                <a:latin typeface="Arial" charset="0"/>
                <a:sym typeface="Symbol" pitchFamily="18" charset="2"/>
              </a:rPr>
              <a:t>Transport actifs secondaires</a:t>
            </a:r>
            <a:r>
              <a:rPr lang="fr-FR" b="1" dirty="0">
                <a:latin typeface="Arial" charset="0"/>
                <a:sym typeface="Symbol" pitchFamily="18" charset="2"/>
              </a:rPr>
              <a:t>:</a:t>
            </a:r>
            <a:r>
              <a:rPr lang="fr-FR" b="1" i="1" dirty="0">
                <a:latin typeface="Arial" charset="0"/>
                <a:sym typeface="Symbol" pitchFamily="18" charset="2"/>
              </a:rPr>
              <a:t> </a:t>
            </a:r>
            <a:r>
              <a:rPr lang="fr-FR" dirty="0">
                <a:latin typeface="Arial" charset="0"/>
                <a:sym typeface="Symbol" pitchFamily="18" charset="2"/>
              </a:rPr>
              <a:t>utilisent l</a:t>
            </a:r>
            <a:r>
              <a:rPr lang="fr-FR" dirty="0">
                <a:solidFill>
                  <a:srgbClr val="000000"/>
                </a:solidFill>
                <a:latin typeface="Arial"/>
                <a:sym typeface="Symbol" pitchFamily="18" charset="2"/>
              </a:rPr>
              <a:t>’énergie e</a:t>
            </a:r>
            <a:r>
              <a:rPr lang="fr-FR" dirty="0">
                <a:solidFill>
                  <a:srgbClr val="000000"/>
                </a:solidFill>
                <a:latin typeface="Arial"/>
                <a:ea typeface="Times New Roman"/>
              </a:rPr>
              <a:t>mmagasinée dans les gradients de concentration des certains ions (en particulier le gradient des ions Na</a:t>
            </a:r>
            <a:r>
              <a:rPr lang="fr-FR" baseline="30000" dirty="0">
                <a:solidFill>
                  <a:srgbClr val="000000"/>
                </a:solidFill>
                <a:latin typeface="Arial"/>
                <a:ea typeface="Times New Roman"/>
              </a:rPr>
              <a:t>+</a:t>
            </a:r>
            <a:r>
              <a:rPr lang="fr-FR" dirty="0">
                <a:solidFill>
                  <a:srgbClr val="000000"/>
                </a:solidFill>
                <a:latin typeface="Arial"/>
                <a:ea typeface="Times New Roman"/>
              </a:rPr>
              <a:t>), plutôt que l’ATP.</a:t>
            </a:r>
            <a:endParaRPr lang="fr-CA" sz="2000" dirty="0">
              <a:solidFill>
                <a:srgbClr val="000000"/>
              </a:solidFill>
              <a:latin typeface="Times New Roman"/>
              <a:ea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4"/>
          <p:cNvSpPr>
            <a:spLocks noChangeArrowheads="1"/>
          </p:cNvSpPr>
          <p:nvPr/>
        </p:nvSpPr>
        <p:spPr bwMode="auto">
          <a:xfrm>
            <a:off x="231796" y="217936"/>
            <a:ext cx="8633034" cy="461665"/>
          </a:xfrm>
          <a:prstGeom prst="rect">
            <a:avLst/>
          </a:prstGeom>
          <a:noFill/>
          <a:ln w="9525">
            <a:noFill/>
            <a:miter lim="800000"/>
            <a:headEnd/>
            <a:tailEnd/>
          </a:ln>
        </p:spPr>
        <p:txBody>
          <a:bodyPr wrap="square" anchor="ctr">
            <a:spAutoFit/>
          </a:bodyPr>
          <a:lstStyle/>
          <a:p>
            <a:pPr marL="365125" indent="-365125" eaLnBrk="0" hangingPunct="0">
              <a:tabLst>
                <a:tab pos="858838" algn="l"/>
                <a:tab pos="1485900" algn="l"/>
              </a:tabLst>
            </a:pPr>
            <a:r>
              <a:rPr lang="fr-CA" sz="2400" b="1" dirty="0">
                <a:solidFill>
                  <a:schemeClr val="accent2"/>
                </a:solidFill>
                <a:latin typeface="Arial" charset="0"/>
              </a:rPr>
              <a:t>ii)	</a:t>
            </a:r>
            <a:r>
              <a:rPr lang="fr-CA" sz="2400" b="1" i="1" u="sng" dirty="0">
                <a:solidFill>
                  <a:schemeClr val="accent2"/>
                </a:solidFill>
                <a:latin typeface="Arial" charset="0"/>
              </a:rPr>
              <a:t>Transports actifs primaires</a:t>
            </a:r>
            <a:r>
              <a:rPr lang="fr-CA" sz="2400" b="1" i="1" dirty="0">
                <a:solidFill>
                  <a:schemeClr val="accent2"/>
                </a:solidFill>
                <a:latin typeface="Arial" charset="0"/>
              </a:rPr>
              <a:t> </a:t>
            </a:r>
            <a:r>
              <a:rPr lang="fr-CA" sz="2400" b="1" dirty="0">
                <a:solidFill>
                  <a:schemeClr val="accent2"/>
                </a:solidFill>
                <a:latin typeface="Arial" charset="0"/>
              </a:rPr>
              <a:t>:</a:t>
            </a:r>
            <a:r>
              <a:rPr lang="en-US" sz="2400" b="1" dirty="0">
                <a:solidFill>
                  <a:schemeClr val="accent2"/>
                </a:solidFill>
                <a:latin typeface="Arial" charset="0"/>
              </a:rPr>
              <a:t> </a:t>
            </a:r>
            <a:r>
              <a:rPr lang="fr-CA" sz="2400" b="1" dirty="0">
                <a:latin typeface="Arial" charset="0"/>
              </a:rPr>
              <a:t>utilisent directement l’ATP</a:t>
            </a:r>
            <a:endParaRPr lang="en-US" sz="2400" b="1" dirty="0">
              <a:latin typeface="Arial" charset="0"/>
            </a:endParaRPr>
          </a:p>
        </p:txBody>
      </p:sp>
      <p:pic>
        <p:nvPicPr>
          <p:cNvPr id="4" name="Picture 57" descr="http://cw2.erpi.com/cw/marieb/userfiles/27_Fig_2_23_p_64.jpg">
            <a:extLst>
              <a:ext uri="{FF2B5EF4-FFF2-40B4-BE49-F238E27FC236}">
                <a16:creationId xmlns:a16="http://schemas.microsoft.com/office/drawing/2014/main" id="{C827B4E9-D1D4-4418-AE25-EDFFD71C0DBC}"/>
              </a:ext>
            </a:extLst>
          </p:cNvPr>
          <p:cNvPicPr>
            <a:picLocks noChangeAspect="1" noChangeArrowheads="1"/>
          </p:cNvPicPr>
          <p:nvPr/>
        </p:nvPicPr>
        <p:blipFill>
          <a:blip r:embed="rId3" cstate="print"/>
          <a:srcRect b="37795"/>
          <a:stretch>
            <a:fillRect/>
          </a:stretch>
        </p:blipFill>
        <p:spPr bwMode="auto">
          <a:xfrm>
            <a:off x="231796" y="789673"/>
            <a:ext cx="4573985" cy="3849996"/>
          </a:xfrm>
          <a:prstGeom prst="rect">
            <a:avLst/>
          </a:prstGeom>
          <a:noFill/>
        </p:spPr>
      </p:pic>
      <p:sp>
        <p:nvSpPr>
          <p:cNvPr id="6" name="Text Box 54">
            <a:extLst>
              <a:ext uri="{FF2B5EF4-FFF2-40B4-BE49-F238E27FC236}">
                <a16:creationId xmlns:a16="http://schemas.microsoft.com/office/drawing/2014/main" id="{87E02E3D-618F-4881-89DE-11A012AB1F6E}"/>
              </a:ext>
            </a:extLst>
          </p:cNvPr>
          <p:cNvSpPr txBox="1">
            <a:spLocks noChangeArrowheads="1"/>
          </p:cNvSpPr>
          <p:nvPr/>
        </p:nvSpPr>
        <p:spPr bwMode="auto">
          <a:xfrm>
            <a:off x="561218" y="4757958"/>
            <a:ext cx="7544245" cy="400110"/>
          </a:xfrm>
          <a:prstGeom prst="rect">
            <a:avLst/>
          </a:prstGeom>
          <a:noFill/>
          <a:ln w="9525">
            <a:noFill/>
            <a:miter lim="800000"/>
            <a:headEnd/>
            <a:tailEnd/>
          </a:ln>
        </p:spPr>
        <p:txBody>
          <a:bodyPr wrap="none">
            <a:spAutoFit/>
          </a:bodyPr>
          <a:lstStyle/>
          <a:p>
            <a:pPr eaLnBrk="1" hangingPunct="1"/>
            <a:r>
              <a:rPr lang="fr-FR" sz="2000" b="1" dirty="0">
                <a:latin typeface="Arial" charset="0"/>
                <a:cs typeface="Arial" charset="0"/>
              </a:rPr>
              <a:t>Énergie emmagasinée dans les liaisons phosphate de l’ATP :</a:t>
            </a:r>
          </a:p>
        </p:txBody>
      </p:sp>
      <p:sp>
        <p:nvSpPr>
          <p:cNvPr id="8" name="Rectangle 7">
            <a:extLst>
              <a:ext uri="{FF2B5EF4-FFF2-40B4-BE49-F238E27FC236}">
                <a16:creationId xmlns:a16="http://schemas.microsoft.com/office/drawing/2014/main" id="{066DD8DB-8A1F-451C-95A7-18BAE0A4C4B2}"/>
              </a:ext>
            </a:extLst>
          </p:cNvPr>
          <p:cNvSpPr/>
          <p:nvPr/>
        </p:nvSpPr>
        <p:spPr>
          <a:xfrm>
            <a:off x="4954182" y="950450"/>
            <a:ext cx="4028410" cy="2785378"/>
          </a:xfrm>
          <a:prstGeom prst="rect">
            <a:avLst/>
          </a:prstGeom>
        </p:spPr>
        <p:txBody>
          <a:bodyPr wrap="square">
            <a:spAutoFit/>
          </a:bodyPr>
          <a:lstStyle/>
          <a:p>
            <a:pPr marL="533400" indent="-533400"/>
            <a:r>
              <a:rPr lang="fr-CA" sz="1600" b="1" dirty="0">
                <a:latin typeface="+mj-lt"/>
              </a:rPr>
              <a:t>ATP :	</a:t>
            </a:r>
            <a:r>
              <a:rPr lang="fr-CA" sz="1600" dirty="0">
                <a:latin typeface="+mj-lt"/>
              </a:rPr>
              <a:t>nucléotide avec 2 groupements phosphate additionnels:</a:t>
            </a:r>
          </a:p>
          <a:p>
            <a:pPr marL="715963" indent="-182563">
              <a:buFont typeface="Arial" panose="020B0604020202020204" pitchFamily="34" charset="0"/>
              <a:buChar char="−"/>
            </a:pPr>
            <a:r>
              <a:rPr lang="fr-CA" sz="1600" dirty="0">
                <a:latin typeface="+mj-lt"/>
              </a:rPr>
              <a:t>Sucre = Ribose</a:t>
            </a:r>
          </a:p>
          <a:p>
            <a:pPr marL="715963" indent="-182563">
              <a:buFont typeface="Arial" panose="020B0604020202020204" pitchFamily="34" charset="0"/>
              <a:buChar char="−"/>
            </a:pPr>
            <a:r>
              <a:rPr lang="fr-CA" sz="1600" dirty="0">
                <a:latin typeface="+mj-lt"/>
              </a:rPr>
              <a:t>Base azotée = Adénine</a:t>
            </a:r>
          </a:p>
          <a:p>
            <a:pPr marL="715963" indent="-182563">
              <a:buFont typeface="Arial" panose="020B0604020202020204" pitchFamily="34" charset="0"/>
              <a:buChar char="−"/>
            </a:pPr>
            <a:r>
              <a:rPr lang="fr-CA" sz="1600" dirty="0">
                <a:latin typeface="+mj-lt"/>
              </a:rPr>
              <a:t>3 groupements phosphate en tout</a:t>
            </a:r>
          </a:p>
          <a:p>
            <a:pPr>
              <a:spcBef>
                <a:spcPts val="600"/>
              </a:spcBef>
            </a:pPr>
            <a:r>
              <a:rPr lang="fr-CA" sz="1600" b="1" dirty="0">
                <a:latin typeface="+mj-lt"/>
              </a:rPr>
              <a:t>Adénosine : </a:t>
            </a:r>
            <a:r>
              <a:rPr lang="fr-CA" sz="1600" dirty="0">
                <a:latin typeface="+mj-lt"/>
              </a:rPr>
              <a:t>Adénine + Ribose</a:t>
            </a:r>
          </a:p>
          <a:p>
            <a:pPr>
              <a:spcBef>
                <a:spcPts val="600"/>
              </a:spcBef>
            </a:pPr>
            <a:r>
              <a:rPr lang="fr-CA" sz="1600" b="1" dirty="0">
                <a:latin typeface="+mj-lt"/>
              </a:rPr>
              <a:t>AMP </a:t>
            </a:r>
            <a:r>
              <a:rPr lang="fr-CA" sz="1600" dirty="0">
                <a:latin typeface="+mj-lt"/>
              </a:rPr>
              <a:t>(Adénosine monophosphate) </a:t>
            </a:r>
            <a:r>
              <a:rPr lang="fr-CA" sz="1600" b="1" dirty="0">
                <a:latin typeface="+mj-lt"/>
              </a:rPr>
              <a:t>: </a:t>
            </a:r>
            <a:r>
              <a:rPr lang="fr-CA" sz="1600" dirty="0">
                <a:latin typeface="+mj-lt"/>
              </a:rPr>
              <a:t>Adénosine + 1 groupement phosphate</a:t>
            </a:r>
          </a:p>
          <a:p>
            <a:pPr>
              <a:spcBef>
                <a:spcPts val="600"/>
              </a:spcBef>
            </a:pPr>
            <a:r>
              <a:rPr lang="fr-CA" sz="1600" b="1" dirty="0">
                <a:latin typeface="+mj-lt"/>
              </a:rPr>
              <a:t>ADP </a:t>
            </a:r>
            <a:r>
              <a:rPr lang="fr-CA" sz="1600" dirty="0">
                <a:latin typeface="+mj-lt"/>
              </a:rPr>
              <a:t>(Adénosine diphosphate) </a:t>
            </a:r>
            <a:r>
              <a:rPr lang="fr-CA" sz="1600" b="1" dirty="0">
                <a:latin typeface="+mj-lt"/>
              </a:rPr>
              <a:t>:</a:t>
            </a:r>
          </a:p>
          <a:p>
            <a:pPr>
              <a:spcBef>
                <a:spcPts val="0"/>
              </a:spcBef>
            </a:pPr>
            <a:r>
              <a:rPr lang="fr-CA" sz="1600" dirty="0">
                <a:latin typeface="+mj-lt"/>
              </a:rPr>
              <a:t>Adénosine + 2 groupements phosphate</a:t>
            </a:r>
          </a:p>
        </p:txBody>
      </p:sp>
      <p:sp>
        <p:nvSpPr>
          <p:cNvPr id="10" name="Text Box 7">
            <a:extLst>
              <a:ext uri="{FF2B5EF4-FFF2-40B4-BE49-F238E27FC236}">
                <a16:creationId xmlns:a16="http://schemas.microsoft.com/office/drawing/2014/main" id="{33AFF2FC-320F-466D-B685-37C04FC93944}"/>
              </a:ext>
            </a:extLst>
          </p:cNvPr>
          <p:cNvSpPr txBox="1">
            <a:spLocks noChangeArrowheads="1"/>
          </p:cNvSpPr>
          <p:nvPr/>
        </p:nvSpPr>
        <p:spPr bwMode="auto">
          <a:xfrm>
            <a:off x="4401540" y="4132812"/>
            <a:ext cx="808482" cy="338554"/>
          </a:xfrm>
          <a:prstGeom prst="rect">
            <a:avLst/>
          </a:prstGeom>
          <a:noFill/>
          <a:ln w="6350">
            <a:solidFill>
              <a:srgbClr val="0000FF"/>
            </a:solidFill>
            <a:miter lim="800000"/>
            <a:headEnd/>
            <a:tailEnd/>
          </a:ln>
        </p:spPr>
        <p:txBody>
          <a:bodyPr wrap="none" lIns="36000" rIns="36000">
            <a:spAutoFit/>
          </a:bodyPr>
          <a:lstStyle/>
          <a:p>
            <a:pPr eaLnBrk="0" hangingPunct="0"/>
            <a:r>
              <a:rPr lang="fr-CA" sz="1600" dirty="0">
                <a:solidFill>
                  <a:srgbClr val="3333FF"/>
                </a:solidFill>
              </a:rPr>
              <a:t>Fig. 2.23</a:t>
            </a:r>
            <a:endParaRPr lang="en-US" sz="1600" dirty="0">
              <a:solidFill>
                <a:srgbClr val="3333FF"/>
              </a:solidFill>
            </a:endParaRPr>
          </a:p>
        </p:txBody>
      </p:sp>
      <p:sp>
        <p:nvSpPr>
          <p:cNvPr id="12" name="Rectangle 11">
            <a:extLst>
              <a:ext uri="{FF2B5EF4-FFF2-40B4-BE49-F238E27FC236}">
                <a16:creationId xmlns:a16="http://schemas.microsoft.com/office/drawing/2014/main" id="{027DD7F6-428D-433C-9D6F-E775F29FA8C6}"/>
              </a:ext>
            </a:extLst>
          </p:cNvPr>
          <p:cNvSpPr/>
          <p:nvPr/>
        </p:nvSpPr>
        <p:spPr>
          <a:xfrm>
            <a:off x="561218" y="5088230"/>
            <a:ext cx="7986654" cy="1000274"/>
          </a:xfrm>
          <a:prstGeom prst="rect">
            <a:avLst/>
          </a:prstGeom>
        </p:spPr>
        <p:txBody>
          <a:bodyPr wrap="square">
            <a:spAutoFit/>
          </a:bodyPr>
          <a:lstStyle/>
          <a:p>
            <a:r>
              <a:rPr lang="fr-CA" dirty="0">
                <a:latin typeface="Arial" panose="020B0604020202020204" pitchFamily="34" charset="0"/>
                <a:cs typeface="Arial" panose="020B0604020202020204" pitchFamily="34" charset="0"/>
              </a:rPr>
              <a:t>Les liaisons entre les groupements phosphate sont instables. Lorsque ces liaisons se rompent par hydrolyse, elles libèrent de l’énergie :</a:t>
            </a:r>
          </a:p>
          <a:p>
            <a:pPr>
              <a:spcBef>
                <a:spcPts val="600"/>
              </a:spcBef>
            </a:pPr>
            <a:r>
              <a:rPr lang="pt-BR" b="1" dirty="0">
                <a:latin typeface="Arial" panose="020B0604020202020204" pitchFamily="34" charset="0"/>
                <a:cs typeface="Arial" panose="020B0604020202020204" pitchFamily="34" charset="0"/>
              </a:rPr>
              <a:t>ATP + H</a:t>
            </a:r>
            <a:r>
              <a:rPr lang="pt-BR" b="1" baseline="-25000" dirty="0">
                <a:latin typeface="Arial" panose="020B0604020202020204" pitchFamily="34" charset="0"/>
                <a:cs typeface="Arial" panose="020B0604020202020204" pitchFamily="34" charset="0"/>
              </a:rPr>
              <a:t>2</a:t>
            </a:r>
            <a:r>
              <a:rPr lang="pt-BR" b="1" dirty="0">
                <a:latin typeface="Arial" panose="020B0604020202020204" pitchFamily="34" charset="0"/>
                <a:cs typeface="Arial" panose="020B0604020202020204" pitchFamily="34" charset="0"/>
              </a:rPr>
              <a:t>O </a:t>
            </a:r>
            <a:r>
              <a:rPr lang="pt-BR" b="1" dirty="0">
                <a:latin typeface="Arial" panose="020B0604020202020204" pitchFamily="34" charset="0"/>
                <a:cs typeface="Arial" panose="020B0604020202020204" pitchFamily="34" charset="0"/>
                <a:sym typeface="Symbol"/>
              </a:rPr>
              <a:t></a:t>
            </a:r>
            <a:r>
              <a:rPr lang="pt-BR" b="1" dirty="0">
                <a:latin typeface="Arial" panose="020B0604020202020204" pitchFamily="34" charset="0"/>
                <a:cs typeface="Arial" panose="020B0604020202020204" pitchFamily="34" charset="0"/>
              </a:rPr>
              <a:t>  ADP + P</a:t>
            </a:r>
            <a:r>
              <a:rPr lang="pt-BR" b="1" baseline="-25000" dirty="0">
                <a:latin typeface="Arial" panose="020B0604020202020204" pitchFamily="34" charset="0"/>
                <a:cs typeface="Arial" panose="020B0604020202020204" pitchFamily="34" charset="0"/>
              </a:rPr>
              <a:t>i</a:t>
            </a:r>
            <a:r>
              <a:rPr lang="pt-BR" b="1" dirty="0">
                <a:latin typeface="Arial" panose="020B0604020202020204" pitchFamily="34" charset="0"/>
                <a:cs typeface="Arial" panose="020B0604020202020204" pitchFamily="34" charset="0"/>
              </a:rPr>
              <a:t> + Énergie   </a:t>
            </a:r>
            <a:r>
              <a:rPr lang="pt-BR" dirty="0">
                <a:latin typeface="Arial" panose="020B0604020202020204" pitchFamily="34" charset="0"/>
                <a:cs typeface="Arial" panose="020B0604020202020204" pitchFamily="34" charset="0"/>
              </a:rPr>
              <a:t>(P</a:t>
            </a:r>
            <a:r>
              <a:rPr lang="pt-BR" baseline="-25000" dirty="0">
                <a:latin typeface="Arial" panose="020B0604020202020204" pitchFamily="34" charset="0"/>
                <a:cs typeface="Arial" panose="020B0604020202020204" pitchFamily="34" charset="0"/>
              </a:rPr>
              <a:t>i</a:t>
            </a:r>
            <a:r>
              <a:rPr lang="pt-BR" dirty="0">
                <a:latin typeface="Arial" panose="020B0604020202020204" pitchFamily="34" charset="0"/>
                <a:cs typeface="Arial" panose="020B0604020202020204" pitchFamily="34" charset="0"/>
              </a:rPr>
              <a:t> = phosphate inorganique = H</a:t>
            </a:r>
            <a:r>
              <a:rPr lang="pt-BR" baseline="-25000" dirty="0">
                <a:latin typeface="Arial" panose="020B0604020202020204" pitchFamily="34" charset="0"/>
                <a:cs typeface="Arial" panose="020B0604020202020204" pitchFamily="34" charset="0"/>
              </a:rPr>
              <a:t>2</a:t>
            </a:r>
            <a:r>
              <a:rPr lang="pt-BR" dirty="0">
                <a:latin typeface="Arial" panose="020B0604020202020204" pitchFamily="34" charset="0"/>
                <a:cs typeface="Arial" panose="020B0604020202020204" pitchFamily="34" charset="0"/>
              </a:rPr>
              <a:t>PO</a:t>
            </a:r>
            <a:r>
              <a:rPr lang="pt-BR" baseline="-25000" dirty="0">
                <a:latin typeface="Arial" panose="020B0604020202020204" pitchFamily="34" charset="0"/>
                <a:cs typeface="Arial" panose="020B0604020202020204" pitchFamily="34" charset="0"/>
              </a:rPr>
              <a:t>4</a:t>
            </a:r>
            <a:r>
              <a:rPr lang="pt-BR" baseline="30000" dirty="0">
                <a:latin typeface="Arial"/>
                <a:cs typeface="Arial"/>
              </a:rPr>
              <a:t>− </a:t>
            </a:r>
            <a:r>
              <a:rPr lang="pt-BR" dirty="0">
                <a:latin typeface="Arial"/>
                <a:cs typeface="Arial"/>
              </a:rPr>
              <a:t>)</a:t>
            </a:r>
            <a:endParaRPr lang="fr-CA" baseline="-25000" dirty="0">
              <a:latin typeface="Arial" panose="020B0604020202020204" pitchFamily="34" charset="0"/>
              <a:cs typeface="Arial" panose="020B06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0" name="Freeform 6"/>
          <p:cNvSpPr>
            <a:spLocks/>
          </p:cNvSpPr>
          <p:nvPr/>
        </p:nvSpPr>
        <p:spPr bwMode="auto">
          <a:xfrm>
            <a:off x="6356350" y="1932250"/>
            <a:ext cx="247650" cy="231775"/>
          </a:xfrm>
          <a:custGeom>
            <a:avLst/>
            <a:gdLst>
              <a:gd name="T0" fmla="*/ 0 w 192"/>
              <a:gd name="T1" fmla="*/ 2147483647 h 168"/>
              <a:gd name="T2" fmla="*/ 2147483647 w 192"/>
              <a:gd name="T3" fmla="*/ 0 h 168"/>
              <a:gd name="T4" fmla="*/ 0 w 192"/>
              <a:gd name="T5" fmla="*/ 2147483647 h 168"/>
              <a:gd name="T6" fmla="*/ 0 60000 65536"/>
              <a:gd name="T7" fmla="*/ 0 60000 65536"/>
              <a:gd name="T8" fmla="*/ 0 60000 65536"/>
              <a:gd name="T9" fmla="*/ 0 w 192"/>
              <a:gd name="T10" fmla="*/ 0 h 168"/>
              <a:gd name="T11" fmla="*/ 192 w 192"/>
              <a:gd name="T12" fmla="*/ 168 h 168"/>
            </a:gdLst>
            <a:ahLst/>
            <a:cxnLst>
              <a:cxn ang="T6">
                <a:pos x="T0" y="T1"/>
              </a:cxn>
              <a:cxn ang="T7">
                <a:pos x="T2" y="T3"/>
              </a:cxn>
              <a:cxn ang="T8">
                <a:pos x="T4" y="T5"/>
              </a:cxn>
            </a:cxnLst>
            <a:rect l="T9" t="T10" r="T11" b="T12"/>
            <a:pathLst>
              <a:path w="192" h="168">
                <a:moveTo>
                  <a:pt x="0" y="168"/>
                </a:moveTo>
                <a:lnTo>
                  <a:pt x="192" y="0"/>
                </a:lnTo>
                <a:lnTo>
                  <a:pt x="0" y="168"/>
                </a:lnTo>
                <a:close/>
              </a:path>
            </a:pathLst>
          </a:custGeom>
          <a:solidFill>
            <a:srgbClr val="FFFFFF"/>
          </a:solidFill>
          <a:ln w="9525">
            <a:noFill/>
            <a:round/>
            <a:headEnd/>
            <a:tailEnd/>
          </a:ln>
        </p:spPr>
        <p:txBody>
          <a:bodyPr/>
          <a:lstStyle/>
          <a:p>
            <a:endParaRPr lang="fr-CA"/>
          </a:p>
        </p:txBody>
      </p:sp>
      <p:pic>
        <p:nvPicPr>
          <p:cNvPr id="19489" name="Picture 33" descr="http://cw2.erpi.com/cw/marieb/userfiles/28_Fig_2_24_p_65.jpg"/>
          <p:cNvPicPr>
            <a:picLocks noChangeAspect="1" noChangeArrowheads="1"/>
          </p:cNvPicPr>
          <p:nvPr/>
        </p:nvPicPr>
        <p:blipFill rotWithShape="1">
          <a:blip r:embed="rId3" cstate="print"/>
          <a:srcRect l="3725" r="4392" b="60400"/>
          <a:stretch/>
        </p:blipFill>
        <p:spPr bwMode="auto">
          <a:xfrm>
            <a:off x="2285959" y="2383745"/>
            <a:ext cx="4572081" cy="2954281"/>
          </a:xfrm>
          <a:prstGeom prst="rect">
            <a:avLst/>
          </a:prstGeom>
          <a:noFill/>
        </p:spPr>
      </p:pic>
      <p:sp>
        <p:nvSpPr>
          <p:cNvPr id="18461" name="Text Box 31"/>
          <p:cNvSpPr txBox="1">
            <a:spLocks noChangeArrowheads="1"/>
          </p:cNvSpPr>
          <p:nvPr/>
        </p:nvSpPr>
        <p:spPr bwMode="auto">
          <a:xfrm>
            <a:off x="161216" y="206720"/>
            <a:ext cx="8652846" cy="400110"/>
          </a:xfrm>
          <a:prstGeom prst="rect">
            <a:avLst/>
          </a:prstGeom>
          <a:noFill/>
          <a:ln w="9525">
            <a:noFill/>
            <a:miter lim="800000"/>
            <a:headEnd/>
            <a:tailEnd/>
          </a:ln>
        </p:spPr>
        <p:txBody>
          <a:bodyPr wrap="square">
            <a:spAutoFit/>
          </a:bodyPr>
          <a:lstStyle/>
          <a:p>
            <a:pPr eaLnBrk="1" hangingPunct="1">
              <a:spcBef>
                <a:spcPct val="50000"/>
              </a:spcBef>
              <a:defRPr/>
            </a:pPr>
            <a:r>
              <a:rPr lang="fr-FR" sz="2000" b="1" dirty="0">
                <a:solidFill>
                  <a:schemeClr val="accent2"/>
                </a:solidFill>
                <a:latin typeface="Arial" charset="0"/>
                <a:cs typeface="Arial" charset="0"/>
              </a:rPr>
              <a:t>Utilisation de l’ATP pour les transporteurs actifs primaires</a:t>
            </a:r>
          </a:p>
        </p:txBody>
      </p:sp>
      <p:sp>
        <p:nvSpPr>
          <p:cNvPr id="2" name="Rectangle 1"/>
          <p:cNvSpPr/>
          <p:nvPr/>
        </p:nvSpPr>
        <p:spPr>
          <a:xfrm>
            <a:off x="213359" y="533606"/>
            <a:ext cx="8845799" cy="2139047"/>
          </a:xfrm>
          <a:prstGeom prst="rect">
            <a:avLst/>
          </a:prstGeom>
        </p:spPr>
        <p:txBody>
          <a:bodyPr wrap="square">
            <a:spAutoFit/>
          </a:bodyPr>
          <a:lstStyle/>
          <a:p>
            <a:r>
              <a:rPr lang="fr-CA" sz="1600" dirty="0">
                <a:latin typeface="Arial" panose="020B0604020202020204" pitchFamily="34" charset="0"/>
                <a:cs typeface="Arial" panose="020B0604020202020204" pitchFamily="34" charset="0"/>
              </a:rPr>
              <a:t>L’énergie provenant de l’hydrolyse de l’ATP peut être utilisée en transférant le groupement phosphate ainsi libéré sur une autre molécule. C’est le processus de </a:t>
            </a:r>
            <a:r>
              <a:rPr lang="fr-CA" sz="1600" i="1" dirty="0">
                <a:latin typeface="Arial" panose="020B0604020202020204" pitchFamily="34" charset="0"/>
                <a:cs typeface="Arial" panose="020B0604020202020204" pitchFamily="34" charset="0"/>
              </a:rPr>
              <a:t>phosphorylation</a:t>
            </a:r>
            <a:r>
              <a:rPr lang="fr-CA" sz="1600" dirty="0">
                <a:latin typeface="Arial" panose="020B0604020202020204" pitchFamily="34" charset="0"/>
                <a:cs typeface="Arial" panose="020B0604020202020204" pitchFamily="34" charset="0"/>
              </a:rPr>
              <a:t> (qui se fait via des réactions enzymatiques) :</a:t>
            </a:r>
          </a:p>
          <a:p>
            <a:r>
              <a:rPr lang="fr-CA" sz="1600" dirty="0">
                <a:latin typeface="Arial" panose="020B0604020202020204" pitchFamily="34" charset="0"/>
                <a:cs typeface="Arial" panose="020B0604020202020204" pitchFamily="34" charset="0"/>
              </a:rPr>
              <a:t>ATP + S </a:t>
            </a:r>
            <a:r>
              <a:rPr lang="fr-CA" sz="1600" dirty="0">
                <a:latin typeface="Arial" panose="020B0604020202020204" pitchFamily="34" charset="0"/>
                <a:cs typeface="Arial" panose="020B0604020202020204" pitchFamily="34" charset="0"/>
                <a:sym typeface="Symbol"/>
              </a:rPr>
              <a:t></a:t>
            </a:r>
            <a:r>
              <a:rPr lang="fr-CA" sz="1600" dirty="0">
                <a:latin typeface="Arial" panose="020B0604020202020204" pitchFamily="34" charset="0"/>
                <a:cs typeface="Arial" panose="020B0604020202020204" pitchFamily="34" charset="0"/>
              </a:rPr>
              <a:t> S-P + ADP</a:t>
            </a:r>
          </a:p>
          <a:p>
            <a:r>
              <a:rPr lang="fr-CA" sz="1600" dirty="0">
                <a:latin typeface="Arial" panose="020B0604020202020204" pitchFamily="34" charset="0"/>
                <a:cs typeface="Arial" panose="020B0604020202020204" pitchFamily="34" charset="0"/>
              </a:rPr>
              <a:t>(S = substrat; S-P = substrat phosphorylé)</a:t>
            </a:r>
          </a:p>
          <a:p>
            <a:pPr>
              <a:spcBef>
                <a:spcPts val="600"/>
              </a:spcBef>
            </a:pPr>
            <a:r>
              <a:rPr lang="fr-CA" sz="1600" dirty="0">
                <a:latin typeface="Arial" panose="020B0604020202020204" pitchFamily="34" charset="0"/>
                <a:cs typeface="Arial" panose="020B0604020202020204" pitchFamily="34" charset="0"/>
              </a:rPr>
              <a:t>La molécule phosphorylée (S-P) est ainsi activée, riche en énergie. Elle capable à son tour de générer un « travail cellulaire », dans ce cas, un transport des solutés contre leur gradient de concentration.</a:t>
            </a:r>
          </a:p>
        </p:txBody>
      </p:sp>
      <p:sp>
        <p:nvSpPr>
          <p:cNvPr id="4" name="Text Box 7">
            <a:extLst>
              <a:ext uri="{FF2B5EF4-FFF2-40B4-BE49-F238E27FC236}">
                <a16:creationId xmlns:a16="http://schemas.microsoft.com/office/drawing/2014/main" id="{31DE23E5-F10C-410C-A879-5CF8948F1468}"/>
              </a:ext>
            </a:extLst>
          </p:cNvPr>
          <p:cNvSpPr txBox="1">
            <a:spLocks noChangeArrowheads="1"/>
          </p:cNvSpPr>
          <p:nvPr/>
        </p:nvSpPr>
        <p:spPr bwMode="auto">
          <a:xfrm>
            <a:off x="7278493" y="5006939"/>
            <a:ext cx="808482" cy="338554"/>
          </a:xfrm>
          <a:prstGeom prst="rect">
            <a:avLst/>
          </a:prstGeom>
          <a:noFill/>
          <a:ln w="6350">
            <a:solidFill>
              <a:srgbClr val="0000FF"/>
            </a:solidFill>
            <a:miter lim="800000"/>
            <a:headEnd/>
            <a:tailEnd/>
          </a:ln>
        </p:spPr>
        <p:txBody>
          <a:bodyPr wrap="none" lIns="36000" rIns="36000">
            <a:spAutoFit/>
          </a:bodyPr>
          <a:lstStyle/>
          <a:p>
            <a:pPr eaLnBrk="0" hangingPunct="0"/>
            <a:r>
              <a:rPr lang="fr-CA" sz="1600" dirty="0">
                <a:solidFill>
                  <a:srgbClr val="3333FF"/>
                </a:solidFill>
              </a:rPr>
              <a:t>Fig. 2.24</a:t>
            </a:r>
            <a:endParaRPr lang="en-US" sz="1600" dirty="0">
              <a:solidFill>
                <a:srgbClr val="3333FF"/>
              </a:solidFill>
            </a:endParaRPr>
          </a:p>
        </p:txBody>
      </p:sp>
      <p:sp>
        <p:nvSpPr>
          <p:cNvPr id="10" name="TextBox 9">
            <a:extLst>
              <a:ext uri="{FF2B5EF4-FFF2-40B4-BE49-F238E27FC236}">
                <a16:creationId xmlns:a16="http://schemas.microsoft.com/office/drawing/2014/main" id="{ADBCB65C-AB2A-44D4-AAA6-799FEC848BA8}"/>
              </a:ext>
            </a:extLst>
          </p:cNvPr>
          <p:cNvSpPr txBox="1"/>
          <p:nvPr/>
        </p:nvSpPr>
        <p:spPr>
          <a:xfrm>
            <a:off x="-1" y="5691513"/>
            <a:ext cx="8523215" cy="646331"/>
          </a:xfrm>
          <a:prstGeom prst="rect">
            <a:avLst/>
          </a:prstGeom>
          <a:noFill/>
        </p:spPr>
        <p:txBody>
          <a:bodyPr wrap="square">
            <a:spAutoFit/>
          </a:bodyPr>
          <a:lstStyle/>
          <a:p>
            <a:pPr marL="896938" lvl="1" indent="-720725" eaLnBrk="0" hangingPunct="0">
              <a:spcBef>
                <a:spcPct val="10000"/>
              </a:spcBef>
              <a:buFont typeface="Times New Roman" pitchFamily="18" charset="0"/>
              <a:buNone/>
              <a:tabLst>
                <a:tab pos="1485900" algn="l"/>
              </a:tabLst>
            </a:pPr>
            <a:r>
              <a:rPr lang="fr-CA" u="sng" dirty="0">
                <a:latin typeface="Arial" charset="0"/>
                <a:sym typeface="Wingdings" pitchFamily="2" charset="2"/>
              </a:rPr>
              <a:t>Note</a:t>
            </a:r>
            <a:r>
              <a:rPr lang="fr-CA" dirty="0">
                <a:latin typeface="Arial" charset="0"/>
                <a:sym typeface="Wingdings" pitchFamily="2" charset="2"/>
              </a:rPr>
              <a:t> : 	</a:t>
            </a:r>
            <a:r>
              <a:rPr lang="fr-CA" dirty="0">
                <a:latin typeface="Arial" charset="0"/>
              </a:rPr>
              <a:t>tous les transporteurs actifs primaires sont des </a:t>
            </a:r>
            <a:r>
              <a:rPr lang="fr-CA" b="1" i="1" dirty="0">
                <a:latin typeface="Arial" charset="0"/>
              </a:rPr>
              <a:t>ATPases </a:t>
            </a:r>
            <a:r>
              <a:rPr lang="fr-CA" dirty="0">
                <a:solidFill>
                  <a:srgbClr val="000000"/>
                </a:solidFill>
                <a:latin typeface="Arial"/>
                <a:ea typeface="Times New Roman"/>
              </a:rPr>
              <a:t>(enzymes qui hydrolysent  l’ATP).</a:t>
            </a:r>
            <a:r>
              <a:rPr lang="fr-CA" b="1" i="1" dirty="0">
                <a:latin typeface="Arial" charset="0"/>
              </a:rPr>
              <a:t> </a:t>
            </a:r>
            <a:r>
              <a:rPr lang="fr-CA" dirty="0">
                <a:latin typeface="Arial" charset="0"/>
              </a:rPr>
              <a:t> </a:t>
            </a:r>
          </a:p>
        </p:txBody>
      </p:sp>
    </p:spTree>
    <p:extLst>
      <p:ext uri="{BB962C8B-B14F-4D97-AF65-F5344CB8AC3E}">
        <p14:creationId xmlns:p14="http://schemas.microsoft.com/office/powerpoint/2010/main" val="14647127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4"/>
          <p:cNvSpPr>
            <a:spLocks noChangeArrowheads="1"/>
          </p:cNvSpPr>
          <p:nvPr/>
        </p:nvSpPr>
        <p:spPr bwMode="auto">
          <a:xfrm>
            <a:off x="262036" y="353255"/>
            <a:ext cx="7607618" cy="461665"/>
          </a:xfrm>
          <a:prstGeom prst="rect">
            <a:avLst/>
          </a:prstGeom>
          <a:noFill/>
          <a:ln w="9525">
            <a:noFill/>
            <a:miter lim="800000"/>
            <a:headEnd/>
            <a:tailEnd/>
          </a:ln>
        </p:spPr>
        <p:txBody>
          <a:bodyPr wrap="square" anchor="ctr">
            <a:spAutoFit/>
          </a:bodyPr>
          <a:lstStyle/>
          <a:p>
            <a:pPr marL="365125" indent="-365125" eaLnBrk="0" hangingPunct="0">
              <a:tabLst>
                <a:tab pos="858838" algn="l"/>
                <a:tab pos="1485900" algn="l"/>
              </a:tabLst>
            </a:pPr>
            <a:r>
              <a:rPr lang="fr-CA" sz="2400" b="1" i="1" u="sng" dirty="0">
                <a:solidFill>
                  <a:schemeClr val="accent2"/>
                </a:solidFill>
                <a:latin typeface="Arial" charset="0"/>
              </a:rPr>
              <a:t>Transports actifs primaires</a:t>
            </a:r>
            <a:endParaRPr lang="en-US" sz="2400" b="1" dirty="0">
              <a:solidFill>
                <a:schemeClr val="accent2"/>
              </a:solidFill>
              <a:latin typeface="Arial" charset="0"/>
            </a:endParaRPr>
          </a:p>
        </p:txBody>
      </p:sp>
      <p:sp>
        <p:nvSpPr>
          <p:cNvPr id="2" name="Rectangle 4">
            <a:extLst>
              <a:ext uri="{FF2B5EF4-FFF2-40B4-BE49-F238E27FC236}">
                <a16:creationId xmlns:a16="http://schemas.microsoft.com/office/drawing/2014/main" id="{89136492-074B-48E6-B619-700CD135A254}"/>
              </a:ext>
            </a:extLst>
          </p:cNvPr>
          <p:cNvSpPr>
            <a:spLocks noChangeArrowheads="1"/>
          </p:cNvSpPr>
          <p:nvPr/>
        </p:nvSpPr>
        <p:spPr bwMode="auto">
          <a:xfrm>
            <a:off x="-84841" y="814920"/>
            <a:ext cx="8608587" cy="4222759"/>
          </a:xfrm>
          <a:prstGeom prst="rect">
            <a:avLst/>
          </a:prstGeom>
          <a:noFill/>
          <a:ln w="9525">
            <a:noFill/>
            <a:miter lim="800000"/>
            <a:headEnd/>
            <a:tailEnd/>
          </a:ln>
        </p:spPr>
        <p:txBody>
          <a:bodyPr wrap="square" anchor="ctr">
            <a:spAutoFit/>
          </a:bodyPr>
          <a:lstStyle/>
          <a:p>
            <a:pPr marL="365125" lvl="0">
              <a:spcBef>
                <a:spcPts val="300"/>
              </a:spcBef>
              <a:spcAft>
                <a:spcPts val="0"/>
              </a:spcAft>
              <a:buSzPct val="100000"/>
            </a:pPr>
            <a:r>
              <a:rPr lang="fr-FR" dirty="0">
                <a:solidFill>
                  <a:srgbClr val="000000"/>
                </a:solidFill>
                <a:latin typeface="Arial"/>
                <a:ea typeface="Times New Roman"/>
              </a:rPr>
              <a:t>Dans les cellules humaines, il existe 3 types de transports actifs primaires :</a:t>
            </a:r>
            <a:endParaRPr lang="fr-CA" sz="2000" dirty="0">
              <a:solidFill>
                <a:srgbClr val="000000"/>
              </a:solidFill>
              <a:latin typeface="Times New Roman"/>
              <a:ea typeface="Times New Roman"/>
            </a:endParaRPr>
          </a:p>
          <a:p>
            <a:pPr marL="808038" lvl="1" indent="-182563">
              <a:spcBef>
                <a:spcPts val="600"/>
              </a:spcBef>
              <a:spcAft>
                <a:spcPts val="0"/>
              </a:spcAft>
              <a:buSzPct val="120000"/>
              <a:buFont typeface="Arial" panose="020B0604020202020204" pitchFamily="34" charset="0"/>
              <a:buChar char="•"/>
            </a:pPr>
            <a:r>
              <a:rPr lang="fr-FR" b="1" i="1" dirty="0">
                <a:solidFill>
                  <a:srgbClr val="000000"/>
                </a:solidFill>
                <a:latin typeface="Arial"/>
                <a:ea typeface="Times New Roman"/>
              </a:rPr>
              <a:t>Na</a:t>
            </a:r>
            <a:r>
              <a:rPr lang="fr-FR" b="1" i="1" baseline="30000" dirty="0">
                <a:solidFill>
                  <a:srgbClr val="000000"/>
                </a:solidFill>
                <a:latin typeface="Arial"/>
                <a:ea typeface="Times New Roman"/>
              </a:rPr>
              <a:t>+</a:t>
            </a:r>
            <a:r>
              <a:rPr lang="fr-FR" b="1" i="1" dirty="0">
                <a:solidFill>
                  <a:srgbClr val="000000"/>
                </a:solidFill>
                <a:latin typeface="Arial"/>
                <a:ea typeface="Times New Roman"/>
              </a:rPr>
              <a:t>-K</a:t>
            </a:r>
            <a:r>
              <a:rPr lang="fr-FR" b="1" i="1" baseline="30000" dirty="0">
                <a:solidFill>
                  <a:srgbClr val="000000"/>
                </a:solidFill>
                <a:latin typeface="Arial"/>
                <a:ea typeface="Times New Roman"/>
              </a:rPr>
              <a:t>+</a:t>
            </a:r>
            <a:r>
              <a:rPr lang="fr-FR" b="1" i="1" dirty="0">
                <a:solidFill>
                  <a:srgbClr val="000000"/>
                </a:solidFill>
                <a:latin typeface="Arial"/>
                <a:ea typeface="Times New Roman"/>
              </a:rPr>
              <a:t> ATPase </a:t>
            </a:r>
            <a:r>
              <a:rPr lang="fr-FR" b="1" dirty="0">
                <a:solidFill>
                  <a:srgbClr val="000000"/>
                </a:solidFill>
                <a:latin typeface="Arial"/>
                <a:ea typeface="Times New Roman"/>
              </a:rPr>
              <a:t>(</a:t>
            </a:r>
            <a:r>
              <a:rPr lang="fr-FR" b="1" i="1" dirty="0">
                <a:solidFill>
                  <a:srgbClr val="000000"/>
                </a:solidFill>
                <a:latin typeface="Arial"/>
                <a:ea typeface="Times New Roman"/>
              </a:rPr>
              <a:t>pompe à Na-K</a:t>
            </a:r>
            <a:r>
              <a:rPr lang="fr-FR" b="1" dirty="0">
                <a:solidFill>
                  <a:srgbClr val="000000"/>
                </a:solidFill>
                <a:latin typeface="Arial"/>
                <a:ea typeface="Times New Roman"/>
              </a:rPr>
              <a:t>) : </a:t>
            </a:r>
            <a:r>
              <a:rPr lang="fr-FR" dirty="0">
                <a:solidFill>
                  <a:srgbClr val="000000"/>
                </a:solidFill>
                <a:latin typeface="Arial"/>
                <a:ea typeface="Times New Roman"/>
              </a:rPr>
              <a:t>contrôle les concen­tra­tions intracellulaires de Na</a:t>
            </a:r>
            <a:r>
              <a:rPr lang="fr-FR" baseline="30000" dirty="0">
                <a:solidFill>
                  <a:srgbClr val="000000"/>
                </a:solidFill>
                <a:latin typeface="Arial"/>
                <a:ea typeface="Times New Roman"/>
              </a:rPr>
              <a:t>+</a:t>
            </a:r>
            <a:r>
              <a:rPr lang="fr-FR" dirty="0">
                <a:solidFill>
                  <a:srgbClr val="000000"/>
                </a:solidFill>
                <a:latin typeface="Arial"/>
                <a:ea typeface="Times New Roman"/>
              </a:rPr>
              <a:t> et K</a:t>
            </a:r>
            <a:r>
              <a:rPr lang="fr-FR" baseline="30000" dirty="0">
                <a:solidFill>
                  <a:srgbClr val="000000"/>
                </a:solidFill>
                <a:latin typeface="Arial"/>
                <a:ea typeface="Times New Roman"/>
              </a:rPr>
              <a:t>+</a:t>
            </a:r>
            <a:r>
              <a:rPr lang="fr-FR" dirty="0">
                <a:solidFill>
                  <a:srgbClr val="000000"/>
                </a:solidFill>
                <a:latin typeface="Arial"/>
                <a:ea typeface="Times New Roman"/>
              </a:rPr>
              <a:t>; retrouvée dans la membrane plasmique de la très grande majorité des cellules (y compris les globules rouges).</a:t>
            </a:r>
            <a:endParaRPr lang="fr-CA" sz="2000" dirty="0">
              <a:solidFill>
                <a:srgbClr val="000000"/>
              </a:solidFill>
              <a:latin typeface="Times New Roman"/>
              <a:ea typeface="Times New Roman"/>
            </a:endParaRPr>
          </a:p>
          <a:p>
            <a:pPr marL="808038" lvl="1" indent="-182563">
              <a:spcBef>
                <a:spcPts val="600"/>
              </a:spcBef>
              <a:spcAft>
                <a:spcPts val="0"/>
              </a:spcAft>
              <a:buSzPct val="120000"/>
              <a:buFont typeface="Arial" panose="020B0604020202020204" pitchFamily="34" charset="0"/>
              <a:buChar char="•"/>
            </a:pPr>
            <a:r>
              <a:rPr lang="fr-FR" b="1" i="1" dirty="0">
                <a:solidFill>
                  <a:srgbClr val="000000"/>
                </a:solidFill>
                <a:latin typeface="Arial"/>
                <a:ea typeface="Times New Roman"/>
              </a:rPr>
              <a:t>Ca</a:t>
            </a:r>
            <a:r>
              <a:rPr lang="fr-FR" b="1" i="1" baseline="30000" dirty="0">
                <a:solidFill>
                  <a:srgbClr val="000000"/>
                </a:solidFill>
                <a:latin typeface="Arial"/>
                <a:ea typeface="Times New Roman"/>
              </a:rPr>
              <a:t>2+</a:t>
            </a:r>
            <a:r>
              <a:rPr lang="fr-FR" b="1" i="1" dirty="0">
                <a:solidFill>
                  <a:srgbClr val="000000"/>
                </a:solidFill>
                <a:latin typeface="Arial"/>
                <a:ea typeface="Times New Roman"/>
              </a:rPr>
              <a:t> ATPase</a:t>
            </a:r>
            <a:r>
              <a:rPr lang="fr-FR" b="1" dirty="0">
                <a:solidFill>
                  <a:srgbClr val="000000"/>
                </a:solidFill>
                <a:latin typeface="Arial"/>
                <a:ea typeface="Times New Roman"/>
              </a:rPr>
              <a:t> (</a:t>
            </a:r>
            <a:r>
              <a:rPr lang="fr-FR" b="1" i="1" dirty="0">
                <a:solidFill>
                  <a:srgbClr val="000000"/>
                </a:solidFill>
                <a:latin typeface="Arial"/>
                <a:ea typeface="Times New Roman"/>
              </a:rPr>
              <a:t>pompe à calcium</a:t>
            </a:r>
            <a:r>
              <a:rPr lang="fr-FR" b="1" dirty="0">
                <a:solidFill>
                  <a:srgbClr val="000000"/>
                </a:solidFill>
                <a:latin typeface="Arial"/>
                <a:ea typeface="Times New Roman"/>
              </a:rPr>
              <a:t>) : </a:t>
            </a:r>
            <a:r>
              <a:rPr lang="fr-FR" dirty="0">
                <a:solidFill>
                  <a:srgbClr val="000000"/>
                </a:solidFill>
                <a:latin typeface="Arial"/>
                <a:ea typeface="Times New Roman"/>
              </a:rPr>
              <a:t>utilisée pour faire sortir les ions Ca</a:t>
            </a:r>
            <a:r>
              <a:rPr lang="fr-FR" baseline="30000" dirty="0">
                <a:solidFill>
                  <a:srgbClr val="000000"/>
                </a:solidFill>
                <a:latin typeface="Arial"/>
                <a:ea typeface="Times New Roman"/>
              </a:rPr>
              <a:t>2+</a:t>
            </a:r>
            <a:r>
              <a:rPr lang="fr-FR" dirty="0">
                <a:solidFill>
                  <a:srgbClr val="000000"/>
                </a:solidFill>
                <a:latin typeface="Arial"/>
                <a:ea typeface="Times New Roman"/>
              </a:rPr>
              <a:t> à l’extérieur des cellules ou encore pour emmagasiner ces ions à l’intérieur d’organites cellulaires (tel le réticulum endoplasmique lisse); abondante dans les cellules musculaires.</a:t>
            </a:r>
            <a:endParaRPr lang="fr-CA" sz="2000" dirty="0">
              <a:solidFill>
                <a:srgbClr val="000000"/>
              </a:solidFill>
              <a:latin typeface="Times New Roman"/>
              <a:ea typeface="Times New Roman"/>
            </a:endParaRPr>
          </a:p>
          <a:p>
            <a:pPr marL="808038" lvl="1" indent="-182563">
              <a:spcBef>
                <a:spcPts val="600"/>
              </a:spcBef>
              <a:spcAft>
                <a:spcPts val="0"/>
              </a:spcAft>
              <a:buSzPct val="120000"/>
              <a:buFont typeface="Arial" panose="020B0604020202020204" pitchFamily="34" charset="0"/>
              <a:buChar char="•"/>
            </a:pPr>
            <a:r>
              <a:rPr lang="fr-FR" b="1" i="1" dirty="0">
                <a:solidFill>
                  <a:srgbClr val="000000"/>
                </a:solidFill>
                <a:latin typeface="Arial"/>
                <a:ea typeface="Times New Roman"/>
              </a:rPr>
              <a:t>H</a:t>
            </a:r>
            <a:r>
              <a:rPr lang="fr-FR" b="1" i="1" baseline="30000" dirty="0">
                <a:solidFill>
                  <a:srgbClr val="000000"/>
                </a:solidFill>
                <a:latin typeface="Arial"/>
                <a:ea typeface="Times New Roman"/>
              </a:rPr>
              <a:t>+</a:t>
            </a:r>
            <a:r>
              <a:rPr lang="fr-FR" b="1" i="1" dirty="0">
                <a:solidFill>
                  <a:srgbClr val="000000"/>
                </a:solidFill>
                <a:latin typeface="Arial"/>
                <a:ea typeface="Times New Roman"/>
              </a:rPr>
              <a:t> ATPase </a:t>
            </a:r>
            <a:r>
              <a:rPr lang="fr-FR" b="1" dirty="0">
                <a:solidFill>
                  <a:srgbClr val="000000"/>
                </a:solidFill>
                <a:latin typeface="Arial"/>
                <a:ea typeface="Times New Roman"/>
              </a:rPr>
              <a:t>et </a:t>
            </a:r>
            <a:r>
              <a:rPr lang="fr-FR" b="1" i="1" dirty="0">
                <a:solidFill>
                  <a:srgbClr val="000000"/>
                </a:solidFill>
                <a:latin typeface="Arial"/>
                <a:ea typeface="Times New Roman"/>
              </a:rPr>
              <a:t>H</a:t>
            </a:r>
            <a:r>
              <a:rPr lang="fr-FR" b="1" i="1" baseline="30000" dirty="0">
                <a:solidFill>
                  <a:srgbClr val="000000"/>
                </a:solidFill>
                <a:latin typeface="Arial"/>
                <a:ea typeface="Times New Roman"/>
              </a:rPr>
              <a:t>+</a:t>
            </a:r>
            <a:r>
              <a:rPr lang="fr-FR" b="1" dirty="0">
                <a:solidFill>
                  <a:srgbClr val="000000"/>
                </a:solidFill>
                <a:latin typeface="Arial"/>
                <a:ea typeface="Times New Roman"/>
              </a:rPr>
              <a:t>-</a:t>
            </a:r>
            <a:r>
              <a:rPr lang="fr-FR" b="1" i="1" dirty="0">
                <a:solidFill>
                  <a:srgbClr val="000000"/>
                </a:solidFill>
                <a:latin typeface="Arial"/>
                <a:ea typeface="Times New Roman"/>
              </a:rPr>
              <a:t>K</a:t>
            </a:r>
            <a:r>
              <a:rPr lang="fr-FR" b="1" i="1" baseline="30000" dirty="0">
                <a:solidFill>
                  <a:srgbClr val="000000"/>
                </a:solidFill>
                <a:latin typeface="Arial"/>
                <a:ea typeface="Times New Roman"/>
              </a:rPr>
              <a:t>+ </a:t>
            </a:r>
            <a:r>
              <a:rPr lang="fr-FR" b="1" i="1" dirty="0">
                <a:solidFill>
                  <a:srgbClr val="000000"/>
                </a:solidFill>
                <a:latin typeface="Arial"/>
                <a:ea typeface="Times New Roman"/>
              </a:rPr>
              <a:t>ATPase</a:t>
            </a:r>
            <a:r>
              <a:rPr lang="fr-FR" b="1" dirty="0">
                <a:solidFill>
                  <a:srgbClr val="000000"/>
                </a:solidFill>
                <a:latin typeface="Arial"/>
                <a:ea typeface="Times New Roman"/>
              </a:rPr>
              <a:t> (</a:t>
            </a:r>
            <a:r>
              <a:rPr lang="fr-FR" b="1" i="1" dirty="0">
                <a:solidFill>
                  <a:srgbClr val="000000"/>
                </a:solidFill>
                <a:latin typeface="Arial"/>
                <a:ea typeface="Times New Roman"/>
              </a:rPr>
              <a:t>pompes à protons</a:t>
            </a:r>
            <a:r>
              <a:rPr lang="fr-FR" b="1" dirty="0">
                <a:solidFill>
                  <a:srgbClr val="000000"/>
                </a:solidFill>
                <a:latin typeface="Arial"/>
                <a:ea typeface="Times New Roman"/>
              </a:rPr>
              <a:t>) : </a:t>
            </a:r>
            <a:r>
              <a:rPr lang="fr-FR" dirty="0">
                <a:solidFill>
                  <a:srgbClr val="000000"/>
                </a:solidFill>
                <a:latin typeface="Arial"/>
                <a:ea typeface="Times New Roman"/>
              </a:rPr>
              <a:t>rejettent activement les ions H</a:t>
            </a:r>
            <a:r>
              <a:rPr lang="fr-FR" baseline="30000" dirty="0">
                <a:solidFill>
                  <a:srgbClr val="000000"/>
                </a:solidFill>
                <a:latin typeface="Arial"/>
                <a:ea typeface="Times New Roman"/>
              </a:rPr>
              <a:t>+</a:t>
            </a:r>
            <a:r>
              <a:rPr lang="fr-FR" dirty="0">
                <a:solidFill>
                  <a:srgbClr val="000000"/>
                </a:solidFill>
                <a:latin typeface="Arial"/>
                <a:ea typeface="Times New Roman"/>
              </a:rPr>
              <a:t> ions dans l’espace extracellulaire; retrouvées dans des cellules spécialisées du rein et de l’estomac. La H</a:t>
            </a:r>
            <a:r>
              <a:rPr lang="fr-FR" baseline="30000" dirty="0">
                <a:solidFill>
                  <a:srgbClr val="000000"/>
                </a:solidFill>
                <a:latin typeface="Arial"/>
                <a:ea typeface="Times New Roman"/>
              </a:rPr>
              <a:t>+</a:t>
            </a:r>
            <a:r>
              <a:rPr lang="fr-FR" dirty="0">
                <a:solidFill>
                  <a:srgbClr val="000000"/>
                </a:solidFill>
                <a:latin typeface="Arial"/>
                <a:ea typeface="Times New Roman"/>
              </a:rPr>
              <a:t>-K</a:t>
            </a:r>
            <a:r>
              <a:rPr lang="fr-FR" baseline="30000" dirty="0">
                <a:solidFill>
                  <a:srgbClr val="000000"/>
                </a:solidFill>
                <a:latin typeface="Arial"/>
                <a:ea typeface="Times New Roman"/>
              </a:rPr>
              <a:t>+ </a:t>
            </a:r>
            <a:r>
              <a:rPr lang="fr-FR" dirty="0">
                <a:solidFill>
                  <a:srgbClr val="000000"/>
                </a:solidFill>
                <a:latin typeface="Arial"/>
                <a:ea typeface="Times New Roman"/>
              </a:rPr>
              <a:t>ATPase est ainsi responsable de l’acidification de la lumière de l’estomac lors de la digestion d’aliments.</a:t>
            </a:r>
            <a:endParaRPr lang="fr-CA" sz="2000" dirty="0">
              <a:solidFill>
                <a:srgbClr val="000000"/>
              </a:solidFill>
              <a:latin typeface="Times New Roman"/>
              <a:ea typeface="Times New Roman"/>
            </a:endParaRPr>
          </a:p>
          <a:p>
            <a:pPr marL="804545">
              <a:lnSpc>
                <a:spcPct val="50000"/>
              </a:lnSpc>
              <a:spcAft>
                <a:spcPts val="0"/>
              </a:spcAft>
              <a:tabLst>
                <a:tab pos="914400" algn="l"/>
              </a:tabLst>
            </a:pPr>
            <a:r>
              <a:rPr lang="fr-FR" dirty="0">
                <a:solidFill>
                  <a:srgbClr val="000000"/>
                </a:solidFill>
                <a:latin typeface="Arial"/>
                <a:ea typeface="Times New Roman"/>
              </a:rPr>
              <a:t> </a:t>
            </a:r>
            <a:endParaRPr lang="fr-CA" sz="2000" dirty="0">
              <a:solidFill>
                <a:srgbClr val="000000"/>
              </a:solidFill>
              <a:latin typeface="Times New Roman"/>
              <a:ea typeface="Times New Roman"/>
            </a:endParaRPr>
          </a:p>
        </p:txBody>
      </p:sp>
    </p:spTree>
    <p:extLst>
      <p:ext uri="{BB962C8B-B14F-4D97-AF65-F5344CB8AC3E}">
        <p14:creationId xmlns:p14="http://schemas.microsoft.com/office/powerpoint/2010/main" val="15558812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rotWithShape="1">
          <a:blip r:embed="rId3">
            <a:extLst>
              <a:ext uri="{28A0092B-C50C-407E-A947-70E740481C1C}">
                <a14:useLocalDpi xmlns:a14="http://schemas.microsoft.com/office/drawing/2010/main" val="0"/>
              </a:ext>
            </a:extLst>
          </a:blip>
          <a:srcRect t="7663" b="3315"/>
          <a:stretch/>
        </p:blipFill>
        <p:spPr>
          <a:xfrm>
            <a:off x="4133612" y="571573"/>
            <a:ext cx="4979142" cy="5886435"/>
          </a:xfrm>
          <a:prstGeom prst="rect">
            <a:avLst/>
          </a:prstGeom>
        </p:spPr>
      </p:pic>
      <p:sp>
        <p:nvSpPr>
          <p:cNvPr id="10" name="Text Box 10"/>
          <p:cNvSpPr txBox="1">
            <a:spLocks noChangeArrowheads="1"/>
          </p:cNvSpPr>
          <p:nvPr/>
        </p:nvSpPr>
        <p:spPr bwMode="auto">
          <a:xfrm>
            <a:off x="510621" y="3936839"/>
            <a:ext cx="3328629" cy="1015663"/>
          </a:xfrm>
          <a:prstGeom prst="rect">
            <a:avLst/>
          </a:prstGeom>
          <a:noFill/>
          <a:ln w="9525">
            <a:noFill/>
            <a:miter lim="800000"/>
            <a:headEnd/>
            <a:tailEnd/>
          </a:ln>
        </p:spPr>
        <p:txBody>
          <a:bodyPr wrap="square">
            <a:spAutoFit/>
          </a:bodyPr>
          <a:lstStyle/>
          <a:p>
            <a:pPr eaLnBrk="0" hangingPunct="0"/>
            <a:r>
              <a:rPr lang="fr-CA" sz="2000" b="1" dirty="0">
                <a:latin typeface="Calibri" panose="020F0502020204030204" pitchFamily="34" charset="0"/>
              </a:rPr>
              <a:t>Réaction nette:</a:t>
            </a:r>
            <a:endParaRPr lang="en-CA" sz="2000" b="1" dirty="0">
              <a:latin typeface="Calibri" panose="020F0502020204030204" pitchFamily="34" charset="0"/>
            </a:endParaRPr>
          </a:p>
          <a:p>
            <a:pPr eaLnBrk="0" hangingPunct="0"/>
            <a:r>
              <a:rPr lang="en-CA" sz="2000" dirty="0">
                <a:latin typeface="Calibri" panose="020F0502020204030204" pitchFamily="34" charset="0"/>
              </a:rPr>
              <a:t>3 Na</a:t>
            </a:r>
            <a:r>
              <a:rPr lang="en-CA" sz="2000" baseline="30000" dirty="0">
                <a:latin typeface="Calibri" panose="020F0502020204030204" pitchFamily="34" charset="0"/>
              </a:rPr>
              <a:t>+</a:t>
            </a:r>
            <a:r>
              <a:rPr lang="en-CA" sz="2000" baseline="-12000" dirty="0">
                <a:latin typeface="Calibri" panose="020F0502020204030204" pitchFamily="34" charset="0"/>
              </a:rPr>
              <a:t>in</a:t>
            </a:r>
            <a:r>
              <a:rPr lang="en-CA" sz="2000" dirty="0">
                <a:latin typeface="Calibri" panose="020F0502020204030204" pitchFamily="34" charset="0"/>
              </a:rPr>
              <a:t> + 2 K</a:t>
            </a:r>
            <a:r>
              <a:rPr lang="en-CA" sz="2000" baseline="30000" dirty="0">
                <a:latin typeface="Calibri" panose="020F0502020204030204" pitchFamily="34" charset="0"/>
              </a:rPr>
              <a:t>+</a:t>
            </a:r>
            <a:r>
              <a:rPr lang="en-CA" sz="2000" baseline="-12000" dirty="0">
                <a:latin typeface="Calibri" panose="020F0502020204030204" pitchFamily="34" charset="0"/>
              </a:rPr>
              <a:t>ext</a:t>
            </a:r>
            <a:r>
              <a:rPr lang="en-CA" sz="2000" dirty="0">
                <a:latin typeface="Calibri" panose="020F0502020204030204" pitchFamily="34" charset="0"/>
              </a:rPr>
              <a:t> + ATP </a:t>
            </a:r>
          </a:p>
          <a:p>
            <a:pPr eaLnBrk="0" hangingPunct="0"/>
            <a:r>
              <a:rPr lang="fr-CA" sz="2000" dirty="0">
                <a:latin typeface="Calibri" panose="020F0502020204030204" pitchFamily="34" charset="0"/>
                <a:sym typeface="Symbol" pitchFamily="18" charset="2"/>
              </a:rPr>
              <a:t></a:t>
            </a:r>
            <a:r>
              <a:rPr lang="en-CA" sz="2000" dirty="0">
                <a:latin typeface="Calibri" panose="020F0502020204030204" pitchFamily="34" charset="0"/>
              </a:rPr>
              <a:t>  3 Na</a:t>
            </a:r>
            <a:r>
              <a:rPr lang="en-CA" sz="2000" baseline="30000" dirty="0">
                <a:latin typeface="Calibri" panose="020F0502020204030204" pitchFamily="34" charset="0"/>
              </a:rPr>
              <a:t>+</a:t>
            </a:r>
            <a:r>
              <a:rPr lang="en-CA" sz="2000" baseline="-12000" dirty="0">
                <a:latin typeface="Calibri" panose="020F0502020204030204" pitchFamily="34" charset="0"/>
              </a:rPr>
              <a:t>ext</a:t>
            </a:r>
            <a:r>
              <a:rPr lang="en-CA" sz="2000" dirty="0">
                <a:latin typeface="Calibri" panose="020F0502020204030204" pitchFamily="34" charset="0"/>
              </a:rPr>
              <a:t> + 2 K</a:t>
            </a:r>
            <a:r>
              <a:rPr lang="en-CA" sz="2000" baseline="30000" dirty="0">
                <a:latin typeface="Calibri" panose="020F0502020204030204" pitchFamily="34" charset="0"/>
              </a:rPr>
              <a:t>+</a:t>
            </a:r>
            <a:r>
              <a:rPr lang="en-CA" sz="2000" baseline="-12000" dirty="0">
                <a:latin typeface="Calibri" panose="020F0502020204030204" pitchFamily="34" charset="0"/>
              </a:rPr>
              <a:t>in</a:t>
            </a:r>
            <a:r>
              <a:rPr lang="en-CA" sz="2000" dirty="0">
                <a:latin typeface="Calibri" panose="020F0502020204030204" pitchFamily="34" charset="0"/>
              </a:rPr>
              <a:t> + ADP + P</a:t>
            </a:r>
            <a:r>
              <a:rPr lang="en-CA" sz="2000" baseline="-25000" dirty="0">
                <a:latin typeface="Calibri" panose="020F0502020204030204" pitchFamily="34" charset="0"/>
              </a:rPr>
              <a:t>i</a:t>
            </a:r>
            <a:endParaRPr lang="en-US" sz="2000" baseline="-25000" dirty="0">
              <a:latin typeface="Calibri" panose="020F0502020204030204" pitchFamily="34" charset="0"/>
            </a:endParaRPr>
          </a:p>
        </p:txBody>
      </p:sp>
      <p:sp>
        <p:nvSpPr>
          <p:cNvPr id="12" name="Rectangle 11"/>
          <p:cNvSpPr>
            <a:spLocks noChangeArrowheads="1"/>
          </p:cNvSpPr>
          <p:nvPr/>
        </p:nvSpPr>
        <p:spPr bwMode="auto">
          <a:xfrm>
            <a:off x="4284559" y="171463"/>
            <a:ext cx="4828195" cy="400110"/>
          </a:xfrm>
          <a:prstGeom prst="rect">
            <a:avLst/>
          </a:prstGeom>
          <a:noFill/>
          <a:ln w="9525">
            <a:noFill/>
            <a:miter lim="800000"/>
            <a:headEnd/>
            <a:tailEnd/>
          </a:ln>
        </p:spPr>
        <p:txBody>
          <a:bodyPr wrap="square" anchor="ctr">
            <a:spAutoFit/>
          </a:bodyPr>
          <a:lstStyle/>
          <a:p>
            <a:pPr marL="365125" lvl="1" indent="-365125" eaLnBrk="0" hangingPunct="0">
              <a:spcBef>
                <a:spcPct val="25000"/>
              </a:spcBef>
              <a:buSzPct val="80000"/>
              <a:tabLst>
                <a:tab pos="1485900" algn="l"/>
              </a:tabLst>
            </a:pPr>
            <a:r>
              <a:rPr lang="fr-FR" sz="2000" b="1" dirty="0">
                <a:latin typeface="Arial" charset="0"/>
              </a:rPr>
              <a:t>Fonctionnement de la </a:t>
            </a:r>
            <a:r>
              <a:rPr lang="fr-FR" sz="2000" b="1" i="1" dirty="0">
                <a:latin typeface="Arial" charset="0"/>
              </a:rPr>
              <a:t>Na</a:t>
            </a:r>
            <a:r>
              <a:rPr lang="fr-FR" sz="2000" b="1" i="1" baseline="30000" dirty="0">
                <a:latin typeface="Arial" charset="0"/>
              </a:rPr>
              <a:t>+</a:t>
            </a:r>
            <a:r>
              <a:rPr lang="fr-FR" sz="2000" b="1" i="1" dirty="0">
                <a:latin typeface="Arial" charset="0"/>
              </a:rPr>
              <a:t>-K</a:t>
            </a:r>
            <a:r>
              <a:rPr lang="fr-FR" sz="2000" b="1" i="1" baseline="30000" dirty="0">
                <a:latin typeface="Arial" charset="0"/>
              </a:rPr>
              <a:t>+</a:t>
            </a:r>
            <a:r>
              <a:rPr lang="fr-FR" sz="2000" b="1" i="1" dirty="0">
                <a:latin typeface="Arial" charset="0"/>
              </a:rPr>
              <a:t> ATPase</a:t>
            </a:r>
            <a:endParaRPr lang="fr-FR" sz="2000" b="1" dirty="0">
              <a:latin typeface="Arial" charset="0"/>
            </a:endParaRPr>
          </a:p>
        </p:txBody>
      </p:sp>
      <p:sp>
        <p:nvSpPr>
          <p:cNvPr id="3" name="Rectangle 2"/>
          <p:cNvSpPr/>
          <p:nvPr/>
        </p:nvSpPr>
        <p:spPr>
          <a:xfrm>
            <a:off x="185420" y="412182"/>
            <a:ext cx="3837940" cy="3570208"/>
          </a:xfrm>
          <a:prstGeom prst="rect">
            <a:avLst/>
          </a:prstGeom>
        </p:spPr>
        <p:txBody>
          <a:bodyPr wrap="square">
            <a:spAutoFit/>
          </a:bodyPr>
          <a:lstStyle/>
          <a:p>
            <a:pPr marL="285750" lvl="1" indent="-285750">
              <a:spcBef>
                <a:spcPts val="600"/>
              </a:spcBef>
              <a:spcAft>
                <a:spcPts val="0"/>
              </a:spcAft>
              <a:buSzPct val="100000"/>
              <a:buFont typeface="Arial" panose="020B0604020202020204" pitchFamily="34" charset="0"/>
              <a:buChar char="−"/>
            </a:pPr>
            <a:r>
              <a:rPr lang="fr-FR" dirty="0">
                <a:solidFill>
                  <a:srgbClr val="000000"/>
                </a:solidFill>
                <a:latin typeface="Arial" panose="020B0604020202020204" pitchFamily="34" charset="0"/>
                <a:ea typeface="Times New Roman"/>
                <a:cs typeface="Arial" panose="020B0604020202020204" pitchFamily="34" charset="0"/>
              </a:rPr>
              <a:t>La Na</a:t>
            </a:r>
            <a:r>
              <a:rPr lang="fr-FR" baseline="30000" dirty="0">
                <a:solidFill>
                  <a:srgbClr val="000000"/>
                </a:solidFill>
                <a:latin typeface="Arial" panose="020B0604020202020204" pitchFamily="34" charset="0"/>
                <a:ea typeface="Times New Roman"/>
                <a:cs typeface="Arial" panose="020B0604020202020204" pitchFamily="34" charset="0"/>
              </a:rPr>
              <a:t>+</a:t>
            </a:r>
            <a:r>
              <a:rPr lang="fr-FR" dirty="0">
                <a:solidFill>
                  <a:srgbClr val="000000"/>
                </a:solidFill>
                <a:latin typeface="Arial" panose="020B0604020202020204" pitchFamily="34" charset="0"/>
                <a:ea typeface="Times New Roman"/>
                <a:cs typeface="Arial" panose="020B0604020202020204" pitchFamily="34" charset="0"/>
              </a:rPr>
              <a:t>-K</a:t>
            </a:r>
            <a:r>
              <a:rPr lang="fr-FR" baseline="30000" dirty="0">
                <a:solidFill>
                  <a:srgbClr val="000000"/>
                </a:solidFill>
                <a:latin typeface="Arial" panose="020B0604020202020204" pitchFamily="34" charset="0"/>
                <a:ea typeface="Times New Roman"/>
                <a:cs typeface="Arial" panose="020B0604020202020204" pitchFamily="34" charset="0"/>
              </a:rPr>
              <a:t>+</a:t>
            </a:r>
            <a:r>
              <a:rPr lang="fr-FR" dirty="0">
                <a:solidFill>
                  <a:srgbClr val="000000"/>
                </a:solidFill>
                <a:latin typeface="Arial" panose="020B0604020202020204" pitchFamily="34" charset="0"/>
                <a:ea typeface="Times New Roman"/>
                <a:cs typeface="Arial" panose="020B0604020202020204" pitchFamily="34" charset="0"/>
              </a:rPr>
              <a:t> ATPase pompe le Na</a:t>
            </a:r>
            <a:r>
              <a:rPr lang="fr-FR" baseline="30000" dirty="0">
                <a:solidFill>
                  <a:srgbClr val="000000"/>
                </a:solidFill>
                <a:latin typeface="Arial" panose="020B0604020202020204" pitchFamily="34" charset="0"/>
                <a:ea typeface="Times New Roman"/>
                <a:cs typeface="Arial" panose="020B0604020202020204" pitchFamily="34" charset="0"/>
              </a:rPr>
              <a:t>+</a:t>
            </a:r>
            <a:r>
              <a:rPr lang="fr-FR" dirty="0">
                <a:solidFill>
                  <a:srgbClr val="000000"/>
                </a:solidFill>
                <a:latin typeface="Arial" panose="020B0604020202020204" pitchFamily="34" charset="0"/>
                <a:ea typeface="Times New Roman"/>
                <a:cs typeface="Arial" panose="020B0604020202020204" pitchFamily="34" charset="0"/>
              </a:rPr>
              <a:t> à l’extérieur et le K</a:t>
            </a:r>
            <a:r>
              <a:rPr lang="fr-FR" baseline="30000" dirty="0">
                <a:solidFill>
                  <a:srgbClr val="000000"/>
                </a:solidFill>
                <a:latin typeface="Arial" panose="020B0604020202020204" pitchFamily="34" charset="0"/>
                <a:ea typeface="Times New Roman"/>
                <a:cs typeface="Arial" panose="020B0604020202020204" pitchFamily="34" charset="0"/>
              </a:rPr>
              <a:t>+</a:t>
            </a:r>
            <a:r>
              <a:rPr lang="fr-FR" dirty="0">
                <a:solidFill>
                  <a:srgbClr val="000000"/>
                </a:solidFill>
                <a:latin typeface="Arial" panose="020B0604020202020204" pitchFamily="34" charset="0"/>
                <a:ea typeface="Times New Roman"/>
                <a:cs typeface="Arial" panose="020B0604020202020204" pitchFamily="34" charset="0"/>
              </a:rPr>
              <a:t> à l’intérieur (i.e. </a:t>
            </a:r>
            <a:r>
              <a:rPr lang="fr-FR" u="sng" dirty="0">
                <a:solidFill>
                  <a:srgbClr val="000000"/>
                </a:solidFill>
                <a:latin typeface="Arial" panose="020B0604020202020204" pitchFamily="34" charset="0"/>
                <a:ea typeface="Times New Roman"/>
                <a:cs typeface="Arial" panose="020B0604020202020204" pitchFamily="34" charset="0"/>
              </a:rPr>
              <a:t>contre</a:t>
            </a:r>
            <a:r>
              <a:rPr lang="fr-FR" dirty="0">
                <a:solidFill>
                  <a:srgbClr val="000000"/>
                </a:solidFill>
                <a:latin typeface="Arial" panose="020B0604020202020204" pitchFamily="34" charset="0"/>
                <a:ea typeface="Times New Roman"/>
                <a:cs typeface="Arial" panose="020B0604020202020204" pitchFamily="34" charset="0"/>
              </a:rPr>
              <a:t> leur gradient de concentration).</a:t>
            </a:r>
            <a:endParaRPr lang="fr-CA" dirty="0">
              <a:solidFill>
                <a:srgbClr val="000000"/>
              </a:solidFill>
              <a:latin typeface="Arial" panose="020B0604020202020204" pitchFamily="34" charset="0"/>
              <a:ea typeface="Times New Roman"/>
              <a:cs typeface="Arial" panose="020B0604020202020204" pitchFamily="34" charset="0"/>
            </a:endParaRPr>
          </a:p>
          <a:p>
            <a:pPr marL="285750" lvl="1" indent="-285750">
              <a:spcBef>
                <a:spcPts val="600"/>
              </a:spcBef>
              <a:spcAft>
                <a:spcPts val="0"/>
              </a:spcAft>
              <a:buSzPct val="100000"/>
              <a:buFont typeface="Arial" panose="020B0604020202020204" pitchFamily="34" charset="0"/>
              <a:buChar char="−"/>
            </a:pPr>
            <a:r>
              <a:rPr lang="fr-FR" dirty="0">
                <a:solidFill>
                  <a:srgbClr val="000000"/>
                </a:solidFill>
                <a:latin typeface="Arial" panose="020B0604020202020204" pitchFamily="34" charset="0"/>
                <a:ea typeface="Times New Roman"/>
                <a:cs typeface="Arial" panose="020B0604020202020204" pitchFamily="34" charset="0"/>
              </a:rPr>
              <a:t>3 ions Na</a:t>
            </a:r>
            <a:r>
              <a:rPr lang="fr-FR" baseline="30000" dirty="0">
                <a:solidFill>
                  <a:srgbClr val="000000"/>
                </a:solidFill>
                <a:latin typeface="Arial" panose="020B0604020202020204" pitchFamily="34" charset="0"/>
                <a:ea typeface="Times New Roman"/>
                <a:cs typeface="Arial" panose="020B0604020202020204" pitchFamily="34" charset="0"/>
              </a:rPr>
              <a:t>+</a:t>
            </a:r>
            <a:r>
              <a:rPr lang="fr-FR" dirty="0">
                <a:solidFill>
                  <a:srgbClr val="000000"/>
                </a:solidFill>
                <a:latin typeface="Arial" panose="020B0604020202020204" pitchFamily="34" charset="0"/>
                <a:ea typeface="Times New Roman"/>
                <a:cs typeface="Arial" panose="020B0604020202020204" pitchFamily="34" charset="0"/>
              </a:rPr>
              <a:t> sont pompés à l’extérieur en échange de 2 ions K</a:t>
            </a:r>
            <a:r>
              <a:rPr lang="fr-FR" baseline="30000" dirty="0">
                <a:solidFill>
                  <a:srgbClr val="000000"/>
                </a:solidFill>
                <a:latin typeface="Arial" panose="020B0604020202020204" pitchFamily="34" charset="0"/>
                <a:ea typeface="Times New Roman"/>
                <a:cs typeface="Arial" panose="020B0604020202020204" pitchFamily="34" charset="0"/>
              </a:rPr>
              <a:t>+</a:t>
            </a:r>
            <a:r>
              <a:rPr lang="fr-FR" dirty="0">
                <a:solidFill>
                  <a:srgbClr val="000000"/>
                </a:solidFill>
                <a:latin typeface="Arial" panose="020B0604020202020204" pitchFamily="34" charset="0"/>
                <a:ea typeface="Times New Roman"/>
                <a:cs typeface="Arial" panose="020B0604020202020204" pitchFamily="34" charset="0"/>
              </a:rPr>
              <a:t> qui sont  pompés à l’intérieur.</a:t>
            </a:r>
            <a:endParaRPr lang="fr-CA" dirty="0">
              <a:solidFill>
                <a:srgbClr val="000000"/>
              </a:solidFill>
              <a:latin typeface="Arial" panose="020B0604020202020204" pitchFamily="34" charset="0"/>
              <a:ea typeface="Times New Roman"/>
              <a:cs typeface="Arial" panose="020B0604020202020204" pitchFamily="34" charset="0"/>
            </a:endParaRPr>
          </a:p>
          <a:p>
            <a:pPr marL="285750" lvl="1" indent="-285750">
              <a:spcBef>
                <a:spcPts val="600"/>
              </a:spcBef>
              <a:spcAft>
                <a:spcPts val="0"/>
              </a:spcAft>
              <a:buSzPct val="100000"/>
              <a:buFont typeface="Arial" panose="020B0604020202020204" pitchFamily="34" charset="0"/>
              <a:buChar char="−"/>
            </a:pPr>
            <a:r>
              <a:rPr lang="fr-FR" dirty="0">
                <a:solidFill>
                  <a:srgbClr val="000000"/>
                </a:solidFill>
                <a:latin typeface="Arial" panose="020B0604020202020204" pitchFamily="34" charset="0"/>
                <a:ea typeface="Times New Roman"/>
                <a:cs typeface="Arial" panose="020B0604020202020204" pitchFamily="34" charset="0"/>
              </a:rPr>
              <a:t>La phosphorylation de la pompe entraîne un changement de conformation de la protéine, ce qui provoque une translocation des ions.</a:t>
            </a:r>
            <a:endParaRPr lang="fr-CA" dirty="0">
              <a:solidFill>
                <a:srgbClr val="000000"/>
              </a:solidFill>
              <a:latin typeface="Arial" panose="020B0604020202020204" pitchFamily="34" charset="0"/>
              <a:ea typeface="Times New Roman"/>
              <a:cs typeface="Arial" panose="020B0604020202020204" pitchFamily="34" charset="0"/>
            </a:endParaRPr>
          </a:p>
        </p:txBody>
      </p:sp>
      <p:sp>
        <p:nvSpPr>
          <p:cNvPr id="14" name="Oval 32"/>
          <p:cNvSpPr>
            <a:spLocks noChangeArrowheads="1"/>
          </p:cNvSpPr>
          <p:nvPr/>
        </p:nvSpPr>
        <p:spPr bwMode="auto">
          <a:xfrm>
            <a:off x="981351" y="5405827"/>
            <a:ext cx="760730" cy="735067"/>
          </a:xfrm>
          <a:prstGeom prst="ellipse">
            <a:avLst/>
          </a:prstGeom>
          <a:noFill/>
          <a:ln w="25400">
            <a:solidFill>
              <a:srgbClr val="0000FF"/>
            </a:solidFill>
            <a:round/>
            <a:headEnd/>
            <a:tailEnd/>
          </a:ln>
        </p:spPr>
        <p:txBody>
          <a:bodyPr wrap="none" anchor="ctr"/>
          <a:lstStyle/>
          <a:p>
            <a:pPr eaLnBrk="0" hangingPunct="0"/>
            <a:endParaRPr lang="fr-FR"/>
          </a:p>
        </p:txBody>
      </p:sp>
      <p:sp>
        <p:nvSpPr>
          <p:cNvPr id="15" name="AutoShape 33"/>
          <p:cNvSpPr>
            <a:spLocks noChangeArrowheads="1"/>
          </p:cNvSpPr>
          <p:nvPr/>
        </p:nvSpPr>
        <p:spPr bwMode="auto">
          <a:xfrm>
            <a:off x="1742081" y="5595835"/>
            <a:ext cx="516235" cy="35401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 name="T18" fmla="*/ 3143 w 21600"/>
              <a:gd name="T19" fmla="*/ 3196 h 21600"/>
              <a:gd name="T20" fmla="*/ 18457 w 21600"/>
              <a:gd name="T21" fmla="*/ 18404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0042" y="26"/>
                </a:moveTo>
                <a:cubicBezTo>
                  <a:pt x="4385" y="424"/>
                  <a:pt x="0" y="5129"/>
                  <a:pt x="0" y="10799"/>
                </a:cubicBezTo>
                <a:cubicBezTo>
                  <a:pt x="0" y="16764"/>
                  <a:pt x="4835" y="21600"/>
                  <a:pt x="10800" y="21600"/>
                </a:cubicBezTo>
                <a:cubicBezTo>
                  <a:pt x="10895" y="21600"/>
                  <a:pt x="10990" y="21598"/>
                  <a:pt x="11085" y="21596"/>
                </a:cubicBezTo>
                <a:cubicBezTo>
                  <a:pt x="10990" y="21598"/>
                  <a:pt x="10895" y="21599"/>
                  <a:pt x="10800" y="21600"/>
                </a:cubicBezTo>
                <a:cubicBezTo>
                  <a:pt x="4835" y="21600"/>
                  <a:pt x="0" y="16764"/>
                  <a:pt x="0" y="10800"/>
                </a:cubicBezTo>
                <a:cubicBezTo>
                  <a:pt x="-1" y="5129"/>
                  <a:pt x="4385" y="424"/>
                  <a:pt x="10042" y="26"/>
                </a:cubicBezTo>
                <a:lnTo>
                  <a:pt x="9853" y="-2667"/>
                </a:lnTo>
                <a:lnTo>
                  <a:pt x="12735" y="-164"/>
                </a:lnTo>
                <a:lnTo>
                  <a:pt x="10232" y="2719"/>
                </a:lnTo>
                <a:lnTo>
                  <a:pt x="10042" y="26"/>
                </a:lnTo>
                <a:close/>
              </a:path>
            </a:pathLst>
          </a:custGeom>
          <a:solidFill>
            <a:schemeClr val="accent1"/>
          </a:solidFill>
          <a:ln w="25400">
            <a:solidFill>
              <a:srgbClr val="0000FF"/>
            </a:solidFill>
            <a:miter lim="800000"/>
            <a:headEnd/>
            <a:tailEnd/>
          </a:ln>
        </p:spPr>
        <p:txBody>
          <a:bodyPr wrap="none" anchor="ctr"/>
          <a:lstStyle/>
          <a:p>
            <a:endParaRPr lang="fr-CA"/>
          </a:p>
        </p:txBody>
      </p:sp>
      <p:sp>
        <p:nvSpPr>
          <p:cNvPr id="16" name="Line 34"/>
          <p:cNvSpPr>
            <a:spLocks noChangeShapeType="1"/>
          </p:cNvSpPr>
          <p:nvPr/>
        </p:nvSpPr>
        <p:spPr bwMode="auto">
          <a:xfrm flipV="1">
            <a:off x="654326" y="5405827"/>
            <a:ext cx="1241425" cy="0"/>
          </a:xfrm>
          <a:prstGeom prst="line">
            <a:avLst/>
          </a:prstGeom>
          <a:noFill/>
          <a:ln w="25400">
            <a:solidFill>
              <a:srgbClr val="0000FF"/>
            </a:solidFill>
            <a:round/>
            <a:headEnd type="triangle" w="lg" len="lg"/>
            <a:tailEnd/>
          </a:ln>
        </p:spPr>
        <p:txBody>
          <a:bodyPr/>
          <a:lstStyle/>
          <a:p>
            <a:endParaRPr lang="fr-CA"/>
          </a:p>
        </p:txBody>
      </p:sp>
      <p:sp>
        <p:nvSpPr>
          <p:cNvPr id="17" name="Text Box 36"/>
          <p:cNvSpPr txBox="1">
            <a:spLocks noChangeArrowheads="1"/>
          </p:cNvSpPr>
          <p:nvPr/>
        </p:nvSpPr>
        <p:spPr bwMode="auto">
          <a:xfrm>
            <a:off x="1542691" y="5100377"/>
            <a:ext cx="713657" cy="369332"/>
          </a:xfrm>
          <a:prstGeom prst="rect">
            <a:avLst/>
          </a:prstGeom>
          <a:noFill/>
          <a:ln w="9525">
            <a:noFill/>
            <a:miter lim="800000"/>
            <a:headEnd/>
            <a:tailEnd/>
          </a:ln>
        </p:spPr>
        <p:txBody>
          <a:bodyPr wrap="none">
            <a:spAutoFit/>
          </a:bodyPr>
          <a:lstStyle/>
          <a:p>
            <a:pPr eaLnBrk="0" hangingPunct="0"/>
            <a:r>
              <a:rPr lang="fr-CA" dirty="0"/>
              <a:t>3 Na</a:t>
            </a:r>
            <a:r>
              <a:rPr lang="fr-CA" baseline="30000" dirty="0"/>
              <a:t>+</a:t>
            </a:r>
            <a:endParaRPr lang="fr-CA" dirty="0"/>
          </a:p>
        </p:txBody>
      </p:sp>
      <p:sp>
        <p:nvSpPr>
          <p:cNvPr id="18" name="Text Box 38"/>
          <p:cNvSpPr txBox="1">
            <a:spLocks noChangeArrowheads="1"/>
          </p:cNvSpPr>
          <p:nvPr/>
        </p:nvSpPr>
        <p:spPr bwMode="auto">
          <a:xfrm>
            <a:off x="2009416" y="5398192"/>
            <a:ext cx="1074737" cy="366713"/>
          </a:xfrm>
          <a:prstGeom prst="rect">
            <a:avLst/>
          </a:prstGeom>
          <a:noFill/>
          <a:ln w="9525">
            <a:noFill/>
            <a:miter lim="800000"/>
            <a:headEnd/>
            <a:tailEnd/>
          </a:ln>
        </p:spPr>
        <p:txBody>
          <a:bodyPr wrap="none">
            <a:spAutoFit/>
          </a:bodyPr>
          <a:lstStyle/>
          <a:p>
            <a:pPr eaLnBrk="0" hangingPunct="0"/>
            <a:r>
              <a:rPr lang="fr-CA" dirty="0"/>
              <a:t>ADP + P</a:t>
            </a:r>
            <a:r>
              <a:rPr lang="fr-CA" baseline="-25000" dirty="0"/>
              <a:t>i</a:t>
            </a:r>
          </a:p>
        </p:txBody>
      </p:sp>
      <p:sp>
        <p:nvSpPr>
          <p:cNvPr id="19" name="Text Box 39"/>
          <p:cNvSpPr txBox="1">
            <a:spLocks noChangeArrowheads="1"/>
          </p:cNvSpPr>
          <p:nvPr/>
        </p:nvSpPr>
        <p:spPr bwMode="auto">
          <a:xfrm>
            <a:off x="1945916" y="5743314"/>
            <a:ext cx="615950" cy="366713"/>
          </a:xfrm>
          <a:prstGeom prst="rect">
            <a:avLst/>
          </a:prstGeom>
          <a:noFill/>
          <a:ln w="9525">
            <a:noFill/>
            <a:miter lim="800000"/>
            <a:headEnd/>
            <a:tailEnd/>
          </a:ln>
        </p:spPr>
        <p:txBody>
          <a:bodyPr wrap="none">
            <a:spAutoFit/>
          </a:bodyPr>
          <a:lstStyle/>
          <a:p>
            <a:pPr eaLnBrk="0" hangingPunct="0"/>
            <a:r>
              <a:rPr lang="fr-CA" dirty="0"/>
              <a:t>ATP</a:t>
            </a:r>
          </a:p>
        </p:txBody>
      </p:sp>
      <p:sp>
        <p:nvSpPr>
          <p:cNvPr id="20" name="Line 34"/>
          <p:cNvSpPr>
            <a:spLocks noChangeShapeType="1"/>
          </p:cNvSpPr>
          <p:nvPr/>
        </p:nvSpPr>
        <p:spPr bwMode="auto">
          <a:xfrm flipV="1">
            <a:off x="743226" y="6149650"/>
            <a:ext cx="1241425" cy="0"/>
          </a:xfrm>
          <a:prstGeom prst="line">
            <a:avLst/>
          </a:prstGeom>
          <a:noFill/>
          <a:ln w="25400">
            <a:solidFill>
              <a:srgbClr val="0000FF"/>
            </a:solidFill>
            <a:round/>
            <a:headEnd type="none" w="lg" len="lg"/>
            <a:tailEnd type="triangle" w="lg" len="lg"/>
          </a:ln>
        </p:spPr>
        <p:txBody>
          <a:bodyPr/>
          <a:lstStyle/>
          <a:p>
            <a:endParaRPr lang="fr-CA"/>
          </a:p>
        </p:txBody>
      </p:sp>
      <p:sp>
        <p:nvSpPr>
          <p:cNvPr id="21" name="Text Box 36"/>
          <p:cNvSpPr txBox="1">
            <a:spLocks noChangeArrowheads="1"/>
          </p:cNvSpPr>
          <p:nvPr/>
        </p:nvSpPr>
        <p:spPr bwMode="auto">
          <a:xfrm>
            <a:off x="456289" y="5843064"/>
            <a:ext cx="611065" cy="369332"/>
          </a:xfrm>
          <a:prstGeom prst="rect">
            <a:avLst/>
          </a:prstGeom>
          <a:noFill/>
          <a:ln w="9525">
            <a:noFill/>
            <a:miter lim="800000"/>
            <a:headEnd/>
            <a:tailEnd/>
          </a:ln>
        </p:spPr>
        <p:txBody>
          <a:bodyPr wrap="none">
            <a:spAutoFit/>
          </a:bodyPr>
          <a:lstStyle/>
          <a:p>
            <a:pPr eaLnBrk="0" hangingPunct="0"/>
            <a:r>
              <a:rPr lang="fr-CA" dirty="0"/>
              <a:t>2 K</a:t>
            </a:r>
            <a:r>
              <a:rPr lang="fr-CA" baseline="30000" dirty="0"/>
              <a:t>+</a:t>
            </a:r>
            <a:endParaRPr lang="fr-CA" dirty="0"/>
          </a:p>
        </p:txBody>
      </p:sp>
      <p:sp>
        <p:nvSpPr>
          <p:cNvPr id="7" name="Rectangle 6"/>
          <p:cNvSpPr/>
          <p:nvPr/>
        </p:nvSpPr>
        <p:spPr bwMode="auto">
          <a:xfrm>
            <a:off x="1361716" y="5127687"/>
            <a:ext cx="2463524" cy="1132954"/>
          </a:xfrm>
          <a:prstGeom prst="rect">
            <a:avLst/>
          </a:prstGeom>
          <a:ln w="25400">
            <a:solidFill>
              <a:schemeClr val="tx1"/>
            </a:solidFill>
            <a:prstDash val="sysDash"/>
          </a:ln>
        </p:spPr>
        <p:txBody>
          <a:bodyPr wrap="none" rtlCol="0" fromWordArt="1" anchor="ctr" anchorCtr="0">
            <a:prstTxWarp prst="textPlain">
              <a:avLst>
                <a:gd name="adj" fmla="val 50000"/>
              </a:avLst>
            </a:prstTxWarp>
          </a:bodyPr>
          <a:lstStyle/>
          <a:p>
            <a:pPr algn="ctr"/>
            <a:endParaRPr lang="fr-CA" sz="3600" kern="0" dirty="0">
              <a:ln w="19050">
                <a:solidFill>
                  <a:srgbClr val="0066CC"/>
                </a:solidFill>
                <a:round/>
                <a:headEnd/>
                <a:tailEnd/>
              </a:ln>
              <a:solidFill>
                <a:srgbClr val="0066CC"/>
              </a:solidFill>
              <a:latin typeface="Calibri" panose="020F0502020204030204" pitchFamily="34" charset="0"/>
              <a:cs typeface="Arial" panose="020B0604020202020204" pitchFamily="34" charset="0"/>
            </a:endParaRPr>
          </a:p>
        </p:txBody>
      </p:sp>
      <p:sp>
        <p:nvSpPr>
          <p:cNvPr id="8" name="TextBox 7"/>
          <p:cNvSpPr txBox="1"/>
          <p:nvPr/>
        </p:nvSpPr>
        <p:spPr>
          <a:xfrm>
            <a:off x="2847340" y="5891309"/>
            <a:ext cx="983026" cy="369332"/>
          </a:xfrm>
          <a:prstGeom prst="rect">
            <a:avLst/>
          </a:prstGeom>
          <a:noFill/>
        </p:spPr>
        <p:txBody>
          <a:bodyPr wrap="none" rtlCol="0">
            <a:spAutoFit/>
          </a:bodyPr>
          <a:lstStyle/>
          <a:p>
            <a:r>
              <a:rPr lang="fr-CA" i="1" dirty="0">
                <a:latin typeface="Calibri" panose="020F0502020204030204" pitchFamily="34" charset="0"/>
              </a:rPr>
              <a:t>Intérieur</a:t>
            </a:r>
          </a:p>
        </p:txBody>
      </p:sp>
      <p:sp>
        <p:nvSpPr>
          <p:cNvPr id="22" name="TextBox 21"/>
          <p:cNvSpPr txBox="1"/>
          <p:nvPr/>
        </p:nvSpPr>
        <p:spPr>
          <a:xfrm>
            <a:off x="259080" y="4952660"/>
            <a:ext cx="1021242" cy="369332"/>
          </a:xfrm>
          <a:prstGeom prst="rect">
            <a:avLst/>
          </a:prstGeom>
          <a:noFill/>
        </p:spPr>
        <p:txBody>
          <a:bodyPr wrap="none" rtlCol="0">
            <a:spAutoFit/>
          </a:bodyPr>
          <a:lstStyle/>
          <a:p>
            <a:r>
              <a:rPr lang="fr-CA" i="1" dirty="0">
                <a:latin typeface="Calibri" panose="020F0502020204030204" pitchFamily="34" charset="0"/>
              </a:rPr>
              <a:t>Extérieur</a:t>
            </a:r>
          </a:p>
        </p:txBody>
      </p:sp>
    </p:spTree>
    <p:extLst>
      <p:ext uri="{BB962C8B-B14F-4D97-AF65-F5344CB8AC3E}">
        <p14:creationId xmlns:p14="http://schemas.microsoft.com/office/powerpoint/2010/main" val="21665903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ChangeArrowheads="1"/>
          </p:cNvSpPr>
          <p:nvPr/>
        </p:nvSpPr>
        <p:spPr bwMode="auto">
          <a:xfrm>
            <a:off x="267724" y="252894"/>
            <a:ext cx="8551863" cy="5780044"/>
          </a:xfrm>
          <a:prstGeom prst="rect">
            <a:avLst/>
          </a:prstGeom>
          <a:noFill/>
          <a:ln w="9525">
            <a:noFill/>
            <a:miter lim="800000"/>
            <a:headEnd/>
            <a:tailEnd/>
          </a:ln>
        </p:spPr>
        <p:txBody>
          <a:bodyPr anchor="ctr">
            <a:spAutoFit/>
          </a:bodyPr>
          <a:lstStyle/>
          <a:p>
            <a:pPr marL="441325" indent="-441325" eaLnBrk="0" hangingPunct="0">
              <a:buSzPct val="130000"/>
              <a:tabLst>
                <a:tab pos="792163" algn="l"/>
                <a:tab pos="1485900" algn="l"/>
              </a:tabLst>
            </a:pPr>
            <a:r>
              <a:rPr lang="fr-CA" sz="2400" b="1" dirty="0">
                <a:solidFill>
                  <a:schemeClr val="accent2"/>
                </a:solidFill>
                <a:latin typeface="Arial" charset="0"/>
              </a:rPr>
              <a:t>iii)	</a:t>
            </a:r>
            <a:r>
              <a:rPr lang="fr-CA" sz="2400" b="1" i="1" u="sng" dirty="0">
                <a:solidFill>
                  <a:schemeClr val="accent2"/>
                </a:solidFill>
                <a:latin typeface="Arial" charset="0"/>
              </a:rPr>
              <a:t>Transports actifs secondaires</a:t>
            </a:r>
            <a:r>
              <a:rPr lang="fr-CA" sz="2400" b="1" i="1" dirty="0">
                <a:solidFill>
                  <a:schemeClr val="accent2"/>
                </a:solidFill>
                <a:latin typeface="Arial" charset="0"/>
              </a:rPr>
              <a:t> </a:t>
            </a:r>
            <a:r>
              <a:rPr lang="fr-CA" sz="2400" b="1" dirty="0">
                <a:solidFill>
                  <a:schemeClr val="accent2"/>
                </a:solidFill>
                <a:latin typeface="Arial" charset="0"/>
              </a:rPr>
              <a:t>:</a:t>
            </a:r>
            <a:endParaRPr lang="en-US" sz="2400" b="1" dirty="0">
              <a:solidFill>
                <a:schemeClr val="accent2"/>
              </a:solidFill>
              <a:latin typeface="Arial" charset="0"/>
            </a:endParaRPr>
          </a:p>
          <a:p>
            <a:pPr marL="715963" lvl="1" indent="-274638" eaLnBrk="0" hangingPunct="0">
              <a:spcBef>
                <a:spcPct val="30000"/>
              </a:spcBef>
              <a:buFont typeface="Arial" charset="0"/>
              <a:buChar char="−"/>
              <a:tabLst>
                <a:tab pos="1485900" algn="l"/>
              </a:tabLst>
            </a:pPr>
            <a:r>
              <a:rPr lang="fr-CA" dirty="0">
                <a:latin typeface="Arial" charset="0"/>
              </a:rPr>
              <a:t>Source d’énergie:</a:t>
            </a:r>
            <a:r>
              <a:rPr lang="fr-FR" dirty="0">
                <a:latin typeface="Arial" charset="0"/>
              </a:rPr>
              <a:t> gradients de concentrations de certains ions (ex.: Na</a:t>
            </a:r>
            <a:r>
              <a:rPr lang="fr-FR" baseline="30000" dirty="0">
                <a:latin typeface="Arial" charset="0"/>
              </a:rPr>
              <a:t>+</a:t>
            </a:r>
            <a:r>
              <a:rPr lang="fr-FR" dirty="0">
                <a:latin typeface="Arial" charset="0"/>
              </a:rPr>
              <a:t>)</a:t>
            </a:r>
          </a:p>
          <a:p>
            <a:pPr marL="990600" lvl="1" indent="-274638" eaLnBrk="0" hangingPunct="0">
              <a:buFont typeface="Arial" charset="0"/>
              <a:buNone/>
              <a:tabLst>
                <a:tab pos="1485900" algn="l"/>
              </a:tabLst>
            </a:pPr>
            <a:r>
              <a:rPr lang="fr-FR" dirty="0">
                <a:latin typeface="Arial" charset="0"/>
                <a:sym typeface="Wingdings" pitchFamily="2" charset="2"/>
              </a:rPr>
              <a:t>	N</a:t>
            </a:r>
            <a:r>
              <a:rPr lang="fr-FR" dirty="0">
                <a:latin typeface="Arial" charset="0"/>
              </a:rPr>
              <a:t>e sont PAS des </a:t>
            </a:r>
            <a:r>
              <a:rPr lang="fr-FR" dirty="0" err="1">
                <a:latin typeface="Arial" charset="0"/>
              </a:rPr>
              <a:t>ATPases</a:t>
            </a:r>
            <a:r>
              <a:rPr lang="fr-FR" dirty="0">
                <a:latin typeface="Arial" charset="0"/>
              </a:rPr>
              <a:t>.</a:t>
            </a:r>
          </a:p>
          <a:p>
            <a:pPr marL="715963" lvl="1" indent="-274638" eaLnBrk="0" hangingPunct="0">
              <a:spcBef>
                <a:spcPct val="30000"/>
              </a:spcBef>
              <a:buFont typeface="Arial" charset="0"/>
              <a:buChar char="−"/>
              <a:tabLst>
                <a:tab pos="792163" algn="l"/>
                <a:tab pos="1485900" algn="l"/>
              </a:tabLst>
            </a:pPr>
            <a:r>
              <a:rPr lang="fr-FR" dirty="0">
                <a:latin typeface="Arial" charset="0"/>
              </a:rPr>
              <a:t>Le gradient [Na</a:t>
            </a:r>
            <a:r>
              <a:rPr lang="fr-FR" baseline="30000" dirty="0">
                <a:latin typeface="Arial" charset="0"/>
              </a:rPr>
              <a:t>+</a:t>
            </a:r>
            <a:r>
              <a:rPr lang="fr-FR" dirty="0">
                <a:latin typeface="Arial" charset="0"/>
              </a:rPr>
              <a:t>] est très élevé ([Na</a:t>
            </a:r>
            <a:r>
              <a:rPr lang="fr-FR" baseline="30000" dirty="0">
                <a:latin typeface="Arial" charset="0"/>
              </a:rPr>
              <a:t>+</a:t>
            </a:r>
            <a:r>
              <a:rPr lang="fr-FR" dirty="0">
                <a:latin typeface="Arial" charset="0"/>
              </a:rPr>
              <a:t>]</a:t>
            </a:r>
            <a:r>
              <a:rPr lang="fr-FR" baseline="-12000" dirty="0" err="1">
                <a:latin typeface="Arial" charset="0"/>
              </a:rPr>
              <a:t>ext</a:t>
            </a:r>
            <a:r>
              <a:rPr lang="fr-FR" baseline="-12000" dirty="0">
                <a:latin typeface="Arial" charset="0"/>
              </a:rPr>
              <a:t> </a:t>
            </a:r>
            <a:r>
              <a:rPr lang="fr-FR" dirty="0">
                <a:latin typeface="Arial" charset="0"/>
              </a:rPr>
              <a:t>&gt;&gt; [Na</a:t>
            </a:r>
            <a:r>
              <a:rPr lang="fr-FR" baseline="30000" dirty="0">
                <a:latin typeface="Arial" charset="0"/>
              </a:rPr>
              <a:t>+</a:t>
            </a:r>
            <a:r>
              <a:rPr lang="fr-FR" dirty="0">
                <a:latin typeface="Arial" charset="0"/>
              </a:rPr>
              <a:t>]</a:t>
            </a:r>
            <a:r>
              <a:rPr lang="fr-FR" baseline="-12000" dirty="0">
                <a:latin typeface="Arial" charset="0"/>
              </a:rPr>
              <a:t>in</a:t>
            </a:r>
            <a:r>
              <a:rPr lang="fr-FR" dirty="0">
                <a:latin typeface="Arial" charset="0"/>
              </a:rPr>
              <a:t>)</a:t>
            </a:r>
          </a:p>
          <a:p>
            <a:pPr marL="989013" lvl="1" indent="-273050" eaLnBrk="0" hangingPunct="0">
              <a:buFont typeface="Times New Roman" pitchFamily="18" charset="0"/>
              <a:buNone/>
              <a:tabLst>
                <a:tab pos="792163" algn="l"/>
                <a:tab pos="1485900" algn="l"/>
              </a:tabLst>
            </a:pPr>
            <a:r>
              <a:rPr lang="fr-FR" dirty="0">
                <a:latin typeface="Arial" charset="0"/>
                <a:sym typeface="Wingdings" pitchFamily="2" charset="2"/>
              </a:rPr>
              <a:t> </a:t>
            </a:r>
            <a:r>
              <a:rPr lang="fr-FR" dirty="0">
                <a:latin typeface="Arial" charset="0"/>
              </a:rPr>
              <a:t>Tendance des ions Na</a:t>
            </a:r>
            <a:r>
              <a:rPr lang="fr-FR" baseline="30000" dirty="0">
                <a:latin typeface="Arial" charset="0"/>
              </a:rPr>
              <a:t>+</a:t>
            </a:r>
            <a:r>
              <a:rPr lang="fr-FR" dirty="0">
                <a:latin typeface="Arial" charset="0"/>
              </a:rPr>
              <a:t> à diffuser spontanément à l’intérieur</a:t>
            </a:r>
          </a:p>
          <a:p>
            <a:pPr marL="989013" lvl="1" indent="-273050" eaLnBrk="0" hangingPunct="0">
              <a:buFont typeface="Times New Roman" pitchFamily="18" charset="0"/>
              <a:buNone/>
              <a:tabLst>
                <a:tab pos="792163" algn="l"/>
                <a:tab pos="1485900" algn="l"/>
              </a:tabLst>
            </a:pPr>
            <a:r>
              <a:rPr lang="fr-FR" dirty="0">
                <a:latin typeface="Arial" charset="0"/>
                <a:sym typeface="Wingdings" pitchFamily="2" charset="2"/>
              </a:rPr>
              <a:t> Source d’énergie:</a:t>
            </a:r>
          </a:p>
          <a:p>
            <a:pPr marL="990600" lvl="2" eaLnBrk="0" hangingPunct="0">
              <a:buFont typeface="Times New Roman" pitchFamily="18" charset="0"/>
              <a:buNone/>
              <a:tabLst>
                <a:tab pos="1485900" algn="l"/>
              </a:tabLst>
            </a:pPr>
            <a:r>
              <a:rPr lang="fr-FR" dirty="0">
                <a:latin typeface="Arial" charset="0"/>
              </a:rPr>
              <a:t>L’entrée des ions Na</a:t>
            </a:r>
            <a:r>
              <a:rPr lang="fr-FR" baseline="30000" dirty="0">
                <a:latin typeface="Arial" charset="0"/>
              </a:rPr>
              <a:t>+</a:t>
            </a:r>
            <a:r>
              <a:rPr lang="fr-FR" dirty="0">
                <a:latin typeface="Arial" charset="0"/>
              </a:rPr>
              <a:t> est couplée au transport d’une autre substance </a:t>
            </a:r>
            <a:r>
              <a:rPr lang="fr-FR" u="sng" dirty="0">
                <a:latin typeface="Arial" charset="0"/>
              </a:rPr>
              <a:t>contre</a:t>
            </a:r>
            <a:r>
              <a:rPr lang="fr-FR" dirty="0">
                <a:latin typeface="Arial" charset="0"/>
              </a:rPr>
              <a:t> son gradient de concentration.</a:t>
            </a:r>
          </a:p>
          <a:p>
            <a:pPr marL="792163" lvl="2" indent="-76200" eaLnBrk="0" hangingPunct="0">
              <a:buFont typeface="Times New Roman" pitchFamily="18" charset="0"/>
              <a:buNone/>
              <a:tabLst>
                <a:tab pos="792163" algn="l"/>
                <a:tab pos="1485900" algn="l"/>
              </a:tabLst>
            </a:pPr>
            <a:r>
              <a:rPr lang="fr-FR" dirty="0">
                <a:latin typeface="Arial" charset="0"/>
                <a:sym typeface="Wingdings" pitchFamily="2" charset="2"/>
              </a:rPr>
              <a:t> A</a:t>
            </a:r>
            <a:r>
              <a:rPr lang="fr-FR" dirty="0">
                <a:latin typeface="Arial" charset="0"/>
              </a:rPr>
              <a:t>u moins 2 sites de liaison différents sur le transporteur protéique :</a:t>
            </a:r>
          </a:p>
          <a:p>
            <a:pPr marL="1158875" lvl="3" indent="-168275" eaLnBrk="0" hangingPunct="0">
              <a:buSzPct val="80000"/>
              <a:buFont typeface="Wingdings" pitchFamily="2" charset="2"/>
              <a:buChar char="§"/>
              <a:tabLst>
                <a:tab pos="792163" algn="l"/>
                <a:tab pos="1485900" algn="l"/>
              </a:tabLst>
            </a:pPr>
            <a:r>
              <a:rPr lang="fr-FR" dirty="0">
                <a:latin typeface="Arial" charset="0"/>
              </a:rPr>
              <a:t>un site pour Na</a:t>
            </a:r>
            <a:r>
              <a:rPr lang="fr-FR" baseline="30000" dirty="0">
                <a:latin typeface="Arial" charset="0"/>
              </a:rPr>
              <a:t>+</a:t>
            </a:r>
            <a:endParaRPr lang="fr-FR" dirty="0">
              <a:latin typeface="Arial" charset="0"/>
            </a:endParaRPr>
          </a:p>
          <a:p>
            <a:pPr marL="1158875" lvl="3" indent="-168275" eaLnBrk="0" hangingPunct="0">
              <a:buSzPct val="80000"/>
              <a:buFont typeface="Wingdings" pitchFamily="2" charset="2"/>
              <a:buChar char="§"/>
              <a:tabLst>
                <a:tab pos="792163" algn="l"/>
                <a:tab pos="1485900" algn="l"/>
              </a:tabLst>
            </a:pPr>
            <a:r>
              <a:rPr lang="fr-FR" dirty="0">
                <a:latin typeface="Arial" charset="0"/>
              </a:rPr>
              <a:t>un site pour la substance activement transportée.</a:t>
            </a:r>
          </a:p>
          <a:p>
            <a:pPr marL="714375" lvl="1" indent="-273050" eaLnBrk="0" hangingPunct="0">
              <a:spcBef>
                <a:spcPct val="30000"/>
              </a:spcBef>
              <a:buFont typeface="Arial" charset="0"/>
              <a:buChar char="−"/>
              <a:tabLst>
                <a:tab pos="792163" algn="l"/>
                <a:tab pos="1485900" algn="l"/>
              </a:tabLst>
            </a:pPr>
            <a:r>
              <a:rPr lang="fr-FR" dirty="0">
                <a:latin typeface="Arial" charset="0"/>
              </a:rPr>
              <a:t>Deux types de transports actifs secondaires :</a:t>
            </a:r>
            <a:endParaRPr lang="fr-FR" i="1" dirty="0">
              <a:latin typeface="Arial" charset="0"/>
            </a:endParaRPr>
          </a:p>
          <a:p>
            <a:pPr marL="898525" lvl="2" indent="-161925" eaLnBrk="0" hangingPunct="0">
              <a:spcBef>
                <a:spcPct val="15000"/>
              </a:spcBef>
              <a:buSzPct val="80000"/>
              <a:buFont typeface="Wingdings" pitchFamily="2" charset="2"/>
              <a:buChar char="§"/>
              <a:tabLst>
                <a:tab pos="1485900" algn="l"/>
              </a:tabLst>
            </a:pPr>
            <a:r>
              <a:rPr lang="fr-FR" b="1" i="1" dirty="0">
                <a:latin typeface="Arial" charset="0"/>
              </a:rPr>
              <a:t>Symport </a:t>
            </a:r>
            <a:r>
              <a:rPr lang="fr-FR" dirty="0">
                <a:latin typeface="Arial" charset="0"/>
              </a:rPr>
              <a:t>(ou </a:t>
            </a:r>
            <a:r>
              <a:rPr lang="fr-FR" b="1" i="1" dirty="0">
                <a:latin typeface="Arial" charset="0"/>
              </a:rPr>
              <a:t>cotransport</a:t>
            </a:r>
            <a:r>
              <a:rPr lang="fr-FR" dirty="0">
                <a:latin typeface="Arial" charset="0"/>
              </a:rPr>
              <a:t>) </a:t>
            </a:r>
            <a:r>
              <a:rPr lang="fr-FR" b="1" dirty="0">
                <a:latin typeface="Arial" charset="0"/>
              </a:rPr>
              <a:t>:</a:t>
            </a:r>
            <a:r>
              <a:rPr lang="fr-FR" dirty="0">
                <a:latin typeface="Arial" charset="0"/>
              </a:rPr>
              <a:t> substance transportée dans la même direction que le Na</a:t>
            </a:r>
            <a:r>
              <a:rPr lang="fr-FR" baseline="30000" dirty="0">
                <a:latin typeface="Arial" charset="0"/>
              </a:rPr>
              <a:t>+</a:t>
            </a:r>
            <a:r>
              <a:rPr lang="fr-FR" dirty="0">
                <a:latin typeface="Arial" charset="0"/>
              </a:rPr>
              <a:t>.</a:t>
            </a:r>
          </a:p>
          <a:p>
            <a:pPr marL="898525" lvl="2" eaLnBrk="0" hangingPunct="0">
              <a:buSzPct val="80000"/>
              <a:buFont typeface="Wingdings" pitchFamily="2" charset="2"/>
              <a:buNone/>
              <a:tabLst>
                <a:tab pos="1485900" algn="l"/>
              </a:tabLst>
            </a:pPr>
            <a:r>
              <a:rPr lang="fr-FR" dirty="0">
                <a:latin typeface="Arial" charset="0"/>
              </a:rPr>
              <a:t>Ex.: Symport Na</a:t>
            </a:r>
            <a:r>
              <a:rPr lang="fr-FR" baseline="30000" dirty="0">
                <a:latin typeface="Arial" charset="0"/>
              </a:rPr>
              <a:t>+</a:t>
            </a:r>
            <a:r>
              <a:rPr lang="fr-FR" dirty="0">
                <a:latin typeface="Arial" charset="0"/>
              </a:rPr>
              <a:t>-glucose dans l’intestin, symports Na</a:t>
            </a:r>
            <a:r>
              <a:rPr lang="fr-FR" baseline="30000" dirty="0">
                <a:latin typeface="Arial" charset="0"/>
              </a:rPr>
              <a:t>+</a:t>
            </a:r>
            <a:r>
              <a:rPr lang="fr-FR" dirty="0">
                <a:latin typeface="Arial" charset="0"/>
              </a:rPr>
              <a:t> - acides aminés.</a:t>
            </a:r>
          </a:p>
          <a:p>
            <a:pPr marL="898525" lvl="2" indent="-182563" eaLnBrk="0" hangingPunct="0">
              <a:spcBef>
                <a:spcPct val="15000"/>
              </a:spcBef>
              <a:buSzPct val="80000"/>
              <a:buFont typeface="Wingdings" pitchFamily="2" charset="2"/>
              <a:buChar char="§"/>
              <a:tabLst>
                <a:tab pos="1485900" algn="l"/>
              </a:tabLst>
            </a:pPr>
            <a:r>
              <a:rPr lang="fr-FR" b="1" i="1" dirty="0">
                <a:latin typeface="Arial" charset="0"/>
              </a:rPr>
              <a:t>Antiport</a:t>
            </a:r>
            <a:r>
              <a:rPr lang="fr-FR" dirty="0">
                <a:latin typeface="Arial" charset="0"/>
              </a:rPr>
              <a:t> (ou </a:t>
            </a:r>
            <a:r>
              <a:rPr lang="fr-FR" b="1" i="1" dirty="0">
                <a:latin typeface="Arial" charset="0"/>
              </a:rPr>
              <a:t>échangeur</a:t>
            </a:r>
            <a:r>
              <a:rPr lang="fr-FR" dirty="0">
                <a:latin typeface="Arial" charset="0"/>
              </a:rPr>
              <a:t>) </a:t>
            </a:r>
            <a:r>
              <a:rPr lang="fr-FR" b="1" dirty="0">
                <a:latin typeface="Arial" charset="0"/>
              </a:rPr>
              <a:t>:</a:t>
            </a:r>
            <a:r>
              <a:rPr lang="fr-FR" dirty="0">
                <a:latin typeface="Arial" charset="0"/>
              </a:rPr>
              <a:t> substance transportée dans le sens opposé au mouvement du Na</a:t>
            </a:r>
            <a:r>
              <a:rPr lang="fr-FR" baseline="30000" dirty="0">
                <a:latin typeface="Arial" charset="0"/>
              </a:rPr>
              <a:t>+</a:t>
            </a:r>
            <a:r>
              <a:rPr lang="fr-FR" dirty="0">
                <a:latin typeface="Arial" charset="0"/>
              </a:rPr>
              <a:t>.</a:t>
            </a:r>
          </a:p>
          <a:p>
            <a:pPr marL="898525" lvl="2" eaLnBrk="0" hangingPunct="0">
              <a:buSzPct val="80000"/>
              <a:buFont typeface="Wingdings" pitchFamily="2" charset="2"/>
              <a:buNone/>
              <a:tabLst>
                <a:tab pos="1485900" algn="l"/>
              </a:tabLst>
            </a:pPr>
            <a:r>
              <a:rPr lang="fr-FR" dirty="0">
                <a:latin typeface="Arial" charset="0"/>
              </a:rPr>
              <a:t>Ex.: les échangeurs Na-Ca et Na-H permettent de faire sortir activement les ions Ca</a:t>
            </a:r>
            <a:r>
              <a:rPr lang="fr-FR" baseline="30000" dirty="0">
                <a:latin typeface="Arial" charset="0"/>
              </a:rPr>
              <a:t>2+</a:t>
            </a:r>
            <a:r>
              <a:rPr lang="fr-FR" dirty="0">
                <a:latin typeface="Arial" charset="0"/>
              </a:rPr>
              <a:t> et H</a:t>
            </a:r>
            <a:r>
              <a:rPr lang="fr-FR" baseline="30000" dirty="0">
                <a:latin typeface="Arial" charset="0"/>
              </a:rPr>
              <a:t>+</a:t>
            </a:r>
            <a:r>
              <a:rPr lang="fr-FR" dirty="0">
                <a:latin typeface="Arial" charset="0"/>
              </a:rPr>
              <a:t>.</a:t>
            </a:r>
            <a:endParaRPr lang="en-US" dirty="0">
              <a:latin typeface="Arial"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3"/>
          <p:cNvSpPr>
            <a:spLocks noChangeArrowheads="1"/>
          </p:cNvSpPr>
          <p:nvPr/>
        </p:nvSpPr>
        <p:spPr bwMode="auto">
          <a:xfrm>
            <a:off x="190500" y="225901"/>
            <a:ext cx="8643938" cy="834074"/>
          </a:xfrm>
          <a:prstGeom prst="rect">
            <a:avLst/>
          </a:prstGeom>
          <a:noFill/>
          <a:ln w="9525">
            <a:noFill/>
            <a:miter lim="800000"/>
            <a:headEnd/>
            <a:tailEnd/>
          </a:ln>
        </p:spPr>
        <p:txBody>
          <a:bodyPr anchor="ctr">
            <a:spAutoFit/>
          </a:bodyPr>
          <a:lstStyle/>
          <a:p>
            <a:pPr eaLnBrk="0" hangingPunct="0">
              <a:tabLst>
                <a:tab pos="858838" algn="l"/>
                <a:tab pos="1485900" algn="l"/>
              </a:tabLst>
            </a:pPr>
            <a:r>
              <a:rPr lang="fr-CA" sz="2400" b="1" i="1" dirty="0">
                <a:solidFill>
                  <a:schemeClr val="accent2"/>
                </a:solidFill>
                <a:latin typeface="Arial" charset="0"/>
              </a:rPr>
              <a:t>Transports actifs secondaires </a:t>
            </a:r>
            <a:r>
              <a:rPr lang="fr-CA" sz="2400" b="1" dirty="0">
                <a:solidFill>
                  <a:schemeClr val="accent2"/>
                </a:solidFill>
                <a:latin typeface="Arial" charset="0"/>
              </a:rPr>
              <a:t>:</a:t>
            </a:r>
            <a:endParaRPr lang="en-US" sz="2400" b="1" dirty="0">
              <a:solidFill>
                <a:schemeClr val="accent2"/>
              </a:solidFill>
              <a:latin typeface="Arial" charset="0"/>
            </a:endParaRPr>
          </a:p>
          <a:p>
            <a:pPr marL="182563" lvl="1" indent="-182563" eaLnBrk="0" hangingPunct="0">
              <a:spcBef>
                <a:spcPct val="10000"/>
              </a:spcBef>
              <a:buSzPct val="80000"/>
              <a:buFont typeface="Wingdings" pitchFamily="2" charset="2"/>
              <a:buChar char="§"/>
              <a:tabLst>
                <a:tab pos="858838" algn="l"/>
                <a:tab pos="1485900" algn="l"/>
              </a:tabLst>
            </a:pPr>
            <a:r>
              <a:rPr lang="fr-FR" sz="2200" b="1" dirty="0">
                <a:latin typeface="Arial" charset="0"/>
              </a:rPr>
              <a:t>Exemple : </a:t>
            </a:r>
            <a:r>
              <a:rPr lang="fr-FR" sz="2200" b="1" u="sng" dirty="0">
                <a:latin typeface="Arial" charset="0"/>
              </a:rPr>
              <a:t>le symport Na-glucose</a:t>
            </a:r>
          </a:p>
        </p:txBody>
      </p:sp>
      <p:sp>
        <p:nvSpPr>
          <p:cNvPr id="13319" name="Text Box 9"/>
          <p:cNvSpPr txBox="1">
            <a:spLocks noChangeArrowheads="1"/>
          </p:cNvSpPr>
          <p:nvPr/>
        </p:nvSpPr>
        <p:spPr bwMode="auto">
          <a:xfrm>
            <a:off x="8097838" y="6350000"/>
            <a:ext cx="919162" cy="342900"/>
          </a:xfrm>
          <a:prstGeom prst="rect">
            <a:avLst/>
          </a:prstGeom>
          <a:noFill/>
          <a:ln w="6350">
            <a:solidFill>
              <a:srgbClr val="0000FF"/>
            </a:solidFill>
            <a:miter lim="800000"/>
            <a:headEnd/>
            <a:tailEnd/>
          </a:ln>
        </p:spPr>
        <p:txBody>
          <a:bodyPr wrap="none">
            <a:spAutoFit/>
          </a:bodyPr>
          <a:lstStyle/>
          <a:p>
            <a:pPr eaLnBrk="0" hangingPunct="0"/>
            <a:r>
              <a:rPr lang="fr-CA" sz="1600">
                <a:solidFill>
                  <a:srgbClr val="3333FF"/>
                </a:solidFill>
              </a:rPr>
              <a:t>Fig. 3.11</a:t>
            </a:r>
            <a:endParaRPr lang="en-US" sz="1600">
              <a:solidFill>
                <a:srgbClr val="3333FF"/>
              </a:solidFill>
            </a:endParaRPr>
          </a:p>
        </p:txBody>
      </p:sp>
      <p:sp>
        <p:nvSpPr>
          <p:cNvPr id="2" name="AutoShape 2" descr="http://wps.pearsoned.ca/wps/media/objects/13117/13432307/figure-3-11.jpg"/>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1" name="Picture 5"/>
          <p:cNvPicPr>
            <a:picLocks noChangeAspect="1" noChangeArrowheads="1"/>
          </p:cNvPicPr>
          <p:nvPr/>
        </p:nvPicPr>
        <p:blipFill rotWithShape="1">
          <a:blip r:embed="rId3">
            <a:extLst>
              <a:ext uri="{28A0092B-C50C-407E-A947-70E740481C1C}">
                <a14:useLocalDpi xmlns:a14="http://schemas.microsoft.com/office/drawing/2010/main" val="0"/>
              </a:ext>
            </a:extLst>
          </a:blip>
          <a:srcRect l="2100" t="4481" r="35052" b="7988"/>
          <a:stretch/>
        </p:blipFill>
        <p:spPr bwMode="auto">
          <a:xfrm>
            <a:off x="922229" y="1341986"/>
            <a:ext cx="6124435" cy="42992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1685312" y="2567885"/>
            <a:ext cx="4348162" cy="1604962"/>
          </a:xfrm>
          <a:prstGeom prst="rect">
            <a:avLst/>
          </a:prstGeom>
          <a:solidFill>
            <a:srgbClr val="FFCC99">
              <a:alpha val="50195"/>
            </a:srgbClr>
          </a:solidFill>
          <a:ln w="9525">
            <a:solidFill>
              <a:schemeClr val="tx1"/>
            </a:solidFill>
            <a:miter lim="800000"/>
            <a:headEnd/>
            <a:tailEnd/>
          </a:ln>
        </p:spPr>
        <p:txBody>
          <a:bodyPr wrap="none" anchor="ctr"/>
          <a:lstStyle/>
          <a:p>
            <a:pPr eaLnBrk="0" hangingPunct="0"/>
            <a:endParaRPr lang="fr-FR" dirty="0"/>
          </a:p>
        </p:txBody>
      </p:sp>
      <p:sp>
        <p:nvSpPr>
          <p:cNvPr id="16387" name="Oval 3"/>
          <p:cNvSpPr>
            <a:spLocks noChangeArrowheads="1"/>
          </p:cNvSpPr>
          <p:nvPr/>
        </p:nvSpPr>
        <p:spPr bwMode="auto">
          <a:xfrm>
            <a:off x="1221762" y="2982222"/>
            <a:ext cx="914400" cy="914400"/>
          </a:xfrm>
          <a:prstGeom prst="ellipse">
            <a:avLst/>
          </a:prstGeom>
          <a:noFill/>
          <a:ln w="25400">
            <a:solidFill>
              <a:srgbClr val="0000FF"/>
            </a:solidFill>
            <a:round/>
            <a:headEnd/>
            <a:tailEnd/>
          </a:ln>
        </p:spPr>
        <p:txBody>
          <a:bodyPr wrap="none" anchor="ctr"/>
          <a:lstStyle/>
          <a:p>
            <a:pPr eaLnBrk="0" hangingPunct="0"/>
            <a:endParaRPr lang="fr-FR"/>
          </a:p>
        </p:txBody>
      </p:sp>
      <p:sp>
        <p:nvSpPr>
          <p:cNvPr id="16389" name="Line 5"/>
          <p:cNvSpPr>
            <a:spLocks noChangeShapeType="1"/>
          </p:cNvSpPr>
          <p:nvPr/>
        </p:nvSpPr>
        <p:spPr bwMode="auto">
          <a:xfrm flipV="1">
            <a:off x="1045549" y="2967935"/>
            <a:ext cx="1241425" cy="0"/>
          </a:xfrm>
          <a:prstGeom prst="line">
            <a:avLst/>
          </a:prstGeom>
          <a:noFill/>
          <a:ln w="25400">
            <a:solidFill>
              <a:srgbClr val="0000FF"/>
            </a:solidFill>
            <a:round/>
            <a:headEnd type="stealth" w="lg" len="lg"/>
            <a:tailEnd/>
          </a:ln>
        </p:spPr>
        <p:txBody>
          <a:bodyPr/>
          <a:lstStyle/>
          <a:p>
            <a:endParaRPr lang="fr-CA"/>
          </a:p>
        </p:txBody>
      </p:sp>
      <p:sp>
        <p:nvSpPr>
          <p:cNvPr id="16390" name="Line 6"/>
          <p:cNvSpPr>
            <a:spLocks noChangeShapeType="1"/>
          </p:cNvSpPr>
          <p:nvPr/>
        </p:nvSpPr>
        <p:spPr bwMode="auto">
          <a:xfrm flipV="1">
            <a:off x="1061424" y="3922022"/>
            <a:ext cx="1241425" cy="0"/>
          </a:xfrm>
          <a:prstGeom prst="line">
            <a:avLst/>
          </a:prstGeom>
          <a:noFill/>
          <a:ln w="25400">
            <a:solidFill>
              <a:srgbClr val="0000FF"/>
            </a:solidFill>
            <a:round/>
            <a:headEnd type="none" w="lg" len="lg"/>
            <a:tailEnd type="stealth" w="lg" len="lg"/>
          </a:ln>
        </p:spPr>
        <p:txBody>
          <a:bodyPr/>
          <a:lstStyle/>
          <a:p>
            <a:endParaRPr lang="fr-CA"/>
          </a:p>
        </p:txBody>
      </p:sp>
      <p:sp>
        <p:nvSpPr>
          <p:cNvPr id="16391" name="Text Box 7"/>
          <p:cNvSpPr txBox="1">
            <a:spLocks noChangeArrowheads="1"/>
          </p:cNvSpPr>
          <p:nvPr/>
        </p:nvSpPr>
        <p:spPr bwMode="auto">
          <a:xfrm>
            <a:off x="2225062" y="2772672"/>
            <a:ext cx="536575" cy="366713"/>
          </a:xfrm>
          <a:prstGeom prst="rect">
            <a:avLst/>
          </a:prstGeom>
          <a:noFill/>
          <a:ln w="9525">
            <a:noFill/>
            <a:miter lim="800000"/>
            <a:headEnd/>
            <a:tailEnd/>
          </a:ln>
        </p:spPr>
        <p:txBody>
          <a:bodyPr wrap="none">
            <a:spAutoFit/>
          </a:bodyPr>
          <a:lstStyle/>
          <a:p>
            <a:pPr eaLnBrk="0" hangingPunct="0"/>
            <a:r>
              <a:rPr lang="fr-CA"/>
              <a:t>Na</a:t>
            </a:r>
            <a:r>
              <a:rPr lang="fr-CA" baseline="30000"/>
              <a:t>+</a:t>
            </a:r>
            <a:endParaRPr lang="fr-CA"/>
          </a:p>
        </p:txBody>
      </p:sp>
      <p:sp>
        <p:nvSpPr>
          <p:cNvPr id="16392" name="Text Box 8"/>
          <p:cNvSpPr txBox="1">
            <a:spLocks noChangeArrowheads="1"/>
          </p:cNvSpPr>
          <p:nvPr/>
        </p:nvSpPr>
        <p:spPr bwMode="auto">
          <a:xfrm>
            <a:off x="691537" y="3706122"/>
            <a:ext cx="434975" cy="366713"/>
          </a:xfrm>
          <a:prstGeom prst="rect">
            <a:avLst/>
          </a:prstGeom>
          <a:noFill/>
          <a:ln w="9525">
            <a:noFill/>
            <a:miter lim="800000"/>
            <a:headEnd/>
            <a:tailEnd/>
          </a:ln>
        </p:spPr>
        <p:txBody>
          <a:bodyPr wrap="none">
            <a:spAutoFit/>
          </a:bodyPr>
          <a:lstStyle/>
          <a:p>
            <a:pPr eaLnBrk="0" hangingPunct="0"/>
            <a:r>
              <a:rPr lang="fr-CA"/>
              <a:t>K</a:t>
            </a:r>
            <a:r>
              <a:rPr lang="fr-CA" baseline="30000"/>
              <a:t>+</a:t>
            </a:r>
            <a:endParaRPr lang="fr-CA"/>
          </a:p>
        </p:txBody>
      </p:sp>
      <p:sp>
        <p:nvSpPr>
          <p:cNvPr id="16393" name="Text Box 9"/>
          <p:cNvSpPr txBox="1">
            <a:spLocks noChangeArrowheads="1"/>
          </p:cNvSpPr>
          <p:nvPr/>
        </p:nvSpPr>
        <p:spPr bwMode="auto">
          <a:xfrm>
            <a:off x="2482237" y="3055247"/>
            <a:ext cx="1074737" cy="366713"/>
          </a:xfrm>
          <a:prstGeom prst="rect">
            <a:avLst/>
          </a:prstGeom>
          <a:noFill/>
          <a:ln w="9525">
            <a:noFill/>
            <a:miter lim="800000"/>
            <a:headEnd/>
            <a:tailEnd/>
          </a:ln>
        </p:spPr>
        <p:txBody>
          <a:bodyPr wrap="none">
            <a:spAutoFit/>
          </a:bodyPr>
          <a:lstStyle/>
          <a:p>
            <a:pPr eaLnBrk="0" hangingPunct="0"/>
            <a:r>
              <a:rPr lang="fr-CA"/>
              <a:t>ADP + Pi</a:t>
            </a:r>
          </a:p>
        </p:txBody>
      </p:sp>
      <p:sp>
        <p:nvSpPr>
          <p:cNvPr id="16394" name="Text Box 10"/>
          <p:cNvSpPr txBox="1">
            <a:spLocks noChangeArrowheads="1"/>
          </p:cNvSpPr>
          <p:nvPr/>
        </p:nvSpPr>
        <p:spPr bwMode="auto">
          <a:xfrm>
            <a:off x="2493957" y="3415610"/>
            <a:ext cx="615950" cy="366712"/>
          </a:xfrm>
          <a:prstGeom prst="rect">
            <a:avLst/>
          </a:prstGeom>
          <a:noFill/>
          <a:ln w="9525">
            <a:noFill/>
            <a:miter lim="800000"/>
            <a:headEnd/>
            <a:tailEnd/>
          </a:ln>
        </p:spPr>
        <p:txBody>
          <a:bodyPr wrap="none">
            <a:spAutoFit/>
          </a:bodyPr>
          <a:lstStyle/>
          <a:p>
            <a:pPr eaLnBrk="0" hangingPunct="0"/>
            <a:r>
              <a:rPr lang="fr-CA" dirty="0"/>
              <a:t>ATP</a:t>
            </a:r>
          </a:p>
        </p:txBody>
      </p:sp>
      <p:sp>
        <p:nvSpPr>
          <p:cNvPr id="16395" name="Rectangle 11"/>
          <p:cNvSpPr>
            <a:spLocks noChangeArrowheads="1"/>
          </p:cNvSpPr>
          <p:nvPr/>
        </p:nvSpPr>
        <p:spPr bwMode="auto">
          <a:xfrm>
            <a:off x="239713" y="210587"/>
            <a:ext cx="8904287" cy="461665"/>
          </a:xfrm>
          <a:prstGeom prst="rect">
            <a:avLst/>
          </a:prstGeom>
          <a:noFill/>
          <a:ln w="9525">
            <a:noFill/>
            <a:miter lim="800000"/>
            <a:headEnd/>
            <a:tailEnd/>
          </a:ln>
        </p:spPr>
        <p:txBody>
          <a:bodyPr anchor="ctr">
            <a:spAutoFit/>
          </a:bodyPr>
          <a:lstStyle/>
          <a:p>
            <a:pPr eaLnBrk="0" hangingPunct="0"/>
            <a:r>
              <a:rPr lang="fr-CA" sz="2400" b="1" dirty="0">
                <a:solidFill>
                  <a:schemeClr val="accent2"/>
                </a:solidFill>
                <a:latin typeface="Arial" charset="0"/>
              </a:rPr>
              <a:t>2.2.4  </a:t>
            </a:r>
            <a:r>
              <a:rPr lang="fr-CA" sz="2400" b="1" u="sng" dirty="0">
                <a:solidFill>
                  <a:schemeClr val="accent2"/>
                </a:solidFill>
                <a:latin typeface="Arial" charset="0"/>
              </a:rPr>
              <a:t>Conséquences d’une inhibition de la pompe Na-K</a:t>
            </a:r>
          </a:p>
        </p:txBody>
      </p:sp>
      <p:sp>
        <p:nvSpPr>
          <p:cNvPr id="16398" name="Text Box 21"/>
          <p:cNvSpPr txBox="1">
            <a:spLocks noChangeArrowheads="1"/>
          </p:cNvSpPr>
          <p:nvPr/>
        </p:nvSpPr>
        <p:spPr bwMode="auto">
          <a:xfrm>
            <a:off x="1222223" y="3157001"/>
            <a:ext cx="953934" cy="584775"/>
          </a:xfrm>
          <a:prstGeom prst="rect">
            <a:avLst/>
          </a:prstGeom>
          <a:noFill/>
          <a:ln w="9525">
            <a:noFill/>
            <a:miter lim="800000"/>
            <a:headEnd/>
            <a:tailEnd/>
          </a:ln>
        </p:spPr>
        <p:txBody>
          <a:bodyPr wrap="square">
            <a:spAutoFit/>
          </a:bodyPr>
          <a:lstStyle/>
          <a:p>
            <a:pPr algn="ctr" eaLnBrk="0" hangingPunct="0"/>
            <a:r>
              <a:rPr lang="fr-CA" sz="1600" b="1" i="1" dirty="0">
                <a:latin typeface="Calibri" pitchFamily="34" charset="0"/>
                <a:cs typeface="Calibri" pitchFamily="34" charset="0"/>
              </a:rPr>
              <a:t>Pompe Na-K</a:t>
            </a:r>
          </a:p>
        </p:txBody>
      </p:sp>
      <p:sp>
        <p:nvSpPr>
          <p:cNvPr id="16399" name="Text Box 22"/>
          <p:cNvSpPr txBox="1">
            <a:spLocks noChangeArrowheads="1"/>
          </p:cNvSpPr>
          <p:nvPr/>
        </p:nvSpPr>
        <p:spPr bwMode="auto">
          <a:xfrm>
            <a:off x="5521379" y="3102872"/>
            <a:ext cx="1027676" cy="584775"/>
          </a:xfrm>
          <a:prstGeom prst="rect">
            <a:avLst/>
          </a:prstGeom>
          <a:noFill/>
          <a:ln w="9525">
            <a:noFill/>
            <a:miter lim="800000"/>
            <a:headEnd/>
            <a:tailEnd/>
          </a:ln>
        </p:spPr>
        <p:txBody>
          <a:bodyPr wrap="square">
            <a:spAutoFit/>
          </a:bodyPr>
          <a:lstStyle/>
          <a:p>
            <a:pPr algn="ctr" eaLnBrk="0" hangingPunct="0"/>
            <a:r>
              <a:rPr lang="fr-CA" sz="1600" b="1" i="1" dirty="0">
                <a:solidFill>
                  <a:srgbClr val="00B050"/>
                </a:solidFill>
                <a:latin typeface="Calibri" pitchFamily="34" charset="0"/>
                <a:cs typeface="Calibri" pitchFamily="34" charset="0"/>
              </a:rPr>
              <a:t>Antiport Na-Ca</a:t>
            </a:r>
          </a:p>
        </p:txBody>
      </p:sp>
      <p:sp>
        <p:nvSpPr>
          <p:cNvPr id="16400" name="Text Box 23"/>
          <p:cNvSpPr txBox="1">
            <a:spLocks noChangeArrowheads="1"/>
          </p:cNvSpPr>
          <p:nvPr/>
        </p:nvSpPr>
        <p:spPr bwMode="auto">
          <a:xfrm>
            <a:off x="4614249" y="2705997"/>
            <a:ext cx="781050" cy="366713"/>
          </a:xfrm>
          <a:prstGeom prst="rect">
            <a:avLst/>
          </a:prstGeom>
          <a:noFill/>
          <a:ln w="9525">
            <a:noFill/>
            <a:miter lim="800000"/>
            <a:headEnd/>
            <a:tailEnd/>
          </a:ln>
        </p:spPr>
        <p:txBody>
          <a:bodyPr wrap="none">
            <a:spAutoFit/>
          </a:bodyPr>
          <a:lstStyle/>
          <a:p>
            <a:pPr eaLnBrk="0" hangingPunct="0"/>
            <a:r>
              <a:rPr lang="en-US">
                <a:solidFill>
                  <a:srgbClr val="3333FF"/>
                </a:solidFill>
                <a:latin typeface="Arial" charset="0"/>
              </a:rPr>
              <a:t>[</a:t>
            </a:r>
            <a:r>
              <a:rPr lang="fr-CA">
                <a:solidFill>
                  <a:srgbClr val="3333FF"/>
                </a:solidFill>
              </a:rPr>
              <a:t>Na</a:t>
            </a:r>
            <a:r>
              <a:rPr lang="fr-CA" baseline="30000">
                <a:solidFill>
                  <a:srgbClr val="3333FF"/>
                </a:solidFill>
              </a:rPr>
              <a:t>+</a:t>
            </a:r>
            <a:r>
              <a:rPr lang="en-US">
                <a:solidFill>
                  <a:srgbClr val="3333FF"/>
                </a:solidFill>
                <a:latin typeface="Arial" charset="0"/>
              </a:rPr>
              <a:t>]</a:t>
            </a:r>
            <a:r>
              <a:rPr lang="en-US" baseline="-20000">
                <a:solidFill>
                  <a:srgbClr val="3333FF"/>
                </a:solidFill>
                <a:latin typeface="Arial" charset="0"/>
              </a:rPr>
              <a:t>in</a:t>
            </a:r>
          </a:p>
        </p:txBody>
      </p:sp>
      <p:sp>
        <p:nvSpPr>
          <p:cNvPr id="16401" name="Text Box 24"/>
          <p:cNvSpPr txBox="1">
            <a:spLocks noChangeArrowheads="1"/>
          </p:cNvSpPr>
          <p:nvPr/>
        </p:nvSpPr>
        <p:spPr bwMode="auto">
          <a:xfrm>
            <a:off x="6560524" y="2423119"/>
            <a:ext cx="1565275" cy="641350"/>
          </a:xfrm>
          <a:prstGeom prst="rect">
            <a:avLst/>
          </a:prstGeom>
          <a:noFill/>
          <a:ln w="9525">
            <a:noFill/>
            <a:miter lim="800000"/>
            <a:headEnd/>
            <a:tailEnd/>
          </a:ln>
        </p:spPr>
        <p:txBody>
          <a:bodyPr wrap="none">
            <a:spAutoFit/>
          </a:bodyPr>
          <a:lstStyle/>
          <a:p>
            <a:pPr eaLnBrk="0" hangingPunct="0"/>
            <a:r>
              <a:rPr lang="en-US" sz="3600" dirty="0">
                <a:solidFill>
                  <a:srgbClr val="3333FF"/>
                </a:solidFill>
              </a:rPr>
              <a:t>[</a:t>
            </a:r>
            <a:r>
              <a:rPr lang="fr-CA" sz="3600" dirty="0">
                <a:solidFill>
                  <a:srgbClr val="3333FF"/>
                </a:solidFill>
              </a:rPr>
              <a:t>Na</a:t>
            </a:r>
            <a:r>
              <a:rPr lang="fr-CA" sz="3600" baseline="30000" dirty="0">
                <a:solidFill>
                  <a:srgbClr val="3333FF"/>
                </a:solidFill>
              </a:rPr>
              <a:t>+</a:t>
            </a:r>
            <a:r>
              <a:rPr lang="en-US" sz="3600" dirty="0">
                <a:solidFill>
                  <a:srgbClr val="3333FF"/>
                </a:solidFill>
              </a:rPr>
              <a:t>]</a:t>
            </a:r>
            <a:r>
              <a:rPr lang="en-US" sz="3600" baseline="-20000" dirty="0">
                <a:solidFill>
                  <a:srgbClr val="3333FF"/>
                </a:solidFill>
              </a:rPr>
              <a:t>ext</a:t>
            </a:r>
          </a:p>
        </p:txBody>
      </p:sp>
      <p:sp>
        <p:nvSpPr>
          <p:cNvPr id="16404" name="Oval 30"/>
          <p:cNvSpPr>
            <a:spLocks noChangeArrowheads="1"/>
          </p:cNvSpPr>
          <p:nvPr/>
        </p:nvSpPr>
        <p:spPr bwMode="auto">
          <a:xfrm>
            <a:off x="5563574" y="2944122"/>
            <a:ext cx="914400" cy="914400"/>
          </a:xfrm>
          <a:prstGeom prst="ellipse">
            <a:avLst/>
          </a:prstGeom>
          <a:noFill/>
          <a:ln w="25400">
            <a:solidFill>
              <a:srgbClr val="00B050"/>
            </a:solidFill>
            <a:round/>
            <a:headEnd/>
            <a:tailEnd/>
          </a:ln>
        </p:spPr>
        <p:txBody>
          <a:bodyPr wrap="none" anchor="ctr"/>
          <a:lstStyle/>
          <a:p>
            <a:pPr eaLnBrk="0" hangingPunct="0"/>
            <a:endParaRPr lang="fr-FR">
              <a:solidFill>
                <a:srgbClr val="FFFF00"/>
              </a:solidFill>
            </a:endParaRPr>
          </a:p>
        </p:txBody>
      </p:sp>
      <p:sp>
        <p:nvSpPr>
          <p:cNvPr id="16405" name="Line 31"/>
          <p:cNvSpPr>
            <a:spLocks noChangeShapeType="1"/>
          </p:cNvSpPr>
          <p:nvPr/>
        </p:nvSpPr>
        <p:spPr bwMode="auto">
          <a:xfrm flipV="1">
            <a:off x="5368312" y="2929835"/>
            <a:ext cx="1241425" cy="0"/>
          </a:xfrm>
          <a:prstGeom prst="line">
            <a:avLst/>
          </a:prstGeom>
          <a:noFill/>
          <a:ln w="25400">
            <a:solidFill>
              <a:srgbClr val="00B050"/>
            </a:solidFill>
            <a:round/>
            <a:headEnd type="stealth" w="lg" len="lg"/>
            <a:tailEnd/>
          </a:ln>
        </p:spPr>
        <p:txBody>
          <a:bodyPr/>
          <a:lstStyle/>
          <a:p>
            <a:endParaRPr lang="fr-CA">
              <a:solidFill>
                <a:srgbClr val="FFFF00"/>
              </a:solidFill>
            </a:endParaRPr>
          </a:p>
        </p:txBody>
      </p:sp>
      <p:sp>
        <p:nvSpPr>
          <p:cNvPr id="16406" name="Line 32"/>
          <p:cNvSpPr>
            <a:spLocks noChangeShapeType="1"/>
          </p:cNvSpPr>
          <p:nvPr/>
        </p:nvSpPr>
        <p:spPr bwMode="auto">
          <a:xfrm flipV="1">
            <a:off x="5365137" y="3866460"/>
            <a:ext cx="1241425" cy="0"/>
          </a:xfrm>
          <a:prstGeom prst="line">
            <a:avLst/>
          </a:prstGeom>
          <a:noFill/>
          <a:ln w="25400">
            <a:solidFill>
              <a:srgbClr val="00B050"/>
            </a:solidFill>
            <a:round/>
            <a:headEnd type="none" w="lg" len="lg"/>
            <a:tailEnd type="stealth" w="lg" len="lg"/>
          </a:ln>
        </p:spPr>
        <p:txBody>
          <a:bodyPr/>
          <a:lstStyle/>
          <a:p>
            <a:endParaRPr lang="fr-CA">
              <a:solidFill>
                <a:srgbClr val="FFFF00"/>
              </a:solidFill>
            </a:endParaRPr>
          </a:p>
        </p:txBody>
      </p:sp>
      <p:sp>
        <p:nvSpPr>
          <p:cNvPr id="16407" name="Text Box 33"/>
          <p:cNvSpPr txBox="1">
            <a:spLocks noChangeArrowheads="1"/>
          </p:cNvSpPr>
          <p:nvPr/>
        </p:nvSpPr>
        <p:spPr bwMode="auto">
          <a:xfrm>
            <a:off x="6576194" y="3600170"/>
            <a:ext cx="1692275" cy="641350"/>
          </a:xfrm>
          <a:prstGeom prst="rect">
            <a:avLst/>
          </a:prstGeom>
          <a:noFill/>
          <a:ln w="9525">
            <a:noFill/>
            <a:miter lim="800000"/>
            <a:headEnd/>
            <a:tailEnd/>
          </a:ln>
        </p:spPr>
        <p:txBody>
          <a:bodyPr wrap="none">
            <a:spAutoFit/>
          </a:bodyPr>
          <a:lstStyle/>
          <a:p>
            <a:pPr eaLnBrk="0" hangingPunct="0"/>
            <a:r>
              <a:rPr lang="en-US" sz="3600" dirty="0">
                <a:solidFill>
                  <a:srgbClr val="3333FF"/>
                </a:solidFill>
              </a:rPr>
              <a:t>[</a:t>
            </a:r>
            <a:r>
              <a:rPr lang="fr-CA" sz="3600" dirty="0">
                <a:solidFill>
                  <a:srgbClr val="3333FF"/>
                </a:solidFill>
              </a:rPr>
              <a:t>Ca</a:t>
            </a:r>
            <a:r>
              <a:rPr lang="fr-CA" sz="3600" baseline="30000" dirty="0">
                <a:solidFill>
                  <a:srgbClr val="3333FF"/>
                </a:solidFill>
              </a:rPr>
              <a:t>2+</a:t>
            </a:r>
            <a:r>
              <a:rPr lang="en-US" sz="3600" dirty="0">
                <a:solidFill>
                  <a:srgbClr val="3333FF"/>
                </a:solidFill>
              </a:rPr>
              <a:t>]</a:t>
            </a:r>
            <a:r>
              <a:rPr lang="en-US" sz="3600" baseline="-20000" dirty="0">
                <a:solidFill>
                  <a:srgbClr val="3333FF"/>
                </a:solidFill>
              </a:rPr>
              <a:t>ext</a:t>
            </a:r>
          </a:p>
        </p:txBody>
      </p:sp>
      <p:sp>
        <p:nvSpPr>
          <p:cNvPr id="16409" name="Text Box 39"/>
          <p:cNvSpPr txBox="1">
            <a:spLocks noChangeArrowheads="1"/>
          </p:cNvSpPr>
          <p:nvPr/>
        </p:nvSpPr>
        <p:spPr bwMode="auto">
          <a:xfrm>
            <a:off x="4547574" y="3631510"/>
            <a:ext cx="871538" cy="366712"/>
          </a:xfrm>
          <a:prstGeom prst="rect">
            <a:avLst/>
          </a:prstGeom>
          <a:noFill/>
          <a:ln w="9525">
            <a:noFill/>
            <a:miter lim="800000"/>
            <a:headEnd/>
            <a:tailEnd/>
          </a:ln>
        </p:spPr>
        <p:txBody>
          <a:bodyPr wrap="none">
            <a:spAutoFit/>
          </a:bodyPr>
          <a:lstStyle/>
          <a:p>
            <a:pPr eaLnBrk="0" hangingPunct="0"/>
            <a:r>
              <a:rPr lang="en-US">
                <a:solidFill>
                  <a:srgbClr val="3333FF"/>
                </a:solidFill>
              </a:rPr>
              <a:t>[</a:t>
            </a:r>
            <a:r>
              <a:rPr lang="fr-CA">
                <a:solidFill>
                  <a:srgbClr val="3333FF"/>
                </a:solidFill>
              </a:rPr>
              <a:t>Ca</a:t>
            </a:r>
            <a:r>
              <a:rPr lang="fr-CA" baseline="30000">
                <a:solidFill>
                  <a:srgbClr val="3333FF"/>
                </a:solidFill>
              </a:rPr>
              <a:t>2+</a:t>
            </a:r>
            <a:r>
              <a:rPr lang="en-US">
                <a:solidFill>
                  <a:srgbClr val="3333FF"/>
                </a:solidFill>
              </a:rPr>
              <a:t>]</a:t>
            </a:r>
            <a:r>
              <a:rPr lang="en-US" baseline="-20000">
                <a:solidFill>
                  <a:srgbClr val="3333FF"/>
                </a:solidFill>
              </a:rPr>
              <a:t>in</a:t>
            </a:r>
          </a:p>
        </p:txBody>
      </p:sp>
      <p:sp>
        <p:nvSpPr>
          <p:cNvPr id="48" name="AutoShape 33"/>
          <p:cNvSpPr>
            <a:spLocks noChangeArrowheads="1"/>
          </p:cNvSpPr>
          <p:nvPr/>
        </p:nvSpPr>
        <p:spPr bwMode="auto">
          <a:xfrm>
            <a:off x="2136210" y="3248819"/>
            <a:ext cx="600075" cy="35401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 name="T18" fmla="*/ 3143 w 21600"/>
              <a:gd name="T19" fmla="*/ 3196 h 21600"/>
              <a:gd name="T20" fmla="*/ 18457 w 21600"/>
              <a:gd name="T21" fmla="*/ 18404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0042" y="26"/>
                </a:moveTo>
                <a:cubicBezTo>
                  <a:pt x="4385" y="424"/>
                  <a:pt x="0" y="5129"/>
                  <a:pt x="0" y="10799"/>
                </a:cubicBezTo>
                <a:cubicBezTo>
                  <a:pt x="0" y="16764"/>
                  <a:pt x="4835" y="21600"/>
                  <a:pt x="10800" y="21600"/>
                </a:cubicBezTo>
                <a:cubicBezTo>
                  <a:pt x="10895" y="21600"/>
                  <a:pt x="10990" y="21598"/>
                  <a:pt x="11085" y="21596"/>
                </a:cubicBezTo>
                <a:cubicBezTo>
                  <a:pt x="10990" y="21598"/>
                  <a:pt x="10895" y="21599"/>
                  <a:pt x="10800" y="21600"/>
                </a:cubicBezTo>
                <a:cubicBezTo>
                  <a:pt x="4835" y="21600"/>
                  <a:pt x="0" y="16764"/>
                  <a:pt x="0" y="10800"/>
                </a:cubicBezTo>
                <a:cubicBezTo>
                  <a:pt x="-1" y="5129"/>
                  <a:pt x="4385" y="424"/>
                  <a:pt x="10042" y="26"/>
                </a:cubicBezTo>
                <a:lnTo>
                  <a:pt x="9853" y="-2667"/>
                </a:lnTo>
                <a:lnTo>
                  <a:pt x="12735" y="-164"/>
                </a:lnTo>
                <a:lnTo>
                  <a:pt x="10232" y="2719"/>
                </a:lnTo>
                <a:lnTo>
                  <a:pt x="10042" y="26"/>
                </a:lnTo>
                <a:close/>
              </a:path>
            </a:pathLst>
          </a:custGeom>
          <a:solidFill>
            <a:schemeClr val="accent1"/>
          </a:solidFill>
          <a:ln w="25400">
            <a:solidFill>
              <a:srgbClr val="0000FF"/>
            </a:solidFill>
            <a:miter lim="800000"/>
            <a:headEnd/>
            <a:tailEnd/>
          </a:ln>
        </p:spPr>
        <p:txBody>
          <a:bodyPr wrap="none" anchor="ctr"/>
          <a:lstStyle/>
          <a:p>
            <a:endParaRPr lang="fr-CA"/>
          </a:p>
        </p:txBody>
      </p:sp>
      <p:sp>
        <p:nvSpPr>
          <p:cNvPr id="49" name="Line 31"/>
          <p:cNvSpPr>
            <a:spLocks noChangeShapeType="1"/>
          </p:cNvSpPr>
          <p:nvPr/>
        </p:nvSpPr>
        <p:spPr bwMode="auto">
          <a:xfrm flipV="1">
            <a:off x="5351105" y="2661906"/>
            <a:ext cx="1241425" cy="0"/>
          </a:xfrm>
          <a:prstGeom prst="line">
            <a:avLst/>
          </a:prstGeom>
          <a:noFill/>
          <a:ln w="25400">
            <a:solidFill>
              <a:srgbClr val="0000FF"/>
            </a:solidFill>
            <a:round/>
            <a:headEnd type="stealth" w="lg" len="lg"/>
            <a:tailEnd/>
          </a:ln>
        </p:spPr>
        <p:txBody>
          <a:bodyPr/>
          <a:lstStyle/>
          <a:p>
            <a:endParaRPr lang="fr-CA"/>
          </a:p>
        </p:txBody>
      </p:sp>
      <p:sp>
        <p:nvSpPr>
          <p:cNvPr id="53" name="Line 31"/>
          <p:cNvSpPr>
            <a:spLocks noChangeShapeType="1"/>
          </p:cNvSpPr>
          <p:nvPr/>
        </p:nvSpPr>
        <p:spPr bwMode="auto">
          <a:xfrm flipV="1">
            <a:off x="5341273" y="4067919"/>
            <a:ext cx="1241425" cy="0"/>
          </a:xfrm>
          <a:prstGeom prst="line">
            <a:avLst/>
          </a:prstGeom>
          <a:noFill/>
          <a:ln w="25400">
            <a:solidFill>
              <a:srgbClr val="0000FF"/>
            </a:solidFill>
            <a:round/>
            <a:headEnd type="stealth" w="lg" len="lg"/>
            <a:tailEnd/>
          </a:ln>
        </p:spPr>
        <p:txBody>
          <a:bodyPr/>
          <a:lstStyle/>
          <a:p>
            <a:endParaRPr lang="fr-CA"/>
          </a:p>
        </p:txBody>
      </p:sp>
      <p:sp>
        <p:nvSpPr>
          <p:cNvPr id="2" name="TextBox 1"/>
          <p:cNvSpPr txBox="1"/>
          <p:nvPr/>
        </p:nvSpPr>
        <p:spPr>
          <a:xfrm>
            <a:off x="368709" y="731279"/>
            <a:ext cx="8598309" cy="400110"/>
          </a:xfrm>
          <a:prstGeom prst="rect">
            <a:avLst/>
          </a:prstGeom>
          <a:noFill/>
        </p:spPr>
        <p:txBody>
          <a:bodyPr wrap="square" rtlCol="0">
            <a:spAutoFit/>
          </a:bodyPr>
          <a:lstStyle/>
          <a:p>
            <a:r>
              <a:rPr lang="fr-CA" sz="2000" b="1" dirty="0">
                <a:latin typeface="Calibri" panose="020F0502020204030204" pitchFamily="34" charset="0"/>
              </a:rPr>
              <a:t>Note à propos des symboles utilisés pour décrire les transports membranaires :</a:t>
            </a:r>
            <a:r>
              <a:rPr lang="fr-CA" sz="2000" dirty="0">
                <a:latin typeface="Calibri" panose="020F0502020204030204" pitchFamily="34" charset="0"/>
              </a:rPr>
              <a:t>  </a:t>
            </a:r>
            <a:endParaRPr lang="en-US" sz="2000" dirty="0">
              <a:latin typeface="Calibri" panose="020F0502020204030204" pitchFamily="34" charset="0"/>
            </a:endParaRPr>
          </a:p>
        </p:txBody>
      </p:sp>
      <p:cxnSp>
        <p:nvCxnSpPr>
          <p:cNvPr id="4" name="Straight Arrow Connector 3"/>
          <p:cNvCxnSpPr/>
          <p:nvPr/>
        </p:nvCxnSpPr>
        <p:spPr bwMode="auto">
          <a:xfrm>
            <a:off x="6434227" y="1721235"/>
            <a:ext cx="806022" cy="846650"/>
          </a:xfrm>
          <a:prstGeom prst="straightConnector1">
            <a:avLst/>
          </a:prstGeom>
          <a:solidFill>
            <a:schemeClr val="accent1"/>
          </a:solidFill>
          <a:ln w="9525" cap="flat" cmpd="sng" algn="ctr">
            <a:solidFill>
              <a:schemeClr val="tx1"/>
            </a:solidFill>
            <a:prstDash val="solid"/>
            <a:round/>
            <a:headEnd type="none" w="med" len="med"/>
            <a:tailEnd type="triangle" w="med" len="lg"/>
          </a:ln>
          <a:effectLst/>
        </p:spPr>
      </p:cxnSp>
      <p:sp>
        <p:nvSpPr>
          <p:cNvPr id="56" name="TextBox 55"/>
          <p:cNvSpPr txBox="1"/>
          <p:nvPr/>
        </p:nvSpPr>
        <p:spPr>
          <a:xfrm>
            <a:off x="5353322" y="4791897"/>
            <a:ext cx="2772477" cy="1077218"/>
          </a:xfrm>
          <a:prstGeom prst="rect">
            <a:avLst/>
          </a:prstGeom>
          <a:noFill/>
        </p:spPr>
        <p:txBody>
          <a:bodyPr wrap="square" rtlCol="0">
            <a:spAutoFit/>
          </a:bodyPr>
          <a:lstStyle/>
          <a:p>
            <a:r>
              <a:rPr lang="fr-CA" sz="1600" i="1" u="sng" dirty="0">
                <a:latin typeface="Calibri" panose="020F0502020204030204" pitchFamily="34" charset="0"/>
              </a:rPr>
              <a:t>Diffusion (simple ou facilitée)</a:t>
            </a:r>
            <a:r>
              <a:rPr lang="fr-CA" sz="1600" i="1" dirty="0">
                <a:latin typeface="Calibri" panose="020F0502020204030204" pitchFamily="34" charset="0"/>
              </a:rPr>
              <a:t> </a:t>
            </a:r>
            <a:r>
              <a:rPr lang="fr-CA" sz="1600" dirty="0">
                <a:latin typeface="Calibri" panose="020F0502020204030204" pitchFamily="34" charset="0"/>
              </a:rPr>
              <a:t>:</a:t>
            </a:r>
          </a:p>
          <a:p>
            <a:r>
              <a:rPr lang="fr-CA" sz="1600" dirty="0">
                <a:latin typeface="Calibri" panose="020F0502020204030204" pitchFamily="34" charset="0"/>
              </a:rPr>
              <a:t>Représentée par une flèche unique qui indique la direction du soluté.</a:t>
            </a:r>
            <a:endParaRPr lang="en-US" sz="1600" dirty="0">
              <a:latin typeface="Calibri" panose="020F0502020204030204" pitchFamily="34" charset="0"/>
            </a:endParaRPr>
          </a:p>
        </p:txBody>
      </p:sp>
      <p:sp>
        <p:nvSpPr>
          <p:cNvPr id="57" name="TextBox 56"/>
          <p:cNvSpPr txBox="1"/>
          <p:nvPr/>
        </p:nvSpPr>
        <p:spPr>
          <a:xfrm>
            <a:off x="499554" y="4660467"/>
            <a:ext cx="3855089" cy="1323439"/>
          </a:xfrm>
          <a:prstGeom prst="rect">
            <a:avLst/>
          </a:prstGeom>
          <a:noFill/>
        </p:spPr>
        <p:txBody>
          <a:bodyPr wrap="square" rtlCol="0">
            <a:spAutoFit/>
          </a:bodyPr>
          <a:lstStyle/>
          <a:p>
            <a:r>
              <a:rPr lang="fr-CA" sz="1600" i="1" u="sng" dirty="0">
                <a:latin typeface="Calibri" panose="020F0502020204030204" pitchFamily="34" charset="0"/>
              </a:rPr>
              <a:t>Transports actifs (primaire ou secondaire</a:t>
            </a:r>
            <a:r>
              <a:rPr lang="fr-CA" sz="1600" i="1" dirty="0">
                <a:latin typeface="Calibri" panose="020F0502020204030204" pitchFamily="34" charset="0"/>
              </a:rPr>
              <a:t>) </a:t>
            </a:r>
            <a:r>
              <a:rPr lang="fr-CA" sz="1600" dirty="0">
                <a:latin typeface="Calibri" panose="020F0502020204030204" pitchFamily="34" charset="0"/>
              </a:rPr>
              <a:t>:</a:t>
            </a:r>
          </a:p>
          <a:p>
            <a:r>
              <a:rPr lang="fr-CA" sz="1600" dirty="0">
                <a:latin typeface="Calibri" panose="020F0502020204030204" pitchFamily="34" charset="0"/>
              </a:rPr>
              <a:t>Représentés par un cercle avec des flèches qui indiquent les substances transportées.</a:t>
            </a:r>
          </a:p>
          <a:p>
            <a:r>
              <a:rPr lang="fr-CA" sz="1600" dirty="0">
                <a:latin typeface="Calibri" panose="020F0502020204030204" pitchFamily="34" charset="0"/>
              </a:rPr>
              <a:t>Pour les transports actifs </a:t>
            </a:r>
            <a:r>
              <a:rPr lang="fr-CA" sz="1600" u="sng" dirty="0">
                <a:latin typeface="Calibri" panose="020F0502020204030204" pitchFamily="34" charset="0"/>
              </a:rPr>
              <a:t>primaires</a:t>
            </a:r>
            <a:r>
              <a:rPr lang="fr-CA" sz="1600" dirty="0">
                <a:latin typeface="Calibri" panose="020F0502020204030204" pitchFamily="34" charset="0"/>
              </a:rPr>
              <a:t>, on ajoute aussi la réaction d’hydrolyse de l’ATP.   </a:t>
            </a:r>
            <a:endParaRPr lang="en-US" sz="1600" dirty="0">
              <a:latin typeface="Calibri" panose="020F0502020204030204" pitchFamily="34" charset="0"/>
            </a:endParaRPr>
          </a:p>
        </p:txBody>
      </p:sp>
      <p:sp>
        <p:nvSpPr>
          <p:cNvPr id="58" name="TextBox 57"/>
          <p:cNvSpPr txBox="1"/>
          <p:nvPr/>
        </p:nvSpPr>
        <p:spPr>
          <a:xfrm>
            <a:off x="4691856" y="1166617"/>
            <a:ext cx="3387058" cy="584775"/>
          </a:xfrm>
          <a:prstGeom prst="rect">
            <a:avLst/>
          </a:prstGeom>
          <a:noFill/>
        </p:spPr>
        <p:txBody>
          <a:bodyPr wrap="square" rtlCol="0">
            <a:spAutoFit/>
          </a:bodyPr>
          <a:lstStyle/>
          <a:p>
            <a:r>
              <a:rPr lang="fr-CA" sz="1600" u="sng" dirty="0">
                <a:latin typeface="Calibri" panose="020F0502020204030204" pitchFamily="34" charset="0"/>
              </a:rPr>
              <a:t>Gradients</a:t>
            </a:r>
            <a:r>
              <a:rPr lang="fr-CA" sz="1600" i="1" u="sng" dirty="0">
                <a:latin typeface="Calibri" panose="020F0502020204030204" pitchFamily="34" charset="0"/>
              </a:rPr>
              <a:t> de concentration</a:t>
            </a:r>
            <a:r>
              <a:rPr lang="fr-CA" sz="1600" i="1" dirty="0">
                <a:latin typeface="Calibri" panose="020F0502020204030204" pitchFamily="34" charset="0"/>
              </a:rPr>
              <a:t> </a:t>
            </a:r>
            <a:r>
              <a:rPr lang="fr-CA" sz="1600" dirty="0">
                <a:latin typeface="Calibri" panose="020F0502020204030204" pitchFamily="34" charset="0"/>
              </a:rPr>
              <a:t>:</a:t>
            </a:r>
            <a:r>
              <a:rPr lang="fr-CA" sz="1600" i="1" dirty="0">
                <a:latin typeface="Calibri" panose="020F0502020204030204" pitchFamily="34" charset="0"/>
              </a:rPr>
              <a:t> </a:t>
            </a:r>
            <a:r>
              <a:rPr lang="fr-CA" sz="1600" dirty="0">
                <a:latin typeface="Calibri" panose="020F0502020204030204" pitchFamily="34" charset="0"/>
              </a:rPr>
              <a:t>Souvent indiqués par la grosseur des symboles.</a:t>
            </a:r>
          </a:p>
        </p:txBody>
      </p:sp>
      <p:cxnSp>
        <p:nvCxnSpPr>
          <p:cNvPr id="59" name="Straight Arrow Connector 58"/>
          <p:cNvCxnSpPr/>
          <p:nvPr/>
        </p:nvCxnSpPr>
        <p:spPr bwMode="auto">
          <a:xfrm flipH="1" flipV="1">
            <a:off x="1596452" y="3998223"/>
            <a:ext cx="69809" cy="662244"/>
          </a:xfrm>
          <a:prstGeom prst="straightConnector1">
            <a:avLst/>
          </a:prstGeom>
          <a:solidFill>
            <a:schemeClr val="accent1"/>
          </a:solidFill>
          <a:ln w="9525" cap="flat" cmpd="sng" algn="ctr">
            <a:solidFill>
              <a:schemeClr val="tx1"/>
            </a:solidFill>
            <a:prstDash val="solid"/>
            <a:round/>
            <a:headEnd type="none" w="med" len="med"/>
            <a:tailEnd type="triangle" w="med" len="lg"/>
          </a:ln>
          <a:effectLst/>
        </p:spPr>
      </p:cxnSp>
      <p:cxnSp>
        <p:nvCxnSpPr>
          <p:cNvPr id="61" name="Straight Arrow Connector 60"/>
          <p:cNvCxnSpPr/>
          <p:nvPr/>
        </p:nvCxnSpPr>
        <p:spPr bwMode="auto">
          <a:xfrm flipV="1">
            <a:off x="6035217" y="4172847"/>
            <a:ext cx="320613" cy="696206"/>
          </a:xfrm>
          <a:prstGeom prst="straightConnector1">
            <a:avLst/>
          </a:prstGeom>
          <a:solidFill>
            <a:schemeClr val="accent1"/>
          </a:solidFill>
          <a:ln w="9525" cap="flat" cmpd="sng" algn="ctr">
            <a:solidFill>
              <a:schemeClr val="tx1"/>
            </a:solidFill>
            <a:prstDash val="solid"/>
            <a:round/>
            <a:headEnd type="none" w="med" len="med"/>
            <a:tailEnd type="triangle" w="med" len="lg"/>
          </a:ln>
          <a:effectLst/>
        </p:spPr>
      </p:cxnSp>
      <p:cxnSp>
        <p:nvCxnSpPr>
          <p:cNvPr id="66" name="Straight Arrow Connector 65"/>
          <p:cNvCxnSpPr>
            <a:endCxn id="16400" idx="0"/>
          </p:cNvCxnSpPr>
          <p:nvPr/>
        </p:nvCxnSpPr>
        <p:spPr bwMode="auto">
          <a:xfrm flipH="1">
            <a:off x="5004774" y="1751392"/>
            <a:ext cx="1176735" cy="954605"/>
          </a:xfrm>
          <a:prstGeom prst="straightConnector1">
            <a:avLst/>
          </a:prstGeom>
          <a:solidFill>
            <a:schemeClr val="accent1"/>
          </a:solidFill>
          <a:ln w="9525" cap="flat" cmpd="sng" algn="ctr">
            <a:solidFill>
              <a:schemeClr val="tx1"/>
            </a:solidFill>
            <a:prstDash val="solid"/>
            <a:round/>
            <a:headEnd type="none" w="med" len="med"/>
            <a:tailEnd type="triangle" w="med" len="lg"/>
          </a:ln>
          <a:effectLst/>
        </p:spPr>
      </p:cxnSp>
      <p:cxnSp>
        <p:nvCxnSpPr>
          <p:cNvPr id="75" name="Straight Arrow Connector 74"/>
          <p:cNvCxnSpPr/>
          <p:nvPr/>
        </p:nvCxnSpPr>
        <p:spPr bwMode="auto">
          <a:xfrm flipV="1">
            <a:off x="1699190" y="3449389"/>
            <a:ext cx="3822189" cy="1211078"/>
          </a:xfrm>
          <a:prstGeom prst="straightConnector1">
            <a:avLst/>
          </a:prstGeom>
          <a:solidFill>
            <a:schemeClr val="accent1"/>
          </a:solidFill>
          <a:ln w="9525" cap="flat" cmpd="sng" algn="ctr">
            <a:solidFill>
              <a:schemeClr val="tx1"/>
            </a:solidFill>
            <a:prstDash val="solid"/>
            <a:round/>
            <a:headEnd type="none" w="med" len="med"/>
            <a:tailEnd type="triangle" w="med" len="lg"/>
          </a:ln>
          <a:effectLst/>
        </p:spPr>
      </p:cxnSp>
      <p:sp>
        <p:nvSpPr>
          <p:cNvPr id="16384" name="TextBox 16383"/>
          <p:cNvSpPr txBox="1"/>
          <p:nvPr/>
        </p:nvSpPr>
        <p:spPr>
          <a:xfrm>
            <a:off x="3266768" y="2545015"/>
            <a:ext cx="734496" cy="307777"/>
          </a:xfrm>
          <a:prstGeom prst="rect">
            <a:avLst/>
          </a:prstGeom>
          <a:noFill/>
        </p:spPr>
        <p:txBody>
          <a:bodyPr wrap="none" rtlCol="0">
            <a:spAutoFit/>
          </a:bodyPr>
          <a:lstStyle/>
          <a:p>
            <a:r>
              <a:rPr lang="fr-CA" sz="1400" i="1" dirty="0">
                <a:effectLst>
                  <a:outerShdw blurRad="38100" dist="38100" dir="2700000" algn="tl">
                    <a:srgbClr val="000000">
                      <a:alpha val="43137"/>
                    </a:srgbClr>
                  </a:outerShdw>
                </a:effectLst>
              </a:rPr>
              <a:t>Cytosol</a:t>
            </a:r>
            <a:endParaRPr lang="en-US" sz="1400" i="1" dirty="0">
              <a:effectLst>
                <a:outerShdw blurRad="38100" dist="38100" dir="2700000" algn="tl">
                  <a:srgbClr val="000000">
                    <a:alpha val="43137"/>
                  </a:srgbClr>
                </a:outerShdw>
              </a:effectLst>
            </a:endParaRPr>
          </a:p>
        </p:txBody>
      </p:sp>
      <p:sp>
        <p:nvSpPr>
          <p:cNvPr id="88" name="TextBox 87"/>
          <p:cNvSpPr txBox="1"/>
          <p:nvPr/>
        </p:nvSpPr>
        <p:spPr>
          <a:xfrm>
            <a:off x="2761637" y="2260108"/>
            <a:ext cx="1880387" cy="307777"/>
          </a:xfrm>
          <a:prstGeom prst="rect">
            <a:avLst/>
          </a:prstGeom>
          <a:noFill/>
        </p:spPr>
        <p:txBody>
          <a:bodyPr wrap="none" rtlCol="0">
            <a:spAutoFit/>
          </a:bodyPr>
          <a:lstStyle/>
          <a:p>
            <a:r>
              <a:rPr lang="fr-CA" sz="1400" i="1" dirty="0">
                <a:effectLst>
                  <a:outerShdw blurRad="38100" dist="38100" dir="2700000" algn="tl">
                    <a:srgbClr val="000000">
                      <a:alpha val="43137"/>
                    </a:srgbClr>
                  </a:outerShdw>
                </a:effectLst>
              </a:rPr>
              <a:t>Solution extracellulaire</a:t>
            </a:r>
            <a:endParaRPr lang="en-US" sz="1400" i="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2729588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Rectangle 2"/>
          <p:cNvSpPr>
            <a:spLocks noChangeArrowheads="1"/>
          </p:cNvSpPr>
          <p:nvPr/>
        </p:nvSpPr>
        <p:spPr bwMode="auto">
          <a:xfrm>
            <a:off x="239713" y="195416"/>
            <a:ext cx="8666162" cy="969496"/>
          </a:xfrm>
          <a:prstGeom prst="rect">
            <a:avLst/>
          </a:prstGeom>
          <a:noFill/>
          <a:ln w="9525">
            <a:noFill/>
            <a:miter lim="800000"/>
            <a:headEnd/>
            <a:tailEnd/>
          </a:ln>
        </p:spPr>
        <p:txBody>
          <a:bodyPr wrap="square" anchor="ctr">
            <a:spAutoFit/>
          </a:bodyPr>
          <a:lstStyle/>
          <a:p>
            <a:pPr eaLnBrk="0" hangingPunct="0"/>
            <a:r>
              <a:rPr lang="fr-CA" sz="2400" b="1" dirty="0">
                <a:solidFill>
                  <a:schemeClr val="accent2"/>
                </a:solidFill>
                <a:latin typeface="Arial" charset="0"/>
              </a:rPr>
              <a:t>2.2.4  </a:t>
            </a:r>
            <a:r>
              <a:rPr lang="fr-CA" sz="2400" b="1" u="sng" dirty="0">
                <a:solidFill>
                  <a:schemeClr val="accent2"/>
                </a:solidFill>
                <a:latin typeface="Arial" charset="0"/>
              </a:rPr>
              <a:t>Conséquences d’une inhibition de la pompe Na-K</a:t>
            </a:r>
          </a:p>
          <a:p>
            <a:pPr marL="168275" indent="-168275" eaLnBrk="0" hangingPunct="0">
              <a:spcBef>
                <a:spcPct val="50000"/>
              </a:spcBef>
            </a:pPr>
            <a:r>
              <a:rPr lang="en-US" sz="2200" b="1" dirty="0">
                <a:latin typeface="Arial" charset="0"/>
              </a:rPr>
              <a:t>  a) Sur les gradients [Na</a:t>
            </a:r>
            <a:r>
              <a:rPr lang="en-US" sz="2200" b="1" baseline="30000" dirty="0">
                <a:latin typeface="Arial" charset="0"/>
              </a:rPr>
              <a:t>+</a:t>
            </a:r>
            <a:r>
              <a:rPr lang="en-US" sz="2200" b="1" dirty="0">
                <a:latin typeface="Arial" charset="0"/>
              </a:rPr>
              <a:t>] et [K</a:t>
            </a:r>
            <a:r>
              <a:rPr lang="en-US" sz="2200" b="1" baseline="30000" dirty="0">
                <a:latin typeface="Arial" charset="0"/>
              </a:rPr>
              <a:t>+</a:t>
            </a:r>
            <a:r>
              <a:rPr lang="en-US" sz="2200" b="1" dirty="0">
                <a:latin typeface="Arial" charset="0"/>
              </a:rPr>
              <a:t>]:</a:t>
            </a:r>
          </a:p>
        </p:txBody>
      </p:sp>
      <p:sp>
        <p:nvSpPr>
          <p:cNvPr id="523293" name="Text Box 29"/>
          <p:cNvSpPr txBox="1">
            <a:spLocks noChangeArrowheads="1"/>
          </p:cNvSpPr>
          <p:nvPr/>
        </p:nvSpPr>
        <p:spPr bwMode="auto">
          <a:xfrm>
            <a:off x="57150" y="3525721"/>
            <a:ext cx="4400550" cy="427037"/>
          </a:xfrm>
          <a:prstGeom prst="rect">
            <a:avLst/>
          </a:prstGeom>
          <a:noFill/>
          <a:ln w="9525">
            <a:noFill/>
            <a:miter lim="800000"/>
            <a:headEnd/>
            <a:tailEnd/>
          </a:ln>
        </p:spPr>
        <p:txBody>
          <a:bodyPr wrap="none">
            <a:spAutoFit/>
          </a:bodyPr>
          <a:lstStyle/>
          <a:p>
            <a:pPr eaLnBrk="0" hangingPunct="0"/>
            <a:r>
              <a:rPr lang="fr-CA" sz="2200" b="1">
                <a:solidFill>
                  <a:srgbClr val="FF0000"/>
                </a:solidFill>
                <a:latin typeface="Arial" charset="0"/>
              </a:rPr>
              <a:t>Si inhibition de la pompe Na-K?</a:t>
            </a:r>
          </a:p>
        </p:txBody>
      </p:sp>
      <p:grpSp>
        <p:nvGrpSpPr>
          <p:cNvPr id="2" name="Group 56"/>
          <p:cNvGrpSpPr>
            <a:grpSpLocks/>
          </p:cNvGrpSpPr>
          <p:nvPr/>
        </p:nvGrpSpPr>
        <p:grpSpPr bwMode="auto">
          <a:xfrm>
            <a:off x="1401763" y="4089283"/>
            <a:ext cx="5467350" cy="1566863"/>
            <a:chOff x="837" y="2856"/>
            <a:chExt cx="3444" cy="987"/>
          </a:xfrm>
        </p:grpSpPr>
        <p:sp>
          <p:nvSpPr>
            <p:cNvPr id="14371" name="Rectangle 4"/>
            <p:cNvSpPr>
              <a:spLocks noChangeArrowheads="1"/>
            </p:cNvSpPr>
            <p:nvPr/>
          </p:nvSpPr>
          <p:spPr bwMode="auto">
            <a:xfrm>
              <a:off x="1460" y="2856"/>
              <a:ext cx="2821" cy="987"/>
            </a:xfrm>
            <a:prstGeom prst="rect">
              <a:avLst/>
            </a:prstGeom>
            <a:solidFill>
              <a:srgbClr val="FFCC99">
                <a:alpha val="50195"/>
              </a:srgbClr>
            </a:solidFill>
            <a:ln w="9525">
              <a:solidFill>
                <a:schemeClr val="tx1"/>
              </a:solidFill>
              <a:miter lim="800000"/>
              <a:headEnd/>
              <a:tailEnd/>
            </a:ln>
          </p:spPr>
          <p:txBody>
            <a:bodyPr wrap="none" anchor="ctr"/>
            <a:lstStyle/>
            <a:p>
              <a:pPr eaLnBrk="0" hangingPunct="0"/>
              <a:endParaRPr lang="fr-FR"/>
            </a:p>
          </p:txBody>
        </p:sp>
        <p:sp>
          <p:nvSpPr>
            <p:cNvPr id="14372" name="Text Box 14"/>
            <p:cNvSpPr txBox="1">
              <a:spLocks noChangeArrowheads="1"/>
            </p:cNvSpPr>
            <p:nvPr/>
          </p:nvSpPr>
          <p:spPr bwMode="auto">
            <a:xfrm>
              <a:off x="1847" y="2973"/>
              <a:ext cx="338" cy="231"/>
            </a:xfrm>
            <a:prstGeom prst="rect">
              <a:avLst/>
            </a:prstGeom>
            <a:noFill/>
            <a:ln w="9525">
              <a:noFill/>
              <a:miter lim="800000"/>
              <a:headEnd/>
              <a:tailEnd/>
            </a:ln>
          </p:spPr>
          <p:txBody>
            <a:bodyPr wrap="none">
              <a:spAutoFit/>
            </a:bodyPr>
            <a:lstStyle/>
            <a:p>
              <a:pPr eaLnBrk="0" hangingPunct="0"/>
              <a:r>
                <a:rPr lang="fr-CA"/>
                <a:t>Na</a:t>
              </a:r>
              <a:r>
                <a:rPr lang="fr-CA" baseline="30000"/>
                <a:t>+</a:t>
              </a:r>
              <a:endParaRPr lang="fr-CA"/>
            </a:p>
          </p:txBody>
        </p:sp>
        <p:sp>
          <p:nvSpPr>
            <p:cNvPr id="14373" name="Line 13"/>
            <p:cNvSpPr>
              <a:spLocks noChangeShapeType="1"/>
            </p:cNvSpPr>
            <p:nvPr/>
          </p:nvSpPr>
          <p:spPr bwMode="auto">
            <a:xfrm flipV="1">
              <a:off x="1091" y="3674"/>
              <a:ext cx="782" cy="0"/>
            </a:xfrm>
            <a:prstGeom prst="line">
              <a:avLst/>
            </a:prstGeom>
            <a:noFill/>
            <a:ln w="25400">
              <a:solidFill>
                <a:srgbClr val="0000FF"/>
              </a:solidFill>
              <a:round/>
              <a:headEnd type="none" w="lg" len="lg"/>
              <a:tailEnd type="stealth" w="lg" len="lg"/>
            </a:ln>
          </p:spPr>
          <p:txBody>
            <a:bodyPr/>
            <a:lstStyle/>
            <a:p>
              <a:endParaRPr lang="fr-CA"/>
            </a:p>
          </p:txBody>
        </p:sp>
        <p:sp>
          <p:nvSpPr>
            <p:cNvPr id="14374" name="Oval 6"/>
            <p:cNvSpPr>
              <a:spLocks noChangeArrowheads="1"/>
            </p:cNvSpPr>
            <p:nvPr/>
          </p:nvSpPr>
          <p:spPr bwMode="auto">
            <a:xfrm>
              <a:off x="1169" y="3093"/>
              <a:ext cx="576" cy="576"/>
            </a:xfrm>
            <a:prstGeom prst="ellipse">
              <a:avLst/>
            </a:prstGeom>
            <a:noFill/>
            <a:ln w="25400">
              <a:solidFill>
                <a:srgbClr val="0000FF"/>
              </a:solidFill>
              <a:round/>
              <a:headEnd/>
              <a:tailEnd/>
            </a:ln>
          </p:spPr>
          <p:txBody>
            <a:bodyPr wrap="none" anchor="ctr"/>
            <a:lstStyle/>
            <a:p>
              <a:pPr eaLnBrk="0" hangingPunct="0"/>
              <a:endParaRPr lang="fr-FR"/>
            </a:p>
          </p:txBody>
        </p:sp>
        <p:sp>
          <p:nvSpPr>
            <p:cNvPr id="14375" name="AutoShape 10"/>
            <p:cNvSpPr>
              <a:spLocks noChangeArrowheads="1"/>
            </p:cNvSpPr>
            <p:nvPr/>
          </p:nvSpPr>
          <p:spPr bwMode="auto">
            <a:xfrm>
              <a:off x="1753" y="3259"/>
              <a:ext cx="378" cy="22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 name="T18" fmla="*/ 3143 w 21600"/>
                <a:gd name="T19" fmla="*/ 3196 h 21600"/>
                <a:gd name="T20" fmla="*/ 18457 w 21600"/>
                <a:gd name="T21" fmla="*/ 18404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0042" y="26"/>
                  </a:moveTo>
                  <a:cubicBezTo>
                    <a:pt x="4385" y="424"/>
                    <a:pt x="0" y="5129"/>
                    <a:pt x="0" y="10799"/>
                  </a:cubicBezTo>
                  <a:cubicBezTo>
                    <a:pt x="0" y="16764"/>
                    <a:pt x="4835" y="21600"/>
                    <a:pt x="10800" y="21600"/>
                  </a:cubicBezTo>
                  <a:cubicBezTo>
                    <a:pt x="10895" y="21600"/>
                    <a:pt x="10990" y="21598"/>
                    <a:pt x="11085" y="21596"/>
                  </a:cubicBezTo>
                  <a:cubicBezTo>
                    <a:pt x="10990" y="21598"/>
                    <a:pt x="10895" y="21599"/>
                    <a:pt x="10800" y="21600"/>
                  </a:cubicBezTo>
                  <a:cubicBezTo>
                    <a:pt x="4835" y="21600"/>
                    <a:pt x="0" y="16764"/>
                    <a:pt x="0" y="10800"/>
                  </a:cubicBezTo>
                  <a:cubicBezTo>
                    <a:pt x="-1" y="5129"/>
                    <a:pt x="4385" y="424"/>
                    <a:pt x="10042" y="26"/>
                  </a:cubicBezTo>
                  <a:lnTo>
                    <a:pt x="9853" y="-2667"/>
                  </a:lnTo>
                  <a:lnTo>
                    <a:pt x="12735" y="-164"/>
                  </a:lnTo>
                  <a:lnTo>
                    <a:pt x="10232" y="2719"/>
                  </a:lnTo>
                  <a:lnTo>
                    <a:pt x="10042" y="26"/>
                  </a:lnTo>
                  <a:close/>
                </a:path>
              </a:pathLst>
            </a:custGeom>
            <a:solidFill>
              <a:schemeClr val="accent1"/>
            </a:solidFill>
            <a:ln w="25400">
              <a:solidFill>
                <a:srgbClr val="0000FF"/>
              </a:solidFill>
              <a:miter lim="800000"/>
              <a:headEnd/>
              <a:tailEnd/>
            </a:ln>
          </p:spPr>
          <p:txBody>
            <a:bodyPr wrap="none" anchor="ctr"/>
            <a:lstStyle/>
            <a:p>
              <a:endParaRPr lang="fr-CA"/>
            </a:p>
          </p:txBody>
        </p:sp>
        <p:sp>
          <p:nvSpPr>
            <p:cNvPr id="14376" name="Line 12"/>
            <p:cNvSpPr>
              <a:spLocks noChangeShapeType="1"/>
            </p:cNvSpPr>
            <p:nvPr/>
          </p:nvSpPr>
          <p:spPr bwMode="auto">
            <a:xfrm flipV="1">
              <a:off x="1070" y="3084"/>
              <a:ext cx="782" cy="0"/>
            </a:xfrm>
            <a:prstGeom prst="line">
              <a:avLst/>
            </a:prstGeom>
            <a:noFill/>
            <a:ln w="25400">
              <a:solidFill>
                <a:srgbClr val="0000FF"/>
              </a:solidFill>
              <a:round/>
              <a:headEnd type="stealth" w="lg" len="lg"/>
              <a:tailEnd/>
            </a:ln>
          </p:spPr>
          <p:txBody>
            <a:bodyPr/>
            <a:lstStyle/>
            <a:p>
              <a:endParaRPr lang="fr-CA"/>
            </a:p>
          </p:txBody>
        </p:sp>
        <p:sp>
          <p:nvSpPr>
            <p:cNvPr id="14377" name="Text Box 15"/>
            <p:cNvSpPr txBox="1">
              <a:spLocks noChangeArrowheads="1"/>
            </p:cNvSpPr>
            <p:nvPr/>
          </p:nvSpPr>
          <p:spPr bwMode="auto">
            <a:xfrm>
              <a:off x="837" y="3526"/>
              <a:ext cx="274" cy="231"/>
            </a:xfrm>
            <a:prstGeom prst="rect">
              <a:avLst/>
            </a:prstGeom>
            <a:noFill/>
            <a:ln w="9525">
              <a:noFill/>
              <a:miter lim="800000"/>
              <a:headEnd/>
              <a:tailEnd/>
            </a:ln>
          </p:spPr>
          <p:txBody>
            <a:bodyPr wrap="none">
              <a:spAutoFit/>
            </a:bodyPr>
            <a:lstStyle/>
            <a:p>
              <a:pPr eaLnBrk="0" hangingPunct="0"/>
              <a:r>
                <a:rPr lang="fr-CA"/>
                <a:t>K</a:t>
              </a:r>
              <a:r>
                <a:rPr lang="fr-CA" baseline="30000"/>
                <a:t>+</a:t>
              </a:r>
              <a:endParaRPr lang="fr-CA"/>
            </a:p>
          </p:txBody>
        </p:sp>
        <p:sp>
          <p:nvSpPr>
            <p:cNvPr id="14378" name="Text Box 16"/>
            <p:cNvSpPr txBox="1">
              <a:spLocks noChangeArrowheads="1"/>
            </p:cNvSpPr>
            <p:nvPr/>
          </p:nvSpPr>
          <p:spPr bwMode="auto">
            <a:xfrm>
              <a:off x="1975" y="3139"/>
              <a:ext cx="677" cy="231"/>
            </a:xfrm>
            <a:prstGeom prst="rect">
              <a:avLst/>
            </a:prstGeom>
            <a:noFill/>
            <a:ln w="9525">
              <a:noFill/>
              <a:miter lim="800000"/>
              <a:headEnd/>
              <a:tailEnd/>
            </a:ln>
          </p:spPr>
          <p:txBody>
            <a:bodyPr wrap="none">
              <a:spAutoFit/>
            </a:bodyPr>
            <a:lstStyle/>
            <a:p>
              <a:pPr eaLnBrk="0" hangingPunct="0"/>
              <a:r>
                <a:rPr lang="fr-CA"/>
                <a:t>ADP + Pi</a:t>
              </a:r>
            </a:p>
          </p:txBody>
        </p:sp>
        <p:sp>
          <p:nvSpPr>
            <p:cNvPr id="14379" name="Text Box 17"/>
            <p:cNvSpPr txBox="1">
              <a:spLocks noChangeArrowheads="1"/>
            </p:cNvSpPr>
            <p:nvPr/>
          </p:nvSpPr>
          <p:spPr bwMode="auto">
            <a:xfrm>
              <a:off x="1923" y="3366"/>
              <a:ext cx="388" cy="231"/>
            </a:xfrm>
            <a:prstGeom prst="rect">
              <a:avLst/>
            </a:prstGeom>
            <a:noFill/>
            <a:ln w="9525">
              <a:noFill/>
              <a:miter lim="800000"/>
              <a:headEnd/>
              <a:tailEnd/>
            </a:ln>
          </p:spPr>
          <p:txBody>
            <a:bodyPr wrap="none">
              <a:spAutoFit/>
            </a:bodyPr>
            <a:lstStyle/>
            <a:p>
              <a:pPr eaLnBrk="0" hangingPunct="0"/>
              <a:r>
                <a:rPr lang="fr-CA"/>
                <a:t>ATP</a:t>
              </a:r>
            </a:p>
          </p:txBody>
        </p:sp>
        <p:sp>
          <p:nvSpPr>
            <p:cNvPr id="14380" name="Line 42"/>
            <p:cNvSpPr>
              <a:spLocks noChangeShapeType="1"/>
            </p:cNvSpPr>
            <p:nvPr/>
          </p:nvSpPr>
          <p:spPr bwMode="auto">
            <a:xfrm flipV="1">
              <a:off x="1201" y="3005"/>
              <a:ext cx="502" cy="774"/>
            </a:xfrm>
            <a:prstGeom prst="line">
              <a:avLst/>
            </a:prstGeom>
            <a:noFill/>
            <a:ln w="31750">
              <a:solidFill>
                <a:srgbClr val="FF0000"/>
              </a:solidFill>
              <a:round/>
              <a:headEnd/>
              <a:tailEnd/>
            </a:ln>
          </p:spPr>
          <p:txBody>
            <a:bodyPr/>
            <a:lstStyle/>
            <a:p>
              <a:endParaRPr lang="fr-CA"/>
            </a:p>
          </p:txBody>
        </p:sp>
        <p:sp>
          <p:nvSpPr>
            <p:cNvPr id="14381" name="Line 43"/>
            <p:cNvSpPr>
              <a:spLocks noChangeShapeType="1"/>
            </p:cNvSpPr>
            <p:nvPr/>
          </p:nvSpPr>
          <p:spPr bwMode="auto">
            <a:xfrm>
              <a:off x="1251" y="2995"/>
              <a:ext cx="428" cy="757"/>
            </a:xfrm>
            <a:prstGeom prst="line">
              <a:avLst/>
            </a:prstGeom>
            <a:noFill/>
            <a:ln w="31750">
              <a:solidFill>
                <a:srgbClr val="FF0000"/>
              </a:solidFill>
              <a:round/>
              <a:headEnd/>
              <a:tailEnd/>
            </a:ln>
          </p:spPr>
          <p:txBody>
            <a:bodyPr/>
            <a:lstStyle/>
            <a:p>
              <a:endParaRPr lang="fr-CA"/>
            </a:p>
          </p:txBody>
        </p:sp>
      </p:grpSp>
      <p:sp>
        <p:nvSpPr>
          <p:cNvPr id="523313" name="Text Box 49"/>
          <p:cNvSpPr txBox="1">
            <a:spLocks noChangeArrowheads="1"/>
          </p:cNvSpPr>
          <p:nvPr/>
        </p:nvSpPr>
        <p:spPr bwMode="auto">
          <a:xfrm>
            <a:off x="4260850" y="3549533"/>
            <a:ext cx="4864100" cy="427038"/>
          </a:xfrm>
          <a:prstGeom prst="rect">
            <a:avLst/>
          </a:prstGeom>
          <a:noFill/>
          <a:ln w="9525">
            <a:noFill/>
            <a:miter lim="800000"/>
            <a:headEnd/>
            <a:tailEnd/>
          </a:ln>
        </p:spPr>
        <p:txBody>
          <a:bodyPr>
            <a:spAutoFit/>
          </a:bodyPr>
          <a:lstStyle/>
          <a:p>
            <a:pPr eaLnBrk="0" hangingPunct="0"/>
            <a:r>
              <a:rPr lang="fr-CA" sz="2200" b="1" dirty="0">
                <a:solidFill>
                  <a:srgbClr val="FF0000"/>
                </a:solidFill>
                <a:latin typeface="Arial" charset="0"/>
                <a:sym typeface="Wingdings" pitchFamily="2" charset="2"/>
              </a:rPr>
              <a:t>  </a:t>
            </a:r>
            <a:r>
              <a:rPr lang="fr-CA" sz="2200" b="1" dirty="0">
                <a:solidFill>
                  <a:srgbClr val="FF0000"/>
                </a:solidFill>
                <a:latin typeface="Arial" charset="0"/>
              </a:rPr>
              <a:t>Perte des gradients [Na</a:t>
            </a:r>
            <a:r>
              <a:rPr lang="fr-CA" sz="2200" b="1" baseline="30000" dirty="0">
                <a:solidFill>
                  <a:srgbClr val="FF0000"/>
                </a:solidFill>
                <a:latin typeface="Arial" charset="0"/>
              </a:rPr>
              <a:t>+</a:t>
            </a:r>
            <a:r>
              <a:rPr lang="fr-CA" sz="2200" b="1" dirty="0">
                <a:solidFill>
                  <a:srgbClr val="FF0000"/>
                </a:solidFill>
                <a:latin typeface="Arial" charset="0"/>
              </a:rPr>
              <a:t>] et [K</a:t>
            </a:r>
            <a:r>
              <a:rPr lang="fr-CA" sz="2200" b="1" baseline="30000" dirty="0">
                <a:solidFill>
                  <a:srgbClr val="FF0000"/>
                </a:solidFill>
                <a:latin typeface="Arial" charset="0"/>
              </a:rPr>
              <a:t>+</a:t>
            </a:r>
            <a:r>
              <a:rPr lang="fr-CA" sz="2200" b="1" dirty="0">
                <a:solidFill>
                  <a:srgbClr val="FF0000"/>
                </a:solidFill>
                <a:latin typeface="Arial" charset="0"/>
              </a:rPr>
              <a:t>]</a:t>
            </a:r>
          </a:p>
        </p:txBody>
      </p:sp>
      <p:sp>
        <p:nvSpPr>
          <p:cNvPr id="523315" name="Text Box 51"/>
          <p:cNvSpPr txBox="1">
            <a:spLocks noChangeArrowheads="1"/>
          </p:cNvSpPr>
          <p:nvPr/>
        </p:nvSpPr>
        <p:spPr bwMode="auto">
          <a:xfrm>
            <a:off x="101601" y="5994539"/>
            <a:ext cx="5462588" cy="338554"/>
          </a:xfrm>
          <a:prstGeom prst="rect">
            <a:avLst/>
          </a:prstGeom>
          <a:noFill/>
          <a:ln w="9525">
            <a:solidFill>
              <a:srgbClr val="FF0000"/>
            </a:solidFill>
            <a:miter lim="800000"/>
            <a:headEnd/>
            <a:tailEnd/>
          </a:ln>
        </p:spPr>
        <p:txBody>
          <a:bodyPr wrap="square" lIns="45720" rIns="45720">
            <a:spAutoFit/>
          </a:bodyPr>
          <a:lstStyle/>
          <a:p>
            <a:pPr algn="ctr" eaLnBrk="0" hangingPunct="0"/>
            <a:r>
              <a:rPr lang="fr-CA" sz="1600">
                <a:solidFill>
                  <a:srgbClr val="FF0000"/>
                </a:solidFill>
                <a:latin typeface="Calibri" panose="020F0502020204030204" pitchFamily="34" charset="0"/>
              </a:rPr>
              <a:t>Qu’est-ce qui pourrait causer une inhibition de la pompe Na-K?</a:t>
            </a:r>
            <a:endParaRPr lang="en-US" sz="1600">
              <a:solidFill>
                <a:srgbClr val="FF0000"/>
              </a:solidFill>
              <a:latin typeface="Calibri" panose="020F0502020204030204" pitchFamily="34" charset="0"/>
            </a:endParaRPr>
          </a:p>
        </p:txBody>
      </p:sp>
      <p:grpSp>
        <p:nvGrpSpPr>
          <p:cNvPr id="3" name="Group 58"/>
          <p:cNvGrpSpPr>
            <a:grpSpLocks/>
          </p:cNvGrpSpPr>
          <p:nvPr/>
        </p:nvGrpSpPr>
        <p:grpSpPr bwMode="auto">
          <a:xfrm>
            <a:off x="5011738" y="4960821"/>
            <a:ext cx="3243262" cy="641350"/>
            <a:chOff x="3146" y="3405"/>
            <a:chExt cx="2043" cy="404"/>
          </a:xfrm>
        </p:grpSpPr>
        <p:sp>
          <p:nvSpPr>
            <p:cNvPr id="14367" name="Text Box 45"/>
            <p:cNvSpPr txBox="1">
              <a:spLocks noChangeArrowheads="1"/>
            </p:cNvSpPr>
            <p:nvPr/>
          </p:nvSpPr>
          <p:spPr bwMode="auto">
            <a:xfrm>
              <a:off x="3146" y="3405"/>
              <a:ext cx="373" cy="404"/>
            </a:xfrm>
            <a:prstGeom prst="rect">
              <a:avLst/>
            </a:prstGeom>
            <a:noFill/>
            <a:ln w="9525">
              <a:noFill/>
              <a:miter lim="800000"/>
              <a:headEnd/>
              <a:tailEnd/>
            </a:ln>
          </p:spPr>
          <p:txBody>
            <a:bodyPr wrap="none">
              <a:spAutoFit/>
            </a:bodyPr>
            <a:lstStyle/>
            <a:p>
              <a:pPr eaLnBrk="0" hangingPunct="0"/>
              <a:r>
                <a:rPr lang="en-US" sz="3600">
                  <a:solidFill>
                    <a:srgbClr val="FF0000"/>
                  </a:solidFill>
                  <a:latin typeface="Arial" charset="0"/>
                  <a:sym typeface="Wingdings" pitchFamily="2" charset="2"/>
                </a:rPr>
                <a:t></a:t>
              </a:r>
              <a:endParaRPr lang="en-US">
                <a:solidFill>
                  <a:srgbClr val="3333FF"/>
                </a:solidFill>
                <a:latin typeface="Arial" charset="0"/>
              </a:endParaRPr>
            </a:p>
          </p:txBody>
        </p:sp>
        <p:sp>
          <p:nvSpPr>
            <p:cNvPr id="14368" name="Text Box 47"/>
            <p:cNvSpPr txBox="1">
              <a:spLocks noChangeArrowheads="1"/>
            </p:cNvSpPr>
            <p:nvPr/>
          </p:nvSpPr>
          <p:spPr bwMode="auto">
            <a:xfrm>
              <a:off x="4701" y="3459"/>
              <a:ext cx="488" cy="231"/>
            </a:xfrm>
            <a:prstGeom prst="rect">
              <a:avLst/>
            </a:prstGeom>
            <a:noFill/>
            <a:ln w="9525">
              <a:noFill/>
              <a:miter lim="800000"/>
              <a:headEnd/>
              <a:tailEnd/>
            </a:ln>
          </p:spPr>
          <p:txBody>
            <a:bodyPr wrap="none">
              <a:spAutoFit/>
            </a:bodyPr>
            <a:lstStyle/>
            <a:p>
              <a:pPr eaLnBrk="0" hangingPunct="0"/>
              <a:r>
                <a:rPr lang="en-US">
                  <a:solidFill>
                    <a:srgbClr val="3333FF"/>
                  </a:solidFill>
                </a:rPr>
                <a:t>[</a:t>
              </a:r>
              <a:r>
                <a:rPr lang="fr-CA">
                  <a:solidFill>
                    <a:srgbClr val="3333FF"/>
                  </a:solidFill>
                </a:rPr>
                <a:t>K</a:t>
              </a:r>
              <a:r>
                <a:rPr lang="fr-CA" baseline="30000">
                  <a:solidFill>
                    <a:srgbClr val="3333FF"/>
                  </a:solidFill>
                </a:rPr>
                <a:t>+</a:t>
              </a:r>
              <a:r>
                <a:rPr lang="en-US">
                  <a:solidFill>
                    <a:srgbClr val="3333FF"/>
                  </a:solidFill>
                </a:rPr>
                <a:t>]</a:t>
              </a:r>
              <a:r>
                <a:rPr lang="en-US" baseline="-20000">
                  <a:solidFill>
                    <a:srgbClr val="3333FF"/>
                  </a:solidFill>
                </a:rPr>
                <a:t>ext</a:t>
              </a:r>
            </a:p>
          </p:txBody>
        </p:sp>
        <p:sp>
          <p:nvSpPr>
            <p:cNvPr id="14369" name="Text Box 48"/>
            <p:cNvSpPr txBox="1">
              <a:spLocks noChangeArrowheads="1"/>
            </p:cNvSpPr>
            <p:nvPr/>
          </p:nvSpPr>
          <p:spPr bwMode="auto">
            <a:xfrm>
              <a:off x="3494" y="3438"/>
              <a:ext cx="445" cy="231"/>
            </a:xfrm>
            <a:prstGeom prst="rect">
              <a:avLst/>
            </a:prstGeom>
            <a:noFill/>
            <a:ln w="9525">
              <a:noFill/>
              <a:miter lim="800000"/>
              <a:headEnd/>
              <a:tailEnd/>
            </a:ln>
          </p:spPr>
          <p:txBody>
            <a:bodyPr wrap="none">
              <a:spAutoFit/>
            </a:bodyPr>
            <a:lstStyle/>
            <a:p>
              <a:pPr eaLnBrk="0" hangingPunct="0"/>
              <a:r>
                <a:rPr lang="en-US">
                  <a:solidFill>
                    <a:srgbClr val="3333FF"/>
                  </a:solidFill>
                </a:rPr>
                <a:t>[</a:t>
              </a:r>
              <a:r>
                <a:rPr lang="fr-CA">
                  <a:solidFill>
                    <a:srgbClr val="3333FF"/>
                  </a:solidFill>
                </a:rPr>
                <a:t>K</a:t>
              </a:r>
              <a:r>
                <a:rPr lang="fr-CA" baseline="30000">
                  <a:solidFill>
                    <a:srgbClr val="3333FF"/>
                  </a:solidFill>
                </a:rPr>
                <a:t>+</a:t>
              </a:r>
              <a:r>
                <a:rPr lang="en-US">
                  <a:solidFill>
                    <a:srgbClr val="3333FF"/>
                  </a:solidFill>
                </a:rPr>
                <a:t>]</a:t>
              </a:r>
              <a:r>
                <a:rPr lang="en-US" baseline="-20000">
                  <a:solidFill>
                    <a:srgbClr val="3333FF"/>
                  </a:solidFill>
                </a:rPr>
                <a:t>in</a:t>
              </a:r>
            </a:p>
          </p:txBody>
        </p:sp>
        <p:sp>
          <p:nvSpPr>
            <p:cNvPr id="14370" name="Line 18"/>
            <p:cNvSpPr>
              <a:spLocks noChangeShapeType="1"/>
            </p:cNvSpPr>
            <p:nvPr/>
          </p:nvSpPr>
          <p:spPr bwMode="auto">
            <a:xfrm flipV="1">
              <a:off x="3931" y="3570"/>
              <a:ext cx="782" cy="0"/>
            </a:xfrm>
            <a:prstGeom prst="line">
              <a:avLst/>
            </a:prstGeom>
            <a:noFill/>
            <a:ln w="25400">
              <a:solidFill>
                <a:srgbClr val="0000FF"/>
              </a:solidFill>
              <a:round/>
              <a:headEnd type="stealth" w="lg" len="lg"/>
              <a:tailEnd type="stealth" w="lg" len="lg"/>
            </a:ln>
          </p:spPr>
          <p:txBody>
            <a:bodyPr/>
            <a:lstStyle/>
            <a:p>
              <a:endParaRPr lang="fr-CA"/>
            </a:p>
          </p:txBody>
        </p:sp>
      </p:grpSp>
      <p:grpSp>
        <p:nvGrpSpPr>
          <p:cNvPr id="4" name="Group 57"/>
          <p:cNvGrpSpPr>
            <a:grpSpLocks/>
          </p:cNvGrpSpPr>
          <p:nvPr/>
        </p:nvGrpSpPr>
        <p:grpSpPr bwMode="auto">
          <a:xfrm>
            <a:off x="4429125" y="4203583"/>
            <a:ext cx="4562475" cy="646113"/>
            <a:chOff x="2786" y="2928"/>
            <a:chExt cx="2874" cy="407"/>
          </a:xfrm>
        </p:grpSpPr>
        <p:sp>
          <p:nvSpPr>
            <p:cNvPr id="14364" name="Text Box 44"/>
            <p:cNvSpPr txBox="1">
              <a:spLocks noChangeArrowheads="1"/>
            </p:cNvSpPr>
            <p:nvPr/>
          </p:nvSpPr>
          <p:spPr bwMode="auto">
            <a:xfrm>
              <a:off x="2786" y="2931"/>
              <a:ext cx="1194" cy="404"/>
            </a:xfrm>
            <a:prstGeom prst="rect">
              <a:avLst/>
            </a:prstGeom>
            <a:noFill/>
            <a:ln w="9525">
              <a:noFill/>
              <a:miter lim="800000"/>
              <a:headEnd/>
              <a:tailEnd/>
            </a:ln>
          </p:spPr>
          <p:txBody>
            <a:bodyPr wrap="none">
              <a:spAutoFit/>
            </a:bodyPr>
            <a:lstStyle/>
            <a:p>
              <a:pPr eaLnBrk="0" hangingPunct="0"/>
              <a:r>
                <a:rPr lang="en-US" sz="3600">
                  <a:solidFill>
                    <a:srgbClr val="FF0000"/>
                  </a:solidFill>
                  <a:sym typeface="Wingdings" pitchFamily="2" charset="2"/>
                </a:rPr>
                <a:t></a:t>
              </a:r>
              <a:r>
                <a:rPr lang="en-US">
                  <a:solidFill>
                    <a:srgbClr val="3333FF"/>
                  </a:solidFill>
                  <a:sym typeface="Wingdings" pitchFamily="2" charset="2"/>
                </a:rPr>
                <a:t> </a:t>
              </a:r>
              <a:r>
                <a:rPr lang="en-US" sz="3600">
                  <a:solidFill>
                    <a:srgbClr val="3333FF"/>
                  </a:solidFill>
                </a:rPr>
                <a:t>[</a:t>
              </a:r>
              <a:r>
                <a:rPr lang="fr-CA" sz="3600">
                  <a:solidFill>
                    <a:srgbClr val="3333FF"/>
                  </a:solidFill>
                </a:rPr>
                <a:t>Na</a:t>
              </a:r>
              <a:r>
                <a:rPr lang="fr-CA" sz="3600" baseline="30000">
                  <a:solidFill>
                    <a:srgbClr val="3333FF"/>
                  </a:solidFill>
                </a:rPr>
                <a:t>+</a:t>
              </a:r>
              <a:r>
                <a:rPr lang="en-US" sz="3600">
                  <a:solidFill>
                    <a:srgbClr val="3333FF"/>
                  </a:solidFill>
                </a:rPr>
                <a:t>]</a:t>
              </a:r>
              <a:r>
                <a:rPr lang="en-US" sz="3600" baseline="-20000">
                  <a:solidFill>
                    <a:srgbClr val="3333FF"/>
                  </a:solidFill>
                </a:rPr>
                <a:t>in</a:t>
              </a:r>
            </a:p>
          </p:txBody>
        </p:sp>
        <p:sp>
          <p:nvSpPr>
            <p:cNvPr id="14365" name="Text Box 46"/>
            <p:cNvSpPr txBox="1">
              <a:spLocks noChangeArrowheads="1"/>
            </p:cNvSpPr>
            <p:nvPr/>
          </p:nvSpPr>
          <p:spPr bwMode="auto">
            <a:xfrm>
              <a:off x="4674" y="2928"/>
              <a:ext cx="986" cy="404"/>
            </a:xfrm>
            <a:prstGeom prst="rect">
              <a:avLst/>
            </a:prstGeom>
            <a:noFill/>
            <a:ln w="9525">
              <a:noFill/>
              <a:miter lim="800000"/>
              <a:headEnd/>
              <a:tailEnd/>
            </a:ln>
          </p:spPr>
          <p:txBody>
            <a:bodyPr wrap="none">
              <a:spAutoFit/>
            </a:bodyPr>
            <a:lstStyle/>
            <a:p>
              <a:pPr eaLnBrk="0" hangingPunct="0"/>
              <a:r>
                <a:rPr lang="en-US" sz="3600">
                  <a:solidFill>
                    <a:srgbClr val="3333FF"/>
                  </a:solidFill>
                </a:rPr>
                <a:t>[</a:t>
              </a:r>
              <a:r>
                <a:rPr lang="fr-CA" sz="3600">
                  <a:solidFill>
                    <a:srgbClr val="3333FF"/>
                  </a:solidFill>
                </a:rPr>
                <a:t>Na</a:t>
              </a:r>
              <a:r>
                <a:rPr lang="fr-CA" sz="3600" baseline="30000">
                  <a:solidFill>
                    <a:srgbClr val="3333FF"/>
                  </a:solidFill>
                </a:rPr>
                <a:t>+</a:t>
              </a:r>
              <a:r>
                <a:rPr lang="en-US" sz="3600">
                  <a:solidFill>
                    <a:srgbClr val="3333FF"/>
                  </a:solidFill>
                </a:rPr>
                <a:t>]</a:t>
              </a:r>
              <a:r>
                <a:rPr lang="en-US" sz="3600" baseline="-20000">
                  <a:solidFill>
                    <a:srgbClr val="3333FF"/>
                  </a:solidFill>
                </a:rPr>
                <a:t>ext</a:t>
              </a:r>
            </a:p>
          </p:txBody>
        </p:sp>
        <p:sp>
          <p:nvSpPr>
            <p:cNvPr id="14366" name="Line 19"/>
            <p:cNvSpPr>
              <a:spLocks noChangeShapeType="1"/>
            </p:cNvSpPr>
            <p:nvPr/>
          </p:nvSpPr>
          <p:spPr bwMode="auto">
            <a:xfrm flipV="1">
              <a:off x="3915" y="3166"/>
              <a:ext cx="782" cy="0"/>
            </a:xfrm>
            <a:prstGeom prst="line">
              <a:avLst/>
            </a:prstGeom>
            <a:noFill/>
            <a:ln w="25400">
              <a:solidFill>
                <a:srgbClr val="0000FF"/>
              </a:solidFill>
              <a:round/>
              <a:headEnd type="stealth" w="lg" len="lg"/>
              <a:tailEnd type="stealth" w="lg" len="lg"/>
            </a:ln>
          </p:spPr>
          <p:txBody>
            <a:bodyPr/>
            <a:lstStyle/>
            <a:p>
              <a:endParaRPr lang="fr-CA"/>
            </a:p>
          </p:txBody>
        </p:sp>
      </p:grpSp>
      <p:grpSp>
        <p:nvGrpSpPr>
          <p:cNvPr id="14345" name="Group 59"/>
          <p:cNvGrpSpPr>
            <a:grpSpLocks/>
          </p:cNvGrpSpPr>
          <p:nvPr/>
        </p:nvGrpSpPr>
        <p:grpSpPr bwMode="auto">
          <a:xfrm>
            <a:off x="1179513" y="1338976"/>
            <a:ext cx="7726362" cy="2162175"/>
            <a:chOff x="743" y="928"/>
            <a:chExt cx="4867" cy="1362"/>
          </a:xfrm>
        </p:grpSpPr>
        <p:grpSp>
          <p:nvGrpSpPr>
            <p:cNvPr id="14346" name="Group 52"/>
            <p:cNvGrpSpPr>
              <a:grpSpLocks/>
            </p:cNvGrpSpPr>
            <p:nvPr/>
          </p:nvGrpSpPr>
          <p:grpSpPr bwMode="auto">
            <a:xfrm>
              <a:off x="743" y="928"/>
              <a:ext cx="4867" cy="1362"/>
              <a:chOff x="743" y="905"/>
              <a:chExt cx="4867" cy="1362"/>
            </a:xfrm>
          </p:grpSpPr>
          <p:sp>
            <p:nvSpPr>
              <p:cNvPr id="14348" name="Rectangle 31"/>
              <p:cNvSpPr>
                <a:spLocks noChangeArrowheads="1"/>
              </p:cNvSpPr>
              <p:nvPr/>
            </p:nvSpPr>
            <p:spPr bwMode="auto">
              <a:xfrm>
                <a:off x="1451" y="905"/>
                <a:ext cx="2856" cy="987"/>
              </a:xfrm>
              <a:prstGeom prst="rect">
                <a:avLst/>
              </a:prstGeom>
              <a:solidFill>
                <a:srgbClr val="FFCC99">
                  <a:alpha val="50195"/>
                </a:srgbClr>
              </a:solidFill>
              <a:ln w="9525">
                <a:solidFill>
                  <a:schemeClr val="tx1"/>
                </a:solidFill>
                <a:miter lim="800000"/>
                <a:headEnd/>
                <a:tailEnd/>
              </a:ln>
            </p:spPr>
            <p:txBody>
              <a:bodyPr wrap="none" anchor="ctr"/>
              <a:lstStyle/>
              <a:p>
                <a:pPr eaLnBrk="0" hangingPunct="0"/>
                <a:endParaRPr lang="fr-FR"/>
              </a:p>
            </p:txBody>
          </p:sp>
          <p:sp>
            <p:nvSpPr>
              <p:cNvPr id="14349" name="Oval 32"/>
              <p:cNvSpPr>
                <a:spLocks noChangeArrowheads="1"/>
              </p:cNvSpPr>
              <p:nvPr/>
            </p:nvSpPr>
            <p:spPr bwMode="auto">
              <a:xfrm>
                <a:off x="1159" y="1142"/>
                <a:ext cx="576" cy="576"/>
              </a:xfrm>
              <a:prstGeom prst="ellipse">
                <a:avLst/>
              </a:prstGeom>
              <a:noFill/>
              <a:ln w="25400">
                <a:solidFill>
                  <a:srgbClr val="0000FF"/>
                </a:solidFill>
                <a:round/>
                <a:headEnd/>
                <a:tailEnd/>
              </a:ln>
            </p:spPr>
            <p:txBody>
              <a:bodyPr wrap="none" anchor="ctr"/>
              <a:lstStyle/>
              <a:p>
                <a:pPr eaLnBrk="0" hangingPunct="0"/>
                <a:endParaRPr lang="fr-FR"/>
              </a:p>
            </p:txBody>
          </p:sp>
          <p:sp>
            <p:nvSpPr>
              <p:cNvPr id="14350" name="AutoShape 33"/>
              <p:cNvSpPr>
                <a:spLocks noChangeArrowheads="1"/>
              </p:cNvSpPr>
              <p:nvPr/>
            </p:nvSpPr>
            <p:spPr bwMode="auto">
              <a:xfrm>
                <a:off x="1740" y="1309"/>
                <a:ext cx="378" cy="22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 name="T18" fmla="*/ 3143 w 21600"/>
                  <a:gd name="T19" fmla="*/ 3196 h 21600"/>
                  <a:gd name="T20" fmla="*/ 18457 w 21600"/>
                  <a:gd name="T21" fmla="*/ 18404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0042" y="26"/>
                    </a:moveTo>
                    <a:cubicBezTo>
                      <a:pt x="4385" y="424"/>
                      <a:pt x="0" y="5129"/>
                      <a:pt x="0" y="10799"/>
                    </a:cubicBezTo>
                    <a:cubicBezTo>
                      <a:pt x="0" y="16764"/>
                      <a:pt x="4835" y="21600"/>
                      <a:pt x="10800" y="21600"/>
                    </a:cubicBezTo>
                    <a:cubicBezTo>
                      <a:pt x="10895" y="21600"/>
                      <a:pt x="10990" y="21598"/>
                      <a:pt x="11085" y="21596"/>
                    </a:cubicBezTo>
                    <a:cubicBezTo>
                      <a:pt x="10990" y="21598"/>
                      <a:pt x="10895" y="21599"/>
                      <a:pt x="10800" y="21600"/>
                    </a:cubicBezTo>
                    <a:cubicBezTo>
                      <a:pt x="4835" y="21600"/>
                      <a:pt x="0" y="16764"/>
                      <a:pt x="0" y="10800"/>
                    </a:cubicBezTo>
                    <a:cubicBezTo>
                      <a:pt x="-1" y="5129"/>
                      <a:pt x="4385" y="424"/>
                      <a:pt x="10042" y="26"/>
                    </a:cubicBezTo>
                    <a:lnTo>
                      <a:pt x="9853" y="-2667"/>
                    </a:lnTo>
                    <a:lnTo>
                      <a:pt x="12735" y="-164"/>
                    </a:lnTo>
                    <a:lnTo>
                      <a:pt x="10232" y="2719"/>
                    </a:lnTo>
                    <a:lnTo>
                      <a:pt x="10042" y="26"/>
                    </a:lnTo>
                    <a:close/>
                  </a:path>
                </a:pathLst>
              </a:custGeom>
              <a:solidFill>
                <a:schemeClr val="accent1"/>
              </a:solidFill>
              <a:ln w="25400">
                <a:solidFill>
                  <a:srgbClr val="0000FF"/>
                </a:solidFill>
                <a:miter lim="800000"/>
                <a:headEnd/>
                <a:tailEnd/>
              </a:ln>
            </p:spPr>
            <p:txBody>
              <a:bodyPr wrap="none" anchor="ctr"/>
              <a:lstStyle/>
              <a:p>
                <a:endParaRPr lang="fr-CA"/>
              </a:p>
            </p:txBody>
          </p:sp>
          <p:sp>
            <p:nvSpPr>
              <p:cNvPr id="14351" name="Line 34"/>
              <p:cNvSpPr>
                <a:spLocks noChangeShapeType="1"/>
              </p:cNvSpPr>
              <p:nvPr/>
            </p:nvSpPr>
            <p:spPr bwMode="auto">
              <a:xfrm flipV="1">
                <a:off x="1009" y="1134"/>
                <a:ext cx="782" cy="0"/>
              </a:xfrm>
              <a:prstGeom prst="line">
                <a:avLst/>
              </a:prstGeom>
              <a:noFill/>
              <a:ln w="25400">
                <a:solidFill>
                  <a:srgbClr val="0000FF"/>
                </a:solidFill>
                <a:round/>
                <a:headEnd type="stealth" w="lg" len="lg"/>
                <a:tailEnd/>
              </a:ln>
            </p:spPr>
            <p:txBody>
              <a:bodyPr/>
              <a:lstStyle/>
              <a:p>
                <a:endParaRPr lang="fr-CA"/>
              </a:p>
            </p:txBody>
          </p:sp>
          <p:sp>
            <p:nvSpPr>
              <p:cNvPr id="14352" name="Text Box 36"/>
              <p:cNvSpPr txBox="1">
                <a:spLocks noChangeArrowheads="1"/>
              </p:cNvSpPr>
              <p:nvPr/>
            </p:nvSpPr>
            <p:spPr bwMode="auto">
              <a:xfrm>
                <a:off x="1791" y="1022"/>
                <a:ext cx="338" cy="231"/>
              </a:xfrm>
              <a:prstGeom prst="rect">
                <a:avLst/>
              </a:prstGeom>
              <a:noFill/>
              <a:ln w="9525">
                <a:noFill/>
                <a:miter lim="800000"/>
                <a:headEnd/>
                <a:tailEnd/>
              </a:ln>
            </p:spPr>
            <p:txBody>
              <a:bodyPr wrap="none">
                <a:spAutoFit/>
              </a:bodyPr>
              <a:lstStyle/>
              <a:p>
                <a:pPr eaLnBrk="0" hangingPunct="0"/>
                <a:r>
                  <a:rPr lang="fr-CA"/>
                  <a:t>Na</a:t>
                </a:r>
                <a:r>
                  <a:rPr lang="fr-CA" baseline="30000"/>
                  <a:t>+</a:t>
                </a:r>
                <a:endParaRPr lang="fr-CA"/>
              </a:p>
            </p:txBody>
          </p:sp>
          <p:sp>
            <p:nvSpPr>
              <p:cNvPr id="14353" name="Text Box 37"/>
              <p:cNvSpPr txBox="1">
                <a:spLocks noChangeArrowheads="1"/>
              </p:cNvSpPr>
              <p:nvPr/>
            </p:nvSpPr>
            <p:spPr bwMode="auto">
              <a:xfrm>
                <a:off x="743" y="1587"/>
                <a:ext cx="274" cy="231"/>
              </a:xfrm>
              <a:prstGeom prst="rect">
                <a:avLst/>
              </a:prstGeom>
              <a:noFill/>
              <a:ln w="9525">
                <a:noFill/>
                <a:miter lim="800000"/>
                <a:headEnd/>
                <a:tailEnd/>
              </a:ln>
            </p:spPr>
            <p:txBody>
              <a:bodyPr wrap="none">
                <a:spAutoFit/>
              </a:bodyPr>
              <a:lstStyle/>
              <a:p>
                <a:pPr eaLnBrk="0" hangingPunct="0"/>
                <a:r>
                  <a:rPr lang="fr-CA"/>
                  <a:t>K</a:t>
                </a:r>
                <a:r>
                  <a:rPr lang="fr-CA" baseline="30000"/>
                  <a:t>+</a:t>
                </a:r>
                <a:endParaRPr lang="fr-CA"/>
              </a:p>
            </p:txBody>
          </p:sp>
          <p:sp>
            <p:nvSpPr>
              <p:cNvPr id="14354" name="Text Box 38"/>
              <p:cNvSpPr txBox="1">
                <a:spLocks noChangeArrowheads="1"/>
              </p:cNvSpPr>
              <p:nvPr/>
            </p:nvSpPr>
            <p:spPr bwMode="auto">
              <a:xfrm>
                <a:off x="1941" y="1200"/>
                <a:ext cx="677" cy="231"/>
              </a:xfrm>
              <a:prstGeom prst="rect">
                <a:avLst/>
              </a:prstGeom>
              <a:noFill/>
              <a:ln w="9525">
                <a:noFill/>
                <a:miter lim="800000"/>
                <a:headEnd/>
                <a:tailEnd/>
              </a:ln>
            </p:spPr>
            <p:txBody>
              <a:bodyPr wrap="none">
                <a:spAutoFit/>
              </a:bodyPr>
              <a:lstStyle/>
              <a:p>
                <a:pPr eaLnBrk="0" hangingPunct="0"/>
                <a:r>
                  <a:rPr lang="fr-CA"/>
                  <a:t>ADP + Pi</a:t>
                </a:r>
              </a:p>
            </p:txBody>
          </p:sp>
          <p:sp>
            <p:nvSpPr>
              <p:cNvPr id="14355" name="Text Box 39"/>
              <p:cNvSpPr txBox="1">
                <a:spLocks noChangeArrowheads="1"/>
              </p:cNvSpPr>
              <p:nvPr/>
            </p:nvSpPr>
            <p:spPr bwMode="auto">
              <a:xfrm>
                <a:off x="1901" y="1427"/>
                <a:ext cx="388" cy="231"/>
              </a:xfrm>
              <a:prstGeom prst="rect">
                <a:avLst/>
              </a:prstGeom>
              <a:noFill/>
              <a:ln w="9525">
                <a:noFill/>
                <a:miter lim="800000"/>
                <a:headEnd/>
                <a:tailEnd/>
              </a:ln>
            </p:spPr>
            <p:txBody>
              <a:bodyPr wrap="none">
                <a:spAutoFit/>
              </a:bodyPr>
              <a:lstStyle/>
              <a:p>
                <a:pPr eaLnBrk="0" hangingPunct="0"/>
                <a:r>
                  <a:rPr lang="fr-CA"/>
                  <a:t>ATP</a:t>
                </a:r>
              </a:p>
            </p:txBody>
          </p:sp>
          <p:sp>
            <p:nvSpPr>
              <p:cNvPr id="14356" name="Line 40"/>
              <p:cNvSpPr>
                <a:spLocks noChangeShapeType="1"/>
              </p:cNvSpPr>
              <p:nvPr/>
            </p:nvSpPr>
            <p:spPr bwMode="auto">
              <a:xfrm flipV="1">
                <a:off x="3920" y="1608"/>
                <a:ext cx="782" cy="0"/>
              </a:xfrm>
              <a:prstGeom prst="line">
                <a:avLst/>
              </a:prstGeom>
              <a:noFill/>
              <a:ln w="25400">
                <a:solidFill>
                  <a:srgbClr val="0000FF"/>
                </a:solidFill>
                <a:round/>
                <a:headEnd type="none" w="lg" len="lg"/>
                <a:tailEnd type="stealth" w="lg" len="lg"/>
              </a:ln>
            </p:spPr>
            <p:txBody>
              <a:bodyPr/>
              <a:lstStyle/>
              <a:p>
                <a:endParaRPr lang="fr-CA"/>
              </a:p>
            </p:txBody>
          </p:sp>
          <p:sp>
            <p:nvSpPr>
              <p:cNvPr id="14357" name="Line 41"/>
              <p:cNvSpPr>
                <a:spLocks noChangeShapeType="1"/>
              </p:cNvSpPr>
              <p:nvPr/>
            </p:nvSpPr>
            <p:spPr bwMode="auto">
              <a:xfrm flipV="1">
                <a:off x="3883" y="1204"/>
                <a:ext cx="782" cy="0"/>
              </a:xfrm>
              <a:prstGeom prst="line">
                <a:avLst/>
              </a:prstGeom>
              <a:noFill/>
              <a:ln w="25400">
                <a:solidFill>
                  <a:srgbClr val="0000FF"/>
                </a:solidFill>
                <a:round/>
                <a:headEnd type="stealth" w="lg" len="lg"/>
                <a:tailEnd/>
              </a:ln>
            </p:spPr>
            <p:txBody>
              <a:bodyPr/>
              <a:lstStyle/>
              <a:p>
                <a:endParaRPr lang="fr-CA"/>
              </a:p>
            </p:txBody>
          </p:sp>
          <p:sp>
            <p:nvSpPr>
              <p:cNvPr id="14358" name="Text Box 22"/>
              <p:cNvSpPr txBox="1">
                <a:spLocks noChangeArrowheads="1"/>
              </p:cNvSpPr>
              <p:nvPr/>
            </p:nvSpPr>
            <p:spPr bwMode="auto">
              <a:xfrm>
                <a:off x="1124" y="1881"/>
                <a:ext cx="872" cy="231"/>
              </a:xfrm>
              <a:prstGeom prst="rect">
                <a:avLst/>
              </a:prstGeom>
              <a:noFill/>
              <a:ln w="9525">
                <a:noFill/>
                <a:miter lim="800000"/>
                <a:headEnd/>
                <a:tailEnd/>
              </a:ln>
            </p:spPr>
            <p:txBody>
              <a:bodyPr wrap="none">
                <a:spAutoFit/>
              </a:bodyPr>
              <a:lstStyle/>
              <a:p>
                <a:pPr eaLnBrk="0" hangingPunct="0"/>
                <a:r>
                  <a:rPr lang="fr-CA"/>
                  <a:t>Pompe Na-K</a:t>
                </a:r>
              </a:p>
            </p:txBody>
          </p:sp>
          <p:sp>
            <p:nvSpPr>
              <p:cNvPr id="14359" name="Text Box 23"/>
              <p:cNvSpPr txBox="1">
                <a:spLocks noChangeArrowheads="1"/>
              </p:cNvSpPr>
              <p:nvPr/>
            </p:nvSpPr>
            <p:spPr bwMode="auto">
              <a:xfrm>
                <a:off x="3788" y="1863"/>
                <a:ext cx="1056" cy="404"/>
              </a:xfrm>
              <a:prstGeom prst="rect">
                <a:avLst/>
              </a:prstGeom>
              <a:noFill/>
              <a:ln w="9525">
                <a:noFill/>
                <a:miter lim="800000"/>
                <a:headEnd/>
                <a:tailEnd/>
              </a:ln>
            </p:spPr>
            <p:txBody>
              <a:bodyPr>
                <a:spAutoFit/>
              </a:bodyPr>
              <a:lstStyle/>
              <a:p>
                <a:pPr eaLnBrk="0" hangingPunct="0"/>
                <a:r>
                  <a:rPr lang="fr-CA"/>
                  <a:t>Diffusion des ions Na</a:t>
                </a:r>
                <a:r>
                  <a:rPr lang="fr-CA" baseline="30000"/>
                  <a:t>+</a:t>
                </a:r>
                <a:r>
                  <a:rPr lang="fr-CA"/>
                  <a:t> et K</a:t>
                </a:r>
                <a:r>
                  <a:rPr lang="fr-CA" baseline="30000"/>
                  <a:t>+</a:t>
                </a:r>
                <a:endParaRPr lang="fr-CA"/>
              </a:p>
            </p:txBody>
          </p:sp>
          <p:sp>
            <p:nvSpPr>
              <p:cNvPr id="14360" name="Text Box 24"/>
              <p:cNvSpPr txBox="1">
                <a:spLocks noChangeArrowheads="1"/>
              </p:cNvSpPr>
              <p:nvPr/>
            </p:nvSpPr>
            <p:spPr bwMode="auto">
              <a:xfrm>
                <a:off x="3374" y="1052"/>
                <a:ext cx="509" cy="231"/>
              </a:xfrm>
              <a:prstGeom prst="rect">
                <a:avLst/>
              </a:prstGeom>
              <a:noFill/>
              <a:ln w="9525">
                <a:noFill/>
                <a:miter lim="800000"/>
                <a:headEnd/>
                <a:tailEnd/>
              </a:ln>
            </p:spPr>
            <p:txBody>
              <a:bodyPr wrap="none">
                <a:spAutoFit/>
              </a:bodyPr>
              <a:lstStyle/>
              <a:p>
                <a:pPr eaLnBrk="0" hangingPunct="0"/>
                <a:r>
                  <a:rPr lang="en-US">
                    <a:solidFill>
                      <a:srgbClr val="3333FF"/>
                    </a:solidFill>
                  </a:rPr>
                  <a:t>[</a:t>
                </a:r>
                <a:r>
                  <a:rPr lang="fr-CA">
                    <a:solidFill>
                      <a:srgbClr val="3333FF"/>
                    </a:solidFill>
                  </a:rPr>
                  <a:t>Na</a:t>
                </a:r>
                <a:r>
                  <a:rPr lang="fr-CA" baseline="30000">
                    <a:solidFill>
                      <a:srgbClr val="3333FF"/>
                    </a:solidFill>
                  </a:rPr>
                  <a:t>+</a:t>
                </a:r>
                <a:r>
                  <a:rPr lang="en-US">
                    <a:solidFill>
                      <a:srgbClr val="3333FF"/>
                    </a:solidFill>
                  </a:rPr>
                  <a:t>]</a:t>
                </a:r>
                <a:r>
                  <a:rPr lang="en-US" baseline="-20000">
                    <a:solidFill>
                      <a:srgbClr val="3333FF"/>
                    </a:solidFill>
                  </a:rPr>
                  <a:t>in</a:t>
                </a:r>
              </a:p>
            </p:txBody>
          </p:sp>
          <p:sp>
            <p:nvSpPr>
              <p:cNvPr id="14361" name="Text Box 25"/>
              <p:cNvSpPr txBox="1">
                <a:spLocks noChangeArrowheads="1"/>
              </p:cNvSpPr>
              <p:nvPr/>
            </p:nvSpPr>
            <p:spPr bwMode="auto">
              <a:xfrm>
                <a:off x="4624" y="975"/>
                <a:ext cx="986" cy="404"/>
              </a:xfrm>
              <a:prstGeom prst="rect">
                <a:avLst/>
              </a:prstGeom>
              <a:noFill/>
              <a:ln w="9525">
                <a:noFill/>
                <a:miter lim="800000"/>
                <a:headEnd/>
                <a:tailEnd/>
              </a:ln>
            </p:spPr>
            <p:txBody>
              <a:bodyPr wrap="none">
                <a:spAutoFit/>
              </a:bodyPr>
              <a:lstStyle/>
              <a:p>
                <a:pPr eaLnBrk="0" hangingPunct="0"/>
                <a:r>
                  <a:rPr lang="en-US" sz="3600">
                    <a:solidFill>
                      <a:srgbClr val="3333FF"/>
                    </a:solidFill>
                  </a:rPr>
                  <a:t>[</a:t>
                </a:r>
                <a:r>
                  <a:rPr lang="fr-CA" sz="3600">
                    <a:solidFill>
                      <a:srgbClr val="3333FF"/>
                    </a:solidFill>
                  </a:rPr>
                  <a:t>Na</a:t>
                </a:r>
                <a:r>
                  <a:rPr lang="fr-CA" sz="3600" baseline="30000">
                    <a:solidFill>
                      <a:srgbClr val="3333FF"/>
                    </a:solidFill>
                  </a:rPr>
                  <a:t>+</a:t>
                </a:r>
                <a:r>
                  <a:rPr lang="en-US" sz="3600">
                    <a:solidFill>
                      <a:srgbClr val="3333FF"/>
                    </a:solidFill>
                  </a:rPr>
                  <a:t>]</a:t>
                </a:r>
                <a:r>
                  <a:rPr lang="en-US" sz="3600" baseline="-20000">
                    <a:solidFill>
                      <a:srgbClr val="3333FF"/>
                    </a:solidFill>
                  </a:rPr>
                  <a:t>ext</a:t>
                </a:r>
              </a:p>
            </p:txBody>
          </p:sp>
          <p:sp>
            <p:nvSpPr>
              <p:cNvPr id="14362" name="Text Box 26"/>
              <p:cNvSpPr txBox="1">
                <a:spLocks noChangeArrowheads="1"/>
              </p:cNvSpPr>
              <p:nvPr/>
            </p:nvSpPr>
            <p:spPr bwMode="auto">
              <a:xfrm>
                <a:off x="4668" y="1491"/>
                <a:ext cx="488" cy="231"/>
              </a:xfrm>
              <a:prstGeom prst="rect">
                <a:avLst/>
              </a:prstGeom>
              <a:noFill/>
              <a:ln w="9525">
                <a:noFill/>
                <a:miter lim="800000"/>
                <a:headEnd/>
                <a:tailEnd/>
              </a:ln>
            </p:spPr>
            <p:txBody>
              <a:bodyPr wrap="none">
                <a:spAutoFit/>
              </a:bodyPr>
              <a:lstStyle/>
              <a:p>
                <a:pPr eaLnBrk="0" hangingPunct="0"/>
                <a:r>
                  <a:rPr lang="en-US">
                    <a:solidFill>
                      <a:srgbClr val="3333FF"/>
                    </a:solidFill>
                  </a:rPr>
                  <a:t>[</a:t>
                </a:r>
                <a:r>
                  <a:rPr lang="fr-CA">
                    <a:solidFill>
                      <a:srgbClr val="3333FF"/>
                    </a:solidFill>
                  </a:rPr>
                  <a:t>K</a:t>
                </a:r>
                <a:r>
                  <a:rPr lang="fr-CA" baseline="30000">
                    <a:solidFill>
                      <a:srgbClr val="3333FF"/>
                    </a:solidFill>
                  </a:rPr>
                  <a:t>+</a:t>
                </a:r>
                <a:r>
                  <a:rPr lang="en-US">
                    <a:solidFill>
                      <a:srgbClr val="3333FF"/>
                    </a:solidFill>
                  </a:rPr>
                  <a:t>]</a:t>
                </a:r>
                <a:r>
                  <a:rPr lang="en-US" baseline="-20000">
                    <a:solidFill>
                      <a:srgbClr val="3333FF"/>
                    </a:solidFill>
                  </a:rPr>
                  <a:t>ext</a:t>
                </a:r>
              </a:p>
            </p:txBody>
          </p:sp>
          <p:sp>
            <p:nvSpPr>
              <p:cNvPr id="14363" name="Text Box 27"/>
              <p:cNvSpPr txBox="1">
                <a:spLocks noChangeArrowheads="1"/>
              </p:cNvSpPr>
              <p:nvPr/>
            </p:nvSpPr>
            <p:spPr bwMode="auto">
              <a:xfrm>
                <a:off x="3226" y="1379"/>
                <a:ext cx="773" cy="404"/>
              </a:xfrm>
              <a:prstGeom prst="rect">
                <a:avLst/>
              </a:prstGeom>
              <a:noFill/>
              <a:ln w="9525">
                <a:noFill/>
                <a:miter lim="800000"/>
                <a:headEnd/>
                <a:tailEnd/>
              </a:ln>
            </p:spPr>
            <p:txBody>
              <a:bodyPr wrap="none">
                <a:spAutoFit/>
              </a:bodyPr>
              <a:lstStyle/>
              <a:p>
                <a:pPr eaLnBrk="0" hangingPunct="0"/>
                <a:r>
                  <a:rPr lang="en-US" sz="3600">
                    <a:solidFill>
                      <a:srgbClr val="3333FF"/>
                    </a:solidFill>
                  </a:rPr>
                  <a:t>[</a:t>
                </a:r>
                <a:r>
                  <a:rPr lang="fr-CA" sz="3600">
                    <a:solidFill>
                      <a:srgbClr val="3333FF"/>
                    </a:solidFill>
                  </a:rPr>
                  <a:t>K</a:t>
                </a:r>
                <a:r>
                  <a:rPr lang="fr-CA" sz="3600" baseline="30000">
                    <a:solidFill>
                      <a:srgbClr val="3333FF"/>
                    </a:solidFill>
                  </a:rPr>
                  <a:t>+</a:t>
                </a:r>
                <a:r>
                  <a:rPr lang="en-US" sz="3600">
                    <a:solidFill>
                      <a:srgbClr val="3333FF"/>
                    </a:solidFill>
                  </a:rPr>
                  <a:t>]</a:t>
                </a:r>
                <a:r>
                  <a:rPr lang="en-US" sz="3600" baseline="-20000">
                    <a:solidFill>
                      <a:srgbClr val="3333FF"/>
                    </a:solidFill>
                  </a:rPr>
                  <a:t>in</a:t>
                </a:r>
              </a:p>
            </p:txBody>
          </p:sp>
        </p:grpSp>
        <p:sp>
          <p:nvSpPr>
            <p:cNvPr id="14347" name="Line 35"/>
            <p:cNvSpPr>
              <a:spLocks noChangeShapeType="1"/>
            </p:cNvSpPr>
            <p:nvPr/>
          </p:nvSpPr>
          <p:spPr bwMode="auto">
            <a:xfrm flipV="1">
              <a:off x="1044" y="1748"/>
              <a:ext cx="782" cy="0"/>
            </a:xfrm>
            <a:prstGeom prst="line">
              <a:avLst/>
            </a:prstGeom>
            <a:noFill/>
            <a:ln w="25400">
              <a:solidFill>
                <a:srgbClr val="0000FF"/>
              </a:solidFill>
              <a:round/>
              <a:headEnd type="none" w="lg" len="lg"/>
              <a:tailEnd type="stealth" w="lg" len="lg"/>
            </a:ln>
          </p:spPr>
          <p:txBody>
            <a:bodyPr/>
            <a:lstStyle/>
            <a:p>
              <a:endParaRPr lang="fr-CA"/>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329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23313"/>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23315"/>
                                        </p:tgtEl>
                                        <p:attrNameLst>
                                          <p:attrName>style.visibility</p:attrName>
                                        </p:attrNameLst>
                                      </p:cBhvr>
                                      <p:to>
                                        <p:strVal val="visible"/>
                                      </p:to>
                                    </p:set>
                                    <p:anim calcmode="lin" valueType="num">
                                      <p:cBhvr additive="base">
                                        <p:cTn id="25" dur="500" fill="hold"/>
                                        <p:tgtEl>
                                          <p:spTgt spid="523315"/>
                                        </p:tgtEl>
                                        <p:attrNameLst>
                                          <p:attrName>ppt_x</p:attrName>
                                        </p:attrNameLst>
                                      </p:cBhvr>
                                      <p:tavLst>
                                        <p:tav tm="0">
                                          <p:val>
                                            <p:strVal val="#ppt_x"/>
                                          </p:val>
                                        </p:tav>
                                        <p:tav tm="100000">
                                          <p:val>
                                            <p:strVal val="#ppt_x"/>
                                          </p:val>
                                        </p:tav>
                                      </p:tavLst>
                                    </p:anim>
                                    <p:anim calcmode="lin" valueType="num">
                                      <p:cBhvr additive="base">
                                        <p:cTn id="26" dur="500" fill="hold"/>
                                        <p:tgtEl>
                                          <p:spTgt spid="5233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3293" grpId="0"/>
      <p:bldP spid="523313" grpId="0"/>
      <p:bldP spid="52331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95" name="Rectangle 11"/>
          <p:cNvSpPr>
            <a:spLocks noChangeArrowheads="1"/>
          </p:cNvSpPr>
          <p:nvPr/>
        </p:nvSpPr>
        <p:spPr bwMode="auto">
          <a:xfrm>
            <a:off x="239713" y="200687"/>
            <a:ext cx="8904287" cy="969496"/>
          </a:xfrm>
          <a:prstGeom prst="rect">
            <a:avLst/>
          </a:prstGeom>
          <a:noFill/>
          <a:ln w="9525">
            <a:noFill/>
            <a:miter lim="800000"/>
            <a:headEnd/>
            <a:tailEnd/>
          </a:ln>
        </p:spPr>
        <p:txBody>
          <a:bodyPr anchor="ctr">
            <a:spAutoFit/>
          </a:bodyPr>
          <a:lstStyle/>
          <a:p>
            <a:pPr eaLnBrk="0" hangingPunct="0"/>
            <a:r>
              <a:rPr lang="fr-CA" sz="2400" b="1" u="sng" dirty="0">
                <a:solidFill>
                  <a:schemeClr val="accent2"/>
                </a:solidFill>
                <a:latin typeface="Arial" charset="0"/>
              </a:rPr>
              <a:t>Conséquences d’une inhibition de la pompe Na-K</a:t>
            </a:r>
          </a:p>
          <a:p>
            <a:pPr eaLnBrk="0" hangingPunct="0">
              <a:spcBef>
                <a:spcPct val="50000"/>
              </a:spcBef>
            </a:pPr>
            <a:r>
              <a:rPr lang="en-US" sz="2200" b="1" dirty="0">
                <a:latin typeface="Arial" charset="0"/>
              </a:rPr>
              <a:t>b) </a:t>
            </a:r>
            <a:r>
              <a:rPr lang="fr-CA" sz="2200" b="1" dirty="0">
                <a:latin typeface="Arial" charset="0"/>
              </a:rPr>
              <a:t>Sur les transports actifs secondaires </a:t>
            </a:r>
            <a:r>
              <a:rPr lang="en-US" sz="2200" b="1" dirty="0">
                <a:latin typeface="Arial" charset="0"/>
              </a:rPr>
              <a:t>:</a:t>
            </a:r>
            <a:endParaRPr lang="en-US" sz="2200" b="1" u="sng" dirty="0">
              <a:latin typeface="Arial" charset="0"/>
            </a:endParaRPr>
          </a:p>
        </p:txBody>
      </p:sp>
      <p:sp>
        <p:nvSpPr>
          <p:cNvPr id="52" name="TextBox 51">
            <a:extLst>
              <a:ext uri="{FF2B5EF4-FFF2-40B4-BE49-F238E27FC236}">
                <a16:creationId xmlns:a16="http://schemas.microsoft.com/office/drawing/2014/main" id="{6D76F33D-B994-454A-B6B7-0C56779B9F8C}"/>
              </a:ext>
            </a:extLst>
          </p:cNvPr>
          <p:cNvSpPr txBox="1"/>
          <p:nvPr/>
        </p:nvSpPr>
        <p:spPr>
          <a:xfrm>
            <a:off x="316998" y="1170183"/>
            <a:ext cx="8510004" cy="3731791"/>
          </a:xfrm>
          <a:prstGeom prst="rect">
            <a:avLst/>
          </a:prstGeom>
          <a:noFill/>
        </p:spPr>
        <p:txBody>
          <a:bodyPr wrap="square">
            <a:spAutoFit/>
          </a:bodyPr>
          <a:lstStyle/>
          <a:p>
            <a:pPr indent="268288">
              <a:spcBef>
                <a:spcPts val="300"/>
              </a:spcBef>
              <a:spcAft>
                <a:spcPts val="0"/>
              </a:spcAft>
            </a:pPr>
            <a:r>
              <a:rPr lang="fr-FR" sz="1800" dirty="0">
                <a:solidFill>
                  <a:srgbClr val="000000"/>
                </a:solidFill>
                <a:effectLst/>
                <a:latin typeface="Arial" panose="020B0604020202020204" pitchFamily="34" charset="0"/>
                <a:ea typeface="Times New Roman" panose="02020603050405020304" pitchFamily="18" charset="0"/>
              </a:rPr>
              <a:t>Les transports actifs secondaires cesseraient ultimement de fonctionner suite à une inhibition de la pompe Na-K parce que leur activité dépend du gradient [Na</a:t>
            </a:r>
            <a:r>
              <a:rPr lang="fr-FR" sz="1800" baseline="30000" dirty="0">
                <a:solidFill>
                  <a:srgbClr val="000000"/>
                </a:solidFill>
                <a:effectLst/>
                <a:latin typeface="Arial" panose="020B0604020202020204" pitchFamily="34" charset="0"/>
                <a:ea typeface="Times New Roman" panose="02020603050405020304" pitchFamily="18" charset="0"/>
              </a:rPr>
              <a:t>+</a:t>
            </a:r>
            <a:r>
              <a:rPr lang="fr-FR" sz="1800" dirty="0">
                <a:solidFill>
                  <a:srgbClr val="000000"/>
                </a:solidFill>
                <a:effectLst/>
                <a:latin typeface="Arial" panose="020B0604020202020204" pitchFamily="34" charset="0"/>
                <a:ea typeface="Times New Roman" panose="02020603050405020304" pitchFamily="18" charset="0"/>
              </a:rPr>
              <a:t>], lequel est normalement maintenu par cette pompe. Sans leur gradient de concentration, les ions Na</a:t>
            </a:r>
            <a:r>
              <a:rPr lang="fr-FR" sz="1800" baseline="30000" dirty="0">
                <a:solidFill>
                  <a:srgbClr val="000000"/>
                </a:solidFill>
                <a:effectLst/>
                <a:latin typeface="Arial" panose="020B0604020202020204" pitchFamily="34" charset="0"/>
                <a:ea typeface="Times New Roman" panose="02020603050405020304" pitchFamily="18" charset="0"/>
              </a:rPr>
              <a:t>+</a:t>
            </a:r>
            <a:r>
              <a:rPr lang="fr-FR" sz="1800" dirty="0">
                <a:solidFill>
                  <a:srgbClr val="000000"/>
                </a:solidFill>
                <a:effectLst/>
                <a:latin typeface="Arial" panose="020B0604020202020204" pitchFamily="34" charset="0"/>
                <a:ea typeface="Times New Roman" panose="02020603050405020304" pitchFamily="18" charset="0"/>
              </a:rPr>
              <a:t> n’ont pas tendance à entrer spontanément dans la cellule, causant ainsi l’arrêt des transports actifs secondaires. (Autrement dit, une dissipation du gradient de concentration des ions Na</a:t>
            </a:r>
            <a:r>
              <a:rPr lang="fr-FR" sz="1800" baseline="30000" dirty="0">
                <a:solidFill>
                  <a:srgbClr val="000000"/>
                </a:solidFill>
                <a:effectLst/>
                <a:latin typeface="Arial" panose="020B0604020202020204" pitchFamily="34" charset="0"/>
                <a:ea typeface="Times New Roman" panose="02020603050405020304" pitchFamily="18" charset="0"/>
              </a:rPr>
              <a:t>+</a:t>
            </a:r>
            <a:r>
              <a:rPr lang="fr-FR" sz="1800" dirty="0">
                <a:solidFill>
                  <a:srgbClr val="000000"/>
                </a:solidFill>
                <a:effectLst/>
                <a:latin typeface="Arial" panose="020B0604020202020204" pitchFamily="34" charset="0"/>
                <a:ea typeface="Times New Roman" panose="02020603050405020304" pitchFamily="18" charset="0"/>
              </a:rPr>
              <a:t> causerait une perte de l’énergie utilisée pour les transports actifs secondaires).</a:t>
            </a:r>
            <a:endParaRPr lang="en-CA" sz="2000" dirty="0">
              <a:solidFill>
                <a:srgbClr val="000000"/>
              </a:solidFill>
              <a:effectLst/>
              <a:latin typeface="Times New Roman" panose="02020603050405020304" pitchFamily="18" charset="0"/>
              <a:ea typeface="Times New Roman" panose="02020603050405020304" pitchFamily="18" charset="0"/>
            </a:endParaRPr>
          </a:p>
          <a:p>
            <a:pPr>
              <a:spcBef>
                <a:spcPts val="300"/>
              </a:spcBef>
              <a:spcAft>
                <a:spcPts val="0"/>
              </a:spcAft>
            </a:pPr>
            <a:r>
              <a:rPr lang="fr-FR" sz="1800" dirty="0">
                <a:solidFill>
                  <a:srgbClr val="000000"/>
                </a:solidFill>
                <a:effectLst/>
                <a:latin typeface="Arial" panose="020B0604020202020204" pitchFamily="34" charset="0"/>
                <a:ea typeface="Times New Roman" panose="02020603050405020304" pitchFamily="18" charset="0"/>
              </a:rPr>
              <a:t>Ainsi, suite à une inhibition de la pompe Na-K :</a:t>
            </a:r>
            <a:endParaRPr lang="en-CA" sz="2000" dirty="0">
              <a:solidFill>
                <a:srgbClr val="000000"/>
              </a:solidFill>
              <a:effectLst/>
              <a:latin typeface="Times New Roman" panose="02020603050405020304" pitchFamily="18" charset="0"/>
              <a:ea typeface="Times New Roman" panose="02020603050405020304" pitchFamily="18" charset="0"/>
            </a:endParaRPr>
          </a:p>
          <a:p>
            <a:pPr marL="444500" lvl="0" indent="-176213">
              <a:buSzPct val="110000"/>
              <a:buFont typeface="Arial" panose="020B0604020202020204" pitchFamily="34" charset="0"/>
              <a:buChar char="•"/>
            </a:pPr>
            <a:r>
              <a:rPr lang="fr-FR" sz="1800" dirty="0">
                <a:solidFill>
                  <a:srgbClr val="000000"/>
                </a:solidFill>
                <a:effectLst/>
                <a:latin typeface="Arial" panose="020B0604020202020204" pitchFamily="34" charset="0"/>
                <a:ea typeface="Times New Roman" panose="02020603050405020304" pitchFamily="18" charset="0"/>
              </a:rPr>
              <a:t>le glucose ne pourrait plus être activement absorbé par les cellules intestinales;</a:t>
            </a:r>
            <a:endParaRPr lang="en-CA" sz="2000" dirty="0">
              <a:solidFill>
                <a:srgbClr val="000000"/>
              </a:solidFill>
              <a:effectLst/>
              <a:latin typeface="Times New Roman" panose="02020603050405020304" pitchFamily="18" charset="0"/>
              <a:ea typeface="Times New Roman" panose="02020603050405020304" pitchFamily="18" charset="0"/>
            </a:endParaRPr>
          </a:p>
          <a:p>
            <a:pPr marL="444500" lvl="0" indent="-176213">
              <a:buSzPct val="110000"/>
              <a:buFont typeface="Arial" panose="020B0604020202020204" pitchFamily="34" charset="0"/>
              <a:buChar char="•"/>
            </a:pPr>
            <a:r>
              <a:rPr lang="fr-FR" sz="1800" dirty="0">
                <a:solidFill>
                  <a:srgbClr val="000000"/>
                </a:solidFill>
                <a:effectLst/>
                <a:latin typeface="Arial" panose="020B0604020202020204" pitchFamily="34" charset="0"/>
                <a:ea typeface="Times New Roman" panose="02020603050405020304" pitchFamily="18" charset="0"/>
              </a:rPr>
              <a:t>les concentrations intracellulaires de Ca</a:t>
            </a:r>
            <a:r>
              <a:rPr lang="fr-FR" sz="1800" baseline="30000" dirty="0">
                <a:solidFill>
                  <a:srgbClr val="000000"/>
                </a:solidFill>
                <a:effectLst/>
                <a:latin typeface="Arial" panose="020B0604020202020204" pitchFamily="34" charset="0"/>
                <a:ea typeface="Times New Roman" panose="02020603050405020304" pitchFamily="18" charset="0"/>
              </a:rPr>
              <a:t>2+</a:t>
            </a:r>
            <a:r>
              <a:rPr lang="fr-FR" sz="1800" dirty="0">
                <a:solidFill>
                  <a:srgbClr val="000000"/>
                </a:solidFill>
                <a:effectLst/>
                <a:latin typeface="Arial" panose="020B0604020202020204" pitchFamily="34" charset="0"/>
                <a:ea typeface="Times New Roman" panose="02020603050405020304" pitchFamily="18" charset="0"/>
              </a:rPr>
              <a:t> augmenteraient dans les cellules qui utilisent l’antiport Na-Ca pour rejeter les ions Ca</a:t>
            </a:r>
            <a:r>
              <a:rPr lang="fr-FR" sz="1800" baseline="30000" dirty="0">
                <a:solidFill>
                  <a:srgbClr val="000000"/>
                </a:solidFill>
                <a:effectLst/>
                <a:latin typeface="Arial" panose="020B0604020202020204" pitchFamily="34" charset="0"/>
                <a:ea typeface="Times New Roman" panose="02020603050405020304" pitchFamily="18" charset="0"/>
              </a:rPr>
              <a:t>2+ </a:t>
            </a:r>
            <a:r>
              <a:rPr lang="fr-FR" sz="1800" dirty="0">
                <a:solidFill>
                  <a:srgbClr val="000000"/>
                </a:solidFill>
                <a:effectLst/>
                <a:latin typeface="Arial" panose="020B0604020202020204" pitchFamily="34" charset="0"/>
                <a:ea typeface="Times New Roman" panose="02020603050405020304" pitchFamily="18" charset="0"/>
              </a:rPr>
              <a:t>;</a:t>
            </a:r>
            <a:endParaRPr lang="en-CA" sz="2000" dirty="0">
              <a:solidFill>
                <a:srgbClr val="000000"/>
              </a:solidFill>
              <a:effectLst/>
              <a:latin typeface="Times New Roman" panose="02020603050405020304" pitchFamily="18" charset="0"/>
              <a:ea typeface="Times New Roman" panose="02020603050405020304" pitchFamily="18" charset="0"/>
            </a:endParaRPr>
          </a:p>
          <a:p>
            <a:pPr marL="444500" lvl="0" indent="-176213">
              <a:buSzPct val="110000"/>
              <a:buFont typeface="Arial" panose="020B0604020202020204" pitchFamily="34" charset="0"/>
              <a:buChar char="•"/>
            </a:pPr>
            <a:r>
              <a:rPr lang="fr-FR" sz="1800" dirty="0">
                <a:solidFill>
                  <a:srgbClr val="000000"/>
                </a:solidFill>
                <a:effectLst/>
                <a:latin typeface="Arial" panose="020B0604020202020204" pitchFamily="34" charset="0"/>
                <a:ea typeface="Times New Roman" panose="02020603050405020304" pitchFamily="18" charset="0"/>
              </a:rPr>
              <a:t>le pH intracellulaire diminuerait dans les cellules qui utilisent l’antiport Na-H.</a:t>
            </a:r>
            <a:endParaRPr lang="en-CA" sz="2000" dirty="0">
              <a:solidFill>
                <a:srgbClr val="000000"/>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9192472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2414588" y="1315062"/>
            <a:ext cx="4348162" cy="1604962"/>
          </a:xfrm>
          <a:prstGeom prst="rect">
            <a:avLst/>
          </a:prstGeom>
          <a:solidFill>
            <a:srgbClr val="FFCC99">
              <a:alpha val="50195"/>
            </a:srgbClr>
          </a:solidFill>
          <a:ln w="9525">
            <a:solidFill>
              <a:schemeClr val="tx1"/>
            </a:solidFill>
            <a:miter lim="800000"/>
            <a:headEnd/>
            <a:tailEnd/>
          </a:ln>
        </p:spPr>
        <p:txBody>
          <a:bodyPr wrap="none" anchor="ctr"/>
          <a:lstStyle/>
          <a:p>
            <a:pPr eaLnBrk="0" hangingPunct="0"/>
            <a:endParaRPr lang="fr-FR"/>
          </a:p>
        </p:txBody>
      </p:sp>
      <p:sp>
        <p:nvSpPr>
          <p:cNvPr id="16387" name="Oval 3"/>
          <p:cNvSpPr>
            <a:spLocks noChangeArrowheads="1"/>
          </p:cNvSpPr>
          <p:nvPr/>
        </p:nvSpPr>
        <p:spPr bwMode="auto">
          <a:xfrm>
            <a:off x="1951038" y="1729399"/>
            <a:ext cx="914400" cy="914400"/>
          </a:xfrm>
          <a:prstGeom prst="ellipse">
            <a:avLst/>
          </a:prstGeom>
          <a:noFill/>
          <a:ln w="25400">
            <a:solidFill>
              <a:srgbClr val="0000FF"/>
            </a:solidFill>
            <a:round/>
            <a:headEnd/>
            <a:tailEnd/>
          </a:ln>
        </p:spPr>
        <p:txBody>
          <a:bodyPr wrap="none" anchor="ctr"/>
          <a:lstStyle/>
          <a:p>
            <a:pPr eaLnBrk="0" hangingPunct="0"/>
            <a:endParaRPr lang="fr-FR"/>
          </a:p>
        </p:txBody>
      </p:sp>
      <p:sp>
        <p:nvSpPr>
          <p:cNvPr id="16389" name="Line 5"/>
          <p:cNvSpPr>
            <a:spLocks noChangeShapeType="1"/>
          </p:cNvSpPr>
          <p:nvPr/>
        </p:nvSpPr>
        <p:spPr bwMode="auto">
          <a:xfrm flipV="1">
            <a:off x="1774825" y="1715112"/>
            <a:ext cx="1241425" cy="0"/>
          </a:xfrm>
          <a:prstGeom prst="line">
            <a:avLst/>
          </a:prstGeom>
          <a:noFill/>
          <a:ln w="25400">
            <a:solidFill>
              <a:srgbClr val="0000FF"/>
            </a:solidFill>
            <a:round/>
            <a:headEnd type="stealth" w="lg" len="lg"/>
            <a:tailEnd/>
          </a:ln>
        </p:spPr>
        <p:txBody>
          <a:bodyPr/>
          <a:lstStyle/>
          <a:p>
            <a:endParaRPr lang="fr-CA"/>
          </a:p>
        </p:txBody>
      </p:sp>
      <p:sp>
        <p:nvSpPr>
          <p:cNvPr id="16390" name="Line 6"/>
          <p:cNvSpPr>
            <a:spLocks noChangeShapeType="1"/>
          </p:cNvSpPr>
          <p:nvPr/>
        </p:nvSpPr>
        <p:spPr bwMode="auto">
          <a:xfrm flipV="1">
            <a:off x="1790700" y="2669199"/>
            <a:ext cx="1241425" cy="0"/>
          </a:xfrm>
          <a:prstGeom prst="line">
            <a:avLst/>
          </a:prstGeom>
          <a:noFill/>
          <a:ln w="25400">
            <a:solidFill>
              <a:srgbClr val="0000FF"/>
            </a:solidFill>
            <a:round/>
            <a:headEnd type="none" w="lg" len="lg"/>
            <a:tailEnd type="stealth" w="lg" len="lg"/>
          </a:ln>
        </p:spPr>
        <p:txBody>
          <a:bodyPr/>
          <a:lstStyle/>
          <a:p>
            <a:endParaRPr lang="fr-CA"/>
          </a:p>
        </p:txBody>
      </p:sp>
      <p:sp>
        <p:nvSpPr>
          <p:cNvPr id="16391" name="Text Box 7"/>
          <p:cNvSpPr txBox="1">
            <a:spLocks noChangeArrowheads="1"/>
          </p:cNvSpPr>
          <p:nvPr/>
        </p:nvSpPr>
        <p:spPr bwMode="auto">
          <a:xfrm>
            <a:off x="2954338" y="1519849"/>
            <a:ext cx="536575" cy="366713"/>
          </a:xfrm>
          <a:prstGeom prst="rect">
            <a:avLst/>
          </a:prstGeom>
          <a:noFill/>
          <a:ln w="9525">
            <a:noFill/>
            <a:miter lim="800000"/>
            <a:headEnd/>
            <a:tailEnd/>
          </a:ln>
        </p:spPr>
        <p:txBody>
          <a:bodyPr wrap="none">
            <a:spAutoFit/>
          </a:bodyPr>
          <a:lstStyle/>
          <a:p>
            <a:pPr eaLnBrk="0" hangingPunct="0"/>
            <a:r>
              <a:rPr lang="fr-CA"/>
              <a:t>Na</a:t>
            </a:r>
            <a:r>
              <a:rPr lang="fr-CA" baseline="30000"/>
              <a:t>+</a:t>
            </a:r>
            <a:endParaRPr lang="fr-CA"/>
          </a:p>
        </p:txBody>
      </p:sp>
      <p:sp>
        <p:nvSpPr>
          <p:cNvPr id="16392" name="Text Box 8"/>
          <p:cNvSpPr txBox="1">
            <a:spLocks noChangeArrowheads="1"/>
          </p:cNvSpPr>
          <p:nvPr/>
        </p:nvSpPr>
        <p:spPr bwMode="auto">
          <a:xfrm>
            <a:off x="1420813" y="2453299"/>
            <a:ext cx="434975" cy="366713"/>
          </a:xfrm>
          <a:prstGeom prst="rect">
            <a:avLst/>
          </a:prstGeom>
          <a:noFill/>
          <a:ln w="9525">
            <a:noFill/>
            <a:miter lim="800000"/>
            <a:headEnd/>
            <a:tailEnd/>
          </a:ln>
        </p:spPr>
        <p:txBody>
          <a:bodyPr wrap="none">
            <a:spAutoFit/>
          </a:bodyPr>
          <a:lstStyle/>
          <a:p>
            <a:pPr eaLnBrk="0" hangingPunct="0"/>
            <a:r>
              <a:rPr lang="fr-CA"/>
              <a:t>K</a:t>
            </a:r>
            <a:r>
              <a:rPr lang="fr-CA" baseline="30000"/>
              <a:t>+</a:t>
            </a:r>
            <a:endParaRPr lang="fr-CA"/>
          </a:p>
        </p:txBody>
      </p:sp>
      <p:sp>
        <p:nvSpPr>
          <p:cNvPr id="16393" name="Text Box 9"/>
          <p:cNvSpPr txBox="1">
            <a:spLocks noChangeArrowheads="1"/>
          </p:cNvSpPr>
          <p:nvPr/>
        </p:nvSpPr>
        <p:spPr bwMode="auto">
          <a:xfrm>
            <a:off x="3211513" y="1802424"/>
            <a:ext cx="1074737" cy="366713"/>
          </a:xfrm>
          <a:prstGeom prst="rect">
            <a:avLst/>
          </a:prstGeom>
          <a:noFill/>
          <a:ln w="9525">
            <a:noFill/>
            <a:miter lim="800000"/>
            <a:headEnd/>
            <a:tailEnd/>
          </a:ln>
        </p:spPr>
        <p:txBody>
          <a:bodyPr wrap="none">
            <a:spAutoFit/>
          </a:bodyPr>
          <a:lstStyle/>
          <a:p>
            <a:pPr eaLnBrk="0" hangingPunct="0"/>
            <a:r>
              <a:rPr lang="fr-CA"/>
              <a:t>ADP + Pi</a:t>
            </a:r>
          </a:p>
        </p:txBody>
      </p:sp>
      <p:sp>
        <p:nvSpPr>
          <p:cNvPr id="16394" name="Text Box 10"/>
          <p:cNvSpPr txBox="1">
            <a:spLocks noChangeArrowheads="1"/>
          </p:cNvSpPr>
          <p:nvPr/>
        </p:nvSpPr>
        <p:spPr bwMode="auto">
          <a:xfrm>
            <a:off x="3128963" y="2162787"/>
            <a:ext cx="615950" cy="366712"/>
          </a:xfrm>
          <a:prstGeom prst="rect">
            <a:avLst/>
          </a:prstGeom>
          <a:noFill/>
          <a:ln w="9525">
            <a:noFill/>
            <a:miter lim="800000"/>
            <a:headEnd/>
            <a:tailEnd/>
          </a:ln>
        </p:spPr>
        <p:txBody>
          <a:bodyPr wrap="none">
            <a:spAutoFit/>
          </a:bodyPr>
          <a:lstStyle/>
          <a:p>
            <a:pPr eaLnBrk="0" hangingPunct="0"/>
            <a:r>
              <a:rPr lang="fr-CA"/>
              <a:t>ATP</a:t>
            </a:r>
          </a:p>
        </p:txBody>
      </p:sp>
      <p:sp>
        <p:nvSpPr>
          <p:cNvPr id="16395" name="Rectangle 11"/>
          <p:cNvSpPr>
            <a:spLocks noChangeArrowheads="1"/>
          </p:cNvSpPr>
          <p:nvPr/>
        </p:nvSpPr>
        <p:spPr bwMode="auto">
          <a:xfrm>
            <a:off x="239713" y="200687"/>
            <a:ext cx="8904287" cy="969496"/>
          </a:xfrm>
          <a:prstGeom prst="rect">
            <a:avLst/>
          </a:prstGeom>
          <a:noFill/>
          <a:ln w="9525">
            <a:noFill/>
            <a:miter lim="800000"/>
            <a:headEnd/>
            <a:tailEnd/>
          </a:ln>
        </p:spPr>
        <p:txBody>
          <a:bodyPr anchor="ctr">
            <a:spAutoFit/>
          </a:bodyPr>
          <a:lstStyle/>
          <a:p>
            <a:pPr eaLnBrk="0" hangingPunct="0"/>
            <a:r>
              <a:rPr lang="fr-CA" sz="2400" b="1" u="sng" dirty="0">
                <a:solidFill>
                  <a:schemeClr val="accent2"/>
                </a:solidFill>
                <a:latin typeface="Arial" charset="0"/>
              </a:rPr>
              <a:t>Conséquences d’une inhibition de la pompe Na-K</a:t>
            </a:r>
          </a:p>
          <a:p>
            <a:pPr eaLnBrk="0" hangingPunct="0">
              <a:spcBef>
                <a:spcPct val="50000"/>
              </a:spcBef>
            </a:pPr>
            <a:r>
              <a:rPr lang="fr-CA" sz="2200" b="1" dirty="0">
                <a:latin typeface="Arial" charset="0"/>
              </a:rPr>
              <a:t>b) Sur les transports actifs secondaires : </a:t>
            </a:r>
            <a:r>
              <a:rPr lang="en-US" sz="2200" b="1" dirty="0">
                <a:latin typeface="Arial" charset="0"/>
              </a:rPr>
              <a:t>Ex.:  </a:t>
            </a:r>
            <a:r>
              <a:rPr lang="en-US" sz="2200" b="1" u="sng" dirty="0">
                <a:latin typeface="Arial" charset="0"/>
              </a:rPr>
              <a:t>ANTIPORT Na-Ca</a:t>
            </a:r>
          </a:p>
        </p:txBody>
      </p:sp>
      <p:sp>
        <p:nvSpPr>
          <p:cNvPr id="16396" name="Rectangle 12"/>
          <p:cNvSpPr>
            <a:spLocks noChangeArrowheads="1"/>
          </p:cNvSpPr>
          <p:nvPr/>
        </p:nvSpPr>
        <p:spPr bwMode="auto">
          <a:xfrm>
            <a:off x="2430463" y="3997935"/>
            <a:ext cx="4348162" cy="1587500"/>
          </a:xfrm>
          <a:prstGeom prst="rect">
            <a:avLst/>
          </a:prstGeom>
          <a:solidFill>
            <a:srgbClr val="FFCC99">
              <a:alpha val="50195"/>
            </a:srgbClr>
          </a:solidFill>
          <a:ln w="9525">
            <a:solidFill>
              <a:schemeClr val="tx1"/>
            </a:solidFill>
            <a:miter lim="800000"/>
            <a:headEnd/>
            <a:tailEnd/>
          </a:ln>
        </p:spPr>
        <p:txBody>
          <a:bodyPr wrap="none" anchor="ctr"/>
          <a:lstStyle/>
          <a:p>
            <a:pPr eaLnBrk="0" hangingPunct="0"/>
            <a:endParaRPr lang="fr-FR"/>
          </a:p>
        </p:txBody>
      </p:sp>
      <p:sp>
        <p:nvSpPr>
          <p:cNvPr id="525329" name="Text Box 17"/>
          <p:cNvSpPr txBox="1">
            <a:spLocks noChangeArrowheads="1"/>
          </p:cNvSpPr>
          <p:nvPr/>
        </p:nvSpPr>
        <p:spPr bwMode="auto">
          <a:xfrm>
            <a:off x="3025775" y="4066761"/>
            <a:ext cx="536575" cy="366712"/>
          </a:xfrm>
          <a:prstGeom prst="rect">
            <a:avLst/>
          </a:prstGeom>
          <a:noFill/>
          <a:ln w="9525">
            <a:noFill/>
            <a:miter lim="800000"/>
            <a:headEnd/>
            <a:tailEnd/>
          </a:ln>
        </p:spPr>
        <p:txBody>
          <a:bodyPr wrap="none">
            <a:spAutoFit/>
          </a:bodyPr>
          <a:lstStyle/>
          <a:p>
            <a:pPr eaLnBrk="0" hangingPunct="0"/>
            <a:r>
              <a:rPr lang="fr-CA" dirty="0"/>
              <a:t>Na</a:t>
            </a:r>
            <a:r>
              <a:rPr lang="fr-CA" baseline="30000" dirty="0"/>
              <a:t>+</a:t>
            </a:r>
            <a:endParaRPr lang="fr-CA" dirty="0"/>
          </a:p>
        </p:txBody>
      </p:sp>
      <p:sp>
        <p:nvSpPr>
          <p:cNvPr id="16398" name="Text Box 21"/>
          <p:cNvSpPr txBox="1">
            <a:spLocks noChangeArrowheads="1"/>
          </p:cNvSpPr>
          <p:nvPr/>
        </p:nvSpPr>
        <p:spPr bwMode="auto">
          <a:xfrm>
            <a:off x="1951499" y="1904178"/>
            <a:ext cx="953934" cy="584775"/>
          </a:xfrm>
          <a:prstGeom prst="rect">
            <a:avLst/>
          </a:prstGeom>
          <a:noFill/>
          <a:ln w="9525">
            <a:noFill/>
            <a:miter lim="800000"/>
            <a:headEnd/>
            <a:tailEnd/>
          </a:ln>
        </p:spPr>
        <p:txBody>
          <a:bodyPr wrap="square">
            <a:spAutoFit/>
          </a:bodyPr>
          <a:lstStyle/>
          <a:p>
            <a:pPr algn="ctr" eaLnBrk="0" hangingPunct="0"/>
            <a:r>
              <a:rPr lang="fr-CA" sz="1600" b="1" i="1" dirty="0">
                <a:latin typeface="Calibri" pitchFamily="34" charset="0"/>
                <a:cs typeface="Calibri" pitchFamily="34" charset="0"/>
              </a:rPr>
              <a:t>Pompe Na-K</a:t>
            </a:r>
          </a:p>
        </p:txBody>
      </p:sp>
      <p:sp>
        <p:nvSpPr>
          <p:cNvPr id="16399" name="Text Box 22"/>
          <p:cNvSpPr txBox="1">
            <a:spLocks noChangeArrowheads="1"/>
          </p:cNvSpPr>
          <p:nvPr/>
        </p:nvSpPr>
        <p:spPr bwMode="auto">
          <a:xfrm>
            <a:off x="6250655" y="1850049"/>
            <a:ext cx="1027676" cy="584775"/>
          </a:xfrm>
          <a:prstGeom prst="rect">
            <a:avLst/>
          </a:prstGeom>
          <a:noFill/>
          <a:ln w="9525">
            <a:noFill/>
            <a:miter lim="800000"/>
            <a:headEnd/>
            <a:tailEnd/>
          </a:ln>
        </p:spPr>
        <p:txBody>
          <a:bodyPr wrap="square">
            <a:spAutoFit/>
          </a:bodyPr>
          <a:lstStyle/>
          <a:p>
            <a:pPr algn="ctr" eaLnBrk="0" hangingPunct="0"/>
            <a:r>
              <a:rPr lang="fr-CA" sz="1600" b="1" i="1" dirty="0">
                <a:solidFill>
                  <a:srgbClr val="00B050"/>
                </a:solidFill>
                <a:latin typeface="Calibri" pitchFamily="34" charset="0"/>
                <a:cs typeface="Calibri" pitchFamily="34" charset="0"/>
              </a:rPr>
              <a:t>Antiport Na-Ca</a:t>
            </a:r>
          </a:p>
        </p:txBody>
      </p:sp>
      <p:sp>
        <p:nvSpPr>
          <p:cNvPr id="16400" name="Text Box 23"/>
          <p:cNvSpPr txBox="1">
            <a:spLocks noChangeArrowheads="1"/>
          </p:cNvSpPr>
          <p:nvPr/>
        </p:nvSpPr>
        <p:spPr bwMode="auto">
          <a:xfrm>
            <a:off x="5343525" y="1453174"/>
            <a:ext cx="781050" cy="366713"/>
          </a:xfrm>
          <a:prstGeom prst="rect">
            <a:avLst/>
          </a:prstGeom>
          <a:noFill/>
          <a:ln w="9525">
            <a:noFill/>
            <a:miter lim="800000"/>
            <a:headEnd/>
            <a:tailEnd/>
          </a:ln>
        </p:spPr>
        <p:txBody>
          <a:bodyPr wrap="none">
            <a:spAutoFit/>
          </a:bodyPr>
          <a:lstStyle/>
          <a:p>
            <a:pPr eaLnBrk="0" hangingPunct="0"/>
            <a:r>
              <a:rPr lang="en-US">
                <a:solidFill>
                  <a:srgbClr val="3333FF"/>
                </a:solidFill>
                <a:latin typeface="Arial" charset="0"/>
              </a:rPr>
              <a:t>[</a:t>
            </a:r>
            <a:r>
              <a:rPr lang="fr-CA">
                <a:solidFill>
                  <a:srgbClr val="3333FF"/>
                </a:solidFill>
              </a:rPr>
              <a:t>Na</a:t>
            </a:r>
            <a:r>
              <a:rPr lang="fr-CA" baseline="30000">
                <a:solidFill>
                  <a:srgbClr val="3333FF"/>
                </a:solidFill>
              </a:rPr>
              <a:t>+</a:t>
            </a:r>
            <a:r>
              <a:rPr lang="en-US">
                <a:solidFill>
                  <a:srgbClr val="3333FF"/>
                </a:solidFill>
                <a:latin typeface="Arial" charset="0"/>
              </a:rPr>
              <a:t>]</a:t>
            </a:r>
            <a:r>
              <a:rPr lang="en-US" baseline="-20000">
                <a:solidFill>
                  <a:srgbClr val="3333FF"/>
                </a:solidFill>
                <a:latin typeface="Arial" charset="0"/>
              </a:rPr>
              <a:t>in</a:t>
            </a:r>
          </a:p>
        </p:txBody>
      </p:sp>
      <p:sp>
        <p:nvSpPr>
          <p:cNvPr id="16401" name="Text Box 24"/>
          <p:cNvSpPr txBox="1">
            <a:spLocks noChangeArrowheads="1"/>
          </p:cNvSpPr>
          <p:nvPr/>
        </p:nvSpPr>
        <p:spPr bwMode="auto">
          <a:xfrm>
            <a:off x="7289800" y="1170296"/>
            <a:ext cx="1565275" cy="641350"/>
          </a:xfrm>
          <a:prstGeom prst="rect">
            <a:avLst/>
          </a:prstGeom>
          <a:noFill/>
          <a:ln w="9525">
            <a:noFill/>
            <a:miter lim="800000"/>
            <a:headEnd/>
            <a:tailEnd/>
          </a:ln>
        </p:spPr>
        <p:txBody>
          <a:bodyPr wrap="none">
            <a:spAutoFit/>
          </a:bodyPr>
          <a:lstStyle/>
          <a:p>
            <a:pPr eaLnBrk="0" hangingPunct="0"/>
            <a:r>
              <a:rPr lang="en-US" sz="3600" dirty="0">
                <a:solidFill>
                  <a:srgbClr val="3333FF"/>
                </a:solidFill>
              </a:rPr>
              <a:t>[</a:t>
            </a:r>
            <a:r>
              <a:rPr lang="fr-CA" sz="3600" dirty="0">
                <a:solidFill>
                  <a:srgbClr val="3333FF"/>
                </a:solidFill>
              </a:rPr>
              <a:t>Na</a:t>
            </a:r>
            <a:r>
              <a:rPr lang="fr-CA" sz="3600" baseline="30000" dirty="0">
                <a:solidFill>
                  <a:srgbClr val="3333FF"/>
                </a:solidFill>
              </a:rPr>
              <a:t>+</a:t>
            </a:r>
            <a:r>
              <a:rPr lang="en-US" sz="3600" dirty="0">
                <a:solidFill>
                  <a:srgbClr val="3333FF"/>
                </a:solidFill>
              </a:rPr>
              <a:t>]</a:t>
            </a:r>
            <a:r>
              <a:rPr lang="en-US" sz="3600" baseline="-20000" dirty="0">
                <a:solidFill>
                  <a:srgbClr val="3333FF"/>
                </a:solidFill>
              </a:rPr>
              <a:t>ext</a:t>
            </a:r>
          </a:p>
        </p:txBody>
      </p:sp>
      <p:sp>
        <p:nvSpPr>
          <p:cNvPr id="525337" name="Text Box 25"/>
          <p:cNvSpPr txBox="1">
            <a:spLocks noChangeArrowheads="1"/>
          </p:cNvSpPr>
          <p:nvPr/>
        </p:nvSpPr>
        <p:spPr bwMode="auto">
          <a:xfrm>
            <a:off x="153988" y="3331674"/>
            <a:ext cx="4595812" cy="427037"/>
          </a:xfrm>
          <a:prstGeom prst="rect">
            <a:avLst/>
          </a:prstGeom>
          <a:noFill/>
          <a:ln w="9525">
            <a:noFill/>
            <a:miter lim="800000"/>
            <a:headEnd/>
            <a:tailEnd/>
          </a:ln>
        </p:spPr>
        <p:txBody>
          <a:bodyPr>
            <a:spAutoFit/>
          </a:bodyPr>
          <a:lstStyle/>
          <a:p>
            <a:pPr eaLnBrk="0" hangingPunct="0"/>
            <a:r>
              <a:rPr lang="fr-CA" sz="2200" b="1" dirty="0">
                <a:solidFill>
                  <a:srgbClr val="FF0000"/>
                </a:solidFill>
                <a:latin typeface="Arial" charset="0"/>
              </a:rPr>
              <a:t>Si inhibition de la pompe Na-K?</a:t>
            </a:r>
            <a:endParaRPr lang="fr-CA" sz="2200" b="1" dirty="0">
              <a:solidFill>
                <a:srgbClr val="FF0000"/>
              </a:solidFill>
              <a:latin typeface="Arial" charset="0"/>
              <a:sym typeface="Wingdings" pitchFamily="2" charset="2"/>
            </a:endParaRPr>
          </a:p>
        </p:txBody>
      </p:sp>
      <p:grpSp>
        <p:nvGrpSpPr>
          <p:cNvPr id="55" name="Group 54"/>
          <p:cNvGrpSpPr/>
          <p:nvPr/>
        </p:nvGrpSpPr>
        <p:grpSpPr>
          <a:xfrm>
            <a:off x="1477963" y="4247172"/>
            <a:ext cx="2824162" cy="1046163"/>
            <a:chOff x="1477963" y="4708525"/>
            <a:chExt cx="2824162" cy="1046163"/>
          </a:xfrm>
        </p:grpSpPr>
        <p:sp>
          <p:nvSpPr>
            <p:cNvPr id="16422" name="Oval 13"/>
            <p:cNvSpPr>
              <a:spLocks noChangeArrowheads="1"/>
            </p:cNvSpPr>
            <p:nvPr/>
          </p:nvSpPr>
          <p:spPr bwMode="auto">
            <a:xfrm>
              <a:off x="1985963" y="4708525"/>
              <a:ext cx="914400" cy="914400"/>
            </a:xfrm>
            <a:prstGeom prst="ellipse">
              <a:avLst/>
            </a:prstGeom>
            <a:noFill/>
            <a:ln w="25400">
              <a:solidFill>
                <a:srgbClr val="0000FF"/>
              </a:solidFill>
              <a:round/>
              <a:headEnd/>
              <a:tailEnd/>
            </a:ln>
          </p:spPr>
          <p:txBody>
            <a:bodyPr wrap="none" anchor="ctr"/>
            <a:lstStyle/>
            <a:p>
              <a:pPr eaLnBrk="0" hangingPunct="0"/>
              <a:endParaRPr lang="fr-FR"/>
            </a:p>
          </p:txBody>
        </p:sp>
        <p:sp>
          <p:nvSpPr>
            <p:cNvPr id="16423" name="AutoShape 14"/>
            <p:cNvSpPr>
              <a:spLocks noChangeArrowheads="1"/>
            </p:cNvSpPr>
            <p:nvPr/>
          </p:nvSpPr>
          <p:spPr bwMode="auto">
            <a:xfrm>
              <a:off x="2913063" y="5002213"/>
              <a:ext cx="600075" cy="35401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 name="T18" fmla="*/ 3143 w 21600"/>
                <a:gd name="T19" fmla="*/ 3196 h 21600"/>
                <a:gd name="T20" fmla="*/ 18457 w 21600"/>
                <a:gd name="T21" fmla="*/ 18404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0042" y="26"/>
                  </a:moveTo>
                  <a:cubicBezTo>
                    <a:pt x="4385" y="424"/>
                    <a:pt x="0" y="5129"/>
                    <a:pt x="0" y="10799"/>
                  </a:cubicBezTo>
                  <a:cubicBezTo>
                    <a:pt x="0" y="16764"/>
                    <a:pt x="4835" y="21600"/>
                    <a:pt x="10800" y="21600"/>
                  </a:cubicBezTo>
                  <a:cubicBezTo>
                    <a:pt x="10895" y="21600"/>
                    <a:pt x="10990" y="21598"/>
                    <a:pt x="11085" y="21596"/>
                  </a:cubicBezTo>
                  <a:cubicBezTo>
                    <a:pt x="10990" y="21598"/>
                    <a:pt x="10895" y="21599"/>
                    <a:pt x="10800" y="21600"/>
                  </a:cubicBezTo>
                  <a:cubicBezTo>
                    <a:pt x="4835" y="21600"/>
                    <a:pt x="0" y="16764"/>
                    <a:pt x="0" y="10800"/>
                  </a:cubicBezTo>
                  <a:cubicBezTo>
                    <a:pt x="-1" y="5129"/>
                    <a:pt x="4385" y="424"/>
                    <a:pt x="10042" y="26"/>
                  </a:cubicBezTo>
                  <a:lnTo>
                    <a:pt x="9853" y="-2667"/>
                  </a:lnTo>
                  <a:lnTo>
                    <a:pt x="12735" y="-164"/>
                  </a:lnTo>
                  <a:lnTo>
                    <a:pt x="10232" y="2719"/>
                  </a:lnTo>
                  <a:lnTo>
                    <a:pt x="10042" y="26"/>
                  </a:lnTo>
                  <a:close/>
                </a:path>
              </a:pathLst>
            </a:custGeom>
            <a:solidFill>
              <a:schemeClr val="accent1"/>
            </a:solidFill>
            <a:ln w="25400">
              <a:solidFill>
                <a:srgbClr val="0000FF"/>
              </a:solidFill>
              <a:miter lim="800000"/>
              <a:headEnd/>
              <a:tailEnd/>
            </a:ln>
          </p:spPr>
          <p:txBody>
            <a:bodyPr wrap="none" anchor="ctr"/>
            <a:lstStyle/>
            <a:p>
              <a:endParaRPr lang="fr-CA"/>
            </a:p>
          </p:txBody>
        </p:sp>
        <p:sp>
          <p:nvSpPr>
            <p:cNvPr id="16424" name="Line 15"/>
            <p:cNvSpPr>
              <a:spLocks noChangeShapeType="1"/>
            </p:cNvSpPr>
            <p:nvPr/>
          </p:nvSpPr>
          <p:spPr bwMode="auto">
            <a:xfrm flipV="1">
              <a:off x="1828800" y="4711700"/>
              <a:ext cx="1241425" cy="0"/>
            </a:xfrm>
            <a:prstGeom prst="line">
              <a:avLst/>
            </a:prstGeom>
            <a:noFill/>
            <a:ln w="25400">
              <a:solidFill>
                <a:srgbClr val="0000FF"/>
              </a:solidFill>
              <a:round/>
              <a:headEnd type="stealth" w="lg" len="lg"/>
              <a:tailEnd/>
            </a:ln>
          </p:spPr>
          <p:txBody>
            <a:bodyPr/>
            <a:lstStyle/>
            <a:p>
              <a:endParaRPr lang="fr-CA"/>
            </a:p>
          </p:txBody>
        </p:sp>
        <p:sp>
          <p:nvSpPr>
            <p:cNvPr id="16425" name="Line 16"/>
            <p:cNvSpPr>
              <a:spLocks noChangeShapeType="1"/>
            </p:cNvSpPr>
            <p:nvPr/>
          </p:nvSpPr>
          <p:spPr bwMode="auto">
            <a:xfrm flipV="1">
              <a:off x="1843088" y="5629275"/>
              <a:ext cx="1241425" cy="0"/>
            </a:xfrm>
            <a:prstGeom prst="line">
              <a:avLst/>
            </a:prstGeom>
            <a:noFill/>
            <a:ln w="25400">
              <a:solidFill>
                <a:srgbClr val="0000FF"/>
              </a:solidFill>
              <a:round/>
              <a:headEnd type="none" w="lg" len="lg"/>
              <a:tailEnd type="stealth" w="lg" len="lg"/>
            </a:ln>
          </p:spPr>
          <p:txBody>
            <a:bodyPr/>
            <a:lstStyle/>
            <a:p>
              <a:endParaRPr lang="fr-CA"/>
            </a:p>
          </p:txBody>
        </p:sp>
        <p:sp>
          <p:nvSpPr>
            <p:cNvPr id="16426" name="Text Box 18"/>
            <p:cNvSpPr txBox="1">
              <a:spLocks noChangeArrowheads="1"/>
            </p:cNvSpPr>
            <p:nvPr/>
          </p:nvSpPr>
          <p:spPr bwMode="auto">
            <a:xfrm>
              <a:off x="1477963" y="5387975"/>
              <a:ext cx="434975" cy="366713"/>
            </a:xfrm>
            <a:prstGeom prst="rect">
              <a:avLst/>
            </a:prstGeom>
            <a:noFill/>
            <a:ln w="9525">
              <a:noFill/>
              <a:miter lim="800000"/>
              <a:headEnd/>
              <a:tailEnd/>
            </a:ln>
          </p:spPr>
          <p:txBody>
            <a:bodyPr wrap="none">
              <a:spAutoFit/>
            </a:bodyPr>
            <a:lstStyle/>
            <a:p>
              <a:pPr eaLnBrk="0" hangingPunct="0"/>
              <a:r>
                <a:rPr lang="fr-CA" dirty="0"/>
                <a:t>K</a:t>
              </a:r>
              <a:r>
                <a:rPr lang="fr-CA" baseline="30000" dirty="0"/>
                <a:t>+</a:t>
              </a:r>
              <a:endParaRPr lang="fr-CA" dirty="0"/>
            </a:p>
          </p:txBody>
        </p:sp>
        <p:sp>
          <p:nvSpPr>
            <p:cNvPr id="16427" name="Text Box 19"/>
            <p:cNvSpPr txBox="1">
              <a:spLocks noChangeArrowheads="1"/>
            </p:cNvSpPr>
            <p:nvPr/>
          </p:nvSpPr>
          <p:spPr bwMode="auto">
            <a:xfrm>
              <a:off x="3227388" y="4816475"/>
              <a:ext cx="1074737" cy="366713"/>
            </a:xfrm>
            <a:prstGeom prst="rect">
              <a:avLst/>
            </a:prstGeom>
            <a:noFill/>
            <a:ln w="9525">
              <a:noFill/>
              <a:miter lim="800000"/>
              <a:headEnd/>
              <a:tailEnd/>
            </a:ln>
          </p:spPr>
          <p:txBody>
            <a:bodyPr wrap="none">
              <a:spAutoFit/>
            </a:bodyPr>
            <a:lstStyle/>
            <a:p>
              <a:pPr eaLnBrk="0" hangingPunct="0"/>
              <a:r>
                <a:rPr lang="fr-CA"/>
                <a:t>ADP + Pi</a:t>
              </a:r>
            </a:p>
          </p:txBody>
        </p:sp>
        <p:sp>
          <p:nvSpPr>
            <p:cNvPr id="16428" name="Text Box 20"/>
            <p:cNvSpPr txBox="1">
              <a:spLocks noChangeArrowheads="1"/>
            </p:cNvSpPr>
            <p:nvPr/>
          </p:nvSpPr>
          <p:spPr bwMode="auto">
            <a:xfrm>
              <a:off x="3163888" y="5191125"/>
              <a:ext cx="615950" cy="366713"/>
            </a:xfrm>
            <a:prstGeom prst="rect">
              <a:avLst/>
            </a:prstGeom>
            <a:noFill/>
            <a:ln w="9525">
              <a:noFill/>
              <a:miter lim="800000"/>
              <a:headEnd/>
              <a:tailEnd/>
            </a:ln>
          </p:spPr>
          <p:txBody>
            <a:bodyPr wrap="none">
              <a:spAutoFit/>
            </a:bodyPr>
            <a:lstStyle/>
            <a:p>
              <a:pPr eaLnBrk="0" hangingPunct="0"/>
              <a:r>
                <a:rPr lang="fr-CA" dirty="0"/>
                <a:t>ATP</a:t>
              </a:r>
            </a:p>
          </p:txBody>
        </p:sp>
      </p:grpSp>
      <p:sp>
        <p:nvSpPr>
          <p:cNvPr id="16429" name="Line 26"/>
          <p:cNvSpPr>
            <a:spLocks noChangeShapeType="1"/>
          </p:cNvSpPr>
          <p:nvPr/>
        </p:nvSpPr>
        <p:spPr bwMode="auto">
          <a:xfrm flipV="1">
            <a:off x="2017713" y="4123347"/>
            <a:ext cx="796925" cy="1228725"/>
          </a:xfrm>
          <a:prstGeom prst="line">
            <a:avLst/>
          </a:prstGeom>
          <a:noFill/>
          <a:ln w="31750">
            <a:solidFill>
              <a:srgbClr val="FF0000"/>
            </a:solidFill>
            <a:round/>
            <a:headEnd/>
            <a:tailEnd/>
          </a:ln>
        </p:spPr>
        <p:txBody>
          <a:bodyPr/>
          <a:lstStyle/>
          <a:p>
            <a:endParaRPr lang="fr-CA"/>
          </a:p>
        </p:txBody>
      </p:sp>
      <p:sp>
        <p:nvSpPr>
          <p:cNvPr id="16430" name="Line 27"/>
          <p:cNvSpPr>
            <a:spLocks noChangeShapeType="1"/>
          </p:cNvSpPr>
          <p:nvPr/>
        </p:nvSpPr>
        <p:spPr bwMode="auto">
          <a:xfrm>
            <a:off x="2097088" y="4126522"/>
            <a:ext cx="679450" cy="1201738"/>
          </a:xfrm>
          <a:prstGeom prst="line">
            <a:avLst/>
          </a:prstGeom>
          <a:noFill/>
          <a:ln w="31750">
            <a:solidFill>
              <a:srgbClr val="FF0000"/>
            </a:solidFill>
            <a:round/>
            <a:headEnd/>
            <a:tailEnd/>
          </a:ln>
        </p:spPr>
        <p:txBody>
          <a:bodyPr/>
          <a:lstStyle/>
          <a:p>
            <a:endParaRPr lang="fr-CA"/>
          </a:p>
        </p:txBody>
      </p:sp>
      <p:sp>
        <p:nvSpPr>
          <p:cNvPr id="16404" name="Oval 30"/>
          <p:cNvSpPr>
            <a:spLocks noChangeArrowheads="1"/>
          </p:cNvSpPr>
          <p:nvPr/>
        </p:nvSpPr>
        <p:spPr bwMode="auto">
          <a:xfrm>
            <a:off x="6292850" y="1691299"/>
            <a:ext cx="914400" cy="914400"/>
          </a:xfrm>
          <a:prstGeom prst="ellipse">
            <a:avLst/>
          </a:prstGeom>
          <a:noFill/>
          <a:ln w="25400">
            <a:solidFill>
              <a:srgbClr val="00B050"/>
            </a:solidFill>
            <a:round/>
            <a:headEnd/>
            <a:tailEnd/>
          </a:ln>
        </p:spPr>
        <p:txBody>
          <a:bodyPr wrap="none" anchor="ctr"/>
          <a:lstStyle/>
          <a:p>
            <a:pPr eaLnBrk="0" hangingPunct="0"/>
            <a:endParaRPr lang="fr-FR">
              <a:solidFill>
                <a:srgbClr val="FFFF00"/>
              </a:solidFill>
            </a:endParaRPr>
          </a:p>
        </p:txBody>
      </p:sp>
      <p:sp>
        <p:nvSpPr>
          <p:cNvPr id="16405" name="Line 31"/>
          <p:cNvSpPr>
            <a:spLocks noChangeShapeType="1"/>
          </p:cNvSpPr>
          <p:nvPr/>
        </p:nvSpPr>
        <p:spPr bwMode="auto">
          <a:xfrm flipV="1">
            <a:off x="6097588" y="1677012"/>
            <a:ext cx="1241425" cy="0"/>
          </a:xfrm>
          <a:prstGeom prst="line">
            <a:avLst/>
          </a:prstGeom>
          <a:noFill/>
          <a:ln w="25400">
            <a:solidFill>
              <a:srgbClr val="00B050"/>
            </a:solidFill>
            <a:round/>
            <a:headEnd type="stealth" w="lg" len="lg"/>
            <a:tailEnd/>
          </a:ln>
        </p:spPr>
        <p:txBody>
          <a:bodyPr/>
          <a:lstStyle/>
          <a:p>
            <a:endParaRPr lang="fr-CA">
              <a:solidFill>
                <a:srgbClr val="FFFF00"/>
              </a:solidFill>
            </a:endParaRPr>
          </a:p>
        </p:txBody>
      </p:sp>
      <p:sp>
        <p:nvSpPr>
          <p:cNvPr id="16406" name="Line 32"/>
          <p:cNvSpPr>
            <a:spLocks noChangeShapeType="1"/>
          </p:cNvSpPr>
          <p:nvPr/>
        </p:nvSpPr>
        <p:spPr bwMode="auto">
          <a:xfrm flipV="1">
            <a:off x="6094413" y="2613637"/>
            <a:ext cx="1241425" cy="0"/>
          </a:xfrm>
          <a:prstGeom prst="line">
            <a:avLst/>
          </a:prstGeom>
          <a:noFill/>
          <a:ln w="25400">
            <a:solidFill>
              <a:srgbClr val="00B050"/>
            </a:solidFill>
            <a:round/>
            <a:headEnd type="none" w="lg" len="lg"/>
            <a:tailEnd type="stealth" w="lg" len="lg"/>
          </a:ln>
        </p:spPr>
        <p:txBody>
          <a:bodyPr/>
          <a:lstStyle/>
          <a:p>
            <a:endParaRPr lang="fr-CA">
              <a:solidFill>
                <a:srgbClr val="FFFF00"/>
              </a:solidFill>
            </a:endParaRPr>
          </a:p>
        </p:txBody>
      </p:sp>
      <p:sp>
        <p:nvSpPr>
          <p:cNvPr id="16407" name="Text Box 33"/>
          <p:cNvSpPr txBox="1">
            <a:spLocks noChangeArrowheads="1"/>
          </p:cNvSpPr>
          <p:nvPr/>
        </p:nvSpPr>
        <p:spPr bwMode="auto">
          <a:xfrm>
            <a:off x="7305470" y="2347347"/>
            <a:ext cx="1692275" cy="641350"/>
          </a:xfrm>
          <a:prstGeom prst="rect">
            <a:avLst/>
          </a:prstGeom>
          <a:noFill/>
          <a:ln w="9525">
            <a:noFill/>
            <a:miter lim="800000"/>
            <a:headEnd/>
            <a:tailEnd/>
          </a:ln>
        </p:spPr>
        <p:txBody>
          <a:bodyPr wrap="none">
            <a:spAutoFit/>
          </a:bodyPr>
          <a:lstStyle/>
          <a:p>
            <a:pPr eaLnBrk="0" hangingPunct="0"/>
            <a:r>
              <a:rPr lang="en-US" sz="3600" dirty="0">
                <a:solidFill>
                  <a:srgbClr val="3333FF"/>
                </a:solidFill>
              </a:rPr>
              <a:t>[</a:t>
            </a:r>
            <a:r>
              <a:rPr lang="fr-CA" sz="3600" dirty="0">
                <a:solidFill>
                  <a:srgbClr val="3333FF"/>
                </a:solidFill>
              </a:rPr>
              <a:t>Ca</a:t>
            </a:r>
            <a:r>
              <a:rPr lang="fr-CA" sz="3600" baseline="30000" dirty="0">
                <a:solidFill>
                  <a:srgbClr val="3333FF"/>
                </a:solidFill>
              </a:rPr>
              <a:t>2+</a:t>
            </a:r>
            <a:r>
              <a:rPr lang="en-US" sz="3600" dirty="0">
                <a:solidFill>
                  <a:srgbClr val="3333FF"/>
                </a:solidFill>
              </a:rPr>
              <a:t>]</a:t>
            </a:r>
            <a:r>
              <a:rPr lang="en-US" sz="3600" baseline="-20000" dirty="0">
                <a:solidFill>
                  <a:srgbClr val="3333FF"/>
                </a:solidFill>
              </a:rPr>
              <a:t>ext</a:t>
            </a:r>
          </a:p>
        </p:txBody>
      </p:sp>
      <p:sp>
        <p:nvSpPr>
          <p:cNvPr id="16417" name="Oval 34"/>
          <p:cNvSpPr>
            <a:spLocks noChangeArrowheads="1"/>
          </p:cNvSpPr>
          <p:nvPr/>
        </p:nvSpPr>
        <p:spPr bwMode="auto">
          <a:xfrm>
            <a:off x="6324600" y="4326547"/>
            <a:ext cx="914400" cy="914400"/>
          </a:xfrm>
          <a:prstGeom prst="ellipse">
            <a:avLst/>
          </a:prstGeom>
          <a:noFill/>
          <a:ln w="25400">
            <a:solidFill>
              <a:srgbClr val="00B050"/>
            </a:solidFill>
            <a:round/>
            <a:headEnd/>
            <a:tailEnd/>
          </a:ln>
        </p:spPr>
        <p:txBody>
          <a:bodyPr wrap="none" anchor="ctr"/>
          <a:lstStyle/>
          <a:p>
            <a:pPr eaLnBrk="0" hangingPunct="0"/>
            <a:endParaRPr lang="fr-FR"/>
          </a:p>
        </p:txBody>
      </p:sp>
      <p:sp>
        <p:nvSpPr>
          <p:cNvPr id="16418" name="Line 35"/>
          <p:cNvSpPr>
            <a:spLocks noChangeShapeType="1"/>
          </p:cNvSpPr>
          <p:nvPr/>
        </p:nvSpPr>
        <p:spPr bwMode="auto">
          <a:xfrm flipV="1">
            <a:off x="6167438" y="4313847"/>
            <a:ext cx="1241425" cy="0"/>
          </a:xfrm>
          <a:prstGeom prst="line">
            <a:avLst/>
          </a:prstGeom>
          <a:noFill/>
          <a:ln w="25400">
            <a:solidFill>
              <a:srgbClr val="00B050"/>
            </a:solidFill>
            <a:round/>
            <a:headEnd type="stealth" w="lg" len="lg"/>
            <a:tailEnd/>
          </a:ln>
        </p:spPr>
        <p:txBody>
          <a:bodyPr/>
          <a:lstStyle/>
          <a:p>
            <a:endParaRPr lang="fr-CA"/>
          </a:p>
        </p:txBody>
      </p:sp>
      <p:sp>
        <p:nvSpPr>
          <p:cNvPr id="16419" name="Line 36"/>
          <p:cNvSpPr>
            <a:spLocks noChangeShapeType="1"/>
          </p:cNvSpPr>
          <p:nvPr/>
        </p:nvSpPr>
        <p:spPr bwMode="auto">
          <a:xfrm flipV="1">
            <a:off x="6200775" y="5256259"/>
            <a:ext cx="1241425" cy="0"/>
          </a:xfrm>
          <a:prstGeom prst="line">
            <a:avLst/>
          </a:prstGeom>
          <a:noFill/>
          <a:ln w="25400">
            <a:solidFill>
              <a:srgbClr val="00B050"/>
            </a:solidFill>
            <a:round/>
            <a:headEnd type="none" w="lg" len="lg"/>
            <a:tailEnd type="stealth" w="lg" len="lg"/>
          </a:ln>
        </p:spPr>
        <p:txBody>
          <a:bodyPr/>
          <a:lstStyle/>
          <a:p>
            <a:endParaRPr lang="fr-CA"/>
          </a:p>
        </p:txBody>
      </p:sp>
      <p:sp>
        <p:nvSpPr>
          <p:cNvPr id="16420" name="Line 37"/>
          <p:cNvSpPr>
            <a:spLocks noChangeShapeType="1"/>
          </p:cNvSpPr>
          <p:nvPr/>
        </p:nvSpPr>
        <p:spPr bwMode="auto">
          <a:xfrm flipV="1">
            <a:off x="6388100" y="4186847"/>
            <a:ext cx="796925" cy="1228725"/>
          </a:xfrm>
          <a:prstGeom prst="line">
            <a:avLst/>
          </a:prstGeom>
          <a:noFill/>
          <a:ln w="31750">
            <a:solidFill>
              <a:srgbClr val="FF0000"/>
            </a:solidFill>
            <a:round/>
            <a:headEnd/>
            <a:tailEnd/>
          </a:ln>
        </p:spPr>
        <p:txBody>
          <a:bodyPr/>
          <a:lstStyle/>
          <a:p>
            <a:endParaRPr lang="fr-CA"/>
          </a:p>
        </p:txBody>
      </p:sp>
      <p:sp>
        <p:nvSpPr>
          <p:cNvPr id="16421" name="Line 38"/>
          <p:cNvSpPr>
            <a:spLocks noChangeShapeType="1"/>
          </p:cNvSpPr>
          <p:nvPr/>
        </p:nvSpPr>
        <p:spPr bwMode="auto">
          <a:xfrm>
            <a:off x="6467475" y="4205897"/>
            <a:ext cx="679450" cy="1201738"/>
          </a:xfrm>
          <a:prstGeom prst="line">
            <a:avLst/>
          </a:prstGeom>
          <a:noFill/>
          <a:ln w="31750">
            <a:solidFill>
              <a:srgbClr val="FF0000"/>
            </a:solidFill>
            <a:round/>
            <a:headEnd/>
            <a:tailEnd/>
          </a:ln>
        </p:spPr>
        <p:txBody>
          <a:bodyPr/>
          <a:lstStyle/>
          <a:p>
            <a:endParaRPr lang="fr-CA"/>
          </a:p>
        </p:txBody>
      </p:sp>
      <p:sp>
        <p:nvSpPr>
          <p:cNvPr id="16409" name="Text Box 39"/>
          <p:cNvSpPr txBox="1">
            <a:spLocks noChangeArrowheads="1"/>
          </p:cNvSpPr>
          <p:nvPr/>
        </p:nvSpPr>
        <p:spPr bwMode="auto">
          <a:xfrm>
            <a:off x="5276850" y="2378687"/>
            <a:ext cx="871538" cy="366712"/>
          </a:xfrm>
          <a:prstGeom prst="rect">
            <a:avLst/>
          </a:prstGeom>
          <a:noFill/>
          <a:ln w="9525">
            <a:noFill/>
            <a:miter lim="800000"/>
            <a:headEnd/>
            <a:tailEnd/>
          </a:ln>
        </p:spPr>
        <p:txBody>
          <a:bodyPr wrap="none">
            <a:spAutoFit/>
          </a:bodyPr>
          <a:lstStyle/>
          <a:p>
            <a:pPr eaLnBrk="0" hangingPunct="0"/>
            <a:r>
              <a:rPr lang="en-US">
                <a:solidFill>
                  <a:srgbClr val="3333FF"/>
                </a:solidFill>
              </a:rPr>
              <a:t>[</a:t>
            </a:r>
            <a:r>
              <a:rPr lang="fr-CA">
                <a:solidFill>
                  <a:srgbClr val="3333FF"/>
                </a:solidFill>
              </a:rPr>
              <a:t>Ca</a:t>
            </a:r>
            <a:r>
              <a:rPr lang="fr-CA" baseline="30000">
                <a:solidFill>
                  <a:srgbClr val="3333FF"/>
                </a:solidFill>
              </a:rPr>
              <a:t>2+</a:t>
            </a:r>
            <a:r>
              <a:rPr lang="en-US">
                <a:solidFill>
                  <a:srgbClr val="3333FF"/>
                </a:solidFill>
              </a:rPr>
              <a:t>]</a:t>
            </a:r>
            <a:r>
              <a:rPr lang="en-US" baseline="-20000">
                <a:solidFill>
                  <a:srgbClr val="3333FF"/>
                </a:solidFill>
              </a:rPr>
              <a:t>in</a:t>
            </a:r>
          </a:p>
        </p:txBody>
      </p:sp>
      <p:sp>
        <p:nvSpPr>
          <p:cNvPr id="525353" name="Text Box 41"/>
          <p:cNvSpPr txBox="1">
            <a:spLocks noChangeArrowheads="1"/>
          </p:cNvSpPr>
          <p:nvPr/>
        </p:nvSpPr>
        <p:spPr bwMode="auto">
          <a:xfrm>
            <a:off x="4185062" y="4910747"/>
            <a:ext cx="592138" cy="641350"/>
          </a:xfrm>
          <a:prstGeom prst="rect">
            <a:avLst/>
          </a:prstGeom>
          <a:noFill/>
          <a:ln w="9525">
            <a:noFill/>
            <a:miter lim="800000"/>
            <a:headEnd/>
            <a:tailEnd/>
          </a:ln>
        </p:spPr>
        <p:txBody>
          <a:bodyPr wrap="none">
            <a:spAutoFit/>
          </a:bodyPr>
          <a:lstStyle/>
          <a:p>
            <a:pPr eaLnBrk="0" hangingPunct="0"/>
            <a:r>
              <a:rPr lang="en-US" sz="3600">
                <a:solidFill>
                  <a:srgbClr val="FF0000"/>
                </a:solidFill>
                <a:sym typeface="Wingdings" pitchFamily="2" charset="2"/>
              </a:rPr>
              <a:t></a:t>
            </a:r>
            <a:endParaRPr lang="en-US">
              <a:solidFill>
                <a:srgbClr val="3333FF"/>
              </a:solidFill>
              <a:sym typeface="Wingdings" pitchFamily="2" charset="2"/>
            </a:endParaRPr>
          </a:p>
        </p:txBody>
      </p:sp>
      <p:sp>
        <p:nvSpPr>
          <p:cNvPr id="525355" name="Text Box 43"/>
          <p:cNvSpPr txBox="1">
            <a:spLocks noChangeArrowheads="1"/>
          </p:cNvSpPr>
          <p:nvPr/>
        </p:nvSpPr>
        <p:spPr bwMode="auto">
          <a:xfrm>
            <a:off x="7451725" y="5029553"/>
            <a:ext cx="1692275" cy="641350"/>
          </a:xfrm>
          <a:prstGeom prst="rect">
            <a:avLst/>
          </a:prstGeom>
          <a:noFill/>
          <a:ln w="9525">
            <a:noFill/>
            <a:miter lim="800000"/>
            <a:headEnd/>
            <a:tailEnd/>
          </a:ln>
        </p:spPr>
        <p:txBody>
          <a:bodyPr wrap="none">
            <a:spAutoFit/>
          </a:bodyPr>
          <a:lstStyle/>
          <a:p>
            <a:pPr eaLnBrk="0" hangingPunct="0"/>
            <a:r>
              <a:rPr lang="en-US" sz="3600" dirty="0">
                <a:solidFill>
                  <a:srgbClr val="3333FF"/>
                </a:solidFill>
              </a:rPr>
              <a:t>[</a:t>
            </a:r>
            <a:r>
              <a:rPr lang="fr-CA" sz="3600" dirty="0">
                <a:solidFill>
                  <a:srgbClr val="3333FF"/>
                </a:solidFill>
              </a:rPr>
              <a:t>Ca</a:t>
            </a:r>
            <a:r>
              <a:rPr lang="fr-CA" sz="3600" baseline="30000" dirty="0">
                <a:solidFill>
                  <a:srgbClr val="3333FF"/>
                </a:solidFill>
              </a:rPr>
              <a:t>2+</a:t>
            </a:r>
            <a:r>
              <a:rPr lang="en-US" sz="3600" dirty="0">
                <a:solidFill>
                  <a:srgbClr val="3333FF"/>
                </a:solidFill>
              </a:rPr>
              <a:t>]</a:t>
            </a:r>
            <a:r>
              <a:rPr lang="en-US" sz="3600" baseline="-20000" dirty="0">
                <a:solidFill>
                  <a:srgbClr val="3333FF"/>
                </a:solidFill>
              </a:rPr>
              <a:t>ext</a:t>
            </a:r>
          </a:p>
        </p:txBody>
      </p:sp>
      <p:sp>
        <p:nvSpPr>
          <p:cNvPr id="525356" name="Text Box 44"/>
          <p:cNvSpPr txBox="1">
            <a:spLocks noChangeArrowheads="1"/>
          </p:cNvSpPr>
          <p:nvPr/>
        </p:nvSpPr>
        <p:spPr bwMode="auto">
          <a:xfrm>
            <a:off x="4697825" y="4901222"/>
            <a:ext cx="1557337" cy="641350"/>
          </a:xfrm>
          <a:prstGeom prst="rect">
            <a:avLst/>
          </a:prstGeom>
          <a:noFill/>
          <a:ln w="9525">
            <a:noFill/>
            <a:miter lim="800000"/>
            <a:headEnd/>
            <a:tailEnd/>
          </a:ln>
        </p:spPr>
        <p:txBody>
          <a:bodyPr wrap="none">
            <a:spAutoFit/>
          </a:bodyPr>
          <a:lstStyle/>
          <a:p>
            <a:pPr eaLnBrk="0" hangingPunct="0"/>
            <a:r>
              <a:rPr lang="en-US" sz="3600" dirty="0">
                <a:solidFill>
                  <a:srgbClr val="3333FF"/>
                </a:solidFill>
              </a:rPr>
              <a:t>[</a:t>
            </a:r>
            <a:r>
              <a:rPr lang="fr-CA" sz="3600" dirty="0">
                <a:solidFill>
                  <a:srgbClr val="3333FF"/>
                </a:solidFill>
              </a:rPr>
              <a:t>Ca</a:t>
            </a:r>
            <a:r>
              <a:rPr lang="fr-CA" sz="3600" baseline="30000" dirty="0">
                <a:solidFill>
                  <a:srgbClr val="3333FF"/>
                </a:solidFill>
              </a:rPr>
              <a:t>2+</a:t>
            </a:r>
            <a:r>
              <a:rPr lang="en-US" sz="3600" dirty="0">
                <a:solidFill>
                  <a:srgbClr val="3333FF"/>
                </a:solidFill>
              </a:rPr>
              <a:t>]</a:t>
            </a:r>
            <a:r>
              <a:rPr lang="en-US" sz="3600" baseline="-20000" dirty="0">
                <a:solidFill>
                  <a:srgbClr val="3333FF"/>
                </a:solidFill>
              </a:rPr>
              <a:t>in</a:t>
            </a:r>
          </a:p>
        </p:txBody>
      </p:sp>
      <p:sp>
        <p:nvSpPr>
          <p:cNvPr id="525340" name="Text Box 28"/>
          <p:cNvSpPr txBox="1">
            <a:spLocks noChangeArrowheads="1"/>
          </p:cNvSpPr>
          <p:nvPr/>
        </p:nvSpPr>
        <p:spPr bwMode="auto">
          <a:xfrm>
            <a:off x="4321175" y="4020160"/>
            <a:ext cx="1895475" cy="641350"/>
          </a:xfrm>
          <a:prstGeom prst="rect">
            <a:avLst/>
          </a:prstGeom>
          <a:noFill/>
          <a:ln w="9525">
            <a:noFill/>
            <a:miter lim="800000"/>
            <a:headEnd/>
            <a:tailEnd/>
          </a:ln>
        </p:spPr>
        <p:txBody>
          <a:bodyPr wrap="none">
            <a:spAutoFit/>
          </a:bodyPr>
          <a:lstStyle/>
          <a:p>
            <a:pPr eaLnBrk="0" hangingPunct="0"/>
            <a:r>
              <a:rPr lang="en-US" sz="3600" dirty="0">
                <a:solidFill>
                  <a:srgbClr val="FF0000"/>
                </a:solidFill>
                <a:sym typeface="Wingdings" pitchFamily="2" charset="2"/>
              </a:rPr>
              <a:t></a:t>
            </a:r>
            <a:r>
              <a:rPr lang="en-US" dirty="0">
                <a:solidFill>
                  <a:srgbClr val="3333FF"/>
                </a:solidFill>
                <a:sym typeface="Wingdings" pitchFamily="2" charset="2"/>
              </a:rPr>
              <a:t> </a:t>
            </a:r>
            <a:r>
              <a:rPr lang="en-US" sz="3600" dirty="0">
                <a:solidFill>
                  <a:srgbClr val="3333FF"/>
                </a:solidFill>
              </a:rPr>
              <a:t>[</a:t>
            </a:r>
            <a:r>
              <a:rPr lang="fr-CA" sz="3600" dirty="0">
                <a:solidFill>
                  <a:srgbClr val="3333FF"/>
                </a:solidFill>
              </a:rPr>
              <a:t>Na</a:t>
            </a:r>
            <a:r>
              <a:rPr lang="fr-CA" sz="3600" baseline="30000" dirty="0">
                <a:solidFill>
                  <a:srgbClr val="3333FF"/>
                </a:solidFill>
              </a:rPr>
              <a:t>+</a:t>
            </a:r>
            <a:r>
              <a:rPr lang="en-US" sz="3600" dirty="0">
                <a:solidFill>
                  <a:srgbClr val="3333FF"/>
                </a:solidFill>
              </a:rPr>
              <a:t>]</a:t>
            </a:r>
            <a:r>
              <a:rPr lang="en-US" sz="3600" baseline="-20000" dirty="0">
                <a:solidFill>
                  <a:srgbClr val="3333FF"/>
                </a:solidFill>
              </a:rPr>
              <a:t>in</a:t>
            </a:r>
          </a:p>
        </p:txBody>
      </p:sp>
      <p:sp>
        <p:nvSpPr>
          <p:cNvPr id="525341" name="Text Box 29"/>
          <p:cNvSpPr txBox="1">
            <a:spLocks noChangeArrowheads="1"/>
          </p:cNvSpPr>
          <p:nvPr/>
        </p:nvSpPr>
        <p:spPr bwMode="auto">
          <a:xfrm>
            <a:off x="7342188" y="3978885"/>
            <a:ext cx="1565275" cy="641350"/>
          </a:xfrm>
          <a:prstGeom prst="rect">
            <a:avLst/>
          </a:prstGeom>
          <a:noFill/>
          <a:ln w="9525">
            <a:noFill/>
            <a:miter lim="800000"/>
            <a:headEnd/>
            <a:tailEnd/>
          </a:ln>
        </p:spPr>
        <p:txBody>
          <a:bodyPr wrap="none">
            <a:spAutoFit/>
          </a:bodyPr>
          <a:lstStyle/>
          <a:p>
            <a:pPr eaLnBrk="0" hangingPunct="0"/>
            <a:r>
              <a:rPr lang="en-US" sz="3600" dirty="0">
                <a:solidFill>
                  <a:srgbClr val="3333FF"/>
                </a:solidFill>
              </a:rPr>
              <a:t>[</a:t>
            </a:r>
            <a:r>
              <a:rPr lang="fr-CA" sz="3600" dirty="0">
                <a:solidFill>
                  <a:srgbClr val="3333FF"/>
                </a:solidFill>
              </a:rPr>
              <a:t>Na</a:t>
            </a:r>
            <a:r>
              <a:rPr lang="fr-CA" sz="3600" baseline="30000" dirty="0">
                <a:solidFill>
                  <a:srgbClr val="3333FF"/>
                </a:solidFill>
              </a:rPr>
              <a:t>+</a:t>
            </a:r>
            <a:r>
              <a:rPr lang="en-US" sz="3600" dirty="0">
                <a:solidFill>
                  <a:srgbClr val="3333FF"/>
                </a:solidFill>
              </a:rPr>
              <a:t>]</a:t>
            </a:r>
            <a:r>
              <a:rPr lang="en-US" sz="3600" baseline="-20000" dirty="0">
                <a:solidFill>
                  <a:srgbClr val="3333FF"/>
                </a:solidFill>
              </a:rPr>
              <a:t>ext</a:t>
            </a:r>
          </a:p>
        </p:txBody>
      </p:sp>
      <p:sp>
        <p:nvSpPr>
          <p:cNvPr id="525359" name="Text Box 47"/>
          <p:cNvSpPr txBox="1">
            <a:spLocks noChangeArrowheads="1"/>
          </p:cNvSpPr>
          <p:nvPr/>
        </p:nvSpPr>
        <p:spPr bwMode="auto">
          <a:xfrm>
            <a:off x="4559533" y="3336888"/>
            <a:ext cx="3544888" cy="427037"/>
          </a:xfrm>
          <a:prstGeom prst="rect">
            <a:avLst/>
          </a:prstGeom>
          <a:noFill/>
          <a:ln w="9525">
            <a:noFill/>
            <a:miter lim="800000"/>
            <a:headEnd/>
            <a:tailEnd/>
          </a:ln>
        </p:spPr>
        <p:txBody>
          <a:bodyPr>
            <a:spAutoFit/>
          </a:bodyPr>
          <a:lstStyle/>
          <a:p>
            <a:pPr eaLnBrk="0" hangingPunct="0"/>
            <a:r>
              <a:rPr lang="fr-CA" sz="2200" b="1" dirty="0">
                <a:solidFill>
                  <a:srgbClr val="FF0000"/>
                </a:solidFill>
                <a:latin typeface="Arial" charset="0"/>
                <a:sym typeface="Wingdings" pitchFamily="2" charset="2"/>
              </a:rPr>
              <a:t>  [Ca</a:t>
            </a:r>
            <a:r>
              <a:rPr lang="fr-CA" sz="2200" b="1" baseline="30000" dirty="0">
                <a:solidFill>
                  <a:srgbClr val="FF0000"/>
                </a:solidFill>
                <a:latin typeface="Arial" charset="0"/>
                <a:sym typeface="Wingdings" pitchFamily="2" charset="2"/>
              </a:rPr>
              <a:t>2+</a:t>
            </a:r>
            <a:r>
              <a:rPr lang="fr-CA" sz="2200" b="1" dirty="0">
                <a:solidFill>
                  <a:srgbClr val="FF0000"/>
                </a:solidFill>
                <a:latin typeface="Arial" charset="0"/>
                <a:sym typeface="Wingdings" pitchFamily="2" charset="2"/>
              </a:rPr>
              <a:t>] intracellulaire </a:t>
            </a:r>
          </a:p>
        </p:txBody>
      </p:sp>
      <p:sp>
        <p:nvSpPr>
          <p:cNvPr id="48" name="AutoShape 33"/>
          <p:cNvSpPr>
            <a:spLocks noChangeArrowheads="1"/>
          </p:cNvSpPr>
          <p:nvPr/>
        </p:nvSpPr>
        <p:spPr bwMode="auto">
          <a:xfrm>
            <a:off x="2865486" y="1995996"/>
            <a:ext cx="600075" cy="354013"/>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60000 65536"/>
              <a:gd name="T13" fmla="*/ 0 60000 65536"/>
              <a:gd name="T14" fmla="*/ 0 60000 65536"/>
              <a:gd name="T15" fmla="*/ 0 60000 65536"/>
              <a:gd name="T16" fmla="*/ 0 60000 65536"/>
              <a:gd name="T17" fmla="*/ 0 60000 65536"/>
              <a:gd name="T18" fmla="*/ 3143 w 21600"/>
              <a:gd name="T19" fmla="*/ 3196 h 21600"/>
              <a:gd name="T20" fmla="*/ 18457 w 21600"/>
              <a:gd name="T21" fmla="*/ 18404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0042" y="26"/>
                </a:moveTo>
                <a:cubicBezTo>
                  <a:pt x="4385" y="424"/>
                  <a:pt x="0" y="5129"/>
                  <a:pt x="0" y="10799"/>
                </a:cubicBezTo>
                <a:cubicBezTo>
                  <a:pt x="0" y="16764"/>
                  <a:pt x="4835" y="21600"/>
                  <a:pt x="10800" y="21600"/>
                </a:cubicBezTo>
                <a:cubicBezTo>
                  <a:pt x="10895" y="21600"/>
                  <a:pt x="10990" y="21598"/>
                  <a:pt x="11085" y="21596"/>
                </a:cubicBezTo>
                <a:cubicBezTo>
                  <a:pt x="10990" y="21598"/>
                  <a:pt x="10895" y="21599"/>
                  <a:pt x="10800" y="21600"/>
                </a:cubicBezTo>
                <a:cubicBezTo>
                  <a:pt x="4835" y="21600"/>
                  <a:pt x="0" y="16764"/>
                  <a:pt x="0" y="10800"/>
                </a:cubicBezTo>
                <a:cubicBezTo>
                  <a:pt x="-1" y="5129"/>
                  <a:pt x="4385" y="424"/>
                  <a:pt x="10042" y="26"/>
                </a:cubicBezTo>
                <a:lnTo>
                  <a:pt x="9853" y="-2667"/>
                </a:lnTo>
                <a:lnTo>
                  <a:pt x="12735" y="-164"/>
                </a:lnTo>
                <a:lnTo>
                  <a:pt x="10232" y="2719"/>
                </a:lnTo>
                <a:lnTo>
                  <a:pt x="10042" y="26"/>
                </a:lnTo>
                <a:close/>
              </a:path>
            </a:pathLst>
          </a:custGeom>
          <a:solidFill>
            <a:schemeClr val="accent1"/>
          </a:solidFill>
          <a:ln w="25400">
            <a:solidFill>
              <a:srgbClr val="0000FF"/>
            </a:solidFill>
            <a:miter lim="800000"/>
            <a:headEnd/>
            <a:tailEnd/>
          </a:ln>
        </p:spPr>
        <p:txBody>
          <a:bodyPr wrap="none" anchor="ctr"/>
          <a:lstStyle/>
          <a:p>
            <a:endParaRPr lang="fr-CA"/>
          </a:p>
        </p:txBody>
      </p:sp>
      <p:sp>
        <p:nvSpPr>
          <p:cNvPr id="49" name="Line 31"/>
          <p:cNvSpPr>
            <a:spLocks noChangeShapeType="1"/>
          </p:cNvSpPr>
          <p:nvPr/>
        </p:nvSpPr>
        <p:spPr bwMode="auto">
          <a:xfrm flipV="1">
            <a:off x="6080381" y="1409083"/>
            <a:ext cx="1241425" cy="0"/>
          </a:xfrm>
          <a:prstGeom prst="line">
            <a:avLst/>
          </a:prstGeom>
          <a:noFill/>
          <a:ln w="25400">
            <a:solidFill>
              <a:srgbClr val="0000FF"/>
            </a:solidFill>
            <a:round/>
            <a:headEnd type="stealth" w="lg" len="lg"/>
            <a:tailEnd/>
          </a:ln>
        </p:spPr>
        <p:txBody>
          <a:bodyPr/>
          <a:lstStyle/>
          <a:p>
            <a:endParaRPr lang="fr-CA"/>
          </a:p>
        </p:txBody>
      </p:sp>
      <p:sp>
        <p:nvSpPr>
          <p:cNvPr id="50" name="Line 31"/>
          <p:cNvSpPr>
            <a:spLocks noChangeShapeType="1"/>
          </p:cNvSpPr>
          <p:nvPr/>
        </p:nvSpPr>
        <p:spPr bwMode="auto">
          <a:xfrm flipV="1">
            <a:off x="6136916" y="4087244"/>
            <a:ext cx="1241425" cy="0"/>
          </a:xfrm>
          <a:prstGeom prst="line">
            <a:avLst/>
          </a:prstGeom>
          <a:noFill/>
          <a:ln w="25400">
            <a:solidFill>
              <a:srgbClr val="0000FF"/>
            </a:solidFill>
            <a:round/>
            <a:headEnd type="stealth" w="lg" len="lg"/>
            <a:tailEnd/>
          </a:ln>
        </p:spPr>
        <p:txBody>
          <a:bodyPr/>
          <a:lstStyle/>
          <a:p>
            <a:endParaRPr lang="fr-CA"/>
          </a:p>
        </p:txBody>
      </p:sp>
      <p:sp>
        <p:nvSpPr>
          <p:cNvPr id="53" name="Line 31"/>
          <p:cNvSpPr>
            <a:spLocks noChangeShapeType="1"/>
          </p:cNvSpPr>
          <p:nvPr/>
        </p:nvSpPr>
        <p:spPr bwMode="auto">
          <a:xfrm flipV="1">
            <a:off x="6070549" y="2815096"/>
            <a:ext cx="1241425" cy="0"/>
          </a:xfrm>
          <a:prstGeom prst="line">
            <a:avLst/>
          </a:prstGeom>
          <a:noFill/>
          <a:ln w="25400">
            <a:solidFill>
              <a:srgbClr val="0000FF"/>
            </a:solidFill>
            <a:round/>
            <a:headEnd type="stealth" w="lg" len="lg"/>
            <a:tailEnd/>
          </a:ln>
        </p:spPr>
        <p:txBody>
          <a:bodyPr/>
          <a:lstStyle/>
          <a:p>
            <a:endParaRPr lang="fr-CA"/>
          </a:p>
        </p:txBody>
      </p:sp>
      <p:sp>
        <p:nvSpPr>
          <p:cNvPr id="54" name="Line 31"/>
          <p:cNvSpPr>
            <a:spLocks noChangeShapeType="1"/>
          </p:cNvSpPr>
          <p:nvPr/>
        </p:nvSpPr>
        <p:spPr bwMode="auto">
          <a:xfrm flipV="1">
            <a:off x="6193455" y="5515380"/>
            <a:ext cx="1241425" cy="0"/>
          </a:xfrm>
          <a:prstGeom prst="line">
            <a:avLst/>
          </a:prstGeom>
          <a:noFill/>
          <a:ln w="25400">
            <a:solidFill>
              <a:srgbClr val="0000FF"/>
            </a:solidFill>
            <a:round/>
            <a:headEnd type="stealth" w="lg" len="lg"/>
            <a:tailEnd/>
          </a:ln>
        </p:spPr>
        <p:txBody>
          <a:bodyPr/>
          <a:lstStyle/>
          <a:p>
            <a:endParaRPr lang="fr-CA"/>
          </a:p>
        </p:txBody>
      </p:sp>
      <p:sp>
        <p:nvSpPr>
          <p:cNvPr id="51" name="Text Box 51"/>
          <p:cNvSpPr txBox="1">
            <a:spLocks noChangeArrowheads="1"/>
          </p:cNvSpPr>
          <p:nvPr/>
        </p:nvSpPr>
        <p:spPr bwMode="auto">
          <a:xfrm>
            <a:off x="415803" y="5888233"/>
            <a:ext cx="8491660" cy="584775"/>
          </a:xfrm>
          <a:prstGeom prst="rect">
            <a:avLst/>
          </a:prstGeom>
          <a:noFill/>
          <a:ln w="9525">
            <a:solidFill>
              <a:srgbClr val="FF0000"/>
            </a:solidFill>
            <a:miter lim="800000"/>
            <a:headEnd/>
            <a:tailEnd/>
          </a:ln>
        </p:spPr>
        <p:txBody>
          <a:bodyPr wrap="square" lIns="45720" rIns="45720">
            <a:spAutoFit/>
          </a:bodyPr>
          <a:lstStyle/>
          <a:p>
            <a:pPr eaLnBrk="0" hangingPunct="0"/>
            <a:r>
              <a:rPr lang="fr-CA" sz="1600" dirty="0">
                <a:solidFill>
                  <a:srgbClr val="FF0000"/>
                </a:solidFill>
                <a:latin typeface="Calibri" panose="020F0502020204030204" pitchFamily="34" charset="0"/>
              </a:rPr>
              <a:t>Les ions H</a:t>
            </a:r>
            <a:r>
              <a:rPr lang="fr-CA" sz="1600" baseline="30000" dirty="0">
                <a:solidFill>
                  <a:srgbClr val="FF0000"/>
                </a:solidFill>
                <a:latin typeface="Calibri" panose="020F0502020204030204" pitchFamily="34" charset="0"/>
              </a:rPr>
              <a:t>+</a:t>
            </a:r>
            <a:r>
              <a:rPr lang="fr-CA" sz="1600" dirty="0">
                <a:solidFill>
                  <a:srgbClr val="FF0000"/>
                </a:solidFill>
                <a:latin typeface="Calibri" panose="020F0502020204030204" pitchFamily="34" charset="0"/>
              </a:rPr>
              <a:t> de la majorité des cellules sont activement expulsés par l’antiport Na-H. Que deviendrait le pH intracellulaire dans le cas d’une inhibition de la pompe Na-K ?</a:t>
            </a:r>
            <a:endParaRPr lang="en-US" sz="1600" dirty="0">
              <a:solidFill>
                <a:srgbClr val="FF0000"/>
              </a:solidFill>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2532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2534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2535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4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4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41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2533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42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43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2534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64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642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2535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2535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525359"/>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51"/>
                                        </p:tgtEl>
                                        <p:attrNameLst>
                                          <p:attrName>style.visibility</p:attrName>
                                        </p:attrNameLst>
                                      </p:cBhvr>
                                      <p:to>
                                        <p:strVal val="visible"/>
                                      </p:to>
                                    </p:set>
                                    <p:anim calcmode="lin" valueType="num">
                                      <p:cBhvr additive="base">
                                        <p:cTn id="53" dur="500" fill="hold"/>
                                        <p:tgtEl>
                                          <p:spTgt spid="51"/>
                                        </p:tgtEl>
                                        <p:attrNameLst>
                                          <p:attrName>ppt_x</p:attrName>
                                        </p:attrNameLst>
                                      </p:cBhvr>
                                      <p:tavLst>
                                        <p:tav tm="0">
                                          <p:val>
                                            <p:strVal val="#ppt_x"/>
                                          </p:val>
                                        </p:tav>
                                        <p:tav tm="100000">
                                          <p:val>
                                            <p:strVal val="#ppt_x"/>
                                          </p:val>
                                        </p:tav>
                                      </p:tavLst>
                                    </p:anim>
                                    <p:anim calcmode="lin" valueType="num">
                                      <p:cBhvr additive="base">
                                        <p:cTn id="54"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5329" grpId="0"/>
      <p:bldP spid="525337" grpId="0"/>
      <p:bldP spid="16429" grpId="0" animBg="1"/>
      <p:bldP spid="16430" grpId="0" animBg="1"/>
      <p:bldP spid="16417" grpId="0" animBg="1"/>
      <p:bldP spid="16418" grpId="0" animBg="1"/>
      <p:bldP spid="16419" grpId="0" animBg="1"/>
      <p:bldP spid="16420" grpId="0" animBg="1"/>
      <p:bldP spid="16421" grpId="0" animBg="1"/>
      <p:bldP spid="525353" grpId="0"/>
      <p:bldP spid="525355" grpId="0"/>
      <p:bldP spid="525356" grpId="0"/>
      <p:bldP spid="525340" grpId="0"/>
      <p:bldP spid="525341" grpId="0"/>
      <p:bldP spid="525359" grpId="0"/>
      <p:bldP spid="50" grpId="0" animBg="1"/>
      <p:bldP spid="54" grpId="0" animBg="1"/>
      <p:bldP spid="51"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5"/>
          <p:cNvSpPr>
            <a:spLocks noChangeArrowheads="1"/>
          </p:cNvSpPr>
          <p:nvPr/>
        </p:nvSpPr>
        <p:spPr bwMode="auto">
          <a:xfrm>
            <a:off x="215379" y="149021"/>
            <a:ext cx="6653212" cy="523220"/>
          </a:xfrm>
          <a:prstGeom prst="rect">
            <a:avLst/>
          </a:prstGeom>
          <a:noFill/>
          <a:ln w="9525">
            <a:noFill/>
            <a:miter lim="800000"/>
            <a:headEnd/>
            <a:tailEnd/>
          </a:ln>
        </p:spPr>
        <p:txBody>
          <a:bodyPr wrap="square">
            <a:spAutoFit/>
          </a:bodyPr>
          <a:lstStyle/>
          <a:p>
            <a:pPr marL="990600" indent="-990600" eaLnBrk="0" hangingPunct="0"/>
            <a:r>
              <a:rPr lang="fr-FR" sz="2800" b="1" dirty="0">
                <a:solidFill>
                  <a:schemeClr val="accent2"/>
                </a:solidFill>
                <a:latin typeface="Arial" charset="0"/>
              </a:rPr>
              <a:t>2.2.5	</a:t>
            </a:r>
            <a:r>
              <a:rPr lang="fr-FR" sz="2800" b="1" u="sng" dirty="0">
                <a:solidFill>
                  <a:schemeClr val="accent2"/>
                </a:solidFill>
                <a:latin typeface="Arial" charset="0"/>
              </a:rPr>
              <a:t>Les transports vésiculaires</a:t>
            </a:r>
            <a:endParaRPr lang="en-US" sz="2800" i="1" dirty="0">
              <a:solidFill>
                <a:schemeClr val="accent2"/>
              </a:solidFill>
              <a:latin typeface="Arial" charset="0"/>
            </a:endParaRPr>
          </a:p>
        </p:txBody>
      </p:sp>
      <p:sp>
        <p:nvSpPr>
          <p:cNvPr id="18436" name="Rectangle 6"/>
          <p:cNvSpPr>
            <a:spLocks noChangeArrowheads="1"/>
          </p:cNvSpPr>
          <p:nvPr/>
        </p:nvSpPr>
        <p:spPr bwMode="auto">
          <a:xfrm>
            <a:off x="1216873" y="672241"/>
            <a:ext cx="7583178" cy="2954655"/>
          </a:xfrm>
          <a:prstGeom prst="rect">
            <a:avLst/>
          </a:prstGeom>
          <a:noFill/>
          <a:ln w="9525">
            <a:noFill/>
            <a:miter lim="800000"/>
            <a:headEnd/>
            <a:tailEnd/>
          </a:ln>
        </p:spPr>
        <p:txBody>
          <a:bodyPr wrap="square" anchor="ctr">
            <a:spAutoFit/>
          </a:bodyPr>
          <a:lstStyle/>
          <a:p>
            <a:pPr eaLnBrk="0" hangingPunct="0">
              <a:spcBef>
                <a:spcPct val="25000"/>
              </a:spcBef>
              <a:spcAft>
                <a:spcPts val="600"/>
              </a:spcAft>
            </a:pPr>
            <a:r>
              <a:rPr lang="fr-FR" sz="2200" b="1" dirty="0">
                <a:solidFill>
                  <a:schemeClr val="accent2"/>
                </a:solidFill>
                <a:latin typeface="Arial" charset="0"/>
              </a:rPr>
              <a:t>i) </a:t>
            </a:r>
            <a:r>
              <a:rPr lang="fr-FR" sz="2200" b="1" u="sng" dirty="0">
                <a:solidFill>
                  <a:schemeClr val="accent2"/>
                </a:solidFill>
                <a:latin typeface="Arial" charset="0"/>
              </a:rPr>
              <a:t>Caractéristiques générales</a:t>
            </a:r>
            <a:r>
              <a:rPr lang="fr-FR" sz="2200" b="1" dirty="0">
                <a:solidFill>
                  <a:schemeClr val="accent2"/>
                </a:solidFill>
                <a:latin typeface="Arial" charset="0"/>
              </a:rPr>
              <a:t> : </a:t>
            </a:r>
          </a:p>
          <a:p>
            <a:pPr marL="717550" indent="-365125" eaLnBrk="0" hangingPunct="0">
              <a:spcBef>
                <a:spcPts val="600"/>
              </a:spcBef>
              <a:buFont typeface="Wingdings" panose="05000000000000000000" pitchFamily="2" charset="2"/>
              <a:buChar char=""/>
            </a:pPr>
            <a:r>
              <a:rPr lang="fr-FR" sz="2000" dirty="0">
                <a:latin typeface="Arial" charset="0"/>
              </a:rPr>
              <a:t>Utilisés pour le transport de grosses molécules, particules et liquides à travers les membranes plasmiques.</a:t>
            </a:r>
            <a:endParaRPr lang="en-US" sz="2000" dirty="0">
              <a:latin typeface="Arial" charset="0"/>
            </a:endParaRPr>
          </a:p>
          <a:p>
            <a:pPr marL="717550" indent="-365125" eaLnBrk="0" hangingPunct="0">
              <a:spcBef>
                <a:spcPct val="25000"/>
              </a:spcBef>
              <a:buFont typeface="Wingdings" panose="05000000000000000000" pitchFamily="2" charset="2"/>
              <a:buChar char=""/>
            </a:pPr>
            <a:r>
              <a:rPr lang="fr-CA" sz="2000" dirty="0">
                <a:latin typeface="Arial" charset="0"/>
              </a:rPr>
              <a:t>Mécanismes </a:t>
            </a:r>
            <a:r>
              <a:rPr lang="fr-CA" sz="2000" u="sng" dirty="0">
                <a:latin typeface="Arial" charset="0"/>
              </a:rPr>
              <a:t>actifs</a:t>
            </a:r>
            <a:r>
              <a:rPr lang="fr-CA" sz="2000" dirty="0">
                <a:latin typeface="Arial" charset="0"/>
              </a:rPr>
              <a:t> : utilisent de l’</a:t>
            </a:r>
            <a:r>
              <a:rPr lang="fr-CA" sz="2000" u="sng" dirty="0">
                <a:latin typeface="Arial" charset="0"/>
              </a:rPr>
              <a:t>ATP</a:t>
            </a:r>
            <a:r>
              <a:rPr lang="fr-CA" sz="2000" dirty="0">
                <a:latin typeface="Arial" charset="0"/>
              </a:rPr>
              <a:t> comme source d’énergie</a:t>
            </a:r>
            <a:endParaRPr lang="en-US" sz="2000" dirty="0">
              <a:latin typeface="Arial" charset="0"/>
            </a:endParaRPr>
          </a:p>
          <a:p>
            <a:pPr marL="717550" indent="-365125" eaLnBrk="0" hangingPunct="0">
              <a:spcBef>
                <a:spcPct val="25000"/>
              </a:spcBef>
              <a:buFont typeface="Wingdings" panose="05000000000000000000" pitchFamily="2" charset="2"/>
              <a:buChar char=""/>
            </a:pPr>
            <a:r>
              <a:rPr lang="en-CA" sz="2000" dirty="0">
                <a:latin typeface="Arial" charset="0"/>
              </a:rPr>
              <a:t>2 </a:t>
            </a:r>
            <a:r>
              <a:rPr lang="en-CA" sz="2000" dirty="0" err="1">
                <a:latin typeface="Arial" charset="0"/>
              </a:rPr>
              <a:t>principaux</a:t>
            </a:r>
            <a:r>
              <a:rPr lang="en-CA" sz="2000" dirty="0">
                <a:latin typeface="Arial" charset="0"/>
              </a:rPr>
              <a:t> types :</a:t>
            </a:r>
          </a:p>
          <a:p>
            <a:pPr marL="900113" lvl="1" indent="-173038" eaLnBrk="0" hangingPunct="0">
              <a:spcBef>
                <a:spcPct val="10000"/>
              </a:spcBef>
              <a:buFontTx/>
              <a:buChar char="•"/>
            </a:pPr>
            <a:r>
              <a:rPr lang="en-CA" sz="2000" b="1" i="1" dirty="0">
                <a:latin typeface="Arial" charset="0"/>
              </a:rPr>
              <a:t>Exocytose</a:t>
            </a:r>
            <a:endParaRPr lang="en-CA" sz="2000" b="1" dirty="0">
              <a:latin typeface="Arial" charset="0"/>
            </a:endParaRPr>
          </a:p>
          <a:p>
            <a:pPr marL="900113" lvl="1" indent="-173038" eaLnBrk="0" hangingPunct="0">
              <a:spcBef>
                <a:spcPct val="10000"/>
              </a:spcBef>
              <a:buFontTx/>
              <a:buChar char="•"/>
            </a:pPr>
            <a:r>
              <a:rPr lang="en-CA" sz="2000" b="1" i="1" dirty="0" err="1">
                <a:latin typeface="Arial" charset="0"/>
              </a:rPr>
              <a:t>Endocytose</a:t>
            </a:r>
            <a:endParaRPr lang="en-CA" sz="2000" b="1" i="1" dirty="0">
              <a:latin typeface="Arial"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ChangeArrowheads="1"/>
          </p:cNvSpPr>
          <p:nvPr/>
        </p:nvSpPr>
        <p:spPr bwMode="auto">
          <a:xfrm>
            <a:off x="256384" y="603168"/>
            <a:ext cx="8824912" cy="815608"/>
          </a:xfrm>
          <a:prstGeom prst="rect">
            <a:avLst/>
          </a:prstGeom>
          <a:noFill/>
          <a:ln w="9525">
            <a:noFill/>
            <a:miter lim="800000"/>
            <a:headEnd/>
            <a:tailEnd/>
          </a:ln>
        </p:spPr>
        <p:txBody>
          <a:bodyPr wrap="square">
            <a:spAutoFit/>
          </a:bodyPr>
          <a:lstStyle/>
          <a:p>
            <a:pPr eaLnBrk="0" hangingPunct="0"/>
            <a:r>
              <a:rPr lang="fr-CA" sz="2400" b="1" dirty="0">
                <a:solidFill>
                  <a:schemeClr val="accent2"/>
                </a:solidFill>
                <a:latin typeface="Arial" charset="0"/>
              </a:rPr>
              <a:t>ii) </a:t>
            </a:r>
            <a:r>
              <a:rPr lang="fr-CA" sz="2400" b="1" i="1" u="sng" dirty="0">
                <a:solidFill>
                  <a:schemeClr val="accent2"/>
                </a:solidFill>
                <a:latin typeface="Arial" charset="0"/>
              </a:rPr>
              <a:t>Exocytose</a:t>
            </a:r>
            <a:r>
              <a:rPr lang="fr-CA" sz="2400" b="1" dirty="0">
                <a:solidFill>
                  <a:schemeClr val="accent2"/>
                </a:solidFill>
                <a:latin typeface="Arial" charset="0"/>
              </a:rPr>
              <a:t> </a:t>
            </a:r>
          </a:p>
          <a:p>
            <a:pPr marL="360363" eaLnBrk="0" hangingPunct="0">
              <a:spcBef>
                <a:spcPts val="600"/>
              </a:spcBef>
            </a:pPr>
            <a:r>
              <a:rPr lang="fr-FR" dirty="0">
                <a:solidFill>
                  <a:srgbClr val="000000"/>
                </a:solidFill>
                <a:effectLst/>
                <a:latin typeface="Arial" panose="020B0604020202020204" pitchFamily="34" charset="0"/>
                <a:ea typeface="Times New Roman" panose="02020603050405020304" pitchFamily="18" charset="0"/>
              </a:rPr>
              <a:t>Mouvement de substances de l’intérieur de la cellule à l’espace extracellulaire.</a:t>
            </a:r>
            <a:endParaRPr lang="en-CA" dirty="0">
              <a:solidFill>
                <a:srgbClr val="000000"/>
              </a:solidFill>
              <a:effectLst/>
              <a:latin typeface="Times New Roman" panose="02020603050405020304" pitchFamily="18" charset="0"/>
              <a:ea typeface="Times New Roman" panose="02020603050405020304" pitchFamily="18" charset="0"/>
            </a:endParaRPr>
          </a:p>
        </p:txBody>
      </p:sp>
      <p:sp>
        <p:nvSpPr>
          <p:cNvPr id="19459" name="Text Box 9"/>
          <p:cNvSpPr txBox="1">
            <a:spLocks noChangeArrowheads="1"/>
          </p:cNvSpPr>
          <p:nvPr/>
        </p:nvSpPr>
        <p:spPr bwMode="auto">
          <a:xfrm>
            <a:off x="428625" y="4466992"/>
            <a:ext cx="1046163" cy="274638"/>
          </a:xfrm>
          <a:prstGeom prst="rect">
            <a:avLst/>
          </a:prstGeom>
          <a:noFill/>
          <a:ln w="9525">
            <a:noFill/>
            <a:miter lim="800000"/>
            <a:headEnd/>
            <a:tailEnd/>
          </a:ln>
        </p:spPr>
        <p:txBody>
          <a:bodyPr wrap="none">
            <a:spAutoFit/>
          </a:bodyPr>
          <a:lstStyle/>
          <a:p>
            <a:pPr eaLnBrk="0" hangingPunct="0"/>
            <a:r>
              <a:rPr lang="fr-CA" sz="1200" b="1" i="1">
                <a:latin typeface="Arial" charset="0"/>
              </a:rPr>
              <a:t>Cytoplasme</a:t>
            </a:r>
            <a:endParaRPr lang="en-US" sz="1200" b="1" i="1">
              <a:latin typeface="Arial" charset="0"/>
            </a:endParaRPr>
          </a:p>
        </p:txBody>
      </p:sp>
      <p:grpSp>
        <p:nvGrpSpPr>
          <p:cNvPr id="19460" name="Group 16"/>
          <p:cNvGrpSpPr>
            <a:grpSpLocks/>
          </p:cNvGrpSpPr>
          <p:nvPr/>
        </p:nvGrpSpPr>
        <p:grpSpPr bwMode="auto">
          <a:xfrm>
            <a:off x="319089" y="1356162"/>
            <a:ext cx="8575675" cy="5287963"/>
            <a:chOff x="189" y="941"/>
            <a:chExt cx="5402" cy="3331"/>
          </a:xfrm>
        </p:grpSpPr>
        <p:pic>
          <p:nvPicPr>
            <p:cNvPr id="19463" name="Picture 5" descr="03-12Exocytosis_LE.jpg"/>
            <p:cNvPicPr>
              <a:picLocks noChangeAspect="1" noChangeArrowheads="1"/>
            </p:cNvPicPr>
            <p:nvPr/>
          </p:nvPicPr>
          <p:blipFill>
            <a:blip r:embed="rId3" cstate="print"/>
            <a:srcRect b="6470"/>
            <a:stretch>
              <a:fillRect/>
            </a:stretch>
          </p:blipFill>
          <p:spPr bwMode="auto">
            <a:xfrm>
              <a:off x="189" y="941"/>
              <a:ext cx="5402" cy="3331"/>
            </a:xfrm>
            <a:prstGeom prst="rect">
              <a:avLst/>
            </a:prstGeom>
            <a:noFill/>
            <a:ln w="9525">
              <a:noFill/>
              <a:miter lim="800000"/>
              <a:headEnd/>
              <a:tailEnd/>
            </a:ln>
          </p:spPr>
        </p:pic>
        <p:sp>
          <p:nvSpPr>
            <p:cNvPr id="19464" name="Text Box 8"/>
            <p:cNvSpPr txBox="1">
              <a:spLocks noChangeArrowheads="1"/>
            </p:cNvSpPr>
            <p:nvPr/>
          </p:nvSpPr>
          <p:spPr bwMode="auto">
            <a:xfrm>
              <a:off x="294" y="1076"/>
              <a:ext cx="592" cy="288"/>
            </a:xfrm>
            <a:prstGeom prst="rect">
              <a:avLst/>
            </a:prstGeom>
            <a:noFill/>
            <a:ln w="9525">
              <a:noFill/>
              <a:miter lim="800000"/>
              <a:headEnd/>
              <a:tailEnd/>
            </a:ln>
          </p:spPr>
          <p:txBody>
            <a:bodyPr>
              <a:spAutoFit/>
            </a:bodyPr>
            <a:lstStyle/>
            <a:p>
              <a:pPr eaLnBrk="0" hangingPunct="0"/>
              <a:r>
                <a:rPr lang="fr-CA" sz="1200" b="1" i="1">
                  <a:latin typeface="Arial" charset="0"/>
                </a:rPr>
                <a:t>Liquide interstitiel</a:t>
              </a:r>
              <a:endParaRPr lang="en-US" sz="1200" b="1" i="1">
                <a:latin typeface="Arial" charset="0"/>
              </a:endParaRPr>
            </a:p>
          </p:txBody>
        </p:sp>
        <p:sp>
          <p:nvSpPr>
            <p:cNvPr id="19465" name="Text Box 10"/>
            <p:cNvSpPr txBox="1">
              <a:spLocks noChangeArrowheads="1"/>
            </p:cNvSpPr>
            <p:nvPr/>
          </p:nvSpPr>
          <p:spPr bwMode="auto">
            <a:xfrm>
              <a:off x="1235" y="1169"/>
              <a:ext cx="2221" cy="174"/>
            </a:xfrm>
            <a:prstGeom prst="rect">
              <a:avLst/>
            </a:prstGeom>
            <a:noFill/>
            <a:ln w="9525">
              <a:noFill/>
              <a:miter lim="800000"/>
              <a:headEnd/>
              <a:tailEnd/>
            </a:ln>
          </p:spPr>
          <p:txBody>
            <a:bodyPr wrap="none">
              <a:spAutoFit/>
            </a:bodyPr>
            <a:lstStyle/>
            <a:p>
              <a:pPr eaLnBrk="0" hangingPunct="0"/>
              <a:r>
                <a:rPr lang="fr-CA" sz="1200" b="1" dirty="0">
                  <a:latin typeface="Arial" charset="0"/>
                </a:rPr>
                <a:t>SNARE de la membrane plasmique (t-SNARE)</a:t>
              </a:r>
              <a:endParaRPr lang="en-US" sz="1200" b="1" dirty="0">
                <a:latin typeface="Arial" charset="0"/>
              </a:endParaRPr>
            </a:p>
          </p:txBody>
        </p:sp>
        <p:sp>
          <p:nvSpPr>
            <p:cNvPr id="19466" name="Text Box 11"/>
            <p:cNvSpPr txBox="1">
              <a:spLocks noChangeArrowheads="1"/>
            </p:cNvSpPr>
            <p:nvPr/>
          </p:nvSpPr>
          <p:spPr bwMode="auto">
            <a:xfrm>
              <a:off x="1214" y="1804"/>
              <a:ext cx="455" cy="372"/>
            </a:xfrm>
            <a:prstGeom prst="rect">
              <a:avLst/>
            </a:prstGeom>
            <a:noFill/>
            <a:ln w="9525">
              <a:noFill/>
              <a:miter lim="800000"/>
              <a:headEnd/>
              <a:tailEnd/>
            </a:ln>
          </p:spPr>
          <p:txBody>
            <a:bodyPr wrap="square" lIns="18288" tIns="18288" rIns="18288" bIns="18288">
              <a:spAutoFit/>
            </a:bodyPr>
            <a:lstStyle/>
            <a:p>
              <a:pPr eaLnBrk="0" hangingPunct="0"/>
              <a:r>
                <a:rPr lang="fr-CA" sz="1200" b="1" dirty="0">
                  <a:latin typeface="Arial" charset="0"/>
                </a:rPr>
                <a:t>v-SNARE (vésicu-laire)</a:t>
              </a:r>
              <a:endParaRPr lang="en-US" sz="1200" b="1" dirty="0">
                <a:latin typeface="Arial" charset="0"/>
              </a:endParaRPr>
            </a:p>
          </p:txBody>
        </p:sp>
        <p:sp>
          <p:nvSpPr>
            <p:cNvPr id="19467" name="Text Box 12"/>
            <p:cNvSpPr txBox="1">
              <a:spLocks noChangeArrowheads="1"/>
            </p:cNvSpPr>
            <p:nvPr/>
          </p:nvSpPr>
          <p:spPr bwMode="auto">
            <a:xfrm>
              <a:off x="1224" y="2311"/>
              <a:ext cx="1705" cy="174"/>
            </a:xfrm>
            <a:prstGeom prst="rect">
              <a:avLst/>
            </a:prstGeom>
            <a:noFill/>
            <a:ln w="9525">
              <a:noFill/>
              <a:miter lim="800000"/>
              <a:headEnd/>
              <a:tailEnd/>
            </a:ln>
          </p:spPr>
          <p:txBody>
            <a:bodyPr wrap="none">
              <a:spAutoFit/>
            </a:bodyPr>
            <a:lstStyle/>
            <a:p>
              <a:pPr eaLnBrk="0" hangingPunct="0"/>
              <a:r>
                <a:rPr lang="fr-CA" sz="1200" b="1" dirty="0">
                  <a:latin typeface="Arial" charset="0"/>
                </a:rPr>
                <a:t>Molécules destinées à la sécrétion</a:t>
              </a:r>
              <a:endParaRPr lang="en-US" sz="1200" b="1" dirty="0">
                <a:latin typeface="Arial" charset="0"/>
              </a:endParaRPr>
            </a:p>
          </p:txBody>
        </p:sp>
        <p:sp>
          <p:nvSpPr>
            <p:cNvPr id="19468" name="Text Box 13"/>
            <p:cNvSpPr txBox="1">
              <a:spLocks noChangeArrowheads="1"/>
            </p:cNvSpPr>
            <p:nvPr/>
          </p:nvSpPr>
          <p:spPr bwMode="auto">
            <a:xfrm>
              <a:off x="1120" y="2653"/>
              <a:ext cx="1097" cy="173"/>
            </a:xfrm>
            <a:prstGeom prst="rect">
              <a:avLst/>
            </a:prstGeom>
            <a:noFill/>
            <a:ln w="9525">
              <a:noFill/>
              <a:miter lim="800000"/>
              <a:headEnd/>
              <a:tailEnd/>
            </a:ln>
          </p:spPr>
          <p:txBody>
            <a:bodyPr wrap="none">
              <a:spAutoFit/>
            </a:bodyPr>
            <a:lstStyle/>
            <a:p>
              <a:pPr eaLnBrk="0" hangingPunct="0"/>
              <a:r>
                <a:rPr lang="fr-CA" sz="1200" b="1">
                  <a:latin typeface="Arial" charset="0"/>
                </a:rPr>
                <a:t>Vésicule de sécrétion</a:t>
              </a:r>
              <a:endParaRPr lang="en-US" sz="1200" b="1">
                <a:latin typeface="Arial" charset="0"/>
              </a:endParaRPr>
            </a:p>
          </p:txBody>
        </p:sp>
      </p:grpSp>
      <p:sp>
        <p:nvSpPr>
          <p:cNvPr id="19461" name="Rectangle 14"/>
          <p:cNvSpPr>
            <a:spLocks noChangeArrowheads="1"/>
          </p:cNvSpPr>
          <p:nvPr/>
        </p:nvSpPr>
        <p:spPr bwMode="auto">
          <a:xfrm>
            <a:off x="428625" y="5078489"/>
            <a:ext cx="4826000" cy="1323975"/>
          </a:xfrm>
          <a:prstGeom prst="rect">
            <a:avLst/>
          </a:prstGeom>
          <a:noFill/>
          <a:ln w="9525">
            <a:solidFill>
              <a:srgbClr val="3366FF"/>
            </a:solidFill>
            <a:miter lim="800000"/>
            <a:headEnd/>
            <a:tailEnd/>
          </a:ln>
        </p:spPr>
        <p:txBody>
          <a:bodyPr anchor="ctr">
            <a:spAutoFit/>
          </a:bodyPr>
          <a:lstStyle/>
          <a:p>
            <a:pPr eaLnBrk="0" hangingPunct="0">
              <a:tabLst>
                <a:tab pos="1257300" algn="l"/>
              </a:tabLst>
            </a:pPr>
            <a:r>
              <a:rPr lang="fr-FR" sz="1600" dirty="0">
                <a:latin typeface="Arial" charset="0"/>
              </a:rPr>
              <a:t>Exemples de substances sécrétées par exocytose :</a:t>
            </a:r>
            <a:endParaRPr lang="en-US" sz="1600" dirty="0">
              <a:latin typeface="Arial" charset="0"/>
            </a:endParaRPr>
          </a:p>
          <a:p>
            <a:pPr eaLnBrk="0" hangingPunct="0">
              <a:buFont typeface="Wingdings" pitchFamily="2" charset="2"/>
              <a:buChar char=""/>
              <a:tabLst>
                <a:tab pos="1257300" algn="l"/>
              </a:tabLst>
            </a:pPr>
            <a:r>
              <a:rPr lang="fr-FR" sz="1600" dirty="0">
                <a:latin typeface="Arial" charset="0"/>
              </a:rPr>
              <a:t> Hormones</a:t>
            </a:r>
          </a:p>
          <a:p>
            <a:pPr eaLnBrk="0" hangingPunct="0">
              <a:buFont typeface="Wingdings" pitchFamily="2" charset="2"/>
              <a:buChar char=""/>
              <a:tabLst>
                <a:tab pos="1257300" algn="l"/>
              </a:tabLst>
            </a:pPr>
            <a:r>
              <a:rPr lang="fr-FR" sz="1600" dirty="0">
                <a:latin typeface="Arial" charset="0"/>
              </a:rPr>
              <a:t> Neurotransmetteurs</a:t>
            </a:r>
          </a:p>
          <a:p>
            <a:pPr eaLnBrk="0" hangingPunct="0">
              <a:buFont typeface="Wingdings" pitchFamily="2" charset="2"/>
              <a:buChar char=""/>
              <a:tabLst>
                <a:tab pos="1257300" algn="l"/>
              </a:tabLst>
            </a:pPr>
            <a:r>
              <a:rPr lang="fr-FR" sz="1600" dirty="0">
                <a:latin typeface="Arial" charset="0"/>
                <a:sym typeface="Wingdings" pitchFamily="2" charset="2"/>
              </a:rPr>
              <a:t> </a:t>
            </a:r>
            <a:r>
              <a:rPr lang="fr-FR" sz="1600" dirty="0">
                <a:latin typeface="Arial" charset="0"/>
              </a:rPr>
              <a:t>Sécrétions de glandes exocrines</a:t>
            </a:r>
          </a:p>
          <a:p>
            <a:pPr eaLnBrk="0" hangingPunct="0">
              <a:buFont typeface="Wingdings" pitchFamily="2" charset="2"/>
              <a:buChar char=""/>
              <a:tabLst>
                <a:tab pos="1257300" algn="l"/>
              </a:tabLst>
            </a:pPr>
            <a:r>
              <a:rPr lang="fr-FR" sz="1600" dirty="0">
                <a:latin typeface="Arial" charset="0"/>
                <a:sym typeface="Wingdings" pitchFamily="2" charset="2"/>
              </a:rPr>
              <a:t> </a:t>
            </a:r>
            <a:r>
              <a:rPr lang="fr-FR" sz="1600" dirty="0">
                <a:latin typeface="Arial" charset="0"/>
              </a:rPr>
              <a:t>Déchets cellulaires</a:t>
            </a:r>
          </a:p>
        </p:txBody>
      </p:sp>
      <p:sp>
        <p:nvSpPr>
          <p:cNvPr id="19462" name="Text Box 15"/>
          <p:cNvSpPr txBox="1">
            <a:spLocks noChangeArrowheads="1"/>
          </p:cNvSpPr>
          <p:nvPr/>
        </p:nvSpPr>
        <p:spPr bwMode="auto">
          <a:xfrm>
            <a:off x="4606926" y="4572561"/>
            <a:ext cx="920750" cy="338138"/>
          </a:xfrm>
          <a:prstGeom prst="rect">
            <a:avLst/>
          </a:prstGeom>
          <a:noFill/>
          <a:ln w="6350">
            <a:solidFill>
              <a:srgbClr val="0000FF"/>
            </a:solidFill>
            <a:miter lim="800000"/>
            <a:headEnd/>
            <a:tailEnd/>
          </a:ln>
        </p:spPr>
        <p:txBody>
          <a:bodyPr wrap="none">
            <a:spAutoFit/>
          </a:bodyPr>
          <a:lstStyle/>
          <a:p>
            <a:pPr eaLnBrk="0" hangingPunct="0"/>
            <a:r>
              <a:rPr lang="fr-CA" sz="1600">
                <a:solidFill>
                  <a:srgbClr val="3333FF"/>
                </a:solidFill>
              </a:rPr>
              <a:t>Fig. 3.14</a:t>
            </a:r>
            <a:endParaRPr lang="en-US" sz="1600">
              <a:solidFill>
                <a:srgbClr val="3333FF"/>
              </a:solidFill>
            </a:endParaRPr>
          </a:p>
        </p:txBody>
      </p:sp>
      <p:sp>
        <p:nvSpPr>
          <p:cNvPr id="13" name="Rectangle 5"/>
          <p:cNvSpPr>
            <a:spLocks noChangeArrowheads="1"/>
          </p:cNvSpPr>
          <p:nvPr/>
        </p:nvSpPr>
        <p:spPr bwMode="auto">
          <a:xfrm>
            <a:off x="211933" y="166686"/>
            <a:ext cx="6653212" cy="461665"/>
          </a:xfrm>
          <a:prstGeom prst="rect">
            <a:avLst/>
          </a:prstGeom>
          <a:noFill/>
          <a:ln w="9525">
            <a:noFill/>
            <a:miter lim="800000"/>
            <a:headEnd/>
            <a:tailEnd/>
          </a:ln>
        </p:spPr>
        <p:txBody>
          <a:bodyPr wrap="square">
            <a:spAutoFit/>
          </a:bodyPr>
          <a:lstStyle/>
          <a:p>
            <a:pPr marL="811213" indent="-811213" eaLnBrk="0" hangingPunct="0"/>
            <a:r>
              <a:rPr lang="fr-FR" sz="2400" b="1" u="sng" dirty="0">
                <a:solidFill>
                  <a:schemeClr val="accent2"/>
                </a:solidFill>
                <a:latin typeface="Arial" charset="0"/>
              </a:rPr>
              <a:t>Les transports vésiculaires</a:t>
            </a:r>
            <a:endParaRPr lang="en-US" sz="2400" i="1" dirty="0">
              <a:solidFill>
                <a:schemeClr val="accent2"/>
              </a:solidFill>
              <a:latin typeface="Arial"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13_Fig_3-12_p_87.jpg"/>
          <p:cNvPicPr>
            <a:picLocks noChangeAspect="1"/>
          </p:cNvPicPr>
          <p:nvPr/>
        </p:nvPicPr>
        <p:blipFill rotWithShape="1">
          <a:blip r:embed="rId3" cstate="print">
            <a:extLst>
              <a:ext uri="{28A0092B-C50C-407E-A947-70E740481C1C}">
                <a14:useLocalDpi xmlns:a14="http://schemas.microsoft.com/office/drawing/2010/main" val="0"/>
              </a:ext>
            </a:extLst>
          </a:blip>
          <a:srcRect l="546" t="2783" r="33071" b="6556"/>
          <a:stretch/>
        </p:blipFill>
        <p:spPr>
          <a:xfrm>
            <a:off x="3594079" y="411406"/>
            <a:ext cx="5171126" cy="5762892"/>
          </a:xfrm>
          <a:prstGeom prst="rect">
            <a:avLst/>
          </a:prstGeom>
        </p:spPr>
      </p:pic>
      <p:sp>
        <p:nvSpPr>
          <p:cNvPr id="17" name="Text Box 12"/>
          <p:cNvSpPr txBox="1">
            <a:spLocks noChangeArrowheads="1"/>
          </p:cNvSpPr>
          <p:nvPr/>
        </p:nvSpPr>
        <p:spPr bwMode="auto">
          <a:xfrm>
            <a:off x="5564732" y="5769623"/>
            <a:ext cx="1792414" cy="2414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a:lstStyle/>
          <a:p>
            <a:pPr algn="ctr">
              <a:defRPr/>
            </a:pPr>
            <a:r>
              <a:rPr lang="en-US" sz="1300" b="1" dirty="0">
                <a:solidFill>
                  <a:srgbClr val="FF0000"/>
                </a:solidFill>
                <a:latin typeface="Arial" charset="0"/>
                <a:ea typeface="ＭＳ Ｐゴシック" charset="0"/>
              </a:rPr>
              <a:t>Cellules épithéliales</a:t>
            </a:r>
          </a:p>
        </p:txBody>
      </p:sp>
      <p:sp>
        <p:nvSpPr>
          <p:cNvPr id="5" name="Rectangle 7"/>
          <p:cNvSpPr>
            <a:spLocks noChangeArrowheads="1"/>
          </p:cNvSpPr>
          <p:nvPr/>
        </p:nvSpPr>
        <p:spPr bwMode="auto">
          <a:xfrm>
            <a:off x="156731" y="212985"/>
            <a:ext cx="3375034" cy="2316019"/>
          </a:xfrm>
          <a:prstGeom prst="rect">
            <a:avLst/>
          </a:prstGeom>
          <a:noFill/>
          <a:ln w="9525">
            <a:noFill/>
            <a:miter lim="800000"/>
            <a:headEnd/>
            <a:tailEnd/>
          </a:ln>
        </p:spPr>
        <p:txBody>
          <a:bodyPr wrap="square">
            <a:spAutoFit/>
          </a:bodyPr>
          <a:lstStyle/>
          <a:p>
            <a:pPr lvl="0">
              <a:spcBef>
                <a:spcPts val="0"/>
              </a:spcBef>
              <a:spcAft>
                <a:spcPts val="0"/>
              </a:spcAft>
              <a:buSzPts val="900"/>
              <a:tabLst>
                <a:tab pos="1371600" algn="l"/>
              </a:tabLst>
            </a:pPr>
            <a:r>
              <a:rPr lang="fr-CA" sz="2600" b="1" dirty="0">
                <a:solidFill>
                  <a:schemeClr val="accent2"/>
                </a:solidFill>
                <a:latin typeface="Arial" charset="0"/>
              </a:rPr>
              <a:t>iii) </a:t>
            </a:r>
            <a:r>
              <a:rPr lang="fr-CA" sz="2600" b="1" i="1" u="sng" dirty="0">
                <a:solidFill>
                  <a:schemeClr val="accent2"/>
                </a:solidFill>
                <a:latin typeface="Arial" charset="0"/>
              </a:rPr>
              <a:t>Endocytose </a:t>
            </a:r>
          </a:p>
          <a:p>
            <a:pPr lvl="0">
              <a:spcBef>
                <a:spcPts val="0"/>
              </a:spcBef>
              <a:spcAft>
                <a:spcPts val="0"/>
              </a:spcAft>
              <a:buSzPts val="900"/>
              <a:tabLst>
                <a:tab pos="1371600" algn="l"/>
              </a:tabLst>
            </a:pPr>
            <a:endParaRPr lang="fr-CA" sz="800" b="1" i="1" u="sng" dirty="0">
              <a:solidFill>
                <a:schemeClr val="accent2"/>
              </a:solidFill>
              <a:effectLst/>
              <a:latin typeface="Arial" charset="0"/>
              <a:ea typeface="Times New Roman" panose="02020603050405020304" pitchFamily="18" charset="0"/>
            </a:endParaRPr>
          </a:p>
          <a:p>
            <a:pPr lvl="0">
              <a:spcBef>
                <a:spcPts val="0"/>
              </a:spcBef>
              <a:spcAft>
                <a:spcPts val="0"/>
              </a:spcAft>
              <a:buSzPts val="900"/>
              <a:tabLst>
                <a:tab pos="1371600" algn="l"/>
              </a:tabLst>
            </a:pPr>
            <a:r>
              <a:rPr lang="fr-FR" sz="1600" dirty="0">
                <a:solidFill>
                  <a:srgbClr val="000000"/>
                </a:solidFill>
                <a:effectLst/>
                <a:latin typeface="Arial" panose="020B0604020202020204" pitchFamily="34" charset="0"/>
                <a:ea typeface="Times New Roman" panose="02020603050405020304" pitchFamily="18" charset="0"/>
              </a:rPr>
              <a:t>Mouvement de substances de l’espace extracellulaire à l’intérieur de la cellule.</a:t>
            </a:r>
            <a:endParaRPr lang="en-CA" sz="1600" dirty="0">
              <a:solidFill>
                <a:srgbClr val="000000"/>
              </a:solidFill>
              <a:effectLst/>
              <a:latin typeface="Times New Roman" panose="02020603050405020304" pitchFamily="18" charset="0"/>
              <a:ea typeface="Times New Roman" panose="02020603050405020304" pitchFamily="18" charset="0"/>
            </a:endParaRPr>
          </a:p>
          <a:p>
            <a:pPr marL="176213" lvl="0" indent="-176213">
              <a:spcBef>
                <a:spcPts val="300"/>
              </a:spcBef>
              <a:spcAft>
                <a:spcPts val="0"/>
              </a:spcAft>
              <a:buSzPct val="150000"/>
              <a:buFont typeface="Arial" panose="020B0604020202020204" pitchFamily="34" charset="0"/>
              <a:buChar char="-"/>
              <a:tabLst>
                <a:tab pos="1371600" algn="l"/>
              </a:tabLst>
            </a:pPr>
            <a:r>
              <a:rPr lang="fr-FR" sz="1500" dirty="0">
                <a:solidFill>
                  <a:srgbClr val="000000"/>
                </a:solidFill>
                <a:effectLst/>
                <a:latin typeface="+mj-lt"/>
                <a:ea typeface="Times New Roman" panose="02020603050405020304" pitchFamily="18" charset="0"/>
              </a:rPr>
              <a:t>Les substances qui entrent dans la cellule sont enveloppées dans une vésicule formée à partir de la membrane plasmique.</a:t>
            </a:r>
            <a:endParaRPr lang="en-CA" sz="1500" dirty="0">
              <a:solidFill>
                <a:srgbClr val="000000"/>
              </a:solidFill>
              <a:effectLst/>
              <a:latin typeface="+mj-lt"/>
              <a:ea typeface="Times New Roman" panose="02020603050405020304" pitchFamily="18" charset="0"/>
            </a:endParaRPr>
          </a:p>
        </p:txBody>
      </p:sp>
      <p:sp>
        <p:nvSpPr>
          <p:cNvPr id="6" name="Text Box 15"/>
          <p:cNvSpPr txBox="1">
            <a:spLocks noChangeArrowheads="1"/>
          </p:cNvSpPr>
          <p:nvPr/>
        </p:nvSpPr>
        <p:spPr bwMode="auto">
          <a:xfrm>
            <a:off x="7732992" y="6211703"/>
            <a:ext cx="920445" cy="338554"/>
          </a:xfrm>
          <a:prstGeom prst="rect">
            <a:avLst/>
          </a:prstGeom>
          <a:noFill/>
          <a:ln w="6350">
            <a:solidFill>
              <a:srgbClr val="0000FF"/>
            </a:solidFill>
            <a:miter lim="800000"/>
            <a:headEnd/>
            <a:tailEnd/>
          </a:ln>
        </p:spPr>
        <p:txBody>
          <a:bodyPr wrap="none">
            <a:spAutoFit/>
          </a:bodyPr>
          <a:lstStyle/>
          <a:p>
            <a:pPr eaLnBrk="0" hangingPunct="0"/>
            <a:r>
              <a:rPr lang="fr-CA" sz="1600" dirty="0">
                <a:solidFill>
                  <a:srgbClr val="3333FF"/>
                </a:solidFill>
              </a:rPr>
              <a:t>Fig. 3.12</a:t>
            </a:r>
            <a:endParaRPr lang="en-US" sz="1600" dirty="0">
              <a:solidFill>
                <a:srgbClr val="3333FF"/>
              </a:solidFill>
            </a:endParaRPr>
          </a:p>
        </p:txBody>
      </p:sp>
      <p:sp>
        <p:nvSpPr>
          <p:cNvPr id="2" name="TextBox 1">
            <a:extLst>
              <a:ext uri="{FF2B5EF4-FFF2-40B4-BE49-F238E27FC236}">
                <a16:creationId xmlns:a16="http://schemas.microsoft.com/office/drawing/2014/main" id="{FDFDC587-63F3-4F3F-877C-C80656DD0348}"/>
              </a:ext>
            </a:extLst>
          </p:cNvPr>
          <p:cNvSpPr txBox="1"/>
          <p:nvPr/>
        </p:nvSpPr>
        <p:spPr>
          <a:xfrm>
            <a:off x="129209" y="2529004"/>
            <a:ext cx="3375034" cy="3467616"/>
          </a:xfrm>
          <a:prstGeom prst="rect">
            <a:avLst/>
          </a:prstGeom>
          <a:noFill/>
        </p:spPr>
        <p:txBody>
          <a:bodyPr wrap="square" rtlCol="0">
            <a:spAutoFit/>
          </a:bodyPr>
          <a:lstStyle/>
          <a:p>
            <a:pPr marL="176213" lvl="0" indent="-176213">
              <a:buSzPct val="100000"/>
              <a:buFont typeface="Wingdings" panose="05000000000000000000" pitchFamily="2" charset="2"/>
              <a:buChar char=""/>
            </a:pPr>
            <a:r>
              <a:rPr lang="fr-CA" sz="1600" b="1" i="1" dirty="0">
                <a:solidFill>
                  <a:srgbClr val="000000"/>
                </a:solidFill>
                <a:effectLst/>
                <a:latin typeface="+mj-lt"/>
                <a:ea typeface="Times New Roman" panose="02020603050405020304" pitchFamily="18" charset="0"/>
              </a:rPr>
              <a:t>Clathrine </a:t>
            </a:r>
            <a:r>
              <a:rPr lang="fr-CA" sz="1600" b="1" dirty="0">
                <a:solidFill>
                  <a:srgbClr val="000000"/>
                </a:solidFill>
                <a:effectLst/>
                <a:latin typeface="+mj-lt"/>
                <a:ea typeface="Times New Roman" panose="02020603050405020304" pitchFamily="18" charset="0"/>
              </a:rPr>
              <a:t>: </a:t>
            </a:r>
            <a:endParaRPr lang="en-CA" sz="1600" b="1" dirty="0">
              <a:solidFill>
                <a:srgbClr val="000000"/>
              </a:solidFill>
              <a:effectLst/>
              <a:latin typeface="+mj-lt"/>
              <a:ea typeface="Times New Roman" panose="02020603050405020304" pitchFamily="18" charset="0"/>
            </a:endParaRPr>
          </a:p>
          <a:p>
            <a:pPr marL="360363" lvl="2" indent="-176213">
              <a:spcBef>
                <a:spcPts val="300"/>
              </a:spcBef>
              <a:buSzPct val="150000"/>
              <a:buFont typeface="Arial" panose="020B0604020202020204" pitchFamily="34" charset="0"/>
              <a:buChar char="-"/>
            </a:pPr>
            <a:r>
              <a:rPr lang="fr-FR" sz="1500" dirty="0">
                <a:solidFill>
                  <a:srgbClr val="000000"/>
                </a:solidFill>
                <a:effectLst/>
                <a:latin typeface="+mj-lt"/>
                <a:ea typeface="Times New Roman" panose="02020603050405020304" pitchFamily="18" charset="0"/>
              </a:rPr>
              <a:t>Protéine qui recouvre la surface des vésicules.</a:t>
            </a:r>
            <a:endParaRPr lang="en-CA" sz="1500" dirty="0">
              <a:solidFill>
                <a:srgbClr val="000000"/>
              </a:solidFill>
              <a:effectLst/>
              <a:latin typeface="+mj-lt"/>
              <a:ea typeface="Times New Roman" panose="02020603050405020304" pitchFamily="18" charset="0"/>
            </a:endParaRPr>
          </a:p>
          <a:p>
            <a:pPr marL="360363" lvl="2" indent="-176213">
              <a:spcBef>
                <a:spcPts val="300"/>
              </a:spcBef>
              <a:buSzPct val="150000"/>
              <a:buFont typeface="Arial" panose="020B0604020202020204" pitchFamily="34" charset="0"/>
              <a:buChar char="-"/>
            </a:pPr>
            <a:r>
              <a:rPr lang="fr-FR" sz="1500" dirty="0">
                <a:solidFill>
                  <a:srgbClr val="000000"/>
                </a:solidFill>
                <a:effectLst/>
                <a:latin typeface="+mj-lt"/>
                <a:ea typeface="Times New Roman" panose="02020603050405020304" pitchFamily="18" charset="0"/>
              </a:rPr>
              <a:t>Cause un repli vers l’intérieur de la membrane plasmique pour produire des vésicules : </a:t>
            </a:r>
            <a:endParaRPr lang="en-CA" sz="1500" dirty="0">
              <a:solidFill>
                <a:srgbClr val="000000"/>
              </a:solidFill>
              <a:effectLst/>
              <a:latin typeface="+mj-lt"/>
              <a:ea typeface="Times New Roman" panose="02020603050405020304" pitchFamily="18" charset="0"/>
            </a:endParaRPr>
          </a:p>
          <a:p>
            <a:pPr marL="360363" lvl="2">
              <a:spcBef>
                <a:spcPts val="400"/>
              </a:spcBef>
              <a:buFont typeface="Symbol" panose="05050102010706020507" pitchFamily="18" charset="2"/>
              <a:buChar char=""/>
            </a:pPr>
            <a:r>
              <a:rPr lang="fr-FR" sz="1500" dirty="0">
                <a:solidFill>
                  <a:srgbClr val="000000"/>
                </a:solidFill>
                <a:effectLst/>
                <a:latin typeface="+mj-lt"/>
                <a:ea typeface="Times New Roman" panose="02020603050405020304" pitchFamily="18" charset="0"/>
              </a:rPr>
              <a:t> Les molécules de clathrine s’attachent d’abord à la surface interne de la membrane plasmique. Ceci crée une invagination de la membrane, un </a:t>
            </a:r>
            <a:r>
              <a:rPr lang="fr-FR" sz="1500" i="1" dirty="0">
                <a:solidFill>
                  <a:srgbClr val="000000"/>
                </a:solidFill>
                <a:effectLst/>
                <a:latin typeface="+mj-lt"/>
                <a:ea typeface="Times New Roman" panose="02020603050405020304" pitchFamily="18" charset="0"/>
              </a:rPr>
              <a:t>puits tapissé de clathrine</a:t>
            </a:r>
            <a:r>
              <a:rPr lang="fr-FR" sz="1500" dirty="0">
                <a:solidFill>
                  <a:srgbClr val="000000"/>
                </a:solidFill>
                <a:effectLst/>
                <a:latin typeface="+mj-lt"/>
                <a:ea typeface="Times New Roman" panose="02020603050405020304" pitchFamily="18" charset="0"/>
              </a:rPr>
              <a:t>, qui constitue le point de départ pour la formation de la vésicule.</a:t>
            </a:r>
            <a:endParaRPr lang="en-CA" sz="1500" dirty="0">
              <a:solidFill>
                <a:srgbClr val="000000"/>
              </a:solidFill>
              <a:effectLst/>
              <a:latin typeface="+mj-lt"/>
              <a:ea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14_Fig_3-13_p_88.jpg"/>
          <p:cNvPicPr>
            <a:picLocks noChangeAspect="1"/>
          </p:cNvPicPr>
          <p:nvPr/>
        </p:nvPicPr>
        <p:blipFill rotWithShape="1">
          <a:blip r:embed="rId3" cstate="print">
            <a:extLst>
              <a:ext uri="{28A0092B-C50C-407E-A947-70E740481C1C}">
                <a14:useLocalDpi xmlns:a14="http://schemas.microsoft.com/office/drawing/2010/main" val="0"/>
              </a:ext>
            </a:extLst>
          </a:blip>
          <a:srcRect t="1778" r="2498" b="40700"/>
          <a:stretch/>
        </p:blipFill>
        <p:spPr>
          <a:xfrm>
            <a:off x="4444494" y="304830"/>
            <a:ext cx="4668560" cy="5530577"/>
          </a:xfrm>
          <a:prstGeom prst="rect">
            <a:avLst/>
          </a:prstGeom>
        </p:spPr>
      </p:pic>
      <p:pic>
        <p:nvPicPr>
          <p:cNvPr id="16" name="Picture 15" descr="14_Fig_3-13_p_88.jpg"/>
          <p:cNvPicPr>
            <a:picLocks noChangeAspect="1"/>
          </p:cNvPicPr>
          <p:nvPr/>
        </p:nvPicPr>
        <p:blipFill rotWithShape="1">
          <a:blip r:embed="rId3" cstate="print">
            <a:extLst>
              <a:ext uri="{28A0092B-C50C-407E-A947-70E740481C1C}">
                <a14:useLocalDpi xmlns:a14="http://schemas.microsoft.com/office/drawing/2010/main" val="0"/>
              </a:ext>
            </a:extLst>
          </a:blip>
          <a:srcRect t="59539" r="4166" b="3212"/>
          <a:stretch/>
        </p:blipFill>
        <p:spPr>
          <a:xfrm>
            <a:off x="100668" y="2357254"/>
            <a:ext cx="4343826" cy="3390303"/>
          </a:xfrm>
          <a:prstGeom prst="rect">
            <a:avLst/>
          </a:prstGeom>
        </p:spPr>
      </p:pic>
      <p:sp>
        <p:nvSpPr>
          <p:cNvPr id="21507" name="Rectangle 8"/>
          <p:cNvSpPr>
            <a:spLocks noChangeArrowheads="1"/>
          </p:cNvSpPr>
          <p:nvPr/>
        </p:nvSpPr>
        <p:spPr bwMode="auto">
          <a:xfrm>
            <a:off x="307545" y="212551"/>
            <a:ext cx="3610113" cy="461665"/>
          </a:xfrm>
          <a:prstGeom prst="rect">
            <a:avLst/>
          </a:prstGeom>
          <a:noFill/>
          <a:ln w="9525">
            <a:noFill/>
            <a:miter lim="800000"/>
            <a:headEnd/>
            <a:tailEnd/>
          </a:ln>
        </p:spPr>
        <p:txBody>
          <a:bodyPr wrap="square">
            <a:spAutoFit/>
          </a:bodyPr>
          <a:lstStyle/>
          <a:p>
            <a:pPr eaLnBrk="0" hangingPunct="0"/>
            <a:r>
              <a:rPr lang="fr-CA" sz="2400" b="1" u="sng" dirty="0">
                <a:solidFill>
                  <a:schemeClr val="accent2"/>
                </a:solidFill>
                <a:latin typeface="Arial" charset="0"/>
              </a:rPr>
              <a:t>3 types d’endocytose</a:t>
            </a:r>
            <a:r>
              <a:rPr lang="fr-CA" sz="2400" b="1" dirty="0">
                <a:solidFill>
                  <a:schemeClr val="accent2"/>
                </a:solidFill>
                <a:latin typeface="Arial" charset="0"/>
              </a:rPr>
              <a:t> :</a:t>
            </a:r>
          </a:p>
        </p:txBody>
      </p:sp>
      <p:sp>
        <p:nvSpPr>
          <p:cNvPr id="21514" name="Rectangle 19"/>
          <p:cNvSpPr>
            <a:spLocks noChangeArrowheads="1"/>
          </p:cNvSpPr>
          <p:nvPr/>
        </p:nvSpPr>
        <p:spPr bwMode="auto">
          <a:xfrm>
            <a:off x="307545" y="674216"/>
            <a:ext cx="3091035" cy="1528624"/>
          </a:xfrm>
          <a:prstGeom prst="rect">
            <a:avLst/>
          </a:prstGeom>
          <a:noFill/>
          <a:ln w="9525">
            <a:noFill/>
            <a:miter lim="800000"/>
            <a:headEnd/>
            <a:tailEnd/>
          </a:ln>
        </p:spPr>
        <p:txBody>
          <a:bodyPr wrap="square">
            <a:spAutoFit/>
          </a:bodyPr>
          <a:lstStyle/>
          <a:p>
            <a:pPr marL="176213" indent="-176213" eaLnBrk="0" hangingPunct="0">
              <a:buSzPct val="85000"/>
              <a:buFont typeface="Wingdings" pitchFamily="2" charset="2"/>
              <a:buChar char="§"/>
            </a:pPr>
            <a:r>
              <a:rPr lang="fr-CA" sz="2000" b="1" i="1" dirty="0">
                <a:latin typeface="Arial" charset="0"/>
              </a:rPr>
              <a:t>Phagocytose</a:t>
            </a:r>
          </a:p>
          <a:p>
            <a:pPr marL="176213" indent="-176213" eaLnBrk="0" hangingPunct="0">
              <a:spcBef>
                <a:spcPts val="800"/>
              </a:spcBef>
              <a:buSzPct val="85000"/>
              <a:buFont typeface="Wingdings" pitchFamily="2" charset="2"/>
              <a:buChar char="§"/>
            </a:pPr>
            <a:r>
              <a:rPr lang="fr-CA" sz="2000" b="1" i="1" dirty="0">
                <a:latin typeface="Arial" charset="0"/>
              </a:rPr>
              <a:t>Pinocytose</a:t>
            </a:r>
          </a:p>
          <a:p>
            <a:pPr marL="176213" indent="-176213" eaLnBrk="0" hangingPunct="0">
              <a:spcBef>
                <a:spcPts val="800"/>
              </a:spcBef>
              <a:buSzPct val="85000"/>
              <a:buFont typeface="Wingdings" pitchFamily="2" charset="2"/>
              <a:buChar char="§"/>
            </a:pPr>
            <a:r>
              <a:rPr lang="fr-CA" sz="2000" b="1" i="1" dirty="0">
                <a:latin typeface="Arial" charset="0"/>
              </a:rPr>
              <a:t>Endocytose par récepteurs interposés</a:t>
            </a:r>
            <a:endParaRPr lang="en-US" sz="2000" b="1" i="1" dirty="0">
              <a:latin typeface="Arial"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descr="E:\LMarieb\Chapter_03\B_JPEG_Images_and_Tables\b_unlabeled\figure_03_08b_unlabeled.jpg"/>
          <p:cNvPicPr>
            <a:picLocks noChangeAspect="1" noChangeArrowheads="1"/>
          </p:cNvPicPr>
          <p:nvPr/>
        </p:nvPicPr>
        <p:blipFill rotWithShape="1">
          <a:blip r:embed="rId3" cstate="print"/>
          <a:srcRect l="1907" t="35543" r="2197" b="17017"/>
          <a:stretch/>
        </p:blipFill>
        <p:spPr bwMode="auto">
          <a:xfrm>
            <a:off x="1314450" y="1704090"/>
            <a:ext cx="6877050" cy="2368754"/>
          </a:xfrm>
          <a:prstGeom prst="rect">
            <a:avLst/>
          </a:prstGeom>
          <a:noFill/>
          <a:ln w="9525">
            <a:noFill/>
            <a:miter lim="800000"/>
            <a:headEnd/>
            <a:tailEnd/>
          </a:ln>
        </p:spPr>
      </p:pic>
      <p:sp>
        <p:nvSpPr>
          <p:cNvPr id="24580" name="ZoneTexte 4"/>
          <p:cNvSpPr txBox="1">
            <a:spLocks noChangeArrowheads="1"/>
          </p:cNvSpPr>
          <p:nvPr/>
        </p:nvSpPr>
        <p:spPr bwMode="auto">
          <a:xfrm>
            <a:off x="2646534" y="2652617"/>
            <a:ext cx="522288" cy="339725"/>
          </a:xfrm>
          <a:prstGeom prst="rect">
            <a:avLst/>
          </a:prstGeom>
          <a:noFill/>
          <a:ln w="9525">
            <a:noFill/>
            <a:miter lim="800000"/>
            <a:headEnd/>
            <a:tailEnd/>
          </a:ln>
        </p:spPr>
        <p:txBody>
          <a:bodyPr wrap="none">
            <a:spAutoFit/>
          </a:bodyPr>
          <a:lstStyle/>
          <a:p>
            <a:r>
              <a:rPr lang="en-CA" sz="1600" b="1" dirty="0">
                <a:latin typeface="Calibri" pitchFamily="34" charset="0"/>
                <a:cs typeface="Calibri" pitchFamily="34" charset="0"/>
              </a:rPr>
              <a:t>H</a:t>
            </a:r>
            <a:r>
              <a:rPr lang="en-CA" sz="1600" b="1" baseline="-25000" dirty="0">
                <a:latin typeface="Calibri" pitchFamily="34" charset="0"/>
                <a:cs typeface="Calibri" pitchFamily="34" charset="0"/>
              </a:rPr>
              <a:t>2</a:t>
            </a:r>
            <a:r>
              <a:rPr lang="en-CA" sz="1600" b="1" dirty="0">
                <a:latin typeface="Calibri" pitchFamily="34" charset="0"/>
                <a:cs typeface="Calibri" pitchFamily="34" charset="0"/>
              </a:rPr>
              <a:t>O</a:t>
            </a:r>
            <a:endParaRPr lang="fr-CA" sz="1600" b="1" dirty="0">
              <a:latin typeface="Calibri" pitchFamily="34" charset="0"/>
              <a:cs typeface="Calibri" pitchFamily="34" charset="0"/>
            </a:endParaRPr>
          </a:p>
        </p:txBody>
      </p:sp>
      <p:sp>
        <p:nvSpPr>
          <p:cNvPr id="2" name="Rectangle 1"/>
          <p:cNvSpPr/>
          <p:nvPr/>
        </p:nvSpPr>
        <p:spPr>
          <a:xfrm>
            <a:off x="1314450" y="4439710"/>
            <a:ext cx="6829277" cy="923330"/>
          </a:xfrm>
          <a:prstGeom prst="rect">
            <a:avLst/>
          </a:prstGeom>
          <a:ln>
            <a:solidFill>
              <a:schemeClr val="accent2"/>
            </a:solidFill>
          </a:ln>
        </p:spPr>
        <p:txBody>
          <a:bodyPr wrap="square">
            <a:spAutoFit/>
          </a:bodyPr>
          <a:lstStyle/>
          <a:p>
            <a:r>
              <a:rPr lang="fr-FR" dirty="0">
                <a:latin typeface="+mj-lt"/>
              </a:rPr>
              <a:t>Deux conditions pour que l’osmose se produise :</a:t>
            </a:r>
          </a:p>
          <a:p>
            <a:pPr marL="400050" indent="-400050">
              <a:buFont typeface="+mj-lt"/>
              <a:buAutoNum type="romanLcPeriod"/>
            </a:pPr>
            <a:r>
              <a:rPr lang="fr-FR" dirty="0">
                <a:latin typeface="+mj-lt"/>
              </a:rPr>
              <a:t>Gradient de concentration</a:t>
            </a:r>
          </a:p>
          <a:p>
            <a:pPr marL="400050" indent="-400050">
              <a:buFont typeface="+mj-lt"/>
              <a:buAutoNum type="romanLcPeriod"/>
            </a:pPr>
            <a:r>
              <a:rPr lang="fr-FR" dirty="0">
                <a:latin typeface="+mj-lt"/>
              </a:rPr>
              <a:t>Membrane imperméable à certains solutés</a:t>
            </a:r>
            <a:endParaRPr lang="fr-CA" dirty="0">
              <a:latin typeface="+mj-lt"/>
            </a:endParaRPr>
          </a:p>
        </p:txBody>
      </p:sp>
      <p:sp>
        <p:nvSpPr>
          <p:cNvPr id="3" name="Rectangle 2"/>
          <p:cNvSpPr/>
          <p:nvPr/>
        </p:nvSpPr>
        <p:spPr>
          <a:xfrm>
            <a:off x="296223" y="4291412"/>
            <a:ext cx="1018227" cy="584775"/>
          </a:xfrm>
          <a:prstGeom prst="rect">
            <a:avLst/>
          </a:prstGeom>
        </p:spPr>
        <p:txBody>
          <a:bodyPr wrap="none">
            <a:spAutoFit/>
          </a:bodyPr>
          <a:lstStyle/>
          <a:p>
            <a:r>
              <a:rPr lang="fr-FR" sz="3200" dirty="0">
                <a:solidFill>
                  <a:schemeClr val="accent2"/>
                </a:solidFill>
                <a:latin typeface="Calibri" panose="020F0502020204030204" pitchFamily="34" charset="0"/>
              </a:rPr>
              <a:t>2.3.1</a:t>
            </a:r>
            <a:endParaRPr lang="en-US" sz="3200" dirty="0"/>
          </a:p>
        </p:txBody>
      </p:sp>
      <p:sp>
        <p:nvSpPr>
          <p:cNvPr id="7" name="Titre 1">
            <a:extLst>
              <a:ext uri="{FF2B5EF4-FFF2-40B4-BE49-F238E27FC236}">
                <a16:creationId xmlns:a16="http://schemas.microsoft.com/office/drawing/2014/main" id="{A4821618-77CC-4405-8E42-FD46A093E8B5}"/>
              </a:ext>
            </a:extLst>
          </p:cNvPr>
          <p:cNvSpPr>
            <a:spLocks noGrp="1"/>
          </p:cNvSpPr>
          <p:nvPr>
            <p:ph type="title"/>
          </p:nvPr>
        </p:nvSpPr>
        <p:spPr>
          <a:xfrm>
            <a:off x="253068" y="255023"/>
            <a:ext cx="8637864" cy="1498600"/>
          </a:xfrm>
        </p:spPr>
        <p:txBody>
          <a:bodyPr/>
          <a:lstStyle/>
          <a:p>
            <a:pPr marL="804863" indent="-804863"/>
            <a:r>
              <a:rPr lang="fr-FR" sz="3200" dirty="0">
                <a:solidFill>
                  <a:schemeClr val="accent2"/>
                </a:solidFill>
              </a:rPr>
              <a:t>2.3  </a:t>
            </a:r>
            <a:r>
              <a:rPr lang="fr-FR" sz="3200" i="1" dirty="0">
                <a:solidFill>
                  <a:schemeClr val="accent2"/>
                </a:solidFill>
              </a:rPr>
              <a:t>Osmose</a:t>
            </a:r>
            <a:br>
              <a:rPr lang="fr-FR" sz="3200" dirty="0"/>
            </a:br>
            <a:r>
              <a:rPr lang="fr-FR" sz="2400" b="0" dirty="0">
                <a:solidFill>
                  <a:schemeClr val="tx1"/>
                </a:solidFill>
              </a:rPr>
              <a:t>Mouvement net d’un solvant (eau) à travers une membrane à </a:t>
            </a:r>
            <a:r>
              <a:rPr lang="fr-FR" sz="2400" b="0" i="1" dirty="0">
                <a:solidFill>
                  <a:schemeClr val="tx1"/>
                </a:solidFill>
              </a:rPr>
              <a:t>perméabilité sélective</a:t>
            </a:r>
            <a:r>
              <a:rPr lang="fr-FR" sz="2400" b="0" dirty="0">
                <a:solidFill>
                  <a:schemeClr val="tx1"/>
                </a:solidFill>
              </a:rPr>
              <a:t>.</a:t>
            </a:r>
            <a:br>
              <a:rPr lang="fr-CA" sz="4800" dirty="0"/>
            </a:br>
            <a:endParaRPr lang="fr-CA"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descr="E:\LMarieb\Chapter_03\B_JPEG_Images_and_Tables\b_unlabeled\figure_03_08b_unlabeled.jpg"/>
          <p:cNvPicPr>
            <a:picLocks noChangeAspect="1" noChangeArrowheads="1"/>
          </p:cNvPicPr>
          <p:nvPr/>
        </p:nvPicPr>
        <p:blipFill rotWithShape="1">
          <a:blip r:embed="rId3" cstate="print"/>
          <a:srcRect l="1907" t="29481" r="2197" b="17984"/>
          <a:stretch/>
        </p:blipFill>
        <p:spPr bwMode="auto">
          <a:xfrm>
            <a:off x="2173622" y="3733100"/>
            <a:ext cx="4966282" cy="2080470"/>
          </a:xfrm>
          <a:prstGeom prst="rect">
            <a:avLst/>
          </a:prstGeom>
          <a:noFill/>
          <a:ln w="9525">
            <a:noFill/>
            <a:miter lim="800000"/>
            <a:headEnd/>
            <a:tailEnd/>
          </a:ln>
        </p:spPr>
      </p:pic>
      <p:sp>
        <p:nvSpPr>
          <p:cNvPr id="24579" name="ZoneTexte 3"/>
          <p:cNvSpPr txBox="1">
            <a:spLocks noChangeArrowheads="1"/>
          </p:cNvSpPr>
          <p:nvPr/>
        </p:nvSpPr>
        <p:spPr bwMode="auto">
          <a:xfrm>
            <a:off x="2173622" y="3815618"/>
            <a:ext cx="4966282" cy="338554"/>
          </a:xfrm>
          <a:prstGeom prst="rect">
            <a:avLst/>
          </a:prstGeom>
          <a:noFill/>
          <a:ln w="9525">
            <a:noFill/>
            <a:miter lim="800000"/>
            <a:headEnd/>
            <a:tailEnd/>
          </a:ln>
        </p:spPr>
        <p:txBody>
          <a:bodyPr wrap="square">
            <a:spAutoFit/>
          </a:bodyPr>
          <a:lstStyle/>
          <a:p>
            <a:pPr algn="ctr"/>
            <a:r>
              <a:rPr lang="fr-CA" sz="1600" b="1" dirty="0">
                <a:latin typeface="Calibri" pitchFamily="34" charset="0"/>
                <a:cs typeface="Calibri" pitchFamily="34" charset="0"/>
              </a:rPr>
              <a:t>Membrane perméable à l’eau et imperméable au soluté</a:t>
            </a:r>
          </a:p>
        </p:txBody>
      </p:sp>
      <p:sp>
        <p:nvSpPr>
          <p:cNvPr id="24580" name="ZoneTexte 4"/>
          <p:cNvSpPr txBox="1">
            <a:spLocks noChangeArrowheads="1"/>
          </p:cNvSpPr>
          <p:nvPr/>
        </p:nvSpPr>
        <p:spPr bwMode="auto">
          <a:xfrm>
            <a:off x="3080387" y="4703177"/>
            <a:ext cx="481222" cy="307777"/>
          </a:xfrm>
          <a:prstGeom prst="rect">
            <a:avLst/>
          </a:prstGeom>
          <a:noFill/>
          <a:ln w="9525">
            <a:noFill/>
            <a:miter lim="800000"/>
            <a:headEnd/>
            <a:tailEnd/>
          </a:ln>
        </p:spPr>
        <p:txBody>
          <a:bodyPr wrap="none">
            <a:spAutoFit/>
          </a:bodyPr>
          <a:lstStyle/>
          <a:p>
            <a:r>
              <a:rPr lang="en-CA" sz="1400" b="1" dirty="0">
                <a:latin typeface="Calibri" pitchFamily="34" charset="0"/>
                <a:cs typeface="Calibri" pitchFamily="34" charset="0"/>
              </a:rPr>
              <a:t>H</a:t>
            </a:r>
            <a:r>
              <a:rPr lang="en-CA" sz="1400" b="1" baseline="-25000" dirty="0">
                <a:latin typeface="Calibri" pitchFamily="34" charset="0"/>
                <a:cs typeface="Calibri" pitchFamily="34" charset="0"/>
              </a:rPr>
              <a:t>2</a:t>
            </a:r>
            <a:r>
              <a:rPr lang="en-CA" sz="1400" b="1" dirty="0">
                <a:latin typeface="Calibri" pitchFamily="34" charset="0"/>
                <a:cs typeface="Calibri" pitchFamily="34" charset="0"/>
              </a:rPr>
              <a:t>O</a:t>
            </a:r>
            <a:endParaRPr lang="fr-CA" sz="1400" b="1" dirty="0">
              <a:latin typeface="Calibri" pitchFamily="34" charset="0"/>
              <a:cs typeface="Calibri" pitchFamily="34" charset="0"/>
            </a:endParaRPr>
          </a:p>
        </p:txBody>
      </p:sp>
      <p:sp>
        <p:nvSpPr>
          <p:cNvPr id="9" name="TextBox 8">
            <a:extLst>
              <a:ext uri="{FF2B5EF4-FFF2-40B4-BE49-F238E27FC236}">
                <a16:creationId xmlns:a16="http://schemas.microsoft.com/office/drawing/2014/main" id="{CB6233D6-A9BF-4BC0-9947-02B6368FF86A}"/>
              </a:ext>
            </a:extLst>
          </p:cNvPr>
          <p:cNvSpPr txBox="1"/>
          <p:nvPr/>
        </p:nvSpPr>
        <p:spPr>
          <a:xfrm>
            <a:off x="269559" y="259015"/>
            <a:ext cx="8312379" cy="3308598"/>
          </a:xfrm>
          <a:prstGeom prst="rect">
            <a:avLst/>
          </a:prstGeom>
          <a:noFill/>
        </p:spPr>
        <p:txBody>
          <a:bodyPr wrap="square">
            <a:spAutoFit/>
          </a:bodyPr>
          <a:lstStyle/>
          <a:p>
            <a:pPr lvl="0">
              <a:spcBef>
                <a:spcPts val="600"/>
              </a:spcBef>
              <a:spcAft>
                <a:spcPts val="0"/>
              </a:spcAft>
              <a:buSzPts val="900"/>
            </a:pPr>
            <a:r>
              <a:rPr lang="fr-FR" dirty="0">
                <a:solidFill>
                  <a:srgbClr val="000000"/>
                </a:solidFill>
                <a:latin typeface="+mj-lt"/>
                <a:ea typeface="Times New Roman" panose="02020603050405020304" pitchFamily="18" charset="0"/>
              </a:rPr>
              <a:t>C</a:t>
            </a:r>
            <a:r>
              <a:rPr lang="fr-FR" dirty="0">
                <a:solidFill>
                  <a:srgbClr val="000000"/>
                </a:solidFill>
                <a:effectLst/>
                <a:latin typeface="+mj-lt"/>
                <a:ea typeface="Times New Roman" panose="02020603050405020304" pitchFamily="18" charset="0"/>
              </a:rPr>
              <a:t>onditions requises pour que l’osmose se produise : </a:t>
            </a:r>
            <a:endParaRPr lang="en-CA" dirty="0">
              <a:solidFill>
                <a:srgbClr val="000000"/>
              </a:solidFill>
              <a:effectLst/>
              <a:latin typeface="+mj-lt"/>
              <a:ea typeface="Times New Roman" panose="02020603050405020304" pitchFamily="18" charset="0"/>
            </a:endParaRPr>
          </a:p>
          <a:p>
            <a:pPr marL="176213" lvl="5" indent="-176213">
              <a:spcBef>
                <a:spcPts val="600"/>
              </a:spcBef>
              <a:spcAft>
                <a:spcPts val="0"/>
              </a:spcAft>
              <a:buFont typeface="+mj-lt"/>
              <a:buAutoNum type="romanLcParenR"/>
              <a:tabLst>
                <a:tab pos="1257300" algn="l"/>
              </a:tabLst>
            </a:pPr>
            <a:r>
              <a:rPr lang="fr-FR" sz="1600" b="1" dirty="0">
                <a:solidFill>
                  <a:srgbClr val="000000"/>
                </a:solidFill>
                <a:effectLst/>
                <a:latin typeface="+mj-lt"/>
                <a:ea typeface="Times New Roman" panose="02020603050405020304" pitchFamily="18" charset="0"/>
              </a:rPr>
              <a:t>La </a:t>
            </a:r>
            <a:r>
              <a:rPr lang="fr-FR" sz="1600" b="1" u="sng" dirty="0">
                <a:solidFill>
                  <a:srgbClr val="000000"/>
                </a:solidFill>
                <a:effectLst/>
                <a:latin typeface="+mj-lt"/>
                <a:ea typeface="Times New Roman" panose="02020603050405020304" pitchFamily="18" charset="0"/>
              </a:rPr>
              <a:t>concentration de l’eau</a:t>
            </a:r>
            <a:r>
              <a:rPr lang="fr-FR" sz="1600" b="1" dirty="0">
                <a:solidFill>
                  <a:srgbClr val="000000"/>
                </a:solidFill>
                <a:effectLst/>
                <a:latin typeface="+mj-lt"/>
                <a:ea typeface="Times New Roman" panose="02020603050405020304" pitchFamily="18" charset="0"/>
              </a:rPr>
              <a:t> doit être différente de part et d’autre de la membrane</a:t>
            </a:r>
            <a:r>
              <a:rPr lang="fr-FR" sz="1600" dirty="0">
                <a:solidFill>
                  <a:srgbClr val="000000"/>
                </a:solidFill>
                <a:effectLst/>
                <a:latin typeface="+mj-lt"/>
                <a:ea typeface="Times New Roman" panose="02020603050405020304" pitchFamily="18" charset="0"/>
              </a:rPr>
              <a:t>; l’eau diffuse alors de la région dont la concentration de l’eau est la plus élevée à la région dont la concentration en eau est la plus faible.</a:t>
            </a:r>
            <a:endParaRPr lang="en-CA" sz="1600" dirty="0">
              <a:solidFill>
                <a:srgbClr val="000000"/>
              </a:solidFill>
              <a:effectLst/>
              <a:latin typeface="+mj-lt"/>
              <a:ea typeface="Times New Roman" panose="02020603050405020304" pitchFamily="18" charset="0"/>
            </a:endParaRPr>
          </a:p>
          <a:p>
            <a:pPr marL="176213" lvl="1">
              <a:buSzPts val="1000"/>
              <a:tabLst>
                <a:tab pos="1371600" algn="l"/>
              </a:tabLst>
            </a:pPr>
            <a:r>
              <a:rPr lang="fr-FR" sz="1600" dirty="0">
                <a:solidFill>
                  <a:srgbClr val="000000"/>
                </a:solidFill>
                <a:effectLst/>
                <a:latin typeface="+mj-lt"/>
                <a:ea typeface="Times New Roman" panose="02020603050405020304" pitchFamily="18" charset="0"/>
                <a:cs typeface="Times New Roman" panose="02020603050405020304" pitchFamily="18" charset="0"/>
              </a:rPr>
              <a:t>La concentration de l’eau est inversement reliée à celle des solutés: i.e. la concentration en H</a:t>
            </a:r>
            <a:r>
              <a:rPr lang="fr-FR" sz="1600" baseline="-25000" dirty="0">
                <a:solidFill>
                  <a:srgbClr val="000000"/>
                </a:solidFill>
                <a:effectLst/>
                <a:latin typeface="+mj-lt"/>
                <a:ea typeface="Times New Roman" panose="02020603050405020304" pitchFamily="18" charset="0"/>
                <a:cs typeface="Times New Roman" panose="02020603050405020304" pitchFamily="18" charset="0"/>
              </a:rPr>
              <a:t>2</a:t>
            </a:r>
            <a:r>
              <a:rPr lang="fr-FR" sz="1600" dirty="0">
                <a:solidFill>
                  <a:srgbClr val="000000"/>
                </a:solidFill>
                <a:effectLst/>
                <a:latin typeface="+mj-lt"/>
                <a:ea typeface="Times New Roman" panose="02020603050405020304" pitchFamily="18" charset="0"/>
                <a:cs typeface="Times New Roman" panose="02020603050405020304" pitchFamily="18" charset="0"/>
              </a:rPr>
              <a:t>O diminue avec une augmentation du nombre total de molécules de solutés.</a:t>
            </a:r>
            <a:endParaRPr lang="en-CA" sz="1600" dirty="0">
              <a:solidFill>
                <a:srgbClr val="000000"/>
              </a:solidFill>
              <a:effectLst/>
              <a:latin typeface="+mj-lt"/>
              <a:ea typeface="Times New Roman" panose="02020603050405020304" pitchFamily="18" charset="0"/>
              <a:cs typeface="Times New Roman" panose="02020603050405020304" pitchFamily="18" charset="0"/>
            </a:endParaRPr>
          </a:p>
          <a:p>
            <a:pPr marL="628650" indent="-452438">
              <a:spcBef>
                <a:spcPts val="600"/>
              </a:spcBef>
              <a:tabLst>
                <a:tab pos="1028700" algn="l"/>
              </a:tabLst>
            </a:pPr>
            <a:r>
              <a:rPr lang="fr-FR" sz="1600" dirty="0">
                <a:solidFill>
                  <a:srgbClr val="000000"/>
                </a:solidFill>
                <a:effectLst/>
                <a:latin typeface="+mj-lt"/>
                <a:ea typeface="Times New Roman" panose="02020603050405020304" pitchFamily="18" charset="0"/>
              </a:rPr>
              <a:t>Ex.: 	Dans l’eau pure, [H</a:t>
            </a:r>
            <a:r>
              <a:rPr lang="fr-FR" sz="1600" baseline="-25000" dirty="0">
                <a:solidFill>
                  <a:srgbClr val="000000"/>
                </a:solidFill>
                <a:effectLst/>
                <a:latin typeface="+mj-lt"/>
                <a:ea typeface="Times New Roman" panose="02020603050405020304" pitchFamily="18" charset="0"/>
              </a:rPr>
              <a:t>2</a:t>
            </a:r>
            <a:r>
              <a:rPr lang="fr-FR" sz="1600" dirty="0">
                <a:solidFill>
                  <a:srgbClr val="000000"/>
                </a:solidFill>
                <a:effectLst/>
                <a:latin typeface="+mj-lt"/>
                <a:ea typeface="Times New Roman" panose="02020603050405020304" pitchFamily="18" charset="0"/>
              </a:rPr>
              <a:t>O] = 55,5 mole/L. </a:t>
            </a:r>
            <a:endParaRPr lang="en-CA" sz="1600" dirty="0">
              <a:solidFill>
                <a:srgbClr val="000000"/>
              </a:solidFill>
              <a:effectLst/>
              <a:latin typeface="+mj-lt"/>
              <a:ea typeface="Times New Roman" panose="02020603050405020304" pitchFamily="18" charset="0"/>
            </a:endParaRPr>
          </a:p>
          <a:p>
            <a:pPr marL="176213"/>
            <a:r>
              <a:rPr lang="fr-FR" sz="1600" dirty="0">
                <a:solidFill>
                  <a:srgbClr val="000000"/>
                </a:solidFill>
                <a:effectLst/>
                <a:latin typeface="+mj-lt"/>
                <a:ea typeface="Times New Roman" panose="02020603050405020304" pitchFamily="18" charset="0"/>
              </a:rPr>
              <a:t>Dans une solution contenant 0.1 mole/L glucose, des molécules d’eau sont remplacées par le glucose, et [H</a:t>
            </a:r>
            <a:r>
              <a:rPr lang="fr-FR" sz="1600" baseline="-25000" dirty="0">
                <a:solidFill>
                  <a:srgbClr val="000000"/>
                </a:solidFill>
                <a:effectLst/>
                <a:latin typeface="+mj-lt"/>
                <a:ea typeface="Times New Roman" panose="02020603050405020304" pitchFamily="18" charset="0"/>
              </a:rPr>
              <a:t>2</a:t>
            </a:r>
            <a:r>
              <a:rPr lang="fr-FR" sz="1600" dirty="0">
                <a:solidFill>
                  <a:srgbClr val="000000"/>
                </a:solidFill>
                <a:effectLst/>
                <a:latin typeface="+mj-lt"/>
                <a:ea typeface="Times New Roman" panose="02020603050405020304" pitchFamily="18" charset="0"/>
              </a:rPr>
              <a:t>O] ≈ 55,5 – 0.1 = 55,4 mole/L</a:t>
            </a:r>
            <a:endParaRPr lang="en-CA" sz="1600" dirty="0">
              <a:solidFill>
                <a:srgbClr val="000000"/>
              </a:solidFill>
              <a:effectLst/>
              <a:latin typeface="+mj-lt"/>
              <a:ea typeface="Times New Roman" panose="02020603050405020304" pitchFamily="18" charset="0"/>
            </a:endParaRPr>
          </a:p>
          <a:p>
            <a:pPr marL="176213" lvl="1">
              <a:tabLst>
                <a:tab pos="1943100" algn="l"/>
              </a:tabLst>
            </a:pPr>
            <a:r>
              <a:rPr lang="fr-FR" sz="1600" dirty="0">
                <a:solidFill>
                  <a:srgbClr val="000000"/>
                </a:solidFill>
                <a:effectLst/>
                <a:latin typeface="+mj-lt"/>
                <a:ea typeface="Times New Roman" panose="02020603050405020304" pitchFamily="18" charset="0"/>
                <a:cs typeface="Times New Roman" panose="02020603050405020304" pitchFamily="18" charset="0"/>
              </a:rPr>
              <a:t>Dans cette situation, l’eau diffuserait de la région en eau pure à la région contenant du glucose.</a:t>
            </a:r>
            <a:endParaRPr lang="en-CA" sz="1600" dirty="0">
              <a:solidFill>
                <a:srgbClr val="000000"/>
              </a:solidFill>
              <a:effectLst/>
              <a:latin typeface="+mj-lt"/>
              <a:ea typeface="Times New Roman" panose="02020603050405020304" pitchFamily="18" charset="0"/>
              <a:cs typeface="Times New Roman" panose="02020603050405020304" pitchFamily="18" charset="0"/>
            </a:endParaRPr>
          </a:p>
          <a:p>
            <a:pPr marL="461963" lvl="1" indent="-285750">
              <a:spcBef>
                <a:spcPts val="600"/>
              </a:spcBef>
              <a:buFont typeface="Wingdings" panose="05000000000000000000" pitchFamily="2" charset="2"/>
              <a:buChar char="Ø"/>
              <a:tabLst>
                <a:tab pos="1943100" algn="l"/>
              </a:tabLst>
            </a:pPr>
            <a:r>
              <a:rPr lang="fr-FR" sz="1600" b="1" dirty="0">
                <a:solidFill>
                  <a:srgbClr val="000000"/>
                </a:solidFill>
                <a:effectLst/>
                <a:latin typeface="+mj-lt"/>
                <a:ea typeface="Times New Roman" panose="02020603050405020304" pitchFamily="18" charset="0"/>
                <a:cs typeface="Times New Roman" panose="02020603050405020304" pitchFamily="18" charset="0"/>
              </a:rPr>
              <a:t>Ainsi, l’eau diffuse de la région la plus diluée à la région la plus concentrée.</a:t>
            </a:r>
            <a:endParaRPr lang="en-CA" sz="1600" b="1" dirty="0">
              <a:solidFill>
                <a:srgbClr val="000000"/>
              </a:solidFill>
              <a:effectLst/>
              <a:latin typeface="+mj-lt"/>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24481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CB6233D6-A9BF-4BC0-9947-02B6368FF86A}"/>
              </a:ext>
            </a:extLst>
          </p:cNvPr>
          <p:cNvSpPr txBox="1"/>
          <p:nvPr/>
        </p:nvSpPr>
        <p:spPr>
          <a:xfrm>
            <a:off x="319258" y="201644"/>
            <a:ext cx="8673740" cy="654025"/>
          </a:xfrm>
          <a:prstGeom prst="rect">
            <a:avLst/>
          </a:prstGeom>
          <a:noFill/>
        </p:spPr>
        <p:txBody>
          <a:bodyPr wrap="square">
            <a:spAutoFit/>
          </a:bodyPr>
          <a:lstStyle/>
          <a:p>
            <a:pPr lvl="0">
              <a:spcBef>
                <a:spcPts val="600"/>
              </a:spcBef>
              <a:spcAft>
                <a:spcPts val="0"/>
              </a:spcAft>
              <a:buSzPts val="900"/>
            </a:pPr>
            <a:r>
              <a:rPr lang="fr-FR" dirty="0">
                <a:solidFill>
                  <a:srgbClr val="000000"/>
                </a:solidFill>
                <a:effectLst/>
                <a:latin typeface="+mj-lt"/>
                <a:ea typeface="Times New Roman" panose="02020603050405020304" pitchFamily="18" charset="0"/>
              </a:rPr>
              <a:t>Conditions requises pour que l’osmose se produise : </a:t>
            </a:r>
            <a:endParaRPr lang="en-CA" dirty="0">
              <a:solidFill>
                <a:srgbClr val="000000"/>
              </a:solidFill>
              <a:effectLst/>
              <a:latin typeface="+mj-lt"/>
              <a:ea typeface="Times New Roman" panose="02020603050405020304" pitchFamily="18" charset="0"/>
            </a:endParaRPr>
          </a:p>
          <a:p>
            <a:pPr marL="268288" indent="-268288">
              <a:spcBef>
                <a:spcPts val="300"/>
              </a:spcBef>
              <a:spcAft>
                <a:spcPts val="0"/>
              </a:spcAft>
            </a:pPr>
            <a:r>
              <a:rPr lang="fr-FR" sz="1600" b="1" dirty="0">
                <a:solidFill>
                  <a:srgbClr val="000000"/>
                </a:solidFill>
                <a:effectLst/>
                <a:latin typeface="+mj-lt"/>
                <a:ea typeface="Times New Roman" panose="02020603050405020304" pitchFamily="18" charset="0"/>
              </a:rPr>
              <a:t>ii)	La membrane doit être </a:t>
            </a:r>
            <a:r>
              <a:rPr lang="fr-FR" sz="1600" b="1" u="sng" dirty="0">
                <a:solidFill>
                  <a:srgbClr val="000000"/>
                </a:solidFill>
                <a:effectLst/>
                <a:latin typeface="+mj-lt"/>
                <a:ea typeface="Times New Roman" panose="02020603050405020304" pitchFamily="18" charset="0"/>
              </a:rPr>
              <a:t>perméable à l’eau mais imperméable à certains solutés</a:t>
            </a:r>
            <a:r>
              <a:rPr lang="fr-FR" sz="1600" b="1" dirty="0">
                <a:solidFill>
                  <a:srgbClr val="000000"/>
                </a:solidFill>
                <a:effectLst/>
                <a:latin typeface="+mj-lt"/>
                <a:ea typeface="Times New Roman" panose="02020603050405020304" pitchFamily="18" charset="0"/>
              </a:rPr>
              <a:t>.</a:t>
            </a:r>
            <a:endParaRPr lang="en-CA" sz="1600" b="1" dirty="0">
              <a:solidFill>
                <a:srgbClr val="000000"/>
              </a:solidFill>
              <a:effectLst/>
              <a:latin typeface="+mj-lt"/>
              <a:ea typeface="Times New Roman" panose="02020603050405020304" pitchFamily="18" charset="0"/>
            </a:endParaRPr>
          </a:p>
        </p:txBody>
      </p:sp>
      <p:pic>
        <p:nvPicPr>
          <p:cNvPr id="2" name="Picture 2" descr="E:\LMarieb\Chapter_03\B_JPEG_Images_and_Tables\b_unlabeled\figure_03_08b_unlabeled.jpg">
            <a:extLst>
              <a:ext uri="{FF2B5EF4-FFF2-40B4-BE49-F238E27FC236}">
                <a16:creationId xmlns:a16="http://schemas.microsoft.com/office/drawing/2014/main" id="{8D95C2F3-5EAB-4ED8-9953-8FC05CF63AE8}"/>
              </a:ext>
            </a:extLst>
          </p:cNvPr>
          <p:cNvPicPr>
            <a:picLocks noChangeAspect="1" noChangeArrowheads="1"/>
          </p:cNvPicPr>
          <p:nvPr/>
        </p:nvPicPr>
        <p:blipFill rotWithShape="1">
          <a:blip r:embed="rId3" cstate="print"/>
          <a:srcRect l="1907" t="31564" r="2197" b="17984"/>
          <a:stretch/>
        </p:blipFill>
        <p:spPr bwMode="auto">
          <a:xfrm>
            <a:off x="4098459" y="3128022"/>
            <a:ext cx="4966282" cy="1997952"/>
          </a:xfrm>
          <a:prstGeom prst="rect">
            <a:avLst/>
          </a:prstGeom>
          <a:noFill/>
          <a:ln w="9525">
            <a:noFill/>
            <a:miter lim="800000"/>
            <a:headEnd/>
            <a:tailEnd/>
          </a:ln>
        </p:spPr>
      </p:pic>
      <p:sp>
        <p:nvSpPr>
          <p:cNvPr id="3" name="ZoneTexte 3">
            <a:extLst>
              <a:ext uri="{FF2B5EF4-FFF2-40B4-BE49-F238E27FC236}">
                <a16:creationId xmlns:a16="http://schemas.microsoft.com/office/drawing/2014/main" id="{CA8C3629-D181-4BFD-94A1-9A37A2B8B3A1}"/>
              </a:ext>
            </a:extLst>
          </p:cNvPr>
          <p:cNvSpPr txBox="1">
            <a:spLocks noChangeArrowheads="1"/>
          </p:cNvSpPr>
          <p:nvPr/>
        </p:nvSpPr>
        <p:spPr bwMode="auto">
          <a:xfrm>
            <a:off x="4098459" y="3128022"/>
            <a:ext cx="4966282" cy="338554"/>
          </a:xfrm>
          <a:prstGeom prst="rect">
            <a:avLst/>
          </a:prstGeom>
          <a:noFill/>
          <a:ln w="9525">
            <a:noFill/>
            <a:miter lim="800000"/>
            <a:headEnd/>
            <a:tailEnd/>
          </a:ln>
        </p:spPr>
        <p:txBody>
          <a:bodyPr wrap="square">
            <a:spAutoFit/>
          </a:bodyPr>
          <a:lstStyle/>
          <a:p>
            <a:pPr algn="ctr"/>
            <a:r>
              <a:rPr lang="fr-CA" sz="1600" b="1" dirty="0">
                <a:latin typeface="Calibri" pitchFamily="34" charset="0"/>
                <a:cs typeface="Calibri" pitchFamily="34" charset="0"/>
              </a:rPr>
              <a:t>Membrane perméable à l’eau et imperméable au soluté</a:t>
            </a:r>
          </a:p>
        </p:txBody>
      </p:sp>
      <p:sp>
        <p:nvSpPr>
          <p:cNvPr id="5" name="ZoneTexte 4">
            <a:extLst>
              <a:ext uri="{FF2B5EF4-FFF2-40B4-BE49-F238E27FC236}">
                <a16:creationId xmlns:a16="http://schemas.microsoft.com/office/drawing/2014/main" id="{08409B07-080C-4EDC-BE1C-32B35842F3EC}"/>
              </a:ext>
            </a:extLst>
          </p:cNvPr>
          <p:cNvSpPr txBox="1">
            <a:spLocks noChangeArrowheads="1"/>
          </p:cNvSpPr>
          <p:nvPr/>
        </p:nvSpPr>
        <p:spPr bwMode="auto">
          <a:xfrm>
            <a:off x="4987573" y="3988497"/>
            <a:ext cx="522900" cy="307777"/>
          </a:xfrm>
          <a:prstGeom prst="rect">
            <a:avLst/>
          </a:prstGeom>
          <a:noFill/>
          <a:ln w="9525">
            <a:noFill/>
            <a:miter lim="800000"/>
            <a:headEnd/>
            <a:tailEnd/>
          </a:ln>
        </p:spPr>
        <p:txBody>
          <a:bodyPr wrap="square">
            <a:spAutoFit/>
          </a:bodyPr>
          <a:lstStyle/>
          <a:p>
            <a:r>
              <a:rPr lang="en-CA" sz="1400" b="1" dirty="0">
                <a:latin typeface="Calibri" pitchFamily="34" charset="0"/>
                <a:cs typeface="Calibri" pitchFamily="34" charset="0"/>
              </a:rPr>
              <a:t>H</a:t>
            </a:r>
            <a:r>
              <a:rPr lang="en-CA" sz="1400" b="1" baseline="-25000" dirty="0">
                <a:latin typeface="Calibri" pitchFamily="34" charset="0"/>
                <a:cs typeface="Calibri" pitchFamily="34" charset="0"/>
              </a:rPr>
              <a:t>2</a:t>
            </a:r>
            <a:r>
              <a:rPr lang="en-CA" sz="1400" b="1" dirty="0">
                <a:latin typeface="Calibri" pitchFamily="34" charset="0"/>
                <a:cs typeface="Calibri" pitchFamily="34" charset="0"/>
              </a:rPr>
              <a:t>O</a:t>
            </a:r>
            <a:endParaRPr lang="fr-CA" sz="1400" b="1" dirty="0">
              <a:latin typeface="Calibri" pitchFamily="34" charset="0"/>
              <a:cs typeface="Calibri" pitchFamily="34" charset="0"/>
            </a:endParaRPr>
          </a:p>
        </p:txBody>
      </p:sp>
      <p:pic>
        <p:nvPicPr>
          <p:cNvPr id="6" name="Picture 2" descr="E:\LMarieb\Chapter_03\B_JPEG_Images_and_Tables\b_unlabeled\figure_03_08a_unlabeled.jpg">
            <a:extLst>
              <a:ext uri="{FF2B5EF4-FFF2-40B4-BE49-F238E27FC236}">
                <a16:creationId xmlns:a16="http://schemas.microsoft.com/office/drawing/2014/main" id="{B369BE44-81E8-4FAE-BFD1-0EDFCE29D698}"/>
              </a:ext>
            </a:extLst>
          </p:cNvPr>
          <p:cNvPicPr>
            <a:picLocks noChangeAspect="1" noChangeArrowheads="1"/>
          </p:cNvPicPr>
          <p:nvPr/>
        </p:nvPicPr>
        <p:blipFill rotWithShape="1">
          <a:blip r:embed="rId4" cstate="print"/>
          <a:srcRect l="2194" t="29469" r="2165" b="18330"/>
          <a:stretch/>
        </p:blipFill>
        <p:spPr bwMode="auto">
          <a:xfrm>
            <a:off x="4103090" y="1053050"/>
            <a:ext cx="4966282" cy="1839622"/>
          </a:xfrm>
          <a:prstGeom prst="rect">
            <a:avLst/>
          </a:prstGeom>
          <a:noFill/>
          <a:ln w="9525">
            <a:noFill/>
            <a:miter lim="800000"/>
            <a:headEnd/>
            <a:tailEnd/>
          </a:ln>
        </p:spPr>
      </p:pic>
      <p:sp>
        <p:nvSpPr>
          <p:cNvPr id="8" name="ZoneTexte 2">
            <a:extLst>
              <a:ext uri="{FF2B5EF4-FFF2-40B4-BE49-F238E27FC236}">
                <a16:creationId xmlns:a16="http://schemas.microsoft.com/office/drawing/2014/main" id="{D64525B8-DAB5-4EE1-A55B-DE51CFDA6778}"/>
              </a:ext>
            </a:extLst>
          </p:cNvPr>
          <p:cNvSpPr txBox="1">
            <a:spLocks noChangeArrowheads="1"/>
          </p:cNvSpPr>
          <p:nvPr/>
        </p:nvSpPr>
        <p:spPr bwMode="auto">
          <a:xfrm>
            <a:off x="4103090" y="1053050"/>
            <a:ext cx="4966282" cy="338554"/>
          </a:xfrm>
          <a:prstGeom prst="rect">
            <a:avLst/>
          </a:prstGeom>
          <a:noFill/>
          <a:ln w="9525">
            <a:noFill/>
            <a:miter lim="800000"/>
            <a:headEnd/>
            <a:tailEnd/>
          </a:ln>
        </p:spPr>
        <p:txBody>
          <a:bodyPr wrap="square">
            <a:spAutoFit/>
          </a:bodyPr>
          <a:lstStyle/>
          <a:p>
            <a:pPr algn="ctr"/>
            <a:r>
              <a:rPr lang="fr-CA" sz="1600" b="1" dirty="0">
                <a:latin typeface="Calibri" pitchFamily="34" charset="0"/>
                <a:cs typeface="Calibri" pitchFamily="34" charset="0"/>
              </a:rPr>
              <a:t>Membrane perméable aux solutés et à l’eau</a:t>
            </a:r>
          </a:p>
        </p:txBody>
      </p:sp>
      <p:sp>
        <p:nvSpPr>
          <p:cNvPr id="12" name="TextBox 11">
            <a:extLst>
              <a:ext uri="{FF2B5EF4-FFF2-40B4-BE49-F238E27FC236}">
                <a16:creationId xmlns:a16="http://schemas.microsoft.com/office/drawing/2014/main" id="{2727E2E9-4732-4894-899F-392DBE67A921}"/>
              </a:ext>
            </a:extLst>
          </p:cNvPr>
          <p:cNvSpPr txBox="1"/>
          <p:nvPr/>
        </p:nvSpPr>
        <p:spPr>
          <a:xfrm>
            <a:off x="314627" y="974885"/>
            <a:ext cx="3783832" cy="4031873"/>
          </a:xfrm>
          <a:prstGeom prst="rect">
            <a:avLst/>
          </a:prstGeom>
          <a:noFill/>
        </p:spPr>
        <p:txBody>
          <a:bodyPr wrap="square">
            <a:spAutoFit/>
          </a:bodyPr>
          <a:lstStyle/>
          <a:p>
            <a:pPr>
              <a:tabLst>
                <a:tab pos="1257300" algn="l"/>
              </a:tabLst>
            </a:pPr>
            <a:r>
              <a:rPr lang="fr-FR" sz="1600" dirty="0">
                <a:solidFill>
                  <a:srgbClr val="000000"/>
                </a:solidFill>
                <a:effectLst/>
                <a:latin typeface="+mj-lt"/>
                <a:ea typeface="Times New Roman" panose="02020603050405020304" pitchFamily="18" charset="0"/>
              </a:rPr>
              <a:t>Si la membrane était perméable à tous les solutés, la diffusion de ces solutés se ferait jusqu’à ce que leurs concentrations deviennent les mêmes de chaque côté de la membrane. </a:t>
            </a:r>
          </a:p>
          <a:p>
            <a:pPr marL="285750" indent="-285750">
              <a:buFont typeface="Symbol" panose="05050102010706020507" pitchFamily="18" charset="2"/>
              <a:buChar char="®"/>
              <a:tabLst>
                <a:tab pos="1257300" algn="l"/>
              </a:tabLst>
            </a:pPr>
            <a:r>
              <a:rPr lang="fr-FR" sz="1600" dirty="0">
                <a:solidFill>
                  <a:srgbClr val="000000"/>
                </a:solidFill>
                <a:latin typeface="+mj-lt"/>
                <a:ea typeface="Times New Roman" panose="02020603050405020304" pitchFamily="18" charset="0"/>
              </a:rPr>
              <a:t>A</a:t>
            </a:r>
            <a:r>
              <a:rPr lang="fr-FR" sz="1600" dirty="0">
                <a:solidFill>
                  <a:srgbClr val="000000"/>
                </a:solidFill>
                <a:effectLst/>
                <a:latin typeface="+mj-lt"/>
                <a:ea typeface="Times New Roman" panose="02020603050405020304" pitchFamily="18" charset="0"/>
              </a:rPr>
              <a:t>ucune osmose ne se produirait une fois l’équilibre atteint.</a:t>
            </a:r>
            <a:endParaRPr lang="en-CA" sz="1600" dirty="0">
              <a:solidFill>
                <a:srgbClr val="000000"/>
              </a:solidFill>
              <a:latin typeface="+mj-lt"/>
              <a:ea typeface="Times New Roman" panose="02020603050405020304" pitchFamily="18" charset="0"/>
            </a:endParaRPr>
          </a:p>
          <a:p>
            <a:pPr marL="285750" indent="-285750">
              <a:buFont typeface="Symbol" panose="05050102010706020507" pitchFamily="18" charset="2"/>
              <a:buChar char="®"/>
              <a:tabLst>
                <a:tab pos="1257300" algn="l"/>
              </a:tabLst>
            </a:pPr>
            <a:endParaRPr lang="fr-FR" sz="1600" dirty="0">
              <a:solidFill>
                <a:srgbClr val="000000"/>
              </a:solidFill>
              <a:latin typeface="+mj-lt"/>
              <a:ea typeface="Times New Roman" panose="02020603050405020304" pitchFamily="18" charset="0"/>
            </a:endParaRPr>
          </a:p>
          <a:p>
            <a:pPr marL="268288"/>
            <a:endParaRPr lang="fr-FR" sz="1600" dirty="0">
              <a:solidFill>
                <a:srgbClr val="000000"/>
              </a:solidFill>
              <a:effectLst/>
              <a:latin typeface="+mj-lt"/>
              <a:ea typeface="Times New Roman" panose="02020603050405020304" pitchFamily="18" charset="0"/>
            </a:endParaRPr>
          </a:p>
          <a:p>
            <a:r>
              <a:rPr lang="fr-FR" sz="1600" dirty="0">
                <a:solidFill>
                  <a:srgbClr val="000000"/>
                </a:solidFill>
                <a:effectLst/>
                <a:latin typeface="+mj-lt"/>
                <a:ea typeface="Times New Roman" panose="02020603050405020304" pitchFamily="18" charset="0"/>
              </a:rPr>
              <a:t>Par contre, si certains solutés ne peuvent diffuser à travers la membrane, il se crée un mouvement net d’eau vers le compartiment le plus concentré en solutés.</a:t>
            </a:r>
          </a:p>
          <a:p>
            <a:r>
              <a:rPr lang="fr-FR" sz="1600" dirty="0">
                <a:solidFill>
                  <a:srgbClr val="000000"/>
                </a:solidFill>
                <a:effectLst/>
                <a:latin typeface="+mj-lt"/>
                <a:ea typeface="Times New Roman" panose="02020603050405020304" pitchFamily="18" charset="0"/>
                <a:cs typeface="Arial" panose="020B0604020202020204" pitchFamily="34" charset="0"/>
                <a:sym typeface="Symbol" panose="05050102010706020507" pitchFamily="18" charset="2"/>
              </a:rPr>
              <a:t></a:t>
            </a:r>
            <a:r>
              <a:rPr lang="fr-FR" sz="1600" dirty="0">
                <a:solidFill>
                  <a:srgbClr val="000000"/>
                </a:solidFill>
                <a:effectLst/>
                <a:latin typeface="+mj-lt"/>
                <a:ea typeface="Times New Roman" panose="02020603050405020304" pitchFamily="18" charset="0"/>
              </a:rPr>
              <a:t> Osmose</a:t>
            </a:r>
            <a:endParaRPr lang="en-CA" sz="1600" dirty="0">
              <a:solidFill>
                <a:srgbClr val="000000"/>
              </a:solidFill>
              <a:effectLst/>
              <a:latin typeface="+mj-lt"/>
              <a:ea typeface="Times New Roman" panose="02020603050405020304" pitchFamily="18" charset="0"/>
            </a:endParaRPr>
          </a:p>
          <a:p>
            <a:endParaRPr lang="fr-FR" sz="1600" dirty="0">
              <a:solidFill>
                <a:srgbClr val="000000"/>
              </a:solidFill>
              <a:effectLst/>
              <a:latin typeface="+mj-lt"/>
              <a:ea typeface="Times New Roman" panose="02020603050405020304" pitchFamily="18" charset="0"/>
            </a:endParaRPr>
          </a:p>
        </p:txBody>
      </p:sp>
      <p:sp>
        <p:nvSpPr>
          <p:cNvPr id="14" name="ZoneTexte 4">
            <a:extLst>
              <a:ext uri="{FF2B5EF4-FFF2-40B4-BE49-F238E27FC236}">
                <a16:creationId xmlns:a16="http://schemas.microsoft.com/office/drawing/2014/main" id="{38EAF2A6-6B47-4703-93F7-0AACAC5DF7CA}"/>
              </a:ext>
            </a:extLst>
          </p:cNvPr>
          <p:cNvSpPr txBox="1">
            <a:spLocks noChangeArrowheads="1"/>
          </p:cNvSpPr>
          <p:nvPr/>
        </p:nvSpPr>
        <p:spPr bwMode="auto">
          <a:xfrm>
            <a:off x="5004485" y="1652565"/>
            <a:ext cx="522900" cy="307777"/>
          </a:xfrm>
          <a:prstGeom prst="rect">
            <a:avLst/>
          </a:prstGeom>
          <a:noFill/>
          <a:ln w="9525">
            <a:noFill/>
            <a:miter lim="800000"/>
            <a:headEnd/>
            <a:tailEnd/>
          </a:ln>
        </p:spPr>
        <p:txBody>
          <a:bodyPr wrap="square">
            <a:spAutoFit/>
          </a:bodyPr>
          <a:lstStyle/>
          <a:p>
            <a:r>
              <a:rPr lang="en-CA" sz="1400" b="1" dirty="0">
                <a:latin typeface="Calibri" pitchFamily="34" charset="0"/>
                <a:cs typeface="Calibri" pitchFamily="34" charset="0"/>
              </a:rPr>
              <a:t>H</a:t>
            </a:r>
            <a:r>
              <a:rPr lang="en-CA" sz="1400" b="1" baseline="-25000" dirty="0">
                <a:latin typeface="Calibri" pitchFamily="34" charset="0"/>
                <a:cs typeface="Calibri" pitchFamily="34" charset="0"/>
              </a:rPr>
              <a:t>2</a:t>
            </a:r>
            <a:r>
              <a:rPr lang="en-CA" sz="1400" b="1" dirty="0">
                <a:latin typeface="Calibri" pitchFamily="34" charset="0"/>
                <a:cs typeface="Calibri" pitchFamily="34" charset="0"/>
              </a:rPr>
              <a:t>O</a:t>
            </a:r>
            <a:endParaRPr lang="fr-CA" sz="1400" b="1" dirty="0">
              <a:latin typeface="Calibri" pitchFamily="34" charset="0"/>
              <a:cs typeface="Calibri" pitchFamily="34" charset="0"/>
            </a:endParaRPr>
          </a:p>
        </p:txBody>
      </p:sp>
      <p:sp>
        <p:nvSpPr>
          <p:cNvPr id="22" name="TextBox 21">
            <a:extLst>
              <a:ext uri="{FF2B5EF4-FFF2-40B4-BE49-F238E27FC236}">
                <a16:creationId xmlns:a16="http://schemas.microsoft.com/office/drawing/2014/main" id="{F75A6FC3-44DC-427D-92CE-A4B9D9139350}"/>
              </a:ext>
            </a:extLst>
          </p:cNvPr>
          <p:cNvSpPr txBox="1"/>
          <p:nvPr/>
        </p:nvSpPr>
        <p:spPr>
          <a:xfrm>
            <a:off x="319258" y="4916026"/>
            <a:ext cx="8750114" cy="1569660"/>
          </a:xfrm>
          <a:prstGeom prst="rect">
            <a:avLst/>
          </a:prstGeom>
          <a:noFill/>
        </p:spPr>
        <p:txBody>
          <a:bodyPr wrap="square">
            <a:spAutoFit/>
          </a:bodyPr>
          <a:lstStyle/>
          <a:p>
            <a:r>
              <a:rPr lang="fr-FR" sz="1600" u="sng" dirty="0">
                <a:solidFill>
                  <a:srgbClr val="000000"/>
                </a:solidFill>
                <a:effectLst/>
                <a:latin typeface="+mj-lt"/>
                <a:ea typeface="Times New Roman" panose="02020603050405020304" pitchFamily="18" charset="0"/>
              </a:rPr>
              <a:t>À noter</a:t>
            </a:r>
            <a:r>
              <a:rPr lang="fr-FR" sz="1600" dirty="0">
                <a:solidFill>
                  <a:srgbClr val="000000"/>
                </a:solidFill>
                <a:effectLst/>
                <a:latin typeface="+mj-lt"/>
                <a:ea typeface="Times New Roman" panose="02020603050405020304" pitchFamily="18" charset="0"/>
              </a:rPr>
              <a:t> : </a:t>
            </a:r>
          </a:p>
          <a:p>
            <a:pPr marL="342900" indent="-342900">
              <a:buAutoNum type="arabicParenR"/>
            </a:pPr>
            <a:r>
              <a:rPr lang="fr-FR" sz="1600" dirty="0">
                <a:solidFill>
                  <a:srgbClr val="000000"/>
                </a:solidFill>
                <a:latin typeface="+mj-lt"/>
                <a:ea typeface="Times New Roman" panose="02020603050405020304" pitchFamily="18" charset="0"/>
              </a:rPr>
              <a:t>Le mouvement net d’eau crée une pression mesurable sur la membrane. Cette pression est appelée « </a:t>
            </a:r>
            <a:r>
              <a:rPr lang="fr-FR" sz="1600" i="1" dirty="0">
                <a:solidFill>
                  <a:srgbClr val="000000"/>
                </a:solidFill>
                <a:latin typeface="+mj-lt"/>
                <a:ea typeface="Times New Roman" panose="02020603050405020304" pitchFamily="18" charset="0"/>
              </a:rPr>
              <a:t>pression osmotique</a:t>
            </a:r>
            <a:r>
              <a:rPr lang="fr-FR" sz="1600" dirty="0">
                <a:solidFill>
                  <a:srgbClr val="000000"/>
                </a:solidFill>
                <a:latin typeface="+mj-lt"/>
                <a:ea typeface="Times New Roman" panose="02020603050405020304" pitchFamily="18" charset="0"/>
              </a:rPr>
              <a:t> ».</a:t>
            </a:r>
            <a:endParaRPr lang="fr-FR" sz="1600" dirty="0">
              <a:solidFill>
                <a:srgbClr val="000000"/>
              </a:solidFill>
              <a:effectLst/>
              <a:latin typeface="+mj-lt"/>
              <a:ea typeface="Times New Roman" panose="02020603050405020304" pitchFamily="18" charset="0"/>
            </a:endParaRPr>
          </a:p>
          <a:p>
            <a:pPr marL="342900" indent="-342900">
              <a:buAutoNum type="arabicParenR"/>
            </a:pPr>
            <a:r>
              <a:rPr lang="fr-FR" sz="1600" dirty="0">
                <a:solidFill>
                  <a:srgbClr val="000000"/>
                </a:solidFill>
                <a:effectLst/>
                <a:latin typeface="+mj-lt"/>
                <a:ea typeface="Times New Roman" panose="02020603050405020304" pitchFamily="18" charset="0"/>
              </a:rPr>
              <a:t>Les ions tel le Na</a:t>
            </a:r>
            <a:r>
              <a:rPr lang="fr-FR" sz="1600" baseline="30000" dirty="0">
                <a:solidFill>
                  <a:srgbClr val="000000"/>
                </a:solidFill>
                <a:effectLst/>
                <a:latin typeface="+mj-lt"/>
                <a:ea typeface="Times New Roman" panose="02020603050405020304" pitchFamily="18" charset="0"/>
              </a:rPr>
              <a:t>+</a:t>
            </a:r>
            <a:r>
              <a:rPr lang="fr-FR" sz="1600" dirty="0">
                <a:solidFill>
                  <a:srgbClr val="000000"/>
                </a:solidFill>
                <a:effectLst/>
                <a:latin typeface="+mj-lt"/>
                <a:ea typeface="Times New Roman" panose="02020603050405020304" pitchFamily="18" charset="0"/>
              </a:rPr>
              <a:t> peuvent diffuser à travers les membranes. Cependant, ils sont immédiatement retournés par des mécanismes de transports actifs, de sorte que ces ions se comportent comme s’ils n’étaient pas </a:t>
            </a:r>
            <a:r>
              <a:rPr lang="fr-FR" sz="1600" i="1" dirty="0">
                <a:solidFill>
                  <a:srgbClr val="000000"/>
                </a:solidFill>
                <a:effectLst/>
                <a:latin typeface="+mj-lt"/>
                <a:ea typeface="Times New Roman" panose="02020603050405020304" pitchFamily="18" charset="0"/>
              </a:rPr>
              <a:t>diffusibles</a:t>
            </a:r>
            <a:r>
              <a:rPr lang="fr-FR" sz="1600" dirty="0">
                <a:solidFill>
                  <a:srgbClr val="000000"/>
                </a:solidFill>
                <a:effectLst/>
                <a:latin typeface="+mj-lt"/>
                <a:ea typeface="Times New Roman" panose="02020603050405020304" pitchFamily="18" charset="0"/>
              </a:rPr>
              <a:t>.</a:t>
            </a:r>
            <a:endParaRPr lang="en-CA" sz="1600" dirty="0">
              <a:solidFill>
                <a:srgbClr val="000000"/>
              </a:solidFill>
              <a:effectLst/>
              <a:latin typeface="+mj-lt"/>
              <a:ea typeface="Times New Roman" panose="02020603050405020304" pitchFamily="18" charset="0"/>
            </a:endParaRPr>
          </a:p>
        </p:txBody>
      </p:sp>
      <p:sp>
        <p:nvSpPr>
          <p:cNvPr id="18" name="ZoneTexte 6">
            <a:extLst>
              <a:ext uri="{FF2B5EF4-FFF2-40B4-BE49-F238E27FC236}">
                <a16:creationId xmlns:a16="http://schemas.microsoft.com/office/drawing/2014/main" id="{53CE35C2-3710-4AE4-AE0D-87888A892C09}"/>
              </a:ext>
            </a:extLst>
          </p:cNvPr>
          <p:cNvSpPr txBox="1">
            <a:spLocks noChangeArrowheads="1"/>
          </p:cNvSpPr>
          <p:nvPr/>
        </p:nvSpPr>
        <p:spPr bwMode="auto">
          <a:xfrm>
            <a:off x="4969940" y="1979027"/>
            <a:ext cx="558166" cy="261610"/>
          </a:xfrm>
          <a:prstGeom prst="rect">
            <a:avLst/>
          </a:prstGeom>
          <a:noFill/>
          <a:ln w="9525">
            <a:noFill/>
            <a:miter lim="800000"/>
            <a:headEnd/>
            <a:tailEnd/>
          </a:ln>
        </p:spPr>
        <p:txBody>
          <a:bodyPr wrap="none">
            <a:spAutoFit/>
          </a:bodyPr>
          <a:lstStyle/>
          <a:p>
            <a:r>
              <a:rPr lang="fr-CA" sz="1100" b="1" dirty="0">
                <a:latin typeface="Calibri" pitchFamily="34" charset="0"/>
                <a:cs typeface="Calibri" pitchFamily="34" charset="0"/>
              </a:rPr>
              <a:t>Soluté</a:t>
            </a:r>
          </a:p>
        </p:txBody>
      </p:sp>
    </p:spTree>
    <p:extLst>
      <p:ext uri="{BB962C8B-B14F-4D97-AF65-F5344CB8AC3E}">
        <p14:creationId xmlns:p14="http://schemas.microsoft.com/office/powerpoint/2010/main" val="23667452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Group 206"/>
          <p:cNvGraphicFramePr>
            <a:graphicFrameLocks noGrp="1"/>
          </p:cNvGraphicFramePr>
          <p:nvPr>
            <p:extLst>
              <p:ext uri="{D42A27DB-BD31-4B8C-83A1-F6EECF244321}">
                <p14:modId xmlns:p14="http://schemas.microsoft.com/office/powerpoint/2010/main" val="3686572866"/>
              </p:ext>
            </p:extLst>
          </p:nvPr>
        </p:nvGraphicFramePr>
        <p:xfrm>
          <a:off x="231314" y="2717953"/>
          <a:ext cx="8728331" cy="2527973"/>
        </p:xfrm>
        <a:graphic>
          <a:graphicData uri="http://schemas.openxmlformats.org/drawingml/2006/table">
            <a:tbl>
              <a:tblPr/>
              <a:tblGrid>
                <a:gridCol w="1454609">
                  <a:extLst>
                    <a:ext uri="{9D8B030D-6E8A-4147-A177-3AD203B41FA5}">
                      <a16:colId xmlns:a16="http://schemas.microsoft.com/office/drawing/2014/main" val="20000"/>
                    </a:ext>
                  </a:extLst>
                </a:gridCol>
                <a:gridCol w="1085336">
                  <a:extLst>
                    <a:ext uri="{9D8B030D-6E8A-4147-A177-3AD203B41FA5}">
                      <a16:colId xmlns:a16="http://schemas.microsoft.com/office/drawing/2014/main" val="20001"/>
                    </a:ext>
                  </a:extLst>
                </a:gridCol>
                <a:gridCol w="953133">
                  <a:extLst>
                    <a:ext uri="{9D8B030D-6E8A-4147-A177-3AD203B41FA5}">
                      <a16:colId xmlns:a16="http://schemas.microsoft.com/office/drawing/2014/main" val="20002"/>
                    </a:ext>
                  </a:extLst>
                </a:gridCol>
                <a:gridCol w="967099">
                  <a:extLst>
                    <a:ext uri="{9D8B030D-6E8A-4147-A177-3AD203B41FA5}">
                      <a16:colId xmlns:a16="http://schemas.microsoft.com/office/drawing/2014/main" val="20003"/>
                    </a:ext>
                  </a:extLst>
                </a:gridCol>
                <a:gridCol w="848394">
                  <a:extLst>
                    <a:ext uri="{9D8B030D-6E8A-4147-A177-3AD203B41FA5}">
                      <a16:colId xmlns:a16="http://schemas.microsoft.com/office/drawing/2014/main" val="20004"/>
                    </a:ext>
                  </a:extLst>
                </a:gridCol>
                <a:gridCol w="916474">
                  <a:extLst>
                    <a:ext uri="{9D8B030D-6E8A-4147-A177-3AD203B41FA5}">
                      <a16:colId xmlns:a16="http://schemas.microsoft.com/office/drawing/2014/main" val="20005"/>
                    </a:ext>
                  </a:extLst>
                </a:gridCol>
                <a:gridCol w="965355">
                  <a:extLst>
                    <a:ext uri="{9D8B030D-6E8A-4147-A177-3AD203B41FA5}">
                      <a16:colId xmlns:a16="http://schemas.microsoft.com/office/drawing/2014/main" val="20006"/>
                    </a:ext>
                  </a:extLst>
                </a:gridCol>
                <a:gridCol w="1537931">
                  <a:extLst>
                    <a:ext uri="{9D8B030D-6E8A-4147-A177-3AD203B41FA5}">
                      <a16:colId xmlns:a16="http://schemas.microsoft.com/office/drawing/2014/main" val="20007"/>
                    </a:ext>
                  </a:extLst>
                </a:gridCol>
              </a:tblGrid>
              <a:tr h="749300">
                <a:tc gridSpan="7">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sz="1800" b="1" i="0" u="none" strike="noStrike" cap="none" normalizeH="0" baseline="0" dirty="0">
                          <a:ln>
                            <a:noFill/>
                          </a:ln>
                          <a:solidFill>
                            <a:srgbClr val="000000"/>
                          </a:solidFill>
                          <a:effectLst/>
                          <a:latin typeface="Arial" charset="0"/>
                          <a:cs typeface="Times New Roman" pitchFamily="18" charset="0"/>
                        </a:rPr>
                        <a:t>Concentrations typiques de quelques solutés des liquides extracellulaire et intracellulaire</a:t>
                      </a:r>
                      <a:endParaRPr kumimoji="0" lang="fr-FR" sz="1800" b="0" i="0" u="none" strike="noStrike" cap="none" normalizeH="0" baseline="0" dirty="0">
                        <a:ln>
                          <a:noFill/>
                        </a:ln>
                        <a:solidFill>
                          <a:schemeClr val="tx1"/>
                        </a:solidFill>
                        <a:effectLst/>
                        <a:latin typeface="Arial" charset="0"/>
                        <a:cs typeface="Times New Roman" pitchFamily="18" charset="0"/>
                      </a:endParaRPr>
                    </a:p>
                  </a:txBody>
                  <a:tcPr marT="45731" marB="4573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fr-CA"/>
                    </a:p>
                  </a:txBody>
                  <a:tcPr/>
                </a:tc>
                <a:tc hMerge="1">
                  <a:txBody>
                    <a:bodyPr/>
                    <a:lstStyle/>
                    <a:p>
                      <a:endParaRPr lang="fr-CA"/>
                    </a:p>
                  </a:txBody>
                  <a:tcPr/>
                </a:tc>
                <a:tc hMerge="1">
                  <a:txBody>
                    <a:bodyPr/>
                    <a:lstStyle/>
                    <a:p>
                      <a:endParaRPr lang="fr-CA"/>
                    </a:p>
                  </a:txBody>
                  <a:tcPr/>
                </a:tc>
                <a:tc hMerge="1">
                  <a:txBody>
                    <a:bodyPr/>
                    <a:lstStyle/>
                    <a:p>
                      <a:endParaRPr lang="fr-CA"/>
                    </a:p>
                  </a:txBody>
                  <a:tcPr/>
                </a:tc>
                <a:tc hMerge="1">
                  <a:txBody>
                    <a:bodyPr/>
                    <a:lstStyle/>
                    <a:p>
                      <a:endParaRPr lang="fr-CA"/>
                    </a:p>
                  </a:txBody>
                  <a:tcPr/>
                </a:tc>
                <a:tc hMerge="1">
                  <a:txBody>
                    <a:bodyPr/>
                    <a:lstStyle/>
                    <a:p>
                      <a:endParaRPr lang="fr-CA"/>
                    </a:p>
                  </a:txBody>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sz="1800" b="0" i="0" u="none" strike="noStrike" cap="none" normalizeH="0" baseline="0" dirty="0">
                        <a:ln>
                          <a:noFill/>
                        </a:ln>
                        <a:solidFill>
                          <a:schemeClr val="tx1"/>
                        </a:solidFill>
                        <a:effectLst/>
                        <a:latin typeface="Arial" charset="0"/>
                        <a:cs typeface="Times New Roman" pitchFamily="18" charset="0"/>
                      </a:endParaRPr>
                    </a:p>
                  </a:txBody>
                  <a:tcPr marT="45731" marB="4573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26659">
                <a:tc>
                  <a:txBody>
                    <a:bodyPr/>
                    <a:lstStyle/>
                    <a:p>
                      <a:pPr marL="0" marR="0" lvl="0" indent="0" algn="l" defTabSz="914400" rtl="0" eaLnBrk="1" fontAlgn="base" latinLnBrk="0" hangingPunct="1">
                        <a:lnSpc>
                          <a:spcPct val="100000"/>
                        </a:lnSpc>
                        <a:spcBef>
                          <a:spcPct val="0"/>
                        </a:spcBef>
                        <a:spcAft>
                          <a:spcPct val="50000"/>
                        </a:spcAft>
                        <a:buClr>
                          <a:srgbClr val="0989C9"/>
                        </a:buClr>
                        <a:buSzPct val="60000"/>
                        <a:buFont typeface="Wingdings" pitchFamily="2" charset="2"/>
                        <a:buNone/>
                        <a:tabLst/>
                      </a:pPr>
                      <a:endParaRPr kumimoji="0" lang="fr-FR" sz="1400" b="0" i="0" u="none" strike="noStrike" cap="none" normalizeH="0" baseline="0">
                        <a:ln>
                          <a:noFill/>
                        </a:ln>
                        <a:solidFill>
                          <a:schemeClr val="tx1"/>
                        </a:solidFill>
                        <a:effectLst/>
                        <a:latin typeface="Arial" charset="0"/>
                        <a:cs typeface="Arial" charset="0"/>
                      </a:endParaRPr>
                    </a:p>
                  </a:txBody>
                  <a:tcPr marT="45731" marB="4573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CA" sz="1400" b="0" i="0" u="none" strike="noStrike" cap="none" normalizeH="0" baseline="0" dirty="0">
                          <a:ln>
                            <a:noFill/>
                          </a:ln>
                          <a:solidFill>
                            <a:srgbClr val="000000"/>
                          </a:solidFill>
                          <a:effectLst/>
                          <a:latin typeface="Arial" charset="0"/>
                          <a:cs typeface="Times New Roman" pitchFamily="18" charset="0"/>
                        </a:rPr>
                        <a:t>Na</a:t>
                      </a:r>
                      <a:r>
                        <a:rPr kumimoji="0" lang="fr-CA" sz="1400" b="0" i="0" u="none" strike="noStrike" cap="none" normalizeH="0" baseline="30000" dirty="0">
                          <a:ln>
                            <a:noFill/>
                          </a:ln>
                          <a:solidFill>
                            <a:srgbClr val="000000"/>
                          </a:solidFill>
                          <a:effectLst/>
                          <a:latin typeface="Arial" charset="0"/>
                          <a:cs typeface="Times New Roman" pitchFamily="18" charset="0"/>
                        </a:rPr>
                        <a:t>+</a:t>
                      </a:r>
                      <a:endParaRPr kumimoji="0" lang="fr-CA" sz="1400" b="0" i="0" u="none" strike="noStrike" cap="none" normalizeH="0" baseline="0" dirty="0">
                        <a:ln>
                          <a:noFill/>
                        </a:ln>
                        <a:solidFill>
                          <a:schemeClr val="tx1"/>
                        </a:solidFill>
                        <a:effectLst/>
                        <a:latin typeface="Arial" charset="0"/>
                        <a:cs typeface="Times New Roman" pitchFamily="18" charset="0"/>
                      </a:endParaRPr>
                    </a:p>
                  </a:txBody>
                  <a:tcPr marT="45731" marB="45731"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CA" sz="1400" b="0" i="0" u="none" strike="noStrike" cap="none" normalizeH="0" baseline="0">
                          <a:ln>
                            <a:noFill/>
                          </a:ln>
                          <a:solidFill>
                            <a:srgbClr val="000000"/>
                          </a:solidFill>
                          <a:effectLst/>
                          <a:latin typeface="Arial" charset="0"/>
                          <a:cs typeface="Times New Roman" pitchFamily="18" charset="0"/>
                        </a:rPr>
                        <a:t>K</a:t>
                      </a:r>
                      <a:r>
                        <a:rPr kumimoji="0" lang="fr-CA" sz="1400" b="0" i="0" u="none" strike="noStrike" cap="none" normalizeH="0" baseline="30000">
                          <a:ln>
                            <a:noFill/>
                          </a:ln>
                          <a:solidFill>
                            <a:srgbClr val="000000"/>
                          </a:solidFill>
                          <a:effectLst/>
                          <a:latin typeface="Arial" charset="0"/>
                          <a:cs typeface="Times New Roman" pitchFamily="18" charset="0"/>
                        </a:rPr>
                        <a:t>+</a:t>
                      </a:r>
                      <a:endParaRPr kumimoji="0" lang="fr-CA" sz="1400" b="0" i="0" u="none" strike="noStrike" cap="none" normalizeH="0" baseline="0">
                        <a:ln>
                          <a:noFill/>
                        </a:ln>
                        <a:solidFill>
                          <a:schemeClr val="tx1"/>
                        </a:solidFill>
                        <a:effectLst/>
                        <a:latin typeface="Arial" charset="0"/>
                        <a:cs typeface="Times New Roman" pitchFamily="18" charset="0"/>
                      </a:endParaRPr>
                    </a:p>
                  </a:txBody>
                  <a:tcPr marT="45731" marB="45731"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CA" sz="1400" b="0" i="0" u="none" strike="noStrike" cap="none" normalizeH="0" baseline="0">
                          <a:ln>
                            <a:noFill/>
                          </a:ln>
                          <a:solidFill>
                            <a:srgbClr val="000000"/>
                          </a:solidFill>
                          <a:effectLst/>
                          <a:latin typeface="Arial" charset="0"/>
                          <a:cs typeface="Times New Roman" pitchFamily="18" charset="0"/>
                        </a:rPr>
                        <a:t>Ca</a:t>
                      </a:r>
                      <a:r>
                        <a:rPr kumimoji="0" lang="fr-CA" sz="1400" b="0" i="0" u="none" strike="noStrike" cap="none" normalizeH="0" baseline="30000">
                          <a:ln>
                            <a:noFill/>
                          </a:ln>
                          <a:solidFill>
                            <a:srgbClr val="000000"/>
                          </a:solidFill>
                          <a:effectLst/>
                          <a:latin typeface="Arial" charset="0"/>
                          <a:cs typeface="Times New Roman" pitchFamily="18" charset="0"/>
                        </a:rPr>
                        <a:t>2+</a:t>
                      </a:r>
                      <a:endParaRPr kumimoji="0" lang="fr-CA" sz="1400" b="0" i="0" u="none" strike="noStrike" cap="none" normalizeH="0" baseline="0">
                        <a:ln>
                          <a:noFill/>
                        </a:ln>
                        <a:solidFill>
                          <a:schemeClr val="tx1"/>
                        </a:solidFill>
                        <a:effectLst/>
                        <a:latin typeface="Arial" charset="0"/>
                        <a:cs typeface="Times New Roman" pitchFamily="18" charset="0"/>
                      </a:endParaRPr>
                    </a:p>
                  </a:txBody>
                  <a:tcPr marT="45731" marB="45731"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CA" sz="1400" b="0" i="0" u="none" strike="noStrike" cap="none" normalizeH="0" baseline="0">
                          <a:ln>
                            <a:noFill/>
                          </a:ln>
                          <a:solidFill>
                            <a:srgbClr val="000000"/>
                          </a:solidFill>
                          <a:effectLst/>
                          <a:latin typeface="Arial" charset="0"/>
                          <a:cs typeface="Times New Roman" pitchFamily="18" charset="0"/>
                        </a:rPr>
                        <a:t>Cl</a:t>
                      </a:r>
                      <a:r>
                        <a:rPr kumimoji="0" lang="fr-CA" sz="1400" b="0" i="0" u="none" strike="noStrike" cap="none" normalizeH="0" baseline="30000">
                          <a:ln>
                            <a:noFill/>
                          </a:ln>
                          <a:solidFill>
                            <a:srgbClr val="000000"/>
                          </a:solidFill>
                          <a:effectLst/>
                          <a:latin typeface="Arial" charset="0"/>
                          <a:cs typeface="Times New Roman" pitchFamily="18" charset="0"/>
                        </a:rPr>
                        <a:t>─</a:t>
                      </a:r>
                      <a:endParaRPr kumimoji="0" lang="fr-CA" sz="1400" b="0" i="0" u="none" strike="noStrike" cap="none" normalizeH="0" baseline="0">
                        <a:ln>
                          <a:noFill/>
                        </a:ln>
                        <a:solidFill>
                          <a:schemeClr val="tx1"/>
                        </a:solidFill>
                        <a:effectLst/>
                        <a:latin typeface="Arial" charset="0"/>
                        <a:cs typeface="Times New Roman" pitchFamily="18" charset="0"/>
                      </a:endParaRPr>
                    </a:p>
                  </a:txBody>
                  <a:tcPr marT="45731" marB="45731"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CA" sz="1400" b="0" i="0" u="none" strike="noStrike" cap="none" normalizeH="0" baseline="0">
                          <a:ln>
                            <a:noFill/>
                          </a:ln>
                          <a:solidFill>
                            <a:srgbClr val="000000"/>
                          </a:solidFill>
                          <a:effectLst/>
                          <a:latin typeface="Arial" charset="0"/>
                          <a:cs typeface="Times New Roman" pitchFamily="18" charset="0"/>
                        </a:rPr>
                        <a:t>HCO</a:t>
                      </a:r>
                      <a:r>
                        <a:rPr kumimoji="0" lang="fr-CA" sz="1400" b="0" i="0" u="none" strike="noStrike" cap="none" normalizeH="0" baseline="-30000">
                          <a:ln>
                            <a:noFill/>
                          </a:ln>
                          <a:solidFill>
                            <a:srgbClr val="000000"/>
                          </a:solidFill>
                          <a:effectLst/>
                          <a:latin typeface="Arial" charset="0"/>
                          <a:cs typeface="Times New Roman" pitchFamily="18" charset="0"/>
                        </a:rPr>
                        <a:t>3</a:t>
                      </a:r>
                      <a:r>
                        <a:rPr kumimoji="0" lang="fr-CA" sz="1400" b="0" i="0" u="none" strike="noStrike" cap="none" normalizeH="0" baseline="30000">
                          <a:ln>
                            <a:noFill/>
                          </a:ln>
                          <a:solidFill>
                            <a:srgbClr val="000000"/>
                          </a:solidFill>
                          <a:effectLst/>
                          <a:latin typeface="Arial" charset="0"/>
                          <a:cs typeface="Times New Roman" pitchFamily="18" charset="0"/>
                        </a:rPr>
                        <a:t>─</a:t>
                      </a:r>
                      <a:endParaRPr kumimoji="0" lang="fr-CA" sz="1400" b="0" i="0" u="none" strike="noStrike" cap="none" normalizeH="0" baseline="0">
                        <a:ln>
                          <a:noFill/>
                        </a:ln>
                        <a:solidFill>
                          <a:schemeClr val="tx1"/>
                        </a:solidFill>
                        <a:effectLst/>
                        <a:latin typeface="Arial" charset="0"/>
                        <a:cs typeface="Times New Roman" pitchFamily="18" charset="0"/>
                      </a:endParaRPr>
                    </a:p>
                  </a:txBody>
                  <a:tcPr marT="45731" marB="45731"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CA" sz="1400" b="0" i="0" u="none" strike="noStrike" cap="none" normalizeH="0" baseline="0">
                          <a:ln>
                            <a:noFill/>
                          </a:ln>
                          <a:solidFill>
                            <a:srgbClr val="000000"/>
                          </a:solidFill>
                          <a:effectLst/>
                          <a:latin typeface="Arial" charset="0"/>
                          <a:cs typeface="Times New Roman" pitchFamily="18" charset="0"/>
                        </a:rPr>
                        <a:t>Glucose</a:t>
                      </a:r>
                      <a:endParaRPr kumimoji="0" lang="fr-CA" sz="1400" b="0" i="0" u="none" strike="noStrike" cap="none" normalizeH="0" baseline="0">
                        <a:ln>
                          <a:noFill/>
                        </a:ln>
                        <a:solidFill>
                          <a:schemeClr val="tx1"/>
                        </a:solidFill>
                        <a:effectLst/>
                        <a:latin typeface="Arial" charset="0"/>
                        <a:cs typeface="Times New Roman" pitchFamily="18" charset="0"/>
                      </a:endParaRPr>
                    </a:p>
                  </a:txBody>
                  <a:tcPr marT="45731" marB="45731"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CA" sz="1400" b="1" i="0" u="none" strike="noStrike" cap="none" normalizeH="0" baseline="0" dirty="0">
                          <a:ln>
                            <a:noFill/>
                          </a:ln>
                          <a:solidFill>
                            <a:srgbClr val="FF0000"/>
                          </a:solidFill>
                          <a:effectLst/>
                          <a:latin typeface="Arial" charset="0"/>
                          <a:cs typeface="Times New Roman" pitchFamily="18" charset="0"/>
                        </a:rPr>
                        <a:t>Concentration totale calculée</a:t>
                      </a:r>
                    </a:p>
                  </a:txBody>
                  <a:tcPr marT="45731" marB="45731"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45589">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CA" sz="1400" b="0" i="0" u="none" strike="noStrike" cap="none" normalizeH="0" baseline="0">
                          <a:ln>
                            <a:noFill/>
                          </a:ln>
                          <a:solidFill>
                            <a:srgbClr val="000000"/>
                          </a:solidFill>
                          <a:effectLst/>
                          <a:latin typeface="Arial" charset="0"/>
                          <a:cs typeface="Times New Roman" pitchFamily="18" charset="0"/>
                        </a:rPr>
                        <a:t>Extracellulaire</a:t>
                      </a:r>
                      <a:endParaRPr kumimoji="0" lang="fr-CA" sz="1400" b="0" i="0" u="none" strike="noStrike" cap="none" normalizeH="0" baseline="0">
                        <a:ln>
                          <a:noFill/>
                        </a:ln>
                        <a:solidFill>
                          <a:schemeClr val="tx1"/>
                        </a:solidFill>
                        <a:effectLst/>
                        <a:latin typeface="Arial" charset="0"/>
                        <a:cs typeface="Times New Roman" pitchFamily="18" charset="0"/>
                      </a:endParaRPr>
                    </a:p>
                  </a:txBody>
                  <a:tcPr marT="45731" marB="4573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CA" sz="1400" b="0" i="0" u="none" strike="noStrike" cap="none" normalizeH="0" baseline="0" dirty="0">
                          <a:ln>
                            <a:noFill/>
                          </a:ln>
                          <a:solidFill>
                            <a:srgbClr val="000000"/>
                          </a:solidFill>
                          <a:effectLst/>
                          <a:latin typeface="Arial" charset="0"/>
                          <a:cs typeface="Times New Roman" pitchFamily="18" charset="0"/>
                        </a:rPr>
                        <a:t>142 mM</a:t>
                      </a:r>
                      <a:endParaRPr kumimoji="0" lang="fr-CA" sz="1400" b="0" i="0" u="none" strike="noStrike" cap="none" normalizeH="0" baseline="0" dirty="0">
                        <a:ln>
                          <a:noFill/>
                        </a:ln>
                        <a:solidFill>
                          <a:schemeClr val="tx1"/>
                        </a:solidFill>
                        <a:effectLst/>
                        <a:latin typeface="Arial" charset="0"/>
                        <a:cs typeface="Times New Roman" pitchFamily="18" charset="0"/>
                      </a:endParaRPr>
                    </a:p>
                  </a:txBody>
                  <a:tcPr marT="45731" marB="4573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CA" sz="1400" b="0" i="0" u="none" strike="noStrike" cap="none" normalizeH="0" baseline="0" dirty="0">
                          <a:ln>
                            <a:noFill/>
                          </a:ln>
                          <a:solidFill>
                            <a:srgbClr val="000000"/>
                          </a:solidFill>
                          <a:effectLst/>
                          <a:latin typeface="Arial" charset="0"/>
                          <a:cs typeface="Times New Roman" pitchFamily="18" charset="0"/>
                        </a:rPr>
                        <a:t>4 mM</a:t>
                      </a:r>
                      <a:endParaRPr kumimoji="0" lang="fr-CA" sz="1400" b="0" i="0" u="none" strike="noStrike" cap="none" normalizeH="0" baseline="0" dirty="0">
                        <a:ln>
                          <a:noFill/>
                        </a:ln>
                        <a:solidFill>
                          <a:schemeClr val="tx1"/>
                        </a:solidFill>
                        <a:effectLst/>
                        <a:latin typeface="Arial" charset="0"/>
                        <a:cs typeface="Times New Roman" pitchFamily="18" charset="0"/>
                      </a:endParaRPr>
                    </a:p>
                  </a:txBody>
                  <a:tcPr marT="45731" marB="4573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CA" sz="1400" b="0" i="0" u="none" strike="noStrike" cap="none" normalizeH="0" baseline="0" dirty="0">
                          <a:ln>
                            <a:noFill/>
                          </a:ln>
                          <a:solidFill>
                            <a:srgbClr val="000000"/>
                          </a:solidFill>
                          <a:effectLst/>
                          <a:latin typeface="Arial" charset="0"/>
                          <a:cs typeface="Times New Roman" pitchFamily="18" charset="0"/>
                        </a:rPr>
                        <a:t>1,2 mM</a:t>
                      </a:r>
                      <a:endParaRPr kumimoji="0" lang="fr-CA" sz="1400" b="0" i="0" u="none" strike="noStrike" cap="none" normalizeH="0" baseline="0" dirty="0">
                        <a:ln>
                          <a:noFill/>
                        </a:ln>
                        <a:solidFill>
                          <a:schemeClr val="tx1"/>
                        </a:solidFill>
                        <a:effectLst/>
                        <a:latin typeface="Arial" charset="0"/>
                        <a:cs typeface="Times New Roman" pitchFamily="18" charset="0"/>
                      </a:endParaRPr>
                    </a:p>
                  </a:txBody>
                  <a:tcPr marT="45731" marB="4573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CA" sz="1400" b="0" i="0" u="none" strike="noStrike" cap="none" normalizeH="0" baseline="0" dirty="0">
                          <a:ln>
                            <a:noFill/>
                          </a:ln>
                          <a:solidFill>
                            <a:srgbClr val="000000"/>
                          </a:solidFill>
                          <a:effectLst/>
                          <a:latin typeface="Arial" charset="0"/>
                          <a:cs typeface="Times New Roman" pitchFamily="18" charset="0"/>
                        </a:rPr>
                        <a:t>105 mM</a:t>
                      </a:r>
                      <a:endParaRPr kumimoji="0" lang="fr-CA" sz="1400" b="0" i="0" u="none" strike="noStrike" cap="none" normalizeH="0" baseline="0" dirty="0">
                        <a:ln>
                          <a:noFill/>
                        </a:ln>
                        <a:solidFill>
                          <a:schemeClr val="tx1"/>
                        </a:solidFill>
                        <a:effectLst/>
                        <a:latin typeface="Arial" charset="0"/>
                        <a:cs typeface="Times New Roman" pitchFamily="18" charset="0"/>
                      </a:endParaRPr>
                    </a:p>
                  </a:txBody>
                  <a:tcPr marT="45731" marB="4573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CA" sz="1400" b="0" i="0" u="none" strike="noStrike" cap="none" normalizeH="0" baseline="0" dirty="0">
                          <a:ln>
                            <a:noFill/>
                          </a:ln>
                          <a:solidFill>
                            <a:srgbClr val="000000"/>
                          </a:solidFill>
                          <a:effectLst/>
                          <a:latin typeface="Arial" charset="0"/>
                          <a:cs typeface="Times New Roman" pitchFamily="18" charset="0"/>
                        </a:rPr>
                        <a:t>24 mM</a:t>
                      </a:r>
                      <a:endParaRPr kumimoji="0" lang="fr-CA" sz="1400" b="0" i="0" u="none" strike="noStrike" cap="none" normalizeH="0" baseline="0" dirty="0">
                        <a:ln>
                          <a:noFill/>
                        </a:ln>
                        <a:solidFill>
                          <a:schemeClr val="tx1"/>
                        </a:solidFill>
                        <a:effectLst/>
                        <a:latin typeface="Arial" charset="0"/>
                        <a:cs typeface="Times New Roman" pitchFamily="18" charset="0"/>
                      </a:endParaRPr>
                    </a:p>
                  </a:txBody>
                  <a:tcPr marT="45731" marB="4573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CA" sz="1400" b="0" i="0" u="none" strike="noStrike" cap="none" normalizeH="0" baseline="0" dirty="0">
                          <a:ln>
                            <a:noFill/>
                          </a:ln>
                          <a:solidFill>
                            <a:srgbClr val="000000"/>
                          </a:solidFill>
                          <a:effectLst/>
                          <a:latin typeface="Arial" charset="0"/>
                          <a:cs typeface="Times New Roman" pitchFamily="18" charset="0"/>
                        </a:rPr>
                        <a:t>5 mM</a:t>
                      </a:r>
                      <a:endParaRPr kumimoji="0" lang="fr-CA" sz="1400" b="0" i="0" u="none" strike="noStrike" cap="none" normalizeH="0" baseline="0" dirty="0">
                        <a:ln>
                          <a:noFill/>
                        </a:ln>
                        <a:solidFill>
                          <a:schemeClr val="tx1"/>
                        </a:solidFill>
                        <a:effectLst/>
                        <a:latin typeface="Arial" charset="0"/>
                        <a:cs typeface="Times New Roman" pitchFamily="18" charset="0"/>
                      </a:endParaRPr>
                    </a:p>
                  </a:txBody>
                  <a:tcPr marT="45731" marB="4573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CA" sz="1400" b="1" i="0" u="none" strike="noStrike" cap="none" normalizeH="0" baseline="0" dirty="0">
                          <a:ln>
                            <a:noFill/>
                          </a:ln>
                          <a:solidFill>
                            <a:srgbClr val="FF0000"/>
                          </a:solidFill>
                          <a:effectLst/>
                          <a:latin typeface="Arial" charset="0"/>
                          <a:cs typeface="Times New Roman" pitchFamily="18" charset="0"/>
                        </a:rPr>
                        <a:t>281,2 </a:t>
                      </a:r>
                      <a:r>
                        <a:rPr kumimoji="0" lang="fr-CA" sz="1400" b="1" i="0" u="none" strike="noStrike" cap="none" normalizeH="0" baseline="0" dirty="0" err="1">
                          <a:ln>
                            <a:noFill/>
                          </a:ln>
                          <a:solidFill>
                            <a:srgbClr val="FF0000"/>
                          </a:solidFill>
                          <a:effectLst/>
                          <a:latin typeface="Arial" charset="0"/>
                          <a:cs typeface="Times New Roman" pitchFamily="18" charset="0"/>
                        </a:rPr>
                        <a:t>mOsm</a:t>
                      </a:r>
                      <a:r>
                        <a:rPr kumimoji="0" lang="fr-CA" sz="1400" b="1" i="0" u="none" strike="noStrike" cap="none" normalizeH="0" baseline="0" dirty="0">
                          <a:ln>
                            <a:noFill/>
                          </a:ln>
                          <a:solidFill>
                            <a:srgbClr val="FF0000"/>
                          </a:solidFill>
                          <a:effectLst/>
                          <a:latin typeface="Arial" charset="0"/>
                          <a:cs typeface="Times New Roman" pitchFamily="18" charset="0"/>
                        </a:rPr>
                        <a:t>/L</a:t>
                      </a:r>
                    </a:p>
                  </a:txBody>
                  <a:tcPr marT="45731" marB="4573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06425">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CA" sz="1400" b="0" i="0" u="none" strike="noStrike" cap="none" normalizeH="0" baseline="0">
                          <a:ln>
                            <a:noFill/>
                          </a:ln>
                          <a:solidFill>
                            <a:srgbClr val="000000"/>
                          </a:solidFill>
                          <a:effectLst/>
                          <a:latin typeface="Arial" charset="0"/>
                          <a:cs typeface="Times New Roman" pitchFamily="18" charset="0"/>
                        </a:rPr>
                        <a:t>Intracellulaire</a:t>
                      </a:r>
                      <a:endParaRPr kumimoji="0" lang="fr-CA" sz="1400" b="0" i="0" u="none" strike="noStrike" cap="none" normalizeH="0" baseline="0">
                        <a:ln>
                          <a:noFill/>
                        </a:ln>
                        <a:solidFill>
                          <a:schemeClr val="tx1"/>
                        </a:solidFill>
                        <a:effectLst/>
                        <a:latin typeface="Arial" charset="0"/>
                        <a:cs typeface="Times New Roman" pitchFamily="18" charset="0"/>
                      </a:endParaRPr>
                    </a:p>
                  </a:txBody>
                  <a:tcPr marT="45731" marB="4573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CA" sz="1400" b="0" i="0" u="none" strike="noStrike" cap="none" normalizeH="0" baseline="0" dirty="0">
                          <a:ln>
                            <a:noFill/>
                          </a:ln>
                          <a:solidFill>
                            <a:srgbClr val="000000"/>
                          </a:solidFill>
                          <a:effectLst/>
                          <a:latin typeface="Arial" charset="0"/>
                          <a:cs typeface="Times New Roman" pitchFamily="18" charset="0"/>
                        </a:rPr>
                        <a:t>10 mM</a:t>
                      </a:r>
                      <a:endParaRPr kumimoji="0" lang="fr-CA" sz="1400" b="0" i="0" u="none" strike="noStrike" cap="none" normalizeH="0" baseline="0" dirty="0">
                        <a:ln>
                          <a:noFill/>
                        </a:ln>
                        <a:solidFill>
                          <a:schemeClr val="tx1"/>
                        </a:solidFill>
                        <a:effectLst/>
                        <a:latin typeface="Arial" charset="0"/>
                        <a:cs typeface="Times New Roman" pitchFamily="18" charset="0"/>
                      </a:endParaRPr>
                    </a:p>
                  </a:txBody>
                  <a:tcPr marT="45731" marB="4573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CA" sz="1400" b="0" i="0" u="none" strike="noStrike" cap="none" normalizeH="0" baseline="0" dirty="0">
                          <a:ln>
                            <a:noFill/>
                          </a:ln>
                          <a:solidFill>
                            <a:srgbClr val="000000"/>
                          </a:solidFill>
                          <a:effectLst/>
                          <a:latin typeface="Arial" charset="0"/>
                          <a:cs typeface="Times New Roman" pitchFamily="18" charset="0"/>
                        </a:rPr>
                        <a:t>140 mM</a:t>
                      </a:r>
                      <a:endParaRPr kumimoji="0" lang="fr-CA" sz="1400" b="0" i="0" u="none" strike="noStrike" cap="none" normalizeH="0" baseline="0" dirty="0">
                        <a:ln>
                          <a:noFill/>
                        </a:ln>
                        <a:solidFill>
                          <a:schemeClr val="tx1"/>
                        </a:solidFill>
                        <a:effectLst/>
                        <a:latin typeface="Arial" charset="0"/>
                        <a:cs typeface="Times New Roman" pitchFamily="18" charset="0"/>
                      </a:endParaRPr>
                    </a:p>
                  </a:txBody>
                  <a:tcPr marT="45731" marB="4573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CA" sz="1400" b="0" i="0" u="none" strike="noStrike" cap="none" normalizeH="0" baseline="0" dirty="0">
                          <a:ln>
                            <a:noFill/>
                          </a:ln>
                          <a:solidFill>
                            <a:srgbClr val="000000"/>
                          </a:solidFill>
                          <a:effectLst/>
                          <a:latin typeface="Arial" charset="0"/>
                          <a:cs typeface="Times New Roman" pitchFamily="18" charset="0"/>
                        </a:rPr>
                        <a:t>0,0001 mM</a:t>
                      </a:r>
                      <a:endParaRPr kumimoji="0" lang="fr-CA" sz="1400" b="0" i="0" u="none" strike="noStrike" cap="none" normalizeH="0" baseline="0" dirty="0">
                        <a:ln>
                          <a:noFill/>
                        </a:ln>
                        <a:solidFill>
                          <a:schemeClr val="tx1"/>
                        </a:solidFill>
                        <a:effectLst/>
                        <a:latin typeface="Arial" charset="0"/>
                        <a:cs typeface="Times New Roman" pitchFamily="18" charset="0"/>
                      </a:endParaRPr>
                    </a:p>
                  </a:txBody>
                  <a:tcPr marT="45731" marB="4573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CA" sz="1400" b="0" i="0" u="none" strike="noStrike" cap="none" normalizeH="0" baseline="0" dirty="0">
                          <a:ln>
                            <a:noFill/>
                          </a:ln>
                          <a:solidFill>
                            <a:srgbClr val="000000"/>
                          </a:solidFill>
                          <a:effectLst/>
                          <a:latin typeface="Arial" charset="0"/>
                          <a:cs typeface="Times New Roman" pitchFamily="18" charset="0"/>
                        </a:rPr>
                        <a:t>4 mM</a:t>
                      </a:r>
                      <a:endParaRPr kumimoji="0" lang="fr-CA" sz="1400" b="0" i="0" u="none" strike="noStrike" cap="none" normalizeH="0" baseline="0" dirty="0">
                        <a:ln>
                          <a:noFill/>
                        </a:ln>
                        <a:solidFill>
                          <a:schemeClr val="tx1"/>
                        </a:solidFill>
                        <a:effectLst/>
                        <a:latin typeface="Arial" charset="0"/>
                        <a:cs typeface="Times New Roman" pitchFamily="18" charset="0"/>
                      </a:endParaRPr>
                    </a:p>
                  </a:txBody>
                  <a:tcPr marT="45731" marB="4573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CA" sz="1400" b="0" i="0" u="none" strike="noStrike" cap="none" normalizeH="0" baseline="0" dirty="0">
                          <a:ln>
                            <a:noFill/>
                          </a:ln>
                          <a:solidFill>
                            <a:srgbClr val="000000"/>
                          </a:solidFill>
                          <a:effectLst/>
                          <a:latin typeface="Arial" charset="0"/>
                          <a:cs typeface="Times New Roman" pitchFamily="18" charset="0"/>
                        </a:rPr>
                        <a:t>10 mM</a:t>
                      </a:r>
                      <a:endParaRPr kumimoji="0" lang="fr-CA" sz="1400" b="0" i="0" u="none" strike="noStrike" cap="none" normalizeH="0" baseline="0" dirty="0">
                        <a:ln>
                          <a:noFill/>
                        </a:ln>
                        <a:solidFill>
                          <a:schemeClr val="tx1"/>
                        </a:solidFill>
                        <a:effectLst/>
                        <a:latin typeface="Arial" charset="0"/>
                        <a:cs typeface="Times New Roman" pitchFamily="18" charset="0"/>
                      </a:endParaRPr>
                    </a:p>
                  </a:txBody>
                  <a:tcPr marT="45731" marB="4573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CA" sz="1400" b="0" i="0" u="none" strike="noStrike" cap="none" normalizeH="0" baseline="0" dirty="0">
                          <a:ln>
                            <a:noFill/>
                          </a:ln>
                          <a:solidFill>
                            <a:srgbClr val="000000"/>
                          </a:solidFill>
                          <a:effectLst/>
                          <a:latin typeface="Arial" charset="0"/>
                          <a:cs typeface="Times New Roman" pitchFamily="18" charset="0"/>
                        </a:rPr>
                        <a:t>0-1 mM</a:t>
                      </a:r>
                      <a:endParaRPr kumimoji="0" lang="fr-CA" sz="1400" b="0" i="0" u="none" strike="noStrike" cap="none" normalizeH="0" baseline="0" dirty="0">
                        <a:ln>
                          <a:noFill/>
                        </a:ln>
                        <a:solidFill>
                          <a:schemeClr val="tx1"/>
                        </a:solidFill>
                        <a:effectLst/>
                        <a:latin typeface="Arial" charset="0"/>
                        <a:cs typeface="Times New Roman" pitchFamily="18" charset="0"/>
                      </a:endParaRPr>
                    </a:p>
                  </a:txBody>
                  <a:tcPr marT="45731" marB="4573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fr-CA" sz="1400" b="1" i="0" u="none" strike="noStrike" cap="none" normalizeH="0" baseline="0" dirty="0">
                          <a:ln>
                            <a:noFill/>
                          </a:ln>
                          <a:solidFill>
                            <a:srgbClr val="FF0000"/>
                          </a:solidFill>
                          <a:effectLst/>
                          <a:latin typeface="Arial" charset="0"/>
                          <a:cs typeface="Times New Roman" pitchFamily="18" charset="0"/>
                        </a:rPr>
                        <a:t>164,5 mOsm/L</a:t>
                      </a:r>
                    </a:p>
                  </a:txBody>
                  <a:tcPr marT="45731" marB="4573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5647" name="ZoneTexte 3"/>
          <p:cNvSpPr txBox="1">
            <a:spLocks noChangeArrowheads="1"/>
          </p:cNvSpPr>
          <p:nvPr/>
        </p:nvSpPr>
        <p:spPr bwMode="auto">
          <a:xfrm>
            <a:off x="225352" y="5334054"/>
            <a:ext cx="8480207" cy="400110"/>
          </a:xfrm>
          <a:prstGeom prst="rect">
            <a:avLst/>
          </a:prstGeom>
          <a:noFill/>
          <a:ln w="9525">
            <a:noFill/>
            <a:miter lim="800000"/>
            <a:headEnd/>
            <a:tailEnd/>
          </a:ln>
        </p:spPr>
        <p:txBody>
          <a:bodyPr wrap="none">
            <a:spAutoFit/>
          </a:bodyPr>
          <a:lstStyle/>
          <a:p>
            <a:r>
              <a:rPr lang="fr-CA" sz="2000" b="1" dirty="0" err="1">
                <a:latin typeface="+mj-lt"/>
                <a:cs typeface="Calibri" pitchFamily="34" charset="0"/>
              </a:rPr>
              <a:t>Osmolarité</a:t>
            </a:r>
            <a:r>
              <a:rPr lang="fr-CA" sz="2000" b="1" dirty="0">
                <a:latin typeface="+mj-lt"/>
                <a:cs typeface="Calibri" pitchFamily="34" charset="0"/>
              </a:rPr>
              <a:t> extracellulaire = </a:t>
            </a:r>
            <a:r>
              <a:rPr lang="fr-CA" sz="2000" b="1" dirty="0" err="1">
                <a:latin typeface="+mj-lt"/>
                <a:cs typeface="Calibri" pitchFamily="34" charset="0"/>
              </a:rPr>
              <a:t>Osmolarité</a:t>
            </a:r>
            <a:r>
              <a:rPr lang="fr-CA" sz="2000" b="1" dirty="0">
                <a:latin typeface="+mj-lt"/>
                <a:cs typeface="Calibri" pitchFamily="34" charset="0"/>
              </a:rPr>
              <a:t> intracellulaire </a:t>
            </a:r>
            <a:r>
              <a:rPr lang="fr-CA" sz="2000" b="1" dirty="0">
                <a:latin typeface="+mj-lt"/>
                <a:cs typeface="Calibri" pitchFamily="34" charset="0"/>
                <a:sym typeface="Symbol" pitchFamily="18" charset="2"/>
              </a:rPr>
              <a:t> 300 </a:t>
            </a:r>
            <a:r>
              <a:rPr lang="fr-CA" sz="2000" b="1" dirty="0" err="1">
                <a:latin typeface="+mj-lt"/>
                <a:cs typeface="Calibri" pitchFamily="34" charset="0"/>
                <a:sym typeface="Symbol" pitchFamily="18" charset="2"/>
              </a:rPr>
              <a:t>mOsm</a:t>
            </a:r>
            <a:r>
              <a:rPr lang="fr-CA" sz="2000" b="1" dirty="0">
                <a:latin typeface="+mj-lt"/>
                <a:cs typeface="Calibri" pitchFamily="34" charset="0"/>
                <a:sym typeface="Symbol" pitchFamily="18" charset="2"/>
              </a:rPr>
              <a:t>/L</a:t>
            </a:r>
            <a:endParaRPr lang="fr-CA" sz="2000" b="1" dirty="0">
              <a:latin typeface="+mj-lt"/>
              <a:cs typeface="Calibri" pitchFamily="34" charset="0"/>
            </a:endParaRPr>
          </a:p>
        </p:txBody>
      </p:sp>
      <p:sp>
        <p:nvSpPr>
          <p:cNvPr id="2" name="Rectangle 1"/>
          <p:cNvSpPr/>
          <p:nvPr/>
        </p:nvSpPr>
        <p:spPr>
          <a:xfrm>
            <a:off x="225352" y="165874"/>
            <a:ext cx="8800661" cy="2616101"/>
          </a:xfrm>
          <a:prstGeom prst="rect">
            <a:avLst/>
          </a:prstGeom>
        </p:spPr>
        <p:txBody>
          <a:bodyPr wrap="square">
            <a:spAutoFit/>
          </a:bodyPr>
          <a:lstStyle/>
          <a:p>
            <a:pPr lvl="0"/>
            <a:r>
              <a:rPr lang="fr-FR" sz="2800" dirty="0">
                <a:solidFill>
                  <a:schemeClr val="accent2"/>
                </a:solidFill>
                <a:latin typeface="+mj-lt"/>
              </a:rPr>
              <a:t>2.3.2</a:t>
            </a:r>
            <a:r>
              <a:rPr lang="fr-FR" sz="2800" b="1" dirty="0">
                <a:solidFill>
                  <a:schemeClr val="accent2"/>
                </a:solidFill>
                <a:latin typeface="+mj-lt"/>
              </a:rPr>
              <a:t> </a:t>
            </a:r>
            <a:r>
              <a:rPr lang="fr-FR" sz="2800" b="1" i="1" dirty="0">
                <a:solidFill>
                  <a:schemeClr val="accent2"/>
                </a:solidFill>
                <a:latin typeface="+mj-lt"/>
              </a:rPr>
              <a:t>Osmolarité </a:t>
            </a:r>
            <a:r>
              <a:rPr lang="fr-FR" sz="2800" b="1" dirty="0">
                <a:solidFill>
                  <a:schemeClr val="accent2"/>
                </a:solidFill>
                <a:latin typeface="+mj-lt"/>
              </a:rPr>
              <a:t>:</a:t>
            </a:r>
            <a:r>
              <a:rPr lang="fr-FR" sz="2800" dirty="0">
                <a:solidFill>
                  <a:schemeClr val="accent2"/>
                </a:solidFill>
                <a:latin typeface="+mj-lt"/>
              </a:rPr>
              <a:t>  </a:t>
            </a:r>
            <a:r>
              <a:rPr lang="fr-FR" sz="2800" dirty="0">
                <a:latin typeface="+mj-lt"/>
              </a:rPr>
              <a:t>concentration </a:t>
            </a:r>
            <a:r>
              <a:rPr lang="fr-FR" sz="2800" u="sng" dirty="0">
                <a:latin typeface="+mj-lt"/>
              </a:rPr>
              <a:t>totale</a:t>
            </a:r>
            <a:r>
              <a:rPr lang="fr-FR" sz="2800" dirty="0">
                <a:latin typeface="+mj-lt"/>
              </a:rPr>
              <a:t> de </a:t>
            </a:r>
            <a:r>
              <a:rPr lang="fr-FR" sz="2800" u="sng" dirty="0">
                <a:latin typeface="+mj-lt"/>
              </a:rPr>
              <a:t>tous</a:t>
            </a:r>
            <a:r>
              <a:rPr lang="fr-FR" sz="2800" dirty="0">
                <a:latin typeface="+mj-lt"/>
              </a:rPr>
              <a:t> les solutés dans une solution; l’unité est </a:t>
            </a:r>
            <a:r>
              <a:rPr lang="fr-FR" sz="2800" i="1" dirty="0">
                <a:latin typeface="+mj-lt"/>
              </a:rPr>
              <a:t>osmol/L.</a:t>
            </a:r>
            <a:endParaRPr lang="fr-CA" sz="2800" dirty="0">
              <a:latin typeface="+mj-lt"/>
            </a:endParaRPr>
          </a:p>
          <a:p>
            <a:pPr lvl="0">
              <a:spcBef>
                <a:spcPts val="600"/>
              </a:spcBef>
            </a:pPr>
            <a:r>
              <a:rPr lang="fr-CA" u="sng" dirty="0">
                <a:latin typeface="+mj-lt"/>
              </a:rPr>
              <a:t>Exemples</a:t>
            </a:r>
            <a:r>
              <a:rPr lang="fr-CA" dirty="0">
                <a:latin typeface="+mj-lt"/>
              </a:rPr>
              <a:t>:</a:t>
            </a:r>
            <a:r>
              <a:rPr lang="fr-CA" sz="2000" dirty="0">
                <a:latin typeface="+mj-lt"/>
              </a:rPr>
              <a:t>	</a:t>
            </a:r>
          </a:p>
          <a:p>
            <a:pPr marL="177800" lvl="0" indent="-177800">
              <a:buFont typeface="Arial" pitchFamily="34" charset="0"/>
              <a:buChar char="•"/>
            </a:pPr>
            <a:r>
              <a:rPr lang="fr-FR" sz="1600" dirty="0">
                <a:latin typeface="+mj-lt"/>
              </a:rPr>
              <a:t>L’osmolarité d’une solution contenant 0.1 mole/L glucose = 0.1 </a:t>
            </a:r>
            <a:r>
              <a:rPr lang="fr-FR" sz="1600" dirty="0" err="1">
                <a:latin typeface="+mj-lt"/>
              </a:rPr>
              <a:t>osmol</a:t>
            </a:r>
            <a:r>
              <a:rPr lang="fr-FR" sz="1600" dirty="0">
                <a:latin typeface="+mj-lt"/>
              </a:rPr>
              <a:t>/L  (= 100 </a:t>
            </a:r>
            <a:r>
              <a:rPr lang="fr-FR" sz="1600" dirty="0" err="1">
                <a:latin typeface="+mj-lt"/>
              </a:rPr>
              <a:t>mosmol</a:t>
            </a:r>
            <a:r>
              <a:rPr lang="fr-FR" sz="1600" dirty="0">
                <a:latin typeface="+mj-lt"/>
              </a:rPr>
              <a:t>/L)</a:t>
            </a:r>
            <a:endParaRPr lang="fr-CA" sz="1600" dirty="0">
              <a:latin typeface="+mj-lt"/>
            </a:endParaRPr>
          </a:p>
          <a:p>
            <a:pPr marL="177800" lvl="0" indent="-177800">
              <a:buFont typeface="Arial" pitchFamily="34" charset="0"/>
              <a:buChar char="•"/>
            </a:pPr>
            <a:r>
              <a:rPr lang="fr-FR" sz="1600" dirty="0">
                <a:latin typeface="+mj-lt"/>
              </a:rPr>
              <a:t>L’osmolarité d’une solution contenant 0.1 mole/L </a:t>
            </a:r>
            <a:r>
              <a:rPr lang="fr-FR" sz="1600" dirty="0" err="1">
                <a:latin typeface="+mj-lt"/>
              </a:rPr>
              <a:t>NaCl</a:t>
            </a:r>
            <a:r>
              <a:rPr lang="fr-FR" sz="1600" dirty="0">
                <a:latin typeface="+mj-lt"/>
              </a:rPr>
              <a:t> = 0.2 </a:t>
            </a:r>
            <a:r>
              <a:rPr lang="fr-FR" sz="1600" dirty="0" err="1">
                <a:latin typeface="+mj-lt"/>
              </a:rPr>
              <a:t>osmol</a:t>
            </a:r>
            <a:r>
              <a:rPr lang="fr-FR" sz="1600" dirty="0">
                <a:latin typeface="+mj-lt"/>
              </a:rPr>
              <a:t>/L</a:t>
            </a:r>
            <a:endParaRPr lang="fr-CA" sz="1600" dirty="0">
              <a:latin typeface="+mj-lt"/>
            </a:endParaRPr>
          </a:p>
          <a:p>
            <a:pPr marL="177800"/>
            <a:r>
              <a:rPr lang="fr-FR" sz="1600" dirty="0">
                <a:latin typeface="+mj-lt"/>
              </a:rPr>
              <a:t>(Le </a:t>
            </a:r>
            <a:r>
              <a:rPr lang="fr-FR" sz="1600" dirty="0" err="1">
                <a:latin typeface="+mj-lt"/>
              </a:rPr>
              <a:t>NaCl</a:t>
            </a:r>
            <a:r>
              <a:rPr lang="fr-FR" sz="1600" dirty="0">
                <a:latin typeface="+mj-lt"/>
              </a:rPr>
              <a:t> s’ionise en Na</a:t>
            </a:r>
            <a:r>
              <a:rPr lang="fr-FR" sz="1600" baseline="30000" dirty="0">
                <a:latin typeface="+mj-lt"/>
              </a:rPr>
              <a:t>+</a:t>
            </a:r>
            <a:r>
              <a:rPr lang="fr-FR" sz="1600" dirty="0">
                <a:latin typeface="+mj-lt"/>
              </a:rPr>
              <a:t> + Cl</a:t>
            </a:r>
            <a:r>
              <a:rPr lang="fr-FR" sz="1600" baseline="30000" dirty="0">
                <a:latin typeface="+mj-lt"/>
              </a:rPr>
              <a:t>─</a:t>
            </a:r>
            <a:r>
              <a:rPr lang="fr-FR" sz="1600" dirty="0">
                <a:latin typeface="+mj-lt"/>
              </a:rPr>
              <a:t> en solution, ce qui donne un total de 0.2 </a:t>
            </a:r>
            <a:r>
              <a:rPr lang="fr-FR" sz="1600" dirty="0" err="1">
                <a:latin typeface="+mj-lt"/>
              </a:rPr>
              <a:t>osmol</a:t>
            </a:r>
            <a:r>
              <a:rPr lang="fr-FR" sz="1600" dirty="0">
                <a:latin typeface="+mj-lt"/>
              </a:rPr>
              <a:t>/L)</a:t>
            </a:r>
            <a:endParaRPr lang="fr-CA" sz="1600" dirty="0">
              <a:latin typeface="+mj-lt"/>
            </a:endParaRPr>
          </a:p>
          <a:p>
            <a:pPr lvl="0">
              <a:spcBef>
                <a:spcPts val="1200"/>
              </a:spcBef>
            </a:pPr>
            <a:r>
              <a:rPr lang="fr-CA" sz="2000" u="sng" dirty="0">
                <a:latin typeface="+mj-lt"/>
              </a:rPr>
              <a:t>Osmolarité des solutions physiologiques</a:t>
            </a:r>
            <a:r>
              <a:rPr lang="fr-CA" sz="2000" dirty="0">
                <a:latin typeface="+mj-lt"/>
              </a:rPr>
              <a:t> :</a:t>
            </a:r>
          </a:p>
        </p:txBody>
      </p:sp>
      <p:sp>
        <p:nvSpPr>
          <p:cNvPr id="5" name="TextBox 4"/>
          <p:cNvSpPr txBox="1"/>
          <p:nvPr/>
        </p:nvSpPr>
        <p:spPr>
          <a:xfrm>
            <a:off x="225352" y="5822292"/>
            <a:ext cx="8704797" cy="584775"/>
          </a:xfrm>
          <a:prstGeom prst="rect">
            <a:avLst/>
          </a:prstGeom>
          <a:noFill/>
          <a:ln>
            <a:solidFill>
              <a:srgbClr val="FF0000"/>
            </a:solidFill>
          </a:ln>
        </p:spPr>
        <p:txBody>
          <a:bodyPr wrap="square" rtlCol="0">
            <a:spAutoFit/>
          </a:bodyPr>
          <a:lstStyle/>
          <a:p>
            <a:pPr marL="176213"/>
            <a:r>
              <a:rPr lang="fr-CA" sz="1600" dirty="0">
                <a:solidFill>
                  <a:srgbClr val="FF0000"/>
                </a:solidFill>
                <a:latin typeface="Calibri" pitchFamily="34" charset="0"/>
              </a:rPr>
              <a:t>Comment expliquer la grande différence entre l’osmolarité intracellulaire mesurée (300 mOsm/L) et celle calculée dans le tableau (164,5 mOsm/L)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8B1EEA6-E414-4BB2-B04B-6C2F83BF8CB1}"/>
              </a:ext>
            </a:extLst>
          </p:cNvPr>
          <p:cNvSpPr txBox="1"/>
          <p:nvPr/>
        </p:nvSpPr>
        <p:spPr>
          <a:xfrm>
            <a:off x="306198" y="381827"/>
            <a:ext cx="8531603" cy="2816156"/>
          </a:xfrm>
          <a:prstGeom prst="rect">
            <a:avLst/>
          </a:prstGeom>
          <a:noFill/>
        </p:spPr>
        <p:txBody>
          <a:bodyPr wrap="square">
            <a:spAutoFit/>
          </a:bodyPr>
          <a:lstStyle/>
          <a:p>
            <a:pPr lvl="0">
              <a:spcBef>
                <a:spcPts val="600"/>
              </a:spcBef>
              <a:spcAft>
                <a:spcPts val="0"/>
              </a:spcAft>
              <a:buSzPts val="1000"/>
            </a:pPr>
            <a:r>
              <a:rPr lang="fr-FR" u="sng"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En résumé</a:t>
            </a:r>
            <a:r>
              <a:rPr lang="fr-FR" dirty="0">
                <a:solidFill>
                  <a:srgbClr val="000000"/>
                </a:solidFill>
                <a:latin typeface="Arial" panose="020B0604020202020204" pitchFamily="34" charset="0"/>
                <a:ea typeface="Times New Roman" panose="02020603050405020304" pitchFamily="18" charset="0"/>
                <a:cs typeface="Times New Roman" panose="02020603050405020304" pitchFamily="18" charset="0"/>
              </a:rPr>
              <a:t> </a:t>
            </a:r>
            <a:r>
              <a:rPr lang="fr-FR"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a:t>
            </a:r>
            <a:endParaRPr lang="en-CA"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spcBef>
                <a:spcPts val="600"/>
              </a:spcBef>
            </a:pPr>
            <a:r>
              <a:rPr lang="fr-FR" dirty="0">
                <a:solidFill>
                  <a:srgbClr val="000000"/>
                </a:solidFill>
                <a:effectLst/>
                <a:latin typeface="Arial" panose="020B0604020202020204" pitchFamily="34" charset="0"/>
                <a:ea typeface="Times New Roman" panose="02020603050405020304" pitchFamily="18" charset="0"/>
              </a:rPr>
              <a:t>L’osmose se produit quand l’osmolarité entre deux régions diffère ; l’eau se déplace de la région ayant la plus faible osmolarité à la région ayant l’osmolarité la plus élevée. Inversement, l’osmose </a:t>
            </a:r>
            <a:r>
              <a:rPr lang="fr-FR" u="sng" dirty="0">
                <a:solidFill>
                  <a:srgbClr val="000000"/>
                </a:solidFill>
                <a:effectLst/>
                <a:latin typeface="Arial" panose="020B0604020202020204" pitchFamily="34" charset="0"/>
                <a:ea typeface="Times New Roman" panose="02020603050405020304" pitchFamily="18" charset="0"/>
              </a:rPr>
              <a:t>ne se produit pas</a:t>
            </a:r>
            <a:r>
              <a:rPr lang="fr-FR" dirty="0">
                <a:solidFill>
                  <a:srgbClr val="000000"/>
                </a:solidFill>
                <a:effectLst/>
                <a:latin typeface="Arial" panose="020B0604020202020204" pitchFamily="34" charset="0"/>
                <a:ea typeface="Times New Roman" panose="02020603050405020304" pitchFamily="18" charset="0"/>
              </a:rPr>
              <a:t> lorsque l’osmolarité est la même des deux côtés de la membrane.</a:t>
            </a:r>
            <a:endParaRPr lang="en-CA" dirty="0">
              <a:solidFill>
                <a:srgbClr val="000000"/>
              </a:solidFill>
              <a:effectLst/>
              <a:latin typeface="Times New Roman" panose="02020603050405020304" pitchFamily="18" charset="0"/>
              <a:ea typeface="Times New Roman" panose="02020603050405020304" pitchFamily="18" charset="0"/>
            </a:endParaRPr>
          </a:p>
          <a:p>
            <a:pPr>
              <a:spcBef>
                <a:spcPts val="600"/>
              </a:spcBef>
            </a:pPr>
            <a:r>
              <a:rPr lang="fr-FR" dirty="0">
                <a:solidFill>
                  <a:srgbClr val="000000"/>
                </a:solidFill>
                <a:effectLst/>
                <a:latin typeface="Arial" panose="020B0604020202020204" pitchFamily="34" charset="0"/>
                <a:ea typeface="Times New Roman" panose="02020603050405020304" pitchFamily="18" charset="0"/>
              </a:rPr>
              <a:t>Les cellules ont une membrane plasmique flexible et leur volume changerait si l’osmolarité intracellulaire était différente de l’osmolarité extracellulaire.</a:t>
            </a:r>
            <a:endParaRPr lang="en-CA" dirty="0">
              <a:solidFill>
                <a:srgbClr val="000000"/>
              </a:solidFill>
              <a:effectLst/>
              <a:latin typeface="Times New Roman" panose="02020603050405020304" pitchFamily="18" charset="0"/>
              <a:ea typeface="Times New Roman" panose="02020603050405020304" pitchFamily="18" charset="0"/>
            </a:endParaRPr>
          </a:p>
          <a:p>
            <a:pPr marL="268288" lvl="1" indent="-268288">
              <a:spcBef>
                <a:spcPts val="600"/>
              </a:spcBef>
              <a:buFont typeface="Symbol" panose="05050102010706020507" pitchFamily="18" charset="2"/>
              <a:buChar char=""/>
            </a:pPr>
            <a:r>
              <a:rPr lang="fr-FR" b="1" dirty="0">
                <a:solidFill>
                  <a:srgbClr val="000000"/>
                </a:solidFill>
                <a:effectLst/>
                <a:latin typeface="Arial" panose="020B0604020202020204" pitchFamily="34" charset="0"/>
                <a:ea typeface="Times New Roman" panose="02020603050405020304" pitchFamily="18" charset="0"/>
              </a:rPr>
              <a:t>En conditions normales :</a:t>
            </a:r>
            <a:endParaRPr lang="en-CA" dirty="0">
              <a:solidFill>
                <a:srgbClr val="000000"/>
              </a:solidFill>
              <a:effectLst/>
              <a:latin typeface="Times New Roman" panose="02020603050405020304" pitchFamily="18" charset="0"/>
              <a:ea typeface="Times New Roman" panose="02020603050405020304" pitchFamily="18" charset="0"/>
            </a:endParaRPr>
          </a:p>
          <a:p>
            <a:pPr marL="268288"/>
            <a:r>
              <a:rPr lang="fr-FR" b="1" dirty="0">
                <a:solidFill>
                  <a:srgbClr val="000000"/>
                </a:solidFill>
                <a:effectLst/>
                <a:latin typeface="Arial" panose="020B0604020202020204" pitchFamily="34" charset="0"/>
                <a:ea typeface="Times New Roman" panose="02020603050405020304" pitchFamily="18" charset="0"/>
              </a:rPr>
              <a:t>Osmolarité intracellulaire = Osmolarité extracellulaire  ≈ 300 </a:t>
            </a:r>
            <a:r>
              <a:rPr lang="fr-FR" b="1" dirty="0" err="1">
                <a:solidFill>
                  <a:srgbClr val="000000"/>
                </a:solidFill>
                <a:effectLst/>
                <a:latin typeface="Arial" panose="020B0604020202020204" pitchFamily="34" charset="0"/>
                <a:ea typeface="Times New Roman" panose="02020603050405020304" pitchFamily="18" charset="0"/>
              </a:rPr>
              <a:t>mOsmol</a:t>
            </a:r>
            <a:r>
              <a:rPr lang="fr-FR" b="1" dirty="0">
                <a:solidFill>
                  <a:srgbClr val="000000"/>
                </a:solidFill>
                <a:effectLst/>
                <a:latin typeface="Arial" panose="020B0604020202020204" pitchFamily="34" charset="0"/>
                <a:ea typeface="Times New Roman" panose="02020603050405020304" pitchFamily="18" charset="0"/>
              </a:rPr>
              <a:t>/L.</a:t>
            </a:r>
            <a:endParaRPr lang="en-CA" dirty="0">
              <a:solidFill>
                <a:srgbClr val="000000"/>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1853348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descr="E:\LMarieb\Chapter_03\B_JPEG_Images_and_Tables\b_unlabeled\figure_03_09_unlabeled.jpg"/>
          <p:cNvPicPr>
            <a:picLocks noChangeAspect="1" noChangeArrowheads="1"/>
          </p:cNvPicPr>
          <p:nvPr/>
        </p:nvPicPr>
        <p:blipFill>
          <a:blip r:embed="rId3" cstate="print"/>
          <a:srcRect t="3317" b="8195"/>
          <a:stretch>
            <a:fillRect/>
          </a:stretch>
        </p:blipFill>
        <p:spPr bwMode="auto">
          <a:xfrm>
            <a:off x="304800" y="1419304"/>
            <a:ext cx="8534400" cy="4248150"/>
          </a:xfrm>
          <a:prstGeom prst="rect">
            <a:avLst/>
          </a:prstGeom>
          <a:noFill/>
          <a:ln w="9525">
            <a:noFill/>
            <a:miter lim="800000"/>
            <a:headEnd/>
            <a:tailEnd/>
          </a:ln>
        </p:spPr>
      </p:pic>
      <p:sp>
        <p:nvSpPr>
          <p:cNvPr id="26627" name="Text Box 18"/>
          <p:cNvSpPr txBox="1">
            <a:spLocks noChangeArrowheads="1"/>
          </p:cNvSpPr>
          <p:nvPr/>
        </p:nvSpPr>
        <p:spPr bwMode="auto">
          <a:xfrm>
            <a:off x="389307" y="5823018"/>
            <a:ext cx="896938" cy="369887"/>
          </a:xfrm>
          <a:prstGeom prst="rect">
            <a:avLst/>
          </a:prstGeom>
          <a:noFill/>
          <a:ln w="6350">
            <a:solidFill>
              <a:srgbClr val="0000FF"/>
            </a:solidFill>
            <a:miter lim="800000"/>
            <a:headEnd/>
            <a:tailEnd/>
          </a:ln>
        </p:spPr>
        <p:txBody>
          <a:bodyPr wrap="none">
            <a:spAutoFit/>
          </a:bodyPr>
          <a:lstStyle/>
          <a:p>
            <a:pPr eaLnBrk="0" hangingPunct="0"/>
            <a:r>
              <a:rPr lang="fr-CA">
                <a:solidFill>
                  <a:srgbClr val="3333FF"/>
                </a:solidFill>
              </a:rPr>
              <a:t>Fig. 3.9</a:t>
            </a:r>
            <a:endParaRPr lang="en-US">
              <a:solidFill>
                <a:srgbClr val="3333FF"/>
              </a:solidFill>
            </a:endParaRPr>
          </a:p>
        </p:txBody>
      </p:sp>
      <p:sp>
        <p:nvSpPr>
          <p:cNvPr id="26628" name="ZoneTexte 4"/>
          <p:cNvSpPr txBox="1">
            <a:spLocks noChangeArrowheads="1"/>
          </p:cNvSpPr>
          <p:nvPr/>
        </p:nvSpPr>
        <p:spPr bwMode="auto">
          <a:xfrm>
            <a:off x="389307" y="1657558"/>
            <a:ext cx="2876974" cy="830997"/>
          </a:xfrm>
          <a:prstGeom prst="rect">
            <a:avLst/>
          </a:prstGeom>
          <a:noFill/>
          <a:ln w="9525">
            <a:noFill/>
            <a:miter lim="800000"/>
            <a:headEnd/>
            <a:tailEnd/>
          </a:ln>
        </p:spPr>
        <p:txBody>
          <a:bodyPr wrap="square">
            <a:spAutoFit/>
          </a:bodyPr>
          <a:lstStyle/>
          <a:p>
            <a:r>
              <a:rPr lang="fr-CA" sz="2000" b="1" dirty="0">
                <a:latin typeface="Calibri" pitchFamily="34" charset="0"/>
                <a:cs typeface="Calibri" pitchFamily="34" charset="0"/>
              </a:rPr>
              <a:t>Solution isotonique</a:t>
            </a:r>
          </a:p>
          <a:p>
            <a:r>
              <a:rPr lang="fr-FR" sz="1400" dirty="0">
                <a:solidFill>
                  <a:srgbClr val="000000"/>
                </a:solidFill>
                <a:latin typeface="Arial" panose="020B0604020202020204" pitchFamily="34" charset="0"/>
                <a:ea typeface="Times New Roman" panose="02020603050405020304" pitchFamily="18" charset="0"/>
              </a:rPr>
              <a:t>S</a:t>
            </a:r>
            <a:r>
              <a:rPr lang="fr-FR" sz="1400" dirty="0">
                <a:solidFill>
                  <a:srgbClr val="000000"/>
                </a:solidFill>
                <a:effectLst/>
                <a:latin typeface="Arial" panose="020B0604020202020204" pitchFamily="34" charset="0"/>
                <a:ea typeface="Times New Roman" panose="02020603050405020304" pitchFamily="18" charset="0"/>
              </a:rPr>
              <a:t>olution qui ne cause pas de changement de volume cellulaire.</a:t>
            </a:r>
            <a:endParaRPr lang="en-CA" sz="1400" dirty="0">
              <a:solidFill>
                <a:srgbClr val="000000"/>
              </a:solidFill>
              <a:effectLst/>
              <a:latin typeface="Times New Roman" panose="02020603050405020304" pitchFamily="18" charset="0"/>
              <a:ea typeface="Times New Roman" panose="02020603050405020304" pitchFamily="18" charset="0"/>
            </a:endParaRPr>
          </a:p>
        </p:txBody>
      </p:sp>
      <p:sp>
        <p:nvSpPr>
          <p:cNvPr id="26629" name="ZoneTexte 5"/>
          <p:cNvSpPr txBox="1">
            <a:spLocks noChangeArrowheads="1"/>
          </p:cNvSpPr>
          <p:nvPr/>
        </p:nvSpPr>
        <p:spPr bwMode="auto">
          <a:xfrm>
            <a:off x="3266281" y="1657559"/>
            <a:ext cx="2611437" cy="830997"/>
          </a:xfrm>
          <a:prstGeom prst="rect">
            <a:avLst/>
          </a:prstGeom>
          <a:noFill/>
          <a:ln w="9525">
            <a:noFill/>
            <a:miter lim="800000"/>
            <a:headEnd/>
            <a:tailEnd/>
          </a:ln>
        </p:spPr>
        <p:txBody>
          <a:bodyPr wrap="square">
            <a:spAutoFit/>
          </a:bodyPr>
          <a:lstStyle/>
          <a:p>
            <a:r>
              <a:rPr lang="fr-CA" sz="2000" b="1" dirty="0">
                <a:latin typeface="Calibri" pitchFamily="34" charset="0"/>
                <a:cs typeface="Calibri" pitchFamily="34" charset="0"/>
              </a:rPr>
              <a:t>Solution hypertonique</a:t>
            </a:r>
          </a:p>
          <a:p>
            <a:r>
              <a:rPr lang="fr-FR" sz="1400" dirty="0">
                <a:solidFill>
                  <a:srgbClr val="000000"/>
                </a:solidFill>
                <a:latin typeface="Arial" panose="020B0604020202020204" pitchFamily="34" charset="0"/>
                <a:ea typeface="Times New Roman" panose="02020603050405020304" pitchFamily="18" charset="0"/>
              </a:rPr>
              <a:t>S</a:t>
            </a:r>
            <a:r>
              <a:rPr lang="fr-FR" sz="1400" dirty="0">
                <a:solidFill>
                  <a:srgbClr val="000000"/>
                </a:solidFill>
                <a:effectLst/>
                <a:latin typeface="Arial" panose="020B0604020202020204" pitchFamily="34" charset="0"/>
                <a:ea typeface="Times New Roman" panose="02020603050405020304" pitchFamily="18" charset="0"/>
              </a:rPr>
              <a:t>olution qui cause une diminution du volume cellulaire</a:t>
            </a:r>
            <a:endParaRPr lang="fr-CA" sz="1400" b="1" dirty="0">
              <a:latin typeface="Calibri" pitchFamily="34" charset="0"/>
              <a:cs typeface="Calibri" pitchFamily="34" charset="0"/>
            </a:endParaRPr>
          </a:p>
        </p:txBody>
      </p:sp>
      <p:sp>
        <p:nvSpPr>
          <p:cNvPr id="26630" name="ZoneTexte 6"/>
          <p:cNvSpPr txBox="1">
            <a:spLocks noChangeArrowheads="1"/>
          </p:cNvSpPr>
          <p:nvPr/>
        </p:nvSpPr>
        <p:spPr bwMode="auto">
          <a:xfrm>
            <a:off x="5917406" y="1657560"/>
            <a:ext cx="3022520" cy="830997"/>
          </a:xfrm>
          <a:prstGeom prst="rect">
            <a:avLst/>
          </a:prstGeom>
          <a:noFill/>
          <a:ln w="9525">
            <a:noFill/>
            <a:miter lim="800000"/>
            <a:headEnd/>
            <a:tailEnd/>
          </a:ln>
        </p:spPr>
        <p:txBody>
          <a:bodyPr wrap="square">
            <a:spAutoFit/>
          </a:bodyPr>
          <a:lstStyle/>
          <a:p>
            <a:r>
              <a:rPr lang="fr-CA" sz="2000" b="1" dirty="0">
                <a:latin typeface="Calibri" pitchFamily="34" charset="0"/>
                <a:cs typeface="Calibri" pitchFamily="34" charset="0"/>
              </a:rPr>
              <a:t>Solution hypotonique</a:t>
            </a:r>
          </a:p>
          <a:p>
            <a:r>
              <a:rPr lang="fr-FR" sz="1400" dirty="0">
                <a:solidFill>
                  <a:srgbClr val="000000"/>
                </a:solidFill>
                <a:latin typeface="Arial" panose="020B0604020202020204" pitchFamily="34" charset="0"/>
                <a:ea typeface="Times New Roman" panose="02020603050405020304" pitchFamily="18" charset="0"/>
              </a:rPr>
              <a:t>S</a:t>
            </a:r>
            <a:r>
              <a:rPr lang="fr-FR" sz="1400" dirty="0">
                <a:solidFill>
                  <a:srgbClr val="000000"/>
                </a:solidFill>
                <a:effectLst/>
                <a:latin typeface="Arial" panose="020B0604020202020204" pitchFamily="34" charset="0"/>
                <a:ea typeface="Times New Roman" panose="02020603050405020304" pitchFamily="18" charset="0"/>
              </a:rPr>
              <a:t>olution qui cause une </a:t>
            </a:r>
            <a:r>
              <a:rPr lang="fr-FR" sz="1400" dirty="0">
                <a:solidFill>
                  <a:srgbClr val="000000"/>
                </a:solidFill>
                <a:latin typeface="Arial" panose="020B0604020202020204" pitchFamily="34" charset="0"/>
                <a:ea typeface="Times New Roman" panose="02020603050405020304" pitchFamily="18" charset="0"/>
              </a:rPr>
              <a:t>augmenta</a:t>
            </a:r>
            <a:r>
              <a:rPr lang="fr-FR" sz="1400" dirty="0">
                <a:solidFill>
                  <a:srgbClr val="000000"/>
                </a:solidFill>
                <a:effectLst/>
                <a:latin typeface="Arial" panose="020B0604020202020204" pitchFamily="34" charset="0"/>
                <a:ea typeface="Times New Roman" panose="02020603050405020304" pitchFamily="18" charset="0"/>
              </a:rPr>
              <a:t>tion du volume cellulaire</a:t>
            </a:r>
            <a:endParaRPr lang="fr-CA" sz="1400" b="1" dirty="0">
              <a:latin typeface="Calibri" pitchFamily="34" charset="0"/>
              <a:cs typeface="Calibri" pitchFamily="34" charset="0"/>
            </a:endParaRPr>
          </a:p>
        </p:txBody>
      </p:sp>
      <p:sp>
        <p:nvSpPr>
          <p:cNvPr id="3" name="Rectangle 2"/>
          <p:cNvSpPr/>
          <p:nvPr/>
        </p:nvSpPr>
        <p:spPr>
          <a:xfrm>
            <a:off x="247649" y="172337"/>
            <a:ext cx="8648700" cy="1138773"/>
          </a:xfrm>
          <a:prstGeom prst="rect">
            <a:avLst/>
          </a:prstGeom>
        </p:spPr>
        <p:txBody>
          <a:bodyPr>
            <a:spAutoFit/>
          </a:bodyPr>
          <a:lstStyle/>
          <a:p>
            <a:pPr marL="1255713" indent="-1255713">
              <a:defRPr/>
            </a:pPr>
            <a:r>
              <a:rPr lang="fr-FR" sz="2800" dirty="0">
                <a:solidFill>
                  <a:schemeClr val="accent2"/>
                </a:solidFill>
                <a:latin typeface="Calibri" pitchFamily="34" charset="0"/>
                <a:cs typeface="Calibri" pitchFamily="34" charset="0"/>
              </a:rPr>
              <a:t>2.3.3</a:t>
            </a:r>
            <a:r>
              <a:rPr lang="fr-FR" sz="2800" b="1" dirty="0">
                <a:solidFill>
                  <a:schemeClr val="accent2"/>
                </a:solidFill>
                <a:latin typeface="Calibri" pitchFamily="34" charset="0"/>
                <a:cs typeface="Calibri" pitchFamily="34" charset="0"/>
              </a:rPr>
              <a:t> </a:t>
            </a:r>
            <a:r>
              <a:rPr lang="fr-FR" sz="2800" b="1" i="1" dirty="0">
                <a:solidFill>
                  <a:schemeClr val="accent2"/>
                </a:solidFill>
                <a:latin typeface="Calibri" pitchFamily="34" charset="0"/>
                <a:cs typeface="Calibri" pitchFamily="34" charset="0"/>
              </a:rPr>
              <a:t>Tonicité</a:t>
            </a:r>
            <a:endParaRPr lang="fr-FR" sz="2800" b="1" dirty="0">
              <a:solidFill>
                <a:schemeClr val="accent2"/>
              </a:solidFill>
              <a:latin typeface="Calibri" pitchFamily="34" charset="0"/>
              <a:cs typeface="Calibri" pitchFamily="34" charset="0"/>
            </a:endParaRPr>
          </a:p>
          <a:p>
            <a:pPr>
              <a:defRPr/>
            </a:pPr>
            <a:r>
              <a:rPr lang="fr-FR" sz="2000" dirty="0">
                <a:latin typeface="+mj-lt"/>
                <a:cs typeface="Calibri" pitchFamily="34" charset="0"/>
              </a:rPr>
              <a:t>Capacité d’une solution de modifier la forme des cellules en agissant sur leur volume d’eau interne.</a:t>
            </a:r>
            <a:endParaRPr lang="fr-CA" sz="2000" dirty="0">
              <a:latin typeface="+mj-lt"/>
              <a:cs typeface="Calibri" pitchFamily="34" charset="0"/>
            </a:endParaRPr>
          </a:p>
        </p:txBody>
      </p:sp>
      <p:sp>
        <p:nvSpPr>
          <p:cNvPr id="8" name="TextBox 2"/>
          <p:cNvSpPr txBox="1">
            <a:spLocks noChangeArrowheads="1"/>
          </p:cNvSpPr>
          <p:nvPr/>
        </p:nvSpPr>
        <p:spPr bwMode="auto">
          <a:xfrm>
            <a:off x="2642183" y="5779621"/>
            <a:ext cx="6112510" cy="684803"/>
          </a:xfrm>
          <a:prstGeom prst="rect">
            <a:avLst/>
          </a:prstGeom>
          <a:noFill/>
          <a:ln w="12700">
            <a:solidFill>
              <a:srgbClr val="FF0000"/>
            </a:solidFill>
            <a:miter lim="800000"/>
            <a:headEnd/>
            <a:tailEnd/>
          </a:ln>
        </p:spPr>
        <p:txBody>
          <a:bodyPr wrap="square">
            <a:spAutoFit/>
          </a:bodyPr>
          <a:lstStyle/>
          <a:p>
            <a:pPr marL="231775" lvl="1" indent="-225425" eaLnBrk="0" hangingPunct="0">
              <a:spcBef>
                <a:spcPts val="300"/>
              </a:spcBef>
              <a:buFont typeface="Arial" charset="0"/>
              <a:buChar char="•"/>
            </a:pPr>
            <a:r>
              <a:rPr lang="fr-CA" dirty="0">
                <a:solidFill>
                  <a:srgbClr val="FF0000"/>
                </a:solidFill>
                <a:latin typeface="Calibri" pitchFamily="34" charset="0"/>
              </a:rPr>
              <a:t>Une solution NaCl 0,9% est isotonique, pourquoi ?</a:t>
            </a:r>
          </a:p>
          <a:p>
            <a:pPr marL="231775" lvl="1" indent="-225425" eaLnBrk="0" hangingPunct="0">
              <a:spcBef>
                <a:spcPts val="300"/>
              </a:spcBef>
              <a:buFont typeface="Arial" charset="0"/>
              <a:buChar char="•"/>
            </a:pPr>
            <a:r>
              <a:rPr lang="fr-CA" dirty="0">
                <a:solidFill>
                  <a:srgbClr val="FF0000"/>
                </a:solidFill>
                <a:latin typeface="Calibri" pitchFamily="34" charset="0"/>
              </a:rPr>
              <a:t>Une solution de 300 mM NaCl est hypertonique, pourquoi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Box 1"/>
          <p:cNvSpPr txBox="1">
            <a:spLocks noChangeArrowheads="1"/>
          </p:cNvSpPr>
          <p:nvPr/>
        </p:nvSpPr>
        <p:spPr bwMode="auto">
          <a:xfrm>
            <a:off x="267242" y="165624"/>
            <a:ext cx="858996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Times New Roman" pitchFamily="18" charset="0"/>
              </a:defRPr>
            </a:lvl1pPr>
            <a:lvl2pPr marL="742950" indent="-285750" eaLnBrk="0" hangingPunct="0">
              <a:defRPr>
                <a:solidFill>
                  <a:schemeClr val="tx1"/>
                </a:solidFill>
                <a:latin typeface="Times New Roman" pitchFamily="18" charset="0"/>
              </a:defRPr>
            </a:lvl2pPr>
            <a:lvl3pPr marL="1143000" indent="-228600" eaLnBrk="0" hangingPunct="0">
              <a:defRPr>
                <a:solidFill>
                  <a:schemeClr val="tx1"/>
                </a:solidFill>
                <a:latin typeface="Times New Roman" pitchFamily="18" charset="0"/>
              </a:defRPr>
            </a:lvl3pPr>
            <a:lvl4pPr marL="1600200" indent="-228600" eaLnBrk="0" hangingPunct="0">
              <a:defRPr>
                <a:solidFill>
                  <a:schemeClr val="tx1"/>
                </a:solidFill>
                <a:latin typeface="Times New Roman" pitchFamily="18" charset="0"/>
              </a:defRPr>
            </a:lvl4pPr>
            <a:lvl5pPr marL="2057400" indent="-228600" eaLnBrk="0" hangingPunct="0">
              <a:defRPr>
                <a:solidFill>
                  <a:schemeClr val="tx1"/>
                </a:solidFill>
                <a:latin typeface="Times New Roman" pitchFamily="18" charset="0"/>
              </a:defRPr>
            </a:lvl5pPr>
            <a:lvl6pPr marL="2514600" indent="-228600" eaLnBrk="0" fontAlgn="base" hangingPunct="0">
              <a:spcBef>
                <a:spcPct val="0"/>
              </a:spcBef>
              <a:spcAft>
                <a:spcPct val="0"/>
              </a:spcAft>
              <a:defRPr>
                <a:solidFill>
                  <a:schemeClr val="tx1"/>
                </a:solidFill>
                <a:latin typeface="Times New Roman" pitchFamily="18" charset="0"/>
              </a:defRPr>
            </a:lvl6pPr>
            <a:lvl7pPr marL="2971800" indent="-228600" eaLnBrk="0" fontAlgn="base" hangingPunct="0">
              <a:spcBef>
                <a:spcPct val="0"/>
              </a:spcBef>
              <a:spcAft>
                <a:spcPct val="0"/>
              </a:spcAft>
              <a:defRPr>
                <a:solidFill>
                  <a:schemeClr val="tx1"/>
                </a:solidFill>
                <a:latin typeface="Times New Roman" pitchFamily="18" charset="0"/>
              </a:defRPr>
            </a:lvl7pPr>
            <a:lvl8pPr marL="3429000" indent="-228600" eaLnBrk="0" fontAlgn="base" hangingPunct="0">
              <a:spcBef>
                <a:spcPct val="0"/>
              </a:spcBef>
              <a:spcAft>
                <a:spcPct val="0"/>
              </a:spcAft>
              <a:defRPr>
                <a:solidFill>
                  <a:schemeClr val="tx1"/>
                </a:solidFill>
                <a:latin typeface="Times New Roman" pitchFamily="18" charset="0"/>
              </a:defRPr>
            </a:lvl8pPr>
            <a:lvl9pPr marL="3886200" indent="-228600" eaLnBrk="0" fontAlgn="base" hangingPunct="0">
              <a:spcBef>
                <a:spcPct val="0"/>
              </a:spcBef>
              <a:spcAft>
                <a:spcPct val="0"/>
              </a:spcAft>
              <a:defRPr>
                <a:solidFill>
                  <a:schemeClr val="tx1"/>
                </a:solidFill>
                <a:latin typeface="Times New Roman" pitchFamily="18" charset="0"/>
              </a:defRPr>
            </a:lvl9pPr>
          </a:lstStyle>
          <a:p>
            <a:pPr marL="1073150" indent="-1073150">
              <a:defRPr/>
            </a:pPr>
            <a:r>
              <a:rPr lang="fr-CA" sz="2800" dirty="0">
                <a:solidFill>
                  <a:schemeClr val="accent2"/>
                </a:solidFill>
                <a:latin typeface="+mj-lt"/>
              </a:rPr>
              <a:t>2.3.4	</a:t>
            </a:r>
            <a:r>
              <a:rPr lang="fr-CA" sz="2800" b="1" u="sng" dirty="0">
                <a:solidFill>
                  <a:schemeClr val="accent2"/>
                </a:solidFill>
                <a:latin typeface="+mj-lt"/>
              </a:rPr>
              <a:t>Exemples physiologiques de l’osmose</a:t>
            </a:r>
          </a:p>
        </p:txBody>
      </p:sp>
      <p:sp>
        <p:nvSpPr>
          <p:cNvPr id="27651" name="TextBox 2"/>
          <p:cNvSpPr txBox="1">
            <a:spLocks noChangeArrowheads="1"/>
          </p:cNvSpPr>
          <p:nvPr/>
        </p:nvSpPr>
        <p:spPr bwMode="auto">
          <a:xfrm>
            <a:off x="246872" y="717995"/>
            <a:ext cx="8650255" cy="1631216"/>
          </a:xfrm>
          <a:prstGeom prst="rect">
            <a:avLst/>
          </a:prstGeom>
          <a:noFill/>
          <a:ln w="12700">
            <a:solidFill>
              <a:srgbClr val="FF0000"/>
            </a:solidFill>
            <a:miter lim="800000"/>
            <a:headEnd/>
            <a:tailEnd/>
          </a:ln>
        </p:spPr>
        <p:txBody>
          <a:bodyPr wrap="square">
            <a:spAutoFit/>
          </a:bodyPr>
          <a:lstStyle/>
          <a:p>
            <a:pPr marL="231775" lvl="1" indent="-225425" eaLnBrk="0" hangingPunct="0">
              <a:spcBef>
                <a:spcPts val="1200"/>
              </a:spcBef>
              <a:buFont typeface="Arial" charset="0"/>
              <a:buChar char="•"/>
            </a:pPr>
            <a:r>
              <a:rPr lang="fr-CA" sz="2000" dirty="0">
                <a:latin typeface="+mj-lt"/>
              </a:rPr>
              <a:t>L’eau douce est hypotonique, qu’est-ce à dire ?</a:t>
            </a:r>
          </a:p>
          <a:p>
            <a:pPr marL="231775" lvl="1" indent="-225425" eaLnBrk="0" hangingPunct="0">
              <a:spcBef>
                <a:spcPts val="1200"/>
              </a:spcBef>
              <a:buFont typeface="Arial" charset="0"/>
              <a:buChar char="•"/>
            </a:pPr>
            <a:r>
              <a:rPr lang="fr-CA" sz="2000" dirty="0">
                <a:latin typeface="+mj-lt"/>
              </a:rPr>
              <a:t>Une déshydratation déclenche la soif ; comment ?</a:t>
            </a:r>
          </a:p>
          <a:p>
            <a:pPr marL="231775" lvl="1" indent="-225425" eaLnBrk="0" hangingPunct="0">
              <a:spcBef>
                <a:spcPts val="1200"/>
              </a:spcBef>
              <a:buFont typeface="Arial" charset="0"/>
              <a:buChar char="•"/>
            </a:pPr>
            <a:r>
              <a:rPr lang="fr-CA" sz="2000" dirty="0">
                <a:latin typeface="+mj-lt"/>
              </a:rPr>
              <a:t>Une inhibition des pompes Na-K d’une cellule causerait son gonflement, pourquoi ?</a:t>
            </a:r>
          </a:p>
        </p:txBody>
      </p:sp>
      <p:sp>
        <p:nvSpPr>
          <p:cNvPr id="5" name="TextBox 4">
            <a:extLst>
              <a:ext uri="{FF2B5EF4-FFF2-40B4-BE49-F238E27FC236}">
                <a16:creationId xmlns:a16="http://schemas.microsoft.com/office/drawing/2014/main" id="{6D40392E-8920-4632-8B80-A02F4799C86E}"/>
              </a:ext>
            </a:extLst>
          </p:cNvPr>
          <p:cNvSpPr txBox="1"/>
          <p:nvPr/>
        </p:nvSpPr>
        <p:spPr>
          <a:xfrm>
            <a:off x="206949" y="2490288"/>
            <a:ext cx="8650255" cy="4037003"/>
          </a:xfrm>
          <a:prstGeom prst="rect">
            <a:avLst/>
          </a:prstGeom>
          <a:noFill/>
        </p:spPr>
        <p:txBody>
          <a:bodyPr wrap="square">
            <a:spAutoFit/>
          </a:bodyPr>
          <a:lstStyle/>
          <a:p>
            <a:pPr algn="just">
              <a:spcBef>
                <a:spcPts val="260"/>
              </a:spcBef>
              <a:tabLst>
                <a:tab pos="316865" algn="l"/>
              </a:tabLst>
            </a:pPr>
            <a:r>
              <a:rPr lang="fr-FR" sz="1400" spc="-40" dirty="0">
                <a:solidFill>
                  <a:srgbClr val="FF0000"/>
                </a:solidFill>
                <a:effectLst/>
                <a:latin typeface="+mj-lt"/>
                <a:ea typeface="Calibri" panose="020F0502020204030204" pitchFamily="34" charset="0"/>
                <a:cs typeface="Calibri" panose="020F0502020204030204" pitchFamily="34" charset="0"/>
              </a:rPr>
              <a:t>L’eau douce </a:t>
            </a:r>
            <a:r>
              <a:rPr lang="fr-FR" sz="1400" dirty="0">
                <a:solidFill>
                  <a:srgbClr val="FF0000"/>
                </a:solidFill>
                <a:effectLst/>
                <a:latin typeface="+mj-lt"/>
                <a:ea typeface="Calibri" panose="020F0502020204030204" pitchFamily="34" charset="0"/>
                <a:cs typeface="Calibri" panose="020F0502020204030204" pitchFamily="34" charset="0"/>
              </a:rPr>
              <a:t>e</a:t>
            </a:r>
            <a:r>
              <a:rPr lang="fr-FR" sz="1400" spc="-45" dirty="0">
                <a:solidFill>
                  <a:srgbClr val="FF0000"/>
                </a:solidFill>
                <a:effectLst/>
                <a:latin typeface="+mj-lt"/>
                <a:ea typeface="Calibri" panose="020F0502020204030204" pitchFamily="34" charset="0"/>
                <a:cs typeface="Calibri" panose="020F0502020204030204" pitchFamily="34" charset="0"/>
              </a:rPr>
              <a:t>s</a:t>
            </a:r>
            <a:r>
              <a:rPr lang="fr-FR" sz="1400" dirty="0">
                <a:solidFill>
                  <a:srgbClr val="FF0000"/>
                </a:solidFill>
                <a:effectLst/>
                <a:latin typeface="+mj-lt"/>
                <a:ea typeface="Calibri" panose="020F0502020204030204" pitchFamily="34" charset="0"/>
                <a:cs typeface="Calibri" panose="020F0502020204030204" pitchFamily="34" charset="0"/>
              </a:rPr>
              <a:t>t</a:t>
            </a:r>
            <a:r>
              <a:rPr lang="fr-FR" sz="1400" spc="-55" dirty="0">
                <a:solidFill>
                  <a:srgbClr val="FF0000"/>
                </a:solidFill>
                <a:effectLst/>
                <a:latin typeface="+mj-lt"/>
                <a:ea typeface="Calibri" panose="020F0502020204030204" pitchFamily="34" charset="0"/>
                <a:cs typeface="Calibri" panose="020F0502020204030204" pitchFamily="34" charset="0"/>
              </a:rPr>
              <a:t> </a:t>
            </a:r>
            <a:r>
              <a:rPr lang="fr-FR" sz="1400" spc="-60" dirty="0">
                <a:solidFill>
                  <a:srgbClr val="FF0000"/>
                </a:solidFill>
                <a:effectLst/>
                <a:latin typeface="+mj-lt"/>
                <a:ea typeface="Calibri" panose="020F0502020204030204" pitchFamily="34" charset="0"/>
                <a:cs typeface="Calibri" panose="020F0502020204030204" pitchFamily="34" charset="0"/>
              </a:rPr>
              <a:t>h</a:t>
            </a:r>
            <a:r>
              <a:rPr lang="fr-FR" sz="1400" spc="-5" dirty="0">
                <a:solidFill>
                  <a:srgbClr val="FF0000"/>
                </a:solidFill>
                <a:effectLst/>
                <a:latin typeface="+mj-lt"/>
                <a:ea typeface="Calibri" panose="020F0502020204030204" pitchFamily="34" charset="0"/>
                <a:cs typeface="Calibri" panose="020F0502020204030204" pitchFamily="34" charset="0"/>
              </a:rPr>
              <a:t>yp</a:t>
            </a:r>
            <a:r>
              <a:rPr lang="fr-FR" sz="1400" dirty="0">
                <a:solidFill>
                  <a:srgbClr val="FF0000"/>
                </a:solidFill>
                <a:effectLst/>
                <a:latin typeface="+mj-lt"/>
                <a:ea typeface="Calibri" panose="020F0502020204030204" pitchFamily="34" charset="0"/>
                <a:cs typeface="Calibri" panose="020F0502020204030204" pitchFamily="34" charset="0"/>
              </a:rPr>
              <a:t>o</a:t>
            </a:r>
            <a:r>
              <a:rPr lang="fr-FR" sz="1400" spc="-30" dirty="0">
                <a:solidFill>
                  <a:srgbClr val="FF0000"/>
                </a:solidFill>
                <a:effectLst/>
                <a:latin typeface="+mj-lt"/>
                <a:ea typeface="Calibri" panose="020F0502020204030204" pitchFamily="34" charset="0"/>
                <a:cs typeface="Calibri" panose="020F0502020204030204" pitchFamily="34" charset="0"/>
              </a:rPr>
              <a:t>t</a:t>
            </a:r>
            <a:r>
              <a:rPr lang="fr-FR" sz="1400" dirty="0">
                <a:solidFill>
                  <a:srgbClr val="FF0000"/>
                </a:solidFill>
                <a:effectLst/>
                <a:latin typeface="+mj-lt"/>
                <a:ea typeface="Calibri" panose="020F0502020204030204" pitchFamily="34" charset="0"/>
                <a:cs typeface="Calibri" panose="020F0502020204030204" pitchFamily="34" charset="0"/>
              </a:rPr>
              <a:t>o</a:t>
            </a:r>
            <a:r>
              <a:rPr lang="fr-FR" sz="1400" spc="-5" dirty="0">
                <a:solidFill>
                  <a:srgbClr val="FF0000"/>
                </a:solidFill>
                <a:effectLst/>
                <a:latin typeface="+mj-lt"/>
                <a:ea typeface="Calibri" panose="020F0502020204030204" pitchFamily="34" charset="0"/>
                <a:cs typeface="Calibri" panose="020F0502020204030204" pitchFamily="34" charset="0"/>
              </a:rPr>
              <a:t>n</a:t>
            </a:r>
            <a:r>
              <a:rPr lang="fr-FR" sz="1400" spc="-10" dirty="0">
                <a:solidFill>
                  <a:srgbClr val="FF0000"/>
                </a:solidFill>
                <a:effectLst/>
                <a:latin typeface="+mj-lt"/>
                <a:ea typeface="Calibri" panose="020F0502020204030204" pitchFamily="34" charset="0"/>
                <a:cs typeface="Calibri" panose="020F0502020204030204" pitchFamily="34" charset="0"/>
              </a:rPr>
              <a:t>i</a:t>
            </a:r>
            <a:r>
              <a:rPr lang="fr-FR" sz="1400" spc="-5" dirty="0">
                <a:solidFill>
                  <a:srgbClr val="FF0000"/>
                </a:solidFill>
                <a:effectLst/>
                <a:latin typeface="+mj-lt"/>
                <a:ea typeface="Calibri" panose="020F0502020204030204" pitchFamily="34" charset="0"/>
                <a:cs typeface="Calibri" panose="020F0502020204030204" pitchFamily="34" charset="0"/>
              </a:rPr>
              <a:t>qu</a:t>
            </a:r>
            <a:r>
              <a:rPr lang="fr-FR" sz="1400" dirty="0">
                <a:solidFill>
                  <a:srgbClr val="FF0000"/>
                </a:solidFill>
                <a:effectLst/>
                <a:latin typeface="+mj-lt"/>
                <a:ea typeface="Calibri" panose="020F0502020204030204" pitchFamily="34" charset="0"/>
                <a:cs typeface="Calibri" panose="020F0502020204030204" pitchFamily="34" charset="0"/>
              </a:rPr>
              <a:t>e,</a:t>
            </a:r>
            <a:r>
              <a:rPr lang="fr-FR" sz="1400" spc="-20" dirty="0">
                <a:solidFill>
                  <a:srgbClr val="FF0000"/>
                </a:solidFill>
                <a:effectLst/>
                <a:latin typeface="+mj-lt"/>
                <a:ea typeface="Calibri" panose="020F0502020204030204" pitchFamily="34" charset="0"/>
                <a:cs typeface="Calibri" panose="020F0502020204030204" pitchFamily="34" charset="0"/>
              </a:rPr>
              <a:t> </a:t>
            </a:r>
            <a:r>
              <a:rPr lang="fr-FR" sz="1400" spc="-5" dirty="0">
                <a:solidFill>
                  <a:srgbClr val="FF0000"/>
                </a:solidFill>
                <a:effectLst/>
                <a:latin typeface="+mj-lt"/>
                <a:ea typeface="Calibri" panose="020F0502020204030204" pitchFamily="34" charset="0"/>
                <a:cs typeface="Calibri" panose="020F0502020204030204" pitchFamily="34" charset="0"/>
              </a:rPr>
              <a:t>qu</a:t>
            </a:r>
            <a:r>
              <a:rPr lang="fr-FR" sz="1400" spc="-200" dirty="0">
                <a:solidFill>
                  <a:srgbClr val="FF0000"/>
                </a:solidFill>
                <a:effectLst/>
                <a:latin typeface="+mj-lt"/>
                <a:ea typeface="Calibri" panose="020F0502020204030204" pitchFamily="34" charset="0"/>
                <a:cs typeface="Calibri" panose="020F0502020204030204" pitchFamily="34" charset="0"/>
              </a:rPr>
              <a:t>’</a:t>
            </a:r>
            <a:r>
              <a:rPr lang="fr-FR" sz="1400" dirty="0">
                <a:solidFill>
                  <a:srgbClr val="FF0000"/>
                </a:solidFill>
                <a:effectLst/>
                <a:latin typeface="+mj-lt"/>
                <a:ea typeface="Calibri" panose="020F0502020204030204" pitchFamily="34" charset="0"/>
                <a:cs typeface="Calibri" panose="020F0502020204030204" pitchFamily="34" charset="0"/>
              </a:rPr>
              <a:t>e</a:t>
            </a:r>
            <a:r>
              <a:rPr lang="fr-FR" sz="1400" spc="-45" dirty="0">
                <a:solidFill>
                  <a:srgbClr val="FF0000"/>
                </a:solidFill>
                <a:effectLst/>
                <a:latin typeface="+mj-lt"/>
                <a:ea typeface="Calibri" panose="020F0502020204030204" pitchFamily="34" charset="0"/>
                <a:cs typeface="Calibri" panose="020F0502020204030204" pitchFamily="34" charset="0"/>
              </a:rPr>
              <a:t>s</a:t>
            </a:r>
            <a:r>
              <a:rPr lang="fr-FR" sz="1400" dirty="0">
                <a:solidFill>
                  <a:srgbClr val="FF0000"/>
                </a:solidFill>
                <a:effectLst/>
                <a:latin typeface="+mj-lt"/>
                <a:ea typeface="Calibri" panose="020F0502020204030204" pitchFamily="34" charset="0"/>
                <a:cs typeface="Calibri" panose="020F0502020204030204" pitchFamily="34" charset="0"/>
              </a:rPr>
              <a:t>t</a:t>
            </a:r>
            <a:r>
              <a:rPr lang="fr-FR" sz="1400" spc="-5" dirty="0">
                <a:solidFill>
                  <a:srgbClr val="FF0000"/>
                </a:solidFill>
                <a:effectLst/>
                <a:latin typeface="+mj-lt"/>
                <a:ea typeface="Calibri" panose="020F0502020204030204" pitchFamily="34" charset="0"/>
                <a:cs typeface="Calibri" panose="020F0502020204030204" pitchFamily="34" charset="0"/>
              </a:rPr>
              <a:t>-</a:t>
            </a:r>
            <a:r>
              <a:rPr lang="fr-FR" sz="1400" spc="5" dirty="0">
                <a:solidFill>
                  <a:srgbClr val="FF0000"/>
                </a:solidFill>
                <a:effectLst/>
                <a:latin typeface="+mj-lt"/>
                <a:ea typeface="Calibri" panose="020F0502020204030204" pitchFamily="34" charset="0"/>
                <a:cs typeface="Calibri" panose="020F0502020204030204" pitchFamily="34" charset="0"/>
              </a:rPr>
              <a:t>c</a:t>
            </a:r>
            <a:r>
              <a:rPr lang="fr-FR" sz="1400" dirty="0">
                <a:solidFill>
                  <a:srgbClr val="FF0000"/>
                </a:solidFill>
                <a:effectLst/>
                <a:latin typeface="+mj-lt"/>
                <a:ea typeface="Calibri" panose="020F0502020204030204" pitchFamily="34" charset="0"/>
                <a:cs typeface="Calibri" panose="020F0502020204030204" pitchFamily="34" charset="0"/>
              </a:rPr>
              <a:t>e</a:t>
            </a:r>
            <a:r>
              <a:rPr lang="fr-FR" sz="1400" spc="-30" dirty="0">
                <a:solidFill>
                  <a:srgbClr val="FF0000"/>
                </a:solidFill>
                <a:effectLst/>
                <a:latin typeface="+mj-lt"/>
                <a:ea typeface="Calibri" panose="020F0502020204030204" pitchFamily="34" charset="0"/>
                <a:cs typeface="Calibri" panose="020F0502020204030204" pitchFamily="34" charset="0"/>
              </a:rPr>
              <a:t> </a:t>
            </a:r>
            <a:r>
              <a:rPr lang="fr-FR" sz="1400" dirty="0">
                <a:solidFill>
                  <a:srgbClr val="FF0000"/>
                </a:solidFill>
                <a:effectLst/>
                <a:latin typeface="+mj-lt"/>
                <a:ea typeface="Calibri" panose="020F0502020204030204" pitchFamily="34" charset="0"/>
                <a:cs typeface="Calibri" panose="020F0502020204030204" pitchFamily="34" charset="0"/>
              </a:rPr>
              <a:t>à</a:t>
            </a:r>
            <a:r>
              <a:rPr lang="fr-FR" sz="1400" spc="-65" dirty="0">
                <a:solidFill>
                  <a:srgbClr val="FF0000"/>
                </a:solidFill>
                <a:effectLst/>
                <a:latin typeface="+mj-lt"/>
                <a:ea typeface="Calibri" panose="020F0502020204030204" pitchFamily="34" charset="0"/>
                <a:cs typeface="Calibri" panose="020F0502020204030204" pitchFamily="34" charset="0"/>
              </a:rPr>
              <a:t> </a:t>
            </a:r>
            <a:r>
              <a:rPr lang="fr-FR" sz="1400" spc="-5" dirty="0">
                <a:solidFill>
                  <a:srgbClr val="FF0000"/>
                </a:solidFill>
                <a:effectLst/>
                <a:latin typeface="+mj-lt"/>
                <a:ea typeface="Calibri" panose="020F0502020204030204" pitchFamily="34" charset="0"/>
                <a:cs typeface="Calibri" panose="020F0502020204030204" pitchFamily="34" charset="0"/>
              </a:rPr>
              <a:t>d</a:t>
            </a:r>
            <a:r>
              <a:rPr lang="fr-FR" sz="1400" spc="-10" dirty="0">
                <a:solidFill>
                  <a:srgbClr val="FF0000"/>
                </a:solidFill>
                <a:effectLst/>
                <a:latin typeface="+mj-lt"/>
                <a:ea typeface="Calibri" panose="020F0502020204030204" pitchFamily="34" charset="0"/>
                <a:cs typeface="Calibri" panose="020F0502020204030204" pitchFamily="34" charset="0"/>
              </a:rPr>
              <a:t>i</a:t>
            </a:r>
            <a:r>
              <a:rPr lang="fr-FR" sz="1400" spc="-45" dirty="0">
                <a:solidFill>
                  <a:srgbClr val="FF0000"/>
                </a:solidFill>
                <a:effectLst/>
                <a:latin typeface="+mj-lt"/>
                <a:ea typeface="Calibri" panose="020F0502020204030204" pitchFamily="34" charset="0"/>
                <a:cs typeface="Calibri" panose="020F0502020204030204" pitchFamily="34" charset="0"/>
              </a:rPr>
              <a:t>r</a:t>
            </a:r>
            <a:r>
              <a:rPr lang="fr-FR" sz="1400" dirty="0">
                <a:solidFill>
                  <a:srgbClr val="FF0000"/>
                </a:solidFill>
                <a:effectLst/>
                <a:latin typeface="+mj-lt"/>
                <a:ea typeface="Calibri" panose="020F0502020204030204" pitchFamily="34" charset="0"/>
                <a:cs typeface="Calibri" panose="020F0502020204030204" pitchFamily="34" charset="0"/>
              </a:rPr>
              <a:t>e</a:t>
            </a:r>
            <a:r>
              <a:rPr lang="fr-FR" sz="1400" spc="-50" dirty="0">
                <a:solidFill>
                  <a:srgbClr val="FF0000"/>
                </a:solidFill>
                <a:effectLst/>
                <a:latin typeface="+mj-lt"/>
                <a:ea typeface="Calibri" panose="020F0502020204030204" pitchFamily="34" charset="0"/>
                <a:cs typeface="Calibri" panose="020F0502020204030204" pitchFamily="34" charset="0"/>
              </a:rPr>
              <a:t> </a:t>
            </a:r>
            <a:r>
              <a:rPr lang="fr-FR" sz="1400" dirty="0">
                <a:solidFill>
                  <a:srgbClr val="FF0000"/>
                </a:solidFill>
                <a:effectLst/>
                <a:latin typeface="+mj-lt"/>
                <a:ea typeface="Calibri" panose="020F0502020204030204" pitchFamily="34" charset="0"/>
                <a:cs typeface="Calibri" panose="020F0502020204030204" pitchFamily="34" charset="0"/>
              </a:rPr>
              <a:t>?</a:t>
            </a:r>
            <a:endParaRPr lang="en-CA" sz="1400" dirty="0">
              <a:effectLst/>
              <a:latin typeface="+mj-lt"/>
              <a:ea typeface="Cambria" panose="02040503050406030204" pitchFamily="18" charset="0"/>
              <a:cs typeface="Times New Roman" panose="02020603050405020304" pitchFamily="18" charset="0"/>
            </a:endParaRPr>
          </a:p>
          <a:p>
            <a:pPr algn="just"/>
            <a:r>
              <a:rPr lang="fr-FR" sz="1400" dirty="0">
                <a:solidFill>
                  <a:srgbClr val="000000"/>
                </a:solidFill>
                <a:effectLst/>
                <a:latin typeface="+mj-lt"/>
                <a:ea typeface="MS Mincho" panose="02020609040205080304" pitchFamily="49" charset="-128"/>
                <a:cs typeface="Times New Roman" panose="02020603050405020304" pitchFamily="18" charset="0"/>
              </a:rPr>
              <a:t>L’eau douce a une osmolarité inférieure à 300mOsm/L, ce qui la rend hypotonique. Cette propriété lui permet d’être facilement absorbée par osmose dans les intestins dont les cellules et la circulation sanguine ont une osmolarité de 300 </a:t>
            </a:r>
            <a:r>
              <a:rPr lang="fr-FR" sz="1400" dirty="0" err="1">
                <a:solidFill>
                  <a:srgbClr val="000000"/>
                </a:solidFill>
                <a:effectLst/>
                <a:latin typeface="+mj-lt"/>
                <a:ea typeface="MS Mincho" panose="02020609040205080304" pitchFamily="49" charset="-128"/>
                <a:cs typeface="Times New Roman" panose="02020603050405020304" pitchFamily="18" charset="0"/>
              </a:rPr>
              <a:t>mOsmol</a:t>
            </a:r>
            <a:r>
              <a:rPr lang="fr-FR" sz="1400" dirty="0">
                <a:solidFill>
                  <a:srgbClr val="000000"/>
                </a:solidFill>
                <a:effectLst/>
                <a:latin typeface="+mj-lt"/>
                <a:ea typeface="MS Mincho" panose="02020609040205080304" pitchFamily="49" charset="-128"/>
                <a:cs typeface="Times New Roman" panose="02020603050405020304" pitchFamily="18" charset="0"/>
              </a:rPr>
              <a:t>/L. Inversement, l’ingestion d’une grande quantité d’eau de mer (osmolarité ≈ 1000 </a:t>
            </a:r>
            <a:r>
              <a:rPr lang="fr-FR" sz="1400" dirty="0" err="1">
                <a:solidFill>
                  <a:srgbClr val="000000"/>
                </a:solidFill>
                <a:effectLst/>
                <a:latin typeface="+mj-lt"/>
                <a:ea typeface="MS Mincho" panose="02020609040205080304" pitchFamily="49" charset="-128"/>
                <a:cs typeface="Times New Roman" panose="02020603050405020304" pitchFamily="18" charset="0"/>
              </a:rPr>
              <a:t>mOsmol</a:t>
            </a:r>
            <a:r>
              <a:rPr lang="fr-FR" sz="1400" dirty="0">
                <a:solidFill>
                  <a:srgbClr val="000000"/>
                </a:solidFill>
                <a:effectLst/>
                <a:latin typeface="+mj-lt"/>
                <a:ea typeface="MS Mincho" panose="02020609040205080304" pitchFamily="49" charset="-128"/>
                <a:cs typeface="Times New Roman" panose="02020603050405020304" pitchFamily="18" charset="0"/>
              </a:rPr>
              <a:t>/L) nous ferait perdre de l’eau par les intestins à cause d’un effet osmotique inversé.</a:t>
            </a:r>
            <a:endParaRPr lang="en-CA" sz="1400" dirty="0">
              <a:effectLst/>
              <a:latin typeface="+mj-lt"/>
              <a:ea typeface="Cambria" panose="02040503050406030204" pitchFamily="18" charset="0"/>
              <a:cs typeface="Times New Roman" panose="02020603050405020304" pitchFamily="18" charset="0"/>
            </a:endParaRPr>
          </a:p>
          <a:p>
            <a:pPr algn="just">
              <a:spcBef>
                <a:spcPts val="600"/>
              </a:spcBef>
              <a:tabLst>
                <a:tab pos="316865" algn="l"/>
              </a:tabLst>
            </a:pPr>
            <a:r>
              <a:rPr lang="fr-CA" sz="1400" dirty="0">
                <a:solidFill>
                  <a:srgbClr val="FF0000"/>
                </a:solidFill>
                <a:effectLst/>
                <a:latin typeface="+mj-lt"/>
                <a:ea typeface="Cambria" panose="02040503050406030204" pitchFamily="18" charset="0"/>
                <a:cs typeface="Times New Roman" panose="02020603050405020304" pitchFamily="18" charset="0"/>
              </a:rPr>
              <a:t>Une</a:t>
            </a:r>
            <a:r>
              <a:rPr lang="fr-CA" sz="1400" spc="-80" dirty="0">
                <a:solidFill>
                  <a:srgbClr val="FF0000"/>
                </a:solidFill>
                <a:effectLst/>
                <a:latin typeface="+mj-lt"/>
                <a:ea typeface="Cambria" panose="02040503050406030204" pitchFamily="18" charset="0"/>
                <a:cs typeface="Times New Roman" panose="02020603050405020304" pitchFamily="18" charset="0"/>
              </a:rPr>
              <a:t> </a:t>
            </a:r>
            <a:r>
              <a:rPr lang="fr-CA" sz="1400" spc="-25" dirty="0">
                <a:solidFill>
                  <a:srgbClr val="FF0000"/>
                </a:solidFill>
                <a:effectLst/>
                <a:latin typeface="+mj-lt"/>
                <a:ea typeface="Cambria" panose="02040503050406030204" pitchFamily="18" charset="0"/>
                <a:cs typeface="Times New Roman" panose="02020603050405020304" pitchFamily="18" charset="0"/>
              </a:rPr>
              <a:t>déshydratation</a:t>
            </a:r>
            <a:r>
              <a:rPr lang="fr-CA" sz="1400" spc="-60" dirty="0">
                <a:solidFill>
                  <a:srgbClr val="FF0000"/>
                </a:solidFill>
                <a:effectLst/>
                <a:latin typeface="+mj-lt"/>
                <a:ea typeface="Cambria" panose="02040503050406030204" pitchFamily="18" charset="0"/>
                <a:cs typeface="Times New Roman" panose="02020603050405020304" pitchFamily="18" charset="0"/>
              </a:rPr>
              <a:t> </a:t>
            </a:r>
            <a:r>
              <a:rPr lang="fr-CA" sz="1400" spc="-5" dirty="0">
                <a:solidFill>
                  <a:srgbClr val="FF0000"/>
                </a:solidFill>
                <a:effectLst/>
                <a:latin typeface="+mj-lt"/>
                <a:ea typeface="Cambria" panose="02040503050406030204" pitchFamily="18" charset="0"/>
                <a:cs typeface="Times New Roman" panose="02020603050405020304" pitchFamily="18" charset="0"/>
              </a:rPr>
              <a:t>déclenche</a:t>
            </a:r>
            <a:r>
              <a:rPr lang="fr-CA" sz="1400" spc="-70" dirty="0">
                <a:solidFill>
                  <a:srgbClr val="FF0000"/>
                </a:solidFill>
                <a:effectLst/>
                <a:latin typeface="+mj-lt"/>
                <a:ea typeface="Cambria" panose="02040503050406030204" pitchFamily="18" charset="0"/>
                <a:cs typeface="Times New Roman" panose="02020603050405020304" pitchFamily="18" charset="0"/>
              </a:rPr>
              <a:t> </a:t>
            </a:r>
            <a:r>
              <a:rPr lang="fr-CA" sz="1400" spc="-5" dirty="0">
                <a:solidFill>
                  <a:srgbClr val="FF0000"/>
                </a:solidFill>
                <a:effectLst/>
                <a:latin typeface="+mj-lt"/>
                <a:ea typeface="Cambria" panose="02040503050406030204" pitchFamily="18" charset="0"/>
                <a:cs typeface="Times New Roman" panose="02020603050405020304" pitchFamily="18" charset="0"/>
              </a:rPr>
              <a:t>la</a:t>
            </a:r>
            <a:r>
              <a:rPr lang="fr-CA" sz="1400" spc="-85" dirty="0">
                <a:solidFill>
                  <a:srgbClr val="FF0000"/>
                </a:solidFill>
                <a:effectLst/>
                <a:latin typeface="+mj-lt"/>
                <a:ea typeface="Cambria" panose="02040503050406030204" pitchFamily="18" charset="0"/>
                <a:cs typeface="Times New Roman" panose="02020603050405020304" pitchFamily="18" charset="0"/>
              </a:rPr>
              <a:t> </a:t>
            </a:r>
            <a:r>
              <a:rPr lang="fr-CA" sz="1400" spc="-5" dirty="0">
                <a:solidFill>
                  <a:srgbClr val="FF0000"/>
                </a:solidFill>
                <a:effectLst/>
                <a:latin typeface="+mj-lt"/>
                <a:ea typeface="Cambria" panose="02040503050406030204" pitchFamily="18" charset="0"/>
                <a:cs typeface="Times New Roman" panose="02020603050405020304" pitchFamily="18" charset="0"/>
              </a:rPr>
              <a:t>soif ;</a:t>
            </a:r>
            <a:r>
              <a:rPr lang="fr-CA" sz="1400" spc="-80" dirty="0">
                <a:solidFill>
                  <a:srgbClr val="FF0000"/>
                </a:solidFill>
                <a:effectLst/>
                <a:latin typeface="+mj-lt"/>
                <a:ea typeface="Cambria" panose="02040503050406030204" pitchFamily="18" charset="0"/>
                <a:cs typeface="Times New Roman" panose="02020603050405020304" pitchFamily="18" charset="0"/>
              </a:rPr>
              <a:t> </a:t>
            </a:r>
            <a:r>
              <a:rPr lang="fr-CA" sz="1400" spc="-10" dirty="0">
                <a:solidFill>
                  <a:srgbClr val="FF0000"/>
                </a:solidFill>
                <a:effectLst/>
                <a:latin typeface="+mj-lt"/>
                <a:ea typeface="Cambria" panose="02040503050406030204" pitchFamily="18" charset="0"/>
                <a:cs typeface="Times New Roman" panose="02020603050405020304" pitchFamily="18" charset="0"/>
              </a:rPr>
              <a:t>comment ?</a:t>
            </a:r>
            <a:endParaRPr lang="en-CA" sz="1400" dirty="0">
              <a:effectLst/>
              <a:latin typeface="+mj-lt"/>
              <a:ea typeface="Cambria" panose="02040503050406030204" pitchFamily="18" charset="0"/>
              <a:cs typeface="Times New Roman" panose="02020603050405020304" pitchFamily="18" charset="0"/>
            </a:endParaRPr>
          </a:p>
          <a:p>
            <a:pPr algn="just"/>
            <a:r>
              <a:rPr lang="fr-FR" sz="1400" dirty="0">
                <a:effectLst/>
                <a:latin typeface="+mj-lt"/>
                <a:ea typeface="Cambria" panose="02040503050406030204" pitchFamily="18" charset="0"/>
                <a:cs typeface="Arial" panose="020B0604020202020204" pitchFamily="34" charset="0"/>
              </a:rPr>
              <a:t>La perte d’eau sans perte parallèle de solutés entraîne une augmentation de l’osmolarité sanguine, laquelle cause une diminution du volume des cellules. Le signal de la soif est en grande partie déclenché par cette diminution du volume de cellules spécialisées de l’encéphale qui agissent comme “osmorécepteurs”. </a:t>
            </a:r>
            <a:endParaRPr lang="en-CA" sz="1400" dirty="0">
              <a:effectLst/>
              <a:latin typeface="+mj-lt"/>
              <a:ea typeface="Cambria" panose="02040503050406030204" pitchFamily="18" charset="0"/>
              <a:cs typeface="Times New Roman" panose="02020603050405020304" pitchFamily="18" charset="0"/>
            </a:endParaRPr>
          </a:p>
          <a:p>
            <a:pPr algn="just">
              <a:spcBef>
                <a:spcPts val="600"/>
              </a:spcBef>
              <a:tabLst>
                <a:tab pos="316865" algn="l"/>
              </a:tabLst>
            </a:pPr>
            <a:r>
              <a:rPr lang="fr-CA" sz="1400" dirty="0">
                <a:solidFill>
                  <a:srgbClr val="FF0000"/>
                </a:solidFill>
                <a:effectLst/>
                <a:latin typeface="+mj-lt"/>
                <a:ea typeface="Calibri" panose="020F0502020204030204" pitchFamily="34" charset="0"/>
                <a:cs typeface="Calibri" panose="020F0502020204030204" pitchFamily="34" charset="0"/>
              </a:rPr>
              <a:t>Une</a:t>
            </a:r>
            <a:r>
              <a:rPr lang="fr-CA" sz="1400" spc="-60" dirty="0">
                <a:solidFill>
                  <a:srgbClr val="FF0000"/>
                </a:solidFill>
                <a:effectLst/>
                <a:latin typeface="+mj-lt"/>
                <a:ea typeface="Calibri" panose="020F0502020204030204" pitchFamily="34" charset="0"/>
                <a:cs typeface="Calibri" panose="020F0502020204030204" pitchFamily="34" charset="0"/>
              </a:rPr>
              <a:t> </a:t>
            </a:r>
            <a:r>
              <a:rPr lang="fr-CA" sz="1400" spc="-10" dirty="0">
                <a:solidFill>
                  <a:srgbClr val="FF0000"/>
                </a:solidFill>
                <a:effectLst/>
                <a:latin typeface="+mj-lt"/>
                <a:ea typeface="Calibri" panose="020F0502020204030204" pitchFamily="34" charset="0"/>
                <a:cs typeface="Calibri" panose="020F0502020204030204" pitchFamily="34" charset="0"/>
              </a:rPr>
              <a:t>inhibition</a:t>
            </a:r>
            <a:r>
              <a:rPr lang="fr-CA" sz="1400" spc="-35" dirty="0">
                <a:solidFill>
                  <a:srgbClr val="FF0000"/>
                </a:solidFill>
                <a:effectLst/>
                <a:latin typeface="+mj-lt"/>
                <a:ea typeface="Calibri" panose="020F0502020204030204" pitchFamily="34" charset="0"/>
                <a:cs typeface="Calibri" panose="020F0502020204030204" pitchFamily="34" charset="0"/>
              </a:rPr>
              <a:t> </a:t>
            </a:r>
            <a:r>
              <a:rPr lang="fr-CA" sz="1400" spc="-5" dirty="0">
                <a:solidFill>
                  <a:srgbClr val="FF0000"/>
                </a:solidFill>
                <a:effectLst/>
                <a:latin typeface="+mj-lt"/>
                <a:ea typeface="Calibri" panose="020F0502020204030204" pitchFamily="34" charset="0"/>
                <a:cs typeface="Calibri" panose="020F0502020204030204" pitchFamily="34" charset="0"/>
              </a:rPr>
              <a:t>des</a:t>
            </a:r>
            <a:r>
              <a:rPr lang="fr-CA" sz="1400" spc="-65" dirty="0">
                <a:solidFill>
                  <a:srgbClr val="FF0000"/>
                </a:solidFill>
                <a:effectLst/>
                <a:latin typeface="+mj-lt"/>
                <a:ea typeface="Calibri" panose="020F0502020204030204" pitchFamily="34" charset="0"/>
                <a:cs typeface="Calibri" panose="020F0502020204030204" pitchFamily="34" charset="0"/>
              </a:rPr>
              <a:t> </a:t>
            </a:r>
            <a:r>
              <a:rPr lang="fr-CA" sz="1400" spc="-5" dirty="0">
                <a:solidFill>
                  <a:srgbClr val="FF0000"/>
                </a:solidFill>
                <a:effectLst/>
                <a:latin typeface="+mj-lt"/>
                <a:ea typeface="Calibri" panose="020F0502020204030204" pitchFamily="34" charset="0"/>
                <a:cs typeface="Calibri" panose="020F0502020204030204" pitchFamily="34" charset="0"/>
              </a:rPr>
              <a:t>pompes</a:t>
            </a:r>
            <a:r>
              <a:rPr lang="fr-CA" sz="1400" spc="-40" dirty="0">
                <a:solidFill>
                  <a:srgbClr val="FF0000"/>
                </a:solidFill>
                <a:effectLst/>
                <a:latin typeface="+mj-lt"/>
                <a:ea typeface="Calibri" panose="020F0502020204030204" pitchFamily="34" charset="0"/>
                <a:cs typeface="Calibri" panose="020F0502020204030204" pitchFamily="34" charset="0"/>
              </a:rPr>
              <a:t> </a:t>
            </a:r>
            <a:r>
              <a:rPr lang="fr-CA" sz="1400" spc="-5" dirty="0">
                <a:solidFill>
                  <a:srgbClr val="FF0000"/>
                </a:solidFill>
                <a:effectLst/>
                <a:latin typeface="+mj-lt"/>
                <a:ea typeface="Calibri" panose="020F0502020204030204" pitchFamily="34" charset="0"/>
                <a:cs typeface="Calibri" panose="020F0502020204030204" pitchFamily="34" charset="0"/>
              </a:rPr>
              <a:t>Na-K</a:t>
            </a:r>
            <a:r>
              <a:rPr lang="fr-CA" sz="1400" spc="-60" dirty="0">
                <a:solidFill>
                  <a:srgbClr val="FF0000"/>
                </a:solidFill>
                <a:effectLst/>
                <a:latin typeface="+mj-lt"/>
                <a:ea typeface="Calibri" panose="020F0502020204030204" pitchFamily="34" charset="0"/>
                <a:cs typeface="Calibri" panose="020F0502020204030204" pitchFamily="34" charset="0"/>
              </a:rPr>
              <a:t> </a:t>
            </a:r>
            <a:r>
              <a:rPr lang="fr-CA" sz="1400" spc="-25" dirty="0">
                <a:solidFill>
                  <a:srgbClr val="FF0000"/>
                </a:solidFill>
                <a:effectLst/>
                <a:latin typeface="+mj-lt"/>
                <a:ea typeface="Calibri" panose="020F0502020204030204" pitchFamily="34" charset="0"/>
                <a:cs typeface="Calibri" panose="020F0502020204030204" pitchFamily="34" charset="0"/>
              </a:rPr>
              <a:t>d’une</a:t>
            </a:r>
            <a:r>
              <a:rPr lang="fr-CA" sz="1400" spc="-35" dirty="0">
                <a:solidFill>
                  <a:srgbClr val="FF0000"/>
                </a:solidFill>
                <a:effectLst/>
                <a:latin typeface="+mj-lt"/>
                <a:ea typeface="Calibri" panose="020F0502020204030204" pitchFamily="34" charset="0"/>
                <a:cs typeface="Calibri" panose="020F0502020204030204" pitchFamily="34" charset="0"/>
              </a:rPr>
              <a:t> </a:t>
            </a:r>
            <a:r>
              <a:rPr lang="fr-CA" sz="1400" spc="-10" dirty="0">
                <a:solidFill>
                  <a:srgbClr val="FF0000"/>
                </a:solidFill>
                <a:effectLst/>
                <a:latin typeface="+mj-lt"/>
                <a:ea typeface="Calibri" panose="020F0502020204030204" pitchFamily="34" charset="0"/>
                <a:cs typeface="Calibri" panose="020F0502020204030204" pitchFamily="34" charset="0"/>
              </a:rPr>
              <a:t>cellule</a:t>
            </a:r>
            <a:r>
              <a:rPr lang="fr-CA" sz="1400" spc="255" dirty="0">
                <a:solidFill>
                  <a:srgbClr val="FF0000"/>
                </a:solidFill>
                <a:effectLst/>
                <a:latin typeface="+mj-lt"/>
                <a:ea typeface="Calibri" panose="020F0502020204030204" pitchFamily="34" charset="0"/>
                <a:cs typeface="Calibri" panose="020F0502020204030204" pitchFamily="34" charset="0"/>
              </a:rPr>
              <a:t> </a:t>
            </a:r>
            <a:r>
              <a:rPr lang="fr-CA" sz="1400" spc="-15" dirty="0">
                <a:solidFill>
                  <a:srgbClr val="FF0000"/>
                </a:solidFill>
                <a:effectLst/>
                <a:latin typeface="+mj-lt"/>
                <a:ea typeface="Calibri" panose="020F0502020204030204" pitchFamily="34" charset="0"/>
                <a:cs typeface="Calibri" panose="020F0502020204030204" pitchFamily="34" charset="0"/>
              </a:rPr>
              <a:t>causerait</a:t>
            </a:r>
            <a:r>
              <a:rPr lang="fr-CA" sz="1400" spc="-85" dirty="0">
                <a:solidFill>
                  <a:srgbClr val="FF0000"/>
                </a:solidFill>
                <a:effectLst/>
                <a:latin typeface="+mj-lt"/>
                <a:ea typeface="Calibri" panose="020F0502020204030204" pitchFamily="34" charset="0"/>
                <a:cs typeface="Calibri" panose="020F0502020204030204" pitchFamily="34" charset="0"/>
              </a:rPr>
              <a:t> </a:t>
            </a:r>
            <a:r>
              <a:rPr lang="fr-CA" sz="1400" spc="-5" dirty="0">
                <a:solidFill>
                  <a:srgbClr val="FF0000"/>
                </a:solidFill>
                <a:effectLst/>
                <a:latin typeface="+mj-lt"/>
                <a:ea typeface="Calibri" panose="020F0502020204030204" pitchFamily="34" charset="0"/>
                <a:cs typeface="Calibri" panose="020F0502020204030204" pitchFamily="34" charset="0"/>
              </a:rPr>
              <a:t>son</a:t>
            </a:r>
            <a:r>
              <a:rPr lang="fr-CA" sz="1400" spc="-80" dirty="0">
                <a:solidFill>
                  <a:srgbClr val="FF0000"/>
                </a:solidFill>
                <a:effectLst/>
                <a:latin typeface="+mj-lt"/>
                <a:ea typeface="Calibri" panose="020F0502020204030204" pitchFamily="34" charset="0"/>
                <a:cs typeface="Calibri" panose="020F0502020204030204" pitchFamily="34" charset="0"/>
              </a:rPr>
              <a:t> </a:t>
            </a:r>
            <a:r>
              <a:rPr lang="fr-CA" sz="1400" spc="-10" dirty="0">
                <a:solidFill>
                  <a:srgbClr val="FF0000"/>
                </a:solidFill>
                <a:effectLst/>
                <a:latin typeface="+mj-lt"/>
                <a:ea typeface="Calibri" panose="020F0502020204030204" pitchFamily="34" charset="0"/>
                <a:cs typeface="Calibri" panose="020F0502020204030204" pitchFamily="34" charset="0"/>
              </a:rPr>
              <a:t>gonflement,</a:t>
            </a:r>
            <a:r>
              <a:rPr lang="fr-CA" sz="1400" spc="-85" dirty="0">
                <a:solidFill>
                  <a:srgbClr val="FF0000"/>
                </a:solidFill>
                <a:effectLst/>
                <a:latin typeface="+mj-lt"/>
                <a:ea typeface="Calibri" panose="020F0502020204030204" pitchFamily="34" charset="0"/>
                <a:cs typeface="Calibri" panose="020F0502020204030204" pitchFamily="34" charset="0"/>
              </a:rPr>
              <a:t> </a:t>
            </a:r>
            <a:r>
              <a:rPr lang="fr-CA" sz="1400" spc="-10" dirty="0">
                <a:solidFill>
                  <a:srgbClr val="FF0000"/>
                </a:solidFill>
                <a:effectLst/>
                <a:latin typeface="+mj-lt"/>
                <a:ea typeface="Calibri" panose="020F0502020204030204" pitchFamily="34" charset="0"/>
                <a:cs typeface="Calibri" panose="020F0502020204030204" pitchFamily="34" charset="0"/>
              </a:rPr>
              <a:t>pourquoi</a:t>
            </a:r>
            <a:r>
              <a:rPr lang="fr-CA" sz="1400" spc="-60" dirty="0">
                <a:solidFill>
                  <a:srgbClr val="FF0000"/>
                </a:solidFill>
                <a:effectLst/>
                <a:latin typeface="+mj-lt"/>
                <a:ea typeface="Calibri" panose="020F0502020204030204" pitchFamily="34" charset="0"/>
                <a:cs typeface="Calibri" panose="020F0502020204030204" pitchFamily="34" charset="0"/>
              </a:rPr>
              <a:t> </a:t>
            </a:r>
            <a:r>
              <a:rPr lang="fr-CA" sz="1400" dirty="0">
                <a:solidFill>
                  <a:srgbClr val="FF0000"/>
                </a:solidFill>
                <a:effectLst/>
                <a:latin typeface="+mj-lt"/>
                <a:ea typeface="Calibri" panose="020F0502020204030204" pitchFamily="34" charset="0"/>
                <a:cs typeface="Calibri" panose="020F0502020204030204" pitchFamily="34" charset="0"/>
              </a:rPr>
              <a:t>?</a:t>
            </a:r>
            <a:endParaRPr lang="en-CA" sz="1400" dirty="0">
              <a:effectLst/>
              <a:latin typeface="+mj-lt"/>
              <a:ea typeface="Cambria" panose="02040503050406030204" pitchFamily="18" charset="0"/>
              <a:cs typeface="Times New Roman" panose="02020603050405020304" pitchFamily="18" charset="0"/>
            </a:endParaRPr>
          </a:p>
          <a:p>
            <a:pPr algn="just"/>
            <a:r>
              <a:rPr lang="fr-FR" sz="1400" dirty="0">
                <a:effectLst/>
                <a:latin typeface="+mj-lt"/>
                <a:ea typeface="Cambria" panose="02040503050406030204" pitchFamily="18" charset="0"/>
                <a:cs typeface="Arial" panose="020B0604020202020204" pitchFamily="34" charset="0"/>
              </a:rPr>
              <a:t>La raison est que, en absence de transports actifs, les ions ne se comportent plus comme s’ils étaient non diffusibles. D’un autre côté, les macromolécules intracellulaires non diffusibles, telles les protéines demeurent à l’intérieur les cellules. Le résultat serait donc une augmentation de l’osmolarité intracellulaire (principalement due à une entrée de Na</a:t>
            </a:r>
            <a:r>
              <a:rPr lang="fr-FR" sz="1400" baseline="30000" dirty="0">
                <a:effectLst/>
                <a:latin typeface="+mj-lt"/>
                <a:ea typeface="Cambria" panose="02040503050406030204" pitchFamily="18" charset="0"/>
                <a:cs typeface="Arial" panose="020B0604020202020204" pitchFamily="34" charset="0"/>
              </a:rPr>
              <a:t>+ </a:t>
            </a:r>
            <a:r>
              <a:rPr lang="fr-FR" sz="1400" dirty="0">
                <a:effectLst/>
                <a:latin typeface="+mj-lt"/>
                <a:ea typeface="Cambria" panose="02040503050406030204" pitchFamily="18" charset="0"/>
                <a:cs typeface="Arial" panose="020B0604020202020204" pitchFamily="34" charset="0"/>
              </a:rPr>
              <a:t>et de Cl</a:t>
            </a:r>
            <a:r>
              <a:rPr lang="fr-FR" sz="1400" baseline="30000" dirty="0">
                <a:effectLst/>
                <a:latin typeface="+mj-lt"/>
                <a:ea typeface="Cambria" panose="02040503050406030204" pitchFamily="18" charset="0"/>
                <a:cs typeface="Courier New" panose="02070309020205020404" pitchFamily="49" charset="0"/>
                <a:sym typeface="Symbol" panose="05050102010706020507" pitchFamily="18" charset="2"/>
              </a:rPr>
              <a:t></a:t>
            </a:r>
            <a:r>
              <a:rPr lang="fr-FR" sz="1400" dirty="0">
                <a:effectLst/>
                <a:latin typeface="+mj-lt"/>
                <a:ea typeface="Cambria" panose="02040503050406030204" pitchFamily="18" charset="0"/>
                <a:cs typeface="Arial" panose="020B0604020202020204" pitchFamily="34" charset="0"/>
              </a:rPr>
              <a:t>), et l’entrée conséquente d’eau suite à cette augmentation d’osmolarité. L’une des caractéristiques des cellules nécrosées (cellules mortes) est leur gonflement.</a:t>
            </a:r>
            <a:endParaRPr lang="en-CA" sz="1400" dirty="0">
              <a:effectLst/>
              <a:latin typeface="+mj-lt"/>
              <a:ea typeface="Cambria" panose="020405030504060302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HAP7">
  <a:themeElements>
    <a:clrScheme name="HAP7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HAP7">
      <a:majorFont>
        <a:latin typeface="Arial"/>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triangle" w="med" len="med"/>
          <a:tailEnd type="triangl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triangle" w="med" len="med"/>
          <a:tailEnd type="triangl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HAP7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HAP7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HAP7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HAP7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HAP7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HAP7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HAP7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HAP7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HAP7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HAP7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HAP7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HAP7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HAP7_lecture_notes:HAP7.pot</Template>
  <TotalTime>8141</TotalTime>
  <Words>5601</Words>
  <Application>Microsoft Office PowerPoint</Application>
  <PresentationFormat>On-screen Show (4:3)</PresentationFormat>
  <Paragraphs>532</Paragraphs>
  <Slides>37</Slides>
  <Notes>37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37</vt:i4>
      </vt:variant>
    </vt:vector>
  </HeadingPairs>
  <TitlesOfParts>
    <vt:vector size="45" baseType="lpstr">
      <vt:lpstr>Arial</vt:lpstr>
      <vt:lpstr>Calibri</vt:lpstr>
      <vt:lpstr>Cambria</vt:lpstr>
      <vt:lpstr>Courier New</vt:lpstr>
      <vt:lpstr>Symbol</vt:lpstr>
      <vt:lpstr>Times New Roman</vt:lpstr>
      <vt:lpstr>Wingdings</vt:lpstr>
      <vt:lpstr>HAP7</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2.3  Osmose Mouvement net d’un solvant (eau) à travers une membrane à perméabilité sélective. </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ANP1505</dc:title>
  <dc:creator/>
  <cp:lastModifiedBy>Michel Désilets</cp:lastModifiedBy>
  <cp:revision>638</cp:revision>
  <dcterms:created xsi:type="dcterms:W3CDTF">2002-11-19T06:42:31Z</dcterms:created>
  <dcterms:modified xsi:type="dcterms:W3CDTF">2021-01-19T21:57:07Z</dcterms:modified>
</cp:coreProperties>
</file>