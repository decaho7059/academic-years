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21"/>
  </p:notesMasterIdLst>
  <p:sldIdLst>
    <p:sldId id="289" r:id="rId2"/>
    <p:sldId id="290" r:id="rId3"/>
    <p:sldId id="292" r:id="rId4"/>
    <p:sldId id="294" r:id="rId5"/>
    <p:sldId id="256" r:id="rId6"/>
    <p:sldId id="258" r:id="rId7"/>
    <p:sldId id="259" r:id="rId8"/>
    <p:sldId id="257" r:id="rId9"/>
    <p:sldId id="260" r:id="rId10"/>
    <p:sldId id="261" r:id="rId11"/>
    <p:sldId id="262" r:id="rId12"/>
    <p:sldId id="263" r:id="rId13"/>
    <p:sldId id="264" r:id="rId14"/>
    <p:sldId id="265" r:id="rId15"/>
    <p:sldId id="267" r:id="rId16"/>
    <p:sldId id="266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957" autoAdjust="0"/>
  </p:normalViewPr>
  <p:slideViewPr>
    <p:cSldViewPr snapToGrid="0">
      <p:cViewPr varScale="1">
        <p:scale>
          <a:sx n="71" d="100"/>
          <a:sy n="71" d="100"/>
        </p:scale>
        <p:origin x="3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88AB8-1C01-41DC-AFCA-28305AC61B27}" type="datetimeFigureOut">
              <a:rPr lang="fr-CA" smtClean="0"/>
              <a:t>2021-09-23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F1DE7-72A5-40DE-843D-98ED1D33E9C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178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F1DE7-72A5-40DE-843D-98ED1D33E9CB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32409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F1DE7-72A5-40DE-843D-98ED1D33E9CB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1685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F1DE7-72A5-40DE-843D-98ED1D33E9CB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2294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F1DE7-72A5-40DE-843D-98ED1D33E9CB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71588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AADC-90C4-42A0-92DD-A3EB1E3F99BC}" type="datetime1">
              <a:rPr lang="fr-CA" smtClean="0"/>
              <a:t>2021-09-23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135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81BE-FF7C-4713-86B5-98B3635F7575}" type="datetime1">
              <a:rPr lang="fr-CA" smtClean="0"/>
              <a:t>2021-09-23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56662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F1A6-A103-49CB-B28A-B5B8CE7CCF08}" type="datetime1">
              <a:rPr lang="fr-CA" smtClean="0"/>
              <a:t>2021-09-23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1871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E57F-B680-462B-BBFD-7518F74AF714}" type="datetime1">
              <a:rPr lang="fr-CA" smtClean="0"/>
              <a:t>2021-09-23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621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B3B4F-1CE8-448C-951A-2E287C7816DA}" type="datetime1">
              <a:rPr lang="fr-CA" smtClean="0"/>
              <a:t>2021-09-23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7481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3F50-9144-44F9-A37F-D55A19808CF4}" type="datetime1">
              <a:rPr lang="fr-CA" smtClean="0"/>
              <a:t>2021-09-23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743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2447-19AC-45D2-83F5-5B12576F084D}" type="datetime1">
              <a:rPr lang="fr-CA" smtClean="0"/>
              <a:t>2021-09-23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59948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9AF-12D3-47FA-A0D6-97746BB8E776}" type="datetime1">
              <a:rPr lang="fr-CA" smtClean="0"/>
              <a:t>2021-09-23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165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9D18-3682-4189-B23C-B8B496B3307C}" type="datetime1">
              <a:rPr lang="fr-CA" smtClean="0"/>
              <a:t>2021-09-23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09409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AFDA-2171-49C0-B449-3733417EA82F}" type="datetime1">
              <a:rPr lang="fr-CA" smtClean="0"/>
              <a:t>2021-09-23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7122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BD924-29A3-4FF2-B149-61A5377F8882}" type="datetime1">
              <a:rPr lang="fr-CA" smtClean="0"/>
              <a:t>2021-09-23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0238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18466-3607-4A57-8167-9FAB5784D41C}" type="datetime1">
              <a:rPr lang="fr-CA" smtClean="0"/>
              <a:t>2021-09-23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374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45F76E-B584-4641-81D4-86F76919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La variance et l’écart type (théoriques)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27B35E2-E89F-4EA0-90A9-041A511AA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AC0ECF-FBC4-4160-B9E6-8CF53D48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07F2AD0-49EC-4108-BF6F-292509F7A4FF}"/>
                  </a:ext>
                </a:extLst>
              </p:cNvPr>
              <p:cNvSpPr txBox="1"/>
              <p:nvPr/>
            </p:nvSpPr>
            <p:spPr>
              <a:xfrm>
                <a:off x="1175657" y="1841863"/>
                <a:ext cx="10019212" cy="3859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Soit X, une variable aléatoire discrète, on appelle variance de X, la quantité:</a:t>
                </a:r>
              </a:p>
              <a:p>
                <a:endParaRPr lang="fr-CA" dirty="0"/>
              </a:p>
              <a:p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)−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CA" dirty="0"/>
                  <a:t> </a:t>
                </a:r>
              </a:p>
              <a:p>
                <a:endParaRPr lang="fr-CA" dirty="0"/>
              </a:p>
              <a:p>
                <a:r>
                  <a:rPr lang="fr-CA" dirty="0"/>
                  <a:t>Avec 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𝑆𝑢𝑝𝑝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sub>
                      <m:sup/>
                      <m:e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(la  moyenne du carré de X)-(le carré de la moyenne de X).</a:t>
                </a:r>
              </a:p>
              <a:p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On appelle écart type de X, la quantité: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07F2AD0-49EC-4108-BF6F-292509F7A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657" y="1841863"/>
                <a:ext cx="10019212" cy="3859839"/>
              </a:xfrm>
              <a:prstGeom prst="rect">
                <a:avLst/>
              </a:prstGeom>
              <a:blipFill>
                <a:blip r:embed="rId2"/>
                <a:stretch>
                  <a:fillRect l="-548" t="-79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57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CBA4F0-A33F-4BEF-B2F0-48020B59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/>
              <a:t>Exemple 1:</a:t>
            </a:r>
            <a:r>
              <a:rPr lang="fr-CA" dirty="0"/>
              <a:t> Si on reprend le cas du lancer d’un dé. 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D7994D3-3CCC-49F4-8C18-2FBAE2B9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81EA00-98D5-4AD3-AC61-E31A9225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2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8C1BF93-49A9-4452-B7C0-6768A8587C6D}"/>
                  </a:ext>
                </a:extLst>
              </p:cNvPr>
              <p:cNvSpPr txBox="1"/>
              <p:nvPr/>
            </p:nvSpPr>
            <p:spPr>
              <a:xfrm>
                <a:off x="1084217" y="2024743"/>
                <a:ext cx="10045337" cy="2555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On avait trouvé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=3,5</m:t>
                    </m:r>
                  </m:oMath>
                </a14:m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+….+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=15,1667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Donc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=15,1667−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=2,9167</m:t>
                    </m:r>
                  </m:oMath>
                </a14:m>
                <a:r>
                  <a:rPr lang="fr-CA" dirty="0"/>
                  <a:t>  et  par conséquent:</a:t>
                </a:r>
              </a:p>
              <a:p>
                <a:endParaRPr lang="fr-CA" dirty="0"/>
              </a:p>
              <a:p>
                <a:r>
                  <a:rPr lang="fr-CA" dirty="0"/>
                  <a:t>L’écart type de X est :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=1,7078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8C1BF93-49A9-4452-B7C0-6768A8587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17" y="2024743"/>
                <a:ext cx="10045337" cy="2555571"/>
              </a:xfrm>
              <a:prstGeom prst="rect">
                <a:avLst/>
              </a:prstGeom>
              <a:blipFill>
                <a:blip r:embed="rId2"/>
                <a:stretch>
                  <a:fillRect l="-546" t="-1193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83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F2AC0C-4226-4148-8E8F-BC6F6FB45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/>
              <a:t>Interprétation 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9A4B148-F249-4F8F-83D3-66AE429B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8BBED3-622B-40F8-B944-4D1E695E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3</a:t>
            </a:fld>
            <a:endParaRPr lang="fr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688DB7B-B49A-4CF2-A686-78E1136A3531}"/>
                  </a:ext>
                </a:extLst>
              </p:cNvPr>
              <p:cNvSpPr txBox="1"/>
              <p:nvPr/>
            </p:nvSpPr>
            <p:spPr>
              <a:xfrm>
                <a:off x="1084217" y="2011680"/>
                <a:ext cx="9784080" cy="3657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Plus l’écart type est grand, plus la variable est dispersée. C’est-à-dire que ses valeurs s’écartent de la moyenne.</a:t>
                </a:r>
              </a:p>
              <a:p>
                <a:r>
                  <a:rPr lang="fr-CA" dirty="0"/>
                  <a:t>En fait, on calcule le coefficient de variation de la variable, qui est: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𝐶𝑉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𝐶𝑉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≤15%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𝑞𝑢𝑒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𝑣𝑎𝑟𝑖𝑎𝑏𝑙𝑒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𝑒𝑠𝑡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h𝑜𝑚𝑜𝑔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è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fr-CA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𝐶𝑉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15%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𝑞𝑢𝑒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𝑣𝑎𝑟𝑖𝑎𝑏𝑙𝑒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𝑒𝑠𝑡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𝑟𝑜𝑔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è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</m:t>
                    </m:r>
                  </m:oMath>
                </a14:m>
                <a:r>
                  <a:rPr lang="fr-CA" dirty="0"/>
                  <a:t>.</a:t>
                </a:r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 </a:t>
                </a:r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688DB7B-B49A-4CF2-A686-78E1136A3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17" y="2011680"/>
                <a:ext cx="9784080" cy="3657091"/>
              </a:xfrm>
              <a:prstGeom prst="rect">
                <a:avLst/>
              </a:prstGeom>
              <a:blipFill>
                <a:blip r:embed="rId2"/>
                <a:stretch>
                  <a:fillRect l="-561" t="-833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5524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A299A5E0-0418-42F9-9FBF-8238618EA4C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1886" y="365125"/>
                <a:ext cx="10750731" cy="3063875"/>
              </a:xfrm>
            </p:spPr>
            <p:txBody>
              <a:bodyPr>
                <a:normAutofit fontScale="90000"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fr-CA" dirty="0"/>
                  <a:t>Exemple 4: </a:t>
                </a:r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Un vendeur de voitures a trouvé que X, le nombre de voitures qu’il peut vendre par semaine, est une variable aléatoire dont la fonction de masse des probabilités est donnée par :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fr-CA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sz="18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fr-FR" sz="18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fr-FR" sz="18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sz="18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𝑋</m:t>
                          </m:r>
                          <m:r>
                            <a:rPr lang="fr-FR" sz="18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a:rPr lang="fr-FR" sz="18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fr-FR" sz="18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CA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CA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CA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800" b="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𝐶</m:t>
                                  </m:r>
                                  <m:sSup>
                                    <m:sSupPr>
                                      <m:ctrlPr>
                                        <a:rPr lang="fr-CA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800" b="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fr-FR" sz="1800" b="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sz="1800" b="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fr-FR" sz="1800" b="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!</m:t>
                                  </m:r>
                                </m:den>
                              </m:f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   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𝑝𝑜𝑢𝑟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=1,2, 3 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𝑜𝑢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4</m:t>
                              </m:r>
                            </m:e>
                            <m:e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0                  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𝑠𝑖𝑛𝑜𝑛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br>
                  <a:rPr lang="fr-CA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</a:br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Déterminer la constante C.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</a:br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Calculer la probabilité que ce vendeur vend au moins 2 voitures durant une semaine.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</a:br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Déterminer la fonction cumulative des probabilités de X.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</a:br>
                <a:r>
                  <a:rPr lang="fr-FR" sz="1800" b="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 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</a:br>
                <a:endParaRPr lang="fr-CA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A299A5E0-0418-42F9-9FBF-8238618EA4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1886" y="365125"/>
                <a:ext cx="10750731" cy="3063875"/>
              </a:xfrm>
              <a:blipFill>
                <a:blip r:embed="rId2"/>
                <a:stretch>
                  <a:fillRect l="-1984" t="-13121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C2E698C-B9E6-4436-9135-53161CF8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49D643-EC0A-418C-8107-2ED3E076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4</a:t>
            </a:fld>
            <a:endParaRPr lang="fr-CA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B396B36A-FBF2-46FD-98F8-EF5AD80AA0D5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965269"/>
          <a:ext cx="9457509" cy="11683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7781">
                  <a:extLst>
                    <a:ext uri="{9D8B030D-6E8A-4147-A177-3AD203B41FA5}">
                      <a16:colId xmlns:a16="http://schemas.microsoft.com/office/drawing/2014/main" val="69412370"/>
                    </a:ext>
                  </a:extLst>
                </a:gridCol>
                <a:gridCol w="1171520">
                  <a:extLst>
                    <a:ext uri="{9D8B030D-6E8A-4147-A177-3AD203B41FA5}">
                      <a16:colId xmlns:a16="http://schemas.microsoft.com/office/drawing/2014/main" val="2836537251"/>
                    </a:ext>
                  </a:extLst>
                </a:gridCol>
                <a:gridCol w="1857052">
                  <a:extLst>
                    <a:ext uri="{9D8B030D-6E8A-4147-A177-3AD203B41FA5}">
                      <a16:colId xmlns:a16="http://schemas.microsoft.com/office/drawing/2014/main" val="2052582837"/>
                    </a:ext>
                  </a:extLst>
                </a:gridCol>
                <a:gridCol w="1857052">
                  <a:extLst>
                    <a:ext uri="{9D8B030D-6E8A-4147-A177-3AD203B41FA5}">
                      <a16:colId xmlns:a16="http://schemas.microsoft.com/office/drawing/2014/main" val="3209833629"/>
                    </a:ext>
                  </a:extLst>
                </a:gridCol>
                <a:gridCol w="1857052">
                  <a:extLst>
                    <a:ext uri="{9D8B030D-6E8A-4147-A177-3AD203B41FA5}">
                      <a16:colId xmlns:a16="http://schemas.microsoft.com/office/drawing/2014/main" val="2270968272"/>
                    </a:ext>
                  </a:extLst>
                </a:gridCol>
                <a:gridCol w="1857052">
                  <a:extLst>
                    <a:ext uri="{9D8B030D-6E8A-4147-A177-3AD203B41FA5}">
                      <a16:colId xmlns:a16="http://schemas.microsoft.com/office/drawing/2014/main" val="2525470100"/>
                    </a:ext>
                  </a:extLst>
                </a:gridCol>
              </a:tblGrid>
              <a:tr h="5841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CA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1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2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 dirty="0">
                          <a:effectLst/>
                        </a:rPr>
                        <a:t>3</a:t>
                      </a:r>
                      <a:endParaRPr lang="fr-CA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 dirty="0">
                          <a:effectLst/>
                        </a:rPr>
                        <a:t>4</a:t>
                      </a:r>
                      <a:endParaRPr lang="fr-CA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Total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6403237"/>
                  </a:ext>
                </a:extLst>
              </a:tr>
              <a:tr h="5841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P(X=k)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C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2C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3C/2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2C/3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 dirty="0">
                          <a:effectLst/>
                        </a:rPr>
                        <a:t>1</a:t>
                      </a:r>
                      <a:endParaRPr lang="fr-CA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85090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F84796F5-A7D9-413D-A738-2B88F009DBB2}"/>
                  </a:ext>
                </a:extLst>
              </p:cNvPr>
              <p:cNvSpPr txBox="1"/>
              <p:nvPr/>
            </p:nvSpPr>
            <p:spPr>
              <a:xfrm>
                <a:off x="914400" y="4133667"/>
                <a:ext cx="9888583" cy="1168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800" b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fr-FR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𝐶</m:t>
                    </m:r>
                    <m:r>
                      <a:rPr lang="fr-FR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+2</m:t>
                    </m:r>
                    <m:r>
                      <a:rPr lang="fr-FR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𝐶</m:t>
                    </m:r>
                    <m:r>
                      <a:rPr lang="fr-FR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  <m:r>
                          <a:rPr lang="fr-FR" sz="1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num>
                      <m:den>
                        <m:r>
                          <a:rPr lang="fr-FR" sz="1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fr-FR" sz="1800" b="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  <m:r>
                          <a:rPr lang="fr-FR" sz="1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num>
                      <m:den>
                        <m:r>
                          <a:rPr lang="fr-FR" sz="1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fr-FR" sz="1800" b="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fr-FR" sz="1800" b="1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ce qui donne </a:t>
                </a:r>
                <a14:m>
                  <m:oMath xmlns:m="http://schemas.openxmlformats.org/officeDocument/2006/math">
                    <m:r>
                      <a:rPr lang="fr-FR" sz="1800" b="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𝐶</m:t>
                    </m:r>
                    <m:r>
                      <a:rPr lang="fr-FR" sz="1800" b="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=6/31</m:t>
                    </m:r>
                  </m:oMath>
                </a14:m>
                <a:r>
                  <a:rPr lang="fr-FR" sz="1800" b="1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</a:t>
                </a:r>
              </a:p>
              <a:p>
                <a:r>
                  <a:rPr lang="fr-FR" b="1" dirty="0">
                    <a:solidFill>
                      <a:srgbClr val="000000"/>
                    </a:solidFill>
                  </a:rPr>
                  <a:t>b) </a:t>
                </a:r>
                <a14:m>
                  <m:oMath xmlns:m="http://schemas.openxmlformats.org/officeDocument/2006/math">
                    <m:r>
                      <a:rPr lang="fr-CA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fr-CA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𝟏𝟐</m:t>
                        </m:r>
                      </m:num>
                      <m:den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𝟑𝟏</m:t>
                        </m:r>
                      </m:den>
                    </m:f>
                    <m:r>
                      <a:rPr lang="fr-CA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𝟗</m:t>
                        </m:r>
                      </m:num>
                      <m:den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𝟑𝟏</m:t>
                        </m:r>
                      </m:den>
                    </m:f>
                    <m:r>
                      <a:rPr lang="fr-CA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𝟑𝟏</m:t>
                        </m:r>
                      </m:den>
                    </m:f>
                    <m:r>
                      <a:rPr lang="fr-CA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𝟐𝟓</m:t>
                        </m:r>
                      </m:num>
                      <m:den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𝟑𝟏</m:t>
                        </m:r>
                      </m:den>
                    </m:f>
                  </m:oMath>
                </a14:m>
                <a:endParaRPr lang="fr-CA" b="1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r>
                  <a:rPr lang="fr-CA" dirty="0"/>
                  <a:t>c)  </a:t>
                </a:r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F84796F5-A7D9-413D-A738-2B88F009D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33667"/>
                <a:ext cx="9888583" cy="1168397"/>
              </a:xfrm>
              <a:prstGeom prst="rect">
                <a:avLst/>
              </a:prstGeom>
              <a:blipFill>
                <a:blip r:embed="rId3"/>
                <a:stretch>
                  <a:fillRect l="-493" b="-729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au 12">
                <a:extLst>
                  <a:ext uri="{FF2B5EF4-FFF2-40B4-BE49-F238E27FC236}">
                    <a16:creationId xmlns:a16="http://schemas.microsoft.com/office/drawing/2014/main" id="{64BDBFA3-CE7F-4B6C-8255-D77988B972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7038" y="5187951"/>
              <a:ext cx="10566762" cy="116839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61127">
                      <a:extLst>
                        <a:ext uri="{9D8B030D-6E8A-4147-A177-3AD203B41FA5}">
                          <a16:colId xmlns:a16="http://schemas.microsoft.com/office/drawing/2014/main" val="643986545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2562956417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1507410239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2583725823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3815643702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2001491577"/>
                        </a:ext>
                      </a:extLst>
                    </a:gridCol>
                  </a:tblGrid>
                  <a:tr h="3154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 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2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3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4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Total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68862011"/>
                      </a:ext>
                    </a:extLst>
                  </a:tr>
                  <a:tr h="3154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P(X=k)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6/31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12/31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9/31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4/31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20495395"/>
                      </a:ext>
                    </a:extLst>
                  </a:tr>
                  <a:tr h="53745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fr-CA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6/31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18/31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27/31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 dirty="0">
                              <a:effectLst/>
                            </a:rPr>
                            <a:t> </a:t>
                          </a:r>
                          <a:endParaRPr lang="fr-CA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8210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au 12">
                <a:extLst>
                  <a:ext uri="{FF2B5EF4-FFF2-40B4-BE49-F238E27FC236}">
                    <a16:creationId xmlns:a16="http://schemas.microsoft.com/office/drawing/2014/main" id="{64BDBFA3-CE7F-4B6C-8255-D77988B972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7739269"/>
                  </p:ext>
                </p:extLst>
              </p:nvPr>
            </p:nvGraphicFramePr>
            <p:xfrm>
              <a:off x="787038" y="5187951"/>
              <a:ext cx="10566762" cy="116839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61127">
                      <a:extLst>
                        <a:ext uri="{9D8B030D-6E8A-4147-A177-3AD203B41FA5}">
                          <a16:colId xmlns:a16="http://schemas.microsoft.com/office/drawing/2014/main" val="643986545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2562956417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1507410239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2583725823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3815643702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2001491577"/>
                        </a:ext>
                      </a:extLst>
                    </a:gridCol>
                  </a:tblGrid>
                  <a:tr h="3154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 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2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3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4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Total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68862011"/>
                      </a:ext>
                    </a:extLst>
                  </a:tr>
                  <a:tr h="3154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P(X=k)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6/31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12/31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9/31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4/31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20495395"/>
                      </a:ext>
                    </a:extLst>
                  </a:tr>
                  <a:tr h="53745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346" t="-123864" r="-501384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6/31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18/31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27/31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 dirty="0">
                              <a:effectLst/>
                            </a:rPr>
                            <a:t> </a:t>
                          </a:r>
                          <a:endParaRPr lang="fr-CA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8210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69193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6C68B8-3509-4C0C-8083-A1DC44F1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59618"/>
          </a:xfrm>
        </p:spPr>
        <p:txBody>
          <a:bodyPr/>
          <a:lstStyle/>
          <a:p>
            <a:r>
              <a:rPr lang="fr-CA" dirty="0"/>
              <a:t>Exemple: </a:t>
            </a:r>
            <a:r>
              <a:rPr lang="fr-FR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Soit une variable aléatoire discrète X dont la fonction de masse est donnée par le tableau suivant :</a:t>
            </a:r>
            <a:br>
              <a:rPr lang="fr-FR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endParaRPr lang="fr-CA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1718B12-98A0-4CB2-AAFB-3560F4FAE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9FDDC4-0988-4506-865C-FC35360B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5</a:t>
            </a:fld>
            <a:endParaRPr lang="fr-CA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BE5E05A8-AEAB-47F1-9E46-1D276D247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707693"/>
              </p:ext>
            </p:extLst>
          </p:nvPr>
        </p:nvGraphicFramePr>
        <p:xfrm>
          <a:off x="838200" y="1462405"/>
          <a:ext cx="10515600" cy="11501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24272072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6408771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962397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43276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84413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75579827"/>
                    </a:ext>
                  </a:extLst>
                </a:gridCol>
              </a:tblGrid>
              <a:tr h="575083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200">
                          <a:effectLst/>
                        </a:rPr>
                        <a:t> 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1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2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3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4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5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9422664"/>
                  </a:ext>
                </a:extLst>
              </a:tr>
              <a:tr h="575083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P(X=k)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0,07</a:t>
                      </a:r>
                      <a:endParaRPr lang="fr-CA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0,10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1,10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0,32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0,40</a:t>
                      </a:r>
                      <a:endParaRPr lang="fr-CA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6808835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985B390D-34E6-408F-931E-C62327402F45}"/>
              </a:ext>
            </a:extLst>
          </p:cNvPr>
          <p:cNvSpPr txBox="1"/>
          <p:nvPr/>
        </p:nvSpPr>
        <p:spPr>
          <a:xfrm>
            <a:off x="1058091" y="2978331"/>
            <a:ext cx="9901646" cy="882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>
              <a:lnSpc>
                <a:spcPts val="1200"/>
              </a:lnSpc>
              <a:spcAft>
                <a:spcPts val="800"/>
              </a:spcAft>
              <a:buFont typeface="+mj-lt"/>
              <a:buAutoNum type="alphaLcParenBoth"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 tableau contient une donnée incorrecte, corriger-la.</a:t>
            </a:r>
            <a:endParaRPr lang="fr-CA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l">
              <a:lnSpc>
                <a:spcPts val="1200"/>
              </a:lnSpc>
              <a:spcAft>
                <a:spcPts val="800"/>
              </a:spcAft>
              <a:buFont typeface="+mj-lt"/>
              <a:buAutoNum type="alphaLcParenBoth"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Calculer l’espérance de cette variable.</a:t>
            </a:r>
            <a:endParaRPr lang="fr-CA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fr-CA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22CC767-4959-44B3-867C-4F6026CBF279}"/>
              </a:ext>
            </a:extLst>
          </p:cNvPr>
          <p:cNvSpPr txBox="1"/>
          <p:nvPr/>
        </p:nvSpPr>
        <p:spPr>
          <a:xfrm>
            <a:off x="1188720" y="3860624"/>
            <a:ext cx="994518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200"/>
              </a:lnSpc>
              <a:spcAft>
                <a:spcPts val="800"/>
              </a:spcAft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Réponse :</a:t>
            </a:r>
            <a:endParaRPr lang="fr-CA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l">
              <a:lnSpc>
                <a:spcPts val="1200"/>
              </a:lnSpc>
              <a:spcAft>
                <a:spcPts val="800"/>
              </a:spcAft>
              <a:buFont typeface="+mj-lt"/>
              <a:buAutoNum type="alphaLcParenBoth"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 donnée incorrecte est 1,10 car une probabilité est toujours comprise entre 0 et 1. Le tableau corrigé est : </a:t>
            </a:r>
          </a:p>
          <a:p>
            <a:pPr marL="342900" lvl="0" indent="-342900" algn="l">
              <a:lnSpc>
                <a:spcPts val="1200"/>
              </a:lnSpc>
              <a:spcAft>
                <a:spcPts val="800"/>
              </a:spcAft>
              <a:buFont typeface="+mj-lt"/>
              <a:buAutoNum type="alphaLcParenBoth"/>
            </a:pPr>
            <a:endParaRPr lang="fr-CA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fr-CA" dirty="0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718148E-A430-4A59-A521-C759BD8FA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060872"/>
              </p:ext>
            </p:extLst>
          </p:nvPr>
        </p:nvGraphicFramePr>
        <p:xfrm>
          <a:off x="838200" y="4617800"/>
          <a:ext cx="10515600" cy="10253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424474449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9504584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1030923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850402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4629417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16934230"/>
                    </a:ext>
                  </a:extLst>
                </a:gridCol>
              </a:tblGrid>
              <a:tr h="512676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 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1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2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3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4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5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8871702"/>
                  </a:ext>
                </a:extLst>
              </a:tr>
              <a:tr h="512676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P(X=k)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0,07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0,10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0,11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0,32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0,40</a:t>
                      </a:r>
                      <a:endParaRPr lang="fr-CA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90811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A1ED86B1-6637-47CA-8DD9-D1BBA98D7375}"/>
                  </a:ext>
                </a:extLst>
              </p:cNvPr>
              <p:cNvSpPr txBox="1"/>
              <p:nvPr/>
            </p:nvSpPr>
            <p:spPr>
              <a:xfrm>
                <a:off x="1188720" y="5917474"/>
                <a:ext cx="898724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b) </a:t>
                </a:r>
                <a14:m>
                  <m:oMath xmlns:m="http://schemas.openxmlformats.org/officeDocument/2006/math">
                    <m:r>
                      <a:rPr lang="fr-FR" sz="18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𝑬</m:t>
                    </m:r>
                    <m:d>
                      <m:dPr>
                        <m:ctrlPr>
                          <a:rPr lang="fr-CA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FR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𝑿</m:t>
                        </m:r>
                      </m:e>
                    </m:d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𝟏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∗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𝟎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𝟎𝟕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𝟐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∗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𝟎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𝟏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𝟑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∗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𝟎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𝟏𝟏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𝟒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∗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𝟎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𝟑𝟐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𝟓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∗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𝟎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𝟒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𝟑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𝟖𝟖</m:t>
                    </m:r>
                  </m:oMath>
                </a14:m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A1ED86B1-6637-47CA-8DD9-D1BBA98D7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5917474"/>
                <a:ext cx="8987246" cy="646331"/>
              </a:xfrm>
              <a:prstGeom prst="rect">
                <a:avLst/>
              </a:prstGeom>
              <a:blipFill>
                <a:blip r:embed="rId2"/>
                <a:stretch>
                  <a:fillRect l="-543" t="-566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495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E187CC-B148-483D-8799-50A4DEBEC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Transformation linéaire: 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F0F3268-5C09-4293-9039-CEA956A18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467C80-A667-4C76-9C4E-2FE635F9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6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CDB10FEA-799B-48CE-923F-AA91A486DF20}"/>
                  </a:ext>
                </a:extLst>
              </p:cNvPr>
              <p:cNvSpPr txBox="1"/>
              <p:nvPr/>
            </p:nvSpPr>
            <p:spPr>
              <a:xfrm>
                <a:off x="1149531" y="1894114"/>
                <a:ext cx="1069848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6200" algn="just">
                  <a:lnSpc>
                    <a:spcPct val="200000"/>
                  </a:lnSpc>
                  <a:spcAft>
                    <a:spcPts val="800"/>
                  </a:spcAft>
                </a:pPr>
                <a:r>
                  <a:rPr lang="fr-CA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Théorème </a:t>
                </a:r>
                <a:r>
                  <a:rPr lang="fr-CA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Soit </a:t>
                </a:r>
                <a:r>
                  <a:rPr lang="fr-CA" sz="20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fr-CA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et </a:t>
                </a:r>
                <a:r>
                  <a:rPr lang="fr-CA" sz="20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fr-CA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: deux constantes réelles et </a:t>
                </a:r>
                <a:r>
                  <a:rPr lang="fr-CA" sz="20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fr-CA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: une variable aléatoire discrète ; alors </a:t>
                </a:r>
                <a:r>
                  <a:rPr lang="fr-CA" sz="20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fr-CA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fr-CA" sz="20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fr-CA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fr-CA" sz="2000" i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bX</a:t>
                </a:r>
                <a:r>
                  <a:rPr lang="fr-CA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qui est une transformation linéaire de la variable </a:t>
                </a:r>
                <a:r>
                  <a:rPr lang="fr-CA" sz="20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fr-CA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est aussi une variable aléatoire discrète et </a:t>
                </a:r>
              </a:p>
              <a:p>
                <a:pPr marL="361950" indent="-285750" algn="just">
                  <a:lnSpc>
                    <a:spcPct val="200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fr-CA" sz="20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fr-CA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fr-CA" sz="20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fr-CA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fr-CA" sz="20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fr-CA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fr-CA" sz="20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fr-CA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× </a:t>
                </a:r>
                <a:r>
                  <a:rPr lang="fr-CA" sz="20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fr-CA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fr-CA" sz="20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fr-CA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 qu’on peut aussi écrire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20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sz="20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fr-CA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CA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fr-CA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fr-CA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endParaRPr lang="fr-CA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1950" indent="-285750" algn="just">
                  <a:lnSpc>
                    <a:spcPct val="200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CA" sz="20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sz="20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fr-CA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=|</m:t>
                    </m:r>
                    <m:r>
                      <a:rPr lang="fr-CA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fr-CA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fr-CA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endParaRPr lang="fr-CA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CDB10FEA-799B-48CE-923F-AA91A486D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531" y="1894114"/>
                <a:ext cx="10698480" cy="3139321"/>
              </a:xfrm>
              <a:prstGeom prst="rect">
                <a:avLst/>
              </a:prstGeom>
              <a:blipFill>
                <a:blip r:embed="rId2"/>
                <a:stretch>
                  <a:fillRect r="-57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2530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CED53F4-6437-4774-AF6B-862F31D88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Exemple 1: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A73780F-844C-4B68-AC02-5C0DE417A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164" y="586822"/>
            <a:ext cx="6002636" cy="16459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b="0" i="0" u="none" strike="noStrike" cap="none" normalizeH="0" baseline="0">
                <a:ln>
                  <a:noFill/>
                </a:ln>
                <a:effectLst/>
              </a:rPr>
              <a:t>Soit </a:t>
            </a:r>
            <a:r>
              <a:rPr kumimoji="0" lang="en-US" altLang="fr-FR" b="0" i="1" u="none" strike="noStrike" cap="none" normalizeH="0" baseline="0">
                <a:ln>
                  <a:noFill/>
                </a:ln>
                <a:effectLst/>
              </a:rPr>
              <a:t>X</a:t>
            </a:r>
            <a:r>
              <a:rPr kumimoji="0" lang="en-US" altLang="fr-FR" b="0" i="0" u="none" strike="noStrike" cap="none" normalizeH="0" baseline="0">
                <a:ln>
                  <a:noFill/>
                </a:ln>
                <a:effectLst/>
              </a:rPr>
              <a:t> : le nombre d’heures (fluctuant) travaillées par semaine par un étudiant. Supposons que cette variable ait comme fonction de masse celle qui est donnée dans le tableau suivant.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C2B1DB6-5B81-401D-934D-708B24B3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endParaRPr lang="en-US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BF0BA4-2780-446C-A13C-99A51CB5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26377AD9-CE17-438C-A638-C64D2D42D7C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1A9D135C-D42C-44FC-B76B-4839519C6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42624"/>
              </p:ext>
            </p:extLst>
          </p:nvPr>
        </p:nvGraphicFramePr>
        <p:xfrm>
          <a:off x="757416" y="2676139"/>
          <a:ext cx="10761445" cy="1840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5267">
                  <a:extLst>
                    <a:ext uri="{9D8B030D-6E8A-4147-A177-3AD203B41FA5}">
                      <a16:colId xmlns:a16="http://schemas.microsoft.com/office/drawing/2014/main" val="2546300655"/>
                    </a:ext>
                  </a:extLst>
                </a:gridCol>
                <a:gridCol w="1473137">
                  <a:extLst>
                    <a:ext uri="{9D8B030D-6E8A-4147-A177-3AD203B41FA5}">
                      <a16:colId xmlns:a16="http://schemas.microsoft.com/office/drawing/2014/main" val="348857166"/>
                    </a:ext>
                  </a:extLst>
                </a:gridCol>
                <a:gridCol w="1473137">
                  <a:extLst>
                    <a:ext uri="{9D8B030D-6E8A-4147-A177-3AD203B41FA5}">
                      <a16:colId xmlns:a16="http://schemas.microsoft.com/office/drawing/2014/main" val="3757854298"/>
                    </a:ext>
                  </a:extLst>
                </a:gridCol>
                <a:gridCol w="1473137">
                  <a:extLst>
                    <a:ext uri="{9D8B030D-6E8A-4147-A177-3AD203B41FA5}">
                      <a16:colId xmlns:a16="http://schemas.microsoft.com/office/drawing/2014/main" val="2968028471"/>
                    </a:ext>
                  </a:extLst>
                </a:gridCol>
                <a:gridCol w="1473137">
                  <a:extLst>
                    <a:ext uri="{9D8B030D-6E8A-4147-A177-3AD203B41FA5}">
                      <a16:colId xmlns:a16="http://schemas.microsoft.com/office/drawing/2014/main" val="175073073"/>
                    </a:ext>
                  </a:extLst>
                </a:gridCol>
                <a:gridCol w="1593630">
                  <a:extLst>
                    <a:ext uri="{9D8B030D-6E8A-4147-A177-3AD203B41FA5}">
                      <a16:colId xmlns:a16="http://schemas.microsoft.com/office/drawing/2014/main" val="1176143221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1000"/>
                        </a:spcAft>
                      </a:pPr>
                      <a:r>
                        <a:rPr lang="fr-FR" sz="3300">
                          <a:effectLst/>
                        </a:rPr>
                        <a:t>Fonction de masse de X</a:t>
                      </a:r>
                      <a:endParaRPr lang="fr-CA" sz="3300" b="1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67640" marR="167640" marT="209550" marB="209550" anchor="ctr"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083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1000"/>
                        </a:spcAft>
                      </a:pPr>
                      <a:r>
                        <a:rPr lang="fr-FR" sz="3300">
                          <a:effectLst/>
                        </a:rPr>
                        <a:t>X</a:t>
                      </a:r>
                      <a:endParaRPr lang="fr-CA" sz="33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67640" marR="167640" marT="167640" marB="2514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1000"/>
                        </a:spcAft>
                      </a:pPr>
                      <a:r>
                        <a:rPr lang="fr-FR" sz="3300">
                          <a:effectLst/>
                        </a:rPr>
                        <a:t>10</a:t>
                      </a:r>
                      <a:endParaRPr lang="fr-CA" sz="33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67640" marR="167640" marT="167640" marB="2514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1000"/>
                        </a:spcAft>
                      </a:pPr>
                      <a:r>
                        <a:rPr lang="fr-FR" sz="3300">
                          <a:effectLst/>
                        </a:rPr>
                        <a:t>13</a:t>
                      </a:r>
                      <a:endParaRPr lang="fr-CA" sz="33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67640" marR="167640" marT="167640" marB="2514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1000"/>
                        </a:spcAft>
                      </a:pPr>
                      <a:r>
                        <a:rPr lang="fr-FR" sz="3300">
                          <a:effectLst/>
                        </a:rPr>
                        <a:t>15</a:t>
                      </a:r>
                      <a:endParaRPr lang="fr-CA" sz="33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67640" marR="167640" marT="167640" marB="2514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1000"/>
                        </a:spcAft>
                      </a:pPr>
                      <a:r>
                        <a:rPr lang="fr-FR" sz="3300">
                          <a:effectLst/>
                        </a:rPr>
                        <a:t>18</a:t>
                      </a:r>
                      <a:endParaRPr lang="fr-CA" sz="33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67640" marR="167640" marT="167640" marB="2514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1000"/>
                        </a:spcAft>
                      </a:pPr>
                      <a:r>
                        <a:rPr lang="fr-CA" sz="3300">
                          <a:effectLst/>
                        </a:rPr>
                        <a:t>Total</a:t>
                      </a:r>
                      <a:endParaRPr lang="fr-CA" sz="33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67640" marR="167640" marT="167640" marB="251460" anchor="ctr"/>
                </a:tc>
                <a:extLst>
                  <a:ext uri="{0D108BD9-81ED-4DB2-BD59-A6C34878D82A}">
                    <a16:rowId xmlns:a16="http://schemas.microsoft.com/office/drawing/2014/main" val="2479350954"/>
                  </a:ext>
                </a:extLst>
              </a:tr>
              <a:tr h="36463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fr-FR" sz="3300">
                          <a:effectLst/>
                        </a:rPr>
                        <a:t>f(x) = P(X = x)</a:t>
                      </a:r>
                      <a:endParaRPr lang="fr-CA" sz="3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67640" marR="167640" marT="167640" marB="1676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fr-FR" sz="3300">
                          <a:effectLst/>
                        </a:rPr>
                        <a:t>0,30</a:t>
                      </a:r>
                      <a:endParaRPr lang="fr-CA" sz="3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67640" marR="167640" marT="167640" marB="1676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fr-FR" sz="3300">
                          <a:effectLst/>
                        </a:rPr>
                        <a:t>0,23</a:t>
                      </a:r>
                      <a:endParaRPr lang="fr-CA" sz="3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67640" marR="167640" marT="167640" marB="1676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fr-FR" sz="3300">
                          <a:effectLst/>
                        </a:rPr>
                        <a:t>0,15</a:t>
                      </a:r>
                      <a:endParaRPr lang="fr-CA" sz="3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67640" marR="167640" marT="167640" marB="1676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fr-FR" sz="3300">
                          <a:effectLst/>
                        </a:rPr>
                        <a:t>0,32</a:t>
                      </a:r>
                      <a:endParaRPr lang="fr-CA" sz="3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67640" marR="167640" marT="167640" marB="1676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fr-CA" sz="3300" dirty="0">
                          <a:effectLst/>
                        </a:rPr>
                        <a:t>1</a:t>
                      </a:r>
                      <a:endParaRPr lang="fr-CA" sz="3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67640" marR="167640" marT="167640" marB="167640" anchor="ctr"/>
                </a:tc>
                <a:extLst>
                  <a:ext uri="{0D108BD9-81ED-4DB2-BD59-A6C34878D82A}">
                    <a16:rowId xmlns:a16="http://schemas.microsoft.com/office/drawing/2014/main" val="8262206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56715F6-B8EA-4EB0-94D1-3C3E9E0BBB0D}"/>
                  </a:ext>
                </a:extLst>
              </p:cNvPr>
              <p:cNvSpPr txBox="1"/>
              <p:nvPr/>
            </p:nvSpPr>
            <p:spPr>
              <a:xfrm>
                <a:off x="940525" y="4516369"/>
                <a:ext cx="10578336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On obtient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=10∗0,3+13∗0,23+15∗0,15+18∗0,32=14</m:t>
                    </m:r>
                  </m:oMath>
                </a14:m>
                <a:r>
                  <a:rPr lang="fr-CA" dirty="0"/>
                  <a:t> heures/</a:t>
                </a:r>
                <a:r>
                  <a:rPr lang="fr-CA" dirty="0" err="1"/>
                  <a:t>sem</a:t>
                </a:r>
                <a:r>
                  <a:rPr lang="fr-CA" dirty="0"/>
                  <a:t> avec un écart type de: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=3,21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h𝑒𝑢𝑟𝑒𝑠</m:t>
                      </m:r>
                    </m:oMath>
                  </m:oMathPara>
                </a14:m>
                <a:endParaRPr lang="fr-CA" dirty="0"/>
              </a:p>
              <a:p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Supposons à présent que son employeur lui offre un salaire horaire de 20 $ et une indemnité de déplacement hebdomadaire de 25 $. Son revenu brut hebdomadaire sera égal à </a:t>
                </a:r>
                <a:r>
                  <a:rPr lang="fr-FR" sz="1800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Y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 = 25 + 20 × </a:t>
                </a:r>
                <a:r>
                  <a:rPr lang="fr-FR" sz="1800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X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,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qui aura comme espérance mathématique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sz="1800" b="0" i="1" smtClean="0">
                            <a:effectLst/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fr-CA" sz="1800" b="0" i="1" smtClean="0">
                        <a:effectLst/>
                        <a:latin typeface="Cambria Math" panose="02040503050406030204" pitchFamily="18" charset="0"/>
                      </a:rPr>
                      <m:t>=25+20∗</m:t>
                    </m:r>
                    <m:sSub>
                      <m:sSubPr>
                        <m:ctrlPr>
                          <a:rPr lang="fr-CA" sz="18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sz="1800" b="0" i="1" smtClean="0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sz="1800" b="0" i="1" smtClean="0">
                        <a:effectLst/>
                        <a:latin typeface="Cambria Math" panose="02040503050406030204" pitchFamily="18" charset="0"/>
                      </a:rPr>
                      <m:t>=305 $/</m:t>
                    </m:r>
                    <m:r>
                      <a:rPr lang="fr-CA" sz="1800" b="0" i="1" smtClean="0">
                        <a:effectLst/>
                        <a:latin typeface="Cambria Math" panose="02040503050406030204" pitchFamily="18" charset="0"/>
                      </a:rPr>
                      <m:t>𝑠𝑒𝑚</m:t>
                    </m:r>
                  </m:oMath>
                </a14:m>
                <a:r>
                  <a:rPr lang="fr-CA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Avec un écart type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=20∗3,21=64,2 $/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𝑠𝑒𝑚</m:t>
                    </m:r>
                  </m:oMath>
                </a14:m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56715F6-B8EA-4EB0-94D1-3C3E9E0BB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25" y="4516369"/>
                <a:ext cx="10578336" cy="2031325"/>
              </a:xfrm>
              <a:prstGeom prst="rect">
                <a:avLst/>
              </a:prstGeom>
              <a:blipFill>
                <a:blip r:embed="rId2"/>
                <a:stretch>
                  <a:fillRect l="-461" t="-180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5355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169C20-4E83-4FD2-A4C7-87DF9846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Les variables aléatoires les plus usuelles:</a:t>
            </a:r>
            <a:br>
              <a:rPr lang="fr-CA" dirty="0"/>
            </a:br>
            <a:r>
              <a:rPr lang="fr-CA" dirty="0"/>
              <a:t>1. La loi uniforme.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2EA631B-66BD-45B8-BB3F-E7686292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5889AA-2215-48CC-B69E-55DC0A8D3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8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C948AB25-747D-458E-8177-8853F8E057E9}"/>
                  </a:ext>
                </a:extLst>
              </p:cNvPr>
              <p:cNvSpPr txBox="1"/>
              <p:nvPr/>
            </p:nvSpPr>
            <p:spPr>
              <a:xfrm>
                <a:off x="248194" y="1567544"/>
                <a:ext cx="11943806" cy="529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200000"/>
                  </a:lnSpc>
                  <a:spcAft>
                    <a:spcPts val="800"/>
                  </a:spcAft>
                </a:pPr>
                <a: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Il arrive souvent dans la pratique qu’on manipule un processus où toutes les issues ont la même importance : il n’y a qu’à penser à un tirage aléatoire d’un numéro parmi les 30 invités à une fête d’anniversaire.  </a:t>
                </a:r>
              </a:p>
              <a:p>
                <a:pPr algn="l">
                  <a:lnSpc>
                    <a:spcPct val="200000"/>
                  </a:lnSpc>
                  <a:spcAft>
                    <a:spcPts val="800"/>
                  </a:spcAft>
                </a:pPr>
                <a: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Soit une expérience aléatoire qui admet </a:t>
                </a:r>
                <a:r>
                  <a:rPr lang="fr-CA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résultats possibles. Si ces résultats sont équiprobables, on peut alors définir une variable aléatoire </a:t>
                </a:r>
                <a:r>
                  <a:rPr lang="fr-CA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discrète telle que sa fonction de masse des probabilités est :</a:t>
                </a:r>
              </a:p>
              <a:p>
                <a:pPr algn="l">
                  <a:lnSpc>
                    <a:spcPct val="20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𝑋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𝑃𝑜𝑢𝑟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=1,2,….,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.  On dit alors que X suit une variable (loi) uniforme discrète et on la note </a:t>
                </a:r>
                <a14:m>
                  <m:oMath xmlns:m="http://schemas.openxmlformats.org/officeDocument/2006/math"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𝑈𝑛𝑖𝑓</m:t>
                    </m:r>
                    <m:d>
                      <m:dPr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𝑁</m:t>
                        </m:r>
                      </m:e>
                    </m:d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</m:oMath>
                </a14:m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285750" indent="-285750" algn="l">
                  <a:lnSpc>
                    <a:spcPct val="200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          ;  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CA" sz="18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sz="18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fr-CA" sz="18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l">
                  <a:lnSpc>
                    <a:spcPct val="200000"/>
                  </a:lnSpc>
                  <a:spcAft>
                    <a:spcPts val="800"/>
                  </a:spcAft>
                </a:pPr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C948AB25-747D-458E-8177-8853F8E05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94" y="1567544"/>
                <a:ext cx="11943806" cy="5295296"/>
              </a:xfrm>
              <a:prstGeom prst="rect">
                <a:avLst/>
              </a:prstGeom>
              <a:blipFill>
                <a:blip r:embed="rId2"/>
                <a:stretch>
                  <a:fillRect l="-459" r="-81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2198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CD4C6-E48A-4A3A-AA06-E7D37A0AD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90692"/>
          </a:xfrm>
        </p:spPr>
        <p:txBody>
          <a:bodyPr>
            <a:normAutofit/>
          </a:bodyPr>
          <a:lstStyle/>
          <a:p>
            <a:r>
              <a:rPr lang="fr-CA" dirty="0"/>
              <a:t>Exemple: 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Une roulette américaine a 38 cases numérotées de 1 à 38. Si on pose </a:t>
            </a:r>
            <a:r>
              <a:rPr lang="fr-FR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: le numéro de la case qui va sortir, alors </a:t>
            </a:r>
            <a:r>
              <a:rPr lang="fr-FR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suit une loi  </a:t>
            </a:r>
            <a:r>
              <a:rPr lang="fr-FR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Unif</a:t>
            </a:r>
            <a:r>
              <a:rPr lang="fr-FR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(38), car chacune des cases a la même chance de sortir, et :</a:t>
            </a:r>
            <a:br>
              <a:rPr lang="fr-C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fr-CA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234F927-C46A-46C6-8513-10B7F2C02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E88D80-6A8C-4FDA-A40A-8BB476615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9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CE4DE3D-5329-43D2-AD0F-4299C3B1085B}"/>
                  </a:ext>
                </a:extLst>
              </p:cNvPr>
              <p:cNvSpPr txBox="1"/>
              <p:nvPr/>
            </p:nvSpPr>
            <p:spPr>
              <a:xfrm>
                <a:off x="1267097" y="2207623"/>
                <a:ext cx="9274629" cy="1593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Alors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38</m:t>
                        </m:r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𝑖𝑚𝑝𝑜𝑟𝑡𝑒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𝑞𝑢𝑒𝑙𝑙𝑒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𝑐𝑎𝑠𝑒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fr-CA" b="0" dirty="0"/>
              </a:p>
              <a:p>
                <a:endParaRPr lang="fr-CA" dirty="0"/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38+1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=19,5  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𝑒𝑡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38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=120,25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𝑑𝑜𝑛𝑐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=10,97  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CE4DE3D-5329-43D2-AD0F-4299C3B10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097" y="2207623"/>
                <a:ext cx="9274629" cy="1593321"/>
              </a:xfrm>
              <a:prstGeom prst="rect">
                <a:avLst/>
              </a:prstGeom>
              <a:blipFill>
                <a:blip r:embed="rId3"/>
                <a:stretch>
                  <a:fillRect l="-59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906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43AC193F-4A97-467C-B0F4-CB69ABCB1E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36524"/>
                <a:ext cx="10515600" cy="2617575"/>
              </a:xfrm>
            </p:spPr>
            <p:txBody>
              <a:bodyPr>
                <a:normAutofit/>
              </a:bodyPr>
              <a:lstStyle/>
              <a:p>
                <a:pPr/>
                <a:r>
                  <a:rPr lang="fr-F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REMARQUE: 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Lorsque </a:t>
                </a:r>
                <a:r>
                  <a:rPr lang="fr-FR" sz="1800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X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suit une loi discrète uniforme dans un intervalle quelconque </a:t>
                </a:r>
                <a:r>
                  <a:rPr lang="fr-FR" sz="1800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a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b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, avec </a:t>
                </a:r>
                <a:r>
                  <a:rPr lang="fr-FR" sz="1800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a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et </a:t>
                </a:r>
                <a:r>
                  <a:rPr lang="fr-FR" sz="1800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b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des nombres entiers, on note cette variable </a:t>
                </a:r>
                <a:r>
                  <a:rPr lang="fr-FR" sz="1800" i="1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Unif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(</a:t>
                </a:r>
                <a:r>
                  <a:rPr lang="fr-FR" sz="1800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a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b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)  sa fonction de masse est alors telle que:</a:t>
                </a:r>
                <a:b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</a:br>
                <a:b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𝑋</m:t>
                          </m:r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</a:rPr>
                        <m:t>𝑝𝑜𝑢𝑟</m:t>
                      </m:r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</a:rPr>
                        <m:t>𝑡𝑜𝑢𝑡</m:t>
                      </m:r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</a:rPr>
                        <m:t>𝑒𝑛𝑡𝑖𝑒𝑟</m:t>
                      </m:r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br>
                  <a:rPr lang="fr-CA" dirty="0"/>
                </a:br>
                <a:br>
                  <a:rPr lang="fr-CA" dirty="0"/>
                </a:br>
                <a:endParaRPr lang="fr-CA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43AC193F-4A97-467C-B0F4-CB69ABCB1E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36524"/>
                <a:ext cx="10515600" cy="2617575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DC29206-2EBA-4E07-A2DF-43D311C3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39D90C-5E6F-4963-BFD7-8B0E48171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10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545B052-8DDE-4948-92C5-AD653CD7D168}"/>
                  </a:ext>
                </a:extLst>
              </p:cNvPr>
              <p:cNvSpPr txBox="1"/>
              <p:nvPr/>
            </p:nvSpPr>
            <p:spPr>
              <a:xfrm>
                <a:off x="744583" y="1920240"/>
                <a:ext cx="10609217" cy="522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545B052-8DDE-4948-92C5-AD653CD7D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83" y="1920240"/>
                <a:ext cx="10609217" cy="5227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A68205E7-AF5F-4D74-843B-7C991BE5A870}"/>
                  </a:ext>
                </a:extLst>
              </p:cNvPr>
              <p:cNvSpPr txBox="1"/>
              <p:nvPr/>
            </p:nvSpPr>
            <p:spPr>
              <a:xfrm>
                <a:off x="940526" y="2991394"/>
                <a:ext cx="10609217" cy="2617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b="1" dirty="0"/>
                  <a:t>Exemple:</a:t>
                </a:r>
                <a:r>
                  <a:rPr lang="fr-CA" dirty="0"/>
                  <a:t> Soit Y une loi uniforme discrète  </a:t>
                </a:r>
                <a:r>
                  <a:rPr lang="fr-FR" sz="1800" i="1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Unif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(</a:t>
                </a:r>
                <a:r>
                  <a:rPr lang="fr-FR" i="1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10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, </a:t>
                </a:r>
                <a:r>
                  <a:rPr lang="fr-FR" i="1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30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)  alors:</a:t>
                </a:r>
              </a:p>
              <a:p>
                <a:endParaRPr lang="fr-FR" dirty="0">
                  <a:latin typeface="Calibri" panose="020F0502020204030204" pitchFamily="34" charset="0"/>
                </a:endParaRPr>
              </a:p>
              <a:p>
                <a:endParaRPr lang="fr-FR" dirty="0">
                  <a:latin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𝑝𝑜𝑢𝑟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=10,11,….30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=20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𝑒𝑡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(30−10+1)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=36,6667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A68205E7-AF5F-4D74-843B-7C991BE5A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26" y="2991394"/>
                <a:ext cx="10609217" cy="2617576"/>
              </a:xfrm>
              <a:prstGeom prst="rect">
                <a:avLst/>
              </a:prstGeom>
              <a:blipFill>
                <a:blip r:embed="rId4"/>
                <a:stretch>
                  <a:fillRect l="-460" t="-139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050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263D9E-E0C9-4AEB-B9E4-0FBB45788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/>
              <a:t>La Loi de Bernoulli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654062A-2F55-49A6-97E3-D9F514407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7D6F5D-7439-4B28-8CC9-07B562F25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11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288296D5-7742-4C25-8BCB-ADD2E257619D}"/>
                  </a:ext>
                </a:extLst>
              </p:cNvPr>
              <p:cNvSpPr txBox="1"/>
              <p:nvPr/>
            </p:nvSpPr>
            <p:spPr>
              <a:xfrm>
                <a:off x="1005839" y="1920240"/>
                <a:ext cx="10515600" cy="4654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Lorsqu’on fait une expérience aléatoire qui donne un résultat qui nous intéresse (qu’on va appeler succès) avec une probabilité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𝑞𝑢𝑖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𝑟𝑒𝑠𝑡𝑒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𝑐𝑜𝑛𝑠𝑡𝑎𝑛𝑡𝑒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CA" dirty="0"/>
                  <a:t> et le (ou les) résultats qui ne nous intéresse(nt) pas (qu’on appeler échec) avec une probabilité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fr-CA" dirty="0"/>
                  <a:t>  et qu’on note par: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1           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𝑢𝑛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𝑠𝑢𝑐𝑐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è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0           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𝑢𝑛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 é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𝑐h𝑒𝑐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On dit alors qu’on a fait une expérience binaire et que X suit une loi de Bernoulli.</a:t>
                </a:r>
              </a:p>
              <a:p>
                <a:r>
                  <a:rPr lang="fr-CA" dirty="0"/>
                  <a:t>Dans ce cas, on peut dresser un tableau des probabilités:</a:t>
                </a:r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Dans ce cas: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fr-CA" dirty="0"/>
                  <a:t>   et   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𝑝𝑞</m:t>
                        </m:r>
                      </m:e>
                    </m:rad>
                  </m:oMath>
                </a14:m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288296D5-7742-4C25-8BCB-ADD2E2576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39" y="1920240"/>
                <a:ext cx="10515600" cy="4654992"/>
              </a:xfrm>
              <a:prstGeom prst="rect">
                <a:avLst/>
              </a:prstGeom>
              <a:blipFill>
                <a:blip r:embed="rId2"/>
                <a:stretch>
                  <a:fillRect l="-464" t="-654" r="-46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6">
                <a:extLst>
                  <a:ext uri="{FF2B5EF4-FFF2-40B4-BE49-F238E27FC236}">
                    <a16:creationId xmlns:a16="http://schemas.microsoft.com/office/drawing/2014/main" id="{CFF5CE01-BF5D-4D98-A7EE-F5E91FE43E7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23406" y="4572245"/>
              <a:ext cx="8213633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8880">
                      <a:extLst>
                        <a:ext uri="{9D8B030D-6E8A-4147-A177-3AD203B41FA5}">
                          <a16:colId xmlns:a16="http://schemas.microsoft.com/office/drawing/2014/main" val="1144982264"/>
                        </a:ext>
                      </a:extLst>
                    </a:gridCol>
                    <a:gridCol w="1441203">
                      <a:extLst>
                        <a:ext uri="{9D8B030D-6E8A-4147-A177-3AD203B41FA5}">
                          <a16:colId xmlns:a16="http://schemas.microsoft.com/office/drawing/2014/main" val="3652178408"/>
                        </a:ext>
                      </a:extLst>
                    </a:gridCol>
                    <a:gridCol w="2151775">
                      <a:extLst>
                        <a:ext uri="{9D8B030D-6E8A-4147-A177-3AD203B41FA5}">
                          <a16:colId xmlns:a16="http://schemas.microsoft.com/office/drawing/2014/main" val="1556502686"/>
                        </a:ext>
                      </a:extLst>
                    </a:gridCol>
                    <a:gridCol w="2151775">
                      <a:extLst>
                        <a:ext uri="{9D8B030D-6E8A-4147-A177-3AD203B41FA5}">
                          <a16:colId xmlns:a16="http://schemas.microsoft.com/office/drawing/2014/main" val="58208273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36457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38872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6">
                <a:extLst>
                  <a:ext uri="{FF2B5EF4-FFF2-40B4-BE49-F238E27FC236}">
                    <a16:creationId xmlns:a16="http://schemas.microsoft.com/office/drawing/2014/main" id="{CFF5CE01-BF5D-4D98-A7EE-F5E91FE43E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968452"/>
                  </p:ext>
                </p:extLst>
              </p:nvPr>
            </p:nvGraphicFramePr>
            <p:xfrm>
              <a:off x="1123406" y="4572245"/>
              <a:ext cx="8213633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8880">
                      <a:extLst>
                        <a:ext uri="{9D8B030D-6E8A-4147-A177-3AD203B41FA5}">
                          <a16:colId xmlns:a16="http://schemas.microsoft.com/office/drawing/2014/main" val="1144982264"/>
                        </a:ext>
                      </a:extLst>
                    </a:gridCol>
                    <a:gridCol w="1441203">
                      <a:extLst>
                        <a:ext uri="{9D8B030D-6E8A-4147-A177-3AD203B41FA5}">
                          <a16:colId xmlns:a16="http://schemas.microsoft.com/office/drawing/2014/main" val="3652178408"/>
                        </a:ext>
                      </a:extLst>
                    </a:gridCol>
                    <a:gridCol w="2151775">
                      <a:extLst>
                        <a:ext uri="{9D8B030D-6E8A-4147-A177-3AD203B41FA5}">
                          <a16:colId xmlns:a16="http://schemas.microsoft.com/office/drawing/2014/main" val="1556502686"/>
                        </a:ext>
                      </a:extLst>
                    </a:gridCol>
                    <a:gridCol w="2151775">
                      <a:extLst>
                        <a:ext uri="{9D8B030D-6E8A-4147-A177-3AD203B41FA5}">
                          <a16:colId xmlns:a16="http://schemas.microsoft.com/office/drawing/2014/main" val="58208273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36457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247" t="-106557" r="-23382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38872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93294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5665CA-C43E-4345-9C52-CC40F4CE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9435"/>
          </a:xfrm>
        </p:spPr>
        <p:txBody>
          <a:bodyPr>
            <a:normAutofit fontScale="90000"/>
          </a:bodyPr>
          <a:lstStyle/>
          <a:p>
            <a:r>
              <a:rPr lang="fr-CA" b="1" dirty="0"/>
              <a:t>Exemple1</a:t>
            </a:r>
            <a:r>
              <a:rPr lang="fr-CA" dirty="0"/>
              <a:t>: À chaque naissance, on peut avoir</a:t>
            </a:r>
            <a:br>
              <a:rPr lang="fr-CA" dirty="0"/>
            </a:br>
            <a:r>
              <a:rPr lang="fr-CA" dirty="0"/>
              <a:t>Une fille (succès) avec proba p=1/2 ou garçon (échec) avec probabilité q=1/2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0A163ED-745B-422D-9D17-F86E1D900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C9D680-2782-4C16-84FB-53DD69C6B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12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4C1655D-6C5D-4383-BA11-1A2491940B3B}"/>
                  </a:ext>
                </a:extLst>
              </p:cNvPr>
              <p:cNvSpPr txBox="1"/>
              <p:nvPr/>
            </p:nvSpPr>
            <p:spPr>
              <a:xfrm>
                <a:off x="1332411" y="2704010"/>
                <a:ext cx="8765178" cy="2209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Donc on peut poser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1           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𝑜𝑛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𝑢𝑛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𝑓𝑖𝑙𝑙𝑒</m:t>
                            </m:r>
                          </m:e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0           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𝑜𝑛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𝑢𝑛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𝑔𝑎𝑟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ç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𝑜𝑛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e>
                        </m:eqArr>
                      </m:e>
                    </m:d>
                  </m:oMath>
                </a14:m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CA" dirty="0"/>
                  <a:t>   et   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𝑝𝑞</m:t>
                        </m:r>
                      </m:e>
                    </m:ra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4C1655D-6C5D-4383-BA11-1A2491940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411" y="2704010"/>
                <a:ext cx="8765178" cy="2209323"/>
              </a:xfrm>
              <a:prstGeom prst="rect">
                <a:avLst/>
              </a:prstGeom>
              <a:blipFill>
                <a:blip r:embed="rId2"/>
                <a:stretch>
                  <a:fillRect l="-62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583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CE9B10-CE4C-4BA5-8EAD-0014BF5F5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24932"/>
          </a:xfrm>
        </p:spPr>
        <p:txBody>
          <a:bodyPr>
            <a:normAutofit fontScale="90000"/>
          </a:bodyPr>
          <a:lstStyle/>
          <a:p>
            <a:r>
              <a:rPr lang="fr-CA" b="1" dirty="0"/>
              <a:t>Exemple 2:</a:t>
            </a:r>
            <a:r>
              <a:rPr lang="fr-CA" dirty="0"/>
              <a:t> Lorsqu’on lance un dé, soit </a:t>
            </a:r>
            <a:br>
              <a:rPr lang="fr-CA" dirty="0"/>
            </a:br>
            <a:r>
              <a:rPr lang="fr-CA" dirty="0"/>
              <a:t>Succès: avoir la face 5.</a:t>
            </a:r>
            <a:br>
              <a:rPr lang="fr-CA" dirty="0"/>
            </a:br>
            <a:r>
              <a:rPr lang="fr-CA" dirty="0"/>
              <a:t>Échec: autres faces.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4DB5BDD-DAC8-42CE-97B9-C122433D8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97A521-E861-4690-8374-02AEDC63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13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9E109392-152D-48BB-B943-B5C41FD91E6E}"/>
                  </a:ext>
                </a:extLst>
              </p:cNvPr>
              <p:cNvSpPr txBox="1"/>
              <p:nvPr/>
            </p:nvSpPr>
            <p:spPr>
              <a:xfrm>
                <a:off x="1345474" y="2455817"/>
                <a:ext cx="9209315" cy="3645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Donc on peut poser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1           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𝑜𝑛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𝑙𝑎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𝑓𝑎𝑐𝑒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5</m:t>
                            </m:r>
                          </m:e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0           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𝑜𝑛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𝑎𝑢𝑡𝑟𝑒𝑠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𝑓𝑎𝑐𝑒𝑠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e>
                        </m:eqArr>
                      </m:e>
                    </m:d>
                  </m:oMath>
                </a14:m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fr-CA" dirty="0"/>
                  <a:t>   et   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𝑝𝑞</m:t>
                        </m:r>
                      </m:e>
                    </m:ra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 </a:t>
                </a: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9E109392-152D-48BB-B943-B5C41FD91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474" y="2455817"/>
                <a:ext cx="9209315" cy="3645229"/>
              </a:xfrm>
              <a:prstGeom prst="rect">
                <a:avLst/>
              </a:prstGeom>
              <a:blipFill>
                <a:blip r:embed="rId2"/>
                <a:stretch>
                  <a:fillRect l="-59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au 7">
                <a:extLst>
                  <a:ext uri="{FF2B5EF4-FFF2-40B4-BE49-F238E27FC236}">
                    <a16:creationId xmlns:a16="http://schemas.microsoft.com/office/drawing/2014/main" id="{DD851E1C-AEC3-41D4-AA35-B052EAF0B40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37211" y="3349169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20637373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00151903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64897837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92358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10982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q= 5/6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p=1/6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53944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au 7">
                <a:extLst>
                  <a:ext uri="{FF2B5EF4-FFF2-40B4-BE49-F238E27FC236}">
                    <a16:creationId xmlns:a16="http://schemas.microsoft.com/office/drawing/2014/main" id="{DD851E1C-AEC3-41D4-AA35-B052EAF0B4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4526573"/>
                  </p:ext>
                </p:extLst>
              </p:nvPr>
            </p:nvGraphicFramePr>
            <p:xfrm>
              <a:off x="1637211" y="3349169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20637373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00151903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64897837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92358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10982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299" t="-109836" r="-30089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q= 5/6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p=1/6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53944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9233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28D363-D217-4C4D-9757-20C9F6A33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Variable (loi) binomiale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E2B6F0A-78DD-4A4E-A411-1164CAC4C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F1A341-0382-404B-AEEF-5E102941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14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F0ABF39-6297-4DE6-B4BB-E954C2589193}"/>
                  </a:ext>
                </a:extLst>
              </p:cNvPr>
              <p:cNvSpPr txBox="1"/>
              <p:nvPr/>
            </p:nvSpPr>
            <p:spPr>
              <a:xfrm>
                <a:off x="1123405" y="1293223"/>
                <a:ext cx="10515599" cy="4453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Soit une expérience de Bernoulli avec une probabilité de succès p, qu’on répète n fois de façons indépendantes et qu’on pose:</a:t>
                </a:r>
              </a:p>
              <a:p>
                <a:endParaRPr lang="fr-CA" dirty="0"/>
              </a:p>
              <a:p>
                <a:r>
                  <a:rPr lang="fr-CA" dirty="0"/>
                  <a:t>X: le nombre de succès parmi les n répétitions. Alors X peut prendre les valeurs suivantes,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𝑆𝑢𝑝𝑝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=0,1,……..,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CA" dirty="0"/>
                  <a:t>   donc    pour un entier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CA" dirty="0"/>
                  <a:t> l’événement: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𝑠𝑖𝑔𝑛𝑖𝑓𝑖𝑒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𝑎𝑣𝑜𝑖𝑟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𝑠𝑢𝑐𝑐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è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𝑝𝑎𝑟𝑚𝑖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𝑙𝑒𝑠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𝑡𝑖𝑡𝑖𝑜𝑛𝑠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..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On démontre que: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eqArr>
                        </m:e>
                      </m:d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𝑝𝑜𝑢𝑟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𝑡𝑜𝑢𝑡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=0, 1,….,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On dit alors que la variable X suit une loi binomiale de paramètres n et p et on la note: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𝑠𝑢𝑖𝑡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Et alors on a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𝑛𝑝𝑞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𝑛𝑝𝑞</m:t>
                        </m:r>
                      </m:e>
                    </m:rad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F0ABF39-6297-4DE6-B4BB-E954C2589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405" y="1293223"/>
                <a:ext cx="10515599" cy="4453014"/>
              </a:xfrm>
              <a:prstGeom prst="rect">
                <a:avLst/>
              </a:prstGeom>
              <a:blipFill>
                <a:blip r:embed="rId2"/>
                <a:stretch>
                  <a:fillRect l="-464" t="-684" r="-75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922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C426A-F133-4317-BB35-9941670BD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1: 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À chaque naissance, on a soit un succès : « Avoir une fille », ou un échec : « Avoir un garçon » ; donc, </a:t>
            </a:r>
            <a:r>
              <a:rPr lang="fr-FR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(succès) = 1/2 et </a:t>
            </a:r>
            <a:r>
              <a:rPr lang="fr-FR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(échec) = 1/2. On suppose que ces probabilités ne changent pas avec les naissances. On prend un couple qui a 5 enfants et on pose X:le nombre de filles qui aura ce couple.</a:t>
            </a:r>
            <a:endParaRPr lang="fr-CA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62A24A8-1116-4754-90B0-451C89FE8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6FD261-09DB-4D09-9137-80CA847F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15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D1E70188-484B-4E62-B5AD-FBE05C575B52}"/>
                  </a:ext>
                </a:extLst>
              </p:cNvPr>
              <p:cNvSpPr txBox="1"/>
              <p:nvPr/>
            </p:nvSpPr>
            <p:spPr>
              <a:xfrm>
                <a:off x="1097280" y="2103120"/>
                <a:ext cx="9849394" cy="3594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On voit que: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p=1/2 (reste constante)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Le nombre de naissance est connu d’avance  (n=5)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Les naissances sont indépendantes.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On s’intéresse au nombre de succès parmi les 5 répétitions.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CA" dirty="0"/>
              </a:p>
              <a:p>
                <a:r>
                  <a:rPr lang="fr-CA" dirty="0"/>
                  <a:t>Donc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𝑠𝑢𝑖𝑡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𝑢𝑛𝑒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𝑙𝑜𝑖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5;</m:t>
                        </m:r>
                        <m:f>
                          <m:f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fr-CA" dirty="0"/>
                  <a:t> et alors 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eqArr>
                      </m:e>
                    </m:d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=0,1,…,5</m:t>
                    </m:r>
                  </m:oMath>
                </a14:m>
                <a:endParaRPr lang="fr-CA" dirty="0"/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=5∗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=2,5   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𝑒𝑡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5∗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ra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CA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D1E70188-484B-4E62-B5AD-FBE05C575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2103120"/>
                <a:ext cx="9849394" cy="3594189"/>
              </a:xfrm>
              <a:prstGeom prst="rect">
                <a:avLst/>
              </a:prstGeom>
              <a:blipFill>
                <a:blip r:embed="rId3"/>
                <a:stretch>
                  <a:fillRect l="-495" t="-84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4689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A96F1F-1908-4E52-B1C8-355C975C5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Remarque: Pour appliquer la loi binomiale, il faut 4 conditions: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7D4CACF-99CD-4A71-81B2-F70ED68E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B5F8ED-293E-492E-B9A4-71C79F755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16</a:t>
            </a:fld>
            <a:endParaRPr lang="fr-CA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95F5E6F-DAE5-434B-A02E-540A477D52B1}"/>
              </a:ext>
            </a:extLst>
          </p:cNvPr>
          <p:cNvSpPr txBox="1"/>
          <p:nvPr/>
        </p:nvSpPr>
        <p:spPr>
          <a:xfrm>
            <a:off x="1071154" y="1150938"/>
            <a:ext cx="10607040" cy="5745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  <a:spcAft>
                <a:spcPts val="800"/>
              </a:spcAft>
            </a:pPr>
            <a:endParaRPr lang="fr-CA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l">
              <a:lnSpc>
                <a:spcPct val="200000"/>
              </a:lnSpc>
              <a:spcAft>
                <a:spcPts val="800"/>
              </a:spcAft>
            </a:pPr>
            <a:r>
              <a:rPr lang="fr-CA" sz="2800" dirty="0">
                <a:solidFill>
                  <a:srgbClr val="ED7D3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La probabilité de succès est constante comme pour la loi de Bernoulli.</a:t>
            </a:r>
            <a:endParaRPr lang="fr-CA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l">
              <a:lnSpc>
                <a:spcPct val="200000"/>
              </a:lnSpc>
              <a:spcAft>
                <a:spcPts val="800"/>
              </a:spcAft>
            </a:pPr>
            <a:r>
              <a:rPr lang="fr-CA" sz="2800" dirty="0">
                <a:solidFill>
                  <a:srgbClr val="ED7D3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Le nombre de répétitions est constant et connu d’avance.</a:t>
            </a:r>
            <a:endParaRPr lang="fr-CA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l">
              <a:lnSpc>
                <a:spcPct val="200000"/>
              </a:lnSpc>
              <a:spcAft>
                <a:spcPts val="800"/>
              </a:spcAft>
            </a:pPr>
            <a:r>
              <a:rPr lang="fr-CA" sz="2800" dirty="0">
                <a:solidFill>
                  <a:srgbClr val="ED7D3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Les répétitions sont indépendantes.</a:t>
            </a:r>
            <a:endParaRPr lang="fr-CA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l">
              <a:lnSpc>
                <a:spcPct val="200000"/>
              </a:lnSpc>
              <a:spcAft>
                <a:spcPts val="800"/>
              </a:spcAft>
            </a:pPr>
            <a:r>
              <a:rPr lang="fr-CA" sz="2800" dirty="0">
                <a:solidFill>
                  <a:srgbClr val="ED7D3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	On s’intéresse au nombre de succès parmi les</a:t>
            </a:r>
            <a:r>
              <a:rPr lang="fr-CA" sz="2800" i="1" dirty="0">
                <a:solidFill>
                  <a:srgbClr val="ED7D3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 </a:t>
            </a:r>
            <a:r>
              <a:rPr lang="fr-CA" sz="2800" dirty="0">
                <a:solidFill>
                  <a:srgbClr val="ED7D3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répétitions.</a:t>
            </a:r>
            <a:endParaRPr lang="fr-CA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68447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6B9F9B-5CAA-4038-8948-4274EA883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Exemple 2: 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Lors d’une inspection de contrôle de qualité dans une usine, on a prélevé 10 pièces au hasard. On suppose que la probabilité qu’une pièce soit défectueuse est égale à 0,02. Déterminez la probabilité, parmi les 10 pièces contrôlées, qu’au moins une soit défectueuse.</a:t>
            </a:r>
            <a:br>
              <a:rPr lang="fr-C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fr-CA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3760E87-96F5-4E07-9BAB-E6C8ACEC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8F5BD0-5BE1-4AEC-A99F-A41FBACB0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17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1D83012-EBCB-4686-BCA7-8ED3B74C66B9}"/>
                  </a:ext>
                </a:extLst>
              </p:cNvPr>
              <p:cNvSpPr txBox="1"/>
              <p:nvPr/>
            </p:nvSpPr>
            <p:spPr>
              <a:xfrm>
                <a:off x="1045029" y="1690688"/>
                <a:ext cx="9849394" cy="4061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On a: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La probabilité de tomber sur une pièce défectueuse (succès) est égale à p=0,02 (constante).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Le nombre de pièces qu’on va sélectionner est connu d’avance (n=10).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Les répétitions sont indépendantes, car les prélèvements sont faits au hasard dans une grande population.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On s’intéresse à X: le nombre de pièces défectueuses (succès) parmi les 10 répétitions.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CA" dirty="0"/>
              </a:p>
              <a:p>
                <a:r>
                  <a:rPr lang="fr-CA" dirty="0"/>
                  <a:t>Donc 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𝑠𝑢𝑖𝑡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10;0,02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𝑎𝑙𝑜𝑟𝑠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eqArr>
                      </m:e>
                    </m:d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(0,02)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(0,98)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𝑝𝑜𝑢𝑟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=0,1,2..,10</m:t>
                    </m:r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On veut calculer: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≥1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0,02</m:t>
                              </m:r>
                            </m:e>
                          </m:d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0,98</m:t>
                              </m:r>
                            </m:e>
                          </m:d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=0,1829</m:t>
                      </m:r>
                    </m:oMath>
                  </m:oMathPara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1D83012-EBCB-4686-BCA7-8ED3B74C6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1690688"/>
                <a:ext cx="9849394" cy="4061368"/>
              </a:xfrm>
              <a:prstGeom prst="rect">
                <a:avLst/>
              </a:prstGeom>
              <a:blipFill>
                <a:blip r:embed="rId2"/>
                <a:stretch>
                  <a:fillRect l="-495" t="-75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087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234C56-D3CA-417C-8AC3-756ACE88B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47001"/>
          </a:xfrm>
        </p:spPr>
        <p:txBody>
          <a:bodyPr>
            <a:normAutofit/>
          </a:bodyPr>
          <a:lstStyle/>
          <a:p>
            <a:r>
              <a:rPr lang="fr-CA" dirty="0"/>
              <a:t>On voit d’après ces exemple, qu’une fois qu’on reconnait qu’il s’agisse d’une loi binomiale, les calculs peuvent être longs.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40116DC-4534-4606-B2A4-993D40B1F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2A3E64-FF5A-4F35-B549-79814F74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18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0D5D3D00-14E2-479F-8601-A13C90E5B335}"/>
                  </a:ext>
                </a:extLst>
              </p:cNvPr>
              <p:cNvSpPr txBox="1"/>
              <p:nvPr/>
            </p:nvSpPr>
            <p:spPr>
              <a:xfrm>
                <a:off x="1071154" y="2625634"/>
                <a:ext cx="1042416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Alors il faut savoir travailler avec la console du logiciel R.</a:t>
                </a:r>
              </a:p>
              <a:p>
                <a:endParaRPr lang="fr-CA" dirty="0"/>
              </a:p>
              <a:p>
                <a:r>
                  <a:rPr lang="fr-CA" dirty="0"/>
                  <a:t>Soit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𝑢𝑛𝑒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𝑙𝑜𝑖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𝑣𝑒𝑢𝑡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𝑐𝑎𝑙𝑐𝑢𝑙𝑒𝑟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fr-CA" b="0" dirty="0">
                  <a:ea typeface="Cambria Math" panose="02040503050406030204" pitchFamily="18" charset="0"/>
                </a:endParaRPr>
              </a:p>
              <a:p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P(X=k)    on tape     </a:t>
                </a:r>
                <a:r>
                  <a:rPr lang="fr-CA" dirty="0" err="1"/>
                  <a:t>dbinom</a:t>
                </a:r>
                <a:r>
                  <a:rPr lang="fr-CA" dirty="0"/>
                  <a:t>(</a:t>
                </a:r>
                <a:r>
                  <a:rPr lang="fr-CA" dirty="0" err="1"/>
                  <a:t>k,n,p</a:t>
                </a:r>
                <a:r>
                  <a:rPr lang="fr-CA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𝑡𝑎𝑝𝑒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𝑝𝑏𝑖𝑛𝑜𝑚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𝑡𝑎𝑝𝑒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𝑝𝑏𝑖𝑛𝑜𝑚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𝑝𝑏𝑖𝑛𝑜𝑚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−1,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𝑡𝑎𝑝𝑒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1−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𝑝𝑏𝑖𝑛𝑜𝑚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−1,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𝑡𝑎𝑝𝑒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𝑝𝑏𝑖𝑛𝑜𝑚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−1,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𝑡𝑎𝑝𝑒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1−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𝑝𝑏𝑖𝑛𝑜𝑚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𝑡𝑎𝑝𝑒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𝑝𝑏𝑖𝑛𝑜𝑚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𝑝𝑏𝑖𝑛𝑜𝑚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𝑡𝑎𝑝𝑒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𝑝𝑏𝑖𝑛𝑜𝑚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𝑝𝑏𝑖𝑛𝑜𝑚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0D5D3D00-14E2-479F-8601-A13C90E5B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154" y="2625634"/>
                <a:ext cx="10424160" cy="3416320"/>
              </a:xfrm>
              <a:prstGeom prst="rect">
                <a:avLst/>
              </a:prstGeom>
              <a:blipFill>
                <a:blip r:embed="rId3"/>
                <a:stretch>
                  <a:fillRect l="-526" t="-1071" b="-125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6328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23886747-5CEC-4CB4-B25F-BAFC3ACB105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fr-CA" dirty="0"/>
                  <a:t>Exemple :  Soit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𝑢𝑛𝑒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𝑙𝑜𝑖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(20;0,33)</m:t>
                    </m:r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23886747-5CEC-4CB4-B25F-BAFC3ACB10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2596C00-47F5-4F20-9400-2F878595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BC9C16-F868-4820-A3E7-4E610582A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19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15CF171-A5C3-4096-AF42-154402CF7B6B}"/>
                  </a:ext>
                </a:extLst>
              </p:cNvPr>
              <p:cNvSpPr txBox="1"/>
              <p:nvPr/>
            </p:nvSpPr>
            <p:spPr>
              <a:xfrm>
                <a:off x="966650" y="2103120"/>
                <a:ext cx="108291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Calculer: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=12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       ; 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≤11)</m:t>
                    </m:r>
                  </m:oMath>
                </a14:m>
                <a:r>
                  <a:rPr lang="fr-CA" dirty="0"/>
                  <a:t>   ;  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≤15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;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&gt;14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;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7&lt;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≤17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(7≤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≤17)</m:t>
                    </m:r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15CF171-A5C3-4096-AF42-154402CF7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50" y="2103120"/>
                <a:ext cx="10829109" cy="646331"/>
              </a:xfrm>
              <a:prstGeom prst="rect">
                <a:avLst/>
              </a:prstGeom>
              <a:blipFill>
                <a:blip r:embed="rId4"/>
                <a:stretch>
                  <a:fillRect l="-507" t="-4717" b="-14151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id="{54290DEB-D0FB-423A-A4C1-D2D6E23D085E}"/>
              </a:ext>
            </a:extLst>
          </p:cNvPr>
          <p:cNvSpPr txBox="1"/>
          <p:nvPr/>
        </p:nvSpPr>
        <p:spPr>
          <a:xfrm>
            <a:off x="1084217" y="3082834"/>
            <a:ext cx="104633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 err="1"/>
              <a:t>dbinom</a:t>
            </a:r>
            <a:r>
              <a:rPr lang="fr-CA" dirty="0"/>
              <a:t>(12,20,0.33)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 err="1"/>
              <a:t>pbinom</a:t>
            </a:r>
            <a:r>
              <a:rPr lang="fr-CA" dirty="0"/>
              <a:t>(11,20,0.33)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 err="1"/>
              <a:t>pbinom</a:t>
            </a:r>
            <a:r>
              <a:rPr lang="fr-CA" dirty="0"/>
              <a:t>(15,20,0.33)-</a:t>
            </a:r>
            <a:r>
              <a:rPr lang="fr-CA" dirty="0" err="1"/>
              <a:t>pbinom</a:t>
            </a:r>
            <a:r>
              <a:rPr lang="fr-CA" dirty="0"/>
              <a:t>(5,20,0.33)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1-pbinom(14,20,0.33)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 err="1"/>
              <a:t>pbinom</a:t>
            </a:r>
            <a:r>
              <a:rPr lang="fr-CA" dirty="0"/>
              <a:t>(17,20,0.33)-</a:t>
            </a:r>
            <a:r>
              <a:rPr lang="fr-CA" dirty="0" err="1"/>
              <a:t>pbinom</a:t>
            </a:r>
            <a:r>
              <a:rPr lang="fr-CA" dirty="0"/>
              <a:t>(7,20,0.33)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 err="1"/>
              <a:t>pbinom</a:t>
            </a:r>
            <a:r>
              <a:rPr lang="fr-CA" dirty="0"/>
              <a:t>(17,20,0.33)-</a:t>
            </a:r>
            <a:r>
              <a:rPr lang="fr-CA" dirty="0" err="1"/>
              <a:t>pbinom</a:t>
            </a:r>
            <a:r>
              <a:rPr lang="fr-CA" dirty="0"/>
              <a:t>(6,20,0.33)</a:t>
            </a:r>
          </a:p>
        </p:txBody>
      </p:sp>
    </p:spTree>
    <p:extLst>
      <p:ext uri="{BB962C8B-B14F-4D97-AF65-F5344CB8AC3E}">
        <p14:creationId xmlns:p14="http://schemas.microsoft.com/office/powerpoint/2010/main" val="3845948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2138</Words>
  <Application>Microsoft Office PowerPoint</Application>
  <PresentationFormat>Grand écran</PresentationFormat>
  <Paragraphs>274</Paragraphs>
  <Slides>19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Times New Roman</vt:lpstr>
      <vt:lpstr>Office Theme</vt:lpstr>
      <vt:lpstr>La variance et l’écart type (théoriques)</vt:lpstr>
      <vt:lpstr>Exemple 1: Si on reprend le cas du lancer d’un dé. </vt:lpstr>
      <vt:lpstr>Interprétation </vt:lpstr>
      <vt:lpstr>Exemple 4: Un vendeur de voitures a trouvé que X, le nombre de voitures qu’il peut vendre par semaine, est une variable aléatoire dont la fonction de masse des probabilités est donnée par : f(k)=P(X=k)={█((Ck^2)/k!     pour k=1,2, 3 ou 4@0                  sinon                )┤ Déterminer la constante C. Calculer la probabilité que ce vendeur vend au moins 2 voitures durant une semaine. Déterminer la fonction cumulative des probabilités de X.   </vt:lpstr>
      <vt:lpstr>Exemple: Soit une variable aléatoire discrète X dont la fonction de masse est donnée par le tableau suivant : </vt:lpstr>
      <vt:lpstr>Transformation linéaire: </vt:lpstr>
      <vt:lpstr>Exemple 1: </vt:lpstr>
      <vt:lpstr>Les variables aléatoires les plus usuelles: 1. La loi uniforme.</vt:lpstr>
      <vt:lpstr>Exemple: Une roulette américaine a 38 cases numérotées de 1 à 38. Si on pose X : le numéro de la case qui va sortir, alors X suit une loi  Unif (38), car chacune des cases a la même chance de sortir, et : </vt:lpstr>
      <vt:lpstr>REMARQUE: Lorsque X suit une loi discrète uniforme dans un intervalle quelconque a, b, avec a et b des nombres entiers, on note cette variable Unif(a, b)  sa fonction de masse est alors telle que:  P(X=k)=1/(b-a+1)    pour tout entier  a≤k≤b  </vt:lpstr>
      <vt:lpstr>La Loi de Bernoulli</vt:lpstr>
      <vt:lpstr>Exemple1: À chaque naissance, on peut avoir Une fille (succès) avec proba p=1/2 ou garçon (échec) avec probabilité q=1/2</vt:lpstr>
      <vt:lpstr>Exemple 2: Lorsqu’on lance un dé, soit  Succès: avoir la face 5. Échec: autres faces.</vt:lpstr>
      <vt:lpstr>Variable (loi) binomiale</vt:lpstr>
      <vt:lpstr>Exemple 1: À chaque naissance, on a soit un succès : « Avoir une fille », ou un échec : « Avoir un garçon » ; donc, P(succès) = 1/2 et P(échec) = 1/2. On suppose que ces probabilités ne changent pas avec les naissances. On prend un couple qui a 5 enfants et on pose X:le nombre de filles qui aura ce couple.</vt:lpstr>
      <vt:lpstr>Remarque: Pour appliquer la loi binomiale, il faut 4 conditions:</vt:lpstr>
      <vt:lpstr>Exemple 2: Lors d’une inspection de contrôle de qualité dans une usine, on a prélevé 10 pièces au hasard. On suppose que la probabilité qu’une pièce soit défectueuse est égale à 0,02. Déterminez la probabilité, parmi les 10 pièces contrôlées, qu’au moins une soit défectueuse. </vt:lpstr>
      <vt:lpstr>On voit d’après ces exemple, qu’une fois qu’on reconnait qu’il s’agisse d’une loi binomiale, les calculs peuvent être longs.</vt:lpstr>
      <vt:lpstr>Exemple :  Soit X  une loi β(20;0,33)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Exemple: Soit une variable aléatoire discrète X dont la fonction de masse est donnée par le tableau suivant :</dc:title>
  <dc:creator>Mhammed Mountassir</dc:creator>
  <cp:lastModifiedBy>Mhammed Mountassir</cp:lastModifiedBy>
  <cp:revision>8</cp:revision>
  <dcterms:created xsi:type="dcterms:W3CDTF">2020-09-23T10:36:09Z</dcterms:created>
  <dcterms:modified xsi:type="dcterms:W3CDTF">2021-09-23T10:37:02Z</dcterms:modified>
</cp:coreProperties>
</file>