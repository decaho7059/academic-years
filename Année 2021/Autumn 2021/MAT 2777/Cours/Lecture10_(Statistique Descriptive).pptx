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9" d="100"/>
          <a:sy n="99" d="100"/>
        </p:scale>
        <p:origin x="10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483EB9-86D7-4033-A8CA-20A75B5923C3}"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CA"/>
        </a:p>
      </dgm:t>
    </dgm:pt>
    <dgm:pt modelId="{D23725C6-AAC3-4828-AC23-8F7CA52205C6}">
      <dgm:prSet phldrT="[Texte]"/>
      <dgm:spPr/>
      <dgm:t>
        <a:bodyPr/>
        <a:lstStyle/>
        <a:p>
          <a:r>
            <a:rPr lang="fr-CA"/>
            <a:t>Variable</a:t>
          </a:r>
        </a:p>
      </dgm:t>
    </dgm:pt>
    <dgm:pt modelId="{6A044D57-DA07-4DA1-82A3-0FB9C18FA06E}" type="parTrans" cxnId="{8F0E64A7-E0AC-4B3F-B850-B604010DC566}">
      <dgm:prSet/>
      <dgm:spPr/>
      <dgm:t>
        <a:bodyPr/>
        <a:lstStyle/>
        <a:p>
          <a:endParaRPr lang="fr-CA"/>
        </a:p>
      </dgm:t>
    </dgm:pt>
    <dgm:pt modelId="{5A64CDF9-CA77-40E8-9585-DE418BC6AE70}" type="sibTrans" cxnId="{8F0E64A7-E0AC-4B3F-B850-B604010DC566}">
      <dgm:prSet/>
      <dgm:spPr/>
      <dgm:t>
        <a:bodyPr/>
        <a:lstStyle/>
        <a:p>
          <a:endParaRPr lang="fr-CA"/>
        </a:p>
      </dgm:t>
    </dgm:pt>
    <dgm:pt modelId="{5F46AE69-95C9-45FD-B938-EF8C00D447AC}">
      <dgm:prSet phldrT="[Texte]"/>
      <dgm:spPr/>
      <dgm:t>
        <a:bodyPr/>
        <a:lstStyle/>
        <a:p>
          <a:r>
            <a:rPr lang="fr-CA"/>
            <a:t>quantitative</a:t>
          </a:r>
        </a:p>
      </dgm:t>
    </dgm:pt>
    <dgm:pt modelId="{0CEA0BC7-8550-42DE-9A05-4FB4748BD560}" type="parTrans" cxnId="{1B7E0DE2-E3E2-4091-A612-6E382B7CD141}">
      <dgm:prSet/>
      <dgm:spPr/>
      <dgm:t>
        <a:bodyPr/>
        <a:lstStyle/>
        <a:p>
          <a:endParaRPr lang="fr-CA"/>
        </a:p>
      </dgm:t>
    </dgm:pt>
    <dgm:pt modelId="{7076C52A-F6E2-4611-960E-BE39630ECA4D}" type="sibTrans" cxnId="{1B7E0DE2-E3E2-4091-A612-6E382B7CD141}">
      <dgm:prSet/>
      <dgm:spPr/>
      <dgm:t>
        <a:bodyPr/>
        <a:lstStyle/>
        <a:p>
          <a:endParaRPr lang="fr-CA"/>
        </a:p>
      </dgm:t>
    </dgm:pt>
    <dgm:pt modelId="{7D72F34E-E03C-4634-B468-661DE3100665}">
      <dgm:prSet phldrT="[Texte]"/>
      <dgm:spPr/>
      <dgm:t>
        <a:bodyPr/>
        <a:lstStyle/>
        <a:p>
          <a:r>
            <a:rPr lang="fr-CA"/>
            <a:t>Discrète</a:t>
          </a:r>
        </a:p>
      </dgm:t>
    </dgm:pt>
    <dgm:pt modelId="{D56AEFC7-9FEB-4E59-9397-DC365B6AA1F4}" type="parTrans" cxnId="{A2C0D6E1-C1E3-4B24-A1E5-9A824F062A90}">
      <dgm:prSet/>
      <dgm:spPr/>
      <dgm:t>
        <a:bodyPr/>
        <a:lstStyle/>
        <a:p>
          <a:endParaRPr lang="fr-CA"/>
        </a:p>
      </dgm:t>
    </dgm:pt>
    <dgm:pt modelId="{88BD0768-EE24-4DE5-9BBA-AF0A178BD87F}" type="sibTrans" cxnId="{A2C0D6E1-C1E3-4B24-A1E5-9A824F062A90}">
      <dgm:prSet/>
      <dgm:spPr/>
      <dgm:t>
        <a:bodyPr/>
        <a:lstStyle/>
        <a:p>
          <a:endParaRPr lang="fr-CA"/>
        </a:p>
      </dgm:t>
    </dgm:pt>
    <dgm:pt modelId="{D21F2C69-3321-49FD-BA3B-B566FEC59E99}">
      <dgm:prSet phldrT="[Texte]"/>
      <dgm:spPr/>
      <dgm:t>
        <a:bodyPr/>
        <a:lstStyle/>
        <a:p>
          <a:r>
            <a:rPr lang="fr-CA"/>
            <a:t>continue</a:t>
          </a:r>
        </a:p>
      </dgm:t>
    </dgm:pt>
    <dgm:pt modelId="{F8DF4EEE-0F38-4946-9D52-5606C0594A8A}" type="parTrans" cxnId="{C569CC1D-852A-4A06-AC6D-3173B0A7A122}">
      <dgm:prSet/>
      <dgm:spPr/>
      <dgm:t>
        <a:bodyPr/>
        <a:lstStyle/>
        <a:p>
          <a:endParaRPr lang="fr-CA"/>
        </a:p>
      </dgm:t>
    </dgm:pt>
    <dgm:pt modelId="{15F98D56-16D0-433F-98B8-38A645FEA7B9}" type="sibTrans" cxnId="{C569CC1D-852A-4A06-AC6D-3173B0A7A122}">
      <dgm:prSet/>
      <dgm:spPr/>
      <dgm:t>
        <a:bodyPr/>
        <a:lstStyle/>
        <a:p>
          <a:endParaRPr lang="fr-CA"/>
        </a:p>
      </dgm:t>
    </dgm:pt>
    <dgm:pt modelId="{11AA371B-2CFA-4029-AE84-5FBBBEFEE798}">
      <dgm:prSet phldrT="[Texte]"/>
      <dgm:spPr/>
      <dgm:t>
        <a:bodyPr/>
        <a:lstStyle/>
        <a:p>
          <a:r>
            <a:rPr lang="fr-CA"/>
            <a:t>qualitative</a:t>
          </a:r>
        </a:p>
      </dgm:t>
    </dgm:pt>
    <dgm:pt modelId="{0B81445D-0B0B-4DF7-823A-72D4121FD081}" type="parTrans" cxnId="{CEE1E390-764D-4758-8D18-9E1978543C76}">
      <dgm:prSet/>
      <dgm:spPr/>
      <dgm:t>
        <a:bodyPr/>
        <a:lstStyle/>
        <a:p>
          <a:endParaRPr lang="fr-CA"/>
        </a:p>
      </dgm:t>
    </dgm:pt>
    <dgm:pt modelId="{748970AB-7742-48D2-89E2-356EC376FABD}" type="sibTrans" cxnId="{CEE1E390-764D-4758-8D18-9E1978543C76}">
      <dgm:prSet/>
      <dgm:spPr/>
      <dgm:t>
        <a:bodyPr/>
        <a:lstStyle/>
        <a:p>
          <a:endParaRPr lang="fr-CA"/>
        </a:p>
      </dgm:t>
    </dgm:pt>
    <dgm:pt modelId="{800E7FCA-3DEA-4E1D-A93C-76DAF8293F1B}">
      <dgm:prSet/>
      <dgm:spPr/>
      <dgm:t>
        <a:bodyPr/>
        <a:lstStyle/>
        <a:p>
          <a:r>
            <a:rPr lang="fr-CA"/>
            <a:t>Nominale</a:t>
          </a:r>
        </a:p>
      </dgm:t>
    </dgm:pt>
    <dgm:pt modelId="{1B554E78-7A07-4E74-8D2E-5356095F5728}" type="parTrans" cxnId="{EC2D5036-73A7-4541-8E24-E313B092CF93}">
      <dgm:prSet/>
      <dgm:spPr/>
      <dgm:t>
        <a:bodyPr/>
        <a:lstStyle/>
        <a:p>
          <a:endParaRPr lang="fr-CA"/>
        </a:p>
      </dgm:t>
    </dgm:pt>
    <dgm:pt modelId="{35F0B4FA-ABAD-4D7B-9F50-13019079821E}" type="sibTrans" cxnId="{EC2D5036-73A7-4541-8E24-E313B092CF93}">
      <dgm:prSet/>
      <dgm:spPr/>
      <dgm:t>
        <a:bodyPr/>
        <a:lstStyle/>
        <a:p>
          <a:endParaRPr lang="fr-CA"/>
        </a:p>
      </dgm:t>
    </dgm:pt>
    <dgm:pt modelId="{8191CA48-0A55-4EE6-95BA-1CA8A3E5F437}">
      <dgm:prSet/>
      <dgm:spPr/>
      <dgm:t>
        <a:bodyPr/>
        <a:lstStyle/>
        <a:p>
          <a:r>
            <a:rPr lang="fr-CA"/>
            <a:t>Ordinale</a:t>
          </a:r>
        </a:p>
      </dgm:t>
    </dgm:pt>
    <dgm:pt modelId="{BDC0A921-AA1F-486E-BCDF-BE1AF713B408}" type="parTrans" cxnId="{61C1B9E7-D8C3-439C-A43E-B28E7BCEF780}">
      <dgm:prSet/>
      <dgm:spPr/>
      <dgm:t>
        <a:bodyPr/>
        <a:lstStyle/>
        <a:p>
          <a:endParaRPr lang="fr-CA"/>
        </a:p>
      </dgm:t>
    </dgm:pt>
    <dgm:pt modelId="{59E4B6BA-DA41-4E52-97F1-23E9583CDB68}" type="sibTrans" cxnId="{61C1B9E7-D8C3-439C-A43E-B28E7BCEF780}">
      <dgm:prSet/>
      <dgm:spPr/>
      <dgm:t>
        <a:bodyPr/>
        <a:lstStyle/>
        <a:p>
          <a:endParaRPr lang="fr-CA"/>
        </a:p>
      </dgm:t>
    </dgm:pt>
    <dgm:pt modelId="{E623B8A0-F934-47B0-B413-00D6D8BF9A92}" type="pres">
      <dgm:prSet presAssocID="{54483EB9-86D7-4033-A8CA-20A75B5923C3}" presName="diagram" presStyleCnt="0">
        <dgm:presLayoutVars>
          <dgm:chPref val="1"/>
          <dgm:dir/>
          <dgm:animOne val="branch"/>
          <dgm:animLvl val="lvl"/>
          <dgm:resizeHandles val="exact"/>
        </dgm:presLayoutVars>
      </dgm:prSet>
      <dgm:spPr/>
    </dgm:pt>
    <dgm:pt modelId="{D64AC731-C4CB-42E7-AC37-229F64637CA5}" type="pres">
      <dgm:prSet presAssocID="{D23725C6-AAC3-4828-AC23-8F7CA52205C6}" presName="root1" presStyleCnt="0"/>
      <dgm:spPr/>
    </dgm:pt>
    <dgm:pt modelId="{5BAFD3F0-A9DB-42ED-B471-6240A3F50D4E}" type="pres">
      <dgm:prSet presAssocID="{D23725C6-AAC3-4828-AC23-8F7CA52205C6}" presName="LevelOneTextNode" presStyleLbl="node0" presStyleIdx="0" presStyleCnt="1">
        <dgm:presLayoutVars>
          <dgm:chPref val="3"/>
        </dgm:presLayoutVars>
      </dgm:prSet>
      <dgm:spPr/>
    </dgm:pt>
    <dgm:pt modelId="{7B42D657-C21D-44D2-A99F-9036112FE02E}" type="pres">
      <dgm:prSet presAssocID="{D23725C6-AAC3-4828-AC23-8F7CA52205C6}" presName="level2hierChild" presStyleCnt="0"/>
      <dgm:spPr/>
    </dgm:pt>
    <dgm:pt modelId="{371CD2FA-A47D-4FC8-83A6-99260B53E4DB}" type="pres">
      <dgm:prSet presAssocID="{0CEA0BC7-8550-42DE-9A05-4FB4748BD560}" presName="conn2-1" presStyleLbl="parChTrans1D2" presStyleIdx="0" presStyleCnt="2"/>
      <dgm:spPr/>
    </dgm:pt>
    <dgm:pt modelId="{A0805722-C507-46A3-A404-55C0074EE0F0}" type="pres">
      <dgm:prSet presAssocID="{0CEA0BC7-8550-42DE-9A05-4FB4748BD560}" presName="connTx" presStyleLbl="parChTrans1D2" presStyleIdx="0" presStyleCnt="2"/>
      <dgm:spPr/>
    </dgm:pt>
    <dgm:pt modelId="{2DEFEA5C-B2EA-44BA-AA28-BC5041545F39}" type="pres">
      <dgm:prSet presAssocID="{5F46AE69-95C9-45FD-B938-EF8C00D447AC}" presName="root2" presStyleCnt="0"/>
      <dgm:spPr/>
    </dgm:pt>
    <dgm:pt modelId="{1FDC871F-29FA-42C5-AE04-947F9A734C3D}" type="pres">
      <dgm:prSet presAssocID="{5F46AE69-95C9-45FD-B938-EF8C00D447AC}" presName="LevelTwoTextNode" presStyleLbl="node2" presStyleIdx="0" presStyleCnt="2">
        <dgm:presLayoutVars>
          <dgm:chPref val="3"/>
        </dgm:presLayoutVars>
      </dgm:prSet>
      <dgm:spPr/>
    </dgm:pt>
    <dgm:pt modelId="{5A0031B1-7297-4734-ABD0-EEAD3416F4B7}" type="pres">
      <dgm:prSet presAssocID="{5F46AE69-95C9-45FD-B938-EF8C00D447AC}" presName="level3hierChild" presStyleCnt="0"/>
      <dgm:spPr/>
    </dgm:pt>
    <dgm:pt modelId="{0DFEC9EC-02AE-49DC-B114-2080C3C6AAA6}" type="pres">
      <dgm:prSet presAssocID="{D56AEFC7-9FEB-4E59-9397-DC365B6AA1F4}" presName="conn2-1" presStyleLbl="parChTrans1D3" presStyleIdx="0" presStyleCnt="4"/>
      <dgm:spPr/>
    </dgm:pt>
    <dgm:pt modelId="{27CBFE83-502B-495D-A587-B6A691EDCDE1}" type="pres">
      <dgm:prSet presAssocID="{D56AEFC7-9FEB-4E59-9397-DC365B6AA1F4}" presName="connTx" presStyleLbl="parChTrans1D3" presStyleIdx="0" presStyleCnt="4"/>
      <dgm:spPr/>
    </dgm:pt>
    <dgm:pt modelId="{660726B6-5930-4C9E-A45C-D50198A49398}" type="pres">
      <dgm:prSet presAssocID="{7D72F34E-E03C-4634-B468-661DE3100665}" presName="root2" presStyleCnt="0"/>
      <dgm:spPr/>
    </dgm:pt>
    <dgm:pt modelId="{58871968-78BB-471B-8CDF-77C7FE1AC5CB}" type="pres">
      <dgm:prSet presAssocID="{7D72F34E-E03C-4634-B468-661DE3100665}" presName="LevelTwoTextNode" presStyleLbl="node3" presStyleIdx="0" presStyleCnt="4">
        <dgm:presLayoutVars>
          <dgm:chPref val="3"/>
        </dgm:presLayoutVars>
      </dgm:prSet>
      <dgm:spPr/>
    </dgm:pt>
    <dgm:pt modelId="{4C26C825-03DE-413B-B224-8EEEAC827EF8}" type="pres">
      <dgm:prSet presAssocID="{7D72F34E-E03C-4634-B468-661DE3100665}" presName="level3hierChild" presStyleCnt="0"/>
      <dgm:spPr/>
    </dgm:pt>
    <dgm:pt modelId="{6CAE9928-2D18-4BA6-B39D-D5C7FB4DE571}" type="pres">
      <dgm:prSet presAssocID="{F8DF4EEE-0F38-4946-9D52-5606C0594A8A}" presName="conn2-1" presStyleLbl="parChTrans1D3" presStyleIdx="1" presStyleCnt="4"/>
      <dgm:spPr/>
    </dgm:pt>
    <dgm:pt modelId="{4E882008-8B8F-4C1F-AECE-40A0446AC775}" type="pres">
      <dgm:prSet presAssocID="{F8DF4EEE-0F38-4946-9D52-5606C0594A8A}" presName="connTx" presStyleLbl="parChTrans1D3" presStyleIdx="1" presStyleCnt="4"/>
      <dgm:spPr/>
    </dgm:pt>
    <dgm:pt modelId="{2E0E9026-37E9-4F07-949E-D5AE7498447F}" type="pres">
      <dgm:prSet presAssocID="{D21F2C69-3321-49FD-BA3B-B566FEC59E99}" presName="root2" presStyleCnt="0"/>
      <dgm:spPr/>
    </dgm:pt>
    <dgm:pt modelId="{554D6F14-B42A-42A6-B369-563F3A5D1C82}" type="pres">
      <dgm:prSet presAssocID="{D21F2C69-3321-49FD-BA3B-B566FEC59E99}" presName="LevelTwoTextNode" presStyleLbl="node3" presStyleIdx="1" presStyleCnt="4">
        <dgm:presLayoutVars>
          <dgm:chPref val="3"/>
        </dgm:presLayoutVars>
      </dgm:prSet>
      <dgm:spPr/>
    </dgm:pt>
    <dgm:pt modelId="{CC40ED79-A800-4505-873B-FC1D600CDD1B}" type="pres">
      <dgm:prSet presAssocID="{D21F2C69-3321-49FD-BA3B-B566FEC59E99}" presName="level3hierChild" presStyleCnt="0"/>
      <dgm:spPr/>
    </dgm:pt>
    <dgm:pt modelId="{777BB10C-A038-4A21-B9B6-2BD329FD99A0}" type="pres">
      <dgm:prSet presAssocID="{0B81445D-0B0B-4DF7-823A-72D4121FD081}" presName="conn2-1" presStyleLbl="parChTrans1D2" presStyleIdx="1" presStyleCnt="2"/>
      <dgm:spPr/>
    </dgm:pt>
    <dgm:pt modelId="{4B12B798-4ABA-43BD-AA65-A24D8CFAFF27}" type="pres">
      <dgm:prSet presAssocID="{0B81445D-0B0B-4DF7-823A-72D4121FD081}" presName="connTx" presStyleLbl="parChTrans1D2" presStyleIdx="1" presStyleCnt="2"/>
      <dgm:spPr/>
    </dgm:pt>
    <dgm:pt modelId="{A3701674-40BC-44BC-9032-09B21F26FF80}" type="pres">
      <dgm:prSet presAssocID="{11AA371B-2CFA-4029-AE84-5FBBBEFEE798}" presName="root2" presStyleCnt="0"/>
      <dgm:spPr/>
    </dgm:pt>
    <dgm:pt modelId="{1AC0CBBA-CF7D-46FA-AD43-2AA6D96A5199}" type="pres">
      <dgm:prSet presAssocID="{11AA371B-2CFA-4029-AE84-5FBBBEFEE798}" presName="LevelTwoTextNode" presStyleLbl="node2" presStyleIdx="1" presStyleCnt="2">
        <dgm:presLayoutVars>
          <dgm:chPref val="3"/>
        </dgm:presLayoutVars>
      </dgm:prSet>
      <dgm:spPr/>
    </dgm:pt>
    <dgm:pt modelId="{ED71ED22-1F86-4068-8EF7-2F65C5C31A42}" type="pres">
      <dgm:prSet presAssocID="{11AA371B-2CFA-4029-AE84-5FBBBEFEE798}" presName="level3hierChild" presStyleCnt="0"/>
      <dgm:spPr/>
    </dgm:pt>
    <dgm:pt modelId="{07274C33-A65B-44C4-96B3-33A14AAFE9DE}" type="pres">
      <dgm:prSet presAssocID="{1B554E78-7A07-4E74-8D2E-5356095F5728}" presName="conn2-1" presStyleLbl="parChTrans1D3" presStyleIdx="2" presStyleCnt="4"/>
      <dgm:spPr/>
    </dgm:pt>
    <dgm:pt modelId="{6E3CFDBA-F57F-44F1-B252-49082D3AD160}" type="pres">
      <dgm:prSet presAssocID="{1B554E78-7A07-4E74-8D2E-5356095F5728}" presName="connTx" presStyleLbl="parChTrans1D3" presStyleIdx="2" presStyleCnt="4"/>
      <dgm:spPr/>
    </dgm:pt>
    <dgm:pt modelId="{8D40C3B0-55FF-4287-AEEE-A8F7D354320C}" type="pres">
      <dgm:prSet presAssocID="{800E7FCA-3DEA-4E1D-A93C-76DAF8293F1B}" presName="root2" presStyleCnt="0"/>
      <dgm:spPr/>
    </dgm:pt>
    <dgm:pt modelId="{1B960408-F617-45EF-974D-8CE3F8A91067}" type="pres">
      <dgm:prSet presAssocID="{800E7FCA-3DEA-4E1D-A93C-76DAF8293F1B}" presName="LevelTwoTextNode" presStyleLbl="node3" presStyleIdx="2" presStyleCnt="4">
        <dgm:presLayoutVars>
          <dgm:chPref val="3"/>
        </dgm:presLayoutVars>
      </dgm:prSet>
      <dgm:spPr/>
    </dgm:pt>
    <dgm:pt modelId="{6EF841E3-E4A3-407A-A984-C875E87B6E32}" type="pres">
      <dgm:prSet presAssocID="{800E7FCA-3DEA-4E1D-A93C-76DAF8293F1B}" presName="level3hierChild" presStyleCnt="0"/>
      <dgm:spPr/>
    </dgm:pt>
    <dgm:pt modelId="{CAD3E58D-FD5C-49F5-8E9D-1DD26B24DFD2}" type="pres">
      <dgm:prSet presAssocID="{BDC0A921-AA1F-486E-BCDF-BE1AF713B408}" presName="conn2-1" presStyleLbl="parChTrans1D3" presStyleIdx="3" presStyleCnt="4"/>
      <dgm:spPr/>
    </dgm:pt>
    <dgm:pt modelId="{F347F5FD-2A48-4B10-9BC5-B1E6B7572A67}" type="pres">
      <dgm:prSet presAssocID="{BDC0A921-AA1F-486E-BCDF-BE1AF713B408}" presName="connTx" presStyleLbl="parChTrans1D3" presStyleIdx="3" presStyleCnt="4"/>
      <dgm:spPr/>
    </dgm:pt>
    <dgm:pt modelId="{72FEE75A-5672-48B0-8A52-6D47E78608BD}" type="pres">
      <dgm:prSet presAssocID="{8191CA48-0A55-4EE6-95BA-1CA8A3E5F437}" presName="root2" presStyleCnt="0"/>
      <dgm:spPr/>
    </dgm:pt>
    <dgm:pt modelId="{261AEE4B-53F2-43F4-998A-46C07A72197E}" type="pres">
      <dgm:prSet presAssocID="{8191CA48-0A55-4EE6-95BA-1CA8A3E5F437}" presName="LevelTwoTextNode" presStyleLbl="node3" presStyleIdx="3" presStyleCnt="4">
        <dgm:presLayoutVars>
          <dgm:chPref val="3"/>
        </dgm:presLayoutVars>
      </dgm:prSet>
      <dgm:spPr/>
    </dgm:pt>
    <dgm:pt modelId="{7DE1BF29-C47F-462C-AE79-DA5B147DFC4D}" type="pres">
      <dgm:prSet presAssocID="{8191CA48-0A55-4EE6-95BA-1CA8A3E5F437}" presName="level3hierChild" presStyleCnt="0"/>
      <dgm:spPr/>
    </dgm:pt>
  </dgm:ptLst>
  <dgm:cxnLst>
    <dgm:cxn modelId="{7DB69307-CD24-453E-AA30-F3CBD1A27095}" type="presOf" srcId="{D56AEFC7-9FEB-4E59-9397-DC365B6AA1F4}" destId="{27CBFE83-502B-495D-A587-B6A691EDCDE1}" srcOrd="1" destOrd="0" presId="urn:microsoft.com/office/officeart/2005/8/layout/hierarchy2"/>
    <dgm:cxn modelId="{55ABD30A-0508-4A30-8B3F-074DFC8B5801}" type="presOf" srcId="{D21F2C69-3321-49FD-BA3B-B566FEC59E99}" destId="{554D6F14-B42A-42A6-B369-563F3A5D1C82}" srcOrd="0" destOrd="0" presId="urn:microsoft.com/office/officeart/2005/8/layout/hierarchy2"/>
    <dgm:cxn modelId="{0F13E00A-1AF6-4886-87B6-42912ADE856B}" type="presOf" srcId="{BDC0A921-AA1F-486E-BCDF-BE1AF713B408}" destId="{CAD3E58D-FD5C-49F5-8E9D-1DD26B24DFD2}" srcOrd="0" destOrd="0" presId="urn:microsoft.com/office/officeart/2005/8/layout/hierarchy2"/>
    <dgm:cxn modelId="{ECACBE15-6E3D-4E86-80FB-8824CFAC5353}" type="presOf" srcId="{1B554E78-7A07-4E74-8D2E-5356095F5728}" destId="{6E3CFDBA-F57F-44F1-B252-49082D3AD160}" srcOrd="1" destOrd="0" presId="urn:microsoft.com/office/officeart/2005/8/layout/hierarchy2"/>
    <dgm:cxn modelId="{C569CC1D-852A-4A06-AC6D-3173B0A7A122}" srcId="{5F46AE69-95C9-45FD-B938-EF8C00D447AC}" destId="{D21F2C69-3321-49FD-BA3B-B566FEC59E99}" srcOrd="1" destOrd="0" parTransId="{F8DF4EEE-0F38-4946-9D52-5606C0594A8A}" sibTransId="{15F98D56-16D0-433F-98B8-38A645FEA7B9}"/>
    <dgm:cxn modelId="{3C4BBE32-A2AA-4EAC-B758-49D9B9A76B42}" type="presOf" srcId="{5F46AE69-95C9-45FD-B938-EF8C00D447AC}" destId="{1FDC871F-29FA-42C5-AE04-947F9A734C3D}" srcOrd="0" destOrd="0" presId="urn:microsoft.com/office/officeart/2005/8/layout/hierarchy2"/>
    <dgm:cxn modelId="{EC2D5036-73A7-4541-8E24-E313B092CF93}" srcId="{11AA371B-2CFA-4029-AE84-5FBBBEFEE798}" destId="{800E7FCA-3DEA-4E1D-A93C-76DAF8293F1B}" srcOrd="0" destOrd="0" parTransId="{1B554E78-7A07-4E74-8D2E-5356095F5728}" sibTransId="{35F0B4FA-ABAD-4D7B-9F50-13019079821E}"/>
    <dgm:cxn modelId="{CF58F737-3D6F-4953-811F-EC1E3CDF5457}" type="presOf" srcId="{0B81445D-0B0B-4DF7-823A-72D4121FD081}" destId="{777BB10C-A038-4A21-B9B6-2BD329FD99A0}" srcOrd="0" destOrd="0" presId="urn:microsoft.com/office/officeart/2005/8/layout/hierarchy2"/>
    <dgm:cxn modelId="{C7AF4665-F75E-4BEE-8038-7D0D16F4E9A1}" type="presOf" srcId="{D23725C6-AAC3-4828-AC23-8F7CA52205C6}" destId="{5BAFD3F0-A9DB-42ED-B471-6240A3F50D4E}" srcOrd="0" destOrd="0" presId="urn:microsoft.com/office/officeart/2005/8/layout/hierarchy2"/>
    <dgm:cxn modelId="{5A4CDA4A-FD45-4C70-A6AF-4DE9B44415C9}" type="presOf" srcId="{D56AEFC7-9FEB-4E59-9397-DC365B6AA1F4}" destId="{0DFEC9EC-02AE-49DC-B114-2080C3C6AAA6}" srcOrd="0" destOrd="0" presId="urn:microsoft.com/office/officeart/2005/8/layout/hierarchy2"/>
    <dgm:cxn modelId="{D013584F-2368-4279-99FE-8BEE19254DDD}" type="presOf" srcId="{0CEA0BC7-8550-42DE-9A05-4FB4748BD560}" destId="{A0805722-C507-46A3-A404-55C0074EE0F0}" srcOrd="1" destOrd="0" presId="urn:microsoft.com/office/officeart/2005/8/layout/hierarchy2"/>
    <dgm:cxn modelId="{35F4EC71-C2ED-4200-8DF1-BD02A2F001C0}" type="presOf" srcId="{0B81445D-0B0B-4DF7-823A-72D4121FD081}" destId="{4B12B798-4ABA-43BD-AA65-A24D8CFAFF27}" srcOrd="1" destOrd="0" presId="urn:microsoft.com/office/officeart/2005/8/layout/hierarchy2"/>
    <dgm:cxn modelId="{E2794774-0923-4831-96A3-7813DF287787}" type="presOf" srcId="{F8DF4EEE-0F38-4946-9D52-5606C0594A8A}" destId="{4E882008-8B8F-4C1F-AECE-40A0446AC775}" srcOrd="1" destOrd="0" presId="urn:microsoft.com/office/officeart/2005/8/layout/hierarchy2"/>
    <dgm:cxn modelId="{EB1C4183-8E2F-42E6-95EC-9EFD638ABD1B}" type="presOf" srcId="{0CEA0BC7-8550-42DE-9A05-4FB4748BD560}" destId="{371CD2FA-A47D-4FC8-83A6-99260B53E4DB}" srcOrd="0" destOrd="0" presId="urn:microsoft.com/office/officeart/2005/8/layout/hierarchy2"/>
    <dgm:cxn modelId="{CEE1E390-764D-4758-8D18-9E1978543C76}" srcId="{D23725C6-AAC3-4828-AC23-8F7CA52205C6}" destId="{11AA371B-2CFA-4029-AE84-5FBBBEFEE798}" srcOrd="1" destOrd="0" parTransId="{0B81445D-0B0B-4DF7-823A-72D4121FD081}" sibTransId="{748970AB-7742-48D2-89E2-356EC376FABD}"/>
    <dgm:cxn modelId="{EDD056A1-F07D-4C2D-A1EF-70DD69A45867}" type="presOf" srcId="{BDC0A921-AA1F-486E-BCDF-BE1AF713B408}" destId="{F347F5FD-2A48-4B10-9BC5-B1E6B7572A67}" srcOrd="1" destOrd="0" presId="urn:microsoft.com/office/officeart/2005/8/layout/hierarchy2"/>
    <dgm:cxn modelId="{918313A2-2A89-4594-B1CE-45B95DBD8B2F}" type="presOf" srcId="{8191CA48-0A55-4EE6-95BA-1CA8A3E5F437}" destId="{261AEE4B-53F2-43F4-998A-46C07A72197E}" srcOrd="0" destOrd="0" presId="urn:microsoft.com/office/officeart/2005/8/layout/hierarchy2"/>
    <dgm:cxn modelId="{8F0E64A7-E0AC-4B3F-B850-B604010DC566}" srcId="{54483EB9-86D7-4033-A8CA-20A75B5923C3}" destId="{D23725C6-AAC3-4828-AC23-8F7CA52205C6}" srcOrd="0" destOrd="0" parTransId="{6A044D57-DA07-4DA1-82A3-0FB9C18FA06E}" sibTransId="{5A64CDF9-CA77-40E8-9585-DE418BC6AE70}"/>
    <dgm:cxn modelId="{D0A519C3-4831-4905-830F-2EAA0F75DE65}" type="presOf" srcId="{11AA371B-2CFA-4029-AE84-5FBBBEFEE798}" destId="{1AC0CBBA-CF7D-46FA-AD43-2AA6D96A5199}" srcOrd="0" destOrd="0" presId="urn:microsoft.com/office/officeart/2005/8/layout/hierarchy2"/>
    <dgm:cxn modelId="{66A8E7C7-A519-4C4B-A3E0-67BF7C7961BD}" type="presOf" srcId="{800E7FCA-3DEA-4E1D-A93C-76DAF8293F1B}" destId="{1B960408-F617-45EF-974D-8CE3F8A91067}" srcOrd="0" destOrd="0" presId="urn:microsoft.com/office/officeart/2005/8/layout/hierarchy2"/>
    <dgm:cxn modelId="{F367C0CC-84FB-4E00-9DED-B3F0C41A8363}" type="presOf" srcId="{54483EB9-86D7-4033-A8CA-20A75B5923C3}" destId="{E623B8A0-F934-47B0-B413-00D6D8BF9A92}" srcOrd="0" destOrd="0" presId="urn:microsoft.com/office/officeart/2005/8/layout/hierarchy2"/>
    <dgm:cxn modelId="{816BC0D0-A126-45B1-B537-091A8B13D4DA}" type="presOf" srcId="{1B554E78-7A07-4E74-8D2E-5356095F5728}" destId="{07274C33-A65B-44C4-96B3-33A14AAFE9DE}" srcOrd="0" destOrd="0" presId="urn:microsoft.com/office/officeart/2005/8/layout/hierarchy2"/>
    <dgm:cxn modelId="{0BA38DE1-236E-4637-98D6-2A4A6F00879C}" type="presOf" srcId="{7D72F34E-E03C-4634-B468-661DE3100665}" destId="{58871968-78BB-471B-8CDF-77C7FE1AC5CB}" srcOrd="0" destOrd="0" presId="urn:microsoft.com/office/officeart/2005/8/layout/hierarchy2"/>
    <dgm:cxn modelId="{A2C0D6E1-C1E3-4B24-A1E5-9A824F062A90}" srcId="{5F46AE69-95C9-45FD-B938-EF8C00D447AC}" destId="{7D72F34E-E03C-4634-B468-661DE3100665}" srcOrd="0" destOrd="0" parTransId="{D56AEFC7-9FEB-4E59-9397-DC365B6AA1F4}" sibTransId="{88BD0768-EE24-4DE5-9BBA-AF0A178BD87F}"/>
    <dgm:cxn modelId="{1B7E0DE2-E3E2-4091-A612-6E382B7CD141}" srcId="{D23725C6-AAC3-4828-AC23-8F7CA52205C6}" destId="{5F46AE69-95C9-45FD-B938-EF8C00D447AC}" srcOrd="0" destOrd="0" parTransId="{0CEA0BC7-8550-42DE-9A05-4FB4748BD560}" sibTransId="{7076C52A-F6E2-4611-960E-BE39630ECA4D}"/>
    <dgm:cxn modelId="{569627E4-E271-4700-A80B-0BBF26834615}" type="presOf" srcId="{F8DF4EEE-0F38-4946-9D52-5606C0594A8A}" destId="{6CAE9928-2D18-4BA6-B39D-D5C7FB4DE571}" srcOrd="0" destOrd="0" presId="urn:microsoft.com/office/officeart/2005/8/layout/hierarchy2"/>
    <dgm:cxn modelId="{61C1B9E7-D8C3-439C-A43E-B28E7BCEF780}" srcId="{11AA371B-2CFA-4029-AE84-5FBBBEFEE798}" destId="{8191CA48-0A55-4EE6-95BA-1CA8A3E5F437}" srcOrd="1" destOrd="0" parTransId="{BDC0A921-AA1F-486E-BCDF-BE1AF713B408}" sibTransId="{59E4B6BA-DA41-4E52-97F1-23E9583CDB68}"/>
    <dgm:cxn modelId="{02EA6CAE-A871-4C28-BA97-EF3FB9577A97}" type="presParOf" srcId="{E623B8A0-F934-47B0-B413-00D6D8BF9A92}" destId="{D64AC731-C4CB-42E7-AC37-229F64637CA5}" srcOrd="0" destOrd="0" presId="urn:microsoft.com/office/officeart/2005/8/layout/hierarchy2"/>
    <dgm:cxn modelId="{D5E0D25C-B7B8-4811-BCE3-18A610EF2D06}" type="presParOf" srcId="{D64AC731-C4CB-42E7-AC37-229F64637CA5}" destId="{5BAFD3F0-A9DB-42ED-B471-6240A3F50D4E}" srcOrd="0" destOrd="0" presId="urn:microsoft.com/office/officeart/2005/8/layout/hierarchy2"/>
    <dgm:cxn modelId="{FAB2EBFE-A54D-4326-B6C7-D0DFE8A49CFE}" type="presParOf" srcId="{D64AC731-C4CB-42E7-AC37-229F64637CA5}" destId="{7B42D657-C21D-44D2-A99F-9036112FE02E}" srcOrd="1" destOrd="0" presId="urn:microsoft.com/office/officeart/2005/8/layout/hierarchy2"/>
    <dgm:cxn modelId="{4E8526D3-B082-4932-AFC1-B69BC96609F6}" type="presParOf" srcId="{7B42D657-C21D-44D2-A99F-9036112FE02E}" destId="{371CD2FA-A47D-4FC8-83A6-99260B53E4DB}" srcOrd="0" destOrd="0" presId="urn:microsoft.com/office/officeart/2005/8/layout/hierarchy2"/>
    <dgm:cxn modelId="{6ED732CF-43ED-48F9-8F43-A43BDC523287}" type="presParOf" srcId="{371CD2FA-A47D-4FC8-83A6-99260B53E4DB}" destId="{A0805722-C507-46A3-A404-55C0074EE0F0}" srcOrd="0" destOrd="0" presId="urn:microsoft.com/office/officeart/2005/8/layout/hierarchy2"/>
    <dgm:cxn modelId="{5BEA56AC-F576-40B7-AD4D-EA9357491339}" type="presParOf" srcId="{7B42D657-C21D-44D2-A99F-9036112FE02E}" destId="{2DEFEA5C-B2EA-44BA-AA28-BC5041545F39}" srcOrd="1" destOrd="0" presId="urn:microsoft.com/office/officeart/2005/8/layout/hierarchy2"/>
    <dgm:cxn modelId="{2C3101BC-9817-4844-8A4D-ADCF1C84D8AA}" type="presParOf" srcId="{2DEFEA5C-B2EA-44BA-AA28-BC5041545F39}" destId="{1FDC871F-29FA-42C5-AE04-947F9A734C3D}" srcOrd="0" destOrd="0" presId="urn:microsoft.com/office/officeart/2005/8/layout/hierarchy2"/>
    <dgm:cxn modelId="{762EE322-4F90-40ED-9CD0-5262AEC14309}" type="presParOf" srcId="{2DEFEA5C-B2EA-44BA-AA28-BC5041545F39}" destId="{5A0031B1-7297-4734-ABD0-EEAD3416F4B7}" srcOrd="1" destOrd="0" presId="urn:microsoft.com/office/officeart/2005/8/layout/hierarchy2"/>
    <dgm:cxn modelId="{9DC255CD-2A0A-4802-A863-AC28D03F7D55}" type="presParOf" srcId="{5A0031B1-7297-4734-ABD0-EEAD3416F4B7}" destId="{0DFEC9EC-02AE-49DC-B114-2080C3C6AAA6}" srcOrd="0" destOrd="0" presId="urn:microsoft.com/office/officeart/2005/8/layout/hierarchy2"/>
    <dgm:cxn modelId="{87553B57-1463-45EF-ACD6-BB986F2A9213}" type="presParOf" srcId="{0DFEC9EC-02AE-49DC-B114-2080C3C6AAA6}" destId="{27CBFE83-502B-495D-A587-B6A691EDCDE1}" srcOrd="0" destOrd="0" presId="urn:microsoft.com/office/officeart/2005/8/layout/hierarchy2"/>
    <dgm:cxn modelId="{EBD2DF46-0992-406E-B0CB-22FFB6A55CA2}" type="presParOf" srcId="{5A0031B1-7297-4734-ABD0-EEAD3416F4B7}" destId="{660726B6-5930-4C9E-A45C-D50198A49398}" srcOrd="1" destOrd="0" presId="urn:microsoft.com/office/officeart/2005/8/layout/hierarchy2"/>
    <dgm:cxn modelId="{ACD61DBE-2D2C-405D-A1F8-D434EEA329DB}" type="presParOf" srcId="{660726B6-5930-4C9E-A45C-D50198A49398}" destId="{58871968-78BB-471B-8CDF-77C7FE1AC5CB}" srcOrd="0" destOrd="0" presId="urn:microsoft.com/office/officeart/2005/8/layout/hierarchy2"/>
    <dgm:cxn modelId="{42C1DEAD-BE8F-4937-9EBD-C51564098BA5}" type="presParOf" srcId="{660726B6-5930-4C9E-A45C-D50198A49398}" destId="{4C26C825-03DE-413B-B224-8EEEAC827EF8}" srcOrd="1" destOrd="0" presId="urn:microsoft.com/office/officeart/2005/8/layout/hierarchy2"/>
    <dgm:cxn modelId="{36E2C3FB-034E-4E9A-935E-CBE022471749}" type="presParOf" srcId="{5A0031B1-7297-4734-ABD0-EEAD3416F4B7}" destId="{6CAE9928-2D18-4BA6-B39D-D5C7FB4DE571}" srcOrd="2" destOrd="0" presId="urn:microsoft.com/office/officeart/2005/8/layout/hierarchy2"/>
    <dgm:cxn modelId="{004380B2-7A1C-477F-964B-2FB116458DC4}" type="presParOf" srcId="{6CAE9928-2D18-4BA6-B39D-D5C7FB4DE571}" destId="{4E882008-8B8F-4C1F-AECE-40A0446AC775}" srcOrd="0" destOrd="0" presId="urn:microsoft.com/office/officeart/2005/8/layout/hierarchy2"/>
    <dgm:cxn modelId="{F5B7FB01-1FCF-4072-8A9D-F73418533CA8}" type="presParOf" srcId="{5A0031B1-7297-4734-ABD0-EEAD3416F4B7}" destId="{2E0E9026-37E9-4F07-949E-D5AE7498447F}" srcOrd="3" destOrd="0" presId="urn:microsoft.com/office/officeart/2005/8/layout/hierarchy2"/>
    <dgm:cxn modelId="{042B5C25-6EA8-419D-B1CD-766C83984931}" type="presParOf" srcId="{2E0E9026-37E9-4F07-949E-D5AE7498447F}" destId="{554D6F14-B42A-42A6-B369-563F3A5D1C82}" srcOrd="0" destOrd="0" presId="urn:microsoft.com/office/officeart/2005/8/layout/hierarchy2"/>
    <dgm:cxn modelId="{B0120C6D-72A6-4D40-B9A8-781CA1BD928E}" type="presParOf" srcId="{2E0E9026-37E9-4F07-949E-D5AE7498447F}" destId="{CC40ED79-A800-4505-873B-FC1D600CDD1B}" srcOrd="1" destOrd="0" presId="urn:microsoft.com/office/officeart/2005/8/layout/hierarchy2"/>
    <dgm:cxn modelId="{0AEAEDF5-6F07-43A9-ADD6-9E49035B676E}" type="presParOf" srcId="{7B42D657-C21D-44D2-A99F-9036112FE02E}" destId="{777BB10C-A038-4A21-B9B6-2BD329FD99A0}" srcOrd="2" destOrd="0" presId="urn:microsoft.com/office/officeart/2005/8/layout/hierarchy2"/>
    <dgm:cxn modelId="{16F56184-EA95-4A08-BAFE-BE8C8F2B062F}" type="presParOf" srcId="{777BB10C-A038-4A21-B9B6-2BD329FD99A0}" destId="{4B12B798-4ABA-43BD-AA65-A24D8CFAFF27}" srcOrd="0" destOrd="0" presId="urn:microsoft.com/office/officeart/2005/8/layout/hierarchy2"/>
    <dgm:cxn modelId="{55DA3AB9-E6E1-4008-83DC-94CA39080E40}" type="presParOf" srcId="{7B42D657-C21D-44D2-A99F-9036112FE02E}" destId="{A3701674-40BC-44BC-9032-09B21F26FF80}" srcOrd="3" destOrd="0" presId="urn:microsoft.com/office/officeart/2005/8/layout/hierarchy2"/>
    <dgm:cxn modelId="{4A62B08A-1BDC-45B2-AEC2-AEAC01C3ED77}" type="presParOf" srcId="{A3701674-40BC-44BC-9032-09B21F26FF80}" destId="{1AC0CBBA-CF7D-46FA-AD43-2AA6D96A5199}" srcOrd="0" destOrd="0" presId="urn:microsoft.com/office/officeart/2005/8/layout/hierarchy2"/>
    <dgm:cxn modelId="{C31E7202-132E-4A6C-BF26-5F3DD856D72D}" type="presParOf" srcId="{A3701674-40BC-44BC-9032-09B21F26FF80}" destId="{ED71ED22-1F86-4068-8EF7-2F65C5C31A42}" srcOrd="1" destOrd="0" presId="urn:microsoft.com/office/officeart/2005/8/layout/hierarchy2"/>
    <dgm:cxn modelId="{06CD8F06-7474-4D22-84CD-7468057FACCB}" type="presParOf" srcId="{ED71ED22-1F86-4068-8EF7-2F65C5C31A42}" destId="{07274C33-A65B-44C4-96B3-33A14AAFE9DE}" srcOrd="0" destOrd="0" presId="urn:microsoft.com/office/officeart/2005/8/layout/hierarchy2"/>
    <dgm:cxn modelId="{7054B92C-5352-4EC2-A5EB-206D38DF3552}" type="presParOf" srcId="{07274C33-A65B-44C4-96B3-33A14AAFE9DE}" destId="{6E3CFDBA-F57F-44F1-B252-49082D3AD160}" srcOrd="0" destOrd="0" presId="urn:microsoft.com/office/officeart/2005/8/layout/hierarchy2"/>
    <dgm:cxn modelId="{3C4C6E52-E7D1-4378-8D3F-1D1A060BB834}" type="presParOf" srcId="{ED71ED22-1F86-4068-8EF7-2F65C5C31A42}" destId="{8D40C3B0-55FF-4287-AEEE-A8F7D354320C}" srcOrd="1" destOrd="0" presId="urn:microsoft.com/office/officeart/2005/8/layout/hierarchy2"/>
    <dgm:cxn modelId="{F4DE25FE-48B0-4251-A937-3356B7FF2FD5}" type="presParOf" srcId="{8D40C3B0-55FF-4287-AEEE-A8F7D354320C}" destId="{1B960408-F617-45EF-974D-8CE3F8A91067}" srcOrd="0" destOrd="0" presId="urn:microsoft.com/office/officeart/2005/8/layout/hierarchy2"/>
    <dgm:cxn modelId="{F2C1B33F-801F-4875-89C9-D484EE565278}" type="presParOf" srcId="{8D40C3B0-55FF-4287-AEEE-A8F7D354320C}" destId="{6EF841E3-E4A3-407A-A984-C875E87B6E32}" srcOrd="1" destOrd="0" presId="urn:microsoft.com/office/officeart/2005/8/layout/hierarchy2"/>
    <dgm:cxn modelId="{7EFFD3B2-081C-4948-99A2-A9995052EABD}" type="presParOf" srcId="{ED71ED22-1F86-4068-8EF7-2F65C5C31A42}" destId="{CAD3E58D-FD5C-49F5-8E9D-1DD26B24DFD2}" srcOrd="2" destOrd="0" presId="urn:microsoft.com/office/officeart/2005/8/layout/hierarchy2"/>
    <dgm:cxn modelId="{4E87A07F-47AB-4843-A482-A698B75EDD33}" type="presParOf" srcId="{CAD3E58D-FD5C-49F5-8E9D-1DD26B24DFD2}" destId="{F347F5FD-2A48-4B10-9BC5-B1E6B7572A67}" srcOrd="0" destOrd="0" presId="urn:microsoft.com/office/officeart/2005/8/layout/hierarchy2"/>
    <dgm:cxn modelId="{4D79C942-1F89-4495-A57A-9D0C07BC9942}" type="presParOf" srcId="{ED71ED22-1F86-4068-8EF7-2F65C5C31A42}" destId="{72FEE75A-5672-48B0-8A52-6D47E78608BD}" srcOrd="3" destOrd="0" presId="urn:microsoft.com/office/officeart/2005/8/layout/hierarchy2"/>
    <dgm:cxn modelId="{D9B22553-44DE-4106-B885-44C0BA2FBF34}" type="presParOf" srcId="{72FEE75A-5672-48B0-8A52-6D47E78608BD}" destId="{261AEE4B-53F2-43F4-998A-46C07A72197E}" srcOrd="0" destOrd="0" presId="urn:microsoft.com/office/officeart/2005/8/layout/hierarchy2"/>
    <dgm:cxn modelId="{A36A02CB-8018-4003-9460-B207A0DC96F2}" type="presParOf" srcId="{72FEE75A-5672-48B0-8A52-6D47E78608BD}" destId="{7DE1BF29-C47F-462C-AE79-DA5B147DFC4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FD3F0-A9DB-42ED-B471-6240A3F50D4E}">
      <dsp:nvSpPr>
        <dsp:cNvPr id="0" name=""/>
        <dsp:cNvSpPr/>
      </dsp:nvSpPr>
      <dsp:spPr>
        <a:xfrm>
          <a:off x="401908" y="1165352"/>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Variable</a:t>
          </a:r>
        </a:p>
      </dsp:txBody>
      <dsp:txXfrm>
        <a:off x="421682" y="1185126"/>
        <a:ext cx="1310734" cy="635593"/>
      </dsp:txXfrm>
    </dsp:sp>
    <dsp:sp modelId="{371CD2FA-A47D-4FC8-83A6-99260B53E4DB}">
      <dsp:nvSpPr>
        <dsp:cNvPr id="0" name=""/>
        <dsp:cNvSpPr/>
      </dsp:nvSpPr>
      <dsp:spPr>
        <a:xfrm rot="18289469">
          <a:off x="1549347" y="1094502"/>
          <a:ext cx="945800" cy="40429"/>
        </a:xfrm>
        <a:custGeom>
          <a:avLst/>
          <a:gdLst/>
          <a:ahLst/>
          <a:cxnLst/>
          <a:rect l="0" t="0" r="0" b="0"/>
          <a:pathLst>
            <a:path>
              <a:moveTo>
                <a:pt x="0" y="20214"/>
              </a:moveTo>
              <a:lnTo>
                <a:pt x="945800"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1998602" y="1091072"/>
        <a:ext cx="47290" cy="47290"/>
      </dsp:txXfrm>
    </dsp:sp>
    <dsp:sp modelId="{1FDC871F-29FA-42C5-AE04-947F9A734C3D}">
      <dsp:nvSpPr>
        <dsp:cNvPr id="0" name=""/>
        <dsp:cNvSpPr/>
      </dsp:nvSpPr>
      <dsp:spPr>
        <a:xfrm>
          <a:off x="2292304" y="388940"/>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quantitative</a:t>
          </a:r>
        </a:p>
      </dsp:txBody>
      <dsp:txXfrm>
        <a:off x="2312078" y="408714"/>
        <a:ext cx="1310734" cy="635593"/>
      </dsp:txXfrm>
    </dsp:sp>
    <dsp:sp modelId="{0DFEC9EC-02AE-49DC-B114-2080C3C6AAA6}">
      <dsp:nvSpPr>
        <dsp:cNvPr id="0" name=""/>
        <dsp:cNvSpPr/>
      </dsp:nvSpPr>
      <dsp:spPr>
        <a:xfrm rot="19457599">
          <a:off x="3580067" y="512192"/>
          <a:ext cx="665151" cy="40429"/>
        </a:xfrm>
        <a:custGeom>
          <a:avLst/>
          <a:gdLst/>
          <a:ahLst/>
          <a:cxnLst/>
          <a:rect l="0" t="0" r="0" b="0"/>
          <a:pathLst>
            <a:path>
              <a:moveTo>
                <a:pt x="0" y="20214"/>
              </a:moveTo>
              <a:lnTo>
                <a:pt x="665151"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896014" y="515778"/>
        <a:ext cx="33257" cy="33257"/>
      </dsp:txXfrm>
    </dsp:sp>
    <dsp:sp modelId="{58871968-78BB-471B-8CDF-77C7FE1AC5CB}">
      <dsp:nvSpPr>
        <dsp:cNvPr id="0" name=""/>
        <dsp:cNvSpPr/>
      </dsp:nvSpPr>
      <dsp:spPr>
        <a:xfrm>
          <a:off x="4182700" y="733"/>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Discrète</a:t>
          </a:r>
        </a:p>
      </dsp:txBody>
      <dsp:txXfrm>
        <a:off x="4202474" y="20507"/>
        <a:ext cx="1310734" cy="635593"/>
      </dsp:txXfrm>
    </dsp:sp>
    <dsp:sp modelId="{6CAE9928-2D18-4BA6-B39D-D5C7FB4DE571}">
      <dsp:nvSpPr>
        <dsp:cNvPr id="0" name=""/>
        <dsp:cNvSpPr/>
      </dsp:nvSpPr>
      <dsp:spPr>
        <a:xfrm rot="2142401">
          <a:off x="3580067" y="900399"/>
          <a:ext cx="665151" cy="40429"/>
        </a:xfrm>
        <a:custGeom>
          <a:avLst/>
          <a:gdLst/>
          <a:ahLst/>
          <a:cxnLst/>
          <a:rect l="0" t="0" r="0" b="0"/>
          <a:pathLst>
            <a:path>
              <a:moveTo>
                <a:pt x="0" y="20214"/>
              </a:moveTo>
              <a:lnTo>
                <a:pt x="665151"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896014" y="903985"/>
        <a:ext cx="33257" cy="33257"/>
      </dsp:txXfrm>
    </dsp:sp>
    <dsp:sp modelId="{554D6F14-B42A-42A6-B369-563F3A5D1C82}">
      <dsp:nvSpPr>
        <dsp:cNvPr id="0" name=""/>
        <dsp:cNvSpPr/>
      </dsp:nvSpPr>
      <dsp:spPr>
        <a:xfrm>
          <a:off x="4182700" y="777146"/>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continue</a:t>
          </a:r>
        </a:p>
      </dsp:txBody>
      <dsp:txXfrm>
        <a:off x="4202474" y="796920"/>
        <a:ext cx="1310734" cy="635593"/>
      </dsp:txXfrm>
    </dsp:sp>
    <dsp:sp modelId="{777BB10C-A038-4A21-B9B6-2BD329FD99A0}">
      <dsp:nvSpPr>
        <dsp:cNvPr id="0" name=""/>
        <dsp:cNvSpPr/>
      </dsp:nvSpPr>
      <dsp:spPr>
        <a:xfrm rot="3310531">
          <a:off x="1549347" y="1870914"/>
          <a:ext cx="945800" cy="40429"/>
        </a:xfrm>
        <a:custGeom>
          <a:avLst/>
          <a:gdLst/>
          <a:ahLst/>
          <a:cxnLst/>
          <a:rect l="0" t="0" r="0" b="0"/>
          <a:pathLst>
            <a:path>
              <a:moveTo>
                <a:pt x="0" y="20214"/>
              </a:moveTo>
              <a:lnTo>
                <a:pt x="945800"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1998602" y="1867484"/>
        <a:ext cx="47290" cy="47290"/>
      </dsp:txXfrm>
    </dsp:sp>
    <dsp:sp modelId="{1AC0CBBA-CF7D-46FA-AD43-2AA6D96A5199}">
      <dsp:nvSpPr>
        <dsp:cNvPr id="0" name=""/>
        <dsp:cNvSpPr/>
      </dsp:nvSpPr>
      <dsp:spPr>
        <a:xfrm>
          <a:off x="2292304" y="1941765"/>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qualitative</a:t>
          </a:r>
        </a:p>
      </dsp:txBody>
      <dsp:txXfrm>
        <a:off x="2312078" y="1961539"/>
        <a:ext cx="1310734" cy="635593"/>
      </dsp:txXfrm>
    </dsp:sp>
    <dsp:sp modelId="{07274C33-A65B-44C4-96B3-33A14AAFE9DE}">
      <dsp:nvSpPr>
        <dsp:cNvPr id="0" name=""/>
        <dsp:cNvSpPr/>
      </dsp:nvSpPr>
      <dsp:spPr>
        <a:xfrm rot="19457599">
          <a:off x="3580067" y="2065018"/>
          <a:ext cx="665151" cy="40429"/>
        </a:xfrm>
        <a:custGeom>
          <a:avLst/>
          <a:gdLst/>
          <a:ahLst/>
          <a:cxnLst/>
          <a:rect l="0" t="0" r="0" b="0"/>
          <a:pathLst>
            <a:path>
              <a:moveTo>
                <a:pt x="0" y="20214"/>
              </a:moveTo>
              <a:lnTo>
                <a:pt x="665151"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896014" y="2068604"/>
        <a:ext cx="33257" cy="33257"/>
      </dsp:txXfrm>
    </dsp:sp>
    <dsp:sp modelId="{1B960408-F617-45EF-974D-8CE3F8A91067}">
      <dsp:nvSpPr>
        <dsp:cNvPr id="0" name=""/>
        <dsp:cNvSpPr/>
      </dsp:nvSpPr>
      <dsp:spPr>
        <a:xfrm>
          <a:off x="4182700" y="1553559"/>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Nominale</a:t>
          </a:r>
        </a:p>
      </dsp:txBody>
      <dsp:txXfrm>
        <a:off x="4202474" y="1573333"/>
        <a:ext cx="1310734" cy="635593"/>
      </dsp:txXfrm>
    </dsp:sp>
    <dsp:sp modelId="{CAD3E58D-FD5C-49F5-8E9D-1DD26B24DFD2}">
      <dsp:nvSpPr>
        <dsp:cNvPr id="0" name=""/>
        <dsp:cNvSpPr/>
      </dsp:nvSpPr>
      <dsp:spPr>
        <a:xfrm rot="2142401">
          <a:off x="3580067" y="2453224"/>
          <a:ext cx="665151" cy="40429"/>
        </a:xfrm>
        <a:custGeom>
          <a:avLst/>
          <a:gdLst/>
          <a:ahLst/>
          <a:cxnLst/>
          <a:rect l="0" t="0" r="0" b="0"/>
          <a:pathLst>
            <a:path>
              <a:moveTo>
                <a:pt x="0" y="20214"/>
              </a:moveTo>
              <a:lnTo>
                <a:pt x="665151"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896014" y="2456810"/>
        <a:ext cx="33257" cy="33257"/>
      </dsp:txXfrm>
    </dsp:sp>
    <dsp:sp modelId="{261AEE4B-53F2-43F4-998A-46C07A72197E}">
      <dsp:nvSpPr>
        <dsp:cNvPr id="0" name=""/>
        <dsp:cNvSpPr/>
      </dsp:nvSpPr>
      <dsp:spPr>
        <a:xfrm>
          <a:off x="4182700" y="2329971"/>
          <a:ext cx="1350282" cy="675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Ordinale</a:t>
          </a:r>
        </a:p>
      </dsp:txBody>
      <dsp:txXfrm>
        <a:off x="4202474" y="2349745"/>
        <a:ext cx="1310734" cy="63559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2021-10-12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2021-10-12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2021-10-12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2021-10-12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2021-10-12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2021-10-12</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2021-10-12</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2021-10-12</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2021-10-12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2021-10-12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2021-10-12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2021-10-12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2021-10-12</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9F3EBB-8EC6-4510-9551-9E9C6489CEFD}"/>
              </a:ext>
            </a:extLst>
          </p:cNvPr>
          <p:cNvSpPr>
            <a:spLocks noGrp="1"/>
          </p:cNvSpPr>
          <p:nvPr>
            <p:ph type="title"/>
          </p:nvPr>
        </p:nvSpPr>
        <p:spPr/>
        <p:txBody>
          <a:bodyPr/>
          <a:lstStyle/>
          <a:p>
            <a:r>
              <a:rPr lang="fr-CA" dirty="0"/>
              <a:t>INTRODUCTION: Statistique (State)</a:t>
            </a:r>
          </a:p>
        </p:txBody>
      </p:sp>
      <p:sp>
        <p:nvSpPr>
          <p:cNvPr id="3" name="Espace réservé du pied de page 2">
            <a:extLst>
              <a:ext uri="{FF2B5EF4-FFF2-40B4-BE49-F238E27FC236}">
                <a16:creationId xmlns:a16="http://schemas.microsoft.com/office/drawing/2014/main" id="{DBC1C06E-C04C-42EC-B691-8858B452143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542F497-1262-41E1-AB1C-1ECAB0852704}"/>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ZoneTexte 4">
            <a:extLst>
              <a:ext uri="{FF2B5EF4-FFF2-40B4-BE49-F238E27FC236}">
                <a16:creationId xmlns:a16="http://schemas.microsoft.com/office/drawing/2014/main" id="{E111DC3A-FEFD-45B7-B85F-E3D121D13196}"/>
              </a:ext>
            </a:extLst>
          </p:cNvPr>
          <p:cNvSpPr txBox="1"/>
          <p:nvPr/>
        </p:nvSpPr>
        <p:spPr>
          <a:xfrm>
            <a:off x="263434" y="1249974"/>
            <a:ext cx="11665132" cy="6499215"/>
          </a:xfrm>
          <a:prstGeom prst="rect">
            <a:avLst/>
          </a:prstGeom>
          <a:noFill/>
        </p:spPr>
        <p:txBody>
          <a:bodyPr wrap="square" rtlCol="0">
            <a:spAutoFit/>
          </a:bodyPr>
          <a:lstStyle/>
          <a:p>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Il existe deux types de variables : les </a:t>
            </a:r>
            <a:r>
              <a:rPr lang="fr-CA" sz="18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variables qualitatives</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et les </a:t>
            </a:r>
            <a:r>
              <a:rPr lang="fr-CA" sz="18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variables quantitatives</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Une variable est dite « qualitative » ou « catégorique » lorsqu’elle peut être classée en catégories suivant sa caractéristique ou « qualité » : l’espèce, le niveau de scolarité, etc. Une variable est  « quantitative » si elle peut être mesurée ou quantifiée : le poids, la longueur, le revenu, le nombre d’enfants, le nombre de pannes, etc.</a:t>
            </a:r>
          </a:p>
          <a:p>
            <a:pPr algn="l">
              <a:lnSpc>
                <a:spcPct val="200000"/>
              </a:lnSpc>
              <a:spcBef>
                <a:spcPts val="500"/>
              </a:spcBef>
              <a:spcAft>
                <a:spcPts val="8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Les variables qualitatives sont constituées de deux sous-classes :</a:t>
            </a:r>
          </a:p>
          <a:p>
            <a:pPr marL="228600" indent="-228600" algn="l">
              <a:lnSpc>
                <a:spcPct val="200000"/>
              </a:lnSpc>
              <a:spcBef>
                <a:spcPts val="500"/>
              </a:spcBef>
              <a:spcAft>
                <a:spcPts val="2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Les </a:t>
            </a:r>
            <a:r>
              <a:rPr lang="fr-FR" sz="18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variables qualitatives</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nominales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ce sont les variables qualitatives dont les modalités </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ne peuvent qu’être constatées, nommées ou mises en ordre croissant ou décroissant. Par exemple, le sexe (masculin, féminin), la nationalité (canadienne, française, marocaine. . .), les cours suivis durant une session (mathématiques, anglais, philosophie. .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8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Les </a:t>
            </a:r>
            <a:r>
              <a:rPr lang="fr-FR" sz="18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variables qualitatives ordinales</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ce sont les variables qualitatives dont les modalités appellent naturellement un ordre dans leur organisation. Par exemple, le niveau de scolarité (primaire, secondaire, collégial, universitaire), l’opinion sur une série de reportages sur la Chine (très intéressants, intéressants, ordinaires, ennuyeux. .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101600" indent="-101600" algn="l">
              <a:lnSpc>
                <a:spcPct val="200000"/>
              </a:lnSpc>
              <a:spcBef>
                <a:spcPts val="500"/>
              </a:spcBef>
              <a:spcAft>
                <a:spcPts val="8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endParaRPr lang="fr-CA" sz="1800" dirty="0">
              <a:effectLst/>
              <a:latin typeface="Calibri" panose="020F0502020204030204" pitchFamily="34" charset="0"/>
              <a:ea typeface="Yu Mincho" panose="02020400000000000000" pitchFamily="18" charset="-128"/>
              <a:cs typeface="Arial" panose="020B0604020202020204" pitchFamily="34" charset="0"/>
            </a:endParaRPr>
          </a:p>
          <a:p>
            <a:endParaRPr lang="fr-CA" dirty="0"/>
          </a:p>
        </p:txBody>
      </p:sp>
    </p:spTree>
    <p:extLst>
      <p:ext uri="{BB962C8B-B14F-4D97-AF65-F5344CB8AC3E}">
        <p14:creationId xmlns:p14="http://schemas.microsoft.com/office/powerpoint/2010/main" val="1764940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D9D69F97-9809-4AD5-BCCB-C0A71E52041B}"/>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CFBAA3E3-3A43-4B23-AA00-44E5D2F4D7F6}"/>
              </a:ext>
            </a:extLst>
          </p:cNvPr>
          <p:cNvSpPr>
            <a:spLocks noGrp="1"/>
          </p:cNvSpPr>
          <p:nvPr>
            <p:ph type="sldNum" sz="quarter" idx="12"/>
          </p:nvPr>
        </p:nvSpPr>
        <p:spPr/>
        <p:txBody>
          <a:bodyPr/>
          <a:lstStyle/>
          <a:p>
            <a:fld id="{26377AD9-CE17-438C-A638-C64D2D42D7CF}" type="slidenum">
              <a:rPr lang="fr-CA" smtClean="0"/>
              <a:t>2</a:t>
            </a:fld>
            <a:endParaRPr lang="fr-CA"/>
          </a:p>
        </p:txBody>
      </p:sp>
      <p:sp>
        <p:nvSpPr>
          <p:cNvPr id="6" name="Rectangle 2">
            <a:extLst>
              <a:ext uri="{FF2B5EF4-FFF2-40B4-BE49-F238E27FC236}">
                <a16:creationId xmlns:a16="http://schemas.microsoft.com/office/drawing/2014/main" id="{D308C036-2BA2-4217-9A8C-D04E4750FD97}"/>
              </a:ext>
            </a:extLst>
          </p:cNvPr>
          <p:cNvSpPr>
            <a:spLocks noChangeArrowheads="1"/>
          </p:cNvSpPr>
          <p:nvPr/>
        </p:nvSpPr>
        <p:spPr bwMode="auto">
          <a:xfrm>
            <a:off x="0" y="804787"/>
            <a:ext cx="11725835"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Les variables quantitatives sont également subdivisées en deux sous-classes :</a:t>
            </a:r>
            <a:endParaRPr kumimoji="0" lang="fr-CA" altLang="fr-F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Les </a:t>
            </a:r>
            <a:r>
              <a:rPr kumimoji="0" lang="fr-FR" altLang="fr-FR" sz="2000" b="1"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variables quantitatives</a:t>
            </a: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a:t>
            </a:r>
            <a:r>
              <a:rPr kumimoji="0" lang="fr-FR" altLang="fr-FR" sz="2000" b="1"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discrètes :</a:t>
            </a: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ce sont les variables quantitatives dont les modalités sont des nombres entiers. Généralement, ces variables sont utilisées comme des compteurs. Par exemple, le nombre de pannes, le nombre d’accidents, le nombre d’enfants. . .</a:t>
            </a:r>
            <a:endParaRPr kumimoji="0" lang="fr-CA" altLang="fr-F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Les </a:t>
            </a:r>
            <a:r>
              <a:rPr kumimoji="0" lang="fr-FR" altLang="fr-FR" sz="2000" b="1"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variables quantitatives</a:t>
            </a: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a:t>
            </a:r>
            <a:r>
              <a:rPr kumimoji="0" lang="fr-FR" altLang="fr-FR" sz="2000" b="1"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continues :</a:t>
            </a:r>
            <a:r>
              <a:rPr kumimoji="0" lang="fr-FR" altLang="fr-FR" sz="2000" b="0" i="0" u="none" strike="noStrike" cap="none" normalizeH="0" baseline="0" dirty="0">
                <a:ln>
                  <a:noFill/>
                </a:ln>
                <a:solidFill>
                  <a:schemeClr val="tx1"/>
                </a:solidFill>
                <a:effectLst/>
                <a:latin typeface="Times New Roman" panose="02020603050405020304" pitchFamily="18" charset="0"/>
                <a:ea typeface="Yu Mincho" panose="02020400000000000000" pitchFamily="18" charset="-128"/>
                <a:cs typeface="Times New Roman" panose="02020603050405020304" pitchFamily="18" charset="0"/>
              </a:rPr>
              <a:t> ce sont les variables quantitatives dont les modalités forment un continuum, qui peuvent prendre n’importe quelle valeur dans un intervalle raisonnable. Par exemple, la taille, le poids, le revenu, le taux de cholestérol. . .</a:t>
            </a:r>
            <a:endParaRPr kumimoji="0" lang="fr-CA" altLang="fr-F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fr-CA" altLang="fr-FR"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CA"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fr-CA" altLang="fr-FR"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CA"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CA"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15D22E17-5DD1-412C-9711-E2646972A0BB}"/>
              </a:ext>
            </a:extLst>
          </p:cNvPr>
          <p:cNvSpPr>
            <a:spLocks noChangeArrowheads="1"/>
          </p:cNvSpPr>
          <p:nvPr/>
        </p:nvSpPr>
        <p:spPr bwMode="auto">
          <a:xfrm>
            <a:off x="274638" y="2676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CA"/>
          </a:p>
        </p:txBody>
      </p:sp>
      <p:graphicFrame>
        <p:nvGraphicFramePr>
          <p:cNvPr id="9" name="Diagramme 8">
            <a:extLst>
              <a:ext uri="{FF2B5EF4-FFF2-40B4-BE49-F238E27FC236}">
                <a16:creationId xmlns:a16="http://schemas.microsoft.com/office/drawing/2014/main" id="{0A53C82C-88A4-4594-A7F6-E9B78F00575B}"/>
              </a:ext>
            </a:extLst>
          </p:cNvPr>
          <p:cNvGraphicFramePr/>
          <p:nvPr>
            <p:extLst>
              <p:ext uri="{D42A27DB-BD31-4B8C-83A1-F6EECF244321}">
                <p14:modId xmlns:p14="http://schemas.microsoft.com/office/powerpoint/2010/main" val="2775088627"/>
              </p:ext>
            </p:extLst>
          </p:nvPr>
        </p:nvGraphicFramePr>
        <p:xfrm>
          <a:off x="3627119" y="2821580"/>
          <a:ext cx="5934891" cy="30058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3977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459B41-2230-4DB4-9DE8-D068E69320E3}"/>
              </a:ext>
            </a:extLst>
          </p:cNvPr>
          <p:cNvSpPr>
            <a:spLocks noGrp="1"/>
          </p:cNvSpPr>
          <p:nvPr>
            <p:ph type="title"/>
          </p:nvPr>
        </p:nvSpPr>
        <p:spPr/>
        <p:txBody>
          <a:bodyPr/>
          <a:lstStyle/>
          <a:p>
            <a:r>
              <a:rPr lang="fr-CA" dirty="0"/>
              <a:t>Les échelles de mesures</a:t>
            </a:r>
          </a:p>
        </p:txBody>
      </p:sp>
      <p:sp>
        <p:nvSpPr>
          <p:cNvPr id="3" name="Espace réservé du pied de page 2">
            <a:extLst>
              <a:ext uri="{FF2B5EF4-FFF2-40B4-BE49-F238E27FC236}">
                <a16:creationId xmlns:a16="http://schemas.microsoft.com/office/drawing/2014/main" id="{890B8A75-9BD0-4196-A0EA-51D8018489A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218968C-AA95-406D-A4F1-8E2E8AD033A0}"/>
              </a:ext>
            </a:extLst>
          </p:cNvPr>
          <p:cNvSpPr>
            <a:spLocks noGrp="1"/>
          </p:cNvSpPr>
          <p:nvPr>
            <p:ph type="sldNum" sz="quarter" idx="12"/>
          </p:nvPr>
        </p:nvSpPr>
        <p:spPr/>
        <p:txBody>
          <a:bodyPr/>
          <a:lstStyle/>
          <a:p>
            <a:fld id="{26377AD9-CE17-438C-A638-C64D2D42D7CF}" type="slidenum">
              <a:rPr lang="fr-CA" smtClean="0"/>
              <a:t>3</a:t>
            </a:fld>
            <a:endParaRPr lang="fr-CA"/>
          </a:p>
        </p:txBody>
      </p:sp>
      <p:sp>
        <p:nvSpPr>
          <p:cNvPr id="5" name="ZoneTexte 4">
            <a:extLst>
              <a:ext uri="{FF2B5EF4-FFF2-40B4-BE49-F238E27FC236}">
                <a16:creationId xmlns:a16="http://schemas.microsoft.com/office/drawing/2014/main" id="{60647C2A-C2BC-46C4-ABE9-187FF320DBED}"/>
              </a:ext>
            </a:extLst>
          </p:cNvPr>
          <p:cNvSpPr txBox="1"/>
          <p:nvPr/>
        </p:nvSpPr>
        <p:spPr>
          <a:xfrm>
            <a:off x="1123405" y="1567543"/>
            <a:ext cx="10019211" cy="5420458"/>
          </a:xfrm>
          <a:prstGeom prst="rect">
            <a:avLst/>
          </a:prstGeom>
          <a:noFill/>
        </p:spPr>
        <p:txBody>
          <a:bodyPr wrap="square" rtlCol="0">
            <a:spAutoFit/>
          </a:bodyPr>
          <a:lstStyle/>
          <a:p>
            <a:pPr>
              <a:lnSpc>
                <a:spcPct val="115000"/>
              </a:lnSpc>
              <a:spcBef>
                <a:spcPts val="500"/>
              </a:spcBef>
            </a:pPr>
            <a:r>
              <a:rPr lang="fr-CA" sz="1800" b="1" cap="all" spc="75" dirty="0">
                <a:solidFill>
                  <a:srgbClr val="000000"/>
                </a:solidFill>
                <a:effectLst/>
                <a:latin typeface="Calibri" panose="020F0502020204030204" pitchFamily="34" charset="0"/>
                <a:cs typeface="Arial" panose="020B0604020202020204" pitchFamily="34" charset="0"/>
              </a:rPr>
              <a:t>L’</a:t>
            </a:r>
            <a:r>
              <a:rPr lang="fr-CA" sz="1800" b="1" cap="all" spc="75" dirty="0">
                <a:solidFill>
                  <a:srgbClr val="00B0F0"/>
                </a:solidFill>
                <a:effectLst/>
                <a:latin typeface="Calibri" panose="020F0502020204030204" pitchFamily="34" charset="0"/>
                <a:cs typeface="Arial" panose="020B0604020202020204" pitchFamily="34" charset="0"/>
              </a:rPr>
              <a:t>échelle nominale</a:t>
            </a:r>
            <a:r>
              <a:rPr lang="fr-CA" sz="1800" b="1" cap="all" spc="75" dirty="0">
                <a:solidFill>
                  <a:srgbClr val="000000"/>
                </a:solidFill>
                <a:effectLst/>
                <a:latin typeface="Calibri" panose="020F0502020204030204" pitchFamily="34" charset="0"/>
                <a:cs typeface="Arial" panose="020B0604020202020204" pitchFamily="34" charset="0"/>
              </a:rPr>
              <a:t> s’adresse aux variables qualitatives nominales. Elle ne sert qu’à nommer les modalités de la variable.</a:t>
            </a:r>
            <a:r>
              <a:rPr lang="fr-CA" sz="1800" b="1" cap="all" spc="0" dirty="0">
                <a:solidFill>
                  <a:srgbClr val="000000"/>
                </a:solidFill>
                <a:effectLst/>
                <a:latin typeface="Calibri" panose="020F0502020204030204" pitchFamily="34" charset="0"/>
                <a:cs typeface="Arial" panose="020B0604020202020204" pitchFamily="34" charset="0"/>
              </a:rPr>
              <a:t>  </a:t>
            </a:r>
            <a:endParaRPr lang="fr-CA" sz="1800" b="1" cap="all" spc="75" dirty="0">
              <a:effectLst/>
              <a:latin typeface="Calibri" panose="020F0502020204030204" pitchFamily="34" charset="0"/>
              <a:cs typeface="Arial" panose="020B0604020202020204" pitchFamily="34" charset="0"/>
            </a:endParaRPr>
          </a:p>
          <a:p>
            <a:pPr>
              <a:spcBef>
                <a:spcPts val="500"/>
              </a:spcBef>
              <a:spcAft>
                <a:spcPts val="1000"/>
              </a:spcAft>
            </a:pPr>
            <a:r>
              <a:rPr lang="fr-CA" sz="1800" dirty="0">
                <a:effectLst/>
                <a:latin typeface="Calibri" panose="020F0502020204030204" pitchFamily="34" charset="0"/>
                <a:ea typeface="Yu Mincho" panose="02020400000000000000" pitchFamily="18" charset="-128"/>
                <a:cs typeface="Arial" panose="020B0604020202020204" pitchFamily="34" charset="0"/>
              </a:rPr>
              <a:t> </a:t>
            </a:r>
          </a:p>
          <a:p>
            <a:pPr lvl="0" algn="l">
              <a:lnSpc>
                <a:spcPct val="200000"/>
              </a:lnSpc>
              <a:spcBef>
                <a:spcPts val="500"/>
              </a:spcBef>
              <a:spcAft>
                <a:spcPts val="600"/>
              </a:spcAft>
            </a:pPr>
            <a:r>
              <a:rPr lang="fr-CA" dirty="0"/>
              <a:t>Exemples: </a:t>
            </a:r>
          </a:p>
          <a:p>
            <a:pPr marL="285750" lvl="0" indent="-285750" algn="l">
              <a:lnSpc>
                <a:spcPct val="200000"/>
              </a:lnSpc>
              <a:spcBef>
                <a:spcPts val="500"/>
              </a:spcBef>
              <a:spcAft>
                <a:spcPts val="600"/>
              </a:spcAft>
              <a:buFont typeface="Arial" panose="020B0604020202020204" pitchFamily="34" charset="0"/>
              <a:buChar char="•"/>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:le sexe d’un individu.</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457200" indent="-101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est une variable qualitative nominale, et son échelle est nominale : {masculin, féminin}.</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342900" lvl="0" indent="-342900" algn="l">
              <a:lnSpc>
                <a:spcPct val="200000"/>
              </a:lnSpc>
              <a:spcBef>
                <a:spcPts val="500"/>
              </a:spcBef>
              <a:spcAft>
                <a:spcPts val="600"/>
              </a:spcAft>
              <a:buFont typeface="Symbol" panose="05050102010706020507" pitchFamily="18" charset="2"/>
              <a:buChar char=""/>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Soit Y : l’état d’un canadien vis-à-vis d’un virus spécifique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457200" indent="-101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Y est une variable nominale et son échelle est nominale : {atteint, non atteint}</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a:spcBef>
                <a:spcPts val="500"/>
              </a:spcBef>
              <a:spcAft>
                <a:spcPts val="1000"/>
              </a:spcAft>
            </a:pPr>
            <a:r>
              <a:rPr lang="fr-CA" sz="1800" dirty="0">
                <a:effectLst/>
                <a:latin typeface="Calibri" panose="020F0502020204030204" pitchFamily="34" charset="0"/>
                <a:ea typeface="Yu Mincho" panose="02020400000000000000" pitchFamily="18" charset="-128"/>
                <a:cs typeface="Arial" panose="020B0604020202020204" pitchFamily="34" charset="0"/>
              </a:rPr>
              <a:t>  </a:t>
            </a:r>
          </a:p>
          <a:p>
            <a:endParaRPr lang="fr-CA" dirty="0"/>
          </a:p>
        </p:txBody>
      </p:sp>
    </p:spTree>
    <p:extLst>
      <p:ext uri="{BB962C8B-B14F-4D97-AF65-F5344CB8AC3E}">
        <p14:creationId xmlns:p14="http://schemas.microsoft.com/office/powerpoint/2010/main" val="157660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CC1FC3-F996-4202-A53B-110C2EE42238}"/>
              </a:ext>
            </a:extLst>
          </p:cNvPr>
          <p:cNvSpPr>
            <a:spLocks noGrp="1"/>
          </p:cNvSpPr>
          <p:nvPr>
            <p:ph type="title"/>
          </p:nvPr>
        </p:nvSpPr>
        <p:spPr/>
        <p:txBody>
          <a:bodyPr/>
          <a:lstStyle/>
          <a:p>
            <a:r>
              <a:rPr lang="fr-CA" sz="1800" cap="all" spc="75" dirty="0">
                <a:solidFill>
                  <a:schemeClr val="accent1"/>
                </a:solidFill>
                <a:effectLst/>
                <a:latin typeface="Calibri" panose="020F0502020204030204" pitchFamily="34" charset="0"/>
                <a:ea typeface="Yu Mincho" panose="02020400000000000000" pitchFamily="18" charset="-128"/>
                <a:cs typeface="Arial" panose="020B0604020202020204" pitchFamily="34" charset="0"/>
              </a:rPr>
              <a:t>L’échelle ordinale </a:t>
            </a:r>
            <a:r>
              <a:rPr lang="fr-CA" sz="1800" cap="all" spc="75"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s’adresse aux variables qualitatives ordinales, son nom venant du fait qu’on peut coder ses modalités selon un ordre</a:t>
            </a:r>
            <a:endParaRPr lang="fr-CA" dirty="0"/>
          </a:p>
        </p:txBody>
      </p:sp>
      <p:sp>
        <p:nvSpPr>
          <p:cNvPr id="3" name="Espace réservé du pied de page 2">
            <a:extLst>
              <a:ext uri="{FF2B5EF4-FFF2-40B4-BE49-F238E27FC236}">
                <a16:creationId xmlns:a16="http://schemas.microsoft.com/office/drawing/2014/main" id="{D124C0E2-8C1E-48D2-847E-131550C55ED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F2C1E7B-8F17-4859-9859-A5391F869EC0}"/>
              </a:ext>
            </a:extLst>
          </p:cNvPr>
          <p:cNvSpPr>
            <a:spLocks noGrp="1"/>
          </p:cNvSpPr>
          <p:nvPr>
            <p:ph type="sldNum" sz="quarter" idx="12"/>
          </p:nvPr>
        </p:nvSpPr>
        <p:spPr/>
        <p:txBody>
          <a:bodyPr/>
          <a:lstStyle/>
          <a:p>
            <a:fld id="{26377AD9-CE17-438C-A638-C64D2D42D7CF}" type="slidenum">
              <a:rPr lang="fr-CA" smtClean="0"/>
              <a:t>4</a:t>
            </a:fld>
            <a:endParaRPr lang="fr-CA"/>
          </a:p>
        </p:txBody>
      </p:sp>
      <p:sp>
        <p:nvSpPr>
          <p:cNvPr id="5" name="ZoneTexte 4">
            <a:extLst>
              <a:ext uri="{FF2B5EF4-FFF2-40B4-BE49-F238E27FC236}">
                <a16:creationId xmlns:a16="http://schemas.microsoft.com/office/drawing/2014/main" id="{44FF7C86-E2C9-4AD4-B3B9-07FE25010601}"/>
              </a:ext>
            </a:extLst>
          </p:cNvPr>
          <p:cNvSpPr txBox="1"/>
          <p:nvPr/>
        </p:nvSpPr>
        <p:spPr>
          <a:xfrm>
            <a:off x="418011" y="1306286"/>
            <a:ext cx="11116492" cy="5370701"/>
          </a:xfrm>
          <a:prstGeom prst="rect">
            <a:avLst/>
          </a:prstGeom>
          <a:noFill/>
        </p:spPr>
        <p:txBody>
          <a:bodyPr wrap="square" rtlCol="0">
            <a:spAutoFit/>
          </a:bodyPr>
          <a:lstStyle/>
          <a:p>
            <a:r>
              <a:rPr lang="fr-CA" b="1" dirty="0"/>
              <a:t>Exemple: </a:t>
            </a:r>
          </a:p>
          <a:p>
            <a:pPr marL="228600" indent="-228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le niveau scolaire d’une personne adulte.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Comme les modalités de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peuvent être </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primaire, secondaire, collégial, universitaire</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il y a un ordre séquentiel</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entre ces modalités</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Il s’agit donc d’une échelle ordinale.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peut coder ces modalités : 1=Primaire ; 2= secondaire ; 3=collégial ; 4=universitaire.</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6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Y</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la note finale obtenue dans un cours de statistique.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600"/>
              </a:spcAft>
            </a:pP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Les modalités de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Y</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étant </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F</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E</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D</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C</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B</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A</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il y a un ordre de mérite entre ces modalités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28600" indent="-228600" algn="l">
              <a:lnSpc>
                <a:spcPct val="200000"/>
              </a:lnSpc>
              <a:spcBef>
                <a:spcPts val="500"/>
              </a:spcBef>
              <a:spcAft>
                <a:spcPts val="6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endParaRPr lang="fr-CA" sz="1800" dirty="0">
              <a:effectLst/>
              <a:latin typeface="Calibri" panose="020F0502020204030204" pitchFamily="34" charset="0"/>
              <a:ea typeface="Yu Mincho" panose="02020400000000000000" pitchFamily="18" charset="-128"/>
              <a:cs typeface="Arial" panose="020B0604020202020204" pitchFamily="34" charset="0"/>
            </a:endParaRPr>
          </a:p>
          <a:p>
            <a:endParaRPr lang="fr-CA" dirty="0"/>
          </a:p>
        </p:txBody>
      </p:sp>
    </p:spTree>
    <p:extLst>
      <p:ext uri="{BB962C8B-B14F-4D97-AF65-F5344CB8AC3E}">
        <p14:creationId xmlns:p14="http://schemas.microsoft.com/office/powerpoint/2010/main" val="3782326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03335-8632-4E39-BBD9-9523965A0A2C}"/>
              </a:ext>
            </a:extLst>
          </p:cNvPr>
          <p:cNvSpPr>
            <a:spLocks noGrp="1"/>
          </p:cNvSpPr>
          <p:nvPr>
            <p:ph type="title"/>
          </p:nvPr>
        </p:nvSpPr>
        <p:spPr>
          <a:xfrm>
            <a:off x="838200" y="365125"/>
            <a:ext cx="10515600" cy="2038441"/>
          </a:xfrm>
        </p:spPr>
        <p:txBody>
          <a:bodyPr>
            <a:normAutofit/>
          </a:bodyPr>
          <a:lstStyle/>
          <a:p>
            <a:r>
              <a:rPr lang="fr-FR" sz="1800" dirty="0">
                <a:solidFill>
                  <a:schemeClr val="tx2"/>
                </a:solidFill>
                <a:effectLst/>
                <a:latin typeface="Times New Roman" panose="02020603050405020304" pitchFamily="18" charset="0"/>
                <a:ea typeface="Yu Mincho" panose="02020400000000000000" pitchFamily="18" charset="-128"/>
                <a:cs typeface="Arial" panose="020B0604020202020204" pitchFamily="34" charset="0"/>
              </a:rPr>
              <a:t>L’</a:t>
            </a:r>
            <a:r>
              <a:rPr lang="fr-FR" sz="1800" b="1" dirty="0">
                <a:solidFill>
                  <a:schemeClr val="tx2"/>
                </a:solidFill>
                <a:effectLst/>
                <a:latin typeface="Times New Roman" panose="02020603050405020304" pitchFamily="18" charset="0"/>
                <a:ea typeface="Yu Mincho" panose="02020400000000000000" pitchFamily="18" charset="-128"/>
                <a:cs typeface="Arial" panose="020B0604020202020204" pitchFamily="34" charset="0"/>
              </a:rPr>
              <a:t>échelle d’intervalle </a:t>
            </a:r>
            <a:r>
              <a:rPr lang="fr-FR" sz="2200" b="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est une échelle qui permet simplement de constater l’écart entre deux valeurs que peut prendre la variable.  </a:t>
            </a:r>
            <a:r>
              <a:rPr lang="fr-FR" sz="22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reconnaît une échelle d’intervalle par l’absence du zéro absolu, c’est-à-dire que si la variable est nulle (</a:t>
            </a:r>
            <a:r>
              <a:rPr lang="fr-FR" sz="22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FR" sz="22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FR" sz="2200" dirty="0">
                <a:solidFill>
                  <a:srgbClr val="000000"/>
                </a:solidFill>
                <a:effectLst/>
                <a:latin typeface="Symbol (T1) Medium"/>
                <a:ea typeface="Yu Mincho" panose="02020400000000000000" pitchFamily="18" charset="-128"/>
                <a:cs typeface="Arial" panose="020B0604020202020204" pitchFamily="34" charset="0"/>
              </a:rPr>
              <a:t>=</a:t>
            </a:r>
            <a:r>
              <a:rPr lang="fr-FR" sz="22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0), cela ne veut pas dire qu’il y a absence de ce qu’on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mesure.</a:t>
            </a:r>
            <a:b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br>
            <a:endParaRPr lang="fr-CA" dirty="0"/>
          </a:p>
        </p:txBody>
      </p:sp>
      <p:sp>
        <p:nvSpPr>
          <p:cNvPr id="3" name="Espace réservé du pied de page 2">
            <a:extLst>
              <a:ext uri="{FF2B5EF4-FFF2-40B4-BE49-F238E27FC236}">
                <a16:creationId xmlns:a16="http://schemas.microsoft.com/office/drawing/2014/main" id="{DEA58F66-3809-4B45-9E83-6D87A23651E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8CB1DF7-5656-48C6-8C47-2B9332921032}"/>
              </a:ext>
            </a:extLst>
          </p:cNvPr>
          <p:cNvSpPr>
            <a:spLocks noGrp="1"/>
          </p:cNvSpPr>
          <p:nvPr>
            <p:ph type="sldNum" sz="quarter" idx="12"/>
          </p:nvPr>
        </p:nvSpPr>
        <p:spPr/>
        <p:txBody>
          <a:bodyPr/>
          <a:lstStyle/>
          <a:p>
            <a:fld id="{26377AD9-CE17-438C-A638-C64D2D42D7CF}" type="slidenum">
              <a:rPr lang="fr-CA" smtClean="0"/>
              <a:t>5</a:t>
            </a:fld>
            <a:endParaRPr lang="fr-CA"/>
          </a:p>
        </p:txBody>
      </p:sp>
      <p:sp>
        <p:nvSpPr>
          <p:cNvPr id="5" name="ZoneTexte 4">
            <a:extLst>
              <a:ext uri="{FF2B5EF4-FFF2-40B4-BE49-F238E27FC236}">
                <a16:creationId xmlns:a16="http://schemas.microsoft.com/office/drawing/2014/main" id="{0A381849-915B-49A3-A5EC-74B81B8CA5A6}"/>
              </a:ext>
            </a:extLst>
          </p:cNvPr>
          <p:cNvSpPr txBox="1"/>
          <p:nvPr/>
        </p:nvSpPr>
        <p:spPr>
          <a:xfrm>
            <a:off x="404949" y="1698171"/>
            <a:ext cx="11625942" cy="5619487"/>
          </a:xfrm>
          <a:prstGeom prst="rect">
            <a:avLst/>
          </a:prstGeom>
          <a:noFill/>
        </p:spPr>
        <p:txBody>
          <a:bodyPr wrap="square" rtlCol="0">
            <a:spAutoFit/>
          </a:bodyPr>
          <a:lstStyle/>
          <a:p>
            <a:r>
              <a:rPr lang="fr-CA" dirty="0"/>
              <a:t>Exemples:</a:t>
            </a:r>
          </a:p>
          <a:p>
            <a:pPr marL="285750" indent="-285750">
              <a:lnSpc>
                <a:spcPct val="200000"/>
              </a:lnSpc>
              <a:spcBef>
                <a:spcPts val="600"/>
              </a:spcBef>
              <a:spcAft>
                <a:spcPts val="1700"/>
              </a:spcAft>
              <a:buFont typeface="Arial" panose="020B0604020202020204" pitchFamily="34" charset="0"/>
              <a:buChar char="•"/>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T</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la température en degrés Celsius.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Lorsque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T</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0 °C, cela ne veut pas dire qu’il y a absence de température.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Si on considère deux journées où la température est respectivement égale à 10 °C et à 30 °C, cela signifie simplement qu’il y a un écart de 20 degrés entre ces deux journées.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Si on prend deux seaux d’eau où la température est respectivement égale à 35 °C et à 45 °C, et qu’on les mélange, on ne va pas obtenir une eau chauffée à 80 °C. </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a:spcBef>
                <a:spcPts val="500"/>
              </a:spcBef>
              <a:spcAft>
                <a:spcPts val="1000"/>
              </a:spcAft>
            </a:pPr>
            <a:r>
              <a:rPr lang="fr-CA" sz="1800" dirty="0">
                <a:effectLst/>
                <a:latin typeface="Calibri" panose="020F0502020204030204" pitchFamily="34" charset="0"/>
                <a:ea typeface="Yu Mincho" panose="02020400000000000000" pitchFamily="18" charset="-128"/>
                <a:cs typeface="Arial" panose="020B0604020202020204" pitchFamily="34" charset="0"/>
              </a:rPr>
              <a:t> </a:t>
            </a:r>
          </a:p>
          <a:p>
            <a:endParaRPr lang="fr-CA" dirty="0"/>
          </a:p>
        </p:txBody>
      </p:sp>
    </p:spTree>
    <p:extLst>
      <p:ext uri="{BB962C8B-B14F-4D97-AF65-F5344CB8AC3E}">
        <p14:creationId xmlns:p14="http://schemas.microsoft.com/office/powerpoint/2010/main" val="419175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F05335-5B9D-4100-BC4A-F6259DD4A9C0}"/>
              </a:ext>
            </a:extLst>
          </p:cNvPr>
          <p:cNvSpPr>
            <a:spLocks noGrp="1"/>
          </p:cNvSpPr>
          <p:nvPr>
            <p:ph type="title"/>
          </p:nvPr>
        </p:nvSpPr>
        <p:spPr/>
        <p:txBody>
          <a:bodyPr/>
          <a:lstStyle/>
          <a:p>
            <a:r>
              <a:rPr lang="fr-CA" dirty="0"/>
              <a:t>Exemple 2:</a:t>
            </a:r>
          </a:p>
        </p:txBody>
      </p:sp>
      <p:sp>
        <p:nvSpPr>
          <p:cNvPr id="3" name="Espace réservé du pied de page 2">
            <a:extLst>
              <a:ext uri="{FF2B5EF4-FFF2-40B4-BE49-F238E27FC236}">
                <a16:creationId xmlns:a16="http://schemas.microsoft.com/office/drawing/2014/main" id="{78C7D7C5-8AFB-4DBA-958A-0B719E05F7E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68F54C5-8754-4484-B380-39594AD79651}"/>
              </a:ext>
            </a:extLst>
          </p:cNvPr>
          <p:cNvSpPr>
            <a:spLocks noGrp="1"/>
          </p:cNvSpPr>
          <p:nvPr>
            <p:ph type="sldNum" sz="quarter" idx="12"/>
          </p:nvPr>
        </p:nvSpPr>
        <p:spPr/>
        <p:txBody>
          <a:bodyPr/>
          <a:lstStyle/>
          <a:p>
            <a:fld id="{26377AD9-CE17-438C-A638-C64D2D42D7CF}" type="slidenum">
              <a:rPr lang="fr-CA" smtClean="0"/>
              <a:t>6</a:t>
            </a:fld>
            <a:endParaRPr lang="fr-CA"/>
          </a:p>
        </p:txBody>
      </p:sp>
      <p:sp>
        <p:nvSpPr>
          <p:cNvPr id="5" name="ZoneTexte 4">
            <a:extLst>
              <a:ext uri="{FF2B5EF4-FFF2-40B4-BE49-F238E27FC236}">
                <a16:creationId xmlns:a16="http://schemas.microsoft.com/office/drawing/2014/main" id="{FA77B616-C01B-4637-8FC8-2D70DAEC518A}"/>
              </a:ext>
            </a:extLst>
          </p:cNvPr>
          <p:cNvSpPr txBox="1"/>
          <p:nvPr/>
        </p:nvSpPr>
        <p:spPr>
          <a:xfrm>
            <a:off x="927463" y="1254035"/>
            <a:ext cx="10337074" cy="4860305"/>
          </a:xfrm>
          <a:prstGeom prst="rect">
            <a:avLst/>
          </a:prstGeom>
          <a:noFill/>
        </p:spPr>
        <p:txBody>
          <a:bodyPr wrap="square" rtlCol="0">
            <a:spAutoFit/>
          </a:bodyPr>
          <a:lstStyle/>
          <a:p>
            <a:pPr marL="285750" indent="-285750">
              <a:lnSpc>
                <a:spcPct val="200000"/>
              </a:lnSpc>
              <a:spcBef>
                <a:spcPts val="600"/>
              </a:spcBef>
              <a:spcAft>
                <a:spcPts val="1700"/>
              </a:spcAft>
              <a:buFont typeface="Arial" panose="020B0604020202020204" pitchFamily="34" charset="0"/>
              <a:buChar char="•"/>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la date de naissance. </a:t>
            </a:r>
          </a:p>
          <a:p>
            <a:pPr marL="285750" indent="-285750">
              <a:lnSpc>
                <a:spcPct val="200000"/>
              </a:lnSpc>
              <a:spcBef>
                <a:spcPts val="600"/>
              </a:spcBef>
              <a:spcAft>
                <a:spcPts val="1700"/>
              </a:spcAft>
              <a:buFont typeface="Arial" panose="020B0604020202020204" pitchFamily="34" charset="0"/>
              <a:buChar char="•"/>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Si on est en 2020 et que l’on considère une personne née en 1960 et une autre née en 1990, tout ce qu’on peut dire est qu’il y a une différence d’âge de 30 ans entre elles. </a:t>
            </a:r>
          </a:p>
          <a:p>
            <a:pPr marL="285750" indent="-285750">
              <a:lnSpc>
                <a:spcPct val="200000"/>
              </a:lnSpc>
              <a:spcBef>
                <a:spcPts val="600"/>
              </a:spcBef>
              <a:spcAft>
                <a:spcPts val="1700"/>
              </a:spcAft>
              <a:buFont typeface="Arial" panose="020B0604020202020204" pitchFamily="34" charset="0"/>
              <a:buChar char="•"/>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ne peut pas dire que l’une est deux fois plus âgée que l’autre, car l’année suivante, en 2021, ce ne serait plus vrai. </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marL="285750" indent="-285750">
              <a:lnSpc>
                <a:spcPct val="200000"/>
              </a:lnSpc>
              <a:spcBef>
                <a:spcPts val="600"/>
              </a:spcBef>
              <a:spcAft>
                <a:spcPts val="1700"/>
              </a:spcAft>
              <a:buFont typeface="Arial" panose="020B0604020202020204" pitchFamily="34" charset="0"/>
              <a:buChar char="•"/>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dit que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 </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suit une échelle d’intervalle.</a:t>
            </a:r>
          </a:p>
          <a:p>
            <a:pPr marL="285750" indent="-285750">
              <a:spcBef>
                <a:spcPts val="500"/>
              </a:spcBef>
              <a:spcAft>
                <a:spcPts val="1000"/>
              </a:spcAft>
              <a:buFont typeface="Arial" panose="020B0604020202020204" pitchFamily="34" charset="0"/>
              <a:buChar char="•"/>
            </a:pPr>
            <a:r>
              <a:rPr lang="fr-CA" sz="1800" dirty="0">
                <a:effectLst/>
                <a:latin typeface="Calibri" panose="020F0502020204030204" pitchFamily="34" charset="0"/>
                <a:ea typeface="Yu Mincho" panose="02020400000000000000" pitchFamily="18" charset="-128"/>
                <a:cs typeface="Arial" panose="020B0604020202020204" pitchFamily="34" charset="0"/>
              </a:rPr>
              <a:t> </a:t>
            </a:r>
          </a:p>
        </p:txBody>
      </p:sp>
    </p:spTree>
    <p:extLst>
      <p:ext uri="{BB962C8B-B14F-4D97-AF65-F5344CB8AC3E}">
        <p14:creationId xmlns:p14="http://schemas.microsoft.com/office/powerpoint/2010/main" val="122360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F37891-D9E3-4BEE-B5D5-E6FE47487B13}"/>
              </a:ext>
            </a:extLst>
          </p:cNvPr>
          <p:cNvSpPr>
            <a:spLocks noGrp="1"/>
          </p:cNvSpPr>
          <p:nvPr>
            <p:ph type="title"/>
          </p:nvPr>
        </p:nvSpPr>
        <p:spPr>
          <a:xfrm>
            <a:off x="888275" y="666205"/>
            <a:ext cx="10907485" cy="2024743"/>
          </a:xfrm>
        </p:spPr>
        <p:txBody>
          <a:bodyPr>
            <a:normAutofit fontScale="90000"/>
          </a:bodyPr>
          <a:lstStyle/>
          <a:p>
            <a:pPr marL="69850" algn="just">
              <a:lnSpc>
                <a:spcPct val="200000"/>
              </a:lnSpc>
              <a:spcBef>
                <a:spcPts val="500"/>
              </a:spcBef>
              <a:spcAft>
                <a:spcPts val="1000"/>
              </a:spcAft>
            </a:pPr>
            <a:r>
              <a:rPr lang="fr-FR" sz="1800" dirty="0">
                <a:solidFill>
                  <a:srgbClr val="4472C4"/>
                </a:solidFill>
                <a:effectLst/>
                <a:latin typeface="Times New Roman" panose="02020603050405020304" pitchFamily="18" charset="0"/>
                <a:ea typeface="Yu Mincho" panose="02020400000000000000" pitchFamily="18" charset="-128"/>
                <a:cs typeface="Arial" panose="020B0604020202020204" pitchFamily="34" charset="0"/>
              </a:rPr>
              <a:t>L’</a:t>
            </a:r>
            <a:r>
              <a:rPr lang="fr-FR" sz="1800" b="1" dirty="0">
                <a:solidFill>
                  <a:srgbClr val="4472C4"/>
                </a:solidFill>
                <a:effectLst/>
                <a:latin typeface="Times New Roman" panose="02020603050405020304" pitchFamily="18" charset="0"/>
                <a:ea typeface="Yu Mincho" panose="02020400000000000000" pitchFamily="18" charset="-128"/>
                <a:cs typeface="Arial" panose="020B0604020202020204" pitchFamily="34" charset="0"/>
              </a:rPr>
              <a:t>échelle de rapports :</a:t>
            </a:r>
            <a:r>
              <a:rPr lang="fr-FR" sz="1800" dirty="0">
                <a:solidFill>
                  <a:srgbClr val="4472C4"/>
                </a:solidFill>
                <a:effectLst/>
                <a:latin typeface="Times New Roman" panose="02020603050405020304" pitchFamily="18" charset="0"/>
                <a:ea typeface="Yu Mincho" panose="02020400000000000000" pitchFamily="18" charset="-128"/>
                <a:cs typeface="Arial" panose="020B0604020202020204" pitchFamily="34" charset="0"/>
              </a:rPr>
              <a:t> c’est l’échelle la plus maniable, la plus riche. Elle admet un zéro absolu, c’est-à-dire que si la variable est nulle, cela signifie l’absence de ce qu’on mesure. Il est possible de faire toutes les opérations algébriques avec une telle échelle.</a:t>
            </a:r>
            <a:r>
              <a:rPr lang="fr-FR"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r>
              <a:rPr lang="fr-CA" sz="1800" dirty="0">
                <a:solidFill>
                  <a:srgbClr val="000000"/>
                </a:solidFill>
                <a:effectLst/>
                <a:latin typeface="Calibri" panose="020F0502020204030204" pitchFamily="34" charset="0"/>
                <a:ea typeface="Yu Mincho" panose="02020400000000000000" pitchFamily="18" charset="-128"/>
                <a:cs typeface="Arial" panose="020B0604020202020204" pitchFamily="34" charset="0"/>
              </a:rPr>
              <a:t> </a:t>
            </a:r>
            <a:b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br>
            <a:r>
              <a:rPr lang="fr-CA" sz="1800" dirty="0">
                <a:effectLst/>
                <a:latin typeface="Calibri" panose="020F0502020204030204" pitchFamily="34" charset="0"/>
                <a:ea typeface="Yu Mincho" panose="02020400000000000000" pitchFamily="18" charset="-128"/>
                <a:cs typeface="Arial" panose="020B0604020202020204" pitchFamily="34" charset="0"/>
              </a:rPr>
              <a:t>  </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br>
              <a:rPr lang="fr-CA" sz="1800" dirty="0">
                <a:effectLst/>
                <a:latin typeface="Calibri" panose="020F0502020204030204" pitchFamily="34" charset="0"/>
                <a:ea typeface="Yu Mincho" panose="02020400000000000000" pitchFamily="18" charset="-128"/>
                <a:cs typeface="Arial" panose="020B0604020202020204" pitchFamily="34" charset="0"/>
              </a:rPr>
            </a:br>
            <a:endParaRPr lang="fr-CA" dirty="0"/>
          </a:p>
        </p:txBody>
      </p:sp>
      <p:sp>
        <p:nvSpPr>
          <p:cNvPr id="3" name="Espace réservé du pied de page 2">
            <a:extLst>
              <a:ext uri="{FF2B5EF4-FFF2-40B4-BE49-F238E27FC236}">
                <a16:creationId xmlns:a16="http://schemas.microsoft.com/office/drawing/2014/main" id="{CFE56CB3-87D3-42F2-90AB-77B7A4D5B05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81B2F4C-C2BF-4311-84A3-BDA6722DEC83}"/>
              </a:ext>
            </a:extLst>
          </p:cNvPr>
          <p:cNvSpPr>
            <a:spLocks noGrp="1"/>
          </p:cNvSpPr>
          <p:nvPr>
            <p:ph type="sldNum" sz="quarter" idx="12"/>
          </p:nvPr>
        </p:nvSpPr>
        <p:spPr/>
        <p:txBody>
          <a:bodyPr/>
          <a:lstStyle/>
          <a:p>
            <a:fld id="{26377AD9-CE17-438C-A638-C64D2D42D7CF}" type="slidenum">
              <a:rPr lang="fr-CA" smtClean="0"/>
              <a:t>7</a:t>
            </a:fld>
            <a:endParaRPr lang="fr-CA"/>
          </a:p>
        </p:txBody>
      </p:sp>
      <p:sp>
        <p:nvSpPr>
          <p:cNvPr id="5" name="ZoneTexte 4">
            <a:extLst>
              <a:ext uri="{FF2B5EF4-FFF2-40B4-BE49-F238E27FC236}">
                <a16:creationId xmlns:a16="http://schemas.microsoft.com/office/drawing/2014/main" id="{F56CF899-DB5B-48A0-BA5D-C4BD0D64B2AB}"/>
              </a:ext>
            </a:extLst>
          </p:cNvPr>
          <p:cNvSpPr txBox="1"/>
          <p:nvPr/>
        </p:nvSpPr>
        <p:spPr>
          <a:xfrm>
            <a:off x="0" y="1436915"/>
            <a:ext cx="12461966" cy="5150128"/>
          </a:xfrm>
          <a:prstGeom prst="rect">
            <a:avLst/>
          </a:prstGeom>
          <a:noFill/>
        </p:spPr>
        <p:txBody>
          <a:bodyPr wrap="square" rtlCol="0">
            <a:spAutoFit/>
          </a:bodyPr>
          <a:lstStyle/>
          <a:p>
            <a:r>
              <a:rPr lang="fr-CA" dirty="0"/>
              <a:t>Exemples:</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Soit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 le revenu familial annuel (en dollars).  Si </a:t>
            </a:r>
            <a:r>
              <a:rPr lang="fr-CA" sz="1800" i="1"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X</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a:t>
            </a:r>
            <a:r>
              <a:rPr lang="fr-CA" sz="1800" dirty="0">
                <a:solidFill>
                  <a:srgbClr val="000000"/>
                </a:solidFill>
                <a:effectLst/>
                <a:latin typeface="Symbol (T1) Medium"/>
                <a:ea typeface="Yu Mincho" panose="02020400000000000000" pitchFamily="18" charset="-128"/>
                <a:cs typeface="Arial" panose="020B0604020202020204" pitchFamily="34" charset="0"/>
              </a:rPr>
              <a:t>=</a:t>
            </a: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 0, cela signifie qu’il n’y a pas eu de revenu.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Si on prend deux familles dont le revenu respectif est de 30 000 $ et de 120 000 $, on peut dire qu’il y a un écart de 90 000 $ entre ces deux revenus. On peut aussi dire que la seconde famille gagne 4 fois plus que la première, car le rapport de leur revenu est de 4, quelle que soit l’unité monétaire utilisée.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Si on additionne ces deux revenus, on aura un revenu global de 150 000 $. </a:t>
            </a:r>
          </a:p>
          <a:p>
            <a:pPr marL="228600" indent="-228600">
              <a:lnSpc>
                <a:spcPct val="200000"/>
              </a:lnSpc>
              <a:spcBef>
                <a:spcPts val="600"/>
              </a:spcBef>
              <a:spcAft>
                <a:spcPts val="17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L’échelle de cette variable est alors une échelle de rapports.</a:t>
            </a:r>
          </a:p>
          <a:p>
            <a:pPr marL="285750" indent="-285750">
              <a:buFont typeface="Arial" panose="020B0604020202020204" pitchFamily="34" charset="0"/>
              <a:buChar char="•"/>
            </a:pPr>
            <a:endParaRPr lang="fr-CA" dirty="0"/>
          </a:p>
        </p:txBody>
      </p:sp>
    </p:spTree>
    <p:extLst>
      <p:ext uri="{BB962C8B-B14F-4D97-AF65-F5344CB8AC3E}">
        <p14:creationId xmlns:p14="http://schemas.microsoft.com/office/powerpoint/2010/main" val="1471765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DC21F6-F23A-4431-AA0E-8D0309AD10CD}"/>
              </a:ext>
            </a:extLst>
          </p:cNvPr>
          <p:cNvSpPr>
            <a:spLocks noGrp="1"/>
          </p:cNvSpPr>
          <p:nvPr>
            <p:ph type="title"/>
          </p:nvPr>
        </p:nvSpPr>
        <p:spPr/>
        <p:txBody>
          <a:bodyPr/>
          <a:lstStyle/>
          <a:p>
            <a:r>
              <a:rPr lang="fr-CA" dirty="0"/>
              <a:t>GRAPHIQUE1: Diagramme à barres.</a:t>
            </a:r>
          </a:p>
        </p:txBody>
      </p:sp>
      <p:sp>
        <p:nvSpPr>
          <p:cNvPr id="3" name="Espace réservé du pied de page 2">
            <a:extLst>
              <a:ext uri="{FF2B5EF4-FFF2-40B4-BE49-F238E27FC236}">
                <a16:creationId xmlns:a16="http://schemas.microsoft.com/office/drawing/2014/main" id="{303CD711-EDEB-4F07-B629-10F9FC6ED0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384C9E8-4935-4018-A60F-F2B743E721C9}"/>
              </a:ext>
            </a:extLst>
          </p:cNvPr>
          <p:cNvSpPr>
            <a:spLocks noGrp="1"/>
          </p:cNvSpPr>
          <p:nvPr>
            <p:ph type="sldNum" sz="quarter" idx="12"/>
          </p:nvPr>
        </p:nvSpPr>
        <p:spPr/>
        <p:txBody>
          <a:bodyPr/>
          <a:lstStyle/>
          <a:p>
            <a:fld id="{26377AD9-CE17-438C-A638-C64D2D42D7CF}" type="slidenum">
              <a:rPr lang="fr-CA" smtClean="0"/>
              <a:t>8</a:t>
            </a:fld>
            <a:endParaRPr lang="fr-CA"/>
          </a:p>
        </p:txBody>
      </p:sp>
      <p:sp>
        <p:nvSpPr>
          <p:cNvPr id="5" name="ZoneTexte 4">
            <a:extLst>
              <a:ext uri="{FF2B5EF4-FFF2-40B4-BE49-F238E27FC236}">
                <a16:creationId xmlns:a16="http://schemas.microsoft.com/office/drawing/2014/main" id="{BB8D7F43-779F-49F4-A4EF-B2AD08F44CF3}"/>
              </a:ext>
            </a:extLst>
          </p:cNvPr>
          <p:cNvSpPr txBox="1"/>
          <p:nvPr/>
        </p:nvSpPr>
        <p:spPr>
          <a:xfrm>
            <a:off x="822960" y="1567543"/>
            <a:ext cx="10371909" cy="5347618"/>
          </a:xfrm>
          <a:prstGeom prst="rect">
            <a:avLst/>
          </a:prstGeom>
          <a:noFill/>
        </p:spPr>
        <p:txBody>
          <a:bodyPr wrap="square" rtlCol="0">
            <a:spAutoFit/>
          </a:bodyPr>
          <a:lstStyle/>
          <a:p>
            <a:pPr algn="l">
              <a:lnSpc>
                <a:spcPct val="200000"/>
              </a:lnSpc>
              <a:spcBef>
                <a:spcPts val="500"/>
              </a:spcBef>
              <a:spcAft>
                <a:spcPts val="800"/>
              </a:spcAft>
            </a:pPr>
            <a:r>
              <a:rPr lang="fr-CA" dirty="0"/>
              <a:t>Exemple: </a:t>
            </a:r>
            <a:r>
              <a:rPr lang="fr-FR"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choisit un échantillon aléatoire de 50 Canadiens adultes au hasard ; on leur demande de donner leur niveau de scolarité, noté par les lettres suivantes : P : niveau primaire ; S : niveau secondaire ; C : niveau collégial ; U : niveau universitaire ; et A : aucun niveau.</a:t>
            </a:r>
            <a:endPar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endParaRPr>
          </a:p>
          <a:p>
            <a:pPr algn="l">
              <a:lnSpc>
                <a:spcPct val="200000"/>
              </a:lnSpc>
              <a:spcBef>
                <a:spcPts val="500"/>
              </a:spcBef>
              <a:spcAft>
                <a:spcPts val="800"/>
              </a:spcAft>
            </a:pPr>
            <a:r>
              <a:rPr lang="fr-CA" sz="1800" dirty="0">
                <a:solidFill>
                  <a:srgbClr val="000000"/>
                </a:solidFill>
                <a:effectLst/>
                <a:latin typeface="Times New Roman" panose="02020603050405020304" pitchFamily="18" charset="0"/>
                <a:ea typeface="Yu Mincho" panose="02020400000000000000" pitchFamily="18" charset="-128"/>
                <a:cs typeface="Arial" panose="020B0604020202020204" pitchFamily="34" charset="0"/>
              </a:rPr>
              <a:t>On obtient ainsi les résultats suivants :</a:t>
            </a:r>
          </a:p>
          <a:p>
            <a:r>
              <a:rPr lang="fr-CA" dirty="0"/>
              <a:t> 4(A); 10(P); 18(S); 10(C)  et  8(U)</a:t>
            </a:r>
          </a:p>
          <a:p>
            <a:endParaRPr lang="fr-CA" dirty="0"/>
          </a:p>
          <a:p>
            <a:r>
              <a:rPr lang="fr-CA" b="1" dirty="0"/>
              <a:t>Si on veut faire un diagramme à barres, on tape</a:t>
            </a:r>
            <a:r>
              <a:rPr lang="fr-CA" dirty="0"/>
              <a:t>:</a:t>
            </a:r>
          </a:p>
          <a:p>
            <a:pPr marL="285750" indent="-285750">
              <a:buFont typeface="Arial" panose="020B0604020202020204" pitchFamily="34" charset="0"/>
              <a:buChar char="•"/>
            </a:pPr>
            <a:r>
              <a:rPr lang="fr-CA" dirty="0" err="1"/>
              <a:t>prop</a:t>
            </a:r>
            <a:r>
              <a:rPr lang="fr-CA" dirty="0"/>
              <a:t>=c(4,10,18,10,8)</a:t>
            </a:r>
          </a:p>
          <a:p>
            <a:pPr marL="285750" indent="-285750">
              <a:buFont typeface="Arial" panose="020B0604020202020204" pitchFamily="34" charset="0"/>
              <a:buChar char="•"/>
            </a:pPr>
            <a:r>
              <a:rPr lang="fr-CA" dirty="0"/>
              <a:t>cat=</a:t>
            </a:r>
            <a:r>
              <a:rPr lang="pl-PL" dirty="0"/>
              <a:t>cat=c("A","P","S","C","U")</a:t>
            </a:r>
            <a:endParaRPr lang="fr-CA" dirty="0"/>
          </a:p>
          <a:p>
            <a:pPr marL="285750" indent="-285750">
              <a:buFont typeface="Arial" panose="020B0604020202020204" pitchFamily="34" charset="0"/>
              <a:buChar char="•"/>
            </a:pPr>
            <a:r>
              <a:rPr lang="fr-CA" dirty="0" err="1"/>
              <a:t>barplot</a:t>
            </a:r>
            <a:r>
              <a:rPr lang="fr-CA" dirty="0"/>
              <a:t>(</a:t>
            </a:r>
            <a:r>
              <a:rPr lang="fr-CA" dirty="0" err="1"/>
              <a:t>prop,names.arg</a:t>
            </a:r>
            <a:r>
              <a:rPr lang="fr-CA" dirty="0"/>
              <a:t>=</a:t>
            </a:r>
            <a:r>
              <a:rPr lang="fr-CA" dirty="0" err="1"/>
              <a:t>cat,xlab</a:t>
            </a:r>
            <a:r>
              <a:rPr lang="fr-CA" dirty="0"/>
              <a:t>="Les catégories",</a:t>
            </a:r>
            <a:r>
              <a:rPr lang="fr-CA" dirty="0" err="1"/>
              <a:t>ylab</a:t>
            </a:r>
            <a:r>
              <a:rPr lang="fr-CA" dirty="0"/>
              <a:t>="Les fréquences absolues", main="Diagramme à barres du niveau </a:t>
            </a:r>
            <a:r>
              <a:rPr lang="fr-CA" dirty="0" err="1"/>
              <a:t>scolaire",col</a:t>
            </a:r>
            <a:r>
              <a:rPr lang="fr-CA" dirty="0"/>
              <a:t>="</a:t>
            </a:r>
            <a:r>
              <a:rPr lang="fr-CA" dirty="0" err="1"/>
              <a:t>red</a:t>
            </a:r>
            <a:r>
              <a:rPr lang="fr-CA" dirty="0"/>
              <a:t>")</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p:txBody>
      </p:sp>
    </p:spTree>
    <p:extLst>
      <p:ext uri="{BB962C8B-B14F-4D97-AF65-F5344CB8AC3E}">
        <p14:creationId xmlns:p14="http://schemas.microsoft.com/office/powerpoint/2010/main" val="1196348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4372" y="0"/>
            <a:ext cx="9483256" cy="6858000"/>
          </a:xfrm>
          <a:prstGeom prst="rect">
            <a:avLst/>
          </a:prstGeom>
          <a:solidFill>
            <a:srgbClr val="7E47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Espace réservé du numéro de diapositive 2">
            <a:extLst>
              <a:ext uri="{FF2B5EF4-FFF2-40B4-BE49-F238E27FC236}">
                <a16:creationId xmlns:a16="http://schemas.microsoft.com/office/drawing/2014/main" id="{DE976E52-46BF-434F-8CA6-1AA3E843DE88}"/>
              </a:ext>
            </a:extLst>
          </p:cNvPr>
          <p:cNvSpPr>
            <a:spLocks noGrp="1"/>
          </p:cNvSpPr>
          <p:nvPr>
            <p:ph type="sldNum" sz="quarter" idx="12"/>
          </p:nvPr>
        </p:nvSpPr>
        <p:spPr>
          <a:xfrm>
            <a:off x="8610600" y="6356350"/>
            <a:ext cx="2743200" cy="365125"/>
          </a:xfrm>
        </p:spPr>
        <p:txBody>
          <a:bodyPr>
            <a:normAutofit/>
          </a:bodyPr>
          <a:lstStyle/>
          <a:p>
            <a:pPr>
              <a:spcAft>
                <a:spcPts val="600"/>
              </a:spcAft>
            </a:pPr>
            <a:fld id="{26377AD9-CE17-438C-A638-C64D2D42D7CF}" type="slidenum">
              <a:rPr lang="fr-CA" smtClean="0"/>
              <a:pPr>
                <a:spcAft>
                  <a:spcPts val="600"/>
                </a:spcAft>
              </a:pPr>
              <a:t>9</a:t>
            </a:fld>
            <a:endParaRPr lang="fr-CA"/>
          </a:p>
        </p:txBody>
      </p:sp>
      <p:sp>
        <p:nvSpPr>
          <p:cNvPr id="14" name="Freeform: Shape 13">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age 4">
            <a:extLst>
              <a:ext uri="{FF2B5EF4-FFF2-40B4-BE49-F238E27FC236}">
                <a16:creationId xmlns:a16="http://schemas.microsoft.com/office/drawing/2014/main" id="{0CF282A4-574B-432E-B435-32E74CA6F256}"/>
              </a:ext>
            </a:extLst>
          </p:cNvPr>
          <p:cNvPicPr>
            <a:picLocks noChangeAspect="1"/>
          </p:cNvPicPr>
          <p:nvPr/>
        </p:nvPicPr>
        <p:blipFill>
          <a:blip r:embed="rId3"/>
          <a:stretch>
            <a:fillRect/>
          </a:stretch>
        </p:blipFill>
        <p:spPr>
          <a:xfrm>
            <a:off x="3687681" y="1176793"/>
            <a:ext cx="4559545" cy="4548146"/>
          </a:xfrm>
          <a:prstGeom prst="rect">
            <a:avLst/>
          </a:prstGeom>
        </p:spPr>
      </p:pic>
      <p:sp>
        <p:nvSpPr>
          <p:cNvPr id="2" name="Espace réservé du pied de page 1">
            <a:extLst>
              <a:ext uri="{FF2B5EF4-FFF2-40B4-BE49-F238E27FC236}">
                <a16:creationId xmlns:a16="http://schemas.microsoft.com/office/drawing/2014/main" id="{891B42F1-684C-40A8-B239-242B1390608A}"/>
              </a:ext>
            </a:extLst>
          </p:cNvPr>
          <p:cNvSpPr>
            <a:spLocks noGrp="1"/>
          </p:cNvSpPr>
          <p:nvPr>
            <p:ph type="ftr" sz="quarter" idx="11"/>
          </p:nvPr>
        </p:nvSpPr>
        <p:spPr>
          <a:xfrm>
            <a:off x="4005942" y="6356350"/>
            <a:ext cx="4114800" cy="365125"/>
          </a:xfrm>
        </p:spPr>
        <p:txBody>
          <a:bodyPr>
            <a:normAutofit/>
          </a:bodyPr>
          <a:lstStyle/>
          <a:p>
            <a:endParaRPr lang="fr-CA"/>
          </a:p>
        </p:txBody>
      </p:sp>
    </p:spTree>
    <p:extLst>
      <p:ext uri="{BB962C8B-B14F-4D97-AF65-F5344CB8AC3E}">
        <p14:creationId xmlns:p14="http://schemas.microsoft.com/office/powerpoint/2010/main" val="1536638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CAA5A73-F2A7-47EF-8AEF-0479883C54E6}"/>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a:t>Diagramme circulaire</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AC41ADB2-88D9-4560-B010-090CED196C19}"/>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a:t>On tape: </a:t>
            </a:r>
          </a:p>
          <a:p>
            <a:pPr indent="-228600" defTabSz="914400">
              <a:lnSpc>
                <a:spcPct val="90000"/>
              </a:lnSpc>
              <a:spcAft>
                <a:spcPts val="600"/>
              </a:spcAft>
              <a:buFont typeface="Arial" panose="020B0604020202020204" pitchFamily="34" charset="0"/>
              <a:buChar char="•"/>
            </a:pPr>
            <a:r>
              <a:rPr lang="en-US" sz="2000"/>
              <a:t>pie(prop,cat,main="Diagramme circulaire de la répartition du niveau scolaire",col=1:5)</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a:extLst>
              <a:ext uri="{FF2B5EF4-FFF2-40B4-BE49-F238E27FC236}">
                <a16:creationId xmlns:a16="http://schemas.microsoft.com/office/drawing/2014/main" id="{78C1220D-0C2D-48B4-BF12-D893E93F9342}"/>
              </a:ext>
            </a:extLst>
          </p:cNvPr>
          <p:cNvPicPr>
            <a:picLocks noChangeAspect="1"/>
          </p:cNvPicPr>
          <p:nvPr/>
        </p:nvPicPr>
        <p:blipFill rotWithShape="1">
          <a:blip r:embed="rId2"/>
          <a:srcRect r="4" b="2822"/>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9644A312-022E-4B19-A9DF-F23A810F87D4}"/>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F0630BEE-E5EB-4C79-B9FE-5DA0A8B60762}"/>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10</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99214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5CB3C5C-6C43-4240-8C6A-827648B9E153}"/>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dirty="0"/>
              <a:t>Les variables </a:t>
            </a:r>
            <a:r>
              <a:rPr lang="en-US" sz="3700" b="1" dirty="0" err="1"/>
              <a:t>Quantitatives</a:t>
            </a:r>
            <a:endParaRPr lang="en-US" sz="3700" b="1" dirty="0"/>
          </a:p>
        </p:txBody>
      </p:sp>
      <p:grpSp>
        <p:nvGrpSpPr>
          <p:cNvPr id="18" name="Group 1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128D6341-02BE-4BED-A138-94301B283F80}"/>
              </a:ext>
            </a:extLst>
          </p:cNvPr>
          <p:cNvSpPr txBox="1"/>
          <p:nvPr/>
        </p:nvSpPr>
        <p:spPr>
          <a:xfrm>
            <a:off x="590719" y="2330505"/>
            <a:ext cx="4559425" cy="3979585"/>
          </a:xfrm>
          <a:prstGeom prst="rect">
            <a:avLst/>
          </a:prstGeom>
        </p:spPr>
        <p:txBody>
          <a:bodyPr vert="horz" lIns="91440" tIns="45720" rIns="91440" bIns="45720" rtlCol="0" anchor="ctr">
            <a:normAutofit lnSpcReduction="10000"/>
          </a:bodyPr>
          <a:lstStyle/>
          <a:p>
            <a:pPr indent="-228600" defTabSz="914400">
              <a:lnSpc>
                <a:spcPct val="90000"/>
              </a:lnSpc>
              <a:spcAft>
                <a:spcPts val="600"/>
              </a:spcAft>
              <a:buFont typeface="Arial" panose="020B0604020202020204" pitchFamily="34" charset="0"/>
              <a:buChar char="•"/>
            </a:pPr>
            <a:r>
              <a:rPr lang="fr-CA" sz="2000" dirty="0"/>
              <a:t>Soit X, une variables quantitative, mesurée sur un échantillon aléatoire (n fois).</a:t>
            </a:r>
          </a:p>
          <a:p>
            <a:pPr indent="-228600" defTabSz="914400">
              <a:lnSpc>
                <a:spcPct val="90000"/>
              </a:lnSpc>
              <a:spcAft>
                <a:spcPts val="600"/>
              </a:spcAft>
              <a:buFont typeface="Arial" panose="020B0604020202020204" pitchFamily="34" charset="0"/>
              <a:buChar char="•"/>
            </a:pPr>
            <a:r>
              <a:rPr lang="fr-CA" sz="2000" dirty="0"/>
              <a:t>Exemple:  On choisit 30 chauffeurs de taxi et on leur demande de nous donner le nombre de km parcouru hier.</a:t>
            </a:r>
          </a:p>
          <a:p>
            <a:pPr indent="-228600" defTabSz="914400">
              <a:lnSpc>
                <a:spcPct val="90000"/>
              </a:lnSpc>
              <a:spcAft>
                <a:spcPts val="600"/>
              </a:spcAft>
              <a:buFont typeface="Arial" panose="020B0604020202020204" pitchFamily="34" charset="0"/>
              <a:buChar char="•"/>
            </a:pPr>
            <a:r>
              <a:rPr lang="fr-CA" sz="2000" dirty="0"/>
              <a:t>Les données on les met dans un vecteur</a:t>
            </a:r>
          </a:p>
          <a:p>
            <a:pPr indent="-228600" defTabSz="914400">
              <a:lnSpc>
                <a:spcPct val="90000"/>
              </a:lnSpc>
              <a:spcAft>
                <a:spcPts val="600"/>
              </a:spcAft>
              <a:buFont typeface="Arial" panose="020B0604020202020204" pitchFamily="34" charset="0"/>
              <a:buChar char="•"/>
            </a:pPr>
            <a:r>
              <a:rPr lang="fr-CA" sz="2000" dirty="0"/>
              <a:t>x=c(345, 456,……….,398)</a:t>
            </a:r>
          </a:p>
          <a:p>
            <a:pPr indent="-228600" defTabSz="914400">
              <a:lnSpc>
                <a:spcPct val="90000"/>
              </a:lnSpc>
              <a:spcAft>
                <a:spcPts val="600"/>
              </a:spcAft>
              <a:buFont typeface="Arial" panose="020B0604020202020204" pitchFamily="34" charset="0"/>
              <a:buChar char="•"/>
            </a:pPr>
            <a:r>
              <a:rPr lang="fr-CA" sz="2000" dirty="0"/>
              <a:t>Et on tape:</a:t>
            </a:r>
          </a:p>
          <a:p>
            <a:pPr indent="-228600" defTabSz="914400">
              <a:lnSpc>
                <a:spcPct val="90000"/>
              </a:lnSpc>
              <a:spcAft>
                <a:spcPts val="600"/>
              </a:spcAft>
              <a:buFont typeface="Arial" panose="020B0604020202020204" pitchFamily="34" charset="0"/>
              <a:buChar char="•"/>
            </a:pPr>
            <a:r>
              <a:rPr lang="fr-CA" sz="2000" dirty="0" err="1"/>
              <a:t>hist</a:t>
            </a:r>
            <a:r>
              <a:rPr lang="fr-CA" sz="2000" dirty="0"/>
              <a:t>(</a:t>
            </a:r>
            <a:r>
              <a:rPr lang="fr-CA" sz="2000" dirty="0" err="1"/>
              <a:t>x,xlab</a:t>
            </a:r>
            <a:r>
              <a:rPr lang="fr-CA" sz="2000" dirty="0"/>
              <a:t>="Le nombre de km parcouru hier",</a:t>
            </a:r>
            <a:r>
              <a:rPr lang="fr-CA" sz="2000" dirty="0" err="1"/>
              <a:t>ylab</a:t>
            </a:r>
            <a:r>
              <a:rPr lang="fr-CA" sz="2000" dirty="0"/>
              <a:t>="Fréquences </a:t>
            </a:r>
            <a:r>
              <a:rPr lang="fr-CA" sz="2000" dirty="0" err="1"/>
              <a:t>absolues",main</a:t>
            </a:r>
            <a:r>
              <a:rPr lang="fr-CA" sz="2000" dirty="0"/>
              <a:t>="L'histogramme des distances parcourues </a:t>
            </a:r>
            <a:r>
              <a:rPr lang="fr-CA" sz="2000" dirty="0" err="1"/>
              <a:t>hier",col</a:t>
            </a:r>
            <a:r>
              <a:rPr lang="fr-CA" sz="2000" dirty="0"/>
              <a:t>="</a:t>
            </a:r>
            <a:r>
              <a:rPr lang="fr-CA" sz="2000" dirty="0" err="1"/>
              <a:t>blue</a:t>
            </a:r>
            <a:r>
              <a:rPr lang="fr-CA" sz="2000" dirty="0"/>
              <a:t>")</a:t>
            </a:r>
          </a:p>
          <a:p>
            <a:pPr indent="-228600" defTabSz="914400">
              <a:lnSpc>
                <a:spcPct val="90000"/>
              </a:lnSpc>
              <a:spcAft>
                <a:spcPts val="600"/>
              </a:spcAft>
              <a:buFont typeface="Arial" panose="020B0604020202020204" pitchFamily="34" charset="0"/>
              <a:buChar char="•"/>
            </a:pPr>
            <a:endParaRPr lang="en-US" sz="2000" dirty="0"/>
          </a:p>
          <a:p>
            <a:pPr indent="-228600" defTabSz="914400">
              <a:lnSpc>
                <a:spcPct val="90000"/>
              </a:lnSpc>
              <a:spcAft>
                <a:spcPts val="600"/>
              </a:spcAft>
              <a:buFont typeface="Arial" panose="020B0604020202020204" pitchFamily="34" charset="0"/>
              <a:buChar char="•"/>
            </a:pPr>
            <a:endParaRPr lang="en-US" sz="2000" dirty="0"/>
          </a:p>
        </p:txBody>
      </p:sp>
      <p:sp>
        <p:nvSpPr>
          <p:cNvPr id="24" name="Rectangle 2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a:extLst>
              <a:ext uri="{FF2B5EF4-FFF2-40B4-BE49-F238E27FC236}">
                <a16:creationId xmlns:a16="http://schemas.microsoft.com/office/drawing/2014/main" id="{9CB7E8DB-EEF6-478A-A4A1-57725DA7F744}"/>
              </a:ext>
            </a:extLst>
          </p:cNvPr>
          <p:cNvPicPr>
            <a:picLocks noChangeAspect="1"/>
          </p:cNvPicPr>
          <p:nvPr/>
        </p:nvPicPr>
        <p:blipFill rotWithShape="1">
          <a:blip r:embed="rId2"/>
          <a:srcRect t="2819" r="4" b="4"/>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F34DCD11-2382-4334-B449-E5400E8A8DBC}"/>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75F0C0F3-3A3A-45A2-8196-82C7057336AC}"/>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11</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4073366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A9E9E1-110A-480F-B46A-D1B1638B71C9}"/>
              </a:ext>
            </a:extLst>
          </p:cNvPr>
          <p:cNvSpPr>
            <a:spLocks noGrp="1"/>
          </p:cNvSpPr>
          <p:nvPr>
            <p:ph type="title"/>
          </p:nvPr>
        </p:nvSpPr>
        <p:spPr/>
        <p:txBody>
          <a:bodyPr/>
          <a:lstStyle/>
          <a:p>
            <a:r>
              <a:rPr lang="fr-CA" dirty="0"/>
              <a:t>Les mesures</a:t>
            </a:r>
          </a:p>
        </p:txBody>
      </p:sp>
      <p:sp>
        <p:nvSpPr>
          <p:cNvPr id="3" name="Espace réservé du pied de page 2">
            <a:extLst>
              <a:ext uri="{FF2B5EF4-FFF2-40B4-BE49-F238E27FC236}">
                <a16:creationId xmlns:a16="http://schemas.microsoft.com/office/drawing/2014/main" id="{9E8E06D4-E2C7-4EBB-B36F-280D64AD982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E3F890C-C3F1-4E2B-8EB8-3DF2F1195189}"/>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8771F6D-1269-4E6A-9473-51C7F7E3AC92}"/>
                  </a:ext>
                </a:extLst>
              </p:cNvPr>
              <p:cNvSpPr txBox="1"/>
              <p:nvPr/>
            </p:nvSpPr>
            <p:spPr>
              <a:xfrm>
                <a:off x="875211" y="1449977"/>
                <a:ext cx="10280469" cy="4438523"/>
              </a:xfrm>
              <a:prstGeom prst="rect">
                <a:avLst/>
              </a:prstGeom>
              <a:noFill/>
            </p:spPr>
            <p:txBody>
              <a:bodyPr wrap="square" rtlCol="0">
                <a:spAutoFit/>
              </a:bodyPr>
              <a:lstStyle/>
              <a:p>
                <a:r>
                  <a:rPr lang="fr-CA" dirty="0"/>
                  <a:t>Si on a un échantillon de données, on peut calculer:</a:t>
                </a:r>
              </a:p>
              <a:p>
                <a:pPr marL="285750" indent="-285750">
                  <a:buFont typeface="Arial" panose="020B0604020202020204" pitchFamily="34" charset="0"/>
                  <a:buChar char="•"/>
                </a:pPr>
                <a:r>
                  <a:rPr lang="fr-CA" dirty="0"/>
                  <a:t> Leur moyenne:</a:t>
                </a:r>
              </a:p>
              <a:p>
                <a:pPr/>
                <a14:m>
                  <m:oMathPara xmlns:m="http://schemas.openxmlformats.org/officeDocument/2006/math">
                    <m:oMathParaPr>
                      <m:jc m:val="centerGroup"/>
                    </m:oMathParaPr>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𝑖</m:t>
                                  </m:r>
                                </m:sub>
                              </m:sSub>
                            </m:e>
                          </m:nary>
                        </m:num>
                        <m:den>
                          <m:r>
                            <a:rPr lang="fr-CA" b="0" i="1" smtClean="0">
                              <a:latin typeface="Cambria Math" panose="02040503050406030204" pitchFamily="18" charset="0"/>
                            </a:rPr>
                            <m:t>𝑛</m:t>
                          </m:r>
                        </m:den>
                      </m:f>
                      <m:r>
                        <a:rPr lang="fr-CA" b="0" i="1" smtClean="0">
                          <a:latin typeface="Cambria Math" panose="02040503050406030204" pitchFamily="18" charset="0"/>
                        </a:rPr>
                        <m:t>=</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é</m:t>
                      </m:r>
                      <m:r>
                        <a:rPr lang="fr-CA" b="0" i="1" smtClean="0">
                          <a:latin typeface="Cambria Math" panose="02040503050406030204" pitchFamily="18" charset="0"/>
                        </a:rPr>
                        <m:t>𝑐h𝑎𝑛𝑡𝑖𝑙𝑙𝑜𝑛𝑛𝑎𝑙𝑒</m:t>
                      </m:r>
                      <m:r>
                        <a:rPr lang="fr-CA" b="0" i="1" smtClean="0">
                          <a:latin typeface="Cambria Math" panose="02040503050406030204" pitchFamily="18" charset="0"/>
                        </a:rPr>
                        <m:t> (</m:t>
                      </m:r>
                      <m:r>
                        <a:rPr lang="fr-CA" b="0" i="1" smtClean="0">
                          <a:latin typeface="Cambria Math" panose="02040503050406030204" pitchFamily="18" charset="0"/>
                        </a:rPr>
                        <m:t>𝑒𝑥𝑝</m:t>
                      </m:r>
                      <m:r>
                        <a:rPr lang="fr-CA" b="0" i="1" smtClean="0">
                          <a:latin typeface="Cambria Math" panose="02040503050406030204" pitchFamily="18" charset="0"/>
                        </a:rPr>
                        <m:t>é</m:t>
                      </m:r>
                      <m:r>
                        <a:rPr lang="fr-CA" b="0" i="1" smtClean="0">
                          <a:latin typeface="Cambria Math" panose="02040503050406030204" pitchFamily="18" charset="0"/>
                        </a:rPr>
                        <m:t>𝑟𝑖𝑚𝑒𝑛𝑡𝑎𝑙𝑒</m:t>
                      </m:r>
                      <m:r>
                        <a:rPr lang="fr-CA" b="0" i="1" smtClean="0">
                          <a:latin typeface="Cambria Math" panose="02040503050406030204" pitchFamily="18" charset="0"/>
                        </a:rPr>
                        <m:t>)</m:t>
                      </m:r>
                    </m:oMath>
                  </m:oMathPara>
                </a14:m>
                <a:endParaRPr lang="fr-CA" dirty="0"/>
              </a:p>
              <a:p>
                <a:pPr marL="285750" indent="-285750">
                  <a:buFont typeface="Arial" panose="020B0604020202020204" pitchFamily="34" charset="0"/>
                  <a:buChar char="•"/>
                </a:pPr>
                <a:r>
                  <a:rPr lang="fr-CA" dirty="0"/>
                  <a:t>Leur écart type :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𝑋</m:t>
                        </m:r>
                      </m:sub>
                    </m:sSub>
                    <m:r>
                      <a:rPr lang="fr-CA" b="0" i="1" smtClean="0">
                        <a:latin typeface="Cambria Math" panose="02040503050406030204" pitchFamily="18" charset="0"/>
                      </a:rPr>
                      <m:t>=</m:t>
                    </m:r>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p>
                                  <m:sSupPr>
                                    <m:ctrlPr>
                                      <a:rPr lang="fr-CA" b="0" i="1" smtClean="0">
                                        <a:latin typeface="Cambria Math" panose="02040503050406030204" pitchFamily="18" charset="0"/>
                                      </a:rPr>
                                    </m:ctrlPr>
                                  </m:sSupPr>
                                  <m:e>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𝑖</m:t>
                                        </m:r>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sub>
                                    </m:sSub>
                                  </m:e>
                                  <m:sup>
                                    <m:r>
                                      <a:rPr lang="fr-CA" b="0" i="1" smtClean="0">
                                        <a:latin typeface="Cambria Math" panose="02040503050406030204" pitchFamily="18" charset="0"/>
                                      </a:rPr>
                                      <m:t>2</m:t>
                                    </m:r>
                                  </m:sup>
                                </m:sSup>
                              </m:e>
                            </m:nary>
                          </m:num>
                          <m:den>
                            <m:r>
                              <a:rPr lang="fr-CA" b="0" i="1" smtClean="0">
                                <a:latin typeface="Cambria Math" panose="02040503050406030204" pitchFamily="18" charset="0"/>
                              </a:rPr>
                              <m:t>𝑛</m:t>
                            </m:r>
                            <m:r>
                              <a:rPr lang="fr-CA" b="0" i="1" smtClean="0">
                                <a:latin typeface="Cambria Math" panose="02040503050406030204" pitchFamily="18" charset="0"/>
                              </a:rPr>
                              <m:t>−1</m:t>
                            </m:r>
                          </m:den>
                        </m:f>
                      </m:e>
                    </m:rad>
                  </m:oMath>
                </a14:m>
                <a:r>
                  <a:rPr lang="fr-CA" dirty="0"/>
                  <a:t>= écart type </a:t>
                </a:r>
                <a:r>
                  <a:rPr lang="fr-CA" dirty="0" err="1"/>
                  <a:t>échantillonnal</a:t>
                </a:r>
                <a:r>
                  <a:rPr lang="fr-CA" dirty="0"/>
                  <a:t>. On peut les ordonner du plus petit au plus grand et ainsi déterminer :</a:t>
                </a:r>
              </a:p>
              <a:p>
                <a:pPr marL="285750" indent="-285750">
                  <a:buFont typeface="Arial" panose="020B0604020202020204" pitchFamily="34" charset="0"/>
                  <a:buChar char="•"/>
                </a:pPr>
                <a:r>
                  <a:rPr lang="fr-CA" dirty="0"/>
                  <a:t>La médiane: la donnée qui occupe le milieu: il y a 50% des données qui lui sont inférieures ou égales et 50% des données lui sont supérieures ou égales.</a:t>
                </a:r>
              </a:p>
              <a:p>
                <a:pPr marL="285750" indent="-285750">
                  <a:buFont typeface="Arial" panose="020B0604020202020204" pitchFamily="34" charset="0"/>
                  <a:buChar char="•"/>
                </a:pPr>
                <a:r>
                  <a:rPr lang="fr-CA" dirty="0"/>
                  <a:t>Le premier quartile (Q1) : 25% des données lui sont inférieures ou égales.</a:t>
                </a:r>
              </a:p>
              <a:p>
                <a:pPr marL="285750" indent="-285750">
                  <a:buFont typeface="Arial" panose="020B0604020202020204" pitchFamily="34" charset="0"/>
                  <a:buChar char="•"/>
                </a:pPr>
                <a:r>
                  <a:rPr lang="fr-CA" dirty="0"/>
                  <a:t>Le second quartile (Q2) qui correspond à la médiane.</a:t>
                </a:r>
              </a:p>
              <a:p>
                <a:pPr marL="285750" indent="-285750">
                  <a:buFont typeface="Arial" panose="020B0604020202020204" pitchFamily="34" charset="0"/>
                  <a:buChar char="•"/>
                </a:pPr>
                <a:r>
                  <a:rPr lang="fr-CA" dirty="0"/>
                  <a:t>Le troisième quartile (Q3) 75% des données lui sont inférieures ou égales.</a:t>
                </a:r>
              </a:p>
              <a:p>
                <a:pPr marL="285750" indent="-285750">
                  <a:buFont typeface="Arial" panose="020B0604020202020204" pitchFamily="34" charset="0"/>
                  <a:buChar char="•"/>
                </a:pPr>
                <a:endParaRPr lang="fr-CA" sz="1800" b="1" cap="all" dirty="0">
                  <a:solidFill>
                    <a:srgbClr val="000000"/>
                  </a:solidFill>
                  <a:effectLst/>
                  <a:latin typeface="HelveticaNeueLT Std Cn"/>
                  <a:ea typeface="Yu Mincho" panose="02020400000000000000" pitchFamily="18" charset="-128"/>
                  <a:cs typeface="HelveticaNeueLT Std Cn"/>
                </a:endParaRPr>
              </a:p>
              <a:p>
                <a:pPr>
                  <a:spcBef>
                    <a:spcPts val="500"/>
                  </a:spcBef>
                  <a:spcAft>
                    <a:spcPts val="1000"/>
                  </a:spcAft>
                </a:pPr>
                <a:r>
                  <a:rPr lang="fr-CA" sz="1800" dirty="0">
                    <a:effectLst/>
                    <a:latin typeface="Calibri" panose="020F0502020204030204" pitchFamily="34" charset="0"/>
                    <a:ea typeface="Yu Mincho" panose="02020400000000000000" pitchFamily="18" charset="-128"/>
                    <a:cs typeface="Arial" panose="020B0604020202020204" pitchFamily="34" charset="0"/>
                  </a:rPr>
                  <a:t>  </a:t>
                </a:r>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A8771F6D-1269-4E6A-9473-51C7F7E3AC92}"/>
                  </a:ext>
                </a:extLst>
              </p:cNvPr>
              <p:cNvSpPr txBox="1">
                <a:spLocks noRot="1" noChangeAspect="1" noMove="1" noResize="1" noEditPoints="1" noAdjustHandles="1" noChangeArrowheads="1" noChangeShapeType="1" noTextEdit="1"/>
              </p:cNvSpPr>
              <p:nvPr/>
            </p:nvSpPr>
            <p:spPr>
              <a:xfrm>
                <a:off x="875211" y="1449977"/>
                <a:ext cx="10280469" cy="4438523"/>
              </a:xfrm>
              <a:prstGeom prst="rect">
                <a:avLst/>
              </a:prstGeom>
              <a:blipFill>
                <a:blip r:embed="rId2"/>
                <a:stretch>
                  <a:fillRect l="-534" t="-824"/>
                </a:stretch>
              </a:blipFill>
            </p:spPr>
            <p:txBody>
              <a:bodyPr/>
              <a:lstStyle/>
              <a:p>
                <a:r>
                  <a:rPr lang="fr-CA">
                    <a:noFill/>
                  </a:rPr>
                  <a:t> </a:t>
                </a:r>
              </a:p>
            </p:txBody>
          </p:sp>
        </mc:Fallback>
      </mc:AlternateContent>
    </p:spTree>
    <p:extLst>
      <p:ext uri="{BB962C8B-B14F-4D97-AF65-F5344CB8AC3E}">
        <p14:creationId xmlns:p14="http://schemas.microsoft.com/office/powerpoint/2010/main" val="95218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93E075-B9C5-4EFA-8338-97CDD4BAE2DD}"/>
              </a:ext>
            </a:extLst>
          </p:cNvPr>
          <p:cNvSpPr>
            <a:spLocks noGrp="1"/>
          </p:cNvSpPr>
          <p:nvPr>
            <p:ph type="title"/>
          </p:nvPr>
        </p:nvSpPr>
        <p:spPr/>
        <p:txBody>
          <a:bodyPr/>
          <a:lstStyle/>
          <a:p>
            <a:r>
              <a:rPr lang="fr-CA" b="1" dirty="0"/>
              <a:t>Exemple:</a:t>
            </a:r>
            <a:r>
              <a:rPr lang="fr-CA" dirty="0"/>
              <a:t> Si on reprend l’exemple des chauffeurs de taxis.</a:t>
            </a:r>
          </a:p>
        </p:txBody>
      </p:sp>
      <p:sp>
        <p:nvSpPr>
          <p:cNvPr id="3" name="Espace réservé du pied de page 2">
            <a:extLst>
              <a:ext uri="{FF2B5EF4-FFF2-40B4-BE49-F238E27FC236}">
                <a16:creationId xmlns:a16="http://schemas.microsoft.com/office/drawing/2014/main" id="{9A9392AE-9644-4CA1-9030-EB7D6DA8F91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ACE7C86-43B7-44EC-9851-3A6D023452C1}"/>
              </a:ext>
            </a:extLst>
          </p:cNvPr>
          <p:cNvSpPr>
            <a:spLocks noGrp="1"/>
          </p:cNvSpPr>
          <p:nvPr>
            <p:ph type="sldNum" sz="quarter" idx="12"/>
          </p:nvPr>
        </p:nvSpPr>
        <p:spPr/>
        <p:txBody>
          <a:bodyPr/>
          <a:lstStyle/>
          <a:p>
            <a:fld id="{26377AD9-CE17-438C-A638-C64D2D42D7CF}" type="slidenum">
              <a:rPr lang="fr-CA" smtClean="0"/>
              <a:t>13</a:t>
            </a:fld>
            <a:endParaRPr lang="fr-CA"/>
          </a:p>
        </p:txBody>
      </p:sp>
      <p:sp>
        <p:nvSpPr>
          <p:cNvPr id="5" name="ZoneTexte 4">
            <a:extLst>
              <a:ext uri="{FF2B5EF4-FFF2-40B4-BE49-F238E27FC236}">
                <a16:creationId xmlns:a16="http://schemas.microsoft.com/office/drawing/2014/main" id="{92ED5C04-16C3-46A6-AA22-29AB40F5AB74}"/>
              </a:ext>
            </a:extLst>
          </p:cNvPr>
          <p:cNvSpPr txBox="1"/>
          <p:nvPr/>
        </p:nvSpPr>
        <p:spPr>
          <a:xfrm>
            <a:off x="1123406" y="2259874"/>
            <a:ext cx="9457508" cy="3139321"/>
          </a:xfrm>
          <a:prstGeom prst="rect">
            <a:avLst/>
          </a:prstGeom>
          <a:noFill/>
        </p:spPr>
        <p:txBody>
          <a:bodyPr wrap="square" rtlCol="0">
            <a:spAutoFit/>
          </a:bodyPr>
          <a:lstStyle/>
          <a:p>
            <a:r>
              <a:rPr lang="fr-CA" dirty="0"/>
              <a:t>Il suffit de taper:</a:t>
            </a:r>
          </a:p>
          <a:p>
            <a:r>
              <a:rPr lang="fr-CA" dirty="0" err="1"/>
              <a:t>summary</a:t>
            </a:r>
            <a:r>
              <a:rPr lang="fr-CA" dirty="0"/>
              <a:t>(x) et on obtient:</a:t>
            </a:r>
          </a:p>
          <a:p>
            <a:r>
              <a:rPr lang="en-US" dirty="0"/>
              <a:t>  </a:t>
            </a:r>
          </a:p>
          <a:p>
            <a:r>
              <a:rPr lang="en-US" dirty="0"/>
              <a:t> Min. 1st Qu.  Median    Mean 3rd Qu.    Max. </a:t>
            </a:r>
          </a:p>
          <a:p>
            <a:r>
              <a:rPr lang="en-US" dirty="0"/>
              <a:t>  159.0   300.0   382.5   362.1   403.8   503.0 </a:t>
            </a:r>
          </a:p>
          <a:p>
            <a:endParaRPr lang="en-US" dirty="0"/>
          </a:p>
          <a:p>
            <a:r>
              <a:rPr lang="en-US" dirty="0"/>
              <a:t>Pour </a:t>
            </a:r>
            <a:r>
              <a:rPr lang="en-US" dirty="0" err="1"/>
              <a:t>obtenir</a:t>
            </a:r>
            <a:r>
              <a:rPr lang="en-US" dirty="0"/>
              <a:t> </a:t>
            </a:r>
            <a:r>
              <a:rPr lang="en-US" dirty="0" err="1"/>
              <a:t>l’écart</a:t>
            </a:r>
            <a:r>
              <a:rPr lang="en-US" dirty="0"/>
              <a:t> type, on tape:</a:t>
            </a:r>
          </a:p>
          <a:p>
            <a:r>
              <a:rPr lang="en-US" dirty="0" err="1"/>
              <a:t>sd</a:t>
            </a:r>
            <a:r>
              <a:rPr lang="en-US" dirty="0"/>
              <a:t>(x) et on </a:t>
            </a:r>
            <a:r>
              <a:rPr lang="en-US" dirty="0" err="1"/>
              <a:t>obtient</a:t>
            </a:r>
            <a:r>
              <a:rPr lang="en-US" dirty="0"/>
              <a:t>:</a:t>
            </a:r>
          </a:p>
          <a:p>
            <a:r>
              <a:rPr lang="fr-CA" dirty="0" err="1"/>
              <a:t>sd</a:t>
            </a:r>
            <a:r>
              <a:rPr lang="fr-CA" dirty="0"/>
              <a:t>(x)</a:t>
            </a:r>
          </a:p>
          <a:p>
            <a:r>
              <a:rPr lang="fr-CA" dirty="0"/>
              <a:t>[1] 81.78354</a:t>
            </a:r>
          </a:p>
          <a:p>
            <a:endParaRPr lang="fr-CA" dirty="0"/>
          </a:p>
        </p:txBody>
      </p:sp>
    </p:spTree>
    <p:extLst>
      <p:ext uri="{BB962C8B-B14F-4D97-AF65-F5344CB8AC3E}">
        <p14:creationId xmlns:p14="http://schemas.microsoft.com/office/powerpoint/2010/main" val="634667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B26703-68C2-43B9-9F9A-818BD4799841}"/>
              </a:ext>
            </a:extLst>
          </p:cNvPr>
          <p:cNvSpPr>
            <a:spLocks noGrp="1"/>
          </p:cNvSpPr>
          <p:nvPr>
            <p:ph type="title"/>
          </p:nvPr>
        </p:nvSpPr>
        <p:spPr/>
        <p:txBody>
          <a:bodyPr/>
          <a:lstStyle/>
          <a:p>
            <a:r>
              <a:rPr lang="fr-CA" dirty="0"/>
              <a:t>Détection des données aberrantes</a:t>
            </a:r>
          </a:p>
        </p:txBody>
      </p:sp>
      <p:sp>
        <p:nvSpPr>
          <p:cNvPr id="3" name="Espace réservé du pied de page 2">
            <a:extLst>
              <a:ext uri="{FF2B5EF4-FFF2-40B4-BE49-F238E27FC236}">
                <a16:creationId xmlns:a16="http://schemas.microsoft.com/office/drawing/2014/main" id="{B2F94EC6-8689-4C28-9440-54F67E1DE09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5B441A1-ADC4-46AD-BAEC-46810499B27E}"/>
              </a:ext>
            </a:extLst>
          </p:cNvPr>
          <p:cNvSpPr>
            <a:spLocks noGrp="1"/>
          </p:cNvSpPr>
          <p:nvPr>
            <p:ph type="sldNum" sz="quarter" idx="12"/>
          </p:nvPr>
        </p:nvSpPr>
        <p:spPr/>
        <p:txBody>
          <a:bodyPr/>
          <a:lstStyle/>
          <a:p>
            <a:fld id="{26377AD9-CE17-438C-A638-C64D2D42D7CF}" type="slidenum">
              <a:rPr lang="fr-CA" smtClean="0"/>
              <a:t>14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AA10515-413E-4E9F-B58D-7DD0D1206203}"/>
                  </a:ext>
                </a:extLst>
              </p:cNvPr>
              <p:cNvSpPr txBox="1"/>
              <p:nvPr/>
            </p:nvSpPr>
            <p:spPr>
              <a:xfrm>
                <a:off x="875211" y="2220686"/>
                <a:ext cx="10228218" cy="2607573"/>
              </a:xfrm>
              <a:prstGeom prst="rect">
                <a:avLst/>
              </a:prstGeom>
              <a:noFill/>
            </p:spPr>
            <p:txBody>
              <a:bodyPr wrap="square" rtlCol="0">
                <a:spAutoFit/>
              </a:bodyPr>
              <a:lstStyle/>
              <a:p>
                <a:r>
                  <a:rPr lang="fr-CA" dirty="0"/>
                  <a:t>Pour détecter les données aberrantes dans une série de données, on calcule deux limites.</a:t>
                </a:r>
              </a:p>
              <a:p>
                <a:pPr marL="285750" indent="-285750">
                  <a:buFont typeface="Arial" panose="020B0604020202020204" pitchFamily="34" charset="0"/>
                  <a:buChar char="•"/>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𝐿</m:t>
                        </m:r>
                      </m:e>
                      <m:sub>
                        <m:r>
                          <a:rPr lang="fr-CA" b="0" i="1" smtClean="0">
                            <a:latin typeface="Cambria Math" panose="02040503050406030204" pitchFamily="18" charset="0"/>
                          </a:rPr>
                          <m:t>𝑠𝑢𝑝</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𝑄</m:t>
                        </m:r>
                      </m:e>
                      <m:sub>
                        <m:r>
                          <a:rPr lang="fr-CA" b="0" i="1" smtClean="0">
                            <a:latin typeface="Cambria Math" panose="02040503050406030204" pitchFamily="18" charset="0"/>
                          </a:rPr>
                          <m:t>3</m:t>
                        </m:r>
                      </m:sub>
                    </m:sSub>
                    <m:r>
                      <a:rPr lang="fr-CA" b="0" i="1" smtClean="0">
                        <a:latin typeface="Cambria Math" panose="02040503050406030204" pitchFamily="18" charset="0"/>
                      </a:rPr>
                      <m:t>+1,5</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𝑄</m:t>
                            </m:r>
                          </m:e>
                          <m:sub>
                            <m:r>
                              <a:rPr lang="fr-CA" b="0" i="1" smtClean="0">
                                <a:latin typeface="Cambria Math" panose="02040503050406030204" pitchFamily="18" charset="0"/>
                              </a:rPr>
                              <m:t>3</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𝑄</m:t>
                            </m:r>
                          </m:e>
                          <m:sub>
                            <m:r>
                              <a:rPr lang="fr-CA" b="0" i="1" smtClean="0">
                                <a:latin typeface="Cambria Math" panose="02040503050406030204" pitchFamily="18" charset="0"/>
                              </a:rPr>
                              <m:t>1</m:t>
                            </m:r>
                          </m:sub>
                        </m:sSub>
                      </m:e>
                    </m:d>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rPr>
                          <m:t>𝐿</m:t>
                        </m:r>
                      </m:e>
                      <m:sub>
                        <m:r>
                          <a:rPr lang="fr-CA" b="0" i="1" smtClean="0">
                            <a:latin typeface="Cambria Math" panose="02040503050406030204" pitchFamily="18" charset="0"/>
                          </a:rPr>
                          <m:t>𝑖𝑛𝑓</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𝑄</m:t>
                        </m:r>
                      </m:e>
                      <m:sub>
                        <m:r>
                          <a:rPr lang="fr-CA" b="0" i="1" smtClean="0">
                            <a:latin typeface="Cambria Math" panose="02040503050406030204" pitchFamily="18" charset="0"/>
                          </a:rPr>
                          <m:t>1</m:t>
                        </m:r>
                      </m:sub>
                    </m:sSub>
                    <m:r>
                      <a:rPr lang="fr-CA" b="0" i="1" smtClean="0">
                        <a:latin typeface="Cambria Math" panose="02040503050406030204" pitchFamily="18" charset="0"/>
                      </a:rPr>
                      <m:t>−</m:t>
                    </m:r>
                    <m:r>
                      <a:rPr lang="fr-CA" i="1">
                        <a:latin typeface="Cambria Math" panose="02040503050406030204" pitchFamily="18" charset="0"/>
                      </a:rPr>
                      <m:t>1,5</m:t>
                    </m:r>
                    <m:d>
                      <m:dPr>
                        <m:ctrlPr>
                          <a:rPr lang="fr-CA" i="1">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𝑄</m:t>
                            </m:r>
                          </m:e>
                          <m:sub>
                            <m:r>
                              <a:rPr lang="fr-CA" i="1">
                                <a:latin typeface="Cambria Math" panose="02040503050406030204" pitchFamily="18" charset="0"/>
                              </a:rPr>
                              <m:t>3</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𝑄</m:t>
                            </m:r>
                          </m:e>
                          <m:sub>
                            <m:r>
                              <a:rPr lang="fr-CA" i="1">
                                <a:latin typeface="Cambria Math" panose="02040503050406030204" pitchFamily="18" charset="0"/>
                              </a:rPr>
                              <m:t>1</m:t>
                            </m:r>
                          </m:sub>
                        </m:sSub>
                      </m:e>
                    </m:d>
                  </m:oMath>
                </a14:m>
                <a:endParaRPr lang="fr-CA" dirty="0"/>
              </a:p>
              <a:p>
                <a:pPr marL="285750" indent="-285750">
                  <a:buFont typeface="Arial" panose="020B0604020202020204" pitchFamily="34" charset="0"/>
                  <a:buChar char="•"/>
                </a:pPr>
                <a:r>
                  <a:rPr lang="fr-CA" dirty="0"/>
                  <a:t>Toute observation qui n’est pas entre ces deux limites est appelée donnée aberrante et doit être enlevée des données avant d’aller plus loin. Car les données aberrantes peuvent influencer la moyenne, l’écart type,……</a:t>
                </a:r>
              </a:p>
              <a:p>
                <a:pPr marL="285750" indent="-285750">
                  <a:buFont typeface="Arial" panose="020B0604020202020204" pitchFamily="34" charset="0"/>
                  <a:buChar char="•"/>
                </a:pPr>
                <a:r>
                  <a:rPr lang="fr-CA" dirty="0"/>
                  <a:t>On appelle la distance interquartile: </a:t>
                </a:r>
                <a14:m>
                  <m:oMath xmlns:m="http://schemas.openxmlformats.org/officeDocument/2006/math">
                    <m:r>
                      <a:rPr lang="fr-CA" b="0" i="1" smtClean="0">
                        <a:latin typeface="Cambria Math" panose="02040503050406030204" pitchFamily="18" charset="0"/>
                      </a:rPr>
                      <m:t>𝐷𝐼𝑄</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𝑄</m:t>
                        </m:r>
                      </m:e>
                      <m:sub>
                        <m:r>
                          <a:rPr lang="fr-CA" b="0" i="1" smtClean="0">
                            <a:latin typeface="Cambria Math" panose="02040503050406030204" pitchFamily="18" charset="0"/>
                          </a:rPr>
                          <m:t>3</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𝑄</m:t>
                        </m:r>
                      </m:e>
                      <m:sub>
                        <m:r>
                          <a:rPr lang="fr-CA" b="0" i="1" smtClean="0">
                            <a:latin typeface="Cambria Math" panose="02040503050406030204" pitchFamily="18" charset="0"/>
                          </a:rPr>
                          <m:t>1</m:t>
                        </m:r>
                      </m:sub>
                    </m:sSub>
                  </m:oMath>
                </a14:m>
                <a:r>
                  <a:rPr lang="fr-CA" dirty="0"/>
                  <a:t> </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Il existe une méthode graphique pour détecter les données aberrantes, c’est le diagramme des quartiles(diagramme à moustache, hamac, diagramme en boites,…)  ou </a:t>
                </a:r>
                <a:r>
                  <a:rPr lang="fr-CA" dirty="0" err="1"/>
                  <a:t>boxplot</a:t>
                </a:r>
                <a:endParaRPr lang="fr-CA" dirty="0"/>
              </a:p>
            </p:txBody>
          </p:sp>
        </mc:Choice>
        <mc:Fallback xmlns="">
          <p:sp>
            <p:nvSpPr>
              <p:cNvPr id="5" name="ZoneTexte 4">
                <a:extLst>
                  <a:ext uri="{FF2B5EF4-FFF2-40B4-BE49-F238E27FC236}">
                    <a16:creationId xmlns:a16="http://schemas.microsoft.com/office/drawing/2014/main" id="{BAA10515-413E-4E9F-B58D-7DD0D1206203}"/>
                  </a:ext>
                </a:extLst>
              </p:cNvPr>
              <p:cNvSpPr txBox="1">
                <a:spLocks noRot="1" noChangeAspect="1" noMove="1" noResize="1" noEditPoints="1" noAdjustHandles="1" noChangeArrowheads="1" noChangeShapeType="1" noTextEdit="1"/>
              </p:cNvSpPr>
              <p:nvPr/>
            </p:nvSpPr>
            <p:spPr>
              <a:xfrm>
                <a:off x="875211" y="2220686"/>
                <a:ext cx="10228218" cy="2607573"/>
              </a:xfrm>
              <a:prstGeom prst="rect">
                <a:avLst/>
              </a:prstGeom>
              <a:blipFill>
                <a:blip r:embed="rId2"/>
                <a:stretch>
                  <a:fillRect l="-537" t="-1168" r="-60" b="-2804"/>
                </a:stretch>
              </a:blipFill>
            </p:spPr>
            <p:txBody>
              <a:bodyPr/>
              <a:lstStyle/>
              <a:p>
                <a:r>
                  <a:rPr lang="fr-CA">
                    <a:noFill/>
                  </a:rPr>
                  <a:t> </a:t>
                </a:r>
              </a:p>
            </p:txBody>
          </p:sp>
        </mc:Fallback>
      </mc:AlternateContent>
    </p:spTree>
    <p:extLst>
      <p:ext uri="{BB962C8B-B14F-4D97-AF65-F5344CB8AC3E}">
        <p14:creationId xmlns:p14="http://schemas.microsoft.com/office/powerpoint/2010/main" val="2136740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DCF72F19-1473-448C-AA14-0CB8AA374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B68BA94-6518-4E8E-96E5-B95814BA8C45}"/>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2400"/>
              <a:t>Exemple1: Si on reprend les données des chauffeurs des taxis.</a:t>
            </a:r>
            <a:br>
              <a:rPr lang="en-US" sz="2400"/>
            </a:br>
            <a:r>
              <a:rPr lang="en-US" sz="2400"/>
              <a:t>On tape:</a:t>
            </a:r>
            <a:br>
              <a:rPr lang="en-US" sz="2400"/>
            </a:br>
            <a:r>
              <a:rPr lang="en-US" sz="2400"/>
              <a:t>boxplot(x,ylab="Les distances parcourues (enkm)",main="Diagramme des quartiles des distances parcourues", col="green")</a:t>
            </a:r>
          </a:p>
        </p:txBody>
      </p:sp>
      <p:grpSp>
        <p:nvGrpSpPr>
          <p:cNvPr id="50" name="Group 49">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51" name="Straight Connector 50">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a:extLst>
              <a:ext uri="{FF2B5EF4-FFF2-40B4-BE49-F238E27FC236}">
                <a16:creationId xmlns:a16="http://schemas.microsoft.com/office/drawing/2014/main" id="{4BAC7540-C252-40E9-AAF4-D756AEDD12CD}"/>
              </a:ext>
            </a:extLst>
          </p:cNvPr>
          <p:cNvPicPr>
            <a:picLocks noChangeAspect="1"/>
          </p:cNvPicPr>
          <p:nvPr/>
        </p:nvPicPr>
        <p:blipFill rotWithShape="1">
          <a:blip r:embed="rId2"/>
          <a:srcRect l="673"/>
          <a:stretch/>
        </p:blipFill>
        <p:spPr>
          <a:xfrm>
            <a:off x="5640572" y="557360"/>
            <a:ext cx="5608830" cy="5632704"/>
          </a:xfrm>
          <a:prstGeom prst="rect">
            <a:avLst/>
          </a:prstGeom>
        </p:spPr>
      </p:pic>
      <p:sp>
        <p:nvSpPr>
          <p:cNvPr id="3" name="Espace réservé du pied de page 2">
            <a:extLst>
              <a:ext uri="{FF2B5EF4-FFF2-40B4-BE49-F238E27FC236}">
                <a16:creationId xmlns:a16="http://schemas.microsoft.com/office/drawing/2014/main" id="{D12D1D08-DA93-4C75-AC61-6113DB186F03}"/>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45F8FF13-A886-49E3-9EFA-DA759328858C}"/>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65437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052628F-1AE9-4A4A-B969-45D4AD9E9D99}"/>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Exemple2: Soient les données suivantes</a:t>
            </a:r>
          </a:p>
        </p:txBody>
      </p:sp>
      <p:grpSp>
        <p:nvGrpSpPr>
          <p:cNvPr id="15" name="Group 1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ZoneTexte 5">
            <a:extLst>
              <a:ext uri="{FF2B5EF4-FFF2-40B4-BE49-F238E27FC236}">
                <a16:creationId xmlns:a16="http://schemas.microsoft.com/office/drawing/2014/main" id="{EE2FFCCF-ADD5-4B2A-881C-C56B6A2C512A}"/>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a:t>y=c(23,56,45,89,67,45,34,19,67,9,123,6,89,96,234)</a:t>
            </a:r>
          </a:p>
          <a:p>
            <a:pPr indent="-228600" defTabSz="914400">
              <a:lnSpc>
                <a:spcPct val="90000"/>
              </a:lnSpc>
              <a:spcAft>
                <a:spcPts val="600"/>
              </a:spcAft>
              <a:buFont typeface="Arial" panose="020B0604020202020204" pitchFamily="34" charset="0"/>
              <a:buChar char="•"/>
            </a:pPr>
            <a:endParaRPr lang="en-US" sz="2000"/>
          </a:p>
          <a:p>
            <a:pPr indent="-228600" defTabSz="914400">
              <a:lnSpc>
                <a:spcPct val="90000"/>
              </a:lnSpc>
              <a:spcAft>
                <a:spcPts val="600"/>
              </a:spcAft>
              <a:buFont typeface="Arial" panose="020B0604020202020204" pitchFamily="34" charset="0"/>
              <a:buChar char="•"/>
            </a:pPr>
            <a:r>
              <a:rPr lang="en-US" sz="2000"/>
              <a:t>boxplot(y)</a:t>
            </a:r>
          </a:p>
          <a:p>
            <a:pPr indent="-228600" defTabSz="914400">
              <a:lnSpc>
                <a:spcPct val="90000"/>
              </a:lnSpc>
              <a:spcAft>
                <a:spcPts val="600"/>
              </a:spcAft>
              <a:buFont typeface="Arial" panose="020B0604020202020204" pitchFamily="34" charset="0"/>
              <a:buChar char="•"/>
            </a:pPr>
            <a:endParaRPr lang="en-US" sz="2000"/>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a:extLst>
              <a:ext uri="{FF2B5EF4-FFF2-40B4-BE49-F238E27FC236}">
                <a16:creationId xmlns:a16="http://schemas.microsoft.com/office/drawing/2014/main" id="{C7FA3240-7A9D-4088-8BE4-46507A508CA9}"/>
              </a:ext>
            </a:extLst>
          </p:cNvPr>
          <p:cNvPicPr>
            <a:picLocks noChangeAspect="1"/>
          </p:cNvPicPr>
          <p:nvPr/>
        </p:nvPicPr>
        <p:blipFill rotWithShape="1">
          <a:blip r:embed="rId2"/>
          <a:srcRect t="218" r="4" b="2604"/>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1B4DA9C3-52F6-412C-8926-A9A68B498FEC}"/>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88C496E2-9A98-43F6-A9C6-8737E8C1374E}"/>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688312557"/>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1654</Words>
  <Application>Microsoft Office PowerPoint</Application>
  <PresentationFormat>Grand écran</PresentationFormat>
  <Paragraphs>125</Paragraphs>
  <Slides>16</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16</vt:i4>
      </vt:variant>
    </vt:vector>
  </HeadingPairs>
  <TitlesOfParts>
    <vt:vector size="25" baseType="lpstr">
      <vt:lpstr>Arial</vt:lpstr>
      <vt:lpstr>Calibri</vt:lpstr>
      <vt:lpstr>Calibri Light</vt:lpstr>
      <vt:lpstr>Cambria Math</vt:lpstr>
      <vt:lpstr>HelveticaNeueLT Std Cn</vt:lpstr>
      <vt:lpstr>Symbol</vt:lpstr>
      <vt:lpstr>Symbol (T1) Medium</vt:lpstr>
      <vt:lpstr>Times New Roman</vt:lpstr>
      <vt:lpstr>Office Theme</vt:lpstr>
      <vt:lpstr>INTRODUCTION: Statistique (State)</vt:lpstr>
      <vt:lpstr>Présentation PowerPoint</vt:lpstr>
      <vt:lpstr>Les échelles de mesures</vt:lpstr>
      <vt:lpstr>L’échelle ordinale s’adresse aux variables qualitatives ordinales, son nom venant du fait qu’on peut coder ses modalités selon un ordre</vt:lpstr>
      <vt:lpstr>L’échelle d’intervalle est une échelle qui permet simplement de constater l’écart entre deux valeurs que peut prendre la variable.  On reconnaît une échelle d’intervalle par l’absence du zéro absolu, c’est-à-dire que si la variable est nulle (X = 0), cela ne veut pas dire qu’il y a absence de ce qu’on mesure. </vt:lpstr>
      <vt:lpstr>Exemple 2:</vt:lpstr>
      <vt:lpstr>L’échelle de rapports : c’est l’échelle la plus maniable, la plus riche. Elle admet un zéro absolu, c’est-à-dire que si la variable est nulle, cela signifie l’absence de ce qu’on mesure. Il est possible de faire toutes les opérations algébriques avec une telle échelle.       </vt:lpstr>
      <vt:lpstr>GRAPHIQUE1: Diagramme à barres.</vt:lpstr>
      <vt:lpstr>Présentation PowerPoint</vt:lpstr>
      <vt:lpstr>Diagramme circulaire</vt:lpstr>
      <vt:lpstr>Les variables Quantitatives</vt:lpstr>
      <vt:lpstr>Les mesures</vt:lpstr>
      <vt:lpstr>Exemple: Si on reprend l’exemple des chauffeurs de taxis.</vt:lpstr>
      <vt:lpstr>Détection des données aberrantes</vt:lpstr>
      <vt:lpstr>Exemple1: Si on reprend les données des chauffeurs des taxis. On tape: boxplot(x,ylab="Les distances parcourues (enkm)",main="Diagramme des quartiles des distances parcourues", col="green")</vt:lpstr>
      <vt:lpstr>Exemple2: Soient les données suivantes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Statistique (State)</dc:title>
  <dc:creator>Mhammed Mountassir</dc:creator>
  <cp:lastModifiedBy>Mhammed Mountassir</cp:lastModifiedBy>
  <cp:revision>3</cp:revision>
  <dcterms:created xsi:type="dcterms:W3CDTF">2020-09-30T11:06:19Z</dcterms:created>
  <dcterms:modified xsi:type="dcterms:W3CDTF">2021-10-12T11:31:42Z</dcterms:modified>
</cp:coreProperties>
</file>