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4"/>
  </p:notesMasterIdLst>
  <p:sldIdLst>
    <p:sldId id="271" r:id="rId2"/>
    <p:sldId id="258" r:id="rId3"/>
    <p:sldId id="259" r:id="rId4"/>
    <p:sldId id="260" r:id="rId5"/>
    <p:sldId id="261" r:id="rId6"/>
    <p:sldId id="265" r:id="rId7"/>
    <p:sldId id="266" r:id="rId8"/>
    <p:sldId id="267" r:id="rId9"/>
    <p:sldId id="268" r:id="rId10"/>
    <p:sldId id="269" r:id="rId11"/>
    <p:sldId id="270"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4" autoAdjust="0"/>
    <p:restoredTop sz="86957" autoAdjust="0"/>
  </p:normalViewPr>
  <p:slideViewPr>
    <p:cSldViewPr snapToGrid="0">
      <p:cViewPr varScale="1">
        <p:scale>
          <a:sx n="99" d="100"/>
          <a:sy n="99" d="100"/>
        </p:scale>
        <p:origin x="102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2021-10-07</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4</a:t>
            </a:fld>
            <a:endParaRPr lang="fr-CA"/>
          </a:p>
        </p:txBody>
      </p:sp>
    </p:spTree>
    <p:extLst>
      <p:ext uri="{BB962C8B-B14F-4D97-AF65-F5344CB8AC3E}">
        <p14:creationId xmlns:p14="http://schemas.microsoft.com/office/powerpoint/2010/main" val="3494635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8</a:t>
            </a:fld>
            <a:endParaRPr lang="fr-CA"/>
          </a:p>
        </p:txBody>
      </p:sp>
    </p:spTree>
    <p:extLst>
      <p:ext uri="{BB962C8B-B14F-4D97-AF65-F5344CB8AC3E}">
        <p14:creationId xmlns:p14="http://schemas.microsoft.com/office/powerpoint/2010/main" val="2435704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2021-10-07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2021-10-07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2021-10-07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2021-10-07</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2021-10-07</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2021-10-07</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2021-10-07</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2021-10-07</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2021-10-07</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2021-10-07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2021-10-07</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2021-10-07</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34F715-3707-4841-9C67-2E22E9717BCC}"/>
              </a:ext>
            </a:extLst>
          </p:cNvPr>
          <p:cNvSpPr>
            <a:spLocks noGrp="1"/>
          </p:cNvSpPr>
          <p:nvPr>
            <p:ph type="title"/>
          </p:nvPr>
        </p:nvSpPr>
        <p:spPr/>
        <p:txBody>
          <a:bodyPr/>
          <a:lstStyle/>
          <a:p>
            <a:r>
              <a:rPr lang="fr-CA" dirty="0"/>
              <a:t>Théorème: Combinaison linéaire de variables aléatoires</a:t>
            </a:r>
          </a:p>
        </p:txBody>
      </p:sp>
      <p:sp>
        <p:nvSpPr>
          <p:cNvPr id="3" name="Espace réservé du pied de page 2">
            <a:extLst>
              <a:ext uri="{FF2B5EF4-FFF2-40B4-BE49-F238E27FC236}">
                <a16:creationId xmlns:a16="http://schemas.microsoft.com/office/drawing/2014/main" id="{9A60744A-B4B1-46F9-B919-E4B2F75E948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7E24EC9-E45A-4F5D-A661-E61F39AFDD4F}"/>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F46DD8CF-6B62-4678-A297-C4F42056F629}"/>
                  </a:ext>
                </a:extLst>
              </p:cNvPr>
              <p:cNvSpPr txBox="1"/>
              <p:nvPr/>
            </p:nvSpPr>
            <p:spPr>
              <a:xfrm>
                <a:off x="954741" y="1869141"/>
                <a:ext cx="9991165" cy="4164602"/>
              </a:xfrm>
              <a:prstGeom prst="rect">
                <a:avLst/>
              </a:prstGeom>
              <a:noFill/>
            </p:spPr>
            <p:txBody>
              <a:bodyPr wrap="square" rtlCol="0">
                <a:spAutoFit/>
              </a:bodyPr>
              <a:lstStyle/>
              <a:p>
                <a:r>
                  <a:rPr lang="fr-CA" dirty="0"/>
                  <a:t>Soient n variables aléatoires indépendantes alors:</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b>
                            <m:sSubPr>
                              <m:ctrlPr>
                                <a:rPr lang="fr-CA" b="0" i="1" smtClean="0">
                                  <a:latin typeface="Cambria Math" panose="02040503050406030204" pitchFamily="18" charset="0"/>
                                </a:rPr>
                              </m:ctrlPr>
                            </m:sSub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𝑎</m:t>
                                  </m:r>
                                </m:e>
                                <m:sub>
                                  <m:r>
                                    <a:rPr lang="fr-CA" b="0" i="1" smtClean="0">
                                      <a:latin typeface="Cambria Math" panose="02040503050406030204" pitchFamily="18" charset="0"/>
                                    </a:rPr>
                                    <m:t>𝑖</m:t>
                                  </m:r>
                                </m:sub>
                              </m:sSub>
                              <m:r>
                                <a:rPr lang="fr-CA" b="0" i="1" smtClean="0">
                                  <a:latin typeface="Cambria Math" panose="02040503050406030204" pitchFamily="18" charset="0"/>
                                </a:rPr>
                                <m:t>𝑋</m:t>
                              </m:r>
                            </m:e>
                            <m:sub>
                              <m:r>
                                <a:rPr lang="fr-CA" b="0" i="1" smtClean="0">
                                  <a:latin typeface="Cambria Math" panose="02040503050406030204" pitchFamily="18" charset="0"/>
                                </a:rPr>
                                <m:t>𝑖</m:t>
                              </m:r>
                            </m:sub>
                          </m:sSub>
                          <m:r>
                            <a:rPr lang="fr-CA" b="0" i="1" smtClean="0">
                              <a:latin typeface="Cambria Math" panose="02040503050406030204" pitchFamily="18" charset="0"/>
                            </a:rPr>
                            <m:t>)=</m:t>
                          </m:r>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eqArr>
                                <m:eqArrPr>
                                  <m:ctrlPr>
                                    <a:rPr lang="fr-CA" b="0" i="1" smtClean="0">
                                      <a:latin typeface="Cambria Math" panose="02040503050406030204" pitchFamily="18" charset="0"/>
                                    </a:rPr>
                                  </m:ctrlPr>
                                </m:eqArr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𝑎</m:t>
                                      </m:r>
                                    </m:e>
                                    <m:sub>
                                      <m:r>
                                        <a:rPr lang="fr-CA" b="0" i="1" smtClean="0">
                                          <a:latin typeface="Cambria Math" panose="02040503050406030204" pitchFamily="18" charset="0"/>
                                        </a:rPr>
                                        <m:t>𝑖</m:t>
                                      </m:r>
                                    </m:sub>
                                  </m:sSub>
                                  <m:r>
                                    <a:rPr lang="fr-CA" b="0" i="1" smtClean="0">
                                      <a:latin typeface="Cambria Math" panose="02040503050406030204" pitchFamily="18" charset="0"/>
                                    </a:rPr>
                                    <m:t>𝐸</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𝑖</m:t>
                                          </m:r>
                                        </m:sub>
                                      </m:sSub>
                                    </m:e>
                                  </m:d>
                                  <m:r>
                                    <a:rPr lang="fr-CA" b="0" i="1" smtClean="0">
                                      <a:latin typeface="Cambria Math" panose="02040503050406030204" pitchFamily="18" charset="0"/>
                                    </a:rPr>
                                    <m:t>              (</m:t>
                                  </m:r>
                                  <m:r>
                                    <a:rPr lang="fr-CA" b="0" i="1" smtClean="0">
                                      <a:latin typeface="Cambria Math" panose="02040503050406030204" pitchFamily="18" charset="0"/>
                                    </a:rPr>
                                    <m:t>𝑐𝑒𝑡𝑡𝑒</m:t>
                                  </m:r>
                                  <m:r>
                                    <a:rPr lang="fr-CA" b="0" i="1" smtClean="0">
                                      <a:latin typeface="Cambria Math" panose="02040503050406030204" pitchFamily="18" charset="0"/>
                                    </a:rPr>
                                    <m:t> é</m:t>
                                  </m:r>
                                  <m:r>
                                    <a:rPr lang="fr-CA" b="0" i="1" smtClean="0">
                                      <a:latin typeface="Cambria Math" panose="02040503050406030204" pitchFamily="18" charset="0"/>
                                    </a:rPr>
                                    <m:t>𝑔𝑎𝑙𝑖𝑡</m:t>
                                  </m:r>
                                  <m:r>
                                    <a:rPr lang="fr-CA" b="0" i="1" smtClean="0">
                                      <a:latin typeface="Cambria Math" panose="02040503050406030204" pitchFamily="18" charset="0"/>
                                    </a:rPr>
                                    <m:t>é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𝑡𝑜𝑢𝑗𝑜𝑢𝑟𝑠</m:t>
                                  </m:r>
                                  <m:r>
                                    <a:rPr lang="fr-CA" b="0" i="1" smtClean="0">
                                      <a:latin typeface="Cambria Math" panose="02040503050406030204" pitchFamily="18" charset="0"/>
                                    </a:rPr>
                                    <m:t> </m:t>
                                  </m:r>
                                  <m:r>
                                    <a:rPr lang="fr-CA" b="0" i="1" smtClean="0">
                                      <a:latin typeface="Cambria Math" panose="02040503050406030204" pitchFamily="18" charset="0"/>
                                    </a:rPr>
                                    <m:t>𝑣𝑟𝑎𝑖𝑒</m:t>
                                  </m:r>
                                  <m:r>
                                    <a:rPr lang="fr-CA" b="0" i="1" smtClean="0">
                                      <a:latin typeface="Cambria Math" panose="02040503050406030204" pitchFamily="18" charset="0"/>
                                    </a:rPr>
                                    <m:t> </m:t>
                                  </m:r>
                                  <m:r>
                                    <a:rPr lang="fr-CA" b="0" i="1" smtClean="0">
                                      <a:latin typeface="Cambria Math" panose="02040503050406030204" pitchFamily="18" charset="0"/>
                                    </a:rPr>
                                    <m:t>𝑞𝑢𝑒</m:t>
                                  </m:r>
                                  <m:r>
                                    <a:rPr lang="fr-CA" b="0" i="1" smtClean="0">
                                      <a:latin typeface="Cambria Math" panose="02040503050406030204" pitchFamily="18" charset="0"/>
                                    </a:rPr>
                                    <m:t> </m:t>
                                  </m:r>
                                  <m:r>
                                    <a:rPr lang="fr-CA" b="0" i="1" smtClean="0">
                                      <a:latin typeface="Cambria Math" panose="02040503050406030204" pitchFamily="18" charset="0"/>
                                    </a:rPr>
                                    <m:t>𝑙𝑒𝑠</m:t>
                                  </m:r>
                                  <m:r>
                                    <a:rPr lang="fr-CA" b="0" i="1" smtClean="0">
                                      <a:latin typeface="Cambria Math" panose="02040503050406030204" pitchFamily="18" charset="0"/>
                                    </a:rPr>
                                    <m:t> </m:t>
                                  </m:r>
                                  <m:r>
                                    <a:rPr lang="fr-CA" b="0" i="1" smtClean="0">
                                      <a:latin typeface="Cambria Math" panose="02040503050406030204" pitchFamily="18" charset="0"/>
                                    </a:rPr>
                                    <m:t>𝑣𝑎𝑟𝑖𝑎𝑏𝑙𝑒𝑠</m:t>
                                  </m:r>
                                  <m:r>
                                    <a:rPr lang="fr-CA" b="0" i="1" smtClean="0">
                                      <a:latin typeface="Cambria Math" panose="02040503050406030204" pitchFamily="18" charset="0"/>
                                    </a:rPr>
                                    <m:t> </m:t>
                                  </m:r>
                                  <m:r>
                                    <a:rPr lang="fr-CA" b="0" i="1" smtClean="0">
                                      <a:latin typeface="Cambria Math" panose="02040503050406030204" pitchFamily="18" charset="0"/>
                                    </a:rPr>
                                    <m:t>𝑠𝑜𝑖𝑒𝑛𝑡</m:t>
                                  </m:r>
                                  <m:r>
                                    <a:rPr lang="fr-CA" b="0" i="1" smtClean="0">
                                      <a:latin typeface="Cambria Math" panose="02040503050406030204" pitchFamily="18" charset="0"/>
                                    </a:rPr>
                                    <m:t> </m:t>
                                  </m:r>
                                </m:e>
                                <m:e>
                                  <m:r>
                                    <a:rPr lang="fr-CA" b="0" i="1" smtClean="0">
                                      <a:latin typeface="Cambria Math" panose="02040503050406030204" pitchFamily="18" charset="0"/>
                                    </a:rPr>
                                    <m:t>𝑖𝑛𝑑</m:t>
                                  </m:r>
                                  <m:r>
                                    <a:rPr lang="fr-CA" b="0" i="1" smtClean="0">
                                      <a:latin typeface="Cambria Math" panose="02040503050406030204" pitchFamily="18" charset="0"/>
                                    </a:rPr>
                                    <m:t>é</m:t>
                                  </m:r>
                                  <m:r>
                                    <a:rPr lang="fr-CA" b="0" i="1" smtClean="0">
                                      <a:latin typeface="Cambria Math" panose="02040503050406030204" pitchFamily="18" charset="0"/>
                                    </a:rPr>
                                    <m:t>𝑝𝑒𝑛𝑑𝑎𝑡𝑒𝑠</m:t>
                                  </m:r>
                                  <m:r>
                                    <a:rPr lang="fr-CA" b="0" i="1" smtClean="0">
                                      <a:latin typeface="Cambria Math" panose="02040503050406030204" pitchFamily="18" charset="0"/>
                                    </a:rPr>
                                    <m:t> </m:t>
                                  </m:r>
                                  <m:r>
                                    <a:rPr lang="fr-CA" b="0" i="1" smtClean="0">
                                      <a:latin typeface="Cambria Math" panose="02040503050406030204" pitchFamily="18" charset="0"/>
                                    </a:rPr>
                                    <m:t>𝑜𝑢</m:t>
                                  </m:r>
                                  <m:r>
                                    <a:rPr lang="fr-CA" b="0" i="1" smtClean="0">
                                      <a:latin typeface="Cambria Math" panose="02040503050406030204" pitchFamily="18" charset="0"/>
                                    </a:rPr>
                                    <m:t> </m:t>
                                  </m:r>
                                  <m:r>
                                    <a:rPr lang="fr-CA" b="0" i="1" smtClean="0">
                                      <a:latin typeface="Cambria Math" panose="02040503050406030204" pitchFamily="18" charset="0"/>
                                    </a:rPr>
                                    <m:t>𝑝𝑎𝑠</m:t>
                                  </m:r>
                                  <m:r>
                                    <a:rPr lang="fr-CA" b="0" i="1" smtClean="0">
                                      <a:latin typeface="Cambria Math" panose="02040503050406030204" pitchFamily="18" charset="0"/>
                                    </a:rPr>
                                    <m:t>)</m:t>
                                  </m:r>
                                </m:e>
                              </m:eqArr>
                            </m:e>
                          </m:nary>
                        </m:e>
                      </m:nary>
                    </m:oMath>
                  </m:oMathPara>
                </a14:m>
                <a:endParaRPr lang="fr-CA" dirty="0"/>
              </a:p>
              <a:p>
                <a:endParaRPr lang="fr-CA" dirty="0"/>
              </a:p>
              <a:p>
                <a:endParaRPr lang="fr-CA" dirty="0"/>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𝑉𝑎𝑟</m:t>
                      </m:r>
                      <m:r>
                        <a:rPr lang="fr-CA" b="0" i="1" smtClean="0">
                          <a:latin typeface="Cambria Math" panose="02040503050406030204" pitchFamily="18" charset="0"/>
                        </a:rPr>
                        <m:t>(</m:t>
                      </m:r>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b>
                            <m:sSubPr>
                              <m:ctrlPr>
                                <a:rPr lang="fr-CA" i="1">
                                  <a:latin typeface="Cambria Math" panose="02040503050406030204" pitchFamily="18" charset="0"/>
                                </a:rPr>
                              </m:ctrlPr>
                            </m:sSubPr>
                            <m:e>
                              <m:sSub>
                                <m:sSubPr>
                                  <m:ctrlPr>
                                    <a:rPr lang="fr-CA" i="1">
                                      <a:latin typeface="Cambria Math" panose="02040503050406030204" pitchFamily="18" charset="0"/>
                                    </a:rPr>
                                  </m:ctrlPr>
                                </m:sSubPr>
                                <m:e>
                                  <m:r>
                                    <a:rPr lang="fr-CA" i="1">
                                      <a:latin typeface="Cambria Math" panose="02040503050406030204" pitchFamily="18" charset="0"/>
                                    </a:rPr>
                                    <m:t>𝑎</m:t>
                                  </m:r>
                                </m:e>
                                <m:sub>
                                  <m:r>
                                    <a:rPr lang="fr-CA" i="1">
                                      <a:latin typeface="Cambria Math" panose="02040503050406030204" pitchFamily="18" charset="0"/>
                                    </a:rPr>
                                    <m:t>𝑖</m:t>
                                  </m:r>
                                </m:sub>
                              </m:sSub>
                              <m:r>
                                <a:rPr lang="fr-CA" i="1">
                                  <a:latin typeface="Cambria Math" panose="02040503050406030204" pitchFamily="18" charset="0"/>
                                </a:rPr>
                                <m:t>𝑋</m:t>
                              </m:r>
                            </m:e>
                            <m:sub>
                              <m:r>
                                <a:rPr lang="fr-CA" i="1">
                                  <a:latin typeface="Cambria Math" panose="02040503050406030204" pitchFamily="18" charset="0"/>
                                </a:rPr>
                                <m:t>𝑖</m:t>
                              </m:r>
                            </m:sub>
                          </m:sSub>
                          <m:r>
                            <a:rPr lang="fr-CA" b="0" i="1" smtClean="0">
                              <a:latin typeface="Cambria Math" panose="02040503050406030204" pitchFamily="18" charset="0"/>
                            </a:rPr>
                            <m:t>)=</m:t>
                          </m:r>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bSup>
                                <m:sSubSupPr>
                                  <m:ctrlPr>
                                    <a:rPr lang="fr-CA" b="0" i="1" smtClean="0">
                                      <a:latin typeface="Cambria Math" panose="02040503050406030204" pitchFamily="18" charset="0"/>
                                    </a:rPr>
                                  </m:ctrlPr>
                                </m:sSubSupPr>
                                <m:e>
                                  <m:r>
                                    <a:rPr lang="fr-CA" b="0" i="1" smtClean="0">
                                      <a:latin typeface="Cambria Math" panose="02040503050406030204" pitchFamily="18" charset="0"/>
                                    </a:rPr>
                                    <m:t>𝑎</m:t>
                                  </m:r>
                                </m:e>
                                <m:sub>
                                  <m:r>
                                    <a:rPr lang="fr-CA" b="0" i="1" smtClean="0">
                                      <a:latin typeface="Cambria Math" panose="02040503050406030204" pitchFamily="18" charset="0"/>
                                    </a:rPr>
                                    <m:t>𝑖</m:t>
                                  </m:r>
                                </m:sub>
                                <m:sup>
                                  <m:r>
                                    <a:rPr lang="fr-CA" b="0" i="1" smtClean="0">
                                      <a:latin typeface="Cambria Math" panose="02040503050406030204" pitchFamily="18" charset="0"/>
                                    </a:rPr>
                                    <m:t>2</m:t>
                                  </m:r>
                                </m:sup>
                              </m:sSubSup>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𝑖</m:t>
                                      </m:r>
                                    </m:sub>
                                  </m:sSub>
                                </m:e>
                              </m:d>
                              <m:r>
                                <a:rPr lang="fr-CA" b="0" i="1" smtClean="0">
                                  <a:latin typeface="Cambria Math" panose="02040503050406030204" pitchFamily="18" charset="0"/>
                                </a:rPr>
                                <m:t>       (</m:t>
                              </m:r>
                              <m:r>
                                <a:rPr lang="fr-CA" b="0" i="1" smtClean="0">
                                  <a:latin typeface="Cambria Math" panose="02040503050406030204" pitchFamily="18" charset="0"/>
                                </a:rPr>
                                <m:t>𝐼𝑐𝑖</m:t>
                              </m:r>
                              <m:r>
                                <a:rPr lang="fr-CA" b="0" i="1" smtClean="0">
                                  <a:latin typeface="Cambria Math" panose="02040503050406030204" pitchFamily="18" charset="0"/>
                                </a:rPr>
                                <m:t> </m:t>
                              </m:r>
                              <m:r>
                                <a:rPr lang="fr-CA" b="0" i="1" smtClean="0">
                                  <a:latin typeface="Cambria Math" panose="02040503050406030204" pitchFamily="18" charset="0"/>
                                </a:rPr>
                                <m:t>𝑖𝑙</m:t>
                              </m:r>
                              <m:r>
                                <a:rPr lang="fr-CA" b="0" i="1" smtClean="0">
                                  <a:latin typeface="Cambria Math" panose="02040503050406030204" pitchFamily="18" charset="0"/>
                                </a:rPr>
                                <m:t> </m:t>
                              </m:r>
                              <m:r>
                                <a:rPr lang="fr-CA" b="0" i="1" smtClean="0">
                                  <a:latin typeface="Cambria Math" panose="02040503050406030204" pitchFamily="18" charset="0"/>
                                </a:rPr>
                                <m:t>𝑓𝑎𝑢𝑡</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𝑙</m:t>
                                  </m:r>
                                </m:e>
                                <m:sup>
                                  <m:r>
                                    <a:rPr lang="fr-CA" b="0" i="1" smtClean="0">
                                      <a:latin typeface="Cambria Math" panose="02040503050406030204" pitchFamily="18" charset="0"/>
                                    </a:rPr>
                                    <m:t>′</m:t>
                                  </m:r>
                                </m:sup>
                              </m:sSup>
                              <m:r>
                                <a:rPr lang="fr-CA" b="0" i="1" smtClean="0">
                                  <a:latin typeface="Cambria Math" panose="02040503050406030204" pitchFamily="18" charset="0"/>
                                </a:rPr>
                                <m:t>𝑖𝑛𝑑</m:t>
                              </m:r>
                              <m:r>
                                <a:rPr lang="fr-CA" b="0" i="1" smtClean="0">
                                  <a:latin typeface="Cambria Math" panose="02040503050406030204" pitchFamily="18" charset="0"/>
                                </a:rPr>
                                <m:t>é</m:t>
                              </m:r>
                              <m:r>
                                <a:rPr lang="fr-CA" b="0" i="1" smtClean="0">
                                  <a:latin typeface="Cambria Math" panose="02040503050406030204" pitchFamily="18" charset="0"/>
                                </a:rPr>
                                <m:t>𝑝𝑒𝑛𝑑𝑎𝑛𝑐𝑒</m:t>
                              </m:r>
                              <m:r>
                                <a:rPr lang="fr-CA" b="0" i="1" smtClean="0">
                                  <a:latin typeface="Cambria Math" panose="02040503050406030204" pitchFamily="18" charset="0"/>
                                </a:rPr>
                                <m:t> </m:t>
                              </m:r>
                              <m:r>
                                <a:rPr lang="fr-CA" b="0" i="1" smtClean="0">
                                  <a:latin typeface="Cambria Math" panose="02040503050406030204" pitchFamily="18" charset="0"/>
                                </a:rPr>
                                <m:t>𝑑𝑒𝑠</m:t>
                              </m:r>
                              <m:r>
                                <a:rPr lang="fr-CA" b="0" i="1" smtClean="0">
                                  <a:latin typeface="Cambria Math" panose="02040503050406030204" pitchFamily="18" charset="0"/>
                                </a:rPr>
                                <m:t> </m:t>
                              </m:r>
                              <m:r>
                                <a:rPr lang="fr-CA" b="0" i="1" smtClean="0">
                                  <a:latin typeface="Cambria Math" panose="02040503050406030204" pitchFamily="18" charset="0"/>
                                </a:rPr>
                                <m:t>𝑣𝑎𝑟𝑖𝑎𝑏𝑙𝑒𝑠</m:t>
                              </m:r>
                              <m:r>
                                <a:rPr lang="fr-CA" b="0" i="1" smtClean="0">
                                  <a:latin typeface="Cambria Math" panose="02040503050406030204" pitchFamily="18" charset="0"/>
                                </a:rPr>
                                <m:t>)</m:t>
                              </m:r>
                            </m:e>
                          </m:nary>
                        </m:e>
                      </m:nary>
                      <m:r>
                        <a:rPr lang="fr-CA" b="0" i="1" smtClean="0">
                          <a:latin typeface="Cambria Math" panose="02040503050406030204" pitchFamily="18" charset="0"/>
                        </a:rPr>
                        <m:t> </m:t>
                      </m:r>
                    </m:oMath>
                  </m:oMathPara>
                </a14:m>
                <a:endParaRPr lang="fr-CA" dirty="0"/>
              </a:p>
              <a:p>
                <a:endParaRPr lang="fr-CA" dirty="0"/>
              </a:p>
              <a:p>
                <a:r>
                  <a:rPr lang="fr-CA" b="1" dirty="0"/>
                  <a:t>Exemple :</a:t>
                </a:r>
                <a:r>
                  <a:rPr lang="fr-CA" dirty="0"/>
                  <a:t> Soient 2 variables indépendantes telles que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e>
                    </m:d>
                    <m:r>
                      <a:rPr lang="fr-CA" b="0" i="1" smtClean="0">
                        <a:latin typeface="Cambria Math" panose="02040503050406030204" pitchFamily="18" charset="0"/>
                      </a:rPr>
                      <m:t>=−3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𝑣𝑎𝑟</m:t>
                    </m:r>
                    <m:r>
                      <a:rPr lang="fr-CA" b="0" i="1"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1</m:t>
                        </m:r>
                      </m:sub>
                    </m:sSub>
                  </m:oMath>
                </a14:m>
                <a:r>
                  <a:rPr lang="fr-CA" dirty="0"/>
                  <a:t>)=8; </a:t>
                </a:r>
                <a:endParaRPr lang="fr-CA" i="1" dirty="0">
                  <a:latin typeface="Cambria Math" panose="02040503050406030204" pitchFamily="18" charset="0"/>
                </a:endParaRPr>
              </a:p>
              <a:p>
                <a14:m>
                  <m:oMath xmlns:m="http://schemas.openxmlformats.org/officeDocument/2006/math">
                    <m:r>
                      <a:rPr lang="fr-CA" i="1">
                        <a:latin typeface="Cambria Math" panose="02040503050406030204" pitchFamily="18" charset="0"/>
                      </a:rPr>
                      <m:t>𝐸</m:t>
                    </m:r>
                    <m:d>
                      <m:dPr>
                        <m:ctrlPr>
                          <a:rPr lang="fr-CA" i="1">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2</m:t>
                            </m:r>
                          </m:sub>
                        </m:sSub>
                      </m:e>
                    </m:d>
                    <m:r>
                      <a:rPr lang="fr-CA" b="0" i="1" smtClean="0">
                        <a:latin typeface="Cambria Math" panose="02040503050406030204" pitchFamily="18" charset="0"/>
                      </a:rPr>
                      <m:t>=7</m:t>
                    </m:r>
                    <m:r>
                      <a:rPr lang="fr-CA" i="1">
                        <a:latin typeface="Cambria Math" panose="02040503050406030204" pitchFamily="18" charset="0"/>
                      </a:rPr>
                      <m:t>   </m:t>
                    </m:r>
                    <m:r>
                      <a:rPr lang="fr-CA" i="1">
                        <a:latin typeface="Cambria Math" panose="02040503050406030204" pitchFamily="18" charset="0"/>
                      </a:rPr>
                      <m:t>𝑒𝑡</m:t>
                    </m:r>
                    <m:r>
                      <a:rPr lang="fr-CA" i="1">
                        <a:latin typeface="Cambria Math" panose="02040503050406030204" pitchFamily="18" charset="0"/>
                      </a:rPr>
                      <m:t> </m:t>
                    </m:r>
                    <m:r>
                      <a:rPr lang="fr-CA" i="1">
                        <a:latin typeface="Cambria Math" panose="02040503050406030204" pitchFamily="18" charset="0"/>
                      </a:rPr>
                      <m:t>𝑣𝑎𝑟</m:t>
                    </m:r>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b="0" i="1" smtClean="0">
                            <a:latin typeface="Cambria Math" panose="02040503050406030204" pitchFamily="18" charset="0"/>
                          </a:rPr>
                          <m:t>2</m:t>
                        </m:r>
                      </m:sub>
                    </m:sSub>
                  </m:oMath>
                </a14:m>
                <a:r>
                  <a:rPr lang="fr-CA" dirty="0"/>
                  <a:t>)=12  Calculer la moyenne et la variance de </a:t>
                </a:r>
                <a14:m>
                  <m:oMath xmlns:m="http://schemas.openxmlformats.org/officeDocument/2006/math">
                    <m:r>
                      <a:rPr lang="fr-CA" b="0" i="1" smtClean="0">
                        <a:latin typeface="Cambria Math" panose="02040503050406030204" pitchFamily="18" charset="0"/>
                      </a:rPr>
                      <m:t>𝑌</m:t>
                    </m:r>
                    <m:r>
                      <a:rPr lang="fr-CA" b="0" i="1" smtClean="0">
                        <a:latin typeface="Cambria Math" panose="02040503050406030204" pitchFamily="18" charset="0"/>
                      </a:rPr>
                      <m:t>=−2</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+4</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oMath>
                </a14:m>
                <a:endParaRPr lang="fr-CA" dirty="0"/>
              </a:p>
              <a:p>
                <a:endParaRPr lang="fr-CA" dirty="0"/>
              </a:p>
              <a:p>
                <a:r>
                  <a:rPr lang="fr-CA" b="1" dirty="0"/>
                  <a:t>Réponse:  </a:t>
                </a:r>
                <a14:m>
                  <m:oMath xmlns:m="http://schemas.openxmlformats.org/officeDocument/2006/math">
                    <m:r>
                      <a:rPr lang="fr-CA" b="0" i="1" smtClean="0">
                        <a:latin typeface="Cambria Math" panose="02040503050406030204" pitchFamily="18" charset="0"/>
                      </a:rPr>
                      <m:t>𝐸</m:t>
                    </m:r>
                    <m:d>
                      <m:dPr>
                        <m:ctrlPr>
                          <a:rPr lang="fr-CA" i="1" smtClean="0">
                            <a:latin typeface="Cambria Math" panose="02040503050406030204" pitchFamily="18" charset="0"/>
                          </a:rPr>
                        </m:ctrlPr>
                      </m:dPr>
                      <m:e>
                        <m:r>
                          <a:rPr lang="fr-CA" b="0" i="1" smtClean="0">
                            <a:latin typeface="Cambria Math" panose="02040503050406030204" pitchFamily="18" charset="0"/>
                          </a:rPr>
                          <m:t>𝑌</m:t>
                        </m:r>
                      </m:e>
                    </m:d>
                    <m:r>
                      <a:rPr lang="fr-CA" b="0" i="1" smtClean="0">
                        <a:latin typeface="Cambria Math" panose="02040503050406030204" pitchFamily="18" charset="0"/>
                      </a:rPr>
                      <m:t>=</m:t>
                    </m:r>
                    <m:d>
                      <m:dPr>
                        <m:ctrlPr>
                          <a:rPr lang="fr-CA" i="1" smtClean="0">
                            <a:latin typeface="Cambria Math" panose="02040503050406030204" pitchFamily="18" charset="0"/>
                          </a:rPr>
                        </m:ctrlPr>
                      </m:dPr>
                      <m:e>
                        <m:r>
                          <a:rPr lang="fr-CA" b="0" i="1" smtClean="0">
                            <a:latin typeface="Cambria Math" panose="02040503050406030204" pitchFamily="18" charset="0"/>
                          </a:rPr>
                          <m:t>−2</m:t>
                        </m:r>
                      </m:e>
                    </m:d>
                    <m:d>
                      <m:dPr>
                        <m:ctrlPr>
                          <a:rPr lang="fr-CA" i="1" smtClean="0">
                            <a:latin typeface="Cambria Math" panose="02040503050406030204" pitchFamily="18" charset="0"/>
                          </a:rPr>
                        </m:ctrlPr>
                      </m:dPr>
                      <m:e>
                        <m:r>
                          <a:rPr lang="fr-CA" b="0" i="1" smtClean="0">
                            <a:latin typeface="Cambria Math" panose="02040503050406030204" pitchFamily="18" charset="0"/>
                          </a:rPr>
                          <m:t>−3</m:t>
                        </m:r>
                      </m:e>
                    </m:d>
                    <m:r>
                      <a:rPr lang="fr-CA" b="0" i="1" smtClean="0">
                        <a:latin typeface="Cambria Math" panose="02040503050406030204" pitchFamily="18" charset="0"/>
                      </a:rPr>
                      <m:t>+(4)(</m:t>
                    </m:r>
                  </m:oMath>
                </a14:m>
                <a:r>
                  <a:rPr lang="fr-CA" dirty="0"/>
                  <a:t>7)=34     et   </a:t>
                </a:r>
                <a14:m>
                  <m:oMath xmlns:m="http://schemas.openxmlformats.org/officeDocument/2006/math">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𝑌</m:t>
                        </m:r>
                      </m:e>
                    </m:d>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d>
                          <m:dPr>
                            <m:ctrlPr>
                              <a:rPr lang="fr-CA" b="0" i="1" smtClean="0">
                                <a:latin typeface="Cambria Math" panose="02040503050406030204" pitchFamily="18" charset="0"/>
                              </a:rPr>
                            </m:ctrlPr>
                          </m:dPr>
                          <m:e>
                            <m:r>
                              <a:rPr lang="fr-CA" b="0" i="1" smtClean="0">
                                <a:latin typeface="Cambria Math" panose="02040503050406030204" pitchFamily="18" charset="0"/>
                              </a:rPr>
                              <m:t>−2</m:t>
                            </m:r>
                          </m:e>
                        </m:d>
                      </m:e>
                      <m:sup>
                        <m:r>
                          <a:rPr lang="fr-CA" b="0" i="1" smtClean="0">
                            <a:latin typeface="Cambria Math" panose="02040503050406030204" pitchFamily="18" charset="0"/>
                          </a:rPr>
                          <m:t>2</m:t>
                        </m:r>
                      </m:sup>
                    </m:sSup>
                    <m:d>
                      <m:dPr>
                        <m:ctrlPr>
                          <a:rPr lang="fr-CA" b="0" i="1" smtClean="0">
                            <a:latin typeface="Cambria Math" panose="02040503050406030204" pitchFamily="18" charset="0"/>
                          </a:rPr>
                        </m:ctrlPr>
                      </m:dPr>
                      <m:e>
                        <m:r>
                          <a:rPr lang="fr-CA" b="0" i="1" smtClean="0">
                            <a:latin typeface="Cambria Math" panose="02040503050406030204" pitchFamily="18" charset="0"/>
                          </a:rPr>
                          <m:t>8</m:t>
                        </m:r>
                      </m:e>
                    </m:d>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d>
                          <m:dPr>
                            <m:ctrlPr>
                              <a:rPr lang="fr-CA" b="0" i="1" smtClean="0">
                                <a:latin typeface="Cambria Math" panose="02040503050406030204" pitchFamily="18" charset="0"/>
                              </a:rPr>
                            </m:ctrlPr>
                          </m:dPr>
                          <m:e>
                            <m:r>
                              <a:rPr lang="fr-CA" b="0" i="1" smtClean="0">
                                <a:latin typeface="Cambria Math" panose="02040503050406030204" pitchFamily="18" charset="0"/>
                              </a:rPr>
                              <m:t>4</m:t>
                            </m:r>
                          </m:e>
                        </m:d>
                      </m:e>
                      <m:sup>
                        <m:r>
                          <a:rPr lang="fr-CA" b="0" i="1" smtClean="0">
                            <a:latin typeface="Cambria Math" panose="02040503050406030204" pitchFamily="18" charset="0"/>
                          </a:rPr>
                          <m:t>2</m:t>
                        </m:r>
                      </m:sup>
                    </m:sSup>
                    <m:d>
                      <m:dPr>
                        <m:ctrlPr>
                          <a:rPr lang="fr-CA" b="0" i="1" smtClean="0">
                            <a:latin typeface="Cambria Math" panose="02040503050406030204" pitchFamily="18" charset="0"/>
                          </a:rPr>
                        </m:ctrlPr>
                      </m:dPr>
                      <m:e>
                        <m:r>
                          <a:rPr lang="fr-CA" b="0" i="1" smtClean="0">
                            <a:latin typeface="Cambria Math" panose="02040503050406030204" pitchFamily="18" charset="0"/>
                          </a:rPr>
                          <m:t>12</m:t>
                        </m:r>
                      </m:e>
                    </m:d>
                    <m:r>
                      <a:rPr lang="fr-CA" b="0" i="1" smtClean="0">
                        <a:latin typeface="Cambria Math" panose="02040503050406030204" pitchFamily="18" charset="0"/>
                      </a:rPr>
                      <m:t>=224</m:t>
                    </m:r>
                  </m:oMath>
                </a14:m>
                <a:endParaRPr lang="fr-CA" dirty="0"/>
              </a:p>
            </p:txBody>
          </p:sp>
        </mc:Choice>
        <mc:Fallback>
          <p:sp>
            <p:nvSpPr>
              <p:cNvPr id="5" name="ZoneTexte 4">
                <a:extLst>
                  <a:ext uri="{FF2B5EF4-FFF2-40B4-BE49-F238E27FC236}">
                    <a16:creationId xmlns:a16="http://schemas.microsoft.com/office/drawing/2014/main" id="{F46DD8CF-6B62-4678-A297-C4F42056F629}"/>
                  </a:ext>
                </a:extLst>
              </p:cNvPr>
              <p:cNvSpPr txBox="1">
                <a:spLocks noRot="1" noChangeAspect="1" noMove="1" noResize="1" noEditPoints="1" noAdjustHandles="1" noChangeArrowheads="1" noChangeShapeType="1" noTextEdit="1"/>
              </p:cNvSpPr>
              <p:nvPr/>
            </p:nvSpPr>
            <p:spPr>
              <a:xfrm>
                <a:off x="954741" y="1869141"/>
                <a:ext cx="9991165" cy="4164602"/>
              </a:xfrm>
              <a:prstGeom prst="rect">
                <a:avLst/>
              </a:prstGeom>
              <a:blipFill>
                <a:blip r:embed="rId2"/>
                <a:stretch>
                  <a:fillRect l="-549" t="-878"/>
                </a:stretch>
              </a:blipFill>
            </p:spPr>
            <p:txBody>
              <a:bodyPr/>
              <a:lstStyle/>
              <a:p>
                <a:r>
                  <a:rPr lang="fr-CA">
                    <a:noFill/>
                  </a:rPr>
                  <a:t> </a:t>
                </a:r>
              </a:p>
            </p:txBody>
          </p:sp>
        </mc:Fallback>
      </mc:AlternateContent>
    </p:spTree>
    <p:extLst>
      <p:ext uri="{BB962C8B-B14F-4D97-AF65-F5344CB8AC3E}">
        <p14:creationId xmlns:p14="http://schemas.microsoft.com/office/powerpoint/2010/main" val="2189543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0088835-A2B6-41B5-8F3D-B17EB5C4DA3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F091588-C11F-435E-928F-10BB70C96F50}"/>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11" name="Titre 10">
                <a:extLst>
                  <a:ext uri="{FF2B5EF4-FFF2-40B4-BE49-F238E27FC236}">
                    <a16:creationId xmlns:a16="http://schemas.microsoft.com/office/drawing/2014/main" id="{5D65083E-68B3-463A-A868-8955BC43737A}"/>
                  </a:ext>
                </a:extLst>
              </p:cNvPr>
              <p:cNvSpPr>
                <a:spLocks noGrp="1"/>
              </p:cNvSpPr>
              <p:nvPr>
                <p:ph type="title"/>
              </p:nvPr>
            </p:nvSpPr>
            <p:spPr>
              <a:xfrm>
                <a:off x="838200" y="365125"/>
                <a:ext cx="10515600" cy="2247446"/>
              </a:xfrm>
            </p:spPr>
            <p:txBody>
              <a:bodyPr>
                <a:normAutofit/>
              </a:bodyPr>
              <a:lstStyle/>
              <a:p>
                <a:r>
                  <a:rPr lang="fr-CA" dirty="0"/>
                  <a:t> Théorème: Soit X une variable mesurable de moyenne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  </m:t>
                        </m:r>
                      </m:sub>
                    </m:sSub>
                  </m:oMath>
                </a14:m>
                <a:r>
                  <a:rPr lang="fr-CA" dirty="0"/>
                  <a:t>et de variance </a:t>
                </a:r>
                <a14:m>
                  <m:oMath xmlns:m="http://schemas.openxmlformats.org/officeDocument/2006/math">
                    <m:sSubSup>
                      <m:sSubSupPr>
                        <m:ctrlPr>
                          <a:rPr lang="fr-CA" i="1" smtClean="0">
                            <a:latin typeface="Cambria Math" panose="02040503050406030204" pitchFamily="18" charset="0"/>
                          </a:rPr>
                        </m:ctrlPr>
                      </m:sSubSupPr>
                      <m:e>
                        <m:r>
                          <a:rPr lang="fr-CA"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oMath>
                </a14:m>
                <a:r>
                  <a:rPr lang="fr-CA" dirty="0"/>
                  <a:t> (inconnues)</a:t>
                </a:r>
              </a:p>
            </p:txBody>
          </p:sp>
        </mc:Choice>
        <mc:Fallback xmlns="">
          <p:sp>
            <p:nvSpPr>
              <p:cNvPr id="11" name="Titre 10">
                <a:extLst>
                  <a:ext uri="{FF2B5EF4-FFF2-40B4-BE49-F238E27FC236}">
                    <a16:creationId xmlns:a16="http://schemas.microsoft.com/office/drawing/2014/main" id="{5D65083E-68B3-463A-A868-8955BC43737A}"/>
                  </a:ext>
                </a:extLst>
              </p:cNvPr>
              <p:cNvSpPr>
                <a:spLocks noGrp="1" noRot="1" noChangeAspect="1" noMove="1" noResize="1" noEditPoints="1" noAdjustHandles="1" noChangeArrowheads="1" noChangeShapeType="1" noTextEdit="1"/>
              </p:cNvSpPr>
              <p:nvPr>
                <p:ph type="title"/>
              </p:nvPr>
            </p:nvSpPr>
            <p:spPr>
              <a:xfrm>
                <a:off x="838200" y="365125"/>
                <a:ext cx="10515600" cy="2247446"/>
              </a:xfrm>
              <a:blipFill>
                <a:blip r:embed="rId2"/>
                <a:stretch>
                  <a:fillRect l="-2377" r="-638"/>
                </a:stretch>
              </a:blipFill>
            </p:spPr>
            <p:txBody>
              <a:bodyPr/>
              <a:lstStyle/>
              <a:p>
                <a:r>
                  <a:rPr lang="fr-CA">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EF80940-75E9-4649-A1C6-FA99F8C1384E}"/>
                  </a:ext>
                </a:extLst>
              </p:cNvPr>
              <p:cNvSpPr txBox="1"/>
              <p:nvPr/>
            </p:nvSpPr>
            <p:spPr>
              <a:xfrm>
                <a:off x="1149531" y="3082834"/>
                <a:ext cx="10204269" cy="2729273"/>
              </a:xfrm>
              <a:prstGeom prst="rect">
                <a:avLst/>
              </a:prstGeom>
              <a:noFill/>
            </p:spPr>
            <p:txBody>
              <a:bodyPr wrap="square" rtlCol="0">
                <a:spAutoFit/>
              </a:bodyPr>
              <a:lstStyle/>
              <a:p>
                <a:r>
                  <a:rPr lang="fr-CA" dirty="0"/>
                  <a:t>Si on pose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𝑛</m:t>
                            </m:r>
                          </m:sub>
                        </m:sSub>
                      </m:num>
                      <m:den>
                        <m:r>
                          <a:rPr lang="fr-CA" b="0" i="1" smtClean="0">
                            <a:latin typeface="Cambria Math" panose="02040503050406030204" pitchFamily="18" charset="0"/>
                          </a:rPr>
                          <m:t>𝑛</m:t>
                        </m:r>
                      </m:den>
                    </m:f>
                  </m:oMath>
                </a14:m>
                <a:r>
                  <a:rPr lang="fr-CA" dirty="0"/>
                  <a:t> la moyenne arithmétique de n variables aléatoires indépendantes choisies au hasard comme la variable X. Alors: </a:t>
                </a: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e>
                    </m:d>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i="1">
                        <a:latin typeface="Cambria Math" panose="02040503050406030204" pitchFamily="18" charset="0"/>
                      </a:rPr>
                      <m:t>      </m:t>
                    </m:r>
                    <m:r>
                      <a:rPr lang="fr-CA" i="1">
                        <a:latin typeface="Cambria Math" panose="02040503050406030204" pitchFamily="18" charset="0"/>
                      </a:rPr>
                      <m:t>𝑒𝑡</m:t>
                    </m:r>
                    <m:r>
                      <a:rPr lang="fr-CA" i="1">
                        <a:latin typeface="Cambria Math" panose="02040503050406030204" pitchFamily="18" charset="0"/>
                      </a:rPr>
                      <m:t> </m:t>
                    </m:r>
                    <m:r>
                      <a:rPr lang="fr-CA" i="1">
                        <a:latin typeface="Cambria Math" panose="02040503050406030204" pitchFamily="18" charset="0"/>
                      </a:rPr>
                      <m:t>𝑣𝑎𝑟</m:t>
                    </m:r>
                    <m:r>
                      <a:rPr lang="fr-CA" i="1">
                        <a:latin typeface="Cambria Math" panose="02040503050406030204" pitchFamily="18" charset="0"/>
                      </a:rPr>
                      <m:t> (</m:t>
                    </m:r>
                    <m:acc>
                      <m:accPr>
                        <m:chr m:val="̅"/>
                        <m:ctrlPr>
                          <a:rPr lang="fr-CA" i="1">
                            <a:latin typeface="Cambria Math" panose="02040503050406030204" pitchFamily="18" charset="0"/>
                          </a:rPr>
                        </m:ctrlPr>
                      </m:accPr>
                      <m:e>
                        <m:r>
                          <a:rPr lang="fr-CA" i="1">
                            <a:latin typeface="Cambria Math" panose="02040503050406030204" pitchFamily="18" charset="0"/>
                          </a:rPr>
                          <m:t>𝑋</m:t>
                        </m:r>
                      </m:e>
                    </m:acc>
                  </m:oMath>
                </a14:m>
                <a:r>
                  <a:rPr lang="fr-CA" dirty="0"/>
                  <a:t>)</a:t>
                </a:r>
                <a14:m>
                  <m:oMath xmlns:m="http://schemas.openxmlformats.org/officeDocument/2006/math">
                    <m:r>
                      <a:rPr lang="fr-CA" b="0" i="1" dirty="0" smtClean="0">
                        <a:latin typeface="Cambria Math" panose="02040503050406030204" pitchFamily="18" charset="0"/>
                      </a:rPr>
                      <m:t>=</m:t>
                    </m:r>
                    <m:f>
                      <m:fPr>
                        <m:ctrlPr>
                          <a:rPr lang="fr-CA" b="0" i="1" dirty="0" smtClean="0">
                            <a:latin typeface="Cambria Math" panose="02040503050406030204" pitchFamily="18" charset="0"/>
                          </a:rPr>
                        </m:ctrlPr>
                      </m:fPr>
                      <m:num>
                        <m:sSubSup>
                          <m:sSubSupPr>
                            <m:ctrlPr>
                              <a:rPr lang="fr-CA" b="0" i="1" dirty="0" smtClean="0">
                                <a:latin typeface="Cambria Math" panose="02040503050406030204" pitchFamily="18" charset="0"/>
                              </a:rPr>
                            </m:ctrlPr>
                          </m:sSubSupPr>
                          <m:e>
                            <m:r>
                              <a:rPr lang="fr-CA" b="0" i="1" dirty="0" smtClean="0">
                                <a:latin typeface="Cambria Math" panose="02040503050406030204" pitchFamily="18" charset="0"/>
                                <a:ea typeface="Cambria Math" panose="02040503050406030204" pitchFamily="18" charset="0"/>
                              </a:rPr>
                              <m:t>𝛼</m:t>
                            </m:r>
                          </m:e>
                          <m:sub>
                            <m:r>
                              <a:rPr lang="fr-CA" b="0" i="1" dirty="0" smtClean="0">
                                <a:latin typeface="Cambria Math" panose="02040503050406030204" pitchFamily="18" charset="0"/>
                              </a:rPr>
                              <m:t>𝑋</m:t>
                            </m:r>
                          </m:sub>
                          <m:sup>
                            <m:r>
                              <a:rPr lang="fr-CA" b="0" i="1" dirty="0" smtClean="0">
                                <a:latin typeface="Cambria Math" panose="02040503050406030204" pitchFamily="18" charset="0"/>
                              </a:rPr>
                              <m:t>2</m:t>
                            </m:r>
                          </m:sup>
                        </m:sSubSup>
                      </m:num>
                      <m:den>
                        <m:r>
                          <a:rPr lang="fr-CA" b="0" i="1" dirty="0" smtClean="0">
                            <a:latin typeface="Cambria Math" panose="02040503050406030204" pitchFamily="18" charset="0"/>
                          </a:rPr>
                          <m:t>𝑛</m:t>
                        </m:r>
                      </m:den>
                    </m:f>
                  </m:oMath>
                </a14:m>
                <a:r>
                  <a:rPr lang="fr-CA" dirty="0"/>
                  <a:t>. On dit alors que la moyenne arithmétique d’un échantillon est un estimateur ponctuel non biaisé de la moyenne de la variable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r>
                          <a:rPr lang="fr-CA" i="1">
                            <a:latin typeface="Cambria Math" panose="02040503050406030204" pitchFamily="18" charset="0"/>
                          </a:rPr>
                          <m:t>  </m:t>
                        </m:r>
                      </m:sub>
                    </m:sSub>
                  </m:oMath>
                </a14:m>
                <a:r>
                  <a:rPr lang="fr-CA" dirty="0"/>
                  <a:t>.</a:t>
                </a:r>
              </a:p>
              <a:p>
                <a:endParaRPr lang="fr-CA" dirty="0"/>
              </a:p>
              <a:p>
                <a:r>
                  <a:rPr lang="fr-CA" dirty="0"/>
                  <a:t>(C’est un cas particulier du théorème précédent: Lorsque les variables ont toutes la même moyenne et la même variance et que les constantes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𝑎</m:t>
                        </m:r>
                      </m:e>
                      <m:sub>
                        <m:r>
                          <a:rPr lang="fr-CA" b="0" i="1" smtClean="0">
                            <a:latin typeface="Cambria Math" panose="02040503050406030204" pitchFamily="18" charset="0"/>
                          </a:rPr>
                          <m:t>𝑖</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𝑛</m:t>
                        </m:r>
                      </m:den>
                    </m:f>
                    <m:r>
                      <a:rPr lang="fr-CA" b="0" i="1" smtClean="0">
                        <a:latin typeface="Cambria Math" panose="02040503050406030204" pitchFamily="18" charset="0"/>
                      </a:rPr>
                      <m:t>)</m:t>
                    </m:r>
                  </m:oMath>
                </a14:m>
                <a:endParaRPr lang="fr-CA" dirty="0"/>
              </a:p>
              <a:p>
                <a:endParaRPr lang="fr-CA" dirty="0"/>
              </a:p>
              <a:p>
                <a:r>
                  <a:rPr lang="fr-CA" dirty="0"/>
                  <a:t>On va illustrer ce résultat d’une manière imagée.</a:t>
                </a:r>
              </a:p>
            </p:txBody>
          </p:sp>
        </mc:Choice>
        <mc:Fallback xmlns="">
          <p:sp>
            <p:nvSpPr>
              <p:cNvPr id="12" name="ZoneTexte 11">
                <a:extLst>
                  <a:ext uri="{FF2B5EF4-FFF2-40B4-BE49-F238E27FC236}">
                    <a16:creationId xmlns:a16="http://schemas.microsoft.com/office/drawing/2014/main" id="{3EF80940-75E9-4649-A1C6-FA99F8C1384E}"/>
                  </a:ext>
                </a:extLst>
              </p:cNvPr>
              <p:cNvSpPr txBox="1">
                <a:spLocks noRot="1" noChangeAspect="1" noMove="1" noResize="1" noEditPoints="1" noAdjustHandles="1" noChangeArrowheads="1" noChangeShapeType="1" noTextEdit="1"/>
              </p:cNvSpPr>
              <p:nvPr/>
            </p:nvSpPr>
            <p:spPr>
              <a:xfrm>
                <a:off x="1149531" y="3082834"/>
                <a:ext cx="10204269" cy="2729273"/>
              </a:xfrm>
              <a:prstGeom prst="rect">
                <a:avLst/>
              </a:prstGeom>
              <a:blipFill>
                <a:blip r:embed="rId3"/>
                <a:stretch>
                  <a:fillRect l="-538" b="-2013"/>
                </a:stretch>
              </a:blipFill>
            </p:spPr>
            <p:txBody>
              <a:bodyPr/>
              <a:lstStyle/>
              <a:p>
                <a:r>
                  <a:rPr lang="fr-CA">
                    <a:noFill/>
                  </a:rPr>
                  <a:t> </a:t>
                </a:r>
              </a:p>
            </p:txBody>
          </p:sp>
        </mc:Fallback>
      </mc:AlternateContent>
    </p:spTree>
    <p:extLst>
      <p:ext uri="{BB962C8B-B14F-4D97-AF65-F5344CB8AC3E}">
        <p14:creationId xmlns:p14="http://schemas.microsoft.com/office/powerpoint/2010/main" val="1879106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562713-19A8-48D3-B8EB-DEF9D389EF69}"/>
              </a:ext>
            </a:extLst>
          </p:cNvPr>
          <p:cNvSpPr>
            <a:spLocks noGrp="1"/>
          </p:cNvSpPr>
          <p:nvPr>
            <p:ph type="title"/>
          </p:nvPr>
        </p:nvSpPr>
        <p:spPr>
          <a:xfrm>
            <a:off x="556532" y="643467"/>
            <a:ext cx="11210925" cy="744836"/>
          </a:xfrm>
        </p:spPr>
        <p:txBody>
          <a:bodyPr>
            <a:normAutofit/>
          </a:bodyPr>
          <a:lstStyle/>
          <a:p>
            <a:pPr algn="ctr"/>
            <a:r>
              <a:rPr lang="fr-CA" sz="3200" dirty="0">
                <a:solidFill>
                  <a:schemeClr val="bg1"/>
                </a:solidFill>
              </a:rPr>
              <a:t>Chacun des échantillons est de taille n</a:t>
            </a:r>
          </a:p>
        </p:txBody>
      </p:sp>
      <p:pic>
        <p:nvPicPr>
          <p:cNvPr id="6" name="Picture 4">
            <a:extLst>
              <a:ext uri="{FF2B5EF4-FFF2-40B4-BE49-F238E27FC236}">
                <a16:creationId xmlns:a16="http://schemas.microsoft.com/office/drawing/2014/main" id="{6D84033B-A593-4344-9881-8A79F8875A41}"/>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643467" y="1927959"/>
            <a:ext cx="10905066" cy="3888735"/>
          </a:xfrm>
          <a:prstGeom prst="rect">
            <a:avLst/>
          </a:prstGeom>
          <a:noFill/>
        </p:spPr>
      </p:pic>
      <p:sp>
        <p:nvSpPr>
          <p:cNvPr id="3" name="Espace réservé du pied de page 2">
            <a:extLst>
              <a:ext uri="{FF2B5EF4-FFF2-40B4-BE49-F238E27FC236}">
                <a16:creationId xmlns:a16="http://schemas.microsoft.com/office/drawing/2014/main" id="{3CB2F131-A373-4CFA-9CFB-54BA084EF52B}"/>
              </a:ext>
            </a:extLst>
          </p:cNvPr>
          <p:cNvSpPr>
            <a:spLocks noGrp="1"/>
          </p:cNvSpPr>
          <p:nvPr>
            <p:ph type="ftr" sz="quarter" idx="11"/>
          </p:nvPr>
        </p:nvSpPr>
        <p:spPr>
          <a:xfrm>
            <a:off x="4038600" y="6356350"/>
            <a:ext cx="4114800" cy="365125"/>
          </a:xfrm>
        </p:spPr>
        <p:txBody>
          <a:bodyPr>
            <a:normAutofit/>
          </a:bodyPr>
          <a:lstStyle/>
          <a:p>
            <a:endParaRPr lang="fr-CA"/>
          </a:p>
        </p:txBody>
      </p:sp>
      <p:sp>
        <p:nvSpPr>
          <p:cNvPr id="4" name="Espace réservé du numéro de diapositive 3">
            <a:extLst>
              <a:ext uri="{FF2B5EF4-FFF2-40B4-BE49-F238E27FC236}">
                <a16:creationId xmlns:a16="http://schemas.microsoft.com/office/drawing/2014/main" id="{27FB2BF5-A2AB-4D03-B8B8-185B1748A033}"/>
              </a:ext>
            </a:extLst>
          </p:cNvPr>
          <p:cNvSpPr>
            <a:spLocks noGrp="1"/>
          </p:cNvSpPr>
          <p:nvPr>
            <p:ph type="sldNum" sz="quarter" idx="12"/>
          </p:nvPr>
        </p:nvSpPr>
        <p:spPr>
          <a:xfrm>
            <a:off x="8610600" y="6356350"/>
            <a:ext cx="2743200" cy="365125"/>
          </a:xfrm>
        </p:spPr>
        <p:txBody>
          <a:bodyPr>
            <a:normAutofit/>
          </a:bodyPr>
          <a:lstStyle/>
          <a:p>
            <a:pPr>
              <a:spcAft>
                <a:spcPts val="600"/>
              </a:spcAft>
            </a:pPr>
            <a:fld id="{26377AD9-CE17-438C-A638-C64D2D42D7CF}" type="slidenum">
              <a:rPr lang="fr-CA" smtClean="0"/>
              <a:pPr>
                <a:spcAft>
                  <a:spcPts val="600"/>
                </a:spcAft>
              </a:pPr>
              <a:t>3</a:t>
            </a:fld>
            <a:endParaRPr lang="fr-CA"/>
          </a:p>
        </p:txBody>
      </p:sp>
    </p:spTree>
    <p:extLst>
      <p:ext uri="{BB962C8B-B14F-4D97-AF65-F5344CB8AC3E}">
        <p14:creationId xmlns:p14="http://schemas.microsoft.com/office/powerpoint/2010/main" val="3355059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8E6CF2-1151-438F-813A-3F84ABED9189}"/>
              </a:ext>
            </a:extLst>
          </p:cNvPr>
          <p:cNvSpPr>
            <a:spLocks noGrp="1"/>
          </p:cNvSpPr>
          <p:nvPr>
            <p:ph type="title"/>
          </p:nvPr>
        </p:nvSpPr>
        <p:spPr/>
        <p:txBody>
          <a:bodyPr/>
          <a:lstStyle/>
          <a:p>
            <a:r>
              <a:rPr lang="fr-CA" dirty="0"/>
              <a:t>Si le nombre de répétitions k est assez grand  (k dépasse 100).</a:t>
            </a:r>
          </a:p>
        </p:txBody>
      </p:sp>
      <p:sp>
        <p:nvSpPr>
          <p:cNvPr id="3" name="Espace réservé du pied de page 2">
            <a:extLst>
              <a:ext uri="{FF2B5EF4-FFF2-40B4-BE49-F238E27FC236}">
                <a16:creationId xmlns:a16="http://schemas.microsoft.com/office/drawing/2014/main" id="{D93B43D1-4F2C-4798-B711-9924F63A08F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7447981-A653-4F3E-96E6-74A3B00AA4F8}"/>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04B94B36-4BD9-42C6-B69E-731372908DE3}"/>
                  </a:ext>
                </a:extLst>
              </p:cNvPr>
              <p:cNvSpPr txBox="1"/>
              <p:nvPr/>
            </p:nvSpPr>
            <p:spPr>
              <a:xfrm>
                <a:off x="1031966" y="2246811"/>
                <a:ext cx="10541725" cy="3317768"/>
              </a:xfrm>
              <a:prstGeom prst="rect">
                <a:avLst/>
              </a:prstGeom>
              <a:noFill/>
            </p:spPr>
            <p:txBody>
              <a:bodyPr wrap="square" rtlCol="0">
                <a:spAutoFit/>
              </a:bodyPr>
              <a:lstStyle/>
              <a:p>
                <a:r>
                  <a:rPr lang="fr-CA" dirty="0"/>
                  <a:t>Alors, la moyenne   </a:t>
                </a:r>
                <a14:m>
                  <m:oMath xmlns:m="http://schemas.openxmlformats.org/officeDocument/2006/math">
                    <m:f>
                      <m:fPr>
                        <m:ctrlPr>
                          <a:rPr lang="fr-CA" i="1" smtClean="0">
                            <a:latin typeface="Cambria Math" panose="02040503050406030204" pitchFamily="18" charset="0"/>
                          </a:rPr>
                        </m:ctrlPr>
                      </m:fPr>
                      <m:num>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1</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2</m:t>
                                </m:r>
                              </m:sub>
                            </m:sSub>
                          </m:e>
                        </m:acc>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𝑘</m:t>
                                </m:r>
                              </m:sub>
                            </m:sSub>
                          </m:e>
                        </m:acc>
                      </m:num>
                      <m:den>
                        <m:r>
                          <a:rPr lang="fr-CA" b="0" i="1" smtClean="0">
                            <a:latin typeface="Cambria Math" panose="02040503050406030204" pitchFamily="18" charset="0"/>
                          </a:rPr>
                          <m:t>𝑘</m:t>
                        </m:r>
                      </m:den>
                    </m:f>
                  </m:oMath>
                </a14:m>
                <a:r>
                  <a:rPr lang="fr-CA" dirty="0"/>
                  <a:t>     va être très voisine de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oMath>
                </a14:m>
                <a:r>
                  <a:rPr lang="fr-CA" dirty="0"/>
                  <a:t>  et </a:t>
                </a:r>
              </a:p>
              <a:p>
                <a:endParaRPr lang="fr-CA" dirty="0"/>
              </a:p>
              <a:p>
                <a:r>
                  <a:rPr lang="fr-CA" dirty="0"/>
                  <a:t>La variance des </a:t>
                </a:r>
                <a14:m>
                  <m:oMath xmlns:m="http://schemas.openxmlformats.org/officeDocument/2006/math">
                    <m:acc>
                      <m:accPr>
                        <m:chr m:val="̅"/>
                        <m:ctrlPr>
                          <a:rPr lang="fr-CA" i="1" smtClean="0">
                            <a:latin typeface="Cambria Math" panose="02040503050406030204" pitchFamily="18" charset="0"/>
                          </a:rPr>
                        </m:ctrlPr>
                      </m:accPr>
                      <m:e>
                        <m:sSub>
                          <m:sSubPr>
                            <m:ctrlPr>
                              <a:rPr lang="fr-CA" i="1" smtClean="0">
                                <a:latin typeface="Cambria Math" panose="02040503050406030204" pitchFamily="18" charset="0"/>
                              </a:rPr>
                            </m:ctrlPr>
                          </m:sSubPr>
                          <m:e>
                            <m:r>
                              <a:rPr lang="fr-CA" b="0" i="1" smtClean="0">
                                <a:latin typeface="Cambria Math" panose="02040503050406030204" pitchFamily="18" charset="0"/>
                              </a:rPr>
                              <m:t>𝑥</m:t>
                            </m:r>
                          </m:e>
                          <m:sub>
                            <m:r>
                              <a:rPr lang="fr-CA" b="0" i="1" smtClean="0">
                                <a:latin typeface="Cambria Math" panose="02040503050406030204" pitchFamily="18" charset="0"/>
                              </a:rPr>
                              <m:t>𝑖</m:t>
                            </m:r>
                          </m:sub>
                        </m:sSub>
                      </m:e>
                    </m:acc>
                  </m:oMath>
                </a14:m>
                <a:r>
                  <a:rPr lang="fr-CA" dirty="0"/>
                  <a:t>  va être voisine  de </a:t>
                </a:r>
                <a14:m>
                  <m:oMath xmlns:m="http://schemas.openxmlformats.org/officeDocument/2006/math">
                    <m:f>
                      <m:fPr>
                        <m:ctrlPr>
                          <a:rPr lang="fr-CA" i="1" smtClean="0">
                            <a:latin typeface="Cambria Math" panose="02040503050406030204" pitchFamily="18" charset="0"/>
                          </a:rPr>
                        </m:ctrlPr>
                      </m:fPr>
                      <m:num>
                        <m:sSubSup>
                          <m:sSubSupPr>
                            <m:ctrlPr>
                              <a:rPr lang="fr-CA" i="1" smtClean="0">
                                <a:latin typeface="Cambria Math" panose="02040503050406030204" pitchFamily="18" charset="0"/>
                              </a:rPr>
                            </m:ctrlPr>
                          </m:sSubSupPr>
                          <m:e>
                            <m:r>
                              <a:rPr lang="fr-CA"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𝑛</m:t>
                        </m:r>
                      </m:den>
                    </m:f>
                  </m:oMath>
                </a14:m>
                <a:r>
                  <a:rPr lang="fr-CA" dirty="0"/>
                  <a:t>.</a:t>
                </a:r>
              </a:p>
              <a:p>
                <a:endParaRPr lang="fr-CA" dirty="0"/>
              </a:p>
              <a:p>
                <a:r>
                  <a:rPr lang="fr-CA" dirty="0"/>
                  <a:t>Il y a un théorème encore </a:t>
                </a:r>
                <a:r>
                  <a:rPr lang="fr-CA" b="1" dirty="0"/>
                  <a:t>plus fort</a:t>
                </a:r>
                <a:r>
                  <a:rPr lang="fr-CA" dirty="0"/>
                  <a:t>, qu’on appelle théorème central limite (TCL).</a:t>
                </a:r>
              </a:p>
              <a:p>
                <a:endParaRPr lang="fr-CA" dirty="0"/>
              </a:p>
              <a:p>
                <a:r>
                  <a:rPr lang="fr-CA" b="1" dirty="0"/>
                  <a:t>THÉORÈME CENTRAL LIMITE (TCL): </a:t>
                </a:r>
                <a:r>
                  <a:rPr lang="fr-CA" dirty="0"/>
                  <a:t>Soit X une variable mesurable de moyenne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  </m:t>
                        </m:r>
                      </m:sub>
                    </m:sSub>
                  </m:oMath>
                </a14:m>
                <a:r>
                  <a:rPr lang="fr-CA" dirty="0"/>
                  <a:t>et de variance </a:t>
                </a:r>
                <a14:m>
                  <m:oMath xmlns:m="http://schemas.openxmlformats.org/officeDocument/2006/math">
                    <m:sSubSup>
                      <m:sSubSupPr>
                        <m:ctrlPr>
                          <a:rPr lang="fr-CA" i="1" smtClean="0">
                            <a:latin typeface="Cambria Math" panose="02040503050406030204" pitchFamily="18" charset="0"/>
                          </a:rPr>
                        </m:ctrlPr>
                      </m:sSubSupPr>
                      <m:e>
                        <m:r>
                          <a:rPr lang="fr-CA"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0" smtClean="0">
                        <a:latin typeface="Cambria Math" panose="02040503050406030204" pitchFamily="18" charset="0"/>
                      </a:rPr>
                      <m:t>.</m:t>
                    </m:r>
                  </m:oMath>
                </a14:m>
                <a:r>
                  <a:rPr lang="fr-CA" dirty="0"/>
                  <a:t> Si on mesure cette variable n fois au hasard (avec n dépasse 30), on dit alors que les mesures sont indépendantes et identiquement distribuées (</a:t>
                </a:r>
                <a:r>
                  <a:rPr lang="fr-CA" dirty="0" err="1"/>
                  <a:t>i.i.d</a:t>
                </a:r>
                <a:r>
                  <a:rPr lang="fr-CA" dirty="0"/>
                  <a:t>) alors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oMath>
                </a14:m>
                <a:r>
                  <a:rPr lang="fr-CA" dirty="0"/>
                  <a:t>va être normalement distribuée avec une moyenne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r>
                          <a:rPr lang="fr-CA" i="1">
                            <a:latin typeface="Cambria Math" panose="02040503050406030204" pitchFamily="18" charset="0"/>
                          </a:rPr>
                          <m:t>  </m:t>
                        </m:r>
                      </m:sub>
                    </m:sSub>
                  </m:oMath>
                </a14:m>
                <a:r>
                  <a:rPr lang="fr-CA" dirty="0"/>
                  <a:t> et une variance </a:t>
                </a:r>
                <a14:m>
                  <m:oMath xmlns:m="http://schemas.openxmlformats.org/officeDocument/2006/math">
                    <m:f>
                      <m:fPr>
                        <m:ctrlPr>
                          <a:rPr lang="fr-CA" i="1">
                            <a:latin typeface="Cambria Math" panose="02040503050406030204" pitchFamily="18" charset="0"/>
                          </a:rPr>
                        </m:ctrlPr>
                      </m:fPr>
                      <m:num>
                        <m:sSubSup>
                          <m:sSubSupPr>
                            <m:ctrlPr>
                              <a:rPr lang="fr-CA" i="1">
                                <a:latin typeface="Cambria Math" panose="02040503050406030204" pitchFamily="18" charset="0"/>
                              </a:rPr>
                            </m:ctrlPr>
                          </m:sSubSup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rPr>
                              <m:t>𝑋</m:t>
                            </m:r>
                          </m:sub>
                          <m:sup>
                            <m:r>
                              <a:rPr lang="fr-CA" i="1">
                                <a:latin typeface="Cambria Math" panose="02040503050406030204" pitchFamily="18" charset="0"/>
                              </a:rPr>
                              <m:t>2</m:t>
                            </m:r>
                          </m:sup>
                        </m:sSubSup>
                      </m:num>
                      <m:den>
                        <m:r>
                          <a:rPr lang="fr-CA" i="1">
                            <a:latin typeface="Cambria Math" panose="02040503050406030204" pitchFamily="18" charset="0"/>
                          </a:rPr>
                          <m:t>𝑛</m:t>
                        </m:r>
                      </m:den>
                    </m:f>
                  </m:oMath>
                </a14:m>
                <a:endParaRPr lang="fr-CA" dirty="0"/>
              </a:p>
            </p:txBody>
          </p:sp>
        </mc:Choice>
        <mc:Fallback xmlns="">
          <p:sp>
            <p:nvSpPr>
              <p:cNvPr id="5" name="ZoneTexte 4">
                <a:extLst>
                  <a:ext uri="{FF2B5EF4-FFF2-40B4-BE49-F238E27FC236}">
                    <a16:creationId xmlns:a16="http://schemas.microsoft.com/office/drawing/2014/main" id="{04B94B36-4BD9-42C6-B69E-731372908DE3}"/>
                  </a:ext>
                </a:extLst>
              </p:cNvPr>
              <p:cNvSpPr txBox="1">
                <a:spLocks noRot="1" noChangeAspect="1" noMove="1" noResize="1" noEditPoints="1" noAdjustHandles="1" noChangeArrowheads="1" noChangeShapeType="1" noTextEdit="1"/>
              </p:cNvSpPr>
              <p:nvPr/>
            </p:nvSpPr>
            <p:spPr>
              <a:xfrm>
                <a:off x="1031966" y="2246811"/>
                <a:ext cx="10541725" cy="3317768"/>
              </a:xfrm>
              <a:prstGeom prst="rect">
                <a:avLst/>
              </a:prstGeom>
              <a:blipFill>
                <a:blip r:embed="rId3"/>
                <a:stretch>
                  <a:fillRect l="-462" b="-368"/>
                </a:stretch>
              </a:blipFill>
            </p:spPr>
            <p:txBody>
              <a:bodyPr/>
              <a:lstStyle/>
              <a:p>
                <a:r>
                  <a:rPr lang="fr-CA">
                    <a:noFill/>
                  </a:rPr>
                  <a:t> </a:t>
                </a:r>
              </a:p>
            </p:txBody>
          </p:sp>
        </mc:Fallback>
      </mc:AlternateContent>
    </p:spTree>
    <p:extLst>
      <p:ext uri="{BB962C8B-B14F-4D97-AF65-F5344CB8AC3E}">
        <p14:creationId xmlns:p14="http://schemas.microsoft.com/office/powerpoint/2010/main" val="3181043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E2C3E2-D053-4A89-9C3B-20FDE6ED61E3}"/>
              </a:ext>
            </a:extLst>
          </p:cNvPr>
          <p:cNvSpPr>
            <a:spLocks noGrp="1"/>
          </p:cNvSpPr>
          <p:nvPr>
            <p:ph type="title"/>
          </p:nvPr>
        </p:nvSpPr>
        <p:spPr/>
        <p:txBody>
          <a:bodyPr>
            <a:normAutofit fontScale="90000"/>
          </a:bodyPr>
          <a:lstStyle/>
          <a:p>
            <a:r>
              <a:rPr lang="fr-CA" dirty="0"/>
              <a:t>ILLUSTRATION: </a:t>
            </a:r>
            <a:r>
              <a:rPr lang="fr-FR" sz="1800" dirty="0">
                <a:solidFill>
                  <a:srgbClr val="000000"/>
                </a:solidFill>
                <a:effectLst/>
                <a:latin typeface="Times New Roman" panose="02020603050405020304" pitchFamily="18" charset="0"/>
                <a:ea typeface="Times New Roman" panose="02020603050405020304" pitchFamily="18" charset="0"/>
              </a:rPr>
              <a:t>On a généré 5 000 échantillons de taille 60 chacun d’une variable aléatoire ayant une moyenne de 60 et un écart-type de 11,55. En calculant la moyenne de chacun de ces échantillons, on obtient le graphique suivant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91C1A763-2BD3-4C18-AD36-5F3BE0EA0B2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79142B7-8A7C-45D2-B4A4-00D643556E9D}"/>
              </a:ext>
            </a:extLst>
          </p:cNvPr>
          <p:cNvSpPr>
            <a:spLocks noGrp="1"/>
          </p:cNvSpPr>
          <p:nvPr>
            <p:ph type="sldNum" sz="quarter" idx="12"/>
          </p:nvPr>
        </p:nvSpPr>
        <p:spPr/>
        <p:txBody>
          <a:bodyPr/>
          <a:lstStyle/>
          <a:p>
            <a:fld id="{26377AD9-CE17-438C-A638-C64D2D42D7CF}" type="slidenum">
              <a:rPr lang="fr-CA" smtClean="0"/>
              <a:t>5</a:t>
            </a:fld>
            <a:endParaRPr lang="fr-CA"/>
          </a:p>
        </p:txBody>
      </p:sp>
      <p:pic>
        <p:nvPicPr>
          <p:cNvPr id="6" name="Image 5">
            <a:extLst>
              <a:ext uri="{FF2B5EF4-FFF2-40B4-BE49-F238E27FC236}">
                <a16:creationId xmlns:a16="http://schemas.microsoft.com/office/drawing/2014/main" id="{FA209D7F-55D0-4B7B-BE62-5DDBD20A4B86}"/>
              </a:ext>
            </a:extLst>
          </p:cNvPr>
          <p:cNvPicPr/>
          <p:nvPr/>
        </p:nvPicPr>
        <p:blipFill>
          <a:blip r:embed="rId2"/>
          <a:stretch>
            <a:fillRect/>
          </a:stretch>
        </p:blipFill>
        <p:spPr>
          <a:xfrm>
            <a:off x="3105784" y="1476103"/>
            <a:ext cx="6430101" cy="3169239"/>
          </a:xfrm>
          <a:prstGeom prst="rect">
            <a:avLst/>
          </a:prstGeom>
        </p:spPr>
      </p:pic>
      <p:sp>
        <p:nvSpPr>
          <p:cNvPr id="7" name="ZoneTexte 6">
            <a:extLst>
              <a:ext uri="{FF2B5EF4-FFF2-40B4-BE49-F238E27FC236}">
                <a16:creationId xmlns:a16="http://schemas.microsoft.com/office/drawing/2014/main" id="{C316B7BA-8E3E-483E-AC98-CDEA582E88EF}"/>
              </a:ext>
            </a:extLst>
          </p:cNvPr>
          <p:cNvSpPr txBox="1"/>
          <p:nvPr/>
        </p:nvSpPr>
        <p:spPr>
          <a:xfrm>
            <a:off x="1049384" y="4820194"/>
            <a:ext cx="10093234" cy="1754326"/>
          </a:xfrm>
          <a:prstGeom prst="rect">
            <a:avLst/>
          </a:prstGeom>
          <a:noFill/>
        </p:spPr>
        <p:txBody>
          <a:bodyPr wrap="square" rtlCol="0">
            <a:spAutoFit/>
          </a:bodyPr>
          <a:lstStyle/>
          <a:p>
            <a:r>
              <a:rPr lang="fr-FR" sz="1800" dirty="0">
                <a:effectLst/>
                <a:latin typeface="Calibri" panose="020F0502020204030204" pitchFamily="34" charset="0"/>
                <a:ea typeface="Times New Roman" panose="02020603050405020304" pitchFamily="18" charset="0"/>
              </a:rPr>
              <a:t>Sur lequel on a superposé la courbe d’une loi normale qui découle du théorème central limite. On a aussi calculé les mesures descriptives des 5 000 moyennes et on a obtenu une moyenne des moyennes </a:t>
            </a:r>
            <a:r>
              <a:rPr lang="fr-FR" sz="1800" dirty="0" err="1">
                <a:effectLst/>
                <a:latin typeface="Calibri" panose="020F0502020204030204" pitchFamily="34" charset="0"/>
                <a:ea typeface="Times New Roman" panose="02020603050405020304" pitchFamily="18" charset="0"/>
              </a:rPr>
              <a:t>échantillonnales</a:t>
            </a:r>
            <a:r>
              <a:rPr lang="fr-FR" sz="1800" dirty="0">
                <a:effectLst/>
                <a:latin typeface="Calibri" panose="020F0502020204030204" pitchFamily="34" charset="0"/>
                <a:ea typeface="Times New Roman" panose="02020603050405020304" pitchFamily="18" charset="0"/>
              </a:rPr>
              <a:t> égale à 60,01, ce qui correspond à la moyenne théorique de la variable simulée. L’écart-type des moyennes </a:t>
            </a:r>
            <a:r>
              <a:rPr lang="fr-FR" sz="1800" dirty="0" err="1">
                <a:effectLst/>
                <a:latin typeface="Calibri" panose="020F0502020204030204" pitchFamily="34" charset="0"/>
                <a:ea typeface="Times New Roman" panose="02020603050405020304" pitchFamily="18" charset="0"/>
              </a:rPr>
              <a:t>échantillonnales</a:t>
            </a:r>
            <a:r>
              <a:rPr lang="fr-FR" sz="1800" dirty="0">
                <a:effectLst/>
                <a:latin typeface="Calibri" panose="020F0502020204030204" pitchFamily="34" charset="0"/>
                <a:ea typeface="Times New Roman" panose="02020603050405020304" pitchFamily="18" charset="0"/>
              </a:rPr>
              <a:t> est, quant à lui, égal à 1,49, ce qui correspond à l’écart-type théorique de la variable divisé par la racine carrée de la taille de l’échantillon (ou bien à ce qu’on appelle </a:t>
            </a:r>
            <a:r>
              <a:rPr lang="fr-FR" sz="1800" b="1" dirty="0">
                <a:effectLst/>
                <a:latin typeface="Calibri" panose="020F0502020204030204" pitchFamily="34" charset="0"/>
                <a:ea typeface="Times New Roman" panose="02020603050405020304" pitchFamily="18" charset="0"/>
              </a:rPr>
              <a:t>l’erreur-type</a:t>
            </a:r>
            <a:r>
              <a:rPr lang="fr-FR" sz="1800" dirty="0">
                <a:effectLst/>
                <a:latin typeface="Calibri" panose="020F0502020204030204" pitchFamily="34" charset="0"/>
                <a:ea typeface="Times New Roman" panose="02020603050405020304" pitchFamily="18" charset="0"/>
              </a:rPr>
              <a:t>)</a:t>
            </a:r>
            <a:endParaRPr lang="fr-CA" dirty="0"/>
          </a:p>
        </p:txBody>
      </p:sp>
    </p:spTree>
    <p:extLst>
      <p:ext uri="{BB962C8B-B14F-4D97-AF65-F5344CB8AC3E}">
        <p14:creationId xmlns:p14="http://schemas.microsoft.com/office/powerpoint/2010/main" val="306282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736B82-CF8D-404C-864C-8FDDF93C91D1}"/>
              </a:ext>
            </a:extLst>
          </p:cNvPr>
          <p:cNvSpPr>
            <a:spLocks noGrp="1"/>
          </p:cNvSpPr>
          <p:nvPr>
            <p:ph type="title"/>
          </p:nvPr>
        </p:nvSpPr>
        <p:spPr/>
        <p:txBody>
          <a:bodyPr/>
          <a:lstStyle/>
          <a:p>
            <a:r>
              <a:rPr lang="fr-CA" dirty="0"/>
              <a:t>VÉRIFICATION DE LA NORMALTÉ D’UN ÉCHANTILLON DE DONNÉES</a:t>
            </a:r>
          </a:p>
        </p:txBody>
      </p:sp>
      <p:sp>
        <p:nvSpPr>
          <p:cNvPr id="3" name="Espace réservé du pied de page 2">
            <a:extLst>
              <a:ext uri="{FF2B5EF4-FFF2-40B4-BE49-F238E27FC236}">
                <a16:creationId xmlns:a16="http://schemas.microsoft.com/office/drawing/2014/main" id="{EFCBC46D-C0CD-4C24-8095-AAF3A239917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740AEA5-2D3B-4A25-B0B4-5EC4B507ECA7}"/>
              </a:ext>
            </a:extLst>
          </p:cNvPr>
          <p:cNvSpPr>
            <a:spLocks noGrp="1"/>
          </p:cNvSpPr>
          <p:nvPr>
            <p:ph type="sldNum" sz="quarter" idx="12"/>
          </p:nvPr>
        </p:nvSpPr>
        <p:spPr/>
        <p:txBody>
          <a:bodyPr/>
          <a:lstStyle/>
          <a:p>
            <a:fld id="{26377AD9-CE17-438C-A638-C64D2D42D7CF}" type="slidenum">
              <a:rPr lang="fr-CA" smtClean="0"/>
              <a:t>6</a:t>
            </a:fld>
            <a:endParaRPr lang="fr-CA"/>
          </a:p>
        </p:txBody>
      </p:sp>
      <p:sp>
        <p:nvSpPr>
          <p:cNvPr id="7" name="Rectangle 1">
            <a:extLst>
              <a:ext uri="{FF2B5EF4-FFF2-40B4-BE49-F238E27FC236}">
                <a16:creationId xmlns:a16="http://schemas.microsoft.com/office/drawing/2014/main" id="{531ABCF2-646A-4F1A-8A9F-C0408AA6CE23}"/>
              </a:ext>
            </a:extLst>
          </p:cNvPr>
          <p:cNvSpPr>
            <a:spLocks noChangeArrowheads="1"/>
          </p:cNvSpPr>
          <p:nvPr/>
        </p:nvSpPr>
        <p:spPr bwMode="auto">
          <a:xfrm>
            <a:off x="501315" y="1745018"/>
            <a:ext cx="106282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1pPr>
            <a:lvl2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2pPr>
            <a:lvl3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3pPr>
            <a:lvl4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4pPr>
            <a:lvl5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5pPr>
            <a:lvl6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6pPr>
            <a:lvl7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7pPr>
            <a:lvl8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8pPr>
            <a:lvl9pPr eaLnBrk="0" fontAlgn="base" hangingPunct="0">
              <a:spcBef>
                <a:spcPct val="0"/>
              </a:spcBef>
              <a:spcAft>
                <a:spcPct val="0"/>
              </a:spcAft>
              <a:tabLst>
                <a:tab pos="152400" algn="r"/>
                <a:tab pos="449263"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52400" algn="r"/>
                <a:tab pos="449263" algn="r"/>
              </a:tabLst>
            </a:pPr>
            <a:r>
              <a:rPr kumimoji="0" lang="fr-FR" altLang="fr-FR"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Exemple: </a:t>
            </a:r>
            <a:r>
              <a:rPr kumimoji="0" lang="fr-FR" altLang="fr-FR"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On a relevé les résultats suivants dans un échantillon de 30 mesures sur les impuretés (en milligrammes par litre) présentes dans l’eau. Ces données permettent-elles de conclure qu’elles proviennent d’une loi normale ?</a:t>
            </a:r>
            <a:endParaRPr kumimoji="0" lang="fr-FR" altLang="fr-FR" sz="1600" b="0" i="0" u="none" strike="noStrike" cap="none" normalizeH="0" baseline="0" dirty="0">
              <a:ln>
                <a:noFill/>
              </a:ln>
              <a:solidFill>
                <a:schemeClr val="tx1"/>
              </a:solidFill>
              <a:effectLst/>
              <a:latin typeface="Arial" panose="020B0604020202020204" pitchFamily="34" charset="0"/>
            </a:endParaRPr>
          </a:p>
        </p:txBody>
      </p:sp>
      <p:sp>
        <p:nvSpPr>
          <p:cNvPr id="8" name="ZoneTexte 7">
            <a:extLst>
              <a:ext uri="{FF2B5EF4-FFF2-40B4-BE49-F238E27FC236}">
                <a16:creationId xmlns:a16="http://schemas.microsoft.com/office/drawing/2014/main" id="{AA3C9E24-9B46-4C99-8A12-83C6CBBF4BE5}"/>
              </a:ext>
            </a:extLst>
          </p:cNvPr>
          <p:cNvSpPr txBox="1"/>
          <p:nvPr/>
        </p:nvSpPr>
        <p:spPr>
          <a:xfrm>
            <a:off x="838200" y="2329793"/>
            <a:ext cx="10628239" cy="3416320"/>
          </a:xfrm>
          <a:prstGeom prst="rect">
            <a:avLst/>
          </a:prstGeom>
          <a:noFill/>
        </p:spPr>
        <p:txBody>
          <a:bodyPr wrap="square" rtlCol="0">
            <a:spAutoFit/>
          </a:bodyPr>
          <a:lstStyle/>
          <a:p>
            <a:r>
              <a:rPr lang="fr-CA" dirty="0"/>
              <a:t>1.13  0.94  0.73  0.97  0.71  0.80  0.72  0.82  048  0.97  0.85  1.17  0.79 1.00 0.89  0.60  0.87  0.87  0.92  1.18  0.97  0.36  0.92  0.51  0.68  0.92  0.63  0.81  0.81  1.00</a:t>
            </a:r>
          </a:p>
          <a:p>
            <a:endParaRPr lang="fr-CA" dirty="0"/>
          </a:p>
          <a:p>
            <a:endParaRPr lang="fr-CA" dirty="0"/>
          </a:p>
          <a:p>
            <a:r>
              <a:rPr lang="fr-CA" dirty="0"/>
              <a:t>On met ces données dans un vecteur x.</a:t>
            </a:r>
          </a:p>
          <a:p>
            <a:r>
              <a:rPr lang="fr-CA" dirty="0"/>
              <a:t>On tape: </a:t>
            </a:r>
          </a:p>
          <a:p>
            <a:r>
              <a:rPr lang="fr-CA" dirty="0" err="1"/>
              <a:t>qqnorm</a:t>
            </a:r>
            <a:r>
              <a:rPr lang="fr-CA" dirty="0"/>
              <a:t>(</a:t>
            </a:r>
            <a:r>
              <a:rPr lang="fr-CA" dirty="0" err="1"/>
              <a:t>x,xlab</a:t>
            </a:r>
            <a:r>
              <a:rPr lang="fr-CA" dirty="0"/>
              <a:t>="Quantiles théoriques",</a:t>
            </a:r>
            <a:r>
              <a:rPr lang="fr-CA" dirty="0" err="1"/>
              <a:t>ylab</a:t>
            </a:r>
            <a:r>
              <a:rPr lang="fr-CA" dirty="0"/>
              <a:t>="Quantiles </a:t>
            </a:r>
            <a:r>
              <a:rPr lang="fr-CA" dirty="0" err="1"/>
              <a:t>Expérimentaux",main</a:t>
            </a:r>
            <a:r>
              <a:rPr lang="fr-CA" dirty="0"/>
              <a:t>="Le Diagramme Quantiles-Quantiles des </a:t>
            </a:r>
            <a:r>
              <a:rPr lang="fr-CA" dirty="0" err="1"/>
              <a:t>observations",col</a:t>
            </a:r>
            <a:r>
              <a:rPr lang="fr-CA" dirty="0"/>
              <a:t>="</a:t>
            </a:r>
            <a:r>
              <a:rPr lang="fr-CA" dirty="0" err="1"/>
              <a:t>blue</a:t>
            </a:r>
            <a:r>
              <a:rPr lang="fr-CA" dirty="0"/>
              <a:t>")</a:t>
            </a:r>
          </a:p>
          <a:p>
            <a:r>
              <a:rPr lang="en-US" dirty="0" err="1"/>
              <a:t>abline</a:t>
            </a:r>
            <a:r>
              <a:rPr lang="en-US" dirty="0"/>
              <a:t>(mean(x),</a:t>
            </a:r>
            <a:r>
              <a:rPr lang="en-US" dirty="0" err="1"/>
              <a:t>sd</a:t>
            </a:r>
            <a:r>
              <a:rPr lang="en-US" dirty="0"/>
              <a:t>(x),col="red")</a:t>
            </a:r>
          </a:p>
          <a:p>
            <a:endParaRPr lang="en-US" dirty="0"/>
          </a:p>
          <a:p>
            <a:endParaRPr lang="en-US" dirty="0"/>
          </a:p>
          <a:p>
            <a:r>
              <a:rPr lang="en-US" dirty="0"/>
              <a:t>Et on </a:t>
            </a:r>
            <a:r>
              <a:rPr lang="en-US" dirty="0" err="1"/>
              <a:t>obtient</a:t>
            </a:r>
            <a:r>
              <a:rPr lang="en-US" dirty="0"/>
              <a:t> le </a:t>
            </a:r>
            <a:r>
              <a:rPr lang="en-US" dirty="0" err="1"/>
              <a:t>diagramme</a:t>
            </a:r>
            <a:r>
              <a:rPr lang="en-US" dirty="0"/>
              <a:t> des Quantiles-Quantiles </a:t>
            </a:r>
            <a:r>
              <a:rPr lang="en-US" dirty="0" err="1"/>
              <a:t>suivant</a:t>
            </a:r>
            <a:r>
              <a:rPr lang="en-US" dirty="0"/>
              <a:t>:</a:t>
            </a:r>
            <a:endParaRPr lang="fr-CA" dirty="0"/>
          </a:p>
        </p:txBody>
      </p:sp>
    </p:spTree>
    <p:extLst>
      <p:ext uri="{BB962C8B-B14F-4D97-AF65-F5344CB8AC3E}">
        <p14:creationId xmlns:p14="http://schemas.microsoft.com/office/powerpoint/2010/main" val="1312244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557AC125-E418-44B7-AE62-3C4884149F0C}"/>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99E5B9CE-CA44-42D8-96F0-F386275CCEAB}"/>
              </a:ext>
            </a:extLst>
          </p:cNvPr>
          <p:cNvSpPr>
            <a:spLocks noGrp="1"/>
          </p:cNvSpPr>
          <p:nvPr>
            <p:ph type="sldNum" sz="quarter" idx="12"/>
          </p:nvPr>
        </p:nvSpPr>
        <p:spPr/>
        <p:txBody>
          <a:bodyPr/>
          <a:lstStyle/>
          <a:p>
            <a:fld id="{26377AD9-CE17-438C-A638-C64D2D42D7CF}" type="slidenum">
              <a:rPr lang="fr-CA" smtClean="0"/>
              <a:t>7</a:t>
            </a:fld>
            <a:endParaRPr lang="fr-CA"/>
          </a:p>
        </p:txBody>
      </p:sp>
      <p:pic>
        <p:nvPicPr>
          <p:cNvPr id="5" name="Image 4">
            <a:extLst>
              <a:ext uri="{FF2B5EF4-FFF2-40B4-BE49-F238E27FC236}">
                <a16:creationId xmlns:a16="http://schemas.microsoft.com/office/drawing/2014/main" id="{5140F1F2-DA08-4279-9749-4E690AC97BCE}"/>
              </a:ext>
            </a:extLst>
          </p:cNvPr>
          <p:cNvPicPr>
            <a:picLocks noChangeAspect="1"/>
          </p:cNvPicPr>
          <p:nvPr/>
        </p:nvPicPr>
        <p:blipFill>
          <a:blip r:embed="rId2"/>
          <a:stretch>
            <a:fillRect/>
          </a:stretch>
        </p:blipFill>
        <p:spPr>
          <a:xfrm>
            <a:off x="3641558" y="304800"/>
            <a:ext cx="8550442" cy="5613985"/>
          </a:xfrm>
          <a:prstGeom prst="rect">
            <a:avLst/>
          </a:prstGeom>
        </p:spPr>
      </p:pic>
      <p:sp>
        <p:nvSpPr>
          <p:cNvPr id="6" name="ZoneTexte 5">
            <a:extLst>
              <a:ext uri="{FF2B5EF4-FFF2-40B4-BE49-F238E27FC236}">
                <a16:creationId xmlns:a16="http://schemas.microsoft.com/office/drawing/2014/main" id="{C333BA8C-24D7-4D64-997C-B9984A9FD40F}"/>
              </a:ext>
            </a:extLst>
          </p:cNvPr>
          <p:cNvSpPr txBox="1"/>
          <p:nvPr/>
        </p:nvSpPr>
        <p:spPr>
          <a:xfrm>
            <a:off x="953589" y="979714"/>
            <a:ext cx="2390502" cy="2862322"/>
          </a:xfrm>
          <a:prstGeom prst="rect">
            <a:avLst/>
          </a:prstGeom>
          <a:noFill/>
        </p:spPr>
        <p:txBody>
          <a:bodyPr wrap="square" rtlCol="0">
            <a:spAutoFit/>
          </a:bodyPr>
          <a:lstStyle/>
          <a:p>
            <a:r>
              <a:rPr lang="fr-CA" dirty="0"/>
              <a:t>Les données se répartissent le long de la droite oblique et elles ne s’en écartent pas beaucoup, donc on en conclut que les données sont approximativement normalement distribuées.</a:t>
            </a:r>
          </a:p>
        </p:txBody>
      </p:sp>
    </p:spTree>
    <p:extLst>
      <p:ext uri="{BB962C8B-B14F-4D97-AF65-F5344CB8AC3E}">
        <p14:creationId xmlns:p14="http://schemas.microsoft.com/office/powerpoint/2010/main" val="3380288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D8496D-7101-44B9-B801-BB2881CAA317}"/>
              </a:ext>
            </a:extLst>
          </p:cNvPr>
          <p:cNvSpPr>
            <a:spLocks noGrp="1"/>
          </p:cNvSpPr>
          <p:nvPr>
            <p:ph type="title"/>
          </p:nvPr>
        </p:nvSpPr>
        <p:spPr>
          <a:xfrm>
            <a:off x="742950" y="742951"/>
            <a:ext cx="3476625" cy="4962524"/>
          </a:xfrm>
        </p:spPr>
        <p:txBody>
          <a:bodyPr>
            <a:normAutofit/>
          </a:bodyPr>
          <a:lstStyle/>
          <a:p>
            <a:pPr algn="ctr"/>
            <a:r>
              <a:rPr lang="fr-CA">
                <a:solidFill>
                  <a:srgbClr val="FFFFFF"/>
                </a:solidFill>
              </a:rPr>
              <a:t>Pour s’assurer de la normalité, on peut faire le diagramme en boite des données et on obtient:</a:t>
            </a:r>
          </a:p>
        </p:txBody>
      </p:sp>
      <p:pic>
        <p:nvPicPr>
          <p:cNvPr id="6" name="Image 5">
            <a:extLst>
              <a:ext uri="{FF2B5EF4-FFF2-40B4-BE49-F238E27FC236}">
                <a16:creationId xmlns:a16="http://schemas.microsoft.com/office/drawing/2014/main" id="{143A714F-631B-4A10-AC72-406F7EDEDBBD}"/>
              </a:ext>
            </a:extLst>
          </p:cNvPr>
          <p:cNvPicPr>
            <a:picLocks noChangeAspect="1"/>
          </p:cNvPicPr>
          <p:nvPr/>
        </p:nvPicPr>
        <p:blipFill>
          <a:blip r:embed="rId3"/>
          <a:stretch>
            <a:fillRect/>
          </a:stretch>
        </p:blipFill>
        <p:spPr>
          <a:xfrm>
            <a:off x="5482827" y="492573"/>
            <a:ext cx="5895535" cy="5880796"/>
          </a:xfrm>
          <a:prstGeom prst="rect">
            <a:avLst/>
          </a:prstGeom>
        </p:spPr>
      </p:pic>
      <p:sp>
        <p:nvSpPr>
          <p:cNvPr id="3" name="Espace réservé du pied de page 2">
            <a:extLst>
              <a:ext uri="{FF2B5EF4-FFF2-40B4-BE49-F238E27FC236}">
                <a16:creationId xmlns:a16="http://schemas.microsoft.com/office/drawing/2014/main" id="{20763D3D-5248-43B4-B3FF-91D2B3FD9EDD}"/>
              </a:ext>
            </a:extLst>
          </p:cNvPr>
          <p:cNvSpPr>
            <a:spLocks noGrp="1"/>
          </p:cNvSpPr>
          <p:nvPr>
            <p:ph type="ftr" sz="quarter" idx="11"/>
          </p:nvPr>
        </p:nvSpPr>
        <p:spPr>
          <a:xfrm>
            <a:off x="5144297" y="6423025"/>
            <a:ext cx="5618954" cy="365125"/>
          </a:xfrm>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A4DC5B2C-24BF-4AC1-B46E-53FC6DE0214A}"/>
              </a:ext>
            </a:extLst>
          </p:cNvPr>
          <p:cNvSpPr>
            <a:spLocks noGrp="1"/>
          </p:cNvSpPr>
          <p:nvPr>
            <p:ph type="sldNum" sz="quarter" idx="12"/>
          </p:nvPr>
        </p:nvSpPr>
        <p:spPr>
          <a:xfrm>
            <a:off x="10926317" y="6423025"/>
            <a:ext cx="771525" cy="365125"/>
          </a:xfrm>
        </p:spPr>
        <p:txBody>
          <a:bodyPr>
            <a:normAutofit/>
          </a:bodyPr>
          <a:lstStyle/>
          <a:p>
            <a:pPr>
              <a:spcAft>
                <a:spcPts val="600"/>
              </a:spcAft>
            </a:pPr>
            <a:fld id="{26377AD9-CE17-438C-A638-C64D2D42D7CF}" type="slidenum">
              <a:rPr lang="fr-CA" smtClean="0"/>
              <a:pPr>
                <a:spcAft>
                  <a:spcPts val="600"/>
                </a:spcAft>
              </a:pPr>
              <a:t>8</a:t>
            </a:fld>
            <a:endParaRPr lang="fr-CA"/>
          </a:p>
        </p:txBody>
      </p:sp>
      <p:sp>
        <p:nvSpPr>
          <p:cNvPr id="5" name="ZoneTexte 4">
            <a:extLst>
              <a:ext uri="{FF2B5EF4-FFF2-40B4-BE49-F238E27FC236}">
                <a16:creationId xmlns:a16="http://schemas.microsoft.com/office/drawing/2014/main" id="{4B2415E1-074E-4C62-9A21-0067DCFE4076}"/>
              </a:ext>
            </a:extLst>
          </p:cNvPr>
          <p:cNvSpPr txBox="1"/>
          <p:nvPr/>
        </p:nvSpPr>
        <p:spPr>
          <a:xfrm>
            <a:off x="742950" y="1331259"/>
            <a:ext cx="3802156" cy="646331"/>
          </a:xfrm>
          <a:prstGeom prst="rect">
            <a:avLst/>
          </a:prstGeom>
          <a:noFill/>
        </p:spPr>
        <p:txBody>
          <a:bodyPr wrap="square" rtlCol="0">
            <a:spAutoFit/>
          </a:bodyPr>
          <a:lstStyle/>
          <a:p>
            <a:r>
              <a:rPr lang="fr-CA" dirty="0"/>
              <a:t>Confirmation avec un diagramme des quartiles (en boîtes( </a:t>
            </a:r>
          </a:p>
        </p:txBody>
      </p:sp>
    </p:spTree>
    <p:extLst>
      <p:ext uri="{BB962C8B-B14F-4D97-AF65-F5344CB8AC3E}">
        <p14:creationId xmlns:p14="http://schemas.microsoft.com/office/powerpoint/2010/main" val="2544466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DE6A193-4755-479A-BC6F-A7EBCA73B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A55B759-31A7-423C-9BC2-A8BC09FE9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6754318" cy="6858478"/>
          </a:xfrm>
          <a:custGeom>
            <a:avLst/>
            <a:gdLst>
              <a:gd name="connsiteX0" fmla="*/ 0 w 6754318"/>
              <a:gd name="connsiteY0" fmla="*/ 6858478 h 6858478"/>
              <a:gd name="connsiteX1" fmla="*/ 6754318 w 6754318"/>
              <a:gd name="connsiteY1" fmla="*/ 6858478 h 6858478"/>
              <a:gd name="connsiteX2" fmla="*/ 3577943 w 6754318"/>
              <a:gd name="connsiteY2" fmla="*/ 0 h 6858478"/>
              <a:gd name="connsiteX3" fmla="*/ 3572366 w 6754318"/>
              <a:gd name="connsiteY3" fmla="*/ 0 h 6858478"/>
              <a:gd name="connsiteX4" fmla="*/ 2506138 w 6754318"/>
              <a:gd name="connsiteY4" fmla="*/ 0 h 6858478"/>
              <a:gd name="connsiteX5" fmla="*/ 0 w 6754318"/>
              <a:gd name="connsiteY5"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4318" h="6858478">
                <a:moveTo>
                  <a:pt x="0" y="6858478"/>
                </a:moveTo>
                <a:lnTo>
                  <a:pt x="6754318" y="6858478"/>
                </a:lnTo>
                <a:lnTo>
                  <a:pt x="3577943" y="0"/>
                </a:lnTo>
                <a:lnTo>
                  <a:pt x="3572366" y="0"/>
                </a:lnTo>
                <a:lnTo>
                  <a:pt x="2506138" y="0"/>
                </a:lnTo>
                <a:lnTo>
                  <a:pt x="0"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F78796AF-79A0-47AC-BEFD-BFFC00F96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478"/>
            <a:ext cx="5953780" cy="6858478"/>
          </a:xfrm>
          <a:custGeom>
            <a:avLst/>
            <a:gdLst>
              <a:gd name="connsiteX0" fmla="*/ 0 w 5953780"/>
              <a:gd name="connsiteY0" fmla="*/ 6858478 h 6858478"/>
              <a:gd name="connsiteX1" fmla="*/ 5953780 w 5953780"/>
              <a:gd name="connsiteY1" fmla="*/ 6858478 h 6858478"/>
              <a:gd name="connsiteX2" fmla="*/ 2777405 w 5953780"/>
              <a:gd name="connsiteY2" fmla="*/ 0 h 6858478"/>
              <a:gd name="connsiteX3" fmla="*/ 2771828 w 5953780"/>
              <a:gd name="connsiteY3" fmla="*/ 0 h 6858478"/>
              <a:gd name="connsiteX4" fmla="*/ 1705600 w 5953780"/>
              <a:gd name="connsiteY4" fmla="*/ 0 h 6858478"/>
              <a:gd name="connsiteX5" fmla="*/ 0 w 5953780"/>
              <a:gd name="connsiteY5"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780" h="6858478">
                <a:moveTo>
                  <a:pt x="0" y="6858478"/>
                </a:moveTo>
                <a:lnTo>
                  <a:pt x="5953780" y="6858478"/>
                </a:lnTo>
                <a:lnTo>
                  <a:pt x="2777405" y="0"/>
                </a:lnTo>
                <a:lnTo>
                  <a:pt x="2771828" y="0"/>
                </a:lnTo>
                <a:lnTo>
                  <a:pt x="1705600" y="0"/>
                </a:lnTo>
                <a:lnTo>
                  <a:pt x="0"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880686E-0B38-43B9-A20C-CE02FF17F4C7}"/>
              </a:ext>
            </a:extLst>
          </p:cNvPr>
          <p:cNvSpPr>
            <a:spLocks noGrp="1"/>
          </p:cNvSpPr>
          <p:nvPr>
            <p:ph type="title"/>
          </p:nvPr>
        </p:nvSpPr>
        <p:spPr>
          <a:xfrm>
            <a:off x="804672" y="338328"/>
            <a:ext cx="3877056" cy="2249424"/>
          </a:xfrm>
        </p:spPr>
        <p:txBody>
          <a:bodyPr vert="horz" lIns="91440" tIns="45720" rIns="91440" bIns="45720" rtlCol="0" anchor="b">
            <a:normAutofit/>
          </a:bodyPr>
          <a:lstStyle/>
          <a:p>
            <a:r>
              <a:rPr lang="en-US" sz="2600" b="1"/>
              <a:t>Exemple 2: Soit les données suivantes</a:t>
            </a:r>
            <a:br>
              <a:rPr lang="en-US" sz="2600" b="1"/>
            </a:br>
            <a:br>
              <a:rPr lang="en-US" sz="2600" b="1"/>
            </a:br>
            <a:r>
              <a:rPr lang="en-US" sz="2600" b="1"/>
              <a:t>3.5,4.25,1.6,3.8,4.9,6.3,1.2,7.6,2.3,3.8,7.9,12.9,2.5,16.0,5.0</a:t>
            </a:r>
          </a:p>
        </p:txBody>
      </p:sp>
      <p:pic>
        <p:nvPicPr>
          <p:cNvPr id="7" name="Image 6">
            <a:extLst>
              <a:ext uri="{FF2B5EF4-FFF2-40B4-BE49-F238E27FC236}">
                <a16:creationId xmlns:a16="http://schemas.microsoft.com/office/drawing/2014/main" id="{9E21B18C-99F3-4A8C-9B54-092CDFAA865A}"/>
              </a:ext>
            </a:extLst>
          </p:cNvPr>
          <p:cNvPicPr>
            <a:picLocks noChangeAspect="1"/>
          </p:cNvPicPr>
          <p:nvPr/>
        </p:nvPicPr>
        <p:blipFill rotWithShape="1">
          <a:blip r:embed="rId2"/>
          <a:srcRect l="2384"/>
          <a:stretch/>
        </p:blipFill>
        <p:spPr>
          <a:xfrm>
            <a:off x="5891899" y="329821"/>
            <a:ext cx="5763996" cy="5890003"/>
          </a:xfrm>
          <a:prstGeom prst="rect">
            <a:avLst/>
          </a:prstGeom>
        </p:spPr>
      </p:pic>
      <p:pic>
        <p:nvPicPr>
          <p:cNvPr id="9" name="Image 8">
            <a:extLst>
              <a:ext uri="{FF2B5EF4-FFF2-40B4-BE49-F238E27FC236}">
                <a16:creationId xmlns:a16="http://schemas.microsoft.com/office/drawing/2014/main" id="{855D5F9B-9C03-4F7C-9460-3EDBC160AB9F}"/>
              </a:ext>
            </a:extLst>
          </p:cNvPr>
          <p:cNvPicPr>
            <a:picLocks noChangeAspect="1"/>
          </p:cNvPicPr>
          <p:nvPr/>
        </p:nvPicPr>
        <p:blipFill>
          <a:blip r:embed="rId3"/>
          <a:stretch>
            <a:fillRect/>
          </a:stretch>
        </p:blipFill>
        <p:spPr>
          <a:xfrm>
            <a:off x="5953781" y="4235886"/>
            <a:ext cx="5702113" cy="986952"/>
          </a:xfrm>
          <a:prstGeom prst="rect">
            <a:avLst/>
          </a:prstGeom>
        </p:spPr>
      </p:pic>
      <p:sp>
        <p:nvSpPr>
          <p:cNvPr id="3" name="Espace réservé du pied de page 2">
            <a:extLst>
              <a:ext uri="{FF2B5EF4-FFF2-40B4-BE49-F238E27FC236}">
                <a16:creationId xmlns:a16="http://schemas.microsoft.com/office/drawing/2014/main" id="{93D81400-2801-4FB1-8EAC-83CA40F348D9}"/>
              </a:ext>
            </a:extLst>
          </p:cNvPr>
          <p:cNvSpPr>
            <a:spLocks noGrp="1"/>
          </p:cNvSpPr>
          <p:nvPr>
            <p:ph type="ftr" sz="quarter" idx="11"/>
          </p:nvPr>
        </p:nvSpPr>
        <p:spPr>
          <a:xfrm>
            <a:off x="6657785" y="6356350"/>
            <a:ext cx="4057841" cy="365125"/>
          </a:xfrm>
        </p:spPr>
        <p:txBody>
          <a:bodyPr vert="horz" lIns="91440" tIns="45720" rIns="91440" bIns="45720" rtlCol="0" anchor="ctr">
            <a:normAutofit/>
          </a:bodyPr>
          <a:lstStyle/>
          <a:p>
            <a:pPr algn="r" defTabSz="914400"/>
            <a:endParaRPr lang="en-US" sz="1200" kern="1200">
              <a:solidFill>
                <a:schemeClr val="bg1">
                  <a:alpha val="80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C18CE16F-2419-4B8A-BAF2-F3480B3852EE}"/>
              </a:ext>
            </a:extLst>
          </p:cNvPr>
          <p:cNvSpPr>
            <a:spLocks noGrp="1"/>
          </p:cNvSpPr>
          <p:nvPr>
            <p:ph type="sldNum" sz="quarter" idx="12"/>
          </p:nvPr>
        </p:nvSpPr>
        <p:spPr>
          <a:xfrm>
            <a:off x="10925174" y="6356350"/>
            <a:ext cx="428625" cy="365125"/>
          </a:xfrm>
        </p:spPr>
        <p:txBody>
          <a:bodyPr vert="horz" lIns="91440" tIns="45720" rIns="91440" bIns="45720" rtlCol="0" anchor="ctr">
            <a:normAutofit/>
          </a:bodyPr>
          <a:lstStyle/>
          <a:p>
            <a:pPr defTabSz="914400">
              <a:spcAft>
                <a:spcPts val="600"/>
              </a:spcAft>
            </a:pPr>
            <a:fld id="{26377AD9-CE17-438C-A638-C64D2D42D7CF}" type="slidenum">
              <a:rPr lang="en-US">
                <a:solidFill>
                  <a:schemeClr val="bg1">
                    <a:alpha val="80000"/>
                  </a:schemeClr>
                </a:solidFill>
              </a:rPr>
              <a:pPr defTabSz="914400">
                <a:spcAft>
                  <a:spcPts val="600"/>
                </a:spcAft>
              </a:pPr>
              <a:t>9</a:t>
            </a:fld>
            <a:endParaRPr lang="en-US">
              <a:solidFill>
                <a:schemeClr val="bg1">
                  <a:alpha val="80000"/>
                </a:schemeClr>
              </a:solidFill>
            </a:endParaRPr>
          </a:p>
        </p:txBody>
      </p:sp>
      <p:sp>
        <p:nvSpPr>
          <p:cNvPr id="5" name="ZoneTexte 4">
            <a:extLst>
              <a:ext uri="{FF2B5EF4-FFF2-40B4-BE49-F238E27FC236}">
                <a16:creationId xmlns:a16="http://schemas.microsoft.com/office/drawing/2014/main" id="{1AE6B4E3-FB68-432B-8246-E410CC08E381}"/>
              </a:ext>
            </a:extLst>
          </p:cNvPr>
          <p:cNvSpPr txBox="1"/>
          <p:nvPr/>
        </p:nvSpPr>
        <p:spPr>
          <a:xfrm>
            <a:off x="1005840" y="1985554"/>
            <a:ext cx="10215154" cy="369332"/>
          </a:xfrm>
          <a:prstGeom prst="rect">
            <a:avLst/>
          </a:prstGeom>
          <a:noFill/>
        </p:spPr>
        <p:txBody>
          <a:bodyPr wrap="square" rtlCol="0">
            <a:spAutoFit/>
          </a:bodyPr>
          <a:lstStyle/>
          <a:p>
            <a:pPr>
              <a:spcAft>
                <a:spcPts val="600"/>
              </a:spcAft>
            </a:pPr>
            <a:r>
              <a:rPr lang="fr-CA" dirty="0"/>
              <a:t> </a:t>
            </a:r>
            <a:endParaRPr lang="fr-CA"/>
          </a:p>
        </p:txBody>
      </p:sp>
      <p:sp>
        <p:nvSpPr>
          <p:cNvPr id="6" name="ZoneTexte 5">
            <a:extLst>
              <a:ext uri="{FF2B5EF4-FFF2-40B4-BE49-F238E27FC236}">
                <a16:creationId xmlns:a16="http://schemas.microsoft.com/office/drawing/2014/main" id="{BAB83D2E-2D82-44BF-8D62-9388ABFBCF3C}"/>
              </a:ext>
            </a:extLst>
          </p:cNvPr>
          <p:cNvSpPr txBox="1"/>
          <p:nvPr/>
        </p:nvSpPr>
        <p:spPr>
          <a:xfrm>
            <a:off x="1005840" y="954741"/>
            <a:ext cx="4467113" cy="4652683"/>
          </a:xfrm>
          <a:prstGeom prst="rect">
            <a:avLst/>
          </a:prstGeom>
          <a:noFill/>
        </p:spPr>
        <p:txBody>
          <a:bodyPr wrap="square" rtlCol="0">
            <a:spAutoFit/>
          </a:bodyPr>
          <a:lstStyle/>
          <a:p>
            <a:endParaRPr lang="fr-CA" dirty="0"/>
          </a:p>
        </p:txBody>
      </p:sp>
    </p:spTree>
    <p:extLst>
      <p:ext uri="{BB962C8B-B14F-4D97-AF65-F5344CB8AC3E}">
        <p14:creationId xmlns:p14="http://schemas.microsoft.com/office/powerpoint/2010/main" val="302065668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F66A575-7835-4400-BEDE-89F2EF034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2FFE7E8-FBDB-4324-ADFB-C367EC854384}"/>
              </a:ext>
            </a:extLst>
          </p:cNvPr>
          <p:cNvSpPr>
            <a:spLocks noGrp="1"/>
          </p:cNvSpPr>
          <p:nvPr>
            <p:ph type="title"/>
          </p:nvPr>
        </p:nvSpPr>
        <p:spPr>
          <a:xfrm>
            <a:off x="621629" y="640080"/>
            <a:ext cx="4225290" cy="5578816"/>
          </a:xfrm>
        </p:spPr>
        <p:txBody>
          <a:bodyPr>
            <a:normAutofit/>
          </a:bodyPr>
          <a:lstStyle/>
          <a:p>
            <a:pPr algn="ctr"/>
            <a:r>
              <a:rPr lang="fr-CA">
                <a:solidFill>
                  <a:srgbClr val="FFFFFF"/>
                </a:solidFill>
              </a:rPr>
              <a:t>Confirmation avec un diagramme des quartiles (en boîtes) </a:t>
            </a:r>
          </a:p>
        </p:txBody>
      </p:sp>
      <p:pic>
        <p:nvPicPr>
          <p:cNvPr id="6" name="Image 5">
            <a:extLst>
              <a:ext uri="{FF2B5EF4-FFF2-40B4-BE49-F238E27FC236}">
                <a16:creationId xmlns:a16="http://schemas.microsoft.com/office/drawing/2014/main" id="{8805A25C-E835-456D-A1DC-9551E4F6D236}"/>
              </a:ext>
            </a:extLst>
          </p:cNvPr>
          <p:cNvPicPr>
            <a:picLocks noChangeAspect="1"/>
          </p:cNvPicPr>
          <p:nvPr/>
        </p:nvPicPr>
        <p:blipFill rotWithShape="1">
          <a:blip r:embed="rId2"/>
          <a:srcRect l="2384"/>
          <a:stretch/>
        </p:blipFill>
        <p:spPr>
          <a:xfrm>
            <a:off x="6096000" y="640080"/>
            <a:ext cx="5459470" cy="5578816"/>
          </a:xfrm>
          <a:prstGeom prst="rect">
            <a:avLst/>
          </a:prstGeom>
        </p:spPr>
      </p:pic>
      <p:sp>
        <p:nvSpPr>
          <p:cNvPr id="3" name="Espace réservé du pied de page 2">
            <a:extLst>
              <a:ext uri="{FF2B5EF4-FFF2-40B4-BE49-F238E27FC236}">
                <a16:creationId xmlns:a16="http://schemas.microsoft.com/office/drawing/2014/main" id="{E31A7536-17BB-40FB-A158-A6BD0E1EFFF3}"/>
              </a:ext>
            </a:extLst>
          </p:cNvPr>
          <p:cNvSpPr>
            <a:spLocks noGrp="1"/>
          </p:cNvSpPr>
          <p:nvPr>
            <p:ph type="ftr" sz="quarter" idx="11"/>
          </p:nvPr>
        </p:nvSpPr>
        <p:spPr>
          <a:xfrm>
            <a:off x="590550" y="6356350"/>
            <a:ext cx="4114800" cy="365125"/>
          </a:xfrm>
        </p:spPr>
        <p:txBody>
          <a:bodyPr>
            <a:normAutofit/>
          </a:bodyPr>
          <a:lstStyle/>
          <a:p>
            <a:pPr algn="l"/>
            <a:endParaRPr lang="fr-CA">
              <a:solidFill>
                <a:srgbClr val="FFFFFF">
                  <a:alpha val="80000"/>
                </a:srgbClr>
              </a:solidFill>
            </a:endParaRPr>
          </a:p>
        </p:txBody>
      </p:sp>
    </p:spTree>
    <p:extLst>
      <p:ext uri="{BB962C8B-B14F-4D97-AF65-F5344CB8AC3E}">
        <p14:creationId xmlns:p14="http://schemas.microsoft.com/office/powerpoint/2010/main" val="412899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5075896C-A9A8-4238-BCC5-78372B1AC17C}"/>
                  </a:ext>
                </a:extLst>
              </p:cNvPr>
              <p:cNvSpPr>
                <a:spLocks noGrp="1"/>
              </p:cNvSpPr>
              <p:nvPr>
                <p:ph type="title"/>
              </p:nvPr>
            </p:nvSpPr>
            <p:spPr>
              <a:xfrm>
                <a:off x="838200" y="365124"/>
                <a:ext cx="10515600" cy="5753287"/>
              </a:xfrm>
            </p:spPr>
            <p:txBody>
              <a:bodyPr>
                <a:normAutofit fontScale="90000"/>
              </a:bodyPr>
              <a:lstStyle/>
              <a:p>
                <a:pPr>
                  <a:lnSpc>
                    <a:spcPct val="150000"/>
                  </a:lnSpc>
                  <a:spcAft>
                    <a:spcPts val="1000"/>
                  </a:spcAft>
                </a:pPr>
                <a:r>
                  <a:rPr lang="fr-CA" dirty="0"/>
                  <a:t>Exercice : </a:t>
                </a:r>
                <a:r>
                  <a:rPr lang="fr-CA" sz="1800">
                    <a:effectLst/>
                    <a:latin typeface="Times New Roman" panose="02020603050405020304" pitchFamily="18" charset="0"/>
                    <a:ea typeface="Calibri" panose="020F0502020204030204" pitchFamily="34" charset="0"/>
                    <a:cs typeface="Times New Roman" panose="02020603050405020304" pitchFamily="18" charset="0"/>
                  </a:rPr>
                  <a:t>Un investisseur surveille les actions de 4 compagnies. </a:t>
                </a:r>
                <a:r>
                  <a:rPr lang="fr-CA" sz="1800" dirty="0">
                    <a:effectLst/>
                    <a:latin typeface="Times New Roman" panose="02020603050405020304" pitchFamily="18" charset="0"/>
                    <a:ea typeface="Calibri" panose="020F0502020204030204" pitchFamily="34" charset="0"/>
                    <a:cs typeface="Times New Roman" panose="02020603050405020304" pitchFamily="18" charset="0"/>
                  </a:rPr>
                  <a:t>Il estime le prix moyen de ces actions de chacune de ces compagnies à 10$, mais à cause de leur volatilité mensuelle, il pense que les actions de la première compagnie sont modélisées selon une variable </a:t>
                </a:r>
                <a14:m>
                  <m:oMath xmlns:m="http://schemas.openxmlformats.org/officeDocument/2006/math">
                    <m:r>
                      <a:rPr lang="fr-CA" sz="1800" i="1">
                        <a:effectLst/>
                        <a:latin typeface="Cambria Math" panose="02040503050406030204" pitchFamily="18" charset="0"/>
                        <a:ea typeface="Calibri" panose="020F0502020204030204" pitchFamily="34" charset="0"/>
                        <a:cs typeface="Times New Roman" panose="02020603050405020304" pitchFamily="18" charset="0"/>
                      </a:rPr>
                      <m:t>𝑋</m:t>
                    </m:r>
                    <m:r>
                      <a:rPr lang="fr-CA" sz="1800" i="1">
                        <a:effectLst/>
                        <a:latin typeface="Cambria Math" panose="02040503050406030204" pitchFamily="18" charset="0"/>
                        <a:ea typeface="Calibri" panose="020F0502020204030204" pitchFamily="34" charset="0"/>
                        <a:cs typeface="Times New Roman" panose="02020603050405020304" pitchFamily="18" charset="0"/>
                      </a:rPr>
                      <m:t>~</m:t>
                    </m:r>
                    <m:r>
                      <a:rPr lang="fr-CA" sz="1800" i="1">
                        <a:effectLst/>
                        <a:latin typeface="Cambria Math" panose="02040503050406030204" pitchFamily="18" charset="0"/>
                        <a:ea typeface="Calibri" panose="020F0502020204030204" pitchFamily="34" charset="0"/>
                        <a:cs typeface="Times New Roman" panose="02020603050405020304" pitchFamily="18" charset="0"/>
                      </a:rPr>
                      <m:t>𝑁</m:t>
                    </m:r>
                    <m:r>
                      <a:rPr lang="fr-CA" sz="1800" i="1">
                        <a:effectLst/>
                        <a:latin typeface="Cambria Math" panose="02040503050406030204" pitchFamily="18" charset="0"/>
                        <a:ea typeface="Calibri" panose="020F0502020204030204" pitchFamily="34" charset="0"/>
                        <a:cs typeface="Times New Roman" panose="02020603050405020304" pitchFamily="18" charset="0"/>
                      </a:rPr>
                      <m:t>(10;1)</m:t>
                    </m:r>
                  </m:oMath>
                </a14:m>
                <a:r>
                  <a:rPr lang="fr-CA" sz="1800" dirty="0">
                    <a:effectLst/>
                    <a:latin typeface="Times New Roman" panose="02020603050405020304" pitchFamily="18" charset="0"/>
                    <a:ea typeface="Calibri" panose="020F0502020204030204" pitchFamily="34" charset="0"/>
                    <a:cs typeface="Times New Roman" panose="02020603050405020304" pitchFamily="18" charset="0"/>
                  </a:rPr>
                  <a:t>; ceux de la seconde selon </a:t>
                </a:r>
                <a14:m>
                  <m:oMath xmlns:m="http://schemas.openxmlformats.org/officeDocument/2006/math">
                    <m:r>
                      <a:rPr lang="fr-CA" sz="1800" i="1">
                        <a:effectLst/>
                        <a:latin typeface="Cambria Math" panose="02040503050406030204" pitchFamily="18" charset="0"/>
                        <a:ea typeface="Calibri" panose="020F0502020204030204" pitchFamily="34" charset="0"/>
                        <a:cs typeface="Times New Roman" panose="02020603050405020304" pitchFamily="18" charset="0"/>
                      </a:rPr>
                      <m:t>𝑌</m:t>
                    </m:r>
                    <m:r>
                      <a:rPr lang="fr-CA" sz="1800" i="1">
                        <a:effectLst/>
                        <a:latin typeface="Cambria Math" panose="02040503050406030204" pitchFamily="18" charset="0"/>
                        <a:ea typeface="Calibri" panose="020F0502020204030204" pitchFamily="34" charset="0"/>
                        <a:cs typeface="Times New Roman" panose="02020603050405020304" pitchFamily="18" charset="0"/>
                      </a:rPr>
                      <m:t>~</m:t>
                    </m:r>
                    <m:r>
                      <a:rPr lang="fr-CA" sz="1800" i="1">
                        <a:effectLst/>
                        <a:latin typeface="Cambria Math" panose="02040503050406030204" pitchFamily="18" charset="0"/>
                        <a:ea typeface="Calibri" panose="020F0502020204030204" pitchFamily="34" charset="0"/>
                        <a:cs typeface="Times New Roman" panose="02020603050405020304" pitchFamily="18" charset="0"/>
                      </a:rPr>
                      <m:t>𝑁</m:t>
                    </m:r>
                    <m:r>
                      <a:rPr lang="fr-CA" sz="1800" i="1">
                        <a:effectLst/>
                        <a:latin typeface="Cambria Math" panose="02040503050406030204" pitchFamily="18" charset="0"/>
                        <a:ea typeface="Calibri" panose="020F0502020204030204" pitchFamily="34" charset="0"/>
                        <a:cs typeface="Times New Roman" panose="02020603050405020304" pitchFamily="18" charset="0"/>
                      </a:rPr>
                      <m:t>(10;2)</m:t>
                    </m:r>
                  </m:oMath>
                </a14:m>
                <a:r>
                  <a:rPr lang="fr-CA" sz="1800" dirty="0">
                    <a:effectLst/>
                    <a:latin typeface="Times New Roman" panose="02020603050405020304" pitchFamily="18" charset="0"/>
                    <a:ea typeface="Calibri" panose="020F0502020204030204" pitchFamily="34" charset="0"/>
                    <a:cs typeface="Times New Roman" panose="02020603050405020304" pitchFamily="18" charset="0"/>
                  </a:rPr>
                  <a:t>; ceux de la troisième selon </a:t>
                </a:r>
                <a14:m>
                  <m:oMath xmlns:m="http://schemas.openxmlformats.org/officeDocument/2006/math">
                    <m:r>
                      <a:rPr lang="fr-CA" sz="1800" i="1">
                        <a:effectLst/>
                        <a:latin typeface="Cambria Math" panose="02040503050406030204" pitchFamily="18" charset="0"/>
                        <a:ea typeface="Calibri" panose="020F0502020204030204" pitchFamily="34" charset="0"/>
                        <a:cs typeface="Times New Roman" panose="02020603050405020304" pitchFamily="18" charset="0"/>
                      </a:rPr>
                      <m:t>𝑉</m:t>
                    </m:r>
                    <m:r>
                      <a:rPr lang="fr-CA" sz="1800" i="1">
                        <a:effectLst/>
                        <a:latin typeface="Cambria Math" panose="02040503050406030204" pitchFamily="18" charset="0"/>
                        <a:ea typeface="Calibri" panose="020F0502020204030204" pitchFamily="34" charset="0"/>
                        <a:cs typeface="Times New Roman" panose="02020603050405020304" pitchFamily="18" charset="0"/>
                      </a:rPr>
                      <m:t>~</m:t>
                    </m:r>
                    <m:r>
                      <a:rPr lang="fr-CA" sz="1800" i="1">
                        <a:effectLst/>
                        <a:latin typeface="Cambria Math" panose="02040503050406030204" pitchFamily="18" charset="0"/>
                        <a:ea typeface="Calibri" panose="020F0502020204030204" pitchFamily="34" charset="0"/>
                        <a:cs typeface="Times New Roman" panose="02020603050405020304" pitchFamily="18" charset="0"/>
                      </a:rPr>
                      <m:t>𝑁</m:t>
                    </m:r>
                    <m:r>
                      <a:rPr lang="fr-CA" sz="1800" i="1">
                        <a:effectLst/>
                        <a:latin typeface="Cambria Math" panose="02040503050406030204" pitchFamily="18" charset="0"/>
                        <a:ea typeface="Calibri" panose="020F0502020204030204" pitchFamily="34" charset="0"/>
                        <a:cs typeface="Times New Roman" panose="02020603050405020304" pitchFamily="18" charset="0"/>
                      </a:rPr>
                      <m:t>(10;3)</m:t>
                    </m:r>
                  </m:oMath>
                </a14:m>
                <a:r>
                  <a:rPr lang="fr-CA" sz="1800" dirty="0">
                    <a:effectLst/>
                    <a:latin typeface="Times New Roman" panose="02020603050405020304" pitchFamily="18" charset="0"/>
                    <a:ea typeface="Calibri" panose="020F0502020204030204" pitchFamily="34" charset="0"/>
                    <a:cs typeface="Times New Roman" panose="02020603050405020304" pitchFamily="18" charset="0"/>
                  </a:rPr>
                  <a:t>  et ceux de la quatrième selon </a:t>
                </a:r>
                <a14:m>
                  <m:oMath xmlns:m="http://schemas.openxmlformats.org/officeDocument/2006/math">
                    <m:r>
                      <a:rPr lang="fr-CA" sz="1800" i="1">
                        <a:effectLst/>
                        <a:latin typeface="Cambria Math" panose="02040503050406030204" pitchFamily="18" charset="0"/>
                        <a:ea typeface="Calibri" panose="020F0502020204030204" pitchFamily="34" charset="0"/>
                        <a:cs typeface="Times New Roman" panose="02020603050405020304" pitchFamily="18" charset="0"/>
                      </a:rPr>
                      <m:t>𝑊</m:t>
                    </m:r>
                    <m:r>
                      <a:rPr lang="fr-CA" sz="1800" i="1">
                        <a:effectLst/>
                        <a:latin typeface="Cambria Math" panose="02040503050406030204" pitchFamily="18" charset="0"/>
                        <a:ea typeface="Calibri" panose="020F0502020204030204" pitchFamily="34" charset="0"/>
                        <a:cs typeface="Times New Roman" panose="02020603050405020304" pitchFamily="18" charset="0"/>
                      </a:rPr>
                      <m:t>~</m:t>
                    </m:r>
                    <m:r>
                      <a:rPr lang="fr-CA" sz="1800" i="1">
                        <a:effectLst/>
                        <a:latin typeface="Cambria Math" panose="02040503050406030204" pitchFamily="18" charset="0"/>
                        <a:ea typeface="Calibri" panose="020F0502020204030204" pitchFamily="34" charset="0"/>
                        <a:cs typeface="Times New Roman" panose="02020603050405020304" pitchFamily="18" charset="0"/>
                      </a:rPr>
                      <m:t>𝑁</m:t>
                    </m:r>
                    <m:r>
                      <a:rPr lang="fr-CA" sz="1800" i="1">
                        <a:effectLst/>
                        <a:latin typeface="Cambria Math" panose="02040503050406030204" pitchFamily="18" charset="0"/>
                        <a:ea typeface="Calibri" panose="020F0502020204030204" pitchFamily="34" charset="0"/>
                        <a:cs typeface="Times New Roman" panose="02020603050405020304" pitchFamily="18" charset="0"/>
                      </a:rPr>
                      <m:t>(10;0,5)</m:t>
                    </m:r>
                  </m:oMath>
                </a14:m>
                <a:r>
                  <a:rPr lang="fr-CA" sz="1800" dirty="0">
                    <a:effectLst/>
                    <a:latin typeface="Times New Roman" panose="02020603050405020304" pitchFamily="18" charset="0"/>
                    <a:ea typeface="Calibri" panose="020F0502020204030204" pitchFamily="34" charset="0"/>
                    <a:cs typeface="Times New Roman" panose="02020603050405020304" pitchFamily="18" charset="0"/>
                  </a:rPr>
                  <a:t> en plus il suppose que les actions de ces compagnies sont indépendantes. Vous avez 10 000$ à investir et vous optez pour 3 stratégies :</a:t>
                </a:r>
                <a:br>
                  <a:rPr lang="fr-CA" sz="1800" dirty="0">
                    <a:effectLst/>
                    <a:latin typeface="Calibri" panose="020F0502020204030204" pitchFamily="34" charset="0"/>
                    <a:ea typeface="Calibri" panose="020F0502020204030204" pitchFamily="34" charset="0"/>
                    <a:cs typeface="Times New Roman" panose="02020603050405020304" pitchFamily="18" charset="0"/>
                  </a:rPr>
                </a:br>
                <a:r>
                  <a:rPr lang="fr-CA" sz="1800" dirty="0">
                    <a:effectLst/>
                    <a:latin typeface="Times New Roman" panose="02020603050405020304" pitchFamily="18" charset="0"/>
                    <a:ea typeface="Calibri" panose="020F0502020204030204" pitchFamily="34" charset="0"/>
                  </a:rPr>
                  <a:t>Portefeuille 1 : 1000 actions de W.</a:t>
                </a:r>
                <a:br>
                  <a:rPr lang="fr-CA" sz="1800" dirty="0">
                    <a:effectLst/>
                    <a:latin typeface="Times New Roman" panose="02020603050405020304" pitchFamily="18" charset="0"/>
                    <a:ea typeface="Calibri" panose="020F0502020204030204" pitchFamily="34" charset="0"/>
                  </a:rPr>
                </a:br>
                <a:r>
                  <a:rPr lang="fr-CA" sz="1800" dirty="0">
                    <a:effectLst/>
                    <a:latin typeface="Times New Roman" panose="02020603050405020304" pitchFamily="18" charset="0"/>
                    <a:ea typeface="Calibri" panose="020F0502020204030204" pitchFamily="34" charset="0"/>
                  </a:rPr>
                  <a:t>Portefeuille 2 : 500 actions de W et 500 actions de V.</a:t>
                </a:r>
                <a:br>
                  <a:rPr lang="fr-CA" sz="1800" dirty="0">
                    <a:effectLst/>
                    <a:latin typeface="Times New Roman" panose="02020603050405020304" pitchFamily="18" charset="0"/>
                    <a:ea typeface="Calibri" panose="020F0502020204030204" pitchFamily="34" charset="0"/>
                  </a:rPr>
                </a:br>
                <a:r>
                  <a:rPr lang="fr-CA" sz="1800" dirty="0">
                    <a:effectLst/>
                    <a:latin typeface="Times New Roman" panose="02020603050405020304" pitchFamily="18" charset="0"/>
                    <a:ea typeface="Calibri" panose="020F0502020204030204" pitchFamily="34" charset="0"/>
                  </a:rPr>
                  <a:t>Portefeuille 3 : 250 actions de chacune.</a:t>
                </a:r>
                <a:br>
                  <a:rPr lang="fr-CA" sz="1800" dirty="0">
                    <a:effectLst/>
                    <a:latin typeface="Times New Roman" panose="02020603050405020304" pitchFamily="18" charset="0"/>
                    <a:ea typeface="Calibri" panose="020F0502020204030204" pitchFamily="34" charset="0"/>
                  </a:rPr>
                </a:br>
                <a:r>
                  <a:rPr lang="fr-CA" sz="1800" dirty="0">
                    <a:effectLst/>
                    <a:latin typeface="Times New Roman" panose="02020603050405020304" pitchFamily="18" charset="0"/>
                    <a:ea typeface="Calibri" panose="020F0502020204030204" pitchFamily="34" charset="0"/>
                  </a:rPr>
                  <a:t>Soit </a:t>
                </a:r>
                <a14:m>
                  <m:oMath xmlns:m="http://schemas.openxmlformats.org/officeDocument/2006/math">
                    <m:sSub>
                      <m:sSubPr>
                        <m:ctrlPr>
                          <a:rPr lang="fr-CA" sz="1800" i="1">
                            <a:effectLst/>
                            <a:latin typeface="Cambria Math" panose="02040503050406030204" pitchFamily="18" charset="0"/>
                            <a:ea typeface="Calibri" panose="020F0502020204030204" pitchFamily="34" charset="0"/>
                          </a:rPr>
                        </m:ctrlPr>
                      </m:sSubPr>
                      <m:e>
                        <m:r>
                          <a:rPr lang="fr-CA" sz="1800" i="1">
                            <a:effectLst/>
                            <a:latin typeface="Cambria Math" panose="02040503050406030204" pitchFamily="18" charset="0"/>
                            <a:ea typeface="Calibri" panose="020F0502020204030204" pitchFamily="34" charset="0"/>
                          </a:rPr>
                          <m:t>𝑃</m:t>
                        </m:r>
                      </m:e>
                      <m:sub>
                        <m:r>
                          <a:rPr lang="fr-CA" sz="1800" i="1">
                            <a:effectLst/>
                            <a:latin typeface="Cambria Math" panose="02040503050406030204" pitchFamily="18" charset="0"/>
                            <a:ea typeface="Calibri" panose="020F0502020204030204" pitchFamily="34" charset="0"/>
                          </a:rPr>
                          <m:t>𝑖</m:t>
                        </m:r>
                      </m:sub>
                    </m:sSub>
                    <m:r>
                      <a:rPr lang="fr-CA" sz="1800" i="1">
                        <a:effectLst/>
                        <a:latin typeface="Cambria Math" panose="02040503050406030204" pitchFamily="18" charset="0"/>
                        <a:ea typeface="Calibri" panose="020F0502020204030204" pitchFamily="34" charset="0"/>
                      </a:rPr>
                      <m:t> (</m:t>
                    </m:r>
                    <m:r>
                      <a:rPr lang="fr-CA" sz="1800" i="1">
                        <a:effectLst/>
                        <a:latin typeface="Cambria Math" panose="02040503050406030204" pitchFamily="18" charset="0"/>
                        <a:ea typeface="Calibri" panose="020F0502020204030204" pitchFamily="34" charset="0"/>
                      </a:rPr>
                      <m:t>𝑖</m:t>
                    </m:r>
                    <m:r>
                      <a:rPr lang="fr-CA" sz="1800" i="1">
                        <a:effectLst/>
                        <a:latin typeface="Cambria Math" panose="02040503050406030204" pitchFamily="18" charset="0"/>
                        <a:ea typeface="Calibri" panose="020F0502020204030204" pitchFamily="34" charset="0"/>
                      </a:rPr>
                      <m:t>=1,2 </m:t>
                    </m:r>
                    <m:r>
                      <a:rPr lang="fr-CA" sz="1800" i="1">
                        <a:effectLst/>
                        <a:latin typeface="Cambria Math" panose="02040503050406030204" pitchFamily="18" charset="0"/>
                        <a:ea typeface="Calibri" panose="020F0502020204030204" pitchFamily="34" charset="0"/>
                      </a:rPr>
                      <m:t>𝑜𝑢</m:t>
                    </m:r>
                    <m:r>
                      <a:rPr lang="fr-CA" sz="1800" i="1">
                        <a:effectLst/>
                        <a:latin typeface="Cambria Math" panose="02040503050406030204" pitchFamily="18" charset="0"/>
                        <a:ea typeface="Calibri" panose="020F0502020204030204" pitchFamily="34" charset="0"/>
                      </a:rPr>
                      <m:t> 3)=</m:t>
                    </m:r>
                  </m:oMath>
                </a14:m>
                <a:r>
                  <a:rPr lang="fr-CA" sz="1800" dirty="0">
                    <a:effectLst/>
                    <a:latin typeface="Times New Roman" panose="02020603050405020304" pitchFamily="18" charset="0"/>
                    <a:ea typeface="Calibri" panose="020F0502020204030204" pitchFamily="34" charset="0"/>
                  </a:rPr>
                  <a:t>la valeur du portefeuille i un mois après.</a:t>
                </a:r>
                <a:br>
                  <a:rPr lang="fr-CA" sz="1800" dirty="0">
                    <a:effectLst/>
                    <a:latin typeface="Times New Roman" panose="02020603050405020304" pitchFamily="18" charset="0"/>
                    <a:ea typeface="Calibri" panose="020F0502020204030204" pitchFamily="34" charset="0"/>
                  </a:rPr>
                </a:br>
                <a:r>
                  <a:rPr lang="fr-CA" sz="1800" dirty="0">
                    <a:effectLst/>
                    <a:latin typeface="Times New Roman" panose="02020603050405020304" pitchFamily="18" charset="0"/>
                    <a:ea typeface="Calibri" panose="020F0502020204030204" pitchFamily="34" charset="0"/>
                  </a:rPr>
                  <a:t>Pour chacun des portefeuilles calculer </a:t>
                </a:r>
                <a14:m>
                  <m:oMath xmlns:m="http://schemas.openxmlformats.org/officeDocument/2006/math">
                    <m:r>
                      <a:rPr lang="fr-CA" sz="1800" i="1">
                        <a:effectLst/>
                        <a:latin typeface="Cambria Math" panose="02040503050406030204" pitchFamily="18" charset="0"/>
                        <a:ea typeface="Calibri" panose="020F0502020204030204" pitchFamily="34" charset="0"/>
                      </a:rPr>
                      <m:t>𝑃</m:t>
                    </m:r>
                    <m:d>
                      <m:dPr>
                        <m:ctrlPr>
                          <a:rPr lang="fr-CA" sz="1800" i="1">
                            <a:effectLst/>
                            <a:latin typeface="Cambria Math" panose="02040503050406030204" pitchFamily="18" charset="0"/>
                            <a:ea typeface="Calibri" panose="020F0502020204030204" pitchFamily="34" charset="0"/>
                          </a:rPr>
                        </m:ctrlPr>
                      </m:dPr>
                      <m:e>
                        <m:sSub>
                          <m:sSubPr>
                            <m:ctrlPr>
                              <a:rPr lang="fr-CA" sz="1800" i="1">
                                <a:effectLst/>
                                <a:latin typeface="Cambria Math" panose="02040503050406030204" pitchFamily="18" charset="0"/>
                                <a:ea typeface="Calibri" panose="020F0502020204030204" pitchFamily="34" charset="0"/>
                              </a:rPr>
                            </m:ctrlPr>
                          </m:sSubPr>
                          <m:e>
                            <m:r>
                              <a:rPr lang="fr-CA" sz="1800" i="1">
                                <a:effectLst/>
                                <a:latin typeface="Cambria Math" panose="02040503050406030204" pitchFamily="18" charset="0"/>
                                <a:ea typeface="Calibri" panose="020F0502020204030204" pitchFamily="34" charset="0"/>
                              </a:rPr>
                              <m:t>𝑃</m:t>
                            </m:r>
                          </m:e>
                          <m:sub>
                            <m:r>
                              <a:rPr lang="fr-CA" sz="1800" i="1">
                                <a:effectLst/>
                                <a:latin typeface="Cambria Math" panose="02040503050406030204" pitchFamily="18" charset="0"/>
                                <a:ea typeface="Calibri" panose="020F0502020204030204" pitchFamily="34" charset="0"/>
                              </a:rPr>
                              <m:t>𝑖</m:t>
                            </m:r>
                          </m:sub>
                        </m:sSub>
                        <m:r>
                          <a:rPr lang="fr-CA" sz="1800" i="1">
                            <a:effectLst/>
                            <a:latin typeface="Cambria Math" panose="02040503050406030204" pitchFamily="18" charset="0"/>
                            <a:ea typeface="Calibri" panose="020F0502020204030204" pitchFamily="34" charset="0"/>
                          </a:rPr>
                          <m:t>&gt;12000</m:t>
                        </m:r>
                      </m:e>
                    </m:d>
                    <m:r>
                      <a:rPr lang="fr-CA" sz="1800" i="1">
                        <a:effectLst/>
                        <a:latin typeface="Cambria Math" panose="02040503050406030204" pitchFamily="18" charset="0"/>
                        <a:ea typeface="Calibri" panose="020F0502020204030204" pitchFamily="34" charset="0"/>
                      </a:rPr>
                      <m:t>  </m:t>
                    </m:r>
                    <m:r>
                      <a:rPr lang="fr-CA" sz="1800" i="1">
                        <a:effectLst/>
                        <a:latin typeface="Cambria Math" panose="02040503050406030204" pitchFamily="18" charset="0"/>
                        <a:ea typeface="Calibri" panose="020F0502020204030204" pitchFamily="34" charset="0"/>
                      </a:rPr>
                      <m:t>𝑒𝑡</m:t>
                    </m:r>
                    <m:r>
                      <a:rPr lang="fr-CA" sz="1800" i="1">
                        <a:effectLst/>
                        <a:latin typeface="Cambria Math" panose="02040503050406030204" pitchFamily="18" charset="0"/>
                        <a:ea typeface="Calibri" panose="020F0502020204030204" pitchFamily="34" charset="0"/>
                      </a:rPr>
                      <m:t> </m:t>
                    </m:r>
                    <m:r>
                      <a:rPr lang="fr-CA" sz="1800" i="1">
                        <a:effectLst/>
                        <a:latin typeface="Cambria Math" panose="02040503050406030204" pitchFamily="18" charset="0"/>
                        <a:ea typeface="Calibri" panose="020F0502020204030204" pitchFamily="34" charset="0"/>
                      </a:rPr>
                      <m:t>𝑃</m:t>
                    </m:r>
                    <m:d>
                      <m:dPr>
                        <m:ctrlPr>
                          <a:rPr lang="fr-CA" sz="1800" i="1">
                            <a:effectLst/>
                            <a:latin typeface="Cambria Math" panose="02040503050406030204" pitchFamily="18" charset="0"/>
                            <a:ea typeface="Calibri" panose="020F0502020204030204" pitchFamily="34" charset="0"/>
                          </a:rPr>
                        </m:ctrlPr>
                      </m:dPr>
                      <m:e>
                        <m:sSub>
                          <m:sSubPr>
                            <m:ctrlPr>
                              <a:rPr lang="fr-CA" sz="1800" i="1">
                                <a:effectLst/>
                                <a:latin typeface="Cambria Math" panose="02040503050406030204" pitchFamily="18" charset="0"/>
                                <a:ea typeface="Calibri" panose="020F0502020204030204" pitchFamily="34" charset="0"/>
                              </a:rPr>
                            </m:ctrlPr>
                          </m:sSubPr>
                          <m:e>
                            <m:r>
                              <a:rPr lang="fr-CA" sz="1800" i="1">
                                <a:effectLst/>
                                <a:latin typeface="Cambria Math" panose="02040503050406030204" pitchFamily="18" charset="0"/>
                                <a:ea typeface="Calibri" panose="020F0502020204030204" pitchFamily="34" charset="0"/>
                              </a:rPr>
                              <m:t>𝑃</m:t>
                            </m:r>
                          </m:e>
                          <m:sub>
                            <m:r>
                              <a:rPr lang="fr-CA" sz="1800" i="1">
                                <a:effectLst/>
                                <a:latin typeface="Cambria Math" panose="02040503050406030204" pitchFamily="18" charset="0"/>
                                <a:ea typeface="Calibri" panose="020F0502020204030204" pitchFamily="34" charset="0"/>
                              </a:rPr>
                              <m:t>𝑖</m:t>
                            </m:r>
                          </m:sub>
                        </m:sSub>
                        <m:r>
                          <a:rPr lang="fr-CA" sz="1800" i="1">
                            <a:effectLst/>
                            <a:latin typeface="Cambria Math" panose="02040503050406030204" pitchFamily="18" charset="0"/>
                            <a:ea typeface="Calibri" panose="020F0502020204030204" pitchFamily="34" charset="0"/>
                          </a:rPr>
                          <m:t>&lt;5000</m:t>
                        </m:r>
                      </m:e>
                    </m:d>
                    <m:r>
                      <a:rPr lang="fr-CA" sz="1800" i="1">
                        <a:effectLst/>
                        <a:latin typeface="Cambria Math" panose="02040503050406030204" pitchFamily="18" charset="0"/>
                        <a:ea typeface="Calibri" panose="020F0502020204030204" pitchFamily="34" charset="0"/>
                      </a:rPr>
                      <m:t>.</m:t>
                    </m:r>
                  </m:oMath>
                </a14:m>
                <a:br>
                  <a:rPr lang="fr-CA" sz="1800" dirty="0">
                    <a:effectLst/>
                    <a:latin typeface="Times New Roman" panose="02020603050405020304" pitchFamily="18" charset="0"/>
                    <a:ea typeface="Calibri" panose="020F0502020204030204" pitchFamily="34" charset="0"/>
                  </a:rPr>
                </a:br>
                <a:r>
                  <a:rPr lang="fr-CA" sz="1800" dirty="0">
                    <a:effectLst/>
                    <a:latin typeface="Times New Roman" panose="02020603050405020304" pitchFamily="18" charset="0"/>
                    <a:ea typeface="Calibri" panose="020F0502020204030204" pitchFamily="34" charset="0"/>
                  </a:rPr>
                  <a:t> Quel portefeuille est le plus sécuritaire et lequel est le plus risqué?</a:t>
                </a:r>
                <a:br>
                  <a:rPr lang="fr-CA" sz="1800" dirty="0">
                    <a:effectLst/>
                    <a:latin typeface="Times New Roman" panose="02020603050405020304" pitchFamily="18" charset="0"/>
                    <a:ea typeface="Calibri" panose="020F0502020204030204" pitchFamily="34" charset="0"/>
                  </a:rPr>
                </a:br>
                <a:r>
                  <a:rPr lang="fr-CA" sz="1800" dirty="0">
                    <a:effectLst/>
                    <a:latin typeface="Times New Roman" panose="02020603050405020304" pitchFamily="18" charset="0"/>
                    <a:ea typeface="Calibri" panose="020F0502020204030204" pitchFamily="34" charset="0"/>
                  </a:rPr>
                  <a:t>Vous voulez faire un profit mensuel de 2500 $ sur votre investissement, sans calculer aucune probabilité, quel est le portefeuille à choisir? Pourquoi?</a:t>
                </a:r>
                <a:br>
                  <a:rPr lang="fr-CA" sz="1800" dirty="0">
                    <a:effectLst/>
                    <a:latin typeface="Times New Roman" panose="02020603050405020304" pitchFamily="18" charset="0"/>
                    <a:ea typeface="Calibri" panose="020F0502020204030204" pitchFamily="34" charset="0"/>
                  </a:rPr>
                </a:br>
                <a:endParaRPr lang="fr-CA" dirty="0"/>
              </a:p>
            </p:txBody>
          </p:sp>
        </mc:Choice>
        <mc:Fallback xmlns="">
          <p:sp>
            <p:nvSpPr>
              <p:cNvPr id="2" name="Titre 1">
                <a:extLst>
                  <a:ext uri="{FF2B5EF4-FFF2-40B4-BE49-F238E27FC236}">
                    <a16:creationId xmlns:a16="http://schemas.microsoft.com/office/drawing/2014/main" id="{5075896C-A9A8-4238-BCC5-78372B1AC17C}"/>
                  </a:ext>
                </a:extLst>
              </p:cNvPr>
              <p:cNvSpPr>
                <a:spLocks noGrp="1" noRot="1" noChangeAspect="1" noMove="1" noResize="1" noEditPoints="1" noAdjustHandles="1" noChangeArrowheads="1" noChangeShapeType="1" noTextEdit="1"/>
              </p:cNvSpPr>
              <p:nvPr>
                <p:ph type="title"/>
              </p:nvPr>
            </p:nvSpPr>
            <p:spPr>
              <a:xfrm>
                <a:off x="838200" y="365124"/>
                <a:ext cx="10515600" cy="5753287"/>
              </a:xfrm>
              <a:blipFill>
                <a:blip r:embed="rId2"/>
                <a:stretch>
                  <a:fillRect l="-2087" t="-2225"/>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A1780A72-EF29-4D57-9B0B-2F01C970918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6151E0E-25AE-478D-B72E-DDE3F3189675}"/>
              </a:ext>
            </a:extLst>
          </p:cNvPr>
          <p:cNvSpPr>
            <a:spLocks noGrp="1"/>
          </p:cNvSpPr>
          <p:nvPr>
            <p:ph type="sldNum" sz="quarter" idx="12"/>
          </p:nvPr>
        </p:nvSpPr>
        <p:spPr/>
        <p:txBody>
          <a:bodyPr/>
          <a:lstStyle/>
          <a:p>
            <a:fld id="{26377AD9-CE17-438C-A638-C64D2D42D7CF}" type="slidenum">
              <a:rPr lang="fr-CA" smtClean="0"/>
              <a:t>11</a:t>
            </a:fld>
            <a:endParaRPr lang="fr-CA"/>
          </a:p>
        </p:txBody>
      </p:sp>
    </p:spTree>
    <p:extLst>
      <p:ext uri="{BB962C8B-B14F-4D97-AF65-F5344CB8AC3E}">
        <p14:creationId xmlns:p14="http://schemas.microsoft.com/office/powerpoint/2010/main" val="3800324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85EBC2C3-81E4-45D3-8551-BC49336D20F6}"/>
                  </a:ext>
                </a:extLst>
              </p:cNvPr>
              <p:cNvSpPr>
                <a:spLocks noGrp="1"/>
              </p:cNvSpPr>
              <p:nvPr>
                <p:ph type="title"/>
              </p:nvPr>
            </p:nvSpPr>
            <p:spPr>
              <a:xfrm>
                <a:off x="838199" y="365125"/>
                <a:ext cx="10780060" cy="5991225"/>
              </a:xfrm>
            </p:spPr>
            <p:txBody>
              <a:bodyPr>
                <a:normAutofit/>
              </a:bodyPr>
              <a:lstStyle/>
              <a:p>
                <a:pPr>
                  <a:lnSpc>
                    <a:spcPct val="107000"/>
                  </a:lnSpc>
                  <a:spcAft>
                    <a:spcPts val="800"/>
                  </a:spcAft>
                </a:pPr>
                <a:r>
                  <a:rPr lang="fr-CA" dirty="0" err="1"/>
                  <a:t>Solution:</a:t>
                </a:r>
                <a:r>
                  <a:rPr lang="fr-CA" sz="2000" dirty="0" err="1">
                    <a:effectLst/>
                    <a:latin typeface="Times New Roman" panose="02020603050405020304" pitchFamily="18" charset="0"/>
                    <a:ea typeface="Times New Roman" panose="02020603050405020304" pitchFamily="18" charset="0"/>
                    <a:cs typeface="Times New Roman" panose="02020603050405020304" pitchFamily="18" charset="0"/>
                  </a:rPr>
                  <a:t>Puisque</a:t>
                </a:r>
                <a:r>
                  <a:rPr lang="fr-CA" sz="2000" dirty="0">
                    <a:effectLst/>
                    <a:latin typeface="Times New Roman" panose="02020603050405020304" pitchFamily="18" charset="0"/>
                    <a:ea typeface="Times New Roman" panose="02020603050405020304" pitchFamily="18" charset="0"/>
                    <a:cs typeface="Times New Roman" panose="02020603050405020304" pitchFamily="18" charset="0"/>
                  </a:rPr>
                  <a:t> toutes ces actions sont indépendantes, alors </a:t>
                </a:r>
                <a14:m>
                  <m:oMath xmlns:m="http://schemas.openxmlformats.org/officeDocument/2006/math">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1 </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~ℵ</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10000;500000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2 </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~ℵ</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10000;875000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𝑒𝑡</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3 </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~ℵ</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10000;406250</m:t>
                        </m:r>
                      </m:e>
                    </m:d>
                  </m:oMath>
                </a14:m>
                <a:r>
                  <a:rPr lang="fr-CA" sz="200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r>
                  <a:rPr lang="fr-CA" sz="2000" dirty="0">
                    <a:effectLst/>
                    <a:latin typeface="Times New Roman" panose="02020603050405020304" pitchFamily="18" charset="0"/>
                    <a:ea typeface="Times New Roman" panose="02020603050405020304" pitchFamily="18" charset="0"/>
                    <a:cs typeface="Times New Roman" panose="02020603050405020304" pitchFamily="18" charset="0"/>
                  </a:rPr>
                  <a:t>(a) En utilisant le logiciel R, on peut déterminer les probabilités suivantes :</a:t>
                </a:r>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&gt;12000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=0,002339  ;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&gt;12000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=0,016255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𝑒𝑡</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oMath>
                    <m:oMath xmlns:m="http://schemas.openxmlformats.org/officeDocument/2006/math">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&gt;12000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=0,000851</m:t>
                      </m:r>
                    </m:oMath>
                  </m:oMathPara>
                </a14:m>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r>
                  <a:rPr lang="fr-CA" sz="2000" dirty="0">
                    <a:effectLst/>
                    <a:latin typeface="Times New Roman" panose="02020603050405020304" pitchFamily="18" charset="0"/>
                    <a:ea typeface="Times New Roman" panose="02020603050405020304" pitchFamily="18" charset="0"/>
                    <a:cs typeface="Times New Roman" panose="02020603050405020304" pitchFamily="18" charset="0"/>
                  </a:rPr>
                  <a:t>De la même façon, on trouve que :</a:t>
                </a:r>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&lt;5000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≈0  ;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&lt;5000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≈0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𝑒𝑡</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oMath>
                    <m:oMath xmlns:m="http://schemas.openxmlformats.org/officeDocument/2006/math">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fr-CA"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&lt;5000</m:t>
                          </m:r>
                        </m:e>
                      </m:d>
                      <m:r>
                        <a:rPr lang="fr-CA" sz="20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r>
                  <a:rPr lang="fr-CA" sz="2000" dirty="0">
                    <a:effectLst/>
                    <a:latin typeface="Times New Roman" panose="02020603050405020304" pitchFamily="18" charset="0"/>
                    <a:ea typeface="Times New Roman" panose="02020603050405020304" pitchFamily="18" charset="0"/>
                    <a:cs typeface="Times New Roman" panose="02020603050405020304" pitchFamily="18" charset="0"/>
                  </a:rPr>
                  <a:t>(b) Le portefeuille le plus sécuritaire est celui dont la probabilité qu’il dépasse 12000$ est la plus élevée donc c’est le portefeuille 2. Le plus risqué c’est le portefeuille 3.</a:t>
                </a:r>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r>
                  <a:rPr lang="fr-CA" sz="2000" dirty="0">
                    <a:effectLst/>
                    <a:latin typeface="Times New Roman" panose="02020603050405020304" pitchFamily="18" charset="0"/>
                    <a:ea typeface="Times New Roman" panose="02020603050405020304" pitchFamily="18" charset="0"/>
                    <a:cs typeface="Times New Roman" panose="02020603050405020304" pitchFamily="18" charset="0"/>
                  </a:rPr>
                  <a:t>(c) Puisqu’aucun de ces portefeuille n’est catastrophique (aucun d’eux n’aura une valeur après un mois de moins de 5000$), on va opter pour le portefeuille 2, le plus sécuritaire. Car le portefeuille 2 a 7 fois plus de chance de dépasser 12000$ après un mois que le suivant qui est le portefeuille 1.</a:t>
                </a:r>
                <a:br>
                  <a:rPr lang="fr-CA" sz="2000" dirty="0">
                    <a:effectLst/>
                    <a:latin typeface="Calibri" panose="020F0502020204030204" pitchFamily="34" charset="0"/>
                    <a:ea typeface="Times New Roman" panose="02020603050405020304" pitchFamily="18" charset="0"/>
                    <a:cs typeface="Times New Roman" panose="02020603050405020304" pitchFamily="18" charset="0"/>
                  </a:rPr>
                </a:br>
                <a:endParaRPr lang="fr-CA" sz="2000" dirty="0"/>
              </a:p>
            </p:txBody>
          </p:sp>
        </mc:Choice>
        <mc:Fallback>
          <p:sp>
            <p:nvSpPr>
              <p:cNvPr id="2" name="Titre 1">
                <a:extLst>
                  <a:ext uri="{FF2B5EF4-FFF2-40B4-BE49-F238E27FC236}">
                    <a16:creationId xmlns:a16="http://schemas.microsoft.com/office/drawing/2014/main" id="{85EBC2C3-81E4-45D3-8551-BC49336D20F6}"/>
                  </a:ext>
                </a:extLst>
              </p:cNvPr>
              <p:cNvSpPr>
                <a:spLocks noGrp="1" noRot="1" noChangeAspect="1" noMove="1" noResize="1" noEditPoints="1" noAdjustHandles="1" noChangeArrowheads="1" noChangeShapeType="1" noTextEdit="1"/>
              </p:cNvSpPr>
              <p:nvPr>
                <p:ph type="title"/>
              </p:nvPr>
            </p:nvSpPr>
            <p:spPr>
              <a:xfrm>
                <a:off x="838199" y="365125"/>
                <a:ext cx="10780060" cy="5991225"/>
              </a:xfrm>
              <a:blipFill>
                <a:blip r:embed="rId2"/>
                <a:stretch>
                  <a:fillRect l="-2261" r="-622"/>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71DA0335-356B-4E77-A232-7A227514109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FA94A6B-97F5-4770-B104-670502ED2865}"/>
              </a:ext>
            </a:extLst>
          </p:cNvPr>
          <p:cNvSpPr>
            <a:spLocks noGrp="1"/>
          </p:cNvSpPr>
          <p:nvPr>
            <p:ph type="sldNum" sz="quarter" idx="12"/>
          </p:nvPr>
        </p:nvSpPr>
        <p:spPr/>
        <p:txBody>
          <a:bodyPr/>
          <a:lstStyle/>
          <a:p>
            <a:fld id="{26377AD9-CE17-438C-A638-C64D2D42D7CF}" type="slidenum">
              <a:rPr lang="fr-CA" smtClean="0"/>
              <a:t>12</a:t>
            </a:fld>
            <a:endParaRPr lang="fr-CA"/>
          </a:p>
        </p:txBody>
      </p:sp>
    </p:spTree>
    <p:extLst>
      <p:ext uri="{BB962C8B-B14F-4D97-AF65-F5344CB8AC3E}">
        <p14:creationId xmlns:p14="http://schemas.microsoft.com/office/powerpoint/2010/main" val="196134760"/>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1105</Words>
  <Application>Microsoft Office PowerPoint</Application>
  <PresentationFormat>Grand écran</PresentationFormat>
  <Paragraphs>62</Paragraphs>
  <Slides>12</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12</vt:i4>
      </vt:variant>
    </vt:vector>
  </HeadingPairs>
  <TitlesOfParts>
    <vt:vector size="18" baseType="lpstr">
      <vt:lpstr>Arial</vt:lpstr>
      <vt:lpstr>Calibri</vt:lpstr>
      <vt:lpstr>Calibri Light</vt:lpstr>
      <vt:lpstr>Cambria Math</vt:lpstr>
      <vt:lpstr>Times New Roman</vt:lpstr>
      <vt:lpstr>Office Theme</vt:lpstr>
      <vt:lpstr>Théorème: Combinaison linéaire de variables aléatoires</vt:lpstr>
      <vt:lpstr> Théorème: Soit X une variable mesurable de moyenne μ_(X  )et de variance σ_X^2 (inconnues)</vt:lpstr>
      <vt:lpstr>Chacun des échantillons est de taille n</vt:lpstr>
      <vt:lpstr>Si le nombre de répétitions k est assez grand  (k dépasse 100).</vt:lpstr>
      <vt:lpstr>ILLUSTRATION: On a généré 5 000 échantillons de taille 60 chacun d’une variable aléatoire ayant une moyenne de 60 et un écart-type de 11,55. En calculant la moyenne de chacun de ces échantillons, on obtient le graphique suivant : </vt:lpstr>
      <vt:lpstr>VÉRIFICATION DE LA NORMALTÉ D’UN ÉCHANTILLON DE DONNÉES</vt:lpstr>
      <vt:lpstr>Présentation PowerPoint</vt:lpstr>
      <vt:lpstr>Pour s’assurer de la normalité, on peut faire le diagramme en boite des données et on obtient:</vt:lpstr>
      <vt:lpstr>Exemple 2: Soit les données suivantes  3.5,4.25,1.6,3.8,4.9,6.3,1.2,7.6,2.3,3.8,7.9,12.9,2.5,16.0,5.0</vt:lpstr>
      <vt:lpstr>Confirmation avec un diagramme des quartiles (en boîtes) </vt:lpstr>
      <vt:lpstr>Exercice : Un investisseur surveille les actions de 4 compagnies. Il estime le prix moyen de ces actions de chacune de ces compagnies à 10$, mais à cause de leur volatilité mensuelle, il pense que les actions de la première compagnie sont modélisées selon une variable X~N(10;1); ceux de la seconde selon Y~N(10;2); ceux de la troisième selon V~N(10;3)  et ceux de la quatrième selon W~N(10;0,5) en plus il suppose que les actions de ces compagnies sont indépendantes. Vous avez 10 000$ à investir et vous optez pour 3 stratégies : Portefeuille 1 : 1000 actions de W. Portefeuille 2 : 500 actions de W et 500 actions de V. Portefeuille 3 : 250 actions de chacune. Soit P_i  (i=1,2 ou 3)=la valeur du portefeuille i un mois après. Pour chacun des portefeuilles calculer P(P_i&gt;12000)   et P(P_i&lt;5000).  Quel portefeuille est le plus sécuritaire et lequel est le plus risqué? Vous voulez faire un profit mensuel de 2500 $ sur votre investissement, sans calculer aucune probabilité, quel est le portefeuille à choisir? Pourquoi? </vt:lpstr>
      <vt:lpstr>Solution:Puisque toutes ces actions sont indépendantes, alors P_(1 )~ℵ(10000;500000);  P_(2 )~ℵ(10000;875000)    et  P_(3 )~ℵ(10000;406250). (a) En utilisant le logiciel R, on peut déterminer les probabilités suivantes : P(P_1&gt;12000)=0,002339  ;   P(P_2&gt;12000)=0,016255       et     P(P_3&gt;12000)=0,000851 De la même façon, on trouve que : P(P_1&lt;5000)≈0  ;   P(P_2&lt;5000)≈0       et     P(P_3&lt;5000)≈0 (b) Le portefeuille le plus sécuritaire est celui dont la probabilité qu’il dépasse 12000$ est la plus élevée donc c’est le portefeuille 2. Le plus risqué c’est le portefeuille 3. (c) Puisqu’aucun de ces portefeuille n’est catastrophique (aucun d’eux n’aura une valeur après un mois de moins de 5000$), on va opter pour le portefeuille 2, le plus sécuritaire. Car le portefeuille 2 a 7 fois plus de chance de dépasser 12000$ après un mois que le suivant qui est le portefeuille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Théorème: Combinaison linéaire de variables aléatoires</dc:title>
  <dc:creator>Mhammed Mountassir</dc:creator>
  <cp:lastModifiedBy>Mhammed Mountassir</cp:lastModifiedBy>
  <cp:revision>8</cp:revision>
  <dcterms:created xsi:type="dcterms:W3CDTF">2020-10-07T12:41:08Z</dcterms:created>
  <dcterms:modified xsi:type="dcterms:W3CDTF">2021-10-07T11:18:15Z</dcterms:modified>
</cp:coreProperties>
</file>