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44" autoAdjust="0"/>
    <p:restoredTop sz="86957" autoAdjust="0"/>
  </p:normalViewPr>
  <p:slideViewPr>
    <p:cSldViewPr snapToGrid="0">
      <p:cViewPr varScale="1">
        <p:scale>
          <a:sx n="97" d="100"/>
          <a:sy n="97" d="100"/>
        </p:scale>
        <p:origin x="112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381315-9F11-461C-8DDA-A6295AA80A2C}"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fr-CA"/>
        </a:p>
      </dgm:t>
    </dgm:pt>
    <dgm:pt modelId="{8EA6E2C2-FB84-4DC7-B8FF-E6CA1D074D31}">
      <dgm:prSet phldrT="[Texte]"/>
      <dgm:spPr/>
      <dgm:t>
        <a:bodyPr/>
        <a:lstStyle/>
        <a:p>
          <a:r>
            <a:rPr lang="fr-CA"/>
            <a:t>Z: L'âge</a:t>
          </a:r>
        </a:p>
      </dgm:t>
    </dgm:pt>
    <dgm:pt modelId="{83605858-F3A4-42E8-B48F-37FB21BC3BD8}" type="parTrans" cxnId="{E7D7304C-9845-4749-BA56-0A6772972B0C}">
      <dgm:prSet/>
      <dgm:spPr/>
      <dgm:t>
        <a:bodyPr/>
        <a:lstStyle/>
        <a:p>
          <a:endParaRPr lang="fr-CA"/>
        </a:p>
      </dgm:t>
    </dgm:pt>
    <dgm:pt modelId="{65D9F46A-965E-477E-8896-1B98D22CB370}" type="sibTrans" cxnId="{E7D7304C-9845-4749-BA56-0A6772972B0C}">
      <dgm:prSet/>
      <dgm:spPr/>
      <dgm:t>
        <a:bodyPr/>
        <a:lstStyle/>
        <a:p>
          <a:endParaRPr lang="fr-CA"/>
        </a:p>
      </dgm:t>
    </dgm:pt>
    <dgm:pt modelId="{7429EF6D-02BA-4CC3-ADC2-EFB35F37AECB}">
      <dgm:prSet phldrT="[Texte]"/>
      <dgm:spPr/>
      <dgm:t>
        <a:bodyPr/>
        <a:lstStyle/>
        <a:p>
          <a:r>
            <a:rPr lang="fr-CA"/>
            <a:t>X:Pointure des chaussures</a:t>
          </a:r>
        </a:p>
      </dgm:t>
    </dgm:pt>
    <dgm:pt modelId="{C66C2712-AA39-4253-93D5-6F4B0247207A}" type="parTrans" cxnId="{BFFE184D-08FA-45B4-A42D-6CD1D0F85C6F}">
      <dgm:prSet/>
      <dgm:spPr/>
      <dgm:t>
        <a:bodyPr/>
        <a:lstStyle/>
        <a:p>
          <a:endParaRPr lang="fr-CA"/>
        </a:p>
      </dgm:t>
    </dgm:pt>
    <dgm:pt modelId="{1806B33F-82A3-49C1-82E7-EC23B51C8E7A}" type="sibTrans" cxnId="{BFFE184D-08FA-45B4-A42D-6CD1D0F85C6F}">
      <dgm:prSet/>
      <dgm:spPr/>
      <dgm:t>
        <a:bodyPr/>
        <a:lstStyle/>
        <a:p>
          <a:endParaRPr lang="fr-CA"/>
        </a:p>
      </dgm:t>
    </dgm:pt>
    <dgm:pt modelId="{48EAD425-97E6-46E8-981D-9250B4DB8BDE}">
      <dgm:prSet phldrT="[Texte]"/>
      <dgm:spPr/>
      <dgm:t>
        <a:bodyPr/>
        <a:lstStyle/>
        <a:p>
          <a:r>
            <a:rPr lang="fr-CA"/>
            <a:t>Y: Niveau scolaire</a:t>
          </a:r>
        </a:p>
      </dgm:t>
    </dgm:pt>
    <dgm:pt modelId="{29739148-07B1-45DB-9DB5-78CF65D453EB}" type="parTrans" cxnId="{86C8505B-B39A-4F3E-9E66-5CEA98DB7511}">
      <dgm:prSet/>
      <dgm:spPr/>
      <dgm:t>
        <a:bodyPr/>
        <a:lstStyle/>
        <a:p>
          <a:endParaRPr lang="fr-CA"/>
        </a:p>
      </dgm:t>
    </dgm:pt>
    <dgm:pt modelId="{734C3FA0-9F8F-4AD2-998A-E682441E743E}" type="sibTrans" cxnId="{86C8505B-B39A-4F3E-9E66-5CEA98DB7511}">
      <dgm:prSet/>
      <dgm:spPr/>
      <dgm:t>
        <a:bodyPr/>
        <a:lstStyle/>
        <a:p>
          <a:endParaRPr lang="fr-CA"/>
        </a:p>
      </dgm:t>
    </dgm:pt>
    <dgm:pt modelId="{EE55076F-DD95-4462-9613-F4425353EB51}" type="pres">
      <dgm:prSet presAssocID="{56381315-9F11-461C-8DDA-A6295AA80A2C}" presName="diagram" presStyleCnt="0">
        <dgm:presLayoutVars>
          <dgm:chPref val="1"/>
          <dgm:dir/>
          <dgm:animOne val="branch"/>
          <dgm:animLvl val="lvl"/>
          <dgm:resizeHandles val="exact"/>
        </dgm:presLayoutVars>
      </dgm:prSet>
      <dgm:spPr/>
    </dgm:pt>
    <dgm:pt modelId="{EE30BB26-1305-4658-BDCA-639AA94CB493}" type="pres">
      <dgm:prSet presAssocID="{8EA6E2C2-FB84-4DC7-B8FF-E6CA1D074D31}" presName="root1" presStyleCnt="0"/>
      <dgm:spPr/>
    </dgm:pt>
    <dgm:pt modelId="{BF7B3D49-67DE-40FE-8BCB-522201A34620}" type="pres">
      <dgm:prSet presAssocID="{8EA6E2C2-FB84-4DC7-B8FF-E6CA1D074D31}" presName="LevelOneTextNode" presStyleLbl="node0" presStyleIdx="0" presStyleCnt="1">
        <dgm:presLayoutVars>
          <dgm:chPref val="3"/>
        </dgm:presLayoutVars>
      </dgm:prSet>
      <dgm:spPr/>
    </dgm:pt>
    <dgm:pt modelId="{6D477B6B-67EE-4D17-8D7A-7DECA68EC7DC}" type="pres">
      <dgm:prSet presAssocID="{8EA6E2C2-FB84-4DC7-B8FF-E6CA1D074D31}" presName="level2hierChild" presStyleCnt="0"/>
      <dgm:spPr/>
    </dgm:pt>
    <dgm:pt modelId="{AC02C8A6-E98B-4B40-A98E-9AC1C060E055}" type="pres">
      <dgm:prSet presAssocID="{C66C2712-AA39-4253-93D5-6F4B0247207A}" presName="conn2-1" presStyleLbl="parChTrans1D2" presStyleIdx="0" presStyleCnt="2"/>
      <dgm:spPr/>
    </dgm:pt>
    <dgm:pt modelId="{D2808EF9-589F-4AF6-9854-E767D7A2CB24}" type="pres">
      <dgm:prSet presAssocID="{C66C2712-AA39-4253-93D5-6F4B0247207A}" presName="connTx" presStyleLbl="parChTrans1D2" presStyleIdx="0" presStyleCnt="2"/>
      <dgm:spPr/>
    </dgm:pt>
    <dgm:pt modelId="{45140476-C0C1-4E3D-BCC4-96AFA53CD3E8}" type="pres">
      <dgm:prSet presAssocID="{7429EF6D-02BA-4CC3-ADC2-EFB35F37AECB}" presName="root2" presStyleCnt="0"/>
      <dgm:spPr/>
    </dgm:pt>
    <dgm:pt modelId="{69103F1E-3992-446D-9BE9-595567ACF937}" type="pres">
      <dgm:prSet presAssocID="{7429EF6D-02BA-4CC3-ADC2-EFB35F37AECB}" presName="LevelTwoTextNode" presStyleLbl="node2" presStyleIdx="0" presStyleCnt="2">
        <dgm:presLayoutVars>
          <dgm:chPref val="3"/>
        </dgm:presLayoutVars>
      </dgm:prSet>
      <dgm:spPr/>
    </dgm:pt>
    <dgm:pt modelId="{1FA4E6A8-D28F-4D79-96AB-4EE68CF5D447}" type="pres">
      <dgm:prSet presAssocID="{7429EF6D-02BA-4CC3-ADC2-EFB35F37AECB}" presName="level3hierChild" presStyleCnt="0"/>
      <dgm:spPr/>
    </dgm:pt>
    <dgm:pt modelId="{D4B60FCA-ACA4-4CA2-8FD0-377476292B7F}" type="pres">
      <dgm:prSet presAssocID="{29739148-07B1-45DB-9DB5-78CF65D453EB}" presName="conn2-1" presStyleLbl="parChTrans1D2" presStyleIdx="1" presStyleCnt="2"/>
      <dgm:spPr/>
    </dgm:pt>
    <dgm:pt modelId="{209CBA52-4D1E-4F72-BA37-656CBA59A16F}" type="pres">
      <dgm:prSet presAssocID="{29739148-07B1-45DB-9DB5-78CF65D453EB}" presName="connTx" presStyleLbl="parChTrans1D2" presStyleIdx="1" presStyleCnt="2"/>
      <dgm:spPr/>
    </dgm:pt>
    <dgm:pt modelId="{27F5987C-82A4-4C81-952F-40BC41C4E6EC}" type="pres">
      <dgm:prSet presAssocID="{48EAD425-97E6-46E8-981D-9250B4DB8BDE}" presName="root2" presStyleCnt="0"/>
      <dgm:spPr/>
    </dgm:pt>
    <dgm:pt modelId="{94C0DE35-AFAF-4014-9B96-3D3E17FEE498}" type="pres">
      <dgm:prSet presAssocID="{48EAD425-97E6-46E8-981D-9250B4DB8BDE}" presName="LevelTwoTextNode" presStyleLbl="node2" presStyleIdx="1" presStyleCnt="2">
        <dgm:presLayoutVars>
          <dgm:chPref val="3"/>
        </dgm:presLayoutVars>
      </dgm:prSet>
      <dgm:spPr/>
    </dgm:pt>
    <dgm:pt modelId="{6A65D0C2-3849-48BD-BD49-047378E46489}" type="pres">
      <dgm:prSet presAssocID="{48EAD425-97E6-46E8-981D-9250B4DB8BDE}" presName="level3hierChild" presStyleCnt="0"/>
      <dgm:spPr/>
    </dgm:pt>
  </dgm:ptLst>
  <dgm:cxnLst>
    <dgm:cxn modelId="{789ACB03-EBFC-4111-90B0-E4D185B59603}" type="presOf" srcId="{29739148-07B1-45DB-9DB5-78CF65D453EB}" destId="{209CBA52-4D1E-4F72-BA37-656CBA59A16F}" srcOrd="1" destOrd="0" presId="urn:microsoft.com/office/officeart/2005/8/layout/hierarchy2"/>
    <dgm:cxn modelId="{86C8505B-B39A-4F3E-9E66-5CEA98DB7511}" srcId="{8EA6E2C2-FB84-4DC7-B8FF-E6CA1D074D31}" destId="{48EAD425-97E6-46E8-981D-9250B4DB8BDE}" srcOrd="1" destOrd="0" parTransId="{29739148-07B1-45DB-9DB5-78CF65D453EB}" sibTransId="{734C3FA0-9F8F-4AD2-998A-E682441E743E}"/>
    <dgm:cxn modelId="{E7D7304C-9845-4749-BA56-0A6772972B0C}" srcId="{56381315-9F11-461C-8DDA-A6295AA80A2C}" destId="{8EA6E2C2-FB84-4DC7-B8FF-E6CA1D074D31}" srcOrd="0" destOrd="0" parTransId="{83605858-F3A4-42E8-B48F-37FB21BC3BD8}" sibTransId="{65D9F46A-965E-477E-8896-1B98D22CB370}"/>
    <dgm:cxn modelId="{BFFE184D-08FA-45B4-A42D-6CD1D0F85C6F}" srcId="{8EA6E2C2-FB84-4DC7-B8FF-E6CA1D074D31}" destId="{7429EF6D-02BA-4CC3-ADC2-EFB35F37AECB}" srcOrd="0" destOrd="0" parTransId="{C66C2712-AA39-4253-93D5-6F4B0247207A}" sibTransId="{1806B33F-82A3-49C1-82E7-EC23B51C8E7A}"/>
    <dgm:cxn modelId="{A6821F72-7B47-4816-B70E-757DB8DD74F4}" type="presOf" srcId="{29739148-07B1-45DB-9DB5-78CF65D453EB}" destId="{D4B60FCA-ACA4-4CA2-8FD0-377476292B7F}" srcOrd="0" destOrd="0" presId="urn:microsoft.com/office/officeart/2005/8/layout/hierarchy2"/>
    <dgm:cxn modelId="{CA03B192-13B8-4180-99CE-13192CBE4885}" type="presOf" srcId="{C66C2712-AA39-4253-93D5-6F4B0247207A}" destId="{D2808EF9-589F-4AF6-9854-E767D7A2CB24}" srcOrd="1" destOrd="0" presId="urn:microsoft.com/office/officeart/2005/8/layout/hierarchy2"/>
    <dgm:cxn modelId="{26D1EBB6-1467-42E6-8914-C08AB6C872FF}" type="presOf" srcId="{7429EF6D-02BA-4CC3-ADC2-EFB35F37AECB}" destId="{69103F1E-3992-446D-9BE9-595567ACF937}" srcOrd="0" destOrd="0" presId="urn:microsoft.com/office/officeart/2005/8/layout/hierarchy2"/>
    <dgm:cxn modelId="{08DF0EC9-6FF1-42E6-9EFA-D078F1F5ACE0}" type="presOf" srcId="{8EA6E2C2-FB84-4DC7-B8FF-E6CA1D074D31}" destId="{BF7B3D49-67DE-40FE-8BCB-522201A34620}" srcOrd="0" destOrd="0" presId="urn:microsoft.com/office/officeart/2005/8/layout/hierarchy2"/>
    <dgm:cxn modelId="{A7A043D2-1F8C-46F0-9351-3A44375D410C}" type="presOf" srcId="{C66C2712-AA39-4253-93D5-6F4B0247207A}" destId="{AC02C8A6-E98B-4B40-A98E-9AC1C060E055}" srcOrd="0" destOrd="0" presId="urn:microsoft.com/office/officeart/2005/8/layout/hierarchy2"/>
    <dgm:cxn modelId="{6E10F1F1-4E6D-4CEE-97B9-31CC34487998}" type="presOf" srcId="{48EAD425-97E6-46E8-981D-9250B4DB8BDE}" destId="{94C0DE35-AFAF-4014-9B96-3D3E17FEE498}" srcOrd="0" destOrd="0" presId="urn:microsoft.com/office/officeart/2005/8/layout/hierarchy2"/>
    <dgm:cxn modelId="{3518BEFD-0F1C-40E8-ABA4-03A184B477B8}" type="presOf" srcId="{56381315-9F11-461C-8DDA-A6295AA80A2C}" destId="{EE55076F-DD95-4462-9613-F4425353EB51}" srcOrd="0" destOrd="0" presId="urn:microsoft.com/office/officeart/2005/8/layout/hierarchy2"/>
    <dgm:cxn modelId="{BE33A2A1-938C-48E8-A4A3-D9A73B9BDE30}" type="presParOf" srcId="{EE55076F-DD95-4462-9613-F4425353EB51}" destId="{EE30BB26-1305-4658-BDCA-639AA94CB493}" srcOrd="0" destOrd="0" presId="urn:microsoft.com/office/officeart/2005/8/layout/hierarchy2"/>
    <dgm:cxn modelId="{0DB22507-E806-4C52-8AD6-1FED93065E8F}" type="presParOf" srcId="{EE30BB26-1305-4658-BDCA-639AA94CB493}" destId="{BF7B3D49-67DE-40FE-8BCB-522201A34620}" srcOrd="0" destOrd="0" presId="urn:microsoft.com/office/officeart/2005/8/layout/hierarchy2"/>
    <dgm:cxn modelId="{47349008-1012-490F-9BFF-032C14BE567F}" type="presParOf" srcId="{EE30BB26-1305-4658-BDCA-639AA94CB493}" destId="{6D477B6B-67EE-4D17-8D7A-7DECA68EC7DC}" srcOrd="1" destOrd="0" presId="urn:microsoft.com/office/officeart/2005/8/layout/hierarchy2"/>
    <dgm:cxn modelId="{BF952EAD-9019-4E39-976D-A9275F1B2A23}" type="presParOf" srcId="{6D477B6B-67EE-4D17-8D7A-7DECA68EC7DC}" destId="{AC02C8A6-E98B-4B40-A98E-9AC1C060E055}" srcOrd="0" destOrd="0" presId="urn:microsoft.com/office/officeart/2005/8/layout/hierarchy2"/>
    <dgm:cxn modelId="{EE320FFD-CCAA-4DCC-B45E-BA59EFD0A946}" type="presParOf" srcId="{AC02C8A6-E98B-4B40-A98E-9AC1C060E055}" destId="{D2808EF9-589F-4AF6-9854-E767D7A2CB24}" srcOrd="0" destOrd="0" presId="urn:microsoft.com/office/officeart/2005/8/layout/hierarchy2"/>
    <dgm:cxn modelId="{3D3C3591-E8B6-4ACE-A2DE-48AC65E0EFB1}" type="presParOf" srcId="{6D477B6B-67EE-4D17-8D7A-7DECA68EC7DC}" destId="{45140476-C0C1-4E3D-BCC4-96AFA53CD3E8}" srcOrd="1" destOrd="0" presId="urn:microsoft.com/office/officeart/2005/8/layout/hierarchy2"/>
    <dgm:cxn modelId="{D8CD2222-49BD-4B7A-AA95-B008A4D97BFC}" type="presParOf" srcId="{45140476-C0C1-4E3D-BCC4-96AFA53CD3E8}" destId="{69103F1E-3992-446D-9BE9-595567ACF937}" srcOrd="0" destOrd="0" presId="urn:microsoft.com/office/officeart/2005/8/layout/hierarchy2"/>
    <dgm:cxn modelId="{3CF8F01E-FBE5-4BB1-A4C7-ABBA15DB5E6D}" type="presParOf" srcId="{45140476-C0C1-4E3D-BCC4-96AFA53CD3E8}" destId="{1FA4E6A8-D28F-4D79-96AB-4EE68CF5D447}" srcOrd="1" destOrd="0" presId="urn:microsoft.com/office/officeart/2005/8/layout/hierarchy2"/>
    <dgm:cxn modelId="{56B71E32-35E1-4594-A79C-2FC74E0DA385}" type="presParOf" srcId="{6D477B6B-67EE-4D17-8D7A-7DECA68EC7DC}" destId="{D4B60FCA-ACA4-4CA2-8FD0-377476292B7F}" srcOrd="2" destOrd="0" presId="urn:microsoft.com/office/officeart/2005/8/layout/hierarchy2"/>
    <dgm:cxn modelId="{024748F4-D57A-49FD-86F5-9EE12C8C5308}" type="presParOf" srcId="{D4B60FCA-ACA4-4CA2-8FD0-377476292B7F}" destId="{209CBA52-4D1E-4F72-BA37-656CBA59A16F}" srcOrd="0" destOrd="0" presId="urn:microsoft.com/office/officeart/2005/8/layout/hierarchy2"/>
    <dgm:cxn modelId="{DECD08BF-79B1-406C-8A43-5449D0939C46}" type="presParOf" srcId="{6D477B6B-67EE-4D17-8D7A-7DECA68EC7DC}" destId="{27F5987C-82A4-4C81-952F-40BC41C4E6EC}" srcOrd="3" destOrd="0" presId="urn:microsoft.com/office/officeart/2005/8/layout/hierarchy2"/>
    <dgm:cxn modelId="{CE3D64AA-68D3-41F5-B28E-F8587F844630}" type="presParOf" srcId="{27F5987C-82A4-4C81-952F-40BC41C4E6EC}" destId="{94C0DE35-AFAF-4014-9B96-3D3E17FEE498}" srcOrd="0" destOrd="0" presId="urn:microsoft.com/office/officeart/2005/8/layout/hierarchy2"/>
    <dgm:cxn modelId="{861549B5-4C86-406C-9735-3666E9D200B5}" type="presParOf" srcId="{27F5987C-82A4-4C81-952F-40BC41C4E6EC}" destId="{6A65D0C2-3849-48BD-BD49-047378E46489}"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7B3D49-67DE-40FE-8BCB-522201A34620}">
      <dsp:nvSpPr>
        <dsp:cNvPr id="0" name=""/>
        <dsp:cNvSpPr/>
      </dsp:nvSpPr>
      <dsp:spPr>
        <a:xfrm>
          <a:off x="868" y="1192113"/>
          <a:ext cx="2546746" cy="12733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fr-CA" sz="3200" kern="1200"/>
            <a:t>Z: L'âge</a:t>
          </a:r>
        </a:p>
      </dsp:txBody>
      <dsp:txXfrm>
        <a:off x="38164" y="1229409"/>
        <a:ext cx="2472154" cy="1198781"/>
      </dsp:txXfrm>
    </dsp:sp>
    <dsp:sp modelId="{AC02C8A6-E98B-4B40-A98E-9AC1C060E055}">
      <dsp:nvSpPr>
        <dsp:cNvPr id="0" name=""/>
        <dsp:cNvSpPr/>
      </dsp:nvSpPr>
      <dsp:spPr>
        <a:xfrm rot="19457599">
          <a:off x="2429698" y="1431372"/>
          <a:ext cx="1254531" cy="62666"/>
        </a:xfrm>
        <a:custGeom>
          <a:avLst/>
          <a:gdLst/>
          <a:ahLst/>
          <a:cxnLst/>
          <a:rect l="0" t="0" r="0" b="0"/>
          <a:pathLst>
            <a:path>
              <a:moveTo>
                <a:pt x="0" y="31333"/>
              </a:moveTo>
              <a:lnTo>
                <a:pt x="1254531" y="3133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3025601" y="1431341"/>
        <a:ext cx="62726" cy="62726"/>
      </dsp:txXfrm>
    </dsp:sp>
    <dsp:sp modelId="{69103F1E-3992-446D-9BE9-595567ACF937}">
      <dsp:nvSpPr>
        <dsp:cNvPr id="0" name=""/>
        <dsp:cNvSpPr/>
      </dsp:nvSpPr>
      <dsp:spPr>
        <a:xfrm>
          <a:off x="3566313" y="459923"/>
          <a:ext cx="2546746" cy="12733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fr-CA" sz="3200" kern="1200"/>
            <a:t>X:Pointure des chaussures</a:t>
          </a:r>
        </a:p>
      </dsp:txBody>
      <dsp:txXfrm>
        <a:off x="3603609" y="497219"/>
        <a:ext cx="2472154" cy="1198781"/>
      </dsp:txXfrm>
    </dsp:sp>
    <dsp:sp modelId="{D4B60FCA-ACA4-4CA2-8FD0-377476292B7F}">
      <dsp:nvSpPr>
        <dsp:cNvPr id="0" name=""/>
        <dsp:cNvSpPr/>
      </dsp:nvSpPr>
      <dsp:spPr>
        <a:xfrm rot="2142401">
          <a:off x="2429698" y="2163561"/>
          <a:ext cx="1254531" cy="62666"/>
        </a:xfrm>
        <a:custGeom>
          <a:avLst/>
          <a:gdLst/>
          <a:ahLst/>
          <a:cxnLst/>
          <a:rect l="0" t="0" r="0" b="0"/>
          <a:pathLst>
            <a:path>
              <a:moveTo>
                <a:pt x="0" y="31333"/>
              </a:moveTo>
              <a:lnTo>
                <a:pt x="1254531" y="3133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3025601" y="2163531"/>
        <a:ext cx="62726" cy="62726"/>
      </dsp:txXfrm>
    </dsp:sp>
    <dsp:sp modelId="{94C0DE35-AFAF-4014-9B96-3D3E17FEE498}">
      <dsp:nvSpPr>
        <dsp:cNvPr id="0" name=""/>
        <dsp:cNvSpPr/>
      </dsp:nvSpPr>
      <dsp:spPr>
        <a:xfrm>
          <a:off x="3566313" y="1924303"/>
          <a:ext cx="2546746" cy="12733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fr-CA" sz="3200" kern="1200"/>
            <a:t>Y: Niveau scolaire</a:t>
          </a:r>
        </a:p>
      </dsp:txBody>
      <dsp:txXfrm>
        <a:off x="3603609" y="1961599"/>
        <a:ext cx="2472154" cy="119878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88AB8-1C01-41DC-AFCA-28305AC61B27}" type="datetimeFigureOut">
              <a:rPr lang="fr-CA" smtClean="0"/>
              <a:t>2021-12-02</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F1DE7-72A5-40DE-843D-98ED1D33E9CB}" type="slidenum">
              <a:rPr lang="fr-CA" smtClean="0"/>
              <a:t>‹N°›</a:t>
            </a:fld>
            <a:endParaRPr lang="fr-CA"/>
          </a:p>
        </p:txBody>
      </p:sp>
    </p:spTree>
    <p:extLst>
      <p:ext uri="{BB962C8B-B14F-4D97-AF65-F5344CB8AC3E}">
        <p14:creationId xmlns:p14="http://schemas.microsoft.com/office/powerpoint/2010/main" val="711788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B59F1DE7-72A5-40DE-843D-98ED1D33E9CB}" type="slidenum">
              <a:rPr lang="fr-CA" smtClean="0"/>
              <a:t>10</a:t>
            </a:fld>
            <a:endParaRPr lang="fr-CA"/>
          </a:p>
        </p:txBody>
      </p:sp>
    </p:spTree>
    <p:extLst>
      <p:ext uri="{BB962C8B-B14F-4D97-AF65-F5344CB8AC3E}">
        <p14:creationId xmlns:p14="http://schemas.microsoft.com/office/powerpoint/2010/main" val="2503927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EBCAADC-90C4-42A0-92DD-A3EB1E3F99BC}" type="datetime1">
              <a:rPr lang="fr-CA" smtClean="0"/>
              <a:t>2021-12-02</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97135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2FE81BE-FF7C-4713-86B5-98B3635F7575}" type="datetime1">
              <a:rPr lang="fr-CA" smtClean="0"/>
              <a:t>2021-12-02</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425666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307F1A6-A103-49CB-B28A-B5B8CE7CCF08}" type="datetime1">
              <a:rPr lang="fr-CA" smtClean="0"/>
              <a:t>2021-12-02</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818711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7FE57F-B680-462B-BBFD-7518F74AF714}" type="datetime1">
              <a:rPr lang="fr-CA" smtClean="0"/>
              <a:t>2021-12-02</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046219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91B3B4F-1CE8-448C-951A-2E287C7816DA}" type="datetime1">
              <a:rPr lang="fr-CA" smtClean="0"/>
              <a:t>2021-12-02</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47481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F763F50-9144-44F9-A37F-D55A19808CF4}" type="datetime1">
              <a:rPr lang="fr-CA" smtClean="0"/>
              <a:t>2021-12-02</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93743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AB2447-19AC-45D2-83F5-5B12576F084D}" type="datetime1">
              <a:rPr lang="fr-CA" smtClean="0"/>
              <a:t>2021-12-02</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059948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17A9AF-12D3-47FA-A0D6-97746BB8E776}" type="datetime1">
              <a:rPr lang="fr-CA" smtClean="0"/>
              <a:t>2021-12-02</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33165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CF19D18-3682-4189-B23C-B8B496B3307C}" type="datetime1">
              <a:rPr lang="fr-CA" smtClean="0"/>
              <a:t>2021-12-02</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309409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6BEAFDA-2171-49C0-B449-3733417EA82F}" type="datetime1">
              <a:rPr lang="fr-CA" smtClean="0"/>
              <a:t>2021-12-02</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371225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EBD924-29A3-4FF2-B149-61A5377F8882}" type="datetime1">
              <a:rPr lang="fr-CA" smtClean="0"/>
              <a:t>2021-12-02</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40238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418466-3607-4A57-8167-9FAB5784D41C}" type="datetime1">
              <a:rPr lang="fr-CA" smtClean="0"/>
              <a:t>2021-12-02</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77AD9-CE17-438C-A638-C64D2D42D7CF}" type="slidenum">
              <a:rPr lang="fr-CA" smtClean="0"/>
              <a:t>‹N°›</a:t>
            </a:fld>
            <a:endParaRPr lang="fr-CA"/>
          </a:p>
        </p:txBody>
      </p:sp>
    </p:spTree>
    <p:extLst>
      <p:ext uri="{BB962C8B-B14F-4D97-AF65-F5344CB8AC3E}">
        <p14:creationId xmlns:p14="http://schemas.microsoft.com/office/powerpoint/2010/main" val="153374137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D8BC5F-69A2-4DCF-95F3-3302AB8298E8}"/>
              </a:ext>
            </a:extLst>
          </p:cNvPr>
          <p:cNvSpPr>
            <a:spLocks noGrp="1"/>
          </p:cNvSpPr>
          <p:nvPr>
            <p:ph type="title"/>
          </p:nvPr>
        </p:nvSpPr>
        <p:spPr/>
        <p:txBody>
          <a:bodyPr/>
          <a:lstStyle/>
          <a:p>
            <a:r>
              <a:rPr lang="fr-CA" dirty="0"/>
              <a:t>La corrélation et régression linéaire(Suite et fin)</a:t>
            </a:r>
          </a:p>
        </p:txBody>
      </p:sp>
      <p:sp>
        <p:nvSpPr>
          <p:cNvPr id="3" name="Espace réservé du pied de page 2">
            <a:extLst>
              <a:ext uri="{FF2B5EF4-FFF2-40B4-BE49-F238E27FC236}">
                <a16:creationId xmlns:a16="http://schemas.microsoft.com/office/drawing/2014/main" id="{D067625B-6DF7-485F-A950-A75F3F2436A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F20CD23F-E253-4E93-A7BC-1E9C91763071}"/>
              </a:ext>
            </a:extLst>
          </p:cNvPr>
          <p:cNvSpPr>
            <a:spLocks noGrp="1"/>
          </p:cNvSpPr>
          <p:nvPr>
            <p:ph type="sldNum" sz="quarter" idx="12"/>
          </p:nvPr>
        </p:nvSpPr>
        <p:spPr/>
        <p:txBody>
          <a:bodyPr/>
          <a:lstStyle/>
          <a:p>
            <a:fld id="{26377AD9-CE17-438C-A638-C64D2D42D7CF}" type="slidenum">
              <a:rPr lang="fr-CA" smtClean="0"/>
              <a:t>1</a:t>
            </a:fld>
            <a:endParaRPr lang="fr-CA"/>
          </a:p>
        </p:txBody>
      </p:sp>
      <p:sp>
        <p:nvSpPr>
          <p:cNvPr id="5" name="ZoneTexte 4">
            <a:extLst>
              <a:ext uri="{FF2B5EF4-FFF2-40B4-BE49-F238E27FC236}">
                <a16:creationId xmlns:a16="http://schemas.microsoft.com/office/drawing/2014/main" id="{218E5B77-BB3B-4E2C-AA59-6EE0C98DEB05}"/>
              </a:ext>
            </a:extLst>
          </p:cNvPr>
          <p:cNvSpPr txBox="1"/>
          <p:nvPr/>
        </p:nvSpPr>
        <p:spPr>
          <a:xfrm>
            <a:off x="1317812" y="1465729"/>
            <a:ext cx="10300447" cy="646331"/>
          </a:xfrm>
          <a:prstGeom prst="rect">
            <a:avLst/>
          </a:prstGeom>
          <a:noFill/>
        </p:spPr>
        <p:txBody>
          <a:bodyPr wrap="square" rtlCol="0">
            <a:spAutoFit/>
          </a:bodyPr>
          <a:lstStyle/>
          <a:p>
            <a:r>
              <a:rPr lang="fr-CA" sz="1800" b="1" dirty="0">
                <a:solidFill>
                  <a:srgbClr val="000000"/>
                </a:solidFill>
                <a:effectLst/>
                <a:latin typeface="Times New Roman" panose="02020603050405020304" pitchFamily="18" charset="0"/>
                <a:ea typeface="Times New Roman" panose="02020603050405020304" pitchFamily="18" charset="0"/>
              </a:rPr>
              <a:t> </a:t>
            </a:r>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p>
        </p:txBody>
      </p:sp>
      <p:sp>
        <p:nvSpPr>
          <p:cNvPr id="6" name="ZoneTexte 5">
            <a:extLst>
              <a:ext uri="{FF2B5EF4-FFF2-40B4-BE49-F238E27FC236}">
                <a16:creationId xmlns:a16="http://schemas.microsoft.com/office/drawing/2014/main" id="{8F242B30-05DD-4E66-A096-6B4490B4D586}"/>
              </a:ext>
            </a:extLst>
          </p:cNvPr>
          <p:cNvSpPr txBox="1"/>
          <p:nvPr/>
        </p:nvSpPr>
        <p:spPr>
          <a:xfrm>
            <a:off x="1062318" y="2112060"/>
            <a:ext cx="10112188" cy="3385542"/>
          </a:xfrm>
          <a:prstGeom prst="rect">
            <a:avLst/>
          </a:prstGeom>
          <a:noFill/>
        </p:spPr>
        <p:txBody>
          <a:bodyPr wrap="square" rtlCol="0">
            <a:spAutoFit/>
          </a:bodyPr>
          <a:lstStyle/>
          <a:p>
            <a:r>
              <a:rPr lang="fr-CA" sz="2800" dirty="0">
                <a:solidFill>
                  <a:srgbClr val="000000"/>
                </a:solidFill>
                <a:effectLst/>
                <a:latin typeface="Times New Roman" panose="02020603050405020304" pitchFamily="18" charset="0"/>
                <a:ea typeface="Times New Roman" panose="02020603050405020304" pitchFamily="18" charset="0"/>
              </a:rPr>
              <a:t>Avant d’utiliser un modèle à des fins de prédiction et d’estimation, il faut s’assurer de la qualité de son ajustement. Puisque le modèle revêt la forme d’une droite, on dispose de mesures qui permettent de quantifier la relation linéaire entre deux variables quantitatives. Nous allons nous limiter ici à trois d’entre elles : le coefficient de corrélation linéaire, le coefficient de détermination et la valeur P sur l’ajustement.</a:t>
            </a:r>
          </a:p>
          <a:p>
            <a:endParaRPr lang="fr-CA" dirty="0"/>
          </a:p>
        </p:txBody>
      </p:sp>
    </p:spTree>
    <p:extLst>
      <p:ext uri="{BB962C8B-B14F-4D97-AF65-F5344CB8AC3E}">
        <p14:creationId xmlns:p14="http://schemas.microsoft.com/office/powerpoint/2010/main" val="27541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5E162-94C6-4A10-9ADC-B3701478C1C0}"/>
              </a:ext>
            </a:extLst>
          </p:cNvPr>
          <p:cNvSpPr>
            <a:spLocks noGrp="1"/>
          </p:cNvSpPr>
          <p:nvPr>
            <p:ph type="title"/>
          </p:nvPr>
        </p:nvSpPr>
        <p:spPr>
          <a:xfrm>
            <a:off x="1385046" y="365125"/>
            <a:ext cx="9968753" cy="1325563"/>
          </a:xfrm>
        </p:spPr>
        <p:txBody>
          <a:bodyPr>
            <a:normAutofit/>
          </a:bodyPr>
          <a:lstStyle/>
          <a:p>
            <a:r>
              <a:rPr lang="fr-CA" sz="3200" dirty="0">
                <a:effectLst/>
                <a:latin typeface="Times New Roman" panose="02020603050405020304" pitchFamily="18" charset="0"/>
                <a:ea typeface="Times New Roman" panose="02020603050405020304" pitchFamily="18" charset="0"/>
              </a:rPr>
              <a:t>Le coefficient de corrélation linéaire</a:t>
            </a:r>
            <a:endParaRPr lang="fr-CA" sz="3200" dirty="0"/>
          </a:p>
        </p:txBody>
      </p:sp>
      <p:sp>
        <p:nvSpPr>
          <p:cNvPr id="3" name="Espace réservé du pied de page 2">
            <a:extLst>
              <a:ext uri="{FF2B5EF4-FFF2-40B4-BE49-F238E27FC236}">
                <a16:creationId xmlns:a16="http://schemas.microsoft.com/office/drawing/2014/main" id="{C9EEADC3-FBD1-405B-B993-DAABF0357A35}"/>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FFEBF573-57D7-49B6-AF1D-DBBC57E7734B}"/>
              </a:ext>
            </a:extLst>
          </p:cNvPr>
          <p:cNvSpPr>
            <a:spLocks noGrp="1"/>
          </p:cNvSpPr>
          <p:nvPr>
            <p:ph type="sldNum" sz="quarter" idx="12"/>
          </p:nvPr>
        </p:nvSpPr>
        <p:spPr/>
        <p:txBody>
          <a:bodyPr/>
          <a:lstStyle/>
          <a:p>
            <a:fld id="{26377AD9-CE17-438C-A638-C64D2D42D7CF}" type="slidenum">
              <a:rPr lang="fr-CA" smtClean="0"/>
              <a:t>2</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66431972-E479-4F1C-98A7-D427F22C5434}"/>
                  </a:ext>
                </a:extLst>
              </p:cNvPr>
              <p:cNvSpPr txBox="1"/>
              <p:nvPr/>
            </p:nvSpPr>
            <p:spPr>
              <a:xfrm>
                <a:off x="1129553" y="1882588"/>
                <a:ext cx="9439835" cy="3554499"/>
              </a:xfrm>
              <a:prstGeom prst="rect">
                <a:avLst/>
              </a:prstGeom>
              <a:noFill/>
            </p:spPr>
            <p:txBody>
              <a:bodyPr wrap="square" rtlCol="0">
                <a:spAutoFit/>
              </a:bodyPr>
              <a:lstStyle/>
              <a:p>
                <a:pPr algn="l">
                  <a:lnSpc>
                    <a:spcPct val="200000"/>
                  </a:lnSpc>
                  <a:spcAft>
                    <a:spcPts val="800"/>
                  </a:spcAft>
                </a:pPr>
                <a:r>
                  <a:rPr lang="fr-CA" sz="1800" dirty="0">
                    <a:solidFill>
                      <a:srgbClr val="000000"/>
                    </a:solidFill>
                    <a:effectLst/>
                    <a:latin typeface="Times New Roman" panose="02020603050405020304" pitchFamily="18" charset="0"/>
                    <a:ea typeface="Times New Roman" panose="02020603050405020304" pitchFamily="18" charset="0"/>
                  </a:rPr>
                  <a:t>Le coefficient de corrélation linéaire (noté </a:t>
                </a:r>
                <a:r>
                  <a:rPr lang="fr-CA" sz="1800" i="1" dirty="0">
                    <a:solidFill>
                      <a:srgbClr val="000000"/>
                    </a:solidFill>
                    <a:effectLst/>
                    <a:latin typeface="Times New Roman" panose="02020603050405020304" pitchFamily="18" charset="0"/>
                    <a:ea typeface="Times New Roman" panose="02020603050405020304" pitchFamily="18" charset="0"/>
                  </a:rPr>
                  <a:t>r</a:t>
                </a:r>
                <a:r>
                  <a:rPr lang="fr-CA" sz="1800" dirty="0">
                    <a:solidFill>
                      <a:srgbClr val="000000"/>
                    </a:solidFill>
                    <a:effectLst/>
                    <a:latin typeface="Times New Roman" panose="02020603050405020304" pitchFamily="18" charset="0"/>
                    <a:ea typeface="Times New Roman" panose="02020603050405020304" pitchFamily="18" charset="0"/>
                  </a:rPr>
                  <a:t>) a été proposé par Karl Pearson à la fin du XIX</a:t>
                </a:r>
                <a:r>
                  <a:rPr lang="fr-CA" sz="1800" baseline="30000" dirty="0">
                    <a:solidFill>
                      <a:srgbClr val="000000"/>
                    </a:solidFill>
                    <a:effectLst/>
                    <a:latin typeface="Times New Roman" panose="02020603050405020304" pitchFamily="18" charset="0"/>
                    <a:ea typeface="Times New Roman" panose="02020603050405020304" pitchFamily="18" charset="0"/>
                  </a:rPr>
                  <a:t>e</a:t>
                </a:r>
                <a:r>
                  <a:rPr lang="fr-CA" sz="1800" dirty="0">
                    <a:solidFill>
                      <a:srgbClr val="000000"/>
                    </a:solidFill>
                    <a:effectLst/>
                    <a:latin typeface="Times New Roman" panose="02020603050405020304" pitchFamily="18" charset="0"/>
                    <a:ea typeface="Times New Roman" panose="02020603050405020304" pitchFamily="18" charset="0"/>
                  </a:rPr>
                  <a:t> siècle pour quantifier la liaison linéaire entre deux variables quantitatives </a:t>
                </a:r>
                <a:r>
                  <a:rPr lang="fr-CA" sz="1800" i="1" dirty="0">
                    <a:solidFill>
                      <a:srgbClr val="000000"/>
                    </a:solidFill>
                    <a:effectLst/>
                    <a:latin typeface="Times New Roman" panose="02020603050405020304" pitchFamily="18" charset="0"/>
                    <a:ea typeface="Times New Roman" panose="02020603050405020304" pitchFamily="18" charset="0"/>
                  </a:rPr>
                  <a:t>X</a:t>
                </a:r>
                <a:r>
                  <a:rPr lang="fr-CA" sz="1800" dirty="0">
                    <a:solidFill>
                      <a:srgbClr val="000000"/>
                    </a:solidFill>
                    <a:effectLst/>
                    <a:latin typeface="Times New Roman" panose="02020603050405020304" pitchFamily="18" charset="0"/>
                    <a:ea typeface="Times New Roman" panose="02020603050405020304" pitchFamily="18" charset="0"/>
                  </a:rPr>
                  <a:t> et </a:t>
                </a:r>
                <a:r>
                  <a:rPr lang="fr-CA" sz="1800" i="1" dirty="0">
                    <a:solidFill>
                      <a:srgbClr val="000000"/>
                    </a:solidFill>
                    <a:effectLst/>
                    <a:latin typeface="Times New Roman" panose="02020603050405020304" pitchFamily="18" charset="0"/>
                    <a:ea typeface="Times New Roman" panose="02020603050405020304" pitchFamily="18" charset="0"/>
                  </a:rPr>
                  <a:t>Y</a:t>
                </a:r>
                <a:r>
                  <a:rPr lang="fr-CA" sz="1800" dirty="0">
                    <a:solidFill>
                      <a:srgbClr val="000000"/>
                    </a:solidFill>
                    <a:effectLst/>
                    <a:latin typeface="Times New Roman" panose="02020603050405020304" pitchFamily="18" charset="0"/>
                    <a:ea typeface="Times New Roman" panose="02020603050405020304" pitchFamily="18" charset="0"/>
                  </a:rPr>
                  <a:t>. Il permet de déterminer si la corrélation linéaire entre les deux variables est faible, moyenne ou forte.</a:t>
                </a:r>
              </a:p>
              <a:p>
                <a:r>
                  <a:rPr lang="en-IN" sz="1800" dirty="0">
                    <a:effectLst/>
                    <a:latin typeface="Calibri" panose="020F0502020204030204" pitchFamily="34" charset="0"/>
                    <a:ea typeface="Times New Roman" panose="02020603050405020304" pitchFamily="18" charset="0"/>
                    <a:cs typeface="Times New Roman" panose="02020603050405020304" pitchFamily="18" charset="0"/>
                  </a:rPr>
                  <a:t>À </a:t>
                </a:r>
                <a:r>
                  <a:rPr lang="fr-CA" sz="1800" dirty="0">
                    <a:effectLst/>
                    <a:latin typeface="Calibri" panose="020F0502020204030204" pitchFamily="34" charset="0"/>
                    <a:ea typeface="Times New Roman" panose="02020603050405020304" pitchFamily="18" charset="0"/>
                    <a:cs typeface="Times New Roman" panose="02020603050405020304" pitchFamily="18" charset="0"/>
                  </a:rPr>
                  <a:t>partir de </a:t>
                </a:r>
                <a:r>
                  <a:rPr lang="fr-CA" sz="1800" i="1" dirty="0">
                    <a:effectLst/>
                    <a:latin typeface="Calibri" panose="020F0502020204030204" pitchFamily="34" charset="0"/>
                    <a:ea typeface="Times New Roman" panose="02020603050405020304" pitchFamily="18" charset="0"/>
                    <a:cs typeface="Times New Roman" panose="02020603050405020304" pitchFamily="18" charset="0"/>
                  </a:rPr>
                  <a:t>n</a:t>
                </a:r>
                <a:r>
                  <a:rPr lang="fr-CA" sz="1800" dirty="0">
                    <a:effectLst/>
                    <a:latin typeface="Calibri" panose="020F0502020204030204" pitchFamily="34" charset="0"/>
                    <a:ea typeface="Times New Roman" panose="02020603050405020304" pitchFamily="18" charset="0"/>
                    <a:cs typeface="Times New Roman" panose="02020603050405020304" pitchFamily="18" charset="0"/>
                  </a:rPr>
                  <a:t> couples d’observations prises au hasard sur deux variables quantitatives</a:t>
                </a:r>
                <a:r>
                  <a:rPr lang="fr-CA" sz="1800" i="1" dirty="0">
                    <a:effectLst/>
                    <a:latin typeface="Calibri" panose="020F0502020204030204" pitchFamily="34" charset="0"/>
                    <a:ea typeface="Times New Roman" panose="02020603050405020304" pitchFamily="18" charset="0"/>
                    <a:cs typeface="Times New Roman" panose="02020603050405020304" pitchFamily="18" charset="0"/>
                  </a:rPr>
                  <a:t> X</a:t>
                </a:r>
                <a:r>
                  <a:rPr lang="fr-CA" sz="1800" dirty="0">
                    <a:effectLst/>
                    <a:latin typeface="Calibri" panose="020F0502020204030204" pitchFamily="34" charset="0"/>
                    <a:ea typeface="Times New Roman" panose="02020603050405020304" pitchFamily="18" charset="0"/>
                    <a:cs typeface="Times New Roman" panose="02020603050405020304" pitchFamily="18" charset="0"/>
                  </a:rPr>
                  <a:t> et</a:t>
                </a:r>
                <a:r>
                  <a:rPr lang="fr-CA" sz="1800" i="1" dirty="0">
                    <a:effectLst/>
                    <a:latin typeface="Calibri" panose="020F0502020204030204" pitchFamily="34" charset="0"/>
                    <a:ea typeface="Times New Roman" panose="02020603050405020304" pitchFamily="18" charset="0"/>
                    <a:cs typeface="Times New Roman" panose="02020603050405020304" pitchFamily="18" charset="0"/>
                  </a:rPr>
                  <a:t> Y</a:t>
                </a:r>
                <a:r>
                  <a:rPr lang="fr-CA" sz="1800" dirty="0">
                    <a:effectLst/>
                    <a:latin typeface="Calibri" panose="020F0502020204030204" pitchFamily="34" charset="0"/>
                    <a:ea typeface="Times New Roman" panose="02020603050405020304" pitchFamily="18" charset="0"/>
                    <a:cs typeface="Times New Roman" panose="02020603050405020304" pitchFamily="18" charset="0"/>
                  </a:rPr>
                  <a:t>, </a:t>
                </a:r>
              </a:p>
              <a:p>
                <a:endParaRPr lang="fr-CA" dirty="0">
                  <a:latin typeface="Calibri" panose="020F0502020204030204" pitchFamily="34" charset="0"/>
                  <a:cs typeface="Times New Roman" panose="02020603050405020304" pitchFamily="18" charset="0"/>
                </a:endParaRPr>
              </a:p>
              <a:p>
                <a:endParaRPr lang="en-IN" dirty="0">
                  <a:latin typeface="Calibri" panose="020F0502020204030204" pitchFamily="34" charset="0"/>
                  <a:cs typeface="Times New Roman" panose="02020603050405020304" pitchFamily="18" charset="0"/>
                </a:endParaRPr>
              </a:p>
              <a:p>
                <a:endParaRPr lang="en-IN" dirty="0">
                  <a:latin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𝑟</m:t>
                      </m:r>
                      <m:r>
                        <a:rPr lang="fr-CA" b="0" i="1" smtClean="0">
                          <a:latin typeface="Cambria Math" panose="02040503050406030204" pitchFamily="18" charset="0"/>
                        </a:rPr>
                        <m:t>=</m:t>
                      </m:r>
                      <m:r>
                        <a:rPr lang="fr-CA" b="0" i="1" smtClean="0">
                          <a:latin typeface="Cambria Math" panose="02040503050406030204" pitchFamily="18" charset="0"/>
                        </a:rPr>
                        <m:t>𝑏</m:t>
                      </m:r>
                      <m:f>
                        <m:fPr>
                          <m:ctrlPr>
                            <a:rPr lang="fr-CA" b="0" i="1" smtClean="0">
                              <a:latin typeface="Cambria Math" panose="02040503050406030204" pitchFamily="18" charset="0"/>
                            </a:rPr>
                          </m:ctrlPr>
                        </m:fPr>
                        <m:num>
                          <m:sSub>
                            <m:sSubPr>
                              <m:ctrlPr>
                                <a:rPr lang="fr-CA" b="0" i="1" smtClean="0">
                                  <a:latin typeface="Cambria Math" panose="02040503050406030204" pitchFamily="18" charset="0"/>
                                </a:rPr>
                              </m:ctrlPr>
                            </m:sSubPr>
                            <m:e>
                              <m:r>
                                <a:rPr lang="fr-CA" b="0" i="1" smtClean="0">
                                  <a:latin typeface="Cambria Math" panose="02040503050406030204" pitchFamily="18" charset="0"/>
                                </a:rPr>
                                <m:t>𝑠</m:t>
                              </m:r>
                            </m:e>
                            <m:sub>
                              <m:r>
                                <a:rPr lang="fr-CA" b="0" i="1" smtClean="0">
                                  <a:latin typeface="Cambria Math" panose="02040503050406030204" pitchFamily="18" charset="0"/>
                                </a:rPr>
                                <m:t>𝑋</m:t>
                              </m:r>
                            </m:sub>
                          </m:sSub>
                        </m:num>
                        <m:den>
                          <m:sSub>
                            <m:sSubPr>
                              <m:ctrlPr>
                                <a:rPr lang="fr-CA" b="0" i="1" smtClean="0">
                                  <a:latin typeface="Cambria Math" panose="02040503050406030204" pitchFamily="18" charset="0"/>
                                </a:rPr>
                              </m:ctrlPr>
                            </m:sSubPr>
                            <m:e>
                              <m:r>
                                <a:rPr lang="fr-CA" b="0" i="1" smtClean="0">
                                  <a:latin typeface="Cambria Math" panose="02040503050406030204" pitchFamily="18" charset="0"/>
                                </a:rPr>
                                <m:t>𝑠</m:t>
                              </m:r>
                            </m:e>
                            <m:sub>
                              <m:r>
                                <a:rPr lang="fr-CA" b="0" i="1" smtClean="0">
                                  <a:latin typeface="Cambria Math" panose="02040503050406030204" pitchFamily="18" charset="0"/>
                                </a:rPr>
                                <m:t>𝑌</m:t>
                              </m:r>
                            </m:sub>
                          </m:sSub>
                        </m:den>
                      </m:f>
                    </m:oMath>
                  </m:oMathPara>
                </a14:m>
                <a:endParaRPr lang="fr-CA" dirty="0"/>
              </a:p>
            </p:txBody>
          </p:sp>
        </mc:Choice>
        <mc:Fallback xmlns="">
          <p:sp>
            <p:nvSpPr>
              <p:cNvPr id="5" name="ZoneTexte 4">
                <a:extLst>
                  <a:ext uri="{FF2B5EF4-FFF2-40B4-BE49-F238E27FC236}">
                    <a16:creationId xmlns:a16="http://schemas.microsoft.com/office/drawing/2014/main" id="{66431972-E479-4F1C-98A7-D427F22C5434}"/>
                  </a:ext>
                </a:extLst>
              </p:cNvPr>
              <p:cNvSpPr txBox="1">
                <a:spLocks noRot="1" noChangeAspect="1" noMove="1" noResize="1" noEditPoints="1" noAdjustHandles="1" noChangeArrowheads="1" noChangeShapeType="1" noTextEdit="1"/>
              </p:cNvSpPr>
              <p:nvPr/>
            </p:nvSpPr>
            <p:spPr>
              <a:xfrm>
                <a:off x="1129553" y="1882588"/>
                <a:ext cx="9439835" cy="3554499"/>
              </a:xfrm>
              <a:prstGeom prst="rect">
                <a:avLst/>
              </a:prstGeom>
              <a:blipFill>
                <a:blip r:embed="rId2"/>
                <a:stretch>
                  <a:fillRect l="-516" r="-581"/>
                </a:stretch>
              </a:blipFill>
            </p:spPr>
            <p:txBody>
              <a:bodyPr/>
              <a:lstStyle/>
              <a:p>
                <a:r>
                  <a:rPr lang="fr-CA">
                    <a:noFill/>
                  </a:rPr>
                  <a:t> </a:t>
                </a:r>
              </a:p>
            </p:txBody>
          </p:sp>
        </mc:Fallback>
      </mc:AlternateContent>
    </p:spTree>
    <p:extLst>
      <p:ext uri="{BB962C8B-B14F-4D97-AF65-F5344CB8AC3E}">
        <p14:creationId xmlns:p14="http://schemas.microsoft.com/office/powerpoint/2010/main" val="1197884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846B5D-A309-4BE2-909E-F762DCCE8DC9}"/>
              </a:ext>
            </a:extLst>
          </p:cNvPr>
          <p:cNvSpPr>
            <a:spLocks noGrp="1"/>
          </p:cNvSpPr>
          <p:nvPr>
            <p:ph type="title"/>
          </p:nvPr>
        </p:nvSpPr>
        <p:spPr/>
        <p:txBody>
          <a:bodyPr/>
          <a:lstStyle/>
          <a:p>
            <a:r>
              <a:rPr lang="fr-CA" dirty="0"/>
              <a:t>Les propriétés d’un coefficient de corrélation linéaire</a:t>
            </a:r>
          </a:p>
        </p:txBody>
      </p:sp>
      <p:sp>
        <p:nvSpPr>
          <p:cNvPr id="3" name="Espace réservé du pied de page 2">
            <a:extLst>
              <a:ext uri="{FF2B5EF4-FFF2-40B4-BE49-F238E27FC236}">
                <a16:creationId xmlns:a16="http://schemas.microsoft.com/office/drawing/2014/main" id="{5AAC514D-A593-472A-B280-395CA661AA4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54A7780C-D812-4304-801B-7380B0AD7E4E}"/>
              </a:ext>
            </a:extLst>
          </p:cNvPr>
          <p:cNvSpPr>
            <a:spLocks noGrp="1"/>
          </p:cNvSpPr>
          <p:nvPr>
            <p:ph type="sldNum" sz="quarter" idx="12"/>
          </p:nvPr>
        </p:nvSpPr>
        <p:spPr/>
        <p:txBody>
          <a:bodyPr/>
          <a:lstStyle/>
          <a:p>
            <a:fld id="{26377AD9-CE17-438C-A638-C64D2D42D7CF}" type="slidenum">
              <a:rPr lang="fr-CA" smtClean="0"/>
              <a:t>3</a:t>
            </a:fld>
            <a:endParaRPr lang="fr-CA"/>
          </a:p>
        </p:txBody>
      </p:sp>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DC426A96-21A1-4DA8-B434-29B85CAFC2C5}"/>
                  </a:ext>
                </a:extLst>
              </p:cNvPr>
              <p:cNvSpPr txBox="1"/>
              <p:nvPr/>
            </p:nvSpPr>
            <p:spPr>
              <a:xfrm>
                <a:off x="914400" y="2272553"/>
                <a:ext cx="10439400" cy="4062651"/>
              </a:xfrm>
              <a:prstGeom prst="rect">
                <a:avLst/>
              </a:prstGeom>
              <a:noFill/>
            </p:spPr>
            <p:txBody>
              <a:bodyPr wrap="square" rtlCol="0">
                <a:spAutoFit/>
              </a:bodyPr>
              <a:lstStyle/>
              <a:p>
                <a:pPr marL="342900" indent="-342900">
                  <a:buFont typeface="+mj-lt"/>
                  <a:buAutoNum type="arabicPeriod"/>
                </a:pPr>
                <a:r>
                  <a:rPr lang="fr-CA" sz="2000" dirty="0"/>
                  <a:t>r est sans unité.</a:t>
                </a:r>
              </a:p>
              <a:p>
                <a:pPr marL="342900" indent="-342900">
                  <a:buFont typeface="+mj-lt"/>
                  <a:buAutoNum type="arabicPeriod"/>
                </a:pPr>
                <a:r>
                  <a:rPr lang="fr-CA" sz="2000" dirty="0"/>
                  <a:t>r est toujours  compris entre -1 et 1</a:t>
                </a:r>
              </a:p>
              <a:p>
                <a:pPr marL="342900" indent="-342900">
                  <a:buFont typeface="+mj-lt"/>
                  <a:buAutoNum type="arabicPeriod"/>
                </a:pPr>
                <a:r>
                  <a:rPr lang="fr-CA" sz="2000" dirty="0"/>
                  <a:t>Si </a:t>
                </a:r>
                <a14:m>
                  <m:oMath xmlns:m="http://schemas.openxmlformats.org/officeDocument/2006/math">
                    <m:r>
                      <a:rPr lang="fr-CA" sz="2000" b="0" i="1" smtClean="0">
                        <a:latin typeface="Cambria Math" panose="02040503050406030204" pitchFamily="18" charset="0"/>
                      </a:rPr>
                      <m:t>𝑟</m:t>
                    </m:r>
                    <m:r>
                      <a:rPr lang="fr-CA" sz="2000" b="0" i="1" smtClean="0">
                        <a:latin typeface="Cambria Math" panose="02040503050406030204" pitchFamily="18" charset="0"/>
                        <a:ea typeface="Cambria Math" panose="02040503050406030204" pitchFamily="18" charset="0"/>
                      </a:rPr>
                      <m:t>≈0</m:t>
                    </m:r>
                  </m:oMath>
                </a14:m>
                <a:r>
                  <a:rPr lang="fr-CA" sz="2000" dirty="0"/>
                  <a:t>  cela veut dire que la liaison entre X et Y est négligeable.</a:t>
                </a:r>
              </a:p>
              <a:p>
                <a:pPr marL="342900" indent="-342900">
                  <a:buFont typeface="+mj-lt"/>
                  <a:buAutoNum type="arabicPeriod"/>
                </a:pPr>
                <a:r>
                  <a:rPr lang="fr-CA" sz="2000" dirty="0"/>
                  <a:t>Si </a:t>
                </a:r>
                <a14:m>
                  <m:oMath xmlns:m="http://schemas.openxmlformats.org/officeDocument/2006/math">
                    <m:r>
                      <a:rPr lang="fr-CA" sz="2000" b="0" i="1" smtClean="0">
                        <a:latin typeface="Cambria Math" panose="02040503050406030204" pitchFamily="18" charset="0"/>
                      </a:rPr>
                      <m:t>−0,75</m:t>
                    </m:r>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𝑟</m:t>
                    </m:r>
                    <m:r>
                      <a:rPr lang="fr-CA" sz="2000" b="0" i="1" smtClean="0">
                        <a:latin typeface="Cambria Math" panose="02040503050406030204" pitchFamily="18" charset="0"/>
                        <a:ea typeface="Cambria Math" panose="02040503050406030204" pitchFamily="18" charset="0"/>
                      </a:rPr>
                      <m:t>≤−0,5     </m:t>
                    </m:r>
                    <m:r>
                      <a:rPr lang="fr-CA" sz="2000" b="0" i="1" smtClean="0">
                        <a:latin typeface="Cambria Math" panose="02040503050406030204" pitchFamily="18" charset="0"/>
                        <a:ea typeface="Cambria Math" panose="02040503050406030204" pitchFamily="18" charset="0"/>
                      </a:rPr>
                      <m:t>𝑜𝑢</m:t>
                    </m:r>
                    <m:r>
                      <a:rPr lang="fr-CA" sz="2000" b="0" i="1" smtClean="0">
                        <a:latin typeface="Cambria Math" panose="02040503050406030204" pitchFamily="18" charset="0"/>
                        <a:ea typeface="Cambria Math" panose="02040503050406030204" pitchFamily="18" charset="0"/>
                      </a:rPr>
                      <m:t> 0,5≤</m:t>
                    </m:r>
                    <m:r>
                      <a:rPr lang="fr-CA" sz="2000" b="0" i="1" smtClean="0">
                        <a:latin typeface="Cambria Math" panose="02040503050406030204" pitchFamily="18" charset="0"/>
                        <a:ea typeface="Cambria Math" panose="02040503050406030204" pitchFamily="18" charset="0"/>
                      </a:rPr>
                      <m:t>𝑟</m:t>
                    </m:r>
                    <m:r>
                      <a:rPr lang="fr-CA" sz="2000" b="0" i="1" smtClean="0">
                        <a:latin typeface="Cambria Math" panose="02040503050406030204" pitchFamily="18" charset="0"/>
                        <a:ea typeface="Cambria Math" panose="02040503050406030204" pitchFamily="18" charset="0"/>
                      </a:rPr>
                      <m:t>≤0,75</m:t>
                    </m:r>
                  </m:oMath>
                </a14:m>
                <a:r>
                  <a:rPr lang="fr-CA" sz="2000" dirty="0"/>
                  <a:t> cela veut dire que la liaison entre X et Y est moyenne à forte</a:t>
                </a:r>
              </a:p>
              <a:p>
                <a:pPr marL="342900" indent="-342900">
                  <a:buFont typeface="+mj-lt"/>
                  <a:buAutoNum type="arabicPeriod"/>
                </a:pPr>
                <a:r>
                  <a:rPr lang="fr-CA" sz="2000" dirty="0"/>
                  <a:t>Si  </a:t>
                </a:r>
                <a14:m>
                  <m:oMath xmlns:m="http://schemas.openxmlformats.org/officeDocument/2006/math">
                    <m:r>
                      <a:rPr lang="fr-CA" sz="2000" b="0" i="1" smtClean="0">
                        <a:latin typeface="Cambria Math" panose="02040503050406030204" pitchFamily="18" charset="0"/>
                      </a:rPr>
                      <m:t>−1</m:t>
                    </m:r>
                    <m:r>
                      <a:rPr lang="fr-CA" sz="2000" b="0" i="1" smtClean="0">
                        <a:latin typeface="Cambria Math" panose="02040503050406030204" pitchFamily="18" charset="0"/>
                        <a:ea typeface="Cambria Math" panose="02040503050406030204" pitchFamily="18" charset="0"/>
                      </a:rPr>
                      <m:t>&lt;</m:t>
                    </m:r>
                    <m:r>
                      <a:rPr lang="fr-CA" sz="2000" b="0" i="1" smtClean="0">
                        <a:latin typeface="Cambria Math" panose="02040503050406030204" pitchFamily="18" charset="0"/>
                        <a:ea typeface="Cambria Math" panose="02040503050406030204" pitchFamily="18" charset="0"/>
                      </a:rPr>
                      <m:t>𝑟</m:t>
                    </m:r>
                    <m:r>
                      <a:rPr lang="fr-CA" sz="2000" b="0" i="1" smtClean="0">
                        <a:latin typeface="Cambria Math" panose="02040503050406030204" pitchFamily="18" charset="0"/>
                        <a:ea typeface="Cambria Math" panose="02040503050406030204" pitchFamily="18" charset="0"/>
                      </a:rPr>
                      <m:t>≤−0,75  </m:t>
                    </m:r>
                    <m:r>
                      <a:rPr lang="fr-CA" sz="2000" b="0" i="1" smtClean="0">
                        <a:latin typeface="Cambria Math" panose="02040503050406030204" pitchFamily="18" charset="0"/>
                        <a:ea typeface="Cambria Math" panose="02040503050406030204" pitchFamily="18" charset="0"/>
                      </a:rPr>
                      <m:t>𝑜𝑢</m:t>
                    </m:r>
                    <m:r>
                      <a:rPr lang="fr-CA" sz="2000" b="0" i="1" smtClean="0">
                        <a:latin typeface="Cambria Math" panose="02040503050406030204" pitchFamily="18" charset="0"/>
                        <a:ea typeface="Cambria Math" panose="02040503050406030204" pitchFamily="18" charset="0"/>
                      </a:rPr>
                      <m:t>  0,75≤</m:t>
                    </m:r>
                    <m:r>
                      <a:rPr lang="fr-CA" sz="2000" b="0" i="1" smtClean="0">
                        <a:latin typeface="Cambria Math" panose="02040503050406030204" pitchFamily="18" charset="0"/>
                        <a:ea typeface="Cambria Math" panose="02040503050406030204" pitchFamily="18" charset="0"/>
                      </a:rPr>
                      <m:t>𝑟</m:t>
                    </m:r>
                    <m:r>
                      <a:rPr lang="fr-CA" sz="2000" b="0" i="1" smtClean="0">
                        <a:latin typeface="Cambria Math" panose="02040503050406030204" pitchFamily="18" charset="0"/>
                        <a:ea typeface="Cambria Math" panose="02040503050406030204" pitchFamily="18" charset="0"/>
                      </a:rPr>
                      <m:t>&lt;1</m:t>
                    </m:r>
                  </m:oMath>
                </a14:m>
                <a:r>
                  <a:rPr lang="fr-CA" sz="2000" dirty="0"/>
                  <a:t>  cela veut dire que la liaison entre X et Y est forte à très forte.</a:t>
                </a:r>
              </a:p>
              <a:p>
                <a:pPr marL="342900" indent="-342900">
                  <a:buFont typeface="+mj-lt"/>
                  <a:buAutoNum type="arabicPeriod"/>
                </a:pPr>
                <a:r>
                  <a:rPr lang="fr-CA" sz="2000" dirty="0"/>
                  <a:t>Si </a:t>
                </a:r>
                <a14:m>
                  <m:oMath xmlns:m="http://schemas.openxmlformats.org/officeDocument/2006/math">
                    <m:r>
                      <a:rPr lang="fr-CA" sz="2000" b="0" i="1" smtClean="0">
                        <a:latin typeface="Cambria Math" panose="02040503050406030204" pitchFamily="18" charset="0"/>
                      </a:rPr>
                      <m:t>𝑟</m:t>
                    </m:r>
                    <m:r>
                      <a:rPr lang="fr-CA" sz="2000" b="0" i="1" smtClean="0">
                        <a:latin typeface="Cambria Math" panose="02040503050406030204" pitchFamily="18" charset="0"/>
                      </a:rPr>
                      <m:t>  ≈±1 </m:t>
                    </m:r>
                  </m:oMath>
                </a14:m>
                <a:r>
                  <a:rPr lang="fr-CA" sz="2000" dirty="0"/>
                  <a:t>cela veut dire que la liaison entre X et Y est presque parfaite et alors tous les points vont être presque alignés sur la droite de régression.</a:t>
                </a:r>
              </a:p>
              <a:p>
                <a:pPr marL="342900" indent="-342900">
                  <a:buFont typeface="+mj-lt"/>
                  <a:buAutoNum type="arabicPeriod"/>
                </a:pPr>
                <a:r>
                  <a:rPr lang="fr-FR" sz="2000" i="1" dirty="0">
                    <a:solidFill>
                      <a:srgbClr val="000000"/>
                    </a:solidFill>
                    <a:effectLst/>
                    <a:latin typeface="Times New Roman" panose="02020603050405020304" pitchFamily="18" charset="0"/>
                    <a:ea typeface="Times New Roman" panose="02020603050405020304" pitchFamily="18" charset="0"/>
                  </a:rPr>
                  <a:t>r</a:t>
                </a:r>
                <a:r>
                  <a:rPr lang="fr-FR" sz="2000" dirty="0">
                    <a:solidFill>
                      <a:srgbClr val="000000"/>
                    </a:solidFill>
                    <a:effectLst/>
                    <a:latin typeface="Times New Roman" panose="02020603050405020304" pitchFamily="18" charset="0"/>
                    <a:ea typeface="Times New Roman" panose="02020603050405020304" pitchFamily="18" charset="0"/>
                  </a:rPr>
                  <a:t> a le même signe que la pente de la droite.</a:t>
                </a:r>
                <a:endParaRPr lang="fr-CA" sz="2000" dirty="0">
                  <a:solidFill>
                    <a:srgbClr val="000000"/>
                  </a:solidFill>
                  <a:effectLst/>
                  <a:latin typeface="Times New Roman" panose="02020603050405020304" pitchFamily="18" charset="0"/>
                  <a:ea typeface="Times New Roman" panose="02020603050405020304" pitchFamily="18" charset="0"/>
                </a:endParaRPr>
              </a:p>
              <a:p>
                <a:pPr marL="342900" indent="-342900">
                  <a:buFont typeface="+mj-lt"/>
                  <a:buAutoNum type="arabicPeriod"/>
                </a:pPr>
                <a:r>
                  <a:rPr lang="fr-FR" sz="2000" i="1" dirty="0">
                    <a:solidFill>
                      <a:srgbClr val="000000"/>
                    </a:solidFill>
                    <a:effectLst/>
                    <a:latin typeface="Times New Roman" panose="02020603050405020304" pitchFamily="18" charset="0"/>
                    <a:ea typeface="Times New Roman" panose="02020603050405020304" pitchFamily="18" charset="0"/>
                  </a:rPr>
                  <a:t>r</a:t>
                </a:r>
                <a:r>
                  <a:rPr lang="fr-FR" sz="2000" dirty="0">
                    <a:solidFill>
                      <a:srgbClr val="000000"/>
                    </a:solidFill>
                    <a:effectLst/>
                    <a:latin typeface="Times New Roman" panose="02020603050405020304" pitchFamily="18" charset="0"/>
                    <a:ea typeface="Times New Roman" panose="02020603050405020304" pitchFamily="18" charset="0"/>
                  </a:rPr>
                  <a:t> est symétrique par rapport aux deux variables, c’est-à-dire qu’il reste le même lorsqu’on permute les variables </a:t>
                </a:r>
                <a:r>
                  <a:rPr lang="fr-FR" sz="2000" i="1" dirty="0">
                    <a:solidFill>
                      <a:srgbClr val="000000"/>
                    </a:solidFill>
                    <a:effectLst/>
                    <a:latin typeface="Times New Roman" panose="02020603050405020304" pitchFamily="18" charset="0"/>
                    <a:ea typeface="Times New Roman" panose="02020603050405020304" pitchFamily="18" charset="0"/>
                  </a:rPr>
                  <a:t>X</a:t>
                </a:r>
                <a:r>
                  <a:rPr lang="fr-FR" sz="2000" dirty="0">
                    <a:solidFill>
                      <a:srgbClr val="000000"/>
                    </a:solidFill>
                    <a:effectLst/>
                    <a:latin typeface="Times New Roman" panose="02020603050405020304" pitchFamily="18" charset="0"/>
                    <a:ea typeface="Times New Roman" panose="02020603050405020304" pitchFamily="18" charset="0"/>
                  </a:rPr>
                  <a:t> et </a:t>
                </a:r>
                <a:r>
                  <a:rPr lang="fr-FR" sz="2000" i="1" dirty="0">
                    <a:solidFill>
                      <a:srgbClr val="000000"/>
                    </a:solidFill>
                    <a:effectLst/>
                    <a:latin typeface="Times New Roman" panose="02020603050405020304" pitchFamily="18" charset="0"/>
                    <a:ea typeface="Times New Roman" panose="02020603050405020304" pitchFamily="18" charset="0"/>
                  </a:rPr>
                  <a:t>Y</a:t>
                </a:r>
                <a:r>
                  <a:rPr lang="fr-FR" sz="2000" dirty="0">
                    <a:solidFill>
                      <a:srgbClr val="000000"/>
                    </a:solidFill>
                    <a:effectLst/>
                    <a:latin typeface="Times New Roman" panose="02020603050405020304" pitchFamily="18" charset="0"/>
                    <a:ea typeface="Times New Roman" panose="02020603050405020304" pitchFamily="18" charset="0"/>
                  </a:rPr>
                  <a:t>.</a:t>
                </a:r>
                <a:endParaRPr lang="fr-CA" sz="2000" dirty="0">
                  <a:solidFill>
                    <a:srgbClr val="000000"/>
                  </a:solidFill>
                  <a:effectLst/>
                  <a:latin typeface="Times New Roman" panose="02020603050405020304" pitchFamily="18" charset="0"/>
                  <a:ea typeface="Times New Roman" panose="02020603050405020304" pitchFamily="18" charset="0"/>
                </a:endParaRPr>
              </a:p>
              <a:p>
                <a:endParaRPr lang="fr-CA" dirty="0"/>
              </a:p>
            </p:txBody>
          </p:sp>
        </mc:Choice>
        <mc:Fallback xmlns="">
          <p:sp>
            <p:nvSpPr>
              <p:cNvPr id="20" name="ZoneTexte 19">
                <a:extLst>
                  <a:ext uri="{FF2B5EF4-FFF2-40B4-BE49-F238E27FC236}">
                    <a16:creationId xmlns:a16="http://schemas.microsoft.com/office/drawing/2014/main" id="{DC426A96-21A1-4DA8-B434-29B85CAFC2C5}"/>
                  </a:ext>
                </a:extLst>
              </p:cNvPr>
              <p:cNvSpPr txBox="1">
                <a:spLocks noRot="1" noChangeAspect="1" noMove="1" noResize="1" noEditPoints="1" noAdjustHandles="1" noChangeArrowheads="1" noChangeShapeType="1" noTextEdit="1"/>
              </p:cNvSpPr>
              <p:nvPr/>
            </p:nvSpPr>
            <p:spPr>
              <a:xfrm>
                <a:off x="914400" y="2272553"/>
                <a:ext cx="10439400" cy="4062651"/>
              </a:xfrm>
              <a:prstGeom prst="rect">
                <a:avLst/>
              </a:prstGeom>
              <a:blipFill>
                <a:blip r:embed="rId2"/>
                <a:stretch>
                  <a:fillRect l="-642" t="-1051"/>
                </a:stretch>
              </a:blipFill>
            </p:spPr>
            <p:txBody>
              <a:bodyPr/>
              <a:lstStyle/>
              <a:p>
                <a:r>
                  <a:rPr lang="fr-CA">
                    <a:noFill/>
                  </a:rPr>
                  <a:t> </a:t>
                </a:r>
              </a:p>
            </p:txBody>
          </p:sp>
        </mc:Fallback>
      </mc:AlternateContent>
    </p:spTree>
    <p:extLst>
      <p:ext uri="{BB962C8B-B14F-4D97-AF65-F5344CB8AC3E}">
        <p14:creationId xmlns:p14="http://schemas.microsoft.com/office/powerpoint/2010/main" val="3828433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78506E-DF6C-4EA4-811E-BB57690EE409}"/>
              </a:ext>
            </a:extLst>
          </p:cNvPr>
          <p:cNvSpPr>
            <a:spLocks noGrp="1"/>
          </p:cNvSpPr>
          <p:nvPr>
            <p:ph type="title"/>
          </p:nvPr>
        </p:nvSpPr>
        <p:spPr/>
        <p:txBody>
          <a:bodyPr/>
          <a:lstStyle/>
          <a:p>
            <a:r>
              <a:rPr lang="fr-CA" b="1" dirty="0"/>
              <a:t>Exemple</a:t>
            </a:r>
            <a:r>
              <a:rPr lang="fr-CA" dirty="0"/>
              <a:t>: Si on reprend les données de l’exemple précédent</a:t>
            </a:r>
          </a:p>
        </p:txBody>
      </p:sp>
      <p:sp>
        <p:nvSpPr>
          <p:cNvPr id="3" name="Espace réservé du pied de page 2">
            <a:extLst>
              <a:ext uri="{FF2B5EF4-FFF2-40B4-BE49-F238E27FC236}">
                <a16:creationId xmlns:a16="http://schemas.microsoft.com/office/drawing/2014/main" id="{9E549A79-1A4E-4297-8C67-D95A5ADC62DF}"/>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7B542792-4671-4C83-A6E2-FF15A0AE045D}"/>
              </a:ext>
            </a:extLst>
          </p:cNvPr>
          <p:cNvSpPr>
            <a:spLocks noGrp="1"/>
          </p:cNvSpPr>
          <p:nvPr>
            <p:ph type="sldNum" sz="quarter" idx="12"/>
          </p:nvPr>
        </p:nvSpPr>
        <p:spPr/>
        <p:txBody>
          <a:bodyPr/>
          <a:lstStyle/>
          <a:p>
            <a:fld id="{26377AD9-CE17-438C-A638-C64D2D42D7CF}" type="slidenum">
              <a:rPr lang="fr-CA" smtClean="0"/>
              <a:t>4</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ED3E6E5F-1561-49BB-88CD-64A7A8902256}"/>
                  </a:ext>
                </a:extLst>
              </p:cNvPr>
              <p:cNvSpPr txBox="1"/>
              <p:nvPr/>
            </p:nvSpPr>
            <p:spPr>
              <a:xfrm>
                <a:off x="1021976" y="1690689"/>
                <a:ext cx="9843248" cy="4517903"/>
              </a:xfrm>
              <a:prstGeom prst="rect">
                <a:avLst/>
              </a:prstGeom>
              <a:noFill/>
            </p:spPr>
            <p:txBody>
              <a:bodyPr wrap="square" rtlCol="0">
                <a:spAutoFit/>
              </a:bodyPr>
              <a:lstStyle/>
              <a:p>
                <a:pPr algn="l">
                  <a:lnSpc>
                    <a:spcPct val="200000"/>
                  </a:lnSpc>
                  <a:spcAft>
                    <a:spcPts val="800"/>
                  </a:spcAft>
                </a:pPr>
                <a:r>
                  <a:rPr lang="fr-FR" sz="1800" b="1" dirty="0">
                    <a:solidFill>
                      <a:srgbClr val="000000"/>
                    </a:solidFill>
                    <a:effectLst/>
                    <a:latin typeface="Times New Roman" panose="02020603050405020304" pitchFamily="18" charset="0"/>
                    <a:ea typeface="Times New Roman" panose="02020603050405020304" pitchFamily="18" charset="0"/>
                  </a:rPr>
                  <a:t>Méthode 1 : Utilisation d’une calculatrice</a:t>
                </a:r>
                <a:endParaRPr lang="fr-CA" sz="1800" dirty="0">
                  <a:solidFill>
                    <a:srgbClr val="000000"/>
                  </a:solidFill>
                  <a:effectLst/>
                  <a:latin typeface="Times New Roman" panose="02020603050405020304" pitchFamily="18" charset="0"/>
                  <a:ea typeface="Times New Roman" panose="02020603050405020304" pitchFamily="18" charset="0"/>
                </a:endParaRPr>
              </a:p>
              <a:p>
                <a:pPr algn="l">
                  <a:lnSpc>
                    <a:spcPct val="200000"/>
                  </a:lnSpc>
                  <a:spcAft>
                    <a:spcPts val="800"/>
                  </a:spcAft>
                </a:pPr>
                <a:r>
                  <a:rPr lang="fr-FR" sz="1800" dirty="0">
                    <a:solidFill>
                      <a:srgbClr val="000000"/>
                    </a:solidFill>
                    <a:effectLst/>
                    <a:latin typeface="Times New Roman" panose="02020603050405020304" pitchFamily="18" charset="0"/>
                    <a:ea typeface="Times New Roman" panose="02020603050405020304" pitchFamily="18" charset="0"/>
                  </a:rPr>
                  <a:t>Nous avions </a:t>
                </a:r>
                <a:r>
                  <a:rPr lang="fr-FR" sz="1800" i="1" dirty="0" err="1">
                    <a:solidFill>
                      <a:srgbClr val="000000"/>
                    </a:solidFill>
                    <a:effectLst/>
                    <a:latin typeface="Times New Roman" panose="02020603050405020304" pitchFamily="18" charset="0"/>
                    <a:ea typeface="Times New Roman" panose="02020603050405020304" pitchFamily="18" charset="0"/>
                  </a:rPr>
                  <a:t>s</a:t>
                </a:r>
                <a:r>
                  <a:rPr lang="fr-FR" sz="1800" i="1" baseline="-25000" dirty="0" err="1">
                    <a:solidFill>
                      <a:srgbClr val="000000"/>
                    </a:solidFill>
                    <a:effectLst/>
                    <a:latin typeface="Times New Roman" panose="02020603050405020304" pitchFamily="18" charset="0"/>
                    <a:ea typeface="Times New Roman" panose="02020603050405020304" pitchFamily="18" charset="0"/>
                  </a:rPr>
                  <a:t>X</a:t>
                </a:r>
                <a:r>
                  <a:rPr lang="fr-FR" sz="1800" dirty="0">
                    <a:solidFill>
                      <a:srgbClr val="000000"/>
                    </a:solidFill>
                    <a:effectLst/>
                    <a:latin typeface="Times New Roman" panose="02020603050405020304" pitchFamily="18" charset="0"/>
                    <a:ea typeface="Times New Roman" panose="02020603050405020304" pitchFamily="18" charset="0"/>
                  </a:rPr>
                  <a:t> = 7,2325, </a:t>
                </a:r>
                <a:r>
                  <a:rPr lang="fr-FR" sz="1800" i="1" dirty="0" err="1">
                    <a:solidFill>
                      <a:srgbClr val="000000"/>
                    </a:solidFill>
                    <a:effectLst/>
                    <a:latin typeface="Times New Roman" panose="02020603050405020304" pitchFamily="18" charset="0"/>
                    <a:ea typeface="Times New Roman" panose="02020603050405020304" pitchFamily="18" charset="0"/>
                  </a:rPr>
                  <a:t>s</a:t>
                </a:r>
                <a:r>
                  <a:rPr lang="fr-FR" sz="1800" i="1" baseline="-25000" dirty="0" err="1">
                    <a:solidFill>
                      <a:srgbClr val="000000"/>
                    </a:solidFill>
                    <a:effectLst/>
                    <a:latin typeface="Times New Roman" panose="02020603050405020304" pitchFamily="18" charset="0"/>
                    <a:ea typeface="Times New Roman" panose="02020603050405020304" pitchFamily="18" charset="0"/>
                  </a:rPr>
                  <a:t>Y</a:t>
                </a:r>
                <a:r>
                  <a:rPr lang="fr-FR" sz="1800" dirty="0">
                    <a:solidFill>
                      <a:srgbClr val="000000"/>
                    </a:solidFill>
                    <a:effectLst/>
                    <a:latin typeface="Times New Roman" panose="02020603050405020304" pitchFamily="18" charset="0"/>
                    <a:ea typeface="Times New Roman" panose="02020603050405020304" pitchFamily="18" charset="0"/>
                  </a:rPr>
                  <a:t> = 20,0587 et </a:t>
                </a:r>
                <a:r>
                  <a:rPr lang="fr-FR" sz="1800" i="1" dirty="0">
                    <a:solidFill>
                      <a:srgbClr val="000000"/>
                    </a:solidFill>
                    <a:effectLst/>
                    <a:latin typeface="Times New Roman" panose="02020603050405020304" pitchFamily="18" charset="0"/>
                    <a:ea typeface="Times New Roman" panose="02020603050405020304" pitchFamily="18" charset="0"/>
                  </a:rPr>
                  <a:t>b</a:t>
                </a:r>
                <a:r>
                  <a:rPr lang="fr-FR" sz="1800" dirty="0">
                    <a:solidFill>
                      <a:srgbClr val="000000"/>
                    </a:solidFill>
                    <a:effectLst/>
                    <a:latin typeface="Times New Roman" panose="02020603050405020304" pitchFamily="18" charset="0"/>
                    <a:ea typeface="Times New Roman" panose="02020603050405020304" pitchFamily="18" charset="0"/>
                  </a:rPr>
                  <a:t> = 1,5939 ; par conséquent :</a:t>
                </a:r>
                <a:endParaRPr lang="fr-CA" sz="1800" dirty="0">
                  <a:solidFill>
                    <a:srgbClr val="000000"/>
                  </a:solidFill>
                  <a:effectLst/>
                  <a:latin typeface="Times New Roman" panose="02020603050405020304" pitchFamily="18" charset="0"/>
                  <a:ea typeface="Times New Roman" panose="02020603050405020304" pitchFamily="18" charset="0"/>
                </a:endParaRPr>
              </a:p>
              <a:p>
                <a:pPr algn="ctr">
                  <a:lnSpc>
                    <a:spcPct val="200000"/>
                  </a:lnSpc>
                  <a:spcAft>
                    <a:spcPts val="800"/>
                  </a:spcAft>
                </a:pPr>
                <a14:m>
                  <m:oMathPara xmlns:m="http://schemas.openxmlformats.org/officeDocument/2006/math">
                    <m:oMathParaPr>
                      <m:jc m:val="centerGroup"/>
                    </m:oMathParaPr>
                    <m:oMath xmlns:m="http://schemas.openxmlformats.org/officeDocument/2006/math">
                      <m:r>
                        <a:rPr lang="fr-FR" sz="1800" i="1">
                          <a:solidFill>
                            <a:srgbClr val="000000"/>
                          </a:solidFill>
                          <a:effectLst/>
                          <a:latin typeface="Cambria Math" panose="02040503050406030204" pitchFamily="18" charset="0"/>
                          <a:ea typeface="Times New Roman" panose="02020603050405020304" pitchFamily="18" charset="0"/>
                        </a:rPr>
                        <m:t>𝑟</m:t>
                      </m:r>
                      <m:r>
                        <a:rPr lang="fr-FR" sz="1800" i="1">
                          <a:solidFill>
                            <a:srgbClr val="000000"/>
                          </a:solidFill>
                          <a:effectLst/>
                          <a:latin typeface="Cambria Math" panose="02040503050406030204" pitchFamily="18" charset="0"/>
                          <a:ea typeface="Times New Roman" panose="02020603050405020304" pitchFamily="18" charset="0"/>
                        </a:rPr>
                        <m:t>=</m:t>
                      </m:r>
                      <m:f>
                        <m:fPr>
                          <m:ctrlPr>
                            <a:rPr lang="fr-CA" sz="1800" i="1">
                              <a:solidFill>
                                <a:srgbClr val="000000"/>
                              </a:solidFill>
                              <a:effectLst/>
                              <a:latin typeface="Cambria Math" panose="02040503050406030204" pitchFamily="18" charset="0"/>
                              <a:ea typeface="Times New Roman" panose="02020603050405020304" pitchFamily="18" charset="0"/>
                            </a:rPr>
                          </m:ctrlPr>
                        </m:fPr>
                        <m:num>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FR" sz="1800" i="1">
                                  <a:solidFill>
                                    <a:srgbClr val="000000"/>
                                  </a:solidFill>
                                  <a:effectLst/>
                                  <a:latin typeface="Cambria Math" panose="02040503050406030204" pitchFamily="18" charset="0"/>
                                  <a:ea typeface="Times New Roman" panose="02020603050405020304" pitchFamily="18" charset="0"/>
                                </a:rPr>
                                <m:t>𝑠</m:t>
                              </m:r>
                            </m:e>
                            <m:sub>
                              <m:r>
                                <a:rPr lang="fr-FR" sz="1800" i="1">
                                  <a:solidFill>
                                    <a:srgbClr val="000000"/>
                                  </a:solidFill>
                                  <a:effectLst/>
                                  <a:latin typeface="Cambria Math" panose="02040503050406030204" pitchFamily="18" charset="0"/>
                                  <a:ea typeface="Times New Roman" panose="02020603050405020304" pitchFamily="18" charset="0"/>
                                </a:rPr>
                                <m:t>𝑋</m:t>
                              </m:r>
                            </m:sub>
                          </m:sSub>
                        </m:num>
                        <m:den>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FR" sz="1800" i="1">
                                  <a:solidFill>
                                    <a:srgbClr val="000000"/>
                                  </a:solidFill>
                                  <a:effectLst/>
                                  <a:latin typeface="Cambria Math" panose="02040503050406030204" pitchFamily="18" charset="0"/>
                                  <a:ea typeface="Times New Roman" panose="02020603050405020304" pitchFamily="18" charset="0"/>
                                </a:rPr>
                                <m:t>𝑠</m:t>
                              </m:r>
                            </m:e>
                            <m:sub>
                              <m:r>
                                <a:rPr lang="fr-FR" sz="1800" i="1">
                                  <a:solidFill>
                                    <a:srgbClr val="000000"/>
                                  </a:solidFill>
                                  <a:effectLst/>
                                  <a:latin typeface="Cambria Math" panose="02040503050406030204" pitchFamily="18" charset="0"/>
                                  <a:ea typeface="Times New Roman" panose="02020603050405020304" pitchFamily="18" charset="0"/>
                                </a:rPr>
                                <m:t>𝑌</m:t>
                              </m:r>
                            </m:sub>
                          </m:sSub>
                        </m:den>
                      </m:f>
                      <m:r>
                        <a:rPr lang="fr-FR" sz="1800" i="1">
                          <a:solidFill>
                            <a:srgbClr val="000000"/>
                          </a:solidFill>
                          <a:effectLst/>
                          <a:latin typeface="Cambria Math" panose="02040503050406030204" pitchFamily="18" charset="0"/>
                          <a:ea typeface="Times New Roman" panose="02020603050405020304" pitchFamily="18" charset="0"/>
                        </a:rPr>
                        <m:t> </m:t>
                      </m:r>
                      <m:r>
                        <a:rPr lang="fr-FR" sz="1800" i="1">
                          <a:solidFill>
                            <a:srgbClr val="000000"/>
                          </a:solidFill>
                          <a:effectLst/>
                          <a:latin typeface="Cambria Math" panose="02040503050406030204" pitchFamily="18" charset="0"/>
                          <a:ea typeface="Times New Roman" panose="02020603050405020304" pitchFamily="18" charset="0"/>
                        </a:rPr>
                        <m:t>𝑏</m:t>
                      </m:r>
                      <m:r>
                        <a:rPr lang="fr-FR" sz="1800" i="1">
                          <a:solidFill>
                            <a:srgbClr val="000000"/>
                          </a:solidFill>
                          <a:effectLst/>
                          <a:latin typeface="Cambria Math" panose="02040503050406030204" pitchFamily="18" charset="0"/>
                          <a:ea typeface="Times New Roman" panose="02020603050405020304" pitchFamily="18" charset="0"/>
                        </a:rPr>
                        <m:t>=</m:t>
                      </m:r>
                      <m:f>
                        <m:fPr>
                          <m:ctrlPr>
                            <a:rPr lang="fr-CA" sz="1800" i="1">
                              <a:solidFill>
                                <a:srgbClr val="000000"/>
                              </a:solidFill>
                              <a:effectLst/>
                              <a:latin typeface="Cambria Math" panose="02040503050406030204" pitchFamily="18" charset="0"/>
                              <a:ea typeface="Times New Roman" panose="02020603050405020304" pitchFamily="18" charset="0"/>
                            </a:rPr>
                          </m:ctrlPr>
                        </m:fPr>
                        <m:num>
                          <m:r>
                            <a:rPr lang="fr-FR" sz="1800" i="1">
                              <a:solidFill>
                                <a:srgbClr val="000000"/>
                              </a:solidFill>
                              <a:effectLst/>
                              <a:latin typeface="Cambria Math" panose="02040503050406030204" pitchFamily="18" charset="0"/>
                              <a:ea typeface="Times New Roman" panose="02020603050405020304" pitchFamily="18" charset="0"/>
                            </a:rPr>
                            <m:t>7,2325</m:t>
                          </m:r>
                        </m:num>
                        <m:den>
                          <m:r>
                            <a:rPr lang="fr-FR" sz="1800" i="1">
                              <a:solidFill>
                                <a:srgbClr val="000000"/>
                              </a:solidFill>
                              <a:effectLst/>
                              <a:latin typeface="Cambria Math" panose="02040503050406030204" pitchFamily="18" charset="0"/>
                              <a:ea typeface="Times New Roman" panose="02020603050405020304" pitchFamily="18" charset="0"/>
                            </a:rPr>
                            <m:t>20,0587</m:t>
                          </m:r>
                        </m:den>
                      </m:f>
                      <m:r>
                        <a:rPr lang="fr-FR" sz="1800" i="1">
                          <a:solidFill>
                            <a:srgbClr val="000000"/>
                          </a:solidFill>
                          <a:effectLst/>
                          <a:latin typeface="Cambria Math" panose="02040503050406030204" pitchFamily="18" charset="0"/>
                          <a:ea typeface="Times New Roman" panose="02020603050405020304" pitchFamily="18" charset="0"/>
                        </a:rPr>
                        <m:t>×1,5939=0,5747</m:t>
                      </m:r>
                    </m:oMath>
                  </m:oMathPara>
                </a14:m>
                <a:endParaRPr lang="fr-CA" sz="1800" dirty="0">
                  <a:solidFill>
                    <a:srgbClr val="000000"/>
                  </a:solidFill>
                  <a:effectLst/>
                  <a:latin typeface="Times New Roman" panose="02020603050405020304" pitchFamily="18" charset="0"/>
                  <a:ea typeface="Times New Roman" panose="02020603050405020304" pitchFamily="18" charset="0"/>
                </a:endParaRPr>
              </a:p>
              <a:p>
                <a:pPr algn="just">
                  <a:lnSpc>
                    <a:spcPct val="200000"/>
                  </a:lnSpc>
                  <a:spcAft>
                    <a:spcPts val="800"/>
                  </a:spcAft>
                </a:pPr>
                <a:r>
                  <a:rPr lang="fr-FR" sz="1800" b="1" dirty="0">
                    <a:solidFill>
                      <a:srgbClr val="000000"/>
                    </a:solidFill>
                    <a:effectLst/>
                    <a:latin typeface="Times New Roman" panose="02020603050405020304" pitchFamily="18" charset="0"/>
                    <a:ea typeface="Times New Roman" panose="02020603050405020304" pitchFamily="18" charset="0"/>
                  </a:rPr>
                  <a:t>Méthode 2 : Utilisation du logiciel R</a:t>
                </a:r>
                <a:endParaRPr lang="fr-CA" sz="1800" dirty="0">
                  <a:solidFill>
                    <a:srgbClr val="000000"/>
                  </a:solidFill>
                  <a:effectLst/>
                  <a:latin typeface="Times New Roman" panose="02020603050405020304" pitchFamily="18" charset="0"/>
                  <a:ea typeface="Times New Roman" panose="02020603050405020304" pitchFamily="18" charset="0"/>
                </a:endParaRPr>
              </a:p>
              <a:p>
                <a:pPr algn="just">
                  <a:lnSpc>
                    <a:spcPct val="200000"/>
                  </a:lnSpc>
                  <a:spcAft>
                    <a:spcPts val="800"/>
                  </a:spcAft>
                </a:pPr>
                <a:r>
                  <a:rPr lang="fr-FR" sz="1800" dirty="0">
                    <a:solidFill>
                      <a:srgbClr val="000000"/>
                    </a:solidFill>
                    <a:effectLst/>
                    <a:latin typeface="Times New Roman" panose="02020603050405020304" pitchFamily="18" charset="0"/>
                    <a:ea typeface="Times New Roman" panose="02020603050405020304" pitchFamily="18" charset="0"/>
                  </a:rPr>
                  <a:t>On tape : cor(x, y)  et on obtient : 0.5747276.  </a:t>
                </a:r>
                <a:endParaRPr lang="fr-CA" sz="1800" dirty="0">
                  <a:solidFill>
                    <a:srgbClr val="000000"/>
                  </a:solidFill>
                  <a:effectLst/>
                  <a:latin typeface="Times New Roman" panose="02020603050405020304" pitchFamily="18" charset="0"/>
                  <a:ea typeface="Times New Roman" panose="02020603050405020304" pitchFamily="18" charset="0"/>
                </a:endParaRPr>
              </a:p>
              <a:p>
                <a:r>
                  <a:rPr lang="fr-CA" sz="1800" dirty="0">
                    <a:effectLst/>
                    <a:latin typeface="Calibri" panose="020F0502020204030204" pitchFamily="34" charset="0"/>
                    <a:ea typeface="Times New Roman" panose="02020603050405020304" pitchFamily="18" charset="0"/>
                    <a:cs typeface="Times New Roman" panose="02020603050405020304" pitchFamily="18" charset="0"/>
                  </a:rPr>
                  <a:t>Nous pouvons dire qu’à partir des 10 observations sélectionnées au hasard, la liaison linéaire entre la température et le taux d’ozone à midi en juillet à Gatineau n’est que moyennement positive</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a:t>
                </a:r>
                <a:endParaRPr lang="fr-CA" dirty="0"/>
              </a:p>
            </p:txBody>
          </p:sp>
        </mc:Choice>
        <mc:Fallback xmlns="">
          <p:sp>
            <p:nvSpPr>
              <p:cNvPr id="5" name="ZoneTexte 4">
                <a:extLst>
                  <a:ext uri="{FF2B5EF4-FFF2-40B4-BE49-F238E27FC236}">
                    <a16:creationId xmlns:a16="http://schemas.microsoft.com/office/drawing/2014/main" id="{ED3E6E5F-1561-49BB-88CD-64A7A8902256}"/>
                  </a:ext>
                </a:extLst>
              </p:cNvPr>
              <p:cNvSpPr txBox="1">
                <a:spLocks noRot="1" noChangeAspect="1" noMove="1" noResize="1" noEditPoints="1" noAdjustHandles="1" noChangeArrowheads="1" noChangeShapeType="1" noTextEdit="1"/>
              </p:cNvSpPr>
              <p:nvPr/>
            </p:nvSpPr>
            <p:spPr>
              <a:xfrm>
                <a:off x="1021976" y="1690689"/>
                <a:ext cx="9843248" cy="4517903"/>
              </a:xfrm>
              <a:prstGeom prst="rect">
                <a:avLst/>
              </a:prstGeom>
              <a:blipFill>
                <a:blip r:embed="rId2"/>
                <a:stretch>
                  <a:fillRect l="-558" b="-1215"/>
                </a:stretch>
              </a:blipFill>
            </p:spPr>
            <p:txBody>
              <a:bodyPr/>
              <a:lstStyle/>
              <a:p>
                <a:r>
                  <a:rPr lang="fr-CA">
                    <a:noFill/>
                  </a:rPr>
                  <a:t> </a:t>
                </a:r>
              </a:p>
            </p:txBody>
          </p:sp>
        </mc:Fallback>
      </mc:AlternateContent>
    </p:spTree>
    <p:extLst>
      <p:ext uri="{BB962C8B-B14F-4D97-AF65-F5344CB8AC3E}">
        <p14:creationId xmlns:p14="http://schemas.microsoft.com/office/powerpoint/2010/main" val="735267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0E2E22-2015-4860-B9A5-C54BC56D0418}"/>
              </a:ext>
            </a:extLst>
          </p:cNvPr>
          <p:cNvSpPr>
            <a:spLocks noGrp="1"/>
          </p:cNvSpPr>
          <p:nvPr>
            <p:ph type="title"/>
          </p:nvPr>
        </p:nvSpPr>
        <p:spPr/>
        <p:txBody>
          <a:bodyPr/>
          <a:lstStyle/>
          <a:p>
            <a:r>
              <a:rPr lang="fr-CA" b="1" dirty="0"/>
              <a:t>Le coefficient de détermination</a:t>
            </a:r>
          </a:p>
        </p:txBody>
      </p:sp>
      <p:sp>
        <p:nvSpPr>
          <p:cNvPr id="3" name="Espace réservé du pied de page 2">
            <a:extLst>
              <a:ext uri="{FF2B5EF4-FFF2-40B4-BE49-F238E27FC236}">
                <a16:creationId xmlns:a16="http://schemas.microsoft.com/office/drawing/2014/main" id="{EDAC696F-E499-4A58-975B-D11A1526E809}"/>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65C36900-9A8F-44ED-953B-B40FB638BAD8}"/>
              </a:ext>
            </a:extLst>
          </p:cNvPr>
          <p:cNvSpPr>
            <a:spLocks noGrp="1"/>
          </p:cNvSpPr>
          <p:nvPr>
            <p:ph type="sldNum" sz="quarter" idx="12"/>
          </p:nvPr>
        </p:nvSpPr>
        <p:spPr/>
        <p:txBody>
          <a:bodyPr/>
          <a:lstStyle/>
          <a:p>
            <a:fld id="{26377AD9-CE17-438C-A638-C64D2D42D7CF}" type="slidenum">
              <a:rPr lang="fr-CA" smtClean="0"/>
              <a:t>5</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46FDBD07-45DC-44B6-A978-5E10E6A7175D}"/>
                  </a:ext>
                </a:extLst>
              </p:cNvPr>
              <p:cNvSpPr txBox="1"/>
              <p:nvPr/>
            </p:nvSpPr>
            <p:spPr>
              <a:xfrm>
                <a:off x="605118" y="1690688"/>
                <a:ext cx="11053482" cy="4406719"/>
              </a:xfrm>
              <a:prstGeom prst="rect">
                <a:avLst/>
              </a:prstGeom>
              <a:noFill/>
            </p:spPr>
            <p:txBody>
              <a:bodyPr wrap="square" rtlCol="0">
                <a:spAutoFit/>
              </a:bodyPr>
              <a:lstStyle/>
              <a:p>
                <a:r>
                  <a:rPr lang="fr-FR" sz="1800" dirty="0">
                    <a:solidFill>
                      <a:srgbClr val="000000"/>
                    </a:solidFill>
                    <a:effectLst/>
                    <a:latin typeface="Times New Roman" panose="02020603050405020304" pitchFamily="18" charset="0"/>
                    <a:ea typeface="Times New Roman" panose="02020603050405020304" pitchFamily="18" charset="0"/>
                  </a:rPr>
                  <a:t>Dans le cas d’une régression linéaire simple, le coefficient de détermination est égal au carré du coefficient de corrélation linéaire. </a:t>
                </a:r>
                <a:r>
                  <a:rPr lang="fr-CA" sz="1800" dirty="0">
                    <a:solidFill>
                      <a:srgbClr val="000000"/>
                    </a:solidFill>
                    <a:effectLst/>
                    <a:latin typeface="Times New Roman" panose="02020603050405020304" pitchFamily="18" charset="0"/>
                    <a:ea typeface="Times New Roman" panose="02020603050405020304" pitchFamily="18" charset="0"/>
                  </a:rPr>
                  <a:t>Il permet de quantifier la proportion des variations de </a:t>
                </a:r>
                <a:r>
                  <a:rPr lang="fr-CA" sz="1800" i="1" dirty="0">
                    <a:solidFill>
                      <a:srgbClr val="000000"/>
                    </a:solidFill>
                    <a:effectLst/>
                    <a:latin typeface="Times New Roman" panose="02020603050405020304" pitchFamily="18" charset="0"/>
                    <a:ea typeface="Times New Roman" panose="02020603050405020304" pitchFamily="18" charset="0"/>
                  </a:rPr>
                  <a:t>Y</a:t>
                </a:r>
                <a:r>
                  <a:rPr lang="fr-CA" sz="1800" dirty="0">
                    <a:solidFill>
                      <a:srgbClr val="000000"/>
                    </a:solidFill>
                    <a:effectLst/>
                    <a:latin typeface="Times New Roman" panose="02020603050405020304" pitchFamily="18" charset="0"/>
                    <a:ea typeface="Times New Roman" panose="02020603050405020304" pitchFamily="18" charset="0"/>
                  </a:rPr>
                  <a:t> qui peuvent être expliquées par</a:t>
                </a:r>
                <a:r>
                  <a:rPr lang="fr-CA" sz="1800" i="1" dirty="0">
                    <a:solidFill>
                      <a:srgbClr val="000000"/>
                    </a:solidFill>
                    <a:effectLst/>
                    <a:latin typeface="Times New Roman" panose="02020603050405020304" pitchFamily="18" charset="0"/>
                    <a:ea typeface="Times New Roman" panose="02020603050405020304" pitchFamily="18" charset="0"/>
                  </a:rPr>
                  <a:t> X</a:t>
                </a:r>
                <a:r>
                  <a:rPr lang="fr-CA" sz="1800" dirty="0">
                    <a:solidFill>
                      <a:srgbClr val="000000"/>
                    </a:solidFill>
                    <a:effectLst/>
                    <a:latin typeface="Times New Roman" panose="02020603050405020304" pitchFamily="18" charset="0"/>
                    <a:ea typeface="Times New Roman" panose="02020603050405020304" pitchFamily="18" charset="0"/>
                  </a:rPr>
                  <a:t>.</a:t>
                </a:r>
              </a:p>
              <a:p>
                <a:r>
                  <a:rPr lang="fr-CA" sz="1800" dirty="0">
                    <a:solidFill>
                      <a:srgbClr val="000000"/>
                    </a:solidFill>
                    <a:effectLst/>
                    <a:latin typeface="Times New Roman" panose="02020603050405020304" pitchFamily="18" charset="0"/>
                    <a:ea typeface="Times New Roman" panose="02020603050405020304" pitchFamily="18" charset="0"/>
                  </a:rPr>
                  <a:t> On le note: </a:t>
                </a:r>
                <a14:m>
                  <m:oMath xmlns:m="http://schemas.openxmlformats.org/officeDocument/2006/math">
                    <m:sSup>
                      <m:sSupPr>
                        <m:ctrlPr>
                          <a:rPr lang="fr-CA" sz="1800" i="1" smtClean="0">
                            <a:solidFill>
                              <a:srgbClr val="000000"/>
                            </a:solidFill>
                            <a:effectLst/>
                            <a:latin typeface="Cambria Math" panose="02040503050406030204" pitchFamily="18" charset="0"/>
                          </a:rPr>
                        </m:ctrlPr>
                      </m:sSupPr>
                      <m:e>
                        <m:r>
                          <a:rPr lang="fr-CA" sz="1800" b="0" i="1" smtClean="0">
                            <a:solidFill>
                              <a:srgbClr val="000000"/>
                            </a:solidFill>
                            <a:effectLst/>
                            <a:latin typeface="Cambria Math" panose="02040503050406030204" pitchFamily="18" charset="0"/>
                          </a:rPr>
                          <m:t>𝑅</m:t>
                        </m:r>
                      </m:e>
                      <m:sup>
                        <m:r>
                          <a:rPr lang="fr-CA" sz="1800" b="0" i="1" smtClean="0">
                            <a:solidFill>
                              <a:srgbClr val="000000"/>
                            </a:solidFill>
                            <a:effectLst/>
                            <a:latin typeface="Cambria Math" panose="02040503050406030204" pitchFamily="18" charset="0"/>
                          </a:rPr>
                          <m:t>2</m:t>
                        </m:r>
                      </m:sup>
                    </m:sSup>
                  </m:oMath>
                </a14:m>
                <a:endParaRPr lang="fr-CA" sz="1800" dirty="0">
                  <a:solidFill>
                    <a:srgbClr val="000000"/>
                  </a:solidFill>
                  <a:effectLst/>
                  <a:latin typeface="Times New Roman" panose="02020603050405020304" pitchFamily="18" charset="0"/>
                  <a:ea typeface="Times New Roman" panose="02020603050405020304" pitchFamily="18" charset="0"/>
                </a:endParaRPr>
              </a:p>
              <a:p>
                <a:pPr algn="l">
                  <a:lnSpc>
                    <a:spcPct val="200000"/>
                  </a:lnSpc>
                  <a:spcAft>
                    <a:spcPts val="800"/>
                  </a:spcAft>
                </a:pPr>
                <a:r>
                  <a:rPr lang="fr-CA" b="1" dirty="0"/>
                  <a:t>Exemple:</a:t>
                </a:r>
                <a:r>
                  <a:rPr lang="fr-CA" dirty="0"/>
                  <a:t> </a:t>
                </a:r>
                <a:r>
                  <a:rPr lang="fr-FR" sz="1800" dirty="0">
                    <a:solidFill>
                      <a:srgbClr val="000000"/>
                    </a:solidFill>
                    <a:effectLst/>
                    <a:latin typeface="Times New Roman" panose="02020603050405020304" pitchFamily="18" charset="0"/>
                    <a:ea typeface="Times New Roman" panose="02020603050405020304" pitchFamily="18" charset="0"/>
                  </a:rPr>
                  <a:t>Dans l’exemple précédent, le coefficient de détermination entre</a:t>
                </a:r>
                <a:r>
                  <a:rPr lang="fr-FR" sz="1800" i="1" dirty="0">
                    <a:solidFill>
                      <a:srgbClr val="000000"/>
                    </a:solidFill>
                    <a:effectLst/>
                    <a:latin typeface="Times New Roman" panose="02020603050405020304" pitchFamily="18" charset="0"/>
                    <a:ea typeface="Times New Roman" panose="02020603050405020304" pitchFamily="18" charset="0"/>
                  </a:rPr>
                  <a:t> X </a:t>
                </a:r>
                <a:r>
                  <a:rPr lang="fr-FR" sz="1800" dirty="0">
                    <a:solidFill>
                      <a:srgbClr val="000000"/>
                    </a:solidFill>
                    <a:effectLst/>
                    <a:latin typeface="Times New Roman" panose="02020603050405020304" pitchFamily="18" charset="0"/>
                    <a:ea typeface="Times New Roman" panose="02020603050405020304" pitchFamily="18" charset="0"/>
                  </a:rPr>
                  <a:t>et </a:t>
                </a:r>
                <a:r>
                  <a:rPr lang="fr-FR" sz="1800" i="1" dirty="0">
                    <a:solidFill>
                      <a:srgbClr val="000000"/>
                    </a:solidFill>
                    <a:effectLst/>
                    <a:latin typeface="Times New Roman" panose="02020603050405020304" pitchFamily="18" charset="0"/>
                    <a:ea typeface="Times New Roman" panose="02020603050405020304" pitchFamily="18" charset="0"/>
                  </a:rPr>
                  <a:t>Y</a:t>
                </a:r>
                <a:r>
                  <a:rPr lang="fr-FR" sz="1800" dirty="0">
                    <a:solidFill>
                      <a:srgbClr val="000000"/>
                    </a:solidFill>
                    <a:effectLst/>
                    <a:latin typeface="Times New Roman" panose="02020603050405020304" pitchFamily="18" charset="0"/>
                    <a:ea typeface="Times New Roman" panose="02020603050405020304" pitchFamily="18" charset="0"/>
                  </a:rPr>
                  <a:t> est égal à </a:t>
                </a:r>
                <a14:m>
                  <m:oMath xmlns:m="http://schemas.openxmlformats.org/officeDocument/2006/math">
                    <m:sSup>
                      <m:sSupPr>
                        <m:ctrlPr>
                          <a:rPr lang="fr-FR" sz="1800" i="1" smtClean="0">
                            <a:solidFill>
                              <a:srgbClr val="000000"/>
                            </a:solidFill>
                            <a:effectLst/>
                            <a:latin typeface="Cambria Math" panose="02040503050406030204" pitchFamily="18" charset="0"/>
                          </a:rPr>
                        </m:ctrlPr>
                      </m:sSupPr>
                      <m:e>
                        <m:r>
                          <a:rPr lang="fr-CA" sz="1800" b="0" i="1" smtClean="0">
                            <a:solidFill>
                              <a:srgbClr val="000000"/>
                            </a:solidFill>
                            <a:effectLst/>
                            <a:latin typeface="Cambria Math" panose="02040503050406030204" pitchFamily="18" charset="0"/>
                          </a:rPr>
                          <m:t>𝑅</m:t>
                        </m:r>
                      </m:e>
                      <m:sup>
                        <m:r>
                          <a:rPr lang="fr-CA" sz="1800" b="0" i="1" smtClean="0">
                            <a:solidFill>
                              <a:srgbClr val="000000"/>
                            </a:solidFill>
                            <a:effectLst/>
                            <a:latin typeface="Cambria Math" panose="02040503050406030204" pitchFamily="18" charset="0"/>
                          </a:rPr>
                          <m:t>2</m:t>
                        </m:r>
                      </m:sup>
                    </m:sSup>
                    <m:r>
                      <a:rPr lang="fr-CA" sz="1800" b="0" i="1" smtClean="0">
                        <a:solidFill>
                          <a:srgbClr val="000000"/>
                        </a:solidFill>
                        <a:effectLst/>
                        <a:latin typeface="Cambria Math" panose="02040503050406030204" pitchFamily="18" charset="0"/>
                      </a:rPr>
                      <m:t>=</m:t>
                    </m:r>
                  </m:oMath>
                </a14:m>
                <a:r>
                  <a:rPr lang="fr-FR" sz="1800" i="1" dirty="0">
                    <a:solidFill>
                      <a:srgbClr val="000000"/>
                    </a:solidFill>
                    <a:effectLst/>
                    <a:latin typeface="Times New Roman" panose="02020603050405020304" pitchFamily="18" charset="0"/>
                    <a:ea typeface="Times New Roman" panose="02020603050405020304" pitchFamily="18" charset="0"/>
                  </a:rPr>
                  <a:t>r</a:t>
                </a:r>
                <a:r>
                  <a:rPr lang="fr-FR" sz="1800" baseline="30000" dirty="0">
                    <a:solidFill>
                      <a:srgbClr val="000000"/>
                    </a:solidFill>
                    <a:effectLst/>
                    <a:latin typeface="Times New Roman" panose="02020603050405020304" pitchFamily="18" charset="0"/>
                    <a:ea typeface="Times New Roman" panose="02020603050405020304" pitchFamily="18" charset="0"/>
                  </a:rPr>
                  <a:t>2</a:t>
                </a:r>
                <a:r>
                  <a:rPr lang="fr-FR" sz="1800" dirty="0">
                    <a:solidFill>
                      <a:srgbClr val="000000"/>
                    </a:solidFill>
                    <a:effectLst/>
                    <a:latin typeface="Times New Roman" panose="02020603050405020304" pitchFamily="18" charset="0"/>
                    <a:ea typeface="Times New Roman" panose="02020603050405020304" pitchFamily="18" charset="0"/>
                  </a:rPr>
                  <a:t> = 0,5747</a:t>
                </a:r>
                <a:r>
                  <a:rPr lang="fr-FR" sz="1800" baseline="30000" dirty="0">
                    <a:solidFill>
                      <a:srgbClr val="000000"/>
                    </a:solidFill>
                    <a:effectLst/>
                    <a:latin typeface="Times New Roman" panose="02020603050405020304" pitchFamily="18" charset="0"/>
                    <a:ea typeface="Times New Roman" panose="02020603050405020304" pitchFamily="18" charset="0"/>
                  </a:rPr>
                  <a:t>2</a:t>
                </a:r>
                <a:r>
                  <a:rPr lang="fr-FR" sz="1800" dirty="0">
                    <a:solidFill>
                      <a:srgbClr val="000000"/>
                    </a:solidFill>
                    <a:effectLst/>
                    <a:latin typeface="Times New Roman" panose="02020603050405020304" pitchFamily="18" charset="0"/>
                    <a:ea typeface="Times New Roman" panose="02020603050405020304" pitchFamily="18" charset="0"/>
                  </a:rPr>
                  <a:t> = 0,3303 = 33,03 % ; cela signifie que la variable</a:t>
                </a:r>
                <a:r>
                  <a:rPr lang="fr-FR" sz="1800" i="1" dirty="0">
                    <a:solidFill>
                      <a:srgbClr val="000000"/>
                    </a:solidFill>
                    <a:effectLst/>
                    <a:latin typeface="Times New Roman" panose="02020603050405020304" pitchFamily="18" charset="0"/>
                    <a:ea typeface="Times New Roman" panose="02020603050405020304" pitchFamily="18" charset="0"/>
                  </a:rPr>
                  <a:t> X</a:t>
                </a:r>
                <a:r>
                  <a:rPr lang="fr-FR" sz="1800" dirty="0">
                    <a:solidFill>
                      <a:srgbClr val="000000"/>
                    </a:solidFill>
                    <a:effectLst/>
                    <a:latin typeface="Times New Roman" panose="02020603050405020304" pitchFamily="18" charset="0"/>
                    <a:ea typeface="Times New Roman" panose="02020603050405020304" pitchFamily="18" charset="0"/>
                  </a:rPr>
                  <a:t> (température à midi au mois de juillet à Gatineau) n’explique que 33,03 % des fluctuations de </a:t>
                </a:r>
                <a:r>
                  <a:rPr lang="fr-FR" sz="1800" i="1" dirty="0">
                    <a:solidFill>
                      <a:srgbClr val="000000"/>
                    </a:solidFill>
                    <a:effectLst/>
                    <a:latin typeface="Times New Roman" panose="02020603050405020304" pitchFamily="18" charset="0"/>
                    <a:ea typeface="Times New Roman" panose="02020603050405020304" pitchFamily="18" charset="0"/>
                  </a:rPr>
                  <a:t>Y</a:t>
                </a:r>
                <a:r>
                  <a:rPr lang="fr-FR" sz="1800" dirty="0">
                    <a:solidFill>
                      <a:srgbClr val="000000"/>
                    </a:solidFill>
                    <a:effectLst/>
                    <a:latin typeface="Times New Roman" panose="02020603050405020304" pitchFamily="18" charset="0"/>
                    <a:ea typeface="Times New Roman" panose="02020603050405020304" pitchFamily="18" charset="0"/>
                  </a:rPr>
                  <a:t> (taux d’ozone), ce qui est un faible pourcentage ; le reste est expliqué par d’autres variables.</a:t>
                </a:r>
                <a:endParaRPr lang="fr-CA" sz="1800" dirty="0">
                  <a:solidFill>
                    <a:srgbClr val="000000"/>
                  </a:solidFill>
                  <a:effectLst/>
                  <a:latin typeface="Times New Roman" panose="02020603050405020304" pitchFamily="18" charset="0"/>
                  <a:ea typeface="Times New Roman" panose="02020603050405020304" pitchFamily="18" charset="0"/>
                </a:endParaRPr>
              </a:p>
              <a:p>
                <a:pPr algn="l">
                  <a:lnSpc>
                    <a:spcPct val="200000"/>
                  </a:lnSpc>
                  <a:spcAft>
                    <a:spcPts val="800"/>
                  </a:spcAft>
                </a:pPr>
                <a:r>
                  <a:rPr lang="fr-FR" sz="1800" b="1" dirty="0">
                    <a:solidFill>
                      <a:srgbClr val="000000"/>
                    </a:solidFill>
                    <a:effectLst/>
                    <a:latin typeface="Times New Roman" panose="02020603050405020304" pitchFamily="18" charset="0"/>
                    <a:ea typeface="Times New Roman" panose="02020603050405020304" pitchFamily="18" charset="0"/>
                  </a:rPr>
                  <a:t>Le logiciel R </a:t>
                </a:r>
                <a:r>
                  <a:rPr lang="fr-FR" sz="1800" dirty="0">
                    <a:solidFill>
                      <a:srgbClr val="000000"/>
                    </a:solidFill>
                    <a:effectLst/>
                    <a:latin typeface="Times New Roman" panose="02020603050405020304" pitchFamily="18" charset="0"/>
                    <a:ea typeface="Times New Roman" panose="02020603050405020304" pitchFamily="18" charset="0"/>
                  </a:rPr>
                  <a:t>donne deux types de coefficients de détermination : Le </a:t>
                </a:r>
                <a14:m>
                  <m:oMath xmlns:m="http://schemas.openxmlformats.org/officeDocument/2006/math">
                    <m:sSup>
                      <m:sSupPr>
                        <m:ctrlPr>
                          <a:rPr lang="fr-CA" sz="1800" i="1">
                            <a:solidFill>
                              <a:srgbClr val="000000"/>
                            </a:solidFill>
                            <a:effectLst/>
                            <a:latin typeface="Cambria Math" panose="02040503050406030204" pitchFamily="18" charset="0"/>
                            <a:ea typeface="Times New Roman" panose="02020603050405020304" pitchFamily="18" charset="0"/>
                          </a:rPr>
                        </m:ctrlPr>
                      </m:sSupPr>
                      <m:e>
                        <m:r>
                          <a:rPr lang="fr-FR" sz="1800" i="1">
                            <a:solidFill>
                              <a:srgbClr val="000000"/>
                            </a:solidFill>
                            <a:effectLst/>
                            <a:latin typeface="Cambria Math" panose="02040503050406030204" pitchFamily="18" charset="0"/>
                            <a:ea typeface="Times New Roman" panose="02020603050405020304" pitchFamily="18" charset="0"/>
                          </a:rPr>
                          <m:t>𝑅</m:t>
                        </m:r>
                      </m:e>
                      <m:sup>
                        <m:r>
                          <a:rPr lang="fr-FR" sz="1800" i="1">
                            <a:solidFill>
                              <a:srgbClr val="000000"/>
                            </a:solidFill>
                            <a:effectLst/>
                            <a:latin typeface="Cambria Math" panose="02040503050406030204" pitchFamily="18" charset="0"/>
                            <a:ea typeface="Times New Roman" panose="02020603050405020304" pitchFamily="18" charset="0"/>
                          </a:rPr>
                          <m:t>2</m:t>
                        </m:r>
                      </m:sup>
                    </m:sSup>
                  </m:oMath>
                </a14:m>
                <a:r>
                  <a:rPr lang="fr-FR" sz="1800" dirty="0">
                    <a:solidFill>
                      <a:srgbClr val="000000"/>
                    </a:solidFill>
                    <a:effectLst/>
                    <a:latin typeface="Times New Roman" panose="02020603050405020304" pitchFamily="18" charset="0"/>
                    <a:ea typeface="Times New Roman" panose="02020603050405020304" pitchFamily="18" charset="0"/>
                  </a:rPr>
                  <a:t> classique et le  </a:t>
                </a:r>
                <a14:m>
                  <m:oMath xmlns:m="http://schemas.openxmlformats.org/officeDocument/2006/math">
                    <m:sSup>
                      <m:sSupPr>
                        <m:ctrlPr>
                          <a:rPr lang="fr-CA" sz="1800" i="1">
                            <a:solidFill>
                              <a:srgbClr val="000000"/>
                            </a:solidFill>
                            <a:effectLst/>
                            <a:latin typeface="Cambria Math" panose="02040503050406030204" pitchFamily="18" charset="0"/>
                            <a:ea typeface="Times New Roman" panose="02020603050405020304" pitchFamily="18" charset="0"/>
                          </a:rPr>
                        </m:ctrlPr>
                      </m:sSupPr>
                      <m:e>
                        <m:r>
                          <a:rPr lang="fr-FR" sz="1800" i="1">
                            <a:solidFill>
                              <a:srgbClr val="000000"/>
                            </a:solidFill>
                            <a:effectLst/>
                            <a:latin typeface="Cambria Math" panose="02040503050406030204" pitchFamily="18" charset="0"/>
                            <a:ea typeface="Times New Roman" panose="02020603050405020304" pitchFamily="18" charset="0"/>
                          </a:rPr>
                          <m:t>𝑅</m:t>
                        </m:r>
                      </m:e>
                      <m:sup>
                        <m:r>
                          <a:rPr lang="fr-FR" sz="1800" i="1">
                            <a:solidFill>
                              <a:srgbClr val="000000"/>
                            </a:solidFill>
                            <a:effectLst/>
                            <a:latin typeface="Cambria Math" panose="02040503050406030204" pitchFamily="18" charset="0"/>
                            <a:ea typeface="Times New Roman" panose="02020603050405020304" pitchFamily="18" charset="0"/>
                          </a:rPr>
                          <m:t>2</m:t>
                        </m:r>
                      </m:sup>
                    </m:sSup>
                  </m:oMath>
                </a14:m>
                <a:r>
                  <a:rPr lang="fr-FR" sz="1800" dirty="0">
                    <a:solidFill>
                      <a:srgbClr val="000000"/>
                    </a:solidFill>
                    <a:effectLst/>
                    <a:latin typeface="Times New Roman" panose="02020603050405020304" pitchFamily="18" charset="0"/>
                    <a:ea typeface="Times New Roman" panose="02020603050405020304" pitchFamily="18" charset="0"/>
                  </a:rPr>
                  <a:t> ajusté qui lui dépend   du nombre des observations   </a:t>
                </a:r>
                <a14:m>
                  <m:oMath xmlns:m="http://schemas.openxmlformats.org/officeDocument/2006/math">
                    <m:sSubSup>
                      <m:sSubSupPr>
                        <m:ctrlPr>
                          <a:rPr lang="fr-CA" sz="1800" i="1">
                            <a:solidFill>
                              <a:srgbClr val="000000"/>
                            </a:solidFill>
                            <a:effectLst/>
                            <a:latin typeface="Cambria Math" panose="02040503050406030204" pitchFamily="18" charset="0"/>
                            <a:ea typeface="Times New Roman" panose="02020603050405020304" pitchFamily="18" charset="0"/>
                          </a:rPr>
                        </m:ctrlPr>
                      </m:sSubSupPr>
                      <m:e>
                        <m:r>
                          <a:rPr lang="fr-FR" sz="1800" i="1">
                            <a:solidFill>
                              <a:srgbClr val="000000"/>
                            </a:solidFill>
                            <a:effectLst/>
                            <a:latin typeface="Cambria Math" panose="02040503050406030204" pitchFamily="18" charset="0"/>
                            <a:ea typeface="Times New Roman" panose="02020603050405020304" pitchFamily="18" charset="0"/>
                          </a:rPr>
                          <m:t>𝑅</m:t>
                        </m:r>
                      </m:e>
                      <m:sub>
                        <m:r>
                          <a:rPr lang="fr-FR" sz="1800" i="1">
                            <a:solidFill>
                              <a:srgbClr val="000000"/>
                            </a:solidFill>
                            <a:effectLst/>
                            <a:latin typeface="Cambria Math" panose="02040503050406030204" pitchFamily="18" charset="0"/>
                            <a:ea typeface="Times New Roman" panose="02020603050405020304" pitchFamily="18" charset="0"/>
                          </a:rPr>
                          <m:t>𝑎𝑗𝑢𝑠𝑡</m:t>
                        </m:r>
                        <m:r>
                          <a:rPr lang="fr-FR" sz="1800" i="1">
                            <a:solidFill>
                              <a:srgbClr val="000000"/>
                            </a:solidFill>
                            <a:effectLst/>
                            <a:latin typeface="Cambria Math" panose="02040503050406030204" pitchFamily="18" charset="0"/>
                            <a:ea typeface="Times New Roman" panose="02020603050405020304" pitchFamily="18" charset="0"/>
                          </a:rPr>
                          <m:t>é</m:t>
                        </m:r>
                      </m:sub>
                      <m:sup>
                        <m:r>
                          <a:rPr lang="fr-FR" sz="1800" i="1">
                            <a:solidFill>
                              <a:srgbClr val="000000"/>
                            </a:solidFill>
                            <a:effectLst/>
                            <a:latin typeface="Cambria Math" panose="02040503050406030204" pitchFamily="18" charset="0"/>
                            <a:ea typeface="Times New Roman" panose="02020603050405020304" pitchFamily="18" charset="0"/>
                          </a:rPr>
                          <m:t>2</m:t>
                        </m:r>
                      </m:sup>
                    </m:sSubSup>
                    <m:r>
                      <a:rPr lang="fr-FR" sz="1800" i="1">
                        <a:solidFill>
                          <a:srgbClr val="000000"/>
                        </a:solidFill>
                        <a:effectLst/>
                        <a:latin typeface="Cambria Math" panose="02040503050406030204" pitchFamily="18" charset="0"/>
                        <a:ea typeface="Times New Roman" panose="02020603050405020304" pitchFamily="18" charset="0"/>
                      </a:rPr>
                      <m:t>=1−</m:t>
                    </m:r>
                    <m:f>
                      <m:fPr>
                        <m:ctrlPr>
                          <a:rPr lang="fr-CA" sz="1800" i="1">
                            <a:solidFill>
                              <a:srgbClr val="000000"/>
                            </a:solidFill>
                            <a:effectLst/>
                            <a:latin typeface="Cambria Math" panose="02040503050406030204" pitchFamily="18" charset="0"/>
                            <a:ea typeface="Times New Roman" panose="02020603050405020304" pitchFamily="18" charset="0"/>
                          </a:rPr>
                        </m:ctrlPr>
                      </m:fPr>
                      <m:num>
                        <m:r>
                          <a:rPr lang="fr-FR" sz="1800" i="1">
                            <a:solidFill>
                              <a:srgbClr val="000000"/>
                            </a:solidFill>
                            <a:effectLst/>
                            <a:latin typeface="Cambria Math" panose="02040503050406030204" pitchFamily="18" charset="0"/>
                            <a:ea typeface="Times New Roman" panose="02020603050405020304" pitchFamily="18" charset="0"/>
                          </a:rPr>
                          <m:t>𝑛</m:t>
                        </m:r>
                        <m:r>
                          <a:rPr lang="fr-FR" sz="1800" i="1">
                            <a:solidFill>
                              <a:srgbClr val="000000"/>
                            </a:solidFill>
                            <a:effectLst/>
                            <a:latin typeface="Cambria Math" panose="02040503050406030204" pitchFamily="18" charset="0"/>
                            <a:ea typeface="Times New Roman" panose="02020603050405020304" pitchFamily="18" charset="0"/>
                          </a:rPr>
                          <m:t>−1</m:t>
                        </m:r>
                      </m:num>
                      <m:den>
                        <m:r>
                          <a:rPr lang="fr-FR" sz="1800" i="1">
                            <a:solidFill>
                              <a:srgbClr val="000000"/>
                            </a:solidFill>
                            <a:effectLst/>
                            <a:latin typeface="Cambria Math" panose="02040503050406030204" pitchFamily="18" charset="0"/>
                            <a:ea typeface="Times New Roman" panose="02020603050405020304" pitchFamily="18" charset="0"/>
                          </a:rPr>
                          <m:t>𝑛</m:t>
                        </m:r>
                        <m:r>
                          <a:rPr lang="fr-FR" sz="1800" i="1">
                            <a:solidFill>
                              <a:srgbClr val="000000"/>
                            </a:solidFill>
                            <a:effectLst/>
                            <a:latin typeface="Cambria Math" panose="02040503050406030204" pitchFamily="18" charset="0"/>
                            <a:ea typeface="Times New Roman" panose="02020603050405020304" pitchFamily="18" charset="0"/>
                          </a:rPr>
                          <m:t>−2</m:t>
                        </m:r>
                      </m:den>
                    </m:f>
                    <m:sSup>
                      <m:sSupPr>
                        <m:ctrlPr>
                          <a:rPr lang="fr-CA" sz="1800" i="1">
                            <a:solidFill>
                              <a:srgbClr val="000000"/>
                            </a:solidFill>
                            <a:effectLst/>
                            <a:latin typeface="Cambria Math" panose="02040503050406030204" pitchFamily="18" charset="0"/>
                            <a:ea typeface="Times New Roman" panose="02020603050405020304" pitchFamily="18" charset="0"/>
                          </a:rPr>
                        </m:ctrlPr>
                      </m:sSupPr>
                      <m:e>
                        <m:r>
                          <a:rPr lang="fr-FR" sz="1800" i="1">
                            <a:solidFill>
                              <a:srgbClr val="000000"/>
                            </a:solidFill>
                            <a:effectLst/>
                            <a:latin typeface="Cambria Math" panose="02040503050406030204" pitchFamily="18" charset="0"/>
                            <a:ea typeface="Times New Roman" panose="02020603050405020304" pitchFamily="18" charset="0"/>
                          </a:rPr>
                          <m:t>𝑅</m:t>
                        </m:r>
                      </m:e>
                      <m:sup>
                        <m:r>
                          <a:rPr lang="fr-FR" sz="1800" i="1">
                            <a:solidFill>
                              <a:srgbClr val="000000"/>
                            </a:solidFill>
                            <a:effectLst/>
                            <a:latin typeface="Cambria Math" panose="02040503050406030204" pitchFamily="18" charset="0"/>
                            <a:ea typeface="Times New Roman" panose="02020603050405020304" pitchFamily="18" charset="0"/>
                          </a:rPr>
                          <m:t>2</m:t>
                        </m:r>
                      </m:sup>
                    </m:sSup>
                    <m:r>
                      <a:rPr lang="fr-FR" sz="1800" i="1">
                        <a:solidFill>
                          <a:srgbClr val="000000"/>
                        </a:solidFill>
                        <a:effectLst/>
                        <a:latin typeface="Cambria Math" panose="02040503050406030204" pitchFamily="18" charset="0"/>
                        <a:ea typeface="Times New Roman" panose="02020603050405020304" pitchFamily="18" charset="0"/>
                      </a:rPr>
                      <m:t> </m:t>
                    </m:r>
                  </m:oMath>
                </a14:m>
                <a:r>
                  <a:rPr lang="fr-FR" sz="1800" dirty="0">
                    <a:solidFill>
                      <a:srgbClr val="000000"/>
                    </a:solidFill>
                    <a:effectLst/>
                    <a:latin typeface="Times New Roman" panose="02020603050405020304" pitchFamily="18" charset="0"/>
                    <a:ea typeface="Times New Roman" panose="02020603050405020304" pitchFamily="18" charset="0"/>
                  </a:rPr>
                  <a:t>avec  </a:t>
                </a:r>
                <a14:m>
                  <m:oMath xmlns:m="http://schemas.openxmlformats.org/officeDocument/2006/math">
                    <m:r>
                      <a:rPr lang="fr-FR" sz="1800" i="1">
                        <a:solidFill>
                          <a:srgbClr val="000000"/>
                        </a:solidFill>
                        <a:effectLst/>
                        <a:latin typeface="Cambria Math" panose="02040503050406030204" pitchFamily="18" charset="0"/>
                        <a:ea typeface="Times New Roman" panose="02020603050405020304" pitchFamily="18" charset="0"/>
                      </a:rPr>
                      <m:t>𝑛</m:t>
                    </m:r>
                    <m:r>
                      <a:rPr lang="fr-FR" sz="1800" i="1">
                        <a:solidFill>
                          <a:srgbClr val="000000"/>
                        </a:solidFill>
                        <a:effectLst/>
                        <a:latin typeface="Cambria Math" panose="02040503050406030204" pitchFamily="18" charset="0"/>
                        <a:ea typeface="Times New Roman" panose="02020603050405020304" pitchFamily="18" charset="0"/>
                      </a:rPr>
                      <m:t>:</m:t>
                    </m:r>
                  </m:oMath>
                </a14:m>
                <a:r>
                  <a:rPr lang="fr-FR" sz="1800" dirty="0">
                    <a:solidFill>
                      <a:srgbClr val="000000"/>
                    </a:solidFill>
                    <a:effectLst/>
                    <a:latin typeface="Times New Roman" panose="02020603050405020304" pitchFamily="18" charset="0"/>
                    <a:ea typeface="Times New Roman" panose="02020603050405020304" pitchFamily="18" charset="0"/>
                  </a:rPr>
                  <a:t> le nombre d’observations </a:t>
                </a:r>
                <a:r>
                  <a:rPr lang="fr-FR" dirty="0">
                    <a:solidFill>
                      <a:srgbClr val="000000"/>
                    </a:solidFill>
                    <a:latin typeface="Times New Roman" panose="02020603050405020304" pitchFamily="18" charset="0"/>
                    <a:ea typeface="Times New Roman" panose="02020603050405020304" pitchFamily="18" charset="0"/>
                  </a:rPr>
                  <a:t>.</a:t>
                </a:r>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p>
            </p:txBody>
          </p:sp>
        </mc:Choice>
        <mc:Fallback xmlns="">
          <p:sp>
            <p:nvSpPr>
              <p:cNvPr id="5" name="ZoneTexte 4">
                <a:extLst>
                  <a:ext uri="{FF2B5EF4-FFF2-40B4-BE49-F238E27FC236}">
                    <a16:creationId xmlns:a16="http://schemas.microsoft.com/office/drawing/2014/main" id="{46FDBD07-45DC-44B6-A978-5E10E6A7175D}"/>
                  </a:ext>
                </a:extLst>
              </p:cNvPr>
              <p:cNvSpPr txBox="1">
                <a:spLocks noRot="1" noChangeAspect="1" noMove="1" noResize="1" noEditPoints="1" noAdjustHandles="1" noChangeArrowheads="1" noChangeShapeType="1" noTextEdit="1"/>
              </p:cNvSpPr>
              <p:nvPr/>
            </p:nvSpPr>
            <p:spPr>
              <a:xfrm>
                <a:off x="605118" y="1690688"/>
                <a:ext cx="11053482" cy="4406719"/>
              </a:xfrm>
              <a:prstGeom prst="rect">
                <a:avLst/>
              </a:prstGeom>
              <a:blipFill>
                <a:blip r:embed="rId2"/>
                <a:stretch>
                  <a:fillRect l="-441" t="-692" r="-110"/>
                </a:stretch>
              </a:blipFill>
            </p:spPr>
            <p:txBody>
              <a:bodyPr/>
              <a:lstStyle/>
              <a:p>
                <a:r>
                  <a:rPr lang="fr-CA">
                    <a:noFill/>
                  </a:rPr>
                  <a:t> </a:t>
                </a:r>
              </a:p>
            </p:txBody>
          </p:sp>
        </mc:Fallback>
      </mc:AlternateContent>
    </p:spTree>
    <p:extLst>
      <p:ext uri="{BB962C8B-B14F-4D97-AF65-F5344CB8AC3E}">
        <p14:creationId xmlns:p14="http://schemas.microsoft.com/office/powerpoint/2010/main" val="1967051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DAC298-7277-4300-A4CB-85E3EE4479A8}"/>
              </a:ext>
            </a:extLst>
          </p:cNvPr>
          <p:cNvSpPr>
            <a:spLocks noGrp="1"/>
          </p:cNvSpPr>
          <p:nvPr>
            <p:ph type="title"/>
          </p:nvPr>
        </p:nvSpPr>
        <p:spPr/>
        <p:txBody>
          <a:bodyPr>
            <a:normAutofit/>
          </a:bodyPr>
          <a:lstStyle/>
          <a:p>
            <a:r>
              <a:rPr lang="fr-FR" sz="3600" b="1" dirty="0">
                <a:solidFill>
                  <a:srgbClr val="000000"/>
                </a:solidFill>
                <a:effectLst/>
                <a:latin typeface="Times New Roman" panose="02020603050405020304" pitchFamily="18" charset="0"/>
                <a:ea typeface="Times New Roman" panose="02020603050405020304" pitchFamily="18" charset="0"/>
              </a:rPr>
              <a:t>La valeur P de l’ajustement</a:t>
            </a:r>
            <a:endParaRPr lang="fr-CA" sz="3600" b="1" dirty="0"/>
          </a:p>
        </p:txBody>
      </p:sp>
      <p:sp>
        <p:nvSpPr>
          <p:cNvPr id="3" name="Espace réservé du pied de page 2">
            <a:extLst>
              <a:ext uri="{FF2B5EF4-FFF2-40B4-BE49-F238E27FC236}">
                <a16:creationId xmlns:a16="http://schemas.microsoft.com/office/drawing/2014/main" id="{A6D4BEE1-F852-4F87-84FB-DDFD0E75F831}"/>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1C77F1FE-6EDC-4115-AD49-0E71899DAF57}"/>
              </a:ext>
            </a:extLst>
          </p:cNvPr>
          <p:cNvSpPr>
            <a:spLocks noGrp="1"/>
          </p:cNvSpPr>
          <p:nvPr>
            <p:ph type="sldNum" sz="quarter" idx="12"/>
          </p:nvPr>
        </p:nvSpPr>
        <p:spPr/>
        <p:txBody>
          <a:bodyPr/>
          <a:lstStyle/>
          <a:p>
            <a:fld id="{26377AD9-CE17-438C-A638-C64D2D42D7CF}" type="slidenum">
              <a:rPr lang="fr-CA" smtClean="0"/>
              <a:t>6</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DDE29366-CAEE-4E19-9106-A143064FB352}"/>
                  </a:ext>
                </a:extLst>
              </p:cNvPr>
              <p:cNvSpPr txBox="1"/>
              <p:nvPr/>
            </p:nvSpPr>
            <p:spPr>
              <a:xfrm>
                <a:off x="838199" y="1223682"/>
                <a:ext cx="10672483" cy="6034985"/>
              </a:xfrm>
              <a:prstGeom prst="rect">
                <a:avLst/>
              </a:prstGeom>
              <a:noFill/>
            </p:spPr>
            <p:txBody>
              <a:bodyPr wrap="square" rtlCol="0">
                <a:spAutoFit/>
              </a:bodyPr>
              <a:lstStyle/>
              <a:p>
                <a:pPr>
                  <a:lnSpc>
                    <a:spcPct val="200000"/>
                  </a:lnSpc>
                  <a:spcBef>
                    <a:spcPts val="1800"/>
                  </a:spcBef>
                  <a:spcAft>
                    <a:spcPts val="900"/>
                  </a:spcAft>
                </a:pPr>
                <a:r>
                  <a:rPr lang="fr-FR" sz="1800" b="0" spc="0" dirty="0">
                    <a:solidFill>
                      <a:srgbClr val="000000"/>
                    </a:solidFill>
                    <a:effectLst/>
                    <a:latin typeface="Times New Roman" panose="02020603050405020304" pitchFamily="18" charset="0"/>
                    <a:ea typeface="Times New Roman" panose="02020603050405020304" pitchFamily="18" charset="0"/>
                    <a:cs typeface="Helvetica Neue LT Std 77 Bold C"/>
                  </a:rPr>
                  <a:t>Lorsqu’on utilise un logiciel statistique pour traiter une régression linéaire simple, celui-ci affiche pleins d’informations. Parmi celles-ci, on trouve la valeur P de l’ajustement linéaire. Qui permet  de tester l’hypothèse suivante sur la pente de la droite de régression : </a:t>
                </a:r>
                <a:endParaRPr lang="fr-CA" sz="1800" b="1" spc="15" dirty="0">
                  <a:solidFill>
                    <a:srgbClr val="000000"/>
                  </a:solidFill>
                  <a:effectLst/>
                  <a:latin typeface="Helvetica Neue LT Std 77 Bold C"/>
                  <a:ea typeface="Times New Roman" panose="02020603050405020304" pitchFamily="18" charset="0"/>
                  <a:cs typeface="Helvetica Neue LT Std 77 Bold C"/>
                </a:endParaRPr>
              </a:p>
              <a:p>
                <a:pPr>
                  <a:lnSpc>
                    <a:spcPct val="200000"/>
                  </a:lnSpc>
                  <a:spcBef>
                    <a:spcPts val="1800"/>
                  </a:spcBef>
                  <a:spcAft>
                    <a:spcPts val="900"/>
                  </a:spcAft>
                </a:pPr>
                <a14:m>
                  <m:oMathPara xmlns:m="http://schemas.openxmlformats.org/officeDocument/2006/math">
                    <m:oMathParaPr>
                      <m:jc m:val="centerGroup"/>
                    </m:oMathParaPr>
                    <m:oMath xmlns:m="http://schemas.openxmlformats.org/officeDocument/2006/math">
                      <m:sSub>
                        <m:sSubPr>
                          <m:ctrlPr>
                            <a:rPr lang="fr-CA" sz="1800" b="0" i="1" spc="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b="1" i="1" spc="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𝑯</m:t>
                          </m:r>
                        </m:e>
                        <m:sub>
                          <m:r>
                            <a:rPr lang="fr-FR" sz="1800" b="1" i="1" spc="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𝟎</m:t>
                          </m:r>
                        </m:sub>
                      </m:sSub>
                      <m:r>
                        <a:rPr lang="fr-FR" sz="1800" b="1" i="1" spc="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b="1" i="1" spc="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𝜷</m:t>
                      </m:r>
                      <m:r>
                        <a:rPr lang="fr-FR" sz="1800" b="1" i="1" spc="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b="1" i="1" spc="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𝟎</m:t>
                      </m:r>
                      <m:r>
                        <a:rPr lang="fr-FR" sz="1800" b="1" i="1" spc="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fr-FR" sz="1800" b="1" i="1" spc="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𝒄𝒐𝒏𝒕𝒓𝒆</m:t>
                      </m:r>
                      <m:r>
                        <a:rPr lang="fr-FR" sz="1800" b="1" i="1" spc="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fr-CA" sz="1800" b="0" i="1" spc="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b="1" i="1" spc="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𝑯</m:t>
                          </m:r>
                        </m:e>
                        <m:sub>
                          <m:r>
                            <a:rPr lang="fr-FR" sz="1800" b="1" i="1" spc="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m:t>
                          </m:r>
                        </m:sub>
                      </m:sSub>
                      <m:r>
                        <a:rPr lang="fr-FR" sz="1800" b="1" i="1" spc="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b="1" i="1" spc="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𝜷</m:t>
                      </m:r>
                      <m:r>
                        <a:rPr lang="fr-FR" sz="1800" b="1" i="1" spc="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1800" b="1" i="1" spc="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𝟎</m:t>
                      </m:r>
                    </m:oMath>
                  </m:oMathPara>
                </a14:m>
                <a:endParaRPr lang="fr-CA" sz="1800" b="1" spc="15" dirty="0">
                  <a:solidFill>
                    <a:srgbClr val="000000"/>
                  </a:solidFill>
                  <a:effectLst/>
                  <a:latin typeface="Helvetica Neue LT Std 77 Bold C"/>
                  <a:ea typeface="Times New Roman" panose="02020603050405020304" pitchFamily="18" charset="0"/>
                  <a:cs typeface="Helvetica Neue LT Std 77 Bold C"/>
                </a:endParaRPr>
              </a:p>
              <a:p>
                <a:pPr>
                  <a:lnSpc>
                    <a:spcPct val="200000"/>
                  </a:lnSpc>
                  <a:spcBef>
                    <a:spcPts val="1800"/>
                  </a:spcBef>
                  <a:spcAft>
                    <a:spcPts val="900"/>
                  </a:spcAft>
                </a:pPr>
                <a:r>
                  <a:rPr lang="fr-FR" sz="1800" b="0" spc="0" dirty="0">
                    <a:solidFill>
                      <a:srgbClr val="000000"/>
                    </a:solidFill>
                    <a:effectLst/>
                    <a:latin typeface="Times New Roman" panose="02020603050405020304" pitchFamily="18" charset="0"/>
                    <a:ea typeface="Times New Roman" panose="02020603050405020304" pitchFamily="18" charset="0"/>
                    <a:cs typeface="Helvetica Neue LT Std 77 Bold C"/>
                  </a:rPr>
                  <a:t>Ce qui revient à tester, si la modélisation par une droite linéaire est pertinente ou pas. Si cette valeur P est inférieure au seuil de signification utilisé, cela signifie que le modèle est robuste et qu’on peut alors l’utiliser à des fins d’estimation et de prévision.</a:t>
                </a:r>
                <a:endParaRPr lang="fr-CA" sz="1800" b="1" spc="15" dirty="0">
                  <a:solidFill>
                    <a:srgbClr val="000000"/>
                  </a:solidFill>
                  <a:effectLst/>
                  <a:latin typeface="Helvetica Neue LT Std 77 Bold C"/>
                  <a:ea typeface="Times New Roman" panose="02020603050405020304" pitchFamily="18" charset="0"/>
                  <a:cs typeface="Helvetica Neue LT Std 77 Bold C"/>
                </a:endParaRPr>
              </a:p>
              <a:p>
                <a:pPr algn="l">
                  <a:lnSpc>
                    <a:spcPct val="200000"/>
                  </a:lnSpc>
                  <a:spcAft>
                    <a:spcPts val="800"/>
                  </a:spcAft>
                </a:pPr>
                <a:r>
                  <a:rPr lang="fr-CA" sz="1800" dirty="0">
                    <a:solidFill>
                      <a:srgbClr val="000000"/>
                    </a:solidFill>
                    <a:effectLst/>
                    <a:latin typeface="Times New Roman" panose="02020603050405020304" pitchFamily="18" charset="0"/>
                    <a:ea typeface="Times New Roman" panose="02020603050405020304" pitchFamily="18" charset="0"/>
                  </a:rPr>
                  <a:t>En l’appliquant sur les données de l’exemple </a:t>
                </a:r>
                <a:r>
                  <a:rPr lang="fr-CA" dirty="0">
                    <a:solidFill>
                      <a:srgbClr val="000000"/>
                    </a:solidFill>
                    <a:latin typeface="Times New Roman" panose="02020603050405020304" pitchFamily="18" charset="0"/>
                    <a:ea typeface="Times New Roman" panose="02020603050405020304" pitchFamily="18" charset="0"/>
                  </a:rPr>
                  <a:t>précédent</a:t>
                </a:r>
                <a:r>
                  <a:rPr lang="fr-CA" sz="1800" dirty="0">
                    <a:solidFill>
                      <a:srgbClr val="000000"/>
                    </a:solidFill>
                    <a:effectLst/>
                    <a:latin typeface="Times New Roman" panose="02020603050405020304" pitchFamily="18" charset="0"/>
                    <a:ea typeface="Times New Roman" panose="02020603050405020304" pitchFamily="18" charset="0"/>
                  </a:rPr>
                  <a:t>, on obtient comme sortie de R, les informations suivantes :</a:t>
                </a:r>
              </a:p>
              <a:p>
                <a:endParaRPr lang="fr-CA" dirty="0"/>
              </a:p>
            </p:txBody>
          </p:sp>
        </mc:Choice>
        <mc:Fallback xmlns="">
          <p:sp>
            <p:nvSpPr>
              <p:cNvPr id="5" name="ZoneTexte 4">
                <a:extLst>
                  <a:ext uri="{FF2B5EF4-FFF2-40B4-BE49-F238E27FC236}">
                    <a16:creationId xmlns:a16="http://schemas.microsoft.com/office/drawing/2014/main" id="{DDE29366-CAEE-4E19-9106-A143064FB352}"/>
                  </a:ext>
                </a:extLst>
              </p:cNvPr>
              <p:cNvSpPr txBox="1">
                <a:spLocks noRot="1" noChangeAspect="1" noMove="1" noResize="1" noEditPoints="1" noAdjustHandles="1" noChangeArrowheads="1" noChangeShapeType="1" noTextEdit="1"/>
              </p:cNvSpPr>
              <p:nvPr/>
            </p:nvSpPr>
            <p:spPr>
              <a:xfrm>
                <a:off x="838199" y="1223682"/>
                <a:ext cx="10672483" cy="6034985"/>
              </a:xfrm>
              <a:prstGeom prst="rect">
                <a:avLst/>
              </a:prstGeom>
              <a:blipFill>
                <a:blip r:embed="rId2"/>
                <a:stretch>
                  <a:fillRect l="-457" r="-800"/>
                </a:stretch>
              </a:blipFill>
            </p:spPr>
            <p:txBody>
              <a:bodyPr/>
              <a:lstStyle/>
              <a:p>
                <a:r>
                  <a:rPr lang="fr-CA">
                    <a:noFill/>
                  </a:rPr>
                  <a:t> </a:t>
                </a:r>
              </a:p>
            </p:txBody>
          </p:sp>
        </mc:Fallback>
      </mc:AlternateContent>
    </p:spTree>
    <p:extLst>
      <p:ext uri="{BB962C8B-B14F-4D97-AF65-F5344CB8AC3E}">
        <p14:creationId xmlns:p14="http://schemas.microsoft.com/office/powerpoint/2010/main" val="883323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9F01E572-AFAC-4007-BA2F-30D0A0E88CDC}"/>
              </a:ext>
            </a:extLst>
          </p:cNvPr>
          <p:cNvSpPr>
            <a:spLocks noGrp="1"/>
          </p:cNvSpPr>
          <p:nvPr>
            <p:ph type="ftr" sz="quarter" idx="11"/>
          </p:nvPr>
        </p:nvSpPr>
        <p:spPr/>
        <p:txBody>
          <a:bodyPr/>
          <a:lstStyle/>
          <a:p>
            <a:endParaRPr lang="fr-CA"/>
          </a:p>
        </p:txBody>
      </p:sp>
      <p:sp>
        <p:nvSpPr>
          <p:cNvPr id="3" name="Espace réservé du numéro de diapositive 2">
            <a:extLst>
              <a:ext uri="{FF2B5EF4-FFF2-40B4-BE49-F238E27FC236}">
                <a16:creationId xmlns:a16="http://schemas.microsoft.com/office/drawing/2014/main" id="{3D810CB1-E02F-4019-85A3-63AF312D79A3}"/>
              </a:ext>
            </a:extLst>
          </p:cNvPr>
          <p:cNvSpPr>
            <a:spLocks noGrp="1"/>
          </p:cNvSpPr>
          <p:nvPr>
            <p:ph type="sldNum" sz="quarter" idx="12"/>
          </p:nvPr>
        </p:nvSpPr>
        <p:spPr/>
        <p:txBody>
          <a:bodyPr/>
          <a:lstStyle/>
          <a:p>
            <a:fld id="{26377AD9-CE17-438C-A638-C64D2D42D7CF}" type="slidenum">
              <a:rPr lang="fr-CA" smtClean="0"/>
              <a:t>7</a:t>
            </a:fld>
            <a:endParaRPr lang="fr-CA"/>
          </a:p>
        </p:txBody>
      </p:sp>
      <p:sp>
        <p:nvSpPr>
          <p:cNvPr id="4" name="ZoneTexte 3">
            <a:extLst>
              <a:ext uri="{FF2B5EF4-FFF2-40B4-BE49-F238E27FC236}">
                <a16:creationId xmlns:a16="http://schemas.microsoft.com/office/drawing/2014/main" id="{897BC3D6-B088-43BC-9506-13183FF76172}"/>
              </a:ext>
            </a:extLst>
          </p:cNvPr>
          <p:cNvSpPr txBox="1"/>
          <p:nvPr/>
        </p:nvSpPr>
        <p:spPr>
          <a:xfrm>
            <a:off x="726141" y="779929"/>
            <a:ext cx="10999694" cy="6176050"/>
          </a:xfrm>
          <a:prstGeom prst="rect">
            <a:avLst/>
          </a:prstGeom>
          <a:noFill/>
        </p:spPr>
        <p:txBody>
          <a:bodyPr wrap="square" rtlCol="0">
            <a:spAutoFit/>
          </a:bodyPr>
          <a:lstStyle/>
          <a:p>
            <a:pPr algn="just">
              <a:lnSpc>
                <a:spcPct val="200000"/>
              </a:lnSpc>
              <a:spcAft>
                <a:spcPts val="800"/>
              </a:spcAft>
            </a:pPr>
            <a:r>
              <a:rPr lang="en-CA" sz="1800" dirty="0">
                <a:solidFill>
                  <a:srgbClr val="000000"/>
                </a:solidFill>
                <a:effectLst/>
                <a:latin typeface="Times New Roman" panose="02020603050405020304" pitchFamily="18" charset="0"/>
                <a:ea typeface="Times New Roman" panose="02020603050405020304" pitchFamily="18" charset="0"/>
              </a:rPr>
              <a:t>Coefficients:</a:t>
            </a:r>
            <a:endParaRPr lang="fr-CA" sz="1800" dirty="0">
              <a:solidFill>
                <a:srgbClr val="000000"/>
              </a:solidFill>
              <a:effectLst/>
              <a:latin typeface="Times New Roman" panose="02020603050405020304" pitchFamily="18" charset="0"/>
              <a:ea typeface="Times New Roman" panose="02020603050405020304" pitchFamily="18" charset="0"/>
            </a:endParaRPr>
          </a:p>
          <a:p>
            <a:pPr algn="just">
              <a:lnSpc>
                <a:spcPct val="200000"/>
              </a:lnSpc>
              <a:spcAft>
                <a:spcPts val="800"/>
              </a:spcAft>
            </a:pPr>
            <a:r>
              <a:rPr lang="en-CA" sz="1800" dirty="0">
                <a:solidFill>
                  <a:srgbClr val="000000"/>
                </a:solidFill>
                <a:effectLst/>
                <a:latin typeface="Times New Roman" panose="02020603050405020304" pitchFamily="18" charset="0"/>
                <a:ea typeface="Times New Roman" panose="02020603050405020304" pitchFamily="18" charset="0"/>
              </a:rPr>
              <a:t>                  Estimate    Std. Error   t value  </a:t>
            </a:r>
            <a:r>
              <a:rPr lang="en-CA" sz="1800" dirty="0" err="1">
                <a:solidFill>
                  <a:srgbClr val="000000"/>
                </a:solidFill>
                <a:effectLst/>
                <a:latin typeface="Times New Roman" panose="02020603050405020304" pitchFamily="18" charset="0"/>
                <a:ea typeface="Times New Roman" panose="02020603050405020304" pitchFamily="18" charset="0"/>
              </a:rPr>
              <a:t>Pr</a:t>
            </a:r>
            <a:r>
              <a:rPr lang="en-CA" sz="1800" dirty="0">
                <a:solidFill>
                  <a:srgbClr val="000000"/>
                </a:solidFill>
                <a:effectLst/>
                <a:latin typeface="Times New Roman" panose="02020603050405020304" pitchFamily="18" charset="0"/>
                <a:ea typeface="Times New Roman" panose="02020603050405020304" pitchFamily="18" charset="0"/>
              </a:rPr>
              <a:t>(&gt;|t|)  </a:t>
            </a:r>
            <a:endParaRPr lang="fr-CA" sz="1800" dirty="0">
              <a:solidFill>
                <a:srgbClr val="000000"/>
              </a:solidFill>
              <a:effectLst/>
              <a:latin typeface="Times New Roman" panose="02020603050405020304" pitchFamily="18" charset="0"/>
              <a:ea typeface="Times New Roman" panose="02020603050405020304" pitchFamily="18" charset="0"/>
            </a:endParaRPr>
          </a:p>
          <a:p>
            <a:pPr algn="just">
              <a:lnSpc>
                <a:spcPct val="200000"/>
              </a:lnSpc>
              <a:spcAft>
                <a:spcPts val="800"/>
              </a:spcAft>
            </a:pPr>
            <a:r>
              <a:rPr lang="en-CA" sz="1800" dirty="0">
                <a:solidFill>
                  <a:srgbClr val="000000"/>
                </a:solidFill>
                <a:effectLst/>
                <a:latin typeface="Times New Roman" panose="02020603050405020304" pitchFamily="18" charset="0"/>
                <a:ea typeface="Times New Roman" panose="02020603050405020304" pitchFamily="18" charset="0"/>
              </a:rPr>
              <a:t>(Intercept)  69.4566    20.7173      3.353   0.0100 *</a:t>
            </a:r>
            <a:endParaRPr lang="fr-CA" sz="1800" dirty="0">
              <a:solidFill>
                <a:srgbClr val="000000"/>
              </a:solidFill>
              <a:effectLst/>
              <a:latin typeface="Times New Roman" panose="02020603050405020304" pitchFamily="18" charset="0"/>
              <a:ea typeface="Times New Roman" panose="02020603050405020304" pitchFamily="18" charset="0"/>
            </a:endParaRPr>
          </a:p>
          <a:p>
            <a:pPr algn="just">
              <a:lnSpc>
                <a:spcPct val="200000"/>
              </a:lnSpc>
              <a:spcAft>
                <a:spcPts val="800"/>
              </a:spcAft>
            </a:pPr>
            <a:r>
              <a:rPr lang="en-CA" sz="1800" dirty="0">
                <a:solidFill>
                  <a:srgbClr val="000000"/>
                </a:solidFill>
                <a:effectLst/>
                <a:latin typeface="Times New Roman" panose="02020603050405020304" pitchFamily="18" charset="0"/>
                <a:ea typeface="Times New Roman" panose="02020603050405020304" pitchFamily="18" charset="0"/>
              </a:rPr>
              <a:t>x                  1.5939     0.8024        1.986   0.0822 </a:t>
            </a:r>
            <a:endParaRPr lang="fr-CA" sz="1800" dirty="0">
              <a:solidFill>
                <a:srgbClr val="000000"/>
              </a:solidFill>
              <a:effectLst/>
              <a:latin typeface="Times New Roman" panose="02020603050405020304" pitchFamily="18" charset="0"/>
              <a:ea typeface="Times New Roman" panose="02020603050405020304" pitchFamily="18" charset="0"/>
            </a:endParaRPr>
          </a:p>
          <a:p>
            <a:pPr algn="just">
              <a:lnSpc>
                <a:spcPct val="200000"/>
              </a:lnSpc>
              <a:spcAft>
                <a:spcPts val="800"/>
              </a:spcAft>
            </a:pPr>
            <a:r>
              <a:rPr lang="en-CA" sz="1800" dirty="0">
                <a:solidFill>
                  <a:srgbClr val="000000"/>
                </a:solidFill>
                <a:effectLst/>
                <a:latin typeface="Times New Roman" panose="02020603050405020304" pitchFamily="18" charset="0"/>
                <a:ea typeface="Times New Roman" panose="02020603050405020304" pitchFamily="18" charset="0"/>
              </a:rPr>
              <a:t>Residual standard error: 17.41 on 8 degrees of freedom</a:t>
            </a:r>
            <a:endParaRPr lang="fr-CA" sz="1800" dirty="0">
              <a:solidFill>
                <a:srgbClr val="000000"/>
              </a:solidFill>
              <a:effectLst/>
              <a:latin typeface="Times New Roman" panose="02020603050405020304" pitchFamily="18" charset="0"/>
              <a:ea typeface="Times New Roman" panose="02020603050405020304" pitchFamily="18" charset="0"/>
            </a:endParaRPr>
          </a:p>
          <a:p>
            <a:pPr algn="just">
              <a:lnSpc>
                <a:spcPct val="200000"/>
              </a:lnSpc>
              <a:spcAft>
                <a:spcPts val="800"/>
              </a:spcAft>
            </a:pPr>
            <a:r>
              <a:rPr lang="en-CA" sz="1800" dirty="0">
                <a:solidFill>
                  <a:srgbClr val="000000"/>
                </a:solidFill>
                <a:effectLst/>
                <a:latin typeface="Times New Roman" panose="02020603050405020304" pitchFamily="18" charset="0"/>
                <a:ea typeface="Times New Roman" panose="02020603050405020304" pitchFamily="18" charset="0"/>
              </a:rPr>
              <a:t>Multiple R-squared:  0.3303,    Adjusted R-squared:  0.2466 </a:t>
            </a:r>
            <a:endParaRPr lang="fr-CA" sz="1800" dirty="0">
              <a:solidFill>
                <a:srgbClr val="000000"/>
              </a:solidFill>
              <a:effectLst/>
              <a:latin typeface="Times New Roman" panose="02020603050405020304" pitchFamily="18" charset="0"/>
              <a:ea typeface="Times New Roman" panose="02020603050405020304" pitchFamily="18" charset="0"/>
            </a:endParaRPr>
          </a:p>
          <a:p>
            <a:pPr algn="just">
              <a:lnSpc>
                <a:spcPct val="200000"/>
              </a:lnSpc>
              <a:spcAft>
                <a:spcPts val="800"/>
              </a:spcAft>
            </a:pPr>
            <a:r>
              <a:rPr lang="en-CA" sz="1800" dirty="0">
                <a:solidFill>
                  <a:srgbClr val="000000"/>
                </a:solidFill>
                <a:effectLst/>
                <a:latin typeface="Times New Roman" panose="02020603050405020304" pitchFamily="18" charset="0"/>
                <a:ea typeface="Times New Roman" panose="02020603050405020304" pitchFamily="18" charset="0"/>
              </a:rPr>
              <a:t>F-statistic: 3.946 on 1 and 8 DF,     </a:t>
            </a:r>
            <a:r>
              <a:rPr lang="en-CA" sz="1800" b="1" dirty="0">
                <a:solidFill>
                  <a:srgbClr val="FF0000"/>
                </a:solidFill>
                <a:effectLst/>
                <a:latin typeface="Times New Roman" panose="02020603050405020304" pitchFamily="18" charset="0"/>
                <a:ea typeface="Times New Roman" panose="02020603050405020304" pitchFamily="18" charset="0"/>
              </a:rPr>
              <a:t>p-value: 0.08223</a:t>
            </a:r>
            <a:endParaRPr lang="fr-CA" sz="1800" dirty="0">
              <a:solidFill>
                <a:srgbClr val="000000"/>
              </a:solidFill>
              <a:effectLst/>
              <a:latin typeface="Times New Roman" panose="02020603050405020304" pitchFamily="18" charset="0"/>
              <a:ea typeface="Times New Roman" panose="02020603050405020304" pitchFamily="18" charset="0"/>
            </a:endParaRPr>
          </a:p>
          <a:p>
            <a:pPr algn="l">
              <a:lnSpc>
                <a:spcPct val="200000"/>
              </a:lnSpc>
              <a:spcAft>
                <a:spcPts val="800"/>
              </a:spcAft>
            </a:pPr>
            <a:r>
              <a:rPr lang="fr-CA" sz="1800" dirty="0">
                <a:solidFill>
                  <a:srgbClr val="000000"/>
                </a:solidFill>
                <a:effectLst/>
                <a:latin typeface="Times New Roman" panose="02020603050405020304" pitchFamily="18" charset="0"/>
                <a:ea typeface="Times New Roman" panose="02020603050405020304" pitchFamily="18" charset="0"/>
              </a:rPr>
              <a:t>Une valeur P égale à 0,08223, ce qui veut dire que la régression linéaire entre les deux variables est significative si on peut tolérer un seuil de signification de 8,5% et plus.</a:t>
            </a:r>
          </a:p>
          <a:p>
            <a:endParaRPr lang="fr-CA" dirty="0"/>
          </a:p>
        </p:txBody>
      </p:sp>
    </p:spTree>
    <p:extLst>
      <p:ext uri="{BB962C8B-B14F-4D97-AF65-F5344CB8AC3E}">
        <p14:creationId xmlns:p14="http://schemas.microsoft.com/office/powerpoint/2010/main" val="3363722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49D5B0-662B-4A5C-A9B0-31942AB74031}"/>
              </a:ext>
            </a:extLst>
          </p:cNvPr>
          <p:cNvSpPr>
            <a:spLocks noGrp="1"/>
          </p:cNvSpPr>
          <p:nvPr>
            <p:ph type="title"/>
          </p:nvPr>
        </p:nvSpPr>
        <p:spPr/>
        <p:txBody>
          <a:bodyPr/>
          <a:lstStyle/>
          <a:p>
            <a:r>
              <a:rPr lang="fr-FR" sz="2400" b="1" spc="0" dirty="0">
                <a:solidFill>
                  <a:srgbClr val="000000"/>
                </a:solidFill>
                <a:effectLst/>
                <a:latin typeface="Times New Roman" panose="02020603050405020304" pitchFamily="18" charset="0"/>
                <a:ea typeface="Times New Roman" panose="02020603050405020304" pitchFamily="18" charset="0"/>
                <a:cs typeface="Helvetica Neue LT Std 77 Bold C"/>
              </a:rPr>
              <a:t>Corrélation, régression et causalité</a:t>
            </a:r>
            <a:r>
              <a:rPr lang="fr-FR" sz="1800" b="1" spc="0" dirty="0">
                <a:solidFill>
                  <a:srgbClr val="000000"/>
                </a:solidFill>
                <a:effectLst/>
                <a:latin typeface="Times New Roman" panose="02020603050405020304" pitchFamily="18" charset="0"/>
                <a:ea typeface="Times New Roman" panose="02020603050405020304" pitchFamily="18" charset="0"/>
                <a:cs typeface="Helvetica Neue LT Std 77 Bold C"/>
              </a:rPr>
              <a:t>.</a:t>
            </a:r>
            <a:br>
              <a:rPr lang="fr-CA" sz="1800" b="1" spc="15" dirty="0">
                <a:solidFill>
                  <a:srgbClr val="000000"/>
                </a:solidFill>
                <a:effectLst/>
                <a:latin typeface="Helvetica Neue LT Std 77 Bold C"/>
                <a:ea typeface="Times New Roman" panose="02020603050405020304" pitchFamily="18" charset="0"/>
                <a:cs typeface="Helvetica Neue LT Std 77 Bold C"/>
              </a:rPr>
            </a:br>
            <a:endParaRPr lang="fr-CA" dirty="0"/>
          </a:p>
        </p:txBody>
      </p:sp>
      <p:sp>
        <p:nvSpPr>
          <p:cNvPr id="3" name="Espace réservé du pied de page 2">
            <a:extLst>
              <a:ext uri="{FF2B5EF4-FFF2-40B4-BE49-F238E27FC236}">
                <a16:creationId xmlns:a16="http://schemas.microsoft.com/office/drawing/2014/main" id="{64BC58AF-CDBA-40BF-A238-C7F269076492}"/>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3DD25D82-D952-4AB4-A7A8-970DCD222936}"/>
              </a:ext>
            </a:extLst>
          </p:cNvPr>
          <p:cNvSpPr>
            <a:spLocks noGrp="1"/>
          </p:cNvSpPr>
          <p:nvPr>
            <p:ph type="sldNum" sz="quarter" idx="12"/>
          </p:nvPr>
        </p:nvSpPr>
        <p:spPr/>
        <p:txBody>
          <a:bodyPr/>
          <a:lstStyle/>
          <a:p>
            <a:fld id="{26377AD9-CE17-438C-A638-C64D2D42D7CF}" type="slidenum">
              <a:rPr lang="fr-CA" smtClean="0"/>
              <a:t>8</a:t>
            </a:fld>
            <a:endParaRPr lang="fr-CA"/>
          </a:p>
        </p:txBody>
      </p:sp>
      <p:sp>
        <p:nvSpPr>
          <p:cNvPr id="5" name="ZoneTexte 4">
            <a:extLst>
              <a:ext uri="{FF2B5EF4-FFF2-40B4-BE49-F238E27FC236}">
                <a16:creationId xmlns:a16="http://schemas.microsoft.com/office/drawing/2014/main" id="{D20F4154-7552-4282-A99C-0B60F8405D93}"/>
              </a:ext>
            </a:extLst>
          </p:cNvPr>
          <p:cNvSpPr txBox="1"/>
          <p:nvPr/>
        </p:nvSpPr>
        <p:spPr>
          <a:xfrm>
            <a:off x="838200" y="1317812"/>
            <a:ext cx="10515600" cy="4431983"/>
          </a:xfrm>
          <a:prstGeom prst="rect">
            <a:avLst/>
          </a:prstGeom>
          <a:noFill/>
        </p:spPr>
        <p:txBody>
          <a:bodyPr wrap="square" rtlCol="0">
            <a:spAutoFit/>
          </a:bodyPr>
          <a:lstStyle/>
          <a:p>
            <a:r>
              <a:rPr lang="fr-FR" sz="2400" b="0" spc="0" dirty="0">
                <a:solidFill>
                  <a:srgbClr val="000000"/>
                </a:solidFill>
                <a:effectLst/>
                <a:latin typeface="Times New Roman" panose="02020603050405020304" pitchFamily="18" charset="0"/>
                <a:ea typeface="Times New Roman" panose="02020603050405020304" pitchFamily="18" charset="0"/>
                <a:cs typeface="Helvetica Neue LT Std 77 Bold C"/>
              </a:rPr>
              <a:t>On a vu que la corrélation linéaire quantifie la liaison (avec une tendance oblique) qui peut exister entre deux variables quantitatives à l’aide soit d’un coefficient linéaire ou d’un coefficient de détermination. La corrélation est symétrique par rapport aux deux variables. Cette corrélation peut être positive si les deux variables varient dans le même sens ou négative si ces deux variables varient dans des sens opposés. Cependant dans une régression le rôle de chacune des variables est précis. Elle suppose que les valeurs de la variable X (indépendante) sont connues avec précision et que toute la variabilité (aléatoire) est dans la variable Y (dépendante) et qu’on essaie de modéliser Y comme fonction de X sous forme d’une droite. On ne peut pas donc inverser les deux variables. La régression n’est donc pas symétrique par rapport aux deux variables.</a:t>
            </a:r>
            <a:endParaRPr lang="fr-CA" sz="2400" b="1" spc="15" dirty="0">
              <a:solidFill>
                <a:srgbClr val="000000"/>
              </a:solidFill>
              <a:effectLst/>
              <a:latin typeface="Helvetica Neue LT Std 77 Bold C"/>
              <a:ea typeface="Times New Roman" panose="02020603050405020304" pitchFamily="18" charset="0"/>
              <a:cs typeface="Helvetica Neue LT Std 77 Bold C"/>
            </a:endParaRPr>
          </a:p>
          <a:p>
            <a:endParaRPr lang="fr-CA" dirty="0"/>
          </a:p>
        </p:txBody>
      </p:sp>
    </p:spTree>
    <p:extLst>
      <p:ext uri="{BB962C8B-B14F-4D97-AF65-F5344CB8AC3E}">
        <p14:creationId xmlns:p14="http://schemas.microsoft.com/office/powerpoint/2010/main" val="3932138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4AEF33AE-7F6A-4F19-9749-B1A371EABA14}"/>
              </a:ext>
            </a:extLst>
          </p:cNvPr>
          <p:cNvSpPr>
            <a:spLocks noGrp="1"/>
          </p:cNvSpPr>
          <p:nvPr>
            <p:ph type="ftr" sz="quarter" idx="11"/>
          </p:nvPr>
        </p:nvSpPr>
        <p:spPr/>
        <p:txBody>
          <a:bodyPr/>
          <a:lstStyle/>
          <a:p>
            <a:endParaRPr lang="fr-CA"/>
          </a:p>
        </p:txBody>
      </p:sp>
      <p:sp>
        <p:nvSpPr>
          <p:cNvPr id="3" name="Espace réservé du numéro de diapositive 2">
            <a:extLst>
              <a:ext uri="{FF2B5EF4-FFF2-40B4-BE49-F238E27FC236}">
                <a16:creationId xmlns:a16="http://schemas.microsoft.com/office/drawing/2014/main" id="{92F35C2A-7C4A-4031-8BCF-204639474DF9}"/>
              </a:ext>
            </a:extLst>
          </p:cNvPr>
          <p:cNvSpPr>
            <a:spLocks noGrp="1"/>
          </p:cNvSpPr>
          <p:nvPr>
            <p:ph type="sldNum" sz="quarter" idx="12"/>
          </p:nvPr>
        </p:nvSpPr>
        <p:spPr/>
        <p:txBody>
          <a:bodyPr/>
          <a:lstStyle/>
          <a:p>
            <a:fld id="{26377AD9-CE17-438C-A638-C64D2D42D7CF}" type="slidenum">
              <a:rPr lang="fr-CA" smtClean="0"/>
              <a:t>9</a:t>
            </a:fld>
            <a:endParaRPr lang="fr-CA"/>
          </a:p>
        </p:txBody>
      </p:sp>
      <p:sp>
        <p:nvSpPr>
          <p:cNvPr id="4" name="ZoneTexte 3">
            <a:extLst>
              <a:ext uri="{FF2B5EF4-FFF2-40B4-BE49-F238E27FC236}">
                <a16:creationId xmlns:a16="http://schemas.microsoft.com/office/drawing/2014/main" id="{F46A35BB-F51B-4E58-9F65-D193C77BC8E2}"/>
              </a:ext>
            </a:extLst>
          </p:cNvPr>
          <p:cNvSpPr txBox="1"/>
          <p:nvPr/>
        </p:nvSpPr>
        <p:spPr>
          <a:xfrm>
            <a:off x="954741" y="136525"/>
            <a:ext cx="10636624" cy="6792885"/>
          </a:xfrm>
          <a:prstGeom prst="rect">
            <a:avLst/>
          </a:prstGeom>
          <a:noFill/>
        </p:spPr>
        <p:txBody>
          <a:bodyPr wrap="square" rtlCol="0">
            <a:spAutoFit/>
          </a:bodyPr>
          <a:lstStyle/>
          <a:p>
            <a:pPr>
              <a:lnSpc>
                <a:spcPct val="200000"/>
              </a:lnSpc>
              <a:spcBef>
                <a:spcPts val="1800"/>
              </a:spcBef>
              <a:spcAft>
                <a:spcPts val="900"/>
              </a:spcAft>
            </a:pPr>
            <a:r>
              <a:rPr lang="fr-FR" sz="2000" b="0" spc="0" dirty="0">
                <a:solidFill>
                  <a:srgbClr val="000000"/>
                </a:solidFill>
                <a:effectLst/>
                <a:latin typeface="Times New Roman" panose="02020603050405020304" pitchFamily="18" charset="0"/>
                <a:ea typeface="Times New Roman" panose="02020603050405020304" pitchFamily="18" charset="0"/>
                <a:cs typeface="Helvetica Neue LT Std 77 Bold C"/>
              </a:rPr>
              <a:t>Lorsqu’il y a une liaison entre deux variables X et Y, cette liaison n’est pas toujours avec cause et effet. Une corrélation n’implique pas une causalité. Cette liaison statistique peut-être l’effet d’une autre variable indépendante cachée (ou latente) influençant à la fois X et Y.</a:t>
            </a:r>
            <a:r>
              <a:rPr lang="fr-CA" sz="2000" b="1" spc="15" dirty="0">
                <a:solidFill>
                  <a:srgbClr val="000000"/>
                </a:solidFill>
                <a:latin typeface="Helvetica Neue LT Std 77 Bold C"/>
                <a:ea typeface="Times New Roman" panose="02020603050405020304" pitchFamily="18" charset="0"/>
                <a:cs typeface="Helvetica Neue LT Std 77 Bold C"/>
              </a:rPr>
              <a:t> </a:t>
            </a:r>
            <a:r>
              <a:rPr lang="fr-FR" sz="2000" b="0" spc="0" dirty="0">
                <a:solidFill>
                  <a:srgbClr val="000000"/>
                </a:solidFill>
                <a:effectLst/>
                <a:latin typeface="Times New Roman" panose="02020603050405020304" pitchFamily="18" charset="0"/>
                <a:ea typeface="Times New Roman" panose="02020603050405020304" pitchFamily="18" charset="0"/>
                <a:cs typeface="Helvetica Neue LT Std 77 Bold C"/>
              </a:rPr>
              <a:t>Par exemple, on peut trouver qu’il y a une corrélation positive forte entre la variable indépendante X : la pointure des souliers et la variable dépendante Y : le niveau scolaire. Mais cela ne veut pas dire que l’une cause l’autre ou que l’une a un effet sur l’autre. Mais il se peut qu’il existe une autre variable cachée (variable de causalité) par exemple la variable Z : l’âge qui influence simultanément les variables X et Y.</a:t>
            </a:r>
            <a:endParaRPr lang="fr-CA" sz="2000" b="1" spc="15" dirty="0">
              <a:solidFill>
                <a:srgbClr val="000000"/>
              </a:solidFill>
              <a:effectLst/>
              <a:latin typeface="Helvetica Neue LT Std 77 Bold C"/>
              <a:ea typeface="Times New Roman" panose="02020603050405020304" pitchFamily="18" charset="0"/>
              <a:cs typeface="Helvetica Neue LT Std 77 Bold C"/>
            </a:endParaRPr>
          </a:p>
          <a:p>
            <a:pPr>
              <a:lnSpc>
                <a:spcPct val="200000"/>
              </a:lnSpc>
              <a:spcBef>
                <a:spcPts val="1800"/>
              </a:spcBef>
              <a:spcAft>
                <a:spcPts val="900"/>
              </a:spcAft>
            </a:pPr>
            <a:r>
              <a:rPr lang="fr-FR" sz="2000" b="0" spc="0" dirty="0">
                <a:solidFill>
                  <a:srgbClr val="000000"/>
                </a:solidFill>
                <a:effectLst/>
                <a:latin typeface="Times New Roman" panose="02020603050405020304" pitchFamily="18" charset="0"/>
                <a:ea typeface="Times New Roman" panose="02020603050405020304" pitchFamily="18" charset="0"/>
                <a:cs typeface="Helvetica Neue LT Std 77 Bold C"/>
              </a:rPr>
              <a:t>D’où le graphique suivant :</a:t>
            </a:r>
            <a:endParaRPr lang="fr-CA" sz="2000" dirty="0"/>
          </a:p>
          <a:p>
            <a:pPr>
              <a:lnSpc>
                <a:spcPct val="200000"/>
              </a:lnSpc>
              <a:spcBef>
                <a:spcPts val="1800"/>
              </a:spcBef>
              <a:spcAft>
                <a:spcPts val="900"/>
              </a:spcAft>
            </a:pPr>
            <a:endParaRPr lang="fr-CA" sz="1800" b="1" spc="15" dirty="0">
              <a:solidFill>
                <a:srgbClr val="000000"/>
              </a:solidFill>
              <a:effectLst/>
              <a:latin typeface="Helvetica Neue LT Std 77 Bold C"/>
              <a:ea typeface="Times New Roman" panose="02020603050405020304" pitchFamily="18" charset="0"/>
              <a:cs typeface="Helvetica Neue LT Std 77 Bold C"/>
            </a:endParaRPr>
          </a:p>
        </p:txBody>
      </p:sp>
    </p:spTree>
    <p:extLst>
      <p:ext uri="{BB962C8B-B14F-4D97-AF65-F5344CB8AC3E}">
        <p14:creationId xmlns:p14="http://schemas.microsoft.com/office/powerpoint/2010/main" val="4090553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D6306C-ED4F-4AAE-B4A5-EEA6AFAD7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EC5361D-F897-4856-B945-0455A365E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15435"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4508C0C5-2268-42B5-B3C8-4D0899E05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141ACBDB-38F8-4B34-8183-BD95B4E55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39327"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DE00DB52-3455-4E2F-867B-A6D0516E1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3800"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Espace réservé du pied de page 1">
            <a:extLst>
              <a:ext uri="{FF2B5EF4-FFF2-40B4-BE49-F238E27FC236}">
                <a16:creationId xmlns:a16="http://schemas.microsoft.com/office/drawing/2014/main" id="{00E20E48-51BF-477F-BE66-66499A7029FF}"/>
              </a:ext>
            </a:extLst>
          </p:cNvPr>
          <p:cNvSpPr>
            <a:spLocks noGrp="1"/>
          </p:cNvSpPr>
          <p:nvPr>
            <p:ph type="ftr" sz="quarter" idx="11"/>
          </p:nvPr>
        </p:nvSpPr>
        <p:spPr>
          <a:xfrm>
            <a:off x="4038600" y="6356350"/>
            <a:ext cx="4114800" cy="365125"/>
          </a:xfrm>
        </p:spPr>
        <p:txBody>
          <a:bodyPr>
            <a:normAutofit/>
          </a:bodyPr>
          <a:lstStyle/>
          <a:p>
            <a:endParaRPr lang="fr-CA"/>
          </a:p>
        </p:txBody>
      </p:sp>
      <p:sp>
        <p:nvSpPr>
          <p:cNvPr id="3" name="Espace réservé du numéro de diapositive 2">
            <a:extLst>
              <a:ext uri="{FF2B5EF4-FFF2-40B4-BE49-F238E27FC236}">
                <a16:creationId xmlns:a16="http://schemas.microsoft.com/office/drawing/2014/main" id="{F6511AEB-DA23-4458-959D-C319B163C7E2}"/>
              </a:ext>
            </a:extLst>
          </p:cNvPr>
          <p:cNvSpPr>
            <a:spLocks noGrp="1"/>
          </p:cNvSpPr>
          <p:nvPr>
            <p:ph type="sldNum" sz="quarter" idx="12"/>
          </p:nvPr>
        </p:nvSpPr>
        <p:spPr>
          <a:xfrm>
            <a:off x="8805333" y="6356350"/>
            <a:ext cx="2743200" cy="365125"/>
          </a:xfrm>
        </p:spPr>
        <p:txBody>
          <a:bodyPr>
            <a:normAutofit/>
          </a:bodyPr>
          <a:lstStyle/>
          <a:p>
            <a:pPr>
              <a:spcAft>
                <a:spcPts val="600"/>
              </a:spcAft>
            </a:pPr>
            <a:fld id="{26377AD9-CE17-438C-A638-C64D2D42D7CF}" type="slidenum">
              <a:rPr lang="fr-CA" smtClean="0"/>
              <a:pPr>
                <a:spcAft>
                  <a:spcPts val="600"/>
                </a:spcAft>
              </a:pPr>
              <a:t>10</a:t>
            </a:fld>
            <a:endParaRPr lang="fr-CA"/>
          </a:p>
        </p:txBody>
      </p:sp>
      <p:sp>
        <p:nvSpPr>
          <p:cNvPr id="19" name="Isosceles Triangle 18">
            <a:extLst>
              <a:ext uri="{FF2B5EF4-FFF2-40B4-BE49-F238E27FC236}">
                <a16:creationId xmlns:a16="http://schemas.microsoft.com/office/drawing/2014/main" id="{9E914C83-E0D8-4953-92D5-169D28CB4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423"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512E083-F550-46AF-8490-767ECFD00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7297"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Diagramme 3">
            <a:extLst>
              <a:ext uri="{FF2B5EF4-FFF2-40B4-BE49-F238E27FC236}">
                <a16:creationId xmlns:a16="http://schemas.microsoft.com/office/drawing/2014/main" id="{32D8531E-CA54-4CDC-919A-1FA8B358660C}"/>
              </a:ext>
            </a:extLst>
          </p:cNvPr>
          <p:cNvGraphicFramePr/>
          <p:nvPr>
            <p:extLst>
              <p:ext uri="{D42A27DB-BD31-4B8C-83A1-F6EECF244321}">
                <p14:modId xmlns:p14="http://schemas.microsoft.com/office/powerpoint/2010/main" val="2474461348"/>
              </p:ext>
            </p:extLst>
          </p:nvPr>
        </p:nvGraphicFramePr>
        <p:xfrm>
          <a:off x="3352799" y="1371600"/>
          <a:ext cx="6113929" cy="365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3172841"/>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1124</Words>
  <Application>Microsoft Office PowerPoint</Application>
  <PresentationFormat>Grand écran</PresentationFormat>
  <Paragraphs>62</Paragraphs>
  <Slides>10</Slides>
  <Notes>1</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10</vt:i4>
      </vt:variant>
    </vt:vector>
  </HeadingPairs>
  <TitlesOfParts>
    <vt:vector size="17" baseType="lpstr">
      <vt:lpstr>Arial</vt:lpstr>
      <vt:lpstr>Calibri</vt:lpstr>
      <vt:lpstr>Calibri Light</vt:lpstr>
      <vt:lpstr>Cambria Math</vt:lpstr>
      <vt:lpstr>Helvetica Neue LT Std 77 Bold C</vt:lpstr>
      <vt:lpstr>Times New Roman</vt:lpstr>
      <vt:lpstr>Office Theme</vt:lpstr>
      <vt:lpstr>La corrélation et régression linéaire(Suite et fin)</vt:lpstr>
      <vt:lpstr>Le coefficient de corrélation linéaire</vt:lpstr>
      <vt:lpstr>Les propriétés d’un coefficient de corrélation linéaire</vt:lpstr>
      <vt:lpstr>Exemple: Si on reprend les données de l’exemple précédent</vt:lpstr>
      <vt:lpstr>Le coefficient de détermination</vt:lpstr>
      <vt:lpstr>La valeur P de l’ajustement</vt:lpstr>
      <vt:lpstr>Présentation PowerPoint</vt:lpstr>
      <vt:lpstr>Corrélation, régression et causalité. </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corrélation et régression linéaire(Suite et fin)</dc:title>
  <dc:creator>Mhammed Mountassir</dc:creator>
  <cp:lastModifiedBy>Mhammed Mountassir</cp:lastModifiedBy>
  <cp:revision>3</cp:revision>
  <dcterms:created xsi:type="dcterms:W3CDTF">2020-11-25T11:52:22Z</dcterms:created>
  <dcterms:modified xsi:type="dcterms:W3CDTF">2021-12-02T11:37:14Z</dcterms:modified>
</cp:coreProperties>
</file>