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League Spartan"/>
      <p:regular r:id="rId19"/>
      <p:bold r:id="rId20"/>
    </p:embeddedFont>
    <p:embeddedFont>
      <p:font typeface="Montserrat"/>
      <p:bold r:id="rId21"/>
      <p:boldItalic r:id="rId22"/>
    </p:embeddedFont>
    <p:embeddedFont>
      <p:font typeface="Montserrat Black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agueSpartan-bold.fntdata"/><Relationship Id="rId11" Type="http://schemas.openxmlformats.org/officeDocument/2006/relationships/slide" Target="slides/slide6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bold.fntdata"/><Relationship Id="rId13" Type="http://schemas.openxmlformats.org/officeDocument/2006/relationships/slide" Target="slides/slide8.xml"/><Relationship Id="rId24" Type="http://schemas.openxmlformats.org/officeDocument/2006/relationships/font" Target="fonts/MontserratBlack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eagueSpartan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94fcbd99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194fcbd99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1e7794e0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11e7794e00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1e7794e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11e7794e00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1f4a62d9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11f4a62d95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1e7794e0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11e7794e00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11f4a62d95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11f4a62d95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94fcbd9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194fcbd99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11e7794e0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11e7794e00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235838" y="1365310"/>
            <a:ext cx="9052162" cy="8972956"/>
          </a:xfrm>
          <a:custGeom>
            <a:rect b="b" l="l" r="r" t="t"/>
            <a:pathLst>
              <a:path extrusionOk="0" h="8972956" w="9052162">
                <a:moveTo>
                  <a:pt x="0" y="0"/>
                </a:moveTo>
                <a:lnTo>
                  <a:pt x="9052162" y="0"/>
                </a:lnTo>
                <a:lnTo>
                  <a:pt x="9052162" y="8972956"/>
                </a:lnTo>
                <a:lnTo>
                  <a:pt x="0" y="8972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9263641" y="611324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>
            <a:off x="12306715" y="2900570"/>
            <a:ext cx="6924086" cy="8877034"/>
          </a:xfrm>
          <a:custGeom>
            <a:rect b="b" l="l" r="r" t="t"/>
            <a:pathLst>
              <a:path extrusionOk="0" h="8877034" w="6924086">
                <a:moveTo>
                  <a:pt x="0" y="0"/>
                </a:moveTo>
                <a:lnTo>
                  <a:pt x="6924086" y="0"/>
                </a:lnTo>
                <a:lnTo>
                  <a:pt x="6924086" y="8877033"/>
                </a:lnTo>
                <a:lnTo>
                  <a:pt x="0" y="8877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-922698" y="681873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 rot="10800000">
            <a:off x="14181338" y="1826448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4"/>
                </a:moveTo>
                <a:lnTo>
                  <a:pt x="0" y="2519304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4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" name="Google Shape;91;p13"/>
          <p:cNvGrpSpPr/>
          <p:nvPr/>
        </p:nvGrpSpPr>
        <p:grpSpPr>
          <a:xfrm>
            <a:off x="10153684" y="9383501"/>
            <a:ext cx="452632" cy="579142"/>
            <a:chOff x="0" y="-28575"/>
            <a:chExt cx="99846" cy="12775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99846" cy="99175"/>
            </a:xfrm>
            <a:custGeom>
              <a:rect b="b" l="l" r="r" t="t"/>
              <a:pathLst>
                <a:path extrusionOk="0" h="99175" w="99846">
                  <a:moveTo>
                    <a:pt x="0" y="0"/>
                  </a:moveTo>
                  <a:lnTo>
                    <a:pt x="99846" y="0"/>
                  </a:lnTo>
                  <a:lnTo>
                    <a:pt x="99846" y="99175"/>
                  </a:lnTo>
                  <a:lnTo>
                    <a:pt x="0" y="991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3" name="Google Shape;93;p13"/>
            <p:cNvSpPr txBox="1"/>
            <p:nvPr/>
          </p:nvSpPr>
          <p:spPr>
            <a:xfrm>
              <a:off x="0" y="-28575"/>
              <a:ext cx="99846" cy="12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3"/>
          <p:cNvSpPr txBox="1"/>
          <p:nvPr/>
        </p:nvSpPr>
        <p:spPr>
          <a:xfrm>
            <a:off x="1213692" y="8692253"/>
            <a:ext cx="7344900" cy="10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CEG </a:t>
            </a:r>
            <a:r>
              <a:rPr b="1" lang="en-US" sz="29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4536 </a:t>
            </a:r>
            <a:r>
              <a:rPr b="1" i="0" lang="en-US" sz="295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b="1" lang="en-US" sz="295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Architecture des ordinateurs III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 rot="10800000">
            <a:off x="11702039" y="-2170291"/>
            <a:ext cx="8115113" cy="7017728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6" name="Google Shape;96;p13"/>
          <p:cNvGrpSpPr/>
          <p:nvPr/>
        </p:nvGrpSpPr>
        <p:grpSpPr>
          <a:xfrm>
            <a:off x="13974467" y="8715871"/>
            <a:ext cx="3588600" cy="997657"/>
            <a:chOff x="12878855" y="1235771"/>
            <a:chExt cx="3588600" cy="997657"/>
          </a:xfrm>
        </p:grpSpPr>
        <p:grpSp>
          <p:nvGrpSpPr>
            <p:cNvPr id="97" name="Google Shape;97;p13"/>
            <p:cNvGrpSpPr/>
            <p:nvPr/>
          </p:nvGrpSpPr>
          <p:grpSpPr>
            <a:xfrm>
              <a:off x="12878855" y="1235771"/>
              <a:ext cx="3588461" cy="997657"/>
              <a:chOff x="0" y="-28575"/>
              <a:chExt cx="791578" cy="220073"/>
            </a:xfrm>
          </p:grpSpPr>
          <p:sp>
            <p:nvSpPr>
              <p:cNvPr id="98" name="Google Shape;98;p13"/>
              <p:cNvSpPr/>
              <p:nvPr/>
            </p:nvSpPr>
            <p:spPr>
              <a:xfrm>
                <a:off x="0" y="0"/>
                <a:ext cx="791578" cy="191498"/>
              </a:xfrm>
              <a:custGeom>
                <a:rect b="b" l="l" r="r" t="t"/>
                <a:pathLst>
                  <a:path extrusionOk="0" h="191498" w="791578">
                    <a:moveTo>
                      <a:pt x="0" y="0"/>
                    </a:moveTo>
                    <a:lnTo>
                      <a:pt x="791578" y="0"/>
                    </a:lnTo>
                    <a:lnTo>
                      <a:pt x="791578" y="191498"/>
                    </a:lnTo>
                    <a:lnTo>
                      <a:pt x="0" y="1914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9" name="Google Shape;99;p13"/>
              <p:cNvSpPr txBox="1"/>
              <p:nvPr/>
            </p:nvSpPr>
            <p:spPr>
              <a:xfrm>
                <a:off x="0" y="-28575"/>
                <a:ext cx="791578" cy="2200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7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" name="Google Shape;100;p13"/>
            <p:cNvSpPr txBox="1"/>
            <p:nvPr/>
          </p:nvSpPr>
          <p:spPr>
            <a:xfrm>
              <a:off x="12878855" y="1550300"/>
              <a:ext cx="3588600" cy="4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75" u="none" cap="none" strike="noStrike">
                  <a:solidFill>
                    <a:srgbClr val="2C1749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GROUP </a:t>
              </a:r>
              <a:r>
                <a:rPr b="1" lang="en-US" sz="2775">
                  <a:solidFill>
                    <a:srgbClr val="2C1749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9</a:t>
              </a:r>
              <a:r>
                <a:rPr b="1" i="0" lang="en-US" sz="2775" u="none" cap="none" strike="noStrike">
                  <a:solidFill>
                    <a:srgbClr val="2C1749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 </a:t>
              </a:r>
              <a:endParaRPr/>
            </a:p>
          </p:txBody>
        </p:sp>
      </p:grpSp>
      <p:sp>
        <p:nvSpPr>
          <p:cNvPr id="101" name="Google Shape;101;p13"/>
          <p:cNvSpPr txBox="1"/>
          <p:nvPr/>
        </p:nvSpPr>
        <p:spPr>
          <a:xfrm>
            <a:off x="1213702" y="681875"/>
            <a:ext cx="12442200" cy="7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3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Optimisation de la hiérarchie de la mémoire CUDA</a:t>
            </a:r>
            <a:endParaRPr b="1"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0" y="5414200"/>
            <a:ext cx="457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-2087150" y="-1678749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flipH="1" rot="10800000">
            <a:off x="-1800546" y="4746509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4"/>
                </a:moveTo>
                <a:lnTo>
                  <a:pt x="5185990" y="6648704"/>
                </a:lnTo>
                <a:lnTo>
                  <a:pt x="5185990" y="0"/>
                </a:lnTo>
                <a:lnTo>
                  <a:pt x="0" y="0"/>
                </a:lnTo>
                <a:lnTo>
                  <a:pt x="0" y="6648704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 rot="10800000">
            <a:off x="11711202" y="-1682416"/>
            <a:ext cx="8115113" cy="7017728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5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/>
          <p:nvPr/>
        </p:nvSpPr>
        <p:spPr>
          <a:xfrm>
            <a:off x="13047131" y="646460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4"/>
          <p:cNvSpPr/>
          <p:nvPr/>
        </p:nvSpPr>
        <p:spPr>
          <a:xfrm>
            <a:off x="13673700" y="5143500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8" y="0"/>
                </a:lnTo>
                <a:lnTo>
                  <a:pt x="6314098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4"/>
          <p:cNvSpPr/>
          <p:nvPr/>
        </p:nvSpPr>
        <p:spPr>
          <a:xfrm>
            <a:off x="17028244" y="5335312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 rot="10800000">
            <a:off x="14557480" y="2509895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1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1" y="0"/>
                </a:lnTo>
                <a:lnTo>
                  <a:pt x="3156501" y="2519303"/>
                </a:lnTo>
                <a:close/>
              </a:path>
            </a:pathLst>
          </a:custGeom>
          <a:blipFill rotWithShape="1">
            <a:blip r:embed="rId7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4" name="Google Shape;114;p14"/>
          <p:cNvCxnSpPr/>
          <p:nvPr/>
        </p:nvCxnSpPr>
        <p:spPr>
          <a:xfrm rot="10800000">
            <a:off x="-706126" y="-13439"/>
            <a:ext cx="20693924" cy="0"/>
          </a:xfrm>
          <a:prstGeom prst="straightConnector1">
            <a:avLst/>
          </a:prstGeom>
          <a:noFill/>
          <a:ln cap="flat" cmpd="sng" w="38100">
            <a:solidFill>
              <a:srgbClr val="FFFFFF">
                <a:alpha val="3725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4"/>
          <p:cNvSpPr txBox="1"/>
          <p:nvPr/>
        </p:nvSpPr>
        <p:spPr>
          <a:xfrm>
            <a:off x="827875" y="598163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FBD59"/>
                </a:solidFill>
                <a:latin typeface="Montserrat"/>
                <a:ea typeface="Montserrat"/>
                <a:cs typeface="Montserrat"/>
                <a:sym typeface="Montserrat"/>
              </a:rPr>
              <a:t>Introduction </a:t>
            </a:r>
            <a:endParaRPr>
              <a:solidFill>
                <a:srgbClr val="FFBD59"/>
              </a:solidFill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15767375" y="-242305"/>
            <a:ext cx="986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269100" y="1825400"/>
            <a:ext cx="18018900" cy="9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4393" lvl="1" marL="73405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Dans le domaine du calcul haute performance, l’utilisation des accélérateurs GPU est devenue essentielle pour répondre aux besoins croissants en puissance de calcul.</a:t>
            </a:r>
            <a:endParaRPr b="1" i="0" sz="32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4393" lvl="1" marL="73405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L'un des aspects fondamentaux pour maximiser les performances dans ce contexte est une gestion efficace de la mémoire.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Char char="•"/>
            </a:pPr>
            <a:r>
              <a:rPr b="1" lang="en-US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CUDA, une plateforme et un modèle de programmation GPU largement utilisés, propose une hiérarchie de mémoire sophistiquée qui vise à minimiser la latence et à maximiser la bande passante.</a:t>
            </a:r>
            <a:endParaRPr b="1" sz="3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4393" lvl="1" marL="73405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Cette hiérarchie inclut des types de mémoire distincts : Les registres, La mémoire partagée, La mémoire globale.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4393" lvl="1" marL="73405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Char char="•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Chaque type de mémoire joue un rôle spécifique dans l'exécution des programmes parallèles.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-2087150" y="-1678749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/>
          <p:nvPr/>
        </p:nvSpPr>
        <p:spPr>
          <a:xfrm flipH="1" rot="10800000">
            <a:off x="-1800546" y="4746509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4"/>
                </a:moveTo>
                <a:lnTo>
                  <a:pt x="5185990" y="6648704"/>
                </a:lnTo>
                <a:lnTo>
                  <a:pt x="5185990" y="0"/>
                </a:lnTo>
                <a:lnTo>
                  <a:pt x="0" y="0"/>
                </a:lnTo>
                <a:lnTo>
                  <a:pt x="0" y="6648704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5"/>
          <p:cNvSpPr/>
          <p:nvPr/>
        </p:nvSpPr>
        <p:spPr>
          <a:xfrm rot="10800000">
            <a:off x="11711202" y="-1682416"/>
            <a:ext cx="8115113" cy="7017728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5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5"/>
          <p:cNvSpPr/>
          <p:nvPr/>
        </p:nvSpPr>
        <p:spPr>
          <a:xfrm>
            <a:off x="13047131" y="646460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5"/>
          <p:cNvSpPr/>
          <p:nvPr/>
        </p:nvSpPr>
        <p:spPr>
          <a:xfrm>
            <a:off x="13673700" y="5143500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8" y="0"/>
                </a:lnTo>
                <a:lnTo>
                  <a:pt x="6314098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>
            <a:off x="17028244" y="5335312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 rot="10800000">
            <a:off x="14557480" y="2509895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1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1" y="0"/>
                </a:lnTo>
                <a:lnTo>
                  <a:pt x="3156501" y="2519303"/>
                </a:lnTo>
                <a:close/>
              </a:path>
            </a:pathLst>
          </a:custGeom>
          <a:blipFill rotWithShape="1">
            <a:blip r:embed="rId7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9" name="Google Shape;129;p15"/>
          <p:cNvCxnSpPr/>
          <p:nvPr/>
        </p:nvCxnSpPr>
        <p:spPr>
          <a:xfrm rot="10800000">
            <a:off x="-706202" y="-13439"/>
            <a:ext cx="20694000" cy="0"/>
          </a:xfrm>
          <a:prstGeom prst="straightConnector1">
            <a:avLst/>
          </a:prstGeom>
          <a:noFill/>
          <a:ln cap="flat" cmpd="sng" w="38100">
            <a:solidFill>
              <a:srgbClr val="FFFFFF">
                <a:alpha val="3725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15"/>
          <p:cNvSpPr txBox="1"/>
          <p:nvPr/>
        </p:nvSpPr>
        <p:spPr>
          <a:xfrm>
            <a:off x="827875" y="598163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FBD59"/>
                </a:solidFill>
                <a:latin typeface="Montserrat"/>
                <a:ea typeface="Montserrat"/>
                <a:cs typeface="Montserrat"/>
                <a:sym typeface="Montserrat"/>
              </a:rPr>
              <a:t>Introduction </a:t>
            </a:r>
            <a:endParaRPr>
              <a:solidFill>
                <a:srgbClr val="FFBD59"/>
              </a:solidFill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15767375" y="-242305"/>
            <a:ext cx="986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269100" y="1825400"/>
            <a:ext cx="18018900" cy="8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4393" lvl="1" marL="73405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 projet se concentre sur l’exploration approfondie de cette hiérarchie de mémoire CUDA en mettant en lumière : 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■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meilleures pratiques pour optimiser les schémas d’accès à la mémoire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■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réduction des goulots d'étranglement liés à la latence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■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L'amélioration du débit des données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■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 renforcement de l'efficacité globale des applications exécutées sur GPU.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4393" lvl="1" marL="73405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 intégrant des techniques avancées d’optimisation :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Char char="■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 étudiants acquerront une compréhension pratique de la hiérarchie mémoire.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Char char="■"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Ils apprendront à transformer les performances des applications dans un environnement parallèle grâce à une gestion judicieuse de la mémoire.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16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6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6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6"/>
          <p:cNvSpPr/>
          <p:nvPr/>
        </p:nvSpPr>
        <p:spPr>
          <a:xfrm>
            <a:off x="14082902" y="6173783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>
            <a:off x="15667566" y="573283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/>
          <p:nvPr/>
        </p:nvSpPr>
        <p:spPr>
          <a:xfrm>
            <a:off x="15305085" y="-2301013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6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45" name="Google Shape;145;p16"/>
          <p:cNvCxnSpPr/>
          <p:nvPr/>
        </p:nvCxnSpPr>
        <p:spPr>
          <a:xfrm>
            <a:off x="21756336" y="3315650"/>
            <a:ext cx="18771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6"/>
          <p:cNvSpPr txBox="1"/>
          <p:nvPr/>
        </p:nvSpPr>
        <p:spPr>
          <a:xfrm>
            <a:off x="860101" y="604942"/>
            <a:ext cx="132228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Objectifs : 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25550" y="1993750"/>
            <a:ext cx="16615800" cy="84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6708" lvl="1" marL="785417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1" lang="en-US" sz="3700">
                <a:latin typeface="Montserrat"/>
                <a:ea typeface="Montserrat"/>
                <a:cs typeface="Montserrat"/>
                <a:sym typeface="Montserrat"/>
              </a:rPr>
              <a:t>Concevoir et implémenter des solutions pour réduire la latence d’accès à la mémoire.</a:t>
            </a:r>
            <a:endParaRPr b="1" sz="3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396708" lvl="1" marL="785417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1" lang="en-US" sz="3700">
                <a:latin typeface="Montserrat"/>
                <a:ea typeface="Montserrat"/>
                <a:cs typeface="Montserrat"/>
                <a:sym typeface="Montserrat"/>
              </a:rPr>
              <a:t>Optimiser le débit de la mémoire en limitant le gaspillage de la bande passante.</a:t>
            </a:r>
            <a:endParaRPr b="1" sz="3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396708" lvl="1" marL="785417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1" lang="en-US" sz="3700">
                <a:latin typeface="Montserrat"/>
                <a:ea typeface="Montserrat"/>
                <a:cs typeface="Montserrat"/>
                <a:sym typeface="Montserrat"/>
              </a:rPr>
              <a:t>Appliquer la coalescence des accès mémoire pour améliorer l’efficacité des transferts de données.</a:t>
            </a:r>
            <a:endParaRPr b="1" sz="3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396708" lvl="1" marL="785417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1" lang="en-US" sz="3700">
                <a:latin typeface="Montserrat"/>
                <a:ea typeface="Montserrat"/>
                <a:cs typeface="Montserrat"/>
                <a:sym typeface="Montserrat"/>
              </a:rPr>
              <a:t>Gérer efficacement les banques de mémoire dans la mémoire partagée.</a:t>
            </a:r>
            <a:endParaRPr b="1" sz="3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-396708" lvl="1" marL="785417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Char char="•"/>
            </a:pPr>
            <a:r>
              <a:rPr b="1" lang="en-US" sz="3700">
                <a:latin typeface="Montserrat"/>
                <a:ea typeface="Montserrat"/>
                <a:cs typeface="Montserrat"/>
                <a:sym typeface="Montserrat"/>
              </a:rPr>
              <a:t>Minimiser les transferts de données entre l’hôte et le périphérique afin de réduire les goulots d’étranglement.</a:t>
            </a:r>
            <a:endParaRPr sz="3700"/>
          </a:p>
          <a:p>
            <a:pPr indent="0" lvl="0" marL="914400" marR="0" rtl="0" algn="l">
              <a:lnSpc>
                <a:spcPct val="13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9139238" y="4939189"/>
            <a:ext cx="9525" cy="380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7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7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1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7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7"/>
          <p:cNvSpPr/>
          <p:nvPr/>
        </p:nvSpPr>
        <p:spPr>
          <a:xfrm>
            <a:off x="14082777" y="-1486467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58" name="Google Shape;158;p17"/>
          <p:cNvCxnSpPr/>
          <p:nvPr/>
        </p:nvCxnSpPr>
        <p:spPr>
          <a:xfrm>
            <a:off x="1382436" y="9403787"/>
            <a:ext cx="1877233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7"/>
          <p:cNvSpPr txBox="1"/>
          <p:nvPr/>
        </p:nvSpPr>
        <p:spPr>
          <a:xfrm>
            <a:off x="790401" y="642942"/>
            <a:ext cx="135540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 utilisés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9139238" y="4939189"/>
            <a:ext cx="9525" cy="380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187100" y="2424625"/>
            <a:ext cx="15913800" cy="6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6943" lvl="1" marL="734058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Char char="•"/>
            </a:pPr>
            <a:r>
              <a:rPr b="1" lang="en-US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Visual Studio 2022 </a:t>
            </a:r>
            <a:endParaRPr b="1" sz="4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6943" lvl="1" marL="734058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"/>
              <a:buChar char="•"/>
            </a:pPr>
            <a:r>
              <a:rPr b="1" lang="en-US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Carte Nvidia GPU</a:t>
            </a:r>
            <a:endParaRPr b="1" sz="4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6943" lvl="1" marL="734058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Char char="•"/>
            </a:pPr>
            <a:r>
              <a:rPr b="1" lang="en-US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CUDA ToolKit</a:t>
            </a:r>
            <a:endParaRPr b="1" sz="4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6943" lvl="1" marL="734058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"/>
              <a:buChar char="•"/>
            </a:pPr>
            <a:r>
              <a:rPr b="1" lang="en-US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NvProf (Nvidia Profiler)</a:t>
            </a:r>
            <a:endParaRPr b="1" sz="4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6943" lvl="1" marL="734058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"/>
              <a:buChar char="•"/>
            </a:pPr>
            <a:r>
              <a:rPr b="1" lang="en-US" sz="4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CUDA Debugger</a:t>
            </a:r>
            <a:endParaRPr b="1" sz="4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15667585" y="-2390650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7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7"/>
          <p:cNvSpPr/>
          <p:nvPr/>
        </p:nvSpPr>
        <p:spPr>
          <a:xfrm>
            <a:off x="15667566" y="617378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5" name="Google Shape;16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50689" y="2231183"/>
            <a:ext cx="10295713" cy="579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754426" y="5610413"/>
            <a:ext cx="2955326" cy="29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-2087150" y="-1678749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8"/>
          <p:cNvSpPr/>
          <p:nvPr/>
        </p:nvSpPr>
        <p:spPr>
          <a:xfrm flipH="1" rot="10800000">
            <a:off x="-1800546" y="4746509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4"/>
                </a:moveTo>
                <a:lnTo>
                  <a:pt x="5185990" y="6648704"/>
                </a:lnTo>
                <a:lnTo>
                  <a:pt x="5185990" y="0"/>
                </a:lnTo>
                <a:lnTo>
                  <a:pt x="0" y="0"/>
                </a:lnTo>
                <a:lnTo>
                  <a:pt x="0" y="6648704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8"/>
          <p:cNvSpPr/>
          <p:nvPr/>
        </p:nvSpPr>
        <p:spPr>
          <a:xfrm rot="10800000">
            <a:off x="11711202" y="-1682416"/>
            <a:ext cx="8115113" cy="7017728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5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8"/>
          <p:cNvSpPr/>
          <p:nvPr/>
        </p:nvSpPr>
        <p:spPr>
          <a:xfrm>
            <a:off x="13047131" y="646460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8"/>
          <p:cNvSpPr/>
          <p:nvPr/>
        </p:nvSpPr>
        <p:spPr>
          <a:xfrm>
            <a:off x="13673700" y="5143500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8" y="0"/>
                </a:lnTo>
                <a:lnTo>
                  <a:pt x="6314098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8"/>
          <p:cNvSpPr/>
          <p:nvPr/>
        </p:nvSpPr>
        <p:spPr>
          <a:xfrm>
            <a:off x="17028244" y="5335312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8"/>
          <p:cNvSpPr/>
          <p:nvPr/>
        </p:nvSpPr>
        <p:spPr>
          <a:xfrm rot="10800000">
            <a:off x="14557480" y="2509895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1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1" y="0"/>
                </a:lnTo>
                <a:lnTo>
                  <a:pt x="3156501" y="2519303"/>
                </a:lnTo>
                <a:close/>
              </a:path>
            </a:pathLst>
          </a:custGeom>
          <a:blipFill rotWithShape="1">
            <a:blip r:embed="rId7">
              <a:alphaModFix amt="38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78" name="Google Shape;178;p18"/>
          <p:cNvCxnSpPr/>
          <p:nvPr/>
        </p:nvCxnSpPr>
        <p:spPr>
          <a:xfrm rot="10800000">
            <a:off x="-706202" y="-13439"/>
            <a:ext cx="20694000" cy="0"/>
          </a:xfrm>
          <a:prstGeom prst="straightConnector1">
            <a:avLst/>
          </a:prstGeom>
          <a:noFill/>
          <a:ln cap="flat" cmpd="sng" w="38100">
            <a:solidFill>
              <a:srgbClr val="FFFFFF">
                <a:alpha val="3725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8"/>
          <p:cNvSpPr txBox="1"/>
          <p:nvPr/>
        </p:nvSpPr>
        <p:spPr>
          <a:xfrm>
            <a:off x="827875" y="598163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FBD59"/>
                </a:solidFill>
                <a:latin typeface="Montserrat"/>
                <a:ea typeface="Montserrat"/>
                <a:cs typeface="Montserrat"/>
                <a:sym typeface="Montserrat"/>
              </a:rPr>
              <a:t>Réalisation du laboratoire</a:t>
            </a:r>
            <a:r>
              <a:rPr b="1" lang="en-US" sz="3999">
                <a:solidFill>
                  <a:srgbClr val="FFBD5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FFBD59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5767375" y="-242305"/>
            <a:ext cx="986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269100" y="1482600"/>
            <a:ext cx="18018900" cy="88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43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Char char="•"/>
            </a:pPr>
            <a:r>
              <a:rPr b="1" lang="en-US"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1</a:t>
            </a:r>
            <a:r>
              <a:rPr b="1" lang="en-US" sz="45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4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Introduction au calcul parallèle et mise en place d’une version de référence de l’algorithme.</a:t>
            </a:r>
            <a:endParaRPr b="1" sz="4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143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Char char="•"/>
            </a:pPr>
            <a:r>
              <a:rPr b="1" lang="en-US"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2</a:t>
            </a:r>
            <a:r>
              <a:rPr b="1" lang="en-US" sz="4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r>
              <a:rPr b="1" lang="en-US" sz="4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Réduction de la latence grâce à la coalescence des schémas d’accès.</a:t>
            </a:r>
            <a:endParaRPr b="1" sz="4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14350" lvl="1" marL="6858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Char char="•"/>
            </a:pPr>
            <a:r>
              <a:rPr b="1" lang="en-US"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3</a:t>
            </a:r>
            <a:r>
              <a:rPr b="1" lang="en-US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: Exploitation de la faible latence de la mémoire partagée pour améliorer les performances.)</a:t>
            </a:r>
            <a:endParaRPr b="1"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1435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Char char="•"/>
            </a:pPr>
            <a:r>
              <a:rPr b="1" lang="en-US"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4</a:t>
            </a:r>
            <a:r>
              <a:rPr b="1" lang="en-US" sz="4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: </a:t>
            </a:r>
            <a:r>
              <a:rPr b="1" lang="en-US" sz="4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Mise en œuvre du rembourrage pour maximiser l’efficacité de la mémoire partagée.</a:t>
            </a:r>
            <a:endParaRPr b="1" sz="4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14350" lvl="1" marL="6858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Montserrat"/>
              <a:buChar char="•"/>
            </a:pPr>
            <a:r>
              <a:rPr b="1" lang="en-US"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5</a:t>
            </a:r>
            <a:r>
              <a:rPr b="1" lang="en-US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: Analyse des goulots d’étranglement à l’aide d’outils de profilage CUDA.</a:t>
            </a:r>
            <a:endParaRPr b="1"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14350" lvl="1" marL="685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Montserrat"/>
              <a:buChar char="•"/>
            </a:pPr>
            <a:r>
              <a:rPr b="1" lang="en-US" sz="45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Tâche 6</a:t>
            </a:r>
            <a:r>
              <a:rPr b="1" lang="en-US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: Application des retours du profilage pour maximiser l’efficacité du calcul parallèle.</a:t>
            </a:r>
            <a:endParaRPr b="1"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208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9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9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9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9"/>
          <p:cNvSpPr/>
          <p:nvPr/>
        </p:nvSpPr>
        <p:spPr>
          <a:xfrm>
            <a:off x="14082777" y="-1486467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91" name="Google Shape;191;p19"/>
          <p:cNvCxnSpPr/>
          <p:nvPr/>
        </p:nvCxnSpPr>
        <p:spPr>
          <a:xfrm>
            <a:off x="1382436" y="9403787"/>
            <a:ext cx="18771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9"/>
          <p:cNvSpPr txBox="1"/>
          <p:nvPr/>
        </p:nvSpPr>
        <p:spPr>
          <a:xfrm>
            <a:off x="790401" y="642942"/>
            <a:ext cx="135540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1 :  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9139238" y="4939189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5667585" y="-2390650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9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9"/>
          <p:cNvSpPr/>
          <p:nvPr/>
        </p:nvSpPr>
        <p:spPr>
          <a:xfrm>
            <a:off x="15667566" y="617378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7" name="Google Shape;19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44432" y="1826458"/>
            <a:ext cx="12961973" cy="82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0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20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20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20"/>
          <p:cNvSpPr/>
          <p:nvPr/>
        </p:nvSpPr>
        <p:spPr>
          <a:xfrm>
            <a:off x="14082777" y="-1486467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07" name="Google Shape;207;p20"/>
          <p:cNvCxnSpPr/>
          <p:nvPr/>
        </p:nvCxnSpPr>
        <p:spPr>
          <a:xfrm>
            <a:off x="1382436" y="9403787"/>
            <a:ext cx="18771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0"/>
          <p:cNvSpPr txBox="1"/>
          <p:nvPr/>
        </p:nvSpPr>
        <p:spPr>
          <a:xfrm>
            <a:off x="790401" y="642942"/>
            <a:ext cx="135540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2 :  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9139238" y="4939189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5667585" y="-2390650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20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20"/>
          <p:cNvSpPr/>
          <p:nvPr/>
        </p:nvSpPr>
        <p:spPr>
          <a:xfrm>
            <a:off x="15667566" y="617378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3" name="Google Shape;213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38425" y="1214975"/>
            <a:ext cx="13989550" cy="889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21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21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21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1"/>
          <p:cNvSpPr/>
          <p:nvPr/>
        </p:nvSpPr>
        <p:spPr>
          <a:xfrm>
            <a:off x="14082777" y="-1486467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23" name="Google Shape;223;p21"/>
          <p:cNvCxnSpPr/>
          <p:nvPr/>
        </p:nvCxnSpPr>
        <p:spPr>
          <a:xfrm>
            <a:off x="1382436" y="9403787"/>
            <a:ext cx="18771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1"/>
          <p:cNvSpPr txBox="1"/>
          <p:nvPr/>
        </p:nvSpPr>
        <p:spPr>
          <a:xfrm>
            <a:off x="790401" y="642942"/>
            <a:ext cx="135540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3 :  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9139238" y="4939189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15667585" y="-2390650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21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21"/>
          <p:cNvSpPr/>
          <p:nvPr/>
        </p:nvSpPr>
        <p:spPr>
          <a:xfrm>
            <a:off x="15667566" y="617378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9" name="Google Shape;229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27911" y="642948"/>
            <a:ext cx="11305525" cy="975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2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2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22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22"/>
          <p:cNvSpPr/>
          <p:nvPr/>
        </p:nvSpPr>
        <p:spPr>
          <a:xfrm>
            <a:off x="14082777" y="-1486467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39" name="Google Shape;239;p22"/>
          <p:cNvCxnSpPr/>
          <p:nvPr/>
        </p:nvCxnSpPr>
        <p:spPr>
          <a:xfrm>
            <a:off x="1382436" y="9403787"/>
            <a:ext cx="18771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22"/>
          <p:cNvSpPr txBox="1"/>
          <p:nvPr/>
        </p:nvSpPr>
        <p:spPr>
          <a:xfrm>
            <a:off x="790401" y="642942"/>
            <a:ext cx="135540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4 :  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9139238" y="4939189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5667585" y="-2390650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22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22"/>
          <p:cNvSpPr/>
          <p:nvPr/>
        </p:nvSpPr>
        <p:spPr>
          <a:xfrm>
            <a:off x="15667566" y="617378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5" name="Google Shape;245;p22"/>
          <p:cNvPicPr preferRelativeResize="0"/>
          <p:nvPr/>
        </p:nvPicPr>
        <p:blipFill rotWithShape="1">
          <a:blip r:embed="rId8">
            <a:alphaModFix/>
          </a:blip>
          <a:srcRect b="22672" l="0" r="22672" t="0"/>
          <a:stretch/>
        </p:blipFill>
        <p:spPr>
          <a:xfrm>
            <a:off x="4770649" y="1053122"/>
            <a:ext cx="10896924" cy="8878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3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23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23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23"/>
          <p:cNvSpPr/>
          <p:nvPr/>
        </p:nvSpPr>
        <p:spPr>
          <a:xfrm>
            <a:off x="14082777" y="-1486467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5" name="Google Shape;255;p23"/>
          <p:cNvCxnSpPr/>
          <p:nvPr/>
        </p:nvCxnSpPr>
        <p:spPr>
          <a:xfrm>
            <a:off x="1382436" y="9403787"/>
            <a:ext cx="18771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23"/>
          <p:cNvSpPr txBox="1"/>
          <p:nvPr/>
        </p:nvSpPr>
        <p:spPr>
          <a:xfrm>
            <a:off x="790401" y="642942"/>
            <a:ext cx="135540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5 :  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9139238" y="4939189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15667585" y="-2390650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23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23"/>
          <p:cNvSpPr/>
          <p:nvPr/>
        </p:nvSpPr>
        <p:spPr>
          <a:xfrm>
            <a:off x="15667566" y="6173783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95675" y="1365300"/>
            <a:ext cx="9648726" cy="896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24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4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 amt="2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24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4"/>
          <p:cNvSpPr/>
          <p:nvPr/>
        </p:nvSpPr>
        <p:spPr>
          <a:xfrm>
            <a:off x="14082777" y="-1486467"/>
            <a:ext cx="6314098" cy="6258849"/>
          </a:xfrm>
          <a:custGeom>
            <a:rect b="b" l="l" r="r" t="t"/>
            <a:pathLst>
              <a:path extrusionOk="0" h="6258849" w="6314098">
                <a:moveTo>
                  <a:pt x="0" y="0"/>
                </a:moveTo>
                <a:lnTo>
                  <a:pt x="6314097" y="0"/>
                </a:lnTo>
                <a:lnTo>
                  <a:pt x="6314097" y="6258849"/>
                </a:lnTo>
                <a:lnTo>
                  <a:pt x="0" y="6258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1" name="Google Shape;271;p24"/>
          <p:cNvCxnSpPr/>
          <p:nvPr/>
        </p:nvCxnSpPr>
        <p:spPr>
          <a:xfrm>
            <a:off x="1382436" y="9403787"/>
            <a:ext cx="1877100" cy="0"/>
          </a:xfrm>
          <a:prstGeom prst="straightConnector1">
            <a:avLst/>
          </a:prstGeom>
          <a:noFill/>
          <a:ln cap="flat" cmpd="sng" w="161925">
            <a:solidFill>
              <a:srgbClr val="6B4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24"/>
          <p:cNvSpPr txBox="1"/>
          <p:nvPr/>
        </p:nvSpPr>
        <p:spPr>
          <a:xfrm>
            <a:off x="790401" y="642942"/>
            <a:ext cx="135540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93">
                <a:solidFill>
                  <a:srgbClr val="FFBD5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Tâche 6 :  </a:t>
            </a:r>
            <a:endParaRPr b="1">
              <a:solidFill>
                <a:srgbClr val="FFBD59"/>
              </a:solidFill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139238" y="4939189"/>
            <a:ext cx="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7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15667585" y="-2390650"/>
            <a:ext cx="4829714" cy="6191941"/>
          </a:xfrm>
          <a:custGeom>
            <a:rect b="b" l="l" r="r" t="t"/>
            <a:pathLst>
              <a:path extrusionOk="0" h="6191941" w="4829714">
                <a:moveTo>
                  <a:pt x="0" y="0"/>
                </a:moveTo>
                <a:lnTo>
                  <a:pt x="4829714" y="0"/>
                </a:lnTo>
                <a:lnTo>
                  <a:pt x="4829714" y="6191941"/>
                </a:lnTo>
                <a:lnTo>
                  <a:pt x="0" y="6191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24"/>
          <p:cNvSpPr/>
          <p:nvPr/>
        </p:nvSpPr>
        <p:spPr>
          <a:xfrm rot="10800000">
            <a:off x="16709750" y="9403787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3"/>
                </a:moveTo>
                <a:lnTo>
                  <a:pt x="0" y="2519303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24"/>
          <p:cNvSpPr/>
          <p:nvPr/>
        </p:nvSpPr>
        <p:spPr>
          <a:xfrm>
            <a:off x="15843416" y="6232408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7" name="Google Shape;277;p24"/>
          <p:cNvCxnSpPr>
            <a:stCxn id="278" idx="0"/>
            <a:endCxn id="279" idx="2"/>
          </p:cNvCxnSpPr>
          <p:nvPr/>
        </p:nvCxnSpPr>
        <p:spPr>
          <a:xfrm flipH="1" rot="10800000">
            <a:off x="3699975" y="6392975"/>
            <a:ext cx="1249200" cy="7620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4"/>
          <p:cNvCxnSpPr>
            <a:stCxn id="281" idx="2"/>
          </p:cNvCxnSpPr>
          <p:nvPr/>
        </p:nvCxnSpPr>
        <p:spPr>
          <a:xfrm rot="5400000">
            <a:off x="13626450" y="4529375"/>
            <a:ext cx="952800" cy="656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2" name="Google Shape;28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49175" y="1156623"/>
            <a:ext cx="9870801" cy="931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749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/>
          <p:nvPr/>
        </p:nvSpPr>
        <p:spPr>
          <a:xfrm>
            <a:off x="9235838" y="1365310"/>
            <a:ext cx="9052162" cy="8972956"/>
          </a:xfrm>
          <a:custGeom>
            <a:rect b="b" l="l" r="r" t="t"/>
            <a:pathLst>
              <a:path extrusionOk="0" h="8972956" w="9052162">
                <a:moveTo>
                  <a:pt x="0" y="0"/>
                </a:moveTo>
                <a:lnTo>
                  <a:pt x="9052162" y="0"/>
                </a:lnTo>
                <a:lnTo>
                  <a:pt x="9052162" y="8972956"/>
                </a:lnTo>
                <a:lnTo>
                  <a:pt x="0" y="8972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25"/>
          <p:cNvSpPr/>
          <p:nvPr/>
        </p:nvSpPr>
        <p:spPr>
          <a:xfrm>
            <a:off x="9263641" y="611324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8" y="0"/>
                </a:lnTo>
                <a:lnTo>
                  <a:pt x="5240868" y="4930610"/>
                </a:lnTo>
                <a:lnTo>
                  <a:pt x="0" y="4930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5"/>
          <p:cNvSpPr/>
          <p:nvPr/>
        </p:nvSpPr>
        <p:spPr>
          <a:xfrm>
            <a:off x="12306715" y="2900570"/>
            <a:ext cx="6924086" cy="8877034"/>
          </a:xfrm>
          <a:custGeom>
            <a:rect b="b" l="l" r="r" t="t"/>
            <a:pathLst>
              <a:path extrusionOk="0" h="8877034" w="6924086">
                <a:moveTo>
                  <a:pt x="0" y="0"/>
                </a:moveTo>
                <a:lnTo>
                  <a:pt x="6924086" y="0"/>
                </a:lnTo>
                <a:lnTo>
                  <a:pt x="6924086" y="8877033"/>
                </a:lnTo>
                <a:lnTo>
                  <a:pt x="0" y="8877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25"/>
          <p:cNvSpPr/>
          <p:nvPr/>
        </p:nvSpPr>
        <p:spPr>
          <a:xfrm>
            <a:off x="-389269" y="-415827"/>
            <a:ext cx="5240869" cy="4930610"/>
          </a:xfrm>
          <a:custGeom>
            <a:rect b="b" l="l" r="r" t="t"/>
            <a:pathLst>
              <a:path extrusionOk="0" h="4930610" w="5240869">
                <a:moveTo>
                  <a:pt x="0" y="0"/>
                </a:moveTo>
                <a:lnTo>
                  <a:pt x="5240869" y="0"/>
                </a:lnTo>
                <a:lnTo>
                  <a:pt x="5240869" y="4930609"/>
                </a:lnTo>
                <a:lnTo>
                  <a:pt x="0" y="49306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5"/>
          <p:cNvSpPr/>
          <p:nvPr/>
        </p:nvSpPr>
        <p:spPr>
          <a:xfrm>
            <a:off x="-1043023" y="1365310"/>
            <a:ext cx="4850918" cy="4808473"/>
          </a:xfrm>
          <a:custGeom>
            <a:rect b="b" l="l" r="r" t="t"/>
            <a:pathLst>
              <a:path extrusionOk="0" h="4808473" w="4850918">
                <a:moveTo>
                  <a:pt x="0" y="0"/>
                </a:moveTo>
                <a:lnTo>
                  <a:pt x="4850918" y="0"/>
                </a:lnTo>
                <a:lnTo>
                  <a:pt x="4850918" y="4808473"/>
                </a:lnTo>
                <a:lnTo>
                  <a:pt x="0" y="4808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25"/>
          <p:cNvSpPr/>
          <p:nvPr/>
        </p:nvSpPr>
        <p:spPr>
          <a:xfrm flipH="1" rot="10800000">
            <a:off x="-1043023" y="4014734"/>
            <a:ext cx="5185989" cy="6648704"/>
          </a:xfrm>
          <a:custGeom>
            <a:rect b="b" l="l" r="r" t="t"/>
            <a:pathLst>
              <a:path extrusionOk="0" h="6648704" w="5185989">
                <a:moveTo>
                  <a:pt x="0" y="6648705"/>
                </a:moveTo>
                <a:lnTo>
                  <a:pt x="5185989" y="6648705"/>
                </a:lnTo>
                <a:lnTo>
                  <a:pt x="5185989" y="0"/>
                </a:lnTo>
                <a:lnTo>
                  <a:pt x="0" y="0"/>
                </a:lnTo>
                <a:lnTo>
                  <a:pt x="0" y="664870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25"/>
          <p:cNvSpPr/>
          <p:nvPr/>
        </p:nvSpPr>
        <p:spPr>
          <a:xfrm rot="10800000">
            <a:off x="11711202" y="-1682416"/>
            <a:ext cx="8115113" cy="7017728"/>
          </a:xfrm>
          <a:custGeom>
            <a:rect b="b" l="l" r="r" t="t"/>
            <a:pathLst>
              <a:path extrusionOk="0" h="7017728" w="8115113">
                <a:moveTo>
                  <a:pt x="8115112" y="7017728"/>
                </a:moveTo>
                <a:lnTo>
                  <a:pt x="0" y="7017728"/>
                </a:lnTo>
                <a:lnTo>
                  <a:pt x="0" y="0"/>
                </a:lnTo>
                <a:lnTo>
                  <a:pt x="8115112" y="0"/>
                </a:lnTo>
                <a:lnTo>
                  <a:pt x="8115112" y="7017728"/>
                </a:lnTo>
                <a:close/>
              </a:path>
            </a:pathLst>
          </a:custGeom>
          <a:blipFill rotWithShape="1">
            <a:blip r:embed="rId6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25"/>
          <p:cNvSpPr/>
          <p:nvPr/>
        </p:nvSpPr>
        <p:spPr>
          <a:xfrm>
            <a:off x="-544601" y="-415827"/>
            <a:ext cx="2809405" cy="2242275"/>
          </a:xfrm>
          <a:custGeom>
            <a:rect b="b" l="l" r="r" t="t"/>
            <a:pathLst>
              <a:path extrusionOk="0" h="2242275" w="2809405">
                <a:moveTo>
                  <a:pt x="0" y="0"/>
                </a:moveTo>
                <a:lnTo>
                  <a:pt x="2809404" y="0"/>
                </a:lnTo>
                <a:lnTo>
                  <a:pt x="2809404" y="2242275"/>
                </a:lnTo>
                <a:lnTo>
                  <a:pt x="0" y="2242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25"/>
          <p:cNvSpPr/>
          <p:nvPr/>
        </p:nvSpPr>
        <p:spPr>
          <a:xfrm rot="10800000">
            <a:off x="14181338" y="1826448"/>
            <a:ext cx="3156500" cy="2519303"/>
          </a:xfrm>
          <a:custGeom>
            <a:rect b="b" l="l" r="r" t="t"/>
            <a:pathLst>
              <a:path extrusionOk="0" h="2519303" w="3156500">
                <a:moveTo>
                  <a:pt x="3156500" y="2519304"/>
                </a:moveTo>
                <a:lnTo>
                  <a:pt x="0" y="2519304"/>
                </a:lnTo>
                <a:lnTo>
                  <a:pt x="0" y="0"/>
                </a:lnTo>
                <a:lnTo>
                  <a:pt x="3156500" y="0"/>
                </a:lnTo>
                <a:lnTo>
                  <a:pt x="3156500" y="2519304"/>
                </a:lnTo>
                <a:close/>
              </a:path>
            </a:pathLst>
          </a:custGeom>
          <a:blipFill rotWithShape="1">
            <a:blip r:embed="rId8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25"/>
          <p:cNvSpPr txBox="1"/>
          <p:nvPr/>
        </p:nvSpPr>
        <p:spPr>
          <a:xfrm>
            <a:off x="5553539" y="4310575"/>
            <a:ext cx="54744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32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  <a:r>
              <a:rPr b="0" i="0" lang="en-US" sz="13332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</a:t>
            </a:r>
            <a:endParaRPr/>
          </a:p>
        </p:txBody>
      </p:sp>
      <p:grpSp>
        <p:nvGrpSpPr>
          <p:cNvPr id="297" name="Google Shape;297;p25"/>
          <p:cNvGrpSpPr/>
          <p:nvPr/>
        </p:nvGrpSpPr>
        <p:grpSpPr>
          <a:xfrm>
            <a:off x="5637499" y="2648269"/>
            <a:ext cx="3588493" cy="997665"/>
            <a:chOff x="0" y="-28575"/>
            <a:chExt cx="791578" cy="220073"/>
          </a:xfrm>
        </p:grpSpPr>
        <p:sp>
          <p:nvSpPr>
            <p:cNvPr id="298" name="Google Shape;298;p25"/>
            <p:cNvSpPr/>
            <p:nvPr/>
          </p:nvSpPr>
          <p:spPr>
            <a:xfrm>
              <a:off x="0" y="0"/>
              <a:ext cx="791578" cy="191498"/>
            </a:xfrm>
            <a:custGeom>
              <a:rect b="b" l="l" r="r" t="t"/>
              <a:pathLst>
                <a:path extrusionOk="0" h="191498" w="791578">
                  <a:moveTo>
                    <a:pt x="0" y="0"/>
                  </a:moveTo>
                  <a:lnTo>
                    <a:pt x="791578" y="0"/>
                  </a:lnTo>
                  <a:lnTo>
                    <a:pt x="791578" y="191498"/>
                  </a:lnTo>
                  <a:lnTo>
                    <a:pt x="0" y="1914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9" name="Google Shape;299;p25"/>
            <p:cNvSpPr txBox="1"/>
            <p:nvPr/>
          </p:nvSpPr>
          <p:spPr>
            <a:xfrm>
              <a:off x="0" y="-28575"/>
              <a:ext cx="791578" cy="2200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25"/>
          <p:cNvGrpSpPr/>
          <p:nvPr/>
        </p:nvGrpSpPr>
        <p:grpSpPr>
          <a:xfrm>
            <a:off x="9207447" y="2198674"/>
            <a:ext cx="452636" cy="579135"/>
            <a:chOff x="0" y="-28575"/>
            <a:chExt cx="99846" cy="127750"/>
          </a:xfrm>
        </p:grpSpPr>
        <p:sp>
          <p:nvSpPr>
            <p:cNvPr id="301" name="Google Shape;301;p25"/>
            <p:cNvSpPr/>
            <p:nvPr/>
          </p:nvSpPr>
          <p:spPr>
            <a:xfrm>
              <a:off x="0" y="0"/>
              <a:ext cx="99846" cy="99175"/>
            </a:xfrm>
            <a:custGeom>
              <a:rect b="b" l="l" r="r" t="t"/>
              <a:pathLst>
                <a:path extrusionOk="0" h="99175" w="99846">
                  <a:moveTo>
                    <a:pt x="0" y="0"/>
                  </a:moveTo>
                  <a:lnTo>
                    <a:pt x="99846" y="0"/>
                  </a:lnTo>
                  <a:lnTo>
                    <a:pt x="99846" y="99175"/>
                  </a:lnTo>
                  <a:lnTo>
                    <a:pt x="0" y="991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2" name="Google Shape;302;p25"/>
            <p:cNvSpPr txBox="1"/>
            <p:nvPr/>
          </p:nvSpPr>
          <p:spPr>
            <a:xfrm>
              <a:off x="0" y="-28575"/>
              <a:ext cx="99846" cy="12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7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25"/>
          <p:cNvSpPr txBox="1"/>
          <p:nvPr/>
        </p:nvSpPr>
        <p:spPr>
          <a:xfrm>
            <a:off x="5544318" y="7625616"/>
            <a:ext cx="54927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5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Let's discuss!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5637499" y="2979480"/>
            <a:ext cx="35886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75" u="none" cap="none" strike="noStrike">
                <a:solidFill>
                  <a:srgbClr val="2C174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GROUP </a:t>
            </a:r>
            <a:r>
              <a:rPr b="1" lang="en-US" sz="2775">
                <a:solidFill>
                  <a:srgbClr val="2C174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