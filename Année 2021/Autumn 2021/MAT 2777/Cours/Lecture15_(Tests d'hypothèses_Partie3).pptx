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810" r:id="rId1"/>
  </p:sldMasterIdLst>
  <p:notesMasterIdLst>
    <p:notesMasterId r:id="rId15"/>
  </p:notesMasterIdLst>
  <p:sldIdLst>
    <p:sldId id="256" r:id="rId2"/>
    <p:sldId id="257" r:id="rId3"/>
    <p:sldId id="258" r:id="rId4"/>
    <p:sldId id="259" r:id="rId5"/>
    <p:sldId id="260" r:id="rId6"/>
    <p:sldId id="261" r:id="rId7"/>
    <p:sldId id="262" r:id="rId8"/>
    <p:sldId id="263" r:id="rId9"/>
    <p:sldId id="264" r:id="rId10"/>
    <p:sldId id="265" r:id="rId11"/>
    <p:sldId id="266" r:id="rId12"/>
    <p:sldId id="268" r:id="rId13"/>
    <p:sldId id="269" r:id="rId14"/>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Style moyen 2 - Accentuation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D5ABB26-0587-4C30-8999-92F81FD0307C}" styleName="Aucun style, aucune grille">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3B4B98B0-60AC-42C2-AFA5-B58CD77FA1E5}" styleName="Style léger 1 - Accentuation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 styleId="{7DF18680-E054-41AD-8BC1-D1AEF772440D}" styleName="Style moyen 2 - Accentuation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 styleId="{8EC20E35-A176-4012-BC5E-935CFFF8708E}" styleName="Style moyen 3">
    <a:wholeTbl>
      <a:tcTxStyle>
        <a:fontRef idx="minor"/>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dk1"/>
          </a:solidFill>
        </a:fill>
      </a:tcStyle>
    </a:lastCol>
    <a:firstCol>
      <a:tcTxStyle b="on">
        <a:fontRef idx="minor">
          <a:scrgbClr r="0" g="0" b="0"/>
        </a:fontRef>
        <a:schemeClr val="lt1"/>
      </a:tcTxStyle>
      <a:tcStyle>
        <a:tcBdr/>
        <a:fill>
          <a:solidFill>
            <a:schemeClr val="dk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dk1"/>
          </a:solidFill>
        </a:fill>
      </a:tcStyle>
    </a:firstRow>
  </a:tblStyle>
  <a:tblStyle styleId="{9D7B26C5-4107-4FEC-AEDC-1716B250A1EF}" styleName="Style clair 1">
    <a:wholeTbl>
      <a:tcTxStyle>
        <a:fontRef idx="minor">
          <a:scrgbClr r="0" g="0" b="0"/>
        </a:fontRef>
        <a:schemeClr val="tx1"/>
      </a:tcTxStyle>
      <a:tcStyle>
        <a:tcBdr>
          <a:left>
            <a:ln>
              <a:noFill/>
            </a:ln>
          </a:left>
          <a:right>
            <a:ln>
              <a:noFill/>
            </a:ln>
          </a:right>
          <a:top>
            <a:ln w="12700" cmpd="sng">
              <a:solidFill>
                <a:schemeClr val="tx1"/>
              </a:solidFill>
            </a:ln>
          </a:top>
          <a:bottom>
            <a:ln w="12700" cmpd="sng">
              <a:solidFill>
                <a:schemeClr val="tx1"/>
              </a:solidFill>
            </a:ln>
          </a:bottom>
          <a:insideH>
            <a:ln>
              <a:noFill/>
            </a:ln>
          </a:insideH>
          <a:insideV>
            <a:ln>
              <a:noFill/>
            </a:ln>
          </a:insideV>
        </a:tcBdr>
        <a:fill>
          <a:noFill/>
        </a:fill>
      </a:tcStyle>
    </a:wholeTbl>
    <a:band1H>
      <a:tcStyle>
        <a:tcBdr/>
        <a:fill>
          <a:solidFill>
            <a:schemeClr val="tx1">
              <a:alpha val="20000"/>
            </a:schemeClr>
          </a:solidFill>
        </a:fill>
      </a:tcStyle>
    </a:band1H>
    <a:band2H>
      <a:tcStyle>
        <a:tcBdr/>
      </a:tcStyle>
    </a:band2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12700" cmpd="sng">
              <a:solidFill>
                <a:schemeClr val="tx1"/>
              </a:solidFill>
            </a:ln>
          </a:top>
        </a:tcBdr>
        <a:fill>
          <a:noFill/>
        </a:fill>
      </a:tcStyle>
    </a:lastRow>
    <a:firstRow>
      <a:tcTxStyle b="on"/>
      <a:tcStyle>
        <a:tcBdr>
          <a:bottom>
            <a:ln w="12700" cmpd="sng">
              <a:solidFill>
                <a:schemeClr val="tx1"/>
              </a:solidFill>
            </a:ln>
          </a:bottom>
        </a:tcBdr>
        <a:fill>
          <a:noFill/>
        </a:fill>
      </a:tcStyle>
    </a:firstRow>
  </a:tblStyle>
  <a:tblStyle styleId="{8799B23B-EC83-4686-B30A-512413B5E67A}" styleName="Style léger 3 - Accentuation 3">
    <a:wholeTbl>
      <a:tcTxStyle>
        <a:fontRef idx="minor">
          <a:scrgbClr r="0" g="0" b="0"/>
        </a:fontRef>
        <a:schemeClr val="tx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w="12700" cmpd="sng">
              <a:solidFill>
                <a:schemeClr val="accent3"/>
              </a:solidFill>
            </a:ln>
          </a:insideV>
        </a:tcBdr>
        <a:fill>
          <a:noFill/>
        </a:fill>
      </a:tcStyle>
    </a:wholeTbl>
    <a:band1H>
      <a:tcStyle>
        <a:tcBdr/>
        <a:fill>
          <a:solidFill>
            <a:schemeClr val="accent3">
              <a:alpha val="20000"/>
            </a:schemeClr>
          </a:solidFill>
        </a:fill>
      </a:tcStyle>
    </a:band1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50800" cmpd="dbl">
              <a:solidFill>
                <a:schemeClr val="accent3"/>
              </a:solidFill>
            </a:ln>
          </a:top>
        </a:tcBdr>
        <a:fill>
          <a:noFill/>
        </a:fill>
      </a:tcStyle>
    </a:lastRow>
    <a:firstRow>
      <a:tcTxStyle b="on"/>
      <a:tcStyle>
        <a:tcBdr>
          <a:bottom>
            <a:ln w="25400" cmpd="sng">
              <a:solidFill>
                <a:schemeClr val="accent3"/>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4744" autoAdjust="0"/>
    <p:restoredTop sz="86957" autoAdjust="0"/>
  </p:normalViewPr>
  <p:slideViewPr>
    <p:cSldViewPr snapToGrid="0">
      <p:cViewPr varScale="1">
        <p:scale>
          <a:sx n="99" d="100"/>
          <a:sy n="99" d="100"/>
        </p:scale>
        <p:origin x="1044" y="8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ce réservé de l'en-tête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fr-CA"/>
          </a:p>
        </p:txBody>
      </p:sp>
      <p:sp>
        <p:nvSpPr>
          <p:cNvPr id="3" name="Espace réservé de la date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B9A88AB8-1C01-41DC-AFCA-28305AC61B27}" type="datetimeFigureOut">
              <a:rPr lang="fr-CA" smtClean="0"/>
              <a:t>2021-11-16</a:t>
            </a:fld>
            <a:endParaRPr lang="fr-CA"/>
          </a:p>
        </p:txBody>
      </p:sp>
      <p:sp>
        <p:nvSpPr>
          <p:cNvPr id="4" name="Espace réservé de l'image des diapositives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fr-CA"/>
          </a:p>
        </p:txBody>
      </p:sp>
      <p:sp>
        <p:nvSpPr>
          <p:cNvPr id="5" name="Espace réservé des notes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fr-CA"/>
          </a:p>
        </p:txBody>
      </p:sp>
      <p:sp>
        <p:nvSpPr>
          <p:cNvPr id="6" name="Espace réservé du pied de page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fr-CA"/>
          </a:p>
        </p:txBody>
      </p:sp>
      <p:sp>
        <p:nvSpPr>
          <p:cNvPr id="7" name="Espace réservé du numéro de diapositive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B59F1DE7-72A5-40DE-843D-98ED1D33E9CB}" type="slidenum">
              <a:rPr lang="fr-CA" smtClean="0"/>
              <a:t>‹N°›</a:t>
            </a:fld>
            <a:endParaRPr lang="fr-CA"/>
          </a:p>
        </p:txBody>
      </p:sp>
    </p:spTree>
    <p:extLst>
      <p:ext uri="{BB962C8B-B14F-4D97-AF65-F5344CB8AC3E}">
        <p14:creationId xmlns:p14="http://schemas.microsoft.com/office/powerpoint/2010/main" val="71178888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e de titr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fr-FR"/>
              <a:t>Modifiez le style du titre</a:t>
            </a:r>
            <a:endParaRPr lang="en-US" dirty="0"/>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fr-FR"/>
              <a:t>Modifiez le style des sous-titres du masque</a:t>
            </a:r>
            <a:endParaRPr lang="en-US" dirty="0"/>
          </a:p>
        </p:txBody>
      </p:sp>
      <p:sp>
        <p:nvSpPr>
          <p:cNvPr id="4" name="Date Placeholder 3"/>
          <p:cNvSpPr>
            <a:spLocks noGrp="1"/>
          </p:cNvSpPr>
          <p:nvPr>
            <p:ph type="dt" sz="half" idx="10"/>
          </p:nvPr>
        </p:nvSpPr>
        <p:spPr/>
        <p:txBody>
          <a:bodyPr/>
          <a:lstStyle/>
          <a:p>
            <a:fld id="{DEBCAADC-90C4-42A0-92DD-A3EB1E3F99BC}" type="datetime1">
              <a:rPr lang="fr-CA" smtClean="0"/>
              <a:t>2021-11-16</a:t>
            </a:fld>
            <a:endParaRPr lang="fr-CA"/>
          </a:p>
        </p:txBody>
      </p:sp>
      <p:sp>
        <p:nvSpPr>
          <p:cNvPr id="5" name="Footer Placeholder 4"/>
          <p:cNvSpPr>
            <a:spLocks noGrp="1"/>
          </p:cNvSpPr>
          <p:nvPr>
            <p:ph type="ftr" sz="quarter" idx="11"/>
          </p:nvPr>
        </p:nvSpPr>
        <p:spPr/>
        <p:txBody>
          <a:bodyPr/>
          <a:lstStyle/>
          <a:p>
            <a:endParaRPr lang="fr-CA"/>
          </a:p>
        </p:txBody>
      </p:sp>
      <p:sp>
        <p:nvSpPr>
          <p:cNvPr id="6" name="Slide Number Placeholder 5"/>
          <p:cNvSpPr>
            <a:spLocks noGrp="1"/>
          </p:cNvSpPr>
          <p:nvPr>
            <p:ph type="sldNum" sz="quarter" idx="12"/>
          </p:nvPr>
        </p:nvSpPr>
        <p:spPr/>
        <p:txBody>
          <a:bodyPr/>
          <a:lstStyle/>
          <a:p>
            <a:fld id="{26377AD9-CE17-438C-A638-C64D2D42D7CF}" type="slidenum">
              <a:rPr lang="fr-CA" smtClean="0"/>
              <a:t>‹N°›</a:t>
            </a:fld>
            <a:endParaRPr lang="fr-CA"/>
          </a:p>
        </p:txBody>
      </p:sp>
    </p:spTree>
    <p:extLst>
      <p:ext uri="{BB962C8B-B14F-4D97-AF65-F5344CB8AC3E}">
        <p14:creationId xmlns:p14="http://schemas.microsoft.com/office/powerpoint/2010/main" val="397135820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re et contenu">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fr-FR"/>
              <a:t>Modifiez le style du titre</a:t>
            </a:r>
            <a:endParaRPr lang="en-US" dirty="0"/>
          </a:p>
        </p:txBody>
      </p:sp>
      <p:sp>
        <p:nvSpPr>
          <p:cNvPr id="3" name="Content Placeholder 2"/>
          <p:cNvSpPr>
            <a:spLocks noGrp="1"/>
          </p:cNvSpPr>
          <p:nvPr>
            <p:ph idx="1"/>
          </p:nvPr>
        </p:nvSpPr>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4" name="Date Placeholder 3"/>
          <p:cNvSpPr>
            <a:spLocks noGrp="1"/>
          </p:cNvSpPr>
          <p:nvPr>
            <p:ph type="dt" sz="half" idx="10"/>
          </p:nvPr>
        </p:nvSpPr>
        <p:spPr/>
        <p:txBody>
          <a:bodyPr/>
          <a:lstStyle/>
          <a:p>
            <a:fld id="{62FE81BE-FF7C-4713-86B5-98B3635F7575}" type="datetime1">
              <a:rPr lang="fr-CA" smtClean="0"/>
              <a:t>2021-11-16</a:t>
            </a:fld>
            <a:endParaRPr lang="fr-CA"/>
          </a:p>
        </p:txBody>
      </p:sp>
      <p:sp>
        <p:nvSpPr>
          <p:cNvPr id="5" name="Footer Placeholder 4"/>
          <p:cNvSpPr>
            <a:spLocks noGrp="1"/>
          </p:cNvSpPr>
          <p:nvPr>
            <p:ph type="ftr" sz="quarter" idx="11"/>
          </p:nvPr>
        </p:nvSpPr>
        <p:spPr/>
        <p:txBody>
          <a:bodyPr/>
          <a:lstStyle/>
          <a:p>
            <a:endParaRPr lang="fr-CA"/>
          </a:p>
        </p:txBody>
      </p:sp>
      <p:sp>
        <p:nvSpPr>
          <p:cNvPr id="6" name="Slide Number Placeholder 5"/>
          <p:cNvSpPr>
            <a:spLocks noGrp="1"/>
          </p:cNvSpPr>
          <p:nvPr>
            <p:ph type="sldNum" sz="quarter" idx="12"/>
          </p:nvPr>
        </p:nvSpPr>
        <p:spPr/>
        <p:txBody>
          <a:bodyPr/>
          <a:lstStyle/>
          <a:p>
            <a:fld id="{26377AD9-CE17-438C-A638-C64D2D42D7CF}" type="slidenum">
              <a:rPr lang="fr-CA" smtClean="0"/>
              <a:t>‹N°›</a:t>
            </a:fld>
            <a:endParaRPr lang="fr-CA"/>
          </a:p>
        </p:txBody>
      </p:sp>
    </p:spTree>
    <p:extLst>
      <p:ext uri="{BB962C8B-B14F-4D97-AF65-F5344CB8AC3E}">
        <p14:creationId xmlns:p14="http://schemas.microsoft.com/office/powerpoint/2010/main" val="425666222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Titre de section">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fr-FR"/>
              <a:t>Modifiez le style du titre</a:t>
            </a:r>
            <a:endParaRPr lang="en-US" dirty="0"/>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fr-FR"/>
              <a:t>Cliquez pour modifier les styles du texte du masque</a:t>
            </a:r>
          </a:p>
        </p:txBody>
      </p:sp>
      <p:sp>
        <p:nvSpPr>
          <p:cNvPr id="4" name="Date Placeholder 3"/>
          <p:cNvSpPr>
            <a:spLocks noGrp="1"/>
          </p:cNvSpPr>
          <p:nvPr>
            <p:ph type="dt" sz="half" idx="10"/>
          </p:nvPr>
        </p:nvSpPr>
        <p:spPr/>
        <p:txBody>
          <a:bodyPr/>
          <a:lstStyle/>
          <a:p>
            <a:fld id="{5307F1A6-A103-49CB-B28A-B5B8CE7CCF08}" type="datetime1">
              <a:rPr lang="fr-CA" smtClean="0"/>
              <a:t>2021-11-16</a:t>
            </a:fld>
            <a:endParaRPr lang="fr-CA"/>
          </a:p>
        </p:txBody>
      </p:sp>
      <p:sp>
        <p:nvSpPr>
          <p:cNvPr id="5" name="Footer Placeholder 4"/>
          <p:cNvSpPr>
            <a:spLocks noGrp="1"/>
          </p:cNvSpPr>
          <p:nvPr>
            <p:ph type="ftr" sz="quarter" idx="11"/>
          </p:nvPr>
        </p:nvSpPr>
        <p:spPr/>
        <p:txBody>
          <a:bodyPr/>
          <a:lstStyle/>
          <a:p>
            <a:endParaRPr lang="fr-CA"/>
          </a:p>
        </p:txBody>
      </p:sp>
      <p:sp>
        <p:nvSpPr>
          <p:cNvPr id="6" name="Slide Number Placeholder 5"/>
          <p:cNvSpPr>
            <a:spLocks noGrp="1"/>
          </p:cNvSpPr>
          <p:nvPr>
            <p:ph type="sldNum" sz="quarter" idx="12"/>
          </p:nvPr>
        </p:nvSpPr>
        <p:spPr/>
        <p:txBody>
          <a:bodyPr/>
          <a:lstStyle/>
          <a:p>
            <a:fld id="{26377AD9-CE17-438C-A638-C64D2D42D7CF}" type="slidenum">
              <a:rPr lang="fr-CA" smtClean="0"/>
              <a:t>‹N°›</a:t>
            </a:fld>
            <a:endParaRPr lang="fr-CA"/>
          </a:p>
        </p:txBody>
      </p:sp>
    </p:spTree>
    <p:extLst>
      <p:ext uri="{BB962C8B-B14F-4D97-AF65-F5344CB8AC3E}">
        <p14:creationId xmlns:p14="http://schemas.microsoft.com/office/powerpoint/2010/main" val="181871182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eux contenus">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fr-FR"/>
              <a:t>Modifiez le style du titre</a:t>
            </a:r>
            <a:endParaRPr lang="en-US" dirty="0"/>
          </a:p>
        </p:txBody>
      </p:sp>
      <p:sp>
        <p:nvSpPr>
          <p:cNvPr id="3" name="Content Placeholder 2"/>
          <p:cNvSpPr>
            <a:spLocks noGrp="1"/>
          </p:cNvSpPr>
          <p:nvPr>
            <p:ph sz="half" idx="1"/>
          </p:nvPr>
        </p:nvSpPr>
        <p:spPr>
          <a:xfrm>
            <a:off x="838200" y="1825625"/>
            <a:ext cx="5181600" cy="4351338"/>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4" name="Content Placeholder 3"/>
          <p:cNvSpPr>
            <a:spLocks noGrp="1"/>
          </p:cNvSpPr>
          <p:nvPr>
            <p:ph sz="half" idx="2"/>
          </p:nvPr>
        </p:nvSpPr>
        <p:spPr>
          <a:xfrm>
            <a:off x="6172200" y="1825625"/>
            <a:ext cx="5181600" cy="4351338"/>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5" name="Date Placeholder 4"/>
          <p:cNvSpPr>
            <a:spLocks noGrp="1"/>
          </p:cNvSpPr>
          <p:nvPr>
            <p:ph type="dt" sz="half" idx="10"/>
          </p:nvPr>
        </p:nvSpPr>
        <p:spPr/>
        <p:txBody>
          <a:bodyPr/>
          <a:lstStyle/>
          <a:p>
            <a:fld id="{B67FE57F-B680-462B-BBFD-7518F74AF714}" type="datetime1">
              <a:rPr lang="fr-CA" smtClean="0"/>
              <a:t>2021-11-16</a:t>
            </a:fld>
            <a:endParaRPr lang="fr-CA"/>
          </a:p>
        </p:txBody>
      </p:sp>
      <p:sp>
        <p:nvSpPr>
          <p:cNvPr id="6" name="Footer Placeholder 5"/>
          <p:cNvSpPr>
            <a:spLocks noGrp="1"/>
          </p:cNvSpPr>
          <p:nvPr>
            <p:ph type="ftr" sz="quarter" idx="11"/>
          </p:nvPr>
        </p:nvSpPr>
        <p:spPr/>
        <p:txBody>
          <a:bodyPr/>
          <a:lstStyle/>
          <a:p>
            <a:endParaRPr lang="fr-CA"/>
          </a:p>
        </p:txBody>
      </p:sp>
      <p:sp>
        <p:nvSpPr>
          <p:cNvPr id="7" name="Slide Number Placeholder 6"/>
          <p:cNvSpPr>
            <a:spLocks noGrp="1"/>
          </p:cNvSpPr>
          <p:nvPr>
            <p:ph type="sldNum" sz="quarter" idx="12"/>
          </p:nvPr>
        </p:nvSpPr>
        <p:spPr/>
        <p:txBody>
          <a:bodyPr/>
          <a:lstStyle/>
          <a:p>
            <a:fld id="{26377AD9-CE17-438C-A638-C64D2D42D7CF}" type="slidenum">
              <a:rPr lang="fr-CA" smtClean="0"/>
              <a:t>‹N°›</a:t>
            </a:fld>
            <a:endParaRPr lang="fr-CA"/>
          </a:p>
        </p:txBody>
      </p:sp>
    </p:spTree>
    <p:extLst>
      <p:ext uri="{BB962C8B-B14F-4D97-AF65-F5344CB8AC3E}">
        <p14:creationId xmlns:p14="http://schemas.microsoft.com/office/powerpoint/2010/main" val="204621906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fr-FR"/>
              <a:t>Modifiez le style du titre</a:t>
            </a:r>
            <a:endParaRPr lang="en-US" dirty="0"/>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a:t>Cliquez pour modifier les styles du texte du masque</a:t>
            </a:r>
          </a:p>
        </p:txBody>
      </p:sp>
      <p:sp>
        <p:nvSpPr>
          <p:cNvPr id="4" name="Content Placeholder 3"/>
          <p:cNvSpPr>
            <a:spLocks noGrp="1"/>
          </p:cNvSpPr>
          <p:nvPr>
            <p:ph sz="half" idx="2"/>
          </p:nvPr>
        </p:nvSpPr>
        <p:spPr>
          <a:xfrm>
            <a:off x="839788" y="2505075"/>
            <a:ext cx="5157787" cy="3684588"/>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a:t>Cliquez pour modifier les styles du texte du masque</a:t>
            </a:r>
          </a:p>
        </p:txBody>
      </p:sp>
      <p:sp>
        <p:nvSpPr>
          <p:cNvPr id="6" name="Content Placeholder 5"/>
          <p:cNvSpPr>
            <a:spLocks noGrp="1"/>
          </p:cNvSpPr>
          <p:nvPr>
            <p:ph sz="quarter" idx="4"/>
          </p:nvPr>
        </p:nvSpPr>
        <p:spPr>
          <a:xfrm>
            <a:off x="6172200" y="2505075"/>
            <a:ext cx="5183188" cy="3684588"/>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7" name="Date Placeholder 6"/>
          <p:cNvSpPr>
            <a:spLocks noGrp="1"/>
          </p:cNvSpPr>
          <p:nvPr>
            <p:ph type="dt" sz="half" idx="10"/>
          </p:nvPr>
        </p:nvSpPr>
        <p:spPr/>
        <p:txBody>
          <a:bodyPr/>
          <a:lstStyle/>
          <a:p>
            <a:fld id="{C91B3B4F-1CE8-448C-951A-2E287C7816DA}" type="datetime1">
              <a:rPr lang="fr-CA" smtClean="0"/>
              <a:t>2021-11-16</a:t>
            </a:fld>
            <a:endParaRPr lang="fr-CA"/>
          </a:p>
        </p:txBody>
      </p:sp>
      <p:sp>
        <p:nvSpPr>
          <p:cNvPr id="8" name="Footer Placeholder 7"/>
          <p:cNvSpPr>
            <a:spLocks noGrp="1"/>
          </p:cNvSpPr>
          <p:nvPr>
            <p:ph type="ftr" sz="quarter" idx="11"/>
          </p:nvPr>
        </p:nvSpPr>
        <p:spPr/>
        <p:txBody>
          <a:bodyPr/>
          <a:lstStyle/>
          <a:p>
            <a:endParaRPr lang="fr-CA"/>
          </a:p>
        </p:txBody>
      </p:sp>
      <p:sp>
        <p:nvSpPr>
          <p:cNvPr id="9" name="Slide Number Placeholder 8"/>
          <p:cNvSpPr>
            <a:spLocks noGrp="1"/>
          </p:cNvSpPr>
          <p:nvPr>
            <p:ph type="sldNum" sz="quarter" idx="12"/>
          </p:nvPr>
        </p:nvSpPr>
        <p:spPr/>
        <p:txBody>
          <a:bodyPr/>
          <a:lstStyle/>
          <a:p>
            <a:fld id="{26377AD9-CE17-438C-A638-C64D2D42D7CF}" type="slidenum">
              <a:rPr lang="fr-CA" smtClean="0"/>
              <a:t>‹N°›</a:t>
            </a:fld>
            <a:endParaRPr lang="fr-CA"/>
          </a:p>
        </p:txBody>
      </p:sp>
    </p:spTree>
    <p:extLst>
      <p:ext uri="{BB962C8B-B14F-4D97-AF65-F5344CB8AC3E}">
        <p14:creationId xmlns:p14="http://schemas.microsoft.com/office/powerpoint/2010/main" val="147481891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re seul">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fr-FR"/>
              <a:t>Modifiez le style du titre</a:t>
            </a:r>
            <a:endParaRPr lang="en-US" dirty="0"/>
          </a:p>
        </p:txBody>
      </p:sp>
      <p:sp>
        <p:nvSpPr>
          <p:cNvPr id="3" name="Date Placeholder 2"/>
          <p:cNvSpPr>
            <a:spLocks noGrp="1"/>
          </p:cNvSpPr>
          <p:nvPr>
            <p:ph type="dt" sz="half" idx="10"/>
          </p:nvPr>
        </p:nvSpPr>
        <p:spPr/>
        <p:txBody>
          <a:bodyPr/>
          <a:lstStyle/>
          <a:p>
            <a:fld id="{1F763F50-9144-44F9-A37F-D55A19808CF4}" type="datetime1">
              <a:rPr lang="fr-CA" smtClean="0"/>
              <a:t>2021-11-16</a:t>
            </a:fld>
            <a:endParaRPr lang="fr-CA"/>
          </a:p>
        </p:txBody>
      </p:sp>
      <p:sp>
        <p:nvSpPr>
          <p:cNvPr id="4" name="Footer Placeholder 3"/>
          <p:cNvSpPr>
            <a:spLocks noGrp="1"/>
          </p:cNvSpPr>
          <p:nvPr>
            <p:ph type="ftr" sz="quarter" idx="11"/>
          </p:nvPr>
        </p:nvSpPr>
        <p:spPr/>
        <p:txBody>
          <a:bodyPr/>
          <a:lstStyle/>
          <a:p>
            <a:endParaRPr lang="fr-CA"/>
          </a:p>
        </p:txBody>
      </p:sp>
      <p:sp>
        <p:nvSpPr>
          <p:cNvPr id="5" name="Slide Number Placeholder 4"/>
          <p:cNvSpPr>
            <a:spLocks noGrp="1"/>
          </p:cNvSpPr>
          <p:nvPr>
            <p:ph type="sldNum" sz="quarter" idx="12"/>
          </p:nvPr>
        </p:nvSpPr>
        <p:spPr/>
        <p:txBody>
          <a:bodyPr/>
          <a:lstStyle/>
          <a:p>
            <a:fld id="{26377AD9-CE17-438C-A638-C64D2D42D7CF}" type="slidenum">
              <a:rPr lang="fr-CA" smtClean="0"/>
              <a:t>‹N°›</a:t>
            </a:fld>
            <a:endParaRPr lang="fr-CA"/>
          </a:p>
        </p:txBody>
      </p:sp>
    </p:spTree>
    <p:extLst>
      <p:ext uri="{BB962C8B-B14F-4D97-AF65-F5344CB8AC3E}">
        <p14:creationId xmlns:p14="http://schemas.microsoft.com/office/powerpoint/2010/main" val="193743760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Vide">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39AB2447-19AC-45D2-83F5-5B12576F084D}" type="datetime1">
              <a:rPr lang="fr-CA" smtClean="0"/>
              <a:t>2021-11-16</a:t>
            </a:fld>
            <a:endParaRPr lang="fr-CA"/>
          </a:p>
        </p:txBody>
      </p:sp>
      <p:sp>
        <p:nvSpPr>
          <p:cNvPr id="3" name="Footer Placeholder 2"/>
          <p:cNvSpPr>
            <a:spLocks noGrp="1"/>
          </p:cNvSpPr>
          <p:nvPr>
            <p:ph type="ftr" sz="quarter" idx="11"/>
          </p:nvPr>
        </p:nvSpPr>
        <p:spPr/>
        <p:txBody>
          <a:bodyPr/>
          <a:lstStyle/>
          <a:p>
            <a:endParaRPr lang="fr-CA"/>
          </a:p>
        </p:txBody>
      </p:sp>
      <p:sp>
        <p:nvSpPr>
          <p:cNvPr id="4" name="Slide Number Placeholder 3"/>
          <p:cNvSpPr>
            <a:spLocks noGrp="1"/>
          </p:cNvSpPr>
          <p:nvPr>
            <p:ph type="sldNum" sz="quarter" idx="12"/>
          </p:nvPr>
        </p:nvSpPr>
        <p:spPr/>
        <p:txBody>
          <a:bodyPr/>
          <a:lstStyle/>
          <a:p>
            <a:fld id="{26377AD9-CE17-438C-A638-C64D2D42D7CF}" type="slidenum">
              <a:rPr lang="fr-CA" smtClean="0"/>
              <a:t>‹N°›</a:t>
            </a:fld>
            <a:endParaRPr lang="fr-CA"/>
          </a:p>
        </p:txBody>
      </p:sp>
    </p:spTree>
    <p:extLst>
      <p:ext uri="{BB962C8B-B14F-4D97-AF65-F5344CB8AC3E}">
        <p14:creationId xmlns:p14="http://schemas.microsoft.com/office/powerpoint/2010/main" val="105994876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u avec légende">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fr-FR"/>
              <a:t>Modifiez le style du titre</a:t>
            </a:r>
            <a:endParaRPr lang="en-US" dirty="0"/>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fr-FR"/>
              <a:t>Cliquez pour modifier les styles du texte du masque</a:t>
            </a:r>
          </a:p>
        </p:txBody>
      </p:sp>
      <p:sp>
        <p:nvSpPr>
          <p:cNvPr id="5" name="Date Placeholder 4"/>
          <p:cNvSpPr>
            <a:spLocks noGrp="1"/>
          </p:cNvSpPr>
          <p:nvPr>
            <p:ph type="dt" sz="half" idx="10"/>
          </p:nvPr>
        </p:nvSpPr>
        <p:spPr/>
        <p:txBody>
          <a:bodyPr/>
          <a:lstStyle/>
          <a:p>
            <a:fld id="{5B17A9AF-12D3-47FA-A0D6-97746BB8E776}" type="datetime1">
              <a:rPr lang="fr-CA" smtClean="0"/>
              <a:t>2021-11-16</a:t>
            </a:fld>
            <a:endParaRPr lang="fr-CA"/>
          </a:p>
        </p:txBody>
      </p:sp>
      <p:sp>
        <p:nvSpPr>
          <p:cNvPr id="6" name="Footer Placeholder 5"/>
          <p:cNvSpPr>
            <a:spLocks noGrp="1"/>
          </p:cNvSpPr>
          <p:nvPr>
            <p:ph type="ftr" sz="quarter" idx="11"/>
          </p:nvPr>
        </p:nvSpPr>
        <p:spPr/>
        <p:txBody>
          <a:bodyPr/>
          <a:lstStyle/>
          <a:p>
            <a:endParaRPr lang="fr-CA"/>
          </a:p>
        </p:txBody>
      </p:sp>
      <p:sp>
        <p:nvSpPr>
          <p:cNvPr id="7" name="Slide Number Placeholder 6"/>
          <p:cNvSpPr>
            <a:spLocks noGrp="1"/>
          </p:cNvSpPr>
          <p:nvPr>
            <p:ph type="sldNum" sz="quarter" idx="12"/>
          </p:nvPr>
        </p:nvSpPr>
        <p:spPr/>
        <p:txBody>
          <a:bodyPr/>
          <a:lstStyle/>
          <a:p>
            <a:fld id="{26377AD9-CE17-438C-A638-C64D2D42D7CF}" type="slidenum">
              <a:rPr lang="fr-CA" smtClean="0"/>
              <a:t>‹N°›</a:t>
            </a:fld>
            <a:endParaRPr lang="fr-CA"/>
          </a:p>
        </p:txBody>
      </p:sp>
    </p:spTree>
    <p:extLst>
      <p:ext uri="{BB962C8B-B14F-4D97-AF65-F5344CB8AC3E}">
        <p14:creationId xmlns:p14="http://schemas.microsoft.com/office/powerpoint/2010/main" val="333165509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 avec légende">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fr-FR"/>
              <a:t>Modifiez le style du titre</a:t>
            </a:r>
            <a:endParaRPr lang="en-US" dirty="0"/>
          </a:p>
        </p:txBody>
      </p:sp>
      <p:sp>
        <p:nvSpPr>
          <p:cNvPr id="3" name="Picture Placeholder 2"/>
          <p:cNvSpPr>
            <a:spLocks noGrp="1" noChangeAspect="1"/>
          </p:cNvSpPr>
          <p:nvPr>
            <p:ph type="pic" idx="1"/>
          </p:nvPr>
        </p:nvSpPr>
        <p:spPr>
          <a:xfrm>
            <a:off x="5183188" y="987425"/>
            <a:ext cx="617220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fr-FR"/>
              <a:t>Cliquez sur l'icône pour ajouter une image</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fr-FR"/>
              <a:t>Cliquez pour modifier les styles du texte du masque</a:t>
            </a:r>
          </a:p>
        </p:txBody>
      </p:sp>
      <p:sp>
        <p:nvSpPr>
          <p:cNvPr id="5" name="Date Placeholder 4"/>
          <p:cNvSpPr>
            <a:spLocks noGrp="1"/>
          </p:cNvSpPr>
          <p:nvPr>
            <p:ph type="dt" sz="half" idx="10"/>
          </p:nvPr>
        </p:nvSpPr>
        <p:spPr/>
        <p:txBody>
          <a:bodyPr/>
          <a:lstStyle/>
          <a:p>
            <a:fld id="{BCF19D18-3682-4189-B23C-B8B496B3307C}" type="datetime1">
              <a:rPr lang="fr-CA" smtClean="0"/>
              <a:t>2021-11-16</a:t>
            </a:fld>
            <a:endParaRPr lang="fr-CA"/>
          </a:p>
        </p:txBody>
      </p:sp>
      <p:sp>
        <p:nvSpPr>
          <p:cNvPr id="6" name="Footer Placeholder 5"/>
          <p:cNvSpPr>
            <a:spLocks noGrp="1"/>
          </p:cNvSpPr>
          <p:nvPr>
            <p:ph type="ftr" sz="quarter" idx="11"/>
          </p:nvPr>
        </p:nvSpPr>
        <p:spPr/>
        <p:txBody>
          <a:bodyPr/>
          <a:lstStyle/>
          <a:p>
            <a:endParaRPr lang="fr-CA"/>
          </a:p>
        </p:txBody>
      </p:sp>
      <p:sp>
        <p:nvSpPr>
          <p:cNvPr id="7" name="Slide Number Placeholder 6"/>
          <p:cNvSpPr>
            <a:spLocks noGrp="1"/>
          </p:cNvSpPr>
          <p:nvPr>
            <p:ph type="sldNum" sz="quarter" idx="12"/>
          </p:nvPr>
        </p:nvSpPr>
        <p:spPr/>
        <p:txBody>
          <a:bodyPr/>
          <a:lstStyle/>
          <a:p>
            <a:fld id="{26377AD9-CE17-438C-A638-C64D2D42D7CF}" type="slidenum">
              <a:rPr lang="fr-CA" smtClean="0"/>
              <a:t>‹N°›</a:t>
            </a:fld>
            <a:endParaRPr lang="fr-CA"/>
          </a:p>
        </p:txBody>
      </p:sp>
    </p:spTree>
    <p:extLst>
      <p:ext uri="{BB962C8B-B14F-4D97-AF65-F5344CB8AC3E}">
        <p14:creationId xmlns:p14="http://schemas.microsoft.com/office/powerpoint/2010/main" val="130940969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re et texte vertical">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fr-FR"/>
              <a:t>Modifiez le style du titre</a:t>
            </a:r>
            <a:endParaRPr lang="en-US" dirty="0"/>
          </a:p>
        </p:txBody>
      </p:sp>
      <p:sp>
        <p:nvSpPr>
          <p:cNvPr id="3" name="Vertical Text Placeholder 2"/>
          <p:cNvSpPr>
            <a:spLocks noGrp="1"/>
          </p:cNvSpPr>
          <p:nvPr>
            <p:ph type="body" orient="vert" idx="1"/>
          </p:nvPr>
        </p:nvSpPr>
        <p:spPr/>
        <p:txBody>
          <a:bodyPr vert="eaVert"/>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4" name="Date Placeholder 3"/>
          <p:cNvSpPr>
            <a:spLocks noGrp="1"/>
          </p:cNvSpPr>
          <p:nvPr>
            <p:ph type="dt" sz="half" idx="10"/>
          </p:nvPr>
        </p:nvSpPr>
        <p:spPr/>
        <p:txBody>
          <a:bodyPr/>
          <a:lstStyle/>
          <a:p>
            <a:fld id="{D6BEAFDA-2171-49C0-B449-3733417EA82F}" type="datetime1">
              <a:rPr lang="fr-CA" smtClean="0"/>
              <a:t>2021-11-16</a:t>
            </a:fld>
            <a:endParaRPr lang="fr-CA"/>
          </a:p>
        </p:txBody>
      </p:sp>
      <p:sp>
        <p:nvSpPr>
          <p:cNvPr id="5" name="Footer Placeholder 4"/>
          <p:cNvSpPr>
            <a:spLocks noGrp="1"/>
          </p:cNvSpPr>
          <p:nvPr>
            <p:ph type="ftr" sz="quarter" idx="11"/>
          </p:nvPr>
        </p:nvSpPr>
        <p:spPr/>
        <p:txBody>
          <a:bodyPr/>
          <a:lstStyle/>
          <a:p>
            <a:endParaRPr lang="fr-CA"/>
          </a:p>
        </p:txBody>
      </p:sp>
      <p:sp>
        <p:nvSpPr>
          <p:cNvPr id="6" name="Slide Number Placeholder 5"/>
          <p:cNvSpPr>
            <a:spLocks noGrp="1"/>
          </p:cNvSpPr>
          <p:nvPr>
            <p:ph type="sldNum" sz="quarter" idx="12"/>
          </p:nvPr>
        </p:nvSpPr>
        <p:spPr/>
        <p:txBody>
          <a:bodyPr/>
          <a:lstStyle/>
          <a:p>
            <a:fld id="{26377AD9-CE17-438C-A638-C64D2D42D7CF}" type="slidenum">
              <a:rPr lang="fr-CA" smtClean="0"/>
              <a:t>‹N°›</a:t>
            </a:fld>
            <a:endParaRPr lang="fr-CA"/>
          </a:p>
        </p:txBody>
      </p:sp>
    </p:spTree>
    <p:extLst>
      <p:ext uri="{BB962C8B-B14F-4D97-AF65-F5344CB8AC3E}">
        <p14:creationId xmlns:p14="http://schemas.microsoft.com/office/powerpoint/2010/main" val="237122508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itre vertical et texte">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fr-FR"/>
              <a:t>Modifiez le style du titre</a:t>
            </a:r>
            <a:endParaRPr lang="en-US" dirty="0"/>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4" name="Date Placeholder 3"/>
          <p:cNvSpPr>
            <a:spLocks noGrp="1"/>
          </p:cNvSpPr>
          <p:nvPr>
            <p:ph type="dt" sz="half" idx="10"/>
          </p:nvPr>
        </p:nvSpPr>
        <p:spPr/>
        <p:txBody>
          <a:bodyPr/>
          <a:lstStyle/>
          <a:p>
            <a:fld id="{E9EBD924-29A3-4FF2-B149-61A5377F8882}" type="datetime1">
              <a:rPr lang="fr-CA" smtClean="0"/>
              <a:t>2021-11-16</a:t>
            </a:fld>
            <a:endParaRPr lang="fr-CA"/>
          </a:p>
        </p:txBody>
      </p:sp>
      <p:sp>
        <p:nvSpPr>
          <p:cNvPr id="5" name="Footer Placeholder 4"/>
          <p:cNvSpPr>
            <a:spLocks noGrp="1"/>
          </p:cNvSpPr>
          <p:nvPr>
            <p:ph type="ftr" sz="quarter" idx="11"/>
          </p:nvPr>
        </p:nvSpPr>
        <p:spPr/>
        <p:txBody>
          <a:bodyPr/>
          <a:lstStyle/>
          <a:p>
            <a:endParaRPr lang="fr-CA"/>
          </a:p>
        </p:txBody>
      </p:sp>
      <p:sp>
        <p:nvSpPr>
          <p:cNvPr id="6" name="Slide Number Placeholder 5"/>
          <p:cNvSpPr>
            <a:spLocks noGrp="1"/>
          </p:cNvSpPr>
          <p:nvPr>
            <p:ph type="sldNum" sz="quarter" idx="12"/>
          </p:nvPr>
        </p:nvSpPr>
        <p:spPr/>
        <p:txBody>
          <a:bodyPr/>
          <a:lstStyle/>
          <a:p>
            <a:fld id="{26377AD9-CE17-438C-A638-C64D2D42D7CF}" type="slidenum">
              <a:rPr lang="fr-CA" smtClean="0"/>
              <a:t>‹N°›</a:t>
            </a:fld>
            <a:endParaRPr lang="fr-CA"/>
          </a:p>
        </p:txBody>
      </p:sp>
    </p:spTree>
    <p:extLst>
      <p:ext uri="{BB962C8B-B14F-4D97-AF65-F5344CB8AC3E}">
        <p14:creationId xmlns:p14="http://schemas.microsoft.com/office/powerpoint/2010/main" val="240238725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fr-FR"/>
              <a:t>Modifiez le style du titre</a:t>
            </a:r>
            <a:endParaRPr lang="en-US" dirty="0"/>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90418466-3607-4A57-8167-9FAB5784D41C}" type="datetime1">
              <a:rPr lang="fr-CA" smtClean="0"/>
              <a:t>2021-11-16</a:t>
            </a:fld>
            <a:endParaRPr lang="fr-CA"/>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fr-CA"/>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26377AD9-CE17-438C-A638-C64D2D42D7CF}" type="slidenum">
              <a:rPr lang="fr-CA" smtClean="0"/>
              <a:t>‹N°›</a:t>
            </a:fld>
            <a:endParaRPr lang="fr-CA"/>
          </a:p>
        </p:txBody>
      </p:sp>
    </p:spTree>
    <p:extLst>
      <p:ext uri="{BB962C8B-B14F-4D97-AF65-F5344CB8AC3E}">
        <p14:creationId xmlns:p14="http://schemas.microsoft.com/office/powerpoint/2010/main" val="1533741373"/>
      </p:ext>
    </p:extLst>
  </p:cSld>
  <p:clrMap bg1="lt1" tx1="dk1" bg2="lt2" tx2="dk2" accent1="accent1" accent2="accent2" accent3="accent3" accent4="accent4" accent5="accent5" accent6="accent6" hlink="hlink" folHlink="folHlink"/>
  <p:sldLayoutIdLst>
    <p:sldLayoutId id="2147483811" r:id="rId1"/>
    <p:sldLayoutId id="2147483812" r:id="rId2"/>
    <p:sldLayoutId id="2147483813" r:id="rId3"/>
    <p:sldLayoutId id="2147483814" r:id="rId4"/>
    <p:sldLayoutId id="2147483815" r:id="rId5"/>
    <p:sldLayoutId id="2147483816" r:id="rId6"/>
    <p:sldLayoutId id="2147483817" r:id="rId7"/>
    <p:sldLayoutId id="2147483818" r:id="rId8"/>
    <p:sldLayoutId id="2147483819" r:id="rId9"/>
    <p:sldLayoutId id="2147483820" r:id="rId10"/>
    <p:sldLayoutId id="2147483821" r:id="rId11"/>
  </p:sldLayoutIdLst>
  <p:hf hd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6.xml"/></Relationships>
</file>

<file path=ppt/slides/_rels/slide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6.xml"/></Relationships>
</file>

<file path=ppt/slides/_rels/slide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6.xml"/></Relationships>
</file>

<file path=ppt/slides/_rels/slide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6.xml"/></Relationships>
</file>

<file path=ppt/slides/_rels/slide5.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6.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7.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6.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9.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6.xml"/></Relationships>
</file>

<file path=ppt/slides/_rels/slide10.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6.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2.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6.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484F2AC8-0850-4BD1-952B-2D194AD0D4EB}"/>
              </a:ext>
            </a:extLst>
          </p:cNvPr>
          <p:cNvSpPr>
            <a:spLocks noGrp="1"/>
          </p:cNvSpPr>
          <p:nvPr>
            <p:ph type="title"/>
          </p:nvPr>
        </p:nvSpPr>
        <p:spPr>
          <a:xfrm>
            <a:off x="838200" y="365125"/>
            <a:ext cx="10515600" cy="2041899"/>
          </a:xfrm>
        </p:spPr>
        <p:txBody>
          <a:bodyPr>
            <a:normAutofit/>
          </a:bodyPr>
          <a:lstStyle/>
          <a:p>
            <a:r>
              <a:rPr lang="fr-CA" dirty="0"/>
              <a:t>Tests d’hypothèses sur deux moyennes indépendantes</a:t>
            </a:r>
            <a:br>
              <a:rPr lang="fr-CA" dirty="0"/>
            </a:br>
            <a:r>
              <a:rPr lang="fr-CA" dirty="0">
                <a:solidFill>
                  <a:srgbClr val="FF0000"/>
                </a:solidFill>
              </a:rPr>
              <a:t>Cas 2</a:t>
            </a:r>
            <a:r>
              <a:rPr lang="fr-CA" dirty="0"/>
              <a:t>: Les variances sont différentes.</a:t>
            </a:r>
          </a:p>
        </p:txBody>
      </p:sp>
      <p:sp>
        <p:nvSpPr>
          <p:cNvPr id="3" name="Espace réservé du pied de page 2">
            <a:extLst>
              <a:ext uri="{FF2B5EF4-FFF2-40B4-BE49-F238E27FC236}">
                <a16:creationId xmlns:a16="http://schemas.microsoft.com/office/drawing/2014/main" id="{0C55300C-0C18-4A9D-8AB5-EB617D6AAC51}"/>
              </a:ext>
            </a:extLst>
          </p:cNvPr>
          <p:cNvSpPr>
            <a:spLocks noGrp="1"/>
          </p:cNvSpPr>
          <p:nvPr>
            <p:ph type="ftr" sz="quarter" idx="11"/>
          </p:nvPr>
        </p:nvSpPr>
        <p:spPr/>
        <p:txBody>
          <a:bodyPr/>
          <a:lstStyle/>
          <a:p>
            <a:endParaRPr lang="fr-CA"/>
          </a:p>
        </p:txBody>
      </p:sp>
      <p:sp>
        <p:nvSpPr>
          <p:cNvPr id="4" name="Espace réservé du numéro de diapositive 3">
            <a:extLst>
              <a:ext uri="{FF2B5EF4-FFF2-40B4-BE49-F238E27FC236}">
                <a16:creationId xmlns:a16="http://schemas.microsoft.com/office/drawing/2014/main" id="{DDCF6FC2-93EB-42E2-A26B-E5C02A53A372}"/>
              </a:ext>
            </a:extLst>
          </p:cNvPr>
          <p:cNvSpPr>
            <a:spLocks noGrp="1"/>
          </p:cNvSpPr>
          <p:nvPr>
            <p:ph type="sldNum" sz="quarter" idx="12"/>
          </p:nvPr>
        </p:nvSpPr>
        <p:spPr/>
        <p:txBody>
          <a:bodyPr/>
          <a:lstStyle/>
          <a:p>
            <a:fld id="{26377AD9-CE17-438C-A638-C64D2D42D7CF}" type="slidenum">
              <a:rPr lang="fr-CA" smtClean="0"/>
              <a:t>1</a:t>
            </a:fld>
            <a:endParaRPr lang="fr-CA"/>
          </a:p>
        </p:txBody>
      </p:sp>
      <mc:AlternateContent xmlns:mc="http://schemas.openxmlformats.org/markup-compatibility/2006" xmlns:a14="http://schemas.microsoft.com/office/drawing/2010/main">
        <mc:Choice Requires="a14">
          <p:sp>
            <p:nvSpPr>
              <p:cNvPr id="5" name="ZoneTexte 4">
                <a:extLst>
                  <a:ext uri="{FF2B5EF4-FFF2-40B4-BE49-F238E27FC236}">
                    <a16:creationId xmlns:a16="http://schemas.microsoft.com/office/drawing/2014/main" id="{C38273D9-D498-4585-AF08-096DCB56D022}"/>
                  </a:ext>
                </a:extLst>
              </p:cNvPr>
              <p:cNvSpPr txBox="1"/>
              <p:nvPr/>
            </p:nvSpPr>
            <p:spPr>
              <a:xfrm>
                <a:off x="1102658" y="2245659"/>
                <a:ext cx="10421471" cy="3879524"/>
              </a:xfrm>
              <a:prstGeom prst="rect">
                <a:avLst/>
              </a:prstGeom>
              <a:noFill/>
            </p:spPr>
            <p:txBody>
              <a:bodyPr wrap="square" rtlCol="0">
                <a:spAutoFit/>
              </a:bodyPr>
              <a:lstStyle/>
              <a:p>
                <a:r>
                  <a:rPr lang="fr-CA" dirty="0"/>
                  <a:t>Dans ce cas on doit baser notre test sur la variable:</a:t>
                </a:r>
              </a:p>
              <a:p>
                <a:pPr/>
                <a14:m>
                  <m:oMathPara xmlns:m="http://schemas.openxmlformats.org/officeDocument/2006/math">
                    <m:oMathParaPr>
                      <m:jc m:val="centerGroup"/>
                    </m:oMathParaPr>
                    <m:oMath xmlns:m="http://schemas.openxmlformats.org/officeDocument/2006/math">
                      <m:sSub>
                        <m:sSubPr>
                          <m:ctrlPr>
                            <a:rPr lang="fr-CA" i="1" smtClean="0">
                              <a:latin typeface="Cambria Math" panose="02040503050406030204" pitchFamily="18" charset="0"/>
                            </a:rPr>
                          </m:ctrlPr>
                        </m:sSubPr>
                        <m:e>
                          <m:r>
                            <a:rPr lang="fr-CA" b="0" i="1" smtClean="0">
                              <a:latin typeface="Cambria Math" panose="02040503050406030204" pitchFamily="18" charset="0"/>
                            </a:rPr>
                            <m:t>𝑇</m:t>
                          </m:r>
                        </m:e>
                        <m:sub>
                          <m:r>
                            <a:rPr lang="fr-CA" i="1" smtClean="0">
                              <a:latin typeface="Cambria Math" panose="02040503050406030204" pitchFamily="18" charset="0"/>
                              <a:ea typeface="Cambria Math" panose="02040503050406030204" pitchFamily="18" charset="0"/>
                            </a:rPr>
                            <m:t>𝛾</m:t>
                          </m:r>
                        </m:sub>
                      </m:sSub>
                      <m:r>
                        <a:rPr lang="fr-CA" b="0" i="1" smtClean="0">
                          <a:latin typeface="Cambria Math" panose="02040503050406030204" pitchFamily="18" charset="0"/>
                        </a:rPr>
                        <m:t>=</m:t>
                      </m:r>
                      <m:f>
                        <m:fPr>
                          <m:ctrlPr>
                            <a:rPr lang="fr-CA" b="0" i="1" smtClean="0">
                              <a:latin typeface="Cambria Math" panose="02040503050406030204" pitchFamily="18" charset="0"/>
                            </a:rPr>
                          </m:ctrlPr>
                        </m:fPr>
                        <m:num>
                          <m:d>
                            <m:dPr>
                              <m:ctrlPr>
                                <a:rPr lang="fr-CA" b="0" i="1" smtClean="0">
                                  <a:latin typeface="Cambria Math" panose="02040503050406030204" pitchFamily="18" charset="0"/>
                                </a:rPr>
                              </m:ctrlPr>
                            </m:dPr>
                            <m:e>
                              <m:acc>
                                <m:accPr>
                                  <m:chr m:val="̅"/>
                                  <m:ctrlPr>
                                    <a:rPr lang="fr-CA" b="0" i="1" smtClean="0">
                                      <a:latin typeface="Cambria Math" panose="02040503050406030204" pitchFamily="18" charset="0"/>
                                    </a:rPr>
                                  </m:ctrlPr>
                                </m:accPr>
                                <m:e>
                                  <m:r>
                                    <a:rPr lang="fr-CA" b="0" i="1" smtClean="0">
                                      <a:latin typeface="Cambria Math" panose="02040503050406030204" pitchFamily="18" charset="0"/>
                                    </a:rPr>
                                    <m:t>𝑋</m:t>
                                  </m:r>
                                </m:e>
                              </m:acc>
                              <m:r>
                                <a:rPr lang="fr-CA" b="0" i="1" smtClean="0">
                                  <a:latin typeface="Cambria Math" panose="02040503050406030204" pitchFamily="18" charset="0"/>
                                </a:rPr>
                                <m:t>−</m:t>
                              </m:r>
                              <m:acc>
                                <m:accPr>
                                  <m:chr m:val="̅"/>
                                  <m:ctrlPr>
                                    <a:rPr lang="fr-CA" b="0" i="1" smtClean="0">
                                      <a:latin typeface="Cambria Math" panose="02040503050406030204" pitchFamily="18" charset="0"/>
                                    </a:rPr>
                                  </m:ctrlPr>
                                </m:accPr>
                                <m:e>
                                  <m:r>
                                    <a:rPr lang="fr-CA" b="0" i="1" smtClean="0">
                                      <a:latin typeface="Cambria Math" panose="02040503050406030204" pitchFamily="18" charset="0"/>
                                    </a:rPr>
                                    <m:t>𝑌</m:t>
                                  </m:r>
                                </m:e>
                              </m:acc>
                            </m:e>
                          </m:d>
                          <m:r>
                            <a:rPr lang="fr-CA" b="0" i="1" smtClean="0">
                              <a:latin typeface="Cambria Math" panose="02040503050406030204" pitchFamily="18" charset="0"/>
                            </a:rPr>
                            <m:t>−(</m:t>
                          </m:r>
                          <m:sSub>
                            <m:sSubPr>
                              <m:ctrlPr>
                                <a:rPr lang="fr-CA" b="0" i="1" smtClean="0">
                                  <a:latin typeface="Cambria Math" panose="02040503050406030204" pitchFamily="18" charset="0"/>
                                </a:rPr>
                              </m:ctrlPr>
                            </m:sSubPr>
                            <m:e>
                              <m:r>
                                <a:rPr lang="fr-CA" b="0" i="1" smtClean="0">
                                  <a:latin typeface="Cambria Math" panose="02040503050406030204" pitchFamily="18" charset="0"/>
                                  <a:ea typeface="Cambria Math" panose="02040503050406030204" pitchFamily="18" charset="0"/>
                                </a:rPr>
                                <m:t>𝜇</m:t>
                              </m:r>
                            </m:e>
                            <m:sub>
                              <m:r>
                                <a:rPr lang="fr-CA" b="0" i="1" smtClean="0">
                                  <a:latin typeface="Cambria Math" panose="02040503050406030204" pitchFamily="18" charset="0"/>
                                </a:rPr>
                                <m:t>1</m:t>
                              </m:r>
                            </m:sub>
                          </m:sSub>
                          <m:r>
                            <a:rPr lang="fr-CA" b="0" i="1" smtClean="0">
                              <a:latin typeface="Cambria Math" panose="02040503050406030204" pitchFamily="18" charset="0"/>
                            </a:rPr>
                            <m:t>−</m:t>
                          </m:r>
                          <m:sSub>
                            <m:sSubPr>
                              <m:ctrlPr>
                                <a:rPr lang="fr-CA" b="0" i="1" smtClean="0">
                                  <a:latin typeface="Cambria Math" panose="02040503050406030204" pitchFamily="18" charset="0"/>
                                </a:rPr>
                              </m:ctrlPr>
                            </m:sSubPr>
                            <m:e>
                              <m:r>
                                <a:rPr lang="fr-CA" b="0" i="1" smtClean="0">
                                  <a:latin typeface="Cambria Math" panose="02040503050406030204" pitchFamily="18" charset="0"/>
                                  <a:ea typeface="Cambria Math" panose="02040503050406030204" pitchFamily="18" charset="0"/>
                                </a:rPr>
                                <m:t>𝜇</m:t>
                              </m:r>
                            </m:e>
                            <m:sub>
                              <m:r>
                                <a:rPr lang="fr-CA" b="0" i="1" smtClean="0">
                                  <a:latin typeface="Cambria Math" panose="02040503050406030204" pitchFamily="18" charset="0"/>
                                </a:rPr>
                                <m:t>2</m:t>
                              </m:r>
                            </m:sub>
                          </m:sSub>
                          <m:r>
                            <a:rPr lang="fr-CA" b="0" i="1" smtClean="0">
                              <a:latin typeface="Cambria Math" panose="02040503050406030204" pitchFamily="18" charset="0"/>
                            </a:rPr>
                            <m:t>)</m:t>
                          </m:r>
                        </m:num>
                        <m:den>
                          <m:rad>
                            <m:radPr>
                              <m:degHide m:val="on"/>
                              <m:ctrlPr>
                                <a:rPr lang="fr-CA" b="0" i="1" smtClean="0">
                                  <a:latin typeface="Cambria Math" panose="02040503050406030204" pitchFamily="18" charset="0"/>
                                </a:rPr>
                              </m:ctrlPr>
                            </m:radPr>
                            <m:deg/>
                            <m:e>
                              <m:f>
                                <m:fPr>
                                  <m:ctrlPr>
                                    <a:rPr lang="fr-CA" b="0" i="1" smtClean="0">
                                      <a:latin typeface="Cambria Math" panose="02040503050406030204" pitchFamily="18" charset="0"/>
                                    </a:rPr>
                                  </m:ctrlPr>
                                </m:fPr>
                                <m:num>
                                  <m:sSubSup>
                                    <m:sSubSupPr>
                                      <m:ctrlPr>
                                        <a:rPr lang="fr-CA" b="0" i="1" smtClean="0">
                                          <a:latin typeface="Cambria Math" panose="02040503050406030204" pitchFamily="18" charset="0"/>
                                        </a:rPr>
                                      </m:ctrlPr>
                                    </m:sSubSupPr>
                                    <m:e>
                                      <m:r>
                                        <a:rPr lang="fr-CA" b="0" i="1" smtClean="0">
                                          <a:latin typeface="Cambria Math" panose="02040503050406030204" pitchFamily="18" charset="0"/>
                                        </a:rPr>
                                        <m:t>𝑠</m:t>
                                      </m:r>
                                    </m:e>
                                    <m:sub>
                                      <m:r>
                                        <a:rPr lang="fr-CA" b="0" i="1" smtClean="0">
                                          <a:latin typeface="Cambria Math" panose="02040503050406030204" pitchFamily="18" charset="0"/>
                                        </a:rPr>
                                        <m:t>1</m:t>
                                      </m:r>
                                    </m:sub>
                                    <m:sup>
                                      <m:r>
                                        <a:rPr lang="fr-CA" b="0" i="1" smtClean="0">
                                          <a:latin typeface="Cambria Math" panose="02040503050406030204" pitchFamily="18" charset="0"/>
                                        </a:rPr>
                                        <m:t>2</m:t>
                                      </m:r>
                                    </m:sup>
                                  </m:sSubSup>
                                </m:num>
                                <m:den>
                                  <m:r>
                                    <a:rPr lang="fr-CA" b="0" i="1" smtClean="0">
                                      <a:latin typeface="Cambria Math" panose="02040503050406030204" pitchFamily="18" charset="0"/>
                                    </a:rPr>
                                    <m:t>𝑛</m:t>
                                  </m:r>
                                </m:den>
                              </m:f>
                              <m:r>
                                <a:rPr lang="fr-CA" b="0" i="1" smtClean="0">
                                  <a:latin typeface="Cambria Math" panose="02040503050406030204" pitchFamily="18" charset="0"/>
                                </a:rPr>
                                <m:t>+</m:t>
                              </m:r>
                              <m:f>
                                <m:fPr>
                                  <m:ctrlPr>
                                    <a:rPr lang="fr-CA" b="0" i="1" smtClean="0">
                                      <a:latin typeface="Cambria Math" panose="02040503050406030204" pitchFamily="18" charset="0"/>
                                    </a:rPr>
                                  </m:ctrlPr>
                                </m:fPr>
                                <m:num>
                                  <m:sSubSup>
                                    <m:sSubSupPr>
                                      <m:ctrlPr>
                                        <a:rPr lang="fr-CA" b="0" i="1" smtClean="0">
                                          <a:latin typeface="Cambria Math" panose="02040503050406030204" pitchFamily="18" charset="0"/>
                                        </a:rPr>
                                      </m:ctrlPr>
                                    </m:sSubSupPr>
                                    <m:e>
                                      <m:r>
                                        <a:rPr lang="fr-CA" b="0" i="1" smtClean="0">
                                          <a:latin typeface="Cambria Math" panose="02040503050406030204" pitchFamily="18" charset="0"/>
                                        </a:rPr>
                                        <m:t>𝑠</m:t>
                                      </m:r>
                                    </m:e>
                                    <m:sub>
                                      <m:r>
                                        <a:rPr lang="fr-CA" b="0" i="1" smtClean="0">
                                          <a:latin typeface="Cambria Math" panose="02040503050406030204" pitchFamily="18" charset="0"/>
                                        </a:rPr>
                                        <m:t>2</m:t>
                                      </m:r>
                                    </m:sub>
                                    <m:sup>
                                      <m:r>
                                        <a:rPr lang="fr-CA" b="0" i="1" smtClean="0">
                                          <a:latin typeface="Cambria Math" panose="02040503050406030204" pitchFamily="18" charset="0"/>
                                        </a:rPr>
                                        <m:t>2</m:t>
                                      </m:r>
                                    </m:sup>
                                  </m:sSubSup>
                                </m:num>
                                <m:den>
                                  <m:r>
                                    <a:rPr lang="fr-CA" b="0" i="1" smtClean="0">
                                      <a:latin typeface="Cambria Math" panose="02040503050406030204" pitchFamily="18" charset="0"/>
                                    </a:rPr>
                                    <m:t>𝑚</m:t>
                                  </m:r>
                                </m:den>
                              </m:f>
                            </m:e>
                          </m:rad>
                        </m:den>
                      </m:f>
                    </m:oMath>
                  </m:oMathPara>
                </a14:m>
                <a:endParaRPr lang="fr-CA" dirty="0"/>
              </a:p>
              <a:p>
                <a:endParaRPr lang="fr-CA" dirty="0"/>
              </a:p>
              <a:p>
                <a:r>
                  <a:rPr lang="fr-CA" dirty="0"/>
                  <a:t>Avec le nombre de degré de liberté est égal à :</a:t>
                </a:r>
              </a:p>
              <a:p>
                <a:endParaRPr lang="fr-CA" dirty="0"/>
              </a:p>
              <a:p>
                <a:pPr/>
                <a14:m>
                  <m:oMathPara xmlns:m="http://schemas.openxmlformats.org/officeDocument/2006/math">
                    <m:oMathParaPr>
                      <m:jc m:val="centerGroup"/>
                    </m:oMathParaPr>
                    <m:oMath xmlns:m="http://schemas.openxmlformats.org/officeDocument/2006/math">
                      <m:r>
                        <a:rPr lang="fr-CA" i="1" smtClean="0">
                          <a:latin typeface="Cambria Math" panose="02040503050406030204" pitchFamily="18" charset="0"/>
                          <a:ea typeface="Cambria Math" panose="02040503050406030204" pitchFamily="18" charset="0"/>
                        </a:rPr>
                        <m:t>𝛾</m:t>
                      </m:r>
                      <m:r>
                        <a:rPr lang="fr-CA" b="0" i="1" smtClean="0">
                          <a:latin typeface="Cambria Math" panose="02040503050406030204" pitchFamily="18" charset="0"/>
                          <a:ea typeface="Cambria Math" panose="02040503050406030204" pitchFamily="18" charset="0"/>
                        </a:rPr>
                        <m:t>=</m:t>
                      </m:r>
                      <m:f>
                        <m:fPr>
                          <m:ctrlPr>
                            <a:rPr lang="fr-CA" b="0" i="1" smtClean="0">
                              <a:latin typeface="Cambria Math" panose="02040503050406030204" pitchFamily="18" charset="0"/>
                              <a:ea typeface="Cambria Math" panose="02040503050406030204" pitchFamily="18" charset="0"/>
                            </a:rPr>
                          </m:ctrlPr>
                        </m:fPr>
                        <m:num>
                          <m:sSup>
                            <m:sSupPr>
                              <m:ctrlPr>
                                <a:rPr lang="fr-CA" b="0" i="1" smtClean="0">
                                  <a:latin typeface="Cambria Math" panose="02040503050406030204" pitchFamily="18" charset="0"/>
                                  <a:ea typeface="Cambria Math" panose="02040503050406030204" pitchFamily="18" charset="0"/>
                                </a:rPr>
                              </m:ctrlPr>
                            </m:sSupPr>
                            <m:e>
                              <m:r>
                                <a:rPr lang="fr-CA" b="0" i="1" smtClean="0">
                                  <a:latin typeface="Cambria Math" panose="02040503050406030204" pitchFamily="18" charset="0"/>
                                  <a:ea typeface="Cambria Math" panose="02040503050406030204" pitchFamily="18" charset="0"/>
                                </a:rPr>
                                <m:t>(</m:t>
                              </m:r>
                              <m:f>
                                <m:fPr>
                                  <m:ctrlPr>
                                    <a:rPr lang="fr-CA" b="0" i="1" smtClean="0">
                                      <a:latin typeface="Cambria Math" panose="02040503050406030204" pitchFamily="18" charset="0"/>
                                      <a:ea typeface="Cambria Math" panose="02040503050406030204" pitchFamily="18" charset="0"/>
                                    </a:rPr>
                                  </m:ctrlPr>
                                </m:fPr>
                                <m:num>
                                  <m:sSubSup>
                                    <m:sSubSupPr>
                                      <m:ctrlPr>
                                        <a:rPr lang="fr-CA" b="0" i="1" smtClean="0">
                                          <a:latin typeface="Cambria Math" panose="02040503050406030204" pitchFamily="18" charset="0"/>
                                          <a:ea typeface="Cambria Math" panose="02040503050406030204" pitchFamily="18" charset="0"/>
                                        </a:rPr>
                                      </m:ctrlPr>
                                    </m:sSubSupPr>
                                    <m:e>
                                      <m:r>
                                        <a:rPr lang="fr-CA" b="0" i="1" smtClean="0">
                                          <a:latin typeface="Cambria Math" panose="02040503050406030204" pitchFamily="18" charset="0"/>
                                          <a:ea typeface="Cambria Math" panose="02040503050406030204" pitchFamily="18" charset="0"/>
                                        </a:rPr>
                                        <m:t>𝑠</m:t>
                                      </m:r>
                                    </m:e>
                                    <m:sub>
                                      <m:r>
                                        <a:rPr lang="fr-CA" b="0" i="1" smtClean="0">
                                          <a:latin typeface="Cambria Math" panose="02040503050406030204" pitchFamily="18" charset="0"/>
                                          <a:ea typeface="Cambria Math" panose="02040503050406030204" pitchFamily="18" charset="0"/>
                                        </a:rPr>
                                        <m:t>1</m:t>
                                      </m:r>
                                    </m:sub>
                                    <m:sup>
                                      <m:r>
                                        <a:rPr lang="fr-CA" b="0" i="1" smtClean="0">
                                          <a:latin typeface="Cambria Math" panose="02040503050406030204" pitchFamily="18" charset="0"/>
                                          <a:ea typeface="Cambria Math" panose="02040503050406030204" pitchFamily="18" charset="0"/>
                                        </a:rPr>
                                        <m:t>2</m:t>
                                      </m:r>
                                    </m:sup>
                                  </m:sSubSup>
                                </m:num>
                                <m:den>
                                  <m:r>
                                    <a:rPr lang="fr-CA" b="0" i="1" smtClean="0">
                                      <a:latin typeface="Cambria Math" panose="02040503050406030204" pitchFamily="18" charset="0"/>
                                      <a:ea typeface="Cambria Math" panose="02040503050406030204" pitchFamily="18" charset="0"/>
                                    </a:rPr>
                                    <m:t>𝑛</m:t>
                                  </m:r>
                                </m:den>
                              </m:f>
                              <m:r>
                                <a:rPr lang="fr-CA" b="0" i="1" smtClean="0">
                                  <a:latin typeface="Cambria Math" panose="02040503050406030204" pitchFamily="18" charset="0"/>
                                  <a:ea typeface="Cambria Math" panose="02040503050406030204" pitchFamily="18" charset="0"/>
                                </a:rPr>
                                <m:t>+</m:t>
                              </m:r>
                              <m:f>
                                <m:fPr>
                                  <m:ctrlPr>
                                    <a:rPr lang="fr-CA" b="0" i="1" smtClean="0">
                                      <a:latin typeface="Cambria Math" panose="02040503050406030204" pitchFamily="18" charset="0"/>
                                      <a:ea typeface="Cambria Math" panose="02040503050406030204" pitchFamily="18" charset="0"/>
                                    </a:rPr>
                                  </m:ctrlPr>
                                </m:fPr>
                                <m:num>
                                  <m:sSubSup>
                                    <m:sSubSupPr>
                                      <m:ctrlPr>
                                        <a:rPr lang="fr-CA" b="0" i="1" smtClean="0">
                                          <a:latin typeface="Cambria Math" panose="02040503050406030204" pitchFamily="18" charset="0"/>
                                          <a:ea typeface="Cambria Math" panose="02040503050406030204" pitchFamily="18" charset="0"/>
                                        </a:rPr>
                                      </m:ctrlPr>
                                    </m:sSubSupPr>
                                    <m:e>
                                      <m:r>
                                        <a:rPr lang="fr-CA" b="0" i="1" smtClean="0">
                                          <a:latin typeface="Cambria Math" panose="02040503050406030204" pitchFamily="18" charset="0"/>
                                          <a:ea typeface="Cambria Math" panose="02040503050406030204" pitchFamily="18" charset="0"/>
                                        </a:rPr>
                                        <m:t>𝑠</m:t>
                                      </m:r>
                                    </m:e>
                                    <m:sub>
                                      <m:r>
                                        <a:rPr lang="fr-CA" b="0" i="1" smtClean="0">
                                          <a:latin typeface="Cambria Math" panose="02040503050406030204" pitchFamily="18" charset="0"/>
                                          <a:ea typeface="Cambria Math" panose="02040503050406030204" pitchFamily="18" charset="0"/>
                                        </a:rPr>
                                        <m:t>2</m:t>
                                      </m:r>
                                    </m:sub>
                                    <m:sup>
                                      <m:r>
                                        <a:rPr lang="fr-CA" b="0" i="1" smtClean="0">
                                          <a:latin typeface="Cambria Math" panose="02040503050406030204" pitchFamily="18" charset="0"/>
                                          <a:ea typeface="Cambria Math" panose="02040503050406030204" pitchFamily="18" charset="0"/>
                                        </a:rPr>
                                        <m:t>2</m:t>
                                      </m:r>
                                    </m:sup>
                                  </m:sSubSup>
                                </m:num>
                                <m:den>
                                  <m:r>
                                    <a:rPr lang="fr-CA" b="0" i="1" smtClean="0">
                                      <a:latin typeface="Cambria Math" panose="02040503050406030204" pitchFamily="18" charset="0"/>
                                      <a:ea typeface="Cambria Math" panose="02040503050406030204" pitchFamily="18" charset="0"/>
                                    </a:rPr>
                                    <m:t>𝑚</m:t>
                                  </m:r>
                                </m:den>
                              </m:f>
                              <m:r>
                                <a:rPr lang="fr-CA" b="0" i="1" smtClean="0">
                                  <a:latin typeface="Cambria Math" panose="02040503050406030204" pitchFamily="18" charset="0"/>
                                  <a:ea typeface="Cambria Math" panose="02040503050406030204" pitchFamily="18" charset="0"/>
                                </a:rPr>
                                <m:t>)</m:t>
                              </m:r>
                            </m:e>
                            <m:sup>
                              <m:r>
                                <a:rPr lang="fr-CA" b="0" i="1" smtClean="0">
                                  <a:latin typeface="Cambria Math" panose="02040503050406030204" pitchFamily="18" charset="0"/>
                                  <a:ea typeface="Cambria Math" panose="02040503050406030204" pitchFamily="18" charset="0"/>
                                </a:rPr>
                                <m:t>2</m:t>
                              </m:r>
                            </m:sup>
                          </m:sSup>
                        </m:num>
                        <m:den>
                          <m:f>
                            <m:fPr>
                              <m:ctrlPr>
                                <a:rPr lang="fr-CA" b="0" i="1" smtClean="0">
                                  <a:latin typeface="Cambria Math" panose="02040503050406030204" pitchFamily="18" charset="0"/>
                                  <a:ea typeface="Cambria Math" panose="02040503050406030204" pitchFamily="18" charset="0"/>
                                </a:rPr>
                              </m:ctrlPr>
                            </m:fPr>
                            <m:num>
                              <m:sSup>
                                <m:sSupPr>
                                  <m:ctrlPr>
                                    <a:rPr lang="fr-CA" b="0" i="1" smtClean="0">
                                      <a:latin typeface="Cambria Math" panose="02040503050406030204" pitchFamily="18" charset="0"/>
                                      <a:ea typeface="Cambria Math" panose="02040503050406030204" pitchFamily="18" charset="0"/>
                                    </a:rPr>
                                  </m:ctrlPr>
                                </m:sSupPr>
                                <m:e>
                                  <m:r>
                                    <a:rPr lang="fr-CA" b="0" i="1" smtClean="0">
                                      <a:latin typeface="Cambria Math" panose="02040503050406030204" pitchFamily="18" charset="0"/>
                                      <a:ea typeface="Cambria Math" panose="02040503050406030204" pitchFamily="18" charset="0"/>
                                    </a:rPr>
                                    <m:t>(</m:t>
                                  </m:r>
                                  <m:f>
                                    <m:fPr>
                                      <m:ctrlPr>
                                        <a:rPr lang="fr-CA" b="0" i="1" smtClean="0">
                                          <a:latin typeface="Cambria Math" panose="02040503050406030204" pitchFamily="18" charset="0"/>
                                          <a:ea typeface="Cambria Math" panose="02040503050406030204" pitchFamily="18" charset="0"/>
                                        </a:rPr>
                                      </m:ctrlPr>
                                    </m:fPr>
                                    <m:num>
                                      <m:sSubSup>
                                        <m:sSubSupPr>
                                          <m:ctrlPr>
                                            <a:rPr lang="fr-CA" b="0" i="1" smtClean="0">
                                              <a:latin typeface="Cambria Math" panose="02040503050406030204" pitchFamily="18" charset="0"/>
                                              <a:ea typeface="Cambria Math" panose="02040503050406030204" pitchFamily="18" charset="0"/>
                                            </a:rPr>
                                          </m:ctrlPr>
                                        </m:sSubSupPr>
                                        <m:e>
                                          <m:r>
                                            <a:rPr lang="fr-CA" b="0" i="1" smtClean="0">
                                              <a:latin typeface="Cambria Math" panose="02040503050406030204" pitchFamily="18" charset="0"/>
                                              <a:ea typeface="Cambria Math" panose="02040503050406030204" pitchFamily="18" charset="0"/>
                                            </a:rPr>
                                            <m:t>𝑠</m:t>
                                          </m:r>
                                        </m:e>
                                        <m:sub>
                                          <m:r>
                                            <a:rPr lang="fr-CA" b="0" i="1" smtClean="0">
                                              <a:latin typeface="Cambria Math" panose="02040503050406030204" pitchFamily="18" charset="0"/>
                                              <a:ea typeface="Cambria Math" panose="02040503050406030204" pitchFamily="18" charset="0"/>
                                            </a:rPr>
                                            <m:t>1</m:t>
                                          </m:r>
                                        </m:sub>
                                        <m:sup>
                                          <m:r>
                                            <a:rPr lang="fr-CA" b="0" i="1" smtClean="0">
                                              <a:latin typeface="Cambria Math" panose="02040503050406030204" pitchFamily="18" charset="0"/>
                                              <a:ea typeface="Cambria Math" panose="02040503050406030204" pitchFamily="18" charset="0"/>
                                            </a:rPr>
                                            <m:t>2</m:t>
                                          </m:r>
                                        </m:sup>
                                      </m:sSubSup>
                                    </m:num>
                                    <m:den>
                                      <m:r>
                                        <a:rPr lang="fr-CA" b="0" i="1" smtClean="0">
                                          <a:latin typeface="Cambria Math" panose="02040503050406030204" pitchFamily="18" charset="0"/>
                                          <a:ea typeface="Cambria Math" panose="02040503050406030204" pitchFamily="18" charset="0"/>
                                        </a:rPr>
                                        <m:t>𝑛</m:t>
                                      </m:r>
                                    </m:den>
                                  </m:f>
                                  <m:r>
                                    <a:rPr lang="fr-CA" b="0" i="1" smtClean="0">
                                      <a:latin typeface="Cambria Math" panose="02040503050406030204" pitchFamily="18" charset="0"/>
                                      <a:ea typeface="Cambria Math" panose="02040503050406030204" pitchFamily="18" charset="0"/>
                                    </a:rPr>
                                    <m:t>)</m:t>
                                  </m:r>
                                </m:e>
                                <m:sup>
                                  <m:r>
                                    <a:rPr lang="fr-CA" b="0" i="1" smtClean="0">
                                      <a:latin typeface="Cambria Math" panose="02040503050406030204" pitchFamily="18" charset="0"/>
                                      <a:ea typeface="Cambria Math" panose="02040503050406030204" pitchFamily="18" charset="0"/>
                                    </a:rPr>
                                    <m:t>2</m:t>
                                  </m:r>
                                </m:sup>
                              </m:sSup>
                            </m:num>
                            <m:den>
                              <m:r>
                                <a:rPr lang="fr-CA" b="0" i="1" smtClean="0">
                                  <a:latin typeface="Cambria Math" panose="02040503050406030204" pitchFamily="18" charset="0"/>
                                  <a:ea typeface="Cambria Math" panose="02040503050406030204" pitchFamily="18" charset="0"/>
                                </a:rPr>
                                <m:t>𝑛</m:t>
                              </m:r>
                              <m:r>
                                <a:rPr lang="fr-CA" b="0" i="1" smtClean="0">
                                  <a:latin typeface="Cambria Math" panose="02040503050406030204" pitchFamily="18" charset="0"/>
                                  <a:ea typeface="Cambria Math" panose="02040503050406030204" pitchFamily="18" charset="0"/>
                                </a:rPr>
                                <m:t>−1</m:t>
                              </m:r>
                            </m:den>
                          </m:f>
                          <m:r>
                            <a:rPr lang="fr-CA" b="0" i="1" smtClean="0">
                              <a:latin typeface="Cambria Math" panose="02040503050406030204" pitchFamily="18" charset="0"/>
                              <a:ea typeface="Cambria Math" panose="02040503050406030204" pitchFamily="18" charset="0"/>
                            </a:rPr>
                            <m:t>+</m:t>
                          </m:r>
                          <m:f>
                            <m:fPr>
                              <m:ctrlPr>
                                <a:rPr lang="fr-CA" i="1">
                                  <a:latin typeface="Cambria Math" panose="02040503050406030204" pitchFamily="18" charset="0"/>
                                  <a:ea typeface="Cambria Math" panose="02040503050406030204" pitchFamily="18" charset="0"/>
                                </a:rPr>
                              </m:ctrlPr>
                            </m:fPr>
                            <m:num>
                              <m:sSup>
                                <m:sSupPr>
                                  <m:ctrlPr>
                                    <a:rPr lang="fr-CA" i="1">
                                      <a:latin typeface="Cambria Math" panose="02040503050406030204" pitchFamily="18" charset="0"/>
                                      <a:ea typeface="Cambria Math" panose="02040503050406030204" pitchFamily="18" charset="0"/>
                                    </a:rPr>
                                  </m:ctrlPr>
                                </m:sSupPr>
                                <m:e>
                                  <m:r>
                                    <a:rPr lang="fr-CA" i="1">
                                      <a:latin typeface="Cambria Math" panose="02040503050406030204" pitchFamily="18" charset="0"/>
                                      <a:ea typeface="Cambria Math" panose="02040503050406030204" pitchFamily="18" charset="0"/>
                                    </a:rPr>
                                    <m:t>(</m:t>
                                  </m:r>
                                  <m:f>
                                    <m:fPr>
                                      <m:ctrlPr>
                                        <a:rPr lang="fr-CA" i="1">
                                          <a:latin typeface="Cambria Math" panose="02040503050406030204" pitchFamily="18" charset="0"/>
                                          <a:ea typeface="Cambria Math" panose="02040503050406030204" pitchFamily="18" charset="0"/>
                                        </a:rPr>
                                      </m:ctrlPr>
                                    </m:fPr>
                                    <m:num>
                                      <m:sSubSup>
                                        <m:sSubSupPr>
                                          <m:ctrlPr>
                                            <a:rPr lang="fr-CA" i="1">
                                              <a:latin typeface="Cambria Math" panose="02040503050406030204" pitchFamily="18" charset="0"/>
                                              <a:ea typeface="Cambria Math" panose="02040503050406030204" pitchFamily="18" charset="0"/>
                                            </a:rPr>
                                          </m:ctrlPr>
                                        </m:sSubSupPr>
                                        <m:e>
                                          <m:r>
                                            <a:rPr lang="fr-CA" i="1">
                                              <a:latin typeface="Cambria Math" panose="02040503050406030204" pitchFamily="18" charset="0"/>
                                              <a:ea typeface="Cambria Math" panose="02040503050406030204" pitchFamily="18" charset="0"/>
                                            </a:rPr>
                                            <m:t>𝑠</m:t>
                                          </m:r>
                                        </m:e>
                                        <m:sub>
                                          <m:r>
                                            <a:rPr lang="fr-CA" b="0" i="1" smtClean="0">
                                              <a:latin typeface="Cambria Math" panose="02040503050406030204" pitchFamily="18" charset="0"/>
                                              <a:ea typeface="Cambria Math" panose="02040503050406030204" pitchFamily="18" charset="0"/>
                                            </a:rPr>
                                            <m:t>2</m:t>
                                          </m:r>
                                        </m:sub>
                                        <m:sup>
                                          <m:r>
                                            <a:rPr lang="fr-CA" i="1">
                                              <a:latin typeface="Cambria Math" panose="02040503050406030204" pitchFamily="18" charset="0"/>
                                              <a:ea typeface="Cambria Math" panose="02040503050406030204" pitchFamily="18" charset="0"/>
                                            </a:rPr>
                                            <m:t>2</m:t>
                                          </m:r>
                                        </m:sup>
                                      </m:sSubSup>
                                    </m:num>
                                    <m:den>
                                      <m:r>
                                        <a:rPr lang="fr-CA" b="0" i="1" smtClean="0">
                                          <a:latin typeface="Cambria Math" panose="02040503050406030204" pitchFamily="18" charset="0"/>
                                          <a:ea typeface="Cambria Math" panose="02040503050406030204" pitchFamily="18" charset="0"/>
                                        </a:rPr>
                                        <m:t>𝑚</m:t>
                                      </m:r>
                                    </m:den>
                                  </m:f>
                                  <m:r>
                                    <a:rPr lang="fr-CA" i="1">
                                      <a:latin typeface="Cambria Math" panose="02040503050406030204" pitchFamily="18" charset="0"/>
                                      <a:ea typeface="Cambria Math" panose="02040503050406030204" pitchFamily="18" charset="0"/>
                                    </a:rPr>
                                    <m:t>)</m:t>
                                  </m:r>
                                </m:e>
                                <m:sup>
                                  <m:r>
                                    <a:rPr lang="fr-CA" i="1">
                                      <a:latin typeface="Cambria Math" panose="02040503050406030204" pitchFamily="18" charset="0"/>
                                      <a:ea typeface="Cambria Math" panose="02040503050406030204" pitchFamily="18" charset="0"/>
                                    </a:rPr>
                                    <m:t>2</m:t>
                                  </m:r>
                                </m:sup>
                              </m:sSup>
                            </m:num>
                            <m:den>
                              <m:r>
                                <a:rPr lang="fr-CA" b="0" i="1" smtClean="0">
                                  <a:latin typeface="Cambria Math" panose="02040503050406030204" pitchFamily="18" charset="0"/>
                                  <a:ea typeface="Cambria Math" panose="02040503050406030204" pitchFamily="18" charset="0"/>
                                </a:rPr>
                                <m:t>𝑚</m:t>
                              </m:r>
                              <m:r>
                                <a:rPr lang="fr-CA" i="1">
                                  <a:latin typeface="Cambria Math" panose="02040503050406030204" pitchFamily="18" charset="0"/>
                                  <a:ea typeface="Cambria Math" panose="02040503050406030204" pitchFamily="18" charset="0"/>
                                </a:rPr>
                                <m:t>−1</m:t>
                              </m:r>
                            </m:den>
                          </m:f>
                        </m:den>
                      </m:f>
                    </m:oMath>
                  </m:oMathPara>
                </a14:m>
                <a:endParaRPr lang="fr-CA" dirty="0"/>
              </a:p>
              <a:p>
                <a:r>
                  <a:rPr lang="fr-CA" dirty="0"/>
                  <a:t>On arrondit ce degré de liberté à l’entier immédiatement inférieur.</a:t>
                </a:r>
              </a:p>
              <a:p>
                <a:r>
                  <a:rPr lang="fr-CA" dirty="0"/>
                  <a:t>Cette méthode s’appelle  méthode de Welsh</a:t>
                </a:r>
              </a:p>
            </p:txBody>
          </p:sp>
        </mc:Choice>
        <mc:Fallback xmlns="">
          <p:sp>
            <p:nvSpPr>
              <p:cNvPr id="5" name="ZoneTexte 4">
                <a:extLst>
                  <a:ext uri="{FF2B5EF4-FFF2-40B4-BE49-F238E27FC236}">
                    <a16:creationId xmlns:a16="http://schemas.microsoft.com/office/drawing/2014/main" id="{C38273D9-D498-4585-AF08-096DCB56D022}"/>
                  </a:ext>
                </a:extLst>
              </p:cNvPr>
              <p:cNvSpPr txBox="1">
                <a:spLocks noRot="1" noChangeAspect="1" noMove="1" noResize="1" noEditPoints="1" noAdjustHandles="1" noChangeArrowheads="1" noChangeShapeType="1" noTextEdit="1"/>
              </p:cNvSpPr>
              <p:nvPr/>
            </p:nvSpPr>
            <p:spPr>
              <a:xfrm>
                <a:off x="1102658" y="2245659"/>
                <a:ext cx="10421471" cy="3879524"/>
              </a:xfrm>
              <a:prstGeom prst="rect">
                <a:avLst/>
              </a:prstGeom>
              <a:blipFill>
                <a:blip r:embed="rId2"/>
                <a:stretch>
                  <a:fillRect l="-527" t="-785" b="-1413"/>
                </a:stretch>
              </a:blipFill>
            </p:spPr>
            <p:txBody>
              <a:bodyPr/>
              <a:lstStyle/>
              <a:p>
                <a:r>
                  <a:rPr lang="fr-CA">
                    <a:noFill/>
                  </a:rPr>
                  <a:t> </a:t>
                </a:r>
              </a:p>
            </p:txBody>
          </p:sp>
        </mc:Fallback>
      </mc:AlternateContent>
    </p:spTree>
    <p:extLst>
      <p:ext uri="{BB962C8B-B14F-4D97-AF65-F5344CB8AC3E}">
        <p14:creationId xmlns:p14="http://schemas.microsoft.com/office/powerpoint/2010/main" val="33031905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FAA9CFCE-6ADC-4BA9-851C-CB8F60D199D1}"/>
              </a:ext>
            </a:extLst>
          </p:cNvPr>
          <p:cNvSpPr>
            <a:spLocks noGrp="1"/>
          </p:cNvSpPr>
          <p:nvPr>
            <p:ph type="title"/>
          </p:nvPr>
        </p:nvSpPr>
        <p:spPr/>
        <p:txBody>
          <a:bodyPr>
            <a:normAutofit/>
          </a:bodyPr>
          <a:lstStyle/>
          <a:p>
            <a:r>
              <a:rPr lang="fr-CA" sz="2400" b="1" dirty="0">
                <a:solidFill>
                  <a:srgbClr val="000000"/>
                </a:solidFill>
                <a:effectLst/>
                <a:latin typeface="Times New Roman" panose="02020603050405020304" pitchFamily="18" charset="0"/>
                <a:ea typeface="Times New Roman" panose="02020603050405020304" pitchFamily="18" charset="0"/>
              </a:rPr>
              <a:t>Par défaut le logiciel R suppose que les variances des deux variables ne sont pas égales et utilise systématiquement la méthode Welsh.</a:t>
            </a:r>
            <a:br>
              <a:rPr lang="fr-CA" sz="2400" b="1" dirty="0">
                <a:solidFill>
                  <a:srgbClr val="000000"/>
                </a:solidFill>
                <a:effectLst/>
                <a:latin typeface="Times New Roman" panose="02020603050405020304" pitchFamily="18" charset="0"/>
                <a:ea typeface="Times New Roman" panose="02020603050405020304" pitchFamily="18" charset="0"/>
              </a:rPr>
            </a:br>
            <a:endParaRPr lang="fr-CA" sz="2400" b="1" dirty="0"/>
          </a:p>
        </p:txBody>
      </p:sp>
      <p:sp>
        <p:nvSpPr>
          <p:cNvPr id="3" name="Espace réservé du pied de page 2">
            <a:extLst>
              <a:ext uri="{FF2B5EF4-FFF2-40B4-BE49-F238E27FC236}">
                <a16:creationId xmlns:a16="http://schemas.microsoft.com/office/drawing/2014/main" id="{7A871B93-1BF6-4AFE-9678-93C987317533}"/>
              </a:ext>
            </a:extLst>
          </p:cNvPr>
          <p:cNvSpPr>
            <a:spLocks noGrp="1"/>
          </p:cNvSpPr>
          <p:nvPr>
            <p:ph type="ftr" sz="quarter" idx="11"/>
          </p:nvPr>
        </p:nvSpPr>
        <p:spPr/>
        <p:txBody>
          <a:bodyPr/>
          <a:lstStyle/>
          <a:p>
            <a:endParaRPr lang="fr-CA"/>
          </a:p>
        </p:txBody>
      </p:sp>
      <p:sp>
        <p:nvSpPr>
          <p:cNvPr id="5" name="ZoneTexte 4">
            <a:extLst>
              <a:ext uri="{FF2B5EF4-FFF2-40B4-BE49-F238E27FC236}">
                <a16:creationId xmlns:a16="http://schemas.microsoft.com/office/drawing/2014/main" id="{E4131BDA-3D83-48D8-BF1E-3C609CFA1547}"/>
              </a:ext>
            </a:extLst>
          </p:cNvPr>
          <p:cNvSpPr txBox="1"/>
          <p:nvPr/>
        </p:nvSpPr>
        <p:spPr>
          <a:xfrm>
            <a:off x="981635" y="1573307"/>
            <a:ext cx="10515600" cy="1200329"/>
          </a:xfrm>
          <a:prstGeom prst="rect">
            <a:avLst/>
          </a:prstGeom>
          <a:noFill/>
        </p:spPr>
        <p:txBody>
          <a:bodyPr wrap="square" rtlCol="0">
            <a:spAutoFit/>
          </a:bodyPr>
          <a:lstStyle/>
          <a:p>
            <a:r>
              <a:rPr lang="fr-CA" b="1" dirty="0"/>
              <a:t>Exemple: </a:t>
            </a:r>
            <a:r>
              <a:rPr lang="fr-CA" sz="1800" dirty="0">
                <a:solidFill>
                  <a:srgbClr val="000000"/>
                </a:solidFill>
                <a:effectLst/>
                <a:latin typeface="Times New Roman" panose="02020603050405020304" pitchFamily="18" charset="0"/>
                <a:ea typeface="Times New Roman" panose="02020603050405020304" pitchFamily="18" charset="0"/>
              </a:rPr>
              <a:t>On veut savoir s’il y a une différences entre  les prix moyens (en $) des caméras achetées sur 2 sites internet différents. On a donc sélectionné un échantillon aléatoire de caméras de chacun de ces sites et on a obtenu les données suivantes :</a:t>
            </a:r>
          </a:p>
          <a:p>
            <a:endParaRPr lang="fr-CA" dirty="0"/>
          </a:p>
        </p:txBody>
      </p:sp>
      <p:graphicFrame>
        <p:nvGraphicFramePr>
          <p:cNvPr id="6" name="Tableau 5">
            <a:extLst>
              <a:ext uri="{FF2B5EF4-FFF2-40B4-BE49-F238E27FC236}">
                <a16:creationId xmlns:a16="http://schemas.microsoft.com/office/drawing/2014/main" id="{25E4FBAE-D08E-42FD-AD09-35B6678000E9}"/>
              </a:ext>
            </a:extLst>
          </p:cNvPr>
          <p:cNvGraphicFramePr>
            <a:graphicFrameLocks noGrp="1"/>
          </p:cNvGraphicFramePr>
          <p:nvPr>
            <p:extLst>
              <p:ext uri="{D42A27DB-BD31-4B8C-83A1-F6EECF244321}">
                <p14:modId xmlns:p14="http://schemas.microsoft.com/office/powerpoint/2010/main" val="1471987927"/>
              </p:ext>
            </p:extLst>
          </p:nvPr>
        </p:nvGraphicFramePr>
        <p:xfrm>
          <a:off x="2030506" y="2898870"/>
          <a:ext cx="8135467" cy="1457273"/>
        </p:xfrm>
        <a:graphic>
          <a:graphicData uri="http://schemas.openxmlformats.org/drawingml/2006/table">
            <a:tbl>
              <a:tblPr firstRow="1" firstCol="1" bandRow="1">
                <a:tableStyleId>{5C22544A-7EE6-4342-B048-85BDC9FD1C3A}</a:tableStyleId>
              </a:tblPr>
              <a:tblGrid>
                <a:gridCol w="936096">
                  <a:extLst>
                    <a:ext uri="{9D8B030D-6E8A-4147-A177-3AD203B41FA5}">
                      <a16:colId xmlns:a16="http://schemas.microsoft.com/office/drawing/2014/main" val="1168770891"/>
                    </a:ext>
                  </a:extLst>
                </a:gridCol>
                <a:gridCol w="907816">
                  <a:extLst>
                    <a:ext uri="{9D8B030D-6E8A-4147-A177-3AD203B41FA5}">
                      <a16:colId xmlns:a16="http://schemas.microsoft.com/office/drawing/2014/main" val="3771620713"/>
                    </a:ext>
                  </a:extLst>
                </a:gridCol>
                <a:gridCol w="909702">
                  <a:extLst>
                    <a:ext uri="{9D8B030D-6E8A-4147-A177-3AD203B41FA5}">
                      <a16:colId xmlns:a16="http://schemas.microsoft.com/office/drawing/2014/main" val="193792236"/>
                    </a:ext>
                  </a:extLst>
                </a:gridCol>
                <a:gridCol w="909702">
                  <a:extLst>
                    <a:ext uri="{9D8B030D-6E8A-4147-A177-3AD203B41FA5}">
                      <a16:colId xmlns:a16="http://schemas.microsoft.com/office/drawing/2014/main" val="2188929661"/>
                    </a:ext>
                  </a:extLst>
                </a:gridCol>
                <a:gridCol w="909702">
                  <a:extLst>
                    <a:ext uri="{9D8B030D-6E8A-4147-A177-3AD203B41FA5}">
                      <a16:colId xmlns:a16="http://schemas.microsoft.com/office/drawing/2014/main" val="1158627124"/>
                    </a:ext>
                  </a:extLst>
                </a:gridCol>
                <a:gridCol w="909702">
                  <a:extLst>
                    <a:ext uri="{9D8B030D-6E8A-4147-A177-3AD203B41FA5}">
                      <a16:colId xmlns:a16="http://schemas.microsoft.com/office/drawing/2014/main" val="841489076"/>
                    </a:ext>
                  </a:extLst>
                </a:gridCol>
                <a:gridCol w="909702">
                  <a:extLst>
                    <a:ext uri="{9D8B030D-6E8A-4147-A177-3AD203B41FA5}">
                      <a16:colId xmlns:a16="http://schemas.microsoft.com/office/drawing/2014/main" val="3507228255"/>
                    </a:ext>
                  </a:extLst>
                </a:gridCol>
                <a:gridCol w="909702">
                  <a:extLst>
                    <a:ext uri="{9D8B030D-6E8A-4147-A177-3AD203B41FA5}">
                      <a16:colId xmlns:a16="http://schemas.microsoft.com/office/drawing/2014/main" val="610723688"/>
                    </a:ext>
                  </a:extLst>
                </a:gridCol>
                <a:gridCol w="833343">
                  <a:extLst>
                    <a:ext uri="{9D8B030D-6E8A-4147-A177-3AD203B41FA5}">
                      <a16:colId xmlns:a16="http://schemas.microsoft.com/office/drawing/2014/main" val="2223216455"/>
                    </a:ext>
                  </a:extLst>
                </a:gridCol>
              </a:tblGrid>
              <a:tr h="727532">
                <a:tc>
                  <a:txBody>
                    <a:bodyPr/>
                    <a:lstStyle/>
                    <a:p>
                      <a:pPr algn="just">
                        <a:lnSpc>
                          <a:spcPct val="200000"/>
                        </a:lnSpc>
                        <a:spcAft>
                          <a:spcPts val="800"/>
                        </a:spcAft>
                      </a:pPr>
                      <a:r>
                        <a:rPr lang="fr-CA" sz="1200">
                          <a:effectLst/>
                        </a:rPr>
                        <a:t>Site1</a:t>
                      </a:r>
                      <a:endParaRPr lang="fr-CA" sz="1000">
                        <a:solidFill>
                          <a:srgbClr val="000000"/>
                        </a:solidFill>
                        <a:effectLst/>
                        <a:latin typeface="Times New Roman" panose="02020603050405020304" pitchFamily="18" charset="0"/>
                        <a:ea typeface="Times New Roman" panose="02020603050405020304" pitchFamily="18" charset="0"/>
                      </a:endParaRPr>
                    </a:p>
                  </a:txBody>
                  <a:tcPr marL="68580" marR="68580" marT="0" marB="0"/>
                </a:tc>
                <a:tc>
                  <a:txBody>
                    <a:bodyPr/>
                    <a:lstStyle/>
                    <a:p>
                      <a:pPr algn="just">
                        <a:lnSpc>
                          <a:spcPct val="200000"/>
                        </a:lnSpc>
                        <a:spcAft>
                          <a:spcPts val="800"/>
                        </a:spcAft>
                      </a:pPr>
                      <a:r>
                        <a:rPr lang="fr-CA" sz="1200">
                          <a:effectLst/>
                        </a:rPr>
                        <a:t>275</a:t>
                      </a:r>
                      <a:endParaRPr lang="fr-CA" sz="1000">
                        <a:solidFill>
                          <a:srgbClr val="000000"/>
                        </a:solidFill>
                        <a:effectLst/>
                        <a:latin typeface="Times New Roman" panose="02020603050405020304" pitchFamily="18" charset="0"/>
                        <a:ea typeface="Times New Roman" panose="02020603050405020304" pitchFamily="18" charset="0"/>
                      </a:endParaRPr>
                    </a:p>
                  </a:txBody>
                  <a:tcPr marL="68580" marR="68580" marT="0" marB="0"/>
                </a:tc>
                <a:tc>
                  <a:txBody>
                    <a:bodyPr/>
                    <a:lstStyle/>
                    <a:p>
                      <a:pPr algn="just">
                        <a:lnSpc>
                          <a:spcPct val="200000"/>
                        </a:lnSpc>
                        <a:spcAft>
                          <a:spcPts val="800"/>
                        </a:spcAft>
                      </a:pPr>
                      <a:r>
                        <a:rPr lang="fr-CA" sz="1200">
                          <a:effectLst/>
                        </a:rPr>
                        <a:t>260</a:t>
                      </a:r>
                      <a:endParaRPr lang="fr-CA" sz="1000">
                        <a:solidFill>
                          <a:srgbClr val="000000"/>
                        </a:solidFill>
                        <a:effectLst/>
                        <a:latin typeface="Times New Roman" panose="02020603050405020304" pitchFamily="18" charset="0"/>
                        <a:ea typeface="Times New Roman" panose="02020603050405020304" pitchFamily="18" charset="0"/>
                      </a:endParaRPr>
                    </a:p>
                  </a:txBody>
                  <a:tcPr marL="68580" marR="68580" marT="0" marB="0"/>
                </a:tc>
                <a:tc>
                  <a:txBody>
                    <a:bodyPr/>
                    <a:lstStyle/>
                    <a:p>
                      <a:pPr algn="just">
                        <a:lnSpc>
                          <a:spcPct val="200000"/>
                        </a:lnSpc>
                        <a:spcAft>
                          <a:spcPts val="800"/>
                        </a:spcAft>
                      </a:pPr>
                      <a:r>
                        <a:rPr lang="fr-CA" sz="1200">
                          <a:effectLst/>
                        </a:rPr>
                        <a:t>300</a:t>
                      </a:r>
                      <a:endParaRPr lang="fr-CA" sz="1000">
                        <a:solidFill>
                          <a:srgbClr val="000000"/>
                        </a:solidFill>
                        <a:effectLst/>
                        <a:latin typeface="Times New Roman" panose="02020603050405020304" pitchFamily="18" charset="0"/>
                        <a:ea typeface="Times New Roman" panose="02020603050405020304" pitchFamily="18" charset="0"/>
                      </a:endParaRPr>
                    </a:p>
                  </a:txBody>
                  <a:tcPr marL="68580" marR="68580" marT="0" marB="0"/>
                </a:tc>
                <a:tc>
                  <a:txBody>
                    <a:bodyPr/>
                    <a:lstStyle/>
                    <a:p>
                      <a:pPr algn="just">
                        <a:lnSpc>
                          <a:spcPct val="200000"/>
                        </a:lnSpc>
                        <a:spcAft>
                          <a:spcPts val="800"/>
                        </a:spcAft>
                      </a:pPr>
                      <a:r>
                        <a:rPr lang="fr-CA" sz="1200">
                          <a:effectLst/>
                        </a:rPr>
                        <a:t>300</a:t>
                      </a:r>
                      <a:endParaRPr lang="fr-CA" sz="1000">
                        <a:solidFill>
                          <a:srgbClr val="000000"/>
                        </a:solidFill>
                        <a:effectLst/>
                        <a:latin typeface="Times New Roman" panose="02020603050405020304" pitchFamily="18" charset="0"/>
                        <a:ea typeface="Times New Roman" panose="02020603050405020304" pitchFamily="18" charset="0"/>
                      </a:endParaRPr>
                    </a:p>
                  </a:txBody>
                  <a:tcPr marL="68580" marR="68580" marT="0" marB="0"/>
                </a:tc>
                <a:tc>
                  <a:txBody>
                    <a:bodyPr/>
                    <a:lstStyle/>
                    <a:p>
                      <a:pPr algn="just">
                        <a:lnSpc>
                          <a:spcPct val="200000"/>
                        </a:lnSpc>
                        <a:spcAft>
                          <a:spcPts val="800"/>
                        </a:spcAft>
                      </a:pPr>
                      <a:r>
                        <a:rPr lang="fr-CA" sz="1200">
                          <a:effectLst/>
                        </a:rPr>
                        <a:t>255</a:t>
                      </a:r>
                      <a:endParaRPr lang="fr-CA" sz="1000">
                        <a:solidFill>
                          <a:srgbClr val="000000"/>
                        </a:solidFill>
                        <a:effectLst/>
                        <a:latin typeface="Times New Roman" panose="02020603050405020304" pitchFamily="18" charset="0"/>
                        <a:ea typeface="Times New Roman" panose="02020603050405020304" pitchFamily="18" charset="0"/>
                      </a:endParaRPr>
                    </a:p>
                  </a:txBody>
                  <a:tcPr marL="68580" marR="68580" marT="0" marB="0"/>
                </a:tc>
                <a:tc>
                  <a:txBody>
                    <a:bodyPr/>
                    <a:lstStyle/>
                    <a:p>
                      <a:pPr algn="just">
                        <a:lnSpc>
                          <a:spcPct val="200000"/>
                        </a:lnSpc>
                        <a:spcAft>
                          <a:spcPts val="800"/>
                        </a:spcAft>
                      </a:pPr>
                      <a:r>
                        <a:rPr lang="fr-CA" sz="1200">
                          <a:effectLst/>
                        </a:rPr>
                        <a:t>275</a:t>
                      </a:r>
                      <a:endParaRPr lang="fr-CA" sz="1000">
                        <a:solidFill>
                          <a:srgbClr val="000000"/>
                        </a:solidFill>
                        <a:effectLst/>
                        <a:latin typeface="Times New Roman" panose="02020603050405020304" pitchFamily="18" charset="0"/>
                        <a:ea typeface="Times New Roman" panose="02020603050405020304" pitchFamily="18" charset="0"/>
                      </a:endParaRPr>
                    </a:p>
                  </a:txBody>
                  <a:tcPr marL="68580" marR="68580" marT="0" marB="0"/>
                </a:tc>
                <a:tc>
                  <a:txBody>
                    <a:bodyPr/>
                    <a:lstStyle/>
                    <a:p>
                      <a:pPr algn="just">
                        <a:lnSpc>
                          <a:spcPct val="200000"/>
                        </a:lnSpc>
                        <a:spcAft>
                          <a:spcPts val="800"/>
                        </a:spcAft>
                      </a:pPr>
                      <a:r>
                        <a:rPr lang="fr-CA" sz="1200">
                          <a:effectLst/>
                        </a:rPr>
                        <a:t>290</a:t>
                      </a:r>
                      <a:endParaRPr lang="fr-CA" sz="1000">
                        <a:solidFill>
                          <a:srgbClr val="000000"/>
                        </a:solidFill>
                        <a:effectLst/>
                        <a:latin typeface="Times New Roman" panose="02020603050405020304" pitchFamily="18" charset="0"/>
                        <a:ea typeface="Times New Roman" panose="02020603050405020304" pitchFamily="18" charset="0"/>
                      </a:endParaRPr>
                    </a:p>
                  </a:txBody>
                  <a:tcPr marL="68580" marR="68580" marT="0" marB="0"/>
                </a:tc>
                <a:tc>
                  <a:txBody>
                    <a:bodyPr/>
                    <a:lstStyle/>
                    <a:p>
                      <a:pPr algn="just">
                        <a:lnSpc>
                          <a:spcPct val="200000"/>
                        </a:lnSpc>
                        <a:spcAft>
                          <a:spcPts val="800"/>
                        </a:spcAft>
                      </a:pPr>
                      <a:r>
                        <a:rPr lang="fr-CA" sz="1200">
                          <a:effectLst/>
                        </a:rPr>
                        <a:t>300</a:t>
                      </a:r>
                      <a:endParaRPr lang="fr-CA" sz="1000">
                        <a:solidFill>
                          <a:srgbClr val="000000"/>
                        </a:solidFill>
                        <a:effectLst/>
                        <a:latin typeface="Times New Roman" panose="02020603050405020304" pitchFamily="18" charset="0"/>
                        <a:ea typeface="Times New Roman" panose="02020603050405020304" pitchFamily="18" charset="0"/>
                      </a:endParaRPr>
                    </a:p>
                  </a:txBody>
                  <a:tcPr marL="68580" marR="68580" marT="0" marB="0"/>
                </a:tc>
                <a:extLst>
                  <a:ext uri="{0D108BD9-81ED-4DB2-BD59-A6C34878D82A}">
                    <a16:rowId xmlns:a16="http://schemas.microsoft.com/office/drawing/2014/main" val="718245391"/>
                  </a:ext>
                </a:extLst>
              </a:tr>
              <a:tr h="729741">
                <a:tc>
                  <a:txBody>
                    <a:bodyPr/>
                    <a:lstStyle/>
                    <a:p>
                      <a:pPr algn="just">
                        <a:lnSpc>
                          <a:spcPct val="200000"/>
                        </a:lnSpc>
                        <a:spcAft>
                          <a:spcPts val="800"/>
                        </a:spcAft>
                      </a:pPr>
                      <a:r>
                        <a:rPr lang="fr-CA" sz="1200">
                          <a:effectLst/>
                        </a:rPr>
                        <a:t>Site2</a:t>
                      </a:r>
                      <a:endParaRPr lang="fr-CA" sz="1000">
                        <a:solidFill>
                          <a:srgbClr val="000000"/>
                        </a:solidFill>
                        <a:effectLst/>
                        <a:latin typeface="Times New Roman" panose="02020603050405020304" pitchFamily="18" charset="0"/>
                        <a:ea typeface="Times New Roman" panose="02020603050405020304" pitchFamily="18" charset="0"/>
                      </a:endParaRPr>
                    </a:p>
                  </a:txBody>
                  <a:tcPr marL="68580" marR="68580" marT="0" marB="0"/>
                </a:tc>
                <a:tc>
                  <a:txBody>
                    <a:bodyPr/>
                    <a:lstStyle/>
                    <a:p>
                      <a:pPr algn="just">
                        <a:lnSpc>
                          <a:spcPct val="200000"/>
                        </a:lnSpc>
                        <a:spcAft>
                          <a:spcPts val="800"/>
                        </a:spcAft>
                      </a:pPr>
                      <a:r>
                        <a:rPr lang="fr-CA" sz="1200">
                          <a:effectLst/>
                        </a:rPr>
                        <a:t>260</a:t>
                      </a:r>
                      <a:endParaRPr lang="fr-CA" sz="1000">
                        <a:solidFill>
                          <a:srgbClr val="000000"/>
                        </a:solidFill>
                        <a:effectLst/>
                        <a:latin typeface="Times New Roman" panose="02020603050405020304" pitchFamily="18" charset="0"/>
                        <a:ea typeface="Times New Roman" panose="02020603050405020304" pitchFamily="18" charset="0"/>
                      </a:endParaRPr>
                    </a:p>
                  </a:txBody>
                  <a:tcPr marL="68580" marR="68580" marT="0" marB="0"/>
                </a:tc>
                <a:tc>
                  <a:txBody>
                    <a:bodyPr/>
                    <a:lstStyle/>
                    <a:p>
                      <a:pPr algn="just">
                        <a:lnSpc>
                          <a:spcPct val="200000"/>
                        </a:lnSpc>
                        <a:spcAft>
                          <a:spcPts val="800"/>
                        </a:spcAft>
                      </a:pPr>
                      <a:r>
                        <a:rPr lang="fr-CA" sz="1200">
                          <a:effectLst/>
                        </a:rPr>
                        <a:t>250</a:t>
                      </a:r>
                      <a:endParaRPr lang="fr-CA" sz="1000">
                        <a:solidFill>
                          <a:srgbClr val="000000"/>
                        </a:solidFill>
                        <a:effectLst/>
                        <a:latin typeface="Times New Roman" panose="02020603050405020304" pitchFamily="18" charset="0"/>
                        <a:ea typeface="Times New Roman" panose="02020603050405020304" pitchFamily="18" charset="0"/>
                      </a:endParaRPr>
                    </a:p>
                  </a:txBody>
                  <a:tcPr marL="68580" marR="68580" marT="0" marB="0"/>
                </a:tc>
                <a:tc>
                  <a:txBody>
                    <a:bodyPr/>
                    <a:lstStyle/>
                    <a:p>
                      <a:pPr algn="just">
                        <a:lnSpc>
                          <a:spcPct val="200000"/>
                        </a:lnSpc>
                        <a:spcAft>
                          <a:spcPts val="800"/>
                        </a:spcAft>
                      </a:pPr>
                      <a:r>
                        <a:rPr lang="fr-CA" sz="1200">
                          <a:effectLst/>
                        </a:rPr>
                        <a:t>175</a:t>
                      </a:r>
                      <a:endParaRPr lang="fr-CA" sz="1000">
                        <a:solidFill>
                          <a:srgbClr val="000000"/>
                        </a:solidFill>
                        <a:effectLst/>
                        <a:latin typeface="Times New Roman" panose="02020603050405020304" pitchFamily="18" charset="0"/>
                        <a:ea typeface="Times New Roman" panose="02020603050405020304" pitchFamily="18" charset="0"/>
                      </a:endParaRPr>
                    </a:p>
                  </a:txBody>
                  <a:tcPr marL="68580" marR="68580" marT="0" marB="0"/>
                </a:tc>
                <a:tc>
                  <a:txBody>
                    <a:bodyPr/>
                    <a:lstStyle/>
                    <a:p>
                      <a:pPr algn="just">
                        <a:lnSpc>
                          <a:spcPct val="200000"/>
                        </a:lnSpc>
                        <a:spcAft>
                          <a:spcPts val="800"/>
                        </a:spcAft>
                      </a:pPr>
                      <a:r>
                        <a:rPr lang="fr-CA" sz="1200">
                          <a:effectLst/>
                        </a:rPr>
                        <a:t>130</a:t>
                      </a:r>
                      <a:endParaRPr lang="fr-CA" sz="1000">
                        <a:solidFill>
                          <a:srgbClr val="000000"/>
                        </a:solidFill>
                        <a:effectLst/>
                        <a:latin typeface="Times New Roman" panose="02020603050405020304" pitchFamily="18" charset="0"/>
                        <a:ea typeface="Times New Roman" panose="02020603050405020304" pitchFamily="18" charset="0"/>
                      </a:endParaRPr>
                    </a:p>
                  </a:txBody>
                  <a:tcPr marL="68580" marR="68580" marT="0" marB="0"/>
                </a:tc>
                <a:tc>
                  <a:txBody>
                    <a:bodyPr/>
                    <a:lstStyle/>
                    <a:p>
                      <a:pPr algn="just">
                        <a:lnSpc>
                          <a:spcPct val="200000"/>
                        </a:lnSpc>
                        <a:spcAft>
                          <a:spcPts val="800"/>
                        </a:spcAft>
                      </a:pPr>
                      <a:r>
                        <a:rPr lang="fr-CA" sz="1200">
                          <a:effectLst/>
                        </a:rPr>
                        <a:t>200</a:t>
                      </a:r>
                      <a:endParaRPr lang="fr-CA" sz="1000">
                        <a:solidFill>
                          <a:srgbClr val="000000"/>
                        </a:solidFill>
                        <a:effectLst/>
                        <a:latin typeface="Times New Roman" panose="02020603050405020304" pitchFamily="18" charset="0"/>
                        <a:ea typeface="Times New Roman" panose="02020603050405020304" pitchFamily="18" charset="0"/>
                      </a:endParaRPr>
                    </a:p>
                  </a:txBody>
                  <a:tcPr marL="68580" marR="68580" marT="0" marB="0"/>
                </a:tc>
                <a:tc>
                  <a:txBody>
                    <a:bodyPr/>
                    <a:lstStyle/>
                    <a:p>
                      <a:pPr algn="just">
                        <a:lnSpc>
                          <a:spcPct val="200000"/>
                        </a:lnSpc>
                        <a:spcAft>
                          <a:spcPts val="800"/>
                        </a:spcAft>
                      </a:pPr>
                      <a:r>
                        <a:rPr lang="fr-CA" sz="1200">
                          <a:effectLst/>
                        </a:rPr>
                        <a:t>225</a:t>
                      </a:r>
                      <a:endParaRPr lang="fr-CA" sz="1000">
                        <a:solidFill>
                          <a:srgbClr val="000000"/>
                        </a:solidFill>
                        <a:effectLst/>
                        <a:latin typeface="Times New Roman" panose="02020603050405020304" pitchFamily="18" charset="0"/>
                        <a:ea typeface="Times New Roman" panose="02020603050405020304" pitchFamily="18" charset="0"/>
                      </a:endParaRPr>
                    </a:p>
                  </a:txBody>
                  <a:tcPr marL="68580" marR="68580" marT="0" marB="0"/>
                </a:tc>
                <a:tc>
                  <a:txBody>
                    <a:bodyPr/>
                    <a:lstStyle/>
                    <a:p>
                      <a:pPr algn="just">
                        <a:lnSpc>
                          <a:spcPct val="200000"/>
                        </a:lnSpc>
                        <a:spcAft>
                          <a:spcPts val="800"/>
                        </a:spcAft>
                      </a:pPr>
                      <a:r>
                        <a:rPr lang="fr-CA" sz="1200">
                          <a:effectLst/>
                        </a:rPr>
                        <a:t>240</a:t>
                      </a:r>
                      <a:r>
                        <a:rPr lang="fr-FR" sz="800">
                          <a:effectLst/>
                        </a:rPr>
                        <a:t>  </a:t>
                      </a:r>
                      <a:endParaRPr lang="fr-CA" sz="1000">
                        <a:solidFill>
                          <a:srgbClr val="000000"/>
                        </a:solidFill>
                        <a:effectLst/>
                        <a:latin typeface="Times New Roman" panose="02020603050405020304" pitchFamily="18" charset="0"/>
                        <a:ea typeface="Times New Roman" panose="02020603050405020304" pitchFamily="18" charset="0"/>
                      </a:endParaRPr>
                    </a:p>
                  </a:txBody>
                  <a:tcPr marL="68580" marR="68580" marT="0" marB="0"/>
                </a:tc>
                <a:tc>
                  <a:txBody>
                    <a:bodyPr/>
                    <a:lstStyle/>
                    <a:p>
                      <a:pPr algn="just">
                        <a:lnSpc>
                          <a:spcPct val="200000"/>
                        </a:lnSpc>
                        <a:spcAft>
                          <a:spcPts val="800"/>
                        </a:spcAft>
                      </a:pPr>
                      <a:r>
                        <a:rPr lang="fr-CA" sz="1200" dirty="0">
                          <a:effectLst/>
                        </a:rPr>
                        <a:t> </a:t>
                      </a:r>
                      <a:endParaRPr lang="fr-CA" sz="1000" dirty="0">
                        <a:solidFill>
                          <a:srgbClr val="000000"/>
                        </a:solidFill>
                        <a:effectLst/>
                        <a:latin typeface="Times New Roman" panose="02020603050405020304" pitchFamily="18" charset="0"/>
                        <a:ea typeface="Times New Roman" panose="02020603050405020304" pitchFamily="18" charset="0"/>
                      </a:endParaRPr>
                    </a:p>
                  </a:txBody>
                  <a:tcPr marL="68580" marR="68580" marT="0" marB="0"/>
                </a:tc>
                <a:extLst>
                  <a:ext uri="{0D108BD9-81ED-4DB2-BD59-A6C34878D82A}">
                    <a16:rowId xmlns:a16="http://schemas.microsoft.com/office/drawing/2014/main" val="2299262001"/>
                  </a:ext>
                </a:extLst>
              </a:tr>
            </a:tbl>
          </a:graphicData>
        </a:graphic>
      </p:graphicFrame>
      <p:sp>
        <p:nvSpPr>
          <p:cNvPr id="7" name="Rectangle 1">
            <a:extLst>
              <a:ext uri="{FF2B5EF4-FFF2-40B4-BE49-F238E27FC236}">
                <a16:creationId xmlns:a16="http://schemas.microsoft.com/office/drawing/2014/main" id="{D60E705E-3290-49AB-8FAC-DA7F8969BDD4}"/>
              </a:ext>
            </a:extLst>
          </p:cNvPr>
          <p:cNvSpPr>
            <a:spLocks noChangeArrowheads="1"/>
          </p:cNvSpPr>
          <p:nvPr/>
        </p:nvSpPr>
        <p:spPr bwMode="auto">
          <a:xfrm>
            <a:off x="3355976" y="3651569"/>
            <a:ext cx="4021614" cy="45719"/>
          </a:xfrm>
          <a:prstGeom prst="rect">
            <a:avLst/>
          </a:prstGeom>
          <a:solidFill>
            <a:srgbClr val="000000"/>
          </a:solidFill>
          <a:ln w="9525">
            <a:solidFill>
              <a:schemeClr val="tx1"/>
            </a:solidFill>
            <a:prstDash val="solid"/>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endParaRPr lang="fr-CA"/>
          </a:p>
        </p:txBody>
      </p:sp>
      <mc:AlternateContent xmlns:mc="http://schemas.openxmlformats.org/markup-compatibility/2006" xmlns:a14="http://schemas.microsoft.com/office/drawing/2010/main">
        <mc:Choice Requires="a14">
          <p:sp>
            <p:nvSpPr>
              <p:cNvPr id="9" name="ZoneTexte 8">
                <a:extLst>
                  <a:ext uri="{FF2B5EF4-FFF2-40B4-BE49-F238E27FC236}">
                    <a16:creationId xmlns:a16="http://schemas.microsoft.com/office/drawing/2014/main" id="{1C5556AF-940F-42D4-9A01-7A9B7B7FD66C}"/>
                  </a:ext>
                </a:extLst>
              </p:cNvPr>
              <p:cNvSpPr txBox="1"/>
              <p:nvPr/>
            </p:nvSpPr>
            <p:spPr>
              <a:xfrm>
                <a:off x="551329" y="4814047"/>
                <a:ext cx="10802471" cy="923330"/>
              </a:xfrm>
              <a:prstGeom prst="rect">
                <a:avLst/>
              </a:prstGeom>
              <a:noFill/>
            </p:spPr>
            <p:txBody>
              <a:bodyPr wrap="square" rtlCol="0">
                <a:spAutoFit/>
              </a:bodyPr>
              <a:lstStyle/>
              <a:p>
                <a:r>
                  <a:rPr lang="fr-CA" dirty="0"/>
                  <a:t>Réponse: </a:t>
                </a:r>
              </a:p>
              <a:p>
                <a:r>
                  <a:rPr lang="fr-CA" sz="1800" dirty="0">
                    <a:solidFill>
                      <a:srgbClr val="000000"/>
                    </a:solidFill>
                    <a:effectLst/>
                    <a:latin typeface="Times New Roman" panose="02020603050405020304" pitchFamily="18" charset="0"/>
                    <a:ea typeface="Times New Roman" panose="02020603050405020304" pitchFamily="18" charset="0"/>
                  </a:rPr>
                  <a:t>On veut tester    </a:t>
                </a:r>
                <a14:m>
                  <m:oMath xmlns:m="http://schemas.openxmlformats.org/officeDocument/2006/math">
                    <m:sSub>
                      <m:sSubPr>
                        <m:ctrlPr>
                          <a:rPr lang="fr-CA" sz="1800" i="1">
                            <a:solidFill>
                              <a:srgbClr val="000000"/>
                            </a:solidFill>
                            <a:effectLst/>
                            <a:latin typeface="Cambria Math" panose="02040503050406030204" pitchFamily="18" charset="0"/>
                            <a:ea typeface="Times New Roman" panose="02020603050405020304" pitchFamily="18" charset="0"/>
                          </a:rPr>
                        </m:ctrlPr>
                      </m:sSubPr>
                      <m:e>
                        <m:r>
                          <a:rPr lang="fr-CA" sz="1800" i="1">
                            <a:solidFill>
                              <a:srgbClr val="000000"/>
                            </a:solidFill>
                            <a:effectLst/>
                            <a:latin typeface="Cambria Math" panose="02040503050406030204" pitchFamily="18" charset="0"/>
                            <a:ea typeface="Times New Roman" panose="02020603050405020304" pitchFamily="18" charset="0"/>
                          </a:rPr>
                          <m:t>𝐻</m:t>
                        </m:r>
                      </m:e>
                      <m:sub>
                        <m:r>
                          <a:rPr lang="fr-CA" sz="1800" i="1">
                            <a:solidFill>
                              <a:srgbClr val="000000"/>
                            </a:solidFill>
                            <a:effectLst/>
                            <a:latin typeface="Cambria Math" panose="02040503050406030204" pitchFamily="18" charset="0"/>
                            <a:ea typeface="Times New Roman" panose="02020603050405020304" pitchFamily="18" charset="0"/>
                          </a:rPr>
                          <m:t>0</m:t>
                        </m:r>
                      </m:sub>
                    </m:sSub>
                    <m:r>
                      <a:rPr lang="fr-CA" sz="1800" i="1">
                        <a:solidFill>
                          <a:srgbClr val="000000"/>
                        </a:solidFill>
                        <a:effectLst/>
                        <a:latin typeface="Cambria Math" panose="02040503050406030204" pitchFamily="18" charset="0"/>
                        <a:ea typeface="Times New Roman" panose="02020603050405020304" pitchFamily="18" charset="0"/>
                      </a:rPr>
                      <m:t> :</m:t>
                    </m:r>
                    <m:sSub>
                      <m:sSubPr>
                        <m:ctrlPr>
                          <a:rPr lang="fr-CA" sz="1800" i="1">
                            <a:solidFill>
                              <a:srgbClr val="000000"/>
                            </a:solidFill>
                            <a:effectLst/>
                            <a:latin typeface="Cambria Math" panose="02040503050406030204" pitchFamily="18" charset="0"/>
                            <a:ea typeface="Times New Roman" panose="02020603050405020304" pitchFamily="18" charset="0"/>
                          </a:rPr>
                        </m:ctrlPr>
                      </m:sSubPr>
                      <m:e>
                        <m:r>
                          <a:rPr lang="fr-CA" sz="1800" i="1">
                            <a:solidFill>
                              <a:srgbClr val="000000"/>
                            </a:solidFill>
                            <a:effectLst/>
                            <a:latin typeface="Cambria Math" panose="02040503050406030204" pitchFamily="18" charset="0"/>
                            <a:ea typeface="Times New Roman" panose="02020603050405020304" pitchFamily="18" charset="0"/>
                          </a:rPr>
                          <m:t>𝜇</m:t>
                        </m:r>
                      </m:e>
                      <m:sub>
                        <m:r>
                          <a:rPr lang="fr-CA" sz="1800" i="1">
                            <a:solidFill>
                              <a:srgbClr val="000000"/>
                            </a:solidFill>
                            <a:effectLst/>
                            <a:latin typeface="Cambria Math" panose="02040503050406030204" pitchFamily="18" charset="0"/>
                            <a:ea typeface="Times New Roman" panose="02020603050405020304" pitchFamily="18" charset="0"/>
                          </a:rPr>
                          <m:t>1</m:t>
                        </m:r>
                      </m:sub>
                    </m:sSub>
                    <m:r>
                      <a:rPr lang="fr-CA" sz="1800" i="1">
                        <a:solidFill>
                          <a:srgbClr val="000000"/>
                        </a:solidFill>
                        <a:effectLst/>
                        <a:latin typeface="Cambria Math" panose="02040503050406030204" pitchFamily="18" charset="0"/>
                        <a:ea typeface="Times New Roman" panose="02020603050405020304" pitchFamily="18" charset="0"/>
                      </a:rPr>
                      <m:t>=</m:t>
                    </m:r>
                    <m:sSub>
                      <m:sSubPr>
                        <m:ctrlPr>
                          <a:rPr lang="fr-CA" sz="1800" i="1">
                            <a:solidFill>
                              <a:srgbClr val="000000"/>
                            </a:solidFill>
                            <a:effectLst/>
                            <a:latin typeface="Cambria Math" panose="02040503050406030204" pitchFamily="18" charset="0"/>
                            <a:ea typeface="Times New Roman" panose="02020603050405020304" pitchFamily="18" charset="0"/>
                          </a:rPr>
                        </m:ctrlPr>
                      </m:sSubPr>
                      <m:e>
                        <m:r>
                          <a:rPr lang="fr-CA" sz="1800" i="1">
                            <a:solidFill>
                              <a:srgbClr val="000000"/>
                            </a:solidFill>
                            <a:effectLst/>
                            <a:latin typeface="Cambria Math" panose="02040503050406030204" pitchFamily="18" charset="0"/>
                            <a:ea typeface="Times New Roman" panose="02020603050405020304" pitchFamily="18" charset="0"/>
                          </a:rPr>
                          <m:t>𝜇</m:t>
                        </m:r>
                      </m:e>
                      <m:sub>
                        <m:r>
                          <a:rPr lang="fr-CA" sz="1800" i="1">
                            <a:solidFill>
                              <a:srgbClr val="000000"/>
                            </a:solidFill>
                            <a:effectLst/>
                            <a:latin typeface="Cambria Math" panose="02040503050406030204" pitchFamily="18" charset="0"/>
                            <a:ea typeface="Times New Roman" panose="02020603050405020304" pitchFamily="18" charset="0"/>
                          </a:rPr>
                          <m:t>2      </m:t>
                        </m:r>
                      </m:sub>
                    </m:sSub>
                    <m:r>
                      <a:rPr lang="fr-CA" sz="1800" i="1">
                        <a:solidFill>
                          <a:srgbClr val="000000"/>
                        </a:solidFill>
                        <a:effectLst/>
                        <a:latin typeface="Cambria Math" panose="02040503050406030204" pitchFamily="18" charset="0"/>
                        <a:ea typeface="Times New Roman" panose="02020603050405020304" pitchFamily="18" charset="0"/>
                      </a:rPr>
                      <m:t>𝑐𝑜𝑛𝑡𝑟𝑒</m:t>
                    </m:r>
                    <m:r>
                      <a:rPr lang="fr-CA" sz="1800" i="1">
                        <a:solidFill>
                          <a:srgbClr val="000000"/>
                        </a:solidFill>
                        <a:effectLst/>
                        <a:latin typeface="Cambria Math" panose="02040503050406030204" pitchFamily="18" charset="0"/>
                        <a:ea typeface="Times New Roman" panose="02020603050405020304" pitchFamily="18" charset="0"/>
                      </a:rPr>
                      <m:t>    </m:t>
                    </m:r>
                    <m:sSub>
                      <m:sSubPr>
                        <m:ctrlPr>
                          <a:rPr lang="fr-CA" sz="1800" i="1">
                            <a:solidFill>
                              <a:srgbClr val="000000"/>
                            </a:solidFill>
                            <a:effectLst/>
                            <a:latin typeface="Cambria Math" panose="02040503050406030204" pitchFamily="18" charset="0"/>
                            <a:ea typeface="Times New Roman" panose="02020603050405020304" pitchFamily="18" charset="0"/>
                          </a:rPr>
                        </m:ctrlPr>
                      </m:sSubPr>
                      <m:e>
                        <m:r>
                          <a:rPr lang="fr-CA" sz="1800" i="1">
                            <a:solidFill>
                              <a:srgbClr val="000000"/>
                            </a:solidFill>
                            <a:effectLst/>
                            <a:latin typeface="Cambria Math" panose="02040503050406030204" pitchFamily="18" charset="0"/>
                            <a:ea typeface="Times New Roman" panose="02020603050405020304" pitchFamily="18" charset="0"/>
                          </a:rPr>
                          <m:t>𝐻</m:t>
                        </m:r>
                      </m:e>
                      <m:sub>
                        <m:r>
                          <a:rPr lang="fr-CA" sz="1800" i="1">
                            <a:solidFill>
                              <a:srgbClr val="000000"/>
                            </a:solidFill>
                            <a:effectLst/>
                            <a:latin typeface="Cambria Math" panose="02040503050406030204" pitchFamily="18" charset="0"/>
                            <a:ea typeface="Times New Roman" panose="02020603050405020304" pitchFamily="18" charset="0"/>
                          </a:rPr>
                          <m:t>1</m:t>
                        </m:r>
                      </m:sub>
                    </m:sSub>
                    <m:r>
                      <a:rPr lang="fr-CA" sz="1800" i="1">
                        <a:solidFill>
                          <a:srgbClr val="000000"/>
                        </a:solidFill>
                        <a:effectLst/>
                        <a:latin typeface="Cambria Math" panose="02040503050406030204" pitchFamily="18" charset="0"/>
                        <a:ea typeface="Times New Roman" panose="02020603050405020304" pitchFamily="18" charset="0"/>
                      </a:rPr>
                      <m:t>: </m:t>
                    </m:r>
                    <m:sSub>
                      <m:sSubPr>
                        <m:ctrlPr>
                          <a:rPr lang="fr-CA" sz="1800" i="1">
                            <a:solidFill>
                              <a:srgbClr val="000000"/>
                            </a:solidFill>
                            <a:effectLst/>
                            <a:latin typeface="Cambria Math" panose="02040503050406030204" pitchFamily="18" charset="0"/>
                            <a:ea typeface="Times New Roman" panose="02020603050405020304" pitchFamily="18" charset="0"/>
                          </a:rPr>
                        </m:ctrlPr>
                      </m:sSubPr>
                      <m:e>
                        <m:r>
                          <a:rPr lang="fr-CA" sz="1800" i="1">
                            <a:solidFill>
                              <a:srgbClr val="000000"/>
                            </a:solidFill>
                            <a:effectLst/>
                            <a:latin typeface="Cambria Math" panose="02040503050406030204" pitchFamily="18" charset="0"/>
                            <a:ea typeface="Times New Roman" panose="02020603050405020304" pitchFamily="18" charset="0"/>
                          </a:rPr>
                          <m:t>𝜇</m:t>
                        </m:r>
                      </m:e>
                      <m:sub>
                        <m:r>
                          <a:rPr lang="fr-CA" sz="1800" i="1">
                            <a:solidFill>
                              <a:srgbClr val="000000"/>
                            </a:solidFill>
                            <a:effectLst/>
                            <a:latin typeface="Cambria Math" panose="02040503050406030204" pitchFamily="18" charset="0"/>
                            <a:ea typeface="Times New Roman" panose="02020603050405020304" pitchFamily="18" charset="0"/>
                          </a:rPr>
                          <m:t>1</m:t>
                        </m:r>
                      </m:sub>
                    </m:sSub>
                    <m:r>
                      <a:rPr lang="fr-CA" sz="1800" i="1">
                        <a:solidFill>
                          <a:srgbClr val="000000"/>
                        </a:solidFill>
                        <a:effectLst/>
                        <a:latin typeface="Cambria Math" panose="02040503050406030204" pitchFamily="18" charset="0"/>
                        <a:ea typeface="Times New Roman" panose="02020603050405020304" pitchFamily="18" charset="0"/>
                      </a:rPr>
                      <m:t>≠</m:t>
                    </m:r>
                    <m:sSub>
                      <m:sSubPr>
                        <m:ctrlPr>
                          <a:rPr lang="fr-CA" sz="1800" i="1">
                            <a:solidFill>
                              <a:srgbClr val="000000"/>
                            </a:solidFill>
                            <a:effectLst/>
                            <a:latin typeface="Cambria Math" panose="02040503050406030204" pitchFamily="18" charset="0"/>
                            <a:ea typeface="Times New Roman" panose="02020603050405020304" pitchFamily="18" charset="0"/>
                          </a:rPr>
                        </m:ctrlPr>
                      </m:sSubPr>
                      <m:e>
                        <m:r>
                          <a:rPr lang="fr-CA" sz="1800" i="1">
                            <a:solidFill>
                              <a:srgbClr val="000000"/>
                            </a:solidFill>
                            <a:effectLst/>
                            <a:latin typeface="Cambria Math" panose="02040503050406030204" pitchFamily="18" charset="0"/>
                            <a:ea typeface="Times New Roman" panose="02020603050405020304" pitchFamily="18" charset="0"/>
                          </a:rPr>
                          <m:t>𝜇</m:t>
                        </m:r>
                      </m:e>
                      <m:sub>
                        <m:r>
                          <a:rPr lang="fr-CA" sz="1800" i="1">
                            <a:solidFill>
                              <a:srgbClr val="000000"/>
                            </a:solidFill>
                            <a:effectLst/>
                            <a:latin typeface="Cambria Math" panose="02040503050406030204" pitchFamily="18" charset="0"/>
                            <a:ea typeface="Times New Roman" panose="02020603050405020304" pitchFamily="18" charset="0"/>
                          </a:rPr>
                          <m:t>2</m:t>
                        </m:r>
                      </m:sub>
                    </m:sSub>
                  </m:oMath>
                </a14:m>
                <a:r>
                  <a:rPr lang="fr-CA" sz="1800" dirty="0">
                    <a:solidFill>
                      <a:srgbClr val="000000"/>
                    </a:solidFill>
                    <a:effectLst/>
                    <a:latin typeface="Times New Roman" panose="02020603050405020304" pitchFamily="18" charset="0"/>
                    <a:ea typeface="Times New Roman" panose="02020603050405020304" pitchFamily="18" charset="0"/>
                  </a:rPr>
                  <a:t>  avec un seuil de signification de 1%.</a:t>
                </a:r>
              </a:p>
              <a:p>
                <a:endParaRPr lang="fr-CA" dirty="0"/>
              </a:p>
            </p:txBody>
          </p:sp>
        </mc:Choice>
        <mc:Fallback xmlns="">
          <p:sp>
            <p:nvSpPr>
              <p:cNvPr id="9" name="ZoneTexte 8">
                <a:extLst>
                  <a:ext uri="{FF2B5EF4-FFF2-40B4-BE49-F238E27FC236}">
                    <a16:creationId xmlns:a16="http://schemas.microsoft.com/office/drawing/2014/main" id="{1C5556AF-940F-42D4-9A01-7A9B7B7FD66C}"/>
                  </a:ext>
                </a:extLst>
              </p:cNvPr>
              <p:cNvSpPr txBox="1">
                <a:spLocks noRot="1" noChangeAspect="1" noMove="1" noResize="1" noEditPoints="1" noAdjustHandles="1" noChangeArrowheads="1" noChangeShapeType="1" noTextEdit="1"/>
              </p:cNvSpPr>
              <p:nvPr/>
            </p:nvSpPr>
            <p:spPr>
              <a:xfrm>
                <a:off x="551329" y="4814047"/>
                <a:ext cx="10802471" cy="923330"/>
              </a:xfrm>
              <a:prstGeom prst="rect">
                <a:avLst/>
              </a:prstGeom>
              <a:blipFill>
                <a:blip r:embed="rId2"/>
                <a:stretch>
                  <a:fillRect l="-451" t="-3974"/>
                </a:stretch>
              </a:blipFill>
            </p:spPr>
            <p:txBody>
              <a:bodyPr/>
              <a:lstStyle/>
              <a:p>
                <a:r>
                  <a:rPr lang="fr-CA">
                    <a:noFill/>
                  </a:rPr>
                  <a:t> </a:t>
                </a:r>
              </a:p>
            </p:txBody>
          </p:sp>
        </mc:Fallback>
      </mc:AlternateContent>
    </p:spTree>
    <p:extLst>
      <p:ext uri="{BB962C8B-B14F-4D97-AF65-F5344CB8AC3E}">
        <p14:creationId xmlns:p14="http://schemas.microsoft.com/office/powerpoint/2010/main" val="167444640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EB1B9146-2778-4A3D-9576-94BDDD3D0D2D}"/>
              </a:ext>
            </a:extLst>
          </p:cNvPr>
          <p:cNvSpPr>
            <a:spLocks noGrp="1"/>
          </p:cNvSpPr>
          <p:nvPr>
            <p:ph type="title"/>
          </p:nvPr>
        </p:nvSpPr>
        <p:spPr/>
        <p:txBody>
          <a:bodyPr/>
          <a:lstStyle/>
          <a:p>
            <a:r>
              <a:rPr lang="fr-CA" dirty="0"/>
              <a:t>Méthode 1: L’usage des zones de rejet.</a:t>
            </a:r>
          </a:p>
        </p:txBody>
      </p:sp>
      <p:sp>
        <p:nvSpPr>
          <p:cNvPr id="3" name="Espace réservé du pied de page 2">
            <a:extLst>
              <a:ext uri="{FF2B5EF4-FFF2-40B4-BE49-F238E27FC236}">
                <a16:creationId xmlns:a16="http://schemas.microsoft.com/office/drawing/2014/main" id="{C02F076D-80BE-44DB-BD33-01A764D48029}"/>
              </a:ext>
            </a:extLst>
          </p:cNvPr>
          <p:cNvSpPr>
            <a:spLocks noGrp="1"/>
          </p:cNvSpPr>
          <p:nvPr>
            <p:ph type="ftr" sz="quarter" idx="11"/>
          </p:nvPr>
        </p:nvSpPr>
        <p:spPr/>
        <p:txBody>
          <a:bodyPr/>
          <a:lstStyle/>
          <a:p>
            <a:endParaRPr lang="fr-CA"/>
          </a:p>
        </p:txBody>
      </p:sp>
      <p:sp>
        <p:nvSpPr>
          <p:cNvPr id="4" name="Espace réservé du numéro de diapositive 3">
            <a:extLst>
              <a:ext uri="{FF2B5EF4-FFF2-40B4-BE49-F238E27FC236}">
                <a16:creationId xmlns:a16="http://schemas.microsoft.com/office/drawing/2014/main" id="{10C4E189-92BB-4B7A-A728-4292E17F1AEA}"/>
              </a:ext>
            </a:extLst>
          </p:cNvPr>
          <p:cNvSpPr>
            <a:spLocks noGrp="1"/>
          </p:cNvSpPr>
          <p:nvPr>
            <p:ph type="sldNum" sz="quarter" idx="12"/>
          </p:nvPr>
        </p:nvSpPr>
        <p:spPr/>
        <p:txBody>
          <a:bodyPr/>
          <a:lstStyle/>
          <a:p>
            <a:fld id="{26377AD9-CE17-438C-A638-C64D2D42D7CF}" type="slidenum">
              <a:rPr lang="fr-CA" smtClean="0"/>
              <a:t>3</a:t>
            </a:fld>
            <a:endParaRPr lang="fr-CA"/>
          </a:p>
        </p:txBody>
      </p:sp>
      <mc:AlternateContent xmlns:mc="http://schemas.openxmlformats.org/markup-compatibility/2006" xmlns:a14="http://schemas.microsoft.com/office/drawing/2010/main">
        <mc:Choice Requires="a14">
          <p:sp>
            <p:nvSpPr>
              <p:cNvPr id="5" name="ZoneTexte 4">
                <a:extLst>
                  <a:ext uri="{FF2B5EF4-FFF2-40B4-BE49-F238E27FC236}">
                    <a16:creationId xmlns:a16="http://schemas.microsoft.com/office/drawing/2014/main" id="{1ADED40E-71F5-4334-812E-311C6B6547EC}"/>
                  </a:ext>
                </a:extLst>
              </p:cNvPr>
              <p:cNvSpPr txBox="1"/>
              <p:nvPr/>
            </p:nvSpPr>
            <p:spPr>
              <a:xfrm>
                <a:off x="282388" y="1385048"/>
                <a:ext cx="11255188" cy="5060360"/>
              </a:xfrm>
              <a:prstGeom prst="rect">
                <a:avLst/>
              </a:prstGeom>
              <a:noFill/>
            </p:spPr>
            <p:txBody>
              <a:bodyPr wrap="square" rtlCol="0">
                <a:spAutoFit/>
              </a:bodyPr>
              <a:lstStyle/>
              <a:p>
                <a:pPr algn="just">
                  <a:lnSpc>
                    <a:spcPct val="200000"/>
                  </a:lnSpc>
                  <a:spcAft>
                    <a:spcPts val="800"/>
                  </a:spcAft>
                </a:pPr>
                <a:r>
                  <a:rPr lang="fr-CA" sz="1800" dirty="0">
                    <a:solidFill>
                      <a:srgbClr val="000000"/>
                    </a:solidFill>
                    <a:effectLst/>
                    <a:latin typeface="Times New Roman" panose="02020603050405020304" pitchFamily="18" charset="0"/>
                    <a:ea typeface="Times New Roman" panose="02020603050405020304" pitchFamily="18" charset="0"/>
                  </a:rPr>
                  <a:t>On obtient </a:t>
                </a:r>
                <a14:m>
                  <m:oMath xmlns:m="http://schemas.openxmlformats.org/officeDocument/2006/math">
                    <m:r>
                      <a:rPr lang="fr-CA" sz="1800" i="1">
                        <a:solidFill>
                          <a:srgbClr val="000000"/>
                        </a:solidFill>
                        <a:effectLst/>
                        <a:latin typeface="Cambria Math" panose="02040503050406030204" pitchFamily="18" charset="0"/>
                        <a:ea typeface="Times New Roman" panose="02020603050405020304" pitchFamily="18" charset="0"/>
                      </a:rPr>
                      <m:t>𝑛</m:t>
                    </m:r>
                    <m:r>
                      <a:rPr lang="fr-CA" sz="1800" i="1">
                        <a:solidFill>
                          <a:srgbClr val="000000"/>
                        </a:solidFill>
                        <a:effectLst/>
                        <a:latin typeface="Cambria Math" panose="02040503050406030204" pitchFamily="18" charset="0"/>
                        <a:ea typeface="Times New Roman" panose="02020603050405020304" pitchFamily="18" charset="0"/>
                      </a:rPr>
                      <m:t>=8; </m:t>
                    </m:r>
                    <m:acc>
                      <m:accPr>
                        <m:chr m:val="̅"/>
                        <m:ctrlPr>
                          <a:rPr lang="fr-CA" sz="1800" i="1">
                            <a:solidFill>
                              <a:srgbClr val="000000"/>
                            </a:solidFill>
                            <a:effectLst/>
                            <a:latin typeface="Cambria Math" panose="02040503050406030204" pitchFamily="18" charset="0"/>
                            <a:ea typeface="Times New Roman" panose="02020603050405020304" pitchFamily="18" charset="0"/>
                          </a:rPr>
                        </m:ctrlPr>
                      </m:accPr>
                      <m:e>
                        <m:sSub>
                          <m:sSubPr>
                            <m:ctrlPr>
                              <a:rPr lang="fr-CA" sz="1800" i="1">
                                <a:solidFill>
                                  <a:srgbClr val="000000"/>
                                </a:solidFill>
                                <a:effectLst/>
                                <a:latin typeface="Cambria Math" panose="02040503050406030204" pitchFamily="18" charset="0"/>
                                <a:ea typeface="Times New Roman" panose="02020603050405020304" pitchFamily="18" charset="0"/>
                              </a:rPr>
                            </m:ctrlPr>
                          </m:sSubPr>
                          <m:e>
                            <m:r>
                              <a:rPr lang="fr-CA" sz="1800" i="1">
                                <a:solidFill>
                                  <a:srgbClr val="000000"/>
                                </a:solidFill>
                                <a:effectLst/>
                                <a:latin typeface="Cambria Math" panose="02040503050406030204" pitchFamily="18" charset="0"/>
                                <a:ea typeface="Times New Roman" panose="02020603050405020304" pitchFamily="18" charset="0"/>
                              </a:rPr>
                              <m:t>𝑥</m:t>
                            </m:r>
                          </m:e>
                          <m:sub>
                            <m:r>
                              <a:rPr lang="fr-CA" sz="1800" i="1">
                                <a:solidFill>
                                  <a:srgbClr val="000000"/>
                                </a:solidFill>
                                <a:effectLst/>
                                <a:latin typeface="Cambria Math" panose="02040503050406030204" pitchFamily="18" charset="0"/>
                                <a:ea typeface="Times New Roman" panose="02020603050405020304" pitchFamily="18" charset="0"/>
                              </a:rPr>
                              <m:t>1</m:t>
                            </m:r>
                          </m:sub>
                        </m:sSub>
                      </m:e>
                    </m:acc>
                    <m:r>
                      <a:rPr lang="fr-CA" sz="1800" i="1">
                        <a:solidFill>
                          <a:srgbClr val="000000"/>
                        </a:solidFill>
                        <a:effectLst/>
                        <a:latin typeface="Cambria Math" panose="02040503050406030204" pitchFamily="18" charset="0"/>
                        <a:ea typeface="Times New Roman" panose="02020603050405020304" pitchFamily="18" charset="0"/>
                      </a:rPr>
                      <m:t>=281,88$     </m:t>
                    </m:r>
                    <m:r>
                      <a:rPr lang="fr-CA" sz="1800" i="1">
                        <a:solidFill>
                          <a:srgbClr val="000000"/>
                        </a:solidFill>
                        <a:effectLst/>
                        <a:latin typeface="Cambria Math" panose="02040503050406030204" pitchFamily="18" charset="0"/>
                        <a:ea typeface="Times New Roman" panose="02020603050405020304" pitchFamily="18" charset="0"/>
                      </a:rPr>
                      <m:t>𝑒𝑡</m:t>
                    </m:r>
                    <m:r>
                      <a:rPr lang="fr-CA" sz="1800" i="1">
                        <a:solidFill>
                          <a:srgbClr val="000000"/>
                        </a:solidFill>
                        <a:effectLst/>
                        <a:latin typeface="Cambria Math" panose="02040503050406030204" pitchFamily="18" charset="0"/>
                        <a:ea typeface="Times New Roman" panose="02020603050405020304" pitchFamily="18" charset="0"/>
                      </a:rPr>
                      <m:t>   </m:t>
                    </m:r>
                    <m:sSub>
                      <m:sSubPr>
                        <m:ctrlPr>
                          <a:rPr lang="fr-CA" sz="1800" i="1">
                            <a:solidFill>
                              <a:srgbClr val="000000"/>
                            </a:solidFill>
                            <a:effectLst/>
                            <a:latin typeface="Cambria Math" panose="02040503050406030204" pitchFamily="18" charset="0"/>
                            <a:ea typeface="Times New Roman" panose="02020603050405020304" pitchFamily="18" charset="0"/>
                          </a:rPr>
                        </m:ctrlPr>
                      </m:sSubPr>
                      <m:e>
                        <m:r>
                          <a:rPr lang="fr-CA" sz="1800" i="1">
                            <a:solidFill>
                              <a:srgbClr val="000000"/>
                            </a:solidFill>
                            <a:effectLst/>
                            <a:latin typeface="Cambria Math" panose="02040503050406030204" pitchFamily="18" charset="0"/>
                            <a:ea typeface="Times New Roman" panose="02020603050405020304" pitchFamily="18" charset="0"/>
                          </a:rPr>
                          <m:t>𝑠</m:t>
                        </m:r>
                      </m:e>
                      <m:sub>
                        <m:r>
                          <a:rPr lang="fr-CA" sz="1800" i="1">
                            <a:solidFill>
                              <a:srgbClr val="000000"/>
                            </a:solidFill>
                            <a:effectLst/>
                            <a:latin typeface="Cambria Math" panose="02040503050406030204" pitchFamily="18" charset="0"/>
                            <a:ea typeface="Times New Roman" panose="02020603050405020304" pitchFamily="18" charset="0"/>
                          </a:rPr>
                          <m:t>1</m:t>
                        </m:r>
                      </m:sub>
                    </m:sSub>
                    <m:r>
                      <a:rPr lang="fr-CA" sz="1800" i="1">
                        <a:solidFill>
                          <a:srgbClr val="000000"/>
                        </a:solidFill>
                        <a:effectLst/>
                        <a:latin typeface="Cambria Math" panose="02040503050406030204" pitchFamily="18" charset="0"/>
                        <a:ea typeface="Times New Roman" panose="02020603050405020304" pitchFamily="18" charset="0"/>
                      </a:rPr>
                      <m:t>=18,31$</m:t>
                    </m:r>
                  </m:oMath>
                </a14:m>
                <a:endParaRPr lang="fr-CA" sz="1800" dirty="0">
                  <a:solidFill>
                    <a:srgbClr val="000000"/>
                  </a:solidFill>
                  <a:effectLst/>
                  <a:latin typeface="Times New Roman" panose="02020603050405020304" pitchFamily="18" charset="0"/>
                  <a:ea typeface="Times New Roman" panose="02020603050405020304" pitchFamily="18" charset="0"/>
                </a:endParaRPr>
              </a:p>
              <a:p>
                <a:pPr algn="just">
                  <a:lnSpc>
                    <a:spcPct val="200000"/>
                  </a:lnSpc>
                  <a:spcAft>
                    <a:spcPts val="800"/>
                  </a:spcAft>
                </a:pPr>
                <a14:m>
                  <m:oMathPara xmlns:m="http://schemas.openxmlformats.org/officeDocument/2006/math">
                    <m:oMathParaPr>
                      <m:jc m:val="centerGroup"/>
                    </m:oMathParaPr>
                    <m:oMath xmlns:m="http://schemas.openxmlformats.org/officeDocument/2006/math">
                      <m:r>
                        <a:rPr lang="fr-CA" sz="1800" i="1">
                          <a:solidFill>
                            <a:srgbClr val="000000"/>
                          </a:solidFill>
                          <a:effectLst/>
                          <a:latin typeface="Cambria Math" panose="02040503050406030204" pitchFamily="18" charset="0"/>
                          <a:ea typeface="Times New Roman" panose="02020603050405020304" pitchFamily="18" charset="0"/>
                        </a:rPr>
                        <m:t>𝑚</m:t>
                      </m:r>
                      <m:r>
                        <a:rPr lang="fr-CA" sz="1800" i="1">
                          <a:solidFill>
                            <a:srgbClr val="000000"/>
                          </a:solidFill>
                          <a:effectLst/>
                          <a:latin typeface="Cambria Math" panose="02040503050406030204" pitchFamily="18" charset="0"/>
                          <a:ea typeface="Times New Roman" panose="02020603050405020304" pitchFamily="18" charset="0"/>
                        </a:rPr>
                        <m:t>=7;  </m:t>
                      </m:r>
                      <m:acc>
                        <m:accPr>
                          <m:chr m:val="̅"/>
                          <m:ctrlPr>
                            <a:rPr lang="fr-CA" sz="1800" i="1">
                              <a:solidFill>
                                <a:srgbClr val="000000"/>
                              </a:solidFill>
                              <a:effectLst/>
                              <a:latin typeface="Cambria Math" panose="02040503050406030204" pitchFamily="18" charset="0"/>
                              <a:ea typeface="Times New Roman" panose="02020603050405020304" pitchFamily="18" charset="0"/>
                            </a:rPr>
                          </m:ctrlPr>
                        </m:accPr>
                        <m:e>
                          <m:sSub>
                            <m:sSubPr>
                              <m:ctrlPr>
                                <a:rPr lang="fr-CA" sz="1800" i="1">
                                  <a:solidFill>
                                    <a:srgbClr val="000000"/>
                                  </a:solidFill>
                                  <a:effectLst/>
                                  <a:latin typeface="Cambria Math" panose="02040503050406030204" pitchFamily="18" charset="0"/>
                                  <a:ea typeface="Times New Roman" panose="02020603050405020304" pitchFamily="18" charset="0"/>
                                </a:rPr>
                              </m:ctrlPr>
                            </m:sSubPr>
                            <m:e>
                              <m:r>
                                <a:rPr lang="fr-CA" sz="1800" i="1">
                                  <a:solidFill>
                                    <a:srgbClr val="000000"/>
                                  </a:solidFill>
                                  <a:effectLst/>
                                  <a:latin typeface="Cambria Math" panose="02040503050406030204" pitchFamily="18" charset="0"/>
                                  <a:ea typeface="Times New Roman" panose="02020603050405020304" pitchFamily="18" charset="0"/>
                                </a:rPr>
                                <m:t>𝑥</m:t>
                              </m:r>
                            </m:e>
                            <m:sub>
                              <m:r>
                                <a:rPr lang="fr-CA" sz="1800" i="1">
                                  <a:solidFill>
                                    <a:srgbClr val="000000"/>
                                  </a:solidFill>
                                  <a:effectLst/>
                                  <a:latin typeface="Cambria Math" panose="02040503050406030204" pitchFamily="18" charset="0"/>
                                  <a:ea typeface="Times New Roman" panose="02020603050405020304" pitchFamily="18" charset="0"/>
                                </a:rPr>
                                <m:t>2</m:t>
                              </m:r>
                            </m:sub>
                          </m:sSub>
                        </m:e>
                      </m:acc>
                      <m:r>
                        <a:rPr lang="fr-CA" sz="1800" i="1">
                          <a:solidFill>
                            <a:srgbClr val="000000"/>
                          </a:solidFill>
                          <a:effectLst/>
                          <a:latin typeface="Cambria Math" panose="02040503050406030204" pitchFamily="18" charset="0"/>
                          <a:ea typeface="Times New Roman" panose="02020603050405020304" pitchFamily="18" charset="0"/>
                        </a:rPr>
                        <m:t>=211,43$       </m:t>
                      </m:r>
                      <m:r>
                        <a:rPr lang="fr-CA" sz="1800" i="1">
                          <a:solidFill>
                            <a:srgbClr val="000000"/>
                          </a:solidFill>
                          <a:effectLst/>
                          <a:latin typeface="Cambria Math" panose="02040503050406030204" pitchFamily="18" charset="0"/>
                          <a:ea typeface="Times New Roman" panose="02020603050405020304" pitchFamily="18" charset="0"/>
                        </a:rPr>
                        <m:t>𝑒𝑡</m:t>
                      </m:r>
                      <m:r>
                        <a:rPr lang="fr-CA" sz="1800" i="1">
                          <a:solidFill>
                            <a:srgbClr val="000000"/>
                          </a:solidFill>
                          <a:effectLst/>
                          <a:latin typeface="Cambria Math" panose="02040503050406030204" pitchFamily="18" charset="0"/>
                          <a:ea typeface="Times New Roman" panose="02020603050405020304" pitchFamily="18" charset="0"/>
                        </a:rPr>
                        <m:t>   </m:t>
                      </m:r>
                      <m:sSub>
                        <m:sSubPr>
                          <m:ctrlPr>
                            <a:rPr lang="fr-CA" sz="1800" i="1">
                              <a:solidFill>
                                <a:srgbClr val="000000"/>
                              </a:solidFill>
                              <a:effectLst/>
                              <a:latin typeface="Cambria Math" panose="02040503050406030204" pitchFamily="18" charset="0"/>
                              <a:ea typeface="Times New Roman" panose="02020603050405020304" pitchFamily="18" charset="0"/>
                            </a:rPr>
                          </m:ctrlPr>
                        </m:sSubPr>
                        <m:e>
                          <m:r>
                            <a:rPr lang="fr-CA" sz="1800" i="1">
                              <a:solidFill>
                                <a:srgbClr val="000000"/>
                              </a:solidFill>
                              <a:effectLst/>
                              <a:latin typeface="Cambria Math" panose="02040503050406030204" pitchFamily="18" charset="0"/>
                              <a:ea typeface="Times New Roman" panose="02020603050405020304" pitchFamily="18" charset="0"/>
                            </a:rPr>
                            <m:t>𝑠</m:t>
                          </m:r>
                        </m:e>
                        <m:sub>
                          <m:r>
                            <a:rPr lang="fr-CA" sz="1800" i="1">
                              <a:solidFill>
                                <a:srgbClr val="000000"/>
                              </a:solidFill>
                              <a:effectLst/>
                              <a:latin typeface="Cambria Math" panose="02040503050406030204" pitchFamily="18" charset="0"/>
                              <a:ea typeface="Times New Roman" panose="02020603050405020304" pitchFamily="18" charset="0"/>
                            </a:rPr>
                            <m:t>2</m:t>
                          </m:r>
                        </m:sub>
                      </m:sSub>
                      <m:r>
                        <a:rPr lang="fr-CA" sz="1800" i="1">
                          <a:solidFill>
                            <a:srgbClr val="000000"/>
                          </a:solidFill>
                          <a:effectLst/>
                          <a:latin typeface="Cambria Math" panose="02040503050406030204" pitchFamily="18" charset="0"/>
                          <a:ea typeface="Times New Roman" panose="02020603050405020304" pitchFamily="18" charset="0"/>
                        </a:rPr>
                        <m:t>=46,43$</m:t>
                      </m:r>
                    </m:oMath>
                  </m:oMathPara>
                </a14:m>
                <a:endParaRPr lang="fr-CA" sz="1800" dirty="0">
                  <a:solidFill>
                    <a:srgbClr val="000000"/>
                  </a:solidFill>
                  <a:effectLst/>
                  <a:latin typeface="Times New Roman" panose="02020603050405020304" pitchFamily="18" charset="0"/>
                  <a:ea typeface="Times New Roman" panose="02020603050405020304" pitchFamily="18" charset="0"/>
                </a:endParaRPr>
              </a:p>
              <a:p>
                <a:pPr algn="just">
                  <a:lnSpc>
                    <a:spcPct val="200000"/>
                  </a:lnSpc>
                  <a:spcAft>
                    <a:spcPts val="800"/>
                  </a:spcAft>
                </a:pPr>
                <a:r>
                  <a:rPr lang="fr-CA" sz="1800" dirty="0">
                    <a:solidFill>
                      <a:srgbClr val="000000"/>
                    </a:solidFill>
                    <a:effectLst/>
                    <a:latin typeface="Times New Roman" panose="02020603050405020304" pitchFamily="18" charset="0"/>
                    <a:ea typeface="Times New Roman" panose="02020603050405020304" pitchFamily="18" charset="0"/>
                  </a:rPr>
                  <a:t>Puisque </a:t>
                </a:r>
                <a14:m>
                  <m:oMath xmlns:m="http://schemas.openxmlformats.org/officeDocument/2006/math">
                    <m:sSub>
                      <m:sSubPr>
                        <m:ctrlPr>
                          <a:rPr lang="fr-CA" sz="1800" i="1">
                            <a:solidFill>
                              <a:srgbClr val="000000"/>
                            </a:solidFill>
                            <a:effectLst/>
                            <a:latin typeface="Cambria Math" panose="02040503050406030204" pitchFamily="18" charset="0"/>
                            <a:ea typeface="Times New Roman" panose="02020603050405020304" pitchFamily="18" charset="0"/>
                          </a:rPr>
                        </m:ctrlPr>
                      </m:sSubPr>
                      <m:e>
                        <m:r>
                          <a:rPr lang="fr-CA" sz="1800" i="1">
                            <a:solidFill>
                              <a:srgbClr val="000000"/>
                            </a:solidFill>
                            <a:effectLst/>
                            <a:latin typeface="Cambria Math" panose="02040503050406030204" pitchFamily="18" charset="0"/>
                            <a:ea typeface="Times New Roman" panose="02020603050405020304" pitchFamily="18" charset="0"/>
                          </a:rPr>
                          <m:t>𝑠</m:t>
                        </m:r>
                      </m:e>
                      <m:sub>
                        <m:r>
                          <a:rPr lang="fr-CA" sz="1800" i="1">
                            <a:solidFill>
                              <a:srgbClr val="000000"/>
                            </a:solidFill>
                            <a:effectLst/>
                            <a:latin typeface="Cambria Math" panose="02040503050406030204" pitchFamily="18" charset="0"/>
                            <a:ea typeface="Times New Roman" panose="02020603050405020304" pitchFamily="18" charset="0"/>
                          </a:rPr>
                          <m:t>2</m:t>
                        </m:r>
                      </m:sub>
                    </m:sSub>
                  </m:oMath>
                </a14:m>
                <a:r>
                  <a:rPr lang="fr-CA" sz="1800" dirty="0">
                    <a:solidFill>
                      <a:srgbClr val="000000"/>
                    </a:solidFill>
                    <a:effectLst/>
                    <a:latin typeface="Times New Roman" panose="02020603050405020304" pitchFamily="18" charset="0"/>
                    <a:ea typeface="Times New Roman" panose="02020603050405020304" pitchFamily="18" charset="0"/>
                  </a:rPr>
                  <a:t> dépasse le double de </a:t>
                </a:r>
                <a14:m>
                  <m:oMath xmlns:m="http://schemas.openxmlformats.org/officeDocument/2006/math">
                    <m:sSub>
                      <m:sSubPr>
                        <m:ctrlPr>
                          <a:rPr lang="fr-CA" sz="1800" i="1">
                            <a:solidFill>
                              <a:srgbClr val="000000"/>
                            </a:solidFill>
                            <a:effectLst/>
                            <a:latin typeface="Cambria Math" panose="02040503050406030204" pitchFamily="18" charset="0"/>
                            <a:ea typeface="Times New Roman" panose="02020603050405020304" pitchFamily="18" charset="0"/>
                          </a:rPr>
                        </m:ctrlPr>
                      </m:sSubPr>
                      <m:e>
                        <m:r>
                          <a:rPr lang="fr-CA" sz="1800" i="1">
                            <a:solidFill>
                              <a:srgbClr val="000000"/>
                            </a:solidFill>
                            <a:effectLst/>
                            <a:latin typeface="Cambria Math" panose="02040503050406030204" pitchFamily="18" charset="0"/>
                            <a:ea typeface="Times New Roman" panose="02020603050405020304" pitchFamily="18" charset="0"/>
                          </a:rPr>
                          <m:t>𝑠</m:t>
                        </m:r>
                      </m:e>
                      <m:sub>
                        <m:r>
                          <a:rPr lang="fr-CA" sz="1800" i="1">
                            <a:solidFill>
                              <a:srgbClr val="000000"/>
                            </a:solidFill>
                            <a:effectLst/>
                            <a:latin typeface="Cambria Math" panose="02040503050406030204" pitchFamily="18" charset="0"/>
                            <a:ea typeface="Times New Roman" panose="02020603050405020304" pitchFamily="18" charset="0"/>
                          </a:rPr>
                          <m:t>1</m:t>
                        </m:r>
                      </m:sub>
                    </m:sSub>
                  </m:oMath>
                </a14:m>
                <a:r>
                  <a:rPr lang="fr-CA" sz="1800" dirty="0">
                    <a:solidFill>
                      <a:srgbClr val="000000"/>
                    </a:solidFill>
                    <a:effectLst/>
                    <a:latin typeface="Times New Roman" panose="02020603050405020304" pitchFamily="18" charset="0"/>
                    <a:ea typeface="Times New Roman" panose="02020603050405020304" pitchFamily="18" charset="0"/>
                  </a:rPr>
                  <a:t>, on doit donc appliquer la méthode de Welsh et on doit calculer  le degré de liberté :      </a:t>
                </a:r>
                <a14:m>
                  <m:oMath xmlns:m="http://schemas.openxmlformats.org/officeDocument/2006/math">
                    <m:r>
                      <a:rPr lang="fr-CA" sz="1800" i="1">
                        <a:solidFill>
                          <a:srgbClr val="000000"/>
                        </a:solidFill>
                        <a:effectLst/>
                        <a:latin typeface="Cambria Math" panose="02040503050406030204" pitchFamily="18" charset="0"/>
                        <a:ea typeface="Times New Roman" panose="02020603050405020304" pitchFamily="18" charset="0"/>
                      </a:rPr>
                      <m:t>𝛾</m:t>
                    </m:r>
                    <m:r>
                      <a:rPr lang="fr-CA" sz="1800" i="1">
                        <a:solidFill>
                          <a:srgbClr val="000000"/>
                        </a:solidFill>
                        <a:effectLst/>
                        <a:latin typeface="Cambria Math" panose="02040503050406030204" pitchFamily="18" charset="0"/>
                        <a:ea typeface="Times New Roman" panose="02020603050405020304" pitchFamily="18" charset="0"/>
                      </a:rPr>
                      <m:t>=</m:t>
                    </m:r>
                    <m:f>
                      <m:fPr>
                        <m:ctrlPr>
                          <a:rPr lang="fr-CA" sz="1800" i="1">
                            <a:solidFill>
                              <a:srgbClr val="000000"/>
                            </a:solidFill>
                            <a:effectLst/>
                            <a:latin typeface="Cambria Math" panose="02040503050406030204" pitchFamily="18" charset="0"/>
                            <a:ea typeface="Times New Roman" panose="02020603050405020304" pitchFamily="18" charset="0"/>
                          </a:rPr>
                        </m:ctrlPr>
                      </m:fPr>
                      <m:num>
                        <m:sSup>
                          <m:sSupPr>
                            <m:ctrlPr>
                              <a:rPr lang="fr-CA" sz="1800" i="1">
                                <a:solidFill>
                                  <a:srgbClr val="000000"/>
                                </a:solidFill>
                                <a:effectLst/>
                                <a:latin typeface="Cambria Math" panose="02040503050406030204" pitchFamily="18" charset="0"/>
                                <a:ea typeface="Times New Roman" panose="02020603050405020304" pitchFamily="18" charset="0"/>
                              </a:rPr>
                            </m:ctrlPr>
                          </m:sSupPr>
                          <m:e>
                            <m:r>
                              <a:rPr lang="fr-CA" sz="1800" i="1">
                                <a:solidFill>
                                  <a:srgbClr val="000000"/>
                                </a:solidFill>
                                <a:effectLst/>
                                <a:latin typeface="Cambria Math" panose="02040503050406030204" pitchFamily="18" charset="0"/>
                                <a:ea typeface="Times New Roman" panose="02020603050405020304" pitchFamily="18" charset="0"/>
                              </a:rPr>
                              <m:t>(</m:t>
                            </m:r>
                            <m:f>
                              <m:fPr>
                                <m:ctrlPr>
                                  <a:rPr lang="fr-CA" sz="1800" i="1">
                                    <a:solidFill>
                                      <a:srgbClr val="000000"/>
                                    </a:solidFill>
                                    <a:effectLst/>
                                    <a:latin typeface="Cambria Math" panose="02040503050406030204" pitchFamily="18" charset="0"/>
                                    <a:ea typeface="Times New Roman" panose="02020603050405020304" pitchFamily="18" charset="0"/>
                                  </a:rPr>
                                </m:ctrlPr>
                              </m:fPr>
                              <m:num>
                                <m:sSubSup>
                                  <m:sSubSupPr>
                                    <m:ctrlPr>
                                      <a:rPr lang="fr-CA" sz="1800" i="1">
                                        <a:solidFill>
                                          <a:srgbClr val="000000"/>
                                        </a:solidFill>
                                        <a:effectLst/>
                                        <a:latin typeface="Cambria Math" panose="02040503050406030204" pitchFamily="18" charset="0"/>
                                        <a:ea typeface="Times New Roman" panose="02020603050405020304" pitchFamily="18" charset="0"/>
                                      </a:rPr>
                                    </m:ctrlPr>
                                  </m:sSubSupPr>
                                  <m:e>
                                    <m:r>
                                      <a:rPr lang="fr-CA" sz="1800" i="1">
                                        <a:solidFill>
                                          <a:srgbClr val="000000"/>
                                        </a:solidFill>
                                        <a:effectLst/>
                                        <a:latin typeface="Cambria Math" panose="02040503050406030204" pitchFamily="18" charset="0"/>
                                        <a:ea typeface="Times New Roman" panose="02020603050405020304" pitchFamily="18" charset="0"/>
                                      </a:rPr>
                                      <m:t>𝑠</m:t>
                                    </m:r>
                                  </m:e>
                                  <m:sub>
                                    <m:r>
                                      <a:rPr lang="fr-CA" sz="1800" i="1">
                                        <a:solidFill>
                                          <a:srgbClr val="000000"/>
                                        </a:solidFill>
                                        <a:effectLst/>
                                        <a:latin typeface="Cambria Math" panose="02040503050406030204" pitchFamily="18" charset="0"/>
                                        <a:ea typeface="Times New Roman" panose="02020603050405020304" pitchFamily="18" charset="0"/>
                                      </a:rPr>
                                      <m:t>1</m:t>
                                    </m:r>
                                  </m:sub>
                                  <m:sup>
                                    <m:r>
                                      <a:rPr lang="fr-CA" sz="1800" i="1">
                                        <a:solidFill>
                                          <a:srgbClr val="000000"/>
                                        </a:solidFill>
                                        <a:effectLst/>
                                        <a:latin typeface="Cambria Math" panose="02040503050406030204" pitchFamily="18" charset="0"/>
                                        <a:ea typeface="Times New Roman" panose="02020603050405020304" pitchFamily="18" charset="0"/>
                                      </a:rPr>
                                      <m:t>2</m:t>
                                    </m:r>
                                  </m:sup>
                                </m:sSubSup>
                              </m:num>
                              <m:den>
                                <m:r>
                                  <a:rPr lang="fr-CA" sz="1800" i="1">
                                    <a:solidFill>
                                      <a:srgbClr val="000000"/>
                                    </a:solidFill>
                                    <a:effectLst/>
                                    <a:latin typeface="Cambria Math" panose="02040503050406030204" pitchFamily="18" charset="0"/>
                                    <a:ea typeface="Times New Roman" panose="02020603050405020304" pitchFamily="18" charset="0"/>
                                  </a:rPr>
                                  <m:t>𝑛</m:t>
                                </m:r>
                              </m:den>
                            </m:f>
                            <m:r>
                              <a:rPr lang="fr-CA" sz="1800" i="1">
                                <a:solidFill>
                                  <a:srgbClr val="000000"/>
                                </a:solidFill>
                                <a:effectLst/>
                                <a:latin typeface="Cambria Math" panose="02040503050406030204" pitchFamily="18" charset="0"/>
                                <a:ea typeface="Times New Roman" panose="02020603050405020304" pitchFamily="18" charset="0"/>
                              </a:rPr>
                              <m:t>+</m:t>
                            </m:r>
                            <m:f>
                              <m:fPr>
                                <m:ctrlPr>
                                  <a:rPr lang="fr-CA" sz="1800" i="1">
                                    <a:solidFill>
                                      <a:srgbClr val="000000"/>
                                    </a:solidFill>
                                    <a:effectLst/>
                                    <a:latin typeface="Cambria Math" panose="02040503050406030204" pitchFamily="18" charset="0"/>
                                    <a:ea typeface="Times New Roman" panose="02020603050405020304" pitchFamily="18" charset="0"/>
                                  </a:rPr>
                                </m:ctrlPr>
                              </m:fPr>
                              <m:num>
                                <m:sSubSup>
                                  <m:sSubSupPr>
                                    <m:ctrlPr>
                                      <a:rPr lang="fr-CA" sz="1800" i="1">
                                        <a:solidFill>
                                          <a:srgbClr val="000000"/>
                                        </a:solidFill>
                                        <a:effectLst/>
                                        <a:latin typeface="Cambria Math" panose="02040503050406030204" pitchFamily="18" charset="0"/>
                                        <a:ea typeface="Times New Roman" panose="02020603050405020304" pitchFamily="18" charset="0"/>
                                      </a:rPr>
                                    </m:ctrlPr>
                                  </m:sSubSupPr>
                                  <m:e>
                                    <m:r>
                                      <a:rPr lang="fr-CA" sz="1800" i="1">
                                        <a:solidFill>
                                          <a:srgbClr val="000000"/>
                                        </a:solidFill>
                                        <a:effectLst/>
                                        <a:latin typeface="Cambria Math" panose="02040503050406030204" pitchFamily="18" charset="0"/>
                                        <a:ea typeface="Times New Roman" panose="02020603050405020304" pitchFamily="18" charset="0"/>
                                      </a:rPr>
                                      <m:t>𝑠</m:t>
                                    </m:r>
                                  </m:e>
                                  <m:sub>
                                    <m:r>
                                      <a:rPr lang="fr-CA" sz="1800" i="1">
                                        <a:solidFill>
                                          <a:srgbClr val="000000"/>
                                        </a:solidFill>
                                        <a:effectLst/>
                                        <a:latin typeface="Cambria Math" panose="02040503050406030204" pitchFamily="18" charset="0"/>
                                        <a:ea typeface="Times New Roman" panose="02020603050405020304" pitchFamily="18" charset="0"/>
                                      </a:rPr>
                                      <m:t>2</m:t>
                                    </m:r>
                                  </m:sub>
                                  <m:sup>
                                    <m:r>
                                      <a:rPr lang="fr-CA" sz="1800" i="1">
                                        <a:solidFill>
                                          <a:srgbClr val="000000"/>
                                        </a:solidFill>
                                        <a:effectLst/>
                                        <a:latin typeface="Cambria Math" panose="02040503050406030204" pitchFamily="18" charset="0"/>
                                        <a:ea typeface="Times New Roman" panose="02020603050405020304" pitchFamily="18" charset="0"/>
                                      </a:rPr>
                                      <m:t>2</m:t>
                                    </m:r>
                                  </m:sup>
                                </m:sSubSup>
                              </m:num>
                              <m:den>
                                <m:r>
                                  <a:rPr lang="fr-CA" sz="1800" i="1">
                                    <a:solidFill>
                                      <a:srgbClr val="000000"/>
                                    </a:solidFill>
                                    <a:effectLst/>
                                    <a:latin typeface="Cambria Math" panose="02040503050406030204" pitchFamily="18" charset="0"/>
                                    <a:ea typeface="Times New Roman" panose="02020603050405020304" pitchFamily="18" charset="0"/>
                                  </a:rPr>
                                  <m:t>𝑚</m:t>
                                </m:r>
                              </m:den>
                            </m:f>
                            <m:r>
                              <a:rPr lang="fr-CA" sz="1800" i="1">
                                <a:solidFill>
                                  <a:srgbClr val="000000"/>
                                </a:solidFill>
                                <a:effectLst/>
                                <a:latin typeface="Cambria Math" panose="02040503050406030204" pitchFamily="18" charset="0"/>
                                <a:ea typeface="Times New Roman" panose="02020603050405020304" pitchFamily="18" charset="0"/>
                              </a:rPr>
                              <m:t>)</m:t>
                            </m:r>
                          </m:e>
                          <m:sup>
                            <m:r>
                              <a:rPr lang="fr-CA" sz="1800" i="1">
                                <a:solidFill>
                                  <a:srgbClr val="000000"/>
                                </a:solidFill>
                                <a:effectLst/>
                                <a:latin typeface="Cambria Math" panose="02040503050406030204" pitchFamily="18" charset="0"/>
                                <a:ea typeface="Times New Roman" panose="02020603050405020304" pitchFamily="18" charset="0"/>
                              </a:rPr>
                              <m:t>2</m:t>
                            </m:r>
                          </m:sup>
                        </m:sSup>
                      </m:num>
                      <m:den>
                        <m:f>
                          <m:fPr>
                            <m:ctrlPr>
                              <a:rPr lang="fr-CA" sz="1800" i="1">
                                <a:solidFill>
                                  <a:srgbClr val="000000"/>
                                </a:solidFill>
                                <a:effectLst/>
                                <a:latin typeface="Cambria Math" panose="02040503050406030204" pitchFamily="18" charset="0"/>
                                <a:ea typeface="Times New Roman" panose="02020603050405020304" pitchFamily="18" charset="0"/>
                              </a:rPr>
                            </m:ctrlPr>
                          </m:fPr>
                          <m:num>
                            <m:sSup>
                              <m:sSupPr>
                                <m:ctrlPr>
                                  <a:rPr lang="fr-CA" sz="1800" i="1">
                                    <a:solidFill>
                                      <a:srgbClr val="000000"/>
                                    </a:solidFill>
                                    <a:effectLst/>
                                    <a:latin typeface="Cambria Math" panose="02040503050406030204" pitchFamily="18" charset="0"/>
                                    <a:ea typeface="Times New Roman" panose="02020603050405020304" pitchFamily="18" charset="0"/>
                                  </a:rPr>
                                </m:ctrlPr>
                              </m:sSupPr>
                              <m:e>
                                <m:d>
                                  <m:dPr>
                                    <m:ctrlPr>
                                      <a:rPr lang="fr-CA" sz="1800" i="1">
                                        <a:solidFill>
                                          <a:srgbClr val="000000"/>
                                        </a:solidFill>
                                        <a:effectLst/>
                                        <a:latin typeface="Cambria Math" panose="02040503050406030204" pitchFamily="18" charset="0"/>
                                        <a:ea typeface="Times New Roman" panose="02020603050405020304" pitchFamily="18" charset="0"/>
                                      </a:rPr>
                                    </m:ctrlPr>
                                  </m:dPr>
                                  <m:e>
                                    <m:f>
                                      <m:fPr>
                                        <m:ctrlPr>
                                          <a:rPr lang="fr-CA" sz="1800" i="1">
                                            <a:solidFill>
                                              <a:srgbClr val="000000"/>
                                            </a:solidFill>
                                            <a:effectLst/>
                                            <a:latin typeface="Cambria Math" panose="02040503050406030204" pitchFamily="18" charset="0"/>
                                            <a:ea typeface="Times New Roman" panose="02020603050405020304" pitchFamily="18" charset="0"/>
                                          </a:rPr>
                                        </m:ctrlPr>
                                      </m:fPr>
                                      <m:num>
                                        <m:sSubSup>
                                          <m:sSubSupPr>
                                            <m:ctrlPr>
                                              <a:rPr lang="fr-CA" sz="1800" i="1">
                                                <a:solidFill>
                                                  <a:srgbClr val="000000"/>
                                                </a:solidFill>
                                                <a:effectLst/>
                                                <a:latin typeface="Cambria Math" panose="02040503050406030204" pitchFamily="18" charset="0"/>
                                                <a:ea typeface="Times New Roman" panose="02020603050405020304" pitchFamily="18" charset="0"/>
                                              </a:rPr>
                                            </m:ctrlPr>
                                          </m:sSubSupPr>
                                          <m:e>
                                            <m:r>
                                              <a:rPr lang="fr-CA" sz="1800" i="1">
                                                <a:solidFill>
                                                  <a:srgbClr val="000000"/>
                                                </a:solidFill>
                                                <a:effectLst/>
                                                <a:latin typeface="Cambria Math" panose="02040503050406030204" pitchFamily="18" charset="0"/>
                                                <a:ea typeface="Times New Roman" panose="02020603050405020304" pitchFamily="18" charset="0"/>
                                              </a:rPr>
                                              <m:t>𝑠</m:t>
                                            </m:r>
                                          </m:e>
                                          <m:sub>
                                            <m:r>
                                              <a:rPr lang="fr-CA" sz="1800" i="1">
                                                <a:solidFill>
                                                  <a:srgbClr val="000000"/>
                                                </a:solidFill>
                                                <a:effectLst/>
                                                <a:latin typeface="Cambria Math" panose="02040503050406030204" pitchFamily="18" charset="0"/>
                                                <a:ea typeface="Times New Roman" panose="02020603050405020304" pitchFamily="18" charset="0"/>
                                              </a:rPr>
                                              <m:t>1</m:t>
                                            </m:r>
                                          </m:sub>
                                          <m:sup>
                                            <m:r>
                                              <a:rPr lang="fr-CA" sz="1800" i="1">
                                                <a:solidFill>
                                                  <a:srgbClr val="000000"/>
                                                </a:solidFill>
                                                <a:effectLst/>
                                                <a:latin typeface="Cambria Math" panose="02040503050406030204" pitchFamily="18" charset="0"/>
                                                <a:ea typeface="Times New Roman" panose="02020603050405020304" pitchFamily="18" charset="0"/>
                                              </a:rPr>
                                              <m:t>2</m:t>
                                            </m:r>
                                          </m:sup>
                                        </m:sSubSup>
                                      </m:num>
                                      <m:den>
                                        <m:r>
                                          <a:rPr lang="fr-CA" sz="1800" i="1">
                                            <a:solidFill>
                                              <a:srgbClr val="000000"/>
                                            </a:solidFill>
                                            <a:effectLst/>
                                            <a:latin typeface="Cambria Math" panose="02040503050406030204" pitchFamily="18" charset="0"/>
                                            <a:ea typeface="Times New Roman" panose="02020603050405020304" pitchFamily="18" charset="0"/>
                                          </a:rPr>
                                          <m:t>𝑛</m:t>
                                        </m:r>
                                      </m:den>
                                    </m:f>
                                  </m:e>
                                </m:d>
                              </m:e>
                              <m:sup>
                                <m:r>
                                  <a:rPr lang="fr-CA" sz="1800" i="1">
                                    <a:solidFill>
                                      <a:srgbClr val="000000"/>
                                    </a:solidFill>
                                    <a:effectLst/>
                                    <a:latin typeface="Cambria Math" panose="02040503050406030204" pitchFamily="18" charset="0"/>
                                    <a:ea typeface="Times New Roman" panose="02020603050405020304" pitchFamily="18" charset="0"/>
                                  </a:rPr>
                                  <m:t>2</m:t>
                                </m:r>
                              </m:sup>
                            </m:sSup>
                          </m:num>
                          <m:den>
                            <m:r>
                              <a:rPr lang="fr-CA" sz="1800" i="1">
                                <a:solidFill>
                                  <a:srgbClr val="000000"/>
                                </a:solidFill>
                                <a:effectLst/>
                                <a:latin typeface="Cambria Math" panose="02040503050406030204" pitchFamily="18" charset="0"/>
                                <a:ea typeface="Times New Roman" panose="02020603050405020304" pitchFamily="18" charset="0"/>
                              </a:rPr>
                              <m:t>𝑛</m:t>
                            </m:r>
                            <m:r>
                              <a:rPr lang="fr-CA" sz="1800" i="1">
                                <a:solidFill>
                                  <a:srgbClr val="000000"/>
                                </a:solidFill>
                                <a:effectLst/>
                                <a:latin typeface="Cambria Math" panose="02040503050406030204" pitchFamily="18" charset="0"/>
                                <a:ea typeface="Times New Roman" panose="02020603050405020304" pitchFamily="18" charset="0"/>
                              </a:rPr>
                              <m:t>−1</m:t>
                            </m:r>
                          </m:den>
                        </m:f>
                        <m:r>
                          <a:rPr lang="fr-CA" sz="1800" i="1">
                            <a:solidFill>
                              <a:srgbClr val="000000"/>
                            </a:solidFill>
                            <a:effectLst/>
                            <a:latin typeface="Cambria Math" panose="02040503050406030204" pitchFamily="18" charset="0"/>
                            <a:ea typeface="Times New Roman" panose="02020603050405020304" pitchFamily="18" charset="0"/>
                          </a:rPr>
                          <m:t>+</m:t>
                        </m:r>
                        <m:f>
                          <m:fPr>
                            <m:ctrlPr>
                              <a:rPr lang="fr-CA" sz="1800" i="1">
                                <a:solidFill>
                                  <a:srgbClr val="000000"/>
                                </a:solidFill>
                                <a:effectLst/>
                                <a:latin typeface="Cambria Math" panose="02040503050406030204" pitchFamily="18" charset="0"/>
                                <a:ea typeface="Times New Roman" panose="02020603050405020304" pitchFamily="18" charset="0"/>
                              </a:rPr>
                            </m:ctrlPr>
                          </m:fPr>
                          <m:num>
                            <m:sSup>
                              <m:sSupPr>
                                <m:ctrlPr>
                                  <a:rPr lang="fr-CA" sz="1800" i="1">
                                    <a:solidFill>
                                      <a:srgbClr val="000000"/>
                                    </a:solidFill>
                                    <a:effectLst/>
                                    <a:latin typeface="Cambria Math" panose="02040503050406030204" pitchFamily="18" charset="0"/>
                                    <a:ea typeface="Times New Roman" panose="02020603050405020304" pitchFamily="18" charset="0"/>
                                  </a:rPr>
                                </m:ctrlPr>
                              </m:sSupPr>
                              <m:e>
                                <m:d>
                                  <m:dPr>
                                    <m:ctrlPr>
                                      <a:rPr lang="fr-CA" sz="1800" i="1">
                                        <a:solidFill>
                                          <a:srgbClr val="000000"/>
                                        </a:solidFill>
                                        <a:effectLst/>
                                        <a:latin typeface="Cambria Math" panose="02040503050406030204" pitchFamily="18" charset="0"/>
                                        <a:ea typeface="Times New Roman" panose="02020603050405020304" pitchFamily="18" charset="0"/>
                                      </a:rPr>
                                    </m:ctrlPr>
                                  </m:dPr>
                                  <m:e>
                                    <m:f>
                                      <m:fPr>
                                        <m:ctrlPr>
                                          <a:rPr lang="fr-CA" sz="1800" i="1">
                                            <a:solidFill>
                                              <a:srgbClr val="000000"/>
                                            </a:solidFill>
                                            <a:effectLst/>
                                            <a:latin typeface="Cambria Math" panose="02040503050406030204" pitchFamily="18" charset="0"/>
                                            <a:ea typeface="Times New Roman" panose="02020603050405020304" pitchFamily="18" charset="0"/>
                                          </a:rPr>
                                        </m:ctrlPr>
                                      </m:fPr>
                                      <m:num>
                                        <m:sSubSup>
                                          <m:sSubSupPr>
                                            <m:ctrlPr>
                                              <a:rPr lang="fr-CA" sz="1800" i="1">
                                                <a:solidFill>
                                                  <a:srgbClr val="000000"/>
                                                </a:solidFill>
                                                <a:effectLst/>
                                                <a:latin typeface="Cambria Math" panose="02040503050406030204" pitchFamily="18" charset="0"/>
                                                <a:ea typeface="Times New Roman" panose="02020603050405020304" pitchFamily="18" charset="0"/>
                                              </a:rPr>
                                            </m:ctrlPr>
                                          </m:sSubSupPr>
                                          <m:e>
                                            <m:r>
                                              <a:rPr lang="fr-CA" sz="1800" i="1">
                                                <a:solidFill>
                                                  <a:srgbClr val="000000"/>
                                                </a:solidFill>
                                                <a:effectLst/>
                                                <a:latin typeface="Cambria Math" panose="02040503050406030204" pitchFamily="18" charset="0"/>
                                                <a:ea typeface="Times New Roman" panose="02020603050405020304" pitchFamily="18" charset="0"/>
                                              </a:rPr>
                                              <m:t>𝑠</m:t>
                                            </m:r>
                                          </m:e>
                                          <m:sub>
                                            <m:r>
                                              <a:rPr lang="fr-CA" sz="1800" i="1">
                                                <a:solidFill>
                                                  <a:srgbClr val="000000"/>
                                                </a:solidFill>
                                                <a:effectLst/>
                                                <a:latin typeface="Cambria Math" panose="02040503050406030204" pitchFamily="18" charset="0"/>
                                                <a:ea typeface="Times New Roman" panose="02020603050405020304" pitchFamily="18" charset="0"/>
                                              </a:rPr>
                                              <m:t>2</m:t>
                                            </m:r>
                                          </m:sub>
                                          <m:sup>
                                            <m:r>
                                              <a:rPr lang="fr-CA" sz="1800" i="1">
                                                <a:solidFill>
                                                  <a:srgbClr val="000000"/>
                                                </a:solidFill>
                                                <a:effectLst/>
                                                <a:latin typeface="Cambria Math" panose="02040503050406030204" pitchFamily="18" charset="0"/>
                                                <a:ea typeface="Times New Roman" panose="02020603050405020304" pitchFamily="18" charset="0"/>
                                              </a:rPr>
                                              <m:t>2</m:t>
                                            </m:r>
                                          </m:sup>
                                        </m:sSubSup>
                                      </m:num>
                                      <m:den>
                                        <m:r>
                                          <a:rPr lang="fr-CA" sz="1800" i="1">
                                            <a:solidFill>
                                              <a:srgbClr val="000000"/>
                                            </a:solidFill>
                                            <a:effectLst/>
                                            <a:latin typeface="Cambria Math" panose="02040503050406030204" pitchFamily="18" charset="0"/>
                                            <a:ea typeface="Times New Roman" panose="02020603050405020304" pitchFamily="18" charset="0"/>
                                          </a:rPr>
                                          <m:t>𝑚</m:t>
                                        </m:r>
                                      </m:den>
                                    </m:f>
                                  </m:e>
                                </m:d>
                              </m:e>
                              <m:sup>
                                <m:r>
                                  <a:rPr lang="fr-CA" sz="1800" i="1">
                                    <a:solidFill>
                                      <a:srgbClr val="000000"/>
                                    </a:solidFill>
                                    <a:effectLst/>
                                    <a:latin typeface="Cambria Math" panose="02040503050406030204" pitchFamily="18" charset="0"/>
                                    <a:ea typeface="Times New Roman" panose="02020603050405020304" pitchFamily="18" charset="0"/>
                                  </a:rPr>
                                  <m:t>2</m:t>
                                </m:r>
                              </m:sup>
                            </m:sSup>
                          </m:num>
                          <m:den>
                            <m:r>
                              <a:rPr lang="fr-CA" sz="1800" i="1">
                                <a:solidFill>
                                  <a:srgbClr val="000000"/>
                                </a:solidFill>
                                <a:effectLst/>
                                <a:latin typeface="Cambria Math" panose="02040503050406030204" pitchFamily="18" charset="0"/>
                                <a:ea typeface="Times New Roman" panose="02020603050405020304" pitchFamily="18" charset="0"/>
                              </a:rPr>
                              <m:t>𝑚</m:t>
                            </m:r>
                            <m:r>
                              <a:rPr lang="fr-CA" sz="1800" i="1">
                                <a:solidFill>
                                  <a:srgbClr val="000000"/>
                                </a:solidFill>
                                <a:effectLst/>
                                <a:latin typeface="Cambria Math" panose="02040503050406030204" pitchFamily="18" charset="0"/>
                                <a:ea typeface="Times New Roman" panose="02020603050405020304" pitchFamily="18" charset="0"/>
                              </a:rPr>
                              <m:t>−1</m:t>
                            </m:r>
                          </m:den>
                        </m:f>
                      </m:den>
                    </m:f>
                    <m:r>
                      <a:rPr lang="fr-CA" sz="1800" i="1">
                        <a:solidFill>
                          <a:srgbClr val="000000"/>
                        </a:solidFill>
                        <a:effectLst/>
                        <a:latin typeface="Cambria Math" panose="02040503050406030204" pitchFamily="18" charset="0"/>
                        <a:ea typeface="Times New Roman" panose="02020603050405020304" pitchFamily="18" charset="0"/>
                      </a:rPr>
                      <m:t>=</m:t>
                    </m:r>
                  </m:oMath>
                </a14:m>
                <a:r>
                  <a:rPr lang="fr-CA" sz="1800" dirty="0">
                    <a:solidFill>
                      <a:srgbClr val="000000"/>
                    </a:solidFill>
                    <a:effectLst/>
                    <a:latin typeface="Times New Roman" panose="02020603050405020304" pitchFamily="18" charset="0"/>
                    <a:ea typeface="Times New Roman" panose="02020603050405020304" pitchFamily="18" charset="0"/>
                  </a:rPr>
                  <a:t>7,428    Le résultat est ensuite arrondi à 7. Ensuite on calcule la valeur de  </a:t>
                </a:r>
                <a14:m>
                  <m:oMath xmlns:m="http://schemas.openxmlformats.org/officeDocument/2006/math">
                    <m:sSub>
                      <m:sSubPr>
                        <m:ctrlPr>
                          <a:rPr lang="fr-CA" sz="1800" i="1">
                            <a:solidFill>
                              <a:srgbClr val="000000"/>
                            </a:solidFill>
                            <a:effectLst/>
                            <a:latin typeface="Cambria Math" panose="02040503050406030204" pitchFamily="18" charset="0"/>
                            <a:ea typeface="Times New Roman" panose="02020603050405020304" pitchFamily="18" charset="0"/>
                          </a:rPr>
                        </m:ctrlPr>
                      </m:sSubPr>
                      <m:e>
                        <m:r>
                          <a:rPr lang="fr-CA" sz="1800" i="1">
                            <a:solidFill>
                              <a:srgbClr val="000000"/>
                            </a:solidFill>
                            <a:effectLst/>
                            <a:latin typeface="Cambria Math" panose="02040503050406030204" pitchFamily="18" charset="0"/>
                            <a:ea typeface="Times New Roman" panose="02020603050405020304" pitchFamily="18" charset="0"/>
                          </a:rPr>
                          <m:t>𝑡</m:t>
                        </m:r>
                      </m:e>
                      <m:sub>
                        <m:r>
                          <a:rPr lang="fr-CA" sz="1800" i="1">
                            <a:solidFill>
                              <a:srgbClr val="000000"/>
                            </a:solidFill>
                            <a:effectLst/>
                            <a:latin typeface="Cambria Math" panose="02040503050406030204" pitchFamily="18" charset="0"/>
                            <a:ea typeface="Times New Roman" panose="02020603050405020304" pitchFamily="18" charset="0"/>
                          </a:rPr>
                          <m:t>𝑜𝑏𝑠</m:t>
                        </m:r>
                      </m:sub>
                    </m:sSub>
                    <m:r>
                      <a:rPr lang="fr-CA" sz="1800" i="1">
                        <a:solidFill>
                          <a:srgbClr val="000000"/>
                        </a:solidFill>
                        <a:effectLst/>
                        <a:latin typeface="Cambria Math" panose="02040503050406030204" pitchFamily="18" charset="0"/>
                        <a:ea typeface="Times New Roman" panose="02020603050405020304" pitchFamily="18" charset="0"/>
                      </a:rPr>
                      <m:t>=</m:t>
                    </m:r>
                    <m:f>
                      <m:fPr>
                        <m:ctrlPr>
                          <a:rPr lang="fr-CA" sz="1800" i="1">
                            <a:solidFill>
                              <a:srgbClr val="000000"/>
                            </a:solidFill>
                            <a:effectLst/>
                            <a:latin typeface="Cambria Math" panose="02040503050406030204" pitchFamily="18" charset="0"/>
                            <a:ea typeface="Times New Roman" panose="02020603050405020304" pitchFamily="18" charset="0"/>
                          </a:rPr>
                        </m:ctrlPr>
                      </m:fPr>
                      <m:num>
                        <m:acc>
                          <m:accPr>
                            <m:chr m:val="̅"/>
                            <m:ctrlPr>
                              <a:rPr lang="fr-CA" sz="1800" i="1">
                                <a:solidFill>
                                  <a:srgbClr val="000000"/>
                                </a:solidFill>
                                <a:effectLst/>
                                <a:latin typeface="Cambria Math" panose="02040503050406030204" pitchFamily="18" charset="0"/>
                                <a:ea typeface="Times New Roman" panose="02020603050405020304" pitchFamily="18" charset="0"/>
                              </a:rPr>
                            </m:ctrlPr>
                          </m:accPr>
                          <m:e>
                            <m:sSub>
                              <m:sSubPr>
                                <m:ctrlPr>
                                  <a:rPr lang="fr-CA" sz="1800" i="1">
                                    <a:solidFill>
                                      <a:srgbClr val="000000"/>
                                    </a:solidFill>
                                    <a:effectLst/>
                                    <a:latin typeface="Cambria Math" panose="02040503050406030204" pitchFamily="18" charset="0"/>
                                    <a:ea typeface="Times New Roman" panose="02020603050405020304" pitchFamily="18" charset="0"/>
                                  </a:rPr>
                                </m:ctrlPr>
                              </m:sSubPr>
                              <m:e>
                                <m:r>
                                  <a:rPr lang="fr-CA" sz="1800" i="1">
                                    <a:solidFill>
                                      <a:srgbClr val="000000"/>
                                    </a:solidFill>
                                    <a:effectLst/>
                                    <a:latin typeface="Cambria Math" panose="02040503050406030204" pitchFamily="18" charset="0"/>
                                    <a:ea typeface="Times New Roman" panose="02020603050405020304" pitchFamily="18" charset="0"/>
                                  </a:rPr>
                                  <m:t>𝑥</m:t>
                                </m:r>
                              </m:e>
                              <m:sub>
                                <m:r>
                                  <a:rPr lang="fr-CA" sz="1800" i="1">
                                    <a:solidFill>
                                      <a:srgbClr val="000000"/>
                                    </a:solidFill>
                                    <a:effectLst/>
                                    <a:latin typeface="Cambria Math" panose="02040503050406030204" pitchFamily="18" charset="0"/>
                                    <a:ea typeface="Times New Roman" panose="02020603050405020304" pitchFamily="18" charset="0"/>
                                  </a:rPr>
                                  <m:t>1</m:t>
                                </m:r>
                              </m:sub>
                            </m:sSub>
                          </m:e>
                        </m:acc>
                        <m:r>
                          <a:rPr lang="fr-CA" sz="1800" i="1">
                            <a:solidFill>
                              <a:srgbClr val="000000"/>
                            </a:solidFill>
                            <a:effectLst/>
                            <a:latin typeface="Cambria Math" panose="02040503050406030204" pitchFamily="18" charset="0"/>
                            <a:ea typeface="Times New Roman" panose="02020603050405020304" pitchFamily="18" charset="0"/>
                          </a:rPr>
                          <m:t>−</m:t>
                        </m:r>
                        <m:acc>
                          <m:accPr>
                            <m:chr m:val="̅"/>
                            <m:ctrlPr>
                              <a:rPr lang="fr-CA" sz="1800" i="1">
                                <a:solidFill>
                                  <a:srgbClr val="000000"/>
                                </a:solidFill>
                                <a:effectLst/>
                                <a:latin typeface="Cambria Math" panose="02040503050406030204" pitchFamily="18" charset="0"/>
                                <a:ea typeface="Times New Roman" panose="02020603050405020304" pitchFamily="18" charset="0"/>
                              </a:rPr>
                            </m:ctrlPr>
                          </m:accPr>
                          <m:e>
                            <m:sSub>
                              <m:sSubPr>
                                <m:ctrlPr>
                                  <a:rPr lang="fr-CA" sz="1800" i="1">
                                    <a:solidFill>
                                      <a:srgbClr val="000000"/>
                                    </a:solidFill>
                                    <a:effectLst/>
                                    <a:latin typeface="Cambria Math" panose="02040503050406030204" pitchFamily="18" charset="0"/>
                                    <a:ea typeface="Times New Roman" panose="02020603050405020304" pitchFamily="18" charset="0"/>
                                  </a:rPr>
                                </m:ctrlPr>
                              </m:sSubPr>
                              <m:e>
                                <m:r>
                                  <a:rPr lang="fr-CA" sz="1800" i="1">
                                    <a:solidFill>
                                      <a:srgbClr val="000000"/>
                                    </a:solidFill>
                                    <a:effectLst/>
                                    <a:latin typeface="Cambria Math" panose="02040503050406030204" pitchFamily="18" charset="0"/>
                                    <a:ea typeface="Times New Roman" panose="02020603050405020304" pitchFamily="18" charset="0"/>
                                  </a:rPr>
                                  <m:t>𝑥</m:t>
                                </m:r>
                              </m:e>
                              <m:sub>
                                <m:r>
                                  <a:rPr lang="fr-CA" sz="1800" i="1">
                                    <a:solidFill>
                                      <a:srgbClr val="000000"/>
                                    </a:solidFill>
                                    <a:effectLst/>
                                    <a:latin typeface="Cambria Math" panose="02040503050406030204" pitchFamily="18" charset="0"/>
                                    <a:ea typeface="Times New Roman" panose="02020603050405020304" pitchFamily="18" charset="0"/>
                                  </a:rPr>
                                  <m:t>2</m:t>
                                </m:r>
                              </m:sub>
                            </m:sSub>
                          </m:e>
                        </m:acc>
                      </m:num>
                      <m:den>
                        <m:rad>
                          <m:radPr>
                            <m:degHide m:val="on"/>
                            <m:ctrlPr>
                              <a:rPr lang="fr-CA" sz="1800" i="1">
                                <a:solidFill>
                                  <a:srgbClr val="000000"/>
                                </a:solidFill>
                                <a:effectLst/>
                                <a:latin typeface="Cambria Math" panose="02040503050406030204" pitchFamily="18" charset="0"/>
                                <a:ea typeface="Times New Roman" panose="02020603050405020304" pitchFamily="18" charset="0"/>
                              </a:rPr>
                            </m:ctrlPr>
                          </m:radPr>
                          <m:deg/>
                          <m:e>
                            <m:f>
                              <m:fPr>
                                <m:ctrlPr>
                                  <a:rPr lang="fr-CA" sz="1800" i="1">
                                    <a:solidFill>
                                      <a:srgbClr val="000000"/>
                                    </a:solidFill>
                                    <a:effectLst/>
                                    <a:latin typeface="Cambria Math" panose="02040503050406030204" pitchFamily="18" charset="0"/>
                                    <a:ea typeface="Times New Roman" panose="02020603050405020304" pitchFamily="18" charset="0"/>
                                  </a:rPr>
                                </m:ctrlPr>
                              </m:fPr>
                              <m:num>
                                <m:sSubSup>
                                  <m:sSubSupPr>
                                    <m:ctrlPr>
                                      <a:rPr lang="fr-CA" sz="1800" i="1">
                                        <a:solidFill>
                                          <a:srgbClr val="000000"/>
                                        </a:solidFill>
                                        <a:effectLst/>
                                        <a:latin typeface="Cambria Math" panose="02040503050406030204" pitchFamily="18" charset="0"/>
                                        <a:ea typeface="Times New Roman" panose="02020603050405020304" pitchFamily="18" charset="0"/>
                                      </a:rPr>
                                    </m:ctrlPr>
                                  </m:sSubSupPr>
                                  <m:e>
                                    <m:r>
                                      <a:rPr lang="fr-CA" sz="1800" i="1">
                                        <a:solidFill>
                                          <a:srgbClr val="000000"/>
                                        </a:solidFill>
                                        <a:effectLst/>
                                        <a:latin typeface="Cambria Math" panose="02040503050406030204" pitchFamily="18" charset="0"/>
                                        <a:ea typeface="Times New Roman" panose="02020603050405020304" pitchFamily="18" charset="0"/>
                                      </a:rPr>
                                      <m:t>𝑠</m:t>
                                    </m:r>
                                  </m:e>
                                  <m:sub>
                                    <m:r>
                                      <a:rPr lang="fr-CA" sz="1800" i="1">
                                        <a:solidFill>
                                          <a:srgbClr val="000000"/>
                                        </a:solidFill>
                                        <a:effectLst/>
                                        <a:latin typeface="Cambria Math" panose="02040503050406030204" pitchFamily="18" charset="0"/>
                                        <a:ea typeface="Times New Roman" panose="02020603050405020304" pitchFamily="18" charset="0"/>
                                      </a:rPr>
                                      <m:t>1</m:t>
                                    </m:r>
                                  </m:sub>
                                  <m:sup>
                                    <m:r>
                                      <a:rPr lang="fr-CA" sz="1800" i="1">
                                        <a:solidFill>
                                          <a:srgbClr val="000000"/>
                                        </a:solidFill>
                                        <a:effectLst/>
                                        <a:latin typeface="Cambria Math" panose="02040503050406030204" pitchFamily="18" charset="0"/>
                                        <a:ea typeface="Times New Roman" panose="02020603050405020304" pitchFamily="18" charset="0"/>
                                      </a:rPr>
                                      <m:t>2</m:t>
                                    </m:r>
                                  </m:sup>
                                </m:sSubSup>
                              </m:num>
                              <m:den>
                                <m:r>
                                  <a:rPr lang="fr-CA" sz="1800" i="1">
                                    <a:solidFill>
                                      <a:srgbClr val="000000"/>
                                    </a:solidFill>
                                    <a:effectLst/>
                                    <a:latin typeface="Cambria Math" panose="02040503050406030204" pitchFamily="18" charset="0"/>
                                    <a:ea typeface="Times New Roman" panose="02020603050405020304" pitchFamily="18" charset="0"/>
                                  </a:rPr>
                                  <m:t>𝑛</m:t>
                                </m:r>
                              </m:den>
                            </m:f>
                            <m:r>
                              <a:rPr lang="fr-CA" sz="1800" i="1">
                                <a:solidFill>
                                  <a:srgbClr val="000000"/>
                                </a:solidFill>
                                <a:effectLst/>
                                <a:latin typeface="Cambria Math" panose="02040503050406030204" pitchFamily="18" charset="0"/>
                                <a:ea typeface="Times New Roman" panose="02020603050405020304" pitchFamily="18" charset="0"/>
                              </a:rPr>
                              <m:t>+</m:t>
                            </m:r>
                            <m:f>
                              <m:fPr>
                                <m:ctrlPr>
                                  <a:rPr lang="fr-CA" sz="1800" i="1">
                                    <a:solidFill>
                                      <a:srgbClr val="000000"/>
                                    </a:solidFill>
                                    <a:effectLst/>
                                    <a:latin typeface="Cambria Math" panose="02040503050406030204" pitchFamily="18" charset="0"/>
                                    <a:ea typeface="Times New Roman" panose="02020603050405020304" pitchFamily="18" charset="0"/>
                                  </a:rPr>
                                </m:ctrlPr>
                              </m:fPr>
                              <m:num>
                                <m:sSubSup>
                                  <m:sSubSupPr>
                                    <m:ctrlPr>
                                      <a:rPr lang="fr-CA" sz="1800" i="1">
                                        <a:solidFill>
                                          <a:srgbClr val="000000"/>
                                        </a:solidFill>
                                        <a:effectLst/>
                                        <a:latin typeface="Cambria Math" panose="02040503050406030204" pitchFamily="18" charset="0"/>
                                        <a:ea typeface="Times New Roman" panose="02020603050405020304" pitchFamily="18" charset="0"/>
                                      </a:rPr>
                                    </m:ctrlPr>
                                  </m:sSubSupPr>
                                  <m:e>
                                    <m:r>
                                      <a:rPr lang="fr-CA" sz="1800" i="1">
                                        <a:solidFill>
                                          <a:srgbClr val="000000"/>
                                        </a:solidFill>
                                        <a:effectLst/>
                                        <a:latin typeface="Cambria Math" panose="02040503050406030204" pitchFamily="18" charset="0"/>
                                        <a:ea typeface="Times New Roman" panose="02020603050405020304" pitchFamily="18" charset="0"/>
                                      </a:rPr>
                                      <m:t>𝑠</m:t>
                                    </m:r>
                                  </m:e>
                                  <m:sub>
                                    <m:r>
                                      <a:rPr lang="fr-CA" sz="1800" i="1">
                                        <a:solidFill>
                                          <a:srgbClr val="000000"/>
                                        </a:solidFill>
                                        <a:effectLst/>
                                        <a:latin typeface="Cambria Math" panose="02040503050406030204" pitchFamily="18" charset="0"/>
                                        <a:ea typeface="Times New Roman" panose="02020603050405020304" pitchFamily="18" charset="0"/>
                                      </a:rPr>
                                      <m:t>2</m:t>
                                    </m:r>
                                  </m:sub>
                                  <m:sup>
                                    <m:r>
                                      <a:rPr lang="fr-CA" sz="1800" i="1">
                                        <a:solidFill>
                                          <a:srgbClr val="000000"/>
                                        </a:solidFill>
                                        <a:effectLst/>
                                        <a:latin typeface="Cambria Math" panose="02040503050406030204" pitchFamily="18" charset="0"/>
                                        <a:ea typeface="Times New Roman" panose="02020603050405020304" pitchFamily="18" charset="0"/>
                                      </a:rPr>
                                      <m:t>2</m:t>
                                    </m:r>
                                  </m:sup>
                                </m:sSubSup>
                              </m:num>
                              <m:den>
                                <m:r>
                                  <a:rPr lang="fr-CA" sz="1800" i="1">
                                    <a:solidFill>
                                      <a:srgbClr val="000000"/>
                                    </a:solidFill>
                                    <a:effectLst/>
                                    <a:latin typeface="Cambria Math" panose="02040503050406030204" pitchFamily="18" charset="0"/>
                                    <a:ea typeface="Times New Roman" panose="02020603050405020304" pitchFamily="18" charset="0"/>
                                  </a:rPr>
                                  <m:t>𝑚</m:t>
                                </m:r>
                              </m:den>
                            </m:f>
                          </m:e>
                        </m:rad>
                      </m:den>
                    </m:f>
                    <m:r>
                      <a:rPr lang="fr-CA" sz="1800" i="1">
                        <a:solidFill>
                          <a:srgbClr val="000000"/>
                        </a:solidFill>
                        <a:effectLst/>
                        <a:latin typeface="Cambria Math" panose="02040503050406030204" pitchFamily="18" charset="0"/>
                        <a:ea typeface="Times New Roman" panose="02020603050405020304" pitchFamily="18" charset="0"/>
                      </a:rPr>
                      <m:t>=</m:t>
                    </m:r>
                    <m:f>
                      <m:fPr>
                        <m:ctrlPr>
                          <a:rPr lang="fr-CA" sz="1800" i="1">
                            <a:solidFill>
                              <a:srgbClr val="000000"/>
                            </a:solidFill>
                            <a:effectLst/>
                            <a:latin typeface="Cambria Math" panose="02040503050406030204" pitchFamily="18" charset="0"/>
                            <a:ea typeface="Times New Roman" panose="02020603050405020304" pitchFamily="18" charset="0"/>
                          </a:rPr>
                        </m:ctrlPr>
                      </m:fPr>
                      <m:num>
                        <m:r>
                          <a:rPr lang="fr-CA" sz="1800" i="1">
                            <a:solidFill>
                              <a:srgbClr val="000000"/>
                            </a:solidFill>
                            <a:effectLst/>
                            <a:latin typeface="Cambria Math" panose="02040503050406030204" pitchFamily="18" charset="0"/>
                            <a:ea typeface="Times New Roman" panose="02020603050405020304" pitchFamily="18" charset="0"/>
                          </a:rPr>
                          <m:t>281,88−211.43</m:t>
                        </m:r>
                      </m:num>
                      <m:den>
                        <m:rad>
                          <m:radPr>
                            <m:degHide m:val="on"/>
                            <m:ctrlPr>
                              <a:rPr lang="fr-CA" sz="1800" i="1">
                                <a:solidFill>
                                  <a:srgbClr val="000000"/>
                                </a:solidFill>
                                <a:effectLst/>
                                <a:latin typeface="Cambria Math" panose="02040503050406030204" pitchFamily="18" charset="0"/>
                                <a:ea typeface="Times New Roman" panose="02020603050405020304" pitchFamily="18" charset="0"/>
                              </a:rPr>
                            </m:ctrlPr>
                          </m:radPr>
                          <m:deg/>
                          <m:e>
                            <m:f>
                              <m:fPr>
                                <m:ctrlPr>
                                  <a:rPr lang="fr-CA" sz="1800" i="1">
                                    <a:solidFill>
                                      <a:srgbClr val="000000"/>
                                    </a:solidFill>
                                    <a:effectLst/>
                                    <a:latin typeface="Cambria Math" panose="02040503050406030204" pitchFamily="18" charset="0"/>
                                    <a:ea typeface="Times New Roman" panose="02020603050405020304" pitchFamily="18" charset="0"/>
                                  </a:rPr>
                                </m:ctrlPr>
                              </m:fPr>
                              <m:num>
                                <m:sSup>
                                  <m:sSupPr>
                                    <m:ctrlPr>
                                      <a:rPr lang="fr-CA" sz="1800" i="1">
                                        <a:solidFill>
                                          <a:srgbClr val="000000"/>
                                        </a:solidFill>
                                        <a:effectLst/>
                                        <a:latin typeface="Cambria Math" panose="02040503050406030204" pitchFamily="18" charset="0"/>
                                        <a:ea typeface="Times New Roman" panose="02020603050405020304" pitchFamily="18" charset="0"/>
                                      </a:rPr>
                                    </m:ctrlPr>
                                  </m:sSupPr>
                                  <m:e>
                                    <m:r>
                                      <a:rPr lang="fr-CA" sz="1800" i="1">
                                        <a:solidFill>
                                          <a:srgbClr val="000000"/>
                                        </a:solidFill>
                                        <a:effectLst/>
                                        <a:latin typeface="Cambria Math" panose="02040503050406030204" pitchFamily="18" charset="0"/>
                                        <a:ea typeface="Times New Roman" panose="02020603050405020304" pitchFamily="18" charset="0"/>
                                      </a:rPr>
                                      <m:t>18,31</m:t>
                                    </m:r>
                                  </m:e>
                                  <m:sup>
                                    <m:r>
                                      <a:rPr lang="fr-CA" sz="1800" i="1">
                                        <a:solidFill>
                                          <a:srgbClr val="000000"/>
                                        </a:solidFill>
                                        <a:effectLst/>
                                        <a:latin typeface="Cambria Math" panose="02040503050406030204" pitchFamily="18" charset="0"/>
                                        <a:ea typeface="Times New Roman" panose="02020603050405020304" pitchFamily="18" charset="0"/>
                                      </a:rPr>
                                      <m:t>2</m:t>
                                    </m:r>
                                  </m:sup>
                                </m:sSup>
                              </m:num>
                              <m:den>
                                <m:r>
                                  <a:rPr lang="fr-CA" sz="1800" i="1">
                                    <a:solidFill>
                                      <a:srgbClr val="000000"/>
                                    </a:solidFill>
                                    <a:effectLst/>
                                    <a:latin typeface="Cambria Math" panose="02040503050406030204" pitchFamily="18" charset="0"/>
                                    <a:ea typeface="Times New Roman" panose="02020603050405020304" pitchFamily="18" charset="0"/>
                                  </a:rPr>
                                  <m:t>8</m:t>
                                </m:r>
                              </m:den>
                            </m:f>
                            <m:r>
                              <a:rPr lang="fr-CA" sz="1800" i="1">
                                <a:solidFill>
                                  <a:srgbClr val="000000"/>
                                </a:solidFill>
                                <a:effectLst/>
                                <a:latin typeface="Cambria Math" panose="02040503050406030204" pitchFamily="18" charset="0"/>
                                <a:ea typeface="Times New Roman" panose="02020603050405020304" pitchFamily="18" charset="0"/>
                              </a:rPr>
                              <m:t>+</m:t>
                            </m:r>
                            <m:f>
                              <m:fPr>
                                <m:ctrlPr>
                                  <a:rPr lang="fr-CA" sz="1800" i="1">
                                    <a:solidFill>
                                      <a:srgbClr val="000000"/>
                                    </a:solidFill>
                                    <a:effectLst/>
                                    <a:latin typeface="Cambria Math" panose="02040503050406030204" pitchFamily="18" charset="0"/>
                                    <a:ea typeface="Times New Roman" panose="02020603050405020304" pitchFamily="18" charset="0"/>
                                  </a:rPr>
                                </m:ctrlPr>
                              </m:fPr>
                              <m:num>
                                <m:sSup>
                                  <m:sSupPr>
                                    <m:ctrlPr>
                                      <a:rPr lang="fr-CA" sz="1800" i="1">
                                        <a:solidFill>
                                          <a:srgbClr val="000000"/>
                                        </a:solidFill>
                                        <a:effectLst/>
                                        <a:latin typeface="Cambria Math" panose="02040503050406030204" pitchFamily="18" charset="0"/>
                                        <a:ea typeface="Times New Roman" panose="02020603050405020304" pitchFamily="18" charset="0"/>
                                      </a:rPr>
                                    </m:ctrlPr>
                                  </m:sSupPr>
                                  <m:e>
                                    <m:r>
                                      <a:rPr lang="fr-CA" sz="1800" i="1">
                                        <a:solidFill>
                                          <a:srgbClr val="000000"/>
                                        </a:solidFill>
                                        <a:effectLst/>
                                        <a:latin typeface="Cambria Math" panose="02040503050406030204" pitchFamily="18" charset="0"/>
                                        <a:ea typeface="Times New Roman" panose="02020603050405020304" pitchFamily="18" charset="0"/>
                                      </a:rPr>
                                      <m:t>46,43</m:t>
                                    </m:r>
                                  </m:e>
                                  <m:sup>
                                    <m:r>
                                      <a:rPr lang="fr-CA" sz="1800" i="1">
                                        <a:solidFill>
                                          <a:srgbClr val="000000"/>
                                        </a:solidFill>
                                        <a:effectLst/>
                                        <a:latin typeface="Cambria Math" panose="02040503050406030204" pitchFamily="18" charset="0"/>
                                        <a:ea typeface="Times New Roman" panose="02020603050405020304" pitchFamily="18" charset="0"/>
                                      </a:rPr>
                                      <m:t>2</m:t>
                                    </m:r>
                                  </m:sup>
                                </m:sSup>
                              </m:num>
                              <m:den>
                                <m:r>
                                  <a:rPr lang="fr-CA" sz="1800" i="1">
                                    <a:solidFill>
                                      <a:srgbClr val="000000"/>
                                    </a:solidFill>
                                    <a:effectLst/>
                                    <a:latin typeface="Cambria Math" panose="02040503050406030204" pitchFamily="18" charset="0"/>
                                    <a:ea typeface="Times New Roman" panose="02020603050405020304" pitchFamily="18" charset="0"/>
                                  </a:rPr>
                                  <m:t>7</m:t>
                                </m:r>
                              </m:den>
                            </m:f>
                          </m:e>
                        </m:rad>
                      </m:den>
                    </m:f>
                    <m:r>
                      <a:rPr lang="fr-CA" sz="1800" i="1">
                        <a:solidFill>
                          <a:srgbClr val="000000"/>
                        </a:solidFill>
                        <a:effectLst/>
                        <a:latin typeface="Cambria Math" panose="02040503050406030204" pitchFamily="18" charset="0"/>
                        <a:ea typeface="Times New Roman" panose="02020603050405020304" pitchFamily="18" charset="0"/>
                      </a:rPr>
                      <m:t>=3,77</m:t>
                    </m:r>
                  </m:oMath>
                </a14:m>
                <a:r>
                  <a:rPr lang="fr-CA" sz="1800" dirty="0">
                    <a:solidFill>
                      <a:srgbClr val="000000"/>
                    </a:solidFill>
                    <a:effectLst/>
                    <a:latin typeface="Times New Roman" panose="02020603050405020304" pitchFamily="18" charset="0"/>
                    <a:ea typeface="Times New Roman" panose="02020603050405020304" pitchFamily="18" charset="0"/>
                  </a:rPr>
                  <a:t>.  On doit rejeter l’hypothèse nulle si </a:t>
                </a:r>
                <a14:m>
                  <m:oMath xmlns:m="http://schemas.openxmlformats.org/officeDocument/2006/math">
                    <m:d>
                      <m:dPr>
                        <m:begChr m:val="|"/>
                        <m:endChr m:val="|"/>
                        <m:ctrlPr>
                          <a:rPr lang="fr-CA" sz="1800" i="1">
                            <a:solidFill>
                              <a:srgbClr val="000000"/>
                            </a:solidFill>
                            <a:effectLst/>
                            <a:latin typeface="Cambria Math" panose="02040503050406030204" pitchFamily="18" charset="0"/>
                            <a:ea typeface="Times New Roman" panose="02020603050405020304" pitchFamily="18" charset="0"/>
                          </a:rPr>
                        </m:ctrlPr>
                      </m:dPr>
                      <m:e>
                        <m:sSub>
                          <m:sSubPr>
                            <m:ctrlPr>
                              <a:rPr lang="fr-CA" sz="1800" i="1">
                                <a:solidFill>
                                  <a:srgbClr val="000000"/>
                                </a:solidFill>
                                <a:effectLst/>
                                <a:latin typeface="Cambria Math" panose="02040503050406030204" pitchFamily="18" charset="0"/>
                                <a:ea typeface="Times New Roman" panose="02020603050405020304" pitchFamily="18" charset="0"/>
                              </a:rPr>
                            </m:ctrlPr>
                          </m:sSubPr>
                          <m:e>
                            <m:r>
                              <a:rPr lang="fr-CA" sz="1800" i="1">
                                <a:solidFill>
                                  <a:srgbClr val="000000"/>
                                </a:solidFill>
                                <a:effectLst/>
                                <a:latin typeface="Cambria Math" panose="02040503050406030204" pitchFamily="18" charset="0"/>
                                <a:ea typeface="Times New Roman" panose="02020603050405020304" pitchFamily="18" charset="0"/>
                              </a:rPr>
                              <m:t>𝑡</m:t>
                            </m:r>
                          </m:e>
                          <m:sub>
                            <m:r>
                              <a:rPr lang="fr-CA" sz="1800" i="1">
                                <a:solidFill>
                                  <a:srgbClr val="000000"/>
                                </a:solidFill>
                                <a:effectLst/>
                                <a:latin typeface="Cambria Math" panose="02040503050406030204" pitchFamily="18" charset="0"/>
                                <a:ea typeface="Times New Roman" panose="02020603050405020304" pitchFamily="18" charset="0"/>
                              </a:rPr>
                              <m:t>𝑜𝑏𝑠</m:t>
                            </m:r>
                          </m:sub>
                        </m:sSub>
                      </m:e>
                    </m:d>
                    <m:r>
                      <a:rPr lang="fr-CA" sz="1800" i="1">
                        <a:solidFill>
                          <a:srgbClr val="000000"/>
                        </a:solidFill>
                        <a:effectLst/>
                        <a:latin typeface="Cambria Math" panose="02040503050406030204" pitchFamily="18" charset="0"/>
                        <a:ea typeface="Times New Roman" panose="02020603050405020304" pitchFamily="18" charset="0"/>
                      </a:rPr>
                      <m:t>&gt;</m:t>
                    </m:r>
                    <m:sSub>
                      <m:sSubPr>
                        <m:ctrlPr>
                          <a:rPr lang="fr-CA" sz="1800" i="1">
                            <a:solidFill>
                              <a:srgbClr val="000000"/>
                            </a:solidFill>
                            <a:effectLst/>
                            <a:latin typeface="Cambria Math" panose="02040503050406030204" pitchFamily="18" charset="0"/>
                            <a:ea typeface="Times New Roman" panose="02020603050405020304" pitchFamily="18" charset="0"/>
                          </a:rPr>
                        </m:ctrlPr>
                      </m:sSubPr>
                      <m:e>
                        <m:r>
                          <a:rPr lang="fr-CA" sz="1800" i="1">
                            <a:solidFill>
                              <a:srgbClr val="000000"/>
                            </a:solidFill>
                            <a:effectLst/>
                            <a:latin typeface="Cambria Math" panose="02040503050406030204" pitchFamily="18" charset="0"/>
                            <a:ea typeface="Times New Roman" panose="02020603050405020304" pitchFamily="18" charset="0"/>
                          </a:rPr>
                          <m:t>𝑇</m:t>
                        </m:r>
                      </m:e>
                      <m:sub>
                        <m:r>
                          <a:rPr lang="fr-CA" sz="1800" i="1">
                            <a:solidFill>
                              <a:srgbClr val="000000"/>
                            </a:solidFill>
                            <a:effectLst/>
                            <a:latin typeface="Cambria Math" panose="02040503050406030204" pitchFamily="18" charset="0"/>
                            <a:ea typeface="Times New Roman" panose="02020603050405020304" pitchFamily="18" charset="0"/>
                          </a:rPr>
                          <m:t>7;0,005</m:t>
                        </m:r>
                      </m:sub>
                    </m:sSub>
                    <m:r>
                      <a:rPr lang="fr-CA" sz="1800" i="1">
                        <a:solidFill>
                          <a:srgbClr val="000000"/>
                        </a:solidFill>
                        <a:effectLst/>
                        <a:latin typeface="Cambria Math" panose="02040503050406030204" pitchFamily="18" charset="0"/>
                        <a:ea typeface="Times New Roman" panose="02020603050405020304" pitchFamily="18" charset="0"/>
                      </a:rPr>
                      <m:t>=3,499</m:t>
                    </m:r>
                  </m:oMath>
                </a14:m>
                <a:r>
                  <a:rPr lang="fr-CA" sz="1800" dirty="0">
                    <a:solidFill>
                      <a:srgbClr val="000000"/>
                    </a:solidFill>
                    <a:effectLst/>
                    <a:latin typeface="Times New Roman" panose="02020603050405020304" pitchFamily="18" charset="0"/>
                    <a:ea typeface="Times New Roman" panose="02020603050405020304" pitchFamily="18" charset="0"/>
                  </a:rPr>
                  <a:t> ce qui est le cas ici.</a:t>
                </a:r>
              </a:p>
            </p:txBody>
          </p:sp>
        </mc:Choice>
        <mc:Fallback xmlns="">
          <p:sp>
            <p:nvSpPr>
              <p:cNvPr id="5" name="ZoneTexte 4">
                <a:extLst>
                  <a:ext uri="{FF2B5EF4-FFF2-40B4-BE49-F238E27FC236}">
                    <a16:creationId xmlns:a16="http://schemas.microsoft.com/office/drawing/2014/main" id="{1ADED40E-71F5-4334-812E-311C6B6547EC}"/>
                  </a:ext>
                </a:extLst>
              </p:cNvPr>
              <p:cNvSpPr txBox="1">
                <a:spLocks noRot="1" noChangeAspect="1" noMove="1" noResize="1" noEditPoints="1" noAdjustHandles="1" noChangeArrowheads="1" noChangeShapeType="1" noTextEdit="1"/>
              </p:cNvSpPr>
              <p:nvPr/>
            </p:nvSpPr>
            <p:spPr>
              <a:xfrm>
                <a:off x="282388" y="1385048"/>
                <a:ext cx="11255188" cy="5060360"/>
              </a:xfrm>
              <a:prstGeom prst="rect">
                <a:avLst/>
              </a:prstGeom>
              <a:blipFill>
                <a:blip r:embed="rId2"/>
                <a:stretch>
                  <a:fillRect l="-433" r="-433"/>
                </a:stretch>
              </a:blipFill>
            </p:spPr>
            <p:txBody>
              <a:bodyPr/>
              <a:lstStyle/>
              <a:p>
                <a:r>
                  <a:rPr lang="fr-CA">
                    <a:noFill/>
                  </a:rPr>
                  <a:t> </a:t>
                </a:r>
              </a:p>
            </p:txBody>
          </p:sp>
        </mc:Fallback>
      </mc:AlternateContent>
    </p:spTree>
    <p:extLst>
      <p:ext uri="{BB962C8B-B14F-4D97-AF65-F5344CB8AC3E}">
        <p14:creationId xmlns:p14="http://schemas.microsoft.com/office/powerpoint/2010/main" val="118703893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58F49034-D9A6-4AD0-8AB5-DFE1B93C8A34}"/>
              </a:ext>
            </a:extLst>
          </p:cNvPr>
          <p:cNvSpPr>
            <a:spLocks noGrp="1"/>
          </p:cNvSpPr>
          <p:nvPr>
            <p:ph type="title"/>
          </p:nvPr>
        </p:nvSpPr>
        <p:spPr/>
        <p:txBody>
          <a:bodyPr/>
          <a:lstStyle/>
          <a:p>
            <a:r>
              <a:rPr lang="fr-CA" dirty="0"/>
              <a:t>Méthode 2: L’utilisation de la valeur-P</a:t>
            </a:r>
          </a:p>
        </p:txBody>
      </p:sp>
      <p:sp>
        <p:nvSpPr>
          <p:cNvPr id="3" name="Espace réservé du pied de page 2">
            <a:extLst>
              <a:ext uri="{FF2B5EF4-FFF2-40B4-BE49-F238E27FC236}">
                <a16:creationId xmlns:a16="http://schemas.microsoft.com/office/drawing/2014/main" id="{5293EC3D-9FC7-4EEA-9D9B-4DF22CA7E71C}"/>
              </a:ext>
            </a:extLst>
          </p:cNvPr>
          <p:cNvSpPr>
            <a:spLocks noGrp="1"/>
          </p:cNvSpPr>
          <p:nvPr>
            <p:ph type="ftr" sz="quarter" idx="11"/>
          </p:nvPr>
        </p:nvSpPr>
        <p:spPr/>
        <p:txBody>
          <a:bodyPr/>
          <a:lstStyle/>
          <a:p>
            <a:endParaRPr lang="fr-CA"/>
          </a:p>
        </p:txBody>
      </p:sp>
      <p:sp>
        <p:nvSpPr>
          <p:cNvPr id="4" name="Espace réservé du numéro de diapositive 3">
            <a:extLst>
              <a:ext uri="{FF2B5EF4-FFF2-40B4-BE49-F238E27FC236}">
                <a16:creationId xmlns:a16="http://schemas.microsoft.com/office/drawing/2014/main" id="{42F8DFC1-CAA4-4411-857A-A4A01872F7C3}"/>
              </a:ext>
            </a:extLst>
          </p:cNvPr>
          <p:cNvSpPr>
            <a:spLocks noGrp="1"/>
          </p:cNvSpPr>
          <p:nvPr>
            <p:ph type="sldNum" sz="quarter" idx="12"/>
          </p:nvPr>
        </p:nvSpPr>
        <p:spPr/>
        <p:txBody>
          <a:bodyPr/>
          <a:lstStyle/>
          <a:p>
            <a:fld id="{26377AD9-CE17-438C-A638-C64D2D42D7CF}" type="slidenum">
              <a:rPr lang="fr-CA" smtClean="0"/>
              <a:t>4</a:t>
            </a:fld>
            <a:endParaRPr lang="fr-CA"/>
          </a:p>
        </p:txBody>
      </p:sp>
      <mc:AlternateContent xmlns:mc="http://schemas.openxmlformats.org/markup-compatibility/2006" xmlns:a14="http://schemas.microsoft.com/office/drawing/2010/main">
        <mc:Choice Requires="a14">
          <p:sp>
            <p:nvSpPr>
              <p:cNvPr id="5" name="ZoneTexte 4">
                <a:extLst>
                  <a:ext uri="{FF2B5EF4-FFF2-40B4-BE49-F238E27FC236}">
                    <a16:creationId xmlns:a16="http://schemas.microsoft.com/office/drawing/2014/main" id="{657DC47C-AABD-4D0B-AC82-FF4CCF864E6B}"/>
                  </a:ext>
                </a:extLst>
              </p:cNvPr>
              <p:cNvSpPr txBox="1"/>
              <p:nvPr/>
            </p:nvSpPr>
            <p:spPr>
              <a:xfrm>
                <a:off x="860612" y="2218765"/>
                <a:ext cx="10493188" cy="2031325"/>
              </a:xfrm>
              <a:prstGeom prst="rect">
                <a:avLst/>
              </a:prstGeom>
              <a:noFill/>
            </p:spPr>
            <p:txBody>
              <a:bodyPr wrap="square" rtlCol="0">
                <a:spAutoFit/>
              </a:bodyPr>
              <a:lstStyle/>
              <a:p>
                <a:r>
                  <a:rPr lang="fr-CA" sz="1800" dirty="0">
                    <a:solidFill>
                      <a:srgbClr val="000000"/>
                    </a:solidFill>
                    <a:effectLst/>
                    <a:latin typeface="Times New Roman" panose="02020603050405020304" pitchFamily="18" charset="0"/>
                    <a:ea typeface="Times New Roman" panose="02020603050405020304" pitchFamily="18" charset="0"/>
                  </a:rPr>
                  <a:t>La valeur P dans ces cas est égale à </a:t>
                </a:r>
                <a14:m>
                  <m:oMath xmlns:m="http://schemas.openxmlformats.org/officeDocument/2006/math">
                    <m:r>
                      <a:rPr lang="fr-CA" sz="1800" i="1">
                        <a:solidFill>
                          <a:srgbClr val="000000"/>
                        </a:solidFill>
                        <a:effectLst/>
                        <a:latin typeface="Cambria Math" panose="02040503050406030204" pitchFamily="18" charset="0"/>
                        <a:ea typeface="Times New Roman" panose="02020603050405020304" pitchFamily="18" charset="0"/>
                      </a:rPr>
                      <m:t>2</m:t>
                    </m:r>
                    <m:r>
                      <a:rPr lang="fr-CA" sz="1800" i="1">
                        <a:solidFill>
                          <a:srgbClr val="000000"/>
                        </a:solidFill>
                        <a:effectLst/>
                        <a:latin typeface="Cambria Math" panose="02040503050406030204" pitchFamily="18" charset="0"/>
                        <a:ea typeface="Times New Roman" panose="02020603050405020304" pitchFamily="18" charset="0"/>
                      </a:rPr>
                      <m:t>𝑃</m:t>
                    </m:r>
                    <m:d>
                      <m:dPr>
                        <m:ctrlPr>
                          <a:rPr lang="fr-CA" sz="1800" i="1">
                            <a:solidFill>
                              <a:srgbClr val="000000"/>
                            </a:solidFill>
                            <a:effectLst/>
                            <a:latin typeface="Cambria Math" panose="02040503050406030204" pitchFamily="18" charset="0"/>
                            <a:ea typeface="Times New Roman" panose="02020603050405020304" pitchFamily="18" charset="0"/>
                          </a:rPr>
                        </m:ctrlPr>
                      </m:dPr>
                      <m:e>
                        <m:sSub>
                          <m:sSubPr>
                            <m:ctrlPr>
                              <a:rPr lang="fr-CA" sz="1800" i="1">
                                <a:solidFill>
                                  <a:srgbClr val="000000"/>
                                </a:solidFill>
                                <a:effectLst/>
                                <a:latin typeface="Cambria Math" panose="02040503050406030204" pitchFamily="18" charset="0"/>
                                <a:ea typeface="Times New Roman" panose="02020603050405020304" pitchFamily="18" charset="0"/>
                              </a:rPr>
                            </m:ctrlPr>
                          </m:sSubPr>
                          <m:e>
                            <m:r>
                              <a:rPr lang="fr-CA" sz="1800" i="1">
                                <a:solidFill>
                                  <a:srgbClr val="000000"/>
                                </a:solidFill>
                                <a:effectLst/>
                                <a:latin typeface="Cambria Math" panose="02040503050406030204" pitchFamily="18" charset="0"/>
                                <a:ea typeface="Times New Roman" panose="02020603050405020304" pitchFamily="18" charset="0"/>
                              </a:rPr>
                              <m:t>𝑇</m:t>
                            </m:r>
                          </m:e>
                          <m:sub>
                            <m:r>
                              <a:rPr lang="fr-CA" sz="1800" i="1">
                                <a:solidFill>
                                  <a:srgbClr val="000000"/>
                                </a:solidFill>
                                <a:effectLst/>
                                <a:latin typeface="Cambria Math" panose="02040503050406030204" pitchFamily="18" charset="0"/>
                                <a:ea typeface="Times New Roman" panose="02020603050405020304" pitchFamily="18" charset="0"/>
                              </a:rPr>
                              <m:t>7</m:t>
                            </m:r>
                          </m:sub>
                        </m:sSub>
                        <m:r>
                          <a:rPr lang="fr-CA" sz="1800" i="1">
                            <a:solidFill>
                              <a:srgbClr val="000000"/>
                            </a:solidFill>
                            <a:effectLst/>
                            <a:latin typeface="Cambria Math" panose="02040503050406030204" pitchFamily="18" charset="0"/>
                            <a:ea typeface="Times New Roman" panose="02020603050405020304" pitchFamily="18" charset="0"/>
                          </a:rPr>
                          <m:t>&gt;3,77</m:t>
                        </m:r>
                      </m:e>
                    </m:d>
                  </m:oMath>
                </a14:m>
                <a:r>
                  <a:rPr lang="fr-CA" sz="1800" dirty="0">
                    <a:solidFill>
                      <a:srgbClr val="000000"/>
                    </a:solidFill>
                    <a:effectLst/>
                    <a:latin typeface="Times New Roman" panose="02020603050405020304" pitchFamily="18" charset="0"/>
                    <a:ea typeface="Times New Roman" panose="02020603050405020304" pitchFamily="18" charset="0"/>
                  </a:rPr>
                  <a:t>.</a:t>
                </a:r>
              </a:p>
              <a:p>
                <a:r>
                  <a:rPr lang="fr-CA" dirty="0">
                    <a:solidFill>
                      <a:srgbClr val="000000"/>
                    </a:solidFill>
                    <a:latin typeface="Times New Roman" panose="02020603050405020304" pitchFamily="18" charset="0"/>
                    <a:ea typeface="Times New Roman" panose="02020603050405020304" pitchFamily="18" charset="0"/>
                  </a:rPr>
                  <a:t>Qu’on peut calculer en tapant:</a:t>
                </a:r>
              </a:p>
              <a:p>
                <a:r>
                  <a:rPr lang="fr-CA" sz="1800" dirty="0">
                    <a:solidFill>
                      <a:srgbClr val="000000"/>
                    </a:solidFill>
                    <a:effectLst/>
                    <a:latin typeface="Times New Roman" panose="02020603050405020304" pitchFamily="18" charset="0"/>
                    <a:ea typeface="Times New Roman" panose="02020603050405020304" pitchFamily="18" charset="0"/>
                  </a:rPr>
                  <a:t>2(1-pt(3.77,7)) ce qui donne: 0.006982931</a:t>
                </a:r>
              </a:p>
              <a:p>
                <a:endParaRPr lang="fr-CA" dirty="0">
                  <a:solidFill>
                    <a:srgbClr val="000000"/>
                  </a:solidFill>
                  <a:latin typeface="Times New Roman" panose="02020603050405020304" pitchFamily="18" charset="0"/>
                  <a:ea typeface="Times New Roman" panose="02020603050405020304" pitchFamily="18" charset="0"/>
                </a:endParaRPr>
              </a:p>
              <a:p>
                <a:endParaRPr lang="fr-CA" dirty="0">
                  <a:solidFill>
                    <a:srgbClr val="000000"/>
                  </a:solidFill>
                  <a:latin typeface="Times New Roman" panose="02020603050405020304" pitchFamily="18" charset="0"/>
                  <a:ea typeface="Times New Roman" panose="02020603050405020304" pitchFamily="18" charset="0"/>
                </a:endParaRPr>
              </a:p>
              <a:p>
                <a:r>
                  <a:rPr lang="fr-CA" sz="1800" dirty="0">
                    <a:solidFill>
                      <a:srgbClr val="000000"/>
                    </a:solidFill>
                    <a:effectLst/>
                    <a:latin typeface="Times New Roman" panose="02020603050405020304" pitchFamily="18" charset="0"/>
                    <a:ea typeface="Times New Roman" panose="02020603050405020304" pitchFamily="18" charset="0"/>
                  </a:rPr>
                  <a:t>Cette probabilité est inférieure au seuil de signification de 1%, donc on doit rejeter l’hypothèse nulle. </a:t>
                </a:r>
              </a:p>
              <a:p>
                <a:endParaRPr lang="fr-CA" dirty="0"/>
              </a:p>
            </p:txBody>
          </p:sp>
        </mc:Choice>
        <mc:Fallback xmlns="">
          <p:sp>
            <p:nvSpPr>
              <p:cNvPr id="5" name="ZoneTexte 4">
                <a:extLst>
                  <a:ext uri="{FF2B5EF4-FFF2-40B4-BE49-F238E27FC236}">
                    <a16:creationId xmlns:a16="http://schemas.microsoft.com/office/drawing/2014/main" id="{657DC47C-AABD-4D0B-AC82-FF4CCF864E6B}"/>
                  </a:ext>
                </a:extLst>
              </p:cNvPr>
              <p:cNvSpPr txBox="1">
                <a:spLocks noRot="1" noChangeAspect="1" noMove="1" noResize="1" noEditPoints="1" noAdjustHandles="1" noChangeArrowheads="1" noChangeShapeType="1" noTextEdit="1"/>
              </p:cNvSpPr>
              <p:nvPr/>
            </p:nvSpPr>
            <p:spPr>
              <a:xfrm>
                <a:off x="860612" y="2218765"/>
                <a:ext cx="10493188" cy="2031325"/>
              </a:xfrm>
              <a:prstGeom prst="rect">
                <a:avLst/>
              </a:prstGeom>
              <a:blipFill>
                <a:blip r:embed="rId2"/>
                <a:stretch>
                  <a:fillRect l="-465" t="-1802"/>
                </a:stretch>
              </a:blipFill>
            </p:spPr>
            <p:txBody>
              <a:bodyPr/>
              <a:lstStyle/>
              <a:p>
                <a:r>
                  <a:rPr lang="fr-CA">
                    <a:noFill/>
                  </a:rPr>
                  <a:t> </a:t>
                </a:r>
              </a:p>
            </p:txBody>
          </p:sp>
        </mc:Fallback>
      </mc:AlternateContent>
    </p:spTree>
    <p:extLst>
      <p:ext uri="{BB962C8B-B14F-4D97-AF65-F5344CB8AC3E}">
        <p14:creationId xmlns:p14="http://schemas.microsoft.com/office/powerpoint/2010/main" val="74086797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1" name="Rectangle 10">
            <a:extLst>
              <a:ext uri="{FF2B5EF4-FFF2-40B4-BE49-F238E27FC236}">
                <a16:creationId xmlns:a16="http://schemas.microsoft.com/office/drawing/2014/main" id="{201CC55D-ED54-4C5C-95E6-10947BD1103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re 1">
            <a:extLst>
              <a:ext uri="{FF2B5EF4-FFF2-40B4-BE49-F238E27FC236}">
                <a16:creationId xmlns:a16="http://schemas.microsoft.com/office/drawing/2014/main" id="{90113C4F-AF11-442E-A168-C3C3E013C859}"/>
              </a:ext>
            </a:extLst>
          </p:cNvPr>
          <p:cNvSpPr>
            <a:spLocks noGrp="1"/>
          </p:cNvSpPr>
          <p:nvPr>
            <p:ph type="title"/>
          </p:nvPr>
        </p:nvSpPr>
        <p:spPr>
          <a:xfrm>
            <a:off x="589560" y="856180"/>
            <a:ext cx="4560584" cy="1128068"/>
          </a:xfrm>
        </p:spPr>
        <p:txBody>
          <a:bodyPr vert="horz" lIns="91440" tIns="45720" rIns="91440" bIns="45720" rtlCol="0" anchor="ctr">
            <a:normAutofit/>
          </a:bodyPr>
          <a:lstStyle/>
          <a:p>
            <a:r>
              <a:rPr lang="en-US" sz="3700"/>
              <a:t>Méthode 3: L’utilisation de R.</a:t>
            </a:r>
          </a:p>
        </p:txBody>
      </p:sp>
      <p:grpSp>
        <p:nvGrpSpPr>
          <p:cNvPr id="13" name="Group 12">
            <a:extLst>
              <a:ext uri="{FF2B5EF4-FFF2-40B4-BE49-F238E27FC236}">
                <a16:creationId xmlns:a16="http://schemas.microsoft.com/office/drawing/2014/main" id="{1DE889C7-FAD6-4397-98E2-05D503484459}"/>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1083484"/>
            <a:ext cx="355196" cy="673460"/>
            <a:chOff x="0" y="823811"/>
            <a:chExt cx="355196" cy="673460"/>
          </a:xfrm>
        </p:grpSpPr>
        <p:sp>
          <p:nvSpPr>
            <p:cNvPr id="14" name="Rectangle 13">
              <a:extLst>
                <a:ext uri="{FF2B5EF4-FFF2-40B4-BE49-F238E27FC236}">
                  <a16:creationId xmlns:a16="http://schemas.microsoft.com/office/drawing/2014/main" id="{F399A70F-F8CD-4992-9EF5-6CF15472E73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823811"/>
              <a:ext cx="87363" cy="67346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4">
              <a:extLst>
                <a:ext uri="{FF2B5EF4-FFF2-40B4-BE49-F238E27FC236}">
                  <a16:creationId xmlns:a16="http://schemas.microsoft.com/office/drawing/2014/main" id="{48F4FEDC-6D80-458C-A665-075D9B9500F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59341" y="823811"/>
              <a:ext cx="195855" cy="67346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17" name="Rectangle 16">
            <a:extLst>
              <a:ext uri="{FF2B5EF4-FFF2-40B4-BE49-F238E27FC236}">
                <a16:creationId xmlns:a16="http://schemas.microsoft.com/office/drawing/2014/main" id="{3873B707-463F-40B0-8227-E8CC6C67EB2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665085" y="2090569"/>
            <a:ext cx="4297680" cy="27432"/>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ZoneTexte 4">
            <a:extLst>
              <a:ext uri="{FF2B5EF4-FFF2-40B4-BE49-F238E27FC236}">
                <a16:creationId xmlns:a16="http://schemas.microsoft.com/office/drawing/2014/main" id="{FFB95EFE-A509-4236-8B93-F6D4F03D76C0}"/>
              </a:ext>
            </a:extLst>
          </p:cNvPr>
          <p:cNvSpPr txBox="1"/>
          <p:nvPr/>
        </p:nvSpPr>
        <p:spPr>
          <a:xfrm>
            <a:off x="590719" y="2330505"/>
            <a:ext cx="4559425" cy="3979585"/>
          </a:xfrm>
          <a:prstGeom prst="rect">
            <a:avLst/>
          </a:prstGeom>
        </p:spPr>
        <p:txBody>
          <a:bodyPr vert="horz" lIns="91440" tIns="45720" rIns="91440" bIns="45720" rtlCol="0" anchor="ctr">
            <a:normAutofit/>
          </a:bodyPr>
          <a:lstStyle/>
          <a:p>
            <a:pPr indent="-228600" defTabSz="914400">
              <a:lnSpc>
                <a:spcPct val="90000"/>
              </a:lnSpc>
              <a:spcAft>
                <a:spcPts val="800"/>
              </a:spcAft>
              <a:buFont typeface="Arial" panose="020B0604020202020204" pitchFamily="34" charset="0"/>
              <a:buChar char="•"/>
            </a:pPr>
            <a:r>
              <a:rPr lang="en-US" sz="2000" b="1">
                <a:effectLst/>
              </a:rPr>
              <a:t>On met les deux ensembles de données dans 2 vecteurs nommés x et y.</a:t>
            </a:r>
            <a:endParaRPr lang="en-US" sz="2000">
              <a:effectLst/>
            </a:endParaRPr>
          </a:p>
          <a:p>
            <a:pPr marL="342900" lvl="0" indent="-228600" defTabSz="914400">
              <a:lnSpc>
                <a:spcPct val="90000"/>
              </a:lnSpc>
              <a:spcAft>
                <a:spcPts val="800"/>
              </a:spcAft>
              <a:buFont typeface="Arial" panose="020B0604020202020204" pitchFamily="34" charset="0"/>
              <a:buChar char="•"/>
            </a:pPr>
            <a:r>
              <a:rPr lang="en-US" sz="2000" b="1">
                <a:effectLst/>
              </a:rPr>
              <a:t>On va utiliser des graphiques </a:t>
            </a:r>
            <a:r>
              <a:rPr lang="en-US" sz="2000">
                <a:effectLst/>
              </a:rPr>
              <a:t>  </a:t>
            </a:r>
            <a:r>
              <a:rPr lang="en-US" sz="2000" b="1">
                <a:effectLst/>
              </a:rPr>
              <a:t>quantiles-quantiles superposés, pour bien se rendre compte que les variances des deux variables ne peuvent pas être supposées égales.</a:t>
            </a:r>
            <a:endParaRPr lang="en-US" sz="2000">
              <a:effectLst/>
            </a:endParaRPr>
          </a:p>
          <a:p>
            <a:pPr marL="228600" indent="-228600" defTabSz="914400">
              <a:lnSpc>
                <a:spcPct val="90000"/>
              </a:lnSpc>
              <a:spcAft>
                <a:spcPts val="800"/>
              </a:spcAft>
              <a:buFont typeface="Arial" panose="020B0604020202020204" pitchFamily="34" charset="0"/>
              <a:buChar char="•"/>
            </a:pPr>
            <a:r>
              <a:rPr lang="en-US" sz="2000" b="1">
                <a:effectLst/>
              </a:rPr>
              <a:t> On obtient : </a:t>
            </a:r>
            <a:endParaRPr lang="en-US" sz="2000">
              <a:effectLst/>
            </a:endParaRPr>
          </a:p>
          <a:p>
            <a:pPr indent="-228600" defTabSz="914400">
              <a:lnSpc>
                <a:spcPct val="90000"/>
              </a:lnSpc>
              <a:spcAft>
                <a:spcPts val="1000"/>
              </a:spcAft>
              <a:buFont typeface="Arial" panose="020B0604020202020204" pitchFamily="34" charset="0"/>
              <a:buChar char="•"/>
            </a:pPr>
            <a:r>
              <a:rPr lang="en-US" sz="2000">
                <a:effectLst/>
              </a:rPr>
              <a:t>  </a:t>
            </a:r>
          </a:p>
        </p:txBody>
      </p:sp>
      <p:sp>
        <p:nvSpPr>
          <p:cNvPr id="19" name="Rectangle 18">
            <a:extLst>
              <a:ext uri="{FF2B5EF4-FFF2-40B4-BE49-F238E27FC236}">
                <a16:creationId xmlns:a16="http://schemas.microsoft.com/office/drawing/2014/main" id="{C13237C8-E62C-4F0D-A318-BD6FB6C2D13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10697670" y="0"/>
            <a:ext cx="1494330" cy="685800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Rectangle 20">
            <a:extLst>
              <a:ext uri="{FF2B5EF4-FFF2-40B4-BE49-F238E27FC236}">
                <a16:creationId xmlns:a16="http://schemas.microsoft.com/office/drawing/2014/main" id="{19C9EAEA-39D0-4B0E-A0EB-51E7B26740B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685810" y="513853"/>
            <a:ext cx="6009366" cy="5834577"/>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6" name="Image 5">
            <a:extLst>
              <a:ext uri="{FF2B5EF4-FFF2-40B4-BE49-F238E27FC236}">
                <a16:creationId xmlns:a16="http://schemas.microsoft.com/office/drawing/2014/main" id="{216B0B9D-A421-45F5-8D24-CA9180F7459D}"/>
              </a:ext>
            </a:extLst>
          </p:cNvPr>
          <p:cNvPicPr/>
          <p:nvPr/>
        </p:nvPicPr>
        <p:blipFill rotWithShape="1">
          <a:blip r:embed="rId2"/>
          <a:srcRect r="4" b="2822"/>
          <a:stretch/>
        </p:blipFill>
        <p:spPr>
          <a:xfrm>
            <a:off x="5977788" y="799352"/>
            <a:ext cx="5425410" cy="5259296"/>
          </a:xfrm>
          <a:prstGeom prst="rect">
            <a:avLst/>
          </a:prstGeom>
        </p:spPr>
      </p:pic>
      <p:sp>
        <p:nvSpPr>
          <p:cNvPr id="3" name="Espace réservé du pied de page 2">
            <a:extLst>
              <a:ext uri="{FF2B5EF4-FFF2-40B4-BE49-F238E27FC236}">
                <a16:creationId xmlns:a16="http://schemas.microsoft.com/office/drawing/2014/main" id="{635802F6-4A65-402F-841D-A9495C880F60}"/>
              </a:ext>
            </a:extLst>
          </p:cNvPr>
          <p:cNvSpPr>
            <a:spLocks noGrp="1"/>
          </p:cNvSpPr>
          <p:nvPr>
            <p:ph type="ftr" sz="quarter" idx="11"/>
          </p:nvPr>
        </p:nvSpPr>
        <p:spPr>
          <a:xfrm>
            <a:off x="5685810" y="6492240"/>
            <a:ext cx="3050866" cy="365125"/>
          </a:xfrm>
        </p:spPr>
        <p:txBody>
          <a:bodyPr vert="horz" lIns="91440" tIns="45720" rIns="91440" bIns="45720" rtlCol="0" anchor="ctr">
            <a:normAutofit/>
          </a:bodyPr>
          <a:lstStyle/>
          <a:p>
            <a:pPr algn="l" defTabSz="914400">
              <a:defRPr/>
            </a:pPr>
            <a:endParaRPr lang="en-US" sz="1200" kern="1200">
              <a:solidFill>
                <a:prstClr val="black">
                  <a:tint val="75000"/>
                </a:prstClr>
              </a:solidFill>
              <a:latin typeface="Calibri" panose="020F0502020204030204"/>
              <a:ea typeface="+mn-ea"/>
              <a:cs typeface="+mn-cs"/>
            </a:endParaRPr>
          </a:p>
        </p:txBody>
      </p:sp>
      <p:sp>
        <p:nvSpPr>
          <p:cNvPr id="4" name="Espace réservé du numéro de diapositive 3">
            <a:extLst>
              <a:ext uri="{FF2B5EF4-FFF2-40B4-BE49-F238E27FC236}">
                <a16:creationId xmlns:a16="http://schemas.microsoft.com/office/drawing/2014/main" id="{E9F9D53A-3F24-4DB8-88B0-4AEE759792C9}"/>
              </a:ext>
            </a:extLst>
          </p:cNvPr>
          <p:cNvSpPr>
            <a:spLocks noGrp="1"/>
          </p:cNvSpPr>
          <p:nvPr>
            <p:ph type="sldNum" sz="quarter" idx="12"/>
          </p:nvPr>
        </p:nvSpPr>
        <p:spPr>
          <a:xfrm>
            <a:off x="9385070" y="6492240"/>
            <a:ext cx="1055716" cy="365125"/>
          </a:xfrm>
        </p:spPr>
        <p:txBody>
          <a:bodyPr vert="horz" lIns="91440" tIns="45720" rIns="91440" bIns="45720" rtlCol="0" anchor="ctr">
            <a:normAutofit/>
          </a:bodyPr>
          <a:lstStyle/>
          <a:p>
            <a:pPr defTabSz="914400">
              <a:spcAft>
                <a:spcPts val="600"/>
              </a:spcAft>
              <a:defRPr/>
            </a:pPr>
            <a:fld id="{26377AD9-CE17-438C-A638-C64D2D42D7CF}" type="slidenum">
              <a:rPr lang="en-US" smtClean="0">
                <a:solidFill>
                  <a:prstClr val="black">
                    <a:tint val="75000"/>
                  </a:prstClr>
                </a:solidFill>
                <a:latin typeface="Calibri" panose="020F0502020204030204"/>
              </a:rPr>
              <a:pPr defTabSz="914400">
                <a:spcAft>
                  <a:spcPts val="600"/>
                </a:spcAft>
                <a:defRPr/>
              </a:pPr>
              <a:t>5</a:t>
            </a:fld>
            <a:endParaRPr lang="en-US">
              <a:solidFill>
                <a:prstClr val="black">
                  <a:tint val="75000"/>
                </a:prstClr>
              </a:solidFill>
              <a:latin typeface="Calibri" panose="020F0502020204030204"/>
            </a:endParaRPr>
          </a:p>
        </p:txBody>
      </p:sp>
    </p:spTree>
    <p:extLst>
      <p:ext uri="{BB962C8B-B14F-4D97-AF65-F5344CB8AC3E}">
        <p14:creationId xmlns:p14="http://schemas.microsoft.com/office/powerpoint/2010/main" val="145707121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ADAEFB48-AE45-4497-88CB-0F51BEE2B6E9}"/>
              </a:ext>
            </a:extLst>
          </p:cNvPr>
          <p:cNvSpPr>
            <a:spLocks noGrp="1"/>
          </p:cNvSpPr>
          <p:nvPr>
            <p:ph type="title"/>
          </p:nvPr>
        </p:nvSpPr>
        <p:spPr/>
        <p:txBody>
          <a:bodyPr>
            <a:normAutofit fontScale="90000"/>
          </a:bodyPr>
          <a:lstStyle/>
          <a:p>
            <a:r>
              <a:rPr lang="fr-CA" dirty="0"/>
              <a:t>Suite):</a:t>
            </a:r>
            <a:r>
              <a:rPr lang="fr-CA" sz="2200" b="1" dirty="0">
                <a:solidFill>
                  <a:srgbClr val="000000"/>
                </a:solidFill>
                <a:effectLst/>
                <a:latin typeface="Times New Roman" panose="02020603050405020304" pitchFamily="18" charset="0"/>
                <a:ea typeface="Times New Roman" panose="02020603050405020304" pitchFamily="18" charset="0"/>
              </a:rPr>
              <a:t>Les points s’alignent le long des lignes obliques, ce qui prouvent la normalité des deux échantillons. Mais les droites ne sont pas parallèles, ce qui prouve que les variances ne sont pas égales (car les pentes de ces droites sont estimées par les variances </a:t>
            </a:r>
            <a:r>
              <a:rPr lang="fr-CA" sz="2200" b="1" dirty="0" err="1">
                <a:solidFill>
                  <a:srgbClr val="000000"/>
                </a:solidFill>
                <a:effectLst/>
                <a:latin typeface="Times New Roman" panose="02020603050405020304" pitchFamily="18" charset="0"/>
                <a:ea typeface="Times New Roman" panose="02020603050405020304" pitchFamily="18" charset="0"/>
              </a:rPr>
              <a:t>échantillonnales</a:t>
            </a:r>
            <a:r>
              <a:rPr lang="fr-CA" sz="2200" b="1" dirty="0">
                <a:solidFill>
                  <a:srgbClr val="000000"/>
                </a:solidFill>
                <a:effectLst/>
                <a:latin typeface="Times New Roman" panose="02020603050405020304" pitchFamily="18" charset="0"/>
                <a:ea typeface="Times New Roman" panose="02020603050405020304" pitchFamily="18" charset="0"/>
              </a:rPr>
              <a:t>).</a:t>
            </a:r>
            <a:br>
              <a:rPr lang="fr-CA" sz="2200" dirty="0">
                <a:solidFill>
                  <a:srgbClr val="000000"/>
                </a:solidFill>
                <a:effectLst/>
                <a:latin typeface="Times New Roman" panose="02020603050405020304" pitchFamily="18" charset="0"/>
                <a:ea typeface="Times New Roman" panose="02020603050405020304" pitchFamily="18" charset="0"/>
              </a:rPr>
            </a:br>
            <a:endParaRPr lang="fr-CA" sz="2200" dirty="0"/>
          </a:p>
        </p:txBody>
      </p:sp>
      <p:sp>
        <p:nvSpPr>
          <p:cNvPr id="3" name="Espace réservé du pied de page 2">
            <a:extLst>
              <a:ext uri="{FF2B5EF4-FFF2-40B4-BE49-F238E27FC236}">
                <a16:creationId xmlns:a16="http://schemas.microsoft.com/office/drawing/2014/main" id="{992B3275-F653-4446-ABF5-5A8A0BB07622}"/>
              </a:ext>
            </a:extLst>
          </p:cNvPr>
          <p:cNvSpPr>
            <a:spLocks noGrp="1"/>
          </p:cNvSpPr>
          <p:nvPr>
            <p:ph type="ftr" sz="quarter" idx="11"/>
          </p:nvPr>
        </p:nvSpPr>
        <p:spPr/>
        <p:txBody>
          <a:bodyPr/>
          <a:lstStyle/>
          <a:p>
            <a:endParaRPr lang="fr-CA"/>
          </a:p>
        </p:txBody>
      </p:sp>
      <p:sp>
        <p:nvSpPr>
          <p:cNvPr id="4" name="Espace réservé du numéro de diapositive 3">
            <a:extLst>
              <a:ext uri="{FF2B5EF4-FFF2-40B4-BE49-F238E27FC236}">
                <a16:creationId xmlns:a16="http://schemas.microsoft.com/office/drawing/2014/main" id="{AABF7E4F-4FA6-4815-A81A-07462C4CEF66}"/>
              </a:ext>
            </a:extLst>
          </p:cNvPr>
          <p:cNvSpPr>
            <a:spLocks noGrp="1"/>
          </p:cNvSpPr>
          <p:nvPr>
            <p:ph type="sldNum" sz="quarter" idx="12"/>
          </p:nvPr>
        </p:nvSpPr>
        <p:spPr/>
        <p:txBody>
          <a:bodyPr/>
          <a:lstStyle/>
          <a:p>
            <a:fld id="{26377AD9-CE17-438C-A638-C64D2D42D7CF}" type="slidenum">
              <a:rPr lang="fr-CA" smtClean="0"/>
              <a:t>6</a:t>
            </a:fld>
            <a:endParaRPr lang="fr-CA"/>
          </a:p>
        </p:txBody>
      </p:sp>
      <p:sp>
        <p:nvSpPr>
          <p:cNvPr id="6" name="ZoneTexte 5">
            <a:extLst>
              <a:ext uri="{FF2B5EF4-FFF2-40B4-BE49-F238E27FC236}">
                <a16:creationId xmlns:a16="http://schemas.microsoft.com/office/drawing/2014/main" id="{A4855B4F-F67B-45C9-8E42-E5B2C7F76214}"/>
              </a:ext>
            </a:extLst>
          </p:cNvPr>
          <p:cNvSpPr txBox="1"/>
          <p:nvPr/>
        </p:nvSpPr>
        <p:spPr>
          <a:xfrm>
            <a:off x="1021976" y="1909482"/>
            <a:ext cx="10331824" cy="3621504"/>
          </a:xfrm>
          <a:prstGeom prst="rect">
            <a:avLst/>
          </a:prstGeom>
          <a:noFill/>
        </p:spPr>
        <p:txBody>
          <a:bodyPr wrap="square" rtlCol="0">
            <a:spAutoFit/>
          </a:bodyPr>
          <a:lstStyle/>
          <a:p>
            <a:pPr marL="342900" lvl="0" indent="-342900" algn="just">
              <a:lnSpc>
                <a:spcPct val="200000"/>
              </a:lnSpc>
              <a:spcAft>
                <a:spcPts val="800"/>
              </a:spcAft>
              <a:buFont typeface="+mj-lt"/>
              <a:buAutoNum type="arabicPeriod"/>
            </a:pPr>
            <a:r>
              <a:rPr lang="fr-CA" dirty="0"/>
              <a:t>2</a:t>
            </a:r>
            <a:r>
              <a:rPr lang="fr-CA" sz="2400" dirty="0"/>
              <a:t>. </a:t>
            </a:r>
            <a:r>
              <a:rPr lang="fr-CA" sz="2400" b="1" dirty="0">
                <a:solidFill>
                  <a:srgbClr val="000000"/>
                </a:solidFill>
                <a:effectLst/>
                <a:latin typeface="Times New Roman" panose="02020603050405020304" pitchFamily="18" charset="0"/>
                <a:ea typeface="Times New Roman" panose="02020603050405020304" pitchFamily="18" charset="0"/>
              </a:rPr>
              <a:t>Pour réaliser le test d’hypothèses, on tape :</a:t>
            </a:r>
            <a:endParaRPr lang="fr-CA" sz="2400" dirty="0">
              <a:solidFill>
                <a:srgbClr val="000000"/>
              </a:solidFill>
              <a:effectLst/>
              <a:latin typeface="Times New Roman" panose="02020603050405020304" pitchFamily="18" charset="0"/>
              <a:ea typeface="Times New Roman" panose="02020603050405020304" pitchFamily="18" charset="0"/>
            </a:endParaRPr>
          </a:p>
          <a:p>
            <a:pPr algn="just">
              <a:lnSpc>
                <a:spcPct val="200000"/>
              </a:lnSpc>
              <a:spcAft>
                <a:spcPts val="800"/>
              </a:spcAft>
            </a:pPr>
            <a:r>
              <a:rPr lang="fr-CA" sz="2400" b="1" dirty="0" err="1">
                <a:solidFill>
                  <a:srgbClr val="000000"/>
                </a:solidFill>
                <a:effectLst/>
                <a:latin typeface="Times New Roman" panose="02020603050405020304" pitchFamily="18" charset="0"/>
                <a:ea typeface="Times New Roman" panose="02020603050405020304" pitchFamily="18" charset="0"/>
              </a:rPr>
              <a:t>t.test</a:t>
            </a:r>
            <a:r>
              <a:rPr lang="fr-CA" sz="2400" b="1" dirty="0">
                <a:solidFill>
                  <a:srgbClr val="000000"/>
                </a:solidFill>
                <a:effectLst/>
                <a:latin typeface="Times New Roman" panose="02020603050405020304" pitchFamily="18" charset="0"/>
                <a:ea typeface="Times New Roman" panose="02020603050405020304" pitchFamily="18" charset="0"/>
              </a:rPr>
              <a:t>(</a:t>
            </a:r>
            <a:r>
              <a:rPr lang="fr-CA" sz="2400" b="1" dirty="0" err="1">
                <a:solidFill>
                  <a:srgbClr val="000000"/>
                </a:solidFill>
                <a:effectLst/>
                <a:latin typeface="Times New Roman" panose="02020603050405020304" pitchFamily="18" charset="0"/>
                <a:ea typeface="Times New Roman" panose="02020603050405020304" pitchFamily="18" charset="0"/>
              </a:rPr>
              <a:t>x,y,conf.lev</a:t>
            </a:r>
            <a:r>
              <a:rPr lang="fr-CA" sz="2400" b="1" dirty="0">
                <a:solidFill>
                  <a:srgbClr val="000000"/>
                </a:solidFill>
                <a:effectLst/>
                <a:latin typeface="Times New Roman" panose="02020603050405020304" pitchFamily="18" charset="0"/>
                <a:ea typeface="Times New Roman" panose="02020603050405020304" pitchFamily="18" charset="0"/>
              </a:rPr>
              <a:t>=0.99) </a:t>
            </a:r>
            <a:endParaRPr lang="fr-CA" sz="2400" dirty="0">
              <a:solidFill>
                <a:srgbClr val="000000"/>
              </a:solidFill>
              <a:effectLst/>
              <a:latin typeface="Times New Roman" panose="02020603050405020304" pitchFamily="18" charset="0"/>
              <a:ea typeface="Times New Roman" panose="02020603050405020304" pitchFamily="18" charset="0"/>
            </a:endParaRPr>
          </a:p>
          <a:p>
            <a:r>
              <a:rPr lang="fr-FR" sz="2400" b="1" dirty="0">
                <a:effectLst/>
                <a:latin typeface="Calibri" panose="020F0502020204030204" pitchFamily="34" charset="0"/>
                <a:ea typeface="Times New Roman" panose="02020603050405020304" pitchFamily="18" charset="0"/>
              </a:rPr>
              <a:t>On obtient une valeur P qui est égale à 0,6% inférieure au seuil de signification de 1%. On doit donc rejeter l’hypothèse nulle et conclure que les prix moyens d’achats des caméras dans les 2 sites sont significativement différents</a:t>
            </a:r>
          </a:p>
          <a:p>
            <a:endParaRPr lang="fr-FR" sz="2400" b="1" dirty="0">
              <a:latin typeface="Calibri" panose="020F0502020204030204" pitchFamily="34" charset="0"/>
            </a:endParaRPr>
          </a:p>
          <a:p>
            <a:r>
              <a:rPr lang="fr-FR" sz="2400" b="1" dirty="0">
                <a:latin typeface="Calibri" panose="020F0502020204030204" pitchFamily="34" charset="0"/>
              </a:rPr>
              <a:t>Remarque: </a:t>
            </a:r>
            <a:r>
              <a:rPr lang="fr-FR" sz="1800" b="1" dirty="0">
                <a:effectLst/>
                <a:latin typeface="Calibri" panose="020F0502020204030204" pitchFamily="34" charset="0"/>
                <a:ea typeface="Times New Roman" panose="02020603050405020304" pitchFamily="18" charset="0"/>
              </a:rPr>
              <a:t>Le logiciel R fournit aussi un intervalle de confiance pour la différence des moyennes. </a:t>
            </a:r>
            <a:endParaRPr lang="fr-CA" sz="2400" dirty="0"/>
          </a:p>
        </p:txBody>
      </p:sp>
    </p:spTree>
    <p:extLst>
      <p:ext uri="{BB962C8B-B14F-4D97-AF65-F5344CB8AC3E}">
        <p14:creationId xmlns:p14="http://schemas.microsoft.com/office/powerpoint/2010/main" val="64157405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F6D14CB0-F8E4-4CD3-B7D5-7139CE72386F}"/>
              </a:ext>
            </a:extLst>
          </p:cNvPr>
          <p:cNvSpPr>
            <a:spLocks noGrp="1"/>
          </p:cNvSpPr>
          <p:nvPr>
            <p:ph type="title"/>
          </p:nvPr>
        </p:nvSpPr>
        <p:spPr/>
        <p:txBody>
          <a:bodyPr/>
          <a:lstStyle/>
          <a:p>
            <a:r>
              <a:rPr lang="fr-CA" dirty="0"/>
              <a:t>Tests d’hypothèses sur deux moyennes dépendantes</a:t>
            </a:r>
          </a:p>
        </p:txBody>
      </p:sp>
      <p:sp>
        <p:nvSpPr>
          <p:cNvPr id="3" name="Espace réservé du pied de page 2">
            <a:extLst>
              <a:ext uri="{FF2B5EF4-FFF2-40B4-BE49-F238E27FC236}">
                <a16:creationId xmlns:a16="http://schemas.microsoft.com/office/drawing/2014/main" id="{F7B4AA30-C418-4197-B3AE-928EB8B8B441}"/>
              </a:ext>
            </a:extLst>
          </p:cNvPr>
          <p:cNvSpPr>
            <a:spLocks noGrp="1"/>
          </p:cNvSpPr>
          <p:nvPr>
            <p:ph type="ftr" sz="quarter" idx="11"/>
          </p:nvPr>
        </p:nvSpPr>
        <p:spPr/>
        <p:txBody>
          <a:bodyPr/>
          <a:lstStyle/>
          <a:p>
            <a:endParaRPr lang="fr-CA"/>
          </a:p>
        </p:txBody>
      </p:sp>
      <p:sp>
        <p:nvSpPr>
          <p:cNvPr id="4" name="Espace réservé du numéro de diapositive 3">
            <a:extLst>
              <a:ext uri="{FF2B5EF4-FFF2-40B4-BE49-F238E27FC236}">
                <a16:creationId xmlns:a16="http://schemas.microsoft.com/office/drawing/2014/main" id="{6A6A567A-8496-4F9F-AB53-61C3D91BE00A}"/>
              </a:ext>
            </a:extLst>
          </p:cNvPr>
          <p:cNvSpPr>
            <a:spLocks noGrp="1"/>
          </p:cNvSpPr>
          <p:nvPr>
            <p:ph type="sldNum" sz="quarter" idx="12"/>
          </p:nvPr>
        </p:nvSpPr>
        <p:spPr/>
        <p:txBody>
          <a:bodyPr/>
          <a:lstStyle/>
          <a:p>
            <a:fld id="{26377AD9-CE17-438C-A638-C64D2D42D7CF}" type="slidenum">
              <a:rPr lang="fr-CA" smtClean="0"/>
              <a:t>7</a:t>
            </a:fld>
            <a:endParaRPr lang="fr-CA"/>
          </a:p>
        </p:txBody>
      </p:sp>
      <mc:AlternateContent xmlns:mc="http://schemas.openxmlformats.org/markup-compatibility/2006" xmlns:a14="http://schemas.microsoft.com/office/drawing/2010/main">
        <mc:Choice Requires="a14">
          <p:sp>
            <p:nvSpPr>
              <p:cNvPr id="6" name="ZoneTexte 5">
                <a:extLst>
                  <a:ext uri="{FF2B5EF4-FFF2-40B4-BE49-F238E27FC236}">
                    <a16:creationId xmlns:a16="http://schemas.microsoft.com/office/drawing/2014/main" id="{18657456-826C-4AE8-9683-4ECF6785A4E4}"/>
                  </a:ext>
                </a:extLst>
              </p:cNvPr>
              <p:cNvSpPr txBox="1"/>
              <p:nvPr/>
            </p:nvSpPr>
            <p:spPr>
              <a:xfrm>
                <a:off x="349624" y="2097741"/>
                <a:ext cx="11228294" cy="5067862"/>
              </a:xfrm>
              <a:prstGeom prst="rect">
                <a:avLst/>
              </a:prstGeom>
              <a:noFill/>
            </p:spPr>
            <p:txBody>
              <a:bodyPr wrap="square" rtlCol="0">
                <a:spAutoFit/>
              </a:bodyPr>
              <a:lstStyle/>
              <a:p>
                <a:r>
                  <a:rPr lang="fr-CA" dirty="0"/>
                  <a:t>On mesure une variable sur la même population: Soit à deux instants différents soit à deux endroits différents.</a:t>
                </a:r>
              </a:p>
              <a:p>
                <a:r>
                  <a:rPr lang="fr-CA" dirty="0"/>
                  <a:t>Une des mesures on l’appelle X et l’autre Y (Bien sûr ces deux variables sont dépendantes).</a:t>
                </a:r>
              </a:p>
              <a:p>
                <a:r>
                  <a:rPr lang="fr-CA" dirty="0"/>
                  <a:t>On va poser D=X-Y.  </a:t>
                </a:r>
                <a:r>
                  <a:rPr lang="fr-CA" b="1" dirty="0"/>
                  <a:t>On doit s’assurer que les données obtenues sur cette variable sont normalement distribuées  </a:t>
                </a:r>
              </a:p>
              <a:p>
                <a:r>
                  <a:rPr lang="fr-CA" dirty="0"/>
                  <a:t>On veut tester les hypothèses suivantes:</a:t>
                </a:r>
              </a:p>
              <a:p>
                <a:pPr marL="342900" indent="-342900">
                  <a:buFont typeface="+mj-lt"/>
                  <a:buAutoNum type="arabicPeriod"/>
                </a:pPr>
                <a14:m>
                  <m:oMath xmlns:m="http://schemas.openxmlformats.org/officeDocument/2006/math">
                    <m:sSub>
                      <m:sSubPr>
                        <m:ctrlPr>
                          <a:rPr lang="fr-CA" i="1" smtClean="0">
                            <a:latin typeface="Cambria Math" panose="02040503050406030204" pitchFamily="18" charset="0"/>
                          </a:rPr>
                        </m:ctrlPr>
                      </m:sSubPr>
                      <m:e>
                        <m:r>
                          <a:rPr lang="fr-CA" i="1" smtClean="0">
                            <a:latin typeface="Cambria Math" panose="02040503050406030204" pitchFamily="18" charset="0"/>
                            <a:ea typeface="Cambria Math" panose="02040503050406030204" pitchFamily="18" charset="0"/>
                          </a:rPr>
                          <m:t>𝜇</m:t>
                        </m:r>
                      </m:e>
                      <m:sub>
                        <m:r>
                          <a:rPr lang="fr-CA" b="0" i="1" smtClean="0">
                            <a:latin typeface="Cambria Math" panose="02040503050406030204" pitchFamily="18" charset="0"/>
                          </a:rPr>
                          <m:t>𝐷</m:t>
                        </m:r>
                      </m:sub>
                    </m:sSub>
                    <m:r>
                      <a:rPr lang="fr-CA" b="0" i="1" smtClean="0">
                        <a:latin typeface="Cambria Math" panose="02040503050406030204" pitchFamily="18" charset="0"/>
                      </a:rPr>
                      <m:t>=0    </m:t>
                    </m:r>
                    <m:r>
                      <a:rPr lang="fr-CA" b="0" i="1" smtClean="0">
                        <a:latin typeface="Cambria Math" panose="02040503050406030204" pitchFamily="18" charset="0"/>
                      </a:rPr>
                      <m:t>𝑐𝑜𝑛𝑡𝑟𝑒</m:t>
                    </m:r>
                    <m:r>
                      <a:rPr lang="fr-CA" b="0" i="1" smtClean="0">
                        <a:latin typeface="Cambria Math" panose="02040503050406030204" pitchFamily="18" charset="0"/>
                      </a:rPr>
                      <m:t>   </m:t>
                    </m:r>
                    <m:sSub>
                      <m:sSubPr>
                        <m:ctrlPr>
                          <a:rPr lang="fr-CA" b="0" i="1" smtClean="0">
                            <a:latin typeface="Cambria Math" panose="02040503050406030204" pitchFamily="18" charset="0"/>
                          </a:rPr>
                        </m:ctrlPr>
                      </m:sSubPr>
                      <m:e>
                        <m:r>
                          <a:rPr lang="fr-CA" b="0" i="1" smtClean="0">
                            <a:latin typeface="Cambria Math" panose="02040503050406030204" pitchFamily="18" charset="0"/>
                            <a:ea typeface="Cambria Math" panose="02040503050406030204" pitchFamily="18" charset="0"/>
                          </a:rPr>
                          <m:t>𝜇</m:t>
                        </m:r>
                      </m:e>
                      <m:sub>
                        <m:r>
                          <a:rPr lang="fr-CA" b="0" i="1" smtClean="0">
                            <a:latin typeface="Cambria Math" panose="02040503050406030204" pitchFamily="18" charset="0"/>
                          </a:rPr>
                          <m:t>𝐷</m:t>
                        </m:r>
                      </m:sub>
                    </m:sSub>
                    <m:r>
                      <a:rPr lang="fr-CA" b="0" i="1" smtClean="0">
                        <a:latin typeface="Cambria Math" panose="02040503050406030204" pitchFamily="18" charset="0"/>
                        <a:ea typeface="Cambria Math" panose="02040503050406030204" pitchFamily="18" charset="0"/>
                      </a:rPr>
                      <m:t>≠0  </m:t>
                    </m:r>
                    <m:d>
                      <m:dPr>
                        <m:ctrlPr>
                          <a:rPr lang="fr-CA" b="0" i="1" smtClean="0">
                            <a:latin typeface="Cambria Math" panose="02040503050406030204" pitchFamily="18" charset="0"/>
                            <a:ea typeface="Cambria Math" panose="02040503050406030204" pitchFamily="18" charset="0"/>
                          </a:rPr>
                        </m:ctrlPr>
                      </m:dPr>
                      <m:e>
                        <m:r>
                          <a:rPr lang="fr-CA" b="0" i="1" smtClean="0">
                            <a:latin typeface="Cambria Math" panose="02040503050406030204" pitchFamily="18" charset="0"/>
                            <a:ea typeface="Cambria Math" panose="02040503050406030204" pitchFamily="18" charset="0"/>
                          </a:rPr>
                          <m:t>𝑢𝑛</m:t>
                        </m:r>
                        <m:r>
                          <a:rPr lang="fr-CA" b="0" i="1" smtClean="0">
                            <a:latin typeface="Cambria Math" panose="02040503050406030204" pitchFamily="18" charset="0"/>
                            <a:ea typeface="Cambria Math" panose="02040503050406030204" pitchFamily="18" charset="0"/>
                          </a:rPr>
                          <m:t> </m:t>
                        </m:r>
                        <m:r>
                          <a:rPr lang="fr-CA" b="0" i="1" smtClean="0">
                            <a:latin typeface="Cambria Math" panose="02040503050406030204" pitchFamily="18" charset="0"/>
                            <a:ea typeface="Cambria Math" panose="02040503050406030204" pitchFamily="18" charset="0"/>
                          </a:rPr>
                          <m:t>𝑡𝑒𝑠𝑡</m:t>
                        </m:r>
                        <m:r>
                          <a:rPr lang="fr-CA" b="0" i="1" smtClean="0">
                            <a:latin typeface="Cambria Math" panose="02040503050406030204" pitchFamily="18" charset="0"/>
                            <a:ea typeface="Cambria Math" panose="02040503050406030204" pitchFamily="18" charset="0"/>
                          </a:rPr>
                          <m:t> </m:t>
                        </m:r>
                        <m:r>
                          <a:rPr lang="fr-CA" b="0" i="1" smtClean="0">
                            <a:latin typeface="Cambria Math" panose="02040503050406030204" pitchFamily="18" charset="0"/>
                            <a:ea typeface="Cambria Math" panose="02040503050406030204" pitchFamily="18" charset="0"/>
                          </a:rPr>
                          <m:t>𝑏𝑖𝑙𝑎𝑡</m:t>
                        </m:r>
                        <m:r>
                          <a:rPr lang="fr-CA" b="0" i="1" smtClean="0">
                            <a:latin typeface="Cambria Math" panose="02040503050406030204" pitchFamily="18" charset="0"/>
                            <a:ea typeface="Cambria Math" panose="02040503050406030204" pitchFamily="18" charset="0"/>
                          </a:rPr>
                          <m:t>é</m:t>
                        </m:r>
                        <m:r>
                          <a:rPr lang="fr-CA" b="0" i="1" smtClean="0">
                            <a:latin typeface="Cambria Math" panose="02040503050406030204" pitchFamily="18" charset="0"/>
                            <a:ea typeface="Cambria Math" panose="02040503050406030204" pitchFamily="18" charset="0"/>
                          </a:rPr>
                          <m:t>𝑟𝑎𝑙</m:t>
                        </m:r>
                      </m:e>
                    </m:d>
                    <m:r>
                      <a:rPr lang="fr-CA" b="0" i="1" smtClean="0">
                        <a:latin typeface="Cambria Math" panose="02040503050406030204" pitchFamily="18" charset="0"/>
                        <a:ea typeface="Cambria Math" panose="02040503050406030204" pitchFamily="18" charset="0"/>
                      </a:rPr>
                      <m:t>.</m:t>
                    </m:r>
                  </m:oMath>
                </a14:m>
                <a:endParaRPr lang="fr-CA" b="0" dirty="0">
                  <a:ea typeface="Cambria Math" panose="02040503050406030204" pitchFamily="18" charset="0"/>
                </a:endParaRPr>
              </a:p>
              <a:p>
                <a:pPr marL="342900" indent="-342900">
                  <a:buFont typeface="+mj-lt"/>
                  <a:buAutoNum type="arabicPeriod"/>
                </a:pPr>
                <a14:m>
                  <m:oMath xmlns:m="http://schemas.openxmlformats.org/officeDocument/2006/math">
                    <m:sSub>
                      <m:sSubPr>
                        <m:ctrlPr>
                          <a:rPr lang="fr-CA" i="1" smtClean="0">
                            <a:latin typeface="Cambria Math" panose="02040503050406030204" pitchFamily="18" charset="0"/>
                          </a:rPr>
                        </m:ctrlPr>
                      </m:sSubPr>
                      <m:e>
                        <m:r>
                          <a:rPr lang="fr-CA" i="1" smtClean="0">
                            <a:latin typeface="Cambria Math" panose="02040503050406030204" pitchFamily="18" charset="0"/>
                            <a:ea typeface="Cambria Math" panose="02040503050406030204" pitchFamily="18" charset="0"/>
                          </a:rPr>
                          <m:t>𝜇</m:t>
                        </m:r>
                      </m:e>
                      <m:sub>
                        <m:r>
                          <a:rPr lang="fr-CA" b="0" i="1" smtClean="0">
                            <a:latin typeface="Cambria Math" panose="02040503050406030204" pitchFamily="18" charset="0"/>
                          </a:rPr>
                          <m:t>𝐷</m:t>
                        </m:r>
                      </m:sub>
                    </m:sSub>
                    <m:r>
                      <a:rPr lang="fr-CA" b="0" i="1" smtClean="0">
                        <a:latin typeface="Cambria Math" panose="02040503050406030204" pitchFamily="18" charset="0"/>
                      </a:rPr>
                      <m:t>=0    </m:t>
                    </m:r>
                    <m:r>
                      <a:rPr lang="fr-CA" b="0" i="1" smtClean="0">
                        <a:latin typeface="Cambria Math" panose="02040503050406030204" pitchFamily="18" charset="0"/>
                      </a:rPr>
                      <m:t>𝑐𝑜𝑛𝑡𝑟𝑒</m:t>
                    </m:r>
                    <m:r>
                      <a:rPr lang="fr-CA" b="0" i="1" smtClean="0">
                        <a:latin typeface="Cambria Math" panose="02040503050406030204" pitchFamily="18" charset="0"/>
                      </a:rPr>
                      <m:t>   </m:t>
                    </m:r>
                    <m:sSub>
                      <m:sSubPr>
                        <m:ctrlPr>
                          <a:rPr lang="fr-CA" b="0" i="1" smtClean="0">
                            <a:latin typeface="Cambria Math" panose="02040503050406030204" pitchFamily="18" charset="0"/>
                          </a:rPr>
                        </m:ctrlPr>
                      </m:sSubPr>
                      <m:e>
                        <m:r>
                          <a:rPr lang="fr-CA" b="0" i="1" smtClean="0">
                            <a:latin typeface="Cambria Math" panose="02040503050406030204" pitchFamily="18" charset="0"/>
                            <a:ea typeface="Cambria Math" panose="02040503050406030204" pitchFamily="18" charset="0"/>
                          </a:rPr>
                          <m:t>𝜇</m:t>
                        </m:r>
                      </m:e>
                      <m:sub>
                        <m:r>
                          <a:rPr lang="fr-CA" b="0" i="1" smtClean="0">
                            <a:latin typeface="Cambria Math" panose="02040503050406030204" pitchFamily="18" charset="0"/>
                          </a:rPr>
                          <m:t>𝐷</m:t>
                        </m:r>
                      </m:sub>
                    </m:sSub>
                    <m:r>
                      <a:rPr lang="fr-CA" i="1">
                        <a:latin typeface="Cambria Math" panose="02040503050406030204" pitchFamily="18" charset="0"/>
                        <a:ea typeface="Cambria Math" panose="02040503050406030204" pitchFamily="18" charset="0"/>
                      </a:rPr>
                      <m:t>&gt;</m:t>
                    </m:r>
                    <m:r>
                      <a:rPr lang="fr-CA" b="0" i="1" smtClean="0">
                        <a:latin typeface="Cambria Math" panose="02040503050406030204" pitchFamily="18" charset="0"/>
                        <a:ea typeface="Cambria Math" panose="02040503050406030204" pitchFamily="18" charset="0"/>
                      </a:rPr>
                      <m:t>0   (</m:t>
                    </m:r>
                    <m:r>
                      <a:rPr lang="fr-CA" b="0" i="1" smtClean="0">
                        <a:latin typeface="Cambria Math" panose="02040503050406030204" pitchFamily="18" charset="0"/>
                        <a:ea typeface="Cambria Math" panose="02040503050406030204" pitchFamily="18" charset="0"/>
                      </a:rPr>
                      <m:t>𝑢𝑛</m:t>
                    </m:r>
                    <m:r>
                      <a:rPr lang="fr-CA" b="0" i="1" smtClean="0">
                        <a:latin typeface="Cambria Math" panose="02040503050406030204" pitchFamily="18" charset="0"/>
                        <a:ea typeface="Cambria Math" panose="02040503050406030204" pitchFamily="18" charset="0"/>
                      </a:rPr>
                      <m:t> </m:t>
                    </m:r>
                    <m:r>
                      <a:rPr lang="fr-CA" b="0" i="1" smtClean="0">
                        <a:latin typeface="Cambria Math" panose="02040503050406030204" pitchFamily="18" charset="0"/>
                        <a:ea typeface="Cambria Math" panose="02040503050406030204" pitchFamily="18" charset="0"/>
                      </a:rPr>
                      <m:t>𝑡𝑒𝑠𝑡</m:t>
                    </m:r>
                    <m:r>
                      <a:rPr lang="fr-CA" b="0" i="1" smtClean="0">
                        <a:latin typeface="Cambria Math" panose="02040503050406030204" pitchFamily="18" charset="0"/>
                        <a:ea typeface="Cambria Math" panose="02040503050406030204" pitchFamily="18" charset="0"/>
                      </a:rPr>
                      <m:t> </m:t>
                    </m:r>
                    <m:r>
                      <a:rPr lang="fr-CA" b="0" i="1" smtClean="0">
                        <a:latin typeface="Cambria Math" panose="02040503050406030204" pitchFamily="18" charset="0"/>
                        <a:ea typeface="Cambria Math" panose="02040503050406030204" pitchFamily="18" charset="0"/>
                      </a:rPr>
                      <m:t>𝑢𝑛𝑖𝑙𝑎𝑡</m:t>
                    </m:r>
                    <m:r>
                      <a:rPr lang="fr-CA" b="0" i="1" smtClean="0">
                        <a:latin typeface="Cambria Math" panose="02040503050406030204" pitchFamily="18" charset="0"/>
                        <a:ea typeface="Cambria Math" panose="02040503050406030204" pitchFamily="18" charset="0"/>
                      </a:rPr>
                      <m:t>é</m:t>
                    </m:r>
                    <m:r>
                      <a:rPr lang="fr-CA" b="0" i="1" smtClean="0">
                        <a:latin typeface="Cambria Math" panose="02040503050406030204" pitchFamily="18" charset="0"/>
                        <a:ea typeface="Cambria Math" panose="02040503050406030204" pitchFamily="18" charset="0"/>
                      </a:rPr>
                      <m:t>𝑟𝑎𝑙</m:t>
                    </m:r>
                    <m:r>
                      <a:rPr lang="fr-CA" b="0" i="1" smtClean="0">
                        <a:latin typeface="Cambria Math" panose="02040503050406030204" pitchFamily="18" charset="0"/>
                        <a:ea typeface="Cambria Math" panose="02040503050406030204" pitchFamily="18" charset="0"/>
                      </a:rPr>
                      <m:t> à </m:t>
                    </m:r>
                    <m:r>
                      <a:rPr lang="fr-CA" b="0" i="1" smtClean="0">
                        <a:latin typeface="Cambria Math" panose="02040503050406030204" pitchFamily="18" charset="0"/>
                        <a:ea typeface="Cambria Math" panose="02040503050406030204" pitchFamily="18" charset="0"/>
                      </a:rPr>
                      <m:t>𝑑𝑟𝑜𝑖𝑡𝑒</m:t>
                    </m:r>
                    <m:r>
                      <a:rPr lang="fr-CA" b="0" i="1" smtClean="0">
                        <a:latin typeface="Cambria Math" panose="02040503050406030204" pitchFamily="18" charset="0"/>
                        <a:ea typeface="Cambria Math" panose="02040503050406030204" pitchFamily="18" charset="0"/>
                      </a:rPr>
                      <m:t>)</m:t>
                    </m:r>
                  </m:oMath>
                </a14:m>
                <a:endParaRPr lang="fr-CA" b="0" dirty="0">
                  <a:ea typeface="Cambria Math" panose="02040503050406030204" pitchFamily="18" charset="0"/>
                </a:endParaRPr>
              </a:p>
              <a:p>
                <a:pPr marL="342900" indent="-342900">
                  <a:buFont typeface="+mj-lt"/>
                  <a:buAutoNum type="arabicPeriod"/>
                </a:pPr>
                <a14:m>
                  <m:oMath xmlns:m="http://schemas.openxmlformats.org/officeDocument/2006/math">
                    <m:sSub>
                      <m:sSubPr>
                        <m:ctrlPr>
                          <a:rPr lang="fr-CA" i="1" smtClean="0">
                            <a:latin typeface="Cambria Math" panose="02040503050406030204" pitchFamily="18" charset="0"/>
                          </a:rPr>
                        </m:ctrlPr>
                      </m:sSubPr>
                      <m:e>
                        <m:r>
                          <a:rPr lang="fr-CA" i="1" smtClean="0">
                            <a:latin typeface="Cambria Math" panose="02040503050406030204" pitchFamily="18" charset="0"/>
                            <a:ea typeface="Cambria Math" panose="02040503050406030204" pitchFamily="18" charset="0"/>
                          </a:rPr>
                          <m:t>𝜇</m:t>
                        </m:r>
                      </m:e>
                      <m:sub>
                        <m:r>
                          <a:rPr lang="fr-CA" b="0" i="1" smtClean="0">
                            <a:latin typeface="Cambria Math" panose="02040503050406030204" pitchFamily="18" charset="0"/>
                          </a:rPr>
                          <m:t>𝐷</m:t>
                        </m:r>
                      </m:sub>
                    </m:sSub>
                    <m:r>
                      <a:rPr lang="fr-CA" b="0" i="1" smtClean="0">
                        <a:latin typeface="Cambria Math" panose="02040503050406030204" pitchFamily="18" charset="0"/>
                      </a:rPr>
                      <m:t>=0    </m:t>
                    </m:r>
                    <m:r>
                      <a:rPr lang="fr-CA" b="0" i="1" smtClean="0">
                        <a:latin typeface="Cambria Math" panose="02040503050406030204" pitchFamily="18" charset="0"/>
                      </a:rPr>
                      <m:t>𝑐𝑜𝑛𝑡𝑟𝑒</m:t>
                    </m:r>
                    <m:r>
                      <a:rPr lang="fr-CA" b="0" i="1" smtClean="0">
                        <a:latin typeface="Cambria Math" panose="02040503050406030204" pitchFamily="18" charset="0"/>
                      </a:rPr>
                      <m:t>   </m:t>
                    </m:r>
                    <m:sSub>
                      <m:sSubPr>
                        <m:ctrlPr>
                          <a:rPr lang="fr-CA" b="0" i="1" smtClean="0">
                            <a:latin typeface="Cambria Math" panose="02040503050406030204" pitchFamily="18" charset="0"/>
                          </a:rPr>
                        </m:ctrlPr>
                      </m:sSubPr>
                      <m:e>
                        <m:r>
                          <a:rPr lang="fr-CA" b="0" i="1" smtClean="0">
                            <a:latin typeface="Cambria Math" panose="02040503050406030204" pitchFamily="18" charset="0"/>
                            <a:ea typeface="Cambria Math" panose="02040503050406030204" pitchFamily="18" charset="0"/>
                          </a:rPr>
                          <m:t>𝜇</m:t>
                        </m:r>
                      </m:e>
                      <m:sub>
                        <m:r>
                          <a:rPr lang="fr-CA" b="0" i="1" smtClean="0">
                            <a:latin typeface="Cambria Math" panose="02040503050406030204" pitchFamily="18" charset="0"/>
                          </a:rPr>
                          <m:t>𝐷</m:t>
                        </m:r>
                      </m:sub>
                    </m:sSub>
                    <m:r>
                      <a:rPr lang="fr-CA" i="1">
                        <a:latin typeface="Cambria Math" panose="02040503050406030204" pitchFamily="18" charset="0"/>
                        <a:ea typeface="Cambria Math" panose="02040503050406030204" pitchFamily="18" charset="0"/>
                      </a:rPr>
                      <m:t>&lt;</m:t>
                    </m:r>
                    <m:r>
                      <a:rPr lang="fr-CA" b="0" i="1" smtClean="0">
                        <a:latin typeface="Cambria Math" panose="02040503050406030204" pitchFamily="18" charset="0"/>
                        <a:ea typeface="Cambria Math" panose="02040503050406030204" pitchFamily="18" charset="0"/>
                      </a:rPr>
                      <m:t>0   (</m:t>
                    </m:r>
                    <m:r>
                      <a:rPr lang="fr-CA" b="0" i="1" smtClean="0">
                        <a:latin typeface="Cambria Math" panose="02040503050406030204" pitchFamily="18" charset="0"/>
                        <a:ea typeface="Cambria Math" panose="02040503050406030204" pitchFamily="18" charset="0"/>
                      </a:rPr>
                      <m:t>𝑢𝑛</m:t>
                    </m:r>
                    <m:r>
                      <a:rPr lang="fr-CA" b="0" i="1" smtClean="0">
                        <a:latin typeface="Cambria Math" panose="02040503050406030204" pitchFamily="18" charset="0"/>
                        <a:ea typeface="Cambria Math" panose="02040503050406030204" pitchFamily="18" charset="0"/>
                      </a:rPr>
                      <m:t> </m:t>
                    </m:r>
                    <m:r>
                      <a:rPr lang="fr-CA" b="0" i="1" smtClean="0">
                        <a:latin typeface="Cambria Math" panose="02040503050406030204" pitchFamily="18" charset="0"/>
                        <a:ea typeface="Cambria Math" panose="02040503050406030204" pitchFamily="18" charset="0"/>
                      </a:rPr>
                      <m:t>𝑡𝑒𝑠𝑡</m:t>
                    </m:r>
                    <m:r>
                      <a:rPr lang="fr-CA" b="0" i="1" smtClean="0">
                        <a:latin typeface="Cambria Math" panose="02040503050406030204" pitchFamily="18" charset="0"/>
                        <a:ea typeface="Cambria Math" panose="02040503050406030204" pitchFamily="18" charset="0"/>
                      </a:rPr>
                      <m:t> </m:t>
                    </m:r>
                    <m:r>
                      <a:rPr lang="fr-CA" b="0" i="1" smtClean="0">
                        <a:latin typeface="Cambria Math" panose="02040503050406030204" pitchFamily="18" charset="0"/>
                        <a:ea typeface="Cambria Math" panose="02040503050406030204" pitchFamily="18" charset="0"/>
                      </a:rPr>
                      <m:t>𝑢𝑛𝑖𝑙𝑎𝑡</m:t>
                    </m:r>
                    <m:r>
                      <a:rPr lang="fr-CA" b="0" i="1" smtClean="0">
                        <a:latin typeface="Cambria Math" panose="02040503050406030204" pitchFamily="18" charset="0"/>
                        <a:ea typeface="Cambria Math" panose="02040503050406030204" pitchFamily="18" charset="0"/>
                      </a:rPr>
                      <m:t>é</m:t>
                    </m:r>
                    <m:r>
                      <a:rPr lang="fr-CA" b="0" i="1" smtClean="0">
                        <a:latin typeface="Cambria Math" panose="02040503050406030204" pitchFamily="18" charset="0"/>
                        <a:ea typeface="Cambria Math" panose="02040503050406030204" pitchFamily="18" charset="0"/>
                      </a:rPr>
                      <m:t>𝑟𝑎𝑙</m:t>
                    </m:r>
                    <m:r>
                      <a:rPr lang="fr-CA" b="0" i="1" smtClean="0">
                        <a:latin typeface="Cambria Math" panose="02040503050406030204" pitchFamily="18" charset="0"/>
                        <a:ea typeface="Cambria Math" panose="02040503050406030204" pitchFamily="18" charset="0"/>
                      </a:rPr>
                      <m:t> à  </m:t>
                    </m:r>
                    <m:r>
                      <a:rPr lang="fr-CA" b="0" i="1" smtClean="0">
                        <a:latin typeface="Cambria Math" panose="02040503050406030204" pitchFamily="18" charset="0"/>
                        <a:ea typeface="Cambria Math" panose="02040503050406030204" pitchFamily="18" charset="0"/>
                      </a:rPr>
                      <m:t>𝑔𝑎𝑢𝑐h𝑒</m:t>
                    </m:r>
                    <m:r>
                      <a:rPr lang="fr-CA" b="0" i="1" smtClean="0">
                        <a:latin typeface="Cambria Math" panose="02040503050406030204" pitchFamily="18" charset="0"/>
                        <a:ea typeface="Cambria Math" panose="02040503050406030204" pitchFamily="18" charset="0"/>
                      </a:rPr>
                      <m:t>)</m:t>
                    </m:r>
                  </m:oMath>
                </a14:m>
                <a:endParaRPr lang="fr-CA" b="0" dirty="0">
                  <a:ea typeface="Cambria Math" panose="02040503050406030204" pitchFamily="18" charset="0"/>
                </a:endParaRPr>
              </a:p>
              <a:p>
                <a:endParaRPr lang="fr-CA" dirty="0">
                  <a:ea typeface="Cambria Math" panose="02040503050406030204" pitchFamily="18" charset="0"/>
                </a:endParaRPr>
              </a:p>
              <a:p>
                <a:r>
                  <a:rPr lang="fr-CA" dirty="0">
                    <a:ea typeface="Cambria Math" panose="02040503050406030204" pitchFamily="18" charset="0"/>
                  </a:rPr>
                  <a:t>On mesure la variable D n fois au hasard et on obtient: </a:t>
                </a:r>
                <a14:m>
                  <m:oMath xmlns:m="http://schemas.openxmlformats.org/officeDocument/2006/math">
                    <m:acc>
                      <m:accPr>
                        <m:chr m:val="̅"/>
                        <m:ctrlPr>
                          <a:rPr lang="fr-CA" i="1" smtClean="0">
                            <a:latin typeface="Cambria Math" panose="02040503050406030204" pitchFamily="18" charset="0"/>
                            <a:ea typeface="Cambria Math" panose="02040503050406030204" pitchFamily="18" charset="0"/>
                          </a:rPr>
                        </m:ctrlPr>
                      </m:accPr>
                      <m:e>
                        <m:r>
                          <a:rPr lang="fr-CA" b="0" i="1" smtClean="0">
                            <a:latin typeface="Cambria Math" panose="02040503050406030204" pitchFamily="18" charset="0"/>
                            <a:ea typeface="Cambria Math" panose="02040503050406030204" pitchFamily="18" charset="0"/>
                          </a:rPr>
                          <m:t>𝑑</m:t>
                        </m:r>
                      </m:e>
                    </m:acc>
                    <m:r>
                      <a:rPr lang="fr-CA" b="0" i="1" smtClean="0">
                        <a:latin typeface="Cambria Math" panose="02040503050406030204" pitchFamily="18" charset="0"/>
                        <a:ea typeface="Cambria Math" panose="02040503050406030204" pitchFamily="18" charset="0"/>
                      </a:rPr>
                      <m:t>     </m:t>
                    </m:r>
                    <m:r>
                      <a:rPr lang="fr-CA" b="0" i="1" smtClean="0">
                        <a:latin typeface="Cambria Math" panose="02040503050406030204" pitchFamily="18" charset="0"/>
                        <a:ea typeface="Cambria Math" panose="02040503050406030204" pitchFamily="18" charset="0"/>
                      </a:rPr>
                      <m:t>𝑒𝑡</m:t>
                    </m:r>
                    <m:r>
                      <a:rPr lang="fr-CA" b="0" i="1" smtClean="0">
                        <a:latin typeface="Cambria Math" panose="02040503050406030204" pitchFamily="18" charset="0"/>
                        <a:ea typeface="Cambria Math" panose="02040503050406030204" pitchFamily="18" charset="0"/>
                      </a:rPr>
                      <m:t>     </m:t>
                    </m:r>
                    <m:sSub>
                      <m:sSubPr>
                        <m:ctrlPr>
                          <a:rPr lang="fr-CA" b="0" i="1" smtClean="0">
                            <a:latin typeface="Cambria Math" panose="02040503050406030204" pitchFamily="18" charset="0"/>
                            <a:ea typeface="Cambria Math" panose="02040503050406030204" pitchFamily="18" charset="0"/>
                          </a:rPr>
                        </m:ctrlPr>
                      </m:sSubPr>
                      <m:e>
                        <m:r>
                          <a:rPr lang="fr-CA" b="0" i="1" smtClean="0">
                            <a:latin typeface="Cambria Math" panose="02040503050406030204" pitchFamily="18" charset="0"/>
                            <a:ea typeface="Cambria Math" panose="02040503050406030204" pitchFamily="18" charset="0"/>
                          </a:rPr>
                          <m:t>𝑠</m:t>
                        </m:r>
                      </m:e>
                      <m:sub>
                        <m:r>
                          <a:rPr lang="fr-CA" b="0" i="1" smtClean="0">
                            <a:latin typeface="Cambria Math" panose="02040503050406030204" pitchFamily="18" charset="0"/>
                            <a:ea typeface="Cambria Math" panose="02040503050406030204" pitchFamily="18" charset="0"/>
                          </a:rPr>
                          <m:t>𝐷</m:t>
                        </m:r>
                      </m:sub>
                    </m:sSub>
                  </m:oMath>
                </a14:m>
                <a:r>
                  <a:rPr lang="fr-CA" dirty="0"/>
                  <a:t> et  en la standardisant on obtient:</a:t>
                </a:r>
              </a:p>
              <a:p>
                <a:pPr/>
                <a14:m>
                  <m:oMathPara xmlns:m="http://schemas.openxmlformats.org/officeDocument/2006/math">
                    <m:oMathParaPr>
                      <m:jc m:val="centerGroup"/>
                    </m:oMathParaPr>
                    <m:oMath xmlns:m="http://schemas.openxmlformats.org/officeDocument/2006/math">
                      <m:sSub>
                        <m:sSubPr>
                          <m:ctrlPr>
                            <a:rPr lang="fr-CA" i="1" smtClean="0">
                              <a:latin typeface="Cambria Math" panose="02040503050406030204" pitchFamily="18" charset="0"/>
                            </a:rPr>
                          </m:ctrlPr>
                        </m:sSubPr>
                        <m:e>
                          <m:r>
                            <a:rPr lang="fr-CA" b="0" i="1" smtClean="0">
                              <a:latin typeface="Cambria Math" panose="02040503050406030204" pitchFamily="18" charset="0"/>
                            </a:rPr>
                            <m:t>𝑇</m:t>
                          </m:r>
                        </m:e>
                        <m:sub>
                          <m:r>
                            <a:rPr lang="fr-CA" b="0" i="1" smtClean="0">
                              <a:latin typeface="Cambria Math" panose="02040503050406030204" pitchFamily="18" charset="0"/>
                            </a:rPr>
                            <m:t>𝑛</m:t>
                          </m:r>
                          <m:r>
                            <a:rPr lang="fr-CA" b="0" i="1" smtClean="0">
                              <a:latin typeface="Cambria Math" panose="02040503050406030204" pitchFamily="18" charset="0"/>
                            </a:rPr>
                            <m:t>−1</m:t>
                          </m:r>
                        </m:sub>
                      </m:sSub>
                      <m:r>
                        <a:rPr lang="fr-CA" b="0" i="1" smtClean="0">
                          <a:latin typeface="Cambria Math" panose="02040503050406030204" pitchFamily="18" charset="0"/>
                        </a:rPr>
                        <m:t>=</m:t>
                      </m:r>
                      <m:f>
                        <m:fPr>
                          <m:ctrlPr>
                            <a:rPr lang="fr-CA" b="0" i="1" smtClean="0">
                              <a:latin typeface="Cambria Math" panose="02040503050406030204" pitchFamily="18" charset="0"/>
                            </a:rPr>
                          </m:ctrlPr>
                        </m:fPr>
                        <m:num>
                          <m:acc>
                            <m:accPr>
                              <m:chr m:val="̅"/>
                              <m:ctrlPr>
                                <a:rPr lang="fr-CA" b="0" i="1" smtClean="0">
                                  <a:latin typeface="Cambria Math" panose="02040503050406030204" pitchFamily="18" charset="0"/>
                                </a:rPr>
                              </m:ctrlPr>
                            </m:accPr>
                            <m:e>
                              <m:r>
                                <a:rPr lang="fr-CA" b="0" i="1" smtClean="0">
                                  <a:latin typeface="Cambria Math" panose="02040503050406030204" pitchFamily="18" charset="0"/>
                                </a:rPr>
                                <m:t>𝑑</m:t>
                              </m:r>
                            </m:e>
                          </m:acc>
                          <m:r>
                            <a:rPr lang="fr-CA" b="0" i="1" smtClean="0">
                              <a:latin typeface="Cambria Math" panose="02040503050406030204" pitchFamily="18" charset="0"/>
                            </a:rPr>
                            <m:t>−</m:t>
                          </m:r>
                          <m:sSub>
                            <m:sSubPr>
                              <m:ctrlPr>
                                <a:rPr lang="fr-CA" b="0" i="1" smtClean="0">
                                  <a:latin typeface="Cambria Math" panose="02040503050406030204" pitchFamily="18" charset="0"/>
                                </a:rPr>
                              </m:ctrlPr>
                            </m:sSubPr>
                            <m:e>
                              <m:r>
                                <a:rPr lang="fr-CA" b="0" i="1" smtClean="0">
                                  <a:latin typeface="Cambria Math" panose="02040503050406030204" pitchFamily="18" charset="0"/>
                                  <a:ea typeface="Cambria Math" panose="02040503050406030204" pitchFamily="18" charset="0"/>
                                </a:rPr>
                                <m:t>𝜇</m:t>
                              </m:r>
                            </m:e>
                            <m:sub>
                              <m:r>
                                <a:rPr lang="fr-CA" b="0" i="1" smtClean="0">
                                  <a:latin typeface="Cambria Math" panose="02040503050406030204" pitchFamily="18" charset="0"/>
                                </a:rPr>
                                <m:t>𝐷</m:t>
                              </m:r>
                            </m:sub>
                          </m:sSub>
                        </m:num>
                        <m:den>
                          <m:f>
                            <m:fPr>
                              <m:ctrlPr>
                                <a:rPr lang="fr-CA" b="0" i="1" smtClean="0">
                                  <a:latin typeface="Cambria Math" panose="02040503050406030204" pitchFamily="18" charset="0"/>
                                </a:rPr>
                              </m:ctrlPr>
                            </m:fPr>
                            <m:num>
                              <m:sSub>
                                <m:sSubPr>
                                  <m:ctrlPr>
                                    <a:rPr lang="fr-CA" b="0" i="1" smtClean="0">
                                      <a:latin typeface="Cambria Math" panose="02040503050406030204" pitchFamily="18" charset="0"/>
                                    </a:rPr>
                                  </m:ctrlPr>
                                </m:sSubPr>
                                <m:e>
                                  <m:r>
                                    <a:rPr lang="fr-CA" b="0" i="1" smtClean="0">
                                      <a:latin typeface="Cambria Math" panose="02040503050406030204" pitchFamily="18" charset="0"/>
                                    </a:rPr>
                                    <m:t>𝑠</m:t>
                                  </m:r>
                                </m:e>
                                <m:sub>
                                  <m:r>
                                    <a:rPr lang="fr-CA" b="0" i="1" smtClean="0">
                                      <a:latin typeface="Cambria Math" panose="02040503050406030204" pitchFamily="18" charset="0"/>
                                    </a:rPr>
                                    <m:t>𝐷</m:t>
                                  </m:r>
                                </m:sub>
                              </m:sSub>
                            </m:num>
                            <m:den>
                              <m:rad>
                                <m:radPr>
                                  <m:degHide m:val="on"/>
                                  <m:ctrlPr>
                                    <a:rPr lang="fr-CA" b="0" i="1" smtClean="0">
                                      <a:latin typeface="Cambria Math" panose="02040503050406030204" pitchFamily="18" charset="0"/>
                                    </a:rPr>
                                  </m:ctrlPr>
                                </m:radPr>
                                <m:deg/>
                                <m:e>
                                  <m:r>
                                    <a:rPr lang="fr-CA" b="0" i="1" smtClean="0">
                                      <a:latin typeface="Cambria Math" panose="02040503050406030204" pitchFamily="18" charset="0"/>
                                    </a:rPr>
                                    <m:t>𝑛</m:t>
                                  </m:r>
                                </m:e>
                              </m:rad>
                            </m:den>
                          </m:f>
                        </m:den>
                      </m:f>
                    </m:oMath>
                  </m:oMathPara>
                </a14:m>
                <a:endParaRPr lang="fr-CA" dirty="0"/>
              </a:p>
              <a:p>
                <a:r>
                  <a:rPr lang="fr-CA" dirty="0"/>
                  <a:t>Si l’hypothèse nulle est vraie, cette variable va prendre une valeur </a:t>
                </a:r>
                <a14:m>
                  <m:oMath xmlns:m="http://schemas.openxmlformats.org/officeDocument/2006/math">
                    <m:sSub>
                      <m:sSubPr>
                        <m:ctrlPr>
                          <a:rPr lang="fr-CA" i="1" smtClean="0">
                            <a:latin typeface="Cambria Math" panose="02040503050406030204" pitchFamily="18" charset="0"/>
                          </a:rPr>
                        </m:ctrlPr>
                      </m:sSubPr>
                      <m:e>
                        <m:r>
                          <a:rPr lang="fr-CA" b="0" i="1" smtClean="0">
                            <a:latin typeface="Cambria Math" panose="02040503050406030204" pitchFamily="18" charset="0"/>
                          </a:rPr>
                          <m:t>𝑡</m:t>
                        </m:r>
                      </m:e>
                      <m:sub>
                        <m:r>
                          <a:rPr lang="fr-CA" b="0" i="1" smtClean="0">
                            <a:latin typeface="Cambria Math" panose="02040503050406030204" pitchFamily="18" charset="0"/>
                          </a:rPr>
                          <m:t>0</m:t>
                        </m:r>
                      </m:sub>
                    </m:sSub>
                    <m:r>
                      <a:rPr lang="fr-CA" b="0" i="1" smtClean="0">
                        <a:latin typeface="Cambria Math" panose="02040503050406030204" pitchFamily="18" charset="0"/>
                      </a:rPr>
                      <m:t>=</m:t>
                    </m:r>
                    <m:f>
                      <m:fPr>
                        <m:ctrlPr>
                          <a:rPr lang="fr-CA" b="0" i="1" smtClean="0">
                            <a:latin typeface="Cambria Math" panose="02040503050406030204" pitchFamily="18" charset="0"/>
                          </a:rPr>
                        </m:ctrlPr>
                      </m:fPr>
                      <m:num>
                        <m:acc>
                          <m:accPr>
                            <m:chr m:val="̅"/>
                            <m:ctrlPr>
                              <a:rPr lang="fr-CA" b="0" i="1" smtClean="0">
                                <a:latin typeface="Cambria Math" panose="02040503050406030204" pitchFamily="18" charset="0"/>
                              </a:rPr>
                            </m:ctrlPr>
                          </m:accPr>
                          <m:e>
                            <m:r>
                              <a:rPr lang="fr-CA" b="0" i="1" smtClean="0">
                                <a:latin typeface="Cambria Math" panose="02040503050406030204" pitchFamily="18" charset="0"/>
                              </a:rPr>
                              <m:t>𝑑</m:t>
                            </m:r>
                          </m:e>
                        </m:acc>
                      </m:num>
                      <m:den>
                        <m:f>
                          <m:fPr>
                            <m:ctrlPr>
                              <a:rPr lang="fr-CA" b="0" i="1" smtClean="0">
                                <a:latin typeface="Cambria Math" panose="02040503050406030204" pitchFamily="18" charset="0"/>
                              </a:rPr>
                            </m:ctrlPr>
                          </m:fPr>
                          <m:num>
                            <m:sSub>
                              <m:sSubPr>
                                <m:ctrlPr>
                                  <a:rPr lang="fr-CA" b="0" i="1" smtClean="0">
                                    <a:latin typeface="Cambria Math" panose="02040503050406030204" pitchFamily="18" charset="0"/>
                                  </a:rPr>
                                </m:ctrlPr>
                              </m:sSubPr>
                              <m:e>
                                <m:r>
                                  <a:rPr lang="fr-CA" b="0" i="1" smtClean="0">
                                    <a:latin typeface="Cambria Math" panose="02040503050406030204" pitchFamily="18" charset="0"/>
                                  </a:rPr>
                                  <m:t>𝑠</m:t>
                                </m:r>
                              </m:e>
                              <m:sub>
                                <m:r>
                                  <a:rPr lang="fr-CA" b="0" i="1" smtClean="0">
                                    <a:latin typeface="Cambria Math" panose="02040503050406030204" pitchFamily="18" charset="0"/>
                                  </a:rPr>
                                  <m:t>𝐷</m:t>
                                </m:r>
                              </m:sub>
                            </m:sSub>
                          </m:num>
                          <m:den>
                            <m:rad>
                              <m:radPr>
                                <m:degHide m:val="on"/>
                                <m:ctrlPr>
                                  <a:rPr lang="fr-CA" b="0" i="1" smtClean="0">
                                    <a:latin typeface="Cambria Math" panose="02040503050406030204" pitchFamily="18" charset="0"/>
                                  </a:rPr>
                                </m:ctrlPr>
                              </m:radPr>
                              <m:deg/>
                              <m:e>
                                <m:r>
                                  <a:rPr lang="fr-CA" b="0" i="1" smtClean="0">
                                    <a:latin typeface="Cambria Math" panose="02040503050406030204" pitchFamily="18" charset="0"/>
                                  </a:rPr>
                                  <m:t>𝑛</m:t>
                                </m:r>
                              </m:e>
                            </m:rad>
                          </m:den>
                        </m:f>
                      </m:den>
                    </m:f>
                  </m:oMath>
                </a14:m>
                <a:r>
                  <a:rPr lang="fr-CA" dirty="0"/>
                  <a:t>    et on procède exactement comme dans le cas de test d’hypothèses sur une seule moyenne.</a:t>
                </a:r>
              </a:p>
              <a:p>
                <a:endParaRPr lang="fr-CA" dirty="0"/>
              </a:p>
              <a:p>
                <a:endParaRPr lang="fr-CA" dirty="0"/>
              </a:p>
              <a:p>
                <a:pPr marL="342900" indent="-342900">
                  <a:buFont typeface="+mj-lt"/>
                  <a:buAutoNum type="arabicPeriod"/>
                </a:pPr>
                <a:endParaRPr lang="fr-CA" dirty="0"/>
              </a:p>
            </p:txBody>
          </p:sp>
        </mc:Choice>
        <mc:Fallback xmlns="">
          <p:sp>
            <p:nvSpPr>
              <p:cNvPr id="6" name="ZoneTexte 5">
                <a:extLst>
                  <a:ext uri="{FF2B5EF4-FFF2-40B4-BE49-F238E27FC236}">
                    <a16:creationId xmlns:a16="http://schemas.microsoft.com/office/drawing/2014/main" id="{18657456-826C-4AE8-9683-4ECF6785A4E4}"/>
                  </a:ext>
                </a:extLst>
              </p:cNvPr>
              <p:cNvSpPr txBox="1">
                <a:spLocks noRot="1" noChangeAspect="1" noMove="1" noResize="1" noEditPoints="1" noAdjustHandles="1" noChangeArrowheads="1" noChangeShapeType="1" noTextEdit="1"/>
              </p:cNvSpPr>
              <p:nvPr/>
            </p:nvSpPr>
            <p:spPr>
              <a:xfrm>
                <a:off x="349624" y="2097741"/>
                <a:ext cx="11228294" cy="5067862"/>
              </a:xfrm>
              <a:prstGeom prst="rect">
                <a:avLst/>
              </a:prstGeom>
              <a:blipFill>
                <a:blip r:embed="rId2"/>
                <a:stretch>
                  <a:fillRect l="-434" t="-602" r="-271"/>
                </a:stretch>
              </a:blipFill>
            </p:spPr>
            <p:txBody>
              <a:bodyPr/>
              <a:lstStyle/>
              <a:p>
                <a:r>
                  <a:rPr lang="fr-CA">
                    <a:noFill/>
                  </a:rPr>
                  <a:t> </a:t>
                </a:r>
              </a:p>
            </p:txBody>
          </p:sp>
        </mc:Fallback>
      </mc:AlternateContent>
    </p:spTree>
    <p:extLst>
      <p:ext uri="{BB962C8B-B14F-4D97-AF65-F5344CB8AC3E}">
        <p14:creationId xmlns:p14="http://schemas.microsoft.com/office/powerpoint/2010/main" val="222035845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6" name="Rectangle 9">
            <a:extLst>
              <a:ext uri="{FF2B5EF4-FFF2-40B4-BE49-F238E27FC236}">
                <a16:creationId xmlns:a16="http://schemas.microsoft.com/office/drawing/2014/main" id="{50CEED20-A22C-4FC3-BC0E-F4FE53FDEB9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re 1">
            <a:extLst>
              <a:ext uri="{FF2B5EF4-FFF2-40B4-BE49-F238E27FC236}">
                <a16:creationId xmlns:a16="http://schemas.microsoft.com/office/drawing/2014/main" id="{EABAF28B-2F1E-4860-82C5-3854F1119DFF}"/>
              </a:ext>
            </a:extLst>
          </p:cNvPr>
          <p:cNvSpPr>
            <a:spLocks noGrp="1"/>
          </p:cNvSpPr>
          <p:nvPr>
            <p:ph type="title"/>
          </p:nvPr>
        </p:nvSpPr>
        <p:spPr>
          <a:xfrm>
            <a:off x="1113810" y="2825248"/>
            <a:ext cx="4036334" cy="2387600"/>
          </a:xfrm>
        </p:spPr>
        <p:txBody>
          <a:bodyPr vert="horz" lIns="91440" tIns="45720" rIns="91440" bIns="45720" rtlCol="0" anchor="t">
            <a:normAutofit fontScale="90000"/>
          </a:bodyPr>
          <a:lstStyle/>
          <a:p>
            <a:r>
              <a:rPr lang="en-US" sz="1400" b="1" kern="1200" dirty="0" err="1">
                <a:solidFill>
                  <a:schemeClr val="tx1"/>
                </a:solidFill>
                <a:latin typeface="+mj-lt"/>
                <a:ea typeface="+mj-ea"/>
                <a:cs typeface="+mj-cs"/>
              </a:rPr>
              <a:t>Exemple</a:t>
            </a:r>
            <a:r>
              <a:rPr lang="en-US" sz="1400" b="1" kern="1200" dirty="0">
                <a:solidFill>
                  <a:schemeClr val="tx1"/>
                </a:solidFill>
                <a:latin typeface="+mj-lt"/>
                <a:ea typeface="+mj-ea"/>
                <a:cs typeface="+mj-cs"/>
              </a:rPr>
              <a:t> 1</a:t>
            </a:r>
            <a:r>
              <a:rPr lang="en-US" sz="1400" kern="1200" dirty="0">
                <a:solidFill>
                  <a:schemeClr val="tx1"/>
                </a:solidFill>
                <a:latin typeface="+mj-lt"/>
                <a:ea typeface="+mj-ea"/>
                <a:cs typeface="+mj-cs"/>
              </a:rPr>
              <a:t>: </a:t>
            </a:r>
            <a:r>
              <a:rPr lang="fr-CA" sz="2000" kern="1200" dirty="0">
                <a:solidFill>
                  <a:schemeClr val="tx1"/>
                </a:solidFill>
                <a:effectLst/>
                <a:latin typeface="+mj-lt"/>
                <a:ea typeface="+mj-ea"/>
                <a:cs typeface="+mj-cs"/>
              </a:rPr>
              <a:t>des adultes de sexe masculin âgés de 35 ans à 50 ans ont participé à une étude pour évaluer l’effet de l’exercice physique sur le taux de cholestérol. Ce taux a été mesuré sur chaque sujet avant et après un programme d’exercice aérobique. Peut-on dire que le programme a été efficace pour réduire le taux moyen de cholestérol ?</a:t>
            </a:r>
            <a:br>
              <a:rPr lang="fr-CA" sz="2000" kern="1200" dirty="0">
                <a:solidFill>
                  <a:schemeClr val="tx1"/>
                </a:solidFill>
                <a:effectLst/>
                <a:latin typeface="+mj-lt"/>
                <a:ea typeface="+mj-ea"/>
                <a:cs typeface="+mj-cs"/>
              </a:rPr>
            </a:br>
            <a:r>
              <a:rPr lang="fr-CA" sz="2000" kern="1200" dirty="0">
                <a:solidFill>
                  <a:schemeClr val="tx1"/>
                </a:solidFill>
                <a:effectLst/>
                <a:latin typeface="+mj-lt"/>
                <a:ea typeface="+mj-ea"/>
                <a:cs typeface="+mj-cs"/>
              </a:rPr>
              <a:t>Utilisez un seuil de signification de 5 %.</a:t>
            </a:r>
            <a:br>
              <a:rPr lang="fr-CA" sz="2000" kern="1200" dirty="0">
                <a:solidFill>
                  <a:schemeClr val="tx1"/>
                </a:solidFill>
                <a:effectLst/>
                <a:latin typeface="+mj-lt"/>
                <a:ea typeface="+mj-ea"/>
                <a:cs typeface="+mj-cs"/>
              </a:rPr>
            </a:br>
            <a:r>
              <a:rPr lang="fr-CA" sz="2000" kern="1200" dirty="0">
                <a:solidFill>
                  <a:schemeClr val="tx1"/>
                </a:solidFill>
                <a:effectLst/>
                <a:latin typeface="+mj-lt"/>
                <a:ea typeface="+mj-ea"/>
                <a:cs typeface="+mj-cs"/>
              </a:rPr>
              <a:t>Les données obtenues sont indiquées ci-contre</a:t>
            </a:r>
            <a:br>
              <a:rPr lang="en-US" sz="1400" kern="1200" dirty="0">
                <a:solidFill>
                  <a:schemeClr val="tx1"/>
                </a:solidFill>
                <a:effectLst/>
                <a:latin typeface="+mj-lt"/>
                <a:ea typeface="+mj-ea"/>
                <a:cs typeface="+mj-cs"/>
              </a:rPr>
            </a:br>
            <a:endParaRPr lang="en-US" sz="1400" kern="1200" dirty="0">
              <a:solidFill>
                <a:schemeClr val="tx1"/>
              </a:solidFill>
              <a:latin typeface="+mj-lt"/>
              <a:ea typeface="+mj-ea"/>
              <a:cs typeface="+mj-cs"/>
            </a:endParaRPr>
          </a:p>
        </p:txBody>
      </p:sp>
      <p:grpSp>
        <p:nvGrpSpPr>
          <p:cNvPr id="18" name="Group 11">
            <a:extLst>
              <a:ext uri="{FF2B5EF4-FFF2-40B4-BE49-F238E27FC236}">
                <a16:creationId xmlns:a16="http://schemas.microsoft.com/office/drawing/2014/main" id="{032D8612-31EB-44CF-A1D0-14FD4C705424}"/>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2849524"/>
            <a:ext cx="731521" cy="673460"/>
            <a:chOff x="3940602" y="308034"/>
            <a:chExt cx="2116791" cy="3428999"/>
          </a:xfrm>
          <a:solidFill>
            <a:schemeClr val="accent4"/>
          </a:solidFill>
        </p:grpSpPr>
        <p:sp>
          <p:nvSpPr>
            <p:cNvPr id="13" name="Rectangle 12">
              <a:extLst>
                <a:ext uri="{FF2B5EF4-FFF2-40B4-BE49-F238E27FC236}">
                  <a16:creationId xmlns:a16="http://schemas.microsoft.com/office/drawing/2014/main" id="{F19A4A0F-1B59-4DB0-9764-D10936E9877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940602" y="308034"/>
              <a:ext cx="566743" cy="34289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F399A70F-F8CD-4992-9EF5-6CF15472E73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715626" y="308034"/>
              <a:ext cx="566743" cy="34289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4">
              <a:extLst>
                <a:ext uri="{FF2B5EF4-FFF2-40B4-BE49-F238E27FC236}">
                  <a16:creationId xmlns:a16="http://schemas.microsoft.com/office/drawing/2014/main" id="{48F4FEDC-6D80-458C-A665-075D9B9500F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490650" y="308034"/>
              <a:ext cx="566743" cy="34289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17" name="Rectangle 16">
            <a:extLst>
              <a:ext uri="{FF2B5EF4-FFF2-40B4-BE49-F238E27FC236}">
                <a16:creationId xmlns:a16="http://schemas.microsoft.com/office/drawing/2014/main" id="{19C9EAEA-39D0-4B0E-A0EB-51E7B26740B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685810" y="679732"/>
            <a:ext cx="6009366" cy="5423880"/>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Rectangle 18">
            <a:extLst>
              <a:ext uri="{FF2B5EF4-FFF2-40B4-BE49-F238E27FC236}">
                <a16:creationId xmlns:a16="http://schemas.microsoft.com/office/drawing/2014/main" id="{3873B707-463F-40B0-8227-E8CC6C67EB2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5687568" y="6355073"/>
            <a:ext cx="6007608" cy="45719"/>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Espace réservé du pied de page 2">
            <a:extLst>
              <a:ext uri="{FF2B5EF4-FFF2-40B4-BE49-F238E27FC236}">
                <a16:creationId xmlns:a16="http://schemas.microsoft.com/office/drawing/2014/main" id="{00352823-8917-4335-9EE9-BF608BD31AB6}"/>
              </a:ext>
            </a:extLst>
          </p:cNvPr>
          <p:cNvSpPr>
            <a:spLocks noGrp="1"/>
          </p:cNvSpPr>
          <p:nvPr>
            <p:ph type="ftr" sz="quarter" idx="11"/>
          </p:nvPr>
        </p:nvSpPr>
        <p:spPr>
          <a:xfrm>
            <a:off x="5685809" y="6492240"/>
            <a:ext cx="4156459" cy="365125"/>
          </a:xfrm>
        </p:spPr>
        <p:txBody>
          <a:bodyPr vert="horz" lIns="91440" tIns="45720" rIns="91440" bIns="45720" rtlCol="0" anchor="ctr">
            <a:normAutofit/>
          </a:bodyPr>
          <a:lstStyle/>
          <a:p>
            <a:pPr algn="l" defTabSz="914400"/>
            <a:endParaRPr lang="en-US" sz="1200" kern="1200">
              <a:solidFill>
                <a:schemeClr val="tx1">
                  <a:tint val="75000"/>
                </a:schemeClr>
              </a:solidFill>
              <a:latin typeface="+mn-lt"/>
              <a:ea typeface="+mn-ea"/>
              <a:cs typeface="+mn-cs"/>
            </a:endParaRPr>
          </a:p>
        </p:txBody>
      </p:sp>
      <p:sp>
        <p:nvSpPr>
          <p:cNvPr id="4" name="Espace réservé du numéro de diapositive 3">
            <a:extLst>
              <a:ext uri="{FF2B5EF4-FFF2-40B4-BE49-F238E27FC236}">
                <a16:creationId xmlns:a16="http://schemas.microsoft.com/office/drawing/2014/main" id="{1C4490A0-86DB-4CA7-988C-4B324F88C0F3}"/>
              </a:ext>
            </a:extLst>
          </p:cNvPr>
          <p:cNvSpPr>
            <a:spLocks noGrp="1"/>
          </p:cNvSpPr>
          <p:nvPr>
            <p:ph type="sldNum" sz="quarter" idx="12"/>
          </p:nvPr>
        </p:nvSpPr>
        <p:spPr>
          <a:xfrm>
            <a:off x="10324407" y="6492240"/>
            <a:ext cx="1134085" cy="365125"/>
          </a:xfrm>
        </p:spPr>
        <p:txBody>
          <a:bodyPr vert="horz" lIns="91440" tIns="45720" rIns="91440" bIns="45720" rtlCol="0" anchor="ctr">
            <a:normAutofit/>
          </a:bodyPr>
          <a:lstStyle/>
          <a:p>
            <a:pPr defTabSz="914400">
              <a:spcAft>
                <a:spcPts val="600"/>
              </a:spcAft>
            </a:pPr>
            <a:fld id="{26377AD9-CE17-438C-A638-C64D2D42D7CF}" type="slidenum">
              <a:rPr lang="en-US" smtClean="0"/>
              <a:pPr defTabSz="914400">
                <a:spcAft>
                  <a:spcPts val="600"/>
                </a:spcAft>
              </a:pPr>
              <a:t>8</a:t>
            </a:fld>
            <a:endParaRPr lang="en-US"/>
          </a:p>
        </p:txBody>
      </p:sp>
      <p:graphicFrame>
        <p:nvGraphicFramePr>
          <p:cNvPr id="5" name="Tableau 4">
            <a:extLst>
              <a:ext uri="{FF2B5EF4-FFF2-40B4-BE49-F238E27FC236}">
                <a16:creationId xmlns:a16="http://schemas.microsoft.com/office/drawing/2014/main" id="{B1ECCCEB-61B6-40E0-9E6E-D2FDC3D8B8AB}"/>
              </a:ext>
            </a:extLst>
          </p:cNvPr>
          <p:cNvGraphicFramePr>
            <a:graphicFrameLocks noGrp="1"/>
          </p:cNvGraphicFramePr>
          <p:nvPr>
            <p:extLst>
              <p:ext uri="{D42A27DB-BD31-4B8C-83A1-F6EECF244321}">
                <p14:modId xmlns:p14="http://schemas.microsoft.com/office/powerpoint/2010/main" val="4262455946"/>
              </p:ext>
            </p:extLst>
          </p:nvPr>
        </p:nvGraphicFramePr>
        <p:xfrm>
          <a:off x="5922492" y="2412534"/>
          <a:ext cx="5536007" cy="1958277"/>
        </p:xfrm>
        <a:graphic>
          <a:graphicData uri="http://schemas.openxmlformats.org/drawingml/2006/table">
            <a:tbl>
              <a:tblPr firstRow="1" bandRow="1">
                <a:tableStyleId>{5C22544A-7EE6-4342-B048-85BDC9FD1C3A}</a:tableStyleId>
              </a:tblPr>
              <a:tblGrid>
                <a:gridCol w="637287">
                  <a:extLst>
                    <a:ext uri="{9D8B030D-6E8A-4147-A177-3AD203B41FA5}">
                      <a16:colId xmlns:a16="http://schemas.microsoft.com/office/drawing/2014/main" val="358400192"/>
                    </a:ext>
                  </a:extLst>
                </a:gridCol>
                <a:gridCol w="489872">
                  <a:extLst>
                    <a:ext uri="{9D8B030D-6E8A-4147-A177-3AD203B41FA5}">
                      <a16:colId xmlns:a16="http://schemas.microsoft.com/office/drawing/2014/main" val="618002679"/>
                    </a:ext>
                  </a:extLst>
                </a:gridCol>
                <a:gridCol w="489872">
                  <a:extLst>
                    <a:ext uri="{9D8B030D-6E8A-4147-A177-3AD203B41FA5}">
                      <a16:colId xmlns:a16="http://schemas.microsoft.com/office/drawing/2014/main" val="553943038"/>
                    </a:ext>
                  </a:extLst>
                </a:gridCol>
                <a:gridCol w="489872">
                  <a:extLst>
                    <a:ext uri="{9D8B030D-6E8A-4147-A177-3AD203B41FA5}">
                      <a16:colId xmlns:a16="http://schemas.microsoft.com/office/drawing/2014/main" val="744055501"/>
                    </a:ext>
                  </a:extLst>
                </a:gridCol>
                <a:gridCol w="489872">
                  <a:extLst>
                    <a:ext uri="{9D8B030D-6E8A-4147-A177-3AD203B41FA5}">
                      <a16:colId xmlns:a16="http://schemas.microsoft.com/office/drawing/2014/main" val="2754362827"/>
                    </a:ext>
                  </a:extLst>
                </a:gridCol>
                <a:gridCol w="489872">
                  <a:extLst>
                    <a:ext uri="{9D8B030D-6E8A-4147-A177-3AD203B41FA5}">
                      <a16:colId xmlns:a16="http://schemas.microsoft.com/office/drawing/2014/main" val="177025402"/>
                    </a:ext>
                  </a:extLst>
                </a:gridCol>
                <a:gridCol w="489872">
                  <a:extLst>
                    <a:ext uri="{9D8B030D-6E8A-4147-A177-3AD203B41FA5}">
                      <a16:colId xmlns:a16="http://schemas.microsoft.com/office/drawing/2014/main" val="1634426562"/>
                    </a:ext>
                  </a:extLst>
                </a:gridCol>
                <a:gridCol w="489872">
                  <a:extLst>
                    <a:ext uri="{9D8B030D-6E8A-4147-A177-3AD203B41FA5}">
                      <a16:colId xmlns:a16="http://schemas.microsoft.com/office/drawing/2014/main" val="1493936987"/>
                    </a:ext>
                  </a:extLst>
                </a:gridCol>
                <a:gridCol w="489872">
                  <a:extLst>
                    <a:ext uri="{9D8B030D-6E8A-4147-A177-3AD203B41FA5}">
                      <a16:colId xmlns:a16="http://schemas.microsoft.com/office/drawing/2014/main" val="323229825"/>
                    </a:ext>
                  </a:extLst>
                </a:gridCol>
                <a:gridCol w="489872">
                  <a:extLst>
                    <a:ext uri="{9D8B030D-6E8A-4147-A177-3AD203B41FA5}">
                      <a16:colId xmlns:a16="http://schemas.microsoft.com/office/drawing/2014/main" val="852669338"/>
                    </a:ext>
                  </a:extLst>
                </a:gridCol>
                <a:gridCol w="489872">
                  <a:extLst>
                    <a:ext uri="{9D8B030D-6E8A-4147-A177-3AD203B41FA5}">
                      <a16:colId xmlns:a16="http://schemas.microsoft.com/office/drawing/2014/main" val="1556696669"/>
                    </a:ext>
                  </a:extLst>
                </a:gridCol>
              </a:tblGrid>
              <a:tr h="527368">
                <a:tc gridSpan="11">
                  <a:txBody>
                    <a:bodyPr/>
                    <a:lstStyle/>
                    <a:p>
                      <a:pPr algn="ctr">
                        <a:lnSpc>
                          <a:spcPts val="1200"/>
                        </a:lnSpc>
                        <a:spcAft>
                          <a:spcPts val="800"/>
                        </a:spcAft>
                      </a:pPr>
                      <a:r>
                        <a:rPr lang="fr-CA" sz="1200">
                          <a:effectLst/>
                        </a:rPr>
                        <a:t>Taux de cholestérol de 10 sujets avant et après un programme d’exercice aérobique</a:t>
                      </a:r>
                      <a:endParaRPr lang="fr-CA" sz="120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0478" marR="60478" marT="60478" marB="60478" anchor="ctr"/>
                </a:tc>
                <a:tc hMerge="1">
                  <a:txBody>
                    <a:bodyPr/>
                    <a:lstStyle/>
                    <a:p>
                      <a:endParaRPr lang="fr-CA"/>
                    </a:p>
                  </a:txBody>
                  <a:tcPr/>
                </a:tc>
                <a:tc hMerge="1">
                  <a:txBody>
                    <a:bodyPr/>
                    <a:lstStyle/>
                    <a:p>
                      <a:endParaRPr lang="fr-CA"/>
                    </a:p>
                  </a:txBody>
                  <a:tcPr/>
                </a:tc>
                <a:tc hMerge="1">
                  <a:txBody>
                    <a:bodyPr/>
                    <a:lstStyle/>
                    <a:p>
                      <a:endParaRPr lang="fr-CA"/>
                    </a:p>
                  </a:txBody>
                  <a:tcPr/>
                </a:tc>
                <a:tc hMerge="1">
                  <a:txBody>
                    <a:bodyPr/>
                    <a:lstStyle/>
                    <a:p>
                      <a:endParaRPr lang="fr-CA"/>
                    </a:p>
                  </a:txBody>
                  <a:tcPr/>
                </a:tc>
                <a:tc hMerge="1">
                  <a:txBody>
                    <a:bodyPr/>
                    <a:lstStyle/>
                    <a:p>
                      <a:endParaRPr lang="fr-CA"/>
                    </a:p>
                  </a:txBody>
                  <a:tcPr/>
                </a:tc>
                <a:tc hMerge="1">
                  <a:txBody>
                    <a:bodyPr/>
                    <a:lstStyle/>
                    <a:p>
                      <a:endParaRPr lang="fr-CA"/>
                    </a:p>
                  </a:txBody>
                  <a:tcPr/>
                </a:tc>
                <a:tc hMerge="1">
                  <a:txBody>
                    <a:bodyPr/>
                    <a:lstStyle/>
                    <a:p>
                      <a:endParaRPr lang="fr-CA"/>
                    </a:p>
                  </a:txBody>
                  <a:tcPr/>
                </a:tc>
                <a:tc hMerge="1">
                  <a:txBody>
                    <a:bodyPr/>
                    <a:lstStyle/>
                    <a:p>
                      <a:endParaRPr lang="fr-CA"/>
                    </a:p>
                  </a:txBody>
                  <a:tcPr/>
                </a:tc>
                <a:tc hMerge="1">
                  <a:txBody>
                    <a:bodyPr/>
                    <a:lstStyle/>
                    <a:p>
                      <a:endParaRPr lang="fr-CA"/>
                    </a:p>
                  </a:txBody>
                  <a:tcPr/>
                </a:tc>
                <a:tc hMerge="1">
                  <a:txBody>
                    <a:bodyPr/>
                    <a:lstStyle/>
                    <a:p>
                      <a:endParaRPr lang="fr-CA"/>
                    </a:p>
                  </a:txBody>
                  <a:tcPr/>
                </a:tc>
                <a:extLst>
                  <a:ext uri="{0D108BD9-81ED-4DB2-BD59-A6C34878D82A}">
                    <a16:rowId xmlns:a16="http://schemas.microsoft.com/office/drawing/2014/main" val="3497549982"/>
                  </a:ext>
                </a:extLst>
              </a:tr>
              <a:tr h="345934">
                <a:tc>
                  <a:txBody>
                    <a:bodyPr/>
                    <a:lstStyle/>
                    <a:p>
                      <a:pPr algn="ctr">
                        <a:lnSpc>
                          <a:spcPts val="1200"/>
                        </a:lnSpc>
                        <a:spcAft>
                          <a:spcPts val="1000"/>
                        </a:spcAft>
                      </a:pPr>
                      <a:r>
                        <a:rPr lang="fr-FR" sz="1200">
                          <a:effectLst/>
                        </a:rPr>
                        <a:t>Sujet</a:t>
                      </a:r>
                      <a:endParaRPr lang="fr-CA" sz="1200" b="1">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0478" marR="60478" marT="60478" marB="60478" anchor="ctr"/>
                </a:tc>
                <a:tc>
                  <a:txBody>
                    <a:bodyPr/>
                    <a:lstStyle/>
                    <a:p>
                      <a:pPr algn="ctr">
                        <a:lnSpc>
                          <a:spcPts val="1200"/>
                        </a:lnSpc>
                        <a:spcAft>
                          <a:spcPts val="1000"/>
                        </a:spcAft>
                      </a:pPr>
                      <a:r>
                        <a:rPr lang="fr-FR" sz="1200">
                          <a:effectLst/>
                        </a:rPr>
                        <a:t>1</a:t>
                      </a:r>
                      <a:endParaRPr lang="fr-CA" sz="1200" b="1">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0478" marR="60478" marT="60478" marB="60478" anchor="ctr"/>
                </a:tc>
                <a:tc>
                  <a:txBody>
                    <a:bodyPr/>
                    <a:lstStyle/>
                    <a:p>
                      <a:pPr algn="ctr">
                        <a:lnSpc>
                          <a:spcPts val="1200"/>
                        </a:lnSpc>
                        <a:spcAft>
                          <a:spcPts val="1000"/>
                        </a:spcAft>
                      </a:pPr>
                      <a:r>
                        <a:rPr lang="fr-FR" sz="1200">
                          <a:effectLst/>
                        </a:rPr>
                        <a:t>2</a:t>
                      </a:r>
                      <a:endParaRPr lang="fr-CA" sz="1200" b="1">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0478" marR="60478" marT="60478" marB="60478" anchor="ctr"/>
                </a:tc>
                <a:tc>
                  <a:txBody>
                    <a:bodyPr/>
                    <a:lstStyle/>
                    <a:p>
                      <a:pPr algn="ctr">
                        <a:lnSpc>
                          <a:spcPts val="1200"/>
                        </a:lnSpc>
                        <a:spcAft>
                          <a:spcPts val="1000"/>
                        </a:spcAft>
                      </a:pPr>
                      <a:r>
                        <a:rPr lang="fr-FR" sz="1200">
                          <a:effectLst/>
                        </a:rPr>
                        <a:t>3</a:t>
                      </a:r>
                      <a:endParaRPr lang="fr-CA" sz="1200" b="1">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0478" marR="60478" marT="60478" marB="60478" anchor="ctr"/>
                </a:tc>
                <a:tc>
                  <a:txBody>
                    <a:bodyPr/>
                    <a:lstStyle/>
                    <a:p>
                      <a:pPr algn="ctr">
                        <a:lnSpc>
                          <a:spcPts val="1200"/>
                        </a:lnSpc>
                        <a:spcAft>
                          <a:spcPts val="1000"/>
                        </a:spcAft>
                      </a:pPr>
                      <a:r>
                        <a:rPr lang="fr-FR" sz="1200">
                          <a:effectLst/>
                        </a:rPr>
                        <a:t>4</a:t>
                      </a:r>
                      <a:endParaRPr lang="fr-CA" sz="1200" b="1">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0478" marR="60478" marT="60478" marB="60478" anchor="ctr"/>
                </a:tc>
                <a:tc>
                  <a:txBody>
                    <a:bodyPr/>
                    <a:lstStyle/>
                    <a:p>
                      <a:pPr algn="ctr">
                        <a:lnSpc>
                          <a:spcPts val="1200"/>
                        </a:lnSpc>
                        <a:spcAft>
                          <a:spcPts val="1000"/>
                        </a:spcAft>
                      </a:pPr>
                      <a:r>
                        <a:rPr lang="fr-FR" sz="1200">
                          <a:effectLst/>
                        </a:rPr>
                        <a:t>5</a:t>
                      </a:r>
                      <a:endParaRPr lang="fr-CA" sz="1200" b="1">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0478" marR="60478" marT="60478" marB="60478" anchor="ctr"/>
                </a:tc>
                <a:tc>
                  <a:txBody>
                    <a:bodyPr/>
                    <a:lstStyle/>
                    <a:p>
                      <a:pPr algn="ctr">
                        <a:lnSpc>
                          <a:spcPts val="1200"/>
                        </a:lnSpc>
                        <a:spcAft>
                          <a:spcPts val="1000"/>
                        </a:spcAft>
                      </a:pPr>
                      <a:r>
                        <a:rPr lang="fr-FR" sz="1200">
                          <a:effectLst/>
                        </a:rPr>
                        <a:t>6</a:t>
                      </a:r>
                      <a:endParaRPr lang="fr-CA" sz="1200" b="1">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0478" marR="60478" marT="60478" marB="60478" anchor="ctr"/>
                </a:tc>
                <a:tc>
                  <a:txBody>
                    <a:bodyPr/>
                    <a:lstStyle/>
                    <a:p>
                      <a:pPr algn="ctr">
                        <a:lnSpc>
                          <a:spcPts val="1200"/>
                        </a:lnSpc>
                        <a:spcAft>
                          <a:spcPts val="1000"/>
                        </a:spcAft>
                      </a:pPr>
                      <a:r>
                        <a:rPr lang="fr-FR" sz="1200">
                          <a:effectLst/>
                        </a:rPr>
                        <a:t>7</a:t>
                      </a:r>
                      <a:endParaRPr lang="fr-CA" sz="1200" b="1">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0478" marR="60478" marT="60478" marB="60478" anchor="ctr"/>
                </a:tc>
                <a:tc>
                  <a:txBody>
                    <a:bodyPr/>
                    <a:lstStyle/>
                    <a:p>
                      <a:pPr algn="ctr">
                        <a:lnSpc>
                          <a:spcPts val="1200"/>
                        </a:lnSpc>
                        <a:spcAft>
                          <a:spcPts val="1000"/>
                        </a:spcAft>
                      </a:pPr>
                      <a:r>
                        <a:rPr lang="fr-FR" sz="1200">
                          <a:effectLst/>
                        </a:rPr>
                        <a:t>8</a:t>
                      </a:r>
                      <a:endParaRPr lang="fr-CA" sz="1200" b="1">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0478" marR="60478" marT="60478" marB="60478" anchor="ctr"/>
                </a:tc>
                <a:tc>
                  <a:txBody>
                    <a:bodyPr/>
                    <a:lstStyle/>
                    <a:p>
                      <a:pPr algn="ctr">
                        <a:lnSpc>
                          <a:spcPts val="1200"/>
                        </a:lnSpc>
                        <a:spcAft>
                          <a:spcPts val="1000"/>
                        </a:spcAft>
                      </a:pPr>
                      <a:r>
                        <a:rPr lang="fr-FR" sz="1200">
                          <a:effectLst/>
                        </a:rPr>
                        <a:t>9</a:t>
                      </a:r>
                      <a:endParaRPr lang="fr-CA" sz="1200" b="1">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0478" marR="60478" marT="60478" marB="60478" anchor="ctr"/>
                </a:tc>
                <a:tc>
                  <a:txBody>
                    <a:bodyPr/>
                    <a:lstStyle/>
                    <a:p>
                      <a:pPr algn="ctr">
                        <a:lnSpc>
                          <a:spcPts val="1200"/>
                        </a:lnSpc>
                        <a:spcAft>
                          <a:spcPts val="1000"/>
                        </a:spcAft>
                      </a:pPr>
                      <a:r>
                        <a:rPr lang="fr-FR" sz="1200">
                          <a:effectLst/>
                        </a:rPr>
                        <a:t>10</a:t>
                      </a:r>
                      <a:endParaRPr lang="fr-CA" sz="1200" b="1">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0478" marR="60478" marT="60478" marB="60478" anchor="ctr"/>
                </a:tc>
                <a:extLst>
                  <a:ext uri="{0D108BD9-81ED-4DB2-BD59-A6C34878D82A}">
                    <a16:rowId xmlns:a16="http://schemas.microsoft.com/office/drawing/2014/main" val="689607073"/>
                  </a:ext>
                </a:extLst>
              </a:tr>
              <a:tr h="527368">
                <a:tc>
                  <a:txBody>
                    <a:bodyPr/>
                    <a:lstStyle/>
                    <a:p>
                      <a:pPr algn="ctr">
                        <a:lnSpc>
                          <a:spcPts val="1200"/>
                        </a:lnSpc>
                        <a:spcAft>
                          <a:spcPts val="1000"/>
                        </a:spcAft>
                      </a:pPr>
                      <a:r>
                        <a:rPr lang="fr-FR" sz="1200">
                          <a:effectLst/>
                        </a:rPr>
                        <a:t>Avant (x</a:t>
                      </a:r>
                      <a:r>
                        <a:rPr lang="fr-FR" sz="1200" baseline="-25000">
                          <a:effectLst/>
                        </a:rPr>
                        <a:t>i</a:t>
                      </a:r>
                      <a:r>
                        <a:rPr lang="fr-FR" sz="1200">
                          <a:effectLst/>
                        </a:rPr>
                        <a:t>)</a:t>
                      </a:r>
                      <a:endParaRPr lang="fr-CA" sz="1200" b="1">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0478" marR="60478" marT="60478" marB="60478" anchor="ctr"/>
                </a:tc>
                <a:tc>
                  <a:txBody>
                    <a:bodyPr/>
                    <a:lstStyle/>
                    <a:p>
                      <a:pPr algn="ctr">
                        <a:lnSpc>
                          <a:spcPts val="1200"/>
                        </a:lnSpc>
                      </a:pPr>
                      <a:r>
                        <a:rPr lang="fr-FR" sz="1200">
                          <a:effectLst/>
                        </a:rPr>
                        <a:t>265</a:t>
                      </a:r>
                      <a:endParaRPr lang="fr-CA" sz="120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0478" marR="60478" marT="60478" marB="60478" anchor="ctr"/>
                </a:tc>
                <a:tc>
                  <a:txBody>
                    <a:bodyPr/>
                    <a:lstStyle/>
                    <a:p>
                      <a:pPr algn="ctr">
                        <a:lnSpc>
                          <a:spcPts val="1200"/>
                        </a:lnSpc>
                      </a:pPr>
                      <a:r>
                        <a:rPr lang="fr-FR" sz="1200">
                          <a:effectLst/>
                        </a:rPr>
                        <a:t>240</a:t>
                      </a:r>
                      <a:endParaRPr lang="fr-CA" sz="120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0478" marR="60478" marT="60478" marB="60478" anchor="ctr"/>
                </a:tc>
                <a:tc>
                  <a:txBody>
                    <a:bodyPr/>
                    <a:lstStyle/>
                    <a:p>
                      <a:pPr algn="ctr">
                        <a:lnSpc>
                          <a:spcPts val="1200"/>
                        </a:lnSpc>
                      </a:pPr>
                      <a:r>
                        <a:rPr lang="fr-FR" sz="1200">
                          <a:effectLst/>
                        </a:rPr>
                        <a:t>258</a:t>
                      </a:r>
                      <a:endParaRPr lang="fr-CA" sz="120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0478" marR="60478" marT="60478" marB="60478" anchor="ctr"/>
                </a:tc>
                <a:tc>
                  <a:txBody>
                    <a:bodyPr/>
                    <a:lstStyle/>
                    <a:p>
                      <a:pPr algn="ctr">
                        <a:lnSpc>
                          <a:spcPts val="1200"/>
                        </a:lnSpc>
                      </a:pPr>
                      <a:r>
                        <a:rPr lang="fr-FR" sz="1200">
                          <a:effectLst/>
                        </a:rPr>
                        <a:t>295</a:t>
                      </a:r>
                      <a:endParaRPr lang="fr-CA" sz="120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0478" marR="60478" marT="60478" marB="60478" anchor="ctr"/>
                </a:tc>
                <a:tc>
                  <a:txBody>
                    <a:bodyPr/>
                    <a:lstStyle/>
                    <a:p>
                      <a:pPr algn="ctr">
                        <a:lnSpc>
                          <a:spcPts val="1200"/>
                        </a:lnSpc>
                      </a:pPr>
                      <a:r>
                        <a:rPr lang="fr-FR" sz="1200">
                          <a:effectLst/>
                        </a:rPr>
                        <a:t>251</a:t>
                      </a:r>
                      <a:endParaRPr lang="fr-CA" sz="120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0478" marR="60478" marT="60478" marB="60478" anchor="ctr"/>
                </a:tc>
                <a:tc>
                  <a:txBody>
                    <a:bodyPr/>
                    <a:lstStyle/>
                    <a:p>
                      <a:pPr algn="ctr">
                        <a:lnSpc>
                          <a:spcPts val="1200"/>
                        </a:lnSpc>
                      </a:pPr>
                      <a:r>
                        <a:rPr lang="fr-FR" sz="1200">
                          <a:effectLst/>
                        </a:rPr>
                        <a:t>287</a:t>
                      </a:r>
                      <a:endParaRPr lang="fr-CA" sz="120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0478" marR="60478" marT="60478" marB="60478" anchor="ctr"/>
                </a:tc>
                <a:tc>
                  <a:txBody>
                    <a:bodyPr/>
                    <a:lstStyle/>
                    <a:p>
                      <a:pPr algn="ctr">
                        <a:lnSpc>
                          <a:spcPts val="1200"/>
                        </a:lnSpc>
                      </a:pPr>
                      <a:r>
                        <a:rPr lang="fr-FR" sz="1200">
                          <a:effectLst/>
                        </a:rPr>
                        <a:t>314</a:t>
                      </a:r>
                      <a:endParaRPr lang="fr-CA" sz="120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0478" marR="60478" marT="60478" marB="60478" anchor="ctr"/>
                </a:tc>
                <a:tc>
                  <a:txBody>
                    <a:bodyPr/>
                    <a:lstStyle/>
                    <a:p>
                      <a:pPr algn="ctr">
                        <a:lnSpc>
                          <a:spcPts val="1200"/>
                        </a:lnSpc>
                      </a:pPr>
                      <a:r>
                        <a:rPr lang="fr-FR" sz="1200">
                          <a:effectLst/>
                        </a:rPr>
                        <a:t>260</a:t>
                      </a:r>
                      <a:endParaRPr lang="fr-CA" sz="120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0478" marR="60478" marT="60478" marB="60478" anchor="ctr"/>
                </a:tc>
                <a:tc>
                  <a:txBody>
                    <a:bodyPr/>
                    <a:lstStyle/>
                    <a:p>
                      <a:pPr algn="ctr">
                        <a:lnSpc>
                          <a:spcPts val="1200"/>
                        </a:lnSpc>
                      </a:pPr>
                      <a:r>
                        <a:rPr lang="fr-FR" sz="1200">
                          <a:effectLst/>
                        </a:rPr>
                        <a:t>283</a:t>
                      </a:r>
                      <a:endParaRPr lang="fr-CA" sz="120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0478" marR="60478" marT="60478" marB="60478" anchor="ctr"/>
                </a:tc>
                <a:tc>
                  <a:txBody>
                    <a:bodyPr/>
                    <a:lstStyle/>
                    <a:p>
                      <a:pPr algn="ctr">
                        <a:lnSpc>
                          <a:spcPts val="1200"/>
                        </a:lnSpc>
                      </a:pPr>
                      <a:r>
                        <a:rPr lang="fr-FR" sz="1200">
                          <a:effectLst/>
                        </a:rPr>
                        <a:t>240</a:t>
                      </a:r>
                      <a:endParaRPr lang="fr-CA" sz="120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0478" marR="60478" marT="60478" marB="60478" anchor="ctr"/>
                </a:tc>
                <a:extLst>
                  <a:ext uri="{0D108BD9-81ED-4DB2-BD59-A6C34878D82A}">
                    <a16:rowId xmlns:a16="http://schemas.microsoft.com/office/drawing/2014/main" val="1513922351"/>
                  </a:ext>
                </a:extLst>
              </a:tr>
              <a:tr h="557607">
                <a:tc>
                  <a:txBody>
                    <a:bodyPr/>
                    <a:lstStyle/>
                    <a:p>
                      <a:pPr algn="ctr">
                        <a:lnSpc>
                          <a:spcPts val="1200"/>
                        </a:lnSpc>
                        <a:spcAft>
                          <a:spcPts val="1000"/>
                        </a:spcAft>
                      </a:pPr>
                      <a:r>
                        <a:rPr lang="fr-FR" sz="1200">
                          <a:effectLst/>
                        </a:rPr>
                        <a:t>Après (y</a:t>
                      </a:r>
                      <a:r>
                        <a:rPr lang="fr-FR" sz="1200" baseline="-25000">
                          <a:effectLst/>
                        </a:rPr>
                        <a:t>i</a:t>
                      </a:r>
                      <a:r>
                        <a:rPr lang="fr-FR" sz="1200">
                          <a:effectLst/>
                        </a:rPr>
                        <a:t>)</a:t>
                      </a:r>
                      <a:endParaRPr lang="fr-CA" sz="1200" b="1">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0478" marR="60478" marT="60478" marB="90717" anchor="ctr"/>
                </a:tc>
                <a:tc>
                  <a:txBody>
                    <a:bodyPr/>
                    <a:lstStyle/>
                    <a:p>
                      <a:pPr algn="ctr">
                        <a:lnSpc>
                          <a:spcPts val="1200"/>
                        </a:lnSpc>
                      </a:pPr>
                      <a:r>
                        <a:rPr lang="fr-FR" sz="1200">
                          <a:effectLst/>
                        </a:rPr>
                        <a:t>229</a:t>
                      </a:r>
                      <a:endParaRPr lang="fr-CA" sz="120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0478" marR="60478" marT="60478" marB="90717" anchor="ctr"/>
                </a:tc>
                <a:tc>
                  <a:txBody>
                    <a:bodyPr/>
                    <a:lstStyle/>
                    <a:p>
                      <a:pPr algn="ctr">
                        <a:lnSpc>
                          <a:spcPts val="1200"/>
                        </a:lnSpc>
                      </a:pPr>
                      <a:r>
                        <a:rPr lang="fr-FR" sz="1200">
                          <a:effectLst/>
                        </a:rPr>
                        <a:t>231</a:t>
                      </a:r>
                      <a:endParaRPr lang="fr-CA" sz="120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0478" marR="60478" marT="60478" marB="90717" anchor="ctr"/>
                </a:tc>
                <a:tc>
                  <a:txBody>
                    <a:bodyPr/>
                    <a:lstStyle/>
                    <a:p>
                      <a:pPr algn="ctr">
                        <a:lnSpc>
                          <a:spcPts val="1200"/>
                        </a:lnSpc>
                      </a:pPr>
                      <a:r>
                        <a:rPr lang="fr-FR" sz="1200">
                          <a:effectLst/>
                        </a:rPr>
                        <a:t>227</a:t>
                      </a:r>
                      <a:endParaRPr lang="fr-CA" sz="120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0478" marR="60478" marT="60478" marB="90717" anchor="ctr"/>
                </a:tc>
                <a:tc>
                  <a:txBody>
                    <a:bodyPr/>
                    <a:lstStyle/>
                    <a:p>
                      <a:pPr algn="ctr">
                        <a:lnSpc>
                          <a:spcPts val="1200"/>
                        </a:lnSpc>
                      </a:pPr>
                      <a:r>
                        <a:rPr lang="fr-FR" sz="1200">
                          <a:effectLst/>
                        </a:rPr>
                        <a:t>240</a:t>
                      </a:r>
                      <a:endParaRPr lang="fr-CA" sz="120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0478" marR="60478" marT="60478" marB="90717" anchor="ctr"/>
                </a:tc>
                <a:tc>
                  <a:txBody>
                    <a:bodyPr/>
                    <a:lstStyle/>
                    <a:p>
                      <a:pPr algn="ctr">
                        <a:lnSpc>
                          <a:spcPts val="1200"/>
                        </a:lnSpc>
                      </a:pPr>
                      <a:r>
                        <a:rPr lang="fr-FR" sz="1200">
                          <a:effectLst/>
                        </a:rPr>
                        <a:t>238</a:t>
                      </a:r>
                      <a:endParaRPr lang="fr-CA" sz="120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0478" marR="60478" marT="60478" marB="90717" anchor="ctr"/>
                </a:tc>
                <a:tc>
                  <a:txBody>
                    <a:bodyPr/>
                    <a:lstStyle/>
                    <a:p>
                      <a:pPr algn="ctr">
                        <a:lnSpc>
                          <a:spcPts val="1200"/>
                        </a:lnSpc>
                      </a:pPr>
                      <a:r>
                        <a:rPr lang="fr-FR" sz="1200">
                          <a:effectLst/>
                        </a:rPr>
                        <a:t>234</a:t>
                      </a:r>
                      <a:endParaRPr lang="fr-CA" sz="120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0478" marR="60478" marT="60478" marB="90717" anchor="ctr"/>
                </a:tc>
                <a:tc>
                  <a:txBody>
                    <a:bodyPr/>
                    <a:lstStyle/>
                    <a:p>
                      <a:pPr algn="ctr">
                        <a:lnSpc>
                          <a:spcPts val="1200"/>
                        </a:lnSpc>
                      </a:pPr>
                      <a:r>
                        <a:rPr lang="fr-FR" sz="1200">
                          <a:effectLst/>
                        </a:rPr>
                        <a:t>256</a:t>
                      </a:r>
                      <a:endParaRPr lang="fr-CA" sz="120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0478" marR="60478" marT="60478" marB="90717" anchor="ctr"/>
                </a:tc>
                <a:tc>
                  <a:txBody>
                    <a:bodyPr/>
                    <a:lstStyle/>
                    <a:p>
                      <a:pPr algn="ctr">
                        <a:lnSpc>
                          <a:spcPts val="1200"/>
                        </a:lnSpc>
                      </a:pPr>
                      <a:r>
                        <a:rPr lang="fr-FR" sz="1200">
                          <a:effectLst/>
                        </a:rPr>
                        <a:t>247</a:t>
                      </a:r>
                      <a:endParaRPr lang="fr-CA" sz="120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0478" marR="60478" marT="60478" marB="90717" anchor="ctr"/>
                </a:tc>
                <a:tc>
                  <a:txBody>
                    <a:bodyPr/>
                    <a:lstStyle/>
                    <a:p>
                      <a:pPr algn="ctr">
                        <a:lnSpc>
                          <a:spcPts val="1200"/>
                        </a:lnSpc>
                      </a:pPr>
                      <a:r>
                        <a:rPr lang="fr-FR" sz="1200">
                          <a:effectLst/>
                        </a:rPr>
                        <a:t>246</a:t>
                      </a:r>
                      <a:endParaRPr lang="fr-CA" sz="120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0478" marR="60478" marT="60478" marB="90717" anchor="ctr"/>
                </a:tc>
                <a:tc>
                  <a:txBody>
                    <a:bodyPr/>
                    <a:lstStyle/>
                    <a:p>
                      <a:pPr algn="ctr">
                        <a:lnSpc>
                          <a:spcPts val="1200"/>
                        </a:lnSpc>
                      </a:pPr>
                      <a:r>
                        <a:rPr lang="fr-FR" sz="1200">
                          <a:effectLst/>
                        </a:rPr>
                        <a:t>218</a:t>
                      </a:r>
                      <a:endParaRPr lang="fr-CA" sz="120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0478" marR="60478" marT="60478" marB="90717" anchor="ctr"/>
                </a:tc>
                <a:extLst>
                  <a:ext uri="{0D108BD9-81ED-4DB2-BD59-A6C34878D82A}">
                    <a16:rowId xmlns:a16="http://schemas.microsoft.com/office/drawing/2014/main" val="664262733"/>
                  </a:ext>
                </a:extLst>
              </a:tr>
            </a:tbl>
          </a:graphicData>
        </a:graphic>
      </p:graphicFrame>
    </p:spTree>
    <p:extLst>
      <p:ext uri="{BB962C8B-B14F-4D97-AF65-F5344CB8AC3E}">
        <p14:creationId xmlns:p14="http://schemas.microsoft.com/office/powerpoint/2010/main" val="91179522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FE18EE6C-1780-4675-8011-121E5F71791D}"/>
              </a:ext>
            </a:extLst>
          </p:cNvPr>
          <p:cNvSpPr>
            <a:spLocks noGrp="1"/>
          </p:cNvSpPr>
          <p:nvPr>
            <p:ph type="title"/>
          </p:nvPr>
        </p:nvSpPr>
        <p:spPr/>
        <p:txBody>
          <a:bodyPr>
            <a:normAutofit fontScale="90000"/>
          </a:bodyPr>
          <a:lstStyle/>
          <a:p>
            <a:r>
              <a:rPr lang="fr-CA" dirty="0"/>
              <a:t>Méthode 1: L’usage de la région de rejet</a:t>
            </a:r>
            <a:br>
              <a:rPr lang="fr-CA" dirty="0"/>
            </a:br>
            <a:r>
              <a:rPr lang="fr-CA" dirty="0"/>
              <a:t>On ajoute au tableau une ligne dans laquelle on met les différences.</a:t>
            </a:r>
          </a:p>
        </p:txBody>
      </p:sp>
      <p:sp>
        <p:nvSpPr>
          <p:cNvPr id="3" name="Espace réservé du pied de page 2">
            <a:extLst>
              <a:ext uri="{FF2B5EF4-FFF2-40B4-BE49-F238E27FC236}">
                <a16:creationId xmlns:a16="http://schemas.microsoft.com/office/drawing/2014/main" id="{E945061A-075D-4AAD-A08D-488980E3405D}"/>
              </a:ext>
            </a:extLst>
          </p:cNvPr>
          <p:cNvSpPr>
            <a:spLocks noGrp="1"/>
          </p:cNvSpPr>
          <p:nvPr>
            <p:ph type="ftr" sz="quarter" idx="11"/>
          </p:nvPr>
        </p:nvSpPr>
        <p:spPr/>
        <p:txBody>
          <a:bodyPr/>
          <a:lstStyle/>
          <a:p>
            <a:endParaRPr lang="fr-CA"/>
          </a:p>
        </p:txBody>
      </p:sp>
      <p:sp>
        <p:nvSpPr>
          <p:cNvPr id="4" name="Espace réservé du numéro de diapositive 3">
            <a:extLst>
              <a:ext uri="{FF2B5EF4-FFF2-40B4-BE49-F238E27FC236}">
                <a16:creationId xmlns:a16="http://schemas.microsoft.com/office/drawing/2014/main" id="{10EDEB97-615F-4C8F-9BD0-1D4F57A91C2F}"/>
              </a:ext>
            </a:extLst>
          </p:cNvPr>
          <p:cNvSpPr>
            <a:spLocks noGrp="1"/>
          </p:cNvSpPr>
          <p:nvPr>
            <p:ph type="sldNum" sz="quarter" idx="12"/>
          </p:nvPr>
        </p:nvSpPr>
        <p:spPr/>
        <p:txBody>
          <a:bodyPr/>
          <a:lstStyle/>
          <a:p>
            <a:fld id="{26377AD9-CE17-438C-A638-C64D2D42D7CF}" type="slidenum">
              <a:rPr lang="fr-CA" smtClean="0"/>
              <a:t>9</a:t>
            </a:fld>
            <a:endParaRPr lang="fr-CA"/>
          </a:p>
        </p:txBody>
      </p:sp>
      <p:graphicFrame>
        <p:nvGraphicFramePr>
          <p:cNvPr id="5" name="Tableau 4">
            <a:extLst>
              <a:ext uri="{FF2B5EF4-FFF2-40B4-BE49-F238E27FC236}">
                <a16:creationId xmlns:a16="http://schemas.microsoft.com/office/drawing/2014/main" id="{9889811B-F061-4892-832C-6600A727894C}"/>
              </a:ext>
            </a:extLst>
          </p:cNvPr>
          <p:cNvGraphicFramePr>
            <a:graphicFrameLocks noGrp="1"/>
          </p:cNvGraphicFramePr>
          <p:nvPr>
            <p:extLst>
              <p:ext uri="{D42A27DB-BD31-4B8C-83A1-F6EECF244321}">
                <p14:modId xmlns:p14="http://schemas.microsoft.com/office/powerpoint/2010/main" val="3782757833"/>
              </p:ext>
            </p:extLst>
          </p:nvPr>
        </p:nvGraphicFramePr>
        <p:xfrm>
          <a:off x="838201" y="1844567"/>
          <a:ext cx="10859813" cy="1718440"/>
        </p:xfrm>
        <a:graphic>
          <a:graphicData uri="http://schemas.openxmlformats.org/drawingml/2006/table">
            <a:tbl>
              <a:tblPr>
                <a:tableStyleId>{5C22544A-7EE6-4342-B048-85BDC9FD1C3A}</a:tableStyleId>
              </a:tblPr>
              <a:tblGrid>
                <a:gridCol w="1508850">
                  <a:extLst>
                    <a:ext uri="{9D8B030D-6E8A-4147-A177-3AD203B41FA5}">
                      <a16:colId xmlns:a16="http://schemas.microsoft.com/office/drawing/2014/main" val="416598405"/>
                    </a:ext>
                  </a:extLst>
                </a:gridCol>
                <a:gridCol w="952272">
                  <a:extLst>
                    <a:ext uri="{9D8B030D-6E8A-4147-A177-3AD203B41FA5}">
                      <a16:colId xmlns:a16="http://schemas.microsoft.com/office/drawing/2014/main" val="3374026180"/>
                    </a:ext>
                  </a:extLst>
                </a:gridCol>
                <a:gridCol w="952272">
                  <a:extLst>
                    <a:ext uri="{9D8B030D-6E8A-4147-A177-3AD203B41FA5}">
                      <a16:colId xmlns:a16="http://schemas.microsoft.com/office/drawing/2014/main" val="2215856892"/>
                    </a:ext>
                  </a:extLst>
                </a:gridCol>
                <a:gridCol w="952272">
                  <a:extLst>
                    <a:ext uri="{9D8B030D-6E8A-4147-A177-3AD203B41FA5}">
                      <a16:colId xmlns:a16="http://schemas.microsoft.com/office/drawing/2014/main" val="3224004800"/>
                    </a:ext>
                  </a:extLst>
                </a:gridCol>
                <a:gridCol w="952272">
                  <a:extLst>
                    <a:ext uri="{9D8B030D-6E8A-4147-A177-3AD203B41FA5}">
                      <a16:colId xmlns:a16="http://schemas.microsoft.com/office/drawing/2014/main" val="2464730698"/>
                    </a:ext>
                  </a:extLst>
                </a:gridCol>
                <a:gridCol w="952272">
                  <a:extLst>
                    <a:ext uri="{9D8B030D-6E8A-4147-A177-3AD203B41FA5}">
                      <a16:colId xmlns:a16="http://schemas.microsoft.com/office/drawing/2014/main" val="3078564423"/>
                    </a:ext>
                  </a:extLst>
                </a:gridCol>
                <a:gridCol w="952272">
                  <a:extLst>
                    <a:ext uri="{9D8B030D-6E8A-4147-A177-3AD203B41FA5}">
                      <a16:colId xmlns:a16="http://schemas.microsoft.com/office/drawing/2014/main" val="628429682"/>
                    </a:ext>
                  </a:extLst>
                </a:gridCol>
                <a:gridCol w="952272">
                  <a:extLst>
                    <a:ext uri="{9D8B030D-6E8A-4147-A177-3AD203B41FA5}">
                      <a16:colId xmlns:a16="http://schemas.microsoft.com/office/drawing/2014/main" val="222723336"/>
                    </a:ext>
                  </a:extLst>
                </a:gridCol>
                <a:gridCol w="952272">
                  <a:extLst>
                    <a:ext uri="{9D8B030D-6E8A-4147-A177-3AD203B41FA5}">
                      <a16:colId xmlns:a16="http://schemas.microsoft.com/office/drawing/2014/main" val="2431765068"/>
                    </a:ext>
                  </a:extLst>
                </a:gridCol>
                <a:gridCol w="952272">
                  <a:extLst>
                    <a:ext uri="{9D8B030D-6E8A-4147-A177-3AD203B41FA5}">
                      <a16:colId xmlns:a16="http://schemas.microsoft.com/office/drawing/2014/main" val="3308678927"/>
                    </a:ext>
                  </a:extLst>
                </a:gridCol>
                <a:gridCol w="780515">
                  <a:extLst>
                    <a:ext uri="{9D8B030D-6E8A-4147-A177-3AD203B41FA5}">
                      <a16:colId xmlns:a16="http://schemas.microsoft.com/office/drawing/2014/main" val="4194077679"/>
                    </a:ext>
                  </a:extLst>
                </a:gridCol>
              </a:tblGrid>
              <a:tr h="427630">
                <a:tc>
                  <a:txBody>
                    <a:bodyPr/>
                    <a:lstStyle/>
                    <a:p>
                      <a:pPr algn="ctr">
                        <a:lnSpc>
                          <a:spcPts val="1200"/>
                        </a:lnSpc>
                        <a:spcAft>
                          <a:spcPts val="1000"/>
                        </a:spcAft>
                      </a:pPr>
                      <a:r>
                        <a:rPr lang="fr-FR" sz="1000">
                          <a:effectLst/>
                        </a:rPr>
                        <a:t>Sujet</a:t>
                      </a:r>
                      <a:endParaRPr lang="fr-CA" sz="1000" b="1">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50800" marR="50800" marT="50800" marB="50800" anchor="ctr"/>
                </a:tc>
                <a:tc>
                  <a:txBody>
                    <a:bodyPr/>
                    <a:lstStyle/>
                    <a:p>
                      <a:pPr algn="ctr">
                        <a:lnSpc>
                          <a:spcPts val="1200"/>
                        </a:lnSpc>
                        <a:spcAft>
                          <a:spcPts val="1000"/>
                        </a:spcAft>
                      </a:pPr>
                      <a:r>
                        <a:rPr lang="fr-FR" sz="1000">
                          <a:effectLst/>
                        </a:rPr>
                        <a:t>1</a:t>
                      </a:r>
                      <a:endParaRPr lang="fr-CA" sz="1000" b="1">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50800" marR="50800" marT="50800" marB="50800" anchor="ctr"/>
                </a:tc>
                <a:tc>
                  <a:txBody>
                    <a:bodyPr/>
                    <a:lstStyle/>
                    <a:p>
                      <a:pPr algn="ctr">
                        <a:lnSpc>
                          <a:spcPts val="1200"/>
                        </a:lnSpc>
                        <a:spcAft>
                          <a:spcPts val="1000"/>
                        </a:spcAft>
                      </a:pPr>
                      <a:r>
                        <a:rPr lang="fr-FR" sz="1000">
                          <a:effectLst/>
                        </a:rPr>
                        <a:t>2</a:t>
                      </a:r>
                      <a:endParaRPr lang="fr-CA" sz="1000" b="1">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50800" marR="50800" marT="50800" marB="50800" anchor="ctr"/>
                </a:tc>
                <a:tc>
                  <a:txBody>
                    <a:bodyPr/>
                    <a:lstStyle/>
                    <a:p>
                      <a:pPr algn="ctr">
                        <a:lnSpc>
                          <a:spcPts val="1200"/>
                        </a:lnSpc>
                        <a:spcAft>
                          <a:spcPts val="1000"/>
                        </a:spcAft>
                      </a:pPr>
                      <a:r>
                        <a:rPr lang="fr-FR" sz="1000">
                          <a:effectLst/>
                        </a:rPr>
                        <a:t>3</a:t>
                      </a:r>
                      <a:endParaRPr lang="fr-CA" sz="1000" b="1">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50800" marR="50800" marT="50800" marB="50800" anchor="ctr"/>
                </a:tc>
                <a:tc>
                  <a:txBody>
                    <a:bodyPr/>
                    <a:lstStyle/>
                    <a:p>
                      <a:pPr algn="ctr">
                        <a:lnSpc>
                          <a:spcPts val="1200"/>
                        </a:lnSpc>
                        <a:spcAft>
                          <a:spcPts val="1000"/>
                        </a:spcAft>
                      </a:pPr>
                      <a:r>
                        <a:rPr lang="fr-FR" sz="1000">
                          <a:effectLst/>
                        </a:rPr>
                        <a:t>4</a:t>
                      </a:r>
                      <a:endParaRPr lang="fr-CA" sz="1000" b="1">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50800" marR="50800" marT="50800" marB="50800" anchor="ctr"/>
                </a:tc>
                <a:tc>
                  <a:txBody>
                    <a:bodyPr/>
                    <a:lstStyle/>
                    <a:p>
                      <a:pPr algn="ctr">
                        <a:lnSpc>
                          <a:spcPts val="1200"/>
                        </a:lnSpc>
                        <a:spcAft>
                          <a:spcPts val="1000"/>
                        </a:spcAft>
                      </a:pPr>
                      <a:r>
                        <a:rPr lang="fr-FR" sz="1000">
                          <a:effectLst/>
                        </a:rPr>
                        <a:t>5</a:t>
                      </a:r>
                      <a:endParaRPr lang="fr-CA" sz="1000" b="1">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50800" marR="50800" marT="50800" marB="50800" anchor="ctr"/>
                </a:tc>
                <a:tc>
                  <a:txBody>
                    <a:bodyPr/>
                    <a:lstStyle/>
                    <a:p>
                      <a:pPr algn="ctr">
                        <a:lnSpc>
                          <a:spcPts val="1200"/>
                        </a:lnSpc>
                        <a:spcAft>
                          <a:spcPts val="1000"/>
                        </a:spcAft>
                      </a:pPr>
                      <a:r>
                        <a:rPr lang="fr-FR" sz="1000">
                          <a:effectLst/>
                        </a:rPr>
                        <a:t>6</a:t>
                      </a:r>
                      <a:endParaRPr lang="fr-CA" sz="1000" b="1">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50800" marR="50800" marT="50800" marB="50800" anchor="ctr"/>
                </a:tc>
                <a:tc>
                  <a:txBody>
                    <a:bodyPr/>
                    <a:lstStyle/>
                    <a:p>
                      <a:pPr algn="ctr">
                        <a:lnSpc>
                          <a:spcPts val="1200"/>
                        </a:lnSpc>
                        <a:spcAft>
                          <a:spcPts val="1000"/>
                        </a:spcAft>
                      </a:pPr>
                      <a:r>
                        <a:rPr lang="fr-FR" sz="1000">
                          <a:effectLst/>
                        </a:rPr>
                        <a:t>7</a:t>
                      </a:r>
                      <a:endParaRPr lang="fr-CA" sz="1000" b="1">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50800" marR="50800" marT="50800" marB="50800" anchor="ctr"/>
                </a:tc>
                <a:tc>
                  <a:txBody>
                    <a:bodyPr/>
                    <a:lstStyle/>
                    <a:p>
                      <a:pPr algn="ctr">
                        <a:lnSpc>
                          <a:spcPts val="1200"/>
                        </a:lnSpc>
                        <a:spcAft>
                          <a:spcPts val="1000"/>
                        </a:spcAft>
                      </a:pPr>
                      <a:r>
                        <a:rPr lang="fr-FR" sz="1000">
                          <a:effectLst/>
                        </a:rPr>
                        <a:t>8</a:t>
                      </a:r>
                      <a:endParaRPr lang="fr-CA" sz="1000" b="1">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50800" marR="50800" marT="50800" marB="50800" anchor="ctr"/>
                </a:tc>
                <a:tc>
                  <a:txBody>
                    <a:bodyPr/>
                    <a:lstStyle/>
                    <a:p>
                      <a:pPr algn="ctr">
                        <a:lnSpc>
                          <a:spcPts val="1200"/>
                        </a:lnSpc>
                        <a:spcAft>
                          <a:spcPts val="1000"/>
                        </a:spcAft>
                      </a:pPr>
                      <a:r>
                        <a:rPr lang="fr-FR" sz="1000">
                          <a:effectLst/>
                        </a:rPr>
                        <a:t>9</a:t>
                      </a:r>
                      <a:endParaRPr lang="fr-CA" sz="1000" b="1">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50800" marR="50800" marT="50800" marB="50800" anchor="ctr"/>
                </a:tc>
                <a:tc>
                  <a:txBody>
                    <a:bodyPr/>
                    <a:lstStyle/>
                    <a:p>
                      <a:pPr algn="ctr">
                        <a:lnSpc>
                          <a:spcPts val="1200"/>
                        </a:lnSpc>
                        <a:spcAft>
                          <a:spcPts val="1000"/>
                        </a:spcAft>
                      </a:pPr>
                      <a:r>
                        <a:rPr lang="en-CA" sz="1000">
                          <a:effectLst/>
                        </a:rPr>
                        <a:t>10</a:t>
                      </a:r>
                      <a:endParaRPr lang="fr-CA" sz="1000" b="1">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50800" marR="50800" marT="50800" marB="50800" anchor="ctr"/>
                </a:tc>
                <a:extLst>
                  <a:ext uri="{0D108BD9-81ED-4DB2-BD59-A6C34878D82A}">
                    <a16:rowId xmlns:a16="http://schemas.microsoft.com/office/drawing/2014/main" val="156211131"/>
                  </a:ext>
                </a:extLst>
              </a:tr>
              <a:tr h="427630">
                <a:tc>
                  <a:txBody>
                    <a:bodyPr/>
                    <a:lstStyle/>
                    <a:p>
                      <a:pPr algn="ctr">
                        <a:lnSpc>
                          <a:spcPts val="1200"/>
                        </a:lnSpc>
                        <a:spcAft>
                          <a:spcPts val="1000"/>
                        </a:spcAft>
                      </a:pPr>
                      <a:r>
                        <a:rPr lang="fr-FR" sz="1000">
                          <a:effectLst/>
                        </a:rPr>
                        <a:t>Avant (x</a:t>
                      </a:r>
                      <a:r>
                        <a:rPr lang="fr-FR" sz="1000" baseline="-25000">
                          <a:effectLst/>
                        </a:rPr>
                        <a:t>i</a:t>
                      </a:r>
                      <a:r>
                        <a:rPr lang="fr-FR" sz="1000">
                          <a:effectLst/>
                        </a:rPr>
                        <a:t>)</a:t>
                      </a:r>
                      <a:endParaRPr lang="fr-CA" sz="1000" b="1">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50800" marR="50800" marT="50800" marB="50800" anchor="ctr"/>
                </a:tc>
                <a:tc>
                  <a:txBody>
                    <a:bodyPr/>
                    <a:lstStyle/>
                    <a:p>
                      <a:pPr algn="ctr">
                        <a:lnSpc>
                          <a:spcPts val="1200"/>
                        </a:lnSpc>
                      </a:pPr>
                      <a:r>
                        <a:rPr lang="en-CA" sz="1000">
                          <a:effectLst/>
                        </a:rPr>
                        <a:t>265</a:t>
                      </a:r>
                      <a:endParaRPr lang="fr-CA" sz="100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50800" marR="50800" marT="50800" marB="50800" anchor="ctr"/>
                </a:tc>
                <a:tc>
                  <a:txBody>
                    <a:bodyPr/>
                    <a:lstStyle/>
                    <a:p>
                      <a:pPr algn="ctr">
                        <a:lnSpc>
                          <a:spcPts val="1200"/>
                        </a:lnSpc>
                      </a:pPr>
                      <a:r>
                        <a:rPr lang="fr-FR" sz="1000">
                          <a:effectLst/>
                        </a:rPr>
                        <a:t>240</a:t>
                      </a:r>
                      <a:endParaRPr lang="fr-CA" sz="100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50800" marR="50800" marT="50800" marB="50800" anchor="ctr"/>
                </a:tc>
                <a:tc>
                  <a:txBody>
                    <a:bodyPr/>
                    <a:lstStyle/>
                    <a:p>
                      <a:pPr algn="ctr">
                        <a:lnSpc>
                          <a:spcPts val="1200"/>
                        </a:lnSpc>
                      </a:pPr>
                      <a:r>
                        <a:rPr lang="fr-FR" sz="1000">
                          <a:effectLst/>
                        </a:rPr>
                        <a:t>258</a:t>
                      </a:r>
                      <a:endParaRPr lang="fr-CA" sz="100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50800" marR="50800" marT="50800" marB="50800" anchor="ctr"/>
                </a:tc>
                <a:tc>
                  <a:txBody>
                    <a:bodyPr/>
                    <a:lstStyle/>
                    <a:p>
                      <a:pPr algn="ctr">
                        <a:lnSpc>
                          <a:spcPts val="1200"/>
                        </a:lnSpc>
                      </a:pPr>
                      <a:r>
                        <a:rPr lang="fr-FR" sz="1000">
                          <a:effectLst/>
                        </a:rPr>
                        <a:t>295</a:t>
                      </a:r>
                      <a:endParaRPr lang="fr-CA" sz="100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50800" marR="50800" marT="50800" marB="50800" anchor="ctr"/>
                </a:tc>
                <a:tc>
                  <a:txBody>
                    <a:bodyPr/>
                    <a:lstStyle/>
                    <a:p>
                      <a:pPr algn="ctr">
                        <a:lnSpc>
                          <a:spcPts val="1200"/>
                        </a:lnSpc>
                      </a:pPr>
                      <a:r>
                        <a:rPr lang="fr-FR" sz="1000">
                          <a:effectLst/>
                        </a:rPr>
                        <a:t>251</a:t>
                      </a:r>
                      <a:endParaRPr lang="fr-CA" sz="100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50800" marR="50800" marT="50800" marB="50800" anchor="ctr"/>
                </a:tc>
                <a:tc>
                  <a:txBody>
                    <a:bodyPr/>
                    <a:lstStyle/>
                    <a:p>
                      <a:pPr algn="ctr">
                        <a:lnSpc>
                          <a:spcPts val="1200"/>
                        </a:lnSpc>
                      </a:pPr>
                      <a:r>
                        <a:rPr lang="fr-FR" sz="1000">
                          <a:effectLst/>
                        </a:rPr>
                        <a:t>287</a:t>
                      </a:r>
                      <a:endParaRPr lang="fr-CA" sz="100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50800" marR="50800" marT="50800" marB="50800" anchor="ctr"/>
                </a:tc>
                <a:tc>
                  <a:txBody>
                    <a:bodyPr/>
                    <a:lstStyle/>
                    <a:p>
                      <a:pPr algn="ctr">
                        <a:lnSpc>
                          <a:spcPts val="1200"/>
                        </a:lnSpc>
                      </a:pPr>
                      <a:r>
                        <a:rPr lang="fr-FR" sz="1000">
                          <a:effectLst/>
                        </a:rPr>
                        <a:t>314</a:t>
                      </a:r>
                      <a:endParaRPr lang="fr-CA" sz="100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50800" marR="50800" marT="50800" marB="50800" anchor="ctr"/>
                </a:tc>
                <a:tc>
                  <a:txBody>
                    <a:bodyPr/>
                    <a:lstStyle/>
                    <a:p>
                      <a:pPr algn="ctr">
                        <a:lnSpc>
                          <a:spcPts val="1200"/>
                        </a:lnSpc>
                      </a:pPr>
                      <a:r>
                        <a:rPr lang="fr-FR" sz="1000">
                          <a:effectLst/>
                        </a:rPr>
                        <a:t>260</a:t>
                      </a:r>
                      <a:endParaRPr lang="fr-CA" sz="100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50800" marR="50800" marT="50800" marB="50800" anchor="ctr"/>
                </a:tc>
                <a:tc>
                  <a:txBody>
                    <a:bodyPr/>
                    <a:lstStyle/>
                    <a:p>
                      <a:pPr algn="ctr">
                        <a:lnSpc>
                          <a:spcPts val="1200"/>
                        </a:lnSpc>
                      </a:pPr>
                      <a:r>
                        <a:rPr lang="fr-FR" sz="1000">
                          <a:effectLst/>
                        </a:rPr>
                        <a:t>283</a:t>
                      </a:r>
                      <a:endParaRPr lang="fr-CA" sz="100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50800" marR="50800" marT="50800" marB="50800" anchor="ctr"/>
                </a:tc>
                <a:tc>
                  <a:txBody>
                    <a:bodyPr/>
                    <a:lstStyle/>
                    <a:p>
                      <a:pPr algn="ctr">
                        <a:lnSpc>
                          <a:spcPts val="1200"/>
                        </a:lnSpc>
                      </a:pPr>
                      <a:r>
                        <a:rPr lang="en-CA" sz="1000">
                          <a:effectLst/>
                        </a:rPr>
                        <a:t>240</a:t>
                      </a:r>
                      <a:endParaRPr lang="fr-CA" sz="100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50800" marR="50800" marT="50800" marB="50800" anchor="ctr"/>
                </a:tc>
                <a:extLst>
                  <a:ext uri="{0D108BD9-81ED-4DB2-BD59-A6C34878D82A}">
                    <a16:rowId xmlns:a16="http://schemas.microsoft.com/office/drawing/2014/main" val="2626636449"/>
                  </a:ext>
                </a:extLst>
              </a:tr>
              <a:tr h="427630">
                <a:tc>
                  <a:txBody>
                    <a:bodyPr/>
                    <a:lstStyle/>
                    <a:p>
                      <a:pPr algn="ctr">
                        <a:lnSpc>
                          <a:spcPts val="1200"/>
                        </a:lnSpc>
                        <a:spcAft>
                          <a:spcPts val="1000"/>
                        </a:spcAft>
                      </a:pPr>
                      <a:r>
                        <a:rPr lang="fr-FR" sz="1000">
                          <a:effectLst/>
                        </a:rPr>
                        <a:t>Après (y</a:t>
                      </a:r>
                      <a:r>
                        <a:rPr lang="fr-FR" sz="1000" baseline="-25000">
                          <a:effectLst/>
                        </a:rPr>
                        <a:t>i</a:t>
                      </a:r>
                      <a:r>
                        <a:rPr lang="fr-FR" sz="1000">
                          <a:effectLst/>
                        </a:rPr>
                        <a:t>)</a:t>
                      </a:r>
                      <a:endParaRPr lang="fr-CA" sz="1000" b="1">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50800" marR="50800" marT="50800" marB="50800" anchor="ctr"/>
                </a:tc>
                <a:tc>
                  <a:txBody>
                    <a:bodyPr/>
                    <a:lstStyle/>
                    <a:p>
                      <a:pPr algn="ctr">
                        <a:lnSpc>
                          <a:spcPts val="1200"/>
                        </a:lnSpc>
                      </a:pPr>
                      <a:r>
                        <a:rPr lang="en-CA" sz="1000">
                          <a:effectLst/>
                        </a:rPr>
                        <a:t>229</a:t>
                      </a:r>
                      <a:endParaRPr lang="fr-CA" sz="100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50800" marR="50800" marT="50800" marB="50800" anchor="ctr"/>
                </a:tc>
                <a:tc>
                  <a:txBody>
                    <a:bodyPr/>
                    <a:lstStyle/>
                    <a:p>
                      <a:pPr algn="ctr">
                        <a:lnSpc>
                          <a:spcPts val="1200"/>
                        </a:lnSpc>
                      </a:pPr>
                      <a:r>
                        <a:rPr lang="fr-FR" sz="1000">
                          <a:effectLst/>
                        </a:rPr>
                        <a:t>231</a:t>
                      </a:r>
                      <a:endParaRPr lang="fr-CA" sz="100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50800" marR="50800" marT="50800" marB="50800" anchor="ctr"/>
                </a:tc>
                <a:tc>
                  <a:txBody>
                    <a:bodyPr/>
                    <a:lstStyle/>
                    <a:p>
                      <a:pPr algn="ctr">
                        <a:lnSpc>
                          <a:spcPts val="1200"/>
                        </a:lnSpc>
                      </a:pPr>
                      <a:r>
                        <a:rPr lang="fr-FR" sz="1000">
                          <a:effectLst/>
                        </a:rPr>
                        <a:t>227</a:t>
                      </a:r>
                      <a:endParaRPr lang="fr-CA" sz="100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50800" marR="50800" marT="50800" marB="50800" anchor="ctr"/>
                </a:tc>
                <a:tc>
                  <a:txBody>
                    <a:bodyPr/>
                    <a:lstStyle/>
                    <a:p>
                      <a:pPr algn="ctr">
                        <a:lnSpc>
                          <a:spcPts val="1200"/>
                        </a:lnSpc>
                      </a:pPr>
                      <a:r>
                        <a:rPr lang="fr-FR" sz="1000">
                          <a:effectLst/>
                        </a:rPr>
                        <a:t>240</a:t>
                      </a:r>
                      <a:endParaRPr lang="fr-CA" sz="100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50800" marR="50800" marT="50800" marB="50800" anchor="ctr"/>
                </a:tc>
                <a:tc>
                  <a:txBody>
                    <a:bodyPr/>
                    <a:lstStyle/>
                    <a:p>
                      <a:pPr algn="ctr">
                        <a:lnSpc>
                          <a:spcPts val="1200"/>
                        </a:lnSpc>
                      </a:pPr>
                      <a:r>
                        <a:rPr lang="fr-FR" sz="1000">
                          <a:effectLst/>
                        </a:rPr>
                        <a:t>238</a:t>
                      </a:r>
                      <a:endParaRPr lang="fr-CA" sz="100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50800" marR="50800" marT="50800" marB="50800" anchor="ctr"/>
                </a:tc>
                <a:tc>
                  <a:txBody>
                    <a:bodyPr/>
                    <a:lstStyle/>
                    <a:p>
                      <a:pPr algn="ctr">
                        <a:lnSpc>
                          <a:spcPts val="1200"/>
                        </a:lnSpc>
                      </a:pPr>
                      <a:r>
                        <a:rPr lang="fr-FR" sz="1000">
                          <a:effectLst/>
                        </a:rPr>
                        <a:t>234</a:t>
                      </a:r>
                      <a:endParaRPr lang="fr-CA" sz="100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50800" marR="50800" marT="50800" marB="50800" anchor="ctr"/>
                </a:tc>
                <a:tc>
                  <a:txBody>
                    <a:bodyPr/>
                    <a:lstStyle/>
                    <a:p>
                      <a:pPr algn="ctr">
                        <a:lnSpc>
                          <a:spcPts val="1200"/>
                        </a:lnSpc>
                      </a:pPr>
                      <a:r>
                        <a:rPr lang="fr-FR" sz="1000">
                          <a:effectLst/>
                        </a:rPr>
                        <a:t>256</a:t>
                      </a:r>
                      <a:endParaRPr lang="fr-CA" sz="100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50800" marR="50800" marT="50800" marB="50800" anchor="ctr"/>
                </a:tc>
                <a:tc>
                  <a:txBody>
                    <a:bodyPr/>
                    <a:lstStyle/>
                    <a:p>
                      <a:pPr algn="ctr">
                        <a:lnSpc>
                          <a:spcPts val="1200"/>
                        </a:lnSpc>
                      </a:pPr>
                      <a:r>
                        <a:rPr lang="fr-FR" sz="1000">
                          <a:effectLst/>
                        </a:rPr>
                        <a:t>247</a:t>
                      </a:r>
                      <a:endParaRPr lang="fr-CA" sz="100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50800" marR="50800" marT="50800" marB="50800" anchor="ctr"/>
                </a:tc>
                <a:tc>
                  <a:txBody>
                    <a:bodyPr/>
                    <a:lstStyle/>
                    <a:p>
                      <a:pPr algn="ctr">
                        <a:lnSpc>
                          <a:spcPts val="1200"/>
                        </a:lnSpc>
                      </a:pPr>
                      <a:r>
                        <a:rPr lang="fr-FR" sz="1000">
                          <a:effectLst/>
                        </a:rPr>
                        <a:t>246</a:t>
                      </a:r>
                      <a:endParaRPr lang="fr-CA" sz="100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50800" marR="50800" marT="50800" marB="50800" anchor="ctr"/>
                </a:tc>
                <a:tc>
                  <a:txBody>
                    <a:bodyPr/>
                    <a:lstStyle/>
                    <a:p>
                      <a:pPr algn="ctr">
                        <a:lnSpc>
                          <a:spcPts val="1200"/>
                        </a:lnSpc>
                      </a:pPr>
                      <a:r>
                        <a:rPr lang="en-CA" sz="1000">
                          <a:effectLst/>
                        </a:rPr>
                        <a:t>218</a:t>
                      </a:r>
                      <a:endParaRPr lang="fr-CA" sz="100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50800" marR="50800" marT="50800" marB="50800" anchor="ctr"/>
                </a:tc>
                <a:extLst>
                  <a:ext uri="{0D108BD9-81ED-4DB2-BD59-A6C34878D82A}">
                    <a16:rowId xmlns:a16="http://schemas.microsoft.com/office/drawing/2014/main" val="625266703"/>
                  </a:ext>
                </a:extLst>
              </a:tr>
              <a:tr h="435550">
                <a:tc>
                  <a:txBody>
                    <a:bodyPr/>
                    <a:lstStyle/>
                    <a:p>
                      <a:pPr algn="ctr">
                        <a:lnSpc>
                          <a:spcPts val="1200"/>
                        </a:lnSpc>
                        <a:spcAft>
                          <a:spcPts val="1000"/>
                        </a:spcAft>
                      </a:pPr>
                      <a:r>
                        <a:rPr lang="fr-FR" sz="1000">
                          <a:effectLst/>
                        </a:rPr>
                        <a:t>d</a:t>
                      </a:r>
                      <a:r>
                        <a:rPr lang="fr-FR" sz="1000" baseline="-25000">
                          <a:effectLst/>
                        </a:rPr>
                        <a:t>i</a:t>
                      </a:r>
                      <a:endParaRPr lang="fr-CA" sz="1000" b="1">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50800" marR="50800" marT="50800" marB="76200" anchor="ctr"/>
                </a:tc>
                <a:tc>
                  <a:txBody>
                    <a:bodyPr/>
                    <a:lstStyle/>
                    <a:p>
                      <a:pPr algn="ctr">
                        <a:lnSpc>
                          <a:spcPts val="1200"/>
                        </a:lnSpc>
                      </a:pPr>
                      <a:r>
                        <a:rPr lang="en-CA" sz="1000">
                          <a:effectLst/>
                        </a:rPr>
                        <a:t>36</a:t>
                      </a:r>
                      <a:endParaRPr lang="fr-CA" sz="100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50800" marR="50800" marT="50800" marB="76200" anchor="ctr"/>
                </a:tc>
                <a:tc>
                  <a:txBody>
                    <a:bodyPr/>
                    <a:lstStyle/>
                    <a:p>
                      <a:pPr algn="ctr">
                        <a:lnSpc>
                          <a:spcPts val="1200"/>
                        </a:lnSpc>
                      </a:pPr>
                      <a:r>
                        <a:rPr lang="fr-FR" sz="1000">
                          <a:effectLst/>
                        </a:rPr>
                        <a:t>9</a:t>
                      </a:r>
                      <a:endParaRPr lang="fr-CA" sz="100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50800" marR="50800" marT="50800" marB="76200" anchor="ctr"/>
                </a:tc>
                <a:tc>
                  <a:txBody>
                    <a:bodyPr/>
                    <a:lstStyle/>
                    <a:p>
                      <a:pPr algn="ctr">
                        <a:lnSpc>
                          <a:spcPts val="1200"/>
                        </a:lnSpc>
                      </a:pPr>
                      <a:r>
                        <a:rPr lang="fr-FR" sz="1000">
                          <a:effectLst/>
                        </a:rPr>
                        <a:t>31</a:t>
                      </a:r>
                      <a:endParaRPr lang="fr-CA" sz="100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50800" marR="50800" marT="50800" marB="76200" anchor="ctr"/>
                </a:tc>
                <a:tc>
                  <a:txBody>
                    <a:bodyPr/>
                    <a:lstStyle/>
                    <a:p>
                      <a:pPr algn="ctr">
                        <a:lnSpc>
                          <a:spcPts val="1200"/>
                        </a:lnSpc>
                      </a:pPr>
                      <a:r>
                        <a:rPr lang="fr-FR" sz="1000">
                          <a:effectLst/>
                        </a:rPr>
                        <a:t>55</a:t>
                      </a:r>
                      <a:endParaRPr lang="fr-CA" sz="100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50800" marR="50800" marT="50800" marB="76200" anchor="ctr"/>
                </a:tc>
                <a:tc>
                  <a:txBody>
                    <a:bodyPr/>
                    <a:lstStyle/>
                    <a:p>
                      <a:pPr algn="ctr">
                        <a:lnSpc>
                          <a:spcPts val="1200"/>
                        </a:lnSpc>
                      </a:pPr>
                      <a:r>
                        <a:rPr lang="fr-FR" sz="1000">
                          <a:effectLst/>
                        </a:rPr>
                        <a:t>13</a:t>
                      </a:r>
                      <a:endParaRPr lang="fr-CA" sz="100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50800" marR="50800" marT="50800" marB="76200" anchor="ctr"/>
                </a:tc>
                <a:tc>
                  <a:txBody>
                    <a:bodyPr/>
                    <a:lstStyle/>
                    <a:p>
                      <a:pPr algn="ctr">
                        <a:lnSpc>
                          <a:spcPts val="1200"/>
                        </a:lnSpc>
                      </a:pPr>
                      <a:r>
                        <a:rPr lang="fr-FR" sz="1000">
                          <a:effectLst/>
                        </a:rPr>
                        <a:t>53</a:t>
                      </a:r>
                      <a:endParaRPr lang="fr-CA" sz="100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50800" marR="50800" marT="50800" marB="76200" anchor="ctr"/>
                </a:tc>
                <a:tc>
                  <a:txBody>
                    <a:bodyPr/>
                    <a:lstStyle/>
                    <a:p>
                      <a:pPr algn="ctr">
                        <a:lnSpc>
                          <a:spcPts val="1200"/>
                        </a:lnSpc>
                      </a:pPr>
                      <a:r>
                        <a:rPr lang="fr-FR" sz="1000">
                          <a:effectLst/>
                        </a:rPr>
                        <a:t>58</a:t>
                      </a:r>
                      <a:endParaRPr lang="fr-CA" sz="100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50800" marR="50800" marT="50800" marB="76200" anchor="ctr"/>
                </a:tc>
                <a:tc>
                  <a:txBody>
                    <a:bodyPr/>
                    <a:lstStyle/>
                    <a:p>
                      <a:pPr algn="ctr">
                        <a:lnSpc>
                          <a:spcPts val="1200"/>
                        </a:lnSpc>
                      </a:pPr>
                      <a:r>
                        <a:rPr lang="fr-FR" sz="1000">
                          <a:effectLst/>
                        </a:rPr>
                        <a:t>13</a:t>
                      </a:r>
                      <a:endParaRPr lang="fr-CA" sz="100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50800" marR="50800" marT="50800" marB="76200" anchor="ctr"/>
                </a:tc>
                <a:tc>
                  <a:txBody>
                    <a:bodyPr/>
                    <a:lstStyle/>
                    <a:p>
                      <a:pPr algn="ctr">
                        <a:lnSpc>
                          <a:spcPts val="1200"/>
                        </a:lnSpc>
                      </a:pPr>
                      <a:r>
                        <a:rPr lang="fr-FR" sz="1000">
                          <a:effectLst/>
                        </a:rPr>
                        <a:t>37</a:t>
                      </a:r>
                      <a:endParaRPr lang="fr-CA" sz="100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50800" marR="50800" marT="50800" marB="76200" anchor="ctr"/>
                </a:tc>
                <a:tc>
                  <a:txBody>
                    <a:bodyPr/>
                    <a:lstStyle/>
                    <a:p>
                      <a:pPr algn="ctr">
                        <a:lnSpc>
                          <a:spcPts val="1200"/>
                        </a:lnSpc>
                      </a:pPr>
                      <a:r>
                        <a:rPr lang="en-CA" sz="1000" dirty="0">
                          <a:effectLst/>
                        </a:rPr>
                        <a:t>22</a:t>
                      </a:r>
                      <a:endParaRPr lang="fr-CA" sz="1000"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50800" marR="50800" marT="50800" marB="76200" anchor="ctr"/>
                </a:tc>
                <a:extLst>
                  <a:ext uri="{0D108BD9-81ED-4DB2-BD59-A6C34878D82A}">
                    <a16:rowId xmlns:a16="http://schemas.microsoft.com/office/drawing/2014/main" val="3147586304"/>
                  </a:ext>
                </a:extLst>
              </a:tr>
            </a:tbl>
          </a:graphicData>
        </a:graphic>
      </p:graphicFrame>
      <mc:AlternateContent xmlns:mc="http://schemas.openxmlformats.org/markup-compatibility/2006" xmlns:a14="http://schemas.microsoft.com/office/drawing/2010/main">
        <mc:Choice Requires="a14">
          <p:sp>
            <p:nvSpPr>
              <p:cNvPr id="16" name="ZoneTexte 15">
                <a:extLst>
                  <a:ext uri="{FF2B5EF4-FFF2-40B4-BE49-F238E27FC236}">
                    <a16:creationId xmlns:a16="http://schemas.microsoft.com/office/drawing/2014/main" id="{1DCF95D1-F7A2-4347-B09E-AE18E166C1C1}"/>
                  </a:ext>
                </a:extLst>
              </p:cNvPr>
              <p:cNvSpPr txBox="1"/>
              <p:nvPr/>
            </p:nvSpPr>
            <p:spPr>
              <a:xfrm>
                <a:off x="981635" y="4087906"/>
                <a:ext cx="10716379" cy="1771254"/>
              </a:xfrm>
              <a:prstGeom prst="rect">
                <a:avLst/>
              </a:prstGeom>
              <a:noFill/>
            </p:spPr>
            <p:txBody>
              <a:bodyPr wrap="square" rtlCol="0">
                <a:spAutoFit/>
              </a:bodyPr>
              <a:lstStyle/>
              <a:p>
                <a:r>
                  <a:rPr lang="fr-CA" dirty="0"/>
                  <a:t>On veut tester les hypothèses:</a:t>
                </a:r>
              </a:p>
              <a:p>
                <a:pPr/>
                <a14:m>
                  <m:oMathPara xmlns:m="http://schemas.openxmlformats.org/officeDocument/2006/math">
                    <m:oMathParaPr>
                      <m:jc m:val="centerGroup"/>
                    </m:oMathParaPr>
                    <m:oMath xmlns:m="http://schemas.openxmlformats.org/officeDocument/2006/math">
                      <m:sSub>
                        <m:sSubPr>
                          <m:ctrlPr>
                            <a:rPr lang="fr-CA" i="1" smtClean="0">
                              <a:latin typeface="Cambria Math" panose="02040503050406030204" pitchFamily="18" charset="0"/>
                            </a:rPr>
                          </m:ctrlPr>
                        </m:sSubPr>
                        <m:e>
                          <m:r>
                            <a:rPr lang="fr-CA" b="0" i="1" smtClean="0">
                              <a:latin typeface="Cambria Math" panose="02040503050406030204" pitchFamily="18" charset="0"/>
                            </a:rPr>
                            <m:t>𝐻</m:t>
                          </m:r>
                        </m:e>
                        <m:sub>
                          <m:r>
                            <a:rPr lang="fr-CA" b="0" i="1" smtClean="0">
                              <a:latin typeface="Cambria Math" panose="02040503050406030204" pitchFamily="18" charset="0"/>
                            </a:rPr>
                            <m:t>0</m:t>
                          </m:r>
                        </m:sub>
                      </m:sSub>
                      <m:r>
                        <a:rPr lang="fr-CA" b="0" i="1" smtClean="0">
                          <a:latin typeface="Cambria Math" panose="02040503050406030204" pitchFamily="18" charset="0"/>
                        </a:rPr>
                        <m:t>: </m:t>
                      </m:r>
                      <m:sSub>
                        <m:sSubPr>
                          <m:ctrlPr>
                            <a:rPr lang="fr-CA" b="0" i="1" smtClean="0">
                              <a:latin typeface="Cambria Math" panose="02040503050406030204" pitchFamily="18" charset="0"/>
                            </a:rPr>
                          </m:ctrlPr>
                        </m:sSubPr>
                        <m:e>
                          <m:r>
                            <a:rPr lang="fr-CA" b="0" i="1" smtClean="0">
                              <a:latin typeface="Cambria Math" panose="02040503050406030204" pitchFamily="18" charset="0"/>
                              <a:ea typeface="Cambria Math" panose="02040503050406030204" pitchFamily="18" charset="0"/>
                            </a:rPr>
                            <m:t>𝜇</m:t>
                          </m:r>
                        </m:e>
                        <m:sub>
                          <m:r>
                            <a:rPr lang="fr-CA" b="0" i="1" smtClean="0">
                              <a:latin typeface="Cambria Math" panose="02040503050406030204" pitchFamily="18" charset="0"/>
                            </a:rPr>
                            <m:t>𝐷</m:t>
                          </m:r>
                        </m:sub>
                      </m:sSub>
                      <m:r>
                        <a:rPr lang="fr-CA" b="0" i="1" smtClean="0">
                          <a:latin typeface="Cambria Math" panose="02040503050406030204" pitchFamily="18" charset="0"/>
                        </a:rPr>
                        <m:t>=0     </m:t>
                      </m:r>
                      <m:r>
                        <a:rPr lang="fr-CA" b="0" i="1" smtClean="0">
                          <a:latin typeface="Cambria Math" panose="02040503050406030204" pitchFamily="18" charset="0"/>
                        </a:rPr>
                        <m:t>𝑐𝑜𝑛𝑡𝑟𝑒</m:t>
                      </m:r>
                      <m:r>
                        <a:rPr lang="fr-CA" b="0" i="1" smtClean="0">
                          <a:latin typeface="Cambria Math" panose="02040503050406030204" pitchFamily="18" charset="0"/>
                        </a:rPr>
                        <m:t>    </m:t>
                      </m:r>
                      <m:sSub>
                        <m:sSubPr>
                          <m:ctrlPr>
                            <a:rPr lang="fr-CA" b="0" i="1" smtClean="0">
                              <a:latin typeface="Cambria Math" panose="02040503050406030204" pitchFamily="18" charset="0"/>
                            </a:rPr>
                          </m:ctrlPr>
                        </m:sSubPr>
                        <m:e>
                          <m:r>
                            <a:rPr lang="fr-CA" b="0" i="1" smtClean="0">
                              <a:latin typeface="Cambria Math" panose="02040503050406030204" pitchFamily="18" charset="0"/>
                            </a:rPr>
                            <m:t>𝐻</m:t>
                          </m:r>
                        </m:e>
                        <m:sub>
                          <m:r>
                            <a:rPr lang="fr-CA" b="0" i="1" smtClean="0">
                              <a:latin typeface="Cambria Math" panose="02040503050406030204" pitchFamily="18" charset="0"/>
                            </a:rPr>
                            <m:t>1</m:t>
                          </m:r>
                        </m:sub>
                      </m:sSub>
                      <m:r>
                        <a:rPr lang="fr-CA" b="0" i="1" smtClean="0">
                          <a:latin typeface="Cambria Math" panose="02040503050406030204" pitchFamily="18" charset="0"/>
                        </a:rPr>
                        <m:t>: </m:t>
                      </m:r>
                      <m:sSub>
                        <m:sSubPr>
                          <m:ctrlPr>
                            <a:rPr lang="fr-CA" b="0" i="1" smtClean="0">
                              <a:latin typeface="Cambria Math" panose="02040503050406030204" pitchFamily="18" charset="0"/>
                            </a:rPr>
                          </m:ctrlPr>
                        </m:sSubPr>
                        <m:e>
                          <m:r>
                            <a:rPr lang="fr-CA" b="0" i="1" smtClean="0">
                              <a:latin typeface="Cambria Math" panose="02040503050406030204" pitchFamily="18" charset="0"/>
                              <a:ea typeface="Cambria Math" panose="02040503050406030204" pitchFamily="18" charset="0"/>
                            </a:rPr>
                            <m:t>𝜇</m:t>
                          </m:r>
                        </m:e>
                        <m:sub>
                          <m:r>
                            <a:rPr lang="fr-CA" b="0" i="1" smtClean="0">
                              <a:latin typeface="Cambria Math" panose="02040503050406030204" pitchFamily="18" charset="0"/>
                            </a:rPr>
                            <m:t>𝐷</m:t>
                          </m:r>
                        </m:sub>
                      </m:sSub>
                      <m:r>
                        <a:rPr lang="fr-CA" b="0" i="1" smtClean="0">
                          <a:latin typeface="Cambria Math" panose="02040503050406030204" pitchFamily="18" charset="0"/>
                          <a:ea typeface="Cambria Math" panose="02040503050406030204" pitchFamily="18" charset="0"/>
                        </a:rPr>
                        <m:t>&gt;0.</m:t>
                      </m:r>
                    </m:oMath>
                  </m:oMathPara>
                </a14:m>
                <a:endParaRPr lang="fr-CA" b="0" dirty="0">
                  <a:ea typeface="Cambria Math" panose="02040503050406030204" pitchFamily="18" charset="0"/>
                </a:endParaRPr>
              </a:p>
              <a:p>
                <a:r>
                  <a:rPr lang="fr-CA" dirty="0"/>
                  <a:t>On a: </a:t>
                </a:r>
                <a14:m>
                  <m:oMath xmlns:m="http://schemas.openxmlformats.org/officeDocument/2006/math">
                    <m:acc>
                      <m:accPr>
                        <m:chr m:val="̅"/>
                        <m:ctrlPr>
                          <a:rPr lang="fr-CA" i="1" smtClean="0">
                            <a:latin typeface="Cambria Math" panose="02040503050406030204" pitchFamily="18" charset="0"/>
                          </a:rPr>
                        </m:ctrlPr>
                      </m:accPr>
                      <m:e>
                        <m:r>
                          <a:rPr lang="fr-CA" b="0" i="1" smtClean="0">
                            <a:latin typeface="Cambria Math" panose="02040503050406030204" pitchFamily="18" charset="0"/>
                          </a:rPr>
                          <m:t>𝑑</m:t>
                        </m:r>
                      </m:e>
                    </m:acc>
                    <m:r>
                      <a:rPr lang="fr-CA" b="0" i="1" smtClean="0">
                        <a:latin typeface="Cambria Math" panose="02040503050406030204" pitchFamily="18" charset="0"/>
                      </a:rPr>
                      <m:t>=32,7;  </m:t>
                    </m:r>
                    <m:sSub>
                      <m:sSubPr>
                        <m:ctrlPr>
                          <a:rPr lang="fr-CA" b="0" i="1" smtClean="0">
                            <a:latin typeface="Cambria Math" panose="02040503050406030204" pitchFamily="18" charset="0"/>
                          </a:rPr>
                        </m:ctrlPr>
                      </m:sSubPr>
                      <m:e>
                        <m:r>
                          <a:rPr lang="fr-CA" b="0" i="1" smtClean="0">
                            <a:latin typeface="Cambria Math" panose="02040503050406030204" pitchFamily="18" charset="0"/>
                          </a:rPr>
                          <m:t>𝑠</m:t>
                        </m:r>
                      </m:e>
                      <m:sub>
                        <m:r>
                          <a:rPr lang="fr-CA" b="0" i="1" smtClean="0">
                            <a:latin typeface="Cambria Math" panose="02040503050406030204" pitchFamily="18" charset="0"/>
                          </a:rPr>
                          <m:t>𝑑</m:t>
                        </m:r>
                      </m:sub>
                    </m:sSub>
                    <m:r>
                      <a:rPr lang="fr-CA" b="0" i="1" smtClean="0">
                        <a:latin typeface="Cambria Math" panose="02040503050406030204" pitchFamily="18" charset="0"/>
                      </a:rPr>
                      <m:t>=18,36   </m:t>
                    </m:r>
                    <m:r>
                      <a:rPr lang="fr-CA" b="0" i="1" smtClean="0">
                        <a:latin typeface="Cambria Math" panose="02040503050406030204" pitchFamily="18" charset="0"/>
                      </a:rPr>
                      <m:t>𝑒𝑡</m:t>
                    </m:r>
                    <m:r>
                      <a:rPr lang="fr-CA" b="0" i="1" smtClean="0">
                        <a:latin typeface="Cambria Math" panose="02040503050406030204" pitchFamily="18" charset="0"/>
                      </a:rPr>
                      <m:t>   </m:t>
                    </m:r>
                    <m:sSub>
                      <m:sSubPr>
                        <m:ctrlPr>
                          <a:rPr lang="fr-CA" b="0" i="1" smtClean="0">
                            <a:latin typeface="Cambria Math" panose="02040503050406030204" pitchFamily="18" charset="0"/>
                          </a:rPr>
                        </m:ctrlPr>
                      </m:sSubPr>
                      <m:e>
                        <m:r>
                          <a:rPr lang="fr-CA" b="0" i="1" smtClean="0">
                            <a:latin typeface="Cambria Math" panose="02040503050406030204" pitchFamily="18" charset="0"/>
                          </a:rPr>
                          <m:t>𝑡</m:t>
                        </m:r>
                      </m:e>
                      <m:sub>
                        <m:r>
                          <a:rPr lang="fr-CA" b="0" i="1" smtClean="0">
                            <a:latin typeface="Cambria Math" panose="02040503050406030204" pitchFamily="18" charset="0"/>
                          </a:rPr>
                          <m:t>0</m:t>
                        </m:r>
                      </m:sub>
                    </m:sSub>
                    <m:r>
                      <a:rPr lang="fr-CA" b="0" i="1" smtClean="0">
                        <a:latin typeface="Cambria Math" panose="02040503050406030204" pitchFamily="18" charset="0"/>
                      </a:rPr>
                      <m:t>=</m:t>
                    </m:r>
                    <m:f>
                      <m:fPr>
                        <m:ctrlPr>
                          <a:rPr lang="fr-CA" b="0" i="1" smtClean="0">
                            <a:latin typeface="Cambria Math" panose="02040503050406030204" pitchFamily="18" charset="0"/>
                          </a:rPr>
                        </m:ctrlPr>
                      </m:fPr>
                      <m:num>
                        <m:acc>
                          <m:accPr>
                            <m:chr m:val="̅"/>
                            <m:ctrlPr>
                              <a:rPr lang="fr-CA" b="0" i="1" smtClean="0">
                                <a:latin typeface="Cambria Math" panose="02040503050406030204" pitchFamily="18" charset="0"/>
                              </a:rPr>
                            </m:ctrlPr>
                          </m:accPr>
                          <m:e>
                            <m:r>
                              <a:rPr lang="fr-CA" b="0" i="1" smtClean="0">
                                <a:latin typeface="Cambria Math" panose="02040503050406030204" pitchFamily="18" charset="0"/>
                              </a:rPr>
                              <m:t>𝑑</m:t>
                            </m:r>
                          </m:e>
                        </m:acc>
                      </m:num>
                      <m:den>
                        <m:f>
                          <m:fPr>
                            <m:ctrlPr>
                              <a:rPr lang="fr-CA" b="0" i="1" smtClean="0">
                                <a:latin typeface="Cambria Math" panose="02040503050406030204" pitchFamily="18" charset="0"/>
                              </a:rPr>
                            </m:ctrlPr>
                          </m:fPr>
                          <m:num>
                            <m:sSub>
                              <m:sSubPr>
                                <m:ctrlPr>
                                  <a:rPr lang="fr-CA" b="0" i="1" smtClean="0">
                                    <a:latin typeface="Cambria Math" panose="02040503050406030204" pitchFamily="18" charset="0"/>
                                  </a:rPr>
                                </m:ctrlPr>
                              </m:sSubPr>
                              <m:e>
                                <m:r>
                                  <a:rPr lang="fr-CA" b="0" i="1" smtClean="0">
                                    <a:latin typeface="Cambria Math" panose="02040503050406030204" pitchFamily="18" charset="0"/>
                                  </a:rPr>
                                  <m:t>𝑠</m:t>
                                </m:r>
                              </m:e>
                              <m:sub>
                                <m:r>
                                  <a:rPr lang="fr-CA" b="0" i="1" smtClean="0">
                                    <a:latin typeface="Cambria Math" panose="02040503050406030204" pitchFamily="18" charset="0"/>
                                  </a:rPr>
                                  <m:t>𝑑</m:t>
                                </m:r>
                              </m:sub>
                            </m:sSub>
                          </m:num>
                          <m:den>
                            <m:rad>
                              <m:radPr>
                                <m:degHide m:val="on"/>
                                <m:ctrlPr>
                                  <a:rPr lang="fr-CA" b="0" i="1" smtClean="0">
                                    <a:latin typeface="Cambria Math" panose="02040503050406030204" pitchFamily="18" charset="0"/>
                                  </a:rPr>
                                </m:ctrlPr>
                              </m:radPr>
                              <m:deg/>
                              <m:e>
                                <m:r>
                                  <a:rPr lang="fr-CA" b="0" i="1" smtClean="0">
                                    <a:latin typeface="Cambria Math" panose="02040503050406030204" pitchFamily="18" charset="0"/>
                                  </a:rPr>
                                  <m:t>𝑛</m:t>
                                </m:r>
                              </m:e>
                            </m:rad>
                          </m:den>
                        </m:f>
                      </m:den>
                    </m:f>
                    <m:r>
                      <a:rPr lang="fr-CA" b="0" i="1" smtClean="0">
                        <a:latin typeface="Cambria Math" panose="02040503050406030204" pitchFamily="18" charset="0"/>
                      </a:rPr>
                      <m:t>=5,63</m:t>
                    </m:r>
                  </m:oMath>
                </a14:m>
                <a:endParaRPr lang="fr-CA" b="0" dirty="0"/>
              </a:p>
              <a:p>
                <a:r>
                  <a:rPr lang="fr-CA" dirty="0"/>
                  <a:t>Le point critique est égal à </a:t>
                </a:r>
                <a14:m>
                  <m:oMath xmlns:m="http://schemas.openxmlformats.org/officeDocument/2006/math">
                    <m:sSub>
                      <m:sSubPr>
                        <m:ctrlPr>
                          <a:rPr lang="fr-CA" i="1" smtClean="0">
                            <a:latin typeface="Cambria Math" panose="02040503050406030204" pitchFamily="18" charset="0"/>
                          </a:rPr>
                        </m:ctrlPr>
                      </m:sSubPr>
                      <m:e>
                        <m:r>
                          <a:rPr lang="fr-CA" b="0" i="1" smtClean="0">
                            <a:latin typeface="Cambria Math" panose="02040503050406030204" pitchFamily="18" charset="0"/>
                          </a:rPr>
                          <m:t>𝑡</m:t>
                        </m:r>
                      </m:e>
                      <m:sub>
                        <m:r>
                          <a:rPr lang="fr-CA" b="0" i="1" smtClean="0">
                            <a:latin typeface="Cambria Math" panose="02040503050406030204" pitchFamily="18" charset="0"/>
                          </a:rPr>
                          <m:t>9;0,05</m:t>
                        </m:r>
                      </m:sub>
                    </m:sSub>
                    <m:r>
                      <a:rPr lang="fr-CA" b="0" i="1" smtClean="0">
                        <a:latin typeface="Cambria Math" panose="02040503050406030204" pitchFamily="18" charset="0"/>
                      </a:rPr>
                      <m:t>=1,833</m:t>
                    </m:r>
                  </m:oMath>
                </a14:m>
                <a:r>
                  <a:rPr lang="fr-CA" dirty="0"/>
                  <a:t>   qui ne dépasse pas </a:t>
                </a:r>
                <a14:m>
                  <m:oMath xmlns:m="http://schemas.openxmlformats.org/officeDocument/2006/math">
                    <m:sSub>
                      <m:sSubPr>
                        <m:ctrlPr>
                          <a:rPr lang="fr-CA" i="1">
                            <a:latin typeface="Cambria Math" panose="02040503050406030204" pitchFamily="18" charset="0"/>
                          </a:rPr>
                        </m:ctrlPr>
                      </m:sSubPr>
                      <m:e>
                        <m:r>
                          <a:rPr lang="fr-CA" i="1">
                            <a:latin typeface="Cambria Math" panose="02040503050406030204" pitchFamily="18" charset="0"/>
                          </a:rPr>
                          <m:t>𝑡</m:t>
                        </m:r>
                      </m:e>
                      <m:sub>
                        <m:r>
                          <a:rPr lang="fr-CA" i="1">
                            <a:latin typeface="Cambria Math" panose="02040503050406030204" pitchFamily="18" charset="0"/>
                          </a:rPr>
                          <m:t>0</m:t>
                        </m:r>
                      </m:sub>
                    </m:sSub>
                  </m:oMath>
                </a14:m>
                <a:r>
                  <a:rPr lang="fr-CA" dirty="0"/>
                  <a:t>. Donc on  doit  rejeter l’hypothèse nulle et conclure que ce médicament  réduit significativement le taux de cholestérol.</a:t>
                </a:r>
              </a:p>
            </p:txBody>
          </p:sp>
        </mc:Choice>
        <mc:Fallback xmlns="">
          <p:sp>
            <p:nvSpPr>
              <p:cNvPr id="16" name="ZoneTexte 15">
                <a:extLst>
                  <a:ext uri="{FF2B5EF4-FFF2-40B4-BE49-F238E27FC236}">
                    <a16:creationId xmlns:a16="http://schemas.microsoft.com/office/drawing/2014/main" id="{1DCF95D1-F7A2-4347-B09E-AE18E166C1C1}"/>
                  </a:ext>
                </a:extLst>
              </p:cNvPr>
              <p:cNvSpPr txBox="1">
                <a:spLocks noRot="1" noChangeAspect="1" noMove="1" noResize="1" noEditPoints="1" noAdjustHandles="1" noChangeArrowheads="1" noChangeShapeType="1" noTextEdit="1"/>
              </p:cNvSpPr>
              <p:nvPr/>
            </p:nvSpPr>
            <p:spPr>
              <a:xfrm>
                <a:off x="981635" y="4087906"/>
                <a:ext cx="10716379" cy="1771254"/>
              </a:xfrm>
              <a:prstGeom prst="rect">
                <a:avLst/>
              </a:prstGeom>
              <a:blipFill>
                <a:blip r:embed="rId2"/>
                <a:stretch>
                  <a:fillRect l="-455" t="-2069" b="-4828"/>
                </a:stretch>
              </a:blipFill>
            </p:spPr>
            <p:txBody>
              <a:bodyPr/>
              <a:lstStyle/>
              <a:p>
                <a:r>
                  <a:rPr lang="fr-CA">
                    <a:noFill/>
                  </a:rPr>
                  <a:t> </a:t>
                </a:r>
              </a:p>
            </p:txBody>
          </p:sp>
        </mc:Fallback>
      </mc:AlternateContent>
    </p:spTree>
    <p:extLst>
      <p:ext uri="{BB962C8B-B14F-4D97-AF65-F5344CB8AC3E}">
        <p14:creationId xmlns:p14="http://schemas.microsoft.com/office/powerpoint/2010/main" val="389913071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C87611B9-E999-4361-AD74-F756105B4510}"/>
              </a:ext>
            </a:extLst>
          </p:cNvPr>
          <p:cNvSpPr>
            <a:spLocks noGrp="1"/>
          </p:cNvSpPr>
          <p:nvPr>
            <p:ph type="title"/>
          </p:nvPr>
        </p:nvSpPr>
        <p:spPr/>
        <p:txBody>
          <a:bodyPr/>
          <a:lstStyle/>
          <a:p>
            <a:r>
              <a:rPr lang="fr-CA" b="1" dirty="0"/>
              <a:t>Méthode 2</a:t>
            </a:r>
            <a:r>
              <a:rPr lang="fr-CA" dirty="0"/>
              <a:t>: L’utilisation de la valeur-P.</a:t>
            </a:r>
          </a:p>
        </p:txBody>
      </p:sp>
      <p:sp>
        <p:nvSpPr>
          <p:cNvPr id="3" name="Espace réservé du pied de page 2">
            <a:extLst>
              <a:ext uri="{FF2B5EF4-FFF2-40B4-BE49-F238E27FC236}">
                <a16:creationId xmlns:a16="http://schemas.microsoft.com/office/drawing/2014/main" id="{349232EB-B6B5-48A4-BA95-E63011062707}"/>
              </a:ext>
            </a:extLst>
          </p:cNvPr>
          <p:cNvSpPr>
            <a:spLocks noGrp="1"/>
          </p:cNvSpPr>
          <p:nvPr>
            <p:ph type="ftr" sz="quarter" idx="11"/>
          </p:nvPr>
        </p:nvSpPr>
        <p:spPr/>
        <p:txBody>
          <a:bodyPr/>
          <a:lstStyle/>
          <a:p>
            <a:endParaRPr lang="fr-CA"/>
          </a:p>
        </p:txBody>
      </p:sp>
      <p:sp>
        <p:nvSpPr>
          <p:cNvPr id="4" name="Espace réservé du numéro de diapositive 3">
            <a:extLst>
              <a:ext uri="{FF2B5EF4-FFF2-40B4-BE49-F238E27FC236}">
                <a16:creationId xmlns:a16="http://schemas.microsoft.com/office/drawing/2014/main" id="{384F52A6-A9F5-4946-B87B-FE17B849C9FE}"/>
              </a:ext>
            </a:extLst>
          </p:cNvPr>
          <p:cNvSpPr>
            <a:spLocks noGrp="1"/>
          </p:cNvSpPr>
          <p:nvPr>
            <p:ph type="sldNum" sz="quarter" idx="12"/>
          </p:nvPr>
        </p:nvSpPr>
        <p:spPr/>
        <p:txBody>
          <a:bodyPr/>
          <a:lstStyle/>
          <a:p>
            <a:fld id="{26377AD9-CE17-438C-A638-C64D2D42D7CF}" type="slidenum">
              <a:rPr lang="fr-CA" smtClean="0"/>
              <a:t>10</a:t>
            </a:fld>
            <a:endParaRPr lang="fr-CA"/>
          </a:p>
        </p:txBody>
      </p:sp>
      <mc:AlternateContent xmlns:mc="http://schemas.openxmlformats.org/markup-compatibility/2006" xmlns:a14="http://schemas.microsoft.com/office/drawing/2010/main">
        <mc:Choice Requires="a14">
          <p:sp>
            <p:nvSpPr>
              <p:cNvPr id="5" name="ZoneTexte 4">
                <a:extLst>
                  <a:ext uri="{FF2B5EF4-FFF2-40B4-BE49-F238E27FC236}">
                    <a16:creationId xmlns:a16="http://schemas.microsoft.com/office/drawing/2014/main" id="{5A86D7DE-4AD6-45FF-BD96-37840843A287}"/>
                  </a:ext>
                </a:extLst>
              </p:cNvPr>
              <p:cNvSpPr txBox="1"/>
              <p:nvPr/>
            </p:nvSpPr>
            <p:spPr>
              <a:xfrm>
                <a:off x="941294" y="2124635"/>
                <a:ext cx="10412506" cy="2492990"/>
              </a:xfrm>
              <a:prstGeom prst="rect">
                <a:avLst/>
              </a:prstGeom>
              <a:noFill/>
            </p:spPr>
            <p:txBody>
              <a:bodyPr wrap="square" rtlCol="0">
                <a:spAutoFit/>
              </a:bodyPr>
              <a:lstStyle/>
              <a:p>
                <a:r>
                  <a:rPr lang="fr-CA" sz="2400" dirty="0">
                    <a:solidFill>
                      <a:srgbClr val="000000"/>
                    </a:solidFill>
                    <a:effectLst/>
                    <a:latin typeface="Times New Roman" panose="02020603050405020304" pitchFamily="18" charset="0"/>
                    <a:ea typeface="Times New Roman" panose="02020603050405020304" pitchFamily="18" charset="0"/>
                  </a:rPr>
                  <a:t>Puisqu’il s’agit d’un test unilatéral à droite, la valeur P est égale à </a:t>
                </a:r>
                <a14:m>
                  <m:oMath xmlns:m="http://schemas.openxmlformats.org/officeDocument/2006/math">
                    <m:r>
                      <a:rPr lang="fr-CA" sz="2400" i="1">
                        <a:solidFill>
                          <a:srgbClr val="000000"/>
                        </a:solidFill>
                        <a:effectLst/>
                        <a:latin typeface="Cambria Math" panose="02040503050406030204" pitchFamily="18" charset="0"/>
                        <a:ea typeface="Times New Roman" panose="02020603050405020304" pitchFamily="18" charset="0"/>
                      </a:rPr>
                      <m:t>𝑃</m:t>
                    </m:r>
                    <m:r>
                      <a:rPr lang="fr-CA" sz="2400" i="1">
                        <a:solidFill>
                          <a:srgbClr val="000000"/>
                        </a:solidFill>
                        <a:effectLst/>
                        <a:latin typeface="Cambria Math" panose="02040503050406030204" pitchFamily="18" charset="0"/>
                        <a:ea typeface="Times New Roman" panose="02020603050405020304" pitchFamily="18" charset="0"/>
                      </a:rPr>
                      <m:t>(</m:t>
                    </m:r>
                    <m:sSub>
                      <m:sSubPr>
                        <m:ctrlPr>
                          <a:rPr lang="fr-CA" sz="2400" i="1">
                            <a:solidFill>
                              <a:srgbClr val="000000"/>
                            </a:solidFill>
                            <a:effectLst/>
                            <a:latin typeface="Cambria Math" panose="02040503050406030204" pitchFamily="18" charset="0"/>
                            <a:ea typeface="Times New Roman" panose="02020603050405020304" pitchFamily="18" charset="0"/>
                          </a:rPr>
                        </m:ctrlPr>
                      </m:sSubPr>
                      <m:e>
                        <m:r>
                          <a:rPr lang="fr-CA" sz="2400" i="1">
                            <a:solidFill>
                              <a:srgbClr val="000000"/>
                            </a:solidFill>
                            <a:effectLst/>
                            <a:latin typeface="Cambria Math" panose="02040503050406030204" pitchFamily="18" charset="0"/>
                            <a:ea typeface="Times New Roman" panose="02020603050405020304" pitchFamily="18" charset="0"/>
                          </a:rPr>
                          <m:t>𝑇</m:t>
                        </m:r>
                      </m:e>
                      <m:sub>
                        <m:r>
                          <a:rPr lang="fr-CA" sz="2400" i="1">
                            <a:solidFill>
                              <a:srgbClr val="000000"/>
                            </a:solidFill>
                            <a:effectLst/>
                            <a:latin typeface="Cambria Math" panose="02040503050406030204" pitchFamily="18" charset="0"/>
                            <a:ea typeface="Times New Roman" panose="02020603050405020304" pitchFamily="18" charset="0"/>
                          </a:rPr>
                          <m:t>9</m:t>
                        </m:r>
                      </m:sub>
                    </m:sSub>
                    <m:r>
                      <a:rPr lang="fr-CA" sz="2400" i="1">
                        <a:solidFill>
                          <a:srgbClr val="000000"/>
                        </a:solidFill>
                        <a:effectLst/>
                        <a:latin typeface="Cambria Math" panose="02040503050406030204" pitchFamily="18" charset="0"/>
                        <a:ea typeface="Times New Roman" panose="02020603050405020304" pitchFamily="18" charset="0"/>
                      </a:rPr>
                      <m:t>&gt;5,63)</m:t>
                    </m:r>
                  </m:oMath>
                </a14:m>
                <a:r>
                  <a:rPr lang="fr-CA" sz="2400" dirty="0">
                    <a:solidFill>
                      <a:srgbClr val="000000"/>
                    </a:solidFill>
                    <a:effectLst/>
                    <a:latin typeface="Times New Roman" panose="02020603050405020304" pitchFamily="18" charset="0"/>
                    <a:ea typeface="Times New Roman" panose="02020603050405020304" pitchFamily="18" charset="0"/>
                  </a:rPr>
                  <a:t> cette probabilité est inférieure à 0,005 donc inférieure au seuil de signification de 5%. On doit donc rejeter l’hypothèse nulle</a:t>
                </a:r>
                <a:r>
                  <a:rPr lang="fr-CA" sz="2400" dirty="0">
                    <a:solidFill>
                      <a:srgbClr val="000000"/>
                    </a:solidFill>
                    <a:latin typeface="Times New Roman" panose="02020603050405020304" pitchFamily="18" charset="0"/>
                    <a:ea typeface="Times New Roman" panose="02020603050405020304" pitchFamily="18" charset="0"/>
                  </a:rPr>
                  <a:t> et conclure comme précédemment.</a:t>
                </a:r>
              </a:p>
              <a:p>
                <a:r>
                  <a:rPr lang="fr-CA" sz="2400" dirty="0">
                    <a:solidFill>
                      <a:srgbClr val="000000"/>
                    </a:solidFill>
                    <a:effectLst/>
                    <a:latin typeface="Times New Roman" panose="02020603050405020304" pitchFamily="18" charset="0"/>
                    <a:ea typeface="Times New Roman" panose="02020603050405020304" pitchFamily="18" charset="0"/>
                  </a:rPr>
                  <a:t> On peut  calculer exactement  cette valeur-P, en tapant:</a:t>
                </a:r>
              </a:p>
              <a:p>
                <a:r>
                  <a:rPr lang="fr-CA" sz="2400" dirty="0">
                    <a:solidFill>
                      <a:srgbClr val="000000"/>
                    </a:solidFill>
                    <a:latin typeface="Times New Roman" panose="02020603050405020304" pitchFamily="18" charset="0"/>
                    <a:ea typeface="Times New Roman" panose="02020603050405020304" pitchFamily="18" charset="0"/>
                  </a:rPr>
                  <a:t>1-pt(5.63,9) et on obtient: 0.0001608493</a:t>
                </a:r>
              </a:p>
              <a:p>
                <a:endParaRPr lang="fr-CA" sz="1800" dirty="0">
                  <a:solidFill>
                    <a:srgbClr val="000000"/>
                  </a:solidFill>
                  <a:effectLst/>
                  <a:latin typeface="Times New Roman" panose="02020603050405020304" pitchFamily="18" charset="0"/>
                  <a:ea typeface="Times New Roman" panose="02020603050405020304" pitchFamily="18" charset="0"/>
                </a:endParaRPr>
              </a:p>
              <a:p>
                <a:endParaRPr lang="fr-CA" dirty="0"/>
              </a:p>
            </p:txBody>
          </p:sp>
        </mc:Choice>
        <mc:Fallback xmlns="">
          <p:sp>
            <p:nvSpPr>
              <p:cNvPr id="5" name="ZoneTexte 4">
                <a:extLst>
                  <a:ext uri="{FF2B5EF4-FFF2-40B4-BE49-F238E27FC236}">
                    <a16:creationId xmlns:a16="http://schemas.microsoft.com/office/drawing/2014/main" id="{5A86D7DE-4AD6-45FF-BD96-37840843A287}"/>
                  </a:ext>
                </a:extLst>
              </p:cNvPr>
              <p:cNvSpPr txBox="1">
                <a:spLocks noRot="1" noChangeAspect="1" noMove="1" noResize="1" noEditPoints="1" noAdjustHandles="1" noChangeArrowheads="1" noChangeShapeType="1" noTextEdit="1"/>
              </p:cNvSpPr>
              <p:nvPr/>
            </p:nvSpPr>
            <p:spPr>
              <a:xfrm>
                <a:off x="941294" y="2124635"/>
                <a:ext cx="10412506" cy="2492990"/>
              </a:xfrm>
              <a:prstGeom prst="rect">
                <a:avLst/>
              </a:prstGeom>
              <a:blipFill>
                <a:blip r:embed="rId2"/>
                <a:stretch>
                  <a:fillRect l="-878" t="-1961"/>
                </a:stretch>
              </a:blipFill>
            </p:spPr>
            <p:txBody>
              <a:bodyPr/>
              <a:lstStyle/>
              <a:p>
                <a:r>
                  <a:rPr lang="fr-CA">
                    <a:noFill/>
                  </a:rPr>
                  <a:t> </a:t>
                </a:r>
              </a:p>
            </p:txBody>
          </p:sp>
        </mc:Fallback>
      </mc:AlternateContent>
    </p:spTree>
    <p:extLst>
      <p:ext uri="{BB962C8B-B14F-4D97-AF65-F5344CB8AC3E}">
        <p14:creationId xmlns:p14="http://schemas.microsoft.com/office/powerpoint/2010/main" val="171372242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26F91972-B723-4C0F-94D2-23FFA5A308FF}"/>
              </a:ext>
            </a:extLst>
          </p:cNvPr>
          <p:cNvSpPr>
            <a:spLocks noGrp="1"/>
          </p:cNvSpPr>
          <p:nvPr>
            <p:ph type="title"/>
          </p:nvPr>
        </p:nvSpPr>
        <p:spPr/>
        <p:txBody>
          <a:bodyPr/>
          <a:lstStyle/>
          <a:p>
            <a:r>
              <a:rPr lang="fr-CA" b="1" dirty="0"/>
              <a:t>Méthode 3:</a:t>
            </a:r>
            <a:r>
              <a:rPr lang="fr-CA" dirty="0"/>
              <a:t> L’utilisation de R.</a:t>
            </a:r>
          </a:p>
        </p:txBody>
      </p:sp>
      <p:sp>
        <p:nvSpPr>
          <p:cNvPr id="3" name="Espace réservé du pied de page 2">
            <a:extLst>
              <a:ext uri="{FF2B5EF4-FFF2-40B4-BE49-F238E27FC236}">
                <a16:creationId xmlns:a16="http://schemas.microsoft.com/office/drawing/2014/main" id="{6E8C0D40-1771-458F-B8EE-2BD8D24245AB}"/>
              </a:ext>
            </a:extLst>
          </p:cNvPr>
          <p:cNvSpPr>
            <a:spLocks noGrp="1"/>
          </p:cNvSpPr>
          <p:nvPr>
            <p:ph type="ftr" sz="quarter" idx="11"/>
          </p:nvPr>
        </p:nvSpPr>
        <p:spPr/>
        <p:txBody>
          <a:bodyPr/>
          <a:lstStyle/>
          <a:p>
            <a:endParaRPr lang="fr-CA"/>
          </a:p>
        </p:txBody>
      </p:sp>
      <p:sp>
        <p:nvSpPr>
          <p:cNvPr id="4" name="Espace réservé du numéro de diapositive 3">
            <a:extLst>
              <a:ext uri="{FF2B5EF4-FFF2-40B4-BE49-F238E27FC236}">
                <a16:creationId xmlns:a16="http://schemas.microsoft.com/office/drawing/2014/main" id="{A0F55900-78D2-4517-8731-A2ED4243AF61}"/>
              </a:ext>
            </a:extLst>
          </p:cNvPr>
          <p:cNvSpPr>
            <a:spLocks noGrp="1"/>
          </p:cNvSpPr>
          <p:nvPr>
            <p:ph type="sldNum" sz="quarter" idx="12"/>
          </p:nvPr>
        </p:nvSpPr>
        <p:spPr/>
        <p:txBody>
          <a:bodyPr/>
          <a:lstStyle/>
          <a:p>
            <a:fld id="{26377AD9-CE17-438C-A638-C64D2D42D7CF}" type="slidenum">
              <a:rPr lang="fr-CA" smtClean="0"/>
              <a:t>11</a:t>
            </a:fld>
            <a:endParaRPr lang="fr-CA"/>
          </a:p>
        </p:txBody>
      </p:sp>
      <p:sp>
        <p:nvSpPr>
          <p:cNvPr id="5" name="ZoneTexte 4">
            <a:extLst>
              <a:ext uri="{FF2B5EF4-FFF2-40B4-BE49-F238E27FC236}">
                <a16:creationId xmlns:a16="http://schemas.microsoft.com/office/drawing/2014/main" id="{507592FA-93A7-4980-A72B-83AC8EF39609}"/>
              </a:ext>
            </a:extLst>
          </p:cNvPr>
          <p:cNvSpPr txBox="1"/>
          <p:nvPr/>
        </p:nvSpPr>
        <p:spPr>
          <a:xfrm>
            <a:off x="1075765" y="1922929"/>
            <a:ext cx="8901953" cy="4247317"/>
          </a:xfrm>
          <a:prstGeom prst="rect">
            <a:avLst/>
          </a:prstGeom>
          <a:noFill/>
        </p:spPr>
        <p:txBody>
          <a:bodyPr wrap="square" rtlCol="0">
            <a:spAutoFit/>
          </a:bodyPr>
          <a:lstStyle/>
          <a:p>
            <a:r>
              <a:rPr lang="en-US" dirty="0"/>
              <a:t>On pose d=x-y.</a:t>
            </a:r>
          </a:p>
          <a:p>
            <a:endParaRPr lang="en-US"/>
          </a:p>
          <a:p>
            <a:r>
              <a:rPr lang="en-US"/>
              <a:t>En</a:t>
            </a:r>
            <a:r>
              <a:rPr lang="en-US" dirty="0"/>
              <a:t> </a:t>
            </a:r>
            <a:r>
              <a:rPr lang="en-US" dirty="0" err="1"/>
              <a:t>tapant</a:t>
            </a:r>
            <a:r>
              <a:rPr lang="en-US" dirty="0"/>
              <a:t>: </a:t>
            </a:r>
            <a:r>
              <a:rPr lang="en-US" dirty="0" err="1"/>
              <a:t>t.test</a:t>
            </a:r>
            <a:r>
              <a:rPr lang="en-US" dirty="0"/>
              <a:t>(</a:t>
            </a:r>
            <a:r>
              <a:rPr lang="en-US" dirty="0" err="1"/>
              <a:t>d,alternative</a:t>
            </a:r>
            <a:r>
              <a:rPr lang="en-US" dirty="0"/>
              <a:t>="greater")</a:t>
            </a:r>
          </a:p>
          <a:p>
            <a:endParaRPr lang="en-US" dirty="0"/>
          </a:p>
          <a:p>
            <a:endParaRPr lang="en-US" dirty="0"/>
          </a:p>
          <a:p>
            <a:r>
              <a:rPr lang="en-US" dirty="0"/>
              <a:t>t = 5.6319, df = 9, p-value = 0.0001605</a:t>
            </a:r>
          </a:p>
          <a:p>
            <a:r>
              <a:rPr lang="en-US" dirty="0"/>
              <a:t>alternative hypothesis: true mean is greater than 0</a:t>
            </a:r>
          </a:p>
          <a:p>
            <a:r>
              <a:rPr lang="en-US" dirty="0"/>
              <a:t>95 percent confidence interval:</a:t>
            </a:r>
          </a:p>
          <a:p>
            <a:r>
              <a:rPr lang="en-US" dirty="0"/>
              <a:t> 22.05654      Inf</a:t>
            </a:r>
          </a:p>
          <a:p>
            <a:r>
              <a:rPr lang="en-US" dirty="0"/>
              <a:t>sample estimates:</a:t>
            </a:r>
          </a:p>
          <a:p>
            <a:r>
              <a:rPr lang="en-US" dirty="0"/>
              <a:t>mean of x </a:t>
            </a:r>
          </a:p>
          <a:p>
            <a:r>
              <a:rPr lang="en-US" dirty="0"/>
              <a:t>     32.7</a:t>
            </a:r>
          </a:p>
          <a:p>
            <a:endParaRPr lang="en-US" dirty="0"/>
          </a:p>
          <a:p>
            <a:r>
              <a:rPr lang="en-US" dirty="0"/>
              <a:t>On doit </a:t>
            </a:r>
            <a:r>
              <a:rPr lang="fr-CA" dirty="0"/>
              <a:t>donc rejeter l’hypothèse nulle et conclure que l’exercice physique réduit significativement le taux de cholestérol.</a:t>
            </a:r>
          </a:p>
        </p:txBody>
      </p:sp>
    </p:spTree>
    <p:extLst>
      <p:ext uri="{BB962C8B-B14F-4D97-AF65-F5344CB8AC3E}">
        <p14:creationId xmlns:p14="http://schemas.microsoft.com/office/powerpoint/2010/main" val="374051344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1" name="Rectangle 10">
            <a:extLst>
              <a:ext uri="{FF2B5EF4-FFF2-40B4-BE49-F238E27FC236}">
                <a16:creationId xmlns:a16="http://schemas.microsoft.com/office/drawing/2014/main" id="{201CC55D-ED54-4C5C-95E6-10947BD1103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re 1">
            <a:extLst>
              <a:ext uri="{FF2B5EF4-FFF2-40B4-BE49-F238E27FC236}">
                <a16:creationId xmlns:a16="http://schemas.microsoft.com/office/drawing/2014/main" id="{6C47F638-79C7-456B-9469-7562A87A5AE7}"/>
              </a:ext>
            </a:extLst>
          </p:cNvPr>
          <p:cNvSpPr>
            <a:spLocks noGrp="1"/>
          </p:cNvSpPr>
          <p:nvPr>
            <p:ph type="title"/>
          </p:nvPr>
        </p:nvSpPr>
        <p:spPr>
          <a:xfrm>
            <a:off x="589560" y="856180"/>
            <a:ext cx="4560584" cy="1128068"/>
          </a:xfrm>
        </p:spPr>
        <p:txBody>
          <a:bodyPr vert="horz" lIns="91440" tIns="45720" rIns="91440" bIns="45720" rtlCol="0" anchor="ctr">
            <a:normAutofit/>
          </a:bodyPr>
          <a:lstStyle/>
          <a:p>
            <a:r>
              <a:rPr lang="en-US" sz="3700"/>
              <a:t>Autre façon d’utiliser le logiciel R.</a:t>
            </a:r>
          </a:p>
        </p:txBody>
      </p:sp>
      <p:grpSp>
        <p:nvGrpSpPr>
          <p:cNvPr id="13" name="Group 12">
            <a:extLst>
              <a:ext uri="{FF2B5EF4-FFF2-40B4-BE49-F238E27FC236}">
                <a16:creationId xmlns:a16="http://schemas.microsoft.com/office/drawing/2014/main" id="{1DE889C7-FAD6-4397-98E2-05D503484459}"/>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1083484"/>
            <a:ext cx="355196" cy="673460"/>
            <a:chOff x="0" y="823811"/>
            <a:chExt cx="355196" cy="673460"/>
          </a:xfrm>
        </p:grpSpPr>
        <p:sp>
          <p:nvSpPr>
            <p:cNvPr id="14" name="Rectangle 13">
              <a:extLst>
                <a:ext uri="{FF2B5EF4-FFF2-40B4-BE49-F238E27FC236}">
                  <a16:creationId xmlns:a16="http://schemas.microsoft.com/office/drawing/2014/main" id="{F399A70F-F8CD-4992-9EF5-6CF15472E73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823811"/>
              <a:ext cx="87363" cy="67346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4">
              <a:extLst>
                <a:ext uri="{FF2B5EF4-FFF2-40B4-BE49-F238E27FC236}">
                  <a16:creationId xmlns:a16="http://schemas.microsoft.com/office/drawing/2014/main" id="{48F4FEDC-6D80-458C-A665-075D9B9500F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59341" y="823811"/>
              <a:ext cx="195855" cy="67346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17" name="Rectangle 16">
            <a:extLst>
              <a:ext uri="{FF2B5EF4-FFF2-40B4-BE49-F238E27FC236}">
                <a16:creationId xmlns:a16="http://schemas.microsoft.com/office/drawing/2014/main" id="{3873B707-463F-40B0-8227-E8CC6C67EB2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665085" y="2090569"/>
            <a:ext cx="4297680" cy="27432"/>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ZoneTexte 4">
            <a:extLst>
              <a:ext uri="{FF2B5EF4-FFF2-40B4-BE49-F238E27FC236}">
                <a16:creationId xmlns:a16="http://schemas.microsoft.com/office/drawing/2014/main" id="{DBE9F48C-ACC1-4659-9F7E-E8E9C8F254AF}"/>
              </a:ext>
            </a:extLst>
          </p:cNvPr>
          <p:cNvSpPr txBox="1"/>
          <p:nvPr/>
        </p:nvSpPr>
        <p:spPr>
          <a:xfrm>
            <a:off x="590719" y="2330505"/>
            <a:ext cx="4559425" cy="3979585"/>
          </a:xfrm>
          <a:prstGeom prst="rect">
            <a:avLst/>
          </a:prstGeom>
        </p:spPr>
        <p:txBody>
          <a:bodyPr vert="horz" lIns="91440" tIns="45720" rIns="91440" bIns="45720" rtlCol="0" anchor="ctr">
            <a:normAutofit/>
          </a:bodyPr>
          <a:lstStyle/>
          <a:p>
            <a:pPr indent="-228600" defTabSz="914400">
              <a:lnSpc>
                <a:spcPct val="90000"/>
              </a:lnSpc>
              <a:spcAft>
                <a:spcPts val="800"/>
              </a:spcAft>
              <a:buFont typeface="Arial" panose="020B0604020202020204" pitchFamily="34" charset="0"/>
              <a:buChar char="•"/>
            </a:pPr>
            <a:r>
              <a:rPr lang="en-US" sz="2000">
                <a:effectLst/>
              </a:rPr>
              <a:t>On va d’abord mettre les valeurs des observations dans 2 vecteurs nommés x et y, ensuite poser d=x-y.</a:t>
            </a:r>
          </a:p>
          <a:p>
            <a:pPr marL="342900" lvl="0" indent="-228600" defTabSz="914400">
              <a:lnSpc>
                <a:spcPct val="90000"/>
              </a:lnSpc>
              <a:spcAft>
                <a:spcPts val="800"/>
              </a:spcAft>
              <a:buFont typeface="Arial" panose="020B0604020202020204" pitchFamily="34" charset="0"/>
              <a:buChar char="•"/>
            </a:pPr>
            <a:r>
              <a:rPr lang="en-US" sz="2000">
                <a:effectLst/>
              </a:rPr>
              <a:t>Vérifions ensuite la normalité des différences, en traçant un diagramme quantiles-quantiles.</a:t>
            </a:r>
          </a:p>
          <a:p>
            <a:pPr marL="457200" indent="-228600" defTabSz="914400">
              <a:lnSpc>
                <a:spcPct val="90000"/>
              </a:lnSpc>
              <a:spcAft>
                <a:spcPts val="800"/>
              </a:spcAft>
              <a:buFont typeface="Arial" panose="020B0604020202020204" pitchFamily="34" charset="0"/>
              <a:buChar char="•"/>
            </a:pPr>
            <a:r>
              <a:rPr lang="en-US" sz="2000">
                <a:effectLst/>
              </a:rPr>
              <a:t>On tape : qqnorm(d)</a:t>
            </a:r>
          </a:p>
          <a:p>
            <a:pPr marL="457200" indent="-228600" defTabSz="914400">
              <a:lnSpc>
                <a:spcPct val="90000"/>
              </a:lnSpc>
              <a:spcAft>
                <a:spcPts val="800"/>
              </a:spcAft>
              <a:buFont typeface="Arial" panose="020B0604020202020204" pitchFamily="34" charset="0"/>
              <a:buChar char="•"/>
            </a:pPr>
            <a:r>
              <a:rPr lang="en-US" sz="2000">
                <a:effectLst/>
              </a:rPr>
              <a:t>abline(mean(d),sd(d))</a:t>
            </a:r>
          </a:p>
          <a:p>
            <a:pPr indent="-228600" defTabSz="914400">
              <a:lnSpc>
                <a:spcPct val="90000"/>
              </a:lnSpc>
              <a:buFont typeface="Arial" panose="020B0604020202020204" pitchFamily="34" charset="0"/>
              <a:buChar char="•"/>
            </a:pPr>
            <a:endParaRPr lang="en-US" sz="2000"/>
          </a:p>
        </p:txBody>
      </p:sp>
      <p:sp>
        <p:nvSpPr>
          <p:cNvPr id="19" name="Rectangle 18">
            <a:extLst>
              <a:ext uri="{FF2B5EF4-FFF2-40B4-BE49-F238E27FC236}">
                <a16:creationId xmlns:a16="http://schemas.microsoft.com/office/drawing/2014/main" id="{C13237C8-E62C-4F0D-A318-BD6FB6C2D13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10697670" y="0"/>
            <a:ext cx="1494330" cy="685800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Rectangle 20">
            <a:extLst>
              <a:ext uri="{FF2B5EF4-FFF2-40B4-BE49-F238E27FC236}">
                <a16:creationId xmlns:a16="http://schemas.microsoft.com/office/drawing/2014/main" id="{19C9EAEA-39D0-4B0E-A0EB-51E7B26740B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685810" y="513853"/>
            <a:ext cx="6009366" cy="5834577"/>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6" name="Image 5">
            <a:extLst>
              <a:ext uri="{FF2B5EF4-FFF2-40B4-BE49-F238E27FC236}">
                <a16:creationId xmlns:a16="http://schemas.microsoft.com/office/drawing/2014/main" id="{240EE68E-BF00-40F6-A316-9931E614542D}"/>
              </a:ext>
            </a:extLst>
          </p:cNvPr>
          <p:cNvPicPr/>
          <p:nvPr/>
        </p:nvPicPr>
        <p:blipFill rotWithShape="1">
          <a:blip r:embed="rId2"/>
          <a:srcRect t="573" r="4" b="2249"/>
          <a:stretch/>
        </p:blipFill>
        <p:spPr>
          <a:xfrm>
            <a:off x="5977788" y="799352"/>
            <a:ext cx="5425410" cy="5259296"/>
          </a:xfrm>
          <a:prstGeom prst="rect">
            <a:avLst/>
          </a:prstGeom>
        </p:spPr>
      </p:pic>
      <p:sp>
        <p:nvSpPr>
          <p:cNvPr id="3" name="Espace réservé du pied de page 2">
            <a:extLst>
              <a:ext uri="{FF2B5EF4-FFF2-40B4-BE49-F238E27FC236}">
                <a16:creationId xmlns:a16="http://schemas.microsoft.com/office/drawing/2014/main" id="{01237307-C995-438D-916C-990F72725E75}"/>
              </a:ext>
            </a:extLst>
          </p:cNvPr>
          <p:cNvSpPr>
            <a:spLocks noGrp="1"/>
          </p:cNvSpPr>
          <p:nvPr>
            <p:ph type="ftr" sz="quarter" idx="11"/>
          </p:nvPr>
        </p:nvSpPr>
        <p:spPr>
          <a:xfrm>
            <a:off x="5685810" y="6492240"/>
            <a:ext cx="3050866" cy="365125"/>
          </a:xfrm>
        </p:spPr>
        <p:txBody>
          <a:bodyPr vert="horz" lIns="91440" tIns="45720" rIns="91440" bIns="45720" rtlCol="0" anchor="ctr">
            <a:normAutofit/>
          </a:bodyPr>
          <a:lstStyle/>
          <a:p>
            <a:pPr algn="l" defTabSz="914400">
              <a:defRPr/>
            </a:pPr>
            <a:endParaRPr lang="en-US" sz="1200" kern="1200">
              <a:solidFill>
                <a:prstClr val="black">
                  <a:tint val="75000"/>
                </a:prstClr>
              </a:solidFill>
              <a:latin typeface="Calibri" panose="020F0502020204030204"/>
              <a:ea typeface="+mn-ea"/>
              <a:cs typeface="+mn-cs"/>
            </a:endParaRPr>
          </a:p>
        </p:txBody>
      </p:sp>
      <p:sp>
        <p:nvSpPr>
          <p:cNvPr id="4" name="Espace réservé du numéro de diapositive 3">
            <a:extLst>
              <a:ext uri="{FF2B5EF4-FFF2-40B4-BE49-F238E27FC236}">
                <a16:creationId xmlns:a16="http://schemas.microsoft.com/office/drawing/2014/main" id="{7690B38E-8A5B-41F7-BB36-3D8BB0B3A99C}"/>
              </a:ext>
            </a:extLst>
          </p:cNvPr>
          <p:cNvSpPr>
            <a:spLocks noGrp="1"/>
          </p:cNvSpPr>
          <p:nvPr>
            <p:ph type="sldNum" sz="quarter" idx="12"/>
          </p:nvPr>
        </p:nvSpPr>
        <p:spPr>
          <a:xfrm>
            <a:off x="9385070" y="6492240"/>
            <a:ext cx="1055716" cy="365125"/>
          </a:xfrm>
        </p:spPr>
        <p:txBody>
          <a:bodyPr vert="horz" lIns="91440" tIns="45720" rIns="91440" bIns="45720" rtlCol="0" anchor="ctr">
            <a:normAutofit/>
          </a:bodyPr>
          <a:lstStyle/>
          <a:p>
            <a:pPr defTabSz="914400">
              <a:spcAft>
                <a:spcPts val="600"/>
              </a:spcAft>
              <a:defRPr/>
            </a:pPr>
            <a:fld id="{26377AD9-CE17-438C-A638-C64D2D42D7CF}" type="slidenum">
              <a:rPr lang="en-US" smtClean="0">
                <a:solidFill>
                  <a:prstClr val="black">
                    <a:tint val="75000"/>
                  </a:prstClr>
                </a:solidFill>
                <a:latin typeface="Calibri" panose="020F0502020204030204"/>
              </a:rPr>
              <a:pPr defTabSz="914400">
                <a:spcAft>
                  <a:spcPts val="600"/>
                </a:spcAft>
                <a:defRPr/>
              </a:pPr>
              <a:t>12</a:t>
            </a:fld>
            <a:endParaRPr lang="en-US">
              <a:solidFill>
                <a:prstClr val="black">
                  <a:tint val="75000"/>
                </a:prstClr>
              </a:solidFill>
              <a:latin typeface="Calibri" panose="020F0502020204030204"/>
            </a:endParaRPr>
          </a:p>
        </p:txBody>
      </p:sp>
    </p:spTree>
    <p:extLst>
      <p:ext uri="{BB962C8B-B14F-4D97-AF65-F5344CB8AC3E}">
        <p14:creationId xmlns:p14="http://schemas.microsoft.com/office/powerpoint/2010/main" val="99742180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CDC3DC32-8CDD-4444-8E3E-5B3CAC55CB16}"/>
              </a:ext>
            </a:extLst>
          </p:cNvPr>
          <p:cNvSpPr>
            <a:spLocks noGrp="1"/>
          </p:cNvSpPr>
          <p:nvPr>
            <p:ph type="title"/>
          </p:nvPr>
        </p:nvSpPr>
        <p:spPr/>
        <p:txBody>
          <a:bodyPr/>
          <a:lstStyle/>
          <a:p>
            <a:r>
              <a:rPr lang="fr-CA" dirty="0"/>
              <a:t>Suite)</a:t>
            </a:r>
          </a:p>
        </p:txBody>
      </p:sp>
      <p:sp>
        <p:nvSpPr>
          <p:cNvPr id="3" name="Espace réservé du pied de page 2">
            <a:extLst>
              <a:ext uri="{FF2B5EF4-FFF2-40B4-BE49-F238E27FC236}">
                <a16:creationId xmlns:a16="http://schemas.microsoft.com/office/drawing/2014/main" id="{32454011-E50E-4A04-BB35-558EB315A537}"/>
              </a:ext>
            </a:extLst>
          </p:cNvPr>
          <p:cNvSpPr>
            <a:spLocks noGrp="1"/>
          </p:cNvSpPr>
          <p:nvPr>
            <p:ph type="ftr" sz="quarter" idx="11"/>
          </p:nvPr>
        </p:nvSpPr>
        <p:spPr/>
        <p:txBody>
          <a:bodyPr/>
          <a:lstStyle/>
          <a:p>
            <a:endParaRPr lang="fr-CA"/>
          </a:p>
        </p:txBody>
      </p:sp>
      <p:sp>
        <p:nvSpPr>
          <p:cNvPr id="4" name="Espace réservé du numéro de diapositive 3">
            <a:extLst>
              <a:ext uri="{FF2B5EF4-FFF2-40B4-BE49-F238E27FC236}">
                <a16:creationId xmlns:a16="http://schemas.microsoft.com/office/drawing/2014/main" id="{72846675-BB29-42BD-9531-A1D92B39F5E4}"/>
              </a:ext>
            </a:extLst>
          </p:cNvPr>
          <p:cNvSpPr>
            <a:spLocks noGrp="1"/>
          </p:cNvSpPr>
          <p:nvPr>
            <p:ph type="sldNum" sz="quarter" idx="12"/>
          </p:nvPr>
        </p:nvSpPr>
        <p:spPr/>
        <p:txBody>
          <a:bodyPr/>
          <a:lstStyle/>
          <a:p>
            <a:fld id="{26377AD9-CE17-438C-A638-C64D2D42D7CF}" type="slidenum">
              <a:rPr lang="fr-CA" smtClean="0"/>
              <a:t>13</a:t>
            </a:fld>
            <a:endParaRPr lang="fr-CA"/>
          </a:p>
        </p:txBody>
      </p:sp>
      <p:sp>
        <p:nvSpPr>
          <p:cNvPr id="5" name="ZoneTexte 4">
            <a:extLst>
              <a:ext uri="{FF2B5EF4-FFF2-40B4-BE49-F238E27FC236}">
                <a16:creationId xmlns:a16="http://schemas.microsoft.com/office/drawing/2014/main" id="{B5A99CB6-E9D3-4CBB-8247-D792A4EB6992}"/>
              </a:ext>
            </a:extLst>
          </p:cNvPr>
          <p:cNvSpPr txBox="1"/>
          <p:nvPr/>
        </p:nvSpPr>
        <p:spPr>
          <a:xfrm>
            <a:off x="882869" y="2349062"/>
            <a:ext cx="9774621" cy="2759730"/>
          </a:xfrm>
          <a:prstGeom prst="rect">
            <a:avLst/>
          </a:prstGeom>
          <a:noFill/>
        </p:spPr>
        <p:txBody>
          <a:bodyPr wrap="square" rtlCol="0">
            <a:spAutoFit/>
          </a:bodyPr>
          <a:lstStyle/>
          <a:p>
            <a:pPr lvl="0" algn="l">
              <a:lnSpc>
                <a:spcPct val="200000"/>
              </a:lnSpc>
              <a:spcAft>
                <a:spcPts val="800"/>
              </a:spcAft>
            </a:pPr>
            <a:r>
              <a:rPr lang="fr-CA" sz="2400" dirty="0" err="1">
                <a:solidFill>
                  <a:srgbClr val="000000"/>
                </a:solidFill>
                <a:latin typeface="Times New Roman" panose="02020603050405020304" pitchFamily="18" charset="0"/>
                <a:ea typeface="Times New Roman" panose="02020603050405020304" pitchFamily="18" charset="0"/>
              </a:rPr>
              <a:t>t</a:t>
            </a:r>
            <a:r>
              <a:rPr lang="fr-CA" sz="2400" dirty="0" err="1">
                <a:solidFill>
                  <a:srgbClr val="000000"/>
                </a:solidFill>
                <a:effectLst/>
                <a:latin typeface="Times New Roman" panose="02020603050405020304" pitchFamily="18" charset="0"/>
                <a:ea typeface="Times New Roman" panose="02020603050405020304" pitchFamily="18" charset="0"/>
              </a:rPr>
              <a:t>.test</a:t>
            </a:r>
            <a:r>
              <a:rPr lang="fr-CA" sz="2400" dirty="0">
                <a:solidFill>
                  <a:srgbClr val="000000"/>
                </a:solidFill>
                <a:effectLst/>
                <a:latin typeface="Times New Roman" panose="02020603050405020304" pitchFamily="18" charset="0"/>
                <a:ea typeface="Times New Roman" panose="02020603050405020304" pitchFamily="18" charset="0"/>
              </a:rPr>
              <a:t>(</a:t>
            </a:r>
            <a:r>
              <a:rPr lang="fr-CA" sz="2400" dirty="0" err="1">
                <a:solidFill>
                  <a:srgbClr val="000000"/>
                </a:solidFill>
                <a:effectLst/>
                <a:latin typeface="Times New Roman" panose="02020603050405020304" pitchFamily="18" charset="0"/>
                <a:ea typeface="Times New Roman" panose="02020603050405020304" pitchFamily="18" charset="0"/>
              </a:rPr>
              <a:t>x,y,alternative</a:t>
            </a:r>
            <a:r>
              <a:rPr lang="fr-CA" sz="2400" dirty="0">
                <a:solidFill>
                  <a:srgbClr val="000000"/>
                </a:solidFill>
                <a:effectLst/>
                <a:latin typeface="Times New Roman" panose="02020603050405020304" pitchFamily="18" charset="0"/>
                <a:ea typeface="Times New Roman" panose="02020603050405020304" pitchFamily="18" charset="0"/>
              </a:rPr>
              <a:t>="</a:t>
            </a:r>
            <a:r>
              <a:rPr lang="fr-CA" sz="2400" dirty="0" err="1">
                <a:solidFill>
                  <a:srgbClr val="000000"/>
                </a:solidFill>
                <a:effectLst/>
                <a:latin typeface="Times New Roman" panose="02020603050405020304" pitchFamily="18" charset="0"/>
                <a:ea typeface="Times New Roman" panose="02020603050405020304" pitchFamily="18" charset="0"/>
              </a:rPr>
              <a:t>greater</a:t>
            </a:r>
            <a:r>
              <a:rPr lang="fr-CA" sz="2400" dirty="0">
                <a:solidFill>
                  <a:srgbClr val="000000"/>
                </a:solidFill>
                <a:effectLst/>
                <a:latin typeface="Times New Roman" panose="02020603050405020304" pitchFamily="18" charset="0"/>
                <a:ea typeface="Times New Roman" panose="02020603050405020304" pitchFamily="18" charset="0"/>
              </a:rPr>
              <a:t>",</a:t>
            </a:r>
            <a:r>
              <a:rPr lang="fr-CA" sz="2400" dirty="0" err="1">
                <a:solidFill>
                  <a:srgbClr val="000000"/>
                </a:solidFill>
                <a:effectLst/>
                <a:latin typeface="Times New Roman" panose="02020603050405020304" pitchFamily="18" charset="0"/>
                <a:ea typeface="Times New Roman" panose="02020603050405020304" pitchFamily="18" charset="0"/>
              </a:rPr>
              <a:t>paired</a:t>
            </a:r>
            <a:r>
              <a:rPr lang="fr-CA" sz="2400" dirty="0">
                <a:solidFill>
                  <a:srgbClr val="000000"/>
                </a:solidFill>
                <a:effectLst/>
                <a:latin typeface="Times New Roman" panose="02020603050405020304" pitchFamily="18" charset="0"/>
                <a:ea typeface="Times New Roman" panose="02020603050405020304" pitchFamily="18" charset="0"/>
              </a:rPr>
              <a:t>=TRUE)</a:t>
            </a:r>
          </a:p>
          <a:p>
            <a:pPr marL="457200" algn="l">
              <a:lnSpc>
                <a:spcPct val="200000"/>
              </a:lnSpc>
              <a:spcAft>
                <a:spcPts val="800"/>
              </a:spcAft>
            </a:pPr>
            <a:r>
              <a:rPr lang="fr-CA" sz="2800" dirty="0">
                <a:solidFill>
                  <a:srgbClr val="000000"/>
                </a:solidFill>
                <a:effectLst/>
                <a:latin typeface="Times New Roman" panose="02020603050405020304" pitchFamily="18" charset="0"/>
                <a:ea typeface="Times New Roman" panose="02020603050405020304" pitchFamily="18" charset="0"/>
              </a:rPr>
              <a:t>On obtient une valeur P égale à 0,0001605 très inférieure à 5%.</a:t>
            </a:r>
          </a:p>
          <a:p>
            <a:r>
              <a:rPr lang="fr-FR" sz="2800" dirty="0">
                <a:effectLst/>
                <a:latin typeface="Calibri" panose="020F0502020204030204" pitchFamily="34" charset="0"/>
                <a:ea typeface="Times New Roman" panose="02020603050405020304" pitchFamily="18" charset="0"/>
              </a:rPr>
              <a:t>On doit donc rejeter l’hypothèse nulle et conclure comme précédemment</a:t>
            </a:r>
            <a:endParaRPr lang="fr-CA" sz="2800" dirty="0"/>
          </a:p>
        </p:txBody>
      </p:sp>
    </p:spTree>
    <p:extLst>
      <p:ext uri="{BB962C8B-B14F-4D97-AF65-F5344CB8AC3E}">
        <p14:creationId xmlns:p14="http://schemas.microsoft.com/office/powerpoint/2010/main" val="1702713362"/>
      </p:ext>
    </p:extLst>
  </p:cSld>
  <p:clrMapOvr>
    <a:masterClrMapping/>
  </p:clrMapOvr>
</p:sld>
</file>

<file path=ppt/theme/theme1.xml><?xml version="1.0" encoding="utf-8"?>
<a:theme xmlns:a="http://schemas.openxmlformats.org/drawingml/2006/main" name="Office Theme">
  <a:themeElements>
    <a:clrScheme name="Thème 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Thème 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Thème 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Thème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8</TotalTime>
  <Words>1234</Words>
  <Application>Microsoft Office PowerPoint</Application>
  <PresentationFormat>Grand écran</PresentationFormat>
  <Paragraphs>190</Paragraphs>
  <Slides>13</Slides>
  <Notes>0</Notes>
  <HiddenSlides>0</HiddenSlides>
  <MMClips>0</MMClips>
  <ScaleCrop>false</ScaleCrop>
  <HeadingPairs>
    <vt:vector size="6" baseType="variant">
      <vt:variant>
        <vt:lpstr>Polices utilisées</vt:lpstr>
      </vt:variant>
      <vt:variant>
        <vt:i4>5</vt:i4>
      </vt:variant>
      <vt:variant>
        <vt:lpstr>Thème</vt:lpstr>
      </vt:variant>
      <vt:variant>
        <vt:i4>1</vt:i4>
      </vt:variant>
      <vt:variant>
        <vt:lpstr>Titres des diapositives</vt:lpstr>
      </vt:variant>
      <vt:variant>
        <vt:i4>13</vt:i4>
      </vt:variant>
    </vt:vector>
  </HeadingPairs>
  <TitlesOfParts>
    <vt:vector size="19" baseType="lpstr">
      <vt:lpstr>Arial</vt:lpstr>
      <vt:lpstr>Calibri</vt:lpstr>
      <vt:lpstr>Calibri Light</vt:lpstr>
      <vt:lpstr>Cambria Math</vt:lpstr>
      <vt:lpstr>Times New Roman</vt:lpstr>
      <vt:lpstr>Office Theme</vt:lpstr>
      <vt:lpstr>Tests d’hypothèses sur deux moyennes indépendantes Cas 2: Les variances sont différentes.</vt:lpstr>
      <vt:lpstr>Par défaut le logiciel R suppose que les variances des deux variables ne sont pas égales et utilise systématiquement la méthode Welsh. </vt:lpstr>
      <vt:lpstr>Méthode 1: L’usage des zones de rejet.</vt:lpstr>
      <vt:lpstr>Méthode 2: L’utilisation de la valeur-P</vt:lpstr>
      <vt:lpstr>Méthode 3: L’utilisation de R.</vt:lpstr>
      <vt:lpstr>Suite):Les points s’alignent le long des lignes obliques, ce qui prouvent la normalité des deux échantillons. Mais les droites ne sont pas parallèles, ce qui prouve que les variances ne sont pas égales (car les pentes de ces droites sont estimées par les variances échantillonnales). </vt:lpstr>
      <vt:lpstr>Tests d’hypothèses sur deux moyennes dépendantes</vt:lpstr>
      <vt:lpstr>Exemple 1: des adultes de sexe masculin âgés de 35 ans à 50 ans ont participé à une étude pour évaluer l’effet de l’exercice physique sur le taux de cholestérol. Ce taux a été mesuré sur chaque sujet avant et après un programme d’exercice aérobique. Peut-on dire que le programme a été efficace pour réduire le taux moyen de cholestérol ? Utilisez un seuil de signification de 5 %. Les données obtenues sont indiquées ci-contre </vt:lpstr>
      <vt:lpstr>Méthode 1: L’usage de la région de rejet On ajoute au tableau une ligne dans laquelle on met les différences.</vt:lpstr>
      <vt:lpstr>Méthode 2: L’utilisation de la valeur-P.</vt:lpstr>
      <vt:lpstr>Méthode 3: L’utilisation de R.</vt:lpstr>
      <vt:lpstr>Autre façon d’utiliser le logiciel R.</vt:lpstr>
      <vt:lpstr>Suite)</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Tests d’hypothèses sur deux moyennes indépendantes Cas 2: Les variances sont différentes.</dc:title>
  <dc:creator>Mhammed Mountassir</dc:creator>
  <cp:lastModifiedBy>Mhammed Mountassir</cp:lastModifiedBy>
  <cp:revision>3</cp:revision>
  <dcterms:created xsi:type="dcterms:W3CDTF">2020-11-16T13:10:54Z</dcterms:created>
  <dcterms:modified xsi:type="dcterms:W3CDTF">2021-11-16T12:21:19Z</dcterms:modified>
</cp:coreProperties>
</file>