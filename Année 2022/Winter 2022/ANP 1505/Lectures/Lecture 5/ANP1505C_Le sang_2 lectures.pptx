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4"/>
  </p:notesMasterIdLst>
  <p:sldIdLst>
    <p:sldId id="388" r:id="rId2"/>
    <p:sldId id="630" r:id="rId3"/>
    <p:sldId id="600" r:id="rId4"/>
    <p:sldId id="601" r:id="rId5"/>
    <p:sldId id="602" r:id="rId6"/>
    <p:sldId id="603" r:id="rId7"/>
    <p:sldId id="604" r:id="rId8"/>
    <p:sldId id="605" r:id="rId9"/>
    <p:sldId id="606" r:id="rId10"/>
    <p:sldId id="607" r:id="rId11"/>
    <p:sldId id="608" r:id="rId12"/>
    <p:sldId id="609" r:id="rId13"/>
    <p:sldId id="610" r:id="rId14"/>
    <p:sldId id="611" r:id="rId15"/>
    <p:sldId id="612" r:id="rId16"/>
    <p:sldId id="613" r:id="rId17"/>
    <p:sldId id="614" r:id="rId18"/>
    <p:sldId id="615" r:id="rId19"/>
    <p:sldId id="616" r:id="rId20"/>
    <p:sldId id="617" r:id="rId21"/>
    <p:sldId id="618" r:id="rId22"/>
    <p:sldId id="619" r:id="rId23"/>
    <p:sldId id="620" r:id="rId24"/>
    <p:sldId id="621" r:id="rId25"/>
    <p:sldId id="622" r:id="rId26"/>
    <p:sldId id="623" r:id="rId27"/>
    <p:sldId id="624" r:id="rId28"/>
    <p:sldId id="625" r:id="rId29"/>
    <p:sldId id="626" r:id="rId30"/>
    <p:sldId id="627" r:id="rId31"/>
    <p:sldId id="628" r:id="rId32"/>
    <p:sldId id="629" r:id="rId33"/>
  </p:sldIdLst>
  <p:sldSz cx="14630400" cy="8229600"/>
  <p:notesSz cx="6858000" cy="9144000"/>
  <p:defaultTextStyle>
    <a:defPPr>
      <a:defRPr lang="en-US"/>
    </a:defPPr>
    <a:lvl1pPr marL="0" algn="l" defTabSz="1306090" rtl="0" eaLnBrk="1" latinLnBrk="0" hangingPunct="1">
      <a:defRPr sz="2600" kern="1200">
        <a:solidFill>
          <a:schemeClr val="tx1"/>
        </a:solidFill>
        <a:latin typeface="+mn-lt"/>
        <a:ea typeface="+mn-ea"/>
        <a:cs typeface="+mn-cs"/>
      </a:defRPr>
    </a:lvl1pPr>
    <a:lvl2pPr marL="653044" algn="l" defTabSz="1306090" rtl="0" eaLnBrk="1" latinLnBrk="0" hangingPunct="1">
      <a:defRPr sz="2600" kern="1200">
        <a:solidFill>
          <a:schemeClr val="tx1"/>
        </a:solidFill>
        <a:latin typeface="+mn-lt"/>
        <a:ea typeface="+mn-ea"/>
        <a:cs typeface="+mn-cs"/>
      </a:defRPr>
    </a:lvl2pPr>
    <a:lvl3pPr marL="1306090" algn="l" defTabSz="1306090" rtl="0" eaLnBrk="1" latinLnBrk="0" hangingPunct="1">
      <a:defRPr sz="2600" kern="1200">
        <a:solidFill>
          <a:schemeClr val="tx1"/>
        </a:solidFill>
        <a:latin typeface="+mn-lt"/>
        <a:ea typeface="+mn-ea"/>
        <a:cs typeface="+mn-cs"/>
      </a:defRPr>
    </a:lvl3pPr>
    <a:lvl4pPr marL="1959135" algn="l" defTabSz="1306090" rtl="0" eaLnBrk="1" latinLnBrk="0" hangingPunct="1">
      <a:defRPr sz="2600" kern="1200">
        <a:solidFill>
          <a:schemeClr val="tx1"/>
        </a:solidFill>
        <a:latin typeface="+mn-lt"/>
        <a:ea typeface="+mn-ea"/>
        <a:cs typeface="+mn-cs"/>
      </a:defRPr>
    </a:lvl4pPr>
    <a:lvl5pPr marL="2612181" algn="l" defTabSz="1306090" rtl="0" eaLnBrk="1" latinLnBrk="0" hangingPunct="1">
      <a:defRPr sz="2600" kern="1200">
        <a:solidFill>
          <a:schemeClr val="tx1"/>
        </a:solidFill>
        <a:latin typeface="+mn-lt"/>
        <a:ea typeface="+mn-ea"/>
        <a:cs typeface="+mn-cs"/>
      </a:defRPr>
    </a:lvl5pPr>
    <a:lvl6pPr marL="3265225" algn="l" defTabSz="1306090" rtl="0" eaLnBrk="1" latinLnBrk="0" hangingPunct="1">
      <a:defRPr sz="2600" kern="1200">
        <a:solidFill>
          <a:schemeClr val="tx1"/>
        </a:solidFill>
        <a:latin typeface="+mn-lt"/>
        <a:ea typeface="+mn-ea"/>
        <a:cs typeface="+mn-cs"/>
      </a:defRPr>
    </a:lvl6pPr>
    <a:lvl7pPr marL="3918270" algn="l" defTabSz="1306090" rtl="0" eaLnBrk="1" latinLnBrk="0" hangingPunct="1">
      <a:defRPr sz="2600" kern="1200">
        <a:solidFill>
          <a:schemeClr val="tx1"/>
        </a:solidFill>
        <a:latin typeface="+mn-lt"/>
        <a:ea typeface="+mn-ea"/>
        <a:cs typeface="+mn-cs"/>
      </a:defRPr>
    </a:lvl7pPr>
    <a:lvl8pPr marL="4571314" algn="l" defTabSz="1306090" rtl="0" eaLnBrk="1" latinLnBrk="0" hangingPunct="1">
      <a:defRPr sz="2600" kern="1200">
        <a:solidFill>
          <a:schemeClr val="tx1"/>
        </a:solidFill>
        <a:latin typeface="+mn-lt"/>
        <a:ea typeface="+mn-ea"/>
        <a:cs typeface="+mn-cs"/>
      </a:defRPr>
    </a:lvl8pPr>
    <a:lvl9pPr marL="5224359" algn="l" defTabSz="1306090" rtl="0" eaLnBrk="1" latinLnBrk="0" hangingPunct="1">
      <a:defRPr sz="2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00000"/>
    <a:srgbClr val="6D18B4"/>
    <a:srgbClr val="99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07" autoAdjust="0"/>
    <p:restoredTop sz="57299" autoAdjust="0"/>
  </p:normalViewPr>
  <p:slideViewPr>
    <p:cSldViewPr>
      <p:cViewPr varScale="1">
        <p:scale>
          <a:sx n="32" d="100"/>
          <a:sy n="32" d="100"/>
        </p:scale>
        <p:origin x="1596" y="28"/>
      </p:cViewPr>
      <p:guideLst>
        <p:guide orient="horz" pos="2592"/>
        <p:guide pos="4608"/>
      </p:guideLst>
    </p:cSldViewPr>
  </p:slideViewPr>
  <p:notesTextViewPr>
    <p:cViewPr>
      <p:scale>
        <a:sx n="1" d="1"/>
        <a:sy n="1" d="1"/>
      </p:scale>
      <p:origin x="0" y="0"/>
    </p:cViewPr>
  </p:notesTextViewPr>
  <p:sorterViewPr>
    <p:cViewPr>
      <p:scale>
        <a:sx n="100" d="100"/>
        <a:sy n="100" d="100"/>
      </p:scale>
      <p:origin x="0" y="26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D5DB61-7B53-4C4E-BBFA-8C5E7E79CB84}" type="datetimeFigureOut">
              <a:rPr lang="en-US" smtClean="0"/>
              <a:t>1/4/2022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B01F5F-2F18-4FF4-A3F1-6134930A189D}" type="slidenum">
              <a:rPr lang="en-US" smtClean="0"/>
              <a:t>‹#›</a:t>
            </a:fld>
            <a:endParaRPr lang="en-US"/>
          </a:p>
        </p:txBody>
      </p:sp>
    </p:spTree>
    <p:extLst>
      <p:ext uri="{BB962C8B-B14F-4D97-AF65-F5344CB8AC3E}">
        <p14:creationId xmlns:p14="http://schemas.microsoft.com/office/powerpoint/2010/main" val="3212113006"/>
      </p:ext>
    </p:extLst>
  </p:cSld>
  <p:clrMap bg1="lt1" tx1="dk1" bg2="lt2" tx2="dk2" accent1="accent1" accent2="accent2" accent3="accent3" accent4="accent4" accent5="accent5" accent6="accent6" hlink="hlink" folHlink="folHlink"/>
  <p:notesStyle>
    <a:lvl1pPr marL="0" algn="l" defTabSz="1306090" rtl="0" eaLnBrk="1" latinLnBrk="0" hangingPunct="1">
      <a:defRPr sz="1700" kern="1200">
        <a:solidFill>
          <a:schemeClr val="tx1"/>
        </a:solidFill>
        <a:latin typeface="+mn-lt"/>
        <a:ea typeface="+mn-ea"/>
        <a:cs typeface="+mn-cs"/>
      </a:defRPr>
    </a:lvl1pPr>
    <a:lvl2pPr marL="653044" algn="l" defTabSz="1306090" rtl="0" eaLnBrk="1" latinLnBrk="0" hangingPunct="1">
      <a:defRPr sz="1700" kern="1200">
        <a:solidFill>
          <a:schemeClr val="tx1"/>
        </a:solidFill>
        <a:latin typeface="+mn-lt"/>
        <a:ea typeface="+mn-ea"/>
        <a:cs typeface="+mn-cs"/>
      </a:defRPr>
    </a:lvl2pPr>
    <a:lvl3pPr marL="1306090" algn="l" defTabSz="1306090" rtl="0" eaLnBrk="1" latinLnBrk="0" hangingPunct="1">
      <a:defRPr sz="1700" kern="1200">
        <a:solidFill>
          <a:schemeClr val="tx1"/>
        </a:solidFill>
        <a:latin typeface="+mn-lt"/>
        <a:ea typeface="+mn-ea"/>
        <a:cs typeface="+mn-cs"/>
      </a:defRPr>
    </a:lvl3pPr>
    <a:lvl4pPr marL="1959135" algn="l" defTabSz="1306090" rtl="0" eaLnBrk="1" latinLnBrk="0" hangingPunct="1">
      <a:defRPr sz="1700" kern="1200">
        <a:solidFill>
          <a:schemeClr val="tx1"/>
        </a:solidFill>
        <a:latin typeface="+mn-lt"/>
        <a:ea typeface="+mn-ea"/>
        <a:cs typeface="+mn-cs"/>
      </a:defRPr>
    </a:lvl4pPr>
    <a:lvl5pPr marL="2612181" algn="l" defTabSz="1306090" rtl="0" eaLnBrk="1" latinLnBrk="0" hangingPunct="1">
      <a:defRPr sz="1700" kern="1200">
        <a:solidFill>
          <a:schemeClr val="tx1"/>
        </a:solidFill>
        <a:latin typeface="+mn-lt"/>
        <a:ea typeface="+mn-ea"/>
        <a:cs typeface="+mn-cs"/>
      </a:defRPr>
    </a:lvl5pPr>
    <a:lvl6pPr marL="3265225" algn="l" defTabSz="1306090" rtl="0" eaLnBrk="1" latinLnBrk="0" hangingPunct="1">
      <a:defRPr sz="1700" kern="1200">
        <a:solidFill>
          <a:schemeClr val="tx1"/>
        </a:solidFill>
        <a:latin typeface="+mn-lt"/>
        <a:ea typeface="+mn-ea"/>
        <a:cs typeface="+mn-cs"/>
      </a:defRPr>
    </a:lvl6pPr>
    <a:lvl7pPr marL="3918270" algn="l" defTabSz="1306090" rtl="0" eaLnBrk="1" latinLnBrk="0" hangingPunct="1">
      <a:defRPr sz="1700" kern="1200">
        <a:solidFill>
          <a:schemeClr val="tx1"/>
        </a:solidFill>
        <a:latin typeface="+mn-lt"/>
        <a:ea typeface="+mn-ea"/>
        <a:cs typeface="+mn-cs"/>
      </a:defRPr>
    </a:lvl7pPr>
    <a:lvl8pPr marL="4571314" algn="l" defTabSz="1306090" rtl="0" eaLnBrk="1" latinLnBrk="0" hangingPunct="1">
      <a:defRPr sz="1700" kern="1200">
        <a:solidFill>
          <a:schemeClr val="tx1"/>
        </a:solidFill>
        <a:latin typeface="+mn-lt"/>
        <a:ea typeface="+mn-ea"/>
        <a:cs typeface="+mn-cs"/>
      </a:defRPr>
    </a:lvl8pPr>
    <a:lvl9pPr marL="5224359" algn="l" defTabSz="130609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fr.wikipedia.org/wiki/H%C3%A9morragie"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itchFamily="18" charset="0"/>
              </a:defRPr>
            </a:lvl1pPr>
            <a:lvl2pPr marL="702756" indent="-270291">
              <a:defRPr sz="2600">
                <a:solidFill>
                  <a:schemeClr val="tx1"/>
                </a:solidFill>
                <a:latin typeface="Times New Roman" pitchFamily="18" charset="0"/>
              </a:defRPr>
            </a:lvl2pPr>
            <a:lvl3pPr marL="1081164" indent="-216233">
              <a:defRPr sz="2600">
                <a:solidFill>
                  <a:schemeClr val="tx1"/>
                </a:solidFill>
                <a:latin typeface="Times New Roman" pitchFamily="18" charset="0"/>
              </a:defRPr>
            </a:lvl3pPr>
            <a:lvl4pPr marL="1513629" indent="-216233">
              <a:defRPr sz="2600">
                <a:solidFill>
                  <a:schemeClr val="tx1"/>
                </a:solidFill>
                <a:latin typeface="Times New Roman" pitchFamily="18" charset="0"/>
              </a:defRPr>
            </a:lvl4pPr>
            <a:lvl5pPr marL="1946095" indent="-216233">
              <a:defRPr sz="2600">
                <a:solidFill>
                  <a:schemeClr val="tx1"/>
                </a:solidFill>
                <a:latin typeface="Times New Roman" pitchFamily="18" charset="0"/>
              </a:defRPr>
            </a:lvl5pPr>
            <a:lvl6pPr marL="2378560" indent="-216233" eaLnBrk="0" fontAlgn="base" hangingPunct="0">
              <a:spcBef>
                <a:spcPct val="0"/>
              </a:spcBef>
              <a:spcAft>
                <a:spcPct val="0"/>
              </a:spcAft>
              <a:defRPr sz="2600">
                <a:solidFill>
                  <a:schemeClr val="tx1"/>
                </a:solidFill>
                <a:latin typeface="Times New Roman" pitchFamily="18" charset="0"/>
              </a:defRPr>
            </a:lvl6pPr>
            <a:lvl7pPr marL="2811026" indent="-216233" eaLnBrk="0" fontAlgn="base" hangingPunct="0">
              <a:spcBef>
                <a:spcPct val="0"/>
              </a:spcBef>
              <a:spcAft>
                <a:spcPct val="0"/>
              </a:spcAft>
              <a:defRPr sz="2600">
                <a:solidFill>
                  <a:schemeClr val="tx1"/>
                </a:solidFill>
                <a:latin typeface="Times New Roman" pitchFamily="18" charset="0"/>
              </a:defRPr>
            </a:lvl7pPr>
            <a:lvl8pPr marL="3243491" indent="-216233" eaLnBrk="0" fontAlgn="base" hangingPunct="0">
              <a:spcBef>
                <a:spcPct val="0"/>
              </a:spcBef>
              <a:spcAft>
                <a:spcPct val="0"/>
              </a:spcAft>
              <a:defRPr sz="2600">
                <a:solidFill>
                  <a:schemeClr val="tx1"/>
                </a:solidFill>
                <a:latin typeface="Times New Roman" pitchFamily="18" charset="0"/>
              </a:defRPr>
            </a:lvl8pPr>
            <a:lvl9pPr marL="3675957" indent="-216233" eaLnBrk="0" fontAlgn="base" hangingPunct="0">
              <a:spcBef>
                <a:spcPct val="0"/>
              </a:spcBef>
              <a:spcAft>
                <a:spcPct val="0"/>
              </a:spcAft>
              <a:defRPr sz="2600">
                <a:solidFill>
                  <a:schemeClr val="tx1"/>
                </a:solidFill>
                <a:latin typeface="Times New Roman" pitchFamily="18" charset="0"/>
              </a:defRPr>
            </a:lvl9pPr>
          </a:lstStyle>
          <a:p>
            <a:fld id="{63660975-B069-4833-BB73-FB5969179BD6}" type="slidenum">
              <a:rPr lang="en-US" altLang="en-US" sz="1200"/>
              <a:pPr/>
              <a:t>1</a:t>
            </a:fld>
            <a:endParaRPr lang="en-US" altLang="en-US" sz="1200"/>
          </a:p>
        </p:txBody>
      </p:sp>
      <p:sp>
        <p:nvSpPr>
          <p:cNvPr id="44035" name="Rectangle 2"/>
          <p:cNvSpPr>
            <a:spLocks noGrp="1" noRot="1" noChangeAspect="1" noChangeArrowheads="1" noTextEdit="1"/>
          </p:cNvSpPr>
          <p:nvPr>
            <p:ph type="sldImg"/>
          </p:nvPr>
        </p:nvSpPr>
        <p:spPr>
          <a:xfrm>
            <a:off x="381000" y="685800"/>
            <a:ext cx="6096000" cy="3429000"/>
          </a:xfrm>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200" dirty="0"/>
              <a:t>See Videos:</a:t>
            </a:r>
          </a:p>
          <a:p>
            <a:pPr eaLnBrk="1" hangingPunct="1"/>
            <a:r>
              <a:rPr lang="en-US" altLang="en-US" sz="1200" dirty="0">
                <a:solidFill>
                  <a:srgbClr val="FF0000"/>
                </a:solidFill>
              </a:rPr>
              <a:t>https://www.youtube.com/watch?v=JTJoxGO0cKA</a:t>
            </a:r>
          </a:p>
          <a:p>
            <a:pPr eaLnBrk="1" hangingPunct="1"/>
            <a:endParaRPr lang="en-US" altLang="en-US" sz="1200" dirty="0">
              <a:solidFill>
                <a:srgbClr val="FF0000"/>
              </a:solidFill>
            </a:endParaRPr>
          </a:p>
          <a:p>
            <a:pPr eaLnBrk="1" hangingPunct="1"/>
            <a:r>
              <a:rPr lang="en-US" altLang="en-US" sz="1200" dirty="0">
                <a:solidFill>
                  <a:srgbClr val="FF0000"/>
                </a:solidFill>
              </a:rPr>
              <a:t>https://www.youtube.com/watch?v=Luuf5bvkC7c#t=5.0256467f5bvkC7c#t=5.0256467</a:t>
            </a:r>
          </a:p>
        </p:txBody>
      </p:sp>
    </p:spTree>
    <p:extLst>
      <p:ext uri="{BB962C8B-B14F-4D97-AF65-F5344CB8AC3E}">
        <p14:creationId xmlns:p14="http://schemas.microsoft.com/office/powerpoint/2010/main" val="235456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5B01F5F-2F18-4FF4-A3F1-6134930A189D}" type="slidenum">
              <a:rPr lang="en-US" smtClean="0"/>
              <a:t>2</a:t>
            </a:fld>
            <a:endParaRPr lang="en-US"/>
          </a:p>
        </p:txBody>
      </p:sp>
    </p:spTree>
    <p:extLst>
      <p:ext uri="{BB962C8B-B14F-4D97-AF65-F5344CB8AC3E}">
        <p14:creationId xmlns:p14="http://schemas.microsoft.com/office/powerpoint/2010/main" val="2983505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3</a:t>
            </a:fld>
            <a:endParaRPr lang="en-US"/>
          </a:p>
        </p:txBody>
      </p:sp>
    </p:spTree>
    <p:extLst>
      <p:ext uri="{BB962C8B-B14F-4D97-AF65-F5344CB8AC3E}">
        <p14:creationId xmlns:p14="http://schemas.microsoft.com/office/powerpoint/2010/main" val="2805325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33E18D-DBF6-4CC1-9F12-D8705E8C1ADC}" type="slidenum">
              <a:rPr lang="en-US" smtClean="0"/>
              <a:t>4</a:t>
            </a:fld>
            <a:endParaRPr lang="en-US"/>
          </a:p>
        </p:txBody>
      </p:sp>
    </p:spTree>
    <p:extLst>
      <p:ext uri="{BB962C8B-B14F-4D97-AF65-F5344CB8AC3E}">
        <p14:creationId xmlns:p14="http://schemas.microsoft.com/office/powerpoint/2010/main" val="2803479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33E18D-DBF6-4CC1-9F12-D8705E8C1ADC}" type="slidenum">
              <a:rPr lang="en-US" smtClean="0"/>
              <a:t>5</a:t>
            </a:fld>
            <a:endParaRPr lang="en-US"/>
          </a:p>
        </p:txBody>
      </p:sp>
    </p:spTree>
    <p:extLst>
      <p:ext uri="{BB962C8B-B14F-4D97-AF65-F5344CB8AC3E}">
        <p14:creationId xmlns:p14="http://schemas.microsoft.com/office/powerpoint/2010/main" val="700067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dirty="0">
                <a:effectLst/>
              </a:rPr>
              <a:t>Structure de l’érythrocyte</a:t>
            </a:r>
            <a:br>
              <a:rPr lang="fr-FR" sz="1200" dirty="0">
                <a:effectLst/>
              </a:rPr>
            </a:br>
            <a:r>
              <a:rPr lang="fr-FR" sz="1200" dirty="0">
                <a:effectLst/>
              </a:rPr>
              <a:t>• Disque biconcave, anucléé, essentiellement aucun organites</a:t>
            </a:r>
            <a:br>
              <a:rPr lang="fr-FR" sz="1200" dirty="0">
                <a:effectLst/>
              </a:rPr>
            </a:br>
            <a:r>
              <a:rPr lang="fr-FR" sz="1200" dirty="0">
                <a:effectLst/>
              </a:rPr>
              <a:t>• Rempli d'hémoglobine (</a:t>
            </a:r>
            <a:r>
              <a:rPr lang="fr-FR" sz="1200" dirty="0" err="1">
                <a:effectLst/>
              </a:rPr>
              <a:t>Hb</a:t>
            </a:r>
            <a:r>
              <a:rPr lang="fr-FR" sz="1200" dirty="0">
                <a:effectLst/>
              </a:rPr>
              <a:t>) pour le transport du gaz (&gt; 97% d'hémoglobine,</a:t>
            </a:r>
            <a:r>
              <a:rPr lang="fr-FR" sz="1200" baseline="0" dirty="0">
                <a:effectLst/>
              </a:rPr>
              <a:t> </a:t>
            </a:r>
            <a:r>
              <a:rPr lang="fr-FR" sz="1200" dirty="0">
                <a:effectLst/>
              </a:rPr>
              <a:t>sans compter l'eau)</a:t>
            </a:r>
            <a:br>
              <a:rPr lang="fr-FR" sz="1200" dirty="0">
                <a:effectLst/>
              </a:rPr>
            </a:br>
            <a:r>
              <a:rPr lang="fr-FR" sz="1200" dirty="0">
                <a:effectLst/>
              </a:rPr>
              <a:t>• Contient la </a:t>
            </a:r>
            <a:r>
              <a:rPr lang="fr-FR" sz="1200" dirty="0" err="1">
                <a:effectLst/>
              </a:rPr>
              <a:t>spectrine</a:t>
            </a:r>
            <a:r>
              <a:rPr lang="fr-FR" sz="1200" dirty="0">
                <a:effectLst/>
              </a:rPr>
              <a:t> , une protéine membranaire, et d'autres protéines</a:t>
            </a:r>
            <a:br>
              <a:rPr lang="fr-FR" sz="1200" dirty="0">
                <a:effectLst/>
              </a:rPr>
            </a:br>
            <a:r>
              <a:rPr lang="fr-FR" sz="1200" dirty="0">
                <a:effectLst/>
              </a:rPr>
              <a:t>• La </a:t>
            </a:r>
            <a:r>
              <a:rPr lang="fr-FR" sz="1200" dirty="0" err="1">
                <a:effectLst/>
              </a:rPr>
              <a:t>spectrine</a:t>
            </a:r>
            <a:r>
              <a:rPr lang="fr-FR" sz="1200" dirty="0">
                <a:effectLst/>
              </a:rPr>
              <a:t> procure</a:t>
            </a:r>
            <a:r>
              <a:rPr lang="fr-FR" sz="1200" baseline="0" dirty="0">
                <a:effectLst/>
              </a:rPr>
              <a:t> l</a:t>
            </a:r>
            <a:r>
              <a:rPr lang="fr-FR" sz="1200" dirty="0">
                <a:effectLst/>
              </a:rPr>
              <a:t>a flexibilité pour le changement de forme selon les besoins</a:t>
            </a:r>
            <a:br>
              <a:rPr lang="fr-FR" sz="1200" dirty="0">
                <a:effectLst/>
              </a:rPr>
            </a:br>
            <a:r>
              <a:rPr lang="fr-FR" sz="1200" dirty="0">
                <a:effectLst/>
              </a:rPr>
              <a:t>• L’érythrocyte contient aussi les principaux facteurs contribuant à la viscosité du sang</a:t>
            </a:r>
          </a:p>
          <a:p>
            <a:r>
              <a:rPr lang="fr-FR" sz="1200" dirty="0">
                <a:effectLst/>
              </a:rPr>
              <a:t>• Les caractéristiques structurelles contribuent au transport de gaz</a:t>
            </a:r>
            <a:br>
              <a:rPr lang="fr-FR" sz="1200" dirty="0">
                <a:effectLst/>
              </a:rPr>
            </a:br>
            <a:r>
              <a:rPr lang="fr-FR" sz="1200" dirty="0">
                <a:effectLst/>
              </a:rPr>
              <a:t>• La surface de forme biconcave est énorme par rapport au volume</a:t>
            </a:r>
            <a:br>
              <a:rPr lang="fr-FR" sz="1200" dirty="0">
                <a:effectLst/>
              </a:rPr>
            </a:br>
            <a:r>
              <a:rPr lang="fr-FR" sz="1200" dirty="0">
                <a:effectLst/>
              </a:rPr>
              <a:t>• Pas de mitochondries, la production d'ATP est anaérobique; aucun O</a:t>
            </a:r>
            <a:r>
              <a:rPr lang="fr-FR" sz="1200" baseline="-25000" dirty="0">
                <a:effectLst/>
              </a:rPr>
              <a:t>2</a:t>
            </a:r>
            <a:r>
              <a:rPr lang="fr-FR" sz="1200" dirty="0">
                <a:effectLst/>
              </a:rPr>
              <a:t> n’est utilisé dans la production d'ATP</a:t>
            </a:r>
            <a:br>
              <a:rPr lang="fr-FR" sz="1200" dirty="0">
                <a:effectLst/>
              </a:rPr>
            </a:br>
            <a:r>
              <a:rPr lang="fr-FR" sz="1200" dirty="0">
                <a:effectLst/>
              </a:rPr>
              <a:t>• Un superbe exemple de la complémentarité de la structure et de la fonction! Il transporte O</a:t>
            </a:r>
            <a:r>
              <a:rPr lang="fr-FR" sz="1200" baseline="-25000" dirty="0">
                <a:effectLst/>
              </a:rPr>
              <a:t>2</a:t>
            </a:r>
            <a:r>
              <a:rPr lang="fr-FR" sz="1200" baseline="0" dirty="0">
                <a:effectLst/>
              </a:rPr>
              <a:t>, mais n’en utilise pas.</a:t>
            </a:r>
            <a:endParaRPr lang="fr-FR" sz="1200" dirty="0">
              <a:effectLst/>
            </a:endParaRPr>
          </a:p>
          <a:p>
            <a:pPr rtl="0"/>
            <a:r>
              <a:rPr lang="fr-FR" sz="1200" b="1" dirty="0">
                <a:effectLst/>
              </a:rPr>
              <a:t>Fonction érythrocytaire</a:t>
            </a:r>
            <a:br>
              <a:rPr lang="fr-FR" sz="1200" b="1" dirty="0">
                <a:effectLst/>
              </a:rPr>
            </a:br>
            <a:r>
              <a:rPr lang="fr-FR" sz="1200" dirty="0">
                <a:effectLst/>
              </a:rPr>
              <a:t>• les globules rouges sont dédiés au transport de gaz respiratoire</a:t>
            </a:r>
            <a:br>
              <a:rPr lang="fr-FR" sz="1200" dirty="0">
                <a:effectLst/>
              </a:rPr>
            </a:br>
            <a:r>
              <a:rPr lang="fr-FR" sz="1200" dirty="0">
                <a:effectLst/>
              </a:rPr>
              <a:t>• L'hémoglobine se lie de manière réversible avec l'oxygène (dia pos suivante)</a:t>
            </a:r>
            <a:br>
              <a:rPr lang="fr-FR" sz="1200" dirty="0">
                <a:effectLst/>
              </a:rPr>
            </a:br>
            <a:endParaRPr lang="fr-FR" sz="1200" dirty="0">
              <a:effectLst/>
            </a:endParaRPr>
          </a:p>
        </p:txBody>
      </p:sp>
      <p:sp>
        <p:nvSpPr>
          <p:cNvPr id="4" name="Slide Number Placeholder 3"/>
          <p:cNvSpPr>
            <a:spLocks noGrp="1"/>
          </p:cNvSpPr>
          <p:nvPr>
            <p:ph type="sldNum" sz="quarter" idx="10"/>
          </p:nvPr>
        </p:nvSpPr>
        <p:spPr/>
        <p:txBody>
          <a:bodyPr/>
          <a:lstStyle/>
          <a:p>
            <a:fld id="{CA33E18D-DBF6-4CC1-9F12-D8705E8C1ADC}" type="slidenum">
              <a:rPr lang="en-US" smtClean="0"/>
              <a:t>6</a:t>
            </a:fld>
            <a:endParaRPr lang="en-US"/>
          </a:p>
        </p:txBody>
      </p:sp>
    </p:spTree>
    <p:extLst>
      <p:ext uri="{BB962C8B-B14F-4D97-AF65-F5344CB8AC3E}">
        <p14:creationId xmlns:p14="http://schemas.microsoft.com/office/powerpoint/2010/main" val="3513143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dirty="0">
                <a:effectLst/>
              </a:rPr>
              <a:t>L'hémoglobine (</a:t>
            </a:r>
            <a:r>
              <a:rPr lang="fr-FR" sz="1200" b="1" dirty="0" err="1">
                <a:effectLst/>
              </a:rPr>
              <a:t>Hb</a:t>
            </a:r>
            <a:r>
              <a:rPr lang="fr-FR" sz="1200" b="1" dirty="0">
                <a:effectLst/>
              </a:rPr>
              <a:t>)</a:t>
            </a:r>
            <a:br>
              <a:rPr lang="fr-FR" sz="1200" b="1" dirty="0">
                <a:effectLst/>
              </a:rPr>
            </a:br>
            <a:r>
              <a:rPr lang="fr-FR" sz="1200" dirty="0">
                <a:effectLst/>
              </a:rPr>
              <a:t>• O</a:t>
            </a:r>
            <a:r>
              <a:rPr lang="fr-FR" sz="1200" baseline="-25000" dirty="0">
                <a:effectLst/>
              </a:rPr>
              <a:t>2</a:t>
            </a:r>
            <a:r>
              <a:rPr lang="fr-FR" sz="1200" dirty="0">
                <a:effectLst/>
              </a:rPr>
              <a:t> est chargé dans les poumons</a:t>
            </a:r>
            <a:br>
              <a:rPr lang="fr-FR" sz="1200" dirty="0">
                <a:effectLst/>
              </a:rPr>
            </a:br>
            <a:r>
              <a:rPr lang="fr-FR" sz="1200" dirty="0">
                <a:effectLst/>
              </a:rPr>
              <a:t>• Cela donne l’oxyhémoglobine (rouge vif)</a:t>
            </a:r>
            <a:br>
              <a:rPr lang="fr-FR" sz="1200" dirty="0">
                <a:effectLst/>
              </a:rPr>
            </a:br>
            <a:r>
              <a:rPr lang="fr-FR" sz="1200" dirty="0">
                <a:effectLst/>
              </a:rPr>
              <a:t>• O</a:t>
            </a:r>
            <a:r>
              <a:rPr lang="fr-FR" sz="1200" baseline="-25000" dirty="0">
                <a:effectLst/>
              </a:rPr>
              <a:t>2</a:t>
            </a:r>
            <a:r>
              <a:rPr lang="fr-FR" sz="1200" dirty="0">
                <a:effectLst/>
              </a:rPr>
              <a:t> est déchargé dans les tissus</a:t>
            </a:r>
            <a:br>
              <a:rPr lang="fr-FR" sz="1200" dirty="0">
                <a:effectLst/>
              </a:rPr>
            </a:br>
            <a:r>
              <a:rPr lang="fr-FR" sz="1200" dirty="0">
                <a:effectLst/>
              </a:rPr>
              <a:t>• Cela donne le </a:t>
            </a:r>
            <a:r>
              <a:rPr lang="fr-FR" sz="1200" dirty="0" err="1">
                <a:effectLst/>
              </a:rPr>
              <a:t>déoxyhémoglobine</a:t>
            </a:r>
            <a:r>
              <a:rPr lang="fr-FR" sz="1200" dirty="0">
                <a:effectLst/>
              </a:rPr>
              <a:t> ou l'hémoglobine réduite (rouge sombre)</a:t>
            </a:r>
            <a:br>
              <a:rPr lang="fr-FR" sz="1200" dirty="0">
                <a:effectLst/>
              </a:rPr>
            </a:br>
            <a:r>
              <a:rPr lang="fr-FR" sz="1200" dirty="0">
                <a:effectLst/>
              </a:rPr>
              <a:t>• Charge de CO</a:t>
            </a:r>
            <a:r>
              <a:rPr lang="fr-FR" sz="1200" baseline="-25000" dirty="0">
                <a:effectLst/>
              </a:rPr>
              <a:t>2</a:t>
            </a:r>
            <a:r>
              <a:rPr lang="fr-FR" sz="1200" dirty="0">
                <a:effectLst/>
              </a:rPr>
              <a:t> dans les tissus</a:t>
            </a:r>
            <a:br>
              <a:rPr lang="fr-FR" sz="1200" dirty="0">
                <a:effectLst/>
              </a:rPr>
            </a:br>
            <a:r>
              <a:rPr lang="fr-FR" sz="1200" dirty="0">
                <a:effectLst/>
              </a:rPr>
              <a:t>• Cela produit le carbhémoglobine (20% de CO</a:t>
            </a:r>
            <a:r>
              <a:rPr lang="fr-FR" sz="1200" baseline="-25000" dirty="0">
                <a:effectLst/>
              </a:rPr>
              <a:t>2</a:t>
            </a:r>
            <a:r>
              <a:rPr lang="fr-FR" sz="1200" dirty="0">
                <a:effectLst/>
              </a:rPr>
              <a:t> transporté dans le sang se lie à l’hémoglobine)</a:t>
            </a: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7</a:t>
            </a:fld>
            <a:endParaRPr lang="en-US"/>
          </a:p>
        </p:txBody>
      </p:sp>
    </p:spTree>
    <p:extLst>
      <p:ext uri="{BB962C8B-B14F-4D97-AF65-F5344CB8AC3E}">
        <p14:creationId xmlns:p14="http://schemas.microsoft.com/office/powerpoint/2010/main" val="4232324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1" dirty="0">
                <a:effectLst/>
              </a:rPr>
              <a:t>Hématopoïèse</a:t>
            </a:r>
            <a:br>
              <a:rPr lang="fr-FR" sz="1200" dirty="0">
                <a:effectLst/>
              </a:rPr>
            </a:br>
            <a:r>
              <a:rPr lang="fr-FR" sz="1200" dirty="0">
                <a:effectLst/>
              </a:rPr>
              <a:t>• Hématopoïèse: formation des globules du sang (se produit dans la moelle osseuse rouge)</a:t>
            </a:r>
          </a:p>
          <a:p>
            <a:pPr marL="0" indent="0">
              <a:buFont typeface="Arial" pitchFamily="34" charset="0"/>
              <a:buNone/>
            </a:pPr>
            <a:r>
              <a:rPr lang="fr-FR" sz="1200" dirty="0">
                <a:effectLst/>
              </a:rPr>
              <a:t>• </a:t>
            </a:r>
            <a:r>
              <a:rPr lang="fr-FR" sz="1200" dirty="0" err="1">
                <a:effectLst/>
              </a:rPr>
              <a:t>Hémocytoblaste</a:t>
            </a:r>
            <a:r>
              <a:rPr lang="fr-FR" sz="1200" dirty="0">
                <a:effectLst/>
              </a:rPr>
              <a:t>: cellule souche,</a:t>
            </a:r>
            <a:r>
              <a:rPr lang="fr-FR" sz="1200" baseline="0" dirty="0">
                <a:effectLst/>
              </a:rPr>
              <a:t> </a:t>
            </a:r>
            <a:r>
              <a:rPr lang="fr-FR" sz="1200" dirty="0">
                <a:effectLst/>
              </a:rPr>
              <a:t>précurseur commun des éléments figurés du sang</a:t>
            </a:r>
          </a:p>
          <a:p>
            <a:pPr marL="0" indent="0">
              <a:buFont typeface="Arial" pitchFamily="34" charset="0"/>
              <a:buNone/>
            </a:pPr>
            <a:endParaRPr lang="fr-FR" sz="1200" dirty="0">
              <a:effectLst/>
            </a:endParaRPr>
          </a:p>
          <a:p>
            <a:r>
              <a:rPr lang="fr-FR" sz="1200" b="1" dirty="0">
                <a:effectLst/>
              </a:rPr>
              <a:t>Érythropoïèse (5 à 7 jours)</a:t>
            </a:r>
            <a:br>
              <a:rPr lang="fr-FR" sz="1200" dirty="0">
                <a:effectLst/>
              </a:rPr>
            </a:br>
            <a:r>
              <a:rPr lang="fr-FR" sz="1200" dirty="0">
                <a:effectLst/>
              </a:rPr>
              <a:t>• Érythropoïèse: la production de globules rouges</a:t>
            </a:r>
            <a:br>
              <a:rPr lang="fr-FR" sz="1200" dirty="0">
                <a:effectLst/>
              </a:rPr>
            </a:br>
            <a:r>
              <a:rPr lang="fr-FR" sz="1200" dirty="0">
                <a:effectLst/>
              </a:rPr>
              <a:t>• Un </a:t>
            </a:r>
            <a:r>
              <a:rPr lang="fr-FR" sz="1200" dirty="0" err="1">
                <a:effectLst/>
              </a:rPr>
              <a:t>hémocytoblaste</a:t>
            </a:r>
            <a:r>
              <a:rPr lang="fr-FR" sz="1200" dirty="0">
                <a:effectLst/>
              </a:rPr>
              <a:t> est transformé en un proérythroblaste</a:t>
            </a:r>
            <a:br>
              <a:rPr lang="fr-FR" sz="1200" dirty="0">
                <a:effectLst/>
              </a:rPr>
            </a:br>
            <a:r>
              <a:rPr lang="fr-FR" sz="1200" dirty="0">
                <a:effectLst/>
              </a:rPr>
              <a:t>• Le proérythroblaste se développe en érythroblaste,</a:t>
            </a:r>
            <a:r>
              <a:rPr lang="fr-FR" sz="1200" baseline="0" dirty="0">
                <a:effectLst/>
              </a:rPr>
              <a:t> lequel perd son noyau au cours de sa différentiation en réticulocyte</a:t>
            </a:r>
          </a:p>
          <a:p>
            <a:r>
              <a:rPr lang="fr-FR" sz="1200" dirty="0">
                <a:effectLst/>
              </a:rPr>
              <a:t>• Phases de développement</a:t>
            </a:r>
            <a:r>
              <a:rPr lang="fr-FR" sz="1200" baseline="0" dirty="0">
                <a:effectLst/>
              </a:rPr>
              <a:t> de l’érythroblaste:</a:t>
            </a:r>
            <a:br>
              <a:rPr lang="fr-FR" sz="1200" dirty="0">
                <a:effectLst/>
              </a:rPr>
            </a:br>
            <a:r>
              <a:rPr lang="fr-FR" sz="1200" dirty="0">
                <a:effectLst/>
              </a:rPr>
              <a:t>1. La synthèse de ribosomes</a:t>
            </a:r>
            <a:br>
              <a:rPr lang="fr-FR" sz="1200" dirty="0">
                <a:effectLst/>
              </a:rPr>
            </a:br>
            <a:r>
              <a:rPr lang="fr-FR" sz="1200" dirty="0">
                <a:effectLst/>
              </a:rPr>
              <a:t>2. L’accumulation de l'hémoglobine</a:t>
            </a:r>
            <a:br>
              <a:rPr lang="fr-FR" sz="1200" dirty="0">
                <a:effectLst/>
              </a:rPr>
            </a:br>
            <a:r>
              <a:rPr lang="fr-FR" sz="1200" dirty="0">
                <a:effectLst/>
              </a:rPr>
              <a:t>3. L’éjection du noyau et la formation du réticulocyte</a:t>
            </a:r>
            <a:br>
              <a:rPr lang="fr-FR" sz="1200" dirty="0">
                <a:effectLst/>
              </a:rPr>
            </a:br>
            <a:r>
              <a:rPr lang="fr-FR" sz="1200" dirty="0">
                <a:effectLst/>
              </a:rPr>
              <a:t>• Le réticulocyte devient alors un érythrocyte mature</a:t>
            </a: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8</a:t>
            </a:fld>
            <a:endParaRPr lang="en-US"/>
          </a:p>
        </p:txBody>
      </p:sp>
    </p:spTree>
    <p:extLst>
      <p:ext uri="{BB962C8B-B14F-4D97-AF65-F5344CB8AC3E}">
        <p14:creationId xmlns:p14="http://schemas.microsoft.com/office/powerpoint/2010/main" val="2498607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dirty="0">
                <a:effectLst/>
              </a:rPr>
              <a:t>Régulation de l'érythropoïèse</a:t>
            </a:r>
            <a:br>
              <a:rPr lang="fr-FR" sz="1200" dirty="0">
                <a:effectLst/>
              </a:rPr>
            </a:br>
            <a:r>
              <a:rPr lang="fr-FR" sz="1200" dirty="0">
                <a:effectLst/>
              </a:rPr>
              <a:t>• Trop peu de globules rouges conduit à une hypoxie tissulaire</a:t>
            </a:r>
            <a:br>
              <a:rPr lang="fr-FR" sz="1200" dirty="0">
                <a:effectLst/>
              </a:rPr>
            </a:br>
            <a:r>
              <a:rPr lang="fr-FR" sz="1200" dirty="0">
                <a:effectLst/>
              </a:rPr>
              <a:t>• Trop de globules rouges augmente la viscosité du sang</a:t>
            </a:r>
            <a:br>
              <a:rPr lang="fr-FR" sz="1200" dirty="0">
                <a:effectLst/>
              </a:rPr>
            </a:br>
            <a:r>
              <a:rPr lang="fr-FR" sz="1200" dirty="0">
                <a:effectLst/>
              </a:rPr>
              <a:t>• L'équilibre entre la production et la destruction des globules</a:t>
            </a:r>
            <a:r>
              <a:rPr lang="fr-FR" sz="1200" baseline="0" dirty="0">
                <a:effectLst/>
              </a:rPr>
              <a:t> rouges (</a:t>
            </a:r>
            <a:r>
              <a:rPr lang="fr-FR" sz="1200" dirty="0">
                <a:effectLst/>
              </a:rPr>
              <a:t>G.R.) dépend:</a:t>
            </a:r>
            <a:br>
              <a:rPr lang="fr-FR" sz="1200" dirty="0">
                <a:effectLst/>
              </a:rPr>
            </a:br>
            <a:r>
              <a:rPr lang="fr-FR" sz="1200" dirty="0">
                <a:effectLst/>
              </a:rPr>
              <a:t>- Des contrôles hormonaux (érythropoïétine)</a:t>
            </a:r>
            <a:br>
              <a:rPr lang="fr-FR" sz="1200" dirty="0">
                <a:effectLst/>
              </a:rPr>
            </a:br>
            <a:r>
              <a:rPr lang="fr-FR" sz="1200" dirty="0">
                <a:effectLst/>
              </a:rPr>
              <a:t>-</a:t>
            </a:r>
            <a:r>
              <a:rPr lang="fr-FR" sz="1200" baseline="0" dirty="0">
                <a:effectLst/>
              </a:rPr>
              <a:t> D’un</a:t>
            </a:r>
            <a:r>
              <a:rPr lang="fr-FR" sz="1200" dirty="0">
                <a:effectLst/>
              </a:rPr>
              <a:t> approvisionnement adéquat en fer, acides aminés  et vitamine B</a:t>
            </a:r>
            <a:r>
              <a:rPr lang="fr-FR" sz="1200" baseline="-25000" dirty="0">
                <a:effectLst/>
              </a:rPr>
              <a:t>12</a:t>
            </a:r>
          </a:p>
        </p:txBody>
      </p:sp>
      <p:sp>
        <p:nvSpPr>
          <p:cNvPr id="4" name="Slide Number Placeholder 3"/>
          <p:cNvSpPr>
            <a:spLocks noGrp="1"/>
          </p:cNvSpPr>
          <p:nvPr>
            <p:ph type="sldNum" sz="quarter" idx="10"/>
          </p:nvPr>
        </p:nvSpPr>
        <p:spPr/>
        <p:txBody>
          <a:bodyPr/>
          <a:lstStyle/>
          <a:p>
            <a:fld id="{CA33E18D-DBF6-4CC1-9F12-D8705E8C1ADC}" type="slidenum">
              <a:rPr lang="en-US" smtClean="0"/>
              <a:t>9</a:t>
            </a:fld>
            <a:endParaRPr lang="en-US"/>
          </a:p>
        </p:txBody>
      </p:sp>
    </p:spTree>
    <p:extLst>
      <p:ext uri="{BB962C8B-B14F-4D97-AF65-F5344CB8AC3E}">
        <p14:creationId xmlns:p14="http://schemas.microsoft.com/office/powerpoint/2010/main" val="3776553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1" dirty="0">
                <a:effectLst/>
              </a:rPr>
              <a:t>L'érythropoïétine (EPO)</a:t>
            </a:r>
            <a:br>
              <a:rPr lang="fr-FR" sz="1200" b="1" dirty="0">
                <a:effectLst/>
              </a:rPr>
            </a:br>
            <a:r>
              <a:rPr lang="fr-FR" sz="1200" dirty="0">
                <a:effectLst/>
              </a:rPr>
              <a:t>• Stimulation directe de l'érythropoïèse</a:t>
            </a:r>
            <a:br>
              <a:rPr lang="fr-FR" sz="1200" dirty="0">
                <a:effectLst/>
              </a:rPr>
            </a:br>
            <a:r>
              <a:rPr lang="fr-FR" sz="1200" dirty="0">
                <a:effectLst/>
              </a:rPr>
              <a:t>• Sécrétée par les reins en réponse à l'hypoxie</a:t>
            </a:r>
            <a:endParaRPr lang="en-US" sz="1200" dirty="0"/>
          </a:p>
          <a:p>
            <a:r>
              <a:rPr lang="fr-FR" sz="1200" b="1" dirty="0">
                <a:effectLst/>
              </a:rPr>
              <a:t>Stimulation de la sécrétion de EPO</a:t>
            </a:r>
            <a:br>
              <a:rPr lang="fr-FR" sz="1200" b="1" dirty="0">
                <a:effectLst/>
              </a:rPr>
            </a:br>
            <a:r>
              <a:rPr lang="fr-FR" sz="1200" dirty="0">
                <a:effectLst/>
              </a:rPr>
              <a:t>• Les causes de l'hypoxie</a:t>
            </a:r>
            <a:br>
              <a:rPr lang="fr-FR" sz="1200" dirty="0">
                <a:effectLst/>
              </a:rPr>
            </a:br>
            <a:r>
              <a:rPr lang="fr-FR" sz="1200" dirty="0">
                <a:effectLst/>
              </a:rPr>
              <a:t>• L’hémorragie ou l’augmentation de la destruction des G.R. (réduction du nombre</a:t>
            </a:r>
            <a:r>
              <a:rPr lang="fr-FR" sz="1200" baseline="0" dirty="0">
                <a:effectLst/>
              </a:rPr>
              <a:t> de G.R.)</a:t>
            </a:r>
            <a:br>
              <a:rPr lang="fr-FR" sz="1200" dirty="0">
                <a:effectLst/>
              </a:rPr>
            </a:br>
            <a:r>
              <a:rPr lang="fr-FR" sz="1200" dirty="0">
                <a:effectLst/>
              </a:rPr>
              <a:t>• Insuffisance d’hémoglobine (par exemple, la carence en fer)</a:t>
            </a:r>
            <a:br>
              <a:rPr lang="fr-FR" sz="1200" dirty="0">
                <a:effectLst/>
              </a:rPr>
            </a:br>
            <a:r>
              <a:rPr lang="fr-FR" sz="1200" dirty="0">
                <a:effectLst/>
              </a:rPr>
              <a:t>• La disponibilité réduite de O</a:t>
            </a:r>
            <a:r>
              <a:rPr lang="fr-FR" sz="1200" baseline="-25000" dirty="0">
                <a:effectLst/>
              </a:rPr>
              <a:t>2 </a:t>
            </a:r>
            <a:r>
              <a:rPr lang="fr-FR" sz="1200" dirty="0">
                <a:effectLst/>
              </a:rPr>
              <a:t>(par exemple, les hautes altitudes)</a:t>
            </a:r>
            <a:br>
              <a:rPr lang="fr-FR" sz="1200" dirty="0">
                <a:effectLst/>
              </a:rPr>
            </a:br>
            <a:r>
              <a:rPr lang="fr-FR" sz="1200" b="1" dirty="0">
                <a:effectLst/>
              </a:rPr>
              <a:t>Les effets de l'EPO:</a:t>
            </a:r>
            <a:br>
              <a:rPr lang="fr-FR" sz="1200" b="1" dirty="0">
                <a:effectLst/>
              </a:rPr>
            </a:br>
            <a:r>
              <a:rPr lang="fr-FR" sz="1200" dirty="0">
                <a:effectLst/>
              </a:rPr>
              <a:t>• La maturation plus rapide des cellules de la moelle osseuse </a:t>
            </a:r>
            <a:br>
              <a:rPr lang="fr-FR" sz="1200" dirty="0">
                <a:effectLst/>
              </a:rPr>
            </a:br>
            <a:r>
              <a:rPr lang="fr-FR" sz="1200" dirty="0">
                <a:effectLst/>
              </a:rPr>
              <a:t>• L’augmentation du</a:t>
            </a:r>
            <a:r>
              <a:rPr lang="fr-FR" sz="1200" baseline="0" dirty="0">
                <a:effectLst/>
              </a:rPr>
              <a:t> nombre de </a:t>
            </a:r>
            <a:r>
              <a:rPr lang="fr-FR" sz="1200" dirty="0">
                <a:effectLst/>
              </a:rPr>
              <a:t>réticulocytes dans la circulation dans 1-2 jours</a:t>
            </a:r>
            <a:br>
              <a:rPr lang="fr-FR" sz="1200" dirty="0">
                <a:effectLst/>
              </a:rPr>
            </a:br>
            <a:r>
              <a:rPr lang="fr-FR" sz="1200" dirty="0">
                <a:effectLst/>
              </a:rPr>
              <a:t>• La testostérone améliore également la production d'EPO, ce qui cause la numération plus élevée de G.R. chez les hommes</a:t>
            </a: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10</a:t>
            </a:fld>
            <a:endParaRPr lang="en-US"/>
          </a:p>
        </p:txBody>
      </p:sp>
    </p:spTree>
    <p:extLst>
      <p:ext uri="{BB962C8B-B14F-4D97-AF65-F5344CB8AC3E}">
        <p14:creationId xmlns:p14="http://schemas.microsoft.com/office/powerpoint/2010/main" val="2934744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dirty="0">
                <a:effectLst/>
              </a:rPr>
              <a:t>Besoins alimentaires pour l'érythropoïèse</a:t>
            </a:r>
            <a:br>
              <a:rPr lang="fr-FR" sz="1200" dirty="0">
                <a:effectLst/>
              </a:rPr>
            </a:br>
            <a:r>
              <a:rPr lang="fr-FR" sz="1200" dirty="0">
                <a:effectLst/>
              </a:rPr>
              <a:t>• Les substances nutritives: les acides aminés, les lipides et les glucides</a:t>
            </a:r>
            <a:br>
              <a:rPr lang="fr-FR" sz="1200" dirty="0">
                <a:effectLst/>
              </a:rPr>
            </a:br>
            <a:r>
              <a:rPr lang="fr-FR" sz="1200" dirty="0">
                <a:effectLst/>
              </a:rPr>
              <a:t>• Le fer  (stocké dans </a:t>
            </a:r>
            <a:r>
              <a:rPr lang="fr-FR" sz="1200" dirty="0" err="1">
                <a:effectLst/>
              </a:rPr>
              <a:t>Hb</a:t>
            </a:r>
            <a:r>
              <a:rPr lang="fr-FR" sz="1200" dirty="0">
                <a:effectLst/>
              </a:rPr>
              <a:t> (65%), le foie, la rate et la moelle osseuse; stocké dans des cellules sous forme de ferritine et hémosidérine; Transporté faiblement lié à la transferrine)</a:t>
            </a:r>
            <a:br>
              <a:rPr lang="fr-FR" sz="1200" dirty="0">
                <a:effectLst/>
              </a:rPr>
            </a:br>
            <a:r>
              <a:rPr lang="fr-FR" sz="1200" dirty="0">
                <a:effectLst/>
              </a:rPr>
              <a:t>• La vitamine B</a:t>
            </a:r>
            <a:r>
              <a:rPr lang="fr-FR" sz="1200" baseline="-25000" dirty="0">
                <a:effectLst/>
              </a:rPr>
              <a:t>12</a:t>
            </a:r>
            <a:r>
              <a:rPr lang="fr-FR" sz="1200" dirty="0">
                <a:effectLst/>
              </a:rPr>
              <a:t> et l'acide folique sont nécessaires à la synthèse de l'ADN à la division cellulaire</a:t>
            </a: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11</a:t>
            </a:fld>
            <a:endParaRPr lang="en-US"/>
          </a:p>
        </p:txBody>
      </p:sp>
    </p:spTree>
    <p:extLst>
      <p:ext uri="{BB962C8B-B14F-4D97-AF65-F5344CB8AC3E}">
        <p14:creationId xmlns:p14="http://schemas.microsoft.com/office/powerpoint/2010/main" val="3832343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000" b="1" dirty="0">
                <a:effectLst/>
              </a:rPr>
              <a:t>Destin et destruction des globules rouges</a:t>
            </a:r>
            <a:br>
              <a:rPr lang="fr-FR" sz="1000" b="1" dirty="0">
                <a:effectLst/>
              </a:rPr>
            </a:br>
            <a:r>
              <a:rPr lang="fr-FR" sz="1000" dirty="0">
                <a:effectLst/>
              </a:rPr>
              <a:t>• Durée de vie: 100-120 jours</a:t>
            </a:r>
            <a:br>
              <a:rPr lang="fr-FR" sz="1000" dirty="0">
                <a:effectLst/>
              </a:rPr>
            </a:br>
            <a:r>
              <a:rPr lang="fr-FR" sz="1000" dirty="0">
                <a:effectLst/>
              </a:rPr>
              <a:t>• Les anciens globules rouges deviennent fragiles, et </a:t>
            </a:r>
            <a:r>
              <a:rPr lang="fr-FR" sz="1000" dirty="0" err="1">
                <a:effectLst/>
              </a:rPr>
              <a:t>Hb</a:t>
            </a:r>
            <a:r>
              <a:rPr lang="fr-FR" sz="1000" dirty="0">
                <a:effectLst/>
              </a:rPr>
              <a:t> commence à dégénérer</a:t>
            </a:r>
            <a:br>
              <a:rPr lang="fr-FR" sz="1000" dirty="0">
                <a:effectLst/>
              </a:rPr>
            </a:br>
            <a:r>
              <a:rPr lang="fr-FR" sz="1000" dirty="0">
                <a:effectLst/>
              </a:rPr>
              <a:t>• Les macrophages engloutissent les globules rouges morts dans la rate</a:t>
            </a:r>
            <a:br>
              <a:rPr lang="fr-FR" sz="1000" dirty="0">
                <a:effectLst/>
              </a:rPr>
            </a:br>
            <a:r>
              <a:rPr lang="fr-FR" sz="1000" dirty="0">
                <a:effectLst/>
              </a:rPr>
              <a:t>• L'hème et la globine sont séparés</a:t>
            </a:r>
            <a:br>
              <a:rPr lang="fr-FR" sz="1000" dirty="0">
                <a:effectLst/>
              </a:rPr>
            </a:br>
            <a:r>
              <a:rPr lang="fr-FR" sz="1000" dirty="0">
                <a:effectLst/>
              </a:rPr>
              <a:t>• Le fer est récupéré pour une réutilisation</a:t>
            </a:r>
            <a:br>
              <a:rPr lang="fr-FR" sz="1000" dirty="0">
                <a:effectLst/>
              </a:rPr>
            </a:br>
            <a:r>
              <a:rPr lang="fr-FR" sz="1000" dirty="0">
                <a:effectLst/>
              </a:rPr>
              <a:t>• L'hème est dégradé en un pigment jaune, la bilirubine</a:t>
            </a:r>
            <a:br>
              <a:rPr lang="fr-FR" sz="1000" dirty="0">
                <a:effectLst/>
              </a:rPr>
            </a:br>
            <a:r>
              <a:rPr lang="fr-FR" sz="1000" dirty="0">
                <a:effectLst/>
              </a:rPr>
              <a:t>• Le foie sécrète la bilirubine dans la bile qui</a:t>
            </a:r>
            <a:r>
              <a:rPr lang="fr-FR" sz="1000" baseline="0" dirty="0">
                <a:effectLst/>
              </a:rPr>
              <a:t> passe </a:t>
            </a:r>
            <a:r>
              <a:rPr lang="fr-FR" sz="1000" dirty="0">
                <a:effectLst/>
              </a:rPr>
              <a:t>dans les intestins par les conduits biliaires</a:t>
            </a:r>
            <a:br>
              <a:rPr lang="fr-FR" sz="1000" dirty="0">
                <a:effectLst/>
              </a:rPr>
            </a:br>
            <a:r>
              <a:rPr lang="fr-FR" sz="1000" dirty="0">
                <a:effectLst/>
              </a:rPr>
              <a:t>• Le pigment dégradé quitte le corps dans les fèces </a:t>
            </a:r>
            <a:br>
              <a:rPr lang="fr-FR" sz="1000" dirty="0">
                <a:effectLst/>
              </a:rPr>
            </a:br>
            <a:r>
              <a:rPr lang="fr-FR" sz="1000" dirty="0">
                <a:effectLst/>
              </a:rPr>
              <a:t>• La globine est métabolisée en  acides aminés</a:t>
            </a:r>
          </a:p>
          <a:p>
            <a:r>
              <a:rPr lang="fr-FR" sz="1000" b="1" dirty="0">
                <a:effectLst/>
              </a:rPr>
              <a:t>Anémie:</a:t>
            </a:r>
            <a:r>
              <a:rPr lang="fr-FR" sz="1000" dirty="0">
                <a:effectLst/>
              </a:rPr>
              <a:t> le sang a un</a:t>
            </a:r>
            <a:r>
              <a:rPr lang="fr-FR" sz="1000" baseline="0" dirty="0">
                <a:effectLst/>
              </a:rPr>
              <a:t> taux</a:t>
            </a:r>
            <a:r>
              <a:rPr lang="fr-FR" sz="1000" dirty="0">
                <a:effectLst/>
              </a:rPr>
              <a:t> de O</a:t>
            </a:r>
            <a:r>
              <a:rPr lang="fr-FR" sz="1000" baseline="-25000" dirty="0">
                <a:effectLst/>
              </a:rPr>
              <a:t>2  </a:t>
            </a:r>
            <a:r>
              <a:rPr lang="fr-FR" sz="1000" dirty="0">
                <a:effectLst/>
              </a:rPr>
              <a:t>anormalement bas</a:t>
            </a:r>
            <a:br>
              <a:rPr lang="fr-FR" sz="1000" dirty="0">
                <a:effectLst/>
              </a:rPr>
            </a:br>
            <a:r>
              <a:rPr lang="fr-FR" sz="1000" dirty="0">
                <a:effectLst/>
              </a:rPr>
              <a:t>• Un signe plutôt qu'une maladie elle-même</a:t>
            </a:r>
            <a:br>
              <a:rPr lang="fr-FR" sz="1000" dirty="0">
                <a:effectLst/>
              </a:rPr>
            </a:br>
            <a:r>
              <a:rPr lang="fr-FR" sz="1000" dirty="0">
                <a:effectLst/>
              </a:rPr>
              <a:t>• Le niveaux d'O</a:t>
            </a:r>
            <a:r>
              <a:rPr lang="fr-FR" sz="1000" baseline="-25000" dirty="0">
                <a:effectLst/>
              </a:rPr>
              <a:t>2</a:t>
            </a:r>
            <a:r>
              <a:rPr lang="fr-FR" sz="1000" dirty="0">
                <a:effectLst/>
              </a:rPr>
              <a:t> du sang ne peut pas soutenir le métabolisme normal</a:t>
            </a:r>
            <a:br>
              <a:rPr lang="fr-FR" sz="1000" dirty="0">
                <a:effectLst/>
              </a:rPr>
            </a:br>
            <a:r>
              <a:rPr lang="fr-FR" sz="1000" dirty="0">
                <a:effectLst/>
              </a:rPr>
              <a:t>• Ce signe est accompagné de fatigue, pâleur, essoufflement, et frissons</a:t>
            </a:r>
          </a:p>
          <a:p>
            <a:r>
              <a:rPr lang="fr-FR" sz="1000" b="1" dirty="0">
                <a:effectLst/>
              </a:rPr>
              <a:t>Causes de l'anémie</a:t>
            </a:r>
            <a:br>
              <a:rPr lang="fr-FR" sz="1000" b="1" dirty="0">
                <a:effectLst/>
              </a:rPr>
            </a:br>
            <a:r>
              <a:rPr lang="fr-FR" sz="1000" dirty="0">
                <a:effectLst/>
              </a:rPr>
              <a:t>1. érythrocytes insuffisant</a:t>
            </a:r>
            <a:br>
              <a:rPr lang="fr-FR" sz="1000" dirty="0">
                <a:effectLst/>
              </a:rPr>
            </a:br>
            <a:r>
              <a:rPr lang="fr-FR" sz="1000" dirty="0">
                <a:effectLst/>
              </a:rPr>
              <a:t>• Anémie hémorragique: perte aiguë ou chronique de sang</a:t>
            </a:r>
            <a:br>
              <a:rPr lang="fr-FR" sz="1000" dirty="0">
                <a:effectLst/>
              </a:rPr>
            </a:br>
            <a:r>
              <a:rPr lang="fr-FR" sz="1000" dirty="0">
                <a:effectLst/>
              </a:rPr>
              <a:t>• Anémie hémolytique: rupture prématurée des globules rouges</a:t>
            </a:r>
            <a:br>
              <a:rPr lang="fr-FR" sz="1000" dirty="0">
                <a:effectLst/>
              </a:rPr>
            </a:br>
            <a:r>
              <a:rPr lang="fr-FR" sz="1000" dirty="0">
                <a:effectLst/>
              </a:rPr>
              <a:t>• Anémie aplasique: destruction ou inhibition de la moelle osseuse rouge</a:t>
            </a:r>
          </a:p>
          <a:p>
            <a:r>
              <a:rPr lang="fr-FR" sz="1000" dirty="0">
                <a:effectLst/>
              </a:rPr>
              <a:t>2. Faible teneur en hémoglobine</a:t>
            </a:r>
            <a:br>
              <a:rPr lang="fr-FR" sz="1000" dirty="0">
                <a:effectLst/>
              </a:rPr>
            </a:br>
            <a:r>
              <a:rPr lang="fr-FR" sz="1000" dirty="0">
                <a:effectLst/>
              </a:rPr>
              <a:t>• L'anémie due à un manque de fer</a:t>
            </a:r>
            <a:br>
              <a:rPr lang="fr-FR" sz="1000" dirty="0">
                <a:effectLst/>
              </a:rPr>
            </a:br>
            <a:r>
              <a:rPr lang="fr-FR" sz="1000" dirty="0">
                <a:effectLst/>
              </a:rPr>
              <a:t>• Le résultat secondaire de l'anémie hémorragique ou</a:t>
            </a:r>
            <a:br>
              <a:rPr lang="fr-FR" sz="1000" dirty="0">
                <a:effectLst/>
              </a:rPr>
            </a:br>
            <a:r>
              <a:rPr lang="fr-FR" sz="1000" dirty="0">
                <a:effectLst/>
              </a:rPr>
              <a:t>• Un apport insuffisant de fer dans les aliments ou</a:t>
            </a:r>
            <a:br>
              <a:rPr lang="fr-FR" sz="1000" dirty="0">
                <a:effectLst/>
              </a:rPr>
            </a:br>
            <a:r>
              <a:rPr lang="fr-FR" sz="1000" dirty="0">
                <a:effectLst/>
              </a:rPr>
              <a:t>• Une</a:t>
            </a:r>
            <a:r>
              <a:rPr lang="fr-FR" sz="1000" baseline="0" dirty="0">
                <a:effectLst/>
              </a:rPr>
              <a:t> </a:t>
            </a:r>
            <a:r>
              <a:rPr lang="fr-FR" sz="1000" dirty="0">
                <a:effectLst/>
              </a:rPr>
              <a:t>absorption intestinale affaiblie du fer</a:t>
            </a:r>
          </a:p>
          <a:p>
            <a:r>
              <a:rPr lang="fr-FR" sz="1000" b="1" dirty="0">
                <a:effectLst/>
              </a:rPr>
              <a:t>Types d’anémie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effectLst/>
              </a:rPr>
              <a:t>• Pernicieuse (</a:t>
            </a:r>
            <a:r>
              <a:rPr lang="fr-FR" sz="1000" dirty="0">
                <a:effectLst/>
                <a:sym typeface="Symbol"/>
              </a:rPr>
              <a:t></a:t>
            </a:r>
            <a:r>
              <a:rPr lang="fr-FR" sz="1000" dirty="0">
                <a:effectLst/>
              </a:rPr>
              <a:t>vitamine B</a:t>
            </a:r>
            <a:r>
              <a:rPr lang="fr-FR" sz="1000" baseline="-25000" dirty="0">
                <a:effectLst/>
              </a:rPr>
              <a:t>12</a:t>
            </a:r>
            <a:r>
              <a:rPr lang="fr-FR" sz="1000" dirty="0">
                <a:effectLst/>
              </a:rPr>
              <a:t>); thalassémie (</a:t>
            </a:r>
            <a:r>
              <a:rPr lang="fr-FR" sz="1000" dirty="0">
                <a:effectLst/>
                <a:sym typeface="Symbol"/>
              </a:rPr>
              <a:t></a:t>
            </a:r>
            <a:r>
              <a:rPr lang="fr-FR" sz="1000" dirty="0">
                <a:effectLst/>
              </a:rPr>
              <a:t>gène </a:t>
            </a:r>
            <a:r>
              <a:rPr lang="fr-FR" sz="1000" dirty="0" err="1">
                <a:effectLst/>
              </a:rPr>
              <a:t>Hb</a:t>
            </a:r>
            <a:r>
              <a:rPr lang="fr-FR" sz="1000" dirty="0">
                <a:effectLst/>
              </a:rPr>
              <a:t>); drépanocytose (gène</a:t>
            </a:r>
            <a:r>
              <a:rPr lang="fr-FR" sz="1000" baseline="0" dirty="0">
                <a:effectLst/>
              </a:rPr>
              <a:t> </a:t>
            </a:r>
            <a:r>
              <a:rPr lang="fr-FR" sz="1000" baseline="0" dirty="0" err="1">
                <a:effectLst/>
              </a:rPr>
              <a:t>Hb</a:t>
            </a:r>
            <a:r>
              <a:rPr lang="fr-FR" sz="1000" baseline="0" dirty="0">
                <a:effectLst/>
              </a:rPr>
              <a:t> anormal)</a:t>
            </a:r>
            <a:r>
              <a:rPr lang="fr-FR" sz="1000" dirty="0">
                <a:effectLst/>
              </a:rPr>
              <a:t> </a:t>
            </a:r>
            <a:endParaRPr lang="en-US" sz="1000" dirty="0"/>
          </a:p>
        </p:txBody>
      </p:sp>
      <p:sp>
        <p:nvSpPr>
          <p:cNvPr id="4" name="Slide Number Placeholder 3"/>
          <p:cNvSpPr>
            <a:spLocks noGrp="1"/>
          </p:cNvSpPr>
          <p:nvPr>
            <p:ph type="sldNum" sz="quarter" idx="10"/>
          </p:nvPr>
        </p:nvSpPr>
        <p:spPr/>
        <p:txBody>
          <a:bodyPr/>
          <a:lstStyle/>
          <a:p>
            <a:fld id="{CA33E18D-DBF6-4CC1-9F12-D8705E8C1ADC}" type="slidenum">
              <a:rPr lang="en-US" smtClean="0"/>
              <a:t>12</a:t>
            </a:fld>
            <a:endParaRPr lang="en-US"/>
          </a:p>
        </p:txBody>
      </p:sp>
    </p:spTree>
    <p:extLst>
      <p:ext uri="{BB962C8B-B14F-4D97-AF65-F5344CB8AC3E}">
        <p14:creationId xmlns:p14="http://schemas.microsoft.com/office/powerpoint/2010/main" val="2127847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L'</a:t>
            </a:r>
            <a:r>
              <a:rPr lang="fr-FR" sz="1200" b="1" dirty="0"/>
              <a:t>hémostase</a:t>
            </a:r>
            <a:r>
              <a:rPr lang="fr-FR" sz="1200" dirty="0"/>
              <a:t> est le processus physiologique qui permet d'interrompre le saignement pour éviter </a:t>
            </a:r>
            <a:r>
              <a:rPr lang="fr-FR" sz="1200" u="none" dirty="0"/>
              <a:t>l</a:t>
            </a:r>
            <a:r>
              <a:rPr lang="fr-FR" sz="1200" u="none" dirty="0">
                <a:hlinkClick r:id="rId3" tooltip="Hémorragie"/>
              </a:rPr>
              <a:t>‘</a:t>
            </a:r>
            <a:r>
              <a:rPr lang="fr-FR" sz="1200" u="none" dirty="0"/>
              <a:t>hémorragie</a:t>
            </a:r>
            <a:r>
              <a:rPr lang="fr-FR" sz="1200" dirty="0"/>
              <a:t>.</a:t>
            </a: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13</a:t>
            </a:fld>
            <a:endParaRPr lang="en-US"/>
          </a:p>
        </p:txBody>
      </p:sp>
    </p:spTree>
    <p:extLst>
      <p:ext uri="{BB962C8B-B14F-4D97-AF65-F5344CB8AC3E}">
        <p14:creationId xmlns:p14="http://schemas.microsoft.com/office/powerpoint/2010/main" val="2296762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33E18D-DBF6-4CC1-9F12-D8705E8C1ADC}" type="slidenum">
              <a:rPr lang="en-US" smtClean="0"/>
              <a:t>14</a:t>
            </a:fld>
            <a:endParaRPr lang="en-US"/>
          </a:p>
        </p:txBody>
      </p:sp>
    </p:spTree>
    <p:extLst>
      <p:ext uri="{BB962C8B-B14F-4D97-AF65-F5344CB8AC3E}">
        <p14:creationId xmlns:p14="http://schemas.microsoft.com/office/powerpoint/2010/main" val="469174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dirty="0">
                <a:effectLst/>
              </a:rPr>
              <a:t>Hémostase:  </a:t>
            </a:r>
            <a:r>
              <a:rPr lang="fr-FR" sz="1200" dirty="0">
                <a:effectLst/>
              </a:rPr>
              <a:t>Rapide série de réactions pour l'arrêt du saignement</a:t>
            </a:r>
            <a:br>
              <a:rPr lang="fr-FR" sz="1200" dirty="0">
                <a:effectLst/>
              </a:rPr>
            </a:br>
            <a:r>
              <a:rPr lang="fr-FR" sz="1200" dirty="0">
                <a:effectLst/>
              </a:rPr>
              <a:t>1. Spasme vasculaire</a:t>
            </a:r>
            <a:br>
              <a:rPr lang="fr-FR" sz="1200" dirty="0">
                <a:effectLst/>
              </a:rPr>
            </a:br>
            <a:r>
              <a:rPr lang="fr-FR" sz="1200" dirty="0">
                <a:effectLst/>
              </a:rPr>
              <a:t>2. Formation d'un clou ou bouchon plaquettaire</a:t>
            </a:r>
            <a:br>
              <a:rPr lang="fr-FR" sz="1200" dirty="0">
                <a:effectLst/>
              </a:rPr>
            </a:br>
            <a:r>
              <a:rPr lang="fr-FR" sz="1200" dirty="0">
                <a:effectLst/>
              </a:rPr>
              <a:t>3. Coagulation </a:t>
            </a: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15</a:t>
            </a:fld>
            <a:endParaRPr lang="en-US"/>
          </a:p>
        </p:txBody>
      </p:sp>
    </p:spTree>
    <p:extLst>
      <p:ext uri="{BB962C8B-B14F-4D97-AF65-F5344CB8AC3E}">
        <p14:creationId xmlns:p14="http://schemas.microsoft.com/office/powerpoint/2010/main" val="3060003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effectLst/>
              </a:rPr>
              <a:t>L'hémostase est maintenue dans le corps par l'intermédiaire de trois mécanismes:</a:t>
            </a:r>
            <a:br>
              <a:rPr lang="fr-FR" sz="1200" dirty="0">
                <a:effectLst/>
              </a:rPr>
            </a:br>
            <a:br>
              <a:rPr lang="fr-FR" sz="1200" dirty="0">
                <a:effectLst/>
              </a:rPr>
            </a:br>
            <a:r>
              <a:rPr lang="fr-FR" sz="1200" dirty="0">
                <a:effectLst/>
              </a:rPr>
              <a:t>1. Spasme vasculaire – Constriction des vaisseaux sanguins endommagés.  Le spasme vasculaire est la première réponse des vaisseaux sanguins à une blessure. Les vaisseaux endommagés subissent</a:t>
            </a:r>
            <a:r>
              <a:rPr lang="fr-FR" sz="1200" baseline="0" dirty="0">
                <a:effectLst/>
              </a:rPr>
              <a:t> une </a:t>
            </a:r>
            <a:r>
              <a:rPr lang="fr-FR" sz="1200" dirty="0">
                <a:effectLst/>
              </a:rPr>
              <a:t>vasoconstriction qui réduit le flux sanguin dans la région et limite la perte de sang. Cette réponse est déclenchée par des médiateurs chimiques libérés par les cellules endothéliales et les plaquettes, et les réflexes initiées par les récepteurs de la douleur locale. La réponse du spasme devient plus efficace que le montant des dommages est augmentée. La</a:t>
            </a:r>
            <a:r>
              <a:rPr lang="fr-FR" sz="1200" baseline="0" dirty="0">
                <a:effectLst/>
              </a:rPr>
              <a:t> réponse du s</a:t>
            </a:r>
            <a:r>
              <a:rPr lang="fr-FR" sz="1200" dirty="0">
                <a:effectLst/>
              </a:rPr>
              <a:t>pasme vasculaire est plus efficace lorsque les dommages sont augmentés et la blessure se produit dans les petits vaisseaux sanguins.</a:t>
            </a:r>
            <a:br>
              <a:rPr lang="fr-FR" sz="1200" dirty="0">
                <a:effectLst/>
              </a:rPr>
            </a:b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16</a:t>
            </a:fld>
            <a:endParaRPr lang="en-US"/>
          </a:p>
        </p:txBody>
      </p:sp>
    </p:spTree>
    <p:extLst>
      <p:ext uri="{BB962C8B-B14F-4D97-AF65-F5344CB8AC3E}">
        <p14:creationId xmlns:p14="http://schemas.microsoft.com/office/powerpoint/2010/main" val="34898681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effectLst/>
              </a:rPr>
              <a:t>2. Formation d'un clou plaquettaire – les plaquettes adhèrent à l'endothélium endommagé pour former le clou plaquettaire (hémostase primaire), puis causer la </a:t>
            </a:r>
            <a:r>
              <a:rPr lang="fr-FR" sz="1200" dirty="0" err="1">
                <a:effectLst/>
              </a:rPr>
              <a:t>dégranulation</a:t>
            </a:r>
            <a:r>
              <a:rPr lang="fr-FR" sz="1200" dirty="0">
                <a:effectLst/>
              </a:rPr>
              <a:t>. Les plaquettes collent ensemble (agrégation) pour former un bouchon temporaire et sceller la rupture de la paroi du vaisseau. Comme les plaquettes adhèrent aux fibres de collagène, elles deviennent pointues et beaucoup plus collantes. Elles libèrent alors des messagers chimiques comme l'adénosine </a:t>
            </a:r>
            <a:r>
              <a:rPr lang="fr-FR" sz="1200" dirty="0" err="1">
                <a:effectLst/>
              </a:rPr>
              <a:t>diphosphate</a:t>
            </a:r>
            <a:r>
              <a:rPr lang="fr-FR" sz="1200" dirty="0">
                <a:effectLst/>
              </a:rPr>
              <a:t> (ADP), la sérotonine et la </a:t>
            </a:r>
            <a:r>
              <a:rPr lang="fr-FR" sz="1200" dirty="0" err="1">
                <a:effectLst/>
              </a:rPr>
              <a:t>thromboxane</a:t>
            </a:r>
            <a:r>
              <a:rPr lang="fr-FR" sz="1200" dirty="0">
                <a:effectLst/>
              </a:rPr>
              <a:t> A2. Ces produits augmentent l’adhérence des plaquettes entre elles et les spasmes vasculaires,</a:t>
            </a:r>
            <a:r>
              <a:rPr lang="fr-FR" sz="1200" baseline="0" dirty="0">
                <a:effectLst/>
              </a:rPr>
              <a:t> </a:t>
            </a:r>
            <a:r>
              <a:rPr lang="fr-FR" sz="1200" dirty="0">
                <a:effectLst/>
              </a:rPr>
              <a:t>créant un bouchon de plaquettes et une rétroaction positive. Les plaquettes sont les seuls responsables pour arrêter l'hémorragie dues aux déchirures inaperçues de notre peau sur une base quotidienne. </a:t>
            </a:r>
            <a:br>
              <a:rPr lang="fr-FR" sz="1200" dirty="0">
                <a:effectLst/>
              </a:rPr>
            </a:br>
            <a:r>
              <a:rPr lang="fr-FR" sz="1200" dirty="0">
                <a:effectLst/>
              </a:rPr>
              <a:t>La deuxième étape de l'hémostase implique le déplacement des plaquettes à travers le sang. Lorsque les plaquettes trouvent une zone exposée ou une blessure, elles commencent à former un clou plaquettaire. La formation du clou plaquettaire est activée par une glycoprotéine, le facteur de </a:t>
            </a:r>
            <a:r>
              <a:rPr lang="fr-FR" sz="1200" dirty="0" err="1">
                <a:effectLst/>
              </a:rPr>
              <a:t>von</a:t>
            </a:r>
            <a:r>
              <a:rPr lang="fr-FR" sz="1200" dirty="0">
                <a:effectLst/>
              </a:rPr>
              <a:t> </a:t>
            </a:r>
            <a:r>
              <a:rPr lang="fr-FR" sz="1200" dirty="0" err="1">
                <a:effectLst/>
              </a:rPr>
              <a:t>Willebrand</a:t>
            </a:r>
            <a:r>
              <a:rPr lang="fr-FR" sz="1200" dirty="0">
                <a:effectLst/>
              </a:rPr>
              <a:t> (VWF), que l'on trouve dans le plasma sanguin de l'organisme. L’activation des plaquettes leur permet ainsi de se coller à d'autres plaquettes et d'adhérer à une zone lésée.</a:t>
            </a:r>
            <a:br>
              <a:rPr lang="fr-FR" sz="1200" dirty="0">
                <a:effectLst/>
              </a:rPr>
            </a:br>
            <a:br>
              <a:rPr lang="fr-FR" sz="1200" dirty="0">
                <a:effectLst/>
              </a:rPr>
            </a:b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17</a:t>
            </a:fld>
            <a:endParaRPr lang="en-US"/>
          </a:p>
        </p:txBody>
      </p:sp>
    </p:spTree>
    <p:extLst>
      <p:ext uri="{BB962C8B-B14F-4D97-AF65-F5344CB8AC3E}">
        <p14:creationId xmlns:p14="http://schemas.microsoft.com/office/powerpoint/2010/main" val="1248943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33E18D-DBF6-4CC1-9F12-D8705E8C1ADC}" type="slidenum">
              <a:rPr lang="en-US" smtClean="0"/>
              <a:t>18</a:t>
            </a:fld>
            <a:endParaRPr lang="en-US"/>
          </a:p>
        </p:txBody>
      </p:sp>
    </p:spTree>
    <p:extLst>
      <p:ext uri="{BB962C8B-B14F-4D97-AF65-F5344CB8AC3E}">
        <p14:creationId xmlns:p14="http://schemas.microsoft.com/office/powerpoint/2010/main" val="3443025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100" dirty="0">
                <a:effectLst/>
              </a:rPr>
              <a:t>3. La coagulation du sang – les caillots se forment lors de la conversion du fibrinogène en fibrine, et son adjonction au clou plaquettaire (hémostase secondaire). Coagulation: La troisième et dernière étape de cette réponse rapide renforce le clou plaquettaire. La coagulation du sang utilise des brins de fibrine qui agissent comme une colle pour les plaquettes. Comme le réseau de fibrine commence à se former,  le sang est également transformé en une masse gélatineuse. Le processus de la coagulation est utile dans la fermeture et le maintien en place du bouchon de plaquettes sur les grandes plaies. La libération de prothrombine joue également un rôle essentiel dans le processus de coagulation, car elle permet la formation du caillot. Cette dernière étape oblige les globules et plaquettes de rester coincés dans la zone lésée. Bien que ce soit souvent une bonne étape pour la cicatrisation des plaies, le caillot a la capacité de causer des problèmes de santé s’il se détache de la paroi du vaisseau et passe dans le système circulatoire.  S’il atteint le cœur ou le cerveau, il peut produire un ACV, un attaque cardiaque ou une embolie pulmonaire. Toutefois, sans le processus de coagulation, la guérison d'une blessure n’est pas possible. </a:t>
            </a:r>
            <a:br>
              <a:rPr lang="fr-FR" sz="1100" dirty="0">
                <a:effectLst/>
              </a:rPr>
            </a:br>
            <a:br>
              <a:rPr lang="fr-FR" sz="1100" dirty="0">
                <a:effectLst/>
              </a:rPr>
            </a:br>
            <a:r>
              <a:rPr lang="fr-FR" sz="1100" dirty="0">
                <a:effectLst/>
              </a:rPr>
              <a:t>• Trois phases de la coagulation</a:t>
            </a:r>
            <a:br>
              <a:rPr lang="fr-FR" sz="1100" dirty="0">
                <a:effectLst/>
              </a:rPr>
            </a:br>
            <a:r>
              <a:rPr lang="fr-FR" sz="1100" dirty="0">
                <a:effectLst/>
              </a:rPr>
              <a:t>1. L’activateur de la prothrombine est formé (voies intrinsèque et extrinsèque)</a:t>
            </a:r>
            <a:br>
              <a:rPr lang="fr-FR" sz="1100" dirty="0">
                <a:effectLst/>
              </a:rPr>
            </a:br>
            <a:r>
              <a:rPr lang="fr-FR" sz="1100" dirty="0">
                <a:effectLst/>
              </a:rPr>
              <a:t>2. La prothrombine est convertie en thrombine</a:t>
            </a:r>
            <a:br>
              <a:rPr lang="fr-FR" sz="1100" dirty="0">
                <a:effectLst/>
              </a:rPr>
            </a:br>
            <a:r>
              <a:rPr lang="fr-FR" sz="1100" dirty="0">
                <a:effectLst/>
              </a:rPr>
              <a:t>3. La thrombine catalyse la jonction de molécules de fibrinogène solubles pour former des réseaux de fibrine insolubles</a:t>
            </a:r>
            <a:endParaRPr lang="en-US" sz="1100" dirty="0"/>
          </a:p>
          <a:p>
            <a:endParaRPr lang="fr-FR" sz="1100" b="1" dirty="0">
              <a:effectLst/>
            </a:endParaRPr>
          </a:p>
          <a:p>
            <a:endParaRPr lang="fr-FR" sz="1100" b="1" dirty="0">
              <a:effectLst/>
            </a:endParaRPr>
          </a:p>
        </p:txBody>
      </p:sp>
      <p:sp>
        <p:nvSpPr>
          <p:cNvPr id="4" name="Slide Number Placeholder 3"/>
          <p:cNvSpPr>
            <a:spLocks noGrp="1"/>
          </p:cNvSpPr>
          <p:nvPr>
            <p:ph type="sldNum" sz="quarter" idx="10"/>
          </p:nvPr>
        </p:nvSpPr>
        <p:spPr/>
        <p:txBody>
          <a:bodyPr/>
          <a:lstStyle/>
          <a:p>
            <a:fld id="{CA33E18D-DBF6-4CC1-9F12-D8705E8C1ADC}" type="slidenum">
              <a:rPr lang="en-US" smtClean="0"/>
              <a:t>19</a:t>
            </a:fld>
            <a:endParaRPr lang="en-US"/>
          </a:p>
        </p:txBody>
      </p:sp>
    </p:spTree>
    <p:extLst>
      <p:ext uri="{BB962C8B-B14F-4D97-AF65-F5344CB8AC3E}">
        <p14:creationId xmlns:p14="http://schemas.microsoft.com/office/powerpoint/2010/main" val="30237025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Voir</a:t>
            </a:r>
            <a:r>
              <a:rPr lang="en-US" sz="1200" dirty="0"/>
              <a:t> la vid</a:t>
            </a:r>
            <a:r>
              <a:rPr lang="fr-CA" sz="1200" dirty="0" err="1"/>
              <a:t>éo</a:t>
            </a:r>
            <a:r>
              <a:rPr lang="fr-CA" sz="1200" dirty="0"/>
              <a:t>:</a:t>
            </a:r>
          </a:p>
          <a:p>
            <a:endParaRPr lang="fr-CA" sz="1200" dirty="0"/>
          </a:p>
          <a:p>
            <a:r>
              <a:rPr lang="en-US" sz="1200" dirty="0"/>
              <a:t>http://www.popscreen.com/v/7EOTe/La-coagulation-du-sang#</a:t>
            </a:r>
          </a:p>
        </p:txBody>
      </p:sp>
      <p:sp>
        <p:nvSpPr>
          <p:cNvPr id="4" name="Slide Number Placeholder 3"/>
          <p:cNvSpPr>
            <a:spLocks noGrp="1"/>
          </p:cNvSpPr>
          <p:nvPr>
            <p:ph type="sldNum" sz="quarter" idx="10"/>
          </p:nvPr>
        </p:nvSpPr>
        <p:spPr/>
        <p:txBody>
          <a:bodyPr/>
          <a:lstStyle/>
          <a:p>
            <a:fld id="{CA33E18D-DBF6-4CC1-9F12-D8705E8C1ADC}" type="slidenum">
              <a:rPr lang="en-US" smtClean="0"/>
              <a:t>20</a:t>
            </a:fld>
            <a:endParaRPr lang="en-US"/>
          </a:p>
        </p:txBody>
      </p:sp>
    </p:spTree>
    <p:extLst>
      <p:ext uri="{BB962C8B-B14F-4D97-AF65-F5344CB8AC3E}">
        <p14:creationId xmlns:p14="http://schemas.microsoft.com/office/powerpoint/2010/main" val="38847068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33E18D-DBF6-4CC1-9F12-D8705E8C1ADC}" type="slidenum">
              <a:rPr lang="en-US" smtClean="0"/>
              <a:t>21</a:t>
            </a:fld>
            <a:endParaRPr lang="en-US"/>
          </a:p>
        </p:txBody>
      </p:sp>
    </p:spTree>
    <p:extLst>
      <p:ext uri="{BB962C8B-B14F-4D97-AF65-F5344CB8AC3E}">
        <p14:creationId xmlns:p14="http://schemas.microsoft.com/office/powerpoint/2010/main" val="36987703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B01F5F-2F18-4FF4-A3F1-6134930A189D}" type="slidenum">
              <a:rPr lang="en-US" smtClean="0"/>
              <a:t>22</a:t>
            </a:fld>
            <a:endParaRPr lang="en-US"/>
          </a:p>
        </p:txBody>
      </p:sp>
    </p:spTree>
    <p:extLst>
      <p:ext uri="{BB962C8B-B14F-4D97-AF65-F5344CB8AC3E}">
        <p14:creationId xmlns:p14="http://schemas.microsoft.com/office/powerpoint/2010/main" val="697338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33E18D-DBF6-4CC1-9F12-D8705E8C1ADC}" type="slidenum">
              <a:rPr lang="en-US" smtClean="0"/>
              <a:t>23</a:t>
            </a:fld>
            <a:endParaRPr lang="en-US"/>
          </a:p>
        </p:txBody>
      </p:sp>
    </p:spTree>
    <p:extLst>
      <p:ext uri="{BB962C8B-B14F-4D97-AF65-F5344CB8AC3E}">
        <p14:creationId xmlns:p14="http://schemas.microsoft.com/office/powerpoint/2010/main" val="3015703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B01F5F-2F18-4FF4-A3F1-6134930A189D}" type="slidenum">
              <a:rPr lang="en-US" smtClean="0"/>
              <a:t>24</a:t>
            </a:fld>
            <a:endParaRPr lang="en-US"/>
          </a:p>
        </p:txBody>
      </p:sp>
    </p:spTree>
    <p:extLst>
      <p:ext uri="{BB962C8B-B14F-4D97-AF65-F5344CB8AC3E}">
        <p14:creationId xmlns:p14="http://schemas.microsoft.com/office/powerpoint/2010/main" val="11335443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dirty="0">
                <a:effectLst/>
              </a:rPr>
              <a:t>Rétraction du caillot</a:t>
            </a:r>
            <a:br>
              <a:rPr lang="fr-FR" sz="1200" b="1" dirty="0">
                <a:effectLst/>
              </a:rPr>
            </a:br>
            <a:r>
              <a:rPr lang="fr-FR" sz="1200" dirty="0">
                <a:effectLst/>
              </a:rPr>
              <a:t>• L’actine et la myosine plaquettaires</a:t>
            </a:r>
            <a:r>
              <a:rPr lang="fr-FR" sz="1200" baseline="0" dirty="0">
                <a:effectLst/>
              </a:rPr>
              <a:t> se rétractent</a:t>
            </a:r>
            <a:r>
              <a:rPr lang="fr-FR" sz="1200" dirty="0">
                <a:effectLst/>
              </a:rPr>
              <a:t> dans les 30-60 minutes</a:t>
            </a:r>
            <a:br>
              <a:rPr lang="fr-FR" sz="1200" dirty="0">
                <a:effectLst/>
              </a:rPr>
            </a:br>
            <a:r>
              <a:rPr lang="fr-FR" sz="1200" dirty="0">
                <a:effectLst/>
              </a:rPr>
              <a:t>• Les plaquettes tirent sur les brins de fibrine, expulsant le sérum du caillot</a:t>
            </a:r>
            <a:br>
              <a:rPr lang="fr-FR" sz="1200" dirty="0">
                <a:effectLst/>
              </a:rPr>
            </a:br>
            <a:r>
              <a:rPr lang="fr-FR" sz="1200" b="1" dirty="0">
                <a:effectLst/>
              </a:rPr>
              <a:t>Réparation du caillot</a:t>
            </a:r>
          </a:p>
          <a:p>
            <a:r>
              <a:rPr lang="fr-FR" sz="1200" dirty="0">
                <a:effectLst/>
              </a:rPr>
              <a:t>• le facteur de croissance dérivé des plaquettes (PDGF) stimule la division des cellules musculaires lisses et des fibroblastes pour reconstruire la paroi du vaisseau sanguin</a:t>
            </a:r>
            <a:br>
              <a:rPr lang="fr-FR" sz="1200" dirty="0">
                <a:effectLst/>
              </a:rPr>
            </a:br>
            <a:r>
              <a:rPr lang="fr-FR" sz="1200" dirty="0">
                <a:effectLst/>
              </a:rPr>
              <a:t>• facteur de croissance endothélial vasculaire (VEGF) stimule la multiplication des cellules endothéliales et rétablit l’intégrité de la paroi des vaisseaux</a:t>
            </a:r>
            <a:br>
              <a:rPr lang="fr-FR" sz="1200" dirty="0">
                <a:effectLst/>
              </a:rPr>
            </a:br>
            <a:r>
              <a:rPr lang="fr-FR" sz="1200" b="1" dirty="0">
                <a:effectLst/>
              </a:rPr>
              <a:t>La fibrinolyse</a:t>
            </a:r>
            <a:br>
              <a:rPr lang="fr-FR" sz="1200" b="1" dirty="0">
                <a:effectLst/>
              </a:rPr>
            </a:br>
            <a:r>
              <a:rPr lang="fr-FR" sz="1200" dirty="0">
                <a:effectLst/>
              </a:rPr>
              <a:t>• Commence dans les deux jours</a:t>
            </a:r>
            <a:br>
              <a:rPr lang="fr-FR" sz="1200" dirty="0">
                <a:effectLst/>
              </a:rPr>
            </a:br>
            <a:r>
              <a:rPr lang="fr-FR" sz="1200" dirty="0">
                <a:effectLst/>
              </a:rPr>
              <a:t>• le plasminogène des caillots est transformé en plasmine par l’activateur tissulaire du plasminogène (</a:t>
            </a:r>
            <a:r>
              <a:rPr lang="fr-FR" sz="1200" dirty="0" err="1">
                <a:effectLst/>
              </a:rPr>
              <a:t>tPA</a:t>
            </a:r>
            <a:r>
              <a:rPr lang="fr-FR" sz="1200" dirty="0">
                <a:effectLst/>
              </a:rPr>
              <a:t>), le facteur XII et la thrombine</a:t>
            </a:r>
            <a:br>
              <a:rPr lang="fr-FR" sz="1200" dirty="0">
                <a:effectLst/>
              </a:rPr>
            </a:br>
            <a:r>
              <a:rPr lang="fr-FR" sz="1200" dirty="0">
                <a:effectLst/>
              </a:rPr>
              <a:t>• la plasmine est une enzyme de digestion de la fibrine  </a:t>
            </a:r>
            <a:r>
              <a:rPr lang="fr-FR" sz="1200" dirty="0">
                <a:effectLst/>
                <a:sym typeface="Symbol"/>
              </a:rPr>
              <a:t> dissolution du caillot</a:t>
            </a:r>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25</a:t>
            </a:fld>
            <a:endParaRPr lang="en-US"/>
          </a:p>
        </p:txBody>
      </p:sp>
    </p:spTree>
    <p:extLst>
      <p:ext uri="{BB962C8B-B14F-4D97-AF65-F5344CB8AC3E}">
        <p14:creationId xmlns:p14="http://schemas.microsoft.com/office/powerpoint/2010/main" val="3134595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33E18D-DBF6-4CC1-9F12-D8705E8C1ADC}" type="slidenum">
              <a:rPr lang="en-US" smtClean="0"/>
              <a:t>26</a:t>
            </a:fld>
            <a:endParaRPr lang="en-US"/>
          </a:p>
        </p:txBody>
      </p:sp>
    </p:spTree>
    <p:extLst>
      <p:ext uri="{BB962C8B-B14F-4D97-AF65-F5344CB8AC3E}">
        <p14:creationId xmlns:p14="http://schemas.microsoft.com/office/powerpoint/2010/main" val="41164495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CA33E18D-DBF6-4CC1-9F12-D8705E8C1ADC}" type="slidenum">
              <a:rPr lang="en-US" smtClean="0"/>
              <a:t>27</a:t>
            </a:fld>
            <a:endParaRPr lang="en-US"/>
          </a:p>
        </p:txBody>
      </p:sp>
    </p:spTree>
    <p:extLst>
      <p:ext uri="{BB962C8B-B14F-4D97-AF65-F5344CB8AC3E}">
        <p14:creationId xmlns:p14="http://schemas.microsoft.com/office/powerpoint/2010/main" val="1178766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33E18D-DBF6-4CC1-9F12-D8705E8C1ADC}" type="slidenum">
              <a:rPr lang="en-US" smtClean="0"/>
              <a:t>28</a:t>
            </a:fld>
            <a:endParaRPr lang="en-US"/>
          </a:p>
        </p:txBody>
      </p:sp>
    </p:spTree>
    <p:extLst>
      <p:ext uri="{BB962C8B-B14F-4D97-AF65-F5344CB8AC3E}">
        <p14:creationId xmlns:p14="http://schemas.microsoft.com/office/powerpoint/2010/main" val="5838023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33E18D-DBF6-4CC1-9F12-D8705E8C1ADC}" type="slidenum">
              <a:rPr lang="en-US" smtClean="0"/>
              <a:t>29</a:t>
            </a:fld>
            <a:endParaRPr lang="en-US"/>
          </a:p>
        </p:txBody>
      </p:sp>
    </p:spTree>
    <p:extLst>
      <p:ext uri="{BB962C8B-B14F-4D97-AF65-F5344CB8AC3E}">
        <p14:creationId xmlns:p14="http://schemas.microsoft.com/office/powerpoint/2010/main" val="25621916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B01F5F-2F18-4FF4-A3F1-6134930A189D}" type="slidenum">
              <a:rPr lang="en-US" smtClean="0"/>
              <a:t>30</a:t>
            </a:fld>
            <a:endParaRPr lang="en-US"/>
          </a:p>
        </p:txBody>
      </p:sp>
    </p:spTree>
    <p:extLst>
      <p:ext uri="{BB962C8B-B14F-4D97-AF65-F5344CB8AC3E}">
        <p14:creationId xmlns:p14="http://schemas.microsoft.com/office/powerpoint/2010/main" val="36982584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33E18D-DBF6-4CC1-9F12-D8705E8C1ADC}" type="slidenum">
              <a:rPr lang="en-US" smtClean="0"/>
              <a:t>31</a:t>
            </a:fld>
            <a:endParaRPr lang="en-US"/>
          </a:p>
        </p:txBody>
      </p:sp>
    </p:spTree>
    <p:extLst>
      <p:ext uri="{BB962C8B-B14F-4D97-AF65-F5344CB8AC3E}">
        <p14:creationId xmlns:p14="http://schemas.microsoft.com/office/powerpoint/2010/main" val="1754413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33E18D-DBF6-4CC1-9F12-D8705E8C1ADC}" type="slidenum">
              <a:rPr lang="en-US" smtClean="0"/>
              <a:t>32</a:t>
            </a:fld>
            <a:endParaRPr lang="en-US"/>
          </a:p>
        </p:txBody>
      </p:sp>
    </p:spTree>
    <p:extLst>
      <p:ext uri="{BB962C8B-B14F-4D97-AF65-F5344CB8AC3E}">
        <p14:creationId xmlns:p14="http://schemas.microsoft.com/office/powerpoint/2010/main" val="3038423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853440" y="1645920"/>
            <a:ext cx="12562637" cy="2194560"/>
          </a:xfrm>
          <a:ln>
            <a:noFill/>
          </a:ln>
        </p:spPr>
        <p:txBody>
          <a:bodyPr vert="horz" tIns="0" rIns="26124"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80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853440" y="3874243"/>
            <a:ext cx="12567514" cy="2103120"/>
          </a:xfrm>
        </p:spPr>
        <p:txBody>
          <a:bodyPr lIns="0" rIns="26124"/>
          <a:lstStyle>
            <a:lvl1pPr marL="0" marR="65311" indent="0" algn="r">
              <a:buNone/>
              <a:defRPr>
                <a:solidFill>
                  <a:schemeClr val="tx1"/>
                </a:solidFill>
              </a:defRPr>
            </a:lvl1pPr>
            <a:lvl2pPr marL="653110" indent="0" algn="ctr">
              <a:buNone/>
            </a:lvl2pPr>
            <a:lvl3pPr marL="1306220" indent="0" algn="ctr">
              <a:buNone/>
            </a:lvl3pPr>
            <a:lvl4pPr marL="1959331" indent="0" algn="ctr">
              <a:buNone/>
            </a:lvl4pPr>
            <a:lvl5pPr marL="2612441" indent="0" algn="ctr">
              <a:buNone/>
            </a:lvl5pPr>
            <a:lvl6pPr marL="3265551" indent="0" algn="ctr">
              <a:buNone/>
            </a:lvl6pPr>
            <a:lvl7pPr marL="3918661" indent="0" algn="ctr">
              <a:buNone/>
            </a:lvl7pPr>
            <a:lvl8pPr marL="4571771" indent="0" algn="ctr">
              <a:buNone/>
            </a:lvl8pPr>
            <a:lvl9pPr marL="5224882"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34D380B6-6988-4A9C-825A-4EF995122014}" type="datetimeFigureOut">
              <a:rPr lang="en-US" smtClean="0"/>
              <a:t>1/4/2022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A12461A2-8C0F-4B26-9B1E-4D5C0F5B86ED}"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4D380B6-6988-4A9C-825A-4EF995122014}" type="datetimeFigureOut">
              <a:rPr lang="en-US" smtClean="0"/>
              <a:t>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461A2-8C0F-4B26-9B1E-4D5C0F5B86E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48563" y="1580083"/>
            <a:ext cx="12435840" cy="1634947"/>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80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848563" y="3245597"/>
            <a:ext cx="12435840" cy="1811654"/>
          </a:xfrm>
        </p:spPr>
        <p:txBody>
          <a:bodyPr lIns="65311" rIns="65311" anchor="t"/>
          <a:lstStyle>
            <a:lvl1pPr marL="0" indent="0">
              <a:buNone/>
              <a:defRPr sz="3100">
                <a:solidFill>
                  <a:schemeClr val="tx1"/>
                </a:solidFill>
              </a:defRPr>
            </a:lvl1pPr>
            <a:lvl2pPr>
              <a:buNone/>
              <a:defRPr sz="2600">
                <a:solidFill>
                  <a:schemeClr val="tx1">
                    <a:tint val="75000"/>
                  </a:schemeClr>
                </a:solidFill>
              </a:defRPr>
            </a:lvl2pPr>
            <a:lvl3pPr>
              <a:buNone/>
              <a:defRPr sz="2300">
                <a:solidFill>
                  <a:schemeClr val="tx1">
                    <a:tint val="75000"/>
                  </a:schemeClr>
                </a:solidFill>
              </a:defRPr>
            </a:lvl3pPr>
            <a:lvl4pPr>
              <a:buNone/>
              <a:defRPr sz="2000">
                <a:solidFill>
                  <a:schemeClr val="tx1">
                    <a:tint val="75000"/>
                  </a:schemeClr>
                </a:solidFill>
              </a:defRPr>
            </a:lvl4pPr>
            <a:lvl5pPr>
              <a:buNone/>
              <a:defRPr sz="20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4D380B6-6988-4A9C-825A-4EF995122014}" type="datetimeFigureOut">
              <a:rPr lang="en-US" smtClean="0"/>
              <a:t>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461A2-8C0F-4B26-9B1E-4D5C0F5B86ED}"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31520" y="844906"/>
            <a:ext cx="13167360" cy="1371600"/>
          </a:xfrm>
        </p:spPr>
        <p:txBody>
          <a:bodyPr/>
          <a:lstStyle/>
          <a:p>
            <a:r>
              <a:rPr kumimoji="0" lang="en-US"/>
              <a:t>Click to edit Master title style</a:t>
            </a:r>
          </a:p>
        </p:txBody>
      </p:sp>
      <p:sp>
        <p:nvSpPr>
          <p:cNvPr id="3" name="Content Placeholder 2"/>
          <p:cNvSpPr>
            <a:spLocks noGrp="1"/>
          </p:cNvSpPr>
          <p:nvPr>
            <p:ph sz="half" idx="1"/>
          </p:nvPr>
        </p:nvSpPr>
        <p:spPr>
          <a:xfrm>
            <a:off x="731520" y="2304102"/>
            <a:ext cx="6461760" cy="5321808"/>
          </a:xfrm>
        </p:spPr>
        <p:txBody>
          <a:bodyPr/>
          <a:lstStyle>
            <a:lvl1pPr>
              <a:defRPr sz="3700"/>
            </a:lvl1pPr>
            <a:lvl2pPr>
              <a:defRPr sz="3400"/>
            </a:lvl2pPr>
            <a:lvl3pPr>
              <a:defRPr sz="2900"/>
            </a:lvl3pPr>
            <a:lvl4pPr>
              <a:defRPr sz="2600"/>
            </a:lvl4pPr>
            <a:lvl5pPr>
              <a:defRPr sz="2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437120" y="2304102"/>
            <a:ext cx="6461760" cy="5321808"/>
          </a:xfrm>
        </p:spPr>
        <p:txBody>
          <a:bodyPr/>
          <a:lstStyle>
            <a:lvl1pPr>
              <a:defRPr sz="3700"/>
            </a:lvl1pPr>
            <a:lvl2pPr>
              <a:defRPr sz="3400"/>
            </a:lvl2pPr>
            <a:lvl3pPr>
              <a:defRPr sz="2900"/>
            </a:lvl3pPr>
            <a:lvl4pPr>
              <a:defRPr sz="2600"/>
            </a:lvl4pPr>
            <a:lvl5pPr>
              <a:defRPr sz="2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4D380B6-6988-4A9C-825A-4EF995122014}" type="datetimeFigureOut">
              <a:rPr lang="en-US" smtClean="0"/>
              <a:t>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2461A2-8C0F-4B26-9B1E-4D5C0F5B86E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1520" y="844906"/>
            <a:ext cx="13167360" cy="1371600"/>
          </a:xfrm>
        </p:spPr>
        <p:txBody>
          <a:bodyPr tIns="65311" anchor="b"/>
          <a:lstStyle>
            <a:lvl1pPr>
              <a:defRPr/>
            </a:lvl1pPr>
          </a:lstStyle>
          <a:p>
            <a:r>
              <a:rPr kumimoji="0" lang="en-US"/>
              <a:t>Click to edit Master title style</a:t>
            </a:r>
          </a:p>
        </p:txBody>
      </p:sp>
      <p:sp>
        <p:nvSpPr>
          <p:cNvPr id="3" name="Text Placeholder 2"/>
          <p:cNvSpPr>
            <a:spLocks noGrp="1"/>
          </p:cNvSpPr>
          <p:nvPr>
            <p:ph type="body" idx="1"/>
          </p:nvPr>
        </p:nvSpPr>
        <p:spPr>
          <a:xfrm>
            <a:off x="731520" y="2226298"/>
            <a:ext cx="6464301" cy="791222"/>
          </a:xfrm>
        </p:spPr>
        <p:txBody>
          <a:bodyPr lIns="65311" tIns="0" rIns="65311" bIns="0" anchor="ctr">
            <a:noAutofit/>
          </a:bodyPr>
          <a:lstStyle>
            <a:lvl1pPr marL="0" indent="0">
              <a:buNone/>
              <a:defRPr sz="3400" b="1" cap="none" baseline="0">
                <a:solidFill>
                  <a:schemeClr val="tx2"/>
                </a:solidFill>
                <a:effectLst/>
              </a:defRPr>
            </a:lvl1pPr>
            <a:lvl2pPr>
              <a:buNone/>
              <a:defRPr sz="2900" b="1"/>
            </a:lvl2pPr>
            <a:lvl3pPr>
              <a:buNone/>
              <a:defRPr sz="2600" b="1"/>
            </a:lvl3pPr>
            <a:lvl4pPr>
              <a:buNone/>
              <a:defRPr sz="2300" b="1"/>
            </a:lvl4pPr>
            <a:lvl5pPr>
              <a:buNone/>
              <a:defRPr sz="23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7432041" y="2231709"/>
            <a:ext cx="6466840" cy="785812"/>
          </a:xfrm>
        </p:spPr>
        <p:txBody>
          <a:bodyPr lIns="65311" tIns="0" rIns="65311" bIns="0" anchor="ctr"/>
          <a:lstStyle>
            <a:lvl1pPr marL="0" indent="0">
              <a:buNone/>
              <a:defRPr sz="3400" b="1" cap="none" baseline="0">
                <a:solidFill>
                  <a:schemeClr val="tx2"/>
                </a:solidFill>
                <a:effectLst/>
              </a:defRPr>
            </a:lvl1pPr>
            <a:lvl2pPr>
              <a:buNone/>
              <a:defRPr sz="2900" b="1"/>
            </a:lvl2pPr>
            <a:lvl3pPr>
              <a:buNone/>
              <a:defRPr sz="2600" b="1"/>
            </a:lvl3pPr>
            <a:lvl4pPr>
              <a:buNone/>
              <a:defRPr sz="2300" b="1"/>
            </a:lvl4pPr>
            <a:lvl5pPr>
              <a:buNone/>
              <a:defRPr sz="23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731520" y="3017520"/>
            <a:ext cx="6464301" cy="4614864"/>
          </a:xfrm>
        </p:spPr>
        <p:txBody>
          <a:bodyPr tIns="0"/>
          <a:lstStyle>
            <a:lvl1pPr>
              <a:defRPr sz="3100"/>
            </a:lvl1pPr>
            <a:lvl2pPr>
              <a:defRPr sz="2900"/>
            </a:lvl2pPr>
            <a:lvl3pPr>
              <a:defRPr sz="2600"/>
            </a:lvl3pPr>
            <a:lvl4pPr>
              <a:defRPr sz="2300"/>
            </a:lvl4pPr>
            <a:lvl5pPr>
              <a:defRPr sz="23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7432041" y="3017520"/>
            <a:ext cx="6466840" cy="4614864"/>
          </a:xfrm>
        </p:spPr>
        <p:txBody>
          <a:bodyPr tIns="0"/>
          <a:lstStyle>
            <a:lvl1pPr>
              <a:defRPr sz="3100"/>
            </a:lvl1pPr>
            <a:lvl2pPr>
              <a:defRPr sz="2900"/>
            </a:lvl2pPr>
            <a:lvl3pPr>
              <a:defRPr sz="2600"/>
            </a:lvl3pPr>
            <a:lvl4pPr>
              <a:defRPr sz="2300"/>
            </a:lvl4pPr>
            <a:lvl5pPr>
              <a:defRPr sz="23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34D380B6-6988-4A9C-825A-4EF995122014}" type="datetimeFigureOut">
              <a:rPr lang="en-US" smtClean="0"/>
              <a:t>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2461A2-8C0F-4B26-9B1E-4D5C0F5B86E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31520" y="844906"/>
            <a:ext cx="13289280" cy="1371600"/>
          </a:xfrm>
        </p:spPr>
        <p:txBody>
          <a:bodyPr vert="horz" tIns="65311"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71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34D380B6-6988-4A9C-825A-4EF995122014}" type="datetimeFigureOut">
              <a:rPr lang="en-US" smtClean="0"/>
              <a:t>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2461A2-8C0F-4B26-9B1E-4D5C0F5B86E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D380B6-6988-4A9C-825A-4EF995122014}" type="datetimeFigureOut">
              <a:rPr lang="en-US" smtClean="0"/>
              <a:t>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2461A2-8C0F-4B26-9B1E-4D5C0F5B86E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617222"/>
            <a:ext cx="4389120" cy="1394460"/>
          </a:xfrm>
        </p:spPr>
        <p:txBody>
          <a:bodyPr lIns="0" anchor="b">
            <a:noAutofit/>
          </a:bodyPr>
          <a:lstStyle>
            <a:lvl1pPr algn="l" rtl="0">
              <a:spcBef>
                <a:spcPct val="0"/>
              </a:spcBef>
              <a:buNone/>
              <a:defRPr sz="37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1097280" y="2011680"/>
            <a:ext cx="4389120" cy="5486400"/>
          </a:xfrm>
        </p:spPr>
        <p:txBody>
          <a:bodyPr lIns="26124" rIns="26124"/>
          <a:lstStyle>
            <a:lvl1pPr marL="0" indent="0" algn="l">
              <a:buNone/>
              <a:defRPr sz="2000"/>
            </a:lvl1pPr>
            <a:lvl2pPr indent="0" algn="l">
              <a:buNone/>
              <a:defRPr sz="1700"/>
            </a:lvl2pPr>
            <a:lvl3pPr indent="0" algn="l">
              <a:buNone/>
              <a:defRPr sz="1400"/>
            </a:lvl3pPr>
            <a:lvl4pPr indent="0" algn="l">
              <a:buNone/>
              <a:defRPr sz="1300"/>
            </a:lvl4pPr>
            <a:lvl5pPr indent="0" algn="l">
              <a:buNone/>
              <a:defRPr sz="13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5720080" y="2011680"/>
            <a:ext cx="8178800" cy="5486400"/>
          </a:xfrm>
        </p:spPr>
        <p:txBody>
          <a:bodyPr tIns="0"/>
          <a:lstStyle>
            <a:lvl1pPr>
              <a:defRPr sz="4000"/>
            </a:lvl1pPr>
            <a:lvl2pPr>
              <a:defRPr sz="3700"/>
            </a:lvl2pPr>
            <a:lvl3pPr>
              <a:defRPr sz="3400"/>
            </a:lvl3pPr>
            <a:lvl4pPr>
              <a:defRPr sz="2900"/>
            </a:lvl4pPr>
            <a:lvl5pPr>
              <a:defRPr sz="2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4D380B6-6988-4A9C-825A-4EF995122014}" type="datetimeFigureOut">
              <a:rPr lang="en-US" smtClean="0"/>
              <a:t>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2461A2-8C0F-4B26-9B1E-4D5C0F5B86E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5065205" y="1329692"/>
            <a:ext cx="8412480" cy="493776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130622" tIns="65311" rIns="130622" bIns="65311" rtlCol="0" anchor="ctr"/>
          <a:lstStyle/>
          <a:p>
            <a:pPr algn="ctr" eaLnBrk="1" latinLnBrk="0" hangingPunct="1"/>
            <a:endParaRPr kumimoji="0" lang="en-US"/>
          </a:p>
        </p:txBody>
      </p:sp>
      <p:sp>
        <p:nvSpPr>
          <p:cNvPr id="12" name="Right Triangle 11"/>
          <p:cNvSpPr/>
          <p:nvPr/>
        </p:nvSpPr>
        <p:spPr>
          <a:xfrm rot="420000" flipV="1">
            <a:off x="12806614" y="6431723"/>
            <a:ext cx="248717" cy="18653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130622" tIns="65311" rIns="130622" bIns="65311" rtlCol="0" anchor="ctr"/>
          <a:lstStyle/>
          <a:p>
            <a:pPr algn="ctr" eaLnBrk="1" latinLnBrk="0" hangingPunct="1"/>
            <a:endParaRPr kumimoji="0" lang="en-US"/>
          </a:p>
        </p:txBody>
      </p:sp>
      <p:sp>
        <p:nvSpPr>
          <p:cNvPr id="2" name="Title 1"/>
          <p:cNvSpPr>
            <a:spLocks noGrp="1"/>
          </p:cNvSpPr>
          <p:nvPr>
            <p:ph type="title"/>
          </p:nvPr>
        </p:nvSpPr>
        <p:spPr>
          <a:xfrm>
            <a:off x="975360" y="1412396"/>
            <a:ext cx="3540557" cy="1899145"/>
          </a:xfrm>
        </p:spPr>
        <p:txBody>
          <a:bodyPr vert="horz" lIns="65311" tIns="65311" rIns="65311" bIns="65311" anchor="b"/>
          <a:lstStyle>
            <a:lvl1pPr algn="l">
              <a:buNone/>
              <a:defRPr sz="29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975360" y="3394542"/>
            <a:ext cx="3535680" cy="2615184"/>
          </a:xfrm>
        </p:spPr>
        <p:txBody>
          <a:bodyPr lIns="91435" rIns="65311" bIns="65311" anchor="t"/>
          <a:lstStyle>
            <a:lvl1pPr marL="0" indent="0" algn="l">
              <a:spcBef>
                <a:spcPts val="357"/>
              </a:spcBef>
              <a:buFontTx/>
              <a:buNone/>
              <a:defRPr sz="1900"/>
            </a:lvl1pPr>
            <a:lvl2pPr>
              <a:defRPr sz="1700"/>
            </a:lvl2pPr>
            <a:lvl3pPr>
              <a:defRPr sz="1400"/>
            </a:lvl3pPr>
            <a:lvl4pPr>
              <a:defRPr sz="1300"/>
            </a:lvl4pPr>
            <a:lvl5pPr>
              <a:defRPr sz="13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4D380B6-6988-4A9C-825A-4EF995122014}" type="datetimeFigureOut">
              <a:rPr lang="en-US" smtClean="0"/>
              <a:t>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2923520" y="7627621"/>
            <a:ext cx="975360" cy="438150"/>
          </a:xfrm>
        </p:spPr>
        <p:txBody>
          <a:bodyPr/>
          <a:lstStyle/>
          <a:p>
            <a:fld id="{A12461A2-8C0F-4B26-9B1E-4D5C0F5B86ED}" type="slidenum">
              <a:rPr lang="en-US" smtClean="0"/>
              <a:t>‹#›</a:t>
            </a:fld>
            <a:endParaRPr lang="en-US"/>
          </a:p>
        </p:txBody>
      </p:sp>
      <p:sp>
        <p:nvSpPr>
          <p:cNvPr id="3" name="Picture Placeholder 2"/>
          <p:cNvSpPr>
            <a:spLocks noGrp="1"/>
          </p:cNvSpPr>
          <p:nvPr>
            <p:ph type="pic" idx="1"/>
          </p:nvPr>
        </p:nvSpPr>
        <p:spPr>
          <a:xfrm rot="420000">
            <a:off x="5577269" y="1439420"/>
            <a:ext cx="7388352" cy="4718304"/>
          </a:xfrm>
          <a:prstGeom prst="rect">
            <a:avLst/>
          </a:prstGeom>
          <a:solidFill>
            <a:schemeClr val="bg2"/>
          </a:solidFill>
          <a:ln w="3000" cap="rnd">
            <a:solidFill>
              <a:srgbClr val="C0C0C0"/>
            </a:solidFill>
            <a:round/>
          </a:ln>
          <a:effectLst/>
        </p:spPr>
        <p:txBody>
          <a:bodyPr/>
          <a:lstStyle>
            <a:lvl1pPr marL="0" indent="0">
              <a:buNone/>
              <a:defRPr sz="4600"/>
            </a:lvl1pPr>
          </a:lstStyle>
          <a:p>
            <a:r>
              <a:rPr kumimoji="0" lang="en-US"/>
              <a:t>Click icon to add picture</a:t>
            </a:r>
            <a:endParaRPr kumimoji="0" lang="en-US" dirty="0"/>
          </a:p>
        </p:txBody>
      </p:sp>
      <p:sp>
        <p:nvSpPr>
          <p:cNvPr id="10" name="Freeform 9"/>
          <p:cNvSpPr>
            <a:spLocks/>
          </p:cNvSpPr>
          <p:nvPr/>
        </p:nvSpPr>
        <p:spPr bwMode="auto">
          <a:xfrm flipV="1">
            <a:off x="-15240" y="6979920"/>
            <a:ext cx="14660880" cy="124968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30622" tIns="65311" rIns="130622" bIns="65311"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7010400" y="7463791"/>
            <a:ext cx="7620000" cy="765810"/>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30622" tIns="65311" rIns="130622" bIns="65311"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4D380B6-6988-4A9C-825A-4EF995122014}" type="datetimeFigureOut">
              <a:rPr lang="en-US" smtClean="0"/>
              <a:t>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461A2-8C0F-4B26-9B1E-4D5C0F5B86E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1097282"/>
            <a:ext cx="3291840" cy="6254116"/>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731520" y="1097282"/>
            <a:ext cx="9631680" cy="625411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4D380B6-6988-4A9C-825A-4EF995122014}" type="datetimeFigureOut">
              <a:rPr lang="en-US" smtClean="0"/>
              <a:t>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461A2-8C0F-4B26-9B1E-4D5C0F5B86ED}"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7680" y="314326"/>
            <a:ext cx="13776960" cy="731520"/>
          </a:xfrm>
        </p:spPr>
        <p:txBody>
          <a:bodyPr/>
          <a:lstStyle/>
          <a:p>
            <a:r>
              <a:rPr lang="en-US"/>
              <a:t>Click to edit Master title style</a:t>
            </a:r>
          </a:p>
        </p:txBody>
      </p:sp>
      <p:sp>
        <p:nvSpPr>
          <p:cNvPr id="3" name="Text Placeholder 2"/>
          <p:cNvSpPr>
            <a:spLocks noGrp="1"/>
          </p:cNvSpPr>
          <p:nvPr>
            <p:ph type="body" sz="half" idx="1"/>
          </p:nvPr>
        </p:nvSpPr>
        <p:spPr>
          <a:xfrm>
            <a:off x="477520" y="1173480"/>
            <a:ext cx="6494781" cy="60674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216142" y="1173480"/>
            <a:ext cx="6494779" cy="60674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86068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77520" y="314326"/>
            <a:ext cx="13787120" cy="6926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326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5240" y="-8573"/>
            <a:ext cx="14660880" cy="124968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30622" tIns="65311" rIns="130622" bIns="65311"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7010400" y="-8572"/>
            <a:ext cx="7620000" cy="765810"/>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30622" tIns="65311" rIns="130622" bIns="65311"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731520" y="844906"/>
            <a:ext cx="13167360" cy="1371600"/>
          </a:xfrm>
          <a:prstGeom prst="rect">
            <a:avLst/>
          </a:prstGeom>
        </p:spPr>
        <p:txBody>
          <a:bodyPr vert="horz" lIns="0" tIns="65311" rIns="0" bIns="0" anchor="b">
            <a:normAutofit/>
          </a:bodyPr>
          <a:lstStyle/>
          <a:p>
            <a:r>
              <a:rPr kumimoji="0" lang="en-US"/>
              <a:t>Click to edit Master title style</a:t>
            </a:r>
          </a:p>
        </p:txBody>
      </p:sp>
      <p:sp>
        <p:nvSpPr>
          <p:cNvPr id="30" name="Text Placeholder 29"/>
          <p:cNvSpPr>
            <a:spLocks noGrp="1"/>
          </p:cNvSpPr>
          <p:nvPr>
            <p:ph type="body" idx="1"/>
          </p:nvPr>
        </p:nvSpPr>
        <p:spPr>
          <a:xfrm>
            <a:off x="731520" y="2322576"/>
            <a:ext cx="13167360" cy="5266944"/>
          </a:xfrm>
          <a:prstGeom prst="rect">
            <a:avLst/>
          </a:prstGeom>
        </p:spPr>
        <p:txBody>
          <a:bodyPr vert="horz" lIns="130622" tIns="65311" rIns="130622" bIns="65311">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731520" y="7627621"/>
            <a:ext cx="3413760" cy="438150"/>
          </a:xfrm>
          <a:prstGeom prst="rect">
            <a:avLst/>
          </a:prstGeom>
        </p:spPr>
        <p:txBody>
          <a:bodyPr vert="horz" lIns="0" tIns="0" rIns="0" bIns="0" anchor="b"/>
          <a:lstStyle>
            <a:lvl1pPr algn="l" eaLnBrk="1" latinLnBrk="0" hangingPunct="1">
              <a:defRPr kumimoji="0" sz="1700">
                <a:solidFill>
                  <a:schemeClr val="tx2">
                    <a:shade val="90000"/>
                  </a:schemeClr>
                </a:solidFill>
              </a:defRPr>
            </a:lvl1pPr>
          </a:lstStyle>
          <a:p>
            <a:fld id="{34D380B6-6988-4A9C-825A-4EF995122014}" type="datetimeFigureOut">
              <a:rPr lang="en-US" smtClean="0"/>
              <a:t>1/4/2022</a:t>
            </a:fld>
            <a:endParaRPr lang="en-US"/>
          </a:p>
        </p:txBody>
      </p:sp>
      <p:sp>
        <p:nvSpPr>
          <p:cNvPr id="22" name="Footer Placeholder 21"/>
          <p:cNvSpPr>
            <a:spLocks noGrp="1"/>
          </p:cNvSpPr>
          <p:nvPr>
            <p:ph type="ftr" sz="quarter" idx="3"/>
          </p:nvPr>
        </p:nvSpPr>
        <p:spPr>
          <a:xfrm>
            <a:off x="4267200" y="7627621"/>
            <a:ext cx="5364480" cy="438150"/>
          </a:xfrm>
          <a:prstGeom prst="rect">
            <a:avLst/>
          </a:prstGeom>
        </p:spPr>
        <p:txBody>
          <a:bodyPr vert="horz" lIns="0" tIns="0" rIns="0" bIns="0" anchor="b"/>
          <a:lstStyle>
            <a:lvl1pPr algn="l" eaLnBrk="1" latinLnBrk="0" hangingPunct="1">
              <a:defRPr kumimoji="0" sz="17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2679680" y="7627621"/>
            <a:ext cx="1219200" cy="438150"/>
          </a:xfrm>
          <a:prstGeom prst="rect">
            <a:avLst/>
          </a:prstGeom>
        </p:spPr>
        <p:txBody>
          <a:bodyPr vert="horz" lIns="0" tIns="0" rIns="0" bIns="0" anchor="b"/>
          <a:lstStyle>
            <a:lvl1pPr algn="r" eaLnBrk="1" latinLnBrk="0" hangingPunct="1">
              <a:defRPr kumimoji="0" sz="1700">
                <a:solidFill>
                  <a:schemeClr val="tx2">
                    <a:shade val="90000"/>
                  </a:schemeClr>
                </a:solidFill>
              </a:defRPr>
            </a:lvl1pPr>
          </a:lstStyle>
          <a:p>
            <a:fld id="{A12461A2-8C0F-4B26-9B1E-4D5C0F5B86ED}" type="slidenum">
              <a:rPr lang="en-US" smtClean="0"/>
              <a:t>‹#›</a:t>
            </a:fld>
            <a:endParaRPr lang="en-US"/>
          </a:p>
        </p:txBody>
      </p:sp>
      <p:grpSp>
        <p:nvGrpSpPr>
          <p:cNvPr id="2" name="Group 1"/>
          <p:cNvGrpSpPr/>
          <p:nvPr/>
        </p:nvGrpSpPr>
        <p:grpSpPr>
          <a:xfrm>
            <a:off x="-30427" y="242890"/>
            <a:ext cx="14688877" cy="779069"/>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Lst>
  <p:txStyles>
    <p:titleStyle>
      <a:lvl1pPr algn="l" rtl="0" eaLnBrk="1" latinLnBrk="0" hangingPunct="1">
        <a:spcBef>
          <a:spcPct val="0"/>
        </a:spcBef>
        <a:buNone/>
        <a:defRPr kumimoji="0" sz="7100" b="0" kern="1200">
          <a:ln>
            <a:noFill/>
          </a:ln>
          <a:solidFill>
            <a:schemeClr val="tx2"/>
          </a:solidFill>
          <a:effectLst/>
          <a:latin typeface="+mj-lt"/>
          <a:ea typeface="+mj-ea"/>
          <a:cs typeface="+mj-cs"/>
        </a:defRPr>
      </a:lvl1pPr>
    </p:titleStyle>
    <p:bodyStyle>
      <a:lvl1pPr marL="391866" indent="-391866" algn="l" rtl="0" eaLnBrk="1" latinLnBrk="0" hangingPunct="1">
        <a:spcBef>
          <a:spcPct val="20000"/>
        </a:spcBef>
        <a:buClr>
          <a:schemeClr val="accent3"/>
        </a:buClr>
        <a:buSzPct val="95000"/>
        <a:buFont typeface="Wingdings 2"/>
        <a:buChar char=""/>
        <a:defRPr kumimoji="0" sz="3700" kern="1200">
          <a:solidFill>
            <a:schemeClr val="tx1"/>
          </a:solidFill>
          <a:latin typeface="+mn-lt"/>
          <a:ea typeface="+mn-ea"/>
          <a:cs typeface="+mn-cs"/>
        </a:defRPr>
      </a:lvl1pPr>
      <a:lvl2pPr marL="914354" indent="-352680" algn="l" rtl="0" eaLnBrk="1" latinLnBrk="0" hangingPunct="1">
        <a:spcBef>
          <a:spcPct val="20000"/>
        </a:spcBef>
        <a:buClr>
          <a:schemeClr val="accent1"/>
        </a:buClr>
        <a:buSzPct val="85000"/>
        <a:buFont typeface="Wingdings 2"/>
        <a:buChar char=""/>
        <a:defRPr kumimoji="0" sz="3400" kern="1200">
          <a:solidFill>
            <a:schemeClr val="tx1"/>
          </a:solidFill>
          <a:latin typeface="+mn-lt"/>
          <a:ea typeface="+mn-ea"/>
          <a:cs typeface="+mn-cs"/>
        </a:defRPr>
      </a:lvl2pPr>
      <a:lvl3pPr marL="1306220" indent="-352680" algn="l" rtl="0" eaLnBrk="1" latinLnBrk="0" hangingPunct="1">
        <a:spcBef>
          <a:spcPct val="20000"/>
        </a:spcBef>
        <a:buClr>
          <a:schemeClr val="accent2"/>
        </a:buClr>
        <a:buSzPct val="70000"/>
        <a:buFont typeface="Wingdings 2"/>
        <a:buChar char=""/>
        <a:defRPr kumimoji="0" sz="3000" kern="1200">
          <a:solidFill>
            <a:schemeClr val="tx1"/>
          </a:solidFill>
          <a:latin typeface="+mn-lt"/>
          <a:ea typeface="+mn-ea"/>
          <a:cs typeface="+mn-cs"/>
        </a:defRPr>
      </a:lvl3pPr>
      <a:lvl4pPr marL="1698087" indent="-300431" algn="l" rtl="0" eaLnBrk="1" latinLnBrk="0" hangingPunct="1">
        <a:spcBef>
          <a:spcPct val="20000"/>
        </a:spcBef>
        <a:buClr>
          <a:schemeClr val="accent3"/>
        </a:buClr>
        <a:buSzPct val="65000"/>
        <a:buFont typeface="Wingdings 2"/>
        <a:buChar char=""/>
        <a:defRPr kumimoji="0" sz="2900" kern="1200">
          <a:solidFill>
            <a:schemeClr val="tx1"/>
          </a:solidFill>
          <a:latin typeface="+mn-lt"/>
          <a:ea typeface="+mn-ea"/>
          <a:cs typeface="+mn-cs"/>
        </a:defRPr>
      </a:lvl4pPr>
      <a:lvl5pPr marL="2089953" indent="-300431" algn="l" rtl="0" eaLnBrk="1" latinLnBrk="0" hangingPunct="1">
        <a:spcBef>
          <a:spcPct val="20000"/>
        </a:spcBef>
        <a:buClr>
          <a:schemeClr val="accent4"/>
        </a:buClr>
        <a:buSzPct val="65000"/>
        <a:buFont typeface="Wingdings 2"/>
        <a:buChar char=""/>
        <a:defRPr kumimoji="0" sz="2900" kern="1200">
          <a:solidFill>
            <a:schemeClr val="tx1"/>
          </a:solidFill>
          <a:latin typeface="+mn-lt"/>
          <a:ea typeface="+mn-ea"/>
          <a:cs typeface="+mn-cs"/>
        </a:defRPr>
      </a:lvl5pPr>
      <a:lvl6pPr marL="2481819" indent="-300431" algn="l" rtl="0" eaLnBrk="1" latinLnBrk="0" hangingPunct="1">
        <a:spcBef>
          <a:spcPct val="20000"/>
        </a:spcBef>
        <a:buClr>
          <a:schemeClr val="accent5"/>
        </a:buClr>
        <a:buSzPct val="80000"/>
        <a:buFont typeface="Wingdings 2"/>
        <a:buChar char=""/>
        <a:defRPr kumimoji="0" sz="2600" kern="1200">
          <a:solidFill>
            <a:schemeClr val="tx1"/>
          </a:solidFill>
          <a:latin typeface="+mn-lt"/>
          <a:ea typeface="+mn-ea"/>
          <a:cs typeface="+mn-cs"/>
        </a:defRPr>
      </a:lvl6pPr>
      <a:lvl7pPr marL="2743063" indent="-261244" algn="l" rtl="0" eaLnBrk="1" latinLnBrk="0" hangingPunct="1">
        <a:spcBef>
          <a:spcPct val="20000"/>
        </a:spcBef>
        <a:buClr>
          <a:schemeClr val="accent6"/>
        </a:buClr>
        <a:buSzPct val="80000"/>
        <a:buFont typeface="Wingdings 2"/>
        <a:buChar char=""/>
        <a:defRPr kumimoji="0" sz="2300" kern="1200" baseline="0">
          <a:solidFill>
            <a:schemeClr val="tx1"/>
          </a:solidFill>
          <a:latin typeface="+mn-lt"/>
          <a:ea typeface="+mn-ea"/>
          <a:cs typeface="+mn-cs"/>
        </a:defRPr>
      </a:lvl7pPr>
      <a:lvl8pPr marL="3134929" indent="-261244" algn="l" rtl="0" eaLnBrk="1" latinLnBrk="0" hangingPunct="1">
        <a:spcBef>
          <a:spcPct val="20000"/>
        </a:spcBef>
        <a:buClr>
          <a:schemeClr val="tx2"/>
        </a:buClr>
        <a:buChar char="•"/>
        <a:defRPr kumimoji="0" sz="2300" kern="1200">
          <a:solidFill>
            <a:schemeClr val="tx1"/>
          </a:solidFill>
          <a:latin typeface="+mn-lt"/>
          <a:ea typeface="+mn-ea"/>
          <a:cs typeface="+mn-cs"/>
        </a:defRPr>
      </a:lvl8pPr>
      <a:lvl9pPr marL="3526795" indent="-261244" algn="l" rtl="0" eaLnBrk="1" latinLnBrk="0" hangingPunct="1">
        <a:spcBef>
          <a:spcPct val="20000"/>
        </a:spcBef>
        <a:buClr>
          <a:schemeClr val="tx2"/>
        </a:buClr>
        <a:buFontTx/>
        <a:buChar char="•"/>
        <a:defRPr kumimoji="0" sz="20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53110" algn="l" rtl="0" eaLnBrk="1" latinLnBrk="0" hangingPunct="1">
        <a:defRPr kumimoji="0" kern="1200">
          <a:solidFill>
            <a:schemeClr val="tx1"/>
          </a:solidFill>
          <a:latin typeface="+mn-lt"/>
          <a:ea typeface="+mn-ea"/>
          <a:cs typeface="+mn-cs"/>
        </a:defRPr>
      </a:lvl2pPr>
      <a:lvl3pPr marL="1306220" algn="l" rtl="0" eaLnBrk="1" latinLnBrk="0" hangingPunct="1">
        <a:defRPr kumimoji="0" kern="1200">
          <a:solidFill>
            <a:schemeClr val="tx1"/>
          </a:solidFill>
          <a:latin typeface="+mn-lt"/>
          <a:ea typeface="+mn-ea"/>
          <a:cs typeface="+mn-cs"/>
        </a:defRPr>
      </a:lvl3pPr>
      <a:lvl4pPr marL="1959331" algn="l" rtl="0" eaLnBrk="1" latinLnBrk="0" hangingPunct="1">
        <a:defRPr kumimoji="0" kern="1200">
          <a:solidFill>
            <a:schemeClr val="tx1"/>
          </a:solidFill>
          <a:latin typeface="+mn-lt"/>
          <a:ea typeface="+mn-ea"/>
          <a:cs typeface="+mn-cs"/>
        </a:defRPr>
      </a:lvl4pPr>
      <a:lvl5pPr marL="2612441" algn="l" rtl="0" eaLnBrk="1" latinLnBrk="0" hangingPunct="1">
        <a:defRPr kumimoji="0" kern="1200">
          <a:solidFill>
            <a:schemeClr val="tx1"/>
          </a:solidFill>
          <a:latin typeface="+mn-lt"/>
          <a:ea typeface="+mn-ea"/>
          <a:cs typeface="+mn-cs"/>
        </a:defRPr>
      </a:lvl5pPr>
      <a:lvl6pPr marL="3265551" algn="l" rtl="0" eaLnBrk="1" latinLnBrk="0" hangingPunct="1">
        <a:defRPr kumimoji="0" kern="1200">
          <a:solidFill>
            <a:schemeClr val="tx1"/>
          </a:solidFill>
          <a:latin typeface="+mn-lt"/>
          <a:ea typeface="+mn-ea"/>
          <a:cs typeface="+mn-cs"/>
        </a:defRPr>
      </a:lvl6pPr>
      <a:lvl7pPr marL="3918661" algn="l" rtl="0" eaLnBrk="1" latinLnBrk="0" hangingPunct="1">
        <a:defRPr kumimoji="0" kern="1200">
          <a:solidFill>
            <a:schemeClr val="tx1"/>
          </a:solidFill>
          <a:latin typeface="+mn-lt"/>
          <a:ea typeface="+mn-ea"/>
          <a:cs typeface="+mn-cs"/>
        </a:defRPr>
      </a:lvl7pPr>
      <a:lvl8pPr marL="4571771" algn="l" rtl="0" eaLnBrk="1" latinLnBrk="0" hangingPunct="1">
        <a:defRPr kumimoji="0" kern="1200">
          <a:solidFill>
            <a:schemeClr val="tx1"/>
          </a:solidFill>
          <a:latin typeface="+mn-lt"/>
          <a:ea typeface="+mn-ea"/>
          <a:cs typeface="+mn-cs"/>
        </a:defRPr>
      </a:lvl8pPr>
      <a:lvl9pPr marL="5224882"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13.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ctrTitle"/>
          </p:nvPr>
        </p:nvSpPr>
        <p:spPr>
          <a:xfrm>
            <a:off x="2651760" y="2011680"/>
            <a:ext cx="9326880" cy="1371600"/>
          </a:xfrm>
        </p:spPr>
        <p:txBody>
          <a:bodyPr vert="horz" lIns="109728" tIns="54864" rIns="109728" bIns="54864" anchor="b">
            <a:normAutofit/>
            <a:scene3d>
              <a:camera prst="orthographicFront"/>
              <a:lightRig rig="freezing" dir="t">
                <a:rot lat="0" lon="0" rev="5640000"/>
              </a:lightRig>
            </a:scene3d>
            <a:sp3d prstMaterial="flat">
              <a:bevelT w="38100" h="38100"/>
              <a:contourClr>
                <a:schemeClr val="tx2"/>
              </a:contourClr>
            </a:sp3d>
          </a:bodyPr>
          <a:lstStyle/>
          <a:p>
            <a:pPr eaLnBrk="1" hangingPunct="1">
              <a:defRPr/>
            </a:pPr>
            <a:r>
              <a:rPr lang="en-US" dirty="0" err="1"/>
              <a:t>Chapitre</a:t>
            </a:r>
            <a:r>
              <a:rPr lang="en-US" dirty="0"/>
              <a:t> 17</a:t>
            </a:r>
            <a:endParaRPr lang="en-GB" dirty="0"/>
          </a:p>
        </p:txBody>
      </p:sp>
      <p:sp>
        <p:nvSpPr>
          <p:cNvPr id="4" name="Rectangle 5"/>
          <p:cNvSpPr txBox="1">
            <a:spLocks noChangeArrowheads="1"/>
          </p:cNvSpPr>
          <p:nvPr/>
        </p:nvSpPr>
        <p:spPr>
          <a:xfrm>
            <a:off x="2286000" y="3048000"/>
            <a:ext cx="9692640" cy="2085976"/>
          </a:xfrm>
          <a:prstGeom prst="rect">
            <a:avLst/>
          </a:prstGeom>
        </p:spPr>
        <p:txBody>
          <a:bodyPr vert="horz" lIns="109728" tIns="54864" rIns="109728" bIns="54864">
            <a:normAutofit fontScale="55000" lnSpcReduction="20000"/>
          </a:bodyPr>
          <a:lstStyle>
            <a:lvl1pPr marL="0" marR="65311" indent="0" algn="r" rtl="0" eaLnBrk="1" latinLnBrk="0" hangingPunct="1">
              <a:spcBef>
                <a:spcPct val="20000"/>
              </a:spcBef>
              <a:buClr>
                <a:schemeClr val="accent3"/>
              </a:buClr>
              <a:buSzPct val="95000"/>
              <a:buFont typeface="Wingdings 2"/>
              <a:buNone/>
              <a:defRPr kumimoji="0" sz="3700" kern="1200">
                <a:solidFill>
                  <a:schemeClr val="tx1"/>
                </a:solidFill>
                <a:latin typeface="+mn-lt"/>
                <a:ea typeface="+mn-ea"/>
                <a:cs typeface="+mn-cs"/>
              </a:defRPr>
            </a:lvl1pPr>
            <a:lvl2pPr marL="653110" indent="0" algn="ctr" rtl="0" eaLnBrk="1" latinLnBrk="0" hangingPunct="1">
              <a:spcBef>
                <a:spcPct val="20000"/>
              </a:spcBef>
              <a:buClr>
                <a:schemeClr val="accent1"/>
              </a:buClr>
              <a:buSzPct val="85000"/>
              <a:buFont typeface="Wingdings 2"/>
              <a:buNone/>
              <a:defRPr kumimoji="0" sz="3400" kern="1200">
                <a:solidFill>
                  <a:schemeClr val="tx1"/>
                </a:solidFill>
                <a:latin typeface="+mn-lt"/>
                <a:ea typeface="+mn-ea"/>
                <a:cs typeface="+mn-cs"/>
              </a:defRPr>
            </a:lvl2pPr>
            <a:lvl3pPr marL="1306220" indent="0" algn="ctr" rtl="0" eaLnBrk="1" latinLnBrk="0" hangingPunct="1">
              <a:spcBef>
                <a:spcPct val="20000"/>
              </a:spcBef>
              <a:buClr>
                <a:schemeClr val="accent2"/>
              </a:buClr>
              <a:buSzPct val="70000"/>
              <a:buFont typeface="Wingdings 2"/>
              <a:buNone/>
              <a:defRPr kumimoji="0" sz="3000" kern="1200">
                <a:solidFill>
                  <a:schemeClr val="tx1"/>
                </a:solidFill>
                <a:latin typeface="+mn-lt"/>
                <a:ea typeface="+mn-ea"/>
                <a:cs typeface="+mn-cs"/>
              </a:defRPr>
            </a:lvl3pPr>
            <a:lvl4pPr marL="1959331" indent="0" algn="ctr" rtl="0" eaLnBrk="1" latinLnBrk="0" hangingPunct="1">
              <a:spcBef>
                <a:spcPct val="20000"/>
              </a:spcBef>
              <a:buClr>
                <a:schemeClr val="accent3"/>
              </a:buClr>
              <a:buSzPct val="65000"/>
              <a:buFont typeface="Wingdings 2"/>
              <a:buNone/>
              <a:defRPr kumimoji="0" sz="2900" kern="1200">
                <a:solidFill>
                  <a:schemeClr val="tx1"/>
                </a:solidFill>
                <a:latin typeface="+mn-lt"/>
                <a:ea typeface="+mn-ea"/>
                <a:cs typeface="+mn-cs"/>
              </a:defRPr>
            </a:lvl4pPr>
            <a:lvl5pPr marL="2612441" indent="0" algn="ctr" rtl="0" eaLnBrk="1" latinLnBrk="0" hangingPunct="1">
              <a:spcBef>
                <a:spcPct val="20000"/>
              </a:spcBef>
              <a:buClr>
                <a:schemeClr val="accent4"/>
              </a:buClr>
              <a:buSzPct val="65000"/>
              <a:buFont typeface="Wingdings 2"/>
              <a:buNone/>
              <a:defRPr kumimoji="0" sz="2900" kern="1200">
                <a:solidFill>
                  <a:schemeClr val="tx1"/>
                </a:solidFill>
                <a:latin typeface="+mn-lt"/>
                <a:ea typeface="+mn-ea"/>
                <a:cs typeface="+mn-cs"/>
              </a:defRPr>
            </a:lvl5pPr>
            <a:lvl6pPr marL="3265551" indent="0" algn="ctr" rtl="0" eaLnBrk="1" latinLnBrk="0" hangingPunct="1">
              <a:spcBef>
                <a:spcPct val="20000"/>
              </a:spcBef>
              <a:buClr>
                <a:schemeClr val="accent5"/>
              </a:buClr>
              <a:buSzPct val="80000"/>
              <a:buFont typeface="Wingdings 2"/>
              <a:buNone/>
              <a:defRPr kumimoji="0" sz="2600" kern="1200">
                <a:solidFill>
                  <a:schemeClr val="tx1"/>
                </a:solidFill>
                <a:latin typeface="+mn-lt"/>
                <a:ea typeface="+mn-ea"/>
                <a:cs typeface="+mn-cs"/>
              </a:defRPr>
            </a:lvl6pPr>
            <a:lvl7pPr marL="3918661" indent="0" algn="ctr" rtl="0" eaLnBrk="1" latinLnBrk="0" hangingPunct="1">
              <a:spcBef>
                <a:spcPct val="20000"/>
              </a:spcBef>
              <a:buClr>
                <a:schemeClr val="accent6"/>
              </a:buClr>
              <a:buSzPct val="80000"/>
              <a:buFont typeface="Wingdings 2"/>
              <a:buNone/>
              <a:defRPr kumimoji="0" sz="2300" kern="1200" baseline="0">
                <a:solidFill>
                  <a:schemeClr val="tx1"/>
                </a:solidFill>
                <a:latin typeface="+mn-lt"/>
                <a:ea typeface="+mn-ea"/>
                <a:cs typeface="+mn-cs"/>
              </a:defRPr>
            </a:lvl7pPr>
            <a:lvl8pPr marL="4571771" indent="0" algn="ctr" rtl="0" eaLnBrk="1" latinLnBrk="0" hangingPunct="1">
              <a:spcBef>
                <a:spcPct val="20000"/>
              </a:spcBef>
              <a:buClr>
                <a:schemeClr val="tx2"/>
              </a:buClr>
              <a:buNone/>
              <a:defRPr kumimoji="0" sz="2300" kern="1200">
                <a:solidFill>
                  <a:schemeClr val="tx1"/>
                </a:solidFill>
                <a:latin typeface="+mn-lt"/>
                <a:ea typeface="+mn-ea"/>
                <a:cs typeface="+mn-cs"/>
              </a:defRPr>
            </a:lvl8pPr>
            <a:lvl9pPr marL="5224882" indent="0" algn="ctr" rtl="0" eaLnBrk="1" latinLnBrk="0" hangingPunct="1">
              <a:spcBef>
                <a:spcPct val="20000"/>
              </a:spcBef>
              <a:buClr>
                <a:schemeClr val="tx2"/>
              </a:buClr>
              <a:buFontTx/>
              <a:buNone/>
              <a:defRPr kumimoji="0" sz="2000" kern="1200" baseline="0">
                <a:solidFill>
                  <a:schemeClr val="tx1"/>
                </a:solidFill>
                <a:latin typeface="+mn-lt"/>
                <a:ea typeface="+mn-ea"/>
                <a:cs typeface="+mn-cs"/>
              </a:defRPr>
            </a:lvl9pPr>
          </a:lstStyle>
          <a:p>
            <a:pPr defTabSz="914400"/>
            <a:endParaRPr lang="en-US" dirty="0"/>
          </a:p>
          <a:p>
            <a:pPr defTabSz="914400"/>
            <a:endParaRPr lang="en-US" dirty="0"/>
          </a:p>
          <a:p>
            <a:pPr defTabSz="914400"/>
            <a:r>
              <a:rPr lang="en-US" sz="7700" dirty="0"/>
              <a:t>Le sang</a:t>
            </a:r>
          </a:p>
          <a:p>
            <a:pPr defTabSz="914400"/>
            <a:r>
              <a:rPr lang="en-US" dirty="0" err="1"/>
              <a:t>Anatomie</a:t>
            </a:r>
            <a:r>
              <a:rPr lang="en-US" dirty="0"/>
              <a:t> et </a:t>
            </a:r>
            <a:r>
              <a:rPr lang="en-US" dirty="0" err="1"/>
              <a:t>physiologie</a:t>
            </a:r>
            <a:r>
              <a:rPr lang="en-US" dirty="0"/>
              <a:t> </a:t>
            </a:r>
            <a:r>
              <a:rPr lang="en-US" dirty="0" err="1"/>
              <a:t>humaines</a:t>
            </a:r>
            <a:r>
              <a:rPr lang="en-US" dirty="0"/>
              <a:t> (5ème </a:t>
            </a:r>
            <a:r>
              <a:rPr lang="en-US" dirty="0" err="1"/>
              <a:t>Édition</a:t>
            </a:r>
            <a:r>
              <a:rPr lang="en-US" dirty="0"/>
              <a:t>)</a:t>
            </a:r>
          </a:p>
          <a:p>
            <a:pPr defTabSz="914400"/>
            <a:r>
              <a:rPr lang="en-US" dirty="0" err="1"/>
              <a:t>Marieb</a:t>
            </a:r>
            <a:r>
              <a:rPr lang="en-US" dirty="0"/>
              <a:t> &amp;  Hoehn</a:t>
            </a:r>
            <a:endParaRPr lang="en-GB" dirty="0"/>
          </a:p>
        </p:txBody>
      </p:sp>
      <p:sp>
        <p:nvSpPr>
          <p:cNvPr id="6" name="Text Box 6"/>
          <p:cNvSpPr txBox="1">
            <a:spLocks noChangeArrowheads="1"/>
          </p:cNvSpPr>
          <p:nvPr/>
        </p:nvSpPr>
        <p:spPr bwMode="auto">
          <a:xfrm>
            <a:off x="970281" y="5943600"/>
            <a:ext cx="3309694" cy="204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622" tIns="65311" rIns="130622" bIns="65311">
            <a:spAutoFit/>
          </a:bodyPr>
          <a:lstStyle>
            <a:lvl1pPr>
              <a:spcBef>
                <a:spcPct val="45000"/>
              </a:spcBef>
              <a:spcAft>
                <a:spcPct val="20000"/>
              </a:spcAft>
              <a:buClr>
                <a:schemeClr val="accent2"/>
              </a:buClr>
              <a:buFont typeface="Wingdings" pitchFamily="2" charset="2"/>
              <a:buChar char="§"/>
              <a:defRPr sz="3000">
                <a:solidFill>
                  <a:schemeClr val="tx1"/>
                </a:solidFill>
                <a:latin typeface="Times New Roman" pitchFamily="18" charset="0"/>
              </a:defRPr>
            </a:lvl1pPr>
            <a:lvl2pPr marL="742950" indent="-285750">
              <a:spcBef>
                <a:spcPct val="45000"/>
              </a:spcBef>
              <a:spcAft>
                <a:spcPct val="20000"/>
              </a:spcAft>
              <a:buClr>
                <a:schemeClr val="accent2"/>
              </a:buClr>
              <a:buFont typeface="Wingdings" pitchFamily="2" charset="2"/>
              <a:buChar char="§"/>
              <a:defRPr sz="2900">
                <a:solidFill>
                  <a:schemeClr val="tx1"/>
                </a:solidFill>
                <a:latin typeface="Times New Roman" pitchFamily="18" charset="0"/>
              </a:defRPr>
            </a:lvl2pPr>
            <a:lvl3pPr marL="1143000" indent="-228600">
              <a:spcBef>
                <a:spcPct val="45000"/>
              </a:spcBef>
              <a:spcAft>
                <a:spcPct val="20000"/>
              </a:spcAft>
              <a:buClr>
                <a:schemeClr val="accent2"/>
              </a:buClr>
              <a:buFont typeface="Wingdings" pitchFamily="2" charset="2"/>
              <a:buChar char="§"/>
              <a:defRPr sz="2900">
                <a:solidFill>
                  <a:schemeClr val="tx1"/>
                </a:solidFill>
                <a:latin typeface="Times New Roman" pitchFamily="18" charset="0"/>
              </a:defRPr>
            </a:lvl3pPr>
            <a:lvl4pPr marL="1600200" indent="-228600">
              <a:spcBef>
                <a:spcPct val="45000"/>
              </a:spcBef>
              <a:spcAft>
                <a:spcPct val="20000"/>
              </a:spcAft>
              <a:buClr>
                <a:schemeClr val="accent2"/>
              </a:buClr>
              <a:buFont typeface="Wingdings" pitchFamily="2" charset="2"/>
              <a:buChar char="§"/>
              <a:defRPr sz="2900">
                <a:solidFill>
                  <a:schemeClr val="tx1"/>
                </a:solidFill>
                <a:latin typeface="Times New Roman" pitchFamily="18" charset="0"/>
              </a:defRPr>
            </a:lvl4pPr>
            <a:lvl5pPr marL="2057400" indent="-228600">
              <a:spcBef>
                <a:spcPct val="45000"/>
              </a:spcBef>
              <a:spcAft>
                <a:spcPct val="20000"/>
              </a:spcAft>
              <a:buClr>
                <a:schemeClr val="accent2"/>
              </a:buClr>
              <a:buFont typeface="Wingdings" pitchFamily="2" charset="2"/>
              <a:buChar char="§"/>
              <a:defRPr sz="2900">
                <a:solidFill>
                  <a:schemeClr val="tx1"/>
                </a:solidFill>
                <a:latin typeface="Times New Roman" pitchFamily="18" charset="0"/>
              </a:defRPr>
            </a:lvl5pPr>
            <a:lvl6pPr marL="2514600" indent="-228600" eaLnBrk="0" fontAlgn="base" hangingPunct="0">
              <a:spcBef>
                <a:spcPct val="45000"/>
              </a:spcBef>
              <a:spcAft>
                <a:spcPct val="20000"/>
              </a:spcAft>
              <a:buClr>
                <a:schemeClr val="accent2"/>
              </a:buClr>
              <a:buFont typeface="Wingdings" pitchFamily="2" charset="2"/>
              <a:buChar char="§"/>
              <a:defRPr sz="2900">
                <a:solidFill>
                  <a:schemeClr val="tx1"/>
                </a:solidFill>
                <a:latin typeface="Times New Roman" pitchFamily="18" charset="0"/>
              </a:defRPr>
            </a:lvl6pPr>
            <a:lvl7pPr marL="2971800" indent="-228600" eaLnBrk="0" fontAlgn="base" hangingPunct="0">
              <a:spcBef>
                <a:spcPct val="45000"/>
              </a:spcBef>
              <a:spcAft>
                <a:spcPct val="20000"/>
              </a:spcAft>
              <a:buClr>
                <a:schemeClr val="accent2"/>
              </a:buClr>
              <a:buFont typeface="Wingdings" pitchFamily="2" charset="2"/>
              <a:buChar char="§"/>
              <a:defRPr sz="2900">
                <a:solidFill>
                  <a:schemeClr val="tx1"/>
                </a:solidFill>
                <a:latin typeface="Times New Roman" pitchFamily="18" charset="0"/>
              </a:defRPr>
            </a:lvl7pPr>
            <a:lvl8pPr marL="3429000" indent="-228600" eaLnBrk="0" fontAlgn="base" hangingPunct="0">
              <a:spcBef>
                <a:spcPct val="45000"/>
              </a:spcBef>
              <a:spcAft>
                <a:spcPct val="20000"/>
              </a:spcAft>
              <a:buClr>
                <a:schemeClr val="accent2"/>
              </a:buClr>
              <a:buFont typeface="Wingdings" pitchFamily="2" charset="2"/>
              <a:buChar char="§"/>
              <a:defRPr sz="2900">
                <a:solidFill>
                  <a:schemeClr val="tx1"/>
                </a:solidFill>
                <a:latin typeface="Times New Roman" pitchFamily="18" charset="0"/>
              </a:defRPr>
            </a:lvl8pPr>
            <a:lvl9pPr marL="3886200" indent="-228600" eaLnBrk="0" fontAlgn="base" hangingPunct="0">
              <a:spcBef>
                <a:spcPct val="45000"/>
              </a:spcBef>
              <a:spcAft>
                <a:spcPct val="20000"/>
              </a:spcAft>
              <a:buClr>
                <a:schemeClr val="accent2"/>
              </a:buClr>
              <a:buFont typeface="Wingdings" pitchFamily="2" charset="2"/>
              <a:buChar char="§"/>
              <a:defRPr sz="2900">
                <a:solidFill>
                  <a:schemeClr val="tx1"/>
                </a:solidFill>
                <a:latin typeface="Times New Roman" pitchFamily="18" charset="0"/>
              </a:defRPr>
            </a:lvl9pPr>
          </a:lstStyle>
          <a:p>
            <a:pPr>
              <a:spcBef>
                <a:spcPct val="0"/>
              </a:spcBef>
              <a:spcAft>
                <a:spcPct val="0"/>
              </a:spcAft>
              <a:buClrTx/>
              <a:buFontTx/>
              <a:buNone/>
            </a:pPr>
            <a:r>
              <a:rPr lang="fr-CA" altLang="en-US" sz="4000" i="1" dirty="0"/>
              <a:t>ANP1505B</a:t>
            </a:r>
          </a:p>
          <a:p>
            <a:pPr>
              <a:spcBef>
                <a:spcPct val="0"/>
              </a:spcBef>
              <a:spcAft>
                <a:spcPct val="0"/>
              </a:spcAft>
              <a:buClrTx/>
              <a:buFontTx/>
              <a:buNone/>
            </a:pPr>
            <a:r>
              <a:rPr lang="fr-CA" altLang="en-US" sz="4000" i="1" dirty="0"/>
              <a:t>Lectures 1 &amp; 2</a:t>
            </a:r>
          </a:p>
          <a:p>
            <a:pPr>
              <a:spcBef>
                <a:spcPct val="0"/>
              </a:spcBef>
              <a:spcAft>
                <a:spcPct val="0"/>
              </a:spcAft>
              <a:buClrTx/>
              <a:buFontTx/>
              <a:buNone/>
            </a:pPr>
            <a:r>
              <a:rPr lang="fr-CA" altLang="en-US" sz="4400" b="1" i="1" dirty="0"/>
              <a:t>Le sang</a:t>
            </a:r>
            <a:endParaRPr lang="en-US" altLang="en-US" sz="4400" b="1" dirty="0"/>
          </a:p>
        </p:txBody>
      </p:sp>
    </p:spTree>
    <p:extLst>
      <p:ext uri="{BB962C8B-B14F-4D97-AF65-F5344CB8AC3E}">
        <p14:creationId xmlns:p14="http://schemas.microsoft.com/office/powerpoint/2010/main" val="351463878"/>
      </p:ext>
    </p:extLst>
  </p:cSld>
  <p:clrMapOvr>
    <a:masterClrMapping/>
  </p:clrMapOvr>
  <mc:AlternateContent xmlns:mc="http://schemas.openxmlformats.org/markup-compatibility/2006" xmlns:p14="http://schemas.microsoft.com/office/powerpoint/2010/main">
    <mc:Choice Requires="p14">
      <p:transition spd="slow" p14:dur="2000" advTm="22520"/>
    </mc:Choice>
    <mc:Fallback xmlns="">
      <p:transition spd="slow" advTm="2252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152400"/>
            <a:ext cx="13167360" cy="1371600"/>
          </a:xfrm>
        </p:spPr>
        <p:txBody>
          <a:bodyPr>
            <a:normAutofit/>
          </a:bodyPr>
          <a:lstStyle/>
          <a:p>
            <a:r>
              <a:rPr lang="fr-CA" sz="4400" b="1" dirty="0"/>
              <a:t>Objectifs</a:t>
            </a:r>
            <a:endParaRPr lang="en-CA" sz="4400" b="1" dirty="0"/>
          </a:p>
        </p:txBody>
      </p:sp>
      <p:sp>
        <p:nvSpPr>
          <p:cNvPr id="3" name="Content Placeholder 2"/>
          <p:cNvSpPr>
            <a:spLocks noGrp="1"/>
          </p:cNvSpPr>
          <p:nvPr>
            <p:ph idx="1"/>
          </p:nvPr>
        </p:nvSpPr>
        <p:spPr/>
        <p:txBody>
          <a:bodyPr>
            <a:normAutofit fontScale="85000" lnSpcReduction="20000"/>
          </a:bodyPr>
          <a:lstStyle/>
          <a:p>
            <a:pPr marL="0" indent="0" eaLnBrk="0" hangingPunct="0">
              <a:lnSpc>
                <a:spcPct val="110000"/>
              </a:lnSpc>
              <a:spcBef>
                <a:spcPct val="50000"/>
              </a:spcBef>
              <a:buNone/>
              <a:defRPr/>
            </a:pPr>
            <a:r>
              <a:rPr lang="fr-FR" dirty="0">
                <a:latin typeface="Arial Narrow" panose="020B0606020202030204" pitchFamily="34" charset="0"/>
              </a:rPr>
              <a:t>Décrire la composition du sang  (p. 732)</a:t>
            </a:r>
          </a:p>
          <a:p>
            <a:pPr marL="0" indent="0" eaLnBrk="0" hangingPunct="0">
              <a:lnSpc>
                <a:spcPct val="110000"/>
              </a:lnSpc>
              <a:spcBef>
                <a:spcPct val="50000"/>
              </a:spcBef>
              <a:buNone/>
              <a:defRPr/>
            </a:pPr>
            <a:r>
              <a:rPr lang="fr-FR" dirty="0">
                <a:latin typeface="Arial Narrow" panose="020B0606020202030204" pitchFamily="34" charset="0"/>
              </a:rPr>
              <a:t>Erythrocytes: décrire leur structure, leur fonction et leur cycle de vie (pp. 734)</a:t>
            </a:r>
          </a:p>
          <a:p>
            <a:pPr marL="0" indent="0" eaLnBrk="0" hangingPunct="0">
              <a:lnSpc>
                <a:spcPct val="110000"/>
              </a:lnSpc>
              <a:spcBef>
                <a:spcPct val="50000"/>
              </a:spcBef>
              <a:buNone/>
              <a:defRPr/>
            </a:pPr>
            <a:br>
              <a:rPr lang="fr-FR" dirty="0">
                <a:latin typeface="Arial Narrow" panose="020B0606020202030204" pitchFamily="34" charset="0"/>
              </a:rPr>
            </a:br>
            <a:r>
              <a:rPr lang="fr-FR" dirty="0">
                <a:latin typeface="Arial Narrow" panose="020B0606020202030204" pitchFamily="34" charset="0"/>
              </a:rPr>
              <a:t>Hémostase: énumérer les principales étapes et justifier le rôle des plaquettes dans ce processus (pp. 749)</a:t>
            </a:r>
          </a:p>
          <a:p>
            <a:pPr marL="0" indent="0" eaLnBrk="0" hangingPunct="0">
              <a:lnSpc>
                <a:spcPct val="110000"/>
              </a:lnSpc>
              <a:spcBef>
                <a:spcPct val="50000"/>
              </a:spcBef>
              <a:buNone/>
              <a:defRPr/>
            </a:pPr>
            <a:br>
              <a:rPr lang="fr-FR" dirty="0">
                <a:latin typeface="Arial Narrow" panose="020B0606020202030204" pitchFamily="34" charset="0"/>
              </a:rPr>
            </a:br>
            <a:r>
              <a:rPr lang="fr-FR" dirty="0">
                <a:latin typeface="Arial Narrow" panose="020B0606020202030204" pitchFamily="34" charset="0"/>
              </a:rPr>
              <a:t>Décrire brièvement les processus de rétraction du caillot et de fibrinolyse (pp.752)</a:t>
            </a:r>
          </a:p>
          <a:p>
            <a:pPr marL="0" indent="0" eaLnBrk="0" hangingPunct="0">
              <a:lnSpc>
                <a:spcPct val="110000"/>
              </a:lnSpc>
              <a:spcBef>
                <a:spcPct val="50000"/>
              </a:spcBef>
              <a:buNone/>
              <a:defRPr/>
            </a:pPr>
            <a:r>
              <a:rPr lang="fr-FR" dirty="0">
                <a:latin typeface="Arial Narrow" panose="020B0606020202030204" pitchFamily="34" charset="0"/>
              </a:rPr>
              <a:t>Différencier les différents groupes sanguins et expliquer la base des réactions transfusionnelles (p. 755)</a:t>
            </a:r>
            <a:endParaRPr lang="en-CA" dirty="0">
              <a:latin typeface="Arial Narrow" panose="020B0606020202030204" pitchFamily="34" charset="0"/>
            </a:endParaRPr>
          </a:p>
        </p:txBody>
      </p:sp>
    </p:spTree>
    <p:extLst>
      <p:ext uri="{BB962C8B-B14F-4D97-AF65-F5344CB8AC3E}">
        <p14:creationId xmlns:p14="http://schemas.microsoft.com/office/powerpoint/2010/main" val="3568701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5"/>
          <p:cNvSpPr>
            <a:spLocks noGrp="1" noChangeArrowheads="1"/>
          </p:cNvSpPr>
          <p:nvPr>
            <p:ph type="body" sz="half" idx="1"/>
          </p:nvPr>
        </p:nvSpPr>
        <p:spPr>
          <a:xfrm>
            <a:off x="2143126" y="1893570"/>
            <a:ext cx="10658474" cy="558166"/>
          </a:xfrm>
        </p:spPr>
        <p:txBody>
          <a:bodyPr>
            <a:normAutofit lnSpcReduction="10000"/>
          </a:bodyPr>
          <a:lstStyle/>
          <a:p>
            <a:pPr marL="531496" indent="-531496">
              <a:spcAft>
                <a:spcPct val="0"/>
              </a:spcAft>
              <a:buNone/>
            </a:pPr>
            <a:r>
              <a:rPr lang="en-CA" sz="2880" b="1" dirty="0">
                <a:latin typeface="Arial" charset="0"/>
                <a:cs typeface="Arial" charset="0"/>
              </a:rPr>
              <a:t>1.	</a:t>
            </a:r>
            <a:r>
              <a:rPr lang="en-CA" sz="2880" b="1" u="sng" dirty="0">
                <a:latin typeface="Arial" charset="0"/>
                <a:cs typeface="Arial" charset="0"/>
              </a:rPr>
              <a:t>CARACTÉRISTIQUES ET TYPES D’ÉLÉMENTS FIGURÉS</a:t>
            </a:r>
            <a:r>
              <a:rPr lang="en-CA" sz="2880" dirty="0">
                <a:latin typeface="Arial" charset="0"/>
                <a:cs typeface="Arial" charset="0"/>
              </a:rPr>
              <a:t> </a:t>
            </a:r>
          </a:p>
        </p:txBody>
      </p:sp>
      <p:sp>
        <p:nvSpPr>
          <p:cNvPr id="3075" name="Rectangle 6"/>
          <p:cNvSpPr>
            <a:spLocks noChangeArrowheads="1"/>
          </p:cNvSpPr>
          <p:nvPr/>
        </p:nvSpPr>
        <p:spPr bwMode="auto">
          <a:xfrm>
            <a:off x="2076450" y="1133476"/>
            <a:ext cx="10502266" cy="619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5000"/>
              </a:spcBef>
              <a:spcAft>
                <a:spcPct val="50000"/>
              </a:spcAft>
            </a:pPr>
            <a:r>
              <a:rPr lang="fr-CA" sz="3840" b="1" i="1" dirty="0">
                <a:solidFill>
                  <a:srgbClr val="0070C0"/>
                </a:solidFill>
                <a:latin typeface="Arial" charset="0"/>
              </a:rPr>
              <a:t>2.1 Décrire la composition du sang</a:t>
            </a:r>
            <a:endParaRPr lang="fr-CA" sz="2400" b="1" i="1" dirty="0">
              <a:solidFill>
                <a:srgbClr val="0070C0"/>
              </a:solidFill>
              <a:latin typeface="Arial" charset="0"/>
            </a:endParaRPr>
          </a:p>
        </p:txBody>
      </p:sp>
      <p:sp>
        <p:nvSpPr>
          <p:cNvPr id="3076" name="Rectangle 15"/>
          <p:cNvSpPr>
            <a:spLocks noChangeArrowheads="1"/>
          </p:cNvSpPr>
          <p:nvPr/>
        </p:nvSpPr>
        <p:spPr bwMode="auto">
          <a:xfrm>
            <a:off x="2335530" y="2644140"/>
            <a:ext cx="4533900" cy="5318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19076" indent="-219076">
              <a:spcAft>
                <a:spcPct val="25000"/>
              </a:spcAft>
              <a:buClr>
                <a:schemeClr val="tx1"/>
              </a:buClr>
              <a:buFontTx/>
              <a:buChar char="•"/>
            </a:pPr>
            <a:r>
              <a:rPr lang="fr-CA" sz="2040" dirty="0">
                <a:latin typeface="Arial" charset="0"/>
                <a:cs typeface="Arial" charset="0"/>
              </a:rPr>
              <a:t>Seul tissu liquide du corps; couleur écarlate (riche en O</a:t>
            </a:r>
            <a:r>
              <a:rPr lang="fr-CA" sz="2040" baseline="-25000" dirty="0">
                <a:latin typeface="Arial" charset="0"/>
                <a:cs typeface="Arial" charset="0"/>
              </a:rPr>
              <a:t>2</a:t>
            </a:r>
            <a:r>
              <a:rPr lang="fr-CA" sz="2040" dirty="0">
                <a:latin typeface="Arial" charset="0"/>
                <a:cs typeface="Arial" charset="0"/>
              </a:rPr>
              <a:t>) à rouge sombre (pauvre en O</a:t>
            </a:r>
            <a:r>
              <a:rPr lang="fr-CA" sz="2040" baseline="-25000" dirty="0">
                <a:latin typeface="Arial" charset="0"/>
                <a:cs typeface="Arial" charset="0"/>
              </a:rPr>
              <a:t>2</a:t>
            </a:r>
            <a:r>
              <a:rPr lang="fr-CA" sz="2040" dirty="0">
                <a:latin typeface="Arial" charset="0"/>
                <a:cs typeface="Arial" charset="0"/>
              </a:rPr>
              <a:t>).</a:t>
            </a:r>
          </a:p>
          <a:p>
            <a:pPr marL="219076" indent="-219076">
              <a:spcAft>
                <a:spcPct val="25000"/>
              </a:spcAft>
              <a:buClr>
                <a:schemeClr val="tx1"/>
              </a:buClr>
              <a:buFontTx/>
              <a:buChar char="•"/>
            </a:pPr>
            <a:r>
              <a:rPr lang="fr-CA" sz="2040" dirty="0">
                <a:latin typeface="Arial" charset="0"/>
                <a:cs typeface="Arial" charset="0"/>
              </a:rPr>
              <a:t>Plus dense et visqueux que l’eau.</a:t>
            </a:r>
          </a:p>
          <a:p>
            <a:pPr marL="219076" indent="-219076">
              <a:buClr>
                <a:schemeClr val="tx1"/>
              </a:buClr>
              <a:buFontTx/>
              <a:buChar char="•"/>
            </a:pPr>
            <a:r>
              <a:rPr lang="fr-CA" sz="2040" dirty="0">
                <a:latin typeface="Arial" charset="0"/>
                <a:cs typeface="Arial" charset="0"/>
              </a:rPr>
              <a:t>pH = 7.35-7.45</a:t>
            </a:r>
          </a:p>
          <a:p>
            <a:pPr marL="219076" indent="-219076">
              <a:spcAft>
                <a:spcPct val="25000"/>
              </a:spcAft>
              <a:buClr>
                <a:schemeClr val="tx1"/>
              </a:buClr>
            </a:pPr>
            <a:r>
              <a:rPr lang="fr-CA" sz="2040" dirty="0">
                <a:latin typeface="Arial" charset="0"/>
                <a:cs typeface="Arial" charset="0"/>
              </a:rPr>
              <a:t>	Température </a:t>
            </a:r>
            <a:r>
              <a:rPr lang="fr-CA" sz="2040" dirty="0">
                <a:latin typeface="Arial" charset="0"/>
                <a:cs typeface="Arial" charset="0"/>
                <a:sym typeface="Symbol" pitchFamily="18" charset="2"/>
              </a:rPr>
              <a:t> </a:t>
            </a:r>
            <a:r>
              <a:rPr lang="fr-CA" sz="2040" dirty="0">
                <a:latin typeface="Arial" charset="0"/>
                <a:cs typeface="Arial" charset="0"/>
              </a:rPr>
              <a:t>38</a:t>
            </a:r>
            <a:r>
              <a:rPr lang="fr-CA" sz="2040" dirty="0">
                <a:latin typeface="Arial" charset="0"/>
                <a:cs typeface="Arial" charset="0"/>
                <a:sym typeface="Symbol" pitchFamily="18" charset="2"/>
              </a:rPr>
              <a:t></a:t>
            </a:r>
            <a:r>
              <a:rPr lang="fr-CA" sz="2040" dirty="0">
                <a:latin typeface="Arial" charset="0"/>
                <a:cs typeface="Arial" charset="0"/>
              </a:rPr>
              <a:t>C</a:t>
            </a:r>
          </a:p>
          <a:p>
            <a:pPr marL="219076" indent="-219076">
              <a:spcAft>
                <a:spcPct val="25000"/>
              </a:spcAft>
              <a:buClr>
                <a:schemeClr val="tx1"/>
              </a:buClr>
              <a:buFontTx/>
              <a:buChar char="•"/>
            </a:pPr>
            <a:r>
              <a:rPr lang="fr-CA" sz="2040" dirty="0">
                <a:latin typeface="Arial" charset="0"/>
                <a:cs typeface="Arial" charset="0"/>
              </a:rPr>
              <a:t>Constitue environ 8% du poids corporel (adultes: 4-5 L chez la femme; 5-6 L chez l’homme).</a:t>
            </a:r>
          </a:p>
          <a:p>
            <a:pPr marL="219076" indent="-219076">
              <a:buClr>
                <a:schemeClr val="tx1"/>
              </a:buClr>
              <a:buFontTx/>
              <a:buChar char="•"/>
            </a:pPr>
            <a:r>
              <a:rPr lang="fr-CA" sz="1920" dirty="0">
                <a:latin typeface="Arial" charset="0"/>
                <a:cs typeface="Arial" charset="0"/>
              </a:rPr>
              <a:t>Composé d’</a:t>
            </a:r>
            <a:r>
              <a:rPr lang="fr-CA" sz="1920" b="1" i="1" dirty="0">
                <a:latin typeface="Arial" charset="0"/>
                <a:cs typeface="Arial" charset="0"/>
              </a:rPr>
              <a:t>éléments figurés</a:t>
            </a:r>
            <a:r>
              <a:rPr lang="fr-CA" sz="1920" dirty="0">
                <a:latin typeface="Arial" charset="0"/>
                <a:cs typeface="Arial" charset="0"/>
              </a:rPr>
              <a:t> (cellules sanguines) en suspension dans le </a:t>
            </a:r>
            <a:r>
              <a:rPr lang="fr-CA" sz="1920" b="1" i="1" dirty="0">
                <a:latin typeface="Arial" charset="0"/>
                <a:cs typeface="Arial" charset="0"/>
              </a:rPr>
              <a:t>plasma</a:t>
            </a:r>
            <a:r>
              <a:rPr lang="fr-CA" sz="1920" i="1" dirty="0">
                <a:latin typeface="Arial" charset="0"/>
                <a:cs typeface="Arial" charset="0"/>
              </a:rPr>
              <a:t>.</a:t>
            </a:r>
          </a:p>
          <a:p>
            <a:pPr marL="641986" lvl="1" indent="-207646">
              <a:buClr>
                <a:schemeClr val="tx1"/>
              </a:buClr>
              <a:buFontTx/>
              <a:buChar char="•"/>
            </a:pPr>
            <a:r>
              <a:rPr lang="fr-CA" sz="1800" i="1" dirty="0">
                <a:latin typeface="Arial" charset="0"/>
                <a:cs typeface="Arial" charset="0"/>
              </a:rPr>
              <a:t>Éléments figurés:</a:t>
            </a:r>
          </a:p>
          <a:p>
            <a:pPr marL="1080136" lvl="2" indent="-222886">
              <a:buClr>
                <a:schemeClr val="tx1"/>
              </a:buClr>
              <a:buFontTx/>
              <a:buChar char="•"/>
            </a:pPr>
            <a:r>
              <a:rPr lang="fr-CA" sz="1800" i="1" dirty="0">
                <a:latin typeface="Arial" charset="0"/>
                <a:cs typeface="Arial" charset="0"/>
              </a:rPr>
              <a:t>Érythrocytes (globules rouges)</a:t>
            </a:r>
          </a:p>
          <a:p>
            <a:pPr marL="1080136" lvl="2" indent="-222886">
              <a:buClr>
                <a:schemeClr val="tx1"/>
              </a:buClr>
              <a:buFontTx/>
              <a:buChar char="•"/>
            </a:pPr>
            <a:r>
              <a:rPr lang="fr-CA" sz="1800" i="1" dirty="0">
                <a:latin typeface="Arial" charset="0"/>
                <a:cs typeface="Arial" charset="0"/>
              </a:rPr>
              <a:t>Leucocytes (globules blancs)</a:t>
            </a:r>
          </a:p>
          <a:p>
            <a:pPr marL="1080136" lvl="2" indent="-222886">
              <a:buClr>
                <a:schemeClr val="tx1"/>
              </a:buClr>
              <a:buFontTx/>
              <a:buChar char="•"/>
            </a:pPr>
            <a:r>
              <a:rPr lang="fr-CA" sz="1800" i="1" dirty="0">
                <a:latin typeface="Arial" charset="0"/>
                <a:cs typeface="Arial" charset="0"/>
              </a:rPr>
              <a:t>Plaquettes</a:t>
            </a:r>
          </a:p>
        </p:txBody>
      </p:sp>
      <p:sp>
        <p:nvSpPr>
          <p:cNvPr id="3077" name="Text Box 18"/>
          <p:cNvSpPr txBox="1">
            <a:spLocks noChangeArrowheads="1"/>
          </p:cNvSpPr>
          <p:nvPr/>
        </p:nvSpPr>
        <p:spPr bwMode="auto">
          <a:xfrm>
            <a:off x="2137411" y="259081"/>
            <a:ext cx="103441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CA" sz="4800" b="1" dirty="0">
                <a:solidFill>
                  <a:srgbClr val="FF0000"/>
                </a:solidFill>
              </a:rPr>
              <a:t>2.   </a:t>
            </a:r>
            <a:r>
              <a:rPr lang="fr-CA" sz="4800" b="1" dirty="0">
                <a:solidFill>
                  <a:srgbClr val="FF0000"/>
                </a:solidFill>
              </a:rPr>
              <a:t>LE SANG</a:t>
            </a:r>
            <a:r>
              <a:rPr lang="fr-CA" sz="3840" b="1" dirty="0">
                <a:solidFill>
                  <a:srgbClr val="FF0000"/>
                </a:solidFill>
              </a:rPr>
              <a:t>   </a:t>
            </a:r>
            <a:r>
              <a:rPr lang="fr-CA" sz="3840" b="1" i="1" dirty="0">
                <a:solidFill>
                  <a:srgbClr val="FF0000"/>
                </a:solidFill>
              </a:rPr>
              <a:t> </a:t>
            </a:r>
            <a:r>
              <a:rPr lang="fr-CA" sz="3840" b="1" dirty="0">
                <a:solidFill>
                  <a:srgbClr val="FF0000"/>
                </a:solidFill>
              </a:rPr>
              <a:t>(Chapitre 17)</a:t>
            </a:r>
            <a:endParaRPr lang="fr-CA" sz="3840" b="1" i="1" dirty="0">
              <a:solidFill>
                <a:srgbClr val="FF0000"/>
              </a:solidFill>
            </a:endParaRPr>
          </a:p>
        </p:txBody>
      </p:sp>
      <p:grpSp>
        <p:nvGrpSpPr>
          <p:cNvPr id="3078" name="Group 31"/>
          <p:cNvGrpSpPr>
            <a:grpSpLocks/>
          </p:cNvGrpSpPr>
          <p:nvPr/>
        </p:nvGrpSpPr>
        <p:grpSpPr bwMode="auto">
          <a:xfrm>
            <a:off x="6755131" y="2607946"/>
            <a:ext cx="6046470" cy="5198744"/>
            <a:chOff x="2586" y="1468"/>
            <a:chExt cx="3174" cy="2729"/>
          </a:xfrm>
        </p:grpSpPr>
        <p:pic>
          <p:nvPicPr>
            <p:cNvPr id="3080" name="Picture 25" descr="17-02WrightStain_LE.jpg"/>
            <p:cNvPicPr>
              <a:picLocks noChangeAspect="1" noChangeArrowheads="1"/>
            </p:cNvPicPr>
            <p:nvPr/>
          </p:nvPicPr>
          <p:blipFill>
            <a:blip r:embed="rId3" cstate="print">
              <a:extLst>
                <a:ext uri="{28A0092B-C50C-407E-A947-70E740481C1C}">
                  <a14:useLocalDpi xmlns:a14="http://schemas.microsoft.com/office/drawing/2010/main" val="0"/>
                </a:ext>
              </a:extLst>
            </a:blip>
            <a:srcRect t="2812" b="5624"/>
            <a:stretch>
              <a:fillRect/>
            </a:stretch>
          </p:blipFill>
          <p:spPr bwMode="auto">
            <a:xfrm>
              <a:off x="2586" y="1485"/>
              <a:ext cx="3174" cy="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1" name="Text Box 26"/>
            <p:cNvSpPr txBox="1">
              <a:spLocks noChangeArrowheads="1"/>
            </p:cNvSpPr>
            <p:nvPr/>
          </p:nvSpPr>
          <p:spPr bwMode="auto">
            <a:xfrm>
              <a:off x="3011" y="1471"/>
              <a:ext cx="61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440" b="1">
                  <a:latin typeface="Verdana" pitchFamily="34" charset="0"/>
                </a:rPr>
                <a:t>Plaquettes</a:t>
              </a:r>
            </a:p>
          </p:txBody>
        </p:sp>
        <p:sp>
          <p:nvSpPr>
            <p:cNvPr id="3082" name="Text Box 27"/>
            <p:cNvSpPr txBox="1">
              <a:spLocks noChangeArrowheads="1"/>
            </p:cNvSpPr>
            <p:nvPr/>
          </p:nvSpPr>
          <p:spPr bwMode="auto">
            <a:xfrm>
              <a:off x="3692" y="1468"/>
              <a:ext cx="718"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r"/>
              <a:r>
                <a:rPr lang="fr-CA" sz="1440" b="1">
                  <a:latin typeface="Verdana" pitchFamily="34" charset="0"/>
                </a:rPr>
                <a:t>Érythrocytes</a:t>
              </a:r>
            </a:p>
          </p:txBody>
        </p:sp>
        <p:sp>
          <p:nvSpPr>
            <p:cNvPr id="3083" name="Text Box 28"/>
            <p:cNvSpPr txBox="1">
              <a:spLocks noChangeArrowheads="1"/>
            </p:cNvSpPr>
            <p:nvPr/>
          </p:nvSpPr>
          <p:spPr bwMode="auto">
            <a:xfrm>
              <a:off x="4688" y="1474"/>
              <a:ext cx="55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r"/>
              <a:r>
                <a:rPr lang="fr-CA" sz="1440" b="1">
                  <a:latin typeface="Verdana" pitchFamily="34" charset="0"/>
                </a:rPr>
                <a:t>Monocyte</a:t>
              </a:r>
            </a:p>
          </p:txBody>
        </p:sp>
        <p:sp>
          <p:nvSpPr>
            <p:cNvPr id="3084" name="Text Box 29"/>
            <p:cNvSpPr txBox="1">
              <a:spLocks noChangeArrowheads="1"/>
            </p:cNvSpPr>
            <p:nvPr/>
          </p:nvSpPr>
          <p:spPr bwMode="auto">
            <a:xfrm>
              <a:off x="4154" y="3991"/>
              <a:ext cx="69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440" b="1">
                  <a:latin typeface="Verdana" pitchFamily="34" charset="0"/>
                </a:rPr>
                <a:t>Lymphocyte</a:t>
              </a:r>
            </a:p>
          </p:txBody>
        </p:sp>
        <p:sp>
          <p:nvSpPr>
            <p:cNvPr id="3085" name="Text Box 30"/>
            <p:cNvSpPr txBox="1">
              <a:spLocks noChangeArrowheads="1"/>
            </p:cNvSpPr>
            <p:nvPr/>
          </p:nvSpPr>
          <p:spPr bwMode="auto">
            <a:xfrm>
              <a:off x="2849" y="3928"/>
              <a:ext cx="77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r"/>
              <a:r>
                <a:rPr lang="fr-CA" sz="1440" b="1">
                  <a:latin typeface="Verdana" pitchFamily="34" charset="0"/>
                </a:rPr>
                <a:t>Granulocytes neutrophiles</a:t>
              </a:r>
            </a:p>
          </p:txBody>
        </p:sp>
      </p:grpSp>
      <p:sp>
        <p:nvSpPr>
          <p:cNvPr id="3079" name="Text Box 22"/>
          <p:cNvSpPr txBox="1">
            <a:spLocks noChangeArrowheads="1"/>
          </p:cNvSpPr>
          <p:nvPr/>
        </p:nvSpPr>
        <p:spPr bwMode="auto">
          <a:xfrm>
            <a:off x="11603356" y="7707630"/>
            <a:ext cx="1009650" cy="345776"/>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lIns="21600" tIns="43200" rIns="21600" bIns="4320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a:solidFill>
                  <a:schemeClr val="accent2"/>
                </a:solidFill>
                <a:latin typeface="Arial" charset="0"/>
              </a:rPr>
              <a:t>Fig. 17.2</a:t>
            </a:r>
          </a:p>
        </p:txBody>
      </p:sp>
    </p:spTree>
    <p:extLst>
      <p:ext uri="{BB962C8B-B14F-4D97-AF65-F5344CB8AC3E}">
        <p14:creationId xmlns:p14="http://schemas.microsoft.com/office/powerpoint/2010/main" val="4140610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body" sz="half" idx="1"/>
          </p:nvPr>
        </p:nvSpPr>
        <p:spPr>
          <a:xfrm>
            <a:off x="2129790" y="367666"/>
            <a:ext cx="6088380" cy="421004"/>
          </a:xfrm>
          <a:noFill/>
        </p:spPr>
        <p:txBody>
          <a:bodyPr vert="horz" lIns="64800" tIns="12960" rIns="64800" bIns="65311">
            <a:normAutofit/>
          </a:bodyPr>
          <a:lstStyle/>
          <a:p>
            <a:pPr marL="219076" indent="-219076">
              <a:spcAft>
                <a:spcPct val="0"/>
              </a:spcAft>
              <a:buClr>
                <a:schemeClr val="tx1"/>
              </a:buClr>
              <a:buSzTx/>
              <a:buFontTx/>
              <a:buChar char="•"/>
            </a:pPr>
            <a:r>
              <a:rPr lang="fr-CA" sz="2040">
                <a:latin typeface="Arial" charset="0"/>
                <a:cs typeface="Arial" charset="0"/>
              </a:rPr>
              <a:t>Par centrifugation du sang, on obtient 3 couches:</a:t>
            </a:r>
            <a:endParaRPr lang="fr-CA" sz="2040">
              <a:latin typeface="Arial" charset="0"/>
            </a:endParaRPr>
          </a:p>
        </p:txBody>
      </p:sp>
      <p:sp>
        <p:nvSpPr>
          <p:cNvPr id="4099" name="Rectangle 4"/>
          <p:cNvSpPr>
            <a:spLocks noChangeArrowheads="1"/>
          </p:cNvSpPr>
          <p:nvPr/>
        </p:nvSpPr>
        <p:spPr bwMode="auto">
          <a:xfrm>
            <a:off x="1828800" y="4383406"/>
            <a:ext cx="10972800" cy="428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19076" indent="-219076" algn="ctr">
              <a:spcAft>
                <a:spcPct val="25000"/>
              </a:spcAft>
              <a:buClr>
                <a:schemeClr val="tx1"/>
              </a:buClr>
            </a:pPr>
            <a:r>
              <a:rPr lang="fr-CA" sz="1920" b="1">
                <a:latin typeface="Arial" charset="0"/>
                <a:cs typeface="Arial" charset="0"/>
              </a:rPr>
              <a:t>Hématocrite:</a:t>
            </a:r>
            <a:r>
              <a:rPr lang="fr-CA" sz="1920">
                <a:latin typeface="Arial" charset="0"/>
                <a:cs typeface="Arial" charset="0"/>
              </a:rPr>
              <a:t>  % en volume occupé par les érythrocytes = (volume des GR) / (volume total) x 100</a:t>
            </a:r>
          </a:p>
        </p:txBody>
      </p:sp>
      <p:sp>
        <p:nvSpPr>
          <p:cNvPr id="4100" name="Rectangle 12"/>
          <p:cNvSpPr>
            <a:spLocks noChangeArrowheads="1"/>
          </p:cNvSpPr>
          <p:nvPr/>
        </p:nvSpPr>
        <p:spPr bwMode="auto">
          <a:xfrm>
            <a:off x="2061211" y="4994071"/>
            <a:ext cx="10519410" cy="3141346"/>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lIns="86400" tIns="43200" rIns="43200" bIns="43200"/>
          <a:lstStyle/>
          <a:p>
            <a:pPr eaLnBrk="1" hangingPunct="1">
              <a:spcAft>
                <a:spcPct val="10000"/>
              </a:spcAft>
              <a:buClr>
                <a:schemeClr val="tx1"/>
              </a:buClr>
            </a:pPr>
            <a:r>
              <a:rPr lang="fr-CA" sz="2880" b="1" dirty="0">
                <a:latin typeface="Arial" charset="0"/>
                <a:cs typeface="Arial" charset="0"/>
              </a:rPr>
              <a:t>2.  </a:t>
            </a:r>
            <a:r>
              <a:rPr lang="fr-CA" sz="2880" b="1" u="sng" dirty="0">
                <a:latin typeface="Arial" charset="0"/>
                <a:cs typeface="Arial" charset="0"/>
              </a:rPr>
              <a:t>FONCTIONS DU SANG</a:t>
            </a:r>
            <a:endParaRPr lang="fr-CA" sz="2880" u="sng" dirty="0">
              <a:latin typeface="Arial" charset="0"/>
              <a:cs typeface="Arial" charset="0"/>
            </a:endParaRPr>
          </a:p>
          <a:p>
            <a:pPr marL="438150" lvl="1" indent="-222886">
              <a:spcAft>
                <a:spcPct val="10000"/>
              </a:spcAft>
              <a:buClr>
                <a:schemeClr val="tx1"/>
              </a:buClr>
              <a:buFontTx/>
              <a:buChar char="•"/>
            </a:pPr>
            <a:r>
              <a:rPr lang="fr-CA" sz="1920" dirty="0">
                <a:latin typeface="Arial" charset="0"/>
                <a:cs typeface="Arial" charset="0"/>
              </a:rPr>
              <a:t>Distribution (transport):  ex.: gaz respiratoires, nutriments, déchets métaboliques, hormones</a:t>
            </a:r>
          </a:p>
          <a:p>
            <a:pPr marL="438150" lvl="1" indent="-222886">
              <a:spcAft>
                <a:spcPct val="10000"/>
              </a:spcAft>
              <a:buClr>
                <a:schemeClr val="tx1"/>
              </a:buClr>
              <a:buFontTx/>
              <a:buChar char="•"/>
            </a:pPr>
            <a:r>
              <a:rPr lang="fr-CA" sz="1920" dirty="0">
                <a:latin typeface="Arial" charset="0"/>
                <a:cs typeface="Arial" charset="0"/>
              </a:rPr>
              <a:t>Régulation</a:t>
            </a:r>
          </a:p>
          <a:p>
            <a:pPr marL="857250" lvl="2" indent="-203836">
              <a:spcAft>
                <a:spcPct val="10000"/>
              </a:spcAft>
              <a:buClr>
                <a:schemeClr val="tx1"/>
              </a:buClr>
              <a:buSzPct val="70000"/>
              <a:buFont typeface="Wingdings" pitchFamily="2" charset="2"/>
              <a:buChar char="§"/>
            </a:pPr>
            <a:r>
              <a:rPr lang="fr-CA" sz="1920" dirty="0">
                <a:latin typeface="Arial" charset="0"/>
                <a:cs typeface="Arial" charset="0"/>
              </a:rPr>
              <a:t>Température corporelle (distribution, conservation et dissipation de la chaleur)</a:t>
            </a:r>
          </a:p>
          <a:p>
            <a:pPr marL="857250" lvl="2" indent="-203836">
              <a:spcAft>
                <a:spcPct val="10000"/>
              </a:spcAft>
              <a:buClr>
                <a:schemeClr val="tx1"/>
              </a:buClr>
              <a:buSzPct val="70000"/>
              <a:buFont typeface="Wingdings" pitchFamily="2" charset="2"/>
              <a:buChar char="§"/>
            </a:pPr>
            <a:r>
              <a:rPr lang="fr-CA" sz="1920" dirty="0">
                <a:latin typeface="Arial" charset="0"/>
                <a:cs typeface="Arial" charset="0"/>
              </a:rPr>
              <a:t>pH (tampons du plasma: protéines, bicarbonate, phosphate)</a:t>
            </a:r>
          </a:p>
          <a:p>
            <a:pPr marL="857250" lvl="2" indent="-203836">
              <a:spcAft>
                <a:spcPct val="10000"/>
              </a:spcAft>
              <a:buClr>
                <a:schemeClr val="tx1"/>
              </a:buClr>
              <a:buSzPct val="70000"/>
              <a:buFont typeface="Wingdings" pitchFamily="2" charset="2"/>
              <a:buChar char="§"/>
            </a:pPr>
            <a:r>
              <a:rPr lang="fr-CA" sz="1920" dirty="0">
                <a:latin typeface="Arial" charset="0"/>
                <a:cs typeface="Arial" charset="0"/>
              </a:rPr>
              <a:t>Maintien du volume liquidien</a:t>
            </a:r>
          </a:p>
          <a:p>
            <a:pPr marL="438150" lvl="1" indent="-222886">
              <a:spcAft>
                <a:spcPct val="10000"/>
              </a:spcAft>
              <a:buClr>
                <a:schemeClr val="tx1"/>
              </a:buClr>
              <a:buFontTx/>
              <a:buChar char="•"/>
            </a:pPr>
            <a:r>
              <a:rPr lang="fr-CA" sz="1920" dirty="0">
                <a:latin typeface="Arial" charset="0"/>
                <a:cs typeface="Arial" charset="0"/>
              </a:rPr>
              <a:t>Protection</a:t>
            </a:r>
          </a:p>
          <a:p>
            <a:pPr marL="857250" lvl="2" indent="-203836">
              <a:spcAft>
                <a:spcPct val="10000"/>
              </a:spcAft>
              <a:buClr>
                <a:schemeClr val="tx1"/>
              </a:buClr>
              <a:buSzPct val="70000"/>
              <a:buFont typeface="Wingdings" pitchFamily="2" charset="2"/>
              <a:buChar char="§"/>
            </a:pPr>
            <a:r>
              <a:rPr lang="fr-CA" sz="1920" dirty="0">
                <a:latin typeface="Arial" charset="0"/>
                <a:cs typeface="Arial" charset="0"/>
              </a:rPr>
              <a:t>Prévention de l’hémorragie (</a:t>
            </a:r>
            <a:r>
              <a:rPr lang="fr-CA" sz="1920" i="1" dirty="0">
                <a:latin typeface="Arial" charset="0"/>
                <a:cs typeface="Arial" charset="0"/>
              </a:rPr>
              <a:t>hémostase</a:t>
            </a:r>
            <a:r>
              <a:rPr lang="fr-CA" sz="1920" dirty="0">
                <a:latin typeface="Arial" charset="0"/>
                <a:cs typeface="Arial" charset="0"/>
              </a:rPr>
              <a:t>)</a:t>
            </a:r>
          </a:p>
          <a:p>
            <a:pPr marL="857250" lvl="2" indent="-203836">
              <a:spcAft>
                <a:spcPct val="10000"/>
              </a:spcAft>
              <a:buClr>
                <a:schemeClr val="tx1"/>
              </a:buClr>
              <a:buSzPct val="70000"/>
              <a:buFont typeface="Wingdings" pitchFamily="2" charset="2"/>
              <a:buChar char="§"/>
            </a:pPr>
            <a:r>
              <a:rPr lang="fr-CA" sz="1920" dirty="0">
                <a:latin typeface="Arial" charset="0"/>
                <a:cs typeface="Arial" charset="0"/>
              </a:rPr>
              <a:t>Prévention des infections (par les leucocytes, anticorps, protéines du complément)</a:t>
            </a:r>
          </a:p>
        </p:txBody>
      </p:sp>
      <p:pic>
        <p:nvPicPr>
          <p:cNvPr id="4101" name="Picture 15" descr="17-01MajorBlood_LE.jpg"/>
          <p:cNvPicPr>
            <a:picLocks noChangeAspect="1" noChangeArrowheads="1"/>
          </p:cNvPicPr>
          <p:nvPr/>
        </p:nvPicPr>
        <p:blipFill>
          <a:blip r:embed="rId3" cstate="print">
            <a:extLst>
              <a:ext uri="{28A0092B-C50C-407E-A947-70E740481C1C}">
                <a14:useLocalDpi xmlns:a14="http://schemas.microsoft.com/office/drawing/2010/main" val="0"/>
              </a:ext>
            </a:extLst>
          </a:blip>
          <a:srcRect b="8852"/>
          <a:stretch>
            <a:fillRect/>
          </a:stretch>
        </p:blipFill>
        <p:spPr bwMode="auto">
          <a:xfrm>
            <a:off x="1828800" y="748666"/>
            <a:ext cx="10972800"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Text Box 7"/>
          <p:cNvSpPr txBox="1">
            <a:spLocks noChangeArrowheads="1"/>
          </p:cNvSpPr>
          <p:nvPr/>
        </p:nvSpPr>
        <p:spPr bwMode="auto">
          <a:xfrm>
            <a:off x="11243310" y="794385"/>
            <a:ext cx="1125856" cy="350865"/>
          </a:xfrm>
          <a:prstGeom prst="rect">
            <a:avLst/>
          </a:prstGeom>
          <a:noFill/>
          <a:ln w="63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a:solidFill>
                  <a:schemeClr val="accent2"/>
                </a:solidFill>
                <a:latin typeface="Arial" charset="0"/>
              </a:rPr>
              <a:t>Fig. 17.1</a:t>
            </a:r>
          </a:p>
        </p:txBody>
      </p:sp>
      <p:sp>
        <p:nvSpPr>
          <p:cNvPr id="4103" name="Text Box 23"/>
          <p:cNvSpPr txBox="1">
            <a:spLocks noChangeArrowheads="1"/>
          </p:cNvSpPr>
          <p:nvPr/>
        </p:nvSpPr>
        <p:spPr bwMode="auto">
          <a:xfrm>
            <a:off x="9656446" y="2108836"/>
            <a:ext cx="1223432" cy="210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a:latin typeface="Verdana" pitchFamily="34" charset="0"/>
              </a:rPr>
              <a:t>Plasma </a:t>
            </a:r>
            <a:r>
              <a:rPr lang="fr-CA" sz="1200">
                <a:latin typeface="Verdana" pitchFamily="34" charset="0"/>
              </a:rPr>
              <a:t>(55%)</a:t>
            </a:r>
            <a:endParaRPr lang="fr-CA" sz="1200" b="1">
              <a:latin typeface="Verdana" pitchFamily="34" charset="0"/>
            </a:endParaRPr>
          </a:p>
        </p:txBody>
      </p:sp>
      <p:sp>
        <p:nvSpPr>
          <p:cNvPr id="4104" name="Text Box 24"/>
          <p:cNvSpPr txBox="1">
            <a:spLocks noChangeArrowheads="1"/>
          </p:cNvSpPr>
          <p:nvPr/>
        </p:nvSpPr>
        <p:spPr bwMode="auto">
          <a:xfrm>
            <a:off x="9650730" y="2779396"/>
            <a:ext cx="2369820" cy="58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a:latin typeface="Verdana" pitchFamily="34" charset="0"/>
              </a:rPr>
              <a:t>Couche leucocytaire </a:t>
            </a:r>
            <a:r>
              <a:rPr lang="fr-CA" sz="1200">
                <a:latin typeface="Verdana" pitchFamily="34" charset="0"/>
              </a:rPr>
              <a:t>leucocytes+ plaquettes</a:t>
            </a:r>
          </a:p>
          <a:p>
            <a:r>
              <a:rPr lang="fr-CA" sz="1200">
                <a:latin typeface="Verdana" pitchFamily="34" charset="0"/>
              </a:rPr>
              <a:t>(&lt; 1%)</a:t>
            </a:r>
            <a:endParaRPr lang="fr-CA" sz="1200" b="1">
              <a:latin typeface="Verdana" pitchFamily="34" charset="0"/>
            </a:endParaRPr>
          </a:p>
        </p:txBody>
      </p:sp>
      <p:sp>
        <p:nvSpPr>
          <p:cNvPr id="4105" name="Text Box 25"/>
          <p:cNvSpPr txBox="1">
            <a:spLocks noChangeArrowheads="1"/>
          </p:cNvSpPr>
          <p:nvPr/>
        </p:nvSpPr>
        <p:spPr bwMode="auto">
          <a:xfrm>
            <a:off x="9702165" y="3509011"/>
            <a:ext cx="1696318" cy="210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a:latin typeface="Verdana" pitchFamily="34" charset="0"/>
              </a:rPr>
              <a:t>Érythrocytes </a:t>
            </a:r>
            <a:r>
              <a:rPr lang="fr-CA" sz="1200">
                <a:latin typeface="Verdana" pitchFamily="34" charset="0"/>
              </a:rPr>
              <a:t>(45%)</a:t>
            </a:r>
            <a:endParaRPr lang="fr-CA" sz="1200" b="1">
              <a:latin typeface="Verdana" pitchFamily="34" charset="0"/>
            </a:endParaRPr>
          </a:p>
        </p:txBody>
      </p:sp>
      <p:sp>
        <p:nvSpPr>
          <p:cNvPr id="4106" name="Text Box 26"/>
          <p:cNvSpPr txBox="1">
            <a:spLocks noChangeArrowheads="1"/>
          </p:cNvSpPr>
          <p:nvPr/>
        </p:nvSpPr>
        <p:spPr bwMode="auto">
          <a:xfrm>
            <a:off x="11858626" y="3331846"/>
            <a:ext cx="918861" cy="43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2960" rIns="216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b="1">
                <a:latin typeface="Verdana" pitchFamily="34" charset="0"/>
              </a:rPr>
              <a:t>Éléments</a:t>
            </a:r>
          </a:p>
          <a:p>
            <a:r>
              <a:rPr lang="fr-CA" sz="1320" b="1">
                <a:latin typeface="Verdana" pitchFamily="34" charset="0"/>
              </a:rPr>
              <a:t>figurés</a:t>
            </a:r>
          </a:p>
        </p:txBody>
      </p:sp>
    </p:spTree>
    <p:extLst>
      <p:ext uri="{BB962C8B-B14F-4D97-AF65-F5344CB8AC3E}">
        <p14:creationId xmlns:p14="http://schemas.microsoft.com/office/powerpoint/2010/main" val="814541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ChangeArrowheads="1"/>
          </p:cNvSpPr>
          <p:nvPr/>
        </p:nvSpPr>
        <p:spPr bwMode="auto">
          <a:xfrm>
            <a:off x="2194560" y="512446"/>
            <a:ext cx="10262236" cy="7029450"/>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spcAft>
                <a:spcPct val="25000"/>
              </a:spcAft>
              <a:buClr>
                <a:schemeClr val="tx1"/>
              </a:buClr>
            </a:pPr>
            <a:r>
              <a:rPr lang="fr-CA" sz="2880" b="1">
                <a:latin typeface="Arial" charset="0"/>
                <a:cs typeface="Arial" charset="0"/>
              </a:rPr>
              <a:t>3.  </a:t>
            </a:r>
            <a:r>
              <a:rPr lang="fr-CA" sz="2880" b="1" u="sng">
                <a:latin typeface="Arial" charset="0"/>
                <a:cs typeface="Arial" charset="0"/>
              </a:rPr>
              <a:t>LE PLASMA SANGUIN</a:t>
            </a:r>
            <a:endParaRPr lang="fr-CA" sz="2880" u="sng">
              <a:latin typeface="Arial" charset="0"/>
              <a:cs typeface="Arial" charset="0"/>
            </a:endParaRPr>
          </a:p>
          <a:p>
            <a:pPr marL="744856" lvl="1" indent="-219076">
              <a:spcAft>
                <a:spcPct val="25000"/>
              </a:spcAft>
              <a:buClr>
                <a:schemeClr val="tx1"/>
              </a:buClr>
            </a:pPr>
            <a:r>
              <a:rPr lang="fr-CA" sz="1920">
                <a:latin typeface="Arial" charset="0"/>
                <a:cs typeface="Arial" charset="0"/>
              </a:rPr>
              <a:t>Liquide visqueux de couleur jaunâtre; 90% eau, et &gt; 100 solutés différents:</a:t>
            </a:r>
            <a:endParaRPr lang="fr-CA" sz="1920" b="1">
              <a:latin typeface="Arial" charset="0"/>
              <a:cs typeface="Arial" charset="0"/>
            </a:endParaRPr>
          </a:p>
          <a:p>
            <a:pPr marL="744856" lvl="1" indent="-219076">
              <a:buClr>
                <a:schemeClr val="tx1"/>
              </a:buClr>
              <a:buFontTx/>
              <a:buChar char="•"/>
            </a:pPr>
            <a:r>
              <a:rPr lang="fr-CA" sz="1920" b="1">
                <a:latin typeface="Arial" charset="0"/>
                <a:cs typeface="Arial" charset="0"/>
              </a:rPr>
              <a:t>Protéines: </a:t>
            </a:r>
            <a:r>
              <a:rPr lang="fr-CA" sz="1920">
                <a:latin typeface="Arial" charset="0"/>
                <a:cs typeface="Arial" charset="0"/>
              </a:rPr>
              <a:t>produites pour la plupart par le </a:t>
            </a:r>
            <a:r>
              <a:rPr lang="fr-CA" sz="1920" u="sng">
                <a:latin typeface="Arial" charset="0"/>
                <a:cs typeface="Arial" charset="0"/>
              </a:rPr>
              <a:t>foie</a:t>
            </a:r>
            <a:r>
              <a:rPr lang="fr-CA" sz="1920">
                <a:latin typeface="Arial" charset="0"/>
                <a:cs typeface="Arial" charset="0"/>
              </a:rPr>
              <a:t> (à l’exception des globulines gamma)</a:t>
            </a:r>
            <a:endParaRPr lang="fr-CA" sz="1920" i="1">
              <a:latin typeface="Arial" charset="0"/>
              <a:cs typeface="Arial" charset="0"/>
            </a:endParaRPr>
          </a:p>
          <a:p>
            <a:pPr marL="1179196" lvl="2" indent="-219076">
              <a:buClr>
                <a:schemeClr val="tx1"/>
              </a:buClr>
              <a:buFontTx/>
              <a:buChar char="•"/>
            </a:pPr>
            <a:r>
              <a:rPr lang="fr-CA" sz="1920" i="1">
                <a:latin typeface="Arial" charset="0"/>
                <a:cs typeface="Arial" charset="0"/>
              </a:rPr>
              <a:t>Albumine</a:t>
            </a:r>
            <a:r>
              <a:rPr lang="fr-CA" sz="1920">
                <a:latin typeface="Arial" charset="0"/>
                <a:cs typeface="Arial" charset="0"/>
              </a:rPr>
              <a:t>: environ 60% de toutes les protéines.</a:t>
            </a:r>
          </a:p>
          <a:p>
            <a:pPr marL="1615440" lvl="3" indent="-220980">
              <a:buClr>
                <a:schemeClr val="tx1"/>
              </a:buClr>
              <a:buSzPct val="70000"/>
              <a:buFont typeface="Wingdings" pitchFamily="2" charset="2"/>
              <a:buChar char="§"/>
            </a:pPr>
            <a:r>
              <a:rPr lang="fr-CA" sz="1920">
                <a:latin typeface="Arial" charset="0"/>
                <a:cs typeface="Arial" charset="0"/>
              </a:rPr>
              <a:t>Transporteur non spécifique de différentes substances: ions, lipides, folate, bilirubine, …</a:t>
            </a:r>
          </a:p>
          <a:p>
            <a:pPr marL="1615440" lvl="3" indent="-220980">
              <a:buClr>
                <a:schemeClr val="tx1"/>
              </a:buClr>
              <a:buSzPct val="70000"/>
              <a:buFont typeface="Wingdings" pitchFamily="2" charset="2"/>
              <a:buChar char="§"/>
            </a:pPr>
            <a:r>
              <a:rPr lang="fr-CA" sz="1920">
                <a:latin typeface="Arial" charset="0"/>
                <a:cs typeface="Arial" charset="0"/>
              </a:rPr>
              <a:t>Tampon de pH important</a:t>
            </a:r>
          </a:p>
          <a:p>
            <a:pPr marL="1615440" lvl="3" indent="-220980">
              <a:buClr>
                <a:schemeClr val="tx1"/>
              </a:buClr>
              <a:buSzPct val="70000"/>
              <a:buFont typeface="Wingdings" pitchFamily="2" charset="2"/>
              <a:buChar char="§"/>
            </a:pPr>
            <a:r>
              <a:rPr lang="fr-CA" sz="1920">
                <a:latin typeface="Arial" charset="0"/>
                <a:cs typeface="Arial" charset="0"/>
              </a:rPr>
              <a:t>Important contributeur de la pression osmotique</a:t>
            </a:r>
            <a:endParaRPr lang="fr-CA" sz="1920" i="1">
              <a:latin typeface="Arial" charset="0"/>
              <a:cs typeface="Arial" charset="0"/>
            </a:endParaRPr>
          </a:p>
          <a:p>
            <a:pPr marL="1179196" lvl="2" indent="-219076">
              <a:buClr>
                <a:schemeClr val="tx1"/>
              </a:buClr>
              <a:buFontTx/>
              <a:buChar char="•"/>
            </a:pPr>
            <a:r>
              <a:rPr lang="fr-CA" sz="1920" i="1">
                <a:latin typeface="Arial" charset="0"/>
                <a:cs typeface="Arial" charset="0"/>
              </a:rPr>
              <a:t>Globulines</a:t>
            </a:r>
            <a:r>
              <a:rPr lang="fr-CA" sz="1920">
                <a:latin typeface="Arial" charset="0"/>
                <a:cs typeface="Arial" charset="0"/>
              </a:rPr>
              <a:t>:</a:t>
            </a:r>
            <a:endParaRPr lang="fr-CA" sz="1920" i="1">
              <a:latin typeface="Arial" charset="0"/>
              <a:cs typeface="Arial" charset="0"/>
            </a:endParaRPr>
          </a:p>
          <a:p>
            <a:pPr marL="1615440" lvl="3" indent="-220980">
              <a:buClr>
                <a:schemeClr val="tx1"/>
              </a:buClr>
              <a:buSzPct val="70000"/>
              <a:buFont typeface="Wingdings" pitchFamily="2" charset="2"/>
              <a:buChar char="§"/>
            </a:pPr>
            <a:r>
              <a:rPr lang="fr-CA" sz="1920" i="1">
                <a:latin typeface="Arial" charset="0"/>
                <a:cs typeface="Arial" charset="0"/>
              </a:rPr>
              <a:t>Alpha </a:t>
            </a:r>
            <a:r>
              <a:rPr lang="fr-CA" sz="1920">
                <a:latin typeface="Arial" charset="0"/>
                <a:cs typeface="Arial" charset="0"/>
              </a:rPr>
              <a:t>et</a:t>
            </a:r>
            <a:r>
              <a:rPr lang="fr-CA" sz="1920" i="1">
                <a:latin typeface="Arial" charset="0"/>
                <a:cs typeface="Arial" charset="0"/>
              </a:rPr>
              <a:t> bêta</a:t>
            </a:r>
            <a:r>
              <a:rPr lang="fr-CA" sz="1920">
                <a:latin typeface="Arial" charset="0"/>
                <a:cs typeface="Arial" charset="0"/>
              </a:rPr>
              <a:t>: principalement des protéines qui servent au transport spécifique de diverses substances (ex.: Fe</a:t>
            </a:r>
            <a:r>
              <a:rPr lang="fr-CA" sz="1920" baseline="30000">
                <a:latin typeface="Arial" charset="0"/>
                <a:cs typeface="Arial" charset="0"/>
              </a:rPr>
              <a:t>2+</a:t>
            </a:r>
            <a:r>
              <a:rPr lang="fr-CA" sz="1920">
                <a:latin typeface="Arial" charset="0"/>
                <a:cs typeface="Arial" charset="0"/>
              </a:rPr>
              <a:t> , vitamine B</a:t>
            </a:r>
            <a:r>
              <a:rPr lang="fr-CA" sz="1920" baseline="-25000">
                <a:latin typeface="Arial" charset="0"/>
                <a:cs typeface="Arial" charset="0"/>
              </a:rPr>
              <a:t>12</a:t>
            </a:r>
            <a:r>
              <a:rPr lang="fr-CA" sz="1920">
                <a:latin typeface="Arial" charset="0"/>
                <a:cs typeface="Arial" charset="0"/>
              </a:rPr>
              <a:t>, lipoprotéines, …)</a:t>
            </a:r>
            <a:endParaRPr lang="fr-CA" sz="1920" i="1">
              <a:latin typeface="Arial" charset="0"/>
              <a:cs typeface="Arial" charset="0"/>
            </a:endParaRPr>
          </a:p>
          <a:p>
            <a:pPr marL="1615440" lvl="3" indent="-220980">
              <a:buClr>
                <a:schemeClr val="tx1"/>
              </a:buClr>
              <a:buSzPct val="70000"/>
              <a:buFont typeface="Wingdings" pitchFamily="2" charset="2"/>
              <a:buChar char="§"/>
            </a:pPr>
            <a:r>
              <a:rPr lang="fr-CA" sz="1920" i="1">
                <a:latin typeface="Arial" charset="0"/>
                <a:cs typeface="Arial" charset="0"/>
              </a:rPr>
              <a:t>Gamma</a:t>
            </a:r>
            <a:r>
              <a:rPr lang="fr-CA" sz="1920">
                <a:latin typeface="Arial" charset="0"/>
                <a:cs typeface="Arial" charset="0"/>
              </a:rPr>
              <a:t>: </a:t>
            </a:r>
            <a:r>
              <a:rPr lang="fr-CA" sz="1920" u="sng">
                <a:latin typeface="Arial" charset="0"/>
                <a:cs typeface="Arial" charset="0"/>
              </a:rPr>
              <a:t>anticorps</a:t>
            </a:r>
            <a:r>
              <a:rPr lang="fr-CA" sz="1920">
                <a:latin typeface="Arial" charset="0"/>
                <a:cs typeface="Arial" charset="0"/>
              </a:rPr>
              <a:t> produits par les </a:t>
            </a:r>
            <a:r>
              <a:rPr lang="fr-CA" sz="1920" u="sng">
                <a:latin typeface="Arial" charset="0"/>
                <a:cs typeface="Arial" charset="0"/>
              </a:rPr>
              <a:t>plasmocytes</a:t>
            </a:r>
            <a:r>
              <a:rPr lang="fr-CA" sz="1920">
                <a:latin typeface="Arial" charset="0"/>
                <a:cs typeface="Arial" charset="0"/>
              </a:rPr>
              <a:t>.</a:t>
            </a:r>
            <a:r>
              <a:rPr lang="fr-CA" sz="1920" b="1">
                <a:latin typeface="Arial" charset="0"/>
                <a:cs typeface="Arial" charset="0"/>
              </a:rPr>
              <a:t> </a:t>
            </a:r>
            <a:endParaRPr lang="fr-CA" sz="1920" i="1">
              <a:latin typeface="Arial" charset="0"/>
              <a:cs typeface="Arial" charset="0"/>
            </a:endParaRPr>
          </a:p>
          <a:p>
            <a:pPr marL="1179196" lvl="2" indent="-219076">
              <a:buClr>
                <a:schemeClr val="tx1"/>
              </a:buClr>
              <a:buFontTx/>
              <a:buChar char="•"/>
            </a:pPr>
            <a:r>
              <a:rPr lang="fr-CA" sz="1920" i="1">
                <a:latin typeface="Arial" charset="0"/>
                <a:cs typeface="Arial" charset="0"/>
              </a:rPr>
              <a:t>Facteurs de coagulation</a:t>
            </a:r>
            <a:r>
              <a:rPr lang="fr-CA" sz="1920">
                <a:latin typeface="Arial" charset="0"/>
                <a:cs typeface="Arial" charset="0"/>
              </a:rPr>
              <a:t>:  4 % des protéines plasmatiques; incluent </a:t>
            </a:r>
            <a:r>
              <a:rPr lang="fr-CA" sz="1920" i="1">
                <a:latin typeface="Arial" charset="0"/>
                <a:cs typeface="Arial" charset="0"/>
              </a:rPr>
              <a:t>fibrinogène</a:t>
            </a:r>
            <a:r>
              <a:rPr lang="fr-CA" sz="1920">
                <a:latin typeface="Arial" charset="0"/>
                <a:cs typeface="Arial" charset="0"/>
              </a:rPr>
              <a:t>, </a:t>
            </a:r>
            <a:r>
              <a:rPr lang="fr-CA" sz="1920" i="1">
                <a:latin typeface="Arial" charset="0"/>
                <a:cs typeface="Arial" charset="0"/>
              </a:rPr>
              <a:t>prothrombine</a:t>
            </a:r>
            <a:r>
              <a:rPr lang="fr-CA" sz="1920">
                <a:latin typeface="Arial" charset="0"/>
                <a:cs typeface="Arial" charset="0"/>
              </a:rPr>
              <a:t>, etc…</a:t>
            </a:r>
            <a:endParaRPr lang="fr-CA" sz="1920" b="1">
              <a:latin typeface="Arial" charset="0"/>
              <a:cs typeface="Arial" charset="0"/>
            </a:endParaRPr>
          </a:p>
          <a:p>
            <a:pPr marL="1179196" lvl="2" indent="-219076">
              <a:spcAft>
                <a:spcPct val="25000"/>
              </a:spcAft>
              <a:buClr>
                <a:schemeClr val="tx1"/>
              </a:buClr>
              <a:buFontTx/>
              <a:buChar char="•"/>
            </a:pPr>
            <a:r>
              <a:rPr lang="fr-CA" sz="1920">
                <a:latin typeface="Arial" charset="0"/>
                <a:cs typeface="Arial" charset="0"/>
              </a:rPr>
              <a:t>Autres: ex.: hormones, enzymes</a:t>
            </a:r>
            <a:endParaRPr lang="fr-CA" sz="1920" b="1">
              <a:latin typeface="Arial" charset="0"/>
              <a:cs typeface="Arial" charset="0"/>
            </a:endParaRPr>
          </a:p>
          <a:p>
            <a:pPr marL="744856" lvl="1" indent="-219076">
              <a:buClr>
                <a:schemeClr val="tx1"/>
              </a:buClr>
              <a:buFontTx/>
              <a:buChar char="•"/>
            </a:pPr>
            <a:r>
              <a:rPr lang="fr-CA" sz="1920" b="1">
                <a:latin typeface="Arial" charset="0"/>
                <a:cs typeface="Arial" charset="0"/>
              </a:rPr>
              <a:t>Électrolytes:</a:t>
            </a:r>
            <a:endParaRPr lang="fr-CA" sz="1920">
              <a:latin typeface="Arial" charset="0"/>
              <a:cs typeface="Arial" charset="0"/>
            </a:endParaRPr>
          </a:p>
          <a:p>
            <a:pPr marL="1179196" lvl="2" indent="-219076">
              <a:buClr>
                <a:schemeClr val="tx1"/>
              </a:buClr>
              <a:buFontTx/>
              <a:buChar char="•"/>
            </a:pPr>
            <a:r>
              <a:rPr lang="fr-CA" sz="1920">
                <a:latin typeface="Arial" charset="0"/>
                <a:cs typeface="Arial" charset="0"/>
              </a:rPr>
              <a:t>Cations: Na</a:t>
            </a:r>
            <a:r>
              <a:rPr lang="fr-CA" sz="1920" baseline="30000">
                <a:latin typeface="Arial" charset="0"/>
                <a:cs typeface="Arial" charset="0"/>
              </a:rPr>
              <a:t>+</a:t>
            </a:r>
            <a:r>
              <a:rPr lang="fr-CA" sz="1920">
                <a:latin typeface="Arial" charset="0"/>
                <a:cs typeface="Arial" charset="0"/>
              </a:rPr>
              <a:t> (le plus abondant), K</a:t>
            </a:r>
            <a:r>
              <a:rPr lang="fr-CA" sz="1920" baseline="30000">
                <a:latin typeface="Arial" charset="0"/>
                <a:cs typeface="Arial" charset="0"/>
              </a:rPr>
              <a:t>+</a:t>
            </a:r>
            <a:r>
              <a:rPr lang="fr-CA" sz="1920">
                <a:latin typeface="Arial" charset="0"/>
                <a:cs typeface="Arial" charset="0"/>
              </a:rPr>
              <a:t>, Ca</a:t>
            </a:r>
            <a:r>
              <a:rPr lang="fr-CA" sz="1920" baseline="30000">
                <a:latin typeface="Arial" charset="0"/>
                <a:cs typeface="Arial" charset="0"/>
              </a:rPr>
              <a:t>2+</a:t>
            </a:r>
            <a:r>
              <a:rPr lang="fr-CA" sz="1920">
                <a:latin typeface="Arial" charset="0"/>
                <a:cs typeface="Arial" charset="0"/>
              </a:rPr>
              <a:t>, Mg</a:t>
            </a:r>
            <a:r>
              <a:rPr lang="fr-CA" sz="1920" baseline="30000">
                <a:latin typeface="Arial" charset="0"/>
                <a:cs typeface="Arial" charset="0"/>
              </a:rPr>
              <a:t>2+</a:t>
            </a:r>
            <a:r>
              <a:rPr lang="fr-CA" sz="1920">
                <a:latin typeface="Arial" charset="0"/>
                <a:cs typeface="Arial" charset="0"/>
              </a:rPr>
              <a:t>, …</a:t>
            </a:r>
          </a:p>
          <a:p>
            <a:pPr marL="1179196" lvl="2" indent="-219076">
              <a:spcAft>
                <a:spcPct val="25000"/>
              </a:spcAft>
              <a:buClr>
                <a:schemeClr val="tx1"/>
              </a:buClr>
              <a:buFontTx/>
              <a:buChar char="•"/>
            </a:pPr>
            <a:r>
              <a:rPr lang="fr-CA" sz="1920">
                <a:latin typeface="Arial" charset="0"/>
                <a:cs typeface="Arial" charset="0"/>
              </a:rPr>
              <a:t>Anions: Cl</a:t>
            </a:r>
            <a:r>
              <a:rPr lang="fr-CA" sz="1920" baseline="30000">
                <a:latin typeface="Arial" charset="0"/>
                <a:cs typeface="Arial" charset="0"/>
                <a:sym typeface="Symbol" pitchFamily="18" charset="2"/>
              </a:rPr>
              <a:t></a:t>
            </a:r>
            <a:r>
              <a:rPr lang="fr-CA" sz="1920">
                <a:latin typeface="Arial" charset="0"/>
                <a:cs typeface="Arial" charset="0"/>
              </a:rPr>
              <a:t> (le plus abondant), HCO</a:t>
            </a:r>
            <a:r>
              <a:rPr lang="fr-CA" sz="1920" baseline="-25000">
                <a:latin typeface="Arial" charset="0"/>
                <a:cs typeface="Arial" charset="0"/>
              </a:rPr>
              <a:t>3</a:t>
            </a:r>
            <a:r>
              <a:rPr lang="fr-CA" sz="1920" baseline="30000">
                <a:latin typeface="Arial" charset="0"/>
                <a:cs typeface="Arial" charset="0"/>
                <a:sym typeface="Symbol" pitchFamily="18" charset="2"/>
              </a:rPr>
              <a:t></a:t>
            </a:r>
            <a:r>
              <a:rPr lang="fr-CA" sz="1920">
                <a:latin typeface="Arial" charset="0"/>
                <a:cs typeface="Arial" charset="0"/>
              </a:rPr>
              <a:t>, H</a:t>
            </a:r>
            <a:r>
              <a:rPr lang="fr-CA" sz="1920" baseline="-25000">
                <a:latin typeface="Arial" charset="0"/>
                <a:cs typeface="Arial" charset="0"/>
              </a:rPr>
              <a:t>2</a:t>
            </a:r>
            <a:r>
              <a:rPr lang="fr-CA" sz="1920">
                <a:latin typeface="Arial" charset="0"/>
                <a:cs typeface="Arial" charset="0"/>
              </a:rPr>
              <a:t>PO</a:t>
            </a:r>
            <a:r>
              <a:rPr lang="fr-CA" sz="1920" baseline="-25000">
                <a:latin typeface="Arial" charset="0"/>
                <a:cs typeface="Arial" charset="0"/>
              </a:rPr>
              <a:t>4</a:t>
            </a:r>
            <a:r>
              <a:rPr lang="fr-CA" sz="1920" baseline="30000">
                <a:latin typeface="Arial" charset="0"/>
                <a:cs typeface="Arial" charset="0"/>
                <a:sym typeface="Symbol" pitchFamily="18" charset="2"/>
              </a:rPr>
              <a:t></a:t>
            </a:r>
            <a:r>
              <a:rPr lang="fr-CA" sz="1920">
                <a:latin typeface="Arial" charset="0"/>
                <a:cs typeface="Arial" charset="0"/>
              </a:rPr>
              <a:t>, SO</a:t>
            </a:r>
            <a:r>
              <a:rPr lang="fr-CA" sz="1920" baseline="-25000">
                <a:latin typeface="Arial" charset="0"/>
                <a:cs typeface="Arial" charset="0"/>
              </a:rPr>
              <a:t>4</a:t>
            </a:r>
            <a:r>
              <a:rPr lang="fr-CA" sz="1920" baseline="30000">
                <a:latin typeface="Arial" charset="0"/>
                <a:cs typeface="Arial" charset="0"/>
                <a:sym typeface="Symbol" pitchFamily="18" charset="2"/>
              </a:rPr>
              <a:t>2</a:t>
            </a:r>
            <a:r>
              <a:rPr lang="fr-CA" sz="1920">
                <a:latin typeface="Arial" charset="0"/>
                <a:cs typeface="Arial" charset="0"/>
              </a:rPr>
              <a:t>, …</a:t>
            </a:r>
            <a:r>
              <a:rPr lang="fr-CA" sz="1920" b="1">
                <a:latin typeface="Arial" charset="0"/>
                <a:cs typeface="Arial" charset="0"/>
              </a:rPr>
              <a:t> </a:t>
            </a:r>
          </a:p>
          <a:p>
            <a:pPr marL="744856" lvl="1" indent="-219076">
              <a:spcAft>
                <a:spcPct val="25000"/>
              </a:spcAft>
              <a:buClr>
                <a:schemeClr val="tx1"/>
              </a:buClr>
              <a:buFontTx/>
              <a:buChar char="•"/>
            </a:pPr>
            <a:r>
              <a:rPr lang="fr-CA" sz="1920" b="1">
                <a:latin typeface="Arial" charset="0"/>
                <a:cs typeface="Arial" charset="0"/>
              </a:rPr>
              <a:t>Nutriments:  </a:t>
            </a:r>
            <a:r>
              <a:rPr lang="fr-CA" sz="1920">
                <a:latin typeface="Arial" charset="0"/>
                <a:cs typeface="Arial" charset="0"/>
              </a:rPr>
              <a:t>Glucose, acides aminés, lipides, vitamines</a:t>
            </a:r>
            <a:r>
              <a:rPr lang="fr-CA" sz="1920" b="1">
                <a:latin typeface="Arial" charset="0"/>
                <a:cs typeface="Arial" charset="0"/>
              </a:rPr>
              <a:t> </a:t>
            </a:r>
          </a:p>
          <a:p>
            <a:pPr marL="744856" lvl="1" indent="-219076">
              <a:spcAft>
                <a:spcPct val="25000"/>
              </a:spcAft>
              <a:buClr>
                <a:schemeClr val="tx1"/>
              </a:buClr>
              <a:buFontTx/>
              <a:buChar char="•"/>
            </a:pPr>
            <a:r>
              <a:rPr lang="fr-CA" sz="1920" b="1">
                <a:latin typeface="Arial" charset="0"/>
                <a:cs typeface="Arial" charset="0"/>
              </a:rPr>
              <a:t>Sous-produits du métabolisme cellulaire:  </a:t>
            </a:r>
            <a:r>
              <a:rPr lang="fr-CA" sz="1920">
                <a:latin typeface="Arial" charset="0"/>
                <a:cs typeface="Arial" charset="0"/>
              </a:rPr>
              <a:t>ex.: urée, créatinine, acide lactique, …</a:t>
            </a:r>
            <a:endParaRPr lang="fr-CA" sz="1920" b="1">
              <a:latin typeface="Arial" charset="0"/>
              <a:cs typeface="Arial" charset="0"/>
            </a:endParaRPr>
          </a:p>
          <a:p>
            <a:pPr marL="744856" lvl="1" indent="-219076">
              <a:spcAft>
                <a:spcPct val="25000"/>
              </a:spcAft>
              <a:buClr>
                <a:schemeClr val="tx1"/>
              </a:buClr>
              <a:buFontTx/>
              <a:buChar char="•"/>
            </a:pPr>
            <a:r>
              <a:rPr lang="fr-CA" sz="1920" b="1">
                <a:latin typeface="Arial" charset="0"/>
                <a:cs typeface="Arial" charset="0"/>
              </a:rPr>
              <a:t>Gaz respiratoires: </a:t>
            </a:r>
            <a:r>
              <a:rPr lang="fr-CA" sz="1920">
                <a:latin typeface="Arial" charset="0"/>
                <a:cs typeface="Arial" charset="0"/>
              </a:rPr>
              <a:t>O</a:t>
            </a:r>
            <a:r>
              <a:rPr lang="fr-CA" sz="1920" baseline="-25000">
                <a:latin typeface="Arial" charset="0"/>
                <a:cs typeface="Arial" charset="0"/>
              </a:rPr>
              <a:t>2</a:t>
            </a:r>
            <a:r>
              <a:rPr lang="fr-CA" sz="1920">
                <a:latin typeface="Arial" charset="0"/>
                <a:cs typeface="Arial" charset="0"/>
              </a:rPr>
              <a:t> et CO</a:t>
            </a:r>
            <a:r>
              <a:rPr lang="fr-CA" sz="1920" baseline="-25000">
                <a:latin typeface="Arial" charset="0"/>
                <a:cs typeface="Arial" charset="0"/>
              </a:rPr>
              <a:t>2</a:t>
            </a:r>
          </a:p>
        </p:txBody>
      </p:sp>
    </p:spTree>
    <p:extLst>
      <p:ext uri="{BB962C8B-B14F-4D97-AF65-F5344CB8AC3E}">
        <p14:creationId xmlns:p14="http://schemas.microsoft.com/office/powerpoint/2010/main" val="2659399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body" sz="half" idx="1"/>
          </p:nvPr>
        </p:nvSpPr>
        <p:spPr>
          <a:xfrm>
            <a:off x="1996440" y="1630681"/>
            <a:ext cx="9797416" cy="613410"/>
          </a:xfrm>
        </p:spPr>
        <p:txBody>
          <a:bodyPr/>
          <a:lstStyle/>
          <a:p>
            <a:pPr marL="428626" indent="-428626">
              <a:spcAft>
                <a:spcPct val="0"/>
              </a:spcAft>
              <a:buNone/>
            </a:pPr>
            <a:r>
              <a:rPr lang="en-CA" sz="2880" b="1">
                <a:latin typeface="Arial" charset="0"/>
                <a:cs typeface="Arial" charset="0"/>
              </a:rPr>
              <a:t>1.</a:t>
            </a:r>
            <a:r>
              <a:rPr lang="en-CA" sz="2400" b="1">
                <a:latin typeface="Arial" charset="0"/>
                <a:cs typeface="Arial" charset="0"/>
              </a:rPr>
              <a:t>	</a:t>
            </a:r>
            <a:r>
              <a:rPr lang="fr-CA" sz="2880" b="1" u="sng">
                <a:latin typeface="Arial" charset="0"/>
                <a:cs typeface="Arial" charset="0"/>
              </a:rPr>
              <a:t>STRUCTURE ET FONCTION DES ÉRYTHROCYTES</a:t>
            </a:r>
            <a:endParaRPr lang="fr-CA" sz="2880" u="sng">
              <a:latin typeface="Arial" charset="0"/>
              <a:cs typeface="Arial" charset="0"/>
            </a:endParaRPr>
          </a:p>
        </p:txBody>
      </p:sp>
      <p:sp>
        <p:nvSpPr>
          <p:cNvPr id="6147" name="Rectangle 3"/>
          <p:cNvSpPr>
            <a:spLocks noChangeArrowheads="1"/>
          </p:cNvSpPr>
          <p:nvPr/>
        </p:nvSpPr>
        <p:spPr bwMode="auto">
          <a:xfrm>
            <a:off x="2131696" y="276226"/>
            <a:ext cx="987552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rIns="21600"/>
          <a:lstStyle/>
          <a:p>
            <a:pPr marL="864870" indent="-864870">
              <a:spcBef>
                <a:spcPct val="100000"/>
              </a:spcBef>
              <a:spcAft>
                <a:spcPct val="100000"/>
              </a:spcAft>
            </a:pPr>
            <a:r>
              <a:rPr lang="fr-CA" sz="3840" b="1" i="1" dirty="0">
                <a:solidFill>
                  <a:srgbClr val="0070C0"/>
                </a:solidFill>
                <a:latin typeface="Arial" charset="0"/>
              </a:rPr>
              <a:t>2.2	Érythrocytes:  décrire leur structure, fonction et cycle de vie</a:t>
            </a:r>
            <a:endParaRPr lang="fr-CA" sz="3600" b="1" i="1" dirty="0">
              <a:solidFill>
                <a:srgbClr val="0070C0"/>
              </a:solidFill>
              <a:latin typeface="Arial" charset="0"/>
            </a:endParaRPr>
          </a:p>
        </p:txBody>
      </p:sp>
      <p:sp>
        <p:nvSpPr>
          <p:cNvPr id="6148" name="Rectangle 4"/>
          <p:cNvSpPr>
            <a:spLocks noChangeArrowheads="1"/>
          </p:cNvSpPr>
          <p:nvPr/>
        </p:nvSpPr>
        <p:spPr bwMode="auto">
          <a:xfrm>
            <a:off x="1066800" y="2255521"/>
            <a:ext cx="6539866" cy="5634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marL="219076" indent="-219076">
              <a:spcAft>
                <a:spcPct val="10000"/>
              </a:spcAft>
              <a:buClr>
                <a:schemeClr val="tx1"/>
              </a:buClr>
              <a:buFontTx/>
              <a:buChar char="•"/>
            </a:pPr>
            <a:r>
              <a:rPr lang="fr-CA" sz="2000" b="1" dirty="0">
                <a:latin typeface="Arial Narrow" panose="020B0606020202030204" pitchFamily="34" charset="0"/>
                <a:cs typeface="Arial" charset="0"/>
              </a:rPr>
              <a:t>Structure:</a:t>
            </a:r>
            <a:endParaRPr lang="fr-CA" sz="2000" dirty="0">
              <a:latin typeface="Arial Narrow" panose="020B0606020202030204" pitchFamily="34" charset="0"/>
              <a:cs typeface="Arial" charset="0"/>
            </a:endParaRPr>
          </a:p>
          <a:p>
            <a:pPr marL="641986" lvl="1" indent="-207646">
              <a:buClr>
                <a:schemeClr val="tx1"/>
              </a:buClr>
              <a:buSzPct val="70000"/>
              <a:buFont typeface="Wingdings" pitchFamily="2" charset="2"/>
              <a:buChar char="§"/>
            </a:pPr>
            <a:r>
              <a:rPr lang="fr-CA" sz="2000" u="sng" dirty="0">
                <a:latin typeface="Arial Narrow" panose="020B0606020202030204" pitchFamily="34" charset="0"/>
                <a:cs typeface="Arial" charset="0"/>
              </a:rPr>
              <a:t>Disques biconcaves</a:t>
            </a:r>
            <a:r>
              <a:rPr lang="fr-CA" sz="2000" dirty="0">
                <a:latin typeface="Arial Narrow" panose="020B0606020202030204" pitchFamily="34" charset="0"/>
                <a:cs typeface="Arial" charset="0"/>
              </a:rPr>
              <a:t> (7-8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m de diamètre)</a:t>
            </a:r>
          </a:p>
          <a:p>
            <a:pPr marL="1175386" lvl="2" indent="-318136">
              <a:spcAft>
                <a:spcPct val="25000"/>
              </a:spcAft>
              <a:buClr>
                <a:schemeClr val="tx1"/>
              </a:buClr>
            </a:pP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grand rapport surface / volume.</a:t>
            </a:r>
          </a:p>
          <a:p>
            <a:pPr marL="641986" lvl="1" indent="-207646">
              <a:buClr>
                <a:schemeClr val="tx1"/>
              </a:buClr>
              <a:buSzPct val="70000"/>
              <a:buFont typeface="Wingdings" pitchFamily="2" charset="2"/>
              <a:buChar char="§"/>
            </a:pPr>
            <a:r>
              <a:rPr lang="fr-CA" sz="2000" u="sng" dirty="0">
                <a:latin typeface="Arial Narrow" panose="020B0606020202030204" pitchFamily="34" charset="0"/>
                <a:cs typeface="Arial" charset="0"/>
              </a:rPr>
              <a:t>Très flexibles</a:t>
            </a:r>
          </a:p>
          <a:p>
            <a:pPr marL="1175386" lvl="2" indent="-318136">
              <a:spcAft>
                <a:spcPct val="25000"/>
              </a:spcAft>
              <a:buClr>
                <a:schemeClr val="tx1"/>
              </a:buClr>
            </a:pP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peuvent se déformer et s’étirer dans les petits capillaires sanguins dont le diamètre est &lt; 8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m.</a:t>
            </a:r>
            <a:endParaRPr lang="fr-CA" sz="2000" u="sng" dirty="0">
              <a:latin typeface="Arial Narrow" panose="020B0606020202030204" pitchFamily="34" charset="0"/>
              <a:cs typeface="Arial" charset="0"/>
            </a:endParaRPr>
          </a:p>
          <a:p>
            <a:pPr marL="641986" lvl="1" indent="-207646">
              <a:buClr>
                <a:schemeClr val="tx1"/>
              </a:buClr>
              <a:buSzPct val="70000"/>
              <a:buFont typeface="Wingdings" pitchFamily="2" charset="2"/>
              <a:buChar char="§"/>
            </a:pPr>
            <a:r>
              <a:rPr lang="fr-CA" sz="2000" u="sng" dirty="0">
                <a:latin typeface="Arial Narrow" panose="020B0606020202030204" pitchFamily="34" charset="0"/>
                <a:cs typeface="Arial" charset="0"/>
              </a:rPr>
              <a:t>Anucléés</a:t>
            </a:r>
          </a:p>
          <a:p>
            <a:pPr marL="1175386" lvl="2" indent="-318136">
              <a:spcAft>
                <a:spcPct val="25000"/>
              </a:spcAft>
              <a:buClr>
                <a:schemeClr val="tx1"/>
              </a:buClr>
            </a:pP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ne peuvent pas se reproduire, ni synthétiser des protéines.</a:t>
            </a:r>
            <a:endParaRPr lang="fr-CA" sz="2000" u="sng" dirty="0">
              <a:latin typeface="Arial Narrow" panose="020B0606020202030204" pitchFamily="34" charset="0"/>
              <a:cs typeface="Arial" charset="0"/>
            </a:endParaRPr>
          </a:p>
          <a:p>
            <a:pPr marL="641986" lvl="1" indent="-207646">
              <a:buClr>
                <a:schemeClr val="tx1"/>
              </a:buClr>
              <a:buSzPct val="70000"/>
              <a:buFont typeface="Wingdings" pitchFamily="2" charset="2"/>
              <a:buChar char="§"/>
            </a:pPr>
            <a:r>
              <a:rPr lang="fr-CA" sz="2000" u="sng" dirty="0">
                <a:latin typeface="Arial Narrow" panose="020B0606020202030204" pitchFamily="34" charset="0"/>
                <a:cs typeface="Arial" charset="0"/>
              </a:rPr>
              <a:t>Sans mitochondries</a:t>
            </a:r>
          </a:p>
          <a:p>
            <a:pPr marL="1175386" lvl="2" indent="-318136">
              <a:spcAft>
                <a:spcPct val="25000"/>
              </a:spcAft>
              <a:buClr>
                <a:schemeClr val="tx1"/>
              </a:buClr>
            </a:pP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génèrent l’ATP de façon anaérobique</a:t>
            </a:r>
          </a:p>
          <a:p>
            <a:pPr marL="641986" lvl="1" indent="-207646">
              <a:spcAft>
                <a:spcPct val="50000"/>
              </a:spcAft>
              <a:buClr>
                <a:schemeClr val="tx1"/>
              </a:buClr>
              <a:buSzPct val="70000"/>
              <a:buFont typeface="Wingdings" pitchFamily="2" charset="2"/>
              <a:buChar char="§"/>
            </a:pPr>
            <a:r>
              <a:rPr lang="fr-CA" sz="2000" dirty="0">
                <a:latin typeface="Arial Narrow" panose="020B0606020202030204" pitchFamily="34" charset="0"/>
                <a:cs typeface="Arial" charset="0"/>
              </a:rPr>
              <a:t>Essentiellement des “sacs” d’hémoglobine (plus de 97% de leur poids sec est de l’hémoglobine)</a:t>
            </a:r>
            <a:endParaRPr lang="fr-CA" sz="2000" b="1" dirty="0">
              <a:latin typeface="Arial Narrow" panose="020B0606020202030204" pitchFamily="34" charset="0"/>
              <a:cs typeface="Arial" charset="0"/>
            </a:endParaRPr>
          </a:p>
          <a:p>
            <a:pPr marL="219076" indent="-219076">
              <a:buClr>
                <a:schemeClr val="tx1"/>
              </a:buClr>
              <a:buFontTx/>
              <a:buChar char="•"/>
            </a:pPr>
            <a:r>
              <a:rPr lang="fr-CA" sz="2000" b="1" dirty="0">
                <a:latin typeface="Arial Narrow" panose="020B0606020202030204" pitchFamily="34" charset="0"/>
                <a:cs typeface="Arial" charset="0"/>
              </a:rPr>
              <a:t>Fonction:</a:t>
            </a:r>
            <a:endParaRPr lang="fr-CA" sz="2000" dirty="0">
              <a:latin typeface="Arial Narrow" panose="020B0606020202030204" pitchFamily="34" charset="0"/>
              <a:cs typeface="Arial" charset="0"/>
            </a:endParaRPr>
          </a:p>
          <a:p>
            <a:pPr marL="641986" lvl="1" indent="-207646">
              <a:buClr>
                <a:schemeClr val="tx1"/>
              </a:buClr>
              <a:buSzPct val="70000"/>
              <a:buFont typeface="Wingdings" pitchFamily="2" charset="2"/>
              <a:buChar char="§"/>
            </a:pPr>
            <a:r>
              <a:rPr lang="fr-CA" sz="2000" dirty="0">
                <a:latin typeface="Arial Narrow" panose="020B0606020202030204" pitchFamily="34" charset="0"/>
                <a:cs typeface="Arial" charset="0"/>
              </a:rPr>
              <a:t>Transportent l’O</a:t>
            </a:r>
            <a:r>
              <a:rPr lang="fr-CA" sz="2000" baseline="-25000" dirty="0">
                <a:latin typeface="Arial Narrow" panose="020B0606020202030204" pitchFamily="34" charset="0"/>
                <a:cs typeface="Arial" charset="0"/>
              </a:rPr>
              <a:t>2</a:t>
            </a:r>
            <a:r>
              <a:rPr lang="fr-CA" sz="2000" dirty="0">
                <a:latin typeface="Arial Narrow" panose="020B0606020202030204" pitchFamily="34" charset="0"/>
                <a:cs typeface="Arial" charset="0"/>
              </a:rPr>
              <a:t> des poumons aux tissus; transportent le  CO</a:t>
            </a:r>
            <a:r>
              <a:rPr lang="fr-CA" sz="2000" baseline="-25000" dirty="0">
                <a:latin typeface="Arial Narrow" panose="020B0606020202030204" pitchFamily="34" charset="0"/>
                <a:cs typeface="Arial" charset="0"/>
              </a:rPr>
              <a:t>2</a:t>
            </a:r>
            <a:r>
              <a:rPr lang="fr-CA" sz="2000" dirty="0">
                <a:latin typeface="Arial Narrow" panose="020B0606020202030204" pitchFamily="34" charset="0"/>
                <a:cs typeface="Arial" charset="0"/>
              </a:rPr>
              <a:t> des tissus aux poumons.</a:t>
            </a:r>
          </a:p>
        </p:txBody>
      </p:sp>
      <p:pic>
        <p:nvPicPr>
          <p:cNvPr id="6149" name="Picture 9" descr="17-03erythrocytes_l"/>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l="6429" r="6429" b="6178"/>
          <a:stretch>
            <a:fillRect/>
          </a:stretch>
        </p:blipFill>
        <p:spPr>
          <a:xfrm>
            <a:off x="7858126" y="2327910"/>
            <a:ext cx="4631054" cy="5705476"/>
          </a:xfrm>
          <a:noFill/>
          <a:ln w="6350">
            <a:noFill/>
            <a:miter lim="800000"/>
            <a:headEnd/>
            <a:tailEnd/>
          </a:ln>
        </p:spPr>
      </p:pic>
      <p:sp>
        <p:nvSpPr>
          <p:cNvPr id="6151" name="Text Box 12"/>
          <p:cNvSpPr txBox="1">
            <a:spLocks noChangeArrowheads="1"/>
          </p:cNvSpPr>
          <p:nvPr/>
        </p:nvSpPr>
        <p:spPr bwMode="auto">
          <a:xfrm>
            <a:off x="8702041" y="3872866"/>
            <a:ext cx="2213872" cy="284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4800" tIns="12960" rIns="648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680">
                <a:latin typeface="Verdana" pitchFamily="34" charset="0"/>
              </a:rPr>
              <a:t>Coupe transversale</a:t>
            </a:r>
          </a:p>
        </p:txBody>
      </p:sp>
      <p:sp>
        <p:nvSpPr>
          <p:cNvPr id="6152" name="Text Box 13"/>
          <p:cNvSpPr txBox="1">
            <a:spLocks noChangeArrowheads="1"/>
          </p:cNvSpPr>
          <p:nvPr/>
        </p:nvSpPr>
        <p:spPr bwMode="auto">
          <a:xfrm>
            <a:off x="8766810" y="7696200"/>
            <a:ext cx="1835563" cy="284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4800" tIns="12960" rIns="6480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680">
                <a:latin typeface="Verdana" pitchFamily="34" charset="0"/>
              </a:rPr>
              <a:t>Face supérieure</a:t>
            </a:r>
          </a:p>
        </p:txBody>
      </p:sp>
      <p:sp>
        <p:nvSpPr>
          <p:cNvPr id="9" name="Text Box 5"/>
          <p:cNvSpPr txBox="1">
            <a:spLocks noChangeArrowheads="1"/>
          </p:cNvSpPr>
          <p:nvPr/>
        </p:nvSpPr>
        <p:spPr bwMode="auto">
          <a:xfrm>
            <a:off x="11590020" y="7743825"/>
            <a:ext cx="1095376" cy="350865"/>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dirty="0">
                <a:solidFill>
                  <a:schemeClr val="accent2"/>
                </a:solidFill>
                <a:latin typeface="Arial" charset="0"/>
              </a:rPr>
              <a:t>Fig. 17.3</a:t>
            </a:r>
          </a:p>
        </p:txBody>
      </p:sp>
    </p:spTree>
    <p:extLst>
      <p:ext uri="{BB962C8B-B14F-4D97-AF65-F5344CB8AC3E}">
        <p14:creationId xmlns:p14="http://schemas.microsoft.com/office/powerpoint/2010/main" val="1959510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http://cw2.erpi.com/cw/marieb/userfiles/05_Fig_17_4_p_736.jpg"/>
          <p:cNvPicPr>
            <a:picLocks noChangeAspect="1" noChangeArrowheads="1"/>
          </p:cNvPicPr>
          <p:nvPr/>
        </p:nvPicPr>
        <p:blipFill>
          <a:blip r:embed="rId3" cstate="print"/>
          <a:srcRect l="2268" t="2442" r="1890" b="13433"/>
          <a:stretch>
            <a:fillRect/>
          </a:stretch>
        </p:blipFill>
        <p:spPr bwMode="auto">
          <a:xfrm>
            <a:off x="5312771" y="3676168"/>
            <a:ext cx="7315159" cy="3974400"/>
          </a:xfrm>
          <a:prstGeom prst="rect">
            <a:avLst/>
          </a:prstGeom>
          <a:noFill/>
        </p:spPr>
      </p:pic>
      <p:sp>
        <p:nvSpPr>
          <p:cNvPr id="7170" name="Rectangle 4"/>
          <p:cNvSpPr>
            <a:spLocks noChangeArrowheads="1"/>
          </p:cNvSpPr>
          <p:nvPr/>
        </p:nvSpPr>
        <p:spPr bwMode="auto">
          <a:xfrm>
            <a:off x="1219200" y="381000"/>
            <a:ext cx="12801600" cy="316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eaLnBrk="1" hangingPunct="1">
              <a:spcAft>
                <a:spcPct val="10000"/>
              </a:spcAft>
              <a:buClr>
                <a:schemeClr val="tx1"/>
              </a:buClr>
            </a:pPr>
            <a:r>
              <a:rPr lang="fr-CA" sz="2400" b="1" dirty="0">
                <a:latin typeface="Arial Narrow" panose="020B0606020202030204" pitchFamily="34" charset="0"/>
                <a:cs typeface="Arial" charset="0"/>
              </a:rPr>
              <a:t> 2.  </a:t>
            </a:r>
            <a:r>
              <a:rPr lang="fr-CA" sz="2400" b="1" u="sng" dirty="0">
                <a:latin typeface="Arial Narrow" panose="020B0606020202030204" pitchFamily="34" charset="0"/>
                <a:cs typeface="Arial" charset="0"/>
              </a:rPr>
              <a:t>STRUCTURE DE L’HÉMOGLOBINE</a:t>
            </a:r>
            <a:r>
              <a:rPr lang="fr-CA" sz="2400" b="1" dirty="0">
                <a:latin typeface="Arial Narrow" panose="020B0606020202030204" pitchFamily="34" charset="0"/>
                <a:cs typeface="Arial" charset="0"/>
              </a:rPr>
              <a:t>:</a:t>
            </a:r>
            <a:endParaRPr lang="fr-CA" sz="2400" dirty="0">
              <a:latin typeface="Arial Narrow" panose="020B0606020202030204" pitchFamily="34" charset="0"/>
              <a:cs typeface="Arial" charset="0"/>
            </a:endParaRPr>
          </a:p>
          <a:p>
            <a:pPr marL="760096" lvl="1" indent="-207646">
              <a:spcBef>
                <a:spcPct val="20000"/>
              </a:spcBef>
              <a:spcAft>
                <a:spcPct val="10000"/>
              </a:spcAft>
              <a:buClr>
                <a:schemeClr val="tx1"/>
              </a:buClr>
              <a:buSzPct val="85000"/>
              <a:buFont typeface="Symbol" pitchFamily="18" charset="2"/>
              <a:buChar char="-"/>
            </a:pPr>
            <a:r>
              <a:rPr lang="fr-CA" sz="2400" dirty="0">
                <a:latin typeface="Arial Narrow" panose="020B0606020202030204" pitchFamily="34" charset="0"/>
                <a:cs typeface="Arial" charset="0"/>
              </a:rPr>
              <a:t>Constituées de la protéine </a:t>
            </a:r>
            <a:r>
              <a:rPr lang="fr-CA" sz="2400" i="1" dirty="0">
                <a:latin typeface="Arial Narrow" panose="020B0606020202030204" pitchFamily="34" charset="0"/>
                <a:cs typeface="Arial" charset="0"/>
              </a:rPr>
              <a:t>globine</a:t>
            </a:r>
            <a:r>
              <a:rPr lang="fr-CA" sz="2400" dirty="0">
                <a:latin typeface="Arial Narrow" panose="020B0606020202030204" pitchFamily="34" charset="0"/>
                <a:cs typeface="Arial" charset="0"/>
              </a:rPr>
              <a:t> liée à 4 groupements </a:t>
            </a:r>
            <a:r>
              <a:rPr lang="fr-CA" sz="2400" i="1" dirty="0">
                <a:latin typeface="Arial Narrow" panose="020B0606020202030204" pitchFamily="34" charset="0"/>
                <a:cs typeface="Arial" charset="0"/>
              </a:rPr>
              <a:t>hèmes</a:t>
            </a:r>
            <a:r>
              <a:rPr lang="fr-CA" sz="2400" dirty="0">
                <a:latin typeface="Arial Narrow" panose="020B0606020202030204" pitchFamily="34" charset="0"/>
                <a:cs typeface="Arial" charset="0"/>
              </a:rPr>
              <a:t>.</a:t>
            </a:r>
            <a:endParaRPr lang="fr-CA" sz="2400" i="1" dirty="0">
              <a:latin typeface="Arial Narrow" panose="020B0606020202030204" pitchFamily="34" charset="0"/>
              <a:cs typeface="Arial" charset="0"/>
            </a:endParaRPr>
          </a:p>
          <a:p>
            <a:pPr marL="1122046" lvl="2" indent="-224790">
              <a:spcAft>
                <a:spcPct val="10000"/>
              </a:spcAft>
              <a:buClr>
                <a:schemeClr val="tx1"/>
              </a:buClr>
              <a:buFontTx/>
              <a:buChar char="•"/>
            </a:pPr>
            <a:r>
              <a:rPr lang="fr-CA" sz="2400" b="1" i="1" dirty="0">
                <a:latin typeface="Arial Narrow" panose="020B0606020202030204" pitchFamily="34" charset="0"/>
                <a:cs typeface="Arial" charset="0"/>
              </a:rPr>
              <a:t>Globine</a:t>
            </a:r>
            <a:r>
              <a:rPr lang="fr-CA" sz="2400" b="1" dirty="0">
                <a:latin typeface="Arial Narrow" panose="020B0606020202030204" pitchFamily="34" charset="0"/>
                <a:cs typeface="Arial" charset="0"/>
              </a:rPr>
              <a:t>:  </a:t>
            </a:r>
            <a:r>
              <a:rPr lang="fr-CA" sz="2400" dirty="0">
                <a:latin typeface="Arial Narrow" panose="020B0606020202030204" pitchFamily="34" charset="0"/>
                <a:cs typeface="Arial" charset="0"/>
              </a:rPr>
              <a:t>Constituée de 4 chaînes polypeptidiques: 2 alpha (</a:t>
            </a:r>
            <a:r>
              <a:rPr lang="fr-CA" sz="2400" dirty="0">
                <a:latin typeface="Arial Narrow" panose="020B0606020202030204" pitchFamily="34" charset="0"/>
                <a:cs typeface="Arial" charset="0"/>
                <a:sym typeface="Symbol" pitchFamily="18" charset="2"/>
              </a:rPr>
              <a:t></a:t>
            </a:r>
            <a:r>
              <a:rPr lang="fr-CA" sz="2400" dirty="0">
                <a:latin typeface="Arial Narrow" panose="020B0606020202030204" pitchFamily="34" charset="0"/>
                <a:cs typeface="Arial" charset="0"/>
              </a:rPr>
              <a:t>) et 2 bêta (</a:t>
            </a:r>
            <a:r>
              <a:rPr lang="fr-CA" sz="2400" dirty="0">
                <a:latin typeface="Arial Narrow" panose="020B0606020202030204" pitchFamily="34" charset="0"/>
                <a:cs typeface="Arial" charset="0"/>
                <a:sym typeface="Symbol" pitchFamily="18" charset="2"/>
              </a:rPr>
              <a:t></a:t>
            </a:r>
            <a:r>
              <a:rPr lang="fr-CA" sz="2400" dirty="0">
                <a:latin typeface="Arial Narrow" panose="020B0606020202030204" pitchFamily="34" charset="0"/>
                <a:cs typeface="Arial" charset="0"/>
              </a:rPr>
              <a:t>).</a:t>
            </a:r>
          </a:p>
          <a:p>
            <a:pPr marL="1466850" lvl="3" indent="-207646">
              <a:spcAft>
                <a:spcPct val="10000"/>
              </a:spcAft>
              <a:buClr>
                <a:schemeClr val="tx1"/>
              </a:buClr>
              <a:buSzPct val="70000"/>
              <a:buFont typeface="Wingdings" pitchFamily="2" charset="2"/>
              <a:buChar char="§"/>
            </a:pPr>
            <a:r>
              <a:rPr lang="fr-CA" sz="2400" dirty="0">
                <a:latin typeface="Arial Narrow" panose="020B0606020202030204" pitchFamily="34" charset="0"/>
                <a:cs typeface="Arial" charset="0"/>
              </a:rPr>
              <a:t>Chacune des chaînes est liée à un groupement hème.</a:t>
            </a:r>
            <a:endParaRPr lang="fr-CA" sz="2400" i="1" dirty="0">
              <a:latin typeface="Arial Narrow" panose="020B0606020202030204" pitchFamily="34" charset="0"/>
              <a:cs typeface="Arial" charset="0"/>
            </a:endParaRPr>
          </a:p>
          <a:p>
            <a:pPr marL="1122046" lvl="2" indent="-224790">
              <a:spcAft>
                <a:spcPct val="10000"/>
              </a:spcAft>
              <a:buClr>
                <a:schemeClr val="tx1"/>
              </a:buClr>
              <a:buFontTx/>
              <a:buChar char="•"/>
            </a:pPr>
            <a:r>
              <a:rPr lang="fr-CA" sz="2400" b="1" i="1" dirty="0">
                <a:latin typeface="Arial Narrow" panose="020B0606020202030204" pitchFamily="34" charset="0"/>
                <a:cs typeface="Arial" charset="0"/>
              </a:rPr>
              <a:t>Hème</a:t>
            </a:r>
            <a:r>
              <a:rPr lang="fr-CA" sz="2400" b="1" dirty="0">
                <a:latin typeface="Arial Narrow" panose="020B0606020202030204" pitchFamily="34" charset="0"/>
                <a:cs typeface="Arial" charset="0"/>
              </a:rPr>
              <a:t>:  </a:t>
            </a:r>
            <a:r>
              <a:rPr lang="fr-CA" sz="2400" dirty="0">
                <a:latin typeface="Arial Narrow" panose="020B0606020202030204" pitchFamily="34" charset="0"/>
                <a:cs typeface="Arial" charset="0"/>
              </a:rPr>
              <a:t>Structure en anneau avec un ion Fe</a:t>
            </a:r>
            <a:r>
              <a:rPr lang="fr-CA" sz="2400" baseline="30000" dirty="0">
                <a:latin typeface="Arial Narrow" panose="020B0606020202030204" pitchFamily="34" charset="0"/>
                <a:cs typeface="Arial" charset="0"/>
              </a:rPr>
              <a:t>2+</a:t>
            </a:r>
            <a:r>
              <a:rPr lang="fr-CA" sz="2400" dirty="0">
                <a:latin typeface="Arial Narrow" panose="020B0606020202030204" pitchFamily="34" charset="0"/>
                <a:cs typeface="Arial" charset="0"/>
              </a:rPr>
              <a:t> en son centre.</a:t>
            </a:r>
          </a:p>
          <a:p>
            <a:pPr marL="1466850" lvl="3" indent="-207646">
              <a:spcAft>
                <a:spcPct val="10000"/>
              </a:spcAft>
              <a:buClr>
                <a:schemeClr val="tx1"/>
              </a:buClr>
              <a:buSzPct val="70000"/>
              <a:buFont typeface="Wingdings" pitchFamily="2" charset="2"/>
              <a:buChar char="§"/>
            </a:pPr>
            <a:r>
              <a:rPr lang="fr-CA" sz="2400" dirty="0">
                <a:latin typeface="Arial Narrow" panose="020B0606020202030204" pitchFamily="34" charset="0"/>
                <a:cs typeface="Arial" charset="0"/>
              </a:rPr>
              <a:t>Chaque Fe</a:t>
            </a:r>
            <a:r>
              <a:rPr lang="fr-CA" sz="2400" baseline="30000" dirty="0">
                <a:latin typeface="Arial Narrow" panose="020B0606020202030204" pitchFamily="34" charset="0"/>
                <a:cs typeface="Arial" charset="0"/>
              </a:rPr>
              <a:t>2+</a:t>
            </a:r>
            <a:r>
              <a:rPr lang="fr-CA" sz="2400" dirty="0">
                <a:latin typeface="Arial Narrow" panose="020B0606020202030204" pitchFamily="34" charset="0"/>
                <a:cs typeface="Arial" charset="0"/>
              </a:rPr>
              <a:t> peut se lier </a:t>
            </a:r>
            <a:r>
              <a:rPr lang="fr-CA" sz="2400" u="sng" dirty="0">
                <a:latin typeface="Arial Narrow" panose="020B0606020202030204" pitchFamily="34" charset="0"/>
                <a:cs typeface="Arial" charset="0"/>
              </a:rPr>
              <a:t>réversiblemen</a:t>
            </a:r>
            <a:r>
              <a:rPr lang="fr-CA" sz="2400" dirty="0">
                <a:latin typeface="Arial Narrow" panose="020B0606020202030204" pitchFamily="34" charset="0"/>
                <a:cs typeface="Arial" charset="0"/>
              </a:rPr>
              <a:t>t à une molécule d’O</a:t>
            </a:r>
            <a:r>
              <a:rPr lang="fr-CA" sz="2400" baseline="-25000" dirty="0">
                <a:latin typeface="Arial Narrow" panose="020B0606020202030204" pitchFamily="34" charset="0"/>
                <a:cs typeface="Arial" charset="0"/>
              </a:rPr>
              <a:t>2</a:t>
            </a:r>
            <a:r>
              <a:rPr lang="fr-CA" sz="2400" dirty="0">
                <a:latin typeface="Arial Narrow" panose="020B0606020202030204" pitchFamily="34" charset="0"/>
                <a:cs typeface="Arial" charset="0"/>
              </a:rPr>
              <a:t> </a:t>
            </a:r>
            <a:r>
              <a:rPr lang="fr-CA" sz="2400" dirty="0">
                <a:latin typeface="Arial Narrow" panose="020B0606020202030204" pitchFamily="34" charset="0"/>
                <a:cs typeface="Arial" charset="0"/>
                <a:sym typeface="Symbol" pitchFamily="18" charset="2"/>
              </a:rPr>
              <a:t></a:t>
            </a:r>
            <a:r>
              <a:rPr lang="fr-CA" sz="2400" dirty="0">
                <a:latin typeface="Arial Narrow" panose="020B0606020202030204" pitchFamily="34" charset="0"/>
                <a:cs typeface="Arial" charset="0"/>
              </a:rPr>
              <a:t> 4 O</a:t>
            </a:r>
            <a:r>
              <a:rPr lang="fr-CA" sz="2400" baseline="-25000" dirty="0">
                <a:latin typeface="Arial Narrow" panose="020B0606020202030204" pitchFamily="34" charset="0"/>
                <a:cs typeface="Arial" charset="0"/>
              </a:rPr>
              <a:t>2</a:t>
            </a:r>
            <a:r>
              <a:rPr lang="fr-CA" sz="2400" dirty="0">
                <a:latin typeface="Arial Narrow" panose="020B0606020202030204" pitchFamily="34" charset="0"/>
                <a:cs typeface="Arial" charset="0"/>
              </a:rPr>
              <a:t> par hémoglobine.</a:t>
            </a:r>
          </a:p>
          <a:p>
            <a:pPr marL="760096" lvl="1" indent="-207646">
              <a:spcAft>
                <a:spcPct val="10000"/>
              </a:spcAft>
              <a:buClr>
                <a:schemeClr val="tx1"/>
              </a:buClr>
              <a:buSzPct val="85000"/>
              <a:buFont typeface="Symbol" pitchFamily="18" charset="2"/>
              <a:buChar char="-"/>
            </a:pPr>
            <a:r>
              <a:rPr lang="fr-CA" sz="2400" dirty="0">
                <a:latin typeface="Arial Narrow" panose="020B0606020202030204" pitchFamily="34" charset="0"/>
                <a:cs typeface="Arial" charset="0"/>
              </a:rPr>
              <a:t>Les molécules de CO</a:t>
            </a:r>
            <a:r>
              <a:rPr lang="fr-CA" sz="2400" baseline="-25000" dirty="0">
                <a:latin typeface="Arial Narrow" panose="020B0606020202030204" pitchFamily="34" charset="0"/>
                <a:cs typeface="Arial" charset="0"/>
              </a:rPr>
              <a:t>2</a:t>
            </a:r>
            <a:r>
              <a:rPr lang="fr-CA" sz="2400" dirty="0">
                <a:latin typeface="Arial Narrow" panose="020B0606020202030204" pitchFamily="34" charset="0"/>
                <a:cs typeface="Arial" charset="0"/>
              </a:rPr>
              <a:t> peuvent aussi se lier réversiblement à l’hémoglobine, mais ils se lient aux acides aminés de la globine plutôt qu’aux hèmes.</a:t>
            </a:r>
            <a:endParaRPr lang="fr-CA" sz="2400" i="1" dirty="0">
              <a:latin typeface="Arial Narrow" panose="020B0606020202030204" pitchFamily="34" charset="0"/>
              <a:cs typeface="Arial" charset="0"/>
            </a:endParaRPr>
          </a:p>
        </p:txBody>
      </p:sp>
      <p:sp>
        <p:nvSpPr>
          <p:cNvPr id="7172" name="Text Box 5"/>
          <p:cNvSpPr txBox="1">
            <a:spLocks noChangeArrowheads="1"/>
          </p:cNvSpPr>
          <p:nvPr/>
        </p:nvSpPr>
        <p:spPr bwMode="auto">
          <a:xfrm>
            <a:off x="11590020" y="7743825"/>
            <a:ext cx="1095376" cy="350865"/>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a:solidFill>
                  <a:schemeClr val="accent2"/>
                </a:solidFill>
                <a:latin typeface="Arial" charset="0"/>
              </a:rPr>
              <a:t>Fig. 17.4</a:t>
            </a:r>
          </a:p>
        </p:txBody>
      </p:sp>
      <p:sp>
        <p:nvSpPr>
          <p:cNvPr id="7173" name="Text Box 13"/>
          <p:cNvSpPr txBox="1">
            <a:spLocks noChangeArrowheads="1"/>
          </p:cNvSpPr>
          <p:nvPr/>
        </p:nvSpPr>
        <p:spPr bwMode="auto">
          <a:xfrm>
            <a:off x="1066799" y="4038600"/>
            <a:ext cx="3962401" cy="378565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112713" indent="-112713">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buFontTx/>
              <a:buChar char="•"/>
            </a:pPr>
            <a:r>
              <a:rPr lang="fr-CA" sz="2400" b="1" i="1" dirty="0">
                <a:latin typeface="Arial Narrow" panose="020B0606020202030204" pitchFamily="34" charset="0"/>
              </a:rPr>
              <a:t>Oxyhémoglobine</a:t>
            </a:r>
          </a:p>
          <a:p>
            <a:r>
              <a:rPr lang="fr-CA" sz="2400" b="1" dirty="0">
                <a:latin typeface="Arial Narrow" panose="020B0606020202030204" pitchFamily="34" charset="0"/>
              </a:rPr>
              <a:t>	(</a:t>
            </a:r>
            <a:r>
              <a:rPr lang="fr-CA" sz="2400" b="1" i="1" dirty="0">
                <a:latin typeface="Arial Narrow" panose="020B0606020202030204" pitchFamily="34" charset="0"/>
              </a:rPr>
              <a:t>Hb-4O</a:t>
            </a:r>
            <a:r>
              <a:rPr lang="fr-CA" sz="2400" b="1" i="1" baseline="-25000" dirty="0">
                <a:latin typeface="Arial Narrow" panose="020B0606020202030204" pitchFamily="34" charset="0"/>
              </a:rPr>
              <a:t>2</a:t>
            </a:r>
            <a:r>
              <a:rPr lang="fr-CA" sz="2400" b="1" dirty="0">
                <a:latin typeface="Arial Narrow" panose="020B0606020202030204" pitchFamily="34" charset="0"/>
              </a:rPr>
              <a:t>):</a:t>
            </a:r>
          </a:p>
          <a:p>
            <a:r>
              <a:rPr lang="fr-CA" sz="2400" dirty="0">
                <a:latin typeface="Arial Narrow" panose="020B0606020202030204" pitchFamily="34" charset="0"/>
              </a:rPr>
              <a:t>	Hémoglobine liée à l’O</a:t>
            </a:r>
            <a:r>
              <a:rPr lang="fr-CA" sz="2400" baseline="-25000" dirty="0">
                <a:latin typeface="Arial Narrow" panose="020B0606020202030204" pitchFamily="34" charset="0"/>
              </a:rPr>
              <a:t>2</a:t>
            </a:r>
          </a:p>
          <a:p>
            <a:pPr>
              <a:spcBef>
                <a:spcPct val="50000"/>
              </a:spcBef>
              <a:buFontTx/>
              <a:buChar char="•"/>
            </a:pPr>
            <a:r>
              <a:rPr lang="fr-CA" sz="2400" b="1" i="1" dirty="0" err="1">
                <a:latin typeface="Arial Narrow" panose="020B0606020202030204" pitchFamily="34" charset="0"/>
              </a:rPr>
              <a:t>Désoxyhémoglobine</a:t>
            </a:r>
            <a:endParaRPr lang="fr-CA" sz="2400" b="1" i="1" dirty="0">
              <a:latin typeface="Arial Narrow" panose="020B0606020202030204" pitchFamily="34" charset="0"/>
            </a:endParaRPr>
          </a:p>
          <a:p>
            <a:r>
              <a:rPr lang="fr-CA" sz="2400" b="1" dirty="0">
                <a:latin typeface="Arial Narrow" panose="020B0606020202030204" pitchFamily="34" charset="0"/>
              </a:rPr>
              <a:t>	(</a:t>
            </a:r>
            <a:r>
              <a:rPr lang="fr-CA" sz="2400" b="1" i="1" dirty="0" err="1">
                <a:latin typeface="Arial Narrow" panose="020B0606020202030204" pitchFamily="34" charset="0"/>
              </a:rPr>
              <a:t>Hb</a:t>
            </a:r>
            <a:r>
              <a:rPr lang="fr-CA" sz="2400" b="1" dirty="0">
                <a:latin typeface="Arial Narrow" panose="020B0606020202030204" pitchFamily="34" charset="0"/>
              </a:rPr>
              <a:t>):</a:t>
            </a:r>
          </a:p>
          <a:p>
            <a:r>
              <a:rPr lang="fr-CA" sz="2400" dirty="0">
                <a:latin typeface="Arial Narrow" panose="020B0606020202030204" pitchFamily="34" charset="0"/>
              </a:rPr>
              <a:t>	Hémoglobine sans O</a:t>
            </a:r>
            <a:r>
              <a:rPr lang="fr-CA" sz="2400" baseline="-25000" dirty="0">
                <a:latin typeface="Arial Narrow" panose="020B0606020202030204" pitchFamily="34" charset="0"/>
              </a:rPr>
              <a:t>2</a:t>
            </a:r>
            <a:endParaRPr lang="fr-CA" sz="2400" dirty="0">
              <a:latin typeface="Arial Narrow" panose="020B0606020202030204" pitchFamily="34" charset="0"/>
            </a:endParaRPr>
          </a:p>
          <a:p>
            <a:pPr>
              <a:spcBef>
                <a:spcPct val="50000"/>
              </a:spcBef>
              <a:buFontTx/>
              <a:buChar char="•"/>
            </a:pPr>
            <a:r>
              <a:rPr lang="fr-CA" sz="2400" b="1" i="1" dirty="0">
                <a:latin typeface="Arial Narrow" panose="020B0606020202030204" pitchFamily="34" charset="0"/>
              </a:rPr>
              <a:t>Carbhémoglobine</a:t>
            </a:r>
          </a:p>
          <a:p>
            <a:r>
              <a:rPr lang="fr-CA" sz="2400" b="1" dirty="0">
                <a:latin typeface="Arial Narrow" panose="020B0606020202030204" pitchFamily="34" charset="0"/>
              </a:rPr>
              <a:t>	(Hb-CO</a:t>
            </a:r>
            <a:r>
              <a:rPr lang="fr-CA" sz="2400" b="1" baseline="-25000" dirty="0">
                <a:latin typeface="Arial Narrow" panose="020B0606020202030204" pitchFamily="34" charset="0"/>
              </a:rPr>
              <a:t>2</a:t>
            </a:r>
            <a:r>
              <a:rPr lang="fr-CA" sz="2400" b="1" dirty="0">
                <a:latin typeface="Arial Narrow" panose="020B0606020202030204" pitchFamily="34" charset="0"/>
              </a:rPr>
              <a:t>):</a:t>
            </a:r>
          </a:p>
          <a:p>
            <a:r>
              <a:rPr lang="fr-CA" sz="2400" dirty="0">
                <a:latin typeface="Arial Narrow" panose="020B0606020202030204" pitchFamily="34" charset="0"/>
              </a:rPr>
              <a:t>	Hémoglobine liée au CO</a:t>
            </a:r>
            <a:r>
              <a:rPr lang="fr-CA" sz="2400" baseline="-25000" dirty="0">
                <a:latin typeface="Arial Narrow" panose="020B0606020202030204" pitchFamily="34" charset="0"/>
              </a:rPr>
              <a:t>2</a:t>
            </a:r>
            <a:endParaRPr lang="en-US" sz="2400" i="1" dirty="0">
              <a:latin typeface="Arial Narrow" panose="020B0606020202030204" pitchFamily="34" charset="0"/>
            </a:endParaRPr>
          </a:p>
        </p:txBody>
      </p:sp>
    </p:spTree>
    <p:extLst>
      <p:ext uri="{BB962C8B-B14F-4D97-AF65-F5344CB8AC3E}">
        <p14:creationId xmlns:p14="http://schemas.microsoft.com/office/powerpoint/2010/main" val="433557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sz="half" idx="1"/>
          </p:nvPr>
        </p:nvSpPr>
        <p:spPr>
          <a:xfrm>
            <a:off x="2017396" y="358140"/>
            <a:ext cx="10784204" cy="565786"/>
          </a:xfrm>
        </p:spPr>
        <p:txBody>
          <a:bodyPr/>
          <a:lstStyle/>
          <a:p>
            <a:pPr marL="470536" indent="-470536">
              <a:lnSpc>
                <a:spcPct val="90000"/>
              </a:lnSpc>
              <a:spcAft>
                <a:spcPct val="0"/>
              </a:spcAft>
              <a:buNone/>
            </a:pPr>
            <a:r>
              <a:rPr lang="en-CA" sz="2880" b="1">
                <a:latin typeface="Arial" charset="0"/>
                <a:cs typeface="Arial" charset="0"/>
              </a:rPr>
              <a:t>3.	</a:t>
            </a:r>
            <a:r>
              <a:rPr lang="en-CA" sz="2880" b="1" u="sng">
                <a:latin typeface="Arial" charset="0"/>
                <a:cs typeface="Arial" charset="0"/>
              </a:rPr>
              <a:t>PRODUCTION DES ÉLÉMENTS FIGURÉS</a:t>
            </a:r>
            <a:endParaRPr lang="en-CA" sz="2880" u="sng">
              <a:latin typeface="Arial" charset="0"/>
              <a:cs typeface="Arial" charset="0"/>
            </a:endParaRPr>
          </a:p>
        </p:txBody>
      </p:sp>
      <p:sp>
        <p:nvSpPr>
          <p:cNvPr id="8195" name="Rectangle 12"/>
          <p:cNvSpPr>
            <a:spLocks noChangeArrowheads="1"/>
          </p:cNvSpPr>
          <p:nvPr/>
        </p:nvSpPr>
        <p:spPr bwMode="auto">
          <a:xfrm>
            <a:off x="1689734" y="6069330"/>
            <a:ext cx="10502266" cy="170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12960" rIns="0" bIns="12960"/>
          <a:lstStyle/>
          <a:p>
            <a:pPr marL="219076" indent="-219076">
              <a:buClr>
                <a:schemeClr val="tx1"/>
              </a:buClr>
              <a:buFontTx/>
              <a:buChar char="•"/>
            </a:pPr>
            <a:r>
              <a:rPr lang="fr-CA" sz="2000" b="1" i="1" dirty="0">
                <a:latin typeface="Arial Narrow" panose="020B0606020202030204" pitchFamily="34" charset="0"/>
                <a:cs typeface="Arial" charset="0"/>
              </a:rPr>
              <a:t>Réticulocytes</a:t>
            </a:r>
            <a:r>
              <a:rPr lang="fr-CA" sz="2000" b="1" dirty="0">
                <a:latin typeface="Arial Narrow" panose="020B0606020202030204" pitchFamily="34" charset="0"/>
                <a:cs typeface="Arial" charset="0"/>
              </a:rPr>
              <a:t>: </a:t>
            </a:r>
            <a:r>
              <a:rPr lang="fr-CA" sz="2000" dirty="0">
                <a:latin typeface="Arial Narrow" panose="020B0606020202030204" pitchFamily="34" charset="0"/>
                <a:cs typeface="Arial" charset="0"/>
              </a:rPr>
              <a:t>jeunes érythrocytes qui entrent dans la circulation sanguine;</a:t>
            </a:r>
            <a:r>
              <a:rPr lang="fr-CA" sz="2000" b="1" dirty="0">
                <a:latin typeface="Arial Narrow" panose="020B0606020202030204" pitchFamily="34" charset="0"/>
                <a:cs typeface="Arial" charset="0"/>
              </a:rPr>
              <a:t> </a:t>
            </a:r>
            <a:r>
              <a:rPr lang="fr-CA" sz="2000" dirty="0">
                <a:latin typeface="Arial Narrow" panose="020B0606020202030204" pitchFamily="34" charset="0"/>
                <a:cs typeface="Arial" charset="0"/>
              </a:rPr>
              <a:t>cellules anucléées qui contiennent encore certains organites (ribosomes, RE rugueux).</a:t>
            </a:r>
          </a:p>
          <a:p>
            <a:pPr marL="641986" lvl="1" indent="-207646">
              <a:spcAft>
                <a:spcPct val="25000"/>
              </a:spcAft>
              <a:buClr>
                <a:schemeClr val="tx1"/>
              </a:buClr>
              <a:buSzPct val="70000"/>
              <a:buFont typeface="Wingdings" pitchFamily="2" charset="2"/>
              <a:buChar char="§"/>
            </a:pPr>
            <a:r>
              <a:rPr lang="fr-CA" sz="2000" dirty="0">
                <a:latin typeface="Arial Narrow" panose="020B0606020202030204" pitchFamily="34" charset="0"/>
                <a:cs typeface="Arial" charset="0"/>
              </a:rPr>
              <a:t>Atteignent leur pleine maturité (i.e. deviennent des érythrocytes) après 1 à 2 jours.</a:t>
            </a:r>
          </a:p>
          <a:p>
            <a:pPr marL="219076" indent="-219076">
              <a:spcAft>
                <a:spcPct val="25000"/>
              </a:spcAft>
              <a:buClr>
                <a:schemeClr val="tx1"/>
              </a:buClr>
              <a:buFontTx/>
              <a:buChar char="•"/>
            </a:pPr>
            <a:r>
              <a:rPr lang="fr-CA" sz="2000" dirty="0">
                <a:latin typeface="Arial Narrow" panose="020B0606020202030204" pitchFamily="34" charset="0"/>
                <a:cs typeface="Arial" charset="0"/>
              </a:rPr>
              <a:t>Durée de l’érythropoïèse (du proérythroblaste au réticulocyte): 5 à 7 jours</a:t>
            </a:r>
          </a:p>
          <a:p>
            <a:pPr marL="219076" indent="-219076">
              <a:buClr>
                <a:schemeClr val="tx1"/>
              </a:buClr>
              <a:buFontTx/>
              <a:buChar char="•"/>
            </a:pPr>
            <a:r>
              <a:rPr lang="fr-CA" sz="2000" dirty="0">
                <a:latin typeface="Arial Narrow" panose="020B0606020202030204" pitchFamily="34" charset="0"/>
                <a:cs typeface="Arial" charset="0"/>
              </a:rPr>
              <a:t>Vitesse de la production d’érythrocytes: environ 200x10</a:t>
            </a:r>
            <a:r>
              <a:rPr lang="fr-CA" sz="2000" baseline="30000" dirty="0">
                <a:latin typeface="Arial Narrow" panose="020B0606020202030204" pitchFamily="34" charset="0"/>
                <a:cs typeface="Arial" charset="0"/>
              </a:rPr>
              <a:t>9</a:t>
            </a:r>
            <a:r>
              <a:rPr lang="fr-CA" sz="2000" dirty="0">
                <a:latin typeface="Arial Narrow" panose="020B0606020202030204" pitchFamily="34" charset="0"/>
                <a:cs typeface="Arial" charset="0"/>
              </a:rPr>
              <a:t> par jour; = 2,5 millions par seconde!</a:t>
            </a:r>
          </a:p>
        </p:txBody>
      </p:sp>
      <p:sp>
        <p:nvSpPr>
          <p:cNvPr id="8196" name="Text Box 6"/>
          <p:cNvSpPr txBox="1">
            <a:spLocks noChangeArrowheads="1"/>
          </p:cNvSpPr>
          <p:nvPr/>
        </p:nvSpPr>
        <p:spPr bwMode="auto">
          <a:xfrm>
            <a:off x="13119736" y="5915025"/>
            <a:ext cx="1434464"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en-US" sz="1680" b="1" dirty="0">
                <a:solidFill>
                  <a:schemeClr val="accent2"/>
                </a:solidFill>
                <a:latin typeface="Arial" charset="0"/>
              </a:rPr>
              <a:t>Figure 17.5</a:t>
            </a:r>
          </a:p>
        </p:txBody>
      </p:sp>
      <p:grpSp>
        <p:nvGrpSpPr>
          <p:cNvPr id="8197" name="Group 30"/>
          <p:cNvGrpSpPr>
            <a:grpSpLocks/>
          </p:cNvGrpSpPr>
          <p:nvPr/>
        </p:nvGrpSpPr>
        <p:grpSpPr bwMode="auto">
          <a:xfrm>
            <a:off x="1371600" y="3061337"/>
            <a:ext cx="12192000" cy="2948941"/>
            <a:chOff x="0" y="1607"/>
            <a:chExt cx="5760" cy="1548"/>
          </a:xfrm>
        </p:grpSpPr>
        <p:pic>
          <p:nvPicPr>
            <p:cNvPr id="8199" name="Picture 17" descr="17-05Erythropoiesis_UN.jpg"/>
            <p:cNvPicPr>
              <a:picLocks noChangeAspect="1" noChangeArrowheads="1"/>
            </p:cNvPicPr>
            <p:nvPr/>
          </p:nvPicPr>
          <p:blipFill>
            <a:blip r:embed="rId3" cstate="print">
              <a:extLst>
                <a:ext uri="{28A0092B-C50C-407E-A947-70E740481C1C}">
                  <a14:useLocalDpi xmlns:a14="http://schemas.microsoft.com/office/drawing/2010/main" val="0"/>
                </a:ext>
              </a:extLst>
            </a:blip>
            <a:srcRect b="9868"/>
            <a:stretch>
              <a:fillRect/>
            </a:stretch>
          </p:blipFill>
          <p:spPr bwMode="auto">
            <a:xfrm>
              <a:off x="0" y="1607"/>
              <a:ext cx="5760" cy="1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Text Box 18"/>
            <p:cNvSpPr txBox="1">
              <a:spLocks noChangeArrowheads="1"/>
            </p:cNvSpPr>
            <p:nvPr/>
          </p:nvSpPr>
          <p:spPr bwMode="auto">
            <a:xfrm>
              <a:off x="1985" y="1880"/>
              <a:ext cx="101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080" b="1">
                  <a:latin typeface="Verdana" pitchFamily="34" charset="0"/>
                </a:rPr>
                <a:t>Phase 1</a:t>
              </a:r>
            </a:p>
            <a:p>
              <a:r>
                <a:rPr lang="fr-CA" sz="1080">
                  <a:latin typeface="Verdana" pitchFamily="34" charset="0"/>
                </a:rPr>
                <a:t>Synthèse des ribosomes</a:t>
              </a:r>
            </a:p>
          </p:txBody>
        </p:sp>
        <p:sp>
          <p:nvSpPr>
            <p:cNvPr id="8201" name="Text Box 19"/>
            <p:cNvSpPr txBox="1">
              <a:spLocks noChangeArrowheads="1"/>
            </p:cNvSpPr>
            <p:nvPr/>
          </p:nvSpPr>
          <p:spPr bwMode="auto">
            <a:xfrm>
              <a:off x="3044" y="1904"/>
              <a:ext cx="106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080" b="1">
                  <a:latin typeface="Verdana" pitchFamily="34" charset="0"/>
                </a:rPr>
                <a:t>Phase 2</a:t>
              </a:r>
            </a:p>
            <a:p>
              <a:r>
                <a:rPr lang="fr-CA" sz="1080">
                  <a:latin typeface="Verdana" pitchFamily="34" charset="0"/>
                </a:rPr>
                <a:t>Accumulation d’hémoglobine</a:t>
              </a:r>
            </a:p>
          </p:txBody>
        </p:sp>
        <p:sp>
          <p:nvSpPr>
            <p:cNvPr id="8202" name="Text Box 20"/>
            <p:cNvSpPr txBox="1">
              <a:spLocks noChangeArrowheads="1"/>
            </p:cNvSpPr>
            <p:nvPr/>
          </p:nvSpPr>
          <p:spPr bwMode="auto">
            <a:xfrm>
              <a:off x="4292" y="1901"/>
              <a:ext cx="67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080" b="1">
                  <a:latin typeface="Verdana" pitchFamily="34" charset="0"/>
                </a:rPr>
                <a:t>Phase 3</a:t>
              </a:r>
            </a:p>
            <a:p>
              <a:r>
                <a:rPr lang="fr-CA" sz="1080">
                  <a:latin typeface="Verdana" pitchFamily="34" charset="0"/>
                </a:rPr>
                <a:t>Éjection du noyau</a:t>
              </a:r>
            </a:p>
          </p:txBody>
        </p:sp>
        <p:sp>
          <p:nvSpPr>
            <p:cNvPr id="8203" name="Text Box 21"/>
            <p:cNvSpPr txBox="1">
              <a:spLocks noChangeArrowheads="1"/>
            </p:cNvSpPr>
            <p:nvPr/>
          </p:nvSpPr>
          <p:spPr bwMode="auto">
            <a:xfrm>
              <a:off x="212" y="1781"/>
              <a:ext cx="677"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a:latin typeface="Verdana" pitchFamily="34" charset="0"/>
                </a:rPr>
                <a:t>Cellule souche</a:t>
              </a:r>
            </a:p>
          </p:txBody>
        </p:sp>
        <p:sp>
          <p:nvSpPr>
            <p:cNvPr id="8204" name="Text Box 22"/>
            <p:cNvSpPr txBox="1">
              <a:spLocks noChangeArrowheads="1"/>
            </p:cNvSpPr>
            <p:nvPr/>
          </p:nvSpPr>
          <p:spPr bwMode="auto">
            <a:xfrm>
              <a:off x="1127" y="1778"/>
              <a:ext cx="67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a:latin typeface="Verdana" pitchFamily="34" charset="0"/>
                </a:rPr>
                <a:t>Précurseur des érythrocytes</a:t>
              </a:r>
            </a:p>
          </p:txBody>
        </p:sp>
        <p:sp>
          <p:nvSpPr>
            <p:cNvPr id="8205" name="Text Box 23"/>
            <p:cNvSpPr txBox="1">
              <a:spLocks noChangeArrowheads="1"/>
            </p:cNvSpPr>
            <p:nvPr/>
          </p:nvSpPr>
          <p:spPr bwMode="auto">
            <a:xfrm>
              <a:off x="2060" y="1739"/>
              <a:ext cx="1136"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a:latin typeface="Verdana" pitchFamily="34" charset="0"/>
                </a:rPr>
                <a:t>Différenciation cellulaire</a:t>
              </a:r>
            </a:p>
          </p:txBody>
        </p:sp>
        <p:sp>
          <p:nvSpPr>
            <p:cNvPr id="8206" name="Text Box 24"/>
            <p:cNvSpPr txBox="1">
              <a:spLocks noChangeArrowheads="1"/>
            </p:cNvSpPr>
            <p:nvPr/>
          </p:nvSpPr>
          <p:spPr bwMode="auto">
            <a:xfrm>
              <a:off x="206" y="2918"/>
              <a:ext cx="71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Hémocytoblaste</a:t>
              </a:r>
            </a:p>
          </p:txBody>
        </p:sp>
        <p:sp>
          <p:nvSpPr>
            <p:cNvPr id="8207" name="Text Box 25"/>
            <p:cNvSpPr txBox="1">
              <a:spLocks noChangeArrowheads="1"/>
            </p:cNvSpPr>
            <p:nvPr/>
          </p:nvSpPr>
          <p:spPr bwMode="auto">
            <a:xfrm>
              <a:off x="1094" y="2924"/>
              <a:ext cx="78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Proérythtroblaste</a:t>
              </a:r>
            </a:p>
          </p:txBody>
        </p:sp>
        <p:sp>
          <p:nvSpPr>
            <p:cNvPr id="8208" name="Text Box 26"/>
            <p:cNvSpPr txBox="1">
              <a:spLocks noChangeArrowheads="1"/>
            </p:cNvSpPr>
            <p:nvPr/>
          </p:nvSpPr>
          <p:spPr bwMode="auto">
            <a:xfrm>
              <a:off x="2864" y="2930"/>
              <a:ext cx="71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Érythtroblastes</a:t>
              </a:r>
            </a:p>
          </p:txBody>
        </p:sp>
        <p:sp>
          <p:nvSpPr>
            <p:cNvPr id="8209" name="Text Box 27"/>
            <p:cNvSpPr txBox="1">
              <a:spLocks noChangeArrowheads="1"/>
            </p:cNvSpPr>
            <p:nvPr/>
          </p:nvSpPr>
          <p:spPr bwMode="auto">
            <a:xfrm>
              <a:off x="4607" y="2909"/>
              <a:ext cx="569"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Réticulocyte</a:t>
              </a:r>
            </a:p>
          </p:txBody>
        </p:sp>
        <p:sp>
          <p:nvSpPr>
            <p:cNvPr id="8210" name="Text Box 28"/>
            <p:cNvSpPr txBox="1">
              <a:spLocks noChangeArrowheads="1"/>
            </p:cNvSpPr>
            <p:nvPr/>
          </p:nvSpPr>
          <p:spPr bwMode="auto">
            <a:xfrm>
              <a:off x="5252" y="2861"/>
              <a:ext cx="380"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Érythro-cyte</a:t>
              </a:r>
            </a:p>
          </p:txBody>
        </p:sp>
      </p:grpSp>
      <p:sp>
        <p:nvSpPr>
          <p:cNvPr id="8198" name="Rectangle 4"/>
          <p:cNvSpPr>
            <a:spLocks noChangeArrowheads="1"/>
          </p:cNvSpPr>
          <p:nvPr/>
        </p:nvSpPr>
        <p:spPr bwMode="auto">
          <a:xfrm>
            <a:off x="1066800" y="809626"/>
            <a:ext cx="12573000" cy="226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marL="219076" indent="-219076">
              <a:buClr>
                <a:schemeClr val="tx1"/>
              </a:buClr>
              <a:buFontTx/>
              <a:buChar char="•"/>
            </a:pPr>
            <a:r>
              <a:rPr lang="fr-CA" sz="2000" b="1" i="1" dirty="0">
                <a:latin typeface="Arial Narrow" panose="020B0606020202030204" pitchFamily="34" charset="0"/>
                <a:cs typeface="Arial" charset="0"/>
              </a:rPr>
              <a:t>Hématopoïèse</a:t>
            </a:r>
            <a:r>
              <a:rPr lang="fr-CA" sz="2000" b="1" dirty="0">
                <a:latin typeface="Arial Narrow" panose="020B0606020202030204" pitchFamily="34" charset="0"/>
                <a:cs typeface="Arial" charset="0"/>
              </a:rPr>
              <a:t>: </a:t>
            </a:r>
            <a:r>
              <a:rPr lang="fr-CA" sz="2000" dirty="0">
                <a:latin typeface="Arial Narrow" panose="020B0606020202030204" pitchFamily="34" charset="0"/>
                <a:cs typeface="Arial" charset="0"/>
              </a:rPr>
              <a:t>production des cellules sanguines; dans la </a:t>
            </a:r>
            <a:r>
              <a:rPr lang="fr-CA" sz="2000" u="sng" dirty="0">
                <a:latin typeface="Arial Narrow" panose="020B0606020202030204" pitchFamily="34" charset="0"/>
                <a:cs typeface="Arial" charset="0"/>
              </a:rPr>
              <a:t>moelle osseuse rouge des os</a:t>
            </a:r>
          </a:p>
          <a:p>
            <a:pPr marL="219076" indent="-219076">
              <a:buClr>
                <a:schemeClr val="tx1"/>
              </a:buClr>
              <a:buFontTx/>
              <a:buChar char="•"/>
            </a:pPr>
            <a:r>
              <a:rPr lang="fr-CA" sz="2000" b="1" i="1" dirty="0" err="1">
                <a:latin typeface="Arial Narrow" panose="020B0606020202030204" pitchFamily="34" charset="0"/>
                <a:cs typeface="Arial" charset="0"/>
              </a:rPr>
              <a:t>Hémocytoblaste</a:t>
            </a:r>
            <a:r>
              <a:rPr lang="fr-CA" sz="2000" b="1" dirty="0">
                <a:latin typeface="Arial Narrow" panose="020B0606020202030204" pitchFamily="34" charset="0"/>
                <a:cs typeface="Arial" charset="0"/>
              </a:rPr>
              <a:t>: </a:t>
            </a:r>
            <a:r>
              <a:rPr lang="fr-CA" sz="2000" dirty="0">
                <a:latin typeface="Arial Narrow" panose="020B0606020202030204" pitchFamily="34" charset="0"/>
                <a:cs typeface="Arial" charset="0"/>
              </a:rPr>
              <a:t>cellule souche de </a:t>
            </a:r>
            <a:r>
              <a:rPr lang="fr-CA" sz="2000" u="sng" dirty="0">
                <a:latin typeface="Arial Narrow" panose="020B0606020202030204" pitchFamily="34" charset="0"/>
                <a:cs typeface="Arial" charset="0"/>
              </a:rPr>
              <a:t>tous</a:t>
            </a:r>
            <a:r>
              <a:rPr lang="fr-CA" sz="2000" dirty="0">
                <a:latin typeface="Arial Narrow" panose="020B0606020202030204" pitchFamily="34" charset="0"/>
                <a:cs typeface="Arial" charset="0"/>
              </a:rPr>
              <a:t> les éléments figurés (G.R., G.B., plaquettes)</a:t>
            </a:r>
            <a:endParaRPr lang="fr-CA" sz="2000" b="1" i="1" dirty="0">
              <a:latin typeface="Arial Narrow" panose="020B0606020202030204" pitchFamily="34" charset="0"/>
              <a:cs typeface="Arial" charset="0"/>
            </a:endParaRPr>
          </a:p>
          <a:p>
            <a:pPr marL="219076" indent="-219076">
              <a:spcAft>
                <a:spcPct val="50000"/>
              </a:spcAft>
              <a:buClr>
                <a:schemeClr val="tx1"/>
              </a:buClr>
              <a:buFontTx/>
              <a:buChar char="•"/>
            </a:pPr>
            <a:r>
              <a:rPr lang="fr-CA" sz="2000" b="1" i="1" dirty="0">
                <a:latin typeface="Arial Narrow" panose="020B0606020202030204" pitchFamily="34" charset="0"/>
                <a:cs typeface="Arial" charset="0"/>
              </a:rPr>
              <a:t>Érythropoïèse</a:t>
            </a:r>
            <a:r>
              <a:rPr lang="fr-CA" sz="2000" b="1" dirty="0">
                <a:latin typeface="Arial Narrow" panose="020B0606020202030204" pitchFamily="34" charset="0"/>
                <a:cs typeface="Arial" charset="0"/>
              </a:rPr>
              <a:t>: </a:t>
            </a:r>
            <a:r>
              <a:rPr lang="fr-CA" sz="2000" dirty="0">
                <a:latin typeface="Arial Narrow" panose="020B0606020202030204" pitchFamily="34" charset="0"/>
                <a:cs typeface="Arial" charset="0"/>
              </a:rPr>
              <a:t>production des globules rouges</a:t>
            </a:r>
            <a:endParaRPr lang="fr-CA" sz="2000" u="sng" dirty="0">
              <a:latin typeface="Arial Narrow" panose="020B0606020202030204" pitchFamily="34" charset="0"/>
              <a:cs typeface="Arial" charset="0"/>
            </a:endParaRPr>
          </a:p>
          <a:p>
            <a:pPr marL="219076" indent="-219076">
              <a:spcAft>
                <a:spcPct val="10000"/>
              </a:spcAft>
              <a:buClr>
                <a:schemeClr val="tx1"/>
              </a:buClr>
              <a:buFontTx/>
              <a:buChar char="•"/>
            </a:pPr>
            <a:r>
              <a:rPr lang="fr-CA" sz="2000" b="1" u="sng" dirty="0">
                <a:latin typeface="Arial Narrow" panose="020B0606020202030204" pitchFamily="34" charset="0"/>
                <a:cs typeface="Arial" charset="0"/>
              </a:rPr>
              <a:t>Étapes de l’érythropoïèse</a:t>
            </a:r>
            <a:r>
              <a:rPr lang="fr-CA" sz="2000" b="1" dirty="0">
                <a:latin typeface="Arial Narrow" panose="020B0606020202030204" pitchFamily="34" charset="0"/>
                <a:cs typeface="Arial" charset="0"/>
              </a:rPr>
              <a:t>:</a:t>
            </a:r>
          </a:p>
          <a:p>
            <a:pPr marL="641986" lvl="1" indent="-207646">
              <a:spcAft>
                <a:spcPct val="10000"/>
              </a:spcAft>
              <a:buClr>
                <a:schemeClr val="tx1"/>
              </a:buClr>
              <a:buSzPct val="70000"/>
              <a:buFont typeface="Wingdings" pitchFamily="2" charset="2"/>
              <a:buChar char="§"/>
            </a:pPr>
            <a:r>
              <a:rPr lang="fr-CA" sz="2000" dirty="0" err="1">
                <a:latin typeface="Arial Narrow" panose="020B0606020202030204" pitchFamily="34" charset="0"/>
                <a:cs typeface="Arial" charset="0"/>
              </a:rPr>
              <a:t>Hémocytoblaste</a:t>
            </a:r>
            <a:r>
              <a:rPr lang="fr-CA" sz="2000" dirty="0">
                <a:latin typeface="Arial Narrow" panose="020B0606020202030204" pitchFamily="34" charset="0"/>
                <a:cs typeface="Arial" charset="0"/>
              </a:rPr>
              <a:t>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a:t>
            </a:r>
            <a:r>
              <a:rPr lang="fr-CA" sz="2000" i="1" dirty="0">
                <a:latin typeface="Arial Narrow" panose="020B0606020202030204" pitchFamily="34" charset="0"/>
                <a:cs typeface="Arial" charset="0"/>
              </a:rPr>
              <a:t>cellule souche myéloïde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a:t>
            </a:r>
            <a:r>
              <a:rPr lang="fr-CA" sz="2000" i="1" dirty="0">
                <a:latin typeface="Arial Narrow" panose="020B0606020202030204" pitchFamily="34" charset="0"/>
                <a:cs typeface="Arial" charset="0"/>
              </a:rPr>
              <a:t> proérythroblaste</a:t>
            </a:r>
            <a:r>
              <a:rPr lang="fr-CA" sz="2000" dirty="0">
                <a:latin typeface="Arial Narrow" panose="020B0606020202030204" pitchFamily="34" charset="0"/>
                <a:cs typeface="Arial" charset="0"/>
              </a:rPr>
              <a:t>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a:t>
            </a:r>
            <a:r>
              <a:rPr lang="fr-CA" sz="2000" i="1" dirty="0">
                <a:latin typeface="Arial Narrow" panose="020B0606020202030204" pitchFamily="34" charset="0"/>
                <a:cs typeface="Arial" charset="0"/>
              </a:rPr>
              <a:t>érythroblaste</a:t>
            </a:r>
          </a:p>
          <a:p>
            <a:pPr marL="641986" lvl="1" indent="-207646">
              <a:buClr>
                <a:schemeClr val="tx1"/>
              </a:buClr>
              <a:buSzPct val="70000"/>
              <a:buFont typeface="Wingdings" pitchFamily="2" charset="2"/>
              <a:buChar char="§"/>
            </a:pPr>
            <a:r>
              <a:rPr lang="fr-CA" sz="2000" dirty="0">
                <a:latin typeface="Arial Narrow" panose="020B0606020202030204" pitchFamily="34" charset="0"/>
                <a:cs typeface="Arial" charset="0"/>
              </a:rPr>
              <a:t>Érythroblaste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a:t>
            </a:r>
            <a:r>
              <a:rPr lang="fr-CA" sz="2000" i="1" dirty="0">
                <a:latin typeface="Arial Narrow" panose="020B0606020202030204" pitchFamily="34" charset="0"/>
                <a:cs typeface="Arial" charset="0"/>
              </a:rPr>
              <a:t>réticulocyte</a:t>
            </a:r>
            <a:r>
              <a:rPr lang="fr-CA" sz="2000" dirty="0">
                <a:latin typeface="Arial Narrow" panose="020B0606020202030204" pitchFamily="34" charset="0"/>
                <a:cs typeface="Arial" charset="0"/>
                <a:sym typeface="Symbol" pitchFamily="18" charset="2"/>
              </a:rPr>
              <a:t>.</a:t>
            </a:r>
            <a:endParaRPr lang="fr-CA" sz="2000" i="1" dirty="0">
              <a:latin typeface="Arial Narrow" panose="020B0606020202030204" pitchFamily="34" charset="0"/>
              <a:cs typeface="Arial" charset="0"/>
            </a:endParaRPr>
          </a:p>
          <a:p>
            <a:pPr marL="641986" lvl="1" indent="-207646">
              <a:buClr>
                <a:schemeClr val="tx1"/>
              </a:buClr>
              <a:buSzPct val="70000"/>
            </a:pPr>
            <a:r>
              <a:rPr lang="fr-CA" sz="2000" dirty="0">
                <a:latin typeface="Arial Narrow" panose="020B0606020202030204" pitchFamily="34" charset="0"/>
                <a:cs typeface="Arial" charset="0"/>
              </a:rPr>
              <a:t>	Cette étape consiste en trois phases principales, avec des cellules distinctes:</a:t>
            </a:r>
          </a:p>
        </p:txBody>
      </p:sp>
    </p:spTree>
    <p:extLst>
      <p:ext uri="{BB962C8B-B14F-4D97-AF65-F5344CB8AC3E}">
        <p14:creationId xmlns:p14="http://schemas.microsoft.com/office/powerpoint/2010/main" val="1766356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http://cw2.erpi.com/cw/marieb/userfiles/07_Fig_17_6_p_738.jpg"/>
          <p:cNvPicPr>
            <a:picLocks noChangeAspect="1" noChangeArrowheads="1"/>
          </p:cNvPicPr>
          <p:nvPr/>
        </p:nvPicPr>
        <p:blipFill>
          <a:blip r:embed="rId3" cstate="print"/>
          <a:srcRect l="8693" t="3648" r="1890" b="15322"/>
          <a:stretch>
            <a:fillRect/>
          </a:stretch>
        </p:blipFill>
        <p:spPr bwMode="auto">
          <a:xfrm>
            <a:off x="2305251" y="3253929"/>
            <a:ext cx="10346927" cy="4856954"/>
          </a:xfrm>
          <a:prstGeom prst="rect">
            <a:avLst/>
          </a:prstGeom>
          <a:noFill/>
        </p:spPr>
      </p:pic>
      <p:sp>
        <p:nvSpPr>
          <p:cNvPr id="9219" name="Text Box 5"/>
          <p:cNvSpPr txBox="1">
            <a:spLocks noChangeArrowheads="1"/>
          </p:cNvSpPr>
          <p:nvPr/>
        </p:nvSpPr>
        <p:spPr bwMode="auto">
          <a:xfrm>
            <a:off x="11656696" y="7764780"/>
            <a:ext cx="1030604" cy="345776"/>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lIns="21600" tIns="43200" rIns="21600" bIns="4320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a:solidFill>
                  <a:schemeClr val="accent2"/>
                </a:solidFill>
                <a:latin typeface="Arial" charset="0"/>
              </a:rPr>
              <a:t>Fig. 17.6</a:t>
            </a:r>
          </a:p>
        </p:txBody>
      </p:sp>
      <p:sp>
        <p:nvSpPr>
          <p:cNvPr id="9229" name="Rectangle 3"/>
          <p:cNvSpPr>
            <a:spLocks noChangeArrowheads="1"/>
          </p:cNvSpPr>
          <p:nvPr/>
        </p:nvSpPr>
        <p:spPr bwMode="auto">
          <a:xfrm>
            <a:off x="1828800" y="462914"/>
            <a:ext cx="10972800" cy="2813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eaLnBrk="1" hangingPunct="1">
              <a:spcAft>
                <a:spcPct val="10000"/>
              </a:spcAft>
              <a:buClr>
                <a:schemeClr val="tx1"/>
              </a:buClr>
            </a:pPr>
            <a:r>
              <a:rPr lang="fr-CA" sz="2000" b="1" dirty="0">
                <a:latin typeface="Arial Narrow" panose="020B0606020202030204" pitchFamily="34" charset="0"/>
                <a:cs typeface="Arial" charset="0"/>
              </a:rPr>
              <a:t> 4. </a:t>
            </a:r>
            <a:r>
              <a:rPr lang="fr-CA" sz="2000" b="1" u="sng" dirty="0">
                <a:latin typeface="Arial Narrow" panose="020B0606020202030204" pitchFamily="34" charset="0"/>
                <a:cs typeface="Arial" charset="0"/>
              </a:rPr>
              <a:t>RÉGULATION DE L’ÉRYTHROPOÏÈSE</a:t>
            </a:r>
            <a:endParaRPr lang="fr-CA" sz="2000" dirty="0">
              <a:latin typeface="Arial Narrow" panose="020B0606020202030204" pitchFamily="34" charset="0"/>
              <a:cs typeface="Arial" charset="0"/>
            </a:endParaRPr>
          </a:p>
          <a:p>
            <a:pPr marL="624840" lvl="1" indent="-207646">
              <a:spcAft>
                <a:spcPct val="10000"/>
              </a:spcAft>
              <a:buClr>
                <a:schemeClr val="tx1"/>
              </a:buClr>
              <a:buFontTx/>
              <a:buChar char="•"/>
            </a:pPr>
            <a:r>
              <a:rPr lang="fr-CA" sz="2000" dirty="0">
                <a:latin typeface="Arial Narrow" panose="020B0606020202030204" pitchFamily="34" charset="0"/>
                <a:cs typeface="Arial" charset="0"/>
              </a:rPr>
              <a:t>Le nombre de G.R. dans le sang demeure remarquablement constant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équilibre entre leur production et leur destruction.</a:t>
            </a:r>
          </a:p>
          <a:p>
            <a:pPr marL="624840" lvl="1" indent="-207646">
              <a:spcAft>
                <a:spcPct val="10000"/>
              </a:spcAft>
              <a:buClr>
                <a:schemeClr val="tx1"/>
              </a:buClr>
              <a:buFontTx/>
              <a:buChar char="•"/>
            </a:pPr>
            <a:r>
              <a:rPr lang="fr-CA" sz="2000" dirty="0">
                <a:latin typeface="Arial Narrow" panose="020B0606020202030204" pitchFamily="34" charset="0"/>
                <a:cs typeface="Arial" charset="0"/>
              </a:rPr>
              <a:t>Si quantité insuffisante de G.R.: </a:t>
            </a:r>
            <a:r>
              <a:rPr lang="fr-CA" sz="2000" i="1" dirty="0">
                <a:latin typeface="Arial Narrow" panose="020B0606020202030204" pitchFamily="34" charset="0"/>
                <a:cs typeface="Arial" charset="0"/>
              </a:rPr>
              <a:t>hypoxémie</a:t>
            </a:r>
            <a:r>
              <a:rPr lang="fr-CA" sz="2000" dirty="0">
                <a:latin typeface="Arial Narrow" panose="020B0606020202030204" pitchFamily="34" charset="0"/>
                <a:cs typeface="Arial" charset="0"/>
              </a:rPr>
              <a:t> (manque d’O</a:t>
            </a:r>
            <a:r>
              <a:rPr lang="fr-CA" sz="2000" baseline="-10000" dirty="0">
                <a:latin typeface="Arial Narrow" panose="020B0606020202030204" pitchFamily="34" charset="0"/>
                <a:cs typeface="Arial" charset="0"/>
              </a:rPr>
              <a:t>2</a:t>
            </a:r>
            <a:r>
              <a:rPr lang="fr-CA" sz="2000" dirty="0">
                <a:latin typeface="Arial Narrow" panose="020B0606020202030204" pitchFamily="34" charset="0"/>
                <a:cs typeface="Arial" charset="0"/>
              </a:rPr>
              <a:t>); </a:t>
            </a:r>
          </a:p>
          <a:p>
            <a:pPr marL="624840" lvl="1" indent="-207646">
              <a:spcAft>
                <a:spcPct val="10000"/>
              </a:spcAft>
              <a:buClr>
                <a:schemeClr val="tx1"/>
              </a:buClr>
            </a:pPr>
            <a:r>
              <a:rPr lang="fr-CA" sz="2000" dirty="0">
                <a:latin typeface="Arial Narrow" panose="020B0606020202030204" pitchFamily="34" charset="0"/>
                <a:cs typeface="Arial" charset="0"/>
              </a:rPr>
              <a:t>	Si trop de G.R: le sang devient très visqueux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mauvaise circulation.</a:t>
            </a:r>
          </a:p>
          <a:p>
            <a:pPr marL="624840" lvl="1" indent="-207646">
              <a:spcAft>
                <a:spcPct val="10000"/>
              </a:spcAft>
              <a:buClr>
                <a:schemeClr val="tx1"/>
              </a:buClr>
              <a:buFontTx/>
              <a:buChar char="•"/>
            </a:pPr>
            <a:r>
              <a:rPr lang="fr-CA" sz="2000" dirty="0">
                <a:latin typeface="Arial Narrow" panose="020B0606020202030204" pitchFamily="34" charset="0"/>
                <a:cs typeface="Arial" charset="0"/>
              </a:rPr>
              <a:t>Le contrôle de l’érythropoïèse se fait par l’entremise d’une hormone: l’</a:t>
            </a:r>
            <a:r>
              <a:rPr lang="fr-CA" sz="2000" b="1" i="1" dirty="0">
                <a:latin typeface="Arial Narrow" panose="020B0606020202030204" pitchFamily="34" charset="0"/>
                <a:cs typeface="Arial" charset="0"/>
              </a:rPr>
              <a:t>érythropoïétine</a:t>
            </a:r>
            <a:r>
              <a:rPr lang="fr-CA" sz="2000" i="1" dirty="0">
                <a:latin typeface="Arial Narrow" panose="020B0606020202030204" pitchFamily="34" charset="0"/>
                <a:cs typeface="Arial" charset="0"/>
              </a:rPr>
              <a:t> </a:t>
            </a:r>
            <a:r>
              <a:rPr lang="fr-CA" sz="2000" dirty="0">
                <a:latin typeface="Arial Narrow" panose="020B0606020202030204" pitchFamily="34" charset="0"/>
                <a:cs typeface="Arial" charset="0"/>
              </a:rPr>
              <a:t>(</a:t>
            </a:r>
            <a:r>
              <a:rPr lang="fr-CA" sz="2000" i="1" dirty="0">
                <a:latin typeface="Arial Narrow" panose="020B0606020202030204" pitchFamily="34" charset="0"/>
                <a:cs typeface="Arial" charset="0"/>
              </a:rPr>
              <a:t>EPO</a:t>
            </a:r>
            <a:r>
              <a:rPr lang="fr-CA" sz="2000" dirty="0">
                <a:latin typeface="Arial Narrow" panose="020B0606020202030204" pitchFamily="34" charset="0"/>
                <a:cs typeface="Arial" charset="0"/>
              </a:rPr>
              <a:t>)</a:t>
            </a:r>
            <a:r>
              <a:rPr lang="fr-CA" sz="2000" i="1" dirty="0">
                <a:latin typeface="Arial Narrow" panose="020B0606020202030204" pitchFamily="34" charset="0"/>
                <a:cs typeface="Arial" charset="0"/>
              </a:rPr>
              <a:t>.</a:t>
            </a:r>
          </a:p>
          <a:p>
            <a:pPr marL="624840" lvl="1" indent="-207646">
              <a:spcAft>
                <a:spcPct val="10000"/>
              </a:spcAft>
              <a:buClr>
                <a:schemeClr val="tx1"/>
              </a:buClr>
            </a:pPr>
            <a:r>
              <a:rPr lang="fr-CA" sz="2000" dirty="0">
                <a:latin typeface="Arial Narrow" panose="020B0606020202030204" pitchFamily="34" charset="0"/>
                <a:cs typeface="Arial" charset="0"/>
                <a:sym typeface="Symbol" pitchFamily="18" charset="2"/>
              </a:rPr>
              <a:t>	</a:t>
            </a:r>
            <a:r>
              <a:rPr lang="fr-CA" sz="2000" dirty="0">
                <a:latin typeface="Arial Narrow" panose="020B0606020202030204" pitchFamily="34" charset="0"/>
                <a:cs typeface="Arial" charset="0"/>
              </a:rPr>
              <a:t> Hypoxémie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reins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EPO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érythropoïèse dans la moelle osseuse rouge</a:t>
            </a:r>
          </a:p>
          <a:p>
            <a:pPr marL="624840" lvl="1" indent="-207646">
              <a:spcAft>
                <a:spcPct val="10000"/>
              </a:spcAft>
              <a:buClr>
                <a:schemeClr val="tx1"/>
              </a:buClr>
            </a:pPr>
            <a:r>
              <a:rPr lang="fr-CA" sz="2000" dirty="0">
                <a:latin typeface="Arial Narrow" panose="020B0606020202030204" pitchFamily="34" charset="0"/>
                <a:cs typeface="Arial" charset="0"/>
              </a:rPr>
              <a:t>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hématocrite.</a:t>
            </a:r>
            <a:r>
              <a:rPr lang="fr-FR" sz="2000" dirty="0">
                <a:latin typeface="Arial Narrow" panose="020B0606020202030204" pitchFamily="34" charset="0"/>
                <a:cs typeface="Arial" charset="0"/>
              </a:rPr>
              <a:t> </a:t>
            </a:r>
            <a:endParaRPr lang="en-CA" sz="2000" dirty="0">
              <a:latin typeface="Arial Narrow" panose="020B0606020202030204" pitchFamily="34" charset="0"/>
              <a:cs typeface="Arial" charset="0"/>
            </a:endParaRPr>
          </a:p>
        </p:txBody>
      </p:sp>
    </p:spTree>
    <p:extLst>
      <p:ext uri="{BB962C8B-B14F-4D97-AF65-F5344CB8AC3E}">
        <p14:creationId xmlns:p14="http://schemas.microsoft.com/office/powerpoint/2010/main" val="963799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1524000" y="861060"/>
            <a:ext cx="12268200" cy="6225540"/>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a:lstStyle/>
          <a:p>
            <a:pPr>
              <a:spcAft>
                <a:spcPct val="25000"/>
              </a:spcAft>
              <a:buClr>
                <a:schemeClr val="tx1"/>
              </a:buClr>
              <a:buFontTx/>
              <a:buChar char="•"/>
              <a:tabLst>
                <a:tab pos="0" algn="l"/>
              </a:tabLst>
            </a:pPr>
            <a:r>
              <a:rPr lang="en-CA" sz="2400" b="1" i="1" dirty="0">
                <a:latin typeface="Arial Narrow" panose="020B0606020202030204" pitchFamily="34" charset="0"/>
                <a:cs typeface="Arial" charset="0"/>
              </a:rPr>
              <a:t> </a:t>
            </a:r>
            <a:r>
              <a:rPr lang="fr-CA" sz="2400" b="1" i="1" dirty="0">
                <a:latin typeface="Arial Narrow" panose="020B0606020202030204" pitchFamily="34" charset="0"/>
                <a:cs typeface="Arial" charset="0"/>
              </a:rPr>
              <a:t>Érythropoïétine </a:t>
            </a:r>
            <a:r>
              <a:rPr lang="fr-CA" sz="2400" b="1" dirty="0">
                <a:latin typeface="Arial Narrow" panose="020B0606020202030204" pitchFamily="34" charset="0"/>
                <a:cs typeface="Arial" charset="0"/>
              </a:rPr>
              <a:t>(</a:t>
            </a:r>
            <a:r>
              <a:rPr lang="fr-CA" sz="2400" b="1" i="1" dirty="0">
                <a:latin typeface="Arial Narrow" panose="020B0606020202030204" pitchFamily="34" charset="0"/>
                <a:cs typeface="Arial" charset="0"/>
              </a:rPr>
              <a:t>EPO</a:t>
            </a:r>
            <a:r>
              <a:rPr lang="fr-CA" sz="2400" b="1" dirty="0">
                <a:latin typeface="Arial Narrow" panose="020B0606020202030204" pitchFamily="34" charset="0"/>
                <a:cs typeface="Arial" charset="0"/>
              </a:rPr>
              <a:t>):</a:t>
            </a:r>
          </a:p>
          <a:p>
            <a:pPr marL="434340" lvl="1" indent="-219076">
              <a:spcAft>
                <a:spcPct val="50000"/>
              </a:spcAft>
              <a:buClr>
                <a:schemeClr val="tx1"/>
              </a:buClr>
              <a:buFont typeface="Arial" charset="0"/>
              <a:buChar char="−"/>
              <a:tabLst>
                <a:tab pos="0" algn="l"/>
              </a:tabLst>
            </a:pPr>
            <a:r>
              <a:rPr lang="fr-CA" sz="2400" dirty="0">
                <a:latin typeface="Arial Narrow" panose="020B0606020202030204" pitchFamily="34" charset="0"/>
                <a:cs typeface="Arial" charset="0"/>
              </a:rPr>
              <a:t>Glycoprotéine produite principalement (&gt;90%) par les reins (le reste par le foie)</a:t>
            </a:r>
          </a:p>
          <a:p>
            <a:pPr marL="434340" lvl="1" indent="-219076">
              <a:spcAft>
                <a:spcPct val="10000"/>
              </a:spcAft>
              <a:buClr>
                <a:schemeClr val="tx1"/>
              </a:buClr>
              <a:buFont typeface="Arial" charset="0"/>
              <a:buChar char="−"/>
              <a:tabLst>
                <a:tab pos="0" algn="l"/>
              </a:tabLst>
            </a:pPr>
            <a:r>
              <a:rPr lang="fr-CA" sz="2400" dirty="0">
                <a:latin typeface="Arial Narrow" panose="020B0606020202030204" pitchFamily="34" charset="0"/>
                <a:cs typeface="Arial" charset="0"/>
              </a:rPr>
              <a:t>Stimulus de la production de l’EPO: </a:t>
            </a:r>
            <a:r>
              <a:rPr lang="fr-CA" sz="2400" u="sng" dirty="0">
                <a:latin typeface="Arial Narrow" panose="020B0606020202030204" pitchFamily="34" charset="0"/>
                <a:cs typeface="Arial" charset="0"/>
              </a:rPr>
              <a:t>hypoxémie</a:t>
            </a:r>
            <a:r>
              <a:rPr lang="fr-CA" sz="2400" dirty="0">
                <a:latin typeface="Arial Narrow" panose="020B0606020202030204" pitchFamily="34" charset="0"/>
                <a:cs typeface="Arial" charset="0"/>
              </a:rPr>
              <a:t>. </a:t>
            </a:r>
          </a:p>
          <a:p>
            <a:pPr marL="434340" lvl="1">
              <a:spcAft>
                <a:spcPct val="10000"/>
              </a:spcAft>
              <a:buClr>
                <a:schemeClr val="tx1"/>
              </a:buClr>
              <a:tabLst>
                <a:tab pos="0" algn="l"/>
              </a:tabLst>
            </a:pPr>
            <a:r>
              <a:rPr lang="fr-CA" sz="2400" dirty="0">
                <a:latin typeface="Arial Narrow" panose="020B0606020202030204" pitchFamily="34" charset="0"/>
                <a:cs typeface="Arial" charset="0"/>
              </a:rPr>
              <a:t>Exemples:</a:t>
            </a:r>
          </a:p>
          <a:p>
            <a:pPr marL="645796" lvl="2" indent="-211456">
              <a:spcAft>
                <a:spcPct val="10000"/>
              </a:spcAft>
              <a:buClr>
                <a:schemeClr val="tx1"/>
              </a:buClr>
              <a:buSzPct val="70000"/>
              <a:buFont typeface="Wingdings" pitchFamily="2" charset="2"/>
              <a:buChar char="§"/>
              <a:tabLst>
                <a:tab pos="0" algn="l"/>
              </a:tabLst>
            </a:pPr>
            <a:r>
              <a:rPr lang="fr-CA" sz="2400" dirty="0">
                <a:latin typeface="Arial Narrow" panose="020B0606020202030204" pitchFamily="34" charset="0"/>
                <a:cs typeface="Arial" charset="0"/>
              </a:rPr>
              <a:t>Diminution du taux de G.R. (ex.: suite à une hémorragie)</a:t>
            </a:r>
          </a:p>
          <a:p>
            <a:pPr marL="645796" lvl="2" indent="-211456">
              <a:spcAft>
                <a:spcPct val="10000"/>
              </a:spcAft>
              <a:buClr>
                <a:schemeClr val="tx1"/>
              </a:buClr>
              <a:buSzPct val="70000"/>
              <a:buFont typeface="Wingdings" pitchFamily="2" charset="2"/>
              <a:buChar char="§"/>
              <a:tabLst>
                <a:tab pos="0" algn="l"/>
              </a:tabLst>
            </a:pPr>
            <a:r>
              <a:rPr lang="fr-CA" sz="2400" dirty="0">
                <a:latin typeface="Arial Narrow" panose="020B0606020202030204" pitchFamily="34" charset="0"/>
                <a:cs typeface="Arial" charset="0"/>
              </a:rPr>
              <a:t>Diminution de l’accès à de l’O</a:t>
            </a:r>
            <a:r>
              <a:rPr lang="fr-CA" sz="2400" baseline="-25000" dirty="0">
                <a:latin typeface="Arial Narrow" panose="020B0606020202030204" pitchFamily="34" charset="0"/>
                <a:cs typeface="Arial" charset="0"/>
              </a:rPr>
              <a:t>2</a:t>
            </a:r>
            <a:r>
              <a:rPr lang="fr-CA" sz="2400" dirty="0">
                <a:latin typeface="Arial Narrow" panose="020B0606020202030204" pitchFamily="34" charset="0"/>
                <a:cs typeface="Arial" charset="0"/>
              </a:rPr>
              <a:t> (ex.: en haute altitude, suite à des maladies pulmonaires) </a:t>
            </a:r>
          </a:p>
          <a:p>
            <a:pPr marL="645796" lvl="2" indent="-211456">
              <a:spcAft>
                <a:spcPct val="50000"/>
              </a:spcAft>
              <a:buClr>
                <a:schemeClr val="tx1"/>
              </a:buClr>
              <a:buSzPct val="70000"/>
              <a:buFont typeface="Wingdings" pitchFamily="2" charset="2"/>
              <a:buChar char="§"/>
              <a:tabLst>
                <a:tab pos="0" algn="l"/>
              </a:tabLst>
            </a:pPr>
            <a:r>
              <a:rPr lang="fr-CA" sz="2400" dirty="0">
                <a:latin typeface="Arial Narrow" panose="020B0606020202030204" pitchFamily="34" charset="0"/>
                <a:cs typeface="Arial" charset="0"/>
              </a:rPr>
              <a:t>Augmentation de la demande en O</a:t>
            </a:r>
            <a:r>
              <a:rPr lang="fr-CA" sz="2400" baseline="-25000" dirty="0">
                <a:latin typeface="Arial Narrow" panose="020B0606020202030204" pitchFamily="34" charset="0"/>
                <a:cs typeface="Arial" charset="0"/>
              </a:rPr>
              <a:t>2</a:t>
            </a:r>
            <a:r>
              <a:rPr lang="fr-CA" sz="2400" dirty="0">
                <a:latin typeface="Arial Narrow" panose="020B0606020202030204" pitchFamily="34" charset="0"/>
                <a:cs typeface="Arial" charset="0"/>
              </a:rPr>
              <a:t> par les tissus (ex. exercices aérobies répétés).</a:t>
            </a:r>
          </a:p>
          <a:p>
            <a:pPr marL="434340" lvl="1" indent="-219076">
              <a:spcAft>
                <a:spcPct val="50000"/>
              </a:spcAft>
              <a:buClr>
                <a:schemeClr val="tx1"/>
              </a:buClr>
              <a:buFont typeface="Arial" charset="0"/>
              <a:buChar char="−"/>
              <a:tabLst>
                <a:tab pos="0" algn="l"/>
              </a:tabLst>
            </a:pPr>
            <a:r>
              <a:rPr lang="fr-CA" sz="2400" dirty="0">
                <a:latin typeface="Arial Narrow" panose="020B0606020202030204" pitchFamily="34" charset="0"/>
                <a:cs typeface="Arial" charset="0"/>
              </a:rPr>
              <a:t>Inversement, un excès du taux d’érythrocytes causerait une diminution de la production d’EPO.</a:t>
            </a:r>
          </a:p>
          <a:p>
            <a:pPr marL="434340" lvl="1" indent="-219076">
              <a:spcAft>
                <a:spcPct val="10000"/>
              </a:spcAft>
              <a:buClr>
                <a:schemeClr val="tx1"/>
              </a:buClr>
              <a:buFont typeface="Arial" charset="0"/>
              <a:buChar char="−"/>
              <a:tabLst>
                <a:tab pos="0" algn="l"/>
              </a:tabLst>
            </a:pPr>
            <a:r>
              <a:rPr lang="fr-CA" sz="2400" dirty="0">
                <a:latin typeface="Arial Narrow" panose="020B0606020202030204" pitchFamily="34" charset="0"/>
                <a:cs typeface="Arial" charset="0"/>
              </a:rPr>
              <a:t>Mécanismes d’action de l’EPO:</a:t>
            </a:r>
          </a:p>
          <a:p>
            <a:pPr marL="645796" lvl="2" indent="-211456">
              <a:spcAft>
                <a:spcPct val="10000"/>
              </a:spcAft>
              <a:buClr>
                <a:schemeClr val="tx1"/>
              </a:buClr>
              <a:buSzPct val="70000"/>
              <a:buFont typeface="Wingdings" pitchFamily="2" charset="2"/>
              <a:buChar char="§"/>
              <a:tabLst>
                <a:tab pos="0" algn="l"/>
              </a:tabLst>
            </a:pPr>
            <a:r>
              <a:rPr lang="fr-CA" sz="2400" dirty="0">
                <a:latin typeface="Arial Narrow" panose="020B0606020202030204" pitchFamily="34" charset="0"/>
                <a:cs typeface="Arial" charset="0"/>
              </a:rPr>
              <a:t>Se lie à  des récepteurs sur les précurseurs des érythrocytes (proérythroblastes, érythroblastes)</a:t>
            </a:r>
          </a:p>
          <a:p>
            <a:pPr marL="645796" lvl="2" indent="-211456">
              <a:spcAft>
                <a:spcPct val="25000"/>
              </a:spcAft>
              <a:buClr>
                <a:schemeClr val="tx1"/>
              </a:buClr>
              <a:buSzPct val="70000"/>
              <a:buFont typeface="Wingdings" pitchFamily="2" charset="2"/>
              <a:buChar char="§"/>
              <a:tabLst>
                <a:tab pos="0" algn="l"/>
              </a:tabLst>
            </a:pPr>
            <a:r>
              <a:rPr lang="fr-CA" sz="2400" dirty="0">
                <a:latin typeface="Arial Narrow" panose="020B0606020202030204" pitchFamily="34" charset="0"/>
                <a:cs typeface="Arial" charset="0"/>
              </a:rPr>
              <a:t>Cette interaction EPO-récepteur entraîne une accélération de la différentiation et multiplication des cellules,  de la synthèse de l’hémoglobine, de la formation des réticulocytes.</a:t>
            </a:r>
          </a:p>
          <a:p>
            <a:pPr marL="963930" lvl="2" indent="-318136">
              <a:spcAft>
                <a:spcPct val="25000"/>
              </a:spcAft>
              <a:buClr>
                <a:schemeClr val="tx1"/>
              </a:buClr>
              <a:tabLst>
                <a:tab pos="0" algn="l"/>
              </a:tabLst>
            </a:pPr>
            <a:r>
              <a:rPr lang="fr-CA" sz="2400" dirty="0">
                <a:latin typeface="Arial Narrow" panose="020B0606020202030204" pitchFamily="34" charset="0"/>
                <a:cs typeface="Arial" charset="0"/>
                <a:sym typeface="Symbol" pitchFamily="18" charset="2"/>
              </a:rPr>
              <a:t>	</a:t>
            </a:r>
            <a:r>
              <a:rPr lang="fr-CA" sz="2400" dirty="0">
                <a:latin typeface="Arial Narrow" panose="020B0606020202030204" pitchFamily="34" charset="0"/>
                <a:cs typeface="Arial" charset="0"/>
              </a:rPr>
              <a:t>L’EPO peut diminuer de moitié la durée de l’érythropoïèse (de 5-7 jours à seulement 3 jours).</a:t>
            </a:r>
          </a:p>
        </p:txBody>
      </p:sp>
    </p:spTree>
    <p:extLst>
      <p:ext uri="{BB962C8B-B14F-4D97-AF65-F5344CB8AC3E}">
        <p14:creationId xmlns:p14="http://schemas.microsoft.com/office/powerpoint/2010/main" val="981762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1295400" y="1179196"/>
            <a:ext cx="5320666" cy="3760470"/>
          </a:xfrm>
          <a:prstGeom prst="rect">
            <a:avLst/>
          </a:prstGeom>
          <a:noFill/>
          <a:ln w="63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pPr marL="201930" indent="-201930">
              <a:spcAft>
                <a:spcPct val="10000"/>
              </a:spcAft>
              <a:buClr>
                <a:schemeClr val="tx1"/>
              </a:buClr>
              <a:buSzPct val="85000"/>
              <a:buFont typeface="Symbol" pitchFamily="18" charset="2"/>
              <a:buChar char="-"/>
            </a:pPr>
            <a:r>
              <a:rPr lang="fr-CA" sz="2400">
                <a:latin typeface="Arial Narrow" panose="020B0606020202030204" pitchFamily="34" charset="0"/>
                <a:cs typeface="Arial" charset="0"/>
              </a:rPr>
              <a:t>Durée de vie des G.R.: </a:t>
            </a:r>
            <a:r>
              <a:rPr lang="fr-CA" sz="2400">
                <a:latin typeface="Arial Narrow" panose="020B0606020202030204" pitchFamily="34" charset="0"/>
                <a:cs typeface="Arial" charset="0"/>
                <a:sym typeface="Symbol" pitchFamily="18" charset="2"/>
              </a:rPr>
              <a:t></a:t>
            </a:r>
            <a:r>
              <a:rPr lang="fr-CA" sz="2400">
                <a:latin typeface="Arial Narrow" panose="020B0606020202030204" pitchFamily="34" charset="0"/>
                <a:cs typeface="Arial" charset="0"/>
              </a:rPr>
              <a:t> 120 jours.</a:t>
            </a:r>
          </a:p>
          <a:p>
            <a:pPr marL="546736" lvl="1" indent="-207646">
              <a:spcAft>
                <a:spcPct val="50000"/>
              </a:spcAft>
              <a:buClr>
                <a:schemeClr val="tx1"/>
              </a:buClr>
              <a:buSzPct val="80000"/>
              <a:buFont typeface="Wingdings" pitchFamily="2" charset="2"/>
              <a:buChar char="§"/>
            </a:pPr>
            <a:r>
              <a:rPr lang="fr-CA" sz="2400">
                <a:latin typeface="Arial Narrow" panose="020B0606020202030204" pitchFamily="34" charset="0"/>
                <a:cs typeface="Arial" charset="0"/>
              </a:rPr>
              <a:t>Limitée parce que les G.R. ne peuvent pas synthétiser de nouvelles protéines.</a:t>
            </a:r>
          </a:p>
          <a:p>
            <a:pPr marL="201930" indent="-201930">
              <a:buClr>
                <a:schemeClr val="tx1"/>
              </a:buClr>
              <a:buSzPct val="85000"/>
              <a:buFont typeface="Symbol" pitchFamily="18" charset="2"/>
              <a:buChar char="-"/>
            </a:pPr>
            <a:r>
              <a:rPr lang="fr-CA" sz="2400">
                <a:latin typeface="Arial Narrow" panose="020B0606020202030204" pitchFamily="34" charset="0"/>
                <a:cs typeface="Arial" charset="0"/>
              </a:rPr>
              <a:t>Les vieux érythrocytes non fonctionnels sont reconnus et détruits par les macrophagocytes présents dans:</a:t>
            </a:r>
          </a:p>
          <a:p>
            <a:pPr marL="546736" lvl="1" indent="-207646">
              <a:buClr>
                <a:schemeClr val="tx1"/>
              </a:buClr>
              <a:buSzPct val="80000"/>
              <a:buFont typeface="Wingdings" pitchFamily="2" charset="2"/>
              <a:buChar char="§"/>
            </a:pPr>
            <a:r>
              <a:rPr lang="fr-CA" sz="2400">
                <a:latin typeface="Arial Narrow" panose="020B0606020202030204" pitchFamily="34" charset="0"/>
                <a:cs typeface="Arial" charset="0"/>
              </a:rPr>
              <a:t>Rate</a:t>
            </a:r>
          </a:p>
          <a:p>
            <a:pPr marL="546736" lvl="1" indent="-207646">
              <a:buClr>
                <a:schemeClr val="tx1"/>
              </a:buClr>
              <a:buSzPct val="80000"/>
              <a:buFont typeface="Wingdings" pitchFamily="2" charset="2"/>
              <a:buChar char="§"/>
            </a:pPr>
            <a:r>
              <a:rPr lang="fr-CA" sz="2400">
                <a:latin typeface="Arial Narrow" panose="020B0606020202030204" pitchFamily="34" charset="0"/>
                <a:cs typeface="Arial" charset="0"/>
              </a:rPr>
              <a:t>Foie</a:t>
            </a:r>
          </a:p>
          <a:p>
            <a:pPr marL="546736" lvl="1" indent="-207646">
              <a:buClr>
                <a:schemeClr val="tx1"/>
              </a:buClr>
              <a:buSzPct val="80000"/>
              <a:buFont typeface="Wingdings" pitchFamily="2" charset="2"/>
              <a:buChar char="§"/>
            </a:pPr>
            <a:r>
              <a:rPr lang="fr-CA" sz="2400">
                <a:latin typeface="Arial Narrow" panose="020B0606020202030204" pitchFamily="34" charset="0"/>
                <a:cs typeface="Arial" charset="0"/>
              </a:rPr>
              <a:t>Moelle osseuse rouge</a:t>
            </a:r>
          </a:p>
        </p:txBody>
      </p:sp>
      <p:pic>
        <p:nvPicPr>
          <p:cNvPr id="11268"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l="4655"/>
          <a:stretch>
            <a:fillRect/>
          </a:stretch>
        </p:blipFill>
        <p:spPr bwMode="auto">
          <a:xfrm>
            <a:off x="7050406" y="609600"/>
            <a:ext cx="5438774" cy="4973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Box 4"/>
          <p:cNvSpPr txBox="1">
            <a:spLocks noChangeArrowheads="1"/>
          </p:cNvSpPr>
          <p:nvPr/>
        </p:nvSpPr>
        <p:spPr bwMode="auto">
          <a:xfrm>
            <a:off x="11410950" y="523875"/>
            <a:ext cx="1102996" cy="350865"/>
          </a:xfrm>
          <a:prstGeom prst="rect">
            <a:avLst/>
          </a:prstGeom>
          <a:noFill/>
          <a:ln w="6350">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a:solidFill>
                  <a:schemeClr val="accent2"/>
                </a:solidFill>
                <a:latin typeface="Arial" charset="0"/>
              </a:rPr>
              <a:t>Fig. 17.7</a:t>
            </a:r>
          </a:p>
        </p:txBody>
      </p:sp>
      <p:sp>
        <p:nvSpPr>
          <p:cNvPr id="11270" name="Rectangle 11"/>
          <p:cNvSpPr>
            <a:spLocks noChangeArrowheads="1"/>
          </p:cNvSpPr>
          <p:nvPr/>
        </p:nvSpPr>
        <p:spPr bwMode="auto">
          <a:xfrm>
            <a:off x="2017396" y="358140"/>
            <a:ext cx="10784204" cy="565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70536" indent="-470536">
              <a:lnSpc>
                <a:spcPct val="90000"/>
              </a:lnSpc>
              <a:buClr>
                <a:srgbClr val="0989C9"/>
              </a:buClr>
              <a:buSzPct val="60000"/>
            </a:pPr>
            <a:r>
              <a:rPr lang="en-CA" sz="2880" b="1">
                <a:latin typeface="Arial" charset="0"/>
                <a:cs typeface="Arial" charset="0"/>
              </a:rPr>
              <a:t>5.	</a:t>
            </a:r>
            <a:r>
              <a:rPr lang="en-CA" sz="2880" b="1" u="sng">
                <a:latin typeface="Arial" charset="0"/>
                <a:cs typeface="Arial" charset="0"/>
              </a:rPr>
              <a:t>CYCLE DE VIE DES ÉRYTHROCYTES</a:t>
            </a:r>
            <a:endParaRPr lang="en-CA" sz="2880" u="sng">
              <a:latin typeface="Arial" charset="0"/>
              <a:cs typeface="Arial" charset="0"/>
            </a:endParaRPr>
          </a:p>
        </p:txBody>
      </p:sp>
      <p:sp>
        <p:nvSpPr>
          <p:cNvPr id="7" name="Rectangle 8"/>
          <p:cNvSpPr>
            <a:spLocks noChangeArrowheads="1"/>
          </p:cNvSpPr>
          <p:nvPr/>
        </p:nvSpPr>
        <p:spPr bwMode="auto">
          <a:xfrm>
            <a:off x="1295400" y="5410200"/>
            <a:ext cx="11205210" cy="2590800"/>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spcAft>
                <a:spcPct val="10000"/>
              </a:spcAft>
              <a:buClr>
                <a:schemeClr val="tx1"/>
              </a:buClr>
              <a:buFontTx/>
              <a:buChar char="•"/>
            </a:pPr>
            <a:r>
              <a:rPr lang="fr-CA" sz="2000" b="1" dirty="0">
                <a:latin typeface="Arial Narrow" panose="020B0606020202030204" pitchFamily="34" charset="0"/>
                <a:cs typeface="Arial" charset="0"/>
              </a:rPr>
              <a:t>  Besoins nutritionnels pour l’érythropoïèse:</a:t>
            </a:r>
          </a:p>
          <a:p>
            <a:pPr marL="422910" lvl="1" indent="-207646">
              <a:spcAft>
                <a:spcPct val="20000"/>
              </a:spcAft>
              <a:buClr>
                <a:schemeClr val="tx1"/>
              </a:buClr>
              <a:buSzPct val="85000"/>
              <a:buFont typeface="Symbol" pitchFamily="18" charset="2"/>
              <a:buChar char="-"/>
            </a:pPr>
            <a:r>
              <a:rPr lang="fr-CA" sz="2000" dirty="0">
                <a:latin typeface="Arial Narrow" panose="020B0606020202030204" pitchFamily="34" charset="0"/>
                <a:cs typeface="Arial" charset="0"/>
              </a:rPr>
              <a:t>Les érythrocytes sont parmi les cellules ayant le plus haut taux de production.</a:t>
            </a:r>
          </a:p>
          <a:p>
            <a:pPr marL="422910" lvl="1" indent="-207646">
              <a:buClr>
                <a:schemeClr val="tx1"/>
              </a:buClr>
              <a:buSzPct val="85000"/>
              <a:buFont typeface="Symbol" pitchFamily="18" charset="2"/>
              <a:buChar char="-"/>
            </a:pPr>
            <a:r>
              <a:rPr lang="fr-CA" sz="2000" dirty="0">
                <a:latin typeface="Arial Narrow" panose="020B0606020202030204" pitchFamily="34" charset="0"/>
                <a:cs typeface="Arial" charset="0"/>
              </a:rPr>
              <a:t>Matériaux nécessaires à leur production comprennent:</a:t>
            </a:r>
          </a:p>
          <a:p>
            <a:pPr marL="862966" lvl="2" indent="-224790">
              <a:buClr>
                <a:schemeClr val="tx1"/>
              </a:buClr>
              <a:buFontTx/>
              <a:buChar char="•"/>
            </a:pPr>
            <a:r>
              <a:rPr lang="fr-CA" sz="2000" dirty="0">
                <a:latin typeface="Arial Narrow" panose="020B0606020202030204" pitchFamily="34" charset="0"/>
                <a:cs typeface="Arial" charset="0"/>
              </a:rPr>
              <a:t>Acides aminés, lipides, glucides</a:t>
            </a:r>
          </a:p>
          <a:p>
            <a:pPr marL="862966" lvl="2" indent="-224790">
              <a:buClr>
                <a:schemeClr val="tx1"/>
              </a:buClr>
              <a:buFontTx/>
              <a:buChar char="•"/>
            </a:pPr>
            <a:r>
              <a:rPr lang="fr-CA" sz="2000" dirty="0">
                <a:latin typeface="Arial Narrow" panose="020B0606020202030204" pitchFamily="34" charset="0"/>
                <a:cs typeface="Arial" charset="0"/>
              </a:rPr>
              <a:t>Fer</a:t>
            </a:r>
          </a:p>
          <a:p>
            <a:pPr marL="862966" lvl="2" indent="-224790">
              <a:buClr>
                <a:schemeClr val="tx1"/>
              </a:buClr>
              <a:buFontTx/>
              <a:buChar char="•"/>
            </a:pPr>
            <a:r>
              <a:rPr lang="fr-CA" sz="2000" dirty="0">
                <a:latin typeface="Arial Narrow" panose="020B0606020202030204" pitchFamily="34" charset="0"/>
                <a:cs typeface="Arial" charset="0"/>
              </a:rPr>
              <a:t>Vitamines, en particulier B</a:t>
            </a:r>
            <a:r>
              <a:rPr lang="fr-CA" sz="2000" baseline="-25000" dirty="0">
                <a:latin typeface="Arial Narrow" panose="020B0606020202030204" pitchFamily="34" charset="0"/>
                <a:cs typeface="Arial" charset="0"/>
              </a:rPr>
              <a:t>12</a:t>
            </a:r>
            <a:r>
              <a:rPr lang="fr-CA" sz="2000" dirty="0">
                <a:latin typeface="Arial Narrow" panose="020B0606020202030204" pitchFamily="34" charset="0"/>
                <a:cs typeface="Arial" charset="0"/>
              </a:rPr>
              <a:t> et acide folique (folate)</a:t>
            </a:r>
          </a:p>
          <a:p>
            <a:pPr marL="862966" lvl="2" indent="-224790">
              <a:buClr>
                <a:schemeClr val="tx1"/>
              </a:buClr>
            </a:pPr>
            <a:r>
              <a:rPr lang="fr-CA" sz="2000" dirty="0">
                <a:latin typeface="Arial Narrow" panose="020B0606020202030204" pitchFamily="34" charset="0"/>
                <a:cs typeface="Arial" charset="0"/>
                <a:sym typeface="Symbol" pitchFamily="18" charset="2"/>
              </a:rPr>
              <a:t>	</a:t>
            </a:r>
            <a:r>
              <a:rPr lang="fr-CA" sz="2000" dirty="0">
                <a:latin typeface="Arial Narrow" panose="020B0606020202030204" pitchFamily="34" charset="0"/>
                <a:cs typeface="Arial" charset="0"/>
              </a:rPr>
              <a:t> requis pour la synthèse d’ADN et donc pour la multiplication cellulaire </a:t>
            </a:r>
          </a:p>
        </p:txBody>
      </p:sp>
    </p:spTree>
    <p:extLst>
      <p:ext uri="{BB962C8B-B14F-4D97-AF65-F5344CB8AC3E}">
        <p14:creationId xmlns:p14="http://schemas.microsoft.com/office/powerpoint/2010/main" val="3963569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762000" y="584836"/>
            <a:ext cx="6802756" cy="7109460"/>
          </a:xfrm>
          <a:prstGeom prst="rect">
            <a:avLst/>
          </a:prstGeom>
          <a:noFill/>
          <a:ln w="63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pPr marL="215266" indent="-215266">
              <a:buClr>
                <a:schemeClr val="tx1"/>
              </a:buClr>
              <a:buFontTx/>
              <a:buChar char="•"/>
            </a:pPr>
            <a:r>
              <a:rPr lang="fr-CA" sz="2400" b="1">
                <a:latin typeface="Arial Narrow" panose="020B0606020202030204" pitchFamily="34" charset="0"/>
                <a:cs typeface="Arial" charset="0"/>
              </a:rPr>
              <a:t>Destinée et recyclage des composantes de l’hémoglobine:</a:t>
            </a:r>
          </a:p>
          <a:p>
            <a:pPr marL="640080" lvl="1" indent="-209550">
              <a:spcBef>
                <a:spcPct val="25000"/>
              </a:spcBef>
              <a:spcAft>
                <a:spcPct val="25000"/>
              </a:spcAft>
              <a:buClr>
                <a:schemeClr val="tx1"/>
              </a:buClr>
              <a:buFontTx/>
              <a:buChar char="•"/>
            </a:pPr>
            <a:r>
              <a:rPr lang="fr-CA" sz="2400">
                <a:latin typeface="Arial Narrow" panose="020B0606020202030204" pitchFamily="34" charset="0"/>
                <a:cs typeface="Arial" charset="0"/>
              </a:rPr>
              <a:t>Hémoglobine </a:t>
            </a:r>
            <a:r>
              <a:rPr lang="fr-CA" sz="2400">
                <a:latin typeface="Arial Narrow" panose="020B0606020202030204" pitchFamily="34" charset="0"/>
                <a:cs typeface="Arial" charset="0"/>
                <a:sym typeface="Symbol" pitchFamily="18" charset="2"/>
              </a:rPr>
              <a:t></a:t>
            </a:r>
            <a:r>
              <a:rPr lang="fr-CA" sz="2400">
                <a:latin typeface="Arial Narrow" panose="020B0606020202030204" pitchFamily="34" charset="0"/>
                <a:cs typeface="Arial" charset="0"/>
              </a:rPr>
              <a:t> globine + hème</a:t>
            </a:r>
          </a:p>
          <a:p>
            <a:pPr marL="640080" lvl="1" indent="-209550">
              <a:spcAft>
                <a:spcPct val="25000"/>
              </a:spcAft>
              <a:buClr>
                <a:schemeClr val="tx1"/>
              </a:buClr>
              <a:buFontTx/>
              <a:buChar char="•"/>
            </a:pPr>
            <a:r>
              <a:rPr lang="fr-CA" sz="2400">
                <a:latin typeface="Arial Narrow" panose="020B0606020202030204" pitchFamily="34" charset="0"/>
                <a:cs typeface="Arial" charset="0"/>
              </a:rPr>
              <a:t>Globine </a:t>
            </a:r>
            <a:r>
              <a:rPr lang="fr-CA" sz="2400">
                <a:latin typeface="Arial Narrow" panose="020B0606020202030204" pitchFamily="34" charset="0"/>
                <a:cs typeface="Arial" charset="0"/>
                <a:sym typeface="Symbol" pitchFamily="18" charset="2"/>
              </a:rPr>
              <a:t></a:t>
            </a:r>
            <a:r>
              <a:rPr lang="fr-CA" sz="2400">
                <a:latin typeface="Arial Narrow" panose="020B0606020202030204" pitchFamily="34" charset="0"/>
                <a:cs typeface="Arial" charset="0"/>
              </a:rPr>
              <a:t> acides aminés </a:t>
            </a:r>
            <a:r>
              <a:rPr lang="fr-CA" sz="2400">
                <a:latin typeface="Arial Narrow" panose="020B0606020202030204" pitchFamily="34" charset="0"/>
                <a:cs typeface="Arial" charset="0"/>
                <a:sym typeface="Symbol" pitchFamily="18" charset="2"/>
              </a:rPr>
              <a:t></a:t>
            </a:r>
            <a:r>
              <a:rPr lang="fr-CA" sz="2400">
                <a:latin typeface="Arial Narrow" panose="020B0606020202030204" pitchFamily="34" charset="0"/>
                <a:cs typeface="Arial" charset="0"/>
              </a:rPr>
              <a:t> dans la circulation</a:t>
            </a:r>
          </a:p>
          <a:p>
            <a:pPr marL="640080" lvl="1" indent="-209550">
              <a:spcAft>
                <a:spcPct val="25000"/>
              </a:spcAft>
              <a:buClr>
                <a:schemeClr val="tx1"/>
              </a:buClr>
              <a:buFontTx/>
              <a:buChar char="•"/>
            </a:pPr>
            <a:r>
              <a:rPr lang="fr-CA" sz="2400">
                <a:latin typeface="Arial Narrow" panose="020B0606020202030204" pitchFamily="34" charset="0"/>
                <a:cs typeface="Arial" charset="0"/>
              </a:rPr>
              <a:t>Hème </a:t>
            </a:r>
            <a:r>
              <a:rPr lang="fr-CA" sz="2400">
                <a:latin typeface="Arial Narrow" panose="020B0606020202030204" pitchFamily="34" charset="0"/>
                <a:cs typeface="Arial" charset="0"/>
                <a:sym typeface="Symbol" pitchFamily="18" charset="2"/>
              </a:rPr>
              <a:t></a:t>
            </a:r>
            <a:r>
              <a:rPr lang="fr-CA" sz="2400">
                <a:latin typeface="Arial Narrow" panose="020B0606020202030204" pitchFamily="34" charset="0"/>
                <a:cs typeface="Arial" charset="0"/>
              </a:rPr>
              <a:t> bilirubine + Fe</a:t>
            </a:r>
            <a:r>
              <a:rPr lang="fr-CA" sz="2400" baseline="30000">
                <a:latin typeface="Arial Narrow" panose="020B0606020202030204" pitchFamily="34" charset="0"/>
                <a:cs typeface="Arial" charset="0"/>
              </a:rPr>
              <a:t>2+</a:t>
            </a:r>
          </a:p>
          <a:p>
            <a:pPr marL="640080" lvl="1" indent="-209550">
              <a:buClr>
                <a:schemeClr val="tx1"/>
              </a:buClr>
              <a:buFontTx/>
              <a:buChar char="•"/>
            </a:pPr>
            <a:r>
              <a:rPr lang="fr-CA" sz="2400">
                <a:latin typeface="Arial Narrow" panose="020B0606020202030204" pitchFamily="34" charset="0"/>
                <a:cs typeface="Arial" charset="0"/>
              </a:rPr>
              <a:t>La bilirubine est un pigment jaune libéré dans la circulation par les macrophagocytes</a:t>
            </a:r>
          </a:p>
          <a:p>
            <a:pPr marL="1163956" lvl="2" indent="-308610">
              <a:buClr>
                <a:schemeClr val="tx1"/>
              </a:buClr>
              <a:buFont typeface="Symbol" pitchFamily="18" charset="2"/>
              <a:buChar char="®"/>
            </a:pPr>
            <a:r>
              <a:rPr lang="fr-CA" sz="2400">
                <a:latin typeface="Arial Narrow" panose="020B0606020202030204" pitchFamily="34" charset="0"/>
                <a:cs typeface="Arial" charset="0"/>
              </a:rPr>
              <a:t>Se lie à l’albumine pour être transportée vers le foie.</a:t>
            </a:r>
          </a:p>
          <a:p>
            <a:pPr marL="1163956" lvl="2" indent="-308610">
              <a:buClr>
                <a:schemeClr val="tx1"/>
              </a:buClr>
              <a:buFont typeface="Symbol" pitchFamily="18" charset="2"/>
              <a:buChar char="®"/>
            </a:pPr>
            <a:r>
              <a:rPr lang="fr-CA" sz="2400">
                <a:latin typeface="Arial Narrow" panose="020B0606020202030204" pitchFamily="34" charset="0"/>
                <a:cs typeface="Arial" charset="0"/>
              </a:rPr>
              <a:t>Captée et transformée par le foie.</a:t>
            </a:r>
          </a:p>
          <a:p>
            <a:pPr marL="1163956" lvl="2" indent="-308610">
              <a:spcAft>
                <a:spcPct val="25000"/>
              </a:spcAft>
              <a:buClr>
                <a:schemeClr val="tx1"/>
              </a:buClr>
              <a:buFont typeface="Symbol" pitchFamily="18" charset="2"/>
              <a:buChar char="®"/>
            </a:pPr>
            <a:r>
              <a:rPr lang="fr-CA" sz="2400">
                <a:latin typeface="Arial Narrow" panose="020B0606020202030204" pitchFamily="34" charset="0"/>
                <a:cs typeface="Arial" charset="0"/>
              </a:rPr>
              <a:t>Sécrétée dans l’intestin.</a:t>
            </a:r>
          </a:p>
          <a:p>
            <a:pPr marL="640080" lvl="1" indent="-209550">
              <a:buClr>
                <a:schemeClr val="tx1"/>
              </a:buClr>
              <a:buFontTx/>
              <a:buChar char="•"/>
            </a:pPr>
            <a:r>
              <a:rPr lang="fr-CA" sz="2400">
                <a:latin typeface="Arial Narrow" panose="020B0606020202030204" pitchFamily="34" charset="0"/>
                <a:cs typeface="Arial" charset="0"/>
              </a:rPr>
              <a:t>Fe</a:t>
            </a:r>
            <a:r>
              <a:rPr lang="fr-CA" sz="2400" baseline="30000">
                <a:latin typeface="Arial Narrow" panose="020B0606020202030204" pitchFamily="34" charset="0"/>
                <a:cs typeface="Arial" charset="0"/>
              </a:rPr>
              <a:t>2+</a:t>
            </a:r>
            <a:r>
              <a:rPr lang="fr-CA" sz="2400">
                <a:latin typeface="Arial Narrow" panose="020B0606020202030204" pitchFamily="34" charset="0"/>
                <a:cs typeface="Arial" charset="0"/>
              </a:rPr>
              <a:t>:</a:t>
            </a:r>
          </a:p>
          <a:p>
            <a:pPr marL="1163956" lvl="2" indent="-308610">
              <a:buClr>
                <a:schemeClr val="tx1"/>
              </a:buClr>
              <a:buSzPct val="85000"/>
              <a:buFont typeface="Symbol" pitchFamily="18" charset="2"/>
              <a:buChar char="-"/>
            </a:pPr>
            <a:r>
              <a:rPr lang="fr-CA" sz="2400">
                <a:latin typeface="Arial Narrow" panose="020B0606020202030204" pitchFamily="34" charset="0"/>
                <a:cs typeface="Arial" charset="0"/>
              </a:rPr>
              <a:t>libéré dans la circulation (se lie à la </a:t>
            </a:r>
            <a:r>
              <a:rPr lang="fr-CA" sz="2400" i="1">
                <a:latin typeface="Arial Narrow" panose="020B0606020202030204" pitchFamily="34" charset="0"/>
                <a:cs typeface="Arial" charset="0"/>
              </a:rPr>
              <a:t>transferrine, </a:t>
            </a:r>
            <a:r>
              <a:rPr lang="fr-CA" sz="2400">
                <a:latin typeface="Arial Narrow" panose="020B0606020202030204" pitchFamily="34" charset="0"/>
                <a:cs typeface="Arial" charset="0"/>
              </a:rPr>
              <a:t>une globuline bêta, pour être transporté vers la moelle osseuse rouge)</a:t>
            </a:r>
          </a:p>
          <a:p>
            <a:pPr marL="1163956" lvl="2" indent="-308610">
              <a:buClr>
                <a:schemeClr val="tx1"/>
              </a:buClr>
              <a:buSzPct val="85000"/>
              <a:buFont typeface="Symbol" pitchFamily="18" charset="2"/>
              <a:buChar char="-"/>
            </a:pPr>
            <a:r>
              <a:rPr lang="fr-CA" sz="2400">
                <a:latin typeface="Arial Narrow" panose="020B0606020202030204" pitchFamily="34" charset="0"/>
                <a:cs typeface="Arial" charset="0"/>
              </a:rPr>
              <a:t>ou emmagasiné, principalement dans le foie, sous une forme liée à la </a:t>
            </a:r>
            <a:r>
              <a:rPr lang="fr-CA" sz="2400" i="1">
                <a:latin typeface="Arial Narrow" panose="020B0606020202030204" pitchFamily="34" charset="0"/>
                <a:cs typeface="Arial" charset="0"/>
              </a:rPr>
              <a:t>ferritine </a:t>
            </a:r>
            <a:r>
              <a:rPr lang="fr-CA" sz="2400">
                <a:latin typeface="Arial Narrow" panose="020B0606020202030204" pitchFamily="34" charset="0"/>
                <a:cs typeface="Arial" charset="0"/>
              </a:rPr>
              <a:t>ou l’</a:t>
            </a:r>
            <a:r>
              <a:rPr lang="fr-CA" sz="2400" i="1">
                <a:latin typeface="Arial Narrow" panose="020B0606020202030204" pitchFamily="34" charset="0"/>
                <a:cs typeface="Arial" charset="0"/>
              </a:rPr>
              <a:t>hémosidérine</a:t>
            </a:r>
            <a:r>
              <a:rPr lang="fr-CA" sz="2400">
                <a:latin typeface="Arial Narrow" panose="020B0606020202030204" pitchFamily="34" charset="0"/>
                <a:cs typeface="Arial" charset="0"/>
              </a:rPr>
              <a:t>.</a:t>
            </a:r>
            <a:endParaRPr lang="fr-CA" sz="2400">
              <a:latin typeface="Arial Narrow" panose="020B0606020202030204" pitchFamily="34" charset="0"/>
            </a:endParaRPr>
          </a:p>
        </p:txBody>
      </p:sp>
      <p:pic>
        <p:nvPicPr>
          <p:cNvPr id="12291"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6200" y="628651"/>
            <a:ext cx="4813936" cy="760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11"/>
          <p:cNvSpPr txBox="1">
            <a:spLocks noChangeArrowheads="1"/>
          </p:cNvSpPr>
          <p:nvPr/>
        </p:nvSpPr>
        <p:spPr bwMode="auto">
          <a:xfrm>
            <a:off x="7829550" y="502920"/>
            <a:ext cx="1122046" cy="350865"/>
          </a:xfrm>
          <a:prstGeom prst="rect">
            <a:avLst/>
          </a:prstGeom>
          <a:noFill/>
          <a:ln w="6350">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a:solidFill>
                  <a:schemeClr val="accent2"/>
                </a:solidFill>
                <a:latin typeface="Arial" charset="0"/>
              </a:rPr>
              <a:t>Fig. 17.7</a:t>
            </a:r>
          </a:p>
        </p:txBody>
      </p:sp>
    </p:spTree>
    <p:extLst>
      <p:ext uri="{BB962C8B-B14F-4D97-AF65-F5344CB8AC3E}">
        <p14:creationId xmlns:p14="http://schemas.microsoft.com/office/powerpoint/2010/main" val="3800414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sz="half" idx="1"/>
          </p:nvPr>
        </p:nvSpPr>
        <p:spPr>
          <a:xfrm>
            <a:off x="2251710" y="1040131"/>
            <a:ext cx="4892040" cy="613410"/>
          </a:xfrm>
        </p:spPr>
        <p:txBody>
          <a:bodyPr/>
          <a:lstStyle/>
          <a:p>
            <a:pPr marL="422910" indent="-422910">
              <a:spcAft>
                <a:spcPct val="0"/>
              </a:spcAft>
              <a:buNone/>
            </a:pPr>
            <a:r>
              <a:rPr lang="en-CA" sz="2880" b="1">
                <a:latin typeface="Arial" charset="0"/>
                <a:cs typeface="Arial" charset="0"/>
              </a:rPr>
              <a:t>1.</a:t>
            </a:r>
            <a:r>
              <a:rPr lang="en-CA" sz="2400" b="1">
                <a:latin typeface="Arial" charset="0"/>
                <a:cs typeface="Arial" charset="0"/>
              </a:rPr>
              <a:t>	</a:t>
            </a:r>
            <a:r>
              <a:rPr lang="en-CA" sz="2880" b="1" u="sng">
                <a:latin typeface="Arial" charset="0"/>
                <a:cs typeface="Arial" charset="0"/>
              </a:rPr>
              <a:t>PLAQUETTES</a:t>
            </a:r>
            <a:endParaRPr lang="en-CA" sz="2880" u="sng">
              <a:latin typeface="Arial" charset="0"/>
              <a:cs typeface="Arial" charset="0"/>
            </a:endParaRPr>
          </a:p>
        </p:txBody>
      </p:sp>
      <p:sp>
        <p:nvSpPr>
          <p:cNvPr id="13315" name="Rectangle 3"/>
          <p:cNvSpPr>
            <a:spLocks noChangeArrowheads="1"/>
          </p:cNvSpPr>
          <p:nvPr/>
        </p:nvSpPr>
        <p:spPr bwMode="auto">
          <a:xfrm>
            <a:off x="2047876" y="262890"/>
            <a:ext cx="10361294" cy="668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864870" indent="-864870">
              <a:spcBef>
                <a:spcPct val="100000"/>
              </a:spcBef>
              <a:spcAft>
                <a:spcPct val="100000"/>
              </a:spcAft>
            </a:pPr>
            <a:r>
              <a:rPr lang="fr-CA" sz="3840" b="1" i="1" dirty="0">
                <a:solidFill>
                  <a:srgbClr val="0070C0"/>
                </a:solidFill>
                <a:latin typeface="Arial" charset="0"/>
              </a:rPr>
              <a:t>2.3	Hémostase</a:t>
            </a:r>
            <a:endParaRPr lang="fr-CA" sz="3600" b="1" i="1" dirty="0">
              <a:solidFill>
                <a:srgbClr val="0070C0"/>
              </a:solidFill>
              <a:latin typeface="Arial" charset="0"/>
            </a:endParaRPr>
          </a:p>
        </p:txBody>
      </p:sp>
      <p:sp>
        <p:nvSpPr>
          <p:cNvPr id="13316" name="Rectangle 4"/>
          <p:cNvSpPr>
            <a:spLocks noChangeArrowheads="1"/>
          </p:cNvSpPr>
          <p:nvPr/>
        </p:nvSpPr>
        <p:spPr bwMode="auto">
          <a:xfrm>
            <a:off x="1600200" y="1697356"/>
            <a:ext cx="11049000" cy="372427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marL="219076" indent="-219076">
              <a:spcAft>
                <a:spcPct val="50000"/>
              </a:spcAft>
              <a:buClr>
                <a:schemeClr val="tx1"/>
              </a:buClr>
              <a:buFontTx/>
              <a:buChar char="•"/>
            </a:pPr>
            <a:r>
              <a:rPr lang="fr-CA" sz="2400" dirty="0">
                <a:latin typeface="Arial Narrow" panose="020B0606020202030204" pitchFamily="34" charset="0"/>
                <a:cs typeface="Arial" charset="0"/>
              </a:rPr>
              <a:t>Fragments cytoplasmiques de </a:t>
            </a:r>
            <a:r>
              <a:rPr lang="fr-CA" sz="2400" i="1" dirty="0">
                <a:latin typeface="Arial Narrow" panose="020B0606020202030204" pitchFamily="34" charset="0"/>
                <a:cs typeface="Arial" charset="0"/>
              </a:rPr>
              <a:t>mégacaryocytes</a:t>
            </a:r>
            <a:r>
              <a:rPr lang="fr-CA" sz="2400" dirty="0">
                <a:latin typeface="Arial Narrow" panose="020B0606020202030204" pitchFamily="34" charset="0"/>
                <a:cs typeface="Arial" charset="0"/>
              </a:rPr>
              <a:t>.</a:t>
            </a:r>
          </a:p>
          <a:p>
            <a:pPr marL="219076" indent="-219076">
              <a:spcAft>
                <a:spcPct val="50000"/>
              </a:spcAft>
              <a:buClr>
                <a:schemeClr val="tx1"/>
              </a:buClr>
              <a:buFontTx/>
              <a:buChar char="•"/>
            </a:pPr>
            <a:r>
              <a:rPr lang="fr-CA" sz="2400" dirty="0">
                <a:latin typeface="Arial Narrow" panose="020B0606020202030204" pitchFamily="34" charset="0"/>
                <a:cs typeface="Arial" charset="0"/>
              </a:rPr>
              <a:t>Toutes petites, en forme de disque (2-4 </a:t>
            </a:r>
            <a:r>
              <a:rPr lang="fr-CA" sz="2400" dirty="0">
                <a:latin typeface="Arial Narrow" panose="020B0606020202030204" pitchFamily="34" charset="0"/>
                <a:cs typeface="Arial" charset="0"/>
                <a:sym typeface="Symbol" pitchFamily="18" charset="2"/>
              </a:rPr>
              <a:t></a:t>
            </a:r>
            <a:r>
              <a:rPr lang="fr-CA" sz="2400" dirty="0">
                <a:latin typeface="Arial Narrow" panose="020B0606020202030204" pitchFamily="34" charset="0"/>
                <a:cs typeface="Arial" charset="0"/>
              </a:rPr>
              <a:t>m de diamètre; volume = environ 1/10 de celui d’un érythrocyte)</a:t>
            </a:r>
            <a:endParaRPr lang="fr-CA" sz="2400" u="sng" dirty="0">
              <a:latin typeface="Arial Narrow" panose="020B0606020202030204" pitchFamily="34" charset="0"/>
              <a:cs typeface="Arial" charset="0"/>
            </a:endParaRPr>
          </a:p>
          <a:p>
            <a:pPr marL="219076" indent="-219076">
              <a:spcAft>
                <a:spcPct val="50000"/>
              </a:spcAft>
              <a:buClr>
                <a:schemeClr val="tx1"/>
              </a:buClr>
              <a:buFontTx/>
              <a:buChar char="•"/>
            </a:pPr>
            <a:r>
              <a:rPr lang="fr-CA" sz="2400" u="sng" dirty="0">
                <a:latin typeface="Arial Narrow" panose="020B0606020202030204" pitchFamily="34" charset="0"/>
                <a:cs typeface="Arial" charset="0"/>
              </a:rPr>
              <a:t>Anucléées</a:t>
            </a:r>
            <a:r>
              <a:rPr lang="fr-CA" sz="2400" dirty="0">
                <a:latin typeface="Arial Narrow" panose="020B0606020202030204" pitchFamily="34" charset="0"/>
                <a:cs typeface="Arial" charset="0"/>
              </a:rPr>
              <a:t> (durée de vie = 5 à 10 jours)</a:t>
            </a:r>
          </a:p>
          <a:p>
            <a:pPr marL="219076" indent="-219076">
              <a:spcAft>
                <a:spcPct val="50000"/>
              </a:spcAft>
              <a:buClr>
                <a:schemeClr val="tx1"/>
              </a:buClr>
              <a:buFontTx/>
              <a:buChar char="•"/>
            </a:pPr>
            <a:r>
              <a:rPr lang="fr-CA" sz="2400" dirty="0">
                <a:latin typeface="Arial Narrow" panose="020B0606020202030204" pitchFamily="34" charset="0"/>
                <a:cs typeface="Arial" charset="0"/>
              </a:rPr>
              <a:t>Contiennent des mitochondries, RE, lysosomes, glycogène, filaments d’actine et de myosine.</a:t>
            </a:r>
          </a:p>
          <a:p>
            <a:pPr marL="219076" indent="-219076">
              <a:spcAft>
                <a:spcPct val="50000"/>
              </a:spcAft>
              <a:buClr>
                <a:schemeClr val="tx1"/>
              </a:buClr>
              <a:buFontTx/>
              <a:buChar char="•"/>
            </a:pPr>
            <a:r>
              <a:rPr lang="fr-CA" sz="2400" dirty="0">
                <a:latin typeface="Arial Narrow" panose="020B0606020202030204" pitchFamily="34" charset="0"/>
                <a:cs typeface="Arial" charset="0"/>
              </a:rPr>
              <a:t>Contiennent plusieurs types de granulations qui renferment une grande variété de substances impliquées dans la coagulation et la réfection des tissus.</a:t>
            </a:r>
            <a:endParaRPr lang="fr-CA" sz="2400" b="1" dirty="0">
              <a:latin typeface="Arial Narrow" panose="020B0606020202030204" pitchFamily="34" charset="0"/>
              <a:cs typeface="Arial" charset="0"/>
            </a:endParaRPr>
          </a:p>
        </p:txBody>
      </p:sp>
    </p:spTree>
    <p:extLst>
      <p:ext uri="{BB962C8B-B14F-4D97-AF65-F5344CB8AC3E}">
        <p14:creationId xmlns:p14="http://schemas.microsoft.com/office/powerpoint/2010/main" val="279573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0" descr="17-12GenesisPlate_UN.jpg"/>
          <p:cNvPicPr>
            <a:picLocks noChangeAspect="1" noChangeArrowheads="1"/>
          </p:cNvPicPr>
          <p:nvPr/>
        </p:nvPicPr>
        <p:blipFill>
          <a:blip r:embed="rId3" cstate="print">
            <a:extLst>
              <a:ext uri="{28A0092B-C50C-407E-A947-70E740481C1C}">
                <a14:useLocalDpi xmlns:a14="http://schemas.microsoft.com/office/drawing/2010/main" val="0"/>
              </a:ext>
            </a:extLst>
          </a:blip>
          <a:srcRect b="6129"/>
          <a:stretch>
            <a:fillRect/>
          </a:stretch>
        </p:blipFill>
        <p:spPr bwMode="auto">
          <a:xfrm>
            <a:off x="2446020" y="4211956"/>
            <a:ext cx="9738360" cy="376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4"/>
          <p:cNvSpPr>
            <a:spLocks noChangeArrowheads="1"/>
          </p:cNvSpPr>
          <p:nvPr/>
        </p:nvSpPr>
        <p:spPr bwMode="auto">
          <a:xfrm>
            <a:off x="838200" y="253366"/>
            <a:ext cx="12954000" cy="3709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eaLnBrk="1" hangingPunct="1">
              <a:spcAft>
                <a:spcPct val="10000"/>
              </a:spcAft>
              <a:buClr>
                <a:schemeClr val="tx1"/>
              </a:buClr>
              <a:buFontTx/>
              <a:buChar char="•"/>
            </a:pPr>
            <a:r>
              <a:rPr lang="fr-CA" sz="2200" b="1" dirty="0">
                <a:latin typeface="Arial Narrow" panose="020B0606020202030204" pitchFamily="34" charset="0"/>
                <a:cs typeface="Arial" charset="0"/>
              </a:rPr>
              <a:t> Formation des plaquettes:</a:t>
            </a:r>
          </a:p>
          <a:p>
            <a:pPr marL="335280" lvl="1" indent="-198120">
              <a:buClr>
                <a:schemeClr val="tx1"/>
              </a:buClr>
              <a:buFontTx/>
              <a:buChar char="•"/>
            </a:pPr>
            <a:r>
              <a:rPr lang="fr-CA" sz="2200" u="sng" dirty="0">
                <a:latin typeface="Arial Narrow" panose="020B0606020202030204" pitchFamily="34" charset="0"/>
                <a:cs typeface="Arial" charset="0"/>
              </a:rPr>
              <a:t>Dans la moelle osseuse rouge</a:t>
            </a:r>
            <a:r>
              <a:rPr lang="fr-CA" sz="2200" dirty="0">
                <a:latin typeface="Arial Narrow" panose="020B0606020202030204" pitchFamily="34" charset="0"/>
                <a:cs typeface="Arial" charset="0"/>
              </a:rPr>
              <a:t>:</a:t>
            </a:r>
            <a:endParaRPr lang="fr-CA" sz="2200" i="1" dirty="0">
              <a:latin typeface="Arial Narrow" panose="020B0606020202030204" pitchFamily="34" charset="0"/>
              <a:cs typeface="Arial" charset="0"/>
            </a:endParaRPr>
          </a:p>
          <a:p>
            <a:pPr marL="626746" lvl="2" indent="-154306">
              <a:buClr>
                <a:schemeClr val="tx1"/>
              </a:buClr>
            </a:pPr>
            <a:r>
              <a:rPr lang="fr-CA" sz="2200" i="1" dirty="0" err="1">
                <a:latin typeface="Arial Narrow" panose="020B0606020202030204" pitchFamily="34" charset="0"/>
                <a:cs typeface="Arial" charset="0"/>
              </a:rPr>
              <a:t>Hémocytoblaste</a:t>
            </a:r>
            <a:r>
              <a:rPr lang="fr-CA" sz="2200" dirty="0">
                <a:latin typeface="Arial Narrow" panose="020B0606020202030204" pitchFamily="34" charset="0"/>
                <a:cs typeface="Arial" charset="0"/>
              </a:rPr>
              <a: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a:t>
            </a:r>
            <a:r>
              <a:rPr lang="fr-CA" sz="2200" i="1" dirty="0">
                <a:latin typeface="Arial Narrow" panose="020B0606020202030204" pitchFamily="34" charset="0"/>
                <a:cs typeface="Arial" charset="0"/>
              </a:rPr>
              <a:t>cellule souche myéloïde</a:t>
            </a:r>
            <a:r>
              <a:rPr lang="fr-CA" sz="2200" dirty="0">
                <a:latin typeface="Arial Narrow" panose="020B0606020202030204" pitchFamily="34" charset="0"/>
                <a:cs typeface="Arial" charset="0"/>
              </a:rPr>
              <a: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a:t>
            </a:r>
            <a:r>
              <a:rPr lang="fr-CA" sz="2200" i="1" dirty="0" err="1">
                <a:latin typeface="Arial Narrow" panose="020B0606020202030204" pitchFamily="34" charset="0"/>
                <a:cs typeface="Arial" charset="0"/>
              </a:rPr>
              <a:t>mégacaryoblaste</a:t>
            </a:r>
            <a:r>
              <a:rPr lang="fr-CA" sz="2200" dirty="0">
                <a:latin typeface="Arial Narrow" panose="020B0606020202030204" pitchFamily="34" charset="0"/>
                <a:cs typeface="Arial" charset="0"/>
              </a:rPr>
              <a: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a:t>
            </a:r>
            <a:r>
              <a:rPr lang="fr-CA" sz="2200" i="1" dirty="0">
                <a:latin typeface="Arial Narrow" panose="020B0606020202030204" pitchFamily="34" charset="0"/>
                <a:cs typeface="Arial" charset="0"/>
              </a:rPr>
              <a:t>mégacaryocyte</a:t>
            </a:r>
          </a:p>
          <a:p>
            <a:pPr marL="626746" lvl="2" indent="-154306">
              <a:spcAft>
                <a:spcPct val="25000"/>
              </a:spcAft>
              <a:buClr>
                <a:schemeClr val="tx1"/>
              </a:buClr>
            </a:pP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plaquettes</a:t>
            </a:r>
            <a:endParaRPr lang="fr-CA" sz="2200" b="1" dirty="0">
              <a:latin typeface="Arial Narrow" panose="020B0606020202030204" pitchFamily="34" charset="0"/>
              <a:cs typeface="Arial" charset="0"/>
            </a:endParaRPr>
          </a:p>
          <a:p>
            <a:pPr marL="335280" lvl="1" indent="-198120">
              <a:spcAft>
                <a:spcPct val="10000"/>
              </a:spcAft>
              <a:buClr>
                <a:schemeClr val="tx1"/>
              </a:buClr>
              <a:buFontTx/>
              <a:buChar char="•"/>
            </a:pPr>
            <a:r>
              <a:rPr lang="fr-CA" sz="2200" b="1" dirty="0">
                <a:latin typeface="Arial Narrow" panose="020B0606020202030204" pitchFamily="34" charset="0"/>
                <a:cs typeface="Arial" charset="0"/>
              </a:rPr>
              <a:t>Mégacaryocytes:</a:t>
            </a:r>
            <a:r>
              <a:rPr lang="fr-CA" sz="2200" dirty="0">
                <a:latin typeface="Arial Narrow" panose="020B0606020202030204" pitchFamily="34" charset="0"/>
                <a:cs typeface="Arial" charset="0"/>
              </a:rPr>
              <a:t> cellules très grosses qui se fragmentent en milliers de plaquettes, lesquelles entrent dans la circulation sanguine.</a:t>
            </a:r>
          </a:p>
          <a:p>
            <a:pPr marL="335280" lvl="1" indent="-198120">
              <a:spcAft>
                <a:spcPct val="10000"/>
              </a:spcAft>
              <a:buClr>
                <a:schemeClr val="tx1"/>
              </a:buClr>
              <a:buFontTx/>
              <a:buChar char="•"/>
            </a:pPr>
            <a:r>
              <a:rPr lang="fr-CA" sz="2200" dirty="0">
                <a:latin typeface="Arial Narrow" panose="020B0606020202030204" pitchFamily="34" charset="0"/>
                <a:cs typeface="Arial" charset="0"/>
              </a:rPr>
              <a:t>Taux de production: 1-2 millions de plaquettes par seconde.</a:t>
            </a:r>
          </a:p>
          <a:p>
            <a:pPr marL="335280" lvl="1" indent="-198120">
              <a:spcAft>
                <a:spcPct val="10000"/>
              </a:spcAft>
              <a:buClr>
                <a:schemeClr val="tx1"/>
              </a:buClr>
              <a:buFontTx/>
              <a:buChar char="•"/>
            </a:pPr>
            <a:r>
              <a:rPr lang="fr-CA" sz="2200" u="sng" dirty="0">
                <a:latin typeface="Arial Narrow" panose="020B0606020202030204" pitchFamily="34" charset="0"/>
                <a:cs typeface="Arial" charset="0"/>
              </a:rPr>
              <a:t>Régulation de la production</a:t>
            </a:r>
            <a:r>
              <a:rPr lang="fr-CA" sz="2200" dirty="0">
                <a:latin typeface="Arial Narrow" panose="020B0606020202030204" pitchFamily="34" charset="0"/>
                <a:cs typeface="Arial" charset="0"/>
              </a:rPr>
              <a:t>:</a:t>
            </a:r>
          </a:p>
          <a:p>
            <a:pPr marL="626746" lvl="2" indent="-154306">
              <a:buClr>
                <a:schemeClr val="tx1"/>
              </a:buClr>
              <a:buSzPct val="70000"/>
              <a:buFont typeface="Wingdings" pitchFamily="2" charset="2"/>
              <a:buChar char="§"/>
            </a:pPr>
            <a:r>
              <a:rPr lang="fr-CA" sz="2200" dirty="0">
                <a:latin typeface="Arial Narrow" panose="020B0606020202030204" pitchFamily="34" charset="0"/>
                <a:cs typeface="Arial" charset="0"/>
              </a:rPr>
              <a:t>Principalement par la </a:t>
            </a:r>
            <a:r>
              <a:rPr lang="fr-CA" sz="2200" b="1" i="1" dirty="0" err="1">
                <a:latin typeface="Arial Narrow" panose="020B0606020202030204" pitchFamily="34" charset="0"/>
                <a:cs typeface="Arial" charset="0"/>
              </a:rPr>
              <a:t>thrombopoïétine</a:t>
            </a:r>
            <a:r>
              <a:rPr lang="fr-CA" sz="2200" b="1" dirty="0">
                <a:latin typeface="Arial Narrow" panose="020B0606020202030204" pitchFamily="34" charset="0"/>
                <a:cs typeface="Arial" charset="0"/>
              </a:rPr>
              <a:t> (</a:t>
            </a:r>
            <a:r>
              <a:rPr lang="fr-CA" sz="2200" b="1" i="1" dirty="0">
                <a:latin typeface="Arial Narrow" panose="020B0606020202030204" pitchFamily="34" charset="0"/>
                <a:cs typeface="Arial" charset="0"/>
              </a:rPr>
              <a:t>TPO</a:t>
            </a:r>
            <a:r>
              <a:rPr lang="fr-CA" sz="2200" b="1" dirty="0">
                <a:latin typeface="Arial Narrow" panose="020B0606020202030204" pitchFamily="34" charset="0"/>
                <a:cs typeface="Arial" charset="0"/>
              </a:rPr>
              <a:t>):</a:t>
            </a:r>
            <a:r>
              <a:rPr lang="fr-CA" sz="2200" dirty="0">
                <a:latin typeface="Arial Narrow" panose="020B0606020202030204" pitchFamily="34" charset="0"/>
                <a:cs typeface="Arial" charset="0"/>
              </a:rPr>
              <a:t> hormone produite par plusieurs organes, y compris le foie.</a:t>
            </a:r>
          </a:p>
          <a:p>
            <a:pPr marL="626746" lvl="2" indent="-154306">
              <a:buClr>
                <a:schemeClr val="tx1"/>
              </a:buClr>
              <a:buSzPct val="70000"/>
              <a:buFont typeface="Wingdings" pitchFamily="2" charset="2"/>
              <a:buChar char="§"/>
            </a:pPr>
            <a:r>
              <a:rPr lang="fr-CA" sz="2200" dirty="0">
                <a:latin typeface="Arial Narrow" panose="020B0606020202030204" pitchFamily="34" charset="0"/>
                <a:cs typeface="Arial" charset="0"/>
              </a:rPr>
              <a:t>Une diminution du taux de plaquette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TPO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formation de plaquettes</a:t>
            </a:r>
          </a:p>
          <a:p>
            <a:pPr marL="626746" lvl="2" indent="-154306">
              <a:buClr>
                <a:schemeClr val="tx1"/>
              </a:buClr>
              <a:buSzPct val="70000"/>
              <a:buFont typeface="Wingdings" pitchFamily="2" charset="2"/>
              <a:buChar char="§"/>
            </a:pPr>
            <a:r>
              <a:rPr lang="fr-CA" sz="2200" dirty="0">
                <a:latin typeface="Arial Narrow" panose="020B0606020202030204" pitchFamily="34" charset="0"/>
                <a:cs typeface="Arial" charset="0"/>
              </a:rPr>
              <a:t>Inversement: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du taux de plaquettes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TPO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formation des plaquettes</a:t>
            </a:r>
          </a:p>
        </p:txBody>
      </p:sp>
      <p:sp>
        <p:nvSpPr>
          <p:cNvPr id="14340" name="Text Box 5"/>
          <p:cNvSpPr txBox="1">
            <a:spLocks noChangeArrowheads="1"/>
          </p:cNvSpPr>
          <p:nvPr/>
        </p:nvSpPr>
        <p:spPr bwMode="auto">
          <a:xfrm>
            <a:off x="12372976" y="7467600"/>
            <a:ext cx="1114424" cy="302853"/>
          </a:xfrm>
          <a:prstGeom prst="rect">
            <a:avLst/>
          </a:prstGeom>
          <a:noFill/>
          <a:ln w="6350">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lIns="54864" tIns="21946" rIns="54864" bIns="21946">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a:solidFill>
                  <a:schemeClr val="accent2"/>
                </a:solidFill>
                <a:latin typeface="Arial" charset="0"/>
              </a:rPr>
              <a:t>Fig. 17.12</a:t>
            </a:r>
          </a:p>
        </p:txBody>
      </p:sp>
      <p:sp>
        <p:nvSpPr>
          <p:cNvPr id="14341" name="Text Box 28"/>
          <p:cNvSpPr txBox="1">
            <a:spLocks noChangeArrowheads="1"/>
          </p:cNvSpPr>
          <p:nvPr/>
        </p:nvSpPr>
        <p:spPr bwMode="auto">
          <a:xfrm>
            <a:off x="2828926" y="4575810"/>
            <a:ext cx="1289684" cy="210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a:latin typeface="Verdana" pitchFamily="34" charset="0"/>
              </a:rPr>
              <a:t>Cellule souche</a:t>
            </a:r>
          </a:p>
        </p:txBody>
      </p:sp>
      <p:sp>
        <p:nvSpPr>
          <p:cNvPr id="14342" name="Text Box 30"/>
          <p:cNvSpPr txBox="1">
            <a:spLocks noChangeArrowheads="1"/>
          </p:cNvSpPr>
          <p:nvPr/>
        </p:nvSpPr>
        <p:spPr bwMode="auto">
          <a:xfrm>
            <a:off x="4688206" y="4509136"/>
            <a:ext cx="2164080" cy="210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a:latin typeface="Verdana" pitchFamily="34" charset="0"/>
              </a:rPr>
              <a:t>Différenciation cellulaire</a:t>
            </a:r>
          </a:p>
        </p:txBody>
      </p:sp>
      <p:sp>
        <p:nvSpPr>
          <p:cNvPr id="14343" name="Text Box 31"/>
          <p:cNvSpPr txBox="1">
            <a:spLocks noChangeArrowheads="1"/>
          </p:cNvSpPr>
          <p:nvPr/>
        </p:nvSpPr>
        <p:spPr bwMode="auto">
          <a:xfrm>
            <a:off x="2769870" y="7387590"/>
            <a:ext cx="1358266" cy="229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Hémocytoblaste</a:t>
            </a:r>
          </a:p>
        </p:txBody>
      </p:sp>
      <p:sp>
        <p:nvSpPr>
          <p:cNvPr id="14344" name="Text Box 32"/>
          <p:cNvSpPr txBox="1">
            <a:spLocks noChangeArrowheads="1"/>
          </p:cNvSpPr>
          <p:nvPr/>
        </p:nvSpPr>
        <p:spPr bwMode="auto">
          <a:xfrm>
            <a:off x="4627246" y="7399020"/>
            <a:ext cx="1495424" cy="229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Mégacaryoblaste</a:t>
            </a:r>
          </a:p>
        </p:txBody>
      </p:sp>
      <p:sp>
        <p:nvSpPr>
          <p:cNvPr id="14345" name="Text Box 34"/>
          <p:cNvSpPr txBox="1">
            <a:spLocks noChangeArrowheads="1"/>
          </p:cNvSpPr>
          <p:nvPr/>
        </p:nvSpPr>
        <p:spPr bwMode="auto">
          <a:xfrm>
            <a:off x="8808720" y="7370446"/>
            <a:ext cx="1350646" cy="229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Mégacaryocyte</a:t>
            </a:r>
          </a:p>
        </p:txBody>
      </p:sp>
      <p:sp>
        <p:nvSpPr>
          <p:cNvPr id="14346" name="Text Box 35"/>
          <p:cNvSpPr txBox="1">
            <a:spLocks noChangeArrowheads="1"/>
          </p:cNvSpPr>
          <p:nvPr/>
        </p:nvSpPr>
        <p:spPr bwMode="auto">
          <a:xfrm>
            <a:off x="10902316" y="7362826"/>
            <a:ext cx="906780" cy="229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960" rIns="0" bIns="1296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320">
                <a:latin typeface="Verdana" pitchFamily="34" charset="0"/>
              </a:rPr>
              <a:t>Plaquettes</a:t>
            </a:r>
          </a:p>
        </p:txBody>
      </p:sp>
    </p:spTree>
    <p:extLst>
      <p:ext uri="{BB962C8B-B14F-4D97-AF65-F5344CB8AC3E}">
        <p14:creationId xmlns:p14="http://schemas.microsoft.com/office/powerpoint/2010/main" val="2939267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sz="half" idx="1"/>
          </p:nvPr>
        </p:nvSpPr>
        <p:spPr>
          <a:xfrm>
            <a:off x="2049780" y="302896"/>
            <a:ext cx="4892040" cy="613410"/>
          </a:xfrm>
        </p:spPr>
        <p:txBody>
          <a:bodyPr/>
          <a:lstStyle/>
          <a:p>
            <a:pPr marL="422910" indent="-422910">
              <a:spcAft>
                <a:spcPct val="0"/>
              </a:spcAft>
              <a:buNone/>
            </a:pPr>
            <a:r>
              <a:rPr lang="fr-CA" sz="2880" b="1" dirty="0">
                <a:latin typeface="Arial" charset="0"/>
                <a:cs typeface="Arial" charset="0"/>
              </a:rPr>
              <a:t>2.	</a:t>
            </a:r>
            <a:r>
              <a:rPr lang="fr-CA" sz="2880" b="1" u="sng" dirty="0">
                <a:latin typeface="Arial" charset="0"/>
                <a:cs typeface="Arial" charset="0"/>
              </a:rPr>
              <a:t>HÉMOSTASE</a:t>
            </a:r>
          </a:p>
        </p:txBody>
      </p:sp>
      <p:pic>
        <p:nvPicPr>
          <p:cNvPr id="15367" name="Picture 7" descr="C:\OLD_PC\backup\DriveD\michel\Marieb\HAP8e_IRDVD\Chapter_17\B_JPEG_Images_and_Tables\b_unlabeled\figure_17_13_unlabele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22" t="930" r="40189" b="5143"/>
          <a:stretch/>
        </p:blipFill>
        <p:spPr bwMode="auto">
          <a:xfrm>
            <a:off x="7716521" y="304013"/>
            <a:ext cx="4841239" cy="7849387"/>
          </a:xfrm>
          <a:prstGeom prst="rect">
            <a:avLst/>
          </a:prstGeom>
          <a:noFill/>
          <a:extLst>
            <a:ext uri="{909E8E84-426E-40DD-AFC4-6F175D3DCCD1}">
              <a14:hiddenFill xmlns:a14="http://schemas.microsoft.com/office/drawing/2010/main">
                <a:solidFill>
                  <a:srgbClr val="FFFFFF"/>
                </a:solidFill>
              </a14:hiddenFill>
            </a:ext>
          </a:extLst>
        </p:spPr>
      </p:pic>
      <p:sp>
        <p:nvSpPr>
          <p:cNvPr id="15363" name="Rectangle 4"/>
          <p:cNvSpPr>
            <a:spLocks noChangeArrowheads="1"/>
          </p:cNvSpPr>
          <p:nvPr/>
        </p:nvSpPr>
        <p:spPr bwMode="auto">
          <a:xfrm>
            <a:off x="838200" y="916306"/>
            <a:ext cx="7223761" cy="5179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marL="320040" indent="-320040">
              <a:spcAft>
                <a:spcPct val="25000"/>
              </a:spcAft>
              <a:buClr>
                <a:schemeClr val="tx1"/>
              </a:buClr>
              <a:buFont typeface="Arial" pitchFamily="34" charset="0"/>
              <a:buChar char="‒"/>
            </a:pPr>
            <a:r>
              <a:rPr lang="fr-CA" sz="2400" dirty="0">
                <a:latin typeface="Arial Narrow" panose="020B0606020202030204" pitchFamily="34" charset="0"/>
                <a:cs typeface="Arial" charset="0"/>
              </a:rPr>
              <a:t>Séquence de réactions qui arrêtent le saignement suite à la rupture d’un vaisseau sanguin.</a:t>
            </a:r>
          </a:p>
          <a:p>
            <a:pPr marL="320040" indent="-320040">
              <a:spcAft>
                <a:spcPct val="25000"/>
              </a:spcAft>
              <a:buClr>
                <a:schemeClr val="tx1"/>
              </a:buClr>
              <a:buFont typeface="Arial" pitchFamily="34" charset="0"/>
              <a:buChar char="‒"/>
            </a:pPr>
            <a:r>
              <a:rPr lang="fr-CA" sz="2400" dirty="0">
                <a:latin typeface="Arial Narrow" panose="020B0606020202030204" pitchFamily="34" charset="0"/>
                <a:cs typeface="Arial" charset="0"/>
              </a:rPr>
              <a:t>Fait intervenir principalement: les </a:t>
            </a:r>
            <a:r>
              <a:rPr lang="fr-CA" sz="2400" u="sng" dirty="0">
                <a:latin typeface="Arial Narrow" panose="020B0606020202030204" pitchFamily="34" charset="0"/>
                <a:cs typeface="Arial" charset="0"/>
              </a:rPr>
              <a:t>vaisseaux sanguins</a:t>
            </a:r>
            <a:r>
              <a:rPr lang="fr-CA" sz="2400" dirty="0">
                <a:latin typeface="Arial Narrow" panose="020B0606020202030204" pitchFamily="34" charset="0"/>
                <a:cs typeface="Arial" charset="0"/>
              </a:rPr>
              <a:t>, les </a:t>
            </a:r>
            <a:r>
              <a:rPr lang="fr-CA" sz="2400" u="sng" dirty="0">
                <a:latin typeface="Arial Narrow" panose="020B0606020202030204" pitchFamily="34" charset="0"/>
                <a:cs typeface="Arial" charset="0"/>
              </a:rPr>
              <a:t>plaquettes</a:t>
            </a:r>
            <a:r>
              <a:rPr lang="fr-CA" sz="2400" dirty="0">
                <a:latin typeface="Arial Narrow" panose="020B0606020202030204" pitchFamily="34" charset="0"/>
                <a:cs typeface="Arial" charset="0"/>
              </a:rPr>
              <a:t>, et les </a:t>
            </a:r>
            <a:r>
              <a:rPr lang="fr-CA" sz="2400" u="sng" dirty="0">
                <a:latin typeface="Arial Narrow" panose="020B0606020202030204" pitchFamily="34" charset="0"/>
                <a:cs typeface="Arial" charset="0"/>
              </a:rPr>
              <a:t>facteurs de coagulation</a:t>
            </a:r>
            <a:r>
              <a:rPr lang="fr-CA" sz="2400" dirty="0">
                <a:latin typeface="Arial Narrow" panose="020B0606020202030204" pitchFamily="34" charset="0"/>
                <a:cs typeface="Arial" charset="0"/>
              </a:rPr>
              <a:t>.</a:t>
            </a:r>
          </a:p>
          <a:p>
            <a:pPr marL="320040" indent="-320040">
              <a:buClr>
                <a:schemeClr val="tx1"/>
              </a:buClr>
              <a:buFont typeface="Arial" pitchFamily="34" charset="0"/>
              <a:buChar char="‒"/>
            </a:pPr>
            <a:r>
              <a:rPr lang="fr-CA" sz="2400" dirty="0">
                <a:latin typeface="Arial Narrow" panose="020B0606020202030204" pitchFamily="34" charset="0"/>
                <a:cs typeface="Arial" charset="0"/>
              </a:rPr>
              <a:t>Consiste en trois phases:</a:t>
            </a:r>
          </a:p>
          <a:p>
            <a:pPr marL="746760" lvl="1" indent="-426720">
              <a:buClr>
                <a:schemeClr val="tx1"/>
              </a:buClr>
            </a:pPr>
            <a:r>
              <a:rPr lang="fr-CA" sz="2400" b="1" dirty="0">
                <a:solidFill>
                  <a:srgbClr val="23AABE"/>
                </a:solidFill>
                <a:latin typeface="Arial Narrow" panose="020B0606020202030204" pitchFamily="34" charset="0"/>
                <a:cs typeface="Arial" charset="0"/>
                <a:sym typeface="Wingdings 2"/>
              </a:rPr>
              <a:t>  </a:t>
            </a:r>
            <a:r>
              <a:rPr lang="fr-CA" sz="2400" b="1" i="1" dirty="0">
                <a:solidFill>
                  <a:srgbClr val="23AABE"/>
                </a:solidFill>
                <a:latin typeface="Arial Narrow" panose="020B0606020202030204" pitchFamily="34" charset="0"/>
                <a:cs typeface="Arial" charset="0"/>
              </a:rPr>
              <a:t>Spasme vasculaire</a:t>
            </a:r>
            <a:endParaRPr lang="fr-CA" sz="2400" b="1" dirty="0">
              <a:solidFill>
                <a:srgbClr val="23AABE"/>
              </a:solidFill>
              <a:latin typeface="Arial Narrow" panose="020B0606020202030204" pitchFamily="34" charset="0"/>
              <a:cs typeface="Arial" charset="0"/>
            </a:endParaRPr>
          </a:p>
          <a:p>
            <a:pPr marL="746760" lvl="1" indent="-426720">
              <a:buClr>
                <a:schemeClr val="tx1"/>
              </a:buClr>
            </a:pPr>
            <a:r>
              <a:rPr lang="fr-CA" sz="2400" b="1" dirty="0">
                <a:solidFill>
                  <a:srgbClr val="23AABE"/>
                </a:solidFill>
                <a:latin typeface="Arial Narrow" panose="020B0606020202030204" pitchFamily="34" charset="0"/>
                <a:cs typeface="Arial" charset="0"/>
                <a:sym typeface="Wingdings 2"/>
              </a:rPr>
              <a:t> 	</a:t>
            </a:r>
            <a:r>
              <a:rPr lang="fr-CA" sz="2400" b="1" i="1" dirty="0">
                <a:solidFill>
                  <a:srgbClr val="23AABE"/>
                </a:solidFill>
                <a:latin typeface="Arial Narrow" panose="020B0606020202030204" pitchFamily="34" charset="0"/>
                <a:cs typeface="Arial" charset="0"/>
              </a:rPr>
              <a:t>Formation du clou plaquettaire</a:t>
            </a:r>
            <a:endParaRPr lang="fr-CA" sz="2400" b="1" dirty="0">
              <a:solidFill>
                <a:srgbClr val="23AABE"/>
              </a:solidFill>
              <a:latin typeface="Arial Narrow" panose="020B0606020202030204" pitchFamily="34" charset="0"/>
              <a:cs typeface="Arial" charset="0"/>
            </a:endParaRPr>
          </a:p>
          <a:p>
            <a:pPr marL="746760" lvl="1" indent="-426720">
              <a:buClr>
                <a:schemeClr val="tx1"/>
              </a:buClr>
            </a:pPr>
            <a:r>
              <a:rPr lang="fr-CA" sz="2400" b="1" dirty="0">
                <a:solidFill>
                  <a:srgbClr val="23AABE"/>
                </a:solidFill>
                <a:latin typeface="Arial Narrow" panose="020B0606020202030204" pitchFamily="34" charset="0"/>
                <a:cs typeface="Arial" charset="0"/>
                <a:sym typeface="Wingdings 2"/>
              </a:rPr>
              <a:t> 	</a:t>
            </a:r>
            <a:r>
              <a:rPr lang="fr-CA" sz="2400" b="1" i="1" dirty="0">
                <a:solidFill>
                  <a:srgbClr val="23AABE"/>
                </a:solidFill>
                <a:latin typeface="Arial Narrow" panose="020B0606020202030204" pitchFamily="34" charset="0"/>
                <a:cs typeface="Arial" charset="0"/>
              </a:rPr>
              <a:t>Coagulation</a:t>
            </a:r>
            <a:endParaRPr lang="fr-CA" sz="2400" b="1" dirty="0">
              <a:solidFill>
                <a:srgbClr val="23AABE"/>
              </a:solidFill>
              <a:latin typeface="Arial Narrow" panose="020B0606020202030204" pitchFamily="34" charset="0"/>
              <a:cs typeface="Arial" charset="0"/>
            </a:endParaRPr>
          </a:p>
        </p:txBody>
      </p:sp>
      <p:sp>
        <p:nvSpPr>
          <p:cNvPr id="8" name="Text Box 23"/>
          <p:cNvSpPr txBox="1">
            <a:spLocks noChangeArrowheads="1"/>
          </p:cNvSpPr>
          <p:nvPr/>
        </p:nvSpPr>
        <p:spPr bwMode="auto">
          <a:xfrm>
            <a:off x="6903720" y="7524750"/>
            <a:ext cx="1158240" cy="302853"/>
          </a:xfrm>
          <a:prstGeom prst="rect">
            <a:avLst/>
          </a:prstGeom>
          <a:noFill/>
          <a:ln w="6350">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lIns="54864" tIns="21946" rIns="54864" bIns="21946">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dirty="0">
                <a:solidFill>
                  <a:schemeClr val="accent2"/>
                </a:solidFill>
                <a:latin typeface="Arial" charset="0"/>
              </a:rPr>
              <a:t>Fig. 17.13</a:t>
            </a:r>
          </a:p>
        </p:txBody>
      </p:sp>
    </p:spTree>
    <p:extLst>
      <p:ext uri="{BB962C8B-B14F-4D97-AF65-F5344CB8AC3E}">
        <p14:creationId xmlns:p14="http://schemas.microsoft.com/office/powerpoint/2010/main" val="31438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5"/>
          <p:cNvSpPr>
            <a:spLocks noChangeArrowheads="1"/>
          </p:cNvSpPr>
          <p:nvPr/>
        </p:nvSpPr>
        <p:spPr bwMode="auto">
          <a:xfrm>
            <a:off x="533400" y="333374"/>
            <a:ext cx="8001000" cy="6524626"/>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spcAft>
                <a:spcPct val="25000"/>
              </a:spcAft>
              <a:buClr>
                <a:schemeClr val="tx1"/>
              </a:buClr>
            </a:pPr>
            <a:r>
              <a:rPr lang="fr-CA" sz="3200" b="1" dirty="0">
                <a:solidFill>
                  <a:schemeClr val="accent1">
                    <a:lumMod val="75000"/>
                  </a:schemeClr>
                </a:solidFill>
                <a:latin typeface="Arial Narrow" panose="020B0606020202030204" pitchFamily="34" charset="0"/>
                <a:cs typeface="Arial" charset="0"/>
                <a:sym typeface="Wingdings 2"/>
              </a:rPr>
              <a:t></a:t>
            </a:r>
            <a:r>
              <a:rPr lang="fr-CA" sz="3200" b="1" i="1" dirty="0">
                <a:solidFill>
                  <a:schemeClr val="accent1">
                    <a:lumMod val="75000"/>
                  </a:schemeClr>
                </a:solidFill>
                <a:latin typeface="Arial Narrow" panose="020B0606020202030204" pitchFamily="34" charset="0"/>
                <a:cs typeface="Arial" charset="0"/>
              </a:rPr>
              <a:t>  </a:t>
            </a:r>
            <a:r>
              <a:rPr lang="fr-CA" sz="3200" b="1" i="1" u="sng" dirty="0">
                <a:solidFill>
                  <a:schemeClr val="accent1">
                    <a:lumMod val="75000"/>
                  </a:schemeClr>
                </a:solidFill>
                <a:latin typeface="Arial Narrow" panose="020B0606020202030204" pitchFamily="34" charset="0"/>
                <a:cs typeface="Arial" charset="0"/>
              </a:rPr>
              <a:t>Spasme vasculaire</a:t>
            </a:r>
            <a:endParaRPr lang="fr-CA" sz="3200" dirty="0">
              <a:solidFill>
                <a:schemeClr val="accent1">
                  <a:lumMod val="75000"/>
                </a:schemeClr>
              </a:solidFill>
              <a:latin typeface="Arial Narrow" panose="020B0606020202030204" pitchFamily="34" charset="0"/>
              <a:cs typeface="Arial" charset="0"/>
            </a:endParaRPr>
          </a:p>
          <a:p>
            <a:pPr marL="645796" lvl="1" indent="-217170">
              <a:spcBef>
                <a:spcPts val="720"/>
              </a:spcBef>
              <a:buClr>
                <a:schemeClr val="tx1"/>
              </a:buClr>
              <a:buSzPct val="85000"/>
              <a:buFont typeface="Symbol" pitchFamily="18" charset="2"/>
              <a:buChar char="-"/>
            </a:pPr>
            <a:r>
              <a:rPr lang="fr-CA" sz="2400" dirty="0">
                <a:latin typeface="Arial Narrow" panose="020B0606020202030204" pitchFamily="34" charset="0"/>
                <a:cs typeface="Arial" charset="0"/>
              </a:rPr>
              <a:t>Constriction du vaisseau (« vaso-constriction ») en réponse à sa lésion.</a:t>
            </a:r>
          </a:p>
          <a:p>
            <a:pPr marL="645796" lvl="1" indent="-217170">
              <a:spcBef>
                <a:spcPts val="720"/>
              </a:spcBef>
              <a:buClr>
                <a:schemeClr val="tx1"/>
              </a:buClr>
              <a:buSzPct val="85000"/>
              <a:buFont typeface="Symbol" pitchFamily="18" charset="2"/>
              <a:buChar char="-"/>
            </a:pPr>
            <a:r>
              <a:rPr lang="fr-CA" sz="2400" dirty="0">
                <a:latin typeface="Arial Narrow" panose="020B0606020202030204" pitchFamily="34" charset="0"/>
                <a:cs typeface="Arial" charset="0"/>
              </a:rPr>
              <a:t>Immédiat (0-1 minute) mais transitoire (plusieurs minutes jusqu’à une heure environ)</a:t>
            </a:r>
          </a:p>
          <a:p>
            <a:pPr marL="864870" lvl="2" indent="-217170">
              <a:spcAft>
                <a:spcPct val="25000"/>
              </a:spcAft>
              <a:buClr>
                <a:schemeClr val="tx1"/>
              </a:buClr>
            </a:pPr>
            <a:r>
              <a:rPr lang="fr-CA" sz="2400" dirty="0">
                <a:latin typeface="Arial Narrow" panose="020B0606020202030204" pitchFamily="34" charset="0"/>
                <a:cs typeface="Arial" charset="0"/>
                <a:sym typeface="Symbol" pitchFamily="18" charset="2"/>
              </a:rPr>
              <a:t></a:t>
            </a:r>
            <a:r>
              <a:rPr lang="fr-CA" sz="2400" dirty="0">
                <a:latin typeface="Arial Narrow" panose="020B0606020202030204" pitchFamily="34" charset="0"/>
                <a:cs typeface="Arial" charset="0"/>
              </a:rPr>
              <a:t> donne le temps nécessaire à la formation du clou plaquettaire et à la coagulation.</a:t>
            </a:r>
          </a:p>
          <a:p>
            <a:pPr marL="645796" lvl="1" indent="-217170">
              <a:spcBef>
                <a:spcPts val="720"/>
              </a:spcBef>
              <a:buClr>
                <a:schemeClr val="tx1"/>
              </a:buClr>
              <a:buSzPct val="85000"/>
              <a:buFont typeface="Symbol" pitchFamily="18" charset="2"/>
              <a:buChar char="-"/>
            </a:pPr>
            <a:r>
              <a:rPr lang="fr-CA" sz="2400" dirty="0">
                <a:latin typeface="Arial Narrow" panose="020B0606020202030204" pitchFamily="34" charset="0"/>
                <a:cs typeface="Arial" charset="0"/>
              </a:rPr>
              <a:t>Déclenché par:</a:t>
            </a:r>
          </a:p>
          <a:p>
            <a:pPr marL="864870" lvl="2" indent="-217170">
              <a:buClr>
                <a:schemeClr val="tx1"/>
              </a:buClr>
              <a:buSzPct val="70000"/>
              <a:buFont typeface="Wingdings" pitchFamily="2" charset="2"/>
              <a:buChar char="§"/>
            </a:pPr>
            <a:r>
              <a:rPr lang="fr-CA" sz="2400" dirty="0">
                <a:latin typeface="Arial Narrow" panose="020B0606020202030204" pitchFamily="34" charset="0"/>
                <a:cs typeface="Arial" charset="0"/>
              </a:rPr>
              <a:t>Des médiateurs chimiques libérés par les cellules endothéliales et les plaquettes</a:t>
            </a:r>
          </a:p>
          <a:p>
            <a:pPr marL="864870" lvl="2" indent="-217170">
              <a:spcAft>
                <a:spcPct val="10000"/>
              </a:spcAft>
              <a:buClr>
                <a:schemeClr val="tx1"/>
              </a:buClr>
              <a:buSzPct val="70000"/>
            </a:pPr>
            <a:r>
              <a:rPr lang="fr-CA" sz="2400" dirty="0">
                <a:latin typeface="Arial Narrow" panose="020B0606020202030204" pitchFamily="34" charset="0"/>
                <a:cs typeface="Arial" charset="0"/>
              </a:rPr>
              <a:t>	(ex.: </a:t>
            </a:r>
            <a:r>
              <a:rPr lang="fr-CA" sz="2400" i="1" dirty="0">
                <a:latin typeface="Arial Narrow" panose="020B0606020202030204" pitchFamily="34" charset="0"/>
                <a:cs typeface="Arial" charset="0"/>
              </a:rPr>
              <a:t>sérotonine</a:t>
            </a:r>
            <a:r>
              <a:rPr lang="fr-CA" sz="2400" dirty="0">
                <a:latin typeface="Arial Narrow" panose="020B0606020202030204" pitchFamily="34" charset="0"/>
                <a:cs typeface="Arial" charset="0"/>
              </a:rPr>
              <a:t>, </a:t>
            </a:r>
            <a:r>
              <a:rPr lang="fr-CA" sz="2400" i="1" dirty="0" err="1">
                <a:latin typeface="Arial Narrow" panose="020B0606020202030204" pitchFamily="34" charset="0"/>
                <a:cs typeface="Arial" charset="0"/>
              </a:rPr>
              <a:t>thromboxane</a:t>
            </a:r>
            <a:r>
              <a:rPr lang="fr-CA" sz="2400" i="1" dirty="0">
                <a:latin typeface="Arial Narrow" panose="020B0606020202030204" pitchFamily="34" charset="0"/>
                <a:cs typeface="Arial" charset="0"/>
              </a:rPr>
              <a:t> A</a:t>
            </a:r>
            <a:r>
              <a:rPr lang="fr-CA" sz="2400" dirty="0">
                <a:latin typeface="Arial Narrow" panose="020B0606020202030204" pitchFamily="34" charset="0"/>
                <a:cs typeface="Arial" charset="0"/>
              </a:rPr>
              <a:t>2)</a:t>
            </a:r>
          </a:p>
          <a:p>
            <a:pPr marL="864870" lvl="2" indent="-217170">
              <a:spcAft>
                <a:spcPct val="10000"/>
              </a:spcAft>
              <a:buClr>
                <a:schemeClr val="tx1"/>
              </a:buClr>
              <a:buSzPct val="70000"/>
              <a:buFont typeface="Wingdings" pitchFamily="2" charset="2"/>
              <a:buChar char="§"/>
            </a:pPr>
            <a:r>
              <a:rPr lang="fr-CA" sz="2400" dirty="0">
                <a:latin typeface="Arial Narrow" panose="020B0606020202030204" pitchFamily="34" charset="0"/>
                <a:cs typeface="Arial" charset="0"/>
              </a:rPr>
              <a:t>Des réflexes nerveux initiés par les récepteurs à la douleur.</a:t>
            </a:r>
          </a:p>
        </p:txBody>
      </p:sp>
      <p:pic>
        <p:nvPicPr>
          <p:cNvPr id="8" name="Picture 7" descr="C:\OLD_PC\backup\DriveD\michel\Marieb\HAP8e_IRDVD\Chapter_17\B_JPEG_Images_and_Tables\b_unlabeled\figure_17_13_unlabele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083" t="387" r="57078" b="72216"/>
          <a:stretch/>
        </p:blipFill>
        <p:spPr bwMode="auto">
          <a:xfrm>
            <a:off x="7996200" y="853561"/>
            <a:ext cx="4685281" cy="4070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313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descr="C:\OLD_PC\backup\DriveD\michel\Marieb\HAP8e_IRDVD\Chapter_17\B_JPEG_Images_and_Tables\b_unlabeled\figure_17_13_unlabele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082" t="27162" r="64082" b="29429"/>
          <a:stretch/>
        </p:blipFill>
        <p:spPr bwMode="auto">
          <a:xfrm>
            <a:off x="8681346" y="1080000"/>
            <a:ext cx="3756684" cy="6574198"/>
          </a:xfrm>
          <a:prstGeom prst="rect">
            <a:avLst/>
          </a:prstGeom>
          <a:noFill/>
          <a:extLst>
            <a:ext uri="{909E8E84-426E-40DD-AFC4-6F175D3DCCD1}">
              <a14:hiddenFill xmlns:a14="http://schemas.microsoft.com/office/drawing/2010/main">
                <a:solidFill>
                  <a:srgbClr val="FFFFFF"/>
                </a:solidFill>
              </a14:hiddenFill>
            </a:ext>
          </a:extLst>
        </p:spPr>
      </p:pic>
      <p:sp>
        <p:nvSpPr>
          <p:cNvPr id="16386" name="Rectangle 5"/>
          <p:cNvSpPr>
            <a:spLocks noChangeArrowheads="1"/>
          </p:cNvSpPr>
          <p:nvPr/>
        </p:nvSpPr>
        <p:spPr bwMode="auto">
          <a:xfrm>
            <a:off x="762000" y="1045936"/>
            <a:ext cx="7553993" cy="733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marL="213360" indent="-213360">
              <a:spcAft>
                <a:spcPct val="10000"/>
              </a:spcAft>
              <a:buClr>
                <a:schemeClr val="tx1"/>
              </a:buClr>
              <a:buFont typeface="Arial" pitchFamily="34" charset="0"/>
              <a:buChar char="‒"/>
            </a:pPr>
            <a:r>
              <a:rPr lang="fr-CA" sz="2000" dirty="0">
                <a:latin typeface="Arial Narrow" panose="020B0606020202030204" pitchFamily="34" charset="0"/>
                <a:cs typeface="Arial" charset="0"/>
              </a:rPr>
              <a:t>Accumulation des plaquettes au site endommagé</a:t>
            </a:r>
          </a:p>
          <a:p>
            <a:pPr marL="213360" indent="-213360">
              <a:spcAft>
                <a:spcPct val="10000"/>
              </a:spcAft>
              <a:buClr>
                <a:schemeClr val="tx1"/>
              </a:buClr>
              <a:buFont typeface="Arial" pitchFamily="34" charset="0"/>
              <a:buChar char="‒"/>
            </a:pPr>
            <a:r>
              <a:rPr lang="fr-CA" sz="2000" dirty="0">
                <a:latin typeface="Arial Narrow" panose="020B0606020202030204" pitchFamily="34" charset="0"/>
                <a:cs typeface="Arial" charset="0"/>
              </a:rPr>
              <a:t>Déclenchée lorsque les plaquettes viennent en contact avec les fibres collagènes du tissu conjonctif</a:t>
            </a:r>
          </a:p>
          <a:p>
            <a:pPr marL="213360" indent="-213360">
              <a:spcAft>
                <a:spcPct val="10000"/>
              </a:spcAft>
              <a:buClr>
                <a:schemeClr val="tx1"/>
              </a:buClr>
              <a:buFont typeface="Arial" pitchFamily="34" charset="0"/>
              <a:buChar char="‒"/>
            </a:pPr>
            <a:r>
              <a:rPr lang="fr-CA" sz="2000" dirty="0">
                <a:latin typeface="Arial Narrow" panose="020B0606020202030204" pitchFamily="34" charset="0"/>
                <a:cs typeface="Arial" charset="0"/>
              </a:rPr>
              <a:t>Consiste en deux phases majeures:</a:t>
            </a:r>
          </a:p>
          <a:p>
            <a:pPr marL="560070" lvl="1" indent="-287656">
              <a:buClr>
                <a:schemeClr val="tx1"/>
              </a:buClr>
              <a:buFontTx/>
              <a:buAutoNum type="arabicPeriod"/>
            </a:pPr>
            <a:r>
              <a:rPr lang="fr-CA" sz="2000" b="1" dirty="0">
                <a:latin typeface="Arial Narrow" panose="020B0606020202030204" pitchFamily="34" charset="0"/>
                <a:cs typeface="Arial" charset="0"/>
              </a:rPr>
              <a:t>Adhésion des plaquettes</a:t>
            </a:r>
            <a:endParaRPr lang="fr-CA" sz="2000" dirty="0">
              <a:latin typeface="Arial Narrow" panose="020B0606020202030204" pitchFamily="34" charset="0"/>
              <a:cs typeface="Arial" charset="0"/>
            </a:endParaRPr>
          </a:p>
          <a:p>
            <a:pPr marL="828676" lvl="2" indent="-131446">
              <a:spcAft>
                <a:spcPct val="25000"/>
              </a:spcAft>
              <a:buClr>
                <a:schemeClr val="tx1"/>
              </a:buClr>
              <a:buSzPct val="70000"/>
              <a:buFont typeface="Wingdings" pitchFamily="2" charset="2"/>
              <a:buChar char="§"/>
            </a:pPr>
            <a:r>
              <a:rPr lang="fr-CA" sz="2000" dirty="0">
                <a:latin typeface="Arial Narrow" panose="020B0606020202030204" pitchFamily="34" charset="0"/>
                <a:cs typeface="Arial" charset="0"/>
              </a:rPr>
              <a:t>Les plaquettes entrent en contact avec les fibres collagènes et s’y collent.</a:t>
            </a:r>
          </a:p>
          <a:p>
            <a:pPr marL="560070" lvl="1" indent="-287656">
              <a:buClr>
                <a:schemeClr val="tx1"/>
              </a:buClr>
              <a:buFontTx/>
              <a:buAutoNum type="arabicPeriod"/>
            </a:pPr>
            <a:r>
              <a:rPr lang="fr-CA" sz="2000" b="1" dirty="0">
                <a:latin typeface="Arial Narrow" panose="020B0606020202030204" pitchFamily="34" charset="0"/>
                <a:cs typeface="Arial" charset="0"/>
              </a:rPr>
              <a:t>Activation des plaquettes et agrégation</a:t>
            </a:r>
            <a:r>
              <a:rPr lang="fr-CA" sz="2000" dirty="0">
                <a:latin typeface="Arial Narrow" panose="020B0606020202030204" pitchFamily="34" charset="0"/>
                <a:cs typeface="Arial" charset="0"/>
              </a:rPr>
              <a:t>.</a:t>
            </a:r>
          </a:p>
          <a:p>
            <a:pPr marL="828676" lvl="2" indent="-131446">
              <a:buClr>
                <a:schemeClr val="tx1"/>
              </a:buClr>
              <a:buSzPct val="70000"/>
              <a:buFont typeface="Wingdings" pitchFamily="2" charset="2"/>
              <a:buChar char="§"/>
            </a:pPr>
            <a:r>
              <a:rPr lang="fr-CA" sz="2000" b="1" dirty="0">
                <a:latin typeface="Arial Narrow" panose="020B0606020202030204" pitchFamily="34" charset="0"/>
                <a:cs typeface="Arial" charset="0"/>
              </a:rPr>
              <a:t>Activation:</a:t>
            </a:r>
          </a:p>
          <a:p>
            <a:pPr marL="828676" lvl="2" indent="-131446">
              <a:buClr>
                <a:schemeClr val="tx1"/>
              </a:buClr>
            </a:pPr>
            <a:r>
              <a:rPr lang="fr-CA" sz="2000" dirty="0">
                <a:latin typeface="Arial Narrow" panose="020B0606020202030204" pitchFamily="34" charset="0"/>
                <a:cs typeface="Arial" charset="0"/>
              </a:rPr>
              <a:t>	L’adhésion transforme les plaquettes, les rendent collantes et provoque la libération du contenu de leurs granulations:</a:t>
            </a:r>
            <a:endParaRPr lang="fr-CA" sz="2000" i="1" dirty="0">
              <a:latin typeface="Arial Narrow" panose="020B0606020202030204" pitchFamily="34" charset="0"/>
              <a:cs typeface="Arial" charset="0"/>
            </a:endParaRPr>
          </a:p>
          <a:p>
            <a:pPr marL="1163956" lvl="3" indent="-198120">
              <a:buClr>
                <a:schemeClr val="tx1"/>
              </a:buClr>
              <a:buFontTx/>
              <a:buChar char="•"/>
            </a:pPr>
            <a:r>
              <a:rPr lang="fr-CA" sz="2000" i="1" dirty="0">
                <a:latin typeface="Arial Narrow" panose="020B0606020202030204" pitchFamily="34" charset="0"/>
                <a:cs typeface="Arial" charset="0"/>
              </a:rPr>
              <a:t>Sérotonine</a:t>
            </a:r>
            <a:r>
              <a:rPr lang="fr-CA" sz="2000" dirty="0">
                <a:latin typeface="Arial Narrow" panose="020B0606020202030204" pitchFamily="34" charset="0"/>
                <a:cs typeface="Arial" charset="0"/>
              </a:rPr>
              <a:t>: augmente les spasmes vasculaires.</a:t>
            </a:r>
            <a:endParaRPr lang="fr-CA" sz="2000" i="1" dirty="0">
              <a:latin typeface="Arial Narrow" panose="020B0606020202030204" pitchFamily="34" charset="0"/>
              <a:cs typeface="Arial" charset="0"/>
            </a:endParaRPr>
          </a:p>
          <a:p>
            <a:pPr marL="1163956" lvl="3" indent="-198120">
              <a:buClr>
                <a:schemeClr val="tx1"/>
              </a:buClr>
              <a:buFontTx/>
              <a:buChar char="•"/>
            </a:pPr>
            <a:r>
              <a:rPr lang="fr-CA" sz="2000" i="1" dirty="0">
                <a:latin typeface="Arial Narrow" panose="020B0606020202030204" pitchFamily="34" charset="0"/>
                <a:cs typeface="Arial" charset="0"/>
              </a:rPr>
              <a:t>ADP</a:t>
            </a:r>
            <a:r>
              <a:rPr lang="fr-CA" sz="2000" dirty="0">
                <a:latin typeface="Arial Narrow" panose="020B0606020202030204" pitchFamily="34" charset="0"/>
                <a:cs typeface="Arial" charset="0"/>
              </a:rPr>
              <a:t>: déclenche l’agrégation.</a:t>
            </a:r>
            <a:endParaRPr lang="fr-CA" sz="2000" i="1" dirty="0">
              <a:latin typeface="Arial Narrow" panose="020B0606020202030204" pitchFamily="34" charset="0"/>
              <a:cs typeface="Arial" charset="0"/>
            </a:endParaRPr>
          </a:p>
          <a:p>
            <a:pPr marL="1163956" lvl="3" indent="-198120">
              <a:buClr>
                <a:schemeClr val="tx1"/>
              </a:buClr>
              <a:buFontTx/>
              <a:buChar char="•"/>
            </a:pPr>
            <a:r>
              <a:rPr lang="fr-CA" sz="2000" i="1" dirty="0">
                <a:latin typeface="Arial Narrow" panose="020B0606020202030204" pitchFamily="34" charset="0"/>
                <a:cs typeface="Arial" charset="0"/>
              </a:rPr>
              <a:t>Thromboxane A</a:t>
            </a:r>
            <a:r>
              <a:rPr lang="fr-CA" sz="2000" baseline="-25000" dirty="0">
                <a:latin typeface="Arial Narrow" panose="020B0606020202030204" pitchFamily="34" charset="0"/>
                <a:cs typeface="Arial" charset="0"/>
              </a:rPr>
              <a:t>2</a:t>
            </a:r>
            <a:r>
              <a:rPr lang="fr-CA" sz="2000" dirty="0">
                <a:latin typeface="Arial Narrow" panose="020B0606020202030204" pitchFamily="34" charset="0"/>
                <a:cs typeface="Arial" charset="0"/>
              </a:rPr>
              <a:t> (</a:t>
            </a:r>
            <a:r>
              <a:rPr lang="fr-CA" sz="2000" i="1" dirty="0">
                <a:latin typeface="Arial Narrow" panose="020B0606020202030204" pitchFamily="34" charset="0"/>
                <a:cs typeface="Arial" charset="0"/>
              </a:rPr>
              <a:t>TXA</a:t>
            </a:r>
            <a:r>
              <a:rPr lang="fr-CA" sz="2000" i="1" baseline="-25000" dirty="0">
                <a:latin typeface="Arial Narrow" panose="020B0606020202030204" pitchFamily="34" charset="0"/>
                <a:cs typeface="Arial" charset="0"/>
              </a:rPr>
              <a:t>2</a:t>
            </a:r>
            <a:r>
              <a:rPr lang="fr-CA" sz="2000" baseline="-25000" dirty="0">
                <a:latin typeface="Arial Narrow" panose="020B0606020202030204" pitchFamily="34" charset="0"/>
                <a:cs typeface="Arial" charset="0"/>
              </a:rPr>
              <a:t>,</a:t>
            </a:r>
            <a:r>
              <a:rPr lang="fr-CA" sz="2000" b="1" i="1" dirty="0">
                <a:latin typeface="Arial Narrow" panose="020B0606020202030204" pitchFamily="34" charset="0"/>
                <a:cs typeface="Arial" charset="0"/>
              </a:rPr>
              <a:t> </a:t>
            </a:r>
            <a:r>
              <a:rPr lang="fr-CA" sz="2000" dirty="0">
                <a:latin typeface="Arial Narrow" panose="020B0606020202030204" pitchFamily="34" charset="0"/>
                <a:cs typeface="Arial" charset="0"/>
              </a:rPr>
              <a:t>une prosta-glandine): stimule à la fois la vaso-constriction et l’agrégation des plaquettes.</a:t>
            </a:r>
          </a:p>
          <a:p>
            <a:pPr marL="828676" lvl="2" indent="-131446">
              <a:buClr>
                <a:schemeClr val="tx1"/>
              </a:buClr>
              <a:buSzPct val="70000"/>
              <a:buFont typeface="Wingdings" pitchFamily="2" charset="2"/>
              <a:buChar char="§"/>
            </a:pPr>
            <a:r>
              <a:rPr lang="fr-CA" sz="2000" b="1" dirty="0">
                <a:latin typeface="Arial Narrow" panose="020B0606020202030204" pitchFamily="34" charset="0"/>
                <a:cs typeface="Arial" charset="0"/>
              </a:rPr>
              <a:t>Agrégation:</a:t>
            </a:r>
          </a:p>
          <a:p>
            <a:pPr marL="828676" lvl="2" indent="-131446">
              <a:buClr>
                <a:schemeClr val="tx1"/>
              </a:buClr>
            </a:pPr>
            <a:r>
              <a:rPr lang="fr-CA" sz="2000" dirty="0">
                <a:latin typeface="Arial Narrow" panose="020B0606020202030204" pitchFamily="34" charset="0"/>
                <a:cs typeface="Arial" charset="0"/>
              </a:rPr>
              <a:t>	ADP et TXA</a:t>
            </a:r>
            <a:r>
              <a:rPr lang="fr-CA" sz="2000" baseline="-25000" dirty="0">
                <a:latin typeface="Arial Narrow" panose="020B0606020202030204" pitchFamily="34" charset="0"/>
                <a:cs typeface="Arial" charset="0"/>
              </a:rPr>
              <a:t>2 </a:t>
            </a:r>
            <a:r>
              <a:rPr lang="fr-CA" sz="2000" dirty="0">
                <a:latin typeface="Arial Narrow" panose="020B0606020202030204" pitchFamily="34" charset="0"/>
                <a:cs typeface="Arial" charset="0"/>
              </a:rPr>
              <a:t>activent les plaquettes avoisinantes, ce qui provoque leur adhésion sur les plaquettes déjà activées.</a:t>
            </a:r>
          </a:p>
          <a:p>
            <a:pPr marL="560070" lvl="1" indent="-287656">
              <a:spcBef>
                <a:spcPct val="25000"/>
              </a:spcBef>
              <a:buClr>
                <a:schemeClr val="tx1"/>
              </a:buClr>
              <a:buFont typeface="Symbol" pitchFamily="18" charset="2"/>
              <a:buChar char="®"/>
            </a:pPr>
            <a:r>
              <a:rPr lang="fr-CA" sz="2000" dirty="0">
                <a:latin typeface="Arial Narrow" panose="020B0606020202030204" pitchFamily="34" charset="0"/>
                <a:cs typeface="Arial" charset="0"/>
              </a:rPr>
              <a:t>Phénomène de rétroactivation</a:t>
            </a:r>
          </a:p>
          <a:p>
            <a:pPr marL="560070" lvl="1" indent="-287656">
              <a:buClr>
                <a:schemeClr val="tx1"/>
              </a:buClr>
              <a:buFont typeface="Symbol" pitchFamily="18" charset="2"/>
              <a:buChar char="®"/>
            </a:pPr>
            <a:r>
              <a:rPr lang="fr-CA" sz="2000" dirty="0">
                <a:latin typeface="Arial Narrow" panose="020B0606020202030204" pitchFamily="34" charset="0"/>
                <a:cs typeface="Arial" charset="0"/>
              </a:rPr>
              <a:t>Formation du </a:t>
            </a:r>
            <a:r>
              <a:rPr lang="fr-CA" sz="2000" b="1" i="1" dirty="0">
                <a:latin typeface="Arial Narrow" panose="020B0606020202030204" pitchFamily="34" charset="0"/>
                <a:cs typeface="Arial" charset="0"/>
              </a:rPr>
              <a:t>clou plaquettaire</a:t>
            </a:r>
            <a:r>
              <a:rPr lang="fr-CA" sz="2000" dirty="0">
                <a:latin typeface="Arial Narrow" panose="020B0606020202030204" pitchFamily="34" charset="0"/>
                <a:cs typeface="Arial" charset="0"/>
              </a:rPr>
              <a:t>. </a:t>
            </a:r>
          </a:p>
        </p:txBody>
      </p:sp>
      <p:sp>
        <p:nvSpPr>
          <p:cNvPr id="16388" name="Text Box 15"/>
          <p:cNvSpPr txBox="1">
            <a:spLocks noChangeArrowheads="1"/>
          </p:cNvSpPr>
          <p:nvPr/>
        </p:nvSpPr>
        <p:spPr bwMode="auto">
          <a:xfrm>
            <a:off x="762000" y="245746"/>
            <a:ext cx="711136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spcAft>
                <a:spcPct val="45000"/>
              </a:spcAft>
              <a:buClr>
                <a:schemeClr val="tx1"/>
              </a:buClr>
            </a:pPr>
            <a:r>
              <a:rPr lang="fr-CA" sz="3600" b="1" dirty="0">
                <a:solidFill>
                  <a:srgbClr val="23AABE"/>
                </a:solidFill>
                <a:latin typeface="Arial Narrow" panose="020B0606020202030204" pitchFamily="34" charset="0"/>
                <a:cs typeface="Arial" charset="0"/>
                <a:sym typeface="Wingdings 2"/>
              </a:rPr>
              <a:t></a:t>
            </a:r>
            <a:r>
              <a:rPr lang="fr-CA" sz="3600" b="1" i="1" dirty="0">
                <a:solidFill>
                  <a:srgbClr val="23AABE"/>
                </a:solidFill>
                <a:latin typeface="Arial Narrow" panose="020B0606020202030204" pitchFamily="34" charset="0"/>
                <a:cs typeface="Arial" charset="0"/>
              </a:rPr>
              <a:t>  </a:t>
            </a:r>
            <a:r>
              <a:rPr lang="fr-CA" sz="3600" b="1" i="1" u="sng" dirty="0">
                <a:solidFill>
                  <a:schemeClr val="accent1">
                    <a:lumMod val="75000"/>
                  </a:schemeClr>
                </a:solidFill>
                <a:latin typeface="Arial Narrow" panose="020B0606020202030204" pitchFamily="34" charset="0"/>
                <a:cs typeface="Arial" charset="0"/>
              </a:rPr>
              <a:t>Formation du clou plaquettaire</a:t>
            </a:r>
            <a:endParaRPr lang="fr-CA" sz="3600" dirty="0">
              <a:solidFill>
                <a:schemeClr val="accent1">
                  <a:lumMod val="75000"/>
                </a:schemeClr>
              </a:solidFill>
              <a:latin typeface="Arial Narrow" panose="020B0606020202030204" pitchFamily="34" charset="0"/>
              <a:cs typeface="Arial" charset="0"/>
            </a:endParaRPr>
          </a:p>
        </p:txBody>
      </p:sp>
      <p:sp>
        <p:nvSpPr>
          <p:cNvPr id="16390" name="Text Box 18"/>
          <p:cNvSpPr txBox="1">
            <a:spLocks noChangeArrowheads="1"/>
          </p:cNvSpPr>
          <p:nvPr/>
        </p:nvSpPr>
        <p:spPr bwMode="auto">
          <a:xfrm>
            <a:off x="11586608" y="4021594"/>
            <a:ext cx="93726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dirty="0">
                <a:latin typeface="Verdana" pitchFamily="34" charset="0"/>
              </a:rPr>
              <a:t>Plaquettes</a:t>
            </a:r>
          </a:p>
        </p:txBody>
      </p:sp>
      <p:sp>
        <p:nvSpPr>
          <p:cNvPr id="16391" name="Text Box 20"/>
          <p:cNvSpPr txBox="1">
            <a:spLocks noChangeArrowheads="1"/>
          </p:cNvSpPr>
          <p:nvPr/>
        </p:nvSpPr>
        <p:spPr bwMode="auto">
          <a:xfrm>
            <a:off x="9666665" y="3821664"/>
            <a:ext cx="9353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200" b="1" dirty="0">
                <a:latin typeface="Verdana" pitchFamily="34" charset="0"/>
              </a:rPr>
              <a:t>Fibres collagènes</a:t>
            </a:r>
          </a:p>
        </p:txBody>
      </p:sp>
      <p:sp>
        <p:nvSpPr>
          <p:cNvPr id="16392" name="Text Box 21"/>
          <p:cNvSpPr txBox="1">
            <a:spLocks noChangeArrowheads="1"/>
          </p:cNvSpPr>
          <p:nvPr/>
        </p:nvSpPr>
        <p:spPr bwMode="auto">
          <a:xfrm>
            <a:off x="8216220" y="563882"/>
            <a:ext cx="4468224" cy="443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r>
              <a:rPr lang="fr-CA" sz="1440" b="1" dirty="0">
                <a:latin typeface="Verdana" pitchFamily="34" charset="0"/>
              </a:rPr>
              <a:t>Lésion de l’endothélium et mise à nu des fibres collagènes; adhésion des plaquettes</a:t>
            </a:r>
          </a:p>
        </p:txBody>
      </p:sp>
      <p:sp>
        <p:nvSpPr>
          <p:cNvPr id="16395" name="Rectangle 24"/>
          <p:cNvSpPr>
            <a:spLocks noChangeArrowheads="1"/>
          </p:cNvSpPr>
          <p:nvPr/>
        </p:nvSpPr>
        <p:spPr bwMode="auto">
          <a:xfrm>
            <a:off x="2141220" y="516256"/>
            <a:ext cx="5732146" cy="7467600"/>
          </a:xfrm>
          <a:prstGeom prst="rect">
            <a:avLst/>
          </a:prstGeom>
          <a:noFill/>
          <a:ln w="9525">
            <a:noFill/>
            <a:miter lim="800000"/>
            <a:headEnd/>
            <a:tailEnd/>
          </a:ln>
        </p:spPr>
        <p:txBody>
          <a:bodyPr wrap="none" anchor="ctr"/>
          <a:lstStyle/>
          <a:p>
            <a:endParaRPr lang="fr-FR" sz="3120"/>
          </a:p>
        </p:txBody>
      </p:sp>
      <p:cxnSp>
        <p:nvCxnSpPr>
          <p:cNvPr id="3" name="Connecteur droit 2"/>
          <p:cNvCxnSpPr/>
          <p:nvPr/>
        </p:nvCxnSpPr>
        <p:spPr bwMode="auto">
          <a:xfrm flipH="1">
            <a:off x="10259122" y="3550548"/>
            <a:ext cx="820730" cy="3907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5" name="Connecteur droit 4"/>
          <p:cNvCxnSpPr/>
          <p:nvPr/>
        </p:nvCxnSpPr>
        <p:spPr bwMode="auto">
          <a:xfrm flipH="1">
            <a:off x="10259122" y="3844941"/>
            <a:ext cx="820730" cy="963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8" name="Connecteur droit 17"/>
          <p:cNvCxnSpPr/>
          <p:nvPr/>
        </p:nvCxnSpPr>
        <p:spPr bwMode="auto">
          <a:xfrm>
            <a:off x="11079852" y="3318602"/>
            <a:ext cx="616036" cy="685942"/>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0" name="Connecteur droit 19"/>
          <p:cNvCxnSpPr/>
          <p:nvPr/>
        </p:nvCxnSpPr>
        <p:spPr bwMode="auto">
          <a:xfrm>
            <a:off x="11552664" y="3229394"/>
            <a:ext cx="143224" cy="77515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804354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14"/>
          <p:cNvSpPr>
            <a:spLocks noChangeArrowheads="1"/>
          </p:cNvSpPr>
          <p:nvPr/>
        </p:nvSpPr>
        <p:spPr bwMode="auto">
          <a:xfrm>
            <a:off x="1143371" y="813283"/>
            <a:ext cx="6705229" cy="3825564"/>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a:lstStyle/>
          <a:p>
            <a:pPr marL="321946" indent="-321946">
              <a:spcBef>
                <a:spcPts val="720"/>
              </a:spcBef>
              <a:buClr>
                <a:schemeClr val="tx1"/>
              </a:buClr>
              <a:buFont typeface="Arial" pitchFamily="34" charset="0"/>
              <a:buChar char="‒"/>
            </a:pPr>
            <a:r>
              <a:rPr lang="fr-CA" sz="2800" dirty="0">
                <a:latin typeface="Arial Narrow" panose="020B0606020202030204" pitchFamily="34" charset="0"/>
                <a:cs typeface="Arial" charset="0"/>
              </a:rPr>
              <a:t>Le clou plaquettaire est circonscrit au site endommagé à cause de la présence d’inhibiteurs, telle la </a:t>
            </a:r>
            <a:r>
              <a:rPr lang="fr-CA" sz="2800" i="1" dirty="0" err="1">
                <a:latin typeface="Arial Narrow" panose="020B0606020202030204" pitchFamily="34" charset="0"/>
                <a:cs typeface="Arial" charset="0"/>
              </a:rPr>
              <a:t>prostacycline</a:t>
            </a:r>
            <a:r>
              <a:rPr lang="fr-CA" sz="2800" b="1" dirty="0">
                <a:latin typeface="Arial Narrow" panose="020B0606020202030204" pitchFamily="34" charset="0"/>
                <a:cs typeface="Arial" charset="0"/>
              </a:rPr>
              <a:t> </a:t>
            </a:r>
            <a:r>
              <a:rPr lang="fr-CA" sz="2800" dirty="0">
                <a:latin typeface="Arial Narrow" panose="020B0606020202030204" pitchFamily="34" charset="0"/>
                <a:cs typeface="Arial" charset="0"/>
              </a:rPr>
              <a:t>(</a:t>
            </a:r>
            <a:r>
              <a:rPr lang="fr-CA" sz="2800" i="1" dirty="0">
                <a:latin typeface="Arial Narrow" panose="020B0606020202030204" pitchFamily="34" charset="0"/>
                <a:cs typeface="Arial" charset="0"/>
              </a:rPr>
              <a:t>PGI</a:t>
            </a:r>
            <a:r>
              <a:rPr lang="fr-CA" sz="2800" i="1" baseline="-25000" dirty="0">
                <a:latin typeface="Arial Narrow" panose="020B0606020202030204" pitchFamily="34" charset="0"/>
                <a:cs typeface="Arial" charset="0"/>
              </a:rPr>
              <a:t>2</a:t>
            </a:r>
            <a:r>
              <a:rPr lang="fr-CA" sz="2800" dirty="0">
                <a:latin typeface="Arial Narrow" panose="020B0606020202030204" pitchFamily="34" charset="0"/>
                <a:cs typeface="Arial" charset="0"/>
              </a:rPr>
              <a:t>), libérés par les cellules endothéliales saines. </a:t>
            </a:r>
          </a:p>
          <a:p>
            <a:pPr marL="321946" indent="-321946">
              <a:spcBef>
                <a:spcPts val="720"/>
              </a:spcBef>
              <a:buClr>
                <a:schemeClr val="tx1"/>
              </a:buClr>
              <a:buFont typeface="Arial" pitchFamily="34" charset="0"/>
              <a:buChar char="‒"/>
            </a:pPr>
            <a:r>
              <a:rPr lang="fr-CA" sz="2800" dirty="0">
                <a:latin typeface="Arial Narrow" panose="020B0606020202030204" pitchFamily="34" charset="0"/>
                <a:cs typeface="Arial" charset="0"/>
              </a:rPr>
              <a:t>La formation du clou plaquettaire est rapide (&lt; 5 min) et efficace. </a:t>
            </a:r>
          </a:p>
          <a:p>
            <a:pPr marL="321946" indent="-321946">
              <a:spcBef>
                <a:spcPts val="720"/>
              </a:spcBef>
              <a:buClr>
                <a:schemeClr val="tx1"/>
              </a:buClr>
              <a:buFont typeface="Arial" pitchFamily="34" charset="0"/>
              <a:buChar char="‒"/>
            </a:pPr>
            <a:r>
              <a:rPr lang="fr-CA" sz="2800" dirty="0">
                <a:latin typeface="Arial Narrow" panose="020B0606020202030204" pitchFamily="34" charset="0"/>
                <a:cs typeface="Arial" charset="0"/>
              </a:rPr>
              <a:t>Le clou est relativement instable, cependant. En plus du clou plaquettaire, la </a:t>
            </a:r>
            <a:r>
              <a:rPr lang="fr-CA" sz="2800" b="1" i="1" dirty="0">
                <a:latin typeface="Arial Narrow" panose="020B0606020202030204" pitchFamily="34" charset="0"/>
                <a:cs typeface="Arial" charset="0"/>
              </a:rPr>
              <a:t>coagulation </a:t>
            </a:r>
            <a:r>
              <a:rPr lang="fr-CA" sz="2800" dirty="0">
                <a:latin typeface="Arial Narrow" panose="020B0606020202030204" pitchFamily="34" charset="0"/>
                <a:cs typeface="Arial" charset="0"/>
              </a:rPr>
              <a:t>est requise pour empêcher l’hémorragie de façon permanente.</a:t>
            </a:r>
          </a:p>
        </p:txBody>
      </p:sp>
      <p:pic>
        <p:nvPicPr>
          <p:cNvPr id="10" name="Picture 7" descr="C:\OLD_PC\backup\DriveD\michel\Marieb\HAP8e_IRDVD\Chapter_17\B_JPEG_Images_and_Tables\b_unlabeled\figure_17_13_unlabele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082" t="47900" r="64082" b="3801"/>
          <a:stretch/>
        </p:blipFill>
        <p:spPr bwMode="auto">
          <a:xfrm>
            <a:off x="8635505" y="420761"/>
            <a:ext cx="3543815" cy="6900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212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4"/>
          <p:cNvSpPr>
            <a:spLocks noChangeArrowheads="1"/>
          </p:cNvSpPr>
          <p:nvPr/>
        </p:nvSpPr>
        <p:spPr bwMode="auto">
          <a:xfrm rot="5400000">
            <a:off x="8344853" y="3441383"/>
            <a:ext cx="1424940" cy="767714"/>
          </a:xfrm>
          <a:prstGeom prst="parallelogram">
            <a:avLst>
              <a:gd name="adj" fmla="val 46402"/>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sz="3120"/>
          </a:p>
        </p:txBody>
      </p:sp>
      <p:sp>
        <p:nvSpPr>
          <p:cNvPr id="17411" name="Text Box 7"/>
          <p:cNvSpPr txBox="1">
            <a:spLocks noChangeArrowheads="1"/>
          </p:cNvSpPr>
          <p:nvPr/>
        </p:nvSpPr>
        <p:spPr bwMode="auto">
          <a:xfrm>
            <a:off x="1447800" y="316374"/>
            <a:ext cx="63402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spcAft>
                <a:spcPct val="45000"/>
              </a:spcAft>
              <a:buClr>
                <a:schemeClr val="tx1"/>
              </a:buClr>
            </a:pPr>
            <a:r>
              <a:rPr lang="fr-CA" sz="3200" b="1" dirty="0">
                <a:solidFill>
                  <a:srgbClr val="23AABE"/>
                </a:solidFill>
                <a:latin typeface="Arial Narrow" panose="020B0606020202030204" pitchFamily="34" charset="0"/>
                <a:cs typeface="Arial" charset="0"/>
                <a:sym typeface="Wingdings 2"/>
              </a:rPr>
              <a:t> </a:t>
            </a:r>
            <a:r>
              <a:rPr lang="fr-CA" sz="3200" b="1" i="1" u="sng" dirty="0">
                <a:solidFill>
                  <a:schemeClr val="accent1">
                    <a:lumMod val="75000"/>
                  </a:schemeClr>
                </a:solidFill>
                <a:latin typeface="Arial Narrow" panose="020B0606020202030204" pitchFamily="34" charset="0"/>
                <a:cs typeface="Arial" charset="0"/>
              </a:rPr>
              <a:t>Coagulation (formation du caillot)</a:t>
            </a:r>
            <a:r>
              <a:rPr lang="en-CA" sz="3200" dirty="0">
                <a:solidFill>
                  <a:schemeClr val="accent1">
                    <a:lumMod val="75000"/>
                  </a:schemeClr>
                </a:solidFill>
                <a:latin typeface="Arial Narrow" panose="020B0606020202030204" pitchFamily="34" charset="0"/>
                <a:cs typeface="Arial" charset="0"/>
              </a:rPr>
              <a:t> </a:t>
            </a:r>
            <a:endParaRPr lang="fr-FR" sz="3200" dirty="0">
              <a:solidFill>
                <a:schemeClr val="accent1">
                  <a:lumMod val="75000"/>
                </a:schemeClr>
              </a:solidFill>
              <a:latin typeface="Arial Narrow" panose="020B0606020202030204" pitchFamily="34" charset="0"/>
              <a:cs typeface="Arial" charset="0"/>
            </a:endParaRPr>
          </a:p>
        </p:txBody>
      </p:sp>
      <p:pic>
        <p:nvPicPr>
          <p:cNvPr id="17412"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b="2689"/>
          <a:stretch>
            <a:fillRect/>
          </a:stretch>
        </p:blipFill>
        <p:spPr bwMode="auto">
          <a:xfrm>
            <a:off x="8201026" y="240174"/>
            <a:ext cx="6429374" cy="791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Rectangle 3"/>
          <p:cNvSpPr>
            <a:spLocks noChangeArrowheads="1"/>
          </p:cNvSpPr>
          <p:nvPr/>
        </p:nvSpPr>
        <p:spPr bwMode="auto">
          <a:xfrm>
            <a:off x="990600" y="1030604"/>
            <a:ext cx="6972300" cy="6970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marL="201930" indent="-201930">
              <a:spcAft>
                <a:spcPct val="25000"/>
              </a:spcAft>
              <a:buClr>
                <a:schemeClr val="tx1"/>
              </a:buClr>
              <a:buFontTx/>
              <a:buChar char="•"/>
            </a:pPr>
            <a:r>
              <a:rPr lang="en-CA" sz="2000" dirty="0">
                <a:latin typeface="Arial Narrow" panose="020B0606020202030204" pitchFamily="34" charset="0"/>
                <a:cs typeface="Arial" charset="0"/>
              </a:rPr>
              <a:t>“</a:t>
            </a:r>
            <a:r>
              <a:rPr lang="fr-CA" sz="2000" dirty="0">
                <a:latin typeface="Arial Narrow" panose="020B0606020202030204" pitchFamily="34" charset="0"/>
                <a:cs typeface="Arial" charset="0"/>
              </a:rPr>
              <a:t>Transformation du sang en masse gélatineuse”; se produit en quelque 10 minutes.</a:t>
            </a:r>
          </a:p>
          <a:p>
            <a:pPr marL="201930" indent="-201930">
              <a:spcAft>
                <a:spcPct val="25000"/>
              </a:spcAft>
              <a:buClr>
                <a:schemeClr val="tx1"/>
              </a:buClr>
              <a:buFontTx/>
              <a:buChar char="•"/>
            </a:pPr>
            <a:r>
              <a:rPr lang="fr-CA" sz="2000" dirty="0">
                <a:latin typeface="Arial Narrow" panose="020B0606020202030204" pitchFamily="34" charset="0"/>
                <a:cs typeface="Arial" charset="0"/>
              </a:rPr>
              <a:t>Fait intervenir des </a:t>
            </a:r>
            <a:r>
              <a:rPr lang="fr-CA" sz="2000" b="1" i="1" dirty="0">
                <a:latin typeface="Arial Narrow" panose="020B0606020202030204" pitchFamily="34" charset="0"/>
                <a:cs typeface="Arial" charset="0"/>
              </a:rPr>
              <a:t>facteurs de coagulation</a:t>
            </a:r>
            <a:r>
              <a:rPr lang="fr-CA" sz="2000" dirty="0">
                <a:latin typeface="Arial Narrow" panose="020B0606020202030204" pitchFamily="34" charset="0"/>
                <a:cs typeface="Arial" charset="0"/>
              </a:rPr>
              <a:t>.</a:t>
            </a:r>
            <a:endParaRPr lang="fr-CA" sz="2000" i="1" dirty="0">
              <a:latin typeface="Arial Narrow" panose="020B0606020202030204" pitchFamily="34" charset="0"/>
              <a:cs typeface="Arial" charset="0"/>
            </a:endParaRPr>
          </a:p>
          <a:p>
            <a:pPr marL="201930" indent="-201930">
              <a:spcAft>
                <a:spcPct val="25000"/>
              </a:spcAft>
              <a:buClr>
                <a:schemeClr val="tx1"/>
              </a:buClr>
              <a:buFontTx/>
              <a:buChar char="•"/>
            </a:pPr>
            <a:r>
              <a:rPr lang="fr-CA" sz="2000" i="1" dirty="0">
                <a:latin typeface="Arial Narrow" panose="020B0606020202030204" pitchFamily="34" charset="0"/>
                <a:cs typeface="Arial" charset="0"/>
              </a:rPr>
              <a:t>Sérum</a:t>
            </a:r>
            <a:r>
              <a:rPr lang="fr-CA" sz="2000" dirty="0">
                <a:latin typeface="Arial Narrow" panose="020B0606020202030204" pitchFamily="34" charset="0"/>
                <a:cs typeface="Arial" charset="0"/>
              </a:rPr>
              <a:t>: plasma sans les facteurs de coagulation.</a:t>
            </a:r>
          </a:p>
          <a:p>
            <a:pPr marL="201930" indent="-201930">
              <a:spcAft>
                <a:spcPct val="25000"/>
              </a:spcAft>
              <a:buClr>
                <a:schemeClr val="tx1"/>
              </a:buClr>
              <a:buFontTx/>
              <a:buChar char="•"/>
            </a:pPr>
            <a:r>
              <a:rPr lang="fr-CA" sz="2000" dirty="0">
                <a:latin typeface="Arial Narrow" panose="020B0606020202030204" pitchFamily="34" charset="0"/>
                <a:cs typeface="Arial" charset="0"/>
              </a:rPr>
              <a:t>Consiste en trois étapes essentielles:</a:t>
            </a:r>
            <a:endParaRPr lang="fr-CA" sz="2000" b="1" i="1" dirty="0">
              <a:latin typeface="Arial Narrow" panose="020B0606020202030204" pitchFamily="34" charset="0"/>
              <a:cs typeface="Arial" charset="0"/>
            </a:endParaRPr>
          </a:p>
          <a:p>
            <a:pPr marL="626746" lvl="1" indent="-287656">
              <a:buClr>
                <a:schemeClr val="tx1"/>
              </a:buClr>
              <a:buFont typeface="Wingdings 2" pitchFamily="18" charset="2"/>
              <a:buChar char="j"/>
            </a:pPr>
            <a:r>
              <a:rPr lang="fr-CA" sz="2000" b="1" i="1" dirty="0">
                <a:latin typeface="Arial Narrow" panose="020B0606020202030204" pitchFamily="34" charset="0"/>
                <a:cs typeface="Arial" charset="0"/>
              </a:rPr>
              <a:t>Formation de l’activateur de la prothrombine</a:t>
            </a:r>
          </a:p>
          <a:p>
            <a:pPr marL="626746" lvl="1" indent="-287656">
              <a:spcAft>
                <a:spcPct val="25000"/>
              </a:spcAft>
              <a:buClr>
                <a:schemeClr val="tx1"/>
              </a:buClr>
            </a:pPr>
            <a:r>
              <a:rPr lang="fr-CA" sz="2000" dirty="0">
                <a:latin typeface="Arial Narrow" panose="020B0606020202030204" pitchFamily="34" charset="0"/>
                <a:cs typeface="Arial" charset="0"/>
              </a:rPr>
              <a:t>	Résultat d’une cascade de réactions impliquant une douzaine de facteurs de coagulation. </a:t>
            </a:r>
          </a:p>
          <a:p>
            <a:pPr marL="626746" lvl="1" indent="-287656">
              <a:buClr>
                <a:schemeClr val="tx1"/>
              </a:buClr>
              <a:buFont typeface="Wingdings 2" pitchFamily="18" charset="2"/>
              <a:buChar char="k"/>
            </a:pPr>
            <a:r>
              <a:rPr lang="fr-CA" sz="2000" b="1" i="1" dirty="0">
                <a:latin typeface="Arial Narrow" panose="020B0606020202030204" pitchFamily="34" charset="0"/>
                <a:cs typeface="Arial" charset="0"/>
              </a:rPr>
              <a:t>Conversion de la prothrombine en thrombine</a:t>
            </a:r>
            <a:endParaRPr lang="fr-CA" sz="2000" dirty="0">
              <a:latin typeface="Arial Narrow" panose="020B0606020202030204" pitchFamily="34" charset="0"/>
              <a:cs typeface="Arial" charset="0"/>
            </a:endParaRPr>
          </a:p>
          <a:p>
            <a:pPr marL="626746" lvl="1" indent="-287656">
              <a:buClr>
                <a:schemeClr val="tx1"/>
              </a:buClr>
            </a:pPr>
            <a:r>
              <a:rPr lang="fr-CA" sz="2000" dirty="0">
                <a:latin typeface="Arial Narrow" panose="020B0606020202030204" pitchFamily="34" charset="0"/>
                <a:cs typeface="Arial" charset="0"/>
              </a:rPr>
              <a:t>	Catalysée par l’activateur de la prothrombine.</a:t>
            </a:r>
            <a:endParaRPr lang="fr-CA" sz="2000" i="1" dirty="0">
              <a:latin typeface="Arial Narrow" panose="020B0606020202030204" pitchFamily="34" charset="0"/>
              <a:cs typeface="Arial" charset="0"/>
            </a:endParaRPr>
          </a:p>
          <a:p>
            <a:pPr marL="962026" lvl="2" indent="-198120">
              <a:buClr>
                <a:schemeClr val="tx1"/>
              </a:buClr>
              <a:buSzPct val="75000"/>
              <a:buFont typeface="Wingdings" pitchFamily="2" charset="2"/>
              <a:buChar char="§"/>
            </a:pPr>
            <a:r>
              <a:rPr lang="fr-CA" sz="2000" i="1" dirty="0">
                <a:latin typeface="Arial Narrow" panose="020B0606020202030204" pitchFamily="34" charset="0"/>
                <a:cs typeface="Arial" charset="0"/>
              </a:rPr>
              <a:t>Prothrombine</a:t>
            </a:r>
            <a:r>
              <a:rPr lang="fr-CA" sz="2000" dirty="0">
                <a:latin typeface="Arial Narrow" panose="020B0606020202030204" pitchFamily="34" charset="0"/>
                <a:cs typeface="Arial" charset="0"/>
              </a:rPr>
              <a:t>: protéine plasmatique produite par le foie.</a:t>
            </a:r>
            <a:endParaRPr lang="fr-CA" sz="2000" i="1" dirty="0">
              <a:latin typeface="Arial Narrow" panose="020B0606020202030204" pitchFamily="34" charset="0"/>
              <a:cs typeface="Arial" charset="0"/>
            </a:endParaRPr>
          </a:p>
          <a:p>
            <a:pPr marL="962026" lvl="2" indent="-198120">
              <a:spcAft>
                <a:spcPct val="25000"/>
              </a:spcAft>
              <a:buClr>
                <a:schemeClr val="tx1"/>
              </a:buClr>
              <a:buSzPct val="75000"/>
              <a:buFont typeface="Wingdings" pitchFamily="2" charset="2"/>
              <a:buChar char="§"/>
            </a:pPr>
            <a:r>
              <a:rPr lang="fr-CA" sz="2000" i="1" dirty="0">
                <a:latin typeface="Arial Narrow" panose="020B0606020202030204" pitchFamily="34" charset="0"/>
                <a:cs typeface="Arial" charset="0"/>
              </a:rPr>
              <a:t>Thrombine</a:t>
            </a:r>
            <a:r>
              <a:rPr lang="fr-CA" sz="2000" dirty="0">
                <a:latin typeface="Arial Narrow" panose="020B0606020202030204" pitchFamily="34" charset="0"/>
                <a:cs typeface="Arial" charset="0"/>
              </a:rPr>
              <a:t>: provient du clivage de la prothrombine par son activateur.</a:t>
            </a:r>
            <a:endParaRPr lang="fr-CA" sz="2000" b="1" i="1" dirty="0">
              <a:latin typeface="Arial Narrow" panose="020B0606020202030204" pitchFamily="34" charset="0"/>
              <a:cs typeface="Arial" charset="0"/>
            </a:endParaRPr>
          </a:p>
          <a:p>
            <a:pPr marL="626746" lvl="1" indent="-287656">
              <a:buClr>
                <a:schemeClr val="tx1"/>
              </a:buClr>
              <a:buFont typeface="Wingdings 2" pitchFamily="18" charset="2"/>
              <a:buChar char="l"/>
            </a:pPr>
            <a:r>
              <a:rPr lang="fr-CA" sz="2000" b="1" i="1" dirty="0">
                <a:latin typeface="Arial Narrow" panose="020B0606020202030204" pitchFamily="34" charset="0"/>
                <a:cs typeface="Arial" charset="0"/>
              </a:rPr>
              <a:t>Conversion du fibrinogène en fibrine</a:t>
            </a:r>
            <a:endParaRPr lang="fr-CA" sz="2000" dirty="0">
              <a:latin typeface="Arial Narrow" panose="020B0606020202030204" pitchFamily="34" charset="0"/>
              <a:cs typeface="Arial" charset="0"/>
            </a:endParaRPr>
          </a:p>
          <a:p>
            <a:pPr marL="626746" lvl="1" indent="-287656">
              <a:spcAft>
                <a:spcPct val="10000"/>
              </a:spcAft>
              <a:buClr>
                <a:schemeClr val="tx1"/>
              </a:buClr>
            </a:pPr>
            <a:r>
              <a:rPr lang="fr-CA" sz="2000" dirty="0">
                <a:latin typeface="Arial Narrow" panose="020B0606020202030204" pitchFamily="34" charset="0"/>
                <a:cs typeface="Arial" charset="0"/>
              </a:rPr>
              <a:t>	Réaction catalysée par la thrombine.</a:t>
            </a:r>
            <a:endParaRPr lang="fr-CA" sz="2000" i="1" dirty="0">
              <a:latin typeface="Arial Narrow" panose="020B0606020202030204" pitchFamily="34" charset="0"/>
              <a:cs typeface="Arial" charset="0"/>
            </a:endParaRPr>
          </a:p>
          <a:p>
            <a:pPr marL="962026" lvl="2" indent="-198120">
              <a:spcAft>
                <a:spcPct val="10000"/>
              </a:spcAft>
              <a:buClr>
                <a:schemeClr val="tx1"/>
              </a:buClr>
              <a:buSzPct val="75000"/>
              <a:buFont typeface="Wingdings" pitchFamily="2" charset="2"/>
              <a:buChar char="§"/>
            </a:pPr>
            <a:r>
              <a:rPr lang="fr-CA" sz="2000" i="1" dirty="0">
                <a:latin typeface="Arial Narrow" panose="020B0606020202030204" pitchFamily="34" charset="0"/>
                <a:cs typeface="Arial" charset="0"/>
              </a:rPr>
              <a:t>Fibrinogène</a:t>
            </a:r>
            <a:r>
              <a:rPr lang="fr-CA" sz="2000" dirty="0">
                <a:latin typeface="Arial Narrow" panose="020B0606020202030204" pitchFamily="34" charset="0"/>
                <a:cs typeface="Arial" charset="0"/>
              </a:rPr>
              <a:t>: protéine plasmatique produite par le foie; </a:t>
            </a:r>
            <a:r>
              <a:rPr lang="fr-CA" sz="2000" u="sng" dirty="0">
                <a:latin typeface="Arial Narrow" panose="020B0606020202030204" pitchFamily="34" charset="0"/>
                <a:cs typeface="Arial" charset="0"/>
              </a:rPr>
              <a:t>soluble</a:t>
            </a:r>
            <a:r>
              <a:rPr lang="fr-CA" sz="2000" dirty="0">
                <a:latin typeface="Arial Narrow" panose="020B0606020202030204" pitchFamily="34" charset="0"/>
                <a:cs typeface="Arial" charset="0"/>
              </a:rPr>
              <a:t>.</a:t>
            </a:r>
            <a:endParaRPr lang="fr-CA" sz="2000" i="1" dirty="0">
              <a:latin typeface="Arial Narrow" panose="020B0606020202030204" pitchFamily="34" charset="0"/>
              <a:cs typeface="Arial" charset="0"/>
            </a:endParaRPr>
          </a:p>
          <a:p>
            <a:pPr marL="962026" lvl="2" indent="-198120">
              <a:buClr>
                <a:schemeClr val="tx1"/>
              </a:buClr>
              <a:buSzPct val="75000"/>
              <a:buFont typeface="Wingdings" pitchFamily="2" charset="2"/>
              <a:buChar char="§"/>
            </a:pPr>
            <a:r>
              <a:rPr lang="fr-CA" sz="2000" i="1" dirty="0">
                <a:latin typeface="Arial Narrow" panose="020B0606020202030204" pitchFamily="34" charset="0"/>
                <a:cs typeface="Arial" charset="0"/>
              </a:rPr>
              <a:t>Fibrine</a:t>
            </a:r>
            <a:r>
              <a:rPr lang="fr-CA" sz="2000" dirty="0">
                <a:latin typeface="Arial Narrow" panose="020B0606020202030204" pitchFamily="34" charset="0"/>
                <a:cs typeface="Arial" charset="0"/>
              </a:rPr>
              <a:t>: molécules qui interagissent  automatiquement entre elles pour former de longs brins </a:t>
            </a:r>
            <a:r>
              <a:rPr lang="fr-CA" sz="2000" u="sng" dirty="0">
                <a:latin typeface="Arial Narrow" panose="020B0606020202030204" pitchFamily="34" charset="0"/>
                <a:cs typeface="Arial" charset="0"/>
              </a:rPr>
              <a:t>insolubles</a:t>
            </a:r>
            <a:r>
              <a:rPr lang="fr-CA" sz="2000" dirty="0">
                <a:latin typeface="Arial Narrow" panose="020B0606020202030204" pitchFamily="34" charset="0"/>
                <a:cs typeface="Arial" charset="0"/>
              </a:rPr>
              <a:t>. Ces fibres emprisonnent les plaquettes et le plasma  pour former un caillot gélatineux.</a:t>
            </a:r>
          </a:p>
        </p:txBody>
      </p:sp>
    </p:spTree>
    <p:extLst>
      <p:ext uri="{BB962C8B-B14F-4D97-AF65-F5344CB8AC3E}">
        <p14:creationId xmlns:p14="http://schemas.microsoft.com/office/powerpoint/2010/main" val="288078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17-14erythfibrin_l"/>
          <p:cNvPicPr>
            <a:picLocks noChangeAspect="1" noChangeArrowheads="1"/>
          </p:cNvPicPr>
          <p:nvPr/>
        </p:nvPicPr>
        <p:blipFill>
          <a:blip r:embed="rId4" cstate="print">
            <a:extLst>
              <a:ext uri="{28A0092B-C50C-407E-A947-70E740481C1C}">
                <a14:useLocalDpi xmlns:a14="http://schemas.microsoft.com/office/drawing/2010/main" val="0"/>
              </a:ext>
            </a:extLst>
          </a:blip>
          <a:srcRect b="5614"/>
          <a:stretch>
            <a:fillRect/>
          </a:stretch>
        </p:blipFill>
        <p:spPr bwMode="auto">
          <a:xfrm>
            <a:off x="3284220" y="632460"/>
            <a:ext cx="7385686" cy="726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3"/>
          <p:cNvSpPr txBox="1">
            <a:spLocks noChangeArrowheads="1"/>
          </p:cNvSpPr>
          <p:nvPr/>
        </p:nvSpPr>
        <p:spPr bwMode="auto">
          <a:xfrm>
            <a:off x="11045190" y="7513320"/>
            <a:ext cx="1293496" cy="350865"/>
          </a:xfrm>
          <a:prstGeom prst="rect">
            <a:avLst/>
          </a:prstGeom>
          <a:noFill/>
          <a:ln w="6350">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en-US" sz="1680" b="1" dirty="0">
                <a:solidFill>
                  <a:schemeClr val="accent2"/>
                </a:solidFill>
                <a:latin typeface="Arial" charset="0"/>
              </a:rPr>
              <a:t>Fig. 17.15</a:t>
            </a:r>
          </a:p>
        </p:txBody>
      </p:sp>
    </p:spTree>
    <p:custDataLst>
      <p:tags r:id="rId1"/>
    </p:custDataLst>
    <p:extLst>
      <p:ext uri="{BB962C8B-B14F-4D97-AF65-F5344CB8AC3E}">
        <p14:creationId xmlns:p14="http://schemas.microsoft.com/office/powerpoint/2010/main" val="3413767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sz="half" idx="1"/>
          </p:nvPr>
        </p:nvSpPr>
        <p:spPr>
          <a:xfrm>
            <a:off x="2048507" y="124629"/>
            <a:ext cx="7750678" cy="613410"/>
          </a:xfrm>
          <a:noFill/>
        </p:spPr>
        <p:txBody>
          <a:bodyPr/>
          <a:lstStyle/>
          <a:p>
            <a:pPr marL="321946" indent="-321946">
              <a:spcAft>
                <a:spcPct val="0"/>
              </a:spcAft>
              <a:buClr>
                <a:schemeClr val="tx1"/>
              </a:buClr>
              <a:buSzPct val="115000"/>
              <a:buNone/>
            </a:pPr>
            <a:r>
              <a:rPr lang="en-CA" sz="2160" b="1" u="sng" dirty="0">
                <a:latin typeface="Arial" charset="0"/>
                <a:cs typeface="Arial" charset="0"/>
              </a:rPr>
              <a:t>FORMATION DE L’ACTIVATEUR DE LA PROTHROMBINE</a:t>
            </a:r>
            <a:r>
              <a:rPr lang="en-CA" sz="2880" u="sng" dirty="0">
                <a:latin typeface="Arial" charset="0"/>
                <a:cs typeface="Arial" charset="0"/>
              </a:rPr>
              <a:t> </a:t>
            </a:r>
          </a:p>
        </p:txBody>
      </p:sp>
      <p:sp>
        <p:nvSpPr>
          <p:cNvPr id="19459" name="Rectangle 4"/>
          <p:cNvSpPr>
            <a:spLocks noChangeArrowheads="1"/>
          </p:cNvSpPr>
          <p:nvPr/>
        </p:nvSpPr>
        <p:spPr bwMode="auto">
          <a:xfrm>
            <a:off x="1371600" y="457200"/>
            <a:ext cx="12039600" cy="7316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endParaRPr lang="fr-FR" sz="2400" b="1" dirty="0">
              <a:latin typeface="Arial Narrow" panose="020B0606020202030204" pitchFamily="34" charset="0"/>
            </a:endParaRPr>
          </a:p>
          <a:p>
            <a:r>
              <a:rPr lang="fr-FR" sz="2400" b="1" dirty="0">
                <a:latin typeface="Arial Narrow" panose="020B0606020202030204" pitchFamily="34" charset="0"/>
              </a:rPr>
              <a:t>Phase 1 de coagulation </a:t>
            </a:r>
            <a:r>
              <a:rPr lang="fr-FR" sz="2400" dirty="0">
                <a:latin typeface="Arial Narrow" panose="020B0606020202030204" pitchFamily="34" charset="0"/>
              </a:rPr>
              <a:t>: Deux voies de formation de l’activateur de la prothrombine</a:t>
            </a:r>
            <a:br>
              <a:rPr lang="fr-FR" sz="2400" dirty="0">
                <a:latin typeface="Arial Narrow" panose="020B0606020202030204" pitchFamily="34" charset="0"/>
              </a:rPr>
            </a:br>
            <a:r>
              <a:rPr lang="fr-FR" sz="2400" b="1" dirty="0">
                <a:latin typeface="Arial Narrow" panose="020B0606020202030204" pitchFamily="34" charset="0"/>
              </a:rPr>
              <a:t>Voie intrinsèque</a:t>
            </a:r>
            <a:br>
              <a:rPr lang="fr-FR" sz="2400" dirty="0">
                <a:latin typeface="Arial Narrow" panose="020B0606020202030204" pitchFamily="34" charset="0"/>
              </a:rPr>
            </a:br>
            <a:r>
              <a:rPr lang="fr-FR" sz="2400" dirty="0">
                <a:latin typeface="Arial Narrow" panose="020B0606020202030204" pitchFamily="34" charset="0"/>
              </a:rPr>
              <a:t>• est déclenchée par des surfaces chargées négativement (plaquettes activées, le collagène, verre)</a:t>
            </a:r>
            <a:br>
              <a:rPr lang="fr-FR" sz="2400" dirty="0">
                <a:latin typeface="Arial Narrow" panose="020B0606020202030204" pitchFamily="34" charset="0"/>
              </a:rPr>
            </a:br>
            <a:r>
              <a:rPr lang="fr-FR" sz="2400" dirty="0">
                <a:latin typeface="Arial Narrow" panose="020B0606020202030204" pitchFamily="34" charset="0"/>
              </a:rPr>
              <a:t>• utilise des facteurs présents dans le sang (intrinsèque)</a:t>
            </a:r>
            <a:br>
              <a:rPr lang="fr-FR" sz="2400" dirty="0">
                <a:latin typeface="Arial Narrow" panose="020B0606020202030204" pitchFamily="34" charset="0"/>
              </a:rPr>
            </a:br>
            <a:r>
              <a:rPr lang="fr-FR" sz="2400" b="1" dirty="0">
                <a:latin typeface="Arial Narrow" panose="020B0606020202030204" pitchFamily="34" charset="0"/>
              </a:rPr>
              <a:t>Voie extrinsèque</a:t>
            </a:r>
            <a:br>
              <a:rPr lang="fr-FR" sz="2400" dirty="0">
                <a:latin typeface="Arial Narrow" panose="020B0606020202030204" pitchFamily="34" charset="0"/>
              </a:rPr>
            </a:br>
            <a:r>
              <a:rPr lang="fr-FR" sz="2400" dirty="0">
                <a:latin typeface="Arial Narrow" panose="020B0606020202030204" pitchFamily="34" charset="0"/>
              </a:rPr>
              <a:t>• est déclenchée par l'exposition au facteur tissulaire (TF) ou facteur III (facteur extrinsèque)</a:t>
            </a:r>
            <a:br>
              <a:rPr lang="fr-FR" sz="2400" dirty="0">
                <a:latin typeface="Arial Narrow" panose="020B0606020202030204" pitchFamily="34" charset="0"/>
              </a:rPr>
            </a:br>
            <a:r>
              <a:rPr lang="fr-FR" sz="2400" dirty="0">
                <a:latin typeface="Arial Narrow" panose="020B0606020202030204" pitchFamily="34" charset="0"/>
              </a:rPr>
              <a:t>• contourne plusieurs étapes de la voie intrinsèque, donc est plus rapide</a:t>
            </a:r>
          </a:p>
          <a:p>
            <a:endParaRPr lang="fr-FR" sz="2400" dirty="0">
              <a:latin typeface="Arial Narrow" panose="020B0606020202030204" pitchFamily="34" charset="0"/>
            </a:endParaRPr>
          </a:p>
          <a:p>
            <a:r>
              <a:rPr lang="fr-FR" sz="2400" dirty="0">
                <a:latin typeface="Arial Narrow" panose="020B0606020202030204" pitchFamily="34" charset="0"/>
              </a:rPr>
              <a:t>Activation du facteur X </a:t>
            </a:r>
            <a:r>
              <a:rPr lang="fr-FR" sz="2400" dirty="0">
                <a:latin typeface="Arial Narrow" panose="020B0606020202030204" pitchFamily="34" charset="0"/>
                <a:sym typeface="Symbol"/>
              </a:rPr>
              <a:t> complexe activateur de la prothrombine</a:t>
            </a:r>
            <a:endParaRPr lang="en-US" sz="2400" dirty="0">
              <a:latin typeface="Arial Narrow" panose="020B0606020202030204" pitchFamily="34" charset="0"/>
            </a:endParaRPr>
          </a:p>
          <a:p>
            <a:pPr marL="318136" lvl="1" indent="-318136">
              <a:spcBef>
                <a:spcPts val="1440"/>
              </a:spcBef>
              <a:spcAft>
                <a:spcPct val="25000"/>
              </a:spcAft>
              <a:buClr>
                <a:schemeClr val="tx1"/>
              </a:buClr>
              <a:buSzPct val="90000"/>
              <a:buFont typeface="Wingdings 2" pitchFamily="18" charset="2"/>
              <a:buChar char=""/>
            </a:pPr>
            <a:r>
              <a:rPr lang="fr-CA" sz="2400" dirty="0">
                <a:latin typeface="Arial Narrow" panose="020B0606020202030204" pitchFamily="34" charset="0"/>
                <a:cs typeface="Arial" charset="0"/>
              </a:rPr>
              <a:t>Les deux voies mènent à l’activation d’un intermédiaire commun, le </a:t>
            </a:r>
            <a:r>
              <a:rPr lang="fr-CA" sz="2400" i="1" u="sng" dirty="0">
                <a:latin typeface="Arial Narrow" panose="020B0606020202030204" pitchFamily="34" charset="0"/>
                <a:cs typeface="Arial" charset="0"/>
              </a:rPr>
              <a:t>facteur X</a:t>
            </a:r>
            <a:r>
              <a:rPr lang="fr-CA" sz="2400" dirty="0">
                <a:latin typeface="Arial Narrow" panose="020B0606020202030204" pitchFamily="34" charset="0"/>
                <a:cs typeface="Arial" charset="0"/>
              </a:rPr>
              <a:t>.</a:t>
            </a:r>
          </a:p>
          <a:p>
            <a:pPr marL="318136" lvl="1" indent="-318136">
              <a:spcAft>
                <a:spcPct val="25000"/>
              </a:spcAft>
              <a:buClr>
                <a:schemeClr val="tx1"/>
              </a:buClr>
              <a:buSzPct val="90000"/>
              <a:buFont typeface="Wingdings 2" pitchFamily="18" charset="2"/>
              <a:buChar char=""/>
            </a:pPr>
            <a:r>
              <a:rPr lang="fr-CA" sz="2400" dirty="0">
                <a:latin typeface="Arial Narrow" panose="020B0606020202030204" pitchFamily="34" charset="0"/>
                <a:cs typeface="Arial" charset="0"/>
              </a:rPr>
              <a:t>Le facteur X activé se combine avec d’autres facteurs pour former le complexe </a:t>
            </a:r>
            <a:r>
              <a:rPr lang="fr-CA" sz="2400" i="1" dirty="0">
                <a:latin typeface="Arial Narrow" panose="020B0606020202030204" pitchFamily="34" charset="0"/>
                <a:cs typeface="Arial" charset="0"/>
              </a:rPr>
              <a:t>activateur de la prothrombine</a:t>
            </a:r>
            <a:r>
              <a:rPr lang="fr-CA" sz="2400" dirty="0">
                <a:latin typeface="Arial Narrow" panose="020B0606020202030204" pitchFamily="34" charset="0"/>
                <a:cs typeface="Arial" charset="0"/>
              </a:rPr>
              <a:t>.</a:t>
            </a:r>
          </a:p>
          <a:p>
            <a:pPr marL="318136" lvl="1" indent="-318136">
              <a:buClr>
                <a:schemeClr val="tx1"/>
              </a:buClr>
              <a:buSzPct val="90000"/>
              <a:buFont typeface="Wingdings 2" pitchFamily="18" charset="2"/>
              <a:buChar char=""/>
            </a:pPr>
            <a:r>
              <a:rPr lang="fr-CA" sz="2400" dirty="0">
                <a:latin typeface="Arial Narrow" panose="020B0606020202030204" pitchFamily="34" charset="0"/>
                <a:cs typeface="Arial" charset="0"/>
              </a:rPr>
              <a:t>Chacune des deux voies, de même que la voie finale commune, nécessitent des </a:t>
            </a:r>
            <a:r>
              <a:rPr lang="fr-CA" sz="2400" u="sng" dirty="0">
                <a:latin typeface="Arial Narrow" panose="020B0606020202030204" pitchFamily="34" charset="0"/>
                <a:cs typeface="Arial" charset="0"/>
              </a:rPr>
              <a:t>ions calcium</a:t>
            </a:r>
            <a:r>
              <a:rPr lang="fr-CA" sz="2400" dirty="0">
                <a:latin typeface="Arial Narrow" panose="020B0606020202030204" pitchFamily="34" charset="0"/>
                <a:cs typeface="Arial" charset="0"/>
              </a:rPr>
              <a:t>.</a:t>
            </a:r>
          </a:p>
          <a:p>
            <a:pPr marL="756286" lvl="1" indent="-398146">
              <a:spcAft>
                <a:spcPct val="50000"/>
              </a:spcAft>
              <a:buClr>
                <a:schemeClr val="tx1"/>
              </a:buClr>
            </a:pPr>
            <a:r>
              <a:rPr lang="fr-CA" sz="2400" dirty="0">
                <a:latin typeface="Arial Narrow" panose="020B0606020202030204" pitchFamily="34" charset="0"/>
                <a:cs typeface="Arial" charset="0"/>
              </a:rPr>
              <a:t> </a:t>
            </a:r>
            <a:r>
              <a:rPr lang="fr-CA" sz="2400" dirty="0">
                <a:latin typeface="Arial Narrow" panose="020B0606020202030204" pitchFamily="34" charset="0"/>
                <a:cs typeface="Arial" charset="0"/>
                <a:sym typeface="Symbol" pitchFamily="18" charset="2"/>
              </a:rPr>
              <a:t>	</a:t>
            </a:r>
            <a:r>
              <a:rPr lang="fr-CA" sz="2400" dirty="0">
                <a:latin typeface="Arial Narrow" panose="020B0606020202030204" pitchFamily="34" charset="0"/>
                <a:cs typeface="Arial" charset="0"/>
              </a:rPr>
              <a:t>Sans Ca</a:t>
            </a:r>
            <a:r>
              <a:rPr lang="fr-CA" sz="2400" baseline="30000" dirty="0">
                <a:latin typeface="Arial Narrow" panose="020B0606020202030204" pitchFamily="34" charset="0"/>
                <a:cs typeface="Arial" charset="0"/>
              </a:rPr>
              <a:t>2+</a:t>
            </a:r>
            <a:r>
              <a:rPr lang="fr-CA" sz="2400" dirty="0">
                <a:latin typeface="Arial Narrow" panose="020B0606020202030204" pitchFamily="34" charset="0"/>
                <a:cs typeface="Arial" charset="0"/>
              </a:rPr>
              <a:t>, la coagulation ne peut pas se faire.</a:t>
            </a:r>
          </a:p>
          <a:p>
            <a:pPr marL="645796" indent="-327660">
              <a:spcBef>
                <a:spcPts val="4320"/>
              </a:spcBef>
              <a:buClr>
                <a:schemeClr val="tx1"/>
              </a:buClr>
              <a:tabLst>
                <a:tab pos="645796" algn="l"/>
              </a:tabLst>
            </a:pPr>
            <a:r>
              <a:rPr lang="fr-CA" sz="2400" dirty="0">
                <a:solidFill>
                  <a:srgbClr val="FF0000"/>
                </a:solidFill>
                <a:latin typeface="Arial Narrow" panose="020B0606020202030204" pitchFamily="34" charset="0"/>
                <a:cs typeface="Calibri" pitchFamily="34" charset="0"/>
              </a:rPr>
              <a:t>**	Quel est l’avantage physiologique des réactions en cascade?</a:t>
            </a:r>
          </a:p>
          <a:p>
            <a:pPr marL="645796" indent="-327660">
              <a:spcBef>
                <a:spcPct val="20000"/>
              </a:spcBef>
              <a:buClr>
                <a:schemeClr val="tx1"/>
              </a:buClr>
              <a:tabLst>
                <a:tab pos="645796" algn="l"/>
              </a:tabLst>
            </a:pPr>
            <a:r>
              <a:rPr lang="fr-CA" sz="2400" dirty="0">
                <a:solidFill>
                  <a:srgbClr val="FF0000"/>
                </a:solidFill>
                <a:latin typeface="Arial Narrow" panose="020B0606020202030204" pitchFamily="34" charset="0"/>
                <a:cs typeface="Calibri" pitchFamily="34" charset="0"/>
              </a:rPr>
              <a:t>**	Chaque voie se produit simultanément mais la voie extrinsèque est plus rapide, pourquoi?</a:t>
            </a:r>
          </a:p>
          <a:p>
            <a:pPr marL="268606" lvl="1" indent="-131446">
              <a:spcAft>
                <a:spcPct val="25000"/>
              </a:spcAft>
              <a:buClr>
                <a:schemeClr val="tx1"/>
              </a:buClr>
            </a:pPr>
            <a:endParaRPr lang="fr-CA" sz="2400" dirty="0">
              <a:solidFill>
                <a:srgbClr val="FF0000"/>
              </a:solidFill>
              <a:latin typeface="Arial Narrow" panose="020B0606020202030204" pitchFamily="34" charset="0"/>
              <a:cs typeface="Arial" charset="0"/>
            </a:endParaRPr>
          </a:p>
        </p:txBody>
      </p:sp>
    </p:spTree>
    <p:extLst>
      <p:ext uri="{BB962C8B-B14F-4D97-AF65-F5344CB8AC3E}">
        <p14:creationId xmlns:p14="http://schemas.microsoft.com/office/powerpoint/2010/main" val="3797433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52400"/>
            <a:ext cx="13106400" cy="7924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6177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1780755" y="229694"/>
            <a:ext cx="11859045" cy="7695106"/>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fr-FR" sz="2200" b="1" dirty="0">
                <a:latin typeface="Arial Narrow" panose="020B0606020202030204" pitchFamily="34" charset="0"/>
              </a:rPr>
              <a:t>Phase 2 de coagulation </a:t>
            </a:r>
            <a:r>
              <a:rPr lang="fr-FR" sz="2200" dirty="0">
                <a:latin typeface="Arial Narrow" panose="020B0606020202030204" pitchFamily="34" charset="0"/>
              </a:rPr>
              <a:t>: Voie vers la formation de la thrombine</a:t>
            </a:r>
            <a:br>
              <a:rPr lang="fr-FR" sz="2200" dirty="0">
                <a:latin typeface="Arial Narrow" panose="020B0606020202030204" pitchFamily="34" charset="0"/>
              </a:rPr>
            </a:br>
            <a:r>
              <a:rPr lang="fr-FR" sz="2200" dirty="0">
                <a:latin typeface="Arial Narrow" panose="020B0606020202030204" pitchFamily="34" charset="0"/>
              </a:rPr>
              <a:t>• L’activateur de la prothrombine catalyse la transformation de la prothrombine en thrombine  active</a:t>
            </a:r>
          </a:p>
          <a:p>
            <a:endParaRPr lang="fr-FR" sz="2200" dirty="0">
              <a:latin typeface="Arial Narrow" panose="020B0606020202030204" pitchFamily="34" charset="0"/>
            </a:endParaRPr>
          </a:p>
          <a:p>
            <a:r>
              <a:rPr lang="fr-FR" sz="2200" b="1" dirty="0">
                <a:latin typeface="Arial Narrow" panose="020B0606020202030204" pitchFamily="34" charset="0"/>
              </a:rPr>
              <a:t>Phase 3 de coagulation : </a:t>
            </a:r>
            <a:r>
              <a:rPr lang="fr-FR" sz="2200" dirty="0">
                <a:latin typeface="Arial Narrow" panose="020B0606020202030204" pitchFamily="34" charset="0"/>
              </a:rPr>
              <a:t>voie commune pour le réseau de fibrine</a:t>
            </a:r>
            <a:br>
              <a:rPr lang="fr-FR" sz="2200" dirty="0">
                <a:latin typeface="Arial Narrow" panose="020B0606020202030204" pitchFamily="34" charset="0"/>
              </a:rPr>
            </a:br>
            <a:r>
              <a:rPr lang="fr-FR" sz="2200" dirty="0">
                <a:latin typeface="Arial Narrow" panose="020B0606020202030204" pitchFamily="34" charset="0"/>
              </a:rPr>
              <a:t>• La thrombine convertit le fibrinogène soluble en fibrine</a:t>
            </a:r>
            <a:br>
              <a:rPr lang="fr-FR" sz="2200" dirty="0">
                <a:latin typeface="Arial Narrow" panose="020B0606020202030204" pitchFamily="34" charset="0"/>
              </a:rPr>
            </a:br>
            <a:r>
              <a:rPr lang="fr-FR" sz="2200" dirty="0">
                <a:latin typeface="Arial Narrow" panose="020B0606020202030204" pitchFamily="34" charset="0"/>
              </a:rPr>
              <a:t>• Les brins de fibrine forment la base structurelle d'un caillot</a:t>
            </a:r>
            <a:br>
              <a:rPr lang="fr-FR" sz="2200" dirty="0">
                <a:latin typeface="Arial Narrow" panose="020B0606020202030204" pitchFamily="34" charset="0"/>
              </a:rPr>
            </a:br>
            <a:r>
              <a:rPr lang="fr-FR" sz="2200" dirty="0">
                <a:latin typeface="Arial Narrow" panose="020B0606020202030204" pitchFamily="34" charset="0"/>
              </a:rPr>
              <a:t>• La fibrine du plasma provoque la formation d’un piège ou d’une trappe sous forme type gel pour des éléments figurés </a:t>
            </a:r>
            <a:br>
              <a:rPr lang="fr-FR" sz="2200" dirty="0">
                <a:latin typeface="Arial Narrow" panose="020B0606020202030204" pitchFamily="34" charset="0"/>
              </a:rPr>
            </a:br>
            <a:r>
              <a:rPr lang="fr-FR" sz="2200" dirty="0">
                <a:latin typeface="Arial Narrow" panose="020B0606020202030204" pitchFamily="34" charset="0"/>
              </a:rPr>
              <a:t>• La thrombine (</a:t>
            </a:r>
            <a:r>
              <a:rPr lang="fr-FR" sz="2200" dirty="0">
                <a:solidFill>
                  <a:srgbClr val="FF0000"/>
                </a:solidFill>
                <a:latin typeface="Arial Narrow" panose="020B0606020202030204" pitchFamily="34" charset="0"/>
              </a:rPr>
              <a:t>avec le Ca</a:t>
            </a:r>
            <a:r>
              <a:rPr lang="fr-FR" sz="2200" baseline="30000" dirty="0">
                <a:solidFill>
                  <a:srgbClr val="FF0000"/>
                </a:solidFill>
                <a:latin typeface="Arial Narrow" panose="020B0606020202030204" pitchFamily="34" charset="0"/>
              </a:rPr>
              <a:t>2 +</a:t>
            </a:r>
            <a:r>
              <a:rPr lang="fr-FR" sz="2200" dirty="0">
                <a:solidFill>
                  <a:srgbClr val="FF0000"/>
                </a:solidFill>
                <a:latin typeface="Arial Narrow" panose="020B0606020202030204" pitchFamily="34" charset="0"/>
              </a:rPr>
              <a:t>) </a:t>
            </a:r>
            <a:r>
              <a:rPr lang="fr-FR" sz="2200" dirty="0">
                <a:latin typeface="Arial Narrow" panose="020B0606020202030204" pitchFamily="34" charset="0"/>
              </a:rPr>
              <a:t>active le facteur XIII qui:</a:t>
            </a:r>
            <a:br>
              <a:rPr lang="fr-FR" sz="2200" dirty="0">
                <a:latin typeface="Arial Narrow" panose="020B0606020202030204" pitchFamily="34" charset="0"/>
              </a:rPr>
            </a:br>
            <a:r>
              <a:rPr lang="fr-FR" sz="2200" dirty="0">
                <a:latin typeface="Arial Narrow" panose="020B0606020202030204" pitchFamily="34" charset="0"/>
              </a:rPr>
              <a:t>• Entrecroise et forme des liens entre les molécules de fibrine</a:t>
            </a:r>
            <a:br>
              <a:rPr lang="fr-FR" sz="2200" dirty="0">
                <a:latin typeface="Arial Narrow" panose="020B0606020202030204" pitchFamily="34" charset="0"/>
              </a:rPr>
            </a:br>
            <a:r>
              <a:rPr lang="fr-FR" sz="2200" dirty="0">
                <a:latin typeface="Arial Narrow" panose="020B0606020202030204" pitchFamily="34" charset="0"/>
              </a:rPr>
              <a:t>• Renforce et stabilise le caillot</a:t>
            </a:r>
            <a:endParaRPr lang="fr-CA" sz="2200" dirty="0">
              <a:latin typeface="Arial Narrow" panose="020B0606020202030204" pitchFamily="34" charset="0"/>
              <a:cs typeface="Arial" charset="0"/>
            </a:endParaRPr>
          </a:p>
          <a:p>
            <a:pPr marL="321946" lvl="1" indent="-184786">
              <a:spcAft>
                <a:spcPct val="30000"/>
              </a:spcAft>
              <a:buClr>
                <a:schemeClr val="tx1"/>
              </a:buClr>
              <a:buFontTx/>
              <a:buChar char="•"/>
            </a:pPr>
            <a:endParaRPr lang="fr-CA" sz="2200" dirty="0">
              <a:latin typeface="Arial Narrow" panose="020B0606020202030204" pitchFamily="34" charset="0"/>
              <a:cs typeface="Arial" charset="0"/>
            </a:endParaRPr>
          </a:p>
          <a:p>
            <a:pPr marL="321946" lvl="1" indent="-184786">
              <a:spcAft>
                <a:spcPct val="30000"/>
              </a:spcAft>
              <a:buClr>
                <a:schemeClr val="tx1"/>
              </a:buClr>
              <a:buFontTx/>
              <a:buChar char="•"/>
            </a:pPr>
            <a:r>
              <a:rPr lang="fr-CA" sz="2200" dirty="0">
                <a:latin typeface="Arial Narrow" panose="020B0606020202030204" pitchFamily="34" charset="0"/>
                <a:cs typeface="Arial" charset="0"/>
              </a:rPr>
              <a:t>La synthèse par le foie de la prothrombine et des facteurs VII, IX et X requiert la </a:t>
            </a:r>
            <a:r>
              <a:rPr lang="fr-CA" sz="2200" u="sng" dirty="0">
                <a:latin typeface="Arial Narrow" panose="020B0606020202030204" pitchFamily="34" charset="0"/>
                <a:cs typeface="Arial" charset="0"/>
              </a:rPr>
              <a:t>vitamine K</a:t>
            </a:r>
            <a:r>
              <a:rPr lang="fr-CA" sz="2200" dirty="0">
                <a:latin typeface="Arial Narrow" panose="020B0606020202030204" pitchFamily="34" charset="0"/>
                <a:cs typeface="Arial" charset="0"/>
              </a:rPr>
              <a:t>.</a:t>
            </a:r>
            <a:endParaRPr lang="fr-CA" sz="2200" u="sng" dirty="0">
              <a:latin typeface="Arial Narrow" panose="020B0606020202030204" pitchFamily="34" charset="0"/>
              <a:cs typeface="Arial" charset="0"/>
            </a:endParaRPr>
          </a:p>
          <a:p>
            <a:pPr marL="321946" lvl="1" indent="-184786">
              <a:spcAft>
                <a:spcPct val="30000"/>
              </a:spcAft>
              <a:buClr>
                <a:schemeClr val="tx1"/>
              </a:buClr>
              <a:buFontTx/>
              <a:buChar char="•"/>
            </a:pPr>
            <a:r>
              <a:rPr lang="fr-CA" sz="2200" u="sng" dirty="0">
                <a:latin typeface="Arial Narrow" panose="020B0606020202030204" pitchFamily="34" charset="0"/>
                <a:cs typeface="Arial" charset="0"/>
              </a:rPr>
              <a:t>Facteur X</a:t>
            </a:r>
            <a:r>
              <a:rPr lang="fr-CA" sz="2200" dirty="0">
                <a:latin typeface="Arial Narrow" panose="020B0606020202030204" pitchFamily="34" charset="0"/>
                <a:cs typeface="Arial" charset="0"/>
              </a:rPr>
              <a:t>: premier facteur commun des voies extrinsèque et intrinsèque</a:t>
            </a:r>
            <a:endParaRPr lang="fr-CA" sz="2200" u="sng" dirty="0">
              <a:latin typeface="Arial Narrow" panose="020B0606020202030204" pitchFamily="34" charset="0"/>
              <a:cs typeface="Arial" charset="0"/>
            </a:endParaRPr>
          </a:p>
          <a:p>
            <a:pPr marL="321946" lvl="1" indent="-184786">
              <a:spcAft>
                <a:spcPct val="30000"/>
              </a:spcAft>
              <a:buClr>
                <a:schemeClr val="tx1"/>
              </a:buClr>
              <a:buFontTx/>
              <a:buChar char="•"/>
            </a:pPr>
            <a:r>
              <a:rPr lang="fr-CA" sz="2200" u="sng" dirty="0">
                <a:latin typeface="Arial Narrow" panose="020B0606020202030204" pitchFamily="34" charset="0"/>
                <a:cs typeface="Arial" charset="0"/>
              </a:rPr>
              <a:t>Facteur XIII</a:t>
            </a:r>
            <a:r>
              <a:rPr lang="fr-CA" sz="2200" dirty="0">
                <a:latin typeface="Arial Narrow" panose="020B0606020202030204" pitchFamily="34" charset="0"/>
                <a:cs typeface="Arial" charset="0"/>
              </a:rPr>
              <a:t>: forme des liaisons covalentes entre les molécules de fibrine, augmentant ainsi énormément la résistance du réseau de fibrine.</a:t>
            </a:r>
          </a:p>
          <a:p>
            <a:pPr marL="321946" lvl="1" indent="-184786">
              <a:buClr>
                <a:schemeClr val="tx1"/>
              </a:buClr>
              <a:buFontTx/>
              <a:buChar char="•"/>
            </a:pPr>
            <a:r>
              <a:rPr lang="fr-CA" sz="2200" dirty="0">
                <a:latin typeface="Arial Narrow" panose="020B0606020202030204" pitchFamily="34" charset="0"/>
                <a:cs typeface="Arial" charset="0"/>
              </a:rPr>
              <a:t>Facteurs de la voie intrinsèque impliqués dans les </a:t>
            </a:r>
            <a:r>
              <a:rPr lang="fr-CA" sz="2200" b="1" i="1" dirty="0">
                <a:latin typeface="Arial Narrow" panose="020B0606020202030204" pitchFamily="34" charset="0"/>
                <a:cs typeface="Arial" charset="0"/>
              </a:rPr>
              <a:t>hémophilies</a:t>
            </a:r>
            <a:r>
              <a:rPr lang="fr-CA" sz="2200" dirty="0">
                <a:latin typeface="Arial Narrow" panose="020B0606020202030204" pitchFamily="34" charset="0"/>
                <a:cs typeface="Arial" charset="0"/>
              </a:rPr>
              <a:t>:</a:t>
            </a:r>
          </a:p>
          <a:p>
            <a:pPr marL="762000" lvl="2" indent="-291466">
              <a:buClr>
                <a:schemeClr val="tx1"/>
              </a:buClr>
              <a:buSzPct val="70000"/>
              <a:buFont typeface="Wingdings" pitchFamily="2" charset="2"/>
              <a:buChar char="§"/>
            </a:pPr>
            <a:r>
              <a:rPr lang="fr-CA" sz="2200" dirty="0">
                <a:latin typeface="Arial Narrow" panose="020B0606020202030204" pitchFamily="34" charset="0"/>
                <a:cs typeface="Arial" charset="0"/>
              </a:rPr>
              <a:t>Déficience en facteur VIII entraîne l’hémophilie A</a:t>
            </a:r>
          </a:p>
          <a:p>
            <a:pPr marL="762000" lvl="2" indent="-291466">
              <a:buClr>
                <a:schemeClr val="tx1"/>
              </a:buClr>
              <a:buSzPct val="70000"/>
              <a:buFont typeface="Wingdings" pitchFamily="2" charset="2"/>
              <a:buChar char="§"/>
            </a:pPr>
            <a:r>
              <a:rPr lang="fr-CA" sz="2200" dirty="0">
                <a:latin typeface="Arial Narrow" panose="020B0606020202030204" pitchFamily="34" charset="0"/>
                <a:cs typeface="Arial" charset="0"/>
              </a:rPr>
              <a:t>Déficience en facteur IX entraîne l’hémophilie B</a:t>
            </a:r>
          </a:p>
          <a:p>
            <a:pPr marL="762000" lvl="2" indent="-291466">
              <a:spcAft>
                <a:spcPct val="25000"/>
              </a:spcAft>
              <a:buClr>
                <a:schemeClr val="tx1"/>
              </a:buClr>
              <a:buSzPct val="70000"/>
              <a:buFont typeface="Wingdings" pitchFamily="2" charset="2"/>
              <a:buChar char="§"/>
            </a:pPr>
            <a:r>
              <a:rPr lang="fr-CA" sz="2200" dirty="0">
                <a:latin typeface="Arial Narrow" panose="020B0606020202030204" pitchFamily="34" charset="0"/>
                <a:cs typeface="Arial" charset="0"/>
              </a:rPr>
              <a:t>Déficience en facteur XI entraîne l’hémophilie C</a:t>
            </a:r>
          </a:p>
          <a:p>
            <a:pPr marL="645796" lvl="2" indent="-327660">
              <a:spcBef>
                <a:spcPts val="2160"/>
              </a:spcBef>
              <a:spcAft>
                <a:spcPct val="25000"/>
              </a:spcAft>
              <a:buClr>
                <a:schemeClr val="tx1"/>
              </a:buClr>
            </a:pPr>
            <a:r>
              <a:rPr lang="fr-CA" sz="2200" dirty="0">
                <a:solidFill>
                  <a:srgbClr val="FF0000"/>
                </a:solidFill>
                <a:latin typeface="Arial Narrow" panose="020B0606020202030204" pitchFamily="34" charset="0"/>
                <a:cs typeface="Calibri" pitchFamily="34" charset="0"/>
              </a:rPr>
              <a:t>**	L’hémophilie C est relativement moins sévère que les formes A or B, pourquoi </a:t>
            </a:r>
            <a:r>
              <a:rPr lang="en-CA" sz="2200" dirty="0">
                <a:solidFill>
                  <a:srgbClr val="FF0000"/>
                </a:solidFill>
                <a:latin typeface="Arial Narrow" panose="020B0606020202030204" pitchFamily="34" charset="0"/>
                <a:cs typeface="Calibri" pitchFamily="34" charset="0"/>
              </a:rPr>
              <a:t>?</a:t>
            </a:r>
          </a:p>
        </p:txBody>
      </p:sp>
    </p:spTree>
    <p:extLst>
      <p:ext uri="{BB962C8B-B14F-4D97-AF65-F5344CB8AC3E}">
        <p14:creationId xmlns:p14="http://schemas.microsoft.com/office/powerpoint/2010/main" val="3787610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76201"/>
            <a:ext cx="12954000" cy="8000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4159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1143000" y="902971"/>
            <a:ext cx="12573000" cy="707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a:buClr>
                <a:schemeClr val="tx1"/>
              </a:buClr>
              <a:buFontTx/>
              <a:buChar char="•"/>
              <a:tabLst>
                <a:tab pos="432436" algn="l"/>
              </a:tabLst>
            </a:pPr>
            <a:r>
              <a:rPr lang="en-CA" sz="2000" b="1" dirty="0">
                <a:latin typeface="Arial Narrow" panose="020B0606020202030204" pitchFamily="34" charset="0"/>
                <a:cs typeface="Arial" charset="0"/>
              </a:rPr>
              <a:t> </a:t>
            </a:r>
            <a:r>
              <a:rPr lang="fr-CA" sz="2000" b="1" i="1" dirty="0">
                <a:latin typeface="Arial Narrow" panose="020B0606020202030204" pitchFamily="34" charset="0"/>
                <a:cs typeface="Arial" charset="0"/>
              </a:rPr>
              <a:t>Rétraction du caillot</a:t>
            </a:r>
            <a:r>
              <a:rPr lang="fr-CA" sz="2000" b="1" dirty="0">
                <a:latin typeface="Arial Narrow" panose="020B0606020202030204" pitchFamily="34" charset="0"/>
                <a:cs typeface="Arial" charset="0"/>
              </a:rPr>
              <a:t>:</a:t>
            </a:r>
            <a:r>
              <a:rPr lang="fr-CA" sz="2000" dirty="0">
                <a:latin typeface="Arial Narrow" panose="020B0606020202030204" pitchFamily="34" charset="0"/>
                <a:cs typeface="Arial" charset="0"/>
              </a:rPr>
              <a:t> se produit en 30-60 minutes</a:t>
            </a:r>
          </a:p>
          <a:p>
            <a:pPr marL="419100" lvl="1" indent="-203836">
              <a:buClr>
                <a:schemeClr val="tx1"/>
              </a:buClr>
              <a:tabLst>
                <a:tab pos="432436" algn="l"/>
              </a:tabLst>
            </a:pPr>
            <a:r>
              <a:rPr lang="fr-CA" sz="2000" dirty="0">
                <a:latin typeface="Arial Narrow" panose="020B0606020202030204" pitchFamily="34" charset="0"/>
                <a:cs typeface="Arial" charset="0"/>
              </a:rPr>
              <a:t>	Les plaquettes se contractent (via leurs filaments d’actine et de myosine), causant ainsi une traction sur les filaments de fibrine et donc un resserrement du caillot.</a:t>
            </a:r>
          </a:p>
          <a:p>
            <a:pPr marL="419100" lvl="1" indent="-203836">
              <a:spcAft>
                <a:spcPct val="25000"/>
              </a:spcAft>
              <a:buClr>
                <a:schemeClr val="tx1"/>
              </a:buClr>
              <a:tabLst>
                <a:tab pos="432436" algn="l"/>
              </a:tabLst>
            </a:pPr>
            <a:r>
              <a:rPr lang="fr-CA" sz="2000" dirty="0">
                <a:latin typeface="Arial Narrow" panose="020B0606020202030204" pitchFamily="34" charset="0"/>
                <a:cs typeface="Arial" charset="0"/>
              </a:rPr>
              <a:t>	</a:t>
            </a:r>
            <a:r>
              <a:rPr lang="fr-CA" sz="2000" dirty="0">
                <a:latin typeface="Arial Narrow" panose="020B0606020202030204" pitchFamily="34" charset="0"/>
                <a:cs typeface="Arial" charset="0"/>
                <a:sym typeface="Symbol" pitchFamily="18" charset="2"/>
              </a:rPr>
              <a:t></a:t>
            </a:r>
            <a:r>
              <a:rPr lang="fr-CA" sz="2000" i="1" dirty="0">
                <a:latin typeface="Arial Narrow" panose="020B0606020202030204" pitchFamily="34" charset="0"/>
                <a:cs typeface="Arial" charset="0"/>
              </a:rPr>
              <a:t> </a:t>
            </a:r>
            <a:r>
              <a:rPr lang="fr-CA" sz="2000" dirty="0">
                <a:latin typeface="Arial Narrow" panose="020B0606020202030204" pitchFamily="34" charset="0"/>
                <a:cs typeface="Arial" charset="0"/>
              </a:rPr>
              <a:t>Le </a:t>
            </a:r>
            <a:r>
              <a:rPr lang="fr-CA" sz="2000" i="1" dirty="0">
                <a:latin typeface="Arial Narrow" panose="020B0606020202030204" pitchFamily="34" charset="0"/>
                <a:cs typeface="Arial" charset="0"/>
              </a:rPr>
              <a:t>sérum</a:t>
            </a:r>
            <a:r>
              <a:rPr lang="fr-CA" sz="2000" dirty="0">
                <a:latin typeface="Arial Narrow" panose="020B0606020202030204" pitchFamily="34" charset="0"/>
                <a:cs typeface="Arial" charset="0"/>
              </a:rPr>
              <a:t> est expulsé du caillot, et les bords de la lésion se rapprochent.</a:t>
            </a:r>
            <a:endParaRPr lang="fr-CA" sz="2000" b="1" i="1" dirty="0">
              <a:latin typeface="Arial Narrow" panose="020B0606020202030204" pitchFamily="34" charset="0"/>
              <a:cs typeface="Arial" charset="0"/>
            </a:endParaRPr>
          </a:p>
          <a:p>
            <a:pPr>
              <a:buClr>
                <a:schemeClr val="tx1"/>
              </a:buClr>
              <a:buFontTx/>
              <a:buChar char="•"/>
              <a:tabLst>
                <a:tab pos="432436" algn="l"/>
              </a:tabLst>
            </a:pPr>
            <a:r>
              <a:rPr lang="fr-CA" sz="2000" b="1" i="1" dirty="0">
                <a:latin typeface="Arial Narrow" panose="020B0606020202030204" pitchFamily="34" charset="0"/>
                <a:cs typeface="Arial" charset="0"/>
              </a:rPr>
              <a:t> Réfection du vaisseau</a:t>
            </a:r>
            <a:r>
              <a:rPr lang="fr-CA" sz="2000" b="1" dirty="0">
                <a:latin typeface="Arial Narrow" panose="020B0606020202030204" pitchFamily="34" charset="0"/>
                <a:cs typeface="Arial" charset="0"/>
              </a:rPr>
              <a:t>:</a:t>
            </a:r>
            <a:endParaRPr lang="fr-CA" sz="2000" dirty="0">
              <a:latin typeface="Arial Narrow" panose="020B0606020202030204" pitchFamily="34" charset="0"/>
              <a:cs typeface="Arial" charset="0"/>
            </a:endParaRPr>
          </a:p>
          <a:p>
            <a:pPr marL="419100" lvl="1" indent="-203836">
              <a:spcAft>
                <a:spcPct val="25000"/>
              </a:spcAft>
              <a:buClr>
                <a:schemeClr val="tx1"/>
              </a:buClr>
              <a:tabLst>
                <a:tab pos="432436" algn="l"/>
              </a:tabLst>
            </a:pPr>
            <a:r>
              <a:rPr lang="fr-CA" sz="2000" dirty="0">
                <a:latin typeface="Arial Narrow" panose="020B0606020202030204" pitchFamily="34" charset="0"/>
                <a:cs typeface="Arial" charset="0"/>
              </a:rPr>
              <a:t>	Certains facteurs de croissance, tel le </a:t>
            </a:r>
            <a:r>
              <a:rPr lang="fr-CA" sz="2000" i="1" dirty="0">
                <a:latin typeface="Arial Narrow" panose="020B0606020202030204" pitchFamily="34" charset="0"/>
                <a:cs typeface="Arial" charset="0"/>
              </a:rPr>
              <a:t>PDGF</a:t>
            </a:r>
            <a:r>
              <a:rPr lang="fr-CA" sz="2000" dirty="0">
                <a:latin typeface="Arial Narrow" panose="020B0606020202030204" pitchFamily="34" charset="0"/>
                <a:cs typeface="Arial" charset="0"/>
              </a:rPr>
              <a:t> (</a:t>
            </a:r>
            <a:r>
              <a:rPr lang="fr-CA" sz="2000" i="1" dirty="0" err="1">
                <a:latin typeface="Arial Narrow" panose="020B0606020202030204" pitchFamily="34" charset="0"/>
                <a:cs typeface="Arial" charset="0"/>
              </a:rPr>
              <a:t>platelet-derived</a:t>
            </a:r>
            <a:r>
              <a:rPr lang="fr-CA" sz="2000" i="1" dirty="0">
                <a:latin typeface="Arial Narrow" panose="020B0606020202030204" pitchFamily="34" charset="0"/>
                <a:cs typeface="Arial" charset="0"/>
              </a:rPr>
              <a:t> </a:t>
            </a:r>
            <a:r>
              <a:rPr lang="fr-CA" sz="2000" i="1" dirty="0" err="1">
                <a:latin typeface="Arial Narrow" panose="020B0606020202030204" pitchFamily="34" charset="0"/>
                <a:cs typeface="Arial" charset="0"/>
              </a:rPr>
              <a:t>growth</a:t>
            </a:r>
            <a:r>
              <a:rPr lang="fr-CA" sz="2000" i="1" dirty="0">
                <a:latin typeface="Arial Narrow" panose="020B0606020202030204" pitchFamily="34" charset="0"/>
                <a:cs typeface="Arial" charset="0"/>
              </a:rPr>
              <a:t> factor</a:t>
            </a:r>
            <a:r>
              <a:rPr lang="fr-CA" sz="2000" dirty="0">
                <a:latin typeface="Arial Narrow" panose="020B0606020202030204" pitchFamily="34" charset="0"/>
                <a:cs typeface="Arial" charset="0"/>
              </a:rPr>
              <a:t>) libéré par les plaquettes, stimulent les fibroblastes et les cellules musculaires lisses à se diviser et à reconstruire la paroi vasculaire. </a:t>
            </a:r>
            <a:endParaRPr lang="fr-CA" sz="2000" b="1" i="1" dirty="0">
              <a:latin typeface="Arial Narrow" panose="020B0606020202030204" pitchFamily="34" charset="0"/>
              <a:cs typeface="Arial" charset="0"/>
            </a:endParaRPr>
          </a:p>
          <a:p>
            <a:pPr>
              <a:spcAft>
                <a:spcPct val="10000"/>
              </a:spcAft>
              <a:buClr>
                <a:schemeClr val="tx1"/>
              </a:buClr>
              <a:buFontTx/>
              <a:buChar char="•"/>
              <a:tabLst>
                <a:tab pos="432436" algn="l"/>
              </a:tabLst>
            </a:pPr>
            <a:r>
              <a:rPr lang="fr-CA" sz="2000" b="1" i="1" dirty="0">
                <a:latin typeface="Arial Narrow" panose="020B0606020202030204" pitchFamily="34" charset="0"/>
                <a:cs typeface="Arial" charset="0"/>
              </a:rPr>
              <a:t> Fibrinolyse</a:t>
            </a:r>
            <a:r>
              <a:rPr lang="fr-CA" sz="2000" b="1" dirty="0">
                <a:latin typeface="Arial Narrow" panose="020B0606020202030204" pitchFamily="34" charset="0"/>
                <a:cs typeface="Arial" charset="0"/>
              </a:rPr>
              <a:t>: </a:t>
            </a:r>
            <a:r>
              <a:rPr lang="fr-CA" sz="2000" dirty="0">
                <a:latin typeface="Arial Narrow" panose="020B0606020202030204" pitchFamily="34" charset="0"/>
                <a:cs typeface="Arial" charset="0"/>
              </a:rPr>
              <a:t>Commence dans les deux jours qui suivent la lésion et continue jusqu’à la 	dissolution complète du caillot.</a:t>
            </a:r>
          </a:p>
          <a:p>
            <a:pPr marL="419100" lvl="1" indent="-203836">
              <a:spcAft>
                <a:spcPct val="10000"/>
              </a:spcAft>
              <a:buClr>
                <a:schemeClr val="tx1"/>
              </a:buClr>
              <a:tabLst>
                <a:tab pos="432436" algn="l"/>
              </a:tabLst>
            </a:pPr>
            <a:r>
              <a:rPr lang="fr-CA" sz="2000" dirty="0">
                <a:latin typeface="Arial Narrow" panose="020B0606020202030204" pitchFamily="34" charset="0"/>
                <a:cs typeface="Arial" charset="0"/>
              </a:rPr>
              <a:t>	Processus qui enlève les caillots devenus inutiles; absolument essentiel pour éviter l’obstruction des vaisseaux sanguins.</a:t>
            </a:r>
          </a:p>
          <a:p>
            <a:pPr marL="862966" lvl="2" indent="-228600">
              <a:spcAft>
                <a:spcPct val="10000"/>
              </a:spcAft>
              <a:buClr>
                <a:schemeClr val="tx1"/>
              </a:buClr>
              <a:buSzPct val="75000"/>
              <a:buFont typeface="Wingdings" pitchFamily="2" charset="2"/>
              <a:buChar char="§"/>
              <a:tabLst>
                <a:tab pos="432436" algn="l"/>
              </a:tabLst>
            </a:pPr>
            <a:r>
              <a:rPr lang="fr-CA" sz="2000" b="1" i="1" dirty="0">
                <a:latin typeface="Arial Narrow" panose="020B0606020202030204" pitchFamily="34" charset="0"/>
                <a:cs typeface="Arial" charset="0"/>
              </a:rPr>
              <a:t>Plasmine</a:t>
            </a:r>
            <a:r>
              <a:rPr lang="fr-CA" sz="2000" dirty="0">
                <a:latin typeface="Arial Narrow" panose="020B0606020202030204" pitchFamily="34" charset="0"/>
                <a:cs typeface="Arial" charset="0"/>
              </a:rPr>
              <a:t>: enzyme qui détruit la fibrine (de même que certains facteurs de coagulation tels le fibrinogène, la prothrombine, le facteur XII, etc...) </a:t>
            </a:r>
            <a:r>
              <a:rPr lang="fr-CA" sz="2000" dirty="0">
                <a:latin typeface="Arial Narrow" panose="020B0606020202030204" pitchFamily="34" charset="0"/>
                <a:cs typeface="Arial" charset="0"/>
                <a:sym typeface="Symbol" pitchFamily="18" charset="2"/>
              </a:rPr>
              <a:t></a:t>
            </a:r>
            <a:r>
              <a:rPr lang="fr-CA" sz="2000" dirty="0">
                <a:latin typeface="Arial Narrow" panose="020B0606020202030204" pitchFamily="34" charset="0"/>
                <a:cs typeface="Arial" charset="0"/>
              </a:rPr>
              <a:t> dissolution du caillot.</a:t>
            </a:r>
            <a:endParaRPr lang="fr-CA" sz="2000" b="1" i="1" dirty="0">
              <a:latin typeface="Arial Narrow" panose="020B0606020202030204" pitchFamily="34" charset="0"/>
              <a:cs typeface="Arial" charset="0"/>
            </a:endParaRPr>
          </a:p>
          <a:p>
            <a:pPr marL="862966" lvl="2" indent="-228600">
              <a:spcAft>
                <a:spcPct val="10000"/>
              </a:spcAft>
              <a:buClr>
                <a:schemeClr val="tx1"/>
              </a:buClr>
              <a:buSzPct val="75000"/>
              <a:buFont typeface="Wingdings" pitchFamily="2" charset="2"/>
              <a:buChar char="§"/>
              <a:tabLst>
                <a:tab pos="432436" algn="l"/>
              </a:tabLst>
            </a:pPr>
            <a:r>
              <a:rPr lang="fr-CA" sz="2000" b="1" i="1" dirty="0">
                <a:latin typeface="Arial Narrow" panose="020B0606020202030204" pitchFamily="34" charset="0"/>
                <a:cs typeface="Arial" charset="0"/>
              </a:rPr>
              <a:t>Plasminogène</a:t>
            </a:r>
            <a:r>
              <a:rPr lang="fr-CA" sz="2000" b="1" dirty="0">
                <a:latin typeface="Arial Narrow" panose="020B0606020202030204" pitchFamily="34" charset="0"/>
                <a:cs typeface="Arial" charset="0"/>
              </a:rPr>
              <a:t>:</a:t>
            </a:r>
            <a:r>
              <a:rPr lang="fr-CA" sz="2000" dirty="0">
                <a:latin typeface="Arial Narrow" panose="020B0606020202030204" pitchFamily="34" charset="0"/>
                <a:cs typeface="Arial" charset="0"/>
              </a:rPr>
              <a:t> protéine plasmatique qui, lorsque activée, devient la plasmine.</a:t>
            </a:r>
            <a:endParaRPr lang="fr-CA" sz="2000" b="1" i="1" dirty="0">
              <a:latin typeface="Arial Narrow" panose="020B0606020202030204" pitchFamily="34" charset="0"/>
              <a:cs typeface="Arial" charset="0"/>
            </a:endParaRPr>
          </a:p>
          <a:p>
            <a:pPr marL="862966" lvl="2" indent="-228600">
              <a:spcAft>
                <a:spcPct val="25000"/>
              </a:spcAft>
              <a:buClr>
                <a:schemeClr val="tx1"/>
              </a:buClr>
              <a:buSzPct val="75000"/>
              <a:buFont typeface="Wingdings" pitchFamily="2" charset="2"/>
              <a:buChar char="§"/>
              <a:tabLst>
                <a:tab pos="432436" algn="l"/>
              </a:tabLst>
            </a:pPr>
            <a:r>
              <a:rPr lang="fr-CA" sz="2000" b="1" i="1" dirty="0">
                <a:latin typeface="Arial Narrow" panose="020B0606020202030204" pitchFamily="34" charset="0"/>
                <a:cs typeface="Arial" charset="0"/>
              </a:rPr>
              <a:t>Activateur tissulaire du plasminogène </a:t>
            </a:r>
            <a:r>
              <a:rPr lang="fr-CA" sz="2000" b="1" dirty="0">
                <a:latin typeface="Arial Narrow" panose="020B0606020202030204" pitchFamily="34" charset="0"/>
                <a:cs typeface="Arial" charset="0"/>
              </a:rPr>
              <a:t>(</a:t>
            </a:r>
            <a:r>
              <a:rPr lang="fr-CA" sz="2000" b="1" i="1" dirty="0" err="1">
                <a:latin typeface="Arial Narrow" panose="020B0606020202030204" pitchFamily="34" charset="0"/>
                <a:cs typeface="Arial" charset="0"/>
              </a:rPr>
              <a:t>tPA</a:t>
            </a:r>
            <a:r>
              <a:rPr lang="fr-CA" sz="2000" b="1" dirty="0">
                <a:latin typeface="Arial Narrow" panose="020B0606020202030204" pitchFamily="34" charset="0"/>
                <a:cs typeface="Arial" charset="0"/>
              </a:rPr>
              <a:t>): </a:t>
            </a:r>
            <a:r>
              <a:rPr lang="fr-CA" sz="2000" dirty="0">
                <a:latin typeface="Arial Narrow" panose="020B0606020202030204" pitchFamily="34" charset="0"/>
                <a:cs typeface="Arial" charset="0"/>
              </a:rPr>
              <a:t>activateur majeur du plasminogène; libéré par l’endothélium.</a:t>
            </a:r>
          </a:p>
        </p:txBody>
      </p:sp>
      <p:sp>
        <p:nvSpPr>
          <p:cNvPr id="21507" name="Rectangle 3"/>
          <p:cNvSpPr>
            <a:spLocks noGrp="1" noChangeArrowheads="1"/>
          </p:cNvSpPr>
          <p:nvPr>
            <p:ph type="body" sz="half" idx="1"/>
          </p:nvPr>
        </p:nvSpPr>
        <p:spPr>
          <a:xfrm>
            <a:off x="1937386" y="419101"/>
            <a:ext cx="10864214" cy="613410"/>
          </a:xfrm>
          <a:noFill/>
        </p:spPr>
        <p:txBody>
          <a:bodyPr/>
          <a:lstStyle/>
          <a:p>
            <a:pPr marL="403860" indent="-403860">
              <a:lnSpc>
                <a:spcPct val="90000"/>
              </a:lnSpc>
              <a:spcAft>
                <a:spcPct val="0"/>
              </a:spcAft>
              <a:buNone/>
            </a:pPr>
            <a:r>
              <a:rPr lang="fr-CA" sz="2880" b="1">
                <a:latin typeface="Arial" charset="0"/>
                <a:cs typeface="Arial" charset="0"/>
              </a:rPr>
              <a:t>3.	</a:t>
            </a:r>
            <a:r>
              <a:rPr lang="fr-CA" sz="2880" b="1" u="sng">
                <a:latin typeface="Arial" charset="0"/>
                <a:cs typeface="Arial" charset="0"/>
              </a:rPr>
              <a:t>RÉTRACTION DU CAILLOT, RÉFECTION ET FIBRINOLYSE</a:t>
            </a:r>
          </a:p>
        </p:txBody>
      </p:sp>
      <p:sp>
        <p:nvSpPr>
          <p:cNvPr id="496647" name="Text Box 7"/>
          <p:cNvSpPr txBox="1">
            <a:spLocks noChangeArrowheads="1"/>
          </p:cNvSpPr>
          <p:nvPr/>
        </p:nvSpPr>
        <p:spPr bwMode="auto">
          <a:xfrm>
            <a:off x="3276600" y="5393054"/>
            <a:ext cx="8458200" cy="1845946"/>
          </a:xfrm>
          <a:prstGeom prst="rect">
            <a:avLst/>
          </a:prstGeom>
          <a:solidFill>
            <a:srgbClr val="FFFFFF"/>
          </a:solidFill>
          <a:ln w="9525">
            <a:solidFill>
              <a:srgbClr val="9933FF"/>
            </a:solidFill>
            <a:miter lim="800000"/>
            <a:headEnd/>
            <a:tailEnd/>
          </a:ln>
        </p:spPr>
        <p:txBody>
          <a:bodyPr/>
          <a:lstStyle/>
          <a:p>
            <a:pPr marL="434340" lvl="1">
              <a:defRPr/>
            </a:pPr>
            <a:r>
              <a:rPr lang="fr-CA" sz="2800" b="1" i="1">
                <a:solidFill>
                  <a:schemeClr val="accent2"/>
                </a:solidFill>
              </a:rPr>
              <a:t>     </a:t>
            </a:r>
            <a:r>
              <a:rPr lang="fr-CA" sz="2800" b="1" i="1">
                <a:solidFill>
                  <a:schemeClr val="accent2"/>
                </a:solidFill>
                <a:latin typeface="Arial" charset="0"/>
                <a:cs typeface="Arial" charset="0"/>
              </a:rPr>
              <a:t>Plasminogène</a:t>
            </a:r>
          </a:p>
          <a:p>
            <a:pPr>
              <a:defRPr/>
            </a:pPr>
            <a:r>
              <a:rPr lang="fr-CA" sz="2800" b="1" i="1">
                <a:solidFill>
                  <a:schemeClr val="accent2"/>
                </a:solidFill>
                <a:latin typeface="Arial" charset="0"/>
                <a:cs typeface="Arial" charset="0"/>
              </a:rPr>
              <a:t>   tPA</a:t>
            </a:r>
            <a:r>
              <a:rPr lang="fr-CA" sz="2800" b="1">
                <a:solidFill>
                  <a:schemeClr val="accent2"/>
                </a:solidFill>
                <a:effectLst>
                  <a:outerShdw blurRad="38100" dist="38100" dir="2700000" algn="tl">
                    <a:srgbClr val="C0C0C0"/>
                  </a:outerShdw>
                </a:effectLst>
                <a:latin typeface="Arial" charset="0"/>
                <a:cs typeface="Arial" charset="0"/>
              </a:rPr>
              <a:t> </a:t>
            </a:r>
            <a:r>
              <a:rPr lang="fr-CA" sz="2800" b="1">
                <a:solidFill>
                  <a:schemeClr val="accent2"/>
                </a:solidFill>
                <a:latin typeface="Arial" charset="0"/>
                <a:cs typeface="Arial" charset="0"/>
                <a:sym typeface="Symbol" pitchFamily="18" charset="2"/>
              </a:rPr>
              <a:t>    </a:t>
            </a:r>
            <a:r>
              <a:rPr lang="fr-CA" sz="2800" b="1">
                <a:solidFill>
                  <a:schemeClr val="accent2"/>
                </a:solidFill>
                <a:sym typeface="Wingdings" pitchFamily="2" charset="2"/>
              </a:rPr>
              <a:t></a:t>
            </a:r>
            <a:endParaRPr lang="fr-CA" sz="2800" b="1" i="1">
              <a:solidFill>
                <a:schemeClr val="accent2"/>
              </a:solidFill>
              <a:latin typeface="Arial" charset="0"/>
              <a:cs typeface="Arial" charset="0"/>
              <a:sym typeface="Wingdings" pitchFamily="2" charset="2"/>
            </a:endParaRPr>
          </a:p>
          <a:p>
            <a:pPr marL="434340" lvl="1">
              <a:defRPr/>
            </a:pPr>
            <a:r>
              <a:rPr lang="fr-CA" sz="2800" b="1" i="1">
                <a:solidFill>
                  <a:schemeClr val="accent2"/>
                </a:solidFill>
                <a:latin typeface="Arial" charset="0"/>
                <a:cs typeface="Arial" charset="0"/>
              </a:rPr>
              <a:t>      Plasmine </a:t>
            </a:r>
          </a:p>
          <a:p>
            <a:pPr marL="434340" lvl="1">
              <a:defRPr/>
            </a:pPr>
            <a:r>
              <a:rPr lang="fr-CA" sz="2800" b="1">
                <a:solidFill>
                  <a:schemeClr val="accent2"/>
                </a:solidFill>
                <a:latin typeface="Arial" charset="0"/>
                <a:cs typeface="Arial" charset="0"/>
                <a:sym typeface="Wingdings" pitchFamily="2" charset="2"/>
              </a:rPr>
              <a:t>	    </a:t>
            </a:r>
          </a:p>
          <a:p>
            <a:pPr marL="434340" lvl="1">
              <a:defRPr/>
            </a:pPr>
            <a:r>
              <a:rPr lang="fr-CA" sz="2800" b="1" i="1">
                <a:solidFill>
                  <a:schemeClr val="accent2"/>
                </a:solidFill>
                <a:latin typeface="Arial" charset="0"/>
                <a:cs typeface="Arial" charset="0"/>
              </a:rPr>
              <a:t>Fibrine</a:t>
            </a:r>
            <a:r>
              <a:rPr lang="fr-CA" sz="2800" b="1">
                <a:solidFill>
                  <a:schemeClr val="accent2"/>
                </a:solidFill>
                <a:latin typeface="Arial" charset="0"/>
                <a:cs typeface="Arial" charset="0"/>
              </a:rPr>
              <a:t> </a:t>
            </a:r>
            <a:r>
              <a:rPr lang="fr-CA" sz="2800" b="1">
                <a:solidFill>
                  <a:schemeClr val="accent2"/>
                </a:solidFill>
                <a:latin typeface="Arial" charset="0"/>
                <a:cs typeface="Arial" charset="0"/>
                <a:sym typeface="Symbol" pitchFamily="18" charset="2"/>
              </a:rPr>
              <a:t> dégradation  dissolution du caillot</a:t>
            </a:r>
          </a:p>
        </p:txBody>
      </p:sp>
    </p:spTree>
    <p:extLst>
      <p:ext uri="{BB962C8B-B14F-4D97-AF65-F5344CB8AC3E}">
        <p14:creationId xmlns:p14="http://schemas.microsoft.com/office/powerpoint/2010/main" val="1544578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685800" y="1042036"/>
            <a:ext cx="13030200" cy="681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eaLnBrk="1" hangingPunct="1">
              <a:spcAft>
                <a:spcPct val="50000"/>
              </a:spcAft>
              <a:buClr>
                <a:schemeClr val="tx1"/>
              </a:buClr>
            </a:pPr>
            <a:r>
              <a:rPr lang="fr-CA" sz="2200" b="1" i="1" dirty="0">
                <a:latin typeface="Arial Narrow" panose="020B0606020202030204" pitchFamily="34" charset="0"/>
                <a:cs typeface="Arial" charset="0"/>
              </a:rPr>
              <a:t>Anticoagulants</a:t>
            </a:r>
            <a:r>
              <a:rPr lang="fr-CA" sz="2200" b="1" dirty="0">
                <a:latin typeface="Arial Narrow" panose="020B0606020202030204" pitchFamily="34" charset="0"/>
                <a:cs typeface="Arial" charset="0"/>
              </a:rPr>
              <a:t>:</a:t>
            </a:r>
            <a:r>
              <a:rPr lang="fr-CA" sz="2200" dirty="0">
                <a:latin typeface="Arial Narrow" panose="020B0606020202030204" pitchFamily="34" charset="0"/>
                <a:cs typeface="Arial" charset="0"/>
              </a:rPr>
              <a:t> substances qui inhibent la coagulation.</a:t>
            </a:r>
          </a:p>
          <a:p>
            <a:pPr marL="335280" lvl="1" indent="-198120">
              <a:spcAft>
                <a:spcPct val="25000"/>
              </a:spcAft>
              <a:buClr>
                <a:schemeClr val="tx1"/>
              </a:buClr>
              <a:buFontTx/>
              <a:buChar char="•"/>
            </a:pPr>
            <a:r>
              <a:rPr lang="fr-CA" sz="2200" u="sng" dirty="0">
                <a:latin typeface="Arial Narrow" panose="020B0606020202030204" pitchFamily="34" charset="0"/>
                <a:cs typeface="Arial" charset="0"/>
              </a:rPr>
              <a:t>Anticoagulants présents dans la circulation</a:t>
            </a:r>
            <a:r>
              <a:rPr lang="fr-CA" sz="2200" dirty="0">
                <a:latin typeface="Arial Narrow" panose="020B0606020202030204" pitchFamily="34" charset="0"/>
                <a:cs typeface="Arial" charset="0"/>
              </a:rPr>
              <a:t>:</a:t>
            </a:r>
            <a:endParaRPr lang="fr-CA" sz="2200" i="1" dirty="0">
              <a:latin typeface="Arial Narrow" panose="020B0606020202030204" pitchFamily="34" charset="0"/>
              <a:cs typeface="Arial" charset="0"/>
            </a:endParaRPr>
          </a:p>
          <a:p>
            <a:pPr marL="693420" lvl="2" indent="-220980">
              <a:spcAft>
                <a:spcPct val="25000"/>
              </a:spcAft>
              <a:buClr>
                <a:schemeClr val="tx1"/>
              </a:buClr>
              <a:buSzPct val="75000"/>
              <a:buFont typeface="Wingdings" pitchFamily="2" charset="2"/>
              <a:buChar char="§"/>
            </a:pPr>
            <a:r>
              <a:rPr lang="fr-CA" sz="2200" b="1" i="1" dirty="0">
                <a:latin typeface="Arial Narrow" panose="020B0606020202030204" pitchFamily="34" charset="0"/>
                <a:cs typeface="Arial" charset="0"/>
              </a:rPr>
              <a:t>Antithrombine III</a:t>
            </a:r>
            <a:r>
              <a:rPr lang="fr-CA" sz="2200" b="1" dirty="0">
                <a:latin typeface="Arial Narrow" panose="020B0606020202030204" pitchFamily="34" charset="0"/>
                <a:cs typeface="Arial" charset="0"/>
              </a:rPr>
              <a:t>: </a:t>
            </a:r>
            <a:r>
              <a:rPr lang="fr-CA" sz="2200" dirty="0">
                <a:latin typeface="Arial Narrow" panose="020B0606020202030204" pitchFamily="34" charset="0"/>
                <a:cs typeface="Arial" charset="0"/>
              </a:rPr>
              <a:t> globuline alpha produite par le foie; inhibe l’action de la thrombine et de plusieurs autres facteurs de coagulation.</a:t>
            </a:r>
            <a:endParaRPr lang="fr-CA" sz="2200" i="1" dirty="0">
              <a:latin typeface="Arial Narrow" panose="020B0606020202030204" pitchFamily="34" charset="0"/>
              <a:cs typeface="Arial" charset="0"/>
            </a:endParaRPr>
          </a:p>
          <a:p>
            <a:pPr marL="693420" lvl="2" indent="-220980">
              <a:spcAft>
                <a:spcPct val="25000"/>
              </a:spcAft>
              <a:buClr>
                <a:schemeClr val="tx1"/>
              </a:buClr>
              <a:buSzPct val="75000"/>
              <a:buFont typeface="Wingdings" pitchFamily="2" charset="2"/>
              <a:buChar char="§"/>
            </a:pPr>
            <a:r>
              <a:rPr lang="fr-CA" sz="2200" b="1" i="1" dirty="0">
                <a:latin typeface="Arial Narrow" panose="020B0606020202030204" pitchFamily="34" charset="0"/>
                <a:cs typeface="Arial" charset="0"/>
              </a:rPr>
              <a:t>Héparine</a:t>
            </a:r>
            <a:r>
              <a:rPr lang="fr-CA" sz="2200" b="1" dirty="0">
                <a:latin typeface="Arial Narrow" panose="020B0606020202030204" pitchFamily="34" charset="0"/>
                <a:cs typeface="Arial" charset="0"/>
              </a:rPr>
              <a:t>:  </a:t>
            </a:r>
            <a:r>
              <a:rPr lang="fr-CA" sz="2200" dirty="0">
                <a:latin typeface="Arial Narrow" panose="020B0606020202030204" pitchFamily="34" charset="0"/>
                <a:cs typeface="Arial" charset="0"/>
              </a:rPr>
              <a:t>polysaccharide produit par diverses cellules (mastocytes, certains leucocytes, cellules endothéliales); augmentent (par plus de 100 fois) l’activité de l’antithrombine III en s’y combinant.</a:t>
            </a:r>
            <a:endParaRPr lang="fr-CA" sz="2200" i="1" dirty="0">
              <a:latin typeface="Arial Narrow" panose="020B0606020202030204" pitchFamily="34" charset="0"/>
              <a:cs typeface="Arial" charset="0"/>
            </a:endParaRPr>
          </a:p>
          <a:p>
            <a:pPr marL="693420" lvl="2" indent="-220980">
              <a:spcAft>
                <a:spcPct val="25000"/>
              </a:spcAft>
              <a:buClr>
                <a:schemeClr val="tx1"/>
              </a:buClr>
              <a:buSzPct val="75000"/>
              <a:buFont typeface="Wingdings" pitchFamily="2" charset="2"/>
              <a:buChar char="§"/>
            </a:pPr>
            <a:r>
              <a:rPr lang="fr-CA" sz="2200" b="1" i="1" dirty="0">
                <a:latin typeface="Arial Narrow" panose="020B0606020202030204" pitchFamily="34" charset="0"/>
                <a:cs typeface="Arial" charset="0"/>
              </a:rPr>
              <a:t>Protéine C</a:t>
            </a:r>
            <a:r>
              <a:rPr lang="fr-CA" sz="2200" b="1" dirty="0">
                <a:latin typeface="Arial Narrow" panose="020B0606020202030204" pitchFamily="34" charset="0"/>
                <a:cs typeface="Arial" charset="0"/>
              </a:rPr>
              <a:t>: </a:t>
            </a:r>
            <a:r>
              <a:rPr lang="fr-CA" sz="2200" dirty="0">
                <a:latin typeface="Arial Narrow" panose="020B0606020202030204" pitchFamily="34" charset="0"/>
                <a:cs typeface="Arial" charset="0"/>
              </a:rPr>
              <a:t>protéine produite par le foie; inhibe les facteurs V et VIII.</a:t>
            </a:r>
            <a:endParaRPr lang="fr-CA" sz="2200" i="1" dirty="0">
              <a:latin typeface="Arial Narrow" panose="020B0606020202030204" pitchFamily="34" charset="0"/>
              <a:cs typeface="Arial" charset="0"/>
            </a:endParaRPr>
          </a:p>
          <a:p>
            <a:pPr marL="693420" lvl="2" indent="-220980">
              <a:spcAft>
                <a:spcPct val="75000"/>
              </a:spcAft>
              <a:buClr>
                <a:schemeClr val="tx1"/>
              </a:buClr>
              <a:buSzPct val="75000"/>
              <a:buFont typeface="Wingdings" pitchFamily="2" charset="2"/>
              <a:buChar char="§"/>
            </a:pPr>
            <a:r>
              <a:rPr lang="fr-CA" sz="2200" b="1" i="1" dirty="0">
                <a:latin typeface="Arial Narrow" panose="020B0606020202030204" pitchFamily="34" charset="0"/>
                <a:cs typeface="Arial" charset="0"/>
              </a:rPr>
              <a:t>PGI</a:t>
            </a:r>
            <a:r>
              <a:rPr lang="fr-CA" sz="2200" b="1" baseline="-25000" dirty="0">
                <a:latin typeface="Arial Narrow" panose="020B0606020202030204" pitchFamily="34" charset="0"/>
                <a:cs typeface="Arial" charset="0"/>
              </a:rPr>
              <a:t>2</a:t>
            </a:r>
            <a:r>
              <a:rPr lang="fr-CA" sz="2200" b="1" dirty="0">
                <a:latin typeface="Arial Narrow" panose="020B0606020202030204" pitchFamily="34" charset="0"/>
                <a:cs typeface="Arial" charset="0"/>
              </a:rPr>
              <a:t>:</a:t>
            </a:r>
            <a:r>
              <a:rPr lang="fr-CA" sz="2200" dirty="0">
                <a:latin typeface="Arial Narrow" panose="020B0606020202030204" pitchFamily="34" charset="0"/>
                <a:cs typeface="Arial" charset="0"/>
              </a:rPr>
              <a:t>  libérée par les cellules endothéliales; inhibe la formation du clou plaquettaire. </a:t>
            </a:r>
            <a:endParaRPr lang="fr-CA" sz="2200" b="1" i="1" dirty="0">
              <a:latin typeface="Arial Narrow" panose="020B0606020202030204" pitchFamily="34" charset="0"/>
              <a:cs typeface="Arial" charset="0"/>
            </a:endParaRPr>
          </a:p>
          <a:p>
            <a:pPr marL="335280" lvl="1" indent="-198120">
              <a:spcAft>
                <a:spcPct val="25000"/>
              </a:spcAft>
              <a:buClr>
                <a:schemeClr val="tx1"/>
              </a:buClr>
              <a:buFontTx/>
              <a:buChar char="•"/>
            </a:pPr>
            <a:r>
              <a:rPr lang="fr-CA" sz="2200" u="sng" dirty="0">
                <a:latin typeface="Arial Narrow" panose="020B0606020202030204" pitchFamily="34" charset="0"/>
                <a:cs typeface="Arial" charset="0"/>
              </a:rPr>
              <a:t>Anticoagulants utilisés en médecine</a:t>
            </a:r>
            <a:r>
              <a:rPr lang="fr-CA" sz="2200" b="1" dirty="0">
                <a:latin typeface="Arial Narrow" panose="020B0606020202030204" pitchFamily="34" charset="0"/>
                <a:cs typeface="Arial" charset="0"/>
              </a:rPr>
              <a:t>: </a:t>
            </a:r>
            <a:r>
              <a:rPr lang="fr-CA" sz="2200" dirty="0">
                <a:latin typeface="Arial Narrow" panose="020B0606020202030204" pitchFamily="34" charset="0"/>
                <a:cs typeface="Arial" charset="0"/>
              </a:rPr>
              <a:t>pour ralentir, supprimer, ou prévenir la coagulation.</a:t>
            </a:r>
            <a:endParaRPr lang="fr-CA" sz="2200" i="1" dirty="0">
              <a:latin typeface="Arial Narrow" panose="020B0606020202030204" pitchFamily="34" charset="0"/>
              <a:cs typeface="Arial" charset="0"/>
            </a:endParaRPr>
          </a:p>
          <a:p>
            <a:pPr marL="693420" lvl="2" indent="-220980">
              <a:spcAft>
                <a:spcPct val="25000"/>
              </a:spcAft>
              <a:buClr>
                <a:schemeClr val="tx1"/>
              </a:buClr>
              <a:buSzPct val="75000"/>
              <a:buFont typeface="Wingdings" pitchFamily="2" charset="2"/>
              <a:buChar char="§"/>
            </a:pPr>
            <a:r>
              <a:rPr lang="fr-CA" sz="2200" b="1" i="1" dirty="0">
                <a:latin typeface="Arial Narrow" panose="020B0606020202030204" pitchFamily="34" charset="0"/>
                <a:cs typeface="Arial" charset="0"/>
              </a:rPr>
              <a:t>Héparine</a:t>
            </a:r>
            <a:r>
              <a:rPr lang="fr-CA" sz="2200" b="1" dirty="0">
                <a:latin typeface="Arial Narrow" panose="020B0606020202030204" pitchFamily="34" charset="0"/>
                <a:cs typeface="Arial" charset="0"/>
              </a:rPr>
              <a:t>:</a:t>
            </a:r>
            <a:r>
              <a:rPr lang="fr-CA" sz="2200" dirty="0">
                <a:latin typeface="Arial Narrow" panose="020B0606020202030204" pitchFamily="34" charset="0"/>
                <a:cs typeface="Arial" charset="0"/>
              </a:rPr>
              <a:t> anticoagulant le plus utilisé en clinique.</a:t>
            </a:r>
            <a:endParaRPr lang="fr-CA" sz="2200" i="1" dirty="0">
              <a:latin typeface="Arial Narrow" panose="020B0606020202030204" pitchFamily="34" charset="0"/>
              <a:cs typeface="Arial" charset="0"/>
            </a:endParaRPr>
          </a:p>
          <a:p>
            <a:pPr marL="693420" lvl="2" indent="-220980">
              <a:spcAft>
                <a:spcPct val="25000"/>
              </a:spcAft>
              <a:buClr>
                <a:schemeClr val="tx1"/>
              </a:buClr>
              <a:buSzPct val="75000"/>
              <a:buFont typeface="Wingdings" pitchFamily="2" charset="2"/>
              <a:buChar char="§"/>
            </a:pPr>
            <a:r>
              <a:rPr lang="fr-CA" sz="2200" b="1" i="1" dirty="0">
                <a:latin typeface="Arial Narrow" panose="020B0606020202030204" pitchFamily="34" charset="0"/>
                <a:cs typeface="Arial" charset="0"/>
              </a:rPr>
              <a:t>Aspirine</a:t>
            </a:r>
            <a:r>
              <a:rPr lang="fr-CA" sz="2200" b="1" dirty="0">
                <a:latin typeface="Arial Narrow" panose="020B0606020202030204" pitchFamily="34" charset="0"/>
                <a:cs typeface="Arial" charset="0"/>
              </a:rPr>
              <a:t>: </a:t>
            </a:r>
            <a:r>
              <a:rPr lang="fr-CA" sz="2200" dirty="0">
                <a:latin typeface="Arial Narrow" panose="020B0606020202030204" pitchFamily="34" charset="0"/>
                <a:cs typeface="Arial" charset="0"/>
              </a:rPr>
              <a:t>inhibe la formation de TXA</a:t>
            </a:r>
            <a:r>
              <a:rPr lang="fr-CA" sz="2200" baseline="-25000" dirty="0">
                <a:latin typeface="Arial Narrow" panose="020B0606020202030204" pitchFamily="34" charset="0"/>
                <a:cs typeface="Arial" charset="0"/>
              </a:rPr>
              <a:t>2</a:t>
            </a:r>
            <a:r>
              <a:rPr lang="fr-CA" sz="2200" dirty="0">
                <a:latin typeface="Arial Narrow" panose="020B0606020202030204" pitchFamily="34" charset="0"/>
                <a:cs typeface="Arial" charset="0"/>
              </a:rPr>
              <a:t> </a:t>
            </a:r>
            <a:r>
              <a:rPr lang="fr-CA" sz="2200" dirty="0">
                <a:latin typeface="Arial Narrow" panose="020B0606020202030204" pitchFamily="34" charset="0"/>
                <a:cs typeface="Arial" charset="0"/>
                <a:sym typeface="Symbol" pitchFamily="18" charset="2"/>
              </a:rPr>
              <a:t></a:t>
            </a:r>
            <a:r>
              <a:rPr lang="fr-CA" sz="2200" dirty="0">
                <a:latin typeface="Arial Narrow" panose="020B0606020202030204" pitchFamily="34" charset="0"/>
                <a:cs typeface="Arial" charset="0"/>
              </a:rPr>
              <a:t> réduit la formation du clou plaquettaire.</a:t>
            </a:r>
            <a:endParaRPr lang="fr-CA" sz="2200" i="1" dirty="0">
              <a:latin typeface="Arial Narrow" panose="020B0606020202030204" pitchFamily="34" charset="0"/>
              <a:cs typeface="Arial" charset="0"/>
            </a:endParaRPr>
          </a:p>
          <a:p>
            <a:pPr marL="693420" lvl="2" indent="-220980">
              <a:spcAft>
                <a:spcPct val="25000"/>
              </a:spcAft>
              <a:buClr>
                <a:schemeClr val="tx1"/>
              </a:buClr>
              <a:buSzPct val="75000"/>
              <a:buFont typeface="Wingdings" pitchFamily="2" charset="2"/>
              <a:buChar char="§"/>
            </a:pPr>
            <a:r>
              <a:rPr lang="fr-CA" sz="2200" b="1" i="1" dirty="0" err="1">
                <a:latin typeface="Arial Narrow" panose="020B0606020202030204" pitchFamily="34" charset="0"/>
                <a:cs typeface="Arial" charset="0"/>
              </a:rPr>
              <a:t>Coumadin</a:t>
            </a:r>
            <a:r>
              <a:rPr lang="fr-CA" sz="2200" dirty="0">
                <a:latin typeface="Arial Narrow" panose="020B0606020202030204" pitchFamily="34" charset="0"/>
                <a:cs typeface="Arial" charset="0"/>
              </a:rPr>
              <a:t> (“</a:t>
            </a:r>
            <a:r>
              <a:rPr lang="fr-CA" sz="2200" i="1" dirty="0" err="1">
                <a:latin typeface="Arial Narrow" panose="020B0606020202030204" pitchFamily="34" charset="0"/>
                <a:cs typeface="Arial" charset="0"/>
              </a:rPr>
              <a:t>warfarine</a:t>
            </a:r>
            <a:r>
              <a:rPr lang="fr-CA" sz="2200" dirty="0">
                <a:latin typeface="Arial Narrow" panose="020B0606020202030204" pitchFamily="34" charset="0"/>
                <a:cs typeface="Arial" charset="0"/>
              </a:rPr>
              <a:t>”)</a:t>
            </a:r>
            <a:r>
              <a:rPr lang="fr-CA" sz="2200" b="1" dirty="0">
                <a:latin typeface="Arial Narrow" panose="020B0606020202030204" pitchFamily="34" charset="0"/>
                <a:cs typeface="Arial" charset="0"/>
              </a:rPr>
              <a:t>: </a:t>
            </a:r>
            <a:r>
              <a:rPr lang="fr-CA" sz="2200" dirty="0">
                <a:latin typeface="Arial Narrow" panose="020B0606020202030204" pitchFamily="34" charset="0"/>
                <a:cs typeface="Arial" charset="0"/>
              </a:rPr>
              <a:t>inhibe l’action de la </a:t>
            </a:r>
            <a:r>
              <a:rPr lang="fr-CA" sz="2200" u="sng" dirty="0">
                <a:latin typeface="Arial Narrow" panose="020B0606020202030204" pitchFamily="34" charset="0"/>
                <a:cs typeface="Arial" charset="0"/>
              </a:rPr>
              <a:t>vitamine K</a:t>
            </a:r>
            <a:r>
              <a:rPr lang="fr-CA" sz="2200" dirty="0">
                <a:latin typeface="Arial Narrow" panose="020B0606020202030204" pitchFamily="34" charset="0"/>
                <a:cs typeface="Arial" charset="0"/>
              </a:rPr>
              <a:t>.</a:t>
            </a:r>
            <a:endParaRPr lang="fr-CA" sz="2200" i="1" dirty="0">
              <a:latin typeface="Arial Narrow" panose="020B0606020202030204" pitchFamily="34" charset="0"/>
              <a:cs typeface="Arial" charset="0"/>
            </a:endParaRPr>
          </a:p>
          <a:p>
            <a:pPr marL="693420" lvl="2" indent="-220980">
              <a:spcAft>
                <a:spcPct val="25000"/>
              </a:spcAft>
              <a:buClr>
                <a:schemeClr val="tx1"/>
              </a:buClr>
              <a:buSzPct val="75000"/>
              <a:buFont typeface="Wingdings" pitchFamily="2" charset="2"/>
              <a:buChar char="§"/>
            </a:pPr>
            <a:r>
              <a:rPr lang="fr-CA" sz="2200" b="1" i="1" dirty="0" err="1">
                <a:latin typeface="Arial Narrow" panose="020B0606020202030204" pitchFamily="34" charset="0"/>
                <a:cs typeface="Arial" charset="0"/>
              </a:rPr>
              <a:t>tPA</a:t>
            </a:r>
            <a:r>
              <a:rPr lang="fr-CA" sz="2200" b="1" dirty="0">
                <a:latin typeface="Arial Narrow" panose="020B0606020202030204" pitchFamily="34" charset="0"/>
                <a:cs typeface="Arial" charset="0"/>
              </a:rPr>
              <a:t>: </a:t>
            </a:r>
            <a:r>
              <a:rPr lang="fr-CA" sz="2200" dirty="0">
                <a:latin typeface="Arial Narrow" panose="020B0606020202030204" pitchFamily="34" charset="0"/>
                <a:cs typeface="Arial" charset="0"/>
              </a:rPr>
              <a:t>dissout les caillots sanguins déjà formés.</a:t>
            </a:r>
            <a:endParaRPr lang="fr-CA" sz="2200" i="1" dirty="0">
              <a:latin typeface="Arial Narrow" panose="020B0606020202030204" pitchFamily="34" charset="0"/>
              <a:cs typeface="Arial" charset="0"/>
            </a:endParaRPr>
          </a:p>
          <a:p>
            <a:pPr marL="693420" lvl="2" indent="-220980">
              <a:spcAft>
                <a:spcPct val="25000"/>
              </a:spcAft>
              <a:buClr>
                <a:schemeClr val="tx1"/>
              </a:buClr>
              <a:buSzPct val="75000"/>
              <a:buFont typeface="Wingdings" pitchFamily="2" charset="2"/>
              <a:buChar char="§"/>
            </a:pPr>
            <a:r>
              <a:rPr lang="fr-CA" sz="2200" b="1" i="1" dirty="0">
                <a:latin typeface="Arial Narrow" panose="020B0606020202030204" pitchFamily="34" charset="0"/>
                <a:cs typeface="Arial" charset="0"/>
              </a:rPr>
              <a:t>Chélateurs de calcium</a:t>
            </a:r>
            <a:r>
              <a:rPr lang="fr-CA" sz="2200" b="1" dirty="0">
                <a:latin typeface="Arial Narrow" panose="020B0606020202030204" pitchFamily="34" charset="0"/>
                <a:cs typeface="Arial" charset="0"/>
              </a:rPr>
              <a:t>:</a:t>
            </a:r>
            <a:r>
              <a:rPr lang="fr-CA" sz="2200" dirty="0">
                <a:latin typeface="Arial Narrow" panose="020B0606020202030204" pitchFamily="34" charset="0"/>
                <a:cs typeface="Arial" charset="0"/>
              </a:rPr>
              <a:t> utilisés pour prévenir la coagulation à l’extérieur du corps, comme par exemple lors des collectes de sang. Les chélateurs de calcium (ex.: citrate ou oxalate) se combinent aux ions Ca</a:t>
            </a:r>
            <a:r>
              <a:rPr lang="fr-CA" sz="2200" baseline="30000" dirty="0">
                <a:latin typeface="Arial Narrow" panose="020B0606020202030204" pitchFamily="34" charset="0"/>
                <a:cs typeface="Arial" charset="0"/>
              </a:rPr>
              <a:t>2+</a:t>
            </a:r>
            <a:r>
              <a:rPr lang="fr-CA" sz="2200" dirty="0">
                <a:latin typeface="Arial Narrow" panose="020B0606020202030204" pitchFamily="34" charset="0"/>
                <a:cs typeface="Arial" charset="0"/>
              </a:rPr>
              <a:t> du plasma, causant ainsi une diminution de leur concentration à un niveau tel que la coagulation ne peut plus être déclenchée. </a:t>
            </a:r>
          </a:p>
        </p:txBody>
      </p:sp>
      <p:sp>
        <p:nvSpPr>
          <p:cNvPr id="22531" name="Rectangle 3"/>
          <p:cNvSpPr>
            <a:spLocks noGrp="1" noChangeArrowheads="1"/>
          </p:cNvSpPr>
          <p:nvPr>
            <p:ph type="body" sz="half" idx="1"/>
          </p:nvPr>
        </p:nvSpPr>
        <p:spPr>
          <a:xfrm>
            <a:off x="2108836" y="438151"/>
            <a:ext cx="5341620" cy="613410"/>
          </a:xfrm>
          <a:noFill/>
        </p:spPr>
        <p:txBody>
          <a:bodyPr/>
          <a:lstStyle/>
          <a:p>
            <a:pPr marL="470536" indent="-470536">
              <a:spcAft>
                <a:spcPct val="0"/>
              </a:spcAft>
              <a:buClr>
                <a:schemeClr val="tx1"/>
              </a:buClr>
              <a:buSzPct val="115000"/>
              <a:buNone/>
            </a:pPr>
            <a:r>
              <a:rPr lang="en-CA" sz="2880" b="1">
                <a:latin typeface="Arial" charset="0"/>
                <a:cs typeface="Arial" charset="0"/>
              </a:rPr>
              <a:t>4.	</a:t>
            </a:r>
            <a:r>
              <a:rPr lang="en-CA" sz="2880" b="1" u="sng">
                <a:latin typeface="Arial" charset="0"/>
                <a:cs typeface="Arial" charset="0"/>
              </a:rPr>
              <a:t>ANTICOAGULANTS</a:t>
            </a:r>
            <a:endParaRPr lang="en-CA" sz="2880" u="sng">
              <a:latin typeface="Arial" charset="0"/>
              <a:cs typeface="Arial" charset="0"/>
            </a:endParaRPr>
          </a:p>
        </p:txBody>
      </p:sp>
    </p:spTree>
    <p:extLst>
      <p:ext uri="{BB962C8B-B14F-4D97-AF65-F5344CB8AC3E}">
        <p14:creationId xmlns:p14="http://schemas.microsoft.com/office/powerpoint/2010/main" val="2998693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ChangeArrowheads="1"/>
          </p:cNvSpPr>
          <p:nvPr/>
        </p:nvSpPr>
        <p:spPr bwMode="auto">
          <a:xfrm>
            <a:off x="2047876" y="308610"/>
            <a:ext cx="10361294" cy="668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963930" indent="-963930">
              <a:spcBef>
                <a:spcPct val="100000"/>
              </a:spcBef>
              <a:spcAft>
                <a:spcPct val="100000"/>
              </a:spcAft>
            </a:pPr>
            <a:r>
              <a:rPr lang="fr-CA" sz="3840" b="1" i="1" dirty="0">
                <a:solidFill>
                  <a:srgbClr val="0070C0"/>
                </a:solidFill>
                <a:latin typeface="Arial" charset="0"/>
              </a:rPr>
              <a:t>2.4	Groupes sanguins humains</a:t>
            </a:r>
            <a:endParaRPr lang="fr-CA" sz="3600" i="1" dirty="0">
              <a:solidFill>
                <a:srgbClr val="0070C0"/>
              </a:solidFill>
              <a:latin typeface="Arial" charset="0"/>
            </a:endParaRPr>
          </a:p>
        </p:txBody>
      </p:sp>
      <p:sp>
        <p:nvSpPr>
          <p:cNvPr id="23555" name="Rectangle 4"/>
          <p:cNvSpPr>
            <a:spLocks noChangeArrowheads="1"/>
          </p:cNvSpPr>
          <p:nvPr/>
        </p:nvSpPr>
        <p:spPr bwMode="auto">
          <a:xfrm>
            <a:off x="1143000" y="1950720"/>
            <a:ext cx="12344400" cy="3617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marL="219076" indent="-219076">
              <a:spcAft>
                <a:spcPct val="50000"/>
              </a:spcAft>
              <a:buClr>
                <a:schemeClr val="tx1"/>
              </a:buClr>
              <a:buFontTx/>
              <a:buChar char="•"/>
            </a:pPr>
            <a:r>
              <a:rPr lang="fr-CA" sz="2800" dirty="0">
                <a:latin typeface="Arial Narrow" panose="020B0606020202030204" pitchFamily="34" charset="0"/>
                <a:cs typeface="Arial" charset="0"/>
              </a:rPr>
              <a:t>La surface des érythrocytes contient un assortiment génétiquement déterminé de glycolipides, glycoprotéines et protéines qui agissent comme </a:t>
            </a:r>
            <a:r>
              <a:rPr lang="fr-CA" sz="2800" i="1" dirty="0">
                <a:latin typeface="Arial Narrow" panose="020B0606020202030204" pitchFamily="34" charset="0"/>
                <a:cs typeface="Arial" charset="0"/>
              </a:rPr>
              <a:t>antigènes</a:t>
            </a:r>
            <a:r>
              <a:rPr lang="fr-CA" sz="2800" dirty="0">
                <a:latin typeface="Arial Narrow" panose="020B0606020202030204" pitchFamily="34" charset="0"/>
                <a:cs typeface="Arial" charset="0"/>
              </a:rPr>
              <a:t>. </a:t>
            </a:r>
          </a:p>
          <a:p>
            <a:pPr marL="219076" indent="-219076">
              <a:spcAft>
                <a:spcPct val="50000"/>
              </a:spcAft>
              <a:buClr>
                <a:schemeClr val="tx1"/>
              </a:buClr>
              <a:buFontTx/>
              <a:buChar char="•"/>
            </a:pPr>
            <a:r>
              <a:rPr lang="fr-CA" sz="2800" dirty="0">
                <a:latin typeface="Arial Narrow" panose="020B0606020202030204" pitchFamily="34" charset="0"/>
                <a:cs typeface="Arial" charset="0"/>
              </a:rPr>
              <a:t>Plus de 100 antigènes peuvent être détectés sur les globules rouges, mais deux groupes majeurs risquent de causer des problèmes très graves d’</a:t>
            </a:r>
            <a:r>
              <a:rPr lang="fr-CA" sz="2800" i="1" dirty="0">
                <a:latin typeface="Arial Narrow" panose="020B0606020202030204" pitchFamily="34" charset="0"/>
                <a:cs typeface="Arial" charset="0"/>
              </a:rPr>
              <a:t>agglutination</a:t>
            </a:r>
            <a:r>
              <a:rPr lang="fr-CA" sz="2800" dirty="0">
                <a:latin typeface="Arial Narrow" panose="020B0606020202030204" pitchFamily="34" charset="0"/>
                <a:cs typeface="Arial" charset="0"/>
              </a:rPr>
              <a:t> suite à une transfusion: les groupes </a:t>
            </a:r>
            <a:r>
              <a:rPr lang="fr-CA" sz="2800" b="1" i="1" dirty="0">
                <a:latin typeface="Arial Narrow" panose="020B0606020202030204" pitchFamily="34" charset="0"/>
                <a:cs typeface="Arial" charset="0"/>
              </a:rPr>
              <a:t>ABO</a:t>
            </a:r>
            <a:r>
              <a:rPr lang="fr-CA" sz="2800" dirty="0">
                <a:latin typeface="Arial Narrow" panose="020B0606020202030204" pitchFamily="34" charset="0"/>
                <a:cs typeface="Arial" charset="0"/>
              </a:rPr>
              <a:t> et </a:t>
            </a:r>
            <a:r>
              <a:rPr lang="fr-CA" sz="2800" b="1" i="1" dirty="0">
                <a:latin typeface="Arial Narrow" panose="020B0606020202030204" pitchFamily="34" charset="0"/>
                <a:cs typeface="Arial" charset="0"/>
              </a:rPr>
              <a:t>Rh</a:t>
            </a:r>
            <a:r>
              <a:rPr lang="fr-CA" sz="2800" dirty="0">
                <a:latin typeface="Arial Narrow" panose="020B0606020202030204" pitchFamily="34" charset="0"/>
                <a:cs typeface="Arial" charset="0"/>
              </a:rPr>
              <a:t>. </a:t>
            </a:r>
          </a:p>
          <a:p>
            <a:pPr marL="219076" indent="-219076">
              <a:spcAft>
                <a:spcPct val="50000"/>
              </a:spcAft>
              <a:buClr>
                <a:schemeClr val="tx1"/>
              </a:buClr>
              <a:buFontTx/>
              <a:buChar char="•"/>
            </a:pPr>
            <a:r>
              <a:rPr lang="fr-CA" sz="2800" dirty="0">
                <a:latin typeface="Arial Narrow" panose="020B0606020202030204" pitchFamily="34" charset="0"/>
                <a:cs typeface="Arial" charset="0"/>
              </a:rPr>
              <a:t>Les antigènes sont appelés </a:t>
            </a:r>
            <a:r>
              <a:rPr lang="fr-CA" sz="2800" i="1" u="sng" dirty="0">
                <a:latin typeface="Arial Narrow" panose="020B0606020202030204" pitchFamily="34" charset="0"/>
                <a:cs typeface="Arial" charset="0"/>
              </a:rPr>
              <a:t>agglutinogènes</a:t>
            </a:r>
            <a:r>
              <a:rPr lang="fr-CA" sz="2800" dirty="0">
                <a:latin typeface="Arial Narrow" panose="020B0606020202030204" pitchFamily="34" charset="0"/>
                <a:cs typeface="Arial" charset="0"/>
              </a:rPr>
              <a:t>, et les anticorps (globulines gamma) qui se lient spécifiquement à eux sont appelés </a:t>
            </a:r>
            <a:r>
              <a:rPr lang="fr-CA" sz="2800" i="1" u="sng" dirty="0">
                <a:latin typeface="Arial Narrow" panose="020B0606020202030204" pitchFamily="34" charset="0"/>
                <a:cs typeface="Arial" charset="0"/>
              </a:rPr>
              <a:t>agglutinines</a:t>
            </a:r>
            <a:r>
              <a:rPr lang="fr-CA" sz="2800" dirty="0">
                <a:latin typeface="Arial Narrow" panose="020B0606020202030204" pitchFamily="34" charset="0"/>
                <a:cs typeface="Arial" charset="0"/>
              </a:rPr>
              <a:t> parce qu’ils provoquent des réactions d’agglutination.</a:t>
            </a:r>
          </a:p>
        </p:txBody>
      </p:sp>
      <p:sp>
        <p:nvSpPr>
          <p:cNvPr id="23556" name="Rectangle 9"/>
          <p:cNvSpPr>
            <a:spLocks noChangeArrowheads="1"/>
          </p:cNvSpPr>
          <p:nvPr/>
        </p:nvSpPr>
        <p:spPr bwMode="auto">
          <a:xfrm>
            <a:off x="2171701" y="1240156"/>
            <a:ext cx="9102090" cy="61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22910" indent="-422910">
              <a:buClr>
                <a:srgbClr val="0989C9"/>
              </a:buClr>
              <a:buSzPct val="60000"/>
            </a:pPr>
            <a:r>
              <a:rPr lang="fr-CA" sz="2880" b="1">
                <a:latin typeface="Arial" charset="0"/>
                <a:cs typeface="Arial" charset="0"/>
              </a:rPr>
              <a:t>1.	</a:t>
            </a:r>
            <a:r>
              <a:rPr lang="fr-CA" sz="2880" b="1" u="sng">
                <a:latin typeface="Arial" charset="0"/>
                <a:cs typeface="Arial" charset="0"/>
              </a:rPr>
              <a:t>AGGLUTINOGÈNES ET AGGLUTININES</a:t>
            </a:r>
          </a:p>
        </p:txBody>
      </p:sp>
    </p:spTree>
    <p:extLst>
      <p:ext uri="{BB962C8B-B14F-4D97-AF65-F5344CB8AC3E}">
        <p14:creationId xmlns:p14="http://schemas.microsoft.com/office/powerpoint/2010/main" val="633242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2047876" y="308610"/>
            <a:ext cx="10361294" cy="668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70536" indent="-470536">
              <a:spcBef>
                <a:spcPct val="100000"/>
              </a:spcBef>
              <a:spcAft>
                <a:spcPct val="100000"/>
              </a:spcAft>
            </a:pPr>
            <a:r>
              <a:rPr lang="fr-CA" sz="2880" b="1">
                <a:latin typeface="Arial" charset="0"/>
                <a:cs typeface="Arial" charset="0"/>
              </a:rPr>
              <a:t>2.	</a:t>
            </a:r>
            <a:r>
              <a:rPr lang="fr-CA" sz="2880" b="1" u="sng">
                <a:latin typeface="Arial" charset="0"/>
              </a:rPr>
              <a:t>GROUPES SANGUINS DU SYSTÈME ABO</a:t>
            </a:r>
            <a:r>
              <a:rPr lang="en-CA" sz="2880" b="1" i="1">
                <a:latin typeface="Arial" charset="0"/>
              </a:rPr>
              <a:t> </a:t>
            </a:r>
            <a:endParaRPr lang="en-US" sz="2880" b="1" i="1">
              <a:latin typeface="Arial" charset="0"/>
            </a:endParaRPr>
          </a:p>
        </p:txBody>
      </p:sp>
      <p:sp>
        <p:nvSpPr>
          <p:cNvPr id="1028" name="Rectangle 3"/>
          <p:cNvSpPr>
            <a:spLocks noChangeArrowheads="1"/>
          </p:cNvSpPr>
          <p:nvPr/>
        </p:nvSpPr>
        <p:spPr bwMode="auto">
          <a:xfrm>
            <a:off x="685800" y="796291"/>
            <a:ext cx="13182600" cy="1824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p>
            <a:pPr marL="219076" indent="-219076">
              <a:buClr>
                <a:schemeClr val="tx1"/>
              </a:buClr>
              <a:buFontTx/>
              <a:buChar char="•"/>
            </a:pPr>
            <a:r>
              <a:rPr lang="fr-CA" sz="2000" dirty="0">
                <a:latin typeface="Arial Narrow" panose="020B0606020202030204" pitchFamily="34" charset="0"/>
                <a:cs typeface="Arial" charset="0"/>
              </a:rPr>
              <a:t>Basé sur deux </a:t>
            </a:r>
            <a:r>
              <a:rPr lang="fr-CA" sz="2000" i="1" dirty="0">
                <a:latin typeface="Arial Narrow" panose="020B0606020202030204" pitchFamily="34" charset="0"/>
                <a:cs typeface="Arial" charset="0"/>
              </a:rPr>
              <a:t>agglutinogènes</a:t>
            </a:r>
            <a:r>
              <a:rPr lang="fr-CA" sz="2000" dirty="0">
                <a:latin typeface="Arial Narrow" panose="020B0606020202030204" pitchFamily="34" charset="0"/>
                <a:cs typeface="Arial" charset="0"/>
              </a:rPr>
              <a:t> (antigènes) appelés A et B</a:t>
            </a:r>
          </a:p>
          <a:p>
            <a:pPr>
              <a:spcAft>
                <a:spcPct val="25000"/>
              </a:spcAft>
              <a:buClr>
                <a:schemeClr val="tx1"/>
              </a:buClr>
              <a:tabLst>
                <a:tab pos="211456" algn="l"/>
              </a:tabLst>
            </a:pPr>
            <a:r>
              <a:rPr lang="fr-CA" sz="2000" dirty="0">
                <a:latin typeface="Arial Narrow" panose="020B0606020202030204" pitchFamily="34" charset="0"/>
                <a:cs typeface="Arial" charset="0"/>
              </a:rPr>
              <a:t>	</a:t>
            </a:r>
            <a:r>
              <a:rPr lang="fr-CA" sz="2000" dirty="0">
                <a:latin typeface="Arial Narrow" panose="020B0606020202030204" pitchFamily="34" charset="0"/>
                <a:cs typeface="Arial" charset="0"/>
                <a:sym typeface="Symbol"/>
              </a:rPr>
              <a:t> </a:t>
            </a:r>
            <a:r>
              <a:rPr lang="fr-CA" sz="2000" dirty="0">
                <a:latin typeface="Arial Narrow" panose="020B0606020202030204" pitchFamily="34" charset="0"/>
                <a:cs typeface="Arial" charset="0"/>
              </a:rPr>
              <a:t>donne 4 types: </a:t>
            </a:r>
            <a:r>
              <a:rPr lang="fr-CA" sz="2000" b="1" i="1" dirty="0">
                <a:latin typeface="Arial Narrow" panose="020B0606020202030204" pitchFamily="34" charset="0"/>
                <a:cs typeface="Arial" charset="0"/>
              </a:rPr>
              <a:t>A</a:t>
            </a:r>
            <a:r>
              <a:rPr lang="fr-CA" sz="2000" dirty="0">
                <a:latin typeface="Arial Narrow" panose="020B0606020202030204" pitchFamily="34" charset="0"/>
                <a:cs typeface="Arial" charset="0"/>
              </a:rPr>
              <a:t>, </a:t>
            </a:r>
            <a:r>
              <a:rPr lang="fr-CA" sz="2000" b="1" i="1" dirty="0">
                <a:latin typeface="Arial Narrow" panose="020B0606020202030204" pitchFamily="34" charset="0"/>
                <a:cs typeface="Arial" charset="0"/>
              </a:rPr>
              <a:t>B</a:t>
            </a:r>
            <a:r>
              <a:rPr lang="fr-CA" sz="2000" dirty="0">
                <a:latin typeface="Arial Narrow" panose="020B0606020202030204" pitchFamily="34" charset="0"/>
                <a:cs typeface="Arial" charset="0"/>
              </a:rPr>
              <a:t>, </a:t>
            </a:r>
            <a:r>
              <a:rPr lang="fr-CA" sz="2000" b="1" i="1" dirty="0">
                <a:latin typeface="Arial Narrow" panose="020B0606020202030204" pitchFamily="34" charset="0"/>
                <a:cs typeface="Arial" charset="0"/>
              </a:rPr>
              <a:t>AB</a:t>
            </a:r>
            <a:r>
              <a:rPr lang="fr-CA" sz="2000" dirty="0">
                <a:latin typeface="Arial Narrow" panose="020B0606020202030204" pitchFamily="34" charset="0"/>
                <a:cs typeface="Arial" charset="0"/>
              </a:rPr>
              <a:t>, et </a:t>
            </a:r>
            <a:r>
              <a:rPr lang="fr-CA" sz="2000" b="1" i="1" dirty="0">
                <a:latin typeface="Arial Narrow" panose="020B0606020202030204" pitchFamily="34" charset="0"/>
                <a:cs typeface="Arial" charset="0"/>
              </a:rPr>
              <a:t>O</a:t>
            </a:r>
            <a:r>
              <a:rPr lang="fr-CA" sz="2000" dirty="0">
                <a:latin typeface="Arial Narrow" panose="020B0606020202030204" pitchFamily="34" charset="0"/>
                <a:cs typeface="Arial" charset="0"/>
              </a:rPr>
              <a:t>.</a:t>
            </a:r>
          </a:p>
          <a:p>
            <a:pPr marL="219076" indent="-219076">
              <a:spcAft>
                <a:spcPct val="25000"/>
              </a:spcAft>
              <a:buClr>
                <a:schemeClr val="tx1"/>
              </a:buClr>
              <a:buFontTx/>
              <a:buChar char="•"/>
            </a:pPr>
            <a:r>
              <a:rPr lang="fr-CA" sz="2000" dirty="0">
                <a:latin typeface="Arial Narrow" panose="020B0606020202030204" pitchFamily="34" charset="0"/>
                <a:cs typeface="Arial" charset="0"/>
              </a:rPr>
              <a:t>Tous les gens développent </a:t>
            </a:r>
            <a:r>
              <a:rPr lang="fr-CA" sz="2000" u="sng" dirty="0">
                <a:latin typeface="Arial Narrow" panose="020B0606020202030204" pitchFamily="34" charset="0"/>
                <a:cs typeface="Arial" charset="0"/>
              </a:rPr>
              <a:t>spontanément</a:t>
            </a:r>
            <a:r>
              <a:rPr lang="fr-CA" sz="2000" dirty="0">
                <a:latin typeface="Arial Narrow" panose="020B0606020202030204" pitchFamily="34" charset="0"/>
                <a:cs typeface="Arial" charset="0"/>
              </a:rPr>
              <a:t> après leur naissance des agglutinines contre les agglutinogènes qui ne sont </a:t>
            </a:r>
            <a:r>
              <a:rPr lang="fr-CA" sz="2000" u="sng" dirty="0">
                <a:latin typeface="Arial Narrow" panose="020B0606020202030204" pitchFamily="34" charset="0"/>
                <a:cs typeface="Arial" charset="0"/>
              </a:rPr>
              <a:t>pas</a:t>
            </a:r>
            <a:r>
              <a:rPr lang="fr-CA" sz="2000" dirty="0">
                <a:latin typeface="Arial Narrow" panose="020B0606020202030204" pitchFamily="34" charset="0"/>
                <a:cs typeface="Arial" charset="0"/>
              </a:rPr>
              <a:t> présents sur leurs érythrocytes.</a:t>
            </a:r>
          </a:p>
          <a:p>
            <a:pPr marL="219076" indent="-219076">
              <a:spcAft>
                <a:spcPct val="25000"/>
              </a:spcAft>
              <a:buClr>
                <a:schemeClr val="tx1"/>
              </a:buClr>
              <a:buFontTx/>
              <a:buChar char="•"/>
            </a:pPr>
            <a:r>
              <a:rPr lang="fr-CA" sz="2000" dirty="0">
                <a:latin typeface="Arial Narrow" panose="020B0606020202030204" pitchFamily="34" charset="0"/>
                <a:cs typeface="Arial" charset="0"/>
              </a:rPr>
              <a:t>En absence d’agglutinogène A, les </a:t>
            </a:r>
            <a:r>
              <a:rPr lang="fr-CA" sz="2000" i="1" u="sng" dirty="0">
                <a:latin typeface="Arial Narrow" panose="020B0606020202030204" pitchFamily="34" charset="0"/>
                <a:cs typeface="Arial" charset="0"/>
              </a:rPr>
              <a:t>agglutinines </a:t>
            </a:r>
            <a:r>
              <a:rPr lang="fr-CA" sz="2000" i="1" u="sng" dirty="0" err="1">
                <a:latin typeface="Arial Narrow" panose="020B0606020202030204" pitchFamily="34" charset="0"/>
                <a:cs typeface="Arial" charset="0"/>
              </a:rPr>
              <a:t>anti-A</a:t>
            </a:r>
            <a:r>
              <a:rPr lang="fr-CA" sz="2000" dirty="0">
                <a:latin typeface="Arial Narrow" panose="020B0606020202030204" pitchFamily="34" charset="0"/>
                <a:cs typeface="Arial" charset="0"/>
              </a:rPr>
              <a:t> se retrouvent dans le plasma.</a:t>
            </a:r>
          </a:p>
          <a:p>
            <a:pPr marL="219076" indent="-219076">
              <a:spcAft>
                <a:spcPct val="25000"/>
              </a:spcAft>
              <a:buClr>
                <a:schemeClr val="tx1"/>
              </a:buClr>
              <a:buFontTx/>
              <a:buChar char="•"/>
            </a:pPr>
            <a:r>
              <a:rPr lang="fr-CA" sz="2000" dirty="0">
                <a:latin typeface="Arial Narrow" panose="020B0606020202030204" pitchFamily="34" charset="0"/>
                <a:cs typeface="Arial" charset="0"/>
              </a:rPr>
              <a:t>En absence d’agglutinogène B, les </a:t>
            </a:r>
            <a:r>
              <a:rPr lang="fr-CA" sz="2000" u="sng" dirty="0">
                <a:latin typeface="Arial Narrow" panose="020B0606020202030204" pitchFamily="34" charset="0"/>
                <a:cs typeface="Arial" charset="0"/>
              </a:rPr>
              <a:t>a</a:t>
            </a:r>
            <a:r>
              <a:rPr lang="fr-CA" sz="2000" i="1" u="sng" dirty="0">
                <a:latin typeface="Arial Narrow" panose="020B0606020202030204" pitchFamily="34" charset="0"/>
                <a:cs typeface="Arial" charset="0"/>
              </a:rPr>
              <a:t>gglutinines </a:t>
            </a:r>
            <a:r>
              <a:rPr lang="fr-CA" sz="2000" i="1" u="sng" dirty="0" err="1">
                <a:latin typeface="Arial Narrow" panose="020B0606020202030204" pitchFamily="34" charset="0"/>
                <a:cs typeface="Arial" charset="0"/>
              </a:rPr>
              <a:t>anti-B</a:t>
            </a:r>
            <a:r>
              <a:rPr lang="fr-CA" sz="2000" dirty="0">
                <a:latin typeface="Arial Narrow" panose="020B0606020202030204" pitchFamily="34" charset="0"/>
                <a:cs typeface="Arial" charset="0"/>
              </a:rPr>
              <a:t> se retrouvent dans le plasma.</a:t>
            </a:r>
          </a:p>
        </p:txBody>
      </p:sp>
      <p:pic>
        <p:nvPicPr>
          <p:cNvPr id="6" name="Picture 5" descr="Marieb_Tab_17_4.jpg"/>
          <p:cNvPicPr>
            <a:picLocks noChangeAspect="1"/>
          </p:cNvPicPr>
          <p:nvPr/>
        </p:nvPicPr>
        <p:blipFill>
          <a:blip r:embed="rId3" cstate="print"/>
          <a:srcRect l="1890" t="2243" r="1890" b="6168"/>
          <a:stretch>
            <a:fillRect/>
          </a:stretch>
        </p:blipFill>
        <p:spPr>
          <a:xfrm>
            <a:off x="990600" y="3054863"/>
            <a:ext cx="12115800" cy="5102550"/>
          </a:xfrm>
          <a:prstGeom prst="rect">
            <a:avLst/>
          </a:prstGeom>
        </p:spPr>
      </p:pic>
    </p:spTree>
    <p:extLst>
      <p:ext uri="{BB962C8B-B14F-4D97-AF65-F5344CB8AC3E}">
        <p14:creationId xmlns:p14="http://schemas.microsoft.com/office/powerpoint/2010/main" val="112836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1915922" y="384810"/>
            <a:ext cx="4674870"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19076" indent="-219076">
              <a:spcBef>
                <a:spcPct val="100000"/>
              </a:spcBef>
              <a:spcAft>
                <a:spcPct val="100000"/>
              </a:spcAft>
            </a:pPr>
            <a:r>
              <a:rPr lang="fr-CA" sz="2880" b="1" i="1" dirty="0">
                <a:latin typeface="Arial" charset="0"/>
                <a:cs typeface="Arial" charset="0"/>
              </a:rPr>
              <a:t>• Réactions hémolytiques</a:t>
            </a:r>
            <a:endParaRPr lang="fr-CA" sz="2880" b="1" dirty="0">
              <a:solidFill>
                <a:srgbClr val="0989C9"/>
              </a:solidFill>
              <a:latin typeface="Arial" charset="0"/>
            </a:endParaRPr>
          </a:p>
        </p:txBody>
      </p:sp>
      <p:sp>
        <p:nvSpPr>
          <p:cNvPr id="24589" name="Rectangle 3"/>
          <p:cNvSpPr>
            <a:spLocks noChangeArrowheads="1"/>
          </p:cNvSpPr>
          <p:nvPr/>
        </p:nvSpPr>
        <p:spPr bwMode="auto">
          <a:xfrm>
            <a:off x="838201" y="939350"/>
            <a:ext cx="12649200" cy="61752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defTabSz="963930">
              <a:spcAft>
                <a:spcPct val="25000"/>
              </a:spcAft>
              <a:buClr>
                <a:schemeClr val="tx1"/>
              </a:buClr>
              <a:buSzPct val="110000"/>
              <a:tabLst>
                <a:tab pos="963930" algn="l"/>
              </a:tabLst>
            </a:pPr>
            <a:r>
              <a:rPr lang="fr-CA" sz="2800" dirty="0">
                <a:latin typeface="Arial Narrow" panose="020B0606020202030204" pitchFamily="34" charset="0"/>
                <a:cs typeface="Arial" charset="0"/>
              </a:rPr>
              <a:t>Si le sang du receveur contient des agglutinines contre le sang du donneur, une </a:t>
            </a:r>
            <a:r>
              <a:rPr lang="fr-CA" sz="2800" b="1" i="1" dirty="0">
                <a:latin typeface="Arial Narrow" panose="020B0606020202030204" pitchFamily="34" charset="0"/>
                <a:cs typeface="Arial" charset="0"/>
              </a:rPr>
              <a:t>réaction hémolytique</a:t>
            </a:r>
            <a:r>
              <a:rPr lang="fr-CA" sz="2800" dirty="0">
                <a:latin typeface="Arial Narrow" panose="020B0606020202030204" pitchFamily="34" charset="0"/>
                <a:cs typeface="Arial" charset="0"/>
              </a:rPr>
              <a:t> s’ensuit : agglutination et lyse des globules rouges étrangers.</a:t>
            </a:r>
          </a:p>
          <a:p>
            <a:pPr marL="217170" lvl="1" indent="-217170" defTabSz="963930">
              <a:spcAft>
                <a:spcPts val="360"/>
              </a:spcAft>
              <a:buClr>
                <a:schemeClr val="tx1"/>
              </a:buClr>
              <a:buSzPct val="100000"/>
              <a:buFont typeface="Arial" pitchFamily="34" charset="0"/>
              <a:buChar char="‒"/>
              <a:tabLst>
                <a:tab pos="963930" algn="l"/>
              </a:tabLst>
            </a:pPr>
            <a:r>
              <a:rPr lang="fr-CA" sz="2800" dirty="0">
                <a:latin typeface="Arial Narrow" panose="020B0606020202030204" pitchFamily="34" charset="0"/>
                <a:cs typeface="Arial" charset="0"/>
              </a:rPr>
              <a:t>Les G.R. agglutinés nuisent à la circulation dans les petits vaisseaux sanguins.</a:t>
            </a:r>
          </a:p>
          <a:p>
            <a:pPr marL="217170" lvl="1" indent="-217170" defTabSz="963930">
              <a:buClr>
                <a:schemeClr val="tx1"/>
              </a:buClr>
              <a:buSzPct val="100000"/>
              <a:buFont typeface="Arial" pitchFamily="34" charset="0"/>
              <a:buChar char="‒"/>
              <a:tabLst>
                <a:tab pos="963930" algn="l"/>
              </a:tabLst>
            </a:pPr>
            <a:r>
              <a:rPr lang="fr-CA" sz="2800" dirty="0">
                <a:latin typeface="Arial Narrow" panose="020B0606020202030204" pitchFamily="34" charset="0"/>
                <a:cs typeface="Arial" charset="0"/>
              </a:rPr>
              <a:t>Les G.R. sont éventuellement détruits par le système immunitaire.</a:t>
            </a:r>
          </a:p>
          <a:p>
            <a:pPr marL="533400" lvl="1" indent="-316230" defTabSz="963930">
              <a:spcBef>
                <a:spcPts val="360"/>
              </a:spcBef>
              <a:buClr>
                <a:schemeClr val="tx1"/>
              </a:buClr>
              <a:buFont typeface="Symbol"/>
              <a:buChar char="®"/>
            </a:pPr>
            <a:r>
              <a:rPr lang="fr-CA" sz="2800" i="1" dirty="0">
                <a:latin typeface="Arial Narrow" panose="020B0606020202030204" pitchFamily="34" charset="0"/>
                <a:cs typeface="Arial" charset="0"/>
              </a:rPr>
              <a:t>Hémolyse</a:t>
            </a:r>
            <a:r>
              <a:rPr lang="fr-CA" sz="2800" dirty="0">
                <a:latin typeface="Arial Narrow" panose="020B0606020202030204" pitchFamily="34" charset="0"/>
                <a:cs typeface="Arial" charset="0"/>
              </a:rPr>
              <a:t> (lyse des érythrocytes)</a:t>
            </a:r>
          </a:p>
          <a:p>
            <a:pPr marL="533400" lvl="1" indent="-316230" defTabSz="963930">
              <a:spcBef>
                <a:spcPts val="360"/>
              </a:spcBef>
              <a:buClr>
                <a:schemeClr val="tx1"/>
              </a:buClr>
              <a:buFont typeface="Symbol"/>
              <a:buChar char="®"/>
            </a:pPr>
            <a:r>
              <a:rPr lang="fr-CA" sz="2800" dirty="0">
                <a:latin typeface="Arial Narrow" panose="020B0606020202030204" pitchFamily="34" charset="0"/>
                <a:cs typeface="Arial" charset="0"/>
              </a:rPr>
              <a:t>Libération d’hémoglobine dans le plasma</a:t>
            </a:r>
          </a:p>
          <a:p>
            <a:pPr marL="533400" lvl="1" indent="-316230" defTabSz="963930">
              <a:spcBef>
                <a:spcPts val="360"/>
              </a:spcBef>
              <a:buClr>
                <a:schemeClr val="tx1"/>
              </a:buClr>
            </a:pPr>
            <a:r>
              <a:rPr lang="fr-CA" sz="2800" dirty="0">
                <a:latin typeface="Arial Narrow" panose="020B0606020202030204" pitchFamily="34" charset="0"/>
                <a:cs typeface="Arial" charset="0"/>
                <a:sym typeface="Symbol" pitchFamily="18" charset="2"/>
              </a:rPr>
              <a:t></a:t>
            </a:r>
            <a:r>
              <a:rPr lang="fr-CA" sz="2800" dirty="0">
                <a:latin typeface="Arial Narrow" panose="020B0606020202030204" pitchFamily="34" charset="0"/>
                <a:cs typeface="Arial" charset="0"/>
              </a:rPr>
              <a:t> 	Peut causer l’</a:t>
            </a:r>
            <a:r>
              <a:rPr lang="fr-CA" sz="2800" u="sng" dirty="0">
                <a:latin typeface="Arial Narrow" panose="020B0606020202030204" pitchFamily="34" charset="0"/>
                <a:cs typeface="Arial" charset="0"/>
              </a:rPr>
              <a:t>insuffisance rénale</a:t>
            </a:r>
            <a:r>
              <a:rPr lang="fr-CA" sz="2800" dirty="0">
                <a:latin typeface="Arial Narrow" panose="020B0606020202030204" pitchFamily="34" charset="0"/>
                <a:cs typeface="Arial" charset="0"/>
              </a:rPr>
              <a:t>  (l’effet le plus dangereux des transfusions incompatibles).</a:t>
            </a:r>
          </a:p>
          <a:p>
            <a:pPr marL="219076" indent="-219076" defTabSz="963930">
              <a:spcBef>
                <a:spcPts val="720"/>
              </a:spcBef>
              <a:spcAft>
                <a:spcPct val="25000"/>
              </a:spcAft>
              <a:buClr>
                <a:schemeClr val="tx1"/>
              </a:buClr>
              <a:buSzPct val="110000"/>
              <a:buFontTx/>
              <a:buChar char="•"/>
              <a:tabLst>
                <a:tab pos="963930" algn="l"/>
              </a:tabLst>
            </a:pPr>
            <a:r>
              <a:rPr lang="fr-CA" sz="2800" dirty="0">
                <a:latin typeface="Arial Narrow" panose="020B0606020202030204" pitchFamily="34" charset="0"/>
                <a:cs typeface="Arial" charset="0"/>
              </a:rPr>
              <a:t>Groupe AB: le plasma ne contient ni des </a:t>
            </a:r>
            <a:r>
              <a:rPr lang="fr-CA" sz="2800" dirty="0" err="1">
                <a:latin typeface="Arial Narrow" panose="020B0606020202030204" pitchFamily="34" charset="0"/>
                <a:cs typeface="Arial" charset="0"/>
              </a:rPr>
              <a:t>anti-A</a:t>
            </a:r>
            <a:r>
              <a:rPr lang="fr-CA" sz="2800" dirty="0">
                <a:latin typeface="Arial Narrow" panose="020B0606020202030204" pitchFamily="34" charset="0"/>
                <a:cs typeface="Arial" charset="0"/>
              </a:rPr>
              <a:t> ni des </a:t>
            </a:r>
            <a:r>
              <a:rPr lang="fr-CA" sz="2800" dirty="0" err="1">
                <a:latin typeface="Arial Narrow" panose="020B0606020202030204" pitchFamily="34" charset="0"/>
                <a:cs typeface="Arial" charset="0"/>
              </a:rPr>
              <a:t>anti-B</a:t>
            </a:r>
            <a:r>
              <a:rPr lang="fr-CA" sz="2800" dirty="0">
                <a:latin typeface="Arial Narrow" panose="020B0606020202030204" pitchFamily="34" charset="0"/>
                <a:cs typeface="Arial" charset="0"/>
              </a:rPr>
              <a:t> </a:t>
            </a:r>
            <a:r>
              <a:rPr lang="fr-CA" sz="2800" dirty="0">
                <a:latin typeface="Arial Narrow" panose="020B0606020202030204" pitchFamily="34" charset="0"/>
                <a:cs typeface="Arial" charset="0"/>
                <a:sym typeface="Symbol" pitchFamily="18" charset="2"/>
              </a:rPr>
              <a:t></a:t>
            </a:r>
            <a:r>
              <a:rPr lang="fr-CA" sz="2800" dirty="0">
                <a:latin typeface="Arial Narrow" panose="020B0606020202030204" pitchFamily="34" charset="0"/>
                <a:cs typeface="Arial" charset="0"/>
              </a:rPr>
              <a:t> “receveur universel”.</a:t>
            </a:r>
          </a:p>
          <a:p>
            <a:pPr marL="219076" indent="-219076" defTabSz="963930">
              <a:spcBef>
                <a:spcPts val="720"/>
              </a:spcBef>
              <a:buClr>
                <a:schemeClr val="tx1"/>
              </a:buClr>
              <a:buSzPct val="110000"/>
              <a:buFontTx/>
              <a:buChar char="•"/>
              <a:tabLst>
                <a:tab pos="963930" algn="l"/>
              </a:tabLst>
            </a:pPr>
            <a:r>
              <a:rPr lang="fr-CA" sz="2800" dirty="0">
                <a:latin typeface="Arial Narrow" panose="020B0606020202030204" pitchFamily="34" charset="0"/>
                <a:cs typeface="Arial" charset="0"/>
              </a:rPr>
              <a:t>Groupe O: les érythrocytes ne contiennent pas les agglutinogènes A et B </a:t>
            </a:r>
            <a:r>
              <a:rPr lang="fr-CA" sz="2800" dirty="0">
                <a:latin typeface="Arial Narrow" panose="020B0606020202030204" pitchFamily="34" charset="0"/>
                <a:cs typeface="Arial" charset="0"/>
                <a:sym typeface="Symbol" pitchFamily="18" charset="2"/>
              </a:rPr>
              <a:t></a:t>
            </a:r>
            <a:r>
              <a:rPr lang="fr-CA" sz="2800" dirty="0">
                <a:latin typeface="Arial Narrow" panose="020B0606020202030204" pitchFamily="34" charset="0"/>
                <a:cs typeface="Arial" charset="0"/>
              </a:rPr>
              <a:t> “donneur universel”.</a:t>
            </a:r>
          </a:p>
        </p:txBody>
      </p:sp>
      <p:sp>
        <p:nvSpPr>
          <p:cNvPr id="16" name="TextBox 15"/>
          <p:cNvSpPr txBox="1"/>
          <p:nvPr/>
        </p:nvSpPr>
        <p:spPr>
          <a:xfrm>
            <a:off x="2014633" y="6934200"/>
            <a:ext cx="4716533" cy="1015663"/>
          </a:xfrm>
          <a:prstGeom prst="rect">
            <a:avLst/>
          </a:prstGeom>
          <a:noFill/>
          <a:ln>
            <a:solidFill>
              <a:srgbClr val="FF0000"/>
            </a:solidFill>
          </a:ln>
        </p:spPr>
        <p:txBody>
          <a:bodyPr wrap="square" rtlCol="0">
            <a:spAutoFit/>
          </a:bodyPr>
          <a:lstStyle/>
          <a:p>
            <a:pPr marL="318136" indent="-318136"/>
            <a:r>
              <a:rPr lang="fr-CA" sz="2000" dirty="0">
                <a:solidFill>
                  <a:srgbClr val="FF0000"/>
                </a:solidFill>
                <a:latin typeface="Calibri" pitchFamily="34" charset="0"/>
                <a:cs typeface="Calibri" pitchFamily="34" charset="0"/>
              </a:rPr>
              <a:t>** 	Il est rare que le sang du donneur cause l’agglutination des G.R. du receveur; pourquoi?</a:t>
            </a:r>
            <a:endParaRPr lang="fr-CA" sz="2000" dirty="0">
              <a:latin typeface="Calibri" pitchFamily="34" charset="0"/>
              <a:cs typeface="Calibri" pitchFamily="34" charset="0"/>
            </a:endParaRPr>
          </a:p>
        </p:txBody>
      </p:sp>
    </p:spTree>
    <p:extLst>
      <p:ext uri="{BB962C8B-B14F-4D97-AF65-F5344CB8AC3E}">
        <p14:creationId xmlns:p14="http://schemas.microsoft.com/office/powerpoint/2010/main" val="202063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ttp://cw2.erpi.com/cw/marieb/userfiles/20_Fig_17_16_p_758.jpg"/>
          <p:cNvPicPr>
            <a:picLocks noChangeAspect="1" noChangeArrowheads="1"/>
          </p:cNvPicPr>
          <p:nvPr/>
        </p:nvPicPr>
        <p:blipFill>
          <a:blip r:embed="rId3" cstate="print"/>
          <a:srcRect b="5291"/>
          <a:stretch>
            <a:fillRect/>
          </a:stretch>
        </p:blipFill>
        <p:spPr bwMode="auto">
          <a:xfrm>
            <a:off x="1524001" y="152401"/>
            <a:ext cx="10972800" cy="7696199"/>
          </a:xfrm>
          <a:prstGeom prst="rect">
            <a:avLst/>
          </a:prstGeom>
          <a:noFill/>
        </p:spPr>
      </p:pic>
    </p:spTree>
    <p:extLst>
      <p:ext uri="{BB962C8B-B14F-4D97-AF65-F5344CB8AC3E}">
        <p14:creationId xmlns:p14="http://schemas.microsoft.com/office/powerpoint/2010/main" val="721066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2421933" y="2858055"/>
            <a:ext cx="9742538" cy="3876059"/>
          </a:xfrm>
          <a:noFill/>
          <a:ln>
            <a:noFill/>
            <a:miter lim="800000"/>
            <a:headEnd/>
            <a:tailEnd/>
          </a:ln>
        </p:spPr>
        <p:txBody>
          <a:bodyPr vert="horz" lIns="130622" tIns="99360" rIns="130622" bIns="99360">
            <a:normAutofit/>
          </a:bodyPr>
          <a:lstStyle/>
          <a:p>
            <a:pPr marL="219076" indent="-219076">
              <a:spcBef>
                <a:spcPts val="720"/>
              </a:spcBef>
              <a:spcAft>
                <a:spcPct val="20000"/>
              </a:spcAft>
              <a:buClr>
                <a:schemeClr val="tx1"/>
              </a:buClr>
              <a:buSzPct val="75000"/>
            </a:pPr>
            <a:r>
              <a:rPr lang="fr-CA" sz="1920" dirty="0">
                <a:solidFill>
                  <a:srgbClr val="000000"/>
                </a:solidFill>
                <a:latin typeface="Arial" charset="0"/>
                <a:cs typeface="Arial" charset="0"/>
              </a:rPr>
              <a:t>Il existe au moins 8 agglutinogènes Rh différents, mais le plus réactif est</a:t>
            </a:r>
            <a:r>
              <a:rPr lang="fr-CA" sz="1920" dirty="0">
                <a:latin typeface="Arial" charset="0"/>
                <a:cs typeface="Arial" charset="0"/>
              </a:rPr>
              <a:t> l’</a:t>
            </a:r>
            <a:r>
              <a:rPr lang="fr-CA" sz="1920" i="1" dirty="0">
                <a:latin typeface="Arial" charset="0"/>
                <a:cs typeface="Arial" charset="0"/>
              </a:rPr>
              <a:t>agglutinogène D</a:t>
            </a:r>
            <a:r>
              <a:rPr lang="fr-CA" sz="1920" dirty="0">
                <a:latin typeface="Arial" charset="0"/>
                <a:cs typeface="Arial" charset="0"/>
              </a:rPr>
              <a:t>, découvert chez les singes </a:t>
            </a:r>
            <a:r>
              <a:rPr lang="fr-CA" sz="1920" i="1" dirty="0">
                <a:latin typeface="Arial" charset="0"/>
                <a:cs typeface="Arial" charset="0"/>
              </a:rPr>
              <a:t>rhésus</a:t>
            </a:r>
            <a:r>
              <a:rPr lang="fr-CA" sz="1920" dirty="0">
                <a:latin typeface="Arial" charset="0"/>
                <a:cs typeface="Arial" charset="0"/>
              </a:rPr>
              <a:t>.</a:t>
            </a:r>
            <a:endParaRPr lang="fr-CA" sz="1920" dirty="0">
              <a:solidFill>
                <a:srgbClr val="000000"/>
              </a:solidFill>
              <a:latin typeface="Arial" charset="0"/>
              <a:cs typeface="Arial" charset="0"/>
            </a:endParaRPr>
          </a:p>
          <a:p>
            <a:pPr marL="219076" indent="-219076">
              <a:spcBef>
                <a:spcPts val="720"/>
              </a:spcBef>
              <a:spcAft>
                <a:spcPct val="0"/>
              </a:spcAft>
              <a:buClr>
                <a:schemeClr val="tx1"/>
              </a:buClr>
              <a:buSzPct val="75000"/>
            </a:pPr>
            <a:r>
              <a:rPr lang="fr-CA" sz="1920" dirty="0">
                <a:latin typeface="Arial" charset="0"/>
                <a:cs typeface="Arial" charset="0"/>
              </a:rPr>
              <a:t>Les individus dont les G.R. ont l’agglutinogène D sont désignés </a:t>
            </a:r>
            <a:r>
              <a:rPr lang="fr-CA" sz="1920" b="1" dirty="0">
                <a:latin typeface="Arial" charset="0"/>
                <a:cs typeface="Arial" charset="0"/>
              </a:rPr>
              <a:t>Rh</a:t>
            </a:r>
            <a:r>
              <a:rPr lang="fr-CA" sz="1920" b="1" baseline="40000" dirty="0">
                <a:latin typeface="Arial" charset="0"/>
                <a:cs typeface="Arial" charset="0"/>
              </a:rPr>
              <a:t>+</a:t>
            </a:r>
            <a:r>
              <a:rPr lang="fr-CA" sz="1920" dirty="0">
                <a:latin typeface="Arial" charset="0"/>
                <a:cs typeface="Arial" charset="0"/>
              </a:rPr>
              <a:t>.</a:t>
            </a:r>
            <a:endParaRPr lang="fr-CA" sz="1920" b="1" baseline="40000" dirty="0">
              <a:latin typeface="Arial" charset="0"/>
              <a:cs typeface="Arial" charset="0"/>
            </a:endParaRPr>
          </a:p>
          <a:p>
            <a:pPr marL="219076" indent="-219076">
              <a:spcAft>
                <a:spcPct val="0"/>
              </a:spcAft>
              <a:buClr>
                <a:schemeClr val="tx1"/>
              </a:buClr>
              <a:buSzPct val="75000"/>
              <a:buNone/>
            </a:pPr>
            <a:r>
              <a:rPr lang="fr-CA" sz="1920" dirty="0">
                <a:latin typeface="Arial" charset="0"/>
                <a:cs typeface="Arial" charset="0"/>
              </a:rPr>
              <a:t>	Ceux dont les G.R. n’ont pas l’agglutinogène D sont désignés </a:t>
            </a:r>
            <a:r>
              <a:rPr lang="fr-CA" sz="1920" b="1" dirty="0">
                <a:latin typeface="Arial" charset="0"/>
                <a:cs typeface="Arial" charset="0"/>
              </a:rPr>
              <a:t>Rh</a:t>
            </a:r>
            <a:r>
              <a:rPr lang="fr-CA" sz="1920" b="1" baseline="50000" dirty="0">
                <a:latin typeface="Arial" charset="0"/>
                <a:cs typeface="Arial" charset="0"/>
                <a:sym typeface="Symbol" pitchFamily="18" charset="2"/>
              </a:rPr>
              <a:t></a:t>
            </a:r>
            <a:r>
              <a:rPr lang="fr-CA" sz="1920" dirty="0">
                <a:latin typeface="Arial" charset="0"/>
                <a:cs typeface="Arial" charset="0"/>
              </a:rPr>
              <a:t>. </a:t>
            </a:r>
          </a:p>
          <a:p>
            <a:pPr marL="219076" indent="-219076">
              <a:spcBef>
                <a:spcPts val="720"/>
              </a:spcBef>
              <a:buClr>
                <a:schemeClr val="tx1"/>
              </a:buClr>
              <a:buSzPct val="75000"/>
            </a:pPr>
            <a:r>
              <a:rPr lang="fr-CA" sz="1920" dirty="0">
                <a:solidFill>
                  <a:srgbClr val="000000"/>
                </a:solidFill>
                <a:latin typeface="Arial" charset="0"/>
                <a:cs typeface="Arial" charset="0"/>
              </a:rPr>
              <a:t>Les agglutinines anti-Rh ne sont pas spontanément présentes chez les individus Rh</a:t>
            </a:r>
            <a:r>
              <a:rPr lang="fr-CA" sz="1920" baseline="50000" dirty="0">
                <a:solidFill>
                  <a:srgbClr val="000000"/>
                </a:solidFill>
                <a:latin typeface="Arial" charset="0"/>
                <a:cs typeface="Arial" charset="0"/>
              </a:rPr>
              <a:t>–</a:t>
            </a:r>
            <a:r>
              <a:rPr lang="fr-CA" sz="1920" dirty="0">
                <a:solidFill>
                  <a:srgbClr val="000000"/>
                </a:solidFill>
                <a:latin typeface="Arial" charset="0"/>
                <a:cs typeface="Arial" charset="0"/>
              </a:rPr>
              <a:t>.</a:t>
            </a:r>
          </a:p>
          <a:p>
            <a:pPr marL="219076" indent="-219076">
              <a:spcBef>
                <a:spcPts val="720"/>
              </a:spcBef>
              <a:buClr>
                <a:schemeClr val="tx1"/>
              </a:buClr>
              <a:buSzPct val="75000"/>
            </a:pPr>
            <a:r>
              <a:rPr lang="fr-CA" sz="1920" dirty="0">
                <a:solidFill>
                  <a:srgbClr val="000000"/>
                </a:solidFill>
                <a:latin typeface="Arial" charset="0"/>
                <a:cs typeface="Arial" charset="0"/>
              </a:rPr>
              <a:t>Cependant, si une personne Rh</a:t>
            </a:r>
            <a:r>
              <a:rPr lang="fr-CA" sz="1920" baseline="50000" dirty="0">
                <a:solidFill>
                  <a:srgbClr val="000000"/>
                </a:solidFill>
                <a:latin typeface="Arial" charset="0"/>
                <a:cs typeface="Arial" charset="0"/>
              </a:rPr>
              <a:t>–</a:t>
            </a:r>
            <a:r>
              <a:rPr lang="fr-CA" sz="1920" dirty="0">
                <a:solidFill>
                  <a:srgbClr val="000000"/>
                </a:solidFill>
                <a:latin typeface="Arial" charset="0"/>
                <a:cs typeface="Arial" charset="0"/>
              </a:rPr>
              <a:t> reçoit du sang Rh</a:t>
            </a:r>
            <a:r>
              <a:rPr lang="fr-CA" sz="1920" baseline="40000" dirty="0">
                <a:solidFill>
                  <a:srgbClr val="000000"/>
                </a:solidFill>
                <a:latin typeface="Arial" charset="0"/>
                <a:cs typeface="Arial" charset="0"/>
              </a:rPr>
              <a:t>+</a:t>
            </a:r>
            <a:r>
              <a:rPr lang="fr-CA" sz="1920" dirty="0">
                <a:solidFill>
                  <a:srgbClr val="000000"/>
                </a:solidFill>
                <a:latin typeface="Arial" charset="0"/>
                <a:cs typeface="Arial" charset="0"/>
              </a:rPr>
              <a:t>, des agglutinines anti-Rh sont produites.</a:t>
            </a:r>
          </a:p>
          <a:p>
            <a:pPr marL="563880" lvl="1" indent="-207646">
              <a:spcBef>
                <a:spcPts val="360"/>
              </a:spcBef>
              <a:buClr>
                <a:schemeClr val="tx1"/>
              </a:buClr>
              <a:buSzTx/>
              <a:buFont typeface="Symbol" pitchFamily="18" charset="2"/>
              <a:buChar char="®"/>
            </a:pPr>
            <a:r>
              <a:rPr lang="fr-CA" sz="1920" dirty="0">
                <a:latin typeface="Arial" charset="0"/>
                <a:cs typeface="Arial" charset="0"/>
              </a:rPr>
              <a:t> Première transfusion: réaction hémolytique généralement absente.</a:t>
            </a:r>
            <a:endParaRPr lang="fr-CA" sz="1920" dirty="0">
              <a:latin typeface="Arial" charset="0"/>
              <a:cs typeface="Arial" charset="0"/>
              <a:sym typeface="Symbol" pitchFamily="18" charset="2"/>
            </a:endParaRPr>
          </a:p>
          <a:p>
            <a:pPr marL="645796" lvl="1" indent="-289560">
              <a:spcBef>
                <a:spcPts val="360"/>
              </a:spcBef>
              <a:buClr>
                <a:schemeClr val="tx1"/>
              </a:buClr>
              <a:buSzTx/>
              <a:buFont typeface="Symbol" pitchFamily="18" charset="2"/>
              <a:buChar char="®"/>
            </a:pPr>
            <a:r>
              <a:rPr lang="fr-CA" sz="1920" dirty="0">
                <a:latin typeface="Arial" charset="0"/>
                <a:cs typeface="Arial" charset="0"/>
              </a:rPr>
              <a:t>Transfusions subséquentes: réactions hémolytiques similaires à celles du système ABO.</a:t>
            </a:r>
          </a:p>
        </p:txBody>
      </p:sp>
      <p:sp>
        <p:nvSpPr>
          <p:cNvPr id="25603" name="Rectangle 3"/>
          <p:cNvSpPr>
            <a:spLocks noGrp="1" noChangeArrowheads="1"/>
          </p:cNvSpPr>
          <p:nvPr>
            <p:ph type="title"/>
          </p:nvPr>
        </p:nvSpPr>
        <p:spPr>
          <a:xfrm>
            <a:off x="2116456" y="352426"/>
            <a:ext cx="5206364" cy="607694"/>
          </a:xfrm>
          <a:noFill/>
        </p:spPr>
        <p:txBody>
          <a:bodyPr/>
          <a:lstStyle/>
          <a:p>
            <a:pPr marL="403860" indent="-403860"/>
            <a:r>
              <a:rPr lang="fr-CA" sz="2880">
                <a:solidFill>
                  <a:schemeClr val="tx1"/>
                </a:solidFill>
              </a:rPr>
              <a:t>3.	</a:t>
            </a:r>
            <a:r>
              <a:rPr lang="fr-CA" sz="2880" u="sng">
                <a:solidFill>
                  <a:schemeClr val="tx1"/>
                </a:solidFill>
              </a:rPr>
              <a:t>LE SYSTÈME Rh</a:t>
            </a:r>
          </a:p>
        </p:txBody>
      </p:sp>
      <p:graphicFrame>
        <p:nvGraphicFramePr>
          <p:cNvPr id="5" name="Table 4"/>
          <p:cNvGraphicFramePr>
            <a:graphicFrameLocks noGrp="1"/>
          </p:cNvGraphicFramePr>
          <p:nvPr/>
        </p:nvGraphicFramePr>
        <p:xfrm>
          <a:off x="2607515" y="1182514"/>
          <a:ext cx="9477312" cy="1466280"/>
        </p:xfrm>
        <a:graphic>
          <a:graphicData uri="http://schemas.openxmlformats.org/drawingml/2006/table">
            <a:tbl>
              <a:tblPr firstRow="1" bandRow="1">
                <a:tableStyleId>{BDBED569-4797-4DF1-A0F4-6AAB3CD982D8}</a:tableStyleId>
              </a:tblPr>
              <a:tblGrid>
                <a:gridCol w="1167509">
                  <a:extLst>
                    <a:ext uri="{9D8B030D-6E8A-4147-A177-3AD203B41FA5}">
                      <a16:colId xmlns:a16="http://schemas.microsoft.com/office/drawing/2014/main" val="20000"/>
                    </a:ext>
                  </a:extLst>
                </a:gridCol>
                <a:gridCol w="920863">
                  <a:extLst>
                    <a:ext uri="{9D8B030D-6E8A-4147-A177-3AD203B41FA5}">
                      <a16:colId xmlns:a16="http://schemas.microsoft.com/office/drawing/2014/main" val="20001"/>
                    </a:ext>
                  </a:extLst>
                </a:gridCol>
                <a:gridCol w="884903">
                  <a:extLst>
                    <a:ext uri="{9D8B030D-6E8A-4147-A177-3AD203B41FA5}">
                      <a16:colId xmlns:a16="http://schemas.microsoft.com/office/drawing/2014/main" val="20002"/>
                    </a:ext>
                  </a:extLst>
                </a:gridCol>
                <a:gridCol w="1044186">
                  <a:extLst>
                    <a:ext uri="{9D8B030D-6E8A-4147-A177-3AD203B41FA5}">
                      <a16:colId xmlns:a16="http://schemas.microsoft.com/office/drawing/2014/main" val="20003"/>
                    </a:ext>
                  </a:extLst>
                </a:gridCol>
                <a:gridCol w="1336204">
                  <a:extLst>
                    <a:ext uri="{9D8B030D-6E8A-4147-A177-3AD203B41FA5}">
                      <a16:colId xmlns:a16="http://schemas.microsoft.com/office/drawing/2014/main" val="20004"/>
                    </a:ext>
                  </a:extLst>
                </a:gridCol>
                <a:gridCol w="2238805">
                  <a:extLst>
                    <a:ext uri="{9D8B030D-6E8A-4147-A177-3AD203B41FA5}">
                      <a16:colId xmlns:a16="http://schemas.microsoft.com/office/drawing/2014/main" val="20005"/>
                    </a:ext>
                  </a:extLst>
                </a:gridCol>
                <a:gridCol w="1884842">
                  <a:extLst>
                    <a:ext uri="{9D8B030D-6E8A-4147-A177-3AD203B41FA5}">
                      <a16:colId xmlns:a16="http://schemas.microsoft.com/office/drawing/2014/main" val="20006"/>
                    </a:ext>
                  </a:extLst>
                </a:gridCol>
              </a:tblGrid>
              <a:tr h="539778">
                <a:tc>
                  <a:txBody>
                    <a:bodyPr/>
                    <a:lstStyle/>
                    <a:p>
                      <a:pPr algn="ctr"/>
                      <a:r>
                        <a:rPr lang="fr-CA" sz="1400" dirty="0">
                          <a:solidFill>
                            <a:schemeClr val="tx1"/>
                          </a:solidFill>
                          <a:latin typeface="Calibri" pitchFamily="34" charset="0"/>
                        </a:rPr>
                        <a:t>Groupe sanguin</a:t>
                      </a:r>
                    </a:p>
                  </a:txBody>
                  <a:tcPr marL="86400" marR="86400" marT="0" marB="0" anchor="ctr">
                    <a:solidFill>
                      <a:srgbClr val="FDE1A9"/>
                    </a:solidFill>
                  </a:tcPr>
                </a:tc>
                <a:tc>
                  <a:txBody>
                    <a:bodyPr/>
                    <a:lstStyle/>
                    <a:p>
                      <a:pPr algn="ctr"/>
                      <a:r>
                        <a:rPr lang="fr-CA" sz="1400" dirty="0">
                          <a:solidFill>
                            <a:schemeClr val="tx1"/>
                          </a:solidFill>
                          <a:latin typeface="Calibri" pitchFamily="34" charset="0"/>
                        </a:rPr>
                        <a:t>Blancs</a:t>
                      </a:r>
                    </a:p>
                  </a:txBody>
                  <a:tcPr marL="86400" marR="86400" marT="0" marB="0" anchor="ctr">
                    <a:solidFill>
                      <a:srgbClr val="FDE1A9"/>
                    </a:solidFill>
                  </a:tcPr>
                </a:tc>
                <a:tc>
                  <a:txBody>
                    <a:bodyPr/>
                    <a:lstStyle/>
                    <a:p>
                      <a:pPr algn="ctr"/>
                      <a:r>
                        <a:rPr lang="fr-CA" sz="1400" dirty="0">
                          <a:solidFill>
                            <a:schemeClr val="tx1"/>
                          </a:solidFill>
                          <a:latin typeface="Calibri" pitchFamily="34" charset="0"/>
                        </a:rPr>
                        <a:t>Noirs</a:t>
                      </a:r>
                    </a:p>
                  </a:txBody>
                  <a:tcPr marL="86400" marR="86400" marT="0" marB="0" anchor="ctr">
                    <a:solidFill>
                      <a:srgbClr val="FDE1A9"/>
                    </a:solidFill>
                  </a:tcPr>
                </a:tc>
                <a:tc>
                  <a:txBody>
                    <a:bodyPr/>
                    <a:lstStyle/>
                    <a:p>
                      <a:pPr algn="ctr"/>
                      <a:r>
                        <a:rPr lang="fr-CA" sz="1400" dirty="0">
                          <a:solidFill>
                            <a:schemeClr val="tx1"/>
                          </a:solidFill>
                          <a:latin typeface="Calibri" pitchFamily="34" charset="0"/>
                        </a:rPr>
                        <a:t>Asiatiques</a:t>
                      </a:r>
                    </a:p>
                  </a:txBody>
                  <a:tcPr marL="86400" marR="86400" marT="0" marB="0" anchor="ctr">
                    <a:solidFill>
                      <a:srgbClr val="FDE1A9"/>
                    </a:solidFill>
                  </a:tcPr>
                </a:tc>
                <a:tc>
                  <a:txBody>
                    <a:bodyPr/>
                    <a:lstStyle/>
                    <a:p>
                      <a:pPr algn="ctr"/>
                      <a:r>
                        <a:rPr lang="fr-CA" sz="1400" dirty="0">
                          <a:solidFill>
                            <a:schemeClr val="tx1"/>
                          </a:solidFill>
                          <a:latin typeface="Calibri" pitchFamily="34" charset="0"/>
                        </a:rPr>
                        <a:t>Antigène des érythrocytes</a:t>
                      </a:r>
                    </a:p>
                  </a:txBody>
                  <a:tcPr marL="86400" marR="86400" marT="0" marB="0" anchor="ctr">
                    <a:solidFill>
                      <a:srgbClr val="FDE1A9"/>
                    </a:solidFill>
                  </a:tcPr>
                </a:tc>
                <a:tc>
                  <a:txBody>
                    <a:bodyPr/>
                    <a:lstStyle/>
                    <a:p>
                      <a:pPr algn="ctr"/>
                      <a:r>
                        <a:rPr lang="fr-CA" sz="1400" dirty="0">
                          <a:solidFill>
                            <a:schemeClr val="tx1"/>
                          </a:solidFill>
                          <a:latin typeface="Calibri" pitchFamily="34" charset="0"/>
                        </a:rPr>
                        <a:t>Anticorps dans le plasma</a:t>
                      </a:r>
                    </a:p>
                  </a:txBody>
                  <a:tcPr marL="86400" marR="86400" marT="0" marB="0" anchor="ctr">
                    <a:solidFill>
                      <a:srgbClr val="FDE1A9"/>
                    </a:solidFill>
                  </a:tcPr>
                </a:tc>
                <a:tc>
                  <a:txBody>
                    <a:bodyPr/>
                    <a:lstStyle/>
                    <a:p>
                      <a:pPr algn="ctr"/>
                      <a:r>
                        <a:rPr lang="fr-CA" sz="1400" dirty="0">
                          <a:solidFill>
                            <a:schemeClr val="tx1"/>
                          </a:solidFill>
                          <a:latin typeface="Calibri" pitchFamily="34" charset="0"/>
                        </a:rPr>
                        <a:t>Sang compatible</a:t>
                      </a:r>
                    </a:p>
                  </a:txBody>
                  <a:tcPr marL="86400" marR="86400" marT="0" marB="0" anchor="ctr">
                    <a:solidFill>
                      <a:srgbClr val="FDE1A9"/>
                    </a:solidFill>
                  </a:tcPr>
                </a:tc>
                <a:extLst>
                  <a:ext uri="{0D108BD9-81ED-4DB2-BD59-A6C34878D82A}">
                    <a16:rowId xmlns:a16="http://schemas.microsoft.com/office/drawing/2014/main" val="10000"/>
                  </a:ext>
                </a:extLst>
              </a:tr>
              <a:tr h="401476">
                <a:tc>
                  <a:txBody>
                    <a:bodyPr/>
                    <a:lstStyle/>
                    <a:p>
                      <a:pPr algn="ctr"/>
                      <a:r>
                        <a:rPr lang="fr-CA" sz="1300" b="1" dirty="0">
                          <a:solidFill>
                            <a:schemeClr val="tx1"/>
                          </a:solidFill>
                          <a:latin typeface="Calibri" pitchFamily="34" charset="0"/>
                        </a:rPr>
                        <a:t>Rh</a:t>
                      </a:r>
                      <a:r>
                        <a:rPr lang="fr-CA" sz="1900" b="1" baseline="20000" dirty="0">
                          <a:solidFill>
                            <a:schemeClr val="tx1"/>
                          </a:solidFill>
                          <a:latin typeface="Calibri" pitchFamily="34" charset="0"/>
                        </a:rPr>
                        <a:t>+</a:t>
                      </a:r>
                    </a:p>
                  </a:txBody>
                  <a:tcPr marL="86400" marR="86400" marT="0" marB="0" anchor="ctr">
                    <a:noFill/>
                  </a:tcPr>
                </a:tc>
                <a:tc>
                  <a:txBody>
                    <a:bodyPr/>
                    <a:lstStyle/>
                    <a:p>
                      <a:pPr algn="ctr"/>
                      <a:r>
                        <a:rPr lang="fr-CA" sz="1300" b="1" dirty="0">
                          <a:solidFill>
                            <a:schemeClr val="tx1"/>
                          </a:solidFill>
                          <a:latin typeface="Calibri" pitchFamily="34" charset="0"/>
                        </a:rPr>
                        <a:t>85%</a:t>
                      </a:r>
                    </a:p>
                  </a:txBody>
                  <a:tcPr marL="86400" marR="86400" marT="0" marB="0" anchor="ctr">
                    <a:noFill/>
                  </a:tcPr>
                </a:tc>
                <a:tc>
                  <a:txBody>
                    <a:bodyPr/>
                    <a:lstStyle/>
                    <a:p>
                      <a:pPr algn="ctr"/>
                      <a:r>
                        <a:rPr lang="fr-CA" sz="1300" b="1" dirty="0">
                          <a:solidFill>
                            <a:schemeClr val="tx1"/>
                          </a:solidFill>
                          <a:latin typeface="Calibri" pitchFamily="34" charset="0"/>
                        </a:rPr>
                        <a:t>95%</a:t>
                      </a:r>
                    </a:p>
                  </a:txBody>
                  <a:tcPr marL="86400" marR="86400" marT="0" marB="0" anchor="ctr">
                    <a:noFill/>
                  </a:tcPr>
                </a:tc>
                <a:tc>
                  <a:txBody>
                    <a:bodyPr/>
                    <a:lstStyle/>
                    <a:p>
                      <a:pPr algn="ctr"/>
                      <a:r>
                        <a:rPr lang="fr-CA" sz="1300" b="1" dirty="0">
                          <a:solidFill>
                            <a:schemeClr val="tx1"/>
                          </a:solidFill>
                          <a:latin typeface="Calibri" pitchFamily="34" charset="0"/>
                        </a:rPr>
                        <a:t>&gt;99,9%</a:t>
                      </a:r>
                    </a:p>
                  </a:txBody>
                  <a:tcPr marL="86400" marR="86400" marT="0" marB="0" anchor="ctr">
                    <a:noFill/>
                  </a:tcPr>
                </a:tc>
                <a:tc>
                  <a:txBody>
                    <a:bodyPr/>
                    <a:lstStyle/>
                    <a:p>
                      <a:pPr algn="ctr"/>
                      <a:r>
                        <a:rPr lang="fr-CA" sz="1300" b="1" dirty="0" err="1">
                          <a:solidFill>
                            <a:schemeClr val="tx1"/>
                          </a:solidFill>
                          <a:latin typeface="Calibri" pitchFamily="34" charset="0"/>
                        </a:rPr>
                        <a:t>RhD</a:t>
                      </a:r>
                      <a:endParaRPr lang="fr-CA" sz="1300" b="1" dirty="0">
                        <a:solidFill>
                          <a:schemeClr val="tx1"/>
                        </a:solidFill>
                        <a:latin typeface="Calibri" pitchFamily="34" charset="0"/>
                      </a:endParaRPr>
                    </a:p>
                  </a:txBody>
                  <a:tcPr marL="86400" marR="86400" marT="0" marB="0" anchor="ctr">
                    <a:noFill/>
                  </a:tcPr>
                </a:tc>
                <a:tc>
                  <a:txBody>
                    <a:bodyPr/>
                    <a:lstStyle/>
                    <a:p>
                      <a:pPr algn="ctr"/>
                      <a:r>
                        <a:rPr lang="fr-CA" sz="1300" b="1" dirty="0">
                          <a:solidFill>
                            <a:schemeClr val="tx1"/>
                          </a:solidFill>
                          <a:latin typeface="Calibri" pitchFamily="34" charset="0"/>
                        </a:rPr>
                        <a:t>Aucun</a:t>
                      </a:r>
                    </a:p>
                  </a:txBody>
                  <a:tcPr marL="86400" marR="86400" marT="0" marB="0" anchor="ctr">
                    <a:noFill/>
                  </a:tcPr>
                </a:tc>
                <a:tc>
                  <a:txBody>
                    <a:bodyPr/>
                    <a:lstStyle/>
                    <a:p>
                      <a:pPr algn="ctr"/>
                      <a:r>
                        <a:rPr lang="fr-CA" sz="1300" b="1" dirty="0">
                          <a:solidFill>
                            <a:schemeClr val="tx1"/>
                          </a:solidFill>
                          <a:latin typeface="Calibri" pitchFamily="34" charset="0"/>
                        </a:rPr>
                        <a:t>Rh</a:t>
                      </a:r>
                      <a:r>
                        <a:rPr lang="fr-CA" sz="1900" b="1" baseline="20000" dirty="0">
                          <a:solidFill>
                            <a:schemeClr val="tx1"/>
                          </a:solidFill>
                          <a:latin typeface="Calibri" pitchFamily="34" charset="0"/>
                        </a:rPr>
                        <a:t>+</a:t>
                      </a:r>
                      <a:r>
                        <a:rPr lang="fr-CA" sz="1300" b="1" dirty="0">
                          <a:solidFill>
                            <a:schemeClr val="tx1"/>
                          </a:solidFill>
                          <a:latin typeface="Calibri" pitchFamily="34" charset="0"/>
                        </a:rPr>
                        <a:t>, Rh</a:t>
                      </a:r>
                      <a:r>
                        <a:rPr lang="fr-CA" sz="2900" b="1" baseline="12000" dirty="0">
                          <a:solidFill>
                            <a:schemeClr val="tx1"/>
                          </a:solidFill>
                          <a:latin typeface="Calibri" pitchFamily="34" charset="0"/>
                        </a:rPr>
                        <a:t>-</a:t>
                      </a:r>
                    </a:p>
                  </a:txBody>
                  <a:tcPr marL="86400" marR="86400" marT="0" marB="0" anchor="ctr">
                    <a:noFill/>
                  </a:tcPr>
                </a:tc>
                <a:extLst>
                  <a:ext uri="{0D108BD9-81ED-4DB2-BD59-A6C34878D82A}">
                    <a16:rowId xmlns:a16="http://schemas.microsoft.com/office/drawing/2014/main" val="10001"/>
                  </a:ext>
                </a:extLst>
              </a:tr>
              <a:tr h="525026">
                <a:tc>
                  <a:txBody>
                    <a:bodyPr/>
                    <a:lstStyle/>
                    <a:p>
                      <a:pPr algn="ctr"/>
                      <a:r>
                        <a:rPr lang="fr-CA" sz="1300" b="1" dirty="0">
                          <a:solidFill>
                            <a:schemeClr val="tx1"/>
                          </a:solidFill>
                          <a:latin typeface="Calibri" pitchFamily="34" charset="0"/>
                        </a:rPr>
                        <a:t>Rh</a:t>
                      </a:r>
                      <a:r>
                        <a:rPr lang="fr-CA" sz="2900" b="1" baseline="12000" dirty="0">
                          <a:solidFill>
                            <a:schemeClr val="tx1"/>
                          </a:solidFill>
                          <a:latin typeface="Calibri" pitchFamily="34" charset="0"/>
                        </a:rPr>
                        <a:t>-</a:t>
                      </a:r>
                    </a:p>
                  </a:txBody>
                  <a:tcPr marL="86400" marR="86400" marT="0" marB="0" anchor="ctr">
                    <a:noFill/>
                  </a:tcPr>
                </a:tc>
                <a:tc>
                  <a:txBody>
                    <a:bodyPr/>
                    <a:lstStyle/>
                    <a:p>
                      <a:pPr algn="ctr"/>
                      <a:r>
                        <a:rPr lang="fr-CA" sz="1300" b="1" dirty="0">
                          <a:solidFill>
                            <a:schemeClr val="tx1"/>
                          </a:solidFill>
                          <a:latin typeface="Calibri" pitchFamily="34" charset="0"/>
                        </a:rPr>
                        <a:t>15%</a:t>
                      </a:r>
                    </a:p>
                  </a:txBody>
                  <a:tcPr marL="86400" marR="86400" marT="0" marB="0" anchor="ctr">
                    <a:noFill/>
                  </a:tcPr>
                </a:tc>
                <a:tc>
                  <a:txBody>
                    <a:bodyPr/>
                    <a:lstStyle/>
                    <a:p>
                      <a:pPr algn="ctr"/>
                      <a:r>
                        <a:rPr lang="fr-CA" sz="1300" b="1" dirty="0">
                          <a:solidFill>
                            <a:schemeClr val="tx1"/>
                          </a:solidFill>
                          <a:latin typeface="Calibri" pitchFamily="34" charset="0"/>
                        </a:rPr>
                        <a:t>5%</a:t>
                      </a:r>
                    </a:p>
                  </a:txBody>
                  <a:tcPr marL="86400" marR="86400" marT="0" marB="0" anchor="ctr">
                    <a:noFill/>
                  </a:tcPr>
                </a:tc>
                <a:tc>
                  <a:txBody>
                    <a:bodyPr/>
                    <a:lstStyle/>
                    <a:p>
                      <a:pPr algn="ctr"/>
                      <a:r>
                        <a:rPr lang="fr-CA" sz="1300" b="1" dirty="0">
                          <a:solidFill>
                            <a:schemeClr val="tx1"/>
                          </a:solidFill>
                          <a:latin typeface="Calibri" pitchFamily="34" charset="0"/>
                        </a:rPr>
                        <a:t>&lt;</a:t>
                      </a:r>
                      <a:r>
                        <a:rPr lang="fr-CA" sz="1300" b="1" baseline="0" dirty="0">
                          <a:solidFill>
                            <a:schemeClr val="tx1"/>
                          </a:solidFill>
                          <a:latin typeface="Calibri" pitchFamily="34" charset="0"/>
                        </a:rPr>
                        <a:t> 0,1%</a:t>
                      </a:r>
                      <a:endParaRPr lang="fr-CA" sz="1300" b="1" dirty="0">
                        <a:solidFill>
                          <a:schemeClr val="tx1"/>
                        </a:solidFill>
                        <a:latin typeface="Calibri" pitchFamily="34" charset="0"/>
                      </a:endParaRPr>
                    </a:p>
                  </a:txBody>
                  <a:tcPr marL="86400" marR="86400" marT="0" marB="0" anchor="ctr">
                    <a:noFill/>
                  </a:tcPr>
                </a:tc>
                <a:tc>
                  <a:txBody>
                    <a:bodyPr/>
                    <a:lstStyle/>
                    <a:p>
                      <a:pPr algn="ctr"/>
                      <a:r>
                        <a:rPr lang="fr-CA" sz="1300" b="1" dirty="0">
                          <a:solidFill>
                            <a:schemeClr val="tx1"/>
                          </a:solidFill>
                          <a:latin typeface="Calibri" pitchFamily="34" charset="0"/>
                        </a:rPr>
                        <a:t>Aucun</a:t>
                      </a:r>
                    </a:p>
                  </a:txBody>
                  <a:tcPr marL="86400" marR="86400" marT="0" marB="0" anchor="ctr">
                    <a:noFill/>
                  </a:tcPr>
                </a:tc>
                <a:tc>
                  <a:txBody>
                    <a:bodyPr/>
                    <a:lstStyle/>
                    <a:p>
                      <a:pPr algn="ctr"/>
                      <a:r>
                        <a:rPr lang="fr-CA" sz="1300" b="1" dirty="0">
                          <a:solidFill>
                            <a:schemeClr val="tx1"/>
                          </a:solidFill>
                          <a:latin typeface="Calibri" pitchFamily="34" charset="0"/>
                        </a:rPr>
                        <a:t>Aucun normalement</a:t>
                      </a:r>
                    </a:p>
                    <a:p>
                      <a:pPr algn="ctr">
                        <a:spcBef>
                          <a:spcPts val="300"/>
                        </a:spcBef>
                      </a:pPr>
                      <a:r>
                        <a:rPr lang="fr-CA" sz="1300" b="1" dirty="0">
                          <a:solidFill>
                            <a:schemeClr val="tx1"/>
                          </a:solidFill>
                          <a:latin typeface="Calibri" pitchFamily="34" charset="0"/>
                        </a:rPr>
                        <a:t>(Anti-</a:t>
                      </a:r>
                      <a:r>
                        <a:rPr lang="fr-CA" sz="1300" b="1" dirty="0" err="1">
                          <a:solidFill>
                            <a:schemeClr val="tx1"/>
                          </a:solidFill>
                          <a:latin typeface="Calibri" pitchFamily="34" charset="0"/>
                        </a:rPr>
                        <a:t>RhD</a:t>
                      </a:r>
                      <a:r>
                        <a:rPr lang="fr-CA" sz="1300" b="1" dirty="0">
                          <a:solidFill>
                            <a:schemeClr val="tx1"/>
                          </a:solidFill>
                          <a:latin typeface="Calibri" pitchFamily="34" charset="0"/>
                        </a:rPr>
                        <a:t> après exposition)</a:t>
                      </a:r>
                    </a:p>
                  </a:txBody>
                  <a:tcPr marL="86400" marR="86400" marT="0" marB="0" anchor="ctr">
                    <a:noFill/>
                  </a:tcPr>
                </a:tc>
                <a:tc>
                  <a:txBody>
                    <a:bodyPr/>
                    <a:lstStyle/>
                    <a:p>
                      <a:pPr algn="ctr"/>
                      <a:r>
                        <a:rPr lang="fr-CA" sz="1300" b="1" dirty="0">
                          <a:solidFill>
                            <a:schemeClr val="tx1"/>
                          </a:solidFill>
                          <a:latin typeface="Calibri" pitchFamily="34" charset="0"/>
                        </a:rPr>
                        <a:t>Rh</a:t>
                      </a:r>
                      <a:r>
                        <a:rPr lang="fr-CA" sz="2900" b="1" baseline="12000" dirty="0">
                          <a:solidFill>
                            <a:schemeClr val="tx1"/>
                          </a:solidFill>
                          <a:latin typeface="Calibri" pitchFamily="34" charset="0"/>
                        </a:rPr>
                        <a:t>-</a:t>
                      </a:r>
                      <a:r>
                        <a:rPr lang="fr-CA" sz="1300" b="1" dirty="0">
                          <a:solidFill>
                            <a:schemeClr val="tx1"/>
                          </a:solidFill>
                          <a:latin typeface="Calibri" pitchFamily="34" charset="0"/>
                        </a:rPr>
                        <a:t> </a:t>
                      </a:r>
                    </a:p>
                    <a:p>
                      <a:pPr algn="ctr"/>
                      <a:r>
                        <a:rPr lang="fr-CA" sz="1300" b="1" dirty="0">
                          <a:solidFill>
                            <a:schemeClr val="tx1"/>
                          </a:solidFill>
                          <a:latin typeface="Calibri" pitchFamily="34" charset="0"/>
                        </a:rPr>
                        <a:t>(Rh</a:t>
                      </a:r>
                      <a:r>
                        <a:rPr lang="fr-CA" sz="1900" b="1" baseline="20000" dirty="0">
                          <a:solidFill>
                            <a:schemeClr val="tx1"/>
                          </a:solidFill>
                          <a:latin typeface="Calibri" pitchFamily="34" charset="0"/>
                        </a:rPr>
                        <a:t>+</a:t>
                      </a:r>
                      <a:r>
                        <a:rPr lang="fr-CA" sz="1300" b="1" baseline="0" dirty="0">
                          <a:solidFill>
                            <a:schemeClr val="tx1"/>
                          </a:solidFill>
                          <a:latin typeface="Calibri" pitchFamily="34" charset="0"/>
                        </a:rPr>
                        <a:t> avant exposition</a:t>
                      </a:r>
                      <a:r>
                        <a:rPr lang="fr-CA" sz="1300" b="1" dirty="0">
                          <a:solidFill>
                            <a:schemeClr val="tx1"/>
                          </a:solidFill>
                          <a:latin typeface="Calibri" pitchFamily="34" charset="0"/>
                        </a:rPr>
                        <a:t>)</a:t>
                      </a:r>
                    </a:p>
                  </a:txBody>
                  <a:tcPr marL="86400" marR="86400" marT="0" marB="0" anchor="c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9875544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nvSpPr>
        <p:spPr bwMode="auto">
          <a:xfrm>
            <a:off x="1371600" y="455632"/>
            <a:ext cx="11887200" cy="6061772"/>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9728" tIns="99360" rIns="109728" bIns="99360" numCol="1" anchor="t" anchorCtr="0" compatLnSpc="1">
            <a:prstTxWarp prst="textNoShape">
              <a:avLst/>
            </a:prstTxWarp>
          </a:bodyPr>
          <a:lstStyle>
            <a:lvl1pPr marL="231775" indent="-231775" algn="l" rtl="0" eaLnBrk="0" fontAlgn="base" hangingPunct="0">
              <a:spcBef>
                <a:spcPct val="0"/>
              </a:spcBef>
              <a:spcAft>
                <a:spcPct val="50000"/>
              </a:spcAft>
              <a:buClr>
                <a:srgbClr val="0989C9"/>
              </a:buClr>
              <a:buSzPct val="60000"/>
              <a:buFont typeface="Wingdings" pitchFamily="2" charset="2"/>
              <a:buChar char="§"/>
              <a:defRPr sz="3000">
                <a:solidFill>
                  <a:schemeClr val="tx1"/>
                </a:solidFill>
                <a:latin typeface="+mn-lt"/>
                <a:ea typeface="+mn-ea"/>
                <a:cs typeface="+mn-cs"/>
              </a:defRPr>
            </a:lvl1pPr>
            <a:lvl2pPr marL="742950" indent="-285750" algn="l" rtl="0" eaLnBrk="0" fontAlgn="base" hangingPunct="0">
              <a:spcBef>
                <a:spcPct val="0"/>
              </a:spcBef>
              <a:spcAft>
                <a:spcPct val="50000"/>
              </a:spcAft>
              <a:buClr>
                <a:srgbClr val="0989C9"/>
              </a:buClr>
              <a:buSzPct val="60000"/>
              <a:buFont typeface="Wingdings" pitchFamily="2" charset="2"/>
              <a:buChar char="§"/>
              <a:defRPr sz="2800">
                <a:solidFill>
                  <a:schemeClr val="tx1"/>
                </a:solidFill>
                <a:latin typeface="+mn-lt"/>
              </a:defRPr>
            </a:lvl2pPr>
            <a:lvl3pPr marL="1143000" indent="-228600" algn="l" rtl="0" eaLnBrk="0" fontAlgn="base" hangingPunct="0">
              <a:spcBef>
                <a:spcPct val="0"/>
              </a:spcBef>
              <a:spcAft>
                <a:spcPct val="50000"/>
              </a:spcAft>
              <a:buClr>
                <a:srgbClr val="0989C9"/>
              </a:buClr>
              <a:buSzPct val="60000"/>
              <a:buFont typeface="Wingdings" pitchFamily="2" charset="2"/>
              <a:buChar char="§"/>
              <a:defRPr sz="2800">
                <a:solidFill>
                  <a:schemeClr val="tx1"/>
                </a:solidFill>
                <a:latin typeface="+mn-lt"/>
              </a:defRPr>
            </a:lvl3pPr>
            <a:lvl4pPr marL="1600200" indent="-228600" algn="l" rtl="0" eaLnBrk="0" fontAlgn="base" hangingPunct="0">
              <a:spcBef>
                <a:spcPct val="0"/>
              </a:spcBef>
              <a:spcAft>
                <a:spcPct val="50000"/>
              </a:spcAft>
              <a:buClr>
                <a:srgbClr val="0989C9"/>
              </a:buClr>
              <a:buSzPct val="60000"/>
              <a:buFont typeface="Wingdings" pitchFamily="2" charset="2"/>
              <a:buChar char="§"/>
              <a:defRPr sz="2800">
                <a:solidFill>
                  <a:schemeClr val="tx1"/>
                </a:solidFill>
                <a:latin typeface="+mn-lt"/>
              </a:defRPr>
            </a:lvl4pPr>
            <a:lvl5pPr marL="2057400" indent="-228600" algn="l" rtl="0" eaLnBrk="0" fontAlgn="base" hangingPunct="0">
              <a:spcBef>
                <a:spcPct val="0"/>
              </a:spcBef>
              <a:spcAft>
                <a:spcPct val="50000"/>
              </a:spcAft>
              <a:buClr>
                <a:srgbClr val="0989C9"/>
              </a:buClr>
              <a:buSzPct val="60000"/>
              <a:buFont typeface="Wingdings" pitchFamily="2" charset="2"/>
              <a:buChar char="§"/>
              <a:defRPr sz="2800">
                <a:solidFill>
                  <a:schemeClr val="tx1"/>
                </a:solidFill>
                <a:latin typeface="+mn-lt"/>
              </a:defRPr>
            </a:lvl5pPr>
            <a:lvl6pPr marL="25146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6pPr>
            <a:lvl7pPr marL="29718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7pPr>
            <a:lvl8pPr marL="34290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8pPr>
            <a:lvl9pPr marL="38862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9pPr>
          </a:lstStyle>
          <a:p>
            <a:pPr marL="219076" indent="-219076" eaLnBrk="1" hangingPunct="1">
              <a:spcAft>
                <a:spcPct val="0"/>
              </a:spcAft>
              <a:buClr>
                <a:schemeClr val="tx1"/>
              </a:buClr>
              <a:buSzPct val="120000"/>
              <a:buFont typeface="Arial" pitchFamily="34" charset="0"/>
              <a:buChar char="•"/>
            </a:pPr>
            <a:r>
              <a:rPr lang="fr-CA" sz="2400" b="1" i="1" dirty="0">
                <a:latin typeface="Arial Narrow" panose="020B0606020202030204" pitchFamily="34" charset="0"/>
                <a:cs typeface="Arial" charset="0"/>
              </a:rPr>
              <a:t>Maladie</a:t>
            </a:r>
            <a:r>
              <a:rPr lang="fr-CA" sz="2400" dirty="0">
                <a:latin typeface="Arial Narrow" panose="020B0606020202030204" pitchFamily="34" charset="0"/>
                <a:cs typeface="Arial" charset="0"/>
              </a:rPr>
              <a:t> </a:t>
            </a:r>
            <a:r>
              <a:rPr lang="fr-CA" sz="2400" b="1" i="1" dirty="0">
                <a:latin typeface="Arial Narrow" panose="020B0606020202030204" pitchFamily="34" charset="0"/>
                <a:cs typeface="Arial" charset="0"/>
              </a:rPr>
              <a:t>hémolytique du nouveau-né, MHNN </a:t>
            </a:r>
          </a:p>
          <a:p>
            <a:pPr marL="219076" indent="-219076" eaLnBrk="1" hangingPunct="1">
              <a:spcAft>
                <a:spcPct val="0"/>
              </a:spcAft>
              <a:buClr>
                <a:schemeClr val="tx1"/>
              </a:buClr>
              <a:buSzPct val="120000"/>
              <a:buNone/>
            </a:pPr>
            <a:r>
              <a:rPr lang="fr-CA" sz="2400" b="1" i="1" dirty="0">
                <a:latin typeface="Arial Narrow" panose="020B0606020202030204" pitchFamily="34" charset="0"/>
                <a:cs typeface="Arial" charset="0"/>
              </a:rPr>
              <a:t>	(Érythroblastose fœtale) </a:t>
            </a:r>
            <a:r>
              <a:rPr lang="fr-CA" sz="2400" b="1" dirty="0">
                <a:latin typeface="Arial Narrow" panose="020B0606020202030204" pitchFamily="34" charset="0"/>
                <a:cs typeface="Arial" charset="0"/>
              </a:rPr>
              <a:t>:</a:t>
            </a:r>
          </a:p>
          <a:p>
            <a:pPr marL="434340" lvl="1" indent="-222886" eaLnBrk="1" hangingPunct="1">
              <a:spcBef>
                <a:spcPts val="720"/>
              </a:spcBef>
              <a:spcAft>
                <a:spcPct val="0"/>
              </a:spcAft>
              <a:buClr>
                <a:schemeClr val="tx1"/>
              </a:buClr>
              <a:buSzPct val="80000"/>
            </a:pPr>
            <a:r>
              <a:rPr lang="fr-CA" sz="1920" dirty="0">
                <a:latin typeface="Arial Narrow" panose="020B0606020202030204" pitchFamily="34" charset="0"/>
                <a:cs typeface="Arial" charset="0"/>
              </a:rPr>
              <a:t>Maladie du fœtus et nouveau-né caractérisée par l’agglutination et la lyse des globules rouges du fœtus.</a:t>
            </a:r>
          </a:p>
          <a:p>
            <a:pPr marL="434340" lvl="1" indent="-222886" eaLnBrk="1" hangingPunct="1">
              <a:spcBef>
                <a:spcPts val="720"/>
              </a:spcBef>
              <a:spcAft>
                <a:spcPct val="0"/>
              </a:spcAft>
              <a:buClr>
                <a:schemeClr val="tx1"/>
              </a:buClr>
              <a:buSzPct val="80000"/>
            </a:pPr>
            <a:r>
              <a:rPr lang="fr-CA" sz="1920" dirty="0">
                <a:latin typeface="Arial Narrow" panose="020B0606020202030204" pitchFamily="34" charset="0"/>
                <a:cs typeface="Arial" charset="0"/>
              </a:rPr>
              <a:t>Conditions responsables de la MHNN :</a:t>
            </a:r>
          </a:p>
          <a:p>
            <a:pPr marL="645796" lvl="2" indent="-211456" eaLnBrk="1" hangingPunct="1">
              <a:spcBef>
                <a:spcPts val="360"/>
              </a:spcBef>
              <a:spcAft>
                <a:spcPct val="0"/>
              </a:spcAft>
              <a:buClr>
                <a:schemeClr val="tx1"/>
              </a:buClr>
              <a:buSzTx/>
              <a:buFont typeface="Arial" pitchFamily="34" charset="0"/>
              <a:buChar char="‒"/>
            </a:pPr>
            <a:r>
              <a:rPr lang="fr-CA" sz="1920" dirty="0">
                <a:latin typeface="Arial Narrow" panose="020B0606020202030204" pitchFamily="34" charset="0"/>
                <a:cs typeface="Arial" charset="0"/>
              </a:rPr>
              <a:t>Une mère Rh</a:t>
            </a:r>
            <a:r>
              <a:rPr lang="fr-CA" sz="1920" baseline="50000" dirty="0">
                <a:latin typeface="Arial Narrow" panose="020B0606020202030204" pitchFamily="34" charset="0"/>
                <a:cs typeface="Arial" charset="0"/>
                <a:sym typeface="Symbol" pitchFamily="18" charset="2"/>
              </a:rPr>
              <a:t></a:t>
            </a:r>
            <a:r>
              <a:rPr lang="fr-CA" sz="1920" dirty="0">
                <a:latin typeface="Arial Narrow" panose="020B0606020202030204" pitchFamily="34" charset="0"/>
                <a:cs typeface="Arial" charset="0"/>
              </a:rPr>
              <a:t> qui porte un fœtus Rh</a:t>
            </a:r>
            <a:r>
              <a:rPr lang="fr-CA" sz="1920" baseline="40000" dirty="0">
                <a:latin typeface="Arial Narrow" panose="020B0606020202030204" pitchFamily="34" charset="0"/>
                <a:cs typeface="Arial" charset="0"/>
              </a:rPr>
              <a:t>+</a:t>
            </a:r>
            <a:r>
              <a:rPr lang="fr-CA" sz="1920" dirty="0">
                <a:latin typeface="Arial Narrow" panose="020B0606020202030204" pitchFamily="34" charset="0"/>
                <a:cs typeface="Arial" charset="0"/>
              </a:rPr>
              <a:t>.</a:t>
            </a:r>
          </a:p>
          <a:p>
            <a:pPr marL="645796" lvl="2" indent="-211456" eaLnBrk="1" hangingPunct="1">
              <a:spcBef>
                <a:spcPts val="360"/>
              </a:spcBef>
              <a:spcAft>
                <a:spcPct val="0"/>
              </a:spcAft>
              <a:buClr>
                <a:schemeClr val="tx1"/>
              </a:buClr>
              <a:buSzTx/>
              <a:buFont typeface="Arial" pitchFamily="34" charset="0"/>
              <a:buChar char="‒"/>
            </a:pPr>
            <a:r>
              <a:rPr lang="fr-CA" sz="1920" dirty="0">
                <a:latin typeface="Arial Narrow" panose="020B0606020202030204" pitchFamily="34" charset="0"/>
                <a:cs typeface="Arial" charset="0"/>
              </a:rPr>
              <a:t>1ère grossesse: normalement sans problème. Cependant, à l’accouchement il y a souvent contact entre le sang de la mère et celui de l’enfant.</a:t>
            </a:r>
          </a:p>
          <a:p>
            <a:pPr marL="645796" lvl="2" indent="0" eaLnBrk="1" hangingPunct="1">
              <a:spcAft>
                <a:spcPct val="0"/>
              </a:spcAft>
              <a:buClr>
                <a:schemeClr val="tx1"/>
              </a:buClr>
              <a:buSzPct val="75000"/>
              <a:buNone/>
            </a:pPr>
            <a:r>
              <a:rPr lang="fr-CA" sz="1920" dirty="0">
                <a:latin typeface="Arial Narrow" panose="020B0606020202030204" pitchFamily="34" charset="0"/>
                <a:cs typeface="Arial" charset="0"/>
                <a:sym typeface="Symbol" pitchFamily="18" charset="2"/>
              </a:rPr>
              <a:t></a:t>
            </a:r>
            <a:r>
              <a:rPr lang="fr-CA" sz="1920" dirty="0">
                <a:latin typeface="Arial Narrow" panose="020B0606020202030204" pitchFamily="34" charset="0"/>
                <a:cs typeface="Arial" charset="0"/>
              </a:rPr>
              <a:t> Production d’anti-Rh par la mère</a:t>
            </a:r>
          </a:p>
          <a:p>
            <a:pPr marL="645796" lvl="2" indent="-211456" eaLnBrk="1" hangingPunct="1">
              <a:spcBef>
                <a:spcPts val="360"/>
              </a:spcBef>
              <a:spcAft>
                <a:spcPct val="0"/>
              </a:spcAft>
              <a:buClr>
                <a:schemeClr val="tx1"/>
              </a:buClr>
              <a:buSzTx/>
              <a:buFont typeface="Arial" pitchFamily="34" charset="0"/>
              <a:buChar char="‒"/>
            </a:pPr>
            <a:r>
              <a:rPr lang="fr-CA" sz="1920" dirty="0">
                <a:latin typeface="Arial Narrow" panose="020B0606020202030204" pitchFamily="34" charset="0"/>
                <a:cs typeface="Arial" charset="0"/>
              </a:rPr>
              <a:t>2ème grossesse d’un fœtus Rh</a:t>
            </a:r>
            <a:r>
              <a:rPr lang="fr-CA" sz="1920" baseline="40000" dirty="0">
                <a:latin typeface="Arial Narrow" panose="020B0606020202030204" pitchFamily="34" charset="0"/>
                <a:cs typeface="Arial" charset="0"/>
              </a:rPr>
              <a:t>+</a:t>
            </a:r>
            <a:r>
              <a:rPr lang="fr-CA" sz="1920" dirty="0">
                <a:latin typeface="Arial Narrow" panose="020B0606020202030204" pitchFamily="34" charset="0"/>
                <a:cs typeface="Arial" charset="0"/>
              </a:rPr>
              <a:t>:  les agglutinines anti-Rh traversent le placenta et attaquent le sang du fœtus.</a:t>
            </a:r>
          </a:p>
          <a:p>
            <a:pPr marL="645796" lvl="2" indent="0" eaLnBrk="1" hangingPunct="1">
              <a:spcAft>
                <a:spcPct val="20000"/>
              </a:spcAft>
              <a:buClr>
                <a:schemeClr val="tx1"/>
              </a:buClr>
              <a:buSzPct val="75000"/>
              <a:buNone/>
            </a:pPr>
            <a:r>
              <a:rPr lang="fr-CA" sz="1920" dirty="0">
                <a:latin typeface="Arial Narrow" panose="020B0606020202030204" pitchFamily="34" charset="0"/>
                <a:cs typeface="Arial" charset="0"/>
                <a:sym typeface="Symbol" pitchFamily="18" charset="2"/>
              </a:rPr>
              <a:t></a:t>
            </a:r>
            <a:r>
              <a:rPr lang="fr-CA" sz="1920" dirty="0">
                <a:latin typeface="Arial Narrow" panose="020B0606020202030204" pitchFamily="34" charset="0"/>
                <a:cs typeface="Arial" charset="0"/>
              </a:rPr>
              <a:t> MHNN</a:t>
            </a:r>
          </a:p>
          <a:p>
            <a:pPr marL="434340" lvl="1" indent="-222886" eaLnBrk="1" hangingPunct="1">
              <a:spcBef>
                <a:spcPts val="720"/>
              </a:spcBef>
              <a:spcAft>
                <a:spcPct val="0"/>
              </a:spcAft>
              <a:buClr>
                <a:schemeClr val="tx1"/>
              </a:buClr>
              <a:buSzPct val="80000"/>
            </a:pPr>
            <a:r>
              <a:rPr lang="fr-CA" sz="1920" dirty="0">
                <a:latin typeface="Arial Narrow" panose="020B0606020202030204" pitchFamily="34" charset="0"/>
                <a:cs typeface="Arial" charset="0"/>
              </a:rPr>
              <a:t>Prévention de la MHNN :</a:t>
            </a:r>
          </a:p>
          <a:p>
            <a:pPr marL="434340" lvl="2" indent="0" eaLnBrk="1" hangingPunct="1">
              <a:spcAft>
                <a:spcPct val="0"/>
              </a:spcAft>
              <a:buClr>
                <a:schemeClr val="tx1"/>
              </a:buClr>
              <a:buSzPct val="75000"/>
              <a:buNone/>
            </a:pPr>
            <a:r>
              <a:rPr lang="fr-CA" sz="1920" dirty="0">
                <a:latin typeface="Arial Narrow" panose="020B0606020202030204" pitchFamily="34" charset="0"/>
                <a:cs typeface="Arial" charset="0"/>
              </a:rPr>
              <a:t>Par l’injection d’anticorps anti-Rh (appelés </a:t>
            </a:r>
            <a:r>
              <a:rPr lang="fr-CA" sz="1920" i="1" dirty="0" err="1">
                <a:latin typeface="Arial Narrow" panose="020B0606020202030204" pitchFamily="34" charset="0"/>
                <a:cs typeface="Arial" charset="0"/>
              </a:rPr>
              <a:t>RhoGAM</a:t>
            </a:r>
            <a:r>
              <a:rPr lang="fr-CA" sz="1920" dirty="0">
                <a:latin typeface="Arial Narrow" panose="020B0606020202030204" pitchFamily="34" charset="0"/>
                <a:cs typeface="Arial" charset="0"/>
              </a:rPr>
              <a:t>) à la mère Rh</a:t>
            </a:r>
            <a:r>
              <a:rPr lang="fr-CA" sz="1920" baseline="50000" dirty="0">
                <a:latin typeface="Arial Narrow" panose="020B0606020202030204" pitchFamily="34" charset="0"/>
                <a:cs typeface="Arial" charset="0"/>
                <a:sym typeface="Symbol" pitchFamily="18" charset="2"/>
              </a:rPr>
              <a:t></a:t>
            </a:r>
            <a:r>
              <a:rPr lang="fr-CA" sz="1920" dirty="0">
                <a:latin typeface="Arial Narrow" panose="020B0606020202030204" pitchFamily="34" charset="0"/>
                <a:cs typeface="Arial" charset="0"/>
              </a:rPr>
              <a:t> avant ou tout de suite après un accouchement, une fausse-couche ou un avortement.</a:t>
            </a:r>
          </a:p>
          <a:p>
            <a:pPr marL="750570" lvl="1" indent="-318136" eaLnBrk="1" hangingPunct="1">
              <a:spcBef>
                <a:spcPts val="360"/>
              </a:spcBef>
              <a:spcAft>
                <a:spcPct val="0"/>
              </a:spcAft>
              <a:buClr>
                <a:schemeClr val="tx1"/>
              </a:buClr>
              <a:buSzPct val="100000"/>
              <a:buFont typeface="Symbol"/>
              <a:buChar char="®"/>
            </a:pPr>
            <a:r>
              <a:rPr lang="fr-CA" sz="1920" dirty="0">
                <a:latin typeface="Arial Narrow" panose="020B0606020202030204" pitchFamily="34" charset="0"/>
                <a:cs typeface="Arial" charset="0"/>
              </a:rPr>
              <a:t>Les anticorps </a:t>
            </a:r>
            <a:r>
              <a:rPr lang="fr-CA" sz="1920" dirty="0" err="1">
                <a:latin typeface="Arial Narrow" panose="020B0606020202030204" pitchFamily="34" charset="0"/>
                <a:cs typeface="Arial" charset="0"/>
              </a:rPr>
              <a:t>RhoGAM</a:t>
            </a:r>
            <a:r>
              <a:rPr lang="fr-CA" sz="1920" dirty="0">
                <a:latin typeface="Arial Narrow" panose="020B0606020202030204" pitchFamily="34" charset="0"/>
                <a:cs typeface="Arial" charset="0"/>
              </a:rPr>
              <a:t> se lient et inactivent les agglutinogènes Rh du bébé.</a:t>
            </a:r>
          </a:p>
          <a:p>
            <a:pPr marL="750570" lvl="1" indent="-318136" eaLnBrk="1" hangingPunct="1">
              <a:spcBef>
                <a:spcPts val="360"/>
              </a:spcBef>
              <a:spcAft>
                <a:spcPct val="0"/>
              </a:spcAft>
              <a:buClr>
                <a:schemeClr val="tx1"/>
              </a:buClr>
              <a:buSzPct val="100000"/>
              <a:buFont typeface="Symbol"/>
              <a:buChar char="®"/>
            </a:pPr>
            <a:r>
              <a:rPr lang="fr-CA" sz="1920" dirty="0">
                <a:latin typeface="Arial Narrow" panose="020B0606020202030204" pitchFamily="34" charset="0"/>
                <a:cs typeface="Arial" charset="0"/>
              </a:rPr>
              <a:t>Le système immunitaire n’est pas sensibilisé.</a:t>
            </a:r>
          </a:p>
        </p:txBody>
      </p:sp>
    </p:spTree>
    <p:extLst>
      <p:ext uri="{BB962C8B-B14F-4D97-AF65-F5344CB8AC3E}">
        <p14:creationId xmlns:p14="http://schemas.microsoft.com/office/powerpoint/2010/main" val="42860175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IW_IMAGE_TITLE" val="c:\my documents\gtk_ppt\hap7_jpegs\17_artpresentation\17-14erythfibrin_l.jpg"/>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8. Métabolisme Lecture3_Video">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8. Métabolisme Lecture3_Video</Template>
  <TotalTime>2763</TotalTime>
  <Words>5483</Words>
  <Application>Microsoft Office PowerPoint</Application>
  <PresentationFormat>Custom</PresentationFormat>
  <Paragraphs>438</Paragraphs>
  <Slides>32</Slides>
  <Notes>32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Arial Narrow</vt:lpstr>
      <vt:lpstr>Calibri</vt:lpstr>
      <vt:lpstr>Constantia</vt:lpstr>
      <vt:lpstr>Symbol</vt:lpstr>
      <vt:lpstr>Times New Roman</vt:lpstr>
      <vt:lpstr>Verdana</vt:lpstr>
      <vt:lpstr>Wingdings</vt:lpstr>
      <vt:lpstr>Wingdings 2</vt:lpstr>
      <vt:lpstr>8. Métabolisme Lecture3_Video</vt:lpstr>
      <vt:lpstr>Chapitre 17</vt:lpstr>
      <vt:lpstr>Objectifs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LE SYSTÈME Rh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24</dc:title>
  <dc:creator>Medtech</dc:creator>
  <cp:lastModifiedBy>Simon Lemaire</cp:lastModifiedBy>
  <cp:revision>196</cp:revision>
  <dcterms:created xsi:type="dcterms:W3CDTF">2014-01-29T18:31:35Z</dcterms:created>
  <dcterms:modified xsi:type="dcterms:W3CDTF">2022-01-04T14:28:06Z</dcterms:modified>
</cp:coreProperties>
</file>