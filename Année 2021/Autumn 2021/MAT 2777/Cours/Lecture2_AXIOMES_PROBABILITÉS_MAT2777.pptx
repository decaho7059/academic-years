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32"/>
  </p:notesMasterIdLst>
  <p:sldIdLst>
    <p:sldId id="287" r:id="rId2"/>
    <p:sldId id="288" r:id="rId3"/>
    <p:sldId id="289" r:id="rId4"/>
    <p:sldId id="290" r:id="rId5"/>
    <p:sldId id="291" r:id="rId6"/>
    <p:sldId id="292" r:id="rId7"/>
    <p:sldId id="29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4" r:id="rId24"/>
    <p:sldId id="279" r:id="rId25"/>
    <p:sldId id="280" r:id="rId26"/>
    <p:sldId id="281" r:id="rId27"/>
    <p:sldId id="282" r:id="rId28"/>
    <p:sldId id="283" r:id="rId29"/>
    <p:sldId id="285" r:id="rId30"/>
    <p:sldId id="28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57" autoAdjust="0"/>
  </p:normalViewPr>
  <p:slideViewPr>
    <p:cSldViewPr snapToGrid="0">
      <p:cViewPr varScale="1">
        <p:scale>
          <a:sx n="99" d="100"/>
          <a:sy n="99" d="100"/>
        </p:scale>
        <p:origin x="99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2021-09-14</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10</a:t>
            </a:fld>
            <a:endParaRPr lang="fr-CA"/>
          </a:p>
        </p:txBody>
      </p:sp>
    </p:spTree>
    <p:extLst>
      <p:ext uri="{BB962C8B-B14F-4D97-AF65-F5344CB8AC3E}">
        <p14:creationId xmlns:p14="http://schemas.microsoft.com/office/powerpoint/2010/main" val="2279676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13</a:t>
            </a:fld>
            <a:endParaRPr lang="fr-CA"/>
          </a:p>
        </p:txBody>
      </p:sp>
    </p:spTree>
    <p:extLst>
      <p:ext uri="{BB962C8B-B14F-4D97-AF65-F5344CB8AC3E}">
        <p14:creationId xmlns:p14="http://schemas.microsoft.com/office/powerpoint/2010/main" val="2753642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15</a:t>
            </a:fld>
            <a:endParaRPr lang="fr-CA"/>
          </a:p>
        </p:txBody>
      </p:sp>
    </p:spTree>
    <p:extLst>
      <p:ext uri="{BB962C8B-B14F-4D97-AF65-F5344CB8AC3E}">
        <p14:creationId xmlns:p14="http://schemas.microsoft.com/office/powerpoint/2010/main" val="3571791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16</a:t>
            </a:fld>
            <a:endParaRPr lang="fr-CA"/>
          </a:p>
        </p:txBody>
      </p:sp>
    </p:spTree>
    <p:extLst>
      <p:ext uri="{BB962C8B-B14F-4D97-AF65-F5344CB8AC3E}">
        <p14:creationId xmlns:p14="http://schemas.microsoft.com/office/powerpoint/2010/main" val="1316692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17</a:t>
            </a:fld>
            <a:endParaRPr lang="fr-CA"/>
          </a:p>
        </p:txBody>
      </p:sp>
    </p:spTree>
    <p:extLst>
      <p:ext uri="{BB962C8B-B14F-4D97-AF65-F5344CB8AC3E}">
        <p14:creationId xmlns:p14="http://schemas.microsoft.com/office/powerpoint/2010/main" val="3591120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24</a:t>
            </a:fld>
            <a:endParaRPr lang="fr-CA"/>
          </a:p>
        </p:txBody>
      </p:sp>
    </p:spTree>
    <p:extLst>
      <p:ext uri="{BB962C8B-B14F-4D97-AF65-F5344CB8AC3E}">
        <p14:creationId xmlns:p14="http://schemas.microsoft.com/office/powerpoint/2010/main" val="753304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26</a:t>
            </a:fld>
            <a:endParaRPr lang="fr-CA"/>
          </a:p>
        </p:txBody>
      </p:sp>
    </p:spTree>
    <p:extLst>
      <p:ext uri="{BB962C8B-B14F-4D97-AF65-F5344CB8AC3E}">
        <p14:creationId xmlns:p14="http://schemas.microsoft.com/office/powerpoint/2010/main" val="2522753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2021-09-14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2021-09-14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2021-09-14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2021-09-14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2021-09-14</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2021-09-14</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2021-09-14</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2021-09-14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2021-09-14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2021-09-14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2021-09-14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2021-09-14</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7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24BE47CA-C92A-4119-B518-BBC1471F86B9}"/>
                  </a:ext>
                </a:extLst>
              </p:cNvPr>
              <p:cNvSpPr>
                <a:spLocks noGrp="1"/>
              </p:cNvSpPr>
              <p:nvPr>
                <p:ph type="title"/>
              </p:nvPr>
            </p:nvSpPr>
            <p:spPr>
              <a:xfrm>
                <a:off x="-143691" y="365125"/>
                <a:ext cx="12239897" cy="2286635"/>
              </a:xfrm>
            </p:spPr>
            <p:txBody>
              <a:bodyPr>
                <a:normAutofit/>
              </a:bodyPr>
              <a:lstStyle/>
              <a:p>
                <a:pPr/>
                <a:r>
                  <a:rPr lang="fr-CA" dirty="0"/>
                  <a:t>P3: Lorsqu’on a 3 événements.</a:t>
                </a:r>
                <a:br>
                  <a:rPr lang="fr-CA" dirty="0"/>
                </a:b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𝐶</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𝐵</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𝐶</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e>
                      </m:d>
                    </m:oMath>
                    <m:oMath xmlns:m="http://schemas.openxmlformats.org/officeDocument/2006/math">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𝐶</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𝐵</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𝐶</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𝐴</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𝐶</m:t>
                      </m:r>
                      <m:r>
                        <a:rPr lang="fr-CA" b="0" i="1" smtClean="0">
                          <a:latin typeface="Cambria Math" panose="02040503050406030204" pitchFamily="18" charset="0"/>
                          <a:ea typeface="Cambria Math" panose="02040503050406030204" pitchFamily="18" charset="0"/>
                        </a:rPr>
                        <m:t>)</m:t>
                      </m:r>
                    </m:oMath>
                  </m:oMathPara>
                </a14:m>
                <a:endParaRPr lang="fr-CA" dirty="0"/>
              </a:p>
            </p:txBody>
          </p:sp>
        </mc:Choice>
        <mc:Fallback xmlns="">
          <p:sp>
            <p:nvSpPr>
              <p:cNvPr id="2" name="Titre 1">
                <a:extLst>
                  <a:ext uri="{FF2B5EF4-FFF2-40B4-BE49-F238E27FC236}">
                    <a16:creationId xmlns:a16="http://schemas.microsoft.com/office/drawing/2014/main" id="{24BE47CA-C92A-4119-B518-BBC1471F86B9}"/>
                  </a:ext>
                </a:extLst>
              </p:cNvPr>
              <p:cNvSpPr>
                <a:spLocks noGrp="1" noRot="1" noChangeAspect="1" noMove="1" noResize="1" noEditPoints="1" noAdjustHandles="1" noChangeArrowheads="1" noChangeShapeType="1" noTextEdit="1"/>
              </p:cNvSpPr>
              <p:nvPr>
                <p:ph type="title"/>
              </p:nvPr>
            </p:nvSpPr>
            <p:spPr>
              <a:xfrm>
                <a:off x="-143691" y="365125"/>
                <a:ext cx="12239897" cy="2286635"/>
              </a:xfrm>
              <a:blipFill>
                <a:blip r:embed="rId2"/>
                <a:stretch>
                  <a:fillRect l="-1992"/>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B36C683C-FC4F-44A0-8FFC-03A0B382396E}"/>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97411200-8545-44CD-B95A-871D562C0620}"/>
              </a:ext>
            </a:extLst>
          </p:cNvPr>
          <p:cNvSpPr>
            <a:spLocks noGrp="1"/>
          </p:cNvSpPr>
          <p:nvPr>
            <p:ph type="sldNum" sz="quarter" idx="12"/>
          </p:nvPr>
        </p:nvSpPr>
        <p:spPr/>
        <p:txBody>
          <a:bodyPr/>
          <a:lstStyle/>
          <a:p>
            <a:fld id="{26377AD9-CE17-438C-A638-C64D2D42D7CF}" type="slidenum">
              <a:rPr lang="fr-CA" smtClean="0"/>
              <a:t>1</a:t>
            </a:fld>
            <a:endParaRPr lang="fr-CA"/>
          </a:p>
        </p:txBody>
      </p:sp>
      <p:sp>
        <p:nvSpPr>
          <p:cNvPr id="5" name="Rectangle 4">
            <a:extLst>
              <a:ext uri="{FF2B5EF4-FFF2-40B4-BE49-F238E27FC236}">
                <a16:creationId xmlns:a16="http://schemas.microsoft.com/office/drawing/2014/main" id="{D13C9311-B13F-42F2-A799-A23CB1C647A3}"/>
              </a:ext>
            </a:extLst>
          </p:cNvPr>
          <p:cNvSpPr/>
          <p:nvPr/>
        </p:nvSpPr>
        <p:spPr>
          <a:xfrm>
            <a:off x="1907177" y="3122023"/>
            <a:ext cx="6975566" cy="26125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6" name="Ellipse 5">
            <a:extLst>
              <a:ext uri="{FF2B5EF4-FFF2-40B4-BE49-F238E27FC236}">
                <a16:creationId xmlns:a16="http://schemas.microsoft.com/office/drawing/2014/main" id="{267D9191-9ACC-425F-B276-21277275FA69}"/>
              </a:ext>
            </a:extLst>
          </p:cNvPr>
          <p:cNvSpPr/>
          <p:nvPr/>
        </p:nvSpPr>
        <p:spPr>
          <a:xfrm>
            <a:off x="3174274" y="3722914"/>
            <a:ext cx="1998617" cy="8621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7" name="Ellipse 6">
            <a:extLst>
              <a:ext uri="{FF2B5EF4-FFF2-40B4-BE49-F238E27FC236}">
                <a16:creationId xmlns:a16="http://schemas.microsoft.com/office/drawing/2014/main" id="{3CEDD146-52E1-4703-87E8-5ABECB6AC4AB}"/>
              </a:ext>
            </a:extLst>
          </p:cNvPr>
          <p:cNvSpPr/>
          <p:nvPr/>
        </p:nvSpPr>
        <p:spPr>
          <a:xfrm>
            <a:off x="4493623" y="3722914"/>
            <a:ext cx="2690949" cy="862149"/>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CA"/>
          </a:p>
        </p:txBody>
      </p:sp>
      <p:sp>
        <p:nvSpPr>
          <p:cNvPr id="8" name="Ellipse 7">
            <a:extLst>
              <a:ext uri="{FF2B5EF4-FFF2-40B4-BE49-F238E27FC236}">
                <a16:creationId xmlns:a16="http://schemas.microsoft.com/office/drawing/2014/main" id="{BFD4A1AE-6AB5-41B0-91E0-EF7178768440}"/>
              </a:ext>
            </a:extLst>
          </p:cNvPr>
          <p:cNvSpPr/>
          <p:nvPr/>
        </p:nvSpPr>
        <p:spPr>
          <a:xfrm>
            <a:off x="4441371" y="4284617"/>
            <a:ext cx="731520" cy="13324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CA"/>
          </a:p>
        </p:txBody>
      </p:sp>
      <p:sp>
        <p:nvSpPr>
          <p:cNvPr id="9" name="Forme libre : forme 8">
            <a:extLst>
              <a:ext uri="{FF2B5EF4-FFF2-40B4-BE49-F238E27FC236}">
                <a16:creationId xmlns:a16="http://schemas.microsoft.com/office/drawing/2014/main" id="{10FBE434-A46D-455E-8352-3954721B3E5B}"/>
              </a:ext>
            </a:extLst>
          </p:cNvPr>
          <p:cNvSpPr/>
          <p:nvPr/>
        </p:nvSpPr>
        <p:spPr>
          <a:xfrm>
            <a:off x="4572000" y="3840480"/>
            <a:ext cx="391886" cy="744583"/>
          </a:xfrm>
          <a:custGeom>
            <a:avLst/>
            <a:gdLst>
              <a:gd name="connsiteX0" fmla="*/ 352697 w 391886"/>
              <a:gd name="connsiteY0" fmla="*/ 0 h 744583"/>
              <a:gd name="connsiteX1" fmla="*/ 378823 w 391886"/>
              <a:gd name="connsiteY1" fmla="*/ 65314 h 744583"/>
              <a:gd name="connsiteX2" fmla="*/ 391886 w 391886"/>
              <a:gd name="connsiteY2" fmla="*/ 104503 h 744583"/>
              <a:gd name="connsiteX3" fmla="*/ 378823 w 391886"/>
              <a:gd name="connsiteY3" fmla="*/ 378823 h 744583"/>
              <a:gd name="connsiteX4" fmla="*/ 352697 w 391886"/>
              <a:gd name="connsiteY4" fmla="*/ 457200 h 744583"/>
              <a:gd name="connsiteX5" fmla="*/ 313509 w 391886"/>
              <a:gd name="connsiteY5" fmla="*/ 496389 h 744583"/>
              <a:gd name="connsiteX6" fmla="*/ 248194 w 391886"/>
              <a:gd name="connsiteY6" fmla="*/ 561703 h 744583"/>
              <a:gd name="connsiteX7" fmla="*/ 222069 w 391886"/>
              <a:gd name="connsiteY7" fmla="*/ 600891 h 744583"/>
              <a:gd name="connsiteX8" fmla="*/ 143691 w 391886"/>
              <a:gd name="connsiteY8" fmla="*/ 640080 h 744583"/>
              <a:gd name="connsiteX9" fmla="*/ 117566 w 391886"/>
              <a:gd name="connsiteY9" fmla="*/ 679269 h 744583"/>
              <a:gd name="connsiteX10" fmla="*/ 0 w 391886"/>
              <a:gd name="connsiteY10" fmla="*/ 731520 h 744583"/>
              <a:gd name="connsiteX11" fmla="*/ 0 w 391886"/>
              <a:gd name="connsiteY11" fmla="*/ 744583 h 74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1886" h="744583">
                <a:moveTo>
                  <a:pt x="352697" y="0"/>
                </a:moveTo>
                <a:cubicBezTo>
                  <a:pt x="361406" y="21771"/>
                  <a:pt x="370590" y="43359"/>
                  <a:pt x="378823" y="65314"/>
                </a:cubicBezTo>
                <a:cubicBezTo>
                  <a:pt x="383658" y="78207"/>
                  <a:pt x="391886" y="90733"/>
                  <a:pt x="391886" y="104503"/>
                </a:cubicBezTo>
                <a:cubicBezTo>
                  <a:pt x="391886" y="196047"/>
                  <a:pt x="388932" y="287839"/>
                  <a:pt x="378823" y="378823"/>
                </a:cubicBezTo>
                <a:cubicBezTo>
                  <a:pt x="375782" y="406193"/>
                  <a:pt x="372170" y="437727"/>
                  <a:pt x="352697" y="457200"/>
                </a:cubicBezTo>
                <a:cubicBezTo>
                  <a:pt x="339634" y="470263"/>
                  <a:pt x="325336" y="482197"/>
                  <a:pt x="313509" y="496389"/>
                </a:cubicBezTo>
                <a:cubicBezTo>
                  <a:pt x="259082" y="561701"/>
                  <a:pt x="320038" y="513807"/>
                  <a:pt x="248194" y="561703"/>
                </a:cubicBezTo>
                <a:cubicBezTo>
                  <a:pt x="239486" y="574766"/>
                  <a:pt x="233170" y="589790"/>
                  <a:pt x="222069" y="600891"/>
                </a:cubicBezTo>
                <a:cubicBezTo>
                  <a:pt x="196746" y="626214"/>
                  <a:pt x="175564" y="629456"/>
                  <a:pt x="143691" y="640080"/>
                </a:cubicBezTo>
                <a:cubicBezTo>
                  <a:pt x="134983" y="653143"/>
                  <a:pt x="130879" y="670948"/>
                  <a:pt x="117566" y="679269"/>
                </a:cubicBezTo>
                <a:cubicBezTo>
                  <a:pt x="48578" y="722387"/>
                  <a:pt x="48259" y="683261"/>
                  <a:pt x="0" y="731520"/>
                </a:cubicBezTo>
                <a:lnTo>
                  <a:pt x="0" y="744583"/>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 name="Forme libre : forme 9">
            <a:extLst>
              <a:ext uri="{FF2B5EF4-FFF2-40B4-BE49-F238E27FC236}">
                <a16:creationId xmlns:a16="http://schemas.microsoft.com/office/drawing/2014/main" id="{851C6A13-100C-4E4A-82DA-9B5F840DABFD}"/>
              </a:ext>
            </a:extLst>
          </p:cNvPr>
          <p:cNvSpPr/>
          <p:nvPr/>
        </p:nvSpPr>
        <p:spPr>
          <a:xfrm>
            <a:off x="4611189" y="4323806"/>
            <a:ext cx="432728" cy="185679"/>
          </a:xfrm>
          <a:custGeom>
            <a:avLst/>
            <a:gdLst>
              <a:gd name="connsiteX0" fmla="*/ 39188 w 432728"/>
              <a:gd name="connsiteY0" fmla="*/ 13063 h 185679"/>
              <a:gd name="connsiteX1" fmla="*/ 182880 w 432728"/>
              <a:gd name="connsiteY1" fmla="*/ 104503 h 185679"/>
              <a:gd name="connsiteX2" fmla="*/ 222068 w 432728"/>
              <a:gd name="connsiteY2" fmla="*/ 130628 h 185679"/>
              <a:gd name="connsiteX3" fmla="*/ 261257 w 432728"/>
              <a:gd name="connsiteY3" fmla="*/ 156754 h 185679"/>
              <a:gd name="connsiteX4" fmla="*/ 391885 w 432728"/>
              <a:gd name="connsiteY4" fmla="*/ 169817 h 185679"/>
              <a:gd name="connsiteX5" fmla="*/ 431074 w 432728"/>
              <a:gd name="connsiteY5" fmla="*/ 182880 h 185679"/>
              <a:gd name="connsiteX6" fmla="*/ 274320 w 432728"/>
              <a:gd name="connsiteY6" fmla="*/ 104503 h 185679"/>
              <a:gd name="connsiteX7" fmla="*/ 195942 w 432728"/>
              <a:gd name="connsiteY7" fmla="*/ 78377 h 185679"/>
              <a:gd name="connsiteX8" fmla="*/ 156754 w 432728"/>
              <a:gd name="connsiteY8" fmla="*/ 65314 h 185679"/>
              <a:gd name="connsiteX9" fmla="*/ 117565 w 432728"/>
              <a:gd name="connsiteY9" fmla="*/ 52251 h 185679"/>
              <a:gd name="connsiteX10" fmla="*/ 0 w 432728"/>
              <a:gd name="connsiteY10" fmla="*/ 0 h 185679"/>
              <a:gd name="connsiteX11" fmla="*/ 39188 w 432728"/>
              <a:gd name="connsiteY11" fmla="*/ 13063 h 185679"/>
              <a:gd name="connsiteX12" fmla="*/ 78377 w 432728"/>
              <a:gd name="connsiteY12" fmla="*/ 26125 h 185679"/>
              <a:gd name="connsiteX13" fmla="*/ 195942 w 432728"/>
              <a:gd name="connsiteY13" fmla="*/ 104503 h 185679"/>
              <a:gd name="connsiteX14" fmla="*/ 235131 w 432728"/>
              <a:gd name="connsiteY14" fmla="*/ 130628 h 185679"/>
              <a:gd name="connsiteX15" fmla="*/ 313508 w 432728"/>
              <a:gd name="connsiteY15" fmla="*/ 156754 h 185679"/>
              <a:gd name="connsiteX16" fmla="*/ 352697 w 432728"/>
              <a:gd name="connsiteY16" fmla="*/ 169817 h 185679"/>
              <a:gd name="connsiteX17" fmla="*/ 431074 w 432728"/>
              <a:gd name="connsiteY17" fmla="*/ 169817 h 18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2728" h="185679">
                <a:moveTo>
                  <a:pt x="39188" y="13063"/>
                </a:moveTo>
                <a:cubicBezTo>
                  <a:pt x="131430" y="68408"/>
                  <a:pt x="83372" y="38165"/>
                  <a:pt x="182880" y="104503"/>
                </a:cubicBezTo>
                <a:lnTo>
                  <a:pt x="222068" y="130628"/>
                </a:lnTo>
                <a:cubicBezTo>
                  <a:pt x="235131" y="139337"/>
                  <a:pt x="245635" y="155192"/>
                  <a:pt x="261257" y="156754"/>
                </a:cubicBezTo>
                <a:lnTo>
                  <a:pt x="391885" y="169817"/>
                </a:lnTo>
                <a:cubicBezTo>
                  <a:pt x="404948" y="174171"/>
                  <a:pt x="440810" y="192617"/>
                  <a:pt x="431074" y="182880"/>
                </a:cubicBezTo>
                <a:cubicBezTo>
                  <a:pt x="380428" y="132233"/>
                  <a:pt x="338067" y="125752"/>
                  <a:pt x="274320" y="104503"/>
                </a:cubicBezTo>
                <a:lnTo>
                  <a:pt x="195942" y="78377"/>
                </a:lnTo>
                <a:lnTo>
                  <a:pt x="156754" y="65314"/>
                </a:lnTo>
                <a:lnTo>
                  <a:pt x="117565" y="52251"/>
                </a:lnTo>
                <a:cubicBezTo>
                  <a:pt x="55466" y="10851"/>
                  <a:pt x="93266" y="31086"/>
                  <a:pt x="0" y="0"/>
                </a:cubicBezTo>
                <a:lnTo>
                  <a:pt x="39188" y="13063"/>
                </a:lnTo>
                <a:lnTo>
                  <a:pt x="78377" y="26125"/>
                </a:lnTo>
                <a:lnTo>
                  <a:pt x="195942" y="104503"/>
                </a:lnTo>
                <a:cubicBezTo>
                  <a:pt x="209005" y="113212"/>
                  <a:pt x="220237" y="125663"/>
                  <a:pt x="235131" y="130628"/>
                </a:cubicBezTo>
                <a:lnTo>
                  <a:pt x="313508" y="156754"/>
                </a:lnTo>
                <a:cubicBezTo>
                  <a:pt x="326571" y="161108"/>
                  <a:pt x="338927" y="169817"/>
                  <a:pt x="352697" y="169817"/>
                </a:cubicBezTo>
                <a:lnTo>
                  <a:pt x="431074" y="169817"/>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ZoneTexte 10">
            <a:extLst>
              <a:ext uri="{FF2B5EF4-FFF2-40B4-BE49-F238E27FC236}">
                <a16:creationId xmlns:a16="http://schemas.microsoft.com/office/drawing/2014/main" id="{F60532A1-61DF-46D6-A60D-D06BF4F99F65}"/>
              </a:ext>
            </a:extLst>
          </p:cNvPr>
          <p:cNvSpPr txBox="1"/>
          <p:nvPr/>
        </p:nvSpPr>
        <p:spPr>
          <a:xfrm>
            <a:off x="3344091" y="3429000"/>
            <a:ext cx="694509" cy="369332"/>
          </a:xfrm>
          <a:prstGeom prst="rect">
            <a:avLst/>
          </a:prstGeom>
          <a:noFill/>
        </p:spPr>
        <p:txBody>
          <a:bodyPr wrap="square" rtlCol="0">
            <a:spAutoFit/>
          </a:bodyPr>
          <a:lstStyle/>
          <a:p>
            <a:r>
              <a:rPr lang="fr-CA" dirty="0"/>
              <a:t>A</a:t>
            </a:r>
          </a:p>
        </p:txBody>
      </p:sp>
      <p:sp>
        <p:nvSpPr>
          <p:cNvPr id="12" name="ZoneTexte 11">
            <a:extLst>
              <a:ext uri="{FF2B5EF4-FFF2-40B4-BE49-F238E27FC236}">
                <a16:creationId xmlns:a16="http://schemas.microsoft.com/office/drawing/2014/main" id="{7F4B6905-C8F1-4B49-B97F-228F510F1102}"/>
              </a:ext>
            </a:extLst>
          </p:cNvPr>
          <p:cNvSpPr txBox="1"/>
          <p:nvPr/>
        </p:nvSpPr>
        <p:spPr>
          <a:xfrm>
            <a:off x="6622869" y="3429000"/>
            <a:ext cx="822960" cy="369332"/>
          </a:xfrm>
          <a:prstGeom prst="rect">
            <a:avLst/>
          </a:prstGeom>
          <a:noFill/>
        </p:spPr>
        <p:txBody>
          <a:bodyPr wrap="square" rtlCol="0">
            <a:spAutoFit/>
          </a:bodyPr>
          <a:lstStyle/>
          <a:p>
            <a:r>
              <a:rPr lang="fr-CA" dirty="0"/>
              <a:t>B</a:t>
            </a:r>
          </a:p>
        </p:txBody>
      </p:sp>
      <p:sp>
        <p:nvSpPr>
          <p:cNvPr id="13" name="ZoneTexte 12">
            <a:extLst>
              <a:ext uri="{FF2B5EF4-FFF2-40B4-BE49-F238E27FC236}">
                <a16:creationId xmlns:a16="http://schemas.microsoft.com/office/drawing/2014/main" id="{91C560C8-4568-4283-A5B4-0903A2AB0BF8}"/>
              </a:ext>
            </a:extLst>
          </p:cNvPr>
          <p:cNvSpPr txBox="1"/>
          <p:nvPr/>
        </p:nvSpPr>
        <p:spPr>
          <a:xfrm>
            <a:off x="5394960" y="5212080"/>
            <a:ext cx="701040" cy="369332"/>
          </a:xfrm>
          <a:prstGeom prst="rect">
            <a:avLst/>
          </a:prstGeom>
          <a:noFill/>
        </p:spPr>
        <p:txBody>
          <a:bodyPr wrap="square" rtlCol="0">
            <a:spAutoFit/>
          </a:bodyPr>
          <a:lstStyle/>
          <a:p>
            <a:r>
              <a:rPr lang="fr-CA" dirty="0"/>
              <a:t>C</a:t>
            </a:r>
          </a:p>
        </p:txBody>
      </p:sp>
    </p:spTree>
    <p:extLst>
      <p:ext uri="{BB962C8B-B14F-4D97-AF65-F5344CB8AC3E}">
        <p14:creationId xmlns:p14="http://schemas.microsoft.com/office/powerpoint/2010/main" val="798327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1426C87-E6D8-4203-AAC9-B4E0844FB779}"/>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EXEMPLE 1:</a:t>
            </a:r>
          </a:p>
        </p:txBody>
      </p:sp>
      <p:sp>
        <p:nvSpPr>
          <p:cNvPr id="3" name="Espace réservé du pied de page 2">
            <a:extLst>
              <a:ext uri="{FF2B5EF4-FFF2-40B4-BE49-F238E27FC236}">
                <a16:creationId xmlns:a16="http://schemas.microsoft.com/office/drawing/2014/main" id="{773C9C13-DF18-4189-BC11-B10084A14AD1}"/>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defTabSz="914400"/>
            <a:endParaRPr lang="en-US" sz="1100" kern="1200">
              <a:solidFill>
                <a:srgbClr val="FFFFFF"/>
              </a:solidFill>
              <a:latin typeface="+mn-lt"/>
              <a:ea typeface="+mn-ea"/>
              <a:cs typeface="+mn-cs"/>
            </a:endParaRPr>
          </a:p>
        </p:txBody>
      </p:sp>
      <p:sp>
        <p:nvSpPr>
          <p:cNvPr id="5" name="ZoneTexte 4">
            <a:extLst>
              <a:ext uri="{FF2B5EF4-FFF2-40B4-BE49-F238E27FC236}">
                <a16:creationId xmlns:a16="http://schemas.microsoft.com/office/drawing/2014/main" id="{CC093610-5789-41FF-BA3D-669F2191987A}"/>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indent="-228600" defTabSz="914400">
              <a:lnSpc>
                <a:spcPct val="90000"/>
              </a:lnSpc>
              <a:spcBef>
                <a:spcPts val="600"/>
              </a:spcBef>
              <a:spcAft>
                <a:spcPts val="1700"/>
              </a:spcAft>
              <a:buFont typeface="Arial" panose="020B0604020202020204" pitchFamily="34" charset="0"/>
              <a:buChar char="•"/>
            </a:pPr>
            <a:r>
              <a:rPr lang="en-US" sz="2000">
                <a:effectLst/>
              </a:rPr>
              <a:t>Un corps policier rapporte que parmi les conducteurs contrôlés pour ivresse au volant 76% d’entre eux sont soumis au test d’haleine, 36% sont soumis au test sanguin et 21% aux deux tests. Quelle est la probabilité qu’un conducteur contrôlé au hasard :</a:t>
            </a:r>
          </a:p>
          <a:p>
            <a:pPr marL="342900" lvl="0" indent="-228600" defTabSz="914400">
              <a:lnSpc>
                <a:spcPct val="90000"/>
              </a:lnSpc>
              <a:spcBef>
                <a:spcPts val="600"/>
              </a:spcBef>
              <a:spcAft>
                <a:spcPts val="1700"/>
              </a:spcAft>
              <a:buFont typeface="Arial" panose="020B0604020202020204" pitchFamily="34" charset="0"/>
              <a:buChar char="•"/>
            </a:pPr>
            <a:r>
              <a:rPr lang="en-US" sz="2000">
                <a:effectLst/>
              </a:rPr>
              <a:t>Soit soumis à au moins un de ces deux tests?</a:t>
            </a:r>
          </a:p>
          <a:p>
            <a:pPr marL="342900" lvl="0" indent="-228600" defTabSz="914400">
              <a:lnSpc>
                <a:spcPct val="90000"/>
              </a:lnSpc>
              <a:spcBef>
                <a:spcPts val="600"/>
              </a:spcBef>
              <a:spcAft>
                <a:spcPts val="1700"/>
              </a:spcAft>
              <a:buFont typeface="Arial" panose="020B0604020202020204" pitchFamily="34" charset="0"/>
              <a:buChar char="•"/>
            </a:pPr>
            <a:r>
              <a:rPr lang="en-US" sz="2000">
                <a:effectLst/>
              </a:rPr>
              <a:t>Soit soumis au test sanguin mais pas au test d’haleine? </a:t>
            </a:r>
          </a:p>
          <a:p>
            <a:pPr marL="342900" lvl="0" indent="-228600" defTabSz="914400">
              <a:lnSpc>
                <a:spcPct val="90000"/>
              </a:lnSpc>
              <a:spcBef>
                <a:spcPts val="600"/>
              </a:spcBef>
              <a:spcAft>
                <a:spcPts val="1700"/>
              </a:spcAft>
              <a:buFont typeface="Arial" panose="020B0604020202020204" pitchFamily="34" charset="0"/>
              <a:buChar char="•"/>
            </a:pPr>
            <a:r>
              <a:rPr lang="en-US" sz="2000">
                <a:effectLst/>
              </a:rPr>
              <a:t>Ne soit soumis à aucun de ces deux tests? </a:t>
            </a:r>
          </a:p>
          <a:p>
            <a:pPr indent="-228600" defTabSz="914400">
              <a:lnSpc>
                <a:spcPct val="90000"/>
              </a:lnSpc>
              <a:buFont typeface="Arial" panose="020B0604020202020204" pitchFamily="34" charset="0"/>
              <a:buChar char="•"/>
            </a:pPr>
            <a:endParaRPr lang="en-US" sz="2000"/>
          </a:p>
        </p:txBody>
      </p:sp>
      <p:sp>
        <p:nvSpPr>
          <p:cNvPr id="4" name="Espace réservé du numéro de diapositive 3">
            <a:extLst>
              <a:ext uri="{FF2B5EF4-FFF2-40B4-BE49-F238E27FC236}">
                <a16:creationId xmlns:a16="http://schemas.microsoft.com/office/drawing/2014/main" id="{3C8E73B2-2E6C-42F5-B6F8-27A957D78F7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00">
              <a:spcAft>
                <a:spcPts val="600"/>
              </a:spcAft>
            </a:pPr>
            <a:fld id="{26377AD9-CE17-438C-A638-C64D2D42D7CF}" type="slidenum">
              <a:rPr lang="en-US" sz="1100">
                <a:solidFill>
                  <a:schemeClr val="tx1">
                    <a:lumMod val="50000"/>
                    <a:lumOff val="50000"/>
                  </a:schemeClr>
                </a:solidFill>
              </a:rPr>
              <a:pPr defTabSz="914400">
                <a:spcAft>
                  <a:spcPts val="600"/>
                </a:spcAft>
              </a:pPr>
              <a:t>2</a:t>
            </a:fld>
            <a:endParaRPr lang="en-US" sz="1100">
              <a:solidFill>
                <a:schemeClr val="tx1">
                  <a:lumMod val="50000"/>
                  <a:lumOff val="50000"/>
                </a:schemeClr>
              </a:solidFill>
            </a:endParaRPr>
          </a:p>
        </p:txBody>
      </p:sp>
    </p:spTree>
    <p:extLst>
      <p:ext uri="{BB962C8B-B14F-4D97-AF65-F5344CB8AC3E}">
        <p14:creationId xmlns:p14="http://schemas.microsoft.com/office/powerpoint/2010/main" val="653118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17B4FCB-4D2E-4B74-BFC0-B8DD2AC0EE8A}"/>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b="1" kern="1200" dirty="0">
                <a:solidFill>
                  <a:srgbClr val="FFFFFF"/>
                </a:solidFill>
                <a:latin typeface="+mj-lt"/>
                <a:ea typeface="+mj-ea"/>
                <a:cs typeface="+mj-cs"/>
              </a:rPr>
              <a:t>RÉPONSE:</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5" name="ZoneTexte 4">
                <a:extLst>
                  <a:ext uri="{FF2B5EF4-FFF2-40B4-BE49-F238E27FC236}">
                    <a16:creationId xmlns:a16="http://schemas.microsoft.com/office/drawing/2014/main" id="{6FB37AC0-4EC9-4015-94A3-AF3D9B751764}"/>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r>
                  <a:rPr lang="en-US" b="1" dirty="0">
                    <a:effectLst/>
                  </a:rPr>
                  <a:t>1</a:t>
                </a:r>
                <a:r>
                  <a:rPr lang="en-US" b="1" baseline="30000" dirty="0">
                    <a:effectLst/>
                  </a:rPr>
                  <a:t>ère</a:t>
                </a:r>
                <a:r>
                  <a:rPr lang="en-US" b="1" dirty="0">
                    <a:effectLst/>
                  </a:rPr>
                  <a:t> étape</a:t>
                </a:r>
                <a:r>
                  <a:rPr lang="en-US" dirty="0">
                    <a:effectLst/>
                  </a:rPr>
                  <a:t> : On </a:t>
                </a:r>
                <a:r>
                  <a:rPr lang="en-US">
                    <a:effectLst/>
                  </a:rPr>
                  <a:t>va</a:t>
                </a:r>
                <a:r>
                  <a:rPr lang="en-US" dirty="0">
                    <a:effectLst/>
                  </a:rPr>
                  <a:t> </a:t>
                </a:r>
                <a:r>
                  <a:rPr lang="en-US">
                    <a:effectLst/>
                  </a:rPr>
                  <a:t>d’abord</a:t>
                </a:r>
                <a:r>
                  <a:rPr lang="en-US" dirty="0">
                    <a:effectLst/>
                  </a:rPr>
                  <a:t> </a:t>
                </a:r>
                <a:r>
                  <a:rPr lang="en-US">
                    <a:effectLst/>
                  </a:rPr>
                  <a:t>définir</a:t>
                </a:r>
                <a:r>
                  <a:rPr lang="en-US" dirty="0">
                    <a:effectLst/>
                  </a:rPr>
                  <a:t> les événements, </a:t>
                </a:r>
                <a:r>
                  <a:rPr lang="en-US">
                    <a:effectLst/>
                  </a:rPr>
                  <a:t>Soit</a:t>
                </a:r>
                <a:r>
                  <a:rPr lang="en-US" dirty="0">
                    <a:effectLst/>
                  </a:rPr>
                  <a:t> A : </a:t>
                </a:r>
                <a:r>
                  <a:rPr lang="en-US">
                    <a:effectLst/>
                  </a:rPr>
                  <a:t>Avoir</a:t>
                </a:r>
                <a:r>
                  <a:rPr lang="en-US" dirty="0">
                    <a:effectLst/>
                  </a:rPr>
                  <a:t> </a:t>
                </a:r>
                <a:r>
                  <a:rPr lang="en-US">
                    <a:effectLst/>
                  </a:rPr>
                  <a:t>eu</a:t>
                </a:r>
                <a:r>
                  <a:rPr lang="en-US" dirty="0">
                    <a:effectLst/>
                  </a:rPr>
                  <a:t> le test </a:t>
                </a:r>
                <a:r>
                  <a:rPr lang="en-US">
                    <a:effectLst/>
                  </a:rPr>
                  <a:t>d’haleine</a:t>
                </a:r>
                <a:r>
                  <a:rPr lang="en-US" dirty="0">
                    <a:effectLst/>
                  </a:rPr>
                  <a:t> et B : </a:t>
                </a:r>
                <a:r>
                  <a:rPr lang="en-US">
                    <a:effectLst/>
                  </a:rPr>
                  <a:t>Avoir</a:t>
                </a:r>
                <a:r>
                  <a:rPr lang="en-US" dirty="0">
                    <a:effectLst/>
                  </a:rPr>
                  <a:t> </a:t>
                </a:r>
                <a:r>
                  <a:rPr lang="en-US">
                    <a:effectLst/>
                  </a:rPr>
                  <a:t>eu</a:t>
                </a:r>
                <a:r>
                  <a:rPr lang="en-US" dirty="0">
                    <a:effectLst/>
                  </a:rPr>
                  <a:t> le test </a:t>
                </a:r>
                <a:r>
                  <a:rPr lang="en-US">
                    <a:effectLst/>
                  </a:rPr>
                  <a:t>sanguin</a:t>
                </a:r>
                <a:r>
                  <a:rPr lang="en-US" dirty="0">
                    <a:effectLst/>
                  </a:rPr>
                  <a:t>.</a:t>
                </a:r>
              </a:p>
              <a:p>
                <a:pPr indent="-228600" defTabSz="914400">
                  <a:lnSpc>
                    <a:spcPct val="90000"/>
                  </a:lnSpc>
                  <a:buFont typeface="Arial" panose="020B0604020202020204" pitchFamily="34" charset="0"/>
                  <a:buChar char="•"/>
                </a:pPr>
                <a:r>
                  <a:rPr lang="en-US" dirty="0">
                    <a:effectLst/>
                  </a:rPr>
                  <a:t>On a P(A)=0,76; P(B)=0,36 et </a:t>
                </a:r>
                <a14:m>
                  <m:oMath xmlns:m="http://schemas.openxmlformats.org/officeDocument/2006/math">
                    <m:r>
                      <a:rPr lang="en-US" i="1">
                        <a:effectLst/>
                        <a:latin typeface="Cambria Math" panose="02040503050406030204" pitchFamily="18" charset="0"/>
                      </a:rPr>
                      <m:t>𝑃</m:t>
                    </m:r>
                    <m:d>
                      <m:dPr>
                        <m:ctrlPr>
                          <a:rPr lang="en-US" i="1">
                            <a:effectLst/>
                            <a:latin typeface="Cambria Math" panose="02040503050406030204" pitchFamily="18" charset="0"/>
                          </a:rPr>
                        </m:ctrlPr>
                      </m:dPr>
                      <m:e>
                        <m:r>
                          <a:rPr lang="en-US" i="1">
                            <a:effectLst/>
                            <a:latin typeface="Cambria Math" panose="02040503050406030204" pitchFamily="18" charset="0"/>
                          </a:rPr>
                          <m:t>𝐴</m:t>
                        </m:r>
                        <m:r>
                          <a:rPr lang="en-US" i="1">
                            <a:effectLst/>
                            <a:latin typeface="Cambria Math" panose="02040503050406030204" pitchFamily="18" charset="0"/>
                          </a:rPr>
                          <m:t>∩</m:t>
                        </m:r>
                        <m:r>
                          <a:rPr lang="en-US" i="1">
                            <a:effectLst/>
                            <a:latin typeface="Cambria Math" panose="02040503050406030204" pitchFamily="18" charset="0"/>
                          </a:rPr>
                          <m:t>𝐵</m:t>
                        </m:r>
                      </m:e>
                    </m:d>
                    <m:r>
                      <a:rPr lang="en-US" i="1">
                        <a:effectLst/>
                        <a:latin typeface="Cambria Math" panose="02040503050406030204" pitchFamily="18" charset="0"/>
                      </a:rPr>
                      <m:t>=0,21.</m:t>
                    </m:r>
                  </m:oMath>
                </a14:m>
                <a:r>
                  <a:rPr lang="en-US" dirty="0">
                    <a:effectLst/>
                  </a:rPr>
                  <a:t>  </a:t>
                </a:r>
              </a:p>
              <a:p>
                <a:pPr indent="-228600" defTabSz="914400">
                  <a:lnSpc>
                    <a:spcPct val="90000"/>
                  </a:lnSpc>
                  <a:buFont typeface="Arial" panose="020B0604020202020204" pitchFamily="34" charset="0"/>
                  <a:buChar char="•"/>
                </a:pPr>
                <a:endParaRPr lang="en-US" dirty="0"/>
              </a:p>
              <a:p>
                <a:pPr indent="-228600" defTabSz="914400">
                  <a:lnSpc>
                    <a:spcPct val="90000"/>
                  </a:lnSpc>
                  <a:buFont typeface="Arial" panose="020B0604020202020204" pitchFamily="34" charset="0"/>
                  <a:buChar char="•"/>
                </a:pPr>
                <a:r>
                  <a:rPr lang="en-US" b="1" dirty="0"/>
                  <a:t>2</a:t>
                </a:r>
                <a:r>
                  <a:rPr lang="en-US" b="1" baseline="30000" dirty="0"/>
                  <a:t>ème</a:t>
                </a:r>
                <a:r>
                  <a:rPr lang="en-US" b="1" dirty="0"/>
                  <a:t> étape:  </a:t>
                </a:r>
                <a:r>
                  <a:rPr lang="en-US" dirty="0"/>
                  <a:t>On répond aux questions</a:t>
                </a:r>
              </a:p>
              <a:p>
                <a:pPr marL="342900" indent="-228600" defTabSz="914400">
                  <a:lnSpc>
                    <a:spcPct val="90000"/>
                  </a:lnSpc>
                  <a:buFont typeface="Arial" panose="020B0604020202020204" pitchFamily="34" charset="0"/>
                  <a:buChar char="•"/>
                </a:pPr>
                <a14:m>
                  <m:oMath xmlns:m="http://schemas.openxmlformats.org/officeDocument/2006/math">
                    <m:r>
                      <a:rPr lang="en-US" i="1">
                        <a:effectLst/>
                        <a:latin typeface="Cambria Math" panose="02040503050406030204" pitchFamily="18" charset="0"/>
                      </a:rPr>
                      <m:t>𝑃</m:t>
                    </m:r>
                    <m:d>
                      <m:dPr>
                        <m:ctrlPr>
                          <a:rPr lang="en-US" i="1">
                            <a:effectLst/>
                            <a:latin typeface="Cambria Math" panose="02040503050406030204" pitchFamily="18" charset="0"/>
                          </a:rPr>
                        </m:ctrlPr>
                      </m:dPr>
                      <m:e>
                        <m:r>
                          <a:rPr lang="en-US" i="1">
                            <a:effectLst/>
                            <a:latin typeface="Cambria Math" panose="02040503050406030204" pitchFamily="18" charset="0"/>
                          </a:rPr>
                          <m:t>𝐴</m:t>
                        </m:r>
                        <m:r>
                          <a:rPr lang="en-US" i="1">
                            <a:effectLst/>
                            <a:latin typeface="Cambria Math" panose="02040503050406030204" pitchFamily="18" charset="0"/>
                          </a:rPr>
                          <m:t>∪</m:t>
                        </m:r>
                        <m:r>
                          <a:rPr lang="en-US" i="1">
                            <a:effectLst/>
                            <a:latin typeface="Cambria Math" panose="02040503050406030204" pitchFamily="18" charset="0"/>
                          </a:rPr>
                          <m:t>𝐵</m:t>
                        </m:r>
                      </m:e>
                    </m:d>
                    <m:r>
                      <a:rPr lang="en-US" i="1">
                        <a:effectLst/>
                        <a:latin typeface="Cambria Math" panose="02040503050406030204" pitchFamily="18" charset="0"/>
                      </a:rPr>
                      <m:t>=</m:t>
                    </m:r>
                    <m:r>
                      <a:rPr lang="en-US" i="1">
                        <a:effectLst/>
                        <a:latin typeface="Cambria Math" panose="02040503050406030204" pitchFamily="18" charset="0"/>
                      </a:rPr>
                      <m:t>𝑃</m:t>
                    </m:r>
                    <m:d>
                      <m:dPr>
                        <m:ctrlPr>
                          <a:rPr lang="en-US" i="1">
                            <a:effectLst/>
                            <a:latin typeface="Cambria Math" panose="02040503050406030204" pitchFamily="18" charset="0"/>
                          </a:rPr>
                        </m:ctrlPr>
                      </m:dPr>
                      <m:e>
                        <m:r>
                          <a:rPr lang="en-US" i="1">
                            <a:effectLst/>
                            <a:latin typeface="Cambria Math" panose="02040503050406030204" pitchFamily="18" charset="0"/>
                          </a:rPr>
                          <m:t>𝐴</m:t>
                        </m:r>
                      </m:e>
                    </m:d>
                    <m:r>
                      <a:rPr lang="en-US" i="1">
                        <a:effectLst/>
                        <a:latin typeface="Cambria Math" panose="02040503050406030204" pitchFamily="18" charset="0"/>
                      </a:rPr>
                      <m:t>+</m:t>
                    </m:r>
                    <m:r>
                      <a:rPr lang="en-US" i="1">
                        <a:effectLst/>
                        <a:latin typeface="Cambria Math" panose="02040503050406030204" pitchFamily="18" charset="0"/>
                      </a:rPr>
                      <m:t>𝑃</m:t>
                    </m:r>
                    <m:d>
                      <m:dPr>
                        <m:ctrlPr>
                          <a:rPr lang="en-US" i="1">
                            <a:effectLst/>
                            <a:latin typeface="Cambria Math" panose="02040503050406030204" pitchFamily="18" charset="0"/>
                          </a:rPr>
                        </m:ctrlPr>
                      </m:dPr>
                      <m:e>
                        <m:r>
                          <a:rPr lang="en-US" i="1">
                            <a:effectLst/>
                            <a:latin typeface="Cambria Math" panose="02040503050406030204" pitchFamily="18" charset="0"/>
                          </a:rPr>
                          <m:t>𝐵</m:t>
                        </m:r>
                      </m:e>
                    </m:d>
                    <m:r>
                      <a:rPr lang="en-US" i="1">
                        <a:effectLst/>
                        <a:latin typeface="Cambria Math" panose="02040503050406030204" pitchFamily="18" charset="0"/>
                      </a:rPr>
                      <m:t>−</m:t>
                    </m:r>
                    <m:r>
                      <a:rPr lang="en-US" i="1">
                        <a:effectLst/>
                        <a:latin typeface="Cambria Math" panose="02040503050406030204" pitchFamily="18" charset="0"/>
                      </a:rPr>
                      <m:t>𝑃</m:t>
                    </m:r>
                    <m:r>
                      <a:rPr lang="en-US" i="1">
                        <a:effectLst/>
                        <a:latin typeface="Cambria Math" panose="02040503050406030204" pitchFamily="18" charset="0"/>
                      </a:rPr>
                      <m:t>(</m:t>
                    </m:r>
                    <m:r>
                      <a:rPr lang="en-US" i="1">
                        <a:effectLst/>
                        <a:latin typeface="Cambria Math" panose="02040503050406030204" pitchFamily="18" charset="0"/>
                      </a:rPr>
                      <m:t>𝐴</m:t>
                    </m:r>
                    <m:r>
                      <a:rPr lang="en-US" i="1">
                        <a:effectLst/>
                        <a:latin typeface="Cambria Math" panose="02040503050406030204" pitchFamily="18" charset="0"/>
                      </a:rPr>
                      <m:t>∩</m:t>
                    </m:r>
                    <m:r>
                      <a:rPr lang="en-US" i="1">
                        <a:effectLst/>
                        <a:latin typeface="Cambria Math" panose="02040503050406030204" pitchFamily="18" charset="0"/>
                      </a:rPr>
                      <m:t>𝐵</m:t>
                    </m:r>
                    <m:r>
                      <a:rPr lang="en-US" i="1">
                        <a:effectLst/>
                        <a:latin typeface="Cambria Math" panose="02040503050406030204" pitchFamily="18" charset="0"/>
                      </a:rPr>
                      <m:t>)</m:t>
                    </m:r>
                  </m:oMath>
                </a14:m>
                <a:r>
                  <a:rPr lang="en-US" dirty="0">
                    <a:effectLst/>
                  </a:rPr>
                  <a:t>=0,76+0,36-0,21=0,91.</a:t>
                </a:r>
              </a:p>
              <a:p>
                <a:pPr marL="342900" indent="-228600" defTabSz="914400">
                  <a:lnSpc>
                    <a:spcPct val="90000"/>
                  </a:lnSpc>
                  <a:buFont typeface="Arial" panose="020B0604020202020204" pitchFamily="34" charset="0"/>
                  <a:buChar char="•"/>
                </a:pPr>
                <a14:m>
                  <m:oMath xmlns:m="http://schemas.openxmlformats.org/officeDocument/2006/math">
                    <m:r>
                      <a:rPr lang="en-US" i="1">
                        <a:effectLst/>
                        <a:latin typeface="Cambria Math" panose="02040503050406030204" pitchFamily="18" charset="0"/>
                      </a:rPr>
                      <m:t>𝑃</m:t>
                    </m:r>
                    <m:d>
                      <m:dPr>
                        <m:ctrlPr>
                          <a:rPr lang="en-US" i="1">
                            <a:effectLst/>
                            <a:latin typeface="Cambria Math" panose="02040503050406030204" pitchFamily="18" charset="0"/>
                          </a:rPr>
                        </m:ctrlPr>
                      </m:dPr>
                      <m:e>
                        <m:r>
                          <a:rPr lang="en-US" i="1">
                            <a:effectLst/>
                            <a:latin typeface="Cambria Math" panose="02040503050406030204" pitchFamily="18" charset="0"/>
                          </a:rPr>
                          <m:t>𝐴</m:t>
                        </m:r>
                        <m:r>
                          <a:rPr lang="en-US" i="1">
                            <a:effectLst/>
                            <a:latin typeface="Cambria Math" panose="02040503050406030204" pitchFamily="18" charset="0"/>
                          </a:rPr>
                          <m:t>∩</m:t>
                        </m:r>
                        <m:sSup>
                          <m:sSupPr>
                            <m:ctrlPr>
                              <a:rPr lang="en-US" i="1">
                                <a:effectLst/>
                                <a:latin typeface="Cambria Math" panose="02040503050406030204" pitchFamily="18" charset="0"/>
                              </a:rPr>
                            </m:ctrlPr>
                          </m:sSupPr>
                          <m:e>
                            <m:r>
                              <a:rPr lang="en-US" i="1">
                                <a:effectLst/>
                                <a:latin typeface="Cambria Math" panose="02040503050406030204" pitchFamily="18" charset="0"/>
                              </a:rPr>
                              <m:t>𝐵</m:t>
                            </m:r>
                          </m:e>
                          <m:sup>
                            <m:r>
                              <a:rPr lang="en-US" i="1">
                                <a:effectLst/>
                                <a:latin typeface="Cambria Math" panose="02040503050406030204" pitchFamily="18" charset="0"/>
                              </a:rPr>
                              <m:t>′</m:t>
                            </m:r>
                          </m:sup>
                        </m:sSup>
                      </m:e>
                    </m:d>
                    <m:r>
                      <a:rPr lang="en-US" i="1">
                        <a:effectLst/>
                        <a:latin typeface="Cambria Math" panose="02040503050406030204" pitchFamily="18" charset="0"/>
                      </a:rPr>
                      <m:t>=</m:t>
                    </m:r>
                    <m:r>
                      <a:rPr lang="en-US" i="1">
                        <a:effectLst/>
                        <a:latin typeface="Cambria Math" panose="02040503050406030204" pitchFamily="18" charset="0"/>
                      </a:rPr>
                      <m:t>𝑃</m:t>
                    </m:r>
                    <m:d>
                      <m:dPr>
                        <m:ctrlPr>
                          <a:rPr lang="en-US" i="1">
                            <a:effectLst/>
                            <a:latin typeface="Cambria Math" panose="02040503050406030204" pitchFamily="18" charset="0"/>
                          </a:rPr>
                        </m:ctrlPr>
                      </m:dPr>
                      <m:e>
                        <m:r>
                          <a:rPr lang="en-US" i="1">
                            <a:effectLst/>
                            <a:latin typeface="Cambria Math" panose="02040503050406030204" pitchFamily="18" charset="0"/>
                          </a:rPr>
                          <m:t>𝐴</m:t>
                        </m:r>
                      </m:e>
                    </m:d>
                    <m:r>
                      <a:rPr lang="en-US" i="1">
                        <a:effectLst/>
                        <a:latin typeface="Cambria Math" panose="02040503050406030204" pitchFamily="18" charset="0"/>
                      </a:rPr>
                      <m:t>−</m:t>
                    </m:r>
                    <m:r>
                      <a:rPr lang="en-US" i="1">
                        <a:effectLst/>
                        <a:latin typeface="Cambria Math" panose="02040503050406030204" pitchFamily="18" charset="0"/>
                      </a:rPr>
                      <m:t>𝑃</m:t>
                    </m:r>
                    <m:d>
                      <m:dPr>
                        <m:ctrlPr>
                          <a:rPr lang="en-US" i="1">
                            <a:effectLst/>
                            <a:latin typeface="Cambria Math" panose="02040503050406030204" pitchFamily="18" charset="0"/>
                          </a:rPr>
                        </m:ctrlPr>
                      </m:dPr>
                      <m:e>
                        <m:r>
                          <a:rPr lang="en-US" i="1">
                            <a:effectLst/>
                            <a:latin typeface="Cambria Math" panose="02040503050406030204" pitchFamily="18" charset="0"/>
                          </a:rPr>
                          <m:t>𝐴</m:t>
                        </m:r>
                        <m:r>
                          <a:rPr lang="en-US" i="1">
                            <a:effectLst/>
                            <a:latin typeface="Cambria Math" panose="02040503050406030204" pitchFamily="18" charset="0"/>
                          </a:rPr>
                          <m:t>∩</m:t>
                        </m:r>
                        <m:r>
                          <a:rPr lang="en-US" i="1">
                            <a:effectLst/>
                            <a:latin typeface="Cambria Math" panose="02040503050406030204" pitchFamily="18" charset="0"/>
                          </a:rPr>
                          <m:t>𝐵</m:t>
                        </m:r>
                      </m:e>
                    </m:d>
                    <m:r>
                      <a:rPr lang="en-US" i="1">
                        <a:effectLst/>
                        <a:latin typeface="Cambria Math" panose="02040503050406030204" pitchFamily="18" charset="0"/>
                      </a:rPr>
                      <m:t>=0,76−0,21=0,55</m:t>
                    </m:r>
                  </m:oMath>
                </a14:m>
                <a:endParaRPr lang="en-US" dirty="0"/>
              </a:p>
              <a:p>
                <a:pPr marL="342900" indent="-228600" defTabSz="914400">
                  <a:lnSpc>
                    <a:spcPct val="90000"/>
                  </a:lnSpc>
                  <a:buFont typeface="Arial" panose="020B0604020202020204" pitchFamily="34" charset="0"/>
                  <a:buChar char="•"/>
                </a:pPr>
                <a:r>
                  <a:rPr lang="en-US" dirty="0"/>
                  <a:t> </a:t>
                </a:r>
              </a:p>
              <a:p>
                <a:pPr indent="-228600" defTabSz="914400">
                  <a:lnSpc>
                    <a:spcPct val="90000"/>
                  </a:lnSpc>
                  <a:spcBef>
                    <a:spcPts val="600"/>
                  </a:spcBef>
                  <a:spcAft>
                    <a:spcPts val="1700"/>
                  </a:spcAft>
                  <a:buFont typeface="Arial" panose="020B0604020202020204" pitchFamily="34" charset="0"/>
                  <a:buChar char="•"/>
                </a:pPr>
                <a:r>
                  <a:rPr lang="en-US" dirty="0">
                    <a:effectLst/>
                  </a:rPr>
                  <a:t>on </a:t>
                </a:r>
                <a:r>
                  <a:rPr lang="en-US">
                    <a:effectLst/>
                  </a:rPr>
                  <a:t>veut</a:t>
                </a:r>
                <a:r>
                  <a:rPr lang="en-US" dirty="0">
                    <a:effectLst/>
                  </a:rPr>
                  <a:t> </a:t>
                </a:r>
                <a:r>
                  <a:rPr lang="en-US">
                    <a:effectLst/>
                  </a:rPr>
                  <a:t>calculer</a:t>
                </a:r>
                <a:r>
                  <a:rPr lang="en-US" dirty="0">
                    <a:effectLst/>
                  </a:rPr>
                  <a:t> la probabilité </a:t>
                </a:r>
                <a:r>
                  <a:rPr lang="en-US">
                    <a:effectLst/>
                  </a:rPr>
                  <a:t>qu’un</a:t>
                </a:r>
                <a:r>
                  <a:rPr lang="en-US" dirty="0">
                    <a:effectLst/>
                  </a:rPr>
                  <a:t> </a:t>
                </a:r>
                <a:r>
                  <a:rPr lang="en-US">
                    <a:effectLst/>
                  </a:rPr>
                  <a:t>conducteur</a:t>
                </a:r>
                <a:r>
                  <a:rPr lang="en-US" dirty="0">
                    <a:effectLst/>
                  </a:rPr>
                  <a:t> </a:t>
                </a:r>
                <a:r>
                  <a:rPr lang="en-US">
                    <a:effectLst/>
                  </a:rPr>
                  <a:t>choisit</a:t>
                </a:r>
                <a:r>
                  <a:rPr lang="en-US" dirty="0">
                    <a:effectLst/>
                  </a:rPr>
                  <a:t> au </a:t>
                </a:r>
                <a:r>
                  <a:rPr lang="en-US">
                    <a:effectLst/>
                  </a:rPr>
                  <a:t>hasard</a:t>
                </a:r>
                <a:r>
                  <a:rPr lang="en-US" dirty="0">
                    <a:effectLst/>
                  </a:rPr>
                  <a:t> ne </a:t>
                </a:r>
                <a:r>
                  <a:rPr lang="en-US">
                    <a:effectLst/>
                  </a:rPr>
                  <a:t>soit</a:t>
                </a:r>
                <a:r>
                  <a:rPr lang="en-US" dirty="0">
                    <a:effectLst/>
                  </a:rPr>
                  <a:t> </a:t>
                </a:r>
                <a:r>
                  <a:rPr lang="en-US">
                    <a:effectLst/>
                  </a:rPr>
                  <a:t>soumis</a:t>
                </a:r>
                <a:r>
                  <a:rPr lang="en-US" dirty="0">
                    <a:effectLst/>
                  </a:rPr>
                  <a:t> à </a:t>
                </a:r>
                <a:r>
                  <a:rPr lang="en-US">
                    <a:effectLst/>
                  </a:rPr>
                  <a:t>aucun</a:t>
                </a:r>
                <a:r>
                  <a:rPr lang="en-US" dirty="0">
                    <a:effectLst/>
                  </a:rPr>
                  <a:t> de </a:t>
                </a:r>
                <a:r>
                  <a:rPr lang="en-US">
                    <a:effectLst/>
                  </a:rPr>
                  <a:t>ces</a:t>
                </a:r>
                <a:r>
                  <a:rPr lang="en-US" dirty="0">
                    <a:effectLst/>
                  </a:rPr>
                  <a:t> deux tests; </a:t>
                </a:r>
                <a:r>
                  <a:rPr lang="en-US">
                    <a:effectLst/>
                  </a:rPr>
                  <a:t>cette</a:t>
                </a:r>
                <a:r>
                  <a:rPr lang="en-US" dirty="0">
                    <a:effectLst/>
                  </a:rPr>
                  <a:t> probabilité </a:t>
                </a:r>
                <a:r>
                  <a:rPr lang="en-US">
                    <a:effectLst/>
                  </a:rPr>
                  <a:t>est</a:t>
                </a:r>
                <a:r>
                  <a:rPr lang="en-US" dirty="0">
                    <a:effectLst/>
                  </a:rPr>
                  <a:t> </a:t>
                </a:r>
                <a:r>
                  <a:rPr lang="en-US">
                    <a:effectLst/>
                  </a:rPr>
                  <a:t>égale</a:t>
                </a:r>
                <a:r>
                  <a:rPr lang="en-US" dirty="0">
                    <a:effectLst/>
                  </a:rPr>
                  <a:t> à :</a:t>
                </a:r>
              </a:p>
              <a:p>
                <a:pPr indent="-228600" defTabSz="914400">
                  <a:lnSpc>
                    <a:spcPct val="90000"/>
                  </a:lnSpc>
                  <a:spcBef>
                    <a:spcPts val="600"/>
                  </a:spcBef>
                  <a:spcAft>
                    <a:spcPts val="1700"/>
                  </a:spcAft>
                  <a:buFont typeface="Arial" panose="020B0604020202020204" pitchFamily="34" charset="0"/>
                  <a:buChar char="•"/>
                </a:pPr>
                <a14:m>
                  <m:oMath xmlns:m="http://schemas.openxmlformats.org/officeDocument/2006/math">
                    <m:r>
                      <a:rPr lang="en-US" i="1">
                        <a:effectLst/>
                        <a:latin typeface="Cambria Math" panose="02040503050406030204" pitchFamily="18" charset="0"/>
                      </a:rPr>
                      <m:t>𝑃</m:t>
                    </m:r>
                    <m:d>
                      <m:dPr>
                        <m:ctrlPr>
                          <a:rPr lang="en-US" i="1">
                            <a:effectLst/>
                            <a:latin typeface="Cambria Math" panose="02040503050406030204" pitchFamily="18" charset="0"/>
                          </a:rPr>
                        </m:ctrlPr>
                      </m:dPr>
                      <m:e>
                        <m:sSup>
                          <m:sSupPr>
                            <m:ctrlPr>
                              <a:rPr lang="en-US" i="1">
                                <a:effectLst/>
                                <a:latin typeface="Cambria Math" panose="02040503050406030204" pitchFamily="18" charset="0"/>
                              </a:rPr>
                            </m:ctrlPr>
                          </m:sSupPr>
                          <m:e>
                            <m:r>
                              <a:rPr lang="en-US" i="1">
                                <a:effectLst/>
                                <a:latin typeface="Cambria Math" panose="02040503050406030204" pitchFamily="18" charset="0"/>
                              </a:rPr>
                              <m:t>𝐴</m:t>
                            </m:r>
                          </m:e>
                          <m:sup>
                            <m:r>
                              <a:rPr lang="en-US" i="1">
                                <a:effectLst/>
                                <a:latin typeface="Cambria Math" panose="02040503050406030204" pitchFamily="18" charset="0"/>
                              </a:rPr>
                              <m:t>′</m:t>
                            </m:r>
                          </m:sup>
                        </m:sSup>
                        <m:r>
                          <a:rPr lang="en-US" i="1">
                            <a:effectLst/>
                            <a:latin typeface="Cambria Math" panose="02040503050406030204" pitchFamily="18" charset="0"/>
                          </a:rPr>
                          <m:t>∩</m:t>
                        </m:r>
                        <m:sSup>
                          <m:sSupPr>
                            <m:ctrlPr>
                              <a:rPr lang="en-US" i="1">
                                <a:effectLst/>
                                <a:latin typeface="Cambria Math" panose="02040503050406030204" pitchFamily="18" charset="0"/>
                              </a:rPr>
                            </m:ctrlPr>
                          </m:sSupPr>
                          <m:e>
                            <m:r>
                              <a:rPr lang="en-US" i="1">
                                <a:effectLst/>
                                <a:latin typeface="Cambria Math" panose="02040503050406030204" pitchFamily="18" charset="0"/>
                              </a:rPr>
                              <m:t>𝐵</m:t>
                            </m:r>
                          </m:e>
                          <m:sup>
                            <m:r>
                              <a:rPr lang="en-US" i="1">
                                <a:effectLst/>
                                <a:latin typeface="Cambria Math" panose="02040503050406030204" pitchFamily="18" charset="0"/>
                              </a:rPr>
                              <m:t>′</m:t>
                            </m:r>
                          </m:sup>
                        </m:sSup>
                      </m:e>
                    </m:d>
                    <m:r>
                      <a:rPr lang="en-US" i="1">
                        <a:effectLst/>
                        <a:latin typeface="Cambria Math" panose="02040503050406030204" pitchFamily="18" charset="0"/>
                      </a:rPr>
                      <m:t>=0,09 </m:t>
                    </m:r>
                  </m:oMath>
                </a14:m>
                <a:r>
                  <a:rPr lang="en-US" dirty="0">
                    <a:effectLst/>
                  </a:rPr>
                  <a:t> donc la probabilité de la </a:t>
                </a:r>
                <a:r>
                  <a:rPr lang="en-US">
                    <a:effectLst/>
                  </a:rPr>
                  <a:t>partie</a:t>
                </a:r>
                <a:r>
                  <a:rPr lang="en-US" dirty="0">
                    <a:effectLst/>
                  </a:rPr>
                  <a:t> </a:t>
                </a:r>
                <a:r>
                  <a:rPr lang="en-US">
                    <a:effectLst/>
                  </a:rPr>
                  <a:t>extérieure</a:t>
                </a:r>
                <a:r>
                  <a:rPr lang="en-US" dirty="0">
                    <a:effectLst/>
                  </a:rPr>
                  <a:t> aux deux événements.</a:t>
                </a:r>
              </a:p>
              <a:p>
                <a:pPr marL="342900" indent="-228600" defTabSz="914400">
                  <a:lnSpc>
                    <a:spcPct val="90000"/>
                  </a:lnSpc>
                  <a:buFont typeface="Arial" panose="020B0604020202020204" pitchFamily="34" charset="0"/>
                  <a:buChar char="•"/>
                </a:pPr>
                <a:endParaRPr lang="en-US" dirty="0"/>
              </a:p>
            </p:txBody>
          </p:sp>
        </mc:Choice>
        <mc:Fallback>
          <p:sp>
            <p:nvSpPr>
              <p:cNvPr id="5" name="ZoneTexte 4">
                <a:extLst>
                  <a:ext uri="{FF2B5EF4-FFF2-40B4-BE49-F238E27FC236}">
                    <a16:creationId xmlns:a16="http://schemas.microsoft.com/office/drawing/2014/main" id="{6FB37AC0-4EC9-4015-94A3-AF3D9B751764}"/>
                  </a:ext>
                </a:extLst>
              </p:cNvPr>
              <p:cNvSpPr txBox="1">
                <a:spLocks noRot="1" noChangeAspect="1" noMove="1" noResize="1" noEditPoints="1" noAdjustHandles="1" noChangeArrowheads="1" noChangeShapeType="1" noTextEdit="1"/>
              </p:cNvSpPr>
              <p:nvPr/>
            </p:nvSpPr>
            <p:spPr>
              <a:xfrm>
                <a:off x="4447308" y="591344"/>
                <a:ext cx="6906491" cy="5585619"/>
              </a:xfrm>
              <a:prstGeom prst="rect">
                <a:avLst/>
              </a:prstGeom>
              <a:blipFill>
                <a:blip r:embed="rId2"/>
                <a:stretch>
                  <a:fillRect l="-795"/>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BCE09F34-B1FB-4B88-9D27-B139649F3330}"/>
              </a:ext>
            </a:extLst>
          </p:cNvPr>
          <p:cNvSpPr>
            <a:spLocks noGrp="1"/>
          </p:cNvSpPr>
          <p:nvPr>
            <p:ph type="ftr" sz="quarter" idx="11"/>
          </p:nvPr>
        </p:nvSpPr>
        <p:spPr>
          <a:xfrm>
            <a:off x="4038600" y="6356350"/>
            <a:ext cx="5251174"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83A36D06-F5FA-42B6-BC14-3711F62790A7}"/>
              </a:ext>
            </a:extLst>
          </p:cNvPr>
          <p:cNvSpPr>
            <a:spLocks noGrp="1"/>
          </p:cNvSpPr>
          <p:nvPr>
            <p:ph type="sldNum" sz="quarter" idx="12"/>
          </p:nvPr>
        </p:nvSpPr>
        <p:spPr>
          <a:xfrm>
            <a:off x="9541564" y="6356350"/>
            <a:ext cx="1812235"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3</a:t>
            </a:fld>
            <a:endParaRPr lang="en-US"/>
          </a:p>
        </p:txBody>
      </p:sp>
    </p:spTree>
    <p:extLst>
      <p:ext uri="{BB962C8B-B14F-4D97-AF65-F5344CB8AC3E}">
        <p14:creationId xmlns:p14="http://schemas.microsoft.com/office/powerpoint/2010/main" val="3186799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E3B69C6-396E-4D79-A91C-72D43DF7D4ED}"/>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EXEMPLE 2:</a:t>
            </a:r>
          </a:p>
        </p:txBody>
      </p:sp>
      <p:sp>
        <p:nvSpPr>
          <p:cNvPr id="3" name="Espace réservé du pied de page 2">
            <a:extLst>
              <a:ext uri="{FF2B5EF4-FFF2-40B4-BE49-F238E27FC236}">
                <a16:creationId xmlns:a16="http://schemas.microsoft.com/office/drawing/2014/main" id="{E6307D61-A9F3-4FEB-B773-D61EC77DF078}"/>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defTabSz="914400"/>
            <a:endParaRPr lang="en-US" sz="1100" kern="1200">
              <a:solidFill>
                <a:srgbClr val="FFFFFF"/>
              </a:solidFill>
              <a:latin typeface="+mn-lt"/>
              <a:ea typeface="+mn-ea"/>
              <a:cs typeface="+mn-cs"/>
            </a:endParaRPr>
          </a:p>
        </p:txBody>
      </p:sp>
      <p:sp>
        <p:nvSpPr>
          <p:cNvPr id="5" name="ZoneTexte 4">
            <a:extLst>
              <a:ext uri="{FF2B5EF4-FFF2-40B4-BE49-F238E27FC236}">
                <a16:creationId xmlns:a16="http://schemas.microsoft.com/office/drawing/2014/main" id="{7AD3BA15-A13D-481C-92F2-4447316086C1}"/>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indent="-228600" defTabSz="914400">
              <a:lnSpc>
                <a:spcPct val="90000"/>
              </a:lnSpc>
              <a:spcAft>
                <a:spcPts val="800"/>
              </a:spcAft>
              <a:buFont typeface="Arial" panose="020B0604020202020204" pitchFamily="34" charset="0"/>
              <a:buChar char="•"/>
            </a:pPr>
            <a:r>
              <a:rPr lang="en-US" sz="2000">
                <a:effectLst/>
              </a:rPr>
              <a:t>Soit la population d’une grande ville, dont 17 % des habitants lisent le journal</a:t>
            </a:r>
            <a:r>
              <a:rPr lang="en-US" sz="2000" i="1">
                <a:effectLst/>
              </a:rPr>
              <a:t> A,</a:t>
            </a:r>
            <a:r>
              <a:rPr lang="en-US" sz="2000">
                <a:effectLst/>
              </a:rPr>
              <a:t> 35 % lisent le journal</a:t>
            </a:r>
            <a:r>
              <a:rPr lang="en-US" sz="2000" i="1">
                <a:effectLst/>
              </a:rPr>
              <a:t> B,</a:t>
            </a:r>
            <a:r>
              <a:rPr lang="en-US" sz="2000">
                <a:effectLst/>
              </a:rPr>
              <a:t> 27 %, le journal</a:t>
            </a:r>
            <a:r>
              <a:rPr lang="en-US" sz="2000" i="1">
                <a:effectLst/>
              </a:rPr>
              <a:t> C,</a:t>
            </a:r>
            <a:r>
              <a:rPr lang="en-US" sz="2000">
                <a:effectLst/>
              </a:rPr>
              <a:t> 10 %, les journaux</a:t>
            </a:r>
            <a:r>
              <a:rPr lang="en-US" sz="2000" i="1">
                <a:effectLst/>
              </a:rPr>
              <a:t> A </a:t>
            </a:r>
            <a:r>
              <a:rPr lang="en-US" sz="2000">
                <a:effectLst/>
              </a:rPr>
              <a:t>et</a:t>
            </a:r>
            <a:r>
              <a:rPr lang="en-US" sz="2000" i="1">
                <a:effectLst/>
              </a:rPr>
              <a:t> B,</a:t>
            </a:r>
            <a:r>
              <a:rPr lang="en-US" sz="2000">
                <a:effectLst/>
              </a:rPr>
              <a:t> 12 %, les journaux</a:t>
            </a:r>
            <a:r>
              <a:rPr lang="en-US" sz="2000" i="1">
                <a:effectLst/>
              </a:rPr>
              <a:t> B </a:t>
            </a:r>
            <a:r>
              <a:rPr lang="en-US" sz="2000">
                <a:effectLst/>
              </a:rPr>
              <a:t>et</a:t>
            </a:r>
            <a:r>
              <a:rPr lang="en-US" sz="2000" i="1">
                <a:effectLst/>
              </a:rPr>
              <a:t> C,</a:t>
            </a:r>
            <a:r>
              <a:rPr lang="en-US" sz="2000">
                <a:effectLst/>
              </a:rPr>
              <a:t> 8 %, les journaux</a:t>
            </a:r>
            <a:r>
              <a:rPr lang="en-US" sz="2000" i="1">
                <a:effectLst/>
              </a:rPr>
              <a:t> A </a:t>
            </a:r>
            <a:r>
              <a:rPr lang="en-US" sz="2000">
                <a:effectLst/>
              </a:rPr>
              <a:t>et</a:t>
            </a:r>
            <a:r>
              <a:rPr lang="en-US" sz="2000" i="1">
                <a:effectLst/>
              </a:rPr>
              <a:t> C, </a:t>
            </a:r>
            <a:r>
              <a:rPr lang="en-US" sz="2000">
                <a:effectLst/>
              </a:rPr>
              <a:t>et 2 %, les journaux </a:t>
            </a:r>
            <a:r>
              <a:rPr lang="en-US" sz="2000" i="1">
                <a:effectLst/>
              </a:rPr>
              <a:t>A</a:t>
            </a:r>
            <a:r>
              <a:rPr lang="en-US" sz="2000">
                <a:effectLst/>
              </a:rPr>
              <a:t>, </a:t>
            </a:r>
            <a:r>
              <a:rPr lang="en-US" sz="2000" i="1">
                <a:effectLst/>
              </a:rPr>
              <a:t>B</a:t>
            </a:r>
            <a:r>
              <a:rPr lang="en-US" sz="2000">
                <a:effectLst/>
              </a:rPr>
              <a:t> et </a:t>
            </a:r>
            <a:r>
              <a:rPr lang="en-US" sz="2000" i="1">
                <a:effectLst/>
              </a:rPr>
              <a:t>C</a:t>
            </a:r>
            <a:r>
              <a:rPr lang="en-US" sz="2000">
                <a:effectLst/>
              </a:rPr>
              <a:t>.</a:t>
            </a:r>
          </a:p>
          <a:p>
            <a:pPr marL="228600" indent="-228600" defTabSz="914400">
              <a:lnSpc>
                <a:spcPct val="90000"/>
              </a:lnSpc>
              <a:spcAft>
                <a:spcPts val="800"/>
              </a:spcAft>
              <a:buFont typeface="Arial" panose="020B0604020202020204" pitchFamily="34" charset="0"/>
              <a:buChar char="•"/>
            </a:pPr>
            <a:r>
              <a:rPr lang="en-US" sz="2000">
                <a:effectLst/>
              </a:rPr>
              <a:t>a)	Quelle est la proportion des habitants de cette ville qui lisent au moins un de ces trois journaux ?</a:t>
            </a:r>
          </a:p>
          <a:p>
            <a:pPr marL="228600" indent="-228600" defTabSz="914400">
              <a:lnSpc>
                <a:spcPct val="90000"/>
              </a:lnSpc>
              <a:spcAft>
                <a:spcPts val="800"/>
              </a:spcAft>
              <a:buFont typeface="Arial" panose="020B0604020202020204" pitchFamily="34" charset="0"/>
              <a:buChar char="•"/>
            </a:pPr>
            <a:r>
              <a:rPr lang="en-US" sz="2000">
                <a:effectLst/>
              </a:rPr>
              <a:t>b)	Quelle est la proportion des habitants de cette ville qui lisent les journaux </a:t>
            </a:r>
            <a:r>
              <a:rPr lang="en-US" sz="2000" i="1">
                <a:effectLst/>
              </a:rPr>
              <a:t>B </a:t>
            </a:r>
            <a:r>
              <a:rPr lang="en-US" sz="2000">
                <a:effectLst/>
              </a:rPr>
              <a:t>ou </a:t>
            </a:r>
            <a:r>
              <a:rPr lang="en-US" sz="2000" i="1">
                <a:effectLst/>
              </a:rPr>
              <a:t>C</a:t>
            </a:r>
            <a:r>
              <a:rPr lang="en-US" sz="2000">
                <a:effectLst/>
              </a:rPr>
              <a:t>, mais pas le journal</a:t>
            </a:r>
            <a:r>
              <a:rPr lang="en-US" sz="2000" i="1">
                <a:effectLst/>
              </a:rPr>
              <a:t> A ?</a:t>
            </a:r>
            <a:endParaRPr lang="en-US" sz="2000">
              <a:effectLst/>
            </a:endParaRPr>
          </a:p>
          <a:p>
            <a:pPr indent="-228600" defTabSz="914400">
              <a:lnSpc>
                <a:spcPct val="90000"/>
              </a:lnSpc>
              <a:buFont typeface="Arial" panose="020B0604020202020204" pitchFamily="34" charset="0"/>
              <a:buChar char="•"/>
            </a:pPr>
            <a:endParaRPr lang="en-US" sz="2000"/>
          </a:p>
        </p:txBody>
      </p:sp>
      <p:sp>
        <p:nvSpPr>
          <p:cNvPr id="4" name="Espace réservé du numéro de diapositive 3">
            <a:extLst>
              <a:ext uri="{FF2B5EF4-FFF2-40B4-BE49-F238E27FC236}">
                <a16:creationId xmlns:a16="http://schemas.microsoft.com/office/drawing/2014/main" id="{54BDF5E4-3CE2-4F76-828B-D10A27419B99}"/>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00">
              <a:spcAft>
                <a:spcPts val="600"/>
              </a:spcAft>
            </a:pPr>
            <a:fld id="{26377AD9-CE17-438C-A638-C64D2D42D7CF}" type="slidenum">
              <a:rPr lang="en-US" sz="1100">
                <a:solidFill>
                  <a:schemeClr val="tx1">
                    <a:lumMod val="50000"/>
                    <a:lumOff val="50000"/>
                  </a:schemeClr>
                </a:solidFill>
              </a:rPr>
              <a:pPr defTabSz="914400">
                <a:spcAft>
                  <a:spcPts val="600"/>
                </a:spcAft>
              </a:pPr>
              <a:t>4</a:t>
            </a:fld>
            <a:endParaRPr lang="en-US" sz="1100">
              <a:solidFill>
                <a:schemeClr val="tx1">
                  <a:lumMod val="50000"/>
                  <a:lumOff val="50000"/>
                </a:schemeClr>
              </a:solidFill>
            </a:endParaRPr>
          </a:p>
        </p:txBody>
      </p:sp>
    </p:spTree>
    <p:extLst>
      <p:ext uri="{BB962C8B-B14F-4D97-AF65-F5344CB8AC3E}">
        <p14:creationId xmlns:p14="http://schemas.microsoft.com/office/powerpoint/2010/main" val="4181551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A53A39-C268-4204-8EA6-4041A4A33BBF}"/>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dirty="0">
                <a:solidFill>
                  <a:srgbClr val="FFFFFF"/>
                </a:solidFill>
                <a:latin typeface="+mj-lt"/>
                <a:ea typeface="+mj-ea"/>
                <a:cs typeface="+mj-cs"/>
              </a:rPr>
              <a:t>RÉPONSE:</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B2F8A10-A892-4E00-83A3-F3EA0BAA7195}"/>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b="1" dirty="0"/>
                  <a:t>1</a:t>
                </a:r>
                <a:r>
                  <a:rPr lang="en-US" b="1" baseline="30000" dirty="0"/>
                  <a:t>ère</a:t>
                </a:r>
                <a:r>
                  <a:rPr lang="en-US" b="1" dirty="0"/>
                  <a:t> étape</a:t>
                </a:r>
                <a:r>
                  <a:rPr lang="en-US" dirty="0"/>
                  <a:t>: On pose les données.</a:t>
                </a:r>
              </a:p>
              <a:p>
                <a:pPr defTabSz="914400">
                  <a:lnSpc>
                    <a:spcPct val="90000"/>
                  </a:lnSpc>
                  <a:spcAft>
                    <a:spcPts val="600"/>
                  </a:spcAft>
                </a:pPr>
                <a14:m>
                  <m:oMath xmlns:m="http://schemas.openxmlformats.org/officeDocument/2006/math">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e>
                    </m:d>
                    <m:r>
                      <a:rPr lang="en-US" b="0" i="1">
                        <a:latin typeface="Cambria Math" panose="02040503050406030204" pitchFamily="18" charset="0"/>
                      </a:rPr>
                      <m:t>=0,17    </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𝐵</m:t>
                        </m:r>
                      </m:e>
                    </m:d>
                    <m:r>
                      <a:rPr lang="en-US" b="0" i="1">
                        <a:latin typeface="Cambria Math" panose="02040503050406030204" pitchFamily="18" charset="0"/>
                      </a:rPr>
                      <m:t>=0,35    </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𝐶</m:t>
                        </m:r>
                      </m:e>
                    </m:d>
                    <m:r>
                      <a:rPr lang="en-US" b="0" i="1">
                        <a:latin typeface="Cambria Math" panose="02040503050406030204" pitchFamily="18" charset="0"/>
                      </a:rPr>
                      <m:t>=0,27 ;  </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r>
                          <a:rPr lang="en-US" b="0" i="1">
                            <a:latin typeface="Cambria Math" panose="02040503050406030204" pitchFamily="18" charset="0"/>
                          </a:rPr>
                          <m:t>∩</m:t>
                        </m:r>
                        <m:r>
                          <a:rPr lang="en-US" b="0" i="1">
                            <a:latin typeface="Cambria Math" panose="02040503050406030204" pitchFamily="18" charset="0"/>
                          </a:rPr>
                          <m:t>𝐵</m:t>
                        </m:r>
                      </m:e>
                    </m:d>
                    <m:r>
                      <a:rPr lang="en-US" b="0" i="1">
                        <a:latin typeface="Cambria Math" panose="02040503050406030204" pitchFamily="18" charset="0"/>
                      </a:rPr>
                      <m:t>=</m:t>
                    </m:r>
                  </m:oMath>
                </a14:m>
                <a:r>
                  <a:rPr lang="en-US" dirty="0"/>
                  <a:t>0,10  ; </a:t>
                </a:r>
              </a:p>
              <a:p>
                <a:pPr defTabSz="914400">
                  <a:lnSpc>
                    <a:spcPct val="90000"/>
                  </a:lnSpc>
                  <a:spcAft>
                    <a:spcPts val="600"/>
                  </a:spcAft>
                </a:pPr>
                <a:r>
                  <a:rPr lang="en-US" dirty="0"/>
                  <a:t>P(B</a:t>
                </a:r>
                <a14:m>
                  <m:oMath xmlns:m="http://schemas.openxmlformats.org/officeDocument/2006/math">
                    <m:r>
                      <a:rPr lang="en-US" i="1">
                        <a:latin typeface="Cambria Math" panose="02040503050406030204" pitchFamily="18" charset="0"/>
                      </a:rPr>
                      <m:t>∩</m:t>
                    </m:r>
                    <m:r>
                      <a:rPr lang="en-US" b="0" i="1">
                        <a:latin typeface="Cambria Math" panose="02040503050406030204" pitchFamily="18" charset="0"/>
                      </a:rPr>
                      <m:t>𝐶</m:t>
                    </m:r>
                    <m:r>
                      <a:rPr lang="en-US" b="0" i="1">
                        <a:latin typeface="Cambria Math" panose="02040503050406030204" pitchFamily="18" charset="0"/>
                      </a:rPr>
                      <m:t>)=0,12  ;</m:t>
                    </m:r>
                    <m:r>
                      <a:rPr lang="en-US" b="0" i="1">
                        <a:latin typeface="Cambria Math" panose="02040503050406030204" pitchFamily="18" charset="0"/>
                      </a:rPr>
                      <m:t>𝑃</m:t>
                    </m:r>
                    <m:r>
                      <a:rPr lang="en-US" b="0" i="1">
                        <a:latin typeface="Cambria Math" panose="02040503050406030204" pitchFamily="18" charset="0"/>
                      </a:rPr>
                      <m:t>(</m:t>
                    </m:r>
                    <m:r>
                      <a:rPr lang="en-US" b="0" i="1">
                        <a:latin typeface="Cambria Math" panose="02040503050406030204" pitchFamily="18" charset="0"/>
                      </a:rPr>
                      <m:t>𝐴</m:t>
                    </m:r>
                    <m:r>
                      <a:rPr lang="en-US" b="0" i="1">
                        <a:latin typeface="Cambria Math" panose="02040503050406030204" pitchFamily="18" charset="0"/>
                      </a:rPr>
                      <m:t>∩</m:t>
                    </m:r>
                    <m:r>
                      <a:rPr lang="en-US" b="0" i="1">
                        <a:latin typeface="Cambria Math" panose="02040503050406030204" pitchFamily="18" charset="0"/>
                      </a:rPr>
                      <m:t>𝐶</m:t>
                    </m:r>
                    <m:r>
                      <a:rPr lang="en-US" b="0" i="1">
                        <a:latin typeface="Cambria Math" panose="02040503050406030204" pitchFamily="18" charset="0"/>
                      </a:rPr>
                      <m:t>)=0,08</m:t>
                    </m:r>
                    <m:r>
                      <a:rPr lang="fr-CA" b="0" i="0" smtClean="0">
                        <a:latin typeface="Cambria Math" panose="02040503050406030204" pitchFamily="18" charset="0"/>
                      </a:rPr>
                      <m:t> </m:t>
                    </m:r>
                    <m:r>
                      <m:rPr>
                        <m:sty m:val="p"/>
                      </m:rPr>
                      <a:rPr lang="fr-CA" b="0" i="0" smtClean="0">
                        <a:latin typeface="Cambria Math" panose="02040503050406030204" pitchFamily="18" charset="0"/>
                      </a:rPr>
                      <m:t>et</m:t>
                    </m:r>
                    <m:r>
                      <a:rPr lang="fr-CA" b="0" i="0" smtClean="0">
                        <a:latin typeface="Cambria Math" panose="02040503050406030204" pitchFamily="18" charset="0"/>
                      </a:rPr>
                      <m:t>  </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r>
                          <a:rPr lang="en-US" b="0" i="1">
                            <a:latin typeface="Cambria Math" panose="02040503050406030204" pitchFamily="18" charset="0"/>
                          </a:rPr>
                          <m:t>∩</m:t>
                        </m:r>
                        <m:r>
                          <a:rPr lang="en-US" b="0" i="1">
                            <a:latin typeface="Cambria Math" panose="02040503050406030204" pitchFamily="18" charset="0"/>
                          </a:rPr>
                          <m:t>𝐵</m:t>
                        </m:r>
                        <m:r>
                          <a:rPr lang="en-US" b="0" i="1">
                            <a:latin typeface="Cambria Math" panose="02040503050406030204" pitchFamily="18" charset="0"/>
                          </a:rPr>
                          <m:t>∩</m:t>
                        </m:r>
                        <m:r>
                          <a:rPr lang="en-US" b="0" i="1">
                            <a:latin typeface="Cambria Math" panose="02040503050406030204" pitchFamily="18" charset="0"/>
                          </a:rPr>
                          <m:t>𝐶</m:t>
                        </m:r>
                      </m:e>
                    </m:d>
                    <m:r>
                      <a:rPr lang="en-US" b="0" i="1">
                        <a:latin typeface="Cambria Math" panose="02040503050406030204" pitchFamily="18" charset="0"/>
                      </a:rPr>
                      <m:t>=0,02</m:t>
                    </m:r>
                  </m:oMath>
                </a14:m>
                <a:endParaRPr lang="en-US" dirty="0"/>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r>
                  <a:rPr lang="en-US" b="1" dirty="0"/>
                  <a:t>2</a:t>
                </a:r>
                <a:r>
                  <a:rPr lang="en-US" b="1" baseline="30000" dirty="0"/>
                  <a:t>ème</a:t>
                </a:r>
                <a:r>
                  <a:rPr lang="en-US" b="1" dirty="0"/>
                  <a:t> étape: </a:t>
                </a:r>
                <a:r>
                  <a:rPr lang="en-US" dirty="0"/>
                  <a:t>On répond aux questions.</a:t>
                </a:r>
              </a:p>
              <a:p>
                <a:pPr indent="-228600" defTabSz="914400">
                  <a:lnSpc>
                    <a:spcPct val="90000"/>
                  </a:lnSpc>
                  <a:spcAft>
                    <a:spcPts val="600"/>
                  </a:spcAft>
                  <a:buFont typeface="Arial" panose="020B0604020202020204" pitchFamily="34" charset="0"/>
                  <a:buChar char="•"/>
                </a:pPr>
                <a:endParaRPr lang="en-US" dirty="0"/>
              </a:p>
              <a:p>
                <a:pPr marL="342900" indent="-228600" defTabSz="914400">
                  <a:lnSpc>
                    <a:spcPct val="90000"/>
                  </a:lnSpc>
                  <a:spcAft>
                    <a:spcPts val="600"/>
                  </a:spcAft>
                  <a:buFont typeface="Arial" panose="020B0604020202020204" pitchFamily="34" charset="0"/>
                  <a:buChar char="•"/>
                </a:pPr>
                <a14:m>
                  <m:oMath xmlns:m="http://schemas.openxmlformats.org/officeDocument/2006/math">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r>
                          <a:rPr lang="en-US" b="0" i="1">
                            <a:latin typeface="Cambria Math" panose="02040503050406030204" pitchFamily="18" charset="0"/>
                          </a:rPr>
                          <m:t>∪</m:t>
                        </m:r>
                        <m:r>
                          <a:rPr lang="en-US" b="0" i="1">
                            <a:latin typeface="Cambria Math" panose="02040503050406030204" pitchFamily="18" charset="0"/>
                          </a:rPr>
                          <m:t>𝐵</m:t>
                        </m:r>
                        <m:r>
                          <a:rPr lang="en-US" b="0" i="1">
                            <a:latin typeface="Cambria Math" panose="02040503050406030204" pitchFamily="18" charset="0"/>
                          </a:rPr>
                          <m:t>∪</m:t>
                        </m:r>
                        <m:r>
                          <a:rPr lang="en-US" b="0" i="1">
                            <a:latin typeface="Cambria Math" panose="02040503050406030204" pitchFamily="18" charset="0"/>
                          </a:rPr>
                          <m:t>𝐶</m:t>
                        </m:r>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𝐵</m:t>
                        </m:r>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𝐶</m:t>
                        </m:r>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r>
                          <a:rPr lang="en-US" b="0" i="1">
                            <a:latin typeface="Cambria Math" panose="02040503050406030204" pitchFamily="18" charset="0"/>
                          </a:rPr>
                          <m:t>∩</m:t>
                        </m:r>
                        <m:r>
                          <a:rPr lang="en-US" b="0" i="1">
                            <a:latin typeface="Cambria Math" panose="02040503050406030204" pitchFamily="18" charset="0"/>
                          </a:rPr>
                          <m:t>𝐵</m:t>
                        </m:r>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r>
                          <a:rPr lang="en-US" b="0" i="1">
                            <a:latin typeface="Cambria Math" panose="02040503050406030204" pitchFamily="18" charset="0"/>
                          </a:rPr>
                          <m:t>∩</m:t>
                        </m:r>
                        <m:r>
                          <a:rPr lang="en-US" b="0" i="1">
                            <a:latin typeface="Cambria Math" panose="02040503050406030204" pitchFamily="18" charset="0"/>
                          </a:rPr>
                          <m:t>𝐶</m:t>
                        </m:r>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𝐵</m:t>
                        </m:r>
                        <m:r>
                          <a:rPr lang="en-US" b="0" i="1">
                            <a:latin typeface="Cambria Math" panose="02040503050406030204" pitchFamily="18" charset="0"/>
                          </a:rPr>
                          <m:t>∩</m:t>
                        </m:r>
                        <m:r>
                          <a:rPr lang="en-US" b="0" i="1">
                            <a:latin typeface="Cambria Math" panose="02040503050406030204" pitchFamily="18" charset="0"/>
                          </a:rPr>
                          <m:t>𝐶</m:t>
                        </m:r>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r>
                          <a:rPr lang="en-US" b="0" i="1">
                            <a:latin typeface="Cambria Math" panose="02040503050406030204" pitchFamily="18" charset="0"/>
                          </a:rPr>
                          <m:t>∩</m:t>
                        </m:r>
                        <m:r>
                          <a:rPr lang="en-US" b="0" i="1">
                            <a:latin typeface="Cambria Math" panose="02040503050406030204" pitchFamily="18" charset="0"/>
                          </a:rPr>
                          <m:t>𝐵</m:t>
                        </m:r>
                        <m:r>
                          <a:rPr lang="en-US" b="0" i="1">
                            <a:latin typeface="Cambria Math" panose="02040503050406030204" pitchFamily="18" charset="0"/>
                          </a:rPr>
                          <m:t>∩</m:t>
                        </m:r>
                        <m:r>
                          <a:rPr lang="en-US" b="0" i="1">
                            <a:latin typeface="Cambria Math" panose="02040503050406030204" pitchFamily="18" charset="0"/>
                          </a:rPr>
                          <m:t>𝐶</m:t>
                        </m:r>
                      </m:e>
                    </m:d>
                    <m:r>
                      <a:rPr lang="en-US" b="0" i="1">
                        <a:latin typeface="Cambria Math" panose="02040503050406030204" pitchFamily="18" charset="0"/>
                      </a:rPr>
                      <m:t>=</m:t>
                    </m:r>
                  </m:oMath>
                </a14:m>
                <a:endParaRPr lang="en-US" b="0" dirty="0"/>
              </a:p>
              <a:p>
                <a:pPr defTabSz="914400">
                  <a:lnSpc>
                    <a:spcPct val="90000"/>
                  </a:lnSpc>
                  <a:spcAft>
                    <a:spcPts val="600"/>
                  </a:spcAft>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0,17+0,35+0,27−0,10−0,12−0,08+0,02=0,51=51%</m:t>
                      </m:r>
                    </m:oMath>
                  </m:oMathPara>
                </a14:m>
                <a:endParaRPr lang="en-US" dirty="0"/>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r>
                  <a:rPr lang="en-US" dirty="0"/>
                  <a:t>(b) </a:t>
                </a:r>
                <a14:m>
                  <m:oMath xmlns:m="http://schemas.openxmlformats.org/officeDocument/2006/math">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𝐵</m:t>
                        </m:r>
                        <m:r>
                          <a:rPr lang="en-US" b="0" i="1">
                            <a:latin typeface="Cambria Math" panose="02040503050406030204" pitchFamily="18" charset="0"/>
                          </a:rPr>
                          <m:t>∪</m:t>
                        </m:r>
                        <m:r>
                          <a:rPr lang="en-US" b="0" i="1">
                            <a:latin typeface="Cambria Math" panose="02040503050406030204" pitchFamily="18" charset="0"/>
                          </a:rPr>
                          <m:t>𝐶</m:t>
                        </m:r>
                        <m:r>
                          <a:rPr lang="en-US" b="0" i="1">
                            <a:latin typeface="Cambria Math" panose="02040503050406030204" pitchFamily="18" charset="0"/>
                          </a:rPr>
                          <m:t>∩</m:t>
                        </m:r>
                        <m:sSup>
                          <m:sSupPr>
                            <m:ctrlPr>
                              <a:rPr lang="en-US" b="0" i="1">
                                <a:latin typeface="Cambria Math" panose="02040503050406030204" pitchFamily="18" charset="0"/>
                              </a:rPr>
                            </m:ctrlPr>
                          </m:sSupPr>
                          <m:e>
                            <m:r>
                              <a:rPr lang="en-US" b="0" i="1">
                                <a:latin typeface="Cambria Math" panose="02040503050406030204" pitchFamily="18" charset="0"/>
                              </a:rPr>
                              <m:t>𝐴</m:t>
                            </m:r>
                          </m:e>
                          <m:sup>
                            <m:r>
                              <a:rPr lang="en-US" b="0" i="1">
                                <a:latin typeface="Cambria Math" panose="02040503050406030204" pitchFamily="18" charset="0"/>
                              </a:rPr>
                              <m:t>′</m:t>
                            </m:r>
                          </m:sup>
                        </m:sSup>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r>
                          <a:rPr lang="en-US" b="0" i="1">
                            <a:latin typeface="Cambria Math" panose="02040503050406030204" pitchFamily="18" charset="0"/>
                          </a:rPr>
                          <m:t>∪</m:t>
                        </m:r>
                        <m:r>
                          <a:rPr lang="en-US" b="0" i="1">
                            <a:latin typeface="Cambria Math" panose="02040503050406030204" pitchFamily="18" charset="0"/>
                          </a:rPr>
                          <m:t>𝐵</m:t>
                        </m:r>
                        <m:r>
                          <a:rPr lang="en-US" b="0" i="1">
                            <a:latin typeface="Cambria Math" panose="02040503050406030204" pitchFamily="18" charset="0"/>
                          </a:rPr>
                          <m:t>∪</m:t>
                        </m:r>
                        <m:r>
                          <a:rPr lang="en-US" b="0" i="1">
                            <a:latin typeface="Cambria Math" panose="02040503050406030204" pitchFamily="18" charset="0"/>
                          </a:rPr>
                          <m:t>𝐶</m:t>
                        </m:r>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e>
                    </m:d>
                  </m:oMath>
                </a14:m>
                <a:r>
                  <a:rPr lang="en-US" dirty="0"/>
                  <a:t> </a:t>
                </a:r>
              </a:p>
              <a:p>
                <a:pPr defTabSz="914400">
                  <a:lnSpc>
                    <a:spcPct val="90000"/>
                  </a:lnSpc>
                  <a:spcAft>
                    <a:spcPts val="600"/>
                  </a:spcAft>
                </a:pPr>
                <a:r>
                  <a:rPr lang="en-US" dirty="0"/>
                  <a:t>ce sont donc ceux qui lisent au moins un des trois journaux moins ceux qui lisent le journal </a:t>
                </a:r>
                <a:r>
                  <a:rPr lang="en-US" i="1" dirty="0"/>
                  <a:t>A</a:t>
                </a:r>
                <a:r>
                  <a:rPr lang="en-US" dirty="0"/>
                  <a:t>, ce qui fait 51 % − 17 % = 34 %.</a:t>
                </a:r>
              </a:p>
              <a:p>
                <a:pPr indent="-228600" defTabSz="914400">
                  <a:lnSpc>
                    <a:spcPct val="90000"/>
                  </a:lnSpc>
                  <a:spcAft>
                    <a:spcPts val="600"/>
                  </a:spcAft>
                  <a:buFont typeface="Arial" panose="020B0604020202020204" pitchFamily="34" charset="0"/>
                  <a:buChar char="•"/>
                </a:pPr>
                <a:endParaRPr lang="en-US" dirty="0"/>
              </a:p>
            </p:txBody>
          </p:sp>
        </mc:Choice>
        <mc:Fallback xmlns="">
          <p:sp>
            <p:nvSpPr>
              <p:cNvPr id="5" name="ZoneTexte 4">
                <a:extLst>
                  <a:ext uri="{FF2B5EF4-FFF2-40B4-BE49-F238E27FC236}">
                    <a16:creationId xmlns:a16="http://schemas.microsoft.com/office/drawing/2014/main" id="{BB2F8A10-A892-4E00-83A3-F3EA0BAA7195}"/>
                  </a:ext>
                </a:extLst>
              </p:cNvPr>
              <p:cNvSpPr txBox="1">
                <a:spLocks noRot="1" noChangeAspect="1" noMove="1" noResize="1" noEditPoints="1" noAdjustHandles="1" noChangeArrowheads="1" noChangeShapeType="1" noTextEdit="1"/>
              </p:cNvSpPr>
              <p:nvPr/>
            </p:nvSpPr>
            <p:spPr>
              <a:xfrm>
                <a:off x="4447308" y="591344"/>
                <a:ext cx="6906491" cy="5585619"/>
              </a:xfrm>
              <a:prstGeom prst="rect">
                <a:avLst/>
              </a:prstGeom>
              <a:blipFill>
                <a:blip r:embed="rId2"/>
                <a:stretch>
                  <a:fillRect l="-795"/>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1AF506FD-E069-462D-ABEC-9EAB7CB390E8}"/>
              </a:ext>
            </a:extLst>
          </p:cNvPr>
          <p:cNvSpPr>
            <a:spLocks noGrp="1"/>
          </p:cNvSpPr>
          <p:nvPr>
            <p:ph type="ftr" sz="quarter" idx="11"/>
          </p:nvPr>
        </p:nvSpPr>
        <p:spPr>
          <a:xfrm>
            <a:off x="4038600" y="6356350"/>
            <a:ext cx="5251174"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FE1EB2B7-2996-48B7-A70F-C8A4FF398497}"/>
              </a:ext>
            </a:extLst>
          </p:cNvPr>
          <p:cNvSpPr>
            <a:spLocks noGrp="1"/>
          </p:cNvSpPr>
          <p:nvPr>
            <p:ph type="sldNum" sz="quarter" idx="12"/>
          </p:nvPr>
        </p:nvSpPr>
        <p:spPr>
          <a:xfrm>
            <a:off x="9541564" y="6356350"/>
            <a:ext cx="1812235"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5</a:t>
            </a:fld>
            <a:endParaRPr lang="en-US"/>
          </a:p>
        </p:txBody>
      </p:sp>
    </p:spTree>
    <p:extLst>
      <p:ext uri="{BB962C8B-B14F-4D97-AF65-F5344CB8AC3E}">
        <p14:creationId xmlns:p14="http://schemas.microsoft.com/office/powerpoint/2010/main" val="2659972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645A9DEB-6D73-454A-A03C-604366C6DE12}"/>
                  </a:ext>
                </a:extLst>
              </p:cNvPr>
              <p:cNvSpPr>
                <a:spLocks noGrp="1"/>
              </p:cNvSpPr>
              <p:nvPr>
                <p:ph type="title"/>
              </p:nvPr>
            </p:nvSpPr>
            <p:spPr>
              <a:xfrm>
                <a:off x="838200" y="-378824"/>
                <a:ext cx="10369731" cy="6544493"/>
              </a:xfrm>
            </p:spPr>
            <p:txBody>
              <a:bodyPr>
                <a:normAutofit/>
              </a:bodyPr>
              <a:lstStyle/>
              <a:p>
                <a:pPr marL="685800" indent="-228600" algn="l">
                  <a:lnSpc>
                    <a:spcPct val="150000"/>
                  </a:lnSpc>
                  <a:spcAft>
                    <a:spcPts val="300"/>
                  </a:spcAft>
                  <a:tabLst>
                    <a:tab pos="266700" algn="r"/>
                    <a:tab pos="449580" algn="l"/>
                  </a:tabLst>
                </a:pPr>
                <a:r>
                  <a:rPr lang="fr-CA" dirty="0"/>
                  <a:t>EXERCICE 1: </a:t>
                </a:r>
                <a:r>
                  <a:rPr lang="fr-FR" sz="1800" dirty="0">
                    <a:solidFill>
                      <a:srgbClr val="000000"/>
                    </a:solidFill>
                    <a:effectLst/>
                    <a:latin typeface="Times New Roman" panose="02020603050405020304" pitchFamily="18" charset="0"/>
                    <a:ea typeface="Times New Roman" panose="02020603050405020304" pitchFamily="18" charset="0"/>
                  </a:rPr>
                  <a:t>On lance une pièce de monnaie trois fois et on note le côté obtenu à chaque lancer.</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Décrivez en extension l’espace </a:t>
                </a:r>
                <a:r>
                  <a:rPr lang="fr-FR" sz="1800" dirty="0" err="1">
                    <a:solidFill>
                      <a:srgbClr val="000000"/>
                    </a:solidFill>
                    <a:effectLst/>
                    <a:latin typeface="Times New Roman" panose="02020603050405020304" pitchFamily="18" charset="0"/>
                    <a:ea typeface="Times New Roman" panose="02020603050405020304" pitchFamily="18" charset="0"/>
                  </a:rPr>
                  <a:t>échantillonnal</a:t>
                </a: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S</a:t>
                </a:r>
                <a:r>
                  <a:rPr lang="fr-FR" sz="1800" dirty="0">
                    <a:solidFill>
                      <a:srgbClr val="000000"/>
                    </a:solidFill>
                    <a:effectLst/>
                    <a:latin typeface="Times New Roman" panose="02020603050405020304" pitchFamily="18" charset="0"/>
                    <a:ea typeface="Times New Roman" panose="02020603050405020304" pitchFamily="18" charset="0"/>
                  </a:rPr>
                  <a:t>.</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Décrivez en extension les événements suivants et calculez leur probabilité.</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i="1" dirty="0">
                    <a:solidFill>
                      <a:srgbClr val="000000"/>
                    </a:solidFill>
                    <a:effectLst/>
                    <a:latin typeface="Times New Roman" panose="02020603050405020304" pitchFamily="18" charset="0"/>
                    <a:ea typeface="Times New Roman" panose="02020603050405020304" pitchFamily="18" charset="0"/>
                  </a:rPr>
                  <a:t>A</a:t>
                </a:r>
                <a:r>
                  <a:rPr lang="fr-FR" sz="1800" dirty="0">
                    <a:solidFill>
                      <a:srgbClr val="000000"/>
                    </a:solidFill>
                    <a:effectLst/>
                    <a:latin typeface="Times New Roman" panose="02020603050405020304" pitchFamily="18" charset="0"/>
                    <a:ea typeface="Times New Roman" panose="02020603050405020304" pitchFamily="18" charset="0"/>
                  </a:rPr>
                  <a:t> : Obtenir exactement deux piles</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i="1" dirty="0">
                    <a:solidFill>
                      <a:srgbClr val="000000"/>
                    </a:solidFill>
                    <a:effectLst/>
                    <a:latin typeface="Times New Roman" panose="02020603050405020304" pitchFamily="18" charset="0"/>
                    <a:ea typeface="Times New Roman" panose="02020603050405020304" pitchFamily="18" charset="0"/>
                  </a:rPr>
                  <a:t>B</a:t>
                </a:r>
                <a:r>
                  <a:rPr lang="fr-FR" sz="1800" dirty="0">
                    <a:solidFill>
                      <a:srgbClr val="000000"/>
                    </a:solidFill>
                    <a:effectLst/>
                    <a:latin typeface="Times New Roman" panose="02020603050405020304" pitchFamily="18" charset="0"/>
                    <a:ea typeface="Times New Roman" panose="02020603050405020304" pitchFamily="18" charset="0"/>
                  </a:rPr>
                  <a:t> : N’obtenir que des faces.</a:t>
                </a:r>
                <a:br>
                  <a:rPr lang="fr-FR" sz="1800" dirty="0">
                    <a:solidFill>
                      <a:srgbClr val="000000"/>
                    </a:solidFill>
                    <a:effectLst/>
                    <a:latin typeface="Times New Roman" panose="02020603050405020304" pitchFamily="18" charset="0"/>
                    <a:ea typeface="Times New Roman" panose="02020603050405020304" pitchFamily="18" charset="0"/>
                  </a:rPr>
                </a:br>
                <a:r>
                  <a:rPr lang="fr-FR" sz="1800" i="1" dirty="0">
                    <a:solidFill>
                      <a:srgbClr val="000000"/>
                    </a:solidFill>
                    <a:effectLst/>
                    <a:latin typeface="Times New Roman" panose="02020603050405020304" pitchFamily="18" charset="0"/>
                    <a:ea typeface="Times New Roman" panose="02020603050405020304" pitchFamily="18" charset="0"/>
                  </a:rPr>
                  <a:t>C</a:t>
                </a:r>
                <a:r>
                  <a:rPr lang="fr-FR" sz="1800" dirty="0">
                    <a:solidFill>
                      <a:srgbClr val="000000"/>
                    </a:solidFill>
                    <a:effectLst/>
                    <a:latin typeface="Times New Roman" panose="02020603050405020304" pitchFamily="18" charset="0"/>
                    <a:ea typeface="Times New Roman" panose="02020603050405020304" pitchFamily="18" charset="0"/>
                  </a:rPr>
                  <a:t> : Obtenir plus de piles que de faces</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i="1" dirty="0">
                    <a:solidFill>
                      <a:srgbClr val="000000"/>
                    </a:solidFill>
                    <a:effectLst/>
                    <a:latin typeface="Times New Roman" panose="02020603050405020304" pitchFamily="18" charset="0"/>
                    <a:ea typeface="Times New Roman" panose="02020603050405020304" pitchFamily="18" charset="0"/>
                  </a:rPr>
                  <a:t>D :</a:t>
                </a:r>
                <a:r>
                  <a:rPr lang="fr-FR" sz="1800" dirty="0">
                    <a:solidFill>
                      <a:srgbClr val="000000"/>
                    </a:solidFill>
                    <a:effectLst/>
                    <a:latin typeface="Times New Roman" panose="02020603050405020304" pitchFamily="18" charset="0"/>
                    <a:ea typeface="Times New Roman" panose="02020603050405020304" pitchFamily="18" charset="0"/>
                  </a:rPr>
                  <a:t> Obtenir autant de piles que de faces</a:t>
                </a:r>
                <a:r>
                  <a:rPr lang="fr-CA" sz="1800" dirty="0">
                    <a:solidFill>
                      <a:srgbClr val="000000"/>
                    </a:solidFill>
                    <a:latin typeface="Times New Roman" panose="02020603050405020304" pitchFamily="18" charset="0"/>
                    <a:ea typeface="Times New Roman" panose="02020603050405020304" pitchFamily="18" charset="0"/>
                  </a:rPr>
                  <a:t>.</a:t>
                </a:r>
                <a:br>
                  <a:rPr lang="fr-CA" sz="1800" dirty="0">
                    <a:solidFill>
                      <a:srgbClr val="000000"/>
                    </a:solidFill>
                    <a:latin typeface="Times New Roman" panose="02020603050405020304" pitchFamily="18" charset="0"/>
                    <a:ea typeface="Times New Roman" panose="02020603050405020304" pitchFamily="18" charset="0"/>
                  </a:rPr>
                </a:br>
                <a:br>
                  <a:rPr lang="fr-CA" sz="1800" dirty="0">
                    <a:solidFill>
                      <a:srgbClr val="000000"/>
                    </a:solidFill>
                    <a:latin typeface="Times New Roman" panose="02020603050405020304" pitchFamily="18" charset="0"/>
                    <a:ea typeface="Times New Roman" panose="02020603050405020304" pitchFamily="18" charset="0"/>
                  </a:rPr>
                </a:br>
                <a:r>
                  <a:rPr lang="fr-CA" sz="1800" dirty="0">
                    <a:solidFill>
                      <a:srgbClr val="000000"/>
                    </a:solidFill>
                    <a:latin typeface="Times New Roman" panose="02020603050405020304" pitchFamily="18" charset="0"/>
                    <a:ea typeface="Times New Roman" panose="02020603050405020304" pitchFamily="18" charset="0"/>
                  </a:rPr>
                  <a:t>(a) </a:t>
                </a:r>
                <a14:m>
                  <m:oMath xmlns:m="http://schemas.openxmlformats.org/officeDocument/2006/math">
                    <m:r>
                      <a:rPr lang="fr-CA" sz="1800" b="0" i="1" smtClean="0">
                        <a:solidFill>
                          <a:srgbClr val="000000"/>
                        </a:solidFill>
                        <a:latin typeface="Cambria Math" panose="02040503050406030204" pitchFamily="18" charset="0"/>
                        <a:ea typeface="Times New Roman" panose="02020603050405020304" pitchFamily="18" charset="0"/>
                      </a:rPr>
                      <m:t>𝑆</m:t>
                    </m:r>
                    <m:r>
                      <a:rPr lang="fr-CA" sz="1800" b="0" i="1" smtClean="0">
                        <a:solidFill>
                          <a:srgbClr val="000000"/>
                        </a:solidFill>
                        <a:latin typeface="Cambria Math" panose="02040503050406030204" pitchFamily="18" charset="0"/>
                        <a:ea typeface="Times New Roman" panose="02020603050405020304" pitchFamily="18" charset="0"/>
                      </a:rPr>
                      <m:t>=</m:t>
                    </m:r>
                    <m:d>
                      <m:dPr>
                        <m:begChr m:val="{"/>
                        <m:endChr m:val="}"/>
                        <m:ctrlPr>
                          <a:rPr lang="fr-CA" sz="1800" b="0" i="1" smtClean="0">
                            <a:solidFill>
                              <a:srgbClr val="000000"/>
                            </a:solidFill>
                            <a:latin typeface="Cambria Math" panose="02040503050406030204" pitchFamily="18" charset="0"/>
                          </a:rPr>
                        </m:ctrlPr>
                      </m:dPr>
                      <m:e>
                        <m:r>
                          <a:rPr lang="fr-CA" sz="1800" b="0" i="1" smtClean="0">
                            <a:solidFill>
                              <a:srgbClr val="000000"/>
                            </a:solidFill>
                            <a:latin typeface="Cambria Math" panose="02040503050406030204" pitchFamily="18" charset="0"/>
                          </a:rPr>
                          <m:t>𝑓𝑓𝑓</m:t>
                        </m:r>
                        <m:r>
                          <a:rPr lang="fr-CA" sz="1800" b="0" i="1" smtClean="0">
                            <a:solidFill>
                              <a:srgbClr val="000000"/>
                            </a:solidFill>
                            <a:latin typeface="Cambria Math" panose="02040503050406030204" pitchFamily="18" charset="0"/>
                          </a:rPr>
                          <m:t>,</m:t>
                        </m:r>
                        <m:r>
                          <a:rPr lang="fr-CA" sz="1800" b="0" i="1" smtClean="0">
                            <a:solidFill>
                              <a:srgbClr val="000000"/>
                            </a:solidFill>
                            <a:latin typeface="Cambria Math" panose="02040503050406030204" pitchFamily="18" charset="0"/>
                          </a:rPr>
                          <m:t>𝑓𝑓𝑝</m:t>
                        </m:r>
                        <m:r>
                          <a:rPr lang="fr-CA" sz="1800" b="0" i="1" smtClean="0">
                            <a:solidFill>
                              <a:srgbClr val="000000"/>
                            </a:solidFill>
                            <a:latin typeface="Cambria Math" panose="02040503050406030204" pitchFamily="18" charset="0"/>
                          </a:rPr>
                          <m:t>,</m:t>
                        </m:r>
                        <m:r>
                          <a:rPr lang="fr-CA" sz="1800" b="0" i="1" smtClean="0">
                            <a:solidFill>
                              <a:srgbClr val="000000"/>
                            </a:solidFill>
                            <a:latin typeface="Cambria Math" panose="02040503050406030204" pitchFamily="18" charset="0"/>
                          </a:rPr>
                          <m:t>𝑓𝑝𝑓</m:t>
                        </m:r>
                        <m:r>
                          <a:rPr lang="fr-CA" sz="1800" b="0" i="1" smtClean="0">
                            <a:solidFill>
                              <a:srgbClr val="000000"/>
                            </a:solidFill>
                            <a:latin typeface="Cambria Math" panose="02040503050406030204" pitchFamily="18" charset="0"/>
                          </a:rPr>
                          <m:t>,</m:t>
                        </m:r>
                        <m:r>
                          <a:rPr lang="fr-CA" sz="1800" b="0" i="1" smtClean="0">
                            <a:solidFill>
                              <a:srgbClr val="000000"/>
                            </a:solidFill>
                            <a:latin typeface="Cambria Math" panose="02040503050406030204" pitchFamily="18" charset="0"/>
                          </a:rPr>
                          <m:t>𝑝𝑓𝑓</m:t>
                        </m:r>
                        <m:r>
                          <a:rPr lang="fr-CA" sz="1800" b="0" i="1" smtClean="0">
                            <a:solidFill>
                              <a:srgbClr val="000000"/>
                            </a:solidFill>
                            <a:latin typeface="Cambria Math" panose="02040503050406030204" pitchFamily="18" charset="0"/>
                          </a:rPr>
                          <m:t>,</m:t>
                        </m:r>
                        <m:r>
                          <a:rPr lang="fr-CA" sz="1800" b="0" i="1" smtClean="0">
                            <a:solidFill>
                              <a:srgbClr val="000000"/>
                            </a:solidFill>
                            <a:latin typeface="Cambria Math" panose="02040503050406030204" pitchFamily="18" charset="0"/>
                          </a:rPr>
                          <m:t>𝑓𝑝𝑝</m:t>
                        </m:r>
                        <m:r>
                          <a:rPr lang="fr-CA" sz="1800" b="0" i="1" smtClean="0">
                            <a:solidFill>
                              <a:srgbClr val="000000"/>
                            </a:solidFill>
                            <a:latin typeface="Cambria Math" panose="02040503050406030204" pitchFamily="18" charset="0"/>
                          </a:rPr>
                          <m:t>,</m:t>
                        </m:r>
                        <m:r>
                          <a:rPr lang="fr-CA" sz="1800" b="0" i="1" smtClean="0">
                            <a:solidFill>
                              <a:srgbClr val="000000"/>
                            </a:solidFill>
                            <a:latin typeface="Cambria Math" panose="02040503050406030204" pitchFamily="18" charset="0"/>
                          </a:rPr>
                          <m:t>𝑝𝑓𝑝</m:t>
                        </m:r>
                        <m:r>
                          <a:rPr lang="fr-CA" sz="1800" b="0" i="1" smtClean="0">
                            <a:solidFill>
                              <a:srgbClr val="000000"/>
                            </a:solidFill>
                            <a:latin typeface="Cambria Math" panose="02040503050406030204" pitchFamily="18" charset="0"/>
                          </a:rPr>
                          <m:t>,</m:t>
                        </m:r>
                        <m:r>
                          <a:rPr lang="fr-CA" sz="1800" b="0" i="1" smtClean="0">
                            <a:solidFill>
                              <a:srgbClr val="000000"/>
                            </a:solidFill>
                            <a:latin typeface="Cambria Math" panose="02040503050406030204" pitchFamily="18" charset="0"/>
                          </a:rPr>
                          <m:t>𝑝𝑝𝑓</m:t>
                        </m:r>
                        <m:r>
                          <a:rPr lang="fr-CA" sz="1800" b="0" i="1" smtClean="0">
                            <a:solidFill>
                              <a:srgbClr val="000000"/>
                            </a:solidFill>
                            <a:latin typeface="Cambria Math" panose="02040503050406030204" pitchFamily="18" charset="0"/>
                          </a:rPr>
                          <m:t>,</m:t>
                        </m:r>
                        <m:r>
                          <a:rPr lang="fr-CA" sz="1800" b="0" i="1" smtClean="0">
                            <a:solidFill>
                              <a:srgbClr val="000000"/>
                            </a:solidFill>
                            <a:latin typeface="Cambria Math" panose="02040503050406030204" pitchFamily="18" charset="0"/>
                          </a:rPr>
                          <m:t>𝑝𝑝𝑝</m:t>
                        </m:r>
                      </m:e>
                    </m:d>
                  </m:oMath>
                </a14:m>
                <a:br>
                  <a:rPr lang="fr-CA" sz="1800" dirty="0">
                    <a:solidFill>
                      <a:srgbClr val="000000"/>
                    </a:solidFill>
                    <a:effectLst/>
                    <a:latin typeface="Times New Roman" panose="02020603050405020304" pitchFamily="18" charset="0"/>
                    <a:ea typeface="Times New Roman" panose="02020603050405020304" pitchFamily="18" charset="0"/>
                  </a:rPr>
                </a:br>
                <a:r>
                  <a:rPr lang="fr-CA" sz="1800" dirty="0">
                    <a:solidFill>
                      <a:srgbClr val="000000"/>
                    </a:solidFill>
                    <a:latin typeface="Times New Roman" panose="02020603050405020304" pitchFamily="18" charset="0"/>
                    <a:ea typeface="Times New Roman" panose="02020603050405020304" pitchFamily="18" charset="0"/>
                  </a:rPr>
                  <a:t>(b) </a:t>
                </a:r>
                <a14:m>
                  <m:oMath xmlns:m="http://schemas.openxmlformats.org/officeDocument/2006/math">
                    <m:r>
                      <a:rPr lang="fr-CA" sz="1800" b="0" i="1" smtClean="0">
                        <a:solidFill>
                          <a:srgbClr val="000000"/>
                        </a:solidFill>
                        <a:latin typeface="Cambria Math" panose="02040503050406030204" pitchFamily="18" charset="0"/>
                        <a:ea typeface="Times New Roman" panose="02020603050405020304" pitchFamily="18" charset="0"/>
                      </a:rPr>
                      <m:t>𝐴</m:t>
                    </m:r>
                    <m:r>
                      <a:rPr lang="fr-CA" sz="1800" b="0" i="1" smtClean="0">
                        <a:solidFill>
                          <a:srgbClr val="000000"/>
                        </a:solidFill>
                        <a:latin typeface="Cambria Math" panose="02040503050406030204" pitchFamily="18" charset="0"/>
                        <a:ea typeface="Times New Roman" panose="02020603050405020304" pitchFamily="18" charset="0"/>
                      </a:rPr>
                      <m:t>=</m:t>
                    </m:r>
                    <m:d>
                      <m:dPr>
                        <m:begChr m:val="{"/>
                        <m:endChr m:val="}"/>
                        <m:ctrlPr>
                          <a:rPr lang="fr-CA" sz="1800" b="0" i="1" smtClean="0">
                            <a:solidFill>
                              <a:srgbClr val="000000"/>
                            </a:solidFill>
                            <a:latin typeface="Cambria Math" panose="02040503050406030204" pitchFamily="18" charset="0"/>
                          </a:rPr>
                        </m:ctrlPr>
                      </m:dPr>
                      <m:e>
                        <m:r>
                          <a:rPr lang="fr-CA" sz="1800" b="0" i="1" smtClean="0">
                            <a:solidFill>
                              <a:srgbClr val="000000"/>
                            </a:solidFill>
                            <a:latin typeface="Cambria Math" panose="02040503050406030204" pitchFamily="18" charset="0"/>
                          </a:rPr>
                          <m:t>𝑓𝑝𝑝</m:t>
                        </m:r>
                        <m:r>
                          <a:rPr lang="fr-CA" sz="1800" b="0" i="1" smtClean="0">
                            <a:solidFill>
                              <a:srgbClr val="000000"/>
                            </a:solidFill>
                            <a:latin typeface="Cambria Math" panose="02040503050406030204" pitchFamily="18" charset="0"/>
                          </a:rPr>
                          <m:t>,</m:t>
                        </m:r>
                        <m:r>
                          <a:rPr lang="fr-CA" sz="1800" b="0" i="1" smtClean="0">
                            <a:solidFill>
                              <a:srgbClr val="000000"/>
                            </a:solidFill>
                            <a:latin typeface="Cambria Math" panose="02040503050406030204" pitchFamily="18" charset="0"/>
                          </a:rPr>
                          <m:t>𝑝𝑓𝑝</m:t>
                        </m:r>
                        <m:r>
                          <a:rPr lang="fr-CA" sz="1800" b="0" i="1" smtClean="0">
                            <a:solidFill>
                              <a:srgbClr val="000000"/>
                            </a:solidFill>
                            <a:latin typeface="Cambria Math" panose="02040503050406030204" pitchFamily="18" charset="0"/>
                          </a:rPr>
                          <m:t>,</m:t>
                        </m:r>
                        <m:r>
                          <a:rPr lang="fr-CA" sz="1800" b="0" i="1" smtClean="0">
                            <a:solidFill>
                              <a:srgbClr val="000000"/>
                            </a:solidFill>
                            <a:latin typeface="Cambria Math" panose="02040503050406030204" pitchFamily="18" charset="0"/>
                          </a:rPr>
                          <m:t>𝑝𝑝𝑓</m:t>
                        </m:r>
                      </m:e>
                    </m:d>
                  </m:oMath>
                </a14:m>
                <a:r>
                  <a:rPr lang="fr-CA" sz="1800"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r>
                      <a:rPr lang="fr-CA" sz="1800" b="0" i="1" smtClean="0">
                        <a:solidFill>
                          <a:srgbClr val="000000"/>
                        </a:solidFill>
                        <a:effectLst/>
                        <a:latin typeface="Cambria Math" panose="02040503050406030204" pitchFamily="18" charset="0"/>
                        <a:ea typeface="Times New Roman" panose="02020603050405020304" pitchFamily="18" charset="0"/>
                      </a:rPr>
                      <m:t>𝐵</m:t>
                    </m:r>
                    <m:r>
                      <a:rPr lang="fr-CA" sz="1800" b="0" i="1" smtClean="0">
                        <a:solidFill>
                          <a:srgbClr val="000000"/>
                        </a:solidFill>
                        <a:effectLst/>
                        <a:latin typeface="Cambria Math" panose="02040503050406030204" pitchFamily="18" charset="0"/>
                        <a:ea typeface="Times New Roman" panose="02020603050405020304" pitchFamily="18" charset="0"/>
                      </a:rPr>
                      <m:t>=</m:t>
                    </m:r>
                    <m:d>
                      <m:dPr>
                        <m:begChr m:val="{"/>
                        <m:endChr m:val="}"/>
                        <m:ctrlPr>
                          <a:rPr lang="fr-CA" sz="1800" b="0" i="1" smtClean="0">
                            <a:solidFill>
                              <a:srgbClr val="000000"/>
                            </a:solidFill>
                            <a:effectLst/>
                            <a:latin typeface="Cambria Math" panose="02040503050406030204" pitchFamily="18" charset="0"/>
                          </a:rPr>
                        </m:ctrlPr>
                      </m:dPr>
                      <m:e>
                        <m:r>
                          <a:rPr lang="fr-CA" sz="1800" b="0" i="1" smtClean="0">
                            <a:solidFill>
                              <a:srgbClr val="000000"/>
                            </a:solidFill>
                            <a:effectLst/>
                            <a:latin typeface="Cambria Math" panose="02040503050406030204" pitchFamily="18" charset="0"/>
                          </a:rPr>
                          <m:t>𝑓𝑓𝑓</m:t>
                        </m:r>
                      </m:e>
                    </m:d>
                    <m:r>
                      <a:rPr lang="fr-CA" sz="1800" b="0" i="1" smtClean="0">
                        <a:solidFill>
                          <a:srgbClr val="000000"/>
                        </a:solidFill>
                        <a:effectLst/>
                        <a:latin typeface="Cambria Math" panose="02040503050406030204" pitchFamily="18" charset="0"/>
                      </a:rPr>
                      <m:t>     ;  </m:t>
                    </m:r>
                    <m:r>
                      <a:rPr lang="fr-CA" sz="1800" b="0" i="1" smtClean="0">
                        <a:solidFill>
                          <a:srgbClr val="000000"/>
                        </a:solidFill>
                        <a:effectLst/>
                        <a:latin typeface="Cambria Math" panose="02040503050406030204" pitchFamily="18" charset="0"/>
                      </a:rPr>
                      <m:t>𝐶</m:t>
                    </m:r>
                    <m:r>
                      <a:rPr lang="fr-CA" sz="1800" b="0" i="1" smtClean="0">
                        <a:solidFill>
                          <a:srgbClr val="000000"/>
                        </a:solidFill>
                        <a:effectLst/>
                        <a:latin typeface="Cambria Math" panose="02040503050406030204" pitchFamily="18" charset="0"/>
                      </a:rPr>
                      <m:t>=</m:t>
                    </m:r>
                    <m:d>
                      <m:dPr>
                        <m:begChr m:val="{"/>
                        <m:endChr m:val="}"/>
                        <m:ctrlPr>
                          <a:rPr lang="fr-CA" sz="1800" b="0" i="1" smtClean="0">
                            <a:solidFill>
                              <a:srgbClr val="000000"/>
                            </a:solidFill>
                            <a:effectLst/>
                            <a:latin typeface="Cambria Math" panose="02040503050406030204" pitchFamily="18" charset="0"/>
                          </a:rPr>
                        </m:ctrlPr>
                      </m:dPr>
                      <m:e>
                        <m:r>
                          <a:rPr lang="fr-CA" sz="1800" b="0" i="1" smtClean="0">
                            <a:solidFill>
                              <a:srgbClr val="000000"/>
                            </a:solidFill>
                            <a:effectLst/>
                            <a:latin typeface="Cambria Math" panose="02040503050406030204" pitchFamily="18" charset="0"/>
                          </a:rPr>
                          <m:t>𝑓𝑝𝑝</m:t>
                        </m:r>
                        <m:r>
                          <a:rPr lang="fr-CA" sz="1800" b="0" i="1" smtClean="0">
                            <a:solidFill>
                              <a:srgbClr val="000000"/>
                            </a:solidFill>
                            <a:effectLst/>
                            <a:latin typeface="Cambria Math" panose="02040503050406030204" pitchFamily="18" charset="0"/>
                          </a:rPr>
                          <m:t>,</m:t>
                        </m:r>
                        <m:r>
                          <a:rPr lang="fr-CA" sz="1800" b="0" i="1" smtClean="0">
                            <a:solidFill>
                              <a:srgbClr val="000000"/>
                            </a:solidFill>
                            <a:effectLst/>
                            <a:latin typeface="Cambria Math" panose="02040503050406030204" pitchFamily="18" charset="0"/>
                          </a:rPr>
                          <m:t>𝑝𝑓𝑝</m:t>
                        </m:r>
                        <m:r>
                          <a:rPr lang="fr-CA" sz="1800" b="0" i="1" smtClean="0">
                            <a:solidFill>
                              <a:srgbClr val="000000"/>
                            </a:solidFill>
                            <a:effectLst/>
                            <a:latin typeface="Cambria Math" panose="02040503050406030204" pitchFamily="18" charset="0"/>
                          </a:rPr>
                          <m:t>,</m:t>
                        </m:r>
                        <m:r>
                          <a:rPr lang="fr-CA" sz="1800" b="0" i="1" smtClean="0">
                            <a:solidFill>
                              <a:srgbClr val="000000"/>
                            </a:solidFill>
                            <a:effectLst/>
                            <a:latin typeface="Cambria Math" panose="02040503050406030204" pitchFamily="18" charset="0"/>
                          </a:rPr>
                          <m:t>𝑝𝑝𝑓</m:t>
                        </m:r>
                        <m:r>
                          <a:rPr lang="fr-CA" sz="1800" b="0" i="1" smtClean="0">
                            <a:solidFill>
                              <a:srgbClr val="000000"/>
                            </a:solidFill>
                            <a:effectLst/>
                            <a:latin typeface="Cambria Math" panose="02040503050406030204" pitchFamily="18" charset="0"/>
                          </a:rPr>
                          <m:t>,</m:t>
                        </m:r>
                        <m:r>
                          <a:rPr lang="fr-CA" sz="1800" b="0" i="1" smtClean="0">
                            <a:solidFill>
                              <a:srgbClr val="000000"/>
                            </a:solidFill>
                            <a:effectLst/>
                            <a:latin typeface="Cambria Math" panose="02040503050406030204" pitchFamily="18" charset="0"/>
                          </a:rPr>
                          <m:t>𝑝𝑝𝑝</m:t>
                        </m:r>
                      </m:e>
                    </m:d>
                    <m:r>
                      <a:rPr lang="fr-CA" sz="1800" b="0" i="1" smtClean="0">
                        <a:solidFill>
                          <a:srgbClr val="000000"/>
                        </a:solidFill>
                        <a:effectLst/>
                        <a:latin typeface="Cambria Math" panose="02040503050406030204" pitchFamily="18" charset="0"/>
                      </a:rPr>
                      <m:t>;      </m:t>
                    </m:r>
                    <m:r>
                      <a:rPr lang="fr-CA" sz="1800" b="0" i="1" smtClean="0">
                        <a:solidFill>
                          <a:srgbClr val="000000"/>
                        </a:solidFill>
                        <a:effectLst/>
                        <a:latin typeface="Cambria Math" panose="02040503050406030204" pitchFamily="18" charset="0"/>
                      </a:rPr>
                      <m:t>𝐷</m:t>
                    </m:r>
                    <m:r>
                      <a:rPr lang="fr-CA" sz="1800" b="0" i="1" smtClean="0">
                        <a:solidFill>
                          <a:srgbClr val="000000"/>
                        </a:solidFill>
                        <a:effectLst/>
                        <a:latin typeface="Cambria Math" panose="02040503050406030204" pitchFamily="18" charset="0"/>
                      </a:rPr>
                      <m:t>=</m:t>
                    </m:r>
                    <m:r>
                      <a:rPr lang="fr-CA" sz="1800" b="0" i="1" smtClean="0">
                        <a:solidFill>
                          <a:srgbClr val="000000"/>
                        </a:solidFill>
                        <a:effectLst/>
                        <a:latin typeface="Cambria Math" panose="02040503050406030204" pitchFamily="18" charset="0"/>
                      </a:rPr>
                      <m:t>𝑖𝑚𝑝𝑜𝑠𝑠𝑖𝑏𝑙𝑒</m:t>
                    </m:r>
                    <m:r>
                      <a:rPr lang="fr-CA" sz="1800" b="0" i="1" smtClean="0">
                        <a:solidFill>
                          <a:srgbClr val="000000"/>
                        </a:solidFill>
                        <a:effectLst/>
                        <a:latin typeface="Cambria Math" panose="02040503050406030204" pitchFamily="18" charset="0"/>
                      </a:rPr>
                      <m:t>=∅</m:t>
                    </m:r>
                  </m:oMath>
                </a14:m>
                <a:br>
                  <a:rPr lang="fr-CA" sz="1800" dirty="0">
                    <a:solidFill>
                      <a:srgbClr val="000000"/>
                    </a:solidFill>
                    <a:effectLst/>
                    <a:latin typeface="Times New Roman" panose="02020603050405020304" pitchFamily="18" charset="0"/>
                    <a:ea typeface="Times New Roman" panose="02020603050405020304" pitchFamily="18" charset="0"/>
                  </a:rPr>
                </a:b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mc:Choice>
        <mc:Fallback xmlns="">
          <p:sp>
            <p:nvSpPr>
              <p:cNvPr id="2" name="Titre 1">
                <a:extLst>
                  <a:ext uri="{FF2B5EF4-FFF2-40B4-BE49-F238E27FC236}">
                    <a16:creationId xmlns:a16="http://schemas.microsoft.com/office/drawing/2014/main" id="{645A9DEB-6D73-454A-A03C-604366C6DE12}"/>
                  </a:ext>
                </a:extLst>
              </p:cNvPr>
              <p:cNvSpPr>
                <a:spLocks noGrp="1" noRot="1" noChangeAspect="1" noMove="1" noResize="1" noEditPoints="1" noAdjustHandles="1" noChangeArrowheads="1" noChangeShapeType="1" noTextEdit="1"/>
              </p:cNvSpPr>
              <p:nvPr>
                <p:ph type="title"/>
              </p:nvPr>
            </p:nvSpPr>
            <p:spPr>
              <a:xfrm>
                <a:off x="838200" y="-378824"/>
                <a:ext cx="10369731" cy="6544493"/>
              </a:xfrm>
              <a:blipFill>
                <a:blip r:embed="rId2"/>
                <a:stretch>
                  <a:fillRect r="-705"/>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869B6947-E0A6-42E6-9623-5720E82E3FB5}"/>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C1D3532-A9DC-4F6A-88D9-43A950091C0D}"/>
              </a:ext>
            </a:extLst>
          </p:cNvPr>
          <p:cNvSpPr>
            <a:spLocks noGrp="1"/>
          </p:cNvSpPr>
          <p:nvPr>
            <p:ph type="sldNum" sz="quarter" idx="12"/>
          </p:nvPr>
        </p:nvSpPr>
        <p:spPr/>
        <p:txBody>
          <a:bodyPr/>
          <a:lstStyle/>
          <a:p>
            <a:fld id="{26377AD9-CE17-438C-A638-C64D2D42D7CF}" type="slidenum">
              <a:rPr lang="fr-CA" smtClean="0"/>
              <a:t>6</a:t>
            </a:fld>
            <a:endParaRPr lang="fr-CA"/>
          </a:p>
        </p:txBody>
      </p:sp>
    </p:spTree>
    <p:extLst>
      <p:ext uri="{BB962C8B-B14F-4D97-AF65-F5344CB8AC3E}">
        <p14:creationId xmlns:p14="http://schemas.microsoft.com/office/powerpoint/2010/main" val="654134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691B040A-A476-4C70-83DE-EE1A987D5D11}"/>
                  </a:ext>
                </a:extLst>
              </p:cNvPr>
              <p:cNvSpPr>
                <a:spLocks noGrp="1"/>
              </p:cNvSpPr>
              <p:nvPr>
                <p:ph type="title"/>
              </p:nvPr>
            </p:nvSpPr>
            <p:spPr>
              <a:xfrm>
                <a:off x="987689" y="857157"/>
                <a:ext cx="9910296" cy="4804054"/>
              </a:xfrm>
            </p:spPr>
            <p:txBody>
              <a:bodyPr vert="horz" lIns="91440" tIns="45720" rIns="91440" bIns="45720" rtlCol="0" anchor="t">
                <a:normAutofit/>
              </a:bodyPr>
              <a:lstStyle/>
              <a:p>
                <a:pPr/>
                <a:r>
                  <a:rPr lang="en-US" sz="2800" b="1" kern="1200" dirty="0">
                    <a:solidFill>
                      <a:schemeClr val="tx1"/>
                    </a:solidFill>
                    <a:ea typeface="+mj-ea"/>
                    <a:cs typeface="+mj-cs"/>
                  </a:rPr>
                  <a:t>EXERCICE 2:</a:t>
                </a:r>
                <a:r>
                  <a:rPr lang="en-US" sz="2800" kern="1200" dirty="0">
                    <a:solidFill>
                      <a:schemeClr val="tx1"/>
                    </a:solidFill>
                    <a:ea typeface="+mj-ea"/>
                    <a:cs typeface="+mj-cs"/>
                  </a:rPr>
                  <a:t> Soient 2 événements tels que:</a:t>
                </a:r>
                <a:br>
                  <a:rPr lang="en-US" sz="2800" kern="1200" dirty="0">
                    <a:solidFill>
                      <a:schemeClr val="tx1"/>
                    </a:solidFill>
                    <a:ea typeface="+mj-ea"/>
                    <a:cs typeface="+mj-cs"/>
                  </a:rPr>
                </a:br>
                <a14:m>
                  <m:oMathPara xmlns:m="http://schemas.openxmlformats.org/officeDocument/2006/math">
                    <m:oMathParaPr>
                      <m:jc m:val="centerGroup"/>
                    </m:oMathParaPr>
                    <m:oMath xmlns:m="http://schemas.openxmlformats.org/officeDocument/2006/math">
                      <m:r>
                        <a:rPr lang="en-US" sz="2800" b="0" i="1" kern="1200">
                          <a:solidFill>
                            <a:schemeClr val="tx1"/>
                          </a:solidFill>
                          <a:latin typeface="Cambria Math" panose="02040503050406030204" pitchFamily="18" charset="0"/>
                          <a:ea typeface="+mj-ea"/>
                          <a:cs typeface="+mj-cs"/>
                        </a:rPr>
                        <m:t>𝑃</m:t>
                      </m:r>
                      <m:d>
                        <m:dPr>
                          <m:ctrlPr>
                            <a:rPr lang="en-US" sz="2800" b="0" i="1" kern="1200">
                              <a:solidFill>
                                <a:schemeClr val="tx1"/>
                              </a:solidFill>
                              <a:latin typeface="Cambria Math" panose="02040503050406030204" pitchFamily="18" charset="0"/>
                              <a:ea typeface="+mj-ea"/>
                              <a:cs typeface="+mj-cs"/>
                            </a:rPr>
                          </m:ctrlPr>
                        </m:dPr>
                        <m:e>
                          <m:r>
                            <a:rPr lang="en-US" sz="2800" b="0" i="1" kern="1200">
                              <a:solidFill>
                                <a:schemeClr val="tx1"/>
                              </a:solidFill>
                              <a:latin typeface="Cambria Math" panose="02040503050406030204" pitchFamily="18" charset="0"/>
                              <a:ea typeface="+mj-ea"/>
                              <a:cs typeface="+mj-cs"/>
                            </a:rPr>
                            <m:t>𝐴</m:t>
                          </m:r>
                        </m:e>
                      </m:d>
                      <m:r>
                        <a:rPr lang="en-US" sz="2800" b="0" i="1" kern="1200">
                          <a:solidFill>
                            <a:schemeClr val="tx1"/>
                          </a:solidFill>
                          <a:latin typeface="Cambria Math" panose="02040503050406030204" pitchFamily="18" charset="0"/>
                          <a:ea typeface="+mj-ea"/>
                          <a:cs typeface="+mj-cs"/>
                        </a:rPr>
                        <m:t>=0,5 ;  </m:t>
                      </m:r>
                      <m:r>
                        <a:rPr lang="en-US" sz="2800" b="0" i="1" kern="1200">
                          <a:solidFill>
                            <a:schemeClr val="tx1"/>
                          </a:solidFill>
                          <a:latin typeface="Cambria Math" panose="02040503050406030204" pitchFamily="18" charset="0"/>
                          <a:ea typeface="+mj-ea"/>
                          <a:cs typeface="+mj-cs"/>
                        </a:rPr>
                        <m:t>𝑃</m:t>
                      </m:r>
                      <m:d>
                        <m:dPr>
                          <m:ctrlPr>
                            <a:rPr lang="en-US" sz="2800" b="0" i="1" kern="1200">
                              <a:solidFill>
                                <a:schemeClr val="tx1"/>
                              </a:solidFill>
                              <a:latin typeface="Cambria Math" panose="02040503050406030204" pitchFamily="18" charset="0"/>
                              <a:ea typeface="+mj-ea"/>
                              <a:cs typeface="+mj-cs"/>
                            </a:rPr>
                          </m:ctrlPr>
                        </m:dPr>
                        <m:e>
                          <m:r>
                            <a:rPr lang="en-US" sz="2800" b="0" i="1" kern="1200">
                              <a:solidFill>
                                <a:schemeClr val="tx1"/>
                              </a:solidFill>
                              <a:latin typeface="Cambria Math" panose="02040503050406030204" pitchFamily="18" charset="0"/>
                              <a:ea typeface="+mj-ea"/>
                              <a:cs typeface="+mj-cs"/>
                            </a:rPr>
                            <m:t>𝐵</m:t>
                          </m:r>
                        </m:e>
                      </m:d>
                      <m:r>
                        <a:rPr lang="en-US" sz="2800" b="0" i="1" kern="1200">
                          <a:solidFill>
                            <a:schemeClr val="tx1"/>
                          </a:solidFill>
                          <a:latin typeface="Cambria Math" panose="02040503050406030204" pitchFamily="18" charset="0"/>
                          <a:ea typeface="+mj-ea"/>
                          <a:cs typeface="+mj-cs"/>
                        </a:rPr>
                        <m:t>=0,6   </m:t>
                      </m:r>
                      <m:r>
                        <a:rPr lang="en-US" sz="2800" b="0" i="1" kern="1200">
                          <a:solidFill>
                            <a:schemeClr val="tx1"/>
                          </a:solidFill>
                          <a:latin typeface="Cambria Math" panose="02040503050406030204" pitchFamily="18" charset="0"/>
                          <a:ea typeface="+mj-ea"/>
                          <a:cs typeface="+mj-cs"/>
                        </a:rPr>
                        <m:t>𝑒𝑡</m:t>
                      </m:r>
                      <m:r>
                        <a:rPr lang="en-US" sz="2800" b="0" i="1" kern="1200">
                          <a:solidFill>
                            <a:schemeClr val="tx1"/>
                          </a:solidFill>
                          <a:latin typeface="Cambria Math" panose="02040503050406030204" pitchFamily="18" charset="0"/>
                          <a:ea typeface="+mj-ea"/>
                          <a:cs typeface="+mj-cs"/>
                        </a:rPr>
                        <m:t> </m:t>
                      </m:r>
                      <m:r>
                        <a:rPr lang="en-US" sz="2800" b="0" i="1" kern="1200">
                          <a:solidFill>
                            <a:schemeClr val="tx1"/>
                          </a:solidFill>
                          <a:latin typeface="Cambria Math" panose="02040503050406030204" pitchFamily="18" charset="0"/>
                          <a:ea typeface="+mj-ea"/>
                          <a:cs typeface="+mj-cs"/>
                        </a:rPr>
                        <m:t>𝑃</m:t>
                      </m:r>
                      <m:d>
                        <m:dPr>
                          <m:ctrlPr>
                            <a:rPr lang="en-US" sz="2800" b="0" i="1" kern="1200">
                              <a:solidFill>
                                <a:schemeClr val="tx1"/>
                              </a:solidFill>
                              <a:latin typeface="Cambria Math" panose="02040503050406030204" pitchFamily="18" charset="0"/>
                              <a:ea typeface="+mj-ea"/>
                              <a:cs typeface="+mj-cs"/>
                            </a:rPr>
                          </m:ctrlPr>
                        </m:dPr>
                        <m:e>
                          <m:r>
                            <a:rPr lang="en-US" sz="2800" b="0" i="1" kern="1200">
                              <a:solidFill>
                                <a:schemeClr val="tx1"/>
                              </a:solidFill>
                              <a:latin typeface="Cambria Math" panose="02040503050406030204" pitchFamily="18" charset="0"/>
                              <a:ea typeface="+mj-ea"/>
                              <a:cs typeface="+mj-cs"/>
                            </a:rPr>
                            <m:t>𝐴</m:t>
                          </m:r>
                          <m:r>
                            <a:rPr lang="en-US" sz="2800" b="0" i="1" kern="1200">
                              <a:solidFill>
                                <a:schemeClr val="tx1"/>
                              </a:solidFill>
                              <a:latin typeface="Cambria Math" panose="02040503050406030204" pitchFamily="18" charset="0"/>
                              <a:ea typeface="+mj-ea"/>
                              <a:cs typeface="+mj-cs"/>
                            </a:rPr>
                            <m:t>∪</m:t>
                          </m:r>
                          <m:r>
                            <a:rPr lang="en-US" sz="2800" b="0" i="1" kern="1200">
                              <a:solidFill>
                                <a:schemeClr val="tx1"/>
                              </a:solidFill>
                              <a:latin typeface="Cambria Math" panose="02040503050406030204" pitchFamily="18" charset="0"/>
                              <a:ea typeface="+mj-ea"/>
                              <a:cs typeface="+mj-cs"/>
                            </a:rPr>
                            <m:t>𝐵</m:t>
                          </m:r>
                        </m:e>
                      </m:d>
                      <m:r>
                        <a:rPr lang="en-US" sz="2800" b="0" i="1" kern="1200">
                          <a:solidFill>
                            <a:schemeClr val="tx1"/>
                          </a:solidFill>
                          <a:latin typeface="Cambria Math" panose="02040503050406030204" pitchFamily="18" charset="0"/>
                          <a:ea typeface="+mj-ea"/>
                          <a:cs typeface="+mj-cs"/>
                        </a:rPr>
                        <m:t>=0,87 </m:t>
                      </m:r>
                    </m:oMath>
                  </m:oMathPara>
                </a14:m>
                <a:br>
                  <a:rPr lang="en-US" sz="2800" b="0" i="1" kern="1200" dirty="0">
                    <a:solidFill>
                      <a:schemeClr val="tx1"/>
                    </a:solidFill>
                    <a:ea typeface="+mj-ea"/>
                    <a:cs typeface="+mj-cs"/>
                  </a:rPr>
                </a:br>
                <a:r>
                  <a:rPr lang="en-US" sz="2800" i="1" kern="1200" dirty="0">
                    <a:solidFill>
                      <a:schemeClr val="tx1"/>
                    </a:solidFill>
                    <a:ea typeface="+mj-ea"/>
                    <a:cs typeface="+mj-cs"/>
                  </a:rPr>
                  <a:t>(a) Déterminer </a:t>
                </a:r>
                <a14:m>
                  <m:oMath xmlns:m="http://schemas.openxmlformats.org/officeDocument/2006/math">
                    <m:r>
                      <a:rPr lang="en-US" sz="2800" b="0" i="1" kern="1200">
                        <a:solidFill>
                          <a:schemeClr val="tx1"/>
                        </a:solidFill>
                        <a:latin typeface="Cambria Math" panose="02040503050406030204" pitchFamily="18" charset="0"/>
                        <a:ea typeface="+mj-ea"/>
                        <a:cs typeface="+mj-cs"/>
                      </a:rPr>
                      <m:t>𝑃</m:t>
                    </m:r>
                    <m:d>
                      <m:dPr>
                        <m:ctrlPr>
                          <a:rPr lang="en-US" sz="2800" b="0" i="1" kern="1200">
                            <a:solidFill>
                              <a:schemeClr val="tx1"/>
                            </a:solidFill>
                            <a:latin typeface="Cambria Math" panose="02040503050406030204" pitchFamily="18" charset="0"/>
                            <a:ea typeface="+mj-ea"/>
                            <a:cs typeface="+mj-cs"/>
                          </a:rPr>
                        </m:ctrlPr>
                      </m:dPr>
                      <m:e>
                        <m:r>
                          <a:rPr lang="en-US" sz="2800" b="0" i="1" kern="1200">
                            <a:solidFill>
                              <a:schemeClr val="tx1"/>
                            </a:solidFill>
                            <a:latin typeface="Cambria Math" panose="02040503050406030204" pitchFamily="18" charset="0"/>
                            <a:ea typeface="+mj-ea"/>
                            <a:cs typeface="+mj-cs"/>
                          </a:rPr>
                          <m:t>𝐴</m:t>
                        </m:r>
                        <m:r>
                          <a:rPr lang="en-US" sz="2800" b="0" i="1" kern="1200">
                            <a:solidFill>
                              <a:schemeClr val="tx1"/>
                            </a:solidFill>
                            <a:latin typeface="Cambria Math" panose="02040503050406030204" pitchFamily="18" charset="0"/>
                            <a:ea typeface="+mj-ea"/>
                            <a:cs typeface="+mj-cs"/>
                          </a:rPr>
                          <m:t>∩</m:t>
                        </m:r>
                        <m:r>
                          <a:rPr lang="en-US" sz="2800" b="0" i="1" kern="1200">
                            <a:solidFill>
                              <a:schemeClr val="tx1"/>
                            </a:solidFill>
                            <a:latin typeface="Cambria Math" panose="02040503050406030204" pitchFamily="18" charset="0"/>
                            <a:ea typeface="+mj-ea"/>
                            <a:cs typeface="+mj-cs"/>
                          </a:rPr>
                          <m:t>𝐵</m:t>
                        </m:r>
                      </m:e>
                    </m:d>
                  </m:oMath>
                </a14:m>
                <a:br>
                  <a:rPr lang="en-US" sz="2800" b="0" i="1" kern="1200" dirty="0">
                    <a:solidFill>
                      <a:schemeClr val="tx1"/>
                    </a:solidFill>
                    <a:ea typeface="+mj-ea"/>
                    <a:cs typeface="+mj-cs"/>
                  </a:rPr>
                </a:br>
                <a:r>
                  <a:rPr lang="en-US" sz="2800" b="0" i="1" kern="1200" dirty="0">
                    <a:solidFill>
                      <a:schemeClr val="tx1"/>
                    </a:solidFill>
                    <a:ea typeface="+mj-ea"/>
                    <a:cs typeface="+mj-cs"/>
                  </a:rPr>
                  <a:t>(b) Déterminer </a:t>
                </a:r>
                <a14:m>
                  <m:oMath xmlns:m="http://schemas.openxmlformats.org/officeDocument/2006/math">
                    <m:r>
                      <a:rPr lang="en-US" sz="2800" b="0" i="1" kern="1200">
                        <a:solidFill>
                          <a:schemeClr val="tx1"/>
                        </a:solidFill>
                        <a:latin typeface="Cambria Math" panose="02040503050406030204" pitchFamily="18" charset="0"/>
                        <a:ea typeface="+mj-ea"/>
                        <a:cs typeface="+mj-cs"/>
                      </a:rPr>
                      <m:t>𝑃</m:t>
                    </m:r>
                    <m:r>
                      <a:rPr lang="en-US" sz="2800" b="0" i="1" kern="1200">
                        <a:solidFill>
                          <a:schemeClr val="tx1"/>
                        </a:solidFill>
                        <a:latin typeface="Cambria Math" panose="02040503050406030204" pitchFamily="18" charset="0"/>
                        <a:ea typeface="+mj-ea"/>
                        <a:cs typeface="+mj-cs"/>
                      </a:rPr>
                      <m:t>(</m:t>
                    </m:r>
                    <m:sSup>
                      <m:sSupPr>
                        <m:ctrlPr>
                          <a:rPr lang="en-US" sz="2800" b="0" i="1" kern="1200">
                            <a:solidFill>
                              <a:schemeClr val="tx1"/>
                            </a:solidFill>
                            <a:latin typeface="Cambria Math" panose="02040503050406030204" pitchFamily="18" charset="0"/>
                            <a:ea typeface="+mj-ea"/>
                            <a:cs typeface="+mj-cs"/>
                          </a:rPr>
                        </m:ctrlPr>
                      </m:sSupPr>
                      <m:e>
                        <m:r>
                          <a:rPr lang="en-US" sz="2800" b="0" i="1" kern="1200">
                            <a:solidFill>
                              <a:schemeClr val="tx1"/>
                            </a:solidFill>
                            <a:latin typeface="Cambria Math" panose="02040503050406030204" pitchFamily="18" charset="0"/>
                            <a:ea typeface="+mj-ea"/>
                            <a:cs typeface="+mj-cs"/>
                          </a:rPr>
                          <m:t>𝐴</m:t>
                        </m:r>
                      </m:e>
                      <m:sup>
                        <m:r>
                          <a:rPr lang="en-US" sz="2800" b="0" i="1" kern="1200">
                            <a:solidFill>
                              <a:schemeClr val="tx1"/>
                            </a:solidFill>
                            <a:latin typeface="Cambria Math" panose="02040503050406030204" pitchFamily="18" charset="0"/>
                            <a:ea typeface="+mj-ea"/>
                            <a:cs typeface="+mj-cs"/>
                          </a:rPr>
                          <m:t>′</m:t>
                        </m:r>
                      </m:sup>
                    </m:sSup>
                    <m:r>
                      <a:rPr lang="en-US" sz="2800" b="0" i="1" kern="1200">
                        <a:solidFill>
                          <a:schemeClr val="tx1"/>
                        </a:solidFill>
                        <a:latin typeface="Cambria Math" panose="02040503050406030204" pitchFamily="18" charset="0"/>
                        <a:ea typeface="+mj-ea"/>
                        <a:cs typeface="+mj-cs"/>
                      </a:rPr>
                      <m:t>∪</m:t>
                    </m:r>
                    <m:sSup>
                      <m:sSupPr>
                        <m:ctrlPr>
                          <a:rPr lang="en-US" sz="2800" b="0" i="1" kern="1200">
                            <a:solidFill>
                              <a:schemeClr val="tx1"/>
                            </a:solidFill>
                            <a:latin typeface="Cambria Math" panose="02040503050406030204" pitchFamily="18" charset="0"/>
                            <a:ea typeface="+mj-ea"/>
                            <a:cs typeface="+mj-cs"/>
                          </a:rPr>
                        </m:ctrlPr>
                      </m:sSupPr>
                      <m:e>
                        <m:r>
                          <a:rPr lang="en-US" sz="2800" b="0" i="1" kern="1200">
                            <a:solidFill>
                              <a:schemeClr val="tx1"/>
                            </a:solidFill>
                            <a:latin typeface="Cambria Math" panose="02040503050406030204" pitchFamily="18" charset="0"/>
                            <a:ea typeface="+mj-ea"/>
                            <a:cs typeface="+mj-cs"/>
                          </a:rPr>
                          <m:t>𝐵</m:t>
                        </m:r>
                      </m:e>
                      <m:sup>
                        <m:r>
                          <a:rPr lang="en-US" sz="2800" b="0" i="1" kern="1200">
                            <a:solidFill>
                              <a:schemeClr val="tx1"/>
                            </a:solidFill>
                            <a:latin typeface="Cambria Math" panose="02040503050406030204" pitchFamily="18" charset="0"/>
                            <a:ea typeface="+mj-ea"/>
                            <a:cs typeface="+mj-cs"/>
                          </a:rPr>
                          <m:t>′</m:t>
                        </m:r>
                      </m:sup>
                    </m:sSup>
                    <m:r>
                      <a:rPr lang="en-US" sz="2800" b="0" i="1" kern="1200">
                        <a:solidFill>
                          <a:schemeClr val="tx1"/>
                        </a:solidFill>
                        <a:latin typeface="Cambria Math" panose="02040503050406030204" pitchFamily="18" charset="0"/>
                        <a:ea typeface="+mj-ea"/>
                        <a:cs typeface="+mj-cs"/>
                      </a:rPr>
                      <m:t>)</m:t>
                    </m:r>
                  </m:oMath>
                </a14:m>
                <a:br>
                  <a:rPr lang="en-US" sz="2800" b="0" i="1" kern="1200" dirty="0">
                    <a:solidFill>
                      <a:schemeClr val="tx1"/>
                    </a:solidFill>
                    <a:ea typeface="+mj-ea"/>
                    <a:cs typeface="+mj-cs"/>
                  </a:rPr>
                </a:br>
                <a:r>
                  <a:rPr lang="en-US" sz="2800" b="1" kern="1200" dirty="0">
                    <a:solidFill>
                      <a:schemeClr val="tx1"/>
                    </a:solidFill>
                    <a:ea typeface="+mj-ea"/>
                    <a:cs typeface="+mj-cs"/>
                  </a:rPr>
                  <a:t>Réponse:</a:t>
                </a:r>
                <a:br>
                  <a:rPr lang="en-US" sz="2800" i="1" kern="1200" dirty="0">
                    <a:solidFill>
                      <a:schemeClr val="tx1"/>
                    </a:solidFill>
                    <a:ea typeface="+mj-ea"/>
                    <a:cs typeface="+mj-cs"/>
                  </a:rPr>
                </a:br>
                <a:br>
                  <a:rPr lang="en-US" sz="2800" i="1" kern="1200" dirty="0">
                    <a:solidFill>
                      <a:schemeClr val="tx1"/>
                    </a:solidFill>
                    <a:ea typeface="+mj-ea"/>
                    <a:cs typeface="+mj-cs"/>
                  </a:rPr>
                </a:br>
                <a:r>
                  <a:rPr lang="en-US" sz="2800" i="1" kern="1200" dirty="0">
                    <a:solidFill>
                      <a:schemeClr val="tx1"/>
                    </a:solidFill>
                    <a:ea typeface="+mj-ea"/>
                    <a:cs typeface="+mj-cs"/>
                  </a:rPr>
                  <a:t>(a) On sait que </a:t>
                </a:r>
                <a14:m>
                  <m:oMath xmlns:m="http://schemas.openxmlformats.org/officeDocument/2006/math">
                    <m:r>
                      <a:rPr lang="en-US" sz="2800" b="0" i="1" kern="1200">
                        <a:solidFill>
                          <a:schemeClr val="tx1"/>
                        </a:solidFill>
                        <a:latin typeface="Cambria Math" panose="02040503050406030204" pitchFamily="18" charset="0"/>
                        <a:ea typeface="+mj-ea"/>
                        <a:cs typeface="+mj-cs"/>
                      </a:rPr>
                      <m:t>𝑃</m:t>
                    </m:r>
                    <m:d>
                      <m:dPr>
                        <m:ctrlPr>
                          <a:rPr lang="en-US" sz="2800" b="0" i="1" kern="1200">
                            <a:solidFill>
                              <a:schemeClr val="tx1"/>
                            </a:solidFill>
                            <a:latin typeface="Cambria Math" panose="02040503050406030204" pitchFamily="18" charset="0"/>
                            <a:ea typeface="+mj-ea"/>
                            <a:cs typeface="+mj-cs"/>
                          </a:rPr>
                        </m:ctrlPr>
                      </m:dPr>
                      <m:e>
                        <m:r>
                          <a:rPr lang="en-US" sz="2800" b="0" i="1" kern="1200">
                            <a:solidFill>
                              <a:schemeClr val="tx1"/>
                            </a:solidFill>
                            <a:latin typeface="Cambria Math" panose="02040503050406030204" pitchFamily="18" charset="0"/>
                            <a:ea typeface="+mj-ea"/>
                            <a:cs typeface="+mj-cs"/>
                          </a:rPr>
                          <m:t>𝐴</m:t>
                        </m:r>
                        <m:r>
                          <a:rPr lang="en-US" sz="2800" b="0" i="1" kern="1200">
                            <a:solidFill>
                              <a:schemeClr val="tx1"/>
                            </a:solidFill>
                            <a:latin typeface="Cambria Math" panose="02040503050406030204" pitchFamily="18" charset="0"/>
                            <a:ea typeface="+mj-ea"/>
                            <a:cs typeface="+mj-cs"/>
                          </a:rPr>
                          <m:t>∩</m:t>
                        </m:r>
                        <m:r>
                          <a:rPr lang="en-US" sz="2800" b="0" i="1" kern="1200">
                            <a:solidFill>
                              <a:schemeClr val="tx1"/>
                            </a:solidFill>
                            <a:latin typeface="Cambria Math" panose="02040503050406030204" pitchFamily="18" charset="0"/>
                            <a:ea typeface="+mj-ea"/>
                            <a:cs typeface="+mj-cs"/>
                          </a:rPr>
                          <m:t>𝐵</m:t>
                        </m:r>
                      </m:e>
                    </m:d>
                    <m:r>
                      <a:rPr lang="en-US" sz="2800" b="0" i="1" kern="1200">
                        <a:solidFill>
                          <a:schemeClr val="tx1"/>
                        </a:solidFill>
                        <a:latin typeface="Cambria Math" panose="02040503050406030204" pitchFamily="18" charset="0"/>
                        <a:ea typeface="+mj-ea"/>
                        <a:cs typeface="+mj-cs"/>
                      </a:rPr>
                      <m:t>=</m:t>
                    </m:r>
                    <m:r>
                      <a:rPr lang="en-US" sz="2800" b="0" i="1" kern="1200">
                        <a:solidFill>
                          <a:schemeClr val="tx1"/>
                        </a:solidFill>
                        <a:latin typeface="Cambria Math" panose="02040503050406030204" pitchFamily="18" charset="0"/>
                        <a:ea typeface="+mj-ea"/>
                        <a:cs typeface="+mj-cs"/>
                      </a:rPr>
                      <m:t>𝑃</m:t>
                    </m:r>
                    <m:d>
                      <m:dPr>
                        <m:ctrlPr>
                          <a:rPr lang="en-US" sz="2800" b="0" i="1" kern="1200">
                            <a:solidFill>
                              <a:schemeClr val="tx1"/>
                            </a:solidFill>
                            <a:latin typeface="Cambria Math" panose="02040503050406030204" pitchFamily="18" charset="0"/>
                            <a:ea typeface="+mj-ea"/>
                            <a:cs typeface="+mj-cs"/>
                          </a:rPr>
                        </m:ctrlPr>
                      </m:dPr>
                      <m:e>
                        <m:r>
                          <a:rPr lang="en-US" sz="2800" b="0" i="1" kern="1200">
                            <a:solidFill>
                              <a:schemeClr val="tx1"/>
                            </a:solidFill>
                            <a:latin typeface="Cambria Math" panose="02040503050406030204" pitchFamily="18" charset="0"/>
                            <a:ea typeface="+mj-ea"/>
                            <a:cs typeface="+mj-cs"/>
                          </a:rPr>
                          <m:t>𝐴</m:t>
                        </m:r>
                      </m:e>
                    </m:d>
                    <m:r>
                      <a:rPr lang="en-US" sz="2800" b="0" i="1" kern="1200">
                        <a:solidFill>
                          <a:schemeClr val="tx1"/>
                        </a:solidFill>
                        <a:latin typeface="Cambria Math" panose="02040503050406030204" pitchFamily="18" charset="0"/>
                        <a:ea typeface="+mj-ea"/>
                        <a:cs typeface="+mj-cs"/>
                      </a:rPr>
                      <m:t>+</m:t>
                    </m:r>
                    <m:r>
                      <a:rPr lang="en-US" sz="2800" b="0" i="1" kern="1200">
                        <a:solidFill>
                          <a:schemeClr val="tx1"/>
                        </a:solidFill>
                        <a:latin typeface="Cambria Math" panose="02040503050406030204" pitchFamily="18" charset="0"/>
                        <a:ea typeface="+mj-ea"/>
                        <a:cs typeface="+mj-cs"/>
                      </a:rPr>
                      <m:t>𝑃</m:t>
                    </m:r>
                    <m:d>
                      <m:dPr>
                        <m:ctrlPr>
                          <a:rPr lang="en-US" sz="2800" b="0" i="1" kern="1200">
                            <a:solidFill>
                              <a:schemeClr val="tx1"/>
                            </a:solidFill>
                            <a:latin typeface="Cambria Math" panose="02040503050406030204" pitchFamily="18" charset="0"/>
                            <a:ea typeface="+mj-ea"/>
                            <a:cs typeface="+mj-cs"/>
                          </a:rPr>
                        </m:ctrlPr>
                      </m:dPr>
                      <m:e>
                        <m:r>
                          <a:rPr lang="en-US" sz="2800" b="0" i="1" kern="1200">
                            <a:solidFill>
                              <a:schemeClr val="tx1"/>
                            </a:solidFill>
                            <a:latin typeface="Cambria Math" panose="02040503050406030204" pitchFamily="18" charset="0"/>
                            <a:ea typeface="+mj-ea"/>
                            <a:cs typeface="+mj-cs"/>
                          </a:rPr>
                          <m:t>𝐵</m:t>
                        </m:r>
                      </m:e>
                    </m:d>
                    <m:r>
                      <a:rPr lang="en-US" sz="2800" b="0" i="1" kern="1200">
                        <a:solidFill>
                          <a:schemeClr val="tx1"/>
                        </a:solidFill>
                        <a:latin typeface="Cambria Math" panose="02040503050406030204" pitchFamily="18" charset="0"/>
                        <a:ea typeface="+mj-ea"/>
                        <a:cs typeface="+mj-cs"/>
                      </a:rPr>
                      <m:t>−</m:t>
                    </m:r>
                    <m:r>
                      <a:rPr lang="en-US" sz="2800" b="0" i="1" kern="1200">
                        <a:solidFill>
                          <a:schemeClr val="tx1"/>
                        </a:solidFill>
                        <a:latin typeface="Cambria Math" panose="02040503050406030204" pitchFamily="18" charset="0"/>
                        <a:ea typeface="+mj-ea"/>
                        <a:cs typeface="+mj-cs"/>
                      </a:rPr>
                      <m:t>𝑃</m:t>
                    </m:r>
                    <m:d>
                      <m:dPr>
                        <m:ctrlPr>
                          <a:rPr lang="en-US" sz="2800" b="0" i="1" kern="1200">
                            <a:solidFill>
                              <a:schemeClr val="tx1"/>
                            </a:solidFill>
                            <a:latin typeface="Cambria Math" panose="02040503050406030204" pitchFamily="18" charset="0"/>
                            <a:ea typeface="+mj-ea"/>
                            <a:cs typeface="+mj-cs"/>
                          </a:rPr>
                        </m:ctrlPr>
                      </m:dPr>
                      <m:e>
                        <m:r>
                          <a:rPr lang="en-US" sz="2800" b="0" i="1" kern="1200">
                            <a:solidFill>
                              <a:schemeClr val="tx1"/>
                            </a:solidFill>
                            <a:latin typeface="Cambria Math" panose="02040503050406030204" pitchFamily="18" charset="0"/>
                            <a:ea typeface="+mj-ea"/>
                            <a:cs typeface="+mj-cs"/>
                          </a:rPr>
                          <m:t>𝐴</m:t>
                        </m:r>
                        <m:r>
                          <a:rPr lang="en-US" sz="2800" b="0" i="1" kern="1200">
                            <a:solidFill>
                              <a:schemeClr val="tx1"/>
                            </a:solidFill>
                            <a:latin typeface="Cambria Math" panose="02040503050406030204" pitchFamily="18" charset="0"/>
                            <a:ea typeface="+mj-ea"/>
                            <a:cs typeface="+mj-cs"/>
                          </a:rPr>
                          <m:t>∪</m:t>
                        </m:r>
                        <m:r>
                          <a:rPr lang="en-US" sz="2800" b="0" i="1" kern="1200">
                            <a:solidFill>
                              <a:schemeClr val="tx1"/>
                            </a:solidFill>
                            <a:latin typeface="Cambria Math" panose="02040503050406030204" pitchFamily="18" charset="0"/>
                            <a:ea typeface="+mj-ea"/>
                            <a:cs typeface="+mj-cs"/>
                          </a:rPr>
                          <m:t>𝐵</m:t>
                        </m:r>
                      </m:e>
                    </m:d>
                    <m:r>
                      <a:rPr lang="en-US" sz="2800" b="0" i="1" kern="1200">
                        <a:solidFill>
                          <a:schemeClr val="tx1"/>
                        </a:solidFill>
                        <a:latin typeface="Cambria Math" panose="02040503050406030204" pitchFamily="18" charset="0"/>
                        <a:ea typeface="+mj-ea"/>
                        <a:cs typeface="+mj-cs"/>
                      </a:rPr>
                      <m:t>=0,5+0,6−0,87=0,23</m:t>
                    </m:r>
                  </m:oMath>
                </a14:m>
                <a:br>
                  <a:rPr lang="en-US" sz="2800" b="0" i="1" kern="1200" dirty="0">
                    <a:solidFill>
                      <a:schemeClr val="tx1"/>
                    </a:solidFill>
                    <a:ea typeface="+mj-ea"/>
                    <a:cs typeface="+mj-cs"/>
                  </a:rPr>
                </a:br>
                <a:br>
                  <a:rPr lang="en-US" sz="2800" b="0" i="1" kern="1200" dirty="0">
                    <a:solidFill>
                      <a:schemeClr val="tx1"/>
                    </a:solidFill>
                    <a:ea typeface="+mj-ea"/>
                    <a:cs typeface="+mj-cs"/>
                  </a:rPr>
                </a:br>
                <a:r>
                  <a:rPr lang="en-US" sz="2800" b="0" i="1" kern="1200" dirty="0">
                    <a:solidFill>
                      <a:schemeClr val="tx1"/>
                    </a:solidFill>
                    <a:ea typeface="+mj-ea"/>
                    <a:cs typeface="+mj-cs"/>
                  </a:rPr>
                  <a:t>(b) </a:t>
                </a:r>
                <a14:m>
                  <m:oMath xmlns:m="http://schemas.openxmlformats.org/officeDocument/2006/math">
                    <m:r>
                      <a:rPr lang="en-US" sz="2800" b="0" i="1" kern="1200">
                        <a:solidFill>
                          <a:schemeClr val="tx1"/>
                        </a:solidFill>
                        <a:latin typeface="Cambria Math" panose="02040503050406030204" pitchFamily="18" charset="0"/>
                        <a:ea typeface="+mj-ea"/>
                        <a:cs typeface="+mj-cs"/>
                      </a:rPr>
                      <m:t>𝑃</m:t>
                    </m:r>
                    <m:d>
                      <m:dPr>
                        <m:ctrlPr>
                          <a:rPr lang="en-US" sz="2800" b="0" i="1" kern="1200">
                            <a:solidFill>
                              <a:schemeClr val="tx1"/>
                            </a:solidFill>
                            <a:latin typeface="Cambria Math" panose="02040503050406030204" pitchFamily="18" charset="0"/>
                            <a:ea typeface="+mj-ea"/>
                            <a:cs typeface="+mj-cs"/>
                          </a:rPr>
                        </m:ctrlPr>
                      </m:dPr>
                      <m:e>
                        <m:sSup>
                          <m:sSupPr>
                            <m:ctrlPr>
                              <a:rPr lang="en-US" sz="2800" b="0" i="1" kern="1200">
                                <a:solidFill>
                                  <a:schemeClr val="tx1"/>
                                </a:solidFill>
                                <a:latin typeface="Cambria Math" panose="02040503050406030204" pitchFamily="18" charset="0"/>
                                <a:ea typeface="+mj-ea"/>
                                <a:cs typeface="+mj-cs"/>
                              </a:rPr>
                            </m:ctrlPr>
                          </m:sSupPr>
                          <m:e>
                            <m:r>
                              <a:rPr lang="en-US" sz="2800" b="0" i="1" kern="1200">
                                <a:solidFill>
                                  <a:schemeClr val="tx1"/>
                                </a:solidFill>
                                <a:latin typeface="Cambria Math" panose="02040503050406030204" pitchFamily="18" charset="0"/>
                                <a:ea typeface="+mj-ea"/>
                                <a:cs typeface="+mj-cs"/>
                              </a:rPr>
                              <m:t>𝐴</m:t>
                            </m:r>
                          </m:e>
                          <m:sup>
                            <m:r>
                              <a:rPr lang="en-US" sz="2800" b="0" i="1" kern="1200">
                                <a:solidFill>
                                  <a:schemeClr val="tx1"/>
                                </a:solidFill>
                                <a:latin typeface="Cambria Math" panose="02040503050406030204" pitchFamily="18" charset="0"/>
                                <a:ea typeface="+mj-ea"/>
                                <a:cs typeface="+mj-cs"/>
                              </a:rPr>
                              <m:t>′</m:t>
                            </m:r>
                          </m:sup>
                        </m:sSup>
                        <m:r>
                          <a:rPr lang="en-US" sz="2800" b="0" i="1" kern="1200">
                            <a:solidFill>
                              <a:schemeClr val="tx1"/>
                            </a:solidFill>
                            <a:latin typeface="Cambria Math" panose="02040503050406030204" pitchFamily="18" charset="0"/>
                            <a:ea typeface="+mj-ea"/>
                            <a:cs typeface="+mj-cs"/>
                          </a:rPr>
                          <m:t>∪</m:t>
                        </m:r>
                        <m:sSup>
                          <m:sSupPr>
                            <m:ctrlPr>
                              <a:rPr lang="en-US" sz="2800" b="0" i="1" kern="1200">
                                <a:solidFill>
                                  <a:schemeClr val="tx1"/>
                                </a:solidFill>
                                <a:latin typeface="Cambria Math" panose="02040503050406030204" pitchFamily="18" charset="0"/>
                                <a:ea typeface="+mj-ea"/>
                                <a:cs typeface="+mj-cs"/>
                              </a:rPr>
                            </m:ctrlPr>
                          </m:sSupPr>
                          <m:e>
                            <m:r>
                              <a:rPr lang="en-US" sz="2800" b="0" i="1" kern="1200">
                                <a:solidFill>
                                  <a:schemeClr val="tx1"/>
                                </a:solidFill>
                                <a:latin typeface="Cambria Math" panose="02040503050406030204" pitchFamily="18" charset="0"/>
                                <a:ea typeface="+mj-ea"/>
                                <a:cs typeface="+mj-cs"/>
                              </a:rPr>
                              <m:t>𝐵</m:t>
                            </m:r>
                          </m:e>
                          <m:sup>
                            <m:r>
                              <a:rPr lang="en-US" sz="2800" b="0" i="1" kern="1200">
                                <a:solidFill>
                                  <a:schemeClr val="tx1"/>
                                </a:solidFill>
                                <a:latin typeface="Cambria Math" panose="02040503050406030204" pitchFamily="18" charset="0"/>
                                <a:ea typeface="+mj-ea"/>
                                <a:cs typeface="+mj-cs"/>
                              </a:rPr>
                              <m:t>′</m:t>
                            </m:r>
                          </m:sup>
                        </m:sSup>
                      </m:e>
                    </m:d>
                    <m:r>
                      <a:rPr lang="en-US" sz="2800" b="0" i="1" kern="1200">
                        <a:solidFill>
                          <a:schemeClr val="tx1"/>
                        </a:solidFill>
                        <a:latin typeface="Cambria Math" panose="02040503050406030204" pitchFamily="18" charset="0"/>
                        <a:ea typeface="+mj-ea"/>
                        <a:cs typeface="+mj-cs"/>
                      </a:rPr>
                      <m:t>=</m:t>
                    </m:r>
                    <m:r>
                      <a:rPr lang="en-US" sz="2800" b="0" i="1" kern="1200">
                        <a:solidFill>
                          <a:schemeClr val="tx1"/>
                        </a:solidFill>
                        <a:latin typeface="Cambria Math" panose="02040503050406030204" pitchFamily="18" charset="0"/>
                        <a:ea typeface="+mj-ea"/>
                        <a:cs typeface="+mj-cs"/>
                      </a:rPr>
                      <m:t>𝑃</m:t>
                    </m:r>
                    <m:d>
                      <m:dPr>
                        <m:ctrlPr>
                          <a:rPr lang="en-US" sz="2800" b="0" i="1" kern="1200">
                            <a:solidFill>
                              <a:schemeClr val="tx1"/>
                            </a:solidFill>
                            <a:latin typeface="Cambria Math" panose="02040503050406030204" pitchFamily="18" charset="0"/>
                            <a:ea typeface="+mj-ea"/>
                            <a:cs typeface="+mj-cs"/>
                          </a:rPr>
                        </m:ctrlPr>
                      </m:dPr>
                      <m:e>
                        <m:sSup>
                          <m:sSupPr>
                            <m:ctrlPr>
                              <a:rPr lang="en-US" sz="2800" b="0" i="1" kern="1200">
                                <a:solidFill>
                                  <a:schemeClr val="tx1"/>
                                </a:solidFill>
                                <a:latin typeface="Cambria Math" panose="02040503050406030204" pitchFamily="18" charset="0"/>
                                <a:ea typeface="+mj-ea"/>
                                <a:cs typeface="+mj-cs"/>
                              </a:rPr>
                            </m:ctrlPr>
                          </m:sSupPr>
                          <m:e>
                            <m:d>
                              <m:dPr>
                                <m:ctrlPr>
                                  <a:rPr lang="en-US" sz="2800" b="0" i="1" kern="1200">
                                    <a:solidFill>
                                      <a:schemeClr val="tx1"/>
                                    </a:solidFill>
                                    <a:latin typeface="Cambria Math" panose="02040503050406030204" pitchFamily="18" charset="0"/>
                                    <a:ea typeface="+mj-ea"/>
                                    <a:cs typeface="+mj-cs"/>
                                  </a:rPr>
                                </m:ctrlPr>
                              </m:dPr>
                              <m:e>
                                <m:r>
                                  <a:rPr lang="en-US" sz="2800" b="0" i="1" kern="1200">
                                    <a:solidFill>
                                      <a:schemeClr val="tx1"/>
                                    </a:solidFill>
                                    <a:latin typeface="Cambria Math" panose="02040503050406030204" pitchFamily="18" charset="0"/>
                                    <a:ea typeface="+mj-ea"/>
                                    <a:cs typeface="+mj-cs"/>
                                  </a:rPr>
                                  <m:t>𝐴</m:t>
                                </m:r>
                                <m:r>
                                  <a:rPr lang="en-US" sz="2800" b="0" i="1" kern="1200">
                                    <a:solidFill>
                                      <a:schemeClr val="tx1"/>
                                    </a:solidFill>
                                    <a:latin typeface="Cambria Math" panose="02040503050406030204" pitchFamily="18" charset="0"/>
                                    <a:ea typeface="+mj-ea"/>
                                    <a:cs typeface="+mj-cs"/>
                                  </a:rPr>
                                  <m:t>∩</m:t>
                                </m:r>
                                <m:r>
                                  <a:rPr lang="en-US" sz="2800" b="0" i="1" kern="1200">
                                    <a:solidFill>
                                      <a:schemeClr val="tx1"/>
                                    </a:solidFill>
                                    <a:latin typeface="Cambria Math" panose="02040503050406030204" pitchFamily="18" charset="0"/>
                                    <a:ea typeface="+mj-ea"/>
                                    <a:cs typeface="+mj-cs"/>
                                  </a:rPr>
                                  <m:t>𝐵</m:t>
                                </m:r>
                              </m:e>
                            </m:d>
                          </m:e>
                          <m:sup>
                            <m:r>
                              <a:rPr lang="en-US" sz="2800" b="0" i="1" kern="1200">
                                <a:solidFill>
                                  <a:schemeClr val="tx1"/>
                                </a:solidFill>
                                <a:latin typeface="Cambria Math" panose="02040503050406030204" pitchFamily="18" charset="0"/>
                                <a:ea typeface="+mj-ea"/>
                                <a:cs typeface="+mj-cs"/>
                              </a:rPr>
                              <m:t>′</m:t>
                            </m:r>
                          </m:sup>
                        </m:sSup>
                      </m:e>
                    </m:d>
                    <m:r>
                      <a:rPr lang="en-US" sz="2800" b="0" i="1" kern="1200">
                        <a:solidFill>
                          <a:schemeClr val="tx1"/>
                        </a:solidFill>
                        <a:latin typeface="Cambria Math" panose="02040503050406030204" pitchFamily="18" charset="0"/>
                        <a:ea typeface="+mj-ea"/>
                        <a:cs typeface="+mj-cs"/>
                      </a:rPr>
                      <m:t>=1−</m:t>
                    </m:r>
                    <m:r>
                      <a:rPr lang="en-US" sz="2800" b="0" i="1" kern="1200">
                        <a:solidFill>
                          <a:schemeClr val="tx1"/>
                        </a:solidFill>
                        <a:latin typeface="Cambria Math" panose="02040503050406030204" pitchFamily="18" charset="0"/>
                        <a:ea typeface="+mj-ea"/>
                        <a:cs typeface="+mj-cs"/>
                      </a:rPr>
                      <m:t>𝑃</m:t>
                    </m:r>
                    <m:d>
                      <m:dPr>
                        <m:ctrlPr>
                          <a:rPr lang="en-US" sz="2800" b="0" i="1" kern="1200">
                            <a:solidFill>
                              <a:schemeClr val="tx1"/>
                            </a:solidFill>
                            <a:latin typeface="Cambria Math" panose="02040503050406030204" pitchFamily="18" charset="0"/>
                            <a:ea typeface="+mj-ea"/>
                            <a:cs typeface="+mj-cs"/>
                          </a:rPr>
                        </m:ctrlPr>
                      </m:dPr>
                      <m:e>
                        <m:r>
                          <a:rPr lang="en-US" sz="2800" b="0" i="1" kern="1200">
                            <a:solidFill>
                              <a:schemeClr val="tx1"/>
                            </a:solidFill>
                            <a:latin typeface="Cambria Math" panose="02040503050406030204" pitchFamily="18" charset="0"/>
                            <a:ea typeface="+mj-ea"/>
                            <a:cs typeface="+mj-cs"/>
                          </a:rPr>
                          <m:t>𝐴</m:t>
                        </m:r>
                        <m:r>
                          <a:rPr lang="en-US" sz="2800" b="0" i="1" kern="1200">
                            <a:solidFill>
                              <a:schemeClr val="tx1"/>
                            </a:solidFill>
                            <a:latin typeface="Cambria Math" panose="02040503050406030204" pitchFamily="18" charset="0"/>
                            <a:ea typeface="+mj-ea"/>
                            <a:cs typeface="+mj-cs"/>
                          </a:rPr>
                          <m:t>∩</m:t>
                        </m:r>
                        <m:r>
                          <a:rPr lang="en-US" sz="2800" b="0" i="1" kern="1200">
                            <a:solidFill>
                              <a:schemeClr val="tx1"/>
                            </a:solidFill>
                            <a:latin typeface="Cambria Math" panose="02040503050406030204" pitchFamily="18" charset="0"/>
                            <a:ea typeface="+mj-ea"/>
                            <a:cs typeface="+mj-cs"/>
                          </a:rPr>
                          <m:t>𝐵</m:t>
                        </m:r>
                      </m:e>
                    </m:d>
                    <m:r>
                      <a:rPr lang="en-US" sz="2800" b="0" i="1" kern="1200">
                        <a:solidFill>
                          <a:schemeClr val="tx1"/>
                        </a:solidFill>
                        <a:latin typeface="Cambria Math" panose="02040503050406030204" pitchFamily="18" charset="0"/>
                        <a:ea typeface="+mj-ea"/>
                        <a:cs typeface="+mj-cs"/>
                      </a:rPr>
                      <m:t>=1−0,23=0,77</m:t>
                    </m:r>
                  </m:oMath>
                </a14:m>
                <a:br>
                  <a:rPr lang="en-US" sz="2000" b="0" i="1" kern="1200" dirty="0">
                    <a:solidFill>
                      <a:schemeClr val="tx1"/>
                    </a:solidFill>
                    <a:latin typeface="+mj-lt"/>
                    <a:ea typeface="+mj-ea"/>
                    <a:cs typeface="+mj-cs"/>
                  </a:rPr>
                </a:br>
                <a14:m>
                  <m:oMathPara xmlns:m="http://schemas.openxmlformats.org/officeDocument/2006/math">
                    <m:oMathParaPr>
                      <m:jc m:val="centerGroup"/>
                    </m:oMathParaPr>
                    <m:oMath xmlns:m="http://schemas.openxmlformats.org/officeDocument/2006/math">
                      <m:r>
                        <a:rPr lang="en-US" sz="2000" b="0" i="1" kern="1200">
                          <a:solidFill>
                            <a:schemeClr val="tx1"/>
                          </a:solidFill>
                          <a:latin typeface="Cambria Math" panose="02040503050406030204" pitchFamily="18" charset="0"/>
                          <a:ea typeface="+mj-ea"/>
                          <a:cs typeface="+mj-cs"/>
                        </a:rPr>
                        <m:t> </m:t>
                      </m:r>
                    </m:oMath>
                  </m:oMathPara>
                </a14:m>
                <a:endParaRPr lang="en-US" sz="2000" kern="1200" dirty="0">
                  <a:solidFill>
                    <a:schemeClr val="tx1"/>
                  </a:solidFill>
                  <a:latin typeface="+mj-lt"/>
                  <a:ea typeface="+mj-ea"/>
                  <a:cs typeface="+mj-cs"/>
                </a:endParaRPr>
              </a:p>
            </p:txBody>
          </p:sp>
        </mc:Choice>
        <mc:Fallback xmlns="">
          <p:sp>
            <p:nvSpPr>
              <p:cNvPr id="2" name="Titre 1">
                <a:extLst>
                  <a:ext uri="{FF2B5EF4-FFF2-40B4-BE49-F238E27FC236}">
                    <a16:creationId xmlns:a16="http://schemas.microsoft.com/office/drawing/2014/main" id="{691B040A-A476-4C70-83DE-EE1A987D5D11}"/>
                  </a:ext>
                </a:extLst>
              </p:cNvPr>
              <p:cNvSpPr>
                <a:spLocks noGrp="1" noRot="1" noChangeAspect="1" noMove="1" noResize="1" noEditPoints="1" noAdjustHandles="1" noChangeArrowheads="1" noChangeShapeType="1" noTextEdit="1"/>
              </p:cNvSpPr>
              <p:nvPr>
                <p:ph type="title"/>
              </p:nvPr>
            </p:nvSpPr>
            <p:spPr>
              <a:xfrm>
                <a:off x="987689" y="857157"/>
                <a:ext cx="9910296" cy="4804054"/>
              </a:xfrm>
              <a:blipFill>
                <a:blip r:embed="rId2"/>
                <a:stretch>
                  <a:fillRect l="-1230" t="-2157"/>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2FEEACBF-1C6B-4864-B5C4-C8298D3ECC5B}"/>
              </a:ext>
            </a:extLst>
          </p:cNvPr>
          <p:cNvSpPr>
            <a:spLocks noGrp="1"/>
          </p:cNvSpPr>
          <p:nvPr>
            <p:ph type="ftr" sz="quarter" idx="11"/>
          </p:nvPr>
        </p:nvSpPr>
        <p:spPr>
          <a:xfrm>
            <a:off x="2405841" y="6492240"/>
            <a:ext cx="3318164"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F42C247A-45FD-4534-89C5-CF476FBEA3B0}"/>
              </a:ext>
            </a:extLst>
          </p:cNvPr>
          <p:cNvSpPr>
            <a:spLocks noGrp="1"/>
          </p:cNvSpPr>
          <p:nvPr>
            <p:ph type="sldNum" sz="quarter" idx="12"/>
          </p:nvPr>
        </p:nvSpPr>
        <p:spPr>
          <a:xfrm>
            <a:off x="5885412" y="6492240"/>
            <a:ext cx="1188720"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7</a:t>
            </a:fld>
            <a:endParaRPr lang="en-US"/>
          </a:p>
        </p:txBody>
      </p:sp>
    </p:spTree>
    <p:extLst>
      <p:ext uri="{BB962C8B-B14F-4D97-AF65-F5344CB8AC3E}">
        <p14:creationId xmlns:p14="http://schemas.microsoft.com/office/powerpoint/2010/main" val="253401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2">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5" name="Rectangle 44">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Rectangle: Rounded Corners 46">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38" name="ZoneTexte 37">
                <a:extLst>
                  <a:ext uri="{FF2B5EF4-FFF2-40B4-BE49-F238E27FC236}">
                    <a16:creationId xmlns:a16="http://schemas.microsoft.com/office/drawing/2014/main" id="{4CA0DEFC-67BF-4235-B9C5-05E5AF5C8FFC}"/>
                  </a:ext>
                </a:extLst>
              </p:cNvPr>
              <p:cNvSpPr txBox="1"/>
              <p:nvPr/>
            </p:nvSpPr>
            <p:spPr>
              <a:xfrm>
                <a:off x="427038" y="2181225"/>
                <a:ext cx="11337925" cy="4014788"/>
              </a:xfrm>
              <a:prstGeom prst="rect">
                <a:avLst/>
              </a:prstGeom>
              <a:noFill/>
            </p:spPr>
            <p:txBody>
              <a:bodyPr wrap="square" rtlCol="0" anchor="t">
                <a:normAutofit/>
              </a:bodyPr>
              <a:lstStyle/>
              <a:p>
                <a:pPr>
                  <a:lnSpc>
                    <a:spcPct val="90000"/>
                  </a:lnSpc>
                  <a:spcAft>
                    <a:spcPts val="600"/>
                  </a:spcAft>
                </a:pPr>
                <a:r>
                  <a:rPr lang="fr-CA" sz="1100"/>
                  <a:t>Dans la majorité des expériences aléatoires, tous les résultats possibles ont la même chance de se réaliser. On dit alors qu’on est devant des événements équiprobables. C’est ce qu’on va supposer dans ce cours. </a:t>
                </a:r>
              </a:p>
              <a:p>
                <a:pPr>
                  <a:lnSpc>
                    <a:spcPct val="90000"/>
                  </a:lnSpc>
                  <a:spcAft>
                    <a:spcPts val="600"/>
                  </a:spcAft>
                </a:pPr>
                <a:r>
                  <a:rPr lang="fr-CA" sz="1100"/>
                  <a:t>Soit alors N(S) le nombre de cas possibles de faire une expérience aléatoire et pour un événement A, soit N(A) le nombre de cas où A peut se produire.  Alors, on va poser:</a:t>
                </a:r>
              </a:p>
              <a:p>
                <a:pPr>
                  <a:lnSpc>
                    <a:spcPct val="90000"/>
                  </a:lnSpc>
                  <a:spcAft>
                    <a:spcPts val="600"/>
                  </a:spcAft>
                </a:pPr>
                <a:endParaRPr lang="fr-CA" sz="1100"/>
              </a:p>
              <a:p>
                <a:pPr>
                  <a:lnSpc>
                    <a:spcPct val="90000"/>
                  </a:lnSpc>
                  <a:spcAft>
                    <a:spcPts val="600"/>
                  </a:spcAft>
                </a:pPr>
                <a14:m>
                  <m:oMathPara xmlns:m="http://schemas.openxmlformats.org/officeDocument/2006/math">
                    <m:oMathParaPr>
                      <m:jc m:val="centerGroup"/>
                    </m:oMathParaPr>
                    <m:oMath xmlns:m="http://schemas.openxmlformats.org/officeDocument/2006/math">
                      <m:r>
                        <a:rPr lang="fr-CA" sz="1100" b="0" i="1" smtClean="0">
                          <a:latin typeface="Cambria Math" panose="02040503050406030204" pitchFamily="18" charset="0"/>
                        </a:rPr>
                        <m:t>𝑃</m:t>
                      </m:r>
                      <m:d>
                        <m:dPr>
                          <m:ctrlPr>
                            <a:rPr lang="fr-CA" sz="1100" b="0" i="1" smtClean="0">
                              <a:latin typeface="Cambria Math" panose="02040503050406030204" pitchFamily="18" charset="0"/>
                            </a:rPr>
                          </m:ctrlPr>
                        </m:dPr>
                        <m:e>
                          <m:r>
                            <a:rPr lang="fr-CA" sz="1100" b="0" i="1" smtClean="0">
                              <a:latin typeface="Cambria Math" panose="02040503050406030204" pitchFamily="18" charset="0"/>
                            </a:rPr>
                            <m:t>𝐴</m:t>
                          </m:r>
                        </m:e>
                      </m:d>
                      <m:r>
                        <a:rPr lang="fr-CA" sz="1100" b="0" i="1" smtClean="0">
                          <a:latin typeface="Cambria Math" panose="02040503050406030204" pitchFamily="18" charset="0"/>
                        </a:rPr>
                        <m:t>=</m:t>
                      </m:r>
                      <m:f>
                        <m:fPr>
                          <m:ctrlPr>
                            <a:rPr lang="fr-CA" sz="1100" b="0" i="1" smtClean="0">
                              <a:latin typeface="Cambria Math" panose="02040503050406030204" pitchFamily="18" charset="0"/>
                            </a:rPr>
                          </m:ctrlPr>
                        </m:fPr>
                        <m:num>
                          <m:r>
                            <a:rPr lang="fr-CA" sz="1100" b="0" i="1" smtClean="0">
                              <a:latin typeface="Cambria Math" panose="02040503050406030204" pitchFamily="18" charset="0"/>
                            </a:rPr>
                            <m:t>𝑁</m:t>
                          </m:r>
                          <m:r>
                            <a:rPr lang="fr-CA" sz="1100" b="0" i="1" smtClean="0">
                              <a:latin typeface="Cambria Math" panose="02040503050406030204" pitchFamily="18" charset="0"/>
                            </a:rPr>
                            <m:t>(</m:t>
                          </m:r>
                          <m:r>
                            <a:rPr lang="fr-CA" sz="1100" b="0" i="1" smtClean="0">
                              <a:latin typeface="Cambria Math" panose="02040503050406030204" pitchFamily="18" charset="0"/>
                            </a:rPr>
                            <m:t>𝐴</m:t>
                          </m:r>
                          <m:r>
                            <a:rPr lang="fr-CA" sz="1100" b="0" i="1" smtClean="0">
                              <a:latin typeface="Cambria Math" panose="02040503050406030204" pitchFamily="18" charset="0"/>
                            </a:rPr>
                            <m:t>)</m:t>
                          </m:r>
                        </m:num>
                        <m:den>
                          <m:r>
                            <a:rPr lang="fr-CA" sz="1100" b="0" i="1" smtClean="0">
                              <a:latin typeface="Cambria Math" panose="02040503050406030204" pitchFamily="18" charset="0"/>
                            </a:rPr>
                            <m:t>𝑁</m:t>
                          </m:r>
                          <m:r>
                            <a:rPr lang="fr-CA" sz="1100" b="0" i="1" smtClean="0">
                              <a:latin typeface="Cambria Math" panose="02040503050406030204" pitchFamily="18" charset="0"/>
                            </a:rPr>
                            <m:t>(</m:t>
                          </m:r>
                          <m:r>
                            <a:rPr lang="fr-CA" sz="1100" b="0" i="1" smtClean="0">
                              <a:latin typeface="Cambria Math" panose="02040503050406030204" pitchFamily="18" charset="0"/>
                            </a:rPr>
                            <m:t>𝑆</m:t>
                          </m:r>
                          <m:r>
                            <a:rPr lang="fr-CA" sz="1100" b="0" i="1" smtClean="0">
                              <a:latin typeface="Cambria Math" panose="02040503050406030204" pitchFamily="18" charset="0"/>
                            </a:rPr>
                            <m:t>)</m:t>
                          </m:r>
                        </m:den>
                      </m:f>
                      <m:r>
                        <a:rPr lang="fr-CA" sz="1100" b="0" i="1" smtClean="0">
                          <a:latin typeface="Cambria Math" panose="02040503050406030204" pitchFamily="18" charset="0"/>
                        </a:rPr>
                        <m:t>=</m:t>
                      </m:r>
                      <m:f>
                        <m:fPr>
                          <m:ctrlPr>
                            <a:rPr lang="fr-CA" sz="1100" b="0" i="1" smtClean="0">
                              <a:latin typeface="Cambria Math" panose="02040503050406030204" pitchFamily="18" charset="0"/>
                            </a:rPr>
                          </m:ctrlPr>
                        </m:fPr>
                        <m:num>
                          <m:r>
                            <a:rPr lang="fr-CA" sz="1100" b="0" i="1" smtClean="0">
                              <a:latin typeface="Cambria Math" panose="02040503050406030204" pitchFamily="18" charset="0"/>
                            </a:rPr>
                            <m:t>𝑁𝑜𝑚𝑏𝑟𝑒</m:t>
                          </m:r>
                          <m:r>
                            <a:rPr lang="fr-CA" sz="1100" b="0" i="1" smtClean="0">
                              <a:latin typeface="Cambria Math" panose="02040503050406030204" pitchFamily="18" charset="0"/>
                            </a:rPr>
                            <m:t> </m:t>
                          </m:r>
                          <m:r>
                            <a:rPr lang="fr-CA" sz="1100" b="0" i="1" smtClean="0">
                              <a:latin typeface="Cambria Math" panose="02040503050406030204" pitchFamily="18" charset="0"/>
                            </a:rPr>
                            <m:t>𝑑𝑒</m:t>
                          </m:r>
                          <m:r>
                            <a:rPr lang="fr-CA" sz="1100" b="0" i="1" smtClean="0">
                              <a:latin typeface="Cambria Math" panose="02040503050406030204" pitchFamily="18" charset="0"/>
                            </a:rPr>
                            <m:t> </m:t>
                          </m:r>
                          <m:r>
                            <a:rPr lang="fr-CA" sz="1100" b="0" i="1" smtClean="0">
                              <a:latin typeface="Cambria Math" panose="02040503050406030204" pitchFamily="18" charset="0"/>
                            </a:rPr>
                            <m:t>𝑐𝑎𝑠</m:t>
                          </m:r>
                          <m:r>
                            <a:rPr lang="fr-CA" sz="1100" b="0" i="1" smtClean="0">
                              <a:latin typeface="Cambria Math" panose="02040503050406030204" pitchFamily="18" charset="0"/>
                            </a:rPr>
                            <m:t> </m:t>
                          </m:r>
                          <m:r>
                            <a:rPr lang="fr-CA" sz="1100" b="0" i="1" smtClean="0">
                              <a:latin typeface="Cambria Math" panose="02040503050406030204" pitchFamily="18" charset="0"/>
                            </a:rPr>
                            <m:t>𝑓𝑎𝑣𝑜𝑟𝑎𝑏𝑙𝑒𝑠</m:t>
                          </m:r>
                          <m:r>
                            <a:rPr lang="fr-CA" sz="1100" b="0" i="1" smtClean="0">
                              <a:latin typeface="Cambria Math" panose="02040503050406030204" pitchFamily="18" charset="0"/>
                            </a:rPr>
                            <m:t> à </m:t>
                          </m:r>
                          <m:r>
                            <a:rPr lang="fr-CA" sz="1100" b="0" i="1" smtClean="0">
                              <a:latin typeface="Cambria Math" panose="02040503050406030204" pitchFamily="18" charset="0"/>
                            </a:rPr>
                            <m:t>𝐴</m:t>
                          </m:r>
                        </m:num>
                        <m:den>
                          <m:r>
                            <a:rPr lang="fr-CA" sz="1100" b="0" i="1" smtClean="0">
                              <a:latin typeface="Cambria Math" panose="02040503050406030204" pitchFamily="18" charset="0"/>
                            </a:rPr>
                            <m:t>𝑁𝑜𝑚𝑏𝑟𝑒</m:t>
                          </m:r>
                          <m:r>
                            <a:rPr lang="fr-CA" sz="1100" b="0" i="1" smtClean="0">
                              <a:latin typeface="Cambria Math" panose="02040503050406030204" pitchFamily="18" charset="0"/>
                            </a:rPr>
                            <m:t> </m:t>
                          </m:r>
                          <m:r>
                            <a:rPr lang="fr-CA" sz="1100" b="0" i="1" smtClean="0">
                              <a:latin typeface="Cambria Math" panose="02040503050406030204" pitchFamily="18" charset="0"/>
                            </a:rPr>
                            <m:t>𝑑𝑒</m:t>
                          </m:r>
                          <m:r>
                            <a:rPr lang="fr-CA" sz="1100" b="0" i="1" smtClean="0">
                              <a:latin typeface="Cambria Math" panose="02040503050406030204" pitchFamily="18" charset="0"/>
                            </a:rPr>
                            <m:t> </m:t>
                          </m:r>
                          <m:r>
                            <a:rPr lang="fr-CA" sz="1100" b="0" i="1" smtClean="0">
                              <a:latin typeface="Cambria Math" panose="02040503050406030204" pitchFamily="18" charset="0"/>
                            </a:rPr>
                            <m:t>𝑐𝑎𝑠</m:t>
                          </m:r>
                          <m:r>
                            <a:rPr lang="fr-CA" sz="1100" b="0" i="1" smtClean="0">
                              <a:latin typeface="Cambria Math" panose="02040503050406030204" pitchFamily="18" charset="0"/>
                            </a:rPr>
                            <m:t> </m:t>
                          </m:r>
                          <m:r>
                            <a:rPr lang="fr-CA" sz="1100" b="0" i="1" smtClean="0">
                              <a:latin typeface="Cambria Math" panose="02040503050406030204" pitchFamily="18" charset="0"/>
                            </a:rPr>
                            <m:t>𝑝𝑜𝑠𝑠𝑖𝑏𝑙𝑒𝑠</m:t>
                          </m:r>
                        </m:den>
                      </m:f>
                    </m:oMath>
                  </m:oMathPara>
                </a14:m>
                <a:endParaRPr lang="fr-CA" sz="1100"/>
              </a:p>
              <a:p>
                <a:pPr>
                  <a:lnSpc>
                    <a:spcPct val="90000"/>
                  </a:lnSpc>
                  <a:spcAft>
                    <a:spcPts val="600"/>
                  </a:spcAft>
                </a:pPr>
                <a:r>
                  <a:rPr lang="fr-CA" sz="1100" b="1"/>
                  <a:t>Exemple 1:</a:t>
                </a:r>
                <a:r>
                  <a:rPr lang="fr-CA" sz="1100"/>
                  <a:t>  Lorsqu’on lance un dé,  N(S)=6  et soit A: avoir la face 6  donc N(A)=1   et </a:t>
                </a:r>
                <a14:m>
                  <m:oMath xmlns:m="http://schemas.openxmlformats.org/officeDocument/2006/math">
                    <m:r>
                      <a:rPr lang="fr-CA" sz="1100" b="0" i="1" smtClean="0">
                        <a:latin typeface="Cambria Math" panose="02040503050406030204" pitchFamily="18" charset="0"/>
                      </a:rPr>
                      <m:t>𝑃</m:t>
                    </m:r>
                    <m:d>
                      <m:dPr>
                        <m:ctrlPr>
                          <a:rPr lang="fr-CA" sz="1100" b="0" i="1" smtClean="0">
                            <a:latin typeface="Cambria Math" panose="02040503050406030204" pitchFamily="18" charset="0"/>
                          </a:rPr>
                        </m:ctrlPr>
                      </m:dPr>
                      <m:e>
                        <m:r>
                          <a:rPr lang="fr-CA" sz="1100" b="0" i="1" smtClean="0">
                            <a:latin typeface="Cambria Math" panose="02040503050406030204" pitchFamily="18" charset="0"/>
                          </a:rPr>
                          <m:t>𝐴</m:t>
                        </m:r>
                      </m:e>
                    </m:d>
                    <m:r>
                      <a:rPr lang="fr-CA" sz="1100" b="0" i="1" smtClean="0">
                        <a:latin typeface="Cambria Math" panose="02040503050406030204" pitchFamily="18" charset="0"/>
                      </a:rPr>
                      <m:t>=</m:t>
                    </m:r>
                    <m:f>
                      <m:fPr>
                        <m:ctrlPr>
                          <a:rPr lang="fr-CA" sz="1100" b="0" i="1" smtClean="0">
                            <a:latin typeface="Cambria Math" panose="02040503050406030204" pitchFamily="18" charset="0"/>
                          </a:rPr>
                        </m:ctrlPr>
                      </m:fPr>
                      <m:num>
                        <m:r>
                          <a:rPr lang="fr-CA" sz="1100" b="0" i="1" smtClean="0">
                            <a:latin typeface="Cambria Math" panose="02040503050406030204" pitchFamily="18" charset="0"/>
                          </a:rPr>
                          <m:t>𝑁</m:t>
                        </m:r>
                        <m:r>
                          <a:rPr lang="fr-CA" sz="1100" b="0" i="1" smtClean="0">
                            <a:latin typeface="Cambria Math" panose="02040503050406030204" pitchFamily="18" charset="0"/>
                          </a:rPr>
                          <m:t>(</m:t>
                        </m:r>
                        <m:r>
                          <a:rPr lang="fr-CA" sz="1100" b="0" i="1" smtClean="0">
                            <a:latin typeface="Cambria Math" panose="02040503050406030204" pitchFamily="18" charset="0"/>
                          </a:rPr>
                          <m:t>𝐴</m:t>
                        </m:r>
                        <m:r>
                          <a:rPr lang="fr-CA" sz="1100" b="0" i="1" smtClean="0">
                            <a:latin typeface="Cambria Math" panose="02040503050406030204" pitchFamily="18" charset="0"/>
                          </a:rPr>
                          <m:t>)</m:t>
                        </m:r>
                      </m:num>
                      <m:den>
                        <m:r>
                          <a:rPr lang="fr-CA" sz="1100" b="0" i="1" smtClean="0">
                            <a:latin typeface="Cambria Math" panose="02040503050406030204" pitchFamily="18" charset="0"/>
                          </a:rPr>
                          <m:t>𝑁</m:t>
                        </m:r>
                        <m:r>
                          <a:rPr lang="fr-CA" sz="1100" b="0" i="1" smtClean="0">
                            <a:latin typeface="Cambria Math" panose="02040503050406030204" pitchFamily="18" charset="0"/>
                          </a:rPr>
                          <m:t>(</m:t>
                        </m:r>
                        <m:r>
                          <a:rPr lang="fr-CA" sz="1100" b="0" i="1" smtClean="0">
                            <a:latin typeface="Cambria Math" panose="02040503050406030204" pitchFamily="18" charset="0"/>
                          </a:rPr>
                          <m:t>𝑆</m:t>
                        </m:r>
                        <m:r>
                          <a:rPr lang="fr-CA" sz="1100" b="0" i="1" smtClean="0">
                            <a:latin typeface="Cambria Math" panose="02040503050406030204" pitchFamily="18" charset="0"/>
                          </a:rPr>
                          <m:t>)</m:t>
                        </m:r>
                      </m:den>
                    </m:f>
                    <m:r>
                      <a:rPr lang="fr-CA" sz="1100" b="0" i="1" smtClean="0">
                        <a:latin typeface="Cambria Math" panose="02040503050406030204" pitchFamily="18" charset="0"/>
                      </a:rPr>
                      <m:t>=</m:t>
                    </m:r>
                    <m:f>
                      <m:fPr>
                        <m:ctrlPr>
                          <a:rPr lang="fr-CA" sz="1100" b="0" i="1" smtClean="0">
                            <a:latin typeface="Cambria Math" panose="02040503050406030204" pitchFamily="18" charset="0"/>
                          </a:rPr>
                        </m:ctrlPr>
                      </m:fPr>
                      <m:num>
                        <m:r>
                          <a:rPr lang="fr-CA" sz="1100" b="0" i="1" smtClean="0">
                            <a:latin typeface="Cambria Math" panose="02040503050406030204" pitchFamily="18" charset="0"/>
                          </a:rPr>
                          <m:t>1</m:t>
                        </m:r>
                      </m:num>
                      <m:den>
                        <m:r>
                          <a:rPr lang="fr-CA" sz="1100" b="0" i="1" smtClean="0">
                            <a:latin typeface="Cambria Math" panose="02040503050406030204" pitchFamily="18" charset="0"/>
                          </a:rPr>
                          <m:t>6</m:t>
                        </m:r>
                      </m:den>
                    </m:f>
                  </m:oMath>
                </a14:m>
                <a:endParaRPr lang="fr-CA" sz="1100"/>
              </a:p>
              <a:p>
                <a:pPr>
                  <a:lnSpc>
                    <a:spcPct val="90000"/>
                  </a:lnSpc>
                  <a:spcAft>
                    <a:spcPts val="600"/>
                  </a:spcAft>
                </a:pPr>
                <a:endParaRPr lang="fr-CA" sz="1100"/>
              </a:p>
              <a:p>
                <a:pPr>
                  <a:lnSpc>
                    <a:spcPct val="90000"/>
                  </a:lnSpc>
                  <a:spcAft>
                    <a:spcPts val="600"/>
                  </a:spcAft>
                </a:pPr>
                <a:r>
                  <a:rPr lang="fr-CA" sz="1100" b="1"/>
                  <a:t>Exemple 2: </a:t>
                </a:r>
                <a:r>
                  <a:rPr lang="fr-CA" sz="1100"/>
                  <a:t>Un refuge pour animaux reçoit une portée de 5 chatons dont 3 males et 2 femelles. On choisit au hasard un chaton pour adoption. Quelle est la probabilité que ce chaton soit un male?</a:t>
                </a:r>
              </a:p>
              <a:p>
                <a:pPr>
                  <a:lnSpc>
                    <a:spcPct val="90000"/>
                  </a:lnSpc>
                  <a:spcAft>
                    <a:spcPts val="600"/>
                  </a:spcAft>
                </a:pPr>
                <a:endParaRPr lang="fr-CA" sz="1100" b="1"/>
              </a:p>
              <a:p>
                <a:pPr>
                  <a:lnSpc>
                    <a:spcPct val="90000"/>
                  </a:lnSpc>
                  <a:spcAft>
                    <a:spcPts val="600"/>
                  </a:spcAft>
                </a:pPr>
                <a:r>
                  <a:rPr lang="fr-CA" sz="1100"/>
                  <a:t>Puisque N(S)=5    et que si on pose M: le chaton choisit au hasard soit un male, alors N(M)=3  donc</a:t>
                </a:r>
              </a:p>
              <a:p>
                <a:pPr>
                  <a:lnSpc>
                    <a:spcPct val="90000"/>
                  </a:lnSpc>
                  <a:spcAft>
                    <a:spcPts val="600"/>
                  </a:spcAft>
                </a:pPr>
                <a14:m>
                  <m:oMathPara xmlns:m="http://schemas.openxmlformats.org/officeDocument/2006/math">
                    <m:oMathParaPr>
                      <m:jc m:val="centerGroup"/>
                    </m:oMathParaPr>
                    <m:oMath xmlns:m="http://schemas.openxmlformats.org/officeDocument/2006/math">
                      <m:r>
                        <a:rPr lang="fr-CA" sz="1100" b="0" i="1" smtClean="0">
                          <a:latin typeface="Cambria Math" panose="02040503050406030204" pitchFamily="18" charset="0"/>
                        </a:rPr>
                        <m:t>𝑃</m:t>
                      </m:r>
                      <m:d>
                        <m:dPr>
                          <m:ctrlPr>
                            <a:rPr lang="fr-CA" sz="1100" b="0" i="1" smtClean="0">
                              <a:latin typeface="Cambria Math" panose="02040503050406030204" pitchFamily="18" charset="0"/>
                            </a:rPr>
                          </m:ctrlPr>
                        </m:dPr>
                        <m:e>
                          <m:r>
                            <a:rPr lang="fr-CA" sz="1100" b="0" i="1" smtClean="0">
                              <a:latin typeface="Cambria Math" panose="02040503050406030204" pitchFamily="18" charset="0"/>
                            </a:rPr>
                            <m:t>𝑀</m:t>
                          </m:r>
                        </m:e>
                      </m:d>
                      <m:r>
                        <a:rPr lang="fr-CA" sz="1100" b="0" i="1" smtClean="0">
                          <a:latin typeface="Cambria Math" panose="02040503050406030204" pitchFamily="18" charset="0"/>
                        </a:rPr>
                        <m:t>=</m:t>
                      </m:r>
                      <m:f>
                        <m:fPr>
                          <m:ctrlPr>
                            <a:rPr lang="fr-CA" sz="1100" b="0" i="1" smtClean="0">
                              <a:latin typeface="Cambria Math" panose="02040503050406030204" pitchFamily="18" charset="0"/>
                            </a:rPr>
                          </m:ctrlPr>
                        </m:fPr>
                        <m:num>
                          <m:r>
                            <a:rPr lang="fr-CA" sz="1100" b="0" i="1" smtClean="0">
                              <a:latin typeface="Cambria Math" panose="02040503050406030204" pitchFamily="18" charset="0"/>
                            </a:rPr>
                            <m:t>𝑁</m:t>
                          </m:r>
                          <m:r>
                            <a:rPr lang="fr-CA" sz="1100" b="0" i="1" smtClean="0">
                              <a:latin typeface="Cambria Math" panose="02040503050406030204" pitchFamily="18" charset="0"/>
                            </a:rPr>
                            <m:t>(</m:t>
                          </m:r>
                          <m:r>
                            <a:rPr lang="fr-CA" sz="1100" b="0" i="1" smtClean="0">
                              <a:latin typeface="Cambria Math" panose="02040503050406030204" pitchFamily="18" charset="0"/>
                            </a:rPr>
                            <m:t>𝑀</m:t>
                          </m:r>
                          <m:r>
                            <a:rPr lang="fr-CA" sz="1100" b="0" i="1" smtClean="0">
                              <a:latin typeface="Cambria Math" panose="02040503050406030204" pitchFamily="18" charset="0"/>
                            </a:rPr>
                            <m:t>)</m:t>
                          </m:r>
                        </m:num>
                        <m:den>
                          <m:r>
                            <a:rPr lang="fr-CA" sz="1100" b="0" i="1" smtClean="0">
                              <a:latin typeface="Cambria Math" panose="02040503050406030204" pitchFamily="18" charset="0"/>
                            </a:rPr>
                            <m:t>𝑁</m:t>
                          </m:r>
                          <m:r>
                            <a:rPr lang="fr-CA" sz="1100" b="0" i="1" smtClean="0">
                              <a:latin typeface="Cambria Math" panose="02040503050406030204" pitchFamily="18" charset="0"/>
                            </a:rPr>
                            <m:t>(</m:t>
                          </m:r>
                          <m:r>
                            <a:rPr lang="fr-CA" sz="1100" b="0" i="1" smtClean="0">
                              <a:latin typeface="Cambria Math" panose="02040503050406030204" pitchFamily="18" charset="0"/>
                            </a:rPr>
                            <m:t>𝑆</m:t>
                          </m:r>
                          <m:r>
                            <a:rPr lang="fr-CA" sz="1100" b="0" i="1" smtClean="0">
                              <a:latin typeface="Cambria Math" panose="02040503050406030204" pitchFamily="18" charset="0"/>
                            </a:rPr>
                            <m:t>)</m:t>
                          </m:r>
                        </m:den>
                      </m:f>
                      <m:r>
                        <a:rPr lang="fr-CA" sz="1100" b="0" i="1" smtClean="0">
                          <a:latin typeface="Cambria Math" panose="02040503050406030204" pitchFamily="18" charset="0"/>
                        </a:rPr>
                        <m:t>=</m:t>
                      </m:r>
                      <m:f>
                        <m:fPr>
                          <m:ctrlPr>
                            <a:rPr lang="fr-CA" sz="1100" b="0" i="1" smtClean="0">
                              <a:latin typeface="Cambria Math" panose="02040503050406030204" pitchFamily="18" charset="0"/>
                            </a:rPr>
                          </m:ctrlPr>
                        </m:fPr>
                        <m:num>
                          <m:r>
                            <a:rPr lang="fr-CA" sz="1100" b="0" i="1" smtClean="0">
                              <a:latin typeface="Cambria Math" panose="02040503050406030204" pitchFamily="18" charset="0"/>
                            </a:rPr>
                            <m:t>3</m:t>
                          </m:r>
                        </m:num>
                        <m:den>
                          <m:r>
                            <a:rPr lang="fr-CA" sz="1100" b="0" i="1" smtClean="0">
                              <a:latin typeface="Cambria Math" panose="02040503050406030204" pitchFamily="18" charset="0"/>
                            </a:rPr>
                            <m:t>5</m:t>
                          </m:r>
                        </m:den>
                      </m:f>
                    </m:oMath>
                  </m:oMathPara>
                </a14:m>
                <a:endParaRPr lang="fr-CA" sz="1100"/>
              </a:p>
              <a:p>
                <a:pPr>
                  <a:lnSpc>
                    <a:spcPct val="90000"/>
                  </a:lnSpc>
                  <a:spcAft>
                    <a:spcPts val="600"/>
                  </a:spcAft>
                </a:pPr>
                <a:endParaRPr lang="fr-CA" sz="1100"/>
              </a:p>
              <a:p>
                <a:pPr>
                  <a:lnSpc>
                    <a:spcPct val="90000"/>
                  </a:lnSpc>
                  <a:spcAft>
                    <a:spcPts val="600"/>
                  </a:spcAft>
                </a:pPr>
                <a:r>
                  <a:rPr lang="fr-CA" sz="1100"/>
                  <a:t> </a:t>
                </a:r>
              </a:p>
              <a:p>
                <a:pPr marL="285750" indent="-285750">
                  <a:lnSpc>
                    <a:spcPct val="90000"/>
                  </a:lnSpc>
                  <a:spcAft>
                    <a:spcPts val="600"/>
                  </a:spcAft>
                  <a:buFont typeface="Arial" panose="020B0604020202020204" pitchFamily="34" charset="0"/>
                  <a:buChar char="•"/>
                </a:pPr>
                <a:endParaRPr lang="fr-CA" sz="1100"/>
              </a:p>
            </p:txBody>
          </p:sp>
        </mc:Choice>
        <mc:Fallback xmlns="">
          <p:sp>
            <p:nvSpPr>
              <p:cNvPr id="38" name="ZoneTexte 37">
                <a:extLst>
                  <a:ext uri="{FF2B5EF4-FFF2-40B4-BE49-F238E27FC236}">
                    <a16:creationId xmlns:a16="http://schemas.microsoft.com/office/drawing/2014/main" id="{4CA0DEFC-67BF-4235-B9C5-05E5AF5C8FFC}"/>
                  </a:ext>
                </a:extLst>
              </p:cNvPr>
              <p:cNvSpPr txBox="1">
                <a:spLocks noRot="1" noChangeAspect="1" noMove="1" noResize="1" noEditPoints="1" noAdjustHandles="1" noChangeArrowheads="1" noChangeShapeType="1" noTextEdit="1"/>
              </p:cNvSpPr>
              <p:nvPr/>
            </p:nvSpPr>
            <p:spPr>
              <a:xfrm>
                <a:off x="427038" y="2181225"/>
                <a:ext cx="11337925" cy="4014788"/>
              </a:xfrm>
              <a:prstGeom prst="rect">
                <a:avLst/>
              </a:prstGeom>
              <a:blipFill>
                <a:blip r:embed="rId2"/>
                <a:stretch>
                  <a:fillRect t="-456"/>
                </a:stretch>
              </a:blipFill>
            </p:spPr>
            <p:txBody>
              <a:bodyPr/>
              <a:lstStyle/>
              <a:p>
                <a:r>
                  <a:rPr lang="fr-CA">
                    <a:noFill/>
                  </a:rPr>
                  <a:t> </a:t>
                </a:r>
              </a:p>
            </p:txBody>
          </p:sp>
        </mc:Fallback>
      </mc:AlternateContent>
      <p:sp>
        <p:nvSpPr>
          <p:cNvPr id="2" name="Titre 1">
            <a:extLst>
              <a:ext uri="{FF2B5EF4-FFF2-40B4-BE49-F238E27FC236}">
                <a16:creationId xmlns:a16="http://schemas.microsoft.com/office/drawing/2014/main" id="{B213AB08-90FC-4AFB-86D6-E18FD4D222C0}"/>
              </a:ext>
            </a:extLst>
          </p:cNvPr>
          <p:cNvSpPr>
            <a:spLocks noGrp="1"/>
          </p:cNvSpPr>
          <p:nvPr>
            <p:ph type="ctrTitle"/>
          </p:nvPr>
        </p:nvSpPr>
        <p:spPr>
          <a:xfrm>
            <a:off x="2103121" y="310343"/>
            <a:ext cx="7985759" cy="868823"/>
          </a:xfrm>
        </p:spPr>
        <p:txBody>
          <a:bodyPr anchor="ctr">
            <a:normAutofit fontScale="90000"/>
          </a:bodyPr>
          <a:lstStyle/>
          <a:p>
            <a:r>
              <a:rPr lang="fr-CA" sz="4000"/>
              <a:t>LECTURE2: Les </a:t>
            </a:r>
            <a:r>
              <a:rPr lang="fr-CA" sz="4000" dirty="0"/>
              <a:t>événements équiprobables</a:t>
            </a:r>
          </a:p>
        </p:txBody>
      </p:sp>
      <p:sp>
        <p:nvSpPr>
          <p:cNvPr id="3" name="Sous-titre 2">
            <a:extLst>
              <a:ext uri="{FF2B5EF4-FFF2-40B4-BE49-F238E27FC236}">
                <a16:creationId xmlns:a16="http://schemas.microsoft.com/office/drawing/2014/main" id="{D0C7A1C0-F0C4-4F38-9A80-DC1E208C2E9B}"/>
              </a:ext>
            </a:extLst>
          </p:cNvPr>
          <p:cNvSpPr>
            <a:spLocks noGrp="1"/>
          </p:cNvSpPr>
          <p:nvPr>
            <p:ph type="subTitle" idx="1"/>
          </p:nvPr>
        </p:nvSpPr>
        <p:spPr>
          <a:xfrm>
            <a:off x="2615738" y="1263807"/>
            <a:ext cx="6960524" cy="598516"/>
          </a:xfrm>
        </p:spPr>
        <p:txBody>
          <a:bodyPr anchor="ctr">
            <a:normAutofit/>
          </a:bodyPr>
          <a:lstStyle/>
          <a:p>
            <a:r>
              <a:rPr lang="fr-CA" sz="2000">
                <a:solidFill>
                  <a:schemeClr val="bg1"/>
                </a:solidFill>
              </a:rPr>
              <a:t>   </a:t>
            </a:r>
          </a:p>
          <a:p>
            <a:pPr marL="342900" indent="-342900">
              <a:buFont typeface="Arial" panose="020B0604020202020204" pitchFamily="34" charset="0"/>
              <a:buChar char="•"/>
            </a:pPr>
            <a:endParaRPr lang="fr-CA" sz="2000">
              <a:solidFill>
                <a:schemeClr val="bg1"/>
              </a:solidFill>
            </a:endParaRPr>
          </a:p>
        </p:txBody>
      </p:sp>
      <p:sp>
        <p:nvSpPr>
          <p:cNvPr id="4" name="Espace réservé du pied de page 3">
            <a:extLst>
              <a:ext uri="{FF2B5EF4-FFF2-40B4-BE49-F238E27FC236}">
                <a16:creationId xmlns:a16="http://schemas.microsoft.com/office/drawing/2014/main" id="{C7472FCB-BF59-40D0-88F4-D54953A3E831}"/>
              </a:ext>
            </a:extLst>
          </p:cNvPr>
          <p:cNvSpPr>
            <a:spLocks noGrp="1"/>
          </p:cNvSpPr>
          <p:nvPr>
            <p:ph type="ftr" sz="quarter" idx="11"/>
          </p:nvPr>
        </p:nvSpPr>
        <p:spPr>
          <a:xfrm>
            <a:off x="4038600" y="6356350"/>
            <a:ext cx="4114800" cy="365125"/>
          </a:xfrm>
        </p:spPr>
        <p:txBody>
          <a:bodyPr>
            <a:normAutofit/>
          </a:bodyPr>
          <a:lstStyle/>
          <a:p>
            <a:pPr>
              <a:spcAft>
                <a:spcPts val="600"/>
              </a:spcAft>
            </a:pPr>
            <a:r>
              <a:rPr lang="fr-CA">
                <a:solidFill>
                  <a:schemeClr val="tx1">
                    <a:lumMod val="50000"/>
                    <a:lumOff val="50000"/>
                  </a:schemeClr>
                </a:solidFill>
              </a:rPr>
              <a:t>MOUNTASSIR</a:t>
            </a:r>
          </a:p>
        </p:txBody>
      </p:sp>
      <p:sp>
        <p:nvSpPr>
          <p:cNvPr id="5" name="Espace réservé du numéro de diapositive 4">
            <a:extLst>
              <a:ext uri="{FF2B5EF4-FFF2-40B4-BE49-F238E27FC236}">
                <a16:creationId xmlns:a16="http://schemas.microsoft.com/office/drawing/2014/main" id="{04299CB7-FC4A-4796-99CC-03169CB63325}"/>
              </a:ext>
            </a:extLst>
          </p:cNvPr>
          <p:cNvSpPr>
            <a:spLocks noGrp="1"/>
          </p:cNvSpPr>
          <p:nvPr>
            <p:ph type="sldNum" sz="quarter" idx="12"/>
          </p:nvPr>
        </p:nvSpPr>
        <p:spPr>
          <a:xfrm>
            <a:off x="8610600" y="6356350"/>
            <a:ext cx="2743200" cy="365125"/>
          </a:xfrm>
        </p:spPr>
        <p:txBody>
          <a:bodyPr>
            <a:normAutofit/>
          </a:bodyPr>
          <a:lstStyle/>
          <a:p>
            <a:pPr>
              <a:spcAft>
                <a:spcPts val="600"/>
              </a:spcAft>
            </a:pPr>
            <a:fld id="{26377AD9-CE17-438C-A638-C64D2D42D7CF}" type="slidenum">
              <a:rPr lang="fr-CA">
                <a:solidFill>
                  <a:schemeClr val="tx1">
                    <a:lumMod val="50000"/>
                    <a:lumOff val="50000"/>
                  </a:schemeClr>
                </a:solidFill>
              </a:rPr>
              <a:pPr>
                <a:spcAft>
                  <a:spcPts val="600"/>
                </a:spcAft>
              </a:pPr>
              <a:t>8</a:t>
            </a:fld>
            <a:endParaRPr lang="fr-CA">
              <a:solidFill>
                <a:schemeClr val="tx1">
                  <a:lumMod val="50000"/>
                  <a:lumOff val="50000"/>
                </a:schemeClr>
              </a:solidFill>
            </a:endParaRPr>
          </a:p>
        </p:txBody>
      </p:sp>
    </p:spTree>
    <p:extLst>
      <p:ext uri="{BB962C8B-B14F-4D97-AF65-F5344CB8AC3E}">
        <p14:creationId xmlns:p14="http://schemas.microsoft.com/office/powerpoint/2010/main" val="977794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15">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Triangle 17">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19">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B95DD16-AEB5-4798-9EDF-691BD823549A}"/>
              </a:ext>
            </a:extLst>
          </p:cNvPr>
          <p:cNvSpPr>
            <a:spLocks noGrp="1"/>
          </p:cNvSpPr>
          <p:nvPr>
            <p:ph type="title"/>
          </p:nvPr>
        </p:nvSpPr>
        <p:spPr>
          <a:xfrm>
            <a:off x="1075767" y="1188637"/>
            <a:ext cx="2988234" cy="4480726"/>
          </a:xfrm>
        </p:spPr>
        <p:txBody>
          <a:bodyPr vert="horz" lIns="91440" tIns="45720" rIns="91440" bIns="45720" rtlCol="0" anchor="ctr">
            <a:normAutofit/>
          </a:bodyPr>
          <a:lstStyle/>
          <a:p>
            <a:pPr algn="r"/>
            <a:r>
              <a:rPr lang="en-US" sz="3600" b="1" kern="1200" dirty="0">
                <a:solidFill>
                  <a:schemeClr val="tx1"/>
                </a:solidFill>
                <a:latin typeface="+mj-lt"/>
                <a:ea typeface="+mj-ea"/>
                <a:cs typeface="+mj-cs"/>
              </a:rPr>
              <a:t>Le principe de multiplication</a:t>
            </a:r>
          </a:p>
        </p:txBody>
      </p:sp>
      <p:sp>
        <p:nvSpPr>
          <p:cNvPr id="3" name="Espace réservé du pied de page 2">
            <a:extLst>
              <a:ext uri="{FF2B5EF4-FFF2-40B4-BE49-F238E27FC236}">
                <a16:creationId xmlns:a16="http://schemas.microsoft.com/office/drawing/2014/main" id="{8711FEF6-AF97-4A3A-9DAB-012B669DAFA9}"/>
              </a:ext>
            </a:extLst>
          </p:cNvPr>
          <p:cNvSpPr>
            <a:spLocks noGrp="1"/>
          </p:cNvSpPr>
          <p:nvPr>
            <p:ph type="ftr" sz="quarter" idx="11"/>
          </p:nvPr>
        </p:nvSpPr>
        <p:spPr>
          <a:xfrm rot="5400000">
            <a:off x="-2374833" y="3246436"/>
            <a:ext cx="5607882" cy="365125"/>
          </a:xfrm>
        </p:spPr>
        <p:txBody>
          <a:bodyPr vert="horz" lIns="91440" tIns="45720" rIns="91440" bIns="45720" rtlCol="0" anchor="t">
            <a:normAutofit/>
          </a:bodyPr>
          <a:lstStyle/>
          <a:p>
            <a:pPr algn="l" defTabSz="914400"/>
            <a:endParaRPr lang="en-US" sz="1150" kern="1200">
              <a:solidFill>
                <a:schemeClr val="tx1">
                  <a:lumMod val="85000"/>
                  <a:lumOff val="15000"/>
                </a:schemeClr>
              </a:solidFill>
              <a:latin typeface="+mn-lt"/>
              <a:ea typeface="+mn-ea"/>
              <a:cs typeface="+mn-cs"/>
            </a:endParaRPr>
          </a:p>
        </p:txBody>
      </p:sp>
      <p:cxnSp>
        <p:nvCxnSpPr>
          <p:cNvPr id="31" name="Straight Connector 21">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ED64EE09-8F1B-4BC3-85E1-4CAC876D0641}"/>
                  </a:ext>
                </a:extLst>
              </p:cNvPr>
              <p:cNvSpPr txBox="1"/>
              <p:nvPr/>
            </p:nvSpPr>
            <p:spPr>
              <a:xfrm>
                <a:off x="5255260" y="1648870"/>
                <a:ext cx="4702848" cy="3560260"/>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500" dirty="0"/>
                  <a:t>Soient K </a:t>
                </a:r>
                <a:r>
                  <a:rPr lang="en-US" sz="1500" dirty="0" err="1"/>
                  <a:t>expériences</a:t>
                </a:r>
                <a:r>
                  <a:rPr lang="en-US" sz="1500" dirty="0"/>
                  <a:t> qu’on veuille faire de façons </a:t>
                </a:r>
                <a:r>
                  <a:rPr lang="en-US" sz="1500" dirty="0" err="1"/>
                  <a:t>successives</a:t>
                </a:r>
                <a:r>
                  <a:rPr lang="en-US" sz="1500" dirty="0"/>
                  <a:t>.</a:t>
                </a:r>
              </a:p>
              <a:p>
                <a:pPr indent="-228600" defTabSz="914400">
                  <a:lnSpc>
                    <a:spcPct val="90000"/>
                  </a:lnSpc>
                  <a:spcAft>
                    <a:spcPts val="600"/>
                  </a:spcAft>
                  <a:buFont typeface="Arial" panose="020B0604020202020204" pitchFamily="34" charset="0"/>
                  <a:buChar char="•"/>
                </a:pPr>
                <a:endParaRPr lang="en-US" sz="1500" dirty="0"/>
              </a:p>
              <a:p>
                <a:pPr indent="-228600" defTabSz="914400">
                  <a:lnSpc>
                    <a:spcPct val="90000"/>
                  </a:lnSpc>
                  <a:spcAft>
                    <a:spcPts val="600"/>
                  </a:spcAft>
                  <a:buFont typeface="Arial" panose="020B0604020202020204" pitchFamily="34" charset="0"/>
                  <a:buChar char="•"/>
                </a:pPr>
                <a:r>
                  <a:rPr lang="en-US" sz="1500" dirty="0"/>
                  <a:t>La 1</a:t>
                </a:r>
                <a:r>
                  <a:rPr lang="en-US" sz="1500" baseline="30000" dirty="0"/>
                  <a:t>ère</a:t>
                </a:r>
                <a:r>
                  <a:rPr lang="en-US" sz="1500" dirty="0"/>
                  <a:t> </a:t>
                </a:r>
                <a:r>
                  <a:rPr lang="en-US" sz="1500" dirty="0" err="1"/>
                  <a:t>expérience</a:t>
                </a:r>
                <a:r>
                  <a:rPr lang="en-US" sz="1500" dirty="0"/>
                  <a:t> peut se faire de </a:t>
                </a:r>
                <a14:m>
                  <m:oMath xmlns:m="http://schemas.openxmlformats.org/officeDocument/2006/math">
                    <m:sSub>
                      <m:sSubPr>
                        <m:ctrlPr>
                          <a:rPr lang="en-US" sz="150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1</m:t>
                        </m:r>
                      </m:sub>
                    </m:sSub>
                  </m:oMath>
                </a14:m>
                <a:r>
                  <a:rPr lang="en-US" sz="1500" dirty="0"/>
                  <a:t> façons possibles.</a:t>
                </a:r>
              </a:p>
              <a:p>
                <a:pPr indent="-228600" defTabSz="914400">
                  <a:lnSpc>
                    <a:spcPct val="90000"/>
                  </a:lnSpc>
                  <a:spcAft>
                    <a:spcPts val="600"/>
                  </a:spcAft>
                  <a:buFont typeface="Arial" panose="020B0604020202020204" pitchFamily="34" charset="0"/>
                  <a:buChar char="•"/>
                </a:pPr>
                <a:r>
                  <a:rPr lang="en-US" sz="1500" dirty="0"/>
                  <a:t>La 2</a:t>
                </a:r>
                <a:r>
                  <a:rPr lang="en-US" sz="1500" baseline="30000" dirty="0"/>
                  <a:t>ème</a:t>
                </a:r>
                <a:r>
                  <a:rPr lang="en-US" sz="1500" dirty="0"/>
                  <a:t> </a:t>
                </a:r>
                <a:r>
                  <a:rPr lang="en-US" sz="1500" dirty="0" err="1"/>
                  <a:t>expérience</a:t>
                </a:r>
                <a:r>
                  <a:rPr lang="en-US" sz="1500" dirty="0"/>
                  <a:t> peut se faire de </a:t>
                </a:r>
                <a14:m>
                  <m:oMath xmlns:m="http://schemas.openxmlformats.org/officeDocument/2006/math">
                    <m:sSub>
                      <m:sSubPr>
                        <m:ctrlPr>
                          <a:rPr lang="en-US" sz="150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2</m:t>
                        </m:r>
                      </m:sub>
                    </m:sSub>
                  </m:oMath>
                </a14:m>
                <a:r>
                  <a:rPr lang="en-US" sz="1500" dirty="0"/>
                  <a:t> façons possibles.</a:t>
                </a:r>
              </a:p>
              <a:p>
                <a:pPr indent="-228600" defTabSz="914400">
                  <a:lnSpc>
                    <a:spcPct val="90000"/>
                  </a:lnSpc>
                  <a:spcAft>
                    <a:spcPts val="600"/>
                  </a:spcAft>
                  <a:buFont typeface="Arial" panose="020B0604020202020204" pitchFamily="34" charset="0"/>
                  <a:buChar char="•"/>
                </a:pPr>
                <a:r>
                  <a:rPr lang="en-US" sz="1500" dirty="0"/>
                  <a:t>…………………………</a:t>
                </a:r>
              </a:p>
              <a:p>
                <a:pPr indent="-228600" defTabSz="914400">
                  <a:lnSpc>
                    <a:spcPct val="90000"/>
                  </a:lnSpc>
                  <a:spcAft>
                    <a:spcPts val="600"/>
                  </a:spcAft>
                  <a:buFont typeface="Arial" panose="020B0604020202020204" pitchFamily="34" charset="0"/>
                  <a:buChar char="•"/>
                </a:pPr>
                <a:r>
                  <a:rPr lang="en-US" sz="1500" dirty="0"/>
                  <a:t>La </a:t>
                </a:r>
                <a:r>
                  <a:rPr lang="en-US" sz="1500" dirty="0" err="1"/>
                  <a:t>Kième</a:t>
                </a:r>
                <a:r>
                  <a:rPr lang="en-US" sz="1500" dirty="0"/>
                  <a:t> </a:t>
                </a:r>
                <a:r>
                  <a:rPr lang="en-US" sz="1500" dirty="0" err="1"/>
                  <a:t>expérience</a:t>
                </a:r>
                <a:r>
                  <a:rPr lang="en-US" sz="1500" dirty="0"/>
                  <a:t> peut se faire de </a:t>
                </a:r>
                <a14:m>
                  <m:oMath xmlns:m="http://schemas.openxmlformats.org/officeDocument/2006/math">
                    <m:sSub>
                      <m:sSubPr>
                        <m:ctrlPr>
                          <a:rPr lang="en-US" sz="150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𝐾</m:t>
                        </m:r>
                      </m:sub>
                    </m:sSub>
                  </m:oMath>
                </a14:m>
                <a:r>
                  <a:rPr lang="en-US" sz="1500" dirty="0"/>
                  <a:t> façons possibles.</a:t>
                </a:r>
              </a:p>
              <a:p>
                <a:pPr indent="-228600" defTabSz="914400">
                  <a:lnSpc>
                    <a:spcPct val="90000"/>
                  </a:lnSpc>
                  <a:spcAft>
                    <a:spcPts val="600"/>
                  </a:spcAft>
                  <a:buFont typeface="Arial" panose="020B0604020202020204" pitchFamily="34" charset="0"/>
                  <a:buChar char="•"/>
                </a:pPr>
                <a:endParaRPr lang="en-US" sz="1500" dirty="0"/>
              </a:p>
              <a:p>
                <a:pPr indent="-228600" defTabSz="914400">
                  <a:lnSpc>
                    <a:spcPct val="90000"/>
                  </a:lnSpc>
                  <a:spcAft>
                    <a:spcPts val="600"/>
                  </a:spcAft>
                  <a:buFont typeface="Arial" panose="020B0604020202020204" pitchFamily="34" charset="0"/>
                  <a:buChar char="•"/>
                </a:pPr>
                <a:r>
                  <a:rPr lang="en-US" sz="1500" b="1" dirty="0"/>
                  <a:t>ALORS</a:t>
                </a:r>
                <a:r>
                  <a:rPr lang="en-US" sz="1500" dirty="0"/>
                  <a:t> le nombre de manières possibles de faire </a:t>
                </a:r>
                <a:r>
                  <a:rPr lang="en-US" sz="1500" dirty="0" err="1"/>
                  <a:t>ces</a:t>
                </a:r>
                <a:r>
                  <a:rPr lang="en-US" sz="1500" dirty="0"/>
                  <a:t> K </a:t>
                </a:r>
                <a:r>
                  <a:rPr lang="en-US" sz="1500" dirty="0" err="1"/>
                  <a:t>expériences</a:t>
                </a:r>
                <a:r>
                  <a:rPr lang="en-US" sz="1500" dirty="0"/>
                  <a:t> </a:t>
                </a:r>
                <a:r>
                  <a:rPr lang="en-US" sz="1500" dirty="0" err="1"/>
                  <a:t>successivement</a:t>
                </a:r>
                <a:r>
                  <a:rPr lang="en-US" sz="1500" dirty="0"/>
                  <a:t> est:</a:t>
                </a:r>
              </a:p>
              <a:p>
                <a:pPr indent="-228600" defTabSz="914400">
                  <a:lnSpc>
                    <a:spcPct val="90000"/>
                  </a:lnSpc>
                  <a:spcAft>
                    <a:spcPts val="600"/>
                  </a:spcAft>
                  <a:buFont typeface="Arial" panose="020B0604020202020204" pitchFamily="34" charset="0"/>
                  <a:buChar char="•"/>
                </a:pPr>
                <a14:m>
                  <m:oMath xmlns:m="http://schemas.openxmlformats.org/officeDocument/2006/math">
                    <m:r>
                      <a:rPr lang="en-US" sz="1500" b="0" i="1">
                        <a:latin typeface="Cambria Math" panose="02040503050406030204" pitchFamily="18" charset="0"/>
                      </a:rPr>
                      <m:t>𝑁</m:t>
                    </m:r>
                    <m:d>
                      <m:dPr>
                        <m:ctrlPr>
                          <a:rPr lang="en-US" sz="1500" b="0" i="1">
                            <a:latin typeface="Cambria Math" panose="02040503050406030204" pitchFamily="18" charset="0"/>
                          </a:rPr>
                        </m:ctrlPr>
                      </m:dPr>
                      <m:e>
                        <m:r>
                          <a:rPr lang="en-US" sz="1500" b="0" i="1">
                            <a:latin typeface="Cambria Math" panose="02040503050406030204" pitchFamily="18" charset="0"/>
                          </a:rPr>
                          <m:t>𝑆</m:t>
                        </m:r>
                      </m:e>
                    </m:d>
                    <m:r>
                      <a:rPr lang="en-US" sz="1500" b="0" i="1">
                        <a:latin typeface="Cambria Math" panose="02040503050406030204" pitchFamily="18" charset="0"/>
                      </a:rPr>
                      <m:t>=</m:t>
                    </m:r>
                    <m:sSub>
                      <m:sSubPr>
                        <m:ctrlPr>
                          <a:rPr lang="en-US" sz="1500" b="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1</m:t>
                        </m:r>
                      </m:sub>
                    </m:sSub>
                    <m:r>
                      <a:rPr lang="en-US" sz="1500" b="0" i="1">
                        <a:latin typeface="Cambria Math" panose="02040503050406030204" pitchFamily="18" charset="0"/>
                      </a:rPr>
                      <m:t>∗</m:t>
                    </m:r>
                    <m:sSub>
                      <m:sSubPr>
                        <m:ctrlPr>
                          <a:rPr lang="en-US" sz="1500" b="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2</m:t>
                        </m:r>
                      </m:sub>
                    </m:sSub>
                    <m:r>
                      <a:rPr lang="en-US" sz="1500" b="0" i="1">
                        <a:latin typeface="Cambria Math" panose="02040503050406030204" pitchFamily="18" charset="0"/>
                      </a:rPr>
                      <m:t>∗……∗</m:t>
                    </m:r>
                    <m:sSub>
                      <m:sSubPr>
                        <m:ctrlPr>
                          <a:rPr lang="en-US" sz="1500" b="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𝐾</m:t>
                        </m:r>
                      </m:sub>
                    </m:sSub>
                  </m:oMath>
                </a14:m>
                <a:endParaRPr lang="en-US" sz="1500" dirty="0"/>
              </a:p>
            </p:txBody>
          </p:sp>
        </mc:Choice>
        <mc:Fallback xmlns="">
          <p:sp>
            <p:nvSpPr>
              <p:cNvPr id="11" name="ZoneTexte 10">
                <a:extLst>
                  <a:ext uri="{FF2B5EF4-FFF2-40B4-BE49-F238E27FC236}">
                    <a16:creationId xmlns:a16="http://schemas.microsoft.com/office/drawing/2014/main" id="{ED64EE09-8F1B-4BC3-85E1-4CAC876D0641}"/>
                  </a:ext>
                </a:extLst>
              </p:cNvPr>
              <p:cNvSpPr txBox="1">
                <a:spLocks noRot="1" noChangeAspect="1" noMove="1" noResize="1" noEditPoints="1" noAdjustHandles="1" noChangeArrowheads="1" noChangeShapeType="1" noTextEdit="1"/>
              </p:cNvSpPr>
              <p:nvPr/>
            </p:nvSpPr>
            <p:spPr>
              <a:xfrm>
                <a:off x="5255260" y="1648870"/>
                <a:ext cx="4702848" cy="3560260"/>
              </a:xfrm>
              <a:prstGeom prst="rect">
                <a:avLst/>
              </a:prstGeom>
              <a:blipFill>
                <a:blip r:embed="rId2"/>
                <a:stretch>
                  <a:fillRect l="-518"/>
                </a:stretch>
              </a:blipFill>
            </p:spPr>
            <p:txBody>
              <a:bodyPr/>
              <a:lstStyle/>
              <a:p>
                <a:r>
                  <a:rPr lang="fr-CA">
                    <a:noFill/>
                  </a:rPr>
                  <a:t> </a:t>
                </a:r>
              </a:p>
            </p:txBody>
          </p:sp>
        </mc:Fallback>
      </mc:AlternateContent>
      <p:sp>
        <p:nvSpPr>
          <p:cNvPr id="4" name="Espace réservé du numéro de diapositive 3">
            <a:extLst>
              <a:ext uri="{FF2B5EF4-FFF2-40B4-BE49-F238E27FC236}">
                <a16:creationId xmlns:a16="http://schemas.microsoft.com/office/drawing/2014/main" id="{0CABC839-E074-46D8-9282-0DE6C3652928}"/>
              </a:ext>
            </a:extLst>
          </p:cNvPr>
          <p:cNvSpPr>
            <a:spLocks noGrp="1"/>
          </p:cNvSpPr>
          <p:nvPr>
            <p:ph type="sldNum" sz="quarter" idx="12"/>
          </p:nvPr>
        </p:nvSpPr>
        <p:spPr>
          <a:xfrm>
            <a:off x="9683496" y="4892040"/>
            <a:ext cx="1673352" cy="1005840"/>
          </a:xfrm>
        </p:spPr>
        <p:txBody>
          <a:bodyPr vert="horz" lIns="91440" tIns="45720" rIns="91440" bIns="45720" rtlCol="0" anchor="ctr">
            <a:normAutofit/>
          </a:bodyPr>
          <a:lstStyle/>
          <a:p>
            <a:pPr defTabSz="914400">
              <a:lnSpc>
                <a:spcPct val="90000"/>
              </a:lnSpc>
              <a:spcAft>
                <a:spcPts val="600"/>
              </a:spcAft>
            </a:pPr>
            <a:fld id="{26377AD9-CE17-438C-A638-C64D2D42D7CF}" type="slidenum">
              <a:rPr lang="en-US" sz="6600">
                <a:solidFill>
                  <a:srgbClr val="FFFFFF"/>
                </a:solidFill>
              </a:rPr>
              <a:pPr defTabSz="914400">
                <a:lnSpc>
                  <a:spcPct val="90000"/>
                </a:lnSpc>
                <a:spcAft>
                  <a:spcPts val="600"/>
                </a:spcAft>
              </a:pPr>
              <a:t>9</a:t>
            </a:fld>
            <a:endParaRPr lang="en-US" sz="6600">
              <a:solidFill>
                <a:srgbClr val="FFFFFF"/>
              </a:solidFill>
            </a:endParaRPr>
          </a:p>
        </p:txBody>
      </p:sp>
      <p:sp>
        <p:nvSpPr>
          <p:cNvPr id="8" name="ZoneTexte 7">
            <a:extLst>
              <a:ext uri="{FF2B5EF4-FFF2-40B4-BE49-F238E27FC236}">
                <a16:creationId xmlns:a16="http://schemas.microsoft.com/office/drawing/2014/main" id="{B5737265-8A20-43BE-9933-114378F27AB8}"/>
              </a:ext>
            </a:extLst>
          </p:cNvPr>
          <p:cNvSpPr txBox="1"/>
          <p:nvPr/>
        </p:nvSpPr>
        <p:spPr>
          <a:xfrm>
            <a:off x="5636623" y="2971800"/>
            <a:ext cx="914400" cy="914400"/>
          </a:xfrm>
          <a:prstGeom prst="rect">
            <a:avLst/>
          </a:prstGeom>
          <a:noFill/>
        </p:spPr>
        <p:txBody>
          <a:bodyPr wrap="square" rtlCol="0">
            <a:spAutoFit/>
          </a:bodyPr>
          <a:lstStyle/>
          <a:p>
            <a:endParaRPr lang="fr-CA" dirty="0"/>
          </a:p>
        </p:txBody>
      </p:sp>
    </p:spTree>
    <p:extLst>
      <p:ext uri="{BB962C8B-B14F-4D97-AF65-F5344CB8AC3E}">
        <p14:creationId xmlns:p14="http://schemas.microsoft.com/office/powerpoint/2010/main" val="162529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9">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Shape 15">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8F0A1414-2E9B-45B4-A189-7D9E185755DC}"/>
              </a:ext>
            </a:extLst>
          </p:cNvPr>
          <p:cNvSpPr>
            <a:spLocks noGrp="1"/>
          </p:cNvSpPr>
          <p:nvPr>
            <p:ph type="title"/>
          </p:nvPr>
        </p:nvSpPr>
        <p:spPr>
          <a:xfrm>
            <a:off x="934872" y="982272"/>
            <a:ext cx="3388419" cy="4560970"/>
          </a:xfrm>
        </p:spPr>
        <p:txBody>
          <a:bodyPr vert="horz" lIns="91440" tIns="45720" rIns="91440" bIns="45720" rtlCol="0" anchor="ctr">
            <a:normAutofit/>
          </a:bodyPr>
          <a:lstStyle/>
          <a:p>
            <a:r>
              <a:rPr lang="en-US" sz="2200" kern="1200" dirty="0">
                <a:solidFill>
                  <a:srgbClr val="FFFFFF"/>
                </a:solidFill>
                <a:latin typeface="+mj-lt"/>
                <a:ea typeface="+mj-ea"/>
                <a:cs typeface="+mj-cs"/>
              </a:rPr>
              <a:t>EXEMPLE 1: </a:t>
            </a:r>
            <a:r>
              <a:rPr lang="en-US" sz="2200" kern="1200" dirty="0">
                <a:solidFill>
                  <a:srgbClr val="FFFFFF"/>
                </a:solidFill>
                <a:effectLst/>
                <a:latin typeface="+mj-lt"/>
                <a:ea typeface="+mj-ea"/>
                <a:cs typeface="+mj-cs"/>
              </a:rPr>
              <a:t>Au restaurant, une personne </a:t>
            </a:r>
            <a:r>
              <a:rPr lang="en-US" sz="2200" kern="1200" dirty="0" err="1">
                <a:solidFill>
                  <a:srgbClr val="FFFFFF"/>
                </a:solidFill>
                <a:effectLst/>
                <a:latin typeface="+mj-lt"/>
                <a:ea typeface="+mj-ea"/>
                <a:cs typeface="+mj-cs"/>
              </a:rPr>
              <a:t>doit</a:t>
            </a:r>
            <a:r>
              <a:rPr lang="en-US" sz="2200" kern="1200" dirty="0">
                <a:solidFill>
                  <a:srgbClr val="FFFFFF"/>
                </a:solidFill>
                <a:effectLst/>
                <a:latin typeface="+mj-lt"/>
                <a:ea typeface="+mj-ea"/>
                <a:cs typeface="+mj-cs"/>
              </a:rPr>
              <a:t> choisir une entrée </a:t>
            </a:r>
            <a:r>
              <a:rPr lang="en-US" sz="2200" kern="1200" dirty="0" err="1">
                <a:solidFill>
                  <a:srgbClr val="FFFFFF"/>
                </a:solidFill>
                <a:effectLst/>
                <a:latin typeface="+mj-lt"/>
                <a:ea typeface="+mj-ea"/>
                <a:cs typeface="+mj-cs"/>
              </a:rPr>
              <a:t>parmi</a:t>
            </a:r>
            <a:r>
              <a:rPr lang="en-US" sz="2200" kern="1200" dirty="0">
                <a:solidFill>
                  <a:srgbClr val="FFFFFF"/>
                </a:solidFill>
                <a:effectLst/>
                <a:latin typeface="+mj-lt"/>
                <a:ea typeface="+mj-ea"/>
                <a:cs typeface="+mj-cs"/>
              </a:rPr>
              <a:t> les quatre entrées </a:t>
            </a:r>
            <a:r>
              <a:rPr lang="en-US" sz="2200" kern="1200" dirty="0" err="1">
                <a:solidFill>
                  <a:srgbClr val="FFFFFF"/>
                </a:solidFill>
                <a:effectLst/>
                <a:latin typeface="+mj-lt"/>
                <a:ea typeface="+mj-ea"/>
                <a:cs typeface="+mj-cs"/>
              </a:rPr>
              <a:t>offertes</a:t>
            </a:r>
            <a:r>
              <a:rPr lang="en-US" sz="2200" kern="1200" dirty="0">
                <a:solidFill>
                  <a:srgbClr val="FFFFFF"/>
                </a:solidFill>
                <a:effectLst/>
                <a:latin typeface="+mj-lt"/>
                <a:ea typeface="+mj-ea"/>
                <a:cs typeface="+mj-cs"/>
              </a:rPr>
              <a:t>, un plat </a:t>
            </a:r>
            <a:r>
              <a:rPr lang="en-US" sz="2200" kern="1200" dirty="0" err="1">
                <a:solidFill>
                  <a:srgbClr val="FFFFFF"/>
                </a:solidFill>
                <a:effectLst/>
                <a:latin typeface="+mj-lt"/>
                <a:ea typeface="+mj-ea"/>
                <a:cs typeface="+mj-cs"/>
              </a:rPr>
              <a:t>parmi</a:t>
            </a:r>
            <a:r>
              <a:rPr lang="en-US" sz="2200" kern="1200" dirty="0">
                <a:solidFill>
                  <a:srgbClr val="FFFFFF"/>
                </a:solidFill>
                <a:effectLst/>
                <a:latin typeface="+mj-lt"/>
                <a:ea typeface="+mj-ea"/>
                <a:cs typeface="+mj-cs"/>
              </a:rPr>
              <a:t> les trois plats </a:t>
            </a:r>
            <a:r>
              <a:rPr lang="en-US" sz="2200" kern="1200" dirty="0" err="1">
                <a:solidFill>
                  <a:srgbClr val="FFFFFF"/>
                </a:solidFill>
                <a:effectLst/>
                <a:latin typeface="+mj-lt"/>
                <a:ea typeface="+mj-ea"/>
                <a:cs typeface="+mj-cs"/>
              </a:rPr>
              <a:t>principaux</a:t>
            </a:r>
            <a:r>
              <a:rPr lang="en-US" sz="2200" kern="1200" dirty="0">
                <a:solidFill>
                  <a:srgbClr val="FFFFFF"/>
                </a:solidFill>
                <a:effectLst/>
                <a:latin typeface="+mj-lt"/>
                <a:ea typeface="+mj-ea"/>
                <a:cs typeface="+mj-cs"/>
              </a:rPr>
              <a:t> </a:t>
            </a:r>
            <a:r>
              <a:rPr lang="en-US" sz="2200" kern="1200" dirty="0" err="1">
                <a:solidFill>
                  <a:srgbClr val="FFFFFF"/>
                </a:solidFill>
                <a:effectLst/>
                <a:latin typeface="+mj-lt"/>
                <a:ea typeface="+mj-ea"/>
                <a:cs typeface="+mj-cs"/>
              </a:rPr>
              <a:t>offerts</a:t>
            </a:r>
            <a:r>
              <a:rPr lang="en-US" sz="2200" kern="1200" dirty="0">
                <a:solidFill>
                  <a:srgbClr val="FFFFFF"/>
                </a:solidFill>
                <a:effectLst/>
                <a:latin typeface="+mj-lt"/>
                <a:ea typeface="+mj-ea"/>
                <a:cs typeface="+mj-cs"/>
              </a:rPr>
              <a:t>, un dessert </a:t>
            </a:r>
            <a:r>
              <a:rPr lang="en-US" sz="2200" kern="1200" dirty="0" err="1">
                <a:solidFill>
                  <a:srgbClr val="FFFFFF"/>
                </a:solidFill>
                <a:effectLst/>
                <a:latin typeface="+mj-lt"/>
                <a:ea typeface="+mj-ea"/>
                <a:cs typeface="+mj-cs"/>
              </a:rPr>
              <a:t>parmi</a:t>
            </a:r>
            <a:r>
              <a:rPr lang="en-US" sz="2200" kern="1200" dirty="0">
                <a:solidFill>
                  <a:srgbClr val="FFFFFF"/>
                </a:solidFill>
                <a:effectLst/>
                <a:latin typeface="+mj-lt"/>
                <a:ea typeface="+mj-ea"/>
                <a:cs typeface="+mj-cs"/>
              </a:rPr>
              <a:t> les cinq desserts au menu et une </a:t>
            </a:r>
            <a:r>
              <a:rPr lang="en-US" sz="2200" kern="1200" dirty="0" err="1">
                <a:solidFill>
                  <a:srgbClr val="FFFFFF"/>
                </a:solidFill>
                <a:effectLst/>
                <a:latin typeface="+mj-lt"/>
                <a:ea typeface="+mj-ea"/>
                <a:cs typeface="+mj-cs"/>
              </a:rPr>
              <a:t>boisson</a:t>
            </a:r>
            <a:r>
              <a:rPr lang="en-US" sz="2200" kern="1200" dirty="0">
                <a:solidFill>
                  <a:srgbClr val="FFFFFF"/>
                </a:solidFill>
                <a:effectLst/>
                <a:latin typeface="+mj-lt"/>
                <a:ea typeface="+mj-ea"/>
                <a:cs typeface="+mj-cs"/>
              </a:rPr>
              <a:t> </a:t>
            </a:r>
            <a:r>
              <a:rPr lang="en-US" sz="2200" kern="1200" dirty="0" err="1">
                <a:solidFill>
                  <a:srgbClr val="FFFFFF"/>
                </a:solidFill>
                <a:effectLst/>
                <a:latin typeface="+mj-lt"/>
                <a:ea typeface="+mj-ea"/>
                <a:cs typeface="+mj-cs"/>
              </a:rPr>
              <a:t>parmi</a:t>
            </a:r>
            <a:r>
              <a:rPr lang="en-US" sz="2200" kern="1200" dirty="0">
                <a:solidFill>
                  <a:srgbClr val="FFFFFF"/>
                </a:solidFill>
                <a:effectLst/>
                <a:latin typeface="+mj-lt"/>
                <a:ea typeface="+mj-ea"/>
                <a:cs typeface="+mj-cs"/>
              </a:rPr>
              <a:t> </a:t>
            </a:r>
            <a:r>
              <a:rPr lang="en-US" sz="2200" kern="1200" dirty="0" err="1">
                <a:solidFill>
                  <a:srgbClr val="FFFFFF"/>
                </a:solidFill>
                <a:effectLst/>
                <a:latin typeface="+mj-lt"/>
                <a:ea typeface="+mj-ea"/>
                <a:cs typeface="+mj-cs"/>
              </a:rPr>
              <a:t>huit</a:t>
            </a:r>
            <a:r>
              <a:rPr lang="en-US" sz="2200" kern="1200" dirty="0">
                <a:solidFill>
                  <a:srgbClr val="FFFFFF"/>
                </a:solidFill>
                <a:effectLst/>
                <a:latin typeface="+mj-lt"/>
                <a:ea typeface="+mj-ea"/>
                <a:cs typeface="+mj-cs"/>
              </a:rPr>
              <a:t> </a:t>
            </a:r>
            <a:r>
              <a:rPr lang="en-US" sz="2200" kern="1200" dirty="0" err="1">
                <a:solidFill>
                  <a:srgbClr val="FFFFFF"/>
                </a:solidFill>
                <a:effectLst/>
                <a:latin typeface="+mj-lt"/>
                <a:ea typeface="+mj-ea"/>
                <a:cs typeface="+mj-cs"/>
              </a:rPr>
              <a:t>boissons</a:t>
            </a:r>
            <a:r>
              <a:rPr lang="en-US" sz="2200" kern="1200" dirty="0">
                <a:solidFill>
                  <a:srgbClr val="FFFFFF"/>
                </a:solidFill>
                <a:effectLst/>
                <a:latin typeface="+mj-lt"/>
                <a:ea typeface="+mj-ea"/>
                <a:cs typeface="+mj-cs"/>
              </a:rPr>
              <a:t> </a:t>
            </a:r>
            <a:r>
              <a:rPr lang="en-US" sz="2200" kern="1200" dirty="0" err="1">
                <a:solidFill>
                  <a:srgbClr val="FFFFFF"/>
                </a:solidFill>
                <a:effectLst/>
                <a:latin typeface="+mj-lt"/>
                <a:ea typeface="+mj-ea"/>
                <a:cs typeface="+mj-cs"/>
              </a:rPr>
              <a:t>offertes</a:t>
            </a:r>
            <a:r>
              <a:rPr lang="en-US" sz="2200" kern="1200" dirty="0">
                <a:solidFill>
                  <a:srgbClr val="FFFFFF"/>
                </a:solidFill>
                <a:effectLst/>
                <a:latin typeface="+mj-lt"/>
                <a:ea typeface="+mj-ea"/>
                <a:cs typeface="+mj-cs"/>
              </a:rPr>
              <a:t>. De combien de façons </a:t>
            </a:r>
            <a:r>
              <a:rPr lang="en-US" sz="2200" kern="1200" dirty="0" err="1">
                <a:solidFill>
                  <a:srgbClr val="FFFFFF"/>
                </a:solidFill>
                <a:effectLst/>
                <a:latin typeface="+mj-lt"/>
                <a:ea typeface="+mj-ea"/>
                <a:cs typeface="+mj-cs"/>
              </a:rPr>
              <a:t>peut</a:t>
            </a:r>
            <a:r>
              <a:rPr lang="en-US" sz="2200" kern="1200" dirty="0">
                <a:solidFill>
                  <a:srgbClr val="FFFFFF"/>
                </a:solidFill>
                <a:effectLst/>
                <a:latin typeface="+mj-lt"/>
                <a:ea typeface="+mj-ea"/>
                <a:cs typeface="+mj-cs"/>
              </a:rPr>
              <a:t>-elle composer son repas ?</a:t>
            </a:r>
            <a:br>
              <a:rPr lang="en-US" sz="2200" kern="1200" dirty="0">
                <a:solidFill>
                  <a:srgbClr val="FFFFFF"/>
                </a:solidFill>
                <a:effectLst/>
                <a:latin typeface="+mj-lt"/>
                <a:ea typeface="+mj-ea"/>
                <a:cs typeface="+mj-cs"/>
              </a:rPr>
            </a:br>
            <a:endParaRPr lang="en-US" sz="2200" kern="1200" dirty="0">
              <a:solidFill>
                <a:srgbClr val="FFFFFF"/>
              </a:solidFill>
              <a:latin typeface="+mj-lt"/>
              <a:ea typeface="+mj-ea"/>
              <a:cs typeface="+mj-cs"/>
            </a:endParaRPr>
          </a:p>
        </p:txBody>
      </p:sp>
      <p:sp>
        <p:nvSpPr>
          <p:cNvPr id="18"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2573CFE-7791-4749-A0F8-042AB4E27670}"/>
                  </a:ext>
                </a:extLst>
              </p:cNvPr>
              <p:cNvSpPr txBox="1"/>
              <p:nvPr/>
            </p:nvSpPr>
            <p:spPr>
              <a:xfrm>
                <a:off x="5221862" y="1719618"/>
                <a:ext cx="5948831" cy="4334629"/>
              </a:xfrm>
              <a:prstGeom prst="rect">
                <a:avLst/>
              </a:prstGeom>
            </p:spPr>
            <p:txBody>
              <a:bodyPr vert="horz" lIns="91440" tIns="45720" rIns="91440" bIns="45720" rtlCol="0" anchor="ctr">
                <a:normAutofit/>
              </a:bodyPr>
              <a:lstStyle/>
              <a:p>
                <a:pPr defTabSz="914400">
                  <a:lnSpc>
                    <a:spcPct val="90000"/>
                  </a:lnSpc>
                  <a:spcAft>
                    <a:spcPts val="600"/>
                  </a:spcAft>
                </a:pPr>
                <a:r>
                  <a:rPr lang="en-US" sz="2400" b="1" dirty="0">
                    <a:solidFill>
                      <a:srgbClr val="FEFFFF"/>
                    </a:solidFill>
                  </a:rPr>
                  <a:t>Réponse: </a:t>
                </a:r>
              </a:p>
              <a:p>
                <a:pPr defTabSz="914400">
                  <a:lnSpc>
                    <a:spcPct val="90000"/>
                  </a:lnSpc>
                  <a:spcAft>
                    <a:spcPts val="600"/>
                  </a:spcAft>
                </a:pPr>
                <a:r>
                  <a:rPr lang="en-US" sz="2400" dirty="0">
                    <a:solidFill>
                      <a:srgbClr val="FEFFFF"/>
                    </a:solidFill>
                  </a:rPr>
                  <a:t>Le client a:</a:t>
                </a:r>
              </a:p>
              <a:p>
                <a:pPr marL="285750" indent="-228600" defTabSz="914400">
                  <a:lnSpc>
                    <a:spcPct val="90000"/>
                  </a:lnSpc>
                  <a:spcAft>
                    <a:spcPts val="600"/>
                  </a:spcAft>
                  <a:buFont typeface="Arial" panose="020B0604020202020204" pitchFamily="34" charset="0"/>
                  <a:buChar char="•"/>
                </a:pPr>
                <a:r>
                  <a:rPr lang="en-US" sz="2400" dirty="0">
                    <a:solidFill>
                      <a:srgbClr val="FEFFFF"/>
                    </a:solidFill>
                  </a:rPr>
                  <a:t>4 façons de choisir une entrée.</a:t>
                </a:r>
              </a:p>
              <a:p>
                <a:pPr marL="285750" indent="-228600" defTabSz="914400">
                  <a:lnSpc>
                    <a:spcPct val="90000"/>
                  </a:lnSpc>
                  <a:spcAft>
                    <a:spcPts val="600"/>
                  </a:spcAft>
                  <a:buFont typeface="Arial" panose="020B0604020202020204" pitchFamily="34" charset="0"/>
                  <a:buChar char="•"/>
                </a:pPr>
                <a:r>
                  <a:rPr lang="en-US" sz="2400" dirty="0">
                    <a:solidFill>
                      <a:srgbClr val="FEFFFF"/>
                    </a:solidFill>
                  </a:rPr>
                  <a:t>3 façons de choisir le plat principal.</a:t>
                </a:r>
              </a:p>
              <a:p>
                <a:pPr marL="285750" indent="-228600" defTabSz="914400">
                  <a:lnSpc>
                    <a:spcPct val="90000"/>
                  </a:lnSpc>
                  <a:spcAft>
                    <a:spcPts val="600"/>
                  </a:spcAft>
                  <a:buFont typeface="Arial" panose="020B0604020202020204" pitchFamily="34" charset="0"/>
                  <a:buChar char="•"/>
                </a:pPr>
                <a:r>
                  <a:rPr lang="en-US" sz="2400" dirty="0">
                    <a:solidFill>
                      <a:srgbClr val="FEFFFF"/>
                    </a:solidFill>
                  </a:rPr>
                  <a:t>5 façons de choisir son dessert</a:t>
                </a:r>
              </a:p>
              <a:p>
                <a:pPr marL="285750" indent="-228600" defTabSz="914400">
                  <a:lnSpc>
                    <a:spcPct val="90000"/>
                  </a:lnSpc>
                  <a:spcAft>
                    <a:spcPts val="600"/>
                  </a:spcAft>
                  <a:buFont typeface="Arial" panose="020B0604020202020204" pitchFamily="34" charset="0"/>
                  <a:buChar char="•"/>
                </a:pPr>
                <a:r>
                  <a:rPr lang="en-US" sz="2400" dirty="0">
                    <a:solidFill>
                      <a:srgbClr val="FEFFFF"/>
                    </a:solidFill>
                  </a:rPr>
                  <a:t>8 façons de choisir </a:t>
                </a:r>
                <a:r>
                  <a:rPr lang="en-US" sz="2400" dirty="0" err="1">
                    <a:solidFill>
                      <a:srgbClr val="FEFFFF"/>
                    </a:solidFill>
                  </a:rPr>
                  <a:t>sa</a:t>
                </a:r>
                <a:r>
                  <a:rPr lang="en-US" sz="2400" dirty="0">
                    <a:solidFill>
                      <a:srgbClr val="FEFFFF"/>
                    </a:solidFill>
                  </a:rPr>
                  <a:t> </a:t>
                </a:r>
                <a:r>
                  <a:rPr lang="en-US" sz="2400" dirty="0" err="1">
                    <a:solidFill>
                      <a:srgbClr val="FEFFFF"/>
                    </a:solidFill>
                  </a:rPr>
                  <a:t>boisson</a:t>
                </a:r>
                <a:endParaRPr lang="en-US" sz="2400" dirty="0">
                  <a:solidFill>
                    <a:srgbClr val="FEFFFF"/>
                  </a:solidFill>
                </a:endParaRPr>
              </a:p>
              <a:p>
                <a:pPr indent="-228600" defTabSz="914400">
                  <a:lnSpc>
                    <a:spcPct val="90000"/>
                  </a:lnSpc>
                  <a:spcAft>
                    <a:spcPts val="600"/>
                  </a:spcAft>
                  <a:buFont typeface="Arial" panose="020B0604020202020204" pitchFamily="34" charset="0"/>
                  <a:buChar char="•"/>
                </a:pPr>
                <a:endParaRPr lang="en-US" sz="2400" dirty="0">
                  <a:solidFill>
                    <a:srgbClr val="FEFFFF"/>
                  </a:solidFill>
                </a:endParaRPr>
              </a:p>
              <a:p>
                <a:pPr indent="-228600" defTabSz="914400">
                  <a:lnSpc>
                    <a:spcPct val="90000"/>
                  </a:lnSpc>
                  <a:spcAft>
                    <a:spcPts val="600"/>
                  </a:spcAft>
                  <a:buFont typeface="Arial" panose="020B0604020202020204" pitchFamily="34" charset="0"/>
                  <a:buChar char="•"/>
                </a:pPr>
                <a:endParaRPr lang="en-US" sz="2400" dirty="0">
                  <a:solidFill>
                    <a:srgbClr val="FEFFFF"/>
                  </a:solidFill>
                </a:endParaRPr>
              </a:p>
              <a:p>
                <a:pPr indent="-228600" defTabSz="914400">
                  <a:lnSpc>
                    <a:spcPct val="90000"/>
                  </a:lnSpc>
                  <a:spcAft>
                    <a:spcPts val="600"/>
                  </a:spcAft>
                  <a:buFont typeface="Arial" panose="020B0604020202020204" pitchFamily="34" charset="0"/>
                  <a:buChar char="•"/>
                </a:pPr>
                <a:r>
                  <a:rPr lang="en-US" sz="2400" dirty="0">
                    <a:solidFill>
                      <a:srgbClr val="FEFFFF"/>
                    </a:solidFill>
                  </a:rPr>
                  <a:t>Donc le nombre de façons de composer son repas est </a:t>
                </a:r>
                <a14:m>
                  <m:oMath xmlns:m="http://schemas.openxmlformats.org/officeDocument/2006/math">
                    <m:r>
                      <a:rPr lang="en-US" sz="2400" b="0" i="1">
                        <a:solidFill>
                          <a:srgbClr val="FEFFFF"/>
                        </a:solidFill>
                        <a:latin typeface="Cambria Math" panose="02040503050406030204" pitchFamily="18" charset="0"/>
                      </a:rPr>
                      <m:t>𝑁</m:t>
                    </m:r>
                    <m:d>
                      <m:dPr>
                        <m:ctrlPr>
                          <a:rPr lang="en-US" sz="2400" b="0" i="1">
                            <a:solidFill>
                              <a:srgbClr val="FEFFFF"/>
                            </a:solidFill>
                            <a:latin typeface="Cambria Math" panose="02040503050406030204" pitchFamily="18" charset="0"/>
                          </a:rPr>
                        </m:ctrlPr>
                      </m:dPr>
                      <m:e>
                        <m:r>
                          <a:rPr lang="en-US" sz="2400" b="0" i="1">
                            <a:solidFill>
                              <a:srgbClr val="FEFFFF"/>
                            </a:solidFill>
                            <a:latin typeface="Cambria Math" panose="02040503050406030204" pitchFamily="18" charset="0"/>
                          </a:rPr>
                          <m:t>𝑆</m:t>
                        </m:r>
                      </m:e>
                    </m:d>
                    <m:r>
                      <a:rPr lang="en-US" sz="2400" b="0" i="1">
                        <a:solidFill>
                          <a:srgbClr val="FEFFFF"/>
                        </a:solidFill>
                        <a:latin typeface="Cambria Math" panose="02040503050406030204" pitchFamily="18" charset="0"/>
                      </a:rPr>
                      <m:t>=4∗3∗5</m:t>
                    </m:r>
                    <m:r>
                      <a:rPr lang="fr-CA" sz="2400" b="0" i="1" smtClean="0">
                        <a:solidFill>
                          <a:srgbClr val="FEFFFF"/>
                        </a:solidFill>
                        <a:latin typeface="Cambria Math" panose="02040503050406030204" pitchFamily="18" charset="0"/>
                      </a:rPr>
                      <m:t>∗8</m:t>
                    </m:r>
                    <m:r>
                      <a:rPr lang="en-US" sz="2400" b="0" i="1">
                        <a:solidFill>
                          <a:srgbClr val="FEFFFF"/>
                        </a:solidFill>
                        <a:latin typeface="Cambria Math" panose="02040503050406030204" pitchFamily="18" charset="0"/>
                      </a:rPr>
                      <m:t>=</m:t>
                    </m:r>
                    <m:r>
                      <a:rPr lang="fr-CA" sz="2400" b="0" i="1" smtClean="0">
                        <a:solidFill>
                          <a:srgbClr val="FEFFFF"/>
                        </a:solidFill>
                        <a:latin typeface="Cambria Math" panose="02040503050406030204" pitchFamily="18" charset="0"/>
                      </a:rPr>
                      <m:t>48</m:t>
                    </m:r>
                    <m:r>
                      <a:rPr lang="en-US" sz="2400" b="0" i="1">
                        <a:solidFill>
                          <a:srgbClr val="FEFFFF"/>
                        </a:solidFill>
                        <a:latin typeface="Cambria Math" panose="02040503050406030204" pitchFamily="18" charset="0"/>
                      </a:rPr>
                      <m:t>0 </m:t>
                    </m:r>
                    <m:r>
                      <a:rPr lang="en-US" sz="2400" b="0" i="1">
                        <a:solidFill>
                          <a:srgbClr val="FEFFFF"/>
                        </a:solidFill>
                        <a:latin typeface="Cambria Math" panose="02040503050406030204" pitchFamily="18" charset="0"/>
                      </a:rPr>
                      <m:t>𝑝𝑜𝑠𝑠𝑖𝑏𝑖𝑙𝑖𝑡</m:t>
                    </m:r>
                    <m:r>
                      <a:rPr lang="en-US" sz="2400" b="0" i="1">
                        <a:solidFill>
                          <a:srgbClr val="FEFFFF"/>
                        </a:solidFill>
                        <a:latin typeface="Cambria Math" panose="02040503050406030204" pitchFamily="18" charset="0"/>
                      </a:rPr>
                      <m:t>é</m:t>
                    </m:r>
                    <m:r>
                      <a:rPr lang="en-US" sz="2400" b="0" i="1">
                        <a:solidFill>
                          <a:srgbClr val="FEFFFF"/>
                        </a:solidFill>
                        <a:latin typeface="Cambria Math" panose="02040503050406030204" pitchFamily="18" charset="0"/>
                      </a:rPr>
                      <m:t>𝑠</m:t>
                    </m:r>
                    <m:r>
                      <a:rPr lang="en-US" sz="2400" b="0" i="1">
                        <a:solidFill>
                          <a:srgbClr val="FEFFFF"/>
                        </a:solidFill>
                        <a:latin typeface="Cambria Math" panose="02040503050406030204" pitchFamily="18" charset="0"/>
                      </a:rPr>
                      <m:t>.</m:t>
                    </m:r>
                  </m:oMath>
                </a14:m>
                <a:endParaRPr lang="en-US" sz="2400" dirty="0">
                  <a:solidFill>
                    <a:srgbClr val="FEFFFF"/>
                  </a:solidFill>
                </a:endParaRPr>
              </a:p>
            </p:txBody>
          </p:sp>
        </mc:Choice>
        <mc:Fallback xmlns="">
          <p:sp>
            <p:nvSpPr>
              <p:cNvPr id="5" name="ZoneTexte 4">
                <a:extLst>
                  <a:ext uri="{FF2B5EF4-FFF2-40B4-BE49-F238E27FC236}">
                    <a16:creationId xmlns:a16="http://schemas.microsoft.com/office/drawing/2014/main" id="{62573CFE-7791-4749-A0F8-042AB4E27670}"/>
                  </a:ext>
                </a:extLst>
              </p:cNvPr>
              <p:cNvSpPr txBox="1">
                <a:spLocks noRot="1" noChangeAspect="1" noMove="1" noResize="1" noEditPoints="1" noAdjustHandles="1" noChangeArrowheads="1" noChangeShapeType="1" noTextEdit="1"/>
              </p:cNvSpPr>
              <p:nvPr/>
            </p:nvSpPr>
            <p:spPr>
              <a:xfrm>
                <a:off x="5221862" y="1719618"/>
                <a:ext cx="5948831" cy="4334629"/>
              </a:xfrm>
              <a:prstGeom prst="rect">
                <a:avLst/>
              </a:prstGeom>
              <a:blipFill>
                <a:blip r:embed="rId3"/>
                <a:stretch>
                  <a:fillRect l="-1641" t="-1828" r="-615" b="-1828"/>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B1A08553-BE64-4CD4-A97D-AA1A7E62C907}"/>
              </a:ext>
            </a:extLst>
          </p:cNvPr>
          <p:cNvSpPr>
            <a:spLocks noGrp="1"/>
          </p:cNvSpPr>
          <p:nvPr>
            <p:ph type="ftr" sz="quarter" idx="11"/>
          </p:nvPr>
        </p:nvSpPr>
        <p:spPr>
          <a:xfrm>
            <a:off x="795528" y="6382512"/>
            <a:ext cx="6757416" cy="320040"/>
          </a:xfrm>
        </p:spPr>
        <p:txBody>
          <a:bodyPr vert="horz" lIns="91440" tIns="45720" rIns="91440" bIns="45720" rtlCol="0" anchor="ctr">
            <a:normAutofit/>
          </a:bodyPr>
          <a:lstStyle/>
          <a:p>
            <a:pPr algn="l" defTabSz="914400"/>
            <a:endParaRPr lang="en-US" sz="10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25E071F2-162F-4B04-A2E0-FB24E41E475B}"/>
              </a:ext>
            </a:extLst>
          </p:cNvPr>
          <p:cNvSpPr>
            <a:spLocks noGrp="1"/>
          </p:cNvSpPr>
          <p:nvPr>
            <p:ph type="sldNum" sz="quarter" idx="12"/>
          </p:nvPr>
        </p:nvSpPr>
        <p:spPr>
          <a:xfrm>
            <a:off x="10707624" y="6175188"/>
            <a:ext cx="685800" cy="320040"/>
          </a:xfrm>
        </p:spPr>
        <p:txBody>
          <a:bodyPr vert="horz" lIns="91440" tIns="45720" rIns="91440" bIns="45720" rtlCol="0" anchor="ctr">
            <a:normAutofit/>
          </a:bodyPr>
          <a:lstStyle/>
          <a:p>
            <a:pPr defTabSz="914400">
              <a:spcAft>
                <a:spcPts val="600"/>
              </a:spcAft>
            </a:pPr>
            <a:fld id="{26377AD9-CE17-438C-A638-C64D2D42D7CF}" type="slidenum">
              <a:rPr lang="en-US" sz="1000">
                <a:solidFill>
                  <a:srgbClr val="FFFFFF"/>
                </a:solidFill>
              </a:rPr>
              <a:pPr defTabSz="914400">
                <a:spcAft>
                  <a:spcPts val="600"/>
                </a:spcAft>
              </a:pPr>
              <a:t>10</a:t>
            </a:fld>
            <a:endParaRPr lang="en-US" sz="1000">
              <a:solidFill>
                <a:srgbClr val="FFFFFF"/>
              </a:solidFill>
            </a:endParaRPr>
          </a:p>
        </p:txBody>
      </p:sp>
    </p:spTree>
    <p:extLst>
      <p:ext uri="{BB962C8B-B14F-4D97-AF65-F5344CB8AC3E}">
        <p14:creationId xmlns:p14="http://schemas.microsoft.com/office/powerpoint/2010/main" val="1468629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Shape 34">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B2CA6CED-38D2-4A71-9A15-90004F99916E}"/>
              </a:ext>
            </a:extLst>
          </p:cNvPr>
          <p:cNvSpPr>
            <a:spLocks noGrp="1"/>
          </p:cNvSpPr>
          <p:nvPr>
            <p:ph type="title"/>
          </p:nvPr>
        </p:nvSpPr>
        <p:spPr>
          <a:xfrm>
            <a:off x="934872" y="982272"/>
            <a:ext cx="3388419" cy="4560970"/>
          </a:xfrm>
        </p:spPr>
        <p:txBody>
          <a:bodyPr vert="horz" lIns="91440" tIns="45720" rIns="91440" bIns="45720" rtlCol="0" anchor="ctr">
            <a:normAutofit/>
          </a:bodyPr>
          <a:lstStyle/>
          <a:p>
            <a:pPr lvl="0" fontAlgn="auto"/>
            <a:r>
              <a:rPr lang="en-US" sz="1900" kern="1200" dirty="0">
                <a:solidFill>
                  <a:srgbClr val="FFFFFF"/>
                </a:solidFill>
                <a:latin typeface="+mj-lt"/>
                <a:ea typeface="+mj-ea"/>
                <a:cs typeface="+mj-cs"/>
              </a:rPr>
              <a:t>EXEMPLE 2:</a:t>
            </a:r>
            <a:r>
              <a:rPr lang="en-US" sz="1900" kern="1200" dirty="0">
                <a:solidFill>
                  <a:srgbClr val="FFFFFF"/>
                </a:solidFill>
                <a:effectLst/>
                <a:latin typeface="+mj-lt"/>
                <a:ea typeface="+mj-ea"/>
                <a:cs typeface="+mj-cs"/>
              </a:rPr>
              <a:t> En </a:t>
            </a:r>
            <a:r>
              <a:rPr lang="en-US" sz="1900" kern="1200" dirty="0" err="1">
                <a:solidFill>
                  <a:srgbClr val="FFFFFF"/>
                </a:solidFill>
                <a:effectLst/>
                <a:latin typeface="+mj-lt"/>
                <a:ea typeface="+mj-ea"/>
                <a:cs typeface="+mj-cs"/>
              </a:rPr>
              <a:t>Amérique</a:t>
            </a:r>
            <a:r>
              <a:rPr lang="en-US" sz="1900" kern="1200" dirty="0">
                <a:solidFill>
                  <a:srgbClr val="FFFFFF"/>
                </a:solidFill>
                <a:effectLst/>
                <a:latin typeface="+mj-lt"/>
                <a:ea typeface="+mj-ea"/>
                <a:cs typeface="+mj-cs"/>
              </a:rPr>
              <a:t> du Nord, les </a:t>
            </a:r>
            <a:r>
              <a:rPr lang="en-US" sz="1900" kern="1200" dirty="0" err="1">
                <a:solidFill>
                  <a:srgbClr val="FFFFFF"/>
                </a:solidFill>
                <a:effectLst/>
                <a:latin typeface="+mj-lt"/>
                <a:ea typeface="+mj-ea"/>
                <a:cs typeface="+mj-cs"/>
              </a:rPr>
              <a:t>numéros</a:t>
            </a:r>
            <a:r>
              <a:rPr lang="en-US" sz="1900" kern="1200" dirty="0">
                <a:solidFill>
                  <a:srgbClr val="FFFFFF"/>
                </a:solidFill>
                <a:effectLst/>
                <a:latin typeface="+mj-lt"/>
                <a:ea typeface="+mj-ea"/>
                <a:cs typeface="+mj-cs"/>
              </a:rPr>
              <a:t> de </a:t>
            </a:r>
            <a:r>
              <a:rPr lang="en-US" sz="1900" kern="1200" dirty="0" err="1">
                <a:solidFill>
                  <a:srgbClr val="FFFFFF"/>
                </a:solidFill>
                <a:effectLst/>
                <a:latin typeface="+mj-lt"/>
                <a:ea typeface="+mj-ea"/>
                <a:cs typeface="+mj-cs"/>
              </a:rPr>
              <a:t>téléphone</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sont</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formés</a:t>
            </a:r>
            <a:r>
              <a:rPr lang="en-US" sz="1900" kern="1200" dirty="0">
                <a:solidFill>
                  <a:srgbClr val="FFFFFF"/>
                </a:solidFill>
                <a:effectLst/>
                <a:latin typeface="+mj-lt"/>
                <a:ea typeface="+mj-ea"/>
                <a:cs typeface="+mj-cs"/>
              </a:rPr>
              <a:t> de 3 </a:t>
            </a:r>
            <a:r>
              <a:rPr lang="en-US" sz="1900" kern="1200" dirty="0" err="1">
                <a:solidFill>
                  <a:srgbClr val="FFFFFF"/>
                </a:solidFill>
                <a:effectLst/>
                <a:latin typeface="+mj-lt"/>
                <a:ea typeface="+mj-ea"/>
                <a:cs typeface="+mj-cs"/>
              </a:rPr>
              <a:t>chiffres</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dont</a:t>
            </a:r>
            <a:r>
              <a:rPr lang="en-US" sz="1900" kern="1200" dirty="0">
                <a:solidFill>
                  <a:srgbClr val="FFFFFF"/>
                </a:solidFill>
                <a:effectLst/>
                <a:latin typeface="+mj-lt"/>
                <a:ea typeface="+mj-ea"/>
                <a:cs typeface="+mj-cs"/>
              </a:rPr>
              <a:t> le premier ne </a:t>
            </a:r>
            <a:r>
              <a:rPr lang="en-US" sz="1900" kern="1200" dirty="0" err="1">
                <a:solidFill>
                  <a:srgbClr val="FFFFFF"/>
                </a:solidFill>
                <a:effectLst/>
                <a:latin typeface="+mj-lt"/>
                <a:ea typeface="+mj-ea"/>
                <a:cs typeface="+mj-cs"/>
              </a:rPr>
              <a:t>doit</a:t>
            </a:r>
            <a:r>
              <a:rPr lang="en-US" sz="1900" kern="1200" dirty="0">
                <a:solidFill>
                  <a:srgbClr val="FFFFFF"/>
                </a:solidFill>
                <a:effectLst/>
                <a:latin typeface="+mj-lt"/>
                <a:ea typeface="+mj-ea"/>
                <a:cs typeface="+mj-cs"/>
              </a:rPr>
              <a:t> pas </a:t>
            </a:r>
            <a:r>
              <a:rPr lang="en-US" sz="1900" kern="1200" dirty="0" err="1">
                <a:solidFill>
                  <a:srgbClr val="FFFFFF"/>
                </a:solidFill>
                <a:effectLst/>
                <a:latin typeface="+mj-lt"/>
                <a:ea typeface="+mj-ea"/>
                <a:cs typeface="+mj-cs"/>
              </a:rPr>
              <a:t>être</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nul</a:t>
            </a:r>
            <a:r>
              <a:rPr lang="en-US" sz="1900" kern="1200" dirty="0">
                <a:solidFill>
                  <a:srgbClr val="FFFFFF"/>
                </a:solidFill>
                <a:effectLst/>
                <a:latin typeface="+mj-lt"/>
                <a:ea typeface="+mj-ea"/>
                <a:cs typeface="+mj-cs"/>
              </a:rPr>
              <a:t>) qui </a:t>
            </a:r>
            <a:r>
              <a:rPr lang="en-US" sz="1900" kern="1200" dirty="0" err="1">
                <a:solidFill>
                  <a:srgbClr val="FFFFFF"/>
                </a:solidFill>
                <a:effectLst/>
                <a:latin typeface="+mj-lt"/>
                <a:ea typeface="+mj-ea"/>
                <a:cs typeface="+mj-cs"/>
              </a:rPr>
              <a:t>donnent</a:t>
            </a:r>
            <a:r>
              <a:rPr lang="en-US" sz="1900" kern="1200" dirty="0">
                <a:solidFill>
                  <a:srgbClr val="FFFFFF"/>
                </a:solidFill>
                <a:effectLst/>
                <a:latin typeface="+mj-lt"/>
                <a:ea typeface="+mj-ea"/>
                <a:cs typeface="+mj-cs"/>
              </a:rPr>
              <a:t> le code </a:t>
            </a:r>
            <a:r>
              <a:rPr lang="en-US" sz="1900" kern="1200" dirty="0" err="1">
                <a:solidFill>
                  <a:srgbClr val="FFFFFF"/>
                </a:solidFill>
                <a:effectLst/>
                <a:latin typeface="+mj-lt"/>
                <a:ea typeface="+mj-ea"/>
                <a:cs typeface="+mj-cs"/>
              </a:rPr>
              <a:t>régional</a:t>
            </a:r>
            <a:r>
              <a:rPr lang="en-US" sz="1900" kern="1200" dirty="0">
                <a:solidFill>
                  <a:srgbClr val="FFFFFF"/>
                </a:solidFill>
                <a:effectLst/>
                <a:latin typeface="+mj-lt"/>
                <a:ea typeface="+mj-ea"/>
                <a:cs typeface="+mj-cs"/>
              </a:rPr>
              <a:t> et qui </a:t>
            </a:r>
            <a:r>
              <a:rPr lang="en-US" sz="1900" kern="1200" dirty="0" err="1">
                <a:solidFill>
                  <a:srgbClr val="FFFFFF"/>
                </a:solidFill>
                <a:effectLst/>
                <a:latin typeface="+mj-lt"/>
                <a:ea typeface="+mj-ea"/>
                <a:cs typeface="+mj-cs"/>
              </a:rPr>
              <a:t>sont</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suivis</a:t>
            </a:r>
            <a:r>
              <a:rPr lang="en-US" sz="1900" kern="1200" dirty="0">
                <a:solidFill>
                  <a:srgbClr val="FFFFFF"/>
                </a:solidFill>
                <a:effectLst/>
                <a:latin typeface="+mj-lt"/>
                <a:ea typeface="+mj-ea"/>
                <a:cs typeface="+mj-cs"/>
              </a:rPr>
              <a:t> de 7 </a:t>
            </a:r>
            <a:r>
              <a:rPr lang="en-US" sz="1900" kern="1200" dirty="0" err="1">
                <a:solidFill>
                  <a:srgbClr val="FFFFFF"/>
                </a:solidFill>
                <a:effectLst/>
                <a:latin typeface="+mj-lt"/>
                <a:ea typeface="+mj-ea"/>
                <a:cs typeface="+mj-cs"/>
              </a:rPr>
              <a:t>autres</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chiffres</a:t>
            </a:r>
            <a:r>
              <a:rPr lang="en-US" sz="1900" kern="1200" dirty="0">
                <a:solidFill>
                  <a:srgbClr val="FFFFFF"/>
                </a:solidFill>
                <a:effectLst/>
                <a:latin typeface="+mj-lt"/>
                <a:ea typeface="+mj-ea"/>
                <a:cs typeface="+mj-cs"/>
              </a:rPr>
              <a:t>.</a:t>
            </a:r>
            <a:br>
              <a:rPr lang="en-US" sz="1900" kern="1200" dirty="0">
                <a:solidFill>
                  <a:srgbClr val="FFFFFF"/>
                </a:solidFill>
                <a:effectLst/>
                <a:latin typeface="+mj-lt"/>
                <a:ea typeface="+mj-ea"/>
                <a:cs typeface="+mj-cs"/>
              </a:rPr>
            </a:br>
            <a:r>
              <a:rPr lang="en-US" sz="1900" kern="1200" dirty="0">
                <a:solidFill>
                  <a:srgbClr val="FFFFFF"/>
                </a:solidFill>
                <a:effectLst/>
                <a:latin typeface="+mj-lt"/>
                <a:ea typeface="+mj-ea"/>
                <a:cs typeface="+mj-cs"/>
              </a:rPr>
              <a:t>(a) Combien de codes </a:t>
            </a:r>
            <a:r>
              <a:rPr lang="en-US" sz="1900" kern="1200" dirty="0" err="1">
                <a:solidFill>
                  <a:srgbClr val="FFFFFF"/>
                </a:solidFill>
                <a:effectLst/>
                <a:latin typeface="+mj-lt"/>
                <a:ea typeface="+mj-ea"/>
                <a:cs typeface="+mj-cs"/>
              </a:rPr>
              <a:t>régionaux</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sont</a:t>
            </a:r>
            <a:r>
              <a:rPr lang="en-US" sz="1900" kern="1200" dirty="0">
                <a:solidFill>
                  <a:srgbClr val="FFFFFF"/>
                </a:solidFill>
                <a:effectLst/>
                <a:latin typeface="+mj-lt"/>
                <a:ea typeface="+mj-ea"/>
                <a:cs typeface="+mj-cs"/>
              </a:rPr>
              <a:t> possibles?</a:t>
            </a:r>
            <a:br>
              <a:rPr lang="en-US" sz="1900" kern="1200" dirty="0">
                <a:solidFill>
                  <a:srgbClr val="FFFFFF"/>
                </a:solidFill>
                <a:effectLst/>
                <a:latin typeface="+mj-lt"/>
                <a:ea typeface="+mj-ea"/>
                <a:cs typeface="+mj-cs"/>
              </a:rPr>
            </a:br>
            <a:r>
              <a:rPr lang="en-US" sz="1900" kern="1200" dirty="0">
                <a:solidFill>
                  <a:srgbClr val="FFFFFF"/>
                </a:solidFill>
                <a:effectLst/>
                <a:latin typeface="+mj-lt"/>
                <a:ea typeface="+mj-ea"/>
                <a:cs typeface="+mj-cs"/>
              </a:rPr>
              <a:t>(b) Pour un code </a:t>
            </a:r>
            <a:r>
              <a:rPr lang="en-US" sz="1900" kern="1200" dirty="0" err="1">
                <a:solidFill>
                  <a:srgbClr val="FFFFFF"/>
                </a:solidFill>
                <a:effectLst/>
                <a:latin typeface="+mj-lt"/>
                <a:ea typeface="+mj-ea"/>
                <a:cs typeface="+mj-cs"/>
              </a:rPr>
              <a:t>régional</a:t>
            </a:r>
            <a:r>
              <a:rPr lang="en-US" sz="1900" kern="1200" dirty="0">
                <a:solidFill>
                  <a:srgbClr val="FFFFFF"/>
                </a:solidFill>
                <a:effectLst/>
                <a:latin typeface="+mj-lt"/>
                <a:ea typeface="+mj-ea"/>
                <a:cs typeface="+mj-cs"/>
              </a:rPr>
              <a:t>, combien de </a:t>
            </a:r>
            <a:r>
              <a:rPr lang="en-US" sz="1900" kern="1200" dirty="0" err="1">
                <a:solidFill>
                  <a:srgbClr val="FFFFFF"/>
                </a:solidFill>
                <a:effectLst/>
                <a:latin typeface="+mj-lt"/>
                <a:ea typeface="+mj-ea"/>
                <a:cs typeface="+mj-cs"/>
              </a:rPr>
              <a:t>numéros</a:t>
            </a:r>
            <a:r>
              <a:rPr lang="en-US" sz="1900" kern="1200" dirty="0">
                <a:solidFill>
                  <a:srgbClr val="FFFFFF"/>
                </a:solidFill>
                <a:effectLst/>
                <a:latin typeface="+mj-lt"/>
                <a:ea typeface="+mj-ea"/>
                <a:cs typeface="+mj-cs"/>
              </a:rPr>
              <a:t> de </a:t>
            </a:r>
            <a:r>
              <a:rPr lang="en-US" sz="1900" kern="1200" dirty="0" err="1">
                <a:solidFill>
                  <a:srgbClr val="FFFFFF"/>
                </a:solidFill>
                <a:effectLst/>
                <a:latin typeface="+mj-lt"/>
                <a:ea typeface="+mj-ea"/>
                <a:cs typeface="+mj-cs"/>
              </a:rPr>
              <a:t>téléphone</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sont</a:t>
            </a:r>
            <a:r>
              <a:rPr lang="en-US" sz="1900" kern="1200" dirty="0">
                <a:solidFill>
                  <a:srgbClr val="FFFFFF"/>
                </a:solidFill>
                <a:effectLst/>
                <a:latin typeface="+mj-lt"/>
                <a:ea typeface="+mj-ea"/>
                <a:cs typeface="+mj-cs"/>
              </a:rPr>
              <a:t> possibles?</a:t>
            </a:r>
            <a:br>
              <a:rPr lang="en-US" sz="1900" kern="1200" dirty="0">
                <a:solidFill>
                  <a:srgbClr val="FFFFFF"/>
                </a:solidFill>
                <a:effectLst/>
                <a:latin typeface="+mj-lt"/>
                <a:ea typeface="+mj-ea"/>
                <a:cs typeface="+mj-cs"/>
              </a:rPr>
            </a:br>
            <a:r>
              <a:rPr lang="en-US" sz="1900" kern="1200" dirty="0">
                <a:solidFill>
                  <a:srgbClr val="FFFFFF"/>
                </a:solidFill>
                <a:effectLst/>
                <a:latin typeface="+mj-lt"/>
                <a:ea typeface="+mj-ea"/>
                <a:cs typeface="+mj-cs"/>
              </a:rPr>
              <a:t>(c) Combien de </a:t>
            </a:r>
            <a:r>
              <a:rPr lang="en-US" sz="1900" kern="1200" dirty="0" err="1">
                <a:solidFill>
                  <a:srgbClr val="FFFFFF"/>
                </a:solidFill>
                <a:effectLst/>
                <a:latin typeface="+mj-lt"/>
                <a:ea typeface="+mj-ea"/>
                <a:cs typeface="+mj-cs"/>
              </a:rPr>
              <a:t>numéros</a:t>
            </a:r>
            <a:r>
              <a:rPr lang="en-US" sz="1900" kern="1200" dirty="0">
                <a:solidFill>
                  <a:srgbClr val="FFFFFF"/>
                </a:solidFill>
                <a:effectLst/>
                <a:latin typeface="+mj-lt"/>
                <a:ea typeface="+mj-ea"/>
                <a:cs typeface="+mj-cs"/>
              </a:rPr>
              <a:t> de </a:t>
            </a:r>
            <a:r>
              <a:rPr lang="en-US" sz="1900" kern="1200" dirty="0" err="1">
                <a:solidFill>
                  <a:srgbClr val="FFFFFF"/>
                </a:solidFill>
                <a:effectLst/>
                <a:latin typeface="+mj-lt"/>
                <a:ea typeface="+mj-ea"/>
                <a:cs typeface="+mj-cs"/>
              </a:rPr>
              <a:t>téléphone</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sont</a:t>
            </a:r>
            <a:r>
              <a:rPr lang="en-US" sz="1900" kern="1200" dirty="0">
                <a:solidFill>
                  <a:srgbClr val="FFFFFF"/>
                </a:solidFill>
                <a:effectLst/>
                <a:latin typeface="+mj-lt"/>
                <a:ea typeface="+mj-ea"/>
                <a:cs typeface="+mj-cs"/>
              </a:rPr>
              <a:t> possibles?</a:t>
            </a:r>
            <a:br>
              <a:rPr lang="en-US" sz="1900" kern="1200" dirty="0">
                <a:solidFill>
                  <a:srgbClr val="FFFFFF"/>
                </a:solidFill>
                <a:effectLst/>
                <a:latin typeface="+mj-lt"/>
                <a:ea typeface="+mj-ea"/>
                <a:cs typeface="+mj-cs"/>
              </a:rPr>
            </a:br>
            <a:br>
              <a:rPr lang="en-US" sz="1900" kern="1200" dirty="0">
                <a:solidFill>
                  <a:srgbClr val="FFFFFF"/>
                </a:solidFill>
                <a:effectLst/>
                <a:latin typeface="+mj-lt"/>
                <a:ea typeface="+mj-ea"/>
                <a:cs typeface="+mj-cs"/>
              </a:rPr>
            </a:br>
            <a:br>
              <a:rPr lang="en-US" sz="1900" kern="1200" dirty="0">
                <a:solidFill>
                  <a:srgbClr val="FFFFFF"/>
                </a:solidFill>
                <a:effectLst/>
                <a:latin typeface="+mj-lt"/>
                <a:ea typeface="+mj-ea"/>
                <a:cs typeface="+mj-cs"/>
              </a:rPr>
            </a:br>
            <a:r>
              <a:rPr lang="en-US" sz="1900" kern="1200" dirty="0">
                <a:solidFill>
                  <a:srgbClr val="FFFFFF"/>
                </a:solidFill>
                <a:effectLst/>
                <a:latin typeface="+mj-lt"/>
                <a:ea typeface="+mj-ea"/>
                <a:cs typeface="+mj-cs"/>
              </a:rPr>
              <a:t> </a:t>
            </a:r>
            <a:endParaRPr lang="en-US" sz="1900" kern="1200" dirty="0">
              <a:solidFill>
                <a:srgbClr val="FFFFFF"/>
              </a:solidFill>
              <a:latin typeface="+mj-lt"/>
              <a:ea typeface="+mj-ea"/>
              <a:cs typeface="+mj-cs"/>
            </a:endParaRPr>
          </a:p>
        </p:txBody>
      </p:sp>
      <p:sp>
        <p:nvSpPr>
          <p:cNvPr id="37"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5CB18A6B-3E51-4F33-8721-E73CBCDE0F55}"/>
                  </a:ext>
                </a:extLst>
              </p:cNvPr>
              <p:cNvSpPr txBox="1"/>
              <p:nvPr/>
            </p:nvSpPr>
            <p:spPr>
              <a:xfrm>
                <a:off x="5221862" y="1719618"/>
                <a:ext cx="5948831" cy="4334629"/>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2400" b="1" dirty="0">
                    <a:solidFill>
                      <a:srgbClr val="FEFFFF"/>
                    </a:solidFill>
                  </a:rPr>
                  <a:t>Réponse: </a:t>
                </a:r>
              </a:p>
              <a:p>
                <a:pPr indent="-228600" defTabSz="914400">
                  <a:lnSpc>
                    <a:spcPct val="90000"/>
                  </a:lnSpc>
                  <a:spcAft>
                    <a:spcPts val="600"/>
                  </a:spcAft>
                  <a:buFont typeface="Arial" panose="020B0604020202020204" pitchFamily="34" charset="0"/>
                  <a:buChar char="•"/>
                </a:pPr>
                <a:endParaRPr lang="en-US" sz="2400" dirty="0">
                  <a:solidFill>
                    <a:srgbClr val="FEFFFF"/>
                  </a:solidFill>
                </a:endParaRPr>
              </a:p>
              <a:p>
                <a:pPr marL="342900" indent="-228600" defTabSz="914400">
                  <a:lnSpc>
                    <a:spcPct val="90000"/>
                  </a:lnSpc>
                  <a:spcAft>
                    <a:spcPts val="600"/>
                  </a:spcAft>
                  <a:buFont typeface="Arial" panose="020B0604020202020204" pitchFamily="34" charset="0"/>
                  <a:buChar char="•"/>
                </a:pPr>
                <a:r>
                  <a:rPr lang="en-US" sz="2400" dirty="0">
                    <a:solidFill>
                      <a:srgbClr val="FEFFFF"/>
                    </a:solidFill>
                  </a:rPr>
                  <a:t>9*10*10=900</a:t>
                </a:r>
              </a:p>
              <a:p>
                <a:pPr marL="342900" indent="-228600" defTabSz="914400">
                  <a:lnSpc>
                    <a:spcPct val="90000"/>
                  </a:lnSpc>
                  <a:spcAft>
                    <a:spcPts val="600"/>
                  </a:spcAft>
                  <a:buFont typeface="Arial" panose="020B0604020202020204" pitchFamily="34" charset="0"/>
                  <a:buChar char="•"/>
                </a:pPr>
                <a14:m>
                  <m:oMath xmlns:m="http://schemas.openxmlformats.org/officeDocument/2006/math">
                    <m:r>
                      <a:rPr lang="en-US" sz="2400" b="0" i="1">
                        <a:solidFill>
                          <a:srgbClr val="FEFFFF"/>
                        </a:solidFill>
                        <a:latin typeface="Cambria Math" panose="02040503050406030204" pitchFamily="18" charset="0"/>
                      </a:rPr>
                      <m:t>10∗10∗….∗10=</m:t>
                    </m:r>
                    <m:sSup>
                      <m:sSupPr>
                        <m:ctrlPr>
                          <a:rPr lang="en-US" sz="2400" b="0" i="1">
                            <a:solidFill>
                              <a:srgbClr val="FEFFFF"/>
                            </a:solidFill>
                            <a:latin typeface="Cambria Math" panose="02040503050406030204" pitchFamily="18" charset="0"/>
                          </a:rPr>
                        </m:ctrlPr>
                      </m:sSupPr>
                      <m:e>
                        <m:r>
                          <a:rPr lang="en-US" sz="2400" b="0" i="1">
                            <a:solidFill>
                              <a:srgbClr val="FEFFFF"/>
                            </a:solidFill>
                            <a:latin typeface="Cambria Math" panose="02040503050406030204" pitchFamily="18" charset="0"/>
                          </a:rPr>
                          <m:t>10</m:t>
                        </m:r>
                      </m:e>
                      <m:sup>
                        <m:r>
                          <a:rPr lang="en-US" sz="2400" b="0" i="1">
                            <a:solidFill>
                              <a:srgbClr val="FEFFFF"/>
                            </a:solidFill>
                            <a:latin typeface="Cambria Math" panose="02040503050406030204" pitchFamily="18" charset="0"/>
                          </a:rPr>
                          <m:t>7</m:t>
                        </m:r>
                      </m:sup>
                    </m:sSup>
                  </m:oMath>
                </a14:m>
                <a:endParaRPr lang="en-US" sz="2400" dirty="0">
                  <a:solidFill>
                    <a:srgbClr val="FEFFFF"/>
                  </a:solidFill>
                </a:endParaRPr>
              </a:p>
              <a:p>
                <a:pPr marL="342900" indent="-228600" defTabSz="914400">
                  <a:lnSpc>
                    <a:spcPct val="90000"/>
                  </a:lnSpc>
                  <a:spcAft>
                    <a:spcPts val="600"/>
                  </a:spcAft>
                  <a:buFont typeface="Arial" panose="020B0604020202020204" pitchFamily="34" charset="0"/>
                  <a:buChar char="•"/>
                </a:pPr>
                <a14:m>
                  <m:oMath xmlns:m="http://schemas.openxmlformats.org/officeDocument/2006/math">
                    <m:r>
                      <a:rPr lang="en-US" sz="2400" b="0" i="1">
                        <a:solidFill>
                          <a:srgbClr val="FEFFFF"/>
                        </a:solidFill>
                        <a:latin typeface="Cambria Math" panose="02040503050406030204" pitchFamily="18" charset="0"/>
                      </a:rPr>
                      <m:t>900∗</m:t>
                    </m:r>
                    <m:sSup>
                      <m:sSupPr>
                        <m:ctrlPr>
                          <a:rPr lang="en-US" sz="2400" b="0" i="1">
                            <a:solidFill>
                              <a:srgbClr val="FEFFFF"/>
                            </a:solidFill>
                            <a:latin typeface="Cambria Math" panose="02040503050406030204" pitchFamily="18" charset="0"/>
                          </a:rPr>
                        </m:ctrlPr>
                      </m:sSupPr>
                      <m:e>
                        <m:r>
                          <a:rPr lang="en-US" sz="2400" b="0" i="1">
                            <a:solidFill>
                              <a:srgbClr val="FEFFFF"/>
                            </a:solidFill>
                            <a:latin typeface="Cambria Math" panose="02040503050406030204" pitchFamily="18" charset="0"/>
                          </a:rPr>
                          <m:t>10</m:t>
                        </m:r>
                      </m:e>
                      <m:sup>
                        <m:r>
                          <a:rPr lang="en-US" sz="2400" b="0" i="1">
                            <a:solidFill>
                              <a:srgbClr val="FEFFFF"/>
                            </a:solidFill>
                            <a:latin typeface="Cambria Math" panose="02040503050406030204" pitchFamily="18" charset="0"/>
                          </a:rPr>
                          <m:t>7</m:t>
                        </m:r>
                      </m:sup>
                    </m:sSup>
                  </m:oMath>
                </a14:m>
                <a:endParaRPr lang="en-US" sz="2400" dirty="0">
                  <a:solidFill>
                    <a:srgbClr val="FEFFFF"/>
                  </a:solidFill>
                </a:endParaRPr>
              </a:p>
            </p:txBody>
          </p:sp>
        </mc:Choice>
        <mc:Fallback xmlns="">
          <p:sp>
            <p:nvSpPr>
              <p:cNvPr id="6" name="ZoneTexte 5">
                <a:extLst>
                  <a:ext uri="{FF2B5EF4-FFF2-40B4-BE49-F238E27FC236}">
                    <a16:creationId xmlns:a16="http://schemas.microsoft.com/office/drawing/2014/main" id="{5CB18A6B-3E51-4F33-8721-E73CBCDE0F55}"/>
                  </a:ext>
                </a:extLst>
              </p:cNvPr>
              <p:cNvSpPr txBox="1">
                <a:spLocks noRot="1" noChangeAspect="1" noMove="1" noResize="1" noEditPoints="1" noAdjustHandles="1" noChangeArrowheads="1" noChangeShapeType="1" noTextEdit="1"/>
              </p:cNvSpPr>
              <p:nvPr/>
            </p:nvSpPr>
            <p:spPr>
              <a:xfrm>
                <a:off x="5221862" y="1719618"/>
                <a:ext cx="5948831" cy="4334629"/>
              </a:xfrm>
              <a:prstGeom prst="rect">
                <a:avLst/>
              </a:prstGeom>
              <a:blipFill>
                <a:blip r:embed="rId2"/>
                <a:stretch>
                  <a:fillRect l="-1436"/>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718963C7-40AA-4F3C-BA50-FE0FC43B0FCF}"/>
              </a:ext>
            </a:extLst>
          </p:cNvPr>
          <p:cNvSpPr>
            <a:spLocks noGrp="1"/>
          </p:cNvSpPr>
          <p:nvPr>
            <p:ph type="ftr" sz="quarter" idx="11"/>
          </p:nvPr>
        </p:nvSpPr>
        <p:spPr>
          <a:xfrm>
            <a:off x="795528" y="6382512"/>
            <a:ext cx="6757416" cy="320040"/>
          </a:xfrm>
        </p:spPr>
        <p:txBody>
          <a:bodyPr vert="horz" lIns="91440" tIns="45720" rIns="91440" bIns="45720" rtlCol="0" anchor="ctr">
            <a:normAutofit/>
          </a:bodyPr>
          <a:lstStyle/>
          <a:p>
            <a:pPr algn="l" defTabSz="914400"/>
            <a:endParaRPr lang="en-US" sz="10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2ED578C7-30AD-4C16-97A5-1996E6AD69C3}"/>
              </a:ext>
            </a:extLst>
          </p:cNvPr>
          <p:cNvSpPr>
            <a:spLocks noGrp="1"/>
          </p:cNvSpPr>
          <p:nvPr>
            <p:ph type="sldNum" sz="quarter" idx="12"/>
          </p:nvPr>
        </p:nvSpPr>
        <p:spPr>
          <a:xfrm>
            <a:off x="10707624" y="6175188"/>
            <a:ext cx="685800" cy="320040"/>
          </a:xfrm>
        </p:spPr>
        <p:txBody>
          <a:bodyPr vert="horz" lIns="91440" tIns="45720" rIns="91440" bIns="45720" rtlCol="0" anchor="ctr">
            <a:normAutofit/>
          </a:bodyPr>
          <a:lstStyle/>
          <a:p>
            <a:pPr defTabSz="914400">
              <a:spcAft>
                <a:spcPts val="600"/>
              </a:spcAft>
            </a:pPr>
            <a:fld id="{26377AD9-CE17-438C-A638-C64D2D42D7CF}" type="slidenum">
              <a:rPr lang="en-US" sz="1000">
                <a:solidFill>
                  <a:srgbClr val="FFFFFF"/>
                </a:solidFill>
              </a:rPr>
              <a:pPr defTabSz="914400">
                <a:spcAft>
                  <a:spcPts val="600"/>
                </a:spcAft>
              </a:pPr>
              <a:t>11</a:t>
            </a:fld>
            <a:endParaRPr lang="en-US" sz="1000">
              <a:solidFill>
                <a:srgbClr val="FFFFFF"/>
              </a:solidFill>
            </a:endParaRPr>
          </a:p>
        </p:txBody>
      </p:sp>
    </p:spTree>
    <p:extLst>
      <p:ext uri="{BB962C8B-B14F-4D97-AF65-F5344CB8AC3E}">
        <p14:creationId xmlns:p14="http://schemas.microsoft.com/office/powerpoint/2010/main" val="638100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9">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61A5224-D843-42BF-AB8E-DC6201538A7C}"/>
              </a:ext>
            </a:extLst>
          </p:cNvPr>
          <p:cNvSpPr>
            <a:spLocks noGrp="1"/>
          </p:cNvSpPr>
          <p:nvPr>
            <p:ph type="title"/>
          </p:nvPr>
        </p:nvSpPr>
        <p:spPr>
          <a:xfrm>
            <a:off x="1075767" y="1188637"/>
            <a:ext cx="2988234" cy="4480726"/>
          </a:xfrm>
        </p:spPr>
        <p:txBody>
          <a:bodyPr vert="horz" lIns="91440" tIns="45720" rIns="91440" bIns="45720" rtlCol="0" anchor="ctr">
            <a:normAutofit/>
          </a:bodyPr>
          <a:lstStyle/>
          <a:p>
            <a:pPr algn="r"/>
            <a:r>
              <a:rPr lang="en-US" sz="5600" b="1" kern="1200" dirty="0">
                <a:solidFill>
                  <a:schemeClr val="tx1"/>
                </a:solidFill>
                <a:latin typeface="+mj-lt"/>
                <a:ea typeface="+mj-ea"/>
                <a:cs typeface="+mj-cs"/>
              </a:rPr>
              <a:t>Le principe d’addition</a:t>
            </a:r>
          </a:p>
        </p:txBody>
      </p:sp>
      <p:sp>
        <p:nvSpPr>
          <p:cNvPr id="3" name="Espace réservé du pied de page 2">
            <a:extLst>
              <a:ext uri="{FF2B5EF4-FFF2-40B4-BE49-F238E27FC236}">
                <a16:creationId xmlns:a16="http://schemas.microsoft.com/office/drawing/2014/main" id="{1BF7DB13-5300-4493-9D14-F41FEC0179B6}"/>
              </a:ext>
            </a:extLst>
          </p:cNvPr>
          <p:cNvSpPr>
            <a:spLocks noGrp="1"/>
          </p:cNvSpPr>
          <p:nvPr>
            <p:ph type="ftr" sz="quarter" idx="11"/>
          </p:nvPr>
        </p:nvSpPr>
        <p:spPr>
          <a:xfrm rot="5400000">
            <a:off x="-2374833" y="3246436"/>
            <a:ext cx="5607882" cy="365125"/>
          </a:xfrm>
        </p:spPr>
        <p:txBody>
          <a:bodyPr vert="horz" lIns="91440" tIns="45720" rIns="91440" bIns="45720" rtlCol="0" anchor="t">
            <a:normAutofit/>
          </a:bodyPr>
          <a:lstStyle/>
          <a:p>
            <a:pPr algn="l" defTabSz="914400"/>
            <a:endParaRPr lang="en-US" sz="1150" kern="1200">
              <a:solidFill>
                <a:schemeClr val="tx1">
                  <a:lumMod val="85000"/>
                  <a:lumOff val="15000"/>
                </a:schemeClr>
              </a:solidFill>
              <a:latin typeface="+mn-lt"/>
              <a:ea typeface="+mn-ea"/>
              <a:cs typeface="+mn-cs"/>
            </a:endParaRPr>
          </a:p>
        </p:txBody>
      </p:sp>
      <p:cxnSp>
        <p:nvCxnSpPr>
          <p:cNvPr id="16" name="Straight Connector 15">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EC0B5C90-D48D-412B-B4D7-FF27216C80D2}"/>
                  </a:ext>
                </a:extLst>
              </p:cNvPr>
              <p:cNvSpPr txBox="1"/>
              <p:nvPr/>
            </p:nvSpPr>
            <p:spPr>
              <a:xfrm>
                <a:off x="5255260" y="1648870"/>
                <a:ext cx="4702848" cy="3560260"/>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500" dirty="0"/>
                  <a:t>Soient K </a:t>
                </a:r>
                <a:r>
                  <a:rPr lang="en-US" sz="1500" dirty="0" err="1"/>
                  <a:t>expériences</a:t>
                </a:r>
                <a:r>
                  <a:rPr lang="en-US" sz="1500" dirty="0"/>
                  <a:t> qu’on veuille faire de façons </a:t>
                </a:r>
                <a:r>
                  <a:rPr lang="en-US" sz="1500" dirty="0" err="1"/>
                  <a:t>successives</a:t>
                </a:r>
                <a:r>
                  <a:rPr lang="en-US" sz="1500" dirty="0"/>
                  <a:t>.</a:t>
                </a:r>
              </a:p>
              <a:p>
                <a:pPr indent="-228600" defTabSz="914400">
                  <a:lnSpc>
                    <a:spcPct val="90000"/>
                  </a:lnSpc>
                  <a:spcAft>
                    <a:spcPts val="600"/>
                  </a:spcAft>
                  <a:buFont typeface="Arial" panose="020B0604020202020204" pitchFamily="34" charset="0"/>
                  <a:buChar char="•"/>
                </a:pPr>
                <a:endParaRPr lang="en-US" sz="1500" dirty="0"/>
              </a:p>
              <a:p>
                <a:pPr indent="-228600" defTabSz="914400">
                  <a:lnSpc>
                    <a:spcPct val="90000"/>
                  </a:lnSpc>
                  <a:spcAft>
                    <a:spcPts val="600"/>
                  </a:spcAft>
                  <a:buFont typeface="Arial" panose="020B0604020202020204" pitchFamily="34" charset="0"/>
                  <a:buChar char="•"/>
                </a:pPr>
                <a:r>
                  <a:rPr lang="en-US" sz="1500" dirty="0"/>
                  <a:t>La 1</a:t>
                </a:r>
                <a:r>
                  <a:rPr lang="en-US" sz="1500" baseline="30000" dirty="0"/>
                  <a:t>ère</a:t>
                </a:r>
                <a:r>
                  <a:rPr lang="en-US" sz="1500" dirty="0"/>
                  <a:t> </a:t>
                </a:r>
                <a:r>
                  <a:rPr lang="en-US" sz="1500" dirty="0" err="1"/>
                  <a:t>expérience</a:t>
                </a:r>
                <a:r>
                  <a:rPr lang="en-US" sz="1500" dirty="0"/>
                  <a:t> peut se faire de </a:t>
                </a:r>
                <a14:m>
                  <m:oMath xmlns:m="http://schemas.openxmlformats.org/officeDocument/2006/math">
                    <m:sSub>
                      <m:sSubPr>
                        <m:ctrlPr>
                          <a:rPr lang="en-US" sz="150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1</m:t>
                        </m:r>
                      </m:sub>
                    </m:sSub>
                  </m:oMath>
                </a14:m>
                <a:r>
                  <a:rPr lang="en-US" sz="1500" dirty="0"/>
                  <a:t> façons possibles.</a:t>
                </a:r>
              </a:p>
              <a:p>
                <a:pPr indent="-228600" defTabSz="914400">
                  <a:lnSpc>
                    <a:spcPct val="90000"/>
                  </a:lnSpc>
                  <a:spcAft>
                    <a:spcPts val="600"/>
                  </a:spcAft>
                  <a:buFont typeface="Arial" panose="020B0604020202020204" pitchFamily="34" charset="0"/>
                  <a:buChar char="•"/>
                </a:pPr>
                <a:r>
                  <a:rPr lang="en-US" sz="1500" dirty="0"/>
                  <a:t>La 2</a:t>
                </a:r>
                <a:r>
                  <a:rPr lang="en-US" sz="1500" baseline="30000" dirty="0"/>
                  <a:t>ème</a:t>
                </a:r>
                <a:r>
                  <a:rPr lang="en-US" sz="1500" dirty="0"/>
                  <a:t> </a:t>
                </a:r>
                <a:r>
                  <a:rPr lang="en-US" sz="1500" dirty="0" err="1"/>
                  <a:t>expérience</a:t>
                </a:r>
                <a:r>
                  <a:rPr lang="en-US" sz="1500" dirty="0"/>
                  <a:t> peut se faire de </a:t>
                </a:r>
                <a14:m>
                  <m:oMath xmlns:m="http://schemas.openxmlformats.org/officeDocument/2006/math">
                    <m:sSub>
                      <m:sSubPr>
                        <m:ctrlPr>
                          <a:rPr lang="en-US" sz="150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2</m:t>
                        </m:r>
                      </m:sub>
                    </m:sSub>
                  </m:oMath>
                </a14:m>
                <a:r>
                  <a:rPr lang="en-US" sz="1500" dirty="0"/>
                  <a:t> façons possibles.</a:t>
                </a:r>
              </a:p>
              <a:p>
                <a:pPr indent="-228600" defTabSz="914400">
                  <a:lnSpc>
                    <a:spcPct val="90000"/>
                  </a:lnSpc>
                  <a:spcAft>
                    <a:spcPts val="600"/>
                  </a:spcAft>
                  <a:buFont typeface="Arial" panose="020B0604020202020204" pitchFamily="34" charset="0"/>
                  <a:buChar char="•"/>
                </a:pPr>
                <a:r>
                  <a:rPr lang="en-US" sz="1500" dirty="0"/>
                  <a:t>…………………………</a:t>
                </a:r>
              </a:p>
              <a:p>
                <a:pPr indent="-228600" defTabSz="914400">
                  <a:lnSpc>
                    <a:spcPct val="90000"/>
                  </a:lnSpc>
                  <a:spcAft>
                    <a:spcPts val="600"/>
                  </a:spcAft>
                  <a:buFont typeface="Arial" panose="020B0604020202020204" pitchFamily="34" charset="0"/>
                  <a:buChar char="•"/>
                </a:pPr>
                <a:r>
                  <a:rPr lang="en-US" sz="1500" dirty="0"/>
                  <a:t>La </a:t>
                </a:r>
                <a:r>
                  <a:rPr lang="en-US" sz="1500" dirty="0" err="1"/>
                  <a:t>Kième</a:t>
                </a:r>
                <a:r>
                  <a:rPr lang="en-US" sz="1500" dirty="0"/>
                  <a:t> </a:t>
                </a:r>
                <a:r>
                  <a:rPr lang="en-US" sz="1500" dirty="0" err="1"/>
                  <a:t>expérience</a:t>
                </a:r>
                <a:r>
                  <a:rPr lang="en-US" sz="1500" dirty="0"/>
                  <a:t> peut se faire de </a:t>
                </a:r>
                <a14:m>
                  <m:oMath xmlns:m="http://schemas.openxmlformats.org/officeDocument/2006/math">
                    <m:sSub>
                      <m:sSubPr>
                        <m:ctrlPr>
                          <a:rPr lang="en-US" sz="150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𝐾</m:t>
                        </m:r>
                      </m:sub>
                    </m:sSub>
                  </m:oMath>
                </a14:m>
                <a:r>
                  <a:rPr lang="en-US" sz="1500" dirty="0"/>
                  <a:t> façons possibles.</a:t>
                </a:r>
              </a:p>
              <a:p>
                <a:pPr indent="-228600" defTabSz="914400">
                  <a:lnSpc>
                    <a:spcPct val="90000"/>
                  </a:lnSpc>
                  <a:spcAft>
                    <a:spcPts val="600"/>
                  </a:spcAft>
                  <a:buFont typeface="Arial" panose="020B0604020202020204" pitchFamily="34" charset="0"/>
                  <a:buChar char="•"/>
                </a:pPr>
                <a:endParaRPr lang="en-US" sz="1500" dirty="0"/>
              </a:p>
              <a:p>
                <a:pPr indent="-228600" defTabSz="914400">
                  <a:lnSpc>
                    <a:spcPct val="90000"/>
                  </a:lnSpc>
                  <a:spcAft>
                    <a:spcPts val="600"/>
                  </a:spcAft>
                  <a:buFont typeface="Arial" panose="020B0604020202020204" pitchFamily="34" charset="0"/>
                  <a:buChar char="•"/>
                </a:pPr>
                <a:r>
                  <a:rPr lang="en-US" sz="1500" dirty="0" err="1">
                    <a:effectLst/>
                  </a:rPr>
                  <a:t>Alors</a:t>
                </a:r>
                <a:r>
                  <a:rPr lang="en-US" sz="1500" dirty="0">
                    <a:effectLst/>
                  </a:rPr>
                  <a:t>, le nombre de façons de </a:t>
                </a:r>
                <a:r>
                  <a:rPr lang="en-US" sz="1500" dirty="0" err="1">
                    <a:effectLst/>
                  </a:rPr>
                  <a:t>réaliser</a:t>
                </a:r>
                <a:r>
                  <a:rPr lang="en-US" sz="1500" dirty="0">
                    <a:effectLst/>
                  </a:rPr>
                  <a:t> </a:t>
                </a:r>
                <a:r>
                  <a:rPr lang="en-US" sz="1500" dirty="0" err="1">
                    <a:effectLst/>
                  </a:rPr>
                  <a:t>l’une</a:t>
                </a:r>
                <a:r>
                  <a:rPr lang="en-US" sz="1500" dirty="0">
                    <a:effectLst/>
                  </a:rPr>
                  <a:t> </a:t>
                </a:r>
                <a:r>
                  <a:rPr lang="en-US" sz="1500" dirty="0" err="1">
                    <a:effectLst/>
                  </a:rPr>
                  <a:t>ou</a:t>
                </a:r>
                <a:r>
                  <a:rPr lang="en-US" sz="1500" dirty="0">
                    <a:effectLst/>
                  </a:rPr>
                  <a:t> </a:t>
                </a:r>
                <a:r>
                  <a:rPr lang="en-US" sz="1500" dirty="0" err="1">
                    <a:effectLst/>
                  </a:rPr>
                  <a:t>l’autre</a:t>
                </a:r>
                <a:r>
                  <a:rPr lang="en-US" sz="1500" dirty="0">
                    <a:effectLst/>
                  </a:rPr>
                  <a:t> de </a:t>
                </a:r>
                <a:r>
                  <a:rPr lang="en-US" sz="1500" dirty="0" err="1">
                    <a:effectLst/>
                  </a:rPr>
                  <a:t>ces</a:t>
                </a:r>
                <a:r>
                  <a:rPr lang="en-US" sz="1500" dirty="0">
                    <a:effectLst/>
                  </a:rPr>
                  <a:t> </a:t>
                </a:r>
                <a:r>
                  <a:rPr lang="en-US" sz="1500" dirty="0" err="1">
                    <a:effectLst/>
                  </a:rPr>
                  <a:t>expériences</a:t>
                </a:r>
                <a:r>
                  <a:rPr lang="en-US" sz="1500" dirty="0">
                    <a:effectLst/>
                  </a:rPr>
                  <a:t> est:</a:t>
                </a:r>
              </a:p>
              <a:p>
                <a:pPr indent="-228600" defTabSz="914400">
                  <a:lnSpc>
                    <a:spcPct val="90000"/>
                  </a:lnSpc>
                  <a:spcAft>
                    <a:spcPts val="600"/>
                  </a:spcAft>
                  <a:buFont typeface="Arial" panose="020B0604020202020204" pitchFamily="34" charset="0"/>
                  <a:buChar char="•"/>
                </a:pPr>
                <a:endParaRPr lang="en-US" sz="1500" dirty="0"/>
              </a:p>
              <a:p>
                <a:pPr indent="-228600" defTabSz="914400">
                  <a:lnSpc>
                    <a:spcPct val="90000"/>
                  </a:lnSpc>
                  <a:spcAft>
                    <a:spcPts val="600"/>
                  </a:spcAft>
                  <a:buFont typeface="Arial" panose="020B0604020202020204" pitchFamily="34" charset="0"/>
                  <a:buChar char="•"/>
                </a:pPr>
                <a14:m>
                  <m:oMath xmlns:m="http://schemas.openxmlformats.org/officeDocument/2006/math">
                    <m:sSub>
                      <m:sSubPr>
                        <m:ctrlPr>
                          <a:rPr lang="en-US" sz="150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1</m:t>
                        </m:r>
                      </m:sub>
                    </m:sSub>
                    <m:r>
                      <a:rPr lang="en-US" sz="1500" b="0" i="1">
                        <a:latin typeface="Cambria Math" panose="02040503050406030204" pitchFamily="18" charset="0"/>
                      </a:rPr>
                      <m:t>+</m:t>
                    </m:r>
                    <m:sSub>
                      <m:sSubPr>
                        <m:ctrlPr>
                          <a:rPr lang="en-US" sz="1500" b="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2</m:t>
                        </m:r>
                      </m:sub>
                    </m:sSub>
                    <m:r>
                      <a:rPr lang="en-US" sz="1500" b="0" i="1">
                        <a:latin typeface="Cambria Math" panose="02040503050406030204" pitchFamily="18" charset="0"/>
                      </a:rPr>
                      <m:t>+…..+</m:t>
                    </m:r>
                    <m:sSub>
                      <m:sSubPr>
                        <m:ctrlPr>
                          <a:rPr lang="en-US" sz="1500" b="0" i="1">
                            <a:latin typeface="Cambria Math" panose="02040503050406030204" pitchFamily="18" charset="0"/>
                          </a:rPr>
                        </m:ctrlPr>
                      </m:sSubPr>
                      <m:e>
                        <m:r>
                          <a:rPr lang="en-US" sz="1500" b="0" i="1">
                            <a:latin typeface="Cambria Math" panose="02040503050406030204" pitchFamily="18" charset="0"/>
                          </a:rPr>
                          <m:t>𝑛</m:t>
                        </m:r>
                      </m:e>
                      <m:sub>
                        <m:r>
                          <a:rPr lang="en-US" sz="1500" b="0" i="1">
                            <a:latin typeface="Cambria Math" panose="02040503050406030204" pitchFamily="18" charset="0"/>
                          </a:rPr>
                          <m:t>𝐾</m:t>
                        </m:r>
                      </m:sub>
                    </m:sSub>
                  </m:oMath>
                </a14:m>
                <a:endParaRPr lang="en-US" sz="1500" dirty="0"/>
              </a:p>
            </p:txBody>
          </p:sp>
        </mc:Choice>
        <mc:Fallback xmlns="">
          <p:sp>
            <p:nvSpPr>
              <p:cNvPr id="5" name="ZoneTexte 4">
                <a:extLst>
                  <a:ext uri="{FF2B5EF4-FFF2-40B4-BE49-F238E27FC236}">
                    <a16:creationId xmlns:a16="http://schemas.microsoft.com/office/drawing/2014/main" id="{EC0B5C90-D48D-412B-B4D7-FF27216C80D2}"/>
                  </a:ext>
                </a:extLst>
              </p:cNvPr>
              <p:cNvSpPr txBox="1">
                <a:spLocks noRot="1" noChangeAspect="1" noMove="1" noResize="1" noEditPoints="1" noAdjustHandles="1" noChangeArrowheads="1" noChangeShapeType="1" noTextEdit="1"/>
              </p:cNvSpPr>
              <p:nvPr/>
            </p:nvSpPr>
            <p:spPr>
              <a:xfrm>
                <a:off x="5255260" y="1648870"/>
                <a:ext cx="4702848" cy="3560260"/>
              </a:xfrm>
              <a:prstGeom prst="rect">
                <a:avLst/>
              </a:prstGeom>
              <a:blipFill>
                <a:blip r:embed="rId2"/>
                <a:stretch>
                  <a:fillRect l="-518"/>
                </a:stretch>
              </a:blipFill>
            </p:spPr>
            <p:txBody>
              <a:bodyPr/>
              <a:lstStyle/>
              <a:p>
                <a:r>
                  <a:rPr lang="fr-CA">
                    <a:noFill/>
                  </a:rPr>
                  <a:t> </a:t>
                </a:r>
              </a:p>
            </p:txBody>
          </p:sp>
        </mc:Fallback>
      </mc:AlternateContent>
      <p:sp>
        <p:nvSpPr>
          <p:cNvPr id="4" name="Espace réservé du numéro de diapositive 3">
            <a:extLst>
              <a:ext uri="{FF2B5EF4-FFF2-40B4-BE49-F238E27FC236}">
                <a16:creationId xmlns:a16="http://schemas.microsoft.com/office/drawing/2014/main" id="{B800752A-2499-44EE-93F0-8EA9CAC035C9}"/>
              </a:ext>
            </a:extLst>
          </p:cNvPr>
          <p:cNvSpPr>
            <a:spLocks noGrp="1"/>
          </p:cNvSpPr>
          <p:nvPr>
            <p:ph type="sldNum" sz="quarter" idx="12"/>
          </p:nvPr>
        </p:nvSpPr>
        <p:spPr>
          <a:xfrm>
            <a:off x="9683496" y="4892040"/>
            <a:ext cx="1673352" cy="1005840"/>
          </a:xfrm>
        </p:spPr>
        <p:txBody>
          <a:bodyPr vert="horz" lIns="91440" tIns="45720" rIns="91440" bIns="45720" rtlCol="0" anchor="ctr">
            <a:normAutofit/>
          </a:bodyPr>
          <a:lstStyle/>
          <a:p>
            <a:pPr defTabSz="914400">
              <a:lnSpc>
                <a:spcPct val="90000"/>
              </a:lnSpc>
              <a:spcAft>
                <a:spcPts val="600"/>
              </a:spcAft>
            </a:pPr>
            <a:fld id="{26377AD9-CE17-438C-A638-C64D2D42D7CF}" type="slidenum">
              <a:rPr lang="en-US" sz="6600">
                <a:solidFill>
                  <a:srgbClr val="FFFFFF"/>
                </a:solidFill>
              </a:rPr>
              <a:pPr defTabSz="914400">
                <a:lnSpc>
                  <a:spcPct val="90000"/>
                </a:lnSpc>
                <a:spcAft>
                  <a:spcPts val="600"/>
                </a:spcAft>
              </a:pPr>
              <a:t>12</a:t>
            </a:fld>
            <a:endParaRPr lang="en-US" sz="6600">
              <a:solidFill>
                <a:srgbClr val="FFFFFF"/>
              </a:solidFill>
            </a:endParaRPr>
          </a:p>
        </p:txBody>
      </p:sp>
    </p:spTree>
    <p:extLst>
      <p:ext uri="{BB962C8B-B14F-4D97-AF65-F5344CB8AC3E}">
        <p14:creationId xmlns:p14="http://schemas.microsoft.com/office/powerpoint/2010/main" val="1064118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Shape 30">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FAF27FE4-0A8F-4143-94DD-DEB327942336}"/>
              </a:ext>
            </a:extLst>
          </p:cNvPr>
          <p:cNvSpPr>
            <a:spLocks noGrp="1"/>
          </p:cNvSpPr>
          <p:nvPr>
            <p:ph type="title"/>
          </p:nvPr>
        </p:nvSpPr>
        <p:spPr>
          <a:xfrm>
            <a:off x="934872" y="982272"/>
            <a:ext cx="3388419" cy="4560970"/>
          </a:xfrm>
        </p:spPr>
        <p:txBody>
          <a:bodyPr vert="horz" lIns="91440" tIns="45720" rIns="91440" bIns="45720" rtlCol="0" anchor="ctr">
            <a:normAutofit/>
          </a:bodyPr>
          <a:lstStyle/>
          <a:p>
            <a:pPr>
              <a:spcAft>
                <a:spcPts val="800"/>
              </a:spcAft>
            </a:pPr>
            <a:r>
              <a:rPr lang="en-US" sz="1900" kern="1200" dirty="0">
                <a:solidFill>
                  <a:srgbClr val="FFFFFF"/>
                </a:solidFill>
                <a:latin typeface="+mj-lt"/>
                <a:ea typeface="+mj-ea"/>
                <a:cs typeface="+mj-cs"/>
              </a:rPr>
              <a:t>EXEMPLE: </a:t>
            </a:r>
            <a:r>
              <a:rPr lang="en-US" sz="1900" kern="1200" dirty="0">
                <a:solidFill>
                  <a:srgbClr val="FFFFFF"/>
                </a:solidFill>
                <a:effectLst/>
                <a:latin typeface="+mj-lt"/>
                <a:ea typeface="+mj-ea"/>
                <a:cs typeface="+mj-cs"/>
              </a:rPr>
              <a:t>Une </a:t>
            </a:r>
            <a:r>
              <a:rPr lang="en-US" sz="1900" kern="1200" dirty="0" err="1">
                <a:solidFill>
                  <a:srgbClr val="FFFFFF"/>
                </a:solidFill>
                <a:effectLst/>
                <a:latin typeface="+mj-lt"/>
                <a:ea typeface="+mj-ea"/>
                <a:cs typeface="+mj-cs"/>
              </a:rPr>
              <a:t>urne</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contient</a:t>
            </a:r>
            <a:r>
              <a:rPr lang="en-US" sz="1900" kern="1200" dirty="0">
                <a:solidFill>
                  <a:srgbClr val="FFFFFF"/>
                </a:solidFill>
                <a:effectLst/>
                <a:latin typeface="+mj-lt"/>
                <a:ea typeface="+mj-ea"/>
                <a:cs typeface="+mj-cs"/>
              </a:rPr>
              <a:t> six </a:t>
            </a:r>
            <a:r>
              <a:rPr lang="en-US" sz="1900" kern="1200" dirty="0" err="1">
                <a:solidFill>
                  <a:srgbClr val="FFFFFF"/>
                </a:solidFill>
                <a:effectLst/>
                <a:latin typeface="+mj-lt"/>
                <a:ea typeface="+mj-ea"/>
                <a:cs typeface="+mj-cs"/>
              </a:rPr>
              <a:t>jetons</a:t>
            </a:r>
            <a:r>
              <a:rPr lang="en-US" sz="1900" kern="1200" dirty="0">
                <a:solidFill>
                  <a:srgbClr val="FFFFFF"/>
                </a:solidFill>
                <a:effectLst/>
                <a:latin typeface="+mj-lt"/>
                <a:ea typeface="+mj-ea"/>
                <a:cs typeface="+mj-cs"/>
              </a:rPr>
              <a:t> noirs et sept </a:t>
            </a:r>
            <a:r>
              <a:rPr lang="en-US" sz="1900" kern="1200" dirty="0" err="1">
                <a:solidFill>
                  <a:srgbClr val="FFFFFF"/>
                </a:solidFill>
                <a:effectLst/>
                <a:latin typeface="+mj-lt"/>
                <a:ea typeface="+mj-ea"/>
                <a:cs typeface="+mj-cs"/>
              </a:rPr>
              <a:t>jetons</a:t>
            </a:r>
            <a:r>
              <a:rPr lang="en-US" sz="1900" kern="1200" dirty="0">
                <a:solidFill>
                  <a:srgbClr val="FFFFFF"/>
                </a:solidFill>
                <a:effectLst/>
                <a:latin typeface="+mj-lt"/>
                <a:ea typeface="+mj-ea"/>
                <a:cs typeface="+mj-cs"/>
              </a:rPr>
              <a:t> rouges. On tire </a:t>
            </a:r>
            <a:r>
              <a:rPr lang="en-US" sz="1900" kern="1200" dirty="0" err="1">
                <a:solidFill>
                  <a:srgbClr val="FFFFFF"/>
                </a:solidFill>
                <a:effectLst/>
                <a:latin typeface="+mj-lt"/>
                <a:ea typeface="+mj-ea"/>
                <a:cs typeface="+mj-cs"/>
              </a:rPr>
              <a:t>successivement</a:t>
            </a:r>
            <a:r>
              <a:rPr lang="en-US" sz="1900" kern="1200" dirty="0">
                <a:solidFill>
                  <a:srgbClr val="FFFFFF"/>
                </a:solidFill>
                <a:effectLst/>
                <a:latin typeface="+mj-lt"/>
                <a:ea typeface="+mj-ea"/>
                <a:cs typeface="+mj-cs"/>
              </a:rPr>
              <a:t> deux </a:t>
            </a:r>
            <a:r>
              <a:rPr lang="en-US" sz="1900" kern="1200" dirty="0" err="1">
                <a:solidFill>
                  <a:srgbClr val="FFFFFF"/>
                </a:solidFill>
                <a:effectLst/>
                <a:latin typeface="+mj-lt"/>
                <a:ea typeface="+mj-ea"/>
                <a:cs typeface="+mj-cs"/>
              </a:rPr>
              <a:t>jetons</a:t>
            </a:r>
            <a:r>
              <a:rPr lang="en-US" sz="1900" kern="1200" dirty="0">
                <a:solidFill>
                  <a:srgbClr val="FFFFFF"/>
                </a:solidFill>
                <a:effectLst/>
                <a:latin typeface="+mj-lt"/>
                <a:ea typeface="+mj-ea"/>
                <a:cs typeface="+mj-cs"/>
              </a:rPr>
              <a:t> au </a:t>
            </a:r>
            <a:r>
              <a:rPr lang="en-US" sz="1900" kern="1200" dirty="0" err="1">
                <a:solidFill>
                  <a:srgbClr val="FFFFFF"/>
                </a:solidFill>
                <a:effectLst/>
                <a:latin typeface="+mj-lt"/>
                <a:ea typeface="+mj-ea"/>
                <a:cs typeface="+mj-cs"/>
              </a:rPr>
              <a:t>hasard</a:t>
            </a:r>
            <a:r>
              <a:rPr lang="en-US" sz="1900" kern="1200" dirty="0">
                <a:solidFill>
                  <a:srgbClr val="FFFFFF"/>
                </a:solidFill>
                <a:effectLst/>
                <a:latin typeface="+mj-lt"/>
                <a:ea typeface="+mj-ea"/>
                <a:cs typeface="+mj-cs"/>
              </a:rPr>
              <a:t> et </a:t>
            </a:r>
            <a:r>
              <a:rPr lang="en-US" sz="1900" b="1" kern="1200" dirty="0">
                <a:solidFill>
                  <a:srgbClr val="FFFFFF"/>
                </a:solidFill>
                <a:effectLst/>
                <a:latin typeface="+mj-lt"/>
                <a:ea typeface="+mj-ea"/>
                <a:cs typeface="+mj-cs"/>
              </a:rPr>
              <a:t>sans remise.</a:t>
            </a:r>
            <a:br>
              <a:rPr lang="en-US" sz="1900" b="1" kern="1200" dirty="0">
                <a:solidFill>
                  <a:srgbClr val="FFFFFF"/>
                </a:solidFill>
                <a:effectLst/>
                <a:latin typeface="+mj-lt"/>
                <a:ea typeface="+mj-ea"/>
                <a:cs typeface="+mj-cs"/>
              </a:rPr>
            </a:br>
            <a:r>
              <a:rPr lang="en-US" sz="1900" kern="1200" dirty="0">
                <a:solidFill>
                  <a:srgbClr val="FFFFFF"/>
                </a:solidFill>
                <a:effectLst/>
                <a:latin typeface="+mj-lt"/>
                <a:ea typeface="+mj-ea"/>
                <a:cs typeface="+mj-cs"/>
              </a:rPr>
              <a:t>a)	Combien de </a:t>
            </a:r>
            <a:r>
              <a:rPr lang="en-US" sz="1900" kern="1200" dirty="0" err="1">
                <a:solidFill>
                  <a:srgbClr val="FFFFFF"/>
                </a:solidFill>
                <a:effectLst/>
                <a:latin typeface="+mj-lt"/>
                <a:ea typeface="+mj-ea"/>
                <a:cs typeface="+mj-cs"/>
              </a:rPr>
              <a:t>résultats</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sont</a:t>
            </a:r>
            <a:r>
              <a:rPr lang="en-US" sz="1900" kern="1200" dirty="0">
                <a:solidFill>
                  <a:srgbClr val="FFFFFF"/>
                </a:solidFill>
                <a:effectLst/>
                <a:latin typeface="+mj-lt"/>
                <a:ea typeface="+mj-ea"/>
                <a:cs typeface="+mj-cs"/>
              </a:rPr>
              <a:t> possibles ?</a:t>
            </a:r>
            <a:br>
              <a:rPr lang="en-US" sz="1900" kern="1200" dirty="0">
                <a:solidFill>
                  <a:srgbClr val="FFFFFF"/>
                </a:solidFill>
                <a:effectLst/>
                <a:latin typeface="+mj-lt"/>
                <a:ea typeface="+mj-ea"/>
                <a:cs typeface="+mj-cs"/>
              </a:rPr>
            </a:br>
            <a:r>
              <a:rPr lang="en-US" sz="1900" kern="1200" dirty="0">
                <a:solidFill>
                  <a:srgbClr val="FFFFFF"/>
                </a:solidFill>
                <a:effectLst/>
                <a:latin typeface="+mj-lt"/>
                <a:ea typeface="+mj-ea"/>
                <a:cs typeface="+mj-cs"/>
              </a:rPr>
              <a:t>b) Combien de fois   les </a:t>
            </a:r>
            <a:r>
              <a:rPr lang="en-US" sz="1900" kern="1200" dirty="0" err="1">
                <a:solidFill>
                  <a:srgbClr val="FFFFFF"/>
                </a:solidFill>
                <a:effectLst/>
                <a:latin typeface="+mj-lt"/>
                <a:ea typeface="+mj-ea"/>
                <a:cs typeface="+mj-cs"/>
              </a:rPr>
              <a:t>jetons</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tirés</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sont</a:t>
            </a:r>
            <a:r>
              <a:rPr lang="en-US" sz="1900" kern="1200" dirty="0">
                <a:solidFill>
                  <a:srgbClr val="FFFFFF"/>
                </a:solidFill>
                <a:effectLst/>
                <a:latin typeface="+mj-lt"/>
                <a:ea typeface="+mj-ea"/>
                <a:cs typeface="+mj-cs"/>
              </a:rPr>
              <a:t> de couleurs différentes ?</a:t>
            </a:r>
            <a:br>
              <a:rPr lang="en-US" sz="1900" kern="1200" dirty="0">
                <a:solidFill>
                  <a:srgbClr val="FFFFFF"/>
                </a:solidFill>
                <a:effectLst/>
                <a:latin typeface="+mj-lt"/>
                <a:ea typeface="+mj-ea"/>
                <a:cs typeface="+mj-cs"/>
              </a:rPr>
            </a:br>
            <a:r>
              <a:rPr lang="en-US" sz="1900" kern="1200" dirty="0">
                <a:solidFill>
                  <a:srgbClr val="FFFFFF"/>
                </a:solidFill>
                <a:effectLst/>
                <a:latin typeface="+mj-lt"/>
                <a:ea typeface="+mj-ea"/>
                <a:cs typeface="+mj-cs"/>
              </a:rPr>
              <a:t>c) Quelle est la </a:t>
            </a:r>
            <a:r>
              <a:rPr lang="en-US" sz="1900" kern="1200" dirty="0" err="1">
                <a:solidFill>
                  <a:srgbClr val="FFFFFF"/>
                </a:solidFill>
                <a:effectLst/>
                <a:latin typeface="+mj-lt"/>
                <a:ea typeface="+mj-ea"/>
                <a:cs typeface="+mj-cs"/>
              </a:rPr>
              <a:t>probabilité</a:t>
            </a:r>
            <a:r>
              <a:rPr lang="en-US" sz="1900" kern="1200" dirty="0">
                <a:solidFill>
                  <a:srgbClr val="FFFFFF"/>
                </a:solidFill>
                <a:effectLst/>
                <a:latin typeface="+mj-lt"/>
                <a:ea typeface="+mj-ea"/>
                <a:cs typeface="+mj-cs"/>
              </a:rPr>
              <a:t> que les </a:t>
            </a:r>
            <a:r>
              <a:rPr lang="en-US" sz="1900" kern="1200" dirty="0" err="1">
                <a:solidFill>
                  <a:srgbClr val="FFFFFF"/>
                </a:solidFill>
                <a:effectLst/>
                <a:latin typeface="+mj-lt"/>
                <a:ea typeface="+mj-ea"/>
                <a:cs typeface="+mj-cs"/>
              </a:rPr>
              <a:t>jetons</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tirés</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soient</a:t>
            </a:r>
            <a:r>
              <a:rPr lang="en-US" sz="1900" kern="1200" dirty="0">
                <a:solidFill>
                  <a:srgbClr val="FFFFFF"/>
                </a:solidFill>
                <a:effectLst/>
                <a:latin typeface="+mj-lt"/>
                <a:ea typeface="+mj-ea"/>
                <a:cs typeface="+mj-cs"/>
              </a:rPr>
              <a:t> de couleurs différentes ?</a:t>
            </a:r>
            <a:br>
              <a:rPr lang="en-US" sz="1900" kern="1200" dirty="0">
                <a:solidFill>
                  <a:srgbClr val="FFFFFF"/>
                </a:solidFill>
                <a:effectLst/>
                <a:latin typeface="+mj-lt"/>
                <a:ea typeface="+mj-ea"/>
                <a:cs typeface="+mj-cs"/>
              </a:rPr>
            </a:br>
            <a:br>
              <a:rPr lang="en-US" sz="1900" kern="1200" dirty="0">
                <a:solidFill>
                  <a:srgbClr val="FFFFFF"/>
                </a:solidFill>
                <a:effectLst/>
                <a:latin typeface="+mj-lt"/>
                <a:ea typeface="+mj-ea"/>
                <a:cs typeface="+mj-cs"/>
              </a:rPr>
            </a:br>
            <a:br>
              <a:rPr lang="en-US" sz="1900" kern="1200" dirty="0">
                <a:solidFill>
                  <a:srgbClr val="FFFFFF"/>
                </a:solidFill>
                <a:effectLst/>
                <a:latin typeface="+mj-lt"/>
                <a:ea typeface="+mj-ea"/>
                <a:cs typeface="+mj-cs"/>
              </a:rPr>
            </a:br>
            <a:endParaRPr lang="en-US" sz="1900" kern="1200" dirty="0">
              <a:solidFill>
                <a:srgbClr val="FFFFFF"/>
              </a:solidFill>
              <a:latin typeface="+mj-lt"/>
              <a:ea typeface="+mj-ea"/>
              <a:cs typeface="+mj-cs"/>
            </a:endParaRPr>
          </a:p>
        </p:txBody>
      </p:sp>
      <p:sp>
        <p:nvSpPr>
          <p:cNvPr id="33"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8FD68859-2F56-4167-A041-34D016923983}"/>
                  </a:ext>
                </a:extLst>
              </p:cNvPr>
              <p:cNvSpPr txBox="1"/>
              <p:nvPr/>
            </p:nvSpPr>
            <p:spPr>
              <a:xfrm>
                <a:off x="5221862" y="1719618"/>
                <a:ext cx="5948831" cy="4334629"/>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2200" b="1" dirty="0">
                    <a:solidFill>
                      <a:srgbClr val="FEFFFF"/>
                    </a:solidFill>
                  </a:rPr>
                  <a:t>Réponse: </a:t>
                </a:r>
              </a:p>
              <a:p>
                <a:pPr indent="-228600" defTabSz="914400">
                  <a:lnSpc>
                    <a:spcPct val="90000"/>
                  </a:lnSpc>
                  <a:spcAft>
                    <a:spcPts val="600"/>
                  </a:spcAft>
                  <a:buFont typeface="Arial" panose="020B0604020202020204" pitchFamily="34" charset="0"/>
                  <a:buChar char="•"/>
                </a:pPr>
                <a:endParaRPr lang="en-US" sz="2200" b="1" dirty="0">
                  <a:solidFill>
                    <a:srgbClr val="FEFFFF"/>
                  </a:solidFill>
                </a:endParaRPr>
              </a:p>
              <a:p>
                <a:pPr marL="342900" indent="-228600" defTabSz="914400">
                  <a:lnSpc>
                    <a:spcPct val="90000"/>
                  </a:lnSpc>
                  <a:spcAft>
                    <a:spcPts val="600"/>
                  </a:spcAft>
                  <a:buFont typeface="Arial" panose="020B0604020202020204" pitchFamily="34" charset="0"/>
                  <a:buChar char="•"/>
                </a:pPr>
                <a:r>
                  <a:rPr lang="en-US" sz="2200" dirty="0">
                    <a:solidFill>
                      <a:srgbClr val="FEFFFF"/>
                    </a:solidFill>
                    <a:effectLst/>
                  </a:rPr>
                  <a:t>Le premier </a:t>
                </a:r>
                <a:r>
                  <a:rPr lang="en-US" sz="2200" dirty="0" err="1">
                    <a:solidFill>
                      <a:srgbClr val="FEFFFF"/>
                    </a:solidFill>
                    <a:effectLst/>
                  </a:rPr>
                  <a:t>jeton</a:t>
                </a:r>
                <a:r>
                  <a:rPr lang="en-US" sz="2200" dirty="0">
                    <a:solidFill>
                      <a:srgbClr val="FEFFFF"/>
                    </a:solidFill>
                    <a:effectLst/>
                  </a:rPr>
                  <a:t> peut </a:t>
                </a:r>
                <a:r>
                  <a:rPr lang="en-US" sz="2200" dirty="0" err="1">
                    <a:solidFill>
                      <a:srgbClr val="FEFFFF"/>
                    </a:solidFill>
                    <a:effectLst/>
                  </a:rPr>
                  <a:t>être</a:t>
                </a:r>
                <a:r>
                  <a:rPr lang="en-US" sz="2200" dirty="0">
                    <a:solidFill>
                      <a:srgbClr val="FEFFFF"/>
                    </a:solidFill>
                    <a:effectLst/>
                  </a:rPr>
                  <a:t> </a:t>
                </a:r>
                <a:r>
                  <a:rPr lang="en-US" sz="2200" dirty="0" err="1">
                    <a:solidFill>
                      <a:srgbClr val="FEFFFF"/>
                    </a:solidFill>
                    <a:effectLst/>
                  </a:rPr>
                  <a:t>tiré</a:t>
                </a:r>
                <a:r>
                  <a:rPr lang="en-US" sz="2200" dirty="0">
                    <a:solidFill>
                      <a:srgbClr val="FEFFFF"/>
                    </a:solidFill>
                    <a:effectLst/>
                  </a:rPr>
                  <a:t> de 13 façons différentes et le </a:t>
                </a:r>
                <a:r>
                  <a:rPr lang="en-US" sz="2200" dirty="0" err="1">
                    <a:solidFill>
                      <a:srgbClr val="FEFFFF"/>
                    </a:solidFill>
                    <a:effectLst/>
                  </a:rPr>
                  <a:t>deuxième</a:t>
                </a:r>
                <a:r>
                  <a:rPr lang="en-US" sz="2200" dirty="0">
                    <a:solidFill>
                      <a:srgbClr val="FEFFFF"/>
                    </a:solidFill>
                    <a:effectLst/>
                  </a:rPr>
                  <a:t>, de 12 façons, </a:t>
                </a:r>
                <a:r>
                  <a:rPr lang="en-US" sz="2200" dirty="0" err="1">
                    <a:solidFill>
                      <a:srgbClr val="FEFFFF"/>
                    </a:solidFill>
                    <a:effectLst/>
                  </a:rPr>
                  <a:t>puisqu’on</a:t>
                </a:r>
                <a:r>
                  <a:rPr lang="en-US" sz="2200" dirty="0">
                    <a:solidFill>
                      <a:srgbClr val="FEFFFF"/>
                    </a:solidFill>
                    <a:effectLst/>
                  </a:rPr>
                  <a:t> ne </a:t>
                </a:r>
                <a:r>
                  <a:rPr lang="en-US" sz="2200" dirty="0" err="1">
                    <a:solidFill>
                      <a:srgbClr val="FEFFFF"/>
                    </a:solidFill>
                    <a:effectLst/>
                  </a:rPr>
                  <a:t>remet</a:t>
                </a:r>
                <a:r>
                  <a:rPr lang="en-US" sz="2200" dirty="0">
                    <a:solidFill>
                      <a:srgbClr val="FEFFFF"/>
                    </a:solidFill>
                    <a:effectLst/>
                  </a:rPr>
                  <a:t> pas le premier </a:t>
                </a:r>
                <a:r>
                  <a:rPr lang="en-US" sz="2200" dirty="0" err="1">
                    <a:solidFill>
                      <a:srgbClr val="FEFFFF"/>
                    </a:solidFill>
                    <a:effectLst/>
                  </a:rPr>
                  <a:t>jeton</a:t>
                </a:r>
                <a:r>
                  <a:rPr lang="en-US" sz="2200" dirty="0">
                    <a:solidFill>
                      <a:srgbClr val="FEFFFF"/>
                    </a:solidFill>
                    <a:effectLst/>
                  </a:rPr>
                  <a:t> </a:t>
                </a:r>
                <a:r>
                  <a:rPr lang="en-US" sz="2200" dirty="0" err="1">
                    <a:solidFill>
                      <a:srgbClr val="FEFFFF"/>
                    </a:solidFill>
                    <a:effectLst/>
                  </a:rPr>
                  <a:t>tiré</a:t>
                </a:r>
                <a:r>
                  <a:rPr lang="en-US" sz="2200" dirty="0">
                    <a:solidFill>
                      <a:srgbClr val="FEFFFF"/>
                    </a:solidFill>
                    <a:effectLst/>
                  </a:rPr>
                  <a:t> dans </a:t>
                </a:r>
                <a:r>
                  <a:rPr lang="en-US" sz="2200" dirty="0" err="1">
                    <a:solidFill>
                      <a:srgbClr val="FEFFFF"/>
                    </a:solidFill>
                    <a:effectLst/>
                  </a:rPr>
                  <a:t>l’urne</a:t>
                </a:r>
                <a:r>
                  <a:rPr lang="en-US" sz="2200" dirty="0">
                    <a:solidFill>
                      <a:srgbClr val="FEFFFF"/>
                    </a:solidFill>
                    <a:effectLst/>
                  </a:rPr>
                  <a:t>, </a:t>
                </a:r>
                <a:r>
                  <a:rPr lang="en-US" sz="2200" dirty="0" err="1">
                    <a:solidFill>
                      <a:srgbClr val="FEFFFF"/>
                    </a:solidFill>
                    <a:effectLst/>
                  </a:rPr>
                  <a:t>ce</a:t>
                </a:r>
                <a:r>
                  <a:rPr lang="en-US" sz="2200" dirty="0">
                    <a:solidFill>
                      <a:srgbClr val="FEFFFF"/>
                    </a:solidFill>
                    <a:effectLst/>
                  </a:rPr>
                  <a:t> qui fait, </a:t>
                </a:r>
                <a:r>
                  <a:rPr lang="en-US" sz="2200" dirty="0" err="1">
                    <a:solidFill>
                      <a:srgbClr val="FEFFFF"/>
                    </a:solidFill>
                    <a:effectLst/>
                  </a:rPr>
                  <a:t>d’après</a:t>
                </a:r>
                <a:r>
                  <a:rPr lang="en-US" sz="2200" dirty="0">
                    <a:solidFill>
                      <a:srgbClr val="FEFFFF"/>
                    </a:solidFill>
                    <a:effectLst/>
                  </a:rPr>
                  <a:t> le principe de multiplication, </a:t>
                </a:r>
                <a:r>
                  <a:rPr lang="en-US" sz="2200" i="1" dirty="0">
                    <a:solidFill>
                      <a:srgbClr val="FEFFFF"/>
                    </a:solidFill>
                    <a:effectLst/>
                  </a:rPr>
                  <a:t>N</a:t>
                </a:r>
                <a:r>
                  <a:rPr lang="en-US" sz="2200" dirty="0">
                    <a:solidFill>
                      <a:srgbClr val="FEFFFF"/>
                    </a:solidFill>
                    <a:effectLst/>
                  </a:rPr>
                  <a:t>(</a:t>
                </a:r>
                <a:r>
                  <a:rPr lang="en-US" sz="2200" i="1" dirty="0">
                    <a:solidFill>
                      <a:srgbClr val="FEFFFF"/>
                    </a:solidFill>
                    <a:effectLst/>
                  </a:rPr>
                  <a:t>S</a:t>
                </a:r>
                <a:r>
                  <a:rPr lang="en-US" sz="2200" dirty="0">
                    <a:solidFill>
                      <a:srgbClr val="FEFFFF"/>
                    </a:solidFill>
                    <a:effectLst/>
                  </a:rPr>
                  <a:t>) = 13 × 12 = 156.</a:t>
                </a:r>
              </a:p>
              <a:p>
                <a:pPr marL="342900" indent="-228600" defTabSz="914400">
                  <a:lnSpc>
                    <a:spcPct val="90000"/>
                  </a:lnSpc>
                  <a:spcAft>
                    <a:spcPts val="600"/>
                  </a:spcAft>
                  <a:buFont typeface="Arial" panose="020B0604020202020204" pitchFamily="34" charset="0"/>
                  <a:buChar char="•"/>
                </a:pPr>
                <a:r>
                  <a:rPr lang="en-US" sz="2200" dirty="0">
                    <a:solidFill>
                      <a:srgbClr val="FEFFFF"/>
                    </a:solidFill>
                    <a:effectLst/>
                  </a:rPr>
                  <a:t>Soit </a:t>
                </a:r>
                <a:r>
                  <a:rPr lang="en-US" sz="2200" i="1" dirty="0">
                    <a:solidFill>
                      <a:srgbClr val="FEFFFF"/>
                    </a:solidFill>
                    <a:effectLst/>
                  </a:rPr>
                  <a:t>E</a:t>
                </a:r>
                <a:r>
                  <a:rPr lang="en-US" sz="2200" dirty="0">
                    <a:solidFill>
                      <a:srgbClr val="FEFFFF"/>
                    </a:solidFill>
                    <a:effectLst/>
                  </a:rPr>
                  <a:t> : Les deux </a:t>
                </a:r>
                <a:r>
                  <a:rPr lang="en-US" sz="2200" dirty="0" err="1">
                    <a:solidFill>
                      <a:srgbClr val="FEFFFF"/>
                    </a:solidFill>
                    <a:effectLst/>
                  </a:rPr>
                  <a:t>jetons</a:t>
                </a:r>
                <a:r>
                  <a:rPr lang="en-US" sz="2200" dirty="0">
                    <a:solidFill>
                      <a:srgbClr val="FEFFFF"/>
                    </a:solidFill>
                    <a:effectLst/>
                  </a:rPr>
                  <a:t> </a:t>
                </a:r>
                <a:r>
                  <a:rPr lang="en-US" sz="2200" dirty="0" err="1">
                    <a:solidFill>
                      <a:srgbClr val="FEFFFF"/>
                    </a:solidFill>
                    <a:effectLst/>
                  </a:rPr>
                  <a:t>sont</a:t>
                </a:r>
                <a:r>
                  <a:rPr lang="en-US" sz="2200" dirty="0">
                    <a:solidFill>
                      <a:srgbClr val="FEFFFF"/>
                    </a:solidFill>
                    <a:effectLst/>
                  </a:rPr>
                  <a:t> de couleurs différentes = {(noir, rouge) ; (rouge, noir)}. Donc, </a:t>
                </a:r>
                <a:r>
                  <a:rPr lang="en-US" sz="2200" i="1" dirty="0">
                    <a:solidFill>
                      <a:srgbClr val="FEFFFF"/>
                    </a:solidFill>
                    <a:effectLst/>
                  </a:rPr>
                  <a:t>N</a:t>
                </a:r>
                <a:r>
                  <a:rPr lang="en-US" sz="2200" dirty="0">
                    <a:solidFill>
                      <a:srgbClr val="FEFFFF"/>
                    </a:solidFill>
                    <a:effectLst/>
                  </a:rPr>
                  <a:t>(</a:t>
                </a:r>
                <a:r>
                  <a:rPr lang="en-US" sz="2200" i="1" dirty="0">
                    <a:solidFill>
                      <a:srgbClr val="FEFFFF"/>
                    </a:solidFill>
                    <a:effectLst/>
                  </a:rPr>
                  <a:t>E</a:t>
                </a:r>
                <a:r>
                  <a:rPr lang="en-US" sz="2200" dirty="0">
                    <a:solidFill>
                      <a:srgbClr val="FEFFFF"/>
                    </a:solidFill>
                    <a:effectLst/>
                  </a:rPr>
                  <a:t>) = 6 × 7 + 7 × 6 = 84 </a:t>
                </a:r>
                <a:endParaRPr lang="en-US" sz="2200" dirty="0">
                  <a:solidFill>
                    <a:srgbClr val="FEFFFF"/>
                  </a:solidFill>
                </a:endParaRPr>
              </a:p>
              <a:p>
                <a:pPr marL="342900" indent="-228600" defTabSz="914400">
                  <a:lnSpc>
                    <a:spcPct val="90000"/>
                  </a:lnSpc>
                  <a:spcAft>
                    <a:spcPts val="600"/>
                  </a:spcAft>
                  <a:buFont typeface="Arial" panose="020B0604020202020204" pitchFamily="34" charset="0"/>
                  <a:buChar char="•"/>
                </a:pPr>
                <a14:m>
                  <m:oMath xmlns:m="http://schemas.openxmlformats.org/officeDocument/2006/math">
                    <m:r>
                      <a:rPr lang="en-US" sz="2200" b="1" i="1">
                        <a:solidFill>
                          <a:srgbClr val="FEFFFF"/>
                        </a:solidFill>
                        <a:latin typeface="Cambria Math" panose="02040503050406030204" pitchFamily="18" charset="0"/>
                      </a:rPr>
                      <m:t>𝑷</m:t>
                    </m:r>
                    <m:d>
                      <m:dPr>
                        <m:ctrlPr>
                          <a:rPr lang="en-US" sz="2200" b="1" i="1">
                            <a:solidFill>
                              <a:srgbClr val="FEFFFF"/>
                            </a:solidFill>
                            <a:latin typeface="Cambria Math" panose="02040503050406030204" pitchFamily="18" charset="0"/>
                          </a:rPr>
                        </m:ctrlPr>
                      </m:dPr>
                      <m:e>
                        <m:r>
                          <a:rPr lang="en-US" sz="2200" b="1" i="1">
                            <a:solidFill>
                              <a:srgbClr val="FEFFFF"/>
                            </a:solidFill>
                            <a:latin typeface="Cambria Math" panose="02040503050406030204" pitchFamily="18" charset="0"/>
                          </a:rPr>
                          <m:t>𝑬</m:t>
                        </m:r>
                      </m:e>
                    </m:d>
                    <m:r>
                      <a:rPr lang="en-US" sz="2200" b="1" i="1">
                        <a:solidFill>
                          <a:srgbClr val="FEFFFF"/>
                        </a:solidFill>
                        <a:latin typeface="Cambria Math" panose="02040503050406030204" pitchFamily="18" charset="0"/>
                      </a:rPr>
                      <m:t>=</m:t>
                    </m:r>
                    <m:f>
                      <m:fPr>
                        <m:ctrlPr>
                          <a:rPr lang="en-US" sz="2200" b="1" i="1">
                            <a:solidFill>
                              <a:srgbClr val="FEFFFF"/>
                            </a:solidFill>
                            <a:latin typeface="Cambria Math" panose="02040503050406030204" pitchFamily="18" charset="0"/>
                          </a:rPr>
                        </m:ctrlPr>
                      </m:fPr>
                      <m:num>
                        <m:r>
                          <a:rPr lang="en-US" sz="2200" b="1" i="1">
                            <a:solidFill>
                              <a:srgbClr val="FEFFFF"/>
                            </a:solidFill>
                            <a:latin typeface="Cambria Math" panose="02040503050406030204" pitchFamily="18" charset="0"/>
                          </a:rPr>
                          <m:t>𝑵</m:t>
                        </m:r>
                        <m:r>
                          <a:rPr lang="en-US" sz="2200" b="1" i="1">
                            <a:solidFill>
                              <a:srgbClr val="FEFFFF"/>
                            </a:solidFill>
                            <a:latin typeface="Cambria Math" panose="02040503050406030204" pitchFamily="18" charset="0"/>
                          </a:rPr>
                          <m:t>(</m:t>
                        </m:r>
                        <m:r>
                          <a:rPr lang="en-US" sz="2200" b="1" i="1">
                            <a:solidFill>
                              <a:srgbClr val="FEFFFF"/>
                            </a:solidFill>
                            <a:latin typeface="Cambria Math" panose="02040503050406030204" pitchFamily="18" charset="0"/>
                          </a:rPr>
                          <m:t>𝑬</m:t>
                        </m:r>
                        <m:r>
                          <a:rPr lang="en-US" sz="2200" b="1" i="1">
                            <a:solidFill>
                              <a:srgbClr val="FEFFFF"/>
                            </a:solidFill>
                            <a:latin typeface="Cambria Math" panose="02040503050406030204" pitchFamily="18" charset="0"/>
                          </a:rPr>
                          <m:t>)</m:t>
                        </m:r>
                      </m:num>
                      <m:den>
                        <m:r>
                          <a:rPr lang="en-US" sz="2200" b="1" i="1">
                            <a:solidFill>
                              <a:srgbClr val="FEFFFF"/>
                            </a:solidFill>
                            <a:latin typeface="Cambria Math" panose="02040503050406030204" pitchFamily="18" charset="0"/>
                          </a:rPr>
                          <m:t>𝑵</m:t>
                        </m:r>
                        <m:r>
                          <a:rPr lang="en-US" sz="2200" b="1" i="1">
                            <a:solidFill>
                              <a:srgbClr val="FEFFFF"/>
                            </a:solidFill>
                            <a:latin typeface="Cambria Math" panose="02040503050406030204" pitchFamily="18" charset="0"/>
                          </a:rPr>
                          <m:t>(</m:t>
                        </m:r>
                        <m:r>
                          <a:rPr lang="en-US" sz="2200" b="1" i="1">
                            <a:solidFill>
                              <a:srgbClr val="FEFFFF"/>
                            </a:solidFill>
                            <a:latin typeface="Cambria Math" panose="02040503050406030204" pitchFamily="18" charset="0"/>
                          </a:rPr>
                          <m:t>𝑺</m:t>
                        </m:r>
                        <m:r>
                          <a:rPr lang="en-US" sz="2200" b="1" i="1">
                            <a:solidFill>
                              <a:srgbClr val="FEFFFF"/>
                            </a:solidFill>
                            <a:latin typeface="Cambria Math" panose="02040503050406030204" pitchFamily="18" charset="0"/>
                          </a:rPr>
                          <m:t>)</m:t>
                        </m:r>
                      </m:den>
                    </m:f>
                    <m:r>
                      <a:rPr lang="en-US" sz="2200" b="1" i="1">
                        <a:solidFill>
                          <a:srgbClr val="FEFFFF"/>
                        </a:solidFill>
                        <a:latin typeface="Cambria Math" panose="02040503050406030204" pitchFamily="18" charset="0"/>
                      </a:rPr>
                      <m:t>=</m:t>
                    </m:r>
                    <m:f>
                      <m:fPr>
                        <m:ctrlPr>
                          <a:rPr lang="en-US" sz="2200" b="1" i="1">
                            <a:solidFill>
                              <a:srgbClr val="FEFFFF"/>
                            </a:solidFill>
                            <a:latin typeface="Cambria Math" panose="02040503050406030204" pitchFamily="18" charset="0"/>
                          </a:rPr>
                        </m:ctrlPr>
                      </m:fPr>
                      <m:num>
                        <m:r>
                          <a:rPr lang="en-US" sz="2200" b="1" i="1">
                            <a:solidFill>
                              <a:srgbClr val="FEFFFF"/>
                            </a:solidFill>
                            <a:latin typeface="Cambria Math" panose="02040503050406030204" pitchFamily="18" charset="0"/>
                          </a:rPr>
                          <m:t>𝟖𝟒</m:t>
                        </m:r>
                      </m:num>
                      <m:den>
                        <m:r>
                          <a:rPr lang="en-US" sz="2200" b="1" i="1">
                            <a:solidFill>
                              <a:srgbClr val="FEFFFF"/>
                            </a:solidFill>
                            <a:latin typeface="Cambria Math" panose="02040503050406030204" pitchFamily="18" charset="0"/>
                          </a:rPr>
                          <m:t>𝟏𝟓𝟔</m:t>
                        </m:r>
                      </m:den>
                    </m:f>
                    <m:r>
                      <a:rPr lang="en-US" sz="2200" b="1" i="1">
                        <a:solidFill>
                          <a:srgbClr val="FEFFFF"/>
                        </a:solidFill>
                        <a:latin typeface="Cambria Math" panose="02040503050406030204" pitchFamily="18" charset="0"/>
                      </a:rPr>
                      <m:t>≈</m:t>
                    </m:r>
                    <m:r>
                      <a:rPr lang="en-US" sz="2200" b="1" i="1">
                        <a:solidFill>
                          <a:srgbClr val="FEFFFF"/>
                        </a:solidFill>
                        <a:latin typeface="Cambria Math" panose="02040503050406030204" pitchFamily="18" charset="0"/>
                      </a:rPr>
                      <m:t>𝟎</m:t>
                    </m:r>
                    <m:r>
                      <a:rPr lang="en-US" sz="2200" b="1" i="1">
                        <a:solidFill>
                          <a:srgbClr val="FEFFFF"/>
                        </a:solidFill>
                        <a:latin typeface="Cambria Math" panose="02040503050406030204" pitchFamily="18" charset="0"/>
                      </a:rPr>
                      <m:t>,</m:t>
                    </m:r>
                    <m:r>
                      <a:rPr lang="en-US" sz="2200" b="1" i="1">
                        <a:solidFill>
                          <a:srgbClr val="FEFFFF"/>
                        </a:solidFill>
                        <a:latin typeface="Cambria Math" panose="02040503050406030204" pitchFamily="18" charset="0"/>
                      </a:rPr>
                      <m:t>𝟓𝟑𝟖𝟓</m:t>
                    </m:r>
                  </m:oMath>
                </a14:m>
                <a:endParaRPr lang="en-US" sz="2200" b="1" dirty="0">
                  <a:solidFill>
                    <a:srgbClr val="FEFFFF"/>
                  </a:solidFill>
                </a:endParaRPr>
              </a:p>
            </p:txBody>
          </p:sp>
        </mc:Choice>
        <mc:Fallback xmlns="">
          <p:sp>
            <p:nvSpPr>
              <p:cNvPr id="5" name="ZoneTexte 4">
                <a:extLst>
                  <a:ext uri="{FF2B5EF4-FFF2-40B4-BE49-F238E27FC236}">
                    <a16:creationId xmlns:a16="http://schemas.microsoft.com/office/drawing/2014/main" id="{8FD68859-2F56-4167-A041-34D016923983}"/>
                  </a:ext>
                </a:extLst>
              </p:cNvPr>
              <p:cNvSpPr txBox="1">
                <a:spLocks noRot="1" noChangeAspect="1" noMove="1" noResize="1" noEditPoints="1" noAdjustHandles="1" noChangeArrowheads="1" noChangeShapeType="1" noTextEdit="1"/>
              </p:cNvSpPr>
              <p:nvPr/>
            </p:nvSpPr>
            <p:spPr>
              <a:xfrm>
                <a:off x="5221862" y="1719618"/>
                <a:ext cx="5948831" cy="4334629"/>
              </a:xfrm>
              <a:prstGeom prst="rect">
                <a:avLst/>
              </a:prstGeom>
              <a:blipFill>
                <a:blip r:embed="rId3"/>
                <a:stretch>
                  <a:fillRect l="-1231"/>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6816C700-31C1-4288-8BA4-BA6CC9A01B36}"/>
              </a:ext>
            </a:extLst>
          </p:cNvPr>
          <p:cNvSpPr>
            <a:spLocks noGrp="1"/>
          </p:cNvSpPr>
          <p:nvPr>
            <p:ph type="ftr" sz="quarter" idx="11"/>
          </p:nvPr>
        </p:nvSpPr>
        <p:spPr>
          <a:xfrm>
            <a:off x="795528" y="6382512"/>
            <a:ext cx="6757416" cy="320040"/>
          </a:xfrm>
        </p:spPr>
        <p:txBody>
          <a:bodyPr vert="horz" lIns="91440" tIns="45720" rIns="91440" bIns="45720" rtlCol="0" anchor="ctr">
            <a:normAutofit/>
          </a:bodyPr>
          <a:lstStyle/>
          <a:p>
            <a:pPr algn="l" defTabSz="914400"/>
            <a:endParaRPr lang="en-US" sz="10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D3596155-EEE2-4814-9F44-E5202DA20112}"/>
              </a:ext>
            </a:extLst>
          </p:cNvPr>
          <p:cNvSpPr>
            <a:spLocks noGrp="1"/>
          </p:cNvSpPr>
          <p:nvPr>
            <p:ph type="sldNum" sz="quarter" idx="12"/>
          </p:nvPr>
        </p:nvSpPr>
        <p:spPr>
          <a:xfrm>
            <a:off x="10707624" y="6175188"/>
            <a:ext cx="685800" cy="320040"/>
          </a:xfrm>
        </p:spPr>
        <p:txBody>
          <a:bodyPr vert="horz" lIns="91440" tIns="45720" rIns="91440" bIns="45720" rtlCol="0" anchor="ctr">
            <a:normAutofit/>
          </a:bodyPr>
          <a:lstStyle/>
          <a:p>
            <a:pPr defTabSz="914400">
              <a:spcAft>
                <a:spcPts val="600"/>
              </a:spcAft>
            </a:pPr>
            <a:fld id="{26377AD9-CE17-438C-A638-C64D2D42D7CF}" type="slidenum">
              <a:rPr lang="en-US" sz="1000">
                <a:solidFill>
                  <a:srgbClr val="FFFFFF"/>
                </a:solidFill>
              </a:rPr>
              <a:pPr defTabSz="914400">
                <a:spcAft>
                  <a:spcPts val="600"/>
                </a:spcAft>
              </a:pPr>
              <a:t>13</a:t>
            </a:fld>
            <a:endParaRPr lang="en-US" sz="1000">
              <a:solidFill>
                <a:srgbClr val="FFFFFF"/>
              </a:solidFill>
            </a:endParaRPr>
          </a:p>
        </p:txBody>
      </p:sp>
    </p:spTree>
    <p:extLst>
      <p:ext uri="{BB962C8B-B14F-4D97-AF65-F5344CB8AC3E}">
        <p14:creationId xmlns:p14="http://schemas.microsoft.com/office/powerpoint/2010/main" val="1648382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B684EBD-60D1-435C-AD3E-F951473074EA}"/>
              </a:ext>
            </a:extLst>
          </p:cNvPr>
          <p:cNvSpPr>
            <a:spLocks noGrp="1"/>
          </p:cNvSpPr>
          <p:nvPr>
            <p:ph type="title"/>
          </p:nvPr>
        </p:nvSpPr>
        <p:spPr>
          <a:xfrm>
            <a:off x="1075767" y="1188637"/>
            <a:ext cx="2988234" cy="4480726"/>
          </a:xfrm>
        </p:spPr>
        <p:txBody>
          <a:bodyPr vert="horz" lIns="91440" tIns="45720" rIns="91440" bIns="45720" rtlCol="0" anchor="ctr">
            <a:normAutofit/>
          </a:bodyPr>
          <a:lstStyle/>
          <a:p>
            <a:pPr algn="r"/>
            <a:r>
              <a:rPr lang="en-US" sz="4100" b="1" kern="1200" dirty="0">
                <a:solidFill>
                  <a:schemeClr val="tx1"/>
                </a:solidFill>
                <a:latin typeface="+mj-lt"/>
                <a:ea typeface="+mj-ea"/>
                <a:cs typeface="+mj-cs"/>
              </a:rPr>
              <a:t>Permutations d’objets distincts</a:t>
            </a:r>
          </a:p>
        </p:txBody>
      </p:sp>
      <p:sp>
        <p:nvSpPr>
          <p:cNvPr id="3" name="Espace réservé du pied de page 2">
            <a:extLst>
              <a:ext uri="{FF2B5EF4-FFF2-40B4-BE49-F238E27FC236}">
                <a16:creationId xmlns:a16="http://schemas.microsoft.com/office/drawing/2014/main" id="{3575C255-5469-488C-AC40-12AF222E8638}"/>
              </a:ext>
            </a:extLst>
          </p:cNvPr>
          <p:cNvSpPr>
            <a:spLocks noGrp="1"/>
          </p:cNvSpPr>
          <p:nvPr>
            <p:ph type="ftr" sz="quarter" idx="11"/>
          </p:nvPr>
        </p:nvSpPr>
        <p:spPr>
          <a:xfrm rot="5400000">
            <a:off x="-2374833" y="3246436"/>
            <a:ext cx="5607882" cy="365125"/>
          </a:xfrm>
        </p:spPr>
        <p:txBody>
          <a:bodyPr vert="horz" lIns="91440" tIns="45720" rIns="91440" bIns="45720" rtlCol="0" anchor="t">
            <a:normAutofit/>
          </a:bodyPr>
          <a:lstStyle/>
          <a:p>
            <a:pPr algn="l" defTabSz="914400"/>
            <a:endParaRPr lang="en-US" sz="1150" kern="1200">
              <a:solidFill>
                <a:schemeClr val="tx1">
                  <a:lumMod val="85000"/>
                  <a:lumOff val="15000"/>
                </a:schemeClr>
              </a:solidFill>
              <a:latin typeface="+mn-lt"/>
              <a:ea typeface="+mn-ea"/>
              <a:cs typeface="+mn-cs"/>
            </a:endParaRPr>
          </a:p>
        </p:txBody>
      </p:sp>
      <p:cxnSp>
        <p:nvCxnSpPr>
          <p:cNvPr id="16" name="Straight Connector 15">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 name="ZoneTexte 4">
            <a:extLst>
              <a:ext uri="{FF2B5EF4-FFF2-40B4-BE49-F238E27FC236}">
                <a16:creationId xmlns:a16="http://schemas.microsoft.com/office/drawing/2014/main" id="{772C0B67-5547-4D85-AFE5-BC8DE8547B98}"/>
              </a:ext>
            </a:extLst>
          </p:cNvPr>
          <p:cNvSpPr txBox="1"/>
          <p:nvPr/>
        </p:nvSpPr>
        <p:spPr>
          <a:xfrm>
            <a:off x="5255260" y="1648870"/>
            <a:ext cx="4702848" cy="3560260"/>
          </a:xfrm>
          <a:prstGeom prst="rect">
            <a:avLst/>
          </a:prstGeom>
        </p:spPr>
        <p:txBody>
          <a:bodyPr vert="horz" lIns="91440" tIns="45720" rIns="91440" bIns="45720" rtlCol="0" anchor="ctr">
            <a:normAutofit/>
          </a:bodyPr>
          <a:lstStyle/>
          <a:p>
            <a:pPr indent="-228600" defTabSz="914400">
              <a:lnSpc>
                <a:spcPct val="90000"/>
              </a:lnSpc>
              <a:spcAft>
                <a:spcPts val="800"/>
              </a:spcAft>
              <a:buFont typeface="Arial" panose="020B0604020202020204" pitchFamily="34" charset="0"/>
              <a:buChar char="•"/>
            </a:pPr>
            <a:r>
              <a:rPr lang="en-US" sz="1700" dirty="0">
                <a:effectLst/>
              </a:rPr>
              <a:t>Soient 3 objets distincts a, b et c. De combien de façons peut-on les aligner ?</a:t>
            </a:r>
          </a:p>
          <a:p>
            <a:pPr indent="-228600" defTabSz="914400">
              <a:lnSpc>
                <a:spcPct val="90000"/>
              </a:lnSpc>
              <a:spcAft>
                <a:spcPts val="800"/>
              </a:spcAft>
              <a:buFont typeface="Arial" panose="020B0604020202020204" pitchFamily="34" charset="0"/>
              <a:buChar char="•"/>
            </a:pPr>
            <a:r>
              <a:rPr lang="en-US" sz="1700" b="1" dirty="0">
                <a:effectLst/>
              </a:rPr>
              <a:t>Réponse :</a:t>
            </a:r>
            <a:r>
              <a:rPr lang="en-US" sz="1700" dirty="0">
                <a:effectLst/>
              </a:rPr>
              <a:t> On peut faire :</a:t>
            </a:r>
          </a:p>
          <a:p>
            <a:pPr indent="-228600" defTabSz="914400">
              <a:lnSpc>
                <a:spcPct val="90000"/>
              </a:lnSpc>
              <a:spcAft>
                <a:spcPts val="800"/>
              </a:spcAft>
              <a:buFont typeface="Arial" panose="020B0604020202020204" pitchFamily="34" charset="0"/>
              <a:buChar char="•"/>
            </a:pPr>
            <a:r>
              <a:rPr lang="en-US" sz="1700" dirty="0" err="1">
                <a:effectLst/>
              </a:rPr>
              <a:t>abc</a:t>
            </a:r>
            <a:r>
              <a:rPr lang="en-US" sz="1700" dirty="0">
                <a:effectLst/>
              </a:rPr>
              <a:t>, </a:t>
            </a:r>
            <a:r>
              <a:rPr lang="en-US" sz="1700" dirty="0" err="1">
                <a:effectLst/>
              </a:rPr>
              <a:t>acb</a:t>
            </a:r>
            <a:r>
              <a:rPr lang="en-US" sz="1700" dirty="0">
                <a:effectLst/>
              </a:rPr>
              <a:t>, bac, </a:t>
            </a:r>
            <a:r>
              <a:rPr lang="en-US" sz="1700" dirty="0" err="1">
                <a:effectLst/>
              </a:rPr>
              <a:t>bca</a:t>
            </a:r>
            <a:r>
              <a:rPr lang="en-US" sz="1700" dirty="0">
                <a:effectLst/>
              </a:rPr>
              <a:t>, cab, cba</a:t>
            </a:r>
          </a:p>
          <a:p>
            <a:pPr indent="-228600" defTabSz="914400">
              <a:lnSpc>
                <a:spcPct val="90000"/>
              </a:lnSpc>
              <a:spcAft>
                <a:spcPts val="800"/>
              </a:spcAft>
              <a:buFont typeface="Arial" panose="020B0604020202020204" pitchFamily="34" charset="0"/>
              <a:buChar char="•"/>
            </a:pPr>
            <a:r>
              <a:rPr lang="en-US" sz="1700" dirty="0"/>
              <a:t>C</a:t>
            </a:r>
            <a:r>
              <a:rPr lang="en-US" sz="1700" dirty="0">
                <a:effectLst/>
              </a:rPr>
              <a:t>e qui donne 6 façons différentes d’aligner 3 objets distincts. Chaque alignement est une permutation ; dans cet exemple, </a:t>
            </a:r>
            <a:r>
              <a:rPr lang="en-US" sz="1700" dirty="0" err="1">
                <a:effectLst/>
              </a:rPr>
              <a:t>il</a:t>
            </a:r>
            <a:r>
              <a:rPr lang="en-US" sz="1700" dirty="0">
                <a:effectLst/>
              </a:rPr>
              <a:t> y a 6 permutations possibles=3!  Permutations possibles. </a:t>
            </a:r>
          </a:p>
          <a:p>
            <a:pPr indent="-228600" defTabSz="914400">
              <a:lnSpc>
                <a:spcPct val="90000"/>
              </a:lnSpc>
              <a:spcAft>
                <a:spcPts val="800"/>
              </a:spcAft>
              <a:buFont typeface="Arial" panose="020B0604020202020204" pitchFamily="34" charset="0"/>
              <a:buChar char="•"/>
            </a:pPr>
            <a:r>
              <a:rPr lang="en-US" sz="1700" dirty="0">
                <a:effectLst/>
              </a:rPr>
              <a:t>Cette mise en situation illustre la règle générale : </a:t>
            </a:r>
            <a:r>
              <a:rPr lang="en-US" sz="1700" dirty="0" err="1">
                <a:effectLst/>
              </a:rPr>
              <a:t>si</a:t>
            </a:r>
            <a:r>
              <a:rPr lang="en-US" sz="1700" dirty="0">
                <a:effectLst/>
              </a:rPr>
              <a:t> on a n objets distincts, on peut les aligner de </a:t>
            </a:r>
          </a:p>
          <a:p>
            <a:pPr defTabSz="914400">
              <a:lnSpc>
                <a:spcPct val="90000"/>
              </a:lnSpc>
              <a:spcAft>
                <a:spcPts val="800"/>
              </a:spcAft>
            </a:pPr>
            <a:r>
              <a:rPr lang="en-US" sz="1700" b="1" dirty="0">
                <a:effectLst/>
              </a:rPr>
              <a:t> </a:t>
            </a:r>
            <a:r>
              <a:rPr lang="en-US" sz="1700" i="1" dirty="0" err="1">
                <a:effectLst/>
              </a:rPr>
              <a:t>P</a:t>
            </a:r>
            <a:r>
              <a:rPr lang="en-US" sz="1700" i="1" baseline="-25000" dirty="0" err="1">
                <a:effectLst/>
              </a:rPr>
              <a:t>n</a:t>
            </a:r>
            <a:r>
              <a:rPr lang="en-US" sz="1700" dirty="0">
                <a:effectLst/>
              </a:rPr>
              <a:t> = </a:t>
            </a:r>
            <a:r>
              <a:rPr lang="en-US" sz="1700" i="1" dirty="0">
                <a:effectLst/>
              </a:rPr>
              <a:t>n</a:t>
            </a:r>
            <a:r>
              <a:rPr lang="en-US" sz="1700" dirty="0">
                <a:effectLst/>
              </a:rPr>
              <a:t> ! Permutations possibles.</a:t>
            </a:r>
          </a:p>
        </p:txBody>
      </p:sp>
      <p:sp>
        <p:nvSpPr>
          <p:cNvPr id="4" name="Espace réservé du numéro de diapositive 3">
            <a:extLst>
              <a:ext uri="{FF2B5EF4-FFF2-40B4-BE49-F238E27FC236}">
                <a16:creationId xmlns:a16="http://schemas.microsoft.com/office/drawing/2014/main" id="{AEBECA64-CABE-47DF-A376-B2B61AA8B805}"/>
              </a:ext>
            </a:extLst>
          </p:cNvPr>
          <p:cNvSpPr>
            <a:spLocks noGrp="1"/>
          </p:cNvSpPr>
          <p:nvPr>
            <p:ph type="sldNum" sz="quarter" idx="12"/>
          </p:nvPr>
        </p:nvSpPr>
        <p:spPr>
          <a:xfrm>
            <a:off x="9683496" y="4892040"/>
            <a:ext cx="1673352" cy="1005840"/>
          </a:xfrm>
        </p:spPr>
        <p:txBody>
          <a:bodyPr vert="horz" lIns="91440" tIns="45720" rIns="91440" bIns="45720" rtlCol="0" anchor="ctr">
            <a:normAutofit/>
          </a:bodyPr>
          <a:lstStyle/>
          <a:p>
            <a:pPr defTabSz="914400">
              <a:lnSpc>
                <a:spcPct val="90000"/>
              </a:lnSpc>
              <a:spcAft>
                <a:spcPts val="600"/>
              </a:spcAft>
            </a:pPr>
            <a:fld id="{26377AD9-CE17-438C-A638-C64D2D42D7CF}" type="slidenum">
              <a:rPr lang="en-US" sz="6600">
                <a:solidFill>
                  <a:srgbClr val="FFFFFF"/>
                </a:solidFill>
              </a:rPr>
              <a:pPr defTabSz="914400">
                <a:lnSpc>
                  <a:spcPct val="90000"/>
                </a:lnSpc>
                <a:spcAft>
                  <a:spcPts val="600"/>
                </a:spcAft>
              </a:pPr>
              <a:t>14</a:t>
            </a:fld>
            <a:endParaRPr lang="en-US" sz="6600">
              <a:solidFill>
                <a:srgbClr val="FFFFFF"/>
              </a:solidFill>
            </a:endParaRPr>
          </a:p>
        </p:txBody>
      </p:sp>
    </p:spTree>
    <p:extLst>
      <p:ext uri="{BB962C8B-B14F-4D97-AF65-F5344CB8AC3E}">
        <p14:creationId xmlns:p14="http://schemas.microsoft.com/office/powerpoint/2010/main" val="3017937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Shape 30">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DC46511A-56E3-409B-A4A9-8B4171C6CAF9}"/>
              </a:ext>
            </a:extLst>
          </p:cNvPr>
          <p:cNvSpPr>
            <a:spLocks noGrp="1"/>
          </p:cNvSpPr>
          <p:nvPr>
            <p:ph type="title"/>
          </p:nvPr>
        </p:nvSpPr>
        <p:spPr>
          <a:xfrm>
            <a:off x="934872" y="982272"/>
            <a:ext cx="3388419" cy="4560970"/>
          </a:xfrm>
        </p:spPr>
        <p:txBody>
          <a:bodyPr vert="horz" lIns="91440" tIns="45720" rIns="91440" bIns="45720" rtlCol="0" anchor="ctr">
            <a:normAutofit/>
          </a:bodyPr>
          <a:lstStyle/>
          <a:p>
            <a:pPr>
              <a:spcAft>
                <a:spcPts val="800"/>
              </a:spcAft>
            </a:pPr>
            <a:r>
              <a:rPr lang="en-US" sz="1900" b="1" kern="1200" dirty="0">
                <a:solidFill>
                  <a:srgbClr val="FFFFFF"/>
                </a:solidFill>
                <a:latin typeface="+mj-lt"/>
                <a:ea typeface="+mj-ea"/>
                <a:cs typeface="+mj-cs"/>
              </a:rPr>
              <a:t>EXEMPLE 1:</a:t>
            </a:r>
            <a:r>
              <a:rPr lang="en-US" sz="1900" kern="1200" dirty="0">
                <a:solidFill>
                  <a:srgbClr val="FFFFFF"/>
                </a:solidFill>
                <a:latin typeface="+mj-lt"/>
                <a:ea typeface="+mj-ea"/>
                <a:cs typeface="+mj-cs"/>
              </a:rPr>
              <a:t> </a:t>
            </a:r>
            <a:r>
              <a:rPr lang="en-US" sz="1900" kern="1200" dirty="0">
                <a:solidFill>
                  <a:srgbClr val="FFFFFF"/>
                </a:solidFill>
                <a:effectLst/>
                <a:latin typeface="+mj-lt"/>
                <a:ea typeface="+mj-ea"/>
                <a:cs typeface="+mj-cs"/>
              </a:rPr>
              <a:t>On </a:t>
            </a:r>
            <a:r>
              <a:rPr lang="en-US" sz="1900" kern="1200" dirty="0" err="1">
                <a:solidFill>
                  <a:srgbClr val="FFFFFF"/>
                </a:solidFill>
                <a:effectLst/>
                <a:latin typeface="+mj-lt"/>
                <a:ea typeface="+mj-ea"/>
                <a:cs typeface="+mj-cs"/>
              </a:rPr>
              <a:t>veut</a:t>
            </a:r>
            <a:r>
              <a:rPr lang="en-US" sz="1900" kern="1200" dirty="0">
                <a:solidFill>
                  <a:srgbClr val="FFFFFF"/>
                </a:solidFill>
                <a:effectLst/>
                <a:latin typeface="+mj-lt"/>
                <a:ea typeface="+mj-ea"/>
                <a:cs typeface="+mj-cs"/>
              </a:rPr>
              <a:t> former des mots de </a:t>
            </a:r>
            <a:r>
              <a:rPr lang="en-US" sz="1900" kern="1200" dirty="0" err="1">
                <a:solidFill>
                  <a:srgbClr val="FFFFFF"/>
                </a:solidFill>
                <a:effectLst/>
                <a:latin typeface="+mj-lt"/>
                <a:ea typeface="+mj-ea"/>
                <a:cs typeface="+mj-cs"/>
              </a:rPr>
              <a:t>passe</a:t>
            </a:r>
            <a:r>
              <a:rPr lang="en-US" sz="1900" kern="1200" dirty="0">
                <a:solidFill>
                  <a:srgbClr val="FFFFFF"/>
                </a:solidFill>
                <a:effectLst/>
                <a:latin typeface="+mj-lt"/>
                <a:ea typeface="+mj-ea"/>
                <a:cs typeface="+mj-cs"/>
              </a:rPr>
              <a:t> de 4 </a:t>
            </a:r>
            <a:r>
              <a:rPr lang="en-US" sz="1900" kern="1200" dirty="0" err="1">
                <a:solidFill>
                  <a:srgbClr val="FFFFFF"/>
                </a:solidFill>
                <a:effectLst/>
                <a:latin typeface="+mj-lt"/>
                <a:ea typeface="+mj-ea"/>
                <a:cs typeface="+mj-cs"/>
              </a:rPr>
              <a:t>lettres</a:t>
            </a:r>
            <a:r>
              <a:rPr lang="en-US" sz="1900" kern="1200" dirty="0">
                <a:solidFill>
                  <a:srgbClr val="FFFFFF"/>
                </a:solidFill>
                <a:effectLst/>
                <a:latin typeface="+mj-lt"/>
                <a:ea typeface="+mj-ea"/>
                <a:cs typeface="+mj-cs"/>
              </a:rPr>
              <a:t> en </a:t>
            </a:r>
            <a:r>
              <a:rPr lang="en-US" sz="1900" kern="1200" dirty="0" err="1">
                <a:solidFill>
                  <a:srgbClr val="FFFFFF"/>
                </a:solidFill>
                <a:effectLst/>
                <a:latin typeface="+mj-lt"/>
                <a:ea typeface="+mj-ea"/>
                <a:cs typeface="+mj-cs"/>
              </a:rPr>
              <a:t>utilisant</a:t>
            </a:r>
            <a:r>
              <a:rPr lang="en-US" sz="1900" kern="1200" dirty="0">
                <a:solidFill>
                  <a:srgbClr val="FFFFFF"/>
                </a:solidFill>
                <a:effectLst/>
                <a:latin typeface="+mj-lt"/>
                <a:ea typeface="+mj-ea"/>
                <a:cs typeface="+mj-cs"/>
              </a:rPr>
              <a:t> les </a:t>
            </a:r>
            <a:r>
              <a:rPr lang="en-US" sz="1900" kern="1200" dirty="0" err="1">
                <a:solidFill>
                  <a:srgbClr val="FFFFFF"/>
                </a:solidFill>
                <a:effectLst/>
                <a:latin typeface="+mj-lt"/>
                <a:ea typeface="+mj-ea"/>
                <a:cs typeface="+mj-cs"/>
              </a:rPr>
              <a:t>lettres</a:t>
            </a:r>
            <a:r>
              <a:rPr lang="en-US" sz="1900" kern="1200" dirty="0">
                <a:solidFill>
                  <a:srgbClr val="FFFFFF"/>
                </a:solidFill>
                <a:effectLst/>
                <a:latin typeface="+mj-lt"/>
                <a:ea typeface="+mj-ea"/>
                <a:cs typeface="+mj-cs"/>
              </a:rPr>
              <a:t> « a », « b », « c » et « d », sans </a:t>
            </a:r>
            <a:r>
              <a:rPr lang="en-US" sz="1900" kern="1200" dirty="0" err="1">
                <a:solidFill>
                  <a:srgbClr val="FFFFFF"/>
                </a:solidFill>
                <a:effectLst/>
                <a:latin typeface="+mj-lt"/>
                <a:ea typeface="+mj-ea"/>
                <a:cs typeface="+mj-cs"/>
              </a:rPr>
              <a:t>répétition</a:t>
            </a:r>
            <a:r>
              <a:rPr lang="en-US" sz="1900" kern="1200" dirty="0">
                <a:solidFill>
                  <a:srgbClr val="FFFFFF"/>
                </a:solidFill>
                <a:effectLst/>
                <a:latin typeface="+mj-lt"/>
                <a:ea typeface="+mj-ea"/>
                <a:cs typeface="+mj-cs"/>
              </a:rPr>
              <a:t> de la même lettre.</a:t>
            </a:r>
            <a:br>
              <a:rPr lang="en-US" sz="1900" kern="1200" dirty="0">
                <a:solidFill>
                  <a:srgbClr val="FFFFFF"/>
                </a:solidFill>
                <a:effectLst/>
                <a:latin typeface="+mj-lt"/>
                <a:ea typeface="+mj-ea"/>
                <a:cs typeface="+mj-cs"/>
              </a:rPr>
            </a:br>
            <a:r>
              <a:rPr lang="en-US" sz="1900" kern="1200" dirty="0">
                <a:solidFill>
                  <a:srgbClr val="FFFFFF"/>
                </a:solidFill>
                <a:effectLst/>
                <a:latin typeface="+mj-lt"/>
                <a:ea typeface="+mj-ea"/>
                <a:cs typeface="+mj-cs"/>
              </a:rPr>
              <a:t>a)	Combien de mots de </a:t>
            </a:r>
            <a:r>
              <a:rPr lang="en-US" sz="1900" kern="1200" dirty="0" err="1">
                <a:solidFill>
                  <a:srgbClr val="FFFFFF"/>
                </a:solidFill>
                <a:effectLst/>
                <a:latin typeface="+mj-lt"/>
                <a:ea typeface="+mj-ea"/>
                <a:cs typeface="+mj-cs"/>
              </a:rPr>
              <a:t>passe</a:t>
            </a:r>
            <a:r>
              <a:rPr lang="en-US" sz="1900" kern="1200" dirty="0">
                <a:solidFill>
                  <a:srgbClr val="FFFFFF"/>
                </a:solidFill>
                <a:effectLst/>
                <a:latin typeface="+mj-lt"/>
                <a:ea typeface="+mj-ea"/>
                <a:cs typeface="+mj-cs"/>
              </a:rPr>
              <a:t> peut-on former ?</a:t>
            </a:r>
            <a:br>
              <a:rPr lang="en-US" sz="1900" kern="1200" dirty="0">
                <a:solidFill>
                  <a:srgbClr val="FFFFFF"/>
                </a:solidFill>
                <a:effectLst/>
                <a:latin typeface="+mj-lt"/>
                <a:ea typeface="+mj-ea"/>
                <a:cs typeface="+mj-cs"/>
              </a:rPr>
            </a:br>
            <a:r>
              <a:rPr lang="en-US" sz="1900" kern="1200" dirty="0">
                <a:solidFill>
                  <a:srgbClr val="FFFFFF"/>
                </a:solidFill>
                <a:effectLst/>
                <a:latin typeface="+mj-lt"/>
                <a:ea typeface="+mj-ea"/>
                <a:cs typeface="+mj-cs"/>
              </a:rPr>
              <a:t>b)	Combien de </a:t>
            </a:r>
            <a:r>
              <a:rPr lang="en-US" sz="1900" kern="1200" dirty="0" err="1">
                <a:solidFill>
                  <a:srgbClr val="FFFFFF"/>
                </a:solidFill>
                <a:effectLst/>
                <a:latin typeface="+mj-lt"/>
                <a:ea typeface="+mj-ea"/>
                <a:cs typeface="+mj-cs"/>
              </a:rPr>
              <a:t>ces</a:t>
            </a:r>
            <a:r>
              <a:rPr lang="en-US" sz="1900" kern="1200" dirty="0">
                <a:solidFill>
                  <a:srgbClr val="FFFFFF"/>
                </a:solidFill>
                <a:effectLst/>
                <a:latin typeface="+mj-lt"/>
                <a:ea typeface="+mj-ea"/>
                <a:cs typeface="+mj-cs"/>
              </a:rPr>
              <a:t> mots de </a:t>
            </a:r>
            <a:r>
              <a:rPr lang="en-US" sz="1900" kern="1200" dirty="0" err="1">
                <a:solidFill>
                  <a:srgbClr val="FFFFFF"/>
                </a:solidFill>
                <a:effectLst/>
                <a:latin typeface="+mj-lt"/>
                <a:ea typeface="+mj-ea"/>
                <a:cs typeface="+mj-cs"/>
              </a:rPr>
              <a:t>passe</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commencent</a:t>
            </a:r>
            <a:r>
              <a:rPr lang="en-US" sz="1900" kern="1200" dirty="0">
                <a:solidFill>
                  <a:srgbClr val="FFFFFF"/>
                </a:solidFill>
                <a:effectLst/>
                <a:latin typeface="+mj-lt"/>
                <a:ea typeface="+mj-ea"/>
                <a:cs typeface="+mj-cs"/>
              </a:rPr>
              <a:t> par « d » ?</a:t>
            </a:r>
            <a:br>
              <a:rPr lang="en-US" sz="1900" kern="1200" dirty="0">
                <a:solidFill>
                  <a:srgbClr val="FFFFFF"/>
                </a:solidFill>
                <a:effectLst/>
                <a:latin typeface="+mj-lt"/>
                <a:ea typeface="+mj-ea"/>
                <a:cs typeface="+mj-cs"/>
              </a:rPr>
            </a:br>
            <a:r>
              <a:rPr lang="en-US" sz="1900" kern="1200" dirty="0">
                <a:solidFill>
                  <a:srgbClr val="FFFFFF"/>
                </a:solidFill>
                <a:effectLst/>
                <a:latin typeface="+mj-lt"/>
                <a:ea typeface="+mj-ea"/>
                <a:cs typeface="+mj-cs"/>
              </a:rPr>
              <a:t>c)	Quelle est la </a:t>
            </a:r>
            <a:r>
              <a:rPr lang="en-US" sz="1900" kern="1200" dirty="0" err="1">
                <a:solidFill>
                  <a:srgbClr val="FFFFFF"/>
                </a:solidFill>
                <a:effectLst/>
                <a:latin typeface="+mj-lt"/>
                <a:ea typeface="+mj-ea"/>
                <a:cs typeface="+mj-cs"/>
              </a:rPr>
              <a:t>probabilité</a:t>
            </a:r>
            <a:r>
              <a:rPr lang="en-US" sz="1900" kern="1200" dirty="0">
                <a:solidFill>
                  <a:srgbClr val="FFFFFF"/>
                </a:solidFill>
                <a:effectLst/>
                <a:latin typeface="+mj-lt"/>
                <a:ea typeface="+mj-ea"/>
                <a:cs typeface="+mj-cs"/>
              </a:rPr>
              <a:t> de </a:t>
            </a:r>
            <a:r>
              <a:rPr lang="en-US" sz="1900" kern="1200" dirty="0" err="1">
                <a:solidFill>
                  <a:srgbClr val="FFFFFF"/>
                </a:solidFill>
                <a:effectLst/>
                <a:latin typeface="+mj-lt"/>
                <a:ea typeface="+mj-ea"/>
                <a:cs typeface="+mj-cs"/>
              </a:rPr>
              <a:t>tomber</a:t>
            </a:r>
            <a:r>
              <a:rPr lang="en-US" sz="1900" kern="1200" dirty="0">
                <a:solidFill>
                  <a:srgbClr val="FFFFFF"/>
                </a:solidFill>
                <a:effectLst/>
                <a:latin typeface="+mj-lt"/>
                <a:ea typeface="+mj-ea"/>
                <a:cs typeface="+mj-cs"/>
              </a:rPr>
              <a:t> au </a:t>
            </a:r>
            <a:r>
              <a:rPr lang="en-US" sz="1900" kern="1200" dirty="0" err="1">
                <a:solidFill>
                  <a:srgbClr val="FFFFFF"/>
                </a:solidFill>
                <a:effectLst/>
                <a:latin typeface="+mj-lt"/>
                <a:ea typeface="+mj-ea"/>
                <a:cs typeface="+mj-cs"/>
              </a:rPr>
              <a:t>hasard</a:t>
            </a:r>
            <a:r>
              <a:rPr lang="en-US" sz="1900" kern="1200" dirty="0">
                <a:solidFill>
                  <a:srgbClr val="FFFFFF"/>
                </a:solidFill>
                <a:effectLst/>
                <a:latin typeface="+mj-lt"/>
                <a:ea typeface="+mj-ea"/>
                <a:cs typeface="+mj-cs"/>
              </a:rPr>
              <a:t> sur un mot de </a:t>
            </a:r>
            <a:r>
              <a:rPr lang="en-US" sz="1900" kern="1200" dirty="0" err="1">
                <a:solidFill>
                  <a:srgbClr val="FFFFFF"/>
                </a:solidFill>
                <a:effectLst/>
                <a:latin typeface="+mj-lt"/>
                <a:ea typeface="+mj-ea"/>
                <a:cs typeface="+mj-cs"/>
              </a:rPr>
              <a:t>passe</a:t>
            </a:r>
            <a:r>
              <a:rPr lang="en-US" sz="1900" kern="1200" dirty="0">
                <a:solidFill>
                  <a:srgbClr val="FFFFFF"/>
                </a:solidFill>
                <a:effectLst/>
                <a:latin typeface="+mj-lt"/>
                <a:ea typeface="+mj-ea"/>
                <a:cs typeface="+mj-cs"/>
              </a:rPr>
              <a:t> </a:t>
            </a:r>
            <a:r>
              <a:rPr lang="en-US" sz="1900" kern="1200" dirty="0" err="1">
                <a:solidFill>
                  <a:srgbClr val="FFFFFF"/>
                </a:solidFill>
                <a:effectLst/>
                <a:latin typeface="+mj-lt"/>
                <a:ea typeface="+mj-ea"/>
                <a:cs typeface="+mj-cs"/>
              </a:rPr>
              <a:t>commençant</a:t>
            </a:r>
            <a:r>
              <a:rPr lang="en-US" sz="1900" kern="1200" dirty="0">
                <a:solidFill>
                  <a:srgbClr val="FFFFFF"/>
                </a:solidFill>
                <a:effectLst/>
                <a:latin typeface="+mj-lt"/>
                <a:ea typeface="+mj-ea"/>
                <a:cs typeface="+mj-cs"/>
              </a:rPr>
              <a:t> par « d » ?</a:t>
            </a:r>
            <a:br>
              <a:rPr lang="en-US" sz="1900" kern="1200" dirty="0">
                <a:solidFill>
                  <a:srgbClr val="FFFFFF"/>
                </a:solidFill>
                <a:effectLst/>
                <a:latin typeface="+mj-lt"/>
                <a:ea typeface="+mj-ea"/>
                <a:cs typeface="+mj-cs"/>
              </a:rPr>
            </a:br>
            <a:endParaRPr lang="en-US" sz="1900" kern="1200" dirty="0">
              <a:solidFill>
                <a:srgbClr val="FFFFFF"/>
              </a:solidFill>
              <a:latin typeface="+mj-lt"/>
              <a:ea typeface="+mj-ea"/>
              <a:cs typeface="+mj-cs"/>
            </a:endParaRPr>
          </a:p>
        </p:txBody>
      </p:sp>
      <p:sp>
        <p:nvSpPr>
          <p:cNvPr id="33"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917A6D3E-BA92-446F-AF02-B3708C29EAB4}"/>
                  </a:ext>
                </a:extLst>
              </p:cNvPr>
              <p:cNvSpPr txBox="1"/>
              <p:nvPr/>
            </p:nvSpPr>
            <p:spPr>
              <a:xfrm>
                <a:off x="5221862" y="1719618"/>
                <a:ext cx="5948831" cy="4334629"/>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2400" dirty="0">
                    <a:solidFill>
                      <a:srgbClr val="FEFFFF"/>
                    </a:solidFill>
                  </a:rPr>
                  <a:t>Réponse:</a:t>
                </a:r>
              </a:p>
              <a:p>
                <a:pPr marL="342900" indent="-228600" defTabSz="914400">
                  <a:lnSpc>
                    <a:spcPct val="90000"/>
                  </a:lnSpc>
                  <a:spcAft>
                    <a:spcPts val="600"/>
                  </a:spcAft>
                  <a:buFont typeface="Arial" panose="020B0604020202020204" pitchFamily="34" charset="0"/>
                  <a:buChar char="•"/>
                </a:pPr>
                <a:r>
                  <a:rPr lang="en-US" sz="2400" dirty="0">
                    <a:solidFill>
                      <a:srgbClr val="FEFFFF"/>
                    </a:solidFill>
                  </a:rPr>
                  <a:t>Les </a:t>
                </a:r>
                <a:r>
                  <a:rPr lang="en-US" sz="2400" dirty="0" err="1">
                    <a:solidFill>
                      <a:srgbClr val="FEFFFF"/>
                    </a:solidFill>
                  </a:rPr>
                  <a:t>lettres</a:t>
                </a:r>
                <a:r>
                  <a:rPr lang="en-US" sz="2400" dirty="0">
                    <a:solidFill>
                      <a:srgbClr val="FEFFFF"/>
                    </a:solidFill>
                  </a:rPr>
                  <a:t> </a:t>
                </a:r>
                <a:r>
                  <a:rPr lang="en-US" sz="2400" dirty="0" err="1">
                    <a:solidFill>
                      <a:srgbClr val="FEFFFF"/>
                    </a:solidFill>
                  </a:rPr>
                  <a:t>sont</a:t>
                </a:r>
                <a:r>
                  <a:rPr lang="en-US" sz="2400" dirty="0">
                    <a:solidFill>
                      <a:srgbClr val="FEFFFF"/>
                    </a:solidFill>
                  </a:rPr>
                  <a:t> différentes </a:t>
                </a:r>
                <a:r>
                  <a:rPr lang="en-US" sz="2400" dirty="0" err="1">
                    <a:solidFill>
                      <a:srgbClr val="FEFFFF"/>
                    </a:solidFill>
                  </a:rPr>
                  <a:t>donc</a:t>
                </a:r>
                <a:r>
                  <a:rPr lang="en-US" sz="2400" dirty="0">
                    <a:solidFill>
                      <a:srgbClr val="FEFFFF"/>
                    </a:solidFill>
                  </a:rPr>
                  <a:t> N(S)=4!=24 permutations possibles.</a:t>
                </a:r>
              </a:p>
              <a:p>
                <a:pPr marL="342900" indent="-228600" defTabSz="914400">
                  <a:lnSpc>
                    <a:spcPct val="90000"/>
                  </a:lnSpc>
                  <a:spcAft>
                    <a:spcPts val="600"/>
                  </a:spcAft>
                  <a:buFont typeface="Arial" panose="020B0604020202020204" pitchFamily="34" charset="0"/>
                  <a:buChar char="•"/>
                </a:pPr>
                <a:r>
                  <a:rPr lang="en-US" sz="2400" dirty="0">
                    <a:solidFill>
                      <a:srgbClr val="FEFFFF"/>
                    </a:solidFill>
                    <a:effectLst/>
                  </a:rPr>
                  <a:t>Soit </a:t>
                </a:r>
                <a:r>
                  <a:rPr lang="en-US" sz="2400" i="1" dirty="0">
                    <a:solidFill>
                      <a:srgbClr val="FEFFFF"/>
                    </a:solidFill>
                    <a:effectLst/>
                  </a:rPr>
                  <a:t>D</a:t>
                </a:r>
                <a:r>
                  <a:rPr lang="en-US" sz="2400" dirty="0">
                    <a:solidFill>
                      <a:srgbClr val="FEFFFF"/>
                    </a:solidFill>
                    <a:effectLst/>
                  </a:rPr>
                  <a:t> : Le mot de </a:t>
                </a:r>
                <a:r>
                  <a:rPr lang="en-US" sz="2400" dirty="0" err="1">
                    <a:solidFill>
                      <a:srgbClr val="FEFFFF"/>
                    </a:solidFill>
                    <a:effectLst/>
                  </a:rPr>
                  <a:t>passe</a:t>
                </a:r>
                <a:r>
                  <a:rPr lang="en-US" sz="2400" dirty="0">
                    <a:solidFill>
                      <a:srgbClr val="FEFFFF"/>
                    </a:solidFill>
                    <a:effectLst/>
                  </a:rPr>
                  <a:t> commence par « d ». Il </a:t>
                </a:r>
                <a:r>
                  <a:rPr lang="en-US" sz="2400" dirty="0" err="1">
                    <a:solidFill>
                      <a:srgbClr val="FEFFFF"/>
                    </a:solidFill>
                    <a:effectLst/>
                  </a:rPr>
                  <a:t>n’y</a:t>
                </a:r>
                <a:r>
                  <a:rPr lang="en-US" sz="2400" dirty="0">
                    <a:solidFill>
                      <a:srgbClr val="FEFFFF"/>
                    </a:solidFill>
                    <a:effectLst/>
                  </a:rPr>
                  <a:t> a</a:t>
                </a:r>
                <a:r>
                  <a:rPr lang="en-US" sz="2400" i="1" dirty="0">
                    <a:solidFill>
                      <a:srgbClr val="FEFFFF"/>
                    </a:solidFill>
                    <a:effectLst/>
                  </a:rPr>
                  <a:t> </a:t>
                </a:r>
                <a:r>
                  <a:rPr lang="en-US" sz="2400" dirty="0">
                    <a:solidFill>
                      <a:srgbClr val="FEFFFF"/>
                    </a:solidFill>
                    <a:effectLst/>
                  </a:rPr>
                  <a:t>plus que 3 positions </a:t>
                </a:r>
                <a:r>
                  <a:rPr lang="en-US" sz="2400" dirty="0" err="1">
                    <a:solidFill>
                      <a:srgbClr val="FEFFFF"/>
                    </a:solidFill>
                    <a:effectLst/>
                  </a:rPr>
                  <a:t>libres</a:t>
                </a:r>
                <a:r>
                  <a:rPr lang="en-US" sz="2400" dirty="0">
                    <a:solidFill>
                      <a:srgbClr val="FEFFFF"/>
                    </a:solidFill>
                    <a:effectLst/>
                  </a:rPr>
                  <a:t> </a:t>
                </a:r>
                <a:r>
                  <a:rPr lang="en-US" sz="2400" dirty="0" err="1">
                    <a:solidFill>
                      <a:srgbClr val="FEFFFF"/>
                    </a:solidFill>
                    <a:effectLst/>
                  </a:rPr>
                  <a:t>où</a:t>
                </a:r>
                <a:r>
                  <a:rPr lang="en-US" sz="2400" dirty="0">
                    <a:solidFill>
                      <a:srgbClr val="FEFFFF"/>
                    </a:solidFill>
                    <a:effectLst/>
                  </a:rPr>
                  <a:t> on peut </a:t>
                </a:r>
                <a:r>
                  <a:rPr lang="en-US" sz="2400" dirty="0" err="1">
                    <a:solidFill>
                      <a:srgbClr val="FEFFFF"/>
                    </a:solidFill>
                    <a:effectLst/>
                  </a:rPr>
                  <a:t>permuter</a:t>
                </a:r>
                <a:r>
                  <a:rPr lang="en-US" sz="2400" dirty="0">
                    <a:solidFill>
                      <a:srgbClr val="FEFFFF"/>
                    </a:solidFill>
                    <a:effectLst/>
                  </a:rPr>
                  <a:t> les 3 </a:t>
                </a:r>
                <a:r>
                  <a:rPr lang="en-US" sz="2400" dirty="0" err="1">
                    <a:solidFill>
                      <a:srgbClr val="FEFFFF"/>
                    </a:solidFill>
                    <a:effectLst/>
                  </a:rPr>
                  <a:t>lettres</a:t>
                </a:r>
                <a:r>
                  <a:rPr lang="en-US" sz="2400" dirty="0">
                    <a:solidFill>
                      <a:srgbClr val="FEFFFF"/>
                    </a:solidFill>
                    <a:effectLst/>
                  </a:rPr>
                  <a:t> </a:t>
                </a:r>
                <a:r>
                  <a:rPr lang="en-US" sz="2400" dirty="0" err="1">
                    <a:solidFill>
                      <a:srgbClr val="FEFFFF"/>
                    </a:solidFill>
                    <a:effectLst/>
                  </a:rPr>
                  <a:t>restantes</a:t>
                </a:r>
                <a:r>
                  <a:rPr lang="en-US" sz="2400" dirty="0">
                    <a:solidFill>
                      <a:srgbClr val="FEFFFF"/>
                    </a:solidFill>
                    <a:effectLst/>
                  </a:rPr>
                  <a:t>. Donc, </a:t>
                </a:r>
                <a:r>
                  <a:rPr lang="en-US" sz="2400" i="1" dirty="0">
                    <a:solidFill>
                      <a:srgbClr val="FEFFFF"/>
                    </a:solidFill>
                    <a:effectLst/>
                  </a:rPr>
                  <a:t>N</a:t>
                </a:r>
                <a:r>
                  <a:rPr lang="en-US" sz="2400" dirty="0">
                    <a:solidFill>
                      <a:srgbClr val="FEFFFF"/>
                    </a:solidFill>
                    <a:effectLst/>
                  </a:rPr>
                  <a:t>(</a:t>
                </a:r>
                <a:r>
                  <a:rPr lang="en-US" sz="2400" i="1" dirty="0">
                    <a:solidFill>
                      <a:srgbClr val="FEFFFF"/>
                    </a:solidFill>
                    <a:effectLst/>
                  </a:rPr>
                  <a:t>D</a:t>
                </a:r>
                <a:r>
                  <a:rPr lang="en-US" sz="2400" dirty="0">
                    <a:solidFill>
                      <a:srgbClr val="FEFFFF"/>
                    </a:solidFill>
                    <a:effectLst/>
                  </a:rPr>
                  <a:t>) = 3 ! = 6.</a:t>
                </a:r>
              </a:p>
              <a:p>
                <a:pPr marL="342900" indent="-228600" defTabSz="914400">
                  <a:lnSpc>
                    <a:spcPct val="90000"/>
                  </a:lnSpc>
                  <a:spcAft>
                    <a:spcPts val="600"/>
                  </a:spcAft>
                  <a:buFont typeface="Arial" panose="020B0604020202020204" pitchFamily="34" charset="0"/>
                  <a:buChar char="•"/>
                </a:pPr>
                <a14:m>
                  <m:oMath xmlns:m="http://schemas.openxmlformats.org/officeDocument/2006/math">
                    <m:r>
                      <a:rPr lang="en-US" sz="2400" b="0" i="1">
                        <a:solidFill>
                          <a:srgbClr val="FEFFFF"/>
                        </a:solidFill>
                        <a:latin typeface="Cambria Math" panose="02040503050406030204" pitchFamily="18" charset="0"/>
                      </a:rPr>
                      <m:t>𝑃</m:t>
                    </m:r>
                    <m:d>
                      <m:dPr>
                        <m:ctrlPr>
                          <a:rPr lang="en-US" sz="2400" b="0" i="1">
                            <a:solidFill>
                              <a:srgbClr val="FEFFFF"/>
                            </a:solidFill>
                            <a:latin typeface="Cambria Math" panose="02040503050406030204" pitchFamily="18" charset="0"/>
                          </a:rPr>
                        </m:ctrlPr>
                      </m:dPr>
                      <m:e>
                        <m:r>
                          <a:rPr lang="en-US" sz="2400" b="0" i="1">
                            <a:solidFill>
                              <a:srgbClr val="FEFFFF"/>
                            </a:solidFill>
                            <a:latin typeface="Cambria Math" panose="02040503050406030204" pitchFamily="18" charset="0"/>
                          </a:rPr>
                          <m:t>𝐷</m:t>
                        </m:r>
                      </m:e>
                    </m:d>
                    <m:r>
                      <a:rPr lang="en-US" sz="2400" b="0" i="1">
                        <a:solidFill>
                          <a:srgbClr val="FEFFFF"/>
                        </a:solidFill>
                        <a:latin typeface="Cambria Math" panose="02040503050406030204" pitchFamily="18" charset="0"/>
                      </a:rPr>
                      <m:t>=</m:t>
                    </m:r>
                    <m:f>
                      <m:fPr>
                        <m:ctrlPr>
                          <a:rPr lang="en-US" sz="2400" b="0" i="1">
                            <a:solidFill>
                              <a:srgbClr val="FEFFFF"/>
                            </a:solidFill>
                            <a:latin typeface="Cambria Math" panose="02040503050406030204" pitchFamily="18" charset="0"/>
                          </a:rPr>
                        </m:ctrlPr>
                      </m:fPr>
                      <m:num>
                        <m:r>
                          <a:rPr lang="en-US" sz="2400" b="0" i="1">
                            <a:solidFill>
                              <a:srgbClr val="FEFFFF"/>
                            </a:solidFill>
                            <a:latin typeface="Cambria Math" panose="02040503050406030204" pitchFamily="18" charset="0"/>
                          </a:rPr>
                          <m:t>𝑁</m:t>
                        </m:r>
                        <m:r>
                          <a:rPr lang="en-US" sz="2400" b="0" i="1">
                            <a:solidFill>
                              <a:srgbClr val="FEFFFF"/>
                            </a:solidFill>
                            <a:latin typeface="Cambria Math" panose="02040503050406030204" pitchFamily="18" charset="0"/>
                          </a:rPr>
                          <m:t>(</m:t>
                        </m:r>
                        <m:r>
                          <a:rPr lang="en-US" sz="2400" b="0" i="1">
                            <a:solidFill>
                              <a:srgbClr val="FEFFFF"/>
                            </a:solidFill>
                            <a:latin typeface="Cambria Math" panose="02040503050406030204" pitchFamily="18" charset="0"/>
                          </a:rPr>
                          <m:t>𝐷</m:t>
                        </m:r>
                        <m:r>
                          <a:rPr lang="en-US" sz="2400" b="0" i="1">
                            <a:solidFill>
                              <a:srgbClr val="FEFFFF"/>
                            </a:solidFill>
                            <a:latin typeface="Cambria Math" panose="02040503050406030204" pitchFamily="18" charset="0"/>
                          </a:rPr>
                          <m:t>)</m:t>
                        </m:r>
                      </m:num>
                      <m:den>
                        <m:r>
                          <a:rPr lang="en-US" sz="2400" b="0" i="1">
                            <a:solidFill>
                              <a:srgbClr val="FEFFFF"/>
                            </a:solidFill>
                            <a:latin typeface="Cambria Math" panose="02040503050406030204" pitchFamily="18" charset="0"/>
                          </a:rPr>
                          <m:t>𝑁</m:t>
                        </m:r>
                        <m:r>
                          <a:rPr lang="en-US" sz="2400" b="0" i="1">
                            <a:solidFill>
                              <a:srgbClr val="FEFFFF"/>
                            </a:solidFill>
                            <a:latin typeface="Cambria Math" panose="02040503050406030204" pitchFamily="18" charset="0"/>
                          </a:rPr>
                          <m:t>(</m:t>
                        </m:r>
                        <m:r>
                          <a:rPr lang="en-US" sz="2400" b="0" i="1">
                            <a:solidFill>
                              <a:srgbClr val="FEFFFF"/>
                            </a:solidFill>
                            <a:latin typeface="Cambria Math" panose="02040503050406030204" pitchFamily="18" charset="0"/>
                          </a:rPr>
                          <m:t>𝑆</m:t>
                        </m:r>
                        <m:r>
                          <a:rPr lang="en-US" sz="2400" b="0" i="1">
                            <a:solidFill>
                              <a:srgbClr val="FEFFFF"/>
                            </a:solidFill>
                            <a:latin typeface="Cambria Math" panose="02040503050406030204" pitchFamily="18" charset="0"/>
                          </a:rPr>
                          <m:t>)</m:t>
                        </m:r>
                      </m:den>
                    </m:f>
                    <m:r>
                      <a:rPr lang="en-US" sz="2400" b="0" i="1">
                        <a:solidFill>
                          <a:srgbClr val="FEFFFF"/>
                        </a:solidFill>
                        <a:latin typeface="Cambria Math" panose="02040503050406030204" pitchFamily="18" charset="0"/>
                      </a:rPr>
                      <m:t>=</m:t>
                    </m:r>
                    <m:f>
                      <m:fPr>
                        <m:ctrlPr>
                          <a:rPr lang="en-US" sz="2400" b="0" i="1">
                            <a:solidFill>
                              <a:srgbClr val="FEFFFF"/>
                            </a:solidFill>
                            <a:latin typeface="Cambria Math" panose="02040503050406030204" pitchFamily="18" charset="0"/>
                          </a:rPr>
                        </m:ctrlPr>
                      </m:fPr>
                      <m:num>
                        <m:r>
                          <a:rPr lang="en-US" sz="2400" b="0" i="1">
                            <a:solidFill>
                              <a:srgbClr val="FEFFFF"/>
                            </a:solidFill>
                            <a:latin typeface="Cambria Math" panose="02040503050406030204" pitchFamily="18" charset="0"/>
                          </a:rPr>
                          <m:t>6</m:t>
                        </m:r>
                      </m:num>
                      <m:den>
                        <m:r>
                          <a:rPr lang="en-US" sz="2400" b="0" i="1">
                            <a:solidFill>
                              <a:srgbClr val="FEFFFF"/>
                            </a:solidFill>
                            <a:latin typeface="Cambria Math" panose="02040503050406030204" pitchFamily="18" charset="0"/>
                          </a:rPr>
                          <m:t>24</m:t>
                        </m:r>
                      </m:den>
                    </m:f>
                    <m:r>
                      <a:rPr lang="en-US" sz="2400" b="0" i="1">
                        <a:solidFill>
                          <a:srgbClr val="FEFFFF"/>
                        </a:solidFill>
                        <a:latin typeface="Cambria Math" panose="02040503050406030204" pitchFamily="18" charset="0"/>
                      </a:rPr>
                      <m:t>=</m:t>
                    </m:r>
                    <m:f>
                      <m:fPr>
                        <m:ctrlPr>
                          <a:rPr lang="en-US" sz="2400" b="0" i="1">
                            <a:solidFill>
                              <a:srgbClr val="FEFFFF"/>
                            </a:solidFill>
                            <a:latin typeface="Cambria Math" panose="02040503050406030204" pitchFamily="18" charset="0"/>
                          </a:rPr>
                        </m:ctrlPr>
                      </m:fPr>
                      <m:num>
                        <m:r>
                          <a:rPr lang="en-US" sz="2400" b="0" i="1">
                            <a:solidFill>
                              <a:srgbClr val="FEFFFF"/>
                            </a:solidFill>
                            <a:latin typeface="Cambria Math" panose="02040503050406030204" pitchFamily="18" charset="0"/>
                          </a:rPr>
                          <m:t>1</m:t>
                        </m:r>
                      </m:num>
                      <m:den>
                        <m:r>
                          <a:rPr lang="en-US" sz="2400" b="0" i="1">
                            <a:solidFill>
                              <a:srgbClr val="FEFFFF"/>
                            </a:solidFill>
                            <a:latin typeface="Cambria Math" panose="02040503050406030204" pitchFamily="18" charset="0"/>
                          </a:rPr>
                          <m:t>4</m:t>
                        </m:r>
                      </m:den>
                    </m:f>
                  </m:oMath>
                </a14:m>
                <a:endParaRPr lang="en-US" sz="2400" dirty="0">
                  <a:solidFill>
                    <a:srgbClr val="FEFFFF"/>
                  </a:solidFill>
                </a:endParaRPr>
              </a:p>
            </p:txBody>
          </p:sp>
        </mc:Choice>
        <mc:Fallback xmlns="">
          <p:sp>
            <p:nvSpPr>
              <p:cNvPr id="5" name="ZoneTexte 4">
                <a:extLst>
                  <a:ext uri="{FF2B5EF4-FFF2-40B4-BE49-F238E27FC236}">
                    <a16:creationId xmlns:a16="http://schemas.microsoft.com/office/drawing/2014/main" id="{917A6D3E-BA92-446F-AF02-B3708C29EAB4}"/>
                  </a:ext>
                </a:extLst>
              </p:cNvPr>
              <p:cNvSpPr txBox="1">
                <a:spLocks noRot="1" noChangeAspect="1" noMove="1" noResize="1" noEditPoints="1" noAdjustHandles="1" noChangeArrowheads="1" noChangeShapeType="1" noTextEdit="1"/>
              </p:cNvSpPr>
              <p:nvPr/>
            </p:nvSpPr>
            <p:spPr>
              <a:xfrm>
                <a:off x="5221862" y="1719618"/>
                <a:ext cx="5948831" cy="4334629"/>
              </a:xfrm>
              <a:prstGeom prst="rect">
                <a:avLst/>
              </a:prstGeom>
              <a:blipFill>
                <a:blip r:embed="rId3"/>
                <a:stretch>
                  <a:fillRect l="-1436" r="-2564"/>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5DE630C0-A2EB-4089-851E-E7DAD73D8EAE}"/>
              </a:ext>
            </a:extLst>
          </p:cNvPr>
          <p:cNvSpPr>
            <a:spLocks noGrp="1"/>
          </p:cNvSpPr>
          <p:nvPr>
            <p:ph type="ftr" sz="quarter" idx="11"/>
          </p:nvPr>
        </p:nvSpPr>
        <p:spPr>
          <a:xfrm>
            <a:off x="795528" y="6382512"/>
            <a:ext cx="6757416" cy="320040"/>
          </a:xfrm>
        </p:spPr>
        <p:txBody>
          <a:bodyPr vert="horz" lIns="91440" tIns="45720" rIns="91440" bIns="45720" rtlCol="0" anchor="ctr">
            <a:normAutofit/>
          </a:bodyPr>
          <a:lstStyle/>
          <a:p>
            <a:pPr algn="l" defTabSz="914400"/>
            <a:endParaRPr lang="en-US" sz="10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19DCE738-1595-4478-BCE8-7AB6C9B3A8D2}"/>
              </a:ext>
            </a:extLst>
          </p:cNvPr>
          <p:cNvSpPr>
            <a:spLocks noGrp="1"/>
          </p:cNvSpPr>
          <p:nvPr>
            <p:ph type="sldNum" sz="quarter" idx="12"/>
          </p:nvPr>
        </p:nvSpPr>
        <p:spPr>
          <a:xfrm>
            <a:off x="10707624" y="6175188"/>
            <a:ext cx="685800" cy="320040"/>
          </a:xfrm>
        </p:spPr>
        <p:txBody>
          <a:bodyPr vert="horz" lIns="91440" tIns="45720" rIns="91440" bIns="45720" rtlCol="0" anchor="ctr">
            <a:normAutofit/>
          </a:bodyPr>
          <a:lstStyle/>
          <a:p>
            <a:pPr defTabSz="914400">
              <a:spcAft>
                <a:spcPts val="600"/>
              </a:spcAft>
            </a:pPr>
            <a:fld id="{26377AD9-CE17-438C-A638-C64D2D42D7CF}" type="slidenum">
              <a:rPr lang="en-US" sz="1000">
                <a:solidFill>
                  <a:srgbClr val="FFFFFF"/>
                </a:solidFill>
              </a:rPr>
              <a:pPr defTabSz="914400">
                <a:spcAft>
                  <a:spcPts val="600"/>
                </a:spcAft>
              </a:pPr>
              <a:t>15</a:t>
            </a:fld>
            <a:endParaRPr lang="en-US" sz="1000">
              <a:solidFill>
                <a:srgbClr val="FFFFFF"/>
              </a:solidFill>
            </a:endParaRPr>
          </a:p>
        </p:txBody>
      </p:sp>
    </p:spTree>
    <p:extLst>
      <p:ext uri="{BB962C8B-B14F-4D97-AF65-F5344CB8AC3E}">
        <p14:creationId xmlns:p14="http://schemas.microsoft.com/office/powerpoint/2010/main" val="2987475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Shape 15">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093FA117-0B54-4C0E-94DF-9E49C780B17F}"/>
              </a:ext>
            </a:extLst>
          </p:cNvPr>
          <p:cNvSpPr>
            <a:spLocks noGrp="1"/>
          </p:cNvSpPr>
          <p:nvPr>
            <p:ph type="title"/>
          </p:nvPr>
        </p:nvSpPr>
        <p:spPr>
          <a:xfrm>
            <a:off x="934872" y="982272"/>
            <a:ext cx="3388419" cy="4560970"/>
          </a:xfrm>
        </p:spPr>
        <p:txBody>
          <a:bodyPr vert="horz" lIns="91440" tIns="45720" rIns="91440" bIns="45720" rtlCol="0" anchor="ctr">
            <a:normAutofit/>
          </a:bodyPr>
          <a:lstStyle/>
          <a:p>
            <a:pPr>
              <a:spcAft>
                <a:spcPts val="800"/>
              </a:spcAft>
            </a:pPr>
            <a:r>
              <a:rPr lang="en-US" sz="1300" kern="1200" dirty="0">
                <a:solidFill>
                  <a:srgbClr val="FFFFFF"/>
                </a:solidFill>
                <a:latin typeface="+mj-lt"/>
                <a:ea typeface="+mj-ea"/>
                <a:cs typeface="+mj-cs"/>
              </a:rPr>
              <a:t>EXEMPLE 2: </a:t>
            </a:r>
            <a:r>
              <a:rPr lang="en-US" sz="1300" kern="1200" dirty="0">
                <a:solidFill>
                  <a:srgbClr val="FFFFFF"/>
                </a:solidFill>
                <a:effectLst/>
                <a:latin typeface="+mj-lt"/>
                <a:ea typeface="+mj-ea"/>
                <a:cs typeface="+mj-cs"/>
              </a:rPr>
              <a:t>Un </a:t>
            </a:r>
            <a:r>
              <a:rPr lang="en-US" sz="1300" kern="1200" dirty="0" err="1">
                <a:solidFill>
                  <a:srgbClr val="FFFFFF"/>
                </a:solidFill>
                <a:effectLst/>
                <a:latin typeface="+mj-lt"/>
                <a:ea typeface="+mj-ea"/>
                <a:cs typeface="+mj-cs"/>
              </a:rPr>
              <a:t>groupe</a:t>
            </a:r>
            <a:r>
              <a:rPr lang="en-US" sz="1300" kern="1200" dirty="0">
                <a:solidFill>
                  <a:srgbClr val="FFFFFF"/>
                </a:solidFill>
                <a:effectLst/>
                <a:latin typeface="+mj-lt"/>
                <a:ea typeface="+mj-ea"/>
                <a:cs typeface="+mj-cs"/>
              </a:rPr>
              <a:t> de 7 </a:t>
            </a:r>
            <a:r>
              <a:rPr lang="en-US" sz="1300" kern="1200" dirty="0" err="1">
                <a:solidFill>
                  <a:srgbClr val="FFFFFF"/>
                </a:solidFill>
                <a:effectLst/>
                <a:latin typeface="+mj-lt"/>
                <a:ea typeface="+mj-ea"/>
                <a:cs typeface="+mj-cs"/>
              </a:rPr>
              <a:t>Français</a:t>
            </a:r>
            <a:r>
              <a:rPr lang="en-US" sz="1300" kern="1200" dirty="0">
                <a:solidFill>
                  <a:srgbClr val="FFFFFF"/>
                </a:solidFill>
                <a:effectLst/>
                <a:latin typeface="+mj-lt"/>
                <a:ea typeface="+mj-ea"/>
                <a:cs typeface="+mj-cs"/>
              </a:rPr>
              <a:t>, 3 </a:t>
            </a:r>
            <a:r>
              <a:rPr lang="en-US" sz="1300" kern="1200" dirty="0" err="1">
                <a:solidFill>
                  <a:srgbClr val="FFFFFF"/>
                </a:solidFill>
                <a:effectLst/>
                <a:latin typeface="+mj-lt"/>
                <a:ea typeface="+mj-ea"/>
                <a:cs typeface="+mj-cs"/>
              </a:rPr>
              <a:t>Américains</a:t>
            </a:r>
            <a:r>
              <a:rPr lang="en-US" sz="1300" kern="1200" dirty="0">
                <a:solidFill>
                  <a:srgbClr val="FFFFFF"/>
                </a:solidFill>
                <a:effectLst/>
                <a:latin typeface="+mj-lt"/>
                <a:ea typeface="+mj-ea"/>
                <a:cs typeface="+mj-cs"/>
              </a:rPr>
              <a:t> et 5 Canadiens en </a:t>
            </a:r>
            <a:r>
              <a:rPr lang="en-US" sz="1300" kern="1200" dirty="0" err="1">
                <a:solidFill>
                  <a:srgbClr val="FFFFFF"/>
                </a:solidFill>
                <a:effectLst/>
                <a:latin typeface="+mj-lt"/>
                <a:ea typeface="+mj-ea"/>
                <a:cs typeface="+mj-cs"/>
              </a:rPr>
              <a:t>randonnée</a:t>
            </a:r>
            <a:r>
              <a:rPr lang="en-US" sz="1300" kern="1200" dirty="0">
                <a:solidFill>
                  <a:srgbClr val="FFFFFF"/>
                </a:solidFill>
                <a:effectLst/>
                <a:latin typeface="+mj-lt"/>
                <a:ea typeface="+mj-ea"/>
                <a:cs typeface="+mj-cs"/>
              </a:rPr>
              <a:t> dans le parc de la Gatineau </a:t>
            </a:r>
            <a:r>
              <a:rPr lang="en-US" sz="1300" kern="1200" dirty="0" err="1">
                <a:solidFill>
                  <a:srgbClr val="FFFFFF"/>
                </a:solidFill>
                <a:effectLst/>
                <a:latin typeface="+mj-lt"/>
                <a:ea typeface="+mj-ea"/>
                <a:cs typeface="+mj-cs"/>
              </a:rPr>
              <a:t>veulent</a:t>
            </a:r>
            <a:r>
              <a:rPr lang="en-US" sz="1300" kern="1200" dirty="0">
                <a:solidFill>
                  <a:srgbClr val="FFFFFF"/>
                </a:solidFill>
                <a:effectLst/>
                <a:latin typeface="+mj-lt"/>
                <a:ea typeface="+mj-ea"/>
                <a:cs typeface="+mj-cs"/>
              </a:rPr>
              <a:t> faire une photo de </a:t>
            </a:r>
            <a:r>
              <a:rPr lang="en-US" sz="1300" kern="1200" dirty="0" err="1">
                <a:solidFill>
                  <a:srgbClr val="FFFFFF"/>
                </a:solidFill>
                <a:effectLst/>
                <a:latin typeface="+mj-lt"/>
                <a:ea typeface="+mj-ea"/>
                <a:cs typeface="+mj-cs"/>
              </a:rPr>
              <a:t>groupe</a:t>
            </a:r>
            <a:r>
              <a:rPr lang="en-US" sz="1300" kern="1200" dirty="0">
                <a:solidFill>
                  <a:srgbClr val="FFFFFF"/>
                </a:solidFill>
                <a:effectLst/>
                <a:latin typeface="+mj-lt"/>
                <a:ea typeface="+mj-ea"/>
                <a:cs typeface="+mj-cs"/>
              </a:rPr>
              <a:t> en </a:t>
            </a:r>
            <a:r>
              <a:rPr lang="en-US" sz="1300" kern="1200" dirty="0" err="1">
                <a:solidFill>
                  <a:srgbClr val="FFFFFF"/>
                </a:solidFill>
                <a:effectLst/>
                <a:latin typeface="+mj-lt"/>
                <a:ea typeface="+mj-ea"/>
                <a:cs typeface="+mj-cs"/>
              </a:rPr>
              <a:t>disposant</a:t>
            </a:r>
            <a:r>
              <a:rPr lang="en-US" sz="1300" kern="1200" dirty="0">
                <a:solidFill>
                  <a:srgbClr val="FFFFFF"/>
                </a:solidFill>
                <a:effectLst/>
                <a:latin typeface="+mj-lt"/>
                <a:ea typeface="+mj-ea"/>
                <a:cs typeface="+mj-cs"/>
              </a:rPr>
              <a:t> tout le </a:t>
            </a:r>
            <a:r>
              <a:rPr lang="en-US" sz="1300" kern="1200" dirty="0" err="1">
                <a:solidFill>
                  <a:srgbClr val="FFFFFF"/>
                </a:solidFill>
                <a:effectLst/>
                <a:latin typeface="+mj-lt"/>
                <a:ea typeface="+mj-ea"/>
                <a:cs typeface="+mj-cs"/>
              </a:rPr>
              <a:t>groupe</a:t>
            </a:r>
            <a:r>
              <a:rPr lang="en-US" sz="1300" kern="1200" dirty="0">
                <a:solidFill>
                  <a:srgbClr val="FFFFFF"/>
                </a:solidFill>
                <a:effectLst/>
                <a:latin typeface="+mj-lt"/>
                <a:ea typeface="+mj-ea"/>
                <a:cs typeface="+mj-cs"/>
              </a:rPr>
              <a:t> sur une </a:t>
            </a:r>
            <a:r>
              <a:rPr lang="en-US" sz="1300" kern="1200" dirty="0" err="1">
                <a:solidFill>
                  <a:srgbClr val="FFFFFF"/>
                </a:solidFill>
                <a:effectLst/>
                <a:latin typeface="+mj-lt"/>
                <a:ea typeface="+mj-ea"/>
                <a:cs typeface="+mj-cs"/>
              </a:rPr>
              <a:t>seule</a:t>
            </a:r>
            <a:r>
              <a:rPr lang="en-US" sz="1300" kern="1200" dirty="0">
                <a:solidFill>
                  <a:srgbClr val="FFFFFF"/>
                </a:solidFill>
                <a:effectLst/>
                <a:latin typeface="+mj-lt"/>
                <a:ea typeface="+mj-ea"/>
                <a:cs typeface="+mj-cs"/>
              </a:rPr>
              <a:t> </a:t>
            </a:r>
            <a:r>
              <a:rPr lang="en-US" sz="1300" kern="1200" dirty="0" err="1">
                <a:solidFill>
                  <a:srgbClr val="FFFFFF"/>
                </a:solidFill>
                <a:effectLst/>
                <a:latin typeface="+mj-lt"/>
                <a:ea typeface="+mj-ea"/>
                <a:cs typeface="+mj-cs"/>
              </a:rPr>
              <a:t>rangée</a:t>
            </a:r>
            <a:r>
              <a:rPr lang="en-US" sz="1300" kern="1200" dirty="0">
                <a:solidFill>
                  <a:srgbClr val="FFFFFF"/>
                </a:solidFill>
                <a:effectLst/>
                <a:latin typeface="+mj-lt"/>
                <a:ea typeface="+mj-ea"/>
                <a:cs typeface="+mj-cs"/>
              </a:rPr>
              <a:t>.</a:t>
            </a:r>
            <a:br>
              <a:rPr lang="en-US" sz="1300" kern="1200" dirty="0">
                <a:solidFill>
                  <a:srgbClr val="FFFFFF"/>
                </a:solidFill>
                <a:effectLst/>
                <a:latin typeface="+mj-lt"/>
                <a:ea typeface="+mj-ea"/>
                <a:cs typeface="+mj-cs"/>
              </a:rPr>
            </a:br>
            <a:r>
              <a:rPr lang="en-US" sz="1300" kern="1200" dirty="0">
                <a:solidFill>
                  <a:srgbClr val="FFFFFF"/>
                </a:solidFill>
                <a:effectLst/>
                <a:latin typeface="+mj-lt"/>
                <a:ea typeface="+mj-ea"/>
                <a:cs typeface="+mj-cs"/>
              </a:rPr>
              <a:t>a)	De combien de façons </a:t>
            </a:r>
            <a:r>
              <a:rPr lang="en-US" sz="1300" kern="1200" dirty="0" err="1">
                <a:solidFill>
                  <a:srgbClr val="FFFFFF"/>
                </a:solidFill>
                <a:effectLst/>
                <a:latin typeface="+mj-lt"/>
                <a:ea typeface="+mj-ea"/>
                <a:cs typeface="+mj-cs"/>
              </a:rPr>
              <a:t>peuvent-ils</a:t>
            </a:r>
            <a:r>
              <a:rPr lang="en-US" sz="1300" kern="1200" dirty="0">
                <a:solidFill>
                  <a:srgbClr val="FFFFFF"/>
                </a:solidFill>
                <a:effectLst/>
                <a:latin typeface="+mj-lt"/>
                <a:ea typeface="+mj-ea"/>
                <a:cs typeface="+mj-cs"/>
              </a:rPr>
              <a:t> </a:t>
            </a:r>
            <a:r>
              <a:rPr lang="en-US" sz="1300" kern="1200" dirty="0" err="1">
                <a:solidFill>
                  <a:srgbClr val="FFFFFF"/>
                </a:solidFill>
                <a:effectLst/>
                <a:latin typeface="+mj-lt"/>
                <a:ea typeface="+mj-ea"/>
                <a:cs typeface="+mj-cs"/>
              </a:rPr>
              <a:t>s’y</a:t>
            </a:r>
            <a:r>
              <a:rPr lang="en-US" sz="1300" kern="1200" dirty="0">
                <a:solidFill>
                  <a:srgbClr val="FFFFFF"/>
                </a:solidFill>
                <a:effectLst/>
                <a:latin typeface="+mj-lt"/>
                <a:ea typeface="+mj-ea"/>
                <a:cs typeface="+mj-cs"/>
              </a:rPr>
              <a:t> prendre </a:t>
            </a:r>
            <a:r>
              <a:rPr lang="en-US" sz="1300" kern="1200" dirty="0" err="1">
                <a:solidFill>
                  <a:srgbClr val="FFFFFF"/>
                </a:solidFill>
                <a:effectLst/>
                <a:latin typeface="+mj-lt"/>
                <a:ea typeface="+mj-ea"/>
                <a:cs typeface="+mj-cs"/>
              </a:rPr>
              <a:t>s’ils</a:t>
            </a:r>
            <a:r>
              <a:rPr lang="en-US" sz="1300" kern="1200" dirty="0">
                <a:solidFill>
                  <a:srgbClr val="FFFFFF"/>
                </a:solidFill>
                <a:effectLst/>
                <a:latin typeface="+mj-lt"/>
                <a:ea typeface="+mj-ea"/>
                <a:cs typeface="+mj-cs"/>
              </a:rPr>
              <a:t> ne font aucune distinction de </a:t>
            </a:r>
            <a:r>
              <a:rPr lang="en-US" sz="1300" kern="1200" dirty="0" err="1">
                <a:solidFill>
                  <a:srgbClr val="FFFFFF"/>
                </a:solidFill>
                <a:effectLst/>
                <a:latin typeface="+mj-lt"/>
                <a:ea typeface="+mj-ea"/>
                <a:cs typeface="+mj-cs"/>
              </a:rPr>
              <a:t>nationalité</a:t>
            </a:r>
            <a:r>
              <a:rPr lang="en-US" sz="1300" kern="1200" dirty="0">
                <a:solidFill>
                  <a:srgbClr val="FFFFFF"/>
                </a:solidFill>
                <a:effectLst/>
                <a:latin typeface="+mj-lt"/>
                <a:ea typeface="+mj-ea"/>
                <a:cs typeface="+mj-cs"/>
              </a:rPr>
              <a:t> ?</a:t>
            </a:r>
            <a:br>
              <a:rPr lang="en-US" sz="1300" kern="1200" dirty="0">
                <a:solidFill>
                  <a:srgbClr val="FFFFFF"/>
                </a:solidFill>
                <a:effectLst/>
                <a:latin typeface="+mj-lt"/>
                <a:ea typeface="+mj-ea"/>
                <a:cs typeface="+mj-cs"/>
              </a:rPr>
            </a:br>
            <a:r>
              <a:rPr lang="en-US" sz="1300" kern="1200" dirty="0">
                <a:solidFill>
                  <a:srgbClr val="FFFFFF"/>
                </a:solidFill>
                <a:effectLst/>
                <a:latin typeface="+mj-lt"/>
                <a:ea typeface="+mj-ea"/>
                <a:cs typeface="+mj-cs"/>
              </a:rPr>
              <a:t>b)	De combien de façons </a:t>
            </a:r>
            <a:r>
              <a:rPr lang="en-US" sz="1300" kern="1200" dirty="0" err="1">
                <a:solidFill>
                  <a:srgbClr val="FFFFFF"/>
                </a:solidFill>
                <a:effectLst/>
                <a:latin typeface="+mj-lt"/>
                <a:ea typeface="+mj-ea"/>
                <a:cs typeface="+mj-cs"/>
              </a:rPr>
              <a:t>peuvent-ils</a:t>
            </a:r>
            <a:r>
              <a:rPr lang="en-US" sz="1300" kern="1200" dirty="0">
                <a:solidFill>
                  <a:srgbClr val="FFFFFF"/>
                </a:solidFill>
                <a:effectLst/>
                <a:latin typeface="+mj-lt"/>
                <a:ea typeface="+mj-ea"/>
                <a:cs typeface="+mj-cs"/>
              </a:rPr>
              <a:t> </a:t>
            </a:r>
            <a:r>
              <a:rPr lang="en-US" sz="1300" kern="1200" dirty="0" err="1">
                <a:solidFill>
                  <a:srgbClr val="FFFFFF"/>
                </a:solidFill>
                <a:effectLst/>
                <a:latin typeface="+mj-lt"/>
                <a:ea typeface="+mj-ea"/>
                <a:cs typeface="+mj-cs"/>
              </a:rPr>
              <a:t>s’y</a:t>
            </a:r>
            <a:r>
              <a:rPr lang="en-US" sz="1300" kern="1200" dirty="0">
                <a:solidFill>
                  <a:srgbClr val="FFFFFF"/>
                </a:solidFill>
                <a:effectLst/>
                <a:latin typeface="+mj-lt"/>
                <a:ea typeface="+mj-ea"/>
                <a:cs typeface="+mj-cs"/>
              </a:rPr>
              <a:t> prendre </a:t>
            </a:r>
            <a:r>
              <a:rPr lang="en-US" sz="1300" kern="1200" dirty="0" err="1">
                <a:solidFill>
                  <a:srgbClr val="FFFFFF"/>
                </a:solidFill>
                <a:effectLst/>
                <a:latin typeface="+mj-lt"/>
                <a:ea typeface="+mj-ea"/>
                <a:cs typeface="+mj-cs"/>
              </a:rPr>
              <a:t>s’ils</a:t>
            </a:r>
            <a:r>
              <a:rPr lang="en-US" sz="1300" kern="1200" dirty="0">
                <a:solidFill>
                  <a:srgbClr val="FFFFFF"/>
                </a:solidFill>
                <a:effectLst/>
                <a:latin typeface="+mj-lt"/>
                <a:ea typeface="+mj-ea"/>
                <a:cs typeface="+mj-cs"/>
              </a:rPr>
              <a:t> </a:t>
            </a:r>
            <a:r>
              <a:rPr lang="en-US" sz="1300" kern="1200" dirty="0" err="1">
                <a:solidFill>
                  <a:srgbClr val="FFFFFF"/>
                </a:solidFill>
                <a:effectLst/>
                <a:latin typeface="+mj-lt"/>
                <a:ea typeface="+mj-ea"/>
                <a:cs typeface="+mj-cs"/>
              </a:rPr>
              <a:t>veulent</a:t>
            </a:r>
            <a:r>
              <a:rPr lang="en-US" sz="1300" kern="1200" dirty="0">
                <a:solidFill>
                  <a:srgbClr val="FFFFFF"/>
                </a:solidFill>
                <a:effectLst/>
                <a:latin typeface="+mj-lt"/>
                <a:ea typeface="+mj-ea"/>
                <a:cs typeface="+mj-cs"/>
              </a:rPr>
              <a:t> placer </a:t>
            </a:r>
            <a:r>
              <a:rPr lang="en-US" sz="1300" kern="1200" dirty="0" err="1">
                <a:solidFill>
                  <a:srgbClr val="FFFFFF"/>
                </a:solidFill>
                <a:effectLst/>
                <a:latin typeface="+mj-lt"/>
                <a:ea typeface="+mj-ea"/>
                <a:cs typeface="+mj-cs"/>
              </a:rPr>
              <a:t>côte</a:t>
            </a:r>
            <a:r>
              <a:rPr lang="en-US" sz="1300" kern="1200" dirty="0">
                <a:solidFill>
                  <a:srgbClr val="FFFFFF"/>
                </a:solidFill>
                <a:effectLst/>
                <a:latin typeface="+mj-lt"/>
                <a:ea typeface="+mj-ea"/>
                <a:cs typeface="+mj-cs"/>
              </a:rPr>
              <a:t> à </a:t>
            </a:r>
            <a:r>
              <a:rPr lang="en-US" sz="1300" kern="1200" dirty="0" err="1">
                <a:solidFill>
                  <a:srgbClr val="FFFFFF"/>
                </a:solidFill>
                <a:effectLst/>
                <a:latin typeface="+mj-lt"/>
                <a:ea typeface="+mj-ea"/>
                <a:cs typeface="+mj-cs"/>
              </a:rPr>
              <a:t>côte</a:t>
            </a:r>
            <a:r>
              <a:rPr lang="en-US" sz="1300" kern="1200" dirty="0">
                <a:solidFill>
                  <a:srgbClr val="FFFFFF"/>
                </a:solidFill>
                <a:effectLst/>
                <a:latin typeface="+mj-lt"/>
                <a:ea typeface="+mj-ea"/>
                <a:cs typeface="+mj-cs"/>
              </a:rPr>
              <a:t> les participants de même </a:t>
            </a:r>
            <a:r>
              <a:rPr lang="en-US" sz="1300" kern="1200" dirty="0" err="1">
                <a:solidFill>
                  <a:srgbClr val="FFFFFF"/>
                </a:solidFill>
                <a:effectLst/>
                <a:latin typeface="+mj-lt"/>
                <a:ea typeface="+mj-ea"/>
                <a:cs typeface="+mj-cs"/>
              </a:rPr>
              <a:t>nationalité</a:t>
            </a:r>
            <a:r>
              <a:rPr lang="en-US" sz="1300" kern="1200" dirty="0">
                <a:solidFill>
                  <a:srgbClr val="FFFFFF"/>
                </a:solidFill>
                <a:effectLst/>
                <a:latin typeface="+mj-lt"/>
                <a:ea typeface="+mj-ea"/>
                <a:cs typeface="+mj-cs"/>
              </a:rPr>
              <a:t> ?</a:t>
            </a:r>
            <a:br>
              <a:rPr lang="en-US" sz="1300" kern="1200" dirty="0">
                <a:solidFill>
                  <a:srgbClr val="FFFFFF"/>
                </a:solidFill>
                <a:effectLst/>
                <a:latin typeface="+mj-lt"/>
                <a:ea typeface="+mj-ea"/>
                <a:cs typeface="+mj-cs"/>
              </a:rPr>
            </a:br>
            <a:r>
              <a:rPr lang="en-US" sz="1300" kern="1200" dirty="0">
                <a:solidFill>
                  <a:srgbClr val="FFFFFF"/>
                </a:solidFill>
                <a:effectLst/>
                <a:latin typeface="+mj-lt"/>
                <a:ea typeface="+mj-ea"/>
                <a:cs typeface="+mj-cs"/>
              </a:rPr>
              <a:t>c)	Quelle est la </a:t>
            </a:r>
            <a:r>
              <a:rPr lang="en-US" sz="1300" kern="1200" dirty="0" err="1">
                <a:solidFill>
                  <a:srgbClr val="FFFFFF"/>
                </a:solidFill>
                <a:effectLst/>
                <a:latin typeface="+mj-lt"/>
                <a:ea typeface="+mj-ea"/>
                <a:cs typeface="+mj-cs"/>
              </a:rPr>
              <a:t>probabilité</a:t>
            </a:r>
            <a:r>
              <a:rPr lang="en-US" sz="1300" kern="1200" dirty="0">
                <a:solidFill>
                  <a:srgbClr val="FFFFFF"/>
                </a:solidFill>
                <a:effectLst/>
                <a:latin typeface="+mj-lt"/>
                <a:ea typeface="+mj-ea"/>
                <a:cs typeface="+mj-cs"/>
              </a:rPr>
              <a:t> que la situation </a:t>
            </a:r>
            <a:r>
              <a:rPr lang="en-US" sz="1300" kern="1200" dirty="0" err="1">
                <a:solidFill>
                  <a:srgbClr val="FFFFFF"/>
                </a:solidFill>
                <a:effectLst/>
                <a:latin typeface="+mj-lt"/>
                <a:ea typeface="+mj-ea"/>
                <a:cs typeface="+mj-cs"/>
              </a:rPr>
              <a:t>décrite</a:t>
            </a:r>
            <a:r>
              <a:rPr lang="en-US" sz="1300" kern="1200" dirty="0">
                <a:solidFill>
                  <a:srgbClr val="FFFFFF"/>
                </a:solidFill>
                <a:effectLst/>
                <a:latin typeface="+mj-lt"/>
                <a:ea typeface="+mj-ea"/>
                <a:cs typeface="+mj-cs"/>
              </a:rPr>
              <a:t> en b) se </a:t>
            </a:r>
            <a:r>
              <a:rPr lang="en-US" sz="1300" kern="1200" dirty="0" err="1">
                <a:solidFill>
                  <a:srgbClr val="FFFFFF"/>
                </a:solidFill>
                <a:effectLst/>
                <a:latin typeface="+mj-lt"/>
                <a:ea typeface="+mj-ea"/>
                <a:cs typeface="+mj-cs"/>
              </a:rPr>
              <a:t>réalise</a:t>
            </a:r>
            <a:r>
              <a:rPr lang="en-US" sz="1300" kern="1200" dirty="0">
                <a:solidFill>
                  <a:srgbClr val="FFFFFF"/>
                </a:solidFill>
                <a:effectLst/>
                <a:latin typeface="+mj-lt"/>
                <a:ea typeface="+mj-ea"/>
                <a:cs typeface="+mj-cs"/>
              </a:rPr>
              <a:t> </a:t>
            </a:r>
            <a:r>
              <a:rPr lang="en-US" sz="1300" kern="1200" dirty="0" err="1">
                <a:solidFill>
                  <a:srgbClr val="FFFFFF"/>
                </a:solidFill>
                <a:effectLst/>
                <a:latin typeface="+mj-lt"/>
                <a:ea typeface="+mj-ea"/>
                <a:cs typeface="+mj-cs"/>
              </a:rPr>
              <a:t>si</a:t>
            </a:r>
            <a:r>
              <a:rPr lang="en-US" sz="1300" kern="1200" dirty="0">
                <a:solidFill>
                  <a:srgbClr val="FFFFFF"/>
                </a:solidFill>
                <a:effectLst/>
                <a:latin typeface="+mj-lt"/>
                <a:ea typeface="+mj-ea"/>
                <a:cs typeface="+mj-cs"/>
              </a:rPr>
              <a:t> on laisse la </a:t>
            </a:r>
            <a:r>
              <a:rPr lang="en-US" sz="1300" kern="1200" dirty="0" err="1">
                <a:solidFill>
                  <a:srgbClr val="FFFFFF"/>
                </a:solidFill>
                <a:effectLst/>
                <a:latin typeface="+mj-lt"/>
                <a:ea typeface="+mj-ea"/>
                <a:cs typeface="+mj-cs"/>
              </a:rPr>
              <a:t>rangée</a:t>
            </a:r>
            <a:r>
              <a:rPr lang="en-US" sz="1300" kern="1200" dirty="0">
                <a:solidFill>
                  <a:srgbClr val="FFFFFF"/>
                </a:solidFill>
                <a:effectLst/>
                <a:latin typeface="+mj-lt"/>
                <a:ea typeface="+mj-ea"/>
                <a:cs typeface="+mj-cs"/>
              </a:rPr>
              <a:t> se former au </a:t>
            </a:r>
            <a:r>
              <a:rPr lang="en-US" sz="1300" kern="1200" dirty="0" err="1">
                <a:solidFill>
                  <a:srgbClr val="FFFFFF"/>
                </a:solidFill>
                <a:effectLst/>
                <a:latin typeface="+mj-lt"/>
                <a:ea typeface="+mj-ea"/>
                <a:cs typeface="+mj-cs"/>
              </a:rPr>
              <a:t>hasard</a:t>
            </a:r>
            <a:r>
              <a:rPr lang="en-US" sz="1300" kern="1200" dirty="0">
                <a:solidFill>
                  <a:srgbClr val="FFFFFF"/>
                </a:solidFill>
                <a:effectLst/>
                <a:latin typeface="+mj-lt"/>
                <a:ea typeface="+mj-ea"/>
                <a:cs typeface="+mj-cs"/>
              </a:rPr>
              <a:t> ?</a:t>
            </a:r>
            <a:br>
              <a:rPr lang="en-US" sz="1300" kern="1200" dirty="0">
                <a:solidFill>
                  <a:srgbClr val="FFFFFF"/>
                </a:solidFill>
                <a:effectLst/>
                <a:latin typeface="+mj-lt"/>
                <a:ea typeface="+mj-ea"/>
                <a:cs typeface="+mj-cs"/>
              </a:rPr>
            </a:br>
            <a:r>
              <a:rPr lang="en-US" sz="1300" kern="1200" dirty="0">
                <a:solidFill>
                  <a:srgbClr val="FFFFFF"/>
                </a:solidFill>
                <a:effectLst/>
                <a:latin typeface="+mj-lt"/>
                <a:ea typeface="+mj-ea"/>
                <a:cs typeface="+mj-cs"/>
              </a:rPr>
              <a:t>d) Quelle est la </a:t>
            </a:r>
            <a:r>
              <a:rPr lang="en-US" sz="1300" kern="1200" dirty="0" err="1">
                <a:solidFill>
                  <a:srgbClr val="FFFFFF"/>
                </a:solidFill>
                <a:effectLst/>
                <a:latin typeface="+mj-lt"/>
                <a:ea typeface="+mj-ea"/>
                <a:cs typeface="+mj-cs"/>
              </a:rPr>
              <a:t>probabilité</a:t>
            </a:r>
            <a:r>
              <a:rPr lang="en-US" sz="1300" kern="1200" dirty="0">
                <a:solidFill>
                  <a:srgbClr val="FFFFFF"/>
                </a:solidFill>
                <a:effectLst/>
                <a:latin typeface="+mj-lt"/>
                <a:ea typeface="+mj-ea"/>
                <a:cs typeface="+mj-cs"/>
              </a:rPr>
              <a:t> que les 5 Canadiens ne se </a:t>
            </a:r>
            <a:r>
              <a:rPr lang="en-US" sz="1300" kern="1200" dirty="0" err="1">
                <a:solidFill>
                  <a:srgbClr val="FFFFFF"/>
                </a:solidFill>
                <a:effectLst/>
                <a:latin typeface="+mj-lt"/>
                <a:ea typeface="+mj-ea"/>
                <a:cs typeface="+mj-cs"/>
              </a:rPr>
              <a:t>retrouvent</a:t>
            </a:r>
            <a:r>
              <a:rPr lang="en-US" sz="1300" kern="1200" dirty="0">
                <a:solidFill>
                  <a:srgbClr val="FFFFFF"/>
                </a:solidFill>
                <a:effectLst/>
                <a:latin typeface="+mj-lt"/>
                <a:ea typeface="+mj-ea"/>
                <a:cs typeface="+mj-cs"/>
              </a:rPr>
              <a:t> pas </a:t>
            </a:r>
            <a:r>
              <a:rPr lang="en-US" sz="1300" kern="1200" dirty="0" err="1">
                <a:solidFill>
                  <a:srgbClr val="FFFFFF"/>
                </a:solidFill>
                <a:effectLst/>
                <a:latin typeface="+mj-lt"/>
                <a:ea typeface="+mj-ea"/>
                <a:cs typeface="+mj-cs"/>
              </a:rPr>
              <a:t>côte</a:t>
            </a:r>
            <a:r>
              <a:rPr lang="en-US" sz="1300" kern="1200" dirty="0">
                <a:solidFill>
                  <a:srgbClr val="FFFFFF"/>
                </a:solidFill>
                <a:effectLst/>
                <a:latin typeface="+mj-lt"/>
                <a:ea typeface="+mj-ea"/>
                <a:cs typeface="+mj-cs"/>
              </a:rPr>
              <a:t> à </a:t>
            </a:r>
            <a:r>
              <a:rPr lang="en-US" sz="1300" kern="1200" dirty="0" err="1">
                <a:solidFill>
                  <a:srgbClr val="FFFFFF"/>
                </a:solidFill>
                <a:effectLst/>
                <a:latin typeface="+mj-lt"/>
                <a:ea typeface="+mj-ea"/>
                <a:cs typeface="+mj-cs"/>
              </a:rPr>
              <a:t>côte</a:t>
            </a:r>
            <a:r>
              <a:rPr lang="en-US" sz="1300" kern="1200" dirty="0">
                <a:solidFill>
                  <a:srgbClr val="FFFFFF"/>
                </a:solidFill>
                <a:effectLst/>
                <a:latin typeface="+mj-lt"/>
                <a:ea typeface="+mj-ea"/>
                <a:cs typeface="+mj-cs"/>
              </a:rPr>
              <a:t> </a:t>
            </a:r>
            <a:r>
              <a:rPr lang="en-US" sz="1300" kern="1200" dirty="0" err="1">
                <a:solidFill>
                  <a:srgbClr val="FFFFFF"/>
                </a:solidFill>
                <a:effectLst/>
                <a:latin typeface="+mj-lt"/>
                <a:ea typeface="+mj-ea"/>
                <a:cs typeface="+mj-cs"/>
              </a:rPr>
              <a:t>si</a:t>
            </a:r>
            <a:r>
              <a:rPr lang="en-US" sz="1300" kern="1200" dirty="0">
                <a:solidFill>
                  <a:srgbClr val="FFFFFF"/>
                </a:solidFill>
                <a:effectLst/>
                <a:latin typeface="+mj-lt"/>
                <a:ea typeface="+mj-ea"/>
                <a:cs typeface="+mj-cs"/>
              </a:rPr>
              <a:t> on laisse la </a:t>
            </a:r>
            <a:r>
              <a:rPr lang="en-US" sz="1300" kern="1200" dirty="0" err="1">
                <a:solidFill>
                  <a:srgbClr val="FFFFFF"/>
                </a:solidFill>
                <a:effectLst/>
                <a:latin typeface="+mj-lt"/>
                <a:ea typeface="+mj-ea"/>
                <a:cs typeface="+mj-cs"/>
              </a:rPr>
              <a:t>rangée</a:t>
            </a:r>
            <a:r>
              <a:rPr lang="en-US" sz="1300" kern="1200" dirty="0">
                <a:solidFill>
                  <a:srgbClr val="FFFFFF"/>
                </a:solidFill>
                <a:effectLst/>
                <a:latin typeface="+mj-lt"/>
                <a:ea typeface="+mj-ea"/>
                <a:cs typeface="+mj-cs"/>
              </a:rPr>
              <a:t> se former au </a:t>
            </a:r>
            <a:r>
              <a:rPr lang="en-US" sz="1300" kern="1200" dirty="0" err="1">
                <a:solidFill>
                  <a:srgbClr val="FFFFFF"/>
                </a:solidFill>
                <a:effectLst/>
                <a:latin typeface="+mj-lt"/>
                <a:ea typeface="+mj-ea"/>
                <a:cs typeface="+mj-cs"/>
              </a:rPr>
              <a:t>hasard</a:t>
            </a:r>
            <a:r>
              <a:rPr lang="en-US" sz="1300" kern="1200" dirty="0">
                <a:solidFill>
                  <a:srgbClr val="FFFFFF"/>
                </a:solidFill>
                <a:effectLst/>
                <a:latin typeface="+mj-lt"/>
                <a:ea typeface="+mj-ea"/>
                <a:cs typeface="+mj-cs"/>
              </a:rPr>
              <a:t> ?</a:t>
            </a:r>
            <a:br>
              <a:rPr lang="en-US" sz="1300" kern="1200" dirty="0">
                <a:solidFill>
                  <a:srgbClr val="FFFFFF"/>
                </a:solidFill>
                <a:effectLst/>
                <a:latin typeface="+mj-lt"/>
                <a:ea typeface="+mj-ea"/>
                <a:cs typeface="+mj-cs"/>
              </a:rPr>
            </a:br>
            <a:endParaRPr lang="en-US" sz="1300" kern="1200" dirty="0">
              <a:solidFill>
                <a:srgbClr val="FFFFFF"/>
              </a:solidFill>
              <a:latin typeface="+mj-lt"/>
              <a:ea typeface="+mj-ea"/>
              <a:cs typeface="+mj-cs"/>
            </a:endParaRPr>
          </a:p>
        </p:txBody>
      </p:sp>
      <p:sp>
        <p:nvSpPr>
          <p:cNvPr id="18"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ZoneTexte 4">
            <a:extLst>
              <a:ext uri="{FF2B5EF4-FFF2-40B4-BE49-F238E27FC236}">
                <a16:creationId xmlns:a16="http://schemas.microsoft.com/office/drawing/2014/main" id="{3A0BC6A5-9B7F-49E0-B5D8-2787A3987BFF}"/>
              </a:ext>
            </a:extLst>
          </p:cNvPr>
          <p:cNvSpPr txBox="1"/>
          <p:nvPr/>
        </p:nvSpPr>
        <p:spPr>
          <a:xfrm>
            <a:off x="5221862" y="1719618"/>
            <a:ext cx="5948831" cy="4334629"/>
          </a:xfrm>
          <a:prstGeom prst="rect">
            <a:avLst/>
          </a:prstGeo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r>
              <a:rPr lang="en-US" sz="2000" dirty="0">
                <a:solidFill>
                  <a:srgbClr val="FEFFFF"/>
                </a:solidFill>
              </a:rPr>
              <a:t>Réponse: </a:t>
            </a:r>
          </a:p>
          <a:p>
            <a:pPr indent="-228600" defTabSz="914400">
              <a:lnSpc>
                <a:spcPct val="90000"/>
              </a:lnSpc>
              <a:buFont typeface="Arial" panose="020B0604020202020204" pitchFamily="34" charset="0"/>
              <a:buChar char="•"/>
            </a:pPr>
            <a:r>
              <a:rPr lang="en-US" sz="2000" dirty="0">
                <a:solidFill>
                  <a:srgbClr val="FEFFFF"/>
                </a:solidFill>
              </a:rPr>
              <a:t>a) </a:t>
            </a:r>
            <a:r>
              <a:rPr lang="en-US" sz="2000" dirty="0" err="1">
                <a:solidFill>
                  <a:srgbClr val="FEFFFF"/>
                </a:solidFill>
                <a:effectLst/>
              </a:rPr>
              <a:t>Ici</a:t>
            </a:r>
            <a:r>
              <a:rPr lang="en-US" sz="2000" dirty="0">
                <a:solidFill>
                  <a:srgbClr val="FEFFFF"/>
                </a:solidFill>
                <a:effectLst/>
              </a:rPr>
              <a:t>, </a:t>
            </a:r>
            <a:r>
              <a:rPr lang="en-US" sz="2000" dirty="0" err="1">
                <a:solidFill>
                  <a:srgbClr val="FEFFFF"/>
                </a:solidFill>
                <a:effectLst/>
              </a:rPr>
              <a:t>il</a:t>
            </a:r>
            <a:r>
              <a:rPr lang="en-US" sz="2000" dirty="0">
                <a:solidFill>
                  <a:srgbClr val="FEFFFF"/>
                </a:solidFill>
                <a:effectLst/>
              </a:rPr>
              <a:t> y a </a:t>
            </a:r>
            <a:r>
              <a:rPr lang="en-US" sz="2000" dirty="0" err="1">
                <a:solidFill>
                  <a:srgbClr val="FEFFFF"/>
                </a:solidFill>
                <a:effectLst/>
              </a:rPr>
              <a:t>seulement</a:t>
            </a:r>
            <a:r>
              <a:rPr lang="en-US" sz="2000" dirty="0">
                <a:solidFill>
                  <a:srgbClr val="FEFFFF"/>
                </a:solidFill>
                <a:effectLst/>
              </a:rPr>
              <a:t> 15 </a:t>
            </a:r>
            <a:r>
              <a:rPr lang="en-US" sz="2000" dirty="0" err="1">
                <a:solidFill>
                  <a:srgbClr val="FEFFFF"/>
                </a:solidFill>
                <a:effectLst/>
              </a:rPr>
              <a:t>personnes</a:t>
            </a:r>
            <a:r>
              <a:rPr lang="en-US" sz="2000" dirty="0">
                <a:solidFill>
                  <a:srgbClr val="FEFFFF"/>
                </a:solidFill>
                <a:effectLst/>
              </a:rPr>
              <a:t> à </a:t>
            </a:r>
            <a:r>
              <a:rPr lang="en-US" sz="2000" dirty="0" err="1">
                <a:solidFill>
                  <a:srgbClr val="FEFFFF"/>
                </a:solidFill>
                <a:effectLst/>
              </a:rPr>
              <a:t>permuter</a:t>
            </a:r>
            <a:r>
              <a:rPr lang="en-US" sz="2000" dirty="0">
                <a:solidFill>
                  <a:srgbClr val="FEFFFF"/>
                </a:solidFill>
                <a:effectLst/>
              </a:rPr>
              <a:t>, </a:t>
            </a:r>
            <a:r>
              <a:rPr lang="en-US" sz="2000" dirty="0" err="1">
                <a:solidFill>
                  <a:srgbClr val="FEFFFF"/>
                </a:solidFill>
                <a:effectLst/>
              </a:rPr>
              <a:t>ce</a:t>
            </a:r>
            <a:r>
              <a:rPr lang="en-US" sz="2000" dirty="0">
                <a:solidFill>
                  <a:srgbClr val="FEFFFF"/>
                </a:solidFill>
                <a:effectLst/>
              </a:rPr>
              <a:t> qui </a:t>
            </a:r>
            <a:r>
              <a:rPr lang="en-US" sz="2000" dirty="0" err="1">
                <a:solidFill>
                  <a:srgbClr val="FEFFFF"/>
                </a:solidFill>
                <a:effectLst/>
              </a:rPr>
              <a:t>donne</a:t>
            </a:r>
            <a:r>
              <a:rPr lang="en-US" sz="2000" dirty="0">
                <a:solidFill>
                  <a:srgbClr val="FEFFFF"/>
                </a:solidFill>
                <a:effectLst/>
              </a:rPr>
              <a:t> 15 ! = 1 307 674 368 000 façons </a:t>
            </a:r>
            <a:r>
              <a:rPr lang="en-US" sz="2000" dirty="0" err="1">
                <a:solidFill>
                  <a:srgbClr val="FEFFFF"/>
                </a:solidFill>
                <a:effectLst/>
              </a:rPr>
              <a:t>différentes</a:t>
            </a:r>
            <a:r>
              <a:rPr lang="en-US" sz="2000" dirty="0">
                <a:solidFill>
                  <a:srgbClr val="FEFFFF"/>
                </a:solidFill>
                <a:effectLst/>
              </a:rPr>
              <a:t>.</a:t>
            </a:r>
          </a:p>
          <a:p>
            <a:pPr marL="228600" indent="-228600" defTabSz="914400">
              <a:lnSpc>
                <a:spcPct val="90000"/>
              </a:lnSpc>
              <a:spcAft>
                <a:spcPts val="800"/>
              </a:spcAft>
              <a:buFont typeface="Arial" panose="020B0604020202020204" pitchFamily="34" charset="0"/>
              <a:buChar char="•"/>
            </a:pPr>
            <a:r>
              <a:rPr lang="en-US" sz="2000" dirty="0">
                <a:solidFill>
                  <a:srgbClr val="FEFFFF"/>
                </a:solidFill>
              </a:rPr>
              <a:t>b) </a:t>
            </a:r>
            <a:r>
              <a:rPr lang="en-US" sz="2000" dirty="0">
                <a:solidFill>
                  <a:srgbClr val="FEFFFF"/>
                </a:solidFill>
                <a:effectLst/>
              </a:rPr>
              <a:t>Il faut </a:t>
            </a:r>
            <a:r>
              <a:rPr lang="en-US" sz="2000" dirty="0" err="1">
                <a:solidFill>
                  <a:srgbClr val="FEFFFF"/>
                </a:solidFill>
                <a:effectLst/>
              </a:rPr>
              <a:t>permuter</a:t>
            </a:r>
            <a:r>
              <a:rPr lang="en-US" sz="2000" dirty="0">
                <a:solidFill>
                  <a:srgbClr val="FEFFFF"/>
                </a:solidFill>
                <a:effectLst/>
              </a:rPr>
              <a:t> les 7 </a:t>
            </a:r>
            <a:r>
              <a:rPr lang="en-US" sz="2000" dirty="0" err="1">
                <a:solidFill>
                  <a:srgbClr val="FEFFFF"/>
                </a:solidFill>
                <a:effectLst/>
              </a:rPr>
              <a:t>Français</a:t>
            </a:r>
            <a:r>
              <a:rPr lang="en-US" sz="2000" dirty="0">
                <a:solidFill>
                  <a:srgbClr val="FEFFFF"/>
                </a:solidFill>
                <a:effectLst/>
              </a:rPr>
              <a:t>, </a:t>
            </a:r>
            <a:r>
              <a:rPr lang="en-US" sz="2000" dirty="0" err="1">
                <a:solidFill>
                  <a:srgbClr val="FEFFFF"/>
                </a:solidFill>
                <a:effectLst/>
              </a:rPr>
              <a:t>ce</a:t>
            </a:r>
            <a:r>
              <a:rPr lang="en-US" sz="2000" dirty="0">
                <a:solidFill>
                  <a:srgbClr val="FEFFFF"/>
                </a:solidFill>
                <a:effectLst/>
              </a:rPr>
              <a:t> qui </a:t>
            </a:r>
            <a:r>
              <a:rPr lang="en-US" sz="2000" dirty="0" err="1">
                <a:solidFill>
                  <a:srgbClr val="FEFFFF"/>
                </a:solidFill>
                <a:effectLst/>
              </a:rPr>
              <a:t>donne</a:t>
            </a:r>
            <a:r>
              <a:rPr lang="en-US" sz="2000" dirty="0">
                <a:solidFill>
                  <a:srgbClr val="FEFFFF"/>
                </a:solidFill>
                <a:effectLst/>
              </a:rPr>
              <a:t> 7 ! façons </a:t>
            </a:r>
            <a:r>
              <a:rPr lang="en-US" sz="2000" dirty="0" err="1">
                <a:solidFill>
                  <a:srgbClr val="FEFFFF"/>
                </a:solidFill>
                <a:effectLst/>
              </a:rPr>
              <a:t>possibles</a:t>
            </a:r>
            <a:r>
              <a:rPr lang="en-US" sz="2000" dirty="0">
                <a:solidFill>
                  <a:srgbClr val="FEFFFF"/>
                </a:solidFill>
                <a:effectLst/>
              </a:rPr>
              <a:t>.</a:t>
            </a:r>
          </a:p>
          <a:p>
            <a:pPr marL="228600" indent="-228600" defTabSz="914400">
              <a:lnSpc>
                <a:spcPct val="90000"/>
              </a:lnSpc>
              <a:spcAft>
                <a:spcPts val="800"/>
              </a:spcAft>
              <a:buFont typeface="Arial" panose="020B0604020202020204" pitchFamily="34" charset="0"/>
              <a:buChar char="•"/>
            </a:pPr>
            <a:r>
              <a:rPr lang="en-US" sz="2000" dirty="0">
                <a:solidFill>
                  <a:srgbClr val="FEFFFF"/>
                </a:solidFill>
                <a:effectLst/>
              </a:rPr>
              <a:t>Il faut </a:t>
            </a:r>
            <a:r>
              <a:rPr lang="en-US" sz="2000" dirty="0" err="1">
                <a:solidFill>
                  <a:srgbClr val="FEFFFF"/>
                </a:solidFill>
                <a:effectLst/>
              </a:rPr>
              <a:t>permuter</a:t>
            </a:r>
            <a:r>
              <a:rPr lang="en-US" sz="2000" dirty="0">
                <a:solidFill>
                  <a:srgbClr val="FEFFFF"/>
                </a:solidFill>
                <a:effectLst/>
              </a:rPr>
              <a:t> les 3 </a:t>
            </a:r>
            <a:r>
              <a:rPr lang="en-US" sz="2000" dirty="0" err="1">
                <a:solidFill>
                  <a:srgbClr val="FEFFFF"/>
                </a:solidFill>
                <a:effectLst/>
              </a:rPr>
              <a:t>Américains</a:t>
            </a:r>
            <a:r>
              <a:rPr lang="en-US" sz="2000" dirty="0">
                <a:solidFill>
                  <a:srgbClr val="FEFFFF"/>
                </a:solidFill>
                <a:effectLst/>
              </a:rPr>
              <a:t>, </a:t>
            </a:r>
            <a:r>
              <a:rPr lang="en-US" sz="2000" dirty="0" err="1">
                <a:solidFill>
                  <a:srgbClr val="FEFFFF"/>
                </a:solidFill>
                <a:effectLst/>
              </a:rPr>
              <a:t>ce</a:t>
            </a:r>
            <a:r>
              <a:rPr lang="en-US" sz="2000" dirty="0">
                <a:solidFill>
                  <a:srgbClr val="FEFFFF"/>
                </a:solidFill>
                <a:effectLst/>
              </a:rPr>
              <a:t> qui </a:t>
            </a:r>
            <a:r>
              <a:rPr lang="en-US" sz="2000" dirty="0" err="1">
                <a:solidFill>
                  <a:srgbClr val="FEFFFF"/>
                </a:solidFill>
                <a:effectLst/>
              </a:rPr>
              <a:t>donne</a:t>
            </a:r>
            <a:r>
              <a:rPr lang="en-US" sz="2000" dirty="0">
                <a:solidFill>
                  <a:srgbClr val="FEFFFF"/>
                </a:solidFill>
                <a:effectLst/>
              </a:rPr>
              <a:t> 3 ! </a:t>
            </a:r>
            <a:r>
              <a:rPr lang="en-US" sz="2000" dirty="0" err="1">
                <a:solidFill>
                  <a:srgbClr val="FEFFFF"/>
                </a:solidFill>
                <a:effectLst/>
              </a:rPr>
              <a:t>possibilités</a:t>
            </a:r>
            <a:r>
              <a:rPr lang="en-US" sz="2000" dirty="0">
                <a:solidFill>
                  <a:srgbClr val="FEFFFF"/>
                </a:solidFill>
                <a:effectLst/>
              </a:rPr>
              <a:t>.</a:t>
            </a:r>
          </a:p>
          <a:p>
            <a:pPr marL="228600" indent="-228600" defTabSz="914400">
              <a:lnSpc>
                <a:spcPct val="90000"/>
              </a:lnSpc>
              <a:spcAft>
                <a:spcPts val="800"/>
              </a:spcAft>
              <a:buFont typeface="Arial" panose="020B0604020202020204" pitchFamily="34" charset="0"/>
              <a:buChar char="•"/>
            </a:pPr>
            <a:r>
              <a:rPr lang="en-US" sz="2000" dirty="0">
                <a:solidFill>
                  <a:srgbClr val="FEFFFF"/>
                </a:solidFill>
                <a:effectLst/>
              </a:rPr>
              <a:t>Il faut </a:t>
            </a:r>
            <a:r>
              <a:rPr lang="en-US" sz="2000" dirty="0" err="1">
                <a:solidFill>
                  <a:srgbClr val="FEFFFF"/>
                </a:solidFill>
                <a:effectLst/>
              </a:rPr>
              <a:t>permuter</a:t>
            </a:r>
            <a:r>
              <a:rPr lang="en-US" sz="2000" dirty="0">
                <a:solidFill>
                  <a:srgbClr val="FEFFFF"/>
                </a:solidFill>
                <a:effectLst/>
              </a:rPr>
              <a:t> les 5 Canadiens, </a:t>
            </a:r>
            <a:r>
              <a:rPr lang="en-US" sz="2000" dirty="0" err="1">
                <a:solidFill>
                  <a:srgbClr val="FEFFFF"/>
                </a:solidFill>
                <a:effectLst/>
              </a:rPr>
              <a:t>ce</a:t>
            </a:r>
            <a:r>
              <a:rPr lang="en-US" sz="2000" dirty="0">
                <a:solidFill>
                  <a:srgbClr val="FEFFFF"/>
                </a:solidFill>
                <a:effectLst/>
              </a:rPr>
              <a:t> qui </a:t>
            </a:r>
            <a:r>
              <a:rPr lang="en-US" sz="2000" dirty="0" err="1">
                <a:solidFill>
                  <a:srgbClr val="FEFFFF"/>
                </a:solidFill>
                <a:effectLst/>
              </a:rPr>
              <a:t>donne</a:t>
            </a:r>
            <a:r>
              <a:rPr lang="en-US" sz="2000" dirty="0">
                <a:solidFill>
                  <a:srgbClr val="FEFFFF"/>
                </a:solidFill>
                <a:effectLst/>
              </a:rPr>
              <a:t> 5 ! </a:t>
            </a:r>
            <a:r>
              <a:rPr lang="en-US" sz="2000" dirty="0" err="1">
                <a:solidFill>
                  <a:srgbClr val="FEFFFF"/>
                </a:solidFill>
                <a:effectLst/>
              </a:rPr>
              <a:t>possibilités</a:t>
            </a:r>
            <a:r>
              <a:rPr lang="en-US" sz="2000" dirty="0">
                <a:solidFill>
                  <a:srgbClr val="FEFFFF"/>
                </a:solidFill>
                <a:effectLst/>
              </a:rPr>
              <a:t>.</a:t>
            </a:r>
          </a:p>
          <a:p>
            <a:pPr marL="228600" indent="-228600" defTabSz="914400">
              <a:lnSpc>
                <a:spcPct val="90000"/>
              </a:lnSpc>
              <a:spcAft>
                <a:spcPts val="800"/>
              </a:spcAft>
              <a:buFont typeface="Arial" panose="020B0604020202020204" pitchFamily="34" charset="0"/>
              <a:buChar char="•"/>
            </a:pPr>
            <a:r>
              <a:rPr lang="en-US" sz="2000" dirty="0">
                <a:solidFill>
                  <a:srgbClr val="FEFFFF"/>
                </a:solidFill>
                <a:effectLst/>
              </a:rPr>
              <a:t>Il faut </a:t>
            </a:r>
            <a:r>
              <a:rPr lang="en-US" sz="2000" dirty="0" err="1">
                <a:solidFill>
                  <a:srgbClr val="FEFFFF"/>
                </a:solidFill>
                <a:effectLst/>
              </a:rPr>
              <a:t>ensuite</a:t>
            </a:r>
            <a:r>
              <a:rPr lang="en-US" sz="2000" dirty="0">
                <a:solidFill>
                  <a:srgbClr val="FEFFFF"/>
                </a:solidFill>
                <a:effectLst/>
              </a:rPr>
              <a:t> </a:t>
            </a:r>
            <a:r>
              <a:rPr lang="en-US" sz="2000" dirty="0" err="1">
                <a:solidFill>
                  <a:srgbClr val="FEFFFF"/>
                </a:solidFill>
                <a:effectLst/>
              </a:rPr>
              <a:t>permuter</a:t>
            </a:r>
            <a:r>
              <a:rPr lang="en-US" sz="2000" dirty="0">
                <a:solidFill>
                  <a:srgbClr val="FEFFFF"/>
                </a:solidFill>
                <a:effectLst/>
              </a:rPr>
              <a:t> les 3 </a:t>
            </a:r>
            <a:r>
              <a:rPr lang="en-US" sz="2000" dirty="0" err="1">
                <a:solidFill>
                  <a:srgbClr val="FEFFFF"/>
                </a:solidFill>
                <a:effectLst/>
              </a:rPr>
              <a:t>groupes</a:t>
            </a:r>
            <a:r>
              <a:rPr lang="en-US" sz="2000" dirty="0">
                <a:solidFill>
                  <a:srgbClr val="FEFFFF"/>
                </a:solidFill>
                <a:effectLst/>
              </a:rPr>
              <a:t> de </a:t>
            </a:r>
            <a:r>
              <a:rPr lang="en-US" sz="2000" dirty="0" err="1">
                <a:solidFill>
                  <a:srgbClr val="FEFFFF"/>
                </a:solidFill>
                <a:effectLst/>
              </a:rPr>
              <a:t>nationalités</a:t>
            </a:r>
            <a:r>
              <a:rPr lang="en-US" sz="2000" dirty="0">
                <a:solidFill>
                  <a:srgbClr val="FEFFFF"/>
                </a:solidFill>
                <a:effectLst/>
              </a:rPr>
              <a:t>, </a:t>
            </a:r>
            <a:r>
              <a:rPr lang="en-US" sz="2000" dirty="0" err="1">
                <a:solidFill>
                  <a:srgbClr val="FEFFFF"/>
                </a:solidFill>
                <a:effectLst/>
              </a:rPr>
              <a:t>ce</a:t>
            </a:r>
            <a:r>
              <a:rPr lang="en-US" sz="2000" dirty="0">
                <a:solidFill>
                  <a:srgbClr val="FEFFFF"/>
                </a:solidFill>
                <a:effectLst/>
              </a:rPr>
              <a:t> qui </a:t>
            </a:r>
            <a:r>
              <a:rPr lang="en-US" sz="2000" dirty="0" err="1">
                <a:solidFill>
                  <a:srgbClr val="FEFFFF"/>
                </a:solidFill>
                <a:effectLst/>
              </a:rPr>
              <a:t>donne</a:t>
            </a:r>
            <a:r>
              <a:rPr lang="en-US" sz="2000" dirty="0">
                <a:solidFill>
                  <a:srgbClr val="FEFFFF"/>
                </a:solidFill>
                <a:effectLst/>
              </a:rPr>
              <a:t> 3 ! </a:t>
            </a:r>
            <a:r>
              <a:rPr lang="en-US" sz="2000" dirty="0" err="1">
                <a:solidFill>
                  <a:srgbClr val="FEFFFF"/>
                </a:solidFill>
                <a:effectLst/>
              </a:rPr>
              <a:t>possibilités</a:t>
            </a:r>
            <a:r>
              <a:rPr lang="en-US" sz="2000" dirty="0">
                <a:solidFill>
                  <a:srgbClr val="FEFFFF"/>
                </a:solidFill>
                <a:effectLst/>
              </a:rPr>
              <a:t>.</a:t>
            </a:r>
          </a:p>
          <a:p>
            <a:pPr marL="228600" indent="-228600" defTabSz="914400">
              <a:lnSpc>
                <a:spcPct val="90000"/>
              </a:lnSpc>
              <a:spcAft>
                <a:spcPts val="800"/>
              </a:spcAft>
              <a:buFont typeface="Arial" panose="020B0604020202020204" pitchFamily="34" charset="0"/>
              <a:buChar char="•"/>
            </a:pPr>
            <a:r>
              <a:rPr lang="en-US" sz="2000" dirty="0" err="1">
                <a:solidFill>
                  <a:srgbClr val="FEFFFF"/>
                </a:solidFill>
                <a:effectLst/>
              </a:rPr>
              <a:t>D’après</a:t>
            </a:r>
            <a:r>
              <a:rPr lang="en-US" sz="2000" dirty="0">
                <a:solidFill>
                  <a:srgbClr val="FEFFFF"/>
                </a:solidFill>
                <a:effectLst/>
              </a:rPr>
              <a:t> le principe de multiplication, cela </a:t>
            </a:r>
            <a:r>
              <a:rPr lang="en-US" sz="2000" dirty="0" err="1">
                <a:solidFill>
                  <a:srgbClr val="FEFFFF"/>
                </a:solidFill>
                <a:effectLst/>
              </a:rPr>
              <a:t>peut</a:t>
            </a:r>
            <a:r>
              <a:rPr lang="en-US" sz="2000" dirty="0">
                <a:solidFill>
                  <a:srgbClr val="FEFFFF"/>
                </a:solidFill>
                <a:effectLst/>
              </a:rPr>
              <a:t> </a:t>
            </a:r>
            <a:r>
              <a:rPr lang="en-US" sz="2000" dirty="0" err="1">
                <a:solidFill>
                  <a:srgbClr val="FEFFFF"/>
                </a:solidFill>
                <a:effectLst/>
              </a:rPr>
              <a:t>générer</a:t>
            </a:r>
            <a:r>
              <a:rPr lang="en-US" sz="2000" dirty="0">
                <a:solidFill>
                  <a:srgbClr val="FEFFFF"/>
                </a:solidFill>
                <a:effectLst/>
              </a:rPr>
              <a:t> 7 !3 !5 !3 ! = 21 772 800 </a:t>
            </a:r>
            <a:r>
              <a:rPr lang="en-US" sz="2000" dirty="0" err="1">
                <a:solidFill>
                  <a:srgbClr val="FEFFFF"/>
                </a:solidFill>
                <a:effectLst/>
              </a:rPr>
              <a:t>possibilités</a:t>
            </a:r>
            <a:r>
              <a:rPr lang="en-US" sz="2000" dirty="0">
                <a:solidFill>
                  <a:srgbClr val="FEFFFF"/>
                </a:solidFill>
                <a:effectLst/>
              </a:rPr>
              <a:t>.</a:t>
            </a:r>
          </a:p>
          <a:p>
            <a:pPr indent="-228600" defTabSz="914400">
              <a:lnSpc>
                <a:spcPct val="90000"/>
              </a:lnSpc>
              <a:buFont typeface="Arial" panose="020B0604020202020204" pitchFamily="34" charset="0"/>
              <a:buChar char="•"/>
            </a:pPr>
            <a:endParaRPr lang="en-US" sz="2000" dirty="0">
              <a:solidFill>
                <a:srgbClr val="FEFFFF"/>
              </a:solidFill>
            </a:endParaRPr>
          </a:p>
        </p:txBody>
      </p:sp>
      <p:sp>
        <p:nvSpPr>
          <p:cNvPr id="3" name="Espace réservé du pied de page 2">
            <a:extLst>
              <a:ext uri="{FF2B5EF4-FFF2-40B4-BE49-F238E27FC236}">
                <a16:creationId xmlns:a16="http://schemas.microsoft.com/office/drawing/2014/main" id="{F0945F54-5A0E-487D-AB58-E9CABD62ED43}"/>
              </a:ext>
            </a:extLst>
          </p:cNvPr>
          <p:cNvSpPr>
            <a:spLocks noGrp="1"/>
          </p:cNvSpPr>
          <p:nvPr>
            <p:ph type="ftr" sz="quarter" idx="11"/>
          </p:nvPr>
        </p:nvSpPr>
        <p:spPr>
          <a:xfrm>
            <a:off x="795528" y="6382512"/>
            <a:ext cx="6757416" cy="320040"/>
          </a:xfrm>
        </p:spPr>
        <p:txBody>
          <a:bodyPr vert="horz" lIns="91440" tIns="45720" rIns="91440" bIns="45720" rtlCol="0" anchor="ctr">
            <a:normAutofit/>
          </a:bodyPr>
          <a:lstStyle/>
          <a:p>
            <a:pPr algn="l" defTabSz="914400"/>
            <a:endParaRPr lang="en-US" sz="10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D49337DA-0EDE-4EFF-BAFE-53DC95BA2574}"/>
              </a:ext>
            </a:extLst>
          </p:cNvPr>
          <p:cNvSpPr>
            <a:spLocks noGrp="1"/>
          </p:cNvSpPr>
          <p:nvPr>
            <p:ph type="sldNum" sz="quarter" idx="12"/>
          </p:nvPr>
        </p:nvSpPr>
        <p:spPr>
          <a:xfrm>
            <a:off x="10707624" y="6175188"/>
            <a:ext cx="685800" cy="320040"/>
          </a:xfrm>
        </p:spPr>
        <p:txBody>
          <a:bodyPr vert="horz" lIns="91440" tIns="45720" rIns="91440" bIns="45720" rtlCol="0" anchor="ctr">
            <a:normAutofit/>
          </a:bodyPr>
          <a:lstStyle/>
          <a:p>
            <a:pPr defTabSz="914400">
              <a:spcAft>
                <a:spcPts val="600"/>
              </a:spcAft>
            </a:pPr>
            <a:fld id="{26377AD9-CE17-438C-A638-C64D2D42D7CF}" type="slidenum">
              <a:rPr lang="en-US" sz="1000">
                <a:solidFill>
                  <a:srgbClr val="FFFFFF"/>
                </a:solidFill>
              </a:rPr>
              <a:pPr defTabSz="914400">
                <a:spcAft>
                  <a:spcPts val="600"/>
                </a:spcAft>
              </a:pPr>
              <a:t>16</a:t>
            </a:fld>
            <a:endParaRPr lang="en-US" sz="1000">
              <a:solidFill>
                <a:srgbClr val="FFFFFF"/>
              </a:solidFill>
            </a:endParaRPr>
          </a:p>
        </p:txBody>
      </p:sp>
    </p:spTree>
    <p:extLst>
      <p:ext uri="{BB962C8B-B14F-4D97-AF65-F5344CB8AC3E}">
        <p14:creationId xmlns:p14="http://schemas.microsoft.com/office/powerpoint/2010/main" val="4023498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57ED726-D34C-4B85-8458-104451DDBB5B}"/>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a:solidFill>
                  <a:srgbClr val="FFFFFF"/>
                </a:solidFill>
                <a:latin typeface="+mj-lt"/>
                <a:ea typeface="+mj-ea"/>
                <a:cs typeface="+mj-cs"/>
              </a:rPr>
              <a:t>Suite:</a:t>
            </a:r>
          </a:p>
        </p:txBody>
      </p:sp>
      <p:sp>
        <p:nvSpPr>
          <p:cNvPr id="22"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D54421A-28DC-416F-AF3B-9214E01947A6}"/>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dirty="0"/>
                  <a:t>c) </a:t>
                </a:r>
                <a:r>
                  <a:rPr lang="en-US" dirty="0">
                    <a:effectLst/>
                  </a:rPr>
                  <a:t>On a </a:t>
                </a:r>
                <a:r>
                  <a:rPr lang="en-US" i="1" dirty="0">
                    <a:effectLst/>
                  </a:rPr>
                  <a:t>N</a:t>
                </a:r>
                <a:r>
                  <a:rPr lang="en-US" dirty="0">
                    <a:effectLst/>
                  </a:rPr>
                  <a:t>(</a:t>
                </a:r>
                <a:r>
                  <a:rPr lang="en-US" i="1" dirty="0">
                    <a:effectLst/>
                  </a:rPr>
                  <a:t>S</a:t>
                </a:r>
                <a:r>
                  <a:rPr lang="en-US" dirty="0">
                    <a:effectLst/>
                  </a:rPr>
                  <a:t>) = 15 ! </a:t>
                </a:r>
                <a:r>
                  <a:rPr lang="en-US" dirty="0" err="1">
                    <a:effectLst/>
                  </a:rPr>
                  <a:t>lorsqu’on</a:t>
                </a:r>
                <a:r>
                  <a:rPr lang="en-US" dirty="0">
                    <a:effectLst/>
                  </a:rPr>
                  <a:t> </a:t>
                </a:r>
                <a:r>
                  <a:rPr lang="en-US" dirty="0" err="1">
                    <a:effectLst/>
                  </a:rPr>
                  <a:t>aligne</a:t>
                </a:r>
                <a:r>
                  <a:rPr lang="en-US" dirty="0">
                    <a:effectLst/>
                  </a:rPr>
                  <a:t> les participants sans distinction de </a:t>
                </a:r>
                <a:r>
                  <a:rPr lang="en-US" dirty="0" err="1">
                    <a:effectLst/>
                  </a:rPr>
                  <a:t>nationalité</a:t>
                </a:r>
                <a:r>
                  <a:rPr lang="en-US" dirty="0">
                    <a:effectLst/>
                  </a:rPr>
                  <a:t>, et </a:t>
                </a:r>
                <a:r>
                  <a:rPr lang="en-US" dirty="0" err="1">
                    <a:effectLst/>
                  </a:rPr>
                  <a:t>si</a:t>
                </a:r>
                <a:r>
                  <a:rPr lang="en-US" dirty="0">
                    <a:effectLst/>
                  </a:rPr>
                  <a:t> on note </a:t>
                </a:r>
                <a:r>
                  <a:rPr lang="en-US" i="1" dirty="0">
                    <a:effectLst/>
                  </a:rPr>
                  <a:t>E</a:t>
                </a:r>
                <a:r>
                  <a:rPr lang="en-US" dirty="0">
                    <a:effectLst/>
                  </a:rPr>
                  <a:t> </a:t>
                </a:r>
                <a:r>
                  <a:rPr lang="en-US" dirty="0" err="1">
                    <a:effectLst/>
                  </a:rPr>
                  <a:t>l’événement</a:t>
                </a:r>
                <a:r>
                  <a:rPr lang="en-US" dirty="0">
                    <a:effectLst/>
                  </a:rPr>
                  <a:t> </a:t>
                </a:r>
                <a:r>
                  <a:rPr lang="en-US" dirty="0" err="1">
                    <a:effectLst/>
                  </a:rPr>
                  <a:t>décrit</a:t>
                </a:r>
                <a:r>
                  <a:rPr lang="en-US" dirty="0">
                    <a:effectLst/>
                  </a:rPr>
                  <a:t> en b), on a</a:t>
                </a:r>
                <a:r>
                  <a:rPr lang="en-US" i="1" dirty="0">
                    <a:effectLst/>
                  </a:rPr>
                  <a:t> N</a:t>
                </a:r>
                <a:r>
                  <a:rPr lang="en-US" dirty="0">
                    <a:effectLst/>
                  </a:rPr>
                  <a:t>(</a:t>
                </a:r>
                <a:r>
                  <a:rPr lang="en-US" i="1" dirty="0">
                    <a:effectLst/>
                  </a:rPr>
                  <a:t>E</a:t>
                </a:r>
                <a:r>
                  <a:rPr lang="en-US" dirty="0">
                    <a:effectLst/>
                  </a:rPr>
                  <a:t>) = 21 772 800, </a:t>
                </a:r>
                <a:r>
                  <a:rPr lang="en-US" dirty="0" err="1">
                    <a:effectLst/>
                  </a:rPr>
                  <a:t>donc</a:t>
                </a:r>
                <a:r>
                  <a:rPr lang="en-US" dirty="0">
                    <a:effectLst/>
                  </a:rPr>
                  <a:t> </a:t>
                </a:r>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14:m>
                  <m:oMath xmlns:m="http://schemas.openxmlformats.org/officeDocument/2006/math">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𝐸</m:t>
                        </m:r>
                      </m:e>
                    </m:d>
                    <m:r>
                      <a:rPr lang="en-US" b="0" i="1">
                        <a:latin typeface="Cambria Math" panose="02040503050406030204" pitchFamily="18" charset="0"/>
                      </a:rPr>
                      <m:t>=</m:t>
                    </m:r>
                    <m:f>
                      <m:fPr>
                        <m:ctrlPr>
                          <a:rPr lang="en-US" b="0" i="1">
                            <a:latin typeface="Cambria Math" panose="02040503050406030204" pitchFamily="18" charset="0"/>
                          </a:rPr>
                        </m:ctrlPr>
                      </m:fPr>
                      <m:num>
                        <m:r>
                          <a:rPr lang="en-US" b="0" i="1">
                            <a:latin typeface="Cambria Math" panose="02040503050406030204" pitchFamily="18" charset="0"/>
                          </a:rPr>
                          <m:t>𝑁</m:t>
                        </m:r>
                        <m:r>
                          <a:rPr lang="en-US" b="0" i="1">
                            <a:latin typeface="Cambria Math" panose="02040503050406030204" pitchFamily="18" charset="0"/>
                          </a:rPr>
                          <m:t>(</m:t>
                        </m:r>
                        <m:r>
                          <a:rPr lang="en-US" b="0" i="1">
                            <a:latin typeface="Cambria Math" panose="02040503050406030204" pitchFamily="18" charset="0"/>
                          </a:rPr>
                          <m:t>𝐸</m:t>
                        </m:r>
                        <m:r>
                          <a:rPr lang="en-US" b="0" i="1">
                            <a:latin typeface="Cambria Math" panose="02040503050406030204" pitchFamily="18" charset="0"/>
                          </a:rPr>
                          <m:t>)</m:t>
                        </m:r>
                      </m:num>
                      <m:den>
                        <m:r>
                          <a:rPr lang="en-US" b="0" i="1">
                            <a:latin typeface="Cambria Math" panose="02040503050406030204" pitchFamily="18" charset="0"/>
                          </a:rPr>
                          <m:t>𝑁</m:t>
                        </m:r>
                        <m:r>
                          <a:rPr lang="en-US" b="0" i="1">
                            <a:latin typeface="Cambria Math" panose="02040503050406030204" pitchFamily="18" charset="0"/>
                          </a:rPr>
                          <m:t>(</m:t>
                        </m:r>
                        <m:r>
                          <a:rPr lang="en-US" b="0" i="1">
                            <a:latin typeface="Cambria Math" panose="02040503050406030204" pitchFamily="18" charset="0"/>
                          </a:rPr>
                          <m:t>𝑆</m:t>
                        </m:r>
                        <m:r>
                          <a:rPr lang="en-US" b="0" i="1">
                            <a:latin typeface="Cambria Math" panose="02040503050406030204" pitchFamily="18" charset="0"/>
                          </a:rPr>
                          <m:t>)</m:t>
                        </m:r>
                      </m:den>
                    </m:f>
                    <m:r>
                      <a:rPr lang="en-US" b="0" i="1">
                        <a:latin typeface="Cambria Math" panose="02040503050406030204" pitchFamily="18" charset="0"/>
                      </a:rPr>
                      <m:t>=</m:t>
                    </m:r>
                    <m:f>
                      <m:fPr>
                        <m:ctrlPr>
                          <a:rPr lang="en-US" b="0" i="1">
                            <a:latin typeface="Cambria Math" panose="02040503050406030204" pitchFamily="18" charset="0"/>
                          </a:rPr>
                        </m:ctrlPr>
                      </m:fPr>
                      <m:num>
                        <m:r>
                          <a:rPr lang="en-US" b="0" i="1">
                            <a:latin typeface="Cambria Math" panose="02040503050406030204" pitchFamily="18" charset="0"/>
                          </a:rPr>
                          <m:t>21772800</m:t>
                        </m:r>
                      </m:num>
                      <m:den>
                        <m:r>
                          <a:rPr lang="en-US" b="0" i="1">
                            <a:latin typeface="Cambria Math" panose="02040503050406030204" pitchFamily="18" charset="0"/>
                          </a:rPr>
                          <m:t>15!</m:t>
                        </m:r>
                      </m:den>
                    </m:f>
                    <m:r>
                      <a:rPr lang="en-US" b="0" i="1">
                        <a:latin typeface="Cambria Math" panose="02040503050406030204" pitchFamily="18" charset="0"/>
                      </a:rPr>
                      <m:t>=0,00001665</m:t>
                    </m:r>
                  </m:oMath>
                </a14:m>
                <a:endParaRPr lang="en-US" dirty="0"/>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r>
                  <a:rPr lang="en-US" dirty="0"/>
                  <a:t>d) </a:t>
                </a:r>
                <a:r>
                  <a:rPr lang="en-US" dirty="0" err="1"/>
                  <a:t>Soit</a:t>
                </a:r>
                <a:r>
                  <a:rPr lang="en-US" dirty="0"/>
                  <a:t> A: Les 5 Canadiens </a:t>
                </a:r>
                <a:r>
                  <a:rPr lang="en-US" dirty="0" err="1"/>
                  <a:t>sont</a:t>
                </a:r>
                <a:r>
                  <a:rPr lang="en-US" dirty="0"/>
                  <a:t> </a:t>
                </a:r>
                <a:r>
                  <a:rPr lang="en-US" dirty="0" err="1"/>
                  <a:t>placés</a:t>
                </a:r>
                <a:r>
                  <a:rPr lang="en-US" dirty="0"/>
                  <a:t> ensembles, </a:t>
                </a:r>
                <a:r>
                  <a:rPr lang="en-US" dirty="0" err="1"/>
                  <a:t>alors</a:t>
                </a:r>
                <a:r>
                  <a:rPr lang="en-US" dirty="0"/>
                  <a:t> </a:t>
                </a:r>
                <a:r>
                  <a:rPr lang="en-US" dirty="0" err="1"/>
                  <a:t>il</a:t>
                </a:r>
                <a:r>
                  <a:rPr lang="en-US" dirty="0"/>
                  <a:t> faut </a:t>
                </a:r>
                <a:r>
                  <a:rPr lang="en-US" dirty="0" err="1"/>
                  <a:t>d’abord</a:t>
                </a:r>
                <a:r>
                  <a:rPr lang="en-US" dirty="0"/>
                  <a:t> les placer ensemble et </a:t>
                </a:r>
                <a:r>
                  <a:rPr lang="en-US" dirty="0" err="1"/>
                  <a:t>ensuite</a:t>
                </a:r>
                <a:r>
                  <a:rPr lang="en-US" dirty="0"/>
                  <a:t>, on aura 11 éléments à </a:t>
                </a:r>
                <a:r>
                  <a:rPr lang="en-US" dirty="0" err="1"/>
                  <a:t>permuter</a:t>
                </a:r>
                <a:r>
                  <a:rPr lang="en-US" dirty="0"/>
                  <a:t>, </a:t>
                </a:r>
                <a:r>
                  <a:rPr lang="en-US" dirty="0" err="1"/>
                  <a:t>ce</a:t>
                </a:r>
                <a:r>
                  <a:rPr lang="en-US" dirty="0"/>
                  <a:t> qui fait que :</a:t>
                </a:r>
              </a:p>
              <a:p>
                <a:pPr indent="-228600" defTabSz="914400">
                  <a:lnSpc>
                    <a:spcPct val="90000"/>
                  </a:lnSpc>
                  <a:spcAft>
                    <a:spcPts val="600"/>
                  </a:spcAft>
                  <a:buFont typeface="Arial" panose="020B0604020202020204" pitchFamily="34" charset="0"/>
                  <a:buChar char="•"/>
                </a:pPr>
                <a14:m>
                  <m:oMath xmlns:m="http://schemas.openxmlformats.org/officeDocument/2006/math">
                    <m:r>
                      <a:rPr lang="en-US" b="0" i="1">
                        <a:latin typeface="Cambria Math" panose="02040503050406030204" pitchFamily="18" charset="0"/>
                      </a:rPr>
                      <m:t>𝑁</m:t>
                    </m:r>
                    <m:d>
                      <m:dPr>
                        <m:ctrlPr>
                          <a:rPr lang="en-US" b="0" i="1">
                            <a:latin typeface="Cambria Math" panose="02040503050406030204" pitchFamily="18" charset="0"/>
                          </a:rPr>
                        </m:ctrlPr>
                      </m:dPr>
                      <m:e>
                        <m:r>
                          <a:rPr lang="fr-CA" b="0" i="1" smtClean="0">
                            <a:latin typeface="Cambria Math" panose="02040503050406030204" pitchFamily="18" charset="0"/>
                          </a:rPr>
                          <m:t>𝐴</m:t>
                        </m:r>
                      </m:e>
                    </m:d>
                    <m:r>
                      <a:rPr lang="en-US" b="0" i="1">
                        <a:latin typeface="Cambria Math" panose="02040503050406030204" pitchFamily="18" charset="0"/>
                      </a:rPr>
                      <m:t>=5!∗11!</m:t>
                    </m:r>
                  </m:oMath>
                </a14:m>
                <a:endParaRPr lang="en-US" b="0" dirty="0"/>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r>
                  <a:rPr lang="en-US" dirty="0"/>
                  <a:t>Donc   </a:t>
                </a:r>
                <a14:m>
                  <m:oMath xmlns:m="http://schemas.openxmlformats.org/officeDocument/2006/math">
                    <m:r>
                      <a:rPr lang="en-US" i="1">
                        <a:effectLst/>
                        <a:latin typeface="Cambria Math" panose="02040503050406030204" pitchFamily="18" charset="0"/>
                      </a:rPr>
                      <m:t>𝑃</m:t>
                    </m:r>
                    <m:d>
                      <m:dPr>
                        <m:ctrlPr>
                          <a:rPr lang="en-US" i="1">
                            <a:effectLst/>
                            <a:latin typeface="Cambria Math" panose="02040503050406030204" pitchFamily="18" charset="0"/>
                          </a:rPr>
                        </m:ctrlPr>
                      </m:dPr>
                      <m:e>
                        <m:r>
                          <a:rPr lang="en-US" i="1">
                            <a:effectLst/>
                            <a:latin typeface="Cambria Math" panose="02040503050406030204" pitchFamily="18" charset="0"/>
                          </a:rPr>
                          <m:t>𝐴</m:t>
                        </m:r>
                      </m:e>
                    </m:d>
                    <m:r>
                      <a:rPr lang="en-US" i="1">
                        <a:effectLst/>
                        <a:latin typeface="Cambria Math" panose="02040503050406030204" pitchFamily="18" charset="0"/>
                      </a:rPr>
                      <m:t>=</m:t>
                    </m:r>
                    <m:f>
                      <m:fPr>
                        <m:ctrlPr>
                          <a:rPr lang="en-US" i="1">
                            <a:effectLst/>
                            <a:latin typeface="Cambria Math" panose="02040503050406030204" pitchFamily="18" charset="0"/>
                          </a:rPr>
                        </m:ctrlPr>
                      </m:fPr>
                      <m:num>
                        <m:r>
                          <a:rPr lang="en-US" i="1">
                            <a:effectLst/>
                            <a:latin typeface="Cambria Math" panose="02040503050406030204" pitchFamily="18" charset="0"/>
                          </a:rPr>
                          <m:t>𝑁</m:t>
                        </m:r>
                        <m:r>
                          <a:rPr lang="en-US" i="1">
                            <a:effectLst/>
                            <a:latin typeface="Cambria Math" panose="02040503050406030204" pitchFamily="18" charset="0"/>
                          </a:rPr>
                          <m:t>(</m:t>
                        </m:r>
                        <m:r>
                          <a:rPr lang="en-US" i="1">
                            <a:effectLst/>
                            <a:latin typeface="Cambria Math" panose="02040503050406030204" pitchFamily="18" charset="0"/>
                          </a:rPr>
                          <m:t>𝐴</m:t>
                        </m:r>
                        <m:r>
                          <a:rPr lang="en-US" i="1">
                            <a:effectLst/>
                            <a:latin typeface="Cambria Math" panose="02040503050406030204" pitchFamily="18" charset="0"/>
                          </a:rPr>
                          <m:t>)</m:t>
                        </m:r>
                      </m:num>
                      <m:den>
                        <m:r>
                          <a:rPr lang="en-US" i="1">
                            <a:effectLst/>
                            <a:latin typeface="Cambria Math" panose="02040503050406030204" pitchFamily="18" charset="0"/>
                          </a:rPr>
                          <m:t>𝑁</m:t>
                        </m:r>
                        <m:r>
                          <a:rPr lang="en-US" i="1">
                            <a:effectLst/>
                            <a:latin typeface="Cambria Math" panose="02040503050406030204" pitchFamily="18" charset="0"/>
                          </a:rPr>
                          <m:t>(</m:t>
                        </m:r>
                        <m:r>
                          <a:rPr lang="en-US" i="1">
                            <a:effectLst/>
                            <a:latin typeface="Cambria Math" panose="02040503050406030204" pitchFamily="18" charset="0"/>
                          </a:rPr>
                          <m:t>𝑆</m:t>
                        </m:r>
                        <m:r>
                          <a:rPr lang="en-US" i="1">
                            <a:effectLst/>
                            <a:latin typeface="Cambria Math" panose="02040503050406030204" pitchFamily="18" charset="0"/>
                          </a:rPr>
                          <m:t>)</m:t>
                        </m:r>
                      </m:den>
                    </m:f>
                    <m:r>
                      <a:rPr lang="en-US" i="1">
                        <a:effectLst/>
                        <a:latin typeface="Cambria Math" panose="02040503050406030204" pitchFamily="18" charset="0"/>
                      </a:rPr>
                      <m:t>=</m:t>
                    </m:r>
                    <m:f>
                      <m:fPr>
                        <m:ctrlPr>
                          <a:rPr lang="en-US" i="1">
                            <a:effectLst/>
                            <a:latin typeface="Cambria Math" panose="02040503050406030204" pitchFamily="18" charset="0"/>
                          </a:rPr>
                        </m:ctrlPr>
                      </m:fPr>
                      <m:num>
                        <m:r>
                          <a:rPr lang="en-US" i="1">
                            <a:effectLst/>
                            <a:latin typeface="Cambria Math" panose="02040503050406030204" pitchFamily="18" charset="0"/>
                          </a:rPr>
                          <m:t>4790016000</m:t>
                        </m:r>
                      </m:num>
                      <m:den>
                        <m:r>
                          <a:rPr lang="en-US" i="1">
                            <a:effectLst/>
                            <a:latin typeface="Cambria Math" panose="02040503050406030204" pitchFamily="18" charset="0"/>
                          </a:rPr>
                          <m:t>15!</m:t>
                        </m:r>
                      </m:den>
                    </m:f>
                    <m:r>
                      <a:rPr lang="en-US" i="1">
                        <a:effectLst/>
                        <a:latin typeface="Cambria Math" panose="02040503050406030204" pitchFamily="18" charset="0"/>
                      </a:rPr>
                      <m:t>=0,0036630037</m:t>
                    </m:r>
                  </m:oMath>
                </a14:m>
                <a:endParaRPr lang="en-US" dirty="0"/>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r>
                  <a:rPr lang="en-US" dirty="0"/>
                  <a:t>Et  </a:t>
                </a:r>
                <a14:m>
                  <m:oMath xmlns:m="http://schemas.openxmlformats.org/officeDocument/2006/math">
                    <m:r>
                      <a:rPr lang="en-US" b="0" i="1">
                        <a:latin typeface="Cambria Math" panose="02040503050406030204" pitchFamily="18" charset="0"/>
                      </a:rPr>
                      <m:t>𝑃</m:t>
                    </m:r>
                    <m:d>
                      <m:dPr>
                        <m:ctrlPr>
                          <a:rPr lang="en-US" b="0" i="1">
                            <a:latin typeface="Cambria Math" panose="02040503050406030204" pitchFamily="18" charset="0"/>
                          </a:rPr>
                        </m:ctrlPr>
                      </m:dPr>
                      <m:e>
                        <m:sSup>
                          <m:sSupPr>
                            <m:ctrlPr>
                              <a:rPr lang="en-US" b="0" i="1">
                                <a:latin typeface="Cambria Math" panose="02040503050406030204" pitchFamily="18" charset="0"/>
                              </a:rPr>
                            </m:ctrlPr>
                          </m:sSupPr>
                          <m:e>
                            <m:r>
                              <a:rPr lang="en-US" b="0" i="1">
                                <a:latin typeface="Cambria Math" panose="02040503050406030204" pitchFamily="18" charset="0"/>
                              </a:rPr>
                              <m:t>𝐴</m:t>
                            </m:r>
                          </m:e>
                          <m:sup>
                            <m:r>
                              <a:rPr lang="en-US" b="0" i="1">
                                <a:latin typeface="Cambria Math" panose="02040503050406030204" pitchFamily="18" charset="0"/>
                              </a:rPr>
                              <m:t>′</m:t>
                            </m:r>
                          </m:sup>
                        </m:sSup>
                      </m:e>
                    </m:d>
                    <m:r>
                      <a:rPr lang="en-US" b="0" i="1">
                        <a:latin typeface="Cambria Math" panose="02040503050406030204" pitchFamily="18" charset="0"/>
                      </a:rPr>
                      <m:t>=1−</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e>
                    </m:d>
                    <m:r>
                      <a:rPr lang="en-US" b="0" i="1">
                        <a:latin typeface="Cambria Math" panose="02040503050406030204" pitchFamily="18" charset="0"/>
                      </a:rPr>
                      <m:t>=</m:t>
                    </m:r>
                    <m:r>
                      <a:rPr lang="en-US" i="1">
                        <a:latin typeface="Cambria Math" panose="02040503050406030204" pitchFamily="18" charset="0"/>
                      </a:rPr>
                      <m:t>0,9963369963.</m:t>
                    </m:r>
                  </m:oMath>
                </a14:m>
                <a:endParaRPr lang="en-US" dirty="0"/>
              </a:p>
            </p:txBody>
          </p:sp>
        </mc:Choice>
        <mc:Fallback xmlns="">
          <p:sp>
            <p:nvSpPr>
              <p:cNvPr id="5" name="ZoneTexte 4">
                <a:extLst>
                  <a:ext uri="{FF2B5EF4-FFF2-40B4-BE49-F238E27FC236}">
                    <a16:creationId xmlns:a16="http://schemas.microsoft.com/office/drawing/2014/main" id="{1D54421A-28DC-416F-AF3B-9214E01947A6}"/>
                  </a:ext>
                </a:extLst>
              </p:cNvPr>
              <p:cNvSpPr txBox="1">
                <a:spLocks noRot="1" noChangeAspect="1" noMove="1" noResize="1" noEditPoints="1" noAdjustHandles="1" noChangeArrowheads="1" noChangeShapeType="1" noTextEdit="1"/>
              </p:cNvSpPr>
              <p:nvPr/>
            </p:nvSpPr>
            <p:spPr>
              <a:xfrm>
                <a:off x="4447308" y="591344"/>
                <a:ext cx="6906491" cy="5585619"/>
              </a:xfrm>
              <a:prstGeom prst="rect">
                <a:avLst/>
              </a:prstGeom>
              <a:blipFill>
                <a:blip r:embed="rId3"/>
                <a:stretch>
                  <a:fillRect l="-795" r="-707"/>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D37B0D18-70CD-473C-89F0-374EC7E987EC}"/>
              </a:ext>
            </a:extLst>
          </p:cNvPr>
          <p:cNvSpPr>
            <a:spLocks noGrp="1"/>
          </p:cNvSpPr>
          <p:nvPr>
            <p:ph type="ftr" sz="quarter" idx="11"/>
          </p:nvPr>
        </p:nvSpPr>
        <p:spPr>
          <a:xfrm>
            <a:off x="4038600" y="6356350"/>
            <a:ext cx="5251174"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BD620220-B5C9-497E-9F76-C7152EFA1178}"/>
              </a:ext>
            </a:extLst>
          </p:cNvPr>
          <p:cNvSpPr>
            <a:spLocks noGrp="1"/>
          </p:cNvSpPr>
          <p:nvPr>
            <p:ph type="sldNum" sz="quarter" idx="12"/>
          </p:nvPr>
        </p:nvSpPr>
        <p:spPr>
          <a:xfrm>
            <a:off x="9541564" y="6356350"/>
            <a:ext cx="1812235"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17</a:t>
            </a:fld>
            <a:endParaRPr lang="en-US"/>
          </a:p>
        </p:txBody>
      </p:sp>
    </p:spTree>
    <p:extLst>
      <p:ext uri="{BB962C8B-B14F-4D97-AF65-F5344CB8AC3E}">
        <p14:creationId xmlns:p14="http://schemas.microsoft.com/office/powerpoint/2010/main" val="2693938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D92825-CA8E-47D0-85B8-7F3668E2CE54}"/>
              </a:ext>
            </a:extLst>
          </p:cNvPr>
          <p:cNvSpPr>
            <a:spLocks noGrp="1"/>
          </p:cNvSpPr>
          <p:nvPr>
            <p:ph type="title"/>
          </p:nvPr>
        </p:nvSpPr>
        <p:spPr/>
        <p:txBody>
          <a:bodyPr/>
          <a:lstStyle/>
          <a:p>
            <a:r>
              <a:rPr lang="fr-CA"/>
              <a:t>ARRANGEMENTS.</a:t>
            </a:r>
            <a:endParaRPr lang="fr-CA" dirty="0"/>
          </a:p>
        </p:txBody>
      </p:sp>
      <p:sp>
        <p:nvSpPr>
          <p:cNvPr id="3" name="Espace réservé du pied de page 2">
            <a:extLst>
              <a:ext uri="{FF2B5EF4-FFF2-40B4-BE49-F238E27FC236}">
                <a16:creationId xmlns:a16="http://schemas.microsoft.com/office/drawing/2014/main" id="{CA0F4024-17BD-4EA0-9AAA-0A6B00BD492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44A091A-C85C-4243-8F41-41BBC27E9F21}"/>
              </a:ext>
            </a:extLst>
          </p:cNvPr>
          <p:cNvSpPr>
            <a:spLocks noGrp="1"/>
          </p:cNvSpPr>
          <p:nvPr>
            <p:ph type="sldNum" sz="quarter" idx="12"/>
          </p:nvPr>
        </p:nvSpPr>
        <p:spPr/>
        <p:txBody>
          <a:bodyPr/>
          <a:lstStyle/>
          <a:p>
            <a:fld id="{26377AD9-CE17-438C-A638-C64D2D42D7CF}" type="slidenum">
              <a:rPr lang="fr-CA" smtClean="0"/>
              <a:t>18</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DF80BD1E-19D8-46B8-9FD0-1715BFF2DCFA}"/>
                  </a:ext>
                </a:extLst>
              </p:cNvPr>
              <p:cNvSpPr txBox="1"/>
              <p:nvPr/>
            </p:nvSpPr>
            <p:spPr>
              <a:xfrm>
                <a:off x="1240971" y="2181497"/>
                <a:ext cx="9392195" cy="4120872"/>
              </a:xfrm>
              <a:prstGeom prst="rect">
                <a:avLst/>
              </a:prstGeom>
              <a:noFill/>
            </p:spPr>
            <p:txBody>
              <a:bodyPr wrap="square" rtlCol="0">
                <a:spAutoFit/>
              </a:bodyPr>
              <a:lstStyle/>
              <a:p>
                <a:r>
                  <a:rPr lang="fr-CA" dirty="0"/>
                  <a:t>Soient n objets distincts, on cherche à en extraire k et les aligner, on parle alors d’arrangement de k parmi n.</a:t>
                </a:r>
              </a:p>
              <a:p>
                <a:endParaRPr lang="fr-CA" dirty="0"/>
              </a:p>
              <a:p>
                <a:r>
                  <a:rPr lang="fr-CA" dirty="0"/>
                  <a:t>On a k positions dans lesquelles on doit mettre les k objets sélectionnés sans remise au hasard parmi les n.</a:t>
                </a:r>
              </a:p>
              <a:p>
                <a:endParaRPr lang="fr-CA" dirty="0"/>
              </a:p>
              <a:p>
                <a:endParaRPr lang="fr-CA" dirty="0"/>
              </a:p>
              <a:p>
                <a:r>
                  <a:rPr lang="fr-CA" dirty="0"/>
                  <a:t> </a:t>
                </a:r>
              </a:p>
              <a:p>
                <a:r>
                  <a:rPr lang="fr-CA" dirty="0"/>
                  <a:t>Par le principe de multiplication, cela donne: </a:t>
                </a:r>
                <a14:m>
                  <m:oMath xmlns:m="http://schemas.openxmlformats.org/officeDocument/2006/math">
                    <m:r>
                      <a:rPr lang="fr-CA" b="0" i="1" smtClean="0">
                        <a:latin typeface="Cambria Math" panose="02040503050406030204" pitchFamily="18" charset="0"/>
                      </a:rPr>
                      <m:t>𝑛</m:t>
                    </m:r>
                    <m:r>
                      <a:rPr lang="fr-CA" b="0" i="1" smtClean="0">
                        <a:latin typeface="Cambria Math" panose="02040503050406030204" pitchFamily="18" charset="0"/>
                      </a:rPr>
                      <m:t>∗</m:t>
                    </m:r>
                    <m:d>
                      <m:dPr>
                        <m:ctrlPr>
                          <a:rPr lang="fr-CA" b="0" i="1" smtClean="0">
                            <a:latin typeface="Cambria Math" panose="02040503050406030204" pitchFamily="18" charset="0"/>
                          </a:rPr>
                        </m:ctrlPr>
                      </m:dPr>
                      <m:e>
                        <m:r>
                          <a:rPr lang="fr-CA" b="0" i="1" smtClean="0">
                            <a:latin typeface="Cambria Math" panose="02040503050406030204" pitchFamily="18" charset="0"/>
                          </a:rPr>
                          <m:t>𝑛</m:t>
                        </m:r>
                        <m:r>
                          <a:rPr lang="fr-CA" b="0" i="1" smtClean="0">
                            <a:latin typeface="Cambria Math" panose="02040503050406030204" pitchFamily="18" charset="0"/>
                          </a:rPr>
                          <m:t>−1</m:t>
                        </m:r>
                      </m:e>
                    </m:d>
                    <m:r>
                      <a:rPr lang="fr-CA" b="0" i="1" smtClean="0">
                        <a:latin typeface="Cambria Math" panose="02040503050406030204" pitchFamily="18" charset="0"/>
                      </a:rPr>
                      <m:t>∗…….</m:t>
                    </m:r>
                    <m:d>
                      <m:dPr>
                        <m:ctrlPr>
                          <a:rPr lang="fr-CA" b="0" i="1" smtClean="0">
                            <a:latin typeface="Cambria Math" panose="02040503050406030204" pitchFamily="18" charset="0"/>
                          </a:rPr>
                        </m:ctrlPr>
                      </m:dPr>
                      <m:e>
                        <m:r>
                          <a:rPr lang="fr-CA" b="0" i="1" smtClean="0">
                            <a:latin typeface="Cambria Math" panose="02040503050406030204" pitchFamily="18" charset="0"/>
                          </a:rPr>
                          <m:t>𝑛</m:t>
                        </m:r>
                        <m:r>
                          <a:rPr lang="fr-CA" b="0" i="1" smtClean="0">
                            <a:latin typeface="Cambria Math" panose="02040503050406030204" pitchFamily="18" charset="0"/>
                          </a:rPr>
                          <m:t>−</m:t>
                        </m:r>
                        <m:r>
                          <a:rPr lang="fr-CA" b="0" i="1" smtClean="0">
                            <a:latin typeface="Cambria Math" panose="02040503050406030204" pitchFamily="18" charset="0"/>
                          </a:rPr>
                          <m:t>𝑘</m:t>
                        </m:r>
                        <m:r>
                          <a:rPr lang="fr-CA" b="0" i="1" smtClean="0">
                            <a:latin typeface="Cambria Math" panose="02040503050406030204" pitchFamily="18" charset="0"/>
                          </a:rPr>
                          <m:t>+1</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𝑛</m:t>
                        </m:r>
                        <m:r>
                          <a:rPr lang="fr-CA" b="0" i="1" smtClean="0">
                            <a:latin typeface="Cambria Math" panose="02040503050406030204" pitchFamily="18" charset="0"/>
                          </a:rPr>
                          <m:t>!</m:t>
                        </m:r>
                      </m:num>
                      <m:den>
                        <m:d>
                          <m:dPr>
                            <m:ctrlPr>
                              <a:rPr lang="fr-CA" b="0" i="1" smtClean="0">
                                <a:latin typeface="Cambria Math" panose="02040503050406030204" pitchFamily="18" charset="0"/>
                              </a:rPr>
                            </m:ctrlPr>
                          </m:dPr>
                          <m:e>
                            <m:r>
                              <a:rPr lang="fr-CA" b="0" i="1" smtClean="0">
                                <a:latin typeface="Cambria Math" panose="02040503050406030204" pitchFamily="18" charset="0"/>
                              </a:rPr>
                              <m:t>𝑛</m:t>
                            </m:r>
                            <m:r>
                              <a:rPr lang="fr-CA" b="0" i="1" smtClean="0">
                                <a:latin typeface="Cambria Math" panose="02040503050406030204" pitchFamily="18" charset="0"/>
                              </a:rPr>
                              <m:t>−</m:t>
                            </m:r>
                            <m:r>
                              <a:rPr lang="fr-CA" b="0" i="1" smtClean="0">
                                <a:latin typeface="Cambria Math" panose="02040503050406030204" pitchFamily="18" charset="0"/>
                              </a:rPr>
                              <m:t>𝑘</m:t>
                            </m:r>
                          </m:e>
                        </m:d>
                        <m:r>
                          <a:rPr lang="fr-CA" b="0" i="1" smtClean="0">
                            <a:latin typeface="Cambria Math" panose="02040503050406030204" pitchFamily="18" charset="0"/>
                          </a:rPr>
                          <m:t>!</m:t>
                        </m:r>
                      </m:den>
                    </m:f>
                    <m:r>
                      <a:rPr lang="fr-CA" b="0" i="1" smtClean="0">
                        <a:latin typeface="Cambria Math" panose="02040503050406030204" pitchFamily="18" charset="0"/>
                      </a:rPr>
                      <m:t>=</m:t>
                    </m:r>
                    <m:sSubSup>
                      <m:sSubSupPr>
                        <m:ctrlPr>
                          <a:rPr lang="fr-CA" b="0" i="1" smtClean="0">
                            <a:latin typeface="Cambria Math" panose="02040503050406030204" pitchFamily="18" charset="0"/>
                          </a:rPr>
                        </m:ctrlPr>
                      </m:sSubSupPr>
                      <m:e>
                        <m:r>
                          <a:rPr lang="fr-CA" b="0" i="1" smtClean="0">
                            <a:latin typeface="Cambria Math" panose="02040503050406030204" pitchFamily="18" charset="0"/>
                          </a:rPr>
                          <m:t>𝐴</m:t>
                        </m:r>
                      </m:e>
                      <m:sub>
                        <m:r>
                          <a:rPr lang="fr-CA" b="0" i="1" smtClean="0">
                            <a:latin typeface="Cambria Math" panose="02040503050406030204" pitchFamily="18" charset="0"/>
                          </a:rPr>
                          <m:t>𝑘</m:t>
                        </m:r>
                      </m:sub>
                      <m:sup>
                        <m:r>
                          <a:rPr lang="fr-CA" b="0" i="1" smtClean="0">
                            <a:latin typeface="Cambria Math" panose="02040503050406030204" pitchFamily="18" charset="0"/>
                          </a:rPr>
                          <m:t>𝑛</m:t>
                        </m:r>
                      </m:sup>
                    </m:sSubSup>
                  </m:oMath>
                </a14:m>
                <a:r>
                  <a:rPr lang="fr-CA" dirty="0"/>
                  <a:t> arrangements possibles.</a:t>
                </a:r>
              </a:p>
              <a:p>
                <a:endParaRPr lang="fr-CA" dirty="0"/>
              </a:p>
              <a:p>
                <a:r>
                  <a:rPr lang="fr-CA" b="1" dirty="0"/>
                  <a:t>Remarque</a:t>
                </a:r>
                <a:r>
                  <a:rPr lang="fr-CA" dirty="0"/>
                  <a:t>: </a:t>
                </a:r>
              </a:p>
              <a:p>
                <a:pPr marL="285750" indent="-285750">
                  <a:buFont typeface="Arial" panose="020B0604020202020204" pitchFamily="34" charset="0"/>
                  <a:buChar char="•"/>
                </a:pPr>
                <a:r>
                  <a:rPr lang="fr-CA" dirty="0"/>
                  <a:t>Les calculatrices utilisent la touche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𝑛𝑃</m:t>
                        </m:r>
                      </m:e>
                      <m:sub>
                        <m:r>
                          <a:rPr lang="fr-CA" b="0" i="1" smtClean="0">
                            <a:latin typeface="Cambria Math" panose="02040503050406030204" pitchFamily="18" charset="0"/>
                          </a:rPr>
                          <m:t>𝑘</m:t>
                        </m:r>
                      </m:sub>
                    </m:sSub>
                  </m:oMath>
                </a14:m>
                <a:endParaRPr lang="fr-CA" dirty="0"/>
              </a:p>
              <a:p>
                <a:pPr marL="285750" indent="-285750">
                  <a:buFont typeface="Arial" panose="020B0604020202020204" pitchFamily="34" charset="0"/>
                  <a:buChar char="•"/>
                </a:pPr>
                <a:r>
                  <a:rPr lang="fr-CA" dirty="0"/>
                  <a:t>L’ordre est important.</a:t>
                </a:r>
              </a:p>
            </p:txBody>
          </p:sp>
        </mc:Choice>
        <mc:Fallback xmlns="">
          <p:sp>
            <p:nvSpPr>
              <p:cNvPr id="5" name="ZoneTexte 4">
                <a:extLst>
                  <a:ext uri="{FF2B5EF4-FFF2-40B4-BE49-F238E27FC236}">
                    <a16:creationId xmlns:a16="http://schemas.microsoft.com/office/drawing/2014/main" id="{DF80BD1E-19D8-46B8-9FD0-1715BFF2DCFA}"/>
                  </a:ext>
                </a:extLst>
              </p:cNvPr>
              <p:cNvSpPr txBox="1">
                <a:spLocks noRot="1" noChangeAspect="1" noMove="1" noResize="1" noEditPoints="1" noAdjustHandles="1" noChangeArrowheads="1" noChangeShapeType="1" noTextEdit="1"/>
              </p:cNvSpPr>
              <p:nvPr/>
            </p:nvSpPr>
            <p:spPr>
              <a:xfrm>
                <a:off x="1240971" y="2181497"/>
                <a:ext cx="9392195" cy="4120872"/>
              </a:xfrm>
              <a:prstGeom prst="rect">
                <a:avLst/>
              </a:prstGeom>
              <a:blipFill>
                <a:blip r:embed="rId2"/>
                <a:stretch>
                  <a:fillRect l="-584" t="-888" r="-844" b="-1479"/>
                </a:stretch>
              </a:blipFill>
            </p:spPr>
            <p:txBody>
              <a:bodyPr/>
              <a:lstStyle/>
              <a:p>
                <a:r>
                  <a:rPr lang="fr-CA">
                    <a:noFill/>
                  </a:rPr>
                  <a:t> </a:t>
                </a:r>
              </a:p>
            </p:txBody>
          </p:sp>
        </mc:Fallback>
      </mc:AlternateContent>
      <p:graphicFrame>
        <p:nvGraphicFramePr>
          <p:cNvPr id="6" name="Tableau 6">
            <a:extLst>
              <a:ext uri="{FF2B5EF4-FFF2-40B4-BE49-F238E27FC236}">
                <a16:creationId xmlns:a16="http://schemas.microsoft.com/office/drawing/2014/main" id="{1B69DDD0-1134-4B12-AB28-D6E31DA9453C}"/>
              </a:ext>
            </a:extLst>
          </p:cNvPr>
          <p:cNvGraphicFramePr>
            <a:graphicFrameLocks noGrp="1"/>
          </p:cNvGraphicFramePr>
          <p:nvPr>
            <p:extLst>
              <p:ext uri="{D42A27DB-BD31-4B8C-83A1-F6EECF244321}">
                <p14:modId xmlns:p14="http://schemas.microsoft.com/office/powerpoint/2010/main" val="112228407"/>
              </p:ext>
            </p:extLst>
          </p:nvPr>
        </p:nvGraphicFramePr>
        <p:xfrm>
          <a:off x="2032000" y="3657601"/>
          <a:ext cx="8127999" cy="418010"/>
        </p:xfrm>
        <a:graphic>
          <a:graphicData uri="http://schemas.openxmlformats.org/drawingml/2006/table">
            <a:tbl>
              <a:tblPr firstRow="1" bandRow="1" bandCol="1">
                <a:tableStyleId>{7DF18680-E054-41AD-8BC1-D1AEF772440D}</a:tableStyleId>
              </a:tblPr>
              <a:tblGrid>
                <a:gridCol w="903111">
                  <a:extLst>
                    <a:ext uri="{9D8B030D-6E8A-4147-A177-3AD203B41FA5}">
                      <a16:colId xmlns:a16="http://schemas.microsoft.com/office/drawing/2014/main" val="1568814161"/>
                    </a:ext>
                  </a:extLst>
                </a:gridCol>
                <a:gridCol w="903111">
                  <a:extLst>
                    <a:ext uri="{9D8B030D-6E8A-4147-A177-3AD203B41FA5}">
                      <a16:colId xmlns:a16="http://schemas.microsoft.com/office/drawing/2014/main" val="230985055"/>
                    </a:ext>
                  </a:extLst>
                </a:gridCol>
                <a:gridCol w="903111">
                  <a:extLst>
                    <a:ext uri="{9D8B030D-6E8A-4147-A177-3AD203B41FA5}">
                      <a16:colId xmlns:a16="http://schemas.microsoft.com/office/drawing/2014/main" val="4227035388"/>
                    </a:ext>
                  </a:extLst>
                </a:gridCol>
                <a:gridCol w="903111">
                  <a:extLst>
                    <a:ext uri="{9D8B030D-6E8A-4147-A177-3AD203B41FA5}">
                      <a16:colId xmlns:a16="http://schemas.microsoft.com/office/drawing/2014/main" val="902430811"/>
                    </a:ext>
                  </a:extLst>
                </a:gridCol>
                <a:gridCol w="903111">
                  <a:extLst>
                    <a:ext uri="{9D8B030D-6E8A-4147-A177-3AD203B41FA5}">
                      <a16:colId xmlns:a16="http://schemas.microsoft.com/office/drawing/2014/main" val="1404933724"/>
                    </a:ext>
                  </a:extLst>
                </a:gridCol>
                <a:gridCol w="903111">
                  <a:extLst>
                    <a:ext uri="{9D8B030D-6E8A-4147-A177-3AD203B41FA5}">
                      <a16:colId xmlns:a16="http://schemas.microsoft.com/office/drawing/2014/main" val="1372463582"/>
                    </a:ext>
                  </a:extLst>
                </a:gridCol>
                <a:gridCol w="903111">
                  <a:extLst>
                    <a:ext uri="{9D8B030D-6E8A-4147-A177-3AD203B41FA5}">
                      <a16:colId xmlns:a16="http://schemas.microsoft.com/office/drawing/2014/main" val="4191197612"/>
                    </a:ext>
                  </a:extLst>
                </a:gridCol>
                <a:gridCol w="903111">
                  <a:extLst>
                    <a:ext uri="{9D8B030D-6E8A-4147-A177-3AD203B41FA5}">
                      <a16:colId xmlns:a16="http://schemas.microsoft.com/office/drawing/2014/main" val="1374451017"/>
                    </a:ext>
                  </a:extLst>
                </a:gridCol>
                <a:gridCol w="903111">
                  <a:extLst>
                    <a:ext uri="{9D8B030D-6E8A-4147-A177-3AD203B41FA5}">
                      <a16:colId xmlns:a16="http://schemas.microsoft.com/office/drawing/2014/main" val="3695429107"/>
                    </a:ext>
                  </a:extLst>
                </a:gridCol>
              </a:tblGrid>
              <a:tr h="418010">
                <a:tc>
                  <a:txBody>
                    <a:bodyPr/>
                    <a:lstStyle/>
                    <a:p>
                      <a:r>
                        <a:rPr lang="fr-CA"/>
                        <a:t>n</a:t>
                      </a:r>
                      <a:endParaRPr lang="fr-CA" dirty="0"/>
                    </a:p>
                  </a:txBody>
                  <a:tcPr/>
                </a:tc>
                <a:tc>
                  <a:txBody>
                    <a:bodyPr/>
                    <a:lstStyle/>
                    <a:p>
                      <a:r>
                        <a:rPr lang="fr-CA"/>
                        <a:t>n-1</a:t>
                      </a:r>
                      <a:endParaRPr lang="fr-CA" dirty="0"/>
                    </a:p>
                  </a:txBody>
                  <a:tcPr/>
                </a:tc>
                <a:tc>
                  <a:txBody>
                    <a:bodyPr/>
                    <a:lstStyle/>
                    <a:p>
                      <a:r>
                        <a:rPr lang="fr-CA"/>
                        <a:t>n-2</a:t>
                      </a:r>
                      <a:endParaRPr lang="fr-CA" dirty="0"/>
                    </a:p>
                  </a:txBody>
                  <a:tcPr/>
                </a:tc>
                <a:tc>
                  <a:txBody>
                    <a:bodyPr/>
                    <a:lstStyle/>
                    <a:p>
                      <a:endParaRPr lang="fr-CA" dirty="0"/>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r>
                        <a:rPr lang="fr-CA"/>
                        <a:t>n-k+1</a:t>
                      </a:r>
                      <a:endParaRPr lang="fr-CA" dirty="0"/>
                    </a:p>
                  </a:txBody>
                  <a:tcPr/>
                </a:tc>
                <a:extLst>
                  <a:ext uri="{0D108BD9-81ED-4DB2-BD59-A6C34878D82A}">
                    <a16:rowId xmlns:a16="http://schemas.microsoft.com/office/drawing/2014/main" val="3472322547"/>
                  </a:ext>
                </a:extLst>
              </a:tr>
            </a:tbl>
          </a:graphicData>
        </a:graphic>
      </p:graphicFrame>
    </p:spTree>
    <p:extLst>
      <p:ext uri="{BB962C8B-B14F-4D97-AF65-F5344CB8AC3E}">
        <p14:creationId xmlns:p14="http://schemas.microsoft.com/office/powerpoint/2010/main" val="2206172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lowchart: Document 10">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C561297-E0C6-467F-B1A8-CEC08A804001}"/>
              </a:ext>
            </a:extLst>
          </p:cNvPr>
          <p:cNvSpPr>
            <a:spLocks noGrp="1"/>
          </p:cNvSpPr>
          <p:nvPr>
            <p:ph type="title"/>
          </p:nvPr>
        </p:nvSpPr>
        <p:spPr>
          <a:xfrm>
            <a:off x="838200" y="171162"/>
            <a:ext cx="2840182" cy="2371148"/>
          </a:xfrm>
        </p:spPr>
        <p:txBody>
          <a:bodyPr>
            <a:normAutofit/>
          </a:bodyPr>
          <a:lstStyle/>
          <a:p>
            <a:r>
              <a:rPr lang="fr-CA" sz="1500" b="1">
                <a:solidFill>
                  <a:srgbClr val="FFFFFF"/>
                </a:solidFill>
              </a:rPr>
              <a:t>EXEMPLE 1:</a:t>
            </a:r>
            <a:br>
              <a:rPr lang="fr-CA" sz="1500">
                <a:solidFill>
                  <a:srgbClr val="FFFFFF"/>
                </a:solidFill>
              </a:rPr>
            </a:br>
            <a:r>
              <a:rPr lang="fr-CA" sz="1500">
                <a:solidFill>
                  <a:srgbClr val="FFFFFF"/>
                </a:solidFill>
              </a:rPr>
              <a:t>(a) Combien de mots de 5 lettres peut-on former?</a:t>
            </a:r>
            <a:br>
              <a:rPr lang="fr-CA" sz="1500">
                <a:solidFill>
                  <a:srgbClr val="FFFFFF"/>
                </a:solidFill>
              </a:rPr>
            </a:br>
            <a:r>
              <a:rPr lang="fr-CA" sz="1500">
                <a:solidFill>
                  <a:srgbClr val="FFFFFF"/>
                </a:solidFill>
              </a:rPr>
              <a:t>(b) Combien de mots de 5 lettres différentes peut-on former ?</a:t>
            </a:r>
            <a:br>
              <a:rPr lang="fr-CA" sz="1500">
                <a:solidFill>
                  <a:srgbClr val="FFFFFF"/>
                </a:solidFill>
              </a:rPr>
            </a:br>
            <a:r>
              <a:rPr lang="fr-CA" sz="1500">
                <a:solidFill>
                  <a:srgbClr val="FFFFFF"/>
                </a:solidFill>
              </a:rPr>
              <a:t>(c) Combien de mots de 5 lettres différentes peut-0n former, commençant et finissant par une voyelle?</a:t>
            </a:r>
          </a:p>
        </p:txBody>
      </p:sp>
      <p:sp>
        <p:nvSpPr>
          <p:cNvPr id="3" name="Espace réservé du pied de page 2">
            <a:extLst>
              <a:ext uri="{FF2B5EF4-FFF2-40B4-BE49-F238E27FC236}">
                <a16:creationId xmlns:a16="http://schemas.microsoft.com/office/drawing/2014/main" id="{7A779E87-7B62-4A1F-B33A-0F6EA066D9BB}"/>
              </a:ext>
            </a:extLst>
          </p:cNvPr>
          <p:cNvSpPr>
            <a:spLocks noGrp="1"/>
          </p:cNvSpPr>
          <p:nvPr>
            <p:ph type="ftr" sz="quarter" idx="11"/>
          </p:nvPr>
        </p:nvSpPr>
        <p:spPr>
          <a:xfrm>
            <a:off x="838200" y="6356350"/>
            <a:ext cx="5960951" cy="365125"/>
          </a:xfrm>
          <a:noFill/>
        </p:spPr>
        <p:txBody>
          <a:bodyPr>
            <a:normAutofit/>
          </a:bodyPr>
          <a:lstStyle/>
          <a:p>
            <a:pPr algn="l"/>
            <a:endParaRPr lang="fr-CA"/>
          </a:p>
        </p:txBody>
      </p:sp>
      <p:sp>
        <p:nvSpPr>
          <p:cNvPr id="4" name="Espace réservé du numéro de diapositive 3">
            <a:extLst>
              <a:ext uri="{FF2B5EF4-FFF2-40B4-BE49-F238E27FC236}">
                <a16:creationId xmlns:a16="http://schemas.microsoft.com/office/drawing/2014/main" id="{7596F4DB-2DBB-418C-9E46-0CF76F245F53}"/>
              </a:ext>
            </a:extLst>
          </p:cNvPr>
          <p:cNvSpPr>
            <a:spLocks noGrp="1"/>
          </p:cNvSpPr>
          <p:nvPr>
            <p:ph type="sldNum" sz="quarter" idx="12"/>
          </p:nvPr>
        </p:nvSpPr>
        <p:spPr>
          <a:xfrm>
            <a:off x="10926476" y="6356350"/>
            <a:ext cx="625443" cy="365125"/>
          </a:xfrm>
          <a:noFill/>
        </p:spPr>
        <p:txBody>
          <a:bodyPr>
            <a:normAutofit/>
          </a:bodyPr>
          <a:lstStyle/>
          <a:p>
            <a:pPr algn="l">
              <a:spcAft>
                <a:spcPts val="600"/>
              </a:spcAft>
            </a:pPr>
            <a:fld id="{26377AD9-CE17-438C-A638-C64D2D42D7CF}" type="slidenum">
              <a:rPr lang="fr-CA" smtClean="0"/>
              <a:pPr algn="l">
                <a:spcAft>
                  <a:spcPts val="600"/>
                </a:spcAft>
              </a:pPr>
              <a:t>19</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5D93C58-1676-4213-BE24-FF82AAF7C159}"/>
                  </a:ext>
                </a:extLst>
              </p:cNvPr>
              <p:cNvSpPr txBox="1"/>
              <p:nvPr/>
            </p:nvSpPr>
            <p:spPr>
              <a:xfrm>
                <a:off x="1227908" y="4245429"/>
                <a:ext cx="9836332" cy="2139047"/>
              </a:xfrm>
              <a:prstGeom prst="rect">
                <a:avLst/>
              </a:prstGeom>
              <a:noFill/>
            </p:spPr>
            <p:txBody>
              <a:bodyPr wrap="square" rtlCol="0">
                <a:spAutoFit/>
              </a:bodyPr>
              <a:lstStyle/>
              <a:p>
                <a:pPr>
                  <a:spcAft>
                    <a:spcPts val="600"/>
                  </a:spcAft>
                </a:pPr>
                <a:r>
                  <a:rPr lang="fr-CA" dirty="0"/>
                  <a:t>Réponse:</a:t>
                </a:r>
                <a:endParaRPr lang="fr-CA"/>
              </a:p>
              <a:p>
                <a:pPr marL="342900" indent="-342900">
                  <a:spcAft>
                    <a:spcPts val="600"/>
                  </a:spcAft>
                  <a:buAutoNum type="alphaLcParenBoth"/>
                </a:pPr>
                <a:r>
                  <a:rPr lang="fr-CA" dirty="0"/>
                  <a:t>26*26*26*26*26=11881376</a:t>
                </a:r>
                <a:endParaRPr lang="fr-CA"/>
              </a:p>
              <a:p>
                <a:pPr marL="342900" indent="-342900">
                  <a:spcAft>
                    <a:spcPts val="600"/>
                  </a:spcAft>
                  <a:buAutoNum type="alphaLcParenBoth"/>
                </a:pPr>
                <a:r>
                  <a:rPr lang="fr-CA" dirty="0"/>
                  <a:t>26*25*24*23*22=</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26</m:t>
                        </m:r>
                        <m:r>
                          <a:rPr lang="fr-CA" b="0" i="1" smtClean="0">
                            <a:latin typeface="Cambria Math" panose="02040503050406030204" pitchFamily="18" charset="0"/>
                          </a:rPr>
                          <m:t>𝑃</m:t>
                        </m:r>
                      </m:e>
                      <m:sub>
                        <m:r>
                          <a:rPr lang="fr-CA" b="0" i="1" smtClean="0">
                            <a:latin typeface="Cambria Math" panose="02040503050406030204" pitchFamily="18" charset="0"/>
                          </a:rPr>
                          <m:t>5</m:t>
                        </m:r>
                      </m:sub>
                    </m:sSub>
                    <m:r>
                      <a:rPr lang="fr-CA" b="0" i="1" smtClean="0">
                        <a:latin typeface="Cambria Math" panose="02040503050406030204" pitchFamily="18" charset="0"/>
                      </a:rPr>
                      <m:t>=7893600</m:t>
                    </m:r>
                  </m:oMath>
                </a14:m>
                <a:endParaRPr lang="fr-CA"/>
              </a:p>
              <a:p>
                <a:pPr marL="342900" indent="-342900">
                  <a:spcAft>
                    <a:spcPts val="600"/>
                  </a:spcAft>
                  <a:buAutoNum type="alphaLcParenBoth"/>
                </a:pPr>
                <a:r>
                  <a:rPr lang="fr-CA" dirty="0"/>
                  <a:t>6*24*23*22*5=364320</a:t>
                </a:r>
                <a:endParaRPr lang="fr-CA"/>
              </a:p>
              <a:p>
                <a:pPr marL="342900" indent="-342900">
                  <a:spcAft>
                    <a:spcPts val="600"/>
                  </a:spcAft>
                  <a:buAutoNum type="alphaLcParenBoth"/>
                </a:pPr>
                <a:endParaRPr lang="fr-CA"/>
              </a:p>
              <a:p>
                <a:pPr marL="342900" indent="-342900">
                  <a:spcAft>
                    <a:spcPts val="600"/>
                  </a:spcAft>
                  <a:buAutoNum type="alphaLcParenBoth"/>
                </a:pPr>
                <a:endParaRPr lang="fr-CA"/>
              </a:p>
            </p:txBody>
          </p:sp>
        </mc:Choice>
        <mc:Fallback xmlns="">
          <p:sp>
            <p:nvSpPr>
              <p:cNvPr id="5" name="ZoneTexte 4">
                <a:extLst>
                  <a:ext uri="{FF2B5EF4-FFF2-40B4-BE49-F238E27FC236}">
                    <a16:creationId xmlns:a16="http://schemas.microsoft.com/office/drawing/2014/main" id="{15D93C58-1676-4213-BE24-FF82AAF7C159}"/>
                  </a:ext>
                </a:extLst>
              </p:cNvPr>
              <p:cNvSpPr txBox="1">
                <a:spLocks noRot="1" noChangeAspect="1" noMove="1" noResize="1" noEditPoints="1" noAdjustHandles="1" noChangeArrowheads="1" noChangeShapeType="1" noTextEdit="1"/>
              </p:cNvSpPr>
              <p:nvPr/>
            </p:nvSpPr>
            <p:spPr>
              <a:xfrm>
                <a:off x="1227908" y="4245429"/>
                <a:ext cx="9836332" cy="2139047"/>
              </a:xfrm>
              <a:prstGeom prst="rect">
                <a:avLst/>
              </a:prstGeom>
              <a:blipFill>
                <a:blip r:embed="rId2"/>
                <a:stretch>
                  <a:fillRect l="-496" t="-1425"/>
                </a:stretch>
              </a:blipFill>
            </p:spPr>
            <p:txBody>
              <a:bodyPr/>
              <a:lstStyle/>
              <a:p>
                <a:r>
                  <a:rPr lang="fr-CA">
                    <a:noFill/>
                  </a:rPr>
                  <a:t> </a:t>
                </a:r>
              </a:p>
            </p:txBody>
          </p:sp>
        </mc:Fallback>
      </mc:AlternateContent>
      <p:graphicFrame>
        <p:nvGraphicFramePr>
          <p:cNvPr id="6" name="Tableau 6">
            <a:extLst>
              <a:ext uri="{FF2B5EF4-FFF2-40B4-BE49-F238E27FC236}">
                <a16:creationId xmlns:a16="http://schemas.microsoft.com/office/drawing/2014/main" id="{7E66D4C4-7755-4481-90E4-5DC512563659}"/>
              </a:ext>
            </a:extLst>
          </p:cNvPr>
          <p:cNvGraphicFramePr>
            <a:graphicFrameLocks noGrp="1"/>
          </p:cNvGraphicFramePr>
          <p:nvPr>
            <p:extLst>
              <p:ext uri="{D42A27DB-BD31-4B8C-83A1-F6EECF244321}">
                <p14:modId xmlns:p14="http://schemas.microsoft.com/office/powerpoint/2010/main" val="3747737714"/>
              </p:ext>
            </p:extLst>
          </p:nvPr>
        </p:nvGraphicFramePr>
        <p:xfrm>
          <a:off x="5506801" y="5447211"/>
          <a:ext cx="4749802" cy="750028"/>
        </p:xfrm>
        <a:graphic>
          <a:graphicData uri="http://schemas.openxmlformats.org/drawingml/2006/table">
            <a:tbl>
              <a:tblPr firstRow="1" bandRow="1">
                <a:tableStyleId>{5C22544A-7EE6-4342-B048-85BDC9FD1C3A}</a:tableStyleId>
              </a:tblPr>
              <a:tblGrid>
                <a:gridCol w="810260">
                  <a:extLst>
                    <a:ext uri="{9D8B030D-6E8A-4147-A177-3AD203B41FA5}">
                      <a16:colId xmlns:a16="http://schemas.microsoft.com/office/drawing/2014/main" val="2989585966"/>
                    </a:ext>
                  </a:extLst>
                </a:gridCol>
                <a:gridCol w="1043094">
                  <a:extLst>
                    <a:ext uri="{9D8B030D-6E8A-4147-A177-3AD203B41FA5}">
                      <a16:colId xmlns:a16="http://schemas.microsoft.com/office/drawing/2014/main" val="4165384512"/>
                    </a:ext>
                  </a:extLst>
                </a:gridCol>
                <a:gridCol w="1043094">
                  <a:extLst>
                    <a:ext uri="{9D8B030D-6E8A-4147-A177-3AD203B41FA5}">
                      <a16:colId xmlns:a16="http://schemas.microsoft.com/office/drawing/2014/main" val="641923015"/>
                    </a:ext>
                  </a:extLst>
                </a:gridCol>
                <a:gridCol w="1043094">
                  <a:extLst>
                    <a:ext uri="{9D8B030D-6E8A-4147-A177-3AD203B41FA5}">
                      <a16:colId xmlns:a16="http://schemas.microsoft.com/office/drawing/2014/main" val="3777796382"/>
                    </a:ext>
                  </a:extLst>
                </a:gridCol>
                <a:gridCol w="810260">
                  <a:extLst>
                    <a:ext uri="{9D8B030D-6E8A-4147-A177-3AD203B41FA5}">
                      <a16:colId xmlns:a16="http://schemas.microsoft.com/office/drawing/2014/main" val="659880294"/>
                    </a:ext>
                  </a:extLst>
                </a:gridCol>
              </a:tblGrid>
              <a:tr h="750028">
                <a:tc>
                  <a:txBody>
                    <a:bodyPr/>
                    <a:lstStyle/>
                    <a:p>
                      <a:r>
                        <a:rPr lang="fr-CA" sz="3300"/>
                        <a:t>6</a:t>
                      </a:r>
                    </a:p>
                  </a:txBody>
                  <a:tcPr marL="167640" marR="167640" marT="83820" marB="83820"/>
                </a:tc>
                <a:tc>
                  <a:txBody>
                    <a:bodyPr/>
                    <a:lstStyle/>
                    <a:p>
                      <a:r>
                        <a:rPr lang="fr-CA" sz="3300"/>
                        <a:t>24</a:t>
                      </a:r>
                    </a:p>
                  </a:txBody>
                  <a:tcPr marL="167640" marR="167640" marT="83820" marB="83820"/>
                </a:tc>
                <a:tc>
                  <a:txBody>
                    <a:bodyPr/>
                    <a:lstStyle/>
                    <a:p>
                      <a:r>
                        <a:rPr lang="fr-CA" sz="3300"/>
                        <a:t>23</a:t>
                      </a:r>
                    </a:p>
                  </a:txBody>
                  <a:tcPr marL="167640" marR="167640" marT="83820" marB="83820"/>
                </a:tc>
                <a:tc>
                  <a:txBody>
                    <a:bodyPr/>
                    <a:lstStyle/>
                    <a:p>
                      <a:r>
                        <a:rPr lang="fr-CA" sz="3300"/>
                        <a:t>22</a:t>
                      </a:r>
                    </a:p>
                  </a:txBody>
                  <a:tcPr marL="167640" marR="167640" marT="83820" marB="83820"/>
                </a:tc>
                <a:tc>
                  <a:txBody>
                    <a:bodyPr/>
                    <a:lstStyle/>
                    <a:p>
                      <a:r>
                        <a:rPr lang="fr-CA" sz="3300" dirty="0"/>
                        <a:t>5</a:t>
                      </a:r>
                    </a:p>
                  </a:txBody>
                  <a:tcPr marL="167640" marR="167640" marT="83820" marB="83820"/>
                </a:tc>
                <a:extLst>
                  <a:ext uri="{0D108BD9-81ED-4DB2-BD59-A6C34878D82A}">
                    <a16:rowId xmlns:a16="http://schemas.microsoft.com/office/drawing/2014/main" val="1659705585"/>
                  </a:ext>
                </a:extLst>
              </a:tr>
            </a:tbl>
          </a:graphicData>
        </a:graphic>
      </p:graphicFrame>
    </p:spTree>
    <p:extLst>
      <p:ext uri="{BB962C8B-B14F-4D97-AF65-F5344CB8AC3E}">
        <p14:creationId xmlns:p14="http://schemas.microsoft.com/office/powerpoint/2010/main" val="3254803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1BBBCEBF-A319-4BE2-A798-CADF2E7A0597}"/>
                  </a:ext>
                </a:extLst>
              </p:cNvPr>
              <p:cNvSpPr>
                <a:spLocks noGrp="1"/>
              </p:cNvSpPr>
              <p:nvPr>
                <p:ph type="title"/>
              </p:nvPr>
            </p:nvSpPr>
            <p:spPr>
              <a:xfrm>
                <a:off x="1524000" y="1293338"/>
                <a:ext cx="9144000" cy="3274592"/>
              </a:xfrm>
            </p:spPr>
            <p:txBody>
              <a:bodyPr vert="horz" lIns="91440" tIns="45720" rIns="91440" bIns="45720" rtlCol="0" anchor="ctr">
                <a:normAutofit fontScale="90000"/>
              </a:bodyPr>
              <a:lstStyle/>
              <a:p>
                <a:pPr algn="ctr"/>
                <a:r>
                  <a:rPr lang="en-US" sz="2700" kern="1200" dirty="0">
                    <a:solidFill>
                      <a:schemeClr val="tx1"/>
                    </a:solidFill>
                    <a:ea typeface="+mj-ea"/>
                    <a:cs typeface="+mj-cs"/>
                  </a:rPr>
                  <a:t>COMBINAISONS</a:t>
                </a:r>
                <a:br>
                  <a:rPr lang="en-US" sz="2700" kern="1200" dirty="0">
                    <a:solidFill>
                      <a:schemeClr val="tx1"/>
                    </a:solidFill>
                    <a:ea typeface="+mj-ea"/>
                    <a:cs typeface="+mj-cs"/>
                  </a:rPr>
                </a:br>
                <a:br>
                  <a:rPr lang="en-US" sz="2700" kern="1200" dirty="0">
                    <a:solidFill>
                      <a:schemeClr val="tx1"/>
                    </a:solidFill>
                    <a:ea typeface="+mj-ea"/>
                    <a:cs typeface="+mj-cs"/>
                  </a:rPr>
                </a:br>
                <a:r>
                  <a:rPr lang="en-US" sz="2700" kern="1200" dirty="0">
                    <a:solidFill>
                      <a:schemeClr val="tx1"/>
                    </a:solidFill>
                    <a:ea typeface="+mj-ea"/>
                    <a:cs typeface="+mj-cs"/>
                  </a:rPr>
                  <a:t>Lorsqu’on a n éléments et qu’on veuille en choisir k à la fois, on parle de combinaisons.</a:t>
                </a:r>
                <a:br>
                  <a:rPr lang="en-US" sz="2700" kern="1200" dirty="0">
                    <a:solidFill>
                      <a:schemeClr val="tx1"/>
                    </a:solidFill>
                    <a:ea typeface="+mj-ea"/>
                    <a:cs typeface="+mj-cs"/>
                  </a:rPr>
                </a:br>
                <a:r>
                  <a:rPr lang="en-US" sz="2700" kern="1200" dirty="0">
                    <a:solidFill>
                      <a:schemeClr val="tx1"/>
                    </a:solidFill>
                    <a:ea typeface="+mj-ea"/>
                    <a:cs typeface="+mj-cs"/>
                  </a:rPr>
                  <a:t>Le nombre de combinaisons possibles est:</a:t>
                </a:r>
                <a:br>
                  <a:rPr lang="en-US" sz="2700" kern="1200" dirty="0">
                    <a:solidFill>
                      <a:schemeClr val="tx1"/>
                    </a:solidFill>
                    <a:ea typeface="+mj-ea"/>
                    <a:cs typeface="+mj-cs"/>
                  </a:rPr>
                </a:br>
                <a14:m>
                  <m:oMathPara xmlns:m="http://schemas.openxmlformats.org/officeDocument/2006/math">
                    <m:oMathParaPr>
                      <m:jc m:val="centerGroup"/>
                    </m:oMathParaPr>
                    <m:oMath xmlns:m="http://schemas.openxmlformats.org/officeDocument/2006/math">
                      <m:d>
                        <m:dPr>
                          <m:ctrlPr>
                            <a:rPr lang="en-US" sz="2700" i="1" kern="1200">
                              <a:solidFill>
                                <a:schemeClr val="tx1"/>
                              </a:solidFill>
                              <a:latin typeface="Cambria Math" panose="02040503050406030204" pitchFamily="18" charset="0"/>
                              <a:ea typeface="+mj-ea"/>
                              <a:cs typeface="+mj-cs"/>
                            </a:rPr>
                          </m:ctrlPr>
                        </m:dPr>
                        <m:e>
                          <m:eqArr>
                            <m:eqArrPr>
                              <m:ctrlPr>
                                <a:rPr lang="en-US" sz="2700" b="0" i="1" kern="1200">
                                  <a:solidFill>
                                    <a:schemeClr val="tx1"/>
                                  </a:solidFill>
                                  <a:latin typeface="Cambria Math" panose="02040503050406030204" pitchFamily="18" charset="0"/>
                                  <a:ea typeface="+mj-ea"/>
                                  <a:cs typeface="+mj-cs"/>
                                </a:rPr>
                              </m:ctrlPr>
                            </m:eqArrPr>
                            <m:e>
                              <m:r>
                                <a:rPr lang="en-US" sz="2700" b="0" i="1" kern="1200">
                                  <a:solidFill>
                                    <a:schemeClr val="tx1"/>
                                  </a:solidFill>
                                  <a:latin typeface="Cambria Math" panose="02040503050406030204" pitchFamily="18" charset="0"/>
                                  <a:ea typeface="+mj-ea"/>
                                  <a:cs typeface="+mj-cs"/>
                                </a:rPr>
                                <m:t>𝑛</m:t>
                              </m:r>
                            </m:e>
                            <m:e>
                              <m:r>
                                <a:rPr lang="en-US" sz="2700" b="0" i="1" kern="1200">
                                  <a:solidFill>
                                    <a:schemeClr val="tx1"/>
                                  </a:solidFill>
                                  <a:latin typeface="Cambria Math" panose="02040503050406030204" pitchFamily="18" charset="0"/>
                                  <a:ea typeface="+mj-ea"/>
                                  <a:cs typeface="+mj-cs"/>
                                </a:rPr>
                                <m:t>𝑘</m:t>
                              </m:r>
                            </m:e>
                          </m:eqArr>
                        </m:e>
                      </m:d>
                      <m:r>
                        <a:rPr lang="en-US" sz="2700" b="0" i="1" kern="1200">
                          <a:solidFill>
                            <a:schemeClr val="tx1"/>
                          </a:solidFill>
                          <a:latin typeface="Cambria Math" panose="02040503050406030204" pitchFamily="18" charset="0"/>
                          <a:ea typeface="+mj-ea"/>
                          <a:cs typeface="+mj-cs"/>
                        </a:rPr>
                        <m:t>=</m:t>
                      </m:r>
                      <m:f>
                        <m:fPr>
                          <m:ctrlPr>
                            <a:rPr lang="en-US" sz="2700" b="0" i="1" kern="1200">
                              <a:solidFill>
                                <a:schemeClr val="tx1"/>
                              </a:solidFill>
                              <a:latin typeface="Cambria Math" panose="02040503050406030204" pitchFamily="18" charset="0"/>
                              <a:ea typeface="+mj-ea"/>
                              <a:cs typeface="+mj-cs"/>
                            </a:rPr>
                          </m:ctrlPr>
                        </m:fPr>
                        <m:num>
                          <m:r>
                            <a:rPr lang="en-US" sz="2700" b="0" i="1" kern="1200">
                              <a:solidFill>
                                <a:schemeClr val="tx1"/>
                              </a:solidFill>
                              <a:latin typeface="Cambria Math" panose="02040503050406030204" pitchFamily="18" charset="0"/>
                              <a:ea typeface="+mj-ea"/>
                              <a:cs typeface="+mj-cs"/>
                            </a:rPr>
                            <m:t>𝑛</m:t>
                          </m:r>
                          <m:r>
                            <a:rPr lang="en-US" sz="2700" b="0" i="1" kern="1200">
                              <a:solidFill>
                                <a:schemeClr val="tx1"/>
                              </a:solidFill>
                              <a:latin typeface="Cambria Math" panose="02040503050406030204" pitchFamily="18" charset="0"/>
                              <a:ea typeface="+mj-ea"/>
                              <a:cs typeface="+mj-cs"/>
                            </a:rPr>
                            <m:t>!</m:t>
                          </m:r>
                        </m:num>
                        <m:den>
                          <m:r>
                            <a:rPr lang="en-US" sz="2700" b="0" i="1" kern="1200">
                              <a:solidFill>
                                <a:schemeClr val="tx1"/>
                              </a:solidFill>
                              <a:latin typeface="Cambria Math" panose="02040503050406030204" pitchFamily="18" charset="0"/>
                              <a:ea typeface="+mj-ea"/>
                              <a:cs typeface="+mj-cs"/>
                            </a:rPr>
                            <m:t>𝑘</m:t>
                          </m:r>
                          <m:r>
                            <a:rPr lang="en-US" sz="2700" b="0" i="1" kern="1200">
                              <a:solidFill>
                                <a:schemeClr val="tx1"/>
                              </a:solidFill>
                              <a:latin typeface="Cambria Math" panose="02040503050406030204" pitchFamily="18" charset="0"/>
                              <a:ea typeface="+mj-ea"/>
                              <a:cs typeface="+mj-cs"/>
                            </a:rPr>
                            <m:t>!</m:t>
                          </m:r>
                          <m:d>
                            <m:dPr>
                              <m:ctrlPr>
                                <a:rPr lang="en-US" sz="2700" b="0" i="1" kern="1200">
                                  <a:solidFill>
                                    <a:schemeClr val="tx1"/>
                                  </a:solidFill>
                                  <a:latin typeface="Cambria Math" panose="02040503050406030204" pitchFamily="18" charset="0"/>
                                  <a:ea typeface="+mj-ea"/>
                                  <a:cs typeface="+mj-cs"/>
                                </a:rPr>
                              </m:ctrlPr>
                            </m:dPr>
                            <m:e>
                              <m:r>
                                <a:rPr lang="en-US" sz="2700" b="0" i="1" kern="1200">
                                  <a:solidFill>
                                    <a:schemeClr val="tx1"/>
                                  </a:solidFill>
                                  <a:latin typeface="Cambria Math" panose="02040503050406030204" pitchFamily="18" charset="0"/>
                                  <a:ea typeface="+mj-ea"/>
                                  <a:cs typeface="+mj-cs"/>
                                </a:rPr>
                                <m:t>𝑛</m:t>
                              </m:r>
                              <m:r>
                                <a:rPr lang="en-US" sz="2700" b="0" i="1" kern="1200">
                                  <a:solidFill>
                                    <a:schemeClr val="tx1"/>
                                  </a:solidFill>
                                  <a:latin typeface="Cambria Math" panose="02040503050406030204" pitchFamily="18" charset="0"/>
                                  <a:ea typeface="+mj-ea"/>
                                  <a:cs typeface="+mj-cs"/>
                                </a:rPr>
                                <m:t>−</m:t>
                              </m:r>
                              <m:r>
                                <a:rPr lang="en-US" sz="2700" b="0" i="1" kern="1200">
                                  <a:solidFill>
                                    <a:schemeClr val="tx1"/>
                                  </a:solidFill>
                                  <a:latin typeface="Cambria Math" panose="02040503050406030204" pitchFamily="18" charset="0"/>
                                  <a:ea typeface="+mj-ea"/>
                                  <a:cs typeface="+mj-cs"/>
                                </a:rPr>
                                <m:t>𝑘</m:t>
                              </m:r>
                            </m:e>
                          </m:d>
                          <m:r>
                            <a:rPr lang="en-US" sz="2700" b="0" i="1" kern="1200">
                              <a:solidFill>
                                <a:schemeClr val="tx1"/>
                              </a:solidFill>
                              <a:latin typeface="Cambria Math" panose="02040503050406030204" pitchFamily="18" charset="0"/>
                              <a:ea typeface="+mj-ea"/>
                              <a:cs typeface="+mj-cs"/>
                            </a:rPr>
                            <m:t>!</m:t>
                          </m:r>
                        </m:den>
                      </m:f>
                      <m:r>
                        <a:rPr lang="en-US" sz="2700" b="0" i="1" kern="1200">
                          <a:solidFill>
                            <a:schemeClr val="tx1"/>
                          </a:solidFill>
                          <a:latin typeface="Cambria Math" panose="02040503050406030204" pitchFamily="18" charset="0"/>
                          <a:ea typeface="+mj-ea"/>
                          <a:cs typeface="+mj-cs"/>
                        </a:rPr>
                        <m:t>=</m:t>
                      </m:r>
                      <m:sSub>
                        <m:sSubPr>
                          <m:ctrlPr>
                            <a:rPr lang="en-US" sz="2700" b="0" i="1" kern="1200">
                              <a:solidFill>
                                <a:schemeClr val="tx1"/>
                              </a:solidFill>
                              <a:latin typeface="Cambria Math" panose="02040503050406030204" pitchFamily="18" charset="0"/>
                              <a:ea typeface="+mj-ea"/>
                              <a:cs typeface="+mj-cs"/>
                            </a:rPr>
                          </m:ctrlPr>
                        </m:sSubPr>
                        <m:e>
                          <m:r>
                            <a:rPr lang="en-US" sz="2700" b="0" i="1" kern="1200">
                              <a:solidFill>
                                <a:schemeClr val="tx1"/>
                              </a:solidFill>
                              <a:latin typeface="Cambria Math" panose="02040503050406030204" pitchFamily="18" charset="0"/>
                              <a:ea typeface="+mj-ea"/>
                              <a:cs typeface="+mj-cs"/>
                            </a:rPr>
                            <m:t>𝑛𝐶</m:t>
                          </m:r>
                        </m:e>
                        <m:sub>
                          <m:r>
                            <a:rPr lang="en-US" sz="2700" b="0" i="1" kern="1200">
                              <a:solidFill>
                                <a:schemeClr val="tx1"/>
                              </a:solidFill>
                              <a:latin typeface="Cambria Math" panose="02040503050406030204" pitchFamily="18" charset="0"/>
                              <a:ea typeface="+mj-ea"/>
                              <a:cs typeface="+mj-cs"/>
                            </a:rPr>
                            <m:t>𝑘</m:t>
                          </m:r>
                        </m:sub>
                      </m:sSub>
                    </m:oMath>
                  </m:oMathPara>
                </a14:m>
                <a:br>
                  <a:rPr lang="en-US" sz="2700" kern="1200" dirty="0">
                    <a:solidFill>
                      <a:schemeClr val="tx1"/>
                    </a:solidFill>
                    <a:ea typeface="+mj-ea"/>
                    <a:cs typeface="+mj-cs"/>
                  </a:rPr>
                </a:br>
                <a:r>
                  <a:rPr lang="en-US" sz="2700" b="1" kern="1200" dirty="0">
                    <a:solidFill>
                      <a:schemeClr val="tx1"/>
                    </a:solidFill>
                    <a:ea typeface="+mj-ea"/>
                    <a:cs typeface="+mj-cs"/>
                  </a:rPr>
                  <a:t>Remarques:</a:t>
                </a:r>
                <a:br>
                  <a:rPr lang="en-US" sz="2700" kern="1200" dirty="0">
                    <a:solidFill>
                      <a:schemeClr val="tx1"/>
                    </a:solidFill>
                    <a:ea typeface="+mj-ea"/>
                    <a:cs typeface="+mj-cs"/>
                  </a:rPr>
                </a:br>
                <a:r>
                  <a:rPr lang="en-US" sz="2700" kern="1200" dirty="0">
                    <a:solidFill>
                      <a:schemeClr val="tx1"/>
                    </a:solidFill>
                    <a:ea typeface="+mj-ea"/>
                    <a:cs typeface="+mj-cs"/>
                  </a:rPr>
                  <a:t>. L’ordre n’est pas important.</a:t>
                </a:r>
                <a:br>
                  <a:rPr lang="en-US" sz="2700" kern="1200" dirty="0">
                    <a:solidFill>
                      <a:schemeClr val="tx1"/>
                    </a:solidFill>
                    <a:ea typeface="+mj-ea"/>
                    <a:cs typeface="+mj-cs"/>
                  </a:rPr>
                </a:br>
                <a:r>
                  <a:rPr lang="en-US" sz="2700" kern="1200" dirty="0">
                    <a:solidFill>
                      <a:schemeClr val="tx1"/>
                    </a:solidFill>
                    <a:ea typeface="+mj-ea"/>
                    <a:cs typeface="+mj-cs"/>
                  </a:rPr>
                  <a:t>. Combinaison commence par la même lettre que choisir</a:t>
                </a:r>
                <a:r>
                  <a:rPr lang="en-US" sz="1800" kern="1200" dirty="0">
                    <a:solidFill>
                      <a:schemeClr val="tx1"/>
                    </a:solidFill>
                    <a:latin typeface="+mj-lt"/>
                    <a:ea typeface="+mj-ea"/>
                    <a:cs typeface="+mj-cs"/>
                  </a:rPr>
                  <a:t>.</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endParaRPr lang="en-US" sz="1800" kern="1200" dirty="0">
                  <a:solidFill>
                    <a:schemeClr val="tx1"/>
                  </a:solidFill>
                  <a:latin typeface="+mj-lt"/>
                  <a:ea typeface="+mj-ea"/>
                  <a:cs typeface="+mj-cs"/>
                </a:endParaRPr>
              </a:p>
            </p:txBody>
          </p:sp>
        </mc:Choice>
        <mc:Fallback xmlns="">
          <p:sp>
            <p:nvSpPr>
              <p:cNvPr id="2" name="Titre 1">
                <a:extLst>
                  <a:ext uri="{FF2B5EF4-FFF2-40B4-BE49-F238E27FC236}">
                    <a16:creationId xmlns:a16="http://schemas.microsoft.com/office/drawing/2014/main" id="{1BBBCEBF-A319-4BE2-A798-CADF2E7A0597}"/>
                  </a:ext>
                </a:extLst>
              </p:cNvPr>
              <p:cNvSpPr>
                <a:spLocks noGrp="1" noRot="1" noChangeAspect="1" noMove="1" noResize="1" noEditPoints="1" noAdjustHandles="1" noChangeArrowheads="1" noChangeShapeType="1" noTextEdit="1"/>
              </p:cNvSpPr>
              <p:nvPr>
                <p:ph type="title"/>
              </p:nvPr>
            </p:nvSpPr>
            <p:spPr>
              <a:xfrm>
                <a:off x="1524000" y="1293338"/>
                <a:ext cx="9144000" cy="3274592"/>
              </a:xfrm>
              <a:blipFill>
                <a:blip r:embed="rId2"/>
                <a:stretch>
                  <a:fillRect t="-14339" r="-1133"/>
                </a:stretch>
              </a:blipFill>
            </p:spPr>
            <p:txBody>
              <a:bodyPr/>
              <a:lstStyle/>
              <a:p>
                <a:r>
                  <a:rPr lang="fr-CA">
                    <a:noFill/>
                  </a:rPr>
                  <a:t> </a:t>
                </a:r>
              </a:p>
            </p:txBody>
          </p:sp>
        </mc:Fallback>
      </mc:AlternateContent>
      <p:cxnSp>
        <p:nvCxnSpPr>
          <p:cNvPr id="15" name="Straight Connector 14">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ce réservé du pied de page 2">
            <a:extLst>
              <a:ext uri="{FF2B5EF4-FFF2-40B4-BE49-F238E27FC236}">
                <a16:creationId xmlns:a16="http://schemas.microsoft.com/office/drawing/2014/main" id="{78E1BF3B-5898-4C22-941F-29BD248200E5}"/>
              </a:ext>
            </a:extLst>
          </p:cNvPr>
          <p:cNvSpPr>
            <a:spLocks noGrp="1"/>
          </p:cNvSpPr>
          <p:nvPr>
            <p:ph type="ftr" sz="quarter" idx="11"/>
          </p:nvPr>
        </p:nvSpPr>
        <p:spPr>
          <a:xfrm>
            <a:off x="4038600" y="6492240"/>
            <a:ext cx="4114800"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D3E232BE-ABEA-4195-8633-7D2EB47BBCD2}"/>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20</a:t>
            </a:fld>
            <a:endParaRPr lang="en-US"/>
          </a:p>
        </p:txBody>
      </p:sp>
    </p:spTree>
    <p:extLst>
      <p:ext uri="{BB962C8B-B14F-4D97-AF65-F5344CB8AC3E}">
        <p14:creationId xmlns:p14="http://schemas.microsoft.com/office/powerpoint/2010/main" val="477859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27D15F9-FBA9-45B6-A1EE-7E26109074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549D845D-9A57-49AC-9523-BB0D6DA6FE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24" name="Freeform 44">
              <a:extLst>
                <a:ext uri="{FF2B5EF4-FFF2-40B4-BE49-F238E27FC236}">
                  <a16:creationId xmlns:a16="http://schemas.microsoft.com/office/drawing/2014/main" id="{3348EFE1-9D21-4DC0-8EC9-C887670613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45">
              <a:extLst>
                <a:ext uri="{FF2B5EF4-FFF2-40B4-BE49-F238E27FC236}">
                  <a16:creationId xmlns:a16="http://schemas.microsoft.com/office/drawing/2014/main" id="{D9CD0CF4-76F6-470E-A8EF-DD74FC196C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46">
              <a:extLst>
                <a:ext uri="{FF2B5EF4-FFF2-40B4-BE49-F238E27FC236}">
                  <a16:creationId xmlns:a16="http://schemas.microsoft.com/office/drawing/2014/main" id="{71645EB6-7E0C-491E-9A5B-C25E80A64A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47">
              <a:extLst>
                <a:ext uri="{FF2B5EF4-FFF2-40B4-BE49-F238E27FC236}">
                  <a16:creationId xmlns:a16="http://schemas.microsoft.com/office/drawing/2014/main" id="{D20E5CAC-62A4-48E1-9F9F-1F81766831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Rectangle 27">
              <a:extLst>
                <a:ext uri="{FF2B5EF4-FFF2-40B4-BE49-F238E27FC236}">
                  <a16:creationId xmlns:a16="http://schemas.microsoft.com/office/drawing/2014/main" id="{053A11D2-F06B-447E-96A7-27A21A8FA64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re 1">
            <a:extLst>
              <a:ext uri="{FF2B5EF4-FFF2-40B4-BE49-F238E27FC236}">
                <a16:creationId xmlns:a16="http://schemas.microsoft.com/office/drawing/2014/main" id="{B2332205-BED8-485C-9ED3-26BABA1A22F4}"/>
              </a:ext>
            </a:extLst>
          </p:cNvPr>
          <p:cNvSpPr>
            <a:spLocks noGrp="1"/>
          </p:cNvSpPr>
          <p:nvPr>
            <p:ph type="title"/>
          </p:nvPr>
        </p:nvSpPr>
        <p:spPr>
          <a:xfrm>
            <a:off x="1047280" y="759805"/>
            <a:ext cx="10306520" cy="1325563"/>
          </a:xfrm>
        </p:spPr>
        <p:txBody>
          <a:bodyPr vert="horz" lIns="91440" tIns="45720" rIns="91440" bIns="45720" rtlCol="0" anchor="ctr">
            <a:normAutofit/>
          </a:bodyPr>
          <a:lstStyle/>
          <a:p>
            <a:r>
              <a:rPr lang="en-US" sz="3400" b="1" kern="1200">
                <a:solidFill>
                  <a:srgbClr val="FFFFFF"/>
                </a:solidFill>
                <a:latin typeface="+mj-lt"/>
                <a:ea typeface="+mj-ea"/>
                <a:cs typeface="+mj-cs"/>
              </a:rPr>
              <a:t>EXEMPLE 1</a:t>
            </a:r>
            <a:r>
              <a:rPr lang="en-US" sz="3400" kern="1200">
                <a:solidFill>
                  <a:srgbClr val="FFFFFF"/>
                </a:solidFill>
                <a:latin typeface="+mj-lt"/>
                <a:ea typeface="+mj-ea"/>
                <a:cs typeface="+mj-cs"/>
              </a:rPr>
              <a:t>: On a 12 composantes électriques, on veut en choisir 4 de combien de manières peut-on s’y prendre?</a:t>
            </a:r>
          </a:p>
        </p:txBody>
      </p:sp>
      <p:pic>
        <p:nvPicPr>
          <p:cNvPr id="9" name="Graphic 8" descr="Coche">
            <a:extLst>
              <a:ext uri="{FF2B5EF4-FFF2-40B4-BE49-F238E27FC236}">
                <a16:creationId xmlns:a16="http://schemas.microsoft.com/office/drawing/2014/main" id="{930DEA8E-C0C2-4669-BB37-AA230954D83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24902" y="2669172"/>
            <a:ext cx="3209779" cy="3209779"/>
          </a:xfrm>
          <a:prstGeom prst="rect">
            <a:avLst/>
          </a:prstGeom>
        </p:spPr>
      </p:pic>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68C9196-CDB0-4D9B-84C3-D966F75B0A36}"/>
                  </a:ext>
                </a:extLst>
              </p:cNvPr>
              <p:cNvSpPr txBox="1"/>
              <p:nvPr/>
            </p:nvSpPr>
            <p:spPr>
              <a:xfrm>
                <a:off x="5295569" y="2494450"/>
                <a:ext cx="5471529" cy="3563159"/>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2400" b="1" dirty="0"/>
                  <a:t>Réponse:</a:t>
                </a:r>
                <a:r>
                  <a:rPr lang="en-US" sz="2400" dirty="0"/>
                  <a:t> On </a:t>
                </a:r>
                <a:r>
                  <a:rPr lang="en-US" sz="2400" dirty="0" err="1"/>
                  <a:t>peut</a:t>
                </a:r>
                <a:r>
                  <a:rPr lang="en-US" sz="2400" dirty="0"/>
                  <a:t> faire </a:t>
                </a:r>
                <a:r>
                  <a:rPr lang="en-US" sz="2400" dirty="0" err="1"/>
                  <a:t>ce</a:t>
                </a:r>
                <a:r>
                  <a:rPr lang="en-US" sz="2400" dirty="0"/>
                  <a:t> </a:t>
                </a:r>
                <a:r>
                  <a:rPr lang="en-US" sz="2400" dirty="0" err="1"/>
                  <a:t>choix</a:t>
                </a:r>
                <a:r>
                  <a:rPr lang="en-US" sz="2400" dirty="0"/>
                  <a:t> de </a:t>
                </a:r>
                <a14:m>
                  <m:oMath xmlns:m="http://schemas.openxmlformats.org/officeDocument/2006/math">
                    <m:d>
                      <m:dPr>
                        <m:ctrlPr>
                          <a:rPr lang="en-US" sz="2400" i="1">
                            <a:latin typeface="Cambria Math" panose="02040503050406030204" pitchFamily="18" charset="0"/>
                          </a:rPr>
                        </m:ctrlPr>
                      </m:dPr>
                      <m:e>
                        <m:eqArr>
                          <m:eqArrPr>
                            <m:ctrlPr>
                              <a:rPr lang="en-US" sz="2400" b="0" i="1">
                                <a:latin typeface="Cambria Math" panose="02040503050406030204" pitchFamily="18" charset="0"/>
                              </a:rPr>
                            </m:ctrlPr>
                          </m:eqArrPr>
                          <m:e>
                            <m:r>
                              <a:rPr lang="en-US" sz="2400" b="0" i="1">
                                <a:latin typeface="Cambria Math" panose="02040503050406030204" pitchFamily="18" charset="0"/>
                              </a:rPr>
                              <m:t>12</m:t>
                            </m:r>
                          </m:e>
                          <m:e>
                            <m:r>
                              <a:rPr lang="en-US" sz="2400" b="0" i="1">
                                <a:latin typeface="Cambria Math" panose="02040503050406030204" pitchFamily="18" charset="0"/>
                              </a:rPr>
                              <m:t>4</m:t>
                            </m:r>
                          </m:e>
                        </m:eqArr>
                      </m:e>
                    </m:d>
                    <m:r>
                      <a:rPr lang="en-US" sz="2400" b="0" i="1">
                        <a:latin typeface="Cambria Math" panose="02040503050406030204" pitchFamily="18" charset="0"/>
                      </a:rPr>
                      <m:t>=</m:t>
                    </m:r>
                    <m:f>
                      <m:fPr>
                        <m:ctrlPr>
                          <a:rPr lang="en-US" sz="2400" b="0" i="1">
                            <a:latin typeface="Cambria Math" panose="02040503050406030204" pitchFamily="18" charset="0"/>
                          </a:rPr>
                        </m:ctrlPr>
                      </m:fPr>
                      <m:num>
                        <m:r>
                          <a:rPr lang="en-US" sz="2400" b="0" i="1">
                            <a:latin typeface="Cambria Math" panose="02040503050406030204" pitchFamily="18" charset="0"/>
                          </a:rPr>
                          <m:t>12!</m:t>
                        </m:r>
                      </m:num>
                      <m:den>
                        <m:r>
                          <a:rPr lang="en-US" sz="2400" b="0" i="1">
                            <a:latin typeface="Cambria Math" panose="02040503050406030204" pitchFamily="18" charset="0"/>
                          </a:rPr>
                          <m:t>4!8!</m:t>
                        </m:r>
                      </m:den>
                    </m:f>
                    <m:r>
                      <a:rPr lang="en-US" sz="2400" b="0" i="1">
                        <a:latin typeface="Cambria Math" panose="02040503050406030204" pitchFamily="18" charset="0"/>
                      </a:rPr>
                      <m:t>=495</m:t>
                    </m:r>
                  </m:oMath>
                </a14:m>
                <a:r>
                  <a:rPr lang="en-US" sz="2400" dirty="0"/>
                  <a:t> </a:t>
                </a:r>
                <a:r>
                  <a:rPr lang="en-US" sz="2400" dirty="0" err="1"/>
                  <a:t>choix</a:t>
                </a:r>
                <a:r>
                  <a:rPr lang="en-US" sz="2400" dirty="0"/>
                  <a:t> </a:t>
                </a:r>
                <a:r>
                  <a:rPr lang="en-US" sz="2400" dirty="0" err="1"/>
                  <a:t>possibles</a:t>
                </a:r>
                <a:r>
                  <a:rPr lang="en-US" sz="2400" dirty="0"/>
                  <a:t>  (</a:t>
                </a:r>
                <a:r>
                  <a:rPr lang="en-US" sz="2400" dirty="0" err="1"/>
                  <a:t>combinaisons</a:t>
                </a:r>
                <a:r>
                  <a:rPr lang="en-US" sz="2400" dirty="0"/>
                  <a:t> </a:t>
                </a:r>
                <a:r>
                  <a:rPr lang="en-US" sz="2400" dirty="0" err="1"/>
                  <a:t>possibles</a:t>
                </a:r>
                <a:r>
                  <a:rPr lang="en-US" sz="2400" dirty="0"/>
                  <a:t>)</a:t>
                </a:r>
              </a:p>
              <a:p>
                <a:pPr indent="-228600" defTabSz="914400">
                  <a:lnSpc>
                    <a:spcPct val="90000"/>
                  </a:lnSpc>
                  <a:spcAft>
                    <a:spcPts val="600"/>
                  </a:spcAft>
                  <a:buFont typeface="Arial" panose="020B0604020202020204" pitchFamily="34" charset="0"/>
                  <a:buChar char="•"/>
                </a:pPr>
                <a:endParaRPr lang="en-US" sz="2400" dirty="0"/>
              </a:p>
              <a:p>
                <a:pPr indent="-228600" defTabSz="914400">
                  <a:lnSpc>
                    <a:spcPct val="90000"/>
                  </a:lnSpc>
                  <a:spcAft>
                    <a:spcPts val="600"/>
                  </a:spcAft>
                  <a:buFont typeface="Arial" panose="020B0604020202020204" pitchFamily="34" charset="0"/>
                  <a:buChar char="•"/>
                </a:pPr>
                <a:endParaRPr lang="en-US" sz="2400" dirty="0"/>
              </a:p>
            </p:txBody>
          </p:sp>
        </mc:Choice>
        <mc:Fallback xmlns="">
          <p:sp>
            <p:nvSpPr>
              <p:cNvPr id="5" name="ZoneTexte 4">
                <a:extLst>
                  <a:ext uri="{FF2B5EF4-FFF2-40B4-BE49-F238E27FC236}">
                    <a16:creationId xmlns:a16="http://schemas.microsoft.com/office/drawing/2014/main" id="{B68C9196-CDB0-4D9B-84C3-D966F75B0A36}"/>
                  </a:ext>
                </a:extLst>
              </p:cNvPr>
              <p:cNvSpPr txBox="1">
                <a:spLocks noRot="1" noChangeAspect="1" noMove="1" noResize="1" noEditPoints="1" noAdjustHandles="1" noChangeArrowheads="1" noChangeShapeType="1" noTextEdit="1"/>
              </p:cNvSpPr>
              <p:nvPr/>
            </p:nvSpPr>
            <p:spPr>
              <a:xfrm>
                <a:off x="5295569" y="2494450"/>
                <a:ext cx="5471529" cy="3563159"/>
              </a:xfrm>
              <a:prstGeom prst="rect">
                <a:avLst/>
              </a:prstGeom>
              <a:blipFill>
                <a:blip r:embed="rId4"/>
                <a:stretch>
                  <a:fillRect l="-1784" t="-2393"/>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6AA96F55-9D17-4170-8E8A-98D54A2D94E5}"/>
              </a:ext>
            </a:extLst>
          </p:cNvPr>
          <p:cNvSpPr>
            <a:spLocks noGrp="1"/>
          </p:cNvSpPr>
          <p:nvPr>
            <p:ph type="ftr" sz="quarter" idx="11"/>
          </p:nvPr>
        </p:nvSpPr>
        <p:spPr>
          <a:xfrm>
            <a:off x="795528" y="6382512"/>
            <a:ext cx="6757416" cy="320040"/>
          </a:xfrm>
        </p:spPr>
        <p:txBody>
          <a:bodyPr vert="horz" lIns="91440" tIns="45720" rIns="91440" bIns="45720" rtlCol="0" anchor="ctr">
            <a:normAutofit/>
          </a:bodyPr>
          <a:lstStyle/>
          <a:p>
            <a:pPr algn="l" defTabSz="914400"/>
            <a:endParaRPr lang="en-US" sz="10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28BA2FFB-61D1-4621-835E-1E5C58982955}"/>
              </a:ext>
            </a:extLst>
          </p:cNvPr>
          <p:cNvSpPr>
            <a:spLocks noGrp="1"/>
          </p:cNvSpPr>
          <p:nvPr>
            <p:ph type="sldNum" sz="quarter" idx="12"/>
          </p:nvPr>
        </p:nvSpPr>
        <p:spPr>
          <a:xfrm>
            <a:off x="10707624" y="6382512"/>
            <a:ext cx="685800" cy="320040"/>
          </a:xfrm>
        </p:spPr>
        <p:txBody>
          <a:bodyPr vert="horz" lIns="91440" tIns="45720" rIns="91440" bIns="45720" rtlCol="0" anchor="ctr">
            <a:normAutofit/>
          </a:bodyPr>
          <a:lstStyle/>
          <a:p>
            <a:pPr defTabSz="914400">
              <a:spcAft>
                <a:spcPts val="600"/>
              </a:spcAft>
            </a:pPr>
            <a:fld id="{26377AD9-CE17-438C-A638-C64D2D42D7CF}" type="slidenum">
              <a:rPr lang="en-US" sz="1000"/>
              <a:pPr defTabSz="914400">
                <a:spcAft>
                  <a:spcPts val="600"/>
                </a:spcAft>
              </a:pPr>
              <a:t>21</a:t>
            </a:fld>
            <a:endParaRPr lang="en-US" sz="1000"/>
          </a:p>
        </p:txBody>
      </p:sp>
    </p:spTree>
    <p:extLst>
      <p:ext uri="{BB962C8B-B14F-4D97-AF65-F5344CB8AC3E}">
        <p14:creationId xmlns:p14="http://schemas.microsoft.com/office/powerpoint/2010/main" val="1535424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2">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14">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16">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5E372263-C0C3-4367-98E4-D00B1FE1335B}"/>
              </a:ext>
            </a:extLst>
          </p:cNvPr>
          <p:cNvSpPr>
            <a:spLocks noGrp="1"/>
          </p:cNvSpPr>
          <p:nvPr>
            <p:ph type="title"/>
          </p:nvPr>
        </p:nvSpPr>
        <p:spPr>
          <a:xfrm>
            <a:off x="804671" y="640263"/>
            <a:ext cx="3284331" cy="5254510"/>
          </a:xfrm>
        </p:spPr>
        <p:txBody>
          <a:bodyPr vert="horz" lIns="91440" tIns="45720" rIns="91440" bIns="45720" rtlCol="0" anchor="ctr">
            <a:normAutofit/>
          </a:bodyPr>
          <a:lstStyle/>
          <a:p>
            <a:pPr marL="228600" indent="-228600">
              <a:spcAft>
                <a:spcPts val="300"/>
              </a:spcAft>
              <a:tabLst>
                <a:tab pos="152400" algn="r"/>
                <a:tab pos="449580" algn="l"/>
              </a:tabLst>
            </a:pPr>
            <a:r>
              <a:rPr lang="en-US" sz="1800" kern="1200" dirty="0">
                <a:solidFill>
                  <a:schemeClr val="tx1"/>
                </a:solidFill>
                <a:latin typeface="+mj-lt"/>
                <a:ea typeface="+mj-ea"/>
                <a:cs typeface="+mj-cs"/>
              </a:rPr>
              <a:t>EXEMPLE 2: </a:t>
            </a:r>
            <a:r>
              <a:rPr lang="en-US" sz="1800" kern="1200" dirty="0">
                <a:solidFill>
                  <a:schemeClr val="tx1"/>
                </a:solidFill>
                <a:effectLst/>
                <a:latin typeface="+mj-lt"/>
                <a:ea typeface="+mj-ea"/>
                <a:cs typeface="+mj-cs"/>
              </a:rPr>
              <a:t>Marie a 15 </a:t>
            </a:r>
            <a:r>
              <a:rPr lang="en-US" sz="1800" kern="1200" dirty="0" err="1">
                <a:solidFill>
                  <a:schemeClr val="tx1"/>
                </a:solidFill>
                <a:effectLst/>
                <a:latin typeface="+mj-lt"/>
                <a:ea typeface="+mj-ea"/>
                <a:cs typeface="+mj-cs"/>
              </a:rPr>
              <a:t>copines</a:t>
            </a:r>
            <a:r>
              <a:rPr lang="en-US" sz="1800" kern="1200" dirty="0">
                <a:solidFill>
                  <a:schemeClr val="tx1"/>
                </a:solidFill>
                <a:effectLst/>
                <a:latin typeface="+mj-lt"/>
                <a:ea typeface="+mj-ea"/>
                <a:cs typeface="+mj-cs"/>
              </a:rPr>
              <a:t>. Elle </a:t>
            </a:r>
            <a:r>
              <a:rPr lang="en-US" sz="1800" kern="1200" dirty="0" err="1">
                <a:solidFill>
                  <a:schemeClr val="tx1"/>
                </a:solidFill>
                <a:effectLst/>
                <a:latin typeface="+mj-lt"/>
                <a:ea typeface="+mj-ea"/>
                <a:cs typeface="+mj-cs"/>
              </a:rPr>
              <a:t>décide</a:t>
            </a:r>
            <a:r>
              <a:rPr lang="en-US" sz="1800" kern="1200" dirty="0">
                <a:solidFill>
                  <a:schemeClr val="tx1"/>
                </a:solidFill>
                <a:effectLst/>
                <a:latin typeface="+mj-lt"/>
                <a:ea typeface="+mj-ea"/>
                <a:cs typeface="+mj-cs"/>
              </a:rPr>
              <a:t> </a:t>
            </a:r>
            <a:r>
              <a:rPr lang="en-US" sz="1800" kern="1200" dirty="0" err="1">
                <a:solidFill>
                  <a:schemeClr val="tx1"/>
                </a:solidFill>
                <a:effectLst/>
                <a:latin typeface="+mj-lt"/>
                <a:ea typeface="+mj-ea"/>
                <a:cs typeface="+mj-cs"/>
              </a:rPr>
              <a:t>d’en</a:t>
            </a:r>
            <a:r>
              <a:rPr lang="en-US" sz="1800" kern="1200" dirty="0">
                <a:solidFill>
                  <a:schemeClr val="tx1"/>
                </a:solidFill>
                <a:effectLst/>
                <a:latin typeface="+mj-lt"/>
                <a:ea typeface="+mj-ea"/>
                <a:cs typeface="+mj-cs"/>
              </a:rPr>
              <a:t> inviter 10 à son </a:t>
            </a:r>
            <a:r>
              <a:rPr lang="en-US" sz="1800" kern="1200" dirty="0" err="1">
                <a:solidFill>
                  <a:schemeClr val="tx1"/>
                </a:solidFill>
                <a:effectLst/>
                <a:latin typeface="+mj-lt"/>
                <a:ea typeface="+mj-ea"/>
                <a:cs typeface="+mj-cs"/>
              </a:rPr>
              <a:t>anniversaire</a:t>
            </a:r>
            <a:r>
              <a:rPr lang="en-US" sz="1800" kern="1200" dirty="0">
                <a:solidFill>
                  <a:schemeClr val="tx1"/>
                </a:solidFill>
                <a:effectLst/>
                <a:latin typeface="+mj-lt"/>
                <a:ea typeface="+mj-ea"/>
                <a:cs typeface="+mj-cs"/>
              </a:rPr>
              <a:t>.</a:t>
            </a:r>
            <a:br>
              <a:rPr lang="en-US" sz="1800" kern="1200" dirty="0">
                <a:solidFill>
                  <a:schemeClr val="tx1"/>
                </a:solidFill>
                <a:effectLst/>
                <a:latin typeface="+mj-lt"/>
                <a:ea typeface="+mj-ea"/>
                <a:cs typeface="+mj-cs"/>
              </a:rPr>
            </a:br>
            <a:r>
              <a:rPr lang="en-US" sz="1800" kern="1200" dirty="0">
                <a:solidFill>
                  <a:schemeClr val="tx1"/>
                </a:solidFill>
                <a:effectLst/>
                <a:latin typeface="+mj-lt"/>
                <a:ea typeface="+mj-ea"/>
                <a:cs typeface="+mj-cs"/>
              </a:rPr>
              <a:t>a)	De </a:t>
            </a:r>
            <a:r>
              <a:rPr lang="en-US" sz="1800" kern="1200" dirty="0" err="1">
                <a:solidFill>
                  <a:schemeClr val="tx1"/>
                </a:solidFill>
                <a:effectLst/>
                <a:latin typeface="+mj-lt"/>
                <a:ea typeface="+mj-ea"/>
                <a:cs typeface="+mj-cs"/>
              </a:rPr>
              <a:t>combien</a:t>
            </a:r>
            <a:r>
              <a:rPr lang="en-US" sz="1800" kern="1200" dirty="0">
                <a:solidFill>
                  <a:schemeClr val="tx1"/>
                </a:solidFill>
                <a:effectLst/>
                <a:latin typeface="+mj-lt"/>
                <a:ea typeface="+mj-ea"/>
                <a:cs typeface="+mj-cs"/>
              </a:rPr>
              <a:t> de façons </a:t>
            </a:r>
            <a:r>
              <a:rPr lang="en-US" sz="1800" kern="1200" dirty="0" err="1">
                <a:solidFill>
                  <a:schemeClr val="tx1"/>
                </a:solidFill>
                <a:effectLst/>
                <a:latin typeface="+mj-lt"/>
                <a:ea typeface="+mj-ea"/>
                <a:cs typeface="+mj-cs"/>
              </a:rPr>
              <a:t>peut</a:t>
            </a:r>
            <a:r>
              <a:rPr lang="en-US" sz="1800" kern="1200" dirty="0">
                <a:solidFill>
                  <a:schemeClr val="tx1"/>
                </a:solidFill>
                <a:effectLst/>
                <a:latin typeface="+mj-lt"/>
                <a:ea typeface="+mj-ea"/>
                <a:cs typeface="+mj-cs"/>
              </a:rPr>
              <a:t>-elle faire </a:t>
            </a:r>
            <a:r>
              <a:rPr lang="en-US" sz="1800" kern="1200" dirty="0" err="1">
                <a:solidFill>
                  <a:schemeClr val="tx1"/>
                </a:solidFill>
                <a:effectLst/>
                <a:latin typeface="+mj-lt"/>
                <a:ea typeface="+mj-ea"/>
                <a:cs typeface="+mj-cs"/>
              </a:rPr>
              <a:t>ses</a:t>
            </a:r>
            <a:r>
              <a:rPr lang="en-US" sz="1800" kern="1200" dirty="0">
                <a:solidFill>
                  <a:schemeClr val="tx1"/>
                </a:solidFill>
                <a:effectLst/>
                <a:latin typeface="+mj-lt"/>
                <a:ea typeface="+mj-ea"/>
                <a:cs typeface="+mj-cs"/>
              </a:rPr>
              <a:t> invitations ?</a:t>
            </a:r>
            <a:br>
              <a:rPr lang="en-US" sz="1800" kern="1200" dirty="0">
                <a:solidFill>
                  <a:schemeClr val="tx1"/>
                </a:solidFill>
                <a:effectLst/>
                <a:latin typeface="+mj-lt"/>
                <a:ea typeface="+mj-ea"/>
                <a:cs typeface="+mj-cs"/>
              </a:rPr>
            </a:br>
            <a:r>
              <a:rPr lang="en-US" sz="1800" kern="1200" dirty="0">
                <a:solidFill>
                  <a:schemeClr val="tx1"/>
                </a:solidFill>
                <a:effectLst/>
                <a:latin typeface="+mj-lt"/>
                <a:ea typeface="+mj-ea"/>
                <a:cs typeface="+mj-cs"/>
              </a:rPr>
              <a:t>b)	Si deux de </a:t>
            </a:r>
            <a:r>
              <a:rPr lang="en-US" sz="1800" kern="1200" dirty="0" err="1">
                <a:solidFill>
                  <a:schemeClr val="tx1"/>
                </a:solidFill>
                <a:effectLst/>
                <a:latin typeface="+mj-lt"/>
                <a:ea typeface="+mj-ea"/>
                <a:cs typeface="+mj-cs"/>
              </a:rPr>
              <a:t>ses</a:t>
            </a:r>
            <a:r>
              <a:rPr lang="en-US" sz="1800" kern="1200" dirty="0">
                <a:solidFill>
                  <a:schemeClr val="tx1"/>
                </a:solidFill>
                <a:effectLst/>
                <a:latin typeface="+mj-lt"/>
                <a:ea typeface="+mj-ea"/>
                <a:cs typeface="+mj-cs"/>
              </a:rPr>
              <a:t> </a:t>
            </a:r>
            <a:r>
              <a:rPr lang="en-US" sz="1800" kern="1200" dirty="0" err="1">
                <a:solidFill>
                  <a:schemeClr val="tx1"/>
                </a:solidFill>
                <a:effectLst/>
                <a:latin typeface="+mj-lt"/>
                <a:ea typeface="+mj-ea"/>
                <a:cs typeface="+mj-cs"/>
              </a:rPr>
              <a:t>copines</a:t>
            </a:r>
            <a:r>
              <a:rPr lang="en-US" sz="1800" kern="1200" dirty="0">
                <a:solidFill>
                  <a:schemeClr val="tx1"/>
                </a:solidFill>
                <a:effectLst/>
                <a:latin typeface="+mj-lt"/>
                <a:ea typeface="+mj-ea"/>
                <a:cs typeface="+mj-cs"/>
              </a:rPr>
              <a:t> </a:t>
            </a:r>
            <a:r>
              <a:rPr lang="en-US" sz="1800" kern="1200" dirty="0" err="1">
                <a:solidFill>
                  <a:schemeClr val="tx1"/>
                </a:solidFill>
                <a:effectLst/>
                <a:latin typeface="+mj-lt"/>
                <a:ea typeface="+mj-ea"/>
                <a:cs typeface="+mj-cs"/>
              </a:rPr>
              <a:t>sont</a:t>
            </a:r>
            <a:r>
              <a:rPr lang="en-US" sz="1800" kern="1200" dirty="0">
                <a:solidFill>
                  <a:schemeClr val="tx1"/>
                </a:solidFill>
                <a:effectLst/>
                <a:latin typeface="+mj-lt"/>
                <a:ea typeface="+mj-ea"/>
                <a:cs typeface="+mj-cs"/>
              </a:rPr>
              <a:t> de </a:t>
            </a:r>
            <a:r>
              <a:rPr lang="en-US" sz="1800" kern="1200" dirty="0" err="1">
                <a:solidFill>
                  <a:schemeClr val="tx1"/>
                </a:solidFill>
                <a:effectLst/>
                <a:latin typeface="+mj-lt"/>
                <a:ea typeface="+mj-ea"/>
                <a:cs typeface="+mj-cs"/>
              </a:rPr>
              <a:t>très</a:t>
            </a:r>
            <a:r>
              <a:rPr lang="en-US" sz="1800" kern="1200" dirty="0">
                <a:solidFill>
                  <a:schemeClr val="tx1"/>
                </a:solidFill>
                <a:effectLst/>
                <a:latin typeface="+mj-lt"/>
                <a:ea typeface="+mj-ea"/>
                <a:cs typeface="+mj-cs"/>
              </a:rPr>
              <a:t> </a:t>
            </a:r>
            <a:r>
              <a:rPr lang="en-US" sz="1800" kern="1200" dirty="0" err="1">
                <a:solidFill>
                  <a:schemeClr val="tx1"/>
                </a:solidFill>
                <a:effectLst/>
                <a:latin typeface="+mj-lt"/>
                <a:ea typeface="+mj-ea"/>
                <a:cs typeface="+mj-cs"/>
              </a:rPr>
              <a:t>bonnes</a:t>
            </a:r>
            <a:r>
              <a:rPr lang="en-US" sz="1800" kern="1200" dirty="0">
                <a:solidFill>
                  <a:schemeClr val="tx1"/>
                </a:solidFill>
                <a:effectLst/>
                <a:latin typeface="+mj-lt"/>
                <a:ea typeface="+mj-ea"/>
                <a:cs typeface="+mj-cs"/>
              </a:rPr>
              <a:t> amies et que Marie ne </a:t>
            </a:r>
            <a:r>
              <a:rPr lang="en-US" sz="1800" kern="1200" dirty="0" err="1">
                <a:solidFill>
                  <a:schemeClr val="tx1"/>
                </a:solidFill>
                <a:effectLst/>
                <a:latin typeface="+mj-lt"/>
                <a:ea typeface="+mj-ea"/>
                <a:cs typeface="+mj-cs"/>
              </a:rPr>
              <a:t>peut</a:t>
            </a:r>
            <a:r>
              <a:rPr lang="en-US" sz="1800" kern="1200" dirty="0">
                <a:solidFill>
                  <a:schemeClr val="tx1"/>
                </a:solidFill>
                <a:effectLst/>
                <a:latin typeface="+mj-lt"/>
                <a:ea typeface="+mj-ea"/>
                <a:cs typeface="+mj-cs"/>
              </a:rPr>
              <a:t> pas les inviter </a:t>
            </a:r>
            <a:r>
              <a:rPr lang="en-US" sz="1800" kern="1200" dirty="0" err="1">
                <a:solidFill>
                  <a:schemeClr val="tx1"/>
                </a:solidFill>
                <a:effectLst/>
                <a:latin typeface="+mj-lt"/>
                <a:ea typeface="+mj-ea"/>
                <a:cs typeface="+mj-cs"/>
              </a:rPr>
              <a:t>l’une</a:t>
            </a:r>
            <a:r>
              <a:rPr lang="en-US" sz="1800" kern="1200" dirty="0">
                <a:solidFill>
                  <a:schemeClr val="tx1"/>
                </a:solidFill>
                <a:effectLst/>
                <a:latin typeface="+mj-lt"/>
                <a:ea typeface="+mj-ea"/>
                <a:cs typeface="+mj-cs"/>
              </a:rPr>
              <a:t> sans </a:t>
            </a:r>
            <a:r>
              <a:rPr lang="en-US" sz="1800" kern="1200" dirty="0" err="1">
                <a:solidFill>
                  <a:schemeClr val="tx1"/>
                </a:solidFill>
                <a:effectLst/>
                <a:latin typeface="+mj-lt"/>
                <a:ea typeface="+mj-ea"/>
                <a:cs typeface="+mj-cs"/>
              </a:rPr>
              <a:t>l’autre</a:t>
            </a:r>
            <a:r>
              <a:rPr lang="en-US" sz="1800" kern="1200" dirty="0">
                <a:solidFill>
                  <a:schemeClr val="tx1"/>
                </a:solidFill>
                <a:effectLst/>
                <a:latin typeface="+mj-lt"/>
                <a:ea typeface="+mj-ea"/>
                <a:cs typeface="+mj-cs"/>
              </a:rPr>
              <a:t>, de </a:t>
            </a:r>
            <a:r>
              <a:rPr lang="en-US" sz="1800" kern="1200" dirty="0" err="1">
                <a:solidFill>
                  <a:schemeClr val="tx1"/>
                </a:solidFill>
                <a:effectLst/>
                <a:latin typeface="+mj-lt"/>
                <a:ea typeface="+mj-ea"/>
                <a:cs typeface="+mj-cs"/>
              </a:rPr>
              <a:t>combien</a:t>
            </a:r>
            <a:r>
              <a:rPr lang="en-US" sz="1800" kern="1200" dirty="0">
                <a:solidFill>
                  <a:schemeClr val="tx1"/>
                </a:solidFill>
                <a:effectLst/>
                <a:latin typeface="+mj-lt"/>
                <a:ea typeface="+mj-ea"/>
                <a:cs typeface="+mj-cs"/>
              </a:rPr>
              <a:t> de façons </a:t>
            </a:r>
            <a:r>
              <a:rPr lang="en-US" sz="1800" kern="1200" dirty="0" err="1">
                <a:solidFill>
                  <a:schemeClr val="tx1"/>
                </a:solidFill>
                <a:effectLst/>
                <a:latin typeface="+mj-lt"/>
                <a:ea typeface="+mj-ea"/>
                <a:cs typeface="+mj-cs"/>
              </a:rPr>
              <a:t>peut</a:t>
            </a:r>
            <a:r>
              <a:rPr lang="en-US" sz="1800" kern="1200" dirty="0">
                <a:solidFill>
                  <a:schemeClr val="tx1"/>
                </a:solidFill>
                <a:effectLst/>
                <a:latin typeface="+mj-lt"/>
                <a:ea typeface="+mj-ea"/>
                <a:cs typeface="+mj-cs"/>
              </a:rPr>
              <a:t>-elle faire </a:t>
            </a:r>
            <a:r>
              <a:rPr lang="en-US" sz="1800" kern="1200" dirty="0" err="1">
                <a:solidFill>
                  <a:schemeClr val="tx1"/>
                </a:solidFill>
                <a:effectLst/>
                <a:latin typeface="+mj-lt"/>
                <a:ea typeface="+mj-ea"/>
                <a:cs typeface="+mj-cs"/>
              </a:rPr>
              <a:t>ses</a:t>
            </a:r>
            <a:r>
              <a:rPr lang="en-US" sz="1800" kern="1200" dirty="0">
                <a:solidFill>
                  <a:schemeClr val="tx1"/>
                </a:solidFill>
                <a:effectLst/>
                <a:latin typeface="+mj-lt"/>
                <a:ea typeface="+mj-ea"/>
                <a:cs typeface="+mj-cs"/>
              </a:rPr>
              <a:t> invitations ?</a:t>
            </a:r>
            <a:br>
              <a:rPr lang="en-US" sz="1800" kern="1200" dirty="0">
                <a:solidFill>
                  <a:schemeClr val="tx1"/>
                </a:solidFill>
                <a:effectLst/>
                <a:latin typeface="+mj-lt"/>
                <a:ea typeface="+mj-ea"/>
                <a:cs typeface="+mj-cs"/>
              </a:rPr>
            </a:br>
            <a:r>
              <a:rPr lang="en-US" sz="1800" kern="1200" dirty="0">
                <a:solidFill>
                  <a:schemeClr val="tx1"/>
                </a:solidFill>
                <a:effectLst/>
                <a:latin typeface="+mj-lt"/>
                <a:ea typeface="+mj-ea"/>
                <a:cs typeface="+mj-cs"/>
              </a:rPr>
              <a:t>c)	Si deux de </a:t>
            </a:r>
            <a:r>
              <a:rPr lang="en-US" sz="1800" kern="1200" dirty="0" err="1">
                <a:solidFill>
                  <a:schemeClr val="tx1"/>
                </a:solidFill>
                <a:effectLst/>
                <a:latin typeface="+mj-lt"/>
                <a:ea typeface="+mj-ea"/>
                <a:cs typeface="+mj-cs"/>
              </a:rPr>
              <a:t>ses</a:t>
            </a:r>
            <a:r>
              <a:rPr lang="en-US" sz="1800" kern="1200" dirty="0">
                <a:solidFill>
                  <a:schemeClr val="tx1"/>
                </a:solidFill>
                <a:effectLst/>
                <a:latin typeface="+mj-lt"/>
                <a:ea typeface="+mj-ea"/>
                <a:cs typeface="+mj-cs"/>
              </a:rPr>
              <a:t> </a:t>
            </a:r>
            <a:r>
              <a:rPr lang="en-US" sz="1800" kern="1200" dirty="0" err="1">
                <a:solidFill>
                  <a:schemeClr val="tx1"/>
                </a:solidFill>
                <a:effectLst/>
                <a:latin typeface="+mj-lt"/>
                <a:ea typeface="+mj-ea"/>
                <a:cs typeface="+mj-cs"/>
              </a:rPr>
              <a:t>copines</a:t>
            </a:r>
            <a:r>
              <a:rPr lang="en-US" sz="1800" kern="1200" dirty="0">
                <a:solidFill>
                  <a:schemeClr val="tx1"/>
                </a:solidFill>
                <a:effectLst/>
                <a:latin typeface="+mj-lt"/>
                <a:ea typeface="+mj-ea"/>
                <a:cs typeface="+mj-cs"/>
              </a:rPr>
              <a:t> ne </a:t>
            </a:r>
            <a:r>
              <a:rPr lang="en-US" sz="1800" kern="1200" dirty="0" err="1">
                <a:solidFill>
                  <a:schemeClr val="tx1"/>
                </a:solidFill>
                <a:effectLst/>
                <a:latin typeface="+mj-lt"/>
                <a:ea typeface="+mj-ea"/>
                <a:cs typeface="+mj-cs"/>
              </a:rPr>
              <a:t>s’entendent</a:t>
            </a:r>
            <a:r>
              <a:rPr lang="en-US" sz="1800" kern="1200" dirty="0">
                <a:solidFill>
                  <a:schemeClr val="tx1"/>
                </a:solidFill>
                <a:effectLst/>
                <a:latin typeface="+mj-lt"/>
                <a:ea typeface="+mj-ea"/>
                <a:cs typeface="+mj-cs"/>
              </a:rPr>
              <a:t> pas du tout et que Marie ne </a:t>
            </a:r>
            <a:r>
              <a:rPr lang="en-US" sz="1800" kern="1200" dirty="0" err="1">
                <a:solidFill>
                  <a:schemeClr val="tx1"/>
                </a:solidFill>
                <a:effectLst/>
                <a:latin typeface="+mj-lt"/>
                <a:ea typeface="+mj-ea"/>
                <a:cs typeface="+mj-cs"/>
              </a:rPr>
              <a:t>peut</a:t>
            </a:r>
            <a:r>
              <a:rPr lang="en-US" sz="1800" kern="1200" dirty="0">
                <a:solidFill>
                  <a:schemeClr val="tx1"/>
                </a:solidFill>
                <a:effectLst/>
                <a:latin typeface="+mj-lt"/>
                <a:ea typeface="+mj-ea"/>
                <a:cs typeface="+mj-cs"/>
              </a:rPr>
              <a:t> </a:t>
            </a:r>
            <a:r>
              <a:rPr lang="en-US" sz="1800" kern="1200" dirty="0" err="1">
                <a:solidFill>
                  <a:schemeClr val="tx1"/>
                </a:solidFill>
                <a:effectLst/>
                <a:latin typeface="+mj-lt"/>
                <a:ea typeface="+mj-ea"/>
                <a:cs typeface="+mj-cs"/>
              </a:rPr>
              <a:t>donc</a:t>
            </a:r>
            <a:r>
              <a:rPr lang="en-US" sz="1800" kern="1200" dirty="0">
                <a:solidFill>
                  <a:schemeClr val="tx1"/>
                </a:solidFill>
                <a:effectLst/>
                <a:latin typeface="+mj-lt"/>
                <a:ea typeface="+mj-ea"/>
                <a:cs typeface="+mj-cs"/>
              </a:rPr>
              <a:t> pas les inviter ensemble, de </a:t>
            </a:r>
            <a:r>
              <a:rPr lang="en-US" sz="1800" kern="1200" dirty="0" err="1">
                <a:solidFill>
                  <a:schemeClr val="tx1"/>
                </a:solidFill>
                <a:effectLst/>
                <a:latin typeface="+mj-lt"/>
                <a:ea typeface="+mj-ea"/>
                <a:cs typeface="+mj-cs"/>
              </a:rPr>
              <a:t>combien</a:t>
            </a:r>
            <a:r>
              <a:rPr lang="en-US" sz="1800" kern="1200" dirty="0">
                <a:solidFill>
                  <a:schemeClr val="tx1"/>
                </a:solidFill>
                <a:effectLst/>
                <a:latin typeface="+mj-lt"/>
                <a:ea typeface="+mj-ea"/>
                <a:cs typeface="+mj-cs"/>
              </a:rPr>
              <a:t> de façons </a:t>
            </a:r>
            <a:r>
              <a:rPr lang="en-US" sz="1800" kern="1200" dirty="0" err="1">
                <a:solidFill>
                  <a:schemeClr val="tx1"/>
                </a:solidFill>
                <a:effectLst/>
                <a:latin typeface="+mj-lt"/>
                <a:ea typeface="+mj-ea"/>
                <a:cs typeface="+mj-cs"/>
              </a:rPr>
              <a:t>peut</a:t>
            </a:r>
            <a:r>
              <a:rPr lang="en-US" sz="1800" kern="1200" dirty="0">
                <a:solidFill>
                  <a:schemeClr val="tx1"/>
                </a:solidFill>
                <a:effectLst/>
                <a:latin typeface="+mj-lt"/>
                <a:ea typeface="+mj-ea"/>
                <a:cs typeface="+mj-cs"/>
              </a:rPr>
              <a:t>-elle faire </a:t>
            </a:r>
            <a:r>
              <a:rPr lang="en-US" sz="1800" kern="1200" dirty="0" err="1">
                <a:solidFill>
                  <a:schemeClr val="tx1"/>
                </a:solidFill>
                <a:effectLst/>
                <a:latin typeface="+mj-lt"/>
                <a:ea typeface="+mj-ea"/>
                <a:cs typeface="+mj-cs"/>
              </a:rPr>
              <a:t>ses</a:t>
            </a:r>
            <a:r>
              <a:rPr lang="en-US" sz="1800" kern="1200" dirty="0">
                <a:solidFill>
                  <a:schemeClr val="tx1"/>
                </a:solidFill>
                <a:effectLst/>
                <a:latin typeface="+mj-lt"/>
                <a:ea typeface="+mj-ea"/>
                <a:cs typeface="+mj-cs"/>
              </a:rPr>
              <a:t> invitations ?</a:t>
            </a:r>
            <a:endParaRPr lang="en-US" sz="1800" kern="1200" dirty="0">
              <a:solidFill>
                <a:schemeClr val="tx1"/>
              </a:solidFill>
              <a:latin typeface="+mj-lt"/>
              <a:ea typeface="+mj-ea"/>
              <a:cs typeface="+mj-cs"/>
            </a:endParaRPr>
          </a:p>
        </p:txBody>
      </p:sp>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AD41FE69-97FE-4EBD-9C85-33D3C82DC2B6}"/>
                  </a:ext>
                </a:extLst>
              </p:cNvPr>
              <p:cNvSpPr txBox="1"/>
              <p:nvPr/>
            </p:nvSpPr>
            <p:spPr>
              <a:xfrm>
                <a:off x="5358384" y="640263"/>
                <a:ext cx="6028944" cy="5254510"/>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700" b="1" dirty="0">
                    <a:solidFill>
                      <a:schemeClr val="bg1"/>
                    </a:solidFill>
                  </a:rPr>
                  <a:t>Réponse:</a:t>
                </a:r>
              </a:p>
              <a:p>
                <a:pPr marL="114300" defTabSz="914400">
                  <a:lnSpc>
                    <a:spcPct val="90000"/>
                  </a:lnSpc>
                  <a:spcAft>
                    <a:spcPts val="600"/>
                  </a:spcAft>
                </a:pPr>
                <a:r>
                  <a:rPr lang="en-US" sz="1700" b="0" dirty="0">
                    <a:solidFill>
                      <a:schemeClr val="bg1"/>
                    </a:solidFill>
                  </a:rPr>
                  <a:t>a)  </a:t>
                </a:r>
                <a14:m>
                  <m:oMath xmlns:m="http://schemas.openxmlformats.org/officeDocument/2006/math">
                    <m:r>
                      <a:rPr lang="en-US" sz="1700" b="0" i="1">
                        <a:solidFill>
                          <a:schemeClr val="bg1"/>
                        </a:solidFill>
                        <a:latin typeface="Cambria Math" panose="02040503050406030204" pitchFamily="18" charset="0"/>
                      </a:rPr>
                      <m:t>𝑁</m:t>
                    </m:r>
                    <m:d>
                      <m:dPr>
                        <m:ctrlPr>
                          <a:rPr lang="en-US" sz="1700" b="0" i="1">
                            <a:solidFill>
                              <a:schemeClr val="bg1"/>
                            </a:solidFill>
                            <a:latin typeface="Cambria Math" panose="02040503050406030204" pitchFamily="18" charset="0"/>
                          </a:rPr>
                        </m:ctrlPr>
                      </m:dPr>
                      <m:e>
                        <m:r>
                          <a:rPr lang="en-US" sz="1700" b="0" i="1">
                            <a:solidFill>
                              <a:schemeClr val="bg1"/>
                            </a:solidFill>
                            <a:latin typeface="Cambria Math" panose="02040503050406030204" pitchFamily="18" charset="0"/>
                          </a:rPr>
                          <m:t>𝑆</m:t>
                        </m:r>
                      </m:e>
                    </m:d>
                    <m:r>
                      <a:rPr lang="en-US" sz="1700" b="0" i="1">
                        <a:solidFill>
                          <a:schemeClr val="bg1"/>
                        </a:solidFill>
                        <a:latin typeface="Cambria Math" panose="02040503050406030204" pitchFamily="18" charset="0"/>
                      </a:rPr>
                      <m:t>=</m:t>
                    </m:r>
                    <m:d>
                      <m:dPr>
                        <m:ctrlPr>
                          <a:rPr lang="en-US" sz="1700" b="0" i="1">
                            <a:solidFill>
                              <a:schemeClr val="bg1"/>
                            </a:solidFill>
                            <a:latin typeface="Cambria Math" panose="02040503050406030204" pitchFamily="18" charset="0"/>
                          </a:rPr>
                        </m:ctrlPr>
                      </m:dPr>
                      <m:e>
                        <m:eqArr>
                          <m:eqArrPr>
                            <m:ctrlPr>
                              <a:rPr lang="en-US" sz="1700" b="0" i="1">
                                <a:solidFill>
                                  <a:schemeClr val="bg1"/>
                                </a:solidFill>
                                <a:latin typeface="Cambria Math" panose="02040503050406030204" pitchFamily="18" charset="0"/>
                              </a:rPr>
                            </m:ctrlPr>
                          </m:eqArrPr>
                          <m:e>
                            <m:r>
                              <a:rPr lang="en-US" sz="1700" b="0" i="1">
                                <a:solidFill>
                                  <a:schemeClr val="bg1"/>
                                </a:solidFill>
                                <a:latin typeface="Cambria Math" panose="02040503050406030204" pitchFamily="18" charset="0"/>
                              </a:rPr>
                              <m:t>15</m:t>
                            </m:r>
                          </m:e>
                          <m:e>
                            <m:r>
                              <a:rPr lang="en-US" sz="1700" b="0" i="1">
                                <a:solidFill>
                                  <a:schemeClr val="bg1"/>
                                </a:solidFill>
                                <a:latin typeface="Cambria Math" panose="02040503050406030204" pitchFamily="18" charset="0"/>
                              </a:rPr>
                              <m:t>10</m:t>
                            </m:r>
                          </m:e>
                        </m:eqArr>
                      </m:e>
                    </m:d>
                    <m:r>
                      <a:rPr lang="en-US" sz="1700" b="0" i="1">
                        <a:solidFill>
                          <a:schemeClr val="bg1"/>
                        </a:solidFill>
                        <a:latin typeface="Cambria Math" panose="02040503050406030204" pitchFamily="18" charset="0"/>
                      </a:rPr>
                      <m:t>=3003 </m:t>
                    </m:r>
                    <m:r>
                      <a:rPr lang="en-US" sz="1700" b="0" i="1">
                        <a:solidFill>
                          <a:schemeClr val="bg1"/>
                        </a:solidFill>
                        <a:latin typeface="Cambria Math" panose="02040503050406030204" pitchFamily="18" charset="0"/>
                      </a:rPr>
                      <m:t>𝑐𝑜𝑚𝑏𝑖𝑛𝑎𝑖𝑠𝑜𝑛𝑠</m:t>
                    </m:r>
                    <m:r>
                      <a:rPr lang="en-US" sz="1700" b="0" i="1">
                        <a:solidFill>
                          <a:schemeClr val="bg1"/>
                        </a:solidFill>
                        <a:latin typeface="Cambria Math" panose="02040503050406030204" pitchFamily="18" charset="0"/>
                      </a:rPr>
                      <m:t> </m:t>
                    </m:r>
                    <m:r>
                      <a:rPr lang="en-US" sz="1700" b="0" i="1">
                        <a:solidFill>
                          <a:schemeClr val="bg1"/>
                        </a:solidFill>
                        <a:latin typeface="Cambria Math" panose="02040503050406030204" pitchFamily="18" charset="0"/>
                      </a:rPr>
                      <m:t>𝑝𝑜𝑠𝑠𝑖𝑏𝑙𝑒𝑠</m:t>
                    </m:r>
                    <m:r>
                      <a:rPr lang="en-US" sz="1700" b="0" i="1">
                        <a:solidFill>
                          <a:schemeClr val="bg1"/>
                        </a:solidFill>
                        <a:latin typeface="Cambria Math" panose="02040503050406030204" pitchFamily="18" charset="0"/>
                      </a:rPr>
                      <m:t>.</m:t>
                    </m:r>
                  </m:oMath>
                </a14:m>
                <a:endParaRPr lang="en-US" sz="1700" dirty="0">
                  <a:solidFill>
                    <a:schemeClr val="bg1"/>
                  </a:solidFill>
                </a:endParaRPr>
              </a:p>
              <a:p>
                <a:pPr marL="114300" defTabSz="914400">
                  <a:lnSpc>
                    <a:spcPct val="90000"/>
                  </a:lnSpc>
                  <a:spcAft>
                    <a:spcPts val="600"/>
                  </a:spcAft>
                </a:pPr>
                <a:r>
                  <a:rPr lang="en-US" sz="1700" dirty="0">
                    <a:solidFill>
                      <a:schemeClr val="bg1"/>
                    </a:solidFill>
                    <a:effectLst/>
                  </a:rPr>
                  <a:t>b) Soit elle les invite toutes les deux, cela pouvant se faire de </a:t>
                </a:r>
                <a14:m>
                  <m:oMath xmlns:m="http://schemas.openxmlformats.org/officeDocument/2006/math">
                    <m:d>
                      <m:dPr>
                        <m:ctrlPr>
                          <a:rPr lang="en-US" sz="1700" i="1">
                            <a:solidFill>
                              <a:schemeClr val="bg1"/>
                            </a:solidFill>
                            <a:effectLst/>
                            <a:latin typeface="Cambria Math" panose="02040503050406030204" pitchFamily="18" charset="0"/>
                          </a:rPr>
                        </m:ctrlPr>
                      </m:dPr>
                      <m:e>
                        <m:eqArr>
                          <m:eqArrPr>
                            <m:ctrlPr>
                              <a:rPr lang="en-US" sz="1700" b="0" i="1">
                                <a:solidFill>
                                  <a:schemeClr val="bg1"/>
                                </a:solidFill>
                                <a:effectLst/>
                                <a:latin typeface="Cambria Math" panose="02040503050406030204" pitchFamily="18" charset="0"/>
                              </a:rPr>
                            </m:ctrlPr>
                          </m:eqArrPr>
                          <m:e>
                            <m:r>
                              <a:rPr lang="en-US" sz="1700" b="0" i="1">
                                <a:solidFill>
                                  <a:schemeClr val="bg1"/>
                                </a:solidFill>
                                <a:effectLst/>
                                <a:latin typeface="Cambria Math" panose="02040503050406030204" pitchFamily="18" charset="0"/>
                              </a:rPr>
                              <m:t>2</m:t>
                            </m:r>
                          </m:e>
                          <m:e>
                            <m:r>
                              <a:rPr lang="en-US" sz="1700" b="0" i="1">
                                <a:solidFill>
                                  <a:schemeClr val="bg1"/>
                                </a:solidFill>
                                <a:effectLst/>
                                <a:latin typeface="Cambria Math" panose="02040503050406030204" pitchFamily="18" charset="0"/>
                              </a:rPr>
                              <m:t>2</m:t>
                            </m:r>
                          </m:e>
                        </m:eqArr>
                      </m:e>
                    </m:d>
                    <m:d>
                      <m:dPr>
                        <m:ctrlPr>
                          <a:rPr lang="en-US" sz="1700" i="1">
                            <a:solidFill>
                              <a:schemeClr val="bg1"/>
                            </a:solidFill>
                            <a:effectLst/>
                            <a:latin typeface="Cambria Math" panose="02040503050406030204" pitchFamily="18" charset="0"/>
                          </a:rPr>
                        </m:ctrlPr>
                      </m:dPr>
                      <m:e>
                        <m:eqArr>
                          <m:eqArrPr>
                            <m:ctrlPr>
                              <a:rPr lang="en-US" sz="1700" b="0" i="1">
                                <a:solidFill>
                                  <a:schemeClr val="bg1"/>
                                </a:solidFill>
                                <a:effectLst/>
                                <a:latin typeface="Cambria Math" panose="02040503050406030204" pitchFamily="18" charset="0"/>
                              </a:rPr>
                            </m:ctrlPr>
                          </m:eqArrPr>
                          <m:e>
                            <m:r>
                              <a:rPr lang="en-US" sz="1700" b="0" i="1">
                                <a:solidFill>
                                  <a:schemeClr val="bg1"/>
                                </a:solidFill>
                                <a:effectLst/>
                                <a:latin typeface="Cambria Math" panose="02040503050406030204" pitchFamily="18" charset="0"/>
                              </a:rPr>
                              <m:t>13</m:t>
                            </m:r>
                          </m:e>
                          <m:e>
                            <m:r>
                              <a:rPr lang="en-US" sz="1700" b="0" i="1">
                                <a:solidFill>
                                  <a:schemeClr val="bg1"/>
                                </a:solidFill>
                                <a:effectLst/>
                                <a:latin typeface="Cambria Math" panose="02040503050406030204" pitchFamily="18" charset="0"/>
                              </a:rPr>
                              <m:t>8</m:t>
                            </m:r>
                          </m:e>
                        </m:eqArr>
                      </m:e>
                    </m:d>
                    <m:r>
                      <a:rPr lang="en-US" sz="1700" b="0" i="1">
                        <a:solidFill>
                          <a:schemeClr val="bg1"/>
                        </a:solidFill>
                        <a:effectLst/>
                        <a:latin typeface="Cambria Math" panose="02040503050406030204" pitchFamily="18" charset="0"/>
                      </a:rPr>
                      <m:t>=1287</m:t>
                    </m:r>
                  </m:oMath>
                </a14:m>
                <a:endParaRPr lang="en-US" sz="1700" dirty="0">
                  <a:solidFill>
                    <a:schemeClr val="bg1"/>
                  </a:solidFill>
                </a:endParaRPr>
              </a:p>
              <a:p>
                <a:pPr indent="-228600" defTabSz="914400">
                  <a:lnSpc>
                    <a:spcPct val="90000"/>
                  </a:lnSpc>
                  <a:spcAft>
                    <a:spcPts val="600"/>
                  </a:spcAft>
                  <a:buFont typeface="Arial" panose="020B0604020202020204" pitchFamily="34" charset="0"/>
                  <a:buChar char="•"/>
                </a:pPr>
                <a:r>
                  <a:rPr lang="en-US" sz="1700" dirty="0">
                    <a:solidFill>
                      <a:schemeClr val="bg1"/>
                    </a:solidFill>
                  </a:rPr>
                  <a:t>   </a:t>
                </a:r>
                <a:r>
                  <a:rPr lang="en-US" sz="1700" dirty="0">
                    <a:solidFill>
                      <a:schemeClr val="bg1"/>
                    </a:solidFill>
                    <a:effectLst/>
                  </a:rPr>
                  <a:t>Soit elle n’invite aucune d’elles, cela pouvant se faire de    </a:t>
                </a:r>
                <a14:m>
                  <m:oMath xmlns:m="http://schemas.openxmlformats.org/officeDocument/2006/math">
                    <m:d>
                      <m:dPr>
                        <m:ctrlPr>
                          <a:rPr lang="en-US" sz="1700" i="1">
                            <a:solidFill>
                              <a:schemeClr val="bg1"/>
                            </a:solidFill>
                            <a:effectLst/>
                            <a:latin typeface="Cambria Math" panose="02040503050406030204" pitchFamily="18" charset="0"/>
                          </a:rPr>
                        </m:ctrlPr>
                      </m:dPr>
                      <m:e>
                        <m:eqArr>
                          <m:eqArrPr>
                            <m:ctrlPr>
                              <a:rPr lang="en-US" sz="1700" b="0" i="1">
                                <a:solidFill>
                                  <a:schemeClr val="bg1"/>
                                </a:solidFill>
                                <a:effectLst/>
                                <a:latin typeface="Cambria Math" panose="02040503050406030204" pitchFamily="18" charset="0"/>
                              </a:rPr>
                            </m:ctrlPr>
                          </m:eqArrPr>
                          <m:e>
                            <m:r>
                              <a:rPr lang="en-US" sz="1700" b="0" i="1">
                                <a:solidFill>
                                  <a:schemeClr val="bg1"/>
                                </a:solidFill>
                                <a:effectLst/>
                                <a:latin typeface="Cambria Math" panose="02040503050406030204" pitchFamily="18" charset="0"/>
                              </a:rPr>
                              <m:t>2</m:t>
                            </m:r>
                          </m:e>
                          <m:e>
                            <m:r>
                              <a:rPr lang="en-US" sz="1700" b="0" i="1">
                                <a:solidFill>
                                  <a:schemeClr val="bg1"/>
                                </a:solidFill>
                                <a:effectLst/>
                                <a:latin typeface="Cambria Math" panose="02040503050406030204" pitchFamily="18" charset="0"/>
                              </a:rPr>
                              <m:t>0</m:t>
                            </m:r>
                          </m:e>
                        </m:eqArr>
                      </m:e>
                    </m:d>
                    <m:d>
                      <m:dPr>
                        <m:ctrlPr>
                          <a:rPr lang="en-US" sz="1700" i="1">
                            <a:solidFill>
                              <a:schemeClr val="bg1"/>
                            </a:solidFill>
                            <a:effectLst/>
                            <a:latin typeface="Cambria Math" panose="02040503050406030204" pitchFamily="18" charset="0"/>
                          </a:rPr>
                        </m:ctrlPr>
                      </m:dPr>
                      <m:e>
                        <m:eqArr>
                          <m:eqArrPr>
                            <m:ctrlPr>
                              <a:rPr lang="en-US" sz="1700" b="0" i="1">
                                <a:solidFill>
                                  <a:schemeClr val="bg1"/>
                                </a:solidFill>
                                <a:effectLst/>
                                <a:latin typeface="Cambria Math" panose="02040503050406030204" pitchFamily="18" charset="0"/>
                              </a:rPr>
                            </m:ctrlPr>
                          </m:eqArrPr>
                          <m:e>
                            <m:r>
                              <a:rPr lang="en-US" sz="1700" b="0" i="1">
                                <a:solidFill>
                                  <a:schemeClr val="bg1"/>
                                </a:solidFill>
                                <a:effectLst/>
                                <a:latin typeface="Cambria Math" panose="02040503050406030204" pitchFamily="18" charset="0"/>
                              </a:rPr>
                              <m:t>13</m:t>
                            </m:r>
                          </m:e>
                          <m:e>
                            <m:r>
                              <a:rPr lang="en-US" sz="1700" b="0" i="1">
                                <a:solidFill>
                                  <a:schemeClr val="bg1"/>
                                </a:solidFill>
                                <a:effectLst/>
                                <a:latin typeface="Cambria Math" panose="02040503050406030204" pitchFamily="18" charset="0"/>
                              </a:rPr>
                              <m:t>10</m:t>
                            </m:r>
                          </m:e>
                        </m:eqArr>
                      </m:e>
                    </m:d>
                    <m:r>
                      <a:rPr lang="en-US" sz="1700" b="0" i="1">
                        <a:solidFill>
                          <a:schemeClr val="bg1"/>
                        </a:solidFill>
                        <a:effectLst/>
                        <a:latin typeface="Cambria Math" panose="02040503050406030204" pitchFamily="18" charset="0"/>
                      </a:rPr>
                      <m:t>=286</m:t>
                    </m:r>
                  </m:oMath>
                </a14:m>
                <a:endParaRPr lang="en-US" sz="1700" dirty="0">
                  <a:solidFill>
                    <a:schemeClr val="bg1"/>
                  </a:solidFill>
                </a:endParaRPr>
              </a:p>
              <a:p>
                <a:pPr indent="-228600" defTabSz="914400">
                  <a:lnSpc>
                    <a:spcPct val="90000"/>
                  </a:lnSpc>
                  <a:spcAft>
                    <a:spcPts val="600"/>
                  </a:spcAft>
                  <a:buFont typeface="Arial" panose="020B0604020202020204" pitchFamily="34" charset="0"/>
                  <a:buChar char="•"/>
                </a:pPr>
                <a:r>
                  <a:rPr lang="en-US" sz="1700" dirty="0">
                    <a:solidFill>
                      <a:schemeClr val="bg1"/>
                    </a:solidFill>
                    <a:effectLst/>
                  </a:rPr>
                  <a:t>Donc, par le principe d’addition, elle </a:t>
                </a:r>
                <a:r>
                  <a:rPr lang="en-US" sz="1700" dirty="0" err="1">
                    <a:solidFill>
                      <a:schemeClr val="bg1"/>
                    </a:solidFill>
                    <a:effectLst/>
                  </a:rPr>
                  <a:t>peut</a:t>
                </a:r>
                <a:r>
                  <a:rPr lang="en-US" sz="1700" dirty="0">
                    <a:solidFill>
                      <a:schemeClr val="bg1"/>
                    </a:solidFill>
                    <a:effectLst/>
                  </a:rPr>
                  <a:t> faire </a:t>
                </a:r>
                <a:r>
                  <a:rPr lang="en-US" sz="1700" dirty="0" err="1">
                    <a:solidFill>
                      <a:schemeClr val="bg1"/>
                    </a:solidFill>
                    <a:effectLst/>
                  </a:rPr>
                  <a:t>ses</a:t>
                </a:r>
                <a:r>
                  <a:rPr lang="en-US" sz="1700" dirty="0">
                    <a:solidFill>
                      <a:schemeClr val="bg1"/>
                    </a:solidFill>
                    <a:effectLst/>
                  </a:rPr>
                  <a:t> invitations de 1573 façons.</a:t>
                </a:r>
              </a:p>
              <a:p>
                <a:pPr indent="-228600" defTabSz="914400">
                  <a:lnSpc>
                    <a:spcPct val="90000"/>
                  </a:lnSpc>
                  <a:spcAft>
                    <a:spcPts val="600"/>
                  </a:spcAft>
                  <a:buFont typeface="Arial" panose="020B0604020202020204" pitchFamily="34" charset="0"/>
                  <a:buChar char="•"/>
                </a:pPr>
                <a:endParaRPr lang="en-US" sz="1700" dirty="0">
                  <a:solidFill>
                    <a:schemeClr val="bg1"/>
                  </a:solidFill>
                </a:endParaRPr>
              </a:p>
              <a:p>
                <a:pPr indent="-228600" defTabSz="914400">
                  <a:lnSpc>
                    <a:spcPct val="90000"/>
                  </a:lnSpc>
                  <a:spcAft>
                    <a:spcPts val="600"/>
                  </a:spcAft>
                  <a:buFont typeface="Arial" panose="020B0604020202020204" pitchFamily="34" charset="0"/>
                  <a:buChar char="•"/>
                </a:pPr>
                <a:r>
                  <a:rPr lang="en-US" sz="1700" dirty="0">
                    <a:solidFill>
                      <a:schemeClr val="bg1"/>
                    </a:solidFill>
                  </a:rPr>
                  <a:t>c) </a:t>
                </a:r>
                <a:r>
                  <a:rPr lang="en-US" sz="1700" dirty="0">
                    <a:solidFill>
                      <a:schemeClr val="bg1"/>
                    </a:solidFill>
                    <a:effectLst/>
                  </a:rPr>
                  <a:t>Soit elle invite </a:t>
                </a:r>
                <a:r>
                  <a:rPr lang="en-US" sz="1700" dirty="0" err="1">
                    <a:solidFill>
                      <a:schemeClr val="bg1"/>
                    </a:solidFill>
                    <a:effectLst/>
                  </a:rPr>
                  <a:t>une</a:t>
                </a:r>
                <a:r>
                  <a:rPr lang="en-US" sz="1700" dirty="0">
                    <a:solidFill>
                      <a:schemeClr val="bg1"/>
                    </a:solidFill>
                    <a:effectLst/>
                  </a:rPr>
                  <a:t> </a:t>
                </a:r>
                <a:r>
                  <a:rPr lang="en-US" sz="1700" dirty="0" err="1">
                    <a:solidFill>
                      <a:schemeClr val="bg1"/>
                    </a:solidFill>
                    <a:effectLst/>
                  </a:rPr>
                  <a:t>seule</a:t>
                </a:r>
                <a:r>
                  <a:rPr lang="en-US" sz="1700" dirty="0">
                    <a:solidFill>
                      <a:schemeClr val="bg1"/>
                    </a:solidFill>
                    <a:effectLst/>
                  </a:rPr>
                  <a:t> de </a:t>
                </a:r>
                <a:r>
                  <a:rPr lang="en-US" sz="1700" dirty="0" err="1">
                    <a:solidFill>
                      <a:schemeClr val="bg1"/>
                    </a:solidFill>
                    <a:effectLst/>
                  </a:rPr>
                  <a:t>ses</a:t>
                </a:r>
                <a:r>
                  <a:rPr lang="en-US" sz="1700" dirty="0">
                    <a:solidFill>
                      <a:schemeClr val="bg1"/>
                    </a:solidFill>
                    <a:effectLst/>
                  </a:rPr>
                  <a:t> deux amies, cela pouvant se faire de </a:t>
                </a:r>
                <a14:m>
                  <m:oMath xmlns:m="http://schemas.openxmlformats.org/officeDocument/2006/math">
                    <m:d>
                      <m:dPr>
                        <m:ctrlPr>
                          <a:rPr lang="en-US" sz="1700" i="1">
                            <a:solidFill>
                              <a:schemeClr val="bg1"/>
                            </a:solidFill>
                            <a:effectLst/>
                            <a:latin typeface="Cambria Math" panose="02040503050406030204" pitchFamily="18" charset="0"/>
                          </a:rPr>
                        </m:ctrlPr>
                      </m:dPr>
                      <m:e>
                        <m:eqArr>
                          <m:eqArrPr>
                            <m:ctrlPr>
                              <a:rPr lang="en-US" sz="1700" b="0" i="1">
                                <a:solidFill>
                                  <a:schemeClr val="bg1"/>
                                </a:solidFill>
                                <a:effectLst/>
                                <a:latin typeface="Cambria Math" panose="02040503050406030204" pitchFamily="18" charset="0"/>
                              </a:rPr>
                            </m:ctrlPr>
                          </m:eqArrPr>
                          <m:e>
                            <m:r>
                              <a:rPr lang="en-US" sz="1700" b="0" i="1">
                                <a:solidFill>
                                  <a:schemeClr val="bg1"/>
                                </a:solidFill>
                                <a:effectLst/>
                                <a:latin typeface="Cambria Math" panose="02040503050406030204" pitchFamily="18" charset="0"/>
                              </a:rPr>
                              <m:t>2</m:t>
                            </m:r>
                          </m:e>
                          <m:e>
                            <m:r>
                              <a:rPr lang="en-US" sz="1700" b="0" i="1">
                                <a:solidFill>
                                  <a:schemeClr val="bg1"/>
                                </a:solidFill>
                                <a:effectLst/>
                                <a:latin typeface="Cambria Math" panose="02040503050406030204" pitchFamily="18" charset="0"/>
                              </a:rPr>
                              <m:t>1</m:t>
                            </m:r>
                          </m:e>
                        </m:eqArr>
                      </m:e>
                    </m:d>
                    <m:d>
                      <m:dPr>
                        <m:ctrlPr>
                          <a:rPr lang="en-US" sz="1700" i="1">
                            <a:solidFill>
                              <a:schemeClr val="bg1"/>
                            </a:solidFill>
                            <a:effectLst/>
                            <a:latin typeface="Cambria Math" panose="02040503050406030204" pitchFamily="18" charset="0"/>
                          </a:rPr>
                        </m:ctrlPr>
                      </m:dPr>
                      <m:e>
                        <m:eqArr>
                          <m:eqArrPr>
                            <m:ctrlPr>
                              <a:rPr lang="en-US" sz="1700" b="0" i="1">
                                <a:solidFill>
                                  <a:schemeClr val="bg1"/>
                                </a:solidFill>
                                <a:effectLst/>
                                <a:latin typeface="Cambria Math" panose="02040503050406030204" pitchFamily="18" charset="0"/>
                              </a:rPr>
                            </m:ctrlPr>
                          </m:eqArrPr>
                          <m:e>
                            <m:r>
                              <a:rPr lang="en-US" sz="1700" b="0" i="1">
                                <a:solidFill>
                                  <a:schemeClr val="bg1"/>
                                </a:solidFill>
                                <a:effectLst/>
                                <a:latin typeface="Cambria Math" panose="02040503050406030204" pitchFamily="18" charset="0"/>
                              </a:rPr>
                              <m:t>13</m:t>
                            </m:r>
                          </m:e>
                          <m:e>
                            <m:r>
                              <a:rPr lang="en-US" sz="1700" b="0" i="1">
                                <a:solidFill>
                                  <a:schemeClr val="bg1"/>
                                </a:solidFill>
                                <a:effectLst/>
                                <a:latin typeface="Cambria Math" panose="02040503050406030204" pitchFamily="18" charset="0"/>
                              </a:rPr>
                              <m:t>9</m:t>
                            </m:r>
                          </m:e>
                        </m:eqArr>
                      </m:e>
                    </m:d>
                    <m:r>
                      <a:rPr lang="en-US" sz="1700" b="0" i="1">
                        <a:solidFill>
                          <a:schemeClr val="bg1"/>
                        </a:solidFill>
                        <a:effectLst/>
                        <a:latin typeface="Cambria Math" panose="02040503050406030204" pitchFamily="18" charset="0"/>
                      </a:rPr>
                      <m:t>=1430</m:t>
                    </m:r>
                  </m:oMath>
                </a14:m>
                <a:endParaRPr lang="en-US" sz="1700" dirty="0">
                  <a:solidFill>
                    <a:schemeClr val="bg1"/>
                  </a:solidFill>
                </a:endParaRPr>
              </a:p>
              <a:p>
                <a:pPr indent="-228600" defTabSz="914400">
                  <a:lnSpc>
                    <a:spcPct val="90000"/>
                  </a:lnSpc>
                  <a:spcAft>
                    <a:spcPts val="600"/>
                  </a:spcAft>
                  <a:buFont typeface="Arial" panose="020B0604020202020204" pitchFamily="34" charset="0"/>
                  <a:buChar char="•"/>
                </a:pPr>
                <a:r>
                  <a:rPr lang="en-US" sz="1700" dirty="0">
                    <a:solidFill>
                      <a:schemeClr val="bg1"/>
                    </a:solidFill>
                    <a:effectLst/>
                  </a:rPr>
                  <a:t>Soit elle n’invite aucune d’elles, cela pouvant se faire de </a:t>
                </a:r>
                <a14:m>
                  <m:oMath xmlns:m="http://schemas.openxmlformats.org/officeDocument/2006/math">
                    <m:d>
                      <m:dPr>
                        <m:ctrlPr>
                          <a:rPr lang="en-US" sz="1700" i="1">
                            <a:solidFill>
                              <a:schemeClr val="bg1"/>
                            </a:solidFill>
                            <a:effectLst/>
                            <a:latin typeface="Cambria Math" panose="02040503050406030204" pitchFamily="18" charset="0"/>
                          </a:rPr>
                        </m:ctrlPr>
                      </m:dPr>
                      <m:e>
                        <m:eqArr>
                          <m:eqArrPr>
                            <m:ctrlPr>
                              <a:rPr lang="en-US" sz="1700" b="0" i="1">
                                <a:solidFill>
                                  <a:schemeClr val="bg1"/>
                                </a:solidFill>
                                <a:effectLst/>
                                <a:latin typeface="Cambria Math" panose="02040503050406030204" pitchFamily="18" charset="0"/>
                              </a:rPr>
                            </m:ctrlPr>
                          </m:eqArrPr>
                          <m:e>
                            <m:r>
                              <a:rPr lang="en-US" sz="1700" b="0" i="1">
                                <a:solidFill>
                                  <a:schemeClr val="bg1"/>
                                </a:solidFill>
                                <a:effectLst/>
                                <a:latin typeface="Cambria Math" panose="02040503050406030204" pitchFamily="18" charset="0"/>
                              </a:rPr>
                              <m:t>2</m:t>
                            </m:r>
                          </m:e>
                          <m:e>
                            <m:r>
                              <a:rPr lang="en-US" sz="1700" b="0" i="1">
                                <a:solidFill>
                                  <a:schemeClr val="bg1"/>
                                </a:solidFill>
                                <a:effectLst/>
                                <a:latin typeface="Cambria Math" panose="02040503050406030204" pitchFamily="18" charset="0"/>
                              </a:rPr>
                              <m:t>0</m:t>
                            </m:r>
                          </m:e>
                        </m:eqArr>
                      </m:e>
                    </m:d>
                    <m:d>
                      <m:dPr>
                        <m:ctrlPr>
                          <a:rPr lang="en-US" sz="1700" i="1">
                            <a:solidFill>
                              <a:schemeClr val="bg1"/>
                            </a:solidFill>
                            <a:effectLst/>
                            <a:latin typeface="Cambria Math" panose="02040503050406030204" pitchFamily="18" charset="0"/>
                          </a:rPr>
                        </m:ctrlPr>
                      </m:dPr>
                      <m:e>
                        <m:eqArr>
                          <m:eqArrPr>
                            <m:ctrlPr>
                              <a:rPr lang="en-US" sz="1700" b="0" i="1">
                                <a:solidFill>
                                  <a:schemeClr val="bg1"/>
                                </a:solidFill>
                                <a:effectLst/>
                                <a:latin typeface="Cambria Math" panose="02040503050406030204" pitchFamily="18" charset="0"/>
                              </a:rPr>
                            </m:ctrlPr>
                          </m:eqArrPr>
                          <m:e>
                            <m:r>
                              <a:rPr lang="en-US" sz="1700" b="0" i="1">
                                <a:solidFill>
                                  <a:schemeClr val="bg1"/>
                                </a:solidFill>
                                <a:effectLst/>
                                <a:latin typeface="Cambria Math" panose="02040503050406030204" pitchFamily="18" charset="0"/>
                              </a:rPr>
                              <m:t>13</m:t>
                            </m:r>
                          </m:e>
                          <m:e>
                            <m:r>
                              <a:rPr lang="en-US" sz="1700" b="0" i="1">
                                <a:solidFill>
                                  <a:schemeClr val="bg1"/>
                                </a:solidFill>
                                <a:effectLst/>
                                <a:latin typeface="Cambria Math" panose="02040503050406030204" pitchFamily="18" charset="0"/>
                              </a:rPr>
                              <m:t>10</m:t>
                            </m:r>
                          </m:e>
                        </m:eqArr>
                      </m:e>
                    </m:d>
                    <m:r>
                      <a:rPr lang="en-US" sz="1700" b="0" i="1">
                        <a:solidFill>
                          <a:schemeClr val="bg1"/>
                        </a:solidFill>
                        <a:effectLst/>
                        <a:latin typeface="Cambria Math" panose="02040503050406030204" pitchFamily="18" charset="0"/>
                      </a:rPr>
                      <m:t>=286</m:t>
                    </m:r>
                  </m:oMath>
                </a14:m>
                <a:endParaRPr lang="en-US" sz="1700" dirty="0">
                  <a:solidFill>
                    <a:schemeClr val="bg1"/>
                  </a:solidFill>
                </a:endParaRPr>
              </a:p>
              <a:p>
                <a:pPr indent="-228600" defTabSz="914400">
                  <a:lnSpc>
                    <a:spcPct val="90000"/>
                  </a:lnSpc>
                  <a:spcAft>
                    <a:spcPts val="600"/>
                  </a:spcAft>
                  <a:buFont typeface="Arial" panose="020B0604020202020204" pitchFamily="34" charset="0"/>
                  <a:buChar char="•"/>
                </a:pPr>
                <a:r>
                  <a:rPr lang="en-US" sz="1700" dirty="0">
                    <a:solidFill>
                      <a:schemeClr val="bg1"/>
                    </a:solidFill>
                    <a:effectLst/>
                  </a:rPr>
                  <a:t>Donc, par le principe d’addition, elle </a:t>
                </a:r>
                <a:r>
                  <a:rPr lang="en-US" sz="1700" dirty="0" err="1">
                    <a:solidFill>
                      <a:schemeClr val="bg1"/>
                    </a:solidFill>
                    <a:effectLst/>
                  </a:rPr>
                  <a:t>peut</a:t>
                </a:r>
                <a:r>
                  <a:rPr lang="en-US" sz="1700" dirty="0">
                    <a:solidFill>
                      <a:schemeClr val="bg1"/>
                    </a:solidFill>
                    <a:effectLst/>
                  </a:rPr>
                  <a:t> faire </a:t>
                </a:r>
                <a:r>
                  <a:rPr lang="en-US" sz="1700" dirty="0" err="1">
                    <a:solidFill>
                      <a:schemeClr val="bg1"/>
                    </a:solidFill>
                    <a:effectLst/>
                  </a:rPr>
                  <a:t>ses</a:t>
                </a:r>
                <a:r>
                  <a:rPr lang="en-US" sz="1700" dirty="0">
                    <a:solidFill>
                      <a:schemeClr val="bg1"/>
                    </a:solidFill>
                    <a:effectLst/>
                  </a:rPr>
                  <a:t> invitations de 1716 façons.</a:t>
                </a:r>
              </a:p>
              <a:p>
                <a:pPr indent="-228600" defTabSz="914400">
                  <a:lnSpc>
                    <a:spcPct val="90000"/>
                  </a:lnSpc>
                  <a:spcAft>
                    <a:spcPts val="600"/>
                  </a:spcAft>
                  <a:buFont typeface="Arial" panose="020B0604020202020204" pitchFamily="34" charset="0"/>
                  <a:buChar char="•"/>
                </a:pPr>
                <a:endParaRPr lang="en-US" sz="1700" dirty="0">
                  <a:solidFill>
                    <a:schemeClr val="bg1"/>
                  </a:solidFill>
                </a:endParaRPr>
              </a:p>
              <a:p>
                <a:pPr indent="-228600" defTabSz="914400">
                  <a:lnSpc>
                    <a:spcPct val="90000"/>
                  </a:lnSpc>
                  <a:spcAft>
                    <a:spcPts val="600"/>
                  </a:spcAft>
                  <a:buFont typeface="Arial" panose="020B0604020202020204" pitchFamily="34" charset="0"/>
                  <a:buChar char="•"/>
                </a:pPr>
                <a:endParaRPr lang="en-US" sz="1700" dirty="0">
                  <a:solidFill>
                    <a:schemeClr val="bg1"/>
                  </a:solidFill>
                </a:endParaRPr>
              </a:p>
            </p:txBody>
          </p:sp>
        </mc:Choice>
        <mc:Fallback xmlns="">
          <p:sp>
            <p:nvSpPr>
              <p:cNvPr id="8" name="ZoneTexte 7">
                <a:extLst>
                  <a:ext uri="{FF2B5EF4-FFF2-40B4-BE49-F238E27FC236}">
                    <a16:creationId xmlns:a16="http://schemas.microsoft.com/office/drawing/2014/main" id="{AD41FE69-97FE-4EBD-9C85-33D3C82DC2B6}"/>
                  </a:ext>
                </a:extLst>
              </p:cNvPr>
              <p:cNvSpPr txBox="1">
                <a:spLocks noRot="1" noChangeAspect="1" noMove="1" noResize="1" noEditPoints="1" noAdjustHandles="1" noChangeArrowheads="1" noChangeShapeType="1" noTextEdit="1"/>
              </p:cNvSpPr>
              <p:nvPr/>
            </p:nvSpPr>
            <p:spPr>
              <a:xfrm>
                <a:off x="5358384" y="640263"/>
                <a:ext cx="6028944" cy="5254510"/>
              </a:xfrm>
              <a:prstGeom prst="rect">
                <a:avLst/>
              </a:prstGeom>
              <a:blipFill>
                <a:blip r:embed="rId2"/>
                <a:stretch>
                  <a:fillRect l="-607" t="-4176" r="-1314"/>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55975E44-0E92-4893-B651-C1AC16372796}"/>
              </a:ext>
            </a:extLst>
          </p:cNvPr>
          <p:cNvSpPr>
            <a:spLocks noGrp="1"/>
          </p:cNvSpPr>
          <p:nvPr>
            <p:ph type="ftr" sz="quarter" idx="11"/>
          </p:nvPr>
        </p:nvSpPr>
        <p:spPr>
          <a:xfrm>
            <a:off x="804672" y="6356350"/>
            <a:ext cx="3223468" cy="365125"/>
          </a:xfrm>
        </p:spPr>
        <p:txBody>
          <a:bodyPr vert="horz" lIns="91440" tIns="45720" rIns="91440" bIns="45720" rtlCol="0" anchor="ctr">
            <a:normAutofit/>
          </a:bodyPr>
          <a:lstStyle/>
          <a:p>
            <a:pPr algn="l" defTabSz="914400"/>
            <a:endParaRPr lang="en-US" kern="1200">
              <a:solidFill>
                <a:schemeClr val="tx1">
                  <a:alpha val="80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73637835-1395-43E5-B0E3-D619CE5AB7D7}"/>
              </a:ext>
            </a:extLst>
          </p:cNvPr>
          <p:cNvSpPr>
            <a:spLocks noGrp="1"/>
          </p:cNvSpPr>
          <p:nvPr>
            <p:ph type="sldNum" sz="quarter" idx="12"/>
          </p:nvPr>
        </p:nvSpPr>
        <p:spPr>
          <a:xfrm>
            <a:off x="8644128" y="6356350"/>
            <a:ext cx="2743200" cy="365125"/>
          </a:xfrm>
        </p:spPr>
        <p:txBody>
          <a:bodyPr vert="horz" lIns="91440" tIns="45720" rIns="91440" bIns="45720" rtlCol="0" anchor="ctr">
            <a:normAutofit/>
          </a:bodyPr>
          <a:lstStyle/>
          <a:p>
            <a:pPr defTabSz="914400">
              <a:spcAft>
                <a:spcPts val="600"/>
              </a:spcAft>
            </a:pPr>
            <a:fld id="{26377AD9-CE17-438C-A638-C64D2D42D7CF}" type="slidenum">
              <a:rPr lang="en-US">
                <a:solidFill>
                  <a:schemeClr val="bg1">
                    <a:alpha val="80000"/>
                  </a:schemeClr>
                </a:solidFill>
              </a:rPr>
              <a:pPr defTabSz="914400">
                <a:spcAft>
                  <a:spcPts val="600"/>
                </a:spcAft>
              </a:pPr>
              <a:t>22</a:t>
            </a:fld>
            <a:endParaRPr lang="en-US">
              <a:solidFill>
                <a:schemeClr val="bg1">
                  <a:alpha val="80000"/>
                </a:schemeClr>
              </a:solidFill>
            </a:endParaRPr>
          </a:p>
        </p:txBody>
      </p:sp>
    </p:spTree>
    <p:extLst>
      <p:ext uri="{BB962C8B-B14F-4D97-AF65-F5344CB8AC3E}">
        <p14:creationId xmlns:p14="http://schemas.microsoft.com/office/powerpoint/2010/main" val="871813697"/>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F79E70D-265A-4D21-88D0-EECE3A373805}"/>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a:spcAft>
                <a:spcPts val="800"/>
              </a:spcAft>
            </a:pPr>
            <a:r>
              <a:rPr lang="en-US" sz="2100" b="1" kern="1200" dirty="0" err="1">
                <a:solidFill>
                  <a:srgbClr val="FFFFFF"/>
                </a:solidFill>
                <a:latin typeface="+mj-lt"/>
                <a:ea typeface="+mj-ea"/>
                <a:cs typeface="+mj-cs"/>
              </a:rPr>
              <a:t>Exemple</a:t>
            </a:r>
            <a:r>
              <a:rPr lang="en-US" sz="2100" b="1" kern="1200" dirty="0">
                <a:solidFill>
                  <a:srgbClr val="FFFFFF"/>
                </a:solidFill>
                <a:latin typeface="+mj-lt"/>
                <a:ea typeface="+mj-ea"/>
                <a:cs typeface="+mj-cs"/>
              </a:rPr>
              <a:t> 3</a:t>
            </a:r>
            <a:r>
              <a:rPr lang="en-US" sz="2100" kern="1200" dirty="0">
                <a:solidFill>
                  <a:srgbClr val="FFFFFF"/>
                </a:solidFill>
                <a:latin typeface="+mj-lt"/>
                <a:ea typeface="+mj-ea"/>
                <a:cs typeface="+mj-cs"/>
              </a:rPr>
              <a:t>: </a:t>
            </a:r>
            <a:r>
              <a:rPr lang="en-US" sz="2100" kern="1200" dirty="0">
                <a:solidFill>
                  <a:srgbClr val="FFFFFF"/>
                </a:solidFill>
                <a:effectLst/>
                <a:latin typeface="+mj-lt"/>
                <a:ea typeface="+mj-ea"/>
                <a:cs typeface="+mj-cs"/>
              </a:rPr>
              <a:t>Une </a:t>
            </a:r>
            <a:r>
              <a:rPr lang="en-US" sz="2100" kern="1200" dirty="0" err="1">
                <a:solidFill>
                  <a:srgbClr val="FFFFFF"/>
                </a:solidFill>
                <a:effectLst/>
                <a:latin typeface="+mj-lt"/>
                <a:ea typeface="+mj-ea"/>
                <a:cs typeface="+mj-cs"/>
              </a:rPr>
              <a:t>boîte</a:t>
            </a:r>
            <a:r>
              <a:rPr lang="en-US" sz="2100" kern="1200" dirty="0">
                <a:solidFill>
                  <a:srgbClr val="FFFFFF"/>
                </a:solidFill>
                <a:effectLst/>
                <a:latin typeface="+mj-lt"/>
                <a:ea typeface="+mj-ea"/>
                <a:cs typeface="+mj-cs"/>
              </a:rPr>
              <a:t> </a:t>
            </a:r>
            <a:r>
              <a:rPr lang="en-US" sz="2100" kern="1200" dirty="0" err="1">
                <a:solidFill>
                  <a:srgbClr val="FFFFFF"/>
                </a:solidFill>
                <a:effectLst/>
                <a:latin typeface="+mj-lt"/>
                <a:ea typeface="+mj-ea"/>
                <a:cs typeface="+mj-cs"/>
              </a:rPr>
              <a:t>contient</a:t>
            </a:r>
            <a:r>
              <a:rPr lang="en-US" sz="2100" kern="1200" dirty="0">
                <a:solidFill>
                  <a:srgbClr val="FFFFFF"/>
                </a:solidFill>
                <a:effectLst/>
                <a:latin typeface="+mj-lt"/>
                <a:ea typeface="+mj-ea"/>
                <a:cs typeface="+mj-cs"/>
              </a:rPr>
              <a:t> 8 boules blanches, 6 boules rouges et 7 boules </a:t>
            </a:r>
            <a:r>
              <a:rPr lang="en-US" sz="2100" kern="1200" dirty="0" err="1">
                <a:solidFill>
                  <a:srgbClr val="FFFFFF"/>
                </a:solidFill>
                <a:effectLst/>
                <a:latin typeface="+mj-lt"/>
                <a:ea typeface="+mj-ea"/>
                <a:cs typeface="+mj-cs"/>
              </a:rPr>
              <a:t>noires</a:t>
            </a:r>
            <a:r>
              <a:rPr lang="en-US" sz="2100" kern="1200" dirty="0">
                <a:solidFill>
                  <a:srgbClr val="FFFFFF"/>
                </a:solidFill>
                <a:effectLst/>
                <a:latin typeface="+mj-lt"/>
                <a:ea typeface="+mj-ea"/>
                <a:cs typeface="+mj-cs"/>
              </a:rPr>
              <a:t>. On </a:t>
            </a:r>
            <a:r>
              <a:rPr lang="en-US" sz="2100" kern="1200" dirty="0" err="1">
                <a:solidFill>
                  <a:srgbClr val="FFFFFF"/>
                </a:solidFill>
                <a:effectLst/>
                <a:latin typeface="+mj-lt"/>
                <a:ea typeface="+mj-ea"/>
                <a:cs typeface="+mj-cs"/>
              </a:rPr>
              <a:t>en</a:t>
            </a:r>
            <a:r>
              <a:rPr lang="en-US" sz="2100" kern="1200" dirty="0">
                <a:solidFill>
                  <a:srgbClr val="FFFFFF"/>
                </a:solidFill>
                <a:effectLst/>
                <a:latin typeface="+mj-lt"/>
                <a:ea typeface="+mj-ea"/>
                <a:cs typeface="+mj-cs"/>
              </a:rPr>
              <a:t> </a:t>
            </a:r>
            <a:r>
              <a:rPr lang="en-US" sz="2100" kern="1200" dirty="0" err="1">
                <a:solidFill>
                  <a:srgbClr val="FFFFFF"/>
                </a:solidFill>
                <a:effectLst/>
                <a:latin typeface="+mj-lt"/>
                <a:ea typeface="+mj-ea"/>
                <a:cs typeface="+mj-cs"/>
              </a:rPr>
              <a:t>choisit</a:t>
            </a:r>
            <a:r>
              <a:rPr lang="en-US" sz="2100" kern="1200" dirty="0">
                <a:solidFill>
                  <a:srgbClr val="FFFFFF"/>
                </a:solidFill>
                <a:effectLst/>
                <a:latin typeface="+mj-lt"/>
                <a:ea typeface="+mj-ea"/>
                <a:cs typeface="+mj-cs"/>
              </a:rPr>
              <a:t> 5 au </a:t>
            </a:r>
            <a:r>
              <a:rPr lang="en-US" sz="2100" kern="1200" dirty="0" err="1">
                <a:solidFill>
                  <a:srgbClr val="FFFFFF"/>
                </a:solidFill>
                <a:effectLst/>
                <a:latin typeface="+mj-lt"/>
                <a:ea typeface="+mj-ea"/>
                <a:cs typeface="+mj-cs"/>
              </a:rPr>
              <a:t>hasard</a:t>
            </a:r>
            <a:r>
              <a:rPr lang="en-US" sz="2100" kern="1200" dirty="0">
                <a:solidFill>
                  <a:srgbClr val="FFFFFF"/>
                </a:solidFill>
                <a:effectLst/>
                <a:latin typeface="+mj-lt"/>
                <a:ea typeface="+mj-ea"/>
                <a:cs typeface="+mj-cs"/>
              </a:rPr>
              <a:t>.</a:t>
            </a:r>
            <a:br>
              <a:rPr lang="en-US" sz="2100" kern="1200" dirty="0">
                <a:solidFill>
                  <a:srgbClr val="FFFFFF"/>
                </a:solidFill>
                <a:effectLst/>
                <a:latin typeface="+mj-lt"/>
                <a:ea typeface="+mj-ea"/>
                <a:cs typeface="+mj-cs"/>
              </a:rPr>
            </a:br>
            <a:r>
              <a:rPr lang="en-US" sz="2100" kern="1200" dirty="0">
                <a:solidFill>
                  <a:srgbClr val="FFFFFF"/>
                </a:solidFill>
                <a:effectLst/>
                <a:latin typeface="+mj-lt"/>
                <a:ea typeface="+mj-ea"/>
                <a:cs typeface="+mj-cs"/>
              </a:rPr>
              <a:t>a)	</a:t>
            </a:r>
            <a:r>
              <a:rPr lang="en-US" sz="2100" kern="1200" dirty="0" err="1">
                <a:solidFill>
                  <a:srgbClr val="FFFFFF"/>
                </a:solidFill>
                <a:effectLst/>
                <a:latin typeface="+mj-lt"/>
                <a:ea typeface="+mj-ea"/>
                <a:cs typeface="+mj-cs"/>
              </a:rPr>
              <a:t>Combien</a:t>
            </a:r>
            <a:r>
              <a:rPr lang="en-US" sz="2100" kern="1200" dirty="0">
                <a:solidFill>
                  <a:srgbClr val="FFFFFF"/>
                </a:solidFill>
                <a:effectLst/>
                <a:latin typeface="+mj-lt"/>
                <a:ea typeface="+mj-ea"/>
                <a:cs typeface="+mj-cs"/>
              </a:rPr>
              <a:t> de </a:t>
            </a:r>
            <a:r>
              <a:rPr lang="en-US" sz="2100" kern="1200" dirty="0" err="1">
                <a:solidFill>
                  <a:srgbClr val="FFFFFF"/>
                </a:solidFill>
                <a:effectLst/>
                <a:latin typeface="+mj-lt"/>
                <a:ea typeface="+mj-ea"/>
                <a:cs typeface="+mj-cs"/>
              </a:rPr>
              <a:t>possibilités</a:t>
            </a:r>
            <a:r>
              <a:rPr lang="en-US" sz="2100" kern="1200" dirty="0">
                <a:solidFill>
                  <a:srgbClr val="FFFFFF"/>
                </a:solidFill>
                <a:effectLst/>
                <a:latin typeface="+mj-lt"/>
                <a:ea typeface="+mj-ea"/>
                <a:cs typeface="+mj-cs"/>
              </a:rPr>
              <a:t> y a-t-</a:t>
            </a:r>
            <a:r>
              <a:rPr lang="en-US" sz="2100" kern="1200" dirty="0" err="1">
                <a:solidFill>
                  <a:srgbClr val="FFFFFF"/>
                </a:solidFill>
                <a:effectLst/>
                <a:latin typeface="+mj-lt"/>
                <a:ea typeface="+mj-ea"/>
                <a:cs typeface="+mj-cs"/>
              </a:rPr>
              <a:t>il</a:t>
            </a:r>
            <a:r>
              <a:rPr lang="en-US" sz="2100" kern="1200" dirty="0">
                <a:solidFill>
                  <a:srgbClr val="FFFFFF"/>
                </a:solidFill>
                <a:effectLst/>
                <a:latin typeface="+mj-lt"/>
                <a:ea typeface="+mj-ea"/>
                <a:cs typeface="+mj-cs"/>
              </a:rPr>
              <a:t> ?</a:t>
            </a:r>
            <a:br>
              <a:rPr lang="en-US" sz="2100" kern="1200" dirty="0">
                <a:solidFill>
                  <a:srgbClr val="FFFFFF"/>
                </a:solidFill>
                <a:effectLst/>
                <a:latin typeface="+mj-lt"/>
                <a:ea typeface="+mj-ea"/>
                <a:cs typeface="+mj-cs"/>
              </a:rPr>
            </a:br>
            <a:r>
              <a:rPr lang="en-US" sz="2100" kern="1200" dirty="0">
                <a:solidFill>
                  <a:srgbClr val="FFFFFF"/>
                </a:solidFill>
                <a:effectLst/>
                <a:latin typeface="+mj-lt"/>
                <a:ea typeface="+mj-ea"/>
                <a:cs typeface="+mj-cs"/>
              </a:rPr>
              <a:t>b)	Quelle </a:t>
            </a:r>
            <a:r>
              <a:rPr lang="en-US" sz="2100" kern="1200" dirty="0" err="1">
                <a:solidFill>
                  <a:srgbClr val="FFFFFF"/>
                </a:solidFill>
                <a:effectLst/>
                <a:latin typeface="+mj-lt"/>
                <a:ea typeface="+mj-ea"/>
                <a:cs typeface="+mj-cs"/>
              </a:rPr>
              <a:t>est</a:t>
            </a:r>
            <a:r>
              <a:rPr lang="en-US" sz="2100" kern="1200" dirty="0">
                <a:solidFill>
                  <a:srgbClr val="FFFFFF"/>
                </a:solidFill>
                <a:effectLst/>
                <a:latin typeface="+mj-lt"/>
                <a:ea typeface="+mj-ea"/>
                <a:cs typeface="+mj-cs"/>
              </a:rPr>
              <a:t> la </a:t>
            </a:r>
            <a:r>
              <a:rPr lang="en-US" sz="2100" kern="1200" dirty="0" err="1">
                <a:solidFill>
                  <a:srgbClr val="FFFFFF"/>
                </a:solidFill>
                <a:effectLst/>
                <a:latin typeface="+mj-lt"/>
                <a:ea typeface="+mj-ea"/>
                <a:cs typeface="+mj-cs"/>
              </a:rPr>
              <a:t>probabilité</a:t>
            </a:r>
            <a:r>
              <a:rPr lang="en-US" sz="2100" kern="1200" dirty="0">
                <a:solidFill>
                  <a:srgbClr val="FFFFFF"/>
                </a:solidFill>
                <a:effectLst/>
                <a:latin typeface="+mj-lt"/>
                <a:ea typeface="+mj-ea"/>
                <a:cs typeface="+mj-cs"/>
              </a:rPr>
              <a:t> que, </a:t>
            </a:r>
            <a:r>
              <a:rPr lang="en-US" sz="2100" kern="1200" dirty="0" err="1">
                <a:solidFill>
                  <a:srgbClr val="FFFFFF"/>
                </a:solidFill>
                <a:effectLst/>
                <a:latin typeface="+mj-lt"/>
                <a:ea typeface="+mj-ea"/>
                <a:cs typeface="+mj-cs"/>
              </a:rPr>
              <a:t>parmi</a:t>
            </a:r>
            <a:r>
              <a:rPr lang="en-US" sz="2100" kern="1200" dirty="0">
                <a:solidFill>
                  <a:srgbClr val="FFFFFF"/>
                </a:solidFill>
                <a:effectLst/>
                <a:latin typeface="+mj-lt"/>
                <a:ea typeface="+mj-ea"/>
                <a:cs typeface="+mj-cs"/>
              </a:rPr>
              <a:t> les 5 boules </a:t>
            </a:r>
            <a:r>
              <a:rPr lang="en-US" sz="2100" kern="1200" dirty="0" err="1">
                <a:solidFill>
                  <a:srgbClr val="FFFFFF"/>
                </a:solidFill>
                <a:effectLst/>
                <a:latin typeface="+mj-lt"/>
                <a:ea typeface="+mj-ea"/>
                <a:cs typeface="+mj-cs"/>
              </a:rPr>
              <a:t>tirées</a:t>
            </a:r>
            <a:r>
              <a:rPr lang="en-US" sz="2100" kern="1200" dirty="0">
                <a:solidFill>
                  <a:srgbClr val="FFFFFF"/>
                </a:solidFill>
                <a:effectLst/>
                <a:latin typeface="+mj-lt"/>
                <a:ea typeface="+mj-ea"/>
                <a:cs typeface="+mj-cs"/>
              </a:rPr>
              <a:t>, </a:t>
            </a:r>
            <a:r>
              <a:rPr lang="en-US" sz="2100" kern="1200" dirty="0" err="1">
                <a:solidFill>
                  <a:srgbClr val="FFFFFF"/>
                </a:solidFill>
                <a:effectLst/>
                <a:latin typeface="+mj-lt"/>
                <a:ea typeface="+mj-ea"/>
                <a:cs typeface="+mj-cs"/>
              </a:rPr>
              <a:t>il</a:t>
            </a:r>
            <a:r>
              <a:rPr lang="en-US" sz="2100" kern="1200" dirty="0">
                <a:solidFill>
                  <a:srgbClr val="FFFFFF"/>
                </a:solidFill>
                <a:effectLst/>
                <a:latin typeface="+mj-lt"/>
                <a:ea typeface="+mj-ea"/>
                <a:cs typeface="+mj-cs"/>
              </a:rPr>
              <a:t> y </a:t>
            </a:r>
            <a:r>
              <a:rPr lang="en-US" sz="2100" kern="1200" dirty="0" err="1">
                <a:solidFill>
                  <a:srgbClr val="FFFFFF"/>
                </a:solidFill>
                <a:effectLst/>
                <a:latin typeface="+mj-lt"/>
                <a:ea typeface="+mj-ea"/>
                <a:cs typeface="+mj-cs"/>
              </a:rPr>
              <a:t>en</a:t>
            </a:r>
            <a:r>
              <a:rPr lang="en-US" sz="2100" kern="1200" dirty="0">
                <a:solidFill>
                  <a:srgbClr val="FFFFFF"/>
                </a:solidFill>
                <a:effectLst/>
                <a:latin typeface="+mj-lt"/>
                <a:ea typeface="+mj-ea"/>
                <a:cs typeface="+mj-cs"/>
              </a:rPr>
              <a:t> </a:t>
            </a:r>
            <a:r>
              <a:rPr lang="en-US" sz="2100" kern="1200" dirty="0" err="1">
                <a:solidFill>
                  <a:srgbClr val="FFFFFF"/>
                </a:solidFill>
                <a:effectLst/>
                <a:latin typeface="+mj-lt"/>
                <a:ea typeface="+mj-ea"/>
                <a:cs typeface="+mj-cs"/>
              </a:rPr>
              <a:t>ait</a:t>
            </a:r>
            <a:r>
              <a:rPr lang="en-US" sz="2100" kern="1200" dirty="0">
                <a:solidFill>
                  <a:srgbClr val="FFFFFF"/>
                </a:solidFill>
                <a:effectLst/>
                <a:latin typeface="+mj-lt"/>
                <a:ea typeface="+mj-ea"/>
                <a:cs typeface="+mj-cs"/>
              </a:rPr>
              <a:t> 2 blanches, 2 rouges et 1 </a:t>
            </a:r>
            <a:r>
              <a:rPr lang="en-US" sz="2100" kern="1200" dirty="0" err="1">
                <a:solidFill>
                  <a:srgbClr val="FFFFFF"/>
                </a:solidFill>
                <a:effectLst/>
                <a:latin typeface="+mj-lt"/>
                <a:ea typeface="+mj-ea"/>
                <a:cs typeface="+mj-cs"/>
              </a:rPr>
              <a:t>noires</a:t>
            </a:r>
            <a:r>
              <a:rPr lang="en-US" sz="2100" kern="1200" dirty="0">
                <a:solidFill>
                  <a:srgbClr val="FFFFFF"/>
                </a:solidFill>
                <a:effectLst/>
                <a:latin typeface="+mj-lt"/>
                <a:ea typeface="+mj-ea"/>
                <a:cs typeface="+mj-cs"/>
              </a:rPr>
              <a:t> ?</a:t>
            </a:r>
            <a:br>
              <a:rPr lang="en-US" sz="2100" kern="1200" dirty="0">
                <a:solidFill>
                  <a:srgbClr val="FFFFFF"/>
                </a:solidFill>
                <a:effectLst/>
                <a:latin typeface="+mj-lt"/>
                <a:ea typeface="+mj-ea"/>
                <a:cs typeface="+mj-cs"/>
              </a:rPr>
            </a:br>
            <a:endParaRPr lang="en-US" sz="2100" kern="1200" dirty="0">
              <a:solidFill>
                <a:srgbClr val="FFFFFF"/>
              </a:solidFill>
              <a:latin typeface="+mj-lt"/>
              <a:ea typeface="+mj-ea"/>
              <a:cs typeface="+mj-cs"/>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7B5FF472-7455-49D4-93BD-BD86E32DED9F}"/>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dirty="0" err="1"/>
                  <a:t>Réponse</a:t>
                </a:r>
                <a:r>
                  <a:rPr lang="en-US" dirty="0"/>
                  <a:t>: a) On </a:t>
                </a:r>
                <a:r>
                  <a:rPr lang="en-US" dirty="0" err="1"/>
                  <a:t>doit</a:t>
                </a:r>
                <a:r>
                  <a:rPr lang="en-US" dirty="0"/>
                  <a:t> </a:t>
                </a:r>
                <a:r>
                  <a:rPr lang="en-US" dirty="0" err="1"/>
                  <a:t>choisir</a:t>
                </a:r>
                <a:r>
                  <a:rPr lang="en-US" dirty="0"/>
                  <a:t> 5 boules </a:t>
                </a:r>
                <a:r>
                  <a:rPr lang="en-US" dirty="0" err="1"/>
                  <a:t>parmi</a:t>
                </a:r>
                <a:r>
                  <a:rPr lang="en-US" dirty="0"/>
                  <a:t> 21,  </a:t>
                </a:r>
                <a14:m>
                  <m:oMath xmlns:m="http://schemas.openxmlformats.org/officeDocument/2006/math">
                    <m:r>
                      <a:rPr lang="en-US" b="0" i="1">
                        <a:latin typeface="Cambria Math" panose="02040503050406030204" pitchFamily="18" charset="0"/>
                      </a:rPr>
                      <m:t>𝑁</m:t>
                    </m:r>
                    <m:d>
                      <m:dPr>
                        <m:ctrlPr>
                          <a:rPr lang="en-US" b="0" i="1">
                            <a:latin typeface="Cambria Math" panose="02040503050406030204" pitchFamily="18" charset="0"/>
                          </a:rPr>
                        </m:ctrlPr>
                      </m:dPr>
                      <m:e>
                        <m:r>
                          <a:rPr lang="en-US" b="0" i="1">
                            <a:latin typeface="Cambria Math" panose="02040503050406030204" pitchFamily="18" charset="0"/>
                          </a:rPr>
                          <m:t>𝑆</m:t>
                        </m:r>
                      </m:e>
                    </m:d>
                    <m:r>
                      <a:rPr lang="en-US" b="0" i="1">
                        <a:latin typeface="Cambria Math" panose="02040503050406030204" pitchFamily="18" charset="0"/>
                      </a:rPr>
                      <m:t>=</m:t>
                    </m:r>
                    <m:d>
                      <m:dPr>
                        <m:ctrlPr>
                          <a:rPr lang="en-US" b="0" i="1">
                            <a:latin typeface="Cambria Math" panose="02040503050406030204" pitchFamily="18" charset="0"/>
                          </a:rPr>
                        </m:ctrlPr>
                      </m:dPr>
                      <m:e>
                        <m:eqArr>
                          <m:eqArrPr>
                            <m:ctrlPr>
                              <a:rPr lang="en-US" b="0" i="1">
                                <a:latin typeface="Cambria Math" panose="02040503050406030204" pitchFamily="18" charset="0"/>
                              </a:rPr>
                            </m:ctrlPr>
                          </m:eqArrPr>
                          <m:e>
                            <m:r>
                              <a:rPr lang="en-US" b="0" i="1">
                                <a:latin typeface="Cambria Math" panose="02040503050406030204" pitchFamily="18" charset="0"/>
                              </a:rPr>
                              <m:t>21</m:t>
                            </m:r>
                          </m:e>
                          <m:e>
                            <m:r>
                              <a:rPr lang="en-US" b="0" i="1">
                                <a:latin typeface="Cambria Math" panose="02040503050406030204" pitchFamily="18" charset="0"/>
                              </a:rPr>
                              <m:t>5</m:t>
                            </m:r>
                          </m:e>
                        </m:eqArr>
                      </m:e>
                    </m:d>
                    <m:r>
                      <a:rPr lang="en-US" b="0" i="1">
                        <a:latin typeface="Cambria Math" panose="02040503050406030204" pitchFamily="18" charset="0"/>
                      </a:rPr>
                      <m:t>=20349</m:t>
                    </m:r>
                  </m:oMath>
                </a14:m>
                <a:endParaRPr lang="en-US" dirty="0"/>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r>
                  <a:rPr lang="en-US" dirty="0"/>
                  <a:t>b) </a:t>
                </a:r>
                <a:r>
                  <a:rPr lang="en-US" dirty="0" err="1"/>
                  <a:t>Soit</a:t>
                </a:r>
                <a:r>
                  <a:rPr lang="en-US" dirty="0"/>
                  <a:t> A: Parmi les 5 boules </a:t>
                </a:r>
                <a:r>
                  <a:rPr lang="en-US" dirty="0" err="1"/>
                  <a:t>choisies</a:t>
                </a:r>
                <a:r>
                  <a:rPr lang="en-US" dirty="0"/>
                  <a:t>, </a:t>
                </a:r>
                <a:r>
                  <a:rPr lang="en-US" dirty="0" err="1"/>
                  <a:t>il</a:t>
                </a:r>
                <a:r>
                  <a:rPr lang="en-US" dirty="0"/>
                  <a:t> y a </a:t>
                </a:r>
                <a:r>
                  <a:rPr lang="en-US" dirty="0">
                    <a:effectLst/>
                  </a:rPr>
                  <a:t>2 blanches, 2 rouges et 2 noire </a:t>
                </a:r>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14:m>
                  <m:oMath xmlns:m="http://schemas.openxmlformats.org/officeDocument/2006/math">
                    <m:r>
                      <a:rPr lang="en-US" b="0" i="1">
                        <a:latin typeface="Cambria Math" panose="02040503050406030204" pitchFamily="18" charset="0"/>
                      </a:rPr>
                      <m:t>𝑁</m:t>
                    </m:r>
                    <m:d>
                      <m:dPr>
                        <m:ctrlPr>
                          <a:rPr lang="en-US" b="0" i="1">
                            <a:latin typeface="Cambria Math" panose="02040503050406030204" pitchFamily="18" charset="0"/>
                          </a:rPr>
                        </m:ctrlPr>
                      </m:dPr>
                      <m:e>
                        <m:r>
                          <a:rPr lang="en-US" b="0" i="1">
                            <a:latin typeface="Cambria Math" panose="02040503050406030204" pitchFamily="18" charset="0"/>
                          </a:rPr>
                          <m:t>𝐴</m:t>
                        </m:r>
                      </m:e>
                    </m:d>
                    <m:r>
                      <a:rPr lang="en-US" b="0" i="1">
                        <a:latin typeface="Cambria Math" panose="02040503050406030204" pitchFamily="18" charset="0"/>
                      </a:rPr>
                      <m:t>=</m:t>
                    </m:r>
                    <m:d>
                      <m:dPr>
                        <m:ctrlPr>
                          <a:rPr lang="en-US" b="0" i="1">
                            <a:latin typeface="Cambria Math" panose="02040503050406030204" pitchFamily="18" charset="0"/>
                          </a:rPr>
                        </m:ctrlPr>
                      </m:dPr>
                      <m:e>
                        <m:eqArr>
                          <m:eqArrPr>
                            <m:ctrlPr>
                              <a:rPr lang="en-US" b="0" i="1">
                                <a:latin typeface="Cambria Math" panose="02040503050406030204" pitchFamily="18" charset="0"/>
                              </a:rPr>
                            </m:ctrlPr>
                          </m:eqArrPr>
                          <m:e>
                            <m:r>
                              <a:rPr lang="en-US" b="0" i="1">
                                <a:latin typeface="Cambria Math" panose="02040503050406030204" pitchFamily="18" charset="0"/>
                              </a:rPr>
                              <m:t>8</m:t>
                            </m:r>
                          </m:e>
                          <m:e>
                            <m:r>
                              <a:rPr lang="en-US" b="0" i="1">
                                <a:latin typeface="Cambria Math" panose="02040503050406030204" pitchFamily="18" charset="0"/>
                              </a:rPr>
                              <m:t>2</m:t>
                            </m:r>
                          </m:e>
                        </m:eqArr>
                      </m:e>
                    </m:d>
                    <m:d>
                      <m:dPr>
                        <m:ctrlPr>
                          <a:rPr lang="en-US" b="0" i="1">
                            <a:latin typeface="Cambria Math" panose="02040503050406030204" pitchFamily="18" charset="0"/>
                          </a:rPr>
                        </m:ctrlPr>
                      </m:dPr>
                      <m:e>
                        <m:eqArr>
                          <m:eqArrPr>
                            <m:ctrlPr>
                              <a:rPr lang="en-US" b="0" i="1">
                                <a:latin typeface="Cambria Math" panose="02040503050406030204" pitchFamily="18" charset="0"/>
                              </a:rPr>
                            </m:ctrlPr>
                          </m:eqArrPr>
                          <m:e>
                            <m:r>
                              <a:rPr lang="en-US" b="0" i="1">
                                <a:latin typeface="Cambria Math" panose="02040503050406030204" pitchFamily="18" charset="0"/>
                              </a:rPr>
                              <m:t>6</m:t>
                            </m:r>
                          </m:e>
                          <m:e>
                            <m:r>
                              <a:rPr lang="en-US" b="0" i="1">
                                <a:latin typeface="Cambria Math" panose="02040503050406030204" pitchFamily="18" charset="0"/>
                              </a:rPr>
                              <m:t>2</m:t>
                            </m:r>
                          </m:e>
                        </m:eqArr>
                      </m:e>
                    </m:d>
                    <m:d>
                      <m:dPr>
                        <m:ctrlPr>
                          <a:rPr lang="en-US" b="0" i="1">
                            <a:latin typeface="Cambria Math" panose="02040503050406030204" pitchFamily="18" charset="0"/>
                          </a:rPr>
                        </m:ctrlPr>
                      </m:dPr>
                      <m:e>
                        <m:eqArr>
                          <m:eqArrPr>
                            <m:ctrlPr>
                              <a:rPr lang="en-US" b="0" i="1">
                                <a:latin typeface="Cambria Math" panose="02040503050406030204" pitchFamily="18" charset="0"/>
                              </a:rPr>
                            </m:ctrlPr>
                          </m:eqArrPr>
                          <m:e>
                            <m:r>
                              <a:rPr lang="en-US" b="0" i="1">
                                <a:latin typeface="Cambria Math" panose="02040503050406030204" pitchFamily="18" charset="0"/>
                              </a:rPr>
                              <m:t>7</m:t>
                            </m:r>
                          </m:e>
                          <m:e>
                            <m:r>
                              <a:rPr lang="en-US" b="0" i="1">
                                <a:latin typeface="Cambria Math" panose="02040503050406030204" pitchFamily="18" charset="0"/>
                              </a:rPr>
                              <m:t>1</m:t>
                            </m:r>
                          </m:e>
                        </m:eqArr>
                      </m:e>
                    </m:d>
                    <m:r>
                      <a:rPr lang="en-US" b="0" i="1">
                        <a:latin typeface="Cambria Math" panose="02040503050406030204" pitchFamily="18" charset="0"/>
                      </a:rPr>
                      <m:t>=3528</m:t>
                    </m:r>
                  </m:oMath>
                </a14:m>
                <a:endParaRPr lang="en-US" dirty="0"/>
              </a:p>
              <a:p>
                <a:pPr indent="-228600" defTabSz="914400">
                  <a:lnSpc>
                    <a:spcPct val="90000"/>
                  </a:lnSpc>
                  <a:spcAft>
                    <a:spcPts val="600"/>
                  </a:spcAft>
                  <a:buFont typeface="Arial" panose="020B0604020202020204" pitchFamily="34" charset="0"/>
                  <a:buChar char="•"/>
                </a:pPr>
                <a:endParaRPr lang="en-US" dirty="0"/>
              </a:p>
              <a:p>
                <a:pPr indent="-228600" defTabSz="914400">
                  <a:lnSpc>
                    <a:spcPct val="90000"/>
                  </a:lnSpc>
                  <a:spcAft>
                    <a:spcPts val="600"/>
                  </a:spcAft>
                  <a:buFont typeface="Arial" panose="020B0604020202020204" pitchFamily="34" charset="0"/>
                  <a:buChar char="•"/>
                </a:pPr>
                <a:r>
                  <a:rPr lang="en-US" dirty="0" err="1"/>
                  <a:t>Donc</a:t>
                </a:r>
                <a:r>
                  <a:rPr lang="en-US" dirty="0"/>
                  <a:t>    </a:t>
                </a:r>
                <a14:m>
                  <m:oMath xmlns:m="http://schemas.openxmlformats.org/officeDocument/2006/math">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𝐴</m:t>
                        </m:r>
                      </m:e>
                    </m:d>
                    <m:r>
                      <a:rPr lang="en-US" b="0" i="1">
                        <a:latin typeface="Cambria Math" panose="02040503050406030204" pitchFamily="18" charset="0"/>
                      </a:rPr>
                      <m:t>=</m:t>
                    </m:r>
                    <m:f>
                      <m:fPr>
                        <m:ctrlPr>
                          <a:rPr lang="en-US" b="0" i="1">
                            <a:latin typeface="Cambria Math" panose="02040503050406030204" pitchFamily="18" charset="0"/>
                          </a:rPr>
                        </m:ctrlPr>
                      </m:fPr>
                      <m:num>
                        <m:r>
                          <a:rPr lang="en-US" b="0" i="1">
                            <a:latin typeface="Cambria Math" panose="02040503050406030204" pitchFamily="18" charset="0"/>
                          </a:rPr>
                          <m:t>3528</m:t>
                        </m:r>
                      </m:num>
                      <m:den>
                        <m:r>
                          <a:rPr lang="en-US" b="0" i="1">
                            <a:latin typeface="Cambria Math" panose="02040503050406030204" pitchFamily="18" charset="0"/>
                          </a:rPr>
                          <m:t>20349</m:t>
                        </m:r>
                      </m:den>
                    </m:f>
                    <m:r>
                      <a:rPr lang="en-US" b="0" i="1">
                        <a:latin typeface="Cambria Math" panose="02040503050406030204" pitchFamily="18" charset="0"/>
                      </a:rPr>
                      <m:t>=0,1734</m:t>
                    </m:r>
                  </m:oMath>
                </a14:m>
                <a:endParaRPr lang="en-US" dirty="0"/>
              </a:p>
            </p:txBody>
          </p:sp>
        </mc:Choice>
        <mc:Fallback xmlns="">
          <p:sp>
            <p:nvSpPr>
              <p:cNvPr id="5" name="ZoneTexte 4">
                <a:extLst>
                  <a:ext uri="{FF2B5EF4-FFF2-40B4-BE49-F238E27FC236}">
                    <a16:creationId xmlns:a16="http://schemas.microsoft.com/office/drawing/2014/main" id="{7B5FF472-7455-49D4-93BD-BD86E32DED9F}"/>
                  </a:ext>
                </a:extLst>
              </p:cNvPr>
              <p:cNvSpPr txBox="1">
                <a:spLocks noRot="1" noChangeAspect="1" noMove="1" noResize="1" noEditPoints="1" noAdjustHandles="1" noChangeArrowheads="1" noChangeShapeType="1" noTextEdit="1"/>
              </p:cNvSpPr>
              <p:nvPr/>
            </p:nvSpPr>
            <p:spPr>
              <a:xfrm>
                <a:off x="4447308" y="591344"/>
                <a:ext cx="6906491" cy="5585619"/>
              </a:xfrm>
              <a:prstGeom prst="rect">
                <a:avLst/>
              </a:prstGeom>
              <a:blipFill>
                <a:blip r:embed="rId2"/>
                <a:stretch>
                  <a:fillRect l="-795"/>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CF349FB5-C46D-4960-A481-B981A715F2DD}"/>
              </a:ext>
            </a:extLst>
          </p:cNvPr>
          <p:cNvSpPr>
            <a:spLocks noGrp="1"/>
          </p:cNvSpPr>
          <p:nvPr>
            <p:ph type="ftr" sz="quarter" idx="11"/>
          </p:nvPr>
        </p:nvSpPr>
        <p:spPr>
          <a:xfrm>
            <a:off x="4038600" y="6356350"/>
            <a:ext cx="5251174"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C59D868D-606D-4A04-8373-80F505919294}"/>
              </a:ext>
            </a:extLst>
          </p:cNvPr>
          <p:cNvSpPr>
            <a:spLocks noGrp="1"/>
          </p:cNvSpPr>
          <p:nvPr>
            <p:ph type="sldNum" sz="quarter" idx="12"/>
          </p:nvPr>
        </p:nvSpPr>
        <p:spPr>
          <a:xfrm>
            <a:off x="9541564" y="6356350"/>
            <a:ext cx="1812235"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23</a:t>
            </a:fld>
            <a:endParaRPr lang="en-US"/>
          </a:p>
        </p:txBody>
      </p:sp>
    </p:spTree>
    <p:extLst>
      <p:ext uri="{BB962C8B-B14F-4D97-AF65-F5344CB8AC3E}">
        <p14:creationId xmlns:p14="http://schemas.microsoft.com/office/powerpoint/2010/main" val="2551774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BC95AF2-E31D-4C58-A1A0-77C0506665CD}"/>
                  </a:ext>
                </a:extLst>
              </p:cNvPr>
              <p:cNvSpPr txBox="1"/>
              <p:nvPr/>
            </p:nvSpPr>
            <p:spPr>
              <a:xfrm>
                <a:off x="4775200" y="635000"/>
                <a:ext cx="6769100" cy="2082800"/>
              </a:xfrm>
              <a:prstGeom prst="rect">
                <a:avLst/>
              </a:prstGeom>
              <a:noFill/>
            </p:spPr>
            <p:txBody>
              <a:bodyPr wrap="square" rtlCol="0" anchor="t">
                <a:normAutofit/>
              </a:bodyPr>
              <a:lstStyle/>
              <a:p>
                <a:pPr>
                  <a:lnSpc>
                    <a:spcPct val="90000"/>
                  </a:lnSpc>
                  <a:spcAft>
                    <a:spcPts val="600"/>
                  </a:spcAft>
                </a:pP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Si on a </a:t>
                </a:r>
                <a:r>
                  <a:rPr lang="fr-FR" sz="2800" b="0" i="1">
                    <a:solidFill>
                      <a:srgbClr val="000000"/>
                    </a:solidFill>
                    <a:effectLst/>
                    <a:latin typeface="Times New Roman" panose="02020603050405020304" pitchFamily="18" charset="0"/>
                    <a:ea typeface="Times New Roman" panose="02020603050405020304" pitchFamily="18" charset="0"/>
                    <a:cs typeface="HelveticaNeueLT Std Cn"/>
                  </a:rPr>
                  <a:t>n </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objets, dont </a:t>
                </a:r>
                <a:r>
                  <a:rPr lang="fr-FR" sz="2800" b="0" i="1">
                    <a:solidFill>
                      <a:srgbClr val="000000"/>
                    </a:solidFill>
                    <a:effectLst/>
                    <a:latin typeface="Times New Roman" panose="02020603050405020304" pitchFamily="18" charset="0"/>
                    <a:ea typeface="Times New Roman" panose="02020603050405020304" pitchFamily="18" charset="0"/>
                    <a:cs typeface="HelveticaNeueLT Std Cn"/>
                  </a:rPr>
                  <a:t>n</a:t>
                </a:r>
                <a:r>
                  <a:rPr lang="fr-FR" sz="2800" b="0" baseline="-25000">
                    <a:solidFill>
                      <a:srgbClr val="000000"/>
                    </a:solidFill>
                    <a:effectLst/>
                    <a:latin typeface="Times New Roman" panose="02020603050405020304" pitchFamily="18" charset="0"/>
                    <a:ea typeface="Times New Roman" panose="02020603050405020304" pitchFamily="18" charset="0"/>
                    <a:cs typeface="HelveticaNeueLT Std Cn"/>
                  </a:rPr>
                  <a:t>1</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 sont de type 1, </a:t>
                </a:r>
                <a:r>
                  <a:rPr lang="fr-FR" sz="2800" b="0" i="1">
                    <a:solidFill>
                      <a:srgbClr val="000000"/>
                    </a:solidFill>
                    <a:effectLst/>
                    <a:latin typeface="Times New Roman" panose="02020603050405020304" pitchFamily="18" charset="0"/>
                    <a:ea typeface="Times New Roman" panose="02020603050405020304" pitchFamily="18" charset="0"/>
                    <a:cs typeface="HelveticaNeueLT Std Cn"/>
                  </a:rPr>
                  <a:t>n</a:t>
                </a:r>
                <a:r>
                  <a:rPr lang="fr-FR" sz="2800" b="0" baseline="-25000">
                    <a:solidFill>
                      <a:srgbClr val="000000"/>
                    </a:solidFill>
                    <a:effectLst/>
                    <a:latin typeface="Times New Roman" panose="02020603050405020304" pitchFamily="18" charset="0"/>
                    <a:ea typeface="Times New Roman" panose="02020603050405020304" pitchFamily="18" charset="0"/>
                    <a:cs typeface="HelveticaNeueLT Std Cn"/>
                  </a:rPr>
                  <a:t>2</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 sont de type 2, … </a:t>
                </a:r>
                <a:r>
                  <a:rPr lang="fr-FR" sz="2800" b="0" i="1" err="1">
                    <a:solidFill>
                      <a:srgbClr val="000000"/>
                    </a:solidFill>
                    <a:effectLst/>
                    <a:latin typeface="Times New Roman" panose="02020603050405020304" pitchFamily="18" charset="0"/>
                    <a:ea typeface="Times New Roman" panose="02020603050405020304" pitchFamily="18" charset="0"/>
                    <a:cs typeface="HelveticaNeueLT Std Cn"/>
                  </a:rPr>
                  <a:t>n</a:t>
                </a:r>
                <a:r>
                  <a:rPr lang="fr-FR" sz="2800" b="0" i="1" baseline="-25000" err="1">
                    <a:solidFill>
                      <a:srgbClr val="000000"/>
                    </a:solidFill>
                    <a:effectLst/>
                    <a:latin typeface="Times New Roman" panose="02020603050405020304" pitchFamily="18" charset="0"/>
                    <a:ea typeface="Times New Roman" panose="02020603050405020304" pitchFamily="18" charset="0"/>
                    <a:cs typeface="HelveticaNeueLT Std Cn"/>
                  </a:rPr>
                  <a:t>k</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 sont de type </a:t>
                </a:r>
                <a:r>
                  <a:rPr lang="fr-FR" sz="2800" i="1">
                    <a:solidFill>
                      <a:srgbClr val="000000"/>
                    </a:solidFill>
                    <a:latin typeface="Times New Roman" panose="02020603050405020304" pitchFamily="18" charset="0"/>
                    <a:ea typeface="Times New Roman" panose="02020603050405020304" pitchFamily="18" charset="0"/>
                    <a:cs typeface="HelveticaNeueLT Std Cn"/>
                  </a:rPr>
                  <a:t>k</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 alors le nombre de façons de permuter ces</a:t>
                </a:r>
                <a:r>
                  <a:rPr lang="fr-FR" sz="2800" b="0" i="1">
                    <a:solidFill>
                      <a:srgbClr val="000000"/>
                    </a:solidFill>
                    <a:effectLst/>
                    <a:latin typeface="Times New Roman" panose="02020603050405020304" pitchFamily="18" charset="0"/>
                    <a:ea typeface="Times New Roman" panose="02020603050405020304" pitchFamily="18" charset="0"/>
                    <a:cs typeface="HelveticaNeueLT Std Cn"/>
                  </a:rPr>
                  <a:t> n </a:t>
                </a:r>
                <a:r>
                  <a:rPr lang="fr-FR" sz="2800" b="0">
                    <a:solidFill>
                      <a:srgbClr val="000000"/>
                    </a:solidFill>
                    <a:effectLst/>
                    <a:latin typeface="Times New Roman" panose="02020603050405020304" pitchFamily="18" charset="0"/>
                    <a:ea typeface="Times New Roman" panose="02020603050405020304" pitchFamily="18" charset="0"/>
                    <a:cs typeface="HelveticaNeueLT Std Cn"/>
                  </a:rPr>
                  <a:t>objets est : </a:t>
                </a:r>
                <a14:m>
                  <m:oMath xmlns:m="http://schemas.openxmlformats.org/officeDocument/2006/math">
                    <m:d>
                      <m:dPr>
                        <m:ctrlPr>
                          <a:rPr lang="fr-FR" sz="2800" b="0" i="1" smtClean="0">
                            <a:solidFill>
                              <a:srgbClr val="000000"/>
                            </a:solidFill>
                            <a:effectLst/>
                            <a:latin typeface="Cambria Math" panose="02040503050406030204" pitchFamily="18" charset="0"/>
                          </a:rPr>
                        </m:ctrlPr>
                      </m:dPr>
                      <m:e>
                        <m:eqArr>
                          <m:eqArrPr>
                            <m:ctrlPr>
                              <a:rPr lang="fr-CA" sz="2800" b="0" i="1" smtClean="0">
                                <a:solidFill>
                                  <a:srgbClr val="000000"/>
                                </a:solidFill>
                                <a:effectLst/>
                                <a:latin typeface="Cambria Math" panose="02040503050406030204" pitchFamily="18" charset="0"/>
                              </a:rPr>
                            </m:ctrlPr>
                          </m:eqArrPr>
                          <m:e>
                            <m:r>
                              <a:rPr lang="fr-CA" sz="2800" b="0" i="1" smtClean="0">
                                <a:solidFill>
                                  <a:srgbClr val="000000"/>
                                </a:solidFill>
                                <a:effectLst/>
                                <a:latin typeface="Cambria Math" panose="02040503050406030204" pitchFamily="18" charset="0"/>
                              </a:rPr>
                              <m:t>𝑛</m:t>
                            </m:r>
                          </m:e>
                          <m:e>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1</m:t>
                                </m:r>
                              </m:sub>
                            </m:sSub>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2</m:t>
                                </m:r>
                              </m:sub>
                            </m:sSub>
                            <m:r>
                              <a:rPr lang="fr-CA" sz="2800" b="0" i="1" smtClean="0">
                                <a:solidFill>
                                  <a:srgbClr val="000000"/>
                                </a:solidFill>
                                <a:effectLst/>
                                <a:latin typeface="Cambria Math" panose="02040503050406030204" pitchFamily="18" charset="0"/>
                              </a:rPr>
                              <m:t>….</m:t>
                            </m:r>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𝑘</m:t>
                                </m:r>
                              </m:sub>
                            </m:sSub>
                          </m:e>
                        </m:eqArr>
                      </m:e>
                    </m:d>
                    <m:r>
                      <a:rPr lang="fr-CA" sz="2800" b="0" i="1" smtClean="0">
                        <a:solidFill>
                          <a:srgbClr val="000000"/>
                        </a:solidFill>
                        <a:effectLst/>
                        <a:latin typeface="Cambria Math" panose="02040503050406030204" pitchFamily="18" charset="0"/>
                      </a:rPr>
                      <m:t>=</m:t>
                    </m:r>
                    <m:f>
                      <m:fPr>
                        <m:ctrlPr>
                          <a:rPr lang="fr-CA" sz="2800" b="0" i="1" smtClean="0">
                            <a:solidFill>
                              <a:srgbClr val="000000"/>
                            </a:solidFill>
                            <a:effectLst/>
                            <a:latin typeface="Cambria Math" panose="02040503050406030204" pitchFamily="18" charset="0"/>
                          </a:rPr>
                        </m:ctrlPr>
                      </m:fPr>
                      <m:num>
                        <m:r>
                          <a:rPr lang="fr-CA" sz="2800" b="0" i="1" smtClean="0">
                            <a:solidFill>
                              <a:srgbClr val="000000"/>
                            </a:solidFill>
                            <a:effectLst/>
                            <a:latin typeface="Cambria Math" panose="02040503050406030204" pitchFamily="18" charset="0"/>
                          </a:rPr>
                          <m:t>𝑛</m:t>
                        </m:r>
                        <m:r>
                          <a:rPr lang="fr-CA" sz="2800" b="0" i="1" smtClean="0">
                            <a:solidFill>
                              <a:srgbClr val="000000"/>
                            </a:solidFill>
                            <a:effectLst/>
                            <a:latin typeface="Cambria Math" panose="02040503050406030204" pitchFamily="18" charset="0"/>
                          </a:rPr>
                          <m:t>!</m:t>
                        </m:r>
                      </m:num>
                      <m:den>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1</m:t>
                            </m:r>
                          </m:sub>
                        </m:sSub>
                        <m:r>
                          <a:rPr lang="fr-CA" sz="2800" b="0" i="1" smtClean="0">
                            <a:solidFill>
                              <a:srgbClr val="000000"/>
                            </a:solidFill>
                            <a:effectLst/>
                            <a:latin typeface="Cambria Math" panose="02040503050406030204" pitchFamily="18" charset="0"/>
                          </a:rPr>
                          <m:t>!</m:t>
                        </m:r>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2</m:t>
                            </m:r>
                          </m:sub>
                        </m:sSub>
                        <m:r>
                          <a:rPr lang="fr-CA" sz="2800" b="0" i="1" smtClean="0">
                            <a:solidFill>
                              <a:srgbClr val="000000"/>
                            </a:solidFill>
                            <a:effectLst/>
                            <a:latin typeface="Cambria Math" panose="02040503050406030204" pitchFamily="18" charset="0"/>
                          </a:rPr>
                          <m:t>!…..</m:t>
                        </m:r>
                        <m:sSub>
                          <m:sSubPr>
                            <m:ctrlPr>
                              <a:rPr lang="fr-CA" sz="2800" b="0" i="1" smtClean="0">
                                <a:solidFill>
                                  <a:srgbClr val="000000"/>
                                </a:solidFill>
                                <a:effectLst/>
                                <a:latin typeface="Cambria Math" panose="02040503050406030204" pitchFamily="18" charset="0"/>
                              </a:rPr>
                            </m:ctrlPr>
                          </m:sSubPr>
                          <m:e>
                            <m:r>
                              <a:rPr lang="fr-CA" sz="2800" b="0" i="1" smtClean="0">
                                <a:solidFill>
                                  <a:srgbClr val="000000"/>
                                </a:solidFill>
                                <a:effectLst/>
                                <a:latin typeface="Cambria Math" panose="02040503050406030204" pitchFamily="18" charset="0"/>
                              </a:rPr>
                              <m:t>𝑛</m:t>
                            </m:r>
                          </m:e>
                          <m:sub>
                            <m:r>
                              <a:rPr lang="fr-CA" sz="2800" b="0" i="1" smtClean="0">
                                <a:solidFill>
                                  <a:srgbClr val="000000"/>
                                </a:solidFill>
                                <a:effectLst/>
                                <a:latin typeface="Cambria Math" panose="02040503050406030204" pitchFamily="18" charset="0"/>
                              </a:rPr>
                              <m:t>𝑘</m:t>
                            </m:r>
                          </m:sub>
                        </m:sSub>
                        <m:r>
                          <a:rPr lang="fr-CA" sz="2800" b="0" i="1" smtClean="0">
                            <a:solidFill>
                              <a:srgbClr val="000000"/>
                            </a:solidFill>
                            <a:effectLst/>
                            <a:latin typeface="Cambria Math" panose="02040503050406030204" pitchFamily="18" charset="0"/>
                          </a:rPr>
                          <m:t>!</m:t>
                        </m:r>
                      </m:den>
                    </m:f>
                  </m:oMath>
                </a14:m>
                <a:endParaRPr lang="fr-CA" sz="2800" b="1">
                  <a:solidFill>
                    <a:srgbClr val="000000"/>
                  </a:solidFill>
                  <a:effectLst/>
                  <a:latin typeface="HelveticaNeueLT Std Cn"/>
                  <a:ea typeface="Times New Roman" panose="02020603050405020304" pitchFamily="18" charset="0"/>
                  <a:cs typeface="HelveticaNeueLT Std Cn"/>
                </a:endParaRPr>
              </a:p>
              <a:p>
                <a:pPr>
                  <a:lnSpc>
                    <a:spcPct val="90000"/>
                  </a:lnSpc>
                  <a:spcAft>
                    <a:spcPts val="600"/>
                  </a:spcAft>
                </a:pPr>
                <a:endParaRPr lang="fr-CA" sz="2800"/>
              </a:p>
            </p:txBody>
          </p:sp>
        </mc:Choice>
        <mc:Fallback xmlns="">
          <p:sp>
            <p:nvSpPr>
              <p:cNvPr id="5" name="ZoneTexte 4">
                <a:extLst>
                  <a:ext uri="{FF2B5EF4-FFF2-40B4-BE49-F238E27FC236}">
                    <a16:creationId xmlns:a16="http://schemas.microsoft.com/office/drawing/2014/main" id="{BBC95AF2-E31D-4C58-A1A0-77C0506665CD}"/>
                  </a:ext>
                </a:extLst>
              </p:cNvPr>
              <p:cNvSpPr txBox="1">
                <a:spLocks noRot="1" noChangeAspect="1" noMove="1" noResize="1" noEditPoints="1" noAdjustHandles="1" noChangeArrowheads="1" noChangeShapeType="1" noTextEdit="1"/>
              </p:cNvSpPr>
              <p:nvPr/>
            </p:nvSpPr>
            <p:spPr>
              <a:xfrm>
                <a:off x="4775200" y="635000"/>
                <a:ext cx="6769100" cy="2082800"/>
              </a:xfrm>
              <a:prstGeom prst="rect">
                <a:avLst/>
              </a:prstGeom>
              <a:blipFill>
                <a:blip r:embed="rId3"/>
                <a:stretch>
                  <a:fillRect l="-1800" t="-4971"/>
                </a:stretch>
              </a:blipFill>
            </p:spPr>
            <p:txBody>
              <a:bodyPr/>
              <a:lstStyle/>
              <a:p>
                <a:r>
                  <a:rPr lang="fr-CA">
                    <a:noFill/>
                  </a:rPr>
                  <a:t> </a:t>
                </a:r>
              </a:p>
            </p:txBody>
          </p:sp>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5F4A7664-580F-4BF8-B86D-A8FC9E2278F0}"/>
                  </a:ext>
                </a:extLst>
              </p:cNvPr>
              <p:cNvSpPr txBox="1"/>
              <p:nvPr/>
            </p:nvSpPr>
            <p:spPr>
              <a:xfrm>
                <a:off x="4775200" y="2794000"/>
                <a:ext cx="6769100" cy="3390900"/>
              </a:xfrm>
              <a:prstGeom prst="rect">
                <a:avLst/>
              </a:prstGeom>
              <a:noFill/>
            </p:spPr>
            <p:txBody>
              <a:bodyPr wrap="square" rtlCol="0" anchor="t">
                <a:normAutofit/>
              </a:bodyPr>
              <a:lstStyle/>
              <a:p>
                <a:pPr>
                  <a:lnSpc>
                    <a:spcPct val="90000"/>
                  </a:lnSpc>
                  <a:spcAft>
                    <a:spcPts val="600"/>
                  </a:spcAft>
                </a:pPr>
                <a:r>
                  <a:rPr lang="fr-CA" sz="2200" b="1" dirty="0"/>
                  <a:t>Exemple:</a:t>
                </a:r>
                <a:r>
                  <a:rPr lang="fr-CA" sz="2200" dirty="0"/>
                  <a:t> On donne les lettres qui forment  STATISTIQUE à un singe, combien de mots de 11 lettres peut-il former?</a:t>
                </a:r>
              </a:p>
              <a:p>
                <a:pPr>
                  <a:lnSpc>
                    <a:spcPct val="90000"/>
                  </a:lnSpc>
                  <a:spcAft>
                    <a:spcPts val="600"/>
                  </a:spcAft>
                </a:pPr>
                <a:endParaRPr lang="fr-CA" sz="2200" dirty="0"/>
              </a:p>
              <a:p>
                <a:pPr>
                  <a:lnSpc>
                    <a:spcPct val="90000"/>
                  </a:lnSpc>
                  <a:spcAft>
                    <a:spcPts val="600"/>
                  </a:spcAft>
                </a:pPr>
                <a:r>
                  <a:rPr lang="fr-CA" sz="2200" b="1" dirty="0"/>
                  <a:t>Réponse:  </a:t>
                </a:r>
                <a:r>
                  <a:rPr lang="fr-CA" sz="2200" dirty="0"/>
                  <a:t>On a 11 lettres en tout dont 3 ‘T’; 2 ‘S’; 2 ‘I’; 1 ‘A’; 1 ‘Q’; 1  ‘U’  et 1’E ’  donc le singe peut former:</a:t>
                </a:r>
              </a:p>
              <a:p>
                <a:pPr>
                  <a:lnSpc>
                    <a:spcPct val="90000"/>
                  </a:lnSpc>
                  <a:spcAft>
                    <a:spcPts val="600"/>
                  </a:spcAft>
                </a:pPr>
                <a:endParaRPr lang="fr-CA" sz="2200" b="1" dirty="0"/>
              </a:p>
              <a:p>
                <a:pPr>
                  <a:lnSpc>
                    <a:spcPct val="90000"/>
                  </a:lnSpc>
                  <a:spcAft>
                    <a:spcPts val="600"/>
                  </a:spcAft>
                </a:pPr>
                <a14:m>
                  <m:oMathPara xmlns:m="http://schemas.openxmlformats.org/officeDocument/2006/math">
                    <m:oMathParaPr>
                      <m:jc m:val="centerGroup"/>
                    </m:oMathParaPr>
                    <m:oMath xmlns:m="http://schemas.openxmlformats.org/officeDocument/2006/math">
                      <m:d>
                        <m:dPr>
                          <m:ctrlPr>
                            <a:rPr lang="fr-CA" sz="2200" b="1" i="1" smtClean="0">
                              <a:latin typeface="Cambria Math" panose="02040503050406030204" pitchFamily="18" charset="0"/>
                            </a:rPr>
                          </m:ctrlPr>
                        </m:dPr>
                        <m:e>
                          <m:eqArr>
                            <m:eqArrPr>
                              <m:ctrlPr>
                                <a:rPr lang="fr-CA" sz="2200" b="1" i="1" smtClean="0">
                                  <a:latin typeface="Cambria Math" panose="02040503050406030204" pitchFamily="18" charset="0"/>
                                </a:rPr>
                              </m:ctrlPr>
                            </m:eqArrPr>
                            <m:e>
                              <m:r>
                                <a:rPr lang="fr-CA" sz="2200" b="1" i="1" smtClean="0">
                                  <a:latin typeface="Cambria Math" panose="02040503050406030204" pitchFamily="18" charset="0"/>
                                </a:rPr>
                                <m:t>𝟏𝟏</m:t>
                              </m:r>
                            </m:e>
                            <m:e>
                              <m:r>
                                <a:rPr lang="fr-CA" sz="2200" b="1" i="1" smtClean="0">
                                  <a:latin typeface="Cambria Math" panose="02040503050406030204" pitchFamily="18" charset="0"/>
                                </a:rPr>
                                <m:t>𝟑</m:t>
                              </m:r>
                              <m:r>
                                <a:rPr lang="fr-CA" sz="2200" b="1" i="1" smtClean="0">
                                  <a:latin typeface="Cambria Math" panose="02040503050406030204" pitchFamily="18" charset="0"/>
                                </a:rPr>
                                <m:t>, </m:t>
                              </m:r>
                              <m:r>
                                <a:rPr lang="fr-CA" sz="2200" b="1" i="1" smtClean="0">
                                  <a:latin typeface="Cambria Math" panose="02040503050406030204" pitchFamily="18" charset="0"/>
                                </a:rPr>
                                <m:t>𝟐</m:t>
                              </m:r>
                              <m:r>
                                <a:rPr lang="fr-CA" sz="2200" b="1" i="1" smtClean="0">
                                  <a:latin typeface="Cambria Math" panose="02040503050406030204" pitchFamily="18" charset="0"/>
                                </a:rPr>
                                <m:t>,</m:t>
                              </m:r>
                              <m:r>
                                <a:rPr lang="fr-CA" sz="2200" b="1" i="1" smtClean="0">
                                  <a:latin typeface="Cambria Math" panose="02040503050406030204" pitchFamily="18" charset="0"/>
                                </a:rPr>
                                <m:t>𝟐</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e>
                          </m:eqArr>
                        </m:e>
                      </m:d>
                      <m:r>
                        <a:rPr lang="fr-CA" sz="2200" b="1" i="1" smtClean="0">
                          <a:latin typeface="Cambria Math" panose="02040503050406030204" pitchFamily="18" charset="0"/>
                        </a:rPr>
                        <m:t>=</m:t>
                      </m:r>
                      <m:f>
                        <m:fPr>
                          <m:ctrlPr>
                            <a:rPr lang="fr-CA" sz="2200" b="1" i="1" smtClean="0">
                              <a:latin typeface="Cambria Math" panose="02040503050406030204" pitchFamily="18" charset="0"/>
                            </a:rPr>
                          </m:ctrlPr>
                        </m:fPr>
                        <m:num>
                          <m:r>
                            <a:rPr lang="fr-CA" sz="2200" b="1" i="1" smtClean="0">
                              <a:latin typeface="Cambria Math" panose="02040503050406030204" pitchFamily="18" charset="0"/>
                            </a:rPr>
                            <m:t>𝟏𝟏</m:t>
                          </m:r>
                          <m:r>
                            <a:rPr lang="fr-CA" sz="2200" b="1" i="1" smtClean="0">
                              <a:latin typeface="Cambria Math" panose="02040503050406030204" pitchFamily="18" charset="0"/>
                            </a:rPr>
                            <m:t>!</m:t>
                          </m:r>
                        </m:num>
                        <m:den>
                          <m:r>
                            <a:rPr lang="fr-CA" sz="2200" b="1" i="1" smtClean="0">
                              <a:latin typeface="Cambria Math" panose="02040503050406030204" pitchFamily="18" charset="0"/>
                            </a:rPr>
                            <m:t>𝟑</m:t>
                          </m:r>
                          <m:r>
                            <a:rPr lang="fr-CA" sz="2200" b="1" i="1" smtClean="0">
                              <a:latin typeface="Cambria Math" panose="02040503050406030204" pitchFamily="18" charset="0"/>
                            </a:rPr>
                            <m:t>!</m:t>
                          </m:r>
                          <m:r>
                            <a:rPr lang="fr-CA" sz="2200" b="1" i="1" smtClean="0">
                              <a:latin typeface="Cambria Math" panose="02040503050406030204" pitchFamily="18" charset="0"/>
                            </a:rPr>
                            <m:t>𝟐</m:t>
                          </m:r>
                          <m:r>
                            <a:rPr lang="fr-CA" sz="2200" b="1" i="1" smtClean="0">
                              <a:latin typeface="Cambria Math" panose="02040503050406030204" pitchFamily="18" charset="0"/>
                            </a:rPr>
                            <m:t>!</m:t>
                          </m:r>
                          <m:r>
                            <a:rPr lang="fr-CA" sz="2200" b="1" i="1" smtClean="0">
                              <a:latin typeface="Cambria Math" panose="02040503050406030204" pitchFamily="18" charset="0"/>
                            </a:rPr>
                            <m:t>𝟐</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r>
                            <a:rPr lang="fr-CA" sz="2200" b="1" i="1" smtClean="0">
                              <a:latin typeface="Cambria Math" panose="02040503050406030204" pitchFamily="18" charset="0"/>
                            </a:rPr>
                            <m:t>𝟏</m:t>
                          </m:r>
                          <m:r>
                            <a:rPr lang="fr-CA" sz="2200" b="1" i="1" smtClean="0">
                              <a:latin typeface="Cambria Math" panose="02040503050406030204" pitchFamily="18" charset="0"/>
                            </a:rPr>
                            <m:t>!</m:t>
                          </m:r>
                        </m:den>
                      </m:f>
                      <m:r>
                        <a:rPr lang="fr-CA" sz="2200" b="1" i="1" smtClean="0">
                          <a:latin typeface="Cambria Math" panose="02040503050406030204" pitchFamily="18" charset="0"/>
                        </a:rPr>
                        <m:t>=</m:t>
                      </m:r>
                      <m:r>
                        <a:rPr lang="fr-CA" sz="2200" b="1" i="1" smtClean="0">
                          <a:latin typeface="Cambria Math" panose="02040503050406030204" pitchFamily="18" charset="0"/>
                        </a:rPr>
                        <m:t>𝟏𝟔𝟔𝟑𝟐𝟎𝟎</m:t>
                      </m:r>
                      <m:r>
                        <a:rPr lang="fr-CA" sz="2200" b="1" i="1" smtClean="0">
                          <a:latin typeface="Cambria Math" panose="02040503050406030204" pitchFamily="18" charset="0"/>
                        </a:rPr>
                        <m:t> </m:t>
                      </m:r>
                      <m:r>
                        <a:rPr lang="fr-CA" sz="2200" b="1" i="1" smtClean="0">
                          <a:latin typeface="Cambria Math" panose="02040503050406030204" pitchFamily="18" charset="0"/>
                        </a:rPr>
                        <m:t>𝒎𝒐𝒕𝒔</m:t>
                      </m:r>
                      <m:r>
                        <a:rPr lang="fr-CA" sz="2200" b="1" i="1" smtClean="0">
                          <a:latin typeface="Cambria Math" panose="02040503050406030204" pitchFamily="18" charset="0"/>
                        </a:rPr>
                        <m:t> </m:t>
                      </m:r>
                      <m:r>
                        <a:rPr lang="fr-CA" sz="2200" b="1" i="1" smtClean="0">
                          <a:latin typeface="Cambria Math" panose="02040503050406030204" pitchFamily="18" charset="0"/>
                        </a:rPr>
                        <m:t>𝒑𝒐𝒔𝒔𝒊𝒃𝒍𝒆𝒔</m:t>
                      </m:r>
                    </m:oMath>
                  </m:oMathPara>
                </a14:m>
                <a:endParaRPr lang="fr-CA" sz="2200" b="1" dirty="0"/>
              </a:p>
            </p:txBody>
          </p:sp>
        </mc:Choice>
        <mc:Fallback xmlns="">
          <p:sp>
            <p:nvSpPr>
              <p:cNvPr id="6" name="ZoneTexte 5">
                <a:extLst>
                  <a:ext uri="{FF2B5EF4-FFF2-40B4-BE49-F238E27FC236}">
                    <a16:creationId xmlns:a16="http://schemas.microsoft.com/office/drawing/2014/main" id="{5F4A7664-580F-4BF8-B86D-A8FC9E2278F0}"/>
                  </a:ext>
                </a:extLst>
              </p:cNvPr>
              <p:cNvSpPr txBox="1">
                <a:spLocks noRot="1" noChangeAspect="1" noMove="1" noResize="1" noEditPoints="1" noAdjustHandles="1" noChangeArrowheads="1" noChangeShapeType="1" noTextEdit="1"/>
              </p:cNvSpPr>
              <p:nvPr/>
            </p:nvSpPr>
            <p:spPr>
              <a:xfrm>
                <a:off x="4775200" y="2794000"/>
                <a:ext cx="6769100" cy="3390900"/>
              </a:xfrm>
              <a:prstGeom prst="rect">
                <a:avLst/>
              </a:prstGeom>
              <a:blipFill>
                <a:blip r:embed="rId4"/>
                <a:stretch>
                  <a:fillRect l="-1170" t="-2154" r="-1800"/>
                </a:stretch>
              </a:blipFill>
            </p:spPr>
            <p:txBody>
              <a:bodyPr/>
              <a:lstStyle/>
              <a:p>
                <a:r>
                  <a:rPr lang="fr-CA">
                    <a:noFill/>
                  </a:rPr>
                  <a:t> </a:t>
                </a:r>
              </a:p>
            </p:txBody>
          </p:sp>
        </mc:Fallback>
      </mc:AlternateContent>
      <p:sp>
        <p:nvSpPr>
          <p:cNvPr id="2" name="Titre 1">
            <a:extLst>
              <a:ext uri="{FF2B5EF4-FFF2-40B4-BE49-F238E27FC236}">
                <a16:creationId xmlns:a16="http://schemas.microsoft.com/office/drawing/2014/main" id="{7739522A-4318-4C2A-9A29-4F3E74F8B86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a:solidFill>
                  <a:srgbClr val="FFFFFF"/>
                </a:solidFill>
                <a:latin typeface="+mj-lt"/>
                <a:ea typeface="+mj-ea"/>
                <a:cs typeface="+mj-cs"/>
              </a:rPr>
              <a:t>Permutations d’objets partiellement distinguables </a:t>
            </a:r>
          </a:p>
        </p:txBody>
      </p:sp>
      <p:sp>
        <p:nvSpPr>
          <p:cNvPr id="4" name="Espace réservé du numéro de diapositive 3">
            <a:extLst>
              <a:ext uri="{FF2B5EF4-FFF2-40B4-BE49-F238E27FC236}">
                <a16:creationId xmlns:a16="http://schemas.microsoft.com/office/drawing/2014/main" id="{23F01AD8-85C1-4D4C-A7D3-DB5F6946F65C}"/>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defTabSz="914400">
              <a:spcAft>
                <a:spcPts val="600"/>
              </a:spcAft>
            </a:pPr>
            <a:fld id="{26377AD9-CE17-438C-A638-C64D2D42D7CF}" type="slidenum">
              <a:rPr lang="en-US">
                <a:solidFill>
                  <a:schemeClr val="tx1">
                    <a:alpha val="80000"/>
                  </a:schemeClr>
                </a:solidFill>
              </a:rPr>
              <a:pPr defTabSz="914400">
                <a:spcAft>
                  <a:spcPts val="600"/>
                </a:spcAft>
              </a:pPr>
              <a:t>24</a:t>
            </a:fld>
            <a:endParaRPr lang="en-US">
              <a:solidFill>
                <a:schemeClr val="tx1">
                  <a:alpha val="80000"/>
                </a:schemeClr>
              </a:solidFill>
            </a:endParaRPr>
          </a:p>
        </p:txBody>
      </p:sp>
    </p:spTree>
    <p:extLst>
      <p:ext uri="{BB962C8B-B14F-4D97-AF65-F5344CB8AC3E}">
        <p14:creationId xmlns:p14="http://schemas.microsoft.com/office/powerpoint/2010/main" val="1099183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1F35DB-1D2E-4403-ADC1-DD6D5053C1C7}"/>
              </a:ext>
            </a:extLst>
          </p:cNvPr>
          <p:cNvSpPr>
            <a:spLocks noGrp="1"/>
          </p:cNvSpPr>
          <p:nvPr>
            <p:ph type="title"/>
          </p:nvPr>
        </p:nvSpPr>
        <p:spPr/>
        <p:txBody>
          <a:bodyPr/>
          <a:lstStyle/>
          <a:p>
            <a:r>
              <a:rPr lang="fr-CA" b="1" dirty="0"/>
              <a:t>Les diagrammes en arbres </a:t>
            </a:r>
          </a:p>
        </p:txBody>
      </p:sp>
      <p:sp>
        <p:nvSpPr>
          <p:cNvPr id="3" name="Espace réservé du pied de page 2">
            <a:extLst>
              <a:ext uri="{FF2B5EF4-FFF2-40B4-BE49-F238E27FC236}">
                <a16:creationId xmlns:a16="http://schemas.microsoft.com/office/drawing/2014/main" id="{39AC6C04-14E1-45CC-84CA-3E244B17AA24}"/>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9A7F94A-70AC-4A88-A0CD-F0AF3FB10F71}"/>
              </a:ext>
            </a:extLst>
          </p:cNvPr>
          <p:cNvSpPr>
            <a:spLocks noGrp="1"/>
          </p:cNvSpPr>
          <p:nvPr>
            <p:ph type="sldNum" sz="quarter" idx="12"/>
          </p:nvPr>
        </p:nvSpPr>
        <p:spPr/>
        <p:txBody>
          <a:bodyPr/>
          <a:lstStyle/>
          <a:p>
            <a:fld id="{26377AD9-CE17-438C-A638-C64D2D42D7CF}" type="slidenum">
              <a:rPr lang="fr-CA" smtClean="0"/>
              <a:t>25</a:t>
            </a:fld>
            <a:endParaRPr lang="fr-CA"/>
          </a:p>
        </p:txBody>
      </p:sp>
      <p:sp>
        <p:nvSpPr>
          <p:cNvPr id="5" name="ZoneTexte 4">
            <a:extLst>
              <a:ext uri="{FF2B5EF4-FFF2-40B4-BE49-F238E27FC236}">
                <a16:creationId xmlns:a16="http://schemas.microsoft.com/office/drawing/2014/main" id="{83949747-9597-4903-A385-25922C9EC697}"/>
              </a:ext>
            </a:extLst>
          </p:cNvPr>
          <p:cNvSpPr txBox="1"/>
          <p:nvPr/>
        </p:nvSpPr>
        <p:spPr>
          <a:xfrm>
            <a:off x="1071154" y="2050869"/>
            <a:ext cx="9653452" cy="3483005"/>
          </a:xfrm>
          <a:prstGeom prst="rect">
            <a:avLst/>
          </a:prstGeom>
          <a:noFill/>
        </p:spPr>
        <p:txBody>
          <a:bodyPr wrap="square" rtlCol="0">
            <a:spAutoFit/>
          </a:bodyPr>
          <a:lstStyle/>
          <a:p>
            <a:pPr algn="l">
              <a:lnSpc>
                <a:spcPct val="15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Exemple 1: On s’intéresse à deux gènes, l’un relatif à la pigmentation de la peau, présent chez les humains ayant un allèle T (dominant) et un allèle t (récessif), et l’autre relatif à la coloration des cheveux chez les humains ayant un allèle M (dominant) et un allèle m (récessif). Supposons que les deux parents aient tous deux le génotype </a:t>
            </a:r>
            <a:r>
              <a:rPr lang="fr-FR" sz="1800" dirty="0" err="1">
                <a:solidFill>
                  <a:srgbClr val="000000"/>
                </a:solidFill>
                <a:effectLst/>
                <a:latin typeface="Times New Roman" panose="02020603050405020304" pitchFamily="18" charset="0"/>
                <a:ea typeface="Times New Roman" panose="02020603050405020304" pitchFamily="18" charset="0"/>
              </a:rPr>
              <a:t>TtMm</a:t>
            </a:r>
            <a:r>
              <a:rPr lang="fr-FR" sz="1800" dirty="0">
                <a:solidFill>
                  <a:srgbClr val="000000"/>
                </a:solidFill>
                <a:effectLst/>
                <a:latin typeface="Times New Roman" panose="02020603050405020304" pitchFamily="18" charset="0"/>
                <a:ea typeface="Times New Roman" panose="02020603050405020304" pitchFamily="18" charset="0"/>
              </a:rPr>
              <a:t>. D’un point de vue biologique, on peut penser que le tout est équiprobable.</a:t>
            </a:r>
            <a:endParaRPr lang="fr-CA" sz="1800" dirty="0">
              <a:solidFill>
                <a:srgbClr val="000000"/>
              </a:solidFill>
              <a:effectLst/>
              <a:latin typeface="Times New Roman" panose="02020603050405020304" pitchFamily="18" charset="0"/>
              <a:ea typeface="Times New Roman" panose="02020603050405020304" pitchFamily="18" charset="0"/>
            </a:endParaRPr>
          </a:p>
          <a:p>
            <a:pPr marL="203200" indent="-101600" algn="l">
              <a:lnSpc>
                <a:spcPct val="150000"/>
              </a:lnSpc>
              <a:spcAft>
                <a:spcPts val="200"/>
              </a:spcAft>
            </a:pPr>
            <a:r>
              <a:rPr lang="fr-FR" sz="1800" dirty="0">
                <a:solidFill>
                  <a:srgbClr val="000000"/>
                </a:solidFill>
                <a:effectLst/>
                <a:latin typeface="Times New Roman" panose="02020603050405020304" pitchFamily="18" charset="0"/>
                <a:ea typeface="Times New Roman" panose="02020603050405020304" pitchFamily="18" charset="0"/>
              </a:rPr>
              <a:t>a)	Dressez une arborescence décrivant les génotypes possibles de leurs enfants.</a:t>
            </a:r>
            <a:endParaRPr lang="fr-CA" sz="1800" dirty="0">
              <a:solidFill>
                <a:srgbClr val="000000"/>
              </a:solidFill>
              <a:effectLst/>
              <a:latin typeface="Times New Roman" panose="02020603050405020304" pitchFamily="18" charset="0"/>
              <a:ea typeface="Times New Roman" panose="02020603050405020304" pitchFamily="18" charset="0"/>
            </a:endParaRPr>
          </a:p>
          <a:p>
            <a:pPr marL="203200" indent="-101600" algn="l">
              <a:lnSpc>
                <a:spcPct val="150000"/>
              </a:lnSpc>
              <a:spcAft>
                <a:spcPts val="600"/>
              </a:spcAft>
            </a:pPr>
            <a:r>
              <a:rPr lang="fr-FR" sz="1800" dirty="0">
                <a:solidFill>
                  <a:srgbClr val="000000"/>
                </a:solidFill>
                <a:effectLst/>
                <a:latin typeface="Times New Roman" panose="02020603050405020304" pitchFamily="18" charset="0"/>
                <a:ea typeface="Times New Roman" panose="02020603050405020304" pitchFamily="18" charset="0"/>
              </a:rPr>
              <a:t>b)	Quelle est la probabilité que ce couple ait un enfant qui soit dominant dans les deux gènes ?</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p:spTree>
    <p:extLst>
      <p:ext uri="{BB962C8B-B14F-4D97-AF65-F5344CB8AC3E}">
        <p14:creationId xmlns:p14="http://schemas.microsoft.com/office/powerpoint/2010/main" val="1422501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lowchart: Document 12">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567A8D0-E145-4AA1-9FA2-A49863BE4812}"/>
              </a:ext>
            </a:extLst>
          </p:cNvPr>
          <p:cNvSpPr>
            <a:spLocks noGrp="1"/>
          </p:cNvSpPr>
          <p:nvPr>
            <p:ph type="title"/>
          </p:nvPr>
        </p:nvSpPr>
        <p:spPr>
          <a:xfrm>
            <a:off x="838200" y="171162"/>
            <a:ext cx="2840182" cy="2371148"/>
          </a:xfrm>
        </p:spPr>
        <p:txBody>
          <a:bodyPr>
            <a:normAutofit/>
          </a:bodyPr>
          <a:lstStyle/>
          <a:p>
            <a:r>
              <a:rPr lang="fr-CA" sz="3200" dirty="0">
                <a:solidFill>
                  <a:srgbClr val="FFFFFF"/>
                </a:solidFill>
              </a:rPr>
              <a:t>Réponse: a)</a:t>
            </a:r>
          </a:p>
        </p:txBody>
      </p:sp>
      <p:pic>
        <p:nvPicPr>
          <p:cNvPr id="8" name="Image 7">
            <a:extLst>
              <a:ext uri="{FF2B5EF4-FFF2-40B4-BE49-F238E27FC236}">
                <a16:creationId xmlns:a16="http://schemas.microsoft.com/office/drawing/2014/main" id="{8C583018-D003-4A77-AF33-18A12CC026D1}"/>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4207933" y="1222584"/>
            <a:ext cx="7347537" cy="5133766"/>
          </a:xfrm>
          <a:prstGeom prst="rect">
            <a:avLst/>
          </a:prstGeom>
          <a:noFill/>
        </p:spPr>
      </p:pic>
      <p:sp>
        <p:nvSpPr>
          <p:cNvPr id="3" name="Espace réservé du pied de page 2">
            <a:extLst>
              <a:ext uri="{FF2B5EF4-FFF2-40B4-BE49-F238E27FC236}">
                <a16:creationId xmlns:a16="http://schemas.microsoft.com/office/drawing/2014/main" id="{65436E13-3DD1-496B-84B7-5FA9F2BD94EF}"/>
              </a:ext>
            </a:extLst>
          </p:cNvPr>
          <p:cNvSpPr>
            <a:spLocks noGrp="1"/>
          </p:cNvSpPr>
          <p:nvPr>
            <p:ph type="ftr" sz="quarter" idx="11"/>
          </p:nvPr>
        </p:nvSpPr>
        <p:spPr>
          <a:xfrm>
            <a:off x="838200" y="6356350"/>
            <a:ext cx="5960951" cy="365125"/>
          </a:xfrm>
          <a:noFill/>
        </p:spPr>
        <p:txBody>
          <a:bodyPr>
            <a:normAutofit/>
          </a:bodyPr>
          <a:lstStyle/>
          <a:p>
            <a:pPr algn="l"/>
            <a:endParaRPr lang="fr-CA"/>
          </a:p>
        </p:txBody>
      </p:sp>
      <p:sp>
        <p:nvSpPr>
          <p:cNvPr id="4" name="Espace réservé du numéro de diapositive 3">
            <a:extLst>
              <a:ext uri="{FF2B5EF4-FFF2-40B4-BE49-F238E27FC236}">
                <a16:creationId xmlns:a16="http://schemas.microsoft.com/office/drawing/2014/main" id="{6D2ACB5F-4377-4191-A57F-4AE1F47A894E}"/>
              </a:ext>
            </a:extLst>
          </p:cNvPr>
          <p:cNvSpPr>
            <a:spLocks noGrp="1"/>
          </p:cNvSpPr>
          <p:nvPr>
            <p:ph type="sldNum" sz="quarter" idx="12"/>
          </p:nvPr>
        </p:nvSpPr>
        <p:spPr>
          <a:xfrm>
            <a:off x="10926476" y="6356350"/>
            <a:ext cx="625443" cy="365125"/>
          </a:xfrm>
          <a:noFill/>
        </p:spPr>
        <p:txBody>
          <a:bodyPr>
            <a:normAutofit/>
          </a:bodyPr>
          <a:lstStyle/>
          <a:p>
            <a:pPr algn="l">
              <a:spcAft>
                <a:spcPts val="600"/>
              </a:spcAft>
            </a:pPr>
            <a:fld id="{26377AD9-CE17-438C-A638-C64D2D42D7CF}" type="slidenum">
              <a:rPr lang="fr-CA" smtClean="0"/>
              <a:pPr algn="l">
                <a:spcAft>
                  <a:spcPts val="600"/>
                </a:spcAft>
              </a:pPr>
              <a:t>26</a:t>
            </a:fld>
            <a:endParaRPr lang="fr-CA"/>
          </a:p>
        </p:txBody>
      </p:sp>
    </p:spTree>
    <p:extLst>
      <p:ext uri="{BB962C8B-B14F-4D97-AF65-F5344CB8AC3E}">
        <p14:creationId xmlns:p14="http://schemas.microsoft.com/office/powerpoint/2010/main" val="4061214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DB5E852-0E54-4C97-8FEA-442CFDB4885F}"/>
              </a:ext>
            </a:extLst>
          </p:cNvPr>
          <p:cNvSpPr>
            <a:spLocks noGrp="1"/>
          </p:cNvSpPr>
          <p:nvPr>
            <p:ph type="title"/>
          </p:nvPr>
        </p:nvSpPr>
        <p:spPr>
          <a:xfrm>
            <a:off x="1075767" y="1188637"/>
            <a:ext cx="2988234" cy="4480726"/>
          </a:xfrm>
        </p:spPr>
        <p:txBody>
          <a:bodyPr vert="horz" lIns="91440" tIns="45720" rIns="91440" bIns="45720" rtlCol="0" anchor="ctr">
            <a:normAutofit/>
          </a:bodyPr>
          <a:lstStyle/>
          <a:p>
            <a:pPr algn="r"/>
            <a:r>
              <a:rPr lang="en-US" sz="6600" kern="1200">
                <a:solidFill>
                  <a:schemeClr val="tx1"/>
                </a:solidFill>
                <a:latin typeface="+mj-lt"/>
                <a:ea typeface="+mj-ea"/>
                <a:cs typeface="+mj-cs"/>
              </a:rPr>
              <a:t>Suite: b)</a:t>
            </a:r>
          </a:p>
        </p:txBody>
      </p:sp>
      <p:sp>
        <p:nvSpPr>
          <p:cNvPr id="3" name="Espace réservé du pied de page 2">
            <a:extLst>
              <a:ext uri="{FF2B5EF4-FFF2-40B4-BE49-F238E27FC236}">
                <a16:creationId xmlns:a16="http://schemas.microsoft.com/office/drawing/2014/main" id="{D75029AE-FD3F-4601-82AE-B45F6667DB80}"/>
              </a:ext>
            </a:extLst>
          </p:cNvPr>
          <p:cNvSpPr>
            <a:spLocks noGrp="1"/>
          </p:cNvSpPr>
          <p:nvPr>
            <p:ph type="ftr" sz="quarter" idx="11"/>
          </p:nvPr>
        </p:nvSpPr>
        <p:spPr>
          <a:xfrm rot="5400000">
            <a:off x="-2374833" y="3246436"/>
            <a:ext cx="5607882" cy="365125"/>
          </a:xfrm>
        </p:spPr>
        <p:txBody>
          <a:bodyPr vert="horz" lIns="91440" tIns="45720" rIns="91440" bIns="45720" rtlCol="0" anchor="t">
            <a:normAutofit/>
          </a:bodyPr>
          <a:lstStyle/>
          <a:p>
            <a:pPr algn="l" defTabSz="914400"/>
            <a:endParaRPr lang="en-US" sz="1150" kern="1200">
              <a:solidFill>
                <a:schemeClr val="tx1">
                  <a:lumMod val="85000"/>
                  <a:lumOff val="15000"/>
                </a:schemeClr>
              </a:solidFill>
              <a:latin typeface="+mn-lt"/>
              <a:ea typeface="+mn-ea"/>
              <a:cs typeface="+mn-cs"/>
            </a:endParaRPr>
          </a:p>
        </p:txBody>
      </p:sp>
      <p:cxnSp>
        <p:nvCxnSpPr>
          <p:cNvPr id="16" name="Straight Connector 15">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82178AC-26A6-4622-9B0D-3704FBBE60B0}"/>
                  </a:ext>
                </a:extLst>
              </p:cNvPr>
              <p:cNvSpPr txBox="1"/>
              <p:nvPr/>
            </p:nvSpPr>
            <p:spPr>
              <a:xfrm>
                <a:off x="5255260" y="1648870"/>
                <a:ext cx="4702848" cy="3560260"/>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2200">
                    <a:effectLst/>
                  </a:rPr>
                  <a:t>Soit </a:t>
                </a:r>
                <a:r>
                  <a:rPr lang="en-US" sz="2200" i="1">
                    <a:effectLst/>
                  </a:rPr>
                  <a:t>D</a:t>
                </a:r>
                <a:r>
                  <a:rPr lang="en-US" sz="2200">
                    <a:effectLst/>
                  </a:rPr>
                  <a:t> : L’enfant est dominant dans les deux gènes. Pour que </a:t>
                </a:r>
                <a:r>
                  <a:rPr lang="en-US" sz="2200" i="1">
                    <a:effectLst/>
                  </a:rPr>
                  <a:t>D</a:t>
                </a:r>
                <a:r>
                  <a:rPr lang="en-US" sz="2200">
                    <a:effectLst/>
                  </a:rPr>
                  <a:t> se réalise, il suffit que, dans le génotype de l’enfant, l’allèle T et l’allèle M soient présents, ce qui fait que :</a:t>
                </a:r>
              </a:p>
              <a:p>
                <a:pPr indent="-228600" defTabSz="914400">
                  <a:lnSpc>
                    <a:spcPct val="90000"/>
                  </a:lnSpc>
                  <a:spcAft>
                    <a:spcPts val="600"/>
                  </a:spcAft>
                  <a:buFont typeface="Arial" panose="020B0604020202020204" pitchFamily="34" charset="0"/>
                  <a:buChar char="•"/>
                </a:pPr>
                <a:endParaRPr lang="en-US" sz="2200"/>
              </a:p>
              <a:p>
                <a:pPr indent="-228600" defTabSz="914400">
                  <a:lnSpc>
                    <a:spcPct val="90000"/>
                  </a:lnSpc>
                  <a:spcAft>
                    <a:spcPts val="600"/>
                  </a:spcAft>
                  <a:buFont typeface="Arial" panose="020B0604020202020204" pitchFamily="34" charset="0"/>
                  <a:buChar char="•"/>
                </a:pPr>
                <a:endParaRPr lang="en-US" sz="2200">
                  <a:effectLst/>
                </a:endParaRPr>
              </a:p>
              <a:p>
                <a:pPr indent="-228600" defTabSz="914400">
                  <a:lnSpc>
                    <a:spcPct val="90000"/>
                  </a:lnSpc>
                  <a:spcAft>
                    <a:spcPts val="600"/>
                  </a:spcAft>
                  <a:buFont typeface="Arial" panose="020B0604020202020204" pitchFamily="34" charset="0"/>
                  <a:buChar char="•"/>
                </a:pPr>
                <a:endParaRPr lang="en-US" sz="2200"/>
              </a:p>
              <a:p>
                <a:pPr indent="-228600" defTabSz="914400">
                  <a:lnSpc>
                    <a:spcPct val="90000"/>
                  </a:lnSpc>
                  <a:spcAft>
                    <a:spcPts val="600"/>
                  </a:spcAft>
                  <a:buFont typeface="Arial" panose="020B0604020202020204" pitchFamily="34" charset="0"/>
                  <a:buChar char="•"/>
                </a:pPr>
                <a14:m>
                  <m:oMath xmlns:m="http://schemas.openxmlformats.org/officeDocument/2006/math">
                    <m:r>
                      <a:rPr lang="en-US" sz="2200" b="0" i="1">
                        <a:effectLst/>
                        <a:latin typeface="Cambria Math" panose="02040503050406030204" pitchFamily="18" charset="0"/>
                      </a:rPr>
                      <m:t>𝑃</m:t>
                    </m:r>
                    <m:d>
                      <m:dPr>
                        <m:ctrlPr>
                          <a:rPr lang="en-US" sz="2200" b="0" i="1">
                            <a:effectLst/>
                            <a:latin typeface="Cambria Math" panose="02040503050406030204" pitchFamily="18" charset="0"/>
                          </a:rPr>
                        </m:ctrlPr>
                      </m:dPr>
                      <m:e>
                        <m:r>
                          <a:rPr lang="en-US" sz="2200" b="0" i="1">
                            <a:effectLst/>
                            <a:latin typeface="Cambria Math" panose="02040503050406030204" pitchFamily="18" charset="0"/>
                          </a:rPr>
                          <m:t>𝐷</m:t>
                        </m:r>
                      </m:e>
                    </m:d>
                    <m:r>
                      <a:rPr lang="en-US" sz="2200" b="0" i="1">
                        <a:effectLst/>
                        <a:latin typeface="Cambria Math" panose="02040503050406030204" pitchFamily="18" charset="0"/>
                      </a:rPr>
                      <m:t>=</m:t>
                    </m:r>
                    <m:f>
                      <m:fPr>
                        <m:ctrlPr>
                          <a:rPr lang="en-US" sz="2200" b="0" i="1">
                            <a:effectLst/>
                            <a:latin typeface="Cambria Math" panose="02040503050406030204" pitchFamily="18" charset="0"/>
                          </a:rPr>
                        </m:ctrlPr>
                      </m:fPr>
                      <m:num>
                        <m:r>
                          <a:rPr lang="en-US" sz="2200" b="0" i="1">
                            <a:effectLst/>
                            <a:latin typeface="Cambria Math" panose="02040503050406030204" pitchFamily="18" charset="0"/>
                          </a:rPr>
                          <m:t>𝑁</m:t>
                        </m:r>
                        <m:r>
                          <a:rPr lang="en-US" sz="2200" b="0" i="1">
                            <a:effectLst/>
                            <a:latin typeface="Cambria Math" panose="02040503050406030204" pitchFamily="18" charset="0"/>
                          </a:rPr>
                          <m:t>(</m:t>
                        </m:r>
                        <m:r>
                          <a:rPr lang="en-US" sz="2200" b="0" i="1">
                            <a:effectLst/>
                            <a:latin typeface="Cambria Math" panose="02040503050406030204" pitchFamily="18" charset="0"/>
                          </a:rPr>
                          <m:t>𝐷</m:t>
                        </m:r>
                        <m:r>
                          <a:rPr lang="en-US" sz="2200" b="0" i="1">
                            <a:effectLst/>
                            <a:latin typeface="Cambria Math" panose="02040503050406030204" pitchFamily="18" charset="0"/>
                          </a:rPr>
                          <m:t>)</m:t>
                        </m:r>
                      </m:num>
                      <m:den>
                        <m:r>
                          <a:rPr lang="en-US" sz="2200" b="0" i="1">
                            <a:effectLst/>
                            <a:latin typeface="Cambria Math" panose="02040503050406030204" pitchFamily="18" charset="0"/>
                          </a:rPr>
                          <m:t>𝑁</m:t>
                        </m:r>
                        <m:r>
                          <a:rPr lang="en-US" sz="2200" b="0" i="1">
                            <a:effectLst/>
                            <a:latin typeface="Cambria Math" panose="02040503050406030204" pitchFamily="18" charset="0"/>
                          </a:rPr>
                          <m:t>(</m:t>
                        </m:r>
                        <m:r>
                          <a:rPr lang="en-US" sz="2200" b="0" i="1">
                            <a:effectLst/>
                            <a:latin typeface="Cambria Math" panose="02040503050406030204" pitchFamily="18" charset="0"/>
                          </a:rPr>
                          <m:t>𝑆</m:t>
                        </m:r>
                        <m:r>
                          <a:rPr lang="en-US" sz="2200" b="0" i="1">
                            <a:effectLst/>
                            <a:latin typeface="Cambria Math" panose="02040503050406030204" pitchFamily="18" charset="0"/>
                          </a:rPr>
                          <m:t>)</m:t>
                        </m:r>
                      </m:den>
                    </m:f>
                    <m:r>
                      <a:rPr lang="en-US" sz="2200" b="0" i="1">
                        <a:effectLst/>
                        <a:latin typeface="Cambria Math" panose="02040503050406030204" pitchFamily="18" charset="0"/>
                      </a:rPr>
                      <m:t>=</m:t>
                    </m:r>
                    <m:f>
                      <m:fPr>
                        <m:ctrlPr>
                          <a:rPr lang="en-US" sz="2200" b="0" i="1">
                            <a:effectLst/>
                            <a:latin typeface="Cambria Math" panose="02040503050406030204" pitchFamily="18" charset="0"/>
                          </a:rPr>
                        </m:ctrlPr>
                      </m:fPr>
                      <m:num>
                        <m:r>
                          <a:rPr lang="en-US" sz="2200" b="0" i="1">
                            <a:effectLst/>
                            <a:latin typeface="Cambria Math" panose="02040503050406030204" pitchFamily="18" charset="0"/>
                          </a:rPr>
                          <m:t>9</m:t>
                        </m:r>
                      </m:num>
                      <m:den>
                        <m:r>
                          <a:rPr lang="en-US" sz="2200" b="0" i="1">
                            <a:effectLst/>
                            <a:latin typeface="Cambria Math" panose="02040503050406030204" pitchFamily="18" charset="0"/>
                          </a:rPr>
                          <m:t>16</m:t>
                        </m:r>
                      </m:den>
                    </m:f>
                  </m:oMath>
                </a14:m>
                <a:endParaRPr lang="en-US" sz="2200">
                  <a:effectLst/>
                </a:endParaRPr>
              </a:p>
              <a:p>
                <a:pPr indent="-228600" defTabSz="914400">
                  <a:lnSpc>
                    <a:spcPct val="90000"/>
                  </a:lnSpc>
                  <a:spcAft>
                    <a:spcPts val="600"/>
                  </a:spcAft>
                  <a:buFont typeface="Arial" panose="020B0604020202020204" pitchFamily="34" charset="0"/>
                  <a:buChar char="•"/>
                </a:pPr>
                <a:endParaRPr lang="en-US" sz="2200"/>
              </a:p>
            </p:txBody>
          </p:sp>
        </mc:Choice>
        <mc:Fallback xmlns="">
          <p:sp>
            <p:nvSpPr>
              <p:cNvPr id="5" name="ZoneTexte 4">
                <a:extLst>
                  <a:ext uri="{FF2B5EF4-FFF2-40B4-BE49-F238E27FC236}">
                    <a16:creationId xmlns:a16="http://schemas.microsoft.com/office/drawing/2014/main" id="{682178AC-26A6-4622-9B0D-3704FBBE60B0}"/>
                  </a:ext>
                </a:extLst>
              </p:cNvPr>
              <p:cNvSpPr txBox="1">
                <a:spLocks noRot="1" noChangeAspect="1" noMove="1" noResize="1" noEditPoints="1" noAdjustHandles="1" noChangeArrowheads="1" noChangeShapeType="1" noTextEdit="1"/>
              </p:cNvSpPr>
              <p:nvPr/>
            </p:nvSpPr>
            <p:spPr>
              <a:xfrm>
                <a:off x="5255260" y="1648870"/>
                <a:ext cx="4702848" cy="3560260"/>
              </a:xfrm>
              <a:prstGeom prst="rect">
                <a:avLst/>
              </a:prstGeom>
              <a:blipFill>
                <a:blip r:embed="rId2"/>
                <a:stretch>
                  <a:fillRect l="-1684" t="-3590" r="-2202"/>
                </a:stretch>
              </a:blipFill>
            </p:spPr>
            <p:txBody>
              <a:bodyPr/>
              <a:lstStyle/>
              <a:p>
                <a:r>
                  <a:rPr lang="fr-CA">
                    <a:noFill/>
                  </a:rPr>
                  <a:t> </a:t>
                </a:r>
              </a:p>
            </p:txBody>
          </p:sp>
        </mc:Fallback>
      </mc:AlternateContent>
      <p:sp>
        <p:nvSpPr>
          <p:cNvPr id="4" name="Espace réservé du numéro de diapositive 3">
            <a:extLst>
              <a:ext uri="{FF2B5EF4-FFF2-40B4-BE49-F238E27FC236}">
                <a16:creationId xmlns:a16="http://schemas.microsoft.com/office/drawing/2014/main" id="{A4EAFE79-CBAF-49FE-9AB4-22F06C9B2A4E}"/>
              </a:ext>
            </a:extLst>
          </p:cNvPr>
          <p:cNvSpPr>
            <a:spLocks noGrp="1"/>
          </p:cNvSpPr>
          <p:nvPr>
            <p:ph type="sldNum" sz="quarter" idx="12"/>
          </p:nvPr>
        </p:nvSpPr>
        <p:spPr>
          <a:xfrm>
            <a:off x="9683496" y="4892040"/>
            <a:ext cx="1673352" cy="1005840"/>
          </a:xfrm>
        </p:spPr>
        <p:txBody>
          <a:bodyPr vert="horz" lIns="91440" tIns="45720" rIns="91440" bIns="45720" rtlCol="0" anchor="ctr">
            <a:normAutofit/>
          </a:bodyPr>
          <a:lstStyle/>
          <a:p>
            <a:pPr defTabSz="914400">
              <a:lnSpc>
                <a:spcPct val="90000"/>
              </a:lnSpc>
              <a:spcAft>
                <a:spcPts val="600"/>
              </a:spcAft>
            </a:pPr>
            <a:fld id="{26377AD9-CE17-438C-A638-C64D2D42D7CF}" type="slidenum">
              <a:rPr lang="en-US" sz="6600">
                <a:solidFill>
                  <a:srgbClr val="FFFFFF"/>
                </a:solidFill>
              </a:rPr>
              <a:pPr defTabSz="914400">
                <a:lnSpc>
                  <a:spcPct val="90000"/>
                </a:lnSpc>
                <a:spcAft>
                  <a:spcPts val="600"/>
                </a:spcAft>
              </a:pPr>
              <a:t>27</a:t>
            </a:fld>
            <a:endParaRPr lang="en-US" sz="6600">
              <a:solidFill>
                <a:srgbClr val="FFFFFF"/>
              </a:solidFill>
            </a:endParaRPr>
          </a:p>
        </p:txBody>
      </p:sp>
    </p:spTree>
    <p:extLst>
      <p:ext uri="{BB962C8B-B14F-4D97-AF65-F5344CB8AC3E}">
        <p14:creationId xmlns:p14="http://schemas.microsoft.com/office/powerpoint/2010/main" val="2283360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lowchart: Document 12">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F0FE2D1-3E80-40C4-AFAA-72BFE5FADBDC}"/>
              </a:ext>
            </a:extLst>
          </p:cNvPr>
          <p:cNvSpPr>
            <a:spLocks noGrp="1"/>
          </p:cNvSpPr>
          <p:nvPr>
            <p:ph type="title"/>
          </p:nvPr>
        </p:nvSpPr>
        <p:spPr>
          <a:xfrm>
            <a:off x="838200" y="171162"/>
            <a:ext cx="2840182" cy="2371148"/>
          </a:xfrm>
        </p:spPr>
        <p:txBody>
          <a:bodyPr>
            <a:normAutofit/>
          </a:bodyPr>
          <a:lstStyle/>
          <a:p>
            <a:pPr>
              <a:spcAft>
                <a:spcPts val="800"/>
              </a:spcAft>
            </a:pPr>
            <a:r>
              <a:rPr lang="fr-CA" sz="1500">
                <a:solidFill>
                  <a:srgbClr val="FFFFFF"/>
                </a:solidFill>
              </a:rPr>
              <a:t>Exemple 2:</a:t>
            </a:r>
            <a:r>
              <a:rPr lang="fr-FR" sz="1500">
                <a:solidFill>
                  <a:srgbClr val="FFFFFF"/>
                </a:solidFill>
                <a:effectLst/>
                <a:latin typeface="Times New Roman" panose="02020603050405020304" pitchFamily="18" charset="0"/>
                <a:ea typeface="Times New Roman" panose="02020603050405020304" pitchFamily="18" charset="0"/>
              </a:rPr>
              <a:t>Un couple a</a:t>
            </a:r>
            <a:r>
              <a:rPr lang="fr-FR" sz="1500" i="1">
                <a:solidFill>
                  <a:srgbClr val="FFFFFF"/>
                </a:solidFill>
                <a:effectLst/>
                <a:latin typeface="Times New Roman" panose="02020603050405020304" pitchFamily="18" charset="0"/>
                <a:ea typeface="Times New Roman" panose="02020603050405020304" pitchFamily="18" charset="0"/>
              </a:rPr>
              <a:t> </a:t>
            </a:r>
            <a:r>
              <a:rPr lang="fr-FR" sz="1500">
                <a:solidFill>
                  <a:srgbClr val="FFFFFF"/>
                </a:solidFill>
                <a:effectLst/>
                <a:latin typeface="Times New Roman" panose="02020603050405020304" pitchFamily="18" charset="0"/>
                <a:ea typeface="Times New Roman" panose="02020603050405020304" pitchFamily="18" charset="0"/>
              </a:rPr>
              <a:t>trois enfants.</a:t>
            </a:r>
            <a:br>
              <a:rPr lang="fr-CA" sz="1500">
                <a:solidFill>
                  <a:srgbClr val="FFFFFF"/>
                </a:solidFill>
                <a:effectLst/>
                <a:latin typeface="Times New Roman" panose="02020603050405020304" pitchFamily="18" charset="0"/>
                <a:ea typeface="Times New Roman" panose="02020603050405020304" pitchFamily="18" charset="0"/>
              </a:rPr>
            </a:br>
            <a:r>
              <a:rPr lang="fr-FR" sz="1500">
                <a:solidFill>
                  <a:srgbClr val="FFFFFF"/>
                </a:solidFill>
                <a:effectLst/>
                <a:latin typeface="Times New Roman" panose="02020603050405020304" pitchFamily="18" charset="0"/>
                <a:ea typeface="Times New Roman" panose="02020603050405020304" pitchFamily="18" charset="0"/>
              </a:rPr>
              <a:t>a)	Dressez un diagramme en arbre donnant toutes les possibilités en ce qui a</a:t>
            </a:r>
            <a:r>
              <a:rPr lang="fr-FR" sz="1500" i="1">
                <a:solidFill>
                  <a:srgbClr val="FFFFFF"/>
                </a:solidFill>
                <a:effectLst/>
                <a:latin typeface="Times New Roman" panose="02020603050405020304" pitchFamily="18" charset="0"/>
                <a:ea typeface="Times New Roman" panose="02020603050405020304" pitchFamily="18" charset="0"/>
              </a:rPr>
              <a:t> </a:t>
            </a:r>
            <a:r>
              <a:rPr lang="fr-FR" sz="1500">
                <a:solidFill>
                  <a:srgbClr val="FFFFFF"/>
                </a:solidFill>
                <a:effectLst/>
                <a:latin typeface="Times New Roman" panose="02020603050405020304" pitchFamily="18" charset="0"/>
                <a:ea typeface="Times New Roman" panose="02020603050405020304" pitchFamily="18" charset="0"/>
              </a:rPr>
              <a:t>trait au sexe des enfants.</a:t>
            </a:r>
            <a:br>
              <a:rPr lang="fr-CA" sz="1500">
                <a:solidFill>
                  <a:srgbClr val="FFFFFF"/>
                </a:solidFill>
                <a:effectLst/>
                <a:latin typeface="Times New Roman" panose="02020603050405020304" pitchFamily="18" charset="0"/>
                <a:ea typeface="Times New Roman" panose="02020603050405020304" pitchFamily="18" charset="0"/>
              </a:rPr>
            </a:br>
            <a:r>
              <a:rPr lang="fr-FR" sz="1500">
                <a:solidFill>
                  <a:srgbClr val="FFFFFF"/>
                </a:solidFill>
                <a:effectLst/>
                <a:latin typeface="Times New Roman" panose="02020603050405020304" pitchFamily="18" charset="0"/>
                <a:ea typeface="Times New Roman" panose="02020603050405020304" pitchFamily="18" charset="0"/>
              </a:rPr>
              <a:t>b)	Quelle est la probabilité que ce couple ait exactement deux filles ?</a:t>
            </a:r>
            <a:br>
              <a:rPr lang="fr-CA" sz="1500">
                <a:solidFill>
                  <a:srgbClr val="FFFFFF"/>
                </a:solidFill>
                <a:effectLst/>
                <a:latin typeface="Times New Roman" panose="02020603050405020304" pitchFamily="18" charset="0"/>
                <a:ea typeface="Times New Roman" panose="02020603050405020304" pitchFamily="18" charset="0"/>
              </a:rPr>
            </a:br>
            <a:r>
              <a:rPr lang="fr-CA" sz="1500">
                <a:solidFill>
                  <a:srgbClr val="FFFFFF"/>
                </a:solidFill>
              </a:rPr>
              <a:t> </a:t>
            </a:r>
          </a:p>
        </p:txBody>
      </p:sp>
      <p:pic>
        <p:nvPicPr>
          <p:cNvPr id="8" name="Image 7">
            <a:extLst>
              <a:ext uri="{FF2B5EF4-FFF2-40B4-BE49-F238E27FC236}">
                <a16:creationId xmlns:a16="http://schemas.microsoft.com/office/drawing/2014/main" id="{0DF0DEA3-BBFC-4F24-86C2-64FAA644BADA}"/>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4006263" y="324029"/>
            <a:ext cx="7347537" cy="3845563"/>
          </a:xfrm>
          <a:prstGeom prst="rect">
            <a:avLst/>
          </a:prstGeom>
          <a:noFill/>
        </p:spPr>
      </p:pic>
      <p:sp>
        <p:nvSpPr>
          <p:cNvPr id="3" name="Espace réservé du pied de page 2">
            <a:extLst>
              <a:ext uri="{FF2B5EF4-FFF2-40B4-BE49-F238E27FC236}">
                <a16:creationId xmlns:a16="http://schemas.microsoft.com/office/drawing/2014/main" id="{42AA47AE-B9C7-4DBF-989A-5075E28F3072}"/>
              </a:ext>
            </a:extLst>
          </p:cNvPr>
          <p:cNvSpPr>
            <a:spLocks noGrp="1"/>
          </p:cNvSpPr>
          <p:nvPr>
            <p:ph type="ftr" sz="quarter" idx="11"/>
          </p:nvPr>
        </p:nvSpPr>
        <p:spPr>
          <a:xfrm>
            <a:off x="838200" y="6356350"/>
            <a:ext cx="5960951" cy="365125"/>
          </a:xfrm>
          <a:noFill/>
        </p:spPr>
        <p:txBody>
          <a:bodyPr>
            <a:normAutofit/>
          </a:bodyPr>
          <a:lstStyle/>
          <a:p>
            <a:pPr algn="l"/>
            <a:endParaRPr lang="fr-CA"/>
          </a:p>
        </p:txBody>
      </p:sp>
      <p:sp>
        <p:nvSpPr>
          <p:cNvPr id="4" name="Espace réservé du numéro de diapositive 3">
            <a:extLst>
              <a:ext uri="{FF2B5EF4-FFF2-40B4-BE49-F238E27FC236}">
                <a16:creationId xmlns:a16="http://schemas.microsoft.com/office/drawing/2014/main" id="{2B9953A0-5561-4BEE-ADFE-06FC7E4845E0}"/>
              </a:ext>
            </a:extLst>
          </p:cNvPr>
          <p:cNvSpPr>
            <a:spLocks noGrp="1"/>
          </p:cNvSpPr>
          <p:nvPr>
            <p:ph type="sldNum" sz="quarter" idx="12"/>
          </p:nvPr>
        </p:nvSpPr>
        <p:spPr>
          <a:xfrm>
            <a:off x="10926476" y="6356350"/>
            <a:ext cx="625443" cy="365125"/>
          </a:xfrm>
          <a:noFill/>
        </p:spPr>
        <p:txBody>
          <a:bodyPr>
            <a:normAutofit/>
          </a:bodyPr>
          <a:lstStyle/>
          <a:p>
            <a:pPr algn="l">
              <a:spcAft>
                <a:spcPts val="600"/>
              </a:spcAft>
            </a:pPr>
            <a:fld id="{26377AD9-CE17-438C-A638-C64D2D42D7CF}" type="slidenum">
              <a:rPr lang="fr-CA" smtClean="0"/>
              <a:pPr algn="l">
                <a:spcAft>
                  <a:spcPts val="600"/>
                </a:spcAft>
              </a:pPr>
              <a:t>28</a:t>
            </a:fld>
            <a:endParaRPr lang="fr-CA"/>
          </a:p>
        </p:txBody>
      </p:sp>
      <p:sp>
        <p:nvSpPr>
          <p:cNvPr id="5" name="ZoneTexte 4">
            <a:extLst>
              <a:ext uri="{FF2B5EF4-FFF2-40B4-BE49-F238E27FC236}">
                <a16:creationId xmlns:a16="http://schemas.microsoft.com/office/drawing/2014/main" id="{F158A0AA-3BC2-4996-8672-B24CB335A3BE}"/>
              </a:ext>
            </a:extLst>
          </p:cNvPr>
          <p:cNvSpPr txBox="1"/>
          <p:nvPr/>
        </p:nvSpPr>
        <p:spPr>
          <a:xfrm>
            <a:off x="838200" y="2246811"/>
            <a:ext cx="10408920" cy="723275"/>
          </a:xfrm>
          <a:prstGeom prst="rect">
            <a:avLst/>
          </a:prstGeom>
          <a:noFill/>
        </p:spPr>
        <p:txBody>
          <a:bodyPr wrap="square" rtlCol="0">
            <a:spAutoFit/>
          </a:bodyPr>
          <a:lstStyle/>
          <a:p>
            <a:pPr>
              <a:spcAft>
                <a:spcPts val="600"/>
              </a:spcAft>
            </a:pPr>
            <a:r>
              <a:rPr lang="fr-CA" b="1" dirty="0"/>
              <a:t>Réponse</a:t>
            </a:r>
            <a:r>
              <a:rPr lang="fr-CA" dirty="0"/>
              <a:t>: a)Les cas possibles</a:t>
            </a:r>
          </a:p>
          <a:p>
            <a:pPr>
              <a:spcAft>
                <a:spcPts val="600"/>
              </a:spcAft>
            </a:pPr>
            <a:endParaRPr lang="fr-CA" dirty="0"/>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728B6FA7-472F-43C2-9ED4-E841D197D928}"/>
                  </a:ext>
                </a:extLst>
              </p:cNvPr>
              <p:cNvSpPr txBox="1"/>
              <p:nvPr/>
            </p:nvSpPr>
            <p:spPr>
              <a:xfrm>
                <a:off x="1240971" y="5081451"/>
                <a:ext cx="9685505" cy="545727"/>
              </a:xfrm>
              <a:prstGeom prst="rect">
                <a:avLst/>
              </a:prstGeom>
              <a:noFill/>
            </p:spPr>
            <p:txBody>
              <a:bodyPr wrap="square" rtlCol="0">
                <a:spAutoFit/>
              </a:bodyPr>
              <a:lstStyle/>
              <a:p>
                <a:r>
                  <a:rPr lang="fr-CA" sz="1800" dirty="0">
                    <a:effectLst/>
                    <a:latin typeface="Calibri" panose="020F0502020204030204" pitchFamily="34" charset="0"/>
                    <a:ea typeface="Calibri" panose="020F0502020204030204" pitchFamily="34" charset="0"/>
                    <a:cs typeface="Times New Roman" panose="02020603050405020304" pitchFamily="18" charset="0"/>
                  </a:rPr>
                  <a:t>b) Soit</a:t>
                </a:r>
                <a:r>
                  <a:rPr lang="fr-CA" sz="1800" i="1" dirty="0">
                    <a:effectLst/>
                    <a:latin typeface="Calibri" panose="020F0502020204030204" pitchFamily="34" charset="0"/>
                    <a:ea typeface="Calibri" panose="020F0502020204030204" pitchFamily="34" charset="0"/>
                    <a:cs typeface="Times New Roman" panose="02020603050405020304" pitchFamily="18" charset="0"/>
                  </a:rPr>
                  <a:t> A :</a:t>
                </a:r>
                <a:r>
                  <a:rPr lang="fr-CA" sz="1800" dirty="0">
                    <a:effectLst/>
                    <a:latin typeface="Calibri" panose="020F0502020204030204" pitchFamily="34" charset="0"/>
                    <a:ea typeface="Calibri" panose="020F0502020204030204" pitchFamily="34" charset="0"/>
                    <a:cs typeface="Times New Roman" panose="02020603050405020304" pitchFamily="18" charset="0"/>
                  </a:rPr>
                  <a:t> Le couple a</a:t>
                </a:r>
                <a:r>
                  <a:rPr lang="fr-CA" sz="1800" i="1" dirty="0">
                    <a:effectLst/>
                    <a:latin typeface="Calibri" panose="020F0502020204030204" pitchFamily="34" charset="0"/>
                    <a:ea typeface="Calibri" panose="020F0502020204030204" pitchFamily="34" charset="0"/>
                    <a:cs typeface="Times New Roman" panose="02020603050405020304" pitchFamily="18" charset="0"/>
                  </a:rPr>
                  <a:t> </a:t>
                </a:r>
                <a:r>
                  <a:rPr lang="fr-CA" sz="1800" dirty="0">
                    <a:effectLst/>
                    <a:latin typeface="Calibri" panose="020F0502020204030204" pitchFamily="34" charset="0"/>
                    <a:ea typeface="Calibri" panose="020F0502020204030204" pitchFamily="34" charset="0"/>
                    <a:cs typeface="Times New Roman" panose="02020603050405020304" pitchFamily="18" charset="0"/>
                  </a:rPr>
                  <a:t>exactement deux filles. On voit dans cette arborescence que </a:t>
                </a:r>
                <a14:m>
                  <m:oMath xmlns:m="http://schemas.openxmlformats.org/officeDocument/2006/math">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ctrlPr>
                      </m:dPr>
                      <m:e>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𝐴</m:t>
                        </m:r>
                      </m:e>
                    </m:d>
                    <m:r>
                      <a:rPr lang="fr-CA" sz="1800" b="0" i="1"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fr-CA" sz="1800" b="0" i="1" smtClean="0">
                            <a:effectLst/>
                            <a:latin typeface="Cambria Math" panose="02040503050406030204" pitchFamily="18" charset="0"/>
                            <a:cs typeface="Times New Roman" panose="02020603050405020304" pitchFamily="18" charset="0"/>
                          </a:rPr>
                        </m:ctrlPr>
                      </m:fPr>
                      <m:num>
                        <m:r>
                          <a:rPr lang="fr-CA" sz="1800" b="0" i="1" smtClean="0">
                            <a:effectLst/>
                            <a:latin typeface="Cambria Math" panose="02040503050406030204" pitchFamily="18" charset="0"/>
                            <a:cs typeface="Times New Roman" panose="02020603050405020304" pitchFamily="18" charset="0"/>
                          </a:rPr>
                          <m:t>𝑁</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𝐴</m:t>
                        </m:r>
                        <m:r>
                          <a:rPr lang="fr-CA" sz="1800" b="0" i="1" smtClean="0">
                            <a:effectLst/>
                            <a:latin typeface="Cambria Math" panose="02040503050406030204" pitchFamily="18" charset="0"/>
                            <a:cs typeface="Times New Roman" panose="02020603050405020304" pitchFamily="18" charset="0"/>
                          </a:rPr>
                          <m:t>)</m:t>
                        </m:r>
                      </m:num>
                      <m:den>
                        <m:r>
                          <a:rPr lang="fr-CA" sz="1800" b="0" i="1" smtClean="0">
                            <a:effectLst/>
                            <a:latin typeface="Cambria Math" panose="02040503050406030204" pitchFamily="18" charset="0"/>
                            <a:cs typeface="Times New Roman" panose="02020603050405020304" pitchFamily="18" charset="0"/>
                          </a:rPr>
                          <m:t>𝑁</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𝑆</m:t>
                        </m:r>
                        <m:r>
                          <a:rPr lang="fr-CA" sz="1800" b="0" i="1" smtClean="0">
                            <a:effectLst/>
                            <a:latin typeface="Cambria Math" panose="02040503050406030204" pitchFamily="18" charset="0"/>
                            <a:cs typeface="Times New Roman" panose="02020603050405020304" pitchFamily="18" charset="0"/>
                          </a:rPr>
                          <m:t>)</m:t>
                        </m:r>
                      </m:den>
                    </m:f>
                    <m:r>
                      <a:rPr lang="fr-CA" sz="1800" b="0" i="1" smtClean="0">
                        <a:effectLst/>
                        <a:latin typeface="Cambria Math" panose="02040503050406030204" pitchFamily="18" charset="0"/>
                        <a:cs typeface="Times New Roman" panose="02020603050405020304" pitchFamily="18" charset="0"/>
                      </a:rPr>
                      <m:t>=</m:t>
                    </m:r>
                    <m:f>
                      <m:fPr>
                        <m:ctrlPr>
                          <a:rPr lang="fr-CA" sz="1800" b="0" i="1" smtClean="0">
                            <a:effectLst/>
                            <a:latin typeface="Cambria Math" panose="02040503050406030204" pitchFamily="18" charset="0"/>
                            <a:cs typeface="Times New Roman" panose="02020603050405020304" pitchFamily="18" charset="0"/>
                          </a:rPr>
                        </m:ctrlPr>
                      </m:fPr>
                      <m:num>
                        <m:r>
                          <a:rPr lang="fr-CA" sz="1800" b="0" i="1" smtClean="0">
                            <a:effectLst/>
                            <a:latin typeface="Cambria Math" panose="02040503050406030204" pitchFamily="18" charset="0"/>
                            <a:cs typeface="Times New Roman" panose="02020603050405020304" pitchFamily="18" charset="0"/>
                          </a:rPr>
                          <m:t>3</m:t>
                        </m:r>
                      </m:num>
                      <m:den>
                        <m:r>
                          <a:rPr lang="fr-CA" sz="1800" b="0" i="1" smtClean="0">
                            <a:effectLst/>
                            <a:latin typeface="Cambria Math" panose="02040503050406030204" pitchFamily="18" charset="0"/>
                            <a:cs typeface="Times New Roman" panose="02020603050405020304" pitchFamily="18" charset="0"/>
                          </a:rPr>
                          <m:t>8</m:t>
                        </m:r>
                      </m:den>
                    </m:f>
                  </m:oMath>
                </a14:m>
                <a:endParaRPr lang="fr-CA" dirty="0"/>
              </a:p>
            </p:txBody>
          </p:sp>
        </mc:Choice>
        <mc:Fallback xmlns="">
          <p:sp>
            <p:nvSpPr>
              <p:cNvPr id="9" name="ZoneTexte 8">
                <a:extLst>
                  <a:ext uri="{FF2B5EF4-FFF2-40B4-BE49-F238E27FC236}">
                    <a16:creationId xmlns:a16="http://schemas.microsoft.com/office/drawing/2014/main" id="{728B6FA7-472F-43C2-9ED4-E841D197D928}"/>
                  </a:ext>
                </a:extLst>
              </p:cNvPr>
              <p:cNvSpPr txBox="1">
                <a:spLocks noRot="1" noChangeAspect="1" noMove="1" noResize="1" noEditPoints="1" noAdjustHandles="1" noChangeArrowheads="1" noChangeShapeType="1" noTextEdit="1"/>
              </p:cNvSpPr>
              <p:nvPr/>
            </p:nvSpPr>
            <p:spPr>
              <a:xfrm>
                <a:off x="1240971" y="5081451"/>
                <a:ext cx="9685505" cy="545727"/>
              </a:xfrm>
              <a:prstGeom prst="rect">
                <a:avLst/>
              </a:prstGeom>
              <a:blipFill>
                <a:blip r:embed="rId3"/>
                <a:stretch>
                  <a:fillRect l="-567" b="-4494"/>
                </a:stretch>
              </a:blipFill>
            </p:spPr>
            <p:txBody>
              <a:bodyPr/>
              <a:lstStyle/>
              <a:p>
                <a:r>
                  <a:rPr lang="fr-CA">
                    <a:noFill/>
                  </a:rPr>
                  <a:t> </a:t>
                </a:r>
              </a:p>
            </p:txBody>
          </p:sp>
        </mc:Fallback>
      </mc:AlternateContent>
    </p:spTree>
    <p:extLst>
      <p:ext uri="{BB962C8B-B14F-4D97-AF65-F5344CB8AC3E}">
        <p14:creationId xmlns:p14="http://schemas.microsoft.com/office/powerpoint/2010/main" val="114473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D2243C-1598-4707-844B-862E267E77A5}"/>
              </a:ext>
            </a:extLst>
          </p:cNvPr>
          <p:cNvSpPr>
            <a:spLocks noGrp="1"/>
          </p:cNvSpPr>
          <p:nvPr>
            <p:ph type="title"/>
          </p:nvPr>
        </p:nvSpPr>
        <p:spPr/>
        <p:txBody>
          <a:bodyPr/>
          <a:lstStyle/>
          <a:p>
            <a:r>
              <a:rPr lang="fr-CA" b="1" dirty="0"/>
              <a:t>La formule du binôme</a:t>
            </a:r>
          </a:p>
        </p:txBody>
      </p:sp>
      <p:sp>
        <p:nvSpPr>
          <p:cNvPr id="3" name="Espace réservé du pied de page 2">
            <a:extLst>
              <a:ext uri="{FF2B5EF4-FFF2-40B4-BE49-F238E27FC236}">
                <a16:creationId xmlns:a16="http://schemas.microsoft.com/office/drawing/2014/main" id="{8F7902F6-BB88-49A8-AC0F-B81E5344D0E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2A8F7981-10F6-47DF-89DA-72AC458A3511}"/>
              </a:ext>
            </a:extLst>
          </p:cNvPr>
          <p:cNvSpPr>
            <a:spLocks noGrp="1"/>
          </p:cNvSpPr>
          <p:nvPr>
            <p:ph type="sldNum" sz="quarter" idx="12"/>
          </p:nvPr>
        </p:nvSpPr>
        <p:spPr/>
        <p:txBody>
          <a:bodyPr/>
          <a:lstStyle/>
          <a:p>
            <a:fld id="{26377AD9-CE17-438C-A638-C64D2D42D7CF}" type="slidenum">
              <a:rPr lang="fr-CA" smtClean="0"/>
              <a:t>29</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D48F4764-8355-4EF2-9495-16D3A57BB00C}"/>
                  </a:ext>
                </a:extLst>
              </p:cNvPr>
              <p:cNvSpPr txBox="1"/>
              <p:nvPr/>
            </p:nvSpPr>
            <p:spPr>
              <a:xfrm>
                <a:off x="1031966" y="1690688"/>
                <a:ext cx="9966960" cy="37891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CA" i="1" smtClean="0">
                              <a:latin typeface="Cambria Math" panose="02040503050406030204" pitchFamily="18" charset="0"/>
                            </a:rPr>
                          </m:ctrlPr>
                        </m:sSupPr>
                        <m:e>
                          <m:r>
                            <a:rPr lang="fr-CA" b="0" i="1" smtClean="0">
                              <a:latin typeface="Cambria Math" panose="02040503050406030204" pitchFamily="18" charset="0"/>
                            </a:rPr>
                            <m:t>(</m:t>
                          </m:r>
                          <m:r>
                            <a:rPr lang="fr-CA" b="0" i="1" smtClean="0">
                              <a:latin typeface="Cambria Math" panose="02040503050406030204" pitchFamily="18" charset="0"/>
                            </a:rPr>
                            <m:t>𝑎</m:t>
                          </m:r>
                          <m:r>
                            <a:rPr lang="fr-CA" b="0" i="1" smtClean="0">
                              <a:latin typeface="Cambria Math" panose="02040503050406030204" pitchFamily="18" charset="0"/>
                            </a:rPr>
                            <m:t>+</m:t>
                          </m:r>
                          <m:r>
                            <a:rPr lang="fr-CA" b="0" i="1" smtClean="0">
                              <a:latin typeface="Cambria Math" panose="02040503050406030204" pitchFamily="18" charset="0"/>
                            </a:rPr>
                            <m:t>𝑏</m:t>
                          </m:r>
                          <m:r>
                            <a:rPr lang="fr-CA" b="0" i="1" smtClean="0">
                              <a:latin typeface="Cambria Math" panose="02040503050406030204" pitchFamily="18" charset="0"/>
                            </a:rPr>
                            <m:t>)</m:t>
                          </m:r>
                        </m:e>
                        <m:sup>
                          <m:r>
                            <a:rPr lang="fr-CA" b="0" i="1" smtClean="0">
                              <a:latin typeface="Cambria Math" panose="02040503050406030204" pitchFamily="18" charset="0"/>
                            </a:rPr>
                            <m:t>2</m:t>
                          </m:r>
                        </m:sup>
                      </m:sSup>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2</m:t>
                          </m:r>
                        </m:sup>
                      </m:sSup>
                      <m:r>
                        <a:rPr lang="fr-CA" b="0" i="1" smtClean="0">
                          <a:latin typeface="Cambria Math" panose="02040503050406030204" pitchFamily="18" charset="0"/>
                        </a:rPr>
                        <m:t>+2</m:t>
                      </m:r>
                      <m:r>
                        <a:rPr lang="fr-CA" b="0" i="1" smtClean="0">
                          <a:latin typeface="Cambria Math" panose="02040503050406030204" pitchFamily="18" charset="0"/>
                        </a:rPr>
                        <m:t>𝑎𝑏</m:t>
                      </m:r>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𝑏</m:t>
                          </m:r>
                        </m:e>
                        <m:sup>
                          <m:r>
                            <a:rPr lang="fr-CA" b="0" i="1" smtClean="0">
                              <a:latin typeface="Cambria Math" panose="02040503050406030204" pitchFamily="18" charset="0"/>
                            </a:rPr>
                            <m:t>2</m:t>
                          </m:r>
                        </m:sup>
                      </m:sSup>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2</m:t>
                              </m:r>
                            </m:e>
                            <m:e>
                              <m:r>
                                <a:rPr lang="fr-CA" b="0" i="1" smtClean="0">
                                  <a:latin typeface="Cambria Math" panose="02040503050406030204" pitchFamily="18" charset="0"/>
                                </a:rPr>
                                <m:t>0</m:t>
                              </m:r>
                            </m:e>
                          </m:eqArr>
                        </m:e>
                      </m:d>
                      <m:sSup>
                        <m:sSupPr>
                          <m:ctrlPr>
                            <a:rPr lang="fr-CA" b="0"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2</m:t>
                          </m:r>
                        </m:sup>
                      </m:sSup>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2</m:t>
                              </m:r>
                            </m:e>
                            <m:e>
                              <m:r>
                                <a:rPr lang="fr-CA" b="0" i="1" smtClean="0">
                                  <a:latin typeface="Cambria Math" panose="02040503050406030204" pitchFamily="18" charset="0"/>
                                </a:rPr>
                                <m:t>1</m:t>
                              </m:r>
                            </m:e>
                          </m:eqArr>
                        </m:e>
                      </m:d>
                      <m:r>
                        <a:rPr lang="fr-CA" b="0" i="1" smtClean="0">
                          <a:latin typeface="Cambria Math" panose="02040503050406030204" pitchFamily="18" charset="0"/>
                        </a:rPr>
                        <m:t>𝑎𝑏</m:t>
                      </m:r>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2</m:t>
                              </m:r>
                            </m:e>
                            <m:e>
                              <m:r>
                                <a:rPr lang="fr-CA" b="0" i="1" smtClean="0">
                                  <a:latin typeface="Cambria Math" panose="02040503050406030204" pitchFamily="18" charset="0"/>
                                </a:rPr>
                                <m:t>2</m:t>
                              </m:r>
                            </m:e>
                          </m:eqArr>
                        </m:e>
                      </m:d>
                      <m:sSup>
                        <m:sSupPr>
                          <m:ctrlPr>
                            <a:rPr lang="fr-CA" b="0" i="1" smtClean="0">
                              <a:latin typeface="Cambria Math" panose="02040503050406030204" pitchFamily="18" charset="0"/>
                            </a:rPr>
                          </m:ctrlPr>
                        </m:sSupPr>
                        <m:e>
                          <m:r>
                            <a:rPr lang="fr-CA" b="0" i="1" smtClean="0">
                              <a:latin typeface="Cambria Math" panose="02040503050406030204" pitchFamily="18" charset="0"/>
                            </a:rPr>
                            <m:t>𝑏</m:t>
                          </m:r>
                        </m:e>
                        <m:sup>
                          <m:r>
                            <a:rPr lang="fr-CA" b="0" i="1" smtClean="0">
                              <a:latin typeface="Cambria Math" panose="02040503050406030204" pitchFamily="18" charset="0"/>
                            </a:rPr>
                            <m:t>2</m:t>
                          </m:r>
                        </m:sup>
                      </m:sSup>
                    </m:oMath>
                  </m:oMathPara>
                </a14:m>
                <a:endParaRPr lang="fr-CA" dirty="0"/>
              </a:p>
              <a:p>
                <a:r>
                  <a:rPr lang="fr-CA" dirty="0"/>
                  <a:t>De la même manière, on a:</a:t>
                </a:r>
              </a:p>
              <a:p>
                <a:pPr/>
                <a14:m>
                  <m:oMathPara xmlns:m="http://schemas.openxmlformats.org/officeDocument/2006/math">
                    <m:oMathParaPr>
                      <m:jc m:val="centerGroup"/>
                    </m:oMathParaPr>
                    <m:oMath xmlns:m="http://schemas.openxmlformats.org/officeDocument/2006/math">
                      <m:sSup>
                        <m:sSupPr>
                          <m:ctrlPr>
                            <a:rPr lang="fr-CA" i="1" smtClean="0">
                              <a:latin typeface="Cambria Math" panose="02040503050406030204" pitchFamily="18" charset="0"/>
                            </a:rPr>
                          </m:ctrlPr>
                        </m:sSupPr>
                        <m:e>
                          <m:r>
                            <a:rPr lang="fr-CA" b="0" i="1" smtClean="0">
                              <a:latin typeface="Cambria Math" panose="02040503050406030204" pitchFamily="18" charset="0"/>
                            </a:rPr>
                            <m:t>(</m:t>
                          </m:r>
                          <m:r>
                            <a:rPr lang="fr-CA" b="0" i="1" smtClean="0">
                              <a:latin typeface="Cambria Math" panose="02040503050406030204" pitchFamily="18" charset="0"/>
                            </a:rPr>
                            <m:t>𝑎</m:t>
                          </m:r>
                          <m:r>
                            <a:rPr lang="fr-CA" b="0" i="1" smtClean="0">
                              <a:latin typeface="Cambria Math" panose="02040503050406030204" pitchFamily="18" charset="0"/>
                            </a:rPr>
                            <m:t>+</m:t>
                          </m:r>
                          <m:r>
                            <a:rPr lang="fr-CA" b="0" i="1" smtClean="0">
                              <a:latin typeface="Cambria Math" panose="02040503050406030204" pitchFamily="18" charset="0"/>
                            </a:rPr>
                            <m:t>𝑏</m:t>
                          </m:r>
                          <m:r>
                            <a:rPr lang="fr-CA" b="0" i="1" smtClean="0">
                              <a:latin typeface="Cambria Math" panose="02040503050406030204" pitchFamily="18" charset="0"/>
                            </a:rPr>
                            <m:t>)</m:t>
                          </m:r>
                        </m:e>
                        <m:sup>
                          <m:r>
                            <a:rPr lang="fr-CA" b="0" i="1" smtClean="0">
                              <a:latin typeface="Cambria Math" panose="02040503050406030204" pitchFamily="18" charset="0"/>
                            </a:rPr>
                            <m:t>3</m:t>
                          </m:r>
                        </m:sup>
                      </m:sSup>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3</m:t>
                          </m:r>
                        </m:sup>
                      </m:sSup>
                      <m:r>
                        <a:rPr lang="fr-CA" b="0" i="1" smtClean="0">
                          <a:latin typeface="Cambria Math" panose="02040503050406030204" pitchFamily="18" charset="0"/>
                        </a:rPr>
                        <m:t>+3</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2</m:t>
                          </m:r>
                        </m:sup>
                      </m:sSup>
                      <m:r>
                        <a:rPr lang="fr-CA" b="0" i="1" smtClean="0">
                          <a:latin typeface="Cambria Math" panose="02040503050406030204" pitchFamily="18" charset="0"/>
                        </a:rPr>
                        <m:t>𝑏</m:t>
                      </m:r>
                      <m:r>
                        <a:rPr lang="fr-CA" b="0" i="1" smtClean="0">
                          <a:latin typeface="Cambria Math" panose="02040503050406030204" pitchFamily="18" charset="0"/>
                        </a:rPr>
                        <m:t>+3</m:t>
                      </m:r>
                      <m:r>
                        <a:rPr lang="fr-CA" b="0" i="1" smtClean="0">
                          <a:latin typeface="Cambria Math" panose="02040503050406030204" pitchFamily="18" charset="0"/>
                        </a:rPr>
                        <m:t>𝑎</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𝑏</m:t>
                          </m:r>
                        </m:e>
                        <m:sup>
                          <m:r>
                            <a:rPr lang="fr-CA" b="0" i="1" smtClean="0">
                              <a:latin typeface="Cambria Math" panose="02040503050406030204" pitchFamily="18" charset="0"/>
                            </a:rPr>
                            <m:t>2</m:t>
                          </m:r>
                        </m:sup>
                      </m:sSup>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𝑏</m:t>
                          </m:r>
                        </m:e>
                        <m:sup>
                          <m:r>
                            <a:rPr lang="fr-CA" b="0" i="1" smtClean="0">
                              <a:latin typeface="Cambria Math" panose="02040503050406030204" pitchFamily="18" charset="0"/>
                            </a:rPr>
                            <m:t>3</m:t>
                          </m:r>
                        </m:sup>
                      </m:sSup>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3</m:t>
                              </m:r>
                            </m:e>
                            <m:e>
                              <m:r>
                                <a:rPr lang="fr-CA" b="0" i="1" smtClean="0">
                                  <a:latin typeface="Cambria Math" panose="02040503050406030204" pitchFamily="18" charset="0"/>
                                </a:rPr>
                                <m:t>0</m:t>
                              </m:r>
                            </m:e>
                          </m:eqArr>
                        </m:e>
                      </m:d>
                      <m:sSup>
                        <m:sSupPr>
                          <m:ctrlPr>
                            <a:rPr lang="fr-CA" b="0"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3</m:t>
                          </m:r>
                        </m:sup>
                      </m:sSup>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3</m:t>
                              </m:r>
                            </m:e>
                            <m:e>
                              <m:r>
                                <a:rPr lang="fr-CA" b="0" i="1" smtClean="0">
                                  <a:latin typeface="Cambria Math" panose="02040503050406030204" pitchFamily="18" charset="0"/>
                                </a:rPr>
                                <m:t>1</m:t>
                              </m:r>
                            </m:e>
                          </m:eqArr>
                        </m:e>
                      </m:d>
                      <m:sSup>
                        <m:sSupPr>
                          <m:ctrlPr>
                            <a:rPr lang="fr-CA" b="0"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2</m:t>
                          </m:r>
                        </m:sup>
                      </m:sSup>
                      <m:r>
                        <a:rPr lang="fr-CA" b="0" i="1" smtClean="0">
                          <a:latin typeface="Cambria Math" panose="02040503050406030204" pitchFamily="18" charset="0"/>
                        </a:rPr>
                        <m:t>𝑏</m:t>
                      </m:r>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3</m:t>
                              </m:r>
                            </m:e>
                            <m:e>
                              <m:r>
                                <a:rPr lang="fr-CA" b="0" i="1" smtClean="0">
                                  <a:latin typeface="Cambria Math" panose="02040503050406030204" pitchFamily="18" charset="0"/>
                                </a:rPr>
                                <m:t>2</m:t>
                              </m:r>
                            </m:e>
                          </m:eqArr>
                        </m:e>
                      </m:d>
                      <m:r>
                        <a:rPr lang="fr-CA" b="0" i="1" smtClean="0">
                          <a:latin typeface="Cambria Math" panose="02040503050406030204" pitchFamily="18" charset="0"/>
                        </a:rPr>
                        <m:t>𝑎</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𝑏</m:t>
                          </m:r>
                        </m:e>
                        <m:sup>
                          <m:r>
                            <a:rPr lang="fr-CA" b="0" i="1" smtClean="0">
                              <a:latin typeface="Cambria Math" panose="02040503050406030204" pitchFamily="18" charset="0"/>
                            </a:rPr>
                            <m:t>2</m:t>
                          </m:r>
                        </m:sup>
                      </m:sSup>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3</m:t>
                              </m:r>
                            </m:e>
                            <m:e>
                              <m:r>
                                <a:rPr lang="fr-CA" b="0" i="1" smtClean="0">
                                  <a:latin typeface="Cambria Math" panose="02040503050406030204" pitchFamily="18" charset="0"/>
                                </a:rPr>
                                <m:t>3</m:t>
                              </m:r>
                            </m:e>
                          </m:eqArr>
                        </m:e>
                      </m:d>
                      <m:sSup>
                        <m:sSupPr>
                          <m:ctrlPr>
                            <a:rPr lang="fr-CA" b="0" i="1" smtClean="0">
                              <a:latin typeface="Cambria Math" panose="02040503050406030204" pitchFamily="18" charset="0"/>
                            </a:rPr>
                          </m:ctrlPr>
                        </m:sSupPr>
                        <m:e>
                          <m:r>
                            <a:rPr lang="fr-CA" b="0" i="1" smtClean="0">
                              <a:latin typeface="Cambria Math" panose="02040503050406030204" pitchFamily="18" charset="0"/>
                            </a:rPr>
                            <m:t>𝑏</m:t>
                          </m:r>
                        </m:e>
                        <m:sup>
                          <m:r>
                            <a:rPr lang="fr-CA" b="0" i="1" smtClean="0">
                              <a:latin typeface="Cambria Math" panose="02040503050406030204" pitchFamily="18" charset="0"/>
                            </a:rPr>
                            <m:t>3</m:t>
                          </m:r>
                        </m:sup>
                      </m:sSup>
                    </m:oMath>
                  </m:oMathPara>
                </a14:m>
                <a:endParaRPr lang="fr-CA" dirty="0"/>
              </a:p>
              <a:p>
                <a:endParaRPr lang="fr-CA" dirty="0"/>
              </a:p>
              <a:p>
                <a:r>
                  <a:rPr lang="fr-CA" dirty="0"/>
                  <a:t>Donc pour un entier n quelconque, on a:</a:t>
                </a:r>
              </a:p>
              <a:p>
                <a:endParaRPr lang="fr-CA" dirty="0"/>
              </a:p>
              <a:p>
                <a14:m>
                  <m:oMath xmlns:m="http://schemas.openxmlformats.org/officeDocument/2006/math">
                    <m:sSup>
                      <m:sSupPr>
                        <m:ctrlPr>
                          <a:rPr lang="fr-CA" i="1" smtClean="0">
                            <a:latin typeface="Cambria Math" panose="02040503050406030204" pitchFamily="18" charset="0"/>
                          </a:rPr>
                        </m:ctrlPr>
                      </m:sSupPr>
                      <m:e>
                        <m:r>
                          <a:rPr lang="fr-CA" b="0" i="1" smtClean="0">
                            <a:latin typeface="Cambria Math" panose="02040503050406030204" pitchFamily="18" charset="0"/>
                          </a:rPr>
                          <m:t>(</m:t>
                        </m:r>
                        <m:r>
                          <a:rPr lang="fr-CA" b="0" i="1" smtClean="0">
                            <a:latin typeface="Cambria Math" panose="02040503050406030204" pitchFamily="18" charset="0"/>
                          </a:rPr>
                          <m:t>𝑎</m:t>
                        </m:r>
                        <m:r>
                          <a:rPr lang="fr-CA" b="0" i="1" smtClean="0">
                            <a:latin typeface="Cambria Math" panose="02040503050406030204" pitchFamily="18" charset="0"/>
                          </a:rPr>
                          <m:t>+</m:t>
                        </m:r>
                        <m:r>
                          <a:rPr lang="fr-CA" b="0" i="1" smtClean="0">
                            <a:latin typeface="Cambria Math" panose="02040503050406030204" pitchFamily="18" charset="0"/>
                          </a:rPr>
                          <m:t>𝑏</m:t>
                        </m:r>
                        <m:r>
                          <a:rPr lang="fr-CA" b="0" i="1" smtClean="0">
                            <a:latin typeface="Cambria Math" panose="02040503050406030204" pitchFamily="18" charset="0"/>
                          </a:rPr>
                          <m:t>)</m:t>
                        </m:r>
                      </m:e>
                      <m:sup>
                        <m:r>
                          <a:rPr lang="fr-CA" b="0" i="1" smtClean="0">
                            <a:latin typeface="Cambria Math" panose="02040503050406030204" pitchFamily="18" charset="0"/>
                          </a:rPr>
                          <m:t>𝑛</m:t>
                        </m:r>
                      </m:sup>
                    </m:sSup>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𝑛</m:t>
                            </m:r>
                          </m:e>
                          <m:e>
                            <m:r>
                              <a:rPr lang="fr-CA" b="0" i="1" smtClean="0">
                                <a:latin typeface="Cambria Math" panose="02040503050406030204" pitchFamily="18" charset="0"/>
                              </a:rPr>
                              <m:t>0</m:t>
                            </m:r>
                          </m:e>
                        </m:eqArr>
                      </m:e>
                    </m:d>
                    <m:sSup>
                      <m:sSupPr>
                        <m:ctrlPr>
                          <a:rPr lang="fr-CA" b="0"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𝑛</m:t>
                        </m:r>
                      </m:sup>
                    </m:sSup>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𝑛</m:t>
                            </m:r>
                          </m:e>
                          <m:e>
                            <m:r>
                              <a:rPr lang="fr-CA" b="0" i="1" smtClean="0">
                                <a:latin typeface="Cambria Math" panose="02040503050406030204" pitchFamily="18" charset="0"/>
                              </a:rPr>
                              <m:t>1</m:t>
                            </m:r>
                          </m:e>
                        </m:eqArr>
                      </m:e>
                    </m:d>
                    <m:sSup>
                      <m:sSupPr>
                        <m:ctrlPr>
                          <a:rPr lang="fr-CA" b="0"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𝑛</m:t>
                        </m:r>
                        <m:r>
                          <a:rPr lang="fr-CA" b="0" i="1" smtClean="0">
                            <a:latin typeface="Cambria Math" panose="02040503050406030204" pitchFamily="18" charset="0"/>
                          </a:rPr>
                          <m:t>−1</m:t>
                        </m:r>
                      </m:sup>
                    </m:sSup>
                    <m:r>
                      <a:rPr lang="fr-CA" b="0" i="1" smtClean="0">
                        <a:latin typeface="Cambria Math" panose="02040503050406030204" pitchFamily="18" charset="0"/>
                      </a:rPr>
                      <m:t>𝑏</m:t>
                    </m:r>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𝑛</m:t>
                            </m:r>
                          </m:e>
                          <m:e>
                            <m:r>
                              <a:rPr lang="fr-CA" b="0" i="1" smtClean="0">
                                <a:latin typeface="Cambria Math" panose="02040503050406030204" pitchFamily="18" charset="0"/>
                              </a:rPr>
                              <m:t>𝑛</m:t>
                            </m:r>
                          </m:e>
                        </m:eqArr>
                      </m:e>
                    </m:d>
                    <m:sSup>
                      <m:sSupPr>
                        <m:ctrlPr>
                          <a:rPr lang="fr-CA" b="0" i="1" smtClean="0">
                            <a:latin typeface="Cambria Math" panose="02040503050406030204" pitchFamily="18" charset="0"/>
                          </a:rPr>
                        </m:ctrlPr>
                      </m:sSupPr>
                      <m:e>
                        <m:r>
                          <a:rPr lang="fr-CA" b="0" i="1" smtClean="0">
                            <a:latin typeface="Cambria Math" panose="02040503050406030204" pitchFamily="18" charset="0"/>
                          </a:rPr>
                          <m:t>𝑏</m:t>
                        </m:r>
                      </m:e>
                      <m:sup>
                        <m:r>
                          <a:rPr lang="fr-CA" b="0" i="1" smtClean="0">
                            <a:latin typeface="Cambria Math" panose="02040503050406030204" pitchFamily="18" charset="0"/>
                          </a:rPr>
                          <m:t>𝑛</m:t>
                        </m:r>
                      </m:sup>
                    </m:sSup>
                    <m:r>
                      <a:rPr lang="fr-CA" b="0" i="1" smtClean="0">
                        <a:latin typeface="Cambria Math" panose="02040503050406030204" pitchFamily="18" charset="0"/>
                      </a:rPr>
                      <m:t>=</m:t>
                    </m:r>
                    <m:nary>
                      <m:naryPr>
                        <m:chr m:val="∑"/>
                        <m:ctrlPr>
                          <a:rPr lang="fr-CA" b="0" i="1" smtClean="0">
                            <a:latin typeface="Cambria Math" panose="02040503050406030204" pitchFamily="18" charset="0"/>
                          </a:rPr>
                        </m:ctrlPr>
                      </m:naryPr>
                      <m:sub>
                        <m:r>
                          <m:rPr>
                            <m:brk m:alnAt="23"/>
                          </m:rPr>
                          <a:rPr lang="fr-CA" b="0" i="1" smtClean="0">
                            <a:latin typeface="Cambria Math" panose="02040503050406030204" pitchFamily="18" charset="0"/>
                          </a:rPr>
                          <m:t>𝑘</m:t>
                        </m:r>
                        <m:r>
                          <a:rPr lang="fr-CA" b="0" i="1" smtClean="0">
                            <a:latin typeface="Cambria Math" panose="02040503050406030204" pitchFamily="18" charset="0"/>
                          </a:rPr>
                          <m:t>=0</m:t>
                        </m:r>
                      </m:sub>
                      <m:sup>
                        <m:r>
                          <a:rPr lang="fr-CA" b="0" i="1" smtClean="0">
                            <a:latin typeface="Cambria Math" panose="02040503050406030204" pitchFamily="18" charset="0"/>
                          </a:rPr>
                          <m:t>𝑛</m:t>
                        </m:r>
                      </m:sup>
                      <m:e>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𝑛</m:t>
                                </m:r>
                              </m:e>
                              <m:e>
                                <m:r>
                                  <a:rPr lang="fr-CA" b="0" i="1" smtClean="0">
                                    <a:latin typeface="Cambria Math" panose="02040503050406030204" pitchFamily="18" charset="0"/>
                                  </a:rPr>
                                  <m:t>𝑘</m:t>
                                </m:r>
                              </m:e>
                            </m:eqArr>
                          </m:e>
                        </m:d>
                        <m:sSup>
                          <m:sSupPr>
                            <m:ctrlPr>
                              <a:rPr lang="fr-CA" b="0"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𝑛</m:t>
                            </m:r>
                            <m:r>
                              <a:rPr lang="fr-CA" b="0" i="1" smtClean="0">
                                <a:latin typeface="Cambria Math" panose="02040503050406030204" pitchFamily="18" charset="0"/>
                              </a:rPr>
                              <m:t>−</m:t>
                            </m:r>
                            <m:r>
                              <a:rPr lang="fr-CA" b="0" i="1" smtClean="0">
                                <a:latin typeface="Cambria Math" panose="02040503050406030204" pitchFamily="18" charset="0"/>
                              </a:rPr>
                              <m:t>𝑘</m:t>
                            </m:r>
                          </m:sup>
                        </m:sSup>
                        <m:sSup>
                          <m:sSupPr>
                            <m:ctrlPr>
                              <a:rPr lang="fr-CA" b="0" i="1" smtClean="0">
                                <a:latin typeface="Cambria Math" panose="02040503050406030204" pitchFamily="18" charset="0"/>
                              </a:rPr>
                            </m:ctrlPr>
                          </m:sSupPr>
                          <m:e>
                            <m:r>
                              <a:rPr lang="fr-CA" b="0" i="1" smtClean="0">
                                <a:latin typeface="Cambria Math" panose="02040503050406030204" pitchFamily="18" charset="0"/>
                              </a:rPr>
                              <m:t>𝑏</m:t>
                            </m:r>
                          </m:e>
                          <m:sup>
                            <m:r>
                              <a:rPr lang="fr-CA" b="0" i="1" smtClean="0">
                                <a:latin typeface="Cambria Math" panose="02040503050406030204" pitchFamily="18" charset="0"/>
                              </a:rPr>
                              <m:t>𝑘</m:t>
                            </m:r>
                          </m:sup>
                        </m:sSup>
                      </m:e>
                    </m:nary>
                  </m:oMath>
                </a14:m>
                <a:r>
                  <a:rPr lang="fr-CA" dirty="0"/>
                  <a:t>       (E)</a:t>
                </a:r>
              </a:p>
              <a:p>
                <a:endParaRPr lang="fr-CA" dirty="0"/>
              </a:p>
              <a:p>
                <a:r>
                  <a:rPr lang="fr-CA" dirty="0"/>
                  <a:t>Cette équation (E) s’appelle </a:t>
                </a:r>
                <a:r>
                  <a:rPr lang="fr-CA" b="1" dirty="0"/>
                  <a:t>la formule du binôme.</a:t>
                </a:r>
              </a:p>
              <a:p>
                <a:endParaRPr lang="fr-CA" b="1" dirty="0"/>
              </a:p>
              <a:p>
                <a:pPr marL="285750" indent="-285750">
                  <a:buFont typeface="Arial" panose="020B0604020202020204" pitchFamily="34" charset="0"/>
                  <a:buChar char="•"/>
                </a:pPr>
                <a:r>
                  <a:rPr lang="fr-CA" b="1" dirty="0"/>
                  <a:t>Si on pose dans (E) a=b=1, on obtient  </a:t>
                </a:r>
                <a14:m>
                  <m:oMath xmlns:m="http://schemas.openxmlformats.org/officeDocument/2006/math">
                    <m:sSup>
                      <m:sSupPr>
                        <m:ctrlPr>
                          <a:rPr lang="fr-CA" b="1" i="1" smtClean="0">
                            <a:latin typeface="Cambria Math" panose="02040503050406030204" pitchFamily="18" charset="0"/>
                          </a:rPr>
                        </m:ctrlPr>
                      </m:sSupPr>
                      <m:e>
                        <m:r>
                          <a:rPr lang="fr-CA" b="1" i="1" smtClean="0">
                            <a:latin typeface="Cambria Math" panose="02040503050406030204" pitchFamily="18" charset="0"/>
                          </a:rPr>
                          <m:t>𝟐</m:t>
                        </m:r>
                      </m:e>
                      <m:sup>
                        <m:r>
                          <a:rPr lang="fr-CA" b="1" i="1" smtClean="0">
                            <a:latin typeface="Cambria Math" panose="02040503050406030204" pitchFamily="18" charset="0"/>
                          </a:rPr>
                          <m:t>𝒏</m:t>
                        </m:r>
                      </m:sup>
                    </m:sSup>
                    <m:r>
                      <a:rPr lang="fr-CA" b="1" i="1" smtClean="0">
                        <a:latin typeface="Cambria Math" panose="02040503050406030204" pitchFamily="18" charset="0"/>
                      </a:rPr>
                      <m:t>=</m:t>
                    </m:r>
                    <m:nary>
                      <m:naryPr>
                        <m:chr m:val="∑"/>
                        <m:ctrlPr>
                          <a:rPr lang="fr-CA" b="1" i="1" smtClean="0">
                            <a:latin typeface="Cambria Math" panose="02040503050406030204" pitchFamily="18" charset="0"/>
                          </a:rPr>
                        </m:ctrlPr>
                      </m:naryPr>
                      <m:sub>
                        <m:r>
                          <m:rPr>
                            <m:brk m:alnAt="23"/>
                          </m:rPr>
                          <a:rPr lang="fr-CA" b="1" i="1" smtClean="0">
                            <a:latin typeface="Cambria Math" panose="02040503050406030204" pitchFamily="18" charset="0"/>
                          </a:rPr>
                          <m:t>𝒌</m:t>
                        </m:r>
                        <m:r>
                          <a:rPr lang="fr-CA" b="1" i="1" smtClean="0">
                            <a:latin typeface="Cambria Math" panose="02040503050406030204" pitchFamily="18" charset="0"/>
                          </a:rPr>
                          <m:t>=</m:t>
                        </m:r>
                        <m:r>
                          <a:rPr lang="fr-CA" b="1" i="1" smtClean="0">
                            <a:latin typeface="Cambria Math" panose="02040503050406030204" pitchFamily="18" charset="0"/>
                          </a:rPr>
                          <m:t>𝟎</m:t>
                        </m:r>
                      </m:sub>
                      <m:sup>
                        <m:r>
                          <a:rPr lang="fr-CA" b="1" i="1" smtClean="0">
                            <a:latin typeface="Cambria Math" panose="02040503050406030204" pitchFamily="18" charset="0"/>
                          </a:rPr>
                          <m:t>𝒏</m:t>
                        </m:r>
                      </m:sup>
                      <m:e>
                        <m:d>
                          <m:dPr>
                            <m:ctrlPr>
                              <a:rPr lang="fr-CA" b="1" i="1" smtClean="0">
                                <a:latin typeface="Cambria Math" panose="02040503050406030204" pitchFamily="18" charset="0"/>
                              </a:rPr>
                            </m:ctrlPr>
                          </m:dPr>
                          <m:e>
                            <m:eqArr>
                              <m:eqArrPr>
                                <m:ctrlPr>
                                  <a:rPr lang="fr-CA" b="1" i="1" smtClean="0">
                                    <a:latin typeface="Cambria Math" panose="02040503050406030204" pitchFamily="18" charset="0"/>
                                  </a:rPr>
                                </m:ctrlPr>
                              </m:eqArrPr>
                              <m:e>
                                <m:r>
                                  <a:rPr lang="fr-CA" b="1" i="1" smtClean="0">
                                    <a:latin typeface="Cambria Math" panose="02040503050406030204" pitchFamily="18" charset="0"/>
                                  </a:rPr>
                                  <m:t>𝒏</m:t>
                                </m:r>
                              </m:e>
                              <m:e>
                                <m:r>
                                  <a:rPr lang="fr-CA" b="1" i="1" smtClean="0">
                                    <a:latin typeface="Cambria Math" panose="02040503050406030204" pitchFamily="18" charset="0"/>
                                  </a:rPr>
                                  <m:t>𝒌</m:t>
                                </m:r>
                              </m:e>
                            </m:eqArr>
                          </m:e>
                        </m:d>
                      </m:e>
                    </m:nary>
                  </m:oMath>
                </a14:m>
                <a:endParaRPr lang="fr-CA" b="1" dirty="0"/>
              </a:p>
            </p:txBody>
          </p:sp>
        </mc:Choice>
        <mc:Fallback xmlns="">
          <p:sp>
            <p:nvSpPr>
              <p:cNvPr id="5" name="ZoneTexte 4">
                <a:extLst>
                  <a:ext uri="{FF2B5EF4-FFF2-40B4-BE49-F238E27FC236}">
                    <a16:creationId xmlns:a16="http://schemas.microsoft.com/office/drawing/2014/main" id="{D48F4764-8355-4EF2-9495-16D3A57BB00C}"/>
                  </a:ext>
                </a:extLst>
              </p:cNvPr>
              <p:cNvSpPr txBox="1">
                <a:spLocks noRot="1" noChangeAspect="1" noMove="1" noResize="1" noEditPoints="1" noAdjustHandles="1" noChangeArrowheads="1" noChangeShapeType="1" noTextEdit="1"/>
              </p:cNvSpPr>
              <p:nvPr/>
            </p:nvSpPr>
            <p:spPr>
              <a:xfrm>
                <a:off x="1031966" y="1690688"/>
                <a:ext cx="9966960" cy="3789114"/>
              </a:xfrm>
              <a:prstGeom prst="rect">
                <a:avLst/>
              </a:prstGeom>
              <a:blipFill>
                <a:blip r:embed="rId2"/>
                <a:stretch>
                  <a:fillRect l="-489" b="-15434"/>
                </a:stretch>
              </a:blipFill>
            </p:spPr>
            <p:txBody>
              <a:bodyPr/>
              <a:lstStyle/>
              <a:p>
                <a:r>
                  <a:rPr lang="fr-CA">
                    <a:noFill/>
                  </a:rPr>
                  <a:t> </a:t>
                </a:r>
              </a:p>
            </p:txBody>
          </p:sp>
        </mc:Fallback>
      </mc:AlternateContent>
    </p:spTree>
    <p:extLst>
      <p:ext uri="{BB962C8B-B14F-4D97-AF65-F5344CB8AC3E}">
        <p14:creationId xmlns:p14="http://schemas.microsoft.com/office/powerpoint/2010/main" val="2330426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8375E3B5-FFA3-45C3-B9F4-27E0AD584AF6}"/>
                  </a:ext>
                </a:extLst>
              </p:cNvPr>
              <p:cNvSpPr>
                <a:spLocks noGrp="1"/>
              </p:cNvSpPr>
              <p:nvPr>
                <p:ph type="title"/>
              </p:nvPr>
            </p:nvSpPr>
            <p:spPr/>
            <p:txBody>
              <a:bodyPr>
                <a:normAutofit/>
              </a:bodyPr>
              <a:lstStyle/>
              <a:p>
                <a:r>
                  <a:rPr lang="fr-CA" b="1" dirty="0"/>
                  <a:t>Exemple</a:t>
                </a:r>
                <a:r>
                  <a:rPr lang="fr-CA" dirty="0"/>
                  <a:t>: Déterminer le coefficient de </a:t>
                </a:r>
                <a14:m>
                  <m:oMath xmlns:m="http://schemas.openxmlformats.org/officeDocument/2006/math">
                    <m:sSup>
                      <m:sSupPr>
                        <m:ctrlPr>
                          <a:rPr lang="fr-CA" i="1" smtClean="0">
                            <a:latin typeface="Cambria Math" panose="02040503050406030204" pitchFamily="18" charset="0"/>
                          </a:rPr>
                        </m:ctrlPr>
                      </m:sSupPr>
                      <m:e>
                        <m:r>
                          <a:rPr lang="fr-CA" b="0" i="1" smtClean="0">
                            <a:latin typeface="Cambria Math" panose="02040503050406030204" pitchFamily="18" charset="0"/>
                          </a:rPr>
                          <m:t>𝑥</m:t>
                        </m:r>
                      </m:e>
                      <m:sup>
                        <m:r>
                          <a:rPr lang="fr-CA" b="0" i="1" smtClean="0">
                            <a:latin typeface="Cambria Math" panose="02040503050406030204" pitchFamily="18" charset="0"/>
                          </a:rPr>
                          <m:t>3</m:t>
                        </m:r>
                      </m:sup>
                    </m:sSup>
                    <m:sSup>
                      <m:sSupPr>
                        <m:ctrlPr>
                          <a:rPr lang="fr-CA" i="1" smtClean="0">
                            <a:latin typeface="Cambria Math" panose="02040503050406030204" pitchFamily="18" charset="0"/>
                          </a:rPr>
                        </m:ctrlPr>
                      </m:sSupPr>
                      <m:e>
                        <m:r>
                          <a:rPr lang="fr-CA" b="0" i="1" smtClean="0">
                            <a:latin typeface="Cambria Math" panose="02040503050406030204" pitchFamily="18" charset="0"/>
                          </a:rPr>
                          <m:t>𝑦</m:t>
                        </m:r>
                      </m:e>
                      <m:sup>
                        <m:r>
                          <a:rPr lang="fr-CA" b="0" i="1" smtClean="0">
                            <a:latin typeface="Cambria Math" panose="02040503050406030204" pitchFamily="18" charset="0"/>
                          </a:rPr>
                          <m:t>2</m:t>
                        </m:r>
                      </m:sup>
                    </m:sSup>
                    <m:r>
                      <a:rPr lang="fr-CA" b="0" i="1" smtClean="0">
                        <a:latin typeface="Cambria Math" panose="02040503050406030204" pitchFamily="18" charset="0"/>
                      </a:rPr>
                      <m:t>   </m:t>
                    </m:r>
                  </m:oMath>
                </a14:m>
                <a:r>
                  <a:rPr lang="fr-CA" dirty="0"/>
                  <a:t>dans le développement de </a:t>
                </a:r>
                <a14:m>
                  <m:oMath xmlns:m="http://schemas.openxmlformats.org/officeDocument/2006/math">
                    <m:sSup>
                      <m:sSupPr>
                        <m:ctrlPr>
                          <a:rPr lang="fr-CA" i="1" smtClean="0">
                            <a:latin typeface="Cambria Math" panose="02040503050406030204" pitchFamily="18" charset="0"/>
                          </a:rPr>
                        </m:ctrlPr>
                      </m:sSupPr>
                      <m:e>
                        <m:r>
                          <a:rPr lang="fr-CA" b="0" i="1" smtClean="0">
                            <a:latin typeface="Cambria Math" panose="02040503050406030204" pitchFamily="18" charset="0"/>
                          </a:rPr>
                          <m:t>(3</m:t>
                        </m:r>
                        <m:r>
                          <a:rPr lang="fr-CA" b="0" i="1" smtClean="0">
                            <a:latin typeface="Cambria Math" panose="02040503050406030204" pitchFamily="18" charset="0"/>
                          </a:rPr>
                          <m:t>𝑥</m:t>
                        </m:r>
                        <m:r>
                          <a:rPr lang="fr-CA" b="0" i="1" smtClean="0">
                            <a:latin typeface="Cambria Math" panose="02040503050406030204" pitchFamily="18" charset="0"/>
                          </a:rPr>
                          <m:t>+2</m:t>
                        </m:r>
                        <m:r>
                          <a:rPr lang="fr-CA" b="0" i="1" smtClean="0">
                            <a:latin typeface="Cambria Math" panose="02040503050406030204" pitchFamily="18" charset="0"/>
                          </a:rPr>
                          <m:t>𝑦</m:t>
                        </m:r>
                        <m:r>
                          <a:rPr lang="fr-CA" b="0" i="1" smtClean="0">
                            <a:latin typeface="Cambria Math" panose="02040503050406030204" pitchFamily="18" charset="0"/>
                          </a:rPr>
                          <m:t>)</m:t>
                        </m:r>
                      </m:e>
                      <m:sup>
                        <m:r>
                          <a:rPr lang="fr-CA" b="0" i="1" smtClean="0">
                            <a:latin typeface="Cambria Math" panose="02040503050406030204" pitchFamily="18" charset="0"/>
                          </a:rPr>
                          <m:t>5</m:t>
                        </m:r>
                      </m:sup>
                    </m:sSup>
                  </m:oMath>
                </a14:m>
                <a:endParaRPr lang="fr-CA" dirty="0"/>
              </a:p>
            </p:txBody>
          </p:sp>
        </mc:Choice>
        <mc:Fallback xmlns="">
          <p:sp>
            <p:nvSpPr>
              <p:cNvPr id="2" name="Titre 1">
                <a:extLst>
                  <a:ext uri="{FF2B5EF4-FFF2-40B4-BE49-F238E27FC236}">
                    <a16:creationId xmlns:a16="http://schemas.microsoft.com/office/drawing/2014/main" id="{8375E3B5-FFA3-45C3-B9F4-27E0AD584AF6}"/>
                  </a:ext>
                </a:extLst>
              </p:cNvPr>
              <p:cNvSpPr>
                <a:spLocks noGrp="1" noRot="1" noChangeAspect="1" noMove="1" noResize="1" noEditPoints="1" noAdjustHandles="1" noChangeArrowheads="1" noChangeShapeType="1" noTextEdit="1"/>
              </p:cNvSpPr>
              <p:nvPr>
                <p:ph type="title"/>
              </p:nvPr>
            </p:nvSpPr>
            <p:spPr>
              <a:blipFill>
                <a:blip r:embed="rId2"/>
                <a:stretch>
                  <a:fillRect l="-2377" t="-13825" b="-22120"/>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15F33B9E-2F8F-4368-B5C0-BF5BDD7F46D7}"/>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2A0505A-59D7-4B7F-AEDB-B9BA959963EA}"/>
              </a:ext>
            </a:extLst>
          </p:cNvPr>
          <p:cNvSpPr>
            <a:spLocks noGrp="1"/>
          </p:cNvSpPr>
          <p:nvPr>
            <p:ph type="sldNum" sz="quarter" idx="12"/>
          </p:nvPr>
        </p:nvSpPr>
        <p:spPr/>
        <p:txBody>
          <a:bodyPr/>
          <a:lstStyle/>
          <a:p>
            <a:fld id="{26377AD9-CE17-438C-A638-C64D2D42D7CF}" type="slidenum">
              <a:rPr lang="fr-CA" smtClean="0"/>
              <a:t>30</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C81E83A6-35D9-4D4C-ADB5-43912C50B484}"/>
                  </a:ext>
                </a:extLst>
              </p:cNvPr>
              <p:cNvSpPr txBox="1"/>
              <p:nvPr/>
            </p:nvSpPr>
            <p:spPr>
              <a:xfrm>
                <a:off x="1227909" y="2246811"/>
                <a:ext cx="9366068" cy="2964529"/>
              </a:xfrm>
              <a:prstGeom prst="rect">
                <a:avLst/>
              </a:prstGeom>
              <a:noFill/>
            </p:spPr>
            <p:txBody>
              <a:bodyPr wrap="square" rtlCol="0">
                <a:spAutoFit/>
              </a:bodyPr>
              <a:lstStyle/>
              <a:p>
                <a:r>
                  <a:rPr lang="fr-CA" dirty="0"/>
                  <a:t>D’abord  </a:t>
                </a:r>
                <a14:m>
                  <m:oMath xmlns:m="http://schemas.openxmlformats.org/officeDocument/2006/math">
                    <m:sSup>
                      <m:sSupPr>
                        <m:ctrlPr>
                          <a:rPr lang="fr-CA" i="1" smtClean="0">
                            <a:latin typeface="Cambria Math" panose="02040503050406030204" pitchFamily="18" charset="0"/>
                          </a:rPr>
                        </m:ctrlPr>
                      </m:sSupPr>
                      <m:e>
                        <m:r>
                          <a:rPr lang="fr-CA" b="0" i="1" smtClean="0">
                            <a:latin typeface="Cambria Math" panose="02040503050406030204" pitchFamily="18" charset="0"/>
                          </a:rPr>
                          <m:t>(</m:t>
                        </m:r>
                        <m:r>
                          <a:rPr lang="fr-CA" b="0" i="1" smtClean="0">
                            <a:latin typeface="Cambria Math" panose="02040503050406030204" pitchFamily="18" charset="0"/>
                          </a:rPr>
                          <m:t>𝑎</m:t>
                        </m:r>
                        <m:r>
                          <a:rPr lang="fr-CA" b="0" i="1" smtClean="0">
                            <a:latin typeface="Cambria Math" panose="02040503050406030204" pitchFamily="18" charset="0"/>
                          </a:rPr>
                          <m:t>+</m:t>
                        </m:r>
                        <m:r>
                          <a:rPr lang="fr-CA" b="0" i="1" smtClean="0">
                            <a:latin typeface="Cambria Math" panose="02040503050406030204" pitchFamily="18" charset="0"/>
                          </a:rPr>
                          <m:t>𝑏</m:t>
                        </m:r>
                        <m:r>
                          <a:rPr lang="fr-CA" b="0" i="1" smtClean="0">
                            <a:latin typeface="Cambria Math" panose="02040503050406030204" pitchFamily="18" charset="0"/>
                          </a:rPr>
                          <m:t>)</m:t>
                        </m:r>
                      </m:e>
                      <m:sup>
                        <m:r>
                          <a:rPr lang="fr-CA" b="0" i="1" smtClean="0">
                            <a:latin typeface="Cambria Math" panose="02040503050406030204" pitchFamily="18" charset="0"/>
                          </a:rPr>
                          <m:t>5</m:t>
                        </m:r>
                      </m:sup>
                    </m:sSup>
                    <m:r>
                      <a:rPr lang="fr-CA" b="0" i="1" smtClean="0">
                        <a:latin typeface="Cambria Math" panose="02040503050406030204" pitchFamily="18" charset="0"/>
                      </a:rPr>
                      <m:t>=</m:t>
                    </m:r>
                    <m:nary>
                      <m:naryPr>
                        <m:chr m:val="∑"/>
                        <m:ctrlPr>
                          <a:rPr lang="fr-CA" b="0" i="1" smtClean="0">
                            <a:latin typeface="Cambria Math" panose="02040503050406030204" pitchFamily="18" charset="0"/>
                          </a:rPr>
                        </m:ctrlPr>
                      </m:naryPr>
                      <m:sub>
                        <m:r>
                          <m:rPr>
                            <m:brk m:alnAt="23"/>
                          </m:rPr>
                          <a:rPr lang="fr-CA" b="0" i="1" smtClean="0">
                            <a:latin typeface="Cambria Math" panose="02040503050406030204" pitchFamily="18" charset="0"/>
                          </a:rPr>
                          <m:t>𝑘</m:t>
                        </m:r>
                        <m:r>
                          <a:rPr lang="fr-CA" b="0" i="1" smtClean="0">
                            <a:latin typeface="Cambria Math" panose="02040503050406030204" pitchFamily="18" charset="0"/>
                          </a:rPr>
                          <m:t>=0</m:t>
                        </m:r>
                      </m:sub>
                      <m:sup>
                        <m:r>
                          <a:rPr lang="fr-CA" b="0" i="1" smtClean="0">
                            <a:latin typeface="Cambria Math" panose="02040503050406030204" pitchFamily="18" charset="0"/>
                          </a:rPr>
                          <m:t>5</m:t>
                        </m:r>
                      </m:sup>
                      <m:e>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5</m:t>
                                </m:r>
                              </m:e>
                              <m:e>
                                <m:r>
                                  <a:rPr lang="fr-CA" b="0" i="1" smtClean="0">
                                    <a:latin typeface="Cambria Math" panose="02040503050406030204" pitchFamily="18" charset="0"/>
                                  </a:rPr>
                                  <m:t>𝑘</m:t>
                                </m:r>
                              </m:e>
                            </m:eqArr>
                          </m:e>
                        </m:d>
                      </m:e>
                    </m:nary>
                    <m:sSup>
                      <m:sSupPr>
                        <m:ctrlPr>
                          <a:rPr lang="fr-CA" b="0"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5−</m:t>
                        </m:r>
                        <m:r>
                          <a:rPr lang="fr-CA" b="0" i="1" smtClean="0">
                            <a:latin typeface="Cambria Math" panose="02040503050406030204" pitchFamily="18" charset="0"/>
                          </a:rPr>
                          <m:t>𝑘</m:t>
                        </m:r>
                      </m:sup>
                    </m:sSup>
                    <m:sSup>
                      <m:sSupPr>
                        <m:ctrlPr>
                          <a:rPr lang="fr-CA" b="0" i="1" smtClean="0">
                            <a:latin typeface="Cambria Math" panose="02040503050406030204" pitchFamily="18" charset="0"/>
                          </a:rPr>
                        </m:ctrlPr>
                      </m:sSupPr>
                      <m:e>
                        <m:r>
                          <a:rPr lang="fr-CA" b="0" i="1" smtClean="0">
                            <a:latin typeface="Cambria Math" panose="02040503050406030204" pitchFamily="18" charset="0"/>
                          </a:rPr>
                          <m:t>𝑏</m:t>
                        </m:r>
                      </m:e>
                      <m:sup>
                        <m:r>
                          <a:rPr lang="fr-CA" b="0" i="1" smtClean="0">
                            <a:latin typeface="Cambria Math" panose="02040503050406030204" pitchFamily="18" charset="0"/>
                          </a:rPr>
                          <m:t>𝑘</m:t>
                        </m:r>
                      </m:sup>
                    </m:sSup>
                  </m:oMath>
                </a14:m>
                <a:r>
                  <a:rPr lang="fr-CA" dirty="0"/>
                  <a:t>   donc le coefficient   de </a:t>
                </a:r>
                <a14:m>
                  <m:oMath xmlns:m="http://schemas.openxmlformats.org/officeDocument/2006/math">
                    <m:sSup>
                      <m:sSupPr>
                        <m:ctrlPr>
                          <a:rPr lang="fr-CA"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3</m:t>
                        </m:r>
                      </m:sup>
                    </m:sSup>
                    <m:sSup>
                      <m:sSupPr>
                        <m:ctrlPr>
                          <a:rPr lang="fr-CA" i="1" smtClean="0">
                            <a:latin typeface="Cambria Math" panose="02040503050406030204" pitchFamily="18" charset="0"/>
                          </a:rPr>
                        </m:ctrlPr>
                      </m:sSupPr>
                      <m:e>
                        <m:r>
                          <a:rPr lang="fr-CA" b="0" i="1" smtClean="0">
                            <a:latin typeface="Cambria Math" panose="02040503050406030204" pitchFamily="18" charset="0"/>
                          </a:rPr>
                          <m:t>𝑏</m:t>
                        </m:r>
                      </m:e>
                      <m:sup>
                        <m:r>
                          <a:rPr lang="fr-CA" b="0" i="1" smtClean="0">
                            <a:latin typeface="Cambria Math" panose="02040503050406030204" pitchFamily="18" charset="0"/>
                          </a:rPr>
                          <m:t>2</m:t>
                        </m:r>
                      </m:sup>
                    </m:sSup>
                  </m:oMath>
                </a14:m>
                <a:r>
                  <a:rPr lang="fr-CA" dirty="0"/>
                  <a:t>  est   </a:t>
                </a:r>
                <a14:m>
                  <m:oMath xmlns:m="http://schemas.openxmlformats.org/officeDocument/2006/math">
                    <m:d>
                      <m:dPr>
                        <m:ctrlPr>
                          <a:rPr lang="fr-CA"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5</m:t>
                            </m:r>
                          </m:e>
                          <m:e>
                            <m:r>
                              <a:rPr lang="fr-CA" b="0" i="1" smtClean="0">
                                <a:latin typeface="Cambria Math" panose="02040503050406030204" pitchFamily="18" charset="0"/>
                              </a:rPr>
                              <m:t>2</m:t>
                            </m:r>
                          </m:e>
                        </m:eqArr>
                      </m:e>
                    </m:d>
                  </m:oMath>
                </a14:m>
                <a:r>
                  <a:rPr lang="fr-CA" dirty="0"/>
                  <a:t>   </a:t>
                </a:r>
              </a:p>
              <a:p>
                <a:endParaRPr lang="fr-CA" dirty="0"/>
              </a:p>
              <a:p>
                <a:endParaRPr lang="fr-CA" dirty="0"/>
              </a:p>
              <a:p>
                <a:r>
                  <a:rPr lang="fr-CA" dirty="0"/>
                  <a:t>D’autre part si on pose:</a:t>
                </a:r>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𝑎</m:t>
                      </m:r>
                      <m:r>
                        <a:rPr lang="fr-CA" b="0" i="1" smtClean="0">
                          <a:latin typeface="Cambria Math" panose="02040503050406030204" pitchFamily="18" charset="0"/>
                        </a:rPr>
                        <m:t>=3</m:t>
                      </m:r>
                      <m:r>
                        <a:rPr lang="fr-CA" b="0" i="1" smtClean="0">
                          <a:latin typeface="Cambria Math" panose="02040503050406030204" pitchFamily="18" charset="0"/>
                        </a:rPr>
                        <m:t>𝑥</m:t>
                      </m:r>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𝑏</m:t>
                      </m:r>
                      <m:r>
                        <a:rPr lang="fr-CA" b="0" i="1" smtClean="0">
                          <a:latin typeface="Cambria Math" panose="02040503050406030204" pitchFamily="18" charset="0"/>
                        </a:rPr>
                        <m:t>=2</m:t>
                      </m:r>
                      <m:r>
                        <a:rPr lang="fr-CA" b="0" i="1" smtClean="0">
                          <a:latin typeface="Cambria Math" panose="02040503050406030204" pitchFamily="18" charset="0"/>
                        </a:rPr>
                        <m:t>𝑦</m:t>
                      </m:r>
                      <m:r>
                        <a:rPr lang="fr-CA" b="0" i="1" smtClean="0">
                          <a:latin typeface="Cambria Math" panose="02040503050406030204" pitchFamily="18" charset="0"/>
                        </a:rPr>
                        <m:t>   </m:t>
                      </m:r>
                      <m:r>
                        <a:rPr lang="fr-CA" b="0" i="1" smtClean="0">
                          <a:latin typeface="Cambria Math" panose="02040503050406030204" pitchFamily="18" charset="0"/>
                        </a:rPr>
                        <m:t>𝑜𝑛</m:t>
                      </m:r>
                      <m:r>
                        <a:rPr lang="fr-CA" b="0" i="1" smtClean="0">
                          <a:latin typeface="Cambria Math" panose="02040503050406030204" pitchFamily="18" charset="0"/>
                        </a:rPr>
                        <m:t> </m:t>
                      </m:r>
                      <m:r>
                        <a:rPr lang="fr-CA" b="0" i="1" smtClean="0">
                          <a:latin typeface="Cambria Math" panose="02040503050406030204" pitchFamily="18" charset="0"/>
                        </a:rPr>
                        <m:t>𝑎</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𝑎</m:t>
                          </m:r>
                        </m:e>
                        <m:sup>
                          <m:r>
                            <a:rPr lang="fr-CA" b="0" i="1" smtClean="0">
                              <a:latin typeface="Cambria Math" panose="02040503050406030204" pitchFamily="18" charset="0"/>
                            </a:rPr>
                            <m:t>3</m:t>
                          </m:r>
                        </m:sup>
                      </m:sSup>
                      <m:sSup>
                        <m:sSupPr>
                          <m:ctrlPr>
                            <a:rPr lang="fr-CA" b="0" i="1" smtClean="0">
                              <a:latin typeface="Cambria Math" panose="02040503050406030204" pitchFamily="18" charset="0"/>
                            </a:rPr>
                          </m:ctrlPr>
                        </m:sSupPr>
                        <m:e>
                          <m:r>
                            <a:rPr lang="fr-CA" b="0" i="1" smtClean="0">
                              <a:latin typeface="Cambria Math" panose="02040503050406030204" pitchFamily="18" charset="0"/>
                            </a:rPr>
                            <m:t>𝑏</m:t>
                          </m:r>
                        </m:e>
                        <m:sup>
                          <m:r>
                            <a:rPr lang="fr-CA" b="0" i="1" smtClean="0">
                              <a:latin typeface="Cambria Math" panose="02040503050406030204" pitchFamily="18" charset="0"/>
                            </a:rPr>
                            <m:t>2</m:t>
                          </m:r>
                        </m:sup>
                      </m:sSup>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r>
                            <a:rPr lang="fr-CA" b="0" i="1" smtClean="0">
                              <a:latin typeface="Cambria Math" panose="02040503050406030204" pitchFamily="18" charset="0"/>
                            </a:rPr>
                            <m:t>3</m:t>
                          </m:r>
                        </m:e>
                        <m:sup>
                          <m:r>
                            <a:rPr lang="fr-CA" b="0" i="1" smtClean="0">
                              <a:latin typeface="Cambria Math" panose="02040503050406030204" pitchFamily="18" charset="0"/>
                            </a:rPr>
                            <m:t>3</m:t>
                          </m:r>
                        </m:sup>
                      </m:sSup>
                      <m:sSup>
                        <m:sSupPr>
                          <m:ctrlPr>
                            <a:rPr lang="fr-CA" b="0" i="1" smtClean="0">
                              <a:latin typeface="Cambria Math" panose="02040503050406030204" pitchFamily="18" charset="0"/>
                            </a:rPr>
                          </m:ctrlPr>
                        </m:sSupPr>
                        <m:e>
                          <m:r>
                            <a:rPr lang="fr-CA" b="0" i="1" smtClean="0">
                              <a:latin typeface="Cambria Math" panose="02040503050406030204" pitchFamily="18" charset="0"/>
                            </a:rPr>
                            <m:t>2</m:t>
                          </m:r>
                        </m:e>
                        <m:sup>
                          <m:r>
                            <a:rPr lang="fr-CA" b="0" i="1" smtClean="0">
                              <a:latin typeface="Cambria Math" panose="02040503050406030204" pitchFamily="18" charset="0"/>
                            </a:rPr>
                            <m:t>2</m:t>
                          </m:r>
                        </m:sup>
                      </m:sSup>
                      <m:sSup>
                        <m:sSupPr>
                          <m:ctrlPr>
                            <a:rPr lang="fr-CA" b="0" i="1" smtClean="0">
                              <a:latin typeface="Cambria Math" panose="02040503050406030204" pitchFamily="18" charset="0"/>
                            </a:rPr>
                          </m:ctrlPr>
                        </m:sSupPr>
                        <m:e>
                          <m:r>
                            <a:rPr lang="fr-CA" b="0" i="1" smtClean="0">
                              <a:latin typeface="Cambria Math" panose="02040503050406030204" pitchFamily="18" charset="0"/>
                            </a:rPr>
                            <m:t>𝑥</m:t>
                          </m:r>
                        </m:e>
                        <m:sup>
                          <m:r>
                            <a:rPr lang="fr-CA" b="0" i="1" smtClean="0">
                              <a:latin typeface="Cambria Math" panose="02040503050406030204" pitchFamily="18" charset="0"/>
                            </a:rPr>
                            <m:t>3</m:t>
                          </m:r>
                        </m:sup>
                      </m:sSup>
                      <m:sSup>
                        <m:sSupPr>
                          <m:ctrlPr>
                            <a:rPr lang="fr-CA" b="0" i="1" smtClean="0">
                              <a:latin typeface="Cambria Math" panose="02040503050406030204" pitchFamily="18" charset="0"/>
                            </a:rPr>
                          </m:ctrlPr>
                        </m:sSupPr>
                        <m:e>
                          <m:r>
                            <a:rPr lang="fr-CA" b="0" i="1" smtClean="0">
                              <a:latin typeface="Cambria Math" panose="02040503050406030204" pitchFamily="18" charset="0"/>
                            </a:rPr>
                            <m:t>𝑦</m:t>
                          </m:r>
                        </m:e>
                        <m:sup>
                          <m:r>
                            <a:rPr lang="fr-CA" b="0" i="1" smtClean="0">
                              <a:latin typeface="Cambria Math" panose="02040503050406030204" pitchFamily="18" charset="0"/>
                            </a:rPr>
                            <m:t>2</m:t>
                          </m:r>
                        </m:sup>
                      </m:sSup>
                    </m:oMath>
                  </m:oMathPara>
                </a14:m>
                <a:endParaRPr lang="fr-CA" dirty="0"/>
              </a:p>
              <a:p>
                <a:endParaRPr lang="fr-CA" dirty="0"/>
              </a:p>
              <a:p>
                <a:endParaRPr lang="fr-CA" dirty="0"/>
              </a:p>
              <a:p>
                <a:r>
                  <a:rPr lang="fr-CA" dirty="0"/>
                  <a:t>Donc le coefficient de </a:t>
                </a:r>
                <a14:m>
                  <m:oMath xmlns:m="http://schemas.openxmlformats.org/officeDocument/2006/math">
                    <m:sSup>
                      <m:sSupPr>
                        <m:ctrlPr>
                          <a:rPr lang="fr-CA" i="1" smtClean="0">
                            <a:latin typeface="Cambria Math" panose="02040503050406030204" pitchFamily="18" charset="0"/>
                          </a:rPr>
                        </m:ctrlPr>
                      </m:sSupPr>
                      <m:e>
                        <m:r>
                          <a:rPr lang="fr-CA" b="0" i="1" smtClean="0">
                            <a:latin typeface="Cambria Math" panose="02040503050406030204" pitchFamily="18" charset="0"/>
                          </a:rPr>
                          <m:t>𝑥</m:t>
                        </m:r>
                      </m:e>
                      <m:sup>
                        <m:r>
                          <a:rPr lang="fr-CA" b="0" i="1" smtClean="0">
                            <a:latin typeface="Cambria Math" panose="02040503050406030204" pitchFamily="18" charset="0"/>
                          </a:rPr>
                          <m:t>3</m:t>
                        </m:r>
                      </m:sup>
                    </m:sSup>
                    <m:sSup>
                      <m:sSupPr>
                        <m:ctrlPr>
                          <a:rPr lang="fr-CA" i="1" smtClean="0">
                            <a:latin typeface="Cambria Math" panose="02040503050406030204" pitchFamily="18" charset="0"/>
                          </a:rPr>
                        </m:ctrlPr>
                      </m:sSupPr>
                      <m:e>
                        <m:r>
                          <a:rPr lang="fr-CA" b="0" i="1" smtClean="0">
                            <a:latin typeface="Cambria Math" panose="02040503050406030204" pitchFamily="18" charset="0"/>
                          </a:rPr>
                          <m:t>𝑦</m:t>
                        </m:r>
                      </m:e>
                      <m:sup>
                        <m:r>
                          <a:rPr lang="fr-CA" b="0" i="1" smtClean="0">
                            <a:latin typeface="Cambria Math" panose="02040503050406030204" pitchFamily="18" charset="0"/>
                          </a:rPr>
                          <m:t>2</m:t>
                        </m:r>
                      </m:sup>
                    </m:sSup>
                  </m:oMath>
                </a14:m>
                <a:r>
                  <a:rPr lang="fr-CA" dirty="0"/>
                  <a:t>    est </a:t>
                </a:r>
                <a14:m>
                  <m:oMath xmlns:m="http://schemas.openxmlformats.org/officeDocument/2006/math">
                    <m:sSup>
                      <m:sSupPr>
                        <m:ctrlPr>
                          <a:rPr lang="fr-CA" i="1">
                            <a:latin typeface="Cambria Math" panose="02040503050406030204" pitchFamily="18" charset="0"/>
                          </a:rPr>
                        </m:ctrlPr>
                      </m:sSupPr>
                      <m:e>
                        <m:r>
                          <a:rPr lang="fr-CA" b="0" i="1" smtClean="0">
                            <a:latin typeface="Cambria Math" panose="02040503050406030204" pitchFamily="18" charset="0"/>
                          </a:rPr>
                          <m:t>       </m:t>
                        </m:r>
                        <m:d>
                          <m:dPr>
                            <m:ctrlPr>
                              <a:rPr lang="fr-CA"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5</m:t>
                                </m:r>
                              </m:e>
                              <m:e>
                                <m:r>
                                  <a:rPr lang="fr-CA" b="0" i="1" smtClean="0">
                                    <a:latin typeface="Cambria Math" panose="02040503050406030204" pitchFamily="18" charset="0"/>
                                  </a:rPr>
                                  <m:t>2</m:t>
                                </m:r>
                              </m:e>
                            </m:eqArr>
                          </m:e>
                        </m:d>
                        <m:r>
                          <a:rPr lang="fr-CA" i="1">
                            <a:latin typeface="Cambria Math" panose="02040503050406030204" pitchFamily="18" charset="0"/>
                          </a:rPr>
                          <m:t>3</m:t>
                        </m:r>
                      </m:e>
                      <m:sup>
                        <m:r>
                          <a:rPr lang="fr-CA" b="0" i="1" smtClean="0">
                            <a:latin typeface="Cambria Math" panose="02040503050406030204" pitchFamily="18" charset="0"/>
                          </a:rPr>
                          <m:t>3</m:t>
                        </m:r>
                      </m:sup>
                    </m:sSup>
                    <m:sSup>
                      <m:sSupPr>
                        <m:ctrlPr>
                          <a:rPr lang="fr-CA" i="1">
                            <a:latin typeface="Cambria Math" panose="02040503050406030204" pitchFamily="18" charset="0"/>
                          </a:rPr>
                        </m:ctrlPr>
                      </m:sSupPr>
                      <m:e>
                        <m:r>
                          <a:rPr lang="fr-CA" i="1">
                            <a:latin typeface="Cambria Math" panose="02040503050406030204" pitchFamily="18" charset="0"/>
                          </a:rPr>
                          <m:t>2</m:t>
                        </m:r>
                      </m:e>
                      <m:sup>
                        <m:r>
                          <a:rPr lang="fr-CA" i="1">
                            <a:latin typeface="Cambria Math" panose="02040503050406030204" pitchFamily="18" charset="0"/>
                          </a:rPr>
                          <m:t>2</m:t>
                        </m:r>
                      </m:sup>
                    </m:sSup>
                    <m:sSup>
                      <m:sSupPr>
                        <m:ctrlPr>
                          <a:rPr lang="fr-CA" i="1">
                            <a:latin typeface="Cambria Math" panose="02040503050406030204" pitchFamily="18" charset="0"/>
                          </a:rPr>
                        </m:ctrlPr>
                      </m:sSupPr>
                      <m:e>
                        <m:r>
                          <a:rPr lang="fr-CA" i="1">
                            <a:latin typeface="Cambria Math" panose="02040503050406030204" pitchFamily="18" charset="0"/>
                          </a:rPr>
                          <m:t>𝑥</m:t>
                        </m:r>
                      </m:e>
                      <m:sup>
                        <m:r>
                          <a:rPr lang="fr-CA" i="1">
                            <a:latin typeface="Cambria Math" panose="02040503050406030204" pitchFamily="18" charset="0"/>
                          </a:rPr>
                          <m:t>3</m:t>
                        </m:r>
                      </m:sup>
                    </m:sSup>
                    <m:sSup>
                      <m:sSupPr>
                        <m:ctrlPr>
                          <a:rPr lang="fr-CA" i="1">
                            <a:latin typeface="Cambria Math" panose="02040503050406030204" pitchFamily="18" charset="0"/>
                          </a:rPr>
                        </m:ctrlPr>
                      </m:sSupPr>
                      <m:e>
                        <m:r>
                          <a:rPr lang="fr-CA" i="1">
                            <a:latin typeface="Cambria Math" panose="02040503050406030204" pitchFamily="18" charset="0"/>
                          </a:rPr>
                          <m:t>𝑦</m:t>
                        </m:r>
                      </m:e>
                      <m:sup>
                        <m:r>
                          <a:rPr lang="fr-CA" i="1">
                            <a:latin typeface="Cambria Math" panose="02040503050406030204" pitchFamily="18" charset="0"/>
                          </a:rPr>
                          <m:t>2</m:t>
                        </m:r>
                      </m:sup>
                    </m:sSup>
                  </m:oMath>
                </a14:m>
                <a:endParaRPr lang="fr-CA" dirty="0"/>
              </a:p>
            </p:txBody>
          </p:sp>
        </mc:Choice>
        <mc:Fallback xmlns="">
          <p:sp>
            <p:nvSpPr>
              <p:cNvPr id="5" name="ZoneTexte 4">
                <a:extLst>
                  <a:ext uri="{FF2B5EF4-FFF2-40B4-BE49-F238E27FC236}">
                    <a16:creationId xmlns:a16="http://schemas.microsoft.com/office/drawing/2014/main" id="{C81E83A6-35D9-4D4C-ADB5-43912C50B484}"/>
                  </a:ext>
                </a:extLst>
              </p:cNvPr>
              <p:cNvSpPr txBox="1">
                <a:spLocks noRot="1" noChangeAspect="1" noMove="1" noResize="1" noEditPoints="1" noAdjustHandles="1" noChangeArrowheads="1" noChangeShapeType="1" noTextEdit="1"/>
              </p:cNvSpPr>
              <p:nvPr/>
            </p:nvSpPr>
            <p:spPr>
              <a:xfrm>
                <a:off x="1227909" y="2246811"/>
                <a:ext cx="9366068" cy="2964529"/>
              </a:xfrm>
              <a:prstGeom prst="rect">
                <a:avLst/>
              </a:prstGeom>
              <a:blipFill>
                <a:blip r:embed="rId3"/>
                <a:stretch>
                  <a:fillRect l="-520"/>
                </a:stretch>
              </a:blipFill>
            </p:spPr>
            <p:txBody>
              <a:bodyPr/>
              <a:lstStyle/>
              <a:p>
                <a:r>
                  <a:rPr lang="fr-CA">
                    <a:noFill/>
                  </a:rPr>
                  <a:t> </a:t>
                </a:r>
              </a:p>
            </p:txBody>
          </p:sp>
        </mc:Fallback>
      </mc:AlternateContent>
    </p:spTree>
    <p:extLst>
      <p:ext uri="{BB962C8B-B14F-4D97-AF65-F5344CB8AC3E}">
        <p14:creationId xmlns:p14="http://schemas.microsoft.com/office/powerpoint/2010/main" val="3893974619"/>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3218</Words>
  <Application>Microsoft Office PowerPoint</Application>
  <PresentationFormat>Grand écran</PresentationFormat>
  <Paragraphs>255</Paragraphs>
  <Slides>30</Slides>
  <Notes>7</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30</vt:i4>
      </vt:variant>
    </vt:vector>
  </HeadingPairs>
  <TitlesOfParts>
    <vt:vector size="37" baseType="lpstr">
      <vt:lpstr>Arial</vt:lpstr>
      <vt:lpstr>Calibri</vt:lpstr>
      <vt:lpstr>Calibri Light</vt:lpstr>
      <vt:lpstr>Cambria Math</vt:lpstr>
      <vt:lpstr>HelveticaNeueLT Std Cn</vt:lpstr>
      <vt:lpstr>Times New Roman</vt:lpstr>
      <vt:lpstr>Office Theme</vt:lpstr>
      <vt:lpstr>P3: Lorsqu’on a 3 événements. P(A∪B∪C)=P(A)+P(B)+P(C)-P(A∩B) -P(A∩C)-P(B∩C)+P(A∩B∩C)</vt:lpstr>
      <vt:lpstr>EXEMPLE 1:</vt:lpstr>
      <vt:lpstr>RÉPONSE:</vt:lpstr>
      <vt:lpstr>EXEMPLE 2:</vt:lpstr>
      <vt:lpstr>RÉPONSE:</vt:lpstr>
      <vt:lpstr>EXERCICE 1: On lance une pièce de monnaie trois fois et on note le côté obtenu à chaque lancer. a) Décrivez en extension l’espace échantillonnal S. b) Décrivez en extension les événements suivants et calculez leur probabilité. A : Obtenir exactement deux piles B : N’obtenir que des faces. C : Obtenir plus de piles que de faces D : Obtenir autant de piles que de faces.  (a) S={fff,ffp,fpf,pff,fpp,pfp,ppf,ppp} (b) A={fpp,pfp,ppf};   B={fff}      ;  C={fpp,pfp,ppf,ppp};      D=impossible=∅  </vt:lpstr>
      <vt:lpstr>EXERCICE 2: Soient 2 événements tels que: P(A)=0,5 ;  P(B)=0,6   et P(A∪B)=0,87  (a) Déterminer P(A∩B) (b) Déterminer P(A^′∪B^′) Réponse:  (a) On sait que P(A∩B)=P(A)+P(B)-P(A∪B)=0,5+0,6-0,87=0,23  (b) P(A^′∪B^′ )=P((A∩B)^′ )=1-P(A∩B)=1-0,23=0,77  </vt:lpstr>
      <vt:lpstr>LECTURE2: Les événements équiprobables</vt:lpstr>
      <vt:lpstr>Le principe de multiplication</vt:lpstr>
      <vt:lpstr>EXEMPLE 1: Au restaurant, une personne doit choisir une entrée parmi les quatre entrées offertes, un plat parmi les trois plats principaux offerts, un dessert parmi les cinq desserts au menu et une boisson parmi huit boissons offertes. De combien de façons peut-elle composer son repas ? </vt:lpstr>
      <vt:lpstr>EXEMPLE 2: En Amérique du Nord, les numéros de téléphone sont formés de 3 chiffres (dont le premier ne doit pas être nul) qui donnent le code régional et qui sont suivis de 7 autres chiffres. (a) Combien de codes régionaux sont possibles? (b) Pour un code régional, combien de numéros de téléphone sont possibles? (c) Combien de numéros de téléphone sont possibles?    </vt:lpstr>
      <vt:lpstr>Le principe d’addition</vt:lpstr>
      <vt:lpstr>EXEMPLE: Une urne contient six jetons noirs et sept jetons rouges. On tire successivement deux jetons au hasard et sans remise. a) Combien de résultats sont possibles ? b) Combien de fois   les jetons tirés sont de couleurs différentes ? c) Quelle est la probabilité que les jetons tirés soient de couleurs différentes ?   </vt:lpstr>
      <vt:lpstr>Permutations d’objets distincts</vt:lpstr>
      <vt:lpstr>EXEMPLE 1: On veut former des mots de passe de 4 lettres en utilisant les lettres « a », « b », « c » et « d », sans répétition de la même lettre. a) Combien de mots de passe peut-on former ? b) Combien de ces mots de passe commencent par « d » ? c) Quelle est la probabilité de tomber au hasard sur un mot de passe commençant par « d » ? </vt:lpstr>
      <vt:lpstr>EXEMPLE 2: Un groupe de 7 Français, 3 Américains et 5 Canadiens en randonnée dans le parc de la Gatineau veulent faire une photo de groupe en disposant tout le groupe sur une seule rangée. a) De combien de façons peuvent-ils s’y prendre s’ils ne font aucune distinction de nationalité ? b) De combien de façons peuvent-ils s’y prendre s’ils veulent placer côte à côte les participants de même nationalité ? c) Quelle est la probabilité que la situation décrite en b) se réalise si on laisse la rangée se former au hasard ? d) Quelle est la probabilité que les 5 Canadiens ne se retrouvent pas côte à côte si on laisse la rangée se former au hasard ? </vt:lpstr>
      <vt:lpstr>Suite:</vt:lpstr>
      <vt:lpstr>ARRANGEMENTS.</vt:lpstr>
      <vt:lpstr>EXEMPLE 1: (a) Combien de mots de 5 lettres peut-on former? (b) Combien de mots de 5 lettres différentes peut-on former ? (c) Combien de mots de 5 lettres différentes peut-0n former, commençant et finissant par une voyelle?</vt:lpstr>
      <vt:lpstr>COMBINAISONS  Lorsqu’on a n éléments et qu’on veuille en choisir k à la fois, on parle de combinaisons. Le nombre de combinaisons possibles est: (█(n@k))=n!/k!(n-k)!=〖nC〗_k Remarques: . L’ordre n’est pas important. . Combinaison commence par la même lettre que choisir.   </vt:lpstr>
      <vt:lpstr>EXEMPLE 1: On a 12 composantes électriques, on veut en choisir 4 de combien de manières peut-on s’y prendre?</vt:lpstr>
      <vt:lpstr>EXEMPLE 2: Marie a 15 copines. Elle décide d’en inviter 10 à son anniversaire. a) De combien de façons peut-elle faire ses invitations ? b) Si deux de ses copines sont de très bonnes amies et que Marie ne peut pas les inviter l’une sans l’autre, de combien de façons peut-elle faire ses invitations ? c) Si deux de ses copines ne s’entendent pas du tout et que Marie ne peut donc pas les inviter ensemble, de combien de façons peut-elle faire ses invitations ?</vt:lpstr>
      <vt:lpstr>Exemple 3: Une boîte contient 8 boules blanches, 6 boules rouges et 7 boules noires. On en choisit 5 au hasard. a) Combien de possibilités y a-t-il ? b) Quelle est la probabilité que, parmi les 5 boules tirées, il y en ait 2 blanches, 2 rouges et 1 noires ? </vt:lpstr>
      <vt:lpstr>Permutations d’objets partiellement distinguables </vt:lpstr>
      <vt:lpstr>Les diagrammes en arbres </vt:lpstr>
      <vt:lpstr>Réponse: a)</vt:lpstr>
      <vt:lpstr>Suite: b)</vt:lpstr>
      <vt:lpstr>Exemple 2:Un couple a trois enfants. a) Dressez un diagramme en arbre donnant toutes les possibilités en ce qui a trait au sexe des enfants. b) Quelle est la probabilité que ce couple ait exactement deux filles ?  </vt:lpstr>
      <vt:lpstr>La formule du binôme</vt:lpstr>
      <vt:lpstr>Exemple: Déterminer le coefficient de x^3 y^2    dans le développement de 〖(3x+2y)〗^5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événements équiprobables</dc:title>
  <dc:creator>Mhammed Mountassir</dc:creator>
  <cp:lastModifiedBy>Mhammed Mountassir</cp:lastModifiedBy>
  <cp:revision>8</cp:revision>
  <dcterms:created xsi:type="dcterms:W3CDTF">2020-09-15T11:12:29Z</dcterms:created>
  <dcterms:modified xsi:type="dcterms:W3CDTF">2021-09-14T11:46:36Z</dcterms:modified>
</cp:coreProperties>
</file>