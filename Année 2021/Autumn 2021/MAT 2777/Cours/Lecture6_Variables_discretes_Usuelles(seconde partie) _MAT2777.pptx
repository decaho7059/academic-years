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7"/>
  </p:notesMasterIdLst>
  <p:sldIdLst>
    <p:sldId id="256" r:id="rId2"/>
    <p:sldId id="257" r:id="rId3"/>
    <p:sldId id="258" r:id="rId4"/>
    <p:sldId id="259" r:id="rId5"/>
    <p:sldId id="268" r:id="rId6"/>
    <p:sldId id="260" r:id="rId7"/>
    <p:sldId id="261" r:id="rId8"/>
    <p:sldId id="267" r:id="rId9"/>
    <p:sldId id="262" r:id="rId10"/>
    <p:sldId id="263" r:id="rId11"/>
    <p:sldId id="264" r:id="rId12"/>
    <p:sldId id="265"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57" autoAdjust="0"/>
  </p:normalViewPr>
  <p:slideViewPr>
    <p:cSldViewPr snapToGrid="0">
      <p:cViewPr varScale="1">
        <p:scale>
          <a:sx n="99" d="100"/>
          <a:sy n="99"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2021-09-27</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2021-09-27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2021-09-27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2021-09-27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2021-09-27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2021-09-27</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2021-09-27</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2021-09-27</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2021-09-27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2021-09-27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2021-09-27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2021-09-27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2021-09-27</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AE69AC-EA7C-4D37-98B4-004466F87CC5}"/>
              </a:ext>
            </a:extLst>
          </p:cNvPr>
          <p:cNvSpPr>
            <a:spLocks noGrp="1"/>
          </p:cNvSpPr>
          <p:nvPr>
            <p:ph type="title"/>
          </p:nvPr>
        </p:nvSpPr>
        <p:spPr/>
        <p:txBody>
          <a:bodyPr/>
          <a:lstStyle/>
          <a:p>
            <a:r>
              <a:rPr lang="fr-CA" b="1" dirty="0"/>
              <a:t>III: La loi géométrique</a:t>
            </a:r>
          </a:p>
        </p:txBody>
      </p:sp>
      <p:sp>
        <p:nvSpPr>
          <p:cNvPr id="3" name="Espace réservé du pied de page 2">
            <a:extLst>
              <a:ext uri="{FF2B5EF4-FFF2-40B4-BE49-F238E27FC236}">
                <a16:creationId xmlns:a16="http://schemas.microsoft.com/office/drawing/2014/main" id="{4DAF7D2C-4214-45AD-9102-2B29A54EC8E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E837BA3-C82B-4E50-9621-0A55C00F69A3}"/>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1CD935A-B8BF-4FB3-810B-DB5D2B90C525}"/>
                  </a:ext>
                </a:extLst>
              </p:cNvPr>
              <p:cNvSpPr txBox="1"/>
              <p:nvPr/>
            </p:nvSpPr>
            <p:spPr>
              <a:xfrm>
                <a:off x="1149530" y="1214847"/>
                <a:ext cx="10032275" cy="4675319"/>
              </a:xfrm>
              <a:prstGeom prst="rect">
                <a:avLst/>
              </a:prstGeom>
              <a:noFill/>
            </p:spPr>
            <p:txBody>
              <a:bodyPr wrap="square" rtlCol="0">
                <a:spAutoFit/>
              </a:bodyPr>
              <a:lstStyle/>
              <a:p>
                <a:r>
                  <a:rPr lang="fr-CA" dirty="0"/>
                  <a:t>Soit une expérience de Bernoulli, dans laquelle on a succès avec une probabilité p (constante), on la répète jusqu’à avoir le premier succès. Donc ce qui est aléatoire ici, c’est</a:t>
                </a:r>
              </a:p>
              <a:p>
                <a:r>
                  <a:rPr lang="fr-CA" dirty="0"/>
                  <a:t>X: Le nombre de fois qu’on doit répéter cette expérience pour avoir le premier succès, cette variable peut prendre les valeurs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𝑆𝑢𝑝𝑝</m:t>
                        </m:r>
                      </m:e>
                      <m:sub>
                        <m:r>
                          <a:rPr lang="fr-CA" b="0" i="1" smtClean="0">
                            <a:latin typeface="Cambria Math" panose="02040503050406030204" pitchFamily="18" charset="0"/>
                          </a:rPr>
                          <m:t>𝑋</m:t>
                        </m:r>
                      </m:sub>
                    </m:sSub>
                    <m:r>
                      <a:rPr lang="fr-CA" b="0" i="1" smtClean="0">
                        <a:latin typeface="Cambria Math" panose="02040503050406030204" pitchFamily="18" charset="0"/>
                      </a:rPr>
                      <m:t>=1,2,………</m:t>
                    </m:r>
                  </m:oMath>
                </a14:m>
                <a:endParaRPr lang="fr-CA" b="0" dirty="0"/>
              </a:p>
              <a:p>
                <a:pPr marL="285750" indent="-285750">
                  <a:buFont typeface="Arial" panose="020B0604020202020204" pitchFamily="34" charset="0"/>
                  <a:buChar char="•"/>
                </a:pPr>
                <a:r>
                  <a:rPr lang="fr-CA" dirty="0"/>
                  <a:t>Cette variable aléatoire s’appelle loi géométrique de paramètre p et on la note </a:t>
                </a:r>
                <a14:m>
                  <m:oMath xmlns:m="http://schemas.openxmlformats.org/officeDocument/2006/math">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𝐺</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𝑝</m:t>
                        </m:r>
                      </m:e>
                    </m:d>
                    <m:r>
                      <a:rPr lang="fr-CA" b="0" i="1" smtClean="0">
                        <a:latin typeface="Cambria Math" panose="02040503050406030204" pitchFamily="18" charset="0"/>
                        <a:ea typeface="Cambria Math" panose="02040503050406030204" pitchFamily="18" charset="0"/>
                      </a:rPr>
                      <m:t>.</m:t>
                    </m:r>
                  </m:oMath>
                </a14:m>
                <a:endParaRPr lang="fr-CA" dirty="0"/>
              </a:p>
              <a:p>
                <a:pPr marL="285750" indent="-285750">
                  <a:buFont typeface="Arial" panose="020B0604020202020204" pitchFamily="34" charset="0"/>
                  <a:buChar char="•"/>
                </a:pPr>
                <a:r>
                  <a:rPr lang="fr-CA" dirty="0"/>
                  <a:t>Sa fonction de masse des probabilités est  </a:t>
                </a:r>
                <a14:m>
                  <m:oMath xmlns:m="http://schemas.openxmlformats.org/officeDocument/2006/math">
                    <m:r>
                      <a:rPr lang="fr-CA" b="0" i="1" smtClean="0">
                        <a:latin typeface="Cambria Math" panose="02040503050406030204" pitchFamily="18" charset="0"/>
                      </a:rPr>
                      <m:t>𝑓</m:t>
                    </m:r>
                    <m:d>
                      <m:dPr>
                        <m:ctrlPr>
                          <a:rPr lang="fr-CA" b="0" i="1" smtClean="0">
                            <a:latin typeface="Cambria Math" panose="02040503050406030204" pitchFamily="18" charset="0"/>
                          </a:rPr>
                        </m:ctrlPr>
                      </m:dPr>
                      <m:e>
                        <m:r>
                          <a:rPr lang="fr-CA" b="0" i="1" smtClean="0">
                            <a:latin typeface="Cambria Math" panose="02040503050406030204" pitchFamily="18" charset="0"/>
                          </a:rPr>
                          <m:t>𝑘</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𝑞</m:t>
                        </m:r>
                      </m:e>
                      <m:sup>
                        <m:r>
                          <a:rPr lang="fr-CA" b="0" i="1" smtClean="0">
                            <a:latin typeface="Cambria Math" panose="02040503050406030204" pitchFamily="18" charset="0"/>
                          </a:rPr>
                          <m:t>𝑘</m:t>
                        </m:r>
                        <m:r>
                          <a:rPr lang="fr-CA" b="0" i="1" smtClean="0">
                            <a:latin typeface="Cambria Math" panose="02040503050406030204" pitchFamily="18" charset="0"/>
                          </a:rPr>
                          <m:t>−1</m:t>
                        </m:r>
                      </m:sup>
                    </m:sSup>
                    <m:r>
                      <a:rPr lang="fr-CA" b="0" i="1" smtClean="0">
                        <a:latin typeface="Cambria Math" panose="02040503050406030204" pitchFamily="18" charset="0"/>
                      </a:rPr>
                      <m:t>𝑝</m:t>
                    </m:r>
                    <m:r>
                      <a:rPr lang="fr-CA" b="0" i="1" smtClean="0">
                        <a:latin typeface="Cambria Math" panose="02040503050406030204" pitchFamily="18" charset="0"/>
                      </a:rPr>
                      <m:t>      </m:t>
                    </m:r>
                    <m:r>
                      <a:rPr lang="fr-CA" b="0" i="1" smtClean="0">
                        <a:latin typeface="Cambria Math" panose="02040503050406030204" pitchFamily="18" charset="0"/>
                      </a:rPr>
                      <m:t>𝑝𝑜𝑢𝑟</m:t>
                    </m:r>
                    <m:r>
                      <a:rPr lang="fr-CA" b="0" i="1" smtClean="0">
                        <a:latin typeface="Cambria Math" panose="02040503050406030204" pitchFamily="18" charset="0"/>
                      </a:rPr>
                      <m:t> </m:t>
                    </m:r>
                    <m:r>
                      <a:rPr lang="fr-CA" b="0" i="1" smtClean="0">
                        <a:latin typeface="Cambria Math" panose="02040503050406030204" pitchFamily="18" charset="0"/>
                      </a:rPr>
                      <m:t>𝑘</m:t>
                    </m:r>
                    <m:r>
                      <a:rPr lang="fr-CA" b="0" i="1" smtClean="0">
                        <a:latin typeface="Cambria Math" panose="02040503050406030204" pitchFamily="18" charset="0"/>
                      </a:rPr>
                      <m:t>=1,2,…..</m:t>
                    </m:r>
                  </m:oMath>
                </a14:m>
                <a:endParaRPr lang="fr-CA" dirty="0"/>
              </a:p>
              <a:p>
                <a:pPr marL="285750" indent="-285750">
                  <a:buFont typeface="Arial" panose="020B0604020202020204" pitchFamily="34" charset="0"/>
                  <a:buChar char="•"/>
                </a:pPr>
                <a:r>
                  <a:rPr lang="fr-CA" dirty="0"/>
                  <a:t>On a aussi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𝑝</m:t>
                        </m:r>
                      </m:den>
                    </m:f>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𝑞</m:t>
                        </m:r>
                      </m:num>
                      <m:den>
                        <m:sSup>
                          <m:sSupPr>
                            <m:ctrlPr>
                              <a:rPr lang="fr-CA" b="0" i="1" smtClean="0">
                                <a:latin typeface="Cambria Math" panose="02040503050406030204" pitchFamily="18" charset="0"/>
                              </a:rPr>
                            </m:ctrlPr>
                          </m:sSupPr>
                          <m:e>
                            <m:r>
                              <a:rPr lang="fr-CA" b="0" i="1" smtClean="0">
                                <a:latin typeface="Cambria Math" panose="02040503050406030204" pitchFamily="18" charset="0"/>
                              </a:rPr>
                              <m:t>𝑝</m:t>
                            </m:r>
                          </m:e>
                          <m:sup>
                            <m:r>
                              <a:rPr lang="fr-CA" b="0" i="1" smtClean="0">
                                <a:latin typeface="Cambria Math" panose="02040503050406030204" pitchFamily="18" charset="0"/>
                              </a:rPr>
                              <m:t>2</m:t>
                            </m:r>
                          </m:sup>
                        </m:sSup>
                      </m:den>
                    </m:f>
                  </m:oMath>
                </a14:m>
                <a:r>
                  <a:rPr lang="fr-CA" dirty="0"/>
                  <a:t>.</a:t>
                </a:r>
              </a:p>
              <a:p>
                <a:pPr marL="285750" indent="-285750">
                  <a:buFont typeface="Arial" panose="020B0604020202020204" pitchFamily="34" charset="0"/>
                  <a:buChar char="•"/>
                </a:pPr>
                <a:endParaRPr lang="fr-CA" dirty="0"/>
              </a:p>
              <a:p>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b="1" dirty="0"/>
                  <a:t>ATTENTION:</a:t>
                </a:r>
                <a:r>
                  <a:rPr lang="fr-CA" dirty="0"/>
                  <a:t> Le logiciel R, définit une loi géométrique comme étant le nombre d’échecs avant d’avoir le premier succès.</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Donc si on a une loi géométrique X: Le nombre de répétitions pour avoir le 1</a:t>
                </a:r>
                <a:r>
                  <a:rPr lang="fr-CA" baseline="30000" dirty="0"/>
                  <a:t>er</a:t>
                </a:r>
                <a:r>
                  <a:rPr lang="fr-CA" dirty="0"/>
                  <a:t> succès et qu’on veuille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   </m:t>
                    </m:r>
                    <m:r>
                      <a:rPr lang="fr-CA" b="0" i="1" smtClean="0">
                        <a:latin typeface="Cambria Math" panose="02040503050406030204" pitchFamily="18" charset="0"/>
                      </a:rPr>
                      <m:t>𝑖𝑙</m:t>
                    </m:r>
                    <m:r>
                      <a:rPr lang="fr-CA" b="0" i="1" smtClean="0">
                        <a:latin typeface="Cambria Math" panose="02040503050406030204" pitchFamily="18" charset="0"/>
                      </a:rPr>
                      <m:t> </m:t>
                    </m:r>
                    <m:r>
                      <a:rPr lang="fr-CA" b="0" i="1" smtClean="0">
                        <a:latin typeface="Cambria Math" panose="02040503050406030204" pitchFamily="18" charset="0"/>
                      </a:rPr>
                      <m:t>𝑓𝑎𝑢𝑡</m:t>
                    </m:r>
                    <m:r>
                      <a:rPr lang="fr-CA" b="0" i="1" smtClean="0">
                        <a:latin typeface="Cambria Math" panose="02040503050406030204" pitchFamily="18" charset="0"/>
                      </a:rPr>
                      <m:t> </m:t>
                    </m:r>
                    <m:r>
                      <a:rPr lang="fr-CA" b="0" i="1" smtClean="0">
                        <a:latin typeface="Cambria Math" panose="02040503050406030204" pitchFamily="18" charset="0"/>
                      </a:rPr>
                      <m:t>𝑡𝑎𝑝𝑒𝑟</m:t>
                    </m:r>
                    <m:r>
                      <a:rPr lang="fr-CA" b="0" i="1" smtClean="0">
                        <a:latin typeface="Cambria Math" panose="02040503050406030204" pitchFamily="18" charset="0"/>
                      </a:rPr>
                      <m:t> </m:t>
                    </m:r>
                    <m:r>
                      <a:rPr lang="fr-CA" b="0" i="1" smtClean="0">
                        <a:latin typeface="Cambria Math" panose="02040503050406030204" pitchFamily="18" charset="0"/>
                      </a:rPr>
                      <m:t>𝑑𝑔𝑒𝑜𝑚</m:t>
                    </m:r>
                    <m:r>
                      <a:rPr lang="fr-CA" b="0" i="1" smtClean="0">
                        <a:latin typeface="Cambria Math" panose="02040503050406030204" pitchFamily="18" charset="0"/>
                      </a:rPr>
                      <m:t>(</m:t>
                    </m:r>
                    <m:r>
                      <a:rPr lang="fr-CA" b="0" i="1" smtClean="0">
                        <a:latin typeface="Cambria Math" panose="02040503050406030204" pitchFamily="18" charset="0"/>
                      </a:rPr>
                      <m:t>𝑘</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oMath>
                </a14:m>
                <a:endParaRPr lang="fr-CA" dirty="0"/>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𝑖𝑙</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𝑓𝑎𝑢𝑡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𝑝𝑔𝑒𝑜𝑚</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𝑘</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m:t>
                    </m:r>
                    <m:r>
                      <a:rPr lang="fr-CA" b="0" i="1" smtClean="0">
                        <a:latin typeface="Cambria Math" panose="02040503050406030204" pitchFamily="18" charset="0"/>
                        <a:ea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01CD935A-B8BF-4FB3-810B-DB5D2B90C525}"/>
                  </a:ext>
                </a:extLst>
              </p:cNvPr>
              <p:cNvSpPr txBox="1">
                <a:spLocks noRot="1" noChangeAspect="1" noMove="1" noResize="1" noEditPoints="1" noAdjustHandles="1" noChangeArrowheads="1" noChangeShapeType="1" noTextEdit="1"/>
              </p:cNvSpPr>
              <p:nvPr/>
            </p:nvSpPr>
            <p:spPr>
              <a:xfrm>
                <a:off x="1149530" y="1214847"/>
                <a:ext cx="10032275" cy="4675319"/>
              </a:xfrm>
              <a:prstGeom prst="rect">
                <a:avLst/>
              </a:prstGeom>
              <a:blipFill>
                <a:blip r:embed="rId2"/>
                <a:stretch>
                  <a:fillRect l="-547" t="-652" r="-851" b="-1173"/>
                </a:stretch>
              </a:blipFill>
            </p:spPr>
            <p:txBody>
              <a:bodyPr/>
              <a:lstStyle/>
              <a:p>
                <a:r>
                  <a:rPr lang="fr-CA">
                    <a:noFill/>
                  </a:rPr>
                  <a:t> </a:t>
                </a:r>
              </a:p>
            </p:txBody>
          </p:sp>
        </mc:Fallback>
      </mc:AlternateContent>
    </p:spTree>
    <p:extLst>
      <p:ext uri="{BB962C8B-B14F-4D97-AF65-F5344CB8AC3E}">
        <p14:creationId xmlns:p14="http://schemas.microsoft.com/office/powerpoint/2010/main" val="981215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1A65A7-451C-45E8-B10C-EFEF916A1B71}"/>
              </a:ext>
            </a:extLst>
          </p:cNvPr>
          <p:cNvSpPr>
            <a:spLocks noGrp="1"/>
          </p:cNvSpPr>
          <p:nvPr>
            <p:ph type="title"/>
          </p:nvPr>
        </p:nvSpPr>
        <p:spPr>
          <a:xfrm>
            <a:off x="838200" y="365125"/>
            <a:ext cx="10515600" cy="1777184"/>
          </a:xfrm>
        </p:spPr>
        <p:txBody>
          <a:bodyPr>
            <a:normAutofit/>
          </a:bodyPr>
          <a:lstStyle/>
          <a:p>
            <a:r>
              <a:rPr lang="fr-CA" dirty="0"/>
              <a:t>Exemple: </a:t>
            </a:r>
            <a:r>
              <a:rPr lang="fr-FR" sz="1800" dirty="0">
                <a:effectLst/>
                <a:latin typeface="Calibri" panose="020F0502020204030204" pitchFamily="34" charset="0"/>
                <a:ea typeface="Times New Roman" panose="02020603050405020304" pitchFamily="18" charset="0"/>
              </a:rPr>
              <a:t>Supposons que, lors de la transmission d’un signal, il y ait deux possibilités : soit que ce signal arrive correctement au destinataire, ce qui se produit dans 99 % des cas, soit qu’il arrive déformé, ce qui se produit dans 1 % des cas.</a:t>
            </a:r>
            <a:br>
              <a:rPr lang="fr-FR" sz="1800" dirty="0">
                <a:effectLst/>
                <a:latin typeface="Calibri" panose="020F0502020204030204" pitchFamily="34" charset="0"/>
                <a:ea typeface="Times New Roman" panose="02020603050405020304" pitchFamily="18" charset="0"/>
              </a:rPr>
            </a:br>
            <a:r>
              <a:rPr lang="fr-FR" sz="1800" dirty="0">
                <a:effectLst/>
                <a:latin typeface="Calibri" panose="020F0502020204030204" pitchFamily="34" charset="0"/>
                <a:ea typeface="Times New Roman" panose="02020603050405020304" pitchFamily="18" charset="0"/>
              </a:rPr>
              <a:t>(a) Calculer la probabilité de transmettre au moins 10 signaux avant d’observer le premier signal déformé.</a:t>
            </a:r>
            <a:br>
              <a:rPr lang="fr-FR" sz="1800" dirty="0">
                <a:effectLst/>
                <a:latin typeface="Calibri" panose="020F0502020204030204" pitchFamily="34" charset="0"/>
                <a:ea typeface="Times New Roman" panose="02020603050405020304" pitchFamily="18" charset="0"/>
              </a:rPr>
            </a:br>
            <a:r>
              <a:rPr lang="fr-FR" sz="1800" dirty="0">
                <a:effectLst/>
                <a:latin typeface="Calibri" panose="020F0502020204030204" pitchFamily="34" charset="0"/>
                <a:ea typeface="Times New Roman" panose="02020603050405020304" pitchFamily="18" charset="0"/>
              </a:rPr>
              <a:t>(b)  Quel est l’écart-type du nombre de signaux à transmettre pour avoir un premier signal déformé ? </a:t>
            </a:r>
            <a:endParaRPr lang="fr-CA" dirty="0"/>
          </a:p>
        </p:txBody>
      </p:sp>
      <p:sp>
        <p:nvSpPr>
          <p:cNvPr id="3" name="Espace réservé du pied de page 2">
            <a:extLst>
              <a:ext uri="{FF2B5EF4-FFF2-40B4-BE49-F238E27FC236}">
                <a16:creationId xmlns:a16="http://schemas.microsoft.com/office/drawing/2014/main" id="{728F16AB-8C42-403B-9513-576484AF104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6B417D7-D09E-416D-B50B-6CB43DAF4504}"/>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2E67723E-8A72-4452-9392-DFDC2E957D27}"/>
                  </a:ext>
                </a:extLst>
              </p:cNvPr>
              <p:cNvSpPr txBox="1"/>
              <p:nvPr/>
            </p:nvSpPr>
            <p:spPr>
              <a:xfrm>
                <a:off x="1123406" y="2547257"/>
                <a:ext cx="9797143" cy="2226572"/>
              </a:xfrm>
              <a:prstGeom prst="rect">
                <a:avLst/>
              </a:prstGeom>
              <a:noFill/>
            </p:spPr>
            <p:txBody>
              <a:bodyPr wrap="square" rtlCol="0">
                <a:spAutoFit/>
              </a:bodyPr>
              <a:lstStyle/>
              <a:p>
                <a:r>
                  <a:rPr lang="fr-CA" dirty="0"/>
                  <a:t>Soit X: Le nombre de signaux à transmettre avant d’observer le 1</a:t>
                </a:r>
                <a:r>
                  <a:rPr lang="fr-CA" baseline="30000" dirty="0"/>
                  <a:t>er</a:t>
                </a:r>
                <a:r>
                  <a:rPr lang="fr-CA" dirty="0"/>
                  <a:t> déformé.</a:t>
                </a:r>
              </a:p>
              <a:p>
                <a:r>
                  <a:rPr lang="fr-CA" dirty="0"/>
                  <a:t>Alors cette variable est géométrique de paramètre p= 0,01</a:t>
                </a:r>
              </a:p>
              <a:p>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≥10</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𝑑𝑜𝑖𝑡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𝑡𝑎𝑝𝑒𝑟</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𝑝𝑔𝑒𝑜𝑚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8,0.01</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 0,9135</m:t>
                    </m:r>
                  </m:oMath>
                </a14:m>
                <a:endParaRPr lang="fr-CA" dirty="0"/>
              </a:p>
              <a:p>
                <a:pPr marL="342900" indent="-342900">
                  <a:buAutoNum type="alphaLcParenBoth"/>
                </a:pPr>
                <a:endParaRPr lang="fr-CA" dirty="0"/>
              </a:p>
              <a:p>
                <a:pPr marL="342900" indent="-342900">
                  <a:buAutoNum type="alphaLcParenBoth"/>
                </a:pPr>
                <a:endParaRPr lang="fr-CA" dirty="0"/>
              </a:p>
              <a:p>
                <a:pPr marL="342900" indent="-342900">
                  <a:buAutoNum type="alphaLcParenBoth"/>
                </a:pP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𝑞</m:t>
                            </m:r>
                          </m:e>
                        </m:rad>
                      </m:num>
                      <m:den>
                        <m:r>
                          <a:rPr lang="fr-CA" b="0" i="1" smtClean="0">
                            <a:latin typeface="Cambria Math" panose="02040503050406030204" pitchFamily="18" charset="0"/>
                          </a:rPr>
                          <m:t>𝑝</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0,99</m:t>
                            </m:r>
                          </m:e>
                        </m:rad>
                      </m:num>
                      <m:den>
                        <m:r>
                          <a:rPr lang="fr-CA" b="0" i="1" smtClean="0">
                            <a:latin typeface="Cambria Math" panose="02040503050406030204" pitchFamily="18" charset="0"/>
                          </a:rPr>
                          <m:t>0,01</m:t>
                        </m:r>
                      </m:den>
                    </m:f>
                    <m:r>
                      <a:rPr lang="fr-CA" b="0" i="1" smtClean="0">
                        <a:latin typeface="Cambria Math" panose="02040503050406030204" pitchFamily="18" charset="0"/>
                      </a:rPr>
                      <m:t>=99,4987</m:t>
                    </m:r>
                  </m:oMath>
                </a14:m>
                <a:endParaRPr lang="fr-CA" dirty="0"/>
              </a:p>
            </p:txBody>
          </p:sp>
        </mc:Choice>
        <mc:Fallback xmlns="">
          <p:sp>
            <p:nvSpPr>
              <p:cNvPr id="6" name="ZoneTexte 5">
                <a:extLst>
                  <a:ext uri="{FF2B5EF4-FFF2-40B4-BE49-F238E27FC236}">
                    <a16:creationId xmlns:a16="http://schemas.microsoft.com/office/drawing/2014/main" id="{2E67723E-8A72-4452-9392-DFDC2E957D27}"/>
                  </a:ext>
                </a:extLst>
              </p:cNvPr>
              <p:cNvSpPr txBox="1">
                <a:spLocks noRot="1" noChangeAspect="1" noMove="1" noResize="1" noEditPoints="1" noAdjustHandles="1" noChangeArrowheads="1" noChangeShapeType="1" noTextEdit="1"/>
              </p:cNvSpPr>
              <p:nvPr/>
            </p:nvSpPr>
            <p:spPr>
              <a:xfrm>
                <a:off x="1123406" y="2547257"/>
                <a:ext cx="9797143" cy="2226572"/>
              </a:xfrm>
              <a:prstGeom prst="rect">
                <a:avLst/>
              </a:prstGeom>
              <a:blipFill>
                <a:blip r:embed="rId2"/>
                <a:stretch>
                  <a:fillRect l="-498" t="-1644"/>
                </a:stretch>
              </a:blipFill>
            </p:spPr>
            <p:txBody>
              <a:bodyPr/>
              <a:lstStyle/>
              <a:p>
                <a:r>
                  <a:rPr lang="fr-CA">
                    <a:noFill/>
                  </a:rPr>
                  <a:t> </a:t>
                </a:r>
              </a:p>
            </p:txBody>
          </p:sp>
        </mc:Fallback>
      </mc:AlternateContent>
    </p:spTree>
    <p:extLst>
      <p:ext uri="{BB962C8B-B14F-4D97-AF65-F5344CB8AC3E}">
        <p14:creationId xmlns:p14="http://schemas.microsoft.com/office/powerpoint/2010/main" val="481256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BFB12D-0B2A-497B-810A-540042C49EB2}"/>
              </a:ext>
            </a:extLst>
          </p:cNvPr>
          <p:cNvSpPr>
            <a:spLocks noGrp="1"/>
          </p:cNvSpPr>
          <p:nvPr>
            <p:ph type="title"/>
          </p:nvPr>
        </p:nvSpPr>
        <p:spPr/>
        <p:txBody>
          <a:bodyPr/>
          <a:lstStyle/>
          <a:p>
            <a:r>
              <a:rPr lang="fr-CA" b="1" dirty="0"/>
              <a:t>IV. La loi binomiale négative</a:t>
            </a:r>
          </a:p>
        </p:txBody>
      </p:sp>
      <p:sp>
        <p:nvSpPr>
          <p:cNvPr id="3" name="Espace réservé du pied de page 2">
            <a:extLst>
              <a:ext uri="{FF2B5EF4-FFF2-40B4-BE49-F238E27FC236}">
                <a16:creationId xmlns:a16="http://schemas.microsoft.com/office/drawing/2014/main" id="{C48499A4-AAD8-4A4F-A344-925EE422F22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B6E3219-1D85-4401-98D8-6D043C5D8747}"/>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CD42AF0-D6FA-454A-830C-86DF9F8DD29B}"/>
                  </a:ext>
                </a:extLst>
              </p:cNvPr>
              <p:cNvSpPr txBox="1"/>
              <p:nvPr/>
            </p:nvSpPr>
            <p:spPr>
              <a:xfrm>
                <a:off x="1149530" y="1201783"/>
                <a:ext cx="9980024" cy="5668027"/>
              </a:xfrm>
              <a:prstGeom prst="rect">
                <a:avLst/>
              </a:prstGeom>
              <a:noFill/>
            </p:spPr>
            <p:txBody>
              <a:bodyPr wrap="square" rtlCol="0">
                <a:spAutoFit/>
              </a:bodyPr>
              <a:lstStyle/>
              <a:p>
                <a:r>
                  <a:rPr lang="fr-CA" dirty="0"/>
                  <a:t>Soit une expérience de Bernoulli, dans laquelle on a succès avec une probabilité p (constante), on la répète jusqu’à avoir le </a:t>
                </a:r>
                <a:r>
                  <a:rPr lang="fr-CA" dirty="0" err="1"/>
                  <a:t>rième</a:t>
                </a:r>
                <a:r>
                  <a:rPr lang="fr-CA" dirty="0"/>
                  <a:t>  succès avec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𝑟</m:t>
                        </m:r>
                        <m:r>
                          <a:rPr lang="fr-CA" b="0" i="1" smtClean="0">
                            <a:latin typeface="Cambria Math" panose="02040503050406030204" pitchFamily="18" charset="0"/>
                            <a:ea typeface="Cambria Math" panose="02040503050406030204" pitchFamily="18" charset="0"/>
                          </a:rPr>
                          <m:t>≥1</m:t>
                        </m:r>
                      </m:e>
                    </m:d>
                  </m:oMath>
                </a14:m>
                <a:r>
                  <a:rPr lang="fr-CA" dirty="0"/>
                  <a:t>. Donc ce qui est aléatoire ici, c’est</a:t>
                </a:r>
              </a:p>
              <a:p>
                <a:r>
                  <a:rPr lang="fr-CA" dirty="0"/>
                  <a:t>X: Le nombre de fois qu’on doit répéter cette expérience pour avoir le  succès numéro r, cette variable peut prendre les valeurs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𝑆𝑢𝑝𝑝</m:t>
                        </m:r>
                      </m:e>
                      <m:sub>
                        <m:r>
                          <a:rPr lang="fr-CA" b="0" i="1" smtClean="0">
                            <a:latin typeface="Cambria Math" panose="02040503050406030204" pitchFamily="18" charset="0"/>
                          </a:rPr>
                          <m:t>𝑋</m:t>
                        </m:r>
                      </m:sub>
                    </m:sSub>
                    <m:r>
                      <a:rPr lang="fr-CA" b="0" i="1" smtClean="0">
                        <a:latin typeface="Cambria Math" panose="02040503050406030204" pitchFamily="18" charset="0"/>
                      </a:rPr>
                      <m:t>=</m:t>
                    </m:r>
                    <m:r>
                      <a:rPr lang="fr-CA" b="0" i="1" smtClean="0">
                        <a:latin typeface="Cambria Math" panose="02040503050406030204" pitchFamily="18" charset="0"/>
                      </a:rPr>
                      <m:t>𝑟</m:t>
                    </m:r>
                    <m:r>
                      <a:rPr lang="fr-CA" b="0" i="1" smtClean="0">
                        <a:latin typeface="Cambria Math" panose="02040503050406030204" pitchFamily="18" charset="0"/>
                      </a:rPr>
                      <m:t>,(</m:t>
                    </m:r>
                    <m:r>
                      <a:rPr lang="fr-CA" b="0" i="1" smtClean="0">
                        <a:latin typeface="Cambria Math" panose="02040503050406030204" pitchFamily="18" charset="0"/>
                      </a:rPr>
                      <m:t>𝑟</m:t>
                    </m:r>
                    <m:r>
                      <a:rPr lang="fr-CA" b="0" i="1" smtClean="0">
                        <a:latin typeface="Cambria Math" panose="02040503050406030204" pitchFamily="18" charset="0"/>
                      </a:rPr>
                      <m:t>+2),………</m:t>
                    </m:r>
                  </m:oMath>
                </a14:m>
                <a:endParaRPr lang="fr-CA" b="0" dirty="0"/>
              </a:p>
              <a:p>
                <a:pPr marL="285750" indent="-285750">
                  <a:buFont typeface="Arial" panose="020B0604020202020204" pitchFamily="34" charset="0"/>
                  <a:buChar char="•"/>
                </a:pPr>
                <a:r>
                  <a:rPr lang="fr-CA" dirty="0"/>
                  <a:t>Cette variable aléatoire s’appelle loi binomiale négative de paramètre  r  et p;</a:t>
                </a:r>
              </a:p>
              <a:p>
                <a:r>
                  <a:rPr lang="fr-CA" dirty="0"/>
                  <a:t> on la note </a:t>
                </a:r>
                <a14:m>
                  <m:oMath xmlns:m="http://schemas.openxmlformats.org/officeDocument/2006/math">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𝐵𝑁</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𝑟</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m:t>
                        </m:r>
                      </m:e>
                    </m:d>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𝑘</m:t>
                            </m:r>
                            <m:r>
                              <a:rPr lang="fr-CA" b="0" i="1" smtClean="0">
                                <a:latin typeface="Cambria Math" panose="02040503050406030204" pitchFamily="18" charset="0"/>
                              </a:rPr>
                              <m:t>−1</m:t>
                            </m:r>
                          </m:e>
                          <m:e>
                            <m:r>
                              <a:rPr lang="fr-CA" b="0" i="1" smtClean="0">
                                <a:latin typeface="Cambria Math" panose="02040503050406030204" pitchFamily="18" charset="0"/>
                              </a:rPr>
                              <m:t>𝑟</m:t>
                            </m:r>
                            <m:r>
                              <a:rPr lang="fr-CA" b="0" i="1" smtClean="0">
                                <a:latin typeface="Cambria Math" panose="02040503050406030204" pitchFamily="18" charset="0"/>
                              </a:rPr>
                              <m:t>−1</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𝑞</m:t>
                        </m:r>
                      </m:e>
                      <m:sup>
                        <m:r>
                          <a:rPr lang="fr-CA" b="0" i="1" smtClean="0">
                            <a:latin typeface="Cambria Math" panose="02040503050406030204" pitchFamily="18" charset="0"/>
                          </a:rPr>
                          <m:t>𝑘</m:t>
                        </m:r>
                        <m:r>
                          <a:rPr lang="fr-CA" b="0" i="1" smtClean="0">
                            <a:latin typeface="Cambria Math" panose="02040503050406030204" pitchFamily="18" charset="0"/>
                          </a:rPr>
                          <m:t>−</m:t>
                        </m:r>
                        <m:r>
                          <a:rPr lang="fr-CA" b="0" i="1" smtClean="0">
                            <a:latin typeface="Cambria Math" panose="02040503050406030204" pitchFamily="18" charset="0"/>
                          </a:rPr>
                          <m:t>𝑟</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𝑝</m:t>
                        </m:r>
                      </m:e>
                      <m:sup>
                        <m:r>
                          <a:rPr lang="fr-CA" b="0" i="1" smtClean="0">
                            <a:latin typeface="Cambria Math" panose="02040503050406030204" pitchFamily="18" charset="0"/>
                          </a:rPr>
                          <m:t>𝑟</m:t>
                        </m:r>
                        <m:r>
                          <a:rPr lang="fr-CA" b="0" i="1" smtClean="0">
                            <a:latin typeface="Cambria Math" panose="02040503050406030204" pitchFamily="18" charset="0"/>
                          </a:rPr>
                          <m:t>   </m:t>
                        </m:r>
                      </m:sup>
                    </m:sSup>
                  </m:oMath>
                </a14:m>
                <a:r>
                  <a:rPr lang="fr-CA" dirty="0"/>
                  <a:t>   pour k=r, (r+1),………</a:t>
                </a: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𝑟</m:t>
                        </m:r>
                      </m:num>
                      <m:den>
                        <m:r>
                          <a:rPr lang="fr-CA" b="0" i="1" smtClean="0">
                            <a:latin typeface="Cambria Math" panose="02040503050406030204" pitchFamily="18" charset="0"/>
                          </a:rPr>
                          <m:t>𝑝</m:t>
                        </m:r>
                      </m:den>
                    </m:f>
                    <m:r>
                      <a:rPr lang="fr-CA" b="0" i="1" smtClean="0">
                        <a:latin typeface="Cambria Math" panose="02040503050406030204" pitchFamily="18" charset="0"/>
                      </a:rPr>
                      <m:t>           ;      </m:t>
                    </m:r>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𝑟𝑞</m:t>
                        </m:r>
                      </m:num>
                      <m:den>
                        <m:sSup>
                          <m:sSupPr>
                            <m:ctrlPr>
                              <a:rPr lang="fr-CA" b="0" i="1" smtClean="0">
                                <a:latin typeface="Cambria Math" panose="02040503050406030204" pitchFamily="18" charset="0"/>
                              </a:rPr>
                            </m:ctrlPr>
                          </m:sSupPr>
                          <m:e>
                            <m:r>
                              <a:rPr lang="fr-CA" b="0" i="1" smtClean="0">
                                <a:latin typeface="Cambria Math" panose="02040503050406030204" pitchFamily="18" charset="0"/>
                              </a:rPr>
                              <m:t>𝑝</m:t>
                            </m:r>
                          </m:e>
                          <m:sup>
                            <m:r>
                              <a:rPr lang="fr-CA" b="0" i="1" smtClean="0">
                                <a:latin typeface="Cambria Math" panose="02040503050406030204" pitchFamily="18" charset="0"/>
                              </a:rPr>
                              <m:t>2</m:t>
                            </m:r>
                          </m:sup>
                        </m:sSup>
                      </m:den>
                    </m:f>
                  </m:oMath>
                </a14:m>
                <a:r>
                  <a:rPr lang="fr-CA" dirty="0"/>
                  <a:t>.</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b="1" dirty="0"/>
                  <a:t>ATTENTION:</a:t>
                </a:r>
                <a:r>
                  <a:rPr lang="fr-CA" dirty="0"/>
                  <a:t> Le logiciel R, définit une loi binomiale négative comme étant le nombre d’échecs avant d’avoir le </a:t>
                </a:r>
                <a:r>
                  <a:rPr lang="fr-CA" dirty="0" err="1"/>
                  <a:t>rième</a:t>
                </a:r>
                <a:r>
                  <a:rPr lang="fr-CA" dirty="0"/>
                  <a:t> succès.</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Donc si on a une loi binomiale négative X: Le nombre de répétitions pour avoir le </a:t>
                </a:r>
                <a:r>
                  <a:rPr lang="fr-CA" dirty="0" err="1"/>
                  <a:t>rième</a:t>
                </a:r>
                <a:r>
                  <a:rPr lang="fr-CA" dirty="0"/>
                  <a:t>  succès et qu’on veuille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   </m:t>
                    </m:r>
                    <m:r>
                      <a:rPr lang="fr-CA" b="0" i="1" smtClean="0">
                        <a:latin typeface="Cambria Math" panose="02040503050406030204" pitchFamily="18" charset="0"/>
                      </a:rPr>
                      <m:t>𝑖𝑙</m:t>
                    </m:r>
                    <m:r>
                      <a:rPr lang="fr-CA" b="0" i="1" smtClean="0">
                        <a:latin typeface="Cambria Math" panose="02040503050406030204" pitchFamily="18" charset="0"/>
                      </a:rPr>
                      <m:t> </m:t>
                    </m:r>
                    <m:r>
                      <a:rPr lang="fr-CA" b="0" i="1" smtClean="0">
                        <a:latin typeface="Cambria Math" panose="02040503050406030204" pitchFamily="18" charset="0"/>
                      </a:rPr>
                      <m:t>𝑓𝑎𝑢𝑡</m:t>
                    </m:r>
                    <m:r>
                      <a:rPr lang="fr-CA" b="0" i="1" smtClean="0">
                        <a:latin typeface="Cambria Math" panose="02040503050406030204" pitchFamily="18" charset="0"/>
                      </a:rPr>
                      <m:t> </m:t>
                    </m:r>
                    <m:r>
                      <a:rPr lang="fr-CA" b="0" i="1" smtClean="0">
                        <a:latin typeface="Cambria Math" panose="02040503050406030204" pitchFamily="18" charset="0"/>
                      </a:rPr>
                      <m:t>𝑡𝑎𝑝𝑒𝑟</m:t>
                    </m:r>
                    <m:r>
                      <a:rPr lang="fr-CA" b="0" i="1" smtClean="0">
                        <a:latin typeface="Cambria Math" panose="02040503050406030204" pitchFamily="18" charset="0"/>
                      </a:rPr>
                      <m:t> </m:t>
                    </m:r>
                    <m:r>
                      <a:rPr lang="fr-CA" b="0" i="1" smtClean="0">
                        <a:latin typeface="Cambria Math" panose="02040503050406030204" pitchFamily="18" charset="0"/>
                      </a:rPr>
                      <m:t>𝑑𝑛𝑏𝑖𝑛𝑜𝑚</m:t>
                    </m:r>
                    <m:r>
                      <a:rPr lang="fr-CA" b="0" i="1" smtClean="0">
                        <a:latin typeface="Cambria Math" panose="02040503050406030204" pitchFamily="18" charset="0"/>
                      </a:rPr>
                      <m:t>(</m:t>
                    </m:r>
                    <m:r>
                      <a:rPr lang="fr-CA" b="0" i="1" smtClean="0">
                        <a:latin typeface="Cambria Math" panose="02040503050406030204" pitchFamily="18" charset="0"/>
                      </a:rPr>
                      <m:t>𝑘</m:t>
                    </m:r>
                    <m:r>
                      <a:rPr lang="fr-CA" b="0" i="1" smtClean="0">
                        <a:latin typeface="Cambria Math" panose="02040503050406030204" pitchFamily="18" charset="0"/>
                      </a:rPr>
                      <m:t>−</m:t>
                    </m:r>
                    <m:r>
                      <a:rPr lang="fr-CA" b="0" i="1" smtClean="0">
                        <a:latin typeface="Cambria Math" panose="02040503050406030204" pitchFamily="18" charset="0"/>
                      </a:rPr>
                      <m:t>𝑟</m:t>
                    </m:r>
                    <m:r>
                      <a:rPr lang="fr-CA" b="0" i="1" smtClean="0">
                        <a:latin typeface="Cambria Math" panose="02040503050406030204" pitchFamily="18" charset="0"/>
                      </a:rPr>
                      <m:t>,</m:t>
                    </m:r>
                    <m:r>
                      <a:rPr lang="fr-CA" b="0" i="1" smtClean="0">
                        <a:latin typeface="Cambria Math" panose="02040503050406030204" pitchFamily="18" charset="0"/>
                      </a:rPr>
                      <m:t>𝑟</m:t>
                    </m:r>
                    <m:r>
                      <a:rPr lang="fr-CA" b="0" i="1" smtClean="0">
                        <a:latin typeface="Cambria Math" panose="02040503050406030204" pitchFamily="18" charset="0"/>
                      </a:rPr>
                      <m:t>,</m:t>
                    </m:r>
                    <m:r>
                      <a:rPr lang="fr-CA" b="0" i="1" smtClean="0">
                        <a:latin typeface="Cambria Math" panose="02040503050406030204" pitchFamily="18" charset="0"/>
                      </a:rPr>
                      <m:t>𝑝</m:t>
                    </m:r>
                    <m:r>
                      <a:rPr lang="fr-CA" b="0" i="1" smtClean="0">
                        <a:latin typeface="Cambria Math" panose="02040503050406030204" pitchFamily="18" charset="0"/>
                      </a:rPr>
                      <m:t>)</m:t>
                    </m:r>
                  </m:oMath>
                </a14:m>
                <a:endParaRPr lang="fr-CA" dirty="0"/>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𝑖𝑙</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𝑓𝑎𝑢𝑡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𝑝𝑛𝑏𝑖𝑛𝑜𝑚</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𝑘</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𝑟</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𝑟</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m:t>
                    </m:r>
                    <m:r>
                      <a:rPr lang="fr-CA" b="0" i="1" smtClean="0">
                        <a:latin typeface="Cambria Math" panose="02040503050406030204" pitchFamily="18" charset="0"/>
                        <a:ea typeface="Cambria Math" panose="02040503050406030204" pitchFamily="18" charset="0"/>
                      </a:rPr>
                      <m:t>)</m:t>
                    </m:r>
                  </m:oMath>
                </a14:m>
                <a:endParaRPr lang="fr-CA" dirty="0"/>
              </a:p>
              <a:p>
                <a:pPr marL="285750" indent="-285750">
                  <a:buFont typeface="Arial" panose="020B0604020202020204" pitchFamily="34" charset="0"/>
                  <a:buChar char="•"/>
                </a:pPr>
                <a:endParaRPr lang="fr-CA" dirty="0"/>
              </a:p>
              <a:p>
                <a:endParaRPr lang="fr-CA" dirty="0"/>
              </a:p>
            </p:txBody>
          </p:sp>
        </mc:Choice>
        <mc:Fallback xmlns="">
          <p:sp>
            <p:nvSpPr>
              <p:cNvPr id="6" name="ZoneTexte 5">
                <a:extLst>
                  <a:ext uri="{FF2B5EF4-FFF2-40B4-BE49-F238E27FC236}">
                    <a16:creationId xmlns:a16="http://schemas.microsoft.com/office/drawing/2014/main" id="{5CD42AF0-D6FA-454A-830C-86DF9F8DD29B}"/>
                  </a:ext>
                </a:extLst>
              </p:cNvPr>
              <p:cNvSpPr txBox="1">
                <a:spLocks noRot="1" noChangeAspect="1" noMove="1" noResize="1" noEditPoints="1" noAdjustHandles="1" noChangeArrowheads="1" noChangeShapeType="1" noTextEdit="1"/>
              </p:cNvSpPr>
              <p:nvPr/>
            </p:nvSpPr>
            <p:spPr>
              <a:xfrm>
                <a:off x="1149530" y="1201783"/>
                <a:ext cx="9980024" cy="5668027"/>
              </a:xfrm>
              <a:prstGeom prst="rect">
                <a:avLst/>
              </a:prstGeom>
              <a:blipFill>
                <a:blip r:embed="rId2"/>
                <a:stretch>
                  <a:fillRect l="-550" t="-538"/>
                </a:stretch>
              </a:blipFill>
            </p:spPr>
            <p:txBody>
              <a:bodyPr/>
              <a:lstStyle/>
              <a:p>
                <a:r>
                  <a:rPr lang="fr-CA">
                    <a:noFill/>
                  </a:rPr>
                  <a:t> </a:t>
                </a:r>
              </a:p>
            </p:txBody>
          </p:sp>
        </mc:Fallback>
      </mc:AlternateContent>
    </p:spTree>
    <p:extLst>
      <p:ext uri="{BB962C8B-B14F-4D97-AF65-F5344CB8AC3E}">
        <p14:creationId xmlns:p14="http://schemas.microsoft.com/office/powerpoint/2010/main" val="266316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43DD74-C78E-4CE5-BD46-BDF081EFDEEE}"/>
              </a:ext>
            </a:extLst>
          </p:cNvPr>
          <p:cNvSpPr>
            <a:spLocks noGrp="1"/>
          </p:cNvSpPr>
          <p:nvPr>
            <p:ph type="title"/>
          </p:nvPr>
        </p:nvSpPr>
        <p:spPr>
          <a:xfrm>
            <a:off x="838200" y="365125"/>
            <a:ext cx="10515600" cy="1633492"/>
          </a:xfrm>
        </p:spPr>
        <p:txBody>
          <a:bodyPr>
            <a:normAutofit fontScale="90000"/>
          </a:bodyPr>
          <a:lstStyle/>
          <a:p>
            <a:r>
              <a:rPr lang="fr-CA" dirty="0"/>
              <a:t>Exemple1: </a:t>
            </a:r>
            <a:r>
              <a:rPr lang="fr-FR" sz="1800" dirty="0">
                <a:solidFill>
                  <a:srgbClr val="000000"/>
                </a:solidFill>
                <a:effectLst/>
                <a:latin typeface="Times New Roman" panose="02020603050405020304" pitchFamily="18" charset="0"/>
                <a:ea typeface="Times New Roman" panose="02020603050405020304" pitchFamily="18" charset="0"/>
              </a:rPr>
              <a:t>Dans une certaine population, le pourcentage de personnes albinos est de 2 %. Des gens font la queue pour entrer dans un musée de façon indépendante les uns des autres. </a:t>
            </a:r>
            <a:br>
              <a:rPr lang="fr-FR"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Quelle est la probabilité que la centième personne à entrer dans le musée soit la troisième personne albinos ?</a:t>
            </a:r>
            <a:br>
              <a:rPr lang="fr-FR"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Quelle est le nombre moyen de clients qui vont entrer dans le musée avant d’observer le 5ième albinos?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9860DA91-5F77-4AE3-AF22-5FBB75A871C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11A4D52-F3DE-43BD-8C2A-F75217430CFE}"/>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2192C2F-540B-4CA4-A85A-8645A48F94E7}"/>
                  </a:ext>
                </a:extLst>
              </p:cNvPr>
              <p:cNvSpPr txBox="1"/>
              <p:nvPr/>
            </p:nvSpPr>
            <p:spPr>
              <a:xfrm>
                <a:off x="992777" y="1998617"/>
                <a:ext cx="10361023" cy="3192734"/>
              </a:xfrm>
              <a:prstGeom prst="rect">
                <a:avLst/>
              </a:prstGeom>
              <a:noFill/>
            </p:spPr>
            <p:txBody>
              <a:bodyPr wrap="square" rtlCol="0">
                <a:spAutoFit/>
              </a:bodyPr>
              <a:lstStyle/>
              <a:p>
                <a:r>
                  <a:rPr lang="fr-CA" dirty="0"/>
                  <a:t>Soit X: le nombre de personnes qui vont entrer dans le musée avant d’avoir la troisième personne albinos.</a:t>
                </a:r>
              </a:p>
              <a:p>
                <a:r>
                  <a:rPr lang="fr-CA" dirty="0"/>
                  <a:t>On voit que cette variable est une loi binomiale négative avec r=3 et p=0,02.</a:t>
                </a:r>
              </a:p>
              <a:p>
                <a:endParaRPr lang="fr-CA" dirty="0"/>
              </a:p>
              <a:p>
                <a:r>
                  <a:rPr lang="fr-CA" dirty="0"/>
                  <a:t>On veut calculer :</a:t>
                </a:r>
              </a:p>
              <a:p>
                <a:endParaRPr lang="fr-CA" dirty="0"/>
              </a:p>
              <a:p>
                <a:r>
                  <a:rPr lang="fr-CA" dirty="0"/>
                  <a:t>(a)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=100</m:t>
                        </m:r>
                      </m:e>
                    </m:d>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100−1</m:t>
                            </m:r>
                          </m:e>
                          <m:e>
                            <m:r>
                              <a:rPr lang="fr-CA" b="0" i="1" smtClean="0">
                                <a:latin typeface="Cambria Math" panose="02040503050406030204" pitchFamily="18" charset="0"/>
                              </a:rPr>
                              <m:t>3−1</m:t>
                            </m:r>
                          </m:e>
                        </m:eqArr>
                      </m:e>
                    </m:d>
                    <m:sSup>
                      <m:sSupPr>
                        <m:ctrlPr>
                          <a:rPr lang="fr-CA" b="0" i="1" smtClean="0">
                            <a:latin typeface="Cambria Math" panose="02040503050406030204" pitchFamily="18" charset="0"/>
                          </a:rPr>
                        </m:ctrlPr>
                      </m:sSupPr>
                      <m:e>
                        <m:r>
                          <a:rPr lang="fr-CA" b="0" i="1" smtClean="0">
                            <a:latin typeface="Cambria Math" panose="02040503050406030204" pitchFamily="18" charset="0"/>
                          </a:rPr>
                          <m:t>(0,98)</m:t>
                        </m:r>
                      </m:e>
                      <m:sup>
                        <m:r>
                          <a:rPr lang="fr-CA" b="0" i="1" smtClean="0">
                            <a:latin typeface="Cambria Math" panose="02040503050406030204" pitchFamily="18" charset="0"/>
                          </a:rPr>
                          <m:t>97</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0,02</m:t>
                        </m:r>
                      </m:e>
                      <m:sup>
                        <m:r>
                          <a:rPr lang="fr-CA" b="0" i="1" smtClean="0">
                            <a:latin typeface="Cambria Math" panose="02040503050406030204" pitchFamily="18" charset="0"/>
                          </a:rPr>
                          <m:t>3 </m:t>
                        </m:r>
                      </m:sup>
                    </m:sSup>
                    <m:r>
                      <a:rPr lang="fr-CA" b="0" i="1" smtClean="0">
                        <a:latin typeface="Cambria Math" panose="02040503050406030204" pitchFamily="18" charset="0"/>
                      </a:rPr>
                      <m:t>  </m:t>
                    </m:r>
                    <m:r>
                      <a:rPr lang="fr-CA" b="0" i="1" smtClean="0">
                        <a:latin typeface="Cambria Math" panose="02040503050406030204" pitchFamily="18" charset="0"/>
                      </a:rPr>
                      <m:t>𝑎𝑙𝑜𝑟𝑠</m:t>
                    </m:r>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𝑡𝑎𝑝𝑒</m:t>
                    </m:r>
                    <m:r>
                      <a:rPr lang="fr-CA" b="0" i="1" smtClean="0">
                        <a:latin typeface="Cambria Math" panose="02040503050406030204" pitchFamily="18" charset="0"/>
                      </a:rPr>
                      <m:t> </m:t>
                    </m:r>
                    <m:r>
                      <a:rPr lang="fr-CA" b="0" i="1" smtClean="0">
                        <a:latin typeface="Cambria Math" panose="02040503050406030204" pitchFamily="18" charset="0"/>
                      </a:rPr>
                      <m:t>𝑑𝑛𝑏𝑖𝑛𝑜𝑚</m:t>
                    </m:r>
                    <m:d>
                      <m:dPr>
                        <m:ctrlPr>
                          <a:rPr lang="fr-CA" b="0" i="1" smtClean="0">
                            <a:latin typeface="Cambria Math" panose="02040503050406030204" pitchFamily="18" charset="0"/>
                          </a:rPr>
                        </m:ctrlPr>
                      </m:dPr>
                      <m:e>
                        <m:r>
                          <a:rPr lang="fr-CA" b="0" i="1" smtClean="0">
                            <a:latin typeface="Cambria Math" panose="02040503050406030204" pitchFamily="18" charset="0"/>
                          </a:rPr>
                          <m:t>97,3,0.02</m:t>
                        </m:r>
                      </m:e>
                    </m:d>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𝑜𝑏𝑡𝑖𝑒𝑛𝑡</m:t>
                    </m:r>
                    <m:r>
                      <a:rPr lang="fr-CA" b="0" i="1" smtClean="0">
                        <a:latin typeface="Cambria Math" panose="02040503050406030204" pitchFamily="18" charset="0"/>
                      </a:rPr>
                      <m:t> </m:t>
                    </m:r>
                  </m:oMath>
                </a14:m>
                <a:endParaRPr lang="fr-CA" b="0" dirty="0"/>
              </a:p>
              <a:p>
                <a:r>
                  <a:rPr lang="fr-CA" dirty="0"/>
                  <a:t>0,005468278</a:t>
                </a:r>
                <a14:m>
                  <m:oMath xmlns:m="http://schemas.openxmlformats.org/officeDocument/2006/math">
                    <m:r>
                      <a:rPr lang="fr-CA"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0,0055</m:t>
                    </m:r>
                  </m:oMath>
                </a14:m>
                <a:endParaRPr lang="fr-CA" dirty="0"/>
              </a:p>
              <a:p>
                <a:endParaRPr lang="fr-CA" dirty="0"/>
              </a:p>
              <a:p>
                <a:r>
                  <a:rPr lang="fr-CA" dirty="0"/>
                  <a:t>(b) Maintenant r=5 donc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𝑟</m:t>
                        </m:r>
                      </m:num>
                      <m:den>
                        <m:r>
                          <a:rPr lang="fr-CA" b="0" i="1" smtClean="0">
                            <a:latin typeface="Cambria Math" panose="02040503050406030204" pitchFamily="18" charset="0"/>
                          </a:rPr>
                          <m:t>𝑝</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5</m:t>
                        </m:r>
                      </m:num>
                      <m:den>
                        <m:r>
                          <a:rPr lang="fr-CA" b="0" i="1" smtClean="0">
                            <a:latin typeface="Cambria Math" panose="02040503050406030204" pitchFamily="18" charset="0"/>
                          </a:rPr>
                          <m:t>0,02</m:t>
                        </m:r>
                      </m:den>
                    </m:f>
                    <m:r>
                      <a:rPr lang="fr-CA" b="0" i="1" smtClean="0">
                        <a:latin typeface="Cambria Math" panose="02040503050406030204" pitchFamily="18" charset="0"/>
                      </a:rPr>
                      <m:t>=250.</m:t>
                    </m:r>
                  </m:oMath>
                </a14:m>
                <a:endParaRPr lang="fr-CA" b="0" dirty="0"/>
              </a:p>
              <a:p>
                <a:endParaRPr lang="fr-CA" dirty="0"/>
              </a:p>
            </p:txBody>
          </p:sp>
        </mc:Choice>
        <mc:Fallback xmlns="">
          <p:sp>
            <p:nvSpPr>
              <p:cNvPr id="5" name="ZoneTexte 4">
                <a:extLst>
                  <a:ext uri="{FF2B5EF4-FFF2-40B4-BE49-F238E27FC236}">
                    <a16:creationId xmlns:a16="http://schemas.microsoft.com/office/drawing/2014/main" id="{92192C2F-540B-4CA4-A85A-8645A48F94E7}"/>
                  </a:ext>
                </a:extLst>
              </p:cNvPr>
              <p:cNvSpPr txBox="1">
                <a:spLocks noRot="1" noChangeAspect="1" noMove="1" noResize="1" noEditPoints="1" noAdjustHandles="1" noChangeArrowheads="1" noChangeShapeType="1" noTextEdit="1"/>
              </p:cNvSpPr>
              <p:nvPr/>
            </p:nvSpPr>
            <p:spPr>
              <a:xfrm>
                <a:off x="992777" y="1998617"/>
                <a:ext cx="10361023" cy="3192734"/>
              </a:xfrm>
              <a:prstGeom prst="rect">
                <a:avLst/>
              </a:prstGeom>
              <a:blipFill>
                <a:blip r:embed="rId2"/>
                <a:stretch>
                  <a:fillRect l="-529" t="-1145"/>
                </a:stretch>
              </a:blipFill>
            </p:spPr>
            <p:txBody>
              <a:bodyPr/>
              <a:lstStyle/>
              <a:p>
                <a:r>
                  <a:rPr lang="fr-CA">
                    <a:noFill/>
                  </a:rPr>
                  <a:t> </a:t>
                </a:r>
              </a:p>
            </p:txBody>
          </p:sp>
        </mc:Fallback>
      </mc:AlternateContent>
    </p:spTree>
    <p:extLst>
      <p:ext uri="{BB962C8B-B14F-4D97-AF65-F5344CB8AC3E}">
        <p14:creationId xmlns:p14="http://schemas.microsoft.com/office/powerpoint/2010/main" val="55124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5C597-C5F7-4FCC-A44A-E131EA84E7B5}"/>
              </a:ext>
            </a:extLst>
          </p:cNvPr>
          <p:cNvSpPr>
            <a:spLocks noGrp="1"/>
          </p:cNvSpPr>
          <p:nvPr>
            <p:ph type="title"/>
          </p:nvPr>
        </p:nvSpPr>
        <p:spPr/>
        <p:txBody>
          <a:bodyPr>
            <a:normAutofit fontScale="90000"/>
          </a:bodyPr>
          <a:lstStyle/>
          <a:p>
            <a:r>
              <a:rPr lang="fr-CA" dirty="0"/>
              <a:t>Exemple 2:</a:t>
            </a:r>
            <a:r>
              <a:rPr lang="fr-FR" sz="1800" dirty="0">
                <a:solidFill>
                  <a:srgbClr val="000000"/>
                </a:solidFill>
                <a:effectLst/>
                <a:latin typeface="Times New Roman" panose="02020603050405020304" pitchFamily="18" charset="0"/>
                <a:ea typeface="Times New Roman" panose="02020603050405020304" pitchFamily="18" charset="0"/>
              </a:rPr>
              <a:t>Certaines des machines d’un atelier mécanique tombent en panne de façon indépendante, au taux de 7,5 % par jour. Quelle est la probabilité que la cinquième panne se produise le vingtième jour du mois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81132F17-E289-4E50-99EF-2502EBC51F0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C2668C3-15CE-4E86-892F-4CEB5A15CD15}"/>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B53BFB6-2AEF-4DE9-955A-575CBB0600AF}"/>
                  </a:ext>
                </a:extLst>
              </p:cNvPr>
              <p:cNvSpPr txBox="1"/>
              <p:nvPr/>
            </p:nvSpPr>
            <p:spPr>
              <a:xfrm>
                <a:off x="1110343" y="1985554"/>
                <a:ext cx="10515600" cy="3047309"/>
              </a:xfrm>
              <a:prstGeom prst="rect">
                <a:avLst/>
              </a:prstGeom>
              <a:noFill/>
            </p:spPr>
            <p:txBody>
              <a:bodyPr wrap="square" rtlCol="0">
                <a:spAutoFit/>
              </a:bodyPr>
              <a:lstStyle/>
              <a:p>
                <a:r>
                  <a:rPr lang="fr-CA" dirty="0"/>
                  <a:t>Réponse: </a:t>
                </a:r>
                <a:r>
                  <a:rPr lang="fr-FR" sz="1800" dirty="0">
                    <a:solidFill>
                      <a:srgbClr val="000000"/>
                    </a:solidFill>
                    <a:effectLst/>
                    <a:latin typeface="Times New Roman" panose="02020603050405020304" pitchFamily="18" charset="0"/>
                    <a:ea typeface="Times New Roman" panose="02020603050405020304" pitchFamily="18" charset="0"/>
                  </a:rPr>
                  <a:t>Soit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 le nombre de jours du mois qui doivent passer avant que la cinquième panne se produise dans cet atelier. Alors,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est une variable binomiale négative de paramètres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dirty="0">
                    <a:solidFill>
                      <a:srgbClr val="000000"/>
                    </a:solidFill>
                    <a:effectLst/>
                    <a:latin typeface="Times New Roman" panose="02020603050405020304" pitchFamily="18" charset="0"/>
                    <a:ea typeface="Times New Roman" panose="02020603050405020304" pitchFamily="18" charset="0"/>
                  </a:rPr>
                  <a:t> = 5 et</a:t>
                </a:r>
                <a:r>
                  <a:rPr lang="fr-FR" sz="1800" i="1" dirty="0">
                    <a:solidFill>
                      <a:srgbClr val="000000"/>
                    </a:solidFill>
                    <a:effectLst/>
                    <a:latin typeface="Times New Roman" panose="02020603050405020304" pitchFamily="18" charset="0"/>
                    <a:ea typeface="Times New Roman" panose="02020603050405020304" pitchFamily="18" charset="0"/>
                  </a:rPr>
                  <a:t> p </a:t>
                </a:r>
                <a:r>
                  <a:rPr lang="fr-FR" sz="1800" dirty="0">
                    <a:solidFill>
                      <a:srgbClr val="000000"/>
                    </a:solidFill>
                    <a:effectLst/>
                    <a:latin typeface="Times New Roman" panose="02020603050405020304" pitchFamily="18" charset="0"/>
                    <a:ea typeface="Times New Roman" panose="02020603050405020304" pitchFamily="18" charset="0"/>
                  </a:rPr>
                  <a:t>= 0,075. Donc :</a:t>
                </a:r>
              </a:p>
              <a:p>
                <a:endParaRPr lang="fr-FR" dirty="0">
                  <a:solidFill>
                    <a:srgbClr val="000000"/>
                  </a:solidFill>
                  <a:latin typeface="Times New Roman" panose="02020603050405020304" pitchFamily="18" charset="0"/>
                  <a:ea typeface="Times New Roman" panose="02020603050405020304" pitchFamily="18" charset="0"/>
                </a:endParaRPr>
              </a:p>
              <a:p>
                <a:endParaRPr lang="fr-FR" sz="1800" dirty="0">
                  <a:solidFill>
                    <a:srgbClr val="000000"/>
                  </a:solidFill>
                  <a:effectLst/>
                  <a:latin typeface="Times New Roman" panose="02020603050405020304" pitchFamily="18" charset="0"/>
                  <a:ea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𝑃</m:t>
                      </m:r>
                      <m:d>
                        <m:dPr>
                          <m:ctrlPr>
                            <a:rPr lang="fr-CA" sz="1800" b="0" i="1" smtClean="0">
                              <a:solidFill>
                                <a:srgbClr val="000000"/>
                              </a:solidFill>
                              <a:effectLst/>
                              <a:latin typeface="Cambria Math" panose="02040503050406030204" pitchFamily="18" charset="0"/>
                              <a:ea typeface="Times New Roman" panose="02020603050405020304" pitchFamily="18" charset="0"/>
                            </a:rPr>
                          </m:ctrlPr>
                        </m:dPr>
                        <m:e>
                          <m:r>
                            <a:rPr lang="fr-CA" sz="1800" b="0" i="1" smtClean="0">
                              <a:solidFill>
                                <a:srgbClr val="000000"/>
                              </a:solidFill>
                              <a:effectLst/>
                              <a:latin typeface="Cambria Math" panose="02040503050406030204" pitchFamily="18" charset="0"/>
                              <a:ea typeface="Times New Roman" panose="02020603050405020304" pitchFamily="18" charset="0"/>
                            </a:rPr>
                            <m:t>𝑋</m:t>
                          </m:r>
                          <m:r>
                            <a:rPr lang="fr-CA" sz="1800" b="0" i="1" smtClean="0">
                              <a:solidFill>
                                <a:srgbClr val="000000"/>
                              </a:solidFill>
                              <a:effectLst/>
                              <a:latin typeface="Cambria Math" panose="02040503050406030204" pitchFamily="18" charset="0"/>
                              <a:ea typeface="Times New Roman" panose="02020603050405020304" pitchFamily="18" charset="0"/>
                            </a:rPr>
                            <m:t>=20</m:t>
                          </m:r>
                        </m:e>
                      </m:d>
                      <m:r>
                        <a:rPr lang="fr-CA" sz="1800" b="0" i="1" smtClean="0">
                          <a:solidFill>
                            <a:srgbClr val="000000"/>
                          </a:solidFill>
                          <a:effectLst/>
                          <a:latin typeface="Cambria Math" panose="02040503050406030204" pitchFamily="18" charset="0"/>
                          <a:ea typeface="Times New Roman" panose="02020603050405020304" pitchFamily="18" charset="0"/>
                        </a:rPr>
                        <m:t>=</m:t>
                      </m:r>
                      <m:d>
                        <m:dPr>
                          <m:ctrlPr>
                            <a:rPr lang="fr-CA" sz="1800" b="0" i="1" smtClean="0">
                              <a:solidFill>
                                <a:srgbClr val="000000"/>
                              </a:solidFill>
                              <a:effectLst/>
                              <a:latin typeface="Cambria Math" panose="02040503050406030204" pitchFamily="18" charset="0"/>
                            </a:rPr>
                          </m:ctrlPr>
                        </m:dPr>
                        <m:e>
                          <m:eqArr>
                            <m:eqArrPr>
                              <m:ctrlPr>
                                <a:rPr lang="fr-CA" sz="1800" b="0" i="1" smtClean="0">
                                  <a:solidFill>
                                    <a:srgbClr val="000000"/>
                                  </a:solidFill>
                                  <a:effectLst/>
                                  <a:latin typeface="Cambria Math" panose="02040503050406030204" pitchFamily="18" charset="0"/>
                                </a:rPr>
                              </m:ctrlPr>
                            </m:eqArrPr>
                            <m:e>
                              <m:r>
                                <a:rPr lang="fr-CA" sz="1800" b="0" i="1" smtClean="0">
                                  <a:solidFill>
                                    <a:srgbClr val="000000"/>
                                  </a:solidFill>
                                  <a:effectLst/>
                                  <a:latin typeface="Cambria Math" panose="02040503050406030204" pitchFamily="18" charset="0"/>
                                </a:rPr>
                                <m:t>20−1</m:t>
                              </m:r>
                            </m:e>
                            <m:e>
                              <m:r>
                                <a:rPr lang="fr-CA" sz="1800" b="0" i="1" smtClean="0">
                                  <a:solidFill>
                                    <a:srgbClr val="000000"/>
                                  </a:solidFill>
                                  <a:effectLst/>
                                  <a:latin typeface="Cambria Math" panose="02040503050406030204" pitchFamily="18" charset="0"/>
                                </a:rPr>
                                <m:t>5−1</m:t>
                              </m:r>
                            </m:e>
                          </m:eqArr>
                        </m:e>
                      </m:d>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0,075</m:t>
                          </m:r>
                        </m:e>
                        <m:sup>
                          <m:r>
                            <a:rPr lang="fr-CA" sz="1800" b="0" i="1" smtClean="0">
                              <a:solidFill>
                                <a:srgbClr val="000000"/>
                              </a:solidFill>
                              <a:effectLst/>
                              <a:latin typeface="Cambria Math" panose="02040503050406030204" pitchFamily="18" charset="0"/>
                            </a:rPr>
                            <m:t>5</m:t>
                          </m:r>
                        </m:sup>
                      </m:sSup>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0,925</m:t>
                          </m:r>
                        </m:e>
                        <m:sup>
                          <m:r>
                            <a:rPr lang="fr-CA" sz="1800" b="0" i="1" smtClean="0">
                              <a:solidFill>
                                <a:srgbClr val="000000"/>
                              </a:solidFill>
                              <a:effectLst/>
                              <a:latin typeface="Cambria Math" panose="02040503050406030204" pitchFamily="18" charset="0"/>
                            </a:rPr>
                            <m:t>15</m:t>
                          </m:r>
                        </m:sup>
                      </m:sSup>
                      <m:r>
                        <a:rPr lang="fr-CA" sz="1800" b="0" i="1" smtClean="0">
                          <a:solidFill>
                            <a:srgbClr val="000000"/>
                          </a:solidFill>
                          <a:effectLst/>
                          <a:latin typeface="Cambria Math" panose="02040503050406030204" pitchFamily="18" charset="0"/>
                        </a:rPr>
                        <m:t>=0,002856</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solidFill>
                    <a:srgbClr val="000000"/>
                  </a:solidFill>
                  <a:latin typeface="Times New Roman" panose="02020603050405020304" pitchFamily="18" charset="0"/>
                </a:endParaRPr>
              </a:p>
              <a:p>
                <a:endParaRPr lang="fr-CA" dirty="0">
                  <a:solidFill>
                    <a:srgbClr val="000000"/>
                  </a:solidFill>
                  <a:latin typeface="Times New Roman" panose="02020603050405020304" pitchFamily="18" charset="0"/>
                </a:endParaRPr>
              </a:p>
              <a:p>
                <a:endParaRPr lang="fr-CA" dirty="0">
                  <a:solidFill>
                    <a:srgbClr val="000000"/>
                  </a:solidFill>
                  <a:latin typeface="Times New Roman" panose="02020603050405020304" pitchFamily="18" charset="0"/>
                </a:endParaRPr>
              </a:p>
              <a:p>
                <a:r>
                  <a:rPr lang="fr-CA" dirty="0">
                    <a:solidFill>
                      <a:srgbClr val="000000"/>
                    </a:solidFill>
                    <a:latin typeface="Times New Roman" panose="02020603050405020304" pitchFamily="18" charset="0"/>
                  </a:rPr>
                  <a:t>Ou bien, on utilise R et on tape     </a:t>
                </a:r>
                <a:r>
                  <a:rPr lang="fr-CA" dirty="0" err="1">
                    <a:solidFill>
                      <a:srgbClr val="000000"/>
                    </a:solidFill>
                    <a:latin typeface="Times New Roman" panose="02020603050405020304" pitchFamily="18" charset="0"/>
                  </a:rPr>
                  <a:t>dnbinom</a:t>
                </a:r>
                <a:r>
                  <a:rPr lang="fr-CA" dirty="0">
                    <a:solidFill>
                      <a:srgbClr val="000000"/>
                    </a:solidFill>
                    <a:latin typeface="Times New Roman" panose="02020603050405020304" pitchFamily="18" charset="0"/>
                  </a:rPr>
                  <a:t>(15,5,0.075)  et on obtient    0,002856381</a:t>
                </a:r>
              </a:p>
              <a:p>
                <a:endParaRPr lang="fr-CA" dirty="0"/>
              </a:p>
            </p:txBody>
          </p:sp>
        </mc:Choice>
        <mc:Fallback xmlns="">
          <p:sp>
            <p:nvSpPr>
              <p:cNvPr id="5" name="ZoneTexte 4">
                <a:extLst>
                  <a:ext uri="{FF2B5EF4-FFF2-40B4-BE49-F238E27FC236}">
                    <a16:creationId xmlns:a16="http://schemas.microsoft.com/office/drawing/2014/main" id="{DB53BFB6-2AEF-4DE9-955A-575CBB0600AF}"/>
                  </a:ext>
                </a:extLst>
              </p:cNvPr>
              <p:cNvSpPr txBox="1">
                <a:spLocks noRot="1" noChangeAspect="1" noMove="1" noResize="1" noEditPoints="1" noAdjustHandles="1" noChangeArrowheads="1" noChangeShapeType="1" noTextEdit="1"/>
              </p:cNvSpPr>
              <p:nvPr/>
            </p:nvSpPr>
            <p:spPr>
              <a:xfrm>
                <a:off x="1110343" y="1985554"/>
                <a:ext cx="10515600" cy="3047309"/>
              </a:xfrm>
              <a:prstGeom prst="rect">
                <a:avLst/>
              </a:prstGeom>
              <a:blipFill>
                <a:blip r:embed="rId2"/>
                <a:stretch>
                  <a:fillRect l="-464" t="-1400"/>
                </a:stretch>
              </a:blipFill>
            </p:spPr>
            <p:txBody>
              <a:bodyPr/>
              <a:lstStyle/>
              <a:p>
                <a:r>
                  <a:rPr lang="fr-CA">
                    <a:noFill/>
                  </a:rPr>
                  <a:t> </a:t>
                </a:r>
              </a:p>
            </p:txBody>
          </p:sp>
        </mc:Fallback>
      </mc:AlternateContent>
    </p:spTree>
    <p:extLst>
      <p:ext uri="{BB962C8B-B14F-4D97-AF65-F5344CB8AC3E}">
        <p14:creationId xmlns:p14="http://schemas.microsoft.com/office/powerpoint/2010/main" val="3468370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6E9381-7986-4941-98F3-83BFBD8ADE56}"/>
              </a:ext>
            </a:extLst>
          </p:cNvPr>
          <p:cNvSpPr>
            <a:spLocks noGrp="1"/>
          </p:cNvSpPr>
          <p:nvPr>
            <p:ph type="title"/>
          </p:nvPr>
        </p:nvSpPr>
        <p:spPr>
          <a:xfrm>
            <a:off x="838199" y="365125"/>
            <a:ext cx="11179630" cy="2456452"/>
          </a:xfrm>
        </p:spPr>
        <p:txBody>
          <a:bodyPr>
            <a:normAutofit/>
          </a:bodyPr>
          <a:lstStyle/>
          <a:p>
            <a:r>
              <a:rPr lang="fr-CA" dirty="0"/>
              <a:t>V. La loi de Poisson</a:t>
            </a:r>
            <a:br>
              <a:rPr lang="fr-CA" dirty="0"/>
            </a:br>
            <a:r>
              <a:rPr lang="fr-CA" sz="1800" dirty="0">
                <a:solidFill>
                  <a:srgbClr val="000000"/>
                </a:solidFill>
                <a:effectLst/>
                <a:latin typeface="Times New Roman" panose="02020603050405020304" pitchFamily="18" charset="0"/>
                <a:ea typeface="Times New Roman" panose="02020603050405020304" pitchFamily="18" charset="0"/>
              </a:rPr>
              <a:t>On s’intéresse à un phénomène qui se produit en moyenne </a:t>
            </a:r>
            <a:r>
              <a:rPr lang="fr-CA" sz="1800" i="1" dirty="0">
                <a:solidFill>
                  <a:srgbClr val="000000"/>
                </a:solidFill>
                <a:effectLst/>
                <a:latin typeface="Times New Roman" panose="02020603050405020304" pitchFamily="18" charset="0"/>
                <a:ea typeface="Times New Roman" panose="02020603050405020304" pitchFamily="18" charset="0"/>
              </a:rPr>
              <a:t>λ</a:t>
            </a:r>
            <a:r>
              <a:rPr lang="fr-CA" sz="1800" dirty="0">
                <a:solidFill>
                  <a:srgbClr val="000000"/>
                </a:solidFill>
                <a:effectLst/>
                <a:latin typeface="Times New Roman" panose="02020603050405020304" pitchFamily="18" charset="0"/>
                <a:ea typeface="Times New Roman" panose="02020603050405020304" pitchFamily="18" charset="0"/>
              </a:rPr>
              <a:t> (</a:t>
            </a:r>
            <a:r>
              <a:rPr lang="fr-CA" sz="1800" i="1" dirty="0">
                <a:solidFill>
                  <a:srgbClr val="000000"/>
                </a:solidFill>
                <a:effectLst/>
                <a:latin typeface="Times New Roman" panose="02020603050405020304" pitchFamily="18" charset="0"/>
                <a:ea typeface="Times New Roman" panose="02020603050405020304" pitchFamily="18" charset="0"/>
              </a:rPr>
              <a:t>lambda</a:t>
            </a:r>
            <a:r>
              <a:rPr lang="fr-CA" sz="1800" dirty="0">
                <a:solidFill>
                  <a:srgbClr val="000000"/>
                </a:solidFill>
                <a:effectLst/>
                <a:latin typeface="Times New Roman" panose="02020603050405020304" pitchFamily="18" charset="0"/>
                <a:ea typeface="Times New Roman" panose="02020603050405020304" pitchFamily="18" charset="0"/>
              </a:rPr>
              <a:t>) fois par unité (de temps, de surface, de volume, de masse…). La variable </a:t>
            </a:r>
            <a:r>
              <a:rPr lang="fr-CA" sz="1800" i="1" dirty="0">
                <a:solidFill>
                  <a:srgbClr val="000000"/>
                </a:solidFill>
                <a:effectLst/>
                <a:latin typeface="Times New Roman" panose="02020603050405020304" pitchFamily="18" charset="0"/>
                <a:ea typeface="Times New Roman" panose="02020603050405020304" pitchFamily="18" charset="0"/>
              </a:rPr>
              <a:t>X</a:t>
            </a:r>
            <a:r>
              <a:rPr lang="fr-CA" sz="1800" dirty="0">
                <a:solidFill>
                  <a:srgbClr val="000000"/>
                </a:solidFill>
                <a:effectLst/>
                <a:latin typeface="Times New Roman" panose="02020603050405020304" pitchFamily="18" charset="0"/>
                <a:ea typeface="Times New Roman" panose="02020603050405020304" pitchFamily="18" charset="0"/>
              </a:rPr>
              <a:t> indique le nombre de fois que ce phénomène se produit durant un intervalle de </a:t>
            </a:r>
            <a:r>
              <a:rPr lang="fr-CA" sz="1800" i="1" dirty="0">
                <a:solidFill>
                  <a:srgbClr val="000000"/>
                </a:solidFill>
                <a:effectLst/>
                <a:latin typeface="Times New Roman" panose="02020603050405020304" pitchFamily="18" charset="0"/>
                <a:ea typeface="Times New Roman" panose="02020603050405020304" pitchFamily="18" charset="0"/>
              </a:rPr>
              <a:t>s</a:t>
            </a:r>
            <a:r>
              <a:rPr lang="fr-CA" sz="1800" dirty="0">
                <a:solidFill>
                  <a:srgbClr val="000000"/>
                </a:solidFill>
                <a:effectLst/>
                <a:latin typeface="Times New Roman" panose="02020603050405020304" pitchFamily="18" charset="0"/>
                <a:ea typeface="Times New Roman" panose="02020603050405020304" pitchFamily="18" charset="0"/>
              </a:rPr>
              <a:t> unités : c’est la loi de Poisson, nommée ainsi en l’honneur du mathématicien français Siméon Denis Poisson (1781-1840).</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2C9419F1-D410-4E37-8705-10E6246FCE00}"/>
              </a:ext>
            </a:extLst>
          </p:cNvPr>
          <p:cNvSpPr>
            <a:spLocks noGrp="1"/>
          </p:cNvSpPr>
          <p:nvPr>
            <p:ph type="ftr" sz="quarter" idx="11"/>
          </p:nvPr>
        </p:nvSpPr>
        <p:spPr/>
        <p:txBody>
          <a:bodyPr/>
          <a:lstStyle/>
          <a:p>
            <a:endParaRPr lang="fr-CA"/>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83E481AA-4419-42B0-8097-E20D95F3A56E}"/>
                  </a:ext>
                </a:extLst>
              </p:cNvPr>
              <p:cNvSpPr txBox="1"/>
              <p:nvPr/>
            </p:nvSpPr>
            <p:spPr>
              <a:xfrm>
                <a:off x="289560" y="2164596"/>
                <a:ext cx="11179630" cy="4302845"/>
              </a:xfrm>
              <a:prstGeom prst="rect">
                <a:avLst/>
              </a:prstGeom>
              <a:noFill/>
            </p:spPr>
            <p:txBody>
              <a:bodyPr wrap="square" rtlCol="0">
                <a:spAutoFit/>
              </a:bodyPr>
              <a:lstStyle/>
              <a:p>
                <a:r>
                  <a:rPr lang="fr-CA" dirty="0"/>
                  <a:t>La fonction de masse des probabilités de X est:</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𝑘</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sSup>
                            <m:sSupPr>
                              <m:ctrlPr>
                                <a:rPr lang="fr-CA" b="0" i="1" smtClean="0">
                                  <a:latin typeface="Cambria Math" panose="02040503050406030204" pitchFamily="18" charset="0"/>
                                </a:rPr>
                              </m:ctrlPr>
                            </m:sSupPr>
                            <m:e>
                              <m:r>
                                <m:rPr>
                                  <m:nor/>
                                </m:rPr>
                                <a:rPr lang="fr-CA" b="0" i="1" smtClean="0">
                                  <a:latin typeface="Cambria Math" panose="02040503050406030204" pitchFamily="18" charset="0"/>
                                </a:rPr>
                                <m:t>(</m:t>
                              </m:r>
                              <m:r>
                                <m:rPr>
                                  <m:nor/>
                                </m:rPr>
                                <a:rPr lang="fr-CA" i="1" dirty="0">
                                  <a:solidFill>
                                    <a:srgbClr val="000000"/>
                                  </a:solidFill>
                                  <a:latin typeface="Times New Roman" panose="02020603050405020304" pitchFamily="18" charset="0"/>
                                  <a:ea typeface="Times New Roman" panose="02020603050405020304" pitchFamily="18" charset="0"/>
                                </a:rPr>
                                <m:t>λ</m:t>
                              </m:r>
                              <m:r>
                                <a:rPr lang="fr-CA" b="0" i="1" dirty="0" smtClean="0">
                                  <a:solidFill>
                                    <a:srgbClr val="000000"/>
                                  </a:solidFill>
                                  <a:latin typeface="Cambria Math" panose="02040503050406030204" pitchFamily="18" charset="0"/>
                                  <a:ea typeface="Times New Roman" panose="02020603050405020304" pitchFamily="18" charset="0"/>
                                </a:rPr>
                                <m:t>𝑠</m:t>
                              </m:r>
                              <m:r>
                                <a:rPr lang="fr-CA" b="0" i="1" dirty="0" smtClean="0">
                                  <a:solidFill>
                                    <a:srgbClr val="000000"/>
                                  </a:solidFill>
                                  <a:latin typeface="Cambria Math" panose="02040503050406030204" pitchFamily="18" charset="0"/>
                                  <a:ea typeface="Times New Roman" panose="02020603050405020304" pitchFamily="18" charset="0"/>
                                </a:rPr>
                                <m:t>)</m:t>
                              </m:r>
                            </m:e>
                            <m:sup>
                              <m:r>
                                <a:rPr lang="fr-CA" b="0" i="1" smtClean="0">
                                  <a:latin typeface="Cambria Math" panose="02040503050406030204" pitchFamily="18" charset="0"/>
                                </a:rPr>
                                <m:t>𝑘</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𝑒</m:t>
                              </m:r>
                            </m:e>
                            <m:sup>
                              <m:r>
                                <a:rPr lang="fr-CA" b="0" i="1" smtClean="0">
                                  <a:latin typeface="Cambria Math" panose="02040503050406030204" pitchFamily="18" charset="0"/>
                                </a:rPr>
                                <m:t>−</m:t>
                              </m:r>
                              <m:r>
                                <m:rPr>
                                  <m:nor/>
                                </m:rPr>
                                <a:rPr lang="fr-CA" i="1" dirty="0">
                                  <a:solidFill>
                                    <a:srgbClr val="000000"/>
                                  </a:solidFill>
                                  <a:latin typeface="Times New Roman" panose="02020603050405020304" pitchFamily="18" charset="0"/>
                                  <a:ea typeface="Times New Roman" panose="02020603050405020304" pitchFamily="18" charset="0"/>
                                </a:rPr>
                                <m:t>λ</m:t>
                              </m:r>
                              <m:r>
                                <a:rPr lang="fr-CA" b="0" i="1" dirty="0" smtClean="0">
                                  <a:solidFill>
                                    <a:srgbClr val="000000"/>
                                  </a:solidFill>
                                  <a:latin typeface="Cambria Math" panose="02040503050406030204" pitchFamily="18" charset="0"/>
                                  <a:ea typeface="Times New Roman" panose="02020603050405020304" pitchFamily="18" charset="0"/>
                                </a:rPr>
                                <m:t>𝑠</m:t>
                              </m:r>
                            </m:sup>
                          </m:sSup>
                        </m:num>
                        <m:den>
                          <m:r>
                            <a:rPr lang="fr-CA" b="0" i="1" smtClean="0">
                              <a:latin typeface="Cambria Math" panose="02040503050406030204" pitchFamily="18" charset="0"/>
                            </a:rPr>
                            <m:t>𝑘</m:t>
                          </m:r>
                          <m:r>
                            <a:rPr lang="fr-CA" b="0" i="1" smtClean="0">
                              <a:latin typeface="Cambria Math" panose="02040503050406030204" pitchFamily="18" charset="0"/>
                            </a:rPr>
                            <m:t>!</m:t>
                          </m:r>
                        </m:den>
                      </m:f>
                      <m:r>
                        <a:rPr lang="fr-CA" b="0" i="1" smtClean="0">
                          <a:latin typeface="Cambria Math" panose="02040503050406030204" pitchFamily="18" charset="0"/>
                        </a:rPr>
                        <m:t>     </m:t>
                      </m:r>
                      <m:r>
                        <a:rPr lang="fr-CA" b="0" i="1" smtClean="0">
                          <a:latin typeface="Cambria Math" panose="02040503050406030204" pitchFamily="18" charset="0"/>
                        </a:rPr>
                        <m:t>𝑝𝑜𝑢𝑟</m:t>
                      </m:r>
                      <m:r>
                        <a:rPr lang="fr-CA" b="0" i="1" smtClean="0">
                          <a:latin typeface="Cambria Math" panose="02040503050406030204" pitchFamily="18" charset="0"/>
                        </a:rPr>
                        <m:t> </m:t>
                      </m:r>
                      <m:r>
                        <a:rPr lang="fr-CA" b="0" i="1" smtClean="0">
                          <a:latin typeface="Cambria Math" panose="02040503050406030204" pitchFamily="18" charset="0"/>
                        </a:rPr>
                        <m:t>𝑘</m:t>
                      </m:r>
                      <m:r>
                        <a:rPr lang="fr-CA" b="0" i="1" smtClean="0">
                          <a:latin typeface="Cambria Math" panose="02040503050406030204" pitchFamily="18" charset="0"/>
                        </a:rPr>
                        <m:t>=0,1,……..</m:t>
                      </m:r>
                    </m:oMath>
                  </m:oMathPara>
                </a14:m>
                <a:endParaRPr lang="fr-CA" dirty="0"/>
              </a:p>
              <a:p>
                <a:endParaRPr lang="fr-CA" dirty="0"/>
              </a:p>
              <a:p>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r>
                      <m:rPr>
                        <m:nor/>
                      </m:rPr>
                      <a:rPr lang="fr-CA" i="1" dirty="0">
                        <a:solidFill>
                          <a:srgbClr val="000000"/>
                        </a:solidFill>
                        <a:latin typeface="Times New Roman" panose="02020603050405020304" pitchFamily="18" charset="0"/>
                        <a:ea typeface="Times New Roman" panose="02020603050405020304" pitchFamily="18" charset="0"/>
                      </a:rPr>
                      <m:t>λ</m:t>
                    </m:r>
                  </m:oMath>
                </a14:m>
                <a:r>
                  <a:rPr lang="fr-CA" dirty="0"/>
                  <a:t>s         avec s= la longueur de l’intervalle dans lequel on travaille,             On note  </a:t>
                </a:r>
                <a14:m>
                  <m:oMath xmlns:m="http://schemas.openxmlformats.org/officeDocument/2006/math">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𝒫</m:t>
                    </m:r>
                    <m:r>
                      <a:rPr lang="fr-CA" b="0" i="1" smtClean="0">
                        <a:latin typeface="Cambria Math" panose="02040503050406030204" pitchFamily="18" charset="0"/>
                        <a:ea typeface="Cambria Math" panose="02040503050406030204" pitchFamily="18" charset="0"/>
                      </a:rPr>
                      <m:t>(</m:t>
                    </m:r>
                    <m:r>
                      <m:rPr>
                        <m:nor/>
                      </m:rPr>
                      <a:rPr lang="fr-CA" i="1" dirty="0">
                        <a:solidFill>
                          <a:srgbClr val="000000"/>
                        </a:solidFill>
                        <a:latin typeface="Times New Roman" panose="02020603050405020304" pitchFamily="18" charset="0"/>
                        <a:ea typeface="Times New Roman" panose="02020603050405020304" pitchFamily="18" charset="0"/>
                      </a:rPr>
                      <m:t>λ</m:t>
                    </m:r>
                  </m:oMath>
                </a14:m>
                <a:r>
                  <a:rPr lang="fr-CA" dirty="0"/>
                  <a:t>s)</a:t>
                </a:r>
              </a:p>
              <a:p>
                <a:endParaRPr lang="fr-CA" dirty="0"/>
              </a:p>
              <a:p>
                <a:endParaRPr lang="fr-CA" dirty="0"/>
              </a:p>
              <a:p>
                <a:r>
                  <a:rPr lang="fr-CA" sz="1800" dirty="0">
                    <a:solidFill>
                      <a:srgbClr val="FF0000"/>
                    </a:solidFill>
                    <a:effectLst/>
                    <a:latin typeface="Times New Roman" panose="02020603050405020304" pitchFamily="18" charset="0"/>
                    <a:ea typeface="Times New Roman" panose="02020603050405020304" pitchFamily="18" charset="0"/>
                  </a:rPr>
                  <a:t>La loi de Poisson est très importante dans les applications comportant un phénomène d’attente. Par exemple, elle sert dans la gestion des feux de circulation, dans la modélisation des systèmes téléphoniques, électriques, bancaires, etc. Bref, elle intervient dans la modélisation et la simulation de tous les systèmes où existe un partage de ressources.</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solidFill>
                    <a:srgbClr val="000000"/>
                  </a:solidFill>
                  <a:latin typeface="Times New Roman" panose="02020603050405020304" pitchFamily="18" charset="0"/>
                </a:endParaRPr>
              </a:p>
              <a:p>
                <a:pPr marL="285750" indent="-285750">
                  <a:buFont typeface="Arial" panose="020B0604020202020204" pitchFamily="34" charset="0"/>
                  <a:buChar char="•"/>
                </a:pPr>
                <a:r>
                  <a:rPr lang="fr-CA" dirty="0">
                    <a:solidFill>
                      <a:srgbClr val="000000"/>
                    </a:solidFill>
                    <a:latin typeface="Times New Roman" panose="02020603050405020304" pitchFamily="18" charset="0"/>
                  </a:rPr>
                  <a:t>Si on veut calculer </a:t>
                </a:r>
                <a14:m>
                  <m:oMath xmlns:m="http://schemas.openxmlformats.org/officeDocument/2006/math">
                    <m:r>
                      <a:rPr lang="fr-CA" b="0" i="1" smtClean="0">
                        <a:solidFill>
                          <a:srgbClr val="000000"/>
                        </a:solidFill>
                        <a:latin typeface="Cambria Math" panose="02040503050406030204" pitchFamily="18" charset="0"/>
                      </a:rPr>
                      <m:t>𝑃</m:t>
                    </m:r>
                    <m:d>
                      <m:dPr>
                        <m:ctrlPr>
                          <a:rPr lang="fr-CA" b="0" i="1" smtClean="0">
                            <a:solidFill>
                              <a:srgbClr val="000000"/>
                            </a:solidFill>
                            <a:latin typeface="Cambria Math" panose="02040503050406030204" pitchFamily="18" charset="0"/>
                          </a:rPr>
                        </m:ctrlPr>
                      </m:dPr>
                      <m:e>
                        <m:r>
                          <a:rPr lang="fr-CA" b="0" i="1" smtClean="0">
                            <a:solidFill>
                              <a:srgbClr val="000000"/>
                            </a:solidFill>
                            <a:latin typeface="Cambria Math" panose="02040503050406030204" pitchFamily="18" charset="0"/>
                          </a:rPr>
                          <m:t>𝑋</m:t>
                        </m:r>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𝑘</m:t>
                        </m:r>
                      </m:e>
                    </m:d>
                    <m:r>
                      <a:rPr lang="fr-CA" b="0" i="1" smtClean="0">
                        <a:solidFill>
                          <a:srgbClr val="000000"/>
                        </a:solidFill>
                        <a:latin typeface="Cambria Math" panose="02040503050406030204" pitchFamily="18" charset="0"/>
                      </a:rPr>
                      <m:t>     </m:t>
                    </m:r>
                    <m:r>
                      <a:rPr lang="fr-CA" b="0" i="1" smtClean="0">
                        <a:solidFill>
                          <a:srgbClr val="000000"/>
                        </a:solidFill>
                        <a:latin typeface="Cambria Math" panose="02040503050406030204" pitchFamily="18" charset="0"/>
                      </a:rPr>
                      <m:t>𝑜𝑛</m:t>
                    </m:r>
                    <m:r>
                      <a:rPr lang="fr-CA" b="0" i="1" smtClean="0">
                        <a:solidFill>
                          <a:srgbClr val="000000"/>
                        </a:solidFill>
                        <a:latin typeface="Cambria Math" panose="02040503050406030204" pitchFamily="18" charset="0"/>
                      </a:rPr>
                      <m:t> </m:t>
                    </m:r>
                    <m:r>
                      <a:rPr lang="fr-CA" b="0" i="1" smtClean="0">
                        <a:solidFill>
                          <a:srgbClr val="000000"/>
                        </a:solidFill>
                        <a:latin typeface="Cambria Math" panose="02040503050406030204" pitchFamily="18" charset="0"/>
                      </a:rPr>
                      <m:t>𝑡𝑎𝑝𝑒</m:t>
                    </m:r>
                    <m:r>
                      <a:rPr lang="fr-CA" b="0" i="1" smtClean="0">
                        <a:solidFill>
                          <a:srgbClr val="000000"/>
                        </a:solidFill>
                        <a:latin typeface="Cambria Math" panose="02040503050406030204" pitchFamily="18" charset="0"/>
                      </a:rPr>
                      <m:t>   </m:t>
                    </m:r>
                    <m:r>
                      <a:rPr lang="fr-CA" b="0" i="1" smtClean="0">
                        <a:solidFill>
                          <a:srgbClr val="000000"/>
                        </a:solidFill>
                        <a:latin typeface="Cambria Math" panose="02040503050406030204" pitchFamily="18" charset="0"/>
                      </a:rPr>
                      <m:t>𝑑𝑝𝑜𝑖𝑠</m:t>
                    </m:r>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𝑘</m:t>
                    </m:r>
                    <m:r>
                      <a:rPr lang="fr-CA" b="0" i="1" smtClean="0">
                        <a:solidFill>
                          <a:srgbClr val="000000"/>
                        </a:solidFill>
                        <a:latin typeface="Cambria Math" panose="02040503050406030204" pitchFamily="18" charset="0"/>
                      </a:rPr>
                      <m:t>,</m:t>
                    </m:r>
                  </m:oMath>
                </a14:m>
                <a:r>
                  <a:rPr lang="fr-CA" dirty="0">
                    <a:solidFill>
                      <a:srgbClr val="000000"/>
                    </a:solidFill>
                    <a:ea typeface="Times New Roman" panose="02020603050405020304" pitchFamily="18" charset="0"/>
                  </a:rPr>
                  <a:t> </a:t>
                </a:r>
                <a14:m>
                  <m:oMath xmlns:m="http://schemas.openxmlformats.org/officeDocument/2006/math">
                    <m:r>
                      <m:rPr>
                        <m:nor/>
                      </m:rPr>
                      <a:rPr lang="fr-CA" i="1" dirty="0">
                        <a:solidFill>
                          <a:srgbClr val="000000"/>
                        </a:solidFill>
                        <a:latin typeface="Times New Roman" panose="02020603050405020304" pitchFamily="18" charset="0"/>
                        <a:ea typeface="Times New Roman" panose="02020603050405020304" pitchFamily="18" charset="0"/>
                      </a:rPr>
                      <m:t>λ</m:t>
                    </m:r>
                  </m:oMath>
                </a14:m>
                <a:r>
                  <a:rPr lang="fr-CA" dirty="0"/>
                  <a:t>s)</a:t>
                </a:r>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oMath>
                </a14:m>
                <a:r>
                  <a:rPr lang="fr-CA" dirty="0"/>
                  <a:t>  p</a:t>
                </a:r>
                <a14:m>
                  <m:oMath xmlns:m="http://schemas.openxmlformats.org/officeDocument/2006/math">
                    <m:r>
                      <a:rPr lang="fr-CA" i="1">
                        <a:solidFill>
                          <a:srgbClr val="000000"/>
                        </a:solidFill>
                        <a:latin typeface="Cambria Math" panose="02040503050406030204" pitchFamily="18" charset="0"/>
                      </a:rPr>
                      <m:t>𝑝𝑜𝑖𝑠</m:t>
                    </m:r>
                    <m:r>
                      <a:rPr lang="fr-CA" i="1">
                        <a:solidFill>
                          <a:srgbClr val="000000"/>
                        </a:solidFill>
                        <a:latin typeface="Cambria Math" panose="02040503050406030204" pitchFamily="18" charset="0"/>
                      </a:rPr>
                      <m:t>(</m:t>
                    </m:r>
                    <m:r>
                      <a:rPr lang="fr-CA" i="1">
                        <a:solidFill>
                          <a:srgbClr val="000000"/>
                        </a:solidFill>
                        <a:latin typeface="Cambria Math" panose="02040503050406030204" pitchFamily="18" charset="0"/>
                      </a:rPr>
                      <m:t>𝑘</m:t>
                    </m:r>
                    <m:r>
                      <a:rPr lang="fr-CA" i="1">
                        <a:solidFill>
                          <a:srgbClr val="000000"/>
                        </a:solidFill>
                        <a:latin typeface="Cambria Math" panose="02040503050406030204" pitchFamily="18" charset="0"/>
                      </a:rPr>
                      <m:t>,</m:t>
                    </m:r>
                  </m:oMath>
                </a14:m>
                <a:r>
                  <a:rPr lang="fr-CA" dirty="0">
                    <a:solidFill>
                      <a:srgbClr val="000000"/>
                    </a:solidFill>
                    <a:ea typeface="Times New Roman" panose="02020603050405020304" pitchFamily="18" charset="0"/>
                  </a:rPr>
                  <a:t> </a:t>
                </a:r>
                <a14:m>
                  <m:oMath xmlns:m="http://schemas.openxmlformats.org/officeDocument/2006/math">
                    <m:r>
                      <m:rPr>
                        <m:nor/>
                      </m:rPr>
                      <a:rPr lang="fr-CA" i="1" dirty="0">
                        <a:solidFill>
                          <a:srgbClr val="000000"/>
                        </a:solidFill>
                        <a:latin typeface="Times New Roman" panose="02020603050405020304" pitchFamily="18" charset="0"/>
                        <a:ea typeface="Times New Roman" panose="02020603050405020304" pitchFamily="18" charset="0"/>
                      </a:rPr>
                      <m:t>λ</m:t>
                    </m:r>
                  </m:oMath>
                </a14:m>
                <a:r>
                  <a:rPr lang="fr-CA" dirty="0"/>
                  <a:t>s)</a:t>
                </a:r>
              </a:p>
              <a:p>
                <a:pPr marL="285750" indent="-285750">
                  <a:buFont typeface="Arial" panose="020B0604020202020204" pitchFamily="34" charset="0"/>
                  <a:buChar char="•"/>
                </a:pPr>
                <a:endParaRPr lang="fr-CA" dirty="0"/>
              </a:p>
            </p:txBody>
          </p:sp>
        </mc:Choice>
        <mc:Fallback xmlns="">
          <p:sp>
            <p:nvSpPr>
              <p:cNvPr id="11" name="ZoneTexte 10">
                <a:extLst>
                  <a:ext uri="{FF2B5EF4-FFF2-40B4-BE49-F238E27FC236}">
                    <a16:creationId xmlns:a16="http://schemas.microsoft.com/office/drawing/2014/main" id="{83E481AA-4419-42B0-8097-E20D95F3A56E}"/>
                  </a:ext>
                </a:extLst>
              </p:cNvPr>
              <p:cNvSpPr txBox="1">
                <a:spLocks noRot="1" noChangeAspect="1" noMove="1" noResize="1" noEditPoints="1" noAdjustHandles="1" noChangeArrowheads="1" noChangeShapeType="1" noTextEdit="1"/>
              </p:cNvSpPr>
              <p:nvPr/>
            </p:nvSpPr>
            <p:spPr>
              <a:xfrm>
                <a:off x="289560" y="2164596"/>
                <a:ext cx="11179630" cy="4302845"/>
              </a:xfrm>
              <a:prstGeom prst="rect">
                <a:avLst/>
              </a:prstGeom>
              <a:blipFill>
                <a:blip r:embed="rId2"/>
                <a:stretch>
                  <a:fillRect l="-491" t="-708"/>
                </a:stretch>
              </a:blipFill>
            </p:spPr>
            <p:txBody>
              <a:bodyPr/>
              <a:lstStyle/>
              <a:p>
                <a:r>
                  <a:rPr lang="fr-CA">
                    <a:noFill/>
                  </a:rPr>
                  <a:t> </a:t>
                </a:r>
              </a:p>
            </p:txBody>
          </p:sp>
        </mc:Fallback>
      </mc:AlternateContent>
      <p:sp>
        <p:nvSpPr>
          <p:cNvPr id="12" name="Espace réservé du numéro de diapositive 3">
            <a:extLst>
              <a:ext uri="{FF2B5EF4-FFF2-40B4-BE49-F238E27FC236}">
                <a16:creationId xmlns:a16="http://schemas.microsoft.com/office/drawing/2014/main" id="{8F7A6370-94A3-4068-AB4B-EC3441404B04}"/>
              </a:ext>
            </a:extLst>
          </p:cNvPr>
          <p:cNvSpPr>
            <a:spLocks noGrp="1"/>
          </p:cNvSpPr>
          <p:nvPr>
            <p:ph type="sldNum" sz="quarter" idx="12"/>
          </p:nvPr>
        </p:nvSpPr>
        <p:spPr>
          <a:xfrm>
            <a:off x="8610600" y="6356350"/>
            <a:ext cx="2743200" cy="365125"/>
          </a:xfrm>
        </p:spPr>
        <p:txBody>
          <a:bodyPr/>
          <a:lstStyle/>
          <a:p>
            <a:fld id="{26377AD9-CE17-438C-A638-C64D2D42D7CF}" type="slidenum">
              <a:rPr lang="fr-CA" smtClean="0"/>
              <a:t>6</a:t>
            </a:fld>
            <a:endParaRPr lang="fr-CA"/>
          </a:p>
        </p:txBody>
      </p:sp>
    </p:spTree>
    <p:extLst>
      <p:ext uri="{BB962C8B-B14F-4D97-AF65-F5344CB8AC3E}">
        <p14:creationId xmlns:p14="http://schemas.microsoft.com/office/powerpoint/2010/main" val="415987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D9818-8CA1-4369-938B-1DFA1A19184E}"/>
              </a:ext>
            </a:extLst>
          </p:cNvPr>
          <p:cNvSpPr>
            <a:spLocks noGrp="1"/>
          </p:cNvSpPr>
          <p:nvPr>
            <p:ph type="title"/>
          </p:nvPr>
        </p:nvSpPr>
        <p:spPr>
          <a:xfrm>
            <a:off x="838200" y="365125"/>
            <a:ext cx="10839994" cy="2874464"/>
          </a:xfrm>
        </p:spPr>
        <p:txBody>
          <a:bodyPr>
            <a:normAutofit fontScale="90000"/>
          </a:bodyPr>
          <a:lstStyle/>
          <a:p>
            <a:pPr algn="l">
              <a:lnSpc>
                <a:spcPct val="200000"/>
              </a:lnSpc>
              <a:spcAft>
                <a:spcPts val="800"/>
              </a:spcAft>
            </a:pPr>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Un standardiste reçoit en moyenne 2,5 appels à l’heure. Si les appels arrivent selon un modèle de Poisson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la probabilité que ce standardiste reçoive au moins 12 appels durant une période de quatre heures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calculez l’espérance et l’écart-type du nombre d’appels reçus par ce standardiste durant une journée de huit heures.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56CD3955-E594-48C3-B06A-CE7E12467E5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C73C53B3-2252-4180-B623-F67463B9D456}"/>
              </a:ext>
            </a:extLst>
          </p:cNvPr>
          <p:cNvSpPr>
            <a:spLocks noGrp="1"/>
          </p:cNvSpPr>
          <p:nvPr>
            <p:ph type="sldNum" sz="quarter" idx="12"/>
          </p:nvPr>
        </p:nvSpPr>
        <p:spPr/>
        <p:txBody>
          <a:bodyPr/>
          <a:lstStyle/>
          <a:p>
            <a:fld id="{26377AD9-CE17-438C-A638-C64D2D42D7CF}" type="slidenum">
              <a:rPr lang="fr-CA" smtClean="0"/>
              <a:t>7</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B47F4AC-07CA-4AA6-893C-331FA8F6D627}"/>
                  </a:ext>
                </a:extLst>
              </p:cNvPr>
              <p:cNvSpPr txBox="1"/>
              <p:nvPr/>
            </p:nvSpPr>
            <p:spPr>
              <a:xfrm>
                <a:off x="838200" y="3095897"/>
                <a:ext cx="10515600" cy="2656496"/>
              </a:xfrm>
              <a:prstGeom prst="rect">
                <a:avLst/>
              </a:prstGeom>
              <a:noFill/>
            </p:spPr>
            <p:txBody>
              <a:bodyPr wrap="square" rtlCol="0">
                <a:spAutoFit/>
              </a:bodyPr>
              <a:lstStyle/>
              <a:p>
                <a:r>
                  <a:rPr lang="fr-CA" dirty="0"/>
                  <a:t>Soit X: le nombre d’appels , alors cette variable suit un modèle de Poisson avec   </a:t>
                </a:r>
                <a:r>
                  <a:rPr lang="fr-CA" i="1" dirty="0">
                    <a:solidFill>
                      <a:srgbClr val="000000"/>
                    </a:solidFill>
                    <a:latin typeface="Times New Roman" panose="02020603050405020304" pitchFamily="18" charset="0"/>
                    <a:ea typeface="Times New Roman" panose="02020603050405020304" pitchFamily="18" charset="0"/>
                  </a:rPr>
                  <a:t>λ=2,5/heure</a:t>
                </a:r>
              </a:p>
              <a:p>
                <a:endParaRPr lang="fr-CA" i="1" dirty="0">
                  <a:solidFill>
                    <a:srgbClr val="000000"/>
                  </a:solidFill>
                  <a:latin typeface="Times New Roman" panose="02020603050405020304" pitchFamily="18" charset="0"/>
                </a:endParaRPr>
              </a:p>
              <a:p>
                <a:r>
                  <a:rPr lang="fr-CA" i="1" dirty="0">
                    <a:solidFill>
                      <a:srgbClr val="000000"/>
                    </a:solidFill>
                    <a:latin typeface="Times New Roman" panose="02020603050405020304" pitchFamily="18" charset="0"/>
                  </a:rPr>
                  <a:t>(a) On </a:t>
                </a:r>
                <a:r>
                  <a:rPr lang="fr-CA" dirty="0">
                    <a:solidFill>
                      <a:srgbClr val="000000"/>
                    </a:solidFill>
                    <a:latin typeface="Times New Roman" panose="02020603050405020304" pitchFamily="18" charset="0"/>
                  </a:rPr>
                  <a:t>S’intéresse à un intervalle de 4 heures donc </a:t>
                </a:r>
                <a:r>
                  <a:rPr lang="fr-CA" sz="1800" i="1" dirty="0" err="1">
                    <a:solidFill>
                      <a:srgbClr val="000000"/>
                    </a:solidFill>
                    <a:effectLst/>
                    <a:latin typeface="Times New Roman" panose="02020603050405020304" pitchFamily="18" charset="0"/>
                    <a:ea typeface="Times New Roman" panose="02020603050405020304" pitchFamily="18" charset="0"/>
                  </a:rPr>
                  <a:t>λ</a:t>
                </a:r>
                <a:r>
                  <a:rPr lang="fr-CA" sz="1800" dirty="0" err="1">
                    <a:solidFill>
                      <a:srgbClr val="000000"/>
                    </a:solidFill>
                    <a:effectLst/>
                    <a:latin typeface="Times New Roman" panose="02020603050405020304" pitchFamily="18" charset="0"/>
                    <a:ea typeface="Times New Roman" panose="02020603050405020304" pitchFamily="18" charset="0"/>
                  </a:rPr>
                  <a:t>s</a:t>
                </a:r>
                <a:r>
                  <a:rPr lang="fr-CA" sz="1800" dirty="0">
                    <a:solidFill>
                      <a:srgbClr val="000000"/>
                    </a:solidFill>
                    <a:effectLst/>
                    <a:latin typeface="Times New Roman" panose="02020603050405020304" pitchFamily="18" charset="0"/>
                    <a:ea typeface="Times New Roman" panose="02020603050405020304" pitchFamily="18" charset="0"/>
                  </a:rPr>
                  <a:t>=10, on veut calculer </a:t>
                </a:r>
              </a:p>
              <a:p>
                <a:endParaRPr lang="fr-CA" dirty="0">
                  <a:solidFill>
                    <a:srgbClr val="00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rPr>
                            <m:t>12</m:t>
                          </m:r>
                        </m:e>
                      </m:d>
                      <m:r>
                        <a:rPr lang="fr-CA" b="0" i="1" smtClean="0">
                          <a:latin typeface="Cambria Math" panose="02040503050406030204" pitchFamily="18" charset="0"/>
                        </a:rPr>
                        <m:t>=1−</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≤11</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𝑝𝑝𝑜𝑖𝑠</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11,12</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 0,5384</m:t>
                      </m:r>
                    </m:oMath>
                  </m:oMathPara>
                </a14:m>
                <a:endParaRPr lang="fr-CA" dirty="0"/>
              </a:p>
              <a:p>
                <a:endParaRPr lang="fr-CA" dirty="0"/>
              </a:p>
              <a:p>
                <a:pPr marL="342900" indent="-342900">
                  <a:buAutoNum type="alphaLcParenBoth" startAt="2"/>
                </a:pPr>
                <a:r>
                  <a:rPr lang="fr-CA" dirty="0"/>
                  <a:t>Ici on s’intéresse à un intervalle de 8 heures donc </a:t>
                </a:r>
                <a:r>
                  <a:rPr lang="fr-CA" sz="1800" i="1" dirty="0" err="1">
                    <a:solidFill>
                      <a:srgbClr val="000000"/>
                    </a:solidFill>
                    <a:effectLst/>
                    <a:latin typeface="Times New Roman" panose="02020603050405020304" pitchFamily="18" charset="0"/>
                    <a:ea typeface="Times New Roman" panose="02020603050405020304" pitchFamily="18" charset="0"/>
                  </a:rPr>
                  <a:t>λ</a:t>
                </a:r>
                <a:r>
                  <a:rPr lang="fr-CA" sz="1800" dirty="0" err="1">
                    <a:solidFill>
                      <a:srgbClr val="000000"/>
                    </a:solidFill>
                    <a:effectLst/>
                    <a:latin typeface="Times New Roman" panose="02020603050405020304" pitchFamily="18" charset="0"/>
                    <a:ea typeface="Times New Roman" panose="02020603050405020304" pitchFamily="18" charset="0"/>
                  </a:rPr>
                  <a:t>s</a:t>
                </a:r>
                <a:r>
                  <a:rPr lang="fr-CA" sz="1800" dirty="0">
                    <a:solidFill>
                      <a:srgbClr val="000000"/>
                    </a:solidFill>
                    <a:effectLst/>
                    <a:latin typeface="Times New Roman" panose="02020603050405020304" pitchFamily="18" charset="0"/>
                    <a:ea typeface="Times New Roman" panose="02020603050405020304" pitchFamily="18" charset="0"/>
                  </a:rPr>
                  <a:t>=20, </a:t>
                </a:r>
              </a:p>
              <a:p>
                <a:pPr marL="342900" indent="-342900">
                  <a:buAutoNum type="alphaLcParenBoth" startAt="2"/>
                </a:pPr>
                <a:endParaRPr lang="fr-CA" dirty="0">
                  <a:solidFill>
                    <a:srgbClr val="000000"/>
                  </a:solidFill>
                  <a:latin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r>
                        <m:rPr>
                          <m:nor/>
                        </m:rPr>
                        <a:rPr lang="fr-CA" i="1" dirty="0">
                          <a:solidFill>
                            <a:srgbClr val="000000"/>
                          </a:solidFill>
                          <a:latin typeface="Times New Roman" panose="02020603050405020304" pitchFamily="18" charset="0"/>
                          <a:ea typeface="Times New Roman" panose="02020603050405020304" pitchFamily="18" charset="0"/>
                        </a:rPr>
                        <m:t>λ</m:t>
                      </m:r>
                      <m:r>
                        <m:rPr>
                          <m:nor/>
                        </m:rPr>
                        <a:rPr lang="fr-CA" dirty="0">
                          <a:solidFill>
                            <a:srgbClr val="000000"/>
                          </a:solidFill>
                          <a:latin typeface="Times New Roman" panose="02020603050405020304" pitchFamily="18" charset="0"/>
                          <a:ea typeface="Times New Roman" panose="02020603050405020304" pitchFamily="18" charset="0"/>
                        </a:rPr>
                        <m:t>s</m:t>
                      </m:r>
                      <m:r>
                        <m:rPr>
                          <m:nor/>
                        </m:rPr>
                        <a:rPr lang="fr-CA" dirty="0">
                          <a:solidFill>
                            <a:srgbClr val="000000"/>
                          </a:solidFill>
                          <a:latin typeface="Times New Roman" panose="02020603050405020304" pitchFamily="18" charset="0"/>
                          <a:ea typeface="Times New Roman" panose="02020603050405020304" pitchFamily="18" charset="0"/>
                        </a:rPr>
                        <m:t>=20  </m:t>
                      </m:r>
                      <m:r>
                        <m:rPr>
                          <m:nor/>
                        </m:rPr>
                        <a:rPr lang="fr-CA" b="0" i="0" dirty="0" smtClean="0">
                          <a:solidFill>
                            <a:srgbClr val="000000"/>
                          </a:solidFill>
                          <a:latin typeface="Times New Roman" panose="02020603050405020304" pitchFamily="18" charset="0"/>
                          <a:ea typeface="Times New Roman" panose="02020603050405020304" pitchFamily="18" charset="0"/>
                        </a:rPr>
                        <m:t>appels</m:t>
                      </m:r>
                      <m:r>
                        <m:rPr>
                          <m:nor/>
                        </m:rPr>
                        <a:rPr lang="fr-CA" b="0" i="0" dirty="0" smtClean="0">
                          <a:solidFill>
                            <a:srgbClr val="000000"/>
                          </a:solidFill>
                          <a:latin typeface="Times New Roman" panose="02020603050405020304" pitchFamily="18" charset="0"/>
                          <a:ea typeface="Times New Roman" panose="02020603050405020304" pitchFamily="18" charset="0"/>
                        </a:rPr>
                        <m:t>           </m:t>
                      </m:r>
                      <m:r>
                        <m:rPr>
                          <m:nor/>
                        </m:rPr>
                        <a:rPr lang="fr-CA" b="0" i="0" dirty="0" smtClean="0">
                          <a:solidFill>
                            <a:srgbClr val="000000"/>
                          </a:solidFill>
                          <a:latin typeface="Times New Roman" panose="02020603050405020304" pitchFamily="18" charset="0"/>
                          <a:ea typeface="Times New Roman" panose="02020603050405020304" pitchFamily="18" charset="0"/>
                        </a:rPr>
                        <m:t>et</m:t>
                      </m:r>
                      <m:r>
                        <m:rPr>
                          <m:nor/>
                        </m:rPr>
                        <a:rPr lang="fr-CA" b="0" i="0" dirty="0" smtClean="0">
                          <a:solidFill>
                            <a:srgbClr val="000000"/>
                          </a:solidFill>
                          <a:latin typeface="Times New Roman" panose="02020603050405020304" pitchFamily="18" charset="0"/>
                          <a:ea typeface="Times New Roman" panose="02020603050405020304" pitchFamily="18" charset="0"/>
                        </a:rPr>
                        <m:t>    </m:t>
                      </m:r>
                      <m:sSub>
                        <m:sSubPr>
                          <m:ctrlPr>
                            <a:rPr lang="fr-CA" b="0" i="1" dirty="0" smtClean="0">
                              <a:solidFill>
                                <a:srgbClr val="000000"/>
                              </a:solidFill>
                              <a:latin typeface="Cambria Math" panose="02040503050406030204" pitchFamily="18" charset="0"/>
                            </a:rPr>
                          </m:ctrlPr>
                        </m:sSubPr>
                        <m:e>
                          <m:r>
                            <a:rPr lang="fr-CA" b="0" i="1" dirty="0" smtClean="0">
                              <a:solidFill>
                                <a:srgbClr val="000000"/>
                              </a:solidFill>
                              <a:latin typeface="Cambria Math" panose="02040503050406030204" pitchFamily="18" charset="0"/>
                              <a:ea typeface="Cambria Math" panose="02040503050406030204" pitchFamily="18" charset="0"/>
                            </a:rPr>
                            <m:t>𝜎</m:t>
                          </m:r>
                        </m:e>
                        <m:sub>
                          <m:r>
                            <a:rPr lang="fr-CA" b="0" i="1" dirty="0" smtClean="0">
                              <a:solidFill>
                                <a:srgbClr val="000000"/>
                              </a:solidFill>
                              <a:latin typeface="Cambria Math" panose="02040503050406030204" pitchFamily="18" charset="0"/>
                            </a:rPr>
                            <m:t>𝑋</m:t>
                          </m:r>
                        </m:sub>
                      </m:sSub>
                      <m:r>
                        <a:rPr lang="fr-CA" b="0" i="1" dirty="0" smtClean="0">
                          <a:solidFill>
                            <a:srgbClr val="000000"/>
                          </a:solidFill>
                          <a:latin typeface="Cambria Math" panose="02040503050406030204" pitchFamily="18" charset="0"/>
                        </a:rPr>
                        <m:t>=</m:t>
                      </m:r>
                      <m:rad>
                        <m:radPr>
                          <m:degHide m:val="on"/>
                          <m:ctrlPr>
                            <a:rPr lang="fr-CA" b="0" i="1" dirty="0" smtClean="0">
                              <a:solidFill>
                                <a:srgbClr val="000000"/>
                              </a:solidFill>
                              <a:latin typeface="Cambria Math" panose="02040503050406030204" pitchFamily="18" charset="0"/>
                            </a:rPr>
                          </m:ctrlPr>
                        </m:radPr>
                        <m:deg/>
                        <m:e>
                          <m:r>
                            <a:rPr lang="fr-CA" b="0" i="1" dirty="0" smtClean="0">
                              <a:solidFill>
                                <a:srgbClr val="000000"/>
                              </a:solidFill>
                              <a:latin typeface="Cambria Math" panose="02040503050406030204" pitchFamily="18" charset="0"/>
                            </a:rPr>
                            <m:t>20</m:t>
                          </m:r>
                        </m:e>
                      </m:rad>
                      <m:r>
                        <a:rPr lang="fr-CA" b="0" i="1" dirty="0" smtClean="0">
                          <a:solidFill>
                            <a:srgbClr val="000000"/>
                          </a:solidFill>
                          <a:latin typeface="Cambria Math" panose="02040503050406030204" pitchFamily="18" charset="0"/>
                        </a:rPr>
                        <m:t>=4,47 </m:t>
                      </m:r>
                      <m:r>
                        <a:rPr lang="fr-CA" b="0" i="1" dirty="0" smtClean="0">
                          <a:solidFill>
                            <a:srgbClr val="000000"/>
                          </a:solidFill>
                          <a:latin typeface="Cambria Math" panose="02040503050406030204" pitchFamily="18" charset="0"/>
                        </a:rPr>
                        <m:t>𝑎𝑝𝑝𝑒𝑙𝑠</m:t>
                      </m:r>
                    </m:oMath>
                  </m:oMathPara>
                </a14:m>
                <a:endParaRPr lang="fr-CA" dirty="0"/>
              </a:p>
            </p:txBody>
          </p:sp>
        </mc:Choice>
        <mc:Fallback xmlns="">
          <p:sp>
            <p:nvSpPr>
              <p:cNvPr id="5" name="ZoneTexte 4">
                <a:extLst>
                  <a:ext uri="{FF2B5EF4-FFF2-40B4-BE49-F238E27FC236}">
                    <a16:creationId xmlns:a16="http://schemas.microsoft.com/office/drawing/2014/main" id="{3B47F4AC-07CA-4AA6-893C-331FA8F6D627}"/>
                  </a:ext>
                </a:extLst>
              </p:cNvPr>
              <p:cNvSpPr txBox="1">
                <a:spLocks noRot="1" noChangeAspect="1" noMove="1" noResize="1" noEditPoints="1" noAdjustHandles="1" noChangeArrowheads="1" noChangeShapeType="1" noTextEdit="1"/>
              </p:cNvSpPr>
              <p:nvPr/>
            </p:nvSpPr>
            <p:spPr>
              <a:xfrm>
                <a:off x="838200" y="3095897"/>
                <a:ext cx="10515600" cy="2656496"/>
              </a:xfrm>
              <a:prstGeom prst="rect">
                <a:avLst/>
              </a:prstGeom>
              <a:blipFill>
                <a:blip r:embed="rId2"/>
                <a:stretch>
                  <a:fillRect l="-522" t="-1606"/>
                </a:stretch>
              </a:blipFill>
            </p:spPr>
            <p:txBody>
              <a:bodyPr/>
              <a:lstStyle/>
              <a:p>
                <a:r>
                  <a:rPr lang="fr-CA">
                    <a:noFill/>
                  </a:rPr>
                  <a:t> </a:t>
                </a:r>
              </a:p>
            </p:txBody>
          </p:sp>
        </mc:Fallback>
      </mc:AlternateContent>
    </p:spTree>
    <p:extLst>
      <p:ext uri="{BB962C8B-B14F-4D97-AF65-F5344CB8AC3E}">
        <p14:creationId xmlns:p14="http://schemas.microsoft.com/office/powerpoint/2010/main" val="1684312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91EB99-15D4-4966-90E6-2E8CB3C51A77}"/>
              </a:ext>
            </a:extLst>
          </p:cNvPr>
          <p:cNvSpPr>
            <a:spLocks noGrp="1"/>
          </p:cNvSpPr>
          <p:nvPr>
            <p:ph type="title"/>
          </p:nvPr>
        </p:nvSpPr>
        <p:spPr>
          <a:xfrm>
            <a:off x="838200" y="365125"/>
            <a:ext cx="10515600" cy="3063875"/>
          </a:xfrm>
        </p:spPr>
        <p:txBody>
          <a:bodyPr>
            <a:normAutofit fontScale="90000"/>
          </a:bodyPr>
          <a:lstStyle/>
          <a:p>
            <a:pPr algn="l">
              <a:lnSpc>
                <a:spcPct val="200000"/>
              </a:lnSpc>
              <a:spcAft>
                <a:spcPts val="800"/>
              </a:spcAf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Dans une culture de cellules, on assiste en moyenne à une mutation de cellules dans chaque lot de 1000 cellules. Si le nombre de cellules mutantes obéit à un modèle de Poisson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la probabilité d’observer trois mutations dans une culture contenant 3500 cellules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déterminez l’espérance et la variance du nombre de cellules mutantes observées dans une culture de 100 000 cellules.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83F45C5B-564A-4A40-9E6D-D5D9D7EE886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C500605D-367B-4038-ABDB-B68DD46E8464}"/>
              </a:ext>
            </a:extLst>
          </p:cNvPr>
          <p:cNvSpPr>
            <a:spLocks noGrp="1"/>
          </p:cNvSpPr>
          <p:nvPr>
            <p:ph type="sldNum" sz="quarter" idx="12"/>
          </p:nvPr>
        </p:nvSpPr>
        <p:spPr/>
        <p:txBody>
          <a:bodyPr/>
          <a:lstStyle/>
          <a:p>
            <a:fld id="{26377AD9-CE17-438C-A638-C64D2D42D7CF}" type="slidenum">
              <a:rPr lang="fr-CA" smtClean="0"/>
              <a:t>8</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A514711-8547-4A81-A6E3-74EDA3165862}"/>
                  </a:ext>
                </a:extLst>
              </p:cNvPr>
              <p:cNvSpPr txBox="1"/>
              <p:nvPr/>
            </p:nvSpPr>
            <p:spPr>
              <a:xfrm>
                <a:off x="1045029" y="3304903"/>
                <a:ext cx="10308771" cy="1757341"/>
              </a:xfrm>
              <a:prstGeom prst="rect">
                <a:avLst/>
              </a:prstGeom>
              <a:noFill/>
            </p:spPr>
            <p:txBody>
              <a:bodyPr wrap="square" rtlCol="0">
                <a:spAutoFit/>
              </a:bodyPr>
              <a:lstStyle/>
              <a:p>
                <a:r>
                  <a:rPr lang="fr-CA" dirty="0"/>
                  <a:t>Réponse: Soit X, le nombre de cellules mutantes </a:t>
                </a:r>
                <a:r>
                  <a:rPr lang="fr-CA" sz="1800" dirty="0">
                    <a:effectLst/>
                    <a:latin typeface="Calibri" panose="020F0502020204030204" pitchFamily="34" charset="0"/>
                    <a:ea typeface="Times New Roman" panose="02020603050405020304" pitchFamily="18" charset="0"/>
                  </a:rPr>
                  <a:t>parmi 3500 cellules. Alors, </a:t>
                </a:r>
                <a:r>
                  <a:rPr lang="fr-CA" sz="1800" i="1" dirty="0">
                    <a:effectLst/>
                    <a:latin typeface="Calibri" panose="020F0502020204030204" pitchFamily="34" charset="0"/>
                    <a:ea typeface="Times New Roman" panose="02020603050405020304" pitchFamily="18" charset="0"/>
                  </a:rPr>
                  <a:t>X</a:t>
                </a:r>
                <a:r>
                  <a:rPr lang="fr-CA" sz="1800" dirty="0">
                    <a:effectLst/>
                    <a:latin typeface="Calibri" panose="020F0502020204030204" pitchFamily="34" charset="0"/>
                    <a:ea typeface="Times New Roman" panose="02020603050405020304" pitchFamily="18" charset="0"/>
                  </a:rPr>
                  <a:t> suit une loi de Poisson </a:t>
                </a:r>
                <a:r>
                  <a:rPr lang="fr-CA" dirty="0"/>
                  <a:t> avec </a:t>
                </a:r>
                <a14:m>
                  <m:oMath xmlns:m="http://schemas.openxmlformats.org/officeDocument/2006/math">
                    <m:r>
                      <a:rPr lang="fr-CA" i="1" smtClean="0">
                        <a:latin typeface="Cambria Math" panose="02040503050406030204" pitchFamily="18" charset="0"/>
                        <a:ea typeface="Cambria Math" panose="02040503050406030204" pitchFamily="18" charset="0"/>
                      </a:rPr>
                      <m:t>𝜆</m:t>
                    </m:r>
                    <m:r>
                      <a:rPr lang="fr-CA" b="0" i="1" smtClean="0">
                        <a:latin typeface="Cambria Math" panose="02040503050406030204" pitchFamily="18" charset="0"/>
                        <a:ea typeface="Cambria Math" panose="02040503050406030204" pitchFamily="18" charset="0"/>
                      </a:rPr>
                      <m:t>= </m:t>
                    </m:r>
                    <m:f>
                      <m:fPr>
                        <m:ctrlPr>
                          <a:rPr lang="fr-CA" b="0" i="1" smtClean="0">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1 </m:t>
                        </m:r>
                        <m:r>
                          <a:rPr lang="fr-CA" i="1">
                            <a:latin typeface="Cambria Math" panose="02040503050406030204" pitchFamily="18" charset="0"/>
                            <a:ea typeface="Cambria Math" panose="02040503050406030204" pitchFamily="18" charset="0"/>
                          </a:rPr>
                          <m:t>𝑐𝑒𝑙𝑙𝑢𝑙𝑒</m:t>
                        </m:r>
                        <m:r>
                          <a:rPr lang="fr-CA" i="1">
                            <a:latin typeface="Cambria Math" panose="02040503050406030204" pitchFamily="18" charset="0"/>
                            <a:ea typeface="Cambria Math" panose="02040503050406030204" pitchFamily="18" charset="0"/>
                          </a:rPr>
                          <m:t> </m:t>
                        </m:r>
                        <m:r>
                          <a:rPr lang="fr-CA" i="1">
                            <a:latin typeface="Cambria Math" panose="02040503050406030204" pitchFamily="18" charset="0"/>
                            <a:ea typeface="Cambria Math" panose="02040503050406030204" pitchFamily="18" charset="0"/>
                          </a:rPr>
                          <m:t>𝑚𝑢𝑡𝑎𝑛𝑡𝑒</m:t>
                        </m:r>
                      </m:num>
                      <m:den>
                        <m:r>
                          <a:rPr lang="fr-CA" b="0" i="1" smtClean="0">
                            <a:latin typeface="Cambria Math" panose="02040503050406030204" pitchFamily="18" charset="0"/>
                            <a:ea typeface="Cambria Math" panose="02040503050406030204" pitchFamily="18" charset="0"/>
                          </a:rPr>
                          <m:t>1000</m:t>
                        </m:r>
                      </m:den>
                    </m:f>
                    <m:r>
                      <a:rPr lang="fr-CA" b="0" i="1" smtClean="0">
                        <a:latin typeface="Cambria Math" panose="02040503050406030204" pitchFamily="18" charset="0"/>
                        <a:ea typeface="Cambria Math" panose="02040503050406030204" pitchFamily="18" charset="0"/>
                      </a:rPr>
                      <m:t>𝑐𝑒𝑙𝑙𝑢𝑙𝑒𝑠</m:t>
                    </m:r>
                  </m:oMath>
                </a14:m>
                <a:r>
                  <a:rPr lang="fr-CA" dirty="0"/>
                  <a:t>  donc </a:t>
                </a:r>
                <a14:m>
                  <m:oMath xmlns:m="http://schemas.openxmlformats.org/officeDocument/2006/math">
                    <m:r>
                      <a:rPr lang="fr-CA" i="1">
                        <a:latin typeface="Cambria Math" panose="02040503050406030204" pitchFamily="18" charset="0"/>
                        <a:ea typeface="Cambria Math" panose="02040503050406030204" pitchFamily="18" charset="0"/>
                      </a:rPr>
                      <m:t>𝜆</m:t>
                    </m:r>
                    <m:r>
                      <m:rPr>
                        <m:sty m:val="p"/>
                      </m:rPr>
                      <a:rPr lang="fr-CA" b="0" i="0" smtClean="0">
                        <a:latin typeface="Cambria Math" panose="02040503050406030204" pitchFamily="18" charset="0"/>
                        <a:ea typeface="Cambria Math" panose="02040503050406030204" pitchFamily="18" charset="0"/>
                      </a:rPr>
                      <m:t>s</m:t>
                    </m:r>
                    <m:r>
                      <a:rPr lang="fr-CA" b="0" i="0" smtClean="0">
                        <a:latin typeface="Cambria Math" panose="02040503050406030204" pitchFamily="18" charset="0"/>
                        <a:ea typeface="Cambria Math" panose="02040503050406030204" pitchFamily="18" charset="0"/>
                      </a:rPr>
                      <m:t>=3,5 </m:t>
                    </m:r>
                    <m:r>
                      <m:rPr>
                        <m:sty m:val="p"/>
                      </m:rPr>
                      <a:rPr lang="fr-CA" b="0" i="0" smtClean="0">
                        <a:latin typeface="Cambria Math" panose="02040503050406030204" pitchFamily="18" charset="0"/>
                        <a:ea typeface="Cambria Math" panose="02040503050406030204" pitchFamily="18" charset="0"/>
                      </a:rPr>
                      <m:t>cellules</m:t>
                    </m:r>
                    <m:r>
                      <a:rPr lang="fr-CA" b="0" i="0" smtClean="0">
                        <a:latin typeface="Cambria Math" panose="02040503050406030204" pitchFamily="18" charset="0"/>
                        <a:ea typeface="Cambria Math" panose="02040503050406030204" pitchFamily="18" charset="0"/>
                      </a:rPr>
                      <m:t> </m:t>
                    </m:r>
                    <m:r>
                      <m:rPr>
                        <m:sty m:val="p"/>
                      </m:rPr>
                      <a:rPr lang="fr-CA" b="0" i="0" smtClean="0">
                        <a:latin typeface="Cambria Math" panose="02040503050406030204" pitchFamily="18" charset="0"/>
                        <a:ea typeface="Cambria Math" panose="02040503050406030204" pitchFamily="18" charset="0"/>
                      </a:rPr>
                      <m:t>mutantes</m:t>
                    </m:r>
                    <m:r>
                      <a:rPr lang="fr-CA" b="0" i="0" smtClean="0">
                        <a:latin typeface="Cambria Math" panose="02040503050406030204" pitchFamily="18" charset="0"/>
                        <a:ea typeface="Cambria Math" panose="02040503050406030204" pitchFamily="18" charset="0"/>
                      </a:rPr>
                      <m:t>/3500 </m:t>
                    </m:r>
                    <m:r>
                      <m:rPr>
                        <m:sty m:val="p"/>
                      </m:rPr>
                      <a:rPr lang="fr-CA" b="0" i="0" smtClean="0">
                        <a:latin typeface="Cambria Math" panose="02040503050406030204" pitchFamily="18" charset="0"/>
                        <a:ea typeface="Cambria Math" panose="02040503050406030204" pitchFamily="18" charset="0"/>
                      </a:rPr>
                      <m:t>cellules</m:t>
                    </m:r>
                  </m:oMath>
                </a14:m>
                <a:endParaRPr lang="fr-CA" dirty="0"/>
              </a:p>
              <a:p>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=3</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sSup>
                          <m:sSupPr>
                            <m:ctrlPr>
                              <a:rPr lang="fr-CA" b="0" i="1" smtClean="0">
                                <a:latin typeface="Cambria Math" panose="02040503050406030204" pitchFamily="18" charset="0"/>
                              </a:rPr>
                            </m:ctrlPr>
                          </m:sSupPr>
                          <m:e>
                            <m:r>
                              <a:rPr lang="fr-CA" b="0" i="1" smtClean="0">
                                <a:latin typeface="Cambria Math" panose="02040503050406030204" pitchFamily="18" charset="0"/>
                              </a:rPr>
                              <m:t>3,5</m:t>
                            </m:r>
                          </m:e>
                          <m:sup>
                            <m:r>
                              <a:rPr lang="fr-CA" b="0" i="1" smtClean="0">
                                <a:latin typeface="Cambria Math" panose="02040503050406030204" pitchFamily="18" charset="0"/>
                              </a:rPr>
                              <m:t>3</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𝑒</m:t>
                            </m:r>
                          </m:e>
                          <m:sup>
                            <m:r>
                              <a:rPr lang="fr-CA" b="0" i="1" smtClean="0">
                                <a:latin typeface="Cambria Math" panose="02040503050406030204" pitchFamily="18" charset="0"/>
                              </a:rPr>
                              <m:t>−3,5</m:t>
                            </m:r>
                          </m:sup>
                        </m:sSup>
                      </m:num>
                      <m:den>
                        <m:r>
                          <a:rPr lang="fr-CA" b="0" i="1" smtClean="0">
                            <a:latin typeface="Cambria Math" panose="02040503050406030204" pitchFamily="18" charset="0"/>
                          </a:rPr>
                          <m:t>3!</m:t>
                        </m:r>
                      </m:den>
                    </m:f>
                    <m:r>
                      <a:rPr lang="fr-CA" b="0" i="1" smtClean="0">
                        <a:latin typeface="Cambria Math" panose="02040503050406030204" pitchFamily="18" charset="0"/>
                      </a:rPr>
                      <m:t>=0,2157855</m:t>
                    </m:r>
                  </m:oMath>
                </a14:m>
                <a:r>
                  <a:rPr lang="fr-CA" dirty="0"/>
                  <a:t> ou bien on utilise R et on tape </a:t>
                </a:r>
                <a:r>
                  <a:rPr lang="fr-CA" dirty="0" err="1"/>
                  <a:t>dpois</a:t>
                </a:r>
                <a:r>
                  <a:rPr lang="fr-CA" dirty="0"/>
                  <a:t>(3,3.5) et on obtient: 0,2157855</a:t>
                </a:r>
              </a:p>
              <a:p>
                <a:pPr marL="342900" indent="-342900">
                  <a:buAutoNum type="alphaLcParenBoth"/>
                </a:pPr>
                <a:r>
                  <a:rPr lang="fr-CA" dirty="0"/>
                  <a:t> Ici on s’intéresse à 100 000 cellules, donc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=100 </m:t>
                    </m:r>
                    <m:r>
                      <a:rPr lang="fr-CA" b="0" i="1" smtClean="0">
                        <a:latin typeface="Cambria Math" panose="02040503050406030204" pitchFamily="18" charset="0"/>
                      </a:rPr>
                      <m:t>𝑐𝑒𝑙𝑙𝑢𝑙𝑒𝑠</m:t>
                    </m:r>
                    <m:r>
                      <a:rPr lang="fr-CA" b="0" i="1" smtClean="0">
                        <a:latin typeface="Cambria Math" panose="02040503050406030204" pitchFamily="18" charset="0"/>
                      </a:rPr>
                      <m:t> </m:t>
                    </m:r>
                    <m:r>
                      <a:rPr lang="fr-CA" b="0" i="1" smtClean="0">
                        <a:latin typeface="Cambria Math" panose="02040503050406030204" pitchFamily="18" charset="0"/>
                      </a:rPr>
                      <m:t>𝑚𝑢𝑡𝑎𝑛𝑡𝑒𝑠</m:t>
                    </m:r>
                    <m:r>
                      <a:rPr lang="fr-CA" b="0" i="1" smtClean="0">
                        <a:latin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2A514711-8547-4A81-A6E3-74EDA3165862}"/>
                  </a:ext>
                </a:extLst>
              </p:cNvPr>
              <p:cNvSpPr txBox="1">
                <a:spLocks noRot="1" noChangeAspect="1" noMove="1" noResize="1" noEditPoints="1" noAdjustHandles="1" noChangeArrowheads="1" noChangeShapeType="1" noTextEdit="1"/>
              </p:cNvSpPr>
              <p:nvPr/>
            </p:nvSpPr>
            <p:spPr>
              <a:xfrm>
                <a:off x="1045029" y="3304903"/>
                <a:ext cx="10308771" cy="1757341"/>
              </a:xfrm>
              <a:prstGeom prst="rect">
                <a:avLst/>
              </a:prstGeom>
              <a:blipFill>
                <a:blip r:embed="rId2"/>
                <a:stretch>
                  <a:fillRect l="-473" t="-1736" b="-4861"/>
                </a:stretch>
              </a:blipFill>
            </p:spPr>
            <p:txBody>
              <a:bodyPr/>
              <a:lstStyle/>
              <a:p>
                <a:r>
                  <a:rPr lang="fr-CA">
                    <a:noFill/>
                  </a:rPr>
                  <a:t> </a:t>
                </a:r>
              </a:p>
            </p:txBody>
          </p:sp>
        </mc:Fallback>
      </mc:AlternateContent>
    </p:spTree>
    <p:extLst>
      <p:ext uri="{BB962C8B-B14F-4D97-AF65-F5344CB8AC3E}">
        <p14:creationId xmlns:p14="http://schemas.microsoft.com/office/powerpoint/2010/main" val="1998763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072B43E-D58D-41AE-9757-4C93B02BC8C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D5B3156-45B2-4772-AADE-87ECD882C26D}"/>
              </a:ext>
            </a:extLst>
          </p:cNvPr>
          <p:cNvSpPr>
            <a:spLocks noGrp="1"/>
          </p:cNvSpPr>
          <p:nvPr>
            <p:ph type="sldNum" sz="quarter" idx="12"/>
          </p:nvPr>
        </p:nvSpPr>
        <p:spPr/>
        <p:txBody>
          <a:bodyPr/>
          <a:lstStyle/>
          <a:p>
            <a:fld id="{26377AD9-CE17-438C-A638-C64D2D42D7CF}" type="slidenum">
              <a:rPr lang="fr-CA" smtClean="0"/>
              <a:t>9</a:t>
            </a:fld>
            <a:endParaRPr lang="fr-CA"/>
          </a:p>
        </p:txBody>
      </p:sp>
      <mc:AlternateContent xmlns:mc="http://schemas.openxmlformats.org/markup-compatibility/2006" xmlns:a14="http://schemas.microsoft.com/office/drawing/2010/main">
        <mc:Choice Requires="a14">
          <p:sp>
            <p:nvSpPr>
              <p:cNvPr id="10" name="Titre 9">
                <a:extLst>
                  <a:ext uri="{FF2B5EF4-FFF2-40B4-BE49-F238E27FC236}">
                    <a16:creationId xmlns:a16="http://schemas.microsoft.com/office/drawing/2014/main" id="{0DA546D2-68EC-4AAD-BD9E-A22A0CA1D096}"/>
                  </a:ext>
                </a:extLst>
              </p:cNvPr>
              <p:cNvSpPr>
                <a:spLocks noGrp="1"/>
              </p:cNvSpPr>
              <p:nvPr>
                <p:ph type="title"/>
              </p:nvPr>
            </p:nvSpPr>
            <p:spPr>
              <a:xfrm>
                <a:off x="838200" y="365125"/>
                <a:ext cx="10356669" cy="3357790"/>
              </a:xfrm>
            </p:spPr>
            <p:txBody>
              <a:bodyPr>
                <a:normAutofit fontScale="90000"/>
              </a:bodyPr>
              <a:lstStyle/>
              <a:p>
                <a:pPr/>
                <a:r>
                  <a:rPr lang="fr-CA" b="1" dirty="0"/>
                  <a:t>Théorème: </a:t>
                </a:r>
                <a:r>
                  <a:rPr lang="fr-CA" dirty="0"/>
                  <a:t>Soient n variables aléatoires</a:t>
                </a:r>
                <a:br>
                  <a:rPr lang="fr-CA" dirty="0"/>
                </a:b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𝑛</m:t>
                          </m:r>
                        </m:sub>
                      </m:sSub>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𝑃𝑜𝑖𝑠𝑠𝑜𝑛</m:t>
                      </m:r>
                      <m:r>
                        <a:rPr lang="fr-CA" b="0" i="1" smtClean="0">
                          <a:latin typeface="Cambria Math" panose="02040503050406030204" pitchFamily="18" charset="0"/>
                        </a:rPr>
                        <m:t> </m:t>
                      </m:r>
                      <m:r>
                        <a:rPr lang="fr-CA" b="0" i="1" smtClean="0">
                          <a:latin typeface="Cambria Math" panose="02040503050406030204" pitchFamily="18" charset="0"/>
                        </a:rPr>
                        <m:t>𝑖𝑛𝑑</m:t>
                      </m:r>
                      <m:r>
                        <a:rPr lang="fr-CA" b="0" i="1" smtClean="0">
                          <a:latin typeface="Cambria Math" panose="02040503050406030204" pitchFamily="18" charset="0"/>
                        </a:rPr>
                        <m:t>é</m:t>
                      </m:r>
                      <m:r>
                        <a:rPr lang="fr-CA" b="0" i="1" smtClean="0">
                          <a:latin typeface="Cambria Math" panose="02040503050406030204" pitchFamily="18" charset="0"/>
                        </a:rPr>
                        <m:t>𝑝𝑒𝑛𝑑𝑎𝑛𝑡𝑒𝑠</m:t>
                      </m:r>
                    </m:oMath>
                  </m:oMathPara>
                </a14:m>
                <a:br>
                  <a:rPr lang="fr-CA" dirty="0"/>
                </a:br>
                <a:r>
                  <a:rPr lang="fr-CA" dirty="0"/>
                  <a:t>de paramètres </a:t>
                </a:r>
                <a14:m>
                  <m:oMath xmlns:m="http://schemas.openxmlformats.org/officeDocument/2006/math">
                    <m:sSub>
                      <m:sSubPr>
                        <m:ctrlPr>
                          <a:rPr lang="fr-CA" i="1" smtClean="0">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b="0" i="1" smtClean="0">
                            <a:latin typeface="Cambria Math" panose="02040503050406030204" pitchFamily="18" charset="0"/>
                          </a:rPr>
                          <m:t>𝑛</m:t>
                        </m:r>
                      </m:sub>
                    </m:sSub>
                  </m:oMath>
                </a14:m>
                <a:r>
                  <a:rPr lang="fr-CA" dirty="0"/>
                  <a:t> alors leur somme</a:t>
                </a:r>
                <a:br>
                  <a:rPr lang="fr-CA" dirty="0"/>
                </a:br>
                <a14:m>
                  <m:oMath xmlns:m="http://schemas.openxmlformats.org/officeDocument/2006/math">
                    <m:r>
                      <a:rPr lang="fr-CA" b="0" i="1" smtClean="0">
                        <a:latin typeface="Cambria Math" panose="02040503050406030204" pitchFamily="18" charset="0"/>
                      </a:rPr>
                      <m:t>𝑆</m:t>
                    </m:r>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1</m:t>
                        </m:r>
                      </m:sub>
                    </m:sSub>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2</m:t>
                        </m:r>
                      </m:sub>
                    </m:sSub>
                    <m:r>
                      <a:rPr lang="fr-CA" b="0" i="1" smtClean="0">
                        <a:latin typeface="Cambria Math" panose="02040503050406030204" pitchFamily="18" charset="0"/>
                      </a:rPr>
                      <m:t>+</m:t>
                    </m:r>
                    <m:r>
                      <a:rPr lang="fr-CA" i="1">
                        <a:latin typeface="Cambria Math" panose="02040503050406030204" pitchFamily="18" charset="0"/>
                      </a:rPr>
                      <m:t>….</m:t>
                    </m:r>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𝑛</m:t>
                        </m:r>
                      </m:sub>
                    </m:sSub>
                  </m:oMath>
                </a14:m>
                <a:r>
                  <a:rPr lang="fr-CA" dirty="0"/>
                  <a:t> est aussi une variable de Poisson de paramètre </a:t>
                </a:r>
                <a14:m>
                  <m:oMath xmlns:m="http://schemas.openxmlformats.org/officeDocument/2006/math">
                    <m:r>
                      <m:rPr>
                        <m:nor/>
                      </m:rPr>
                      <a:rPr lang="fr-CA" i="1" dirty="0">
                        <a:solidFill>
                          <a:srgbClr val="000000"/>
                        </a:solidFill>
                        <a:latin typeface="Times New Roman" panose="02020603050405020304" pitchFamily="18" charset="0"/>
                        <a:ea typeface="Times New Roman" panose="02020603050405020304" pitchFamily="18" charset="0"/>
                      </a:rPr>
                      <m:t>λ</m:t>
                    </m:r>
                  </m:oMath>
                </a14:m>
                <a:r>
                  <a:rPr lang="fr-CA" dirty="0"/>
                  <a:t>= </a:t>
                </a:r>
                <a14:m>
                  <m:oMath xmlns:m="http://schemas.openxmlformats.org/officeDocument/2006/math">
                    <m:sSub>
                      <m:sSubPr>
                        <m:ctrlPr>
                          <a:rPr lang="fr-CA" i="1">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i="1">
                            <a:latin typeface="Cambria Math" panose="02040503050406030204" pitchFamily="18" charset="0"/>
                          </a:rPr>
                          <m:t>1</m:t>
                        </m:r>
                      </m:sub>
                    </m:sSub>
                    <m:r>
                      <a:rPr lang="fr-CA" b="0" i="1" smtClean="0">
                        <a:latin typeface="Cambria Math" panose="02040503050406030204" pitchFamily="18" charset="0"/>
                      </a:rPr>
                      <m:t>+</m:t>
                    </m:r>
                    <m:sSub>
                      <m:sSubPr>
                        <m:ctrlPr>
                          <a:rPr lang="fr-CA" i="1">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i="1">
                            <a:latin typeface="Cambria Math" panose="02040503050406030204" pitchFamily="18" charset="0"/>
                          </a:rPr>
                          <m:t>2</m:t>
                        </m:r>
                      </m:sub>
                    </m:sSub>
                    <m:r>
                      <a:rPr lang="fr-CA" b="0" i="1" smtClean="0">
                        <a:latin typeface="Cambria Math" panose="02040503050406030204" pitchFamily="18" charset="0"/>
                      </a:rPr>
                      <m:t>+</m:t>
                    </m:r>
                    <m:r>
                      <a:rPr lang="fr-CA" i="1">
                        <a:latin typeface="Cambria Math" panose="02040503050406030204" pitchFamily="18" charset="0"/>
                      </a:rPr>
                      <m:t>…..</m:t>
                    </m:r>
                    <m:r>
                      <a:rPr lang="fr-CA" b="0" i="1" smtClean="0">
                        <a:latin typeface="Cambria Math" panose="02040503050406030204" pitchFamily="18" charset="0"/>
                      </a:rPr>
                      <m:t>+</m:t>
                    </m:r>
                    <m:sSub>
                      <m:sSubPr>
                        <m:ctrlPr>
                          <a:rPr lang="fr-CA" i="1">
                            <a:latin typeface="Cambria Math" panose="02040503050406030204" pitchFamily="18" charset="0"/>
                          </a:rPr>
                        </m:ctrlPr>
                      </m:sSubPr>
                      <m:e>
                        <m:r>
                          <m:rPr>
                            <m:nor/>
                          </m:rPr>
                          <a:rPr lang="fr-CA" i="1" dirty="0">
                            <a:solidFill>
                              <a:srgbClr val="000000"/>
                            </a:solidFill>
                            <a:latin typeface="Times New Roman" panose="02020603050405020304" pitchFamily="18" charset="0"/>
                            <a:ea typeface="Times New Roman" panose="02020603050405020304" pitchFamily="18" charset="0"/>
                          </a:rPr>
                          <m:t>λ</m:t>
                        </m:r>
                      </m:e>
                      <m:sub>
                        <m:r>
                          <a:rPr lang="fr-CA" i="1">
                            <a:latin typeface="Cambria Math" panose="02040503050406030204" pitchFamily="18" charset="0"/>
                          </a:rPr>
                          <m:t>𝑛</m:t>
                        </m:r>
                      </m:sub>
                    </m:sSub>
                  </m:oMath>
                </a14:m>
                <a:r>
                  <a:rPr lang="fr-CA" dirty="0"/>
                  <a:t> </a:t>
                </a:r>
              </a:p>
            </p:txBody>
          </p:sp>
        </mc:Choice>
        <mc:Fallback xmlns="">
          <p:sp>
            <p:nvSpPr>
              <p:cNvPr id="10" name="Titre 9">
                <a:extLst>
                  <a:ext uri="{FF2B5EF4-FFF2-40B4-BE49-F238E27FC236}">
                    <a16:creationId xmlns:a16="http://schemas.microsoft.com/office/drawing/2014/main" id="{0DA546D2-68EC-4AAD-BD9E-A22A0CA1D096}"/>
                  </a:ext>
                </a:extLst>
              </p:cNvPr>
              <p:cNvSpPr>
                <a:spLocks noGrp="1" noRot="1" noChangeAspect="1" noMove="1" noResize="1" noEditPoints="1" noAdjustHandles="1" noChangeArrowheads="1" noChangeShapeType="1" noTextEdit="1"/>
              </p:cNvSpPr>
              <p:nvPr>
                <p:ph type="title"/>
              </p:nvPr>
            </p:nvSpPr>
            <p:spPr>
              <a:xfrm>
                <a:off x="838200" y="365125"/>
                <a:ext cx="10356669" cy="3357790"/>
              </a:xfrm>
              <a:blipFill>
                <a:blip r:embed="rId2"/>
                <a:stretch>
                  <a:fillRect l="-2120" r="-1296"/>
                </a:stretch>
              </a:blipFill>
            </p:spPr>
            <p:txBody>
              <a:bodyPr/>
              <a:lstStyle/>
              <a:p>
                <a:r>
                  <a:rPr lang="fr-CA">
                    <a:noFill/>
                  </a:rPr>
                  <a:t> </a:t>
                </a:r>
              </a:p>
            </p:txBody>
          </p:sp>
        </mc:Fallback>
      </mc:AlternateContent>
    </p:spTree>
    <p:extLst>
      <p:ext uri="{BB962C8B-B14F-4D97-AF65-F5344CB8AC3E}">
        <p14:creationId xmlns:p14="http://schemas.microsoft.com/office/powerpoint/2010/main" val="2510957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B31C38-3C9C-43E3-87EC-7B0214258F79}"/>
              </a:ext>
            </a:extLst>
          </p:cNvPr>
          <p:cNvSpPr>
            <a:spLocks noGrp="1"/>
          </p:cNvSpPr>
          <p:nvPr>
            <p:ph type="title"/>
          </p:nvPr>
        </p:nvSpPr>
        <p:spPr>
          <a:xfrm>
            <a:off x="838200" y="365125"/>
            <a:ext cx="10515600" cy="2103755"/>
          </a:xfrm>
        </p:spPr>
        <p:txBody>
          <a:bodyPr>
            <a:normAutofit/>
          </a:bodyPr>
          <a:lstStyle/>
          <a:p>
            <a:r>
              <a:rPr lang="fr-CA" dirty="0"/>
              <a:t>Exemple: </a:t>
            </a:r>
            <a:r>
              <a:rPr lang="fr-FR" sz="1800" dirty="0">
                <a:solidFill>
                  <a:srgbClr val="000000"/>
                </a:solidFill>
                <a:effectLst/>
                <a:latin typeface="Times New Roman" panose="02020603050405020304" pitchFamily="18" charset="0"/>
                <a:ea typeface="Times New Roman" panose="02020603050405020304" pitchFamily="18" charset="0"/>
              </a:rPr>
              <a:t>L’échangeur Turcot à Montréal est un carrefour où la circulation de trois autoroutes, les A10, A15 et A20, peut être modélisée comme une variable de Poisson d’une moyenne de 2400 véhicules à l’heure pour la A20, de 1800 véhicules à l’heure pour la A15 et de 1200 véhicules à l’heure pour la A10. Quelle est la probabilité qu’on assiste durant une minute au passage de 100 véhicules dans cet échangeur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2997C3FB-4431-44F5-ACAF-5D310BF3CC6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9195EF0-6AAB-44AE-AD9D-24A370E2BF3F}"/>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DA61376-2EFD-4F04-934F-29F9BDD13707}"/>
                  </a:ext>
                </a:extLst>
              </p:cNvPr>
              <p:cNvSpPr txBox="1"/>
              <p:nvPr/>
            </p:nvSpPr>
            <p:spPr>
              <a:xfrm>
                <a:off x="992777" y="2286000"/>
                <a:ext cx="9901646" cy="2186561"/>
              </a:xfrm>
              <a:prstGeom prst="rect">
                <a:avLst/>
              </a:prstGeom>
              <a:noFill/>
            </p:spPr>
            <p:txBody>
              <a:bodyPr wrap="square" rtlCol="0">
                <a:spAutoFit/>
              </a:bodyPr>
              <a:lstStyle/>
              <a:p>
                <a:r>
                  <a:rPr lang="fr-CA" dirty="0"/>
                  <a:t>Puisqu’on s’intéresse à une longueur d’une minute, </a:t>
                </a:r>
              </a:p>
              <a:p>
                <a:r>
                  <a:rPr lang="fr-FR" sz="1800" dirty="0">
                    <a:solidFill>
                      <a:srgbClr val="000000"/>
                    </a:solidFill>
                    <a:effectLst/>
                    <a:latin typeface="Times New Roman" panose="02020603050405020304" pitchFamily="18" charset="0"/>
                    <a:ea typeface="Times New Roman" panose="02020603050405020304" pitchFamily="18" charset="0"/>
                  </a:rPr>
                  <a:t>Les trois variables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et </a:t>
                </a:r>
                <a:r>
                  <a:rPr lang="fr-FR" sz="1800" i="1" dirty="0">
                    <a:solidFill>
                      <a:srgbClr val="000000"/>
                    </a:solidFill>
                    <a:effectLst/>
                    <a:latin typeface="Times New Roman" panose="02020603050405020304" pitchFamily="18" charset="0"/>
                    <a:ea typeface="Times New Roman" panose="02020603050405020304" pitchFamily="18" charset="0"/>
                  </a:rPr>
                  <a:t>Z</a:t>
                </a:r>
                <a:r>
                  <a:rPr lang="fr-FR" sz="1800" dirty="0">
                    <a:solidFill>
                      <a:srgbClr val="000000"/>
                    </a:solidFill>
                    <a:effectLst/>
                    <a:latin typeface="Times New Roman" panose="02020603050405020304" pitchFamily="18" charset="0"/>
                    <a:ea typeface="Times New Roman" panose="02020603050405020304" pitchFamily="18" charset="0"/>
                  </a:rPr>
                  <a:t> qui indiquent le nombre de véhicules arrivant par chacune de ces autoroutes sont indépendantes ; donc, leur somme </a:t>
                </a:r>
                <a:r>
                  <a:rPr lang="fr-FR" sz="1800" i="1" dirty="0">
                    <a:solidFill>
                      <a:srgbClr val="000000"/>
                    </a:solidFill>
                    <a:effectLst/>
                    <a:latin typeface="Times New Roman" panose="02020603050405020304" pitchFamily="18" charset="0"/>
                    <a:ea typeface="Times New Roman" panose="02020603050405020304" pitchFamily="18" charset="0"/>
                  </a:rPr>
                  <a:t>S</a:t>
                </a:r>
                <a:r>
                  <a:rPr lang="fr-FR" sz="1800" dirty="0">
                    <a:solidFill>
                      <a:srgbClr val="000000"/>
                    </a:solidFill>
                    <a:effectLst/>
                    <a:latin typeface="Times New Roman" panose="02020603050405020304" pitchFamily="18" charset="0"/>
                    <a:ea typeface="Times New Roman" panose="02020603050405020304" pitchFamily="18" charset="0"/>
                  </a:rPr>
                  <a:t> = </a:t>
                </a:r>
                <a:r>
                  <a:rPr lang="fr-FR" sz="1800" i="1" dirty="0">
                    <a:solidFill>
                      <a:srgbClr val="000000"/>
                    </a:solidFill>
                    <a:effectLst/>
                    <a:latin typeface="Times New Roman" panose="02020603050405020304" pitchFamily="18" charset="0"/>
                    <a:ea typeface="Times New Roman" panose="02020603050405020304" pitchFamily="18" charset="0"/>
                  </a:rPr>
                  <a:t>X </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Y </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Z</a:t>
                </a:r>
                <a:r>
                  <a:rPr lang="fr-FR" sz="1800" dirty="0">
                    <a:solidFill>
                      <a:srgbClr val="000000"/>
                    </a:solidFill>
                    <a:effectLst/>
                    <a:latin typeface="Times New Roman" panose="02020603050405020304" pitchFamily="18" charset="0"/>
                    <a:ea typeface="Times New Roman" panose="02020603050405020304" pitchFamily="18" charset="0"/>
                  </a:rPr>
                  <a:t> est une variable de Poisson d’une moyenne de </a:t>
                </a:r>
                <a:r>
                  <a:rPr lang="fr-FR" sz="1800" i="1" dirty="0">
                    <a:solidFill>
                      <a:srgbClr val="000000"/>
                    </a:solidFill>
                    <a:effectLst/>
                    <a:latin typeface="Times New Roman" panose="02020603050405020304" pitchFamily="18" charset="0"/>
                    <a:ea typeface="Times New Roman" panose="02020603050405020304" pitchFamily="18" charset="0"/>
                  </a:rPr>
                  <a:t>λ</a:t>
                </a:r>
                <a:r>
                  <a:rPr lang="fr-FR" sz="1800" dirty="0">
                    <a:solidFill>
                      <a:srgbClr val="000000"/>
                    </a:solidFill>
                    <a:effectLst/>
                    <a:latin typeface="Times New Roman" panose="02020603050405020304" pitchFamily="18" charset="0"/>
                    <a:ea typeface="Times New Roman" panose="02020603050405020304" pitchFamily="18" charset="0"/>
                  </a:rPr>
                  <a:t> = 40 + 30 + 20 = 90 véhicules à la minute.</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a:p>
                <a:endParaRPr lang="fr-CA" dirty="0"/>
              </a:p>
              <a:p>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=100</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sSup>
                          <m:sSupPr>
                            <m:ctrlPr>
                              <a:rPr lang="fr-CA" b="0" i="1" smtClean="0">
                                <a:latin typeface="Cambria Math" panose="02040503050406030204" pitchFamily="18" charset="0"/>
                              </a:rPr>
                            </m:ctrlPr>
                          </m:sSupPr>
                          <m:e>
                            <m:r>
                              <a:rPr lang="fr-CA" b="0" i="1" smtClean="0">
                                <a:latin typeface="Cambria Math" panose="02040503050406030204" pitchFamily="18" charset="0"/>
                              </a:rPr>
                              <m:t>90</m:t>
                            </m:r>
                          </m:e>
                          <m:sup>
                            <m:r>
                              <a:rPr lang="fr-CA" b="0" i="1" smtClean="0">
                                <a:latin typeface="Cambria Math" panose="02040503050406030204" pitchFamily="18" charset="0"/>
                              </a:rPr>
                              <m:t>100</m:t>
                            </m:r>
                          </m:sup>
                        </m:sSup>
                        <m:sSup>
                          <m:sSupPr>
                            <m:ctrlPr>
                              <a:rPr lang="fr-CA" b="0" i="1" smtClean="0">
                                <a:latin typeface="Cambria Math" panose="02040503050406030204" pitchFamily="18" charset="0"/>
                              </a:rPr>
                            </m:ctrlPr>
                          </m:sSupPr>
                          <m:e>
                            <m:r>
                              <a:rPr lang="fr-CA" b="0" i="1" smtClean="0">
                                <a:latin typeface="Cambria Math" panose="02040503050406030204" pitchFamily="18" charset="0"/>
                              </a:rPr>
                              <m:t>𝑒</m:t>
                            </m:r>
                          </m:e>
                          <m:sup>
                            <m:r>
                              <a:rPr lang="fr-CA" b="0" i="1" smtClean="0">
                                <a:latin typeface="Cambria Math" panose="02040503050406030204" pitchFamily="18" charset="0"/>
                              </a:rPr>
                              <m:t>−90</m:t>
                            </m:r>
                          </m:sup>
                        </m:sSup>
                      </m:num>
                      <m:den>
                        <m:r>
                          <a:rPr lang="fr-CA" b="0" i="1" smtClean="0">
                            <a:latin typeface="Cambria Math" panose="02040503050406030204" pitchFamily="18" charset="0"/>
                          </a:rPr>
                          <m:t>100!</m:t>
                        </m:r>
                      </m:den>
                    </m:f>
                  </m:oMath>
                </a14:m>
                <a:r>
                  <a:rPr lang="fr-CA" dirty="0"/>
                  <a:t>   ou bien on tape </a:t>
                </a:r>
                <a14:m>
                  <m:oMath xmlns:m="http://schemas.openxmlformats.org/officeDocument/2006/math">
                    <m:r>
                      <a:rPr lang="fr-CA" i="1" dirty="0" smtClean="0">
                        <a:latin typeface="Cambria Math" panose="02040503050406030204" pitchFamily="18" charset="0"/>
                      </a:rPr>
                      <m:t>𝑑𝑝𝑜𝑖𝑠</m:t>
                    </m:r>
                    <m:r>
                      <a:rPr lang="fr-CA" i="1" dirty="0" smtClean="0">
                        <a:latin typeface="Cambria Math" panose="02040503050406030204" pitchFamily="18" charset="0"/>
                      </a:rPr>
                      <m:t>(100,90)</m:t>
                    </m:r>
                  </m:oMath>
                </a14:m>
                <a:r>
                  <a:rPr lang="fr-CA" dirty="0"/>
                  <a:t>  ce qui donne 0,02332</a:t>
                </a:r>
              </a:p>
            </p:txBody>
          </p:sp>
        </mc:Choice>
        <mc:Fallback xmlns="">
          <p:sp>
            <p:nvSpPr>
              <p:cNvPr id="5" name="ZoneTexte 4">
                <a:extLst>
                  <a:ext uri="{FF2B5EF4-FFF2-40B4-BE49-F238E27FC236}">
                    <a16:creationId xmlns:a16="http://schemas.microsoft.com/office/drawing/2014/main" id="{BDA61376-2EFD-4F04-934F-29F9BDD13707}"/>
                  </a:ext>
                </a:extLst>
              </p:cNvPr>
              <p:cNvSpPr txBox="1">
                <a:spLocks noRot="1" noChangeAspect="1" noMove="1" noResize="1" noEditPoints="1" noAdjustHandles="1" noChangeArrowheads="1" noChangeShapeType="1" noTextEdit="1"/>
              </p:cNvSpPr>
              <p:nvPr/>
            </p:nvSpPr>
            <p:spPr>
              <a:xfrm>
                <a:off x="992777" y="2286000"/>
                <a:ext cx="9901646" cy="2186561"/>
              </a:xfrm>
              <a:prstGeom prst="rect">
                <a:avLst/>
              </a:prstGeom>
              <a:blipFill>
                <a:blip r:embed="rId2"/>
                <a:stretch>
                  <a:fillRect l="-554" t="-1393" b="-836"/>
                </a:stretch>
              </a:blipFill>
            </p:spPr>
            <p:txBody>
              <a:bodyPr/>
              <a:lstStyle/>
              <a:p>
                <a:r>
                  <a:rPr lang="fr-CA">
                    <a:noFill/>
                  </a:rPr>
                  <a:t> </a:t>
                </a:r>
              </a:p>
            </p:txBody>
          </p:sp>
        </mc:Fallback>
      </mc:AlternateContent>
    </p:spTree>
    <p:extLst>
      <p:ext uri="{BB962C8B-B14F-4D97-AF65-F5344CB8AC3E}">
        <p14:creationId xmlns:p14="http://schemas.microsoft.com/office/powerpoint/2010/main" val="36661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DAE0A784-5B4A-4F58-8562-03F4599C0249}"/>
                  </a:ext>
                </a:extLst>
              </p:cNvPr>
              <p:cNvSpPr>
                <a:spLocks noGrp="1"/>
              </p:cNvSpPr>
              <p:nvPr>
                <p:ph type="title"/>
              </p:nvPr>
            </p:nvSpPr>
            <p:spPr>
              <a:xfrm>
                <a:off x="838199" y="-365759"/>
                <a:ext cx="10644051" cy="2834640"/>
              </a:xfrm>
            </p:spPr>
            <p:txBody>
              <a:bodyPr>
                <a:normAutofit/>
              </a:bodyPr>
              <a:lstStyle/>
              <a:p>
                <a:r>
                  <a:rPr lang="fr-CA"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INVERSEMENT:</a:t>
                </a:r>
                <a:r>
                  <a:rPr lang="fr-CA"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Soit un phénomène qui se produit selon une loi de Poisson de paramètre </a:t>
                </a:r>
                <a:r>
                  <a:rPr lang="fr-CA" sz="24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λ</a:t>
                </a:r>
                <a:r>
                  <a:rPr lang="fr-CA"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et pour lequel les événements peuvent être décomposés en </a:t>
                </a:r>
                <a:r>
                  <a:rPr lang="fr-CA" sz="24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a:t>
                </a:r>
                <a:r>
                  <a:rPr lang="fr-CA"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types ; chaque type se produit avec une probabilité </a:t>
                </a:r>
                <a:r>
                  <a:rPr lang="fr-CA" sz="24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fr-FR" sz="2400" i="1" baseline="-25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fr-CA"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telle que : </a:t>
                </a:r>
                <a14:m>
                  <m:oMath xmlns:m="http://schemas.openxmlformats.org/officeDocument/2006/math">
                    <m:nary>
                      <m:naryPr>
                        <m:chr m:val="∑"/>
                        <m:ctrlPr>
                          <a:rPr lang="fr-CA" sz="2400" i="1" smtClean="0">
                            <a:solidFill>
                              <a:schemeClr val="tx1"/>
                            </a:solidFill>
                            <a:effectLst/>
                            <a:latin typeface="Cambria Math" panose="02040503050406030204" pitchFamily="18" charset="0"/>
                          </a:rPr>
                        </m:ctrlPr>
                      </m:naryPr>
                      <m:sub>
                        <m:r>
                          <m:rPr>
                            <m:brk m:alnAt="23"/>
                          </m:rPr>
                          <a:rPr lang="fr-CA" sz="2400" b="0" i="1" smtClean="0">
                            <a:solidFill>
                              <a:schemeClr val="tx1"/>
                            </a:solidFill>
                            <a:effectLst/>
                            <a:latin typeface="Cambria Math" panose="02040503050406030204" pitchFamily="18" charset="0"/>
                          </a:rPr>
                          <m:t>𝑖</m:t>
                        </m:r>
                        <m:r>
                          <a:rPr lang="fr-CA" sz="2400" b="0" i="1" smtClean="0">
                            <a:solidFill>
                              <a:schemeClr val="tx1"/>
                            </a:solidFill>
                            <a:effectLst/>
                            <a:latin typeface="Cambria Math" panose="02040503050406030204" pitchFamily="18" charset="0"/>
                          </a:rPr>
                          <m:t>=1</m:t>
                        </m:r>
                      </m:sub>
                      <m:sup>
                        <m:r>
                          <a:rPr lang="fr-CA" sz="2400" b="0" i="1" smtClean="0">
                            <a:solidFill>
                              <a:schemeClr val="tx1"/>
                            </a:solidFill>
                            <a:effectLst/>
                            <a:latin typeface="Cambria Math" panose="02040503050406030204" pitchFamily="18" charset="0"/>
                          </a:rPr>
                          <m:t>𝑘</m:t>
                        </m:r>
                      </m:sup>
                      <m:e>
                        <m:sSub>
                          <m:sSubPr>
                            <m:ctrlPr>
                              <a:rPr lang="fr-CA" sz="2400" i="1" smtClean="0">
                                <a:solidFill>
                                  <a:schemeClr val="tx1"/>
                                </a:solidFill>
                                <a:effectLst/>
                                <a:latin typeface="Cambria Math" panose="02040503050406030204" pitchFamily="18" charset="0"/>
                              </a:rPr>
                            </m:ctrlPr>
                          </m:sSubPr>
                          <m:e>
                            <m:r>
                              <a:rPr lang="fr-CA" sz="2400" b="0" i="1" smtClean="0">
                                <a:solidFill>
                                  <a:schemeClr val="tx1"/>
                                </a:solidFill>
                                <a:effectLst/>
                                <a:latin typeface="Cambria Math" panose="02040503050406030204" pitchFamily="18" charset="0"/>
                              </a:rPr>
                              <m:t>𝑝</m:t>
                            </m:r>
                          </m:e>
                          <m:sub>
                            <m:r>
                              <a:rPr lang="fr-CA" sz="2400" b="0" i="1" smtClean="0">
                                <a:solidFill>
                                  <a:schemeClr val="tx1"/>
                                </a:solidFill>
                                <a:effectLst/>
                                <a:latin typeface="Cambria Math" panose="02040503050406030204" pitchFamily="18" charset="0"/>
                              </a:rPr>
                              <m:t>𝑖</m:t>
                            </m:r>
                          </m:sub>
                        </m:sSub>
                        <m:r>
                          <a:rPr lang="fr-CA" sz="2400" b="0" i="1" smtClean="0">
                            <a:solidFill>
                              <a:schemeClr val="tx1"/>
                            </a:solidFill>
                            <a:effectLst/>
                            <a:latin typeface="Cambria Math" panose="02040503050406030204" pitchFamily="18" charset="0"/>
                          </a:rPr>
                          <m:t>=1</m:t>
                        </m:r>
                      </m:e>
                    </m:nary>
                  </m:oMath>
                </a14:m>
                <a:br>
                  <a:rPr lang="fr-CA"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FR" sz="2400" dirty="0">
                    <a:latin typeface="Times New Roman" panose="02020603050405020304" pitchFamily="18" charset="0"/>
                    <a:cs typeface="Times New Roman" panose="02020603050405020304" pitchFamily="18" charset="0"/>
                  </a:rPr>
                  <a:t>Alors, si on pose </a:t>
                </a:r>
                <a:r>
                  <a:rPr lang="fr-FR" sz="2400" i="1" dirty="0">
                    <a:latin typeface="Times New Roman" panose="02020603050405020304" pitchFamily="18" charset="0"/>
                    <a:cs typeface="Times New Roman" panose="02020603050405020304" pitchFamily="18" charset="0"/>
                  </a:rPr>
                  <a:t>X</a:t>
                </a:r>
                <a:r>
                  <a:rPr lang="fr-FR" sz="2400" i="1" baseline="-25000" dirty="0">
                    <a:latin typeface="Times New Roman" panose="02020603050405020304" pitchFamily="18" charset="0"/>
                    <a:cs typeface="Times New Roman" panose="02020603050405020304" pitchFamily="18" charset="0"/>
                  </a:rPr>
                  <a:t>i</a:t>
                </a:r>
                <a:r>
                  <a:rPr lang="fr-FR" sz="2400" dirty="0">
                    <a:latin typeface="Times New Roman" panose="02020603050405020304" pitchFamily="18" charset="0"/>
                    <a:cs typeface="Times New Roman" panose="02020603050405020304" pitchFamily="18" charset="0"/>
                  </a:rPr>
                  <a:t> : le nombre de fois que les événements de type </a:t>
                </a:r>
                <a:r>
                  <a:rPr lang="fr-FR" sz="2400" i="1" dirty="0">
                    <a:latin typeface="Times New Roman" panose="02020603050405020304" pitchFamily="18" charset="0"/>
                    <a:cs typeface="Times New Roman" panose="02020603050405020304" pitchFamily="18" charset="0"/>
                  </a:rPr>
                  <a:t>i</a:t>
                </a:r>
                <a:r>
                  <a:rPr lang="fr-FR" sz="2400" dirty="0">
                    <a:latin typeface="Times New Roman" panose="02020603050405020304" pitchFamily="18" charset="0"/>
                    <a:cs typeface="Times New Roman" panose="02020603050405020304" pitchFamily="18" charset="0"/>
                  </a:rPr>
                  <a:t> se produisent, chaque </a:t>
                </a:r>
                <a:r>
                  <a:rPr lang="fr-FR" sz="2400" i="1" dirty="0">
                    <a:latin typeface="Times New Roman" panose="02020603050405020304" pitchFamily="18" charset="0"/>
                    <a:cs typeface="Times New Roman" panose="02020603050405020304" pitchFamily="18" charset="0"/>
                  </a:rPr>
                  <a:t>X</a:t>
                </a:r>
                <a:r>
                  <a:rPr lang="fr-FR" sz="2400" i="1" baseline="-25000" dirty="0">
                    <a:latin typeface="Times New Roman" panose="02020603050405020304" pitchFamily="18" charset="0"/>
                    <a:cs typeface="Times New Roman" panose="02020603050405020304" pitchFamily="18" charset="0"/>
                  </a:rPr>
                  <a:t>i</a:t>
                </a:r>
                <a:r>
                  <a:rPr lang="fr-FR" sz="2400" dirty="0">
                    <a:latin typeface="Times New Roman" panose="02020603050405020304" pitchFamily="18" charset="0"/>
                    <a:cs typeface="Times New Roman" panose="02020603050405020304" pitchFamily="18" charset="0"/>
                  </a:rPr>
                  <a:t> est une variable de  Poisson de paramètre  </a:t>
                </a:r>
                <a:r>
                  <a:rPr lang="fr-CA" sz="2400" i="1" dirty="0">
                    <a:latin typeface="Times New Roman" panose="02020603050405020304" pitchFamily="18" charset="0"/>
                    <a:ea typeface="Times New Roman" panose="02020603050405020304" pitchFamily="18" charset="0"/>
                    <a:cs typeface="Times New Roman" panose="02020603050405020304" pitchFamily="18" charset="0"/>
                  </a:rPr>
                  <a:t>λ</a:t>
                </a:r>
                <a14:m>
                  <m:oMath xmlns:m="http://schemas.openxmlformats.org/officeDocument/2006/math">
                    <m:sSub>
                      <m:sSubPr>
                        <m:ctrlPr>
                          <a:rPr lang="fr-CA" sz="2400" i="1" smtClean="0">
                            <a:latin typeface="Cambria Math" panose="02040503050406030204" pitchFamily="18" charset="0"/>
                            <a:cs typeface="Times New Roman" panose="02020603050405020304" pitchFamily="18" charset="0"/>
                          </a:rPr>
                        </m:ctrlPr>
                      </m:sSubPr>
                      <m:e>
                        <m:r>
                          <a:rPr lang="fr-CA" sz="2400" b="0" i="1" smtClean="0">
                            <a:latin typeface="Cambria Math" panose="02040503050406030204" pitchFamily="18" charset="0"/>
                            <a:cs typeface="Times New Roman" panose="02020603050405020304" pitchFamily="18" charset="0"/>
                          </a:rPr>
                          <m:t>𝑝</m:t>
                        </m:r>
                      </m:e>
                      <m:sub>
                        <m:r>
                          <a:rPr lang="fr-CA" sz="2400" b="0" i="1" smtClean="0">
                            <a:latin typeface="Cambria Math" panose="02040503050406030204" pitchFamily="18" charset="0"/>
                            <a:cs typeface="Times New Roman" panose="02020603050405020304" pitchFamily="18" charset="0"/>
                          </a:rPr>
                          <m:t>𝑖</m:t>
                        </m:r>
                      </m:sub>
                    </m:sSub>
                  </m:oMath>
                </a14:m>
                <a:br>
                  <a:rPr lang="fr-CA" sz="2400" dirty="0">
                    <a:latin typeface="Times New Roman" panose="02020603050405020304" pitchFamily="18" charset="0"/>
                    <a:cs typeface="Times New Roman" panose="02020603050405020304" pitchFamily="18" charset="0"/>
                  </a:rPr>
                </a:br>
                <a:r>
                  <a:rPr lang="fr-CA" sz="2400" dirty="0">
                    <a:latin typeface="Times New Roman" panose="02020603050405020304" pitchFamily="18" charset="0"/>
                    <a:cs typeface="Times New Roman" panose="02020603050405020304" pitchFamily="18" charset="0"/>
                  </a:rPr>
                  <a:t>et </a:t>
                </a:r>
                <a:r>
                  <a:rPr lang="fr-FR" sz="2400" dirty="0">
                    <a:latin typeface="Times New Roman" panose="02020603050405020304" pitchFamily="18" charset="0"/>
                    <a:cs typeface="Times New Roman" panose="02020603050405020304" pitchFamily="18" charset="0"/>
                  </a:rPr>
                  <a:t>toutes ces variables seront indépendantes.</a:t>
                </a:r>
                <a:endParaRPr lang="fr-CA" sz="2400" dirty="0">
                  <a:latin typeface="Times New Roman" panose="02020603050405020304" pitchFamily="18" charset="0"/>
                  <a:cs typeface="Times New Roman" panose="02020603050405020304" pitchFamily="18" charset="0"/>
                </a:endParaRPr>
              </a:p>
            </p:txBody>
          </p:sp>
        </mc:Choice>
        <mc:Fallback xmlns="">
          <p:sp>
            <p:nvSpPr>
              <p:cNvPr id="2" name="Titre 1">
                <a:extLst>
                  <a:ext uri="{FF2B5EF4-FFF2-40B4-BE49-F238E27FC236}">
                    <a16:creationId xmlns:a16="http://schemas.microsoft.com/office/drawing/2014/main" id="{DAE0A784-5B4A-4F58-8562-03F4599C0249}"/>
                  </a:ext>
                </a:extLst>
              </p:cNvPr>
              <p:cNvSpPr>
                <a:spLocks noGrp="1" noRot="1" noChangeAspect="1" noMove="1" noResize="1" noEditPoints="1" noAdjustHandles="1" noChangeArrowheads="1" noChangeShapeType="1" noTextEdit="1"/>
              </p:cNvSpPr>
              <p:nvPr>
                <p:ph type="title"/>
              </p:nvPr>
            </p:nvSpPr>
            <p:spPr>
              <a:xfrm>
                <a:off x="838199" y="-365759"/>
                <a:ext cx="10644051" cy="2834640"/>
              </a:xfrm>
              <a:blipFill>
                <a:blip r:embed="rId2"/>
                <a:stretch>
                  <a:fillRect l="-859"/>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CF478878-A513-47EF-B892-232BF54295A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833FA9F-0738-47B9-9F70-BC49952D5A8F}"/>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0B963C7-000B-4F14-81FF-6AC7E443F87A}"/>
                  </a:ext>
                </a:extLst>
              </p:cNvPr>
              <p:cNvSpPr txBox="1"/>
              <p:nvPr/>
            </p:nvSpPr>
            <p:spPr>
              <a:xfrm>
                <a:off x="1097280" y="2090057"/>
                <a:ext cx="10776857" cy="3970318"/>
              </a:xfrm>
              <a:prstGeom prst="rect">
                <a:avLst/>
              </a:prstGeom>
              <a:noFill/>
            </p:spPr>
            <p:txBody>
              <a:bodyPr wrap="square" rtlCol="0">
                <a:spAutoFit/>
              </a:bodyPr>
              <a:lstStyle/>
              <a:p>
                <a:r>
                  <a:rPr lang="fr-CA" b="1" dirty="0"/>
                  <a:t>Exemple:</a:t>
                </a:r>
                <a:r>
                  <a:rPr lang="fr-CA" dirty="0"/>
                  <a:t> </a:t>
                </a:r>
                <a:r>
                  <a:rPr lang="fr-FR" sz="1800" dirty="0">
                    <a:effectLst/>
                    <a:latin typeface="Calibri" panose="020F0502020204030204" pitchFamily="34" charset="0"/>
                    <a:ea typeface="Times New Roman" panose="02020603050405020304" pitchFamily="18" charset="0"/>
                  </a:rPr>
                  <a:t>Les appels téléphoniques arrivent à un autocommutateur selon une loi de Poisson d’une moyenne  de </a:t>
                </a:r>
                <a:r>
                  <a:rPr lang="fr-CA"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λ =</a:t>
                </a:r>
                <a:r>
                  <a:rPr lang="fr-FR" sz="1800" dirty="0">
                    <a:effectLst/>
                    <a:latin typeface="Calibri" panose="020F0502020204030204" pitchFamily="34" charset="0"/>
                    <a:ea typeface="Times New Roman" panose="02020603050405020304" pitchFamily="18" charset="0"/>
                  </a:rPr>
                  <a:t>40 appels/minute. Ces appels sont alors acheminés vers 4 serveurs avec des probabilités respectives:</a:t>
                </a:r>
              </a:p>
              <a:p>
                <a:pPr/>
                <a14:m>
                  <m:oMathPara xmlns:m="http://schemas.openxmlformats.org/officeDocument/2006/math">
                    <m:oMathParaPr>
                      <m:jc m:val="centerGroup"/>
                    </m:oMathParaPr>
                    <m:oMath xmlns:m="http://schemas.openxmlformats.org/officeDocument/2006/math">
                      <m:sSub>
                        <m:sSubPr>
                          <m:ctrlPr>
                            <a:rPr lang="fr-FR" sz="1800" i="1" smtClean="0">
                              <a:effectLst/>
                              <a:latin typeface="Cambria Math" panose="02040503050406030204" pitchFamily="18" charset="0"/>
                            </a:rPr>
                          </m:ctrlPr>
                        </m:sSubPr>
                        <m:e>
                          <m:r>
                            <a:rPr lang="fr-CA" sz="1800" b="0" i="1" smtClean="0">
                              <a:effectLst/>
                              <a:latin typeface="Cambria Math" panose="02040503050406030204" pitchFamily="18" charset="0"/>
                            </a:rPr>
                            <m:t>𝑝</m:t>
                          </m:r>
                        </m:e>
                        <m:sub>
                          <m:r>
                            <a:rPr lang="fr-CA" sz="1800" b="0" i="1" smtClean="0">
                              <a:effectLst/>
                              <a:latin typeface="Cambria Math" panose="02040503050406030204" pitchFamily="18" charset="0"/>
                            </a:rPr>
                            <m:t>1</m:t>
                          </m:r>
                        </m:sub>
                      </m:sSub>
                      <m:r>
                        <a:rPr lang="fr-CA" sz="1800" b="0" i="1" smtClean="0">
                          <a:effectLst/>
                          <a:latin typeface="Cambria Math" panose="02040503050406030204" pitchFamily="18" charset="0"/>
                        </a:rPr>
                        <m:t>=0,30, </m:t>
                      </m:r>
                      <m:sSub>
                        <m:sSubPr>
                          <m:ctrlPr>
                            <a:rPr lang="fr-CA" sz="1800" b="0" i="1" smtClean="0">
                              <a:effectLst/>
                              <a:latin typeface="Cambria Math" panose="02040503050406030204" pitchFamily="18" charset="0"/>
                            </a:rPr>
                          </m:ctrlPr>
                        </m:sSubPr>
                        <m:e>
                          <m:r>
                            <a:rPr lang="fr-CA" sz="1800" b="0" i="1" smtClean="0">
                              <a:effectLst/>
                              <a:latin typeface="Cambria Math" panose="02040503050406030204" pitchFamily="18" charset="0"/>
                            </a:rPr>
                            <m:t>𝑝</m:t>
                          </m:r>
                        </m:e>
                        <m:sub>
                          <m:r>
                            <a:rPr lang="fr-CA" sz="1800" b="0" i="1" smtClean="0">
                              <a:effectLst/>
                              <a:latin typeface="Cambria Math" panose="02040503050406030204" pitchFamily="18" charset="0"/>
                            </a:rPr>
                            <m:t>2</m:t>
                          </m:r>
                        </m:sub>
                      </m:sSub>
                      <m:r>
                        <a:rPr lang="fr-CA" sz="1800" b="0" i="1" smtClean="0">
                          <a:effectLst/>
                          <a:latin typeface="Cambria Math" panose="02040503050406030204" pitchFamily="18" charset="0"/>
                        </a:rPr>
                        <m:t>=0,25, </m:t>
                      </m:r>
                      <m:sSub>
                        <m:sSubPr>
                          <m:ctrlPr>
                            <a:rPr lang="fr-CA" sz="1800" b="0" i="1" smtClean="0">
                              <a:effectLst/>
                              <a:latin typeface="Cambria Math" panose="02040503050406030204" pitchFamily="18" charset="0"/>
                            </a:rPr>
                          </m:ctrlPr>
                        </m:sSubPr>
                        <m:e>
                          <m:r>
                            <a:rPr lang="fr-CA" sz="1800" b="0" i="1" smtClean="0">
                              <a:effectLst/>
                              <a:latin typeface="Cambria Math" panose="02040503050406030204" pitchFamily="18" charset="0"/>
                            </a:rPr>
                            <m:t>𝑝</m:t>
                          </m:r>
                        </m:e>
                        <m:sub>
                          <m:r>
                            <a:rPr lang="fr-CA" sz="1800" b="0" i="1" smtClean="0">
                              <a:effectLst/>
                              <a:latin typeface="Cambria Math" panose="02040503050406030204" pitchFamily="18" charset="0"/>
                            </a:rPr>
                            <m:t>3</m:t>
                          </m:r>
                        </m:sub>
                      </m:sSub>
                      <m:r>
                        <a:rPr lang="fr-CA" sz="1800" b="0" i="1" smtClean="0">
                          <a:effectLst/>
                          <a:latin typeface="Cambria Math" panose="02040503050406030204" pitchFamily="18" charset="0"/>
                        </a:rPr>
                        <m:t>=0,15  </m:t>
                      </m:r>
                      <m:r>
                        <a:rPr lang="fr-CA" sz="1800" b="0" i="1" smtClean="0">
                          <a:effectLst/>
                          <a:latin typeface="Cambria Math" panose="02040503050406030204" pitchFamily="18" charset="0"/>
                        </a:rPr>
                        <m:t>𝑒𝑡</m:t>
                      </m:r>
                      <m:r>
                        <a:rPr lang="fr-CA" sz="1800" b="0" i="1" smtClean="0">
                          <a:effectLst/>
                          <a:latin typeface="Cambria Math" panose="02040503050406030204" pitchFamily="18" charset="0"/>
                        </a:rPr>
                        <m:t>  </m:t>
                      </m:r>
                      <m:sSub>
                        <m:sSubPr>
                          <m:ctrlPr>
                            <a:rPr lang="fr-CA" sz="1800" b="0" i="1" smtClean="0">
                              <a:effectLst/>
                              <a:latin typeface="Cambria Math" panose="02040503050406030204" pitchFamily="18" charset="0"/>
                            </a:rPr>
                          </m:ctrlPr>
                        </m:sSubPr>
                        <m:e>
                          <m:r>
                            <a:rPr lang="fr-CA" sz="1800" b="0" i="1" smtClean="0">
                              <a:effectLst/>
                              <a:latin typeface="Cambria Math" panose="02040503050406030204" pitchFamily="18" charset="0"/>
                            </a:rPr>
                            <m:t>𝑝</m:t>
                          </m:r>
                        </m:e>
                        <m:sub>
                          <m:r>
                            <a:rPr lang="fr-CA" sz="1800" b="0" i="1" smtClean="0">
                              <a:effectLst/>
                              <a:latin typeface="Cambria Math" panose="02040503050406030204" pitchFamily="18" charset="0"/>
                            </a:rPr>
                            <m:t>4</m:t>
                          </m:r>
                        </m:sub>
                      </m:sSub>
                      <m:r>
                        <a:rPr lang="fr-CA" sz="1800" b="0" i="1" smtClean="0">
                          <a:effectLst/>
                          <a:latin typeface="Cambria Math" panose="02040503050406030204" pitchFamily="18" charset="0"/>
                        </a:rPr>
                        <m:t>=0,30</m:t>
                      </m:r>
                      <m:r>
                        <a:rPr lang="fr-CA" sz="1800" b="0" i="0" smtClean="0">
                          <a:effectLst/>
                          <a:latin typeface="Cambria Math" panose="02040503050406030204" pitchFamily="18" charset="0"/>
                        </a:rPr>
                        <m:t>.</m:t>
                      </m:r>
                    </m:oMath>
                  </m:oMathPara>
                </a14:m>
                <a:endParaRPr lang="fr-CA" sz="1800" b="0" dirty="0">
                  <a:effectLst/>
                </a:endParaRPr>
              </a:p>
              <a:p>
                <a:r>
                  <a:rPr lang="fr-CA" dirty="0"/>
                  <a:t>Alors si on note:</a:t>
                </a:r>
              </a:p>
              <a:p>
                <a:pPr marL="285750" indent="-285750">
                  <a:buFont typeface="Arial" panose="020B0604020202020204" pitchFamily="34" charset="0"/>
                  <a:buChar char="•"/>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𝑛𝑜𝑚𝑏𝑟𝑒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𝑎𝑝𝑝𝑒𝑙𝑠</m:t>
                    </m:r>
                    <m:r>
                      <a:rPr lang="fr-CA" b="0" i="1" smtClean="0">
                        <a:latin typeface="Cambria Math" panose="02040503050406030204" pitchFamily="18" charset="0"/>
                      </a:rPr>
                      <m:t> </m:t>
                    </m:r>
                    <m:r>
                      <a:rPr lang="fr-CA" b="0" i="1" smtClean="0">
                        <a:latin typeface="Cambria Math" panose="02040503050406030204" pitchFamily="18" charset="0"/>
                      </a:rPr>
                      <m:t>𝑎𝑐h𝑒𝑚𝑖𝑛</m:t>
                    </m:r>
                    <m:r>
                      <a:rPr lang="fr-CA" b="0" i="1" smtClean="0">
                        <a:latin typeface="Cambria Math" panose="02040503050406030204" pitchFamily="18" charset="0"/>
                      </a:rPr>
                      <m:t>é</m:t>
                    </m:r>
                    <m:r>
                      <a:rPr lang="fr-CA" b="0" i="1" smtClean="0">
                        <a:latin typeface="Cambria Math" panose="02040503050406030204" pitchFamily="18" charset="0"/>
                      </a:rPr>
                      <m:t>𝑠</m:t>
                    </m:r>
                    <m:r>
                      <a:rPr lang="fr-CA" b="0" i="1" smtClean="0">
                        <a:latin typeface="Cambria Math" panose="02040503050406030204" pitchFamily="18" charset="0"/>
                      </a:rPr>
                      <m:t> </m:t>
                    </m:r>
                    <m:r>
                      <a:rPr lang="fr-CA" b="0" i="1" smtClean="0">
                        <a:latin typeface="Cambria Math" panose="02040503050406030204" pitchFamily="18" charset="0"/>
                      </a:rPr>
                      <m:t>𝑣𝑒𝑟𝑠</m:t>
                    </m:r>
                    <m:r>
                      <a:rPr lang="fr-CA" b="0" i="1" smtClean="0">
                        <a:latin typeface="Cambria Math" panose="02040503050406030204" pitchFamily="18" charset="0"/>
                      </a:rPr>
                      <m:t> </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𝑠𝑒𝑟𝑣𝑒𝑢𝑟</m:t>
                    </m:r>
                    <m:r>
                      <a:rPr lang="fr-CA" b="0" i="1" smtClean="0">
                        <a:latin typeface="Cambria Math" panose="02040503050406030204" pitchFamily="18" charset="0"/>
                      </a:rPr>
                      <m:t> 1, </m:t>
                    </m:r>
                    <m:r>
                      <a:rPr lang="fr-CA" b="0" i="1" smtClean="0">
                        <a:latin typeface="Cambria Math" panose="02040503050406030204" pitchFamily="18" charset="0"/>
                      </a:rPr>
                      <m:t>𝑒𝑙𝑙𝑒</m:t>
                    </m:r>
                    <m:r>
                      <a:rPr lang="fr-CA" b="0" i="1" smtClean="0">
                        <a:latin typeface="Cambria Math" panose="02040503050406030204" pitchFamily="18" charset="0"/>
                      </a:rPr>
                      <m:t> </m:t>
                    </m:r>
                    <m:r>
                      <a:rPr lang="fr-CA" b="0" i="1" smtClean="0">
                        <a:latin typeface="Cambria Math" panose="02040503050406030204" pitchFamily="18" charset="0"/>
                      </a:rPr>
                      <m:t>𝑠𝑢𝑖𝑡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𝑙𝑜𝑖</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𝑃𝑜𝑖𝑠𝑠𝑜𝑛</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e>
                      <m:sub>
                        <m:r>
                          <a:rPr lang="fr-CA" b="0" i="1" smtClean="0">
                            <a:latin typeface="Cambria Math" panose="02040503050406030204" pitchFamily="18" charset="0"/>
                          </a:rPr>
                          <m:t>1</m:t>
                        </m:r>
                      </m:sub>
                    </m:sSub>
                    <m:r>
                      <a:rPr lang="fr-CA" b="0" i="1" smtClean="0">
                        <a:latin typeface="Cambria Math" panose="02040503050406030204" pitchFamily="18" charset="0"/>
                      </a:rPr>
                      <m:t>=</m:t>
                    </m:r>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oMath>
                </a14:m>
                <a:r>
                  <a:rPr lang="fr-CA" dirty="0"/>
                  <a:t>*0,3=12 appels/minute.</a:t>
                </a:r>
              </a:p>
              <a:p>
                <a:pPr marL="285750" indent="-285750">
                  <a:buFont typeface="Arial" panose="020B0604020202020204" pitchFamily="34" charset="0"/>
                  <a:buChar char="•"/>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𝑛𝑜𝑚𝑏𝑟𝑒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𝑎𝑝𝑝𝑒𝑙𝑠</m:t>
                    </m:r>
                    <m:r>
                      <a:rPr lang="fr-CA" b="0" i="1" smtClean="0">
                        <a:latin typeface="Cambria Math" panose="02040503050406030204" pitchFamily="18" charset="0"/>
                      </a:rPr>
                      <m:t> </m:t>
                    </m:r>
                    <m:r>
                      <a:rPr lang="fr-CA" b="0" i="1" smtClean="0">
                        <a:latin typeface="Cambria Math" panose="02040503050406030204" pitchFamily="18" charset="0"/>
                      </a:rPr>
                      <m:t>𝑎𝑐h𝑒𝑚𝑖𝑛</m:t>
                    </m:r>
                    <m:r>
                      <a:rPr lang="fr-CA" b="0" i="1" smtClean="0">
                        <a:latin typeface="Cambria Math" panose="02040503050406030204" pitchFamily="18" charset="0"/>
                      </a:rPr>
                      <m:t>é</m:t>
                    </m:r>
                    <m:r>
                      <a:rPr lang="fr-CA" b="0" i="1" smtClean="0">
                        <a:latin typeface="Cambria Math" panose="02040503050406030204" pitchFamily="18" charset="0"/>
                      </a:rPr>
                      <m:t>𝑠</m:t>
                    </m:r>
                    <m:r>
                      <a:rPr lang="fr-CA" b="0" i="1" smtClean="0">
                        <a:latin typeface="Cambria Math" panose="02040503050406030204" pitchFamily="18" charset="0"/>
                      </a:rPr>
                      <m:t> </m:t>
                    </m:r>
                    <m:r>
                      <a:rPr lang="fr-CA" b="0" i="1" smtClean="0">
                        <a:latin typeface="Cambria Math" panose="02040503050406030204" pitchFamily="18" charset="0"/>
                      </a:rPr>
                      <m:t>𝑣𝑒𝑟𝑠</m:t>
                    </m:r>
                    <m:r>
                      <a:rPr lang="fr-CA" b="0" i="1" smtClean="0">
                        <a:latin typeface="Cambria Math" panose="02040503050406030204" pitchFamily="18" charset="0"/>
                      </a:rPr>
                      <m:t> </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𝑠𝑒𝑟𝑣𝑒𝑢𝑟</m:t>
                    </m:r>
                    <m:r>
                      <a:rPr lang="fr-CA" b="0" i="1" smtClean="0">
                        <a:latin typeface="Cambria Math" panose="02040503050406030204" pitchFamily="18" charset="0"/>
                      </a:rPr>
                      <m:t> 2, </m:t>
                    </m:r>
                    <m:r>
                      <a:rPr lang="fr-CA" b="0" i="1" smtClean="0">
                        <a:latin typeface="Cambria Math" panose="02040503050406030204" pitchFamily="18" charset="0"/>
                      </a:rPr>
                      <m:t>𝑒𝑙𝑙𝑒</m:t>
                    </m:r>
                    <m:r>
                      <a:rPr lang="fr-CA" b="0" i="1" smtClean="0">
                        <a:latin typeface="Cambria Math" panose="02040503050406030204" pitchFamily="18" charset="0"/>
                      </a:rPr>
                      <m:t> </m:t>
                    </m:r>
                    <m:r>
                      <a:rPr lang="fr-CA" b="0" i="1" smtClean="0">
                        <a:latin typeface="Cambria Math" panose="02040503050406030204" pitchFamily="18" charset="0"/>
                      </a:rPr>
                      <m:t>𝑠𝑢𝑖𝑡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𝑙𝑜𝑖</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𝑃𝑜𝑖𝑠𝑠𝑜𝑛</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e>
                      <m:sub>
                        <m:r>
                          <a:rPr lang="fr-CA" b="0" i="1" dirty="0" smtClean="0">
                            <a:latin typeface="Cambria Math" panose="02040503050406030204" pitchFamily="18" charset="0"/>
                            <a:ea typeface="Times New Roman" panose="02020603050405020304" pitchFamily="18" charset="0"/>
                            <a:cs typeface="Times New Roman" panose="02020603050405020304" pitchFamily="18" charset="0"/>
                          </a:rPr>
                          <m:t>2</m:t>
                        </m:r>
                      </m:sub>
                    </m:sSub>
                    <m:r>
                      <a:rPr lang="fr-CA" b="0" i="1" smtClean="0">
                        <a:latin typeface="Cambria Math" panose="02040503050406030204" pitchFamily="18" charset="0"/>
                      </a:rPr>
                      <m:t>=</m:t>
                    </m:r>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oMath>
                </a14:m>
                <a:r>
                  <a:rPr lang="fr-CA" dirty="0"/>
                  <a:t>*0,25=10 appels/minute.</a:t>
                </a:r>
              </a:p>
              <a:p>
                <a:pPr marL="285750" indent="-285750">
                  <a:buFont typeface="Arial" panose="020B0604020202020204" pitchFamily="34" charset="0"/>
                  <a:buChar char="•"/>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3</m:t>
                        </m:r>
                      </m:sub>
                    </m:sSub>
                    <m:r>
                      <a:rPr lang="fr-CA" b="0" i="1" smtClean="0">
                        <a:latin typeface="Cambria Math" panose="02040503050406030204" pitchFamily="18" charset="0"/>
                      </a:rPr>
                      <m:t>:</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𝑛𝑜𝑚𝑏𝑟𝑒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𝑎𝑝𝑝𝑒𝑙𝑠</m:t>
                    </m:r>
                    <m:r>
                      <a:rPr lang="fr-CA" b="0" i="1" smtClean="0">
                        <a:latin typeface="Cambria Math" panose="02040503050406030204" pitchFamily="18" charset="0"/>
                      </a:rPr>
                      <m:t> </m:t>
                    </m:r>
                    <m:r>
                      <a:rPr lang="fr-CA" b="0" i="1" smtClean="0">
                        <a:latin typeface="Cambria Math" panose="02040503050406030204" pitchFamily="18" charset="0"/>
                      </a:rPr>
                      <m:t>𝑎𝑐h𝑒𝑚𝑖𝑛</m:t>
                    </m:r>
                    <m:r>
                      <a:rPr lang="fr-CA" b="0" i="1" smtClean="0">
                        <a:latin typeface="Cambria Math" panose="02040503050406030204" pitchFamily="18" charset="0"/>
                      </a:rPr>
                      <m:t>é</m:t>
                    </m:r>
                    <m:r>
                      <a:rPr lang="fr-CA" b="0" i="1" smtClean="0">
                        <a:latin typeface="Cambria Math" panose="02040503050406030204" pitchFamily="18" charset="0"/>
                      </a:rPr>
                      <m:t>𝑠</m:t>
                    </m:r>
                    <m:r>
                      <a:rPr lang="fr-CA" b="0" i="1" smtClean="0">
                        <a:latin typeface="Cambria Math" panose="02040503050406030204" pitchFamily="18" charset="0"/>
                      </a:rPr>
                      <m:t> </m:t>
                    </m:r>
                    <m:r>
                      <a:rPr lang="fr-CA" b="0" i="1" smtClean="0">
                        <a:latin typeface="Cambria Math" panose="02040503050406030204" pitchFamily="18" charset="0"/>
                      </a:rPr>
                      <m:t>𝑣𝑒𝑟𝑠</m:t>
                    </m:r>
                    <m:r>
                      <a:rPr lang="fr-CA" b="0" i="1" smtClean="0">
                        <a:latin typeface="Cambria Math" panose="02040503050406030204" pitchFamily="18" charset="0"/>
                      </a:rPr>
                      <m:t> </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𝑠𝑒𝑟𝑣𝑒𝑢𝑟</m:t>
                    </m:r>
                    <m:r>
                      <a:rPr lang="fr-CA" b="0" i="1" smtClean="0">
                        <a:latin typeface="Cambria Math" panose="02040503050406030204" pitchFamily="18" charset="0"/>
                      </a:rPr>
                      <m:t> 3, </m:t>
                    </m:r>
                    <m:r>
                      <a:rPr lang="fr-CA" b="0" i="1" smtClean="0">
                        <a:latin typeface="Cambria Math" panose="02040503050406030204" pitchFamily="18" charset="0"/>
                      </a:rPr>
                      <m:t>𝑒𝑙𝑙𝑒</m:t>
                    </m:r>
                    <m:r>
                      <a:rPr lang="fr-CA" b="0" i="1" smtClean="0">
                        <a:latin typeface="Cambria Math" panose="02040503050406030204" pitchFamily="18" charset="0"/>
                      </a:rPr>
                      <m:t> </m:t>
                    </m:r>
                    <m:r>
                      <a:rPr lang="fr-CA" b="0" i="1" smtClean="0">
                        <a:latin typeface="Cambria Math" panose="02040503050406030204" pitchFamily="18" charset="0"/>
                      </a:rPr>
                      <m:t>𝑠𝑢𝑖𝑡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𝑙𝑜𝑖</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𝑃𝑜𝑖𝑠𝑠𝑜𝑛</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e>
                      <m:sub>
                        <m:r>
                          <a:rPr lang="fr-CA" b="0" i="1" dirty="0" smtClean="0">
                            <a:latin typeface="Cambria Math" panose="02040503050406030204" pitchFamily="18" charset="0"/>
                            <a:ea typeface="Times New Roman" panose="02020603050405020304" pitchFamily="18" charset="0"/>
                            <a:cs typeface="Times New Roman" panose="02020603050405020304" pitchFamily="18" charset="0"/>
                          </a:rPr>
                          <m:t>3</m:t>
                        </m:r>
                      </m:sub>
                    </m:sSub>
                    <m:r>
                      <a:rPr lang="fr-CA" b="0" i="1" smtClean="0">
                        <a:latin typeface="Cambria Math" panose="02040503050406030204" pitchFamily="18" charset="0"/>
                      </a:rPr>
                      <m:t>=</m:t>
                    </m:r>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oMath>
                </a14:m>
                <a:r>
                  <a:rPr lang="fr-CA" dirty="0"/>
                  <a:t>*0,15=6 appels/minute.</a:t>
                </a:r>
              </a:p>
              <a:p>
                <a:pPr marL="285750" indent="-285750">
                  <a:buFont typeface="Arial" panose="020B0604020202020204" pitchFamily="34" charset="0"/>
                  <a:buChar char="•"/>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4</m:t>
                        </m:r>
                      </m:sub>
                    </m:sSub>
                    <m:r>
                      <a:rPr lang="fr-CA" b="0" i="1" smtClean="0">
                        <a:latin typeface="Cambria Math" panose="02040503050406030204" pitchFamily="18" charset="0"/>
                      </a:rPr>
                      <m:t>:</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𝑛𝑜𝑚𝑏𝑟𝑒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𝑎𝑝𝑝𝑒𝑙𝑠</m:t>
                    </m:r>
                    <m:r>
                      <a:rPr lang="fr-CA" b="0" i="1" smtClean="0">
                        <a:latin typeface="Cambria Math" panose="02040503050406030204" pitchFamily="18" charset="0"/>
                      </a:rPr>
                      <m:t> </m:t>
                    </m:r>
                    <m:r>
                      <a:rPr lang="fr-CA" b="0" i="1" smtClean="0">
                        <a:latin typeface="Cambria Math" panose="02040503050406030204" pitchFamily="18" charset="0"/>
                      </a:rPr>
                      <m:t>𝑎𝑐h𝑒𝑚𝑖𝑛</m:t>
                    </m:r>
                    <m:r>
                      <a:rPr lang="fr-CA" b="0" i="1" smtClean="0">
                        <a:latin typeface="Cambria Math" panose="02040503050406030204" pitchFamily="18" charset="0"/>
                      </a:rPr>
                      <m:t>é</m:t>
                    </m:r>
                    <m:r>
                      <a:rPr lang="fr-CA" b="0" i="1" smtClean="0">
                        <a:latin typeface="Cambria Math" panose="02040503050406030204" pitchFamily="18" charset="0"/>
                      </a:rPr>
                      <m:t>𝑠</m:t>
                    </m:r>
                    <m:r>
                      <a:rPr lang="fr-CA" b="0" i="1" smtClean="0">
                        <a:latin typeface="Cambria Math" panose="02040503050406030204" pitchFamily="18" charset="0"/>
                      </a:rPr>
                      <m:t> </m:t>
                    </m:r>
                    <m:r>
                      <a:rPr lang="fr-CA" b="0" i="1" smtClean="0">
                        <a:latin typeface="Cambria Math" panose="02040503050406030204" pitchFamily="18" charset="0"/>
                      </a:rPr>
                      <m:t>𝑣𝑒𝑟𝑠</m:t>
                    </m:r>
                    <m:r>
                      <a:rPr lang="fr-CA" b="0" i="1" smtClean="0">
                        <a:latin typeface="Cambria Math" panose="02040503050406030204" pitchFamily="18" charset="0"/>
                      </a:rPr>
                      <m:t> </m:t>
                    </m:r>
                    <m:r>
                      <a:rPr lang="fr-CA" b="0" i="1" smtClean="0">
                        <a:latin typeface="Cambria Math" panose="02040503050406030204" pitchFamily="18" charset="0"/>
                      </a:rPr>
                      <m:t>𝑙𝑒</m:t>
                    </m:r>
                    <m:r>
                      <a:rPr lang="fr-CA" b="0" i="1" smtClean="0">
                        <a:latin typeface="Cambria Math" panose="02040503050406030204" pitchFamily="18" charset="0"/>
                      </a:rPr>
                      <m:t> </m:t>
                    </m:r>
                    <m:r>
                      <a:rPr lang="fr-CA" b="0" i="1" smtClean="0">
                        <a:latin typeface="Cambria Math" panose="02040503050406030204" pitchFamily="18" charset="0"/>
                      </a:rPr>
                      <m:t>𝑠𝑒𝑟𝑣𝑒𝑢𝑟</m:t>
                    </m:r>
                    <m:r>
                      <a:rPr lang="fr-CA" b="0" i="1" smtClean="0">
                        <a:latin typeface="Cambria Math" panose="02040503050406030204" pitchFamily="18" charset="0"/>
                      </a:rPr>
                      <m:t> 4, </m:t>
                    </m:r>
                    <m:r>
                      <a:rPr lang="fr-CA" b="0" i="1" smtClean="0">
                        <a:latin typeface="Cambria Math" panose="02040503050406030204" pitchFamily="18" charset="0"/>
                      </a:rPr>
                      <m:t>𝑒𝑙𝑙𝑒</m:t>
                    </m:r>
                    <m:r>
                      <a:rPr lang="fr-CA" b="0" i="1" smtClean="0">
                        <a:latin typeface="Cambria Math" panose="02040503050406030204" pitchFamily="18" charset="0"/>
                      </a:rPr>
                      <m:t> </m:t>
                    </m:r>
                    <m:r>
                      <a:rPr lang="fr-CA" b="0" i="1" smtClean="0">
                        <a:latin typeface="Cambria Math" panose="02040503050406030204" pitchFamily="18" charset="0"/>
                      </a:rPr>
                      <m:t>𝑠𝑢𝑖𝑡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𝑙𝑜𝑖</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𝑃𝑜𝑖𝑠𝑠𝑜𝑛</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e>
                      <m:sub>
                        <m:r>
                          <a:rPr lang="fr-CA" b="0" i="1" dirty="0" smtClean="0">
                            <a:latin typeface="Cambria Math" panose="02040503050406030204" pitchFamily="18" charset="0"/>
                            <a:ea typeface="Times New Roman" panose="02020603050405020304" pitchFamily="18" charset="0"/>
                            <a:cs typeface="Times New Roman" panose="02020603050405020304" pitchFamily="18" charset="0"/>
                          </a:rPr>
                          <m:t>4</m:t>
                        </m:r>
                      </m:sub>
                    </m:sSub>
                    <m:r>
                      <a:rPr lang="fr-CA" b="0" i="1" smtClean="0">
                        <a:latin typeface="Cambria Math" panose="02040503050406030204" pitchFamily="18" charset="0"/>
                      </a:rPr>
                      <m:t>=</m:t>
                    </m:r>
                    <m:r>
                      <m:rPr>
                        <m:nor/>
                      </m:rPr>
                      <a:rPr lang="fr-CA" i="1" dirty="0">
                        <a:latin typeface="Times New Roman" panose="02020603050405020304" pitchFamily="18" charset="0"/>
                        <a:ea typeface="Times New Roman" panose="02020603050405020304" pitchFamily="18" charset="0"/>
                        <a:cs typeface="Times New Roman" panose="02020603050405020304" pitchFamily="18" charset="0"/>
                      </a:rPr>
                      <m:t>λ</m:t>
                    </m:r>
                  </m:oMath>
                </a14:m>
                <a:r>
                  <a:rPr lang="fr-CA" dirty="0"/>
                  <a:t>*0,3=12 appels/minute</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EN PLUS CES VARIABLES SONT INDÉPENDANTES.</a:t>
                </a:r>
              </a:p>
            </p:txBody>
          </p:sp>
        </mc:Choice>
        <mc:Fallback xmlns="">
          <p:sp>
            <p:nvSpPr>
              <p:cNvPr id="5" name="ZoneTexte 4">
                <a:extLst>
                  <a:ext uri="{FF2B5EF4-FFF2-40B4-BE49-F238E27FC236}">
                    <a16:creationId xmlns:a16="http://schemas.microsoft.com/office/drawing/2014/main" id="{A0B963C7-000B-4F14-81FF-6AC7E443F87A}"/>
                  </a:ext>
                </a:extLst>
              </p:cNvPr>
              <p:cNvSpPr txBox="1">
                <a:spLocks noRot="1" noChangeAspect="1" noMove="1" noResize="1" noEditPoints="1" noAdjustHandles="1" noChangeArrowheads="1" noChangeShapeType="1" noTextEdit="1"/>
              </p:cNvSpPr>
              <p:nvPr/>
            </p:nvSpPr>
            <p:spPr>
              <a:xfrm>
                <a:off x="1097280" y="2090057"/>
                <a:ext cx="10776857" cy="3970318"/>
              </a:xfrm>
              <a:prstGeom prst="rect">
                <a:avLst/>
              </a:prstGeom>
              <a:blipFill>
                <a:blip r:embed="rId3"/>
                <a:stretch>
                  <a:fillRect l="-452" t="-1075" r="-339" b="-1536"/>
                </a:stretch>
              </a:blipFill>
            </p:spPr>
            <p:txBody>
              <a:bodyPr/>
              <a:lstStyle/>
              <a:p>
                <a:r>
                  <a:rPr lang="fr-CA">
                    <a:noFill/>
                  </a:rPr>
                  <a:t> </a:t>
                </a:r>
              </a:p>
            </p:txBody>
          </p:sp>
        </mc:Fallback>
      </mc:AlternateContent>
    </p:spTree>
    <p:extLst>
      <p:ext uri="{BB962C8B-B14F-4D97-AF65-F5344CB8AC3E}">
        <p14:creationId xmlns:p14="http://schemas.microsoft.com/office/powerpoint/2010/main" val="180024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DA0839-44D7-46F7-9830-4DC768F06E54}"/>
              </a:ext>
            </a:extLst>
          </p:cNvPr>
          <p:cNvSpPr>
            <a:spLocks noGrp="1"/>
          </p:cNvSpPr>
          <p:nvPr>
            <p:ph type="title"/>
          </p:nvPr>
        </p:nvSpPr>
        <p:spPr>
          <a:xfrm>
            <a:off x="838200" y="365124"/>
            <a:ext cx="10696303" cy="3619047"/>
          </a:xfrm>
        </p:spPr>
        <p:txBody>
          <a:bodyPr>
            <a:normAutofit fontScale="90000"/>
          </a:bodyPr>
          <a:lstStyle/>
          <a:p>
            <a:pPr algn="l">
              <a:lnSpc>
                <a:spcPct val="200000"/>
              </a:lnSpc>
              <a:spcAft>
                <a:spcPts val="800"/>
              </a:spcAft>
            </a:pPr>
            <a:r>
              <a:rPr lang="fr-CA" dirty="0"/>
              <a:t>Loi multinomiale: </a:t>
            </a:r>
            <a:r>
              <a:rPr lang="fr-CA" sz="1800" dirty="0">
                <a:solidFill>
                  <a:srgbClr val="000000"/>
                </a:solidFill>
                <a:effectLst/>
                <a:latin typeface="Times New Roman" panose="02020603050405020304" pitchFamily="18" charset="0"/>
                <a:ea typeface="Times New Roman" panose="02020603050405020304" pitchFamily="18" charset="0"/>
              </a:rPr>
              <a:t>Lorsqu’on mène plusieurs expériences aléatoires simultanément, on doit être en mesure de calculer le nombre de fois que chacune s’est produite : la </a:t>
            </a:r>
            <a:r>
              <a:rPr lang="fr-CA" sz="1800" b="1" dirty="0">
                <a:solidFill>
                  <a:srgbClr val="000000"/>
                </a:solidFill>
                <a:effectLst/>
                <a:latin typeface="Times New Roman" panose="02020603050405020304" pitchFamily="18" charset="0"/>
                <a:ea typeface="Times New Roman" panose="02020603050405020304" pitchFamily="18" charset="0"/>
              </a:rPr>
              <a:t>loi multinomiale fournit cette information</a:t>
            </a:r>
            <a:r>
              <a:rPr lang="fr-CA" sz="1800" dirty="0">
                <a:solidFill>
                  <a:srgbClr val="000000"/>
                </a:solidFill>
                <a:effectLst/>
                <a:latin typeface="Times New Roman" panose="02020603050405020304" pitchFamily="18" charset="0"/>
                <a:ea typeface="Times New Roman" panose="02020603050405020304" pitchFamily="18" charset="0"/>
              </a:rPr>
              <a:t>. La loi multinomiale est très importante en biologie statistique et en sciences humaines, surtout quand on manipule des caractéristiques qualitatives et qu’on s’intéresse à leurs répétitions.</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Considérons une expérience aléatoire donnant une partition de </a:t>
            </a:r>
            <a:r>
              <a:rPr lang="fr-CA" sz="1800" i="1" dirty="0">
                <a:solidFill>
                  <a:srgbClr val="000000"/>
                </a:solidFill>
                <a:effectLst/>
                <a:latin typeface="Times New Roman" panose="02020603050405020304" pitchFamily="18" charset="0"/>
                <a:ea typeface="Times New Roman" panose="02020603050405020304" pitchFamily="18" charset="0"/>
              </a:rPr>
              <a:t>S</a:t>
            </a:r>
            <a:r>
              <a:rPr lang="fr-CA" sz="1800" dirty="0">
                <a:solidFill>
                  <a:srgbClr val="000000"/>
                </a:solidFill>
                <a:effectLst/>
                <a:latin typeface="Times New Roman" panose="02020603050405020304" pitchFamily="18" charset="0"/>
                <a:ea typeface="Times New Roman" panose="02020603050405020304" pitchFamily="18" charset="0"/>
              </a:rPr>
              <a:t> en </a:t>
            </a:r>
            <a:r>
              <a:rPr lang="fr-CA" sz="1800" i="1" dirty="0">
                <a:solidFill>
                  <a:srgbClr val="000000"/>
                </a:solidFill>
                <a:effectLst/>
                <a:latin typeface="Times New Roman" panose="02020603050405020304" pitchFamily="18" charset="0"/>
                <a:ea typeface="Times New Roman" panose="02020603050405020304" pitchFamily="18" charset="0"/>
              </a:rPr>
              <a:t>k</a:t>
            </a:r>
            <a:r>
              <a:rPr lang="fr-CA" sz="1800" dirty="0">
                <a:solidFill>
                  <a:srgbClr val="000000"/>
                </a:solidFill>
                <a:effectLst/>
                <a:latin typeface="Times New Roman" panose="02020603050405020304" pitchFamily="18" charset="0"/>
                <a:ea typeface="Times New Roman" panose="02020603050405020304" pitchFamily="18" charset="0"/>
              </a:rPr>
              <a:t> événements.</a:t>
            </a:r>
            <a:br>
              <a:rPr lang="fr-CA" sz="1800" dirty="0">
                <a:solidFill>
                  <a:srgbClr val="000000"/>
                </a:solidFill>
                <a:effectLst/>
                <a:latin typeface="Times New Roman" panose="02020603050405020304" pitchFamily="18" charset="0"/>
                <a:ea typeface="Times New Roman" panose="02020603050405020304" pitchFamily="18" charset="0"/>
              </a:rPr>
            </a:br>
            <a:br>
              <a:rPr lang="fr-CA" sz="1800" dirty="0">
                <a:solidFill>
                  <a:srgbClr val="000000"/>
                </a:solidFill>
                <a:effectLst/>
                <a:latin typeface="Times New Roman" panose="02020603050405020304" pitchFamily="18" charset="0"/>
                <a:ea typeface="Times New Roman" panose="02020603050405020304" pitchFamily="18" charset="0"/>
              </a:rPr>
            </a:br>
            <a:r>
              <a:rPr lang="fr-CA" dirty="0"/>
              <a:t> </a:t>
            </a:r>
          </a:p>
        </p:txBody>
      </p:sp>
      <p:sp>
        <p:nvSpPr>
          <p:cNvPr id="3" name="Espace réservé du pied de page 2">
            <a:extLst>
              <a:ext uri="{FF2B5EF4-FFF2-40B4-BE49-F238E27FC236}">
                <a16:creationId xmlns:a16="http://schemas.microsoft.com/office/drawing/2014/main" id="{B266FF57-9082-4545-94FD-104990D4141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1663494-562B-472F-A066-14CF4592C367}"/>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DA8C7CC-9713-4901-B982-3E88CB0FD71B}"/>
                  </a:ext>
                </a:extLst>
              </p:cNvPr>
              <p:cNvSpPr txBox="1"/>
              <p:nvPr/>
            </p:nvSpPr>
            <p:spPr>
              <a:xfrm>
                <a:off x="838200" y="3030584"/>
                <a:ext cx="10515600" cy="2710165"/>
              </a:xfrm>
              <a:prstGeom prst="rect">
                <a:avLst/>
              </a:prstGeom>
              <a:noFill/>
            </p:spPr>
            <p:txBody>
              <a:bodyPr wrap="square" rtlCol="0">
                <a:spAutoFit/>
              </a:bodyPr>
              <a:lstStyle/>
              <a:p>
                <a:pPr marL="285750" indent="-285750">
                  <a:buFont typeface="Arial" panose="020B0604020202020204" pitchFamily="34" charset="0"/>
                  <a:buChar char="•"/>
                </a:pPr>
                <a:r>
                  <a:rPr lang="fr-CA" dirty="0"/>
                  <a:t>L’événement E1 se produit avec une probabilité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oMath>
                </a14:m>
                <a:endParaRPr lang="fr-CA" dirty="0"/>
              </a:p>
              <a:p>
                <a:pPr marL="285750" indent="-285750">
                  <a:buFont typeface="Arial" panose="020B0604020202020204" pitchFamily="34" charset="0"/>
                  <a:buChar char="•"/>
                </a:pPr>
                <a:r>
                  <a:rPr lang="fr-CA" dirty="0"/>
                  <a:t>L’événement E2 se produit avec une probabilité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L’événement </a:t>
                </a:r>
                <a:r>
                  <a:rPr lang="fr-CA" dirty="0" err="1"/>
                  <a:t>Ek</a:t>
                </a:r>
                <a:r>
                  <a:rPr lang="fr-CA" dirty="0"/>
                  <a:t> se produit avec une probabilité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𝑘</m:t>
                        </m:r>
                        <m:r>
                          <a:rPr lang="fr-CA" b="0" i="1" smtClean="0">
                            <a:latin typeface="Cambria Math" panose="02040503050406030204" pitchFamily="18" charset="0"/>
                          </a:rPr>
                          <m:t>.</m:t>
                        </m:r>
                      </m:sub>
                    </m:sSub>
                  </m:oMath>
                </a14:m>
                <a:r>
                  <a:rPr lang="fr-CA" dirty="0"/>
                  <a:t>  Avec  </a:t>
                </a:r>
                <a14:m>
                  <m:oMath xmlns:m="http://schemas.openxmlformats.org/officeDocument/2006/math">
                    <m:nary>
                      <m:naryPr>
                        <m:chr m:val="∑"/>
                        <m:ctrlPr>
                          <a:rPr lang="fr-CA"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𝑘</m:t>
                        </m:r>
                      </m:sup>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𝑖</m:t>
                            </m:r>
                          </m:sub>
                        </m:sSub>
                        <m:r>
                          <a:rPr lang="fr-CA" b="0" i="1" smtClean="0">
                            <a:latin typeface="Cambria Math" panose="02040503050406030204" pitchFamily="18" charset="0"/>
                          </a:rPr>
                          <m:t>=1</m:t>
                        </m:r>
                      </m:e>
                    </m:nary>
                  </m:oMath>
                </a14:m>
                <a:endParaRPr lang="fr-CA" dirty="0"/>
              </a:p>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 </a:t>
                </a: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DDA8C7CC-9713-4901-B982-3E88CB0FD71B}"/>
                  </a:ext>
                </a:extLst>
              </p:cNvPr>
              <p:cNvSpPr txBox="1">
                <a:spLocks noRot="1" noChangeAspect="1" noMove="1" noResize="1" noEditPoints="1" noAdjustHandles="1" noChangeArrowheads="1" noChangeShapeType="1" noTextEdit="1"/>
              </p:cNvSpPr>
              <p:nvPr/>
            </p:nvSpPr>
            <p:spPr>
              <a:xfrm>
                <a:off x="838200" y="3030584"/>
                <a:ext cx="10515600" cy="2710165"/>
              </a:xfrm>
              <a:prstGeom prst="rect">
                <a:avLst/>
              </a:prstGeom>
              <a:blipFill>
                <a:blip r:embed="rId2"/>
                <a:stretch>
                  <a:fillRect l="-406" t="-1124"/>
                </a:stretch>
              </a:blipFill>
            </p:spPr>
            <p:txBody>
              <a:bodyPr/>
              <a:lstStyle/>
              <a:p>
                <a:r>
                  <a:rPr lang="fr-CA">
                    <a:noFill/>
                  </a:rPr>
                  <a:t> </a:t>
                </a:r>
              </a:p>
            </p:txBody>
          </p:sp>
        </mc:Fallback>
      </mc:AlternateContent>
    </p:spTree>
    <p:extLst>
      <p:ext uri="{BB962C8B-B14F-4D97-AF65-F5344CB8AC3E}">
        <p14:creationId xmlns:p14="http://schemas.microsoft.com/office/powerpoint/2010/main" val="2083136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D402C1-BB34-4DB3-AFF1-3696B60C0836}"/>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70C57BCC-9200-45C7-8B34-167A3361106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EA9C376-0241-4C82-BA8B-C59BFE3A85CB}"/>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8327A63E-3034-42C7-B35D-3FB1B381DD9F}"/>
                  </a:ext>
                </a:extLst>
              </p:cNvPr>
              <p:cNvSpPr txBox="1"/>
              <p:nvPr/>
            </p:nvSpPr>
            <p:spPr>
              <a:xfrm>
                <a:off x="838199" y="1371600"/>
                <a:ext cx="10003972" cy="4690923"/>
              </a:xfrm>
              <a:prstGeom prst="rect">
                <a:avLst/>
              </a:prstGeom>
              <a:noFill/>
            </p:spPr>
            <p:txBody>
              <a:bodyPr wrap="square" rtlCol="0">
                <a:spAutoFit/>
              </a:bodyPr>
              <a:lstStyle/>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On répète cette expérience</a:t>
                </a:r>
                <a:r>
                  <a:rPr lang="fr-CA" sz="1800" i="1" dirty="0">
                    <a:solidFill>
                      <a:srgbClr val="000000"/>
                    </a:solidFill>
                    <a:effectLst/>
                    <a:latin typeface="Times New Roman" panose="02020603050405020304" pitchFamily="18" charset="0"/>
                    <a:ea typeface="Times New Roman" panose="02020603050405020304" pitchFamily="18" charset="0"/>
                  </a:rPr>
                  <a:t> n </a:t>
                </a:r>
                <a:r>
                  <a:rPr lang="fr-CA" sz="1800" dirty="0">
                    <a:solidFill>
                      <a:srgbClr val="000000"/>
                    </a:solidFill>
                    <a:effectLst/>
                    <a:latin typeface="Times New Roman" panose="02020603050405020304" pitchFamily="18" charset="0"/>
                    <a:ea typeface="Times New Roman" panose="02020603050405020304" pitchFamily="18" charset="0"/>
                  </a:rPr>
                  <a:t>fois de manières indépendantes, et soit :</a:t>
                </a:r>
              </a:p>
              <a:p>
                <a:pPr marL="101600" indent="-101600" algn="l">
                  <a:lnSpc>
                    <a:spcPct val="200000"/>
                  </a:lnSpc>
                  <a:spcAft>
                    <a:spcPts val="600"/>
                  </a:spcAft>
                </a:pP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 le nombre de fois que </a:t>
                </a:r>
                <a:r>
                  <a:rPr lang="fr-FR" sz="1800" i="1" dirty="0">
                    <a:solidFill>
                      <a:srgbClr val="000000"/>
                    </a:solidFill>
                    <a:effectLst/>
                    <a:latin typeface="Times New Roman" panose="02020603050405020304" pitchFamily="18" charset="0"/>
                    <a:ea typeface="Times New Roman" panose="02020603050405020304" pitchFamily="18" charset="0"/>
                  </a:rPr>
                  <a:t>E</a:t>
                </a:r>
                <a:r>
                  <a:rPr lang="fr-FR" sz="1800" i="1"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s’est produit parmi ces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répétitions ;</a:t>
                </a:r>
                <a:endParaRPr lang="fr-CA" sz="1800" dirty="0">
                  <a:solidFill>
                    <a:srgbClr val="000000"/>
                  </a:solidFill>
                  <a:effectLst/>
                  <a:latin typeface="Times New Roman" panose="02020603050405020304" pitchFamily="18" charset="0"/>
                  <a:ea typeface="Times New Roman" panose="02020603050405020304" pitchFamily="18" charset="0"/>
                </a:endParaRPr>
              </a:p>
              <a:p>
                <a:pPr marL="101600" indent="-101600" algn="l">
                  <a:lnSpc>
                    <a:spcPct val="200000"/>
                  </a:lnSpc>
                </a:pP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le nombre de fois que </a:t>
                </a:r>
                <a:r>
                  <a:rPr lang="fr-FR" sz="1800" i="1" dirty="0">
                    <a:solidFill>
                      <a:srgbClr val="000000"/>
                    </a:solidFill>
                    <a:effectLst/>
                    <a:latin typeface="Times New Roman" panose="02020603050405020304" pitchFamily="18" charset="0"/>
                    <a:ea typeface="Times New Roman" panose="02020603050405020304" pitchFamily="18" charset="0"/>
                  </a:rPr>
                  <a:t>E</a:t>
                </a:r>
                <a:r>
                  <a:rPr lang="fr-FR" sz="1800" i="1"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s’est produit parmi ces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répétitions ;</a:t>
                </a:r>
                <a:endParaRPr lang="fr-CA" sz="1800" dirty="0">
                  <a:solidFill>
                    <a:srgbClr val="000000"/>
                  </a:solidFill>
                  <a:effectLst/>
                  <a:latin typeface="Times New Roman" panose="02020603050405020304" pitchFamily="18" charset="0"/>
                  <a:ea typeface="Times New Roman" panose="02020603050405020304" pitchFamily="18" charset="0"/>
                </a:endParaRPr>
              </a:p>
              <a:p>
                <a:pPr marL="101600" indent="-101600" algn="l">
                  <a:lnSpc>
                    <a:spcPct val="200000"/>
                  </a:lnSpc>
                </a:pPr>
                <a:r>
                  <a:rPr lang="fr-FR" sz="1800" dirty="0">
                    <a:solidFill>
                      <a:srgbClr val="000000"/>
                    </a:solidFill>
                    <a:effectLst/>
                    <a:latin typeface="Times New Roman" panose="02020603050405020304" pitchFamily="18" charset="0"/>
                    <a:ea typeface="Times New Roman" panose="02020603050405020304" pitchFamily="18" charset="0"/>
                  </a:rPr>
                  <a:t>•	… ;</a:t>
                </a:r>
                <a:endParaRPr lang="fr-CA" sz="1800" dirty="0">
                  <a:solidFill>
                    <a:srgbClr val="000000"/>
                  </a:solidFill>
                  <a:effectLst/>
                  <a:latin typeface="Times New Roman" panose="02020603050405020304" pitchFamily="18" charset="0"/>
                  <a:ea typeface="Times New Roman" panose="02020603050405020304" pitchFamily="18" charset="0"/>
                </a:endParaRPr>
              </a:p>
              <a:p>
                <a:pPr marL="101600" indent="-101600" algn="l">
                  <a:lnSpc>
                    <a:spcPct val="200000"/>
                  </a:lnSpc>
                </a:pP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err="1">
                    <a:solidFill>
                      <a:srgbClr val="000000"/>
                    </a:solidFill>
                    <a:effectLst/>
                    <a:latin typeface="Times New Roman" panose="02020603050405020304" pitchFamily="18" charset="0"/>
                    <a:ea typeface="Times New Roman" panose="02020603050405020304" pitchFamily="18" charset="0"/>
                  </a:rPr>
                  <a:t>X</a:t>
                </a:r>
                <a:r>
                  <a:rPr lang="fr-FR" sz="1800" i="1" baseline="-25000" dirty="0" err="1">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 le nombre de fois que </a:t>
                </a:r>
                <a:r>
                  <a:rPr lang="fr-FR" sz="1800" i="1" dirty="0" err="1">
                    <a:solidFill>
                      <a:srgbClr val="000000"/>
                    </a:solidFill>
                    <a:effectLst/>
                    <a:latin typeface="Times New Roman" panose="02020603050405020304" pitchFamily="18" charset="0"/>
                    <a:ea typeface="Times New Roman" panose="02020603050405020304" pitchFamily="18" charset="0"/>
                  </a:rPr>
                  <a:t>E</a:t>
                </a:r>
                <a:r>
                  <a:rPr lang="fr-FR" sz="1800" i="1" baseline="-25000" dirty="0" err="1">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s’est produit parmi ces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répétitions.</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a:p>
                <a:r>
                  <a:rPr lang="fr-CA" dirty="0"/>
                  <a:t>Alors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𝑘</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𝑘</m:t>
                            </m:r>
                          </m:sub>
                        </m:sSub>
                      </m:e>
                    </m:d>
                    <m:r>
                      <a:rPr lang="fr-CA" b="0" i="1" smtClean="0">
                        <a:latin typeface="Cambria Math" panose="02040503050406030204" pitchFamily="18" charset="0"/>
                      </a:rPr>
                      <m:t>=</m:t>
                    </m:r>
                    <m:d>
                      <m:dPr>
                        <m:ctrlPr>
                          <a:rPr lang="fr-CA" b="0" i="1" smtClean="0">
                            <a:latin typeface="Cambria Math" panose="02040503050406030204" pitchFamily="18" charset="0"/>
                          </a:rPr>
                        </m:ctrlPr>
                      </m:dPr>
                      <m:e>
                        <m:eqArr>
                          <m:eqArrPr>
                            <m:ctrlPr>
                              <a:rPr lang="fr-CA" b="0" i="1" smtClean="0">
                                <a:latin typeface="Cambria Math" panose="02040503050406030204" pitchFamily="18" charset="0"/>
                              </a:rPr>
                            </m:ctrlPr>
                          </m:eqArrPr>
                          <m:e>
                            <m:r>
                              <a:rPr lang="fr-CA" b="0" i="1" smtClean="0">
                                <a:latin typeface="Cambria Math" panose="02040503050406030204" pitchFamily="18" charset="0"/>
                              </a:rPr>
                              <m:t>𝑛</m:t>
                            </m:r>
                          </m:e>
                          <m:e>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𝑘</m:t>
                                </m:r>
                              </m:sub>
                            </m:sSub>
                          </m:e>
                        </m:eqArr>
                      </m:e>
                    </m:d>
                    <m:sSup>
                      <m:sSupPr>
                        <m:ctrlPr>
                          <a:rPr lang="fr-CA" b="0" i="1" smtClean="0">
                            <a:latin typeface="Cambria Math" panose="02040503050406030204" pitchFamily="18" charset="0"/>
                          </a:rPr>
                        </m:ctrlPr>
                      </m:sSup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sup>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sup>
                    </m:sSup>
                    <m:sSup>
                      <m:sSupPr>
                        <m:ctrlPr>
                          <a:rPr lang="fr-CA" b="0" i="1" smtClean="0">
                            <a:latin typeface="Cambria Math" panose="02040503050406030204" pitchFamily="18" charset="0"/>
                          </a:rPr>
                        </m:ctrlPr>
                      </m:sSup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sup>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2</m:t>
                            </m:r>
                          </m:sub>
                        </m:sSub>
                      </m:sup>
                    </m:sSup>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𝑘</m:t>
                            </m:r>
                          </m:sub>
                        </m:sSub>
                      </m:e>
                      <m:sup>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2</m:t>
                            </m:r>
                          </m:sub>
                        </m:sSub>
                      </m:sup>
                    </m:sSup>
                  </m:oMath>
                </a14:m>
                <a:endParaRPr lang="fr-CA" dirty="0"/>
              </a:p>
              <a:p>
                <a:endParaRPr lang="fr-CA" dirty="0"/>
              </a:p>
              <a:p>
                <a:r>
                  <a:rPr lang="fr-CA" dirty="0"/>
                  <a:t>En plus toutes ces variables sont indépendantes et chacune suit une loi binomiale de paramètres n et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𝑖</m:t>
                        </m:r>
                        <m:r>
                          <a:rPr lang="fr-CA" b="0" i="1" smtClean="0">
                            <a:latin typeface="Cambria Math" panose="02040503050406030204" pitchFamily="18" charset="0"/>
                          </a:rPr>
                          <m:t>   </m:t>
                        </m:r>
                      </m:sub>
                    </m:sSub>
                    <m:r>
                      <a:rPr lang="fr-CA" b="0" i="1" smtClean="0">
                        <a:latin typeface="Cambria Math" panose="02040503050406030204" pitchFamily="18" charset="0"/>
                      </a:rPr>
                      <m:t>𝑝𝑜𝑢𝑟</m:t>
                    </m:r>
                    <m:r>
                      <a:rPr lang="fr-CA" b="0" i="1" smtClean="0">
                        <a:latin typeface="Cambria Math" panose="02040503050406030204" pitchFamily="18" charset="0"/>
                      </a:rPr>
                      <m:t> </m:t>
                    </m:r>
                    <m:r>
                      <a:rPr lang="fr-CA" b="0" i="1" smtClean="0">
                        <a:latin typeface="Cambria Math" panose="02040503050406030204" pitchFamily="18" charset="0"/>
                      </a:rPr>
                      <m:t>𝑖</m:t>
                    </m:r>
                    <m:r>
                      <a:rPr lang="fr-CA" b="0" i="1" smtClean="0">
                        <a:latin typeface="Cambria Math" panose="02040503050406030204" pitchFamily="18" charset="0"/>
                      </a:rPr>
                      <m:t>=1,…</m:t>
                    </m:r>
                    <m:r>
                      <a:rPr lang="fr-CA" b="0" i="1" smtClean="0">
                        <a:latin typeface="Cambria Math" panose="02040503050406030204" pitchFamily="18" charset="0"/>
                      </a:rPr>
                      <m:t>𝑘</m:t>
                    </m:r>
                  </m:oMath>
                </a14:m>
                <a:endParaRPr lang="fr-CA" dirty="0"/>
              </a:p>
            </p:txBody>
          </p:sp>
        </mc:Choice>
        <mc:Fallback xmlns="">
          <p:sp>
            <p:nvSpPr>
              <p:cNvPr id="5" name="ZoneTexte 4">
                <a:extLst>
                  <a:ext uri="{FF2B5EF4-FFF2-40B4-BE49-F238E27FC236}">
                    <a16:creationId xmlns:a16="http://schemas.microsoft.com/office/drawing/2014/main" id="{8327A63E-3034-42C7-B35D-3FB1B381DD9F}"/>
                  </a:ext>
                </a:extLst>
              </p:cNvPr>
              <p:cNvSpPr txBox="1">
                <a:spLocks noRot="1" noChangeAspect="1" noMove="1" noResize="1" noEditPoints="1" noAdjustHandles="1" noChangeArrowheads="1" noChangeShapeType="1" noTextEdit="1"/>
              </p:cNvSpPr>
              <p:nvPr/>
            </p:nvSpPr>
            <p:spPr>
              <a:xfrm>
                <a:off x="838199" y="1371600"/>
                <a:ext cx="10003972" cy="4690923"/>
              </a:xfrm>
              <a:prstGeom prst="rect">
                <a:avLst/>
              </a:prstGeom>
              <a:blipFill>
                <a:blip r:embed="rId2"/>
                <a:stretch>
                  <a:fillRect l="-487"/>
                </a:stretch>
              </a:blipFill>
            </p:spPr>
            <p:txBody>
              <a:bodyPr/>
              <a:lstStyle/>
              <a:p>
                <a:r>
                  <a:rPr lang="fr-CA">
                    <a:noFill/>
                  </a:rPr>
                  <a:t> </a:t>
                </a:r>
              </a:p>
            </p:txBody>
          </p:sp>
        </mc:Fallback>
      </mc:AlternateContent>
    </p:spTree>
    <p:extLst>
      <p:ext uri="{BB962C8B-B14F-4D97-AF65-F5344CB8AC3E}">
        <p14:creationId xmlns:p14="http://schemas.microsoft.com/office/powerpoint/2010/main" val="1581640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D192AB5E-F1BF-4FF7-9CB0-DEF3353B0599}"/>
                  </a:ext>
                </a:extLst>
              </p:cNvPr>
              <p:cNvSpPr>
                <a:spLocks noGrp="1"/>
              </p:cNvSpPr>
              <p:nvPr>
                <p:ph type="title"/>
              </p:nvPr>
            </p:nvSpPr>
            <p:spPr>
              <a:xfrm>
                <a:off x="838200" y="136526"/>
                <a:ext cx="10515600" cy="5924640"/>
              </a:xfrm>
            </p:spPr>
            <p:txBody>
              <a:bodyPr>
                <a:normAutofit fontScale="90000"/>
              </a:bodyPr>
              <a:lstStyle/>
              <a:p>
                <a:pPr>
                  <a:lnSpc>
                    <a:spcPct val="200000"/>
                  </a:lnSpc>
                  <a:spcAft>
                    <a:spcPts val="800"/>
                  </a:spcAft>
                </a:pPr>
                <a:r>
                  <a:rPr lang="fr-CA" dirty="0"/>
                  <a:t>Exemple1 : </a:t>
                </a:r>
                <a:r>
                  <a:rPr lang="fr-FR" sz="1800" dirty="0">
                    <a:solidFill>
                      <a:srgbClr val="000000"/>
                    </a:solidFill>
                    <a:effectLst/>
                    <a:latin typeface="Times New Roman" panose="02020603050405020304" pitchFamily="18" charset="0"/>
                    <a:ea typeface="Times New Roman" panose="02020603050405020304" pitchFamily="18" charset="0"/>
                  </a:rPr>
                  <a:t>Lors d’un traitement avec un antibiotique, un patient peut avoir trois réactions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 « irradiation des germes » avec probabilité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 0,68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 infection persistante » avec probabilité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0,22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3</a:t>
                </a:r>
                <a:r>
                  <a:rPr lang="fr-FR" sz="1800" dirty="0">
                    <a:solidFill>
                      <a:srgbClr val="000000"/>
                    </a:solidFill>
                    <a:effectLst/>
                    <a:latin typeface="Times New Roman" panose="02020603050405020304" pitchFamily="18" charset="0"/>
                    <a:ea typeface="Times New Roman" panose="02020603050405020304" pitchFamily="18" charset="0"/>
                  </a:rPr>
                  <a:t> : « effets indésirables graves » avec probabilité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baseline="-25000" dirty="0">
                    <a:solidFill>
                      <a:srgbClr val="000000"/>
                    </a:solidFill>
                    <a:effectLst/>
                    <a:latin typeface="Times New Roman" panose="02020603050405020304" pitchFamily="18" charset="0"/>
                    <a:ea typeface="Times New Roman" panose="02020603050405020304" pitchFamily="18" charset="0"/>
                  </a:rPr>
                  <a:t>3</a:t>
                </a:r>
                <a:r>
                  <a:rPr lang="fr-FR" sz="1800" dirty="0">
                    <a:solidFill>
                      <a:srgbClr val="000000"/>
                    </a:solidFill>
                    <a:effectLst/>
                    <a:latin typeface="Times New Roman" panose="02020603050405020304" pitchFamily="18" charset="0"/>
                    <a:ea typeface="Times New Roman" panose="02020603050405020304" pitchFamily="18" charset="0"/>
                  </a:rPr>
                  <a:t> = 0,10.</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Si on soigne</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 150 patients choisis au hasard avec cet antibiotique et qu’on pose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 le nombre de patients parmi les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qui ont eu la réaction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1</a:t>
                </a:r>
                <a:r>
                  <a:rPr lang="fr-FR" sz="1800" dirty="0">
                    <a:solidFill>
                      <a:srgbClr val="000000"/>
                    </a:solidFill>
                    <a:effectLst/>
                    <a:latin typeface="Times New Roman" panose="02020603050405020304" pitchFamily="18" charset="0"/>
                    <a:ea typeface="Times New Roman" panose="02020603050405020304" pitchFamily="18" charset="0"/>
                  </a:rPr>
                  <a:t>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 le nombre de patients parmi les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qui ont eu la réaction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2</a:t>
                </a:r>
                <a:r>
                  <a:rPr lang="fr-FR" sz="1800" dirty="0">
                    <a:solidFill>
                      <a:srgbClr val="000000"/>
                    </a:solidFill>
                    <a:effectLst/>
                    <a:latin typeface="Times New Roman" panose="02020603050405020304" pitchFamily="18" charset="0"/>
                    <a:ea typeface="Times New Roman" panose="02020603050405020304" pitchFamily="18" charset="0"/>
                  </a:rPr>
                  <a:t>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baseline="-25000" dirty="0">
                    <a:solidFill>
                      <a:srgbClr val="000000"/>
                    </a:solidFill>
                    <a:effectLst/>
                    <a:latin typeface="Times New Roman" panose="02020603050405020304" pitchFamily="18" charset="0"/>
                    <a:ea typeface="Times New Roman" panose="02020603050405020304" pitchFamily="18" charset="0"/>
                  </a:rPr>
                  <a:t>3</a:t>
                </a:r>
                <a:r>
                  <a:rPr lang="fr-FR" sz="1800" dirty="0">
                    <a:solidFill>
                      <a:srgbClr val="000000"/>
                    </a:solidFill>
                    <a:effectLst/>
                    <a:latin typeface="Times New Roman" panose="02020603050405020304" pitchFamily="18" charset="0"/>
                    <a:ea typeface="Times New Roman" panose="02020603050405020304" pitchFamily="18" charset="0"/>
                  </a:rPr>
                  <a:t> : le nombre de patients parmi les</a:t>
                </a:r>
                <a:r>
                  <a:rPr lang="fr-FR" sz="1800" i="1" dirty="0">
                    <a:solidFill>
                      <a:srgbClr val="000000"/>
                    </a:solidFill>
                    <a:effectLst/>
                    <a:latin typeface="Times New Roman" panose="02020603050405020304" pitchFamily="18" charset="0"/>
                    <a:ea typeface="Times New Roman" panose="02020603050405020304" pitchFamily="18" charset="0"/>
                  </a:rPr>
                  <a:t> n </a:t>
                </a:r>
                <a:r>
                  <a:rPr lang="fr-FR" sz="1800" dirty="0">
                    <a:solidFill>
                      <a:srgbClr val="000000"/>
                    </a:solidFill>
                    <a:effectLst/>
                    <a:latin typeface="Times New Roman" panose="02020603050405020304" pitchFamily="18" charset="0"/>
                    <a:ea typeface="Times New Roman" panose="02020603050405020304" pitchFamily="18" charset="0"/>
                  </a:rPr>
                  <a:t>qui ont eu la réaction </a:t>
                </a:r>
                <a:r>
                  <a:rPr lang="fr-FR" sz="1800" i="1" dirty="0">
                    <a:solidFill>
                      <a:srgbClr val="000000"/>
                    </a:solidFill>
                    <a:effectLst/>
                    <a:latin typeface="Times New Roman" panose="02020603050405020304" pitchFamily="18" charset="0"/>
                    <a:ea typeface="Times New Roman" panose="02020603050405020304" pitchFamily="18" charset="0"/>
                  </a:rPr>
                  <a:t>R</a:t>
                </a:r>
                <a:r>
                  <a:rPr lang="fr-FR" sz="1800" i="1" baseline="-25000" dirty="0">
                    <a:solidFill>
                      <a:srgbClr val="000000"/>
                    </a:solidFill>
                    <a:effectLst/>
                    <a:latin typeface="Times New Roman" panose="02020603050405020304" pitchFamily="18" charset="0"/>
                    <a:ea typeface="Times New Roman" panose="02020603050405020304" pitchFamily="18" charset="0"/>
                  </a:rPr>
                  <a:t>3</a:t>
                </a:r>
                <a:r>
                  <a:rPr lang="fr-FR" sz="1800" dirty="0">
                    <a:solidFill>
                      <a:srgbClr val="000000"/>
                    </a:solidFill>
                    <a:effectLst/>
                    <a:latin typeface="Times New Roman" panose="02020603050405020304" pitchFamily="18" charset="0"/>
                    <a:ea typeface="Times New Roman" panose="02020603050405020304" pitchFamily="18" charset="0"/>
                  </a:rPr>
                  <a:t> ;</a:t>
                </a:r>
                <a:br>
                  <a:rPr lang="fr-FR"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Alors on a </a:t>
                </a:r>
                <a14:m>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𝑃</m:t>
                    </m:r>
                    <m:d>
                      <m:dPr>
                        <m:ctrlPr>
                          <a:rPr lang="fr-CA" sz="1800" b="0" i="1" smtClean="0">
                            <a:solidFill>
                              <a:srgbClr val="000000"/>
                            </a:solidFill>
                            <a:effectLst/>
                            <a:latin typeface="Cambria Math" panose="02040503050406030204" pitchFamily="18" charset="0"/>
                            <a:ea typeface="Times New Roman" panose="02020603050405020304" pitchFamily="18" charset="0"/>
                          </a:rPr>
                        </m:ctrlPr>
                      </m:dPr>
                      <m:e>
                        <m:sSub>
                          <m:sSubPr>
                            <m:ctrlPr>
                              <a:rPr lang="fr-CA" sz="1800" b="0" i="1" smtClean="0">
                                <a:solidFill>
                                  <a:srgbClr val="000000"/>
                                </a:solidFill>
                                <a:effectLst/>
                                <a:latin typeface="Cambria Math" panose="02040503050406030204" pitchFamily="18" charset="0"/>
                              </a:rPr>
                            </m:ctrlPr>
                          </m:sSubPr>
                          <m:e>
                            <m:r>
                              <a:rPr lang="fr-CA" sz="1800" b="0" i="1" smtClean="0">
                                <a:solidFill>
                                  <a:srgbClr val="000000"/>
                                </a:solidFill>
                                <a:effectLst/>
                                <a:latin typeface="Cambria Math" panose="02040503050406030204" pitchFamily="18" charset="0"/>
                              </a:rPr>
                              <m:t>𝑋</m:t>
                            </m:r>
                          </m:e>
                          <m:sub>
                            <m:r>
                              <a:rPr lang="fr-CA" sz="1800" b="0" i="1" smtClean="0">
                                <a:solidFill>
                                  <a:srgbClr val="000000"/>
                                </a:solidFill>
                                <a:effectLst/>
                                <a:latin typeface="Cambria Math" panose="02040503050406030204" pitchFamily="18" charset="0"/>
                              </a:rPr>
                              <m:t>1</m:t>
                            </m:r>
                          </m:sub>
                        </m:sSub>
                        <m:r>
                          <a:rPr lang="fr-CA" sz="1800" b="0" i="1" smtClean="0">
                            <a:solidFill>
                              <a:srgbClr val="000000"/>
                            </a:solidFill>
                            <a:effectLst/>
                            <a:latin typeface="Cambria Math" panose="02040503050406030204" pitchFamily="18" charset="0"/>
                          </a:rPr>
                          <m:t>=60; </m:t>
                        </m:r>
                        <m:sSub>
                          <m:sSubPr>
                            <m:ctrlPr>
                              <a:rPr lang="fr-CA" sz="1800" b="0" i="1" smtClean="0">
                                <a:solidFill>
                                  <a:srgbClr val="000000"/>
                                </a:solidFill>
                                <a:effectLst/>
                                <a:latin typeface="Cambria Math" panose="02040503050406030204" pitchFamily="18" charset="0"/>
                              </a:rPr>
                            </m:ctrlPr>
                          </m:sSubPr>
                          <m:e>
                            <m:r>
                              <a:rPr lang="fr-CA" sz="1800" b="0" i="1" smtClean="0">
                                <a:solidFill>
                                  <a:srgbClr val="000000"/>
                                </a:solidFill>
                                <a:effectLst/>
                                <a:latin typeface="Cambria Math" panose="02040503050406030204" pitchFamily="18" charset="0"/>
                              </a:rPr>
                              <m:t>𝑋</m:t>
                            </m:r>
                          </m:e>
                          <m:sub>
                            <m:r>
                              <a:rPr lang="fr-CA" sz="1800" b="0" i="1" smtClean="0">
                                <a:solidFill>
                                  <a:srgbClr val="000000"/>
                                </a:solidFill>
                                <a:effectLst/>
                                <a:latin typeface="Cambria Math" panose="02040503050406030204" pitchFamily="18" charset="0"/>
                              </a:rPr>
                              <m:t>2</m:t>
                            </m:r>
                          </m:sub>
                        </m:sSub>
                        <m:r>
                          <a:rPr lang="fr-CA" sz="1800" b="0" i="1" smtClean="0">
                            <a:solidFill>
                              <a:srgbClr val="000000"/>
                            </a:solidFill>
                            <a:effectLst/>
                            <a:latin typeface="Cambria Math" panose="02040503050406030204" pitchFamily="18" charset="0"/>
                          </a:rPr>
                          <m:t>=70; </m:t>
                        </m:r>
                        <m:sSub>
                          <m:sSubPr>
                            <m:ctrlPr>
                              <a:rPr lang="fr-CA" sz="1800" b="0" i="1" smtClean="0">
                                <a:solidFill>
                                  <a:srgbClr val="000000"/>
                                </a:solidFill>
                                <a:effectLst/>
                                <a:latin typeface="Cambria Math" panose="02040503050406030204" pitchFamily="18" charset="0"/>
                              </a:rPr>
                            </m:ctrlPr>
                          </m:sSubPr>
                          <m:e>
                            <m:r>
                              <a:rPr lang="fr-CA" sz="1800" b="0" i="1" smtClean="0">
                                <a:solidFill>
                                  <a:srgbClr val="000000"/>
                                </a:solidFill>
                                <a:effectLst/>
                                <a:latin typeface="Cambria Math" panose="02040503050406030204" pitchFamily="18" charset="0"/>
                              </a:rPr>
                              <m:t>𝑋</m:t>
                            </m:r>
                          </m:e>
                          <m:sub>
                            <m:r>
                              <a:rPr lang="fr-CA" sz="1800" b="0" i="1" smtClean="0">
                                <a:solidFill>
                                  <a:srgbClr val="000000"/>
                                </a:solidFill>
                                <a:effectLst/>
                                <a:latin typeface="Cambria Math" panose="02040503050406030204" pitchFamily="18" charset="0"/>
                              </a:rPr>
                              <m:t>3</m:t>
                            </m:r>
                          </m:sub>
                        </m:sSub>
                        <m:r>
                          <a:rPr lang="fr-CA" sz="1800" b="0" i="1" smtClean="0">
                            <a:solidFill>
                              <a:srgbClr val="000000"/>
                            </a:solidFill>
                            <a:effectLst/>
                            <a:latin typeface="Cambria Math" panose="02040503050406030204" pitchFamily="18" charset="0"/>
                          </a:rPr>
                          <m:t>=20</m:t>
                        </m:r>
                      </m:e>
                    </m:d>
                    <m:r>
                      <a:rPr lang="fr-CA" sz="1800" b="0" i="1" smtClean="0">
                        <a:solidFill>
                          <a:srgbClr val="000000"/>
                        </a:solidFill>
                        <a:effectLst/>
                        <a:latin typeface="Cambria Math" panose="02040503050406030204" pitchFamily="18" charset="0"/>
                      </a:rPr>
                      <m:t>=</m:t>
                    </m:r>
                    <m:d>
                      <m:dPr>
                        <m:ctrlPr>
                          <a:rPr lang="fr-CA" sz="1800" b="0" i="1" smtClean="0">
                            <a:solidFill>
                              <a:srgbClr val="000000"/>
                            </a:solidFill>
                            <a:effectLst/>
                            <a:latin typeface="Cambria Math" panose="02040503050406030204" pitchFamily="18" charset="0"/>
                          </a:rPr>
                        </m:ctrlPr>
                      </m:dPr>
                      <m:e>
                        <m:eqArr>
                          <m:eqArrPr>
                            <m:ctrlPr>
                              <a:rPr lang="fr-CA" sz="1800" b="0" i="1" smtClean="0">
                                <a:solidFill>
                                  <a:srgbClr val="000000"/>
                                </a:solidFill>
                                <a:effectLst/>
                                <a:latin typeface="Cambria Math" panose="02040503050406030204" pitchFamily="18" charset="0"/>
                              </a:rPr>
                            </m:ctrlPr>
                          </m:eqArrPr>
                          <m:e>
                            <m:r>
                              <a:rPr lang="fr-CA" sz="1800" b="0" i="1" smtClean="0">
                                <a:solidFill>
                                  <a:srgbClr val="000000"/>
                                </a:solidFill>
                                <a:effectLst/>
                                <a:latin typeface="Cambria Math" panose="02040503050406030204" pitchFamily="18" charset="0"/>
                              </a:rPr>
                              <m:t>150</m:t>
                            </m:r>
                          </m:e>
                          <m:e>
                            <m:r>
                              <a:rPr lang="fr-CA" sz="1800" b="0" i="1" smtClean="0">
                                <a:solidFill>
                                  <a:srgbClr val="000000"/>
                                </a:solidFill>
                                <a:effectLst/>
                                <a:latin typeface="Cambria Math" panose="02040503050406030204" pitchFamily="18" charset="0"/>
                              </a:rPr>
                              <m:t>60;70;20</m:t>
                            </m:r>
                          </m:e>
                        </m:eqArr>
                      </m:e>
                    </m:d>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0,68</m:t>
                        </m:r>
                      </m:e>
                      <m:sup>
                        <m:r>
                          <a:rPr lang="fr-CA" sz="1800" b="0" i="1" smtClean="0">
                            <a:solidFill>
                              <a:srgbClr val="000000"/>
                            </a:solidFill>
                            <a:effectLst/>
                            <a:latin typeface="Cambria Math" panose="02040503050406030204" pitchFamily="18" charset="0"/>
                          </a:rPr>
                          <m:t>70</m:t>
                        </m:r>
                      </m:sup>
                    </m:sSup>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0,22</m:t>
                        </m:r>
                      </m:e>
                      <m:sup>
                        <m:r>
                          <a:rPr lang="fr-CA" sz="1800" b="0" i="1" smtClean="0">
                            <a:solidFill>
                              <a:srgbClr val="000000"/>
                            </a:solidFill>
                            <a:effectLst/>
                            <a:latin typeface="Cambria Math" panose="02040503050406030204" pitchFamily="18" charset="0"/>
                          </a:rPr>
                          <m:t>70</m:t>
                        </m:r>
                      </m:sup>
                    </m:sSup>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0,10</m:t>
                        </m:r>
                      </m:e>
                      <m:sup>
                        <m:r>
                          <a:rPr lang="fr-CA" sz="1800" b="0" i="1" smtClean="0">
                            <a:solidFill>
                              <a:srgbClr val="000000"/>
                            </a:solidFill>
                            <a:effectLst/>
                            <a:latin typeface="Cambria Math" panose="02040503050406030204" pitchFamily="18" charset="0"/>
                          </a:rPr>
                          <m:t>20</m:t>
                        </m:r>
                      </m:sup>
                    </m:sSup>
                    <m:r>
                      <a:rPr lang="fr-CA" sz="1800" b="0" i="1" smtClean="0">
                        <a:solidFill>
                          <a:srgbClr val="000000"/>
                        </a:solidFill>
                        <a:effectLst/>
                        <a:latin typeface="Cambria Math" panose="02040503050406030204" pitchFamily="18" charset="0"/>
                      </a:rPr>
                      <m:t>=</m:t>
                    </m:r>
                    <m:sSup>
                      <m:sSupPr>
                        <m:ctrlPr>
                          <a:rPr lang="fr-CA" sz="1800" b="0" i="1" smtClean="0">
                            <a:solidFill>
                              <a:srgbClr val="000000"/>
                            </a:solidFill>
                            <a:effectLst/>
                            <a:latin typeface="Cambria Math" panose="02040503050406030204" pitchFamily="18" charset="0"/>
                          </a:rPr>
                        </m:ctrlPr>
                      </m:sSupPr>
                      <m:e>
                        <m:r>
                          <a:rPr lang="fr-CA" sz="1800" b="0" i="1" smtClean="0">
                            <a:solidFill>
                              <a:srgbClr val="000000"/>
                            </a:solidFill>
                            <a:effectLst/>
                            <a:latin typeface="Cambria Math" panose="02040503050406030204" pitchFamily="18" charset="0"/>
                          </a:rPr>
                          <m:t>1,9∗10</m:t>
                        </m:r>
                      </m:e>
                      <m:sup>
                        <m:r>
                          <a:rPr lang="fr-CA" sz="1800" b="0" i="1" smtClean="0">
                            <a:solidFill>
                              <a:srgbClr val="000000"/>
                            </a:solidFill>
                            <a:effectLst/>
                            <a:latin typeface="Cambria Math" panose="02040503050406030204" pitchFamily="18" charset="0"/>
                          </a:rPr>
                          <m:t>−14</m:t>
                        </m:r>
                      </m:sup>
                    </m:sSup>
                  </m:oMath>
                </a14:m>
                <a:endParaRPr lang="fr-CA" dirty="0"/>
              </a:p>
            </p:txBody>
          </p:sp>
        </mc:Choice>
        <mc:Fallback xmlns="">
          <p:sp>
            <p:nvSpPr>
              <p:cNvPr id="2" name="Titre 1">
                <a:extLst>
                  <a:ext uri="{FF2B5EF4-FFF2-40B4-BE49-F238E27FC236}">
                    <a16:creationId xmlns:a16="http://schemas.microsoft.com/office/drawing/2014/main" id="{D192AB5E-F1BF-4FF7-9CB0-DEF3353B0599}"/>
                  </a:ext>
                </a:extLst>
              </p:cNvPr>
              <p:cNvSpPr>
                <a:spLocks noGrp="1" noRot="1" noChangeAspect="1" noMove="1" noResize="1" noEditPoints="1" noAdjustHandles="1" noChangeArrowheads="1" noChangeShapeType="1" noTextEdit="1"/>
              </p:cNvSpPr>
              <p:nvPr>
                <p:ph type="title"/>
              </p:nvPr>
            </p:nvSpPr>
            <p:spPr>
              <a:xfrm>
                <a:off x="838200" y="136526"/>
                <a:ext cx="10515600" cy="5924640"/>
              </a:xfrm>
              <a:blipFill>
                <a:blip r:embed="rId2"/>
                <a:stretch>
                  <a:fillRect l="-208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64EA746C-1FF2-4C61-8992-B84EE6DDB08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34014F6-9737-4CB7-8186-F608611D4F60}"/>
              </a:ext>
            </a:extLst>
          </p:cNvPr>
          <p:cNvSpPr>
            <a:spLocks noGrp="1"/>
          </p:cNvSpPr>
          <p:nvPr>
            <p:ph type="sldNum" sz="quarter" idx="12"/>
          </p:nvPr>
        </p:nvSpPr>
        <p:spPr/>
        <p:txBody>
          <a:bodyPr/>
          <a:lstStyle/>
          <a:p>
            <a:fld id="{26377AD9-CE17-438C-A638-C64D2D42D7CF}" type="slidenum">
              <a:rPr lang="fr-CA" smtClean="0"/>
              <a:t>14</a:t>
            </a:fld>
            <a:endParaRPr lang="fr-CA" dirty="0"/>
          </a:p>
        </p:txBody>
      </p:sp>
    </p:spTree>
    <p:extLst>
      <p:ext uri="{BB962C8B-B14F-4D97-AF65-F5344CB8AC3E}">
        <p14:creationId xmlns:p14="http://schemas.microsoft.com/office/powerpoint/2010/main" val="2272882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56F844-6351-4C55-90AF-26E3FA262DD4}"/>
              </a:ext>
            </a:extLst>
          </p:cNvPr>
          <p:cNvSpPr>
            <a:spLocks noGrp="1"/>
          </p:cNvSpPr>
          <p:nvPr>
            <p:ph type="title"/>
          </p:nvPr>
        </p:nvSpPr>
        <p:spPr>
          <a:xfrm>
            <a:off x="838199" y="136525"/>
            <a:ext cx="10753165" cy="2345418"/>
          </a:xfrm>
        </p:spPr>
        <p:txBody>
          <a:bodyPr>
            <a:normAutofit/>
          </a:bodyPr>
          <a:lstStyle/>
          <a:p>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Les clients arrivent à un supermarché selon une distribution de Poisson avec une moyenne de 4 clients à la minute ; 35 % de ces clients n’achètent rien, 25 % paient comptant, 20 % paient avec une carte bancaire et les autres paient par chèque. Quelle est la probabilité que, durant un intervalle de 5 minutes, on observe 7 clients qui paient comptant, 5 qui paient avec une carte bancaire et 3 qui paient par chèque ?</a:t>
            </a:r>
            <a:br>
              <a:rPr lang="fr-FR" sz="1800" dirty="0">
                <a:solidFill>
                  <a:srgbClr val="000000"/>
                </a:solidFill>
                <a:effectLst/>
                <a:latin typeface="Times New Roman" panose="02020603050405020304" pitchFamily="18" charset="0"/>
                <a:ea typeface="Times New Roman" panose="02020603050405020304" pitchFamily="18" charset="0"/>
              </a:rPr>
            </a:b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Soit </a:t>
            </a:r>
            <a:r>
              <a:rPr lang="fr-FR" sz="1800" i="1" spc="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 :</a:t>
            </a: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le nombre de clients qui paient comptant, elle sera distribuée selon une loi de Poisson de paramètre  4*0,25*5=5  </a:t>
            </a:r>
            <a:endParaRPr lang="fr-CA" dirty="0"/>
          </a:p>
        </p:txBody>
      </p:sp>
      <p:sp>
        <p:nvSpPr>
          <p:cNvPr id="3" name="Espace réservé du pied de page 2">
            <a:extLst>
              <a:ext uri="{FF2B5EF4-FFF2-40B4-BE49-F238E27FC236}">
                <a16:creationId xmlns:a16="http://schemas.microsoft.com/office/drawing/2014/main" id="{0FAD7015-2CF6-4AD8-B353-CEB267B1969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058C3B4-C79C-4C28-AFB8-098EA85723C5}"/>
              </a:ext>
            </a:extLst>
          </p:cNvPr>
          <p:cNvSpPr>
            <a:spLocks noGrp="1"/>
          </p:cNvSpPr>
          <p:nvPr>
            <p:ph type="sldNum" sz="quarter" idx="12"/>
          </p:nvPr>
        </p:nvSpPr>
        <p:spPr/>
        <p:txBody>
          <a:bodyPr/>
          <a:lstStyle/>
          <a:p>
            <a:fld id="{26377AD9-CE17-438C-A638-C64D2D42D7CF}" type="slidenum">
              <a:rPr lang="fr-CA" smtClean="0"/>
              <a:t>15</a:t>
            </a:fld>
            <a:endParaRPr lang="fr-CA"/>
          </a:p>
        </p:txBody>
      </p: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47A07497-0FCB-4B88-9E9F-C2751DA41325}"/>
                  </a:ext>
                </a:extLst>
              </p:cNvPr>
              <p:cNvSpPr txBox="1"/>
              <p:nvPr/>
            </p:nvSpPr>
            <p:spPr>
              <a:xfrm>
                <a:off x="941294" y="2675965"/>
                <a:ext cx="9628094" cy="2585323"/>
              </a:xfrm>
              <a:prstGeom prst="rect">
                <a:avLst/>
              </a:prstGeom>
              <a:noFill/>
            </p:spPr>
            <p:txBody>
              <a:bodyPr wrap="square" rtlCol="0">
                <a:spAutoFit/>
              </a:bodyPr>
              <a:lstStyle/>
              <a:p>
                <a:r>
                  <a:rPr lang="fr-CA" dirty="0"/>
                  <a:t>Donc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=7</m:t>
                        </m:r>
                      </m:e>
                    </m:d>
                    <m:r>
                      <a:rPr lang="fr-CA" b="0" i="1" smtClean="0">
                        <a:latin typeface="Cambria Math" panose="02040503050406030204" pitchFamily="18" charset="0"/>
                      </a:rPr>
                      <m:t>=0,1044.</m:t>
                    </m:r>
                  </m:oMath>
                </a14:m>
                <a:endParaRPr lang="fr-CA" b="0" dirty="0"/>
              </a:p>
              <a:p>
                <a:pPr marL="285750" indent="-285750">
                  <a:buFont typeface="Arial" panose="020B0604020202020204" pitchFamily="34" charset="0"/>
                  <a:buChar char="•"/>
                </a:pPr>
                <a:r>
                  <a:rPr lang="fr-CA" dirty="0"/>
                  <a:t>Soit Y: le nombre de clients qui utilisent une carte bancaire, elle est de Poisson avec paramètre 4*0,20*5=4   donc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rPr>
                          <m:t>=5</m:t>
                        </m:r>
                      </m:e>
                    </m:d>
                    <m:r>
                      <a:rPr lang="fr-CA" b="0" i="1" smtClean="0">
                        <a:latin typeface="Cambria Math" panose="02040503050406030204" pitchFamily="18" charset="0"/>
                      </a:rPr>
                      <m:t>=0,1563.</m:t>
                    </m:r>
                  </m:oMath>
                </a14:m>
                <a:endParaRPr lang="fr-CA" b="0" dirty="0"/>
              </a:p>
              <a:p>
                <a:pPr marL="285750" indent="-285750">
                  <a:buFont typeface="Arial" panose="020B0604020202020204" pitchFamily="34" charset="0"/>
                  <a:buChar char="•"/>
                </a:pPr>
                <a:r>
                  <a:rPr lang="fr-CA" dirty="0"/>
                  <a:t>Soit Z: le nombre de clients qui paient par chèque, elle est de Poisson avec un paramètre 4*0,20*5=4  donc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b="0" i="1" smtClean="0">
                            <a:latin typeface="Cambria Math" panose="02040503050406030204" pitchFamily="18" charset="0"/>
                          </a:rPr>
                          <m:t>=3</m:t>
                        </m:r>
                      </m:e>
                    </m:d>
                    <m:r>
                      <a:rPr lang="fr-CA" b="0" i="1" smtClean="0">
                        <a:latin typeface="Cambria Math" panose="02040503050406030204" pitchFamily="18" charset="0"/>
                      </a:rPr>
                      <m:t>=0,1954.</m:t>
                    </m:r>
                  </m:oMath>
                </a14:m>
                <a:endParaRPr lang="fr-CA" b="0"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Donc par indépendance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=7;</m:t>
                        </m:r>
                        <m:r>
                          <a:rPr lang="fr-CA" b="0" i="1" smtClean="0">
                            <a:latin typeface="Cambria Math" panose="02040503050406030204" pitchFamily="18" charset="0"/>
                          </a:rPr>
                          <m:t>𝑌</m:t>
                        </m:r>
                        <m:r>
                          <a:rPr lang="fr-CA" b="0" i="1" smtClean="0">
                            <a:latin typeface="Cambria Math" panose="02040503050406030204" pitchFamily="18" charset="0"/>
                          </a:rPr>
                          <m:t>=5;</m:t>
                        </m:r>
                        <m:r>
                          <a:rPr lang="fr-CA" b="0" i="1" smtClean="0">
                            <a:latin typeface="Cambria Math" panose="02040503050406030204" pitchFamily="18" charset="0"/>
                          </a:rPr>
                          <m:t>𝑍</m:t>
                        </m:r>
                        <m:r>
                          <a:rPr lang="fr-CA" b="0" i="1" smtClean="0">
                            <a:latin typeface="Cambria Math" panose="02040503050406030204" pitchFamily="18" charset="0"/>
                          </a:rPr>
                          <m:t>=3</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=7</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rPr>
                          <m:t>=5</m:t>
                        </m:r>
                      </m:e>
                    </m:d>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b="0" i="1" smtClean="0">
                            <a:latin typeface="Cambria Math" panose="02040503050406030204" pitchFamily="18" charset="0"/>
                          </a:rPr>
                          <m:t>=3</m:t>
                        </m:r>
                      </m:e>
                    </m:d>
                    <m:r>
                      <a:rPr lang="fr-CA" b="0" i="1" smtClean="0">
                        <a:latin typeface="Cambria Math" panose="02040503050406030204" pitchFamily="18" charset="0"/>
                      </a:rPr>
                      <m:t>=0,003188</m:t>
                    </m:r>
                  </m:oMath>
                </a14:m>
                <a:r>
                  <a:rPr lang="fr-CA" dirty="0"/>
                  <a:t> </a:t>
                </a:r>
              </a:p>
            </p:txBody>
          </p:sp>
        </mc:Choice>
        <mc:Fallback xmlns="">
          <p:sp>
            <p:nvSpPr>
              <p:cNvPr id="13" name="ZoneTexte 12">
                <a:extLst>
                  <a:ext uri="{FF2B5EF4-FFF2-40B4-BE49-F238E27FC236}">
                    <a16:creationId xmlns:a16="http://schemas.microsoft.com/office/drawing/2014/main" id="{47A07497-0FCB-4B88-9E9F-C2751DA41325}"/>
                  </a:ext>
                </a:extLst>
              </p:cNvPr>
              <p:cNvSpPr txBox="1">
                <a:spLocks noRot="1" noChangeAspect="1" noMove="1" noResize="1" noEditPoints="1" noAdjustHandles="1" noChangeArrowheads="1" noChangeShapeType="1" noTextEdit="1"/>
              </p:cNvSpPr>
              <p:nvPr/>
            </p:nvSpPr>
            <p:spPr>
              <a:xfrm>
                <a:off x="941294" y="2675965"/>
                <a:ext cx="9628094" cy="2585323"/>
              </a:xfrm>
              <a:prstGeom prst="rect">
                <a:avLst/>
              </a:prstGeom>
              <a:blipFill>
                <a:blip r:embed="rId2"/>
                <a:stretch>
                  <a:fillRect l="-506" t="-1415"/>
                </a:stretch>
              </a:blipFill>
            </p:spPr>
            <p:txBody>
              <a:bodyPr/>
              <a:lstStyle/>
              <a:p>
                <a:r>
                  <a:rPr lang="fr-CA">
                    <a:noFill/>
                  </a:rPr>
                  <a:t> </a:t>
                </a:r>
              </a:p>
            </p:txBody>
          </p:sp>
        </mc:Fallback>
      </mc:AlternateContent>
    </p:spTree>
    <p:extLst>
      <p:ext uri="{BB962C8B-B14F-4D97-AF65-F5344CB8AC3E}">
        <p14:creationId xmlns:p14="http://schemas.microsoft.com/office/powerpoint/2010/main" val="2335110828"/>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1710</TotalTime>
  <Words>2371</Words>
  <Application>Microsoft Office PowerPoint</Application>
  <PresentationFormat>Grand écran</PresentationFormat>
  <Paragraphs>138</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Calibri</vt:lpstr>
      <vt:lpstr>Calibri Light</vt:lpstr>
      <vt:lpstr>Cambria Math</vt:lpstr>
      <vt:lpstr>Times New Roman</vt:lpstr>
      <vt:lpstr>Office Theme</vt:lpstr>
      <vt:lpstr>III: La loi géométrique</vt:lpstr>
      <vt:lpstr>Exemple: Supposons que, lors de la transmission d’un signal, il y ait deux possibilités : soit que ce signal arrive correctement au destinataire, ce qui se produit dans 99 % des cas, soit qu’il arrive déformé, ce qui se produit dans 1 % des cas. (a) Calculer la probabilité de transmettre au moins 10 signaux avant d’observer le premier signal déformé. (b)  Quel est l’écart-type du nombre de signaux à transmettre pour avoir un premier signal déformé ? </vt:lpstr>
      <vt:lpstr>IV. La loi binomiale négative</vt:lpstr>
      <vt:lpstr>Exemple1: Dans une certaine population, le pourcentage de personnes albinos est de 2 %. Des gens font la queue pour entrer dans un musée de façon indépendante les uns des autres.  (a) Quelle est la probabilité que la centième personne à entrer dans le musée soit la troisième personne albinos ? (b) Quelle est le nombre moyen de clients qui vont entrer dans le musée avant d’observer le 5ième albinos? </vt:lpstr>
      <vt:lpstr>Exemple 2:Certaines des machines d’un atelier mécanique tombent en panne de façon indépendante, au taux de 7,5 % par jour. Quelle est la probabilité que la cinquième panne se produise le vingtième jour du mois ? </vt:lpstr>
      <vt:lpstr>V. La loi de Poisson On s’intéresse à un phénomène qui se produit en moyenne λ (lambda) fois par unité (de temps, de surface, de volume, de masse…). La variable X indique le nombre de fois que ce phénomène se produit durant un intervalle de s unités : c’est la loi de Poisson, nommée ainsi en l’honneur du mathématicien français Siméon Denis Poisson (1781-1840). </vt:lpstr>
      <vt:lpstr>Exemple 1: Un standardiste reçoit en moyenne 2,5 appels à l’heure. Si les appels arrivent selon un modèle de Poisson : a) déterminez la probabilité que ce standardiste reçoive au moins 12 appels durant une période de quatre heures ; b) calculez l’espérance et l’écart-type du nombre d’appels reçus par ce standardiste durant une journée de huit heures. </vt:lpstr>
      <vt:lpstr>Exemple 2: Dans une culture de cellules, on assiste en moyenne à une mutation de cellules dans chaque lot de 1000 cellules. Si le nombre de cellules mutantes obéit à un modèle de Poisson : a) déterminez la probabilité d’observer trois mutations dans une culture contenant 3500 cellules ; b) déterminez l’espérance et la variance du nombre de cellules mutantes observées dans une culture de 100 000 cellules. </vt:lpstr>
      <vt:lpstr>Théorème: Soient n variables aléatoires X_1,X_2,….,X_n  de Poisson indépendantes de paramètres "λ" _1,"λ" _2,…..,"λ" _n alors leur somme S=X_1+X_2+….+X_n est aussi une variable de Poisson de paramètre "λ"= "λ" _1+"λ" _2+…..+"λ" _n </vt:lpstr>
      <vt:lpstr>Exemple: L’échangeur Turcot à Montréal est un carrefour où la circulation de trois autoroutes, les A10, A15 et A20, peut être modélisée comme une variable de Poisson d’une moyenne de 2400 véhicules à l’heure pour la A20, de 1800 véhicules à l’heure pour la A15 et de 1200 véhicules à l’heure pour la A10. Quelle est la probabilité qu’on assiste durant une minute au passage de 100 véhicules dans cet échangeur ? </vt:lpstr>
      <vt:lpstr>INVERSEMENT: Soit un phénomène qui se produit selon une loi de Poisson de paramètre λ et pour lequel les événements peuvent être décomposés en k types ; chaque type se produit avec une probabilité pi telle que : ∑_(i=1)^k▒〖p_i=1〗 Alors, si on pose Xi : le nombre de fois que les événements de type i se produisent, chaque Xi est une variable de  Poisson de paramètre  λp_i et toutes ces variables seront indépendantes.</vt:lpstr>
      <vt:lpstr>Loi multinomiale: Lorsqu’on mène plusieurs expériences aléatoires simultanément, on doit être en mesure de calculer le nombre de fois que chacune s’est produite : la loi multinomiale fournit cette information. La loi multinomiale est très importante en biologie statistique et en sciences humaines, surtout quand on manipule des caractéristiques qualitatives et qu’on s’intéresse à leurs répétitions. Considérons une expérience aléatoire donnant une partition de S en k événements.   </vt:lpstr>
      <vt:lpstr>Suite)</vt:lpstr>
      <vt:lpstr>Exemple1 : Lors d’un traitement avec un antibiotique, un patient peut avoir trois réactions : • R1 : « irradiation des germes » avec probabilité p1 = 0,68 ; • R2 : « infection persistante » avec probabilité p2 = 0,22 ; • R3 : « effets indésirables graves » avec probabilité p3 = 0,10. Si on soigne n = 150 patients choisis au hasard avec cet antibiotique et qu’on pose : • X1 : le nombre de patients parmi les n qui ont eu la réaction R1 ; • X2 : le nombre de patients parmi les n qui ont eu la réaction R2 ; • X3 : le nombre de patients parmi les n qui ont eu la réaction R3 ; Alors on a P(X_1=60; X_2=70; X_3=20)=(█(150@60;70;20)) 〖0,68〗^70 〖0,22〗^70 〖0,10〗^20=〖1,9∗10〗^(-14)</vt:lpstr>
      <vt:lpstr>Exemple 2: Les clients arrivent à un supermarché selon une distribution de Poisson avec une moyenne de 4 clients à la minute ; 35 % de ces clients n’achètent rien, 25 % paient comptant, 20 % paient avec une carte bancaire et les autres paient par chèque. Quelle est la probabilité que, durant un intervalle de 5 minutes, on observe 7 clients qui paient comptant, 5 qui paient avec une carte bancaire et 3 qui paient par chèque ?  Soit X : le nombre de clients qui paient comptant, elle sera distribuée selon une loi de Poisson de paramètre  4*0,25*5=5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Exemple: Soit une variable aléatoire discrète X dont la fonction de masse est donnée par le tableau suivant :</dc:title>
  <dc:creator>Mhammed Mountassir</dc:creator>
  <cp:lastModifiedBy>Mhammed Mountassir</cp:lastModifiedBy>
  <cp:revision>37</cp:revision>
  <dcterms:created xsi:type="dcterms:W3CDTF">2020-09-23T10:36:09Z</dcterms:created>
  <dcterms:modified xsi:type="dcterms:W3CDTF">2021-09-27T20:50:19Z</dcterms:modified>
</cp:coreProperties>
</file>