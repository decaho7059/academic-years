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notesMasterIdLst>
    <p:notesMasterId r:id="rId21"/>
  </p:notesMasterIdLst>
  <p:sldIdLst>
    <p:sldId id="264" r:id="rId2"/>
    <p:sldId id="265" r:id="rId3"/>
    <p:sldId id="267" r:id="rId4"/>
    <p:sldId id="266" r:id="rId5"/>
    <p:sldId id="269" r:id="rId6"/>
    <p:sldId id="271" r:id="rId7"/>
    <p:sldId id="270" r:id="rId8"/>
    <p:sldId id="268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957" autoAdjust="0"/>
  </p:normalViewPr>
  <p:slideViewPr>
    <p:cSldViewPr snapToGrid="0">
      <p:cViewPr varScale="1">
        <p:scale>
          <a:sx n="99" d="100"/>
          <a:sy n="99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88AB8-1C01-41DC-AFCA-28305AC61B27}" type="datetimeFigureOut">
              <a:rPr lang="fr-CA" smtClean="0"/>
              <a:t>2021-09-06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9F1DE7-72A5-40DE-843D-98ED1D33E9C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11788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AADC-90C4-42A0-92DD-A3EB1E3F99BC}" type="datetime1">
              <a:rPr lang="fr-CA" smtClean="0"/>
              <a:t>2021-09-06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71358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E81BE-FF7C-4713-86B5-98B3635F7575}" type="datetime1">
              <a:rPr lang="fr-CA" smtClean="0"/>
              <a:t>2021-09-06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56662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F1A6-A103-49CB-B28A-B5B8CE7CCF08}" type="datetime1">
              <a:rPr lang="fr-CA" smtClean="0"/>
              <a:t>2021-09-06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18711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FE57F-B680-462B-BBFD-7518F74AF714}" type="datetime1">
              <a:rPr lang="fr-CA" smtClean="0"/>
              <a:t>2021-09-06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46219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B3B4F-1CE8-448C-951A-2E287C7816DA}" type="datetime1">
              <a:rPr lang="fr-CA" smtClean="0"/>
              <a:t>2021-09-06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74818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63F50-9144-44F9-A37F-D55A19808CF4}" type="datetime1">
              <a:rPr lang="fr-CA" smtClean="0"/>
              <a:t>2021-09-06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7437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B2447-19AC-45D2-83F5-5B12576F084D}" type="datetime1">
              <a:rPr lang="fr-CA" smtClean="0"/>
              <a:t>2021-09-06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59948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A9AF-12D3-47FA-A0D6-97746BB8E776}" type="datetime1">
              <a:rPr lang="fr-CA" smtClean="0"/>
              <a:t>2021-09-06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31655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19D18-3682-4189-B23C-B8B496B3307C}" type="datetime1">
              <a:rPr lang="fr-CA" smtClean="0"/>
              <a:t>2021-09-06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09409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EAFDA-2171-49C0-B449-3733417EA82F}" type="datetime1">
              <a:rPr lang="fr-CA" smtClean="0"/>
              <a:t>2021-09-06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71225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BD924-29A3-4FF2-B149-61A5377F8882}" type="datetime1">
              <a:rPr lang="fr-CA" smtClean="0"/>
              <a:t>2021-09-06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02387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18466-3607-4A57-8167-9FAB5784D41C}" type="datetime1">
              <a:rPr lang="fr-CA" smtClean="0"/>
              <a:t>2021-09-06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33741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13AB08-90FC-4AFB-86D6-E18FD4D22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6525"/>
            <a:ext cx="9292046" cy="1463675"/>
          </a:xfrm>
        </p:spPr>
        <p:txBody>
          <a:bodyPr>
            <a:normAutofit fontScale="90000"/>
          </a:bodyPr>
          <a:lstStyle/>
          <a:p>
            <a:r>
              <a:rPr lang="fr-CA" dirty="0"/>
              <a:t>Ce cours s’articule autour des phénomènes aléatoires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0C7A1C0-F0C4-4F38-9A80-DC1E208C2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8808" y="3602038"/>
            <a:ext cx="3959192" cy="2754312"/>
          </a:xfrm>
        </p:spPr>
        <p:txBody>
          <a:bodyPr>
            <a:normAutofit/>
          </a:bodyPr>
          <a:lstStyle/>
          <a:p>
            <a:r>
              <a:rPr lang="fr-CA" dirty="0"/>
              <a:t> 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A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472FCB-BF59-40D0-88F4-D54953A3E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dirty="0"/>
              <a:t>MOUNTASSIR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4299CB7-FC4A-4796-99CC-03169CB63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ZoneTexte 37">
                <a:extLst>
                  <a:ext uri="{FF2B5EF4-FFF2-40B4-BE49-F238E27FC236}">
                    <a16:creationId xmlns:a16="http://schemas.microsoft.com/office/drawing/2014/main" id="{4CA0DEFC-67BF-4235-B9C5-05E5AF5C8FFC}"/>
                  </a:ext>
                </a:extLst>
              </p:cNvPr>
              <p:cNvSpPr txBox="1"/>
              <p:nvPr/>
            </p:nvSpPr>
            <p:spPr>
              <a:xfrm>
                <a:off x="933651" y="1867301"/>
                <a:ext cx="10616665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dirty="0"/>
                  <a:t> </a:t>
                </a:r>
                <a:r>
                  <a:rPr lang="fr-CA" b="1" dirty="0"/>
                  <a:t>On appelle expérience aléatoire toute expérience dont le résultat n’est pas connu d’avance.</a:t>
                </a:r>
              </a:p>
              <a:p>
                <a:r>
                  <a:rPr lang="fr-CA" dirty="0"/>
                  <a:t>Exemples: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fr-CA" dirty="0"/>
                  <a:t>Le lancer d’un dé équilibré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fr-CA" dirty="0"/>
                  <a:t>La durée de vie d’un ordinateur (en heures).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fr-CA" dirty="0"/>
                  <a:t>La longueur (en cm) de la truite qu’on va pêcher tout à l’heure.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fr-CA" dirty="0"/>
                  <a:t>Le nombre d’enfants dans un ménage choisi au hasard.</a:t>
                </a:r>
              </a:p>
              <a:p>
                <a:endParaRPr lang="fr-C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dirty="0"/>
                  <a:t>Mais, on connait pour chaque expérience aléatoire l’ensemble de ses résultats possibles, cet ensemble on l’appelle l’espace échantillon et on le note par S (</a:t>
                </a:r>
                <a:r>
                  <a:rPr lang="fr-CA" dirty="0" err="1"/>
                  <a:t>sample</a:t>
                </a:r>
                <a:r>
                  <a:rPr lang="fr-CA" dirty="0"/>
                  <a:t> </a:t>
                </a:r>
                <a:r>
                  <a:rPr lang="fr-CA" dirty="0" err="1"/>
                  <a:t>space</a:t>
                </a:r>
                <a:r>
                  <a:rPr lang="fr-CA" dirty="0"/>
                  <a:t>). Qu’on schématise par un rectangle</a:t>
                </a:r>
              </a:p>
              <a:p>
                <a:r>
                  <a:rPr lang="fr-CA" dirty="0"/>
                  <a:t>Exemples:</a:t>
                </a:r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1,2,3,4,5,6</m:t>
                        </m:r>
                      </m:e>
                    </m:d>
                  </m:oMath>
                </a14:m>
                <a:endParaRPr lang="fr-CA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["/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0; 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endParaRPr lang="fr-CA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["/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0;200</m:t>
                        </m:r>
                      </m:e>
                    </m:d>
                  </m:oMath>
                </a14:m>
                <a:endParaRPr lang="fr-CA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0,1,….,20</m:t>
                        </m:r>
                      </m:e>
                    </m:d>
                  </m:oMath>
                </a14:m>
                <a:endParaRPr lang="fr-C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C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CA" dirty="0"/>
              </a:p>
            </p:txBody>
          </p:sp>
        </mc:Choice>
        <mc:Fallback xmlns="">
          <p:sp>
            <p:nvSpPr>
              <p:cNvPr id="38" name="ZoneTexte 37">
                <a:extLst>
                  <a:ext uri="{FF2B5EF4-FFF2-40B4-BE49-F238E27FC236}">
                    <a16:creationId xmlns:a16="http://schemas.microsoft.com/office/drawing/2014/main" id="{4CA0DEFC-67BF-4235-B9C5-05E5AF5C8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651" y="1867301"/>
                <a:ext cx="10616665" cy="4524315"/>
              </a:xfrm>
              <a:prstGeom prst="rect">
                <a:avLst/>
              </a:prstGeom>
              <a:blipFill>
                <a:blip r:embed="rId2"/>
                <a:stretch>
                  <a:fillRect l="-459" t="-674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7794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9AC91EA5-DB1F-4754-ACDA-45E6CCBAB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0672968-07BD-4366-89D3-17711C535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2</a:t>
            </a:fld>
            <a:endParaRPr lang="fr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398874-0629-4330-AB8C-48125AC2884C}"/>
              </a:ext>
            </a:extLst>
          </p:cNvPr>
          <p:cNvSpPr/>
          <p:nvPr/>
        </p:nvSpPr>
        <p:spPr>
          <a:xfrm>
            <a:off x="992778" y="1140041"/>
            <a:ext cx="4232366" cy="209005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dirty="0"/>
              <a:t>A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5DB9EBB4-D9CF-46D4-9679-BBF79DB8DEA0}"/>
              </a:ext>
            </a:extLst>
          </p:cNvPr>
          <p:cNvSpPr/>
          <p:nvPr/>
        </p:nvSpPr>
        <p:spPr>
          <a:xfrm>
            <a:off x="1554480" y="1580606"/>
            <a:ext cx="2625634" cy="9405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A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5C9C11B-D5E6-48E5-8377-2BEC3D9E3945}"/>
              </a:ext>
            </a:extLst>
          </p:cNvPr>
          <p:cNvSpPr txBox="1"/>
          <p:nvPr/>
        </p:nvSpPr>
        <p:spPr>
          <a:xfrm>
            <a:off x="2024743" y="770709"/>
            <a:ext cx="83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EC8B7EB-C974-480B-ABD5-91B3BA221B38}"/>
              </a:ext>
            </a:extLst>
          </p:cNvPr>
          <p:cNvSpPr txBox="1"/>
          <p:nvPr/>
        </p:nvSpPr>
        <p:spPr>
          <a:xfrm>
            <a:off x="4180114" y="2521131"/>
            <a:ext cx="53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A’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3F149BF7-3B95-492E-ADCA-6230D86F013A}"/>
                  </a:ext>
                </a:extLst>
              </p:cNvPr>
              <p:cNvSpPr txBox="1"/>
              <p:nvPr/>
            </p:nvSpPr>
            <p:spPr>
              <a:xfrm>
                <a:off x="6230983" y="888274"/>
                <a:ext cx="5122817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b="1" dirty="0"/>
                  <a:t>Toute partie de S, s’appelle événement</a:t>
                </a:r>
                <a:r>
                  <a:rPr lang="fr-CA" dirty="0"/>
                  <a:t>. Les événements seront notés par A, B, C,…….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dirty="0"/>
                  <a:t>Le contraire d’un événement  A sera noté A’.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dirty="0"/>
                  <a:t>Le schéma ci contre s’appelle diagramme de </a:t>
                </a:r>
                <a:r>
                  <a:rPr lang="fr-CA" dirty="0" err="1"/>
                  <a:t>Venn</a:t>
                </a:r>
                <a:r>
                  <a:rPr lang="fr-CA" dirty="0"/>
                  <a:t> avec un seul événement.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CA" dirty="0"/>
              </a:p>
              <a:p>
                <a:r>
                  <a:rPr lang="fr-CA" b="1" dirty="0"/>
                  <a:t>Exemples</a:t>
                </a:r>
                <a:r>
                  <a:rPr lang="fr-CA" dirty="0"/>
                  <a:t>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fr-CA" dirty="0"/>
                  <a:t>A: avoir une face paire, alors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2,4,6</m:t>
                        </m:r>
                      </m:e>
                    </m:d>
                  </m:oMath>
                </a14:m>
                <a:endParaRPr lang="fr-CA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fr-CA" dirty="0"/>
                  <a:t>B:la durée de vie est de moins de 4000 heures,</a:t>
                </a:r>
              </a:p>
              <a:p>
                <a:r>
                  <a:rPr lang="fr-CA" dirty="0"/>
                  <a:t>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["/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0;4000</m:t>
                        </m:r>
                      </m:e>
                    </m:d>
                  </m:oMath>
                </a14:m>
                <a:endParaRPr lang="fr-CA" dirty="0"/>
              </a:p>
              <a:p>
                <a:pPr marL="342900" indent="-342900">
                  <a:buAutoNum type="arabicPeriod" startAt="3"/>
                </a:pPr>
                <a:r>
                  <a:rPr lang="fr-CA" dirty="0"/>
                  <a:t>C: la truite mesure entre 15 et 30 cm,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15;30</m:t>
                        </m:r>
                      </m:e>
                    </m:d>
                  </m:oMath>
                </a14:m>
                <a:endParaRPr lang="fr-CA" dirty="0"/>
              </a:p>
              <a:p>
                <a:pPr marL="342900" indent="-342900">
                  <a:buAutoNum type="arabicPeriod" startAt="3"/>
                </a:pPr>
                <a:r>
                  <a:rPr lang="fr-CA" dirty="0"/>
                  <a:t>D : le ménage a 3 enfants,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lang="fr-CA" dirty="0"/>
              </a:p>
              <a:p>
                <a:pPr marL="342900" indent="-342900">
                  <a:buFont typeface="+mj-lt"/>
                  <a:buAutoNum type="arabicPeriod"/>
                </a:pPr>
                <a:endParaRPr lang="fr-CA" dirty="0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3F149BF7-3B95-492E-ADCA-6230D86F0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0983" y="888274"/>
                <a:ext cx="5122817" cy="3970318"/>
              </a:xfrm>
              <a:prstGeom prst="rect">
                <a:avLst/>
              </a:prstGeom>
              <a:blipFill>
                <a:blip r:embed="rId2"/>
                <a:stretch>
                  <a:fillRect l="-951" t="-922" r="-476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8">
            <a:extLst>
              <a:ext uri="{FF2B5EF4-FFF2-40B4-BE49-F238E27FC236}">
                <a16:creationId xmlns:a16="http://schemas.microsoft.com/office/drawing/2014/main" id="{3F8B5A58-ECFF-4DFA-A34D-E0ECBF960835}"/>
              </a:ext>
            </a:extLst>
          </p:cNvPr>
          <p:cNvSpPr txBox="1"/>
          <p:nvPr/>
        </p:nvSpPr>
        <p:spPr>
          <a:xfrm>
            <a:off x="1319349" y="3429000"/>
            <a:ext cx="3069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Diagramme de </a:t>
            </a:r>
            <a:r>
              <a:rPr lang="fr-CA" dirty="0" err="1"/>
              <a:t>Venn</a:t>
            </a:r>
            <a:endParaRPr lang="fr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BC2BAC74-C4ED-41AF-A18C-1D3FDFD15909}"/>
                  </a:ext>
                </a:extLst>
              </p:cNvPr>
              <p:cNvSpPr txBox="1"/>
              <p:nvPr/>
            </p:nvSpPr>
            <p:spPr>
              <a:xfrm>
                <a:off x="1854926" y="4858592"/>
                <a:ext cx="898724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b="1" dirty="0"/>
                  <a:t>L’événement impossible </a:t>
                </a:r>
                <a:r>
                  <a:rPr lang="fr-CA" dirty="0"/>
                  <a:t>est un événement qui ne peut pas se produire. On le note </a:t>
                </a:r>
                <a14:m>
                  <m:oMath xmlns:m="http://schemas.openxmlformats.org/officeDocument/2006/math">
                    <m:r>
                      <a:rPr lang="fr-CA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fr-CA" dirty="0"/>
                  <a:t> .</a:t>
                </a:r>
              </a:p>
              <a:p>
                <a:endParaRPr lang="fr-CA" dirty="0"/>
              </a:p>
              <a:p>
                <a:r>
                  <a:rPr lang="fr-CA" b="1" dirty="0"/>
                  <a:t>Exemple:</a:t>
                </a:r>
                <a:r>
                  <a:rPr lang="fr-CA" dirty="0"/>
                  <a:t> Lorsqu’on   lance un dé, soit A: avoir une face égale à 10 ; cet événement est impossible, il ne se réalise jamais.</a:t>
                </a:r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BC2BAC74-C4ED-41AF-A18C-1D3FDFD159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926" y="4858592"/>
                <a:ext cx="8987245" cy="1200329"/>
              </a:xfrm>
              <a:prstGeom prst="rect">
                <a:avLst/>
              </a:prstGeom>
              <a:blipFill>
                <a:blip r:embed="rId3"/>
                <a:stretch>
                  <a:fillRect l="-542" t="-2538" b="-7107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2184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2EB6CB4B-57A6-4148-A329-2E04BD29F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AD9189C-3907-4E12-AD42-CEB9E5899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3</a:t>
            </a:fld>
            <a:endParaRPr lang="fr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98350B-5E25-46AF-BC04-ACF26650783F}"/>
              </a:ext>
            </a:extLst>
          </p:cNvPr>
          <p:cNvSpPr/>
          <p:nvPr/>
        </p:nvSpPr>
        <p:spPr>
          <a:xfrm>
            <a:off x="1397726" y="1449977"/>
            <a:ext cx="4245428" cy="25211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462E5FAD-8354-4FE7-9F80-8A37D1E28745}"/>
              </a:ext>
            </a:extLst>
          </p:cNvPr>
          <p:cNvSpPr/>
          <p:nvPr/>
        </p:nvSpPr>
        <p:spPr>
          <a:xfrm>
            <a:off x="1985554" y="2155371"/>
            <a:ext cx="953589" cy="12736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A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6479ECD-9456-4351-9A06-5213A42C76BD}"/>
              </a:ext>
            </a:extLst>
          </p:cNvPr>
          <p:cNvSpPr/>
          <p:nvPr/>
        </p:nvSpPr>
        <p:spPr>
          <a:xfrm>
            <a:off x="4362994" y="2155371"/>
            <a:ext cx="770709" cy="127362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B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9812F30-2F98-48EB-9601-3BC22C161D25}"/>
              </a:ext>
            </a:extLst>
          </p:cNvPr>
          <p:cNvSpPr txBox="1"/>
          <p:nvPr/>
        </p:nvSpPr>
        <p:spPr>
          <a:xfrm>
            <a:off x="4833257" y="2756263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dirty="0"/>
              <a:t>B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9AFA511-C28F-4211-A460-E92E81756C37}"/>
              </a:ext>
            </a:extLst>
          </p:cNvPr>
          <p:cNvSpPr txBox="1"/>
          <p:nvPr/>
        </p:nvSpPr>
        <p:spPr>
          <a:xfrm>
            <a:off x="2547257" y="1005840"/>
            <a:ext cx="1136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92FE41F9-7803-4F19-8FB2-63D91255CBED}"/>
                  </a:ext>
                </a:extLst>
              </p:cNvPr>
              <p:cNvSpPr txBox="1"/>
              <p:nvPr/>
            </p:nvSpPr>
            <p:spPr>
              <a:xfrm>
                <a:off x="5891349" y="365760"/>
                <a:ext cx="6300651" cy="4801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Lorsqu’on a deux événements A et B qui n’ont rien de commun (qui ne peuvent pas se produire en même temps) , on dit qu’on a deux événements </a:t>
                </a:r>
                <a:r>
                  <a:rPr lang="fr-CA" b="1" dirty="0"/>
                  <a:t>disjoint</a:t>
                </a:r>
                <a:r>
                  <a:rPr lang="fr-CA" dirty="0"/>
                  <a:t>s ou </a:t>
                </a:r>
                <a:r>
                  <a:rPr lang="fr-CA" b="1" dirty="0"/>
                  <a:t>mutuellement exclusifs ou incompatibles</a:t>
                </a:r>
                <a:r>
                  <a:rPr lang="fr-CA" dirty="0"/>
                  <a:t>. On note alors que leur intersection est vide: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fr-CA" dirty="0"/>
                  <a:t>.</a:t>
                </a:r>
              </a:p>
              <a:p>
                <a:endParaRPr lang="fr-CA" dirty="0"/>
              </a:p>
              <a:p>
                <a:r>
                  <a:rPr lang="fr-CA" b="1" dirty="0"/>
                  <a:t>Exemples: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fr-CA" dirty="0"/>
                  <a:t>Lorsqu’on tire une carte d’un jeu ordinaire.</a:t>
                </a:r>
              </a:p>
              <a:p>
                <a:r>
                  <a:rPr lang="fr-CA" dirty="0"/>
                  <a:t>Soient A: avoir un as   et  Q: avoir une reine, alors ces 2 événements sont disjoints, mutuellement exclusifs ou bien incompatibles.</a:t>
                </a:r>
              </a:p>
              <a:p>
                <a:pPr marL="342900" indent="-342900">
                  <a:buAutoNum type="arabicPeriod" startAt="2"/>
                </a:pPr>
                <a:r>
                  <a:rPr lang="fr-CA" dirty="0"/>
                  <a:t>Lorsqu’on choisit une personne au hasard.</a:t>
                </a:r>
              </a:p>
              <a:p>
                <a:r>
                  <a:rPr lang="fr-CA" dirty="0"/>
                  <a:t>Soient A: elle est du groupe sanguin A et O: elle est du groupe sanguin O, alors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=∅</m:t>
                    </m:r>
                  </m:oMath>
                </a14:m>
                <a:endParaRPr lang="fr-CA" dirty="0"/>
              </a:p>
              <a:p>
                <a:r>
                  <a:rPr lang="fr-CA" dirty="0"/>
                  <a:t>3. Lorsqu’on achète une voiture, soient A: elle coûte moins de 20 milles $ et B: elle coûte entre 30 et 40 milles $. Alors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=∅</m:t>
                    </m:r>
                  </m:oMath>
                </a14:m>
                <a:endParaRPr lang="fr-CA" dirty="0"/>
              </a:p>
              <a:p>
                <a:endParaRPr lang="fr-CA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92FE41F9-7803-4F19-8FB2-63D91255C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1349" y="365760"/>
                <a:ext cx="6300651" cy="4801314"/>
              </a:xfrm>
              <a:prstGeom prst="rect">
                <a:avLst/>
              </a:prstGeom>
              <a:blipFill>
                <a:blip r:embed="rId2"/>
                <a:stretch>
                  <a:fillRect l="-774" t="-635" r="-193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0627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DBF5C4B5-2A39-4E81-A184-7FB2F874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1C37C96-B8FE-4927-8D3B-6B1902BB2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4</a:t>
            </a:fld>
            <a:endParaRPr lang="fr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9B46BF-3AD2-4B95-BFCC-77870E903E9E}"/>
              </a:ext>
            </a:extLst>
          </p:cNvPr>
          <p:cNvSpPr/>
          <p:nvPr/>
        </p:nvSpPr>
        <p:spPr>
          <a:xfrm>
            <a:off x="1136469" y="1005840"/>
            <a:ext cx="4480560" cy="27562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158471D0-4F44-4328-9EAD-388B081C67DD}"/>
              </a:ext>
            </a:extLst>
          </p:cNvPr>
          <p:cNvSpPr/>
          <p:nvPr/>
        </p:nvSpPr>
        <p:spPr>
          <a:xfrm>
            <a:off x="1435281" y="1753382"/>
            <a:ext cx="2481943" cy="10058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35C284A8-3196-46FB-90EF-AED922B444F9}"/>
              </a:ext>
            </a:extLst>
          </p:cNvPr>
          <p:cNvSpPr/>
          <p:nvPr/>
        </p:nvSpPr>
        <p:spPr>
          <a:xfrm>
            <a:off x="3334296" y="1809206"/>
            <a:ext cx="2083525" cy="927463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20D584F3-ECC6-411C-B218-4012A35A8872}"/>
              </a:ext>
            </a:extLst>
          </p:cNvPr>
          <p:cNvSpPr/>
          <p:nvPr/>
        </p:nvSpPr>
        <p:spPr>
          <a:xfrm>
            <a:off x="3670663" y="1959429"/>
            <a:ext cx="143691" cy="627017"/>
          </a:xfrm>
          <a:custGeom>
            <a:avLst/>
            <a:gdLst>
              <a:gd name="connsiteX0" fmla="*/ 26126 w 143691"/>
              <a:gd name="connsiteY0" fmla="*/ 0 h 627017"/>
              <a:gd name="connsiteX1" fmla="*/ 104503 w 143691"/>
              <a:gd name="connsiteY1" fmla="*/ 104502 h 627017"/>
              <a:gd name="connsiteX2" fmla="*/ 130628 w 143691"/>
              <a:gd name="connsiteY2" fmla="*/ 209005 h 627017"/>
              <a:gd name="connsiteX3" fmla="*/ 143691 w 143691"/>
              <a:gd name="connsiteY3" fmla="*/ 248194 h 627017"/>
              <a:gd name="connsiteX4" fmla="*/ 117566 w 143691"/>
              <a:gd name="connsiteY4" fmla="*/ 431074 h 627017"/>
              <a:gd name="connsiteX5" fmla="*/ 104503 w 143691"/>
              <a:gd name="connsiteY5" fmla="*/ 470262 h 627017"/>
              <a:gd name="connsiteX6" fmla="*/ 52251 w 143691"/>
              <a:gd name="connsiteY6" fmla="*/ 548640 h 627017"/>
              <a:gd name="connsiteX7" fmla="*/ 26126 w 143691"/>
              <a:gd name="connsiteY7" fmla="*/ 587828 h 627017"/>
              <a:gd name="connsiteX8" fmla="*/ 0 w 143691"/>
              <a:gd name="connsiteY8" fmla="*/ 627017 h 627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3691" h="627017">
                <a:moveTo>
                  <a:pt x="26126" y="0"/>
                </a:moveTo>
                <a:cubicBezTo>
                  <a:pt x="38939" y="16016"/>
                  <a:pt x="90641" y="76778"/>
                  <a:pt x="104503" y="104502"/>
                </a:cubicBezTo>
                <a:cubicBezTo>
                  <a:pt x="119434" y="134363"/>
                  <a:pt x="123175" y="179192"/>
                  <a:pt x="130628" y="209005"/>
                </a:cubicBezTo>
                <a:cubicBezTo>
                  <a:pt x="133968" y="222364"/>
                  <a:pt x="139337" y="235131"/>
                  <a:pt x="143691" y="248194"/>
                </a:cubicBezTo>
                <a:cubicBezTo>
                  <a:pt x="133282" y="352278"/>
                  <a:pt x="139419" y="354588"/>
                  <a:pt x="117566" y="431074"/>
                </a:cubicBezTo>
                <a:cubicBezTo>
                  <a:pt x="113783" y="444314"/>
                  <a:pt x="111190" y="458225"/>
                  <a:pt x="104503" y="470262"/>
                </a:cubicBezTo>
                <a:cubicBezTo>
                  <a:pt x="89254" y="497710"/>
                  <a:pt x="69668" y="522514"/>
                  <a:pt x="52251" y="548640"/>
                </a:cubicBezTo>
                <a:lnTo>
                  <a:pt x="26126" y="587828"/>
                </a:lnTo>
                <a:lnTo>
                  <a:pt x="0" y="627017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4EC49903-45E6-47EA-8246-A803BCBA8B22}"/>
                  </a:ext>
                </a:extLst>
              </p:cNvPr>
              <p:cNvSpPr txBox="1"/>
              <p:nvPr/>
            </p:nvSpPr>
            <p:spPr>
              <a:xfrm>
                <a:off x="1649187" y="2116183"/>
                <a:ext cx="11201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4EC49903-45E6-47EA-8246-A803BCBA8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9187" y="2116183"/>
                <a:ext cx="112013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4EA32DE7-979D-4FCA-A088-7ED7E798DC7B}"/>
                  </a:ext>
                </a:extLst>
              </p:cNvPr>
              <p:cNvSpPr txBox="1"/>
              <p:nvPr/>
            </p:nvSpPr>
            <p:spPr>
              <a:xfrm>
                <a:off x="4199709" y="2199305"/>
                <a:ext cx="7674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B</a:t>
                </a:r>
                <a14:m>
                  <m:oMath xmlns:m="http://schemas.openxmlformats.org/officeDocument/2006/math">
                    <m:r>
                      <a:rPr lang="fr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endParaRPr lang="fr-CA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4EA32DE7-979D-4FCA-A088-7ED7E798D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9709" y="2199305"/>
                <a:ext cx="767444" cy="369332"/>
              </a:xfrm>
              <a:prstGeom prst="rect">
                <a:avLst/>
              </a:prstGeom>
              <a:blipFill>
                <a:blip r:embed="rId3"/>
                <a:stretch>
                  <a:fillRect l="-7143" t="-10000" b="-26667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ED834F4E-B060-4BA0-A068-5B73561E3700}"/>
                  </a:ext>
                </a:extLst>
              </p:cNvPr>
              <p:cNvSpPr txBox="1"/>
              <p:nvPr/>
            </p:nvSpPr>
            <p:spPr>
              <a:xfrm>
                <a:off x="3347357" y="1280160"/>
                <a:ext cx="9078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ED834F4E-B060-4BA0-A068-5B73561E3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357" y="1280160"/>
                <a:ext cx="90786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55A3AE4A-6852-4CE4-B943-0CA46AF5843C}"/>
              </a:ext>
            </a:extLst>
          </p:cNvPr>
          <p:cNvCxnSpPr/>
          <p:nvPr/>
        </p:nvCxnSpPr>
        <p:spPr>
          <a:xfrm>
            <a:off x="4038600" y="1502229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48504B7C-583A-41B3-949E-6B9CA149BA35}"/>
              </a:ext>
            </a:extLst>
          </p:cNvPr>
          <p:cNvCxnSpPr/>
          <p:nvPr/>
        </p:nvCxnSpPr>
        <p:spPr>
          <a:xfrm>
            <a:off x="3334296" y="1464826"/>
            <a:ext cx="336367" cy="734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D1A4EEA7-1615-4D66-A035-51D0678EC6A1}"/>
              </a:ext>
            </a:extLst>
          </p:cNvPr>
          <p:cNvSpPr txBox="1"/>
          <p:nvPr/>
        </p:nvSpPr>
        <p:spPr>
          <a:xfrm>
            <a:off x="2220686" y="561703"/>
            <a:ext cx="1227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C649050-FB60-4D22-80A8-E3602BB58F36}"/>
              </a:ext>
            </a:extLst>
          </p:cNvPr>
          <p:cNvSpPr txBox="1"/>
          <p:nvPr/>
        </p:nvSpPr>
        <p:spPr>
          <a:xfrm>
            <a:off x="1449977" y="1464826"/>
            <a:ext cx="411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A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65F0173-9C74-4CAB-B4C6-6180EBB31156}"/>
              </a:ext>
            </a:extLst>
          </p:cNvPr>
          <p:cNvSpPr txBox="1"/>
          <p:nvPr/>
        </p:nvSpPr>
        <p:spPr>
          <a:xfrm>
            <a:off x="4927963" y="1649492"/>
            <a:ext cx="336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DF654DA2-4ED8-400C-8D6A-6C7FB0A7C284}"/>
                  </a:ext>
                </a:extLst>
              </p:cNvPr>
              <p:cNvSpPr txBox="1"/>
              <p:nvPr/>
            </p:nvSpPr>
            <p:spPr>
              <a:xfrm>
                <a:off x="5982791" y="931035"/>
                <a:ext cx="5371009" cy="5355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Lorsqu’on a 2 événements A et B qui se croisent (qui ne sont pas disjoints), ils délimitent 4 zones disjointes: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dirty="0"/>
                  <a:t>Zone 1: Dans laquelle l’événement A </a:t>
                </a:r>
                <a:r>
                  <a:rPr lang="fr-CA" dirty="0" err="1"/>
                  <a:t>a</a:t>
                </a:r>
                <a:r>
                  <a:rPr lang="fr-CA" dirty="0"/>
                  <a:t> lieu mais pas B: A et (non B)=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endParaRPr lang="fr-C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dirty="0"/>
                  <a:t>Zone 2: Dans laquelle A et B ont lieu ensemble;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fr-C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dirty="0"/>
                  <a:t>Zone 3: Dans laquelle l’événement B s’est produit mais pas A: B et (non A)=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endParaRPr lang="fr-C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dirty="0"/>
                  <a:t>Zone 4: Dans laquelle aucun de ces 2 événement ne s’est produit: (</a:t>
                </a:r>
                <a:r>
                  <a:rPr lang="fr-CA" dirty="0" err="1"/>
                  <a:t>nonA</a:t>
                </a:r>
                <a:r>
                  <a:rPr lang="fr-CA" dirty="0"/>
                  <a:t>)et (</a:t>
                </a:r>
                <a:r>
                  <a:rPr lang="fr-CA" dirty="0" err="1"/>
                  <a:t>nonB</a:t>
                </a:r>
                <a:r>
                  <a:rPr lang="fr-CA" dirty="0"/>
                  <a:t>)=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′∩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endParaRPr lang="fr-C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dirty="0"/>
                  <a:t>Lorsqu’on veut que l’événement A ou l’événement B se produit, on utilise un ‘’OU’’ inclusif, c’est-à-dire qu’on peut avoir 3 éventualités: Soit que A se produit tout seul (la zone 1) ou que A et B se produisent ensemble (la zone 2) ou que l’événement B se produit tout seul (la zone 3) et dans ce cas on note: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𝑧𝑜𝑛𝑒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1)∪(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𝑧𝑜𝑛𝑒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2)∪(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𝑧𝑜𝑛𝑒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3)</m:t>
                      </m:r>
                    </m:oMath>
                  </m:oMathPara>
                </a14:m>
                <a:endParaRPr lang="fr-CA" dirty="0"/>
              </a:p>
              <a:p>
                <a:r>
                  <a:rPr lang="fr-CA" dirty="0"/>
                  <a:t>Et ces 3 zones sont </a:t>
                </a:r>
                <a:r>
                  <a:rPr lang="fr-CA" b="1" dirty="0"/>
                  <a:t>disjointes.</a:t>
                </a:r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DF654DA2-4ED8-400C-8D6A-6C7FB0A7C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2791" y="931035"/>
                <a:ext cx="5371009" cy="5355312"/>
              </a:xfrm>
              <a:prstGeom prst="rect">
                <a:avLst/>
              </a:prstGeom>
              <a:blipFill>
                <a:blip r:embed="rId5"/>
                <a:stretch>
                  <a:fillRect l="-907" t="-683" r="-1587" b="-911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BD02113B-0BE2-477A-A7AF-2EA81B8433D1}"/>
                  </a:ext>
                </a:extLst>
              </p:cNvPr>
              <p:cNvSpPr txBox="1"/>
              <p:nvPr/>
            </p:nvSpPr>
            <p:spPr>
              <a:xfrm>
                <a:off x="2573383" y="3278777"/>
                <a:ext cx="13585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′∩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BD02113B-0BE2-477A-A7AF-2EA81B843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3383" y="3278777"/>
                <a:ext cx="135853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9078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A3D57933-B383-4A4B-A430-46DB37F75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70586C0-6B6F-4026-AB7B-AC67477CA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5</a:t>
            </a:fld>
            <a:endParaRPr lang="fr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5D86C0-65AE-4CDD-BEC9-E36104483C3D}"/>
              </a:ext>
            </a:extLst>
          </p:cNvPr>
          <p:cNvSpPr/>
          <p:nvPr/>
        </p:nvSpPr>
        <p:spPr>
          <a:xfrm>
            <a:off x="1084217" y="1293223"/>
            <a:ext cx="5381897" cy="382741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EF7EA070-BDA6-4B63-B3AE-B29270CCF7D2}"/>
              </a:ext>
            </a:extLst>
          </p:cNvPr>
          <p:cNvSpPr/>
          <p:nvPr/>
        </p:nvSpPr>
        <p:spPr>
          <a:xfrm>
            <a:off x="1685109" y="2024743"/>
            <a:ext cx="3056708" cy="14042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E1FB03AD-AB88-45C9-A918-950100E0C902}"/>
              </a:ext>
            </a:extLst>
          </p:cNvPr>
          <p:cNvSpPr/>
          <p:nvPr/>
        </p:nvSpPr>
        <p:spPr>
          <a:xfrm>
            <a:off x="3801291" y="2351314"/>
            <a:ext cx="2090058" cy="107768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F2A69CC9-FC18-4EB4-A029-FE5795302510}"/>
              </a:ext>
            </a:extLst>
          </p:cNvPr>
          <p:cNvSpPr/>
          <p:nvPr/>
        </p:nvSpPr>
        <p:spPr>
          <a:xfrm>
            <a:off x="3801291" y="2690949"/>
            <a:ext cx="757646" cy="1796142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5D4EC4CF-5E01-4316-9103-6873E159A87E}"/>
              </a:ext>
            </a:extLst>
          </p:cNvPr>
          <p:cNvSpPr/>
          <p:nvPr/>
        </p:nvSpPr>
        <p:spPr>
          <a:xfrm>
            <a:off x="3775166" y="2416629"/>
            <a:ext cx="822960" cy="1045028"/>
          </a:xfrm>
          <a:custGeom>
            <a:avLst/>
            <a:gdLst>
              <a:gd name="connsiteX0" fmla="*/ 744583 w 822960"/>
              <a:gd name="connsiteY0" fmla="*/ 0 h 1045028"/>
              <a:gd name="connsiteX1" fmla="*/ 783771 w 822960"/>
              <a:gd name="connsiteY1" fmla="*/ 65314 h 1045028"/>
              <a:gd name="connsiteX2" fmla="*/ 809897 w 822960"/>
              <a:gd name="connsiteY2" fmla="*/ 104502 h 1045028"/>
              <a:gd name="connsiteX3" fmla="*/ 822960 w 822960"/>
              <a:gd name="connsiteY3" fmla="*/ 143691 h 1045028"/>
              <a:gd name="connsiteX4" fmla="*/ 809897 w 822960"/>
              <a:gd name="connsiteY4" fmla="*/ 391885 h 1045028"/>
              <a:gd name="connsiteX5" fmla="*/ 783771 w 822960"/>
              <a:gd name="connsiteY5" fmla="*/ 470262 h 1045028"/>
              <a:gd name="connsiteX6" fmla="*/ 757645 w 822960"/>
              <a:gd name="connsiteY6" fmla="*/ 548640 h 1045028"/>
              <a:gd name="connsiteX7" fmla="*/ 731520 w 822960"/>
              <a:gd name="connsiteY7" fmla="*/ 627017 h 1045028"/>
              <a:gd name="connsiteX8" fmla="*/ 653143 w 822960"/>
              <a:gd name="connsiteY8" fmla="*/ 692331 h 1045028"/>
              <a:gd name="connsiteX9" fmla="*/ 627017 w 822960"/>
              <a:gd name="connsiteY9" fmla="*/ 731520 h 1045028"/>
              <a:gd name="connsiteX10" fmla="*/ 548640 w 822960"/>
              <a:gd name="connsiteY10" fmla="*/ 770708 h 1045028"/>
              <a:gd name="connsiteX11" fmla="*/ 509451 w 822960"/>
              <a:gd name="connsiteY11" fmla="*/ 809897 h 1045028"/>
              <a:gd name="connsiteX12" fmla="*/ 431074 w 822960"/>
              <a:gd name="connsiteY12" fmla="*/ 836022 h 1045028"/>
              <a:gd name="connsiteX13" fmla="*/ 391885 w 822960"/>
              <a:gd name="connsiteY13" fmla="*/ 862148 h 1045028"/>
              <a:gd name="connsiteX14" fmla="*/ 313508 w 822960"/>
              <a:gd name="connsiteY14" fmla="*/ 888274 h 1045028"/>
              <a:gd name="connsiteX15" fmla="*/ 235131 w 822960"/>
              <a:gd name="connsiteY15" fmla="*/ 914400 h 1045028"/>
              <a:gd name="connsiteX16" fmla="*/ 156754 w 822960"/>
              <a:gd name="connsiteY16" fmla="*/ 940525 h 1045028"/>
              <a:gd name="connsiteX17" fmla="*/ 39188 w 822960"/>
              <a:gd name="connsiteY17" fmla="*/ 1018902 h 1045028"/>
              <a:gd name="connsiteX18" fmla="*/ 0 w 822960"/>
              <a:gd name="connsiteY18" fmla="*/ 1045028 h 104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22960" h="1045028">
                <a:moveTo>
                  <a:pt x="744583" y="0"/>
                </a:moveTo>
                <a:cubicBezTo>
                  <a:pt x="757646" y="21771"/>
                  <a:pt x="770315" y="43784"/>
                  <a:pt x="783771" y="65314"/>
                </a:cubicBezTo>
                <a:cubicBezTo>
                  <a:pt x="792092" y="78627"/>
                  <a:pt x="802876" y="90460"/>
                  <a:pt x="809897" y="104502"/>
                </a:cubicBezTo>
                <a:cubicBezTo>
                  <a:pt x="816055" y="116818"/>
                  <a:pt x="818606" y="130628"/>
                  <a:pt x="822960" y="143691"/>
                </a:cubicBezTo>
                <a:cubicBezTo>
                  <a:pt x="818606" y="226422"/>
                  <a:pt x="819768" y="309629"/>
                  <a:pt x="809897" y="391885"/>
                </a:cubicBezTo>
                <a:cubicBezTo>
                  <a:pt x="806616" y="419228"/>
                  <a:pt x="792480" y="444136"/>
                  <a:pt x="783771" y="470262"/>
                </a:cubicBezTo>
                <a:lnTo>
                  <a:pt x="757645" y="548640"/>
                </a:lnTo>
                <a:cubicBezTo>
                  <a:pt x="757644" y="548642"/>
                  <a:pt x="731521" y="627016"/>
                  <a:pt x="731520" y="627017"/>
                </a:cubicBezTo>
                <a:cubicBezTo>
                  <a:pt x="681230" y="677306"/>
                  <a:pt x="707702" y="655957"/>
                  <a:pt x="653143" y="692331"/>
                </a:cubicBezTo>
                <a:cubicBezTo>
                  <a:pt x="644434" y="705394"/>
                  <a:pt x="638119" y="720419"/>
                  <a:pt x="627017" y="731520"/>
                </a:cubicBezTo>
                <a:cubicBezTo>
                  <a:pt x="601696" y="756841"/>
                  <a:pt x="580511" y="760084"/>
                  <a:pt x="548640" y="770708"/>
                </a:cubicBezTo>
                <a:cubicBezTo>
                  <a:pt x="535577" y="783771"/>
                  <a:pt x="525600" y="800925"/>
                  <a:pt x="509451" y="809897"/>
                </a:cubicBezTo>
                <a:cubicBezTo>
                  <a:pt x="485378" y="823271"/>
                  <a:pt x="431074" y="836022"/>
                  <a:pt x="431074" y="836022"/>
                </a:cubicBezTo>
                <a:cubicBezTo>
                  <a:pt x="418011" y="844731"/>
                  <a:pt x="406232" y="855772"/>
                  <a:pt x="391885" y="862148"/>
                </a:cubicBezTo>
                <a:cubicBezTo>
                  <a:pt x="366720" y="873333"/>
                  <a:pt x="339634" y="879565"/>
                  <a:pt x="313508" y="888274"/>
                </a:cubicBezTo>
                <a:lnTo>
                  <a:pt x="235131" y="914400"/>
                </a:lnTo>
                <a:cubicBezTo>
                  <a:pt x="235127" y="914401"/>
                  <a:pt x="156757" y="940523"/>
                  <a:pt x="156754" y="940525"/>
                </a:cubicBezTo>
                <a:lnTo>
                  <a:pt x="39188" y="1018902"/>
                </a:lnTo>
                <a:lnTo>
                  <a:pt x="0" y="1045028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A20DD90C-1333-4E1C-98DE-5B73D50E2513}"/>
              </a:ext>
            </a:extLst>
          </p:cNvPr>
          <p:cNvSpPr/>
          <p:nvPr/>
        </p:nvSpPr>
        <p:spPr>
          <a:xfrm>
            <a:off x="3840480" y="3030583"/>
            <a:ext cx="744583" cy="444137"/>
          </a:xfrm>
          <a:custGeom>
            <a:avLst/>
            <a:gdLst>
              <a:gd name="connsiteX0" fmla="*/ 0 w 744583"/>
              <a:gd name="connsiteY0" fmla="*/ 0 h 444137"/>
              <a:gd name="connsiteX1" fmla="*/ 52251 w 744583"/>
              <a:gd name="connsiteY1" fmla="*/ 65314 h 444137"/>
              <a:gd name="connsiteX2" fmla="*/ 65314 w 744583"/>
              <a:gd name="connsiteY2" fmla="*/ 104503 h 444137"/>
              <a:gd name="connsiteX3" fmla="*/ 104503 w 744583"/>
              <a:gd name="connsiteY3" fmla="*/ 143691 h 444137"/>
              <a:gd name="connsiteX4" fmla="*/ 130629 w 744583"/>
              <a:gd name="connsiteY4" fmla="*/ 182880 h 444137"/>
              <a:gd name="connsiteX5" fmla="*/ 209006 w 744583"/>
              <a:gd name="connsiteY5" fmla="*/ 235131 h 444137"/>
              <a:gd name="connsiteX6" fmla="*/ 287383 w 744583"/>
              <a:gd name="connsiteY6" fmla="*/ 287383 h 444137"/>
              <a:gd name="connsiteX7" fmla="*/ 378823 w 744583"/>
              <a:gd name="connsiteY7" fmla="*/ 339634 h 444137"/>
              <a:gd name="connsiteX8" fmla="*/ 418011 w 744583"/>
              <a:gd name="connsiteY8" fmla="*/ 352697 h 444137"/>
              <a:gd name="connsiteX9" fmla="*/ 457200 w 744583"/>
              <a:gd name="connsiteY9" fmla="*/ 378823 h 444137"/>
              <a:gd name="connsiteX10" fmla="*/ 535577 w 744583"/>
              <a:gd name="connsiteY10" fmla="*/ 404948 h 444137"/>
              <a:gd name="connsiteX11" fmla="*/ 574766 w 744583"/>
              <a:gd name="connsiteY11" fmla="*/ 418011 h 444137"/>
              <a:gd name="connsiteX12" fmla="*/ 653143 w 744583"/>
              <a:gd name="connsiteY12" fmla="*/ 444137 h 444137"/>
              <a:gd name="connsiteX13" fmla="*/ 744583 w 744583"/>
              <a:gd name="connsiteY13" fmla="*/ 444137 h 444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44583" h="444137">
                <a:moveTo>
                  <a:pt x="0" y="0"/>
                </a:moveTo>
                <a:cubicBezTo>
                  <a:pt x="17417" y="21771"/>
                  <a:pt x="37474" y="41671"/>
                  <a:pt x="52251" y="65314"/>
                </a:cubicBezTo>
                <a:cubicBezTo>
                  <a:pt x="59549" y="76991"/>
                  <a:pt x="57676" y="93046"/>
                  <a:pt x="65314" y="104503"/>
                </a:cubicBezTo>
                <a:cubicBezTo>
                  <a:pt x="75561" y="119874"/>
                  <a:pt x="92676" y="129499"/>
                  <a:pt x="104503" y="143691"/>
                </a:cubicBezTo>
                <a:cubicBezTo>
                  <a:pt x="114554" y="155752"/>
                  <a:pt x="118814" y="172542"/>
                  <a:pt x="130629" y="182880"/>
                </a:cubicBezTo>
                <a:cubicBezTo>
                  <a:pt x="154259" y="203556"/>
                  <a:pt x="182880" y="217714"/>
                  <a:pt x="209006" y="235131"/>
                </a:cubicBezTo>
                <a:lnTo>
                  <a:pt x="287383" y="287383"/>
                </a:lnTo>
                <a:cubicBezTo>
                  <a:pt x="326739" y="313620"/>
                  <a:pt x="332418" y="319746"/>
                  <a:pt x="378823" y="339634"/>
                </a:cubicBezTo>
                <a:cubicBezTo>
                  <a:pt x="391479" y="345058"/>
                  <a:pt x="405695" y="346539"/>
                  <a:pt x="418011" y="352697"/>
                </a:cubicBezTo>
                <a:cubicBezTo>
                  <a:pt x="432053" y="359718"/>
                  <a:pt x="442853" y="372447"/>
                  <a:pt x="457200" y="378823"/>
                </a:cubicBezTo>
                <a:cubicBezTo>
                  <a:pt x="482365" y="390007"/>
                  <a:pt x="509451" y="396240"/>
                  <a:pt x="535577" y="404948"/>
                </a:cubicBezTo>
                <a:lnTo>
                  <a:pt x="574766" y="418011"/>
                </a:lnTo>
                <a:cubicBezTo>
                  <a:pt x="574768" y="418012"/>
                  <a:pt x="653142" y="444137"/>
                  <a:pt x="653143" y="444137"/>
                </a:cubicBezTo>
                <a:lnTo>
                  <a:pt x="744583" y="444137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A779C41-4125-4BBB-A833-3FBC44A63D94}"/>
              </a:ext>
            </a:extLst>
          </p:cNvPr>
          <p:cNvSpPr txBox="1"/>
          <p:nvPr/>
        </p:nvSpPr>
        <p:spPr>
          <a:xfrm>
            <a:off x="2455817" y="2508069"/>
            <a:ext cx="744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zone1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27F679E-94F9-4863-94EC-D6D3B1F1AD20}"/>
              </a:ext>
            </a:extLst>
          </p:cNvPr>
          <p:cNvSpPr txBox="1"/>
          <p:nvPr/>
        </p:nvSpPr>
        <p:spPr>
          <a:xfrm>
            <a:off x="5068389" y="2877401"/>
            <a:ext cx="82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Zone 2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43E5588-6E8D-468C-BE2C-14549A3CAEEA}"/>
              </a:ext>
            </a:extLst>
          </p:cNvPr>
          <p:cNvSpPr txBox="1"/>
          <p:nvPr/>
        </p:nvSpPr>
        <p:spPr>
          <a:xfrm>
            <a:off x="3775166" y="3749040"/>
            <a:ext cx="783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zone3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FA517F6-1775-40B7-B887-BA0ADB137DB3}"/>
              </a:ext>
            </a:extLst>
          </p:cNvPr>
          <p:cNvSpPr txBox="1"/>
          <p:nvPr/>
        </p:nvSpPr>
        <p:spPr>
          <a:xfrm flipH="1">
            <a:off x="4336869" y="2377441"/>
            <a:ext cx="222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4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F1278EC-88F5-4AF3-BD35-EA25F1EFDB85}"/>
              </a:ext>
            </a:extLst>
          </p:cNvPr>
          <p:cNvSpPr txBox="1"/>
          <p:nvPr/>
        </p:nvSpPr>
        <p:spPr>
          <a:xfrm>
            <a:off x="4140926" y="3030583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5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671FC07-A809-46F3-8D7D-EBD33396017B}"/>
              </a:ext>
            </a:extLst>
          </p:cNvPr>
          <p:cNvSpPr txBox="1"/>
          <p:nvPr/>
        </p:nvSpPr>
        <p:spPr>
          <a:xfrm>
            <a:off x="5068389" y="3749040"/>
            <a:ext cx="509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6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C609668-87C9-4486-A7C0-1740CAAFDC0A}"/>
              </a:ext>
            </a:extLst>
          </p:cNvPr>
          <p:cNvSpPr txBox="1"/>
          <p:nvPr/>
        </p:nvSpPr>
        <p:spPr>
          <a:xfrm>
            <a:off x="2965269" y="3749040"/>
            <a:ext cx="326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7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20D5BA9B-C93F-42D8-922F-C7BC4B03189D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4382588" y="3272860"/>
            <a:ext cx="685801" cy="660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96F9B1D3-C494-4211-AD6D-C7FB21D2609A}"/>
              </a:ext>
            </a:extLst>
          </p:cNvPr>
          <p:cNvCxnSpPr>
            <a:stCxn id="16" idx="0"/>
          </p:cNvCxnSpPr>
          <p:nvPr/>
        </p:nvCxnSpPr>
        <p:spPr>
          <a:xfrm flipV="1">
            <a:off x="3128554" y="3272860"/>
            <a:ext cx="803366" cy="476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55B1F99C-4D96-49D7-9105-1557FB00C8C1}"/>
                  </a:ext>
                </a:extLst>
              </p:cNvPr>
              <p:cNvSpPr txBox="1"/>
              <p:nvPr/>
            </p:nvSpPr>
            <p:spPr>
              <a:xfrm>
                <a:off x="2455817" y="1580606"/>
                <a:ext cx="228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Zone 8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′∩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′∩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endParaRPr lang="fr-CA" dirty="0"/>
              </a:p>
            </p:txBody>
          </p:sp>
        </mc:Choice>
        <mc:Fallback xmlns=""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55B1F99C-4D96-49D7-9105-1557FB00C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817" y="1580606"/>
                <a:ext cx="2286000" cy="369332"/>
              </a:xfrm>
              <a:prstGeom prst="rect">
                <a:avLst/>
              </a:prstGeom>
              <a:blipFill>
                <a:blip r:embed="rId2"/>
                <a:stretch>
                  <a:fillRect l="-2400" t="-8197" b="-24590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ZoneTexte 22">
            <a:extLst>
              <a:ext uri="{FF2B5EF4-FFF2-40B4-BE49-F238E27FC236}">
                <a16:creationId xmlns:a16="http://schemas.microsoft.com/office/drawing/2014/main" id="{AB4D521B-97D4-4743-98C0-4DC34C01C9BB}"/>
              </a:ext>
            </a:extLst>
          </p:cNvPr>
          <p:cNvSpPr txBox="1"/>
          <p:nvPr/>
        </p:nvSpPr>
        <p:spPr>
          <a:xfrm>
            <a:off x="1352008" y="3733019"/>
            <a:ext cx="620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A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DFCB35D-FF0B-4FCC-A711-180018C10B1D}"/>
              </a:ext>
            </a:extLst>
          </p:cNvPr>
          <p:cNvSpPr txBox="1"/>
          <p:nvPr/>
        </p:nvSpPr>
        <p:spPr>
          <a:xfrm>
            <a:off x="5891349" y="1781294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B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B3BA976D-5ED8-452A-968A-479572CB5813}"/>
              </a:ext>
            </a:extLst>
          </p:cNvPr>
          <p:cNvSpPr txBox="1"/>
          <p:nvPr/>
        </p:nvSpPr>
        <p:spPr>
          <a:xfrm>
            <a:off x="3291839" y="4755515"/>
            <a:ext cx="1090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C</a:t>
            </a:r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A7C8D772-79B1-4A9F-8597-64D401209E60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1662251" y="3272860"/>
            <a:ext cx="414743" cy="460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7F229B9B-1F05-4F31-A98D-4B55E1022C9D}"/>
              </a:ext>
            </a:extLst>
          </p:cNvPr>
          <p:cNvCxnSpPr/>
          <p:nvPr/>
        </p:nvCxnSpPr>
        <p:spPr>
          <a:xfrm flipV="1">
            <a:off x="3530237" y="4323806"/>
            <a:ext cx="271054" cy="431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624E5D50-CC84-4767-A041-70A6593FB69A}"/>
              </a:ext>
            </a:extLst>
          </p:cNvPr>
          <p:cNvCxnSpPr/>
          <p:nvPr/>
        </p:nvCxnSpPr>
        <p:spPr>
          <a:xfrm flipH="1">
            <a:off x="5479869" y="1965960"/>
            <a:ext cx="411480" cy="385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199B7B3D-4B10-4D2D-A1D4-62323FB2D1AB}"/>
                  </a:ext>
                </a:extLst>
              </p:cNvPr>
              <p:cNvSpPr txBox="1"/>
              <p:nvPr/>
            </p:nvSpPr>
            <p:spPr>
              <a:xfrm>
                <a:off x="6877594" y="992777"/>
                <a:ext cx="5048795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Lorsqu’on a 3 événements, on délimite 8 zones: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dirty="0"/>
                  <a:t>Zone1: A seul=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′∩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endParaRPr lang="fr-C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dirty="0"/>
                  <a:t>Zone 2: B seul=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′∩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endParaRPr lang="fr-C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dirty="0"/>
                  <a:t>Zone 3: C seul=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′∩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′∩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fr-C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dirty="0"/>
                  <a:t>Zone 4: A et B seuls: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endParaRPr lang="fr-C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dirty="0"/>
                  <a:t>Zone 5: A et B et C: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fr-C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dirty="0"/>
                  <a:t>Zone 6: C et B seuls: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fr-CA" b="0" dirty="0"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dirty="0"/>
                  <a:t>Zone 7: A et C seuls: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′∩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fr-C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CA" dirty="0"/>
                  <a:t>Zone 8: Aucun de ces 3 événements: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′∩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′∩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endParaRPr lang="fr-CA" dirty="0"/>
              </a:p>
            </p:txBody>
          </p:sp>
        </mc:Choice>
        <mc:Fallback xmlns="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199B7B3D-4B10-4D2D-A1D4-62323FB2D1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7594" y="992777"/>
                <a:ext cx="5048795" cy="2585323"/>
              </a:xfrm>
              <a:prstGeom prst="rect">
                <a:avLst/>
              </a:prstGeom>
              <a:blipFill>
                <a:blip r:embed="rId3"/>
                <a:stretch>
                  <a:fillRect l="-966" t="-1415" b="-2830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9669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E2DB674A-E171-4DDA-A521-4F4EB2BBC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9ED930C-1EA6-482A-A7D2-E6384CF8F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6</a:t>
            </a:fld>
            <a:endParaRPr lang="fr-CA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D7EA66F-4BE5-4D55-B89D-DFA56D9FE3D4}"/>
              </a:ext>
            </a:extLst>
          </p:cNvPr>
          <p:cNvSpPr txBox="1"/>
          <p:nvPr/>
        </p:nvSpPr>
        <p:spPr>
          <a:xfrm>
            <a:off x="849086" y="796834"/>
            <a:ext cx="10750731" cy="5421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75D564A9-3657-4417-98EE-AD4597498C08}"/>
                  </a:ext>
                </a:extLst>
              </p:cNvPr>
              <p:cNvSpPr txBox="1"/>
              <p:nvPr/>
            </p:nvSpPr>
            <p:spPr>
              <a:xfrm>
                <a:off x="248194" y="308247"/>
                <a:ext cx="10750731" cy="4520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Soit une expérience aléatoire dont l’espace </a:t>
                </a:r>
                <a:r>
                  <a:rPr lang="fr-FR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échantillonnal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est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Symbol (T1) Medium"/>
                    <a:ea typeface="Times New Roman" panose="02020603050405020304" pitchFamily="18" charset="0"/>
                  </a:rPr>
                  <a:t>=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g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}.</a:t>
                </a:r>
                <a:endParaRPr lang="fr-CA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l"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Soit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Symbol (T1) Medium"/>
                    <a:ea typeface="Times New Roman" panose="02020603050405020304" pitchFamily="18" charset="0"/>
                  </a:rPr>
                  <a:t>=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g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},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Symbol (T1) Medium"/>
                    <a:ea typeface="Times New Roman" panose="02020603050405020304" pitchFamily="18" charset="0"/>
                  </a:rPr>
                  <a:t>=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g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} et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Symbol (T1) Medium"/>
                    <a:ea typeface="Times New Roman" panose="02020603050405020304" pitchFamily="18" charset="0"/>
                  </a:rPr>
                  <a:t>=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f,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}.</a:t>
                </a:r>
                <a:endParaRPr lang="fr-CA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fr-CA" dirty="0"/>
              </a:p>
              <a:p>
                <a:r>
                  <a:rPr lang="fr-CA" dirty="0"/>
                  <a:t>On a: </a:t>
                </a:r>
              </a:p>
              <a:p>
                <a:endParaRPr lang="fr-C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A′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: le complémentaire de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Symbol (T1) Medium"/>
                    <a:ea typeface="Times New Roman" panose="02020603050405020304" pitchFamily="18" charset="0"/>
                  </a:rPr>
                  <a:t>=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{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} 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FR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𝐴</m:t>
                    </m:r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endParaRPr lang="fr-FR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𝐴</m:t>
                    </m:r>
                    <m:r>
                      <a:rPr lang="fr-CA"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fr-CA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fr-CA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CA" dirty="0"/>
                  <a:t> {</a:t>
                </a:r>
                <a:r>
                  <a:rPr lang="fr-CA" i="1" dirty="0"/>
                  <a:t>a, b, d, e, f, g</a:t>
                </a:r>
                <a:r>
                  <a:rPr lang="fr-CA" dirty="0"/>
                  <a:t>} 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𝐴</m:t>
                    </m:r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p>
                      <m:sSupPr>
                        <m:ctrlP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fr-CA" i="1"/>
                          <m:t>d</m:t>
                        </m:r>
                        <m:r>
                          <m:rPr>
                            <m:nor/>
                          </m:rPr>
                          <a:rPr lang="fr-CA" i="1"/>
                          <m:t>, </m:t>
                        </m:r>
                        <m:r>
                          <m:rPr>
                            <m:nor/>
                          </m:rPr>
                          <a:rPr lang="fr-CA" i="1"/>
                          <m:t>e</m:t>
                        </m:r>
                        <m:r>
                          <m:rPr>
                            <m:nor/>
                          </m:rPr>
                          <a:rPr lang="fr-CA" i="1"/>
                          <m:t>, </m:t>
                        </m:r>
                        <m:r>
                          <m:rPr>
                            <m:nor/>
                          </m:rPr>
                          <a:rPr lang="fr-CA" i="1"/>
                          <m:t>f</m:t>
                        </m:r>
                      </m:e>
                    </m:d>
                    <m:r>
                      <m:rPr>
                        <m:nor/>
                      </m:rPr>
                      <a:rPr lang="fr-CA"/>
                      <m:t> </m:t>
                    </m:r>
                  </m:oMath>
                </a14:m>
                <a:endParaRPr lang="fr-CA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p>
                      <m:sSup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fr-CA"/>
                      <m:t>{</m:t>
                    </m:r>
                    <m:r>
                      <m:rPr>
                        <m:nor/>
                      </m:rPr>
                      <a:rPr lang="fr-CA" i="1"/>
                      <m:t>a</m:t>
                    </m:r>
                    <m:r>
                      <m:rPr>
                        <m:nor/>
                      </m:rPr>
                      <a:rPr lang="fr-CA" i="1"/>
                      <m:t>, </m:t>
                    </m:r>
                    <m:r>
                      <m:rPr>
                        <m:nor/>
                      </m:rPr>
                      <a:rPr lang="fr-CA" i="1"/>
                      <m:t>b</m:t>
                    </m:r>
                    <m:r>
                      <m:rPr>
                        <m:nor/>
                      </m:rPr>
                      <a:rPr lang="fr-CA"/>
                      <m:t>} </m:t>
                    </m:r>
                  </m:oMath>
                </a14:m>
                <a:endParaRPr lang="fr-CA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=∅</m:t>
                    </m:r>
                  </m:oMath>
                </a14:m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</p:txBody>
          </p:sp>
        </mc:Choice>
        <mc:Fallback xmlns="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75D564A9-3657-4417-98EE-AD4597498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194" y="308247"/>
                <a:ext cx="10750731" cy="4520084"/>
              </a:xfrm>
              <a:prstGeom prst="rect">
                <a:avLst/>
              </a:prstGeom>
              <a:blipFill>
                <a:blip r:embed="rId2"/>
                <a:stretch>
                  <a:fillRect l="-510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3007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32A4FB-DF16-40ED-980F-6223E8AD1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b="1" dirty="0"/>
              <a:t>Partition</a:t>
            </a:r>
            <a:r>
              <a:rPr lang="fr-CA" dirty="0"/>
              <a:t>: On appelle partition de S, tout ensemble d’événements disjoints dont la réunion forme S.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3DAF529-2AA2-4997-A29F-223283F8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F5B4B1A-3372-4DA5-81F4-886C4C977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7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0EAAD51-6816-4303-A78C-3485E19DDA2B}"/>
                  </a:ext>
                </a:extLst>
              </p:cNvPr>
              <p:cNvSpPr/>
              <p:nvPr/>
            </p:nvSpPr>
            <p:spPr>
              <a:xfrm>
                <a:off x="838200" y="2364377"/>
                <a:ext cx="4648200" cy="192024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0EAAD51-6816-4303-A78C-3485E19DDA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64377"/>
                <a:ext cx="4648200" cy="19202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5">
            <a:extLst>
              <a:ext uri="{FF2B5EF4-FFF2-40B4-BE49-F238E27FC236}">
                <a16:creationId xmlns:a16="http://schemas.microsoft.com/office/drawing/2014/main" id="{AC850C84-F4DA-467E-91AA-E090B318F393}"/>
              </a:ext>
            </a:extLst>
          </p:cNvPr>
          <p:cNvSpPr txBox="1"/>
          <p:nvPr/>
        </p:nvSpPr>
        <p:spPr>
          <a:xfrm>
            <a:off x="2155371" y="1879265"/>
            <a:ext cx="1240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S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24BD3ACF-C5E5-4215-8882-5A350AD70671}"/>
              </a:ext>
            </a:extLst>
          </p:cNvPr>
          <p:cNvCxnSpPr/>
          <p:nvPr/>
        </p:nvCxnSpPr>
        <p:spPr>
          <a:xfrm>
            <a:off x="1593668" y="2433263"/>
            <a:ext cx="0" cy="18513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0905D46C-E127-471D-B126-EE5706DD1937}"/>
              </a:ext>
            </a:extLst>
          </p:cNvPr>
          <p:cNvCxnSpPr/>
          <p:nvPr/>
        </p:nvCxnSpPr>
        <p:spPr>
          <a:xfrm>
            <a:off x="2122714" y="2398820"/>
            <a:ext cx="104503" cy="18513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E146FA0A-4B0F-4E38-84E5-BCE9BB940CA8}"/>
              </a:ext>
            </a:extLst>
          </p:cNvPr>
          <p:cNvCxnSpPr/>
          <p:nvPr/>
        </p:nvCxnSpPr>
        <p:spPr>
          <a:xfrm>
            <a:off x="2207623" y="2433263"/>
            <a:ext cx="3026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2E067B20-42AA-4005-AAEC-01CAED73C1F4}"/>
              </a:ext>
            </a:extLst>
          </p:cNvPr>
          <p:cNvCxnSpPr/>
          <p:nvPr/>
        </p:nvCxnSpPr>
        <p:spPr>
          <a:xfrm>
            <a:off x="2926080" y="2433263"/>
            <a:ext cx="0" cy="17468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C4265715-AB1F-45A4-A4B5-C3E506080764}"/>
              </a:ext>
            </a:extLst>
          </p:cNvPr>
          <p:cNvCxnSpPr/>
          <p:nvPr/>
        </p:nvCxnSpPr>
        <p:spPr>
          <a:xfrm>
            <a:off x="4167051" y="2433263"/>
            <a:ext cx="0" cy="18513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E45E02AD-DB4F-4979-B23A-7C63F23A77C4}"/>
                  </a:ext>
                </a:extLst>
              </p:cNvPr>
              <p:cNvSpPr txBox="1"/>
              <p:nvPr/>
            </p:nvSpPr>
            <p:spPr>
              <a:xfrm>
                <a:off x="5636623" y="2971800"/>
                <a:ext cx="5226495" cy="788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A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𝑡𝑒𝑙𝑠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𝑞𝑢𝑒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=∅ 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𝑒𝑡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  <m:nary>
                        <m:naryPr>
                          <m:chr m:val="⋃"/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CA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nary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E45E02AD-DB4F-4979-B23A-7C63F23A7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623" y="2971800"/>
                <a:ext cx="5226495" cy="788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ZoneTexte 17">
            <a:extLst>
              <a:ext uri="{FF2B5EF4-FFF2-40B4-BE49-F238E27FC236}">
                <a16:creationId xmlns:a16="http://schemas.microsoft.com/office/drawing/2014/main" id="{AE2A6D94-7D9D-4C12-B7B8-AB9167C48F90}"/>
              </a:ext>
            </a:extLst>
          </p:cNvPr>
          <p:cNvSpPr txBox="1"/>
          <p:nvPr/>
        </p:nvSpPr>
        <p:spPr>
          <a:xfrm>
            <a:off x="6096000" y="4250174"/>
            <a:ext cx="48376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/>
              <a:t>Exemple:</a:t>
            </a:r>
            <a:r>
              <a:rPr lang="fr-CA" dirty="0"/>
              <a:t> On peut partitionner une population, en utilisant des classes: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D’âge.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/>
              <a:t>De revenu….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6A57899-BCCB-4DF2-8755-AE63A6B3455B}"/>
              </a:ext>
            </a:extLst>
          </p:cNvPr>
          <p:cNvSpPr txBox="1"/>
          <p:nvPr/>
        </p:nvSpPr>
        <p:spPr>
          <a:xfrm flipH="1">
            <a:off x="1038496" y="3331029"/>
            <a:ext cx="47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A1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06A103D8-8663-449C-8B07-DD463B909F31}"/>
              </a:ext>
            </a:extLst>
          </p:cNvPr>
          <p:cNvSpPr txBox="1"/>
          <p:nvPr/>
        </p:nvSpPr>
        <p:spPr>
          <a:xfrm>
            <a:off x="4624251" y="3429000"/>
            <a:ext cx="431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 err="1"/>
              <a:t>Ak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70374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D685A4-1B5E-4AC1-89D1-1C0FF69AD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Formules de Morgan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72CDF46-FCDD-491F-9D25-A7A8D444D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7CDD8E64-A11C-4740-8DAA-80B50122D89B}"/>
                  </a:ext>
                </a:extLst>
              </p:cNvPr>
              <p:cNvSpPr txBox="1"/>
              <p:nvPr/>
            </p:nvSpPr>
            <p:spPr>
              <a:xfrm>
                <a:off x="1110343" y="2011680"/>
                <a:ext cx="9457508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Lorsqu’on a deux événements A et B d’une expérience aléatoire:</a:t>
                </a:r>
              </a:p>
              <a:p>
                <a:endParaRPr lang="fr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  <m:sup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sSup>
                        <m:sSup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𝑒𝑡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sSup>
                        <m:sSup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∪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  <m:sup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′∩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fr-CA" dirty="0"/>
              </a:p>
              <a:p>
                <a:endParaRPr lang="fr-CA" dirty="0"/>
              </a:p>
              <a:p>
                <a:r>
                  <a:rPr lang="fr-CA" dirty="0"/>
                  <a:t>Car le contraire de : ’ ’A et B se réalisent  ensemble’’    est  ‘’au moins un d’eux ne se réalise ’’</a:t>
                </a:r>
              </a:p>
              <a:p>
                <a:r>
                  <a:rPr lang="fr-CA" dirty="0"/>
                  <a:t>Le contraire de : ‘’Au moins un d’eux se réalisent’’   est ‘’ ’aucun d’eux ne se réalise ’’</a:t>
                </a:r>
              </a:p>
              <a:p>
                <a:endParaRPr lang="fr-CA" dirty="0"/>
              </a:p>
              <a:p>
                <a:r>
                  <a:rPr lang="fr-CA" b="1" dirty="0"/>
                  <a:t>Exemple: </a:t>
                </a:r>
                <a:r>
                  <a:rPr lang="fr-CA" dirty="0"/>
                  <a:t>Déterminer le contraire de: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′∪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′∩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fr-CA" dirty="0"/>
              </a:p>
              <a:p>
                <a:endParaRPr lang="fr-CA" dirty="0"/>
              </a:p>
              <a:p>
                <a:r>
                  <a:rPr lang="fr-CA" b="1" dirty="0"/>
                  <a:t>Réponse</a:t>
                </a:r>
                <a:r>
                  <a:rPr lang="fr-CA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fr-CA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CA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fr-CA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fr-CA" i="1">
                                <a:latin typeface="Cambria Math" panose="02040503050406030204" pitchFamily="18" charset="0"/>
                              </a:rPr>
                              <m:t>∪</m:t>
                            </m:r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∩</m:t>
                            </m:r>
                            <m:sSup>
                              <m:sSupPr>
                                <m:ctrlPr>
                                  <a:rPr lang="fr-CA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CA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p>
                                <m:r>
                                  <a:rPr lang="fr-CA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∪</m:t>
                            </m:r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′∪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′∩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endParaRPr lang="fr-CA" dirty="0"/>
              </a:p>
              <a:p>
                <a:endParaRPr lang="fr-CA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7CDD8E64-A11C-4740-8DAA-80B50122D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343" y="2011680"/>
                <a:ext cx="9457508" cy="3416320"/>
              </a:xfrm>
              <a:prstGeom prst="rect">
                <a:avLst/>
              </a:prstGeom>
              <a:blipFill>
                <a:blip r:embed="rId2"/>
                <a:stretch>
                  <a:fillRect l="-515" t="-893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1306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DD38EE57-B708-47C9-A4A4-E25F09FAB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7A28182-58A5-4DBB-8F64-BD944BCA8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42" name="Freeform 44">
              <a:extLst>
                <a:ext uri="{FF2B5EF4-FFF2-40B4-BE49-F238E27FC236}">
                  <a16:creationId xmlns:a16="http://schemas.microsoft.com/office/drawing/2014/main" id="{E4A9080E-7BA6-45FC-8677-8B9D5F4DA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45">
              <a:extLst>
                <a:ext uri="{FF2B5EF4-FFF2-40B4-BE49-F238E27FC236}">
                  <a16:creationId xmlns:a16="http://schemas.microsoft.com/office/drawing/2014/main" id="{2163D516-75D4-4DE0-AC27-63719125A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46">
              <a:extLst>
                <a:ext uri="{FF2B5EF4-FFF2-40B4-BE49-F238E27FC236}">
                  <a16:creationId xmlns:a16="http://schemas.microsoft.com/office/drawing/2014/main" id="{E74A26A5-C23A-46D4-B0FF-155FB3834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47">
              <a:extLst>
                <a:ext uri="{FF2B5EF4-FFF2-40B4-BE49-F238E27FC236}">
                  <a16:creationId xmlns:a16="http://schemas.microsoft.com/office/drawing/2014/main" id="{08E0243F-1062-43C6-AD04-130DFF668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4C5517B-1B0F-47AA-93A5-3671899698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4BA1AEBB-7D5E-4AF2-80F0-8040785F8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LES DIFFÉRENTES DÉFINITIONS D’UNE PROBABILITÉ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1AD59FA-1E54-4835-A84B-3F2B07B540BD}"/>
              </a:ext>
            </a:extLst>
          </p:cNvPr>
          <p:cNvSpPr txBox="1"/>
          <p:nvPr/>
        </p:nvSpPr>
        <p:spPr>
          <a:xfrm>
            <a:off x="1424904" y="2494450"/>
            <a:ext cx="4053545" cy="3563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b="1" dirty="0"/>
              <a:t>Probabilité </a:t>
            </a:r>
            <a:r>
              <a:rPr lang="en-US" sz="1100" b="1" dirty="0" err="1"/>
              <a:t>personnelle</a:t>
            </a:r>
            <a:r>
              <a:rPr lang="en-US" sz="1100" b="1" dirty="0"/>
              <a:t> </a:t>
            </a:r>
            <a:r>
              <a:rPr lang="en-US" sz="1100" b="1" dirty="0" err="1"/>
              <a:t>ou</a:t>
            </a:r>
            <a:r>
              <a:rPr lang="en-US" sz="1100" b="1" dirty="0"/>
              <a:t> subjective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 err="1"/>
              <a:t>C’est</a:t>
            </a:r>
            <a:r>
              <a:rPr lang="en-US" sz="1100" dirty="0"/>
              <a:t> la </a:t>
            </a:r>
            <a:r>
              <a:rPr lang="en-US" sz="1100" dirty="0" err="1"/>
              <a:t>façon</a:t>
            </a:r>
            <a:r>
              <a:rPr lang="en-US" sz="1100" dirty="0"/>
              <a:t> de </a:t>
            </a:r>
            <a:r>
              <a:rPr lang="en-US" sz="1100" dirty="0" err="1"/>
              <a:t>parler</a:t>
            </a:r>
            <a:r>
              <a:rPr lang="en-US" sz="1100" dirty="0"/>
              <a:t> des </a:t>
            </a:r>
            <a:r>
              <a:rPr lang="en-US" sz="1100" dirty="0" err="1"/>
              <a:t>probabilités</a:t>
            </a:r>
            <a:r>
              <a:rPr lang="en-US" sz="1100" dirty="0"/>
              <a:t> sans assise </a:t>
            </a:r>
            <a:r>
              <a:rPr lang="en-US" sz="1100" dirty="0" err="1"/>
              <a:t>scientifique</a:t>
            </a:r>
            <a:r>
              <a:rPr lang="en-US" sz="1100" dirty="0"/>
              <a:t>. Par </a:t>
            </a:r>
            <a:r>
              <a:rPr lang="en-US" sz="1100" dirty="0" err="1"/>
              <a:t>exemples</a:t>
            </a:r>
            <a:r>
              <a:rPr lang="en-US" sz="1100" dirty="0"/>
              <a:t>: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 err="1"/>
              <a:t>En</a:t>
            </a:r>
            <a:r>
              <a:rPr lang="en-US" sz="1100" dirty="0"/>
              <a:t> </a:t>
            </a:r>
            <a:r>
              <a:rPr lang="en-US" sz="1100" dirty="0" err="1"/>
              <a:t>météo</a:t>
            </a:r>
            <a:r>
              <a:rPr lang="en-US" sz="1100" dirty="0"/>
              <a:t>: On </a:t>
            </a:r>
            <a:r>
              <a:rPr lang="en-US" sz="1100" dirty="0" err="1"/>
              <a:t>entend</a:t>
            </a:r>
            <a:r>
              <a:rPr lang="en-US" sz="1100" dirty="0"/>
              <a:t> </a:t>
            </a:r>
            <a:r>
              <a:rPr lang="en-US" sz="1100" dirty="0" err="1"/>
              <a:t>souvent</a:t>
            </a:r>
            <a:r>
              <a:rPr lang="en-US" sz="1100" dirty="0"/>
              <a:t> dire, </a:t>
            </a:r>
            <a:r>
              <a:rPr lang="en-US" sz="1100" dirty="0" err="1"/>
              <a:t>il</a:t>
            </a:r>
            <a:r>
              <a:rPr lang="en-US" sz="1100" dirty="0"/>
              <a:t> y a </a:t>
            </a:r>
            <a:r>
              <a:rPr lang="en-US" sz="1100" dirty="0" err="1"/>
              <a:t>une</a:t>
            </a:r>
            <a:r>
              <a:rPr lang="en-US" sz="1100" dirty="0"/>
              <a:t> probabilité de 40% </a:t>
            </a:r>
            <a:r>
              <a:rPr lang="en-US" sz="1100" dirty="0" err="1"/>
              <a:t>aujourd’hui</a:t>
            </a:r>
            <a:r>
              <a:rPr lang="en-US" sz="1100" dirty="0"/>
              <a:t> de </a:t>
            </a:r>
            <a:r>
              <a:rPr lang="en-US" sz="1100" dirty="0" err="1"/>
              <a:t>pluie</a:t>
            </a:r>
            <a:r>
              <a:rPr lang="en-US" sz="1100" dirty="0"/>
              <a:t>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 err="1"/>
              <a:t>En</a:t>
            </a:r>
            <a:r>
              <a:rPr lang="en-US" sz="1100" dirty="0"/>
              <a:t> </a:t>
            </a:r>
            <a:r>
              <a:rPr lang="en-US" sz="1100" dirty="0" err="1"/>
              <a:t>médicine</a:t>
            </a:r>
            <a:r>
              <a:rPr lang="en-US" sz="1100" dirty="0"/>
              <a:t>: </a:t>
            </a:r>
            <a:r>
              <a:rPr lang="en-US" sz="1100" dirty="0" err="1"/>
              <a:t>Votre</a:t>
            </a:r>
            <a:r>
              <a:rPr lang="en-US" sz="1100" dirty="0"/>
              <a:t> </a:t>
            </a:r>
            <a:r>
              <a:rPr lang="en-US" sz="1100" dirty="0" err="1"/>
              <a:t>médecin</a:t>
            </a:r>
            <a:r>
              <a:rPr lang="en-US" sz="1100" dirty="0"/>
              <a:t>, </a:t>
            </a:r>
            <a:r>
              <a:rPr lang="en-US" sz="1100" dirty="0" err="1"/>
              <a:t>vous</a:t>
            </a:r>
            <a:r>
              <a:rPr lang="en-US" sz="1100" dirty="0"/>
              <a:t> </a:t>
            </a:r>
            <a:r>
              <a:rPr lang="en-US" sz="1100" dirty="0" err="1"/>
              <a:t>annonce</a:t>
            </a:r>
            <a:r>
              <a:rPr lang="en-US" sz="1100" dirty="0"/>
              <a:t> que </a:t>
            </a:r>
            <a:r>
              <a:rPr lang="en-US" sz="1100" dirty="0" err="1"/>
              <a:t>l’opération</a:t>
            </a:r>
            <a:r>
              <a:rPr lang="en-US" sz="1100" dirty="0"/>
              <a:t> a 80% de chance de </a:t>
            </a:r>
            <a:r>
              <a:rPr lang="en-US" sz="1100" dirty="0" err="1"/>
              <a:t>réussite</a:t>
            </a:r>
            <a:r>
              <a:rPr lang="en-US" sz="1100" dirty="0"/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b="1" dirty="0"/>
              <a:t>2. Probabilité </a:t>
            </a:r>
            <a:r>
              <a:rPr lang="en-US" sz="1100" b="1" dirty="0" err="1"/>
              <a:t>fréquentielle</a:t>
            </a:r>
            <a:endParaRPr lang="en-US" sz="1100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Elle se base sur</a:t>
            </a:r>
            <a:r>
              <a:rPr lang="en-US" sz="1100" dirty="0">
                <a:effectLst/>
              </a:rPr>
              <a:t> le fait que </a:t>
            </a:r>
            <a:r>
              <a:rPr lang="en-US" sz="1100" dirty="0" err="1">
                <a:effectLst/>
              </a:rPr>
              <a:t>l’on</a:t>
            </a:r>
            <a:r>
              <a:rPr lang="en-US" sz="1100" dirty="0">
                <a:effectLst/>
              </a:rPr>
              <a:t> </a:t>
            </a:r>
            <a:r>
              <a:rPr lang="en-US" sz="1100" dirty="0" err="1">
                <a:effectLst/>
              </a:rPr>
              <a:t>peut</a:t>
            </a:r>
            <a:r>
              <a:rPr lang="en-US" sz="1100" dirty="0">
                <a:effectLst/>
              </a:rPr>
              <a:t> </a:t>
            </a:r>
            <a:r>
              <a:rPr lang="en-US" sz="1100" dirty="0" err="1">
                <a:effectLst/>
              </a:rPr>
              <a:t>répéter</a:t>
            </a:r>
            <a:r>
              <a:rPr lang="en-US" sz="1100" dirty="0">
                <a:effectLst/>
              </a:rPr>
              <a:t> </a:t>
            </a:r>
            <a:r>
              <a:rPr lang="en-US" sz="1100" dirty="0" err="1">
                <a:effectLst/>
              </a:rPr>
              <a:t>une</a:t>
            </a:r>
            <a:r>
              <a:rPr lang="en-US" sz="1100" dirty="0">
                <a:effectLst/>
              </a:rPr>
              <a:t> </a:t>
            </a:r>
            <a:r>
              <a:rPr lang="en-US" sz="1100" dirty="0" err="1">
                <a:effectLst/>
              </a:rPr>
              <a:t>expérience</a:t>
            </a:r>
            <a:r>
              <a:rPr lang="en-US" sz="1100" dirty="0">
                <a:effectLst/>
              </a:rPr>
              <a:t> </a:t>
            </a:r>
            <a:r>
              <a:rPr lang="en-US" sz="1100" dirty="0" err="1">
                <a:effectLst/>
              </a:rPr>
              <a:t>aléatoire</a:t>
            </a:r>
            <a:r>
              <a:rPr lang="en-US" sz="1100" dirty="0">
                <a:effectLst/>
              </a:rPr>
              <a:t> dans les </a:t>
            </a:r>
            <a:r>
              <a:rPr lang="en-US" sz="1100" dirty="0" err="1">
                <a:effectLst/>
              </a:rPr>
              <a:t>mêmes</a:t>
            </a:r>
            <a:r>
              <a:rPr lang="en-US" sz="1100" dirty="0">
                <a:effectLst/>
              </a:rPr>
              <a:t> conditions un grand </a:t>
            </a:r>
            <a:r>
              <a:rPr lang="en-US" sz="1100" dirty="0" err="1">
                <a:effectLst/>
              </a:rPr>
              <a:t>nombre</a:t>
            </a:r>
            <a:r>
              <a:rPr lang="en-US" sz="1100" dirty="0">
                <a:effectLst/>
              </a:rPr>
              <a:t> de </a:t>
            </a:r>
            <a:r>
              <a:rPr lang="en-US" sz="1100" dirty="0" err="1">
                <a:effectLst/>
              </a:rPr>
              <a:t>fois</a:t>
            </a:r>
            <a:r>
              <a:rPr lang="en-US" sz="1100" dirty="0">
                <a:effectLst/>
              </a:rPr>
              <a:t> et observer la </a:t>
            </a:r>
            <a:r>
              <a:rPr lang="en-US" sz="1100" dirty="0" err="1">
                <a:effectLst/>
              </a:rPr>
              <a:t>fréquence</a:t>
            </a:r>
            <a:r>
              <a:rPr lang="en-US" sz="1100" dirty="0">
                <a:effectLst/>
              </a:rPr>
              <a:t> relative à </a:t>
            </a:r>
            <a:r>
              <a:rPr lang="en-US" sz="1100" dirty="0" err="1">
                <a:effectLst/>
              </a:rPr>
              <a:t>laquelle</a:t>
            </a:r>
            <a:r>
              <a:rPr lang="en-US" sz="1100" dirty="0">
                <a:effectLst/>
              </a:rPr>
              <a:t> un événement </a:t>
            </a:r>
            <a:r>
              <a:rPr lang="en-US" sz="1100" dirty="0" err="1">
                <a:effectLst/>
              </a:rPr>
              <a:t>s’est</a:t>
            </a:r>
            <a:r>
              <a:rPr lang="en-US" sz="1100" dirty="0">
                <a:effectLst/>
              </a:rPr>
              <a:t> </a:t>
            </a:r>
            <a:r>
              <a:rPr lang="en-US" sz="1100" dirty="0" err="1">
                <a:effectLst/>
              </a:rPr>
              <a:t>réalisé</a:t>
            </a:r>
            <a:r>
              <a:rPr lang="en-US" sz="1100" dirty="0">
                <a:effectLst/>
              </a:rPr>
              <a:t> tout le long de </a:t>
            </a:r>
            <a:r>
              <a:rPr lang="en-US" sz="1100" dirty="0" err="1">
                <a:effectLst/>
              </a:rPr>
              <a:t>ces</a:t>
            </a:r>
            <a:r>
              <a:rPr lang="en-US" sz="1100" dirty="0">
                <a:effectLst/>
              </a:rPr>
              <a:t> </a:t>
            </a:r>
            <a:r>
              <a:rPr lang="en-US" sz="1100" dirty="0" err="1">
                <a:effectLst/>
              </a:rPr>
              <a:t>répétitions</a:t>
            </a:r>
            <a:r>
              <a:rPr lang="en-US" sz="1100" dirty="0">
                <a:effectLst/>
              </a:rPr>
              <a:t>. On </a:t>
            </a:r>
            <a:r>
              <a:rPr lang="en-US" sz="1100" dirty="0" err="1">
                <a:effectLst/>
              </a:rPr>
              <a:t>assimilera</a:t>
            </a:r>
            <a:r>
              <a:rPr lang="en-US" sz="1100" dirty="0">
                <a:effectLst/>
              </a:rPr>
              <a:t> </a:t>
            </a:r>
            <a:r>
              <a:rPr lang="en-US" sz="1100" dirty="0" err="1">
                <a:effectLst/>
              </a:rPr>
              <a:t>alors</a:t>
            </a:r>
            <a:r>
              <a:rPr lang="en-US" sz="1100" dirty="0">
                <a:effectLst/>
              </a:rPr>
              <a:t> la probabilité de </a:t>
            </a:r>
            <a:r>
              <a:rPr lang="en-US" sz="1100" dirty="0" err="1">
                <a:effectLst/>
              </a:rPr>
              <a:t>cet</a:t>
            </a:r>
            <a:r>
              <a:rPr lang="en-US" sz="1100" dirty="0">
                <a:effectLst/>
              </a:rPr>
              <a:t> événement à </a:t>
            </a:r>
            <a:r>
              <a:rPr lang="en-US" sz="1100" dirty="0" err="1">
                <a:effectLst/>
              </a:rPr>
              <a:t>sa</a:t>
            </a:r>
            <a:r>
              <a:rPr lang="en-US" sz="1100" dirty="0">
                <a:effectLst/>
              </a:rPr>
              <a:t> </a:t>
            </a:r>
            <a:r>
              <a:rPr lang="en-US" sz="1100" dirty="0" err="1">
                <a:effectLst/>
              </a:rPr>
              <a:t>fréquence</a:t>
            </a:r>
            <a:r>
              <a:rPr lang="en-US" sz="1100" dirty="0">
                <a:effectLst/>
              </a:rPr>
              <a:t> relative à long </a:t>
            </a:r>
            <a:r>
              <a:rPr lang="en-US" sz="1100" dirty="0" err="1">
                <a:effectLst/>
              </a:rPr>
              <a:t>terme</a:t>
            </a:r>
            <a:r>
              <a:rPr lang="en-US" sz="1100" dirty="0">
                <a:effectLst/>
              </a:rPr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b="1" dirty="0" err="1"/>
              <a:t>Exemple</a:t>
            </a:r>
            <a:r>
              <a:rPr lang="en-US" sz="1100" b="1" dirty="0"/>
              <a:t>: 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b="1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FE83058-BF37-4C14-B97B-97DFA2A08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5528" y="6382512"/>
            <a:ext cx="6757416" cy="320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/>
            <a:endParaRPr lang="en-US" sz="1000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B7E4511-6E8F-4EA3-93B5-7929D191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7624" y="6382512"/>
            <a:ext cx="685800" cy="320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26377AD9-CE17-438C-A638-C64D2D42D7CF}" type="slidenum">
              <a:rPr lang="en-US" sz="1000"/>
              <a:pPr defTabSz="914400">
                <a:spcAft>
                  <a:spcPts val="600"/>
                </a:spcAft>
              </a:pPr>
              <a:t>9</a:t>
            </a:fld>
            <a:endParaRPr lang="en-US" sz="100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ED603D5-429C-4D28-BDBE-15BA34B89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672" y="280712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CA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653921B5-8E90-43ED-97D8-7B5DDABF1F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186126"/>
              </p:ext>
            </p:extLst>
          </p:nvPr>
        </p:nvGraphicFramePr>
        <p:xfrm>
          <a:off x="6098892" y="3387415"/>
          <a:ext cx="4802406" cy="1773295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762714">
                  <a:extLst>
                    <a:ext uri="{9D8B030D-6E8A-4147-A177-3AD203B41FA5}">
                      <a16:colId xmlns:a16="http://schemas.microsoft.com/office/drawing/2014/main" val="1850682667"/>
                    </a:ext>
                  </a:extLst>
                </a:gridCol>
                <a:gridCol w="673282">
                  <a:extLst>
                    <a:ext uri="{9D8B030D-6E8A-4147-A177-3AD203B41FA5}">
                      <a16:colId xmlns:a16="http://schemas.microsoft.com/office/drawing/2014/main" val="2199267537"/>
                    </a:ext>
                  </a:extLst>
                </a:gridCol>
                <a:gridCol w="673282">
                  <a:extLst>
                    <a:ext uri="{9D8B030D-6E8A-4147-A177-3AD203B41FA5}">
                      <a16:colId xmlns:a16="http://schemas.microsoft.com/office/drawing/2014/main" val="503808339"/>
                    </a:ext>
                  </a:extLst>
                </a:gridCol>
                <a:gridCol w="673282">
                  <a:extLst>
                    <a:ext uri="{9D8B030D-6E8A-4147-A177-3AD203B41FA5}">
                      <a16:colId xmlns:a16="http://schemas.microsoft.com/office/drawing/2014/main" val="1633064259"/>
                    </a:ext>
                  </a:extLst>
                </a:gridCol>
                <a:gridCol w="673282">
                  <a:extLst>
                    <a:ext uri="{9D8B030D-6E8A-4147-A177-3AD203B41FA5}">
                      <a16:colId xmlns:a16="http://schemas.microsoft.com/office/drawing/2014/main" val="234449117"/>
                    </a:ext>
                  </a:extLst>
                </a:gridCol>
                <a:gridCol w="673282">
                  <a:extLst>
                    <a:ext uri="{9D8B030D-6E8A-4147-A177-3AD203B41FA5}">
                      <a16:colId xmlns:a16="http://schemas.microsoft.com/office/drawing/2014/main" val="4191673724"/>
                    </a:ext>
                  </a:extLst>
                </a:gridCol>
                <a:gridCol w="673282">
                  <a:extLst>
                    <a:ext uri="{9D8B030D-6E8A-4147-A177-3AD203B41FA5}">
                      <a16:colId xmlns:a16="http://schemas.microsoft.com/office/drawing/2014/main" val="2597360238"/>
                    </a:ext>
                  </a:extLst>
                </a:gridCol>
              </a:tblGrid>
              <a:tr h="382404">
                <a:tc gridSpan="7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fr-FR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Distribution des lancers d’un dé selon les faces obtenues</a:t>
                      </a:r>
                      <a:endParaRPr lang="fr-CA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426" marR="55456" marT="55456" marB="55456" anchor="ctr"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42880"/>
                  </a:ext>
                </a:extLst>
              </a:tr>
              <a:tr h="49406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Nombre de répétitions</a:t>
                      </a:r>
                      <a:endParaRPr lang="fr-CA" sz="9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426" marR="48061" marT="48061" marB="480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Face 1</a:t>
                      </a:r>
                      <a:endParaRPr lang="fr-CA" sz="9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426" marR="48061" marT="48061" marB="480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Face 2</a:t>
                      </a:r>
                      <a:endParaRPr lang="fr-CA" sz="9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426" marR="48061" marT="48061" marB="480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Face 3</a:t>
                      </a:r>
                      <a:endParaRPr lang="fr-CA" sz="9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426" marR="48061" marT="48061" marB="480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Face 4</a:t>
                      </a:r>
                      <a:endParaRPr lang="fr-CA" sz="9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426" marR="48061" marT="48061" marB="480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Face 5</a:t>
                      </a:r>
                      <a:endParaRPr lang="fr-CA" sz="9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426" marR="48061" marT="48061" marB="480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fr-FR"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Face 6</a:t>
                      </a:r>
                      <a:endParaRPr lang="fr-CA" sz="9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426" marR="48061" marT="48061" marB="48061" anchor="ctr"/>
                </a:tc>
                <a:extLst>
                  <a:ext uri="{0D108BD9-81ED-4DB2-BD59-A6C34878D82A}">
                    <a16:rowId xmlns:a16="http://schemas.microsoft.com/office/drawing/2014/main" val="1714142604"/>
                  </a:ext>
                </a:extLst>
              </a:tr>
              <a:tr h="2989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n = 50</a:t>
                      </a:r>
                      <a:endParaRPr lang="fr-CA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426" marR="48061" marT="48061" marB="480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7/50</a:t>
                      </a:r>
                      <a:endParaRPr lang="fr-CA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426" marR="48061" marT="48061" marB="480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8/50</a:t>
                      </a:r>
                      <a:endParaRPr lang="fr-CA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426" marR="48061" marT="48061" marB="480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6/50</a:t>
                      </a:r>
                      <a:endParaRPr lang="fr-CA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426" marR="48061" marT="48061" marB="480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9/50</a:t>
                      </a:r>
                      <a:endParaRPr lang="fr-CA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426" marR="48061" marT="48061" marB="480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10/50</a:t>
                      </a:r>
                      <a:endParaRPr lang="fr-CA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426" marR="48061" marT="48061" marB="480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10/50</a:t>
                      </a:r>
                      <a:endParaRPr lang="fr-CA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426" marR="48061" marT="48061" marB="48061" anchor="ctr"/>
                </a:tc>
                <a:extLst>
                  <a:ext uri="{0D108BD9-81ED-4DB2-BD59-A6C34878D82A}">
                    <a16:rowId xmlns:a16="http://schemas.microsoft.com/office/drawing/2014/main" val="2708746110"/>
                  </a:ext>
                </a:extLst>
              </a:tr>
              <a:tr h="2989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n = 100</a:t>
                      </a:r>
                      <a:endParaRPr lang="fr-CA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426" marR="48061" marT="48061" marB="480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16/100</a:t>
                      </a:r>
                      <a:endParaRPr lang="fr-CA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426" marR="48061" marT="48061" marB="480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14/100</a:t>
                      </a:r>
                      <a:endParaRPr lang="fr-CA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426" marR="48061" marT="48061" marB="480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16/100</a:t>
                      </a:r>
                      <a:endParaRPr lang="fr-CA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426" marR="48061" marT="48061" marB="480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17/100</a:t>
                      </a:r>
                      <a:endParaRPr lang="fr-CA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426" marR="48061" marT="48061" marB="480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18/100</a:t>
                      </a:r>
                      <a:endParaRPr lang="fr-CA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426" marR="48061" marT="48061" marB="480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19/100</a:t>
                      </a:r>
                      <a:endParaRPr lang="fr-CA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426" marR="48061" marT="48061" marB="48061" anchor="ctr"/>
                </a:tc>
                <a:extLst>
                  <a:ext uri="{0D108BD9-81ED-4DB2-BD59-A6C34878D82A}">
                    <a16:rowId xmlns:a16="http://schemas.microsoft.com/office/drawing/2014/main" val="3944788348"/>
                  </a:ext>
                </a:extLst>
              </a:tr>
              <a:tr h="2989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n = 1000</a:t>
                      </a:r>
                      <a:endParaRPr lang="fr-CA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426" marR="48061" marT="48061" marB="480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165/1000</a:t>
                      </a:r>
                      <a:endParaRPr lang="fr-CA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426" marR="48061" marT="48061" marB="480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168/1000</a:t>
                      </a:r>
                      <a:endParaRPr lang="fr-CA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426" marR="48061" marT="48061" marB="480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167/1000</a:t>
                      </a:r>
                      <a:endParaRPr lang="fr-CA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426" marR="48061" marT="48061" marB="480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169/1000</a:t>
                      </a:r>
                      <a:endParaRPr lang="fr-CA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426" marR="48061" marT="48061" marB="480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166/1000</a:t>
                      </a:r>
                      <a:endParaRPr lang="fr-CA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426" marR="48061" marT="48061" marB="480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165/1000</a:t>
                      </a:r>
                      <a:endParaRPr lang="fr-CA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426" marR="48061" marT="48061" marB="48061" anchor="ctr"/>
                </a:tc>
                <a:extLst>
                  <a:ext uri="{0D108BD9-81ED-4DB2-BD59-A6C34878D82A}">
                    <a16:rowId xmlns:a16="http://schemas.microsoft.com/office/drawing/2014/main" val="2139767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0084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32990F7-1B37-44EF-BAED-0C6B30FA1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LA PROBABILITÉ CLASSIQUE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13E490-36E7-4236-8460-F434E9A05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867" y="3246439"/>
            <a:ext cx="672957" cy="3437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fld id="{26377AD9-CE17-438C-A638-C64D2D42D7CF}" type="slidenum">
              <a:rPr lang="en-US" sz="1400">
                <a:solidFill>
                  <a:schemeClr val="tx1"/>
                </a:solidFill>
              </a:rPr>
              <a:pPr algn="ctr" defTabSz="914400">
                <a:spcAft>
                  <a:spcPts val="600"/>
                </a:spcAft>
              </a:pPr>
              <a:t>10</a:t>
            </a:fld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B3F52FF-0504-493E-8FFA-54F881902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349845" y="5226028"/>
            <a:ext cx="1663495" cy="313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/>
            <a:endParaRPr lang="en-US" sz="9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C6D83B39-CC95-4A9F-BAE2-4FAA03C24BDE}"/>
                  </a:ext>
                </a:extLst>
              </p:cNvPr>
              <p:cNvSpPr txBox="1"/>
              <p:nvPr/>
            </p:nvSpPr>
            <p:spPr>
              <a:xfrm>
                <a:off x="1155548" y="2217343"/>
                <a:ext cx="9880893" cy="395961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pPr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/>
                  <a:t>On appelle probabilité, toute application </a:t>
                </a:r>
                <a14:m>
                  <m:oMath xmlns:m="http://schemas.openxmlformats.org/officeDocument/2006/math">
                    <m:r>
                      <a:rPr lang="en-US" sz="2400" b="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400" dirty="0"/>
                  <a:t>  telle que:</a:t>
                </a:r>
              </a:p>
              <a:p>
                <a:pPr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b="1" dirty="0"/>
                  <a:t>Axiome 1: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)≤1</m:t>
                    </m:r>
                  </m:oMath>
                </a14:m>
                <a:r>
                  <a:rPr lang="en-US" sz="2400" dirty="0"/>
                  <a:t> Pour tout événement A.</a:t>
                </a:r>
              </a:p>
              <a:p>
                <a:pPr marL="285750"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b="1" dirty="0"/>
                  <a:t>Axiome 2: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2400" b="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400" dirty="0"/>
              </a:p>
              <a:p>
                <a:pPr marL="285750"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b="1" dirty="0"/>
                  <a:t>Axiome 3: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4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400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400" b="0" i="1">
                        <a:latin typeface="Cambria Math" panose="02040503050406030204" pitchFamily="18" charset="0"/>
                      </a:rPr>
                      <m:t>     </m:t>
                    </m:r>
                  </m:oMath>
                </a14:m>
                <a:endParaRPr lang="en-US" sz="2400" b="0" i="1" dirty="0"/>
              </a:p>
              <a:p>
                <a:pPr defTabSz="914400">
                  <a:lnSpc>
                    <a:spcPct val="9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>
                          <a:latin typeface="Cambria Math" panose="02040503050406030204" pitchFamily="18" charset="0"/>
                        </a:rPr>
                        <m:t>𝑝𝑜𝑢𝑟</m:t>
                      </m:r>
                      <m:r>
                        <a:rPr lang="en-US" sz="2400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 sz="2400" b="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>
                          <a:latin typeface="Cambria Math" panose="02040503050406030204" pitchFamily="18" charset="0"/>
                        </a:rPr>
                        <m:t>=∅</m:t>
                      </m:r>
                    </m:oMath>
                  </m:oMathPara>
                </a14:m>
                <a:endParaRPr lang="en-US" sz="2400" dirty="0"/>
              </a:p>
              <a:p>
                <a:pPr defTabSz="914400">
                  <a:lnSpc>
                    <a:spcPct val="90000"/>
                  </a:lnSpc>
                  <a:spcAft>
                    <a:spcPts val="600"/>
                  </a:spcAft>
                </a:pPr>
                <a:endParaRPr lang="en-US" sz="2400" dirty="0"/>
              </a:p>
              <a:p>
                <a:pPr defTabSz="914400"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sz="2400" b="1" dirty="0"/>
                  <a:t>C’EST LA DÉFINITION QU’ON VA UTILISER DANS CE COURS</a:t>
                </a:r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C6D83B39-CC95-4A9F-BAE2-4FAA03C24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48" y="2217343"/>
                <a:ext cx="9880893" cy="3959619"/>
              </a:xfrm>
              <a:prstGeom prst="rect">
                <a:avLst/>
              </a:prstGeom>
              <a:blipFill>
                <a:blip r:embed="rId2"/>
                <a:stretch>
                  <a:fillRect l="-988" t="-2157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5305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3722FD-B4CE-4923-9F1D-E59FB1A74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b="1" dirty="0"/>
              <a:t>LES PROPRIÉTÉS D’UNE PROBABILITÉ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45A778-016D-49EC-AE9D-9C37D5C04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4A8D84E-852E-4161-BDE4-979DE9745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11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73C75CF5-195B-4D59-8178-7B3B7537DBB8}"/>
                  </a:ext>
                </a:extLst>
              </p:cNvPr>
              <p:cNvSpPr txBox="1"/>
              <p:nvPr/>
            </p:nvSpPr>
            <p:spPr>
              <a:xfrm>
                <a:off x="838200" y="2155371"/>
                <a:ext cx="7772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fr-CA" dirty="0"/>
                  <a:t>P1: 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fr-CA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73C75CF5-195B-4D59-8178-7B3B7537D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55371"/>
                <a:ext cx="7772400" cy="369332"/>
              </a:xfrm>
              <a:prstGeom prst="rect">
                <a:avLst/>
              </a:prstGeom>
              <a:blipFill>
                <a:blip r:embed="rId2"/>
                <a:stretch>
                  <a:fillRect l="-706" t="-10000" b="-26667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7C3C002F-53A6-4E2B-86EE-2CD18B2D746A}"/>
              </a:ext>
            </a:extLst>
          </p:cNvPr>
          <p:cNvSpPr/>
          <p:nvPr/>
        </p:nvSpPr>
        <p:spPr>
          <a:xfrm>
            <a:off x="1371601" y="3089524"/>
            <a:ext cx="4232366" cy="18679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dirty="0"/>
              <a:t>A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19D7665F-648C-414B-BD08-7B8C105FDD02}"/>
              </a:ext>
            </a:extLst>
          </p:cNvPr>
          <p:cNvSpPr/>
          <p:nvPr/>
        </p:nvSpPr>
        <p:spPr>
          <a:xfrm>
            <a:off x="1798321" y="3562036"/>
            <a:ext cx="3043645" cy="87849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23D88B1-B3D0-43DC-BECD-74355EBC9FEA}"/>
              </a:ext>
            </a:extLst>
          </p:cNvPr>
          <p:cNvSpPr txBox="1"/>
          <p:nvPr/>
        </p:nvSpPr>
        <p:spPr>
          <a:xfrm>
            <a:off x="3017520" y="4001281"/>
            <a:ext cx="809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A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91EA809-05FA-40CF-806F-03CB6BEC2D46}"/>
              </a:ext>
            </a:extLst>
          </p:cNvPr>
          <p:cNvSpPr txBox="1"/>
          <p:nvPr/>
        </p:nvSpPr>
        <p:spPr>
          <a:xfrm>
            <a:off x="4650377" y="4588180"/>
            <a:ext cx="561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A’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98CA0DF-329B-4810-9BA8-1EE3A7299F44}"/>
              </a:ext>
            </a:extLst>
          </p:cNvPr>
          <p:cNvSpPr txBox="1"/>
          <p:nvPr/>
        </p:nvSpPr>
        <p:spPr>
          <a:xfrm>
            <a:off x="4376057" y="2821577"/>
            <a:ext cx="83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175025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464A0A0E-DB70-4B92-8264-E95C4D4CA86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fr-CA" dirty="0"/>
                  <a:t>P2: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fr-CA" dirty="0"/>
              </a:p>
            </p:txBody>
          </p:sp>
        </mc:Choice>
        <mc:Fallback xmlns="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464A0A0E-DB70-4B92-8264-E95C4D4CA8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9EEA82C-7126-4CD1-93F6-9387C8F53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CFAF905-9EF6-454B-B685-F99BD60D9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12</a:t>
            </a:fld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C5CA3A-6498-4243-A8F3-AEAAE4551B7A}"/>
              </a:ext>
            </a:extLst>
          </p:cNvPr>
          <p:cNvSpPr/>
          <p:nvPr/>
        </p:nvSpPr>
        <p:spPr>
          <a:xfrm>
            <a:off x="1136469" y="2312126"/>
            <a:ext cx="4480560" cy="26386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5144D54A-416C-4672-AAA3-B23AA6D644F6}"/>
              </a:ext>
            </a:extLst>
          </p:cNvPr>
          <p:cNvSpPr/>
          <p:nvPr/>
        </p:nvSpPr>
        <p:spPr>
          <a:xfrm>
            <a:off x="1894114" y="3226526"/>
            <a:ext cx="2024743" cy="9535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54053E50-3C9A-471B-B5F8-A0F37D880C51}"/>
              </a:ext>
            </a:extLst>
          </p:cNvPr>
          <p:cNvSpPr/>
          <p:nvPr/>
        </p:nvSpPr>
        <p:spPr>
          <a:xfrm>
            <a:off x="3500846" y="3226526"/>
            <a:ext cx="1737360" cy="95358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859245F5-3C43-482C-9EF1-7AD31A77FBA8}"/>
              </a:ext>
            </a:extLst>
          </p:cNvPr>
          <p:cNvSpPr/>
          <p:nvPr/>
        </p:nvSpPr>
        <p:spPr>
          <a:xfrm>
            <a:off x="3762103" y="3422469"/>
            <a:ext cx="104503" cy="535577"/>
          </a:xfrm>
          <a:custGeom>
            <a:avLst/>
            <a:gdLst>
              <a:gd name="connsiteX0" fmla="*/ 0 w 104503"/>
              <a:gd name="connsiteY0" fmla="*/ 0 h 535577"/>
              <a:gd name="connsiteX1" fmla="*/ 39188 w 104503"/>
              <a:gd name="connsiteY1" fmla="*/ 65314 h 535577"/>
              <a:gd name="connsiteX2" fmla="*/ 65314 w 104503"/>
              <a:gd name="connsiteY2" fmla="*/ 104502 h 535577"/>
              <a:gd name="connsiteX3" fmla="*/ 91440 w 104503"/>
              <a:gd name="connsiteY3" fmla="*/ 182880 h 535577"/>
              <a:gd name="connsiteX4" fmla="*/ 104503 w 104503"/>
              <a:gd name="connsiteY4" fmla="*/ 222068 h 535577"/>
              <a:gd name="connsiteX5" fmla="*/ 65314 w 104503"/>
              <a:gd name="connsiteY5" fmla="*/ 431074 h 535577"/>
              <a:gd name="connsiteX6" fmla="*/ 39188 w 104503"/>
              <a:gd name="connsiteY6" fmla="*/ 470262 h 535577"/>
              <a:gd name="connsiteX7" fmla="*/ 0 w 104503"/>
              <a:gd name="connsiteY7" fmla="*/ 535577 h 535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4503" h="535577">
                <a:moveTo>
                  <a:pt x="0" y="0"/>
                </a:moveTo>
                <a:cubicBezTo>
                  <a:pt x="13063" y="21771"/>
                  <a:pt x="25732" y="43784"/>
                  <a:pt x="39188" y="65314"/>
                </a:cubicBezTo>
                <a:cubicBezTo>
                  <a:pt x="47509" y="78627"/>
                  <a:pt x="58938" y="90156"/>
                  <a:pt x="65314" y="104502"/>
                </a:cubicBezTo>
                <a:cubicBezTo>
                  <a:pt x="76499" y="129668"/>
                  <a:pt x="82731" y="156754"/>
                  <a:pt x="91440" y="182880"/>
                </a:cubicBezTo>
                <a:lnTo>
                  <a:pt x="104503" y="222068"/>
                </a:lnTo>
                <a:cubicBezTo>
                  <a:pt x="99906" y="268033"/>
                  <a:pt x="98226" y="381708"/>
                  <a:pt x="65314" y="431074"/>
                </a:cubicBezTo>
                <a:lnTo>
                  <a:pt x="39188" y="470262"/>
                </a:lnTo>
                <a:cubicBezTo>
                  <a:pt x="22232" y="521135"/>
                  <a:pt x="35863" y="499714"/>
                  <a:pt x="0" y="53557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7A22BD0-AD50-45BF-AB0B-4D24F26C8E74}"/>
              </a:ext>
            </a:extLst>
          </p:cNvPr>
          <p:cNvSpPr txBox="1"/>
          <p:nvPr/>
        </p:nvSpPr>
        <p:spPr>
          <a:xfrm>
            <a:off x="4167051" y="1998617"/>
            <a:ext cx="97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ECAB5FD-E3F1-4907-B04B-BF8EFABFCDDE}"/>
              </a:ext>
            </a:extLst>
          </p:cNvPr>
          <p:cNvSpPr txBox="1"/>
          <p:nvPr/>
        </p:nvSpPr>
        <p:spPr>
          <a:xfrm>
            <a:off x="2286000" y="2704170"/>
            <a:ext cx="64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A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9763CAE-2991-496C-ABD0-36A9C881F240}"/>
              </a:ext>
            </a:extLst>
          </p:cNvPr>
          <p:cNvSpPr txBox="1"/>
          <p:nvPr/>
        </p:nvSpPr>
        <p:spPr>
          <a:xfrm>
            <a:off x="4545874" y="2834640"/>
            <a:ext cx="692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766156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24BE47CA-C92A-4119-B518-BBC1471F86B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-143691" y="365125"/>
                <a:ext cx="12239897" cy="2286635"/>
              </a:xfrm>
            </p:spPr>
            <p:txBody>
              <a:bodyPr>
                <a:normAutofit/>
              </a:bodyPr>
              <a:lstStyle/>
              <a:p>
                <a:pPr/>
                <a:r>
                  <a:rPr lang="fr-CA" dirty="0"/>
                  <a:t>P3: Lorsqu’on a 3 événements.</a:t>
                </a:r>
                <a:br>
                  <a:rPr lang="fr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CA" dirty="0"/>
              </a:p>
            </p:txBody>
          </p:sp>
        </mc:Choice>
        <mc:Fallback xmlns="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24BE47CA-C92A-4119-B518-BBC1471F86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143691" y="365125"/>
                <a:ext cx="12239897" cy="2286635"/>
              </a:xfrm>
              <a:blipFill>
                <a:blip r:embed="rId2"/>
                <a:stretch>
                  <a:fillRect l="-1992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36C683C-FC4F-44A0-8FFC-03A0B3823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7411200-8545-44CD-B95A-871D562C0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13</a:t>
            </a:fld>
            <a:endParaRPr lang="fr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3C9311-B13F-42F2-A799-A23CB1C647A3}"/>
              </a:ext>
            </a:extLst>
          </p:cNvPr>
          <p:cNvSpPr/>
          <p:nvPr/>
        </p:nvSpPr>
        <p:spPr>
          <a:xfrm>
            <a:off x="1907177" y="3122023"/>
            <a:ext cx="6975566" cy="26125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267D9191-9ACC-425F-B276-21277275FA69}"/>
              </a:ext>
            </a:extLst>
          </p:cNvPr>
          <p:cNvSpPr/>
          <p:nvPr/>
        </p:nvSpPr>
        <p:spPr>
          <a:xfrm>
            <a:off x="3174274" y="3722914"/>
            <a:ext cx="1998617" cy="86214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3CEDD146-52E1-4703-87E8-5ABECB6AC4AB}"/>
              </a:ext>
            </a:extLst>
          </p:cNvPr>
          <p:cNvSpPr/>
          <p:nvPr/>
        </p:nvSpPr>
        <p:spPr>
          <a:xfrm>
            <a:off x="4493623" y="3722914"/>
            <a:ext cx="2690949" cy="86214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BFD4A1AE-6AB5-41B0-91E0-EF7178768440}"/>
              </a:ext>
            </a:extLst>
          </p:cNvPr>
          <p:cNvSpPr/>
          <p:nvPr/>
        </p:nvSpPr>
        <p:spPr>
          <a:xfrm>
            <a:off x="4441371" y="4284617"/>
            <a:ext cx="731520" cy="133241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10FBE434-A46D-455E-8352-3954721B3E5B}"/>
              </a:ext>
            </a:extLst>
          </p:cNvPr>
          <p:cNvSpPr/>
          <p:nvPr/>
        </p:nvSpPr>
        <p:spPr>
          <a:xfrm>
            <a:off x="4572000" y="3840480"/>
            <a:ext cx="391886" cy="744583"/>
          </a:xfrm>
          <a:custGeom>
            <a:avLst/>
            <a:gdLst>
              <a:gd name="connsiteX0" fmla="*/ 352697 w 391886"/>
              <a:gd name="connsiteY0" fmla="*/ 0 h 744583"/>
              <a:gd name="connsiteX1" fmla="*/ 378823 w 391886"/>
              <a:gd name="connsiteY1" fmla="*/ 65314 h 744583"/>
              <a:gd name="connsiteX2" fmla="*/ 391886 w 391886"/>
              <a:gd name="connsiteY2" fmla="*/ 104503 h 744583"/>
              <a:gd name="connsiteX3" fmla="*/ 378823 w 391886"/>
              <a:gd name="connsiteY3" fmla="*/ 378823 h 744583"/>
              <a:gd name="connsiteX4" fmla="*/ 352697 w 391886"/>
              <a:gd name="connsiteY4" fmla="*/ 457200 h 744583"/>
              <a:gd name="connsiteX5" fmla="*/ 313509 w 391886"/>
              <a:gd name="connsiteY5" fmla="*/ 496389 h 744583"/>
              <a:gd name="connsiteX6" fmla="*/ 248194 w 391886"/>
              <a:gd name="connsiteY6" fmla="*/ 561703 h 744583"/>
              <a:gd name="connsiteX7" fmla="*/ 222069 w 391886"/>
              <a:gd name="connsiteY7" fmla="*/ 600891 h 744583"/>
              <a:gd name="connsiteX8" fmla="*/ 143691 w 391886"/>
              <a:gd name="connsiteY8" fmla="*/ 640080 h 744583"/>
              <a:gd name="connsiteX9" fmla="*/ 117566 w 391886"/>
              <a:gd name="connsiteY9" fmla="*/ 679269 h 744583"/>
              <a:gd name="connsiteX10" fmla="*/ 0 w 391886"/>
              <a:gd name="connsiteY10" fmla="*/ 731520 h 744583"/>
              <a:gd name="connsiteX11" fmla="*/ 0 w 391886"/>
              <a:gd name="connsiteY11" fmla="*/ 744583 h 744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91886" h="744583">
                <a:moveTo>
                  <a:pt x="352697" y="0"/>
                </a:moveTo>
                <a:cubicBezTo>
                  <a:pt x="361406" y="21771"/>
                  <a:pt x="370590" y="43359"/>
                  <a:pt x="378823" y="65314"/>
                </a:cubicBezTo>
                <a:cubicBezTo>
                  <a:pt x="383658" y="78207"/>
                  <a:pt x="391886" y="90733"/>
                  <a:pt x="391886" y="104503"/>
                </a:cubicBezTo>
                <a:cubicBezTo>
                  <a:pt x="391886" y="196047"/>
                  <a:pt x="388932" y="287839"/>
                  <a:pt x="378823" y="378823"/>
                </a:cubicBezTo>
                <a:cubicBezTo>
                  <a:pt x="375782" y="406193"/>
                  <a:pt x="372170" y="437727"/>
                  <a:pt x="352697" y="457200"/>
                </a:cubicBezTo>
                <a:cubicBezTo>
                  <a:pt x="339634" y="470263"/>
                  <a:pt x="325336" y="482197"/>
                  <a:pt x="313509" y="496389"/>
                </a:cubicBezTo>
                <a:cubicBezTo>
                  <a:pt x="259082" y="561701"/>
                  <a:pt x="320038" y="513807"/>
                  <a:pt x="248194" y="561703"/>
                </a:cubicBezTo>
                <a:cubicBezTo>
                  <a:pt x="239486" y="574766"/>
                  <a:pt x="233170" y="589790"/>
                  <a:pt x="222069" y="600891"/>
                </a:cubicBezTo>
                <a:cubicBezTo>
                  <a:pt x="196746" y="626214"/>
                  <a:pt x="175564" y="629456"/>
                  <a:pt x="143691" y="640080"/>
                </a:cubicBezTo>
                <a:cubicBezTo>
                  <a:pt x="134983" y="653143"/>
                  <a:pt x="130879" y="670948"/>
                  <a:pt x="117566" y="679269"/>
                </a:cubicBezTo>
                <a:cubicBezTo>
                  <a:pt x="48578" y="722387"/>
                  <a:pt x="48259" y="683261"/>
                  <a:pt x="0" y="731520"/>
                </a:cubicBezTo>
                <a:lnTo>
                  <a:pt x="0" y="744583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851C6A13-100C-4E4A-82DA-9B5F840DABFD}"/>
              </a:ext>
            </a:extLst>
          </p:cNvPr>
          <p:cNvSpPr/>
          <p:nvPr/>
        </p:nvSpPr>
        <p:spPr>
          <a:xfrm>
            <a:off x="4611189" y="4323806"/>
            <a:ext cx="432728" cy="185679"/>
          </a:xfrm>
          <a:custGeom>
            <a:avLst/>
            <a:gdLst>
              <a:gd name="connsiteX0" fmla="*/ 39188 w 432728"/>
              <a:gd name="connsiteY0" fmla="*/ 13063 h 185679"/>
              <a:gd name="connsiteX1" fmla="*/ 182880 w 432728"/>
              <a:gd name="connsiteY1" fmla="*/ 104503 h 185679"/>
              <a:gd name="connsiteX2" fmla="*/ 222068 w 432728"/>
              <a:gd name="connsiteY2" fmla="*/ 130628 h 185679"/>
              <a:gd name="connsiteX3" fmla="*/ 261257 w 432728"/>
              <a:gd name="connsiteY3" fmla="*/ 156754 h 185679"/>
              <a:gd name="connsiteX4" fmla="*/ 391885 w 432728"/>
              <a:gd name="connsiteY4" fmla="*/ 169817 h 185679"/>
              <a:gd name="connsiteX5" fmla="*/ 431074 w 432728"/>
              <a:gd name="connsiteY5" fmla="*/ 182880 h 185679"/>
              <a:gd name="connsiteX6" fmla="*/ 274320 w 432728"/>
              <a:gd name="connsiteY6" fmla="*/ 104503 h 185679"/>
              <a:gd name="connsiteX7" fmla="*/ 195942 w 432728"/>
              <a:gd name="connsiteY7" fmla="*/ 78377 h 185679"/>
              <a:gd name="connsiteX8" fmla="*/ 156754 w 432728"/>
              <a:gd name="connsiteY8" fmla="*/ 65314 h 185679"/>
              <a:gd name="connsiteX9" fmla="*/ 117565 w 432728"/>
              <a:gd name="connsiteY9" fmla="*/ 52251 h 185679"/>
              <a:gd name="connsiteX10" fmla="*/ 0 w 432728"/>
              <a:gd name="connsiteY10" fmla="*/ 0 h 185679"/>
              <a:gd name="connsiteX11" fmla="*/ 39188 w 432728"/>
              <a:gd name="connsiteY11" fmla="*/ 13063 h 185679"/>
              <a:gd name="connsiteX12" fmla="*/ 78377 w 432728"/>
              <a:gd name="connsiteY12" fmla="*/ 26125 h 185679"/>
              <a:gd name="connsiteX13" fmla="*/ 195942 w 432728"/>
              <a:gd name="connsiteY13" fmla="*/ 104503 h 185679"/>
              <a:gd name="connsiteX14" fmla="*/ 235131 w 432728"/>
              <a:gd name="connsiteY14" fmla="*/ 130628 h 185679"/>
              <a:gd name="connsiteX15" fmla="*/ 313508 w 432728"/>
              <a:gd name="connsiteY15" fmla="*/ 156754 h 185679"/>
              <a:gd name="connsiteX16" fmla="*/ 352697 w 432728"/>
              <a:gd name="connsiteY16" fmla="*/ 169817 h 185679"/>
              <a:gd name="connsiteX17" fmla="*/ 431074 w 432728"/>
              <a:gd name="connsiteY17" fmla="*/ 169817 h 185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32728" h="185679">
                <a:moveTo>
                  <a:pt x="39188" y="13063"/>
                </a:moveTo>
                <a:cubicBezTo>
                  <a:pt x="131430" y="68408"/>
                  <a:pt x="83372" y="38165"/>
                  <a:pt x="182880" y="104503"/>
                </a:cubicBezTo>
                <a:lnTo>
                  <a:pt x="222068" y="130628"/>
                </a:lnTo>
                <a:cubicBezTo>
                  <a:pt x="235131" y="139337"/>
                  <a:pt x="245635" y="155192"/>
                  <a:pt x="261257" y="156754"/>
                </a:cubicBezTo>
                <a:lnTo>
                  <a:pt x="391885" y="169817"/>
                </a:lnTo>
                <a:cubicBezTo>
                  <a:pt x="404948" y="174171"/>
                  <a:pt x="440810" y="192617"/>
                  <a:pt x="431074" y="182880"/>
                </a:cubicBezTo>
                <a:cubicBezTo>
                  <a:pt x="380428" y="132233"/>
                  <a:pt x="338067" y="125752"/>
                  <a:pt x="274320" y="104503"/>
                </a:cubicBezTo>
                <a:lnTo>
                  <a:pt x="195942" y="78377"/>
                </a:lnTo>
                <a:lnTo>
                  <a:pt x="156754" y="65314"/>
                </a:lnTo>
                <a:lnTo>
                  <a:pt x="117565" y="52251"/>
                </a:lnTo>
                <a:cubicBezTo>
                  <a:pt x="55466" y="10851"/>
                  <a:pt x="93266" y="31086"/>
                  <a:pt x="0" y="0"/>
                </a:cubicBezTo>
                <a:lnTo>
                  <a:pt x="39188" y="13063"/>
                </a:lnTo>
                <a:lnTo>
                  <a:pt x="78377" y="26125"/>
                </a:lnTo>
                <a:lnTo>
                  <a:pt x="195942" y="104503"/>
                </a:lnTo>
                <a:cubicBezTo>
                  <a:pt x="209005" y="113212"/>
                  <a:pt x="220237" y="125663"/>
                  <a:pt x="235131" y="130628"/>
                </a:cubicBezTo>
                <a:lnTo>
                  <a:pt x="313508" y="156754"/>
                </a:lnTo>
                <a:cubicBezTo>
                  <a:pt x="326571" y="161108"/>
                  <a:pt x="338927" y="169817"/>
                  <a:pt x="352697" y="169817"/>
                </a:cubicBezTo>
                <a:lnTo>
                  <a:pt x="431074" y="169817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60532A1-61DF-46D6-A60D-D06BF4F99F65}"/>
              </a:ext>
            </a:extLst>
          </p:cNvPr>
          <p:cNvSpPr txBox="1"/>
          <p:nvPr/>
        </p:nvSpPr>
        <p:spPr>
          <a:xfrm>
            <a:off x="3344091" y="3429000"/>
            <a:ext cx="694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A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F4B6905-C8F1-4B49-B97F-228F510F1102}"/>
              </a:ext>
            </a:extLst>
          </p:cNvPr>
          <p:cNvSpPr txBox="1"/>
          <p:nvPr/>
        </p:nvSpPr>
        <p:spPr>
          <a:xfrm>
            <a:off x="6622869" y="3429000"/>
            <a:ext cx="82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B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1C560C8-4568-4283-A5B4-0903A2AB0BF8}"/>
              </a:ext>
            </a:extLst>
          </p:cNvPr>
          <p:cNvSpPr txBox="1"/>
          <p:nvPr/>
        </p:nvSpPr>
        <p:spPr>
          <a:xfrm>
            <a:off x="5394960" y="5212080"/>
            <a:ext cx="701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798327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AA16612-ACD2-4A16-8F2B-4514FD6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1426C87-E6D8-4203-AAC9-B4E0844FB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EXEMPLE 1: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C093610-5789-41FF-BA3D-669F2191987A}"/>
              </a:ext>
            </a:extLst>
          </p:cNvPr>
          <p:cNvSpPr txBox="1"/>
          <p:nvPr/>
        </p:nvSpPr>
        <p:spPr>
          <a:xfrm>
            <a:off x="1179226" y="3092970"/>
            <a:ext cx="9833548" cy="2693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17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000000"/>
                </a:solidFill>
                <a:effectLst/>
              </a:rPr>
              <a:t>Un corps </a:t>
            </a:r>
            <a:r>
              <a:rPr lang="en-US" sz="1700" dirty="0" err="1">
                <a:solidFill>
                  <a:srgbClr val="000000"/>
                </a:solidFill>
                <a:effectLst/>
              </a:rPr>
              <a:t>policier</a:t>
            </a:r>
            <a:r>
              <a:rPr lang="en-US" sz="1700" dirty="0">
                <a:solidFill>
                  <a:srgbClr val="000000"/>
                </a:solidFill>
                <a:effectLst/>
              </a:rPr>
              <a:t> </a:t>
            </a:r>
            <a:r>
              <a:rPr lang="en-US" sz="1700" dirty="0" err="1">
                <a:solidFill>
                  <a:srgbClr val="000000"/>
                </a:solidFill>
                <a:effectLst/>
              </a:rPr>
              <a:t>rapporte</a:t>
            </a:r>
            <a:r>
              <a:rPr lang="en-US" sz="1700" dirty="0">
                <a:solidFill>
                  <a:srgbClr val="000000"/>
                </a:solidFill>
                <a:effectLst/>
              </a:rPr>
              <a:t> que </a:t>
            </a:r>
            <a:r>
              <a:rPr lang="en-US" sz="1700" dirty="0" err="1">
                <a:solidFill>
                  <a:srgbClr val="000000"/>
                </a:solidFill>
                <a:effectLst/>
              </a:rPr>
              <a:t>parmi</a:t>
            </a:r>
            <a:r>
              <a:rPr lang="en-US" sz="1700" dirty="0">
                <a:solidFill>
                  <a:srgbClr val="000000"/>
                </a:solidFill>
                <a:effectLst/>
              </a:rPr>
              <a:t> les </a:t>
            </a:r>
            <a:r>
              <a:rPr lang="en-US" sz="1700" dirty="0" err="1">
                <a:solidFill>
                  <a:srgbClr val="000000"/>
                </a:solidFill>
                <a:effectLst/>
              </a:rPr>
              <a:t>conducteurs</a:t>
            </a:r>
            <a:r>
              <a:rPr lang="en-US" sz="1700" dirty="0">
                <a:solidFill>
                  <a:srgbClr val="000000"/>
                </a:solidFill>
                <a:effectLst/>
              </a:rPr>
              <a:t> </a:t>
            </a:r>
            <a:r>
              <a:rPr lang="en-US" sz="1700" dirty="0" err="1">
                <a:solidFill>
                  <a:srgbClr val="000000"/>
                </a:solidFill>
                <a:effectLst/>
              </a:rPr>
              <a:t>contrôlés</a:t>
            </a:r>
            <a:r>
              <a:rPr lang="en-US" sz="1700" dirty="0">
                <a:solidFill>
                  <a:srgbClr val="000000"/>
                </a:solidFill>
                <a:effectLst/>
              </a:rPr>
              <a:t> pour </a:t>
            </a:r>
            <a:r>
              <a:rPr lang="en-US" sz="1700" dirty="0" err="1">
                <a:solidFill>
                  <a:srgbClr val="000000"/>
                </a:solidFill>
                <a:effectLst/>
              </a:rPr>
              <a:t>ivresse</a:t>
            </a:r>
            <a:r>
              <a:rPr lang="en-US" sz="1700" dirty="0">
                <a:solidFill>
                  <a:srgbClr val="000000"/>
                </a:solidFill>
                <a:effectLst/>
              </a:rPr>
              <a:t> au volant 76% </a:t>
            </a:r>
            <a:r>
              <a:rPr lang="en-US" sz="1700" dirty="0" err="1">
                <a:solidFill>
                  <a:srgbClr val="000000"/>
                </a:solidFill>
                <a:effectLst/>
              </a:rPr>
              <a:t>d’entre</a:t>
            </a:r>
            <a:r>
              <a:rPr lang="en-US" sz="1700" dirty="0">
                <a:solidFill>
                  <a:srgbClr val="000000"/>
                </a:solidFill>
                <a:effectLst/>
              </a:rPr>
              <a:t> </a:t>
            </a:r>
            <a:r>
              <a:rPr lang="en-US" sz="1700" dirty="0" err="1">
                <a:solidFill>
                  <a:srgbClr val="000000"/>
                </a:solidFill>
                <a:effectLst/>
              </a:rPr>
              <a:t>eux</a:t>
            </a:r>
            <a:r>
              <a:rPr lang="en-US" sz="1700" dirty="0">
                <a:solidFill>
                  <a:srgbClr val="000000"/>
                </a:solidFill>
                <a:effectLst/>
              </a:rPr>
              <a:t> sont </a:t>
            </a:r>
            <a:r>
              <a:rPr lang="en-US" sz="1700" dirty="0" err="1">
                <a:solidFill>
                  <a:srgbClr val="000000"/>
                </a:solidFill>
                <a:effectLst/>
              </a:rPr>
              <a:t>soumis</a:t>
            </a:r>
            <a:r>
              <a:rPr lang="en-US" sz="1700" dirty="0">
                <a:solidFill>
                  <a:srgbClr val="000000"/>
                </a:solidFill>
                <a:effectLst/>
              </a:rPr>
              <a:t> au test </a:t>
            </a:r>
            <a:r>
              <a:rPr lang="en-US" sz="1700" dirty="0" err="1">
                <a:solidFill>
                  <a:srgbClr val="000000"/>
                </a:solidFill>
                <a:effectLst/>
              </a:rPr>
              <a:t>d’haleine</a:t>
            </a:r>
            <a:r>
              <a:rPr lang="en-US" sz="1700" dirty="0">
                <a:solidFill>
                  <a:srgbClr val="000000"/>
                </a:solidFill>
                <a:effectLst/>
              </a:rPr>
              <a:t>, 36% sont </a:t>
            </a:r>
            <a:r>
              <a:rPr lang="en-US" sz="1700" dirty="0" err="1">
                <a:solidFill>
                  <a:srgbClr val="000000"/>
                </a:solidFill>
                <a:effectLst/>
              </a:rPr>
              <a:t>soumis</a:t>
            </a:r>
            <a:r>
              <a:rPr lang="en-US" sz="1700" dirty="0">
                <a:solidFill>
                  <a:srgbClr val="000000"/>
                </a:solidFill>
                <a:effectLst/>
              </a:rPr>
              <a:t> au test </a:t>
            </a:r>
            <a:r>
              <a:rPr lang="en-US" sz="1700" dirty="0" err="1">
                <a:solidFill>
                  <a:srgbClr val="000000"/>
                </a:solidFill>
                <a:effectLst/>
              </a:rPr>
              <a:t>sanguin</a:t>
            </a:r>
            <a:r>
              <a:rPr lang="en-US" sz="1700" dirty="0">
                <a:solidFill>
                  <a:srgbClr val="000000"/>
                </a:solidFill>
                <a:effectLst/>
              </a:rPr>
              <a:t> et 21% aux deux tests. Quelle </a:t>
            </a:r>
            <a:r>
              <a:rPr lang="en-US" sz="1700" dirty="0" err="1">
                <a:solidFill>
                  <a:srgbClr val="000000"/>
                </a:solidFill>
                <a:effectLst/>
              </a:rPr>
              <a:t>est</a:t>
            </a:r>
            <a:r>
              <a:rPr lang="en-US" sz="1700" dirty="0">
                <a:solidFill>
                  <a:srgbClr val="000000"/>
                </a:solidFill>
                <a:effectLst/>
              </a:rPr>
              <a:t> la probabilité </a:t>
            </a:r>
            <a:r>
              <a:rPr lang="en-US" sz="1700" dirty="0" err="1">
                <a:solidFill>
                  <a:srgbClr val="000000"/>
                </a:solidFill>
                <a:effectLst/>
              </a:rPr>
              <a:t>qu’un</a:t>
            </a:r>
            <a:r>
              <a:rPr lang="en-US" sz="1700" dirty="0">
                <a:solidFill>
                  <a:srgbClr val="000000"/>
                </a:solidFill>
                <a:effectLst/>
              </a:rPr>
              <a:t> </a:t>
            </a:r>
            <a:r>
              <a:rPr lang="en-US" sz="1700" dirty="0" err="1">
                <a:solidFill>
                  <a:srgbClr val="000000"/>
                </a:solidFill>
                <a:effectLst/>
              </a:rPr>
              <a:t>conducteur</a:t>
            </a:r>
            <a:r>
              <a:rPr lang="en-US" sz="1700" dirty="0">
                <a:solidFill>
                  <a:srgbClr val="000000"/>
                </a:solidFill>
                <a:effectLst/>
              </a:rPr>
              <a:t> </a:t>
            </a:r>
            <a:r>
              <a:rPr lang="en-US" sz="1700" dirty="0" err="1">
                <a:solidFill>
                  <a:srgbClr val="000000"/>
                </a:solidFill>
                <a:effectLst/>
              </a:rPr>
              <a:t>contrôlé</a:t>
            </a:r>
            <a:r>
              <a:rPr lang="en-US" sz="1700" dirty="0">
                <a:solidFill>
                  <a:srgbClr val="000000"/>
                </a:solidFill>
                <a:effectLst/>
              </a:rPr>
              <a:t> au </a:t>
            </a:r>
            <a:r>
              <a:rPr lang="en-US" sz="1700" dirty="0" err="1">
                <a:solidFill>
                  <a:srgbClr val="000000"/>
                </a:solidFill>
                <a:effectLst/>
              </a:rPr>
              <a:t>hasard</a:t>
            </a:r>
            <a:r>
              <a:rPr lang="en-US" sz="1700" dirty="0">
                <a:solidFill>
                  <a:srgbClr val="000000"/>
                </a:solidFill>
                <a:effectLst/>
              </a:rPr>
              <a:t> :</a:t>
            </a:r>
          </a:p>
          <a:p>
            <a:pPr marL="342900" lvl="0" indent="-228600" defTabSz="914400">
              <a:lnSpc>
                <a:spcPct val="90000"/>
              </a:lnSpc>
              <a:spcBef>
                <a:spcPts val="600"/>
              </a:spcBef>
              <a:spcAft>
                <a:spcPts val="1700"/>
              </a:spcAft>
              <a:buFont typeface="Arial" panose="020B0604020202020204" pitchFamily="34" charset="0"/>
              <a:buChar char="•"/>
            </a:pPr>
            <a:r>
              <a:rPr lang="en-US" sz="1700" dirty="0" err="1">
                <a:solidFill>
                  <a:srgbClr val="000000"/>
                </a:solidFill>
                <a:effectLst/>
              </a:rPr>
              <a:t>Soit</a:t>
            </a:r>
            <a:r>
              <a:rPr lang="en-US" sz="1700" dirty="0">
                <a:solidFill>
                  <a:srgbClr val="000000"/>
                </a:solidFill>
                <a:effectLst/>
              </a:rPr>
              <a:t> </a:t>
            </a:r>
            <a:r>
              <a:rPr lang="en-US" sz="1700" dirty="0" err="1">
                <a:solidFill>
                  <a:srgbClr val="000000"/>
                </a:solidFill>
                <a:effectLst/>
              </a:rPr>
              <a:t>soumis</a:t>
            </a:r>
            <a:r>
              <a:rPr lang="en-US" sz="1700" dirty="0">
                <a:solidFill>
                  <a:srgbClr val="000000"/>
                </a:solidFill>
                <a:effectLst/>
              </a:rPr>
              <a:t> à au moins un de </a:t>
            </a:r>
            <a:r>
              <a:rPr lang="en-US" sz="1700" dirty="0" err="1">
                <a:solidFill>
                  <a:srgbClr val="000000"/>
                </a:solidFill>
                <a:effectLst/>
              </a:rPr>
              <a:t>ces</a:t>
            </a:r>
            <a:r>
              <a:rPr lang="en-US" sz="1700" dirty="0">
                <a:solidFill>
                  <a:srgbClr val="000000"/>
                </a:solidFill>
                <a:effectLst/>
              </a:rPr>
              <a:t> deux tests?</a:t>
            </a:r>
          </a:p>
          <a:p>
            <a:pPr marL="342900" lvl="0" indent="-228600" defTabSz="914400">
              <a:lnSpc>
                <a:spcPct val="90000"/>
              </a:lnSpc>
              <a:spcBef>
                <a:spcPts val="600"/>
              </a:spcBef>
              <a:spcAft>
                <a:spcPts val="1700"/>
              </a:spcAft>
              <a:buFont typeface="Arial" panose="020B0604020202020204" pitchFamily="34" charset="0"/>
              <a:buChar char="•"/>
            </a:pPr>
            <a:r>
              <a:rPr lang="en-US" sz="1700" dirty="0" err="1">
                <a:solidFill>
                  <a:srgbClr val="000000"/>
                </a:solidFill>
                <a:effectLst/>
              </a:rPr>
              <a:t>Soit</a:t>
            </a:r>
            <a:r>
              <a:rPr lang="en-US" sz="1700" dirty="0">
                <a:solidFill>
                  <a:srgbClr val="000000"/>
                </a:solidFill>
                <a:effectLst/>
              </a:rPr>
              <a:t> </a:t>
            </a:r>
            <a:r>
              <a:rPr lang="en-US" sz="1700" dirty="0" err="1">
                <a:solidFill>
                  <a:srgbClr val="000000"/>
                </a:solidFill>
                <a:effectLst/>
              </a:rPr>
              <a:t>soumis</a:t>
            </a:r>
            <a:r>
              <a:rPr lang="en-US" sz="1700" dirty="0">
                <a:solidFill>
                  <a:srgbClr val="000000"/>
                </a:solidFill>
                <a:effectLst/>
              </a:rPr>
              <a:t> au test </a:t>
            </a:r>
            <a:r>
              <a:rPr lang="en-US" sz="1700" dirty="0" err="1">
                <a:solidFill>
                  <a:srgbClr val="000000"/>
                </a:solidFill>
                <a:effectLst/>
              </a:rPr>
              <a:t>sanguin</a:t>
            </a:r>
            <a:r>
              <a:rPr lang="en-US" sz="1700" dirty="0">
                <a:solidFill>
                  <a:srgbClr val="000000"/>
                </a:solidFill>
                <a:effectLst/>
              </a:rPr>
              <a:t> </a:t>
            </a:r>
            <a:r>
              <a:rPr lang="en-US" sz="1700" dirty="0" err="1">
                <a:solidFill>
                  <a:srgbClr val="000000"/>
                </a:solidFill>
                <a:effectLst/>
              </a:rPr>
              <a:t>mais</a:t>
            </a:r>
            <a:r>
              <a:rPr lang="en-US" sz="1700" dirty="0">
                <a:solidFill>
                  <a:srgbClr val="000000"/>
                </a:solidFill>
                <a:effectLst/>
              </a:rPr>
              <a:t> pas au test </a:t>
            </a:r>
            <a:r>
              <a:rPr lang="en-US" sz="1700" dirty="0" err="1">
                <a:solidFill>
                  <a:srgbClr val="000000"/>
                </a:solidFill>
                <a:effectLst/>
              </a:rPr>
              <a:t>d’haleine</a:t>
            </a:r>
            <a:r>
              <a:rPr lang="en-US" sz="1700" dirty="0">
                <a:solidFill>
                  <a:srgbClr val="000000"/>
                </a:solidFill>
                <a:effectLst/>
              </a:rPr>
              <a:t>? </a:t>
            </a:r>
          </a:p>
          <a:p>
            <a:pPr marL="342900" lvl="0" indent="-228600" defTabSz="914400">
              <a:lnSpc>
                <a:spcPct val="90000"/>
              </a:lnSpc>
              <a:spcBef>
                <a:spcPts val="600"/>
              </a:spcBef>
              <a:spcAft>
                <a:spcPts val="17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000000"/>
                </a:solidFill>
                <a:effectLst/>
              </a:rPr>
              <a:t>Ne </a:t>
            </a:r>
            <a:r>
              <a:rPr lang="en-US" sz="1700" dirty="0" err="1">
                <a:solidFill>
                  <a:srgbClr val="000000"/>
                </a:solidFill>
                <a:effectLst/>
              </a:rPr>
              <a:t>soit</a:t>
            </a:r>
            <a:r>
              <a:rPr lang="en-US" sz="1700" dirty="0">
                <a:solidFill>
                  <a:srgbClr val="000000"/>
                </a:solidFill>
                <a:effectLst/>
              </a:rPr>
              <a:t> </a:t>
            </a:r>
            <a:r>
              <a:rPr lang="en-US" sz="1700" dirty="0" err="1">
                <a:solidFill>
                  <a:srgbClr val="000000"/>
                </a:solidFill>
                <a:effectLst/>
              </a:rPr>
              <a:t>soumis</a:t>
            </a:r>
            <a:r>
              <a:rPr lang="en-US" sz="1700" dirty="0">
                <a:solidFill>
                  <a:srgbClr val="000000"/>
                </a:solidFill>
                <a:effectLst/>
              </a:rPr>
              <a:t> à </a:t>
            </a:r>
            <a:r>
              <a:rPr lang="en-US" sz="1700" dirty="0" err="1">
                <a:solidFill>
                  <a:srgbClr val="000000"/>
                </a:solidFill>
                <a:effectLst/>
              </a:rPr>
              <a:t>aucun</a:t>
            </a:r>
            <a:r>
              <a:rPr lang="en-US" sz="1700" dirty="0">
                <a:solidFill>
                  <a:srgbClr val="000000"/>
                </a:solidFill>
                <a:effectLst/>
              </a:rPr>
              <a:t> de </a:t>
            </a:r>
            <a:r>
              <a:rPr lang="en-US" sz="1700" dirty="0" err="1">
                <a:solidFill>
                  <a:srgbClr val="000000"/>
                </a:solidFill>
                <a:effectLst/>
              </a:rPr>
              <a:t>ces</a:t>
            </a:r>
            <a:r>
              <a:rPr lang="en-US" sz="1700" dirty="0">
                <a:solidFill>
                  <a:srgbClr val="000000"/>
                </a:solidFill>
                <a:effectLst/>
              </a:rPr>
              <a:t> deux tests? 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dirty="0">
              <a:solidFill>
                <a:srgbClr val="000000"/>
              </a:solidFill>
            </a:endParaRP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73C9C13-DF18-4189-BC11-B10084A14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661" y="6223702"/>
            <a:ext cx="6584750" cy="3140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/>
            <a:endParaRPr lang="en-US" sz="1000" kern="1200">
              <a:solidFill>
                <a:srgbClr val="898989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C8E73B2-2E6C-42F5-B6F8-27A957D78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5930" y="6223702"/>
            <a:ext cx="570728" cy="3140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26377AD9-CE17-438C-A638-C64D2D42D7CF}" type="slidenum">
              <a:rPr lang="en-US" sz="1000">
                <a:solidFill>
                  <a:srgbClr val="898989"/>
                </a:solidFill>
              </a:rPr>
              <a:pPr defTabSz="914400">
                <a:spcAft>
                  <a:spcPts val="600"/>
                </a:spcAft>
              </a:pPr>
              <a:t>14</a:t>
            </a:fld>
            <a:endParaRPr lang="en-US" sz="10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31182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17B4FCB-4D2E-4B74-BFC0-B8DD2AC0E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RÉPONSE:</a:t>
            </a:r>
          </a:p>
        </p:txBody>
      </p:sp>
      <p:sp>
        <p:nvSpPr>
          <p:cNvPr id="22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6FB37AC0-4EC9-4015-94A3-AF3D9B751764}"/>
                  </a:ext>
                </a:extLst>
              </p:cNvPr>
              <p:cNvSpPr txBox="1"/>
              <p:nvPr/>
            </p:nvSpPr>
            <p:spPr>
              <a:xfrm>
                <a:off x="4447308" y="591344"/>
                <a:ext cx="6906491" cy="558561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pPr indent="-228600" defTabSz="91440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</a:rPr>
                  <a:t>1</a:t>
                </a:r>
                <a:r>
                  <a:rPr lang="en-US" b="1" baseline="30000" dirty="0">
                    <a:effectLst/>
                  </a:rPr>
                  <a:t>ère</a:t>
                </a:r>
                <a:r>
                  <a:rPr lang="en-US" b="1" dirty="0">
                    <a:effectLst/>
                  </a:rPr>
                  <a:t> étape</a:t>
                </a:r>
                <a:r>
                  <a:rPr lang="en-US" dirty="0">
                    <a:effectLst/>
                  </a:rPr>
                  <a:t> : On </a:t>
                </a:r>
                <a:r>
                  <a:rPr lang="en-US" dirty="0" err="1">
                    <a:effectLst/>
                  </a:rPr>
                  <a:t>va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d’abord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définir</a:t>
                </a:r>
                <a:r>
                  <a:rPr lang="en-US" dirty="0">
                    <a:effectLst/>
                  </a:rPr>
                  <a:t> les événements, </a:t>
                </a:r>
                <a:r>
                  <a:rPr lang="en-US" dirty="0" err="1">
                    <a:effectLst/>
                  </a:rPr>
                  <a:t>Soit</a:t>
                </a:r>
                <a:r>
                  <a:rPr lang="en-US" dirty="0">
                    <a:effectLst/>
                  </a:rPr>
                  <a:t> A : </a:t>
                </a:r>
                <a:r>
                  <a:rPr lang="en-US" dirty="0" err="1">
                    <a:effectLst/>
                  </a:rPr>
                  <a:t>Avoir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eu</a:t>
                </a:r>
                <a:r>
                  <a:rPr lang="en-US" dirty="0">
                    <a:effectLst/>
                  </a:rPr>
                  <a:t> le test </a:t>
                </a:r>
                <a:r>
                  <a:rPr lang="en-US" dirty="0" err="1">
                    <a:effectLst/>
                  </a:rPr>
                  <a:t>d’haleine</a:t>
                </a:r>
                <a:r>
                  <a:rPr lang="en-US" dirty="0">
                    <a:effectLst/>
                  </a:rPr>
                  <a:t> et B : </a:t>
                </a:r>
                <a:r>
                  <a:rPr lang="en-US" dirty="0" err="1">
                    <a:effectLst/>
                  </a:rPr>
                  <a:t>Avoir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eu</a:t>
                </a:r>
                <a:r>
                  <a:rPr lang="en-US" dirty="0">
                    <a:effectLst/>
                  </a:rPr>
                  <a:t> le test </a:t>
                </a:r>
                <a:r>
                  <a:rPr lang="en-US" dirty="0" err="1">
                    <a:effectLst/>
                  </a:rPr>
                  <a:t>sanguin</a:t>
                </a:r>
                <a:r>
                  <a:rPr lang="en-US" dirty="0">
                    <a:effectLst/>
                  </a:rPr>
                  <a:t>.</a:t>
                </a:r>
              </a:p>
              <a:p>
                <a:pPr indent="-228600" defTabSz="91440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effectLst/>
                  </a:rPr>
                  <a:t>On a P(A)=0,76; P(B)=0,36 et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=0,21.</m:t>
                    </m:r>
                  </m:oMath>
                </a14:m>
                <a:r>
                  <a:rPr lang="en-US" dirty="0">
                    <a:effectLst/>
                  </a:rPr>
                  <a:t>  </a:t>
                </a:r>
              </a:p>
              <a:p>
                <a:pPr indent="-228600" defTabSz="91440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indent="-228600" defTabSz="91440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US" b="1" dirty="0"/>
                  <a:t>2</a:t>
                </a:r>
                <a:r>
                  <a:rPr lang="en-US" b="1" baseline="30000" dirty="0"/>
                  <a:t>ème</a:t>
                </a:r>
                <a:r>
                  <a:rPr lang="en-US" b="1" dirty="0"/>
                  <a:t> étape:  </a:t>
                </a:r>
                <a:r>
                  <a:rPr lang="en-US" dirty="0"/>
                  <a:t>On répond aux questions</a:t>
                </a:r>
              </a:p>
              <a:p>
                <a:pPr marL="342900" indent="-228600" defTabSz="91440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</a:rPr>
                  <a:t>=0,76+0,36-0,21=0,91.</a:t>
                </a:r>
              </a:p>
              <a:p>
                <a:pPr marL="342900" indent="-228600" defTabSz="91440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∩</m:t>
                        </m:r>
                        <m:sSup>
                          <m:sSup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=0,76−0,21=0,55</m:t>
                    </m:r>
                  </m:oMath>
                </a14:m>
                <a:endParaRPr lang="en-US" dirty="0"/>
              </a:p>
              <a:p>
                <a:pPr marL="342900" indent="-228600" defTabSz="91440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 </a:t>
                </a:r>
              </a:p>
              <a:p>
                <a:pPr indent="-228600" defTabSz="914400">
                  <a:lnSpc>
                    <a:spcPct val="90000"/>
                  </a:lnSpc>
                  <a:spcBef>
                    <a:spcPts val="600"/>
                  </a:spcBef>
                  <a:spcAft>
                    <a:spcPts val="17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effectLst/>
                  </a:rPr>
                  <a:t>on </a:t>
                </a:r>
                <a:r>
                  <a:rPr lang="en-US" dirty="0" err="1">
                    <a:effectLst/>
                  </a:rPr>
                  <a:t>veut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calculer</a:t>
                </a:r>
                <a:r>
                  <a:rPr lang="en-US" dirty="0">
                    <a:effectLst/>
                  </a:rPr>
                  <a:t> la probabilité </a:t>
                </a:r>
                <a:r>
                  <a:rPr lang="en-US" dirty="0" err="1">
                    <a:effectLst/>
                  </a:rPr>
                  <a:t>qu’un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conducteur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choisit</a:t>
                </a:r>
                <a:r>
                  <a:rPr lang="en-US" dirty="0">
                    <a:effectLst/>
                  </a:rPr>
                  <a:t> au </a:t>
                </a:r>
                <a:r>
                  <a:rPr lang="en-US" dirty="0" err="1">
                    <a:effectLst/>
                  </a:rPr>
                  <a:t>hasard</a:t>
                </a:r>
                <a:r>
                  <a:rPr lang="en-US" dirty="0">
                    <a:effectLst/>
                  </a:rPr>
                  <a:t> ne </a:t>
                </a:r>
                <a:r>
                  <a:rPr lang="en-US" dirty="0" err="1">
                    <a:effectLst/>
                  </a:rPr>
                  <a:t>soit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soumis</a:t>
                </a:r>
                <a:r>
                  <a:rPr lang="en-US" dirty="0">
                    <a:effectLst/>
                  </a:rPr>
                  <a:t> à </a:t>
                </a:r>
                <a:r>
                  <a:rPr lang="en-US" dirty="0" err="1">
                    <a:effectLst/>
                  </a:rPr>
                  <a:t>aucun</a:t>
                </a:r>
                <a:r>
                  <a:rPr lang="en-US" dirty="0">
                    <a:effectLst/>
                  </a:rPr>
                  <a:t> de </a:t>
                </a:r>
                <a:r>
                  <a:rPr lang="en-US" dirty="0" err="1">
                    <a:effectLst/>
                  </a:rPr>
                  <a:t>ces</a:t>
                </a:r>
                <a:r>
                  <a:rPr lang="en-US" dirty="0">
                    <a:effectLst/>
                  </a:rPr>
                  <a:t> deux tests; </a:t>
                </a:r>
                <a:r>
                  <a:rPr lang="en-US" dirty="0" err="1">
                    <a:effectLst/>
                  </a:rPr>
                  <a:t>cette</a:t>
                </a:r>
                <a:r>
                  <a:rPr lang="en-US" dirty="0">
                    <a:effectLst/>
                  </a:rPr>
                  <a:t> probabilité </a:t>
                </a:r>
                <a:r>
                  <a:rPr lang="en-US" dirty="0" err="1">
                    <a:effectLst/>
                  </a:rPr>
                  <a:t>est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égale</a:t>
                </a:r>
                <a:r>
                  <a:rPr lang="en-US" dirty="0">
                    <a:effectLst/>
                  </a:rPr>
                  <a:t> à :</a:t>
                </a:r>
              </a:p>
              <a:p>
                <a:pPr indent="-228600" defTabSz="914400">
                  <a:lnSpc>
                    <a:spcPct val="90000"/>
                  </a:lnSpc>
                  <a:spcBef>
                    <a:spcPts val="600"/>
                  </a:spcBef>
                  <a:spcAft>
                    <a:spcPts val="17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  <m:t>∩</m:t>
                        </m:r>
                        <m:sSup>
                          <m:sSup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</a:rPr>
                      <m:t>=0,09 </m:t>
                    </m:r>
                  </m:oMath>
                </a14:m>
                <a:r>
                  <a:rPr lang="en-US" dirty="0">
                    <a:effectLst/>
                  </a:rPr>
                  <a:t> donc la probabilité de la </a:t>
                </a:r>
                <a:r>
                  <a:rPr lang="en-US" dirty="0" err="1">
                    <a:effectLst/>
                  </a:rPr>
                  <a:t>partie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extérieure</a:t>
                </a:r>
                <a:r>
                  <a:rPr lang="en-US" dirty="0">
                    <a:effectLst/>
                  </a:rPr>
                  <a:t> aux deux événements.</a:t>
                </a:r>
              </a:p>
              <a:p>
                <a:pPr marL="342900" indent="-228600" defTabSz="914400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6FB37AC0-4EC9-4015-94A3-AF3D9B751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308" y="591344"/>
                <a:ext cx="6906491" cy="5585619"/>
              </a:xfrm>
              <a:prstGeom prst="rect">
                <a:avLst/>
              </a:prstGeom>
              <a:blipFill>
                <a:blip r:embed="rId2"/>
                <a:stretch>
                  <a:fillRect l="-795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CE09F34-B1FB-4B88-9D27-B139649F3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525117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endParaRPr lang="en-US" sz="1200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A36D06-F5FA-42B6-BC14-3711F6279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41564" y="6356350"/>
            <a:ext cx="181223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26377AD9-CE17-438C-A638-C64D2D42D7CF}" type="slidenum">
              <a:rPr lang="en-US" smtClean="0"/>
              <a:pPr defTabSz="914400"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799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AA16612-ACD2-4A16-8F2B-4514FD6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E3B69C6-396E-4D79-A91C-72D43DF7D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EXEMPLE 2: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AD3BA15-A13D-481C-92F2-4447316086C1}"/>
              </a:ext>
            </a:extLst>
          </p:cNvPr>
          <p:cNvSpPr txBox="1"/>
          <p:nvPr/>
        </p:nvSpPr>
        <p:spPr>
          <a:xfrm>
            <a:off x="1179226" y="3092970"/>
            <a:ext cx="9833548" cy="2693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  <a:effectLst/>
              </a:rPr>
              <a:t>Soit</a:t>
            </a:r>
            <a:r>
              <a:rPr lang="en-US" sz="2000" dirty="0">
                <a:solidFill>
                  <a:srgbClr val="000000"/>
                </a:solidFill>
                <a:effectLst/>
              </a:rPr>
              <a:t> la population </a:t>
            </a:r>
            <a:r>
              <a:rPr lang="en-US" sz="2000" dirty="0" err="1">
                <a:solidFill>
                  <a:srgbClr val="000000"/>
                </a:solidFill>
                <a:effectLst/>
              </a:rPr>
              <a:t>d’une</a:t>
            </a:r>
            <a:r>
              <a:rPr lang="en-US" sz="2000" dirty="0">
                <a:solidFill>
                  <a:srgbClr val="000000"/>
                </a:solidFill>
                <a:effectLst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</a:rPr>
              <a:t>grande</a:t>
            </a:r>
            <a:r>
              <a:rPr lang="en-US" sz="2000" dirty="0">
                <a:solidFill>
                  <a:srgbClr val="000000"/>
                </a:solidFill>
                <a:effectLst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</a:rPr>
              <a:t>ville</a:t>
            </a:r>
            <a:r>
              <a:rPr lang="en-US" sz="2000" dirty="0">
                <a:solidFill>
                  <a:srgbClr val="000000"/>
                </a:solidFill>
                <a:effectLst/>
              </a:rPr>
              <a:t>, </a:t>
            </a:r>
            <a:r>
              <a:rPr lang="en-US" sz="2000" dirty="0" err="1">
                <a:solidFill>
                  <a:srgbClr val="000000"/>
                </a:solidFill>
                <a:effectLst/>
              </a:rPr>
              <a:t>dont</a:t>
            </a:r>
            <a:r>
              <a:rPr lang="en-US" sz="2000" dirty="0">
                <a:solidFill>
                  <a:srgbClr val="000000"/>
                </a:solidFill>
                <a:effectLst/>
              </a:rPr>
              <a:t> 17 % des habitants lisent le journal</a:t>
            </a:r>
            <a:r>
              <a:rPr lang="en-US" sz="2000" i="1" dirty="0">
                <a:solidFill>
                  <a:srgbClr val="000000"/>
                </a:solidFill>
                <a:effectLst/>
              </a:rPr>
              <a:t> A,</a:t>
            </a:r>
            <a:r>
              <a:rPr lang="en-US" sz="2000" dirty="0">
                <a:solidFill>
                  <a:srgbClr val="000000"/>
                </a:solidFill>
                <a:effectLst/>
              </a:rPr>
              <a:t> 35 % lisent le journal</a:t>
            </a:r>
            <a:r>
              <a:rPr lang="en-US" sz="2000" i="1" dirty="0">
                <a:solidFill>
                  <a:srgbClr val="000000"/>
                </a:solidFill>
                <a:effectLst/>
              </a:rPr>
              <a:t> B,</a:t>
            </a:r>
            <a:r>
              <a:rPr lang="en-US" sz="2000" dirty="0">
                <a:solidFill>
                  <a:srgbClr val="000000"/>
                </a:solidFill>
                <a:effectLst/>
              </a:rPr>
              <a:t> 27 %, le journal</a:t>
            </a:r>
            <a:r>
              <a:rPr lang="en-US" sz="2000" i="1" dirty="0">
                <a:solidFill>
                  <a:srgbClr val="000000"/>
                </a:solidFill>
                <a:effectLst/>
              </a:rPr>
              <a:t> C,</a:t>
            </a:r>
            <a:r>
              <a:rPr lang="en-US" sz="2000" dirty="0">
                <a:solidFill>
                  <a:srgbClr val="000000"/>
                </a:solidFill>
                <a:effectLst/>
              </a:rPr>
              <a:t> 10 %, les journaux</a:t>
            </a:r>
            <a:r>
              <a:rPr lang="en-US" sz="2000" i="1" dirty="0">
                <a:solidFill>
                  <a:srgbClr val="000000"/>
                </a:solidFill>
                <a:effectLst/>
              </a:rPr>
              <a:t> A </a:t>
            </a:r>
            <a:r>
              <a:rPr lang="en-US" sz="2000" dirty="0">
                <a:solidFill>
                  <a:srgbClr val="000000"/>
                </a:solidFill>
                <a:effectLst/>
              </a:rPr>
              <a:t>et</a:t>
            </a:r>
            <a:r>
              <a:rPr lang="en-US" sz="2000" i="1" dirty="0">
                <a:solidFill>
                  <a:srgbClr val="000000"/>
                </a:solidFill>
                <a:effectLst/>
              </a:rPr>
              <a:t> B,</a:t>
            </a:r>
            <a:r>
              <a:rPr lang="en-US" sz="2000" dirty="0">
                <a:solidFill>
                  <a:srgbClr val="000000"/>
                </a:solidFill>
                <a:effectLst/>
              </a:rPr>
              <a:t> 12 %, les journaux</a:t>
            </a:r>
            <a:r>
              <a:rPr lang="en-US" sz="2000" i="1" dirty="0">
                <a:solidFill>
                  <a:srgbClr val="000000"/>
                </a:solidFill>
                <a:effectLst/>
              </a:rPr>
              <a:t> B </a:t>
            </a:r>
            <a:r>
              <a:rPr lang="en-US" sz="2000" dirty="0">
                <a:solidFill>
                  <a:srgbClr val="000000"/>
                </a:solidFill>
                <a:effectLst/>
              </a:rPr>
              <a:t>et</a:t>
            </a:r>
            <a:r>
              <a:rPr lang="en-US" sz="2000" i="1" dirty="0">
                <a:solidFill>
                  <a:srgbClr val="000000"/>
                </a:solidFill>
                <a:effectLst/>
              </a:rPr>
              <a:t> C,</a:t>
            </a:r>
            <a:r>
              <a:rPr lang="en-US" sz="2000" dirty="0">
                <a:solidFill>
                  <a:srgbClr val="000000"/>
                </a:solidFill>
                <a:effectLst/>
              </a:rPr>
              <a:t> 8 %, les journaux</a:t>
            </a:r>
            <a:r>
              <a:rPr lang="en-US" sz="2000" i="1" dirty="0">
                <a:solidFill>
                  <a:srgbClr val="000000"/>
                </a:solidFill>
                <a:effectLst/>
              </a:rPr>
              <a:t> A </a:t>
            </a:r>
            <a:r>
              <a:rPr lang="en-US" sz="2000" dirty="0">
                <a:solidFill>
                  <a:srgbClr val="000000"/>
                </a:solidFill>
                <a:effectLst/>
              </a:rPr>
              <a:t>et</a:t>
            </a:r>
            <a:r>
              <a:rPr lang="en-US" sz="2000" i="1" dirty="0">
                <a:solidFill>
                  <a:srgbClr val="000000"/>
                </a:solidFill>
                <a:effectLst/>
              </a:rPr>
              <a:t> C, </a:t>
            </a:r>
            <a:r>
              <a:rPr lang="en-US" sz="2000" dirty="0">
                <a:solidFill>
                  <a:srgbClr val="000000"/>
                </a:solidFill>
                <a:effectLst/>
              </a:rPr>
              <a:t>et 2 %, les journaux </a:t>
            </a:r>
            <a:r>
              <a:rPr lang="en-US" sz="2000" i="1" dirty="0">
                <a:solidFill>
                  <a:srgbClr val="000000"/>
                </a:solidFill>
                <a:effectLst/>
              </a:rPr>
              <a:t>A</a:t>
            </a:r>
            <a:r>
              <a:rPr lang="en-US" sz="2000" dirty="0">
                <a:solidFill>
                  <a:srgbClr val="000000"/>
                </a:solidFill>
                <a:effectLst/>
              </a:rPr>
              <a:t>, </a:t>
            </a:r>
            <a:r>
              <a:rPr lang="en-US" sz="2000" i="1" dirty="0">
                <a:solidFill>
                  <a:srgbClr val="000000"/>
                </a:solidFill>
                <a:effectLst/>
              </a:rPr>
              <a:t>B</a:t>
            </a:r>
            <a:r>
              <a:rPr lang="en-US" sz="2000" dirty="0">
                <a:solidFill>
                  <a:srgbClr val="000000"/>
                </a:solidFill>
                <a:effectLst/>
              </a:rPr>
              <a:t> et </a:t>
            </a:r>
            <a:r>
              <a:rPr lang="en-US" sz="2000" i="1" dirty="0">
                <a:solidFill>
                  <a:srgbClr val="000000"/>
                </a:solidFill>
                <a:effectLst/>
              </a:rPr>
              <a:t>C</a:t>
            </a:r>
            <a:r>
              <a:rPr lang="en-US" sz="2000" dirty="0">
                <a:solidFill>
                  <a:srgbClr val="000000"/>
                </a:solidFill>
                <a:effectLst/>
              </a:rPr>
              <a:t>.</a:t>
            </a:r>
          </a:p>
          <a:p>
            <a:pPr marL="228600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</a:rPr>
              <a:t>a)	Quelle </a:t>
            </a:r>
            <a:r>
              <a:rPr lang="en-US" sz="2000" dirty="0" err="1">
                <a:solidFill>
                  <a:srgbClr val="000000"/>
                </a:solidFill>
                <a:effectLst/>
              </a:rPr>
              <a:t>est</a:t>
            </a:r>
            <a:r>
              <a:rPr lang="en-US" sz="2000" dirty="0">
                <a:solidFill>
                  <a:srgbClr val="000000"/>
                </a:solidFill>
                <a:effectLst/>
              </a:rPr>
              <a:t> la proportion des habitants de </a:t>
            </a:r>
            <a:r>
              <a:rPr lang="en-US" sz="2000" dirty="0" err="1">
                <a:solidFill>
                  <a:srgbClr val="000000"/>
                </a:solidFill>
                <a:effectLst/>
              </a:rPr>
              <a:t>cette</a:t>
            </a:r>
            <a:r>
              <a:rPr lang="en-US" sz="2000" dirty="0">
                <a:solidFill>
                  <a:srgbClr val="000000"/>
                </a:solidFill>
                <a:effectLst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</a:rPr>
              <a:t>ville</a:t>
            </a:r>
            <a:r>
              <a:rPr lang="en-US" sz="2000" dirty="0">
                <a:solidFill>
                  <a:srgbClr val="000000"/>
                </a:solidFill>
                <a:effectLst/>
              </a:rPr>
              <a:t> qui lisent au moins un de </a:t>
            </a:r>
            <a:r>
              <a:rPr lang="en-US" sz="2000" dirty="0" err="1">
                <a:solidFill>
                  <a:srgbClr val="000000"/>
                </a:solidFill>
                <a:effectLst/>
              </a:rPr>
              <a:t>ces</a:t>
            </a:r>
            <a:r>
              <a:rPr lang="en-US" sz="2000" dirty="0">
                <a:solidFill>
                  <a:srgbClr val="000000"/>
                </a:solidFill>
                <a:effectLst/>
              </a:rPr>
              <a:t> trois journaux ?</a:t>
            </a:r>
          </a:p>
          <a:p>
            <a:pPr marL="228600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</a:rPr>
              <a:t>b)	Quelle </a:t>
            </a:r>
            <a:r>
              <a:rPr lang="en-US" sz="2000" dirty="0" err="1">
                <a:solidFill>
                  <a:srgbClr val="000000"/>
                </a:solidFill>
                <a:effectLst/>
              </a:rPr>
              <a:t>est</a:t>
            </a:r>
            <a:r>
              <a:rPr lang="en-US" sz="2000" dirty="0">
                <a:solidFill>
                  <a:srgbClr val="000000"/>
                </a:solidFill>
                <a:effectLst/>
              </a:rPr>
              <a:t> la proportion des habitants de </a:t>
            </a:r>
            <a:r>
              <a:rPr lang="en-US" sz="2000" dirty="0" err="1">
                <a:solidFill>
                  <a:srgbClr val="000000"/>
                </a:solidFill>
                <a:effectLst/>
              </a:rPr>
              <a:t>cette</a:t>
            </a:r>
            <a:r>
              <a:rPr lang="en-US" sz="2000" dirty="0">
                <a:solidFill>
                  <a:srgbClr val="000000"/>
                </a:solidFill>
                <a:effectLst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</a:rPr>
              <a:t>ville</a:t>
            </a:r>
            <a:r>
              <a:rPr lang="en-US" sz="2000" dirty="0">
                <a:solidFill>
                  <a:srgbClr val="000000"/>
                </a:solidFill>
                <a:effectLst/>
              </a:rPr>
              <a:t> qui lisent les journaux </a:t>
            </a:r>
            <a:r>
              <a:rPr lang="en-US" sz="2000" i="1" dirty="0">
                <a:solidFill>
                  <a:srgbClr val="000000"/>
                </a:solidFill>
                <a:effectLst/>
              </a:rPr>
              <a:t>B </a:t>
            </a:r>
            <a:r>
              <a:rPr lang="en-US" sz="2000" dirty="0" err="1">
                <a:solidFill>
                  <a:srgbClr val="000000"/>
                </a:solidFill>
                <a:effectLst/>
              </a:rPr>
              <a:t>ou</a:t>
            </a:r>
            <a:r>
              <a:rPr lang="en-US" sz="2000" dirty="0">
                <a:solidFill>
                  <a:srgbClr val="000000"/>
                </a:solidFill>
                <a:effectLst/>
              </a:rPr>
              <a:t> </a:t>
            </a:r>
            <a:r>
              <a:rPr lang="en-US" sz="2000" i="1" dirty="0">
                <a:solidFill>
                  <a:srgbClr val="000000"/>
                </a:solidFill>
                <a:effectLst/>
              </a:rPr>
              <a:t>C</a:t>
            </a:r>
            <a:r>
              <a:rPr lang="en-US" sz="2000" dirty="0">
                <a:solidFill>
                  <a:srgbClr val="000000"/>
                </a:solidFill>
                <a:effectLst/>
              </a:rPr>
              <a:t>, </a:t>
            </a:r>
            <a:r>
              <a:rPr lang="en-US" sz="2000" dirty="0" err="1">
                <a:solidFill>
                  <a:srgbClr val="000000"/>
                </a:solidFill>
                <a:effectLst/>
              </a:rPr>
              <a:t>mais</a:t>
            </a:r>
            <a:r>
              <a:rPr lang="en-US" sz="2000" dirty="0">
                <a:solidFill>
                  <a:srgbClr val="000000"/>
                </a:solidFill>
                <a:effectLst/>
              </a:rPr>
              <a:t> pas le journal</a:t>
            </a:r>
            <a:r>
              <a:rPr lang="en-US" sz="2000" i="1" dirty="0">
                <a:solidFill>
                  <a:srgbClr val="000000"/>
                </a:solidFill>
                <a:effectLst/>
              </a:rPr>
              <a:t> A ?</a:t>
            </a:r>
            <a:endParaRPr lang="en-US" sz="2000" dirty="0">
              <a:solidFill>
                <a:srgbClr val="000000"/>
              </a:solidFill>
              <a:effectLst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6307D61-A9F3-4FEB-B773-D61EC77DF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5661" y="6223702"/>
            <a:ext cx="6584750" cy="3140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/>
            <a:endParaRPr lang="en-US" sz="1000" kern="1200">
              <a:solidFill>
                <a:srgbClr val="898989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BDF5E4-3CE2-4F76-828B-D10A27419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5930" y="6223702"/>
            <a:ext cx="570728" cy="3140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26377AD9-CE17-438C-A638-C64D2D42D7CF}" type="slidenum">
              <a:rPr lang="en-US" sz="1000">
                <a:solidFill>
                  <a:srgbClr val="898989"/>
                </a:solidFill>
              </a:rPr>
              <a:pPr defTabSz="914400">
                <a:spcAft>
                  <a:spcPts val="600"/>
                </a:spcAft>
              </a:pPr>
              <a:t>16</a:t>
            </a:fld>
            <a:endParaRPr lang="en-US" sz="10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551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2A53A39-C268-4204-8EA6-4041A4A33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RÉPONSE: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BB2F8A10-A892-4E00-83A3-F3EA0BAA7195}"/>
                  </a:ext>
                </a:extLst>
              </p:cNvPr>
              <p:cNvSpPr txBox="1"/>
              <p:nvPr/>
            </p:nvSpPr>
            <p:spPr>
              <a:xfrm>
                <a:off x="4447308" y="591344"/>
                <a:ext cx="6906491" cy="558561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pPr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b="1" dirty="0"/>
                  <a:t>1</a:t>
                </a:r>
                <a:r>
                  <a:rPr lang="en-US" b="1" baseline="30000" dirty="0"/>
                  <a:t>ère</a:t>
                </a:r>
                <a:r>
                  <a:rPr lang="en-US" b="1" dirty="0"/>
                  <a:t> étape</a:t>
                </a:r>
                <a:r>
                  <a:rPr lang="en-US" dirty="0"/>
                  <a:t>: On pose les données.</a:t>
                </a:r>
              </a:p>
              <a:p>
                <a:pPr defTabSz="914400">
                  <a:lnSpc>
                    <a:spcPct val="9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=0,17    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=0,35    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=0,27 ;  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0,10  ; </a:t>
                </a:r>
              </a:p>
              <a:p>
                <a:pPr defTabSz="914400"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dirty="0"/>
                  <a:t>P(B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)=0,12  ;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)=0,08</m:t>
                    </m:r>
                    <m:r>
                      <a:rPr lang="fr-CA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CA" b="0" i="0" smtClean="0">
                        <a:latin typeface="Cambria Math" panose="02040503050406030204" pitchFamily="18" charset="0"/>
                      </a:rPr>
                      <m:t>et</m:t>
                    </m:r>
                    <m:r>
                      <a:rPr lang="fr-CA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=0,02</m:t>
                    </m:r>
                  </m:oMath>
                </a14:m>
                <a:endParaRPr lang="en-US" dirty="0"/>
              </a:p>
              <a:p>
                <a:pPr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b="1" dirty="0"/>
                  <a:t>2</a:t>
                </a:r>
                <a:r>
                  <a:rPr lang="en-US" b="1" baseline="30000" dirty="0"/>
                  <a:t>ème</a:t>
                </a:r>
                <a:r>
                  <a:rPr lang="en-US" b="1" dirty="0"/>
                  <a:t> étape: </a:t>
                </a:r>
                <a:r>
                  <a:rPr lang="en-US" dirty="0"/>
                  <a:t>On répond aux questions.</a:t>
                </a:r>
              </a:p>
              <a:p>
                <a:pPr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b="0" dirty="0"/>
              </a:p>
              <a:p>
                <a:pPr defTabSz="914400">
                  <a:lnSpc>
                    <a:spcPct val="9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latin typeface="Cambria Math" panose="02040503050406030204" pitchFamily="18" charset="0"/>
                        </a:rPr>
                        <m:t>0,17+0,35+0,27−0,10−0,12−0,08+0,02=0,51=51%</m:t>
                      </m:r>
                    </m:oMath>
                  </m:oMathPara>
                </a14:m>
                <a:endParaRPr lang="en-US" dirty="0"/>
              </a:p>
              <a:p>
                <a:pPr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dirty="0"/>
                  <a:t>(b)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∩</m:t>
                        </m:r>
                        <m:sSup>
                          <m:sSup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defTabSz="914400"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dirty="0"/>
                  <a:t>ce sont donc ceux qui lisent au moins un des trois journaux moins ceux qui lisent le journal </a:t>
                </a:r>
                <a:r>
                  <a:rPr lang="en-US" i="1" dirty="0"/>
                  <a:t>A</a:t>
                </a:r>
                <a:r>
                  <a:rPr lang="en-US" dirty="0"/>
                  <a:t>, ce qui fait 51 % − 17 % = 34 %.</a:t>
                </a:r>
              </a:p>
              <a:p>
                <a:pPr indent="-228600" defTabSz="9144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BB2F8A10-A892-4E00-83A3-F3EA0BAA71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308" y="591344"/>
                <a:ext cx="6906491" cy="5585619"/>
              </a:xfrm>
              <a:prstGeom prst="rect">
                <a:avLst/>
              </a:prstGeom>
              <a:blipFill>
                <a:blip r:embed="rId2"/>
                <a:stretch>
                  <a:fillRect l="-795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AF506FD-E069-462D-ABEC-9EAB7CB39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525117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endParaRPr lang="en-US" sz="1200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1EB2B7-2996-48B7-A70F-C8A4FF398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41564" y="6356350"/>
            <a:ext cx="181223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26377AD9-CE17-438C-A638-C64D2D42D7CF}" type="slidenum">
              <a:rPr lang="en-US" smtClean="0"/>
              <a:pPr defTabSz="914400">
                <a:spcAft>
                  <a:spcPts val="600"/>
                </a:spcAft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972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645A9DEB-6D73-454A-A03C-604366C6DE1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-378824"/>
                <a:ext cx="10369731" cy="6544493"/>
              </a:xfrm>
            </p:spPr>
            <p:txBody>
              <a:bodyPr>
                <a:normAutofit/>
              </a:bodyPr>
              <a:lstStyle/>
              <a:p>
                <a:pPr marL="685800" indent="-228600" algn="l">
                  <a:lnSpc>
                    <a:spcPct val="150000"/>
                  </a:lnSpc>
                  <a:spcAft>
                    <a:spcPts val="300"/>
                  </a:spcAft>
                  <a:tabLst>
                    <a:tab pos="266700" algn="r"/>
                    <a:tab pos="449580" algn="l"/>
                  </a:tabLst>
                </a:pPr>
                <a:r>
                  <a:rPr lang="fr-CA" dirty="0"/>
                  <a:t>EXERCICE 1: 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On lance une pièce de monnaie trois fois et on note le côté obtenu à chaque lancer.</a:t>
                </a:r>
                <a:br>
                  <a:rPr lang="fr-CA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</a:b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a)	Décrivez en extension l’espace </a:t>
                </a:r>
                <a:r>
                  <a:rPr lang="fr-FR" sz="18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échantillonnal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br>
                  <a:rPr lang="fr-CA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</a:b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b)	Décrivez en extension les événements suivants et calculez leur probabilité.</a:t>
                </a:r>
                <a:br>
                  <a:rPr lang="fr-CA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</a:b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: Obtenir exactement deux piles</a:t>
                </a:r>
                <a:br>
                  <a:rPr lang="fr-CA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</a:b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: N’obtenir que des faces.</a:t>
                </a:r>
                <a:b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</a:b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: Obtenir plus de piles que de faces</a:t>
                </a:r>
                <a:br>
                  <a:rPr lang="fr-CA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</a:br>
                <a:r>
                  <a:rPr lang="fr-FR" sz="1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 :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Obtenir autant de piles que de faces</a:t>
                </a:r>
                <a:r>
                  <a:rPr lang="fr-CA" sz="1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  <a:br>
                  <a:rPr lang="fr-CA" sz="1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</a:br>
                <a:br>
                  <a:rPr lang="fr-CA" sz="1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</a:br>
                <a:r>
                  <a:rPr lang="fr-CA" sz="1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(a) </a:t>
                </a:r>
                <a14:m>
                  <m:oMath xmlns:m="http://schemas.openxmlformats.org/officeDocument/2006/math">
                    <m:r>
                      <a:rPr lang="fr-CA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𝑆</m:t>
                    </m:r>
                    <m:r>
                      <a:rPr lang="fr-CA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fr-CA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𝑓𝑓𝑓</m:t>
                        </m:r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𝑓𝑓𝑝</m:t>
                        </m:r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𝑓𝑝𝑓</m:t>
                        </m:r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𝑝𝑓𝑓</m:t>
                        </m:r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𝑓𝑝𝑝</m:t>
                        </m:r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𝑝𝑓𝑝</m:t>
                        </m:r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𝑝𝑝𝑓</m:t>
                        </m:r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𝑝𝑝𝑝</m:t>
                        </m:r>
                      </m:e>
                    </m:d>
                  </m:oMath>
                </a14:m>
                <a:br>
                  <a:rPr lang="fr-CA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</a:br>
                <a:r>
                  <a:rPr lang="fr-CA" sz="1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(b) </a:t>
                </a:r>
                <a14:m>
                  <m:oMath xmlns:m="http://schemas.openxmlformats.org/officeDocument/2006/math">
                    <m:r>
                      <a:rPr lang="fr-CA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𝐴</m:t>
                    </m:r>
                    <m:r>
                      <a:rPr lang="fr-CA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fr-CA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𝑓𝑝𝑝</m:t>
                        </m:r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𝑝𝑓𝑝</m:t>
                        </m:r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𝑝𝑝𝑓</m:t>
                        </m:r>
                      </m:e>
                    </m:d>
                  </m:oMath>
                </a14:m>
                <a:r>
                  <a:rPr lang="fr-CA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;   </a:t>
                </a:r>
                <a14:m>
                  <m:oMath xmlns:m="http://schemas.openxmlformats.org/officeDocument/2006/math"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𝐵</m:t>
                    </m:r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𝑓𝑓𝑓</m:t>
                        </m:r>
                      </m:e>
                    </m:d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    ;  </m:t>
                    </m:r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𝐶</m:t>
                    </m:r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𝑓𝑝𝑝</m:t>
                        </m:r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𝑝𝑓𝑝</m:t>
                        </m:r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𝑝𝑝𝑓</m:t>
                        </m:r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𝑝𝑝𝑝</m:t>
                        </m:r>
                      </m:e>
                    </m:d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;      </m:t>
                    </m:r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𝐷</m:t>
                    </m:r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𝑖𝑚𝑝𝑜𝑠𝑠𝑖𝑏𝑙𝑒</m:t>
                    </m:r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br>
                  <a:rPr lang="fr-CA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</a:br>
                <a:br>
                  <a:rPr lang="fr-CA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</a:br>
                <a:endParaRPr lang="fr-CA" dirty="0"/>
              </a:p>
            </p:txBody>
          </p:sp>
        </mc:Choice>
        <mc:Fallback xmlns="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645A9DEB-6D73-454A-A03C-604366C6DE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-378824"/>
                <a:ext cx="10369731" cy="6544493"/>
              </a:xfrm>
              <a:blipFill>
                <a:blip r:embed="rId2"/>
                <a:stretch>
                  <a:fillRect r="-705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69B6947-E0A6-42E6-9623-5720E82E3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C1D3532-A9DC-4F6A-88D9-43A950091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54134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7895A40-19A4-42D6-9D30-DBC1E8002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11067024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691B040A-A476-4C70-83DE-EE1A987D5D1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987689" y="857157"/>
                <a:ext cx="9910296" cy="4804054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/>
                <a:r>
                  <a:rPr lang="en-US" sz="2800" b="1" kern="1200" dirty="0">
                    <a:solidFill>
                      <a:schemeClr val="tx1"/>
                    </a:solidFill>
                    <a:ea typeface="+mj-ea"/>
                    <a:cs typeface="+mj-cs"/>
                  </a:rPr>
                  <a:t>EXERCICE 2:</a:t>
                </a:r>
                <a:r>
                  <a:rPr lang="en-US" sz="2800" kern="1200" dirty="0">
                    <a:solidFill>
                      <a:schemeClr val="tx1"/>
                    </a:solidFill>
                    <a:ea typeface="+mj-ea"/>
                    <a:cs typeface="+mj-cs"/>
                  </a:rPr>
                  <a:t> Soient 2 événements tels que:</a:t>
                </a:r>
                <a:br>
                  <a:rPr lang="en-US" sz="2800" kern="1200" dirty="0">
                    <a:solidFill>
                      <a:schemeClr val="tx1"/>
                    </a:solidFill>
                    <a:ea typeface="+mj-ea"/>
                    <a:cs typeface="+mj-cs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𝑃</m:t>
                      </m:r>
                      <m:d>
                        <m:dPr>
                          <m:ctrlPr>
                            <a:rPr lang="en-US" sz="28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</m:ctrlPr>
                        </m:dPr>
                        <m:e>
                          <m:r>
                            <a:rPr lang="en-US" sz="28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  <m:t>𝐴</m:t>
                          </m:r>
                        </m:e>
                      </m:d>
                      <m:r>
                        <a:rPr lang="en-US" sz="28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=0,5 ;  </m:t>
                      </m:r>
                      <m:r>
                        <a:rPr lang="en-US" sz="28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𝑃</m:t>
                      </m:r>
                      <m:d>
                        <m:dPr>
                          <m:ctrlPr>
                            <a:rPr lang="en-US" sz="28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</m:ctrlPr>
                        </m:dPr>
                        <m:e>
                          <m:r>
                            <a:rPr lang="en-US" sz="28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  <m:t>𝐵</m:t>
                          </m:r>
                        </m:e>
                      </m:d>
                      <m:r>
                        <a:rPr lang="en-US" sz="28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=0,6   </m:t>
                      </m:r>
                      <m:r>
                        <a:rPr lang="en-US" sz="28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𝑒𝑡</m:t>
                      </m:r>
                      <m:r>
                        <a:rPr lang="en-US" sz="28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 </m:t>
                      </m:r>
                      <m:r>
                        <a:rPr lang="en-US" sz="28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𝑃</m:t>
                      </m:r>
                      <m:d>
                        <m:dPr>
                          <m:ctrlPr>
                            <a:rPr lang="en-US" sz="28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</m:ctrlPr>
                        </m:dPr>
                        <m:e>
                          <m:r>
                            <a:rPr lang="en-US" sz="28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  <m:t>𝐴</m:t>
                          </m:r>
                          <m:r>
                            <a:rPr lang="en-US" sz="28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  <m:t>∪</m:t>
                          </m:r>
                          <m:r>
                            <a:rPr lang="en-US" sz="28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  <m:t>𝐵</m:t>
                          </m:r>
                        </m:e>
                      </m:d>
                      <m:r>
                        <a:rPr lang="en-US" sz="28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=0,87 </m:t>
                      </m:r>
                    </m:oMath>
                  </m:oMathPara>
                </a14:m>
                <a:br>
                  <a:rPr lang="en-US" sz="2800" b="0" i="1" kern="1200" dirty="0">
                    <a:solidFill>
                      <a:schemeClr val="tx1"/>
                    </a:solidFill>
                    <a:ea typeface="+mj-ea"/>
                    <a:cs typeface="+mj-cs"/>
                  </a:rPr>
                </a:br>
                <a:r>
                  <a:rPr lang="en-US" sz="2800" i="1" kern="1200" dirty="0">
                    <a:solidFill>
                      <a:schemeClr val="tx1"/>
                    </a:solidFill>
                    <a:ea typeface="+mj-ea"/>
                    <a:cs typeface="+mj-cs"/>
                  </a:rPr>
                  <a:t>(a) Déterminer </a:t>
                </a:r>
                <a14:m>
                  <m:oMath xmlns:m="http://schemas.openxmlformats.org/officeDocument/2006/math">
                    <m:r>
                      <a:rPr lang="en-US" sz="2800" b="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𝑃</m:t>
                    </m:r>
                    <m:d>
                      <m:dPr>
                        <m:ctrlPr>
                          <a:rPr lang="en-US" sz="28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</m:ctrlPr>
                      </m:dPr>
                      <m:e>
                        <m:r>
                          <a:rPr lang="en-US" sz="28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𝐴</m:t>
                        </m:r>
                        <m:r>
                          <a:rPr lang="en-US" sz="28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∩</m:t>
                        </m:r>
                        <m:r>
                          <a:rPr lang="en-US" sz="28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𝐵</m:t>
                        </m:r>
                      </m:e>
                    </m:d>
                  </m:oMath>
                </a14:m>
                <a:br>
                  <a:rPr lang="en-US" sz="2800" b="0" i="1" kern="1200" dirty="0">
                    <a:solidFill>
                      <a:schemeClr val="tx1"/>
                    </a:solidFill>
                    <a:ea typeface="+mj-ea"/>
                    <a:cs typeface="+mj-cs"/>
                  </a:rPr>
                </a:br>
                <a:r>
                  <a:rPr lang="en-US" sz="2800" b="0" i="1" kern="1200" dirty="0">
                    <a:solidFill>
                      <a:schemeClr val="tx1"/>
                    </a:solidFill>
                    <a:ea typeface="+mj-ea"/>
                    <a:cs typeface="+mj-cs"/>
                  </a:rPr>
                  <a:t>(b) Déterminer </a:t>
                </a:r>
                <a14:m>
                  <m:oMath xmlns:m="http://schemas.openxmlformats.org/officeDocument/2006/math">
                    <m:r>
                      <a:rPr lang="en-US" sz="2800" b="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𝑃</m:t>
                    </m:r>
                    <m:r>
                      <a:rPr lang="en-US" sz="2800" b="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+mj-cs"/>
                      </a:rPr>
                      <m:t>(</m:t>
                    </m:r>
                    <m:sSup>
                      <m:sSupPr>
                        <m:ctrlPr>
                          <a:rPr lang="en-US" sz="28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</m:ctrlPr>
                      </m:sSupPr>
                      <m:e>
                        <m:r>
                          <a:rPr lang="en-US" sz="28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𝐴</m:t>
                        </m:r>
                      </m:e>
                      <m:sup>
                        <m:r>
                          <a:rPr lang="en-US" sz="28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′</m:t>
                        </m:r>
                      </m:sup>
                    </m:sSup>
                    <m:r>
                      <a:rPr lang="en-US" sz="2800" b="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+mj-cs"/>
                      </a:rPr>
                      <m:t>∪</m:t>
                    </m:r>
                    <m:sSup>
                      <m:sSupPr>
                        <m:ctrlPr>
                          <a:rPr lang="en-US" sz="28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</m:ctrlPr>
                      </m:sSupPr>
                      <m:e>
                        <m:r>
                          <a:rPr lang="en-US" sz="28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𝐵</m:t>
                        </m:r>
                      </m:e>
                      <m:sup>
                        <m:r>
                          <a:rPr lang="en-US" sz="28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′</m:t>
                        </m:r>
                      </m:sup>
                    </m:sSup>
                    <m:r>
                      <a:rPr lang="en-US" sz="2800" b="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+mj-cs"/>
                      </a:rPr>
                      <m:t>)</m:t>
                    </m:r>
                  </m:oMath>
                </a14:m>
                <a:br>
                  <a:rPr lang="en-US" sz="2800" b="0" i="1" kern="1200" dirty="0">
                    <a:solidFill>
                      <a:schemeClr val="tx1"/>
                    </a:solidFill>
                    <a:ea typeface="+mj-ea"/>
                    <a:cs typeface="+mj-cs"/>
                  </a:rPr>
                </a:br>
                <a:r>
                  <a:rPr lang="en-US" sz="2800" b="1" kern="1200" dirty="0">
                    <a:solidFill>
                      <a:schemeClr val="tx1"/>
                    </a:solidFill>
                    <a:ea typeface="+mj-ea"/>
                    <a:cs typeface="+mj-cs"/>
                  </a:rPr>
                  <a:t>Réponse:</a:t>
                </a:r>
                <a:br>
                  <a:rPr lang="en-US" sz="2800" i="1" kern="1200" dirty="0">
                    <a:solidFill>
                      <a:schemeClr val="tx1"/>
                    </a:solidFill>
                    <a:ea typeface="+mj-ea"/>
                    <a:cs typeface="+mj-cs"/>
                  </a:rPr>
                </a:br>
                <a:br>
                  <a:rPr lang="en-US" sz="2800" i="1" kern="1200" dirty="0">
                    <a:solidFill>
                      <a:schemeClr val="tx1"/>
                    </a:solidFill>
                    <a:ea typeface="+mj-ea"/>
                    <a:cs typeface="+mj-cs"/>
                  </a:rPr>
                </a:br>
                <a:r>
                  <a:rPr lang="en-US" sz="2800" i="1" kern="1200" dirty="0">
                    <a:solidFill>
                      <a:schemeClr val="tx1"/>
                    </a:solidFill>
                    <a:ea typeface="+mj-ea"/>
                    <a:cs typeface="+mj-cs"/>
                  </a:rPr>
                  <a:t>(a) On sait que </a:t>
                </a:r>
                <a14:m>
                  <m:oMath xmlns:m="http://schemas.openxmlformats.org/officeDocument/2006/math">
                    <m:r>
                      <a:rPr lang="en-US" sz="2800" b="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𝑃</m:t>
                    </m:r>
                    <m:d>
                      <m:dPr>
                        <m:ctrlPr>
                          <a:rPr lang="en-US" sz="28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</m:ctrlPr>
                      </m:dPr>
                      <m:e>
                        <m:r>
                          <a:rPr lang="en-US" sz="28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𝐴</m:t>
                        </m:r>
                        <m:r>
                          <a:rPr lang="en-US" sz="28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∩</m:t>
                        </m:r>
                        <m:r>
                          <a:rPr lang="en-US" sz="28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𝐵</m:t>
                        </m:r>
                      </m:e>
                    </m:d>
                    <m:r>
                      <a:rPr lang="en-US" sz="2800" b="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+mj-cs"/>
                      </a:rPr>
                      <m:t>=</m:t>
                    </m:r>
                    <m:r>
                      <a:rPr lang="en-US" sz="2800" b="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𝑃</m:t>
                    </m:r>
                    <m:d>
                      <m:dPr>
                        <m:ctrlPr>
                          <a:rPr lang="en-US" sz="28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</m:ctrlPr>
                      </m:dPr>
                      <m:e>
                        <m:r>
                          <a:rPr lang="en-US" sz="28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𝐴</m:t>
                        </m:r>
                      </m:e>
                    </m:d>
                    <m:r>
                      <a:rPr lang="en-US" sz="2800" b="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+mj-cs"/>
                      </a:rPr>
                      <m:t>+</m:t>
                    </m:r>
                    <m:r>
                      <a:rPr lang="en-US" sz="2800" b="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𝑃</m:t>
                    </m:r>
                    <m:d>
                      <m:dPr>
                        <m:ctrlPr>
                          <a:rPr lang="en-US" sz="28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</m:ctrlPr>
                      </m:dPr>
                      <m:e>
                        <m:r>
                          <a:rPr lang="en-US" sz="28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𝐵</m:t>
                        </m:r>
                      </m:e>
                    </m:d>
                    <m:r>
                      <a:rPr lang="en-US" sz="2800" b="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+mj-cs"/>
                      </a:rPr>
                      <m:t>−</m:t>
                    </m:r>
                    <m:r>
                      <a:rPr lang="en-US" sz="2800" b="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𝑃</m:t>
                    </m:r>
                    <m:d>
                      <m:dPr>
                        <m:ctrlPr>
                          <a:rPr lang="en-US" sz="28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</m:ctrlPr>
                      </m:dPr>
                      <m:e>
                        <m:r>
                          <a:rPr lang="en-US" sz="28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𝐴</m:t>
                        </m:r>
                        <m:r>
                          <a:rPr lang="en-US" sz="28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∪</m:t>
                        </m:r>
                        <m:r>
                          <a:rPr lang="en-US" sz="28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𝐵</m:t>
                        </m:r>
                      </m:e>
                    </m:d>
                    <m:r>
                      <a:rPr lang="en-US" sz="2800" b="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+mj-cs"/>
                      </a:rPr>
                      <m:t>=0,5+0,6−0,87=0,23</m:t>
                    </m:r>
                  </m:oMath>
                </a14:m>
                <a:br>
                  <a:rPr lang="en-US" sz="2800" b="0" i="1" kern="1200" dirty="0">
                    <a:solidFill>
                      <a:schemeClr val="tx1"/>
                    </a:solidFill>
                    <a:ea typeface="+mj-ea"/>
                    <a:cs typeface="+mj-cs"/>
                  </a:rPr>
                </a:br>
                <a:br>
                  <a:rPr lang="en-US" sz="2800" b="0" i="1" kern="1200" dirty="0">
                    <a:solidFill>
                      <a:schemeClr val="tx1"/>
                    </a:solidFill>
                    <a:ea typeface="+mj-ea"/>
                    <a:cs typeface="+mj-cs"/>
                  </a:rPr>
                </a:br>
                <a:r>
                  <a:rPr lang="en-US" sz="2800" b="0" i="1" kern="1200" dirty="0">
                    <a:solidFill>
                      <a:schemeClr val="tx1"/>
                    </a:solidFill>
                    <a:ea typeface="+mj-ea"/>
                    <a:cs typeface="+mj-cs"/>
                  </a:rPr>
                  <a:t>(b) </a:t>
                </a:r>
                <a14:m>
                  <m:oMath xmlns:m="http://schemas.openxmlformats.org/officeDocument/2006/math">
                    <m:r>
                      <a:rPr lang="en-US" sz="2800" b="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𝑃</m:t>
                    </m:r>
                    <m:d>
                      <m:dPr>
                        <m:ctrlPr>
                          <a:rPr lang="en-US" sz="28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sz="2800" b="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+mj-cs"/>
                              </a:rPr>
                              <m:t>𝐴</m:t>
                            </m:r>
                          </m:e>
                          <m:sup>
                            <m:r>
                              <a:rPr lang="en-US" sz="2800" b="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+mj-cs"/>
                              </a:rPr>
                              <m:t>′</m:t>
                            </m:r>
                          </m:sup>
                        </m:sSup>
                        <m:r>
                          <a:rPr lang="en-US" sz="28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∪</m:t>
                        </m:r>
                        <m:sSup>
                          <m:sSupPr>
                            <m:ctrlPr>
                              <a:rPr lang="en-US" sz="2800" b="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sz="2800" b="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+mj-cs"/>
                              </a:rPr>
                              <m:t>𝐵</m:t>
                            </m:r>
                          </m:e>
                          <m:sup>
                            <m:r>
                              <a:rPr lang="en-US" sz="2800" b="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+mj-cs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800" b="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+mj-cs"/>
                      </a:rPr>
                      <m:t>=</m:t>
                    </m:r>
                    <m:r>
                      <a:rPr lang="en-US" sz="2800" b="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𝑃</m:t>
                    </m:r>
                    <m:d>
                      <m:dPr>
                        <m:ctrlPr>
                          <a:rPr lang="en-US" sz="28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+mj-cs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800" b="0" i="1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  <a:cs typeface="+mj-cs"/>
                                  </a:rPr>
                                </m:ctrlPr>
                              </m:dPr>
                              <m:e>
                                <m:r>
                                  <a:rPr lang="en-US" sz="2800" b="0" i="1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  <a:cs typeface="+mj-cs"/>
                                  </a:rPr>
                                  <m:t>𝐴</m:t>
                                </m:r>
                                <m:r>
                                  <a:rPr lang="en-US" sz="2800" b="0" i="1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  <a:cs typeface="+mj-cs"/>
                                  </a:rPr>
                                  <m:t>∩</m:t>
                                </m:r>
                                <m:r>
                                  <a:rPr lang="en-US" sz="2800" b="0" i="1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  <a:cs typeface="+mj-cs"/>
                                  </a:rPr>
                                  <m:t>𝐵</m:t>
                                </m:r>
                              </m:e>
                            </m:d>
                          </m:e>
                          <m:sup>
                            <m:r>
                              <a:rPr lang="en-US" sz="2800" b="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+mj-cs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800" b="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+mj-cs"/>
                      </a:rPr>
                      <m:t>=1−</m:t>
                    </m:r>
                    <m:r>
                      <a:rPr lang="en-US" sz="2800" b="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𝑃</m:t>
                    </m:r>
                    <m:d>
                      <m:dPr>
                        <m:ctrlPr>
                          <a:rPr lang="en-US" sz="28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</m:ctrlPr>
                      </m:dPr>
                      <m:e>
                        <m:r>
                          <a:rPr lang="en-US" sz="28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𝐴</m:t>
                        </m:r>
                        <m:r>
                          <a:rPr lang="en-US" sz="28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∩</m:t>
                        </m:r>
                        <m:r>
                          <a:rPr lang="en-US" sz="28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𝐵</m:t>
                        </m:r>
                      </m:e>
                    </m:d>
                    <m:r>
                      <a:rPr lang="en-US" sz="2800" b="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+mj-cs"/>
                      </a:rPr>
                      <m:t>=1−0,23=0,77</m:t>
                    </m:r>
                  </m:oMath>
                </a14:m>
                <a:br>
                  <a:rPr lang="en-US" sz="2000" b="0" i="1" kern="120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 </m:t>
                      </m:r>
                    </m:oMath>
                  </m:oMathPara>
                </a14:m>
                <a:endParaRPr lang="en-US" sz="2000" kern="1200" dirty="0">
                  <a:solidFill>
                    <a:schemeClr val="tx1"/>
                  </a:solidFill>
                  <a:latin typeface="+mj-lt"/>
                  <a:ea typeface="+mj-ea"/>
                  <a:cs typeface="+mj-cs"/>
                </a:endParaRPr>
              </a:p>
            </p:txBody>
          </p:sp>
        </mc:Choice>
        <mc:Fallback xmlns="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691B040A-A476-4C70-83DE-EE1A987D5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87689" y="857157"/>
                <a:ext cx="9910296" cy="4804054"/>
              </a:xfrm>
              <a:blipFill>
                <a:blip r:embed="rId2"/>
                <a:stretch>
                  <a:fillRect l="-1230" t="-2157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FEEACBF-1C6B-4864-B5C4-C8298D3EC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05841" y="6492240"/>
            <a:ext cx="331816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endParaRPr lang="en-US" sz="1200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42C247A-45FD-4534-89C5-CF476FBEA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85412" y="6492240"/>
            <a:ext cx="118872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26377AD9-CE17-438C-A638-C64D2D42D7CF}" type="slidenum">
              <a:rPr lang="en-US" smtClean="0"/>
              <a:pPr defTabSz="914400">
                <a:spcAft>
                  <a:spcPts val="600"/>
                </a:spcAft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01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2063</Words>
  <Application>Microsoft Office PowerPoint</Application>
  <PresentationFormat>Grand écran</PresentationFormat>
  <Paragraphs>228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Symbol (T1) Medium</vt:lpstr>
      <vt:lpstr>Times New Roman</vt:lpstr>
      <vt:lpstr>Office Theme</vt:lpstr>
      <vt:lpstr>Ce cours s’articule autour des phénomènes aléatoires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Partition: On appelle partition de S, tout ensemble d’événements disjoints dont la réunion forme S.</vt:lpstr>
      <vt:lpstr>Formules de Morgan</vt:lpstr>
      <vt:lpstr>LES DIFFÉRENTES DÉFINITIONS D’UNE PROBABILITÉ</vt:lpstr>
      <vt:lpstr>LA PROBABILITÉ CLASSIQUE</vt:lpstr>
      <vt:lpstr>LES PROPRIÉTÉS D’UNE PROBABILITÉ</vt:lpstr>
      <vt:lpstr>P2: P(A∪B)=P(A)+P(B)-P(A∩B)</vt:lpstr>
      <vt:lpstr>P3: Lorsqu’on a 3 événements. P(A∪B∪C)=P(A)+P(B)+P(C)-P(A∩B) -P(A∩C)-P(B∩C)+P(A∩B∩C)</vt:lpstr>
      <vt:lpstr>EXEMPLE 1:</vt:lpstr>
      <vt:lpstr>RÉPONSE:</vt:lpstr>
      <vt:lpstr>EXEMPLE 2:</vt:lpstr>
      <vt:lpstr>RÉPONSE:</vt:lpstr>
      <vt:lpstr>EXERCICE 1: On lance une pièce de monnaie trois fois et on note le côté obtenu à chaque lancer. a) Décrivez en extension l’espace échantillonnal S. b) Décrivez en extension les événements suivants et calculez leur probabilité. A : Obtenir exactement deux piles B : N’obtenir que des faces. C : Obtenir plus de piles que de faces D : Obtenir autant de piles que de faces.  (a) S={fff,ffp,fpf,pff,fpp,pfp,ppf,ppp} (b) A={fpp,pfp,ppf};   B={fff}      ;  C={fpp,pfp,ppf,ppp};      D=impossible=∅  </vt:lpstr>
      <vt:lpstr>EXERCICE 2: Soient 2 événements tels que: P(A)=0,5 ;  P(B)=0,6   et P(A∪B)=0,87  (a) Déterminer P(A∩B) (b) Déterminer P(A^′∪B^′) Réponse:  (a) On sait que P(A∩B)=P(A)+P(B)-P(A∪B)=0,5+0,6-0,87=0,23  (b) P(A^′∪B^′ )=P((A∩B)^′ )=1-P(A∩B)=1-0,23=0,77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 cours s’articule autour des phénomènes aléatoires</dc:title>
  <dc:creator>Mhammed Mountassir</dc:creator>
  <cp:lastModifiedBy>Mhammed Mountassir</cp:lastModifiedBy>
  <cp:revision>2</cp:revision>
  <dcterms:created xsi:type="dcterms:W3CDTF">2020-09-06T11:48:24Z</dcterms:created>
  <dcterms:modified xsi:type="dcterms:W3CDTF">2021-09-06T13:16:11Z</dcterms:modified>
</cp:coreProperties>
</file>