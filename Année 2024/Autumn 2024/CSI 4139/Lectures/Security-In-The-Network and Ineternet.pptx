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09" r:id="rId1"/>
    <p:sldMasterId id="2147483821" r:id="rId2"/>
  </p:sldMasterIdLst>
  <p:notesMasterIdLst>
    <p:notesMasterId r:id="rId102"/>
  </p:notesMasterIdLst>
  <p:sldIdLst>
    <p:sldId id="398" r:id="rId3"/>
    <p:sldId id="399" r:id="rId4"/>
    <p:sldId id="296"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1" r:id="rId18"/>
    <p:sldId id="310"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29" r:id="rId37"/>
    <p:sldId id="330" r:id="rId38"/>
    <p:sldId id="331" r:id="rId39"/>
    <p:sldId id="333" r:id="rId40"/>
    <p:sldId id="334" r:id="rId41"/>
    <p:sldId id="335" r:id="rId42"/>
    <p:sldId id="336" r:id="rId43"/>
    <p:sldId id="337" r:id="rId44"/>
    <p:sldId id="338" r:id="rId45"/>
    <p:sldId id="339" r:id="rId46"/>
    <p:sldId id="340" r:id="rId47"/>
    <p:sldId id="342" r:id="rId48"/>
    <p:sldId id="400" r:id="rId49"/>
    <p:sldId id="401" r:id="rId50"/>
    <p:sldId id="341" r:id="rId51"/>
    <p:sldId id="343" r:id="rId52"/>
    <p:sldId id="344" r:id="rId53"/>
    <p:sldId id="345" r:id="rId54"/>
    <p:sldId id="346" r:id="rId55"/>
    <p:sldId id="348" r:id="rId56"/>
    <p:sldId id="347" r:id="rId57"/>
    <p:sldId id="349" r:id="rId58"/>
    <p:sldId id="350" r:id="rId59"/>
    <p:sldId id="351" r:id="rId60"/>
    <p:sldId id="352" r:id="rId61"/>
    <p:sldId id="353" r:id="rId62"/>
    <p:sldId id="354" r:id="rId63"/>
    <p:sldId id="355" r:id="rId64"/>
    <p:sldId id="357" r:id="rId65"/>
    <p:sldId id="358" r:id="rId66"/>
    <p:sldId id="356" r:id="rId67"/>
    <p:sldId id="359" r:id="rId68"/>
    <p:sldId id="360" r:id="rId69"/>
    <p:sldId id="361" r:id="rId70"/>
    <p:sldId id="362" r:id="rId71"/>
    <p:sldId id="363" r:id="rId72"/>
    <p:sldId id="364" r:id="rId73"/>
    <p:sldId id="365" r:id="rId74"/>
    <p:sldId id="366" r:id="rId75"/>
    <p:sldId id="367" r:id="rId76"/>
    <p:sldId id="368" r:id="rId77"/>
    <p:sldId id="369" r:id="rId78"/>
    <p:sldId id="370" r:id="rId79"/>
    <p:sldId id="371" r:id="rId80"/>
    <p:sldId id="372" r:id="rId81"/>
    <p:sldId id="402" r:id="rId82"/>
    <p:sldId id="403" r:id="rId83"/>
    <p:sldId id="404" r:id="rId84"/>
    <p:sldId id="405" r:id="rId85"/>
    <p:sldId id="406" r:id="rId86"/>
    <p:sldId id="407" r:id="rId87"/>
    <p:sldId id="408" r:id="rId88"/>
    <p:sldId id="409" r:id="rId89"/>
    <p:sldId id="410" r:id="rId90"/>
    <p:sldId id="411" r:id="rId91"/>
    <p:sldId id="412" r:id="rId92"/>
    <p:sldId id="413" r:id="rId93"/>
    <p:sldId id="414" r:id="rId94"/>
    <p:sldId id="415" r:id="rId95"/>
    <p:sldId id="416" r:id="rId96"/>
    <p:sldId id="417" r:id="rId97"/>
    <p:sldId id="418" r:id="rId98"/>
    <p:sldId id="419" r:id="rId99"/>
    <p:sldId id="420" r:id="rId100"/>
    <p:sldId id="421" r:id="rId101"/>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56" autoAdjust="0"/>
    <p:restoredTop sz="81846" autoAdjust="0"/>
  </p:normalViewPr>
  <p:slideViewPr>
    <p:cSldViewPr>
      <p:cViewPr varScale="1">
        <p:scale>
          <a:sx n="86" d="100"/>
          <a:sy n="86" d="100"/>
        </p:scale>
        <p:origin x="768" y="36"/>
      </p:cViewPr>
      <p:guideLst>
        <p:guide orient="horz" pos="2880"/>
        <p:guide pos="2160"/>
      </p:guideLst>
    </p:cSldViewPr>
  </p:slideViewPr>
  <p:notesTextViewPr>
    <p:cViewPr>
      <p:scale>
        <a:sx n="100" d="100"/>
        <a:sy n="100" d="100"/>
      </p:scale>
      <p:origin x="0" y="-213"/>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5218666-A2F1-4943-A08A-38BF93BD1DA2}" type="datetimeFigureOut">
              <a:rPr lang="en-CA" smtClean="0"/>
              <a:t>2024-10-10</a:t>
            </a:fld>
            <a:endParaRPr lang="en-CA"/>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6A68FA9-16BB-45F1-9BA3-6524B5B8D6E7}" type="slidenum">
              <a:rPr lang="en-CA" smtClean="0"/>
              <a:t>‹#›</a:t>
            </a:fld>
            <a:endParaRPr lang="en-CA"/>
          </a:p>
        </p:txBody>
      </p:sp>
    </p:spTree>
    <p:extLst>
      <p:ext uri="{BB962C8B-B14F-4D97-AF65-F5344CB8AC3E}">
        <p14:creationId xmlns:p14="http://schemas.microsoft.com/office/powerpoint/2010/main" val="1488751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E8E8E8"/>
                </a:solidFill>
                <a:effectLst/>
                <a:latin typeface="Google Sans"/>
              </a:rPr>
              <a:t>Opaque networking </a:t>
            </a:r>
            <a:r>
              <a:rPr lang="en-GB" b="0" i="0" dirty="0">
                <a:solidFill>
                  <a:srgbClr val="FFFFFF"/>
                </a:solidFill>
                <a:effectLst/>
                <a:latin typeface="Google Sans"/>
              </a:rPr>
              <a:t>enhances privacy in communication protocols by obscuring the content and metadata of network traffic</a:t>
            </a:r>
            <a:r>
              <a:rPr lang="en-GB" b="0" i="0" dirty="0">
                <a:solidFill>
                  <a:srgbClr val="E8E8E8"/>
                </a:solidFill>
                <a:effectLst/>
                <a:latin typeface="Google Sans"/>
              </a:rPr>
              <a:t>.</a:t>
            </a:r>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4</a:t>
            </a:fld>
            <a:endParaRPr lang="en-CA"/>
          </a:p>
        </p:txBody>
      </p:sp>
    </p:spTree>
    <p:extLst>
      <p:ext uri="{BB962C8B-B14F-4D97-AF65-F5344CB8AC3E}">
        <p14:creationId xmlns:p14="http://schemas.microsoft.com/office/powerpoint/2010/main" val="308938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FFFFFF"/>
                </a:solidFill>
                <a:effectLst/>
                <a:latin typeface="Google Sans"/>
              </a:rPr>
              <a:t>The Open Systems Interconnection (OSI) model is a reference model from the International Organization for Standardization (ISO)</a:t>
            </a:r>
            <a:r>
              <a:rPr lang="en-GB" b="0" i="0" dirty="0">
                <a:solidFill>
                  <a:srgbClr val="BFBFBF"/>
                </a:solidFill>
                <a:effectLst/>
                <a:latin typeface="Google Sans"/>
              </a:rPr>
              <a:t> that "provides a common basis for the coordination of standards development for the purpose of systems interconnection."</a:t>
            </a:r>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6</a:t>
            </a:fld>
            <a:endParaRPr lang="en-CA"/>
          </a:p>
        </p:txBody>
      </p:sp>
    </p:spTree>
    <p:extLst>
      <p:ext uri="{BB962C8B-B14F-4D97-AF65-F5344CB8AC3E}">
        <p14:creationId xmlns:p14="http://schemas.microsoft.com/office/powerpoint/2010/main" val="3965905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Since WANs often use publicly available communication channels shared by multiple users, individual users' activities or data can be more difficult to isolate or identify. In essence, the large volume of shared usage adds a layer of anonymity, which helps to protect the privacy of any single user, making it harder for outside parties to pinpoint and extract specific data from one individual.</a:t>
            </a:r>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17</a:t>
            </a:fld>
            <a:endParaRPr lang="en-CA"/>
          </a:p>
        </p:txBody>
      </p:sp>
    </p:spTree>
    <p:extLst>
      <p:ext uri="{BB962C8B-B14F-4D97-AF65-F5344CB8AC3E}">
        <p14:creationId xmlns:p14="http://schemas.microsoft.com/office/powerpoint/2010/main" val="544957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333FE9-259E-4CE1-80EB-A380D2C004E6}"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14526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Message Interception (Confidentiality)</a:t>
            </a:r>
            <a:r>
              <a:rPr lang="en-GB" dirty="0"/>
              <a:t>: This threat involves unauthorized parties intercepting and reading the contents of an email, compromising its confidentiality. Attackers may use various techniques like sniffing or man-in-the-middle attacks to gain access to sensitive information.</a:t>
            </a:r>
          </a:p>
          <a:p>
            <a:r>
              <a:rPr lang="en-GB" b="1" dirty="0"/>
              <a:t>Message Interception (Blocked Delivery)</a:t>
            </a:r>
            <a:r>
              <a:rPr lang="en-GB" dirty="0"/>
              <a:t>: In this case, attackers intercept the email and prevent it from being delivered to its intended recipient. This can disrupt communication, leading to important messages being lost or delayed.</a:t>
            </a:r>
          </a:p>
          <a:p>
            <a:r>
              <a:rPr lang="en-GB" b="1" dirty="0"/>
              <a:t>Message Interception and Subsequent Replay</a:t>
            </a:r>
            <a:r>
              <a:rPr lang="en-GB" dirty="0"/>
              <a:t>: This occurs when an attacker intercepts an email and then later sends the same message again. The replayed message can cause confusion, unauthorized actions, or redundancy. It’s often used in phishing attacks or fraud schemes.</a:t>
            </a:r>
          </a:p>
          <a:p>
            <a:r>
              <a:rPr lang="en-GB" b="1" dirty="0"/>
              <a:t>Message Content Modification</a:t>
            </a:r>
            <a:r>
              <a:rPr lang="en-GB" dirty="0"/>
              <a:t>: Attackers alter the content of the email after intercepting it but before delivering it to the recipient. This can result in misinformation, fraudulent instructions, or manipulated data being communicated.</a:t>
            </a:r>
          </a:p>
          <a:p>
            <a:r>
              <a:rPr lang="en-GB" b="1" dirty="0"/>
              <a:t>Message Origin Modification</a:t>
            </a:r>
            <a:r>
              <a:rPr lang="en-GB" dirty="0"/>
              <a:t>: In this scenario, an attacker alters the details regarding the sender of the email, making it appear as though the message came from someone else. This can be used to impersonate trusted individuals or institutions, leading to phishing attacks.</a:t>
            </a:r>
          </a:p>
          <a:p>
            <a:r>
              <a:rPr lang="en-GB" b="1" dirty="0"/>
              <a:t>Message Content Forgery by Outsider</a:t>
            </a:r>
            <a:r>
              <a:rPr lang="en-GB" dirty="0"/>
              <a:t>: This occurs when an unauthorized external party creates or manipulates an email to make it appear authentic. The forger can insert false information or directives that seem legitimate to the recipient.</a:t>
            </a:r>
          </a:p>
          <a:p>
            <a:r>
              <a:rPr lang="en-GB" b="1" dirty="0"/>
              <a:t>Message Origin Forgery by Outsider</a:t>
            </a:r>
            <a:r>
              <a:rPr lang="en-GB" dirty="0"/>
              <a:t>: Here, an external attacker forges the identity of the email's sender to deceive the recipient. The attacker’s goal is often to manipulate the recipient into performing actions they wouldn’t otherwise do, like clicking malicious links or sharing sensitive information.</a:t>
            </a:r>
          </a:p>
          <a:p>
            <a:r>
              <a:rPr lang="en-GB" b="1" dirty="0"/>
              <a:t>Message Content Forgery by Recipient</a:t>
            </a:r>
            <a:r>
              <a:rPr lang="en-GB" dirty="0"/>
              <a:t>: In this situation, the recipient of an email modifies its content and claims that the modified content is the original. This can be used for fraud or in legal disputes to misrepresent communications.</a:t>
            </a:r>
          </a:p>
          <a:p>
            <a:r>
              <a:rPr lang="en-GB" b="1" dirty="0"/>
              <a:t>Message Origin Forgery by Recipient</a:t>
            </a:r>
            <a:r>
              <a:rPr lang="en-GB" dirty="0"/>
              <a:t>: This threat arises when a recipient claims that the email came from someone else, or they alter the sender’s information in the received email. This can be used to deflect responsibility or mislead others about the source of a communication.</a:t>
            </a:r>
          </a:p>
          <a:p>
            <a:r>
              <a:rPr lang="en-GB" b="1" dirty="0"/>
              <a:t>Denial of Message Transmission</a:t>
            </a:r>
            <a:r>
              <a:rPr lang="en-GB" dirty="0"/>
              <a:t>: In this scenario, the sender or recipient falsely denies having sent or received the message. This can be used to avoid accountability or responsibility for the contents of the communication.</a:t>
            </a:r>
          </a:p>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73</a:t>
            </a:fld>
            <a:endParaRPr lang="en-CA"/>
          </a:p>
        </p:txBody>
      </p:sp>
    </p:spTree>
    <p:extLst>
      <p:ext uri="{BB962C8B-B14F-4D97-AF65-F5344CB8AC3E}">
        <p14:creationId xmlns:p14="http://schemas.microsoft.com/office/powerpoint/2010/main" val="675813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74</a:t>
            </a:fld>
            <a:endParaRPr lang="en-CA"/>
          </a:p>
        </p:txBody>
      </p:sp>
    </p:spTree>
    <p:extLst>
      <p:ext uri="{BB962C8B-B14F-4D97-AF65-F5344CB8AC3E}">
        <p14:creationId xmlns:p14="http://schemas.microsoft.com/office/powerpoint/2010/main" val="309825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Aggregation</a:t>
            </a:r>
            <a:r>
              <a:rPr lang="en-GB" dirty="0"/>
              <a:t>: SIEM tools aggregate data from various sources like network devices, servers, and security systems. This provides a centralized view of security-related information, simplifying the analysis of logs and events from multiple environments.</a:t>
            </a:r>
          </a:p>
          <a:p>
            <a:r>
              <a:rPr lang="en-GB" b="1" dirty="0"/>
              <a:t>Correlation</a:t>
            </a:r>
            <a:r>
              <a:rPr lang="en-GB" dirty="0"/>
              <a:t>: SIEM tools correlate the aggregated data to identify patterns that could indicate suspicious activities or threats. For instance, multiple failed login attempts followed by a successful one from an unknown IP could raise a security alert.</a:t>
            </a:r>
          </a:p>
          <a:p>
            <a:r>
              <a:rPr lang="en-GB" b="1" dirty="0"/>
              <a:t>Automated Alerting and Triggers</a:t>
            </a:r>
            <a:r>
              <a:rPr lang="en-GB" dirty="0"/>
              <a:t>: SIEM systems can automatically generate alerts based on predefined rules and conditions. When certain conditions or patterns are detected in the logs, the system can trigger alerts or even take predefined actions, like blocking an IP address.</a:t>
            </a:r>
          </a:p>
          <a:p>
            <a:r>
              <a:rPr lang="en-GB" b="1" dirty="0"/>
              <a:t>Time Synchronization</a:t>
            </a:r>
            <a:r>
              <a:rPr lang="en-GB" dirty="0"/>
              <a:t>: SIEM systems require synchronized timestamps across different data sources to accurately correlate events. Without synchronized time, it would be difficult to establish event sequences, which is crucial for detecting threats.</a:t>
            </a:r>
          </a:p>
          <a:p>
            <a:r>
              <a:rPr lang="en-GB" b="1" dirty="0"/>
              <a:t>Event Duplication</a:t>
            </a:r>
            <a:r>
              <a:rPr lang="en-GB" dirty="0"/>
              <a:t>: SIEMs can detect and filter out duplicate events from the same source or across multiple systems, preventing an overload of unnecessary information and improving the quality of the alerts.</a:t>
            </a:r>
          </a:p>
          <a:p>
            <a:r>
              <a:rPr lang="en-GB" b="1" dirty="0"/>
              <a:t>SIEM Logs</a:t>
            </a:r>
            <a:r>
              <a:rPr lang="en-GB" dirty="0"/>
              <a:t>: SIEM systems collect and store logs from different systems for analysis. These logs serve as a vital resource for tracking historical data, conducting forensic investigations, and complying with security regulations.</a:t>
            </a:r>
          </a:p>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82</a:t>
            </a:fld>
            <a:endParaRPr lang="en-CA"/>
          </a:p>
        </p:txBody>
      </p:sp>
    </p:spTree>
    <p:extLst>
      <p:ext uri="{BB962C8B-B14F-4D97-AF65-F5344CB8AC3E}">
        <p14:creationId xmlns:p14="http://schemas.microsoft.com/office/powerpoint/2010/main" val="3283499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SSL (Secure Sockets Layer)</a:t>
            </a:r>
            <a:r>
              <a:rPr lang="en-GB" dirty="0"/>
              <a:t>: This was the original encryption protocol, developed in the 1990s, and was widely used to secure web traffic. However, due to various security vulnerabilities, SSL is now considered outdated and has been replaced by TLS.</a:t>
            </a:r>
          </a:p>
          <a:p>
            <a:r>
              <a:rPr lang="en-GB" b="1" dirty="0"/>
              <a:t>TLS (Transport Layer Security)</a:t>
            </a:r>
            <a:r>
              <a:rPr lang="en-GB" dirty="0"/>
              <a:t>: TLS is the successor to SSL and provides stronger encryption methods and security measures. It ensures that the communication between the client and server is encrypted, preventing third parties from eavesdropping or tampering with the data in transit. It has undergone several updates, with the most recent being TLS 1.3, which includes enhanced security features and improved performance.</a:t>
            </a:r>
          </a:p>
          <a:p>
            <a:r>
              <a:rPr lang="en-CA" dirty="0"/>
              <a:t>SSL (Secure Sockets Layer) handshake process normally uses cryptographic keys for symmetric encryption </a:t>
            </a:r>
            <a:r>
              <a:rPr lang="en-CA" dirty="0" err="1"/>
              <a:t>wich</a:t>
            </a:r>
            <a:r>
              <a:rPr lang="en-CA" dirty="0"/>
              <a:t> are generated using algorithms like 3DES (Triple Data Encryption Standard) or AES (Advanced Encryption Standard).</a:t>
            </a:r>
          </a:p>
        </p:txBody>
      </p:sp>
      <p:sp>
        <p:nvSpPr>
          <p:cNvPr id="4" name="Slide Number Placeholder 3"/>
          <p:cNvSpPr>
            <a:spLocks noGrp="1"/>
          </p:cNvSpPr>
          <p:nvPr>
            <p:ph type="sldNum" sz="quarter" idx="5"/>
          </p:nvPr>
        </p:nvSpPr>
        <p:spPr/>
        <p:txBody>
          <a:bodyPr/>
          <a:lstStyle/>
          <a:p>
            <a:fld id="{A6A68FA9-16BB-45F1-9BA3-6524B5B8D6E7}" type="slidenum">
              <a:rPr lang="en-CA" smtClean="0"/>
              <a:t>83</a:t>
            </a:fld>
            <a:endParaRPr lang="en-CA"/>
          </a:p>
        </p:txBody>
      </p:sp>
    </p:spTree>
    <p:extLst>
      <p:ext uri="{BB962C8B-B14F-4D97-AF65-F5344CB8AC3E}">
        <p14:creationId xmlns:p14="http://schemas.microsoft.com/office/powerpoint/2010/main" val="3079046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UTM devices typically provide functions such as firewall, antivirus, intrusion detection and prevention, content filtering, spam filtering, and virtual private network (VPN) capabilities. This approach simplifies the management and monitoring of network security by offering a consolidated platform for defending against a wide range of threats.</a:t>
            </a:r>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84</a:t>
            </a:fld>
            <a:endParaRPr lang="en-CA"/>
          </a:p>
        </p:txBody>
      </p:sp>
    </p:spTree>
    <p:extLst>
      <p:ext uri="{BB962C8B-B14F-4D97-AF65-F5344CB8AC3E}">
        <p14:creationId xmlns:p14="http://schemas.microsoft.com/office/powerpoint/2010/main" val="3516074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GB" b="1" dirty="0"/>
              <a:t>Creating Security Zones</a:t>
            </a:r>
            <a:r>
              <a:rPr lang="en-GB" dirty="0"/>
              <a:t>: Security zones are distinct segments within a network that isolate resources and applications based on their security needs. For instance, a demilitarized zone (DMZ) might be created to house publicly accessible services, keeping them separate from the internal network to reduce the risk of external threats. By compartmentalizing network sections, administrators can enforce stricter security measures for sensitive areas and monitor traffic closely.</a:t>
            </a:r>
          </a:p>
          <a:p>
            <a:pPr>
              <a:buFont typeface="+mj-lt"/>
              <a:buAutoNum type="arabicPeriod"/>
            </a:pPr>
            <a:r>
              <a:rPr lang="en-GB" b="1" dirty="0"/>
              <a:t>Using Network Segregation</a:t>
            </a:r>
            <a:r>
              <a:rPr lang="en-GB" dirty="0"/>
              <a:t>: Network segregation is the practice of dividing a network into smaller, isolated sub-networks or segments. This minimizes the spread of potential threats within the network and allows administrators to apply specific security controls to each segment. It helps prevent an attacker from easily moving from one part of the network to another if a breach occurs.</a:t>
            </a:r>
          </a:p>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85</a:t>
            </a:fld>
            <a:endParaRPr lang="en-CA"/>
          </a:p>
        </p:txBody>
      </p:sp>
    </p:spTree>
    <p:extLst>
      <p:ext uri="{BB962C8B-B14F-4D97-AF65-F5344CB8AC3E}">
        <p14:creationId xmlns:p14="http://schemas.microsoft.com/office/powerpoint/2010/main" val="775706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87</a:t>
            </a:fld>
            <a:endParaRPr lang="en-US" dirty="0"/>
          </a:p>
        </p:txBody>
      </p:sp>
    </p:spTree>
    <p:extLst>
      <p:ext uri="{BB962C8B-B14F-4D97-AF65-F5344CB8AC3E}">
        <p14:creationId xmlns:p14="http://schemas.microsoft.com/office/powerpoint/2010/main" val="2953132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Content inspection </a:t>
            </a:r>
            <a:r>
              <a:rPr lang="en-GB" dirty="0"/>
              <a:t>is a core feature of DLP systems, allowing them to analyse data transactions within their approved context. There are multiple methods of content inspection, each with its own strengths and use cases. These include pattern matching (like regex), fingerprinting, file matching, statistical analysis, </a:t>
            </a:r>
            <a:r>
              <a:rPr lang="en-CA" dirty="0"/>
              <a:t>Conceptual/Semantic Analysis</a:t>
            </a:r>
            <a:r>
              <a:rPr lang="en-GB" dirty="0"/>
              <a:t> analysis, </a:t>
            </a:r>
            <a:r>
              <a:rPr lang="en-CA" dirty="0"/>
              <a:t>Optical Character Recognition (OCR), Key-word or Lexicon-based Analysis, </a:t>
            </a:r>
            <a:r>
              <a:rPr lang="en-GB" dirty="0"/>
              <a:t>and </a:t>
            </a:r>
            <a:r>
              <a:rPr lang="en-CA" dirty="0"/>
              <a:t>Data Classification Tags</a:t>
            </a:r>
            <a:r>
              <a:rPr lang="en-GB" dirty="0"/>
              <a:t>. Most DLP systems use a combination of these methods to provide thorough protection against data loss while minimizing false positives and negatives. The choice of inspection method(s) depends on the type of data being protected, the organization's specific needs, and the desired balance between security and system performance.</a:t>
            </a:r>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97</a:t>
            </a:fld>
            <a:endParaRPr lang="en-CA"/>
          </a:p>
        </p:txBody>
      </p:sp>
    </p:spTree>
    <p:extLst>
      <p:ext uri="{BB962C8B-B14F-4D97-AF65-F5344CB8AC3E}">
        <p14:creationId xmlns:p14="http://schemas.microsoft.com/office/powerpoint/2010/main" val="574200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DLP Network Sensors</a:t>
            </a:r>
            <a:r>
              <a:rPr lang="en-GB" dirty="0"/>
              <a:t>:</a:t>
            </a:r>
          </a:p>
          <a:p>
            <a:pPr>
              <a:buFont typeface="Arial" panose="020B0604020202020204" pitchFamily="34" charset="0"/>
              <a:buNone/>
            </a:pPr>
            <a:r>
              <a:rPr lang="en-GB" dirty="0"/>
              <a:t>These sensors monitor data as it moves across the network. They can intercept and </a:t>
            </a:r>
            <a:r>
              <a:rPr lang="en-GB" dirty="0" err="1"/>
              <a:t>analyze</a:t>
            </a:r>
            <a:r>
              <a:rPr lang="en-GB" dirty="0"/>
              <a:t> data in transit, checking for sensitive or confidential information. They help prevent unauthorized data transmissions from leaving the network.</a:t>
            </a:r>
          </a:p>
          <a:p>
            <a:r>
              <a:rPr lang="en-GB" b="1" dirty="0"/>
              <a:t>DLP Storage Sensors</a:t>
            </a:r>
            <a:r>
              <a:rPr lang="en-GB" dirty="0"/>
              <a:t>:</a:t>
            </a:r>
          </a:p>
          <a:p>
            <a:pPr>
              <a:buFont typeface="Arial" panose="020B0604020202020204" pitchFamily="34" charset="0"/>
              <a:buNone/>
            </a:pPr>
            <a:r>
              <a:rPr lang="en-GB" dirty="0"/>
              <a:t>These sensors scan and monitor </a:t>
            </a:r>
            <a:r>
              <a:rPr lang="en-GB" b="1" dirty="0"/>
              <a:t>data at rest, </a:t>
            </a:r>
            <a:r>
              <a:rPr lang="en-GB" dirty="0"/>
              <a:t>i.e., data stored in databases, file systems, or cloud storage. They ensure that sensitive data stored in these systems complies with security policies and is not being improperly accessed or retained.</a:t>
            </a:r>
          </a:p>
          <a:p>
            <a:r>
              <a:rPr lang="en-GB" b="1" dirty="0"/>
              <a:t>DLP Agent Sensors</a:t>
            </a:r>
            <a:r>
              <a:rPr lang="en-GB" dirty="0"/>
              <a:t>:</a:t>
            </a:r>
          </a:p>
          <a:p>
            <a:pPr>
              <a:buFont typeface="Arial" panose="020B0604020202020204" pitchFamily="34" charset="0"/>
              <a:buNone/>
            </a:pPr>
            <a:r>
              <a:rPr lang="en-GB" dirty="0"/>
              <a:t>These are typically installed on endpoints like workstations or laptops. Agent sensors monitor activities on devices and ensure that sensitive information is not copied, modified, or transmitted without proper authorization. They can prevent data leakage from within the organization.</a:t>
            </a:r>
          </a:p>
          <a:p>
            <a:endParaRPr lang="en-CA" dirty="0"/>
          </a:p>
        </p:txBody>
      </p:sp>
      <p:sp>
        <p:nvSpPr>
          <p:cNvPr id="4" name="Slide Number Placeholder 3"/>
          <p:cNvSpPr>
            <a:spLocks noGrp="1"/>
          </p:cNvSpPr>
          <p:nvPr>
            <p:ph type="sldNum" sz="quarter" idx="5"/>
          </p:nvPr>
        </p:nvSpPr>
        <p:spPr/>
        <p:txBody>
          <a:bodyPr/>
          <a:lstStyle/>
          <a:p>
            <a:fld id="{A6A68FA9-16BB-45F1-9BA3-6524B5B8D6E7}" type="slidenum">
              <a:rPr lang="en-CA" smtClean="0"/>
              <a:t>98</a:t>
            </a:fld>
            <a:endParaRPr lang="en-CA"/>
          </a:p>
        </p:txBody>
      </p:sp>
    </p:spTree>
    <p:extLst>
      <p:ext uri="{BB962C8B-B14F-4D97-AF65-F5344CB8AC3E}">
        <p14:creationId xmlns:p14="http://schemas.microsoft.com/office/powerpoint/2010/main" val="1345953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BE95-FC20-5159-89C2-9621BE92C74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08C484B9-F7C9-6F3E-C18B-5FB29EADF658}"/>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D01A3C-A930-D54E-980D-0B2CD84876DD}"/>
              </a:ext>
            </a:extLst>
          </p:cNvPr>
          <p:cNvSpPr>
            <a:spLocks noGrp="1"/>
          </p:cNvSpPr>
          <p:nvPr>
            <p:ph type="dt" sz="half" idx="10"/>
          </p:nvPr>
        </p:nvSpPr>
        <p:spPr/>
        <p:txBody>
          <a:bodyPr/>
          <a:lstStyle/>
          <a:p>
            <a:fld id="{818D8D12-7CDF-4595-A908-26EA90135E28}" type="datetime1">
              <a:rPr lang="en-CA" smtClean="0"/>
              <a:t>2024-10-10</a:t>
            </a:fld>
            <a:endParaRPr lang="en-CA"/>
          </a:p>
        </p:txBody>
      </p:sp>
      <p:sp>
        <p:nvSpPr>
          <p:cNvPr id="5" name="Footer Placeholder 4">
            <a:extLst>
              <a:ext uri="{FF2B5EF4-FFF2-40B4-BE49-F238E27FC236}">
                <a16:creationId xmlns:a16="http://schemas.microsoft.com/office/drawing/2014/main" id="{8FF5F437-827F-5FED-32CE-44ADAB2554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F526C3-F7F2-A750-3501-A67201B1D97B}"/>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76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3808-DB99-F7DE-B5BE-6DAAE49B744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F865FB8-2601-CC65-4005-421D050104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BABCAC-DB47-2752-8345-25EA5B8F388C}"/>
              </a:ext>
            </a:extLst>
          </p:cNvPr>
          <p:cNvSpPr>
            <a:spLocks noGrp="1"/>
          </p:cNvSpPr>
          <p:nvPr>
            <p:ph type="dt" sz="half" idx="10"/>
          </p:nvPr>
        </p:nvSpPr>
        <p:spPr/>
        <p:txBody>
          <a:bodyPr/>
          <a:lstStyle/>
          <a:p>
            <a:fld id="{2E0F963D-4464-499F-AF62-C6E82BAD4853}" type="datetime1">
              <a:rPr lang="en-CA" smtClean="0"/>
              <a:t>2024-10-10</a:t>
            </a:fld>
            <a:endParaRPr lang="en-CA"/>
          </a:p>
        </p:txBody>
      </p:sp>
      <p:sp>
        <p:nvSpPr>
          <p:cNvPr id="5" name="Footer Placeholder 4">
            <a:extLst>
              <a:ext uri="{FF2B5EF4-FFF2-40B4-BE49-F238E27FC236}">
                <a16:creationId xmlns:a16="http://schemas.microsoft.com/office/drawing/2014/main" id="{48044E10-B0C1-B09C-864E-BB4CA3C4BE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8AA7D09-44C3-FF33-5E88-EDBBEE600BBF}"/>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26275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CE48-F489-B01A-55AA-512B417510FF}"/>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88A1F3-D366-A8E6-DE52-C6BAAD0CE456}"/>
              </a:ext>
            </a:extLst>
          </p:cNvPr>
          <p:cNvSpPr>
            <a:spLocks noGrp="1"/>
          </p:cNvSpPr>
          <p:nvPr>
            <p:ph type="body" idx="1"/>
          </p:nvPr>
        </p:nvSpPr>
        <p:spPr>
          <a:xfrm>
            <a:off x="831851" y="4589465"/>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FB0D2E-F233-6321-635C-F67B0A03CC22}"/>
              </a:ext>
            </a:extLst>
          </p:cNvPr>
          <p:cNvSpPr>
            <a:spLocks noGrp="1"/>
          </p:cNvSpPr>
          <p:nvPr>
            <p:ph type="dt" sz="half" idx="10"/>
          </p:nvPr>
        </p:nvSpPr>
        <p:spPr/>
        <p:txBody>
          <a:bodyPr/>
          <a:lstStyle/>
          <a:p>
            <a:fld id="{9560C6B9-8E15-4029-AF23-DFD91F42C03D}" type="datetime1">
              <a:rPr lang="en-CA" smtClean="0"/>
              <a:t>2024-10-10</a:t>
            </a:fld>
            <a:endParaRPr lang="en-CA"/>
          </a:p>
        </p:txBody>
      </p:sp>
      <p:sp>
        <p:nvSpPr>
          <p:cNvPr id="5" name="Footer Placeholder 4">
            <a:extLst>
              <a:ext uri="{FF2B5EF4-FFF2-40B4-BE49-F238E27FC236}">
                <a16:creationId xmlns:a16="http://schemas.microsoft.com/office/drawing/2014/main" id="{67AD0181-8B92-F550-4C00-DFF7977AC3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139F3AC-C7BB-91F2-C880-8A1B2AA7868E}"/>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393826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0BA3-E6CA-2378-6745-2A40F5D13A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9F35498-692E-15F1-CE64-8B58DF722A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6437372-2273-643C-C30A-E5AF354005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B71C8EB-12A5-FE7C-3510-4B09AAA1836F}"/>
              </a:ext>
            </a:extLst>
          </p:cNvPr>
          <p:cNvSpPr>
            <a:spLocks noGrp="1"/>
          </p:cNvSpPr>
          <p:nvPr>
            <p:ph type="dt" sz="half" idx="10"/>
          </p:nvPr>
        </p:nvSpPr>
        <p:spPr/>
        <p:txBody>
          <a:bodyPr/>
          <a:lstStyle/>
          <a:p>
            <a:fld id="{77A4038E-73CC-4937-944C-EE1334E4E461}" type="datetime1">
              <a:rPr lang="en-CA" smtClean="0"/>
              <a:t>2024-10-10</a:t>
            </a:fld>
            <a:endParaRPr lang="en-CA"/>
          </a:p>
        </p:txBody>
      </p:sp>
      <p:sp>
        <p:nvSpPr>
          <p:cNvPr id="6" name="Footer Placeholder 5">
            <a:extLst>
              <a:ext uri="{FF2B5EF4-FFF2-40B4-BE49-F238E27FC236}">
                <a16:creationId xmlns:a16="http://schemas.microsoft.com/office/drawing/2014/main" id="{0D16FB01-7B22-57A4-D007-0AD3E449AB1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D13B69-F996-11B5-48D2-9D4773848B78}"/>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79084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AEE7-3ED9-CA52-B529-61136E917C9B}"/>
              </a:ext>
            </a:extLst>
          </p:cNvPr>
          <p:cNvSpPr>
            <a:spLocks noGrp="1"/>
          </p:cNvSpPr>
          <p:nvPr>
            <p:ph type="title"/>
          </p:nvPr>
        </p:nvSpPr>
        <p:spPr>
          <a:xfrm>
            <a:off x="839788" y="365127"/>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686265C-1F85-6E59-7659-233982BB8F4B}"/>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3BD524D-BBB8-640D-BECA-7FE3FB807AB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953840E-CD3F-F886-B96D-BB41B03DBCBD}"/>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CFAABB7-062F-5546-2038-900DDFBF1F99}"/>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EB912D8-2A63-5C29-1422-98A3E2A63A11}"/>
              </a:ext>
            </a:extLst>
          </p:cNvPr>
          <p:cNvSpPr>
            <a:spLocks noGrp="1"/>
          </p:cNvSpPr>
          <p:nvPr>
            <p:ph type="dt" sz="half" idx="10"/>
          </p:nvPr>
        </p:nvSpPr>
        <p:spPr/>
        <p:txBody>
          <a:bodyPr/>
          <a:lstStyle/>
          <a:p>
            <a:fld id="{F046C38C-0FE4-4FBE-A5AD-606C2A78943C}" type="datetime1">
              <a:rPr lang="en-CA" smtClean="0"/>
              <a:t>2024-10-10</a:t>
            </a:fld>
            <a:endParaRPr lang="en-CA"/>
          </a:p>
        </p:txBody>
      </p:sp>
      <p:sp>
        <p:nvSpPr>
          <p:cNvPr id="8" name="Footer Placeholder 7">
            <a:extLst>
              <a:ext uri="{FF2B5EF4-FFF2-40B4-BE49-F238E27FC236}">
                <a16:creationId xmlns:a16="http://schemas.microsoft.com/office/drawing/2014/main" id="{24FA4C95-95DE-4949-0A0C-2E95B4447D9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88662AC-1D55-598E-5974-CB367E023BA0}"/>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885710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5B09-12ED-4DA9-D9B5-16D7B243CAA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B274B9D-587B-EDFF-5FA2-015B5B4B34AD}"/>
              </a:ext>
            </a:extLst>
          </p:cNvPr>
          <p:cNvSpPr>
            <a:spLocks noGrp="1"/>
          </p:cNvSpPr>
          <p:nvPr>
            <p:ph type="dt" sz="half" idx="10"/>
          </p:nvPr>
        </p:nvSpPr>
        <p:spPr/>
        <p:txBody>
          <a:bodyPr/>
          <a:lstStyle/>
          <a:p>
            <a:fld id="{16EEC274-E6F7-497C-9C05-2AFE280166A0}" type="datetime1">
              <a:rPr lang="en-CA" smtClean="0"/>
              <a:t>2024-10-10</a:t>
            </a:fld>
            <a:endParaRPr lang="en-CA"/>
          </a:p>
        </p:txBody>
      </p:sp>
      <p:sp>
        <p:nvSpPr>
          <p:cNvPr id="4" name="Footer Placeholder 3">
            <a:extLst>
              <a:ext uri="{FF2B5EF4-FFF2-40B4-BE49-F238E27FC236}">
                <a16:creationId xmlns:a16="http://schemas.microsoft.com/office/drawing/2014/main" id="{6A4606AE-F19B-2040-76F8-F93B2707242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A43AA1B-E6C2-85A3-3474-06DF7146D81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977523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83A9E8-57C3-DCB9-4717-A3EC49F8F7BF}"/>
              </a:ext>
            </a:extLst>
          </p:cNvPr>
          <p:cNvSpPr>
            <a:spLocks noGrp="1"/>
          </p:cNvSpPr>
          <p:nvPr>
            <p:ph type="dt" sz="half" idx="10"/>
          </p:nvPr>
        </p:nvSpPr>
        <p:spPr/>
        <p:txBody>
          <a:bodyPr/>
          <a:lstStyle/>
          <a:p>
            <a:fld id="{E9C20B62-109B-4AAC-BAEF-F3A7BADEB72D}" type="datetime1">
              <a:rPr lang="en-CA" smtClean="0"/>
              <a:t>2024-10-10</a:t>
            </a:fld>
            <a:endParaRPr lang="en-CA"/>
          </a:p>
        </p:txBody>
      </p:sp>
      <p:sp>
        <p:nvSpPr>
          <p:cNvPr id="3" name="Footer Placeholder 2">
            <a:extLst>
              <a:ext uri="{FF2B5EF4-FFF2-40B4-BE49-F238E27FC236}">
                <a16:creationId xmlns:a16="http://schemas.microsoft.com/office/drawing/2014/main" id="{C09BEDE5-6876-8118-75C9-5F532DFAEFD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78072D6-9170-D90E-63D5-E155054BD15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11753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AA82-CA1D-E6F2-0783-F2B4C5A89B38}"/>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2E4951F-0C84-6586-C85E-12A786179AC7}"/>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CD76D8A-8EEF-372D-636F-8BA1DA874DA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2F7461-9D3E-9ECB-3667-38DAB018AD70}"/>
              </a:ext>
            </a:extLst>
          </p:cNvPr>
          <p:cNvSpPr>
            <a:spLocks noGrp="1"/>
          </p:cNvSpPr>
          <p:nvPr>
            <p:ph type="dt" sz="half" idx="10"/>
          </p:nvPr>
        </p:nvSpPr>
        <p:spPr/>
        <p:txBody>
          <a:bodyPr/>
          <a:lstStyle/>
          <a:p>
            <a:fld id="{1A0EB0CF-B17E-472A-BC26-6DC823F7C4AB}" type="datetime1">
              <a:rPr lang="en-CA" smtClean="0"/>
              <a:t>2024-10-10</a:t>
            </a:fld>
            <a:endParaRPr lang="en-CA"/>
          </a:p>
        </p:txBody>
      </p:sp>
      <p:sp>
        <p:nvSpPr>
          <p:cNvPr id="6" name="Footer Placeholder 5">
            <a:extLst>
              <a:ext uri="{FF2B5EF4-FFF2-40B4-BE49-F238E27FC236}">
                <a16:creationId xmlns:a16="http://schemas.microsoft.com/office/drawing/2014/main" id="{A4CA7C11-3C22-C8B7-4095-3862B93A06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995527-A49A-20DE-E175-E68D4C8EDC06}"/>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15972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284D-B48C-B723-D8BB-A4D50EF02F40}"/>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B5FA03A-2B4A-7CCA-E241-034E98574D11}"/>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EE4D383E-8C62-24EF-1FE6-82518134A0C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B84752-9508-7F5C-3105-EFBDC5412EE7}"/>
              </a:ext>
            </a:extLst>
          </p:cNvPr>
          <p:cNvSpPr>
            <a:spLocks noGrp="1"/>
          </p:cNvSpPr>
          <p:nvPr>
            <p:ph type="dt" sz="half" idx="10"/>
          </p:nvPr>
        </p:nvSpPr>
        <p:spPr/>
        <p:txBody>
          <a:bodyPr/>
          <a:lstStyle/>
          <a:p>
            <a:fld id="{4AD076A6-A460-4E2B-9EE9-AE55BC3E13D1}" type="datetime1">
              <a:rPr lang="en-CA" smtClean="0"/>
              <a:t>2024-10-10</a:t>
            </a:fld>
            <a:endParaRPr lang="en-CA"/>
          </a:p>
        </p:txBody>
      </p:sp>
      <p:sp>
        <p:nvSpPr>
          <p:cNvPr id="6" name="Footer Placeholder 5">
            <a:extLst>
              <a:ext uri="{FF2B5EF4-FFF2-40B4-BE49-F238E27FC236}">
                <a16:creationId xmlns:a16="http://schemas.microsoft.com/office/drawing/2014/main" id="{4A0AC790-735A-449E-B374-44ECC9BC08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230C98-488F-D989-FFAF-7F20043477E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5117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3ECE-26A4-679D-07F9-D3D5DEE1C73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13ACBFF-A176-C1E3-6CAD-220643F07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307B01-EA56-6E5E-B163-E12BB8DD7F56}"/>
              </a:ext>
            </a:extLst>
          </p:cNvPr>
          <p:cNvSpPr>
            <a:spLocks noGrp="1"/>
          </p:cNvSpPr>
          <p:nvPr>
            <p:ph type="dt" sz="half" idx="10"/>
          </p:nvPr>
        </p:nvSpPr>
        <p:spPr/>
        <p:txBody>
          <a:bodyPr/>
          <a:lstStyle/>
          <a:p>
            <a:fld id="{3E901F6F-9F28-4F3A-AF49-E4E44FECA7AB}" type="datetime1">
              <a:rPr lang="en-CA" smtClean="0"/>
              <a:t>2024-10-10</a:t>
            </a:fld>
            <a:endParaRPr lang="en-CA"/>
          </a:p>
        </p:txBody>
      </p:sp>
      <p:sp>
        <p:nvSpPr>
          <p:cNvPr id="5" name="Footer Placeholder 4">
            <a:extLst>
              <a:ext uri="{FF2B5EF4-FFF2-40B4-BE49-F238E27FC236}">
                <a16:creationId xmlns:a16="http://schemas.microsoft.com/office/drawing/2014/main" id="{C77B0836-B38E-7769-DC76-E99FDEB6A0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42AE4A-481E-0534-464E-5ACF117FFA0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354060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E68531-120E-3E4B-733D-B4CD40D21354}"/>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45786F-C53B-AD40-36F6-1685A54A256F}"/>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E4159-A5D0-0783-F8C1-A51FC6521E28}"/>
              </a:ext>
            </a:extLst>
          </p:cNvPr>
          <p:cNvSpPr>
            <a:spLocks noGrp="1"/>
          </p:cNvSpPr>
          <p:nvPr>
            <p:ph type="dt" sz="half" idx="10"/>
          </p:nvPr>
        </p:nvSpPr>
        <p:spPr/>
        <p:txBody>
          <a:bodyPr/>
          <a:lstStyle/>
          <a:p>
            <a:fld id="{910643E1-3C4B-4CD5-B236-8DDE9807FB4E}" type="datetime1">
              <a:rPr lang="en-CA" smtClean="0"/>
              <a:t>2024-10-10</a:t>
            </a:fld>
            <a:endParaRPr lang="en-CA"/>
          </a:p>
        </p:txBody>
      </p:sp>
      <p:sp>
        <p:nvSpPr>
          <p:cNvPr id="5" name="Footer Placeholder 4">
            <a:extLst>
              <a:ext uri="{FF2B5EF4-FFF2-40B4-BE49-F238E27FC236}">
                <a16:creationId xmlns:a16="http://schemas.microsoft.com/office/drawing/2014/main" id="{52FFBBFB-9073-1CC3-EB25-4AAA515B3F1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66E391D-D504-AA1F-D1B6-1DF4FF8D13F1}"/>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8419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48000" y="3124200"/>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8000" y="5003322"/>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fld id="{818D8D12-7CDF-4595-A908-26EA90135E28}" type="datetime1">
              <a:rPr lang="en-CA" smtClean="0"/>
              <a:t>2024-10-10</a:t>
            </a:fld>
            <a:endParaRPr lang="en-CA"/>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CA"/>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9" name="Slide Number Placeholder 28"/>
          <p:cNvSpPr>
            <a:spLocks noGrp="1"/>
          </p:cNvSpPr>
          <p:nvPr>
            <p:ph type="sldNum" sz="quarter" idx="12"/>
          </p:nvPr>
        </p:nvSpPr>
        <p:spPr bwMode="auto">
          <a:xfrm>
            <a:off x="1767392" y="4928702"/>
            <a:ext cx="812800" cy="517524"/>
          </a:xfrm>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2857780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2E0F963D-4464-499F-AF62-C6E82BAD4853}" type="datetime1">
              <a:rPr lang="en-CA" smtClean="0"/>
              <a:t>2024-10-10</a:t>
            </a:fld>
            <a:endParaRPr lang="en-CA"/>
          </a:p>
        </p:txBody>
      </p:sp>
      <p:sp>
        <p:nvSpPr>
          <p:cNvPr id="9" name="Slide Number Placeholder 8"/>
          <p:cNvSpPr>
            <a:spLocks noGrp="1"/>
          </p:cNvSpPr>
          <p:nvPr>
            <p:ph type="sldNum" sz="quarter" idx="15"/>
          </p:nvPr>
        </p:nvSpPr>
        <p:spPr/>
        <p:txBody>
          <a:bodyPr rtlCol="0"/>
          <a:lstStyle/>
          <a:p>
            <a:fld id="{3AAB7785-396F-4915-8DFC-F7434CCA128E}" type="slidenum">
              <a:rPr lang="en-CA" smtClean="0"/>
              <a:t>‹#›</a:t>
            </a:fld>
            <a:endParaRPr lang="en-CA"/>
          </a:p>
        </p:txBody>
      </p:sp>
      <p:sp>
        <p:nvSpPr>
          <p:cNvPr id="10" name="Footer Placeholder 9"/>
          <p:cNvSpPr>
            <a:spLocks noGrp="1"/>
          </p:cNvSpPr>
          <p:nvPr>
            <p:ph type="ftr" sz="quarter" idx="16"/>
          </p:nvPr>
        </p:nvSpPr>
        <p:spPr/>
        <p:txBody>
          <a:bodyPr rtlCol="0"/>
          <a:lstStyle/>
          <a:p>
            <a:endParaRPr lang="en-CA"/>
          </a:p>
        </p:txBody>
      </p:sp>
    </p:spTree>
    <p:extLst>
      <p:ext uri="{BB962C8B-B14F-4D97-AF65-F5344CB8AC3E}">
        <p14:creationId xmlns:p14="http://schemas.microsoft.com/office/powerpoint/2010/main" val="2989624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0" y="2895600"/>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48000" y="5010150"/>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fld id="{9560C6B9-8E15-4029-AF23-DFD91F42C03D}" type="datetime1">
              <a:rPr lang="en-CA" smtClean="0"/>
              <a:t>2024-10-10</a:t>
            </a:fld>
            <a:endParaRPr lang="en-CA"/>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CA"/>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6" name="Slide Number Placeholder 5"/>
          <p:cNvSpPr>
            <a:spLocks noGrp="1"/>
          </p:cNvSpPr>
          <p:nvPr>
            <p:ph type="sldNum" sz="quarter" idx="12"/>
          </p:nvPr>
        </p:nvSpPr>
        <p:spPr bwMode="auto">
          <a:xfrm>
            <a:off x="1787488" y="4928702"/>
            <a:ext cx="812800" cy="517524"/>
          </a:xfrm>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9771669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7A4038E-73CC-4937-944C-EE1334E4E461}" type="datetime1">
              <a:rPr lang="en-CA" smtClean="0"/>
              <a:t>2024-10-10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AAB7785-396F-4915-8DFC-F7434CCA128E}" type="slidenum">
              <a:rPr lang="en-CA" smtClean="0"/>
              <a:t>‹#›</a:t>
            </a:fld>
            <a:endParaRPr lang="en-CA"/>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106853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F046C38C-0FE4-4FBE-A5AD-606C2A78943C}" type="datetime1">
              <a:rPr lang="en-CA" smtClean="0"/>
              <a:t>2024-10-10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3AAB7785-396F-4915-8DFC-F7434CCA128E}" type="slidenum">
              <a:rPr lang="en-CA" smtClean="0"/>
              <a:t>‹#›</a:t>
            </a:fld>
            <a:endParaRPr lang="en-CA"/>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333929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6EEC274-E6F7-497C-9C05-2AFE280166A0}" type="datetime1">
              <a:rPr lang="en-CA" smtClean="0"/>
              <a:t>2024-10-10</a:t>
            </a:fld>
            <a:endParaRPr lang="en-CA"/>
          </a:p>
        </p:txBody>
      </p:sp>
      <p:sp>
        <p:nvSpPr>
          <p:cNvPr id="7" name="Slide Number Placeholder 6"/>
          <p:cNvSpPr>
            <a:spLocks noGrp="1"/>
          </p:cNvSpPr>
          <p:nvPr>
            <p:ph type="sldNum" sz="quarter" idx="11"/>
          </p:nvPr>
        </p:nvSpPr>
        <p:spPr/>
        <p:txBody>
          <a:bodyPr rtlCol="0"/>
          <a:lstStyle/>
          <a:p>
            <a:fld id="{3AAB7785-396F-4915-8DFC-F7434CCA128E}" type="slidenum">
              <a:rPr lang="en-CA" smtClean="0"/>
              <a:t>‹#›</a:t>
            </a:fld>
            <a:endParaRPr lang="en-CA"/>
          </a:p>
        </p:txBody>
      </p:sp>
      <p:sp>
        <p:nvSpPr>
          <p:cNvPr id="8" name="Footer Placeholder 7"/>
          <p:cNvSpPr>
            <a:spLocks noGrp="1"/>
          </p:cNvSpPr>
          <p:nvPr>
            <p:ph type="ftr" sz="quarter" idx="12"/>
          </p:nvPr>
        </p:nvSpPr>
        <p:spPr/>
        <p:txBody>
          <a:bodyPr rtlCol="0"/>
          <a:lstStyle/>
          <a:p>
            <a:endParaRPr lang="en-CA"/>
          </a:p>
        </p:txBody>
      </p:sp>
    </p:spTree>
    <p:extLst>
      <p:ext uri="{BB962C8B-B14F-4D97-AF65-F5344CB8AC3E}">
        <p14:creationId xmlns:p14="http://schemas.microsoft.com/office/powerpoint/2010/main" val="3808229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C20B62-109B-4AAC-BAEF-F3A7BADEB72D}" type="datetime1">
              <a:rPr lang="en-CA" smtClean="0"/>
              <a:t>2024-10-10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0828527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A0EB0CF-B17E-472A-BC26-6DC823F7C4AB}" type="datetime1">
              <a:rPr lang="en-CA" smtClean="0"/>
              <a:t>2024-10-10</a:t>
            </a:fld>
            <a:endParaRPr lang="en-CA"/>
          </a:p>
        </p:txBody>
      </p:sp>
      <p:sp>
        <p:nvSpPr>
          <p:cNvPr id="22" name="Slide Number Placeholder 21"/>
          <p:cNvSpPr>
            <a:spLocks noGrp="1"/>
          </p:cNvSpPr>
          <p:nvPr>
            <p:ph type="sldNum" sz="quarter" idx="15"/>
          </p:nvPr>
        </p:nvSpPr>
        <p:spPr/>
        <p:txBody>
          <a:bodyPr rtlCol="0"/>
          <a:lstStyle/>
          <a:p>
            <a:fld id="{3AAB7785-396F-4915-8DFC-F7434CCA128E}" type="slidenum">
              <a:rPr lang="en-CA" smtClean="0"/>
              <a:t>‹#›</a:t>
            </a:fld>
            <a:endParaRPr lang="en-CA"/>
          </a:p>
        </p:txBody>
      </p:sp>
      <p:sp>
        <p:nvSpPr>
          <p:cNvPr id="23" name="Footer Placeholder 22"/>
          <p:cNvSpPr>
            <a:spLocks noGrp="1"/>
          </p:cNvSpPr>
          <p:nvPr>
            <p:ph type="ftr" sz="quarter" idx="16"/>
          </p:nvPr>
        </p:nvSpPr>
        <p:spPr/>
        <p:txBody>
          <a:bodyPr rtlCol="0"/>
          <a:lstStyle/>
          <a:p>
            <a:endParaRPr lang="en-CA"/>
          </a:p>
        </p:txBody>
      </p:sp>
    </p:spTree>
    <p:extLst>
      <p:ext uri="{BB962C8B-B14F-4D97-AF65-F5344CB8AC3E}">
        <p14:creationId xmlns:p14="http://schemas.microsoft.com/office/powerpoint/2010/main" val="81219975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7" name="Date Placeholder 16"/>
          <p:cNvSpPr>
            <a:spLocks noGrp="1"/>
          </p:cNvSpPr>
          <p:nvPr>
            <p:ph type="dt" sz="half" idx="10"/>
          </p:nvPr>
        </p:nvSpPr>
        <p:spPr/>
        <p:txBody>
          <a:bodyPr rtlCol="0"/>
          <a:lstStyle/>
          <a:p>
            <a:fld id="{4AD076A6-A460-4E2B-9EE9-AE55BC3E13D1}" type="datetime1">
              <a:rPr lang="en-CA" smtClean="0"/>
              <a:t>2024-10-10</a:t>
            </a:fld>
            <a:endParaRPr lang="en-CA"/>
          </a:p>
        </p:txBody>
      </p:sp>
      <p:sp>
        <p:nvSpPr>
          <p:cNvPr id="18" name="Slide Number Placeholder 17"/>
          <p:cNvSpPr>
            <a:spLocks noGrp="1"/>
          </p:cNvSpPr>
          <p:nvPr>
            <p:ph type="sldNum" sz="quarter" idx="11"/>
          </p:nvPr>
        </p:nvSpPr>
        <p:spPr/>
        <p:txBody>
          <a:bodyPr rtlCol="0"/>
          <a:lstStyle/>
          <a:p>
            <a:fld id="{3AAB7785-396F-4915-8DFC-F7434CCA128E}" type="slidenum">
              <a:rPr lang="en-CA" smtClean="0"/>
              <a:t>‹#›</a:t>
            </a:fld>
            <a:endParaRPr lang="en-CA"/>
          </a:p>
        </p:txBody>
      </p:sp>
      <p:sp>
        <p:nvSpPr>
          <p:cNvPr id="21" name="Footer Placeholder 20"/>
          <p:cNvSpPr>
            <a:spLocks noGrp="1"/>
          </p:cNvSpPr>
          <p:nvPr>
            <p:ph type="ftr" sz="quarter" idx="12"/>
          </p:nvPr>
        </p:nvSpPr>
        <p:spPr/>
        <p:txBody>
          <a:bodyPr rtlCol="0"/>
          <a:lstStyle/>
          <a:p>
            <a:endParaRPr lang="en-CA"/>
          </a:p>
        </p:txBody>
      </p:sp>
    </p:spTree>
    <p:extLst>
      <p:ext uri="{BB962C8B-B14F-4D97-AF65-F5344CB8AC3E}">
        <p14:creationId xmlns:p14="http://schemas.microsoft.com/office/powerpoint/2010/main" val="1869705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901F6F-9F28-4F3A-AF49-E4E44FECA7AB}" type="datetime1">
              <a:rPr lang="en-CA" smtClean="0"/>
              <a:t>2024-10-10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878276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0643E1-3C4B-4CD5-B236-8DDE9807FB4E}" type="datetime1">
              <a:rPr lang="en-CA" smtClean="0"/>
              <a:t>2024-10-10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602364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A2B77-1B53-53A4-871B-C13690253A8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126712-CA5E-F8DD-72BC-172C997EDF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7932DD-A45B-9231-C29D-CFB96E8A5541}"/>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B309345-F267-40A1-B40F-4ACA86BD5316}" type="datetime1">
              <a:rPr lang="en-CA" smtClean="0"/>
              <a:t>2024-10-10</a:t>
            </a:fld>
            <a:endParaRPr lang="en-CA"/>
          </a:p>
        </p:txBody>
      </p:sp>
      <p:sp>
        <p:nvSpPr>
          <p:cNvPr id="5" name="Footer Placeholder 4">
            <a:extLst>
              <a:ext uri="{FF2B5EF4-FFF2-40B4-BE49-F238E27FC236}">
                <a16:creationId xmlns:a16="http://schemas.microsoft.com/office/drawing/2014/main" id="{0FD21CAE-31E7-977F-037D-F8D1E94E8E93}"/>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0FD474A-00A5-7345-3557-4E9979B1075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448267820"/>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fld id="{EB309345-F267-40A1-B40F-4ACA86BD5316}" type="datetime1">
              <a:rPr lang="en-CA" smtClean="0"/>
              <a:t>2024-10-10</a:t>
            </a:fld>
            <a:endParaRPr lang="en-CA"/>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CA"/>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328743646"/>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hopscotch on a sidewalk">
            <a:extLst>
              <a:ext uri="{FF2B5EF4-FFF2-40B4-BE49-F238E27FC236}">
                <a16:creationId xmlns:a16="http://schemas.microsoft.com/office/drawing/2014/main" id="{8AF264BD-D168-BF91-EE8B-F98E052D9982}"/>
              </a:ext>
            </a:extLst>
          </p:cNvPr>
          <p:cNvPicPr>
            <a:picLocks noChangeAspect="1"/>
          </p:cNvPicPr>
          <p:nvPr/>
        </p:nvPicPr>
        <p:blipFill>
          <a:blip r:embed="rId2"/>
          <a:srcRect t="8211" r="23298" b="880"/>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CA" sz="4800">
                <a:ln w="22225">
                  <a:solidFill>
                    <a:schemeClr val="tx1"/>
                  </a:solidFill>
                  <a:miter lim="800000"/>
                </a:ln>
              </a:rPr>
              <a:t>Chapter 6</a:t>
            </a:r>
          </a:p>
        </p:txBody>
      </p:sp>
      <p:sp>
        <p:nvSpPr>
          <p:cNvPr id="3" name="Subtitle 2"/>
          <p:cNvSpPr>
            <a:spLocks noGrp="1"/>
          </p:cNvSpPr>
          <p:nvPr>
            <p:ph type="subTitle" idx="1"/>
          </p:nvPr>
        </p:nvSpPr>
        <p:spPr>
          <a:xfrm>
            <a:off x="477980" y="4872922"/>
            <a:ext cx="4023359" cy="1208141"/>
          </a:xfrm>
        </p:spPr>
        <p:txBody>
          <a:bodyPr>
            <a:normAutofit/>
          </a:bodyPr>
          <a:lstStyle/>
          <a:p>
            <a:pPr algn="l"/>
            <a:r>
              <a:rPr lang="en-GB" sz="2000" b="1"/>
              <a:t>Security in the Network and Internet</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589971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Chapter Outline</a:t>
            </a:r>
          </a:p>
        </p:txBody>
      </p:sp>
      <p:sp>
        <p:nvSpPr>
          <p:cNvPr id="3" name="Content Placeholder 2"/>
          <p:cNvSpPr>
            <a:spLocks noGrp="1"/>
          </p:cNvSpPr>
          <p:nvPr>
            <p:ph sz="quarter" idx="1"/>
          </p:nvPr>
        </p:nvSpPr>
        <p:spPr/>
        <p:txBody>
          <a:bodyPr>
            <a:normAutofit/>
          </a:bodyPr>
          <a:lstStyle/>
          <a:p>
            <a:r>
              <a:rPr lang="en-CA" dirty="0"/>
              <a:t>Networks</a:t>
            </a:r>
          </a:p>
          <a:p>
            <a:pPr lvl="1"/>
            <a:r>
              <a:rPr lang="en-CA" dirty="0"/>
              <a:t>Characteristics</a:t>
            </a:r>
          </a:p>
          <a:p>
            <a:pPr lvl="1"/>
            <a:r>
              <a:rPr lang="en-CA" dirty="0"/>
              <a:t>Dimensions</a:t>
            </a:r>
          </a:p>
          <a:p>
            <a:pPr lvl="1"/>
            <a:r>
              <a:rPr lang="en-CA" dirty="0"/>
              <a:t>Protocols</a:t>
            </a:r>
          </a:p>
          <a:p>
            <a:pPr lvl="1"/>
            <a:r>
              <a:rPr lang="en-CA" dirty="0"/>
              <a:t>Types</a:t>
            </a:r>
          </a:p>
          <a:p>
            <a:pPr lvl="1"/>
            <a:r>
              <a:rPr lang="en-CA" dirty="0"/>
              <a:t>Threats and Attacks</a:t>
            </a:r>
          </a:p>
          <a:p>
            <a:pPr lvl="1"/>
            <a:r>
              <a:rPr lang="en-CA" dirty="0"/>
              <a:t>Vulnerabilities</a:t>
            </a:r>
          </a:p>
          <a:p>
            <a:pPr lvl="1"/>
            <a:r>
              <a:rPr lang="en-CA" dirty="0"/>
              <a:t>Security Controls</a:t>
            </a:r>
          </a:p>
          <a:p>
            <a:r>
              <a:rPr lang="en-CA" dirty="0"/>
              <a:t>Firewalls</a:t>
            </a:r>
          </a:p>
          <a:p>
            <a:r>
              <a:rPr lang="en-CA" dirty="0"/>
              <a:t>Intrusion Detection Systems </a:t>
            </a:r>
          </a:p>
          <a:p>
            <a:r>
              <a:rPr lang="en-CA" dirty="0"/>
              <a:t>Secure E-Mail</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a:t>
            </a:fld>
            <a:endParaRPr lang="en-CA">
              <a:latin typeface="Century Schoolbook"/>
            </a:endParaRPr>
          </a:p>
        </p:txBody>
      </p:sp>
    </p:spTree>
    <p:extLst>
      <p:ext uri="{BB962C8B-B14F-4D97-AF65-F5344CB8AC3E}">
        <p14:creationId xmlns:p14="http://schemas.microsoft.com/office/powerpoint/2010/main" val="387755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Difference Between a Network and a Stand-alone Device</a:t>
            </a:r>
          </a:p>
        </p:txBody>
      </p:sp>
      <p:sp>
        <p:nvSpPr>
          <p:cNvPr id="3" name="Content Placeholder 2"/>
          <p:cNvSpPr>
            <a:spLocks noGrp="1"/>
          </p:cNvSpPr>
          <p:nvPr>
            <p:ph sz="quarter" idx="1"/>
          </p:nvPr>
        </p:nvSpPr>
        <p:spPr>
          <a:xfrm>
            <a:off x="1981200" y="1600200"/>
            <a:ext cx="8075240" cy="1684784"/>
          </a:xfrm>
        </p:spPr>
        <p:txBody>
          <a:bodyPr>
            <a:noAutofit/>
          </a:bodyPr>
          <a:lstStyle/>
          <a:p>
            <a:r>
              <a:rPr lang="en-CA" sz="1800" dirty="0"/>
              <a:t>The environment in which each operates</a:t>
            </a:r>
          </a:p>
          <a:p>
            <a:pPr lvl="1"/>
            <a:r>
              <a:rPr lang="en-CA" sz="1600" dirty="0"/>
              <a:t>Although some networks are located in protected spaces (for example, a LAN), at least some portion of most networks is exposed, often to total strangers</a:t>
            </a:r>
          </a:p>
          <a:p>
            <a:pPr lvl="1"/>
            <a:r>
              <a:rPr lang="en-CA" sz="1600" dirty="0"/>
              <a:t>For Example, Systems 2, 3, and 4 are remote from System 1, and they may be under different ownership or control</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a:t>
            </a:fld>
            <a:endParaRPr lang="en-CA">
              <a:latin typeface="Century Schoolbook"/>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259" y="3284984"/>
            <a:ext cx="7000875" cy="34099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Rectangle 5"/>
          <p:cNvSpPr/>
          <p:nvPr/>
        </p:nvSpPr>
        <p:spPr>
          <a:xfrm>
            <a:off x="2325259" y="6325602"/>
            <a:ext cx="3153427" cy="369332"/>
          </a:xfrm>
          <a:prstGeom prst="rect">
            <a:avLst/>
          </a:prstGeom>
        </p:spPr>
        <p:txBody>
          <a:bodyPr wrap="none">
            <a:spAutoFit/>
          </a:bodyPr>
          <a:lstStyle/>
          <a:p>
            <a:pPr defTabSz="914400"/>
            <a:r>
              <a:rPr lang="en-CA" dirty="0">
                <a:solidFill>
                  <a:prstClr val="black"/>
                </a:solidFill>
                <a:latin typeface="Century Schoolbook"/>
              </a:rPr>
              <a:t>A Typical View of Networks</a:t>
            </a:r>
          </a:p>
        </p:txBody>
      </p:sp>
    </p:spTree>
    <p:extLst>
      <p:ext uri="{BB962C8B-B14F-4D97-AF65-F5344CB8AC3E}">
        <p14:creationId xmlns:p14="http://schemas.microsoft.com/office/powerpoint/2010/main" val="402632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Typical Characteristics</a:t>
            </a:r>
          </a:p>
        </p:txBody>
      </p:sp>
      <p:sp>
        <p:nvSpPr>
          <p:cNvPr id="3" name="Content Placeholder 2"/>
          <p:cNvSpPr>
            <a:spLocks noGrp="1"/>
          </p:cNvSpPr>
          <p:nvPr>
            <p:ph sz="quarter" idx="1"/>
          </p:nvPr>
        </p:nvSpPr>
        <p:spPr>
          <a:xfrm>
            <a:off x="1981200" y="1600200"/>
            <a:ext cx="5410944" cy="4873752"/>
          </a:xfrm>
        </p:spPr>
        <p:txBody>
          <a:bodyPr>
            <a:normAutofit/>
          </a:bodyPr>
          <a:lstStyle/>
          <a:p>
            <a:r>
              <a:rPr lang="en-CA" dirty="0"/>
              <a:t>Anonymity</a:t>
            </a:r>
          </a:p>
          <a:p>
            <a:r>
              <a:rPr lang="en-CA" dirty="0"/>
              <a:t>Automation</a:t>
            </a:r>
          </a:p>
          <a:p>
            <a:pPr lvl="1"/>
            <a:r>
              <a:rPr lang="en-CA" dirty="0"/>
              <a:t>Some nodes as well as all intermediate points may be machines with only minimal human supervision</a:t>
            </a:r>
          </a:p>
          <a:p>
            <a:r>
              <a:rPr lang="en-CA" dirty="0"/>
              <a:t>Distance</a:t>
            </a:r>
          </a:p>
          <a:p>
            <a:r>
              <a:rPr lang="en-CA" dirty="0"/>
              <a:t>Opaqueness</a:t>
            </a:r>
          </a:p>
          <a:p>
            <a:r>
              <a:rPr lang="en-CA" dirty="0"/>
              <a:t>Routing diversity</a:t>
            </a:r>
          </a:p>
          <a:p>
            <a:pPr lvl="1"/>
            <a:r>
              <a:rPr lang="en-CA" dirty="0"/>
              <a:t>Routings are usually dynamic to maintain or improve reliability and performance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a:t>
            </a:fld>
            <a:endParaRPr lang="en-CA">
              <a:latin typeface="Century Schoolbook"/>
            </a:endParaRPr>
          </a:p>
        </p:txBody>
      </p:sp>
      <p:pic>
        <p:nvPicPr>
          <p:cNvPr id="2050" name="Picture 2" descr="http://thewhitenetwork.com/wp-content/uploads/2013/02/HH_dog-on-internet-larger-300x24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44" y="1556793"/>
            <a:ext cx="2857500" cy="235267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39203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Dimensions</a:t>
            </a:r>
          </a:p>
        </p:txBody>
      </p:sp>
      <p:sp>
        <p:nvSpPr>
          <p:cNvPr id="3" name="Content Placeholder 2"/>
          <p:cNvSpPr>
            <a:spLocks noGrp="1"/>
          </p:cNvSpPr>
          <p:nvPr>
            <p:ph sz="quarter" idx="1"/>
          </p:nvPr>
        </p:nvSpPr>
        <p:spPr>
          <a:xfrm>
            <a:off x="1981200" y="1600200"/>
            <a:ext cx="7467600" cy="5069160"/>
          </a:xfrm>
        </p:spPr>
        <p:txBody>
          <a:bodyPr>
            <a:normAutofit fontScale="92500" lnSpcReduction="20000"/>
          </a:bodyPr>
          <a:lstStyle/>
          <a:p>
            <a:r>
              <a:rPr lang="en-CA" dirty="0"/>
              <a:t>Boundary</a:t>
            </a:r>
          </a:p>
          <a:p>
            <a:pPr lvl="1"/>
            <a:r>
              <a:rPr lang="en-CA" dirty="0"/>
              <a:t>Distinguishes an element of the network from an element outside it</a:t>
            </a:r>
          </a:p>
          <a:p>
            <a:r>
              <a:rPr lang="en-CA" dirty="0"/>
              <a:t>Ownership</a:t>
            </a:r>
          </a:p>
          <a:p>
            <a:pPr lvl="1"/>
            <a:r>
              <a:rPr lang="en-CA" dirty="0"/>
              <a:t>The network administrator’s organization may own the network infrastructure, including the cable and network devices</a:t>
            </a:r>
          </a:p>
          <a:p>
            <a:pPr lvl="1"/>
            <a:r>
              <a:rPr lang="en-CA" dirty="0"/>
              <a:t>However, certain hosts may be connected to a network for convenience, not necessarily implying ownership.</a:t>
            </a:r>
          </a:p>
          <a:p>
            <a:r>
              <a:rPr lang="en-CA" dirty="0"/>
              <a:t>Control</a:t>
            </a:r>
          </a:p>
          <a:p>
            <a:pPr lvl="1"/>
            <a:r>
              <a:rPr lang="en-CA" dirty="0"/>
              <a:t>If ownership is uncertain, control must be, too</a:t>
            </a:r>
          </a:p>
          <a:p>
            <a:pPr lvl="1"/>
            <a:r>
              <a:rPr lang="en-CA" dirty="0"/>
              <a:t>For an arbitrary host</a:t>
            </a:r>
          </a:p>
          <a:p>
            <a:pPr lvl="2"/>
            <a:r>
              <a:rPr lang="en-CA" dirty="0"/>
              <a:t>Is it part of network A? </a:t>
            </a:r>
          </a:p>
          <a:p>
            <a:pPr lvl="2"/>
            <a:r>
              <a:rPr lang="en-CA" dirty="0"/>
              <a:t>If yes, is it under the control of network A’s administrator?</a:t>
            </a:r>
          </a:p>
          <a:p>
            <a:pPr lvl="2"/>
            <a:r>
              <a:rPr lang="en-CA" dirty="0"/>
              <a:t>Does that administrator establish access control policies for the network?</a:t>
            </a:r>
          </a:p>
          <a:p>
            <a:pPr lvl="2"/>
            <a:r>
              <a:rPr lang="en-CA" dirty="0"/>
              <a:t>Does that administrator determine when its software must be upgraded and to what version?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a:t>
            </a:fld>
            <a:endParaRPr lang="en-CA">
              <a:latin typeface="Century Schoolbook"/>
            </a:endParaRPr>
          </a:p>
        </p:txBody>
      </p:sp>
    </p:spTree>
    <p:extLst>
      <p:ext uri="{BB962C8B-B14F-4D97-AF65-F5344CB8AC3E}">
        <p14:creationId xmlns:p14="http://schemas.microsoft.com/office/powerpoint/2010/main" val="120429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a:t>
            </a:r>
          </a:p>
        </p:txBody>
      </p:sp>
      <p:sp>
        <p:nvSpPr>
          <p:cNvPr id="3" name="Content Placeholder 2"/>
          <p:cNvSpPr>
            <a:spLocks noGrp="1"/>
          </p:cNvSpPr>
          <p:nvPr>
            <p:ph sz="quarter" idx="1"/>
          </p:nvPr>
        </p:nvSpPr>
        <p:spPr/>
        <p:txBody>
          <a:bodyPr/>
          <a:lstStyle/>
          <a:p>
            <a:r>
              <a:rPr lang="en-CA" dirty="0"/>
              <a:t>Allow a user to view the network at a high, abstract level of communication</a:t>
            </a:r>
          </a:p>
          <a:p>
            <a:r>
              <a:rPr lang="en-CA" dirty="0"/>
              <a:t>A layered architecture for communications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a:t>
            </a:fld>
            <a:endParaRPr lang="en-CA">
              <a:latin typeface="Century Schoolbook"/>
            </a:endParaRPr>
          </a:p>
        </p:txBody>
      </p:sp>
      <p:pic>
        <p:nvPicPr>
          <p:cNvPr id="5" name="Picture 3" descr="Fig07-05.tif                                                   000182B7BridgerH HD                    ABA78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6404" y="2924945"/>
            <a:ext cx="4957829" cy="3311795"/>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4295801" y="6381328"/>
            <a:ext cx="3058851" cy="369332"/>
          </a:xfrm>
          <a:prstGeom prst="rect">
            <a:avLst/>
          </a:prstGeom>
        </p:spPr>
        <p:txBody>
          <a:bodyPr wrap="none">
            <a:spAutoFit/>
          </a:bodyPr>
          <a:lstStyle/>
          <a:p>
            <a:pPr defTabSz="914400"/>
            <a:r>
              <a:rPr lang="en-CA" b="1" dirty="0">
                <a:solidFill>
                  <a:prstClr val="black"/>
                </a:solidFill>
                <a:latin typeface="Century Schoolbook"/>
              </a:rPr>
              <a:t>ISO OSI Network Model</a:t>
            </a:r>
          </a:p>
        </p:txBody>
      </p:sp>
    </p:spTree>
    <p:extLst>
      <p:ext uri="{BB962C8B-B14F-4D97-AF65-F5344CB8AC3E}">
        <p14:creationId xmlns:p14="http://schemas.microsoft.com/office/powerpoint/2010/main" val="263431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p:txBody>
          <a:bodyPr/>
          <a:lstStyle/>
          <a:p>
            <a:r>
              <a:rPr lang="en-CA" dirty="0"/>
              <a:t>Application Layer</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a:t>
            </a:fld>
            <a:endParaRPr lang="en-CA">
              <a:latin typeface="Century Schoolbook"/>
            </a:endParaRPr>
          </a:p>
        </p:txBody>
      </p:sp>
      <p:pic>
        <p:nvPicPr>
          <p:cNvPr id="7" name="Picture 3" descr="Fig07-06.tif                                                   000182B7BridgerH HD                    ABA781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5760" y="2420889"/>
            <a:ext cx="4368800" cy="351472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505126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8219256" cy="4873752"/>
          </a:xfrm>
        </p:spPr>
        <p:txBody>
          <a:bodyPr>
            <a:normAutofit lnSpcReduction="10000"/>
          </a:bodyPr>
          <a:lstStyle/>
          <a:p>
            <a:r>
              <a:rPr lang="en-CA" dirty="0"/>
              <a:t>Presentation Layer</a:t>
            </a:r>
          </a:p>
          <a:p>
            <a:pPr lvl="1"/>
            <a:r>
              <a:rPr lang="en-CA" dirty="0"/>
              <a:t>Standardized data appearance, blocking, text compression</a:t>
            </a:r>
          </a:p>
          <a:p>
            <a:pPr lvl="2"/>
            <a:r>
              <a:rPr lang="en-CA" dirty="0"/>
              <a:t>Compression</a:t>
            </a:r>
          </a:p>
          <a:p>
            <a:pPr lvl="2"/>
            <a:r>
              <a:rPr lang="en-CA" dirty="0"/>
              <a:t>Character conversions</a:t>
            </a:r>
          </a:p>
          <a:p>
            <a:pPr lvl="2"/>
            <a:r>
              <a:rPr lang="en-CA" dirty="0"/>
              <a:t>Cryptography</a:t>
            </a:r>
          </a:p>
          <a:p>
            <a:pPr lvl="2"/>
            <a:r>
              <a:rPr lang="en-CA" dirty="0"/>
              <a:t>…</a:t>
            </a:r>
          </a:p>
          <a:p>
            <a:r>
              <a:rPr lang="en-CA" dirty="0"/>
              <a:t>Session Layer</a:t>
            </a:r>
          </a:p>
          <a:p>
            <a:pPr lvl="1"/>
            <a:r>
              <a:rPr lang="en-CA" dirty="0"/>
              <a:t>Sessions or logical connections between parts of an application</a:t>
            </a:r>
          </a:p>
          <a:p>
            <a:pPr lvl="2"/>
            <a:r>
              <a:rPr lang="en-CA" dirty="0"/>
              <a:t>Message sequencing</a:t>
            </a:r>
          </a:p>
          <a:p>
            <a:pPr lvl="2"/>
            <a:r>
              <a:rPr lang="en-CA" dirty="0"/>
              <a:t>Recovery</a:t>
            </a:r>
          </a:p>
          <a:p>
            <a:r>
              <a:rPr lang="en-CA" dirty="0"/>
              <a:t>Transport Layer</a:t>
            </a:r>
          </a:p>
          <a:p>
            <a:pPr lvl="1"/>
            <a:r>
              <a:rPr lang="en-CA" dirty="0"/>
              <a:t>Flow control, end-to-end error detection and correction, priority service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8</a:t>
            </a:fld>
            <a:endParaRPr lang="en-CA">
              <a:latin typeface="Century Schoolbook"/>
            </a:endParaRPr>
          </a:p>
        </p:txBody>
      </p:sp>
    </p:spTree>
    <p:extLst>
      <p:ext uri="{BB962C8B-B14F-4D97-AF65-F5344CB8AC3E}">
        <p14:creationId xmlns:p14="http://schemas.microsoft.com/office/powerpoint/2010/main" val="416086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8219256" cy="4873752"/>
          </a:xfrm>
        </p:spPr>
        <p:txBody>
          <a:bodyPr>
            <a:normAutofit/>
          </a:bodyPr>
          <a:lstStyle/>
          <a:p>
            <a:r>
              <a:rPr lang="en-CA" dirty="0"/>
              <a:t>Network Layer</a:t>
            </a:r>
          </a:p>
          <a:p>
            <a:pPr lvl="1"/>
            <a:r>
              <a:rPr lang="en-CA" dirty="0"/>
              <a:t>Routing, message blocking into uniformly sized packets</a:t>
            </a:r>
          </a:p>
          <a:p>
            <a:pPr lvl="1"/>
            <a:r>
              <a:rPr lang="en-CA" dirty="0"/>
              <a:t>Example</a:t>
            </a:r>
          </a:p>
          <a:p>
            <a:pPr lvl="2"/>
            <a:r>
              <a:rPr lang="en-CA" dirty="0"/>
              <a:t>adds two headers to show your computer’s address as the source and </a:t>
            </a:r>
            <a:r>
              <a:rPr lang="en-CA" dirty="0" err="1"/>
              <a:t>somewhere.net’s</a:t>
            </a:r>
            <a:r>
              <a:rPr lang="en-CA" dirty="0"/>
              <a:t> address as the destination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9</a:t>
            </a:fld>
            <a:endParaRPr lang="en-CA">
              <a:latin typeface="Century Schoolbook"/>
            </a:endParaRPr>
          </a:p>
        </p:txBody>
      </p:sp>
      <p:pic>
        <p:nvPicPr>
          <p:cNvPr id="5" name="Picture 5" descr="Fig07-07_rev.jpg                                               0020AF06Macintosh HD                   BBA76DE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3672" y="4044280"/>
            <a:ext cx="5923800" cy="20882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8848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8219256" cy="4873752"/>
          </a:xfrm>
        </p:spPr>
        <p:txBody>
          <a:bodyPr>
            <a:normAutofit/>
          </a:bodyPr>
          <a:lstStyle/>
          <a:p>
            <a:r>
              <a:rPr lang="en-CA" dirty="0"/>
              <a:t>Data Link Layer</a:t>
            </a:r>
          </a:p>
          <a:p>
            <a:pPr lvl="1"/>
            <a:r>
              <a:rPr lang="en-CA" dirty="0"/>
              <a:t>Reliable data delivery over physical medium; transmission error recovery, separating packets into uniformly sized frames</a:t>
            </a:r>
          </a:p>
          <a:p>
            <a:pPr lvl="2"/>
            <a:r>
              <a:rPr lang="en-CA" dirty="0"/>
              <a:t>Every computer connected to a network has a Network Interface Card (NIC) with a unique physical address, a MAC address</a:t>
            </a:r>
          </a:p>
          <a:p>
            <a:pPr lvl="2"/>
            <a:r>
              <a:rPr lang="en-CA" dirty="0"/>
              <a:t>Two more headers are added, one for your computer’s NIC address and one for your router’s NIC address. A data link layer structure with destination MAC, source MAC, and data is called a </a:t>
            </a:r>
            <a:r>
              <a:rPr lang="en-CA" b="1" i="1" dirty="0"/>
              <a:t>frame</a:t>
            </a:r>
            <a:r>
              <a:rPr lang="en-CA" dirty="0"/>
              <a:t>. </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10</a:t>
            </a:fld>
            <a:endParaRPr lang="en-CA">
              <a:latin typeface="Century Schoolbook"/>
            </a:endParaRPr>
          </a:p>
        </p:txBody>
      </p:sp>
      <p:pic>
        <p:nvPicPr>
          <p:cNvPr id="6" name="Picture 7" descr="Fig07-08_rev.jpg                                               0020AF06Macintosh HD                   BBA76DE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9696" y="4653136"/>
            <a:ext cx="5499736" cy="20882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8410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8219256" cy="4873752"/>
          </a:xfrm>
        </p:spPr>
        <p:txBody>
          <a:bodyPr>
            <a:normAutofit/>
          </a:bodyPr>
          <a:lstStyle/>
          <a:p>
            <a:r>
              <a:rPr lang="en-CA" dirty="0"/>
              <a:t>Physical Layer</a:t>
            </a:r>
          </a:p>
          <a:p>
            <a:pPr lvl="1"/>
            <a:r>
              <a:rPr lang="en-CA" dirty="0"/>
              <a:t>Actual communication across physical medium; individual bit transmission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11</a:t>
            </a:fld>
            <a:endParaRPr lang="en-CA">
              <a:latin typeface="Century Schoolbook"/>
            </a:endParaRPr>
          </a:p>
        </p:txBody>
      </p:sp>
      <p:pic>
        <p:nvPicPr>
          <p:cNvPr id="7" name="Picture 6" descr="Fig07-09_rev.jpg                                               0020AF06Macintosh HD                   BBA76DE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7528" y="2780928"/>
            <a:ext cx="7862328" cy="3514088"/>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p:cNvSpPr/>
          <p:nvPr/>
        </p:nvSpPr>
        <p:spPr>
          <a:xfrm>
            <a:off x="3719736" y="6228020"/>
            <a:ext cx="4493538" cy="369332"/>
          </a:xfrm>
          <a:prstGeom prst="rect">
            <a:avLst/>
          </a:prstGeom>
        </p:spPr>
        <p:txBody>
          <a:bodyPr wrap="none">
            <a:spAutoFit/>
          </a:bodyPr>
          <a:lstStyle/>
          <a:p>
            <a:pPr defTabSz="914400"/>
            <a:r>
              <a:rPr lang="en-CA" b="1" dirty="0">
                <a:solidFill>
                  <a:prstClr val="black"/>
                </a:solidFill>
                <a:latin typeface="Century Schoolbook"/>
              </a:rPr>
              <a:t>Message Prepared for Transmission</a:t>
            </a:r>
          </a:p>
        </p:txBody>
      </p:sp>
    </p:spTree>
    <p:extLst>
      <p:ext uri="{BB962C8B-B14F-4D97-AF65-F5344CB8AC3E}">
        <p14:creationId xmlns:p14="http://schemas.microsoft.com/office/powerpoint/2010/main" val="387951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8219256" cy="4873752"/>
          </a:xfrm>
        </p:spPr>
        <p:txBody>
          <a:bodyPr>
            <a:normAutofit/>
          </a:bodyPr>
          <a:lstStyle/>
          <a:p>
            <a:r>
              <a:rPr lang="en-CA" sz="2000" dirty="0"/>
              <a:t>TCP/IP (Transmission Control Protocol/Internet Protocol)</a:t>
            </a:r>
          </a:p>
          <a:p>
            <a:pPr lvl="1"/>
            <a:r>
              <a:rPr lang="en-CA" sz="2000" dirty="0"/>
              <a:t>Full implementation of a seven-layer transmission carries too much overhead for megabit-per-second communications</a:t>
            </a:r>
          </a:p>
          <a:p>
            <a:pPr lvl="1"/>
            <a:r>
              <a:rPr lang="en-CA" sz="2000" dirty="0"/>
              <a:t>TCP/IP is the protocol stack used for most wide area network communications</a:t>
            </a:r>
          </a:p>
          <a:p>
            <a:pPr lvl="1"/>
            <a:r>
              <a:rPr lang="en-CA" sz="2000" dirty="0"/>
              <a:t>TCP/IP was invented for what became the Internet</a:t>
            </a:r>
          </a:p>
          <a:p>
            <a:pPr lvl="1"/>
            <a:r>
              <a:rPr lang="en-CA" sz="2000" dirty="0"/>
              <a:t>TCP/IP is defined by protocols, not layers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12</a:t>
            </a:fld>
            <a:endParaRPr lang="en-CA">
              <a:latin typeface="Century Schoolbook"/>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714" y="4221089"/>
            <a:ext cx="5704590" cy="249249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4325" y="4869161"/>
            <a:ext cx="1314450" cy="21907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1476" y="4676276"/>
            <a:ext cx="1581150" cy="2095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6040" y="4872536"/>
            <a:ext cx="2019300" cy="29527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109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074"/>
                                        </p:tgtEl>
                                        <p:attrNameLst>
                                          <p:attrName>style.visibility</p:attrName>
                                        </p:attrNameLst>
                                      </p:cBhvr>
                                      <p:to>
                                        <p:strVal val="visible"/>
                                      </p:to>
                                    </p:set>
                                    <p:animEffect transition="in" filter="fade">
                                      <p:cBhvr>
                                        <p:cTn id="3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7643192" cy="5069160"/>
          </a:xfrm>
        </p:spPr>
        <p:txBody>
          <a:bodyPr>
            <a:normAutofit fontScale="92500"/>
          </a:bodyPr>
          <a:lstStyle/>
          <a:p>
            <a:r>
              <a:rPr lang="en-CA" dirty="0"/>
              <a:t>TCP/IP (cont.)</a:t>
            </a:r>
          </a:p>
          <a:p>
            <a:pPr lvl="1"/>
            <a:r>
              <a:rPr lang="en-CA" sz="1800" dirty="0"/>
              <a:t>Must ensure the correct sequencing of packets</a:t>
            </a:r>
          </a:p>
          <a:p>
            <a:pPr lvl="1"/>
            <a:r>
              <a:rPr lang="en-CA" sz="1800" dirty="0"/>
              <a:t>Must ensure for the integrity (correct transmission) in packets</a:t>
            </a:r>
          </a:p>
          <a:p>
            <a:pPr lvl="1"/>
            <a:r>
              <a:rPr lang="en-CA" sz="1800" dirty="0"/>
              <a:t>It puts out-of-sequence packets in proper order</a:t>
            </a:r>
          </a:p>
          <a:p>
            <a:pPr lvl="1"/>
            <a:r>
              <a:rPr lang="en-CA" sz="1800" dirty="0"/>
              <a:t>It calls for retransmitting missing packets</a:t>
            </a:r>
          </a:p>
          <a:p>
            <a:pPr lvl="1"/>
            <a:r>
              <a:rPr lang="en-CA" sz="1800" dirty="0"/>
              <a:t>It obtains fresh copy of damaged packets</a:t>
            </a:r>
          </a:p>
          <a:p>
            <a:r>
              <a:rPr lang="en-CA" dirty="0"/>
              <a:t>A TCP packet</a:t>
            </a:r>
          </a:p>
          <a:p>
            <a:pPr lvl="1"/>
            <a:r>
              <a:rPr lang="en-CA" sz="1800" dirty="0"/>
              <a:t>A data structure that includes</a:t>
            </a:r>
          </a:p>
          <a:p>
            <a:pPr lvl="2"/>
            <a:r>
              <a:rPr lang="en-CA" sz="1600" dirty="0"/>
              <a:t>A sequence number</a:t>
            </a:r>
          </a:p>
          <a:p>
            <a:pPr lvl="2"/>
            <a:r>
              <a:rPr lang="en-CA" sz="1600" dirty="0"/>
              <a:t>An acknowledgment number for connecting the packets of a communication session</a:t>
            </a:r>
          </a:p>
          <a:p>
            <a:pPr lvl="2"/>
            <a:r>
              <a:rPr lang="en-CA" sz="1600" dirty="0"/>
              <a:t>Flags</a:t>
            </a:r>
          </a:p>
          <a:p>
            <a:pPr lvl="2"/>
            <a:r>
              <a:rPr lang="en-CA" sz="1600" dirty="0"/>
              <a:t>Source and destination port numbers</a:t>
            </a:r>
          </a:p>
          <a:p>
            <a:pPr lvl="3"/>
            <a:r>
              <a:rPr lang="en-CA" sz="1600" dirty="0"/>
              <a:t>A port is a number designating a particular application running on a computer</a:t>
            </a:r>
          </a:p>
          <a:p>
            <a:pPr lvl="3"/>
            <a:r>
              <a:rPr lang="en-CA" sz="1600" dirty="0"/>
              <a:t>80 for HTTP (web pages), 23 for Telnet (remote terminal connection), 25 for SMTP (e-mail), or 161 for SNMP (network management)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13</a:t>
            </a:fld>
            <a:endParaRPr lang="en-CA">
              <a:latin typeface="Century Schoolbook"/>
            </a:endParaRPr>
          </a:p>
        </p:txBody>
      </p:sp>
    </p:spTree>
    <p:extLst>
      <p:ext uri="{BB962C8B-B14F-4D97-AF65-F5344CB8AC3E}">
        <p14:creationId xmlns:p14="http://schemas.microsoft.com/office/powerpoint/2010/main" val="417311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Networks Protocols (cont.)</a:t>
            </a:r>
          </a:p>
        </p:txBody>
      </p:sp>
      <p:sp>
        <p:nvSpPr>
          <p:cNvPr id="3" name="Content Placeholder 2"/>
          <p:cNvSpPr>
            <a:spLocks noGrp="1"/>
          </p:cNvSpPr>
          <p:nvPr>
            <p:ph sz="quarter" idx="1"/>
          </p:nvPr>
        </p:nvSpPr>
        <p:spPr>
          <a:xfrm>
            <a:off x="1981200" y="1600200"/>
            <a:ext cx="7643192" cy="5069160"/>
          </a:xfrm>
        </p:spPr>
        <p:txBody>
          <a:bodyPr>
            <a:normAutofit/>
          </a:bodyPr>
          <a:lstStyle/>
          <a:p>
            <a:r>
              <a:rPr lang="en-CA" dirty="0"/>
              <a:t>TCP/IP (cont.)</a:t>
            </a:r>
          </a:p>
          <a:p>
            <a:pPr lvl="1"/>
            <a:r>
              <a:rPr lang="en-CA" sz="1800" dirty="0"/>
              <a:t>A layer will typically subdivide data it receives from a higher layer</a:t>
            </a:r>
          </a:p>
          <a:p>
            <a:pPr lvl="1"/>
            <a:r>
              <a:rPr lang="en-CA" sz="1800" dirty="0"/>
              <a:t>Then add header and/or trailer information to the data before passing it to a lower layer</a:t>
            </a:r>
          </a:p>
          <a:p>
            <a:pPr lvl="1"/>
            <a:r>
              <a:rPr lang="en-CA" sz="1800" dirty="0"/>
              <a:t>Each layer encapsulates the higher layer, so that higher layer headers and trailers are seen simply as part of the data to be transmitted.</a:t>
            </a:r>
          </a:p>
          <a:p>
            <a:pPr lvl="1"/>
            <a:r>
              <a:rPr lang="en-CA" sz="1800" dirty="0"/>
              <a:t>Addressing Scheme</a:t>
            </a:r>
          </a:p>
          <a:p>
            <a:pPr lvl="2"/>
            <a:r>
              <a:rPr lang="en-CA" sz="1500" dirty="0"/>
              <a:t>IP address</a:t>
            </a:r>
          </a:p>
          <a:p>
            <a:pPr lvl="3"/>
            <a:r>
              <a:rPr lang="en-CA" sz="1500" dirty="0"/>
              <a:t>IPv4</a:t>
            </a:r>
          </a:p>
          <a:p>
            <a:pPr lvl="4"/>
            <a:r>
              <a:rPr lang="en-CA" sz="1300" dirty="0"/>
              <a:t>32-bit address, expressed as four 8-bit groups in decimal notation, separated by periods, such as 100.24.48.6</a:t>
            </a:r>
          </a:p>
          <a:p>
            <a:pPr lvl="3"/>
            <a:r>
              <a:rPr lang="en-CA" sz="1500" dirty="0"/>
              <a:t>IPv6</a:t>
            </a:r>
          </a:p>
          <a:p>
            <a:pPr lvl="4"/>
            <a:r>
              <a:rPr lang="en-CA" sz="1300" dirty="0"/>
              <a:t>128-bit address, expressed as eight 16-bit groups in hexadecimal notation, separated by colons, such as FE80:0000:0000:0000:0202:B3FF:FE1E:8329</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14</a:t>
            </a:fld>
            <a:endParaRPr lang="en-CA">
              <a:latin typeface="Century Schoolbook"/>
            </a:endParaRPr>
          </a:p>
        </p:txBody>
      </p:sp>
    </p:spTree>
    <p:extLst>
      <p:ext uri="{BB962C8B-B14F-4D97-AF65-F5344CB8AC3E}">
        <p14:creationId xmlns:p14="http://schemas.microsoft.com/office/powerpoint/2010/main" val="366817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Types of Networks</a:t>
            </a:r>
          </a:p>
        </p:txBody>
      </p:sp>
      <p:sp>
        <p:nvSpPr>
          <p:cNvPr id="3" name="Content Placeholder 2"/>
          <p:cNvSpPr>
            <a:spLocks noGrp="1"/>
          </p:cNvSpPr>
          <p:nvPr>
            <p:ph sz="quarter" idx="1"/>
          </p:nvPr>
        </p:nvSpPr>
        <p:spPr/>
        <p:txBody>
          <a:bodyPr/>
          <a:lstStyle/>
          <a:p>
            <a:r>
              <a:rPr lang="en-CA" dirty="0"/>
              <a:t>Local Area Networks (LAN)</a:t>
            </a:r>
          </a:p>
          <a:p>
            <a:pPr lvl="1"/>
            <a:r>
              <a:rPr lang="en-CA" dirty="0"/>
              <a:t>Covers a small distance, typically within a single building</a:t>
            </a:r>
          </a:p>
          <a:p>
            <a:pPr lvl="1"/>
            <a:r>
              <a:rPr lang="en-CA" dirty="0"/>
              <a:t>Connects several small computers, such as personal computers, as well as printers and perhaps some dedicated file storage devices;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15</a:t>
            </a:fld>
            <a:endParaRPr lang="en-CA">
              <a:latin typeface="Century Schoolbook"/>
            </a:endParaRPr>
          </a:p>
        </p:txBody>
      </p:sp>
      <p:pic>
        <p:nvPicPr>
          <p:cNvPr id="5" name="Picture 3" descr="Fig07-10.tif                                                   000182B7BridgerH HD                    ABA7815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0886" y="4084092"/>
            <a:ext cx="2889250" cy="2081213"/>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4846178" y="6230293"/>
            <a:ext cx="1681871" cy="369332"/>
          </a:xfrm>
          <a:prstGeom prst="rect">
            <a:avLst/>
          </a:prstGeom>
        </p:spPr>
        <p:txBody>
          <a:bodyPr wrap="none">
            <a:spAutoFit/>
          </a:bodyPr>
          <a:lstStyle/>
          <a:p>
            <a:pPr defTabSz="914400"/>
            <a:r>
              <a:rPr lang="en-CA" b="1" dirty="0">
                <a:solidFill>
                  <a:prstClr val="black"/>
                </a:solidFill>
                <a:latin typeface="Century Schoolbook"/>
              </a:rPr>
              <a:t>Typical LAN</a:t>
            </a:r>
          </a:p>
        </p:txBody>
      </p:sp>
    </p:spTree>
    <p:extLst>
      <p:ext uri="{BB962C8B-B14F-4D97-AF65-F5344CB8AC3E}">
        <p14:creationId xmlns:p14="http://schemas.microsoft.com/office/powerpoint/2010/main" val="111833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Types of Networks (cont.)</a:t>
            </a:r>
          </a:p>
        </p:txBody>
      </p:sp>
      <p:sp>
        <p:nvSpPr>
          <p:cNvPr id="3" name="Content Placeholder 2"/>
          <p:cNvSpPr>
            <a:spLocks noGrp="1"/>
          </p:cNvSpPr>
          <p:nvPr>
            <p:ph sz="quarter" idx="1"/>
          </p:nvPr>
        </p:nvSpPr>
        <p:spPr/>
        <p:txBody>
          <a:bodyPr>
            <a:normAutofit/>
          </a:bodyPr>
          <a:lstStyle/>
          <a:p>
            <a:r>
              <a:rPr lang="en-CA" dirty="0"/>
              <a:t>LANs characteristics</a:t>
            </a:r>
          </a:p>
          <a:p>
            <a:pPr lvl="1"/>
            <a:r>
              <a:rPr lang="en-CA" dirty="0"/>
              <a:t>Small</a:t>
            </a:r>
          </a:p>
          <a:p>
            <a:pPr lvl="2"/>
            <a:r>
              <a:rPr lang="en-CA" dirty="0"/>
              <a:t>Typically, fewer than 100 users share a single LAN</a:t>
            </a:r>
          </a:p>
          <a:p>
            <a:pPr lvl="2"/>
            <a:r>
              <a:rPr lang="en-CA" dirty="0"/>
              <a:t>Within a distance less than 3 kilometers, or 2 miles</a:t>
            </a:r>
          </a:p>
          <a:p>
            <a:pPr lvl="1"/>
            <a:r>
              <a:rPr lang="en-CA" dirty="0"/>
              <a:t>Locally Controlled</a:t>
            </a:r>
          </a:p>
          <a:p>
            <a:pPr lvl="2"/>
            <a:r>
              <a:rPr lang="en-CA" dirty="0"/>
              <a:t>The equipment is owned and managed by a single organization</a:t>
            </a:r>
          </a:p>
          <a:p>
            <a:pPr lvl="2"/>
            <a:r>
              <a:rPr lang="en-CA" dirty="0"/>
              <a:t>The users all are affiliated with a single organization</a:t>
            </a:r>
          </a:p>
          <a:p>
            <a:pPr lvl="1"/>
            <a:r>
              <a:rPr lang="en-CA" dirty="0"/>
              <a:t>Physically Protected</a:t>
            </a:r>
          </a:p>
          <a:p>
            <a:pPr lvl="2"/>
            <a:r>
              <a:rPr lang="en-CA" dirty="0"/>
              <a:t>The LAN is on the premises of a company or other organization, so malicious outsiders usually cannot readily get to the LAN equipment.</a:t>
            </a:r>
          </a:p>
          <a:p>
            <a:pPr lvl="1"/>
            <a:r>
              <a:rPr lang="en-CA" dirty="0"/>
              <a:t>Limited Scope</a:t>
            </a:r>
          </a:p>
          <a:p>
            <a:pPr lvl="2"/>
            <a:r>
              <a:rPr lang="en-CA" dirty="0"/>
              <a:t>Many LANs support a single group, department, floor, activity, or other geographical or administrative unit</a:t>
            </a:r>
          </a:p>
          <a:p>
            <a:pPr lvl="2"/>
            <a:r>
              <a:rPr lang="en-CA" dirty="0"/>
              <a:t>Each group has a narrowly scoped set of functions it performs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16</a:t>
            </a:fld>
            <a:endParaRPr lang="en-CA">
              <a:latin typeface="Century Schoolbook"/>
            </a:endParaRPr>
          </a:p>
        </p:txBody>
      </p:sp>
    </p:spTree>
    <p:extLst>
      <p:ext uri="{BB962C8B-B14F-4D97-AF65-F5344CB8AC3E}">
        <p14:creationId xmlns:p14="http://schemas.microsoft.com/office/powerpoint/2010/main" val="189814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Types of Networks (cont.)</a:t>
            </a:r>
          </a:p>
        </p:txBody>
      </p:sp>
      <p:sp>
        <p:nvSpPr>
          <p:cNvPr id="3" name="Content Placeholder 2"/>
          <p:cNvSpPr>
            <a:spLocks noGrp="1"/>
          </p:cNvSpPr>
          <p:nvPr>
            <p:ph sz="quarter" idx="1"/>
          </p:nvPr>
        </p:nvSpPr>
        <p:spPr>
          <a:xfrm>
            <a:off x="1981200" y="1600200"/>
            <a:ext cx="7571184" cy="4873752"/>
          </a:xfrm>
        </p:spPr>
        <p:txBody>
          <a:bodyPr>
            <a:normAutofit fontScale="92500" lnSpcReduction="10000"/>
          </a:bodyPr>
          <a:lstStyle/>
          <a:p>
            <a:r>
              <a:rPr lang="en-CA" dirty="0"/>
              <a:t>Wide Area Networks (WAN)</a:t>
            </a:r>
          </a:p>
          <a:p>
            <a:pPr lvl="1"/>
            <a:r>
              <a:rPr lang="en-CA" dirty="0"/>
              <a:t>Differs from a LAN in terms of </a:t>
            </a:r>
          </a:p>
          <a:p>
            <a:pPr lvl="2"/>
            <a:r>
              <a:rPr lang="en-CA" dirty="0"/>
              <a:t>Size or distance</a:t>
            </a:r>
          </a:p>
          <a:p>
            <a:pPr lvl="3"/>
            <a:r>
              <a:rPr lang="en-CA" sz="1600" dirty="0"/>
              <a:t>It covers a wider geographic area than does a LAN</a:t>
            </a:r>
          </a:p>
          <a:p>
            <a:pPr lvl="2"/>
            <a:r>
              <a:rPr lang="en-CA" dirty="0"/>
              <a:t>Control or ownership</a:t>
            </a:r>
          </a:p>
          <a:p>
            <a:pPr lvl="3"/>
            <a:r>
              <a:rPr lang="en-CA" dirty="0"/>
              <a:t> </a:t>
            </a:r>
            <a:r>
              <a:rPr lang="en-CA" sz="1600" dirty="0"/>
              <a:t>It is more likely not to be owned or controlled by a single body</a:t>
            </a:r>
          </a:p>
          <a:p>
            <a:pPr lvl="1"/>
            <a:r>
              <a:rPr lang="en-CA" sz="1900" dirty="0"/>
              <a:t>WAN Characteristics</a:t>
            </a:r>
          </a:p>
          <a:p>
            <a:pPr lvl="2"/>
            <a:r>
              <a:rPr lang="en-CA" dirty="0"/>
              <a:t>Single control</a:t>
            </a:r>
          </a:p>
          <a:p>
            <a:pPr lvl="3"/>
            <a:r>
              <a:rPr lang="en-CA" sz="1600" dirty="0"/>
              <a:t>Typically, a single organization is responsible for and controls a WAN</a:t>
            </a:r>
          </a:p>
          <a:p>
            <a:pPr lvl="3"/>
            <a:r>
              <a:rPr lang="en-CA" sz="1600" dirty="0"/>
              <a:t>Even if a network is shared by several unrelated subscribers, one organization usually determines who may join the network</a:t>
            </a:r>
          </a:p>
          <a:p>
            <a:pPr lvl="2"/>
            <a:r>
              <a:rPr lang="en-CA" dirty="0"/>
              <a:t>Covers a significant distance</a:t>
            </a:r>
          </a:p>
          <a:p>
            <a:pPr lvl="3"/>
            <a:r>
              <a:rPr lang="en-CA" sz="1600" dirty="0"/>
              <a:t>A WAN generally serves a distance typically from a few miles to the entire globe</a:t>
            </a:r>
          </a:p>
          <a:p>
            <a:pPr lvl="2"/>
            <a:r>
              <a:rPr lang="en-CA" dirty="0"/>
              <a:t>Physically exposed</a:t>
            </a:r>
          </a:p>
          <a:p>
            <a:pPr lvl="3"/>
            <a:r>
              <a:rPr lang="en-CA" sz="1600" dirty="0"/>
              <a:t>Most WANs use publicly available communications media</a:t>
            </a:r>
          </a:p>
          <a:p>
            <a:pPr lvl="3"/>
            <a:r>
              <a:rPr lang="en-CA" sz="1600" dirty="0"/>
              <a:t>However, the fact that many subscribers share those media helps protect the privacy of any one subscriber</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17</a:t>
            </a:fld>
            <a:endParaRPr lang="en-CA">
              <a:latin typeface="Century Schoolbook"/>
            </a:endParaRPr>
          </a:p>
        </p:txBody>
      </p:sp>
    </p:spTree>
    <p:extLst>
      <p:ext uri="{BB962C8B-B14F-4D97-AF65-F5344CB8AC3E}">
        <p14:creationId xmlns:p14="http://schemas.microsoft.com/office/powerpoint/2010/main" val="260106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Types of Networks (cont.)</a:t>
            </a:r>
          </a:p>
        </p:txBody>
      </p:sp>
      <p:sp>
        <p:nvSpPr>
          <p:cNvPr id="3" name="Content Placeholder 2"/>
          <p:cNvSpPr>
            <a:spLocks noGrp="1"/>
          </p:cNvSpPr>
          <p:nvPr>
            <p:ph sz="quarter" idx="1"/>
          </p:nvPr>
        </p:nvSpPr>
        <p:spPr>
          <a:xfrm>
            <a:off x="1981200" y="1600200"/>
            <a:ext cx="7467600" cy="5069160"/>
          </a:xfrm>
        </p:spPr>
        <p:txBody>
          <a:bodyPr>
            <a:normAutofit fontScale="92500" lnSpcReduction="20000"/>
          </a:bodyPr>
          <a:lstStyle/>
          <a:p>
            <a:r>
              <a:rPr lang="en-CA" dirty="0"/>
              <a:t>Internetworks (Internets)</a:t>
            </a:r>
          </a:p>
          <a:p>
            <a:pPr lvl="1"/>
            <a:r>
              <a:rPr lang="en-CA" dirty="0"/>
              <a:t>Networks of networks</a:t>
            </a:r>
          </a:p>
          <a:p>
            <a:pPr lvl="1"/>
            <a:r>
              <a:rPr lang="en-CA" dirty="0"/>
              <a:t>A connection of two or more separate networks, separately managed and controlled</a:t>
            </a:r>
          </a:p>
          <a:p>
            <a:pPr lvl="1"/>
            <a:r>
              <a:rPr lang="en-CA" dirty="0"/>
              <a:t>A federation of networks, loosely controlled by the Internet Society (ISOC) and the Internet Corporation for Assigned Names and Numbers (ICANN)</a:t>
            </a:r>
          </a:p>
          <a:p>
            <a:pPr lvl="1"/>
            <a:r>
              <a:rPr lang="en-CA" dirty="0"/>
              <a:t>Internet Characteristics</a:t>
            </a:r>
          </a:p>
          <a:p>
            <a:pPr lvl="2"/>
            <a:r>
              <a:rPr lang="en-CA" dirty="0"/>
              <a:t>Federation</a:t>
            </a:r>
          </a:p>
          <a:p>
            <a:pPr lvl="3"/>
            <a:r>
              <a:rPr lang="en-CA" sz="1500" dirty="0"/>
              <a:t>No general statements can be made about Internet users or even network service providers</a:t>
            </a:r>
          </a:p>
          <a:p>
            <a:pPr lvl="2"/>
            <a:r>
              <a:rPr lang="en-CA" dirty="0"/>
              <a:t>Enormous</a:t>
            </a:r>
          </a:p>
          <a:p>
            <a:pPr lvl="3"/>
            <a:r>
              <a:rPr lang="en-CA" sz="1500" dirty="0"/>
              <a:t>No one really knows how large the Internet is</a:t>
            </a:r>
          </a:p>
          <a:p>
            <a:pPr lvl="3"/>
            <a:r>
              <a:rPr lang="en-CA" sz="1500" dirty="0"/>
              <a:t>In 2024 there were almost </a:t>
            </a:r>
            <a:r>
              <a:rPr lang="en-CA" sz="1600" dirty="0"/>
              <a:t>1.98 billion </a:t>
            </a:r>
            <a:r>
              <a:rPr lang="en-CA" sz="1500" dirty="0"/>
              <a:t>Internet hosts and well over </a:t>
            </a:r>
            <a:r>
              <a:rPr lang="en-CA" sz="1600" dirty="0"/>
              <a:t>5.35 billion </a:t>
            </a:r>
            <a:r>
              <a:rPr lang="en-CA" sz="1500" dirty="0"/>
              <a:t>users</a:t>
            </a:r>
          </a:p>
          <a:p>
            <a:pPr lvl="3"/>
            <a:r>
              <a:rPr lang="en-CA" sz="1500" dirty="0"/>
              <a:t>We can expect the size of the Internet to double each year</a:t>
            </a:r>
          </a:p>
          <a:p>
            <a:pPr lvl="2"/>
            <a:r>
              <a:rPr lang="en-CA" dirty="0"/>
              <a:t>Heterogeneous</a:t>
            </a:r>
            <a:endParaRPr lang="en-CA" sz="1500" dirty="0"/>
          </a:p>
          <a:p>
            <a:pPr lvl="2"/>
            <a:r>
              <a:rPr lang="en-CA" dirty="0"/>
              <a:t>Physically and logically exposed</a:t>
            </a:r>
          </a:p>
          <a:p>
            <a:pPr lvl="3"/>
            <a:r>
              <a:rPr lang="en-CA" sz="1500" dirty="0"/>
              <a:t>Since there is no global access control, practically any attacker can access the Internet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18</a:t>
            </a:fld>
            <a:endParaRPr lang="en-CA">
              <a:latin typeface="Century Schoolbook"/>
            </a:endParaRPr>
          </a:p>
        </p:txBody>
      </p:sp>
    </p:spTree>
    <p:extLst>
      <p:ext uri="{BB962C8B-B14F-4D97-AF65-F5344CB8AC3E}">
        <p14:creationId xmlns:p14="http://schemas.microsoft.com/office/powerpoint/2010/main" val="3821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Threats in Networks</a:t>
            </a:r>
          </a:p>
        </p:txBody>
      </p:sp>
      <p:sp>
        <p:nvSpPr>
          <p:cNvPr id="3" name="Content Placeholder 2"/>
          <p:cNvSpPr>
            <a:spLocks noGrp="1"/>
          </p:cNvSpPr>
          <p:nvPr>
            <p:ph sz="quarter" idx="1"/>
          </p:nvPr>
        </p:nvSpPr>
        <p:spPr/>
        <p:txBody>
          <a:bodyPr>
            <a:normAutofit/>
          </a:bodyPr>
          <a:lstStyle/>
          <a:p>
            <a:r>
              <a:rPr lang="en-CA" dirty="0"/>
              <a:t>What Makes a Network Vulnerable?</a:t>
            </a:r>
          </a:p>
          <a:p>
            <a:pPr lvl="1"/>
            <a:r>
              <a:rPr lang="en-CA" dirty="0"/>
              <a:t>Network Characteristics</a:t>
            </a:r>
          </a:p>
          <a:p>
            <a:pPr lvl="2"/>
            <a:r>
              <a:rPr lang="en-CA" dirty="0"/>
              <a:t>Anonymity</a:t>
            </a:r>
          </a:p>
          <a:p>
            <a:pPr lvl="3"/>
            <a:r>
              <a:rPr lang="en-CA" dirty="0"/>
              <a:t>The potential attacker is safe behind an electronic shield</a:t>
            </a:r>
          </a:p>
          <a:p>
            <a:pPr lvl="3"/>
            <a:r>
              <a:rPr lang="en-CA" dirty="0"/>
              <a:t>The attack can be passed through many other hosts in an effort to disguise the attack’s origin</a:t>
            </a:r>
          </a:p>
          <a:p>
            <a:pPr lvl="2"/>
            <a:r>
              <a:rPr lang="en-CA" dirty="0"/>
              <a:t>Many points of attack—both targets and origins</a:t>
            </a:r>
          </a:p>
          <a:p>
            <a:pPr lvl="3"/>
            <a:r>
              <a:rPr lang="en-CA" dirty="0"/>
              <a:t>When a file is stored in a network host remote from the user, the data or the file itself may pass through many hosts to get to the user, with various security policies</a:t>
            </a:r>
          </a:p>
          <a:p>
            <a:pPr lvl="3"/>
            <a:r>
              <a:rPr lang="en-CA" dirty="0"/>
              <a:t>Administrators have no control over other hosts in the network</a:t>
            </a:r>
          </a:p>
          <a:p>
            <a:pPr lvl="2"/>
            <a:r>
              <a:rPr lang="en-CA" dirty="0"/>
              <a:t>Sharing</a:t>
            </a:r>
          </a:p>
          <a:p>
            <a:pPr lvl="3"/>
            <a:r>
              <a:rPr lang="en-CA" dirty="0"/>
              <a:t>Because networks enable resource and workload sharing, more users have the potential to access networked systems than on single computers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19</a:t>
            </a:fld>
            <a:endParaRPr lang="en-CA">
              <a:latin typeface="Century Schoolbook"/>
            </a:endParaRPr>
          </a:p>
        </p:txBody>
      </p:sp>
    </p:spTree>
    <p:extLst>
      <p:ext uri="{BB962C8B-B14F-4D97-AF65-F5344CB8AC3E}">
        <p14:creationId xmlns:p14="http://schemas.microsoft.com/office/powerpoint/2010/main" val="404297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Threats in Networks (cont.)</a:t>
            </a:r>
          </a:p>
        </p:txBody>
      </p:sp>
      <p:sp>
        <p:nvSpPr>
          <p:cNvPr id="3" name="Content Placeholder 2"/>
          <p:cNvSpPr>
            <a:spLocks noGrp="1"/>
          </p:cNvSpPr>
          <p:nvPr>
            <p:ph sz="quarter" idx="1"/>
          </p:nvPr>
        </p:nvSpPr>
        <p:spPr>
          <a:xfrm>
            <a:off x="1981200" y="1600200"/>
            <a:ext cx="7211144" cy="5141168"/>
          </a:xfrm>
        </p:spPr>
        <p:txBody>
          <a:bodyPr>
            <a:normAutofit/>
          </a:bodyPr>
          <a:lstStyle/>
          <a:p>
            <a:r>
              <a:rPr lang="en-CA" dirty="0"/>
              <a:t>What Makes a Network Vulnerable? (cont.)</a:t>
            </a:r>
          </a:p>
          <a:p>
            <a:pPr lvl="1"/>
            <a:r>
              <a:rPr lang="en-CA" sz="2000" dirty="0"/>
              <a:t>Network Characteristics (cont.)</a:t>
            </a:r>
          </a:p>
          <a:p>
            <a:pPr lvl="2"/>
            <a:r>
              <a:rPr lang="en-CA" dirty="0"/>
              <a:t>Complexity of system</a:t>
            </a:r>
          </a:p>
          <a:p>
            <a:pPr lvl="3"/>
            <a:r>
              <a:rPr lang="en-CA" dirty="0"/>
              <a:t>A network combines two or more possibly dissimilar operating systems</a:t>
            </a:r>
          </a:p>
          <a:p>
            <a:pPr lvl="3"/>
            <a:r>
              <a:rPr lang="en-CA" dirty="0"/>
              <a:t>A network operating/control system is likely to be more complex than an operating system for a single computing system</a:t>
            </a:r>
          </a:p>
          <a:p>
            <a:pPr lvl="3"/>
            <a:r>
              <a:rPr lang="en-CA" dirty="0"/>
              <a:t>The attacker can use computing power of other computers to advantage by causing the victim’s computer to perform part of the attack’s computation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20</a:t>
            </a:fld>
            <a:endParaRPr lang="en-CA">
              <a:latin typeface="Century Schoolbook"/>
            </a:endParaRPr>
          </a:p>
        </p:txBody>
      </p:sp>
    </p:spTree>
    <p:extLst>
      <p:ext uri="{BB962C8B-B14F-4D97-AF65-F5344CB8AC3E}">
        <p14:creationId xmlns:p14="http://schemas.microsoft.com/office/powerpoint/2010/main" val="205517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Threats in Networks (cont.)</a:t>
            </a:r>
          </a:p>
        </p:txBody>
      </p:sp>
      <p:sp>
        <p:nvSpPr>
          <p:cNvPr id="3" name="Content Placeholder 2"/>
          <p:cNvSpPr>
            <a:spLocks noGrp="1"/>
          </p:cNvSpPr>
          <p:nvPr>
            <p:ph sz="quarter" idx="1"/>
          </p:nvPr>
        </p:nvSpPr>
        <p:spPr>
          <a:xfrm>
            <a:off x="1981200" y="1600200"/>
            <a:ext cx="7859216" cy="5141168"/>
          </a:xfrm>
        </p:spPr>
        <p:txBody>
          <a:bodyPr>
            <a:normAutofit/>
          </a:bodyPr>
          <a:lstStyle/>
          <a:p>
            <a:r>
              <a:rPr lang="en-CA" sz="2000" dirty="0"/>
              <a:t>What Makes a Network Vulnerable? (cont.)</a:t>
            </a:r>
          </a:p>
          <a:p>
            <a:pPr lvl="1"/>
            <a:r>
              <a:rPr lang="en-CA" sz="1800" dirty="0"/>
              <a:t>Network Characteristics (cont.)</a:t>
            </a:r>
          </a:p>
          <a:p>
            <a:pPr lvl="2"/>
            <a:r>
              <a:rPr lang="en-CA" sz="1600" dirty="0"/>
              <a:t>Unknown perimeter</a:t>
            </a:r>
          </a:p>
          <a:p>
            <a:pPr lvl="3"/>
            <a:r>
              <a:rPr lang="en-CA" sz="1600" dirty="0"/>
              <a:t>A network’s expandability also implies uncertainty about the network boundary</a:t>
            </a:r>
          </a:p>
          <a:p>
            <a:pPr lvl="3"/>
            <a:r>
              <a:rPr lang="en-CA" sz="1600" dirty="0"/>
              <a:t>Although wide accessibility is an advantage, unknown or uncontrolled group of possibly malicious users is a security disadvantage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21</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55840" y="3933056"/>
            <a:ext cx="2989436" cy="28160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6681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Threats in Networks (cont.)</a:t>
            </a:r>
          </a:p>
        </p:txBody>
      </p:sp>
      <p:sp>
        <p:nvSpPr>
          <p:cNvPr id="3" name="Content Placeholder 2"/>
          <p:cNvSpPr>
            <a:spLocks noGrp="1"/>
          </p:cNvSpPr>
          <p:nvPr>
            <p:ph sz="quarter" idx="1"/>
          </p:nvPr>
        </p:nvSpPr>
        <p:spPr>
          <a:xfrm>
            <a:off x="1981200" y="1600200"/>
            <a:ext cx="7859216" cy="5141168"/>
          </a:xfrm>
        </p:spPr>
        <p:txBody>
          <a:bodyPr>
            <a:normAutofit/>
          </a:bodyPr>
          <a:lstStyle/>
          <a:p>
            <a:r>
              <a:rPr lang="en-CA" dirty="0"/>
              <a:t>What Makes a Network Vulnerable?</a:t>
            </a:r>
          </a:p>
          <a:p>
            <a:pPr lvl="1"/>
            <a:r>
              <a:rPr lang="en-CA" sz="2000" dirty="0"/>
              <a:t>Network Characteristics (cont.)</a:t>
            </a:r>
          </a:p>
          <a:p>
            <a:pPr lvl="2"/>
            <a:r>
              <a:rPr lang="en-CA" dirty="0"/>
              <a:t>Unknown path</a:t>
            </a:r>
          </a:p>
          <a:p>
            <a:pPr lvl="3"/>
            <a:r>
              <a:rPr lang="en-CA" dirty="0"/>
              <a:t>There may be many paths from one host to another</a:t>
            </a:r>
          </a:p>
          <a:p>
            <a:pPr lvl="3"/>
            <a:r>
              <a:rPr lang="en-CA" dirty="0"/>
              <a:t>Network users seldom have control over the routing of their messages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22</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752" y="3933056"/>
            <a:ext cx="4666239" cy="266429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6334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Motives of Attackers</a:t>
            </a:r>
          </a:p>
        </p:txBody>
      </p:sp>
      <p:sp>
        <p:nvSpPr>
          <p:cNvPr id="3" name="Content Placeholder 2"/>
          <p:cNvSpPr>
            <a:spLocks noGrp="1"/>
          </p:cNvSpPr>
          <p:nvPr>
            <p:ph sz="quarter" idx="1"/>
          </p:nvPr>
        </p:nvSpPr>
        <p:spPr/>
        <p:txBody>
          <a:bodyPr>
            <a:normAutofit lnSpcReduction="10000"/>
          </a:bodyPr>
          <a:lstStyle/>
          <a:p>
            <a:r>
              <a:rPr lang="en-CA" dirty="0"/>
              <a:t>Intellectual challenge or power</a:t>
            </a:r>
          </a:p>
          <a:p>
            <a:pPr lvl="1"/>
            <a:r>
              <a:rPr lang="en-CA" dirty="0"/>
              <a:t>Can I defeat this network?</a:t>
            </a:r>
          </a:p>
          <a:p>
            <a:pPr lvl="1"/>
            <a:r>
              <a:rPr lang="en-CA" dirty="0"/>
              <a:t>What would happen if I tried this approach or that technique?</a:t>
            </a:r>
          </a:p>
          <a:p>
            <a:r>
              <a:rPr lang="en-CA" dirty="0"/>
              <a:t>Fame</a:t>
            </a:r>
          </a:p>
          <a:p>
            <a:pPr lvl="1"/>
            <a:r>
              <a:rPr lang="en-CA" dirty="0"/>
              <a:t>Seeking recognition and credit for their activities</a:t>
            </a:r>
          </a:p>
          <a:p>
            <a:r>
              <a:rPr lang="en-CA" dirty="0"/>
              <a:t>Money and Espionage</a:t>
            </a:r>
          </a:p>
          <a:p>
            <a:pPr lvl="1"/>
            <a:r>
              <a:rPr lang="en-CA" dirty="0"/>
              <a:t>Seeking information on a company’s products, clients, or long-range plans</a:t>
            </a:r>
          </a:p>
          <a:p>
            <a:r>
              <a:rPr lang="en-CA" dirty="0"/>
              <a:t>Organized Crime</a:t>
            </a:r>
          </a:p>
          <a:p>
            <a:pPr lvl="1"/>
            <a:r>
              <a:rPr lang="en-CA" dirty="0"/>
              <a:t>Collaborators from several countries</a:t>
            </a:r>
          </a:p>
          <a:p>
            <a:r>
              <a:rPr lang="en-CA" dirty="0"/>
              <a:t>Ideology</a:t>
            </a:r>
          </a:p>
          <a:p>
            <a:pPr lvl="1"/>
            <a:r>
              <a:rPr lang="en-CA" dirty="0"/>
              <a:t>Political and/or religious reasons</a:t>
            </a:r>
          </a:p>
          <a:p>
            <a:pPr lvl="1"/>
            <a:r>
              <a:rPr lang="en-CA" dirty="0"/>
              <a:t>Cyber-terrorism </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23</a:t>
            </a:fld>
            <a:endParaRPr lang="en-CA">
              <a:latin typeface="Century Schoolbook"/>
            </a:endParaRPr>
          </a:p>
        </p:txBody>
      </p:sp>
    </p:spTree>
    <p:extLst>
      <p:ext uri="{BB962C8B-B14F-4D97-AF65-F5344CB8AC3E}">
        <p14:creationId xmlns:p14="http://schemas.microsoft.com/office/powerpoint/2010/main" val="102508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Precursors to an Attack</a:t>
            </a:r>
          </a:p>
        </p:txBody>
      </p:sp>
      <p:sp>
        <p:nvSpPr>
          <p:cNvPr id="3" name="Content Placeholder 2"/>
          <p:cNvSpPr>
            <a:spLocks noGrp="1"/>
          </p:cNvSpPr>
          <p:nvPr>
            <p:ph sz="quarter" idx="1"/>
          </p:nvPr>
        </p:nvSpPr>
        <p:spPr/>
        <p:txBody>
          <a:bodyPr>
            <a:normAutofit/>
          </a:bodyPr>
          <a:lstStyle/>
          <a:p>
            <a:r>
              <a:rPr lang="en-CA" dirty="0"/>
              <a:t>Understanding the context of the target</a:t>
            </a:r>
          </a:p>
          <a:p>
            <a:pPr lvl="1"/>
            <a:r>
              <a:rPr lang="en-CA" dirty="0"/>
              <a:t>Port Scan</a:t>
            </a:r>
          </a:p>
          <a:p>
            <a:pPr lvl="2"/>
            <a:r>
              <a:rPr lang="en-CA" dirty="0"/>
              <a:t>A program that, for a particular IP address, reports</a:t>
            </a:r>
          </a:p>
          <a:p>
            <a:pPr lvl="3"/>
            <a:r>
              <a:rPr lang="en-CA" dirty="0"/>
              <a:t>Which ports respond to messages</a:t>
            </a:r>
          </a:p>
          <a:p>
            <a:pPr lvl="3"/>
            <a:r>
              <a:rPr lang="en-CA" dirty="0"/>
              <a:t>Which of several known vulnerabilities seem to be present.</a:t>
            </a:r>
          </a:p>
          <a:p>
            <a:pPr lvl="2"/>
            <a:r>
              <a:rPr lang="en-CA" dirty="0"/>
              <a:t>Tells an attacker</a:t>
            </a:r>
          </a:p>
          <a:p>
            <a:pPr lvl="3"/>
            <a:r>
              <a:rPr lang="en-CA" dirty="0"/>
              <a:t>Which standard ports or services are running and responding on the target system</a:t>
            </a:r>
          </a:p>
          <a:p>
            <a:pPr lvl="3"/>
            <a:r>
              <a:rPr lang="en-CA" dirty="0"/>
              <a:t>What operating system is installed on the target system</a:t>
            </a:r>
          </a:p>
          <a:p>
            <a:pPr lvl="3"/>
            <a:r>
              <a:rPr lang="en-CA" dirty="0"/>
              <a:t>What applications and versions of applications are present</a:t>
            </a:r>
          </a:p>
          <a:p>
            <a:pPr lvl="1"/>
            <a:r>
              <a:rPr lang="en-CA" dirty="0"/>
              <a:t>Social Engineering</a:t>
            </a:r>
          </a:p>
          <a:p>
            <a:pPr lvl="2"/>
            <a:r>
              <a:rPr lang="en-CA" dirty="0"/>
              <a:t>Using social skills and personal interaction to get someone to reveal security-relevant information</a:t>
            </a:r>
          </a:p>
          <a:p>
            <a:pPr lvl="3"/>
            <a:r>
              <a:rPr lang="en-CA" dirty="0"/>
              <a:t>Impersonate someone inside the organization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24</a:t>
            </a:fld>
            <a:endParaRPr lang="en-CA">
              <a:latin typeface="Century Schoolbook"/>
            </a:endParaRPr>
          </a:p>
        </p:txBody>
      </p:sp>
    </p:spTree>
    <p:extLst>
      <p:ext uri="{BB962C8B-B14F-4D97-AF65-F5344CB8AC3E}">
        <p14:creationId xmlns:p14="http://schemas.microsoft.com/office/powerpoint/2010/main" val="985075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Precursors to an Attack (cont.)</a:t>
            </a:r>
          </a:p>
        </p:txBody>
      </p:sp>
      <p:sp>
        <p:nvSpPr>
          <p:cNvPr id="3" name="Content Placeholder 2"/>
          <p:cNvSpPr>
            <a:spLocks noGrp="1"/>
          </p:cNvSpPr>
          <p:nvPr>
            <p:ph sz="quarter" idx="1"/>
          </p:nvPr>
        </p:nvSpPr>
        <p:spPr/>
        <p:txBody>
          <a:bodyPr>
            <a:normAutofit/>
          </a:bodyPr>
          <a:lstStyle/>
          <a:p>
            <a:r>
              <a:rPr lang="en-CA" dirty="0"/>
              <a:t>Understanding the context of the target (cont.)</a:t>
            </a:r>
          </a:p>
          <a:p>
            <a:pPr lvl="1"/>
            <a:r>
              <a:rPr lang="en-CA" dirty="0"/>
              <a:t>Intelligence</a:t>
            </a:r>
          </a:p>
          <a:p>
            <a:pPr lvl="2"/>
            <a:r>
              <a:rPr lang="en-CA" dirty="0"/>
              <a:t>Gathering discrete bits of information from various sources</a:t>
            </a:r>
          </a:p>
          <a:p>
            <a:pPr lvl="2"/>
            <a:r>
              <a:rPr lang="en-CA" dirty="0"/>
              <a:t>Putting them together like the pieces of a puzzle</a:t>
            </a:r>
          </a:p>
          <a:p>
            <a:pPr lvl="2"/>
            <a:r>
              <a:rPr lang="en-CA" dirty="0"/>
              <a:t>Techniques</a:t>
            </a:r>
          </a:p>
          <a:p>
            <a:pPr lvl="3"/>
            <a:r>
              <a:rPr lang="en-CA" dirty="0"/>
              <a:t>Dumpster diving</a:t>
            </a:r>
          </a:p>
          <a:p>
            <a:pPr lvl="3"/>
            <a:r>
              <a:rPr lang="en-CA" dirty="0"/>
              <a:t>Eavesdropping</a:t>
            </a:r>
          </a:p>
          <a:p>
            <a:pPr lvl="1"/>
            <a:r>
              <a:rPr lang="en-CA" dirty="0"/>
              <a:t>OS and Application Fingerprinting</a:t>
            </a:r>
          </a:p>
          <a:p>
            <a:pPr lvl="2"/>
            <a:r>
              <a:rPr lang="en-CA" dirty="0"/>
              <a:t>Sending meaningless messages</a:t>
            </a:r>
          </a:p>
          <a:p>
            <a:pPr lvl="2"/>
            <a:r>
              <a:rPr lang="en-CA" dirty="0"/>
              <a:t>Receiving meaningful responses</a:t>
            </a:r>
          </a:p>
          <a:p>
            <a:pPr lvl="2"/>
            <a:r>
              <a:rPr lang="en-CA" dirty="0"/>
              <a:t>Example</a:t>
            </a:r>
          </a:p>
          <a:p>
            <a:pPr marL="640080" lvl="2" indent="0">
              <a:buNone/>
            </a:pPr>
            <a:r>
              <a:rPr lang="en-CA" sz="1200" dirty="0">
                <a:latin typeface="Courier New" panose="02070309020205020404" pitchFamily="49" charset="0"/>
                <a:cs typeface="Courier New" panose="02070309020205020404" pitchFamily="49" charset="0"/>
              </a:rPr>
              <a:t>Server: Netscape-Commerce/1.12</a:t>
            </a:r>
          </a:p>
          <a:p>
            <a:pPr marL="640080" lvl="2" indent="0">
              <a:buNone/>
            </a:pPr>
            <a:r>
              <a:rPr lang="en-CA" sz="1200" dirty="0">
                <a:latin typeface="Courier New" panose="02070309020205020404" pitchFamily="49" charset="0"/>
                <a:cs typeface="Courier New" panose="02070309020205020404" pitchFamily="49" charset="0"/>
              </a:rPr>
              <a:t>Your browser sent a non-HTTP compliant message.</a:t>
            </a:r>
          </a:p>
          <a:p>
            <a:pPr marL="640080" lvl="2" indent="0">
              <a:buNone/>
            </a:pPr>
            <a:r>
              <a:rPr lang="en-CA" dirty="0"/>
              <a:t>or</a:t>
            </a:r>
          </a:p>
          <a:p>
            <a:pPr marL="640080" lvl="2" indent="0">
              <a:buNone/>
            </a:pPr>
            <a:r>
              <a:rPr lang="en-CA" sz="1200" dirty="0">
                <a:latin typeface="Courier New" panose="02070309020205020404" pitchFamily="49" charset="0"/>
                <a:cs typeface="Courier New" panose="02070309020205020404" pitchFamily="49" charset="0"/>
              </a:rPr>
              <a:t>Microsoft ESMTP MAIL Service, Version: 5.0.2195.3779</a:t>
            </a:r>
          </a:p>
          <a:p>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25</a:t>
            </a:fld>
            <a:endParaRPr lang="en-CA">
              <a:latin typeface="Century Schoolbook"/>
            </a:endParaRPr>
          </a:p>
        </p:txBody>
      </p:sp>
    </p:spTree>
    <p:extLst>
      <p:ext uri="{BB962C8B-B14F-4D97-AF65-F5344CB8AC3E}">
        <p14:creationId xmlns:p14="http://schemas.microsoft.com/office/powerpoint/2010/main" val="117040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500"/>
                                        <p:tgtEl>
                                          <p:spTgt spid="3">
                                            <p:txEl>
                                              <p:pRg st="11" end="11"/>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500"/>
                                        <p:tgtEl>
                                          <p:spTgt spid="3">
                                            <p:txEl>
                                              <p:pRg st="12" end="12"/>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Effect transition="in" filter="fade">
                                      <p:cBhvr>
                                        <p:cTn id="64" dur="500"/>
                                        <p:tgtEl>
                                          <p:spTgt spid="3">
                                            <p:txEl>
                                              <p:pRg st="13" end="13"/>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fade">
                                      <p:cBhvr>
                                        <p:cTn id="6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Precursors to an Attack (cont.)</a:t>
            </a:r>
          </a:p>
        </p:txBody>
      </p:sp>
      <p:sp>
        <p:nvSpPr>
          <p:cNvPr id="3" name="Content Placeholder 2"/>
          <p:cNvSpPr>
            <a:spLocks noGrp="1"/>
          </p:cNvSpPr>
          <p:nvPr>
            <p:ph sz="quarter" idx="1"/>
          </p:nvPr>
        </p:nvSpPr>
        <p:spPr>
          <a:xfrm>
            <a:off x="1981200" y="1600200"/>
            <a:ext cx="7787208" cy="4873752"/>
          </a:xfrm>
        </p:spPr>
        <p:txBody>
          <a:bodyPr>
            <a:normAutofit/>
          </a:bodyPr>
          <a:lstStyle/>
          <a:p>
            <a:r>
              <a:rPr lang="en-CA" dirty="0"/>
              <a:t>Understanding the context of the target (cont.)</a:t>
            </a:r>
          </a:p>
          <a:p>
            <a:pPr lvl="1"/>
            <a:r>
              <a:rPr lang="en-CA" sz="2000" dirty="0"/>
              <a:t>Bulletin Boards and Chats</a:t>
            </a:r>
          </a:p>
          <a:p>
            <a:pPr lvl="1"/>
            <a:r>
              <a:rPr lang="en-CA" sz="2000" dirty="0"/>
              <a:t>Availability of Documentation</a:t>
            </a:r>
          </a:p>
          <a:p>
            <a:pPr lvl="1"/>
            <a:endParaRPr lang="en-CA" sz="2000" dirty="0"/>
          </a:p>
          <a:p>
            <a:r>
              <a:rPr lang="en-CA" dirty="0"/>
              <a:t>The best defense against reconnaissance is</a:t>
            </a:r>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lgn="ctr">
              <a:buNone/>
            </a:pPr>
            <a:r>
              <a:rPr lang="en-CA" sz="2000" dirty="0"/>
              <a:t>Give out as little information about your site as possible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26</a:t>
            </a:fld>
            <a:endParaRPr lang="en-CA">
              <a:latin typeface="Century Schoolbook"/>
            </a:endParaRPr>
          </a:p>
        </p:txBody>
      </p:sp>
      <p:pic>
        <p:nvPicPr>
          <p:cNvPr id="1026" name="Picture 2" descr="C:\Users\ssamet.MEDNET\AppData\Local\Microsoft\Windows\Temporary Internet Files\Content.IE5\G7SIU055\MC90043780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65725" y="3933057"/>
            <a:ext cx="1860550" cy="185737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4695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500"/>
                                        <p:tgtEl>
                                          <p:spTgt spid="10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fade">
                                      <p:cBhvr>
                                        <p:cTn id="2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 of Attacks</a:t>
            </a:r>
          </a:p>
        </p:txBody>
      </p:sp>
      <p:sp>
        <p:nvSpPr>
          <p:cNvPr id="3" name="Content Placeholder 2"/>
          <p:cNvSpPr>
            <a:spLocks noGrp="1"/>
          </p:cNvSpPr>
          <p:nvPr>
            <p:ph sz="quarter" idx="1"/>
          </p:nvPr>
        </p:nvSpPr>
        <p:spPr/>
        <p:txBody>
          <a:bodyPr>
            <a:normAutofit/>
          </a:bodyPr>
          <a:lstStyle/>
          <a:p>
            <a:r>
              <a:rPr lang="en-CA" dirty="0"/>
              <a:t>Eavesdropping</a:t>
            </a:r>
          </a:p>
          <a:p>
            <a:r>
              <a:rPr lang="en-CA" dirty="0"/>
              <a:t>Passive Wiretapping</a:t>
            </a:r>
          </a:p>
          <a:p>
            <a:r>
              <a:rPr lang="en-CA" dirty="0"/>
              <a:t>Active Wiretapping</a:t>
            </a:r>
          </a:p>
          <a:p>
            <a:r>
              <a:rPr lang="en-CA" dirty="0"/>
              <a:t>Impersonation</a:t>
            </a:r>
          </a:p>
          <a:p>
            <a:pPr lvl="1"/>
            <a:r>
              <a:rPr lang="en-CA" dirty="0"/>
              <a:t>Guess the identity and authentication details</a:t>
            </a:r>
          </a:p>
          <a:p>
            <a:pPr lvl="2"/>
            <a:r>
              <a:rPr lang="en-CA" dirty="0"/>
              <a:t>Weak passwords	(111111, 123456, password, qwerty, …)</a:t>
            </a:r>
          </a:p>
          <a:p>
            <a:pPr lvl="2"/>
            <a:r>
              <a:rPr lang="en-CA" dirty="0"/>
              <a:t>Default passwords (Guest, Admin, null, …)</a:t>
            </a:r>
          </a:p>
          <a:p>
            <a:pPr lvl="2"/>
            <a:r>
              <a:rPr lang="en-CA" dirty="0"/>
              <a:t>Working on (temporarily) dead accounts</a:t>
            </a:r>
          </a:p>
          <a:p>
            <a:pPr lvl="1"/>
            <a:r>
              <a:rPr lang="en-CA" dirty="0"/>
              <a:t>Authentication obtained by Eavesdropping or Wiretapping</a:t>
            </a:r>
          </a:p>
          <a:p>
            <a:pPr lvl="1"/>
            <a:r>
              <a:rPr lang="en-CA" dirty="0"/>
              <a:t>Nonexistent Authentication</a:t>
            </a:r>
          </a:p>
          <a:p>
            <a:pPr lvl="2"/>
            <a:r>
              <a:rPr lang="en-CA" dirty="0"/>
              <a:t>Access through computers in trusted list</a:t>
            </a:r>
          </a:p>
          <a:p>
            <a:pPr lvl="1"/>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27</a:t>
            </a:fld>
            <a:endParaRPr lang="en-CA">
              <a:latin typeface="Century Schoolbook"/>
            </a:endParaRPr>
          </a:p>
        </p:txBody>
      </p:sp>
    </p:spTree>
    <p:extLst>
      <p:ext uri="{BB962C8B-B14F-4D97-AF65-F5344CB8AC3E}">
        <p14:creationId xmlns:p14="http://schemas.microsoft.com/office/powerpoint/2010/main" val="37320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 of Attacks (cont.)</a:t>
            </a:r>
          </a:p>
        </p:txBody>
      </p:sp>
      <p:sp>
        <p:nvSpPr>
          <p:cNvPr id="3" name="Content Placeholder 2"/>
          <p:cNvSpPr>
            <a:spLocks noGrp="1"/>
          </p:cNvSpPr>
          <p:nvPr>
            <p:ph sz="quarter" idx="1"/>
          </p:nvPr>
        </p:nvSpPr>
        <p:spPr/>
        <p:txBody>
          <a:bodyPr>
            <a:normAutofit/>
          </a:bodyPr>
          <a:lstStyle/>
          <a:p>
            <a:r>
              <a:rPr lang="en-CA" dirty="0"/>
              <a:t>Spoofing</a:t>
            </a:r>
          </a:p>
          <a:p>
            <a:pPr lvl="1"/>
            <a:r>
              <a:rPr lang="en-CA" dirty="0"/>
              <a:t>Masquerade</a:t>
            </a:r>
          </a:p>
          <a:p>
            <a:pPr lvl="2"/>
            <a:r>
              <a:rPr lang="en-CA" dirty="0"/>
              <a:t>URL confusion</a:t>
            </a:r>
          </a:p>
          <a:p>
            <a:pPr lvl="3"/>
            <a:r>
              <a:rPr lang="en-CA" dirty="0"/>
              <a:t>coca-cola.com and cocacola.com</a:t>
            </a:r>
          </a:p>
          <a:p>
            <a:pPr lvl="3"/>
            <a:r>
              <a:rPr lang="en-CA" dirty="0"/>
              <a:t>citibank.com and citybank.com</a:t>
            </a:r>
          </a:p>
          <a:p>
            <a:pPr lvl="2"/>
            <a:r>
              <a:rPr lang="en-CA" dirty="0"/>
              <a:t>Phishing</a:t>
            </a:r>
          </a:p>
          <a:p>
            <a:pPr lvl="3"/>
            <a:r>
              <a:rPr lang="en-CA" dirty="0"/>
              <a:t>Acquire sensitive information by masquerading as a trustworthy entity</a:t>
            </a:r>
          </a:p>
          <a:p>
            <a:pPr lvl="1"/>
            <a:r>
              <a:rPr lang="en-CA" dirty="0"/>
              <a:t>Session Hijacking</a:t>
            </a:r>
          </a:p>
          <a:p>
            <a:pPr lvl="2"/>
            <a:r>
              <a:rPr lang="en-CA" dirty="0"/>
              <a:t>Intercepting and carrying on a session begun by another entity</a:t>
            </a:r>
          </a:p>
          <a:p>
            <a:pPr lvl="2"/>
            <a:r>
              <a:rPr lang="en-CA" dirty="0"/>
              <a:t>Example</a:t>
            </a:r>
          </a:p>
          <a:p>
            <a:pPr lvl="3"/>
            <a:r>
              <a:rPr lang="en-CA" dirty="0"/>
              <a:t>Hijack an online purchase at the time of checkout</a:t>
            </a:r>
          </a:p>
          <a:p>
            <a:pPr lvl="1"/>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28</a:t>
            </a:fld>
            <a:endParaRPr lang="en-CA">
              <a:latin typeface="Century Schoolbook"/>
            </a:endParaRPr>
          </a:p>
        </p:txBody>
      </p:sp>
    </p:spTree>
    <p:extLst>
      <p:ext uri="{BB962C8B-B14F-4D97-AF65-F5344CB8AC3E}">
        <p14:creationId xmlns:p14="http://schemas.microsoft.com/office/powerpoint/2010/main" val="296861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Type of Attacks (cont.)</a:t>
            </a:r>
          </a:p>
        </p:txBody>
      </p:sp>
      <p:sp>
        <p:nvSpPr>
          <p:cNvPr id="3" name="Content Placeholder 2"/>
          <p:cNvSpPr>
            <a:spLocks noGrp="1"/>
          </p:cNvSpPr>
          <p:nvPr>
            <p:ph sz="quarter" idx="1"/>
          </p:nvPr>
        </p:nvSpPr>
        <p:spPr/>
        <p:txBody>
          <a:bodyPr>
            <a:normAutofit/>
          </a:bodyPr>
          <a:lstStyle/>
          <a:p>
            <a:r>
              <a:rPr lang="en-CA" dirty="0"/>
              <a:t>Spoofing (cont.)</a:t>
            </a:r>
          </a:p>
          <a:p>
            <a:pPr lvl="1"/>
            <a:r>
              <a:rPr lang="en-CA" dirty="0"/>
              <a:t>Man-in-the-Middle Attack</a:t>
            </a:r>
          </a:p>
          <a:p>
            <a:pPr lvl="2"/>
            <a:r>
              <a:rPr lang="en-CA" dirty="0"/>
              <a:t>One entity intrudes between two others</a:t>
            </a:r>
          </a:p>
          <a:p>
            <a:pPr lvl="2"/>
            <a:r>
              <a:rPr lang="en-CA" dirty="0"/>
              <a:t>Attacker participates from the start of the session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29</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55840" y="3356993"/>
            <a:ext cx="3090044" cy="2885315"/>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3914862" y="6370296"/>
            <a:ext cx="4572000" cy="276999"/>
          </a:xfrm>
          <a:prstGeom prst="rect">
            <a:avLst/>
          </a:prstGeom>
        </p:spPr>
        <p:txBody>
          <a:bodyPr>
            <a:spAutoFit/>
          </a:bodyPr>
          <a:lstStyle/>
          <a:p>
            <a:pPr algn="ctr" defTabSz="914400"/>
            <a:r>
              <a:rPr lang="en-US" altLang="en-US" sz="1200" dirty="0">
                <a:solidFill>
                  <a:prstClr val="black"/>
                </a:solidFill>
                <a:latin typeface="Century Schoolbook"/>
              </a:rPr>
              <a:t>Key Interception by a Man-in-the-Middle Attack</a:t>
            </a:r>
            <a:endParaRPr lang="en-CA" sz="1200" dirty="0">
              <a:solidFill>
                <a:prstClr val="black"/>
              </a:solidFill>
              <a:latin typeface="Century Schoolbook"/>
            </a:endParaRPr>
          </a:p>
        </p:txBody>
      </p:sp>
    </p:spTree>
    <p:extLst>
      <p:ext uri="{BB962C8B-B14F-4D97-AF65-F5344CB8AC3E}">
        <p14:creationId xmlns:p14="http://schemas.microsoft.com/office/powerpoint/2010/main" val="317727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Web Site Vulnerabilities</a:t>
            </a:r>
          </a:p>
        </p:txBody>
      </p:sp>
      <p:sp>
        <p:nvSpPr>
          <p:cNvPr id="3" name="Content Placeholder 2"/>
          <p:cNvSpPr>
            <a:spLocks noGrp="1"/>
          </p:cNvSpPr>
          <p:nvPr>
            <p:ph sz="quarter" idx="1"/>
          </p:nvPr>
        </p:nvSpPr>
        <p:spPr/>
        <p:txBody>
          <a:bodyPr>
            <a:normAutofit fontScale="92500" lnSpcReduction="10000"/>
          </a:bodyPr>
          <a:lstStyle/>
          <a:p>
            <a:r>
              <a:rPr lang="en-CA" dirty="0"/>
              <a:t>Web Site Defacement</a:t>
            </a:r>
          </a:p>
          <a:p>
            <a:pPr lvl="1"/>
            <a:r>
              <a:rPr lang="en-CA" dirty="0"/>
              <a:t>Change the visual appearance of a website or a webpage</a:t>
            </a:r>
          </a:p>
          <a:p>
            <a:r>
              <a:rPr lang="en-CA" dirty="0"/>
              <a:t>Buffer Overflows</a:t>
            </a:r>
          </a:p>
          <a:p>
            <a:pPr lvl="1"/>
            <a:r>
              <a:rPr lang="en-CA" dirty="0"/>
              <a:t>Feed a program far more data than it expects to receive</a:t>
            </a:r>
          </a:p>
          <a:p>
            <a:pPr lvl="1"/>
            <a:r>
              <a:rPr lang="en-CA" dirty="0"/>
              <a:t>A buffer size is exceeded, and the excess data spill over into adjoining code and data locations</a:t>
            </a:r>
          </a:p>
          <a:p>
            <a:r>
              <a:rPr lang="en-CA" dirty="0"/>
              <a:t>Dot-Dot-Slash (directory or path traversal)</a:t>
            </a:r>
          </a:p>
          <a:p>
            <a:pPr lvl="1"/>
            <a:r>
              <a:rPr lang="en-CA" dirty="0"/>
              <a:t>Access a server file that is not intended to be accessible (such as editors and utilities)</a:t>
            </a:r>
          </a:p>
          <a:p>
            <a:r>
              <a:rPr lang="en-CA" dirty="0"/>
              <a:t>Application Code Errors</a:t>
            </a:r>
          </a:p>
          <a:p>
            <a:pPr lvl="1"/>
            <a:r>
              <a:rPr lang="en-CA" dirty="0"/>
              <a:t>Time-of-check to time-of-use flaw</a:t>
            </a:r>
          </a:p>
          <a:p>
            <a:r>
              <a:rPr lang="en-CA" dirty="0"/>
              <a:t>Server-Side Include</a:t>
            </a:r>
          </a:p>
          <a:p>
            <a:pPr lvl="1"/>
            <a:r>
              <a:rPr lang="en-CA" dirty="0"/>
              <a:t>Execute OS commands using web command fields, such as email and if inside the web pages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30</a:t>
            </a:fld>
            <a:endParaRPr lang="en-CA">
              <a:latin typeface="Century Schoolbook"/>
            </a:endParaRPr>
          </a:p>
        </p:txBody>
      </p:sp>
    </p:spTree>
    <p:extLst>
      <p:ext uri="{BB962C8B-B14F-4D97-AF65-F5344CB8AC3E}">
        <p14:creationId xmlns:p14="http://schemas.microsoft.com/office/powerpoint/2010/main" val="115822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Denial of Service (DOS Attack)</a:t>
            </a:r>
          </a:p>
        </p:txBody>
      </p:sp>
      <p:sp>
        <p:nvSpPr>
          <p:cNvPr id="3" name="Content Placeholder 2"/>
          <p:cNvSpPr>
            <a:spLocks noGrp="1"/>
          </p:cNvSpPr>
          <p:nvPr>
            <p:ph sz="quarter" idx="1"/>
          </p:nvPr>
        </p:nvSpPr>
        <p:spPr/>
        <p:txBody>
          <a:bodyPr>
            <a:normAutofit/>
          </a:bodyPr>
          <a:lstStyle/>
          <a:p>
            <a:r>
              <a:rPr lang="en-CA" dirty="0"/>
              <a:t>Connection Flooding</a:t>
            </a:r>
          </a:p>
          <a:p>
            <a:pPr lvl="1"/>
            <a:r>
              <a:rPr lang="en-CA" dirty="0"/>
              <a:t>Attacker sends as much data as the target server can handle</a:t>
            </a:r>
          </a:p>
          <a:p>
            <a:pPr lvl="1"/>
            <a:r>
              <a:rPr lang="en-CA" dirty="0"/>
              <a:t>Using Internet Control Message Protocols (ICMP)</a:t>
            </a:r>
          </a:p>
          <a:p>
            <a:pPr lvl="2"/>
            <a:r>
              <a:rPr lang="en-CA" i="1" dirty="0"/>
              <a:t>ping:</a:t>
            </a:r>
            <a:r>
              <a:rPr lang="en-CA" dirty="0"/>
              <a:t> Requests a destination to return a reply</a:t>
            </a:r>
          </a:p>
          <a:p>
            <a:pPr lvl="3"/>
            <a:r>
              <a:rPr lang="en-CA" sz="1600" dirty="0"/>
              <a:t>Ping of Death</a:t>
            </a:r>
          </a:p>
          <a:p>
            <a:pPr lvl="3"/>
            <a:r>
              <a:rPr lang="en-CA" sz="1600" dirty="0"/>
              <a:t>Smurf</a:t>
            </a:r>
          </a:p>
          <a:p>
            <a:pPr lvl="2"/>
            <a:r>
              <a:rPr lang="en-CA" i="1" dirty="0"/>
              <a:t>echo</a:t>
            </a:r>
            <a:r>
              <a:rPr lang="en-CA" dirty="0"/>
              <a:t>: Requests a destination to return the data sent to it</a:t>
            </a:r>
          </a:p>
          <a:p>
            <a:pPr lvl="3"/>
            <a:r>
              <a:rPr lang="en-CA" sz="1600" dirty="0"/>
              <a:t>Echo-</a:t>
            </a:r>
            <a:r>
              <a:rPr lang="en-CA" sz="1600" dirty="0" err="1"/>
              <a:t>Chargen</a:t>
            </a:r>
            <a:endParaRPr lang="en-CA" sz="1600" dirty="0"/>
          </a:p>
          <a:p>
            <a:pPr lvl="2"/>
            <a:r>
              <a:rPr lang="en-CA" i="1" dirty="0"/>
              <a:t>destination unreachable</a:t>
            </a:r>
            <a:r>
              <a:rPr lang="en-CA" dirty="0"/>
              <a:t>: Indicates that a destination address cannot be accessed</a:t>
            </a:r>
          </a:p>
          <a:p>
            <a:pPr lvl="2"/>
            <a:r>
              <a:rPr lang="en-CA" i="1" dirty="0"/>
              <a:t>source quench</a:t>
            </a:r>
            <a:r>
              <a:rPr lang="en-CA" dirty="0"/>
              <a:t>: Means that the destination is becoming saturated and the source should suspend sending packets for a while</a:t>
            </a:r>
          </a:p>
          <a:p>
            <a:pPr lvl="2"/>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31</a:t>
            </a:fld>
            <a:endParaRPr lang="en-CA">
              <a:latin typeface="Century Schoolbook"/>
            </a:endParaRPr>
          </a:p>
        </p:txBody>
      </p:sp>
    </p:spTree>
    <p:extLst>
      <p:ext uri="{BB962C8B-B14F-4D97-AF65-F5344CB8AC3E}">
        <p14:creationId xmlns:p14="http://schemas.microsoft.com/office/powerpoint/2010/main" val="144427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Denial of Service (DOS Attack) (cont.)</a:t>
            </a:r>
          </a:p>
        </p:txBody>
      </p:sp>
      <p:sp>
        <p:nvSpPr>
          <p:cNvPr id="3" name="Content Placeholder 2"/>
          <p:cNvSpPr>
            <a:spLocks noGrp="1"/>
          </p:cNvSpPr>
          <p:nvPr>
            <p:ph sz="quarter" idx="1"/>
          </p:nvPr>
        </p:nvSpPr>
        <p:spPr/>
        <p:txBody>
          <a:bodyPr>
            <a:normAutofit/>
          </a:bodyPr>
          <a:lstStyle/>
          <a:p>
            <a:r>
              <a:rPr lang="en-CA" dirty="0"/>
              <a:t>Connection Flooding (cont.)</a:t>
            </a:r>
          </a:p>
          <a:p>
            <a:pPr lvl="1"/>
            <a:r>
              <a:rPr lang="en-CA" sz="1900" dirty="0"/>
              <a:t>Smurf</a:t>
            </a:r>
          </a:p>
          <a:p>
            <a:pPr lvl="2"/>
            <a:r>
              <a:rPr lang="en-CA" sz="1600" dirty="0"/>
              <a:t>Large numbers of ping packets with the victim's spoofed source IP are broadcast to a network of unwitting victims using an IP Broadcast address.</a:t>
            </a:r>
          </a:p>
          <a:p>
            <a:pPr lvl="2"/>
            <a:r>
              <a:rPr lang="en-CA" sz="1600" dirty="0"/>
              <a:t>They will respond by sending a reply to the source IP address.</a:t>
            </a:r>
          </a:p>
          <a:p>
            <a:pPr lvl="2"/>
            <a:r>
              <a:rPr lang="en-CA" sz="1600" dirty="0"/>
              <a:t>The victim's computer will be flooded with traffic.</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32</a:t>
            </a:fld>
            <a:endParaRPr lang="en-CA">
              <a:latin typeface="Century Schoolbook"/>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0" y="4077072"/>
            <a:ext cx="6192688" cy="2435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86045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Denial of Service (DOS Attack) (cont.)</a:t>
            </a:r>
          </a:p>
        </p:txBody>
      </p:sp>
      <p:sp>
        <p:nvSpPr>
          <p:cNvPr id="3" name="Content Placeholder 2"/>
          <p:cNvSpPr>
            <a:spLocks noGrp="1"/>
          </p:cNvSpPr>
          <p:nvPr>
            <p:ph sz="quarter" idx="1"/>
          </p:nvPr>
        </p:nvSpPr>
        <p:spPr/>
        <p:txBody>
          <a:bodyPr>
            <a:normAutofit/>
          </a:bodyPr>
          <a:lstStyle/>
          <a:p>
            <a:r>
              <a:rPr lang="en-CA" dirty="0"/>
              <a:t>Connection Flooding (cont.)</a:t>
            </a:r>
          </a:p>
          <a:p>
            <a:pPr lvl="1"/>
            <a:r>
              <a:rPr lang="en-CA" dirty="0" err="1"/>
              <a:t>Syn</a:t>
            </a:r>
            <a:r>
              <a:rPr lang="en-CA" dirty="0"/>
              <a:t> flood</a:t>
            </a:r>
          </a:p>
          <a:p>
            <a:pPr lvl="2"/>
            <a:r>
              <a:rPr lang="en-CA" dirty="0"/>
              <a:t>Attacker can deny service to the target by sending many SYN requests and never responding with ACKs, thereby filling the victim’s SYN_RECV queue.</a:t>
            </a:r>
          </a:p>
          <a:p>
            <a:pPr lvl="2"/>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33</a:t>
            </a:fld>
            <a:endParaRPr lang="en-CA">
              <a:latin typeface="Century Schoolbook"/>
            </a:endParaRP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943" y="3669053"/>
            <a:ext cx="4633430" cy="1299071"/>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 Box 3"/>
          <p:cNvSpPr txBox="1">
            <a:spLocks noChangeArrowheads="1"/>
          </p:cNvSpPr>
          <p:nvPr/>
        </p:nvSpPr>
        <p:spPr bwMode="auto">
          <a:xfrm>
            <a:off x="4082768" y="5412503"/>
            <a:ext cx="3983783"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ctr" defTabSz="914400"/>
            <a:r>
              <a:rPr lang="en-US" altLang="en-US" dirty="0">
                <a:solidFill>
                  <a:prstClr val="black"/>
                </a:solidFill>
                <a:latin typeface="Century Schoolbook"/>
              </a:rPr>
              <a:t>Three-Way Connection Handshake.</a:t>
            </a:r>
          </a:p>
        </p:txBody>
      </p:sp>
    </p:spTree>
    <p:extLst>
      <p:ext uri="{BB962C8B-B14F-4D97-AF65-F5344CB8AC3E}">
        <p14:creationId xmlns:p14="http://schemas.microsoft.com/office/powerpoint/2010/main" val="393808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Denial of Service (DOS Attack) (cont.)</a:t>
            </a:r>
          </a:p>
        </p:txBody>
      </p:sp>
      <p:sp>
        <p:nvSpPr>
          <p:cNvPr id="3" name="Content Placeholder 2"/>
          <p:cNvSpPr>
            <a:spLocks noGrp="1"/>
          </p:cNvSpPr>
          <p:nvPr>
            <p:ph sz="quarter" idx="1"/>
          </p:nvPr>
        </p:nvSpPr>
        <p:spPr>
          <a:xfrm>
            <a:off x="609600" y="1600200"/>
            <a:ext cx="10287000" cy="4873752"/>
          </a:xfrm>
        </p:spPr>
        <p:txBody>
          <a:bodyPr>
            <a:noAutofit/>
          </a:bodyPr>
          <a:lstStyle/>
          <a:p>
            <a:r>
              <a:rPr lang="en-CA" sz="2200" dirty="0"/>
              <a:t>DNS Attacks</a:t>
            </a:r>
          </a:p>
          <a:p>
            <a:pPr marL="365760" lvl="1" indent="0">
              <a:buNone/>
            </a:pPr>
            <a:r>
              <a:rPr lang="en-CA" sz="2200" dirty="0"/>
              <a:t>A domain name system server translates domain names into IP addresses.</a:t>
            </a:r>
          </a:p>
          <a:p>
            <a:pPr marL="365760" lvl="1" indent="0">
              <a:buNone/>
            </a:pPr>
            <a:r>
              <a:rPr lang="en-CA" sz="2200" dirty="0"/>
              <a:t>If the server doesn't know a requested translation it will ask another server.</a:t>
            </a:r>
          </a:p>
          <a:p>
            <a:pPr lvl="1"/>
            <a:r>
              <a:rPr lang="en-GB" sz="2200" dirty="0"/>
              <a:t>DNS Flooding: Sending an overwhelming number of DNS requests to the server, consuming its resources.</a:t>
            </a:r>
          </a:p>
          <a:p>
            <a:pPr lvl="1"/>
            <a:r>
              <a:rPr lang="en-GB" sz="2200" dirty="0"/>
              <a:t>DNS Amplification: An attacker sends small queries to open DNS servers with a spoofed IP address (the IP address of the victim) to trigger large responses, causing the DNS server to respond to the victim with a flood of data.</a:t>
            </a:r>
          </a:p>
          <a:p>
            <a:pPr lvl="1"/>
            <a:r>
              <a:rPr lang="en-GB" sz="2200" dirty="0"/>
              <a:t>DNS Reflection: Attackers send requests to DNS servers, using the target's IP address as the return address, causing the target to be flooded with DNS query responses.</a:t>
            </a:r>
            <a:endParaRPr lang="en-CA" sz="22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34</a:t>
            </a:fld>
            <a:endParaRPr lang="en-CA">
              <a:latin typeface="Century Schoolbook"/>
            </a:endParaRPr>
          </a:p>
        </p:txBody>
      </p:sp>
    </p:spTree>
    <p:extLst>
      <p:ext uri="{BB962C8B-B14F-4D97-AF65-F5344CB8AC3E}">
        <p14:creationId xmlns:p14="http://schemas.microsoft.com/office/powerpoint/2010/main" val="406950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Denial of Service (DOS Attack) (cont.)</a:t>
            </a:r>
          </a:p>
        </p:txBody>
      </p:sp>
      <p:sp>
        <p:nvSpPr>
          <p:cNvPr id="3" name="Content Placeholder 2"/>
          <p:cNvSpPr>
            <a:spLocks noGrp="1"/>
          </p:cNvSpPr>
          <p:nvPr>
            <p:ph sz="quarter" idx="1"/>
          </p:nvPr>
        </p:nvSpPr>
        <p:spPr/>
        <p:txBody>
          <a:bodyPr>
            <a:normAutofit/>
          </a:bodyPr>
          <a:lstStyle/>
          <a:p>
            <a:r>
              <a:rPr lang="en-CA" sz="1800" dirty="0"/>
              <a:t>Distributed Denial of Service (DDOS)</a:t>
            </a:r>
          </a:p>
          <a:p>
            <a:pPr lvl="1"/>
            <a:r>
              <a:rPr lang="en-CA" sz="1600" dirty="0"/>
              <a:t>Attacker plants a Trojan horse, including various types of DOS attacks, on some target machines.</a:t>
            </a:r>
          </a:p>
          <a:p>
            <a:pPr lvl="1"/>
            <a:r>
              <a:rPr lang="en-CA" sz="1600" dirty="0"/>
              <a:t>At some point the attacker chooses a victim and sends a signal to all the zombies (target machines) to launch the attack. </a:t>
            </a:r>
          </a:p>
          <a:p>
            <a:pPr lvl="1"/>
            <a:r>
              <a:rPr lang="en-CA" sz="1600" dirty="0"/>
              <a:t>Then, instead of the victim’s trying to defend against one DOS attack, it must try to counter n attacks from the n zombies all acting at once.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35</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9776" y="3680145"/>
            <a:ext cx="4176464" cy="295059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18355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Cookies and Scripts</a:t>
            </a:r>
          </a:p>
        </p:txBody>
      </p:sp>
      <p:sp>
        <p:nvSpPr>
          <p:cNvPr id="3" name="Content Placeholder 2"/>
          <p:cNvSpPr>
            <a:spLocks noGrp="1"/>
          </p:cNvSpPr>
          <p:nvPr>
            <p:ph sz="quarter" idx="1"/>
          </p:nvPr>
        </p:nvSpPr>
        <p:spPr>
          <a:xfrm>
            <a:off x="1981200" y="1600200"/>
            <a:ext cx="7467600" cy="5141168"/>
          </a:xfrm>
        </p:spPr>
        <p:txBody>
          <a:bodyPr>
            <a:normAutofit fontScale="85000" lnSpcReduction="10000"/>
          </a:bodyPr>
          <a:lstStyle/>
          <a:p>
            <a:r>
              <a:rPr lang="en-CA" dirty="0"/>
              <a:t>Cookies</a:t>
            </a:r>
          </a:p>
          <a:p>
            <a:pPr lvl="1"/>
            <a:r>
              <a:rPr lang="en-CA" dirty="0"/>
              <a:t>A data object that can be held in memory (per-session cookie) or stored on disk for future access (persistent cookie)</a:t>
            </a:r>
          </a:p>
          <a:p>
            <a:pPr lvl="1"/>
            <a:r>
              <a:rPr lang="en-CA" dirty="0"/>
              <a:t>A cookie is something that </a:t>
            </a:r>
          </a:p>
          <a:p>
            <a:pPr lvl="2"/>
            <a:r>
              <a:rPr lang="en-CA" dirty="0"/>
              <a:t>Takes up space on your disk</a:t>
            </a:r>
          </a:p>
          <a:p>
            <a:pPr lvl="2"/>
            <a:r>
              <a:rPr lang="en-CA" dirty="0"/>
              <a:t>Holding information about you that you cannot see</a:t>
            </a:r>
          </a:p>
          <a:p>
            <a:pPr lvl="2"/>
            <a:r>
              <a:rPr lang="en-CA" dirty="0"/>
              <a:t>Forwarded to servers you do not know whenever the server wants it, without informing you</a:t>
            </a:r>
          </a:p>
          <a:p>
            <a:r>
              <a:rPr lang="en-CA" dirty="0"/>
              <a:t>Scripts</a:t>
            </a:r>
          </a:p>
          <a:p>
            <a:pPr lvl="1"/>
            <a:r>
              <a:rPr lang="en-CA" dirty="0"/>
              <a:t>An attack from client to server</a:t>
            </a:r>
          </a:p>
          <a:p>
            <a:pPr lvl="2"/>
            <a:r>
              <a:rPr lang="en-CA" dirty="0"/>
              <a:t>A browser organizes user inputs into parameters to a defined script</a:t>
            </a:r>
          </a:p>
          <a:p>
            <a:pPr lvl="2"/>
            <a:r>
              <a:rPr lang="en-CA" dirty="0"/>
              <a:t>It then sends the script and parameters to a server to be executed. </a:t>
            </a:r>
          </a:p>
          <a:p>
            <a:pPr lvl="2"/>
            <a:r>
              <a:rPr lang="en-CA" dirty="0"/>
              <a:t>The server cannot distinguish between commands generated from a user and a user’s handcrafting a set of orders.</a:t>
            </a:r>
          </a:p>
          <a:p>
            <a:pPr lvl="2"/>
            <a:r>
              <a:rPr lang="en-CA" dirty="0"/>
              <a:t>The malicious user can monitor the communication between a browser and a server to see how changing a web page entry affects what the browser sends and then how the server reacts, and manipulate the server’s actions.</a:t>
            </a:r>
          </a:p>
          <a:p>
            <a:pPr marL="730250" lvl="2" indent="-331788">
              <a:buNone/>
            </a:pPr>
            <a:r>
              <a:rPr lang="en-CA" dirty="0">
                <a:latin typeface="Courier New" panose="02070309020205020404" pitchFamily="49" charset="0"/>
                <a:cs typeface="Courier New" panose="02070309020205020404" pitchFamily="49" charset="0"/>
              </a:rPr>
              <a:t>http://www.test.com/cgi-bin/query?%0a/bin/cat%20/etc/passwd</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36</a:t>
            </a:fld>
            <a:endParaRPr lang="en-CA">
              <a:latin typeface="Century Schoolbook"/>
            </a:endParaRPr>
          </a:p>
        </p:txBody>
      </p:sp>
    </p:spTree>
    <p:extLst>
      <p:ext uri="{BB962C8B-B14F-4D97-AF65-F5344CB8AC3E}">
        <p14:creationId xmlns:p14="http://schemas.microsoft.com/office/powerpoint/2010/main" val="21210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Active Code</a:t>
            </a:r>
          </a:p>
        </p:txBody>
      </p:sp>
      <p:sp>
        <p:nvSpPr>
          <p:cNvPr id="3" name="Content Placeholder 2"/>
          <p:cNvSpPr>
            <a:spLocks noGrp="1"/>
          </p:cNvSpPr>
          <p:nvPr>
            <p:ph sz="quarter" idx="1"/>
          </p:nvPr>
        </p:nvSpPr>
        <p:spPr>
          <a:xfrm>
            <a:off x="1981200" y="1600200"/>
            <a:ext cx="7467600" cy="5141168"/>
          </a:xfrm>
        </p:spPr>
        <p:txBody>
          <a:bodyPr>
            <a:normAutofit fontScale="92500" lnSpcReduction="10000"/>
          </a:bodyPr>
          <a:lstStyle/>
          <a:p>
            <a:r>
              <a:rPr lang="en-CA" dirty="0"/>
              <a:t>Java Code</a:t>
            </a:r>
          </a:p>
          <a:p>
            <a:pPr lvl="1"/>
            <a:r>
              <a:rPr lang="en-CA" dirty="0"/>
              <a:t>A hostile applet is downloadable Java code that can cause harm on the client’s system</a:t>
            </a:r>
          </a:p>
          <a:p>
            <a:r>
              <a:rPr lang="en-CA" dirty="0"/>
              <a:t>ActiveX controls</a:t>
            </a:r>
          </a:p>
          <a:p>
            <a:pPr lvl="1"/>
            <a:r>
              <a:rPr lang="en-CA" dirty="0"/>
              <a:t>Objects of arbitrary type can be downloaded to a client</a:t>
            </a:r>
          </a:p>
          <a:p>
            <a:r>
              <a:rPr lang="en-CA" dirty="0"/>
              <a:t>Auto Exec by Type</a:t>
            </a:r>
          </a:p>
          <a:p>
            <a:pPr lvl="1"/>
            <a:r>
              <a:rPr lang="en-CA" dirty="0"/>
              <a:t>When a file arrives with an extensions, the OS automatically invokes the appropriate processor to handle it.</a:t>
            </a:r>
          </a:p>
          <a:p>
            <a:pPr lvl="1"/>
            <a:r>
              <a:rPr lang="en-CA" dirty="0"/>
              <a:t>It gives an opportunity to an attacker, such as running malicious macros, from inside a .doc file</a:t>
            </a:r>
          </a:p>
          <a:p>
            <a:r>
              <a:rPr lang="en-CA" dirty="0"/>
              <a:t>Bots</a:t>
            </a:r>
          </a:p>
          <a:p>
            <a:pPr lvl="1"/>
            <a:r>
              <a:rPr lang="en-CA" dirty="0"/>
              <a:t>Pieces of malicious code under remote control</a:t>
            </a:r>
          </a:p>
          <a:p>
            <a:pPr lvl="1"/>
            <a:r>
              <a:rPr lang="en-CA" dirty="0"/>
              <a:t>Used for DDOS attacks, launching attacks from many sites in parallel against a victim</a:t>
            </a:r>
          </a:p>
          <a:p>
            <a:pPr lvl="1"/>
            <a:r>
              <a:rPr lang="en-CA" dirty="0"/>
              <a:t>Used for spam and other bulk email attacks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37</a:t>
            </a:fld>
            <a:endParaRPr lang="en-CA">
              <a:latin typeface="Century Schoolbook"/>
            </a:endParaRPr>
          </a:p>
        </p:txBody>
      </p:sp>
    </p:spTree>
    <p:extLst>
      <p:ext uri="{BB962C8B-B14F-4D97-AF65-F5344CB8AC3E}">
        <p14:creationId xmlns:p14="http://schemas.microsoft.com/office/powerpoint/2010/main" val="271829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Three steps of a security threat analysis</a:t>
            </a:r>
          </a:p>
          <a:p>
            <a:pPr marL="822960" lvl="1" indent="-457200">
              <a:buFont typeface="+mj-lt"/>
              <a:buAutoNum type="arabicPeriod"/>
            </a:pPr>
            <a:r>
              <a:rPr lang="en-CA" sz="2400" dirty="0"/>
              <a:t>Scrutinize all the parts of a system so that we know what each part does and how it interacts with other parts.</a:t>
            </a:r>
          </a:p>
          <a:p>
            <a:pPr marL="822960" lvl="1" indent="-457200">
              <a:buFont typeface="+mj-lt"/>
              <a:buAutoNum type="arabicPeriod"/>
            </a:pPr>
            <a:r>
              <a:rPr lang="en-CA" sz="2400" dirty="0"/>
              <a:t>Consider possible damage to </a:t>
            </a:r>
          </a:p>
          <a:p>
            <a:pPr marL="1097280" lvl="2" indent="-457200"/>
            <a:r>
              <a:rPr lang="en-CA" sz="2000" dirty="0"/>
              <a:t>Confidentiality</a:t>
            </a:r>
          </a:p>
          <a:p>
            <a:pPr marL="1097280" lvl="2" indent="-457200"/>
            <a:r>
              <a:rPr lang="en-CA" sz="2000" dirty="0"/>
              <a:t>Integrity</a:t>
            </a:r>
          </a:p>
          <a:p>
            <a:pPr marL="1097280" lvl="2" indent="-457200"/>
            <a:r>
              <a:rPr lang="en-CA" sz="2000" dirty="0"/>
              <a:t>Availability</a:t>
            </a:r>
          </a:p>
          <a:p>
            <a:pPr marL="822960" lvl="1" indent="-457200">
              <a:buFont typeface="+mj-lt"/>
              <a:buAutoNum type="arabicPeriod"/>
            </a:pPr>
            <a:r>
              <a:rPr lang="en-CA" sz="2400" dirty="0"/>
              <a:t>Hypothesize the kinds of attacks that could cause this damage.</a:t>
            </a:r>
          </a:p>
          <a:p>
            <a:r>
              <a:rPr lang="en-CA" sz="2800" dirty="0"/>
              <a:t>Same steps can be taken with a network</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38</a:t>
            </a:fld>
            <a:endParaRPr lang="en-CA">
              <a:latin typeface="Century Schoolbook"/>
            </a:endParaRPr>
          </a:p>
        </p:txBody>
      </p:sp>
    </p:spTree>
    <p:extLst>
      <p:ext uri="{BB962C8B-B14F-4D97-AF65-F5344CB8AC3E}">
        <p14:creationId xmlns:p14="http://schemas.microsoft.com/office/powerpoint/2010/main" val="201052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dirty="0"/>
              <a:t>Individual parts of a network</a:t>
            </a:r>
          </a:p>
          <a:p>
            <a:pPr lvl="1"/>
            <a:r>
              <a:rPr lang="en-CA" dirty="0"/>
              <a:t>Local </a:t>
            </a:r>
          </a:p>
          <a:p>
            <a:pPr lvl="2"/>
            <a:r>
              <a:rPr lang="en-CA" dirty="0"/>
              <a:t>nodes</a:t>
            </a:r>
          </a:p>
          <a:p>
            <a:pPr lvl="2"/>
            <a:r>
              <a:rPr lang="en-CA" dirty="0"/>
              <a:t>communications links</a:t>
            </a:r>
          </a:p>
          <a:p>
            <a:pPr lvl="2"/>
            <a:r>
              <a:rPr lang="en-CA" dirty="0"/>
              <a:t>area network</a:t>
            </a:r>
          </a:p>
          <a:p>
            <a:pPr lvl="2"/>
            <a:r>
              <a:rPr lang="en-CA" dirty="0"/>
              <a:t>data storage</a:t>
            </a:r>
          </a:p>
          <a:p>
            <a:pPr lvl="2"/>
            <a:r>
              <a:rPr lang="en-CA" dirty="0"/>
              <a:t>processes</a:t>
            </a:r>
          </a:p>
          <a:p>
            <a:pPr lvl="2"/>
            <a:r>
              <a:rPr lang="en-CA" dirty="0"/>
              <a:t>Devices</a:t>
            </a:r>
          </a:p>
          <a:p>
            <a:pPr lvl="1"/>
            <a:r>
              <a:rPr lang="en-CA" dirty="0"/>
              <a:t>Network</a:t>
            </a:r>
          </a:p>
          <a:p>
            <a:pPr lvl="2"/>
            <a:r>
              <a:rPr lang="en-CA" dirty="0"/>
              <a:t>gateway</a:t>
            </a:r>
          </a:p>
          <a:p>
            <a:pPr lvl="2"/>
            <a:r>
              <a:rPr lang="en-CA" dirty="0"/>
              <a:t>communications</a:t>
            </a:r>
          </a:p>
          <a:p>
            <a:pPr lvl="2"/>
            <a:r>
              <a:rPr lang="en-CA" dirty="0"/>
              <a:t>control resources</a:t>
            </a:r>
          </a:p>
          <a:p>
            <a:pPr lvl="2"/>
            <a:r>
              <a:rPr lang="en-CA" dirty="0"/>
              <a:t>routers</a:t>
            </a:r>
          </a:p>
          <a:p>
            <a:pPr lvl="2"/>
            <a:r>
              <a:rPr lang="en-CA" dirty="0"/>
              <a:t>resources, such as databases</a:t>
            </a:r>
          </a:p>
          <a:p>
            <a:pPr lvl="4"/>
            <a:endParaRPr lang="en-CA"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39</a:t>
            </a:fld>
            <a:endParaRPr lang="en-CA">
              <a:latin typeface="Century Schoolbook"/>
            </a:endParaRPr>
          </a:p>
        </p:txBody>
      </p:sp>
    </p:spTree>
    <p:extLst>
      <p:ext uri="{BB962C8B-B14F-4D97-AF65-F5344CB8AC3E}">
        <p14:creationId xmlns:p14="http://schemas.microsoft.com/office/powerpoint/2010/main" val="69631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fontScale="77500" lnSpcReduction="20000"/>
          </a:bodyPr>
          <a:lstStyle/>
          <a:p>
            <a:r>
              <a:rPr lang="en-CA" dirty="0"/>
              <a:t>Malicious activities an attacker might perform</a:t>
            </a:r>
          </a:p>
          <a:p>
            <a:pPr lvl="1"/>
            <a:r>
              <a:rPr lang="en-CA" dirty="0"/>
              <a:t>Read communications</a:t>
            </a:r>
          </a:p>
          <a:p>
            <a:pPr lvl="1"/>
            <a:r>
              <a:rPr lang="en-CA" dirty="0"/>
              <a:t>Modify communications</a:t>
            </a:r>
          </a:p>
          <a:p>
            <a:pPr lvl="1"/>
            <a:r>
              <a:rPr lang="en-CA" dirty="0"/>
              <a:t>Forge communications</a:t>
            </a:r>
          </a:p>
          <a:p>
            <a:pPr lvl="1"/>
            <a:r>
              <a:rPr lang="en-CA" dirty="0"/>
              <a:t>Inhibit communications</a:t>
            </a:r>
          </a:p>
          <a:p>
            <a:pPr lvl="1"/>
            <a:r>
              <a:rPr lang="en-CA" dirty="0"/>
              <a:t>Inhibit all communications passing through a point</a:t>
            </a:r>
          </a:p>
          <a:p>
            <a:pPr lvl="1"/>
            <a:r>
              <a:rPr lang="en-CA" dirty="0"/>
              <a:t>Read data</a:t>
            </a:r>
          </a:p>
          <a:p>
            <a:pPr lvl="1"/>
            <a:r>
              <a:rPr lang="en-CA" dirty="0"/>
              <a:t>Modify or destroy data</a:t>
            </a:r>
          </a:p>
          <a:p>
            <a:r>
              <a:rPr lang="en-CA" dirty="0"/>
              <a:t>In other words</a:t>
            </a:r>
          </a:p>
          <a:p>
            <a:pPr lvl="1"/>
            <a:r>
              <a:rPr lang="en-CA" dirty="0"/>
              <a:t>Intercepting data in traffic</a:t>
            </a:r>
          </a:p>
          <a:p>
            <a:pPr lvl="1"/>
            <a:r>
              <a:rPr lang="en-CA" dirty="0"/>
              <a:t>Accessing programs or data at remote hosts</a:t>
            </a:r>
          </a:p>
          <a:p>
            <a:pPr lvl="1"/>
            <a:r>
              <a:rPr lang="en-CA" dirty="0"/>
              <a:t>Modifying programs or data at remote hosts</a:t>
            </a:r>
          </a:p>
          <a:p>
            <a:pPr lvl="1"/>
            <a:r>
              <a:rPr lang="en-CA" dirty="0"/>
              <a:t>Modifying data in transit</a:t>
            </a:r>
          </a:p>
          <a:p>
            <a:pPr lvl="1"/>
            <a:r>
              <a:rPr lang="en-CA" dirty="0"/>
              <a:t>Inserting communications</a:t>
            </a:r>
          </a:p>
          <a:p>
            <a:pPr lvl="1"/>
            <a:r>
              <a:rPr lang="en-CA" dirty="0"/>
              <a:t>Impersonating a user</a:t>
            </a:r>
          </a:p>
          <a:p>
            <a:pPr lvl="1"/>
            <a:r>
              <a:rPr lang="en-CA" dirty="0"/>
              <a:t>Inserting a repeat of a previous communication</a:t>
            </a:r>
          </a:p>
          <a:p>
            <a:pPr lvl="1"/>
            <a:r>
              <a:rPr lang="en-CA" dirty="0"/>
              <a:t>Blocking selected traffic</a:t>
            </a:r>
          </a:p>
          <a:p>
            <a:pPr lvl="1"/>
            <a:r>
              <a:rPr lang="en-CA" dirty="0"/>
              <a:t>Blocking all traffic</a:t>
            </a:r>
          </a:p>
          <a:p>
            <a:pPr lvl="1"/>
            <a:r>
              <a:rPr lang="en-CA" dirty="0"/>
              <a:t>Running a program at a remote host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40</a:t>
            </a:fld>
            <a:endParaRPr lang="en-CA">
              <a:latin typeface="Century Schoolbook"/>
            </a:endParaRPr>
          </a:p>
        </p:txBody>
      </p:sp>
    </p:spTree>
    <p:extLst>
      <p:ext uri="{BB962C8B-B14F-4D97-AF65-F5344CB8AC3E}">
        <p14:creationId xmlns:p14="http://schemas.microsoft.com/office/powerpoint/2010/main" val="175370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5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5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dirty="0"/>
              <a:t>Network Design (Architecture) Concerns</a:t>
            </a:r>
          </a:p>
          <a:p>
            <a:pPr lvl="1"/>
            <a:r>
              <a:rPr lang="en-CA" dirty="0"/>
              <a:t>Segmentation</a:t>
            </a:r>
          </a:p>
          <a:p>
            <a:pPr lvl="2"/>
            <a:r>
              <a:rPr lang="en-CA" dirty="0"/>
              <a:t>Do not run all the activities on one machine</a:t>
            </a:r>
          </a:p>
          <a:p>
            <a:pPr lvl="2"/>
            <a:r>
              <a:rPr lang="en-CA" dirty="0"/>
              <a:t>Distribute the tasks based </a:t>
            </a:r>
            <a:r>
              <a:rPr lang="en-CA"/>
              <a:t>on the principles </a:t>
            </a:r>
            <a:r>
              <a:rPr lang="en-CA" dirty="0"/>
              <a:t>of least privilege and encapsulation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41</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5721" y="3501009"/>
            <a:ext cx="5008563" cy="310991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7677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lnSpcReduction="10000"/>
          </a:bodyPr>
          <a:lstStyle/>
          <a:p>
            <a:r>
              <a:rPr lang="en-CA" dirty="0"/>
              <a:t>Network Design (Architecture) Concerns (cont.)</a:t>
            </a:r>
          </a:p>
          <a:p>
            <a:pPr lvl="1"/>
            <a:r>
              <a:rPr lang="en-CA" dirty="0"/>
              <a:t>Redundancy</a:t>
            </a:r>
          </a:p>
          <a:p>
            <a:pPr lvl="2"/>
            <a:r>
              <a:rPr lang="en-CA" dirty="0"/>
              <a:t>Allowing a function to be performed on more than one node</a:t>
            </a:r>
          </a:p>
          <a:p>
            <a:pPr lvl="2"/>
            <a:r>
              <a:rPr lang="en-CA" b="1" dirty="0"/>
              <a:t>Failover mode</a:t>
            </a:r>
            <a:endParaRPr lang="en-CA" dirty="0"/>
          </a:p>
          <a:p>
            <a:pPr lvl="3"/>
            <a:r>
              <a:rPr lang="en-CA" sz="1600" dirty="0"/>
              <a:t>Servers communicate with secondary server periodically</a:t>
            </a:r>
          </a:p>
          <a:p>
            <a:pPr lvl="1"/>
            <a:r>
              <a:rPr lang="en-CA" dirty="0"/>
              <a:t>Single Point of Failure</a:t>
            </a:r>
          </a:p>
          <a:p>
            <a:pPr lvl="2"/>
            <a:r>
              <a:rPr lang="en-CA" dirty="0"/>
              <a:t>Single point in the network that, if it were to fail, could deny access to all or a significant part of the network</a:t>
            </a:r>
          </a:p>
          <a:p>
            <a:pPr lvl="2"/>
            <a:r>
              <a:rPr lang="en-CA" dirty="0"/>
              <a:t>Distributing the database by placing copies of it on different network segments</a:t>
            </a:r>
          </a:p>
          <a:p>
            <a:pPr lvl="1"/>
            <a:r>
              <a:rPr lang="en-CA" dirty="0"/>
              <a:t>Mobile Agents</a:t>
            </a:r>
          </a:p>
          <a:p>
            <a:pPr lvl="2"/>
            <a:r>
              <a:rPr lang="en-CA" dirty="0"/>
              <a:t>Using mobile code and agents as forces for good</a:t>
            </a:r>
          </a:p>
          <a:p>
            <a:pPr lvl="2"/>
            <a:r>
              <a:rPr lang="en-CA" dirty="0"/>
              <a:t>Design the system, in which no one agent is critical to the overall success, but the overall group can be trusted</a:t>
            </a:r>
          </a:p>
          <a:p>
            <a:pPr lvl="2"/>
            <a:r>
              <a:rPr lang="en-CA" dirty="0"/>
              <a:t>Build distributed services that tolerate buggy, selfish, or malicious nodes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42</a:t>
            </a:fld>
            <a:endParaRPr lang="en-CA">
              <a:latin typeface="Century Schoolbook"/>
            </a:endParaRPr>
          </a:p>
        </p:txBody>
      </p:sp>
    </p:spTree>
    <p:extLst>
      <p:ext uri="{BB962C8B-B14F-4D97-AF65-F5344CB8AC3E}">
        <p14:creationId xmlns:p14="http://schemas.microsoft.com/office/powerpoint/2010/main" val="387683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dirty="0"/>
              <a:t>Encryption</a:t>
            </a:r>
          </a:p>
          <a:p>
            <a:pPr lvl="1"/>
            <a:r>
              <a:rPr lang="en-CA" dirty="0"/>
              <a:t>Not a silver bullet</a:t>
            </a:r>
          </a:p>
          <a:p>
            <a:pPr lvl="2"/>
            <a:r>
              <a:rPr lang="en-CA" dirty="0"/>
              <a:t>A flawed system design with encryption is still a flawed system design</a:t>
            </a:r>
          </a:p>
          <a:p>
            <a:pPr lvl="2"/>
            <a:r>
              <a:rPr lang="en-CA" dirty="0"/>
              <a:t>Encryption protects only what is encrypted</a:t>
            </a:r>
          </a:p>
          <a:p>
            <a:pPr lvl="3"/>
            <a:r>
              <a:rPr lang="en-CA" sz="1600" dirty="0"/>
              <a:t>The best encryption cannot protect against a malicious Trojan horse that intercepts data before the point of encryption</a:t>
            </a:r>
          </a:p>
          <a:p>
            <a:pPr lvl="2"/>
            <a:r>
              <a:rPr lang="en-CA" dirty="0"/>
              <a:t>Encryption is no more secure than its key management</a:t>
            </a:r>
          </a:p>
          <a:p>
            <a:pPr lvl="3"/>
            <a:r>
              <a:rPr lang="en-CA" sz="1600" dirty="0"/>
              <a:t>If an attacker can guess or deduce a weak encryption key, the game is over.</a:t>
            </a:r>
          </a:p>
          <a:p>
            <a:pPr lvl="1"/>
            <a:r>
              <a:rPr lang="en-CA" dirty="0"/>
              <a:t>In network applications, encryption can be applied</a:t>
            </a:r>
          </a:p>
          <a:p>
            <a:pPr lvl="2"/>
            <a:r>
              <a:rPr lang="en-CA" dirty="0"/>
              <a:t>Between two hosts (link encryption)</a:t>
            </a:r>
          </a:p>
          <a:p>
            <a:pPr lvl="2"/>
            <a:r>
              <a:rPr lang="en-CA" dirty="0"/>
              <a:t>Between two applications (end-to-end encryption</a:t>
            </a:r>
          </a:p>
          <a:p>
            <a:pPr lvl="1"/>
            <a:r>
              <a:rPr lang="en-CA" dirty="0"/>
              <a:t>A constant issue</a:t>
            </a:r>
          </a:p>
          <a:p>
            <a:pPr lvl="2"/>
            <a:r>
              <a:rPr lang="en-CA" dirty="0"/>
              <a:t>Safe key distribution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43</a:t>
            </a:fld>
            <a:endParaRPr lang="en-CA">
              <a:latin typeface="Century Schoolbook"/>
            </a:endParaRPr>
          </a:p>
        </p:txBody>
      </p:sp>
    </p:spTree>
    <p:extLst>
      <p:ext uri="{BB962C8B-B14F-4D97-AF65-F5344CB8AC3E}">
        <p14:creationId xmlns:p14="http://schemas.microsoft.com/office/powerpoint/2010/main" val="2260538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643192" cy="5141168"/>
          </a:xfrm>
        </p:spPr>
        <p:txBody>
          <a:bodyPr>
            <a:normAutofit/>
          </a:bodyPr>
          <a:lstStyle/>
          <a:p>
            <a:r>
              <a:rPr lang="en-CA" sz="2000" dirty="0"/>
              <a:t>Link Encryption</a:t>
            </a:r>
          </a:p>
          <a:p>
            <a:pPr lvl="1"/>
            <a:r>
              <a:rPr lang="en-CA" sz="1800" dirty="0"/>
              <a:t>Data are encrypted just before the system places them on the physical communications link (at layer 1 or 2 in the OSI model)</a:t>
            </a:r>
          </a:p>
          <a:p>
            <a:pPr lvl="1"/>
            <a:r>
              <a:rPr lang="en-CA" sz="1800" dirty="0"/>
              <a:t>Decryption occurs just as the communication arrives at and enters the receiving computer</a:t>
            </a:r>
          </a:p>
          <a:p>
            <a:pPr lvl="1"/>
            <a:r>
              <a:rPr lang="en-CA" sz="1800" dirty="0"/>
              <a:t>Encryption protects the message in transit between two computers, but the message is in plaintext inside the hosts</a:t>
            </a:r>
          </a:p>
          <a:p>
            <a:pPr lvl="1"/>
            <a:endParaRPr lang="en-CA" sz="18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44</a:t>
            </a:fld>
            <a:endParaRPr lang="en-CA">
              <a:latin typeface="Century Schoolbook"/>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1988" y="3861048"/>
            <a:ext cx="5272284" cy="285729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7182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1800" dirty="0"/>
              <a:t>Link Encryption (cont.)</a:t>
            </a:r>
          </a:p>
          <a:p>
            <a:pPr lvl="1"/>
            <a:r>
              <a:rPr lang="en-CA" sz="1800" dirty="0"/>
              <a:t>The message is exposed in two layers of all intermediate hosts through which the message may pass</a:t>
            </a:r>
          </a:p>
          <a:p>
            <a:pPr lvl="1"/>
            <a:r>
              <a:rPr lang="en-CA" sz="1800" dirty="0"/>
              <a:t>This exposure occurs because routing and addressing are not read at the bottom layer, but only at higher layers.</a:t>
            </a:r>
          </a:p>
          <a:p>
            <a:pPr lvl="1"/>
            <a:r>
              <a:rPr lang="en-CA" sz="1800" dirty="0"/>
              <a:t>Appropriate when the transmission line is the point of greatest vulnerability and the communications medium is shared with other users or is not secure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45</a:t>
            </a:fld>
            <a:endParaRPr lang="en-CA">
              <a:latin typeface="Century Schoolbook"/>
            </a:endParaRPr>
          </a:p>
        </p:txBody>
      </p:sp>
      <p:pic>
        <p:nvPicPr>
          <p:cNvPr id="6"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30559" y="4077072"/>
            <a:ext cx="4725681" cy="256106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0621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000" dirty="0"/>
              <a:t>Link Encryption (cont.)</a:t>
            </a:r>
          </a:p>
          <a:p>
            <a:pPr lvl="1"/>
            <a:r>
              <a:rPr lang="en-CA" sz="1800" dirty="0"/>
              <a:t>Virtual Private Networks (VPN)</a:t>
            </a:r>
          </a:p>
          <a:p>
            <a:pPr lvl="2"/>
            <a:r>
              <a:rPr lang="en-CA" sz="1600" dirty="0"/>
              <a:t>Firewalls can be used to implement a VPN</a:t>
            </a:r>
            <a:endParaRPr lang="en-CA" sz="1500" dirty="0"/>
          </a:p>
          <a:p>
            <a:pPr lvl="2"/>
            <a:r>
              <a:rPr lang="en-CA" sz="1600" dirty="0"/>
              <a:t>The larger network is restricted only to those given special access by the VPN</a:t>
            </a:r>
            <a:endParaRPr lang="en-CA" sz="2000" dirty="0"/>
          </a:p>
          <a:p>
            <a:pPr lvl="2"/>
            <a:r>
              <a:rPr lang="en-CA" sz="1600" dirty="0"/>
              <a:t>Communication passes through an encrypted tunnel or tunnel</a:t>
            </a:r>
            <a:endParaRPr lang="en-CA" sz="15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46</a:t>
            </a:fld>
            <a:endParaRPr lang="en-CA">
              <a:latin typeface="Century Schoolbook"/>
            </a:endParaRPr>
          </a:p>
        </p:txBody>
      </p:sp>
      <p:pic>
        <p:nvPicPr>
          <p:cNvPr id="7"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4796" y="3789040"/>
            <a:ext cx="5506367" cy="273630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7809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200"/>
            <a:ext cx="8018463" cy="400110"/>
          </a:xfrm>
        </p:spPr>
        <p:txBody>
          <a:bodyPr>
            <a:normAutofit fontScale="90000"/>
          </a:bodyPr>
          <a:lstStyle/>
          <a:p>
            <a:pPr>
              <a:lnSpc>
                <a:spcPct val="100000"/>
              </a:lnSpc>
            </a:pPr>
            <a:r>
              <a:rPr lang="en-US" sz="2600" b="1" dirty="0">
                <a:solidFill>
                  <a:srgbClr val="0080A9"/>
                </a:solidFill>
                <a:latin typeface="Arial" panose="020B0604020202020204" pitchFamily="34" charset="0"/>
                <a:cs typeface="Arial" panose="020B0604020202020204" pitchFamily="34" charset="0"/>
              </a:rPr>
              <a:t>Virtual Private Network (V</a:t>
            </a:r>
            <a:r>
              <a:rPr lang="en-US" sz="100" b="1" dirty="0">
                <a:solidFill>
                  <a:srgbClr val="0080A9"/>
                </a:solidFill>
                <a:latin typeface="Arial" panose="020B0604020202020204" pitchFamily="34" charset="0"/>
                <a:cs typeface="Arial" panose="020B0604020202020204" pitchFamily="34" charset="0"/>
              </a:rPr>
              <a:t> </a:t>
            </a:r>
            <a:r>
              <a:rPr lang="en-US" sz="2600" b="1" dirty="0">
                <a:solidFill>
                  <a:srgbClr val="0080A9"/>
                </a:solidFill>
                <a:latin typeface="Arial" panose="020B0604020202020204" pitchFamily="34" charset="0"/>
                <a:cs typeface="Arial" panose="020B0604020202020204" pitchFamily="34" charset="0"/>
              </a:rPr>
              <a:t>P</a:t>
            </a:r>
            <a:r>
              <a:rPr lang="en-US" sz="100" b="1" dirty="0">
                <a:solidFill>
                  <a:srgbClr val="0080A9"/>
                </a:solidFill>
                <a:latin typeface="Arial" panose="020B0604020202020204" pitchFamily="34" charset="0"/>
                <a:cs typeface="Arial" panose="020B0604020202020204" pitchFamily="34" charset="0"/>
              </a:rPr>
              <a:t> </a:t>
            </a:r>
            <a:r>
              <a:rPr lang="en-US" sz="2600" b="1" dirty="0">
                <a:solidFill>
                  <a:srgbClr val="0080A9"/>
                </a:solidFill>
                <a:latin typeface="Arial" panose="020B0604020202020204" pitchFamily="34" charset="0"/>
                <a:cs typeface="Arial" panose="020B0604020202020204" pitchFamily="34" charset="0"/>
              </a:rPr>
              <a:t>N) Concentrator (1 of 2)</a:t>
            </a:r>
          </a:p>
        </p:txBody>
      </p:sp>
      <p:sp>
        <p:nvSpPr>
          <p:cNvPr id="3" name="Content Placeholder 2"/>
          <p:cNvSpPr>
            <a:spLocks noGrp="1"/>
          </p:cNvSpPr>
          <p:nvPr>
            <p:ph idx="1"/>
          </p:nvPr>
        </p:nvSpPr>
        <p:spPr>
          <a:xfrm>
            <a:off x="1889125" y="1538819"/>
            <a:ext cx="8415338" cy="3847207"/>
          </a:xfrm>
        </p:spPr>
        <p:txBody>
          <a:bodyPr>
            <a:normAutofit fontScale="92500" lnSpcReduction="10000"/>
          </a:bodyPr>
          <a:lstStyle/>
          <a:p>
            <a:pPr>
              <a:lnSpc>
                <a:spcPct val="100000"/>
              </a:lnSpc>
            </a:pPr>
            <a:r>
              <a:rPr lang="en-US" altLang="en-US" b="1" dirty="0">
                <a:solidFill>
                  <a:schemeClr val="tx1"/>
                </a:solidFill>
                <a:latin typeface="Arial" panose="020B0604020202020204" pitchFamily="34" charset="0"/>
                <a:cs typeface="Arial" panose="020B0604020202020204" pitchFamily="34" charset="0"/>
              </a:rPr>
              <a:t>Virtual private network (V</a:t>
            </a:r>
            <a:r>
              <a:rPr lang="en-US" altLang="en-US" sz="100" b="1" dirty="0">
                <a:latin typeface="Arial" panose="020B0604020202020204" pitchFamily="34" charset="0"/>
                <a:cs typeface="Arial" panose="020B0604020202020204" pitchFamily="34" charset="0"/>
              </a:rPr>
              <a:t> </a:t>
            </a:r>
            <a:r>
              <a:rPr lang="en-US" altLang="en-US" b="1" dirty="0">
                <a:solidFill>
                  <a:schemeClr val="tx1"/>
                </a:solidFill>
                <a:latin typeface="Arial" panose="020B0604020202020204" pitchFamily="34" charset="0"/>
                <a:cs typeface="Arial" panose="020B0604020202020204" pitchFamily="34" charset="0"/>
              </a:rPr>
              <a:t>P</a:t>
            </a:r>
            <a:r>
              <a:rPr lang="en-US" altLang="en-US" sz="100" b="1" dirty="0">
                <a:latin typeface="Arial" panose="020B0604020202020204" pitchFamily="34" charset="0"/>
                <a:cs typeface="Arial" panose="020B0604020202020204" pitchFamily="34" charset="0"/>
              </a:rPr>
              <a:t> </a:t>
            </a:r>
            <a:r>
              <a:rPr lang="en-US" altLang="en-US" b="1" dirty="0">
                <a:solidFill>
                  <a:schemeClr val="tx1"/>
                </a:solidFill>
                <a:latin typeface="Arial" panose="020B0604020202020204" pitchFamily="34" charset="0"/>
                <a:cs typeface="Arial" panose="020B0604020202020204" pitchFamily="34" charset="0"/>
              </a:rPr>
              <a:t>N) </a:t>
            </a:r>
            <a:r>
              <a:rPr lang="en-US" altLang="en-US" dirty="0">
                <a:solidFill>
                  <a:schemeClr val="tx1"/>
                </a:solidFill>
                <a:latin typeface="Arial" panose="020B0604020202020204" pitchFamily="34" charset="0"/>
                <a:cs typeface="Arial" panose="020B0604020202020204" pitchFamily="34" charset="0"/>
              </a:rPr>
              <a:t>- enables authorized users to use an unsecured public network as if it were a secure private network</a:t>
            </a:r>
          </a:p>
          <a:p>
            <a:pPr lvl="1">
              <a:lnSpc>
                <a:spcPct val="100000"/>
              </a:lnSpc>
            </a:pPr>
            <a:r>
              <a:rPr lang="en-US" altLang="en-US" sz="2000" dirty="0">
                <a:latin typeface="Arial" panose="020B0604020202020204" pitchFamily="34" charset="0"/>
                <a:cs typeface="Arial" panose="020B0604020202020204" pitchFamily="34" charset="0"/>
              </a:rPr>
              <a:t>All data transmitted between remote device and network is encrypted</a:t>
            </a:r>
          </a:p>
          <a:p>
            <a:pPr>
              <a:lnSpc>
                <a:spcPct val="100000"/>
              </a:lnSpc>
            </a:pPr>
            <a:r>
              <a:rPr lang="en-US" altLang="en-US" dirty="0">
                <a:solidFill>
                  <a:schemeClr val="tx1"/>
                </a:solidFill>
                <a:latin typeface="Arial" panose="020B0604020202020204" pitchFamily="34" charset="0"/>
                <a:cs typeface="Arial" panose="020B0604020202020204" pitchFamily="34" charset="0"/>
              </a:rPr>
              <a:t>Types of V</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P</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Ns</a:t>
            </a:r>
          </a:p>
          <a:p>
            <a:pPr lvl="1">
              <a:lnSpc>
                <a:spcPct val="100000"/>
              </a:lnSpc>
            </a:pPr>
            <a:r>
              <a:rPr lang="en-US" altLang="en-US" sz="2000" b="1" dirty="0">
                <a:latin typeface="Arial" panose="020B0604020202020204" pitchFamily="34" charset="0"/>
                <a:cs typeface="Arial" panose="020B0604020202020204" pitchFamily="34" charset="0"/>
              </a:rPr>
              <a:t>Remote-access V</a:t>
            </a:r>
            <a:r>
              <a:rPr lang="en-US" altLang="en-US" sz="100" b="1" dirty="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P</a:t>
            </a:r>
            <a:r>
              <a:rPr lang="en-US" altLang="en-US" sz="100" b="1" dirty="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N </a:t>
            </a:r>
            <a:r>
              <a:rPr lang="en-US" altLang="en-US" sz="2000" dirty="0">
                <a:latin typeface="Arial" panose="020B0604020202020204" pitchFamily="34" charset="0"/>
                <a:cs typeface="Arial" panose="020B0604020202020204" pitchFamily="34" charset="0"/>
              </a:rPr>
              <a:t>- a user-to-LAN connection</a:t>
            </a:r>
          </a:p>
          <a:p>
            <a:pPr lvl="1">
              <a:lnSpc>
                <a:spcPct val="100000"/>
              </a:lnSpc>
            </a:pPr>
            <a:r>
              <a:rPr lang="en-US" altLang="en-US" sz="2000" b="1" dirty="0">
                <a:latin typeface="Arial" panose="020B0604020202020204" pitchFamily="34" charset="0"/>
                <a:cs typeface="Arial" panose="020B0604020202020204" pitchFamily="34" charset="0"/>
              </a:rPr>
              <a:t>Site-to-site</a:t>
            </a:r>
            <a:r>
              <a:rPr lang="en-US" altLang="en-US" sz="2000" dirty="0">
                <a:latin typeface="Arial" panose="020B0604020202020204" pitchFamily="34" charset="0"/>
                <a:cs typeface="Arial" panose="020B0604020202020204" pitchFamily="34" charset="0"/>
              </a:rPr>
              <a:t> - multiple sites can connect to other sites over the Internet</a:t>
            </a:r>
          </a:p>
          <a:p>
            <a:pPr lvl="1">
              <a:lnSpc>
                <a:spcPct val="100000"/>
              </a:lnSpc>
            </a:pPr>
            <a:r>
              <a:rPr lang="en-US" sz="2000" b="1" dirty="0">
                <a:latin typeface="Arial" panose="020B0604020202020204" pitchFamily="34" charset="0"/>
                <a:cs typeface="Arial" panose="020B0604020202020204" pitchFamily="34" charset="0"/>
              </a:rPr>
              <a:t>Always-on </a:t>
            </a:r>
            <a:r>
              <a:rPr lang="en-US" altLang="en-US" sz="2000" b="1" dirty="0">
                <a:latin typeface="Arial" panose="020B0604020202020204" pitchFamily="34" charset="0"/>
                <a:cs typeface="Arial" panose="020B0604020202020204" pitchFamily="34" charset="0"/>
              </a:rPr>
              <a:t>V</a:t>
            </a:r>
            <a:r>
              <a:rPr lang="en-US" altLang="en-US" sz="100" b="1" dirty="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P</a:t>
            </a:r>
            <a:r>
              <a:rPr lang="en-US" altLang="en-US" sz="100" b="1" dirty="0">
                <a:latin typeface="Arial" panose="020B0604020202020204" pitchFamily="34" charset="0"/>
                <a:cs typeface="Arial" panose="020B0604020202020204" pitchFamily="34" charset="0"/>
              </a:rPr>
              <a:t> </a:t>
            </a:r>
            <a:r>
              <a:rPr lang="en-US" altLang="en-US" sz="2000" b="1" dirty="0">
                <a:latin typeface="Arial" panose="020B0604020202020204" pitchFamily="34" charset="0"/>
                <a:cs typeface="Arial" panose="020B0604020202020204" pitchFamily="34" charset="0"/>
              </a:rPr>
              <a:t>N</a:t>
            </a:r>
            <a:r>
              <a:rPr lang="en-US" sz="2000" b="1" dirty="0">
                <a:latin typeface="Arial" panose="020B0604020202020204" pitchFamily="34" charset="0"/>
                <a:cs typeface="Arial" panose="020B0604020202020204" pitchFamily="34" charset="0"/>
              </a:rPr>
              <a:t>s </a:t>
            </a:r>
            <a:r>
              <a:rPr lang="en-US" sz="2000" dirty="0">
                <a:latin typeface="Arial" panose="020B0604020202020204" pitchFamily="34" charset="0"/>
                <a:cs typeface="Arial" panose="020B0604020202020204" pitchFamily="34" charset="0"/>
              </a:rPr>
              <a:t>– allow the user to always stay connected</a:t>
            </a:r>
          </a:p>
          <a:p>
            <a:pPr>
              <a:lnSpc>
                <a:spcPct val="100000"/>
              </a:lnSpc>
            </a:pPr>
            <a:r>
              <a:rPr lang="en-US" altLang="en-US" dirty="0">
                <a:solidFill>
                  <a:schemeClr val="tx1"/>
                </a:solidFill>
                <a:latin typeface="Arial" panose="020B0604020202020204" pitchFamily="34" charset="0"/>
                <a:cs typeface="Arial" panose="020B0604020202020204" pitchFamily="34" charset="0"/>
              </a:rPr>
              <a:t>Endpoints</a:t>
            </a:r>
          </a:p>
          <a:p>
            <a:pPr lvl="1">
              <a:lnSpc>
                <a:spcPct val="100000"/>
              </a:lnSpc>
            </a:pPr>
            <a:r>
              <a:rPr lang="en-US" altLang="en-US" sz="2000" dirty="0">
                <a:latin typeface="Arial" panose="020B0604020202020204" pitchFamily="34" charset="0"/>
                <a:cs typeface="Arial" panose="020B0604020202020204" pitchFamily="34" charset="0"/>
              </a:rPr>
              <a:t>The end of the tunnel between V</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P</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N devices may be software on local computer or a V</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P</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N concentrator</a:t>
            </a:r>
          </a:p>
        </p:txBody>
      </p:sp>
    </p:spTree>
    <p:extLst>
      <p:ext uri="{BB962C8B-B14F-4D97-AF65-F5344CB8AC3E}">
        <p14:creationId xmlns:p14="http://schemas.microsoft.com/office/powerpoint/2010/main" val="2099838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8026400" cy="400110"/>
          </a:xfrm>
        </p:spPr>
        <p:txBody>
          <a:bodyPr>
            <a:normAutofit fontScale="90000"/>
          </a:bodyPr>
          <a:lstStyle/>
          <a:p>
            <a:pPr>
              <a:lnSpc>
                <a:spcPct val="100000"/>
              </a:lnSpc>
            </a:pPr>
            <a:r>
              <a:rPr lang="en-US" sz="2600" b="1" dirty="0">
                <a:solidFill>
                  <a:srgbClr val="0080A9"/>
                </a:solidFill>
                <a:latin typeface="Arial" panose="020B0604020202020204" pitchFamily="34" charset="0"/>
                <a:cs typeface="Arial" panose="020B0604020202020204" pitchFamily="34" charset="0"/>
              </a:rPr>
              <a:t>Virtual Private Network (V</a:t>
            </a:r>
            <a:r>
              <a:rPr lang="en-US" sz="100" b="1" dirty="0">
                <a:solidFill>
                  <a:srgbClr val="0080A9"/>
                </a:solidFill>
                <a:latin typeface="Arial" panose="020B0604020202020204" pitchFamily="34" charset="0"/>
                <a:cs typeface="Arial" panose="020B0604020202020204" pitchFamily="34" charset="0"/>
              </a:rPr>
              <a:t> </a:t>
            </a:r>
            <a:r>
              <a:rPr lang="en-US" sz="2600" b="1" dirty="0">
                <a:solidFill>
                  <a:srgbClr val="0080A9"/>
                </a:solidFill>
                <a:latin typeface="Arial" panose="020B0604020202020204" pitchFamily="34" charset="0"/>
                <a:cs typeface="Arial" panose="020B0604020202020204" pitchFamily="34" charset="0"/>
              </a:rPr>
              <a:t>P</a:t>
            </a:r>
            <a:r>
              <a:rPr lang="en-US" sz="100" b="1" dirty="0">
                <a:solidFill>
                  <a:srgbClr val="0080A9"/>
                </a:solidFill>
                <a:latin typeface="Arial" panose="020B0604020202020204" pitchFamily="34" charset="0"/>
                <a:cs typeface="Arial" panose="020B0604020202020204" pitchFamily="34" charset="0"/>
              </a:rPr>
              <a:t> </a:t>
            </a:r>
            <a:r>
              <a:rPr lang="en-US" sz="2600" b="1" dirty="0">
                <a:solidFill>
                  <a:srgbClr val="0080A9"/>
                </a:solidFill>
                <a:latin typeface="Arial" panose="020B0604020202020204" pitchFamily="34" charset="0"/>
                <a:cs typeface="Arial" panose="020B0604020202020204" pitchFamily="34" charset="0"/>
              </a:rPr>
              <a:t>N) Concentrator (2 of 2)</a:t>
            </a:r>
          </a:p>
        </p:txBody>
      </p:sp>
      <p:sp>
        <p:nvSpPr>
          <p:cNvPr id="3" name="Content Placeholder 2"/>
          <p:cNvSpPr>
            <a:spLocks noGrp="1"/>
          </p:cNvSpPr>
          <p:nvPr>
            <p:ph idx="1"/>
          </p:nvPr>
        </p:nvSpPr>
        <p:spPr>
          <a:xfrm>
            <a:off x="1889125" y="1538819"/>
            <a:ext cx="8415338" cy="2462213"/>
          </a:xfrm>
        </p:spPr>
        <p:txBody>
          <a:bodyPr>
            <a:normAutofit lnSpcReduction="10000"/>
          </a:bodyPr>
          <a:lstStyle/>
          <a:p>
            <a:pPr>
              <a:lnSpc>
                <a:spcPct val="100000"/>
              </a:lnSpc>
            </a:pPr>
            <a:r>
              <a:rPr lang="en-US" altLang="en-US" b="1" dirty="0">
                <a:solidFill>
                  <a:schemeClr val="tx1"/>
                </a:solidFill>
                <a:latin typeface="Arial" panose="020B0604020202020204" pitchFamily="34" charset="0"/>
                <a:cs typeface="Arial" panose="020B0604020202020204" pitchFamily="34" charset="0"/>
              </a:rPr>
              <a:t>V</a:t>
            </a:r>
            <a:r>
              <a:rPr lang="en-US" altLang="en-US" sz="100" b="1" dirty="0">
                <a:latin typeface="Arial" panose="020B0604020202020204" pitchFamily="34" charset="0"/>
                <a:cs typeface="Arial" panose="020B0604020202020204" pitchFamily="34" charset="0"/>
              </a:rPr>
              <a:t> </a:t>
            </a:r>
            <a:r>
              <a:rPr lang="en-US" altLang="en-US" b="1" dirty="0">
                <a:solidFill>
                  <a:schemeClr val="tx1"/>
                </a:solidFill>
                <a:latin typeface="Arial" panose="020B0604020202020204" pitchFamily="34" charset="0"/>
                <a:cs typeface="Arial" panose="020B0604020202020204" pitchFamily="34" charset="0"/>
              </a:rPr>
              <a:t>P</a:t>
            </a:r>
            <a:r>
              <a:rPr lang="en-US" altLang="en-US" sz="100" b="1" dirty="0">
                <a:latin typeface="Arial" panose="020B0604020202020204" pitchFamily="34" charset="0"/>
                <a:cs typeface="Arial" panose="020B0604020202020204" pitchFamily="34" charset="0"/>
              </a:rPr>
              <a:t> </a:t>
            </a:r>
            <a:r>
              <a:rPr lang="en-US" altLang="en-US" b="1" dirty="0">
                <a:solidFill>
                  <a:schemeClr val="tx1"/>
                </a:solidFill>
                <a:latin typeface="Arial" panose="020B0604020202020204" pitchFamily="34" charset="0"/>
                <a:cs typeface="Arial" panose="020B0604020202020204" pitchFamily="34" charset="0"/>
              </a:rPr>
              <a:t>N concentrator </a:t>
            </a:r>
            <a:r>
              <a:rPr lang="en-US" altLang="en-US" dirty="0">
                <a:solidFill>
                  <a:schemeClr val="tx1"/>
                </a:solidFill>
                <a:latin typeface="Arial" panose="020B0604020202020204" pitchFamily="34" charset="0"/>
                <a:cs typeface="Arial" panose="020B0604020202020204" pitchFamily="34" charset="0"/>
              </a:rPr>
              <a:t>- a dedicated hardware device that aggregates hundreds or thousands of V</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P</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N connections</a:t>
            </a:r>
          </a:p>
          <a:p>
            <a:pPr>
              <a:lnSpc>
                <a:spcPct val="100000"/>
              </a:lnSpc>
            </a:pPr>
            <a:r>
              <a:rPr lang="en-US" dirty="0">
                <a:solidFill>
                  <a:schemeClr val="tx1"/>
                </a:solidFill>
                <a:latin typeface="Arial" panose="020B0604020202020204" pitchFamily="34" charset="0"/>
                <a:cs typeface="Arial" panose="020B0604020202020204" pitchFamily="34" charset="0"/>
              </a:rPr>
              <a:t>When using a V</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N, there are two options:</a:t>
            </a:r>
          </a:p>
          <a:p>
            <a:pPr lvl="1">
              <a:lnSpc>
                <a:spcPct val="100000"/>
              </a:lnSpc>
            </a:pPr>
            <a:r>
              <a:rPr lang="en-US" sz="2000" dirty="0">
                <a:latin typeface="Arial" panose="020B0604020202020204" pitchFamily="34" charset="0"/>
                <a:cs typeface="Arial" panose="020B0604020202020204" pitchFamily="34" charset="0"/>
              </a:rPr>
              <a:t>All traffic is sent to the V</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N concentrator and protected (called a full tunnel)</a:t>
            </a:r>
          </a:p>
          <a:p>
            <a:pPr lvl="1">
              <a:lnSpc>
                <a:spcPct val="100000"/>
              </a:lnSpc>
            </a:pPr>
            <a:r>
              <a:rPr lang="en-US" sz="2000" dirty="0">
                <a:latin typeface="Arial" panose="020B0604020202020204" pitchFamily="34" charset="0"/>
                <a:cs typeface="Arial" panose="020B0604020202020204" pitchFamily="34" charset="0"/>
              </a:rPr>
              <a:t>Only some traffic is routed over the secure V</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N, while other traffic directly accesses the Internet (called split tunneling)</a:t>
            </a:r>
          </a:p>
        </p:txBody>
      </p:sp>
    </p:spTree>
    <p:extLst>
      <p:ext uri="{BB962C8B-B14F-4D97-AF65-F5344CB8AC3E}">
        <p14:creationId xmlns:p14="http://schemas.microsoft.com/office/powerpoint/2010/main" val="611126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000" dirty="0"/>
              <a:t>End-to-End Encryption</a:t>
            </a:r>
          </a:p>
          <a:p>
            <a:pPr lvl="1"/>
            <a:r>
              <a:rPr lang="en-CA" sz="1800" dirty="0"/>
              <a:t>Provides security from one end of a transmission to the other</a:t>
            </a:r>
          </a:p>
          <a:p>
            <a:pPr lvl="1"/>
            <a:r>
              <a:rPr lang="en-CA" sz="1800" dirty="0"/>
              <a:t>Encryption is performed at the highest levels, layer 7, application, or layer 6, presentation, of the OSI model</a:t>
            </a:r>
            <a:endParaRPr lang="en-CA" sz="17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49</a:t>
            </a:fld>
            <a:endParaRPr lang="en-CA">
              <a:latin typeface="Century Schoolbook"/>
            </a:endParaRPr>
          </a:p>
        </p:txBody>
      </p:sp>
      <p:pic>
        <p:nvPicPr>
          <p:cNvPr id="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9696" y="3573017"/>
            <a:ext cx="5184576" cy="286106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00399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Public Key Infrastructure (PKI)</a:t>
            </a:r>
          </a:p>
          <a:p>
            <a:pPr lvl="1"/>
            <a:r>
              <a:rPr lang="en-CA" sz="2400" dirty="0"/>
              <a:t>A process created to enable users to implement public key cryptography</a:t>
            </a:r>
          </a:p>
          <a:p>
            <a:pPr lvl="1"/>
            <a:r>
              <a:rPr lang="en-CA" sz="2400" dirty="0"/>
              <a:t>Offers each user a set of services</a:t>
            </a:r>
          </a:p>
          <a:p>
            <a:pPr lvl="2"/>
            <a:r>
              <a:rPr lang="en-CA" sz="2000" dirty="0"/>
              <a:t>Create certificates associating a user’s identity with a key</a:t>
            </a:r>
          </a:p>
          <a:p>
            <a:pPr lvl="2"/>
            <a:r>
              <a:rPr lang="en-CA" sz="2000" dirty="0"/>
              <a:t>Give out certificates from its database</a:t>
            </a:r>
          </a:p>
          <a:p>
            <a:pPr lvl="2"/>
            <a:r>
              <a:rPr lang="en-CA" sz="2000" dirty="0"/>
              <a:t>Sign certificates, adding its credibility to the authenticity of the certificate</a:t>
            </a:r>
          </a:p>
          <a:p>
            <a:pPr lvl="2"/>
            <a:r>
              <a:rPr lang="en-CA" sz="2000" dirty="0"/>
              <a:t>Confirm (or deny) that a certificate is valid</a:t>
            </a:r>
          </a:p>
          <a:p>
            <a:pPr lvl="2"/>
            <a:r>
              <a:rPr lang="en-CA" sz="2000" dirty="0"/>
              <a:t>Invalidate certificates for users who no longer are allowed access or whose private key has been exposed</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50</a:t>
            </a:fld>
            <a:endParaRPr lang="en-CA">
              <a:latin typeface="Century Schoolbook"/>
            </a:endParaRPr>
          </a:p>
        </p:txBody>
      </p:sp>
    </p:spTree>
    <p:extLst>
      <p:ext uri="{BB962C8B-B14F-4D97-AF65-F5344CB8AC3E}">
        <p14:creationId xmlns:p14="http://schemas.microsoft.com/office/powerpoint/2010/main" val="32907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67600" cy="5141168"/>
          </a:xfrm>
        </p:spPr>
        <p:txBody>
          <a:bodyPr>
            <a:normAutofit lnSpcReduction="10000"/>
          </a:bodyPr>
          <a:lstStyle/>
          <a:p>
            <a:r>
              <a:rPr lang="en-CA" dirty="0"/>
              <a:t>Public Key Infrastructure (PKI) (cont.)</a:t>
            </a:r>
          </a:p>
          <a:p>
            <a:pPr lvl="1"/>
            <a:r>
              <a:rPr lang="en-CA" dirty="0"/>
              <a:t>Certificate Authority</a:t>
            </a:r>
          </a:p>
          <a:p>
            <a:pPr lvl="2"/>
            <a:r>
              <a:rPr lang="en-CA" dirty="0"/>
              <a:t>Implements the PKI policy on certificates</a:t>
            </a:r>
          </a:p>
          <a:p>
            <a:pPr lvl="2"/>
            <a:r>
              <a:rPr lang="en-CA" dirty="0"/>
              <a:t>Actions</a:t>
            </a:r>
          </a:p>
          <a:p>
            <a:pPr lvl="3"/>
            <a:r>
              <a:rPr lang="en-CA" sz="1600" dirty="0"/>
              <a:t>Managing public key certificates for their whole life cycle</a:t>
            </a:r>
          </a:p>
          <a:p>
            <a:pPr lvl="3"/>
            <a:r>
              <a:rPr lang="en-CA" sz="1600" dirty="0"/>
              <a:t>Issuing certificates by binding a user’s or system’s identity to a public key with a digital signature</a:t>
            </a:r>
          </a:p>
          <a:p>
            <a:pPr lvl="3"/>
            <a:r>
              <a:rPr lang="en-CA" sz="1600" dirty="0"/>
              <a:t>Scheduling expiration dates for certificates</a:t>
            </a:r>
          </a:p>
          <a:p>
            <a:pPr lvl="3"/>
            <a:r>
              <a:rPr lang="en-CA" sz="1600" dirty="0"/>
              <a:t>Ensuring that certificates are revoked when necessary</a:t>
            </a:r>
          </a:p>
          <a:p>
            <a:pPr lvl="1"/>
            <a:r>
              <a:rPr lang="en-CA" sz="2000" dirty="0"/>
              <a:t>Registration Authority</a:t>
            </a:r>
            <a:endParaRPr lang="en-CA" sz="1900" dirty="0"/>
          </a:p>
          <a:p>
            <a:pPr lvl="2"/>
            <a:r>
              <a:rPr lang="en-CA" sz="1600" dirty="0"/>
              <a:t>An interface between a user and a certificate authority</a:t>
            </a:r>
          </a:p>
          <a:p>
            <a:pPr lvl="1"/>
            <a:r>
              <a:rPr lang="en-CA" sz="1900" dirty="0"/>
              <a:t>Example</a:t>
            </a:r>
          </a:p>
          <a:p>
            <a:pPr lvl="2"/>
            <a:r>
              <a:rPr lang="en-CA" sz="1600" dirty="0"/>
              <a:t>Passport-issuing office as a certificate authority</a:t>
            </a:r>
          </a:p>
          <a:p>
            <a:pPr lvl="2"/>
            <a:r>
              <a:rPr lang="en-CA" sz="1600" dirty="0"/>
              <a:t>Postal service as a registration authority</a:t>
            </a:r>
          </a:p>
          <a:p>
            <a:pPr lvl="1"/>
            <a:r>
              <a:rPr lang="en-CA" dirty="0"/>
              <a:t>Quality of registration authority determines the level of trust that can be placed in the issued certificates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51</a:t>
            </a:fld>
            <a:endParaRPr lang="en-CA">
              <a:latin typeface="Century Schoolbook"/>
            </a:endParaRPr>
          </a:p>
        </p:txBody>
      </p:sp>
    </p:spTree>
    <p:extLst>
      <p:ext uri="{BB962C8B-B14F-4D97-AF65-F5344CB8AC3E}">
        <p14:creationId xmlns:p14="http://schemas.microsoft.com/office/powerpoint/2010/main" val="2984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787208" cy="5141168"/>
          </a:xfrm>
        </p:spPr>
        <p:txBody>
          <a:bodyPr>
            <a:normAutofit/>
          </a:bodyPr>
          <a:lstStyle/>
          <a:p>
            <a:r>
              <a:rPr lang="en-CA" sz="2000" dirty="0"/>
              <a:t>Public Key Infrastructure (PKI) (cont.)</a:t>
            </a:r>
          </a:p>
          <a:p>
            <a:pPr lvl="1"/>
            <a:r>
              <a:rPr lang="en-CA" sz="2000" dirty="0"/>
              <a:t>Certificate authority should be approved and verified by an independent body</a:t>
            </a:r>
          </a:p>
          <a:p>
            <a:pPr lvl="1"/>
            <a:r>
              <a:rPr lang="en-CA" sz="2000" dirty="0"/>
              <a:t>Certificate authority’s private key should be stored in a tamper-resistant security module</a:t>
            </a:r>
          </a:p>
          <a:p>
            <a:pPr lvl="1"/>
            <a:r>
              <a:rPr lang="en-CA" sz="2000" dirty="0"/>
              <a:t>Access to the certificate and registration authorities should be tightly controlled, by means of strong user authentication such as smart cards</a:t>
            </a:r>
          </a:p>
          <a:p>
            <a:pPr lvl="1"/>
            <a:r>
              <a:rPr lang="en-CA" sz="2000" dirty="0"/>
              <a:t>More than one operator should be required to authorize certification requests</a:t>
            </a:r>
          </a:p>
          <a:p>
            <a:pPr lvl="1"/>
            <a:r>
              <a:rPr lang="en-CA" sz="2000" dirty="0"/>
              <a:t>Controls should be put in place to detect hackers and prevent them from issuing faked certificate requests</a:t>
            </a:r>
          </a:p>
          <a:p>
            <a:pPr lvl="1"/>
            <a:r>
              <a:rPr lang="en-CA" sz="2000" dirty="0"/>
              <a:t>Secure audit trail is necessary for reconstructing certificate information in case of system fail and recovering</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52</a:t>
            </a:fld>
            <a:endParaRPr lang="en-CA">
              <a:latin typeface="Century Schoolbook"/>
            </a:endParaRPr>
          </a:p>
        </p:txBody>
      </p:sp>
    </p:spTree>
    <p:extLst>
      <p:ext uri="{BB962C8B-B14F-4D97-AF65-F5344CB8AC3E}">
        <p14:creationId xmlns:p14="http://schemas.microsoft.com/office/powerpoint/2010/main" val="413770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643192" cy="5141168"/>
          </a:xfrm>
        </p:spPr>
        <p:txBody>
          <a:bodyPr>
            <a:normAutofit/>
          </a:bodyPr>
          <a:lstStyle/>
          <a:p>
            <a:r>
              <a:rPr lang="en-CA" sz="3200" dirty="0"/>
              <a:t>Content Integrity</a:t>
            </a:r>
          </a:p>
          <a:p>
            <a:pPr lvl="1"/>
            <a:r>
              <a:rPr lang="en-CA" sz="2800" dirty="0"/>
              <a:t>potential threats:</a:t>
            </a:r>
          </a:p>
          <a:p>
            <a:pPr lvl="2"/>
            <a:r>
              <a:rPr lang="en-CA" sz="2400" dirty="0"/>
              <a:t>Malicious modification that changes content in a meaningful way (addressed by encryption)</a:t>
            </a:r>
          </a:p>
          <a:p>
            <a:pPr lvl="2"/>
            <a:r>
              <a:rPr lang="en-CA" sz="2400" dirty="0"/>
              <a:t>Malicious or non-malicious modification that changes content in a way that is not necessarily meaningful</a:t>
            </a:r>
          </a:p>
          <a:p>
            <a:pPr lvl="2"/>
            <a:r>
              <a:rPr lang="en-CA" sz="2400" dirty="0"/>
              <a:t>Non-malicious modification that changes content in a way that will not be detected</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53</a:t>
            </a:fld>
            <a:endParaRPr lang="en-CA">
              <a:latin typeface="Century Schoolbook"/>
            </a:endParaRPr>
          </a:p>
        </p:txBody>
      </p:sp>
    </p:spTree>
    <p:extLst>
      <p:ext uri="{BB962C8B-B14F-4D97-AF65-F5344CB8AC3E}">
        <p14:creationId xmlns:p14="http://schemas.microsoft.com/office/powerpoint/2010/main" val="296743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859216" cy="5141168"/>
          </a:xfrm>
        </p:spPr>
        <p:txBody>
          <a:bodyPr>
            <a:normAutofit/>
          </a:bodyPr>
          <a:lstStyle/>
          <a:p>
            <a:r>
              <a:rPr lang="en-CA" sz="2800" dirty="0"/>
              <a:t>Content Integrity (cont.)</a:t>
            </a:r>
          </a:p>
          <a:p>
            <a:pPr lvl="1"/>
            <a:r>
              <a:rPr lang="en-CA" sz="2400" dirty="0"/>
              <a:t>Error Detection</a:t>
            </a:r>
          </a:p>
          <a:p>
            <a:pPr lvl="2"/>
            <a:r>
              <a:rPr lang="en-CA" sz="2000" b="1" dirty="0"/>
              <a:t>Parity check</a:t>
            </a:r>
            <a:r>
              <a:rPr lang="en-CA" sz="2000" dirty="0"/>
              <a:t>: An extra bit is added to an existing group of data bits depending on their sum or an exclusive OR</a:t>
            </a:r>
          </a:p>
          <a:p>
            <a:pPr lvl="2"/>
            <a:r>
              <a:rPr lang="en-CA" sz="2000" b="1" dirty="0"/>
              <a:t>Hash codes</a:t>
            </a:r>
          </a:p>
          <a:p>
            <a:pPr lvl="2"/>
            <a:r>
              <a:rPr lang="en-CA" sz="2000" b="1" dirty="0"/>
              <a:t>Huffman codes</a:t>
            </a:r>
          </a:p>
          <a:p>
            <a:pPr lvl="2"/>
            <a:r>
              <a:rPr lang="en-CA" sz="2000" b="1" dirty="0"/>
              <a:t>Cryptographic Checksum: </a:t>
            </a:r>
            <a:r>
              <a:rPr lang="en-CA" sz="2000" dirty="0"/>
              <a:t>Reduces a block of data to a smaller digest whose value depends on each bit in the block</a:t>
            </a:r>
          </a:p>
          <a:p>
            <a:pPr lvl="3"/>
            <a:r>
              <a:rPr lang="en-CA" sz="2000" dirty="0"/>
              <a:t>Prevents the attacker from changing the data block and changing the checksum value to match</a:t>
            </a:r>
            <a:endParaRPr lang="en-CA" sz="2000" b="1"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54</a:t>
            </a:fld>
            <a:endParaRPr lang="en-CA">
              <a:latin typeface="Century Schoolbook"/>
            </a:endParaRPr>
          </a:p>
        </p:txBody>
      </p:sp>
    </p:spTree>
    <p:extLst>
      <p:ext uri="{BB962C8B-B14F-4D97-AF65-F5344CB8AC3E}">
        <p14:creationId xmlns:p14="http://schemas.microsoft.com/office/powerpoint/2010/main" val="187774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787208" cy="5141168"/>
          </a:xfrm>
        </p:spPr>
        <p:txBody>
          <a:bodyPr>
            <a:normAutofit lnSpcReduction="10000"/>
          </a:bodyPr>
          <a:lstStyle/>
          <a:p>
            <a:r>
              <a:rPr lang="en-CA" sz="2800" dirty="0"/>
              <a:t>Authentication in Networks</a:t>
            </a:r>
          </a:p>
          <a:p>
            <a:pPr lvl="1"/>
            <a:r>
              <a:rPr lang="en-CA" sz="2400" dirty="0"/>
              <a:t>One-Time Password</a:t>
            </a:r>
          </a:p>
          <a:p>
            <a:pPr lvl="2"/>
            <a:r>
              <a:rPr lang="en-CA" sz="2000" dirty="0"/>
              <a:t>User and host both have access to identical lists of passwords</a:t>
            </a:r>
          </a:p>
          <a:p>
            <a:pPr lvl="2"/>
            <a:r>
              <a:rPr lang="en-CA" sz="2000" b="1" dirty="0"/>
              <a:t>Password token</a:t>
            </a:r>
            <a:r>
              <a:rPr lang="en-CA" sz="2000" dirty="0"/>
              <a:t>: A device that generates a password that is unpredictable but that can be validated on the receiving end</a:t>
            </a:r>
          </a:p>
          <a:p>
            <a:pPr lvl="1"/>
            <a:r>
              <a:rPr lang="en-CA" sz="2400" dirty="0"/>
              <a:t>Kerberos</a:t>
            </a:r>
          </a:p>
          <a:p>
            <a:pPr lvl="2"/>
            <a:r>
              <a:rPr lang="en-CA" sz="2000" dirty="0"/>
              <a:t>Authentication in distributed systems</a:t>
            </a:r>
          </a:p>
          <a:p>
            <a:pPr lvl="2"/>
            <a:r>
              <a:rPr lang="en-CA" sz="2000" dirty="0"/>
              <a:t>A central server provides authenticated tokens,  </a:t>
            </a:r>
            <a:r>
              <a:rPr lang="en-CA" sz="2000" b="1" dirty="0"/>
              <a:t>tickets</a:t>
            </a:r>
            <a:r>
              <a:rPr lang="en-CA" sz="2000" dirty="0"/>
              <a:t>, to requesting applications</a:t>
            </a:r>
          </a:p>
          <a:p>
            <a:pPr lvl="2"/>
            <a:r>
              <a:rPr lang="en-CA" sz="2000" dirty="0"/>
              <a:t>Ticket is</a:t>
            </a:r>
          </a:p>
          <a:p>
            <a:pPr lvl="3"/>
            <a:r>
              <a:rPr lang="en-CA" dirty="0"/>
              <a:t>An </a:t>
            </a:r>
            <a:r>
              <a:rPr lang="en-CA" dirty="0" err="1"/>
              <a:t>unforgeable</a:t>
            </a:r>
            <a:r>
              <a:rPr lang="en-CA" dirty="0"/>
              <a:t>, </a:t>
            </a:r>
            <a:r>
              <a:rPr lang="en-CA" dirty="0" err="1"/>
              <a:t>nonreplayable</a:t>
            </a:r>
            <a:r>
              <a:rPr lang="en-CA" dirty="0"/>
              <a:t>, authenticated object</a:t>
            </a:r>
          </a:p>
          <a:p>
            <a:pPr lvl="3"/>
            <a:r>
              <a:rPr lang="en-CA" dirty="0"/>
              <a:t>An encrypted data structure naming a user and a service that user is allowed to obtain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55</a:t>
            </a:fld>
            <a:endParaRPr lang="en-CA">
              <a:latin typeface="Century Schoolbook"/>
            </a:endParaRPr>
          </a:p>
        </p:txBody>
      </p:sp>
    </p:spTree>
    <p:extLst>
      <p:ext uri="{BB962C8B-B14F-4D97-AF65-F5344CB8AC3E}">
        <p14:creationId xmlns:p14="http://schemas.microsoft.com/office/powerpoint/2010/main" val="397195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27168" cy="5141168"/>
          </a:xfrm>
        </p:spPr>
        <p:txBody>
          <a:bodyPr>
            <a:normAutofit/>
          </a:bodyPr>
          <a:lstStyle/>
          <a:p>
            <a:r>
              <a:rPr lang="en-CA" sz="2800" dirty="0"/>
              <a:t>Kerberos (cont.)</a:t>
            </a:r>
          </a:p>
          <a:p>
            <a:pPr lvl="1"/>
            <a:r>
              <a:rPr lang="en-CA" sz="2400" dirty="0"/>
              <a:t>Initiating a session: Kerberos server sends two messages</a:t>
            </a:r>
          </a:p>
          <a:p>
            <a:pPr marL="822960" lvl="1" indent="-457200">
              <a:buFont typeface="+mj-lt"/>
              <a:buAutoNum type="arabicPeriod"/>
            </a:pPr>
            <a:r>
              <a:rPr lang="en-CA" sz="2400" dirty="0"/>
              <a:t>To the user: a session key S</a:t>
            </a:r>
            <a:r>
              <a:rPr lang="en-CA" sz="2400" baseline="-25000" dirty="0"/>
              <a:t>G</a:t>
            </a:r>
            <a:r>
              <a:rPr lang="en-CA" sz="2400" dirty="0"/>
              <a:t> (encrypted under the user’s password) for use in communication with the ticket-granting server (G) and a ticket T</a:t>
            </a:r>
            <a:r>
              <a:rPr lang="en-CA" sz="2400" baseline="-25000" dirty="0"/>
              <a:t>G</a:t>
            </a:r>
            <a:r>
              <a:rPr lang="en-CA" sz="2400" dirty="0"/>
              <a:t> for the ticket-granting server</a:t>
            </a:r>
          </a:p>
          <a:p>
            <a:pPr marL="822960" lvl="1" indent="-457200">
              <a:buFont typeface="+mj-lt"/>
              <a:buAutoNum type="arabicPeriod"/>
            </a:pPr>
            <a:r>
              <a:rPr lang="en-CA" sz="2400" dirty="0"/>
              <a:t>To the ticket-granting server: a copy of the session key S</a:t>
            </a:r>
            <a:r>
              <a:rPr lang="en-CA" sz="2400" baseline="-25000" dirty="0"/>
              <a:t>G</a:t>
            </a:r>
            <a:r>
              <a:rPr lang="en-CA" sz="2400" dirty="0"/>
              <a:t> and the identity of the user, encrypted under a key shared between the Kerberos server and the ticket-granting server</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56</a:t>
            </a:fld>
            <a:endParaRPr lang="en-CA">
              <a:latin typeface="Century Schoolbook"/>
            </a:endParaRPr>
          </a:p>
        </p:txBody>
      </p:sp>
    </p:spTree>
    <p:extLst>
      <p:ext uri="{BB962C8B-B14F-4D97-AF65-F5344CB8AC3E}">
        <p14:creationId xmlns:p14="http://schemas.microsoft.com/office/powerpoint/2010/main" val="15849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787208" cy="5141168"/>
          </a:xfrm>
        </p:spPr>
        <p:txBody>
          <a:bodyPr>
            <a:normAutofit/>
          </a:bodyPr>
          <a:lstStyle/>
          <a:p>
            <a:r>
              <a:rPr lang="en-CA" sz="2700" dirty="0"/>
              <a:t>Kerberos (cont.)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57</a:t>
            </a:fld>
            <a:endParaRPr lang="en-CA">
              <a:latin typeface="Century Schoolbook"/>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2132856"/>
            <a:ext cx="6552728" cy="3410295"/>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4367808" y="5445224"/>
            <a:ext cx="3300904" cy="369332"/>
          </a:xfrm>
          <a:prstGeom prst="rect">
            <a:avLst/>
          </a:prstGeom>
        </p:spPr>
        <p:txBody>
          <a:bodyPr wrap="none">
            <a:spAutoFit/>
          </a:bodyPr>
          <a:lstStyle/>
          <a:p>
            <a:pPr defTabSz="914400"/>
            <a:r>
              <a:rPr lang="en-US" altLang="en-US" dirty="0">
                <a:solidFill>
                  <a:prstClr val="black"/>
                </a:solidFill>
                <a:latin typeface="Century Schoolbook"/>
              </a:rPr>
              <a:t>Initiating a Kerberos Session</a:t>
            </a:r>
            <a:endParaRPr lang="en-CA" dirty="0">
              <a:solidFill>
                <a:prstClr val="black"/>
              </a:solidFill>
              <a:latin typeface="Century Schoolbook"/>
            </a:endParaRPr>
          </a:p>
        </p:txBody>
      </p:sp>
    </p:spTree>
    <p:extLst>
      <p:ext uri="{BB962C8B-B14F-4D97-AF65-F5344CB8AC3E}">
        <p14:creationId xmlns:p14="http://schemas.microsoft.com/office/powerpoint/2010/main" val="24979771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27168" cy="5141168"/>
          </a:xfrm>
        </p:spPr>
        <p:txBody>
          <a:bodyPr>
            <a:normAutofit fontScale="92500" lnSpcReduction="10000"/>
          </a:bodyPr>
          <a:lstStyle/>
          <a:p>
            <a:r>
              <a:rPr lang="en-CA" sz="2800" dirty="0"/>
              <a:t>Kerberos (cont.)</a:t>
            </a:r>
          </a:p>
          <a:p>
            <a:pPr lvl="1"/>
            <a:r>
              <a:rPr lang="en-CA" sz="2500" dirty="0"/>
              <a:t>Giving a service, say a file access</a:t>
            </a:r>
          </a:p>
          <a:p>
            <a:pPr marL="822960" lvl="1" indent="-457200">
              <a:buFont typeface="+mj-lt"/>
              <a:buAutoNum type="arabicPeriod"/>
            </a:pPr>
            <a:r>
              <a:rPr lang="en-CA" sz="2200" dirty="0"/>
              <a:t>User, using the key S</a:t>
            </a:r>
            <a:r>
              <a:rPr lang="en-CA" sz="2200" baseline="-25000" dirty="0"/>
              <a:t>G</a:t>
            </a:r>
            <a:r>
              <a:rPr lang="en-CA" sz="2200" dirty="0"/>
              <a:t> requests a ticket to access a file from the ticket-granting server</a:t>
            </a:r>
          </a:p>
          <a:p>
            <a:pPr marL="822960" lvl="1" indent="-457200">
              <a:buFont typeface="+mj-lt"/>
              <a:buAutoNum type="arabicPeriod"/>
            </a:pPr>
            <a:r>
              <a:rPr lang="en-CA" sz="2200" dirty="0"/>
              <a:t>Ticket-granting server</a:t>
            </a:r>
          </a:p>
          <a:p>
            <a:pPr marL="1097280" lvl="2" indent="-457200">
              <a:buFont typeface="+mj-lt"/>
              <a:buAutoNum type="romanLcPeriod"/>
            </a:pPr>
            <a:r>
              <a:rPr lang="en-CA" dirty="0"/>
              <a:t>Verifies user’s access permission</a:t>
            </a:r>
          </a:p>
          <a:p>
            <a:pPr marL="1097280" lvl="2" indent="-457200">
              <a:buFont typeface="+mj-lt"/>
              <a:buAutoNum type="romanLcPeriod"/>
            </a:pPr>
            <a:r>
              <a:rPr lang="en-CA" dirty="0"/>
              <a:t>Returns a ticket and a session key. The ticket contains</a:t>
            </a:r>
          </a:p>
          <a:p>
            <a:pPr marL="1371600" lvl="3" indent="-457200"/>
            <a:r>
              <a:rPr lang="en-CA" dirty="0"/>
              <a:t>User’s authenticated identity</a:t>
            </a:r>
          </a:p>
          <a:p>
            <a:pPr marL="1371600" lvl="3" indent="-457200"/>
            <a:r>
              <a:rPr lang="en-CA" dirty="0"/>
              <a:t>An identification of the file</a:t>
            </a:r>
          </a:p>
          <a:p>
            <a:pPr marL="1371600" lvl="3" indent="-457200"/>
            <a:r>
              <a:rPr lang="en-CA" dirty="0"/>
              <a:t>The access rights</a:t>
            </a:r>
          </a:p>
          <a:p>
            <a:pPr marL="1371600" lvl="3" indent="-457200"/>
            <a:r>
              <a:rPr lang="en-CA" dirty="0"/>
              <a:t>A session key S</a:t>
            </a:r>
            <a:r>
              <a:rPr lang="en-CA" baseline="-25000" dirty="0"/>
              <a:t>F</a:t>
            </a:r>
            <a:r>
              <a:rPr lang="en-CA" dirty="0"/>
              <a:t> for the file server to use while communicating this file to the user</a:t>
            </a:r>
          </a:p>
          <a:p>
            <a:pPr marL="1371600" lvl="3" indent="-457200"/>
            <a:r>
              <a:rPr lang="en-CA" dirty="0"/>
              <a:t>An expiration date for the ticket</a:t>
            </a:r>
          </a:p>
          <a:p>
            <a:pPr marL="1097280" lvl="2" indent="-457200">
              <a:buFont typeface="+mj-lt"/>
              <a:buAutoNum type="romanLcPeriod"/>
            </a:pPr>
            <a:r>
              <a:rPr lang="en-CA" dirty="0"/>
              <a:t>Ticket is encrypted under a key shared exclusively between the ticket-granting server and the file server</a:t>
            </a:r>
          </a:p>
          <a:p>
            <a:pPr marL="1097280" lvl="2" indent="-457200">
              <a:buFont typeface="+mj-lt"/>
              <a:buAutoNum type="romanLcPeriod"/>
            </a:pPr>
            <a:r>
              <a:rPr lang="en-CA" dirty="0"/>
              <a:t>Ticket cannot be read, modified, or forged by the user</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58</a:t>
            </a:fld>
            <a:endParaRPr lang="en-CA">
              <a:latin typeface="Century Schoolbook"/>
            </a:endParaRPr>
          </a:p>
        </p:txBody>
      </p:sp>
    </p:spTree>
    <p:extLst>
      <p:ext uri="{BB962C8B-B14F-4D97-AF65-F5344CB8AC3E}">
        <p14:creationId xmlns:p14="http://schemas.microsoft.com/office/powerpoint/2010/main" val="377107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fade">
                                      <p:cBhvr>
                                        <p:cTn id="40" dur="500"/>
                                        <p:tgtEl>
                                          <p:spTgt spid="3">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fade">
                                      <p:cBhvr>
                                        <p:cTn id="4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Network Security Controls (cont.)</a:t>
            </a:r>
          </a:p>
        </p:txBody>
      </p:sp>
      <p:sp>
        <p:nvSpPr>
          <p:cNvPr id="3" name="Content Placeholder 2"/>
          <p:cNvSpPr>
            <a:spLocks noGrp="1"/>
          </p:cNvSpPr>
          <p:nvPr>
            <p:ph sz="quarter" idx="1"/>
          </p:nvPr>
        </p:nvSpPr>
        <p:spPr>
          <a:xfrm>
            <a:off x="1981200" y="1600200"/>
            <a:ext cx="7427168" cy="5141168"/>
          </a:xfrm>
        </p:spPr>
        <p:txBody>
          <a:bodyPr>
            <a:normAutofit/>
          </a:bodyPr>
          <a:lstStyle/>
          <a:p>
            <a:r>
              <a:rPr lang="en-CA" sz="2800" dirty="0"/>
              <a:t>Kerberos (cont.)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59</a:t>
            </a:fld>
            <a:endParaRPr lang="en-CA">
              <a:latin typeface="Century Schoolbook"/>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705" y="2492896"/>
            <a:ext cx="5664555" cy="2880320"/>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4149794" y="5651956"/>
            <a:ext cx="3892412" cy="369332"/>
          </a:xfrm>
          <a:prstGeom prst="rect">
            <a:avLst/>
          </a:prstGeom>
        </p:spPr>
        <p:txBody>
          <a:bodyPr wrap="none">
            <a:spAutoFit/>
          </a:bodyPr>
          <a:lstStyle/>
          <a:p>
            <a:pPr defTabSz="914400"/>
            <a:r>
              <a:rPr lang="en-US" altLang="en-US" dirty="0">
                <a:solidFill>
                  <a:prstClr val="black"/>
                </a:solidFill>
                <a:latin typeface="Century Schoolbook"/>
              </a:rPr>
              <a:t>Obtaining a Ticket to Access a File</a:t>
            </a:r>
            <a:endParaRPr lang="en-CA" dirty="0">
              <a:solidFill>
                <a:prstClr val="black"/>
              </a:solidFill>
              <a:latin typeface="Century Schoolbook"/>
            </a:endParaRPr>
          </a:p>
        </p:txBody>
      </p:sp>
    </p:spTree>
    <p:extLst>
      <p:ext uri="{BB962C8B-B14F-4D97-AF65-F5344CB8AC3E}">
        <p14:creationId xmlns:p14="http://schemas.microsoft.com/office/powerpoint/2010/main" val="35346334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a:t>
            </a:r>
          </a:p>
        </p:txBody>
      </p:sp>
      <p:sp>
        <p:nvSpPr>
          <p:cNvPr id="3" name="Content Placeholder 2"/>
          <p:cNvSpPr>
            <a:spLocks noGrp="1"/>
          </p:cNvSpPr>
          <p:nvPr>
            <p:ph sz="quarter" idx="1"/>
          </p:nvPr>
        </p:nvSpPr>
        <p:spPr>
          <a:xfrm>
            <a:off x="1981200" y="1600200"/>
            <a:ext cx="7427168" cy="5141168"/>
          </a:xfrm>
        </p:spPr>
        <p:txBody>
          <a:bodyPr>
            <a:normAutofit/>
          </a:bodyPr>
          <a:lstStyle/>
          <a:p>
            <a:r>
              <a:rPr lang="en-CA" dirty="0"/>
              <a:t>A device that filters all traffic between a protected (inside network) and a less trustworthy (outside network)</a:t>
            </a:r>
          </a:p>
          <a:p>
            <a:r>
              <a:rPr lang="en-CA" dirty="0"/>
              <a:t>Main characteristics</a:t>
            </a:r>
          </a:p>
          <a:p>
            <a:pPr lvl="1"/>
            <a:r>
              <a:rPr lang="en-CA" dirty="0"/>
              <a:t>Always invoked</a:t>
            </a:r>
          </a:p>
          <a:p>
            <a:pPr lvl="2"/>
            <a:r>
              <a:rPr lang="en-CA" dirty="0"/>
              <a:t>All network accesses that that should be controlled must pass through it</a:t>
            </a:r>
          </a:p>
          <a:p>
            <a:pPr lvl="1"/>
            <a:r>
              <a:rPr lang="en-CA" dirty="0"/>
              <a:t>Tamperproof</a:t>
            </a:r>
          </a:p>
          <a:p>
            <a:pPr lvl="2"/>
            <a:r>
              <a:rPr lang="en-CA" dirty="0"/>
              <a:t>Well isolated, making it highly immune to modification</a:t>
            </a:r>
          </a:p>
          <a:p>
            <a:pPr lvl="2"/>
            <a:r>
              <a:rPr lang="en-CA" dirty="0"/>
              <a:t>Implemented on a separate computer, with direct connections only to the outside and inside networks</a:t>
            </a:r>
          </a:p>
          <a:p>
            <a:pPr lvl="1"/>
            <a:r>
              <a:rPr lang="en-CA" dirty="0"/>
              <a:t>Small and simple</a:t>
            </a:r>
          </a:p>
          <a:p>
            <a:pPr lvl="2"/>
            <a:r>
              <a:rPr lang="en-CA" dirty="0"/>
              <a:t>Keeping the functionality of the firewall simple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60</a:t>
            </a:fld>
            <a:endParaRPr lang="en-CA">
              <a:latin typeface="Century Schoolbook"/>
            </a:endParaRPr>
          </a:p>
        </p:txBody>
      </p:sp>
    </p:spTree>
    <p:extLst>
      <p:ext uri="{BB962C8B-B14F-4D97-AF65-F5344CB8AC3E}">
        <p14:creationId xmlns:p14="http://schemas.microsoft.com/office/powerpoint/2010/main" val="190932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427168" cy="4925144"/>
          </a:xfrm>
        </p:spPr>
        <p:txBody>
          <a:bodyPr>
            <a:normAutofit/>
          </a:bodyPr>
          <a:lstStyle/>
          <a:p>
            <a:r>
              <a:rPr lang="en-CA" sz="3200" dirty="0"/>
              <a:t>Types of firewalls</a:t>
            </a:r>
          </a:p>
          <a:p>
            <a:pPr lvl="1"/>
            <a:r>
              <a:rPr lang="en-CA" sz="2800" dirty="0"/>
              <a:t>Packet filtering gateways or screening routers</a:t>
            </a:r>
          </a:p>
          <a:p>
            <a:pPr lvl="1"/>
            <a:r>
              <a:rPr lang="en-CA" sz="2800" dirty="0" err="1"/>
              <a:t>Stateful</a:t>
            </a:r>
            <a:r>
              <a:rPr lang="en-CA" sz="2800" dirty="0"/>
              <a:t> inspection firewalls</a:t>
            </a:r>
          </a:p>
          <a:p>
            <a:pPr lvl="1"/>
            <a:r>
              <a:rPr lang="en-CA" sz="2800" dirty="0"/>
              <a:t>Application proxies</a:t>
            </a:r>
          </a:p>
          <a:p>
            <a:pPr lvl="1"/>
            <a:r>
              <a:rPr lang="en-CA" sz="2800" dirty="0"/>
              <a:t>Guards</a:t>
            </a:r>
          </a:p>
          <a:p>
            <a:pPr lvl="1"/>
            <a:r>
              <a:rPr lang="en-CA" sz="2800" dirty="0"/>
              <a:t>Personal firewalls</a:t>
            </a:r>
          </a:p>
          <a:p>
            <a:pPr lvl="1"/>
            <a:endParaRPr lang="en-CA" sz="28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61</a:t>
            </a:fld>
            <a:endParaRPr lang="en-CA">
              <a:latin typeface="Century Schoolbook"/>
            </a:endParaRPr>
          </a:p>
        </p:txBody>
      </p:sp>
    </p:spTree>
    <p:extLst>
      <p:ext uri="{BB962C8B-B14F-4D97-AF65-F5344CB8AC3E}">
        <p14:creationId xmlns:p14="http://schemas.microsoft.com/office/powerpoint/2010/main" val="3038833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427168" cy="4925144"/>
          </a:xfrm>
        </p:spPr>
        <p:txBody>
          <a:bodyPr>
            <a:normAutofit/>
          </a:bodyPr>
          <a:lstStyle/>
          <a:p>
            <a:r>
              <a:rPr lang="en-CA" dirty="0"/>
              <a:t>Types of firewalls (cont.)</a:t>
            </a:r>
          </a:p>
          <a:p>
            <a:pPr lvl="1"/>
            <a:r>
              <a:rPr lang="en-CA" sz="2000" dirty="0"/>
              <a:t>Packet filtering gateways or screening routers</a:t>
            </a:r>
          </a:p>
          <a:p>
            <a:pPr lvl="2"/>
            <a:r>
              <a:rPr lang="en-CA" sz="1600" dirty="0"/>
              <a:t>Control access to packets on the basis of</a:t>
            </a:r>
          </a:p>
          <a:p>
            <a:pPr lvl="3"/>
            <a:r>
              <a:rPr lang="en-CA" sz="1600" dirty="0"/>
              <a:t>Packet address (source or destination) or</a:t>
            </a:r>
          </a:p>
          <a:p>
            <a:pPr lvl="3"/>
            <a:r>
              <a:rPr lang="en-CA" sz="1600" dirty="0"/>
              <a:t>Specific transport protocol type (such as HTTP web traffic)</a:t>
            </a:r>
          </a:p>
          <a:p>
            <a:pPr lvl="2"/>
            <a:r>
              <a:rPr lang="en-CA" sz="1600" dirty="0"/>
              <a:t>Do not see inside a packet</a:t>
            </a:r>
          </a:p>
          <a:p>
            <a:pPr lvl="2"/>
            <a:r>
              <a:rPr lang="en-CA" sz="1700" dirty="0"/>
              <a:t>Example: </a:t>
            </a:r>
            <a:r>
              <a:rPr lang="en-CA" sz="1600" dirty="0"/>
              <a:t>A packet filter that blocks access from (or to) addresses in one network; the filter allows HTTP traffic but blocks traffic using the Telnet protocol</a:t>
            </a:r>
            <a:endParaRPr lang="en-CA" sz="1700" dirty="0"/>
          </a:p>
          <a:p>
            <a:pPr lvl="1"/>
            <a:endParaRPr lang="en-CA" sz="20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62</a:t>
            </a:fld>
            <a:endParaRPr lang="en-CA">
              <a:latin typeface="Century Schoolbook"/>
            </a:endParaRP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19736" y="4365105"/>
            <a:ext cx="4819650" cy="226536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89772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427168" cy="4925144"/>
          </a:xfrm>
        </p:spPr>
        <p:txBody>
          <a:bodyPr>
            <a:normAutofit/>
          </a:bodyPr>
          <a:lstStyle/>
          <a:p>
            <a:r>
              <a:rPr lang="en-CA" dirty="0"/>
              <a:t>Types of firewalls (cont.)</a:t>
            </a:r>
          </a:p>
          <a:p>
            <a:pPr lvl="1"/>
            <a:r>
              <a:rPr lang="en-CA" sz="2000" dirty="0"/>
              <a:t>Packet filtering gateways or screening routers</a:t>
            </a:r>
          </a:p>
          <a:p>
            <a:pPr lvl="2"/>
            <a:r>
              <a:rPr lang="en-CA" sz="1700" dirty="0"/>
              <a:t>Example: </a:t>
            </a:r>
            <a:r>
              <a:rPr lang="en-CA" sz="1600" dirty="0"/>
              <a:t>The company might want communication only among the three LANs of the corporate network. It could use a screening router on the LAN at 100.24.4.0 to allow in only communications destined to the host at 100.24.4.0 and to allow out only communications addressed either to address 144.27.5.3 or 192.19.33.0</a:t>
            </a:r>
            <a:endParaRPr lang="en-CA" sz="20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63</a:t>
            </a:fld>
            <a:endParaRPr lang="en-CA">
              <a:latin typeface="Century Schoolbook"/>
            </a:endParaRPr>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753" y="4045222"/>
            <a:ext cx="4252913" cy="26241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835461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427168" cy="4925144"/>
          </a:xfrm>
        </p:spPr>
        <p:txBody>
          <a:bodyPr>
            <a:normAutofit/>
          </a:bodyPr>
          <a:lstStyle/>
          <a:p>
            <a:r>
              <a:rPr lang="en-CA" dirty="0"/>
              <a:t>Types of firewalls (cont.)</a:t>
            </a:r>
          </a:p>
          <a:p>
            <a:pPr lvl="1"/>
            <a:r>
              <a:rPr lang="en-CA" sz="2000" dirty="0"/>
              <a:t>Packet filtering gateways or screening routers</a:t>
            </a:r>
          </a:p>
          <a:p>
            <a:pPr lvl="2"/>
            <a:r>
              <a:rPr lang="en-CA" sz="1600" dirty="0"/>
              <a:t>Can block all packets from the outside that claimed their source address was an inside address</a:t>
            </a:r>
            <a:endParaRPr lang="en-CA" sz="17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64</a:t>
            </a:fld>
            <a:endParaRPr lang="en-CA">
              <a:latin typeface="Century Schoolbook"/>
            </a:endParaRPr>
          </a:p>
        </p:txBody>
      </p:sp>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1704" y="3573016"/>
            <a:ext cx="5609482" cy="2287092"/>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p:cNvSpPr/>
          <p:nvPr/>
        </p:nvSpPr>
        <p:spPr>
          <a:xfrm>
            <a:off x="4111322" y="6165304"/>
            <a:ext cx="3969356" cy="369332"/>
          </a:xfrm>
          <a:prstGeom prst="rect">
            <a:avLst/>
          </a:prstGeom>
        </p:spPr>
        <p:txBody>
          <a:bodyPr wrap="none">
            <a:spAutoFit/>
          </a:bodyPr>
          <a:lstStyle/>
          <a:p>
            <a:pPr defTabSz="914400"/>
            <a:r>
              <a:rPr lang="en-US" altLang="en-US" dirty="0">
                <a:solidFill>
                  <a:prstClr val="black"/>
                </a:solidFill>
                <a:latin typeface="Century Schoolbook"/>
              </a:rPr>
              <a:t>Filter Screening Outside Addresses</a:t>
            </a:r>
            <a:endParaRPr lang="en-CA" dirty="0">
              <a:solidFill>
                <a:prstClr val="black"/>
              </a:solidFill>
              <a:latin typeface="Century Schoolbook"/>
            </a:endParaRPr>
          </a:p>
        </p:txBody>
      </p:sp>
    </p:spTree>
    <p:extLst>
      <p:ext uri="{BB962C8B-B14F-4D97-AF65-F5344CB8AC3E}">
        <p14:creationId xmlns:p14="http://schemas.microsoft.com/office/powerpoint/2010/main" val="42226144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859216" cy="5141168"/>
          </a:xfrm>
        </p:spPr>
        <p:txBody>
          <a:bodyPr>
            <a:normAutofit fontScale="92500" lnSpcReduction="10000"/>
          </a:bodyPr>
          <a:lstStyle/>
          <a:p>
            <a:r>
              <a:rPr lang="en-CA" sz="2800" dirty="0"/>
              <a:t>Types of firewalls (cont.)</a:t>
            </a:r>
          </a:p>
          <a:p>
            <a:pPr lvl="1"/>
            <a:r>
              <a:rPr lang="en-CA" sz="2400" dirty="0" err="1"/>
              <a:t>Stateful</a:t>
            </a:r>
            <a:r>
              <a:rPr lang="en-CA" sz="2400" dirty="0"/>
              <a:t> inspection firewalls</a:t>
            </a:r>
          </a:p>
          <a:p>
            <a:pPr lvl="2"/>
            <a:r>
              <a:rPr lang="en-CA" dirty="0"/>
              <a:t>Keep track of the state of network connections</a:t>
            </a:r>
          </a:p>
          <a:p>
            <a:pPr lvl="2"/>
            <a:r>
              <a:rPr lang="en-CA" dirty="0"/>
              <a:t>Do not treat each packet in isolation</a:t>
            </a:r>
          </a:p>
          <a:p>
            <a:pPr lvl="2"/>
            <a:r>
              <a:rPr lang="en-CA" dirty="0"/>
              <a:t>Maintain state information from one packet to another in the input stream</a:t>
            </a:r>
          </a:p>
          <a:p>
            <a:pPr lvl="1"/>
            <a:r>
              <a:rPr lang="en-CA" dirty="0"/>
              <a:t>Application Proxy</a:t>
            </a:r>
          </a:p>
          <a:p>
            <a:pPr lvl="2"/>
            <a:r>
              <a:rPr lang="en-CA" dirty="0"/>
              <a:t>A firewall that simulates the effects of an application so that the application receives only requests to act properly</a:t>
            </a:r>
          </a:p>
          <a:p>
            <a:pPr lvl="2"/>
            <a:r>
              <a:rPr lang="en-CA" dirty="0"/>
              <a:t>A two-headed device</a:t>
            </a:r>
          </a:p>
          <a:p>
            <a:pPr lvl="3"/>
            <a:r>
              <a:rPr lang="en-CA" sz="1700" dirty="0"/>
              <a:t>It looks to the inside as if it is the outside (destination) connection</a:t>
            </a:r>
          </a:p>
          <a:p>
            <a:pPr marL="1005840" lvl="3" indent="0">
              <a:buNone/>
            </a:pPr>
            <a:r>
              <a:rPr lang="en-CA" sz="1700" dirty="0"/>
              <a:t>while to the outside it responds just as the insider would</a:t>
            </a:r>
            <a:endParaRPr lang="en-CA" sz="1600" dirty="0"/>
          </a:p>
          <a:p>
            <a:pPr lvl="2"/>
            <a:r>
              <a:rPr lang="en-CA" dirty="0"/>
              <a:t>Example</a:t>
            </a:r>
          </a:p>
          <a:p>
            <a:pPr lvl="3"/>
            <a:r>
              <a:rPr lang="en-CA" sz="1700" dirty="0"/>
              <a:t>A company wants to set up an online price list so that outsiders can see the products and prices offered. It wants to be sure that</a:t>
            </a:r>
          </a:p>
          <a:p>
            <a:pPr lvl="4"/>
            <a:r>
              <a:rPr lang="en-CA" sz="1700" dirty="0"/>
              <a:t>No outsider can change the prices or product list</a:t>
            </a:r>
          </a:p>
          <a:p>
            <a:pPr lvl="4"/>
            <a:r>
              <a:rPr lang="en-CA" sz="1700" dirty="0"/>
              <a:t>Outsiders can access only the price list, not any of the more sensitive files stored inside.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65</a:t>
            </a:fld>
            <a:endParaRPr lang="en-CA">
              <a:latin typeface="Century Schoolbook"/>
            </a:endParaRPr>
          </a:p>
        </p:txBody>
      </p:sp>
    </p:spTree>
    <p:extLst>
      <p:ext uri="{BB962C8B-B14F-4D97-AF65-F5344CB8AC3E}">
        <p14:creationId xmlns:p14="http://schemas.microsoft.com/office/powerpoint/2010/main" val="405460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Firewalls (cont.)</a:t>
            </a:r>
          </a:p>
        </p:txBody>
      </p:sp>
      <p:sp>
        <p:nvSpPr>
          <p:cNvPr id="3" name="Content Placeholder 2"/>
          <p:cNvSpPr>
            <a:spLocks noGrp="1"/>
          </p:cNvSpPr>
          <p:nvPr>
            <p:ph sz="quarter" idx="1"/>
          </p:nvPr>
        </p:nvSpPr>
        <p:spPr>
          <a:xfrm>
            <a:off x="1981200" y="1600200"/>
            <a:ext cx="7859216" cy="5141168"/>
          </a:xfrm>
        </p:spPr>
        <p:txBody>
          <a:bodyPr>
            <a:normAutofit lnSpcReduction="10000"/>
          </a:bodyPr>
          <a:lstStyle/>
          <a:p>
            <a:r>
              <a:rPr lang="en-CA" sz="2800" dirty="0"/>
              <a:t>Types of firewalls (cont.)</a:t>
            </a:r>
          </a:p>
          <a:p>
            <a:pPr lvl="1"/>
            <a:r>
              <a:rPr lang="en-CA" sz="2400" dirty="0"/>
              <a:t>Guard</a:t>
            </a:r>
          </a:p>
          <a:p>
            <a:pPr lvl="2"/>
            <a:r>
              <a:rPr lang="en-CA" sz="2000" dirty="0"/>
              <a:t>Like a proxy firewall with more detailed functionalities</a:t>
            </a:r>
          </a:p>
          <a:p>
            <a:pPr lvl="2"/>
            <a:r>
              <a:rPr lang="en-CA" sz="2000" dirty="0"/>
              <a:t>Examples</a:t>
            </a:r>
          </a:p>
          <a:p>
            <a:pPr lvl="3"/>
            <a:r>
              <a:rPr lang="en-CA" sz="2000" dirty="0"/>
              <a:t>A school wants its students to be able to access the internet but, because of the slow speed of its connection to the web, it will allow only so many characters per downloaded image</a:t>
            </a:r>
          </a:p>
          <a:p>
            <a:pPr lvl="3"/>
            <a:r>
              <a:rPr lang="en-CA" sz="2000" dirty="0"/>
              <a:t>A library wants to make available certain documents but, to support fair use of copyrighted matter, it will allow a user to retrieve only the first so many characters of a document</a:t>
            </a:r>
          </a:p>
          <a:p>
            <a:pPr lvl="3"/>
            <a:r>
              <a:rPr lang="en-CA" sz="2000" dirty="0"/>
              <a:t>A company wants to allow its employees to fetch files via ftp. However, to prevent introduction of viruses, it will pass all incoming files through a virus scanner</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66</a:t>
            </a:fld>
            <a:endParaRPr lang="en-CA">
              <a:latin typeface="Century Schoolbook"/>
            </a:endParaRPr>
          </a:p>
        </p:txBody>
      </p:sp>
    </p:spTree>
    <p:extLst>
      <p:ext uri="{BB962C8B-B14F-4D97-AF65-F5344CB8AC3E}">
        <p14:creationId xmlns:p14="http://schemas.microsoft.com/office/powerpoint/2010/main" val="392461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a:t>
            </a:r>
          </a:p>
        </p:txBody>
      </p:sp>
      <p:sp>
        <p:nvSpPr>
          <p:cNvPr id="3" name="Content Placeholder 2"/>
          <p:cNvSpPr>
            <a:spLocks noGrp="1"/>
          </p:cNvSpPr>
          <p:nvPr>
            <p:ph sz="quarter" idx="1"/>
          </p:nvPr>
        </p:nvSpPr>
        <p:spPr/>
        <p:txBody>
          <a:bodyPr>
            <a:normAutofit/>
          </a:bodyPr>
          <a:lstStyle/>
          <a:p>
            <a:r>
              <a:rPr lang="en-CA" sz="2000" dirty="0"/>
              <a:t>A device, typically another separate computer, that monitors activity to identify malicious or suspicious events</a:t>
            </a:r>
          </a:p>
          <a:p>
            <a:r>
              <a:rPr lang="en-CA" sz="2000" dirty="0"/>
              <a:t>Receives raw inputs from sensors, saves those inputs, analyzes them, and takes some controlling action</a:t>
            </a:r>
          </a:p>
          <a:p>
            <a:endParaRPr lang="en-CA" sz="20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67</a:t>
            </a:fld>
            <a:endParaRPr lang="en-CA">
              <a:latin typeface="Century Schoolbook"/>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7908" y="3068960"/>
            <a:ext cx="3754276" cy="3127744"/>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p:cNvSpPr/>
          <p:nvPr/>
        </p:nvSpPr>
        <p:spPr>
          <a:xfrm>
            <a:off x="2639616" y="6305439"/>
            <a:ext cx="6696744" cy="369332"/>
          </a:xfrm>
          <a:prstGeom prst="rect">
            <a:avLst/>
          </a:prstGeom>
        </p:spPr>
        <p:txBody>
          <a:bodyPr wrap="square">
            <a:spAutoFit/>
          </a:bodyPr>
          <a:lstStyle/>
          <a:p>
            <a:pPr defTabSz="914400"/>
            <a:r>
              <a:rPr lang="en-US" altLang="en-US" dirty="0">
                <a:solidFill>
                  <a:prstClr val="black"/>
                </a:solidFill>
                <a:latin typeface="Century Schoolbook"/>
              </a:rPr>
              <a:t>Common Components of an Intrusion Detection Framework</a:t>
            </a:r>
            <a:endParaRPr lang="en-CA" dirty="0">
              <a:solidFill>
                <a:prstClr val="black"/>
              </a:solidFill>
              <a:latin typeface="Century Schoolbook"/>
            </a:endParaRPr>
          </a:p>
        </p:txBody>
      </p:sp>
    </p:spTree>
    <p:extLst>
      <p:ext uri="{BB962C8B-B14F-4D97-AF65-F5344CB8AC3E}">
        <p14:creationId xmlns:p14="http://schemas.microsoft.com/office/powerpoint/2010/main" val="32626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 (cont.)</a:t>
            </a:r>
          </a:p>
        </p:txBody>
      </p:sp>
      <p:sp>
        <p:nvSpPr>
          <p:cNvPr id="3" name="Content Placeholder 2"/>
          <p:cNvSpPr>
            <a:spLocks noGrp="1"/>
          </p:cNvSpPr>
          <p:nvPr>
            <p:ph sz="quarter" idx="1"/>
          </p:nvPr>
        </p:nvSpPr>
        <p:spPr/>
        <p:txBody>
          <a:bodyPr>
            <a:normAutofit/>
          </a:bodyPr>
          <a:lstStyle/>
          <a:p>
            <a:r>
              <a:rPr lang="en-CA" sz="2800" dirty="0"/>
              <a:t>Functions:</a:t>
            </a:r>
          </a:p>
          <a:p>
            <a:pPr lvl="1"/>
            <a:r>
              <a:rPr lang="en-CA" sz="2000" dirty="0"/>
              <a:t>Monitoring users and system activity</a:t>
            </a:r>
          </a:p>
          <a:p>
            <a:pPr lvl="1"/>
            <a:r>
              <a:rPr lang="en-CA" sz="2000" dirty="0"/>
              <a:t>Auditing system configuration for vulnerabilities and misconfigurations</a:t>
            </a:r>
          </a:p>
          <a:p>
            <a:pPr lvl="1"/>
            <a:r>
              <a:rPr lang="en-CA" sz="2000" dirty="0"/>
              <a:t>Assessing the integrity of critical system and data files</a:t>
            </a:r>
          </a:p>
          <a:p>
            <a:pPr lvl="1"/>
            <a:r>
              <a:rPr lang="en-CA" sz="2000" dirty="0"/>
              <a:t>Recognizing known attack patterns in system activity</a:t>
            </a:r>
          </a:p>
          <a:p>
            <a:pPr lvl="1"/>
            <a:r>
              <a:rPr lang="en-CA" sz="2000" dirty="0"/>
              <a:t>Identifying abnormal activity through statistical analysis</a:t>
            </a:r>
          </a:p>
          <a:p>
            <a:pPr lvl="1"/>
            <a:r>
              <a:rPr lang="en-CA" sz="2000" dirty="0"/>
              <a:t>Managing audit trails and highlighting user violation of policy or normal activity</a:t>
            </a:r>
          </a:p>
          <a:p>
            <a:pPr lvl="1"/>
            <a:r>
              <a:rPr lang="en-CA" sz="2000" dirty="0"/>
              <a:t>Correcting system configuration errors</a:t>
            </a:r>
          </a:p>
          <a:p>
            <a:pPr lvl="1"/>
            <a:r>
              <a:rPr lang="en-CA" sz="2000" dirty="0"/>
              <a:t>Installing and operating traps to record information about intruders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68</a:t>
            </a:fld>
            <a:endParaRPr lang="en-CA">
              <a:latin typeface="Century Schoolbook"/>
            </a:endParaRPr>
          </a:p>
        </p:txBody>
      </p:sp>
    </p:spTree>
    <p:extLst>
      <p:ext uri="{BB962C8B-B14F-4D97-AF65-F5344CB8AC3E}">
        <p14:creationId xmlns:p14="http://schemas.microsoft.com/office/powerpoint/2010/main" val="321814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 (cont.)</a:t>
            </a:r>
          </a:p>
        </p:txBody>
      </p:sp>
      <p:sp>
        <p:nvSpPr>
          <p:cNvPr id="3" name="Content Placeholder 2"/>
          <p:cNvSpPr>
            <a:spLocks noGrp="1"/>
          </p:cNvSpPr>
          <p:nvPr>
            <p:ph sz="quarter" idx="1"/>
          </p:nvPr>
        </p:nvSpPr>
        <p:spPr/>
        <p:txBody>
          <a:bodyPr>
            <a:normAutofit/>
          </a:bodyPr>
          <a:lstStyle/>
          <a:p>
            <a:r>
              <a:rPr lang="en-CA" sz="2800" dirty="0"/>
              <a:t>Types of IDSs</a:t>
            </a:r>
          </a:p>
          <a:p>
            <a:pPr lvl="1"/>
            <a:r>
              <a:rPr lang="en-CA" sz="2400" dirty="0"/>
              <a:t>Network-based</a:t>
            </a:r>
          </a:p>
          <a:p>
            <a:pPr lvl="2"/>
            <a:r>
              <a:rPr lang="en-CA" sz="2100" dirty="0"/>
              <a:t>A stand-alone device attached to the network</a:t>
            </a:r>
          </a:p>
          <a:p>
            <a:pPr lvl="1"/>
            <a:r>
              <a:rPr lang="en-CA" sz="2400" dirty="0"/>
              <a:t>Host-based</a:t>
            </a:r>
          </a:p>
          <a:p>
            <a:pPr lvl="2"/>
            <a:r>
              <a:rPr lang="en-CA" sz="2100" dirty="0"/>
              <a:t>Runs on a single workstation or client or host</a:t>
            </a:r>
          </a:p>
          <a:p>
            <a:pPr lvl="1"/>
            <a:r>
              <a:rPr lang="en-CA" sz="2400" dirty="0"/>
              <a:t>Signature-based</a:t>
            </a:r>
          </a:p>
          <a:p>
            <a:pPr lvl="2"/>
            <a:r>
              <a:rPr lang="en-CA" sz="2000" dirty="0"/>
              <a:t>Performs simple pattern-matching and report situations that match a pattern corresponding to a known attack type</a:t>
            </a:r>
          </a:p>
          <a:p>
            <a:pPr lvl="2"/>
            <a:r>
              <a:rPr lang="en-CA" sz="2000" dirty="0"/>
              <a:t>Cannot detect a new attack for which a signature is not yet installed in the database</a:t>
            </a:r>
          </a:p>
          <a:p>
            <a:pPr lvl="2"/>
            <a:r>
              <a:rPr lang="en-CA" sz="2000" dirty="0"/>
              <a:t>Uses statistical analysis and Machine Learning models</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69</a:t>
            </a:fld>
            <a:endParaRPr lang="en-CA">
              <a:latin typeface="Century Schoolbook"/>
            </a:endParaRPr>
          </a:p>
        </p:txBody>
      </p:sp>
    </p:spTree>
    <p:extLst>
      <p:ext uri="{BB962C8B-B14F-4D97-AF65-F5344CB8AC3E}">
        <p14:creationId xmlns:p14="http://schemas.microsoft.com/office/powerpoint/2010/main" val="169039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 (cont.)</a:t>
            </a:r>
          </a:p>
        </p:txBody>
      </p:sp>
      <p:sp>
        <p:nvSpPr>
          <p:cNvPr id="3" name="Content Placeholder 2"/>
          <p:cNvSpPr>
            <a:spLocks noGrp="1"/>
          </p:cNvSpPr>
          <p:nvPr>
            <p:ph sz="quarter" idx="1"/>
          </p:nvPr>
        </p:nvSpPr>
        <p:spPr>
          <a:xfrm>
            <a:off x="1981200" y="1600200"/>
            <a:ext cx="7467600" cy="5141168"/>
          </a:xfrm>
        </p:spPr>
        <p:txBody>
          <a:bodyPr>
            <a:normAutofit fontScale="92500" lnSpcReduction="10000"/>
          </a:bodyPr>
          <a:lstStyle/>
          <a:p>
            <a:r>
              <a:rPr lang="en-CA" sz="2800" dirty="0"/>
              <a:t>Types of IDSs</a:t>
            </a:r>
          </a:p>
          <a:p>
            <a:pPr lvl="1"/>
            <a:r>
              <a:rPr lang="en-CA" sz="2400" dirty="0"/>
              <a:t>Heuristic (anomaly based)</a:t>
            </a:r>
          </a:p>
          <a:p>
            <a:pPr lvl="2"/>
            <a:r>
              <a:rPr lang="en-CA" sz="2000" dirty="0"/>
              <a:t>Builds a model of acceptable behavior and flag exceptions to that model</a:t>
            </a:r>
          </a:p>
          <a:p>
            <a:pPr lvl="2"/>
            <a:r>
              <a:rPr lang="en-CA" sz="2000" dirty="0"/>
              <a:t>For the future, the administrator can mark a flagged behavior as acceptable so that the heuristic IDS will now treat that previously unclassified behavior as acceptable</a:t>
            </a:r>
          </a:p>
          <a:p>
            <a:pPr lvl="2"/>
            <a:r>
              <a:rPr lang="en-CA" sz="2100" dirty="0"/>
              <a:t>State-based</a:t>
            </a:r>
          </a:p>
          <a:p>
            <a:pPr lvl="3"/>
            <a:r>
              <a:rPr lang="en-CA" dirty="0"/>
              <a:t>See the system going through changes of overall state or configuration</a:t>
            </a:r>
          </a:p>
          <a:p>
            <a:pPr lvl="3"/>
            <a:r>
              <a:rPr lang="en-CA" dirty="0"/>
              <a:t>Try to detect when the system has veered into unsafe modes</a:t>
            </a:r>
          </a:p>
          <a:p>
            <a:pPr lvl="2"/>
            <a:r>
              <a:rPr lang="en-CA" sz="2100" dirty="0"/>
              <a:t>Model-based </a:t>
            </a:r>
          </a:p>
          <a:p>
            <a:pPr lvl="3"/>
            <a:r>
              <a:rPr lang="en-CA" dirty="0"/>
              <a:t>Try to map current activity onto a model of unacceptable activity and raise an alarm when the activity resembles the model</a:t>
            </a:r>
          </a:p>
          <a:p>
            <a:pPr lvl="2"/>
            <a:r>
              <a:rPr lang="en-CA" sz="2100" dirty="0"/>
              <a:t>Misuse</a:t>
            </a:r>
          </a:p>
          <a:p>
            <a:pPr lvl="3"/>
            <a:r>
              <a:rPr lang="en-CA" dirty="0"/>
              <a:t>Real activity is compared against a known suspicious area</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70</a:t>
            </a:fld>
            <a:endParaRPr lang="en-CA">
              <a:latin typeface="Century Schoolbook"/>
            </a:endParaRPr>
          </a:p>
        </p:txBody>
      </p:sp>
    </p:spTree>
    <p:extLst>
      <p:ext uri="{BB962C8B-B14F-4D97-AF65-F5344CB8AC3E}">
        <p14:creationId xmlns:p14="http://schemas.microsoft.com/office/powerpoint/2010/main" val="362151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Stealth Mode</a:t>
            </a:r>
          </a:p>
          <a:p>
            <a:pPr lvl="1"/>
            <a:r>
              <a:rPr lang="en-CA" sz="2500" dirty="0"/>
              <a:t>To prevent malicious activities against IDS, such as disabling it</a:t>
            </a:r>
            <a:endParaRPr lang="en-CA" sz="2200" dirty="0"/>
          </a:p>
          <a:p>
            <a:pPr lvl="2"/>
            <a:r>
              <a:rPr lang="en-CA" sz="2200" dirty="0"/>
              <a:t>Work as a passive wiretap</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71</a:t>
            </a:fld>
            <a:endParaRPr lang="en-CA">
              <a:latin typeface="Century Schoolbook"/>
            </a:endParaRP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9777" y="3507906"/>
            <a:ext cx="3554413" cy="26368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9642590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Intrusion Detection Systems (IDS)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Responding to Alarms</a:t>
            </a:r>
          </a:p>
          <a:p>
            <a:pPr lvl="1"/>
            <a:r>
              <a:rPr lang="en-CA" dirty="0"/>
              <a:t>Monitor, collect data, perhaps increase amount of data collected</a:t>
            </a:r>
          </a:p>
          <a:p>
            <a:pPr lvl="1"/>
            <a:r>
              <a:rPr lang="en-CA" dirty="0"/>
              <a:t>Protect, act to reduce exposure</a:t>
            </a:r>
          </a:p>
          <a:p>
            <a:pPr lvl="1"/>
            <a:r>
              <a:rPr lang="en-CA" dirty="0"/>
              <a:t>Call a human</a:t>
            </a:r>
          </a:p>
          <a:p>
            <a:r>
              <a:rPr lang="en-CA" sz="2800" dirty="0"/>
              <a:t>False Results (System’s Sensitivity)</a:t>
            </a:r>
          </a:p>
          <a:p>
            <a:pPr lvl="1"/>
            <a:r>
              <a:rPr lang="en-CA" sz="2800" dirty="0"/>
              <a:t>False Positive</a:t>
            </a:r>
          </a:p>
          <a:p>
            <a:pPr lvl="2"/>
            <a:r>
              <a:rPr lang="en-CA" sz="2400" dirty="0"/>
              <a:t>Raising an alarm for something that is not really an attack</a:t>
            </a:r>
          </a:p>
          <a:p>
            <a:pPr lvl="1"/>
            <a:r>
              <a:rPr lang="en-CA" sz="2800" dirty="0"/>
              <a:t>False Negative</a:t>
            </a:r>
          </a:p>
          <a:p>
            <a:pPr lvl="2"/>
            <a:r>
              <a:rPr lang="en-CA" sz="2400" dirty="0"/>
              <a:t>Not raising an alarm for a real attack</a:t>
            </a:r>
            <a:endParaRPr lang="en-CA" sz="22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72</a:t>
            </a:fld>
            <a:endParaRPr lang="en-CA">
              <a:latin typeface="Century Schoolbook"/>
            </a:endParaRPr>
          </a:p>
        </p:txBody>
      </p:sp>
    </p:spTree>
    <p:extLst>
      <p:ext uri="{BB962C8B-B14F-4D97-AF65-F5344CB8AC3E}">
        <p14:creationId xmlns:p14="http://schemas.microsoft.com/office/powerpoint/2010/main" val="319025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Threats to E-mail</a:t>
            </a:r>
          </a:p>
          <a:p>
            <a:pPr lvl="1"/>
            <a:r>
              <a:rPr lang="en-CA" sz="2400" dirty="0"/>
              <a:t>Message interception (confidentiality)</a:t>
            </a:r>
          </a:p>
          <a:p>
            <a:pPr lvl="1"/>
            <a:r>
              <a:rPr lang="en-CA" sz="2400" dirty="0"/>
              <a:t>Message interception (blocked delivery)</a:t>
            </a:r>
          </a:p>
          <a:p>
            <a:pPr lvl="1"/>
            <a:r>
              <a:rPr lang="en-CA" sz="2400" dirty="0"/>
              <a:t>Message interception and subsequent replay</a:t>
            </a:r>
          </a:p>
          <a:p>
            <a:pPr lvl="1"/>
            <a:r>
              <a:rPr lang="en-CA" sz="2400" dirty="0"/>
              <a:t>Message content modification</a:t>
            </a:r>
          </a:p>
          <a:p>
            <a:pPr lvl="1"/>
            <a:r>
              <a:rPr lang="en-CA" sz="2400" dirty="0"/>
              <a:t>Message origin modification</a:t>
            </a:r>
          </a:p>
          <a:p>
            <a:pPr lvl="1"/>
            <a:r>
              <a:rPr lang="en-CA" sz="2400" dirty="0"/>
              <a:t>Message content forgery by outsider</a:t>
            </a:r>
          </a:p>
          <a:p>
            <a:pPr lvl="1"/>
            <a:r>
              <a:rPr lang="en-CA" sz="2400" dirty="0"/>
              <a:t>Message origin forgery by outsider</a:t>
            </a:r>
          </a:p>
          <a:p>
            <a:pPr lvl="1"/>
            <a:r>
              <a:rPr lang="en-CA" sz="2400" dirty="0"/>
              <a:t>Message content forgery by the recipient</a:t>
            </a:r>
          </a:p>
          <a:p>
            <a:pPr lvl="1"/>
            <a:r>
              <a:rPr lang="en-CA" sz="2400" dirty="0"/>
              <a:t>Message origin forgery by the recipient</a:t>
            </a:r>
          </a:p>
          <a:p>
            <a:pPr lvl="1"/>
            <a:r>
              <a:rPr lang="en-CA" sz="2400" dirty="0"/>
              <a:t>Denial of message transmission</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73</a:t>
            </a:fld>
            <a:endParaRPr lang="en-CA">
              <a:latin typeface="Century Schoolbook"/>
            </a:endParaRPr>
          </a:p>
        </p:txBody>
      </p:sp>
    </p:spTree>
    <p:extLst>
      <p:ext uri="{BB962C8B-B14F-4D97-AF65-F5344CB8AC3E}">
        <p14:creationId xmlns:p14="http://schemas.microsoft.com/office/powerpoint/2010/main" val="18210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3" name="Content Placeholder 2"/>
          <p:cNvSpPr>
            <a:spLocks noGrp="1"/>
          </p:cNvSpPr>
          <p:nvPr>
            <p:ph sz="quarter" idx="1"/>
          </p:nvPr>
        </p:nvSpPr>
        <p:spPr>
          <a:xfrm>
            <a:off x="1981200" y="1600200"/>
            <a:ext cx="8003232" cy="5141168"/>
          </a:xfrm>
        </p:spPr>
        <p:txBody>
          <a:bodyPr>
            <a:noAutofit/>
          </a:bodyPr>
          <a:lstStyle/>
          <a:p>
            <a:r>
              <a:rPr lang="en-CA" sz="3200" dirty="0"/>
              <a:t>Requirements</a:t>
            </a:r>
          </a:p>
          <a:p>
            <a:pPr lvl="1"/>
            <a:r>
              <a:rPr lang="en-CA" sz="2800" dirty="0"/>
              <a:t>Message confidentiality</a:t>
            </a:r>
          </a:p>
          <a:p>
            <a:pPr lvl="2"/>
            <a:r>
              <a:rPr lang="en-CA" sz="2400" dirty="0"/>
              <a:t>The message should not be exposed when routing to the receiver</a:t>
            </a:r>
          </a:p>
          <a:p>
            <a:pPr lvl="1"/>
            <a:r>
              <a:rPr lang="en-CA" sz="2800" dirty="0"/>
              <a:t>Message integrity</a:t>
            </a:r>
          </a:p>
          <a:p>
            <a:pPr lvl="2"/>
            <a:r>
              <a:rPr lang="en-CA" sz="2400" dirty="0"/>
              <a:t>What the receiver sees should be what was sent</a:t>
            </a:r>
          </a:p>
          <a:p>
            <a:pPr lvl="1"/>
            <a:r>
              <a:rPr lang="en-CA" sz="2800" dirty="0"/>
              <a:t>Sender authenticity</a:t>
            </a:r>
          </a:p>
          <a:p>
            <a:pPr lvl="2"/>
            <a:r>
              <a:rPr lang="en-CA" sz="2400" dirty="0"/>
              <a:t>Receiver should be confident </a:t>
            </a:r>
            <a:r>
              <a:rPr lang="en-CA" sz="2400" dirty="0" err="1"/>
              <a:t>aboutwho</a:t>
            </a:r>
            <a:r>
              <a:rPr lang="en-CA" sz="2400" dirty="0"/>
              <a:t> the sender was</a:t>
            </a:r>
          </a:p>
          <a:p>
            <a:pPr lvl="1"/>
            <a:r>
              <a:rPr lang="en-CA" sz="2800" dirty="0"/>
              <a:t>Nonrepudiation</a:t>
            </a:r>
          </a:p>
          <a:p>
            <a:pPr lvl="2"/>
            <a:r>
              <a:rPr lang="en-CA" sz="2400" dirty="0"/>
              <a:t>Sender cannot deny having sent the message</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74</a:t>
            </a:fld>
            <a:endParaRPr lang="en-CA">
              <a:latin typeface="Century Schoolbook"/>
            </a:endParaRPr>
          </a:p>
        </p:txBody>
      </p:sp>
    </p:spTree>
    <p:extLst>
      <p:ext uri="{BB962C8B-B14F-4D97-AF65-F5344CB8AC3E}">
        <p14:creationId xmlns:p14="http://schemas.microsoft.com/office/powerpoint/2010/main" val="250857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3" name="Content Placeholder 2"/>
          <p:cNvSpPr>
            <a:spLocks noGrp="1"/>
          </p:cNvSpPr>
          <p:nvPr>
            <p:ph sz="quarter" idx="1"/>
          </p:nvPr>
        </p:nvSpPr>
        <p:spPr>
          <a:xfrm>
            <a:off x="1981200" y="1600200"/>
            <a:ext cx="7467600" cy="5141168"/>
          </a:xfrm>
        </p:spPr>
        <p:txBody>
          <a:bodyPr>
            <a:normAutofit/>
          </a:bodyPr>
          <a:lstStyle/>
          <a:p>
            <a:r>
              <a:rPr lang="en-CA" sz="2800" dirty="0"/>
              <a:t>Confidentiality</a:t>
            </a:r>
          </a:p>
          <a:p>
            <a:pPr lvl="1"/>
            <a:r>
              <a:rPr lang="en-CA" sz="2400" dirty="0"/>
              <a:t>The sender chooses a (random) symmetric algorithm encryption key</a:t>
            </a:r>
          </a:p>
          <a:p>
            <a:pPr lvl="1"/>
            <a:r>
              <a:rPr lang="en-CA" sz="2400" dirty="0"/>
              <a:t>The sender encrypts a copy of the entire message to be transmitted, including FROM:, TO:, SUBJECT:, and DATE: headers</a:t>
            </a:r>
          </a:p>
          <a:p>
            <a:pPr lvl="1"/>
            <a:r>
              <a:rPr lang="en-CA" sz="2400" dirty="0"/>
              <a:t>The sender prepends plaintext headers</a:t>
            </a:r>
          </a:p>
          <a:p>
            <a:pPr lvl="1"/>
            <a:r>
              <a:rPr lang="en-CA" sz="2400" dirty="0"/>
              <a:t>The sender encrypts the message key under the recipient’s public key, and attaches that to the message as well</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75</a:t>
            </a:fld>
            <a:endParaRPr lang="en-CA">
              <a:latin typeface="Century Schoolbook"/>
            </a:endParaRPr>
          </a:p>
        </p:txBody>
      </p:sp>
    </p:spTree>
    <p:extLst>
      <p:ext uri="{BB962C8B-B14F-4D97-AF65-F5344CB8AC3E}">
        <p14:creationId xmlns:p14="http://schemas.microsoft.com/office/powerpoint/2010/main" val="209764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76</a:t>
            </a:fld>
            <a:endParaRPr lang="en-CA">
              <a:latin typeface="Century Schoolbook"/>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1" y="2060848"/>
            <a:ext cx="6078619" cy="3312368"/>
          </a:xfrm>
          <a:prstGeom prst="rect">
            <a:avLst/>
          </a:prstGeom>
          <a:noFill/>
          <a:extLst>
            <a:ext uri="{909E8E84-426E-40dd-AFC4-6F175D3DCCD1}">
              <a14:hiddenFill xmlns="" xmlns:a14="http://schemas.microsoft.com/office/drawing/2010/main">
                <a:solidFill>
                  <a:srgbClr val="FFFFFF"/>
                </a:solidFill>
              </a14:hiddenFill>
            </a:ext>
          </a:extLst>
        </p:spPr>
      </p:pic>
      <p:sp>
        <p:nvSpPr>
          <p:cNvPr id="7" name="Rectangle 6"/>
          <p:cNvSpPr/>
          <p:nvPr/>
        </p:nvSpPr>
        <p:spPr>
          <a:xfrm>
            <a:off x="2855640" y="5733256"/>
            <a:ext cx="6078619" cy="369332"/>
          </a:xfrm>
          <a:prstGeom prst="rect">
            <a:avLst/>
          </a:prstGeom>
        </p:spPr>
        <p:txBody>
          <a:bodyPr wrap="square">
            <a:spAutoFit/>
          </a:bodyPr>
          <a:lstStyle/>
          <a:p>
            <a:pPr algn="ctr" defTabSz="914400"/>
            <a:r>
              <a:rPr lang="en-US" altLang="en-US" dirty="0">
                <a:solidFill>
                  <a:prstClr val="black"/>
                </a:solidFill>
                <a:latin typeface="Century Schoolbook"/>
              </a:rPr>
              <a:t>Overview of Encrypted E-Mail Processing</a:t>
            </a:r>
            <a:endParaRPr lang="en-CA" dirty="0">
              <a:solidFill>
                <a:prstClr val="black"/>
              </a:solidFill>
              <a:latin typeface="Century Schoolbook"/>
            </a:endParaRPr>
          </a:p>
        </p:txBody>
      </p:sp>
    </p:spTree>
    <p:extLst>
      <p:ext uri="{BB962C8B-B14F-4D97-AF65-F5344CB8AC3E}">
        <p14:creationId xmlns:p14="http://schemas.microsoft.com/office/powerpoint/2010/main" val="905420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77</a:t>
            </a:fld>
            <a:endParaRPr lang="en-CA">
              <a:latin typeface="Century Schoolbook"/>
            </a:endParaRPr>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96324" y="1844825"/>
            <a:ext cx="5688632" cy="4017641"/>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p:cNvSpPr/>
          <p:nvPr/>
        </p:nvSpPr>
        <p:spPr>
          <a:xfrm>
            <a:off x="4045359" y="6124654"/>
            <a:ext cx="4054315" cy="369332"/>
          </a:xfrm>
          <a:prstGeom prst="rect">
            <a:avLst/>
          </a:prstGeom>
        </p:spPr>
        <p:txBody>
          <a:bodyPr wrap="none">
            <a:spAutoFit/>
          </a:bodyPr>
          <a:lstStyle/>
          <a:p>
            <a:pPr defTabSz="914400"/>
            <a:r>
              <a:rPr lang="en-US" altLang="en-US" dirty="0">
                <a:solidFill>
                  <a:prstClr val="black"/>
                </a:solidFill>
                <a:latin typeface="Century Schoolbook"/>
              </a:rPr>
              <a:t>Encrypted E-Mail–Secured Message</a:t>
            </a:r>
            <a:endParaRPr lang="en-CA" dirty="0">
              <a:solidFill>
                <a:prstClr val="black"/>
              </a:solidFill>
              <a:latin typeface="Century Schoolbook"/>
            </a:endParaRPr>
          </a:p>
        </p:txBody>
      </p:sp>
    </p:spTree>
    <p:extLst>
      <p:ext uri="{BB962C8B-B14F-4D97-AF65-F5344CB8AC3E}">
        <p14:creationId xmlns:p14="http://schemas.microsoft.com/office/powerpoint/2010/main" val="3526173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3" name="Content Placeholder 2"/>
          <p:cNvSpPr>
            <a:spLocks noGrp="1"/>
          </p:cNvSpPr>
          <p:nvPr>
            <p:ph sz="quarter" idx="1"/>
          </p:nvPr>
        </p:nvSpPr>
        <p:spPr>
          <a:xfrm>
            <a:off x="1981200" y="1600200"/>
            <a:ext cx="7643192" cy="5141168"/>
          </a:xfrm>
        </p:spPr>
        <p:txBody>
          <a:bodyPr>
            <a:normAutofit/>
          </a:bodyPr>
          <a:lstStyle/>
          <a:p>
            <a:r>
              <a:rPr lang="en-CA" dirty="0"/>
              <a:t>PGP (Pretty Good Privacy)</a:t>
            </a:r>
          </a:p>
          <a:p>
            <a:pPr lvl="1"/>
            <a:r>
              <a:rPr lang="en-CA" dirty="0"/>
              <a:t>Create a random session key for a symmetric algorithm.</a:t>
            </a:r>
          </a:p>
          <a:p>
            <a:pPr lvl="1"/>
            <a:r>
              <a:rPr lang="en-CA" dirty="0"/>
              <a:t>Encrypt the message, using the session key (for message confidentiality).</a:t>
            </a:r>
          </a:p>
          <a:p>
            <a:pPr lvl="1"/>
            <a:r>
              <a:rPr lang="en-CA" dirty="0"/>
              <a:t>Encrypt the session key under the recipient’s public key.</a:t>
            </a:r>
          </a:p>
          <a:p>
            <a:pPr lvl="1"/>
            <a:r>
              <a:rPr lang="en-CA" dirty="0"/>
              <a:t>Generate a message digest (summary) or hash of the message; sign the hash by encrypting it with the sender’s private key (for message integrity and authenticity).</a:t>
            </a:r>
          </a:p>
          <a:p>
            <a:pPr lvl="1"/>
            <a:r>
              <a:rPr lang="en-CA" dirty="0"/>
              <a:t>Attach the encrypted session key to the encrypted message and digest.</a:t>
            </a:r>
          </a:p>
          <a:p>
            <a:pPr lvl="1"/>
            <a:r>
              <a:rPr lang="en-CA" dirty="0"/>
              <a:t>Transmit the message to the recipient</a:t>
            </a:r>
          </a:p>
          <a:p>
            <a:pPr lvl="1"/>
            <a:endParaRPr lang="en-CA" sz="1800" dirty="0"/>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78</a:t>
            </a:fld>
            <a:endParaRPr lang="en-CA">
              <a:latin typeface="Century Schoolbook"/>
            </a:endParaRPr>
          </a:p>
        </p:txBody>
      </p:sp>
    </p:spTree>
    <p:extLst>
      <p:ext uri="{BB962C8B-B14F-4D97-AF65-F5344CB8AC3E}">
        <p14:creationId xmlns:p14="http://schemas.microsoft.com/office/powerpoint/2010/main" val="17732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Secure E-Mail (cont.)</a:t>
            </a:r>
          </a:p>
        </p:txBody>
      </p:sp>
      <p:sp>
        <p:nvSpPr>
          <p:cNvPr id="3" name="Content Placeholder 2"/>
          <p:cNvSpPr>
            <a:spLocks noGrp="1"/>
          </p:cNvSpPr>
          <p:nvPr>
            <p:ph sz="quarter" idx="1"/>
          </p:nvPr>
        </p:nvSpPr>
        <p:spPr>
          <a:xfrm>
            <a:off x="1981200" y="1600200"/>
            <a:ext cx="7643192" cy="4997152"/>
          </a:xfrm>
        </p:spPr>
        <p:txBody>
          <a:bodyPr>
            <a:normAutofit/>
          </a:bodyPr>
          <a:lstStyle/>
          <a:p>
            <a:r>
              <a:rPr lang="en-CA" dirty="0"/>
              <a:t>S/MIME (Secure Multipurpose Internet Mail Extensions)</a:t>
            </a:r>
            <a:endParaRPr lang="en-CA" sz="1800" dirty="0"/>
          </a:p>
          <a:p>
            <a:pPr lvl="1"/>
            <a:r>
              <a:rPr lang="en-CA" dirty="0"/>
              <a:t>The principal difference between S/MIME and PGP is the method of key exchange</a:t>
            </a:r>
          </a:p>
          <a:p>
            <a:pPr lvl="2"/>
            <a:r>
              <a:rPr lang="en-CA" dirty="0"/>
              <a:t>PGP depends on each user’s exchanging keys with all potential recipients and establishing a ring of trusted recipients</a:t>
            </a:r>
          </a:p>
          <a:p>
            <a:pPr lvl="2"/>
            <a:r>
              <a:rPr lang="en-CA" dirty="0"/>
              <a:t>It also requires establishing a degree of trust in the authenticity of the keys for those recipients</a:t>
            </a:r>
          </a:p>
          <a:p>
            <a:pPr lvl="2"/>
            <a:r>
              <a:rPr lang="en-CA" dirty="0"/>
              <a:t>S/MIME uses hierarchically validated certificates for key exchange</a:t>
            </a:r>
          </a:p>
          <a:p>
            <a:pPr lvl="2"/>
            <a:r>
              <a:rPr lang="en-CA" dirty="0"/>
              <a:t>Thus, with S/MIME, the sender and recipient do not need to have exchanged keys in advance as long as they have a common certifier they both trust</a:t>
            </a:r>
          </a:p>
          <a:p>
            <a:pPr lvl="1"/>
            <a:r>
              <a:rPr lang="en-CA" dirty="0"/>
              <a:t>It handles e-mail attachments as well</a:t>
            </a:r>
          </a:p>
        </p:txBody>
      </p:sp>
      <p:sp>
        <p:nvSpPr>
          <p:cNvPr id="4" name="Slide Number Placeholder 3"/>
          <p:cNvSpPr>
            <a:spLocks noGrp="1"/>
          </p:cNvSpPr>
          <p:nvPr>
            <p:ph type="sldNum" sz="quarter" idx="15"/>
          </p:nvPr>
        </p:nvSpPr>
        <p:spPr/>
        <p:txBody>
          <a:bodyPr/>
          <a:lstStyle/>
          <a:p>
            <a:pPr defTabSz="914400"/>
            <a:fld id="{3AAB7785-396F-4915-8DFC-F7434CCA128E}" type="slidenum">
              <a:rPr lang="en-CA">
                <a:latin typeface="Century Schoolbook"/>
              </a:rPr>
              <a:pPr defTabSz="914400"/>
              <a:t>79</a:t>
            </a:fld>
            <a:endParaRPr lang="en-CA">
              <a:latin typeface="Century Schoolbook"/>
            </a:endParaRPr>
          </a:p>
        </p:txBody>
      </p:sp>
    </p:spTree>
    <p:extLst>
      <p:ext uri="{BB962C8B-B14F-4D97-AF65-F5344CB8AC3E}">
        <p14:creationId xmlns:p14="http://schemas.microsoft.com/office/powerpoint/2010/main" val="241177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9296400" cy="861774"/>
          </a:xfrm>
        </p:spPr>
        <p:txBody>
          <a:bodyPr>
            <a:normAutofit fontScale="90000"/>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Security and Information Event Management (S</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I</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E</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M) (1 of 3)</a:t>
            </a:r>
          </a:p>
        </p:txBody>
      </p:sp>
      <p:sp>
        <p:nvSpPr>
          <p:cNvPr id="3" name="Content Placeholder 2"/>
          <p:cNvSpPr>
            <a:spLocks noGrp="1"/>
          </p:cNvSpPr>
          <p:nvPr>
            <p:ph idx="1"/>
          </p:nvPr>
        </p:nvSpPr>
        <p:spPr>
          <a:xfrm>
            <a:off x="1889125" y="1538819"/>
            <a:ext cx="8415338" cy="3000821"/>
          </a:xfrm>
        </p:spPr>
        <p:txBody>
          <a:bodyPr>
            <a:normAutofit fontScale="92500"/>
          </a:bodyPr>
          <a:lstStyle/>
          <a:p>
            <a:pPr>
              <a:lnSpc>
                <a:spcPct val="100000"/>
              </a:lnSpc>
            </a:pPr>
            <a:r>
              <a:rPr lang="en-US" dirty="0">
                <a:solidFill>
                  <a:schemeClr val="tx1"/>
                </a:solidFill>
                <a:latin typeface="Arial" panose="020B0604020202020204" pitchFamily="34" charset="0"/>
                <a:cs typeface="Arial" panose="020B0604020202020204" pitchFamily="34" charset="0"/>
              </a:rPr>
              <a:t>Security and Information Event Management (S</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M) product</a:t>
            </a:r>
          </a:p>
          <a:p>
            <a:pPr lvl="1">
              <a:lnSpc>
                <a:spcPct val="100000"/>
              </a:lnSpc>
            </a:pPr>
            <a:r>
              <a:rPr lang="en-US" sz="2000" dirty="0">
                <a:latin typeface="Arial" panose="020B0604020202020204" pitchFamily="34" charset="0"/>
                <a:cs typeface="Arial" panose="020B0604020202020204" pitchFamily="34" charset="0"/>
              </a:rPr>
              <a:t>A S</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M consolidates real-time monitoring and management of security information</a:t>
            </a:r>
          </a:p>
          <a:p>
            <a:pPr lvl="1">
              <a:lnSpc>
                <a:spcPct val="100000"/>
              </a:lnSpc>
            </a:pPr>
            <a:r>
              <a:rPr lang="en-US" sz="2000" dirty="0">
                <a:latin typeface="Arial" panose="020B0604020202020204" pitchFamily="34" charset="0"/>
                <a:cs typeface="Arial" panose="020B0604020202020204" pitchFamily="34" charset="0"/>
              </a:rPr>
              <a:t>Analyzes and reports on security events</a:t>
            </a:r>
          </a:p>
          <a:p>
            <a:pPr>
              <a:lnSpc>
                <a:spcPct val="100000"/>
              </a:lnSpc>
            </a:pPr>
            <a:r>
              <a:rPr lang="en-US" dirty="0">
                <a:solidFill>
                  <a:schemeClr val="tx1"/>
                </a:solidFill>
                <a:latin typeface="Arial" panose="020B0604020202020204" pitchFamily="34" charset="0"/>
                <a:cs typeface="Arial" panose="020B0604020202020204" pitchFamily="34" charset="0"/>
              </a:rPr>
              <a:t>A S</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M product can be:</a:t>
            </a:r>
          </a:p>
          <a:p>
            <a:pPr lvl="1">
              <a:lnSpc>
                <a:spcPct val="100000"/>
              </a:lnSpc>
            </a:pPr>
            <a:r>
              <a:rPr lang="en-US" sz="2000" dirty="0">
                <a:latin typeface="Arial" panose="020B0604020202020204" pitchFamily="34" charset="0"/>
                <a:cs typeface="Arial" panose="020B0604020202020204" pitchFamily="34" charset="0"/>
              </a:rPr>
              <a:t>A separate device</a:t>
            </a:r>
          </a:p>
          <a:p>
            <a:pPr lvl="1">
              <a:lnSpc>
                <a:spcPct val="100000"/>
              </a:lnSpc>
            </a:pPr>
            <a:r>
              <a:rPr lang="en-US" sz="2000" dirty="0">
                <a:latin typeface="Arial" panose="020B0604020202020204" pitchFamily="34" charset="0"/>
                <a:cs typeface="Arial" panose="020B0604020202020204" pitchFamily="34" charset="0"/>
              </a:rPr>
              <a:t>Software that runs on a computer</a:t>
            </a:r>
          </a:p>
          <a:p>
            <a:pPr lvl="1">
              <a:lnSpc>
                <a:spcPct val="100000"/>
              </a:lnSpc>
            </a:pPr>
            <a:r>
              <a:rPr lang="en-US" sz="2000" dirty="0">
                <a:latin typeface="Arial" panose="020B0604020202020204" pitchFamily="34" charset="0"/>
                <a:cs typeface="Arial" panose="020B0604020202020204" pitchFamily="34" charset="0"/>
              </a:rPr>
              <a:t>A service that is provided by a third party</a:t>
            </a:r>
          </a:p>
        </p:txBody>
      </p:sp>
      <p:sp>
        <p:nvSpPr>
          <p:cNvPr id="5" name="TextBox 4">
            <a:extLst>
              <a:ext uri="{FF2B5EF4-FFF2-40B4-BE49-F238E27FC236}">
                <a16:creationId xmlns:a16="http://schemas.microsoft.com/office/drawing/2014/main" id="{9529E4FD-734E-3431-3042-42C7FA0A05B0}"/>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80</a:t>
            </a:r>
            <a:endParaRPr lang="en-CA" dirty="0">
              <a:solidFill>
                <a:schemeClr val="bg1"/>
              </a:solidFill>
            </a:endParaRPr>
          </a:p>
        </p:txBody>
      </p:sp>
    </p:spTree>
    <p:extLst>
      <p:ext uri="{BB962C8B-B14F-4D97-AF65-F5344CB8AC3E}">
        <p14:creationId xmlns:p14="http://schemas.microsoft.com/office/powerpoint/2010/main" val="29694032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9372600" cy="861774"/>
          </a:xfrm>
        </p:spPr>
        <p:txBody>
          <a:bodyPr>
            <a:normAutofit fontScale="90000"/>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Security and Information Event Management (S</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I</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E</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M) (2 of 3)</a:t>
            </a:r>
          </a:p>
        </p:txBody>
      </p:sp>
      <p:pic>
        <p:nvPicPr>
          <p:cNvPr id="6" name="Picture 5" descr="Figure 6-8 S I E M dashboard. The S I E M dashboard page shows six graphs for various events and categories. Security event top five alarm, bar graph; S I E M top 10 event categories, Pie chart; Top O T X activity in your environment, horizontal bar graph; S I E M events by sensor or data source, spider chart; top 10 hosts with multiple events, horizontal bar graph; latest S I E M versus logger events, line graph."/>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1143000"/>
            <a:ext cx="8534400" cy="5318896"/>
          </a:xfrm>
          <a:prstGeom prst="rect">
            <a:avLst/>
          </a:prstGeom>
        </p:spPr>
      </p:pic>
      <p:sp>
        <p:nvSpPr>
          <p:cNvPr id="3" name="TextBox 2">
            <a:extLst>
              <a:ext uri="{FF2B5EF4-FFF2-40B4-BE49-F238E27FC236}">
                <a16:creationId xmlns:a16="http://schemas.microsoft.com/office/drawing/2014/main" id="{15169724-10B4-F2A1-639D-3D5502D699DA}"/>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81</a:t>
            </a:r>
            <a:endParaRPr lang="en-CA" dirty="0">
              <a:solidFill>
                <a:schemeClr val="bg1"/>
              </a:solidFill>
            </a:endParaRPr>
          </a:p>
        </p:txBody>
      </p:sp>
      <p:sp>
        <p:nvSpPr>
          <p:cNvPr id="8" name="Rectangle 7">
            <a:extLst>
              <a:ext uri="{FF2B5EF4-FFF2-40B4-BE49-F238E27FC236}">
                <a16:creationId xmlns:a16="http://schemas.microsoft.com/office/drawing/2014/main" id="{F5CF8665-33AE-FB8E-0954-F1C066DCA74A}"/>
              </a:ext>
            </a:extLst>
          </p:cNvPr>
          <p:cNvSpPr/>
          <p:nvPr/>
        </p:nvSpPr>
        <p:spPr>
          <a:xfrm>
            <a:off x="1066800" y="6019800"/>
            <a:ext cx="1408953" cy="2550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7210922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23489"/>
            <a:ext cx="9372600" cy="861774"/>
          </a:xfrm>
        </p:spPr>
        <p:txBody>
          <a:bodyPr>
            <a:normAutofit fontScale="90000"/>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Security and Information Event Management (S</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I</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E</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M) (3 of 3)</a:t>
            </a:r>
          </a:p>
        </p:txBody>
      </p:sp>
      <p:sp>
        <p:nvSpPr>
          <p:cNvPr id="3" name="Content Placeholder 2"/>
          <p:cNvSpPr>
            <a:spLocks noGrp="1"/>
          </p:cNvSpPr>
          <p:nvPr>
            <p:ph idx="1"/>
          </p:nvPr>
        </p:nvSpPr>
        <p:spPr>
          <a:xfrm>
            <a:off x="1889125" y="1538819"/>
            <a:ext cx="8415338" cy="2616101"/>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A S</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M typically has the following features:</a:t>
            </a:r>
          </a:p>
          <a:p>
            <a:pPr lvl="1">
              <a:lnSpc>
                <a:spcPct val="100000"/>
              </a:lnSpc>
            </a:pPr>
            <a:r>
              <a:rPr lang="en-US" sz="2000" dirty="0">
                <a:latin typeface="Arial" panose="020B0604020202020204" pitchFamily="34" charset="0"/>
                <a:cs typeface="Arial" panose="020B0604020202020204" pitchFamily="34" charset="0"/>
              </a:rPr>
              <a:t>Aggregation</a:t>
            </a:r>
          </a:p>
          <a:p>
            <a:pPr lvl="1">
              <a:lnSpc>
                <a:spcPct val="100000"/>
              </a:lnSpc>
            </a:pPr>
            <a:r>
              <a:rPr lang="en-US" sz="2000" dirty="0">
                <a:latin typeface="Arial" panose="020B0604020202020204" pitchFamily="34" charset="0"/>
                <a:cs typeface="Arial" panose="020B0604020202020204" pitchFamily="34" charset="0"/>
              </a:rPr>
              <a:t>Correlation</a:t>
            </a:r>
          </a:p>
          <a:p>
            <a:pPr lvl="1">
              <a:lnSpc>
                <a:spcPct val="100000"/>
              </a:lnSpc>
            </a:pPr>
            <a:r>
              <a:rPr lang="en-US" sz="2000" dirty="0">
                <a:latin typeface="Arial" panose="020B0604020202020204" pitchFamily="34" charset="0"/>
                <a:cs typeface="Arial" panose="020B0604020202020204" pitchFamily="34" charset="0"/>
              </a:rPr>
              <a:t>Automated alerting and triggers</a:t>
            </a:r>
          </a:p>
          <a:p>
            <a:pPr lvl="1">
              <a:lnSpc>
                <a:spcPct val="100000"/>
              </a:lnSpc>
            </a:pPr>
            <a:r>
              <a:rPr lang="en-US" sz="2000" dirty="0">
                <a:latin typeface="Arial" panose="020B0604020202020204" pitchFamily="34" charset="0"/>
                <a:cs typeface="Arial" panose="020B0604020202020204" pitchFamily="34" charset="0"/>
              </a:rPr>
              <a:t>Time synchronization</a:t>
            </a:r>
          </a:p>
          <a:p>
            <a:pPr lvl="1">
              <a:lnSpc>
                <a:spcPct val="100000"/>
              </a:lnSpc>
            </a:pPr>
            <a:r>
              <a:rPr lang="en-US" sz="2000" dirty="0">
                <a:latin typeface="Arial" panose="020B0604020202020204" pitchFamily="34" charset="0"/>
                <a:cs typeface="Arial" panose="020B0604020202020204" pitchFamily="34" charset="0"/>
              </a:rPr>
              <a:t>Event duplication</a:t>
            </a:r>
          </a:p>
          <a:p>
            <a:pPr lvl="1">
              <a:lnSpc>
                <a:spcPct val="100000"/>
              </a:lnSpc>
            </a:pPr>
            <a:r>
              <a:rPr lang="en-US" sz="2000" dirty="0">
                <a:latin typeface="Arial" panose="020B0604020202020204" pitchFamily="34" charset="0"/>
                <a:cs typeface="Arial" panose="020B0604020202020204" pitchFamily="34" charset="0"/>
              </a:rPr>
              <a:t>S</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E</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M logs</a:t>
            </a:r>
          </a:p>
        </p:txBody>
      </p:sp>
      <p:sp>
        <p:nvSpPr>
          <p:cNvPr id="5" name="TextBox 4">
            <a:extLst>
              <a:ext uri="{FF2B5EF4-FFF2-40B4-BE49-F238E27FC236}">
                <a16:creationId xmlns:a16="http://schemas.microsoft.com/office/drawing/2014/main" id="{DE01C928-E309-1D95-3EAD-DC25A41BA55F}"/>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82</a:t>
            </a:r>
            <a:endParaRPr lang="en-CA" dirty="0">
              <a:solidFill>
                <a:schemeClr val="bg1"/>
              </a:solidFill>
            </a:endParaRPr>
          </a:p>
        </p:txBody>
      </p:sp>
    </p:spTree>
    <p:extLst>
      <p:ext uri="{BB962C8B-B14F-4D97-AF65-F5344CB8AC3E}">
        <p14:creationId xmlns:p14="http://schemas.microsoft.com/office/powerpoint/2010/main" val="21966183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328" y="381000"/>
            <a:ext cx="8026400" cy="340093"/>
          </a:xfrm>
        </p:spPr>
        <p:txBody>
          <a:bodyPr>
            <a:normAutofit fontScale="90000"/>
          </a:bodyPr>
          <a:lstStyle/>
          <a:p>
            <a:r>
              <a:rPr lang="en-US" sz="2600" b="1" dirty="0">
                <a:solidFill>
                  <a:srgbClr val="0080A9"/>
                </a:solidFill>
                <a:latin typeface="Arial" panose="020B0604020202020204" pitchFamily="34" charset="0"/>
                <a:cs typeface="Arial" panose="020B0604020202020204" pitchFamily="34" charset="0"/>
              </a:rPr>
              <a:t>Other Network Security Hardware Devices (1 of 2)</a:t>
            </a:r>
          </a:p>
        </p:txBody>
      </p:sp>
      <p:graphicFrame>
        <p:nvGraphicFramePr>
          <p:cNvPr id="5" name="Table 4" descr="A table titled, Other network security hardware devices. The table has 4 rows and 3 columns. The columns have the following headings from left to right. Name, description, comments. The row entries are as follows. Row 1: name, hardware security module; description, a dedicated cryptographic processor that provides protection for cryptographic keys; comments, a tamper-resistant device that can securely manage, process, and store cryptographic keys. Row 2: name, s s l decryptor; description, a separate device that decrypts s s l traffic; comments, helps reduce performance degradation and eliminates the need to have multiple decryption licenses spread across multiple devices. &#10;Row 3: name, s s l or t l s accelerator; description, a separate hardware card that inserts into a web server that contains one or more co-processors to handle s s l or t l s processing; comments, used to accelerate the computationally intensive initial s s l connection handshake, during which keys are generated for symmetric encryption using 3des or ay e s. Row 4: name, media gateway; description, a device that converts media data from one format to another; comments, sometimes called a soft switch, converts data in audio or video format. Row 5: name, unified threat management, u t m; description, integrated device that combines several security functions; comments, multipurpose security appliance that provides an array of security functions, such as antispam, antiphishing, antispyware, encryption, intrusion protection, and web filtering. Row 6: name, internet content filter; description, monitors internet traffic and block access to preselected websites and files; comments, restricts unapproved websites based on u r l or by searching for and matching keywords such as sex or hate as well as looking for malware. Row 7: name, web security gateway; description, blocks malicious content in real time as it appears without first knowing the u r l of a dangerous site; comments, enables a higher level of defense by examining the content through application-level filtering.&#10;"/>
          <p:cNvGraphicFramePr>
            <a:graphicFrameLocks noGrp="1"/>
          </p:cNvGraphicFramePr>
          <p:nvPr>
            <p:extLst>
              <p:ext uri="{D42A27DB-BD31-4B8C-83A1-F6EECF244321}">
                <p14:modId xmlns:p14="http://schemas.microsoft.com/office/powerpoint/2010/main" val="4173499672"/>
              </p:ext>
            </p:extLst>
          </p:nvPr>
        </p:nvGraphicFramePr>
        <p:xfrm>
          <a:off x="2660344" y="1367161"/>
          <a:ext cx="7315202" cy="4577080"/>
        </p:xfrm>
        <a:graphic>
          <a:graphicData uri="http://schemas.openxmlformats.org/drawingml/2006/table">
            <a:tbl>
              <a:tblPr firstRow="1" bandRow="1">
                <a:tableStyleId>{5C22544A-7EE6-4342-B048-85BDC9FD1C3A}</a:tableStyleId>
              </a:tblPr>
              <a:tblGrid>
                <a:gridCol w="1828801">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19401">
                  <a:extLst>
                    <a:ext uri="{9D8B030D-6E8A-4147-A177-3AD203B41FA5}">
                      <a16:colId xmlns:a16="http://schemas.microsoft.com/office/drawing/2014/main" val="20002"/>
                    </a:ext>
                  </a:extLst>
                </a:gridCol>
              </a:tblGrid>
              <a:tr h="370840">
                <a:tc>
                  <a:txBody>
                    <a:bodyPr/>
                    <a:lstStyle/>
                    <a:p>
                      <a:r>
                        <a:rPr lang="en-US" sz="1400" dirty="0">
                          <a:solidFill>
                            <a:schemeClr val="tx1"/>
                          </a:solidFill>
                          <a:latin typeface="Arial" panose="020B0604020202020204" pitchFamily="34" charset="0"/>
                          <a:cs typeface="Arial" panose="020B0604020202020204" pitchFamily="34" charset="0"/>
                        </a:rPr>
                        <a:t>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Hardware security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dedicated cryptographic</a:t>
                      </a:r>
                      <a:r>
                        <a:rPr lang="en-US" sz="1400" baseline="0" dirty="0">
                          <a:solidFill>
                            <a:schemeClr val="tx1"/>
                          </a:solidFill>
                          <a:latin typeface="Arial" panose="020B0604020202020204" pitchFamily="34" charset="0"/>
                          <a:cs typeface="Arial" panose="020B0604020202020204" pitchFamily="34" charset="0"/>
                        </a:rPr>
                        <a:t> processor that provides protection for cryptographic keys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tamper-resistant</a:t>
                      </a:r>
                      <a:r>
                        <a:rPr lang="en-US" sz="1400" baseline="0" dirty="0">
                          <a:solidFill>
                            <a:schemeClr val="tx1"/>
                          </a:solidFill>
                          <a:latin typeface="Arial" panose="020B0604020202020204" pitchFamily="34" charset="0"/>
                          <a:cs typeface="Arial" panose="020B0604020202020204" pitchFamily="34" charset="0"/>
                        </a:rPr>
                        <a:t> device that can securely manage, process, and store cryptographic keys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S</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S</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L decryptor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separate</a:t>
                      </a:r>
                      <a:r>
                        <a:rPr lang="en-US" sz="1400" baseline="0" dirty="0">
                          <a:solidFill>
                            <a:schemeClr val="tx1"/>
                          </a:solidFill>
                          <a:latin typeface="Arial" panose="020B0604020202020204" pitchFamily="34" charset="0"/>
                          <a:cs typeface="Arial" panose="020B0604020202020204" pitchFamily="34" charset="0"/>
                        </a:rPr>
                        <a:t> device that decrypts S</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S</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L traffic</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Helps reduce performance degradation and eliminates</a:t>
                      </a:r>
                      <a:r>
                        <a:rPr lang="en-US" sz="1400" baseline="0" dirty="0">
                          <a:solidFill>
                            <a:schemeClr val="tx1"/>
                          </a:solidFill>
                          <a:latin typeface="Arial" panose="020B0604020202020204" pitchFamily="34" charset="0"/>
                          <a:cs typeface="Arial" panose="020B0604020202020204" pitchFamily="34" charset="0"/>
                        </a:rPr>
                        <a:t> the need to have multiple decryption licenses spread across multiple devices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S</a:t>
                      </a:r>
                      <a:r>
                        <a:rPr lang="en-US" sz="100" dirty="0">
                          <a:solidFill>
                            <a:schemeClr val="tx1"/>
                          </a:solidFill>
                          <a:latin typeface="Arial" panose="020B0604020202020204" pitchFamily="34" charset="0"/>
                          <a:cs typeface="Arial" panose="020B0604020202020204" pitchFamily="34" charset="0"/>
                        </a:rPr>
                        <a:t> </a:t>
                      </a:r>
                      <a:r>
                        <a:rPr lang="en-US" sz="1400" dirty="0" err="1">
                          <a:solidFill>
                            <a:schemeClr val="tx1"/>
                          </a:solidFill>
                          <a:latin typeface="Arial" panose="020B0604020202020204" pitchFamily="34" charset="0"/>
                          <a:cs typeface="Arial" panose="020B0604020202020204" pitchFamily="34" charset="0"/>
                        </a:rPr>
                        <a:t>S</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L/T</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L</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S accelerator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separate hardware card that inserts into a web</a:t>
                      </a:r>
                      <a:r>
                        <a:rPr lang="en-US" sz="1400" baseline="0" dirty="0">
                          <a:solidFill>
                            <a:schemeClr val="tx1"/>
                          </a:solidFill>
                          <a:latin typeface="Arial" panose="020B0604020202020204" pitchFamily="34" charset="0"/>
                          <a:cs typeface="Arial" panose="020B0604020202020204" pitchFamily="34" charset="0"/>
                        </a:rPr>
                        <a:t> server that contains one or more co-processors to handle S</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S</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L/T</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L</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S processing</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Used to accelerate the computationally intensive initial SSL connection handshake, during which keys are generated for symmetric encryption using 3</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D</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E</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S or A</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E</a:t>
                      </a:r>
                      <a:r>
                        <a:rPr lang="en-US" sz="1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Media gateway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device that converts media data from one format to another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Sometimes called a </a:t>
                      </a:r>
                      <a:r>
                        <a:rPr lang="en-US" sz="1400" b="1" i="0" dirty="0">
                          <a:solidFill>
                            <a:schemeClr val="tx1"/>
                          </a:solidFill>
                          <a:latin typeface="Arial" panose="020B0604020202020204" pitchFamily="34" charset="0"/>
                          <a:cs typeface="Arial" panose="020B0604020202020204" pitchFamily="34" charset="0"/>
                        </a:rPr>
                        <a:t>softswitch</a:t>
                      </a:r>
                      <a:r>
                        <a:rPr lang="en-US" sz="1400" dirty="0">
                          <a:solidFill>
                            <a:schemeClr val="tx1"/>
                          </a:solidFill>
                          <a:latin typeface="Arial" panose="020B0604020202020204" pitchFamily="34" charset="0"/>
                          <a:cs typeface="Arial" panose="020B0604020202020204" pitchFamily="34" charset="0"/>
                        </a:rPr>
                        <a:t>, converts data in audio</a:t>
                      </a:r>
                      <a:r>
                        <a:rPr lang="en-US" sz="1400" baseline="0" dirty="0">
                          <a:solidFill>
                            <a:schemeClr val="tx1"/>
                          </a:solidFill>
                          <a:latin typeface="Arial" panose="020B0604020202020204" pitchFamily="34" charset="0"/>
                          <a:cs typeface="Arial" panose="020B0604020202020204" pitchFamily="34" charset="0"/>
                        </a:rPr>
                        <a:t> or video formats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66ACE9F7-3422-1404-9E04-98915632E52C}"/>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83</a:t>
            </a:r>
            <a:endParaRPr lang="en-CA" dirty="0">
              <a:solidFill>
                <a:schemeClr val="bg1"/>
              </a:solidFill>
            </a:endParaRPr>
          </a:p>
        </p:txBody>
      </p:sp>
    </p:spTree>
    <p:extLst>
      <p:ext uri="{BB962C8B-B14F-4D97-AF65-F5344CB8AC3E}">
        <p14:creationId xmlns:p14="http://schemas.microsoft.com/office/powerpoint/2010/main" val="14574837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84330"/>
            <a:ext cx="8026400" cy="340093"/>
          </a:xfrm>
        </p:spPr>
        <p:txBody>
          <a:bodyPr>
            <a:normAutofit fontScale="90000"/>
          </a:bodyPr>
          <a:lstStyle/>
          <a:p>
            <a:r>
              <a:rPr lang="en-US" sz="2600" b="1" dirty="0">
                <a:solidFill>
                  <a:srgbClr val="0080A9"/>
                </a:solidFill>
                <a:latin typeface="Arial" panose="020B0604020202020204" pitchFamily="34" charset="0"/>
                <a:cs typeface="Arial" panose="020B0604020202020204" pitchFamily="34" charset="0"/>
              </a:rPr>
              <a:t>Other Network Security Hardware Devices (2 of 2)</a:t>
            </a:r>
          </a:p>
        </p:txBody>
      </p:sp>
      <p:graphicFrame>
        <p:nvGraphicFramePr>
          <p:cNvPr id="5" name="Table 4" descr="A table titled, Other network security hardware devices. The table has 4 rows and 3 columns. The columns have the following headings from left to right. Name, description, comments. The row entries are as follows. Row 1: name, hardware security module; description, a dedicated cryptographic processor that provides protection for cryptographic keys; comments, a tamper-resistant device that can securely manage, process, and store cryptographic keys. Row 2: name, s s l decryptor; description, a separate device that decrypts s s l traffic; comments, helps reduce performance degradation and eliminates the need to have multiple decryption licenses spread across multiple devices. &#10;Row 3: name, s s l or t l s accelerator; description, a separate hardware card that inserts into a web server that contains one or more co-processors to handle s s l or t l s processing; comments, used to accelerate the computationally intensive initial s s l connection handshake, during which keys are generated for symmetric encryption using 3des or ay e s. Row 4: name, media gateway; description, a device that converts media data from one format to another; comments, sometimes called a soft switch, converts data in audio or video format. Row 5: name, unified threat management, u t m; description, integrated device that combines several security functions; comments, multipurpose security appliance that provides an array of security functions, such as antispam, antiphishing, antispyware, encryption, intrusion protection, and web filtering. Row 6: name, internet content filter; description, monitors internet traffic and block access to preselected websites and files; comments, restricts unapproved websites based on u r l or by searching for and matching keywords such as sex or hate as well as looking for malware. Row 7: name, web security gateway; description, blocks malicious content in real time as it appears without first knowing the u r l of a dangerous site; comments, enables a higher level of defense by examining the content through application-level filtering.&#10;"/>
          <p:cNvGraphicFramePr>
            <a:graphicFrameLocks noGrp="1"/>
          </p:cNvGraphicFramePr>
          <p:nvPr/>
        </p:nvGraphicFramePr>
        <p:xfrm>
          <a:off x="2652946" y="1364941"/>
          <a:ext cx="7322601" cy="3845560"/>
        </p:xfrm>
        <a:graphic>
          <a:graphicData uri="http://schemas.openxmlformats.org/drawingml/2006/table">
            <a:tbl>
              <a:tblPr firstRow="1" bandRow="1">
                <a:tableStyleId>{5C22544A-7EE6-4342-B048-85BDC9FD1C3A}</a:tableStyleId>
              </a:tblPr>
              <a:tblGrid>
                <a:gridCol w="1842855">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812746">
                  <a:extLst>
                    <a:ext uri="{9D8B030D-6E8A-4147-A177-3AD203B41FA5}">
                      <a16:colId xmlns:a16="http://schemas.microsoft.com/office/drawing/2014/main" val="20002"/>
                    </a:ext>
                  </a:extLst>
                </a:gridCol>
              </a:tblGrid>
              <a:tr h="370840">
                <a:tc>
                  <a:txBody>
                    <a:bodyPr/>
                    <a:lstStyle/>
                    <a:p>
                      <a:r>
                        <a:rPr lang="en-US" sz="1400" dirty="0">
                          <a:solidFill>
                            <a:schemeClr val="tx1"/>
                          </a:solidFill>
                          <a:latin typeface="Arial" panose="020B0604020202020204" pitchFamily="34" charset="0"/>
                          <a:cs typeface="Arial" panose="020B0604020202020204" pitchFamily="34"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Unified Threat Management</a:t>
                      </a:r>
                      <a:r>
                        <a:rPr lang="en-US" sz="1400" baseline="0" dirty="0">
                          <a:solidFill>
                            <a:schemeClr val="tx1"/>
                          </a:solidFill>
                          <a:latin typeface="Arial" panose="020B0604020202020204" pitchFamily="34" charset="0"/>
                          <a:cs typeface="Arial" panose="020B0604020202020204" pitchFamily="34" charset="0"/>
                        </a:rPr>
                        <a:t> (U</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T</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M)</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Integrated device that combines several security functions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Multipurpose security appliance that provides an array of security functions, such as antispam, antiphishing, antispyware, encryption, intrusion</a:t>
                      </a:r>
                      <a:r>
                        <a:rPr lang="en-US" sz="1400" baseline="0" dirty="0">
                          <a:solidFill>
                            <a:schemeClr val="tx1"/>
                          </a:solidFill>
                          <a:latin typeface="Arial" panose="020B0604020202020204" pitchFamily="34" charset="0"/>
                          <a:cs typeface="Arial" panose="020B0604020202020204" pitchFamily="34" charset="0"/>
                        </a:rPr>
                        <a:t> protection, and web filtering</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Internet content</a:t>
                      </a:r>
                      <a:r>
                        <a:rPr lang="en-US" sz="1400" baseline="0" dirty="0">
                          <a:solidFill>
                            <a:schemeClr val="tx1"/>
                          </a:solidFill>
                          <a:latin typeface="Arial" panose="020B0604020202020204" pitchFamily="34" charset="0"/>
                          <a:cs typeface="Arial" panose="020B0604020202020204" pitchFamily="34" charset="0"/>
                        </a:rPr>
                        <a:t> filter</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Monitors Internet traffic and block access to preselected websites and files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Restricts unapproved websites</a:t>
                      </a:r>
                      <a:r>
                        <a:rPr lang="en-US" sz="1400" baseline="0" dirty="0">
                          <a:solidFill>
                            <a:schemeClr val="tx1"/>
                          </a:solidFill>
                          <a:latin typeface="Arial" panose="020B0604020202020204" pitchFamily="34" charset="0"/>
                          <a:cs typeface="Arial" panose="020B0604020202020204" pitchFamily="34" charset="0"/>
                        </a:rPr>
                        <a:t> based on U</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R</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L or by searching for and matching keywords such as </a:t>
                      </a:r>
                      <a:r>
                        <a:rPr lang="en-US" sz="1400" b="1" i="0" baseline="0" dirty="0">
                          <a:solidFill>
                            <a:schemeClr val="tx1"/>
                          </a:solidFill>
                          <a:latin typeface="Arial" panose="020B0604020202020204" pitchFamily="34" charset="0"/>
                          <a:cs typeface="Arial" panose="020B0604020202020204" pitchFamily="34" charset="0"/>
                        </a:rPr>
                        <a:t>sex </a:t>
                      </a:r>
                      <a:r>
                        <a:rPr lang="en-US" sz="1400" b="0" i="0" baseline="0" dirty="0">
                          <a:solidFill>
                            <a:schemeClr val="tx1"/>
                          </a:solidFill>
                          <a:latin typeface="Arial" panose="020B0604020202020204" pitchFamily="34" charset="0"/>
                          <a:cs typeface="Arial" panose="020B0604020202020204" pitchFamily="34" charset="0"/>
                        </a:rPr>
                        <a:t>or</a:t>
                      </a:r>
                      <a:r>
                        <a:rPr lang="en-US" sz="1400" b="1" i="0" baseline="0" dirty="0">
                          <a:solidFill>
                            <a:schemeClr val="tx1"/>
                          </a:solidFill>
                          <a:latin typeface="Arial" panose="020B0604020202020204" pitchFamily="34" charset="0"/>
                          <a:cs typeface="Arial" panose="020B0604020202020204" pitchFamily="34" charset="0"/>
                        </a:rPr>
                        <a:t> hate</a:t>
                      </a:r>
                      <a:r>
                        <a:rPr lang="en-US" sz="1400" i="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as well as looking for malware</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Web security gateway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Blocks malicious content</a:t>
                      </a:r>
                      <a:r>
                        <a:rPr lang="en-US" sz="1400" baseline="0" dirty="0">
                          <a:solidFill>
                            <a:schemeClr val="tx1"/>
                          </a:solidFill>
                          <a:latin typeface="Arial" panose="020B0604020202020204" pitchFamily="34" charset="0"/>
                          <a:cs typeface="Arial" panose="020B0604020202020204" pitchFamily="34" charset="0"/>
                        </a:rPr>
                        <a:t> in real time as it appears without first knowing the U</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R</a:t>
                      </a:r>
                      <a:r>
                        <a:rPr lang="en-US" sz="100" baseline="0" dirty="0">
                          <a:solidFill>
                            <a:schemeClr val="tx1"/>
                          </a:solidFill>
                          <a:latin typeface="Arial" panose="020B0604020202020204" pitchFamily="34" charset="0"/>
                          <a:cs typeface="Arial" panose="020B0604020202020204" pitchFamily="34" charset="0"/>
                        </a:rPr>
                        <a:t> </a:t>
                      </a:r>
                      <a:r>
                        <a:rPr lang="en-US" sz="1400" baseline="0" dirty="0">
                          <a:solidFill>
                            <a:schemeClr val="tx1"/>
                          </a:solidFill>
                          <a:latin typeface="Arial" panose="020B0604020202020204" pitchFamily="34" charset="0"/>
                          <a:cs typeface="Arial" panose="020B0604020202020204" pitchFamily="34" charset="0"/>
                        </a:rPr>
                        <a:t>L of a dangerous site</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Enables a higher level of defense by examining the content through application-level filtering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D5E38391-616C-46AC-9F8C-CE1E1527ACFE}"/>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84</a:t>
            </a:r>
            <a:endParaRPr lang="en-CA" dirty="0">
              <a:solidFill>
                <a:schemeClr val="bg1"/>
              </a:solidFill>
            </a:endParaRPr>
          </a:p>
        </p:txBody>
      </p:sp>
    </p:spTree>
    <p:extLst>
      <p:ext uri="{BB962C8B-B14F-4D97-AF65-F5344CB8AC3E}">
        <p14:creationId xmlns:p14="http://schemas.microsoft.com/office/powerpoint/2010/main" val="32066298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Security Through Network Architecture</a:t>
            </a:r>
          </a:p>
        </p:txBody>
      </p:sp>
      <p:sp>
        <p:nvSpPr>
          <p:cNvPr id="3" name="Content Placeholder 2"/>
          <p:cNvSpPr>
            <a:spLocks noGrp="1"/>
          </p:cNvSpPr>
          <p:nvPr>
            <p:ph idx="1"/>
          </p:nvPr>
        </p:nvSpPr>
        <p:spPr>
          <a:xfrm>
            <a:off x="1889125" y="1538819"/>
            <a:ext cx="8415338" cy="1846659"/>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The design of a network can provide a secure foundation for resisting attackers</a:t>
            </a:r>
          </a:p>
          <a:p>
            <a:pPr>
              <a:lnSpc>
                <a:spcPct val="100000"/>
              </a:lnSpc>
            </a:pPr>
            <a:r>
              <a:rPr lang="en-US" dirty="0">
                <a:solidFill>
                  <a:schemeClr val="tx1"/>
                </a:solidFill>
                <a:latin typeface="Arial" panose="020B0604020202020204" pitchFamily="34" charset="0"/>
                <a:cs typeface="Arial" panose="020B0604020202020204" pitchFamily="34" charset="0"/>
              </a:rPr>
              <a:t>Elements of a secure network architectural design include:</a:t>
            </a:r>
          </a:p>
          <a:p>
            <a:pPr lvl="1">
              <a:lnSpc>
                <a:spcPct val="100000"/>
              </a:lnSpc>
            </a:pPr>
            <a:r>
              <a:rPr lang="en-US" sz="2000" dirty="0">
                <a:latin typeface="Arial" panose="020B0604020202020204" pitchFamily="34" charset="0"/>
                <a:cs typeface="Arial" panose="020B0604020202020204" pitchFamily="34" charset="0"/>
              </a:rPr>
              <a:t>Creating security zones</a:t>
            </a:r>
          </a:p>
          <a:p>
            <a:pPr lvl="1">
              <a:lnSpc>
                <a:spcPct val="100000"/>
              </a:lnSpc>
            </a:pPr>
            <a:r>
              <a:rPr lang="en-US" sz="2000" dirty="0">
                <a:latin typeface="Arial" panose="020B0604020202020204" pitchFamily="34" charset="0"/>
                <a:cs typeface="Arial" panose="020B0604020202020204" pitchFamily="34" charset="0"/>
              </a:rPr>
              <a:t>Using network segregation</a:t>
            </a:r>
          </a:p>
        </p:txBody>
      </p:sp>
      <p:sp>
        <p:nvSpPr>
          <p:cNvPr id="5" name="TextBox 4">
            <a:extLst>
              <a:ext uri="{FF2B5EF4-FFF2-40B4-BE49-F238E27FC236}">
                <a16:creationId xmlns:a16="http://schemas.microsoft.com/office/drawing/2014/main" id="{E890752A-0FDB-CD63-BE22-6D298A091E23}"/>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85</a:t>
            </a:r>
            <a:endParaRPr lang="en-CA" dirty="0">
              <a:solidFill>
                <a:schemeClr val="bg1"/>
              </a:solidFill>
            </a:endParaRPr>
          </a:p>
        </p:txBody>
      </p:sp>
    </p:spTree>
    <p:extLst>
      <p:ext uri="{BB962C8B-B14F-4D97-AF65-F5344CB8AC3E}">
        <p14:creationId xmlns:p14="http://schemas.microsoft.com/office/powerpoint/2010/main" val="39399664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Security Zones</a:t>
            </a:r>
          </a:p>
        </p:txBody>
      </p:sp>
      <p:sp>
        <p:nvSpPr>
          <p:cNvPr id="3" name="Content Placeholder 2"/>
          <p:cNvSpPr>
            <a:spLocks noGrp="1"/>
          </p:cNvSpPr>
          <p:nvPr>
            <p:ph idx="1"/>
          </p:nvPr>
        </p:nvSpPr>
        <p:spPr>
          <a:xfrm>
            <a:off x="1889126" y="1538818"/>
            <a:ext cx="8169275" cy="2231380"/>
          </a:xfrm>
        </p:spPr>
        <p:txBody>
          <a:bodyPr>
            <a:normAutofit fontScale="92500"/>
          </a:bodyPr>
          <a:lstStyle/>
          <a:p>
            <a:pPr>
              <a:lnSpc>
                <a:spcPct val="100000"/>
              </a:lnSpc>
            </a:pPr>
            <a:r>
              <a:rPr lang="en-US" dirty="0">
                <a:solidFill>
                  <a:schemeClr val="tx1"/>
                </a:solidFill>
                <a:latin typeface="Arial" panose="020B0604020202020204" pitchFamily="34" charset="0"/>
                <a:cs typeface="Arial" panose="020B0604020202020204" pitchFamily="34" charset="0"/>
              </a:rPr>
              <a:t>A secure approach is to create zones to partition the network</a:t>
            </a:r>
          </a:p>
          <a:p>
            <a:pPr lvl="1">
              <a:lnSpc>
                <a:spcPct val="100000"/>
              </a:lnSpc>
            </a:pPr>
            <a:r>
              <a:rPr lang="en-US" sz="2000" dirty="0">
                <a:latin typeface="Arial" panose="020B0604020202020204" pitchFamily="34" charset="0"/>
                <a:cs typeface="Arial" panose="020B0604020202020204" pitchFamily="34" charset="0"/>
              </a:rPr>
              <a:t>So that certain users may enter one zone while access is prohibited to other users</a:t>
            </a:r>
          </a:p>
          <a:p>
            <a:pPr>
              <a:lnSpc>
                <a:spcPct val="100000"/>
              </a:lnSpc>
            </a:pPr>
            <a:r>
              <a:rPr lang="en-US" dirty="0">
                <a:solidFill>
                  <a:schemeClr val="tx1"/>
                </a:solidFill>
                <a:latin typeface="Arial" panose="020B0604020202020204" pitchFamily="34" charset="0"/>
                <a:cs typeface="Arial" panose="020B0604020202020204" pitchFamily="34" charset="0"/>
              </a:rPr>
              <a:t>The most common security zones:</a:t>
            </a:r>
          </a:p>
          <a:p>
            <a:pPr lvl="1">
              <a:lnSpc>
                <a:spcPct val="100000"/>
              </a:lnSpc>
            </a:pPr>
            <a:r>
              <a:rPr lang="en-US" sz="2000" dirty="0">
                <a:latin typeface="Arial" panose="020B0604020202020204" pitchFamily="34" charset="0"/>
                <a:cs typeface="Arial" panose="020B0604020202020204" pitchFamily="34" charset="0"/>
              </a:rPr>
              <a:t>Demilitarized zones (DMZ)</a:t>
            </a:r>
          </a:p>
          <a:p>
            <a:pPr lvl="1">
              <a:lnSpc>
                <a:spcPct val="100000"/>
              </a:lnSpc>
            </a:pPr>
            <a:r>
              <a:rPr lang="en-US" sz="2000" dirty="0">
                <a:latin typeface="Arial" panose="020B0604020202020204" pitchFamily="34" charset="0"/>
                <a:cs typeface="Arial" panose="020B0604020202020204" pitchFamily="34" charset="0"/>
              </a:rPr>
              <a:t>Using network address translation to create zones</a:t>
            </a:r>
          </a:p>
        </p:txBody>
      </p:sp>
      <p:sp>
        <p:nvSpPr>
          <p:cNvPr id="5" name="TextBox 4">
            <a:extLst>
              <a:ext uri="{FF2B5EF4-FFF2-40B4-BE49-F238E27FC236}">
                <a16:creationId xmlns:a16="http://schemas.microsoft.com/office/drawing/2014/main" id="{CDAFCCD5-DADC-AB35-7F8B-63AC36378107}"/>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86</a:t>
            </a:r>
            <a:endParaRPr lang="en-CA" dirty="0">
              <a:solidFill>
                <a:schemeClr val="bg1"/>
              </a:solidFill>
            </a:endParaRPr>
          </a:p>
        </p:txBody>
      </p:sp>
    </p:spTree>
    <p:extLst>
      <p:ext uri="{BB962C8B-B14F-4D97-AF65-F5344CB8AC3E}">
        <p14:creationId xmlns:p14="http://schemas.microsoft.com/office/powerpoint/2010/main" val="29098230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Demilitarized Zone (D</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M</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Z)</a:t>
            </a:r>
          </a:p>
        </p:txBody>
      </p:sp>
      <p:sp>
        <p:nvSpPr>
          <p:cNvPr id="3" name="Content Placeholder 2"/>
          <p:cNvSpPr>
            <a:spLocks noGrp="1"/>
          </p:cNvSpPr>
          <p:nvPr>
            <p:ph idx="1"/>
          </p:nvPr>
        </p:nvSpPr>
        <p:spPr>
          <a:xfrm>
            <a:off x="1889125" y="1538819"/>
            <a:ext cx="8415338" cy="769441"/>
          </a:xfrm>
        </p:spPr>
        <p:txBody>
          <a:bodyPr>
            <a:normAutofit fontScale="85000" lnSpcReduction="10000"/>
          </a:bodyPr>
          <a:lstStyle/>
          <a:p>
            <a:pPr>
              <a:lnSpc>
                <a:spcPct val="100000"/>
              </a:lnSpc>
            </a:pPr>
            <a:r>
              <a:rPr lang="en-US" altLang="en-US" dirty="0">
                <a:solidFill>
                  <a:schemeClr val="tx1"/>
                </a:solidFill>
                <a:latin typeface="Arial" panose="020B0604020202020204" pitchFamily="34" charset="0"/>
                <a:cs typeface="Arial" panose="020B0604020202020204" pitchFamily="34" charset="0"/>
              </a:rPr>
              <a:t>D</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M</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Z - a separate network located outside secure network perimeter</a:t>
            </a:r>
          </a:p>
          <a:p>
            <a:pPr>
              <a:lnSpc>
                <a:spcPct val="100000"/>
              </a:lnSpc>
            </a:pPr>
            <a:r>
              <a:rPr lang="en-US" altLang="en-US" dirty="0">
                <a:solidFill>
                  <a:schemeClr val="tx1"/>
                </a:solidFill>
                <a:latin typeface="Arial" panose="020B0604020202020204" pitchFamily="34" charset="0"/>
                <a:cs typeface="Arial" panose="020B0604020202020204" pitchFamily="34" charset="0"/>
              </a:rPr>
              <a:t>Untrusted outside users can access D</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M</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Z but not secure network</a:t>
            </a:r>
            <a:endParaRPr lang="en-US" dirty="0">
              <a:solidFill>
                <a:schemeClr val="tx1"/>
              </a:solidFill>
              <a:latin typeface="Arial" panose="020B0604020202020204" pitchFamily="34" charset="0"/>
              <a:cs typeface="Arial" panose="020B0604020202020204" pitchFamily="34" charset="0"/>
            </a:endParaRPr>
          </a:p>
        </p:txBody>
      </p:sp>
      <p:pic>
        <p:nvPicPr>
          <p:cNvPr id="5" name="Picture 4" descr="Figure 6-9 D M Z with two firewalls. An illustration shows the network access control or n ay c framework. 1. Security self-assessment by system health agent; 2. Statement of health is sent to health registration authority which connects to the antivirus server and the patch management server; step 3. Health certificate issued to client from the health registration authority; step 4. Health certificate presented to all network servers; step 5. If there no health certificate, the client is sent to quarantin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1537" y="2792429"/>
            <a:ext cx="5515326" cy="3124200"/>
          </a:xfrm>
          <a:prstGeom prst="rect">
            <a:avLst/>
          </a:prstGeom>
        </p:spPr>
      </p:pic>
      <p:sp>
        <p:nvSpPr>
          <p:cNvPr id="6" name="TextBox 5">
            <a:extLst>
              <a:ext uri="{FF2B5EF4-FFF2-40B4-BE49-F238E27FC236}">
                <a16:creationId xmlns:a16="http://schemas.microsoft.com/office/drawing/2014/main" id="{CCC47AAC-B975-9E94-D432-98A9EA0FA583}"/>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87</a:t>
            </a:r>
            <a:endParaRPr lang="en-CA" dirty="0">
              <a:solidFill>
                <a:schemeClr val="bg1"/>
              </a:solidFill>
            </a:endParaRPr>
          </a:p>
        </p:txBody>
      </p:sp>
      <p:sp>
        <p:nvSpPr>
          <p:cNvPr id="8" name="Rectangle 7">
            <a:extLst>
              <a:ext uri="{FF2B5EF4-FFF2-40B4-BE49-F238E27FC236}">
                <a16:creationId xmlns:a16="http://schemas.microsoft.com/office/drawing/2014/main" id="{3F13E944-BFE2-E6FA-A4CF-F766111050C5}"/>
              </a:ext>
            </a:extLst>
          </p:cNvPr>
          <p:cNvSpPr/>
          <p:nvPr/>
        </p:nvSpPr>
        <p:spPr>
          <a:xfrm>
            <a:off x="2514600" y="5584858"/>
            <a:ext cx="1981200" cy="6635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9878349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Address Translation (N</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T) (1 of 2)</a:t>
            </a:r>
          </a:p>
        </p:txBody>
      </p:sp>
      <p:sp>
        <p:nvSpPr>
          <p:cNvPr id="3" name="Content Placeholder 2"/>
          <p:cNvSpPr>
            <a:spLocks noGrp="1"/>
          </p:cNvSpPr>
          <p:nvPr>
            <p:ph idx="1"/>
          </p:nvPr>
        </p:nvSpPr>
        <p:spPr>
          <a:xfrm>
            <a:off x="1889125" y="1538819"/>
            <a:ext cx="8415338" cy="2616101"/>
          </a:xfrm>
        </p:spPr>
        <p:txBody>
          <a:bodyPr>
            <a:normAutofit lnSpcReduction="10000"/>
          </a:bodyPr>
          <a:lstStyle/>
          <a:p>
            <a:pPr>
              <a:lnSpc>
                <a:spcPct val="100000"/>
              </a:lnSpc>
              <a:defRPr/>
            </a:pPr>
            <a:r>
              <a:rPr lang="en-US" dirty="0">
                <a:solidFill>
                  <a:schemeClr val="tx1"/>
                </a:solidFill>
                <a:latin typeface="Arial" panose="020B0604020202020204" pitchFamily="34" charset="0"/>
                <a:cs typeface="Arial" panose="020B0604020202020204" pitchFamily="34" charset="0"/>
              </a:rPr>
              <a:t>Network address translation (N</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T)</a:t>
            </a:r>
          </a:p>
          <a:p>
            <a:pPr lvl="1">
              <a:lnSpc>
                <a:spcPct val="100000"/>
              </a:lnSpc>
              <a:defRPr/>
            </a:pPr>
            <a:r>
              <a:rPr lang="en-US" sz="2000" dirty="0">
                <a:latin typeface="Arial" panose="020B0604020202020204" pitchFamily="34" charset="0"/>
                <a:cs typeface="Arial" panose="020B0604020202020204" pitchFamily="34" charset="0"/>
              </a:rPr>
              <a:t>Allows private I</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addresses to be used on the public Internet</a:t>
            </a:r>
          </a:p>
          <a:p>
            <a:pPr lvl="1">
              <a:lnSpc>
                <a:spcPct val="100000"/>
              </a:lnSpc>
              <a:defRPr/>
            </a:pPr>
            <a:r>
              <a:rPr lang="en-US" sz="2000" dirty="0">
                <a:latin typeface="Arial" panose="020B0604020202020204" pitchFamily="34" charset="0"/>
                <a:cs typeface="Arial" panose="020B0604020202020204" pitchFamily="34" charset="0"/>
              </a:rPr>
              <a:t>Replaces private I</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address with public address</a:t>
            </a:r>
          </a:p>
          <a:p>
            <a:pPr>
              <a:lnSpc>
                <a:spcPct val="100000"/>
              </a:lnSpc>
            </a:pPr>
            <a:r>
              <a:rPr lang="en-US" altLang="en-US" dirty="0">
                <a:solidFill>
                  <a:schemeClr val="tx1"/>
                </a:solidFill>
                <a:latin typeface="Arial" panose="020B0604020202020204" pitchFamily="34" charset="0"/>
                <a:cs typeface="Arial" panose="020B0604020202020204" pitchFamily="34" charset="0"/>
              </a:rPr>
              <a:t>Advantage of N</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A</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T</a:t>
            </a:r>
          </a:p>
          <a:p>
            <a:pPr lvl="1">
              <a:lnSpc>
                <a:spcPct val="100000"/>
              </a:lnSpc>
            </a:pPr>
            <a:r>
              <a:rPr lang="en-US" altLang="en-US" sz="2000" dirty="0">
                <a:latin typeface="Arial" panose="020B0604020202020204" pitchFamily="34" charset="0"/>
                <a:cs typeface="Arial" panose="020B0604020202020204" pitchFamily="34" charset="0"/>
              </a:rPr>
              <a:t>Masks I</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P addresses of internal devices</a:t>
            </a:r>
          </a:p>
          <a:p>
            <a:pPr lvl="1">
              <a:lnSpc>
                <a:spcPct val="100000"/>
              </a:lnSpc>
            </a:pPr>
            <a:r>
              <a:rPr lang="en-US" altLang="en-US" sz="2000" dirty="0">
                <a:latin typeface="Arial" panose="020B0604020202020204" pitchFamily="34" charset="0"/>
                <a:cs typeface="Arial" panose="020B0604020202020204" pitchFamily="34" charset="0"/>
              </a:rPr>
              <a:t>An attacker who captures the packet on the Internet cannot determine the actual I</a:t>
            </a:r>
            <a:r>
              <a:rPr lang="en-US" altLang="en-US" sz="1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P address of sender</a:t>
            </a:r>
            <a:endParaRPr lang="en-US"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0F8373B-F332-77D5-C26B-180082411D78}"/>
              </a:ext>
            </a:extLst>
          </p:cNvPr>
          <p:cNvSpPr txBox="1"/>
          <p:nvPr/>
        </p:nvSpPr>
        <p:spPr>
          <a:xfrm>
            <a:off x="10972800" y="5791200"/>
            <a:ext cx="441146" cy="369332"/>
          </a:xfrm>
          <a:prstGeom prst="rect">
            <a:avLst/>
          </a:prstGeom>
          <a:noFill/>
        </p:spPr>
        <p:txBody>
          <a:bodyPr wrap="none" rtlCol="0">
            <a:spAutoFit/>
          </a:bodyPr>
          <a:lstStyle/>
          <a:p>
            <a:r>
              <a:rPr lang="en-GB" dirty="0">
                <a:solidFill>
                  <a:schemeClr val="bg1"/>
                </a:solidFill>
              </a:rPr>
              <a:t>88</a:t>
            </a:r>
            <a:endParaRPr lang="en-CA" dirty="0">
              <a:solidFill>
                <a:schemeClr val="bg1"/>
              </a:solidFill>
            </a:endParaRPr>
          </a:p>
        </p:txBody>
      </p:sp>
    </p:spTree>
    <p:extLst>
      <p:ext uri="{BB962C8B-B14F-4D97-AF65-F5344CB8AC3E}">
        <p14:creationId xmlns:p14="http://schemas.microsoft.com/office/powerpoint/2010/main" val="29455972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Address Translation (N</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T) (2 of 2)</a:t>
            </a:r>
          </a:p>
        </p:txBody>
      </p:sp>
      <p:pic>
        <p:nvPicPr>
          <p:cNvPr id="6" name="Picture 5" descr="Figure 6-10 Network address translation ( N A T ). An illustration shows how a network address translation or N Ay T occurs. I P address: 192 dot 168 dot 0 dot 3; Step 1. Packet created on computer with private IP address 192 dot 168 dot 0 dot 3; Step 2. N Ay T replaces original I P address with alias I P address 192 dot 146 dot 11 dot 20; Step 3. Packet sent with alias address, 192 dot 146 dot 11 dot 20 connects to the interne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9400" y="2581192"/>
            <a:ext cx="7269068" cy="2012908"/>
          </a:xfrm>
          <a:prstGeom prst="rect">
            <a:avLst/>
          </a:prstGeom>
        </p:spPr>
      </p:pic>
      <p:sp>
        <p:nvSpPr>
          <p:cNvPr id="3" name="TextBox 2">
            <a:extLst>
              <a:ext uri="{FF2B5EF4-FFF2-40B4-BE49-F238E27FC236}">
                <a16:creationId xmlns:a16="http://schemas.microsoft.com/office/drawing/2014/main" id="{2205AB26-1ED3-1070-44A6-54D264546AAB}"/>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89</a:t>
            </a:r>
            <a:endParaRPr lang="en-CA" dirty="0">
              <a:solidFill>
                <a:schemeClr val="bg1"/>
              </a:solidFill>
            </a:endParaRPr>
          </a:p>
        </p:txBody>
      </p:sp>
      <p:sp>
        <p:nvSpPr>
          <p:cNvPr id="4" name="Rectangle 3">
            <a:extLst>
              <a:ext uri="{FF2B5EF4-FFF2-40B4-BE49-F238E27FC236}">
                <a16:creationId xmlns:a16="http://schemas.microsoft.com/office/drawing/2014/main" id="{75A1C223-A282-DA78-B015-20960BBA0EEF}"/>
              </a:ext>
            </a:extLst>
          </p:cNvPr>
          <p:cNvSpPr/>
          <p:nvPr/>
        </p:nvSpPr>
        <p:spPr>
          <a:xfrm>
            <a:off x="1981200" y="4262329"/>
            <a:ext cx="1981200" cy="6635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1646409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Other Zones</a:t>
            </a:r>
          </a:p>
        </p:txBody>
      </p:sp>
      <p:graphicFrame>
        <p:nvGraphicFramePr>
          <p:cNvPr id="5" name="Table 4" descr="A table titled, other network zones. The table has 3 rows and 3 columns. The columns have the following headings from left to right. Name, description, security benefits. The row entries are as follows. Row 1: name, intranet; description, a private network that belongs to an organization that can only be accessed by approved internal users; security benefits, closed to the outside public, thus data is less vulnerable to external threat actors. Row 2: name, extranet; description, a private network that can also be accessed by authorized external customers, vendors, and partners; security benefits, can provide enhanced security for outside users compared to a publicly accessible website. Row 3: name, guest network; description, a separate open network that anyone can access without prior authorization; security benefits, permits access to general network resources like web surfing without using the secure network."/>
          <p:cNvGraphicFramePr>
            <a:graphicFrameLocks noGrp="1"/>
          </p:cNvGraphicFramePr>
          <p:nvPr/>
        </p:nvGraphicFramePr>
        <p:xfrm>
          <a:off x="3011014" y="1933851"/>
          <a:ext cx="6781801" cy="3205480"/>
        </p:xfrm>
        <a:graphic>
          <a:graphicData uri="http://schemas.openxmlformats.org/drawingml/2006/table">
            <a:tbl>
              <a:tblPr firstRow="1" bandRow="1">
                <a:tableStyleId>{5C22544A-7EE6-4342-B048-85BDC9FD1C3A}</a:tableStyleId>
              </a:tblPr>
              <a:tblGrid>
                <a:gridCol w="1441133">
                  <a:extLst>
                    <a:ext uri="{9D8B030D-6E8A-4147-A177-3AD203B41FA5}">
                      <a16:colId xmlns:a16="http://schemas.microsoft.com/office/drawing/2014/main" val="20000"/>
                    </a:ext>
                  </a:extLst>
                </a:gridCol>
                <a:gridCol w="2882265">
                  <a:extLst>
                    <a:ext uri="{9D8B030D-6E8A-4147-A177-3AD203B41FA5}">
                      <a16:colId xmlns:a16="http://schemas.microsoft.com/office/drawing/2014/main" val="20001"/>
                    </a:ext>
                  </a:extLst>
                </a:gridCol>
                <a:gridCol w="2458403">
                  <a:extLst>
                    <a:ext uri="{9D8B030D-6E8A-4147-A177-3AD203B41FA5}">
                      <a16:colId xmlns:a16="http://schemas.microsoft.com/office/drawing/2014/main" val="20002"/>
                    </a:ext>
                  </a:extLst>
                </a:gridCol>
              </a:tblGrid>
              <a:tr h="370840">
                <a:tc>
                  <a:txBody>
                    <a:bodyPr/>
                    <a:lstStyle/>
                    <a:p>
                      <a:r>
                        <a:rPr lang="en-US" sz="1400" dirty="0">
                          <a:solidFill>
                            <a:schemeClr val="tx1"/>
                          </a:solidFill>
                          <a:latin typeface="Arial" panose="020B0604020202020204" pitchFamily="34" charset="0"/>
                          <a:cs typeface="Arial" panose="020B0604020202020204" pitchFamily="34" charset="0"/>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Security benefits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Intranet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private network that</a:t>
                      </a:r>
                      <a:r>
                        <a:rPr lang="en-US" sz="1400" baseline="0" dirty="0">
                          <a:solidFill>
                            <a:schemeClr val="tx1"/>
                          </a:solidFill>
                          <a:latin typeface="Arial" panose="020B0604020202020204" pitchFamily="34" charset="0"/>
                          <a:cs typeface="Arial" panose="020B0604020202020204" pitchFamily="34" charset="0"/>
                        </a:rPr>
                        <a:t> belongs to an organization that can only be accessed by approved internal users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Closed</a:t>
                      </a:r>
                      <a:r>
                        <a:rPr lang="en-US" sz="1400" baseline="0" dirty="0">
                          <a:solidFill>
                            <a:schemeClr val="tx1"/>
                          </a:solidFill>
                          <a:latin typeface="Arial" panose="020B0604020202020204" pitchFamily="34" charset="0"/>
                          <a:cs typeface="Arial" panose="020B0604020202020204" pitchFamily="34" charset="0"/>
                        </a:rPr>
                        <a:t> to the outside public, thus data is less vulnerable to external threat actors</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Extranet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private network that can be access by authorized external customers, vendors, and partners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Can provide enhanced security for outside users compared to a publicly</a:t>
                      </a:r>
                      <a:r>
                        <a:rPr lang="en-US" sz="1400" baseline="0" dirty="0">
                          <a:solidFill>
                            <a:schemeClr val="tx1"/>
                          </a:solidFill>
                          <a:latin typeface="Arial" panose="020B0604020202020204" pitchFamily="34" charset="0"/>
                          <a:cs typeface="Arial" panose="020B0604020202020204" pitchFamily="34" charset="0"/>
                        </a:rPr>
                        <a:t> accessible website</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r>
                        <a:rPr lang="en-US" sz="1400" dirty="0">
                          <a:solidFill>
                            <a:schemeClr val="tx1"/>
                          </a:solidFill>
                          <a:latin typeface="Arial" panose="020B0604020202020204" pitchFamily="34" charset="0"/>
                          <a:cs typeface="Arial" panose="020B0604020202020204" pitchFamily="34" charset="0"/>
                        </a:rPr>
                        <a:t>Guest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A separate open network</a:t>
                      </a:r>
                      <a:r>
                        <a:rPr lang="en-US" sz="1400" baseline="0" dirty="0">
                          <a:solidFill>
                            <a:schemeClr val="tx1"/>
                          </a:solidFill>
                          <a:latin typeface="Arial" panose="020B0604020202020204" pitchFamily="34" charset="0"/>
                          <a:cs typeface="Arial" panose="020B0604020202020204" pitchFamily="34" charset="0"/>
                        </a:rPr>
                        <a:t> that anyone can access without prior authorization</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latin typeface="Arial" panose="020B0604020202020204" pitchFamily="34" charset="0"/>
                          <a:cs typeface="Arial" panose="020B0604020202020204" pitchFamily="34" charset="0"/>
                        </a:rPr>
                        <a:t>Permits</a:t>
                      </a:r>
                      <a:r>
                        <a:rPr lang="en-US" sz="1400" baseline="0" dirty="0">
                          <a:solidFill>
                            <a:schemeClr val="tx1"/>
                          </a:solidFill>
                          <a:latin typeface="Arial" panose="020B0604020202020204" pitchFamily="34" charset="0"/>
                          <a:cs typeface="Arial" panose="020B0604020202020204" pitchFamily="34" charset="0"/>
                        </a:rPr>
                        <a:t> access to general network resources like web surfing without using the secure network</a:t>
                      </a:r>
                      <a:endParaRPr lang="en-US" sz="14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4EB07B7D-329F-E6DC-2CE8-3332F6A2331A}"/>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90</a:t>
            </a:r>
            <a:endParaRPr lang="en-CA" dirty="0">
              <a:solidFill>
                <a:schemeClr val="bg1"/>
              </a:solidFill>
            </a:endParaRPr>
          </a:p>
        </p:txBody>
      </p:sp>
    </p:spTree>
    <p:extLst>
      <p:ext uri="{BB962C8B-B14F-4D97-AF65-F5344CB8AC3E}">
        <p14:creationId xmlns:p14="http://schemas.microsoft.com/office/powerpoint/2010/main" val="31317300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Segregation (1 of 2)</a:t>
            </a:r>
          </a:p>
        </p:txBody>
      </p:sp>
      <p:sp>
        <p:nvSpPr>
          <p:cNvPr id="3" name="Content Placeholder 2"/>
          <p:cNvSpPr>
            <a:spLocks noGrp="1"/>
          </p:cNvSpPr>
          <p:nvPr>
            <p:ph idx="1"/>
          </p:nvPr>
        </p:nvSpPr>
        <p:spPr>
          <a:xfrm>
            <a:off x="1889126" y="1538819"/>
            <a:ext cx="8169275" cy="4078039"/>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Physical network segregation</a:t>
            </a:r>
          </a:p>
          <a:p>
            <a:pPr lvl="1">
              <a:lnSpc>
                <a:spcPct val="100000"/>
              </a:lnSpc>
            </a:pPr>
            <a:r>
              <a:rPr lang="en-US" sz="2000" dirty="0">
                <a:latin typeface="Arial" panose="020B0604020202020204" pitchFamily="34" charset="0"/>
                <a:cs typeface="Arial" panose="020B0604020202020204" pitchFamily="34" charset="0"/>
              </a:rPr>
              <a:t>Isolates the network so that it is not accessible by outsiders</a:t>
            </a:r>
          </a:p>
          <a:p>
            <a:pPr>
              <a:lnSpc>
                <a:spcPct val="100000"/>
              </a:lnSpc>
            </a:pPr>
            <a:r>
              <a:rPr lang="en-US" dirty="0">
                <a:solidFill>
                  <a:schemeClr val="tx1"/>
                </a:solidFill>
                <a:latin typeface="Arial" panose="020B0604020202020204" pitchFamily="34" charset="0"/>
                <a:cs typeface="Arial" panose="020B0604020202020204" pitchFamily="34" charset="0"/>
              </a:rPr>
              <a:t>Air gap</a:t>
            </a:r>
          </a:p>
          <a:p>
            <a:pPr lvl="1">
              <a:lnSpc>
                <a:spcPct val="100000"/>
              </a:lnSpc>
            </a:pPr>
            <a:r>
              <a:rPr lang="en-US" sz="2000" dirty="0">
                <a:latin typeface="Arial" panose="020B0604020202020204" pitchFamily="34" charset="0"/>
                <a:cs typeface="Arial" panose="020B0604020202020204" pitchFamily="34" charset="0"/>
              </a:rPr>
              <a:t>The absence of any type of connection between devices</a:t>
            </a:r>
          </a:p>
          <a:p>
            <a:pPr lvl="1">
              <a:lnSpc>
                <a:spcPct val="100000"/>
              </a:lnSpc>
            </a:pPr>
            <a:r>
              <a:rPr lang="en-US" sz="2000" dirty="0">
                <a:latin typeface="Arial" panose="020B0604020202020204" pitchFamily="34" charset="0"/>
                <a:cs typeface="Arial" panose="020B0604020202020204" pitchFamily="34" charset="0"/>
              </a:rPr>
              <a:t>In this case the secure network and another network</a:t>
            </a:r>
          </a:p>
          <a:p>
            <a:pPr>
              <a:lnSpc>
                <a:spcPct val="100000"/>
              </a:lnSpc>
            </a:pPr>
            <a:r>
              <a:rPr lang="en-US" dirty="0">
                <a:solidFill>
                  <a:schemeClr val="tx1"/>
                </a:solidFill>
                <a:latin typeface="Arial" panose="020B0604020202020204" pitchFamily="34" charset="0"/>
                <a:cs typeface="Arial" panose="020B0604020202020204" pitchFamily="34" charset="0"/>
              </a:rPr>
              <a:t>Networks can be segmented using switches to divide the network into a hierarchy</a:t>
            </a:r>
          </a:p>
          <a:p>
            <a:pPr lvl="1">
              <a:lnSpc>
                <a:spcPct val="100000"/>
              </a:lnSpc>
            </a:pPr>
            <a:r>
              <a:rPr lang="en-US" sz="2000" dirty="0">
                <a:latin typeface="Arial" panose="020B0604020202020204" pitchFamily="34" charset="0"/>
                <a:cs typeface="Arial" panose="020B0604020202020204" pitchFamily="34" charset="0"/>
              </a:rPr>
              <a:t>Core switches reside at the top of the hierarchy and carry traffic between switches</a:t>
            </a:r>
          </a:p>
          <a:p>
            <a:pPr lvl="1">
              <a:lnSpc>
                <a:spcPct val="100000"/>
              </a:lnSpc>
            </a:pPr>
            <a:r>
              <a:rPr lang="en-US" sz="2000" dirty="0">
                <a:latin typeface="Arial" panose="020B0604020202020204" pitchFamily="34" charset="0"/>
                <a:cs typeface="Arial" panose="020B0604020202020204" pitchFamily="34" charset="0"/>
              </a:rPr>
              <a:t>Workgroup switches are connected directly to the devices on the network</a:t>
            </a:r>
          </a:p>
        </p:txBody>
      </p:sp>
      <p:sp>
        <p:nvSpPr>
          <p:cNvPr id="5" name="TextBox 4">
            <a:extLst>
              <a:ext uri="{FF2B5EF4-FFF2-40B4-BE49-F238E27FC236}">
                <a16:creationId xmlns:a16="http://schemas.microsoft.com/office/drawing/2014/main" id="{66F83D90-56D5-0A6C-2565-FAAB978E5816}"/>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91</a:t>
            </a:r>
            <a:endParaRPr lang="en-CA" dirty="0">
              <a:solidFill>
                <a:schemeClr val="bg1"/>
              </a:solidFill>
            </a:endParaRPr>
          </a:p>
        </p:txBody>
      </p:sp>
    </p:spTree>
    <p:extLst>
      <p:ext uri="{BB962C8B-B14F-4D97-AF65-F5344CB8AC3E}">
        <p14:creationId xmlns:p14="http://schemas.microsoft.com/office/powerpoint/2010/main" val="11150971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Segregation (2 of 2)</a:t>
            </a:r>
          </a:p>
        </p:txBody>
      </p:sp>
      <p:sp>
        <p:nvSpPr>
          <p:cNvPr id="3" name="Content Placeholder 2"/>
          <p:cNvSpPr>
            <a:spLocks noGrp="1"/>
          </p:cNvSpPr>
          <p:nvPr>
            <p:ph idx="1"/>
          </p:nvPr>
        </p:nvSpPr>
        <p:spPr>
          <a:xfrm>
            <a:off x="1889125" y="1538818"/>
            <a:ext cx="8415338" cy="3077766"/>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Virtual LAN (V</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LAN)</a:t>
            </a:r>
          </a:p>
          <a:p>
            <a:pPr lvl="1">
              <a:lnSpc>
                <a:spcPct val="100000"/>
              </a:lnSpc>
            </a:pPr>
            <a:r>
              <a:rPr lang="en-US" altLang="en-US" sz="2000" dirty="0">
                <a:latin typeface="Arial" panose="020B0604020202020204" pitchFamily="34" charset="0"/>
                <a:cs typeface="Arial" panose="020B0604020202020204" pitchFamily="34" charset="0"/>
              </a:rPr>
              <a:t>Allow scattered users to be logically grouped together</a:t>
            </a:r>
          </a:p>
          <a:p>
            <a:pPr lvl="1">
              <a:lnSpc>
                <a:spcPct val="100000"/>
              </a:lnSpc>
            </a:pPr>
            <a:r>
              <a:rPr lang="en-US" altLang="en-US" sz="2000" dirty="0">
                <a:latin typeface="Arial" panose="020B0604020202020204" pitchFamily="34" charset="0"/>
                <a:cs typeface="Arial" panose="020B0604020202020204" pitchFamily="34" charset="0"/>
              </a:rPr>
              <a:t>Even if attached to different switches</a:t>
            </a:r>
          </a:p>
          <a:p>
            <a:pPr>
              <a:lnSpc>
                <a:spcPct val="100000"/>
              </a:lnSpc>
            </a:pPr>
            <a:r>
              <a:rPr lang="en-US" altLang="en-US" dirty="0">
                <a:solidFill>
                  <a:schemeClr val="tx1"/>
                </a:solidFill>
                <a:latin typeface="Arial" panose="020B0604020202020204" pitchFamily="34" charset="0"/>
                <a:cs typeface="Arial" panose="020B0604020202020204" pitchFamily="34" charset="0"/>
              </a:rPr>
              <a:t>Can isolate sensitive data to V</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LAN members</a:t>
            </a:r>
          </a:p>
          <a:p>
            <a:pPr>
              <a:lnSpc>
                <a:spcPct val="100000"/>
              </a:lnSpc>
            </a:pPr>
            <a:r>
              <a:rPr lang="en-US" altLang="en-US" dirty="0">
                <a:solidFill>
                  <a:schemeClr val="tx1"/>
                </a:solidFill>
                <a:latin typeface="Arial" panose="020B0604020202020204" pitchFamily="34" charset="0"/>
                <a:cs typeface="Arial" panose="020B0604020202020204" pitchFamily="34" charset="0"/>
              </a:rPr>
              <a:t>Communication on a V</a:t>
            </a:r>
            <a:r>
              <a:rPr lang="en-US" altLang="en-US" sz="100" dirty="0">
                <a:latin typeface="Arial" panose="020B0604020202020204" pitchFamily="34" charset="0"/>
                <a:cs typeface="Arial" panose="020B0604020202020204" pitchFamily="34" charset="0"/>
              </a:rPr>
              <a:t> </a:t>
            </a:r>
            <a:r>
              <a:rPr lang="en-US" altLang="en-US" dirty="0">
                <a:solidFill>
                  <a:schemeClr val="tx1"/>
                </a:solidFill>
                <a:latin typeface="Arial" panose="020B0604020202020204" pitchFamily="34" charset="0"/>
                <a:cs typeface="Arial" panose="020B0604020202020204" pitchFamily="34" charset="0"/>
              </a:rPr>
              <a:t>LAN</a:t>
            </a:r>
          </a:p>
          <a:p>
            <a:pPr lvl="1">
              <a:lnSpc>
                <a:spcPct val="100000"/>
              </a:lnSpc>
            </a:pPr>
            <a:r>
              <a:rPr lang="en-US" altLang="en-US" sz="2000" dirty="0">
                <a:latin typeface="Arial" panose="020B0604020202020204" pitchFamily="34" charset="0"/>
                <a:cs typeface="Arial" panose="020B0604020202020204" pitchFamily="34" charset="0"/>
              </a:rPr>
              <a:t>If connected to same switch, switch handles packet transfer</a:t>
            </a:r>
          </a:p>
          <a:p>
            <a:pPr lvl="1">
              <a:lnSpc>
                <a:spcPct val="100000"/>
              </a:lnSpc>
            </a:pPr>
            <a:r>
              <a:rPr lang="en-US" altLang="en-US" sz="2000" dirty="0">
                <a:latin typeface="Arial" panose="020B0604020202020204" pitchFamily="34" charset="0"/>
                <a:cs typeface="Arial" panose="020B0604020202020204" pitchFamily="34" charset="0"/>
              </a:rPr>
              <a:t>A special “tagging” protocol is used for communicating between switches</a:t>
            </a:r>
          </a:p>
        </p:txBody>
      </p:sp>
      <p:sp>
        <p:nvSpPr>
          <p:cNvPr id="5" name="TextBox 4">
            <a:extLst>
              <a:ext uri="{FF2B5EF4-FFF2-40B4-BE49-F238E27FC236}">
                <a16:creationId xmlns:a16="http://schemas.microsoft.com/office/drawing/2014/main" id="{BA65A5F6-EEEE-73DF-236E-19FDE9730DE5}"/>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92</a:t>
            </a:r>
            <a:endParaRPr lang="en-CA" dirty="0">
              <a:solidFill>
                <a:schemeClr val="bg1"/>
              </a:solidFill>
            </a:endParaRPr>
          </a:p>
        </p:txBody>
      </p:sp>
    </p:spTree>
    <p:extLst>
      <p:ext uri="{BB962C8B-B14F-4D97-AF65-F5344CB8AC3E}">
        <p14:creationId xmlns:p14="http://schemas.microsoft.com/office/powerpoint/2010/main" val="37953078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Security Through Network Technologies</a:t>
            </a:r>
          </a:p>
        </p:txBody>
      </p:sp>
      <p:sp>
        <p:nvSpPr>
          <p:cNvPr id="3" name="Content Placeholder 2"/>
          <p:cNvSpPr>
            <a:spLocks noGrp="1"/>
          </p:cNvSpPr>
          <p:nvPr>
            <p:ph idx="1"/>
          </p:nvPr>
        </p:nvSpPr>
        <p:spPr>
          <a:xfrm>
            <a:off x="1889125" y="1538818"/>
            <a:ext cx="8415338" cy="1077218"/>
          </a:xfrm>
        </p:spPr>
        <p:txBody>
          <a:bodyPr>
            <a:normAutofit fontScale="92500"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Two technologies that can help secure a network:</a:t>
            </a:r>
          </a:p>
          <a:p>
            <a:pPr lvl="1">
              <a:lnSpc>
                <a:spcPct val="100000"/>
              </a:lnSpc>
            </a:pPr>
            <a:r>
              <a:rPr lang="en-US" sz="2000" dirty="0">
                <a:latin typeface="Arial" panose="020B0604020202020204" pitchFamily="34" charset="0"/>
                <a:cs typeface="Arial" panose="020B0604020202020204" pitchFamily="34" charset="0"/>
              </a:rPr>
              <a:t>Network access control</a:t>
            </a:r>
          </a:p>
          <a:p>
            <a:pPr lvl="1">
              <a:lnSpc>
                <a:spcPct val="100000"/>
              </a:lnSpc>
            </a:pPr>
            <a:r>
              <a:rPr lang="en-US" sz="2000" dirty="0">
                <a:latin typeface="Arial" panose="020B0604020202020204" pitchFamily="34" charset="0"/>
                <a:cs typeface="Arial" panose="020B0604020202020204" pitchFamily="34" charset="0"/>
              </a:rPr>
              <a:t>Data loss prevention</a:t>
            </a:r>
          </a:p>
        </p:txBody>
      </p:sp>
      <p:sp>
        <p:nvSpPr>
          <p:cNvPr id="5" name="TextBox 4">
            <a:extLst>
              <a:ext uri="{FF2B5EF4-FFF2-40B4-BE49-F238E27FC236}">
                <a16:creationId xmlns:a16="http://schemas.microsoft.com/office/drawing/2014/main" id="{0A77694C-CB5F-8336-D85E-95A31A6919D7}"/>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93</a:t>
            </a:r>
            <a:endParaRPr lang="en-CA" dirty="0">
              <a:solidFill>
                <a:schemeClr val="bg1"/>
              </a:solidFill>
            </a:endParaRPr>
          </a:p>
        </p:txBody>
      </p:sp>
    </p:spTree>
    <p:extLst>
      <p:ext uri="{BB962C8B-B14F-4D97-AF65-F5344CB8AC3E}">
        <p14:creationId xmlns:p14="http://schemas.microsoft.com/office/powerpoint/2010/main" val="14313549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Access Control (N</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C) (1 of 3)</a:t>
            </a:r>
          </a:p>
        </p:txBody>
      </p:sp>
      <p:sp>
        <p:nvSpPr>
          <p:cNvPr id="3" name="Content Placeholder 2"/>
          <p:cNvSpPr>
            <a:spLocks noGrp="1"/>
          </p:cNvSpPr>
          <p:nvPr>
            <p:ph idx="1"/>
          </p:nvPr>
        </p:nvSpPr>
        <p:spPr>
          <a:xfrm>
            <a:off x="1889126" y="1538818"/>
            <a:ext cx="8245475" cy="3154710"/>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N</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C</a:t>
            </a:r>
          </a:p>
          <a:p>
            <a:pPr lvl="1">
              <a:lnSpc>
                <a:spcPct val="100000"/>
              </a:lnSpc>
            </a:pPr>
            <a:r>
              <a:rPr lang="en-US" sz="2000" dirty="0">
                <a:latin typeface="Arial" panose="020B0604020202020204" pitchFamily="34" charset="0"/>
                <a:cs typeface="Arial" panose="020B0604020202020204" pitchFamily="34" charset="0"/>
              </a:rPr>
              <a:t>Examines the current state of a system or network device before it can connect to the network</a:t>
            </a:r>
          </a:p>
          <a:p>
            <a:pPr lvl="1">
              <a:lnSpc>
                <a:spcPct val="100000"/>
              </a:lnSpc>
            </a:pPr>
            <a:r>
              <a:rPr lang="en-US" sz="2000" dirty="0">
                <a:latin typeface="Arial" panose="020B0604020202020204" pitchFamily="34" charset="0"/>
                <a:cs typeface="Arial" panose="020B0604020202020204" pitchFamily="34" charset="0"/>
              </a:rPr>
              <a:t>Any device that does not meet a specified set of criteria can connect only to a “quarantine” network where the security deficiencies are corrected</a:t>
            </a:r>
          </a:p>
          <a:p>
            <a:pPr>
              <a:lnSpc>
                <a:spcPct val="100000"/>
              </a:lnSpc>
            </a:pPr>
            <a:r>
              <a:rPr lang="en-US" dirty="0">
                <a:solidFill>
                  <a:schemeClr val="tx1"/>
                </a:solidFill>
                <a:latin typeface="Arial" panose="020B0604020202020204" pitchFamily="34" charset="0"/>
                <a:cs typeface="Arial" panose="020B0604020202020204" pitchFamily="34" charset="0"/>
              </a:rPr>
              <a:t>Goal of N</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C</a:t>
            </a:r>
          </a:p>
          <a:p>
            <a:pPr lvl="1">
              <a:lnSpc>
                <a:spcPct val="100000"/>
              </a:lnSpc>
            </a:pPr>
            <a:r>
              <a:rPr lang="en-US" sz="2000" dirty="0">
                <a:latin typeface="Arial" panose="020B0604020202020204" pitchFamily="34" charset="0"/>
                <a:cs typeface="Arial" panose="020B0604020202020204" pitchFamily="34" charset="0"/>
              </a:rPr>
              <a:t>To prevent computers with suboptimal security from potentially infecting other computers through the network</a:t>
            </a:r>
          </a:p>
        </p:txBody>
      </p:sp>
      <p:sp>
        <p:nvSpPr>
          <p:cNvPr id="5" name="TextBox 4">
            <a:extLst>
              <a:ext uri="{FF2B5EF4-FFF2-40B4-BE49-F238E27FC236}">
                <a16:creationId xmlns:a16="http://schemas.microsoft.com/office/drawing/2014/main" id="{AB6D3014-3400-91D9-EF55-1D4A21DAA5E8}"/>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94</a:t>
            </a:r>
            <a:endParaRPr lang="en-CA" dirty="0">
              <a:solidFill>
                <a:schemeClr val="bg1"/>
              </a:solidFill>
            </a:endParaRPr>
          </a:p>
        </p:txBody>
      </p:sp>
    </p:spTree>
    <p:extLst>
      <p:ext uri="{BB962C8B-B14F-4D97-AF65-F5344CB8AC3E}">
        <p14:creationId xmlns:p14="http://schemas.microsoft.com/office/powerpoint/2010/main" val="38640419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Access Control (N</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C) (2 of 3)</a:t>
            </a:r>
          </a:p>
        </p:txBody>
      </p:sp>
      <p:sp>
        <p:nvSpPr>
          <p:cNvPr id="3" name="Content Placeholder 2"/>
          <p:cNvSpPr>
            <a:spLocks noGrp="1"/>
          </p:cNvSpPr>
          <p:nvPr>
            <p:ph idx="1"/>
          </p:nvPr>
        </p:nvSpPr>
        <p:spPr>
          <a:xfrm>
            <a:off x="1889125" y="1538818"/>
            <a:ext cx="8014250" cy="3308598"/>
          </a:xfrm>
        </p:spPr>
        <p:txBody>
          <a:bodyPr>
            <a:normAutofit fontScale="92500" lnSpcReduction="10000"/>
          </a:bodyPr>
          <a:lstStyle/>
          <a:p>
            <a:pPr>
              <a:lnSpc>
                <a:spcPct val="100000"/>
              </a:lnSpc>
            </a:pPr>
            <a:r>
              <a:rPr lang="en-US" dirty="0">
                <a:latin typeface="Arial" panose="020B0604020202020204" pitchFamily="34" charset="0"/>
                <a:cs typeface="Arial" panose="020B0604020202020204" pitchFamily="34" charset="0"/>
              </a:rPr>
              <a:t>N</a:t>
            </a:r>
            <a:r>
              <a:rPr lang="en-US" sz="1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 uses software “agents” to gather information and report back (host agent health checks)</a:t>
            </a:r>
          </a:p>
          <a:p>
            <a:pPr>
              <a:lnSpc>
                <a:spcPct val="100000"/>
              </a:lnSpc>
            </a:pPr>
            <a:r>
              <a:rPr lang="en-US" dirty="0">
                <a:latin typeface="Arial" panose="020B0604020202020204" pitchFamily="34" charset="0"/>
                <a:cs typeface="Arial" panose="020B0604020202020204" pitchFamily="34" charset="0"/>
              </a:rPr>
              <a:t>An agent may be a:</a:t>
            </a:r>
          </a:p>
          <a:p>
            <a:pPr lvl="1">
              <a:lnSpc>
                <a:spcPct val="100000"/>
              </a:lnSpc>
            </a:pPr>
            <a:r>
              <a:rPr lang="en-US" sz="2000" dirty="0">
                <a:latin typeface="Arial" panose="020B0604020202020204" pitchFamily="34" charset="0"/>
                <a:cs typeface="Arial" panose="020B0604020202020204" pitchFamily="34" charset="0"/>
              </a:rPr>
              <a:t>Permanent N</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 agent</a:t>
            </a:r>
          </a:p>
          <a:p>
            <a:pPr lvl="1">
              <a:lnSpc>
                <a:spcPct val="100000"/>
              </a:lnSpc>
            </a:pPr>
            <a:r>
              <a:rPr lang="en-US" sz="2000" dirty="0">
                <a:latin typeface="Arial" panose="020B0604020202020204" pitchFamily="34" charset="0"/>
                <a:cs typeface="Arial" panose="020B0604020202020204" pitchFamily="34" charset="0"/>
              </a:rPr>
              <a:t>Dissolvable N</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 agent – disappears after reporting information to the N</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a:t>
            </a:r>
          </a:p>
          <a:p>
            <a:pPr>
              <a:lnSpc>
                <a:spcPct val="100000"/>
              </a:lnSpc>
            </a:pPr>
            <a:r>
              <a:rPr lang="en-US" dirty="0">
                <a:latin typeface="Arial" panose="020B0604020202020204" pitchFamily="34" charset="0"/>
                <a:cs typeface="Arial" panose="020B0604020202020204" pitchFamily="34" charset="0"/>
              </a:rPr>
              <a:t>N</a:t>
            </a:r>
            <a:r>
              <a:rPr lang="en-US" sz="1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C technology can be embedded within a Microsoft Windows Active Directory domain controller</a:t>
            </a:r>
          </a:p>
          <a:p>
            <a:pPr lvl="1">
              <a:lnSpc>
                <a:spcPct val="100000"/>
              </a:lnSpc>
            </a:pPr>
            <a:r>
              <a:rPr lang="en-US" sz="2000" dirty="0">
                <a:latin typeface="Arial" panose="020B0604020202020204" pitchFamily="34" charset="0"/>
                <a:cs typeface="Arial" panose="020B0604020202020204" pitchFamily="34" charset="0"/>
              </a:rPr>
              <a:t>N</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 uses 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 (Active Directory) to scan the device (called agentless N</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C)</a:t>
            </a:r>
          </a:p>
        </p:txBody>
      </p:sp>
      <p:sp>
        <p:nvSpPr>
          <p:cNvPr id="5" name="TextBox 4">
            <a:extLst>
              <a:ext uri="{FF2B5EF4-FFF2-40B4-BE49-F238E27FC236}">
                <a16:creationId xmlns:a16="http://schemas.microsoft.com/office/drawing/2014/main" id="{89A9616F-D6D2-CDFB-BBF9-5E8910846DE5}"/>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95</a:t>
            </a:r>
            <a:endParaRPr lang="en-CA" dirty="0">
              <a:solidFill>
                <a:schemeClr val="bg1"/>
              </a:solidFill>
            </a:endParaRPr>
          </a:p>
        </p:txBody>
      </p:sp>
    </p:spTree>
    <p:extLst>
      <p:ext uri="{BB962C8B-B14F-4D97-AF65-F5344CB8AC3E}">
        <p14:creationId xmlns:p14="http://schemas.microsoft.com/office/powerpoint/2010/main" val="42416865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Network Access Control (N</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A</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C) (3 of 3)</a:t>
            </a:r>
          </a:p>
        </p:txBody>
      </p:sp>
      <p:pic>
        <p:nvPicPr>
          <p:cNvPr id="6" name="Picture 5" descr="Figure 6-11 Network access control ( N A C ) framework. An illustration shows the network access control or n ay c framework. 1. Security self-assessment by system health agent; 2. Statement of health is sent to health registration authority which connects to the antivirus server and the patch management server; step 3. Health certificate issued to client from the health registration authority; step 4. Health certificate presented to all network servers; step 5. If there no health certificate, the client is sent to quarantin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14800" y="1447800"/>
            <a:ext cx="4107180" cy="4529444"/>
          </a:xfrm>
          <a:prstGeom prst="rect">
            <a:avLst/>
          </a:prstGeom>
        </p:spPr>
      </p:pic>
      <p:sp>
        <p:nvSpPr>
          <p:cNvPr id="3" name="TextBox 2">
            <a:extLst>
              <a:ext uri="{FF2B5EF4-FFF2-40B4-BE49-F238E27FC236}">
                <a16:creationId xmlns:a16="http://schemas.microsoft.com/office/drawing/2014/main" id="{4884D1BD-A90F-4C81-800B-7B6A9BFDE078}"/>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96</a:t>
            </a:r>
            <a:endParaRPr lang="en-CA" dirty="0">
              <a:solidFill>
                <a:schemeClr val="bg1"/>
              </a:solidFill>
            </a:endParaRPr>
          </a:p>
        </p:txBody>
      </p:sp>
      <p:sp>
        <p:nvSpPr>
          <p:cNvPr id="7" name="Rectangle 6">
            <a:extLst>
              <a:ext uri="{FF2B5EF4-FFF2-40B4-BE49-F238E27FC236}">
                <a16:creationId xmlns:a16="http://schemas.microsoft.com/office/drawing/2014/main" id="{05AC4ADC-A00B-D5D2-EA21-4D7D1CC54973}"/>
              </a:ext>
            </a:extLst>
          </p:cNvPr>
          <p:cNvSpPr/>
          <p:nvPr/>
        </p:nvSpPr>
        <p:spPr>
          <a:xfrm>
            <a:off x="3048000" y="5828761"/>
            <a:ext cx="1981200" cy="6635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7718437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Data Loss Prevention (D</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L</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P) (1 of 3)</a:t>
            </a:r>
          </a:p>
        </p:txBody>
      </p:sp>
      <p:sp>
        <p:nvSpPr>
          <p:cNvPr id="3" name="Content Placeholder 2"/>
          <p:cNvSpPr>
            <a:spLocks noGrp="1"/>
          </p:cNvSpPr>
          <p:nvPr>
            <p:ph idx="1"/>
          </p:nvPr>
        </p:nvSpPr>
        <p:spPr>
          <a:xfrm>
            <a:off x="1889125" y="1538819"/>
            <a:ext cx="8415338" cy="3770263"/>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D</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a:t>
            </a:r>
          </a:p>
          <a:p>
            <a:pPr lvl="1">
              <a:lnSpc>
                <a:spcPct val="100000"/>
              </a:lnSpc>
            </a:pPr>
            <a:r>
              <a:rPr lang="en-US" sz="2000" dirty="0">
                <a:latin typeface="Arial" panose="020B0604020202020204" pitchFamily="34" charset="0"/>
                <a:cs typeface="Arial" panose="020B0604020202020204" pitchFamily="34" charset="0"/>
              </a:rPr>
              <a:t>A system of security tools that is used to recognize and identify data that is critical to the organization</a:t>
            </a:r>
          </a:p>
          <a:p>
            <a:pPr lvl="1">
              <a:lnSpc>
                <a:spcPct val="100000"/>
              </a:lnSpc>
            </a:pPr>
            <a:r>
              <a:rPr lang="en-US" sz="2000" dirty="0">
                <a:latin typeface="Arial" panose="020B0604020202020204" pitchFamily="34" charset="0"/>
                <a:cs typeface="Arial" panose="020B0604020202020204" pitchFamily="34" charset="0"/>
              </a:rPr>
              <a:t>Ensures that it is protected</a:t>
            </a:r>
          </a:p>
          <a:p>
            <a:pPr>
              <a:lnSpc>
                <a:spcPct val="100000"/>
              </a:lnSpc>
            </a:pPr>
            <a:r>
              <a:rPr lang="en-US" dirty="0">
                <a:solidFill>
                  <a:schemeClr val="tx1"/>
                </a:solidFill>
                <a:latin typeface="Arial" panose="020B0604020202020204" pitchFamily="34" charset="0"/>
                <a:cs typeface="Arial" panose="020B0604020202020204" pitchFamily="34" charset="0"/>
              </a:rPr>
              <a:t>Two common uses of D</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a:t>
            </a:r>
          </a:p>
          <a:p>
            <a:pPr lvl="1">
              <a:lnSpc>
                <a:spcPct val="100000"/>
              </a:lnSpc>
            </a:pPr>
            <a:r>
              <a:rPr lang="en-US" sz="2000" dirty="0">
                <a:latin typeface="Arial" panose="020B0604020202020204" pitchFamily="34" charset="0"/>
                <a:cs typeface="Arial" panose="020B0604020202020204" pitchFamily="34" charset="0"/>
              </a:rPr>
              <a:t>Monitoring emails through a mail gateway</a:t>
            </a:r>
          </a:p>
          <a:p>
            <a:pPr lvl="1">
              <a:lnSpc>
                <a:spcPct val="100000"/>
              </a:lnSpc>
            </a:pPr>
            <a:r>
              <a:rPr lang="en-US" sz="2000" dirty="0">
                <a:latin typeface="Arial" panose="020B0604020202020204" pitchFamily="34" charset="0"/>
                <a:cs typeface="Arial" panose="020B0604020202020204" pitchFamily="34" charset="0"/>
              </a:rPr>
              <a:t>Blocking the copying of files to a U</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 flash drive (U</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 blocking)</a:t>
            </a:r>
          </a:p>
          <a:p>
            <a:pPr>
              <a:lnSpc>
                <a:spcPct val="100000"/>
              </a:lnSpc>
            </a:pPr>
            <a:r>
              <a:rPr lang="en-US" dirty="0">
                <a:solidFill>
                  <a:schemeClr val="tx1"/>
                </a:solidFill>
                <a:latin typeface="Arial" panose="020B0604020202020204" pitchFamily="34" charset="0"/>
                <a:cs typeface="Arial" panose="020B0604020202020204" pitchFamily="34" charset="0"/>
              </a:rPr>
              <a:t>Most D</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 systems use </a:t>
            </a:r>
            <a:r>
              <a:rPr lang="en-US" b="1" dirty="0">
                <a:solidFill>
                  <a:schemeClr val="tx1"/>
                </a:solidFill>
                <a:latin typeface="Arial" panose="020B0604020202020204" pitchFamily="34" charset="0"/>
                <a:cs typeface="Arial" panose="020B0604020202020204" pitchFamily="34" charset="0"/>
              </a:rPr>
              <a:t>content inspection</a:t>
            </a:r>
          </a:p>
          <a:p>
            <a:pPr lvl="1">
              <a:lnSpc>
                <a:spcPct val="100000"/>
              </a:lnSpc>
            </a:pPr>
            <a:r>
              <a:rPr lang="en-US" sz="2000" dirty="0">
                <a:latin typeface="Arial" panose="020B0604020202020204" pitchFamily="34" charset="0"/>
                <a:cs typeface="Arial" panose="020B0604020202020204" pitchFamily="34" charset="0"/>
              </a:rPr>
              <a:t>Defined as a security analysis of the transaction within its approved context</a:t>
            </a:r>
          </a:p>
        </p:txBody>
      </p:sp>
      <p:sp>
        <p:nvSpPr>
          <p:cNvPr id="5" name="TextBox 4">
            <a:extLst>
              <a:ext uri="{FF2B5EF4-FFF2-40B4-BE49-F238E27FC236}">
                <a16:creationId xmlns:a16="http://schemas.microsoft.com/office/drawing/2014/main" id="{7258D18C-ED82-D199-7FC0-F483673438B2}"/>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97</a:t>
            </a:r>
            <a:endParaRPr lang="en-CA" dirty="0">
              <a:solidFill>
                <a:schemeClr val="bg1"/>
              </a:solidFill>
            </a:endParaRPr>
          </a:p>
        </p:txBody>
      </p:sp>
    </p:spTree>
    <p:extLst>
      <p:ext uri="{BB962C8B-B14F-4D97-AF65-F5344CB8AC3E}">
        <p14:creationId xmlns:p14="http://schemas.microsoft.com/office/powerpoint/2010/main" val="21136925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Data Loss Prevention (D</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L</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P) (2 of 3)</a:t>
            </a:r>
          </a:p>
        </p:txBody>
      </p:sp>
      <p:sp>
        <p:nvSpPr>
          <p:cNvPr id="3" name="Content Placeholder 2"/>
          <p:cNvSpPr>
            <a:spLocks noGrp="1"/>
          </p:cNvSpPr>
          <p:nvPr>
            <p:ph idx="1"/>
          </p:nvPr>
        </p:nvSpPr>
        <p:spPr>
          <a:xfrm>
            <a:off x="1889125" y="1538818"/>
            <a:ext cx="8415338" cy="3462486"/>
          </a:xfrm>
        </p:spPr>
        <p:txBody>
          <a:bodyPr>
            <a:normAutofit fontScale="92500"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Content inspection looks at not only the security level of data, but also:</a:t>
            </a:r>
          </a:p>
          <a:p>
            <a:pPr lvl="1">
              <a:lnSpc>
                <a:spcPct val="100000"/>
              </a:lnSpc>
            </a:pPr>
            <a:r>
              <a:rPr lang="en-US" sz="2000" dirty="0">
                <a:latin typeface="Arial" panose="020B0604020202020204" pitchFamily="34" charset="0"/>
                <a:cs typeface="Arial" panose="020B0604020202020204" pitchFamily="34" charset="0"/>
              </a:rPr>
              <a:t>Who is requesting it</a:t>
            </a:r>
          </a:p>
          <a:p>
            <a:pPr lvl="1">
              <a:lnSpc>
                <a:spcPct val="100000"/>
              </a:lnSpc>
            </a:pPr>
            <a:r>
              <a:rPr lang="en-US" sz="2000" dirty="0">
                <a:latin typeface="Arial" panose="020B0604020202020204" pitchFamily="34" charset="0"/>
                <a:cs typeface="Arial" panose="020B0604020202020204" pitchFamily="34" charset="0"/>
              </a:rPr>
              <a:t>Where the data is stored</a:t>
            </a:r>
          </a:p>
          <a:p>
            <a:pPr lvl="1">
              <a:lnSpc>
                <a:spcPct val="100000"/>
              </a:lnSpc>
            </a:pPr>
            <a:r>
              <a:rPr lang="en-US" sz="2000" dirty="0">
                <a:latin typeface="Arial" panose="020B0604020202020204" pitchFamily="34" charset="0"/>
                <a:cs typeface="Arial" panose="020B0604020202020204" pitchFamily="34" charset="0"/>
              </a:rPr>
              <a:t>When it was requested</a:t>
            </a:r>
          </a:p>
          <a:p>
            <a:pPr lvl="1">
              <a:lnSpc>
                <a:spcPct val="100000"/>
              </a:lnSpc>
            </a:pPr>
            <a:r>
              <a:rPr lang="en-US" sz="2000" dirty="0">
                <a:latin typeface="Arial" panose="020B0604020202020204" pitchFamily="34" charset="0"/>
                <a:cs typeface="Arial" panose="020B0604020202020204" pitchFamily="34" charset="0"/>
              </a:rPr>
              <a:t>Where it is going</a:t>
            </a:r>
          </a:p>
          <a:p>
            <a:pPr>
              <a:lnSpc>
                <a:spcPct val="100000"/>
              </a:lnSpc>
            </a:pPr>
            <a:r>
              <a:rPr lang="en-US" dirty="0">
                <a:solidFill>
                  <a:schemeClr val="tx1"/>
                </a:solidFill>
                <a:latin typeface="Arial" panose="020B0604020202020204" pitchFamily="34" charset="0"/>
                <a:cs typeface="Arial" panose="020B0604020202020204" pitchFamily="34" charset="0"/>
              </a:rPr>
              <a:t>Three types of D</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 sensors:</a:t>
            </a:r>
          </a:p>
          <a:p>
            <a:pPr lvl="1">
              <a:lnSpc>
                <a:spcPct val="100000"/>
              </a:lnSpc>
            </a:pPr>
            <a:r>
              <a:rPr lang="en-US" sz="2000" dirty="0">
                <a:latin typeface="Arial" panose="020B0604020202020204" pitchFamily="34" charset="0"/>
                <a:cs typeface="Arial" panose="020B0604020202020204" pitchFamily="34" charset="0"/>
              </a:rPr>
              <a:t>D</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network sensors</a:t>
            </a:r>
          </a:p>
          <a:p>
            <a:pPr lvl="1">
              <a:lnSpc>
                <a:spcPct val="100000"/>
              </a:lnSpc>
            </a:pPr>
            <a:r>
              <a:rPr lang="en-US" sz="2000" dirty="0">
                <a:latin typeface="Arial" panose="020B0604020202020204" pitchFamily="34" charset="0"/>
                <a:cs typeface="Arial" panose="020B0604020202020204" pitchFamily="34" charset="0"/>
              </a:rPr>
              <a:t>D</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storage sensors</a:t>
            </a:r>
          </a:p>
          <a:p>
            <a:pPr lvl="1">
              <a:lnSpc>
                <a:spcPct val="100000"/>
              </a:lnSpc>
            </a:pPr>
            <a:r>
              <a:rPr lang="en-US" sz="2000" dirty="0">
                <a:latin typeface="Arial" panose="020B0604020202020204" pitchFamily="34" charset="0"/>
                <a:cs typeface="Arial" panose="020B0604020202020204" pitchFamily="34" charset="0"/>
              </a:rPr>
              <a:t>D</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agent sensors</a:t>
            </a:r>
          </a:p>
        </p:txBody>
      </p:sp>
      <p:sp>
        <p:nvSpPr>
          <p:cNvPr id="5" name="TextBox 4">
            <a:extLst>
              <a:ext uri="{FF2B5EF4-FFF2-40B4-BE49-F238E27FC236}">
                <a16:creationId xmlns:a16="http://schemas.microsoft.com/office/drawing/2014/main" id="{BA611989-B8E1-8D24-676C-7247FD4490A8}"/>
              </a:ext>
            </a:extLst>
          </p:cNvPr>
          <p:cNvSpPr txBox="1"/>
          <p:nvPr/>
        </p:nvSpPr>
        <p:spPr>
          <a:xfrm>
            <a:off x="11049000" y="5791200"/>
            <a:ext cx="441146" cy="369332"/>
          </a:xfrm>
          <a:prstGeom prst="rect">
            <a:avLst/>
          </a:prstGeom>
          <a:noFill/>
        </p:spPr>
        <p:txBody>
          <a:bodyPr wrap="none" rtlCol="0">
            <a:spAutoFit/>
          </a:bodyPr>
          <a:lstStyle/>
          <a:p>
            <a:r>
              <a:rPr lang="en-GB" dirty="0">
                <a:solidFill>
                  <a:schemeClr val="bg1"/>
                </a:solidFill>
              </a:rPr>
              <a:t>98</a:t>
            </a:r>
            <a:endParaRPr lang="en-CA" dirty="0">
              <a:solidFill>
                <a:schemeClr val="bg1"/>
              </a:solidFill>
            </a:endParaRPr>
          </a:p>
        </p:txBody>
      </p:sp>
    </p:spTree>
    <p:extLst>
      <p:ext uri="{BB962C8B-B14F-4D97-AF65-F5344CB8AC3E}">
        <p14:creationId xmlns:p14="http://schemas.microsoft.com/office/powerpoint/2010/main" val="396721422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371249"/>
            <a:ext cx="8026400" cy="366254"/>
          </a:xfrm>
        </p:spPr>
        <p:txBody>
          <a:bodyPr>
            <a:normAutofit fontScale="90000"/>
          </a:bodyPr>
          <a:lstStyle/>
          <a:p>
            <a:r>
              <a:rPr lang="en-US" sz="2800" b="1" dirty="0">
                <a:solidFill>
                  <a:srgbClr val="0080A9"/>
                </a:solidFill>
                <a:latin typeface="Arial" panose="020B0604020202020204" pitchFamily="34" charset="0"/>
                <a:cs typeface="Arial" panose="020B0604020202020204" pitchFamily="34" charset="0"/>
              </a:rPr>
              <a:t>Data Loss Prevention (D</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L</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P) (3 of 3)</a:t>
            </a:r>
          </a:p>
        </p:txBody>
      </p:sp>
      <p:sp>
        <p:nvSpPr>
          <p:cNvPr id="3" name="Content Placeholder 2"/>
          <p:cNvSpPr>
            <a:spLocks noGrp="1"/>
          </p:cNvSpPr>
          <p:nvPr>
            <p:ph idx="1"/>
          </p:nvPr>
        </p:nvSpPr>
        <p:spPr>
          <a:xfrm>
            <a:off x="1889125" y="1538819"/>
            <a:ext cx="8415338" cy="2693045"/>
          </a:xfrm>
        </p:spPr>
        <p:txBody>
          <a:bodyPr>
            <a:normAutofit lnSpcReduction="10000"/>
          </a:bodyPr>
          <a:lstStyle/>
          <a:p>
            <a:pPr>
              <a:lnSpc>
                <a:spcPct val="100000"/>
              </a:lnSpc>
            </a:pPr>
            <a:r>
              <a:rPr lang="en-US" dirty="0">
                <a:solidFill>
                  <a:schemeClr val="tx1"/>
                </a:solidFill>
                <a:latin typeface="Arial" panose="020B0604020202020204" pitchFamily="34" charset="0"/>
                <a:cs typeface="Arial" panose="020B0604020202020204" pitchFamily="34" charset="0"/>
              </a:rPr>
              <a:t>When a policy violation is detected by the D</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P agent</a:t>
            </a:r>
          </a:p>
          <a:p>
            <a:pPr lvl="1">
              <a:lnSpc>
                <a:spcPct val="100000"/>
              </a:lnSpc>
            </a:pPr>
            <a:r>
              <a:rPr lang="en-US" sz="2000" dirty="0">
                <a:latin typeface="Arial" panose="020B0604020202020204" pitchFamily="34" charset="0"/>
                <a:cs typeface="Arial" panose="020B0604020202020204" pitchFamily="34" charset="0"/>
              </a:rPr>
              <a:t>It is reported back to the D</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a:t>
            </a:r>
            <a:r>
              <a:rPr lang="en-US" sz="1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 server</a:t>
            </a:r>
          </a:p>
          <a:p>
            <a:pPr>
              <a:lnSpc>
                <a:spcPct val="100000"/>
              </a:lnSpc>
            </a:pPr>
            <a:r>
              <a:rPr lang="en-US" dirty="0">
                <a:solidFill>
                  <a:schemeClr val="tx1"/>
                </a:solidFill>
                <a:latin typeface="Arial" panose="020B0604020202020204" pitchFamily="34" charset="0"/>
                <a:cs typeface="Arial" panose="020B0604020202020204" pitchFamily="34" charset="0"/>
              </a:rPr>
              <a:t>Different actions can be taken:</a:t>
            </a:r>
          </a:p>
          <a:p>
            <a:pPr lvl="1">
              <a:lnSpc>
                <a:spcPct val="100000"/>
              </a:lnSpc>
            </a:pPr>
            <a:r>
              <a:rPr lang="en-US" sz="2000" dirty="0">
                <a:latin typeface="Arial" panose="020B0604020202020204" pitchFamily="34" charset="0"/>
                <a:cs typeface="Arial" panose="020B0604020202020204" pitchFamily="34" charset="0"/>
              </a:rPr>
              <a:t>Block the data</a:t>
            </a:r>
          </a:p>
          <a:p>
            <a:pPr lvl="1">
              <a:lnSpc>
                <a:spcPct val="100000"/>
              </a:lnSpc>
            </a:pPr>
            <a:r>
              <a:rPr lang="en-US" sz="2000" dirty="0">
                <a:latin typeface="Arial" panose="020B0604020202020204" pitchFamily="34" charset="0"/>
                <a:cs typeface="Arial" panose="020B0604020202020204" pitchFamily="34" charset="0"/>
              </a:rPr>
              <a:t>Redirect it to an individual who can examine the request</a:t>
            </a:r>
          </a:p>
          <a:p>
            <a:pPr lvl="1">
              <a:lnSpc>
                <a:spcPct val="100000"/>
              </a:lnSpc>
            </a:pPr>
            <a:r>
              <a:rPr lang="en-US" sz="2000" dirty="0">
                <a:latin typeface="Arial" panose="020B0604020202020204" pitchFamily="34" charset="0"/>
                <a:cs typeface="Arial" panose="020B0604020202020204" pitchFamily="34" charset="0"/>
              </a:rPr>
              <a:t>Quarantine the data until later</a:t>
            </a:r>
          </a:p>
          <a:p>
            <a:pPr lvl="1">
              <a:lnSpc>
                <a:spcPct val="100000"/>
              </a:lnSpc>
            </a:pPr>
            <a:r>
              <a:rPr lang="en-US" sz="2000" dirty="0">
                <a:latin typeface="Arial" panose="020B0604020202020204" pitchFamily="34" charset="0"/>
                <a:cs typeface="Arial" panose="020B0604020202020204" pitchFamily="34" charset="0"/>
              </a:rPr>
              <a:t>Alert a supervisor of the request</a:t>
            </a:r>
          </a:p>
        </p:txBody>
      </p:sp>
      <p:sp>
        <p:nvSpPr>
          <p:cNvPr id="6" name="TextBox 5">
            <a:extLst>
              <a:ext uri="{FF2B5EF4-FFF2-40B4-BE49-F238E27FC236}">
                <a16:creationId xmlns:a16="http://schemas.microsoft.com/office/drawing/2014/main" id="{E9BE2732-5756-9775-4009-CEA2981480C6}"/>
              </a:ext>
            </a:extLst>
          </p:cNvPr>
          <p:cNvSpPr txBox="1"/>
          <p:nvPr/>
        </p:nvSpPr>
        <p:spPr>
          <a:xfrm>
            <a:off x="10972800" y="5791200"/>
            <a:ext cx="441146" cy="369332"/>
          </a:xfrm>
          <a:prstGeom prst="rect">
            <a:avLst/>
          </a:prstGeom>
          <a:noFill/>
        </p:spPr>
        <p:txBody>
          <a:bodyPr wrap="none" rtlCol="0">
            <a:spAutoFit/>
          </a:bodyPr>
          <a:lstStyle/>
          <a:p>
            <a:r>
              <a:rPr lang="en-GB" dirty="0">
                <a:solidFill>
                  <a:schemeClr val="bg1"/>
                </a:solidFill>
              </a:rPr>
              <a:t>99</a:t>
            </a:r>
            <a:endParaRPr lang="en-CA" dirty="0">
              <a:solidFill>
                <a:schemeClr val="bg1"/>
              </a:solidFill>
            </a:endParaRPr>
          </a:p>
        </p:txBody>
      </p:sp>
    </p:spTree>
    <p:extLst>
      <p:ext uri="{BB962C8B-B14F-4D97-AF65-F5344CB8AC3E}">
        <p14:creationId xmlns:p14="http://schemas.microsoft.com/office/powerpoint/2010/main" val="170077581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15445</TotalTime>
  <Words>8373</Words>
  <Application>Microsoft Office PowerPoint</Application>
  <PresentationFormat>Widescreen</PresentationFormat>
  <Paragraphs>970</Paragraphs>
  <Slides>99</Slides>
  <Notes>13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99</vt:i4>
      </vt:variant>
    </vt:vector>
  </HeadingPairs>
  <TitlesOfParts>
    <vt:vector size="110" baseType="lpstr">
      <vt:lpstr>Aptos</vt:lpstr>
      <vt:lpstr>Aptos Display</vt:lpstr>
      <vt:lpstr>Arial</vt:lpstr>
      <vt:lpstr>Calibri</vt:lpstr>
      <vt:lpstr>Century Schoolbook</vt:lpstr>
      <vt:lpstr>Courier New</vt:lpstr>
      <vt:lpstr>Google Sans</vt:lpstr>
      <vt:lpstr>Wingdings</vt:lpstr>
      <vt:lpstr>Wingdings 2</vt:lpstr>
      <vt:lpstr>Office Theme</vt:lpstr>
      <vt:lpstr>Oriel</vt:lpstr>
      <vt:lpstr>Chapter 6</vt:lpstr>
      <vt:lpstr>Chapter Outline</vt:lpstr>
      <vt:lpstr>Difference Between a Network and a Stand-alone Device</vt:lpstr>
      <vt:lpstr>Networks Typical Characteristics</vt:lpstr>
      <vt:lpstr>Networks Dimensions</vt:lpstr>
      <vt:lpstr>Networks Protocols</vt:lpstr>
      <vt:lpstr>Networks Protocols (cont.)</vt:lpstr>
      <vt:lpstr>Networks Protocols (cont.)</vt:lpstr>
      <vt:lpstr>Networks Protocols (cont.)</vt:lpstr>
      <vt:lpstr>Networks Protocols (cont.)</vt:lpstr>
      <vt:lpstr>Networks Protocols (cont.)</vt:lpstr>
      <vt:lpstr>Networks Protocols (cont.)</vt:lpstr>
      <vt:lpstr>Networks Protocols (cont.)</vt:lpstr>
      <vt:lpstr>Networks Protocols (cont.)</vt:lpstr>
      <vt:lpstr>Types of Networks</vt:lpstr>
      <vt:lpstr>Types of Networks (cont.)</vt:lpstr>
      <vt:lpstr>Types of Networks (cont.)</vt:lpstr>
      <vt:lpstr>Types of Networks (cont.)</vt:lpstr>
      <vt:lpstr>Threats in Networks</vt:lpstr>
      <vt:lpstr>Threats in Networks (cont.)</vt:lpstr>
      <vt:lpstr>Threats in Networks (cont.)</vt:lpstr>
      <vt:lpstr>Threats in Networks (cont.)</vt:lpstr>
      <vt:lpstr>Motives of Attackers</vt:lpstr>
      <vt:lpstr>Precursors to an Attack</vt:lpstr>
      <vt:lpstr>Precursors to an Attack (cont.)</vt:lpstr>
      <vt:lpstr>Precursors to an Attack (cont.)</vt:lpstr>
      <vt:lpstr>Type of Attacks</vt:lpstr>
      <vt:lpstr>Type of Attacks (cont.)</vt:lpstr>
      <vt:lpstr>Type of Attacks (cont.)</vt:lpstr>
      <vt:lpstr>Web Site Vulnerabilities</vt:lpstr>
      <vt:lpstr>Denial of Service (DOS Attack)</vt:lpstr>
      <vt:lpstr>Denial of Service (DOS Attack) (cont.)</vt:lpstr>
      <vt:lpstr>Denial of Service (DOS Attack) (cont.)</vt:lpstr>
      <vt:lpstr>Denial of Service (DOS Attack) (cont.)</vt:lpstr>
      <vt:lpstr>Denial of Service (DOS Attack) (cont.)</vt:lpstr>
      <vt:lpstr>Cookies and Scripts</vt:lpstr>
      <vt:lpstr>Active Code</vt:lpstr>
      <vt:lpstr>Network Security Controls</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Virtual Private Network (V P N) Concentrator (1 of 2)</vt:lpstr>
      <vt:lpstr>Virtual Private Network (V P N) Concentrator (2 of 2)</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Network Security Controls (cont.)</vt:lpstr>
      <vt:lpstr>Firewalls</vt:lpstr>
      <vt:lpstr>Firewalls (cont.)</vt:lpstr>
      <vt:lpstr>Firewalls (cont.)</vt:lpstr>
      <vt:lpstr>Firewalls (cont.)</vt:lpstr>
      <vt:lpstr>Firewalls (cont.)</vt:lpstr>
      <vt:lpstr>Firewalls (cont.)</vt:lpstr>
      <vt:lpstr>Firewalls (cont.)</vt:lpstr>
      <vt:lpstr>Intrusion Detection Systems (IDS)</vt:lpstr>
      <vt:lpstr>Intrusion Detection Systems (IDS) (cont.)</vt:lpstr>
      <vt:lpstr>Intrusion Detection Systems (IDS) (cont.)</vt:lpstr>
      <vt:lpstr>Intrusion Detection Systems (IDS) (cont.)</vt:lpstr>
      <vt:lpstr>Intrusion Detection Systems (IDS) (cont.)</vt:lpstr>
      <vt:lpstr>Intrusion Detection Systems (IDS) (cont.)</vt:lpstr>
      <vt:lpstr>Secure E-Mail</vt:lpstr>
      <vt:lpstr>Secure E-Mail (cont.)</vt:lpstr>
      <vt:lpstr>Secure E-Mail (cont.)</vt:lpstr>
      <vt:lpstr>Secure E-Mail (cont.)</vt:lpstr>
      <vt:lpstr>Secure E-Mail (cont.)</vt:lpstr>
      <vt:lpstr>Secure E-Mail (cont.)</vt:lpstr>
      <vt:lpstr>Secure E-Mail (cont.)</vt:lpstr>
      <vt:lpstr>Security and Information Event Management (S I E M) (1 of 3)</vt:lpstr>
      <vt:lpstr>Security and Information Event Management (S I E M) (2 of 3)</vt:lpstr>
      <vt:lpstr>Security and Information Event Management (S I E M) (3 of 3)</vt:lpstr>
      <vt:lpstr>Other Network Security Hardware Devices (1 of 2)</vt:lpstr>
      <vt:lpstr>Other Network Security Hardware Devices (2 of 2)</vt:lpstr>
      <vt:lpstr>Security Through Network Architecture</vt:lpstr>
      <vt:lpstr>Security Zones</vt:lpstr>
      <vt:lpstr>Demilitarized Zone (D M Z)</vt:lpstr>
      <vt:lpstr>Network Address Translation (N A T) (1 of 2)</vt:lpstr>
      <vt:lpstr>Network Address Translation (N A T) (2 of 2)</vt:lpstr>
      <vt:lpstr>Other Zones</vt:lpstr>
      <vt:lpstr>Network Segregation (1 of 2)</vt:lpstr>
      <vt:lpstr>Network Segregation (2 of 2)</vt:lpstr>
      <vt:lpstr>Security Through Network Technologies</vt:lpstr>
      <vt:lpstr>Network Access Control (N A C) (1 of 3)</vt:lpstr>
      <vt:lpstr>Network Access Control (N A C) (2 of 3)</vt:lpstr>
      <vt:lpstr>Network Access Control (N A C) (3 of 3)</vt:lpstr>
      <vt:lpstr>Data Loss Prevention (D L P) (1 of 3)</vt:lpstr>
      <vt:lpstr>Data Loss Prevention (D L P) (2 of 3)</vt:lpstr>
      <vt:lpstr>Data Loss Prevention (D L P) (3 of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amir hosein razavi</cp:lastModifiedBy>
  <cp:revision>52</cp:revision>
  <dcterms:created xsi:type="dcterms:W3CDTF">2024-09-18T16:20:15Z</dcterms:created>
  <dcterms:modified xsi:type="dcterms:W3CDTF">2024-10-10T19:15:55Z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2023-05-21T00:00:00Z</vt:filetime>
  </property>
  <property fmtid="{D5CDD505-2E9C-101B-9397-08002B2CF9AE}" pid="3" name="Creator">
    <vt:lpwstr>PDF24 Creator</vt:lpwstr>
  </property>
  <property fmtid="{D5CDD505-2E9C-101B-9397-08002B2CF9AE}" pid="4" name="LastSaved">
    <vt:filetime>2024-09-18T00:00:00Z</vt:filetime>
  </property>
  <property fmtid="{D5CDD505-2E9C-101B-9397-08002B2CF9AE}" pid="5" name="Producer">
    <vt:lpwstr>GPL Ghostscript 10.00.0</vt:lpwstr>
  </property>
</Properties>
</file>