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notesMasterIdLst>
    <p:notesMasterId r:id="rId21"/>
  </p:notesMasterIdLst>
  <p:sldIdLst>
    <p:sldId id="269" r:id="rId2"/>
    <p:sldId id="270" r:id="rId3"/>
    <p:sldId id="271" r:id="rId4"/>
    <p:sldId id="272" r:id="rId5"/>
    <p:sldId id="273" r:id="rId6"/>
    <p:sldId id="274" r:id="rId7"/>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44" autoAdjust="0"/>
    <p:restoredTop sz="86957" autoAdjust="0"/>
  </p:normalViewPr>
  <p:slideViewPr>
    <p:cSldViewPr snapToGrid="0">
      <p:cViewPr varScale="1">
        <p:scale>
          <a:sx n="71" d="100"/>
          <a:sy n="71" d="100"/>
        </p:scale>
        <p:origin x="42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88AB8-1C01-41DC-AFCA-28305AC61B27}" type="datetimeFigureOut">
              <a:rPr lang="fr-CA" smtClean="0"/>
              <a:t>2021-11-08</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F1DE7-72A5-40DE-843D-98ED1D33E9CB}" type="slidenum">
              <a:rPr lang="fr-CA" smtClean="0"/>
              <a:t>‹N°›</a:t>
            </a:fld>
            <a:endParaRPr lang="fr-CA"/>
          </a:p>
        </p:txBody>
      </p:sp>
    </p:spTree>
    <p:extLst>
      <p:ext uri="{BB962C8B-B14F-4D97-AF65-F5344CB8AC3E}">
        <p14:creationId xmlns:p14="http://schemas.microsoft.com/office/powerpoint/2010/main" val="711788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EBCAADC-90C4-42A0-92DD-A3EB1E3F99BC}" type="datetime1">
              <a:rPr lang="fr-CA" smtClean="0"/>
              <a:t>2021-11-08</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97135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2FE81BE-FF7C-4713-86B5-98B3635F7575}" type="datetime1">
              <a:rPr lang="fr-CA" smtClean="0"/>
              <a:t>2021-11-08</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425666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307F1A6-A103-49CB-B28A-B5B8CE7CCF08}" type="datetime1">
              <a:rPr lang="fr-CA" smtClean="0"/>
              <a:t>2021-11-08</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818711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7FE57F-B680-462B-BBFD-7518F74AF714}" type="datetime1">
              <a:rPr lang="fr-CA" smtClean="0"/>
              <a:t>2021-11-08</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046219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91B3B4F-1CE8-448C-951A-2E287C7816DA}" type="datetime1">
              <a:rPr lang="fr-CA" smtClean="0"/>
              <a:t>2021-11-08</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47481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F763F50-9144-44F9-A37F-D55A19808CF4}" type="datetime1">
              <a:rPr lang="fr-CA" smtClean="0"/>
              <a:t>2021-11-08</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93743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AB2447-19AC-45D2-83F5-5B12576F084D}" type="datetime1">
              <a:rPr lang="fr-CA" smtClean="0"/>
              <a:t>2021-11-08</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059948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17A9AF-12D3-47FA-A0D6-97746BB8E776}" type="datetime1">
              <a:rPr lang="fr-CA" smtClean="0"/>
              <a:t>2021-11-08</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331655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CF19D18-3682-4189-B23C-B8B496B3307C}" type="datetime1">
              <a:rPr lang="fr-CA" smtClean="0"/>
              <a:t>2021-11-08</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309409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6BEAFDA-2171-49C0-B449-3733417EA82F}" type="datetime1">
              <a:rPr lang="fr-CA" smtClean="0"/>
              <a:t>2021-11-08</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371225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9EBD924-29A3-4FF2-B149-61A5377F8882}" type="datetime1">
              <a:rPr lang="fr-CA" smtClean="0"/>
              <a:t>2021-11-08</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402387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418466-3607-4A57-8167-9FAB5784D41C}" type="datetime1">
              <a:rPr lang="fr-CA" smtClean="0"/>
              <a:t>2021-11-08</a:t>
            </a:fld>
            <a:endParaRPr lang="fr-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77AD9-CE17-438C-A638-C64D2D42D7CF}" type="slidenum">
              <a:rPr lang="fr-CA" smtClean="0"/>
              <a:t>‹N°›</a:t>
            </a:fld>
            <a:endParaRPr lang="fr-CA"/>
          </a:p>
        </p:txBody>
      </p:sp>
    </p:spTree>
    <p:extLst>
      <p:ext uri="{BB962C8B-B14F-4D97-AF65-F5344CB8AC3E}">
        <p14:creationId xmlns:p14="http://schemas.microsoft.com/office/powerpoint/2010/main" val="1533741373"/>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0.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56F5A5-858F-46CA-9BFD-D00A43A1C7B4}"/>
              </a:ext>
            </a:extLst>
          </p:cNvPr>
          <p:cNvSpPr>
            <a:spLocks noGrp="1"/>
          </p:cNvSpPr>
          <p:nvPr>
            <p:ph type="title"/>
          </p:nvPr>
        </p:nvSpPr>
        <p:spPr/>
        <p:txBody>
          <a:bodyPr/>
          <a:lstStyle/>
          <a:p>
            <a:r>
              <a:rPr lang="fr-CA" b="1" dirty="0"/>
              <a:t>Estimation d’une proportion par intervalle de confiance</a:t>
            </a:r>
          </a:p>
        </p:txBody>
      </p:sp>
      <p:sp>
        <p:nvSpPr>
          <p:cNvPr id="3" name="Espace réservé du pied de page 2">
            <a:extLst>
              <a:ext uri="{FF2B5EF4-FFF2-40B4-BE49-F238E27FC236}">
                <a16:creationId xmlns:a16="http://schemas.microsoft.com/office/drawing/2014/main" id="{720947A4-826B-445D-9AAA-AD54C03FFEDF}"/>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FD5C86AC-1A2A-4FC8-8B54-D33F8080B939}"/>
              </a:ext>
            </a:extLst>
          </p:cNvPr>
          <p:cNvSpPr>
            <a:spLocks noGrp="1"/>
          </p:cNvSpPr>
          <p:nvPr>
            <p:ph type="sldNum" sz="quarter" idx="12"/>
          </p:nvPr>
        </p:nvSpPr>
        <p:spPr/>
        <p:txBody>
          <a:bodyPr/>
          <a:lstStyle/>
          <a:p>
            <a:fld id="{26377AD9-CE17-438C-A638-C64D2D42D7CF}" type="slidenum">
              <a:rPr lang="fr-CA" smtClean="0"/>
              <a:t>1</a:t>
            </a:fld>
            <a:endParaRPr lang="fr-CA"/>
          </a:p>
        </p:txBody>
      </p:sp>
      <p:sp>
        <p:nvSpPr>
          <p:cNvPr id="5" name="ZoneTexte 4">
            <a:extLst>
              <a:ext uri="{FF2B5EF4-FFF2-40B4-BE49-F238E27FC236}">
                <a16:creationId xmlns:a16="http://schemas.microsoft.com/office/drawing/2014/main" id="{8C14A59C-59DF-4D94-B2B1-4BAB8A5098E4}"/>
              </a:ext>
            </a:extLst>
          </p:cNvPr>
          <p:cNvSpPr txBox="1"/>
          <p:nvPr/>
        </p:nvSpPr>
        <p:spPr>
          <a:xfrm>
            <a:off x="1264025" y="1690689"/>
            <a:ext cx="9762564" cy="369332"/>
          </a:xfrm>
          <a:prstGeom prst="rect">
            <a:avLst/>
          </a:prstGeom>
          <a:noFill/>
        </p:spPr>
        <p:txBody>
          <a:bodyPr wrap="square" rtlCol="0">
            <a:spAutoFit/>
          </a:bodyPr>
          <a:lstStyle/>
          <a:p>
            <a:r>
              <a:rPr lang="fr-CA" dirty="0"/>
              <a:t> </a:t>
            </a:r>
            <a:endParaRPr lang="fr-CA" b="1" dirty="0"/>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C10BA955-01C3-452A-998B-4086EF8FE738}"/>
                  </a:ext>
                </a:extLst>
              </p:cNvPr>
              <p:cNvSpPr txBox="1"/>
              <p:nvPr/>
            </p:nvSpPr>
            <p:spPr>
              <a:xfrm>
                <a:off x="1075766" y="1586753"/>
                <a:ext cx="9950824" cy="3753528"/>
              </a:xfrm>
              <a:prstGeom prst="rect">
                <a:avLst/>
              </a:prstGeom>
              <a:noFill/>
            </p:spPr>
            <p:txBody>
              <a:bodyPr wrap="square" rtlCol="0">
                <a:spAutoFit/>
              </a:bodyPr>
              <a:lstStyle/>
              <a:p>
                <a:r>
                  <a:rPr lang="fr-CA" dirty="0"/>
                  <a:t>Lorsqu’on s’intéresse à une proportion p (inconnue) dans une population, on a vu que si on prend un échantillon aléatoire de taille n et qu’on calcule la proportion de l’échantillon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𝑝</m:t>
                        </m:r>
                      </m:e>
                    </m:acc>
                  </m:oMath>
                </a14:m>
                <a:r>
                  <a:rPr lang="fr-CA" dirty="0"/>
                  <a:t> et que si:</a:t>
                </a: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&gt;30;</m:t>
                      </m:r>
                      <m:r>
                        <a:rPr lang="fr-CA" b="0" i="1" smtClean="0">
                          <a:latin typeface="Cambria Math" panose="02040503050406030204" pitchFamily="18" charset="0"/>
                          <a:ea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m:t>
                      </m:r>
                      <m:acc>
                        <m:accPr>
                          <m:chr m:val="̂"/>
                          <m:ctrlPr>
                            <a:rPr lang="fr-CA" b="0" i="1" smtClean="0">
                              <a:latin typeface="Cambria Math" panose="02040503050406030204" pitchFamily="18" charset="0"/>
                              <a:ea typeface="Cambria Math" panose="02040503050406030204" pitchFamily="18" charset="0"/>
                            </a:rPr>
                          </m:ctrlPr>
                        </m:accPr>
                        <m:e>
                          <m:r>
                            <a:rPr lang="fr-CA" b="0" i="1" smtClean="0">
                              <a:latin typeface="Cambria Math" panose="02040503050406030204" pitchFamily="18" charset="0"/>
                              <a:ea typeface="Cambria Math" panose="02040503050406030204" pitchFamily="18" charset="0"/>
                            </a:rPr>
                            <m:t>𝑝</m:t>
                          </m:r>
                        </m:e>
                      </m:acc>
                      <m:r>
                        <a:rPr lang="fr-CA" b="0" i="1" smtClean="0">
                          <a:latin typeface="Cambria Math" panose="02040503050406030204" pitchFamily="18" charset="0"/>
                          <a:ea typeface="Cambria Math" panose="02040503050406030204" pitchFamily="18" charset="0"/>
                        </a:rPr>
                        <m:t>&gt;5 </m:t>
                      </m:r>
                      <m:r>
                        <a:rPr lang="fr-CA" b="0" i="1" smtClean="0">
                          <a:latin typeface="Cambria Math" panose="02040503050406030204" pitchFamily="18" charset="0"/>
                          <a:ea typeface="Cambria Math" panose="02040503050406030204" pitchFamily="18" charset="0"/>
                        </a:rPr>
                        <m:t>𝑒𝑡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∗(1−</m:t>
                      </m:r>
                      <m:acc>
                        <m:accPr>
                          <m:chr m:val="̂"/>
                          <m:ctrlPr>
                            <a:rPr lang="fr-CA" b="0" i="1" smtClean="0">
                              <a:latin typeface="Cambria Math" panose="02040503050406030204" pitchFamily="18" charset="0"/>
                              <a:ea typeface="Cambria Math" panose="02040503050406030204" pitchFamily="18" charset="0"/>
                            </a:rPr>
                          </m:ctrlPr>
                        </m:accPr>
                        <m:e>
                          <m:r>
                            <a:rPr lang="fr-CA" b="0" i="1" smtClean="0">
                              <a:latin typeface="Cambria Math" panose="02040503050406030204" pitchFamily="18" charset="0"/>
                              <a:ea typeface="Cambria Math" panose="02040503050406030204" pitchFamily="18" charset="0"/>
                            </a:rPr>
                            <m:t>𝑝</m:t>
                          </m:r>
                        </m:e>
                      </m:acc>
                      <m:r>
                        <a:rPr lang="fr-CA" b="0" i="1" smtClean="0">
                          <a:latin typeface="Cambria Math" panose="02040503050406030204" pitchFamily="18" charset="0"/>
                        </a:rPr>
                        <m:t>)</m:t>
                      </m:r>
                      <m:r>
                        <a:rPr lang="fr-CA" b="0" i="1" smtClean="0">
                          <a:latin typeface="Cambria Math" panose="02040503050406030204" pitchFamily="18" charset="0"/>
                          <a:ea typeface="Cambria Math" panose="02040503050406030204" pitchFamily="18" charset="0"/>
                        </a:rPr>
                        <m:t>&gt;5</m:t>
                      </m:r>
                    </m:oMath>
                  </m:oMathPara>
                </a14:m>
                <a:endParaRPr lang="fr-CA" dirty="0"/>
              </a:p>
              <a:p>
                <a:r>
                  <a:rPr lang="fr-CA" dirty="0"/>
                  <a:t>Alors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𝑝</m:t>
                        </m:r>
                      </m:e>
                    </m:acc>
                  </m:oMath>
                </a14:m>
                <a:r>
                  <a:rPr lang="fr-CA" dirty="0"/>
                  <a:t> est un estimateur sans biais de p et en plus elle est normalement distribuée avec une moyenne p et un écart type </a:t>
                </a:r>
                <a14:m>
                  <m:oMath xmlns:m="http://schemas.openxmlformats.org/officeDocument/2006/math">
                    <m:rad>
                      <m:radPr>
                        <m:degHide m:val="on"/>
                        <m:ctrlPr>
                          <a:rPr lang="fr-CA" i="1" smtClean="0">
                            <a:latin typeface="Cambria Math" panose="02040503050406030204" pitchFamily="18" charset="0"/>
                          </a:rPr>
                        </m:ctrlPr>
                      </m:radPr>
                      <m:deg/>
                      <m:e>
                        <m:f>
                          <m:fPr>
                            <m:ctrlPr>
                              <a:rPr lang="fr-CA" i="1" smtClean="0">
                                <a:latin typeface="Cambria Math" panose="02040503050406030204" pitchFamily="18" charset="0"/>
                              </a:rPr>
                            </m:ctrlPr>
                          </m:fPr>
                          <m:num>
                            <m:r>
                              <a:rPr lang="fr-CA" b="0" i="1" smtClean="0">
                                <a:latin typeface="Cambria Math" panose="02040503050406030204" pitchFamily="18" charset="0"/>
                              </a:rPr>
                              <m:t>𝑝</m:t>
                            </m:r>
                            <m:r>
                              <a:rPr lang="fr-CA" b="0" i="1" smtClean="0">
                                <a:latin typeface="Cambria Math" panose="02040503050406030204" pitchFamily="18" charset="0"/>
                              </a:rPr>
                              <m:t>(1−</m:t>
                            </m:r>
                            <m:r>
                              <a:rPr lang="fr-CA" b="0" i="1" smtClean="0">
                                <a:latin typeface="Cambria Math" panose="02040503050406030204" pitchFamily="18" charset="0"/>
                              </a:rPr>
                              <m:t>𝑝</m:t>
                            </m:r>
                            <m:r>
                              <a:rPr lang="fr-CA" b="0" i="1" smtClean="0">
                                <a:latin typeface="Cambria Math" panose="02040503050406030204" pitchFamily="18" charset="0"/>
                              </a:rPr>
                              <m:t>)</m:t>
                            </m:r>
                          </m:num>
                          <m:den>
                            <m:r>
                              <a:rPr lang="fr-CA" b="0" i="1" smtClean="0">
                                <a:latin typeface="Cambria Math" panose="02040503050406030204" pitchFamily="18" charset="0"/>
                              </a:rPr>
                              <m:t>𝑛</m:t>
                            </m:r>
                          </m:den>
                        </m:f>
                      </m:e>
                    </m:rad>
                    <m:r>
                      <a:rPr lang="fr-CA" b="0" i="1" smtClean="0">
                        <a:latin typeface="Cambria Math" panose="02040503050406030204" pitchFamily="18" charset="0"/>
                      </a:rPr>
                      <m:t>  </m:t>
                    </m:r>
                  </m:oMath>
                </a14:m>
                <a:r>
                  <a:rPr lang="fr-CA" dirty="0"/>
                  <a:t>et alors si on la standardise on obtient:</a:t>
                </a: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𝑍</m:t>
                      </m:r>
                      <m:r>
                        <a:rPr lang="fr-CA" b="0" i="1" smtClean="0">
                          <a:latin typeface="Cambria Math" panose="02040503050406030204" pitchFamily="18" charset="0"/>
                        </a:rPr>
                        <m:t>=</m:t>
                      </m:r>
                      <m:f>
                        <m:fPr>
                          <m:ctrlPr>
                            <a:rPr lang="fr-CA" b="0" i="1" smtClean="0">
                              <a:latin typeface="Cambria Math" panose="02040503050406030204" pitchFamily="18" charset="0"/>
                            </a:rPr>
                          </m:ctrlPr>
                        </m:fPr>
                        <m:num>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𝑝</m:t>
                              </m:r>
                            </m:e>
                          </m:acc>
                          <m:r>
                            <a:rPr lang="fr-CA" b="0" i="1" smtClean="0">
                              <a:latin typeface="Cambria Math" panose="02040503050406030204" pitchFamily="18" charset="0"/>
                            </a:rPr>
                            <m:t>−</m:t>
                          </m:r>
                          <m:r>
                            <a:rPr lang="fr-CA" b="0" i="1" smtClean="0">
                              <a:latin typeface="Cambria Math" panose="02040503050406030204" pitchFamily="18" charset="0"/>
                            </a:rPr>
                            <m:t>𝑝</m:t>
                          </m:r>
                        </m:num>
                        <m:den>
                          <m:rad>
                            <m:radPr>
                              <m:degHide m:val="on"/>
                              <m:ctrlPr>
                                <a:rPr lang="fr-CA" i="1">
                                  <a:latin typeface="Cambria Math" panose="02040503050406030204" pitchFamily="18" charset="0"/>
                                </a:rPr>
                              </m:ctrlPr>
                            </m:radPr>
                            <m:deg/>
                            <m:e>
                              <m:f>
                                <m:fPr>
                                  <m:ctrlPr>
                                    <a:rPr lang="fr-CA" i="1">
                                      <a:latin typeface="Cambria Math" panose="02040503050406030204" pitchFamily="18" charset="0"/>
                                    </a:rPr>
                                  </m:ctrlPr>
                                </m:fPr>
                                <m:num>
                                  <m:r>
                                    <a:rPr lang="fr-CA" i="1">
                                      <a:latin typeface="Cambria Math" panose="02040503050406030204" pitchFamily="18" charset="0"/>
                                    </a:rPr>
                                    <m:t>𝑝</m:t>
                                  </m:r>
                                  <m:r>
                                    <a:rPr lang="fr-CA" i="1">
                                      <a:latin typeface="Cambria Math" panose="02040503050406030204" pitchFamily="18" charset="0"/>
                                    </a:rPr>
                                    <m:t>(1−</m:t>
                                  </m:r>
                                  <m:r>
                                    <a:rPr lang="fr-CA" i="1">
                                      <a:latin typeface="Cambria Math" panose="02040503050406030204" pitchFamily="18" charset="0"/>
                                    </a:rPr>
                                    <m:t>𝑝</m:t>
                                  </m:r>
                                  <m:r>
                                    <a:rPr lang="fr-CA" i="1">
                                      <a:latin typeface="Cambria Math" panose="02040503050406030204" pitchFamily="18" charset="0"/>
                                    </a:rPr>
                                    <m:t>)</m:t>
                                  </m:r>
                                </m:num>
                                <m:den>
                                  <m:r>
                                    <a:rPr lang="fr-CA" i="1">
                                      <a:latin typeface="Cambria Math" panose="02040503050406030204" pitchFamily="18" charset="0"/>
                                    </a:rPr>
                                    <m:t>𝑛</m:t>
                                  </m:r>
                                </m:den>
                              </m:f>
                            </m:e>
                          </m:rad>
                        </m:den>
                      </m:f>
                    </m:oMath>
                  </m:oMathPara>
                </a14:m>
                <a:endParaRPr lang="fr-CA" dirty="0"/>
              </a:p>
              <a:p>
                <a:r>
                  <a:rPr lang="fr-CA" dirty="0"/>
                  <a:t>Cette variable est symétrique par rapport à zéro, Donc si on se fixe un seuil de signification </a:t>
                </a:r>
                <a14:m>
                  <m:oMath xmlns:m="http://schemas.openxmlformats.org/officeDocument/2006/math">
                    <m:r>
                      <a:rPr lang="fr-CA" i="1" smtClean="0">
                        <a:latin typeface="Cambria Math" panose="02040503050406030204" pitchFamily="18" charset="0"/>
                        <a:ea typeface="Cambria Math" panose="02040503050406030204" pitchFamily="18" charset="0"/>
                      </a:rPr>
                      <m:t>𝛼</m:t>
                    </m:r>
                  </m:oMath>
                </a14:m>
                <a:r>
                  <a:rPr lang="fr-CA" dirty="0"/>
                  <a:t>. On peut démontrer qu’un intervalle de confiance de niveau </a:t>
                </a:r>
                <a14:m>
                  <m:oMath xmlns:m="http://schemas.openxmlformats.org/officeDocument/2006/math">
                    <m:d>
                      <m:dPr>
                        <m:ctrlPr>
                          <a:rPr lang="fr-CA" b="0" i="1" smtClean="0">
                            <a:latin typeface="Cambria Math" panose="02040503050406030204" pitchFamily="18" charset="0"/>
                          </a:rPr>
                        </m:ctrlPr>
                      </m:dPr>
                      <m:e>
                        <m:r>
                          <a:rPr lang="fr-CA" b="0" i="1" smtClean="0">
                            <a:latin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𝛼</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𝑝𝑜𝑢𝑟</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𝑒𝑠𝑡𝑖𝑚𝑒𝑟</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𝑝</m:t>
                    </m:r>
                  </m:oMath>
                </a14:m>
                <a:r>
                  <a:rPr lang="fr-CA" dirty="0"/>
                  <a:t> est:</a:t>
                </a:r>
              </a:p>
              <a:p>
                <a14:m>
                  <m:oMath xmlns:m="http://schemas.openxmlformats.org/officeDocument/2006/math">
                    <m:d>
                      <m:dPr>
                        <m:begChr m:val="["/>
                        <m:endChr m:val="]"/>
                        <m:ctrlPr>
                          <a:rPr lang="fr-CA" i="1" smtClean="0">
                            <a:latin typeface="Cambria Math" panose="02040503050406030204" pitchFamily="18" charset="0"/>
                          </a:rPr>
                        </m:ctrlPr>
                      </m:dPr>
                      <m:e>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𝑝</m:t>
                            </m:r>
                          </m:e>
                        </m:acc>
                        <m:r>
                          <a:rPr lang="fr-CA" b="0" i="1" smtClean="0">
                            <a:latin typeface="Cambria Math" panose="02040503050406030204" pitchFamily="18" charset="0"/>
                          </a:rPr>
                          <m:t>−</m:t>
                        </m:r>
                        <m:r>
                          <a:rPr lang="fr-CA" b="0" i="1" smtClean="0">
                            <a:latin typeface="Cambria Math" panose="02040503050406030204" pitchFamily="18" charset="0"/>
                          </a:rPr>
                          <m:t>𝐸</m:t>
                        </m:r>
                        <m:r>
                          <a:rPr lang="fr-CA" b="0" i="1" smtClean="0">
                            <a:latin typeface="Cambria Math" panose="02040503050406030204" pitchFamily="18" charset="0"/>
                          </a:rPr>
                          <m:t>: </m:t>
                        </m:r>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𝑝</m:t>
                            </m:r>
                          </m:e>
                        </m:acc>
                        <m:r>
                          <a:rPr lang="fr-CA" b="0" i="1" smtClean="0">
                            <a:latin typeface="Cambria Math" panose="02040503050406030204" pitchFamily="18" charset="0"/>
                          </a:rPr>
                          <m:t>+</m:t>
                        </m:r>
                        <m:r>
                          <a:rPr lang="fr-CA" b="0" i="1" smtClean="0">
                            <a:latin typeface="Cambria Math" panose="02040503050406030204" pitchFamily="18" charset="0"/>
                          </a:rPr>
                          <m:t>𝐸</m:t>
                        </m:r>
                      </m:e>
                    </m:d>
                  </m:oMath>
                </a14:m>
                <a:r>
                  <a:rPr lang="fr-CA" dirty="0"/>
                  <a:t> avec  </a:t>
                </a:r>
                <a14:m>
                  <m:oMath xmlns:m="http://schemas.openxmlformats.org/officeDocument/2006/math">
                    <m:r>
                      <a:rPr lang="fr-CA" b="0" i="1" smtClean="0">
                        <a:latin typeface="Cambria Math" panose="02040503050406030204" pitchFamily="18" charset="0"/>
                      </a:rPr>
                      <m:t>𝐸</m:t>
                    </m:r>
                    <m:r>
                      <a:rPr lang="fr-CA" b="0" i="1" smtClean="0">
                        <a:latin typeface="Cambria Math" panose="02040503050406030204" pitchFamily="18" charset="0"/>
                      </a:rPr>
                      <m:t>=</m:t>
                    </m:r>
                    <m:r>
                      <a:rPr lang="fr-CA" b="0" i="1" smtClean="0">
                        <a:latin typeface="Cambria Math" panose="02040503050406030204" pitchFamily="18" charset="0"/>
                      </a:rPr>
                      <m:t>𝑙𝑎</m:t>
                    </m:r>
                    <m:r>
                      <a:rPr lang="fr-CA" b="0" i="1" smtClean="0">
                        <a:latin typeface="Cambria Math" panose="02040503050406030204" pitchFamily="18" charset="0"/>
                      </a:rPr>
                      <m:t> </m:t>
                    </m:r>
                    <m:r>
                      <a:rPr lang="fr-CA" b="0" i="1" smtClean="0">
                        <a:latin typeface="Cambria Math" panose="02040503050406030204" pitchFamily="18" charset="0"/>
                      </a:rPr>
                      <m:t>𝑚𝑎𝑟𝑔𝑒</m:t>
                    </m:r>
                    <m:r>
                      <a:rPr lang="fr-CA" b="0" i="1" smtClean="0">
                        <a:latin typeface="Cambria Math" panose="02040503050406030204" pitchFamily="18" charset="0"/>
                      </a:rPr>
                      <m:t> </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𝑑</m:t>
                        </m:r>
                      </m:e>
                      <m:sup>
                        <m:r>
                          <a:rPr lang="fr-CA" b="0" i="1" smtClean="0">
                            <a:latin typeface="Cambria Math" panose="02040503050406030204" pitchFamily="18" charset="0"/>
                          </a:rPr>
                          <m:t>′</m:t>
                        </m:r>
                      </m:sup>
                    </m:sSup>
                    <m:r>
                      <a:rPr lang="fr-CA" b="0" i="1" smtClean="0">
                        <a:latin typeface="Cambria Math" panose="02040503050406030204" pitchFamily="18" charset="0"/>
                      </a:rPr>
                      <m:t>𝑒𝑟𝑟𝑒𝑢𝑟</m:t>
                    </m:r>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𝑧</m:t>
                        </m:r>
                      </m:e>
                      <m:sub>
                        <m:r>
                          <a:rPr lang="fr-CA" b="0" i="1" smtClean="0">
                            <a:latin typeface="Cambria Math" panose="02040503050406030204" pitchFamily="18" charset="0"/>
                            <a:ea typeface="Cambria Math" panose="02040503050406030204" pitchFamily="18" charset="0"/>
                          </a:rPr>
                          <m:t>𝛼</m:t>
                        </m:r>
                        <m:r>
                          <a:rPr lang="fr-CA" b="0" i="1" smtClean="0">
                            <a:latin typeface="Cambria Math" panose="02040503050406030204" pitchFamily="18" charset="0"/>
                            <a:ea typeface="Cambria Math" panose="02040503050406030204" pitchFamily="18" charset="0"/>
                          </a:rPr>
                          <m:t>/2</m:t>
                        </m:r>
                      </m:sub>
                    </m:sSub>
                    <m:rad>
                      <m:radPr>
                        <m:degHide m:val="on"/>
                        <m:ctrlPr>
                          <a:rPr lang="fr-CA" b="0" i="1" smtClean="0">
                            <a:latin typeface="Cambria Math" panose="02040503050406030204" pitchFamily="18" charset="0"/>
                          </a:rPr>
                        </m:ctrlPr>
                      </m:radPr>
                      <m:deg/>
                      <m:e>
                        <m:f>
                          <m:fPr>
                            <m:ctrlPr>
                              <a:rPr lang="fr-CA" b="0" i="1" smtClean="0">
                                <a:latin typeface="Cambria Math" panose="02040503050406030204" pitchFamily="18" charset="0"/>
                              </a:rPr>
                            </m:ctrlPr>
                          </m:fPr>
                          <m:num>
                            <m:r>
                              <a:rPr lang="fr-CA" b="0" i="1" smtClean="0">
                                <a:latin typeface="Cambria Math" panose="02040503050406030204" pitchFamily="18" charset="0"/>
                              </a:rPr>
                              <m:t>𝑝</m:t>
                            </m:r>
                            <m:r>
                              <a:rPr lang="fr-CA" b="0" i="1" smtClean="0">
                                <a:latin typeface="Cambria Math" panose="02040503050406030204" pitchFamily="18" charset="0"/>
                              </a:rPr>
                              <m:t>(1−</m:t>
                            </m:r>
                            <m:r>
                              <a:rPr lang="fr-CA" b="0" i="1" smtClean="0">
                                <a:latin typeface="Cambria Math" panose="02040503050406030204" pitchFamily="18" charset="0"/>
                              </a:rPr>
                              <m:t>𝑝</m:t>
                            </m:r>
                            <m:r>
                              <a:rPr lang="fr-CA" b="0" i="1" smtClean="0">
                                <a:latin typeface="Cambria Math" panose="02040503050406030204" pitchFamily="18" charset="0"/>
                              </a:rPr>
                              <m:t>)</m:t>
                            </m:r>
                          </m:num>
                          <m:den>
                            <m:r>
                              <a:rPr lang="fr-CA" b="0" i="1" smtClean="0">
                                <a:latin typeface="Cambria Math" panose="02040503050406030204" pitchFamily="18" charset="0"/>
                              </a:rPr>
                              <m:t>𝑛</m:t>
                            </m:r>
                          </m:den>
                        </m:f>
                      </m:e>
                    </m:rad>
                    <m:r>
                      <a:rPr lang="fr-CA" b="0" i="1" smtClean="0">
                        <a:latin typeface="Cambria Math" panose="02040503050406030204" pitchFamily="18" charset="0"/>
                        <a:ea typeface="Cambria Math" panose="02040503050406030204" pitchFamily="18" charset="0"/>
                      </a:rPr>
                      <m:t>~</m:t>
                    </m:r>
                  </m:oMath>
                </a14:m>
                <a:r>
                  <a:rPr lang="fr-CA" dirty="0"/>
                  <a:t> </a:t>
                </a:r>
                <a14:m>
                  <m:oMath xmlns:m="http://schemas.openxmlformats.org/officeDocument/2006/math">
                    <m:sSub>
                      <m:sSubPr>
                        <m:ctrlPr>
                          <a:rPr lang="fr-CA" i="1">
                            <a:latin typeface="Cambria Math" panose="02040503050406030204" pitchFamily="18" charset="0"/>
                          </a:rPr>
                        </m:ctrlPr>
                      </m:sSubPr>
                      <m:e>
                        <m:r>
                          <a:rPr lang="fr-CA" i="1">
                            <a:latin typeface="Cambria Math" panose="02040503050406030204" pitchFamily="18" charset="0"/>
                          </a:rPr>
                          <m:t>𝑧</m:t>
                        </m:r>
                      </m:e>
                      <m:sub>
                        <m:r>
                          <a:rPr lang="fr-CA" i="1">
                            <a:latin typeface="Cambria Math" panose="02040503050406030204" pitchFamily="18" charset="0"/>
                            <a:ea typeface="Cambria Math" panose="02040503050406030204" pitchFamily="18" charset="0"/>
                          </a:rPr>
                          <m:t>𝛼</m:t>
                        </m:r>
                        <m:r>
                          <a:rPr lang="fr-CA" i="1">
                            <a:latin typeface="Cambria Math" panose="02040503050406030204" pitchFamily="18" charset="0"/>
                            <a:ea typeface="Cambria Math" panose="02040503050406030204" pitchFamily="18" charset="0"/>
                          </a:rPr>
                          <m:t>/2</m:t>
                        </m:r>
                      </m:sub>
                    </m:sSub>
                    <m:rad>
                      <m:radPr>
                        <m:degHide m:val="on"/>
                        <m:ctrlPr>
                          <a:rPr lang="fr-CA" i="1" smtClean="0">
                            <a:latin typeface="Cambria Math" panose="02040503050406030204" pitchFamily="18" charset="0"/>
                            <a:ea typeface="Cambria Math" panose="02040503050406030204" pitchFamily="18" charset="0"/>
                          </a:rPr>
                        </m:ctrlPr>
                      </m:radPr>
                      <m:deg/>
                      <m:e>
                        <m:f>
                          <m:fPr>
                            <m:ctrlPr>
                              <a:rPr lang="fr-CA" i="1" smtClean="0">
                                <a:latin typeface="Cambria Math" panose="02040503050406030204" pitchFamily="18" charset="0"/>
                                <a:ea typeface="Cambria Math" panose="02040503050406030204" pitchFamily="18" charset="0"/>
                              </a:rPr>
                            </m:ctrlPr>
                          </m:fPr>
                          <m:num>
                            <m:acc>
                              <m:accPr>
                                <m:chr m:val="̂"/>
                                <m:ctrlPr>
                                  <a:rPr lang="fr-CA" i="1" smtClean="0">
                                    <a:latin typeface="Cambria Math" panose="02040503050406030204" pitchFamily="18" charset="0"/>
                                    <a:ea typeface="Cambria Math" panose="02040503050406030204" pitchFamily="18" charset="0"/>
                                  </a:rPr>
                                </m:ctrlPr>
                              </m:accPr>
                              <m:e>
                                <m:r>
                                  <a:rPr lang="fr-CA" b="0" i="1" smtClean="0">
                                    <a:latin typeface="Cambria Math" panose="02040503050406030204" pitchFamily="18" charset="0"/>
                                    <a:ea typeface="Cambria Math" panose="02040503050406030204" pitchFamily="18" charset="0"/>
                                  </a:rPr>
                                  <m:t>𝑝</m:t>
                                </m:r>
                              </m:e>
                            </m:acc>
                            <m:r>
                              <a:rPr lang="fr-CA" b="0" i="1" smtClean="0">
                                <a:latin typeface="Cambria Math" panose="02040503050406030204" pitchFamily="18" charset="0"/>
                              </a:rPr>
                              <m:t>(1−</m:t>
                            </m:r>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𝑝</m:t>
                                </m:r>
                              </m:e>
                            </m:acc>
                            <m:r>
                              <a:rPr lang="fr-CA" b="0" i="1" smtClean="0">
                                <a:latin typeface="Cambria Math" panose="02040503050406030204" pitchFamily="18" charset="0"/>
                              </a:rPr>
                              <m:t>)</m:t>
                            </m:r>
                          </m:num>
                          <m:den>
                            <m:r>
                              <a:rPr lang="fr-CA" b="0" i="1" smtClean="0">
                                <a:latin typeface="Cambria Math" panose="02040503050406030204" pitchFamily="18" charset="0"/>
                                <a:ea typeface="Cambria Math" panose="02040503050406030204" pitchFamily="18" charset="0"/>
                              </a:rPr>
                              <m:t>𝑛</m:t>
                            </m:r>
                          </m:den>
                        </m:f>
                      </m:e>
                    </m:rad>
                  </m:oMath>
                </a14:m>
                <a:endParaRPr lang="fr-CA" dirty="0"/>
              </a:p>
            </p:txBody>
          </p:sp>
        </mc:Choice>
        <mc:Fallback xmlns="">
          <p:sp>
            <p:nvSpPr>
              <p:cNvPr id="6" name="ZoneTexte 5">
                <a:extLst>
                  <a:ext uri="{FF2B5EF4-FFF2-40B4-BE49-F238E27FC236}">
                    <a16:creationId xmlns:a16="http://schemas.microsoft.com/office/drawing/2014/main" id="{C10BA955-01C3-452A-998B-4086EF8FE738}"/>
                  </a:ext>
                </a:extLst>
              </p:cNvPr>
              <p:cNvSpPr txBox="1">
                <a:spLocks noRot="1" noChangeAspect="1" noMove="1" noResize="1" noEditPoints="1" noAdjustHandles="1" noChangeArrowheads="1" noChangeShapeType="1" noTextEdit="1"/>
              </p:cNvSpPr>
              <p:nvPr/>
            </p:nvSpPr>
            <p:spPr>
              <a:xfrm>
                <a:off x="1075766" y="1586753"/>
                <a:ext cx="9950824" cy="3753528"/>
              </a:xfrm>
              <a:prstGeom prst="rect">
                <a:avLst/>
              </a:prstGeom>
              <a:blipFill>
                <a:blip r:embed="rId2"/>
                <a:stretch>
                  <a:fillRect l="-490" t="-812" r="-306"/>
                </a:stretch>
              </a:blipFill>
            </p:spPr>
            <p:txBody>
              <a:bodyPr/>
              <a:lstStyle/>
              <a:p>
                <a:r>
                  <a:rPr lang="fr-CA">
                    <a:noFill/>
                  </a:rPr>
                  <a:t> </a:t>
                </a:r>
              </a:p>
            </p:txBody>
          </p:sp>
        </mc:Fallback>
      </mc:AlternateContent>
    </p:spTree>
    <p:extLst>
      <p:ext uri="{BB962C8B-B14F-4D97-AF65-F5344CB8AC3E}">
        <p14:creationId xmlns:p14="http://schemas.microsoft.com/office/powerpoint/2010/main" val="605648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64B356-6020-4BE8-8653-67768176ED92}"/>
              </a:ext>
            </a:extLst>
          </p:cNvPr>
          <p:cNvSpPr>
            <a:spLocks noGrp="1"/>
          </p:cNvSpPr>
          <p:nvPr>
            <p:ph type="title"/>
          </p:nvPr>
        </p:nvSpPr>
        <p:spPr>
          <a:xfrm>
            <a:off x="838200" y="365125"/>
            <a:ext cx="10515600" cy="2660463"/>
          </a:xfrm>
        </p:spPr>
        <p:txBody>
          <a:bodyPr>
            <a:normAutofit/>
          </a:bodyPr>
          <a:lstStyle/>
          <a:p>
            <a:r>
              <a:rPr lang="fr-CA" dirty="0"/>
              <a:t>Exemple 1: </a:t>
            </a:r>
            <a:r>
              <a:rPr lang="fr-FR" sz="1800" dirty="0">
                <a:solidFill>
                  <a:srgbClr val="000000"/>
                </a:solidFill>
                <a:effectLst/>
                <a:latin typeface="Times New Roman" panose="02020603050405020304" pitchFamily="18" charset="0"/>
                <a:ea typeface="Times New Roman" panose="02020603050405020304" pitchFamily="18" charset="0"/>
              </a:rPr>
              <a:t>Quelques jours avant les élections fédérales de mai 2011, un sondage a été mené auprès de 1 120 électeurs québécois ; parmi eux, 404 ont déclaré qu’ils allaient voter pour le Nouveau Parti démocratique (NPD). On doit déterminer un intervalle de confiance de niveau 95 % de la proportion des Québécois qui ont l’intention de voter pour ce parti (si la tendance se maintient).</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2A95E279-A754-4B40-BF0C-5BA3DD8724B3}"/>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564B1728-20AA-4244-A644-9CEE5D36D8A7}"/>
              </a:ext>
            </a:extLst>
          </p:cNvPr>
          <p:cNvSpPr>
            <a:spLocks noGrp="1"/>
          </p:cNvSpPr>
          <p:nvPr>
            <p:ph type="sldNum" sz="quarter" idx="12"/>
          </p:nvPr>
        </p:nvSpPr>
        <p:spPr/>
        <p:txBody>
          <a:bodyPr/>
          <a:lstStyle/>
          <a:p>
            <a:fld id="{26377AD9-CE17-438C-A638-C64D2D42D7CF}" type="slidenum">
              <a:rPr lang="fr-CA" smtClean="0"/>
              <a:t>2</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71470B97-4689-4CAC-8E37-E95A9EA434C3}"/>
                  </a:ext>
                </a:extLst>
              </p:cNvPr>
              <p:cNvSpPr txBox="1"/>
              <p:nvPr/>
            </p:nvSpPr>
            <p:spPr>
              <a:xfrm>
                <a:off x="1062318" y="2581835"/>
                <a:ext cx="10408023" cy="3268011"/>
              </a:xfrm>
              <a:prstGeom prst="rect">
                <a:avLst/>
              </a:prstGeom>
              <a:noFill/>
            </p:spPr>
            <p:txBody>
              <a:bodyPr wrap="square" rtlCol="0">
                <a:spAutoFit/>
              </a:bodyPr>
              <a:lstStyle/>
              <a:p>
                <a:r>
                  <a:rPr lang="fr-CA" dirty="0"/>
                  <a:t>Réponse: </a:t>
                </a:r>
                <a:r>
                  <a:rPr lang="fr-FR" sz="1800" dirty="0">
                    <a:solidFill>
                      <a:srgbClr val="000000"/>
                    </a:solidFill>
                    <a:effectLst/>
                    <a:latin typeface="Times New Roman" panose="02020603050405020304" pitchFamily="18" charset="0"/>
                    <a:ea typeface="Times New Roman" panose="02020603050405020304" pitchFamily="18" charset="0"/>
                  </a:rPr>
                  <a:t>La proportion de cet échantillon des électeurs favorables au NPD est : </a:t>
                </a:r>
                <a14:m>
                  <m:oMath xmlns:m="http://schemas.openxmlformats.org/officeDocument/2006/math">
                    <m:acc>
                      <m:accPr>
                        <m:chr m:val="̂"/>
                        <m:ctrlPr>
                          <a:rPr lang="fr-FR" sz="1800" i="1" smtClean="0">
                            <a:solidFill>
                              <a:srgbClr val="000000"/>
                            </a:solidFill>
                            <a:effectLst/>
                            <a:latin typeface="Cambria Math" panose="02040503050406030204" pitchFamily="18" charset="0"/>
                          </a:rPr>
                        </m:ctrlPr>
                      </m:accPr>
                      <m:e>
                        <m:r>
                          <a:rPr lang="fr-CA" sz="1800" b="0" i="1" smtClean="0">
                            <a:solidFill>
                              <a:srgbClr val="000000"/>
                            </a:solidFill>
                            <a:effectLst/>
                            <a:latin typeface="Cambria Math" panose="02040503050406030204" pitchFamily="18" charset="0"/>
                          </a:rPr>
                          <m:t>𝑝</m:t>
                        </m:r>
                      </m:e>
                    </m:acc>
                    <m:r>
                      <a:rPr lang="fr-CA" sz="1800" b="0" i="1" smtClean="0">
                        <a:solidFill>
                          <a:srgbClr val="000000"/>
                        </a:solidFill>
                        <a:effectLst/>
                        <a:latin typeface="Cambria Math" panose="02040503050406030204" pitchFamily="18" charset="0"/>
                      </a:rPr>
                      <m:t>=</m:t>
                    </m:r>
                    <m:f>
                      <m:fPr>
                        <m:ctrlPr>
                          <a:rPr lang="fr-CA" sz="1800" b="0" i="1" smtClean="0">
                            <a:solidFill>
                              <a:srgbClr val="000000"/>
                            </a:solidFill>
                            <a:effectLst/>
                            <a:latin typeface="Cambria Math" panose="02040503050406030204" pitchFamily="18" charset="0"/>
                          </a:rPr>
                        </m:ctrlPr>
                      </m:fPr>
                      <m:num>
                        <m:r>
                          <a:rPr lang="fr-CA" sz="1800" b="0" i="1" smtClean="0">
                            <a:solidFill>
                              <a:srgbClr val="000000"/>
                            </a:solidFill>
                            <a:effectLst/>
                            <a:latin typeface="Cambria Math" panose="02040503050406030204" pitchFamily="18" charset="0"/>
                          </a:rPr>
                          <m:t>404</m:t>
                        </m:r>
                      </m:num>
                      <m:den>
                        <m:r>
                          <a:rPr lang="fr-CA" sz="1800" b="0" i="1" smtClean="0">
                            <a:solidFill>
                              <a:srgbClr val="000000"/>
                            </a:solidFill>
                            <a:effectLst/>
                            <a:latin typeface="Cambria Math" panose="02040503050406030204" pitchFamily="18" charset="0"/>
                          </a:rPr>
                          <m:t>1120</m:t>
                        </m:r>
                      </m:den>
                    </m:f>
                    <m:r>
                      <a:rPr lang="fr-CA" sz="1800" b="0" i="1" smtClean="0">
                        <a:solidFill>
                          <a:srgbClr val="000000"/>
                        </a:solidFill>
                        <a:effectLst/>
                        <a:latin typeface="Cambria Math" panose="02040503050406030204" pitchFamily="18" charset="0"/>
                      </a:rPr>
                      <m:t>=0,3607</m:t>
                    </m:r>
                  </m:oMath>
                </a14:m>
                <a:r>
                  <a:rPr lang="fr-CA" sz="1800" dirty="0">
                    <a:solidFill>
                      <a:srgbClr val="000000"/>
                    </a:solidFill>
                    <a:effectLst/>
                    <a:latin typeface="Times New Roman" panose="02020603050405020304" pitchFamily="18" charset="0"/>
                    <a:ea typeface="Times New Roman" panose="02020603050405020304" pitchFamily="18" charset="0"/>
                  </a:rPr>
                  <a:t>.</a:t>
                </a:r>
              </a:p>
              <a:p>
                <a:r>
                  <a:rPr lang="fr-CA" dirty="0">
                    <a:solidFill>
                      <a:srgbClr val="000000"/>
                    </a:solidFill>
                    <a:latin typeface="Times New Roman" panose="02020603050405020304" pitchFamily="18" charset="0"/>
                    <a:ea typeface="Times New Roman" panose="02020603050405020304" pitchFamily="18" charset="0"/>
                  </a:rPr>
                  <a:t>On a </a:t>
                </a:r>
                <a14:m>
                  <m:oMath xmlns:m="http://schemas.openxmlformats.org/officeDocument/2006/math">
                    <m:r>
                      <a:rPr lang="fr-CA" b="0" i="1" smtClean="0">
                        <a:solidFill>
                          <a:srgbClr val="000000"/>
                        </a:solidFill>
                        <a:latin typeface="Cambria Math" panose="02040503050406030204" pitchFamily="18" charset="0"/>
                        <a:ea typeface="Times New Roman" panose="02020603050405020304" pitchFamily="18" charset="0"/>
                      </a:rPr>
                      <m:t>𝑛</m:t>
                    </m:r>
                    <m:r>
                      <a:rPr lang="fr-CA" b="0" i="1" smtClean="0">
                        <a:solidFill>
                          <a:srgbClr val="000000"/>
                        </a:solidFill>
                        <a:latin typeface="Cambria Math" panose="02040503050406030204" pitchFamily="18" charset="0"/>
                        <a:ea typeface="Times New Roman" panose="02020603050405020304" pitchFamily="18" charset="0"/>
                      </a:rPr>
                      <m:t>=1120&gt;30;</m:t>
                    </m:r>
                    <m:r>
                      <a:rPr lang="fr-CA" b="0" i="1" smtClean="0">
                        <a:solidFill>
                          <a:srgbClr val="000000"/>
                        </a:solidFill>
                        <a:latin typeface="Cambria Math" panose="02040503050406030204" pitchFamily="18" charset="0"/>
                        <a:ea typeface="Cambria Math" panose="02040503050406030204" pitchFamily="18" charset="0"/>
                      </a:rPr>
                      <m:t>𝑛</m:t>
                    </m:r>
                    <m:r>
                      <a:rPr lang="fr-CA" b="0" i="1" smtClean="0">
                        <a:solidFill>
                          <a:srgbClr val="000000"/>
                        </a:solidFill>
                        <a:latin typeface="Cambria Math" panose="02040503050406030204" pitchFamily="18" charset="0"/>
                        <a:ea typeface="Cambria Math" panose="02040503050406030204" pitchFamily="18" charset="0"/>
                      </a:rPr>
                      <m:t>∗</m:t>
                    </m:r>
                    <m:acc>
                      <m:accPr>
                        <m:chr m:val="̂"/>
                        <m:ctrlPr>
                          <a:rPr lang="fr-CA" b="0" i="1" smtClean="0">
                            <a:solidFill>
                              <a:srgbClr val="000000"/>
                            </a:solidFill>
                            <a:latin typeface="Cambria Math" panose="02040503050406030204" pitchFamily="18" charset="0"/>
                            <a:ea typeface="Cambria Math" panose="02040503050406030204" pitchFamily="18" charset="0"/>
                          </a:rPr>
                        </m:ctrlPr>
                      </m:accPr>
                      <m:e>
                        <m:r>
                          <a:rPr lang="fr-CA" b="0" i="1" smtClean="0">
                            <a:solidFill>
                              <a:srgbClr val="000000"/>
                            </a:solidFill>
                            <a:latin typeface="Cambria Math" panose="02040503050406030204" pitchFamily="18" charset="0"/>
                            <a:ea typeface="Cambria Math" panose="02040503050406030204" pitchFamily="18" charset="0"/>
                          </a:rPr>
                          <m:t>𝑝</m:t>
                        </m:r>
                      </m:e>
                    </m:acc>
                    <m:r>
                      <a:rPr lang="fr-CA" b="0" i="1" smtClean="0">
                        <a:solidFill>
                          <a:srgbClr val="000000"/>
                        </a:solidFill>
                        <a:latin typeface="Cambria Math" panose="02040503050406030204" pitchFamily="18" charset="0"/>
                      </a:rPr>
                      <m:t>=404</m:t>
                    </m:r>
                    <m:r>
                      <a:rPr lang="fr-CA" b="0" i="1" smtClean="0">
                        <a:solidFill>
                          <a:srgbClr val="000000"/>
                        </a:solidFill>
                        <a:latin typeface="Cambria Math" panose="02040503050406030204" pitchFamily="18" charset="0"/>
                        <a:ea typeface="Cambria Math" panose="02040503050406030204" pitchFamily="18" charset="0"/>
                      </a:rPr>
                      <m:t>&gt;5  </m:t>
                    </m:r>
                    <m:r>
                      <a:rPr lang="fr-CA" b="0" i="1" smtClean="0">
                        <a:solidFill>
                          <a:srgbClr val="000000"/>
                        </a:solidFill>
                        <a:latin typeface="Cambria Math" panose="02040503050406030204" pitchFamily="18" charset="0"/>
                        <a:ea typeface="Cambria Math" panose="02040503050406030204" pitchFamily="18" charset="0"/>
                      </a:rPr>
                      <m:t>𝑒𝑡</m:t>
                    </m:r>
                    <m:r>
                      <a:rPr lang="fr-CA" b="0" i="1" smtClean="0">
                        <a:solidFill>
                          <a:srgbClr val="000000"/>
                        </a:solidFill>
                        <a:latin typeface="Cambria Math" panose="02040503050406030204" pitchFamily="18" charset="0"/>
                        <a:ea typeface="Cambria Math" panose="02040503050406030204" pitchFamily="18" charset="0"/>
                      </a:rPr>
                      <m:t> </m:t>
                    </m:r>
                    <m:r>
                      <a:rPr lang="fr-CA" b="0" i="1" smtClean="0">
                        <a:solidFill>
                          <a:srgbClr val="000000"/>
                        </a:solidFill>
                        <a:latin typeface="Cambria Math" panose="02040503050406030204" pitchFamily="18" charset="0"/>
                        <a:ea typeface="Cambria Math" panose="02040503050406030204" pitchFamily="18" charset="0"/>
                      </a:rPr>
                      <m:t>𝑛</m:t>
                    </m:r>
                    <m:r>
                      <a:rPr lang="fr-CA" b="0" i="1" smtClean="0">
                        <a:solidFill>
                          <a:srgbClr val="000000"/>
                        </a:solidFill>
                        <a:latin typeface="Cambria Math" panose="02040503050406030204" pitchFamily="18" charset="0"/>
                        <a:ea typeface="Cambria Math" panose="02040503050406030204" pitchFamily="18" charset="0"/>
                      </a:rPr>
                      <m:t>∗</m:t>
                    </m:r>
                    <m:d>
                      <m:dPr>
                        <m:ctrlPr>
                          <a:rPr lang="fr-CA" b="0" i="1" smtClean="0">
                            <a:solidFill>
                              <a:srgbClr val="000000"/>
                            </a:solidFill>
                            <a:latin typeface="Cambria Math" panose="02040503050406030204" pitchFamily="18" charset="0"/>
                            <a:ea typeface="Cambria Math" panose="02040503050406030204" pitchFamily="18" charset="0"/>
                          </a:rPr>
                        </m:ctrlPr>
                      </m:dPr>
                      <m:e>
                        <m:r>
                          <a:rPr lang="fr-CA" b="0" i="1" smtClean="0">
                            <a:solidFill>
                              <a:srgbClr val="000000"/>
                            </a:solidFill>
                            <a:latin typeface="Cambria Math" panose="02040503050406030204" pitchFamily="18" charset="0"/>
                            <a:ea typeface="Cambria Math" panose="02040503050406030204" pitchFamily="18" charset="0"/>
                          </a:rPr>
                          <m:t>1−</m:t>
                        </m:r>
                        <m:acc>
                          <m:accPr>
                            <m:chr m:val="̂"/>
                            <m:ctrlPr>
                              <a:rPr lang="fr-CA" b="0" i="1" smtClean="0">
                                <a:solidFill>
                                  <a:srgbClr val="000000"/>
                                </a:solidFill>
                                <a:latin typeface="Cambria Math" panose="02040503050406030204" pitchFamily="18" charset="0"/>
                                <a:ea typeface="Cambria Math" panose="02040503050406030204" pitchFamily="18" charset="0"/>
                              </a:rPr>
                            </m:ctrlPr>
                          </m:accPr>
                          <m:e>
                            <m:r>
                              <a:rPr lang="fr-CA" b="0" i="1" smtClean="0">
                                <a:solidFill>
                                  <a:srgbClr val="000000"/>
                                </a:solidFill>
                                <a:latin typeface="Cambria Math" panose="02040503050406030204" pitchFamily="18" charset="0"/>
                                <a:ea typeface="Cambria Math" panose="02040503050406030204" pitchFamily="18" charset="0"/>
                              </a:rPr>
                              <m:t>𝑝</m:t>
                            </m:r>
                          </m:e>
                        </m:acc>
                      </m:e>
                    </m:d>
                    <m:r>
                      <a:rPr lang="fr-CA" b="0" i="1" smtClean="0">
                        <a:solidFill>
                          <a:srgbClr val="000000"/>
                        </a:solidFill>
                        <a:latin typeface="Cambria Math" panose="02040503050406030204" pitchFamily="18" charset="0"/>
                        <a:ea typeface="Cambria Math" panose="02040503050406030204" pitchFamily="18" charset="0"/>
                      </a:rPr>
                      <m:t>&gt;5</m:t>
                    </m:r>
                    <m:r>
                      <a:rPr lang="fr-CA" b="0" i="1" smtClean="0">
                        <a:solidFill>
                          <a:srgbClr val="000000"/>
                        </a:solidFill>
                        <a:latin typeface="Cambria Math" panose="02040503050406030204" pitchFamily="18" charset="0"/>
                        <a:ea typeface="Cambria Math" panose="02040503050406030204" pitchFamily="18" charset="0"/>
                      </a:rPr>
                      <m:t>𝑑𝑜𝑛𝑐</m:t>
                    </m:r>
                    <m:r>
                      <a:rPr lang="fr-CA" b="0" i="1" smtClean="0">
                        <a:solidFill>
                          <a:srgbClr val="000000"/>
                        </a:solidFill>
                        <a:latin typeface="Cambria Math" panose="02040503050406030204" pitchFamily="18" charset="0"/>
                        <a:ea typeface="Cambria Math" panose="02040503050406030204" pitchFamily="18" charset="0"/>
                      </a:rPr>
                      <m:t> </m:t>
                    </m:r>
                    <m:r>
                      <a:rPr lang="fr-CA" b="0" i="1" smtClean="0">
                        <a:solidFill>
                          <a:srgbClr val="000000"/>
                        </a:solidFill>
                        <a:latin typeface="Cambria Math" panose="02040503050406030204" pitchFamily="18" charset="0"/>
                        <a:ea typeface="Cambria Math" panose="02040503050406030204" pitchFamily="18" charset="0"/>
                      </a:rPr>
                      <m:t>𝑙𝑒𝑠</m:t>
                    </m:r>
                    <m:r>
                      <a:rPr lang="fr-CA" b="0" i="1" smtClean="0">
                        <a:solidFill>
                          <a:srgbClr val="000000"/>
                        </a:solidFill>
                        <a:latin typeface="Cambria Math" panose="02040503050406030204" pitchFamily="18" charset="0"/>
                        <a:ea typeface="Cambria Math" panose="02040503050406030204" pitchFamily="18" charset="0"/>
                      </a:rPr>
                      <m:t> </m:t>
                    </m:r>
                    <m:r>
                      <a:rPr lang="fr-CA" b="0" i="1" smtClean="0">
                        <a:solidFill>
                          <a:srgbClr val="000000"/>
                        </a:solidFill>
                        <a:latin typeface="Cambria Math" panose="02040503050406030204" pitchFamily="18" charset="0"/>
                        <a:ea typeface="Cambria Math" panose="02040503050406030204" pitchFamily="18" charset="0"/>
                      </a:rPr>
                      <m:t>𝑐𝑜𝑛𝑑𝑖𝑡𝑖𝑜𝑛𝑠</m:t>
                    </m:r>
                    <m:r>
                      <a:rPr lang="fr-CA" b="0" i="1" smtClean="0">
                        <a:solidFill>
                          <a:srgbClr val="000000"/>
                        </a:solidFill>
                        <a:latin typeface="Cambria Math" panose="02040503050406030204" pitchFamily="18" charset="0"/>
                        <a:ea typeface="Cambria Math" panose="02040503050406030204" pitchFamily="18" charset="0"/>
                      </a:rPr>
                      <m:t> </m:t>
                    </m:r>
                    <m:r>
                      <a:rPr lang="fr-CA" b="0" i="1" smtClean="0">
                        <a:solidFill>
                          <a:srgbClr val="000000"/>
                        </a:solidFill>
                        <a:latin typeface="Cambria Math" panose="02040503050406030204" pitchFamily="18" charset="0"/>
                        <a:ea typeface="Cambria Math" panose="02040503050406030204" pitchFamily="18" charset="0"/>
                      </a:rPr>
                      <m:t>𝑠𝑜𝑛𝑡</m:t>
                    </m:r>
                    <m:r>
                      <a:rPr lang="fr-CA" b="0" i="1" smtClean="0">
                        <a:solidFill>
                          <a:srgbClr val="000000"/>
                        </a:solidFill>
                        <a:latin typeface="Cambria Math" panose="02040503050406030204" pitchFamily="18" charset="0"/>
                        <a:ea typeface="Cambria Math" panose="02040503050406030204" pitchFamily="18" charset="0"/>
                      </a:rPr>
                      <m:t> </m:t>
                    </m:r>
                    <m:r>
                      <a:rPr lang="fr-CA" b="0" i="1" smtClean="0">
                        <a:solidFill>
                          <a:srgbClr val="000000"/>
                        </a:solidFill>
                        <a:latin typeface="Cambria Math" panose="02040503050406030204" pitchFamily="18" charset="0"/>
                        <a:ea typeface="Cambria Math" panose="02040503050406030204" pitchFamily="18" charset="0"/>
                      </a:rPr>
                      <m:t>𝑠𝑎𝑡𝑖𝑠𝑓𝑎𝑖𝑡𝑒𝑠</m:t>
                    </m:r>
                    <m:r>
                      <a:rPr lang="fr-CA" b="0" i="1" smtClean="0">
                        <a:solidFill>
                          <a:srgbClr val="000000"/>
                        </a:solidFill>
                        <a:latin typeface="Cambria Math" panose="02040503050406030204" pitchFamily="18" charset="0"/>
                        <a:ea typeface="Cambria Math" panose="02040503050406030204" pitchFamily="18" charset="0"/>
                      </a:rPr>
                      <m:t>. </m:t>
                    </m:r>
                  </m:oMath>
                </a14:m>
                <a:endParaRPr lang="fr-CA" sz="1800" dirty="0">
                  <a:solidFill>
                    <a:srgbClr val="000000"/>
                  </a:solidFill>
                  <a:effectLst/>
                  <a:latin typeface="Times New Roman" panose="02020603050405020304" pitchFamily="18" charset="0"/>
                  <a:ea typeface="Times New Roman" panose="02020603050405020304" pitchFamily="18" charset="0"/>
                </a:endParaRPr>
              </a:p>
              <a:p>
                <a:r>
                  <a:rPr lang="fr-CA" dirty="0">
                    <a:solidFill>
                      <a:srgbClr val="000000"/>
                    </a:solidFill>
                    <a:latin typeface="Times New Roman" panose="02020603050405020304" pitchFamily="18" charset="0"/>
                    <a:ea typeface="Times New Roman" panose="02020603050405020304" pitchFamily="18" charset="0"/>
                  </a:rPr>
                  <a:t>On a aussi </a:t>
                </a:r>
                <a14:m>
                  <m:oMath xmlns:m="http://schemas.openxmlformats.org/officeDocument/2006/math">
                    <m:r>
                      <a:rPr lang="fr-CA" i="1" smtClean="0">
                        <a:solidFill>
                          <a:srgbClr val="000000"/>
                        </a:solidFill>
                        <a:latin typeface="Cambria Math" panose="02040503050406030204" pitchFamily="18" charset="0"/>
                        <a:ea typeface="Cambria Math" panose="02040503050406030204" pitchFamily="18" charset="0"/>
                      </a:rPr>
                      <m:t>𝛼</m:t>
                    </m:r>
                    <m:r>
                      <a:rPr lang="fr-CA" b="0" i="1" smtClean="0">
                        <a:solidFill>
                          <a:srgbClr val="000000"/>
                        </a:solidFill>
                        <a:latin typeface="Cambria Math" panose="02040503050406030204" pitchFamily="18" charset="0"/>
                        <a:ea typeface="Cambria Math" panose="02040503050406030204" pitchFamily="18" charset="0"/>
                      </a:rPr>
                      <m:t>=5%   </m:t>
                    </m:r>
                    <m:r>
                      <a:rPr lang="fr-CA" b="0" i="1" smtClean="0">
                        <a:solidFill>
                          <a:srgbClr val="000000"/>
                        </a:solidFill>
                        <a:latin typeface="Cambria Math" panose="02040503050406030204" pitchFamily="18" charset="0"/>
                        <a:ea typeface="Cambria Math" panose="02040503050406030204" pitchFamily="18" charset="0"/>
                      </a:rPr>
                      <m:t>𝑑𝑜𝑛𝑐</m:t>
                    </m:r>
                    <m:r>
                      <a:rPr lang="fr-CA" b="0" i="1" smtClean="0">
                        <a:solidFill>
                          <a:srgbClr val="000000"/>
                        </a:solidFill>
                        <a:latin typeface="Cambria Math" panose="02040503050406030204" pitchFamily="18" charset="0"/>
                        <a:ea typeface="Cambria Math" panose="02040503050406030204" pitchFamily="18" charset="0"/>
                      </a:rPr>
                      <m:t> </m:t>
                    </m:r>
                    <m:sSub>
                      <m:sSubPr>
                        <m:ctrlPr>
                          <a:rPr lang="fr-CA" b="0" i="1" smtClean="0">
                            <a:solidFill>
                              <a:srgbClr val="000000"/>
                            </a:solidFill>
                            <a:latin typeface="Cambria Math" panose="02040503050406030204" pitchFamily="18" charset="0"/>
                            <a:ea typeface="Cambria Math" panose="02040503050406030204" pitchFamily="18" charset="0"/>
                          </a:rPr>
                        </m:ctrlPr>
                      </m:sSubPr>
                      <m:e>
                        <m:r>
                          <a:rPr lang="fr-CA" b="0" i="1" smtClean="0">
                            <a:solidFill>
                              <a:srgbClr val="000000"/>
                            </a:solidFill>
                            <a:latin typeface="Cambria Math" panose="02040503050406030204" pitchFamily="18" charset="0"/>
                            <a:ea typeface="Cambria Math" panose="02040503050406030204" pitchFamily="18" charset="0"/>
                          </a:rPr>
                          <m:t>𝑧</m:t>
                        </m:r>
                      </m:e>
                      <m:sub>
                        <m:r>
                          <a:rPr lang="fr-CA" b="0" i="1" smtClean="0">
                            <a:solidFill>
                              <a:srgbClr val="000000"/>
                            </a:solidFill>
                            <a:latin typeface="Cambria Math" panose="02040503050406030204" pitchFamily="18" charset="0"/>
                            <a:ea typeface="Cambria Math" panose="02040503050406030204" pitchFamily="18" charset="0"/>
                          </a:rPr>
                          <m:t>𝛼</m:t>
                        </m:r>
                        <m:r>
                          <a:rPr lang="fr-CA" b="0" i="1" smtClean="0">
                            <a:solidFill>
                              <a:srgbClr val="000000"/>
                            </a:solidFill>
                            <a:latin typeface="Cambria Math" panose="02040503050406030204" pitchFamily="18" charset="0"/>
                            <a:ea typeface="Cambria Math" panose="02040503050406030204" pitchFamily="18" charset="0"/>
                          </a:rPr>
                          <m:t>/2</m:t>
                        </m:r>
                      </m:sub>
                    </m:sSub>
                    <m:r>
                      <a:rPr lang="fr-CA" b="0" i="1" smtClean="0">
                        <a:solidFill>
                          <a:srgbClr val="000000"/>
                        </a:solidFill>
                        <a:latin typeface="Cambria Math" panose="02040503050406030204" pitchFamily="18" charset="0"/>
                        <a:ea typeface="Cambria Math" panose="02040503050406030204" pitchFamily="18" charset="0"/>
                      </a:rPr>
                      <m:t>=</m:t>
                    </m:r>
                    <m:sSub>
                      <m:sSubPr>
                        <m:ctrlPr>
                          <a:rPr lang="fr-CA" b="0" i="1" smtClean="0">
                            <a:solidFill>
                              <a:srgbClr val="000000"/>
                            </a:solidFill>
                            <a:latin typeface="Cambria Math" panose="02040503050406030204" pitchFamily="18" charset="0"/>
                            <a:ea typeface="Cambria Math" panose="02040503050406030204" pitchFamily="18" charset="0"/>
                          </a:rPr>
                        </m:ctrlPr>
                      </m:sSubPr>
                      <m:e>
                        <m:r>
                          <a:rPr lang="fr-CA" b="0" i="1" smtClean="0">
                            <a:solidFill>
                              <a:srgbClr val="000000"/>
                            </a:solidFill>
                            <a:latin typeface="Cambria Math" panose="02040503050406030204" pitchFamily="18" charset="0"/>
                            <a:ea typeface="Cambria Math" panose="02040503050406030204" pitchFamily="18" charset="0"/>
                          </a:rPr>
                          <m:t>𝑧</m:t>
                        </m:r>
                      </m:e>
                      <m:sub>
                        <m:r>
                          <a:rPr lang="fr-CA" b="0" i="1" smtClean="0">
                            <a:solidFill>
                              <a:srgbClr val="000000"/>
                            </a:solidFill>
                            <a:latin typeface="Cambria Math" panose="02040503050406030204" pitchFamily="18" charset="0"/>
                            <a:ea typeface="Cambria Math" panose="02040503050406030204" pitchFamily="18" charset="0"/>
                          </a:rPr>
                          <m:t>0,025</m:t>
                        </m:r>
                      </m:sub>
                    </m:sSub>
                    <m:r>
                      <a:rPr lang="fr-CA" b="0" i="1" smtClean="0">
                        <a:solidFill>
                          <a:srgbClr val="000000"/>
                        </a:solidFill>
                        <a:latin typeface="Cambria Math" panose="02040503050406030204" pitchFamily="18" charset="0"/>
                        <a:ea typeface="Cambria Math" panose="02040503050406030204" pitchFamily="18" charset="0"/>
                      </a:rPr>
                      <m:t>=1,96</m:t>
                    </m:r>
                  </m:oMath>
                </a14:m>
                <a:r>
                  <a:rPr lang="fr-CA" sz="1800" dirty="0">
                    <a:solidFill>
                      <a:srgbClr val="000000"/>
                    </a:solidFill>
                    <a:effectLst/>
                    <a:latin typeface="Times New Roman" panose="02020603050405020304" pitchFamily="18" charset="0"/>
                    <a:ea typeface="Times New Roman" panose="02020603050405020304" pitchFamily="18" charset="0"/>
                  </a:rPr>
                  <a:t> donc la marge d’erreur de l’estimation est:</a:t>
                </a:r>
              </a:p>
              <a:p>
                <a:pPr/>
                <a14:m>
                  <m:oMathPara xmlns:m="http://schemas.openxmlformats.org/officeDocument/2006/math">
                    <m:oMathParaPr>
                      <m:jc m:val="centerGroup"/>
                    </m:oMathParaPr>
                    <m:oMath xmlns:m="http://schemas.openxmlformats.org/officeDocument/2006/math">
                      <m:r>
                        <a:rPr lang="fr-CA" sz="1800" b="0" i="1" smtClean="0">
                          <a:solidFill>
                            <a:srgbClr val="000000"/>
                          </a:solidFill>
                          <a:effectLst/>
                          <a:latin typeface="Cambria Math" panose="02040503050406030204" pitchFamily="18" charset="0"/>
                          <a:ea typeface="Times New Roman" panose="02020603050405020304" pitchFamily="18" charset="0"/>
                        </a:rPr>
                        <m:t>𝐸</m:t>
                      </m:r>
                      <m:r>
                        <a:rPr lang="fr-CA" sz="1800" b="0" i="1" smtClean="0">
                          <a:solidFill>
                            <a:srgbClr val="000000"/>
                          </a:solidFill>
                          <a:effectLst/>
                          <a:latin typeface="Cambria Math" panose="02040503050406030204" pitchFamily="18" charset="0"/>
                          <a:ea typeface="Times New Roman" panose="02020603050405020304" pitchFamily="18" charset="0"/>
                        </a:rPr>
                        <m:t>=</m:t>
                      </m:r>
                      <m:sSub>
                        <m:sSubPr>
                          <m:ctrlPr>
                            <a:rPr lang="fr-CA" sz="1800" b="0" i="1" smtClean="0">
                              <a:solidFill>
                                <a:srgbClr val="000000"/>
                              </a:solidFill>
                              <a:effectLst/>
                              <a:latin typeface="Cambria Math" panose="02040503050406030204" pitchFamily="18" charset="0"/>
                            </a:rPr>
                          </m:ctrlPr>
                        </m:sSubPr>
                        <m:e>
                          <m:r>
                            <a:rPr lang="fr-CA" sz="1800" b="0" i="1" smtClean="0">
                              <a:solidFill>
                                <a:srgbClr val="000000"/>
                              </a:solidFill>
                              <a:effectLst/>
                              <a:latin typeface="Cambria Math" panose="02040503050406030204" pitchFamily="18" charset="0"/>
                            </a:rPr>
                            <m:t>𝑧</m:t>
                          </m:r>
                        </m:e>
                        <m:sub>
                          <m:r>
                            <a:rPr lang="fr-CA" sz="1800" b="0" i="1" smtClean="0">
                              <a:solidFill>
                                <a:srgbClr val="000000"/>
                              </a:solidFill>
                              <a:effectLst/>
                              <a:latin typeface="Cambria Math" panose="02040503050406030204" pitchFamily="18" charset="0"/>
                              <a:ea typeface="Cambria Math" panose="02040503050406030204" pitchFamily="18" charset="0"/>
                            </a:rPr>
                            <m:t>𝛼</m:t>
                          </m:r>
                          <m:r>
                            <a:rPr lang="fr-CA" sz="1800" b="0" i="1" smtClean="0">
                              <a:solidFill>
                                <a:srgbClr val="000000"/>
                              </a:solidFill>
                              <a:effectLst/>
                              <a:latin typeface="Cambria Math" panose="02040503050406030204" pitchFamily="18" charset="0"/>
                              <a:ea typeface="Cambria Math" panose="02040503050406030204" pitchFamily="18" charset="0"/>
                            </a:rPr>
                            <m:t>/2</m:t>
                          </m:r>
                        </m:sub>
                      </m:sSub>
                      <m:rad>
                        <m:radPr>
                          <m:degHide m:val="on"/>
                          <m:ctrlPr>
                            <a:rPr lang="fr-CA" sz="1800" b="0" i="1" smtClean="0">
                              <a:solidFill>
                                <a:srgbClr val="000000"/>
                              </a:solidFill>
                              <a:effectLst/>
                              <a:latin typeface="Cambria Math" panose="02040503050406030204" pitchFamily="18" charset="0"/>
                            </a:rPr>
                          </m:ctrlPr>
                        </m:radPr>
                        <m:deg/>
                        <m:e>
                          <m:f>
                            <m:fPr>
                              <m:ctrlPr>
                                <a:rPr lang="fr-CA" sz="1800" b="0" i="1" smtClean="0">
                                  <a:solidFill>
                                    <a:srgbClr val="000000"/>
                                  </a:solidFill>
                                  <a:effectLst/>
                                  <a:latin typeface="Cambria Math" panose="02040503050406030204" pitchFamily="18" charset="0"/>
                                </a:rPr>
                              </m:ctrlPr>
                            </m:fPr>
                            <m:num>
                              <m:acc>
                                <m:accPr>
                                  <m:chr m:val="̂"/>
                                  <m:ctrlPr>
                                    <a:rPr lang="fr-CA" sz="1800" b="0" i="1" smtClean="0">
                                      <a:solidFill>
                                        <a:srgbClr val="000000"/>
                                      </a:solidFill>
                                      <a:effectLst/>
                                      <a:latin typeface="Cambria Math" panose="02040503050406030204" pitchFamily="18" charset="0"/>
                                    </a:rPr>
                                  </m:ctrlPr>
                                </m:accPr>
                                <m:e>
                                  <m:r>
                                    <a:rPr lang="fr-CA" sz="1800" b="0" i="1" smtClean="0">
                                      <a:solidFill>
                                        <a:srgbClr val="000000"/>
                                      </a:solidFill>
                                      <a:effectLst/>
                                      <a:latin typeface="Cambria Math" panose="02040503050406030204" pitchFamily="18" charset="0"/>
                                    </a:rPr>
                                    <m:t>𝑝</m:t>
                                  </m:r>
                                </m:e>
                              </m:acc>
                              <m:r>
                                <a:rPr lang="fr-CA" sz="1800" b="0" i="1" smtClean="0">
                                  <a:solidFill>
                                    <a:srgbClr val="000000"/>
                                  </a:solidFill>
                                  <a:effectLst/>
                                  <a:latin typeface="Cambria Math" panose="02040503050406030204" pitchFamily="18" charset="0"/>
                                </a:rPr>
                                <m:t>(1−</m:t>
                              </m:r>
                              <m:acc>
                                <m:accPr>
                                  <m:chr m:val="̂"/>
                                  <m:ctrlPr>
                                    <a:rPr lang="fr-CA" sz="1800" b="0" i="1" smtClean="0">
                                      <a:solidFill>
                                        <a:srgbClr val="000000"/>
                                      </a:solidFill>
                                      <a:effectLst/>
                                      <a:latin typeface="Cambria Math" panose="02040503050406030204" pitchFamily="18" charset="0"/>
                                    </a:rPr>
                                  </m:ctrlPr>
                                </m:accPr>
                                <m:e>
                                  <m:r>
                                    <a:rPr lang="fr-CA" sz="1800" b="0" i="1" smtClean="0">
                                      <a:solidFill>
                                        <a:srgbClr val="000000"/>
                                      </a:solidFill>
                                      <a:effectLst/>
                                      <a:latin typeface="Cambria Math" panose="02040503050406030204" pitchFamily="18" charset="0"/>
                                    </a:rPr>
                                    <m:t>𝑝</m:t>
                                  </m:r>
                                </m:e>
                              </m:acc>
                              <m:r>
                                <a:rPr lang="fr-CA" sz="1800" b="0" i="1" smtClean="0">
                                  <a:solidFill>
                                    <a:srgbClr val="000000"/>
                                  </a:solidFill>
                                  <a:effectLst/>
                                  <a:latin typeface="Cambria Math" panose="02040503050406030204" pitchFamily="18" charset="0"/>
                                </a:rPr>
                                <m:t>)</m:t>
                              </m:r>
                            </m:num>
                            <m:den>
                              <m:r>
                                <a:rPr lang="fr-CA" sz="1800" b="0" i="1" smtClean="0">
                                  <a:solidFill>
                                    <a:srgbClr val="000000"/>
                                  </a:solidFill>
                                  <a:effectLst/>
                                  <a:latin typeface="Cambria Math" panose="02040503050406030204" pitchFamily="18" charset="0"/>
                                </a:rPr>
                                <m:t>𝑛</m:t>
                              </m:r>
                            </m:den>
                          </m:f>
                        </m:e>
                      </m:rad>
                      <m:r>
                        <a:rPr lang="fr-CA" sz="1800" b="0" i="1" smtClean="0">
                          <a:solidFill>
                            <a:srgbClr val="000000"/>
                          </a:solidFill>
                          <a:effectLst/>
                          <a:latin typeface="Cambria Math" panose="02040503050406030204" pitchFamily="18" charset="0"/>
                        </a:rPr>
                        <m:t>=1,96</m:t>
                      </m:r>
                      <m:rad>
                        <m:radPr>
                          <m:degHide m:val="on"/>
                          <m:ctrlPr>
                            <a:rPr lang="fr-CA" sz="1800" b="0" i="1" smtClean="0">
                              <a:solidFill>
                                <a:srgbClr val="000000"/>
                              </a:solidFill>
                              <a:effectLst/>
                              <a:latin typeface="Cambria Math" panose="02040503050406030204" pitchFamily="18" charset="0"/>
                            </a:rPr>
                          </m:ctrlPr>
                        </m:radPr>
                        <m:deg/>
                        <m:e>
                          <m:f>
                            <m:fPr>
                              <m:ctrlPr>
                                <a:rPr lang="fr-CA" sz="1800" b="0" i="1" smtClean="0">
                                  <a:solidFill>
                                    <a:srgbClr val="000000"/>
                                  </a:solidFill>
                                  <a:effectLst/>
                                  <a:latin typeface="Cambria Math" panose="02040503050406030204" pitchFamily="18" charset="0"/>
                                </a:rPr>
                              </m:ctrlPr>
                            </m:fPr>
                            <m:num>
                              <m:r>
                                <a:rPr lang="fr-CA" sz="1800" b="0" i="1" smtClean="0">
                                  <a:solidFill>
                                    <a:srgbClr val="000000"/>
                                  </a:solidFill>
                                  <a:effectLst/>
                                  <a:latin typeface="Cambria Math" panose="02040503050406030204" pitchFamily="18" charset="0"/>
                                </a:rPr>
                                <m:t>0,3607∗(1−0,3607)</m:t>
                              </m:r>
                            </m:num>
                            <m:den>
                              <m:r>
                                <a:rPr lang="fr-CA" sz="1800" b="0" i="1" smtClean="0">
                                  <a:solidFill>
                                    <a:srgbClr val="000000"/>
                                  </a:solidFill>
                                  <a:effectLst/>
                                  <a:latin typeface="Cambria Math" panose="02040503050406030204" pitchFamily="18" charset="0"/>
                                </a:rPr>
                                <m:t>1120</m:t>
                              </m:r>
                            </m:den>
                          </m:f>
                        </m:e>
                      </m:rad>
                      <m:r>
                        <a:rPr lang="fr-CA" sz="1800" b="0" i="1" smtClean="0">
                          <a:solidFill>
                            <a:srgbClr val="000000"/>
                          </a:solidFill>
                          <a:effectLst/>
                          <a:latin typeface="Cambria Math" panose="02040503050406030204" pitchFamily="18" charset="0"/>
                        </a:rPr>
                        <m:t>=0,0281</m:t>
                      </m:r>
                    </m:oMath>
                  </m:oMathPara>
                </a14:m>
                <a:endParaRPr lang="fr-CA" sz="1800" dirty="0">
                  <a:solidFill>
                    <a:srgbClr val="000000"/>
                  </a:solidFill>
                  <a:effectLst/>
                  <a:latin typeface="Times New Roman" panose="02020603050405020304" pitchFamily="18" charset="0"/>
                  <a:ea typeface="Times New Roman" panose="02020603050405020304" pitchFamily="18" charset="0"/>
                </a:endParaRPr>
              </a:p>
              <a:p>
                <a:r>
                  <a:rPr lang="fr-CA" dirty="0">
                    <a:solidFill>
                      <a:srgbClr val="000000"/>
                    </a:solidFill>
                    <a:latin typeface="Times New Roman" panose="02020603050405020304" pitchFamily="18" charset="0"/>
                    <a:ea typeface="Times New Roman" panose="02020603050405020304" pitchFamily="18" charset="0"/>
                  </a:rPr>
                  <a:t>Par conséquent un intervalle de confiance de niveau 95% pour la proportion des électeurs qui vont voter pour le NPD est: </a:t>
                </a:r>
                <a14:m>
                  <m:oMath xmlns:m="http://schemas.openxmlformats.org/officeDocument/2006/math">
                    <m:d>
                      <m:dPr>
                        <m:begChr m:val="["/>
                        <m:endChr m:val="]"/>
                        <m:ctrlPr>
                          <a:rPr lang="fr-CA" i="1" smtClean="0">
                            <a:solidFill>
                              <a:srgbClr val="000000"/>
                            </a:solidFill>
                            <a:latin typeface="Cambria Math" panose="02040503050406030204" pitchFamily="18" charset="0"/>
                          </a:rPr>
                        </m:ctrlPr>
                      </m:dPr>
                      <m:e>
                        <m:acc>
                          <m:accPr>
                            <m:chr m:val="̂"/>
                            <m:ctrlPr>
                              <a:rPr lang="fr-CA" i="1" smtClean="0">
                                <a:solidFill>
                                  <a:srgbClr val="000000"/>
                                </a:solidFill>
                                <a:latin typeface="Cambria Math" panose="02040503050406030204" pitchFamily="18" charset="0"/>
                              </a:rPr>
                            </m:ctrlPr>
                          </m:accPr>
                          <m:e>
                            <m:r>
                              <a:rPr lang="fr-CA" b="0" i="1" smtClean="0">
                                <a:solidFill>
                                  <a:srgbClr val="000000"/>
                                </a:solidFill>
                                <a:latin typeface="Cambria Math" panose="02040503050406030204" pitchFamily="18" charset="0"/>
                              </a:rPr>
                              <m:t>𝑝</m:t>
                            </m:r>
                          </m:e>
                        </m:acc>
                        <m:r>
                          <a:rPr lang="fr-CA" b="0" i="1" smtClean="0">
                            <a:solidFill>
                              <a:srgbClr val="000000"/>
                            </a:solidFill>
                            <a:latin typeface="Cambria Math" panose="02040503050406030204" pitchFamily="18" charset="0"/>
                          </a:rPr>
                          <m:t>−</m:t>
                        </m:r>
                        <m:r>
                          <a:rPr lang="fr-CA" b="0" i="1" smtClean="0">
                            <a:solidFill>
                              <a:srgbClr val="000000"/>
                            </a:solidFill>
                            <a:latin typeface="Cambria Math" panose="02040503050406030204" pitchFamily="18" charset="0"/>
                          </a:rPr>
                          <m:t>𝐸</m:t>
                        </m:r>
                        <m:r>
                          <a:rPr lang="fr-CA" b="0" i="1" smtClean="0">
                            <a:solidFill>
                              <a:srgbClr val="000000"/>
                            </a:solidFill>
                            <a:latin typeface="Cambria Math" panose="02040503050406030204" pitchFamily="18" charset="0"/>
                          </a:rPr>
                          <m:t>; </m:t>
                        </m:r>
                        <m:acc>
                          <m:accPr>
                            <m:chr m:val="̂"/>
                            <m:ctrlPr>
                              <a:rPr lang="fr-CA" b="0" i="1" smtClean="0">
                                <a:solidFill>
                                  <a:srgbClr val="000000"/>
                                </a:solidFill>
                                <a:latin typeface="Cambria Math" panose="02040503050406030204" pitchFamily="18" charset="0"/>
                              </a:rPr>
                            </m:ctrlPr>
                          </m:accPr>
                          <m:e>
                            <m:r>
                              <a:rPr lang="fr-CA" b="0" i="1" smtClean="0">
                                <a:solidFill>
                                  <a:srgbClr val="000000"/>
                                </a:solidFill>
                                <a:latin typeface="Cambria Math" panose="02040503050406030204" pitchFamily="18" charset="0"/>
                              </a:rPr>
                              <m:t>𝑝</m:t>
                            </m:r>
                          </m:e>
                        </m:acc>
                        <m:r>
                          <a:rPr lang="fr-CA" b="0" i="1" smtClean="0">
                            <a:solidFill>
                              <a:srgbClr val="000000"/>
                            </a:solidFill>
                            <a:latin typeface="Cambria Math" panose="02040503050406030204" pitchFamily="18" charset="0"/>
                          </a:rPr>
                          <m:t>+</m:t>
                        </m:r>
                        <m:r>
                          <a:rPr lang="fr-CA" b="0" i="1" smtClean="0">
                            <a:solidFill>
                              <a:srgbClr val="000000"/>
                            </a:solidFill>
                            <a:latin typeface="Cambria Math" panose="02040503050406030204" pitchFamily="18" charset="0"/>
                          </a:rPr>
                          <m:t>𝐸</m:t>
                        </m:r>
                      </m:e>
                    </m:d>
                    <m:r>
                      <a:rPr lang="fr-CA" b="0" i="1" smtClean="0">
                        <a:solidFill>
                          <a:srgbClr val="000000"/>
                        </a:solidFill>
                        <a:latin typeface="Cambria Math" panose="02040503050406030204" pitchFamily="18" charset="0"/>
                      </a:rPr>
                      <m:t>=</m:t>
                    </m:r>
                    <m:d>
                      <m:dPr>
                        <m:begChr m:val="["/>
                        <m:endChr m:val="]"/>
                        <m:ctrlPr>
                          <a:rPr lang="fr-CA" b="0" i="1" smtClean="0">
                            <a:solidFill>
                              <a:srgbClr val="000000"/>
                            </a:solidFill>
                            <a:latin typeface="Cambria Math" panose="02040503050406030204" pitchFamily="18" charset="0"/>
                          </a:rPr>
                        </m:ctrlPr>
                      </m:dPr>
                      <m:e>
                        <m:r>
                          <a:rPr lang="fr-CA" b="0" i="1" smtClean="0">
                            <a:solidFill>
                              <a:srgbClr val="000000"/>
                            </a:solidFill>
                            <a:latin typeface="Cambria Math" panose="02040503050406030204" pitchFamily="18" charset="0"/>
                          </a:rPr>
                          <m:t>0,3607−0,0281;0,3607+0,0281</m:t>
                        </m:r>
                      </m:e>
                    </m:d>
                    <m:r>
                      <a:rPr lang="fr-CA" b="0" i="1" smtClean="0">
                        <a:solidFill>
                          <a:srgbClr val="000000"/>
                        </a:solidFill>
                        <a:latin typeface="Cambria Math" panose="02040503050406030204" pitchFamily="18" charset="0"/>
                      </a:rPr>
                      <m:t>=</m:t>
                    </m:r>
                    <m:d>
                      <m:dPr>
                        <m:begChr m:val="["/>
                        <m:endChr m:val="]"/>
                        <m:ctrlPr>
                          <a:rPr lang="fr-CA" b="0" i="1" smtClean="0">
                            <a:solidFill>
                              <a:srgbClr val="000000"/>
                            </a:solidFill>
                            <a:latin typeface="Cambria Math" panose="02040503050406030204" pitchFamily="18" charset="0"/>
                          </a:rPr>
                        </m:ctrlPr>
                      </m:dPr>
                      <m:e>
                        <m:r>
                          <a:rPr lang="fr-CA" b="0" i="1" smtClean="0">
                            <a:solidFill>
                              <a:srgbClr val="000000"/>
                            </a:solidFill>
                            <a:latin typeface="Cambria Math" panose="02040503050406030204" pitchFamily="18" charset="0"/>
                          </a:rPr>
                          <m:t>0,3326;0,3888</m:t>
                        </m:r>
                      </m:e>
                    </m:d>
                  </m:oMath>
                </a14:m>
                <a:r>
                  <a:rPr lang="fr-CA" sz="1800" dirty="0">
                    <a:solidFill>
                      <a:srgbClr val="000000"/>
                    </a:solidFill>
                    <a:effectLst/>
                    <a:latin typeface="Times New Roman" panose="02020603050405020304" pitchFamily="18" charset="0"/>
                    <a:ea typeface="Times New Roman" panose="02020603050405020304" pitchFamily="18" charset="0"/>
                  </a:rPr>
                  <a:t>.</a:t>
                </a:r>
              </a:p>
              <a:p>
                <a:r>
                  <a:rPr lang="fr-CA" b="1" dirty="0">
                    <a:solidFill>
                      <a:srgbClr val="000000"/>
                    </a:solidFill>
                    <a:latin typeface="Times New Roman" panose="02020603050405020304" pitchFamily="18" charset="0"/>
                    <a:ea typeface="Times New Roman" panose="02020603050405020304" pitchFamily="18" charset="0"/>
                  </a:rPr>
                  <a:t>Conclusion:</a:t>
                </a:r>
                <a:r>
                  <a:rPr lang="fr-CA" dirty="0">
                    <a:solidFill>
                      <a:srgbClr val="000000"/>
                    </a:solidFill>
                    <a:latin typeface="Times New Roman" panose="02020603050405020304" pitchFamily="18" charset="0"/>
                    <a:ea typeface="Times New Roman" panose="02020603050405020304" pitchFamily="18" charset="0"/>
                  </a:rPr>
                  <a:t> Sur la base de cet échantillon, le pourcentage des électeurs qui vont voter pour le NPD est 36,07% avec une marge d’erreur de 2,81% et cela 19 fois sur 20.</a:t>
                </a:r>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dirty="0"/>
              </a:p>
            </p:txBody>
          </p:sp>
        </mc:Choice>
        <mc:Fallback xmlns="">
          <p:sp>
            <p:nvSpPr>
              <p:cNvPr id="5" name="ZoneTexte 4">
                <a:extLst>
                  <a:ext uri="{FF2B5EF4-FFF2-40B4-BE49-F238E27FC236}">
                    <a16:creationId xmlns:a16="http://schemas.microsoft.com/office/drawing/2014/main" id="{71470B97-4689-4CAC-8E37-E95A9EA434C3}"/>
                  </a:ext>
                </a:extLst>
              </p:cNvPr>
              <p:cNvSpPr txBox="1">
                <a:spLocks noRot="1" noChangeAspect="1" noMove="1" noResize="1" noEditPoints="1" noAdjustHandles="1" noChangeArrowheads="1" noChangeShapeType="1" noTextEdit="1"/>
              </p:cNvSpPr>
              <p:nvPr/>
            </p:nvSpPr>
            <p:spPr>
              <a:xfrm>
                <a:off x="1062318" y="2581835"/>
                <a:ext cx="10408023" cy="3268011"/>
              </a:xfrm>
              <a:prstGeom prst="rect">
                <a:avLst/>
              </a:prstGeom>
              <a:blipFill>
                <a:blip r:embed="rId2"/>
                <a:stretch>
                  <a:fillRect l="-468" r="-878"/>
                </a:stretch>
              </a:blipFill>
            </p:spPr>
            <p:txBody>
              <a:bodyPr/>
              <a:lstStyle/>
              <a:p>
                <a:r>
                  <a:rPr lang="fr-CA">
                    <a:noFill/>
                  </a:rPr>
                  <a:t> </a:t>
                </a:r>
              </a:p>
            </p:txBody>
          </p:sp>
        </mc:Fallback>
      </mc:AlternateContent>
    </p:spTree>
    <p:extLst>
      <p:ext uri="{BB962C8B-B14F-4D97-AF65-F5344CB8AC3E}">
        <p14:creationId xmlns:p14="http://schemas.microsoft.com/office/powerpoint/2010/main" val="844760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2FE582-4568-4E42-8ED7-8706F528324A}"/>
              </a:ext>
            </a:extLst>
          </p:cNvPr>
          <p:cNvSpPr>
            <a:spLocks noGrp="1"/>
          </p:cNvSpPr>
          <p:nvPr>
            <p:ph type="title"/>
          </p:nvPr>
        </p:nvSpPr>
        <p:spPr/>
        <p:txBody>
          <a:bodyPr/>
          <a:lstStyle/>
          <a:p>
            <a:r>
              <a:rPr lang="fr-CA" b="1" dirty="0"/>
              <a:t>Utilisation du logiciel R</a:t>
            </a:r>
          </a:p>
        </p:txBody>
      </p:sp>
      <p:sp>
        <p:nvSpPr>
          <p:cNvPr id="3" name="Espace réservé du pied de page 2">
            <a:extLst>
              <a:ext uri="{FF2B5EF4-FFF2-40B4-BE49-F238E27FC236}">
                <a16:creationId xmlns:a16="http://schemas.microsoft.com/office/drawing/2014/main" id="{C4E12AB5-3D15-4925-A10B-2F1F57101F4E}"/>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D7643C8A-523B-428B-91C6-8ACD7B5E6196}"/>
              </a:ext>
            </a:extLst>
          </p:cNvPr>
          <p:cNvSpPr>
            <a:spLocks noGrp="1"/>
          </p:cNvSpPr>
          <p:nvPr>
            <p:ph type="sldNum" sz="quarter" idx="12"/>
          </p:nvPr>
        </p:nvSpPr>
        <p:spPr/>
        <p:txBody>
          <a:bodyPr/>
          <a:lstStyle/>
          <a:p>
            <a:fld id="{26377AD9-CE17-438C-A638-C64D2D42D7CF}" type="slidenum">
              <a:rPr lang="fr-CA" smtClean="0"/>
              <a:t>3</a:t>
            </a:fld>
            <a:endParaRPr lang="fr-CA"/>
          </a:p>
        </p:txBody>
      </p:sp>
      <p:sp>
        <p:nvSpPr>
          <p:cNvPr id="5" name="ZoneTexte 4">
            <a:extLst>
              <a:ext uri="{FF2B5EF4-FFF2-40B4-BE49-F238E27FC236}">
                <a16:creationId xmlns:a16="http://schemas.microsoft.com/office/drawing/2014/main" id="{93734774-7EB9-4925-B235-A98A40EB773D}"/>
              </a:ext>
            </a:extLst>
          </p:cNvPr>
          <p:cNvSpPr txBox="1"/>
          <p:nvPr/>
        </p:nvSpPr>
        <p:spPr>
          <a:xfrm>
            <a:off x="645459" y="1882588"/>
            <a:ext cx="10708341" cy="3693319"/>
          </a:xfrm>
          <a:prstGeom prst="rect">
            <a:avLst/>
          </a:prstGeom>
          <a:noFill/>
        </p:spPr>
        <p:txBody>
          <a:bodyPr wrap="square" rtlCol="0">
            <a:spAutoFit/>
          </a:bodyPr>
          <a:lstStyle/>
          <a:p>
            <a:r>
              <a:rPr lang="fr-CA" dirty="0"/>
              <a:t>On doit taper:</a:t>
            </a:r>
          </a:p>
          <a:p>
            <a:r>
              <a:rPr lang="fr-CA" dirty="0" err="1"/>
              <a:t>prop.test</a:t>
            </a:r>
            <a:r>
              <a:rPr lang="fr-CA" dirty="0"/>
              <a:t>(404,1120,conf.level=0.95)       et on obtient:</a:t>
            </a:r>
          </a:p>
          <a:p>
            <a:endParaRPr lang="fr-CA" dirty="0"/>
          </a:p>
          <a:p>
            <a:r>
              <a:rPr lang="en-US" dirty="0"/>
              <a:t>data:  404 out of 1120, null probability 0.5</a:t>
            </a:r>
          </a:p>
          <a:p>
            <a:r>
              <a:rPr lang="en-US" dirty="0"/>
              <a:t>X-squared = 86.358, df = 1, p-value &lt; 2.2e-16</a:t>
            </a:r>
          </a:p>
          <a:p>
            <a:r>
              <a:rPr lang="en-US" dirty="0"/>
              <a:t>alternative hypothesis: true p is not equal to 0.5</a:t>
            </a:r>
          </a:p>
          <a:p>
            <a:r>
              <a:rPr lang="en-US" dirty="0"/>
              <a:t>95 percent confidence interval:</a:t>
            </a:r>
          </a:p>
          <a:p>
            <a:r>
              <a:rPr lang="en-US" dirty="0">
                <a:solidFill>
                  <a:srgbClr val="FF0000"/>
                </a:solidFill>
              </a:rPr>
              <a:t> 0.3326737 0.3897222</a:t>
            </a:r>
          </a:p>
          <a:p>
            <a:r>
              <a:rPr lang="en-US" dirty="0"/>
              <a:t>sample estimates:</a:t>
            </a:r>
          </a:p>
          <a:p>
            <a:r>
              <a:rPr lang="en-US" dirty="0"/>
              <a:t>        p </a:t>
            </a:r>
          </a:p>
          <a:p>
            <a:r>
              <a:rPr lang="en-US" dirty="0"/>
              <a:t>0.3607143</a:t>
            </a:r>
          </a:p>
          <a:p>
            <a:endParaRPr lang="en-US" dirty="0"/>
          </a:p>
          <a:p>
            <a:r>
              <a:rPr lang="fr-CA" b="1" dirty="0"/>
              <a:t>Remarque: </a:t>
            </a:r>
            <a:r>
              <a:rPr lang="fr-CA" dirty="0"/>
              <a:t>Il y a une petite différence lorsqu’on utilise le logiciel, cela est dû  aux arrondis</a:t>
            </a:r>
            <a:endParaRPr lang="fr-CA" b="1" dirty="0"/>
          </a:p>
        </p:txBody>
      </p:sp>
    </p:spTree>
    <p:extLst>
      <p:ext uri="{BB962C8B-B14F-4D97-AF65-F5344CB8AC3E}">
        <p14:creationId xmlns:p14="http://schemas.microsoft.com/office/powerpoint/2010/main" val="4029588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757265-3C60-46A8-8BC1-F596A4C57987}"/>
              </a:ext>
            </a:extLst>
          </p:cNvPr>
          <p:cNvSpPr>
            <a:spLocks noGrp="1"/>
          </p:cNvSpPr>
          <p:nvPr>
            <p:ph type="title"/>
          </p:nvPr>
        </p:nvSpPr>
        <p:spPr>
          <a:xfrm>
            <a:off x="838199" y="136525"/>
            <a:ext cx="10887636" cy="6219825"/>
          </a:xfrm>
        </p:spPr>
        <p:txBody>
          <a:bodyPr>
            <a:normAutofit fontScale="90000"/>
          </a:bodyPr>
          <a:lstStyle/>
          <a:p>
            <a:pPr marL="274320" indent="-274320">
              <a:lnSpc>
                <a:spcPct val="200000"/>
              </a:lnSpc>
              <a:spcBef>
                <a:spcPts val="1800"/>
              </a:spcBef>
              <a:spcAft>
                <a:spcPts val="900"/>
              </a:spcAft>
            </a:pPr>
            <a:r>
              <a:rPr lang="fr-CA" b="1" dirty="0"/>
              <a:t>Exemple 2</a:t>
            </a:r>
            <a:r>
              <a:rPr lang="fr-CA" dirty="0"/>
              <a:t>: </a:t>
            </a:r>
            <a:r>
              <a:rPr lang="fr-FR" sz="1800" b="0" spc="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Une maison de sondage a mené une étude sur le pourcentage des canadiens qui reçoivent des messages de publicité non sollicités sur leur téléphone cellulaire. Elle a trouvé un intervalle de confiance de 95% pour cette proportion qui est égal à 17% plus ou moins 3%. Que signifie cet intervalle de confiance ?</a:t>
            </a:r>
            <a:br>
              <a:rPr lang="fr-CA" sz="1800" b="1"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fr-CA" sz="1800" b="1"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fr-FR" sz="1800" b="0" spc="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Dans l’échantillon utilisé par cette maison de sondage, entre 14% et 20% des répondants ont reçu des messages de publicité non sollicités sur leur téléphone cellulaire.</a:t>
            </a:r>
            <a:br>
              <a:rPr lang="fr-CA" sz="1800" b="1"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fr-CA" sz="1800" b="1"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 </a:t>
            </a:r>
            <a:r>
              <a:rPr lang="fr-FR" sz="1800" b="0" spc="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On peut être confiant que 17% des Canadiens ont reçu des messages de publicité non sollicités sur leur téléphone cellulaire.</a:t>
            </a:r>
            <a:br>
              <a:rPr lang="fr-CA" sz="1800" b="1"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fr-CA" sz="1800" b="1"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 </a:t>
            </a:r>
            <a:r>
              <a:rPr lang="fr-FR" sz="1800" b="0" spc="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On peut être confiant qu’entre 14% et 20% de tous les Canadiens qui ont un cellulaire, ont reçu des messages de publicité non sollicités sur leur téléphone cellulaire.</a:t>
            </a:r>
            <a:br>
              <a:rPr lang="fr-CA" sz="1800" b="1"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fr-CA" sz="1800" b="1"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 </a:t>
            </a:r>
            <a:r>
              <a:rPr lang="fr-FR" sz="1800" b="0" spc="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95% de de tous les Canadiens qui ont un cellulaire, ont reçu des messages de publicité non sollicités sur leur téléphone cellulaire.</a:t>
            </a:r>
            <a:br>
              <a:rPr lang="fr-CA" sz="1800" b="1"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fr-FR" sz="1800" b="1" spc="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Réponse :</a:t>
            </a:r>
            <a:r>
              <a:rPr lang="fr-FR" sz="1800" b="0" spc="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La bonne réponse est c. C’est cela la signification d’un tel intervalle de confiance.</a:t>
            </a:r>
            <a:br>
              <a:rPr lang="fr-CA" sz="1800" b="1"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lang="fr-CA" sz="1800" dirty="0">
              <a:latin typeface="Times New Roman" panose="02020603050405020304" pitchFamily="18" charset="0"/>
              <a:cs typeface="Times New Roman" panose="02020603050405020304" pitchFamily="18" charset="0"/>
            </a:endParaRPr>
          </a:p>
        </p:txBody>
      </p:sp>
      <p:sp>
        <p:nvSpPr>
          <p:cNvPr id="3" name="Espace réservé du pied de page 2">
            <a:extLst>
              <a:ext uri="{FF2B5EF4-FFF2-40B4-BE49-F238E27FC236}">
                <a16:creationId xmlns:a16="http://schemas.microsoft.com/office/drawing/2014/main" id="{B95BC11D-5781-454F-9E1D-6C09A8F5215B}"/>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13DFE2A7-C83A-49C4-848B-5F07E09E2484}"/>
              </a:ext>
            </a:extLst>
          </p:cNvPr>
          <p:cNvSpPr>
            <a:spLocks noGrp="1"/>
          </p:cNvSpPr>
          <p:nvPr>
            <p:ph type="sldNum" sz="quarter" idx="12"/>
          </p:nvPr>
        </p:nvSpPr>
        <p:spPr/>
        <p:txBody>
          <a:bodyPr/>
          <a:lstStyle/>
          <a:p>
            <a:fld id="{26377AD9-CE17-438C-A638-C64D2D42D7CF}" type="slidenum">
              <a:rPr lang="fr-CA" smtClean="0"/>
              <a:t>4</a:t>
            </a:fld>
            <a:endParaRPr lang="fr-CA"/>
          </a:p>
        </p:txBody>
      </p:sp>
    </p:spTree>
    <p:extLst>
      <p:ext uri="{BB962C8B-B14F-4D97-AF65-F5344CB8AC3E}">
        <p14:creationId xmlns:p14="http://schemas.microsoft.com/office/powerpoint/2010/main" val="3662298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570069-8E44-4174-9E54-8C34496EE148}"/>
              </a:ext>
            </a:extLst>
          </p:cNvPr>
          <p:cNvSpPr>
            <a:spLocks noGrp="1"/>
          </p:cNvSpPr>
          <p:nvPr>
            <p:ph type="title"/>
          </p:nvPr>
        </p:nvSpPr>
        <p:spPr/>
        <p:txBody>
          <a:bodyPr/>
          <a:lstStyle/>
          <a:p>
            <a:r>
              <a:rPr lang="fr-CA" b="1" dirty="0"/>
              <a:t>Taille échantillonnale minimale pour estimer une proportion</a:t>
            </a:r>
          </a:p>
        </p:txBody>
      </p:sp>
      <p:sp>
        <p:nvSpPr>
          <p:cNvPr id="3" name="Espace réservé du pied de page 2">
            <a:extLst>
              <a:ext uri="{FF2B5EF4-FFF2-40B4-BE49-F238E27FC236}">
                <a16:creationId xmlns:a16="http://schemas.microsoft.com/office/drawing/2014/main" id="{277F9DC2-77CA-419C-9372-B6E54320A27B}"/>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B5769A06-AC11-4731-A140-B55BED3B2CA5}"/>
              </a:ext>
            </a:extLst>
          </p:cNvPr>
          <p:cNvSpPr>
            <a:spLocks noGrp="1"/>
          </p:cNvSpPr>
          <p:nvPr>
            <p:ph type="sldNum" sz="quarter" idx="12"/>
          </p:nvPr>
        </p:nvSpPr>
        <p:spPr/>
        <p:txBody>
          <a:bodyPr/>
          <a:lstStyle/>
          <a:p>
            <a:fld id="{26377AD9-CE17-438C-A638-C64D2D42D7CF}" type="slidenum">
              <a:rPr lang="fr-CA" smtClean="0"/>
              <a:t>5</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6B34A1DD-BFFE-4820-B620-42B4DF0ED0D4}"/>
                  </a:ext>
                </a:extLst>
              </p:cNvPr>
              <p:cNvSpPr txBox="1"/>
              <p:nvPr/>
            </p:nvSpPr>
            <p:spPr>
              <a:xfrm>
                <a:off x="874059" y="2259106"/>
                <a:ext cx="9816353" cy="3329629"/>
              </a:xfrm>
              <a:prstGeom prst="rect">
                <a:avLst/>
              </a:prstGeom>
              <a:noFill/>
            </p:spPr>
            <p:txBody>
              <a:bodyPr wrap="square" rtlCol="0">
                <a:spAutoFit/>
              </a:bodyPr>
              <a:lstStyle/>
              <a:p>
                <a:r>
                  <a:rPr lang="fr-CA" dirty="0"/>
                  <a:t>On a vu que la marge d’erreur est </a:t>
                </a:r>
                <a14:m>
                  <m:oMath xmlns:m="http://schemas.openxmlformats.org/officeDocument/2006/math">
                    <m:r>
                      <a:rPr lang="fr-CA" b="0" i="1" smtClean="0">
                        <a:latin typeface="Cambria Math" panose="02040503050406030204" pitchFamily="18" charset="0"/>
                      </a:rPr>
                      <m:t>𝐸</m:t>
                    </m:r>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𝑧</m:t>
                        </m:r>
                      </m:e>
                      <m:sub>
                        <m:r>
                          <a:rPr lang="fr-CA" b="0" i="1" smtClean="0">
                            <a:latin typeface="Cambria Math" panose="02040503050406030204" pitchFamily="18" charset="0"/>
                            <a:ea typeface="Cambria Math" panose="02040503050406030204" pitchFamily="18" charset="0"/>
                          </a:rPr>
                          <m:t>𝛼</m:t>
                        </m:r>
                        <m:r>
                          <a:rPr lang="fr-CA" b="0" i="1" smtClean="0">
                            <a:latin typeface="Cambria Math" panose="02040503050406030204" pitchFamily="18" charset="0"/>
                            <a:ea typeface="Cambria Math" panose="02040503050406030204" pitchFamily="18" charset="0"/>
                          </a:rPr>
                          <m:t>/2</m:t>
                        </m:r>
                      </m:sub>
                    </m:sSub>
                    <m:rad>
                      <m:radPr>
                        <m:degHide m:val="on"/>
                        <m:ctrlPr>
                          <a:rPr lang="fr-CA" b="0" i="1" smtClean="0">
                            <a:latin typeface="Cambria Math" panose="02040503050406030204" pitchFamily="18" charset="0"/>
                          </a:rPr>
                        </m:ctrlPr>
                      </m:radPr>
                      <m:deg/>
                      <m:e>
                        <m:f>
                          <m:fPr>
                            <m:ctrlPr>
                              <a:rPr lang="fr-CA" b="0" i="1" smtClean="0">
                                <a:latin typeface="Cambria Math" panose="02040503050406030204" pitchFamily="18" charset="0"/>
                              </a:rPr>
                            </m:ctrlPr>
                          </m:fPr>
                          <m:num>
                            <m:r>
                              <a:rPr lang="fr-CA" b="0" i="1" smtClean="0">
                                <a:latin typeface="Cambria Math" panose="02040503050406030204" pitchFamily="18" charset="0"/>
                              </a:rPr>
                              <m:t>𝑝</m:t>
                            </m:r>
                            <m:r>
                              <a:rPr lang="fr-CA" b="0" i="1" smtClean="0">
                                <a:latin typeface="Cambria Math" panose="02040503050406030204" pitchFamily="18" charset="0"/>
                              </a:rPr>
                              <m:t>(1−</m:t>
                            </m:r>
                            <m:r>
                              <a:rPr lang="fr-CA" b="0" i="1" smtClean="0">
                                <a:latin typeface="Cambria Math" panose="02040503050406030204" pitchFamily="18" charset="0"/>
                              </a:rPr>
                              <m:t>𝑝</m:t>
                            </m:r>
                            <m:r>
                              <a:rPr lang="fr-CA" b="0" i="1" smtClean="0">
                                <a:latin typeface="Cambria Math" panose="02040503050406030204" pitchFamily="18" charset="0"/>
                              </a:rPr>
                              <m:t>)</m:t>
                            </m:r>
                          </m:num>
                          <m:den>
                            <m:r>
                              <a:rPr lang="fr-CA" b="0" i="1" smtClean="0">
                                <a:latin typeface="Cambria Math" panose="02040503050406030204" pitchFamily="18" charset="0"/>
                              </a:rPr>
                              <m:t>𝑛</m:t>
                            </m:r>
                          </m:den>
                        </m:f>
                      </m:e>
                    </m:rad>
                  </m:oMath>
                </a14:m>
                <a:r>
                  <a:rPr lang="fr-CA" dirty="0"/>
                  <a:t>     </a:t>
                </a:r>
              </a:p>
              <a:p>
                <a:r>
                  <a:rPr lang="fr-CA" dirty="0">
                    <a:solidFill>
                      <a:srgbClr val="FF0000"/>
                    </a:solidFill>
                  </a:rPr>
                  <a:t>1</a:t>
                </a:r>
                <a:r>
                  <a:rPr lang="fr-CA" baseline="30000" dirty="0">
                    <a:solidFill>
                      <a:srgbClr val="FF0000"/>
                    </a:solidFill>
                  </a:rPr>
                  <a:t>er</a:t>
                </a:r>
                <a:r>
                  <a:rPr lang="fr-CA" dirty="0">
                    <a:solidFill>
                      <a:srgbClr val="FF0000"/>
                    </a:solidFill>
                  </a:rPr>
                  <a:t> Cas:  </a:t>
                </a:r>
                <a:r>
                  <a:rPr lang="fr-CA" dirty="0">
                    <a:solidFill>
                      <a:schemeClr val="tx1"/>
                    </a:solidFill>
                  </a:rPr>
                  <a:t>On a une certaine expérience et on sait que la proportion qui nous intéresse est autour d’une certaine valeur </a:t>
                </a:r>
                <a14:m>
                  <m:oMath xmlns:m="http://schemas.openxmlformats.org/officeDocument/2006/math">
                    <m:sSub>
                      <m:sSubPr>
                        <m:ctrlPr>
                          <a:rPr lang="fr-CA" i="1" smtClean="0">
                            <a:solidFill>
                              <a:schemeClr val="tx1"/>
                            </a:solidFill>
                            <a:latin typeface="Cambria Math" panose="02040503050406030204" pitchFamily="18" charset="0"/>
                          </a:rPr>
                        </m:ctrlPr>
                      </m:sSubPr>
                      <m:e>
                        <m:r>
                          <a:rPr lang="fr-CA" b="0" i="1" smtClean="0">
                            <a:solidFill>
                              <a:schemeClr val="tx1"/>
                            </a:solidFill>
                            <a:latin typeface="Cambria Math" panose="02040503050406030204" pitchFamily="18" charset="0"/>
                          </a:rPr>
                          <m:t>𝑝</m:t>
                        </m:r>
                      </m:e>
                      <m:sub>
                        <m:r>
                          <a:rPr lang="fr-CA" b="0" i="1" smtClean="0">
                            <a:solidFill>
                              <a:schemeClr val="tx1"/>
                            </a:solidFill>
                            <a:latin typeface="Cambria Math" panose="02040503050406030204" pitchFamily="18" charset="0"/>
                          </a:rPr>
                          <m:t>0</m:t>
                        </m:r>
                      </m:sub>
                    </m:sSub>
                  </m:oMath>
                </a14:m>
                <a:r>
                  <a:rPr lang="fr-CA" dirty="0">
                    <a:solidFill>
                      <a:schemeClr val="tx1"/>
                    </a:solidFill>
                  </a:rPr>
                  <a:t>. Dans ce cas, on remplace p par cette valeur et on isole n et on trouve que:</a:t>
                </a:r>
              </a:p>
              <a:p>
                <a:pPr/>
                <a14:m>
                  <m:oMathPara xmlns:m="http://schemas.openxmlformats.org/officeDocument/2006/math">
                    <m:oMathParaPr>
                      <m:jc m:val="centerGroup"/>
                    </m:oMathParaPr>
                    <m:oMath xmlns:m="http://schemas.openxmlformats.org/officeDocument/2006/math">
                      <m:r>
                        <a:rPr lang="fr-CA" b="0" i="1" smtClean="0">
                          <a:solidFill>
                            <a:schemeClr val="tx1"/>
                          </a:solidFill>
                          <a:latin typeface="Cambria Math" panose="02040503050406030204" pitchFamily="18" charset="0"/>
                        </a:rPr>
                        <m:t>𝑛</m:t>
                      </m:r>
                      <m:r>
                        <a:rPr lang="fr-CA" b="0" i="1" smtClean="0">
                          <a:solidFill>
                            <a:schemeClr val="tx1"/>
                          </a:solidFill>
                          <a:latin typeface="Cambria Math" panose="02040503050406030204" pitchFamily="18" charset="0"/>
                          <a:ea typeface="Cambria Math" panose="02040503050406030204" pitchFamily="18" charset="0"/>
                        </a:rPr>
                        <m:t>≥</m:t>
                      </m:r>
                      <m:f>
                        <m:fPr>
                          <m:ctrlPr>
                            <a:rPr lang="fr-CA" b="0" i="1" smtClean="0">
                              <a:solidFill>
                                <a:schemeClr val="tx1"/>
                              </a:solidFill>
                              <a:latin typeface="Cambria Math" panose="02040503050406030204" pitchFamily="18" charset="0"/>
                              <a:ea typeface="Cambria Math" panose="02040503050406030204" pitchFamily="18" charset="0"/>
                            </a:rPr>
                          </m:ctrlPr>
                        </m:fPr>
                        <m:num>
                          <m:sSup>
                            <m:sSupPr>
                              <m:ctrlPr>
                                <a:rPr lang="fr-CA" b="0" i="1" smtClean="0">
                                  <a:solidFill>
                                    <a:schemeClr val="tx1"/>
                                  </a:solidFill>
                                  <a:latin typeface="Cambria Math" panose="02040503050406030204" pitchFamily="18" charset="0"/>
                                  <a:ea typeface="Cambria Math" panose="02040503050406030204" pitchFamily="18" charset="0"/>
                                </a:rPr>
                              </m:ctrlPr>
                            </m:sSupPr>
                            <m:e>
                              <m:sSub>
                                <m:sSubPr>
                                  <m:ctrlPr>
                                    <a:rPr lang="fr-CA" b="0" i="1" smtClean="0">
                                      <a:solidFill>
                                        <a:schemeClr val="tx1"/>
                                      </a:solidFill>
                                      <a:latin typeface="Cambria Math" panose="02040503050406030204" pitchFamily="18" charset="0"/>
                                      <a:ea typeface="Cambria Math" panose="02040503050406030204" pitchFamily="18" charset="0"/>
                                    </a:rPr>
                                  </m:ctrlPr>
                                </m:sSubPr>
                                <m:e>
                                  <m:r>
                                    <a:rPr lang="fr-CA" b="0" i="1" smtClean="0">
                                      <a:solidFill>
                                        <a:schemeClr val="tx1"/>
                                      </a:solidFill>
                                      <a:latin typeface="Cambria Math" panose="02040503050406030204" pitchFamily="18" charset="0"/>
                                      <a:ea typeface="Cambria Math" panose="02040503050406030204" pitchFamily="18" charset="0"/>
                                    </a:rPr>
                                    <m:t>𝑧</m:t>
                                  </m:r>
                                </m:e>
                                <m:sub>
                                  <m:r>
                                    <a:rPr lang="fr-CA" b="0" i="1" smtClean="0">
                                      <a:solidFill>
                                        <a:schemeClr val="tx1"/>
                                      </a:solidFill>
                                      <a:latin typeface="Cambria Math" panose="02040503050406030204" pitchFamily="18" charset="0"/>
                                      <a:ea typeface="Cambria Math" panose="02040503050406030204" pitchFamily="18" charset="0"/>
                                    </a:rPr>
                                    <m:t>𝛼</m:t>
                                  </m:r>
                                  <m:r>
                                    <a:rPr lang="fr-CA" b="0" i="1" smtClean="0">
                                      <a:solidFill>
                                        <a:schemeClr val="tx1"/>
                                      </a:solidFill>
                                      <a:latin typeface="Cambria Math" panose="02040503050406030204" pitchFamily="18" charset="0"/>
                                      <a:ea typeface="Cambria Math" panose="02040503050406030204" pitchFamily="18" charset="0"/>
                                    </a:rPr>
                                    <m:t>/2</m:t>
                                  </m:r>
                                </m:sub>
                              </m:sSub>
                            </m:e>
                            <m:sup>
                              <m:r>
                                <a:rPr lang="fr-CA" b="0" i="1" smtClean="0">
                                  <a:solidFill>
                                    <a:schemeClr val="tx1"/>
                                  </a:solidFill>
                                  <a:latin typeface="Cambria Math" panose="02040503050406030204" pitchFamily="18" charset="0"/>
                                  <a:ea typeface="Cambria Math" panose="02040503050406030204" pitchFamily="18" charset="0"/>
                                </a:rPr>
                                <m:t>2</m:t>
                              </m:r>
                            </m:sup>
                          </m:sSup>
                          <m:sSub>
                            <m:sSubPr>
                              <m:ctrlPr>
                                <a:rPr lang="fr-CA" b="0" i="1" smtClean="0">
                                  <a:solidFill>
                                    <a:schemeClr val="tx1"/>
                                  </a:solidFill>
                                  <a:latin typeface="Cambria Math" panose="02040503050406030204" pitchFamily="18" charset="0"/>
                                  <a:ea typeface="Cambria Math" panose="02040503050406030204" pitchFamily="18" charset="0"/>
                                </a:rPr>
                              </m:ctrlPr>
                            </m:sSubPr>
                            <m:e>
                              <m:r>
                                <a:rPr lang="fr-CA" b="0" i="1" smtClean="0">
                                  <a:solidFill>
                                    <a:schemeClr val="tx1"/>
                                  </a:solidFill>
                                  <a:latin typeface="Cambria Math" panose="02040503050406030204" pitchFamily="18" charset="0"/>
                                  <a:ea typeface="Cambria Math" panose="02040503050406030204" pitchFamily="18" charset="0"/>
                                </a:rPr>
                                <m:t>𝑝</m:t>
                              </m:r>
                            </m:e>
                            <m:sub>
                              <m:r>
                                <a:rPr lang="fr-CA" b="0" i="1" smtClean="0">
                                  <a:solidFill>
                                    <a:schemeClr val="tx1"/>
                                  </a:solidFill>
                                  <a:latin typeface="Cambria Math" panose="02040503050406030204" pitchFamily="18" charset="0"/>
                                  <a:ea typeface="Cambria Math" panose="02040503050406030204" pitchFamily="18" charset="0"/>
                                </a:rPr>
                                <m:t>0</m:t>
                              </m:r>
                            </m:sub>
                          </m:sSub>
                          <m:r>
                            <a:rPr lang="fr-CA" b="0" i="1" smtClean="0">
                              <a:solidFill>
                                <a:schemeClr val="tx1"/>
                              </a:solidFill>
                              <a:latin typeface="Cambria Math" panose="02040503050406030204" pitchFamily="18" charset="0"/>
                              <a:ea typeface="Cambria Math" panose="02040503050406030204" pitchFamily="18" charset="0"/>
                            </a:rPr>
                            <m:t>(1−</m:t>
                          </m:r>
                          <m:sSub>
                            <m:sSubPr>
                              <m:ctrlPr>
                                <a:rPr lang="fr-CA" b="0" i="1" smtClean="0">
                                  <a:solidFill>
                                    <a:schemeClr val="tx1"/>
                                  </a:solidFill>
                                  <a:latin typeface="Cambria Math" panose="02040503050406030204" pitchFamily="18" charset="0"/>
                                  <a:ea typeface="Cambria Math" panose="02040503050406030204" pitchFamily="18" charset="0"/>
                                </a:rPr>
                              </m:ctrlPr>
                            </m:sSubPr>
                            <m:e>
                              <m:r>
                                <a:rPr lang="fr-CA" b="0" i="1" smtClean="0">
                                  <a:solidFill>
                                    <a:schemeClr val="tx1"/>
                                  </a:solidFill>
                                  <a:latin typeface="Cambria Math" panose="02040503050406030204" pitchFamily="18" charset="0"/>
                                  <a:ea typeface="Cambria Math" panose="02040503050406030204" pitchFamily="18" charset="0"/>
                                </a:rPr>
                                <m:t>𝑝</m:t>
                              </m:r>
                            </m:e>
                            <m:sub>
                              <m:r>
                                <a:rPr lang="fr-CA" b="0" i="1" smtClean="0">
                                  <a:solidFill>
                                    <a:schemeClr val="tx1"/>
                                  </a:solidFill>
                                  <a:latin typeface="Cambria Math" panose="02040503050406030204" pitchFamily="18" charset="0"/>
                                  <a:ea typeface="Cambria Math" panose="02040503050406030204" pitchFamily="18" charset="0"/>
                                </a:rPr>
                                <m:t>0</m:t>
                              </m:r>
                            </m:sub>
                          </m:sSub>
                          <m:r>
                            <a:rPr lang="fr-CA" b="0" i="1" smtClean="0">
                              <a:solidFill>
                                <a:schemeClr val="tx1"/>
                              </a:solidFill>
                              <a:latin typeface="Cambria Math" panose="02040503050406030204" pitchFamily="18" charset="0"/>
                              <a:ea typeface="Cambria Math" panose="02040503050406030204" pitchFamily="18" charset="0"/>
                            </a:rPr>
                            <m:t>)</m:t>
                          </m:r>
                        </m:num>
                        <m:den>
                          <m:sSup>
                            <m:sSupPr>
                              <m:ctrlPr>
                                <a:rPr lang="fr-CA" b="0" i="1" smtClean="0">
                                  <a:solidFill>
                                    <a:schemeClr val="tx1"/>
                                  </a:solidFill>
                                  <a:latin typeface="Cambria Math" panose="02040503050406030204" pitchFamily="18" charset="0"/>
                                  <a:ea typeface="Cambria Math" panose="02040503050406030204" pitchFamily="18" charset="0"/>
                                </a:rPr>
                              </m:ctrlPr>
                            </m:sSupPr>
                            <m:e>
                              <m:r>
                                <a:rPr lang="fr-CA" b="0" i="1" smtClean="0">
                                  <a:solidFill>
                                    <a:schemeClr val="tx1"/>
                                  </a:solidFill>
                                  <a:latin typeface="Cambria Math" panose="02040503050406030204" pitchFamily="18" charset="0"/>
                                  <a:ea typeface="Cambria Math" panose="02040503050406030204" pitchFamily="18" charset="0"/>
                                </a:rPr>
                                <m:t>𝐸</m:t>
                              </m:r>
                            </m:e>
                            <m:sup>
                              <m:r>
                                <a:rPr lang="fr-CA" b="0" i="1" smtClean="0">
                                  <a:solidFill>
                                    <a:schemeClr val="tx1"/>
                                  </a:solidFill>
                                  <a:latin typeface="Cambria Math" panose="02040503050406030204" pitchFamily="18" charset="0"/>
                                  <a:ea typeface="Cambria Math" panose="02040503050406030204" pitchFamily="18" charset="0"/>
                                </a:rPr>
                                <m:t>2</m:t>
                              </m:r>
                            </m:sup>
                          </m:sSup>
                        </m:den>
                      </m:f>
                    </m:oMath>
                  </m:oMathPara>
                </a14:m>
                <a:endParaRPr lang="fr-CA" dirty="0">
                  <a:solidFill>
                    <a:srgbClr val="FF0000"/>
                  </a:solidFill>
                </a:endParaRPr>
              </a:p>
              <a:p>
                <a:r>
                  <a:rPr lang="fr-CA" b="1" dirty="0"/>
                  <a:t>Exemple:</a:t>
                </a:r>
                <a:r>
                  <a:rPr lang="fr-CA" dirty="0"/>
                  <a:t>  Quelle est la taille minimale de l’échantillon nécessaire pour estimer une proportion avec une marge d’erreur qui ne dépasse pas 2% avec un intervalle de confiance de 90% si on sait que cette proportion est voisine de 35%?</a:t>
                </a:r>
              </a:p>
              <a:p>
                <a:endParaRPr lang="fr-CA" dirty="0"/>
              </a:p>
              <a:p>
                <a:r>
                  <a:rPr lang="fr-CA" b="1" dirty="0"/>
                  <a:t>Réponse:</a:t>
                </a:r>
                <a:r>
                  <a:rPr lang="fr-CA" dirty="0"/>
                  <a:t>  </a:t>
                </a:r>
                <a14:m>
                  <m:oMath xmlns:m="http://schemas.openxmlformats.org/officeDocument/2006/math">
                    <m:r>
                      <a:rPr lang="fr-CA" i="1" smtClean="0">
                        <a:latin typeface="Cambria Math" panose="02040503050406030204" pitchFamily="18" charset="0"/>
                        <a:ea typeface="Cambria Math" panose="02040503050406030204" pitchFamily="18" charset="0"/>
                      </a:rPr>
                      <m:t>𝛼</m:t>
                    </m:r>
                    <m:r>
                      <a:rPr lang="fr-CA" b="0" i="1" smtClean="0">
                        <a:latin typeface="Cambria Math" panose="02040503050406030204" pitchFamily="18" charset="0"/>
                        <a:ea typeface="Cambria Math" panose="02040503050406030204" pitchFamily="18" charset="0"/>
                      </a:rPr>
                      <m:t>=10%. </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𝑧</m:t>
                        </m:r>
                      </m:e>
                      <m:sub>
                        <m:r>
                          <a:rPr lang="fr-CA" b="0" i="1" smtClean="0">
                            <a:latin typeface="Cambria Math" panose="02040503050406030204" pitchFamily="18" charset="0"/>
                            <a:ea typeface="Cambria Math" panose="02040503050406030204" pitchFamily="18" charset="0"/>
                          </a:rPr>
                          <m:t>0,05</m:t>
                        </m:r>
                      </m:sub>
                    </m:sSub>
                    <m:r>
                      <a:rPr lang="fr-CA" b="0" i="1" smtClean="0">
                        <a:latin typeface="Cambria Math" panose="02040503050406030204" pitchFamily="18" charset="0"/>
                        <a:ea typeface="Cambria Math" panose="02040503050406030204" pitchFamily="18" charset="0"/>
                      </a:rPr>
                      <m:t>=1,645   </m:t>
                    </m:r>
                    <m:r>
                      <a:rPr lang="fr-CA" b="0" i="1" smtClean="0">
                        <a:latin typeface="Cambria Math" panose="02040503050406030204" pitchFamily="18" charset="0"/>
                        <a:ea typeface="Cambria Math" panose="02040503050406030204" pitchFamily="18" charset="0"/>
                      </a:rPr>
                      <m:t>𝑑𝑜𝑛𝑐</m:t>
                    </m:r>
                    <m:r>
                      <a:rPr lang="fr-CA" b="0" i="1" smtClean="0">
                        <a:latin typeface="Cambria Math" panose="02040503050406030204" pitchFamily="18" charset="0"/>
                        <a:ea typeface="Cambria Math" panose="02040503050406030204" pitchFamily="18" charset="0"/>
                      </a:rPr>
                      <m:t> </m:t>
                    </m:r>
                    <m:r>
                      <a:rPr lang="fr-CA" i="1">
                        <a:latin typeface="Cambria Math" panose="02040503050406030204" pitchFamily="18" charset="0"/>
                      </a:rPr>
                      <m:t>𝑛</m:t>
                    </m:r>
                    <m:r>
                      <a:rPr lang="fr-CA" i="1">
                        <a:latin typeface="Cambria Math" panose="02040503050406030204" pitchFamily="18" charset="0"/>
                        <a:ea typeface="Cambria Math" panose="02040503050406030204" pitchFamily="18" charset="0"/>
                      </a:rPr>
                      <m:t>≥</m:t>
                    </m:r>
                    <m:f>
                      <m:fPr>
                        <m:ctrlPr>
                          <a:rPr lang="fr-CA" i="1">
                            <a:latin typeface="Cambria Math" panose="02040503050406030204" pitchFamily="18" charset="0"/>
                            <a:ea typeface="Cambria Math" panose="02040503050406030204" pitchFamily="18" charset="0"/>
                          </a:rPr>
                        </m:ctrlPr>
                      </m:fPr>
                      <m:num>
                        <m:sSup>
                          <m:sSupPr>
                            <m:ctrlPr>
                              <a:rPr lang="fr-CA" i="1">
                                <a:latin typeface="Cambria Math" panose="02040503050406030204" pitchFamily="18" charset="0"/>
                                <a:ea typeface="Cambria Math" panose="02040503050406030204" pitchFamily="18" charset="0"/>
                              </a:rPr>
                            </m:ctrlPr>
                          </m:sSupPr>
                          <m:e>
                            <m:r>
                              <a:rPr lang="fr-CA" b="0" i="1" smtClean="0">
                                <a:latin typeface="Cambria Math" panose="02040503050406030204" pitchFamily="18" charset="0"/>
                                <a:ea typeface="Cambria Math" panose="02040503050406030204" pitchFamily="18" charset="0"/>
                              </a:rPr>
                              <m:t>1,645</m:t>
                            </m:r>
                          </m:e>
                          <m:sup>
                            <m:r>
                              <a:rPr lang="fr-CA" i="1">
                                <a:latin typeface="Cambria Math" panose="02040503050406030204" pitchFamily="18" charset="0"/>
                                <a:ea typeface="Cambria Math" panose="02040503050406030204" pitchFamily="18" charset="0"/>
                              </a:rPr>
                              <m:t>2</m:t>
                            </m:r>
                          </m:sup>
                        </m:sSup>
                        <m:r>
                          <a:rPr lang="fr-CA" b="0" i="1" smtClean="0">
                            <a:latin typeface="Cambria Math" panose="02040503050406030204" pitchFamily="18" charset="0"/>
                            <a:ea typeface="Cambria Math" panose="02040503050406030204" pitchFamily="18" charset="0"/>
                          </a:rPr>
                          <m:t>0,35</m:t>
                        </m:r>
                        <m:r>
                          <a:rPr lang="fr-CA" i="1" smtClean="0">
                            <a:latin typeface="Cambria Math" panose="02040503050406030204" pitchFamily="18" charset="0"/>
                            <a:ea typeface="Cambria Math" panose="02040503050406030204" pitchFamily="18" charset="0"/>
                          </a:rPr>
                          <m:t> </m:t>
                        </m:r>
                        <m:d>
                          <m:dPr>
                            <m:ctrlPr>
                              <a:rPr lang="fr-CA" b="0" i="1" smtClean="0">
                                <a:latin typeface="Cambria Math" panose="02040503050406030204" pitchFamily="18" charset="0"/>
                                <a:ea typeface="Cambria Math" panose="02040503050406030204" pitchFamily="18" charset="0"/>
                              </a:rPr>
                            </m:ctrlPr>
                          </m:dPr>
                          <m:e>
                            <m:r>
                              <a:rPr lang="fr-CA" i="1">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0,35</m:t>
                            </m:r>
                          </m:e>
                        </m:d>
                      </m:num>
                      <m:den>
                        <m:sSup>
                          <m:sSupPr>
                            <m:ctrlPr>
                              <a:rPr lang="fr-CA" i="1">
                                <a:latin typeface="Cambria Math" panose="02040503050406030204" pitchFamily="18" charset="0"/>
                                <a:ea typeface="Cambria Math" panose="02040503050406030204" pitchFamily="18" charset="0"/>
                              </a:rPr>
                            </m:ctrlPr>
                          </m:sSupPr>
                          <m:e>
                            <m:r>
                              <a:rPr lang="fr-CA" b="0" i="1" smtClean="0">
                                <a:latin typeface="Cambria Math" panose="02040503050406030204" pitchFamily="18" charset="0"/>
                                <a:ea typeface="Cambria Math" panose="02040503050406030204" pitchFamily="18" charset="0"/>
                              </a:rPr>
                              <m:t>0,02</m:t>
                            </m:r>
                          </m:e>
                          <m:sup>
                            <m:r>
                              <a:rPr lang="fr-CA" i="1">
                                <a:latin typeface="Cambria Math" panose="02040503050406030204" pitchFamily="18" charset="0"/>
                                <a:ea typeface="Cambria Math" panose="02040503050406030204" pitchFamily="18" charset="0"/>
                              </a:rPr>
                              <m:t>2</m:t>
                            </m:r>
                          </m:sup>
                        </m:sSup>
                      </m:den>
                    </m:f>
                    <m:r>
                      <a:rPr lang="fr-CA" b="0" i="1" smtClean="0">
                        <a:latin typeface="Cambria Math" panose="02040503050406030204" pitchFamily="18" charset="0"/>
                        <a:ea typeface="Cambria Math" panose="02040503050406030204" pitchFamily="18" charset="0"/>
                      </a:rPr>
                      <m:t>=1539,05→</m:t>
                    </m:r>
                    <m:r>
                      <a:rPr lang="fr-CA" b="0" i="1" smtClean="0">
                        <a:latin typeface="Cambria Math" panose="02040503050406030204" pitchFamily="18" charset="0"/>
                        <a:ea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≥1540</m:t>
                    </m:r>
                  </m:oMath>
                </a14:m>
                <a:endParaRPr lang="fr-CA" dirty="0"/>
              </a:p>
            </p:txBody>
          </p:sp>
        </mc:Choice>
        <mc:Fallback xmlns="">
          <p:sp>
            <p:nvSpPr>
              <p:cNvPr id="5" name="ZoneTexte 4">
                <a:extLst>
                  <a:ext uri="{FF2B5EF4-FFF2-40B4-BE49-F238E27FC236}">
                    <a16:creationId xmlns:a16="http://schemas.microsoft.com/office/drawing/2014/main" id="{6B34A1DD-BFFE-4820-B620-42B4DF0ED0D4}"/>
                  </a:ext>
                </a:extLst>
              </p:cNvPr>
              <p:cNvSpPr txBox="1">
                <a:spLocks noRot="1" noChangeAspect="1" noMove="1" noResize="1" noEditPoints="1" noAdjustHandles="1" noChangeArrowheads="1" noChangeShapeType="1" noTextEdit="1"/>
              </p:cNvSpPr>
              <p:nvPr/>
            </p:nvSpPr>
            <p:spPr>
              <a:xfrm>
                <a:off x="874059" y="2259106"/>
                <a:ext cx="9816353" cy="3329629"/>
              </a:xfrm>
              <a:prstGeom prst="rect">
                <a:avLst/>
              </a:prstGeom>
              <a:blipFill>
                <a:blip r:embed="rId2"/>
                <a:stretch>
                  <a:fillRect l="-497"/>
                </a:stretch>
              </a:blipFill>
            </p:spPr>
            <p:txBody>
              <a:bodyPr/>
              <a:lstStyle/>
              <a:p>
                <a:r>
                  <a:rPr lang="fr-CA">
                    <a:noFill/>
                  </a:rPr>
                  <a:t> </a:t>
                </a:r>
              </a:p>
            </p:txBody>
          </p:sp>
        </mc:Fallback>
      </mc:AlternateContent>
    </p:spTree>
    <p:extLst>
      <p:ext uri="{BB962C8B-B14F-4D97-AF65-F5344CB8AC3E}">
        <p14:creationId xmlns:p14="http://schemas.microsoft.com/office/powerpoint/2010/main" val="1748801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979427-D3B1-43FF-ADB7-4CB9DCFCA688}"/>
              </a:ext>
            </a:extLst>
          </p:cNvPr>
          <p:cNvSpPr>
            <a:spLocks noGrp="1"/>
          </p:cNvSpPr>
          <p:nvPr>
            <p:ph type="title"/>
          </p:nvPr>
        </p:nvSpPr>
        <p:spPr/>
        <p:txBody>
          <a:bodyPr/>
          <a:lstStyle/>
          <a:p>
            <a:r>
              <a:rPr lang="fr-CA" b="1" dirty="0">
                <a:solidFill>
                  <a:srgbClr val="FF0000"/>
                </a:solidFill>
              </a:rPr>
              <a:t>2</a:t>
            </a:r>
            <a:r>
              <a:rPr lang="fr-CA" b="1" baseline="30000" dirty="0">
                <a:solidFill>
                  <a:srgbClr val="FF0000"/>
                </a:solidFill>
              </a:rPr>
              <a:t>ième</a:t>
            </a:r>
            <a:r>
              <a:rPr lang="fr-CA" b="1" dirty="0">
                <a:solidFill>
                  <a:srgbClr val="FF0000"/>
                </a:solidFill>
              </a:rPr>
              <a:t> cas: </a:t>
            </a:r>
            <a:r>
              <a:rPr lang="fr-CA" b="1" dirty="0"/>
              <a:t>On ne connait rien sur p</a:t>
            </a:r>
          </a:p>
        </p:txBody>
      </p:sp>
      <p:sp>
        <p:nvSpPr>
          <p:cNvPr id="3" name="Espace réservé du pied de page 2">
            <a:extLst>
              <a:ext uri="{FF2B5EF4-FFF2-40B4-BE49-F238E27FC236}">
                <a16:creationId xmlns:a16="http://schemas.microsoft.com/office/drawing/2014/main" id="{2C2EA8C6-E386-4E20-9164-757019B6115F}"/>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D7550864-0C2D-4008-A165-91CCC39944D4}"/>
              </a:ext>
            </a:extLst>
          </p:cNvPr>
          <p:cNvSpPr>
            <a:spLocks noGrp="1"/>
          </p:cNvSpPr>
          <p:nvPr>
            <p:ph type="sldNum" sz="quarter" idx="12"/>
          </p:nvPr>
        </p:nvSpPr>
        <p:spPr/>
        <p:txBody>
          <a:bodyPr/>
          <a:lstStyle/>
          <a:p>
            <a:fld id="{26377AD9-CE17-438C-A638-C64D2D42D7CF}" type="slidenum">
              <a:rPr lang="fr-CA" smtClean="0"/>
              <a:t>6</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801B0E43-F9B8-4CF8-9683-560A3063A20D}"/>
                  </a:ext>
                </a:extLst>
              </p:cNvPr>
              <p:cNvSpPr txBox="1"/>
              <p:nvPr/>
            </p:nvSpPr>
            <p:spPr>
              <a:xfrm>
                <a:off x="1089212" y="968188"/>
                <a:ext cx="10264588" cy="5117555"/>
              </a:xfrm>
              <a:prstGeom prst="rect">
                <a:avLst/>
              </a:prstGeom>
              <a:noFill/>
            </p:spPr>
            <p:txBody>
              <a:bodyPr wrap="square" rtlCol="0">
                <a:spAutoFit/>
              </a:bodyPr>
              <a:lstStyle/>
              <a:p>
                <a:r>
                  <a:rPr lang="fr-CA" dirty="0"/>
                  <a:t>Si on revient à la formule de </a:t>
                </a:r>
                <a14:m>
                  <m:oMath xmlns:m="http://schemas.openxmlformats.org/officeDocument/2006/math">
                    <m:r>
                      <a:rPr lang="fr-CA" b="0" i="1" smtClean="0">
                        <a:latin typeface="Cambria Math" panose="02040503050406030204" pitchFamily="18" charset="0"/>
                      </a:rPr>
                      <m:t>𝐸</m:t>
                    </m:r>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𝑧</m:t>
                        </m:r>
                      </m:e>
                      <m:sub>
                        <m:r>
                          <a:rPr lang="fr-CA" b="0" i="1" smtClean="0">
                            <a:latin typeface="Cambria Math" panose="02040503050406030204" pitchFamily="18" charset="0"/>
                            <a:ea typeface="Cambria Math" panose="02040503050406030204" pitchFamily="18" charset="0"/>
                          </a:rPr>
                          <m:t>𝛼</m:t>
                        </m:r>
                        <m:r>
                          <a:rPr lang="fr-CA" b="0" i="1" smtClean="0">
                            <a:latin typeface="Cambria Math" panose="02040503050406030204" pitchFamily="18" charset="0"/>
                            <a:ea typeface="Cambria Math" panose="02040503050406030204" pitchFamily="18" charset="0"/>
                          </a:rPr>
                          <m:t>/2</m:t>
                        </m:r>
                      </m:sub>
                    </m:sSub>
                    <m:rad>
                      <m:radPr>
                        <m:degHide m:val="on"/>
                        <m:ctrlPr>
                          <a:rPr lang="fr-CA" b="0" i="1" smtClean="0">
                            <a:latin typeface="Cambria Math" panose="02040503050406030204" pitchFamily="18" charset="0"/>
                          </a:rPr>
                        </m:ctrlPr>
                      </m:radPr>
                      <m:deg/>
                      <m:e>
                        <m:f>
                          <m:fPr>
                            <m:ctrlPr>
                              <a:rPr lang="fr-CA" b="0" i="1" smtClean="0">
                                <a:latin typeface="Cambria Math" panose="02040503050406030204" pitchFamily="18" charset="0"/>
                              </a:rPr>
                            </m:ctrlPr>
                          </m:fPr>
                          <m:num>
                            <m:r>
                              <a:rPr lang="fr-CA" b="0" i="1" smtClean="0">
                                <a:latin typeface="Cambria Math" panose="02040503050406030204" pitchFamily="18" charset="0"/>
                              </a:rPr>
                              <m:t>𝑝</m:t>
                            </m:r>
                            <m:r>
                              <a:rPr lang="fr-CA" b="0" i="1" smtClean="0">
                                <a:latin typeface="Cambria Math" panose="02040503050406030204" pitchFamily="18" charset="0"/>
                              </a:rPr>
                              <m:t>(1−</m:t>
                            </m:r>
                            <m:r>
                              <a:rPr lang="fr-CA" b="0" i="1" smtClean="0">
                                <a:latin typeface="Cambria Math" panose="02040503050406030204" pitchFamily="18" charset="0"/>
                              </a:rPr>
                              <m:t>𝑝</m:t>
                            </m:r>
                            <m:r>
                              <a:rPr lang="fr-CA" b="0" i="1" smtClean="0">
                                <a:latin typeface="Cambria Math" panose="02040503050406030204" pitchFamily="18" charset="0"/>
                              </a:rPr>
                              <m:t>)</m:t>
                            </m:r>
                          </m:num>
                          <m:den>
                            <m:r>
                              <a:rPr lang="fr-CA" b="0" i="1" smtClean="0">
                                <a:latin typeface="Cambria Math" panose="02040503050406030204" pitchFamily="18" charset="0"/>
                              </a:rPr>
                              <m:t>𝑛</m:t>
                            </m:r>
                          </m:den>
                        </m:f>
                      </m:e>
                    </m:rad>
                  </m:oMath>
                </a14:m>
                <a:r>
                  <a:rPr lang="fr-CA" dirty="0"/>
                  <a:t>    on pose </a:t>
                </a:r>
                <a14:m>
                  <m:oMath xmlns:m="http://schemas.openxmlformats.org/officeDocument/2006/math">
                    <m:r>
                      <a:rPr lang="fr-CA" b="0" i="1" smtClean="0">
                        <a:latin typeface="Cambria Math" panose="02040503050406030204" pitchFamily="18" charset="0"/>
                      </a:rPr>
                      <m:t>𝑝</m:t>
                    </m:r>
                    <m:r>
                      <a:rPr lang="fr-CA" b="0" i="1" smtClean="0">
                        <a:latin typeface="Cambria Math" panose="02040503050406030204" pitchFamily="18" charset="0"/>
                      </a:rPr>
                      <m:t>=</m:t>
                    </m:r>
                    <m:r>
                      <a:rPr lang="fr-CA" b="0" i="1" smtClean="0">
                        <a:latin typeface="Cambria Math" panose="02040503050406030204" pitchFamily="18" charset="0"/>
                      </a:rPr>
                      <m:t>𝑥</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𝑓</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𝑥</m:t>
                        </m:r>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𝑥</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𝑥</m:t>
                        </m:r>
                      </m:e>
                    </m:d>
                    <m:r>
                      <a:rPr lang="fr-CA" b="0" i="1" smtClean="0">
                        <a:latin typeface="Cambria Math" panose="02040503050406030204" pitchFamily="18" charset="0"/>
                        <a:ea typeface="Cambria Math" panose="02040503050406030204" pitchFamily="18" charset="0"/>
                      </a:rPr>
                      <m:t> </m:t>
                    </m:r>
                  </m:oMath>
                </a14:m>
                <a:endParaRPr lang="fr-CA" b="0" dirty="0">
                  <a:ea typeface="Cambria Math" panose="02040503050406030204" pitchFamily="18" charset="0"/>
                </a:endParaRPr>
              </a:p>
              <a:p>
                <a:r>
                  <a:rPr lang="fr-CA" dirty="0"/>
                  <a:t>Est une fonction qui atteint son maximum lorsque:</a:t>
                </a: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𝑥</m:t>
                      </m:r>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2</m:t>
                          </m:r>
                        </m:den>
                      </m:f>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𝑚𝑎𝑥𝑓</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𝑥</m:t>
                      </m:r>
                      <m:r>
                        <a:rPr lang="fr-CA" b="0" i="1" smtClean="0">
                          <a:latin typeface="Cambria Math" panose="02040503050406030204" pitchFamily="18" charset="0"/>
                          <a:ea typeface="Cambria Math" panose="02040503050406030204" pitchFamily="18" charset="0"/>
                        </a:rPr>
                        <m:t>)=1/4</m:t>
                      </m:r>
                    </m:oMath>
                  </m:oMathPara>
                </a14:m>
                <a:endParaRPr lang="fr-CA" dirty="0"/>
              </a:p>
              <a:p>
                <a:r>
                  <a:rPr lang="fr-CA" dirty="0"/>
                  <a:t>Donc en isolant, on trouve que:</a:t>
                </a:r>
              </a:p>
              <a:p>
                <a:endParaRPr lang="fr-CA" dirty="0"/>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sSubSup>
                            <m:sSubSupPr>
                              <m:ctrlPr>
                                <a:rPr lang="fr-CA" b="0" i="1" smtClean="0">
                                  <a:latin typeface="Cambria Math" panose="02040503050406030204" pitchFamily="18" charset="0"/>
                                  <a:ea typeface="Cambria Math" panose="02040503050406030204" pitchFamily="18" charset="0"/>
                                </a:rPr>
                              </m:ctrlPr>
                            </m:sSubSupPr>
                            <m:e>
                              <m:r>
                                <a:rPr lang="fr-CA" b="0" i="1" smtClean="0">
                                  <a:latin typeface="Cambria Math" panose="02040503050406030204" pitchFamily="18" charset="0"/>
                                  <a:ea typeface="Cambria Math" panose="02040503050406030204" pitchFamily="18" charset="0"/>
                                </a:rPr>
                                <m:t>𝑧</m:t>
                              </m:r>
                            </m:e>
                            <m:sub>
                              <m:r>
                                <a:rPr lang="fr-CA" b="0" i="1" smtClean="0">
                                  <a:latin typeface="Cambria Math" panose="02040503050406030204" pitchFamily="18" charset="0"/>
                                  <a:ea typeface="Cambria Math" panose="02040503050406030204" pitchFamily="18" charset="0"/>
                                </a:rPr>
                                <m:t>𝛼</m:t>
                              </m:r>
                              <m:r>
                                <a:rPr lang="fr-CA" b="0" i="1" smtClean="0">
                                  <a:latin typeface="Cambria Math" panose="02040503050406030204" pitchFamily="18" charset="0"/>
                                  <a:ea typeface="Cambria Math" panose="02040503050406030204" pitchFamily="18" charset="0"/>
                                </a:rPr>
                                <m:t>/2</m:t>
                              </m:r>
                            </m:sub>
                            <m:sup>
                              <m:r>
                                <a:rPr lang="fr-CA" b="0" i="1" smtClean="0">
                                  <a:latin typeface="Cambria Math" panose="02040503050406030204" pitchFamily="18" charset="0"/>
                                  <a:ea typeface="Cambria Math" panose="02040503050406030204" pitchFamily="18" charset="0"/>
                                </a:rPr>
                                <m:t>2</m:t>
                              </m:r>
                            </m:sup>
                          </m:sSubSup>
                        </m:num>
                        <m:den>
                          <m:r>
                            <a:rPr lang="fr-CA" b="0" i="1" smtClean="0">
                              <a:latin typeface="Cambria Math" panose="02040503050406030204" pitchFamily="18" charset="0"/>
                              <a:ea typeface="Cambria Math" panose="02040503050406030204" pitchFamily="18" charset="0"/>
                            </a:rPr>
                            <m:t>4</m:t>
                          </m:r>
                          <m:sSup>
                            <m:sSupPr>
                              <m:ctrlPr>
                                <a:rPr lang="fr-CA" b="0" i="1" smtClean="0">
                                  <a:latin typeface="Cambria Math" panose="02040503050406030204" pitchFamily="18" charset="0"/>
                                  <a:ea typeface="Cambria Math" panose="02040503050406030204" pitchFamily="18" charset="0"/>
                                </a:rPr>
                              </m:ctrlPr>
                            </m:sSupPr>
                            <m:e>
                              <m:r>
                                <a:rPr lang="fr-CA" b="0" i="1" smtClean="0">
                                  <a:latin typeface="Cambria Math" panose="02040503050406030204" pitchFamily="18" charset="0"/>
                                  <a:ea typeface="Cambria Math" panose="02040503050406030204" pitchFamily="18" charset="0"/>
                                </a:rPr>
                                <m:t>𝐸</m:t>
                              </m:r>
                            </m:e>
                            <m:sup>
                              <m:r>
                                <a:rPr lang="fr-CA" b="0" i="1" smtClean="0">
                                  <a:latin typeface="Cambria Math" panose="02040503050406030204" pitchFamily="18" charset="0"/>
                                  <a:ea typeface="Cambria Math" panose="02040503050406030204" pitchFamily="18" charset="0"/>
                                </a:rPr>
                                <m:t>2</m:t>
                              </m:r>
                            </m:sup>
                          </m:sSup>
                        </m:den>
                      </m:f>
                    </m:oMath>
                  </m:oMathPara>
                </a14:m>
                <a:endParaRPr lang="fr-CA" dirty="0"/>
              </a:p>
              <a:p>
                <a:r>
                  <a:rPr lang="fr-CA" b="1" dirty="0"/>
                  <a:t>Exemple:</a:t>
                </a:r>
                <a:r>
                  <a:rPr lang="fr-CA" dirty="0"/>
                  <a:t> Un sociologue veut estimer le pourcentage d’une population qui soufre d’un certain type de dépression avec une marge d’erreur  qui ne dépasse pas 1,5% et un seuil de signification de 3%. Quelle est la taille de l’échantillon nécessaire?</a:t>
                </a:r>
              </a:p>
              <a:p>
                <a:endParaRPr lang="fr-CA" dirty="0"/>
              </a:p>
              <a:p>
                <a:r>
                  <a:rPr lang="fr-CA" b="1" dirty="0"/>
                  <a:t>Réponse: </a:t>
                </a:r>
                <a:r>
                  <a:rPr lang="fr-CA" dirty="0"/>
                  <a:t>Ici, </a:t>
                </a:r>
                <a14:m>
                  <m:oMath xmlns:m="http://schemas.openxmlformats.org/officeDocument/2006/math">
                    <m:r>
                      <a:rPr lang="fr-CA" i="1" smtClean="0">
                        <a:latin typeface="Cambria Math" panose="02040503050406030204" pitchFamily="18" charset="0"/>
                        <a:ea typeface="Cambria Math" panose="02040503050406030204" pitchFamily="18" charset="0"/>
                      </a:rPr>
                      <m:t>𝛼</m:t>
                    </m:r>
                    <m:r>
                      <a:rPr lang="fr-CA" b="0" i="1" smtClean="0">
                        <a:latin typeface="Cambria Math" panose="02040503050406030204" pitchFamily="18" charset="0"/>
                        <a:ea typeface="Cambria Math" panose="02040503050406030204" pitchFamily="18" charset="0"/>
                      </a:rPr>
                      <m:t>=0,03→</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𝛼</m:t>
                        </m:r>
                      </m:num>
                      <m:den>
                        <m:r>
                          <a:rPr lang="fr-CA" b="0" i="1" smtClean="0">
                            <a:latin typeface="Cambria Math" panose="02040503050406030204" pitchFamily="18" charset="0"/>
                            <a:ea typeface="Cambria Math" panose="02040503050406030204" pitchFamily="18" charset="0"/>
                          </a:rPr>
                          <m:t>2</m:t>
                        </m:r>
                      </m:den>
                    </m:f>
                    <m:r>
                      <a:rPr lang="fr-CA" b="0" i="1" smtClean="0">
                        <a:latin typeface="Cambria Math" panose="02040503050406030204" pitchFamily="18" charset="0"/>
                        <a:ea typeface="Cambria Math" panose="02040503050406030204" pitchFamily="18" charset="0"/>
                      </a:rPr>
                      <m:t>=0,015→1−</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𝛼</m:t>
                        </m:r>
                      </m:num>
                      <m:den>
                        <m:r>
                          <a:rPr lang="fr-CA" b="0" i="1" smtClean="0">
                            <a:latin typeface="Cambria Math" panose="02040503050406030204" pitchFamily="18" charset="0"/>
                            <a:ea typeface="Cambria Math" panose="02040503050406030204" pitchFamily="18" charset="0"/>
                          </a:rPr>
                          <m:t>2</m:t>
                        </m:r>
                      </m:den>
                    </m:f>
                    <m:r>
                      <a:rPr lang="fr-CA" b="0" i="1" smtClean="0">
                        <a:latin typeface="Cambria Math" panose="02040503050406030204" pitchFamily="18" charset="0"/>
                        <a:ea typeface="Cambria Math" panose="02040503050406030204" pitchFamily="18" charset="0"/>
                      </a:rPr>
                      <m:t>=0,985→</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𝑞𝑛𝑜𝑟𝑚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0.985,0,1</m:t>
                        </m:r>
                      </m:e>
                    </m:d>
                    <m:r>
                      <a:rPr lang="fr-CA" b="0" i="1" smtClean="0">
                        <a:latin typeface="Cambria Math" panose="02040503050406030204" pitchFamily="18" charset="0"/>
                        <a:ea typeface="Cambria Math" panose="02040503050406030204" pitchFamily="18" charset="0"/>
                      </a:rPr>
                      <m:t>𝑒𝑡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𝑡𝑟𝑜𝑢𝑣𝑒</m:t>
                    </m:r>
                    <m:r>
                      <a:rPr lang="fr-CA" b="0" i="1" smtClean="0">
                        <a:latin typeface="Cambria Math" panose="02040503050406030204" pitchFamily="18" charset="0"/>
                        <a:ea typeface="Cambria Math" panose="02040503050406030204" pitchFamily="18" charset="0"/>
                      </a:rPr>
                      <m:t>:</m:t>
                    </m:r>
                  </m:oMath>
                </a14:m>
                <a:r>
                  <a:rPr lang="fr-CA" b="0" dirty="0">
                    <a:ea typeface="Cambria Math" panose="02040503050406030204" pitchFamily="18" charset="0"/>
                  </a:rPr>
                  <a:t>2,17</a:t>
                </a:r>
              </a:p>
              <a:p>
                <a:endParaRPr lang="fr-CA"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sSubSup>
                            <m:sSubSupPr>
                              <m:ctrlPr>
                                <a:rPr lang="fr-CA" b="0" i="1" smtClean="0">
                                  <a:latin typeface="Cambria Math" panose="02040503050406030204" pitchFamily="18" charset="0"/>
                                  <a:ea typeface="Cambria Math" panose="02040503050406030204" pitchFamily="18" charset="0"/>
                                </a:rPr>
                              </m:ctrlPr>
                            </m:sSubSupPr>
                            <m:e>
                              <m:r>
                                <a:rPr lang="fr-CA" b="0" i="1" smtClean="0">
                                  <a:latin typeface="Cambria Math" panose="02040503050406030204" pitchFamily="18" charset="0"/>
                                  <a:ea typeface="Cambria Math" panose="02040503050406030204" pitchFamily="18" charset="0"/>
                                </a:rPr>
                                <m:t>𝑧</m:t>
                              </m:r>
                            </m:e>
                            <m:sub>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𝛼</m:t>
                                  </m:r>
                                </m:num>
                                <m:den>
                                  <m:r>
                                    <a:rPr lang="fr-CA" b="0" i="1" smtClean="0">
                                      <a:latin typeface="Cambria Math" panose="02040503050406030204" pitchFamily="18" charset="0"/>
                                      <a:ea typeface="Cambria Math" panose="02040503050406030204" pitchFamily="18" charset="0"/>
                                    </a:rPr>
                                    <m:t>2</m:t>
                                  </m:r>
                                </m:den>
                              </m:f>
                            </m:sub>
                            <m:sup>
                              <m:r>
                                <a:rPr lang="fr-CA" b="0" i="1" smtClean="0">
                                  <a:latin typeface="Cambria Math" panose="02040503050406030204" pitchFamily="18" charset="0"/>
                                  <a:ea typeface="Cambria Math" panose="02040503050406030204" pitchFamily="18" charset="0"/>
                                </a:rPr>
                                <m:t>2</m:t>
                              </m:r>
                            </m:sup>
                          </m:sSubSup>
                        </m:num>
                        <m:den>
                          <m:r>
                            <a:rPr lang="fr-CA" b="0" i="1" smtClean="0">
                              <a:latin typeface="Cambria Math" panose="02040503050406030204" pitchFamily="18" charset="0"/>
                              <a:ea typeface="Cambria Math" panose="02040503050406030204" pitchFamily="18" charset="0"/>
                            </a:rPr>
                            <m:t>4</m:t>
                          </m:r>
                          <m:sSup>
                            <m:sSupPr>
                              <m:ctrlPr>
                                <a:rPr lang="fr-CA" b="0" i="1" smtClean="0">
                                  <a:latin typeface="Cambria Math" panose="02040503050406030204" pitchFamily="18" charset="0"/>
                                  <a:ea typeface="Cambria Math" panose="02040503050406030204" pitchFamily="18" charset="0"/>
                                </a:rPr>
                              </m:ctrlPr>
                            </m:sSupPr>
                            <m:e>
                              <m:r>
                                <a:rPr lang="fr-CA" b="0" i="1" smtClean="0">
                                  <a:latin typeface="Cambria Math" panose="02040503050406030204" pitchFamily="18" charset="0"/>
                                  <a:ea typeface="Cambria Math" panose="02040503050406030204" pitchFamily="18" charset="0"/>
                                </a:rPr>
                                <m:t>𝐸</m:t>
                              </m:r>
                            </m:e>
                            <m:sup>
                              <m:r>
                                <a:rPr lang="fr-CA" b="0" i="1" smtClean="0">
                                  <a:latin typeface="Cambria Math" panose="02040503050406030204" pitchFamily="18" charset="0"/>
                                  <a:ea typeface="Cambria Math" panose="02040503050406030204" pitchFamily="18" charset="0"/>
                                </a:rPr>
                                <m:t>2</m:t>
                              </m:r>
                            </m:sup>
                          </m:sSup>
                        </m:den>
                      </m:f>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sSup>
                            <m:sSupPr>
                              <m:ctrlPr>
                                <a:rPr lang="fr-CA" b="0" i="1" smtClean="0">
                                  <a:latin typeface="Cambria Math" panose="02040503050406030204" pitchFamily="18" charset="0"/>
                                  <a:ea typeface="Cambria Math" panose="02040503050406030204" pitchFamily="18" charset="0"/>
                                </a:rPr>
                              </m:ctrlPr>
                            </m:sSupPr>
                            <m:e>
                              <m:r>
                                <a:rPr lang="fr-CA" b="0" i="1" smtClean="0">
                                  <a:latin typeface="Cambria Math" panose="02040503050406030204" pitchFamily="18" charset="0"/>
                                  <a:ea typeface="Cambria Math" panose="02040503050406030204" pitchFamily="18" charset="0"/>
                                </a:rPr>
                                <m:t>2,17</m:t>
                              </m:r>
                            </m:e>
                            <m:sup>
                              <m:r>
                                <a:rPr lang="fr-CA" b="0" i="1" smtClean="0">
                                  <a:latin typeface="Cambria Math" panose="02040503050406030204" pitchFamily="18" charset="0"/>
                                  <a:ea typeface="Cambria Math" panose="02040503050406030204" pitchFamily="18" charset="0"/>
                                </a:rPr>
                                <m:t>2</m:t>
                              </m:r>
                            </m:sup>
                          </m:sSup>
                        </m:num>
                        <m:den>
                          <m:r>
                            <a:rPr lang="fr-CA" b="0" i="1" smtClean="0">
                              <a:latin typeface="Cambria Math" panose="02040503050406030204" pitchFamily="18" charset="0"/>
                              <a:ea typeface="Cambria Math" panose="02040503050406030204" pitchFamily="18" charset="0"/>
                            </a:rPr>
                            <m:t>4∗</m:t>
                          </m:r>
                          <m:sSup>
                            <m:sSupPr>
                              <m:ctrlPr>
                                <a:rPr lang="fr-CA" b="0" i="1" smtClean="0">
                                  <a:latin typeface="Cambria Math" panose="02040503050406030204" pitchFamily="18" charset="0"/>
                                  <a:ea typeface="Cambria Math" panose="02040503050406030204" pitchFamily="18" charset="0"/>
                                </a:rPr>
                              </m:ctrlPr>
                            </m:sSupPr>
                            <m:e>
                              <m:r>
                                <a:rPr lang="fr-CA" b="0" i="1" smtClean="0">
                                  <a:latin typeface="Cambria Math" panose="02040503050406030204" pitchFamily="18" charset="0"/>
                                  <a:ea typeface="Cambria Math" panose="02040503050406030204" pitchFamily="18" charset="0"/>
                                </a:rPr>
                                <m:t>0,015</m:t>
                              </m:r>
                            </m:e>
                            <m:sup>
                              <m:r>
                                <a:rPr lang="fr-CA" b="0" i="1" smtClean="0">
                                  <a:latin typeface="Cambria Math" panose="02040503050406030204" pitchFamily="18" charset="0"/>
                                  <a:ea typeface="Cambria Math" panose="02040503050406030204" pitchFamily="18" charset="0"/>
                                </a:rPr>
                                <m:t>2</m:t>
                              </m:r>
                            </m:sup>
                          </m:sSup>
                        </m:den>
                      </m:f>
                      <m:r>
                        <a:rPr lang="fr-CA" b="0" i="1" smtClean="0">
                          <a:latin typeface="Cambria Math" panose="02040503050406030204" pitchFamily="18" charset="0"/>
                          <a:ea typeface="Cambria Math" panose="02040503050406030204" pitchFamily="18" charset="0"/>
                        </a:rPr>
                        <m:t>=5232,11≈5233</m:t>
                      </m:r>
                    </m:oMath>
                  </m:oMathPara>
                </a14:m>
                <a:endParaRPr lang="fr-CA" b="1" dirty="0"/>
              </a:p>
            </p:txBody>
          </p:sp>
        </mc:Choice>
        <mc:Fallback xmlns="">
          <p:sp>
            <p:nvSpPr>
              <p:cNvPr id="5" name="ZoneTexte 4">
                <a:extLst>
                  <a:ext uri="{FF2B5EF4-FFF2-40B4-BE49-F238E27FC236}">
                    <a16:creationId xmlns:a16="http://schemas.microsoft.com/office/drawing/2014/main" id="{801B0E43-F9B8-4CF8-9683-560A3063A20D}"/>
                  </a:ext>
                </a:extLst>
              </p:cNvPr>
              <p:cNvSpPr txBox="1">
                <a:spLocks noRot="1" noChangeAspect="1" noMove="1" noResize="1" noEditPoints="1" noAdjustHandles="1" noChangeArrowheads="1" noChangeShapeType="1" noTextEdit="1"/>
              </p:cNvSpPr>
              <p:nvPr/>
            </p:nvSpPr>
            <p:spPr>
              <a:xfrm>
                <a:off x="1089212" y="968188"/>
                <a:ext cx="10264588" cy="5117555"/>
              </a:xfrm>
              <a:prstGeom prst="rect">
                <a:avLst/>
              </a:prstGeom>
              <a:blipFill>
                <a:blip r:embed="rId2"/>
                <a:stretch>
                  <a:fillRect l="-534" r="-772"/>
                </a:stretch>
              </a:blipFill>
            </p:spPr>
            <p:txBody>
              <a:bodyPr/>
              <a:lstStyle/>
              <a:p>
                <a:r>
                  <a:rPr lang="fr-CA">
                    <a:noFill/>
                  </a:rPr>
                  <a:t> </a:t>
                </a:r>
              </a:p>
            </p:txBody>
          </p:sp>
        </mc:Fallback>
      </mc:AlternateContent>
    </p:spTree>
    <p:extLst>
      <p:ext uri="{BB962C8B-B14F-4D97-AF65-F5344CB8AC3E}">
        <p14:creationId xmlns:p14="http://schemas.microsoft.com/office/powerpoint/2010/main" val="620145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Rectangle 19">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re 1">
            <a:extLst>
              <a:ext uri="{FF2B5EF4-FFF2-40B4-BE49-F238E27FC236}">
                <a16:creationId xmlns:a16="http://schemas.microsoft.com/office/drawing/2014/main" id="{0CE3AFFB-8259-449F-8F53-6E6DC3AA01A1}"/>
              </a:ext>
            </a:extLst>
          </p:cNvPr>
          <p:cNvSpPr>
            <a:spLocks noGrp="1"/>
          </p:cNvSpPr>
          <p:nvPr>
            <p:ph type="title"/>
          </p:nvPr>
        </p:nvSpPr>
        <p:spPr>
          <a:xfrm>
            <a:off x="958506" y="800392"/>
            <a:ext cx="10264697" cy="1212102"/>
          </a:xfrm>
        </p:spPr>
        <p:txBody>
          <a:bodyPr vert="horz" lIns="91440" tIns="45720" rIns="91440" bIns="45720" rtlCol="0" anchor="ctr">
            <a:normAutofit/>
          </a:bodyPr>
          <a:lstStyle/>
          <a:p>
            <a:r>
              <a:rPr lang="en-US" sz="4000" kern="1200">
                <a:solidFill>
                  <a:srgbClr val="FFFFFF"/>
                </a:solidFill>
                <a:latin typeface="+mj-lt"/>
                <a:ea typeface="+mj-ea"/>
                <a:cs typeface="+mj-cs"/>
              </a:rPr>
              <a:t>Tests d’hypothèses (Partie I)</a:t>
            </a:r>
          </a:p>
        </p:txBody>
      </p:sp>
      <p:sp>
        <p:nvSpPr>
          <p:cNvPr id="5" name="ZoneTexte 4">
            <a:extLst>
              <a:ext uri="{FF2B5EF4-FFF2-40B4-BE49-F238E27FC236}">
                <a16:creationId xmlns:a16="http://schemas.microsoft.com/office/drawing/2014/main" id="{CCAA6043-D9E4-4E1A-8CED-BB82D432CFDA}"/>
              </a:ext>
            </a:extLst>
          </p:cNvPr>
          <p:cNvSpPr txBox="1"/>
          <p:nvPr/>
        </p:nvSpPr>
        <p:spPr>
          <a:xfrm>
            <a:off x="1367624" y="2490436"/>
            <a:ext cx="9708995" cy="3567173"/>
          </a:xfrm>
          <a:prstGeom prst="rect">
            <a:avLst/>
          </a:prstGeom>
        </p:spPr>
        <p:txBody>
          <a:bodyPr vert="horz" lIns="91440" tIns="45720" rIns="91440" bIns="45720" rtlCol="0" anchor="ctr">
            <a:normAutofit/>
          </a:bodyPr>
          <a:lstStyle/>
          <a:p>
            <a:pPr indent="-228600" defTabSz="914400">
              <a:lnSpc>
                <a:spcPct val="90000"/>
              </a:lnSpc>
              <a:spcAft>
                <a:spcPts val="800"/>
              </a:spcAft>
              <a:buFont typeface="Arial" panose="020B0604020202020204" pitchFamily="34" charset="0"/>
              <a:buChar char="•"/>
            </a:pPr>
            <a:r>
              <a:rPr lang="en-US" sz="1700">
                <a:effectLst/>
              </a:rPr>
              <a:t>Un analyste de données est souvent amené à prendre des décisions ou à porter des jugements sur la valeur d’un ou de plusieurs paramètres d’une population qu’il étudie. Voici quelques exemples concrets :</a:t>
            </a:r>
          </a:p>
          <a:p>
            <a:pPr marL="342900" lvl="0" indent="-228600" defTabSz="914400">
              <a:lnSpc>
                <a:spcPct val="90000"/>
              </a:lnSpc>
              <a:spcAft>
                <a:spcPts val="800"/>
              </a:spcAft>
              <a:buFont typeface="Arial" panose="020B0604020202020204" pitchFamily="34" charset="0"/>
              <a:buChar char="•"/>
            </a:pPr>
            <a:r>
              <a:rPr lang="en-US" sz="1700">
                <a:effectLst/>
              </a:rPr>
              <a:t>Un contrôleur de la qualité peut avoir à décider si le contenu moyen de toutes les cannettes de soda en fabrication diffère significativement de la valeur de 530 ml annoncée sur les étiquettes. </a:t>
            </a:r>
          </a:p>
          <a:p>
            <a:pPr marL="342900" lvl="0" indent="-228600" defTabSz="914400">
              <a:lnSpc>
                <a:spcPct val="90000"/>
              </a:lnSpc>
              <a:spcAft>
                <a:spcPts val="800"/>
              </a:spcAft>
              <a:buFont typeface="Arial" panose="020B0604020202020204" pitchFamily="34" charset="0"/>
              <a:buChar char="•"/>
            </a:pPr>
            <a:r>
              <a:rPr lang="en-US" sz="1700">
                <a:effectLst/>
              </a:rPr>
              <a:t>Un sociologue peut chercher à savoir si le pourcentage de décrocheurs scolaires au secondaire a augmenté au cours des trois dernières années.</a:t>
            </a:r>
          </a:p>
          <a:p>
            <a:pPr marL="342900" lvl="0" indent="-228600" defTabSz="914400">
              <a:lnSpc>
                <a:spcPct val="90000"/>
              </a:lnSpc>
              <a:spcAft>
                <a:spcPts val="800"/>
              </a:spcAft>
              <a:buFont typeface="Arial" panose="020B0604020202020204" pitchFamily="34" charset="0"/>
              <a:buChar char="•"/>
            </a:pPr>
            <a:r>
              <a:rPr lang="en-US" sz="1700">
                <a:effectLst/>
              </a:rPr>
              <a:t>Une spécialiste du marketing aimerait savoir si les jeunes de 18 à 25 ans, préfèrent un téléphone de marque A ou de marque B.</a:t>
            </a:r>
          </a:p>
          <a:p>
            <a:pPr marL="342900" lvl="0" indent="-228600" defTabSz="914400">
              <a:lnSpc>
                <a:spcPct val="90000"/>
              </a:lnSpc>
              <a:spcAft>
                <a:spcPts val="800"/>
              </a:spcAft>
              <a:buFont typeface="Arial" panose="020B0604020202020204" pitchFamily="34" charset="0"/>
              <a:buChar char="•"/>
            </a:pPr>
            <a:r>
              <a:rPr lang="en-US" sz="1700">
                <a:effectLst/>
              </a:rPr>
              <a:t>Un pharmacien aimerait savoir si un nouveau médicament contre une certaine allergie est plus efficace qu’un ancien. </a:t>
            </a:r>
          </a:p>
          <a:p>
            <a:pPr indent="-228600" defTabSz="914400">
              <a:lnSpc>
                <a:spcPct val="90000"/>
              </a:lnSpc>
              <a:buFont typeface="Arial" panose="020B0604020202020204" pitchFamily="34" charset="0"/>
              <a:buChar char="•"/>
            </a:pPr>
            <a:endParaRPr lang="en-US" sz="1700"/>
          </a:p>
        </p:txBody>
      </p:sp>
      <p:sp>
        <p:nvSpPr>
          <p:cNvPr id="3" name="Espace réservé du pied de page 2">
            <a:extLst>
              <a:ext uri="{FF2B5EF4-FFF2-40B4-BE49-F238E27FC236}">
                <a16:creationId xmlns:a16="http://schemas.microsoft.com/office/drawing/2014/main" id="{82078CBC-4916-4118-B7A9-42C730A992AD}"/>
              </a:ext>
            </a:extLst>
          </p:cNvPr>
          <p:cNvSpPr>
            <a:spLocks noGrp="1"/>
          </p:cNvSpPr>
          <p:nvPr>
            <p:ph type="ftr" sz="quarter" idx="11"/>
          </p:nvPr>
        </p:nvSpPr>
        <p:spPr>
          <a:xfrm>
            <a:off x="795528" y="6382512"/>
            <a:ext cx="6757416" cy="320040"/>
          </a:xfrm>
        </p:spPr>
        <p:txBody>
          <a:bodyPr vert="horz" lIns="91440" tIns="45720" rIns="91440" bIns="45720" rtlCol="0" anchor="ctr">
            <a:normAutofit/>
          </a:bodyPr>
          <a:lstStyle/>
          <a:p>
            <a:pPr algn="l" defTabSz="914400"/>
            <a:endParaRPr lang="en-US" sz="10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BA7562B2-CF7B-4DB8-B3F9-25D49A6354F9}"/>
              </a:ext>
            </a:extLst>
          </p:cNvPr>
          <p:cNvSpPr>
            <a:spLocks noGrp="1"/>
          </p:cNvSpPr>
          <p:nvPr>
            <p:ph type="sldNum" sz="quarter" idx="12"/>
          </p:nvPr>
        </p:nvSpPr>
        <p:spPr>
          <a:xfrm>
            <a:off x="10707624" y="6382512"/>
            <a:ext cx="685800" cy="320040"/>
          </a:xfrm>
        </p:spPr>
        <p:txBody>
          <a:bodyPr vert="horz" lIns="91440" tIns="45720" rIns="91440" bIns="45720" rtlCol="0" anchor="ctr">
            <a:normAutofit/>
          </a:bodyPr>
          <a:lstStyle/>
          <a:p>
            <a:pPr defTabSz="914400">
              <a:spcAft>
                <a:spcPts val="600"/>
              </a:spcAft>
            </a:pPr>
            <a:fld id="{26377AD9-CE17-438C-A638-C64D2D42D7CF}" type="slidenum">
              <a:rPr lang="en-US" sz="1000"/>
              <a:pPr defTabSz="914400">
                <a:spcAft>
                  <a:spcPts val="600"/>
                </a:spcAft>
              </a:pPr>
              <a:t>7</a:t>
            </a:fld>
            <a:endParaRPr lang="en-US" sz="1000"/>
          </a:p>
        </p:txBody>
      </p:sp>
    </p:spTree>
    <p:extLst>
      <p:ext uri="{BB962C8B-B14F-4D97-AF65-F5344CB8AC3E}">
        <p14:creationId xmlns:p14="http://schemas.microsoft.com/office/powerpoint/2010/main" val="2013856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F3A7BB75-1E68-48FB-8BE6-35EB489399DB}"/>
                  </a:ext>
                </a:extLst>
              </p:cNvPr>
              <p:cNvSpPr>
                <a:spLocks noGrp="1"/>
              </p:cNvSpPr>
              <p:nvPr>
                <p:ph type="title"/>
              </p:nvPr>
            </p:nvSpPr>
            <p:spPr>
              <a:xfrm>
                <a:off x="838199" y="136525"/>
                <a:ext cx="11174129" cy="2115787"/>
              </a:xfrm>
            </p:spPr>
            <p:txBody>
              <a:bodyPr>
                <a:normAutofit fontScale="90000"/>
              </a:bodyPr>
              <a:lstStyle/>
              <a:p>
                <a:r>
                  <a:rPr lang="fr-CA" dirty="0"/>
                  <a:t>Soit X une variable aléatoire et </a:t>
                </a:r>
                <a14:m>
                  <m:oMath xmlns:m="http://schemas.openxmlformats.org/officeDocument/2006/math">
                    <m:r>
                      <a:rPr lang="fr-CA" i="1" smtClean="0">
                        <a:latin typeface="Cambria Math" panose="02040503050406030204" pitchFamily="18" charset="0"/>
                        <a:ea typeface="Cambria Math" panose="02040503050406030204" pitchFamily="18" charset="0"/>
                      </a:rPr>
                      <m:t>𝜃</m:t>
                    </m:r>
                  </m:oMath>
                </a14:m>
                <a:r>
                  <a:rPr lang="fr-CA" dirty="0"/>
                  <a:t> un paramètre (inconnu) relatif à cette variable, sur lequel on veut mener des hypothèses.</a:t>
                </a:r>
                <a:br>
                  <a:rPr lang="fr-CA" dirty="0"/>
                </a:br>
                <a:endParaRPr lang="fr-CA" dirty="0"/>
              </a:p>
            </p:txBody>
          </p:sp>
        </mc:Choice>
        <mc:Fallback xmlns="">
          <p:sp>
            <p:nvSpPr>
              <p:cNvPr id="2" name="Titre 1">
                <a:extLst>
                  <a:ext uri="{FF2B5EF4-FFF2-40B4-BE49-F238E27FC236}">
                    <a16:creationId xmlns:a16="http://schemas.microsoft.com/office/drawing/2014/main" id="{F3A7BB75-1E68-48FB-8BE6-35EB489399DB}"/>
                  </a:ext>
                </a:extLst>
              </p:cNvPr>
              <p:cNvSpPr>
                <a:spLocks noGrp="1" noRot="1" noChangeAspect="1" noMove="1" noResize="1" noEditPoints="1" noAdjustHandles="1" noChangeArrowheads="1" noChangeShapeType="1" noTextEdit="1"/>
              </p:cNvSpPr>
              <p:nvPr>
                <p:ph type="title"/>
              </p:nvPr>
            </p:nvSpPr>
            <p:spPr>
              <a:xfrm>
                <a:off x="838199" y="136525"/>
                <a:ext cx="11174129" cy="2115787"/>
              </a:xfrm>
              <a:blipFill>
                <a:blip r:embed="rId2"/>
                <a:stretch>
                  <a:fillRect l="-1908" t="-12104"/>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FE137B29-C4ED-41A2-81D7-178A3A9CA8AC}"/>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E63C86E5-81A8-45F6-8282-B6FBB0EF6A20}"/>
              </a:ext>
            </a:extLst>
          </p:cNvPr>
          <p:cNvSpPr>
            <a:spLocks noGrp="1"/>
          </p:cNvSpPr>
          <p:nvPr>
            <p:ph type="sldNum" sz="quarter" idx="12"/>
          </p:nvPr>
        </p:nvSpPr>
        <p:spPr/>
        <p:txBody>
          <a:bodyPr/>
          <a:lstStyle/>
          <a:p>
            <a:fld id="{26377AD9-CE17-438C-A638-C64D2D42D7CF}" type="slidenum">
              <a:rPr lang="fr-CA" smtClean="0"/>
              <a:t>8</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50F28159-45A5-417D-A614-E4F8E9CB859F}"/>
                  </a:ext>
                </a:extLst>
              </p:cNvPr>
              <p:cNvSpPr txBox="1"/>
              <p:nvPr/>
            </p:nvSpPr>
            <p:spPr>
              <a:xfrm>
                <a:off x="972152" y="1761423"/>
                <a:ext cx="10145027" cy="4524315"/>
              </a:xfrm>
              <a:prstGeom prst="rect">
                <a:avLst/>
              </a:prstGeom>
              <a:noFill/>
            </p:spPr>
            <p:txBody>
              <a:bodyPr wrap="square" rtlCol="0">
                <a:spAutoFit/>
              </a:bodyPr>
              <a:lstStyle/>
              <a:p>
                <a:r>
                  <a:rPr lang="fr-CA" dirty="0"/>
                  <a:t>Les types d’hypothèses:</a:t>
                </a:r>
              </a:p>
              <a:p>
                <a:endParaRPr lang="fr-CA" dirty="0"/>
              </a:p>
              <a:p>
                <a:pPr marL="342900" indent="-342900">
                  <a:buFont typeface="+mj-lt"/>
                  <a:buAutoNum type="arabicPeriod"/>
                </a:pP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0</m:t>
                        </m:r>
                      </m:sub>
                    </m:sSub>
                    <m:r>
                      <a:rPr lang="fr-CA" b="0" i="1" smtClean="0">
                        <a:latin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𝜃</m:t>
                    </m:r>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𝜃</m:t>
                        </m:r>
                      </m:e>
                      <m:sub>
                        <m:r>
                          <a:rPr lang="fr-CA" b="0" i="1" smtClean="0">
                            <a:latin typeface="Cambria Math" panose="02040503050406030204" pitchFamily="18" charset="0"/>
                            <a:ea typeface="Cambria Math" panose="02040503050406030204" pitchFamily="18" charset="0"/>
                          </a:rPr>
                          <m:t>0</m:t>
                        </m:r>
                      </m:sub>
                    </m:sSub>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𝑢𝑛𝑒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𝑣𝑎𝑙𝑒𝑢𝑟</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𝑓𝑖𝑥𝑒</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𝑐𝑜𝑛𝑡𝑟𝑒</m:t>
                    </m:r>
                    <m:r>
                      <a:rPr lang="fr-CA" b="0" i="1" smtClean="0">
                        <a:latin typeface="Cambria Math" panose="02040503050406030204" pitchFamily="18" charset="0"/>
                        <a:ea typeface="Cambria Math" panose="02040503050406030204" pitchFamily="18" charset="0"/>
                      </a:rPr>
                      <m:t>   </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𝐻</m:t>
                        </m:r>
                      </m:e>
                      <m:sub>
                        <m:r>
                          <a:rPr lang="fr-CA" b="0" i="1" smtClean="0">
                            <a:latin typeface="Cambria Math" panose="02040503050406030204" pitchFamily="18" charset="0"/>
                            <a:ea typeface="Cambria Math" panose="02040503050406030204" pitchFamily="18" charset="0"/>
                          </a:rPr>
                          <m:t>1</m:t>
                        </m:r>
                      </m:sub>
                    </m:sSub>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𝜃</m:t>
                    </m:r>
                    <m:r>
                      <a:rPr lang="fr-CA" b="0" i="1" smtClean="0">
                        <a:latin typeface="Cambria Math" panose="02040503050406030204" pitchFamily="18" charset="0"/>
                        <a:ea typeface="Cambria Math" panose="02040503050406030204" pitchFamily="18" charset="0"/>
                      </a:rPr>
                      <m:t>≠</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𝜃</m:t>
                        </m:r>
                      </m:e>
                      <m:sub>
                        <m:r>
                          <a:rPr lang="fr-CA" i="1">
                            <a:latin typeface="Cambria Math" panose="02040503050406030204" pitchFamily="18" charset="0"/>
                            <a:ea typeface="Cambria Math" panose="02040503050406030204" pitchFamily="18" charset="0"/>
                          </a:rPr>
                          <m:t>0</m:t>
                        </m:r>
                      </m:sub>
                    </m:sSub>
                  </m:oMath>
                </a14:m>
                <a:r>
                  <a:rPr lang="fr-CA" dirty="0"/>
                  <a:t>  (Test  bilatéral)</a:t>
                </a:r>
              </a:p>
              <a:p>
                <a:pPr marL="342900" indent="-342900">
                  <a:buFont typeface="+mj-lt"/>
                  <a:buAutoNum type="arabicPeriod"/>
                </a:pP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0</m:t>
                        </m:r>
                      </m:sub>
                    </m:sSub>
                    <m:r>
                      <a:rPr lang="fr-CA" b="0" i="1" smtClean="0">
                        <a:latin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𝜃</m:t>
                    </m:r>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𝜃</m:t>
                        </m:r>
                      </m:e>
                      <m:sub>
                        <m:r>
                          <a:rPr lang="fr-CA" b="0" i="1" smtClean="0">
                            <a:latin typeface="Cambria Math" panose="02040503050406030204" pitchFamily="18" charset="0"/>
                            <a:ea typeface="Cambria Math" panose="02040503050406030204" pitchFamily="18" charset="0"/>
                          </a:rPr>
                          <m:t>0</m:t>
                        </m:r>
                      </m:sub>
                    </m:sSub>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𝑢𝑛𝑒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𝑣𝑎𝑙𝑒𝑢𝑟</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𝑓𝑖𝑥𝑒</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𝑐𝑜𝑛𝑡𝑟𝑒</m:t>
                    </m:r>
                    <m:r>
                      <a:rPr lang="fr-CA" b="0" i="1" smtClean="0">
                        <a:latin typeface="Cambria Math" panose="02040503050406030204" pitchFamily="18" charset="0"/>
                        <a:ea typeface="Cambria Math" panose="02040503050406030204" pitchFamily="18" charset="0"/>
                      </a:rPr>
                      <m:t>   </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𝐻</m:t>
                        </m:r>
                      </m:e>
                      <m:sub>
                        <m:r>
                          <a:rPr lang="fr-CA" b="0" i="1" smtClean="0">
                            <a:latin typeface="Cambria Math" panose="02040503050406030204" pitchFamily="18" charset="0"/>
                            <a:ea typeface="Cambria Math" panose="02040503050406030204" pitchFamily="18" charset="0"/>
                          </a:rPr>
                          <m:t>1</m:t>
                        </m:r>
                      </m:sub>
                    </m:sSub>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𝜃</m:t>
                    </m:r>
                    <m:r>
                      <a:rPr lang="fr-CA" b="0" i="1" smtClean="0">
                        <a:latin typeface="Cambria Math" panose="02040503050406030204" pitchFamily="18" charset="0"/>
                        <a:ea typeface="Cambria Math" panose="02040503050406030204" pitchFamily="18" charset="0"/>
                      </a:rPr>
                      <m:t>&gt;</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𝜃</m:t>
                        </m:r>
                      </m:e>
                      <m:sub>
                        <m:r>
                          <a:rPr lang="fr-CA" i="1">
                            <a:latin typeface="Cambria Math" panose="02040503050406030204" pitchFamily="18" charset="0"/>
                            <a:ea typeface="Cambria Math" panose="02040503050406030204" pitchFamily="18" charset="0"/>
                          </a:rPr>
                          <m:t>0</m:t>
                        </m:r>
                      </m:sub>
                    </m:sSub>
                  </m:oMath>
                </a14:m>
                <a:r>
                  <a:rPr lang="fr-CA" dirty="0"/>
                  <a:t>  (Test  unilatéral à droite)</a:t>
                </a:r>
              </a:p>
              <a:p>
                <a:pPr marL="342900" indent="-342900">
                  <a:buFont typeface="+mj-lt"/>
                  <a:buAutoNum type="arabicPeriod"/>
                </a:pP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0</m:t>
                        </m:r>
                      </m:sub>
                    </m:sSub>
                    <m:r>
                      <a:rPr lang="fr-CA" b="0" i="1" smtClean="0">
                        <a:latin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𝜃</m:t>
                    </m:r>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𝜃</m:t>
                        </m:r>
                      </m:e>
                      <m:sub>
                        <m:r>
                          <a:rPr lang="fr-CA" b="0" i="1" smtClean="0">
                            <a:latin typeface="Cambria Math" panose="02040503050406030204" pitchFamily="18" charset="0"/>
                            <a:ea typeface="Cambria Math" panose="02040503050406030204" pitchFamily="18" charset="0"/>
                          </a:rPr>
                          <m:t>0</m:t>
                        </m:r>
                      </m:sub>
                    </m:sSub>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𝑢𝑛𝑒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𝑣𝑎𝑙𝑒𝑢𝑟</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𝑓𝑖𝑥𝑒</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𝑐𝑜𝑛𝑡𝑟𝑒</m:t>
                    </m:r>
                    <m:r>
                      <a:rPr lang="fr-CA" b="0" i="1" smtClean="0">
                        <a:latin typeface="Cambria Math" panose="02040503050406030204" pitchFamily="18" charset="0"/>
                        <a:ea typeface="Cambria Math" panose="02040503050406030204" pitchFamily="18" charset="0"/>
                      </a:rPr>
                      <m:t>   </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𝐻</m:t>
                        </m:r>
                      </m:e>
                      <m:sub>
                        <m:r>
                          <a:rPr lang="fr-CA" b="0" i="1" smtClean="0">
                            <a:latin typeface="Cambria Math" panose="02040503050406030204" pitchFamily="18" charset="0"/>
                            <a:ea typeface="Cambria Math" panose="02040503050406030204" pitchFamily="18" charset="0"/>
                          </a:rPr>
                          <m:t>1</m:t>
                        </m:r>
                      </m:sub>
                    </m:sSub>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𝜃</m:t>
                    </m:r>
                    <m:r>
                      <a:rPr lang="fr-CA" b="0" i="1" smtClean="0">
                        <a:latin typeface="Cambria Math" panose="02040503050406030204" pitchFamily="18" charset="0"/>
                        <a:ea typeface="Cambria Math" panose="02040503050406030204" pitchFamily="18" charset="0"/>
                      </a:rPr>
                      <m:t>&lt;</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𝜃</m:t>
                        </m:r>
                      </m:e>
                      <m:sub>
                        <m:r>
                          <a:rPr lang="fr-CA" i="1">
                            <a:latin typeface="Cambria Math" panose="02040503050406030204" pitchFamily="18" charset="0"/>
                            <a:ea typeface="Cambria Math" panose="02040503050406030204" pitchFamily="18" charset="0"/>
                          </a:rPr>
                          <m:t>0</m:t>
                        </m:r>
                      </m:sub>
                    </m:sSub>
                  </m:oMath>
                </a14:m>
                <a:r>
                  <a:rPr lang="fr-CA" dirty="0"/>
                  <a:t>  (Test  unilatéral à gauche)</a:t>
                </a:r>
              </a:p>
              <a:p>
                <a:endParaRPr lang="fr-CA" dirty="0"/>
              </a:p>
              <a:p>
                <a:r>
                  <a:rPr lang="fr-CA" dirty="0"/>
                  <a:t>L’hypothèse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0</m:t>
                        </m:r>
                      </m:sub>
                    </m:sSub>
                  </m:oMath>
                </a14:m>
                <a:r>
                  <a:rPr lang="fr-CA" dirty="0"/>
                  <a:t> s’appelle l’hypothèse nulle (car elle stipule qu’il y a une différence nulle entre le paramètre inconnu et la valeur avec laquelle on le compare) et l’hypothèse </a:t>
                </a:r>
                <a14:m>
                  <m:oMath xmlns:m="http://schemas.openxmlformats.org/officeDocument/2006/math">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𝐻</m:t>
                        </m:r>
                      </m:e>
                      <m:sub>
                        <m:r>
                          <a:rPr lang="fr-CA" i="1">
                            <a:latin typeface="Cambria Math" panose="02040503050406030204" pitchFamily="18" charset="0"/>
                            <a:ea typeface="Cambria Math" panose="02040503050406030204" pitchFamily="18" charset="0"/>
                          </a:rPr>
                          <m:t>1</m:t>
                        </m:r>
                      </m:sub>
                    </m:sSub>
                  </m:oMath>
                </a14:m>
                <a:r>
                  <a:rPr lang="fr-CA" dirty="0"/>
                  <a:t> s’appelle hypothèse alternative. La démarche d’un test d’hypothèses consiste en 4 étapes:</a:t>
                </a:r>
              </a:p>
              <a:p>
                <a:pPr marL="285750" indent="-285750">
                  <a:buFont typeface="Arial" panose="020B0604020202020204" pitchFamily="34" charset="0"/>
                  <a:buChar char="•"/>
                </a:pPr>
                <a:r>
                  <a:rPr lang="fr-CA" dirty="0"/>
                  <a:t>Étape 1: On formule les hypothèses à tester.</a:t>
                </a:r>
              </a:p>
              <a:p>
                <a:pPr marL="285750" indent="-285750">
                  <a:buFont typeface="Arial" panose="020B0604020202020204" pitchFamily="34" charset="0"/>
                  <a:buChar char="•"/>
                </a:pPr>
                <a:r>
                  <a:rPr lang="fr-CA" dirty="0"/>
                  <a:t>Étape 2: On fait des calculs en supposant que l’hypothèse nulle est vraie.</a:t>
                </a:r>
              </a:p>
              <a:p>
                <a:pPr marL="285750" indent="-285750">
                  <a:buFont typeface="Arial" panose="020B0604020202020204" pitchFamily="34" charset="0"/>
                  <a:buChar char="•"/>
                </a:pPr>
                <a:r>
                  <a:rPr lang="fr-CA" dirty="0"/>
                  <a:t>Étape 3: On prend la décision de rejeter l’hypothèse nulle ou non la rejeter.</a:t>
                </a:r>
              </a:p>
              <a:p>
                <a:pPr marL="285750" indent="-285750">
                  <a:buFont typeface="Arial" panose="020B0604020202020204" pitchFamily="34" charset="0"/>
                  <a:buChar char="•"/>
                </a:pPr>
                <a:r>
                  <a:rPr lang="fr-CA" dirty="0"/>
                  <a:t>Étape 4: Conclusion.</a:t>
                </a:r>
              </a:p>
              <a:p>
                <a:pPr marL="285750" indent="-285750">
                  <a:buFont typeface="Arial" panose="020B0604020202020204" pitchFamily="34" charset="0"/>
                  <a:buChar char="•"/>
                </a:pPr>
                <a:endParaRPr lang="fr-CA" dirty="0"/>
              </a:p>
              <a:p>
                <a:r>
                  <a:rPr lang="fr-CA" b="1" dirty="0"/>
                  <a:t>Remarque:</a:t>
                </a:r>
                <a:r>
                  <a:rPr lang="fr-CA" dirty="0"/>
                  <a:t> ON NE DIT JAMAIS ON ACCEPTE UNE HYPOTHÈSE NULLE .</a:t>
                </a:r>
              </a:p>
              <a:p>
                <a:pPr marL="285750" indent="-285750">
                  <a:buFont typeface="Arial" panose="020B0604020202020204" pitchFamily="34" charset="0"/>
                  <a:buChar char="•"/>
                </a:pPr>
                <a:endParaRPr lang="fr-CA" dirty="0"/>
              </a:p>
            </p:txBody>
          </p:sp>
        </mc:Choice>
        <mc:Fallback xmlns="">
          <p:sp>
            <p:nvSpPr>
              <p:cNvPr id="5" name="ZoneTexte 4">
                <a:extLst>
                  <a:ext uri="{FF2B5EF4-FFF2-40B4-BE49-F238E27FC236}">
                    <a16:creationId xmlns:a16="http://schemas.microsoft.com/office/drawing/2014/main" id="{50F28159-45A5-417D-A614-E4F8E9CB859F}"/>
                  </a:ext>
                </a:extLst>
              </p:cNvPr>
              <p:cNvSpPr txBox="1">
                <a:spLocks noRot="1" noChangeAspect="1" noMove="1" noResize="1" noEditPoints="1" noAdjustHandles="1" noChangeArrowheads="1" noChangeShapeType="1" noTextEdit="1"/>
              </p:cNvSpPr>
              <p:nvPr/>
            </p:nvSpPr>
            <p:spPr>
              <a:xfrm>
                <a:off x="972152" y="1761423"/>
                <a:ext cx="10145027" cy="4524315"/>
              </a:xfrm>
              <a:prstGeom prst="rect">
                <a:avLst/>
              </a:prstGeom>
              <a:blipFill>
                <a:blip r:embed="rId3"/>
                <a:stretch>
                  <a:fillRect l="-480" t="-809" r="-420"/>
                </a:stretch>
              </a:blipFill>
            </p:spPr>
            <p:txBody>
              <a:bodyPr/>
              <a:lstStyle/>
              <a:p>
                <a:r>
                  <a:rPr lang="fr-CA">
                    <a:noFill/>
                  </a:rPr>
                  <a:t> </a:t>
                </a:r>
              </a:p>
            </p:txBody>
          </p:sp>
        </mc:Fallback>
      </mc:AlternateContent>
    </p:spTree>
    <p:extLst>
      <p:ext uri="{BB962C8B-B14F-4D97-AF65-F5344CB8AC3E}">
        <p14:creationId xmlns:p14="http://schemas.microsoft.com/office/powerpoint/2010/main" val="4006611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1A24-6B7D-41BE-90C7-B4A5484F62CD}"/>
              </a:ext>
            </a:extLst>
          </p:cNvPr>
          <p:cNvSpPr>
            <a:spLocks noGrp="1"/>
          </p:cNvSpPr>
          <p:nvPr>
            <p:ph type="title"/>
          </p:nvPr>
        </p:nvSpPr>
        <p:spPr/>
        <p:txBody>
          <a:bodyPr/>
          <a:lstStyle/>
          <a:p>
            <a:r>
              <a:rPr lang="fr-CA" dirty="0"/>
              <a:t>Les possibilités d’un test d’hypothèses</a:t>
            </a:r>
          </a:p>
        </p:txBody>
      </p:sp>
      <p:sp>
        <p:nvSpPr>
          <p:cNvPr id="3" name="Espace réservé du pied de page 2">
            <a:extLst>
              <a:ext uri="{FF2B5EF4-FFF2-40B4-BE49-F238E27FC236}">
                <a16:creationId xmlns:a16="http://schemas.microsoft.com/office/drawing/2014/main" id="{9235A804-376B-487F-8BDD-1556F6B2CEB0}"/>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BD546329-CE73-45A4-BD7F-2D771634B1E7}"/>
              </a:ext>
            </a:extLst>
          </p:cNvPr>
          <p:cNvSpPr>
            <a:spLocks noGrp="1"/>
          </p:cNvSpPr>
          <p:nvPr>
            <p:ph type="sldNum" sz="quarter" idx="12"/>
          </p:nvPr>
        </p:nvSpPr>
        <p:spPr/>
        <p:txBody>
          <a:bodyPr/>
          <a:lstStyle/>
          <a:p>
            <a:fld id="{26377AD9-CE17-438C-A638-C64D2D42D7CF}" type="slidenum">
              <a:rPr lang="fr-CA" smtClean="0"/>
              <a:t>9</a:t>
            </a:fld>
            <a:endParaRPr lang="fr-CA"/>
          </a:p>
        </p:txBody>
      </p:sp>
      <mc:AlternateContent xmlns:mc="http://schemas.openxmlformats.org/markup-compatibility/2006" xmlns:a14="http://schemas.microsoft.com/office/drawing/2010/main">
        <mc:Choice Requires="a14">
          <p:graphicFrame>
            <p:nvGraphicFramePr>
              <p:cNvPr id="5" name="Tableau 5">
                <a:extLst>
                  <a:ext uri="{FF2B5EF4-FFF2-40B4-BE49-F238E27FC236}">
                    <a16:creationId xmlns:a16="http://schemas.microsoft.com/office/drawing/2014/main" id="{FEC2CFB7-7297-49B4-AB3A-9686001E292C}"/>
                  </a:ext>
                </a:extLst>
              </p:cNvPr>
              <p:cNvGraphicFramePr>
                <a:graphicFrameLocks noGrp="1"/>
              </p:cNvGraphicFramePr>
              <p:nvPr>
                <p:extLst>
                  <p:ext uri="{D42A27DB-BD31-4B8C-83A1-F6EECF244321}">
                    <p14:modId xmlns:p14="http://schemas.microsoft.com/office/powerpoint/2010/main" val="2747297792"/>
                  </p:ext>
                </p:extLst>
              </p:nvPr>
            </p:nvGraphicFramePr>
            <p:xfrm>
              <a:off x="2059806" y="1597793"/>
              <a:ext cx="5890930" cy="2772075"/>
            </p:xfrm>
            <a:graphic>
              <a:graphicData uri="http://schemas.openxmlformats.org/drawingml/2006/table">
                <a:tbl>
                  <a:tblPr firstRow="1" bandRow="1">
                    <a:tableStyleId>{5C22544A-7EE6-4342-B048-85BDC9FD1C3A}</a:tableStyleId>
                  </a:tblPr>
                  <a:tblGrid>
                    <a:gridCol w="1945106">
                      <a:extLst>
                        <a:ext uri="{9D8B030D-6E8A-4147-A177-3AD203B41FA5}">
                          <a16:colId xmlns:a16="http://schemas.microsoft.com/office/drawing/2014/main" val="3982271993"/>
                        </a:ext>
                      </a:extLst>
                    </a:gridCol>
                    <a:gridCol w="1972912">
                      <a:extLst>
                        <a:ext uri="{9D8B030D-6E8A-4147-A177-3AD203B41FA5}">
                          <a16:colId xmlns:a16="http://schemas.microsoft.com/office/drawing/2014/main" val="2169211903"/>
                        </a:ext>
                      </a:extLst>
                    </a:gridCol>
                    <a:gridCol w="1972912">
                      <a:extLst>
                        <a:ext uri="{9D8B030D-6E8A-4147-A177-3AD203B41FA5}">
                          <a16:colId xmlns:a16="http://schemas.microsoft.com/office/drawing/2014/main" val="1802855961"/>
                        </a:ext>
                      </a:extLst>
                    </a:gridCol>
                  </a:tblGrid>
                  <a:tr h="924025">
                    <a:tc>
                      <a:txBody>
                        <a:bodyPr/>
                        <a:lstStyle/>
                        <a:p>
                          <a:endParaRPr lang="fr-CA"/>
                        </a:p>
                      </a:txBody>
                      <a:tcPr/>
                    </a:tc>
                    <a:tc>
                      <a:txBody>
                        <a:bodyPr/>
                        <a:lstStyle/>
                        <a:p>
                          <a:pPr/>
                          <a14:m>
                            <m:oMathPara xmlns:m="http://schemas.openxmlformats.org/officeDocument/2006/math">
                              <m:oMathParaPr>
                                <m:jc m:val="centerGroup"/>
                              </m:oMathParaPr>
                              <m:oMath xmlns:m="http://schemas.openxmlformats.org/officeDocument/2006/math">
                                <m:sSub>
                                  <m:sSubPr>
                                    <m:ctrlPr>
                                      <a:rPr lang="fr-CA" i="1" smtClean="0">
                                        <a:latin typeface="Cambria Math" panose="02040503050406030204" pitchFamily="18" charset="0"/>
                                      </a:rPr>
                                    </m:ctrlPr>
                                  </m:sSubPr>
                                  <m:e>
                                    <m:r>
                                      <a:rPr lang="fr-CA" b="1" i="1" smtClean="0">
                                        <a:latin typeface="Cambria Math" panose="02040503050406030204" pitchFamily="18" charset="0"/>
                                      </a:rPr>
                                      <m:t>𝑯</m:t>
                                    </m:r>
                                  </m:e>
                                  <m:sub>
                                    <m:r>
                                      <a:rPr lang="fr-CA" b="1" i="1" smtClean="0">
                                        <a:latin typeface="Cambria Math" panose="02040503050406030204" pitchFamily="18" charset="0"/>
                                      </a:rPr>
                                      <m:t>𝟎</m:t>
                                    </m:r>
                                  </m:sub>
                                </m:sSub>
                                <m:r>
                                  <a:rPr lang="fr-CA" b="1" i="1" smtClean="0">
                                    <a:latin typeface="Cambria Math" panose="02040503050406030204" pitchFamily="18" charset="0"/>
                                  </a:rPr>
                                  <m:t> </m:t>
                                </m:r>
                                <m:r>
                                  <a:rPr lang="fr-CA" b="1" i="1" smtClean="0">
                                    <a:latin typeface="Cambria Math" panose="02040503050406030204" pitchFamily="18" charset="0"/>
                                  </a:rPr>
                                  <m:t>𝒆𝒔𝒕</m:t>
                                </m:r>
                                <m:r>
                                  <a:rPr lang="fr-CA" b="1" i="1" smtClean="0">
                                    <a:latin typeface="Cambria Math" panose="02040503050406030204" pitchFamily="18" charset="0"/>
                                  </a:rPr>
                                  <m:t> </m:t>
                                </m:r>
                                <m:r>
                                  <a:rPr lang="fr-CA" b="1" i="1" smtClean="0">
                                    <a:latin typeface="Cambria Math" panose="02040503050406030204" pitchFamily="18" charset="0"/>
                                  </a:rPr>
                                  <m:t>𝒗𝒓𝒂𝒊𝒆</m:t>
                                </m:r>
                              </m:oMath>
                            </m:oMathPara>
                          </a14:m>
                          <a:endParaRPr lang="fr-C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fr-CA" i="1" smtClean="0">
                                        <a:latin typeface="Cambria Math" panose="02040503050406030204" pitchFamily="18" charset="0"/>
                                      </a:rPr>
                                    </m:ctrlPr>
                                  </m:sSubPr>
                                  <m:e>
                                    <m:r>
                                      <a:rPr lang="fr-CA" b="1" i="1" smtClean="0">
                                        <a:latin typeface="Cambria Math" panose="02040503050406030204" pitchFamily="18" charset="0"/>
                                      </a:rPr>
                                      <m:t>𝑯</m:t>
                                    </m:r>
                                  </m:e>
                                  <m:sub>
                                    <m:r>
                                      <a:rPr lang="fr-CA" b="1" i="1" smtClean="0">
                                        <a:latin typeface="Cambria Math" panose="02040503050406030204" pitchFamily="18" charset="0"/>
                                      </a:rPr>
                                      <m:t>𝟎</m:t>
                                    </m:r>
                                  </m:sub>
                                </m:sSub>
                                <m:r>
                                  <a:rPr lang="fr-CA" b="1" i="1" smtClean="0">
                                    <a:latin typeface="Cambria Math" panose="02040503050406030204" pitchFamily="18" charset="0"/>
                                  </a:rPr>
                                  <m:t> </m:t>
                                </m:r>
                                <m:r>
                                  <a:rPr lang="fr-CA" b="1" i="1" smtClean="0">
                                    <a:latin typeface="Cambria Math" panose="02040503050406030204" pitchFamily="18" charset="0"/>
                                  </a:rPr>
                                  <m:t>𝒆𝒔𝒕</m:t>
                                </m:r>
                                <m:r>
                                  <a:rPr lang="fr-CA" b="1" i="1" smtClean="0">
                                    <a:latin typeface="Cambria Math" panose="02040503050406030204" pitchFamily="18" charset="0"/>
                                  </a:rPr>
                                  <m:t> </m:t>
                                </m:r>
                                <m:r>
                                  <a:rPr lang="fr-CA" b="1" i="1" smtClean="0">
                                    <a:latin typeface="Cambria Math" panose="02040503050406030204" pitchFamily="18" charset="0"/>
                                  </a:rPr>
                                  <m:t>𝒇𝒂𝒖𝒔𝒔𝒆</m:t>
                                </m:r>
                              </m:oMath>
                            </m:oMathPara>
                          </a14:m>
                          <a:endParaRPr lang="fr-CA" dirty="0"/>
                        </a:p>
                        <a:p>
                          <a:endParaRPr lang="fr-CA" dirty="0"/>
                        </a:p>
                      </a:txBody>
                      <a:tcPr/>
                    </a:tc>
                    <a:extLst>
                      <a:ext uri="{0D108BD9-81ED-4DB2-BD59-A6C34878D82A}">
                        <a16:rowId xmlns:a16="http://schemas.microsoft.com/office/drawing/2014/main" val="3144701395"/>
                      </a:ext>
                    </a:extLst>
                  </a:tr>
                  <a:tr h="924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Décision de rejeter </a:t>
                          </a:r>
                          <a14:m>
                            <m:oMath xmlns:m="http://schemas.openxmlformats.org/officeDocument/2006/math">
                              <m:sSub>
                                <m:sSubPr>
                                  <m:ctrlPr>
                                    <a:rPr lang="fr-CA" i="1" smtClean="0">
                                      <a:latin typeface="Cambria Math" panose="02040503050406030204" pitchFamily="18" charset="0"/>
                                    </a:rPr>
                                  </m:ctrlPr>
                                </m:sSubPr>
                                <m:e>
                                  <m:r>
                                    <a:rPr lang="fr-CA" b="1" i="1" smtClean="0">
                                      <a:latin typeface="Cambria Math" panose="02040503050406030204" pitchFamily="18" charset="0"/>
                                    </a:rPr>
                                    <m:t>𝑯</m:t>
                                  </m:r>
                                </m:e>
                                <m:sub>
                                  <m:r>
                                    <a:rPr lang="fr-CA" b="1" i="1" smtClean="0">
                                      <a:latin typeface="Cambria Math" panose="02040503050406030204" pitchFamily="18" charset="0"/>
                                    </a:rPr>
                                    <m:t>𝟎</m:t>
                                  </m:r>
                                </m:sub>
                              </m:sSub>
                              <m:r>
                                <a:rPr lang="fr-CA" b="1" i="1" smtClean="0">
                                  <a:latin typeface="Cambria Math" panose="02040503050406030204" pitchFamily="18" charset="0"/>
                                </a:rPr>
                                <m:t> </m:t>
                              </m:r>
                            </m:oMath>
                          </a14:m>
                          <a:endParaRPr lang="fr-CA" dirty="0"/>
                        </a:p>
                        <a:p>
                          <a:endParaRPr lang="fr-CA" dirty="0"/>
                        </a:p>
                      </a:txBody>
                      <a:tcPr/>
                    </a:tc>
                    <a:tc>
                      <a:txBody>
                        <a:bodyPr/>
                        <a:lstStyle/>
                        <a:p>
                          <a:r>
                            <a:rPr lang="fr-CA" dirty="0"/>
                            <a:t>ERREUR DE TYPE I</a:t>
                          </a:r>
                        </a:p>
                      </a:txBody>
                      <a:tcPr/>
                    </a:tc>
                    <a:tc>
                      <a:txBody>
                        <a:bodyPr/>
                        <a:lstStyle/>
                        <a:p>
                          <a:r>
                            <a:rPr lang="fr-CA" dirty="0"/>
                            <a:t>BONNE DÉCISION</a:t>
                          </a:r>
                        </a:p>
                      </a:txBody>
                      <a:tcPr/>
                    </a:tc>
                    <a:extLst>
                      <a:ext uri="{0D108BD9-81ED-4DB2-BD59-A6C34878D82A}">
                        <a16:rowId xmlns:a16="http://schemas.microsoft.com/office/drawing/2014/main" val="4187390249"/>
                      </a:ext>
                    </a:extLst>
                  </a:tr>
                  <a:tr h="924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Décision de ne pas rejeter </a:t>
                          </a:r>
                          <a14:m>
                            <m:oMath xmlns:m="http://schemas.openxmlformats.org/officeDocument/2006/math">
                              <m:sSub>
                                <m:sSubPr>
                                  <m:ctrlPr>
                                    <a:rPr lang="fr-CA" i="1" smtClean="0">
                                      <a:latin typeface="Cambria Math" panose="02040503050406030204" pitchFamily="18" charset="0"/>
                                    </a:rPr>
                                  </m:ctrlPr>
                                </m:sSubPr>
                                <m:e>
                                  <m:r>
                                    <a:rPr lang="fr-CA" b="1" i="1" smtClean="0">
                                      <a:latin typeface="Cambria Math" panose="02040503050406030204" pitchFamily="18" charset="0"/>
                                    </a:rPr>
                                    <m:t>𝑯</m:t>
                                  </m:r>
                                </m:e>
                                <m:sub>
                                  <m:r>
                                    <a:rPr lang="fr-CA" b="1" i="1" smtClean="0">
                                      <a:latin typeface="Cambria Math" panose="02040503050406030204" pitchFamily="18" charset="0"/>
                                    </a:rPr>
                                    <m:t>𝟎</m:t>
                                  </m:r>
                                </m:sub>
                              </m:sSub>
                              <m:r>
                                <a:rPr lang="fr-CA" b="1" i="1" smtClean="0">
                                  <a:latin typeface="Cambria Math" panose="02040503050406030204" pitchFamily="18" charset="0"/>
                                </a:rPr>
                                <m:t> </m:t>
                              </m:r>
                            </m:oMath>
                          </a14:m>
                          <a:endParaRPr lang="fr-CA" dirty="0"/>
                        </a:p>
                        <a:p>
                          <a:endParaRPr lang="fr-CA" dirty="0"/>
                        </a:p>
                      </a:txBody>
                      <a:tcPr/>
                    </a:tc>
                    <a:tc>
                      <a:txBody>
                        <a:bodyPr/>
                        <a:lstStyle/>
                        <a:p>
                          <a:r>
                            <a:rPr lang="fr-CA" dirty="0"/>
                            <a:t>BONNE DÉCISION</a:t>
                          </a:r>
                        </a:p>
                      </a:txBody>
                      <a:tcPr/>
                    </a:tc>
                    <a:tc>
                      <a:txBody>
                        <a:bodyPr/>
                        <a:lstStyle/>
                        <a:p>
                          <a:r>
                            <a:rPr lang="fr-CA" dirty="0"/>
                            <a:t>ERREUR DE TYPE II</a:t>
                          </a:r>
                        </a:p>
                      </a:txBody>
                      <a:tcPr/>
                    </a:tc>
                    <a:extLst>
                      <a:ext uri="{0D108BD9-81ED-4DB2-BD59-A6C34878D82A}">
                        <a16:rowId xmlns:a16="http://schemas.microsoft.com/office/drawing/2014/main" val="2672564559"/>
                      </a:ext>
                    </a:extLst>
                  </a:tr>
                </a:tbl>
              </a:graphicData>
            </a:graphic>
          </p:graphicFrame>
        </mc:Choice>
        <mc:Fallback xmlns="">
          <p:graphicFrame>
            <p:nvGraphicFramePr>
              <p:cNvPr id="5" name="Tableau 5">
                <a:extLst>
                  <a:ext uri="{FF2B5EF4-FFF2-40B4-BE49-F238E27FC236}">
                    <a16:creationId xmlns:a16="http://schemas.microsoft.com/office/drawing/2014/main" id="{FEC2CFB7-7297-49B4-AB3A-9686001E292C}"/>
                  </a:ext>
                </a:extLst>
              </p:cNvPr>
              <p:cNvGraphicFramePr>
                <a:graphicFrameLocks noGrp="1"/>
              </p:cNvGraphicFramePr>
              <p:nvPr>
                <p:extLst>
                  <p:ext uri="{D42A27DB-BD31-4B8C-83A1-F6EECF244321}">
                    <p14:modId xmlns:p14="http://schemas.microsoft.com/office/powerpoint/2010/main" val="2747297792"/>
                  </p:ext>
                </p:extLst>
              </p:nvPr>
            </p:nvGraphicFramePr>
            <p:xfrm>
              <a:off x="2059806" y="1597793"/>
              <a:ext cx="5890930" cy="2772075"/>
            </p:xfrm>
            <a:graphic>
              <a:graphicData uri="http://schemas.openxmlformats.org/drawingml/2006/table">
                <a:tbl>
                  <a:tblPr firstRow="1" bandRow="1">
                    <a:tableStyleId>{5C22544A-7EE6-4342-B048-85BDC9FD1C3A}</a:tableStyleId>
                  </a:tblPr>
                  <a:tblGrid>
                    <a:gridCol w="1945106">
                      <a:extLst>
                        <a:ext uri="{9D8B030D-6E8A-4147-A177-3AD203B41FA5}">
                          <a16:colId xmlns:a16="http://schemas.microsoft.com/office/drawing/2014/main" val="3982271993"/>
                        </a:ext>
                      </a:extLst>
                    </a:gridCol>
                    <a:gridCol w="1972912">
                      <a:extLst>
                        <a:ext uri="{9D8B030D-6E8A-4147-A177-3AD203B41FA5}">
                          <a16:colId xmlns:a16="http://schemas.microsoft.com/office/drawing/2014/main" val="2169211903"/>
                        </a:ext>
                      </a:extLst>
                    </a:gridCol>
                    <a:gridCol w="1972912">
                      <a:extLst>
                        <a:ext uri="{9D8B030D-6E8A-4147-A177-3AD203B41FA5}">
                          <a16:colId xmlns:a16="http://schemas.microsoft.com/office/drawing/2014/main" val="1802855961"/>
                        </a:ext>
                      </a:extLst>
                    </a:gridCol>
                  </a:tblGrid>
                  <a:tr h="924025">
                    <a:tc>
                      <a:txBody>
                        <a:bodyPr/>
                        <a:lstStyle/>
                        <a:p>
                          <a:endParaRPr lang="fr-CA"/>
                        </a:p>
                      </a:txBody>
                      <a:tcPr/>
                    </a:tc>
                    <a:tc>
                      <a:txBody>
                        <a:bodyPr/>
                        <a:lstStyle/>
                        <a:p>
                          <a:endParaRPr lang="fr-FR"/>
                        </a:p>
                      </a:txBody>
                      <a:tcPr>
                        <a:blipFill>
                          <a:blip r:embed="rId2"/>
                          <a:stretch>
                            <a:fillRect l="-99074" t="-658" r="-101235" b="-200658"/>
                          </a:stretch>
                        </a:blipFill>
                      </a:tcPr>
                    </a:tc>
                    <a:tc>
                      <a:txBody>
                        <a:bodyPr/>
                        <a:lstStyle/>
                        <a:p>
                          <a:endParaRPr lang="fr-FR"/>
                        </a:p>
                      </a:txBody>
                      <a:tcPr>
                        <a:blipFill>
                          <a:blip r:embed="rId2"/>
                          <a:stretch>
                            <a:fillRect l="-199074" t="-658" r="-1235" b="-200658"/>
                          </a:stretch>
                        </a:blipFill>
                      </a:tcPr>
                    </a:tc>
                    <a:extLst>
                      <a:ext uri="{0D108BD9-81ED-4DB2-BD59-A6C34878D82A}">
                        <a16:rowId xmlns:a16="http://schemas.microsoft.com/office/drawing/2014/main" val="3144701395"/>
                      </a:ext>
                    </a:extLst>
                  </a:tr>
                  <a:tr h="924025">
                    <a:tc>
                      <a:txBody>
                        <a:bodyPr/>
                        <a:lstStyle/>
                        <a:p>
                          <a:endParaRPr lang="fr-FR"/>
                        </a:p>
                      </a:txBody>
                      <a:tcPr>
                        <a:blipFill>
                          <a:blip r:embed="rId2"/>
                          <a:stretch>
                            <a:fillRect l="-313" t="-101325" r="-203750" b="-101987"/>
                          </a:stretch>
                        </a:blipFill>
                      </a:tcPr>
                    </a:tc>
                    <a:tc>
                      <a:txBody>
                        <a:bodyPr/>
                        <a:lstStyle/>
                        <a:p>
                          <a:r>
                            <a:rPr lang="fr-CA" dirty="0"/>
                            <a:t>ERREUR DE TYPE I</a:t>
                          </a:r>
                        </a:p>
                      </a:txBody>
                      <a:tcPr/>
                    </a:tc>
                    <a:tc>
                      <a:txBody>
                        <a:bodyPr/>
                        <a:lstStyle/>
                        <a:p>
                          <a:r>
                            <a:rPr lang="fr-CA" dirty="0"/>
                            <a:t>BONNE DÉCISION</a:t>
                          </a:r>
                        </a:p>
                      </a:txBody>
                      <a:tcPr/>
                    </a:tc>
                    <a:extLst>
                      <a:ext uri="{0D108BD9-81ED-4DB2-BD59-A6C34878D82A}">
                        <a16:rowId xmlns:a16="http://schemas.microsoft.com/office/drawing/2014/main" val="4187390249"/>
                      </a:ext>
                    </a:extLst>
                  </a:tr>
                  <a:tr h="924025">
                    <a:tc>
                      <a:txBody>
                        <a:bodyPr/>
                        <a:lstStyle/>
                        <a:p>
                          <a:endParaRPr lang="fr-FR"/>
                        </a:p>
                      </a:txBody>
                      <a:tcPr>
                        <a:blipFill>
                          <a:blip r:embed="rId2"/>
                          <a:stretch>
                            <a:fillRect l="-313" t="-200000" r="-203750" b="-1316"/>
                          </a:stretch>
                        </a:blipFill>
                      </a:tcPr>
                    </a:tc>
                    <a:tc>
                      <a:txBody>
                        <a:bodyPr/>
                        <a:lstStyle/>
                        <a:p>
                          <a:r>
                            <a:rPr lang="fr-CA" dirty="0"/>
                            <a:t>BONNE DÉCISION</a:t>
                          </a:r>
                        </a:p>
                      </a:txBody>
                      <a:tcPr/>
                    </a:tc>
                    <a:tc>
                      <a:txBody>
                        <a:bodyPr/>
                        <a:lstStyle/>
                        <a:p>
                          <a:r>
                            <a:rPr lang="fr-CA" dirty="0"/>
                            <a:t>ERREUR DE TYPE II</a:t>
                          </a:r>
                        </a:p>
                      </a:txBody>
                      <a:tcPr/>
                    </a:tc>
                    <a:extLst>
                      <a:ext uri="{0D108BD9-81ED-4DB2-BD59-A6C34878D82A}">
                        <a16:rowId xmlns:a16="http://schemas.microsoft.com/office/drawing/2014/main" val="2672564559"/>
                      </a:ext>
                    </a:extLst>
                  </a:tr>
                </a:tbl>
              </a:graphicData>
            </a:graphic>
          </p:graphicFrame>
        </mc:Fallback>
      </mc:AlternateContent>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702FC054-230D-4B1F-8CFE-F480D5686EA5}"/>
                  </a:ext>
                </a:extLst>
              </p:cNvPr>
              <p:cNvSpPr txBox="1"/>
              <p:nvPr/>
            </p:nvSpPr>
            <p:spPr>
              <a:xfrm>
                <a:off x="1164657" y="4764505"/>
                <a:ext cx="9914021" cy="1754326"/>
              </a:xfrm>
              <a:prstGeom prst="rect">
                <a:avLst/>
              </a:prstGeom>
              <a:noFill/>
            </p:spPr>
            <p:txBody>
              <a:bodyPr wrap="square" rtlCol="0">
                <a:spAutoFit/>
              </a:bodyPr>
              <a:lstStyle/>
              <a:p>
                <a:r>
                  <a:rPr lang="fr-CA" dirty="0"/>
                  <a:t>On note:</a:t>
                </a:r>
              </a:p>
              <a:p>
                <a:pPr/>
                <a14:m>
                  <m:oMathPara xmlns:m="http://schemas.openxmlformats.org/officeDocument/2006/math">
                    <m:oMathParaPr>
                      <m:jc m:val="centerGroup"/>
                    </m:oMathParaPr>
                    <m:oMath xmlns:m="http://schemas.openxmlformats.org/officeDocument/2006/math">
                      <m:r>
                        <a:rPr lang="fr-CA" i="1" smtClean="0">
                          <a:latin typeface="Cambria Math" panose="02040503050406030204" pitchFamily="18" charset="0"/>
                          <a:ea typeface="Cambria Math" panose="02040503050406030204" pitchFamily="18" charset="0"/>
                        </a:rPr>
                        <m:t>𝛼</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𝑃𝑟𝑜𝑏𝑎𝑏𝑖𝑙𝑖𝑡</m:t>
                      </m:r>
                      <m:r>
                        <a:rPr lang="fr-CA" b="0" i="1" smtClean="0">
                          <a:latin typeface="Cambria Math" panose="02040503050406030204" pitchFamily="18" charset="0"/>
                          <a:ea typeface="Cambria Math" panose="02040503050406030204" pitchFamily="18" charset="0"/>
                        </a:rPr>
                        <m:t>é </m:t>
                      </m:r>
                      <m:r>
                        <a:rPr lang="fr-CA" b="0" i="1" smtClean="0">
                          <a:latin typeface="Cambria Math" panose="02040503050406030204" pitchFamily="18" charset="0"/>
                          <a:ea typeface="Cambria Math" panose="02040503050406030204" pitchFamily="18" charset="0"/>
                        </a:rPr>
                        <m:t>𝑑𝑒</m:t>
                      </m:r>
                      <m:r>
                        <a:rPr lang="fr-CA" b="0" i="1" smtClean="0">
                          <a:latin typeface="Cambria Math" panose="02040503050406030204" pitchFamily="18" charset="0"/>
                          <a:ea typeface="Cambria Math" panose="02040503050406030204" pitchFamily="18" charset="0"/>
                        </a:rPr>
                        <m:t> </m:t>
                      </m:r>
                      <m:sSup>
                        <m:sSupPr>
                          <m:ctrlPr>
                            <a:rPr lang="fr-CA" b="0" i="1" smtClean="0">
                              <a:latin typeface="Cambria Math" panose="02040503050406030204" pitchFamily="18" charset="0"/>
                              <a:ea typeface="Cambria Math" panose="02040503050406030204" pitchFamily="18" charset="0"/>
                            </a:rPr>
                          </m:ctrlPr>
                        </m:sSupPr>
                        <m:e>
                          <m:r>
                            <a:rPr lang="fr-CA" b="0" i="1" smtClean="0">
                              <a:latin typeface="Cambria Math" panose="02040503050406030204" pitchFamily="18" charset="0"/>
                              <a:ea typeface="Cambria Math" panose="02040503050406030204" pitchFamily="18" charset="0"/>
                            </a:rPr>
                            <m:t>𝑙</m:t>
                          </m:r>
                        </m:e>
                        <m:sup>
                          <m:r>
                            <a:rPr lang="fr-CA" b="0" i="1" smtClean="0">
                              <a:latin typeface="Cambria Math" panose="02040503050406030204" pitchFamily="18" charset="0"/>
                              <a:ea typeface="Cambria Math" panose="02040503050406030204" pitchFamily="18" charset="0"/>
                            </a:rPr>
                            <m:t>′</m:t>
                          </m:r>
                        </m:sup>
                      </m:sSup>
                      <m:r>
                        <a:rPr lang="fr-CA" b="0" i="1" smtClean="0">
                          <a:latin typeface="Cambria Math" panose="02040503050406030204" pitchFamily="18" charset="0"/>
                          <a:ea typeface="Cambria Math" panose="02040503050406030204" pitchFamily="18" charset="0"/>
                        </a:rPr>
                        <m:t>𝑒𝑟𝑟𝑒𝑢𝑟</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𝐼</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𝑑𝑒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𝑟𝑒𝑗𝑒𝑡𝑒𝑟</m:t>
                      </m:r>
                      <m:r>
                        <a:rPr lang="fr-CA" b="0" i="1" smtClean="0">
                          <a:latin typeface="Cambria Math" panose="02040503050406030204" pitchFamily="18" charset="0"/>
                          <a:ea typeface="Cambria Math" panose="02040503050406030204" pitchFamily="18" charset="0"/>
                        </a:rPr>
                        <m:t> </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𝐻</m:t>
                          </m:r>
                        </m:e>
                        <m:sub>
                          <m:r>
                            <a:rPr lang="fr-CA" b="0" i="1" smtClean="0">
                              <a:latin typeface="Cambria Math" panose="02040503050406030204" pitchFamily="18" charset="0"/>
                              <a:ea typeface="Cambria Math" panose="02040503050406030204" pitchFamily="18" charset="0"/>
                            </a:rPr>
                            <m:t>0 </m:t>
                          </m:r>
                        </m:sub>
                      </m:sSub>
                      <m:r>
                        <a:rPr lang="fr-CA" b="0" i="1" smtClean="0">
                          <a:latin typeface="Cambria Math" panose="02040503050406030204" pitchFamily="18" charset="0"/>
                          <a:ea typeface="Cambria Math" panose="02040503050406030204" pitchFamily="18" charset="0"/>
                        </a:rPr>
                        <m:t>𝑙𝑜𝑟𝑠𝑞𝑢𝑒</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𝐻</m:t>
                          </m:r>
                        </m:e>
                        <m:sub>
                          <m:r>
                            <a:rPr lang="fr-CA" i="1">
                              <a:latin typeface="Cambria Math" panose="02040503050406030204" pitchFamily="18" charset="0"/>
                              <a:ea typeface="Cambria Math" panose="02040503050406030204" pitchFamily="18" charset="0"/>
                            </a:rPr>
                            <m:t>0 </m:t>
                          </m:r>
                        </m:sub>
                      </m:sSub>
                      <m:r>
                        <m:rPr>
                          <m:sty m:val="p"/>
                        </m:rPr>
                        <a:rPr lang="fr-CA" b="0" i="0" smtClean="0">
                          <a:latin typeface="Cambria Math" panose="02040503050406030204" pitchFamily="18" charset="0"/>
                          <a:ea typeface="Cambria Math" panose="02040503050406030204" pitchFamily="18" charset="0"/>
                        </a:rPr>
                        <m:t>est</m:t>
                      </m:r>
                      <m:r>
                        <a:rPr lang="fr-CA" b="0" i="0" smtClean="0">
                          <a:latin typeface="Cambria Math" panose="02040503050406030204" pitchFamily="18" charset="0"/>
                          <a:ea typeface="Cambria Math" panose="02040503050406030204" pitchFamily="18" charset="0"/>
                        </a:rPr>
                        <m:t> </m:t>
                      </m:r>
                      <m:r>
                        <m:rPr>
                          <m:sty m:val="p"/>
                        </m:rPr>
                        <a:rPr lang="fr-CA" b="0" i="0" smtClean="0">
                          <a:latin typeface="Cambria Math" panose="02040503050406030204" pitchFamily="18" charset="0"/>
                          <a:ea typeface="Cambria Math" panose="02040503050406030204" pitchFamily="18" charset="0"/>
                        </a:rPr>
                        <m:t>vraie</m:t>
                      </m:r>
                      <m:r>
                        <a:rPr lang="fr-CA" b="0" i="0" smtClean="0">
                          <a:latin typeface="Cambria Math" panose="02040503050406030204" pitchFamily="18" charset="0"/>
                          <a:ea typeface="Cambria Math" panose="02040503050406030204" pitchFamily="18" charset="0"/>
                        </a:rPr>
                        <m:t>)</m:t>
                      </m:r>
                    </m:oMath>
                  </m:oMathPara>
                </a14:m>
                <a:endParaRPr lang="fr-CA" dirty="0"/>
              </a:p>
              <a:p>
                <a:pPr/>
                <a14:m>
                  <m:oMathPara xmlns:m="http://schemas.openxmlformats.org/officeDocument/2006/math">
                    <m:oMathParaPr>
                      <m:jc m:val="centerGroup"/>
                    </m:oMathParaPr>
                    <m:oMath xmlns:m="http://schemas.openxmlformats.org/officeDocument/2006/math">
                      <m:r>
                        <a:rPr lang="fr-CA" i="1" smtClean="0">
                          <a:latin typeface="Cambria Math" panose="02040503050406030204" pitchFamily="18" charset="0"/>
                          <a:ea typeface="Cambria Math" panose="02040503050406030204" pitchFamily="18" charset="0"/>
                        </a:rPr>
                        <m:t>𝛽</m:t>
                      </m:r>
                      <m:r>
                        <a:rPr lang="fr-CA" b="0" i="1" smtClean="0">
                          <a:latin typeface="Cambria Math" panose="02040503050406030204" pitchFamily="18" charset="0"/>
                          <a:ea typeface="Cambria Math" panose="02040503050406030204" pitchFamily="18" charset="0"/>
                        </a:rPr>
                        <m:t>=</m:t>
                      </m:r>
                      <m:r>
                        <a:rPr lang="fr-CA" i="1">
                          <a:latin typeface="Cambria Math" panose="02040503050406030204" pitchFamily="18" charset="0"/>
                          <a:ea typeface="Cambria Math" panose="02040503050406030204" pitchFamily="18" charset="0"/>
                        </a:rPr>
                        <m:t>𝑃𝑟𝑜𝑏𝑎𝑏𝑖𝑙𝑖𝑡</m:t>
                      </m:r>
                      <m:r>
                        <a:rPr lang="fr-CA" i="1">
                          <a:latin typeface="Cambria Math" panose="02040503050406030204" pitchFamily="18" charset="0"/>
                          <a:ea typeface="Cambria Math" panose="02040503050406030204" pitchFamily="18" charset="0"/>
                        </a:rPr>
                        <m:t>é </m:t>
                      </m:r>
                      <m:r>
                        <a:rPr lang="fr-CA" i="1">
                          <a:latin typeface="Cambria Math" panose="02040503050406030204" pitchFamily="18" charset="0"/>
                          <a:ea typeface="Cambria Math" panose="02040503050406030204" pitchFamily="18" charset="0"/>
                        </a:rPr>
                        <m:t>𝑑𝑒</m:t>
                      </m:r>
                      <m:r>
                        <a:rPr lang="fr-CA" i="1">
                          <a:latin typeface="Cambria Math" panose="02040503050406030204" pitchFamily="18" charset="0"/>
                          <a:ea typeface="Cambria Math" panose="02040503050406030204" pitchFamily="18" charset="0"/>
                        </a:rPr>
                        <m:t> </m:t>
                      </m:r>
                      <m:sSup>
                        <m:sSupPr>
                          <m:ctrlPr>
                            <a:rPr lang="fr-CA" i="1">
                              <a:latin typeface="Cambria Math" panose="02040503050406030204" pitchFamily="18" charset="0"/>
                              <a:ea typeface="Cambria Math" panose="02040503050406030204" pitchFamily="18" charset="0"/>
                            </a:rPr>
                          </m:ctrlPr>
                        </m:sSupPr>
                        <m:e>
                          <m:r>
                            <a:rPr lang="fr-CA" i="1">
                              <a:latin typeface="Cambria Math" panose="02040503050406030204" pitchFamily="18" charset="0"/>
                              <a:ea typeface="Cambria Math" panose="02040503050406030204" pitchFamily="18" charset="0"/>
                            </a:rPr>
                            <m:t>𝑙</m:t>
                          </m:r>
                        </m:e>
                        <m:sup>
                          <m:r>
                            <a:rPr lang="fr-CA" i="1">
                              <a:latin typeface="Cambria Math" panose="02040503050406030204" pitchFamily="18" charset="0"/>
                              <a:ea typeface="Cambria Math" panose="02040503050406030204" pitchFamily="18" charset="0"/>
                            </a:rPr>
                            <m:t>′</m:t>
                          </m:r>
                        </m:sup>
                      </m:sSup>
                      <m:r>
                        <a:rPr lang="fr-CA" i="1">
                          <a:latin typeface="Cambria Math" panose="02040503050406030204" pitchFamily="18" charset="0"/>
                          <a:ea typeface="Cambria Math" panose="02040503050406030204" pitchFamily="18" charset="0"/>
                        </a:rPr>
                        <m:t>𝑒𝑟𝑟𝑒𝑢𝑟</m:t>
                      </m:r>
                      <m:r>
                        <a:rPr lang="fr-CA" i="1">
                          <a:latin typeface="Cambria Math" panose="02040503050406030204" pitchFamily="18" charset="0"/>
                          <a:ea typeface="Cambria Math" panose="02040503050406030204" pitchFamily="18" charset="0"/>
                        </a:rPr>
                        <m:t> </m:t>
                      </m:r>
                      <m:r>
                        <a:rPr lang="fr-CA" i="1">
                          <a:latin typeface="Cambria Math" panose="02040503050406030204" pitchFamily="18" charset="0"/>
                          <a:ea typeface="Cambria Math" panose="02040503050406030204" pitchFamily="18" charset="0"/>
                        </a:rPr>
                        <m:t>𝐼𝐼</m:t>
                      </m:r>
                      <m:r>
                        <a:rPr lang="fr-CA" i="1">
                          <a:latin typeface="Cambria Math" panose="02040503050406030204" pitchFamily="18" charset="0"/>
                          <a:ea typeface="Cambria Math" panose="02040503050406030204" pitchFamily="18" charset="0"/>
                        </a:rPr>
                        <m:t>=</m:t>
                      </m:r>
                      <m:r>
                        <a:rPr lang="fr-CA" i="1">
                          <a:latin typeface="Cambria Math" panose="02040503050406030204" pitchFamily="18" charset="0"/>
                          <a:ea typeface="Cambria Math" panose="02040503050406030204" pitchFamily="18" charset="0"/>
                        </a:rPr>
                        <m:t>𝑃</m:t>
                      </m:r>
                      <m:r>
                        <a:rPr lang="fr-CA" i="1">
                          <a:latin typeface="Cambria Math" panose="02040503050406030204" pitchFamily="18" charset="0"/>
                          <a:ea typeface="Cambria Math" panose="02040503050406030204" pitchFamily="18" charset="0"/>
                        </a:rPr>
                        <m:t>(</m:t>
                      </m:r>
                      <m:r>
                        <a:rPr lang="fr-CA" i="1">
                          <a:latin typeface="Cambria Math" panose="02040503050406030204" pitchFamily="18" charset="0"/>
                          <a:ea typeface="Cambria Math" panose="02040503050406030204" pitchFamily="18" charset="0"/>
                        </a:rPr>
                        <m:t>𝑑𝑒</m:t>
                      </m:r>
                      <m:r>
                        <a:rPr lang="fr-CA" i="1">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𝑛𝑒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𝑝𝑎𝑠</m:t>
                      </m:r>
                      <m:r>
                        <a:rPr lang="fr-CA" b="0" i="1" smtClean="0">
                          <a:latin typeface="Cambria Math" panose="02040503050406030204" pitchFamily="18" charset="0"/>
                          <a:ea typeface="Cambria Math" panose="02040503050406030204" pitchFamily="18" charset="0"/>
                        </a:rPr>
                        <m:t> </m:t>
                      </m:r>
                      <m:r>
                        <a:rPr lang="fr-CA" i="1">
                          <a:latin typeface="Cambria Math" panose="02040503050406030204" pitchFamily="18" charset="0"/>
                          <a:ea typeface="Cambria Math" panose="02040503050406030204" pitchFamily="18" charset="0"/>
                        </a:rPr>
                        <m:t>𝑟𝑒𝑗𝑒𝑡𝑒𝑟</m:t>
                      </m:r>
                      <m:r>
                        <a:rPr lang="fr-CA" i="1">
                          <a:latin typeface="Cambria Math" panose="02040503050406030204" pitchFamily="18" charset="0"/>
                          <a:ea typeface="Cambria Math" panose="02040503050406030204" pitchFamily="18" charset="0"/>
                        </a:rPr>
                        <m:t> </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𝐻</m:t>
                          </m:r>
                        </m:e>
                        <m:sub>
                          <m:r>
                            <a:rPr lang="fr-CA" i="1">
                              <a:latin typeface="Cambria Math" panose="02040503050406030204" pitchFamily="18" charset="0"/>
                              <a:ea typeface="Cambria Math" panose="02040503050406030204" pitchFamily="18" charset="0"/>
                            </a:rPr>
                            <m:t>0 </m:t>
                          </m:r>
                        </m:sub>
                      </m:sSub>
                      <m:r>
                        <a:rPr lang="fr-CA" i="1">
                          <a:latin typeface="Cambria Math" panose="02040503050406030204" pitchFamily="18" charset="0"/>
                          <a:ea typeface="Cambria Math" panose="02040503050406030204" pitchFamily="18" charset="0"/>
                        </a:rPr>
                        <m:t>𝑙𝑜𝑟𝑠𝑞𝑢𝑒</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𝐻</m:t>
                          </m:r>
                        </m:e>
                        <m:sub>
                          <m:r>
                            <a:rPr lang="fr-CA" i="1">
                              <a:latin typeface="Cambria Math" panose="02040503050406030204" pitchFamily="18" charset="0"/>
                              <a:ea typeface="Cambria Math" panose="02040503050406030204" pitchFamily="18" charset="0"/>
                            </a:rPr>
                            <m:t>0 </m:t>
                          </m:r>
                        </m:sub>
                      </m:sSub>
                      <m:r>
                        <m:rPr>
                          <m:sty m:val="p"/>
                        </m:rPr>
                        <a:rPr lang="fr-CA">
                          <a:latin typeface="Cambria Math" panose="02040503050406030204" pitchFamily="18" charset="0"/>
                          <a:ea typeface="Cambria Math" panose="02040503050406030204" pitchFamily="18" charset="0"/>
                        </a:rPr>
                        <m:t>est</m:t>
                      </m:r>
                      <m:r>
                        <a:rPr lang="fr-CA">
                          <a:latin typeface="Cambria Math" panose="02040503050406030204" pitchFamily="18" charset="0"/>
                          <a:ea typeface="Cambria Math" panose="02040503050406030204" pitchFamily="18" charset="0"/>
                        </a:rPr>
                        <m:t> </m:t>
                      </m:r>
                      <m:r>
                        <m:rPr>
                          <m:sty m:val="p"/>
                        </m:rPr>
                        <a:rPr lang="fr-CA" b="0" i="0" smtClean="0">
                          <a:latin typeface="Cambria Math" panose="02040503050406030204" pitchFamily="18" charset="0"/>
                          <a:ea typeface="Cambria Math" panose="02040503050406030204" pitchFamily="18" charset="0"/>
                        </a:rPr>
                        <m:t>fausse</m:t>
                      </m:r>
                      <m:r>
                        <a:rPr lang="fr-CA">
                          <a:latin typeface="Cambria Math" panose="02040503050406030204" pitchFamily="18" charset="0"/>
                          <a:ea typeface="Cambria Math" panose="02040503050406030204" pitchFamily="18" charset="0"/>
                        </a:rPr>
                        <m:t>)</m:t>
                      </m:r>
                    </m:oMath>
                  </m:oMathPara>
                </a14:m>
                <a:endParaRPr lang="fr-CA" dirty="0"/>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ea typeface="Cambria Math" panose="02040503050406030204" pitchFamily="18" charset="0"/>
                        </a:rPr>
                        <m:t>𝑃𝑢𝑖𝑠𝑠𝑎𝑛𝑐𝑒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𝑑𝑢</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𝑡𝑒𝑠𝑡</m:t>
                      </m:r>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𝛽</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𝑑𝑒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𝑟𝑒𝑗𝑒𝑡𝑒𝑟</m:t>
                      </m:r>
                      <m:r>
                        <a:rPr lang="fr-CA" b="0" i="1" smtClean="0">
                          <a:latin typeface="Cambria Math" panose="02040503050406030204" pitchFamily="18" charset="0"/>
                          <a:ea typeface="Cambria Math" panose="02040503050406030204" pitchFamily="18" charset="0"/>
                        </a:rPr>
                        <m:t> </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𝐻</m:t>
                          </m:r>
                        </m:e>
                        <m:sub>
                          <m:r>
                            <a:rPr lang="fr-CA" b="0" i="1" smtClean="0">
                              <a:latin typeface="Cambria Math" panose="02040503050406030204" pitchFamily="18" charset="0"/>
                              <a:ea typeface="Cambria Math" panose="02040503050406030204" pitchFamily="18" charset="0"/>
                            </a:rPr>
                            <m:t>0 </m:t>
                          </m:r>
                        </m:sub>
                      </m:sSub>
                      <m:r>
                        <a:rPr lang="fr-CA" b="0" i="1" smtClean="0">
                          <a:latin typeface="Cambria Math" panose="02040503050406030204" pitchFamily="18" charset="0"/>
                          <a:ea typeface="Cambria Math" panose="02040503050406030204" pitchFamily="18" charset="0"/>
                        </a:rPr>
                        <m:t>𝑙𝑜𝑟𝑠𝑞𝑢𝑒</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𝐻</m:t>
                          </m:r>
                        </m:e>
                        <m:sub>
                          <m:r>
                            <a:rPr lang="fr-CA" i="1">
                              <a:latin typeface="Cambria Math" panose="02040503050406030204" pitchFamily="18" charset="0"/>
                              <a:ea typeface="Cambria Math" panose="02040503050406030204" pitchFamily="18" charset="0"/>
                            </a:rPr>
                            <m:t>0 </m:t>
                          </m:r>
                        </m:sub>
                      </m:sSub>
                      <m:r>
                        <m:rPr>
                          <m:sty m:val="p"/>
                        </m:rPr>
                        <a:rPr lang="fr-CA" b="0" i="0" smtClean="0">
                          <a:latin typeface="Cambria Math" panose="02040503050406030204" pitchFamily="18" charset="0"/>
                          <a:ea typeface="Cambria Math" panose="02040503050406030204" pitchFamily="18" charset="0"/>
                        </a:rPr>
                        <m:t>est</m:t>
                      </m:r>
                      <m:r>
                        <a:rPr lang="fr-CA" b="0" i="0" smtClean="0">
                          <a:latin typeface="Cambria Math" panose="02040503050406030204" pitchFamily="18" charset="0"/>
                          <a:ea typeface="Cambria Math" panose="02040503050406030204" pitchFamily="18" charset="0"/>
                        </a:rPr>
                        <m:t> </m:t>
                      </m:r>
                      <m:r>
                        <m:rPr>
                          <m:sty m:val="p"/>
                        </m:rPr>
                        <a:rPr lang="fr-CA" b="0" i="0" smtClean="0">
                          <a:latin typeface="Cambria Math" panose="02040503050406030204" pitchFamily="18" charset="0"/>
                          <a:ea typeface="Cambria Math" panose="02040503050406030204" pitchFamily="18" charset="0"/>
                        </a:rPr>
                        <m:t>fausse</m:t>
                      </m:r>
                      <m:r>
                        <a:rPr lang="fr-CA" b="0" i="0" smtClean="0">
                          <a:latin typeface="Cambria Math" panose="02040503050406030204" pitchFamily="18" charset="0"/>
                          <a:ea typeface="Cambria Math" panose="02040503050406030204" pitchFamily="18" charset="0"/>
                        </a:rPr>
                        <m:t>)</m:t>
                      </m:r>
                    </m:oMath>
                  </m:oMathPara>
                </a14:m>
                <a:endParaRPr lang="fr-CA" dirty="0"/>
              </a:p>
              <a:p>
                <a:endParaRPr lang="fr-CA" dirty="0"/>
              </a:p>
              <a:p>
                <a:endParaRPr lang="fr-CA" dirty="0"/>
              </a:p>
            </p:txBody>
          </p:sp>
        </mc:Choice>
        <mc:Fallback xmlns="">
          <p:sp>
            <p:nvSpPr>
              <p:cNvPr id="6" name="ZoneTexte 5">
                <a:extLst>
                  <a:ext uri="{FF2B5EF4-FFF2-40B4-BE49-F238E27FC236}">
                    <a16:creationId xmlns:a16="http://schemas.microsoft.com/office/drawing/2014/main" id="{702FC054-230D-4B1F-8CFE-F480D5686EA5}"/>
                  </a:ext>
                </a:extLst>
              </p:cNvPr>
              <p:cNvSpPr txBox="1">
                <a:spLocks noRot="1" noChangeAspect="1" noMove="1" noResize="1" noEditPoints="1" noAdjustHandles="1" noChangeArrowheads="1" noChangeShapeType="1" noTextEdit="1"/>
              </p:cNvSpPr>
              <p:nvPr/>
            </p:nvSpPr>
            <p:spPr>
              <a:xfrm>
                <a:off x="1164657" y="4764505"/>
                <a:ext cx="9914021" cy="1754326"/>
              </a:xfrm>
              <a:prstGeom prst="rect">
                <a:avLst/>
              </a:prstGeom>
              <a:blipFill>
                <a:blip r:embed="rId3"/>
                <a:stretch>
                  <a:fillRect l="-492" t="-2091"/>
                </a:stretch>
              </a:blipFill>
            </p:spPr>
            <p:txBody>
              <a:bodyPr/>
              <a:lstStyle/>
              <a:p>
                <a:r>
                  <a:rPr lang="fr-CA">
                    <a:noFill/>
                  </a:rPr>
                  <a:t> </a:t>
                </a:r>
              </a:p>
            </p:txBody>
          </p:sp>
        </mc:Fallback>
      </mc:AlternateContent>
    </p:spTree>
    <p:extLst>
      <p:ext uri="{BB962C8B-B14F-4D97-AF65-F5344CB8AC3E}">
        <p14:creationId xmlns:p14="http://schemas.microsoft.com/office/powerpoint/2010/main" val="954557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4D5525-52CE-4E6A-A685-5B231AFB24BE}"/>
              </a:ext>
            </a:extLst>
          </p:cNvPr>
          <p:cNvSpPr>
            <a:spLocks noGrp="1"/>
          </p:cNvSpPr>
          <p:nvPr>
            <p:ph type="title"/>
          </p:nvPr>
        </p:nvSpPr>
        <p:spPr/>
        <p:txBody>
          <a:bodyPr/>
          <a:lstStyle/>
          <a:p>
            <a:r>
              <a:rPr lang="fr-CA" dirty="0"/>
              <a:t>Test d’hypothèse sur la moyenne d’une variable</a:t>
            </a:r>
          </a:p>
        </p:txBody>
      </p:sp>
      <p:sp>
        <p:nvSpPr>
          <p:cNvPr id="3" name="Espace réservé du pied de page 2">
            <a:extLst>
              <a:ext uri="{FF2B5EF4-FFF2-40B4-BE49-F238E27FC236}">
                <a16:creationId xmlns:a16="http://schemas.microsoft.com/office/drawing/2014/main" id="{51BFCCFC-5431-45ED-85CF-7457D1E383B4}"/>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A7697325-1A90-4E22-BAC0-D4E35F642CFB}"/>
              </a:ext>
            </a:extLst>
          </p:cNvPr>
          <p:cNvSpPr>
            <a:spLocks noGrp="1"/>
          </p:cNvSpPr>
          <p:nvPr>
            <p:ph type="sldNum" sz="quarter" idx="12"/>
          </p:nvPr>
        </p:nvSpPr>
        <p:spPr/>
        <p:txBody>
          <a:bodyPr/>
          <a:lstStyle/>
          <a:p>
            <a:fld id="{26377AD9-CE17-438C-A638-C64D2D42D7CF}" type="slidenum">
              <a:rPr lang="fr-CA" smtClean="0"/>
              <a:t>10</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ECB0D36D-37F6-462C-9E29-A99F810D2772}"/>
                  </a:ext>
                </a:extLst>
              </p:cNvPr>
              <p:cNvSpPr txBox="1"/>
              <p:nvPr/>
            </p:nvSpPr>
            <p:spPr>
              <a:xfrm>
                <a:off x="991402" y="1761423"/>
                <a:ext cx="10135402" cy="4520661"/>
              </a:xfrm>
              <a:prstGeom prst="rect">
                <a:avLst/>
              </a:prstGeom>
              <a:noFill/>
            </p:spPr>
            <p:txBody>
              <a:bodyPr wrap="square" rtlCol="0">
                <a:spAutoFit/>
              </a:bodyPr>
              <a:lstStyle/>
              <a:p>
                <a:r>
                  <a:rPr lang="fr-CA" dirty="0"/>
                  <a:t>Soit X une variable aléatoire de moyenne </a:t>
                </a:r>
                <a14:m>
                  <m:oMath xmlns:m="http://schemas.openxmlformats.org/officeDocument/2006/math">
                    <m:sSub>
                      <m:sSubPr>
                        <m:ctrlPr>
                          <a:rPr lang="fr-CA" i="1" smtClean="0">
                            <a:latin typeface="Cambria Math" panose="02040503050406030204" pitchFamily="18" charset="0"/>
                          </a:rPr>
                        </m:ctrlPr>
                      </m:sSubPr>
                      <m:e>
                        <m:r>
                          <a:rPr lang="fr-CA"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r>
                          <a:rPr lang="fr-CA" b="0" i="1" smtClean="0">
                            <a:latin typeface="Cambria Math" panose="02040503050406030204" pitchFamily="18" charset="0"/>
                          </a:rPr>
                          <m:t>  </m:t>
                        </m:r>
                      </m:sub>
                    </m:sSub>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𝑑𝑒</m:t>
                    </m:r>
                    <m:r>
                      <a:rPr lang="fr-CA" b="0" i="1" smtClean="0">
                        <a:latin typeface="Cambria Math" panose="02040503050406030204" pitchFamily="18" charset="0"/>
                      </a:rPr>
                      <m:t> </m:t>
                    </m:r>
                    <m:r>
                      <a:rPr lang="fr-CA" b="0" i="1" smtClean="0">
                        <a:latin typeface="Cambria Math" panose="02040503050406030204" pitchFamily="18" charset="0"/>
                      </a:rPr>
                      <m:t>𝑣𝑎𝑟𝑖𝑎𝑛𝑐𝑒</m:t>
                    </m:r>
                    <m:r>
                      <a:rPr lang="fr-CA" b="0" i="1" smtClean="0">
                        <a:latin typeface="Cambria Math" panose="02040503050406030204" pitchFamily="18" charset="0"/>
                      </a:rPr>
                      <m:t>  </m:t>
                    </m:r>
                    <m:sSubSup>
                      <m:sSubSupPr>
                        <m:ctrlPr>
                          <a:rPr lang="fr-CA" b="0" i="1" smtClean="0">
                            <a:latin typeface="Cambria Math" panose="02040503050406030204" pitchFamily="18" charset="0"/>
                          </a:rPr>
                        </m:ctrlPr>
                      </m:sSubSupPr>
                      <m:e>
                        <m:r>
                          <a:rPr lang="fr-CA" b="0"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up>
                        <m:r>
                          <a:rPr lang="fr-CA" b="0" i="1" smtClean="0">
                            <a:latin typeface="Cambria Math" panose="02040503050406030204" pitchFamily="18" charset="0"/>
                          </a:rPr>
                          <m:t>2</m:t>
                        </m:r>
                      </m:sup>
                    </m:sSubSup>
                    <m:r>
                      <a:rPr lang="fr-CA" b="0" i="1" smtClean="0">
                        <a:latin typeface="Cambria Math" panose="02040503050406030204" pitchFamily="18" charset="0"/>
                      </a:rPr>
                      <m:t>  </m:t>
                    </m:r>
                    <m:d>
                      <m:dPr>
                        <m:ctrlPr>
                          <a:rPr lang="fr-CA" b="0" i="1" smtClean="0">
                            <a:latin typeface="Cambria Math" panose="02040503050406030204" pitchFamily="18" charset="0"/>
                          </a:rPr>
                        </m:ctrlPr>
                      </m:dPr>
                      <m:e>
                        <m:r>
                          <a:rPr lang="fr-CA" b="0" i="1" smtClean="0">
                            <a:latin typeface="Cambria Math" panose="02040503050406030204" pitchFamily="18" charset="0"/>
                          </a:rPr>
                          <m:t>𝑖𝑛𝑐𝑜𝑛𝑛𝑢𝑒𝑠</m:t>
                        </m:r>
                      </m:e>
                    </m:d>
                    <m:r>
                      <a:rPr lang="fr-CA" b="0" i="1" smtClean="0">
                        <a:latin typeface="Cambria Math" panose="02040503050406030204" pitchFamily="18" charset="0"/>
                      </a:rPr>
                      <m:t>.</m:t>
                    </m:r>
                  </m:oMath>
                </a14:m>
                <a:endParaRPr lang="fr-CA" dirty="0"/>
              </a:p>
              <a:p>
                <a:endParaRPr lang="fr-CA" dirty="0"/>
              </a:p>
              <a:p>
                <a:r>
                  <a:rPr lang="fr-CA" dirty="0"/>
                  <a:t>On veut tester l’une des hypothèses suivantes:</a:t>
                </a:r>
              </a:p>
              <a:p>
                <a:endParaRPr lang="fr-CA" dirty="0"/>
              </a:p>
              <a:p>
                <a:pPr marL="342900" indent="-342900">
                  <a:buFont typeface="+mj-lt"/>
                  <a:buAutoNum type="arabicPeriod"/>
                </a:pP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0</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0</m:t>
                        </m:r>
                      </m:sub>
                    </m:sSub>
                    <m:d>
                      <m:dPr>
                        <m:ctrlPr>
                          <a:rPr lang="fr-CA" b="0" i="1" smtClean="0">
                            <a:latin typeface="Cambria Math" panose="02040503050406030204" pitchFamily="18" charset="0"/>
                          </a:rPr>
                        </m:ctrlPr>
                      </m:dPr>
                      <m:e>
                        <m:r>
                          <a:rPr lang="fr-CA" b="0" i="1" smtClean="0">
                            <a:latin typeface="Cambria Math" panose="02040503050406030204" pitchFamily="18" charset="0"/>
                          </a:rPr>
                          <m:t>𝑣𝑎𝑙𝑒𝑢𝑟</m:t>
                        </m:r>
                        <m:r>
                          <a:rPr lang="fr-CA" b="0" i="1" smtClean="0">
                            <a:latin typeface="Cambria Math" panose="02040503050406030204" pitchFamily="18" charset="0"/>
                          </a:rPr>
                          <m:t> </m:t>
                        </m:r>
                        <m:r>
                          <a:rPr lang="fr-CA" b="0" i="1" smtClean="0">
                            <a:latin typeface="Cambria Math" panose="02040503050406030204" pitchFamily="18" charset="0"/>
                          </a:rPr>
                          <m:t>𝑓𝑖𝑥𝑒</m:t>
                        </m:r>
                      </m:e>
                    </m:d>
                    <m:r>
                      <a:rPr lang="fr-CA" b="0" i="1" smtClean="0">
                        <a:latin typeface="Cambria Math" panose="02040503050406030204" pitchFamily="18" charset="0"/>
                      </a:rPr>
                      <m:t>     </m:t>
                    </m:r>
                    <m:r>
                      <a:rPr lang="fr-CA" b="0" i="1" smtClean="0">
                        <a:latin typeface="Cambria Math" panose="02040503050406030204" pitchFamily="18" charset="0"/>
                      </a:rPr>
                      <m:t>𝑐𝑜𝑛𝑡𝑟𝑒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ea typeface="Cambria Math" panose="02040503050406030204" pitchFamily="18" charset="0"/>
                          </a:rPr>
                          <m:t>0</m:t>
                        </m:r>
                      </m:sub>
                    </m:sSub>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h𝑦𝑝𝑜𝑡h</m:t>
                    </m:r>
                    <m:r>
                      <a:rPr lang="fr-CA" b="0" i="1" smtClean="0">
                        <a:latin typeface="Cambria Math" panose="02040503050406030204" pitchFamily="18" charset="0"/>
                        <a:ea typeface="Cambria Math" panose="02040503050406030204" pitchFamily="18" charset="0"/>
                      </a:rPr>
                      <m:t>è</m:t>
                    </m:r>
                    <m:r>
                      <a:rPr lang="fr-CA" b="0" i="1" smtClean="0">
                        <a:latin typeface="Cambria Math" panose="02040503050406030204" pitchFamily="18" charset="0"/>
                        <a:ea typeface="Cambria Math" panose="02040503050406030204" pitchFamily="18" charset="0"/>
                      </a:rPr>
                      <m:t>𝑠𝑒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𝑏𝑖𝑙𝑎𝑡</m:t>
                    </m:r>
                    <m:r>
                      <a:rPr lang="fr-CA" b="0" i="1" smtClean="0">
                        <a:latin typeface="Cambria Math" panose="02040503050406030204" pitchFamily="18" charset="0"/>
                        <a:ea typeface="Cambria Math" panose="02040503050406030204" pitchFamily="18" charset="0"/>
                      </a:rPr>
                      <m:t>é</m:t>
                    </m:r>
                    <m:r>
                      <a:rPr lang="fr-CA" b="0" i="1" smtClean="0">
                        <a:latin typeface="Cambria Math" panose="02040503050406030204" pitchFamily="18" charset="0"/>
                        <a:ea typeface="Cambria Math" panose="02040503050406030204" pitchFamily="18" charset="0"/>
                      </a:rPr>
                      <m:t>𝑟𝑎𝑙𝑒</m:t>
                    </m:r>
                    <m:r>
                      <a:rPr lang="fr-CA" b="0" i="1" smtClean="0">
                        <a:latin typeface="Cambria Math" panose="02040503050406030204" pitchFamily="18" charset="0"/>
                        <a:ea typeface="Cambria Math" panose="02040503050406030204" pitchFamily="18" charset="0"/>
                      </a:rPr>
                      <m:t>)</m:t>
                    </m:r>
                  </m:oMath>
                </a14:m>
                <a:endParaRPr lang="fr-CA" dirty="0"/>
              </a:p>
              <a:p>
                <a:pPr marL="342900" indent="-342900">
                  <a:buFont typeface="+mj-lt"/>
                  <a:buAutoNum type="arabicPeriod"/>
                </a:pP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0</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0</m:t>
                        </m:r>
                      </m:sub>
                    </m:sSub>
                    <m:d>
                      <m:dPr>
                        <m:ctrlPr>
                          <a:rPr lang="fr-CA" b="0" i="1" smtClean="0">
                            <a:latin typeface="Cambria Math" panose="02040503050406030204" pitchFamily="18" charset="0"/>
                          </a:rPr>
                        </m:ctrlPr>
                      </m:dPr>
                      <m:e>
                        <m:r>
                          <a:rPr lang="fr-CA" b="0" i="1" smtClean="0">
                            <a:latin typeface="Cambria Math" panose="02040503050406030204" pitchFamily="18" charset="0"/>
                          </a:rPr>
                          <m:t>𝑣𝑎𝑙𝑒𝑢𝑟</m:t>
                        </m:r>
                        <m:r>
                          <a:rPr lang="fr-CA" b="0" i="1" smtClean="0">
                            <a:latin typeface="Cambria Math" panose="02040503050406030204" pitchFamily="18" charset="0"/>
                          </a:rPr>
                          <m:t> </m:t>
                        </m:r>
                        <m:r>
                          <a:rPr lang="fr-CA" b="0" i="1" smtClean="0">
                            <a:latin typeface="Cambria Math" panose="02040503050406030204" pitchFamily="18" charset="0"/>
                          </a:rPr>
                          <m:t>𝑓𝑖𝑥𝑒</m:t>
                        </m:r>
                      </m:e>
                    </m:d>
                    <m:r>
                      <a:rPr lang="fr-CA" b="0" i="1" smtClean="0">
                        <a:latin typeface="Cambria Math" panose="02040503050406030204" pitchFamily="18" charset="0"/>
                      </a:rPr>
                      <m:t>     </m:t>
                    </m:r>
                    <m:r>
                      <a:rPr lang="fr-CA" b="0" i="1" smtClean="0">
                        <a:latin typeface="Cambria Math" panose="02040503050406030204" pitchFamily="18" charset="0"/>
                      </a:rPr>
                      <m:t>𝑐𝑜𝑛𝑡𝑟𝑒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r>
                      <a:rPr lang="fr-CA" i="1">
                        <a:latin typeface="Cambria Math" panose="02040503050406030204" pitchFamily="18" charset="0"/>
                        <a:ea typeface="Cambria Math" panose="02040503050406030204" pitchFamily="18" charset="0"/>
                      </a:rPr>
                      <m:t>&gt;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ea typeface="Cambria Math" panose="02040503050406030204" pitchFamily="18" charset="0"/>
                          </a:rPr>
                          <m:t>0</m:t>
                        </m:r>
                      </m:sub>
                    </m:sSub>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h𝑦𝑝𝑜𝑡h</m:t>
                    </m:r>
                    <m:r>
                      <a:rPr lang="fr-CA" b="0" i="1" smtClean="0">
                        <a:latin typeface="Cambria Math" panose="02040503050406030204" pitchFamily="18" charset="0"/>
                        <a:ea typeface="Cambria Math" panose="02040503050406030204" pitchFamily="18" charset="0"/>
                      </a:rPr>
                      <m:t>è</m:t>
                    </m:r>
                    <m:r>
                      <a:rPr lang="fr-CA" b="0" i="1" smtClean="0">
                        <a:latin typeface="Cambria Math" panose="02040503050406030204" pitchFamily="18" charset="0"/>
                        <a:ea typeface="Cambria Math" panose="02040503050406030204" pitchFamily="18" charset="0"/>
                      </a:rPr>
                      <m:t>𝑠𝑒</m:t>
                    </m:r>
                  </m:oMath>
                </a14:m>
                <a:r>
                  <a:rPr lang="fr-CA" dirty="0"/>
                  <a:t> unilatérale à droite).</a:t>
                </a:r>
              </a:p>
              <a:p>
                <a:pPr marL="342900" indent="-342900">
                  <a:buFont typeface="+mj-lt"/>
                  <a:buAutoNum type="arabicPeriod"/>
                </a:pP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0</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0</m:t>
                        </m:r>
                      </m:sub>
                    </m:sSub>
                    <m:d>
                      <m:dPr>
                        <m:ctrlPr>
                          <a:rPr lang="fr-CA" b="0" i="1" smtClean="0">
                            <a:latin typeface="Cambria Math" panose="02040503050406030204" pitchFamily="18" charset="0"/>
                          </a:rPr>
                        </m:ctrlPr>
                      </m:dPr>
                      <m:e>
                        <m:r>
                          <a:rPr lang="fr-CA" b="0" i="1" smtClean="0">
                            <a:latin typeface="Cambria Math" panose="02040503050406030204" pitchFamily="18" charset="0"/>
                          </a:rPr>
                          <m:t>𝑣𝑎𝑙𝑒𝑢𝑟</m:t>
                        </m:r>
                        <m:r>
                          <a:rPr lang="fr-CA" b="0" i="1" smtClean="0">
                            <a:latin typeface="Cambria Math" panose="02040503050406030204" pitchFamily="18" charset="0"/>
                          </a:rPr>
                          <m:t> </m:t>
                        </m:r>
                        <m:r>
                          <a:rPr lang="fr-CA" b="0" i="1" smtClean="0">
                            <a:latin typeface="Cambria Math" panose="02040503050406030204" pitchFamily="18" charset="0"/>
                          </a:rPr>
                          <m:t>𝑓𝑖𝑥𝑒</m:t>
                        </m:r>
                      </m:e>
                    </m:d>
                    <m:r>
                      <a:rPr lang="fr-CA" b="0" i="1" smtClean="0">
                        <a:latin typeface="Cambria Math" panose="02040503050406030204" pitchFamily="18" charset="0"/>
                      </a:rPr>
                      <m:t>     </m:t>
                    </m:r>
                    <m:r>
                      <a:rPr lang="fr-CA" b="0" i="1" smtClean="0">
                        <a:latin typeface="Cambria Math" panose="02040503050406030204" pitchFamily="18" charset="0"/>
                      </a:rPr>
                      <m:t>𝑐𝑜𝑛𝑡𝑟𝑒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r>
                      <a:rPr lang="fr-CA" i="1">
                        <a:latin typeface="Cambria Math" panose="02040503050406030204" pitchFamily="18" charset="0"/>
                        <a:ea typeface="Cambria Math" panose="02040503050406030204" pitchFamily="18" charset="0"/>
                      </a:rPr>
                      <m:t>&lt;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ea typeface="Cambria Math" panose="02040503050406030204" pitchFamily="18" charset="0"/>
                          </a:rPr>
                          <m:t>0</m:t>
                        </m:r>
                      </m:sub>
                    </m:sSub>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h𝑦𝑝𝑜𝑡h</m:t>
                        </m:r>
                        <m:r>
                          <a:rPr lang="fr-CA" b="0" i="1" smtClean="0">
                            <a:latin typeface="Cambria Math" panose="02040503050406030204" pitchFamily="18" charset="0"/>
                            <a:ea typeface="Cambria Math" panose="02040503050406030204" pitchFamily="18" charset="0"/>
                          </a:rPr>
                          <m:t>è</m:t>
                        </m:r>
                        <m:r>
                          <a:rPr lang="fr-CA" b="0" i="1" smtClean="0">
                            <a:latin typeface="Cambria Math" panose="02040503050406030204" pitchFamily="18" charset="0"/>
                            <a:ea typeface="Cambria Math" panose="02040503050406030204" pitchFamily="18" charset="0"/>
                          </a:rPr>
                          <m:t>𝑠𝑒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𝑢𝑛𝑖𝑙𝑎𝑡</m:t>
                        </m:r>
                        <m:r>
                          <a:rPr lang="fr-CA" b="0" i="1" smtClean="0">
                            <a:latin typeface="Cambria Math" panose="02040503050406030204" pitchFamily="18" charset="0"/>
                            <a:ea typeface="Cambria Math" panose="02040503050406030204" pitchFamily="18" charset="0"/>
                          </a:rPr>
                          <m:t>é</m:t>
                        </m:r>
                        <m:r>
                          <a:rPr lang="fr-CA" b="0" i="1" smtClean="0">
                            <a:latin typeface="Cambria Math" panose="02040503050406030204" pitchFamily="18" charset="0"/>
                            <a:ea typeface="Cambria Math" panose="02040503050406030204" pitchFamily="18" charset="0"/>
                          </a:rPr>
                          <m:t>𝑟𝑎𝑙𝑒</m:t>
                        </m:r>
                        <m:r>
                          <a:rPr lang="fr-CA" b="0" i="1" smtClean="0">
                            <a:latin typeface="Cambria Math" panose="02040503050406030204" pitchFamily="18" charset="0"/>
                            <a:ea typeface="Cambria Math" panose="02040503050406030204" pitchFamily="18" charset="0"/>
                          </a:rPr>
                          <m:t> à </m:t>
                        </m:r>
                        <m:r>
                          <a:rPr lang="fr-CA" b="0" i="1" smtClean="0">
                            <a:latin typeface="Cambria Math" panose="02040503050406030204" pitchFamily="18" charset="0"/>
                            <a:ea typeface="Cambria Math" panose="02040503050406030204" pitchFamily="18" charset="0"/>
                          </a:rPr>
                          <m:t>𝑔𝑎𝑢𝑐h𝑒</m:t>
                        </m:r>
                      </m:e>
                    </m:d>
                    <m:r>
                      <a:rPr lang="fr-CA" b="0" i="1" smtClean="0">
                        <a:latin typeface="Cambria Math" panose="02040503050406030204" pitchFamily="18" charset="0"/>
                        <a:ea typeface="Cambria Math" panose="02040503050406030204" pitchFamily="18" charset="0"/>
                      </a:rPr>
                      <m:t>.</m:t>
                    </m:r>
                  </m:oMath>
                </a14:m>
                <a:endParaRPr lang="fr-CA" dirty="0"/>
              </a:p>
              <a:p>
                <a:pPr marL="342900" indent="-342900">
                  <a:buFont typeface="+mj-lt"/>
                  <a:buAutoNum type="arabicPeriod"/>
                </a:pPr>
                <a:endParaRPr lang="fr-CA" dirty="0"/>
              </a:p>
              <a:p>
                <a:pPr marL="342900" indent="-342900">
                  <a:buFont typeface="+mj-lt"/>
                  <a:buAutoNum type="arabicPeriod"/>
                </a:pPr>
                <a:endParaRPr lang="fr-CA" dirty="0"/>
              </a:p>
              <a:p>
                <a:r>
                  <a:rPr lang="fr-CA" dirty="0"/>
                  <a:t>Pour cela, on prend un échantillon aléatoire de taille n de X: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2</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𝑛</m:t>
                        </m:r>
                      </m:sub>
                    </m:sSub>
                    <m:r>
                      <a:rPr lang="fr-CA" b="0" i="0" smtClean="0">
                        <a:latin typeface="Cambria Math" panose="02040503050406030204" pitchFamily="18" charset="0"/>
                      </a:rPr>
                      <m:t>.</m:t>
                    </m:r>
                  </m:oMath>
                </a14:m>
                <a:endParaRPr lang="fr-CA" b="0" dirty="0"/>
              </a:p>
              <a:p>
                <a:r>
                  <a:rPr lang="fr-CA" b="1" dirty="0"/>
                  <a:t>Remarque: </a:t>
                </a:r>
                <a:r>
                  <a:rPr lang="fr-CA" dirty="0"/>
                  <a:t>Si n est inférieur à 30, on doit supposer que la variable X est normalement distribuée. Si n dépasse 30, on n’a pas besoin de cette condition (TCL).</a:t>
                </a:r>
              </a:p>
              <a:p>
                <a:endParaRPr lang="fr-CA" dirty="0"/>
              </a:p>
              <a:p>
                <a:r>
                  <a:rPr lang="fr-CA" dirty="0"/>
                  <a:t>On calcule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𝑋</m:t>
                        </m:r>
                      </m:e>
                    </m:acc>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𝑆</m:t>
                        </m:r>
                      </m:e>
                      <m:sub>
                        <m:r>
                          <a:rPr lang="fr-CA" b="0" i="1" smtClean="0">
                            <a:latin typeface="Cambria Math" panose="02040503050406030204" pitchFamily="18" charset="0"/>
                          </a:rPr>
                          <m:t>𝑋</m:t>
                        </m:r>
                        <m:r>
                          <a:rPr lang="fr-CA" b="0" i="1" smtClean="0">
                            <a:latin typeface="Cambria Math" panose="02040503050406030204" pitchFamily="18" charset="0"/>
                          </a:rPr>
                          <m:t> </m:t>
                        </m:r>
                      </m:sub>
                    </m:sSub>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𝑜𝑛</m:t>
                    </m:r>
                    <m:r>
                      <a:rPr lang="fr-CA" b="0" i="1" smtClean="0">
                        <a:latin typeface="Cambria Math" panose="02040503050406030204" pitchFamily="18" charset="0"/>
                      </a:rPr>
                      <m:t> </m:t>
                    </m:r>
                    <m:r>
                      <a:rPr lang="fr-CA" b="0" i="1" smtClean="0">
                        <a:latin typeface="Cambria Math" panose="02040503050406030204" pitchFamily="18" charset="0"/>
                      </a:rPr>
                      <m:t>𝑠𝑎𝑖𝑡</m:t>
                    </m:r>
                    <m:r>
                      <a:rPr lang="fr-CA" b="0" i="1" smtClean="0">
                        <a:latin typeface="Cambria Math" panose="02040503050406030204" pitchFamily="18" charset="0"/>
                      </a:rPr>
                      <m:t> </m:t>
                    </m:r>
                    <m:r>
                      <a:rPr lang="fr-CA" b="0" i="1" smtClean="0">
                        <a:latin typeface="Cambria Math" panose="02040503050406030204" pitchFamily="18" charset="0"/>
                      </a:rPr>
                      <m:t>𝑎𝑙𝑜𝑟𝑠</m:t>
                    </m:r>
                    <m:r>
                      <a:rPr lang="fr-CA" b="0" i="1" smtClean="0">
                        <a:latin typeface="Cambria Math" panose="02040503050406030204" pitchFamily="18" charset="0"/>
                      </a:rPr>
                      <m:t> </m:t>
                    </m:r>
                    <m:r>
                      <a:rPr lang="fr-CA" b="0" i="1" smtClean="0">
                        <a:latin typeface="Cambria Math" panose="02040503050406030204" pitchFamily="18" charset="0"/>
                      </a:rPr>
                      <m:t>𝑞𝑢𝑒</m:t>
                    </m:r>
                    <m:r>
                      <a:rPr lang="fr-CA" b="0" i="1" smtClean="0">
                        <a:latin typeface="Cambria Math" panose="02040503050406030204" pitchFamily="18" charset="0"/>
                      </a:rPr>
                      <m:t> </m:t>
                    </m:r>
                    <m:acc>
                      <m:accPr>
                        <m:chr m:val="̅"/>
                        <m:ctrlPr>
                          <a:rPr lang="fr-CA" i="1">
                            <a:latin typeface="Cambria Math" panose="02040503050406030204" pitchFamily="18" charset="0"/>
                          </a:rPr>
                        </m:ctrlPr>
                      </m:accPr>
                      <m:e>
                        <m:r>
                          <a:rPr lang="fr-CA" i="1">
                            <a:latin typeface="Cambria Math" panose="02040503050406030204" pitchFamily="18" charset="0"/>
                          </a:rPr>
                          <m:t>𝑋</m:t>
                        </m:r>
                      </m:e>
                    </m:acc>
                    <m:r>
                      <a:rPr lang="fr-CA" i="1">
                        <a:latin typeface="Cambria Math" panose="02040503050406030204" pitchFamily="18" charset="0"/>
                      </a:rPr>
                      <m:t> </m:t>
                    </m:r>
                  </m:oMath>
                </a14:m>
                <a:r>
                  <a:rPr lang="fr-CA" dirty="0"/>
                  <a:t> va être normalement distribuée avec une moyenne </a:t>
                </a:r>
                <a14:m>
                  <m:oMath xmlns:m="http://schemas.openxmlformats.org/officeDocument/2006/math">
                    <m:sSub>
                      <m:sSubPr>
                        <m:ctrlPr>
                          <a:rPr lang="fr-CA" i="1">
                            <a:latin typeface="Cambria Math" panose="02040503050406030204" pitchFamily="18" charset="0"/>
                          </a:rPr>
                        </m:ctrlPr>
                      </m:sSubPr>
                      <m:e>
                        <m:r>
                          <a:rPr lang="fr-CA" i="1">
                            <a:latin typeface="Cambria Math" panose="02040503050406030204" pitchFamily="18" charset="0"/>
                            <a:ea typeface="Cambria Math" panose="02040503050406030204" pitchFamily="18" charset="0"/>
                          </a:rPr>
                          <m:t>𝜇</m:t>
                        </m:r>
                      </m:e>
                      <m:sub>
                        <m:r>
                          <a:rPr lang="fr-CA" i="1">
                            <a:latin typeface="Cambria Math" panose="02040503050406030204" pitchFamily="18" charset="0"/>
                          </a:rPr>
                          <m:t>𝑋</m:t>
                        </m:r>
                      </m:sub>
                    </m:sSub>
                  </m:oMath>
                </a14:m>
                <a:r>
                  <a:rPr lang="fr-CA" dirty="0"/>
                  <a:t> et un écart type </a:t>
                </a:r>
                <a14:m>
                  <m:oMath xmlns:m="http://schemas.openxmlformats.org/officeDocument/2006/math">
                    <m:f>
                      <m:fPr>
                        <m:ctrlPr>
                          <a:rPr lang="fr-CA" i="1" smtClean="0">
                            <a:latin typeface="Cambria Math" panose="02040503050406030204" pitchFamily="18" charset="0"/>
                          </a:rPr>
                        </m:ctrlPr>
                      </m:fPr>
                      <m:num>
                        <m:sSub>
                          <m:sSubPr>
                            <m:ctrlPr>
                              <a:rPr lang="fr-CA" i="1" smtClean="0">
                                <a:latin typeface="Cambria Math" panose="02040503050406030204" pitchFamily="18" charset="0"/>
                              </a:rPr>
                            </m:ctrlPr>
                          </m:sSubPr>
                          <m:e>
                            <m:r>
                              <a:rPr lang="fr-CA" b="0" i="1" smtClean="0">
                                <a:latin typeface="Cambria Math" panose="02040503050406030204" pitchFamily="18" charset="0"/>
                              </a:rPr>
                              <m:t>𝑠</m:t>
                            </m:r>
                          </m:e>
                          <m:sub>
                            <m:r>
                              <a:rPr lang="fr-CA" b="0" i="1" smtClean="0">
                                <a:latin typeface="Cambria Math" panose="02040503050406030204" pitchFamily="18" charset="0"/>
                              </a:rPr>
                              <m:t>𝑋</m:t>
                            </m:r>
                          </m:sub>
                        </m:sSub>
                      </m:num>
                      <m:den>
                        <m:rad>
                          <m:radPr>
                            <m:degHide m:val="on"/>
                            <m:ctrlPr>
                              <a:rPr lang="fr-CA" i="1" smtClean="0">
                                <a:latin typeface="Cambria Math" panose="02040503050406030204" pitchFamily="18" charset="0"/>
                              </a:rPr>
                            </m:ctrlPr>
                          </m:radPr>
                          <m:deg/>
                          <m:e>
                            <m:r>
                              <a:rPr lang="fr-CA" b="0" i="1" smtClean="0">
                                <a:latin typeface="Cambria Math" panose="02040503050406030204" pitchFamily="18" charset="0"/>
                              </a:rPr>
                              <m:t>𝑛</m:t>
                            </m:r>
                          </m:e>
                        </m:rad>
                      </m:den>
                    </m:f>
                  </m:oMath>
                </a14:m>
                <a:r>
                  <a:rPr lang="fr-CA" dirty="0"/>
                  <a:t> donc en standardisant, on obtient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𝑇</m:t>
                        </m:r>
                      </m:e>
                      <m:sub>
                        <m:r>
                          <a:rPr lang="fr-CA" b="0" i="1" smtClean="0">
                            <a:latin typeface="Cambria Math" panose="02040503050406030204" pitchFamily="18" charset="0"/>
                          </a:rPr>
                          <m:t>𝑛</m:t>
                        </m:r>
                        <m:r>
                          <a:rPr lang="fr-CA" b="0" i="1" smtClean="0">
                            <a:latin typeface="Cambria Math" panose="02040503050406030204" pitchFamily="18" charset="0"/>
                          </a:rPr>
                          <m:t>−1</m:t>
                        </m:r>
                      </m:sub>
                    </m:sSub>
                    <m:r>
                      <a:rPr lang="fr-CA" b="0" i="1" smtClean="0">
                        <a:latin typeface="Cambria Math" panose="02040503050406030204" pitchFamily="18" charset="0"/>
                      </a:rPr>
                      <m:t>=</m:t>
                    </m:r>
                    <m:f>
                      <m:fPr>
                        <m:ctrlPr>
                          <a:rPr lang="fr-CA" b="0" i="1" smtClean="0">
                            <a:latin typeface="Cambria Math" panose="02040503050406030204" pitchFamily="18" charset="0"/>
                          </a:rPr>
                        </m:ctrlPr>
                      </m:fPr>
                      <m:num>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𝑋</m:t>
                            </m:r>
                          </m:e>
                        </m:acc>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num>
                      <m:den>
                        <m:f>
                          <m:fPr>
                            <m:ctrlPr>
                              <a:rPr lang="fr-CA" i="1">
                                <a:latin typeface="Cambria Math" panose="02040503050406030204" pitchFamily="18" charset="0"/>
                              </a:rPr>
                            </m:ctrlPr>
                          </m:fPr>
                          <m:num>
                            <m:sSub>
                              <m:sSubPr>
                                <m:ctrlPr>
                                  <a:rPr lang="fr-CA" i="1">
                                    <a:latin typeface="Cambria Math" panose="02040503050406030204" pitchFamily="18" charset="0"/>
                                  </a:rPr>
                                </m:ctrlPr>
                              </m:sSubPr>
                              <m:e>
                                <m:r>
                                  <a:rPr lang="fr-CA" i="1">
                                    <a:latin typeface="Cambria Math" panose="02040503050406030204" pitchFamily="18" charset="0"/>
                                  </a:rPr>
                                  <m:t>𝑠</m:t>
                                </m:r>
                              </m:e>
                              <m:sub>
                                <m:r>
                                  <a:rPr lang="fr-CA" i="1">
                                    <a:latin typeface="Cambria Math" panose="02040503050406030204" pitchFamily="18" charset="0"/>
                                  </a:rPr>
                                  <m:t>𝑋</m:t>
                                </m:r>
                              </m:sub>
                            </m:sSub>
                          </m:num>
                          <m:den>
                            <m:rad>
                              <m:radPr>
                                <m:degHide m:val="on"/>
                                <m:ctrlPr>
                                  <a:rPr lang="fr-CA" i="1">
                                    <a:latin typeface="Cambria Math" panose="02040503050406030204" pitchFamily="18" charset="0"/>
                                  </a:rPr>
                                </m:ctrlPr>
                              </m:radPr>
                              <m:deg/>
                              <m:e>
                                <m:r>
                                  <a:rPr lang="fr-CA" i="1">
                                    <a:latin typeface="Cambria Math" panose="02040503050406030204" pitchFamily="18" charset="0"/>
                                  </a:rPr>
                                  <m:t>𝑛</m:t>
                                </m:r>
                              </m:e>
                            </m:rad>
                          </m:den>
                        </m:f>
                      </m:den>
                    </m:f>
                  </m:oMath>
                </a14:m>
                <a:endParaRPr lang="fr-CA" dirty="0"/>
              </a:p>
            </p:txBody>
          </p:sp>
        </mc:Choice>
        <mc:Fallback xmlns="">
          <p:sp>
            <p:nvSpPr>
              <p:cNvPr id="5" name="ZoneTexte 4">
                <a:extLst>
                  <a:ext uri="{FF2B5EF4-FFF2-40B4-BE49-F238E27FC236}">
                    <a16:creationId xmlns:a16="http://schemas.microsoft.com/office/drawing/2014/main" id="{ECB0D36D-37F6-462C-9E29-A99F810D2772}"/>
                  </a:ext>
                </a:extLst>
              </p:cNvPr>
              <p:cNvSpPr txBox="1">
                <a:spLocks noRot="1" noChangeAspect="1" noMove="1" noResize="1" noEditPoints="1" noAdjustHandles="1" noChangeArrowheads="1" noChangeShapeType="1" noTextEdit="1"/>
              </p:cNvSpPr>
              <p:nvPr/>
            </p:nvSpPr>
            <p:spPr>
              <a:xfrm>
                <a:off x="991402" y="1761423"/>
                <a:ext cx="10135402" cy="4520661"/>
              </a:xfrm>
              <a:prstGeom prst="rect">
                <a:avLst/>
              </a:prstGeom>
              <a:blipFill>
                <a:blip r:embed="rId2"/>
                <a:stretch>
                  <a:fillRect l="-542" t="-674"/>
                </a:stretch>
              </a:blipFill>
            </p:spPr>
            <p:txBody>
              <a:bodyPr/>
              <a:lstStyle/>
              <a:p>
                <a:r>
                  <a:rPr lang="fr-CA">
                    <a:noFill/>
                  </a:rPr>
                  <a:t> </a:t>
                </a:r>
              </a:p>
            </p:txBody>
          </p:sp>
        </mc:Fallback>
      </mc:AlternateContent>
    </p:spTree>
    <p:extLst>
      <p:ext uri="{BB962C8B-B14F-4D97-AF65-F5344CB8AC3E}">
        <p14:creationId xmlns:p14="http://schemas.microsoft.com/office/powerpoint/2010/main" val="2520992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F26B13BF-22A0-432C-B475-37F0C388A1E4}"/>
                  </a:ext>
                </a:extLst>
              </p:cNvPr>
              <p:cNvSpPr>
                <a:spLocks noGrp="1"/>
              </p:cNvSpPr>
              <p:nvPr>
                <p:ph type="title"/>
              </p:nvPr>
            </p:nvSpPr>
            <p:spPr>
              <a:xfrm>
                <a:off x="838200" y="365125"/>
                <a:ext cx="10515600" cy="1983439"/>
              </a:xfrm>
            </p:spPr>
            <p:txBody>
              <a:bodyPr>
                <a:normAutofit/>
              </a:bodyPr>
              <a:lstStyle/>
              <a:p>
                <a:r>
                  <a:rPr lang="fr-CA" dirty="0"/>
                  <a:t>Si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𝐻</m:t>
                        </m:r>
                      </m:e>
                      <m:sub>
                        <m:r>
                          <a:rPr lang="fr-CA" b="0" i="1" smtClean="0">
                            <a:latin typeface="Cambria Math" panose="02040503050406030204" pitchFamily="18" charset="0"/>
                          </a:rPr>
                          <m:t>0</m:t>
                        </m:r>
                      </m:sub>
                    </m:sSub>
                    <m:r>
                      <a:rPr lang="fr-CA" b="0" i="1" smtClean="0">
                        <a:latin typeface="Cambria Math" panose="02040503050406030204" pitchFamily="18" charset="0"/>
                      </a:rPr>
                      <m:t> </m:t>
                    </m:r>
                    <m:r>
                      <a:rPr lang="fr-CA" b="0" i="1" smtClean="0">
                        <a:latin typeface="Cambria Math" panose="02040503050406030204" pitchFamily="18" charset="0"/>
                      </a:rPr>
                      <m:t>𝑒𝑠𝑡</m:t>
                    </m:r>
                    <m:r>
                      <a:rPr lang="fr-CA" b="0" i="1" smtClean="0">
                        <a:latin typeface="Cambria Math" panose="02040503050406030204" pitchFamily="18" charset="0"/>
                      </a:rPr>
                      <m:t> </m:t>
                    </m:r>
                    <m:r>
                      <a:rPr lang="fr-CA" b="0" i="1" smtClean="0">
                        <a:latin typeface="Cambria Math" panose="02040503050406030204" pitchFamily="18" charset="0"/>
                      </a:rPr>
                      <m:t>𝑣𝑟𝑎𝑖𝑒</m:t>
                    </m:r>
                    <m:r>
                      <a:rPr lang="fr-CA" b="0" i="1" smtClean="0">
                        <a:latin typeface="Cambria Math" panose="02040503050406030204" pitchFamily="18" charset="0"/>
                      </a:rPr>
                      <m:t>, </m:t>
                    </m:r>
                    <m:r>
                      <a:rPr lang="fr-CA" b="0" i="1" smtClean="0">
                        <a:latin typeface="Cambria Math" panose="02040503050406030204" pitchFamily="18" charset="0"/>
                      </a:rPr>
                      <m:t>𝑐𝑒𝑡𝑡𝑒</m:t>
                    </m:r>
                    <m:r>
                      <a:rPr lang="fr-CA" b="0" i="1" smtClean="0">
                        <a:latin typeface="Cambria Math" panose="02040503050406030204" pitchFamily="18" charset="0"/>
                      </a:rPr>
                      <m:t> </m:t>
                    </m:r>
                    <m:r>
                      <a:rPr lang="fr-CA" b="0" i="1" smtClean="0">
                        <a:latin typeface="Cambria Math" panose="02040503050406030204" pitchFamily="18" charset="0"/>
                      </a:rPr>
                      <m:t>𝑣𝑎𝑟𝑖𝑎𝑏𝑙𝑒</m:t>
                    </m:r>
                    <m:r>
                      <a:rPr lang="fr-CA" b="0" i="1" smtClean="0">
                        <a:latin typeface="Cambria Math" panose="02040503050406030204" pitchFamily="18" charset="0"/>
                      </a:rPr>
                      <m:t> </m:t>
                    </m:r>
                    <m:r>
                      <a:rPr lang="fr-CA" b="0" i="1" smtClean="0">
                        <a:latin typeface="Cambria Math" panose="02040503050406030204" pitchFamily="18" charset="0"/>
                      </a:rPr>
                      <m:t>𝑣𝑎</m:t>
                    </m:r>
                    <m:r>
                      <a:rPr lang="fr-CA" b="0" i="1" smtClean="0">
                        <a:latin typeface="Cambria Math" panose="02040503050406030204" pitchFamily="18" charset="0"/>
                      </a:rPr>
                      <m:t> </m:t>
                    </m:r>
                    <m:r>
                      <a:rPr lang="fr-CA" b="0" i="1" smtClean="0">
                        <a:latin typeface="Cambria Math" panose="02040503050406030204" pitchFamily="18" charset="0"/>
                      </a:rPr>
                      <m:t>𝑝𝑟𝑒𝑛𝑑𝑟𝑒</m:t>
                    </m:r>
                    <m:r>
                      <a:rPr lang="fr-CA" b="0" i="1" smtClean="0">
                        <a:latin typeface="Cambria Math" panose="02040503050406030204" pitchFamily="18" charset="0"/>
                      </a:rPr>
                      <m:t> </m:t>
                    </m:r>
                  </m:oMath>
                </a14:m>
                <a:br>
                  <a:rPr lang="fr-CA" b="0" i="1" dirty="0">
                    <a:latin typeface="Cambria Math" panose="02040503050406030204" pitchFamily="18" charset="0"/>
                  </a:rPr>
                </a:br>
                <a14:m>
                  <m:oMath xmlns:m="http://schemas.openxmlformats.org/officeDocument/2006/math">
                    <m:r>
                      <a:rPr lang="fr-CA" b="0" i="1" smtClean="0">
                        <a:latin typeface="Cambria Math" panose="02040503050406030204" pitchFamily="18" charset="0"/>
                      </a:rPr>
                      <m:t>𝑙𝑎</m:t>
                    </m:r>
                    <m:r>
                      <a:rPr lang="fr-CA" b="0" i="1" smtClean="0">
                        <a:latin typeface="Cambria Math" panose="02040503050406030204" pitchFamily="18" charset="0"/>
                      </a:rPr>
                      <m:t> </m:t>
                    </m:r>
                    <m:r>
                      <a:rPr lang="fr-CA" b="0" i="1" smtClean="0">
                        <a:latin typeface="Cambria Math" panose="02040503050406030204" pitchFamily="18" charset="0"/>
                      </a:rPr>
                      <m:t>𝑣𝑎𝑙𝑒𝑢𝑟</m:t>
                    </m:r>
                  </m:oMath>
                </a14:m>
                <a:r>
                  <a:rPr lang="fr-CA" dirty="0"/>
                  <a:t> </a:t>
                </a:r>
                <a14:m>
                  <m:oMath xmlns:m="http://schemas.openxmlformats.org/officeDocument/2006/math">
                    <m:sSub>
                      <m:sSubPr>
                        <m:ctrlPr>
                          <a:rPr lang="fr-CA" i="1" dirty="0" smtClean="0">
                            <a:latin typeface="Cambria Math" panose="02040503050406030204" pitchFamily="18" charset="0"/>
                          </a:rPr>
                        </m:ctrlPr>
                      </m:sSubPr>
                      <m:e>
                        <m:r>
                          <a:rPr lang="fr-CA" b="0" i="1" dirty="0" smtClean="0">
                            <a:latin typeface="Cambria Math" panose="02040503050406030204" pitchFamily="18" charset="0"/>
                          </a:rPr>
                          <m:t>𝑡</m:t>
                        </m:r>
                      </m:e>
                      <m:sub>
                        <m:r>
                          <a:rPr lang="fr-CA" b="0" i="1" dirty="0" smtClean="0">
                            <a:latin typeface="Cambria Math" panose="02040503050406030204" pitchFamily="18" charset="0"/>
                          </a:rPr>
                          <m:t>0</m:t>
                        </m:r>
                      </m:sub>
                    </m:sSub>
                    <m:r>
                      <a:rPr lang="fr-CA" b="0" i="1" dirty="0" smtClean="0">
                        <a:latin typeface="Cambria Math" panose="02040503050406030204" pitchFamily="18" charset="0"/>
                      </a:rPr>
                      <m:t>=</m:t>
                    </m:r>
                    <m:sSub>
                      <m:sSubPr>
                        <m:ctrlPr>
                          <a:rPr lang="fr-CA" b="0" i="1" dirty="0" smtClean="0">
                            <a:latin typeface="Cambria Math" panose="02040503050406030204" pitchFamily="18" charset="0"/>
                          </a:rPr>
                        </m:ctrlPr>
                      </m:sSubPr>
                      <m:e>
                        <m:r>
                          <a:rPr lang="fr-CA" b="0" i="1" dirty="0" smtClean="0">
                            <a:latin typeface="Cambria Math" panose="02040503050406030204" pitchFamily="18" charset="0"/>
                          </a:rPr>
                          <m:t>𝑡</m:t>
                        </m:r>
                      </m:e>
                      <m:sub>
                        <m:r>
                          <a:rPr lang="fr-CA" b="0" i="1" dirty="0" smtClean="0">
                            <a:latin typeface="Cambria Math" panose="02040503050406030204" pitchFamily="18" charset="0"/>
                          </a:rPr>
                          <m:t>𝑜𝑏𝑠</m:t>
                        </m:r>
                      </m:sub>
                    </m:sSub>
                    <m:r>
                      <a:rPr lang="fr-CA" b="0" i="1" dirty="0" smtClean="0">
                        <a:latin typeface="Cambria Math" panose="02040503050406030204" pitchFamily="18" charset="0"/>
                      </a:rPr>
                      <m:t>=</m:t>
                    </m:r>
                    <m:f>
                      <m:fPr>
                        <m:ctrlPr>
                          <a:rPr lang="fr-CA" b="0" i="1" dirty="0" smtClean="0">
                            <a:latin typeface="Cambria Math" panose="02040503050406030204" pitchFamily="18" charset="0"/>
                          </a:rPr>
                        </m:ctrlPr>
                      </m:fPr>
                      <m:num>
                        <m:acc>
                          <m:accPr>
                            <m:chr m:val="̅"/>
                            <m:ctrlPr>
                              <a:rPr lang="fr-CA" b="0" i="1" dirty="0" smtClean="0">
                                <a:latin typeface="Cambria Math" panose="02040503050406030204" pitchFamily="18" charset="0"/>
                              </a:rPr>
                            </m:ctrlPr>
                          </m:accPr>
                          <m:e>
                            <m:r>
                              <a:rPr lang="fr-CA" b="0" i="1" dirty="0" smtClean="0">
                                <a:latin typeface="Cambria Math" panose="02040503050406030204" pitchFamily="18" charset="0"/>
                              </a:rPr>
                              <m:t>𝑥</m:t>
                            </m:r>
                          </m:e>
                        </m:acc>
                        <m:r>
                          <a:rPr lang="fr-CA" b="0" i="1" dirty="0" smtClean="0">
                            <a:latin typeface="Cambria Math" panose="02040503050406030204" pitchFamily="18" charset="0"/>
                          </a:rPr>
                          <m:t>−</m:t>
                        </m:r>
                        <m:sSub>
                          <m:sSubPr>
                            <m:ctrlPr>
                              <a:rPr lang="fr-CA" b="0" i="1" dirty="0" smtClean="0">
                                <a:latin typeface="Cambria Math" panose="02040503050406030204" pitchFamily="18" charset="0"/>
                              </a:rPr>
                            </m:ctrlPr>
                          </m:sSubPr>
                          <m:e>
                            <m:r>
                              <a:rPr lang="fr-CA" b="0" i="1" dirty="0" smtClean="0">
                                <a:latin typeface="Cambria Math" panose="02040503050406030204" pitchFamily="18" charset="0"/>
                                <a:ea typeface="Cambria Math" panose="02040503050406030204" pitchFamily="18" charset="0"/>
                              </a:rPr>
                              <m:t>𝜇</m:t>
                            </m:r>
                          </m:e>
                          <m:sub>
                            <m:r>
                              <a:rPr lang="fr-CA" b="0" i="1" dirty="0" smtClean="0">
                                <a:latin typeface="Cambria Math" panose="02040503050406030204" pitchFamily="18" charset="0"/>
                              </a:rPr>
                              <m:t>0</m:t>
                            </m:r>
                          </m:sub>
                        </m:sSub>
                      </m:num>
                      <m:den>
                        <m:f>
                          <m:fPr>
                            <m:ctrlPr>
                              <a:rPr lang="fr-CA" b="0" i="1" dirty="0" smtClean="0">
                                <a:latin typeface="Cambria Math" panose="02040503050406030204" pitchFamily="18" charset="0"/>
                              </a:rPr>
                            </m:ctrlPr>
                          </m:fPr>
                          <m:num>
                            <m:sSub>
                              <m:sSubPr>
                                <m:ctrlPr>
                                  <a:rPr lang="fr-CA" b="0" i="1" dirty="0" smtClean="0">
                                    <a:latin typeface="Cambria Math" panose="02040503050406030204" pitchFamily="18" charset="0"/>
                                  </a:rPr>
                                </m:ctrlPr>
                              </m:sSubPr>
                              <m:e>
                                <m:r>
                                  <a:rPr lang="fr-CA" b="0" i="1" dirty="0" smtClean="0">
                                    <a:latin typeface="Cambria Math" panose="02040503050406030204" pitchFamily="18" charset="0"/>
                                  </a:rPr>
                                  <m:t>𝑠</m:t>
                                </m:r>
                              </m:e>
                              <m:sub>
                                <m:r>
                                  <a:rPr lang="fr-CA" b="0" i="1" dirty="0" smtClean="0">
                                    <a:latin typeface="Cambria Math" panose="02040503050406030204" pitchFamily="18" charset="0"/>
                                  </a:rPr>
                                  <m:t>𝑋</m:t>
                                </m:r>
                              </m:sub>
                            </m:sSub>
                          </m:num>
                          <m:den>
                            <m:rad>
                              <m:radPr>
                                <m:degHide m:val="on"/>
                                <m:ctrlPr>
                                  <a:rPr lang="fr-CA" b="0" i="1" dirty="0" smtClean="0">
                                    <a:latin typeface="Cambria Math" panose="02040503050406030204" pitchFamily="18" charset="0"/>
                                  </a:rPr>
                                </m:ctrlPr>
                              </m:radPr>
                              <m:deg/>
                              <m:e>
                                <m:r>
                                  <a:rPr lang="fr-CA" b="0" i="1" dirty="0" smtClean="0">
                                    <a:latin typeface="Cambria Math" panose="02040503050406030204" pitchFamily="18" charset="0"/>
                                  </a:rPr>
                                  <m:t>𝑛</m:t>
                                </m:r>
                              </m:e>
                            </m:rad>
                          </m:den>
                        </m:f>
                      </m:den>
                    </m:f>
                  </m:oMath>
                </a14:m>
                <a:endParaRPr lang="fr-CA" dirty="0"/>
              </a:p>
            </p:txBody>
          </p:sp>
        </mc:Choice>
        <mc:Fallback xmlns="">
          <p:sp>
            <p:nvSpPr>
              <p:cNvPr id="2" name="Titre 1">
                <a:extLst>
                  <a:ext uri="{FF2B5EF4-FFF2-40B4-BE49-F238E27FC236}">
                    <a16:creationId xmlns:a16="http://schemas.microsoft.com/office/drawing/2014/main" id="{F26B13BF-22A0-432C-B475-37F0C388A1E4}"/>
                  </a:ext>
                </a:extLst>
              </p:cNvPr>
              <p:cNvSpPr>
                <a:spLocks noGrp="1" noRot="1" noChangeAspect="1" noMove="1" noResize="1" noEditPoints="1" noAdjustHandles="1" noChangeArrowheads="1" noChangeShapeType="1" noTextEdit="1"/>
              </p:cNvSpPr>
              <p:nvPr>
                <p:ph type="title"/>
              </p:nvPr>
            </p:nvSpPr>
            <p:spPr>
              <a:xfrm>
                <a:off x="838200" y="365125"/>
                <a:ext cx="10515600" cy="1983439"/>
              </a:xfrm>
              <a:blipFill>
                <a:blip r:embed="rId2"/>
                <a:stretch>
                  <a:fillRect l="-2377" t="-6462"/>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922C791E-353D-4A1C-8D09-2CBE78C8E0AD}"/>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ABBCD919-8FC5-43ED-A4A2-059EC9896717}"/>
              </a:ext>
            </a:extLst>
          </p:cNvPr>
          <p:cNvSpPr>
            <a:spLocks noGrp="1"/>
          </p:cNvSpPr>
          <p:nvPr>
            <p:ph type="sldNum" sz="quarter" idx="12"/>
          </p:nvPr>
        </p:nvSpPr>
        <p:spPr/>
        <p:txBody>
          <a:bodyPr/>
          <a:lstStyle/>
          <a:p>
            <a:fld id="{26377AD9-CE17-438C-A638-C64D2D42D7CF}" type="slidenum">
              <a:rPr lang="fr-CA" smtClean="0"/>
              <a:t>11</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2BBF2DEF-4F17-4635-A90C-C6374739D4CA}"/>
                  </a:ext>
                </a:extLst>
              </p:cNvPr>
              <p:cNvSpPr txBox="1"/>
              <p:nvPr/>
            </p:nvSpPr>
            <p:spPr>
              <a:xfrm>
                <a:off x="1068404" y="2136808"/>
                <a:ext cx="10285396" cy="1225207"/>
              </a:xfrm>
              <a:prstGeom prst="rect">
                <a:avLst/>
              </a:prstGeom>
              <a:noFill/>
            </p:spPr>
            <p:txBody>
              <a:bodyPr wrap="square" rtlCol="0">
                <a:spAutoFit/>
              </a:bodyPr>
              <a:lstStyle/>
              <a:p>
                <a:r>
                  <a:rPr lang="fr-CA" dirty="0"/>
                  <a:t>Cette valeur doit être voisine de zéro, car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𝑥</m:t>
                        </m:r>
                      </m:e>
                    </m:acc>
                    <m:r>
                      <a:rPr lang="fr-CA" b="0" i="1" smtClean="0">
                        <a:latin typeface="Cambria Math" panose="02040503050406030204" pitchFamily="18" charset="0"/>
                      </a:rPr>
                      <m:t>  </m:t>
                    </m:r>
                    <m:r>
                      <a:rPr lang="fr-CA" b="0" i="1" smtClean="0">
                        <a:latin typeface="Cambria Math" panose="02040503050406030204" pitchFamily="18" charset="0"/>
                      </a:rPr>
                      <m:t>𝑒𝑠𝑡</m:t>
                    </m:r>
                    <m:r>
                      <a:rPr lang="fr-CA" b="0" i="1" smtClean="0">
                        <a:latin typeface="Cambria Math" panose="02040503050406030204" pitchFamily="18" charset="0"/>
                      </a:rPr>
                      <m:t> </m:t>
                    </m:r>
                    <m:r>
                      <a:rPr lang="fr-CA" b="0" i="1" smtClean="0">
                        <a:latin typeface="Cambria Math" panose="02040503050406030204" pitchFamily="18" charset="0"/>
                      </a:rPr>
                      <m:t>𝑢𝑛</m:t>
                    </m:r>
                    <m:r>
                      <a:rPr lang="fr-CA" b="0" i="1" smtClean="0">
                        <a:latin typeface="Cambria Math" panose="02040503050406030204" pitchFamily="18" charset="0"/>
                      </a:rPr>
                      <m:t> </m:t>
                    </m:r>
                    <m:r>
                      <a:rPr lang="fr-CA" b="0" i="1" smtClean="0">
                        <a:latin typeface="Cambria Math" panose="02040503050406030204" pitchFamily="18" charset="0"/>
                      </a:rPr>
                      <m:t>𝑒𝑠𝑡𝑖𝑚𝑎𝑡𝑒𝑢𝑟</m:t>
                    </m:r>
                    <m:r>
                      <a:rPr lang="fr-CA" b="0" i="1" smtClean="0">
                        <a:latin typeface="Cambria Math" panose="02040503050406030204" pitchFamily="18" charset="0"/>
                      </a:rPr>
                      <m:t> </m:t>
                    </m:r>
                    <m:r>
                      <a:rPr lang="fr-CA" b="0" i="1" smtClean="0">
                        <a:latin typeface="Cambria Math" panose="02040503050406030204" pitchFamily="18" charset="0"/>
                      </a:rPr>
                      <m:t>𝑑𝑒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oMath>
                </a14:m>
                <a:r>
                  <a:rPr lang="fr-CA" dirty="0"/>
                  <a:t>, avec un seuil de signification </a:t>
                </a:r>
                <a14:m>
                  <m:oMath xmlns:m="http://schemas.openxmlformats.org/officeDocument/2006/math">
                    <m:r>
                      <a:rPr lang="fr-CA" i="1" smtClean="0">
                        <a:latin typeface="Cambria Math" panose="02040503050406030204" pitchFamily="18" charset="0"/>
                        <a:ea typeface="Cambria Math" panose="02040503050406030204" pitchFamily="18" charset="0"/>
                      </a:rPr>
                      <m:t>𝛼</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𝑑𝑜𝑛𝑛</m:t>
                    </m:r>
                    <m:r>
                      <a:rPr lang="fr-CA" b="0" i="1" smtClean="0">
                        <a:latin typeface="Cambria Math" panose="02040503050406030204" pitchFamily="18" charset="0"/>
                        <a:ea typeface="Cambria Math" panose="02040503050406030204" pitchFamily="18" charset="0"/>
                      </a:rPr>
                      <m:t>é </m:t>
                    </m:r>
                    <m:r>
                      <a:rPr lang="fr-CA" b="0" i="1" smtClean="0">
                        <a:latin typeface="Cambria Math" panose="02040503050406030204" pitchFamily="18" charset="0"/>
                        <a:ea typeface="Cambria Math" panose="02040503050406030204" pitchFamily="18" charset="0"/>
                      </a:rPr>
                      <m:t>𝑒𝑡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𝑝𝑢𝑖𝑠𝑞</m:t>
                    </m:r>
                    <m:sSup>
                      <m:sSupPr>
                        <m:ctrlPr>
                          <a:rPr lang="fr-CA" b="0" i="1" smtClean="0">
                            <a:latin typeface="Cambria Math" panose="02040503050406030204" pitchFamily="18" charset="0"/>
                            <a:ea typeface="Cambria Math" panose="02040503050406030204" pitchFamily="18" charset="0"/>
                          </a:rPr>
                        </m:ctrlPr>
                      </m:sSupPr>
                      <m:e>
                        <m:r>
                          <a:rPr lang="fr-CA" b="0" i="1" smtClean="0">
                            <a:latin typeface="Cambria Math" panose="02040503050406030204" pitchFamily="18" charset="0"/>
                            <a:ea typeface="Cambria Math" panose="02040503050406030204" pitchFamily="18" charset="0"/>
                          </a:rPr>
                          <m:t>𝑢</m:t>
                        </m:r>
                      </m:e>
                      <m:sup>
                        <m:r>
                          <a:rPr lang="fr-CA" b="0" i="1" smtClean="0">
                            <a:latin typeface="Cambria Math" panose="02040503050406030204" pitchFamily="18" charset="0"/>
                            <a:ea typeface="Cambria Math" panose="02040503050406030204" pitchFamily="18" charset="0"/>
                          </a:rPr>
                          <m:t>′</m:t>
                        </m:r>
                      </m:sup>
                    </m:sSup>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𝑠𝑒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𝑏𝑎𝑠𝑒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𝑠𝑢𝑟</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𝑙𝑎</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𝑣𝑎𝑟𝑖𝑎𝑏𝑙𝑒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𝑑𝑒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𝑆𝑡𝑢𝑑𝑒𝑛𝑡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𝑠𝑦𝑚</m:t>
                    </m:r>
                    <m:r>
                      <a:rPr lang="fr-CA" b="0" i="1" smtClean="0">
                        <a:latin typeface="Cambria Math" panose="02040503050406030204" pitchFamily="18" charset="0"/>
                        <a:ea typeface="Cambria Math" panose="02040503050406030204" pitchFamily="18" charset="0"/>
                      </a:rPr>
                      <m:t>é</m:t>
                    </m:r>
                    <m:r>
                      <a:rPr lang="fr-CA" b="0" i="1" smtClean="0">
                        <a:latin typeface="Cambria Math" panose="02040503050406030204" pitchFamily="18" charset="0"/>
                        <a:ea typeface="Cambria Math" panose="02040503050406030204" pitchFamily="18" charset="0"/>
                      </a:rPr>
                      <m:t>𝑡𝑟𝑖𝑞𝑢𝑒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𝑎𝑙𝑜𝑟𝑠</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𝑝𝑜𝑢𝑟</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𝑢𝑛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𝑡𝑒𝑠𝑡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𝑏𝑖𝑙𝑎𝑡</m:t>
                    </m:r>
                    <m:r>
                      <a:rPr lang="fr-CA" b="0" i="1" smtClean="0">
                        <a:latin typeface="Cambria Math" panose="02040503050406030204" pitchFamily="18" charset="0"/>
                        <a:ea typeface="Cambria Math" panose="02040503050406030204" pitchFamily="18" charset="0"/>
                      </a:rPr>
                      <m:t>é</m:t>
                    </m:r>
                    <m:r>
                      <a:rPr lang="fr-CA" b="0" i="1" smtClean="0">
                        <a:latin typeface="Cambria Math" panose="02040503050406030204" pitchFamily="18" charset="0"/>
                        <a:ea typeface="Cambria Math" panose="02040503050406030204" pitchFamily="18" charset="0"/>
                      </a:rPr>
                      <m:t>𝑟𝑎𝑙</m:t>
                    </m:r>
                    <m:r>
                      <a:rPr lang="fr-CA" b="0" i="1" smtClean="0">
                        <a:latin typeface="Cambria Math" panose="02040503050406030204" pitchFamily="18" charset="0"/>
                        <a:ea typeface="Cambria Math" panose="02040503050406030204" pitchFamily="18" charset="0"/>
                      </a:rPr>
                      <m:t>, </m:t>
                    </m:r>
                  </m:oMath>
                </a14:m>
                <a:endParaRPr lang="fr-CA" b="0" i="1" dirty="0">
                  <a:latin typeface="Cambria Math" panose="02040503050406030204" pitchFamily="18" charset="0"/>
                  <a:ea typeface="Cambria Math" panose="02040503050406030204" pitchFamily="18" charset="0"/>
                </a:endParaRPr>
              </a:p>
              <a:p>
                <a14:m>
                  <m:oMath xmlns:m="http://schemas.openxmlformats.org/officeDocument/2006/math">
                    <m:r>
                      <a:rPr lang="fr-CA" b="0" i="1" smtClean="0">
                        <a:latin typeface="Cambria Math" panose="02040503050406030204" pitchFamily="18" charset="0"/>
                        <a:ea typeface="Cambria Math" panose="02040503050406030204" pitchFamily="18" charset="0"/>
                      </a:rPr>
                      <m:t>𝑀</m:t>
                    </m:r>
                    <m:r>
                      <a:rPr lang="fr-CA" b="0" i="1" smtClean="0">
                        <a:latin typeface="Cambria Math" panose="02040503050406030204" pitchFamily="18" charset="0"/>
                        <a:ea typeface="Cambria Math" panose="02040503050406030204" pitchFamily="18" charset="0"/>
                      </a:rPr>
                      <m:t>é</m:t>
                    </m:r>
                    <m:r>
                      <a:rPr lang="fr-CA" b="0" i="1" smtClean="0">
                        <a:latin typeface="Cambria Math" panose="02040503050406030204" pitchFamily="18" charset="0"/>
                        <a:ea typeface="Cambria Math" panose="02040503050406030204" pitchFamily="18" charset="0"/>
                      </a:rPr>
                      <m:t>𝑡h𝑜𝑑𝑒</m:t>
                    </m:r>
                    <m:r>
                      <a:rPr lang="fr-CA" b="0" i="1" smtClean="0">
                        <a:latin typeface="Cambria Math" panose="02040503050406030204" pitchFamily="18" charset="0"/>
                        <a:ea typeface="Cambria Math" panose="02040503050406030204" pitchFamily="18" charset="0"/>
                      </a:rPr>
                      <m:t> 1:</m:t>
                    </m:r>
                    <m:r>
                      <a:rPr lang="fr-CA" b="0" i="1" smtClean="0">
                        <a:latin typeface="Cambria Math" panose="02040503050406030204" pitchFamily="18" charset="0"/>
                        <a:ea typeface="Cambria Math" panose="02040503050406030204" pitchFamily="18" charset="0"/>
                      </a:rPr>
                      <m:t>𝑂𝑛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𝑑𝑜𝑖𝑡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𝑟𝑒𝑗𝑒𝑡𝑒𝑟</m:t>
                    </m:r>
                    <m:r>
                      <a:rPr lang="fr-CA" b="0" i="1" smtClean="0">
                        <a:latin typeface="Cambria Math" panose="02040503050406030204" pitchFamily="18" charset="0"/>
                        <a:ea typeface="Cambria Math" panose="02040503050406030204" pitchFamily="18" charset="0"/>
                      </a:rPr>
                      <m:t> </m:t>
                    </m:r>
                    <m:sSup>
                      <m:sSupPr>
                        <m:ctrlPr>
                          <a:rPr lang="fr-CA" b="0" i="1" smtClean="0">
                            <a:latin typeface="Cambria Math" panose="02040503050406030204" pitchFamily="18" charset="0"/>
                            <a:ea typeface="Cambria Math" panose="02040503050406030204" pitchFamily="18" charset="0"/>
                          </a:rPr>
                        </m:ctrlPr>
                      </m:sSupPr>
                      <m:e>
                        <m:r>
                          <a:rPr lang="fr-CA" b="0" i="1" smtClean="0">
                            <a:latin typeface="Cambria Math" panose="02040503050406030204" pitchFamily="18" charset="0"/>
                            <a:ea typeface="Cambria Math" panose="02040503050406030204" pitchFamily="18" charset="0"/>
                          </a:rPr>
                          <m:t>𝑙</m:t>
                        </m:r>
                      </m:e>
                      <m:sup>
                        <m:r>
                          <a:rPr lang="fr-CA" b="0" i="1" smtClean="0">
                            <a:latin typeface="Cambria Math" panose="02040503050406030204" pitchFamily="18" charset="0"/>
                            <a:ea typeface="Cambria Math" panose="02040503050406030204" pitchFamily="18" charset="0"/>
                          </a:rPr>
                          <m:t>′</m:t>
                        </m:r>
                      </m:sup>
                    </m:sSup>
                    <m:r>
                      <a:rPr lang="fr-CA" b="0" i="1" smtClean="0">
                        <a:latin typeface="Cambria Math" panose="02040503050406030204" pitchFamily="18" charset="0"/>
                        <a:ea typeface="Cambria Math" panose="02040503050406030204" pitchFamily="18" charset="0"/>
                      </a:rPr>
                      <m:t>h𝑦𝑝𝑜𝑡h</m:t>
                    </m:r>
                    <m:r>
                      <a:rPr lang="fr-CA" b="0" i="1" smtClean="0">
                        <a:latin typeface="Cambria Math" panose="02040503050406030204" pitchFamily="18" charset="0"/>
                        <a:ea typeface="Cambria Math" panose="02040503050406030204" pitchFamily="18" charset="0"/>
                      </a:rPr>
                      <m:t>é</m:t>
                    </m:r>
                    <m:r>
                      <a:rPr lang="fr-CA" b="0" i="1" smtClean="0">
                        <a:latin typeface="Cambria Math" panose="02040503050406030204" pitchFamily="18" charset="0"/>
                        <a:ea typeface="Cambria Math" panose="02040503050406030204" pitchFamily="18" charset="0"/>
                      </a:rPr>
                      <m:t>𝑠𝑒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𝑛𝑢𝑙𝑙𝑒</m:t>
                    </m:r>
                  </m:oMath>
                </a14:m>
                <a:r>
                  <a:rPr lang="fr-CA" dirty="0"/>
                  <a:t> lorsque la valeur de </a:t>
                </a:r>
                <a14:m>
                  <m:oMath xmlns:m="http://schemas.openxmlformats.org/officeDocument/2006/math">
                    <m:sSub>
                      <m:sSubPr>
                        <m:ctrlPr>
                          <a:rPr lang="fr-CA" i="1" dirty="0">
                            <a:latin typeface="Cambria Math" panose="02040503050406030204" pitchFamily="18" charset="0"/>
                          </a:rPr>
                        </m:ctrlPr>
                      </m:sSubPr>
                      <m:e>
                        <m:r>
                          <a:rPr lang="fr-CA" i="1" dirty="0">
                            <a:latin typeface="Cambria Math" panose="02040503050406030204" pitchFamily="18" charset="0"/>
                          </a:rPr>
                          <m:t>𝑡</m:t>
                        </m:r>
                      </m:e>
                      <m:sub>
                        <m:r>
                          <a:rPr lang="fr-CA" i="1" dirty="0">
                            <a:latin typeface="Cambria Math" panose="02040503050406030204" pitchFamily="18" charset="0"/>
                          </a:rPr>
                          <m:t>0</m:t>
                        </m:r>
                      </m:sub>
                    </m:sSub>
                  </m:oMath>
                </a14:m>
                <a:r>
                  <a:rPr lang="fr-CA" dirty="0"/>
                  <a:t> s’écarte beaucoup de zéro à droite ou à gauche et qu’elle dépasse les points critiques: </a:t>
                </a:r>
                <a14:m>
                  <m:oMath xmlns:m="http://schemas.openxmlformats.org/officeDocument/2006/math">
                    <m:r>
                      <a:rPr lang="fr-CA" i="1" smtClean="0">
                        <a:latin typeface="Cambria Math" panose="02040503050406030204" pitchFamily="18" charset="0"/>
                        <a:ea typeface="Cambria Math" panose="02040503050406030204" pitchFamily="18" charset="0"/>
                      </a:rPr>
                      <m:t>±</m:t>
                    </m:r>
                    <m:sSub>
                      <m:sSubPr>
                        <m:ctrlPr>
                          <a:rPr lang="fr-CA"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𝑡</m:t>
                        </m:r>
                      </m:e>
                      <m:sub>
                        <m:r>
                          <a:rPr lang="fr-CA" b="0" i="1" smtClean="0">
                            <a:latin typeface="Cambria Math" panose="02040503050406030204" pitchFamily="18" charset="0"/>
                            <a:ea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𝛼</m:t>
                        </m:r>
                        <m:r>
                          <a:rPr lang="fr-CA" b="0" i="1" smtClean="0">
                            <a:latin typeface="Cambria Math" panose="02040503050406030204" pitchFamily="18" charset="0"/>
                            <a:ea typeface="Cambria Math" panose="02040503050406030204" pitchFamily="18" charset="0"/>
                          </a:rPr>
                          <m:t>/2</m:t>
                        </m:r>
                      </m:sub>
                    </m:sSub>
                  </m:oMath>
                </a14:m>
                <a:endParaRPr lang="fr-CA" dirty="0"/>
              </a:p>
            </p:txBody>
          </p:sp>
        </mc:Choice>
        <mc:Fallback xmlns="">
          <p:sp>
            <p:nvSpPr>
              <p:cNvPr id="5" name="ZoneTexte 4">
                <a:extLst>
                  <a:ext uri="{FF2B5EF4-FFF2-40B4-BE49-F238E27FC236}">
                    <a16:creationId xmlns:a16="http://schemas.microsoft.com/office/drawing/2014/main" id="{2BBF2DEF-4F17-4635-A90C-C6374739D4CA}"/>
                  </a:ext>
                </a:extLst>
              </p:cNvPr>
              <p:cNvSpPr txBox="1">
                <a:spLocks noRot="1" noChangeAspect="1" noMove="1" noResize="1" noEditPoints="1" noAdjustHandles="1" noChangeArrowheads="1" noChangeShapeType="1" noTextEdit="1"/>
              </p:cNvSpPr>
              <p:nvPr/>
            </p:nvSpPr>
            <p:spPr>
              <a:xfrm>
                <a:off x="1068404" y="2136808"/>
                <a:ext cx="10285396" cy="1225207"/>
              </a:xfrm>
              <a:prstGeom prst="rect">
                <a:avLst/>
              </a:prstGeom>
              <a:blipFill>
                <a:blip r:embed="rId3"/>
                <a:stretch>
                  <a:fillRect l="-474" t="-2985" b="-5473"/>
                </a:stretch>
              </a:blipFill>
            </p:spPr>
            <p:txBody>
              <a:bodyPr/>
              <a:lstStyle/>
              <a:p>
                <a:r>
                  <a:rPr lang="fr-CA">
                    <a:noFill/>
                  </a:rPr>
                  <a:t> </a:t>
                </a:r>
              </a:p>
            </p:txBody>
          </p:sp>
        </mc:Fallback>
      </mc:AlternateContent>
      <p:pic>
        <p:nvPicPr>
          <p:cNvPr id="8" name="Image 7">
            <a:extLst>
              <a:ext uri="{FF2B5EF4-FFF2-40B4-BE49-F238E27FC236}">
                <a16:creationId xmlns:a16="http://schemas.microsoft.com/office/drawing/2014/main" id="{F826CE23-CBB3-4ACE-88DB-DCFE6D150C3A}"/>
              </a:ext>
            </a:extLst>
          </p:cNvPr>
          <p:cNvPicPr/>
          <p:nvPr/>
        </p:nvPicPr>
        <p:blipFill>
          <a:blip r:embed="rId4"/>
          <a:stretch>
            <a:fillRect/>
          </a:stretch>
        </p:blipFill>
        <p:spPr>
          <a:xfrm>
            <a:off x="5867400" y="2978150"/>
            <a:ext cx="5486400" cy="3879850"/>
          </a:xfrm>
          <a:prstGeom prst="rect">
            <a:avLst/>
          </a:prstGeom>
        </p:spPr>
      </p:pic>
    </p:spTree>
    <p:extLst>
      <p:ext uri="{BB962C8B-B14F-4D97-AF65-F5344CB8AC3E}">
        <p14:creationId xmlns:p14="http://schemas.microsoft.com/office/powerpoint/2010/main" val="3920766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2D23000-E209-4D10-88FC-678B029ABAE8}"/>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3700"/>
              <a:t>Pour un test unilatéral à droite</a:t>
            </a:r>
          </a:p>
        </p:txBody>
      </p:sp>
      <p:grpSp>
        <p:nvGrpSpPr>
          <p:cNvPr id="13" name="Group 1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2B1944F5-AE4B-4DD5-9DDF-7E39E8809B3D}"/>
                  </a:ext>
                </a:extLst>
              </p:cNvPr>
              <p:cNvSpPr txBox="1"/>
              <p:nvPr/>
            </p:nvSpPr>
            <p:spPr>
              <a:xfrm>
                <a:off x="590719" y="2330505"/>
                <a:ext cx="4559425" cy="3979585"/>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2000"/>
                  <a:t>Tout le risque est è droite et la règle de décision est la suivante:</a:t>
                </a:r>
              </a:p>
              <a:p>
                <a:pPr indent="-228600" defTabSz="914400">
                  <a:lnSpc>
                    <a:spcPct val="90000"/>
                  </a:lnSpc>
                  <a:spcAft>
                    <a:spcPts val="600"/>
                  </a:spcAft>
                  <a:buFont typeface="Arial" panose="020B0604020202020204" pitchFamily="34" charset="0"/>
                  <a:buChar char="•"/>
                </a:pPr>
                <a:r>
                  <a:rPr lang="en-US" sz="2000"/>
                  <a:t>On rejette l’hypothèse nulle si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𝑡</m:t>
                        </m:r>
                      </m:e>
                      <m:sub>
                        <m:r>
                          <a:rPr lang="en-US" sz="2000" b="0" i="1">
                            <a:latin typeface="Cambria Math" panose="02040503050406030204" pitchFamily="18" charset="0"/>
                          </a:rPr>
                          <m:t>𝑜</m:t>
                        </m:r>
                      </m:sub>
                    </m:sSub>
                    <m:r>
                      <a:rPr lang="en-US" sz="2000" i="1">
                        <a:latin typeface="Cambria Math" panose="02040503050406030204" pitchFamily="18" charset="0"/>
                      </a:rPr>
                      <m:t>&gt;</m:t>
                    </m:r>
                    <m:sSub>
                      <m:sSubPr>
                        <m:ctrlPr>
                          <a:rPr lang="en-US" sz="2000" i="1">
                            <a:latin typeface="Cambria Math" panose="02040503050406030204" pitchFamily="18" charset="0"/>
                          </a:rPr>
                        </m:ctrlPr>
                      </m:sSubPr>
                      <m:e>
                        <m:r>
                          <a:rPr lang="en-US" sz="2000" b="0" i="1">
                            <a:latin typeface="Cambria Math" panose="02040503050406030204" pitchFamily="18" charset="0"/>
                          </a:rPr>
                          <m:t>𝑡</m:t>
                        </m:r>
                      </m:e>
                      <m:sub>
                        <m:r>
                          <a:rPr lang="en-US" sz="2000" b="0" i="1">
                            <a:latin typeface="Cambria Math" panose="02040503050406030204" pitchFamily="18" charset="0"/>
                          </a:rPr>
                          <m:t>𝑛</m:t>
                        </m:r>
                        <m:r>
                          <a:rPr lang="en-US" sz="2000" b="0" i="1">
                            <a:latin typeface="Cambria Math" panose="02040503050406030204" pitchFamily="18" charset="0"/>
                          </a:rPr>
                          <m:t>−1;</m:t>
                        </m:r>
                        <m:r>
                          <a:rPr lang="en-US" sz="2000" b="0" i="1">
                            <a:latin typeface="Cambria Math" panose="02040503050406030204" pitchFamily="18" charset="0"/>
                          </a:rPr>
                          <m:t>𝛼</m:t>
                        </m:r>
                      </m:sub>
                    </m:sSub>
                  </m:oMath>
                </a14:m>
                <a:r>
                  <a:rPr lang="en-US" sz="2000"/>
                  <a:t> </a:t>
                </a:r>
              </a:p>
            </p:txBody>
          </p:sp>
        </mc:Choice>
        <mc:Fallback xmlns="">
          <p:sp>
            <p:nvSpPr>
              <p:cNvPr id="5" name="ZoneTexte 4">
                <a:extLst>
                  <a:ext uri="{FF2B5EF4-FFF2-40B4-BE49-F238E27FC236}">
                    <a16:creationId xmlns:a16="http://schemas.microsoft.com/office/drawing/2014/main" id="{2B1944F5-AE4B-4DD5-9DDF-7E39E8809B3D}"/>
                  </a:ext>
                </a:extLst>
              </p:cNvPr>
              <p:cNvSpPr txBox="1">
                <a:spLocks noRot="1" noChangeAspect="1" noMove="1" noResize="1" noEditPoints="1" noAdjustHandles="1" noChangeArrowheads="1" noChangeShapeType="1" noTextEdit="1"/>
              </p:cNvSpPr>
              <p:nvPr/>
            </p:nvSpPr>
            <p:spPr>
              <a:xfrm>
                <a:off x="590719" y="2330505"/>
                <a:ext cx="4559425" cy="3979585"/>
              </a:xfrm>
              <a:prstGeom prst="rect">
                <a:avLst/>
              </a:prstGeom>
              <a:blipFill>
                <a:blip r:embed="rId2"/>
                <a:stretch>
                  <a:fillRect l="-1471"/>
                </a:stretch>
              </a:blipFill>
            </p:spPr>
            <p:txBody>
              <a:bodyPr/>
              <a:lstStyle/>
              <a:p>
                <a:r>
                  <a:rPr lang="fr-CA">
                    <a:noFill/>
                  </a:rPr>
                  <a:t> </a:t>
                </a:r>
              </a:p>
            </p:txBody>
          </p:sp>
        </mc:Fallback>
      </mc:AlternateContent>
      <p:sp>
        <p:nvSpPr>
          <p:cNvPr id="19" name="Rectangle 1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 5">
            <a:extLst>
              <a:ext uri="{FF2B5EF4-FFF2-40B4-BE49-F238E27FC236}">
                <a16:creationId xmlns:a16="http://schemas.microsoft.com/office/drawing/2014/main" id="{CEA0C29D-8257-4AD5-A956-E09C86A221D8}"/>
              </a:ext>
            </a:extLst>
          </p:cNvPr>
          <p:cNvPicPr/>
          <p:nvPr/>
        </p:nvPicPr>
        <p:blipFill rotWithShape="1">
          <a:blip r:embed="rId3"/>
          <a:srcRect t="426" r="4" b="2396"/>
          <a:stretch/>
        </p:blipFill>
        <p:spPr>
          <a:xfrm>
            <a:off x="5977788" y="799352"/>
            <a:ext cx="5425410" cy="5259296"/>
          </a:xfrm>
          <a:prstGeom prst="rect">
            <a:avLst/>
          </a:prstGeom>
        </p:spPr>
      </p:pic>
      <p:sp>
        <p:nvSpPr>
          <p:cNvPr id="3" name="Espace réservé du pied de page 2">
            <a:extLst>
              <a:ext uri="{FF2B5EF4-FFF2-40B4-BE49-F238E27FC236}">
                <a16:creationId xmlns:a16="http://schemas.microsoft.com/office/drawing/2014/main" id="{6A146FD7-E476-43D1-AF6A-2474D83CF97B}"/>
              </a:ext>
            </a:extLst>
          </p:cNvPr>
          <p:cNvSpPr>
            <a:spLocks noGrp="1"/>
          </p:cNvSpPr>
          <p:nvPr>
            <p:ph type="ftr" sz="quarter" idx="11"/>
          </p:nvPr>
        </p:nvSpPr>
        <p:spPr>
          <a:xfrm>
            <a:off x="5685810" y="6492240"/>
            <a:ext cx="3050866" cy="365125"/>
          </a:xfrm>
        </p:spPr>
        <p:txBody>
          <a:bodyPr vert="horz" lIns="91440" tIns="45720" rIns="91440" bIns="45720" rtlCol="0" anchor="ctr">
            <a:normAutofit/>
          </a:bodyPr>
          <a:lstStyle/>
          <a:p>
            <a:pPr algn="l" defTabSz="914400">
              <a:defRPr/>
            </a:pPr>
            <a:endParaRPr lang="en-US" sz="1200" kern="1200">
              <a:solidFill>
                <a:prstClr val="black">
                  <a:tint val="75000"/>
                </a:prstClr>
              </a:solidFill>
              <a:latin typeface="Calibri" panose="020F0502020204030204"/>
              <a:ea typeface="+mn-ea"/>
              <a:cs typeface="+mn-cs"/>
            </a:endParaRPr>
          </a:p>
        </p:txBody>
      </p:sp>
      <p:sp>
        <p:nvSpPr>
          <p:cNvPr id="4" name="Espace réservé du numéro de diapositive 3">
            <a:extLst>
              <a:ext uri="{FF2B5EF4-FFF2-40B4-BE49-F238E27FC236}">
                <a16:creationId xmlns:a16="http://schemas.microsoft.com/office/drawing/2014/main" id="{3D805BC4-F648-47B2-9229-C416314AF38F}"/>
              </a:ext>
            </a:extLst>
          </p:cNvPr>
          <p:cNvSpPr>
            <a:spLocks noGrp="1"/>
          </p:cNvSpPr>
          <p:nvPr>
            <p:ph type="sldNum" sz="quarter" idx="12"/>
          </p:nvPr>
        </p:nvSpPr>
        <p:spPr>
          <a:xfrm>
            <a:off x="9385070" y="6492240"/>
            <a:ext cx="1055716" cy="365125"/>
          </a:xfrm>
        </p:spPr>
        <p:txBody>
          <a:bodyPr vert="horz" lIns="91440" tIns="45720" rIns="91440" bIns="45720" rtlCol="0" anchor="ctr">
            <a:normAutofit/>
          </a:bodyPr>
          <a:lstStyle/>
          <a:p>
            <a:pPr defTabSz="914400">
              <a:spcAft>
                <a:spcPts val="600"/>
              </a:spcAft>
              <a:defRPr/>
            </a:pPr>
            <a:fld id="{26377AD9-CE17-438C-A638-C64D2D42D7CF}" type="slidenum">
              <a:rPr lang="en-US" smtClean="0">
                <a:solidFill>
                  <a:prstClr val="black">
                    <a:tint val="75000"/>
                  </a:prstClr>
                </a:solidFill>
                <a:latin typeface="Calibri" panose="020F0502020204030204"/>
              </a:rPr>
              <a:pPr defTabSz="914400">
                <a:spcAft>
                  <a:spcPts val="600"/>
                </a:spcAft>
                <a:defRPr/>
              </a:pPr>
              <a:t>12</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737674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99F9C65-F37A-4210-BD12-F6D97AC1B3E4}"/>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3700"/>
              <a:t>Pour un test unilatéral à gauche.</a:t>
            </a:r>
          </a:p>
        </p:txBody>
      </p:sp>
      <p:grpSp>
        <p:nvGrpSpPr>
          <p:cNvPr id="13" name="Group 1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96F511AD-A757-4589-8853-AF09F925F5C3}"/>
                  </a:ext>
                </a:extLst>
              </p:cNvPr>
              <p:cNvSpPr txBox="1"/>
              <p:nvPr/>
            </p:nvSpPr>
            <p:spPr>
              <a:xfrm>
                <a:off x="590719" y="2330505"/>
                <a:ext cx="4559425" cy="3979585"/>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2000"/>
                  <a:t>Tout le risque est concentré à gauche et alors on doit rejeter l’hypothèse nulle lorsque </a:t>
                </a:r>
                <a14:m>
                  <m:oMath xmlns:m="http://schemas.openxmlformats.org/officeDocument/2006/math">
                    <m:sSub>
                      <m:sSubPr>
                        <m:ctrlPr>
                          <a:rPr lang="en-US" sz="2000" i="1">
                            <a:latin typeface="Cambria Math" panose="02040503050406030204" pitchFamily="18" charset="0"/>
                          </a:rPr>
                        </m:ctrlPr>
                      </m:sSubPr>
                      <m:e>
                        <m:r>
                          <a:rPr lang="en-US" sz="2000" b="0" i="1">
                            <a:latin typeface="Cambria Math" panose="02040503050406030204" pitchFamily="18" charset="0"/>
                          </a:rPr>
                          <m:t>𝑡</m:t>
                        </m:r>
                      </m:e>
                      <m:sub>
                        <m:r>
                          <a:rPr lang="en-US" sz="2000" b="0" i="1">
                            <a:latin typeface="Cambria Math" panose="02040503050406030204" pitchFamily="18" charset="0"/>
                          </a:rPr>
                          <m:t>𝑜</m:t>
                        </m:r>
                      </m:sub>
                    </m:sSub>
                    <m:r>
                      <a:rPr lang="en-US" sz="2000" i="1">
                        <a:latin typeface="Cambria Math" panose="02040503050406030204" pitchFamily="18" charset="0"/>
                      </a:rPr>
                      <m:t>&lt;</m:t>
                    </m:r>
                    <m:r>
                      <a:rPr lang="en-US" sz="2000" b="0" i="1">
                        <a:latin typeface="Cambria Math" panose="02040503050406030204" pitchFamily="18" charset="0"/>
                      </a:rPr>
                      <m:t>−</m:t>
                    </m:r>
                    <m:sSub>
                      <m:sSubPr>
                        <m:ctrlPr>
                          <a:rPr lang="en-US" sz="2000" b="0" i="1">
                            <a:latin typeface="Cambria Math" panose="02040503050406030204" pitchFamily="18" charset="0"/>
                          </a:rPr>
                        </m:ctrlPr>
                      </m:sSubPr>
                      <m:e>
                        <m:r>
                          <a:rPr lang="en-US" sz="2000" b="0" i="1">
                            <a:latin typeface="Cambria Math" panose="02040503050406030204" pitchFamily="18" charset="0"/>
                          </a:rPr>
                          <m:t>𝑡</m:t>
                        </m:r>
                      </m:e>
                      <m:sub>
                        <m:r>
                          <a:rPr lang="en-US" sz="2000" b="0" i="1">
                            <a:latin typeface="Cambria Math" panose="02040503050406030204" pitchFamily="18" charset="0"/>
                          </a:rPr>
                          <m:t>𝑛</m:t>
                        </m:r>
                        <m:r>
                          <a:rPr lang="en-US" sz="2000" b="0" i="1">
                            <a:latin typeface="Cambria Math" panose="02040503050406030204" pitchFamily="18" charset="0"/>
                          </a:rPr>
                          <m:t>−1;</m:t>
                        </m:r>
                        <m:r>
                          <a:rPr lang="en-US" sz="2000" b="0" i="1">
                            <a:latin typeface="Cambria Math" panose="02040503050406030204" pitchFamily="18" charset="0"/>
                          </a:rPr>
                          <m:t>𝛼</m:t>
                        </m:r>
                      </m:sub>
                    </m:sSub>
                  </m:oMath>
                </a14:m>
                <a:r>
                  <a:rPr lang="en-US" sz="2000"/>
                  <a:t> ce qui se traduit graphiquement par: </a:t>
                </a:r>
              </a:p>
            </p:txBody>
          </p:sp>
        </mc:Choice>
        <mc:Fallback xmlns="">
          <p:sp>
            <p:nvSpPr>
              <p:cNvPr id="5" name="ZoneTexte 4">
                <a:extLst>
                  <a:ext uri="{FF2B5EF4-FFF2-40B4-BE49-F238E27FC236}">
                    <a16:creationId xmlns:a16="http://schemas.microsoft.com/office/drawing/2014/main" id="{96F511AD-A757-4589-8853-AF09F925F5C3}"/>
                  </a:ext>
                </a:extLst>
              </p:cNvPr>
              <p:cNvSpPr txBox="1">
                <a:spLocks noRot="1" noChangeAspect="1" noMove="1" noResize="1" noEditPoints="1" noAdjustHandles="1" noChangeArrowheads="1" noChangeShapeType="1" noTextEdit="1"/>
              </p:cNvSpPr>
              <p:nvPr/>
            </p:nvSpPr>
            <p:spPr>
              <a:xfrm>
                <a:off x="590719" y="2330505"/>
                <a:ext cx="4559425" cy="3979585"/>
              </a:xfrm>
              <a:prstGeom prst="rect">
                <a:avLst/>
              </a:prstGeom>
              <a:blipFill>
                <a:blip r:embed="rId2"/>
                <a:stretch>
                  <a:fillRect l="-1471" r="-1604"/>
                </a:stretch>
              </a:blipFill>
            </p:spPr>
            <p:txBody>
              <a:bodyPr/>
              <a:lstStyle/>
              <a:p>
                <a:r>
                  <a:rPr lang="fr-CA">
                    <a:noFill/>
                  </a:rPr>
                  <a:t> </a:t>
                </a:r>
              </a:p>
            </p:txBody>
          </p:sp>
        </mc:Fallback>
      </mc:AlternateContent>
      <p:sp>
        <p:nvSpPr>
          <p:cNvPr id="19" name="Rectangle 1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 5">
            <a:extLst>
              <a:ext uri="{FF2B5EF4-FFF2-40B4-BE49-F238E27FC236}">
                <a16:creationId xmlns:a16="http://schemas.microsoft.com/office/drawing/2014/main" id="{18203F24-BFD0-45D4-B061-69945B4F55FD}"/>
              </a:ext>
            </a:extLst>
          </p:cNvPr>
          <p:cNvPicPr/>
          <p:nvPr/>
        </p:nvPicPr>
        <p:blipFill rotWithShape="1">
          <a:blip r:embed="rId3"/>
          <a:srcRect t="340" r="4" b="2482"/>
          <a:stretch/>
        </p:blipFill>
        <p:spPr>
          <a:xfrm>
            <a:off x="5977788" y="799352"/>
            <a:ext cx="5425410" cy="5259296"/>
          </a:xfrm>
          <a:prstGeom prst="rect">
            <a:avLst/>
          </a:prstGeom>
        </p:spPr>
      </p:pic>
      <p:sp>
        <p:nvSpPr>
          <p:cNvPr id="3" name="Espace réservé du pied de page 2">
            <a:extLst>
              <a:ext uri="{FF2B5EF4-FFF2-40B4-BE49-F238E27FC236}">
                <a16:creationId xmlns:a16="http://schemas.microsoft.com/office/drawing/2014/main" id="{2C52AEB8-4D5A-4E31-958D-EADE1C7FD8C3}"/>
              </a:ext>
            </a:extLst>
          </p:cNvPr>
          <p:cNvSpPr>
            <a:spLocks noGrp="1"/>
          </p:cNvSpPr>
          <p:nvPr>
            <p:ph type="ftr" sz="quarter" idx="11"/>
          </p:nvPr>
        </p:nvSpPr>
        <p:spPr>
          <a:xfrm>
            <a:off x="5685810" y="6492240"/>
            <a:ext cx="3050866" cy="365125"/>
          </a:xfrm>
        </p:spPr>
        <p:txBody>
          <a:bodyPr vert="horz" lIns="91440" tIns="45720" rIns="91440" bIns="45720" rtlCol="0" anchor="ctr">
            <a:normAutofit/>
          </a:bodyPr>
          <a:lstStyle/>
          <a:p>
            <a:pPr algn="l" defTabSz="914400">
              <a:defRPr/>
            </a:pPr>
            <a:endParaRPr lang="en-US" sz="1200" kern="1200">
              <a:solidFill>
                <a:prstClr val="black">
                  <a:tint val="75000"/>
                </a:prstClr>
              </a:solidFill>
              <a:latin typeface="Calibri" panose="020F0502020204030204"/>
              <a:ea typeface="+mn-ea"/>
              <a:cs typeface="+mn-cs"/>
            </a:endParaRPr>
          </a:p>
        </p:txBody>
      </p:sp>
      <p:sp>
        <p:nvSpPr>
          <p:cNvPr id="4" name="Espace réservé du numéro de diapositive 3">
            <a:extLst>
              <a:ext uri="{FF2B5EF4-FFF2-40B4-BE49-F238E27FC236}">
                <a16:creationId xmlns:a16="http://schemas.microsoft.com/office/drawing/2014/main" id="{D7387A68-18A0-4E55-A411-DE51913CD430}"/>
              </a:ext>
            </a:extLst>
          </p:cNvPr>
          <p:cNvSpPr>
            <a:spLocks noGrp="1"/>
          </p:cNvSpPr>
          <p:nvPr>
            <p:ph type="sldNum" sz="quarter" idx="12"/>
          </p:nvPr>
        </p:nvSpPr>
        <p:spPr>
          <a:xfrm>
            <a:off x="9385070" y="6492240"/>
            <a:ext cx="1055716" cy="365125"/>
          </a:xfrm>
        </p:spPr>
        <p:txBody>
          <a:bodyPr vert="horz" lIns="91440" tIns="45720" rIns="91440" bIns="45720" rtlCol="0" anchor="ctr">
            <a:normAutofit/>
          </a:bodyPr>
          <a:lstStyle/>
          <a:p>
            <a:pPr defTabSz="914400">
              <a:spcAft>
                <a:spcPts val="600"/>
              </a:spcAft>
              <a:defRPr/>
            </a:pPr>
            <a:fld id="{26377AD9-CE17-438C-A638-C64D2D42D7CF}" type="slidenum">
              <a:rPr lang="en-US" smtClean="0">
                <a:solidFill>
                  <a:prstClr val="black">
                    <a:tint val="75000"/>
                  </a:prstClr>
                </a:solidFill>
                <a:latin typeface="Calibri" panose="020F0502020204030204"/>
              </a:rPr>
              <a:pPr defTabSz="914400">
                <a:spcAft>
                  <a:spcPts val="600"/>
                </a:spcAft>
                <a:defRPr/>
              </a:pPr>
              <a:t>13</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757457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774F6B-389A-41D1-823C-0F96352899A1}"/>
              </a:ext>
            </a:extLst>
          </p:cNvPr>
          <p:cNvSpPr>
            <a:spLocks noGrp="1"/>
          </p:cNvSpPr>
          <p:nvPr>
            <p:ph type="title"/>
          </p:nvPr>
        </p:nvSpPr>
        <p:spPr/>
        <p:txBody>
          <a:bodyPr/>
          <a:lstStyle/>
          <a:p>
            <a:r>
              <a:rPr lang="fr-CA" dirty="0"/>
              <a:t>Méthode 2: On peut aussi se baser sur la valeur-P</a:t>
            </a:r>
          </a:p>
        </p:txBody>
      </p:sp>
      <p:sp>
        <p:nvSpPr>
          <p:cNvPr id="3" name="Espace réservé du pied de page 2">
            <a:extLst>
              <a:ext uri="{FF2B5EF4-FFF2-40B4-BE49-F238E27FC236}">
                <a16:creationId xmlns:a16="http://schemas.microsoft.com/office/drawing/2014/main" id="{D5B3DE03-F923-49C6-90FF-1E0C097F320B}"/>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082DE900-754B-491A-9663-C1F96409A464}"/>
              </a:ext>
            </a:extLst>
          </p:cNvPr>
          <p:cNvSpPr>
            <a:spLocks noGrp="1"/>
          </p:cNvSpPr>
          <p:nvPr>
            <p:ph type="sldNum" sz="quarter" idx="12"/>
          </p:nvPr>
        </p:nvSpPr>
        <p:spPr/>
        <p:txBody>
          <a:bodyPr/>
          <a:lstStyle/>
          <a:p>
            <a:fld id="{26377AD9-CE17-438C-A638-C64D2D42D7CF}" type="slidenum">
              <a:rPr lang="fr-CA" smtClean="0"/>
              <a:t>14</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E7F4E7C9-D2EF-49AF-ACCF-6C6E7CCA0EB9}"/>
                  </a:ext>
                </a:extLst>
              </p:cNvPr>
              <p:cNvSpPr txBox="1"/>
              <p:nvPr/>
            </p:nvSpPr>
            <p:spPr>
              <a:xfrm>
                <a:off x="952901" y="1690688"/>
                <a:ext cx="10318282" cy="4116768"/>
              </a:xfrm>
              <a:prstGeom prst="rect">
                <a:avLst/>
              </a:prstGeom>
              <a:noFill/>
            </p:spPr>
            <p:txBody>
              <a:bodyPr wrap="square" rtlCol="0">
                <a:spAutoFit/>
              </a:bodyPr>
              <a:lstStyle/>
              <a:p>
                <a:pPr marL="69850" algn="l">
                  <a:lnSpc>
                    <a:spcPct val="200000"/>
                  </a:lnSpc>
                  <a:spcAft>
                    <a:spcPts val="1000"/>
                  </a:spcAft>
                </a:pPr>
                <a:r>
                  <a:rPr lang="fr-FR" sz="1800" b="1" dirty="0">
                    <a:solidFill>
                      <a:srgbClr val="000000"/>
                    </a:solidFill>
                    <a:effectLst/>
                    <a:latin typeface="Times New Roman" panose="02020603050405020304" pitchFamily="18" charset="0"/>
                    <a:ea typeface="Times New Roman" panose="02020603050405020304" pitchFamily="18" charset="0"/>
                  </a:rPr>
                  <a:t>Définition:</a:t>
                </a:r>
                <a:r>
                  <a:rPr lang="fr-FR" sz="1800" dirty="0">
                    <a:solidFill>
                      <a:srgbClr val="000000"/>
                    </a:solidFill>
                    <a:effectLst/>
                    <a:latin typeface="Times New Roman" panose="02020603050405020304" pitchFamily="18" charset="0"/>
                    <a:ea typeface="Times New Roman" panose="02020603050405020304" pitchFamily="18" charset="0"/>
                  </a:rPr>
                  <a:t> La </a:t>
                </a:r>
                <a:r>
                  <a:rPr lang="fr-FR" sz="1800" b="1" dirty="0">
                    <a:solidFill>
                      <a:srgbClr val="000000"/>
                    </a:solidFill>
                    <a:effectLst/>
                    <a:latin typeface="Times New Roman" panose="02020603050405020304" pitchFamily="18" charset="0"/>
                    <a:ea typeface="Times New Roman" panose="02020603050405020304" pitchFamily="18" charset="0"/>
                  </a:rPr>
                  <a:t>valeur </a:t>
                </a:r>
                <a:r>
                  <a:rPr lang="fr-FR" sz="1800" b="1" i="1" dirty="0">
                    <a:solidFill>
                      <a:srgbClr val="000000"/>
                    </a:solidFill>
                    <a:effectLst/>
                    <a:latin typeface="Times New Roman" panose="02020603050405020304" pitchFamily="18" charset="0"/>
                    <a:ea typeface="Times New Roman" panose="02020603050405020304" pitchFamily="18" charset="0"/>
                  </a:rPr>
                  <a:t>P</a:t>
                </a:r>
                <a:r>
                  <a:rPr lang="fr-FR" sz="1800" dirty="0">
                    <a:solidFill>
                      <a:srgbClr val="000000"/>
                    </a:solidFill>
                    <a:effectLst/>
                    <a:latin typeface="Times New Roman" panose="02020603050405020304" pitchFamily="18" charset="0"/>
                    <a:ea typeface="Times New Roman" panose="02020603050405020304" pitchFamily="18" charset="0"/>
                  </a:rPr>
                  <a:t> est la probabilité d’obtenir, à partir d’un échantillon aléatoire, une valeur de la statistique plus extrême que celle observée sous </a:t>
                </a:r>
                <a14:m>
                  <m:oMath xmlns:m="http://schemas.openxmlformats.org/officeDocument/2006/math">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FR" sz="1800" i="1">
                            <a:solidFill>
                              <a:srgbClr val="000000"/>
                            </a:solidFill>
                            <a:effectLst/>
                            <a:latin typeface="Cambria Math" panose="02040503050406030204" pitchFamily="18" charset="0"/>
                            <a:ea typeface="Times New Roman" panose="02020603050405020304" pitchFamily="18" charset="0"/>
                          </a:rPr>
                          <m:t>𝐻</m:t>
                        </m:r>
                      </m:e>
                      <m:sub>
                        <m:r>
                          <a:rPr lang="fr-FR" sz="1800" i="1">
                            <a:solidFill>
                              <a:srgbClr val="000000"/>
                            </a:solidFill>
                            <a:effectLst/>
                            <a:latin typeface="Cambria Math" panose="02040503050406030204" pitchFamily="18" charset="0"/>
                            <a:ea typeface="Times New Roman" panose="02020603050405020304" pitchFamily="18" charset="0"/>
                          </a:rPr>
                          <m:t>0</m:t>
                        </m:r>
                      </m:sub>
                    </m:sSub>
                  </m:oMath>
                </a14:m>
                <a:r>
                  <a:rPr lang="fr-FR" sz="1800" dirty="0">
                    <a:solidFill>
                      <a:srgbClr val="000000"/>
                    </a:solidFill>
                    <a:effectLst/>
                    <a:latin typeface="Times New Roman" panose="02020603050405020304" pitchFamily="18" charset="0"/>
                    <a:ea typeface="Times New Roman" panose="02020603050405020304" pitchFamily="18" charset="0"/>
                  </a:rPr>
                  <a:t> (favorisant </a:t>
                </a:r>
                <a14:m>
                  <m:oMath xmlns:m="http://schemas.openxmlformats.org/officeDocument/2006/math">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FR" sz="1800" i="1">
                            <a:solidFill>
                              <a:srgbClr val="000000"/>
                            </a:solidFill>
                            <a:effectLst/>
                            <a:latin typeface="Cambria Math" panose="02040503050406030204" pitchFamily="18" charset="0"/>
                            <a:ea typeface="Times New Roman" panose="02020603050405020304" pitchFamily="18" charset="0"/>
                          </a:rPr>
                          <m:t>𝐻</m:t>
                        </m:r>
                      </m:e>
                      <m:sub>
                        <m:r>
                          <a:rPr lang="fr-FR" sz="1800" i="1">
                            <a:solidFill>
                              <a:srgbClr val="000000"/>
                            </a:solidFill>
                            <a:effectLst/>
                            <a:latin typeface="Cambria Math" panose="02040503050406030204" pitchFamily="18" charset="0"/>
                            <a:ea typeface="Times New Roman" panose="02020603050405020304" pitchFamily="18" charset="0"/>
                          </a:rPr>
                          <m:t>1</m:t>
                        </m:r>
                      </m:sub>
                    </m:sSub>
                    <m:r>
                      <a:rPr lang="fr-FR" sz="1800" i="1">
                        <a:solidFill>
                          <a:srgbClr val="000000"/>
                        </a:solidFill>
                        <a:effectLst/>
                        <a:latin typeface="Cambria Math" panose="02040503050406030204" pitchFamily="18" charset="0"/>
                        <a:ea typeface="Times New Roman" panose="02020603050405020304" pitchFamily="18" charset="0"/>
                      </a:rPr>
                      <m:t>)</m:t>
                    </m:r>
                  </m:oMath>
                </a14:m>
                <a:r>
                  <a:rPr lang="fr-FR" sz="1800" dirty="0">
                    <a:solidFill>
                      <a:srgbClr val="000000"/>
                    </a:solidFill>
                    <a:effectLst/>
                    <a:latin typeface="Times New Roman" panose="02020603050405020304" pitchFamily="18" charset="0"/>
                    <a:ea typeface="Times New Roman" panose="02020603050405020304" pitchFamily="18" charset="0"/>
                  </a:rPr>
                  <a:t>. Si cette probabilité est inférieure au seuil de signification </a:t>
                </a:r>
                <a:r>
                  <a:rPr lang="fr-FR" sz="1800" i="1" dirty="0">
                    <a:solidFill>
                      <a:srgbClr val="000000"/>
                    </a:solidFill>
                    <a:effectLst/>
                    <a:latin typeface="Times New Roman" panose="02020603050405020304" pitchFamily="18" charset="0"/>
                    <a:ea typeface="Times New Roman" panose="02020603050405020304" pitchFamily="18" charset="0"/>
                  </a:rPr>
                  <a:t>α</a:t>
                </a:r>
                <a:r>
                  <a:rPr lang="fr-FR" sz="1800" dirty="0">
                    <a:solidFill>
                      <a:srgbClr val="000000"/>
                    </a:solidFill>
                    <a:effectLst/>
                    <a:latin typeface="Times New Roman" panose="02020603050405020304" pitchFamily="18" charset="0"/>
                    <a:ea typeface="Times New Roman" panose="02020603050405020304" pitchFamily="18" charset="0"/>
                  </a:rPr>
                  <a:t>, on rejette </a:t>
                </a:r>
                <a:r>
                  <a:rPr lang="fr-FR" sz="1800" i="1" dirty="0">
                    <a:solidFill>
                      <a:srgbClr val="000000"/>
                    </a:solidFill>
                    <a:effectLst/>
                    <a:latin typeface="Times New Roman" panose="02020603050405020304" pitchFamily="18" charset="0"/>
                    <a:ea typeface="Times New Roman" panose="02020603050405020304" pitchFamily="18" charset="0"/>
                  </a:rPr>
                  <a:t>H</a:t>
                </a:r>
                <a:r>
                  <a:rPr lang="fr-FR" sz="1800" baseline="-25000" dirty="0">
                    <a:solidFill>
                      <a:srgbClr val="000000"/>
                    </a:solidFill>
                    <a:effectLst/>
                    <a:latin typeface="Times New Roman" panose="02020603050405020304" pitchFamily="18" charset="0"/>
                    <a:ea typeface="Times New Roman" panose="02020603050405020304" pitchFamily="18" charset="0"/>
                  </a:rPr>
                  <a:t>0</a:t>
                </a:r>
                <a:r>
                  <a:rPr lang="fr-FR" sz="1800" dirty="0">
                    <a:solidFill>
                      <a:srgbClr val="000000"/>
                    </a:solidFill>
                    <a:effectLst/>
                    <a:latin typeface="Times New Roman" panose="02020603050405020304" pitchFamily="18" charset="0"/>
                    <a:ea typeface="Times New Roman" panose="02020603050405020304" pitchFamily="18" charset="0"/>
                  </a:rPr>
                  <a:t>.</a:t>
                </a:r>
              </a:p>
              <a:p>
                <a:pPr marL="69850">
                  <a:lnSpc>
                    <a:spcPct val="200000"/>
                  </a:lnSpc>
                  <a:spcAft>
                    <a:spcPts val="1000"/>
                  </a:spcAft>
                </a:pPr>
                <a:r>
                  <a:rPr lang="fr-FR" b="1" dirty="0">
                    <a:solidFill>
                      <a:srgbClr val="000000"/>
                    </a:solidFill>
                    <a:latin typeface="Times New Roman" panose="02020603050405020304" pitchFamily="18" charset="0"/>
                    <a:ea typeface="Times New Roman" panose="02020603050405020304" pitchFamily="18" charset="0"/>
                  </a:rPr>
                  <a:t>Interprétation:</a:t>
                </a:r>
                <a:r>
                  <a:rPr lang="fr-FR" dirty="0">
                    <a:solidFill>
                      <a:srgbClr val="000000"/>
                    </a:solidFill>
                    <a:latin typeface="Times New Roman" panose="02020603050405020304" pitchFamily="18" charset="0"/>
                    <a:ea typeface="Times New Roman" panose="02020603050405020304" pitchFamily="18" charset="0"/>
                  </a:rPr>
                  <a:t> </a:t>
                </a:r>
                <a:r>
                  <a:rPr lang="fr-CA" sz="1800" dirty="0">
                    <a:solidFill>
                      <a:srgbClr val="000000"/>
                    </a:solidFill>
                    <a:effectLst/>
                    <a:latin typeface="Times New Roman" panose="02020603050405020304" pitchFamily="18" charset="0"/>
                    <a:ea typeface="Times New Roman" panose="02020603050405020304" pitchFamily="18" charset="0"/>
                  </a:rPr>
                  <a:t>On peut expliquer cette valeur </a:t>
                </a:r>
                <a:r>
                  <a:rPr lang="fr-CA" sz="1800" i="1" dirty="0">
                    <a:solidFill>
                      <a:srgbClr val="000000"/>
                    </a:solidFill>
                    <a:effectLst/>
                    <a:latin typeface="Times New Roman" panose="02020603050405020304" pitchFamily="18" charset="0"/>
                    <a:ea typeface="Times New Roman" panose="02020603050405020304" pitchFamily="18" charset="0"/>
                  </a:rPr>
                  <a:t>P</a:t>
                </a:r>
                <a:r>
                  <a:rPr lang="fr-CA" sz="1800" dirty="0">
                    <a:solidFill>
                      <a:srgbClr val="000000"/>
                    </a:solidFill>
                    <a:effectLst/>
                    <a:latin typeface="Times New Roman" panose="02020603050405020304" pitchFamily="18" charset="0"/>
                    <a:ea typeface="Times New Roman" panose="02020603050405020304" pitchFamily="18" charset="0"/>
                  </a:rPr>
                  <a:t> ainsi : Une petite valeur </a:t>
                </a:r>
                <a:r>
                  <a:rPr lang="fr-CA" sz="1800" i="1" dirty="0">
                    <a:solidFill>
                      <a:srgbClr val="000000"/>
                    </a:solidFill>
                    <a:effectLst/>
                    <a:latin typeface="Times New Roman" panose="02020603050405020304" pitchFamily="18" charset="0"/>
                    <a:ea typeface="Times New Roman" panose="02020603050405020304" pitchFamily="18" charset="0"/>
                  </a:rPr>
                  <a:t>P</a:t>
                </a:r>
                <a:r>
                  <a:rPr lang="fr-CA" sz="1800" dirty="0">
                    <a:solidFill>
                      <a:srgbClr val="000000"/>
                    </a:solidFill>
                    <a:effectLst/>
                    <a:latin typeface="Times New Roman" panose="02020603050405020304" pitchFamily="18" charset="0"/>
                    <a:ea typeface="Times New Roman" panose="02020603050405020304" pitchFamily="18" charset="0"/>
                  </a:rPr>
                  <a:t> signifie que des valeurs plus éloignées de la variable observée sont rarement observées sous </a:t>
                </a:r>
                <a14:m>
                  <m:oMath xmlns:m="http://schemas.openxmlformats.org/officeDocument/2006/math">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CA" sz="1800" i="1">
                            <a:solidFill>
                              <a:srgbClr val="000000"/>
                            </a:solidFill>
                            <a:effectLst/>
                            <a:latin typeface="Cambria Math" panose="02040503050406030204" pitchFamily="18" charset="0"/>
                            <a:ea typeface="Times New Roman" panose="02020603050405020304" pitchFamily="18" charset="0"/>
                          </a:rPr>
                          <m:t>𝐻</m:t>
                        </m:r>
                      </m:e>
                      <m:sub>
                        <m:r>
                          <a:rPr lang="fr-CA" sz="1800" i="1">
                            <a:solidFill>
                              <a:srgbClr val="000000"/>
                            </a:solidFill>
                            <a:effectLst/>
                            <a:latin typeface="Cambria Math" panose="02040503050406030204" pitchFamily="18" charset="0"/>
                            <a:ea typeface="Times New Roman" panose="02020603050405020304" pitchFamily="18" charset="0"/>
                          </a:rPr>
                          <m:t>0</m:t>
                        </m:r>
                      </m:sub>
                    </m:sSub>
                  </m:oMath>
                </a14:m>
                <a:r>
                  <a:rPr lang="fr-CA" sz="1800" dirty="0">
                    <a:solidFill>
                      <a:srgbClr val="000000"/>
                    </a:solidFill>
                    <a:effectLst/>
                    <a:latin typeface="Times New Roman" panose="02020603050405020304" pitchFamily="18" charset="0"/>
                    <a:ea typeface="Times New Roman" panose="02020603050405020304" pitchFamily="18" charset="0"/>
                  </a:rPr>
                  <a:t> et donc qu’il est peu probable que l’hypothèse nulle soit vraie et donc cela tend à contredire la véracité de cette hypothèse.</a:t>
                </a:r>
              </a:p>
              <a:p>
                <a:pPr marL="69850" algn="l">
                  <a:lnSpc>
                    <a:spcPct val="200000"/>
                  </a:lnSpc>
                  <a:spcAft>
                    <a:spcPts val="1000"/>
                  </a:spcAft>
                </a:pPr>
                <a:endParaRPr lang="fr-CA" sz="1800" dirty="0">
                  <a:solidFill>
                    <a:srgbClr val="000000"/>
                  </a:solidFill>
                  <a:effectLst/>
                  <a:latin typeface="Times New Roman" panose="02020603050405020304" pitchFamily="18" charset="0"/>
                  <a:ea typeface="Times New Roman" panose="02020603050405020304" pitchFamily="18" charset="0"/>
                </a:endParaRPr>
              </a:p>
            </p:txBody>
          </p:sp>
        </mc:Choice>
        <mc:Fallback xmlns="">
          <p:sp>
            <p:nvSpPr>
              <p:cNvPr id="5" name="ZoneTexte 4">
                <a:extLst>
                  <a:ext uri="{FF2B5EF4-FFF2-40B4-BE49-F238E27FC236}">
                    <a16:creationId xmlns:a16="http://schemas.microsoft.com/office/drawing/2014/main" id="{E7F4E7C9-D2EF-49AF-ACCF-6C6E7CCA0EB9}"/>
                  </a:ext>
                </a:extLst>
              </p:cNvPr>
              <p:cNvSpPr txBox="1">
                <a:spLocks noRot="1" noChangeAspect="1" noMove="1" noResize="1" noEditPoints="1" noAdjustHandles="1" noChangeArrowheads="1" noChangeShapeType="1" noTextEdit="1"/>
              </p:cNvSpPr>
              <p:nvPr/>
            </p:nvSpPr>
            <p:spPr>
              <a:xfrm>
                <a:off x="952901" y="1690688"/>
                <a:ext cx="10318282" cy="4116768"/>
              </a:xfrm>
              <a:prstGeom prst="rect">
                <a:avLst/>
              </a:prstGeom>
              <a:blipFill>
                <a:blip r:embed="rId2"/>
                <a:stretch>
                  <a:fillRect r="-413"/>
                </a:stretch>
              </a:blipFill>
            </p:spPr>
            <p:txBody>
              <a:bodyPr/>
              <a:lstStyle/>
              <a:p>
                <a:r>
                  <a:rPr lang="fr-CA">
                    <a:noFill/>
                  </a:rPr>
                  <a:t> </a:t>
                </a:r>
              </a:p>
            </p:txBody>
          </p:sp>
        </mc:Fallback>
      </mc:AlternateContent>
    </p:spTree>
    <p:extLst>
      <p:ext uri="{BB962C8B-B14F-4D97-AF65-F5344CB8AC3E}">
        <p14:creationId xmlns:p14="http://schemas.microsoft.com/office/powerpoint/2010/main" val="1917940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6AC5CA-3D0C-44BD-9E33-4339CF111D7C}"/>
              </a:ext>
            </a:extLst>
          </p:cNvPr>
          <p:cNvSpPr>
            <a:spLocks noGrp="1"/>
          </p:cNvSpPr>
          <p:nvPr>
            <p:ph type="title"/>
          </p:nvPr>
        </p:nvSpPr>
        <p:spPr/>
        <p:txBody>
          <a:bodyPr/>
          <a:lstStyle/>
          <a:p>
            <a:r>
              <a:rPr lang="fr-CA" dirty="0"/>
              <a:t>COMMENT CALCULER LES VALEUR-P</a:t>
            </a:r>
          </a:p>
        </p:txBody>
      </p:sp>
      <p:sp>
        <p:nvSpPr>
          <p:cNvPr id="3" name="Espace réservé du pied de page 2">
            <a:extLst>
              <a:ext uri="{FF2B5EF4-FFF2-40B4-BE49-F238E27FC236}">
                <a16:creationId xmlns:a16="http://schemas.microsoft.com/office/drawing/2014/main" id="{222D01E2-E1E8-40A1-8001-03DDCECBE215}"/>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838E42B4-F894-45D2-888A-5627A1EE8C47}"/>
              </a:ext>
            </a:extLst>
          </p:cNvPr>
          <p:cNvSpPr>
            <a:spLocks noGrp="1"/>
          </p:cNvSpPr>
          <p:nvPr>
            <p:ph type="sldNum" sz="quarter" idx="12"/>
          </p:nvPr>
        </p:nvSpPr>
        <p:spPr/>
        <p:txBody>
          <a:bodyPr/>
          <a:lstStyle/>
          <a:p>
            <a:fld id="{26377AD9-CE17-438C-A638-C64D2D42D7CF}" type="slidenum">
              <a:rPr lang="fr-CA" smtClean="0"/>
              <a:t>15</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67B80D86-A3AA-4F2D-83E4-A8C451AEF793}"/>
                  </a:ext>
                </a:extLst>
              </p:cNvPr>
              <p:cNvSpPr txBox="1"/>
              <p:nvPr/>
            </p:nvSpPr>
            <p:spPr>
              <a:xfrm>
                <a:off x="838200" y="1886552"/>
                <a:ext cx="10515600" cy="1477328"/>
              </a:xfrm>
              <a:prstGeom prst="rect">
                <a:avLst/>
              </a:prstGeom>
              <a:noFill/>
            </p:spPr>
            <p:txBody>
              <a:bodyPr wrap="square" rtlCol="0">
                <a:spAutoFit/>
              </a:bodyPr>
              <a:lstStyle/>
              <a:p>
                <a:pPr marL="342900" indent="-342900">
                  <a:buFont typeface="+mj-lt"/>
                  <a:buAutoNum type="arabicPeriod"/>
                </a:pPr>
                <a:r>
                  <a:rPr lang="fr-CA" dirty="0"/>
                  <a:t>Dans le cas d’un test bilatéral:  </a:t>
                </a:r>
                <a14:m>
                  <m:oMath xmlns:m="http://schemas.openxmlformats.org/officeDocument/2006/math">
                    <m:r>
                      <m:rPr>
                        <m:sty m:val="p"/>
                      </m:rPr>
                      <a:rPr lang="fr-CA" b="0" i="0" smtClean="0">
                        <a:latin typeface="Cambria Math" panose="02040503050406030204" pitchFamily="18" charset="0"/>
                      </a:rPr>
                      <m:t>la</m:t>
                    </m:r>
                    <m:r>
                      <a:rPr lang="fr-CA" b="0" i="0" smtClean="0">
                        <a:latin typeface="Cambria Math" panose="02040503050406030204" pitchFamily="18" charset="0"/>
                      </a:rPr>
                      <m:t> </m:t>
                    </m:r>
                    <m:r>
                      <a:rPr lang="fr-CA" b="0" i="1" smtClean="0">
                        <a:latin typeface="Cambria Math" panose="02040503050406030204" pitchFamily="18" charset="0"/>
                      </a:rPr>
                      <m:t>𝑣𝑎𝑙𝑒𝑢𝑟</m:t>
                    </m:r>
                    <m:r>
                      <a:rPr lang="fr-CA" b="0" i="1" smtClean="0">
                        <a:latin typeface="Cambria Math" panose="02040503050406030204" pitchFamily="18" charset="0"/>
                      </a:rPr>
                      <m:t>−</m:t>
                    </m:r>
                    <m:r>
                      <a:rPr lang="fr-CA" b="0" i="1" smtClean="0">
                        <a:latin typeface="Cambria Math" panose="02040503050406030204" pitchFamily="18" charset="0"/>
                      </a:rPr>
                      <m:t>𝑃</m:t>
                    </m:r>
                    <m:r>
                      <a:rPr lang="fr-CA" b="0" i="1" smtClean="0">
                        <a:latin typeface="Cambria Math" panose="02040503050406030204" pitchFamily="18" charset="0"/>
                      </a:rPr>
                      <m:t>=2</m:t>
                    </m:r>
                    <m:r>
                      <a:rPr lang="fr-CA" b="0" i="1" smtClean="0">
                        <a:latin typeface="Cambria Math" panose="02040503050406030204" pitchFamily="18" charset="0"/>
                      </a:rPr>
                      <m:t>𝑃</m:t>
                    </m:r>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𝑇</m:t>
                        </m:r>
                      </m:e>
                      <m:sub>
                        <m:r>
                          <a:rPr lang="fr-CA" b="0" i="1" smtClean="0">
                            <a:latin typeface="Cambria Math" panose="02040503050406030204" pitchFamily="18" charset="0"/>
                          </a:rPr>
                          <m:t>𝑛</m:t>
                        </m:r>
                        <m:r>
                          <a:rPr lang="fr-CA" b="0" i="1" smtClean="0">
                            <a:latin typeface="Cambria Math" panose="02040503050406030204" pitchFamily="18" charset="0"/>
                          </a:rPr>
                          <m:t>−1</m:t>
                        </m:r>
                      </m:sub>
                    </m:sSub>
                    <m:r>
                      <a:rPr lang="fr-CA" b="0" i="1" smtClean="0">
                        <a:latin typeface="Cambria Math" panose="02040503050406030204" pitchFamily="18" charset="0"/>
                        <a:ea typeface="Cambria Math" panose="02040503050406030204" pitchFamily="18" charset="0"/>
                      </a:rPr>
                      <m:t>&gt; </m:t>
                    </m:r>
                    <m:d>
                      <m:dPr>
                        <m:begChr m:val="|"/>
                        <m:endChr m:val="|"/>
                        <m:ctrlPr>
                          <a:rPr lang="fr-CA" b="0" i="1" smtClean="0">
                            <a:latin typeface="Cambria Math" panose="02040503050406030204" pitchFamily="18" charset="0"/>
                            <a:ea typeface="Cambria Math" panose="02040503050406030204" pitchFamily="18" charset="0"/>
                          </a:rPr>
                        </m:ctrlPr>
                      </m:dPr>
                      <m:e>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𝑡</m:t>
                            </m:r>
                          </m:e>
                          <m:sub>
                            <m:r>
                              <a:rPr lang="fr-CA" i="1">
                                <a:latin typeface="Cambria Math" panose="02040503050406030204" pitchFamily="18" charset="0"/>
                                <a:ea typeface="Cambria Math" panose="02040503050406030204" pitchFamily="18" charset="0"/>
                              </a:rPr>
                              <m:t>𝑜</m:t>
                            </m:r>
                          </m:sub>
                        </m:sSub>
                      </m:e>
                    </m:d>
                    <m:r>
                      <a:rPr lang="fr-CA" b="0" i="1" smtClean="0">
                        <a:latin typeface="Cambria Math" panose="02040503050406030204" pitchFamily="18" charset="0"/>
                        <a:ea typeface="Cambria Math" panose="02040503050406030204" pitchFamily="18" charset="0"/>
                      </a:rPr>
                      <m:t>)</m:t>
                    </m:r>
                  </m:oMath>
                </a14:m>
                <a:endParaRPr lang="fr-CA" dirty="0"/>
              </a:p>
              <a:p>
                <a:pPr marL="342900" indent="-342900">
                  <a:buFont typeface="+mj-lt"/>
                  <a:buAutoNum type="arabicPeriod"/>
                </a:pPr>
                <a:r>
                  <a:rPr lang="fr-CA" dirty="0"/>
                  <a:t>Dans le cas d’un test unilatéral à droite: </a:t>
                </a:r>
                <a14:m>
                  <m:oMath xmlns:m="http://schemas.openxmlformats.org/officeDocument/2006/math">
                    <m:r>
                      <a:rPr lang="fr-CA" b="0" i="1" smtClean="0">
                        <a:latin typeface="Cambria Math" panose="02040503050406030204" pitchFamily="18" charset="0"/>
                      </a:rPr>
                      <m:t>𝑙𝑎</m:t>
                    </m:r>
                    <m:r>
                      <a:rPr lang="fr-CA" b="0" i="1" smtClean="0">
                        <a:latin typeface="Cambria Math" panose="02040503050406030204" pitchFamily="18" charset="0"/>
                      </a:rPr>
                      <m:t> </m:t>
                    </m:r>
                    <m:r>
                      <a:rPr lang="fr-CA" b="0" i="1" smtClean="0">
                        <a:latin typeface="Cambria Math" panose="02040503050406030204" pitchFamily="18" charset="0"/>
                      </a:rPr>
                      <m:t>𝑣𝑎𝑙𝑒𝑢𝑟</m:t>
                    </m:r>
                    <m:r>
                      <a:rPr lang="fr-CA" b="0" i="1" smtClean="0">
                        <a:latin typeface="Cambria Math" panose="02040503050406030204" pitchFamily="18" charset="0"/>
                      </a:rPr>
                      <m:t> −</m:t>
                    </m:r>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sSub>
                          <m:sSubPr>
                            <m:ctrlPr>
                              <a:rPr lang="fr-CA" i="1">
                                <a:latin typeface="Cambria Math" panose="02040503050406030204" pitchFamily="18" charset="0"/>
                              </a:rPr>
                            </m:ctrlPr>
                          </m:sSubPr>
                          <m:e>
                            <m:r>
                              <a:rPr lang="fr-CA" i="1">
                                <a:latin typeface="Cambria Math" panose="02040503050406030204" pitchFamily="18" charset="0"/>
                              </a:rPr>
                              <m:t>𝑇</m:t>
                            </m:r>
                          </m:e>
                          <m:sub>
                            <m:r>
                              <a:rPr lang="fr-CA" i="1">
                                <a:latin typeface="Cambria Math" panose="02040503050406030204" pitchFamily="18" charset="0"/>
                              </a:rPr>
                              <m:t>𝑛</m:t>
                            </m:r>
                            <m:r>
                              <a:rPr lang="fr-CA" i="1">
                                <a:latin typeface="Cambria Math" panose="02040503050406030204" pitchFamily="18" charset="0"/>
                              </a:rPr>
                              <m:t>−1</m:t>
                            </m:r>
                          </m:sub>
                        </m:sSub>
                        <m:r>
                          <a:rPr lang="fr-CA" i="1">
                            <a:latin typeface="Cambria Math" panose="02040503050406030204" pitchFamily="18" charset="0"/>
                            <a:ea typeface="Cambria Math" panose="02040503050406030204" pitchFamily="18" charset="0"/>
                          </a:rPr>
                          <m:t>&gt; </m:t>
                        </m:r>
                        <m:sSub>
                          <m:sSubPr>
                            <m:ctrlPr>
                              <a:rPr lang="fr-CA"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𝑡</m:t>
                            </m:r>
                          </m:e>
                          <m:sub>
                            <m:r>
                              <a:rPr lang="fr-CA" b="0" i="1" smtClean="0">
                                <a:latin typeface="Cambria Math" panose="02040503050406030204" pitchFamily="18" charset="0"/>
                                <a:ea typeface="Cambria Math" panose="02040503050406030204" pitchFamily="18" charset="0"/>
                              </a:rPr>
                              <m:t>0</m:t>
                            </m:r>
                          </m:sub>
                        </m:sSub>
                      </m:e>
                    </m:d>
                    <m:r>
                      <a:rPr lang="fr-CA" b="0" i="1" smtClean="0">
                        <a:latin typeface="Cambria Math" panose="02040503050406030204" pitchFamily="18" charset="0"/>
                        <a:ea typeface="Cambria Math" panose="02040503050406030204" pitchFamily="18" charset="0"/>
                      </a:rPr>
                      <m:t>.</m:t>
                    </m:r>
                  </m:oMath>
                </a14:m>
                <a:endParaRPr lang="fr-CA" dirty="0"/>
              </a:p>
              <a:p>
                <a:pPr marL="342900" indent="-342900">
                  <a:buFont typeface="+mj-lt"/>
                  <a:buAutoNum type="arabicPeriod"/>
                </a:pPr>
                <a:r>
                  <a:rPr lang="fr-CA" dirty="0"/>
                  <a:t>Dans le cas d’un test unilatéral à gauche: </a:t>
                </a:r>
                <a14:m>
                  <m:oMath xmlns:m="http://schemas.openxmlformats.org/officeDocument/2006/math">
                    <m:r>
                      <a:rPr lang="fr-CA" b="0" i="1" smtClean="0">
                        <a:latin typeface="Cambria Math" panose="02040503050406030204" pitchFamily="18" charset="0"/>
                      </a:rPr>
                      <m:t>𝑙𝑎</m:t>
                    </m:r>
                    <m:r>
                      <a:rPr lang="fr-CA" b="0" i="1" smtClean="0">
                        <a:latin typeface="Cambria Math" panose="02040503050406030204" pitchFamily="18" charset="0"/>
                      </a:rPr>
                      <m:t> </m:t>
                    </m:r>
                    <m:r>
                      <a:rPr lang="fr-CA" b="0" i="1" smtClean="0">
                        <a:latin typeface="Cambria Math" panose="02040503050406030204" pitchFamily="18" charset="0"/>
                      </a:rPr>
                      <m:t>𝑣𝑎𝑙𝑒𝑢𝑟</m:t>
                    </m:r>
                    <m:r>
                      <a:rPr lang="fr-CA" b="0" i="1" smtClean="0">
                        <a:latin typeface="Cambria Math" panose="02040503050406030204" pitchFamily="18" charset="0"/>
                      </a:rPr>
                      <m:t> −</m:t>
                    </m:r>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sSub>
                          <m:sSubPr>
                            <m:ctrlPr>
                              <a:rPr lang="fr-CA" i="1">
                                <a:latin typeface="Cambria Math" panose="02040503050406030204" pitchFamily="18" charset="0"/>
                              </a:rPr>
                            </m:ctrlPr>
                          </m:sSubPr>
                          <m:e>
                            <m:r>
                              <a:rPr lang="fr-CA" i="1">
                                <a:latin typeface="Cambria Math" panose="02040503050406030204" pitchFamily="18" charset="0"/>
                              </a:rPr>
                              <m:t>𝑇</m:t>
                            </m:r>
                          </m:e>
                          <m:sub>
                            <m:r>
                              <a:rPr lang="fr-CA" i="1">
                                <a:latin typeface="Cambria Math" panose="02040503050406030204" pitchFamily="18" charset="0"/>
                              </a:rPr>
                              <m:t>𝑛</m:t>
                            </m:r>
                            <m:r>
                              <a:rPr lang="fr-CA" i="1">
                                <a:latin typeface="Cambria Math" panose="02040503050406030204" pitchFamily="18" charset="0"/>
                              </a:rPr>
                              <m:t>−1</m:t>
                            </m:r>
                          </m:sub>
                        </m:sSub>
                        <m:r>
                          <a:rPr lang="fr-CA" i="1">
                            <a:latin typeface="Cambria Math" panose="02040503050406030204" pitchFamily="18" charset="0"/>
                            <a:ea typeface="Cambria Math" panose="02040503050406030204" pitchFamily="18" charset="0"/>
                          </a:rPr>
                          <m:t>&lt; </m:t>
                        </m:r>
                        <m:sSub>
                          <m:sSubPr>
                            <m:ctrlPr>
                              <a:rPr lang="fr-CA"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𝑡</m:t>
                            </m:r>
                          </m:e>
                          <m:sub>
                            <m:r>
                              <a:rPr lang="fr-CA" b="0" i="1" smtClean="0">
                                <a:latin typeface="Cambria Math" panose="02040503050406030204" pitchFamily="18" charset="0"/>
                                <a:ea typeface="Cambria Math" panose="02040503050406030204" pitchFamily="18" charset="0"/>
                              </a:rPr>
                              <m:t>0</m:t>
                            </m:r>
                          </m:sub>
                        </m:sSub>
                      </m:e>
                    </m:d>
                  </m:oMath>
                </a14:m>
                <a:endParaRPr lang="fr-CA" dirty="0"/>
              </a:p>
              <a:p>
                <a:pPr marL="342900" indent="-342900">
                  <a:buFont typeface="+mj-lt"/>
                  <a:buAutoNum type="arabicPeriod"/>
                </a:pPr>
                <a:endParaRPr lang="fr-CA" dirty="0"/>
              </a:p>
              <a:p>
                <a:r>
                  <a:rPr lang="fr-CA" dirty="0"/>
                  <a:t>Une fois la valeur-P calculée, on rejette l’hypothèse nulle lorsque : </a:t>
                </a:r>
                <a14:m>
                  <m:oMath xmlns:m="http://schemas.openxmlformats.org/officeDocument/2006/math">
                    <m:r>
                      <a:rPr lang="fr-CA" b="0" i="1" smtClean="0">
                        <a:latin typeface="Cambria Math" panose="02040503050406030204" pitchFamily="18" charset="0"/>
                      </a:rPr>
                      <m:t>𝐶𝑒𝑡𝑡𝑒</m:t>
                    </m:r>
                    <m:r>
                      <a:rPr lang="fr-CA" b="0" i="1" smtClean="0">
                        <a:latin typeface="Cambria Math" panose="02040503050406030204" pitchFamily="18" charset="0"/>
                      </a:rPr>
                      <m:t> </m:t>
                    </m:r>
                    <m:r>
                      <a:rPr lang="fr-CA" b="0" i="1" smtClean="0">
                        <a:latin typeface="Cambria Math" panose="02040503050406030204" pitchFamily="18" charset="0"/>
                      </a:rPr>
                      <m:t>𝑣𝑎𝑙𝑒𝑢𝑟</m:t>
                    </m:r>
                    <m:r>
                      <a:rPr lang="fr-CA" b="0" i="1" smtClean="0">
                        <a:latin typeface="Cambria Math" panose="02040503050406030204" pitchFamily="18" charset="0"/>
                      </a:rPr>
                      <m:t>−</m:t>
                    </m:r>
                    <m:r>
                      <a:rPr lang="fr-CA" b="0" i="1" smtClean="0">
                        <a:latin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&lt;</m:t>
                    </m:r>
                    <m:r>
                      <a:rPr lang="fr-CA" b="0" i="1" smtClean="0">
                        <a:latin typeface="Cambria Math" panose="02040503050406030204" pitchFamily="18" charset="0"/>
                        <a:ea typeface="Cambria Math" panose="02040503050406030204" pitchFamily="18" charset="0"/>
                      </a:rPr>
                      <m:t>𝛼</m:t>
                    </m:r>
                  </m:oMath>
                </a14:m>
                <a:endParaRPr lang="fr-CA" dirty="0"/>
              </a:p>
            </p:txBody>
          </p:sp>
        </mc:Choice>
        <mc:Fallback xmlns="">
          <p:sp>
            <p:nvSpPr>
              <p:cNvPr id="5" name="ZoneTexte 4">
                <a:extLst>
                  <a:ext uri="{FF2B5EF4-FFF2-40B4-BE49-F238E27FC236}">
                    <a16:creationId xmlns:a16="http://schemas.microsoft.com/office/drawing/2014/main" id="{67B80D86-A3AA-4F2D-83E4-A8C451AEF793}"/>
                  </a:ext>
                </a:extLst>
              </p:cNvPr>
              <p:cNvSpPr txBox="1">
                <a:spLocks noRot="1" noChangeAspect="1" noMove="1" noResize="1" noEditPoints="1" noAdjustHandles="1" noChangeArrowheads="1" noChangeShapeType="1" noTextEdit="1"/>
              </p:cNvSpPr>
              <p:nvPr/>
            </p:nvSpPr>
            <p:spPr>
              <a:xfrm>
                <a:off x="838200" y="1886552"/>
                <a:ext cx="10515600" cy="1477328"/>
              </a:xfrm>
              <a:prstGeom prst="rect">
                <a:avLst/>
              </a:prstGeom>
              <a:blipFill>
                <a:blip r:embed="rId2"/>
                <a:stretch>
                  <a:fillRect l="-522" t="-2058" b="-5350"/>
                </a:stretch>
              </a:blipFill>
            </p:spPr>
            <p:txBody>
              <a:bodyPr/>
              <a:lstStyle/>
              <a:p>
                <a:r>
                  <a:rPr lang="fr-CA">
                    <a:noFill/>
                  </a:rPr>
                  <a:t> </a:t>
                </a:r>
              </a:p>
            </p:txBody>
          </p:sp>
        </mc:Fallback>
      </mc:AlternateContent>
    </p:spTree>
    <p:extLst>
      <p:ext uri="{BB962C8B-B14F-4D97-AF65-F5344CB8AC3E}">
        <p14:creationId xmlns:p14="http://schemas.microsoft.com/office/powerpoint/2010/main" val="2949001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47A861-A786-41CA-BBC4-A714A9EBEBB5}"/>
              </a:ext>
            </a:extLst>
          </p:cNvPr>
          <p:cNvSpPr>
            <a:spLocks noGrp="1"/>
          </p:cNvSpPr>
          <p:nvPr>
            <p:ph type="title"/>
          </p:nvPr>
        </p:nvSpPr>
        <p:spPr/>
        <p:txBody>
          <a:bodyPr/>
          <a:lstStyle/>
          <a:p>
            <a:r>
              <a:rPr lang="fr-CA" dirty="0"/>
              <a:t>Méthode 3: Autre façon de prendre une décision: L’usage du logiciel R.</a:t>
            </a:r>
          </a:p>
        </p:txBody>
      </p:sp>
      <p:sp>
        <p:nvSpPr>
          <p:cNvPr id="3" name="Espace réservé du pied de page 2">
            <a:extLst>
              <a:ext uri="{FF2B5EF4-FFF2-40B4-BE49-F238E27FC236}">
                <a16:creationId xmlns:a16="http://schemas.microsoft.com/office/drawing/2014/main" id="{19079FFB-7481-4E7D-88B9-5655C7F9166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12AFDEB6-17E6-404D-8633-C148DBF75A23}"/>
              </a:ext>
            </a:extLst>
          </p:cNvPr>
          <p:cNvSpPr>
            <a:spLocks noGrp="1"/>
          </p:cNvSpPr>
          <p:nvPr>
            <p:ph type="sldNum" sz="quarter" idx="12"/>
          </p:nvPr>
        </p:nvSpPr>
        <p:spPr/>
        <p:txBody>
          <a:bodyPr/>
          <a:lstStyle/>
          <a:p>
            <a:fld id="{26377AD9-CE17-438C-A638-C64D2D42D7CF}" type="slidenum">
              <a:rPr lang="fr-CA" smtClean="0"/>
              <a:t>16</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60274D6A-DABE-4E41-8B27-CA543CED2174}"/>
                  </a:ext>
                </a:extLst>
              </p:cNvPr>
              <p:cNvSpPr txBox="1"/>
              <p:nvPr/>
            </p:nvSpPr>
            <p:spPr>
              <a:xfrm>
                <a:off x="962526" y="1886552"/>
                <a:ext cx="10391274" cy="2585323"/>
              </a:xfrm>
              <a:prstGeom prst="rect">
                <a:avLst/>
              </a:prstGeom>
              <a:noFill/>
            </p:spPr>
            <p:txBody>
              <a:bodyPr wrap="square" rtlCol="0">
                <a:spAutoFit/>
              </a:bodyPr>
              <a:lstStyle/>
              <a:p>
                <a:r>
                  <a:rPr lang="fr-CA" dirty="0"/>
                  <a:t>On met les données dans un vecteur x et on tape:</a:t>
                </a:r>
              </a:p>
              <a:p>
                <a:pPr marL="342900" indent="-342900">
                  <a:buFont typeface="+mj-lt"/>
                  <a:buAutoNum type="arabicPeriod"/>
                </a:pPr>
                <a:r>
                  <a:rPr lang="fr-CA" dirty="0" err="1"/>
                  <a:t>t.test</a:t>
                </a:r>
                <a:r>
                  <a:rPr lang="fr-CA" dirty="0"/>
                  <a:t>(</a:t>
                </a:r>
                <a:r>
                  <a:rPr lang="fr-CA" dirty="0" err="1"/>
                  <a:t>x,mu</a:t>
                </a:r>
                <a:r>
                  <a:rPr lang="fr-CA" dirty="0"/>
                  <a:t>=…,</a:t>
                </a:r>
                <a:r>
                  <a:rPr lang="fr-CA" dirty="0" err="1"/>
                  <a:t>conf.level</a:t>
                </a:r>
                <a:r>
                  <a:rPr lang="fr-CA" dirty="0"/>
                  <a:t>=….)   pour un test d’hypothèses bilatéral.</a:t>
                </a:r>
              </a:p>
              <a:p>
                <a:pPr marL="342900" indent="-342900">
                  <a:buFont typeface="+mj-lt"/>
                  <a:buAutoNum type="arabicPeriod"/>
                </a:pPr>
                <a:r>
                  <a:rPr lang="fr-CA" sz="1800" dirty="0" err="1">
                    <a:solidFill>
                      <a:srgbClr val="000000"/>
                    </a:solidFill>
                    <a:effectLst/>
                    <a:latin typeface="Arial" panose="020B0604020202020204" pitchFamily="34" charset="0"/>
                    <a:ea typeface="Times New Roman" panose="02020603050405020304" pitchFamily="18" charset="0"/>
                  </a:rPr>
                  <a:t>t.test</a:t>
                </a:r>
                <a:r>
                  <a:rPr lang="fr-CA" sz="1800" dirty="0">
                    <a:solidFill>
                      <a:srgbClr val="000000"/>
                    </a:solidFill>
                    <a:effectLst/>
                    <a:latin typeface="Arial" panose="020B0604020202020204" pitchFamily="34" charset="0"/>
                    <a:ea typeface="Times New Roman" panose="02020603050405020304" pitchFamily="18" charset="0"/>
                  </a:rPr>
                  <a:t>(</a:t>
                </a:r>
                <a:r>
                  <a:rPr lang="fr-CA" dirty="0" err="1">
                    <a:solidFill>
                      <a:srgbClr val="000000"/>
                    </a:solidFill>
                    <a:latin typeface="Arial" panose="020B0604020202020204" pitchFamily="34" charset="0"/>
                    <a:ea typeface="Times New Roman" panose="02020603050405020304" pitchFamily="18" charset="0"/>
                  </a:rPr>
                  <a:t>x</a:t>
                </a:r>
                <a:r>
                  <a:rPr lang="fr-CA" sz="1800" dirty="0" err="1">
                    <a:solidFill>
                      <a:srgbClr val="000000"/>
                    </a:solidFill>
                    <a:effectLst/>
                    <a:latin typeface="Arial" panose="020B0604020202020204" pitchFamily="34" charset="0"/>
                    <a:ea typeface="Times New Roman" panose="02020603050405020304" pitchFamily="18" charset="0"/>
                  </a:rPr>
                  <a:t>,mu</a:t>
                </a:r>
                <a:r>
                  <a:rPr lang="fr-CA" sz="1800" dirty="0">
                    <a:solidFill>
                      <a:srgbClr val="000000"/>
                    </a:solidFill>
                    <a:effectLst/>
                    <a:latin typeface="Arial" panose="020B0604020202020204" pitchFamily="34" charset="0"/>
                    <a:ea typeface="Times New Roman" panose="02020603050405020304" pitchFamily="18" charset="0"/>
                  </a:rPr>
                  <a:t>=…,alternative="</a:t>
                </a:r>
                <a:r>
                  <a:rPr lang="fr-CA" sz="1800" dirty="0" err="1">
                    <a:solidFill>
                      <a:srgbClr val="000000"/>
                    </a:solidFill>
                    <a:effectLst/>
                    <a:latin typeface="Arial" panose="020B0604020202020204" pitchFamily="34" charset="0"/>
                    <a:ea typeface="Times New Roman" panose="02020603050405020304" pitchFamily="18" charset="0"/>
                  </a:rPr>
                  <a:t>greater</a:t>
                </a:r>
                <a:r>
                  <a:rPr lang="fr-CA" sz="1800" dirty="0">
                    <a:solidFill>
                      <a:srgbClr val="000000"/>
                    </a:solidFill>
                    <a:effectLst/>
                    <a:latin typeface="Arial" panose="020B0604020202020204" pitchFamily="34" charset="0"/>
                    <a:ea typeface="Times New Roman" panose="02020603050405020304" pitchFamily="18" charset="0"/>
                  </a:rPr>
                  <a:t>",</a:t>
                </a:r>
                <a:r>
                  <a:rPr lang="fr-CA" sz="1800" dirty="0" err="1">
                    <a:solidFill>
                      <a:srgbClr val="000000"/>
                    </a:solidFill>
                    <a:effectLst/>
                    <a:latin typeface="Arial" panose="020B0604020202020204" pitchFamily="34" charset="0"/>
                    <a:ea typeface="Times New Roman" panose="02020603050405020304" pitchFamily="18" charset="0"/>
                  </a:rPr>
                  <a:t>conf.level</a:t>
                </a:r>
                <a:r>
                  <a:rPr lang="fr-CA" sz="1800" dirty="0">
                    <a:solidFill>
                      <a:srgbClr val="000000"/>
                    </a:solidFill>
                    <a:effectLst/>
                    <a:latin typeface="Arial" panose="020B0604020202020204" pitchFamily="34" charset="0"/>
                    <a:ea typeface="Times New Roman" panose="02020603050405020304" pitchFamily="18" charset="0"/>
                  </a:rPr>
                  <a:t>=….)  pour un test unilatéral à droite.</a:t>
                </a:r>
              </a:p>
              <a:p>
                <a:pPr marL="342900" indent="-342900">
                  <a:buFont typeface="+mj-lt"/>
                  <a:buAutoNum type="arabicPeriod"/>
                </a:pPr>
                <a:r>
                  <a:rPr lang="fr-CA" sz="1800" dirty="0" err="1">
                    <a:solidFill>
                      <a:srgbClr val="000000"/>
                    </a:solidFill>
                    <a:effectLst/>
                    <a:latin typeface="Arial" panose="020B0604020202020204" pitchFamily="34" charset="0"/>
                    <a:ea typeface="Times New Roman" panose="02020603050405020304" pitchFamily="18" charset="0"/>
                  </a:rPr>
                  <a:t>t.test</a:t>
                </a:r>
                <a:r>
                  <a:rPr lang="fr-CA" sz="1800" dirty="0">
                    <a:solidFill>
                      <a:srgbClr val="000000"/>
                    </a:solidFill>
                    <a:effectLst/>
                    <a:latin typeface="Arial" panose="020B0604020202020204" pitchFamily="34" charset="0"/>
                    <a:ea typeface="Times New Roman" panose="02020603050405020304" pitchFamily="18" charset="0"/>
                  </a:rPr>
                  <a:t>(</a:t>
                </a:r>
                <a:r>
                  <a:rPr lang="fr-CA" dirty="0" err="1">
                    <a:solidFill>
                      <a:srgbClr val="000000"/>
                    </a:solidFill>
                    <a:latin typeface="Arial" panose="020B0604020202020204" pitchFamily="34" charset="0"/>
                    <a:ea typeface="Times New Roman" panose="02020603050405020304" pitchFamily="18" charset="0"/>
                  </a:rPr>
                  <a:t>x</a:t>
                </a:r>
                <a:r>
                  <a:rPr lang="fr-CA" sz="1800" dirty="0" err="1">
                    <a:solidFill>
                      <a:srgbClr val="000000"/>
                    </a:solidFill>
                    <a:effectLst/>
                    <a:latin typeface="Arial" panose="020B0604020202020204" pitchFamily="34" charset="0"/>
                    <a:ea typeface="Times New Roman" panose="02020603050405020304" pitchFamily="18" charset="0"/>
                  </a:rPr>
                  <a:t>,mu</a:t>
                </a:r>
                <a:r>
                  <a:rPr lang="fr-CA" sz="1800" dirty="0">
                    <a:solidFill>
                      <a:srgbClr val="000000"/>
                    </a:solidFill>
                    <a:effectLst/>
                    <a:latin typeface="Arial" panose="020B0604020202020204" pitchFamily="34" charset="0"/>
                    <a:ea typeface="Times New Roman" panose="02020603050405020304" pitchFamily="18" charset="0"/>
                  </a:rPr>
                  <a:t>=…,alternative="</a:t>
                </a:r>
                <a:r>
                  <a:rPr lang="fr-CA" sz="1800" dirty="0" err="1">
                    <a:solidFill>
                      <a:srgbClr val="000000"/>
                    </a:solidFill>
                    <a:effectLst/>
                    <a:latin typeface="Arial" panose="020B0604020202020204" pitchFamily="34" charset="0"/>
                    <a:ea typeface="Times New Roman" panose="02020603050405020304" pitchFamily="18" charset="0"/>
                  </a:rPr>
                  <a:t>less</a:t>
                </a:r>
                <a:r>
                  <a:rPr lang="fr-CA" sz="1800" dirty="0">
                    <a:solidFill>
                      <a:srgbClr val="000000"/>
                    </a:solidFill>
                    <a:effectLst/>
                    <a:latin typeface="Arial" panose="020B0604020202020204" pitchFamily="34" charset="0"/>
                    <a:ea typeface="Times New Roman" panose="02020603050405020304" pitchFamily="18" charset="0"/>
                  </a:rPr>
                  <a:t>",</a:t>
                </a:r>
                <a:r>
                  <a:rPr lang="fr-CA" sz="1800" dirty="0" err="1">
                    <a:solidFill>
                      <a:srgbClr val="000000"/>
                    </a:solidFill>
                    <a:effectLst/>
                    <a:latin typeface="Arial" panose="020B0604020202020204" pitchFamily="34" charset="0"/>
                    <a:ea typeface="Times New Roman" panose="02020603050405020304" pitchFamily="18" charset="0"/>
                  </a:rPr>
                  <a:t>conf.lev</a:t>
                </a:r>
                <a:r>
                  <a:rPr lang="fr-CA" sz="1800" dirty="0">
                    <a:solidFill>
                      <a:srgbClr val="000000"/>
                    </a:solidFill>
                    <a:effectLst/>
                    <a:latin typeface="Arial" panose="020B0604020202020204" pitchFamily="34" charset="0"/>
                    <a:ea typeface="Times New Roman" panose="02020603050405020304" pitchFamily="18" charset="0"/>
                  </a:rPr>
                  <a:t>=….) pour un test unilatéral à gauche.</a:t>
                </a:r>
              </a:p>
              <a:p>
                <a:pPr marL="342900" indent="-342900">
                  <a:buFont typeface="+mj-lt"/>
                  <a:buAutoNum type="arabicPeriod"/>
                </a:pPr>
                <a:endParaRPr lang="fr-CA" dirty="0">
                  <a:solidFill>
                    <a:srgbClr val="000000"/>
                  </a:solidFill>
                  <a:latin typeface="Arial" panose="020B0604020202020204" pitchFamily="34" charset="0"/>
                  <a:ea typeface="Times New Roman" panose="02020603050405020304" pitchFamily="18" charset="0"/>
                </a:endParaRPr>
              </a:p>
              <a:p>
                <a:r>
                  <a:rPr lang="fr-CA" sz="1800" dirty="0">
                    <a:solidFill>
                      <a:srgbClr val="000000"/>
                    </a:solidFill>
                    <a:effectLst/>
                    <a:latin typeface="Arial" panose="020B0604020202020204" pitchFamily="34" charset="0"/>
                    <a:ea typeface="Times New Roman" panose="02020603050405020304" pitchFamily="18" charset="0"/>
                  </a:rPr>
                  <a:t>Dans chaque cas, le logiciel R va vous donner la valeur-P et on rejette l’hypothèse lorsque cette valeur-P est inférieure à </a:t>
                </a:r>
                <a14:m>
                  <m:oMath xmlns:m="http://schemas.openxmlformats.org/officeDocument/2006/math">
                    <m:r>
                      <a:rPr lang="fr-CA" sz="1800" i="1" smtClean="0">
                        <a:solidFill>
                          <a:srgbClr val="000000"/>
                        </a:solidFill>
                        <a:effectLst/>
                        <a:latin typeface="Cambria Math" panose="02040503050406030204" pitchFamily="18" charset="0"/>
                        <a:ea typeface="Cambria Math" panose="02040503050406030204" pitchFamily="18" charset="0"/>
                      </a:rPr>
                      <m:t>𝛼</m:t>
                    </m:r>
                    <m:r>
                      <a:rPr lang="fr-CA" sz="1800" b="0" i="1" smtClean="0">
                        <a:solidFill>
                          <a:srgbClr val="000000"/>
                        </a:solidFill>
                        <a:effectLst/>
                        <a:latin typeface="Cambria Math" panose="02040503050406030204" pitchFamily="18" charset="0"/>
                        <a:ea typeface="Cambria Math" panose="02040503050406030204" pitchFamily="18" charset="0"/>
                      </a:rPr>
                      <m:t>.</m:t>
                    </m:r>
                  </m:oMath>
                </a14:m>
                <a:endParaRPr lang="fr-CA" sz="1800" dirty="0">
                  <a:solidFill>
                    <a:srgbClr val="000000"/>
                  </a:solidFill>
                  <a:effectLst/>
                  <a:latin typeface="Calibri" panose="020F0502020204030204" pitchFamily="34" charset="0"/>
                  <a:ea typeface="Times New Roman" panose="02020603050405020304" pitchFamily="18" charset="0"/>
                </a:endParaRPr>
              </a:p>
              <a:p>
                <a:endParaRPr lang="fr-CA" sz="1800" dirty="0">
                  <a:solidFill>
                    <a:srgbClr val="000000"/>
                  </a:solidFill>
                  <a:effectLst/>
                  <a:latin typeface="Calibri" panose="020F0502020204030204" pitchFamily="34" charset="0"/>
                  <a:ea typeface="Times New Roman" panose="02020603050405020304" pitchFamily="18" charset="0"/>
                </a:endParaRPr>
              </a:p>
              <a:p>
                <a:pPr marL="342900" indent="-342900">
                  <a:buFont typeface="+mj-lt"/>
                  <a:buAutoNum type="arabicPeriod"/>
                </a:pPr>
                <a:endParaRPr lang="fr-CA" dirty="0"/>
              </a:p>
            </p:txBody>
          </p:sp>
        </mc:Choice>
        <mc:Fallback xmlns="">
          <p:sp>
            <p:nvSpPr>
              <p:cNvPr id="5" name="ZoneTexte 4">
                <a:extLst>
                  <a:ext uri="{FF2B5EF4-FFF2-40B4-BE49-F238E27FC236}">
                    <a16:creationId xmlns:a16="http://schemas.microsoft.com/office/drawing/2014/main" id="{60274D6A-DABE-4E41-8B27-CA543CED2174}"/>
                  </a:ext>
                </a:extLst>
              </p:cNvPr>
              <p:cNvSpPr txBox="1">
                <a:spLocks noRot="1" noChangeAspect="1" noMove="1" noResize="1" noEditPoints="1" noAdjustHandles="1" noChangeArrowheads="1" noChangeShapeType="1" noTextEdit="1"/>
              </p:cNvSpPr>
              <p:nvPr/>
            </p:nvSpPr>
            <p:spPr>
              <a:xfrm>
                <a:off x="962526" y="1886552"/>
                <a:ext cx="10391274" cy="2585323"/>
              </a:xfrm>
              <a:prstGeom prst="rect">
                <a:avLst/>
              </a:prstGeom>
              <a:blipFill>
                <a:blip r:embed="rId2"/>
                <a:stretch>
                  <a:fillRect l="-528" t="-1176"/>
                </a:stretch>
              </a:blipFill>
            </p:spPr>
            <p:txBody>
              <a:bodyPr/>
              <a:lstStyle/>
              <a:p>
                <a:r>
                  <a:rPr lang="fr-CA">
                    <a:noFill/>
                  </a:rPr>
                  <a:t> </a:t>
                </a:r>
              </a:p>
            </p:txBody>
          </p:sp>
        </mc:Fallback>
      </mc:AlternateContent>
    </p:spTree>
    <p:extLst>
      <p:ext uri="{BB962C8B-B14F-4D97-AF65-F5344CB8AC3E}">
        <p14:creationId xmlns:p14="http://schemas.microsoft.com/office/powerpoint/2010/main" val="3007729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3DA6B74-83BB-4B59-9106-EF737603D4DE}"/>
              </a:ext>
            </a:extLst>
          </p:cNvPr>
          <p:cNvSpPr>
            <a:spLocks noGrp="1"/>
          </p:cNvSpPr>
          <p:nvPr>
            <p:ph type="title"/>
          </p:nvPr>
        </p:nvSpPr>
        <p:spPr>
          <a:xfrm>
            <a:off x="1043631" y="809898"/>
            <a:ext cx="9942716" cy="1554480"/>
          </a:xfrm>
        </p:spPr>
        <p:txBody>
          <a:bodyPr vert="horz" lIns="91440" tIns="45720" rIns="91440" bIns="45720" rtlCol="0" anchor="ctr">
            <a:normAutofit/>
          </a:bodyPr>
          <a:lstStyle/>
          <a:p>
            <a:pPr>
              <a:spcAft>
                <a:spcPts val="800"/>
              </a:spcAft>
            </a:pPr>
            <a:r>
              <a:rPr lang="en-US" sz="1600" kern="1200">
                <a:solidFill>
                  <a:schemeClr val="tx1"/>
                </a:solidFill>
                <a:latin typeface="+mj-lt"/>
                <a:ea typeface="+mj-ea"/>
                <a:cs typeface="+mj-cs"/>
              </a:rPr>
              <a:t>Exemple 1: </a:t>
            </a:r>
            <a:r>
              <a:rPr lang="en-US" sz="1600" kern="1200">
                <a:solidFill>
                  <a:schemeClr val="tx1"/>
                </a:solidFill>
                <a:effectLst/>
                <a:latin typeface="+mj-lt"/>
                <a:ea typeface="+mj-ea"/>
                <a:cs typeface="+mj-cs"/>
              </a:rPr>
              <a:t>La concentration d’un diluant de solutions est nocive si elle diffère de 0,5 ppm (partie par million). En supposant cette concentration normalement distribuée, des ingénieurs en formulation de cette substance ont recueilli un échantillon aléatoire de 12 observations et obtenu les résultats suivants :</a:t>
            </a:r>
            <a:br>
              <a:rPr lang="en-US" sz="1600" kern="1200">
                <a:solidFill>
                  <a:schemeClr val="tx1"/>
                </a:solidFill>
                <a:effectLst/>
                <a:latin typeface="+mj-lt"/>
                <a:ea typeface="+mj-ea"/>
                <a:cs typeface="+mj-cs"/>
              </a:rPr>
            </a:br>
            <a:r>
              <a:rPr lang="en-US" sz="1600" kern="1200">
                <a:solidFill>
                  <a:schemeClr val="tx1"/>
                </a:solidFill>
                <a:effectLst/>
                <a:latin typeface="+mj-lt"/>
                <a:ea typeface="+mj-ea"/>
                <a:cs typeface="+mj-cs"/>
              </a:rPr>
              <a:t>0,24 0,59 0,62 0,16 0,77 1,33 0,92 0,19 0,33 0,25 0,59 0,32</a:t>
            </a:r>
            <a:br>
              <a:rPr lang="en-US" sz="1600" kern="1200">
                <a:solidFill>
                  <a:schemeClr val="tx1"/>
                </a:solidFill>
                <a:effectLst/>
                <a:latin typeface="+mj-lt"/>
                <a:ea typeface="+mj-ea"/>
                <a:cs typeface="+mj-cs"/>
              </a:rPr>
            </a:br>
            <a:r>
              <a:rPr lang="en-US" sz="1600" kern="1200">
                <a:solidFill>
                  <a:schemeClr val="tx1"/>
                </a:solidFill>
                <a:effectLst/>
                <a:latin typeface="+mj-lt"/>
                <a:ea typeface="+mj-ea"/>
                <a:cs typeface="+mj-cs"/>
              </a:rPr>
              <a:t>À partir de ces données, peut-on dire que cette substance est nocive ? Utilisez un seuil de signification de 5 %.</a:t>
            </a:r>
            <a:br>
              <a:rPr lang="en-US" sz="1600" kern="1200">
                <a:solidFill>
                  <a:schemeClr val="tx1"/>
                </a:solidFill>
                <a:effectLst/>
                <a:latin typeface="+mj-lt"/>
                <a:ea typeface="+mj-ea"/>
                <a:cs typeface="+mj-cs"/>
              </a:rPr>
            </a:br>
            <a:endParaRPr lang="en-US" sz="1600" kern="1200">
              <a:solidFill>
                <a:schemeClr val="tx1"/>
              </a:solidFill>
              <a:latin typeface="+mj-lt"/>
              <a:ea typeface="+mj-ea"/>
              <a:cs typeface="+mj-cs"/>
            </a:endParaRP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F8B589B6-3160-44F9-8C44-8C532C70C469}"/>
                  </a:ext>
                </a:extLst>
              </p:cNvPr>
              <p:cNvSpPr txBox="1"/>
              <p:nvPr/>
            </p:nvSpPr>
            <p:spPr>
              <a:xfrm>
                <a:off x="1045028" y="3017522"/>
                <a:ext cx="9941319" cy="3124658"/>
              </a:xfrm>
              <a:prstGeom prst="rect">
                <a:avLst/>
              </a:prstGeom>
            </p:spPr>
            <p:txBody>
              <a:bodyPr vert="horz" lIns="91440" tIns="45720" rIns="91440" bIns="45720" rtlCol="0" anchor="ctr">
                <a:normAutofit/>
              </a:bodyPr>
              <a:lstStyle/>
              <a:p>
                <a:pPr indent="-228600" defTabSz="914400">
                  <a:lnSpc>
                    <a:spcPct val="90000"/>
                  </a:lnSpc>
                  <a:buFont typeface="Arial" panose="020B0604020202020204" pitchFamily="34" charset="0"/>
                  <a:buChar char="•"/>
                </a:pPr>
                <a:r>
                  <a:rPr lang="en-US" sz="2000" b="1" dirty="0"/>
                  <a:t>Réponse: </a:t>
                </a:r>
                <a:r>
                  <a:rPr lang="en-US" sz="2000" dirty="0" err="1"/>
                  <a:t>Soit</a:t>
                </a:r>
                <a:r>
                  <a:rPr lang="en-US" sz="2000" dirty="0"/>
                  <a:t> X: la concentration de </a:t>
                </a:r>
                <a:r>
                  <a:rPr lang="en-US" sz="2000" dirty="0" err="1"/>
                  <a:t>ce</a:t>
                </a:r>
                <a:r>
                  <a:rPr lang="en-US" sz="2000" dirty="0"/>
                  <a:t> </a:t>
                </a:r>
                <a:r>
                  <a:rPr lang="en-US" sz="2000" dirty="0" err="1"/>
                  <a:t>diluant</a:t>
                </a:r>
                <a:r>
                  <a:rPr lang="en-US" sz="2000" dirty="0"/>
                  <a:t>. On </a:t>
                </a:r>
                <a:r>
                  <a:rPr lang="en-US" sz="2000" dirty="0" err="1"/>
                  <a:t>veut</a:t>
                </a:r>
                <a:r>
                  <a:rPr lang="en-US" sz="2000" dirty="0"/>
                  <a:t> tester les </a:t>
                </a:r>
                <a:r>
                  <a:rPr lang="en-US" sz="2000" dirty="0" err="1"/>
                  <a:t>hypothèses</a:t>
                </a:r>
                <a:r>
                  <a:rPr lang="en-US" sz="2000" dirty="0"/>
                  <a:t>:</a:t>
                </a:r>
              </a:p>
              <a:p>
                <a:pPr indent="-228600" defTabSz="914400">
                  <a:lnSpc>
                    <a:spcPct val="90000"/>
                  </a:lnSpc>
                  <a:buFont typeface="Arial" panose="020B0604020202020204" pitchFamily="34" charset="0"/>
                  <a:buChar char="•"/>
                </a:pPr>
                <a14:m>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rPr>
                          <m:t>𝑯</m:t>
                        </m:r>
                      </m:e>
                      <m:sub>
                        <m:r>
                          <a:rPr lang="en-US" sz="2000" b="1" i="1">
                            <a:latin typeface="Cambria Math" panose="02040503050406030204" pitchFamily="18" charset="0"/>
                          </a:rPr>
                          <m:t>𝟎</m:t>
                        </m:r>
                      </m:sub>
                    </m:sSub>
                    <m:r>
                      <a:rPr lang="en-US" sz="2000" b="1" i="1">
                        <a:latin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rPr>
                          <m:t>𝝁</m:t>
                        </m:r>
                      </m:e>
                      <m:sub>
                        <m:r>
                          <a:rPr lang="en-US" sz="2000" b="1" i="1">
                            <a:latin typeface="Cambria Math" panose="02040503050406030204" pitchFamily="18" charset="0"/>
                          </a:rPr>
                          <m:t>𝑿</m:t>
                        </m:r>
                      </m:sub>
                    </m:sSub>
                    <m:r>
                      <a:rPr lang="en-US" sz="2000" b="1" i="1">
                        <a:latin typeface="Cambria Math" panose="02040503050406030204" pitchFamily="18" charset="0"/>
                      </a:rPr>
                      <m:t>=</m:t>
                    </m:r>
                    <m:r>
                      <a:rPr lang="fr-CA" sz="2000" b="1" i="1" smtClean="0">
                        <a:latin typeface="Cambria Math" panose="02040503050406030204" pitchFamily="18" charset="0"/>
                      </a:rPr>
                      <m:t>𝟎</m:t>
                    </m:r>
                    <m:r>
                      <a:rPr lang="fr-CA" sz="2000" b="1" i="1" smtClean="0">
                        <a:latin typeface="Cambria Math" panose="02040503050406030204" pitchFamily="18" charset="0"/>
                      </a:rPr>
                      <m:t>,</m:t>
                    </m:r>
                    <m:r>
                      <a:rPr lang="fr-CA" sz="2000" b="1" i="1" smtClean="0">
                        <a:latin typeface="Cambria Math" panose="02040503050406030204" pitchFamily="18" charset="0"/>
                      </a:rPr>
                      <m:t>𝟓</m:t>
                    </m:r>
                    <m:r>
                      <a:rPr lang="en-US" sz="2000" b="1" i="1">
                        <a:latin typeface="Cambria Math" panose="02040503050406030204" pitchFamily="18" charset="0"/>
                      </a:rPr>
                      <m:t>      </m:t>
                    </m:r>
                    <m:r>
                      <a:rPr lang="en-US" sz="2000" b="1" i="1">
                        <a:latin typeface="Cambria Math" panose="02040503050406030204" pitchFamily="18" charset="0"/>
                      </a:rPr>
                      <m:t>𝒗𝒔</m:t>
                    </m:r>
                    <m:r>
                      <a:rPr lang="en-US" sz="2000" b="1" i="1">
                        <a:latin typeface="Cambria Math" panose="02040503050406030204" pitchFamily="18" charset="0"/>
                      </a:rPr>
                      <m:t>     </m:t>
                    </m:r>
                    <m:sSub>
                      <m:sSubPr>
                        <m:ctrlPr>
                          <a:rPr lang="en-US" sz="2000" b="1" i="1">
                            <a:latin typeface="Cambria Math" panose="02040503050406030204" pitchFamily="18" charset="0"/>
                          </a:rPr>
                        </m:ctrlPr>
                      </m:sSubPr>
                      <m:e>
                        <m:r>
                          <a:rPr lang="en-US" sz="2000" b="1" i="1">
                            <a:latin typeface="Cambria Math" panose="02040503050406030204" pitchFamily="18" charset="0"/>
                          </a:rPr>
                          <m:t>𝑯</m:t>
                        </m:r>
                      </m:e>
                      <m:sub>
                        <m:r>
                          <a:rPr lang="en-US" sz="2000" b="1" i="1">
                            <a:latin typeface="Cambria Math" panose="02040503050406030204" pitchFamily="18" charset="0"/>
                          </a:rPr>
                          <m:t>𝟏</m:t>
                        </m:r>
                      </m:sub>
                    </m:sSub>
                    <m:r>
                      <a:rPr lang="en-US" sz="2000" b="1" i="1">
                        <a:latin typeface="Cambria Math" panose="02040503050406030204" pitchFamily="18" charset="0"/>
                      </a:rPr>
                      <m:t>: </m:t>
                    </m:r>
                    <m:sSub>
                      <m:sSubPr>
                        <m:ctrlPr>
                          <a:rPr lang="en-US" sz="2000" b="1" i="1">
                            <a:latin typeface="Cambria Math" panose="02040503050406030204" pitchFamily="18" charset="0"/>
                          </a:rPr>
                        </m:ctrlPr>
                      </m:sSubPr>
                      <m:e>
                        <m:r>
                          <a:rPr lang="en-US" sz="2000" b="1" i="1">
                            <a:latin typeface="Cambria Math" panose="02040503050406030204" pitchFamily="18" charset="0"/>
                          </a:rPr>
                          <m:t>𝝁</m:t>
                        </m:r>
                      </m:e>
                      <m:sub>
                        <m:r>
                          <a:rPr lang="en-US" sz="2000" b="1" i="1">
                            <a:latin typeface="Cambria Math" panose="02040503050406030204" pitchFamily="18" charset="0"/>
                          </a:rPr>
                          <m:t>𝑿</m:t>
                        </m:r>
                      </m:sub>
                    </m:sSub>
                    <m:r>
                      <a:rPr lang="en-US" sz="2000" b="1" i="1">
                        <a:latin typeface="Cambria Math" panose="02040503050406030204" pitchFamily="18" charset="0"/>
                      </a:rPr>
                      <m:t>≠</m:t>
                    </m:r>
                    <m:r>
                      <a:rPr lang="fr-CA" sz="2000" b="1" i="1" smtClean="0">
                        <a:latin typeface="Cambria Math" panose="02040503050406030204" pitchFamily="18" charset="0"/>
                      </a:rPr>
                      <m:t>𝟎</m:t>
                    </m:r>
                    <m:r>
                      <a:rPr lang="fr-CA" sz="2000" b="1" i="1" smtClean="0">
                        <a:latin typeface="Cambria Math" panose="02040503050406030204" pitchFamily="18" charset="0"/>
                      </a:rPr>
                      <m:t>,</m:t>
                    </m:r>
                    <m:r>
                      <a:rPr lang="fr-CA" sz="2000" b="1" i="1" smtClean="0">
                        <a:latin typeface="Cambria Math" panose="02040503050406030204" pitchFamily="18" charset="0"/>
                      </a:rPr>
                      <m:t>𝟓</m:t>
                    </m:r>
                  </m:oMath>
                </a14:m>
                <a:endParaRPr lang="en-US" sz="2000" b="1" dirty="0"/>
              </a:p>
              <a:p>
                <a:pPr indent="-228600" defTabSz="914400">
                  <a:lnSpc>
                    <a:spcPct val="90000"/>
                  </a:lnSpc>
                  <a:spcAft>
                    <a:spcPts val="800"/>
                  </a:spcAft>
                  <a:buFont typeface="Arial" panose="020B0604020202020204" pitchFamily="34" charset="0"/>
                  <a:buChar char="•"/>
                </a:pPr>
                <a:r>
                  <a:rPr lang="en-US" sz="2000" b="1" dirty="0" err="1">
                    <a:effectLst/>
                  </a:rPr>
                  <a:t>L’usage</a:t>
                </a:r>
                <a:r>
                  <a:rPr lang="en-US" sz="2000" b="1" dirty="0">
                    <a:effectLst/>
                  </a:rPr>
                  <a:t> du </a:t>
                </a:r>
                <a:r>
                  <a:rPr lang="en-US" sz="2000" b="1" dirty="0" err="1">
                    <a:effectLst/>
                  </a:rPr>
                  <a:t>logiciel</a:t>
                </a:r>
                <a:r>
                  <a:rPr lang="en-US" sz="2000" b="1" dirty="0">
                    <a:effectLst/>
                  </a:rPr>
                  <a:t> R</a:t>
                </a:r>
                <a:endParaRPr lang="en-US" sz="2000" dirty="0">
                  <a:effectLst/>
                </a:endParaRPr>
              </a:p>
              <a:p>
                <a:pPr indent="-228600" defTabSz="914400">
                  <a:lnSpc>
                    <a:spcPct val="90000"/>
                  </a:lnSpc>
                  <a:spcAft>
                    <a:spcPts val="800"/>
                  </a:spcAft>
                  <a:buFont typeface="Arial" panose="020B0604020202020204" pitchFamily="34" charset="0"/>
                  <a:buChar char="•"/>
                </a:pPr>
                <a:r>
                  <a:rPr lang="en-US" sz="2000" dirty="0">
                    <a:effectLst/>
                  </a:rPr>
                  <a:t>On met les </a:t>
                </a:r>
                <a:r>
                  <a:rPr lang="en-US" sz="2000" dirty="0" err="1">
                    <a:effectLst/>
                  </a:rPr>
                  <a:t>données</a:t>
                </a:r>
                <a:r>
                  <a:rPr lang="en-US" sz="2000" dirty="0">
                    <a:effectLst/>
                  </a:rPr>
                  <a:t> dans un </a:t>
                </a:r>
                <a:r>
                  <a:rPr lang="en-US" sz="2000" dirty="0" err="1">
                    <a:effectLst/>
                  </a:rPr>
                  <a:t>vecteur</a:t>
                </a:r>
                <a:r>
                  <a:rPr lang="en-US" sz="2000" dirty="0">
                    <a:effectLst/>
                  </a:rPr>
                  <a:t> </a:t>
                </a:r>
                <a:r>
                  <a:rPr lang="en-US" sz="2000" dirty="0" err="1">
                    <a:effectLst/>
                  </a:rPr>
                  <a:t>qu’on</a:t>
                </a:r>
                <a:r>
                  <a:rPr lang="en-US" sz="2000" dirty="0">
                    <a:effectLst/>
                  </a:rPr>
                  <a:t> </a:t>
                </a:r>
                <a:r>
                  <a:rPr lang="en-US" sz="2000" dirty="0" err="1">
                    <a:effectLst/>
                  </a:rPr>
                  <a:t>va</a:t>
                </a:r>
                <a:r>
                  <a:rPr lang="en-US" sz="2000" dirty="0">
                    <a:effectLst/>
                  </a:rPr>
                  <a:t> </a:t>
                </a:r>
                <a:r>
                  <a:rPr lang="en-US" sz="2000" dirty="0" err="1">
                    <a:effectLst/>
                  </a:rPr>
                  <a:t>appeler</a:t>
                </a:r>
                <a:r>
                  <a:rPr lang="en-US" sz="2000" dirty="0">
                    <a:effectLst/>
                  </a:rPr>
                  <a:t> x et on tape :</a:t>
                </a:r>
              </a:p>
              <a:p>
                <a:pPr indent="-228600" defTabSz="914400">
                  <a:lnSpc>
                    <a:spcPct val="90000"/>
                  </a:lnSpc>
                  <a:spcAft>
                    <a:spcPts val="800"/>
                  </a:spcAft>
                  <a:buFont typeface="Arial" panose="020B0604020202020204" pitchFamily="34" charset="0"/>
                  <a:buChar char="•"/>
                </a:pPr>
                <a:r>
                  <a:rPr lang="en-US" sz="2000" dirty="0" err="1">
                    <a:effectLst/>
                  </a:rPr>
                  <a:t>t.test</a:t>
                </a:r>
                <a:r>
                  <a:rPr lang="en-US" sz="2000" dirty="0">
                    <a:effectLst/>
                  </a:rPr>
                  <a:t>(</a:t>
                </a:r>
                <a:r>
                  <a:rPr lang="en-US" sz="2000" dirty="0" err="1">
                    <a:effectLst/>
                  </a:rPr>
                  <a:t>x,mu</a:t>
                </a:r>
                <a:r>
                  <a:rPr lang="en-US" sz="2000" dirty="0">
                    <a:effectLst/>
                  </a:rPr>
                  <a:t>=0.5) et on </a:t>
                </a:r>
                <a:r>
                  <a:rPr lang="en-US" sz="2000" dirty="0" err="1">
                    <a:effectLst/>
                  </a:rPr>
                  <a:t>obtient</a:t>
                </a:r>
                <a:r>
                  <a:rPr lang="en-US" sz="2000" dirty="0">
                    <a:effectLst/>
                  </a:rPr>
                  <a:t> </a:t>
                </a:r>
                <a:r>
                  <a:rPr lang="en-US" sz="2000" dirty="0" err="1">
                    <a:effectLst/>
                  </a:rPr>
                  <a:t>une</a:t>
                </a:r>
                <a:r>
                  <a:rPr lang="en-US" sz="2000" dirty="0">
                    <a:effectLst/>
                  </a:rPr>
                  <a:t> </a:t>
                </a:r>
                <a:r>
                  <a:rPr lang="en-US" sz="2000" dirty="0" err="1">
                    <a:effectLst/>
                  </a:rPr>
                  <a:t>valeur</a:t>
                </a:r>
                <a:r>
                  <a:rPr lang="en-US" sz="2000" dirty="0">
                    <a:effectLst/>
                  </a:rPr>
                  <a:t> P=0,8041 qui </a:t>
                </a:r>
                <a:r>
                  <a:rPr lang="en-US" sz="2000" dirty="0" err="1">
                    <a:effectLst/>
                  </a:rPr>
                  <a:t>est</a:t>
                </a:r>
                <a:r>
                  <a:rPr lang="en-US" sz="2000" dirty="0">
                    <a:effectLst/>
                  </a:rPr>
                  <a:t> plus </a:t>
                </a:r>
                <a:r>
                  <a:rPr lang="en-US" sz="2000" dirty="0" err="1">
                    <a:effectLst/>
                  </a:rPr>
                  <a:t>grande</a:t>
                </a:r>
                <a:r>
                  <a:rPr lang="en-US" sz="2000" dirty="0">
                    <a:effectLst/>
                  </a:rPr>
                  <a:t> que alpha=5% </a:t>
                </a:r>
                <a:r>
                  <a:rPr lang="en-US" sz="2000" dirty="0" err="1">
                    <a:effectLst/>
                  </a:rPr>
                  <a:t>donc</a:t>
                </a:r>
                <a:r>
                  <a:rPr lang="en-US" sz="2000" dirty="0">
                    <a:effectLst/>
                  </a:rPr>
                  <a:t> on ne </a:t>
                </a:r>
                <a:r>
                  <a:rPr lang="en-US" sz="2000" dirty="0" err="1">
                    <a:effectLst/>
                  </a:rPr>
                  <a:t>rejette</a:t>
                </a:r>
                <a:r>
                  <a:rPr lang="en-US" sz="2000" dirty="0">
                    <a:effectLst/>
                  </a:rPr>
                  <a:t> pas </a:t>
                </a:r>
                <a:r>
                  <a:rPr lang="en-US" sz="2000" dirty="0" err="1">
                    <a:effectLst/>
                  </a:rPr>
                  <a:t>l’hypothèse</a:t>
                </a:r>
                <a:r>
                  <a:rPr lang="en-US" sz="2000" dirty="0">
                    <a:effectLst/>
                  </a:rPr>
                  <a:t> </a:t>
                </a:r>
                <a:r>
                  <a:rPr lang="en-US" sz="2000" dirty="0" err="1">
                    <a:effectLst/>
                  </a:rPr>
                  <a:t>nulle</a:t>
                </a:r>
                <a:r>
                  <a:rPr lang="en-US" sz="2000" dirty="0">
                    <a:effectLst/>
                  </a:rPr>
                  <a:t>. Avec le </a:t>
                </a:r>
                <a:r>
                  <a:rPr lang="en-US" sz="2000" dirty="0" err="1">
                    <a:effectLst/>
                  </a:rPr>
                  <a:t>logiciel</a:t>
                </a:r>
                <a:r>
                  <a:rPr lang="en-US" sz="2000" dirty="0">
                    <a:effectLst/>
                  </a:rPr>
                  <a:t> R, on </a:t>
                </a:r>
                <a:r>
                  <a:rPr lang="en-US" sz="2000" dirty="0" err="1">
                    <a:effectLst/>
                  </a:rPr>
                  <a:t>obtient</a:t>
                </a:r>
                <a:r>
                  <a:rPr lang="en-US" sz="2000" dirty="0">
                    <a:effectLst/>
                  </a:rPr>
                  <a:t> </a:t>
                </a:r>
                <a:r>
                  <a:rPr lang="en-US" sz="2000" dirty="0" err="1">
                    <a:effectLst/>
                  </a:rPr>
                  <a:t>aussi</a:t>
                </a:r>
                <a:r>
                  <a:rPr lang="en-US" sz="2000" dirty="0">
                    <a:effectLst/>
                  </a:rPr>
                  <a:t> un </a:t>
                </a:r>
                <a:r>
                  <a:rPr lang="en-US" sz="2000" dirty="0" err="1">
                    <a:effectLst/>
                  </a:rPr>
                  <a:t>intervalle</a:t>
                </a:r>
                <a:r>
                  <a:rPr lang="en-US" sz="2000" dirty="0">
                    <a:effectLst/>
                  </a:rPr>
                  <a:t> de </a:t>
                </a:r>
                <a:r>
                  <a:rPr lang="en-US" sz="2000" dirty="0" err="1">
                    <a:effectLst/>
                  </a:rPr>
                  <a:t>confiance</a:t>
                </a:r>
                <a:r>
                  <a:rPr lang="en-US" sz="2000" dirty="0">
                    <a:effectLst/>
                  </a:rPr>
                  <a:t> pour la </a:t>
                </a:r>
                <a:r>
                  <a:rPr lang="en-US" sz="2000" dirty="0" err="1">
                    <a:effectLst/>
                  </a:rPr>
                  <a:t>moyenne</a:t>
                </a:r>
                <a:r>
                  <a:rPr lang="en-US" sz="2000" dirty="0">
                    <a:effectLst/>
                  </a:rPr>
                  <a:t> de la variable, qui </a:t>
                </a:r>
                <a:r>
                  <a:rPr lang="en-US" sz="2000" dirty="0" err="1">
                    <a:effectLst/>
                  </a:rPr>
                  <a:t>est</a:t>
                </a:r>
                <a:r>
                  <a:rPr lang="en-US" sz="2000" dirty="0">
                    <a:effectLst/>
                  </a:rPr>
                  <a:t> </a:t>
                </a:r>
                <a:r>
                  <a:rPr lang="en-US" sz="2000" dirty="0" err="1">
                    <a:effectLst/>
                  </a:rPr>
                  <a:t>ici</a:t>
                </a:r>
                <a:r>
                  <a:rPr lang="en-US" sz="2000" dirty="0">
                    <a:effectLst/>
                  </a:rPr>
                  <a:t> entre 0,30 et 0,75; </a:t>
                </a:r>
                <a:r>
                  <a:rPr lang="en-US" sz="2000" dirty="0" err="1">
                    <a:effectLst/>
                  </a:rPr>
                  <a:t>cet</a:t>
                </a:r>
                <a:r>
                  <a:rPr lang="en-US" sz="2000" dirty="0">
                    <a:effectLst/>
                  </a:rPr>
                  <a:t> </a:t>
                </a:r>
                <a:r>
                  <a:rPr lang="en-US" sz="2000" dirty="0" err="1">
                    <a:effectLst/>
                  </a:rPr>
                  <a:t>intervalle</a:t>
                </a:r>
                <a:r>
                  <a:rPr lang="en-US" sz="2000" dirty="0">
                    <a:effectLst/>
                  </a:rPr>
                  <a:t> de </a:t>
                </a:r>
                <a:r>
                  <a:rPr lang="en-US" sz="2000" dirty="0" err="1">
                    <a:effectLst/>
                  </a:rPr>
                  <a:t>confiance</a:t>
                </a:r>
                <a:r>
                  <a:rPr lang="en-US" sz="2000" dirty="0">
                    <a:effectLst/>
                  </a:rPr>
                  <a:t> </a:t>
                </a:r>
                <a:r>
                  <a:rPr lang="en-US" sz="2000" dirty="0" err="1">
                    <a:effectLst/>
                  </a:rPr>
                  <a:t>contient</a:t>
                </a:r>
                <a:r>
                  <a:rPr lang="en-US" sz="2000" dirty="0">
                    <a:effectLst/>
                  </a:rPr>
                  <a:t> la </a:t>
                </a:r>
                <a:r>
                  <a:rPr lang="en-US" sz="2000" dirty="0" err="1">
                    <a:effectLst/>
                  </a:rPr>
                  <a:t>valeur</a:t>
                </a:r>
                <a:r>
                  <a:rPr lang="en-US" sz="2000" dirty="0">
                    <a:effectLst/>
                  </a:rPr>
                  <a:t> 0,5 avec </a:t>
                </a:r>
                <a:r>
                  <a:rPr lang="en-US" sz="2000" dirty="0" err="1">
                    <a:effectLst/>
                  </a:rPr>
                  <a:t>laquelle</a:t>
                </a:r>
                <a:r>
                  <a:rPr lang="en-US" sz="2000" dirty="0">
                    <a:effectLst/>
                  </a:rPr>
                  <a:t> on compare la </a:t>
                </a:r>
                <a:r>
                  <a:rPr lang="en-US" sz="2000" dirty="0" err="1">
                    <a:effectLst/>
                  </a:rPr>
                  <a:t>moyenne</a:t>
                </a:r>
                <a:r>
                  <a:rPr lang="en-US" sz="2000" dirty="0">
                    <a:effectLst/>
                  </a:rPr>
                  <a:t> de la variable, </a:t>
                </a:r>
                <a:r>
                  <a:rPr lang="en-US" sz="2000" dirty="0" err="1">
                    <a:effectLst/>
                  </a:rPr>
                  <a:t>donc</a:t>
                </a:r>
                <a:r>
                  <a:rPr lang="en-US" sz="2000" dirty="0">
                    <a:effectLst/>
                  </a:rPr>
                  <a:t> on a </a:t>
                </a:r>
                <a:r>
                  <a:rPr lang="en-US" sz="2000" dirty="0" err="1">
                    <a:effectLst/>
                  </a:rPr>
                  <a:t>une</a:t>
                </a:r>
                <a:r>
                  <a:rPr lang="en-US" sz="2000" dirty="0">
                    <a:effectLst/>
                  </a:rPr>
                  <a:t> </a:t>
                </a:r>
                <a:r>
                  <a:rPr lang="en-US" sz="2000" dirty="0" err="1">
                    <a:effectLst/>
                  </a:rPr>
                  <a:t>autre</a:t>
                </a:r>
                <a:r>
                  <a:rPr lang="en-US" sz="2000" dirty="0">
                    <a:effectLst/>
                  </a:rPr>
                  <a:t> </a:t>
                </a:r>
                <a:r>
                  <a:rPr lang="en-US" sz="2000" dirty="0" err="1">
                    <a:effectLst/>
                  </a:rPr>
                  <a:t>façon</a:t>
                </a:r>
                <a:r>
                  <a:rPr lang="en-US" sz="2000" dirty="0">
                    <a:effectLst/>
                  </a:rPr>
                  <a:t> de ne pas </a:t>
                </a:r>
                <a:r>
                  <a:rPr lang="en-US" sz="2000" dirty="0" err="1">
                    <a:effectLst/>
                  </a:rPr>
                  <a:t>rejeter</a:t>
                </a:r>
                <a:r>
                  <a:rPr lang="en-US" sz="2000" dirty="0">
                    <a:effectLst/>
                  </a:rPr>
                  <a:t> </a:t>
                </a:r>
                <a:r>
                  <a:rPr lang="en-US" sz="2000" dirty="0" err="1">
                    <a:effectLst/>
                  </a:rPr>
                  <a:t>l’hypothèse</a:t>
                </a:r>
                <a:r>
                  <a:rPr lang="en-US" sz="2000" dirty="0">
                    <a:effectLst/>
                  </a:rPr>
                  <a:t> </a:t>
                </a:r>
                <a:r>
                  <a:rPr lang="en-US" sz="2000" dirty="0" err="1">
                    <a:effectLst/>
                  </a:rPr>
                  <a:t>nulle</a:t>
                </a:r>
                <a:r>
                  <a:rPr lang="en-US" sz="2000" dirty="0">
                    <a:effectLst/>
                  </a:rPr>
                  <a:t>.</a:t>
                </a:r>
              </a:p>
              <a:p>
                <a:pPr indent="-228600" defTabSz="914400">
                  <a:lnSpc>
                    <a:spcPct val="90000"/>
                  </a:lnSpc>
                  <a:buFont typeface="Arial" panose="020B0604020202020204" pitchFamily="34" charset="0"/>
                  <a:buChar char="•"/>
                </a:pPr>
                <a:endParaRPr lang="en-US" sz="2000" b="1" dirty="0"/>
              </a:p>
            </p:txBody>
          </p:sp>
        </mc:Choice>
        <mc:Fallback xmlns="">
          <p:sp>
            <p:nvSpPr>
              <p:cNvPr id="5" name="ZoneTexte 4">
                <a:extLst>
                  <a:ext uri="{FF2B5EF4-FFF2-40B4-BE49-F238E27FC236}">
                    <a16:creationId xmlns:a16="http://schemas.microsoft.com/office/drawing/2014/main" id="{F8B589B6-3160-44F9-8C44-8C532C70C469}"/>
                  </a:ext>
                </a:extLst>
              </p:cNvPr>
              <p:cNvSpPr txBox="1">
                <a:spLocks noRot="1" noChangeAspect="1" noMove="1" noResize="1" noEditPoints="1" noAdjustHandles="1" noChangeArrowheads="1" noChangeShapeType="1" noTextEdit="1"/>
              </p:cNvSpPr>
              <p:nvPr/>
            </p:nvSpPr>
            <p:spPr>
              <a:xfrm>
                <a:off x="1045028" y="3017522"/>
                <a:ext cx="9941319" cy="3124658"/>
              </a:xfrm>
              <a:prstGeom prst="rect">
                <a:avLst/>
              </a:prstGeom>
              <a:blipFill>
                <a:blip r:embed="rId2"/>
                <a:stretch>
                  <a:fillRect l="-613" t="-2339" r="-1104"/>
                </a:stretch>
              </a:blipFill>
            </p:spPr>
            <p:txBody>
              <a:bodyPr/>
              <a:lstStyle/>
              <a:p>
                <a:r>
                  <a:rPr lang="fr-CA">
                    <a:noFill/>
                  </a:rPr>
                  <a:t> </a:t>
                </a:r>
              </a:p>
            </p:txBody>
          </p:sp>
        </mc:Fallback>
      </mc:AlternateContent>
      <p:cxnSp>
        <p:nvCxnSpPr>
          <p:cNvPr id="19" name="Straight Connector 1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Espace réservé du pied de page 2">
            <a:extLst>
              <a:ext uri="{FF2B5EF4-FFF2-40B4-BE49-F238E27FC236}">
                <a16:creationId xmlns:a16="http://schemas.microsoft.com/office/drawing/2014/main" id="{5A0AEE47-2189-4A88-992D-5C70921B6EC2}"/>
              </a:ext>
            </a:extLst>
          </p:cNvPr>
          <p:cNvSpPr>
            <a:spLocks noGrp="1"/>
          </p:cNvSpPr>
          <p:nvPr>
            <p:ph type="ftr" sz="quarter" idx="11"/>
          </p:nvPr>
        </p:nvSpPr>
        <p:spPr>
          <a:xfrm>
            <a:off x="4038600" y="6492240"/>
            <a:ext cx="4114800" cy="365125"/>
          </a:xfrm>
        </p:spPr>
        <p:txBody>
          <a:bodyPr vert="horz" lIns="91440" tIns="45720" rIns="91440" bIns="45720" rtlCol="0" anchor="ctr">
            <a:normAutofit/>
          </a:bodyPr>
          <a:lstStyle/>
          <a:p>
            <a:pPr defTabSz="914400"/>
            <a:endParaRPr lang="en-US" sz="12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512090C5-76C5-4F32-9161-A48C8D5E5CF7}"/>
              </a:ext>
            </a:extLst>
          </p:cNvPr>
          <p:cNvSpPr>
            <a:spLocks noGrp="1"/>
          </p:cNvSpPr>
          <p:nvPr>
            <p:ph type="sldNum" sz="quarter" idx="12"/>
          </p:nvPr>
        </p:nvSpPr>
        <p:spPr>
          <a:xfrm>
            <a:off x="8610600" y="6492240"/>
            <a:ext cx="2743200" cy="365125"/>
          </a:xfrm>
        </p:spPr>
        <p:txBody>
          <a:bodyPr vert="horz" lIns="91440" tIns="45720" rIns="91440" bIns="45720" rtlCol="0" anchor="ctr">
            <a:normAutofit/>
          </a:bodyPr>
          <a:lstStyle/>
          <a:p>
            <a:pPr defTabSz="914400">
              <a:spcAft>
                <a:spcPts val="600"/>
              </a:spcAft>
            </a:pPr>
            <a:fld id="{26377AD9-CE17-438C-A638-C64D2D42D7CF}" type="slidenum">
              <a:rPr lang="en-US" smtClean="0"/>
              <a:pPr defTabSz="914400">
                <a:spcAft>
                  <a:spcPts val="600"/>
                </a:spcAft>
              </a:pPr>
              <a:t>17</a:t>
            </a:fld>
            <a:endParaRPr lang="en-US"/>
          </a:p>
        </p:txBody>
      </p:sp>
    </p:spTree>
    <p:extLst>
      <p:ext uri="{BB962C8B-B14F-4D97-AF65-F5344CB8AC3E}">
        <p14:creationId xmlns:p14="http://schemas.microsoft.com/office/powerpoint/2010/main" val="2911733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3" name="Rectangle 12">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6" name="Rectangle 15">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9C426C1-63A3-4D40-8DF7-3641D5275E30}"/>
              </a:ext>
            </a:extLst>
          </p:cNvPr>
          <p:cNvSpPr>
            <a:spLocks noGrp="1"/>
          </p:cNvSpPr>
          <p:nvPr>
            <p:ph type="title"/>
          </p:nvPr>
        </p:nvSpPr>
        <p:spPr>
          <a:xfrm>
            <a:off x="1153618" y="1239927"/>
            <a:ext cx="4008586" cy="4680583"/>
          </a:xfrm>
        </p:spPr>
        <p:txBody>
          <a:bodyPr vert="horz" lIns="91440" tIns="45720" rIns="91440" bIns="45720" rtlCol="0" anchor="ctr">
            <a:normAutofit/>
          </a:bodyPr>
          <a:lstStyle/>
          <a:p>
            <a:pPr>
              <a:spcAft>
                <a:spcPts val="800"/>
              </a:spcAft>
            </a:pPr>
            <a:r>
              <a:rPr lang="en-US" sz="1700" kern="1200">
                <a:solidFill>
                  <a:schemeClr val="tx1"/>
                </a:solidFill>
                <a:latin typeface="+mj-lt"/>
                <a:ea typeface="+mj-ea"/>
                <a:cs typeface="+mj-cs"/>
              </a:rPr>
              <a:t>Exemple 2: </a:t>
            </a:r>
            <a:r>
              <a:rPr lang="en-US" sz="1700" kern="1200">
                <a:solidFill>
                  <a:schemeClr val="tx1"/>
                </a:solidFill>
                <a:effectLst/>
                <a:latin typeface="+mj-lt"/>
                <a:ea typeface="+mj-ea"/>
                <a:cs typeface="+mj-cs"/>
              </a:rPr>
              <a:t>Un psychologue a mesuré l’appréciation des enfants envers leur école primaire. Il a utilisé une échelle de 0 (n’apprécie pas du tout) à 100 (apprécie énormément), qu’on suppose normalement distribuée, sur la base d’un échantillon aléatoire de 16 enfants. Voici ses résultats :</a:t>
            </a:r>
            <a:br>
              <a:rPr lang="en-US" sz="1700" kern="1200">
                <a:solidFill>
                  <a:schemeClr val="tx1"/>
                </a:solidFill>
                <a:effectLst/>
                <a:latin typeface="+mj-lt"/>
                <a:ea typeface="+mj-ea"/>
                <a:cs typeface="+mj-cs"/>
              </a:rPr>
            </a:br>
            <a:r>
              <a:rPr lang="en-US" sz="1700" kern="1200">
                <a:solidFill>
                  <a:schemeClr val="tx1"/>
                </a:solidFill>
                <a:effectLst/>
                <a:latin typeface="+mj-lt"/>
                <a:ea typeface="+mj-ea"/>
                <a:cs typeface="+mj-cs"/>
              </a:rPr>
              <a:t>48 75 69 58 60 68 59 66 71 52 49 60 54 65 77 64</a:t>
            </a:r>
            <a:br>
              <a:rPr lang="en-US" sz="1700" kern="1200">
                <a:solidFill>
                  <a:schemeClr val="tx1"/>
                </a:solidFill>
                <a:effectLst/>
                <a:latin typeface="+mj-lt"/>
                <a:ea typeface="+mj-ea"/>
                <a:cs typeface="+mj-cs"/>
              </a:rPr>
            </a:br>
            <a:r>
              <a:rPr lang="en-US" sz="1700" kern="1200">
                <a:solidFill>
                  <a:schemeClr val="tx1"/>
                </a:solidFill>
                <a:effectLst/>
                <a:latin typeface="+mj-lt"/>
                <a:ea typeface="+mj-ea"/>
                <a:cs typeface="+mj-cs"/>
              </a:rPr>
              <a:t>Le psychologue peut-il conclure que l’appréciation moyenne de cette population d’enfants dépasse 50 ? Utilisez un seuil de signification de 1 %.</a:t>
            </a:r>
            <a:br>
              <a:rPr lang="en-US" sz="1700" kern="1200">
                <a:solidFill>
                  <a:schemeClr val="tx1"/>
                </a:solidFill>
                <a:effectLst/>
                <a:latin typeface="+mj-lt"/>
                <a:ea typeface="+mj-ea"/>
                <a:cs typeface="+mj-cs"/>
              </a:rPr>
            </a:br>
            <a:endParaRPr lang="en-US" sz="1700" kern="1200">
              <a:solidFill>
                <a:schemeClr val="tx1"/>
              </a:solidFill>
              <a:latin typeface="+mj-lt"/>
              <a:ea typeface="+mj-ea"/>
              <a:cs typeface="+mj-cs"/>
            </a:endParaRPr>
          </a:p>
        </p:txBody>
      </p:sp>
      <p:sp>
        <p:nvSpPr>
          <p:cNvPr id="5" name="ZoneTexte 4">
            <a:extLst>
              <a:ext uri="{FF2B5EF4-FFF2-40B4-BE49-F238E27FC236}">
                <a16:creationId xmlns:a16="http://schemas.microsoft.com/office/drawing/2014/main" id="{318F82FC-046A-4A15-BBF2-9123086D0BF9}"/>
              </a:ext>
            </a:extLst>
          </p:cNvPr>
          <p:cNvSpPr txBox="1"/>
          <p:nvPr/>
        </p:nvSpPr>
        <p:spPr>
          <a:xfrm>
            <a:off x="6291923" y="1239927"/>
            <a:ext cx="4971824" cy="4680583"/>
          </a:xfrm>
          <a:prstGeom prst="rect">
            <a:avLst/>
          </a:prstGeom>
        </p:spPr>
        <p:txBody>
          <a:bodyPr vert="horz" lIns="91440" tIns="45720" rIns="91440" bIns="45720" rtlCol="0" anchor="ctr">
            <a:normAutofit/>
          </a:bodyPr>
          <a:lstStyle/>
          <a:p>
            <a:pPr indent="-228600" defTabSz="914400">
              <a:lnSpc>
                <a:spcPct val="90000"/>
              </a:lnSpc>
              <a:buFont typeface="Arial" panose="020B0604020202020204" pitchFamily="34" charset="0"/>
              <a:buChar char="•"/>
            </a:pPr>
            <a:r>
              <a:rPr lang="en-US" sz="1900" b="1" dirty="0" err="1"/>
              <a:t>Réponse</a:t>
            </a:r>
            <a:r>
              <a:rPr lang="en-US" sz="1900" dirty="0"/>
              <a:t>: </a:t>
            </a:r>
            <a:r>
              <a:rPr lang="en-US" sz="1900" dirty="0">
                <a:effectLst/>
              </a:rPr>
              <a:t>On </a:t>
            </a:r>
            <a:r>
              <a:rPr lang="en-US" sz="1900" dirty="0" err="1">
                <a:effectLst/>
              </a:rPr>
              <a:t>veut</a:t>
            </a:r>
            <a:r>
              <a:rPr lang="en-US" sz="1900" dirty="0">
                <a:effectLst/>
              </a:rPr>
              <a:t> </a:t>
            </a:r>
            <a:r>
              <a:rPr lang="en-US" sz="1900" dirty="0" err="1">
                <a:effectLst/>
              </a:rPr>
              <a:t>donc</a:t>
            </a:r>
            <a:r>
              <a:rPr lang="en-US" sz="1900" dirty="0">
                <a:effectLst/>
              </a:rPr>
              <a:t> tester </a:t>
            </a:r>
            <a:r>
              <a:rPr lang="en-US" sz="1900" i="1" dirty="0">
                <a:effectLst/>
              </a:rPr>
              <a:t>H</a:t>
            </a:r>
            <a:r>
              <a:rPr lang="en-US" sz="1900" baseline="-25000" dirty="0">
                <a:effectLst/>
              </a:rPr>
              <a:t>0</a:t>
            </a:r>
            <a:r>
              <a:rPr lang="en-US" sz="1900" dirty="0">
                <a:effectLst/>
              </a:rPr>
              <a:t> : </a:t>
            </a:r>
            <a:r>
              <a:rPr lang="en-US" sz="1900" i="1" dirty="0">
                <a:effectLst/>
              </a:rPr>
              <a:t>µ</a:t>
            </a:r>
            <a:r>
              <a:rPr lang="en-US" sz="1900" i="1" baseline="-25000" dirty="0">
                <a:effectLst/>
              </a:rPr>
              <a:t>X</a:t>
            </a:r>
            <a:r>
              <a:rPr lang="en-US" sz="1900" dirty="0">
                <a:effectLst/>
              </a:rPr>
              <a:t> = 50 </a:t>
            </a:r>
            <a:r>
              <a:rPr lang="en-US" sz="1900" dirty="0" err="1">
                <a:effectLst/>
              </a:rPr>
              <a:t>contre</a:t>
            </a:r>
            <a:r>
              <a:rPr lang="en-US" sz="1900" dirty="0">
                <a:effectLst/>
              </a:rPr>
              <a:t> </a:t>
            </a:r>
            <a:r>
              <a:rPr lang="en-US" sz="1900" i="1" dirty="0">
                <a:effectLst/>
              </a:rPr>
              <a:t>H</a:t>
            </a:r>
            <a:r>
              <a:rPr lang="en-US" sz="1900" baseline="-25000" dirty="0">
                <a:effectLst/>
              </a:rPr>
              <a:t>1</a:t>
            </a:r>
            <a:r>
              <a:rPr lang="en-US" sz="1900" dirty="0">
                <a:effectLst/>
              </a:rPr>
              <a:t> : </a:t>
            </a:r>
            <a:r>
              <a:rPr lang="en-US" sz="1900" i="1" dirty="0">
                <a:effectLst/>
              </a:rPr>
              <a:t>µ</a:t>
            </a:r>
            <a:r>
              <a:rPr lang="en-US" sz="1900" i="1" baseline="-25000" dirty="0">
                <a:effectLst/>
              </a:rPr>
              <a:t>X</a:t>
            </a:r>
            <a:r>
              <a:rPr lang="en-US" sz="1900" dirty="0">
                <a:effectLst/>
              </a:rPr>
              <a:t> &gt; 50.</a:t>
            </a:r>
          </a:p>
          <a:p>
            <a:pPr indent="-228600" defTabSz="914400">
              <a:lnSpc>
                <a:spcPct val="90000"/>
              </a:lnSpc>
              <a:spcAft>
                <a:spcPts val="800"/>
              </a:spcAft>
              <a:buFont typeface="Arial" panose="020B0604020202020204" pitchFamily="34" charset="0"/>
              <a:buChar char="•"/>
            </a:pPr>
            <a:r>
              <a:rPr lang="en-US" sz="1900" dirty="0">
                <a:effectLst/>
              </a:rPr>
              <a:t>On met les </a:t>
            </a:r>
            <a:r>
              <a:rPr lang="en-US" sz="1900" dirty="0" err="1">
                <a:effectLst/>
              </a:rPr>
              <a:t>données</a:t>
            </a:r>
            <a:r>
              <a:rPr lang="en-US" sz="1900" dirty="0">
                <a:effectLst/>
              </a:rPr>
              <a:t> dans un </a:t>
            </a:r>
            <a:r>
              <a:rPr lang="en-US" sz="1900" dirty="0" err="1">
                <a:effectLst/>
              </a:rPr>
              <a:t>vecteur</a:t>
            </a:r>
            <a:r>
              <a:rPr lang="en-US" sz="1900" dirty="0">
                <a:effectLst/>
              </a:rPr>
              <a:t> </a:t>
            </a:r>
            <a:r>
              <a:rPr lang="en-US" sz="1900" dirty="0" err="1">
                <a:effectLst/>
              </a:rPr>
              <a:t>qu’on</a:t>
            </a:r>
            <a:r>
              <a:rPr lang="en-US" sz="1900" dirty="0">
                <a:effectLst/>
              </a:rPr>
              <a:t> </a:t>
            </a:r>
            <a:r>
              <a:rPr lang="en-US" sz="1900" dirty="0" err="1">
                <a:effectLst/>
              </a:rPr>
              <a:t>va</a:t>
            </a:r>
            <a:r>
              <a:rPr lang="en-US" sz="1900" dirty="0">
                <a:effectLst/>
              </a:rPr>
              <a:t> </a:t>
            </a:r>
            <a:r>
              <a:rPr lang="en-US" sz="1900" dirty="0" err="1">
                <a:effectLst/>
              </a:rPr>
              <a:t>appeler</a:t>
            </a:r>
            <a:r>
              <a:rPr lang="en-US" sz="1900" dirty="0">
                <a:effectLst/>
              </a:rPr>
              <a:t> y et on tape : </a:t>
            </a:r>
          </a:p>
          <a:p>
            <a:pPr indent="-228600" defTabSz="914400">
              <a:lnSpc>
                <a:spcPct val="90000"/>
              </a:lnSpc>
              <a:spcAft>
                <a:spcPts val="1000"/>
              </a:spcAft>
              <a:buFont typeface="Arial" panose="020B0604020202020204" pitchFamily="34" charset="0"/>
              <a:buChar char="•"/>
            </a:pPr>
            <a:r>
              <a:rPr lang="en-US" sz="1900" dirty="0" err="1">
                <a:effectLst/>
              </a:rPr>
              <a:t>t.test</a:t>
            </a:r>
            <a:r>
              <a:rPr lang="en-US" sz="1900" dirty="0">
                <a:effectLst/>
              </a:rPr>
              <a:t>(</a:t>
            </a:r>
            <a:r>
              <a:rPr lang="en-US" sz="1900" dirty="0" err="1">
                <a:effectLst/>
              </a:rPr>
              <a:t>y,mu</a:t>
            </a:r>
            <a:r>
              <a:rPr lang="en-US" sz="1900" dirty="0">
                <a:effectLst/>
              </a:rPr>
              <a:t>=50,alternative="greater",</a:t>
            </a:r>
            <a:r>
              <a:rPr lang="en-US" sz="1900" dirty="0" err="1">
                <a:effectLst/>
              </a:rPr>
              <a:t>conf.lev</a:t>
            </a:r>
            <a:r>
              <a:rPr lang="en-US" sz="1900" dirty="0">
                <a:effectLst/>
              </a:rPr>
              <a:t>=0.99)</a:t>
            </a:r>
          </a:p>
          <a:p>
            <a:pPr indent="-228600" defTabSz="914400">
              <a:lnSpc>
                <a:spcPct val="90000"/>
              </a:lnSpc>
              <a:spcAft>
                <a:spcPts val="1000"/>
              </a:spcAft>
              <a:buFont typeface="Arial" panose="020B0604020202020204" pitchFamily="34" charset="0"/>
              <a:buChar char="•"/>
            </a:pPr>
            <a:r>
              <a:rPr lang="en-US" sz="1900" dirty="0">
                <a:effectLst/>
              </a:rPr>
              <a:t>et on </a:t>
            </a:r>
            <a:r>
              <a:rPr lang="en-US" sz="1900" dirty="0" err="1">
                <a:effectLst/>
              </a:rPr>
              <a:t>obtient</a:t>
            </a:r>
            <a:r>
              <a:rPr lang="en-US" sz="1900" dirty="0">
                <a:effectLst/>
              </a:rPr>
              <a:t>  </a:t>
            </a:r>
            <a:r>
              <a:rPr lang="en-US" sz="1900" dirty="0" err="1">
                <a:effectLst/>
              </a:rPr>
              <a:t>une</a:t>
            </a:r>
            <a:r>
              <a:rPr lang="en-US" sz="1900" dirty="0">
                <a:effectLst/>
              </a:rPr>
              <a:t> </a:t>
            </a:r>
            <a:r>
              <a:rPr lang="en-US" sz="1900" dirty="0" err="1">
                <a:effectLst/>
              </a:rPr>
              <a:t>valeur</a:t>
            </a:r>
            <a:r>
              <a:rPr lang="en-US" sz="1900" dirty="0">
                <a:effectLst/>
              </a:rPr>
              <a:t> P </a:t>
            </a:r>
            <a:r>
              <a:rPr lang="en-US" sz="1900" dirty="0" err="1">
                <a:effectLst/>
              </a:rPr>
              <a:t>égale</a:t>
            </a:r>
            <a:r>
              <a:rPr lang="en-US" sz="1900" dirty="0">
                <a:effectLst/>
              </a:rPr>
              <a:t> à 2.695e-05</a:t>
            </a:r>
          </a:p>
          <a:p>
            <a:pPr indent="-228600" defTabSz="914400">
              <a:lnSpc>
                <a:spcPct val="90000"/>
              </a:lnSpc>
              <a:buFont typeface="Arial" panose="020B0604020202020204" pitchFamily="34" charset="0"/>
              <a:buChar char="•"/>
            </a:pPr>
            <a:r>
              <a:rPr lang="en-US" sz="1900" dirty="0">
                <a:effectLst/>
              </a:rPr>
              <a:t>Une </a:t>
            </a:r>
            <a:r>
              <a:rPr lang="en-US" sz="1900" dirty="0" err="1">
                <a:effectLst/>
              </a:rPr>
              <a:t>valeur</a:t>
            </a:r>
            <a:r>
              <a:rPr lang="en-US" sz="1900" dirty="0">
                <a:effectLst/>
              </a:rPr>
              <a:t> P </a:t>
            </a:r>
            <a:r>
              <a:rPr lang="en-US" sz="1900" dirty="0" err="1">
                <a:effectLst/>
              </a:rPr>
              <a:t>presque</a:t>
            </a:r>
            <a:r>
              <a:rPr lang="en-US" sz="1900" dirty="0">
                <a:effectLst/>
              </a:rPr>
              <a:t> </a:t>
            </a:r>
            <a:r>
              <a:rPr lang="en-US" sz="1900" dirty="0" err="1">
                <a:effectLst/>
              </a:rPr>
              <a:t>nulle</a:t>
            </a:r>
            <a:r>
              <a:rPr lang="en-US" sz="1900" dirty="0">
                <a:effectLst/>
              </a:rPr>
              <a:t> </a:t>
            </a:r>
            <a:r>
              <a:rPr lang="en-US" sz="1900" dirty="0" err="1">
                <a:effectLst/>
              </a:rPr>
              <a:t>très</a:t>
            </a:r>
            <a:r>
              <a:rPr lang="en-US" sz="1900" dirty="0">
                <a:effectLst/>
              </a:rPr>
              <a:t> </a:t>
            </a:r>
            <a:r>
              <a:rPr lang="en-US" sz="1900" dirty="0" err="1">
                <a:effectLst/>
              </a:rPr>
              <a:t>inférieure</a:t>
            </a:r>
            <a:r>
              <a:rPr lang="en-US" sz="1900" dirty="0">
                <a:effectLst/>
              </a:rPr>
              <a:t> à 0.5% </a:t>
            </a:r>
            <a:r>
              <a:rPr lang="en-US" sz="1900" dirty="0" err="1">
                <a:effectLst/>
              </a:rPr>
              <a:t>donc</a:t>
            </a:r>
            <a:r>
              <a:rPr lang="en-US" sz="1900" dirty="0">
                <a:effectLst/>
              </a:rPr>
              <a:t> on doit </a:t>
            </a:r>
            <a:r>
              <a:rPr lang="en-US" sz="1900" dirty="0" err="1">
                <a:effectLst/>
              </a:rPr>
              <a:t>rejeter</a:t>
            </a:r>
            <a:r>
              <a:rPr lang="en-US" sz="1900" dirty="0">
                <a:effectLst/>
              </a:rPr>
              <a:t> </a:t>
            </a:r>
            <a:r>
              <a:rPr lang="en-US" sz="1900" dirty="0" err="1">
                <a:effectLst/>
              </a:rPr>
              <a:t>l’hypothèse</a:t>
            </a:r>
            <a:r>
              <a:rPr lang="en-US" sz="1900" dirty="0">
                <a:effectLst/>
              </a:rPr>
              <a:t> </a:t>
            </a:r>
            <a:r>
              <a:rPr lang="en-US" sz="1900" dirty="0" err="1">
                <a:effectLst/>
              </a:rPr>
              <a:t>nulle</a:t>
            </a:r>
            <a:r>
              <a:rPr lang="en-US" sz="1900" dirty="0">
                <a:effectLst/>
              </a:rPr>
              <a:t>. Le </a:t>
            </a:r>
            <a:r>
              <a:rPr lang="en-US" sz="1900" dirty="0" err="1">
                <a:effectLst/>
              </a:rPr>
              <a:t>logiciel</a:t>
            </a:r>
            <a:r>
              <a:rPr lang="en-US" sz="1900" dirty="0">
                <a:effectLst/>
              </a:rPr>
              <a:t> R </a:t>
            </a:r>
            <a:r>
              <a:rPr lang="en-US" sz="1900" dirty="0" err="1">
                <a:effectLst/>
              </a:rPr>
              <a:t>donne</a:t>
            </a:r>
            <a:r>
              <a:rPr lang="en-US" sz="1900" dirty="0">
                <a:effectLst/>
              </a:rPr>
              <a:t> dans le </a:t>
            </a:r>
            <a:r>
              <a:rPr lang="en-US" sz="1900" dirty="0" err="1">
                <a:effectLst/>
              </a:rPr>
              <a:t>cas</a:t>
            </a:r>
            <a:r>
              <a:rPr lang="en-US" sz="1900" dirty="0">
                <a:effectLst/>
              </a:rPr>
              <a:t> d’un test </a:t>
            </a:r>
            <a:r>
              <a:rPr lang="en-US" sz="1900" dirty="0" err="1">
                <a:effectLst/>
              </a:rPr>
              <a:t>unilatéral</a:t>
            </a:r>
            <a:r>
              <a:rPr lang="en-US" sz="1900" dirty="0">
                <a:effectLst/>
              </a:rPr>
              <a:t> à droite, </a:t>
            </a:r>
            <a:r>
              <a:rPr lang="en-US" sz="1900" dirty="0" err="1">
                <a:effectLst/>
              </a:rPr>
              <a:t>une</a:t>
            </a:r>
            <a:r>
              <a:rPr lang="en-US" sz="1900" dirty="0">
                <a:effectLst/>
              </a:rPr>
              <a:t> borne </a:t>
            </a:r>
            <a:r>
              <a:rPr lang="en-US" sz="1900" dirty="0" err="1">
                <a:effectLst/>
              </a:rPr>
              <a:t>inférieure</a:t>
            </a:r>
            <a:r>
              <a:rPr lang="en-US" sz="1900" dirty="0">
                <a:effectLst/>
              </a:rPr>
              <a:t> pour la </a:t>
            </a:r>
            <a:r>
              <a:rPr lang="en-US" sz="1900" dirty="0" err="1">
                <a:effectLst/>
              </a:rPr>
              <a:t>moyenne</a:t>
            </a:r>
            <a:r>
              <a:rPr lang="en-US" sz="1900" dirty="0">
                <a:effectLst/>
              </a:rPr>
              <a:t> de la variable, </a:t>
            </a:r>
            <a:r>
              <a:rPr lang="en-US" sz="1900" dirty="0" err="1">
                <a:effectLst/>
              </a:rPr>
              <a:t>comme</a:t>
            </a:r>
            <a:r>
              <a:rPr lang="en-US" sz="1900" dirty="0">
                <a:effectLst/>
              </a:rPr>
              <a:t> </a:t>
            </a:r>
            <a:r>
              <a:rPr lang="en-US" sz="1900" dirty="0" err="1">
                <a:effectLst/>
              </a:rPr>
              <a:t>ici</a:t>
            </a:r>
            <a:r>
              <a:rPr lang="en-US" sz="1900" dirty="0">
                <a:effectLst/>
              </a:rPr>
              <a:t> la borne </a:t>
            </a:r>
            <a:r>
              <a:rPr lang="en-US" sz="1900" dirty="0" err="1">
                <a:effectLst/>
              </a:rPr>
              <a:t>inférieure</a:t>
            </a:r>
            <a:r>
              <a:rPr lang="en-US" sz="1900" dirty="0">
                <a:effectLst/>
              </a:rPr>
              <a:t> </a:t>
            </a:r>
            <a:r>
              <a:rPr lang="en-US" sz="1900" dirty="0" err="1">
                <a:effectLst/>
              </a:rPr>
              <a:t>est</a:t>
            </a:r>
            <a:r>
              <a:rPr lang="en-US" sz="1900" dirty="0">
                <a:effectLst/>
              </a:rPr>
              <a:t> </a:t>
            </a:r>
            <a:r>
              <a:rPr lang="en-US" sz="1900" dirty="0" err="1">
                <a:effectLst/>
              </a:rPr>
              <a:t>égale</a:t>
            </a:r>
            <a:r>
              <a:rPr lang="en-US" sz="1900" dirty="0">
                <a:effectLst/>
              </a:rPr>
              <a:t> à 55,73596 qui </a:t>
            </a:r>
            <a:r>
              <a:rPr lang="en-US" sz="1900" dirty="0" err="1">
                <a:effectLst/>
              </a:rPr>
              <a:t>dépasse</a:t>
            </a:r>
            <a:r>
              <a:rPr lang="en-US" sz="1900" dirty="0">
                <a:effectLst/>
              </a:rPr>
              <a:t> 50, </a:t>
            </a:r>
            <a:r>
              <a:rPr lang="en-US" sz="1900" dirty="0" err="1">
                <a:effectLst/>
              </a:rPr>
              <a:t>ce</a:t>
            </a:r>
            <a:r>
              <a:rPr lang="en-US" sz="1900" dirty="0">
                <a:effectLst/>
              </a:rPr>
              <a:t> qui nous </a:t>
            </a:r>
            <a:r>
              <a:rPr lang="en-US" sz="1900" dirty="0" err="1">
                <a:effectLst/>
              </a:rPr>
              <a:t>donne</a:t>
            </a:r>
            <a:r>
              <a:rPr lang="en-US" sz="1900" dirty="0">
                <a:effectLst/>
              </a:rPr>
              <a:t> </a:t>
            </a:r>
            <a:r>
              <a:rPr lang="en-US" sz="1900" dirty="0" err="1">
                <a:effectLst/>
              </a:rPr>
              <a:t>une</a:t>
            </a:r>
            <a:r>
              <a:rPr lang="en-US" sz="1900" dirty="0">
                <a:effectLst/>
              </a:rPr>
              <a:t> </a:t>
            </a:r>
            <a:r>
              <a:rPr lang="en-US" sz="1900" dirty="0" err="1">
                <a:effectLst/>
              </a:rPr>
              <a:t>autre</a:t>
            </a:r>
            <a:r>
              <a:rPr lang="en-US" sz="1900" dirty="0">
                <a:effectLst/>
              </a:rPr>
              <a:t> </a:t>
            </a:r>
            <a:r>
              <a:rPr lang="en-US" sz="1900" dirty="0" err="1">
                <a:effectLst/>
              </a:rPr>
              <a:t>façon</a:t>
            </a:r>
            <a:r>
              <a:rPr lang="en-US" sz="1900" dirty="0">
                <a:effectLst/>
              </a:rPr>
              <a:t> de </a:t>
            </a:r>
            <a:r>
              <a:rPr lang="en-US" sz="1900" dirty="0" err="1">
                <a:effectLst/>
              </a:rPr>
              <a:t>rejeter</a:t>
            </a:r>
            <a:r>
              <a:rPr lang="en-US" sz="1900" dirty="0">
                <a:effectLst/>
              </a:rPr>
              <a:t> </a:t>
            </a:r>
            <a:r>
              <a:rPr lang="en-US" sz="1900" dirty="0" err="1">
                <a:effectLst/>
              </a:rPr>
              <a:t>l’hypothèse</a:t>
            </a:r>
            <a:r>
              <a:rPr lang="en-US" sz="1900" dirty="0">
                <a:effectLst/>
              </a:rPr>
              <a:t> </a:t>
            </a:r>
            <a:r>
              <a:rPr lang="en-US" sz="1900" dirty="0" err="1">
                <a:effectLst/>
              </a:rPr>
              <a:t>nulle</a:t>
            </a:r>
            <a:endParaRPr lang="en-US" sz="1900" dirty="0">
              <a:effectLst/>
            </a:endParaRPr>
          </a:p>
          <a:p>
            <a:pPr indent="-228600" defTabSz="914400">
              <a:lnSpc>
                <a:spcPct val="90000"/>
              </a:lnSpc>
              <a:buFont typeface="Arial" panose="020B0604020202020204" pitchFamily="34" charset="0"/>
              <a:buChar char="•"/>
            </a:pPr>
            <a:endParaRPr lang="en-US" sz="1900" dirty="0"/>
          </a:p>
        </p:txBody>
      </p:sp>
      <p:sp>
        <p:nvSpPr>
          <p:cNvPr id="3" name="Espace réservé du pied de page 2">
            <a:extLst>
              <a:ext uri="{FF2B5EF4-FFF2-40B4-BE49-F238E27FC236}">
                <a16:creationId xmlns:a16="http://schemas.microsoft.com/office/drawing/2014/main" id="{1879993D-E8B0-423A-92DD-0993A25015FA}"/>
              </a:ext>
            </a:extLst>
          </p:cNvPr>
          <p:cNvSpPr>
            <a:spLocks noGrp="1"/>
          </p:cNvSpPr>
          <p:nvPr>
            <p:ph type="ftr" sz="quarter" idx="11"/>
          </p:nvPr>
        </p:nvSpPr>
        <p:spPr>
          <a:xfrm>
            <a:off x="4038600" y="6492240"/>
            <a:ext cx="4114800" cy="365125"/>
          </a:xfrm>
        </p:spPr>
        <p:txBody>
          <a:bodyPr vert="horz" lIns="91440" tIns="45720" rIns="91440" bIns="45720" rtlCol="0" anchor="ctr">
            <a:normAutofit/>
          </a:bodyPr>
          <a:lstStyle/>
          <a:p>
            <a:pPr defTabSz="914400"/>
            <a:endParaRPr lang="en-US" sz="12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F6AE038F-8AC3-4B0D-A109-089516AE1DDA}"/>
              </a:ext>
            </a:extLst>
          </p:cNvPr>
          <p:cNvSpPr>
            <a:spLocks noGrp="1"/>
          </p:cNvSpPr>
          <p:nvPr>
            <p:ph type="sldNum" sz="quarter" idx="12"/>
          </p:nvPr>
        </p:nvSpPr>
        <p:spPr>
          <a:xfrm>
            <a:off x="8610600" y="6492240"/>
            <a:ext cx="1871749" cy="365125"/>
          </a:xfrm>
        </p:spPr>
        <p:txBody>
          <a:bodyPr vert="horz" lIns="91440" tIns="45720" rIns="91440" bIns="45720" rtlCol="0" anchor="ctr">
            <a:normAutofit/>
          </a:bodyPr>
          <a:lstStyle/>
          <a:p>
            <a:pPr defTabSz="914400">
              <a:spcAft>
                <a:spcPts val="600"/>
              </a:spcAft>
            </a:pPr>
            <a:fld id="{26377AD9-CE17-438C-A638-C64D2D42D7CF}" type="slidenum">
              <a:rPr lang="en-US" smtClean="0"/>
              <a:pPr defTabSz="914400">
                <a:spcAft>
                  <a:spcPts val="600"/>
                </a:spcAft>
              </a:pPr>
              <a:t>18</a:t>
            </a:fld>
            <a:endParaRPr lang="en-US"/>
          </a:p>
        </p:txBody>
      </p:sp>
    </p:spTree>
    <p:extLst>
      <p:ext uri="{BB962C8B-B14F-4D97-AF65-F5344CB8AC3E}">
        <p14:creationId xmlns:p14="http://schemas.microsoft.com/office/powerpoint/2010/main" val="1273151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6EFD3D9-44F0-4267-BCC1-1613E79D82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6">
            <a:extLst>
              <a:ext uri="{FF2B5EF4-FFF2-40B4-BE49-F238E27FC236}">
                <a16:creationId xmlns:a16="http://schemas.microsoft.com/office/drawing/2014/main" id="{A779A851-95D6-41AF-937A-B0E4B7F6F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900814"/>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7">
            <a:extLst>
              <a:ext uri="{FF2B5EF4-FFF2-40B4-BE49-F238E27FC236}">
                <a16:creationId xmlns:a16="http://schemas.microsoft.com/office/drawing/2014/main" id="{953FB2E7-B6CB-429C-81EB-D9516D6D5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633165"/>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Shape 28">
            <a:extLst>
              <a:ext uri="{FF2B5EF4-FFF2-40B4-BE49-F238E27FC236}">
                <a16:creationId xmlns:a16="http://schemas.microsoft.com/office/drawing/2014/main" id="{2EC40DB1-B719-4A13-9A4D-0966B4B27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621" y="636723"/>
            <a:ext cx="4000062" cy="5257799"/>
          </a:xfrm>
          <a:custGeom>
            <a:avLst/>
            <a:gdLst>
              <a:gd name="connsiteX0" fmla="*/ 0 w 4634682"/>
              <a:gd name="connsiteY0" fmla="*/ 0 h 5257799"/>
              <a:gd name="connsiteX1" fmla="*/ 4634682 w 4634682"/>
              <a:gd name="connsiteY1" fmla="*/ 0 h 5257799"/>
              <a:gd name="connsiteX2" fmla="*/ 4634682 w 4634682"/>
              <a:gd name="connsiteY2" fmla="*/ 5257799 h 5257799"/>
              <a:gd name="connsiteX3" fmla="*/ 0 w 4634682"/>
              <a:gd name="connsiteY3" fmla="*/ 5257799 h 5257799"/>
            </a:gdLst>
            <a:ahLst/>
            <a:cxnLst>
              <a:cxn ang="0">
                <a:pos x="connsiteX0" y="connsiteY0"/>
              </a:cxn>
              <a:cxn ang="0">
                <a:pos x="connsiteX1" y="connsiteY1"/>
              </a:cxn>
              <a:cxn ang="0">
                <a:pos x="connsiteX2" y="connsiteY2"/>
              </a:cxn>
              <a:cxn ang="0">
                <a:pos x="connsiteX3" y="connsiteY3"/>
              </a:cxn>
            </a:cxnLst>
            <a:rect l="l" t="t" r="r" b="b"/>
            <a:pathLst>
              <a:path w="4634682" h="5257799">
                <a:moveTo>
                  <a:pt x="0" y="0"/>
                </a:moveTo>
                <a:lnTo>
                  <a:pt x="4634682" y="0"/>
                </a:lnTo>
                <a:lnTo>
                  <a:pt x="4634682" y="5257799"/>
                </a:lnTo>
                <a:lnTo>
                  <a:pt x="0" y="5257799"/>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FFFAF095-C98E-46C3-B03D-9E94F83A431A}"/>
              </a:ext>
            </a:extLst>
          </p:cNvPr>
          <p:cNvSpPr>
            <a:spLocks noGrp="1"/>
          </p:cNvSpPr>
          <p:nvPr>
            <p:ph type="title"/>
          </p:nvPr>
        </p:nvSpPr>
        <p:spPr>
          <a:xfrm>
            <a:off x="934872" y="982272"/>
            <a:ext cx="3388419" cy="4560970"/>
          </a:xfrm>
        </p:spPr>
        <p:txBody>
          <a:bodyPr vert="horz" lIns="91440" tIns="45720" rIns="91440" bIns="45720" rtlCol="0" anchor="ctr">
            <a:normAutofit/>
          </a:bodyPr>
          <a:lstStyle/>
          <a:p>
            <a:pPr>
              <a:spcAft>
                <a:spcPts val="800"/>
              </a:spcAft>
            </a:pPr>
            <a:r>
              <a:rPr lang="en-US" sz="1600" kern="1200">
                <a:solidFill>
                  <a:srgbClr val="FFFFFF"/>
                </a:solidFill>
                <a:latin typeface="+mj-lt"/>
                <a:ea typeface="+mj-ea"/>
                <a:cs typeface="+mj-cs"/>
              </a:rPr>
              <a:t>Exemple 3: </a:t>
            </a:r>
            <a:r>
              <a:rPr lang="en-US" sz="1600" kern="1200">
                <a:solidFill>
                  <a:srgbClr val="FFFFFF"/>
                </a:solidFill>
                <a:effectLst/>
                <a:latin typeface="+mj-lt"/>
                <a:ea typeface="+mj-ea"/>
                <a:cs typeface="+mj-cs"/>
              </a:rPr>
              <a:t>Le temps requis pour assembler un modèle d’ordinateur est distribué normalement avec une moyenne de 590 minutes. Le patron de l’usine, voulant réduire ce temps, fait suivre un stage à ses ouvriers, puis il sélectionne au hasard 11 ouvriers et note le temps qu’ils mettent à assembler un ordinateur. Il obtient les résultats suivants :</a:t>
            </a:r>
            <a:br>
              <a:rPr lang="en-US" sz="1600" kern="1200">
                <a:solidFill>
                  <a:srgbClr val="FFFFFF"/>
                </a:solidFill>
                <a:effectLst/>
                <a:latin typeface="+mj-lt"/>
                <a:ea typeface="+mj-ea"/>
                <a:cs typeface="+mj-cs"/>
              </a:rPr>
            </a:br>
            <a:r>
              <a:rPr lang="en-US" sz="1600" kern="1200">
                <a:solidFill>
                  <a:srgbClr val="FFFFFF"/>
                </a:solidFill>
                <a:effectLst/>
                <a:latin typeface="+mj-lt"/>
                <a:ea typeface="+mj-ea"/>
                <a:cs typeface="+mj-cs"/>
              </a:rPr>
              <a:t>620    540    579    603    570    598    587    530    595    629    550</a:t>
            </a:r>
            <a:br>
              <a:rPr lang="en-US" sz="1600" kern="1200">
                <a:solidFill>
                  <a:srgbClr val="FFFFFF"/>
                </a:solidFill>
                <a:effectLst/>
                <a:latin typeface="+mj-lt"/>
                <a:ea typeface="+mj-ea"/>
                <a:cs typeface="+mj-cs"/>
              </a:rPr>
            </a:br>
            <a:r>
              <a:rPr lang="en-US" sz="1600" kern="1200">
                <a:solidFill>
                  <a:srgbClr val="FFFFFF"/>
                </a:solidFill>
                <a:effectLst/>
                <a:latin typeface="+mj-lt"/>
                <a:ea typeface="+mj-ea"/>
                <a:cs typeface="+mj-cs"/>
              </a:rPr>
              <a:t>Peut-il conclure que le stage a été profitable ? Utilisez un seuil de signification de 10 %.</a:t>
            </a:r>
            <a:br>
              <a:rPr lang="en-US" sz="1600" kern="1200">
                <a:solidFill>
                  <a:srgbClr val="FFFFFF"/>
                </a:solidFill>
                <a:effectLst/>
                <a:latin typeface="+mj-lt"/>
                <a:ea typeface="+mj-ea"/>
                <a:cs typeface="+mj-cs"/>
              </a:rPr>
            </a:br>
            <a:endParaRPr lang="en-US" sz="1600" kern="1200">
              <a:solidFill>
                <a:srgbClr val="FFFFFF"/>
              </a:solidFill>
              <a:latin typeface="+mj-lt"/>
              <a:ea typeface="+mj-ea"/>
              <a:cs typeface="+mj-cs"/>
            </a:endParaRPr>
          </a:p>
        </p:txBody>
      </p:sp>
      <p:sp>
        <p:nvSpPr>
          <p:cNvPr id="31" name="Rectangle 8">
            <a:extLst>
              <a:ext uri="{FF2B5EF4-FFF2-40B4-BE49-F238E27FC236}">
                <a16:creationId xmlns:a16="http://schemas.microsoft.com/office/drawing/2014/main" id="{82211336-CFF3-412D-868A-6679C1004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1782" y="1352302"/>
            <a:ext cx="6655597"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ZoneTexte 4">
            <a:extLst>
              <a:ext uri="{FF2B5EF4-FFF2-40B4-BE49-F238E27FC236}">
                <a16:creationId xmlns:a16="http://schemas.microsoft.com/office/drawing/2014/main" id="{B2726313-007C-42D9-9CFB-2946132866C8}"/>
              </a:ext>
            </a:extLst>
          </p:cNvPr>
          <p:cNvSpPr txBox="1"/>
          <p:nvPr/>
        </p:nvSpPr>
        <p:spPr>
          <a:xfrm>
            <a:off x="5221862" y="1719618"/>
            <a:ext cx="5948831" cy="4334629"/>
          </a:xfrm>
          <a:prstGeom prst="rect">
            <a:avLst/>
          </a:prstGeom>
        </p:spPr>
        <p:txBody>
          <a:bodyPr vert="horz" lIns="91440" tIns="45720" rIns="91440" bIns="45720" rtlCol="0" anchor="ctr">
            <a:normAutofit/>
          </a:bodyPr>
          <a:lstStyle/>
          <a:p>
            <a:pPr indent="-228600" defTabSz="914400">
              <a:lnSpc>
                <a:spcPct val="90000"/>
              </a:lnSpc>
              <a:spcAft>
                <a:spcPts val="800"/>
              </a:spcAft>
              <a:buFont typeface="Arial" panose="020B0604020202020204" pitchFamily="34" charset="0"/>
              <a:buChar char="•"/>
            </a:pPr>
            <a:r>
              <a:rPr lang="en-US" sz="2000" b="1">
                <a:solidFill>
                  <a:srgbClr val="FEFFFF"/>
                </a:solidFill>
                <a:effectLst/>
              </a:rPr>
              <a:t>Réponse: </a:t>
            </a:r>
            <a:r>
              <a:rPr lang="en-US" sz="2000">
                <a:solidFill>
                  <a:srgbClr val="FEFFFF"/>
                </a:solidFill>
                <a:effectLst/>
              </a:rPr>
              <a:t>On veut donc tester </a:t>
            </a:r>
            <a:r>
              <a:rPr lang="en-US" sz="2000" i="1">
                <a:solidFill>
                  <a:srgbClr val="FEFFFF"/>
                </a:solidFill>
                <a:effectLst/>
              </a:rPr>
              <a:t>H</a:t>
            </a:r>
            <a:r>
              <a:rPr lang="en-US" sz="2000" baseline="-25000">
                <a:solidFill>
                  <a:srgbClr val="FEFFFF"/>
                </a:solidFill>
                <a:effectLst/>
              </a:rPr>
              <a:t>0</a:t>
            </a:r>
            <a:r>
              <a:rPr lang="en-US" sz="2000">
                <a:solidFill>
                  <a:srgbClr val="FEFFFF"/>
                </a:solidFill>
                <a:effectLst/>
              </a:rPr>
              <a:t> : </a:t>
            </a:r>
            <a:r>
              <a:rPr lang="en-US" sz="2000" i="1">
                <a:solidFill>
                  <a:srgbClr val="FEFFFF"/>
                </a:solidFill>
                <a:effectLst/>
              </a:rPr>
              <a:t>µ</a:t>
            </a:r>
            <a:r>
              <a:rPr lang="en-US" sz="2000" i="1" baseline="-25000">
                <a:solidFill>
                  <a:srgbClr val="FEFFFF"/>
                </a:solidFill>
                <a:effectLst/>
              </a:rPr>
              <a:t>X</a:t>
            </a:r>
            <a:r>
              <a:rPr lang="en-US" sz="2000">
                <a:solidFill>
                  <a:srgbClr val="FEFFFF"/>
                </a:solidFill>
                <a:effectLst/>
              </a:rPr>
              <a:t> = 590 contre </a:t>
            </a:r>
            <a:r>
              <a:rPr lang="en-US" sz="2000" i="1">
                <a:solidFill>
                  <a:srgbClr val="FEFFFF"/>
                </a:solidFill>
                <a:effectLst/>
              </a:rPr>
              <a:t>H</a:t>
            </a:r>
            <a:r>
              <a:rPr lang="en-US" sz="2000" baseline="-25000">
                <a:solidFill>
                  <a:srgbClr val="FEFFFF"/>
                </a:solidFill>
                <a:effectLst/>
              </a:rPr>
              <a:t>1</a:t>
            </a:r>
            <a:r>
              <a:rPr lang="en-US" sz="2000">
                <a:solidFill>
                  <a:srgbClr val="FEFFFF"/>
                </a:solidFill>
                <a:effectLst/>
              </a:rPr>
              <a:t> : </a:t>
            </a:r>
            <a:r>
              <a:rPr lang="en-US" sz="2000" i="1">
                <a:solidFill>
                  <a:srgbClr val="FEFFFF"/>
                </a:solidFill>
                <a:effectLst/>
              </a:rPr>
              <a:t>µ</a:t>
            </a:r>
            <a:r>
              <a:rPr lang="en-US" sz="2000" i="1" baseline="-25000">
                <a:solidFill>
                  <a:srgbClr val="FEFFFF"/>
                </a:solidFill>
                <a:effectLst/>
              </a:rPr>
              <a:t>X</a:t>
            </a:r>
            <a:r>
              <a:rPr lang="en-US" sz="2000">
                <a:solidFill>
                  <a:srgbClr val="FEFFFF"/>
                </a:solidFill>
                <a:effectLst/>
              </a:rPr>
              <a:t> &lt; 590. </a:t>
            </a:r>
          </a:p>
          <a:p>
            <a:pPr indent="-228600" defTabSz="914400">
              <a:lnSpc>
                <a:spcPct val="90000"/>
              </a:lnSpc>
              <a:spcAft>
                <a:spcPts val="800"/>
              </a:spcAft>
              <a:buFont typeface="Arial" panose="020B0604020202020204" pitchFamily="34" charset="0"/>
              <a:buChar char="•"/>
            </a:pPr>
            <a:r>
              <a:rPr lang="en-US" sz="2000">
                <a:solidFill>
                  <a:srgbClr val="FEFFFF"/>
                </a:solidFill>
                <a:effectLst/>
              </a:rPr>
              <a:t>On met les données dans un vecteur qu’on va appeler u et on tape :</a:t>
            </a:r>
          </a:p>
          <a:p>
            <a:pPr indent="-228600" defTabSz="914400">
              <a:lnSpc>
                <a:spcPct val="90000"/>
              </a:lnSpc>
              <a:spcAft>
                <a:spcPts val="800"/>
              </a:spcAft>
              <a:buFont typeface="Arial" panose="020B0604020202020204" pitchFamily="34" charset="0"/>
              <a:buChar char="•"/>
            </a:pPr>
            <a:r>
              <a:rPr lang="en-US" sz="2000">
                <a:solidFill>
                  <a:srgbClr val="FEFFFF"/>
                </a:solidFill>
                <a:effectLst/>
              </a:rPr>
              <a:t>t.test(u,mu=590,alternative="less",conf.lev=0.90)  et on obtient :</a:t>
            </a:r>
          </a:p>
          <a:p>
            <a:pPr indent="-228600" defTabSz="914400">
              <a:lnSpc>
                <a:spcPct val="90000"/>
              </a:lnSpc>
              <a:spcAft>
                <a:spcPts val="800"/>
              </a:spcAft>
              <a:buFont typeface="Arial" panose="020B0604020202020204" pitchFamily="34" charset="0"/>
              <a:buChar char="•"/>
            </a:pPr>
            <a:r>
              <a:rPr lang="en-US" sz="2000">
                <a:solidFill>
                  <a:srgbClr val="FEFFFF"/>
                </a:solidFill>
                <a:effectLst/>
              </a:rPr>
              <a:t>Une valeur P égale à 0,2101 donc plus grande que 0,10  donc on ne rejette pas l’hypothèse nulle.</a:t>
            </a:r>
          </a:p>
          <a:p>
            <a:pPr indent="-228600" defTabSz="914400">
              <a:lnSpc>
                <a:spcPct val="90000"/>
              </a:lnSpc>
              <a:spcAft>
                <a:spcPts val="800"/>
              </a:spcAft>
              <a:buFont typeface="Arial" panose="020B0604020202020204" pitchFamily="34" charset="0"/>
              <a:buChar char="•"/>
            </a:pPr>
            <a:r>
              <a:rPr lang="en-US" sz="2000">
                <a:solidFill>
                  <a:srgbClr val="FEFFFF"/>
                </a:solidFill>
                <a:effectLst/>
              </a:rPr>
              <a:t>Le logiciel R nous donne une valeur supérieure pour la moyenne de la variable : ici cette valeur supérieure est égale à 595,1153, donc cet intervalle contient 590, ce qui nous donne une autre façon de ne pas rejeter l’hypothèse nulle.</a:t>
            </a:r>
          </a:p>
          <a:p>
            <a:pPr indent="-228600" defTabSz="914400">
              <a:lnSpc>
                <a:spcPct val="90000"/>
              </a:lnSpc>
              <a:spcAft>
                <a:spcPts val="800"/>
              </a:spcAft>
              <a:buFont typeface="Arial" panose="020B0604020202020204" pitchFamily="34" charset="0"/>
              <a:buChar char="•"/>
            </a:pPr>
            <a:endParaRPr lang="en-US" sz="2000">
              <a:solidFill>
                <a:srgbClr val="FEFFFF"/>
              </a:solidFill>
              <a:effectLst/>
            </a:endParaRPr>
          </a:p>
        </p:txBody>
      </p:sp>
      <p:sp>
        <p:nvSpPr>
          <p:cNvPr id="3" name="Espace réservé du pied de page 2">
            <a:extLst>
              <a:ext uri="{FF2B5EF4-FFF2-40B4-BE49-F238E27FC236}">
                <a16:creationId xmlns:a16="http://schemas.microsoft.com/office/drawing/2014/main" id="{1FCA5457-1427-486E-BCCF-7E1E47915D95}"/>
              </a:ext>
            </a:extLst>
          </p:cNvPr>
          <p:cNvSpPr>
            <a:spLocks noGrp="1"/>
          </p:cNvSpPr>
          <p:nvPr>
            <p:ph type="ftr" sz="quarter" idx="11"/>
          </p:nvPr>
        </p:nvSpPr>
        <p:spPr>
          <a:xfrm>
            <a:off x="795528" y="6382512"/>
            <a:ext cx="6757416" cy="320040"/>
          </a:xfrm>
        </p:spPr>
        <p:txBody>
          <a:bodyPr vert="horz" lIns="91440" tIns="45720" rIns="91440" bIns="45720" rtlCol="0" anchor="ctr">
            <a:normAutofit/>
          </a:bodyPr>
          <a:lstStyle/>
          <a:p>
            <a:pPr algn="l" defTabSz="914400"/>
            <a:endParaRPr lang="en-US" sz="10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CA4D1781-8680-471D-9B02-C7BBCEC745FD}"/>
              </a:ext>
            </a:extLst>
          </p:cNvPr>
          <p:cNvSpPr>
            <a:spLocks noGrp="1"/>
          </p:cNvSpPr>
          <p:nvPr>
            <p:ph type="sldNum" sz="quarter" idx="12"/>
          </p:nvPr>
        </p:nvSpPr>
        <p:spPr>
          <a:xfrm>
            <a:off x="10707624" y="6175188"/>
            <a:ext cx="685800" cy="320040"/>
          </a:xfrm>
        </p:spPr>
        <p:txBody>
          <a:bodyPr vert="horz" lIns="91440" tIns="45720" rIns="91440" bIns="45720" rtlCol="0" anchor="ctr">
            <a:normAutofit/>
          </a:bodyPr>
          <a:lstStyle/>
          <a:p>
            <a:pPr defTabSz="914400">
              <a:spcAft>
                <a:spcPts val="600"/>
              </a:spcAft>
            </a:pPr>
            <a:fld id="{26377AD9-CE17-438C-A638-C64D2D42D7CF}" type="slidenum">
              <a:rPr lang="en-US" sz="1000">
                <a:solidFill>
                  <a:srgbClr val="FFFFFF"/>
                </a:solidFill>
              </a:rPr>
              <a:pPr defTabSz="914400">
                <a:spcAft>
                  <a:spcPts val="600"/>
                </a:spcAft>
              </a:pPr>
              <a:t>19</a:t>
            </a:fld>
            <a:endParaRPr lang="en-US" sz="1000">
              <a:solidFill>
                <a:srgbClr val="FFFFFF"/>
              </a:solidFill>
            </a:endParaRPr>
          </a:p>
        </p:txBody>
      </p:sp>
    </p:spTree>
    <p:extLst>
      <p:ext uri="{BB962C8B-B14F-4D97-AF65-F5344CB8AC3E}">
        <p14:creationId xmlns:p14="http://schemas.microsoft.com/office/powerpoint/2010/main" val="2772085300"/>
      </p:ext>
    </p:extLst>
  </p:cSld>
  <p:clrMapOvr>
    <a:masterClrMapping/>
  </p:clrMapOvr>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1214</TotalTime>
  <Words>2662</Words>
  <Application>Microsoft Office PowerPoint</Application>
  <PresentationFormat>Grand écran</PresentationFormat>
  <Paragraphs>157</Paragraphs>
  <Slides>19</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19</vt:i4>
      </vt:variant>
    </vt:vector>
  </HeadingPairs>
  <TitlesOfParts>
    <vt:vector size="25" baseType="lpstr">
      <vt:lpstr>Arial</vt:lpstr>
      <vt:lpstr>Calibri</vt:lpstr>
      <vt:lpstr>Calibri Light</vt:lpstr>
      <vt:lpstr>Cambria Math</vt:lpstr>
      <vt:lpstr>Times New Roman</vt:lpstr>
      <vt:lpstr>Office Theme</vt:lpstr>
      <vt:lpstr>Estimation d’une proportion par intervalle de confiance</vt:lpstr>
      <vt:lpstr>Exemple 1: Quelques jours avant les élections fédérales de mai 2011, un sondage a été mené auprès de 1 120 électeurs québécois ; parmi eux, 404 ont déclaré qu’ils allaient voter pour le Nouveau Parti démocratique (NPD). On doit déterminer un intervalle de confiance de niveau 95 % de la proportion des Québécois qui ont l’intention de voter pour ce parti (si la tendance se maintient). </vt:lpstr>
      <vt:lpstr>Utilisation du logiciel R</vt:lpstr>
      <vt:lpstr>Exemple 2: Une maison de sondage a mené une étude sur le pourcentage des canadiens qui reçoivent des messages de publicité non sollicités sur leur téléphone cellulaire. Elle a trouvé un intervalle de confiance de 95% pour cette proportion qui est égal à 17% plus ou moins 3%. Que signifie cet intervalle de confiance ? (a)Dans l’échantillon utilisé par cette maison de sondage, entre 14% et 20% des répondants ont reçu des messages de publicité non sollicités sur leur téléphone cellulaire. (b) On peut être confiant que 17% des Canadiens ont reçu des messages de publicité non sollicités sur leur téléphone cellulaire. (c) On peut être confiant qu’entre 14% et 20% de tous les Canadiens qui ont un cellulaire, ont reçu des messages de publicité non sollicités sur leur téléphone cellulaire. (d) 95% de de tous les Canadiens qui ont un cellulaire, ont reçu des messages de publicité non sollicités sur leur téléphone cellulaire. Réponse :  La bonne réponse est c. C’est cela la signification d’un tel intervalle de confiance. </vt:lpstr>
      <vt:lpstr>Taille échantillonnale minimale pour estimer une proportion</vt:lpstr>
      <vt:lpstr>2ième cas: On ne connait rien sur p</vt:lpstr>
      <vt:lpstr>Tests d’hypothèses (Partie I)</vt:lpstr>
      <vt:lpstr>Soit X une variable aléatoire et θ un paramètre (inconnu) relatif à cette variable, sur lequel on veut mener des hypothèses. </vt:lpstr>
      <vt:lpstr>Les possibilités d’un test d’hypothèses</vt:lpstr>
      <vt:lpstr>Test d’hypothèse sur la moyenne d’une variable</vt:lpstr>
      <vt:lpstr>Si H_0  est vraie, cette variable va prendre  la valeur t_0=t_obs=(x ̅-μ_0)/(s_X/√n)</vt:lpstr>
      <vt:lpstr>Pour un test unilatéral à droite</vt:lpstr>
      <vt:lpstr>Pour un test unilatéral à gauche.</vt:lpstr>
      <vt:lpstr>Méthode 2: On peut aussi se baser sur la valeur-P</vt:lpstr>
      <vt:lpstr>COMMENT CALCULER LES VALEUR-P</vt:lpstr>
      <vt:lpstr>Méthode 3: Autre façon de prendre une décision: L’usage du logiciel R.</vt:lpstr>
      <vt:lpstr>Exemple 1: La concentration d’un diluant de solutions est nocive si elle diffère de 0,5 ppm (partie par million). En supposant cette concentration normalement distribuée, des ingénieurs en formulation de cette substance ont recueilli un échantillon aléatoire de 12 observations et obtenu les résultats suivants : 0,24 0,59 0,62 0,16 0,77 1,33 0,92 0,19 0,33 0,25 0,59 0,32 À partir de ces données, peut-on dire que cette substance est nocive ? Utilisez un seuil de signification de 5 %. </vt:lpstr>
      <vt:lpstr>Exemple 2: Un psychologue a mesuré l’appréciation des enfants envers leur école primaire. Il a utilisé une échelle de 0 (n’apprécie pas du tout) à 100 (apprécie énormément), qu’on suppose normalement distribuée, sur la base d’un échantillon aléatoire de 16 enfants. Voici ses résultats : 48 75 69 58 60 68 59 66 71 52 49 60 54 65 77 64 Le psychologue peut-il conclure que l’appréciation moyenne de cette population d’enfants dépasse 50 ? Utilisez un seuil de signification de 1 %. </vt:lpstr>
      <vt:lpstr>Exemple 3: Le temps requis pour assembler un modèle d’ordinateur est distribué normalement avec une moyenne de 590 minutes. Le patron de l’usine, voulant réduire ce temps, fait suivre un stage à ses ouvriers, puis il sélectionne au hasard 11 ouvriers et note le temps qu’ils mettent à assembler un ordinateur. Il obtient les résultats suivants : 620    540    579    603    570    598    587    530    595    629    550 Peut-il conclure que le stage a été profitable ? Utilisez un seuil de signification de 10 %.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Tests d’hypothèses (Partie I)</dc:title>
  <dc:creator>Mhammed Mountassir</dc:creator>
  <cp:lastModifiedBy>Mhammed Mountassir</cp:lastModifiedBy>
  <cp:revision>5</cp:revision>
  <dcterms:created xsi:type="dcterms:W3CDTF">2020-11-04T15:48:26Z</dcterms:created>
  <dcterms:modified xsi:type="dcterms:W3CDTF">2021-11-08T22:11:54Z</dcterms:modified>
</cp:coreProperties>
</file>