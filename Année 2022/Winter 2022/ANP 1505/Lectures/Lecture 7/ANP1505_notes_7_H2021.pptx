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9"/>
  </p:notesMasterIdLst>
  <p:handoutMasterIdLst>
    <p:handoutMasterId r:id="rId20"/>
  </p:handoutMasterIdLst>
  <p:sldIdLst>
    <p:sldId id="306" r:id="rId2"/>
    <p:sldId id="346" r:id="rId3"/>
    <p:sldId id="362" r:id="rId4"/>
    <p:sldId id="350" r:id="rId5"/>
    <p:sldId id="363" r:id="rId6"/>
    <p:sldId id="353" r:id="rId7"/>
    <p:sldId id="365" r:id="rId8"/>
    <p:sldId id="366" r:id="rId9"/>
    <p:sldId id="357" r:id="rId10"/>
    <p:sldId id="352" r:id="rId11"/>
    <p:sldId id="368" r:id="rId12"/>
    <p:sldId id="354" r:id="rId13"/>
    <p:sldId id="360" r:id="rId14"/>
    <p:sldId id="345" r:id="rId15"/>
    <p:sldId id="359" r:id="rId16"/>
    <p:sldId id="313" r:id="rId17"/>
    <p:sldId id="361" r:id="rId18"/>
  </p:sldIdLst>
  <p:sldSz cx="9144000" cy="6858000" type="screen4x3"/>
  <p:notesSz cx="7315200" cy="9601200"/>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mn-cs"/>
      </a:defRPr>
    </a:lvl1pPr>
    <a:lvl2pPr marL="457200" algn="l" rtl="0" eaLnBrk="0" fontAlgn="base" hangingPunct="0">
      <a:spcBef>
        <a:spcPct val="0"/>
      </a:spcBef>
      <a:spcAft>
        <a:spcPct val="0"/>
      </a:spcAft>
      <a:defRPr kern="1200">
        <a:solidFill>
          <a:schemeClr val="tx1"/>
        </a:solidFill>
        <a:latin typeface="Arial" charset="0"/>
        <a:ea typeface="+mn-ea"/>
        <a:cs typeface="+mn-cs"/>
      </a:defRPr>
    </a:lvl2pPr>
    <a:lvl3pPr marL="914400" algn="l" rtl="0" eaLnBrk="0" fontAlgn="base" hangingPunct="0">
      <a:spcBef>
        <a:spcPct val="0"/>
      </a:spcBef>
      <a:spcAft>
        <a:spcPct val="0"/>
      </a:spcAft>
      <a:defRPr kern="1200">
        <a:solidFill>
          <a:schemeClr val="tx1"/>
        </a:solidFill>
        <a:latin typeface="Arial" charset="0"/>
        <a:ea typeface="+mn-ea"/>
        <a:cs typeface="+mn-cs"/>
      </a:defRPr>
    </a:lvl3pPr>
    <a:lvl4pPr marL="1371600" algn="l" rtl="0" eaLnBrk="0" fontAlgn="base" hangingPunct="0">
      <a:spcBef>
        <a:spcPct val="0"/>
      </a:spcBef>
      <a:spcAft>
        <a:spcPct val="0"/>
      </a:spcAft>
      <a:defRPr kern="1200">
        <a:solidFill>
          <a:schemeClr val="tx1"/>
        </a:solidFill>
        <a:latin typeface="Arial" charset="0"/>
        <a:ea typeface="+mn-ea"/>
        <a:cs typeface="+mn-cs"/>
      </a:defRPr>
    </a:lvl4pPr>
    <a:lvl5pPr marL="1828800" algn="l" rtl="0" eaLnBrk="0" fontAlgn="base" hangingPunct="0">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4319">
          <p15:clr>
            <a:srgbClr val="A4A3A4"/>
          </p15:clr>
        </p15:guide>
        <p15:guide id="2" pos="5759">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8000"/>
    <a:srgbClr val="336699"/>
    <a:srgbClr val="0099FF"/>
    <a:srgbClr val="9933FF"/>
    <a:srgbClr val="9900CC"/>
    <a:srgbClr val="800080"/>
    <a:srgbClr val="FFFFCC"/>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autoAdjust="0"/>
  </p:normalViewPr>
  <p:slideViewPr>
    <p:cSldViewPr snapToGrid="0">
      <p:cViewPr varScale="1">
        <p:scale>
          <a:sx n="115" d="100"/>
          <a:sy n="115" d="100"/>
        </p:scale>
        <p:origin x="1738" y="67"/>
      </p:cViewPr>
      <p:guideLst>
        <p:guide orient="horz" pos="4319"/>
        <p:guide pos="575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88" d="100"/>
          <a:sy n="88" d="100"/>
        </p:scale>
        <p:origin x="4003" y="62"/>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42" name="Rectangle 2"/>
          <p:cNvSpPr>
            <a:spLocks noGrp="1" noChangeArrowheads="1"/>
          </p:cNvSpPr>
          <p:nvPr>
            <p:ph type="hdr" sz="quarter"/>
          </p:nvPr>
        </p:nvSpPr>
        <p:spPr bwMode="auto">
          <a:xfrm>
            <a:off x="0"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defTabSz="990600">
              <a:defRPr sz="1300">
                <a:latin typeface="Times New Roman" pitchFamily="18" charset="0"/>
              </a:defRPr>
            </a:lvl1pPr>
          </a:lstStyle>
          <a:p>
            <a:endParaRPr lang="en-US"/>
          </a:p>
        </p:txBody>
      </p:sp>
      <p:sp>
        <p:nvSpPr>
          <p:cNvPr id="61443" name="Rectangle 3"/>
          <p:cNvSpPr>
            <a:spLocks noGrp="1" noChangeArrowheads="1"/>
          </p:cNvSpPr>
          <p:nvPr>
            <p:ph type="dt" sz="quarter" idx="1"/>
          </p:nvPr>
        </p:nvSpPr>
        <p:spPr bwMode="auto">
          <a:xfrm>
            <a:off x="4143375" y="0"/>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prstTxWarp prst="textNoShape">
              <a:avLst/>
            </a:prstTxWarp>
          </a:bodyPr>
          <a:lstStyle>
            <a:lvl1pPr algn="r" defTabSz="990600">
              <a:defRPr sz="1300">
                <a:latin typeface="Times New Roman" pitchFamily="18" charset="0"/>
              </a:defRPr>
            </a:lvl1pPr>
          </a:lstStyle>
          <a:p>
            <a:endParaRPr lang="en-US"/>
          </a:p>
        </p:txBody>
      </p:sp>
      <p:sp>
        <p:nvSpPr>
          <p:cNvPr id="61445" name="Rectangle 5"/>
          <p:cNvSpPr>
            <a:spLocks noGrp="1" noChangeArrowheads="1"/>
          </p:cNvSpPr>
          <p:nvPr>
            <p:ph type="sldNum" sz="quarter" idx="3"/>
          </p:nvPr>
        </p:nvSpPr>
        <p:spPr bwMode="auto">
          <a:xfrm>
            <a:off x="4143375" y="9120188"/>
            <a:ext cx="3170238" cy="479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prstTxWarp prst="textNoShape">
              <a:avLst/>
            </a:prstTxWarp>
          </a:bodyPr>
          <a:lstStyle>
            <a:lvl1pPr algn="r" defTabSz="990600">
              <a:defRPr sz="1300">
                <a:latin typeface="Times New Roman" pitchFamily="18" charset="0"/>
              </a:defRPr>
            </a:lvl1pPr>
          </a:lstStyle>
          <a:p>
            <a:fld id="{0627C959-8E40-4841-854B-744005C62A7F}" type="slidenum">
              <a:rPr lang="en-US"/>
              <a:pPr/>
              <a:t>‹#›</a:t>
            </a:fld>
            <a:endParaRPr lang="en-US"/>
          </a:p>
        </p:txBody>
      </p:sp>
    </p:spTree>
    <p:extLst>
      <p:ext uri="{BB962C8B-B14F-4D97-AF65-F5344CB8AC3E}">
        <p14:creationId xmlns:p14="http://schemas.microsoft.com/office/powerpoint/2010/main" val="22799780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lIns="91440" tIns="45720" rIns="91440" bIns="45720" rtlCol="0"/>
          <a:lstStyle>
            <a:lvl1pPr algn="l">
              <a:defRPr sz="1200"/>
            </a:lvl1pPr>
          </a:lstStyle>
          <a:p>
            <a:endParaRPr lang="fr-CA"/>
          </a:p>
        </p:txBody>
      </p:sp>
      <p:sp>
        <p:nvSpPr>
          <p:cNvPr id="3" name="Date Placeholder 2"/>
          <p:cNvSpPr>
            <a:spLocks noGrp="1"/>
          </p:cNvSpPr>
          <p:nvPr>
            <p:ph type="dt" idx="1"/>
          </p:nvPr>
        </p:nvSpPr>
        <p:spPr>
          <a:xfrm>
            <a:off x="4143375" y="0"/>
            <a:ext cx="3170238" cy="479425"/>
          </a:xfrm>
          <a:prstGeom prst="rect">
            <a:avLst/>
          </a:prstGeom>
        </p:spPr>
        <p:txBody>
          <a:bodyPr vert="horz" lIns="91440" tIns="45720" rIns="91440" bIns="45720" rtlCol="0"/>
          <a:lstStyle>
            <a:lvl1pPr algn="r">
              <a:defRPr sz="1200"/>
            </a:lvl1pPr>
          </a:lstStyle>
          <a:p>
            <a:fld id="{9F9B0F08-0457-4F0E-9573-79449A26ECF6}" type="datetimeFigureOut">
              <a:rPr lang="fr-CA" smtClean="0"/>
              <a:pPr/>
              <a:t>2021-03-31</a:t>
            </a:fld>
            <a:endParaRPr lang="fr-CA"/>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fr-CA"/>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
        <p:nvSpPr>
          <p:cNvPr id="6" name="Footer Placeholder 5"/>
          <p:cNvSpPr>
            <a:spLocks noGrp="1"/>
          </p:cNvSpPr>
          <p:nvPr>
            <p:ph type="ftr" sz="quarter" idx="4"/>
          </p:nvPr>
        </p:nvSpPr>
        <p:spPr>
          <a:xfrm>
            <a:off x="0" y="9120188"/>
            <a:ext cx="3170238" cy="479425"/>
          </a:xfrm>
          <a:prstGeom prst="rect">
            <a:avLst/>
          </a:prstGeom>
        </p:spPr>
        <p:txBody>
          <a:bodyPr vert="horz" lIns="91440" tIns="45720" rIns="91440" bIns="45720" rtlCol="0" anchor="b"/>
          <a:lstStyle>
            <a:lvl1pPr algn="l">
              <a:defRPr sz="1200"/>
            </a:lvl1pPr>
          </a:lstStyle>
          <a:p>
            <a:endParaRPr lang="fr-CA"/>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lIns="91440" tIns="45720" rIns="91440" bIns="45720" rtlCol="0" anchor="b"/>
          <a:lstStyle>
            <a:lvl1pPr algn="r">
              <a:defRPr sz="1200"/>
            </a:lvl1pPr>
          </a:lstStyle>
          <a:p>
            <a:fld id="{F67DAE2C-E899-4C02-A146-1589C1ADB112}" type="slidenum">
              <a:rPr lang="fr-CA" smtClean="0"/>
              <a:pPr/>
              <a:t>‹#›</a:t>
            </a:fld>
            <a:endParaRPr lang="fr-CA"/>
          </a:p>
        </p:txBody>
      </p:sp>
    </p:spTree>
    <p:extLst>
      <p:ext uri="{BB962C8B-B14F-4D97-AF65-F5344CB8AC3E}">
        <p14:creationId xmlns:p14="http://schemas.microsoft.com/office/powerpoint/2010/main" val="1343785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F67DAE2C-E899-4C02-A146-1589C1ADB112}" type="slidenum">
              <a:rPr lang="fr-CA" smtClean="0"/>
              <a:pPr/>
              <a:t>4</a:t>
            </a:fld>
            <a:endParaRPr lang="fr-CA"/>
          </a:p>
        </p:txBody>
      </p:sp>
    </p:spTree>
    <p:extLst>
      <p:ext uri="{BB962C8B-B14F-4D97-AF65-F5344CB8AC3E}">
        <p14:creationId xmlns:p14="http://schemas.microsoft.com/office/powerpoint/2010/main" val="27759159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F67DAE2C-E899-4C02-A146-1589C1ADB112}" type="slidenum">
              <a:rPr lang="fr-CA" smtClean="0"/>
              <a:pPr/>
              <a:t>5</a:t>
            </a:fld>
            <a:endParaRPr lang="fr-CA"/>
          </a:p>
        </p:txBody>
      </p:sp>
    </p:spTree>
    <p:extLst>
      <p:ext uri="{BB962C8B-B14F-4D97-AF65-F5344CB8AC3E}">
        <p14:creationId xmlns:p14="http://schemas.microsoft.com/office/powerpoint/2010/main" val="15245180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lvl="1">
              <a:spcBef>
                <a:spcPct val="20000"/>
              </a:spcBef>
            </a:pPr>
            <a:r>
              <a:rPr lang="fr-FR" sz="1600" i="1" dirty="0" err="1">
                <a:latin typeface="Arial" charset="0"/>
              </a:rPr>
              <a:t>Lymphœdème</a:t>
            </a:r>
            <a:r>
              <a:rPr lang="fr-FR" sz="1600" dirty="0">
                <a:latin typeface="Arial" charset="0"/>
              </a:rPr>
              <a:t>: œdème localisé causé par un drainage déficient de la lymphe.</a:t>
            </a:r>
            <a:r>
              <a:rPr lang="fr-FR" sz="1600" baseline="0" dirty="0">
                <a:latin typeface="Arial" charset="0"/>
              </a:rPr>
              <a:t> </a:t>
            </a:r>
          </a:p>
          <a:p>
            <a:pPr lvl="1">
              <a:spcBef>
                <a:spcPct val="20000"/>
              </a:spcBef>
            </a:pPr>
            <a:r>
              <a:rPr lang="fr-FR" sz="1600" dirty="0">
                <a:latin typeface="Arial" charset="0"/>
              </a:rPr>
              <a:t>Une obstruction à l’écoulement de la lymphe peut avoir plusieurs causes.</a:t>
            </a:r>
          </a:p>
          <a:p>
            <a:pPr lvl="1">
              <a:spcBef>
                <a:spcPct val="20000"/>
              </a:spcBef>
            </a:pPr>
            <a:r>
              <a:rPr lang="fr-FR" sz="1600" dirty="0">
                <a:latin typeface="Arial" charset="0"/>
              </a:rPr>
              <a:t>Exemples:</a:t>
            </a:r>
          </a:p>
          <a:p>
            <a:pPr marL="992188" lvl="3" indent="-182563">
              <a:buFontTx/>
              <a:buChar char="•"/>
            </a:pPr>
            <a:r>
              <a:rPr lang="fr-FR" sz="1600" dirty="0">
                <a:latin typeface="Arial" charset="0"/>
              </a:rPr>
              <a:t>Tumeurs</a:t>
            </a:r>
          </a:p>
          <a:p>
            <a:pPr marL="992188" lvl="3" indent="-182563">
              <a:buFontTx/>
              <a:buChar char="•"/>
            </a:pPr>
            <a:r>
              <a:rPr lang="fr-FR" sz="1600" dirty="0">
                <a:latin typeface="Arial" charset="0"/>
              </a:rPr>
              <a:t>Vers parasites (</a:t>
            </a:r>
            <a:r>
              <a:rPr lang="fr-FR" sz="1600" i="1" dirty="0">
                <a:latin typeface="Arial" charset="0"/>
              </a:rPr>
              <a:t>éléphantiasis</a:t>
            </a:r>
            <a:r>
              <a:rPr lang="fr-FR" sz="1600" dirty="0">
                <a:latin typeface="Arial" charset="0"/>
              </a:rPr>
              <a:t>)</a:t>
            </a:r>
          </a:p>
          <a:p>
            <a:pPr marL="992188" lvl="3" indent="-182563">
              <a:buFontTx/>
              <a:buChar char="•"/>
            </a:pPr>
            <a:r>
              <a:rPr lang="fr-FR" sz="1600" dirty="0">
                <a:latin typeface="Arial" charset="0"/>
              </a:rPr>
              <a:t>Ablation chirurgicale de vaisseaux lymphatiques (effet temporaire: régénération des vaisseaux lymphatiques)</a:t>
            </a:r>
          </a:p>
          <a:p>
            <a:pPr lvl="1"/>
            <a:endParaRPr lang="fr-CA" dirty="0"/>
          </a:p>
        </p:txBody>
      </p:sp>
      <p:sp>
        <p:nvSpPr>
          <p:cNvPr id="4" name="Slide Number Placeholder 3"/>
          <p:cNvSpPr>
            <a:spLocks noGrp="1"/>
          </p:cNvSpPr>
          <p:nvPr>
            <p:ph type="sldNum" sz="quarter" idx="10"/>
          </p:nvPr>
        </p:nvSpPr>
        <p:spPr/>
        <p:txBody>
          <a:bodyPr/>
          <a:lstStyle/>
          <a:p>
            <a:fld id="{F67DAE2C-E899-4C02-A146-1589C1ADB112}" type="slidenum">
              <a:rPr lang="fr-CA" smtClean="0"/>
              <a:pPr/>
              <a:t>10</a:t>
            </a:fld>
            <a:endParaRPr lang="fr-CA"/>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lvl="1">
              <a:spcBef>
                <a:spcPct val="20000"/>
              </a:spcBef>
            </a:pPr>
            <a:r>
              <a:rPr lang="fr-FR" i="1" dirty="0">
                <a:latin typeface="Arial" charset="0"/>
              </a:rPr>
              <a:t>Lymphœdème</a:t>
            </a:r>
            <a:r>
              <a:rPr lang="fr-FR" dirty="0">
                <a:latin typeface="Arial" charset="0"/>
              </a:rPr>
              <a:t> : œdème localisé causé par un drainage déficient de la lymphe.</a:t>
            </a:r>
            <a:r>
              <a:rPr lang="fr-FR" baseline="0" dirty="0">
                <a:latin typeface="Arial" charset="0"/>
              </a:rPr>
              <a:t> </a:t>
            </a:r>
          </a:p>
          <a:p>
            <a:pPr marL="0" lvl="1">
              <a:spcBef>
                <a:spcPct val="20000"/>
              </a:spcBef>
            </a:pPr>
            <a:r>
              <a:rPr lang="fr-FR" dirty="0">
                <a:latin typeface="Arial" charset="0"/>
              </a:rPr>
              <a:t>Une obstruction à l’écoulement de la lymphe peut avoir plusieurs causes.</a:t>
            </a:r>
          </a:p>
          <a:p>
            <a:pPr marL="0" lvl="1">
              <a:spcBef>
                <a:spcPct val="20000"/>
              </a:spcBef>
            </a:pPr>
            <a:r>
              <a:rPr lang="fr-FR" dirty="0">
                <a:latin typeface="Arial" charset="0"/>
              </a:rPr>
              <a:t>Exemples :</a:t>
            </a:r>
          </a:p>
          <a:p>
            <a:pPr marL="182563" lvl="3" indent="-182563">
              <a:buFontTx/>
              <a:buChar char="•"/>
            </a:pPr>
            <a:r>
              <a:rPr lang="fr-FR" dirty="0">
                <a:latin typeface="Arial" charset="0"/>
              </a:rPr>
              <a:t>Tumeurs</a:t>
            </a:r>
          </a:p>
          <a:p>
            <a:pPr marL="182563" lvl="3" indent="-182563">
              <a:buFontTx/>
              <a:buChar char="•"/>
            </a:pPr>
            <a:r>
              <a:rPr lang="fr-FR" dirty="0">
                <a:latin typeface="Arial" charset="0"/>
              </a:rPr>
              <a:t>Vers parasites (</a:t>
            </a:r>
            <a:r>
              <a:rPr lang="fr-FR" i="1" dirty="0">
                <a:latin typeface="Arial" charset="0"/>
              </a:rPr>
              <a:t>éléphantiasis</a:t>
            </a:r>
            <a:r>
              <a:rPr lang="fr-FR" dirty="0">
                <a:latin typeface="Arial" charset="0"/>
              </a:rPr>
              <a:t>)</a:t>
            </a:r>
          </a:p>
          <a:p>
            <a:pPr marL="182563" lvl="3" indent="-182563">
              <a:buFontTx/>
              <a:buChar char="•"/>
            </a:pPr>
            <a:r>
              <a:rPr lang="fr-FR" dirty="0">
                <a:latin typeface="Arial" charset="0"/>
              </a:rPr>
              <a:t>Ablation chirurgicale de vaisseaux lymphatiques (effet temporaire: régénération des vaisseaux lymphatiques)</a:t>
            </a:r>
          </a:p>
          <a:p>
            <a:pPr lvl="1"/>
            <a:endParaRPr lang="fr-CA" dirty="0"/>
          </a:p>
        </p:txBody>
      </p:sp>
      <p:sp>
        <p:nvSpPr>
          <p:cNvPr id="4" name="Slide Number Placeholder 3"/>
          <p:cNvSpPr>
            <a:spLocks noGrp="1"/>
          </p:cNvSpPr>
          <p:nvPr>
            <p:ph type="sldNum" sz="quarter" idx="10"/>
          </p:nvPr>
        </p:nvSpPr>
        <p:spPr/>
        <p:txBody>
          <a:bodyPr/>
          <a:lstStyle/>
          <a:p>
            <a:fld id="{F67DAE2C-E899-4C02-A146-1589C1ADB112}" type="slidenum">
              <a:rPr lang="fr-CA" smtClean="0"/>
              <a:pPr/>
              <a:t>11</a:t>
            </a:fld>
            <a:endParaRPr lang="fr-CA"/>
          </a:p>
        </p:txBody>
      </p:sp>
    </p:spTree>
    <p:extLst>
      <p:ext uri="{BB962C8B-B14F-4D97-AF65-F5344CB8AC3E}">
        <p14:creationId xmlns:p14="http://schemas.microsoft.com/office/powerpoint/2010/main" val="4230253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F67DAE2C-E899-4C02-A146-1589C1ADB112}" type="slidenum">
              <a:rPr lang="fr-CA" smtClean="0"/>
              <a:pPr/>
              <a:t>12</a:t>
            </a:fld>
            <a:endParaRPr lang="fr-CA"/>
          </a:p>
        </p:txBody>
      </p:sp>
    </p:spTree>
    <p:extLst>
      <p:ext uri="{BB962C8B-B14F-4D97-AF65-F5344CB8AC3E}">
        <p14:creationId xmlns:p14="http://schemas.microsoft.com/office/powerpoint/2010/main" val="3304668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615148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Line 7"/>
          <p:cNvSpPr>
            <a:spLocks noChangeShapeType="1"/>
          </p:cNvSpPr>
          <p:nvPr userDrawn="1"/>
        </p:nvSpPr>
        <p:spPr bwMode="auto">
          <a:xfrm>
            <a:off x="293688" y="149225"/>
            <a:ext cx="8586787"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fr-CA"/>
          </a:p>
        </p:txBody>
      </p:sp>
      <p:sp>
        <p:nvSpPr>
          <p:cNvPr id="7" name="Line 8"/>
          <p:cNvSpPr>
            <a:spLocks noChangeShapeType="1"/>
          </p:cNvSpPr>
          <p:nvPr userDrawn="1"/>
        </p:nvSpPr>
        <p:spPr bwMode="auto">
          <a:xfrm>
            <a:off x="298450" y="182563"/>
            <a:ext cx="8586788" cy="0"/>
          </a:xfrm>
          <a:prstGeom prst="line">
            <a:avLst/>
          </a:prstGeom>
          <a:noFill/>
          <a:ln w="38100">
            <a:solidFill>
              <a:srgbClr val="D9E30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endParaRPr lang="fr-CA"/>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2.wdp"/><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1.jpeg"/><Relationship Id="rId4"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4.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8" name="Text Box 10"/>
          <p:cNvSpPr txBox="1">
            <a:spLocks noChangeArrowheads="1"/>
          </p:cNvSpPr>
          <p:nvPr/>
        </p:nvSpPr>
        <p:spPr bwMode="auto">
          <a:xfrm>
            <a:off x="228600" y="231548"/>
            <a:ext cx="8686800" cy="172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0" bIns="0">
            <a:spAutoFit/>
          </a:bodyPr>
          <a:lstStyle>
            <a:lvl1pPr marL="360363" indent="-360363">
              <a:defRPr sz="2400">
                <a:solidFill>
                  <a:schemeClr val="tx1"/>
                </a:solidFill>
                <a:latin typeface="Times New Roman" pitchFamily="18" charset="0"/>
              </a:defRPr>
            </a:lvl1pPr>
            <a:lvl2pPr marL="1093788" indent="-457200">
              <a:defRPr sz="2400">
                <a:solidFill>
                  <a:schemeClr val="tx1"/>
                </a:solidFill>
                <a:latin typeface="Times New Roman" pitchFamily="18" charset="0"/>
              </a:defRPr>
            </a:lvl2pPr>
            <a:lvl3pPr marL="1730375" indent="-457200">
              <a:defRPr sz="2400">
                <a:solidFill>
                  <a:schemeClr val="tx1"/>
                </a:solidFill>
                <a:latin typeface="Times New Roman" pitchFamily="18" charset="0"/>
              </a:defRPr>
            </a:lvl3pPr>
            <a:lvl4pPr marL="2366963" indent="-457200">
              <a:defRPr sz="2400">
                <a:solidFill>
                  <a:schemeClr val="tx1"/>
                </a:solidFill>
                <a:latin typeface="Times New Roman" pitchFamily="18" charset="0"/>
              </a:defRPr>
            </a:lvl4pPr>
            <a:lvl5pPr marL="3003550" indent="-457200">
              <a:defRPr sz="2400">
                <a:solidFill>
                  <a:schemeClr val="tx1"/>
                </a:solidFill>
                <a:latin typeface="Times New Roman" pitchFamily="18" charset="0"/>
              </a:defRPr>
            </a:lvl5pPr>
            <a:lvl6pPr marL="3460750" indent="-457200" eaLnBrk="0" fontAlgn="base" hangingPunct="0">
              <a:spcBef>
                <a:spcPct val="0"/>
              </a:spcBef>
              <a:spcAft>
                <a:spcPct val="0"/>
              </a:spcAft>
              <a:defRPr sz="2400">
                <a:solidFill>
                  <a:schemeClr val="tx1"/>
                </a:solidFill>
                <a:latin typeface="Times New Roman" pitchFamily="18" charset="0"/>
              </a:defRPr>
            </a:lvl6pPr>
            <a:lvl7pPr marL="3917950" indent="-457200" eaLnBrk="0" fontAlgn="base" hangingPunct="0">
              <a:spcBef>
                <a:spcPct val="0"/>
              </a:spcBef>
              <a:spcAft>
                <a:spcPct val="0"/>
              </a:spcAft>
              <a:defRPr sz="2400">
                <a:solidFill>
                  <a:schemeClr val="tx1"/>
                </a:solidFill>
                <a:latin typeface="Times New Roman" pitchFamily="18" charset="0"/>
              </a:defRPr>
            </a:lvl7pPr>
            <a:lvl8pPr marL="4375150" indent="-457200" eaLnBrk="0" fontAlgn="base" hangingPunct="0">
              <a:spcBef>
                <a:spcPct val="0"/>
              </a:spcBef>
              <a:spcAft>
                <a:spcPct val="0"/>
              </a:spcAft>
              <a:defRPr sz="2400">
                <a:solidFill>
                  <a:schemeClr val="tx1"/>
                </a:solidFill>
                <a:latin typeface="Times New Roman" pitchFamily="18" charset="0"/>
              </a:defRPr>
            </a:lvl8pPr>
            <a:lvl9pPr marL="4832350" indent="-457200" eaLnBrk="0" fontAlgn="base" hangingPunct="0">
              <a:spcBef>
                <a:spcPct val="0"/>
              </a:spcBef>
              <a:spcAft>
                <a:spcPct val="0"/>
              </a:spcAft>
              <a:defRPr sz="2400">
                <a:solidFill>
                  <a:schemeClr val="tx1"/>
                </a:solidFill>
                <a:latin typeface="Times New Roman" pitchFamily="18" charset="0"/>
              </a:defRPr>
            </a:lvl9pPr>
          </a:lstStyle>
          <a:p>
            <a:pPr algn="ctr"/>
            <a:r>
              <a:rPr lang="en-US" sz="4000" dirty="0">
                <a:solidFill>
                  <a:srgbClr val="0000FF"/>
                </a:solidFill>
                <a:latin typeface="Arial" charset="0"/>
              </a:rPr>
              <a:t>Section 7</a:t>
            </a:r>
          </a:p>
          <a:p>
            <a:pPr algn="ctr">
              <a:spcBef>
                <a:spcPts val="0"/>
              </a:spcBef>
            </a:pPr>
            <a:r>
              <a:rPr lang="fr-FR" sz="4000" b="1" dirty="0">
                <a:solidFill>
                  <a:srgbClr val="0000FF"/>
                </a:solidFill>
                <a:latin typeface="Arial" charset="0"/>
              </a:rPr>
              <a:t>Le système lymphatique</a:t>
            </a:r>
            <a:endParaRPr lang="fr-FR" sz="4000" dirty="0">
              <a:solidFill>
                <a:srgbClr val="0000FF"/>
              </a:solidFill>
              <a:latin typeface="Arial" charset="0"/>
            </a:endParaRPr>
          </a:p>
          <a:p>
            <a:pPr algn="ctr"/>
            <a:r>
              <a:rPr lang="fr-FR" sz="3200" dirty="0">
                <a:solidFill>
                  <a:srgbClr val="0000FF"/>
                </a:solidFill>
                <a:latin typeface="Arial" charset="0"/>
              </a:rPr>
              <a:t>(Chapitre 20)</a:t>
            </a:r>
          </a:p>
        </p:txBody>
      </p:sp>
      <p:pic>
        <p:nvPicPr>
          <p:cNvPr id="4" name="Picture 2" descr="figure_20_02a_unlabeled"/>
          <p:cNvPicPr>
            <a:picLocks noChangeAspect="1" noChangeArrowheads="1"/>
          </p:cNvPicPr>
          <p:nvPr/>
        </p:nvPicPr>
        <p:blipFill rotWithShape="1">
          <a:blip r:embed="rId2" cstate="print">
            <a:extLst>
              <a:ext uri="{BEBA8EAE-BF5A-486C-A8C5-ECC9F3942E4B}">
                <a14:imgProps xmlns:a14="http://schemas.microsoft.com/office/drawing/2010/main">
                  <a14:imgLayer r:embed="rId3">
                    <a14:imgEffect>
                      <a14:colorTemperature colorTemp="11500"/>
                    </a14:imgEffect>
                  </a14:imgLayer>
                </a14:imgProps>
              </a:ext>
              <a:ext uri="{28A0092B-C50C-407E-A947-70E740481C1C}">
                <a14:useLocalDpi xmlns:a14="http://schemas.microsoft.com/office/drawing/2010/main" val="0"/>
              </a:ext>
            </a:extLst>
          </a:blip>
          <a:srcRect t="-1"/>
          <a:stretch/>
        </p:blipFill>
        <p:spPr bwMode="auto">
          <a:xfrm>
            <a:off x="2989994" y="2090361"/>
            <a:ext cx="3240986" cy="4727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2" name="Text Box 4"/>
          <p:cNvSpPr txBox="1">
            <a:spLocks noChangeArrowheads="1"/>
          </p:cNvSpPr>
          <p:nvPr/>
        </p:nvSpPr>
        <p:spPr bwMode="auto">
          <a:xfrm>
            <a:off x="765324" y="1082344"/>
            <a:ext cx="8249316" cy="4814643"/>
          </a:xfrm>
          <a:prstGeom prst="rect">
            <a:avLst/>
          </a:prstGeom>
          <a:noFill/>
          <a:ln w="9525">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36000" tIns="82800" rIns="36000" bIns="82800">
            <a:spAutoFit/>
          </a:bodyPr>
          <a:lstStyle>
            <a:lvl1pPr marL="274638" indent="-274638">
              <a:defRPr sz="2400">
                <a:solidFill>
                  <a:schemeClr val="tx1"/>
                </a:solidFill>
                <a:latin typeface="Times New Roman" pitchFamily="18" charset="0"/>
              </a:defRPr>
            </a:lvl1pPr>
            <a:lvl2pPr marL="801688" indent="-347663">
              <a:defRPr sz="2400">
                <a:solidFill>
                  <a:schemeClr val="tx1"/>
                </a:solidFill>
                <a:latin typeface="Times New Roman" pitchFamily="18" charset="0"/>
              </a:defRPr>
            </a:lvl2pPr>
            <a:lvl3pPr marL="1974850" indent="-495300">
              <a:defRPr sz="2400">
                <a:solidFill>
                  <a:schemeClr val="tx1"/>
                </a:solidFill>
                <a:latin typeface="Times New Roman" pitchFamily="18" charset="0"/>
              </a:defRPr>
            </a:lvl3pPr>
            <a:lvl4pPr marL="2649538" indent="-495300">
              <a:defRPr sz="2400">
                <a:solidFill>
                  <a:schemeClr val="tx1"/>
                </a:solidFill>
                <a:latin typeface="Times New Roman" pitchFamily="18" charset="0"/>
              </a:defRPr>
            </a:lvl4pPr>
            <a:lvl5pPr marL="3324225" indent="-495300">
              <a:defRPr sz="2400">
                <a:solidFill>
                  <a:schemeClr val="tx1"/>
                </a:solidFill>
                <a:latin typeface="Times New Roman" pitchFamily="18" charset="0"/>
              </a:defRPr>
            </a:lvl5pPr>
            <a:lvl6pPr marL="3781425" indent="-495300" eaLnBrk="0" fontAlgn="base" hangingPunct="0">
              <a:spcBef>
                <a:spcPct val="0"/>
              </a:spcBef>
              <a:spcAft>
                <a:spcPct val="0"/>
              </a:spcAft>
              <a:defRPr sz="2400">
                <a:solidFill>
                  <a:schemeClr val="tx1"/>
                </a:solidFill>
                <a:latin typeface="Times New Roman" pitchFamily="18" charset="0"/>
              </a:defRPr>
            </a:lvl6pPr>
            <a:lvl7pPr marL="4238625" indent="-495300" eaLnBrk="0" fontAlgn="base" hangingPunct="0">
              <a:spcBef>
                <a:spcPct val="0"/>
              </a:spcBef>
              <a:spcAft>
                <a:spcPct val="0"/>
              </a:spcAft>
              <a:defRPr sz="2400">
                <a:solidFill>
                  <a:schemeClr val="tx1"/>
                </a:solidFill>
                <a:latin typeface="Times New Roman" pitchFamily="18" charset="0"/>
              </a:defRPr>
            </a:lvl7pPr>
            <a:lvl8pPr marL="4695825" indent="-495300" eaLnBrk="0" fontAlgn="base" hangingPunct="0">
              <a:spcBef>
                <a:spcPct val="0"/>
              </a:spcBef>
              <a:spcAft>
                <a:spcPct val="0"/>
              </a:spcAft>
              <a:defRPr sz="2400">
                <a:solidFill>
                  <a:schemeClr val="tx1"/>
                </a:solidFill>
                <a:latin typeface="Times New Roman" pitchFamily="18" charset="0"/>
              </a:defRPr>
            </a:lvl8pPr>
            <a:lvl9pPr marL="5153025" indent="-495300" eaLnBrk="0" fontAlgn="base" hangingPunct="0">
              <a:spcBef>
                <a:spcPct val="0"/>
              </a:spcBef>
              <a:spcAft>
                <a:spcPct val="0"/>
              </a:spcAft>
              <a:defRPr sz="2400">
                <a:solidFill>
                  <a:schemeClr val="tx1"/>
                </a:solidFill>
                <a:latin typeface="Times New Roman" pitchFamily="18" charset="0"/>
              </a:defRPr>
            </a:lvl9pPr>
          </a:lstStyle>
          <a:p>
            <a:pPr marL="182563" indent="-182563">
              <a:lnSpc>
                <a:spcPct val="75000"/>
              </a:lnSpc>
              <a:spcBef>
                <a:spcPct val="50000"/>
              </a:spcBef>
            </a:pPr>
            <a:r>
              <a:rPr lang="fr-FR" sz="1800" u="sng" dirty="0">
                <a:latin typeface="Arial" charset="0"/>
              </a:rPr>
              <a:t>Principales fonctions du système lymphatique</a:t>
            </a:r>
            <a:r>
              <a:rPr lang="fr-FR" sz="1800" dirty="0">
                <a:latin typeface="Arial" charset="0"/>
              </a:rPr>
              <a:t> :</a:t>
            </a:r>
          </a:p>
          <a:p>
            <a:pPr marL="352425" lvl="1" indent="-352425">
              <a:spcBef>
                <a:spcPts val="600"/>
              </a:spcBef>
              <a:buFontTx/>
              <a:buAutoNum type="romanLcPeriod"/>
            </a:pPr>
            <a:r>
              <a:rPr lang="fr-FR" sz="1600" b="1" i="1" dirty="0">
                <a:latin typeface="Arial" charset="0"/>
              </a:rPr>
              <a:t>Drainer le surplus de liquide interstitiel </a:t>
            </a:r>
            <a:r>
              <a:rPr lang="fr-FR" sz="1600" b="1" dirty="0">
                <a:latin typeface="Arial" charset="0"/>
              </a:rPr>
              <a:t>:</a:t>
            </a:r>
            <a:r>
              <a:rPr lang="fr-FR" sz="1600" dirty="0">
                <a:latin typeface="Arial" charset="0"/>
              </a:rPr>
              <a:t> quelque 3 L</a:t>
            </a:r>
            <a:r>
              <a:rPr lang="fr-FR" sz="1600" dirty="0">
                <a:latin typeface="Arial" charset="0"/>
                <a:cs typeface="Arial" charset="0"/>
              </a:rPr>
              <a:t>/jour de liquide interstitiel sont récupérés par les vaisseaux lymphatiques </a:t>
            </a:r>
            <a:r>
              <a:rPr lang="fr-FR" sz="1600" dirty="0">
                <a:latin typeface="Arial" charset="0"/>
              </a:rPr>
              <a:t>et retournés au sang.</a:t>
            </a:r>
          </a:p>
          <a:p>
            <a:pPr marL="352425" lvl="1" indent="-352425">
              <a:spcBef>
                <a:spcPts val="600"/>
              </a:spcBef>
              <a:buFontTx/>
              <a:buAutoNum type="romanLcPeriod"/>
            </a:pPr>
            <a:r>
              <a:rPr lang="fr-CA" sz="1600" b="1" i="1" dirty="0">
                <a:latin typeface="Arial" charset="0"/>
              </a:rPr>
              <a:t>Retourner au sang les protéines qui s’échappent des capillaires sanguins </a:t>
            </a:r>
            <a:r>
              <a:rPr lang="fr-CA" sz="1600" b="1" dirty="0">
                <a:latin typeface="Arial" charset="0"/>
              </a:rPr>
              <a:t>:</a:t>
            </a:r>
            <a:r>
              <a:rPr lang="fr-CA" sz="1600" b="1" i="1" dirty="0">
                <a:latin typeface="Arial" charset="0"/>
              </a:rPr>
              <a:t> </a:t>
            </a:r>
            <a:r>
              <a:rPr lang="fr-CA" sz="1600" dirty="0">
                <a:latin typeface="Arial" charset="0"/>
              </a:rPr>
              <a:t>la paroi des capillaires sanguins n’est pas complètement étanche aux protéines plasmiques, qui se retrouvent alors dans le liquide interstitiel mais qui sont aussi récupérées par les vaisseaux lymphatiques. Cette fonction de  récupération des protéines est essentielle. Sans elle, nous mourrions en quelque 24 heures seulement !</a:t>
            </a:r>
            <a:endParaRPr lang="fr-FR" sz="1600" dirty="0">
              <a:latin typeface="Arial" charset="0"/>
            </a:endParaRPr>
          </a:p>
          <a:p>
            <a:pPr marL="352425" lvl="1" indent="-352425">
              <a:spcBef>
                <a:spcPts val="600"/>
              </a:spcBef>
              <a:buFontTx/>
              <a:buAutoNum type="romanLcPeriod"/>
            </a:pPr>
            <a:r>
              <a:rPr lang="fr-FR" sz="1600" b="1" i="1" dirty="0">
                <a:latin typeface="Arial" charset="0"/>
              </a:rPr>
              <a:t>Transporter les lipides alimentaires </a:t>
            </a:r>
            <a:r>
              <a:rPr lang="fr-FR" sz="1600" b="1" dirty="0">
                <a:latin typeface="Arial" charset="0"/>
              </a:rPr>
              <a:t>:</a:t>
            </a:r>
            <a:r>
              <a:rPr lang="fr-FR" sz="1600" b="1" i="1" dirty="0">
                <a:latin typeface="Arial" charset="0"/>
              </a:rPr>
              <a:t> </a:t>
            </a:r>
            <a:r>
              <a:rPr lang="fr-FR" sz="1600" dirty="0">
                <a:latin typeface="Arial" charset="0"/>
              </a:rPr>
              <a:t>les vaisseaux lymphatiques transportent jusque dans le sang les lipides absorbés dans le système digestif.</a:t>
            </a:r>
          </a:p>
          <a:p>
            <a:pPr marL="352425" lvl="1" indent="-352425">
              <a:spcBef>
                <a:spcPts val="600"/>
              </a:spcBef>
              <a:buFontTx/>
              <a:buAutoNum type="romanLcPeriod"/>
            </a:pPr>
            <a:r>
              <a:rPr lang="fr-FR" sz="1600" b="1" i="1" dirty="0">
                <a:latin typeface="Arial" charset="0"/>
              </a:rPr>
              <a:t>Assurer les réponses immunitaires </a:t>
            </a:r>
            <a:r>
              <a:rPr lang="fr-FR" sz="1600" b="1" dirty="0">
                <a:latin typeface="Arial" charset="0"/>
              </a:rPr>
              <a:t>: </a:t>
            </a:r>
            <a:r>
              <a:rPr lang="fr-FR" sz="1600" dirty="0">
                <a:latin typeface="Arial" charset="0"/>
              </a:rPr>
              <a:t>les tissus lymphoïdes sont à l’origine des réponses spécifiques qui permettent à l’organisme de se défendre et de résister aux agents infectieux.</a:t>
            </a:r>
          </a:p>
          <a:p>
            <a:pPr>
              <a:spcBef>
                <a:spcPts val="600"/>
              </a:spcBef>
            </a:pPr>
            <a:r>
              <a:rPr lang="fr-FR" sz="1800" u="sng" dirty="0">
                <a:latin typeface="Arial" charset="0"/>
              </a:rPr>
              <a:t>2 parties majeures</a:t>
            </a:r>
            <a:r>
              <a:rPr lang="fr-FR" sz="1800" dirty="0">
                <a:latin typeface="Arial" charset="0"/>
              </a:rPr>
              <a:t> : </a:t>
            </a:r>
          </a:p>
          <a:p>
            <a:pPr marL="352425" lvl="1" indent="-352425">
              <a:spcBef>
                <a:spcPts val="600"/>
              </a:spcBef>
              <a:buFontTx/>
              <a:buAutoNum type="romanLcPeriod"/>
            </a:pPr>
            <a:r>
              <a:rPr lang="fr-FR" sz="1800" b="1" dirty="0">
                <a:latin typeface="Arial" charset="0"/>
              </a:rPr>
              <a:t>Les vaisseaux lymphatiques </a:t>
            </a:r>
          </a:p>
          <a:p>
            <a:pPr marL="352425" lvl="1" indent="-352425">
              <a:spcBef>
                <a:spcPts val="600"/>
              </a:spcBef>
              <a:buFontTx/>
              <a:buAutoNum type="romanLcPeriod"/>
            </a:pPr>
            <a:r>
              <a:rPr lang="fr-FR" sz="1800" b="1" dirty="0">
                <a:latin typeface="Arial" charset="0"/>
              </a:rPr>
              <a:t>Les tissus et organes lymphoïdes</a:t>
            </a:r>
            <a:endParaRPr lang="fr-FR" sz="1800" dirty="0">
              <a:solidFill>
                <a:srgbClr val="336699"/>
              </a:solidFill>
              <a:latin typeface="Arial" charset="0"/>
            </a:endParaRPr>
          </a:p>
        </p:txBody>
      </p:sp>
      <p:sp>
        <p:nvSpPr>
          <p:cNvPr id="109577" name="Text Box 9"/>
          <p:cNvSpPr txBox="1">
            <a:spLocks noChangeArrowheads="1"/>
          </p:cNvSpPr>
          <p:nvPr/>
        </p:nvSpPr>
        <p:spPr bwMode="auto">
          <a:xfrm>
            <a:off x="185530" y="222632"/>
            <a:ext cx="8991600" cy="76944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33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533400" indent="-533400">
              <a:defRPr sz="2400">
                <a:solidFill>
                  <a:schemeClr val="tx1"/>
                </a:solidFill>
                <a:latin typeface="Times New Roman" pitchFamily="18" charset="0"/>
              </a:defRPr>
            </a:lvl1pPr>
            <a:lvl2pPr marL="712788">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r>
              <a:rPr lang="en-US" sz="2200" b="1" dirty="0">
                <a:solidFill>
                  <a:srgbClr val="0000CC"/>
                </a:solidFill>
                <a:latin typeface="Arial" charset="0"/>
              </a:rPr>
              <a:t>7.1</a:t>
            </a:r>
            <a:r>
              <a:rPr lang="en-US" sz="2200" b="1" i="1" dirty="0">
                <a:solidFill>
                  <a:srgbClr val="0000CC"/>
                </a:solidFill>
                <a:latin typeface="Arial" charset="0"/>
              </a:rPr>
              <a:t>	</a:t>
            </a:r>
            <a:r>
              <a:rPr lang="fr-FR" sz="2200" b="1" dirty="0">
                <a:solidFill>
                  <a:srgbClr val="0000CC"/>
                </a:solidFill>
                <a:latin typeface="Arial" charset="0"/>
              </a:rPr>
              <a:t>Décrire les principales fonctions du système lymphatique ainsi que l’origine et la circulation de la lymphe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1458" y="260090"/>
            <a:ext cx="8266194" cy="2400657"/>
          </a:xfrm>
          <a:prstGeom prst="rect">
            <a:avLst/>
          </a:prstGeom>
        </p:spPr>
        <p:txBody>
          <a:bodyPr wrap="square">
            <a:spAutoFit/>
          </a:bodyPr>
          <a:lstStyle/>
          <a:p>
            <a:r>
              <a:rPr lang="fr-CA" sz="2000" b="1" u="sng" dirty="0"/>
              <a:t>La lymphe</a:t>
            </a:r>
          </a:p>
          <a:p>
            <a:pPr marL="176213" indent="-176213">
              <a:spcBef>
                <a:spcPts val="1200"/>
              </a:spcBef>
              <a:buFont typeface="Arial" panose="020B0604020202020204" pitchFamily="34" charset="0"/>
              <a:buChar char="•"/>
            </a:pPr>
            <a:r>
              <a:rPr lang="fr-CA" sz="1600" dirty="0"/>
              <a:t>La lymphe est le liquide interstitiel une fois entré dans les vaisseaux lymphatiques.</a:t>
            </a:r>
          </a:p>
          <a:p>
            <a:pPr marL="176213" indent="-176213">
              <a:spcBef>
                <a:spcPts val="1200"/>
              </a:spcBef>
              <a:buFont typeface="Arial" panose="020B0604020202020204" pitchFamily="34" charset="0"/>
              <a:buChar char="•"/>
            </a:pPr>
            <a:r>
              <a:rPr lang="fr-CA" sz="1600" dirty="0"/>
              <a:t>Elle a une composition presque identique à celle du liquide interstitiel, lequel est capté par les </a:t>
            </a:r>
            <a:r>
              <a:rPr lang="fr-CA" sz="1600" b="1" dirty="0"/>
              <a:t>capillaires lymphatiques</a:t>
            </a:r>
            <a:r>
              <a:rPr lang="fr-CA" sz="1600" dirty="0"/>
              <a:t> présents dans les lits capillaires de la majorité des tissus.</a:t>
            </a:r>
          </a:p>
          <a:p>
            <a:pPr marL="176213" indent="-176213">
              <a:spcBef>
                <a:spcPts val="1200"/>
              </a:spcBef>
              <a:buFont typeface="Arial" panose="020B0604020202020204" pitchFamily="34" charset="0"/>
              <a:buChar char="•"/>
            </a:pPr>
            <a:r>
              <a:rPr lang="fr-CA" sz="1600" dirty="0"/>
              <a:t>La lymphe circule à sens unique et se déverse dans la circulation veineuse à la jonction des veines jugulaire interne et subclavière.</a:t>
            </a:r>
          </a:p>
        </p:txBody>
      </p:sp>
    </p:spTree>
    <p:extLst>
      <p:ext uri="{BB962C8B-B14F-4D97-AF65-F5344CB8AC3E}">
        <p14:creationId xmlns:p14="http://schemas.microsoft.com/office/powerpoint/2010/main" val="27764891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80" name="Text Box 16"/>
          <p:cNvSpPr txBox="1">
            <a:spLocks noChangeArrowheads="1"/>
          </p:cNvSpPr>
          <p:nvPr/>
        </p:nvSpPr>
        <p:spPr bwMode="auto">
          <a:xfrm>
            <a:off x="317894" y="3528841"/>
            <a:ext cx="5241394" cy="275268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defTabSz="244475">
              <a:defRPr sz="2400">
                <a:solidFill>
                  <a:schemeClr val="tx1"/>
                </a:solidFill>
                <a:latin typeface="Times New Roman" pitchFamily="18" charset="0"/>
              </a:defRPr>
            </a:lvl1pPr>
            <a:lvl2pPr marL="350838" indent="-171450" defTabSz="244475">
              <a:defRPr sz="2400">
                <a:solidFill>
                  <a:schemeClr val="tx1"/>
                </a:solidFill>
                <a:latin typeface="Times New Roman" pitchFamily="18" charset="0"/>
              </a:defRPr>
            </a:lvl2pPr>
            <a:lvl3pPr marL="715963" indent="-185738" defTabSz="244475">
              <a:defRPr sz="2400">
                <a:solidFill>
                  <a:schemeClr val="tx1"/>
                </a:solidFill>
                <a:latin typeface="Times New Roman" pitchFamily="18" charset="0"/>
              </a:defRPr>
            </a:lvl3pPr>
            <a:lvl4pPr marL="2465388" indent="-495300" defTabSz="244475">
              <a:defRPr sz="2400">
                <a:solidFill>
                  <a:schemeClr val="tx1"/>
                </a:solidFill>
                <a:latin typeface="Times New Roman" pitchFamily="18" charset="0"/>
              </a:defRPr>
            </a:lvl4pPr>
            <a:lvl5pPr marL="3140075" indent="-495300" defTabSz="244475">
              <a:defRPr sz="2400">
                <a:solidFill>
                  <a:schemeClr val="tx1"/>
                </a:solidFill>
                <a:latin typeface="Times New Roman" pitchFamily="18" charset="0"/>
              </a:defRPr>
            </a:lvl5pPr>
            <a:lvl6pPr marL="3597275" indent="-495300" defTabSz="244475" eaLnBrk="0" fontAlgn="base" hangingPunct="0">
              <a:spcBef>
                <a:spcPct val="0"/>
              </a:spcBef>
              <a:spcAft>
                <a:spcPct val="0"/>
              </a:spcAft>
              <a:defRPr sz="2400">
                <a:solidFill>
                  <a:schemeClr val="tx1"/>
                </a:solidFill>
                <a:latin typeface="Times New Roman" pitchFamily="18" charset="0"/>
              </a:defRPr>
            </a:lvl6pPr>
            <a:lvl7pPr marL="4054475" indent="-495300" defTabSz="244475" eaLnBrk="0" fontAlgn="base" hangingPunct="0">
              <a:spcBef>
                <a:spcPct val="0"/>
              </a:spcBef>
              <a:spcAft>
                <a:spcPct val="0"/>
              </a:spcAft>
              <a:defRPr sz="2400">
                <a:solidFill>
                  <a:schemeClr val="tx1"/>
                </a:solidFill>
                <a:latin typeface="Times New Roman" pitchFamily="18" charset="0"/>
              </a:defRPr>
            </a:lvl7pPr>
            <a:lvl8pPr marL="4511675" indent="-495300" defTabSz="244475" eaLnBrk="0" fontAlgn="base" hangingPunct="0">
              <a:spcBef>
                <a:spcPct val="0"/>
              </a:spcBef>
              <a:spcAft>
                <a:spcPct val="0"/>
              </a:spcAft>
              <a:defRPr sz="2400">
                <a:solidFill>
                  <a:schemeClr val="tx1"/>
                </a:solidFill>
                <a:latin typeface="Times New Roman" pitchFamily="18" charset="0"/>
              </a:defRPr>
            </a:lvl8pPr>
            <a:lvl9pPr marL="4968875" indent="-495300" defTabSz="244475" eaLnBrk="0" fontAlgn="base" hangingPunct="0">
              <a:spcBef>
                <a:spcPct val="0"/>
              </a:spcBef>
              <a:spcAft>
                <a:spcPct val="0"/>
              </a:spcAft>
              <a:defRPr sz="2400">
                <a:solidFill>
                  <a:schemeClr val="tx1"/>
                </a:solidFill>
                <a:latin typeface="Times New Roman" pitchFamily="18" charset="0"/>
              </a:defRPr>
            </a:lvl9pPr>
          </a:lstStyle>
          <a:p>
            <a:pPr marL="0" lvl="1" indent="0">
              <a:spcBef>
                <a:spcPts val="300"/>
              </a:spcBef>
            </a:pPr>
            <a:r>
              <a:rPr lang="fr-FR" sz="1400" dirty="0">
                <a:latin typeface="Arial" charset="0"/>
              </a:rPr>
              <a:t>Les vaisseaux lymphatiques prennent naissance dans les </a:t>
            </a:r>
            <a:r>
              <a:rPr lang="fr-FR" sz="1400" b="1" i="1" u="sng" dirty="0">
                <a:solidFill>
                  <a:srgbClr val="008000"/>
                </a:solidFill>
                <a:latin typeface="Arial" charset="0"/>
              </a:rPr>
              <a:t>capillaires lymphatiques</a:t>
            </a:r>
            <a:r>
              <a:rPr lang="fr-FR" sz="1400" dirty="0">
                <a:latin typeface="Arial" charset="0"/>
              </a:rPr>
              <a:t>, qui sont similaires au capillaires sanguins avec les spécificités suivantes :</a:t>
            </a:r>
          </a:p>
          <a:p>
            <a:pPr marL="179388" lvl="2" indent="-179388">
              <a:spcBef>
                <a:spcPts val="300"/>
              </a:spcBef>
              <a:buFont typeface="Arial" charset="0"/>
              <a:buChar char="–"/>
            </a:pPr>
            <a:r>
              <a:rPr lang="fr-FR" sz="1400" dirty="0">
                <a:latin typeface="Arial" charset="0"/>
              </a:rPr>
              <a:t>Beaucoup plus perméables que les capillaires sanguins.</a:t>
            </a:r>
          </a:p>
          <a:p>
            <a:pPr marL="179388" lvl="2" indent="0">
              <a:spcBef>
                <a:spcPts val="0"/>
              </a:spcBef>
            </a:pPr>
            <a:r>
              <a:rPr lang="fr-CA" sz="1400" dirty="0">
                <a:latin typeface="Arial" charset="0"/>
              </a:rPr>
              <a:t>Ils permettent le passage de tous les constituants du liquide interstitiel, y compris les grosses protéines, débris cellulaires, agents pathogènes (virus, bactéries).</a:t>
            </a:r>
            <a:endParaRPr lang="fr-FR" sz="1400" dirty="0">
              <a:latin typeface="Arial" charset="0"/>
            </a:endParaRPr>
          </a:p>
          <a:p>
            <a:pPr marL="179388" lvl="2" indent="-179388">
              <a:spcBef>
                <a:spcPts val="300"/>
              </a:spcBef>
              <a:buFont typeface="Arial" charset="0"/>
              <a:buChar char="–"/>
            </a:pPr>
            <a:r>
              <a:rPr lang="fr-FR" sz="1400" dirty="0">
                <a:latin typeface="Arial" charset="0"/>
              </a:rPr>
              <a:t>Vaisseaux en cul-de-sac.</a:t>
            </a:r>
          </a:p>
          <a:p>
            <a:pPr marL="179388" lvl="2" indent="0">
              <a:spcBef>
                <a:spcPts val="0"/>
              </a:spcBef>
            </a:pPr>
            <a:r>
              <a:rPr lang="fr-CA" sz="1400" dirty="0">
                <a:latin typeface="Arial" charset="0"/>
              </a:rPr>
              <a:t>Ils constituent le site d’entrée du liquide interstitiel dans la circulation lymphatique. Une fois à l’intérieur d’un capillaire lymphatique, le liquide ne peut que difficilement retourner dans l’espace interstitiel.</a:t>
            </a:r>
            <a:endParaRPr lang="fr-FR" sz="1400" dirty="0">
              <a:latin typeface="Arial" charset="0"/>
            </a:endParaRPr>
          </a:p>
        </p:txBody>
      </p:sp>
      <p:pic>
        <p:nvPicPr>
          <p:cNvPr id="3" name="Picture 2" descr="Diagram&#10;&#10;Description automatically generated">
            <a:extLst>
              <a:ext uri="{FF2B5EF4-FFF2-40B4-BE49-F238E27FC236}">
                <a16:creationId xmlns:a16="http://schemas.microsoft.com/office/drawing/2014/main" id="{58E0ACC7-6693-4FFF-BB5B-CFF6809024A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807760" y="958621"/>
            <a:ext cx="3089897" cy="5296405"/>
          </a:xfrm>
          <a:prstGeom prst="rect">
            <a:avLst/>
          </a:prstGeom>
        </p:spPr>
      </p:pic>
      <p:pic>
        <p:nvPicPr>
          <p:cNvPr id="2" name="Picture 2" descr="figure_20_02a_unlabeled">
            <a:extLst>
              <a:ext uri="{FF2B5EF4-FFF2-40B4-BE49-F238E27FC236}">
                <a16:creationId xmlns:a16="http://schemas.microsoft.com/office/drawing/2014/main" id="{EB819685-ED15-478A-86D0-60EC59B945C7}"/>
              </a:ext>
            </a:extLst>
          </p:cNvPr>
          <p:cNvPicPr>
            <a:picLocks noChangeAspect="1" noChangeArrowheads="1"/>
          </p:cNvPicPr>
          <p:nvPr/>
        </p:nvPicPr>
        <p:blipFill rotWithShape="1">
          <a:blip r:embed="rId4" cstate="print">
            <a:extLst>
              <a:ext uri="{BEBA8EAE-BF5A-486C-A8C5-ECC9F3942E4B}">
                <a14:imgProps xmlns:a14="http://schemas.microsoft.com/office/drawing/2010/main">
                  <a14:imgLayer r:embed="rId5">
                    <a14:imgEffect>
                      <a14:colorTemperature colorTemp="11500"/>
                    </a14:imgEffect>
                  </a14:imgLayer>
                </a14:imgProps>
              </a:ext>
              <a:ext uri="{28A0092B-C50C-407E-A947-70E740481C1C}">
                <a14:useLocalDpi xmlns:a14="http://schemas.microsoft.com/office/drawing/2010/main" val="0"/>
              </a:ext>
            </a:extLst>
          </a:blip>
          <a:srcRect t="-1"/>
          <a:stretch/>
        </p:blipFill>
        <p:spPr bwMode="auto">
          <a:xfrm>
            <a:off x="3669041" y="794680"/>
            <a:ext cx="1805917" cy="2634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16">
            <a:extLst>
              <a:ext uri="{FF2B5EF4-FFF2-40B4-BE49-F238E27FC236}">
                <a16:creationId xmlns:a16="http://schemas.microsoft.com/office/drawing/2014/main" id="{79998893-98A7-4693-8F50-FF9D20A195AE}"/>
              </a:ext>
            </a:extLst>
          </p:cNvPr>
          <p:cNvSpPr txBox="1">
            <a:spLocks noChangeArrowheads="1"/>
          </p:cNvSpPr>
          <p:nvPr/>
        </p:nvSpPr>
        <p:spPr bwMode="auto">
          <a:xfrm>
            <a:off x="188217" y="220515"/>
            <a:ext cx="4337400" cy="57416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defTabSz="244475">
              <a:defRPr sz="2400">
                <a:solidFill>
                  <a:schemeClr val="tx1"/>
                </a:solidFill>
                <a:latin typeface="Times New Roman" pitchFamily="18" charset="0"/>
              </a:defRPr>
            </a:lvl1pPr>
            <a:lvl2pPr marL="350838" indent="-171450" defTabSz="244475">
              <a:defRPr sz="2400">
                <a:solidFill>
                  <a:schemeClr val="tx1"/>
                </a:solidFill>
                <a:latin typeface="Times New Roman" pitchFamily="18" charset="0"/>
              </a:defRPr>
            </a:lvl2pPr>
            <a:lvl3pPr marL="715963" indent="-185738" defTabSz="244475">
              <a:defRPr sz="2400">
                <a:solidFill>
                  <a:schemeClr val="tx1"/>
                </a:solidFill>
                <a:latin typeface="Times New Roman" pitchFamily="18" charset="0"/>
              </a:defRPr>
            </a:lvl3pPr>
            <a:lvl4pPr marL="2465388" indent="-495300" defTabSz="244475">
              <a:defRPr sz="2400">
                <a:solidFill>
                  <a:schemeClr val="tx1"/>
                </a:solidFill>
                <a:latin typeface="Times New Roman" pitchFamily="18" charset="0"/>
              </a:defRPr>
            </a:lvl4pPr>
            <a:lvl5pPr marL="3140075" indent="-495300" defTabSz="244475">
              <a:defRPr sz="2400">
                <a:solidFill>
                  <a:schemeClr val="tx1"/>
                </a:solidFill>
                <a:latin typeface="Times New Roman" pitchFamily="18" charset="0"/>
              </a:defRPr>
            </a:lvl5pPr>
            <a:lvl6pPr marL="3597275" indent="-495300" defTabSz="244475" eaLnBrk="0" fontAlgn="base" hangingPunct="0">
              <a:spcBef>
                <a:spcPct val="0"/>
              </a:spcBef>
              <a:spcAft>
                <a:spcPct val="0"/>
              </a:spcAft>
              <a:defRPr sz="2400">
                <a:solidFill>
                  <a:schemeClr val="tx1"/>
                </a:solidFill>
                <a:latin typeface="Times New Roman" pitchFamily="18" charset="0"/>
              </a:defRPr>
            </a:lvl6pPr>
            <a:lvl7pPr marL="4054475" indent="-495300" defTabSz="244475" eaLnBrk="0" fontAlgn="base" hangingPunct="0">
              <a:spcBef>
                <a:spcPct val="0"/>
              </a:spcBef>
              <a:spcAft>
                <a:spcPct val="0"/>
              </a:spcAft>
              <a:defRPr sz="2400">
                <a:solidFill>
                  <a:schemeClr val="tx1"/>
                </a:solidFill>
                <a:latin typeface="Times New Roman" pitchFamily="18" charset="0"/>
              </a:defRPr>
            </a:lvl7pPr>
            <a:lvl8pPr marL="4511675" indent="-495300" defTabSz="244475" eaLnBrk="0" fontAlgn="base" hangingPunct="0">
              <a:spcBef>
                <a:spcPct val="0"/>
              </a:spcBef>
              <a:spcAft>
                <a:spcPct val="0"/>
              </a:spcAft>
              <a:defRPr sz="2400">
                <a:solidFill>
                  <a:schemeClr val="tx1"/>
                </a:solidFill>
                <a:latin typeface="Times New Roman" pitchFamily="18" charset="0"/>
              </a:defRPr>
            </a:lvl8pPr>
            <a:lvl9pPr marL="4968875" indent="-495300" defTabSz="244475" eaLnBrk="0" fontAlgn="base" hangingPunct="0">
              <a:spcBef>
                <a:spcPct val="0"/>
              </a:spcBef>
              <a:spcAft>
                <a:spcPct val="0"/>
              </a:spcAft>
              <a:defRPr sz="2400">
                <a:solidFill>
                  <a:schemeClr val="tx1"/>
                </a:solidFill>
                <a:latin typeface="Times New Roman" pitchFamily="18" charset="0"/>
              </a:defRPr>
            </a:lvl9pPr>
          </a:lstStyle>
          <a:p>
            <a:pPr>
              <a:spcAft>
                <a:spcPts val="600"/>
              </a:spcAft>
            </a:pPr>
            <a:r>
              <a:rPr lang="fr-FR" b="1" u="sng" dirty="0">
                <a:latin typeface="Arial" charset="0"/>
              </a:rPr>
              <a:t>Les vaisseaux lymphatiques</a:t>
            </a:r>
            <a:endParaRPr lang="fr-FR" u="sng" dirty="0">
              <a:latin typeface="Arial" charset="0"/>
            </a:endParaRPr>
          </a:p>
        </p:txBody>
      </p:sp>
      <p:sp>
        <p:nvSpPr>
          <p:cNvPr id="8" name="TextBox 7">
            <a:extLst>
              <a:ext uri="{FF2B5EF4-FFF2-40B4-BE49-F238E27FC236}">
                <a16:creationId xmlns:a16="http://schemas.microsoft.com/office/drawing/2014/main" id="{49CB6D70-D6C4-4412-933E-B89C25DF9FA8}"/>
              </a:ext>
            </a:extLst>
          </p:cNvPr>
          <p:cNvSpPr txBox="1"/>
          <p:nvPr/>
        </p:nvSpPr>
        <p:spPr>
          <a:xfrm>
            <a:off x="188217" y="794680"/>
            <a:ext cx="3357947" cy="923330"/>
          </a:xfrm>
          <a:prstGeom prst="rect">
            <a:avLst/>
          </a:prstGeom>
          <a:noFill/>
        </p:spPr>
        <p:txBody>
          <a:bodyPr wrap="square">
            <a:spAutoFit/>
          </a:bodyPr>
          <a:lstStyle/>
          <a:p>
            <a:r>
              <a:rPr lang="fr-FR" dirty="0"/>
              <a:t>Présents dans tout l’organisme sauf : SNC, myocarde, os et dents, tissus avasculaires, …</a:t>
            </a:r>
          </a:p>
        </p:txBody>
      </p:sp>
      <p:sp>
        <p:nvSpPr>
          <p:cNvPr id="9" name="Text Box 11">
            <a:extLst>
              <a:ext uri="{FF2B5EF4-FFF2-40B4-BE49-F238E27FC236}">
                <a16:creationId xmlns:a16="http://schemas.microsoft.com/office/drawing/2014/main" id="{A5E3904F-AAD1-4541-841C-45478629A8A6}"/>
              </a:ext>
            </a:extLst>
          </p:cNvPr>
          <p:cNvSpPr txBox="1">
            <a:spLocks noChangeArrowheads="1"/>
          </p:cNvSpPr>
          <p:nvPr/>
        </p:nvSpPr>
        <p:spPr bwMode="auto">
          <a:xfrm>
            <a:off x="8115968" y="464474"/>
            <a:ext cx="781689" cy="276999"/>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CA" sz="1200" dirty="0"/>
              <a:t>Fig. 20.1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80" name="Text Box 16"/>
          <p:cNvSpPr txBox="1">
            <a:spLocks noChangeArrowheads="1"/>
          </p:cNvSpPr>
          <p:nvPr/>
        </p:nvSpPr>
        <p:spPr bwMode="auto">
          <a:xfrm>
            <a:off x="188218" y="220965"/>
            <a:ext cx="4337400" cy="57416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Autofit/>
          </a:bodyPr>
          <a:lstStyle>
            <a:lvl1pPr defTabSz="244475">
              <a:defRPr sz="2400">
                <a:solidFill>
                  <a:schemeClr val="tx1"/>
                </a:solidFill>
                <a:latin typeface="Times New Roman" pitchFamily="18" charset="0"/>
              </a:defRPr>
            </a:lvl1pPr>
            <a:lvl2pPr marL="350838" indent="-171450" defTabSz="244475">
              <a:defRPr sz="2400">
                <a:solidFill>
                  <a:schemeClr val="tx1"/>
                </a:solidFill>
                <a:latin typeface="Times New Roman" pitchFamily="18" charset="0"/>
              </a:defRPr>
            </a:lvl2pPr>
            <a:lvl3pPr marL="715963" indent="-185738" defTabSz="244475">
              <a:defRPr sz="2400">
                <a:solidFill>
                  <a:schemeClr val="tx1"/>
                </a:solidFill>
                <a:latin typeface="Times New Roman" pitchFamily="18" charset="0"/>
              </a:defRPr>
            </a:lvl3pPr>
            <a:lvl4pPr marL="2465388" indent="-495300" defTabSz="244475">
              <a:defRPr sz="2400">
                <a:solidFill>
                  <a:schemeClr val="tx1"/>
                </a:solidFill>
                <a:latin typeface="Times New Roman" pitchFamily="18" charset="0"/>
              </a:defRPr>
            </a:lvl4pPr>
            <a:lvl5pPr marL="3140075" indent="-495300" defTabSz="244475">
              <a:defRPr sz="2400">
                <a:solidFill>
                  <a:schemeClr val="tx1"/>
                </a:solidFill>
                <a:latin typeface="Times New Roman" pitchFamily="18" charset="0"/>
              </a:defRPr>
            </a:lvl5pPr>
            <a:lvl6pPr marL="3597275" indent="-495300" defTabSz="244475" eaLnBrk="0" fontAlgn="base" hangingPunct="0">
              <a:spcBef>
                <a:spcPct val="0"/>
              </a:spcBef>
              <a:spcAft>
                <a:spcPct val="0"/>
              </a:spcAft>
              <a:defRPr sz="2400">
                <a:solidFill>
                  <a:schemeClr val="tx1"/>
                </a:solidFill>
                <a:latin typeface="Times New Roman" pitchFamily="18" charset="0"/>
              </a:defRPr>
            </a:lvl6pPr>
            <a:lvl7pPr marL="4054475" indent="-495300" defTabSz="244475" eaLnBrk="0" fontAlgn="base" hangingPunct="0">
              <a:spcBef>
                <a:spcPct val="0"/>
              </a:spcBef>
              <a:spcAft>
                <a:spcPct val="0"/>
              </a:spcAft>
              <a:defRPr sz="2400">
                <a:solidFill>
                  <a:schemeClr val="tx1"/>
                </a:solidFill>
                <a:latin typeface="Times New Roman" pitchFamily="18" charset="0"/>
              </a:defRPr>
            </a:lvl7pPr>
            <a:lvl8pPr marL="4511675" indent="-495300" defTabSz="244475" eaLnBrk="0" fontAlgn="base" hangingPunct="0">
              <a:spcBef>
                <a:spcPct val="0"/>
              </a:spcBef>
              <a:spcAft>
                <a:spcPct val="0"/>
              </a:spcAft>
              <a:defRPr sz="2400">
                <a:solidFill>
                  <a:schemeClr val="tx1"/>
                </a:solidFill>
                <a:latin typeface="Times New Roman" pitchFamily="18" charset="0"/>
              </a:defRPr>
            </a:lvl8pPr>
            <a:lvl9pPr marL="4968875" indent="-495300" defTabSz="244475" eaLnBrk="0" fontAlgn="base" hangingPunct="0">
              <a:spcBef>
                <a:spcPct val="0"/>
              </a:spcBef>
              <a:spcAft>
                <a:spcPct val="0"/>
              </a:spcAft>
              <a:defRPr sz="2400">
                <a:solidFill>
                  <a:schemeClr val="tx1"/>
                </a:solidFill>
                <a:latin typeface="Times New Roman" pitchFamily="18" charset="0"/>
              </a:defRPr>
            </a:lvl9pPr>
          </a:lstStyle>
          <a:p>
            <a:pPr>
              <a:spcAft>
                <a:spcPts val="600"/>
              </a:spcAft>
            </a:pPr>
            <a:r>
              <a:rPr lang="fr-FR" b="1" u="sng" dirty="0">
                <a:latin typeface="Arial" charset="0"/>
              </a:rPr>
              <a:t>Les vaisseaux lymphatiques</a:t>
            </a:r>
            <a:endParaRPr lang="fr-FR" u="sng" dirty="0">
              <a:latin typeface="Arial" charset="0"/>
            </a:endParaRPr>
          </a:p>
        </p:txBody>
      </p:sp>
      <p:sp>
        <p:nvSpPr>
          <p:cNvPr id="113683" name="Text Box 19"/>
          <p:cNvSpPr txBox="1">
            <a:spLocks noChangeArrowheads="1"/>
          </p:cNvSpPr>
          <p:nvPr/>
        </p:nvSpPr>
        <p:spPr bwMode="auto">
          <a:xfrm>
            <a:off x="-1" y="696918"/>
            <a:ext cx="4969565" cy="393441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244475">
              <a:defRPr sz="2400">
                <a:solidFill>
                  <a:schemeClr val="tx1"/>
                </a:solidFill>
                <a:latin typeface="Times New Roman" pitchFamily="18" charset="0"/>
              </a:defRPr>
            </a:lvl1pPr>
            <a:lvl2pPr marL="350838" indent="-171450" defTabSz="244475">
              <a:defRPr sz="2400">
                <a:solidFill>
                  <a:schemeClr val="tx1"/>
                </a:solidFill>
                <a:latin typeface="Times New Roman" pitchFamily="18" charset="0"/>
              </a:defRPr>
            </a:lvl2pPr>
            <a:lvl3pPr marL="715963" indent="-185738" defTabSz="244475">
              <a:defRPr sz="2400">
                <a:solidFill>
                  <a:schemeClr val="tx1"/>
                </a:solidFill>
                <a:latin typeface="Times New Roman" pitchFamily="18" charset="0"/>
              </a:defRPr>
            </a:lvl3pPr>
            <a:lvl4pPr marL="2465388" indent="-495300" defTabSz="244475">
              <a:defRPr sz="2400">
                <a:solidFill>
                  <a:schemeClr val="tx1"/>
                </a:solidFill>
                <a:latin typeface="Times New Roman" pitchFamily="18" charset="0"/>
              </a:defRPr>
            </a:lvl4pPr>
            <a:lvl5pPr marL="3140075" indent="-495300" defTabSz="244475">
              <a:defRPr sz="2400">
                <a:solidFill>
                  <a:schemeClr val="tx1"/>
                </a:solidFill>
                <a:latin typeface="Times New Roman" pitchFamily="18" charset="0"/>
              </a:defRPr>
            </a:lvl5pPr>
            <a:lvl6pPr marL="3597275" indent="-495300" defTabSz="244475" eaLnBrk="0" fontAlgn="base" hangingPunct="0">
              <a:spcBef>
                <a:spcPct val="0"/>
              </a:spcBef>
              <a:spcAft>
                <a:spcPct val="0"/>
              </a:spcAft>
              <a:defRPr sz="2400">
                <a:solidFill>
                  <a:schemeClr val="tx1"/>
                </a:solidFill>
                <a:latin typeface="Times New Roman" pitchFamily="18" charset="0"/>
              </a:defRPr>
            </a:lvl6pPr>
            <a:lvl7pPr marL="4054475" indent="-495300" defTabSz="244475" eaLnBrk="0" fontAlgn="base" hangingPunct="0">
              <a:spcBef>
                <a:spcPct val="0"/>
              </a:spcBef>
              <a:spcAft>
                <a:spcPct val="0"/>
              </a:spcAft>
              <a:defRPr sz="2400">
                <a:solidFill>
                  <a:schemeClr val="tx1"/>
                </a:solidFill>
                <a:latin typeface="Times New Roman" pitchFamily="18" charset="0"/>
              </a:defRPr>
            </a:lvl7pPr>
            <a:lvl8pPr marL="4511675" indent="-495300" defTabSz="244475" eaLnBrk="0" fontAlgn="base" hangingPunct="0">
              <a:spcBef>
                <a:spcPct val="0"/>
              </a:spcBef>
              <a:spcAft>
                <a:spcPct val="0"/>
              </a:spcAft>
              <a:defRPr sz="2400">
                <a:solidFill>
                  <a:schemeClr val="tx1"/>
                </a:solidFill>
                <a:latin typeface="Times New Roman" pitchFamily="18" charset="0"/>
              </a:defRPr>
            </a:lvl8pPr>
            <a:lvl9pPr marL="4968875" indent="-495300" defTabSz="244475" eaLnBrk="0" fontAlgn="base" hangingPunct="0">
              <a:spcBef>
                <a:spcPct val="0"/>
              </a:spcBef>
              <a:spcAft>
                <a:spcPct val="0"/>
              </a:spcAft>
              <a:defRPr sz="2400">
                <a:solidFill>
                  <a:schemeClr val="tx1"/>
                </a:solidFill>
                <a:latin typeface="Times New Roman" pitchFamily="18" charset="0"/>
              </a:defRPr>
            </a:lvl9pPr>
          </a:lstStyle>
          <a:p>
            <a:pPr marL="352425" lvl="2" indent="-169863">
              <a:buFont typeface="Arial" charset="0"/>
              <a:buChar char="–"/>
            </a:pPr>
            <a:r>
              <a:rPr lang="fr-CA" sz="1400" dirty="0">
                <a:latin typeface="Arial" charset="0"/>
              </a:rPr>
              <a:t>La très grande perméabilité des capillaires lymphatiques et l’entrée unidirectionnelle du liquide provient de deux caractéristiques structurales :</a:t>
            </a:r>
            <a:endParaRPr lang="fr-FR" sz="1400" dirty="0">
              <a:latin typeface="Arial" charset="0"/>
            </a:endParaRPr>
          </a:p>
          <a:p>
            <a:pPr marL="536575" lvl="2" indent="-184150" defTabSz="228600">
              <a:spcBef>
                <a:spcPts val="600"/>
              </a:spcBef>
              <a:buSzPct val="125000"/>
              <a:buFont typeface="Arial" panose="020B0604020202020204" pitchFamily="34" charset="0"/>
              <a:buChar char="•"/>
            </a:pPr>
            <a:r>
              <a:rPr lang="fr-FR" sz="1400" b="1" dirty="0">
                <a:latin typeface="Arial" charset="0"/>
              </a:rPr>
              <a:t>Disjonctions entre les cellules endothéliales </a:t>
            </a:r>
            <a:r>
              <a:rPr lang="fr-FR" sz="1400" dirty="0">
                <a:latin typeface="Arial" charset="0"/>
              </a:rPr>
              <a:t>qui agissent comme des mini-valves : </a:t>
            </a:r>
            <a:r>
              <a:rPr lang="fr-CA" sz="1400" dirty="0">
                <a:latin typeface="Arial" charset="0"/>
              </a:rPr>
              <a:t>elles s’ouvrent lorsque la pression interstitielle est plus grande que la pression dans le capillaire, et se ferment lorsque le gradient de pression est inversé.</a:t>
            </a:r>
            <a:endParaRPr lang="fr-FR" sz="1400" dirty="0">
              <a:latin typeface="Arial" charset="0"/>
            </a:endParaRPr>
          </a:p>
          <a:p>
            <a:pPr marL="538163" lvl="2" indent="0" defTabSz="228600">
              <a:spcBef>
                <a:spcPts val="100"/>
              </a:spcBef>
            </a:pPr>
            <a:r>
              <a:rPr lang="fr-FR" sz="1400" dirty="0">
                <a:latin typeface="Arial" charset="0"/>
                <a:sym typeface="Symbol" pitchFamily="18" charset="2"/>
              </a:rPr>
              <a:t> Ouvertures très larges qui laissent entrer le liquide interstitiel et les particules en suspension, mais ce liquide ne peut ressortir du capillaire une fois à l’intérieur.</a:t>
            </a:r>
            <a:r>
              <a:rPr lang="fr-CA" sz="1400" dirty="0">
                <a:latin typeface="Arial" charset="0"/>
              </a:rPr>
              <a:t> Il est ainsi forcé d’avancer en direction des </a:t>
            </a:r>
            <a:r>
              <a:rPr lang="fr-CA" sz="1400" i="1" dirty="0">
                <a:latin typeface="Arial" charset="0"/>
              </a:rPr>
              <a:t>vaisseaux collecteurs</a:t>
            </a:r>
            <a:r>
              <a:rPr lang="fr-CA" sz="1400" dirty="0">
                <a:latin typeface="Arial" charset="0"/>
              </a:rPr>
              <a:t>.</a:t>
            </a:r>
            <a:endParaRPr lang="fr-FR" sz="1400" dirty="0">
              <a:latin typeface="Arial" charset="0"/>
              <a:sym typeface="Symbol" pitchFamily="18" charset="2"/>
            </a:endParaRPr>
          </a:p>
          <a:p>
            <a:pPr marL="536575" lvl="2" indent="-184150" defTabSz="228600">
              <a:spcBef>
                <a:spcPts val="600"/>
              </a:spcBef>
              <a:buSzPct val="125000"/>
              <a:buFont typeface="Arial" panose="020B0604020202020204" pitchFamily="34" charset="0"/>
              <a:buChar char="•"/>
            </a:pPr>
            <a:r>
              <a:rPr lang="fr-FR" sz="1400" b="1" dirty="0">
                <a:latin typeface="Arial" charset="0"/>
              </a:rPr>
              <a:t>Filaments d’union </a:t>
            </a:r>
            <a:r>
              <a:rPr lang="fr-FR" sz="1400" dirty="0">
                <a:latin typeface="Arial" charset="0"/>
              </a:rPr>
              <a:t>qui ancrent les cellules endothéliales aux tissus avoisinants.</a:t>
            </a:r>
          </a:p>
          <a:p>
            <a:pPr marL="536575" lvl="2" indent="0" defTabSz="228600">
              <a:spcBef>
                <a:spcPts val="100"/>
              </a:spcBef>
            </a:pPr>
            <a:r>
              <a:rPr lang="fr-FR" sz="1400" dirty="0">
                <a:latin typeface="Arial" charset="0"/>
                <a:sym typeface="Symbol" pitchFamily="18" charset="2"/>
              </a:rPr>
              <a:t> Q</a:t>
            </a:r>
            <a:r>
              <a:rPr lang="fr-FR" sz="1400" dirty="0">
                <a:latin typeface="Arial" charset="0"/>
              </a:rPr>
              <a:t>uand la pression interstitielle augmente, les disjonctions s’ouvrent.</a:t>
            </a:r>
            <a:endParaRPr lang="fr-FR" sz="1400" i="1" dirty="0">
              <a:solidFill>
                <a:srgbClr val="FF0000"/>
              </a:solidFill>
              <a:latin typeface="Arial" charset="0"/>
            </a:endParaRPr>
          </a:p>
        </p:txBody>
      </p:sp>
      <p:pic>
        <p:nvPicPr>
          <p:cNvPr id="3" name="Picture 2" descr="Diagram&#10;&#10;Description automatically generated">
            <a:extLst>
              <a:ext uri="{FF2B5EF4-FFF2-40B4-BE49-F238E27FC236}">
                <a16:creationId xmlns:a16="http://schemas.microsoft.com/office/drawing/2014/main" id="{58E0ACC7-6693-4FFF-BB5B-CFF6809024A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334000" y="304952"/>
            <a:ext cx="3452509" cy="6082597"/>
          </a:xfrm>
          <a:prstGeom prst="rect">
            <a:avLst/>
          </a:prstGeom>
        </p:spPr>
      </p:pic>
      <p:sp>
        <p:nvSpPr>
          <p:cNvPr id="7" name="Text Box 11">
            <a:extLst>
              <a:ext uri="{FF2B5EF4-FFF2-40B4-BE49-F238E27FC236}">
                <a16:creationId xmlns:a16="http://schemas.microsoft.com/office/drawing/2014/main" id="{40098656-9802-4856-83BE-6AE1F4A95D8D}"/>
              </a:ext>
            </a:extLst>
          </p:cNvPr>
          <p:cNvSpPr txBox="1">
            <a:spLocks noChangeArrowheads="1"/>
          </p:cNvSpPr>
          <p:nvPr/>
        </p:nvSpPr>
        <p:spPr bwMode="auto">
          <a:xfrm>
            <a:off x="4291111" y="6022582"/>
            <a:ext cx="781689" cy="276999"/>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CA" sz="1200" dirty="0"/>
              <a:t>Fig. 20.1</a:t>
            </a:r>
          </a:p>
        </p:txBody>
      </p:sp>
    </p:spTree>
    <p:extLst>
      <p:ext uri="{BB962C8B-B14F-4D97-AF65-F5344CB8AC3E}">
        <p14:creationId xmlns:p14="http://schemas.microsoft.com/office/powerpoint/2010/main" val="21172983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9" name="Text Box 9"/>
          <p:cNvSpPr txBox="1">
            <a:spLocks noChangeArrowheads="1"/>
          </p:cNvSpPr>
          <p:nvPr/>
        </p:nvSpPr>
        <p:spPr bwMode="auto">
          <a:xfrm>
            <a:off x="213548" y="598991"/>
            <a:ext cx="8760824" cy="59759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598738" indent="-2598738">
              <a:spcBef>
                <a:spcPts val="100"/>
              </a:spcBef>
            </a:pPr>
            <a:r>
              <a:rPr lang="fr-FR" sz="1600" b="1" i="1" dirty="0">
                <a:solidFill>
                  <a:srgbClr val="008000"/>
                </a:solidFill>
                <a:latin typeface="Arial" charset="0"/>
                <a:sym typeface="Symbol" pitchFamily="18" charset="2"/>
              </a:rPr>
              <a:t>Capillaires lymphatiqu</a:t>
            </a:r>
            <a:r>
              <a:rPr lang="fr-FR" sz="1600" b="1" i="1" dirty="0">
                <a:solidFill>
                  <a:srgbClr val="008000"/>
                </a:solidFill>
                <a:latin typeface="Arial" charset="0"/>
              </a:rPr>
              <a:t>es	</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Vaisseaux collecteurs lymphatiques</a:t>
            </a:r>
          </a:p>
          <a:p>
            <a:pPr marL="2960688" indent="-363538">
              <a:spcBef>
                <a:spcPts val="100"/>
              </a:spcBef>
              <a:buFont typeface="Symbol"/>
              <a:buChar char="®"/>
            </a:pPr>
            <a:r>
              <a:rPr lang="fr-FR" sz="1600" b="1" i="1" dirty="0">
                <a:solidFill>
                  <a:srgbClr val="008000"/>
                </a:solidFill>
                <a:latin typeface="Arial" charset="0"/>
                <a:sym typeface="Symbol" pitchFamily="18" charset="2"/>
              </a:rPr>
              <a:t>Troncs lymphatiques</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  Conduits lymphatiques</a:t>
            </a:r>
          </a:p>
        </p:txBody>
      </p:sp>
      <p:sp>
        <p:nvSpPr>
          <p:cNvPr id="117776" name="Text Box 16"/>
          <p:cNvSpPr txBox="1">
            <a:spLocks noChangeArrowheads="1"/>
          </p:cNvSpPr>
          <p:nvPr/>
        </p:nvSpPr>
        <p:spPr bwMode="auto">
          <a:xfrm>
            <a:off x="222258" y="225822"/>
            <a:ext cx="4641290" cy="36933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spcBef>
                <a:spcPct val="25000"/>
              </a:spcBef>
            </a:pPr>
            <a:r>
              <a:rPr lang="fr-FR" sz="1800" u="sng" dirty="0">
                <a:latin typeface="Arial" charset="0"/>
              </a:rPr>
              <a:t>Organisation des vaisseaux  lymphatiques</a:t>
            </a:r>
            <a:r>
              <a:rPr lang="fr-FR" sz="1800" dirty="0">
                <a:latin typeface="Arial" charset="0"/>
              </a:rPr>
              <a:t> :</a:t>
            </a:r>
            <a:endParaRPr lang="fr-FR" sz="1600" b="1" i="1" dirty="0">
              <a:latin typeface="Arial" charset="0"/>
              <a:sym typeface="Symbol" pitchFamily="18" charset="2"/>
            </a:endParaRPr>
          </a:p>
        </p:txBody>
      </p:sp>
      <p:pic>
        <p:nvPicPr>
          <p:cNvPr id="4" name="Picture 3" descr="Diagram&#10;&#10;Description automatically generated">
            <a:extLst>
              <a:ext uri="{FF2B5EF4-FFF2-40B4-BE49-F238E27FC236}">
                <a16:creationId xmlns:a16="http://schemas.microsoft.com/office/drawing/2014/main" id="{BF4A865D-9AA1-478B-9B98-7CDF8E385635}"/>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161297" y="1588099"/>
            <a:ext cx="4813075" cy="3801618"/>
          </a:xfrm>
          <a:prstGeom prst="rect">
            <a:avLst/>
          </a:prstGeom>
        </p:spPr>
      </p:pic>
      <p:sp>
        <p:nvSpPr>
          <p:cNvPr id="117770" name="Text Box 10"/>
          <p:cNvSpPr txBox="1">
            <a:spLocks noChangeArrowheads="1"/>
          </p:cNvSpPr>
          <p:nvPr/>
        </p:nvSpPr>
        <p:spPr bwMode="auto">
          <a:xfrm>
            <a:off x="243086" y="1501413"/>
            <a:ext cx="3891592" cy="172354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61925" indent="-161925">
              <a:defRPr sz="2400">
                <a:solidFill>
                  <a:schemeClr val="tx1"/>
                </a:solidFill>
                <a:latin typeface="Times New Roman" pitchFamily="18" charset="0"/>
              </a:defRPr>
            </a:lvl1pPr>
            <a:lvl2pPr marL="276225">
              <a:defRPr sz="2400">
                <a:solidFill>
                  <a:schemeClr val="tx1"/>
                </a:solidFill>
                <a:latin typeface="Times New Roman" pitchFamily="18" charset="0"/>
              </a:defRPr>
            </a:lvl2pPr>
            <a:lvl3pPr marL="565150" indent="-174625">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182563" indent="-182563">
              <a:spcBef>
                <a:spcPts val="0"/>
              </a:spcBef>
              <a:buSzPct val="90000"/>
            </a:pPr>
            <a:r>
              <a:rPr lang="fr-FR" sz="1600" b="1" dirty="0">
                <a:solidFill>
                  <a:srgbClr val="008000"/>
                </a:solidFill>
                <a:latin typeface="Arial" charset="0"/>
              </a:rPr>
              <a:t>i)	</a:t>
            </a:r>
            <a:r>
              <a:rPr lang="fr-FR" sz="1600" b="1" u="sng" dirty="0">
                <a:solidFill>
                  <a:srgbClr val="008000"/>
                </a:solidFill>
                <a:latin typeface="Arial" charset="0"/>
              </a:rPr>
              <a:t>Vaisseaux collecteurs lymphatiques</a:t>
            </a:r>
            <a:endParaRPr lang="fr-FR" sz="1600" b="1" dirty="0">
              <a:solidFill>
                <a:srgbClr val="008000"/>
              </a:solidFill>
              <a:latin typeface="Arial" charset="0"/>
            </a:endParaRPr>
          </a:p>
          <a:p>
            <a:pPr marL="184150" lvl="1">
              <a:spcBef>
                <a:spcPts val="600"/>
              </a:spcBef>
              <a:buSzPct val="80000"/>
              <a:buFont typeface="Wingdings" pitchFamily="2" charset="2"/>
              <a:buNone/>
            </a:pPr>
            <a:r>
              <a:rPr lang="fr-FR" sz="1600" dirty="0">
                <a:latin typeface="Arial" charset="0"/>
              </a:rPr>
              <a:t>Structures semblables à celles des petites veines : </a:t>
            </a:r>
          </a:p>
          <a:p>
            <a:pPr marL="352425" lvl="2" indent="-169863">
              <a:spcBef>
                <a:spcPts val="300"/>
              </a:spcBef>
              <a:buFont typeface="Arial" charset="0"/>
              <a:buChar char="–"/>
            </a:pPr>
            <a:r>
              <a:rPr lang="fr-FR" sz="1600" dirty="0">
                <a:latin typeface="Arial" charset="0"/>
              </a:rPr>
              <a:t>Trois mêmes tuniques</a:t>
            </a:r>
          </a:p>
          <a:p>
            <a:pPr marL="352425" lvl="2" indent="-169863">
              <a:spcBef>
                <a:spcPts val="300"/>
              </a:spcBef>
              <a:buFont typeface="Arial" charset="0"/>
              <a:buChar char="–"/>
            </a:pPr>
            <a:r>
              <a:rPr lang="fr-FR" sz="1600" dirty="0">
                <a:latin typeface="Arial" charset="0"/>
              </a:rPr>
              <a:t>Valvules qui empêchent le reflux de la lymphe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9" name="Text Box 9"/>
          <p:cNvSpPr txBox="1">
            <a:spLocks noChangeArrowheads="1"/>
          </p:cNvSpPr>
          <p:nvPr/>
        </p:nvSpPr>
        <p:spPr bwMode="auto">
          <a:xfrm>
            <a:off x="213548" y="598991"/>
            <a:ext cx="8760824" cy="59759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598738" indent="-2598738">
              <a:spcBef>
                <a:spcPts val="100"/>
              </a:spcBef>
            </a:pPr>
            <a:r>
              <a:rPr lang="fr-FR" sz="1600" b="1" i="1" dirty="0">
                <a:solidFill>
                  <a:srgbClr val="008000"/>
                </a:solidFill>
                <a:latin typeface="Arial" charset="0"/>
                <a:sym typeface="Symbol" pitchFamily="18" charset="2"/>
              </a:rPr>
              <a:t>Capillaires lymphatiqu</a:t>
            </a:r>
            <a:r>
              <a:rPr lang="fr-FR" sz="1600" b="1" i="1" dirty="0">
                <a:solidFill>
                  <a:srgbClr val="008000"/>
                </a:solidFill>
                <a:latin typeface="Arial" charset="0"/>
              </a:rPr>
              <a:t>es	</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Vaisseaux collecteurs lymphatiques</a:t>
            </a:r>
          </a:p>
          <a:p>
            <a:pPr marL="2960688" indent="-363538">
              <a:spcBef>
                <a:spcPts val="100"/>
              </a:spcBef>
              <a:buFont typeface="Symbol"/>
              <a:buChar char="®"/>
            </a:pPr>
            <a:r>
              <a:rPr lang="fr-FR" sz="1600" b="1" i="1" dirty="0">
                <a:solidFill>
                  <a:srgbClr val="008000"/>
                </a:solidFill>
                <a:latin typeface="Arial" charset="0"/>
                <a:sym typeface="Symbol" pitchFamily="18" charset="2"/>
              </a:rPr>
              <a:t>Troncs lymphatiques</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  Conduits lymphatiques</a:t>
            </a:r>
          </a:p>
        </p:txBody>
      </p:sp>
      <p:sp>
        <p:nvSpPr>
          <p:cNvPr id="117776" name="Text Box 16"/>
          <p:cNvSpPr txBox="1">
            <a:spLocks noChangeArrowheads="1"/>
          </p:cNvSpPr>
          <p:nvPr/>
        </p:nvSpPr>
        <p:spPr bwMode="auto">
          <a:xfrm>
            <a:off x="222258" y="225822"/>
            <a:ext cx="4614785" cy="36933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spcBef>
                <a:spcPct val="25000"/>
              </a:spcBef>
            </a:pPr>
            <a:r>
              <a:rPr lang="fr-FR" sz="1800" u="sng" dirty="0">
                <a:latin typeface="Arial" charset="0"/>
              </a:rPr>
              <a:t>Organisation des vaisseaux  lymphatiques</a:t>
            </a:r>
            <a:r>
              <a:rPr lang="fr-FR" sz="1800" dirty="0">
                <a:latin typeface="Arial" charset="0"/>
              </a:rPr>
              <a:t> :</a:t>
            </a:r>
            <a:endParaRPr lang="fr-FR" sz="1800" b="1" i="1" dirty="0">
              <a:latin typeface="Arial" charset="0"/>
              <a:sym typeface="Symbol" pitchFamily="18" charset="2"/>
            </a:endParaRPr>
          </a:p>
        </p:txBody>
      </p:sp>
      <p:pic>
        <p:nvPicPr>
          <p:cNvPr id="3" name="Picture 2" descr="Diagram&#10;&#10;Description automatically generated">
            <a:extLst>
              <a:ext uri="{FF2B5EF4-FFF2-40B4-BE49-F238E27FC236}">
                <a16:creationId xmlns:a16="http://schemas.microsoft.com/office/drawing/2014/main" id="{4C5C3496-7EC2-418E-A8A0-9DDF6144E2BD}"/>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3448558" y="1373413"/>
            <a:ext cx="5599611" cy="4431039"/>
          </a:xfrm>
          <a:prstGeom prst="rect">
            <a:avLst/>
          </a:prstGeom>
        </p:spPr>
      </p:pic>
      <p:sp>
        <p:nvSpPr>
          <p:cNvPr id="76" name="Text Box 3"/>
          <p:cNvSpPr txBox="1">
            <a:spLocks noChangeArrowheads="1"/>
          </p:cNvSpPr>
          <p:nvPr/>
        </p:nvSpPr>
        <p:spPr bwMode="auto">
          <a:xfrm>
            <a:off x="222258" y="1433048"/>
            <a:ext cx="3226299" cy="2708434"/>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lvl1pPr>
              <a:tabLst>
                <a:tab pos="715963" algn="l"/>
              </a:tabLst>
              <a:defRPr sz="2400">
                <a:solidFill>
                  <a:schemeClr val="tx1"/>
                </a:solidFill>
                <a:latin typeface="Times New Roman" pitchFamily="18" charset="0"/>
              </a:defRPr>
            </a:lvl1pPr>
            <a:lvl2pPr marL="361950" indent="-182563">
              <a:tabLst>
                <a:tab pos="715963" algn="l"/>
              </a:tabLst>
              <a:defRPr sz="2400">
                <a:solidFill>
                  <a:schemeClr val="tx1"/>
                </a:solidFill>
                <a:latin typeface="Times New Roman" pitchFamily="18" charset="0"/>
              </a:defRPr>
            </a:lvl2pPr>
            <a:lvl3pPr marL="715963" indent="-174625">
              <a:tabLst>
                <a:tab pos="715963" algn="l"/>
              </a:tabLst>
              <a:defRPr sz="2400">
                <a:solidFill>
                  <a:schemeClr val="tx1"/>
                </a:solidFill>
                <a:latin typeface="Times New Roman" pitchFamily="18" charset="0"/>
              </a:defRPr>
            </a:lvl3pPr>
            <a:lvl4pPr>
              <a:tabLst>
                <a:tab pos="715963" algn="l"/>
              </a:tabLst>
              <a:defRPr sz="2400">
                <a:solidFill>
                  <a:schemeClr val="tx1"/>
                </a:solidFill>
                <a:latin typeface="Times New Roman" pitchFamily="18" charset="0"/>
              </a:defRPr>
            </a:lvl4pPr>
            <a:lvl5pPr>
              <a:tabLst>
                <a:tab pos="715963" algn="l"/>
              </a:tabLst>
              <a:defRPr sz="2400">
                <a:solidFill>
                  <a:schemeClr val="tx1"/>
                </a:solidFill>
                <a:latin typeface="Times New Roman" pitchFamily="18" charset="0"/>
              </a:defRPr>
            </a:lvl5pPr>
            <a:lvl6pPr eaLnBrk="0" fontAlgn="base" hangingPunct="0">
              <a:spcBef>
                <a:spcPct val="0"/>
              </a:spcBef>
              <a:spcAft>
                <a:spcPct val="0"/>
              </a:spcAft>
              <a:tabLst>
                <a:tab pos="715963" algn="l"/>
              </a:tabLst>
              <a:defRPr sz="2400">
                <a:solidFill>
                  <a:schemeClr val="tx1"/>
                </a:solidFill>
                <a:latin typeface="Times New Roman" pitchFamily="18" charset="0"/>
              </a:defRPr>
            </a:lvl6pPr>
            <a:lvl7pPr eaLnBrk="0" fontAlgn="base" hangingPunct="0">
              <a:spcBef>
                <a:spcPct val="0"/>
              </a:spcBef>
              <a:spcAft>
                <a:spcPct val="0"/>
              </a:spcAft>
              <a:tabLst>
                <a:tab pos="715963" algn="l"/>
              </a:tabLst>
              <a:defRPr sz="2400">
                <a:solidFill>
                  <a:schemeClr val="tx1"/>
                </a:solidFill>
                <a:latin typeface="Times New Roman" pitchFamily="18" charset="0"/>
              </a:defRPr>
            </a:lvl7pPr>
            <a:lvl8pPr eaLnBrk="0" fontAlgn="base" hangingPunct="0">
              <a:spcBef>
                <a:spcPct val="0"/>
              </a:spcBef>
              <a:spcAft>
                <a:spcPct val="0"/>
              </a:spcAft>
              <a:tabLst>
                <a:tab pos="715963" algn="l"/>
              </a:tabLst>
              <a:defRPr sz="2400">
                <a:solidFill>
                  <a:schemeClr val="tx1"/>
                </a:solidFill>
                <a:latin typeface="Times New Roman" pitchFamily="18" charset="0"/>
              </a:defRPr>
            </a:lvl8pPr>
            <a:lvl9pPr eaLnBrk="0" fontAlgn="base" hangingPunct="0">
              <a:spcBef>
                <a:spcPct val="0"/>
              </a:spcBef>
              <a:spcAft>
                <a:spcPct val="0"/>
              </a:spcAft>
              <a:tabLst>
                <a:tab pos="715963" algn="l"/>
              </a:tabLst>
              <a:defRPr sz="2400">
                <a:solidFill>
                  <a:schemeClr val="tx1"/>
                </a:solidFill>
                <a:latin typeface="Times New Roman" pitchFamily="18" charset="0"/>
              </a:defRPr>
            </a:lvl9pPr>
          </a:lstStyle>
          <a:p>
            <a:pPr marL="274638" indent="-274638">
              <a:spcBef>
                <a:spcPct val="20000"/>
              </a:spcBef>
              <a:spcAft>
                <a:spcPts val="0"/>
              </a:spcAft>
              <a:buSzPct val="90000"/>
            </a:pPr>
            <a:r>
              <a:rPr lang="fr-FR" sz="1600" b="1" dirty="0">
                <a:solidFill>
                  <a:srgbClr val="008000"/>
                </a:solidFill>
                <a:latin typeface="Arial" charset="0"/>
              </a:rPr>
              <a:t>ii)	</a:t>
            </a:r>
            <a:r>
              <a:rPr lang="fr-FR" sz="1600" b="1" u="sng" dirty="0">
                <a:solidFill>
                  <a:srgbClr val="008000"/>
                </a:solidFill>
                <a:latin typeface="Arial" charset="0"/>
              </a:rPr>
              <a:t>Troncs lymphatiques</a:t>
            </a:r>
            <a:endParaRPr lang="fr-FR" sz="1600" b="1" dirty="0">
              <a:solidFill>
                <a:srgbClr val="008000"/>
              </a:solidFill>
              <a:latin typeface="Arial" charset="0"/>
            </a:endParaRPr>
          </a:p>
          <a:p>
            <a:pPr marL="265113" lvl="1" indent="-3175">
              <a:spcBef>
                <a:spcPts val="600"/>
              </a:spcBef>
              <a:tabLst/>
            </a:pPr>
            <a:r>
              <a:rPr lang="fr-FR" sz="1600" dirty="0">
                <a:latin typeface="Arial" charset="0"/>
              </a:rPr>
              <a:t>Formés par l’union des plus gros vaisseaux collecteurs.</a:t>
            </a:r>
          </a:p>
          <a:p>
            <a:pPr marL="265113" lvl="1" indent="-3175">
              <a:spcBef>
                <a:spcPts val="600"/>
              </a:spcBef>
              <a:tabLst/>
            </a:pPr>
            <a:r>
              <a:rPr lang="fr-FR" sz="1600" dirty="0">
                <a:latin typeface="Arial" charset="0"/>
              </a:rPr>
              <a:t>Principaux troncs lymphatiques : </a:t>
            </a:r>
          </a:p>
          <a:p>
            <a:pPr marL="446088" lvl="2" indent="-187325">
              <a:buSzPct val="80000"/>
              <a:buFont typeface="Wingdings" pitchFamily="2" charset="2"/>
              <a:buChar char="§"/>
            </a:pPr>
            <a:r>
              <a:rPr lang="fr-FR" sz="1600" dirty="0">
                <a:latin typeface="Arial" charset="0"/>
              </a:rPr>
              <a:t>Jugulaire (au niveau du cou)  </a:t>
            </a:r>
          </a:p>
          <a:p>
            <a:pPr marL="446088" lvl="2" indent="-187325">
              <a:buSzPct val="80000"/>
              <a:buFont typeface="Wingdings" pitchFamily="2" charset="2"/>
              <a:buChar char="§"/>
            </a:pPr>
            <a:r>
              <a:rPr lang="fr-FR" sz="1600" dirty="0" err="1">
                <a:latin typeface="Arial" charset="0"/>
              </a:rPr>
              <a:t>Subclavier</a:t>
            </a:r>
            <a:r>
              <a:rPr lang="fr-FR" sz="1600" dirty="0">
                <a:latin typeface="Arial" charset="0"/>
              </a:rPr>
              <a:t> (sous la clavicule)</a:t>
            </a:r>
          </a:p>
          <a:p>
            <a:pPr marL="446088" lvl="2" indent="-187325">
              <a:buSzPct val="80000"/>
              <a:buFont typeface="Wingdings" pitchFamily="2" charset="2"/>
              <a:buChar char="§"/>
            </a:pPr>
            <a:r>
              <a:rPr lang="fr-FR" sz="1600" dirty="0">
                <a:latin typeface="Arial" charset="0"/>
              </a:rPr>
              <a:t>Broncho-médiastinal (bronches et médiastin)</a:t>
            </a:r>
          </a:p>
          <a:p>
            <a:pPr marL="446088" lvl="2" indent="-187325">
              <a:buSzPct val="80000"/>
              <a:buFont typeface="Wingdings" pitchFamily="2" charset="2"/>
              <a:buChar char="§"/>
            </a:pPr>
            <a:r>
              <a:rPr lang="fr-FR" sz="1600" dirty="0">
                <a:latin typeface="Arial" charset="0"/>
              </a:rPr>
              <a:t>Intestinal (des intestins)</a:t>
            </a:r>
          </a:p>
          <a:p>
            <a:pPr marL="446088" lvl="2" indent="-187325">
              <a:buSzPct val="80000"/>
              <a:buFont typeface="Wingdings" pitchFamily="2" charset="2"/>
              <a:buChar char="§"/>
            </a:pPr>
            <a:r>
              <a:rPr lang="fr-FR" sz="1600" dirty="0">
                <a:latin typeface="Arial" charset="0"/>
              </a:rPr>
              <a:t>Lombaire (au bas du dos)</a:t>
            </a:r>
          </a:p>
        </p:txBody>
      </p:sp>
    </p:spTree>
    <p:extLst>
      <p:ext uri="{BB962C8B-B14F-4D97-AF65-F5344CB8AC3E}">
        <p14:creationId xmlns:p14="http://schemas.microsoft.com/office/powerpoint/2010/main" val="35851996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9" name="Text Box 9"/>
          <p:cNvSpPr txBox="1">
            <a:spLocks noChangeArrowheads="1"/>
          </p:cNvSpPr>
          <p:nvPr/>
        </p:nvSpPr>
        <p:spPr bwMode="auto">
          <a:xfrm>
            <a:off x="213548" y="598991"/>
            <a:ext cx="8760824" cy="59759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598738" indent="-2598738">
              <a:spcBef>
                <a:spcPts val="100"/>
              </a:spcBef>
            </a:pPr>
            <a:r>
              <a:rPr lang="fr-FR" sz="1600" b="1" i="1" dirty="0">
                <a:solidFill>
                  <a:srgbClr val="008000"/>
                </a:solidFill>
                <a:latin typeface="Arial" charset="0"/>
                <a:sym typeface="Symbol" pitchFamily="18" charset="2"/>
              </a:rPr>
              <a:t>Capillaires lymphatiqu</a:t>
            </a:r>
            <a:r>
              <a:rPr lang="fr-FR" sz="1600" b="1" i="1" dirty="0">
                <a:solidFill>
                  <a:srgbClr val="008000"/>
                </a:solidFill>
                <a:latin typeface="Arial" charset="0"/>
              </a:rPr>
              <a:t>es	</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Vaisseaux collecteurs lymphatiques</a:t>
            </a:r>
          </a:p>
          <a:p>
            <a:pPr marL="2960688" indent="-363538">
              <a:spcBef>
                <a:spcPts val="100"/>
              </a:spcBef>
              <a:buFont typeface="Symbol"/>
              <a:buChar char="®"/>
            </a:pPr>
            <a:r>
              <a:rPr lang="fr-FR" sz="1600" b="1" i="1" dirty="0">
                <a:solidFill>
                  <a:srgbClr val="008000"/>
                </a:solidFill>
                <a:latin typeface="Arial" charset="0"/>
                <a:sym typeface="Symbol" pitchFamily="18" charset="2"/>
              </a:rPr>
              <a:t>Troncs lymphatiques</a:t>
            </a:r>
            <a:r>
              <a:rPr lang="fr-FR" sz="1600" dirty="0">
                <a:solidFill>
                  <a:srgbClr val="008000"/>
                </a:solidFill>
                <a:latin typeface="Arial" charset="0"/>
                <a:sym typeface="Symbol"/>
              </a:rPr>
              <a:t>   </a:t>
            </a:r>
            <a:r>
              <a:rPr lang="fr-FR" sz="1600" b="1" i="1" dirty="0">
                <a:solidFill>
                  <a:srgbClr val="008000"/>
                </a:solidFill>
                <a:latin typeface="Arial" charset="0"/>
                <a:sym typeface="Symbol" pitchFamily="18" charset="2"/>
              </a:rPr>
              <a:t>  Conduits lymphatiques</a:t>
            </a:r>
          </a:p>
        </p:txBody>
      </p:sp>
      <p:sp>
        <p:nvSpPr>
          <p:cNvPr id="117776" name="Text Box 16"/>
          <p:cNvSpPr txBox="1">
            <a:spLocks noChangeArrowheads="1"/>
          </p:cNvSpPr>
          <p:nvPr/>
        </p:nvSpPr>
        <p:spPr bwMode="auto">
          <a:xfrm>
            <a:off x="222258" y="225822"/>
            <a:ext cx="8294144" cy="36933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82563" indent="-182563">
              <a:defRPr sz="2400">
                <a:solidFill>
                  <a:schemeClr val="tx1"/>
                </a:solidFill>
                <a:latin typeface="Times New Roman" pitchFamily="18" charset="0"/>
              </a:defRPr>
            </a:lvl1pPr>
            <a:lvl2pPr marL="544513" indent="-182563">
              <a:defRPr sz="2400">
                <a:solidFill>
                  <a:schemeClr val="tx1"/>
                </a:solidFill>
                <a:latin typeface="Times New Roman" pitchFamily="18" charset="0"/>
              </a:defRPr>
            </a:lvl2pPr>
            <a:lvl3pPr>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spcBef>
                <a:spcPct val="25000"/>
              </a:spcBef>
            </a:pPr>
            <a:r>
              <a:rPr lang="fr-FR" sz="1800" u="sng" dirty="0">
                <a:latin typeface="Arial" charset="0"/>
              </a:rPr>
              <a:t>Organisation des vaisseaux  lymphatiques</a:t>
            </a:r>
            <a:r>
              <a:rPr lang="fr-FR" sz="1800" dirty="0">
                <a:latin typeface="Arial" charset="0"/>
              </a:rPr>
              <a:t> :</a:t>
            </a:r>
            <a:endParaRPr lang="fr-FR" sz="1800" b="1" i="1" dirty="0">
              <a:latin typeface="Arial" charset="0"/>
              <a:sym typeface="Symbol" pitchFamily="18" charset="2"/>
            </a:endParaRPr>
          </a:p>
        </p:txBody>
      </p:sp>
      <p:sp>
        <p:nvSpPr>
          <p:cNvPr id="77" name="Rectangle 4"/>
          <p:cNvSpPr>
            <a:spLocks noChangeArrowheads="1"/>
          </p:cNvSpPr>
          <p:nvPr/>
        </p:nvSpPr>
        <p:spPr bwMode="auto">
          <a:xfrm>
            <a:off x="61148" y="1196590"/>
            <a:ext cx="3805115" cy="3685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74638" indent="-274638">
              <a:spcAft>
                <a:spcPts val="0"/>
              </a:spcAft>
              <a:buSzPct val="90000"/>
              <a:tabLst>
                <a:tab pos="715963" algn="l"/>
              </a:tabLst>
            </a:pPr>
            <a:r>
              <a:rPr lang="en-US" sz="1500" b="1" dirty="0">
                <a:solidFill>
                  <a:srgbClr val="008000"/>
                </a:solidFill>
              </a:rPr>
              <a:t>iii)	</a:t>
            </a:r>
            <a:r>
              <a:rPr lang="fr-FR" sz="1500" b="1" u="sng" dirty="0">
                <a:solidFill>
                  <a:srgbClr val="008000"/>
                </a:solidFill>
              </a:rPr>
              <a:t>Conduits lymphatiques</a:t>
            </a:r>
            <a:endParaRPr lang="fr-FR" sz="1500" dirty="0">
              <a:solidFill>
                <a:srgbClr val="008000"/>
              </a:solidFill>
            </a:endParaRPr>
          </a:p>
          <a:p>
            <a:pPr marL="268288" lvl="1">
              <a:spcBef>
                <a:spcPts val="300"/>
              </a:spcBef>
            </a:pPr>
            <a:r>
              <a:rPr lang="fr-FR" sz="1400" dirty="0"/>
              <a:t>Déversent la lymphe dans la circulation veineuse (généralement à la jonction des veines jugulaire interne et </a:t>
            </a:r>
            <a:r>
              <a:rPr lang="fr-FR" sz="1400" dirty="0" err="1"/>
              <a:t>subclavière</a:t>
            </a:r>
            <a:r>
              <a:rPr lang="fr-FR" sz="1400" dirty="0"/>
              <a:t>).</a:t>
            </a:r>
          </a:p>
          <a:p>
            <a:pPr marL="360363" lvl="1" indent="-180975">
              <a:spcBef>
                <a:spcPts val="300"/>
              </a:spcBef>
              <a:buFontTx/>
              <a:buChar char="•"/>
              <a:tabLst>
                <a:tab pos="715963" algn="l"/>
              </a:tabLst>
            </a:pPr>
            <a:r>
              <a:rPr lang="fr-FR" sz="1400" b="1" i="1" dirty="0"/>
              <a:t>Conduit lymphatique droit </a:t>
            </a:r>
            <a:r>
              <a:rPr lang="fr-FR" sz="1400" b="1" dirty="0"/>
              <a:t>:</a:t>
            </a:r>
            <a:r>
              <a:rPr lang="fr-FR" sz="1400" dirty="0"/>
              <a:t> </a:t>
            </a:r>
          </a:p>
          <a:p>
            <a:pPr marL="534988" lvl="2" indent="-182563">
              <a:buFont typeface="Arial" charset="0"/>
              <a:buChar char="–"/>
              <a:tabLst>
                <a:tab pos="534988" algn="l"/>
              </a:tabLst>
            </a:pPr>
            <a:r>
              <a:rPr lang="fr-FR" sz="1400" dirty="0"/>
              <a:t>Très court (1cm) ; pas toujours présent</a:t>
            </a:r>
          </a:p>
          <a:p>
            <a:pPr marL="534988" lvl="2" indent="-182563">
              <a:buFont typeface="Arial" charset="0"/>
              <a:buChar char="–"/>
              <a:tabLst>
                <a:tab pos="534988" algn="l"/>
              </a:tabLst>
            </a:pPr>
            <a:r>
              <a:rPr lang="fr-FR" sz="1400" dirty="0"/>
              <a:t>Reçoit la lymphe du bras droit, et du côté droit de la tête, cou et thorax</a:t>
            </a:r>
          </a:p>
          <a:p>
            <a:pPr marL="360363" lvl="1" indent="-180975">
              <a:spcBef>
                <a:spcPct val="25000"/>
              </a:spcBef>
              <a:buFontTx/>
              <a:buChar char="•"/>
              <a:tabLst>
                <a:tab pos="715963" algn="l"/>
              </a:tabLst>
            </a:pPr>
            <a:r>
              <a:rPr lang="fr-FR" sz="1400" b="1" i="1" dirty="0"/>
              <a:t>Conduit thoracique </a:t>
            </a:r>
            <a:r>
              <a:rPr lang="fr-FR" sz="1400" b="1" dirty="0"/>
              <a:t>:</a:t>
            </a:r>
            <a:endParaRPr lang="fr-FR" sz="1400" dirty="0"/>
          </a:p>
          <a:p>
            <a:pPr marL="534988" lvl="2" indent="-182563">
              <a:buFont typeface="Arial" charset="0"/>
              <a:buChar char="–"/>
              <a:tabLst>
                <a:tab pos="534988" algn="l"/>
              </a:tabLst>
            </a:pPr>
            <a:r>
              <a:rPr lang="fr-FR" sz="1400" dirty="0"/>
              <a:t>Le plus gros et le plus long des vaisseaux lymphatiques (</a:t>
            </a:r>
            <a:r>
              <a:rPr lang="fr-FR" sz="1400" dirty="0">
                <a:cs typeface="Arial" charset="0"/>
              </a:rPr>
              <a:t>~40 cm)</a:t>
            </a:r>
          </a:p>
          <a:p>
            <a:pPr marL="534988" lvl="2" indent="-182563">
              <a:buFont typeface="Arial" charset="0"/>
              <a:buChar char="–"/>
              <a:tabLst>
                <a:tab pos="534988" algn="l"/>
              </a:tabLst>
            </a:pPr>
            <a:r>
              <a:rPr lang="fr-FR" sz="1400" dirty="0">
                <a:cs typeface="Arial" charset="0"/>
              </a:rPr>
              <a:t>Prend naissance à la </a:t>
            </a:r>
            <a:r>
              <a:rPr lang="fr-FR" sz="1400" b="1" i="1" dirty="0">
                <a:cs typeface="Arial" charset="0"/>
              </a:rPr>
              <a:t>citerne du chyle*</a:t>
            </a:r>
          </a:p>
          <a:p>
            <a:pPr marL="534988" lvl="2" indent="-182563">
              <a:buFont typeface="Arial" charset="0"/>
              <a:buChar char="–"/>
              <a:tabLst>
                <a:tab pos="534988" algn="l"/>
              </a:tabLst>
            </a:pPr>
            <a:r>
              <a:rPr lang="fr-FR" sz="1400" dirty="0"/>
              <a:t>Draine la lymphe des membres inférieurs, abdomen, côté gauche de la tête, cou et thorax, bras gauche</a:t>
            </a:r>
          </a:p>
        </p:txBody>
      </p:sp>
      <p:sp>
        <p:nvSpPr>
          <p:cNvPr id="2" name="Rectangle 1"/>
          <p:cNvSpPr/>
          <p:nvPr/>
        </p:nvSpPr>
        <p:spPr>
          <a:xfrm>
            <a:off x="443436" y="5433647"/>
            <a:ext cx="8530936" cy="954107"/>
          </a:xfrm>
          <a:prstGeom prst="rect">
            <a:avLst/>
          </a:prstGeom>
          <a:ln>
            <a:solidFill>
              <a:srgbClr val="008000"/>
            </a:solidFill>
          </a:ln>
        </p:spPr>
        <p:txBody>
          <a:bodyPr wrap="square" lIns="72000" rIns="36000">
            <a:spAutoFit/>
          </a:bodyPr>
          <a:lstStyle/>
          <a:p>
            <a:pPr marL="176213" indent="-176213"/>
            <a:r>
              <a:rPr lang="fr-CA" sz="1400" i="1" dirty="0"/>
              <a:t>*	Le</a:t>
            </a:r>
            <a:r>
              <a:rPr lang="fr-CA" sz="1400" b="1" i="1" dirty="0"/>
              <a:t> chyle</a:t>
            </a:r>
            <a:r>
              <a:rPr lang="fr-CA" sz="1400" i="1" dirty="0"/>
              <a:t> est la lymphe issue de l’intestin grêle et déversée dans la citerne du chyle via le tronc intestinal. Le système lymphatique est en effet l’une des voies majeures pour l’absorption des nutriments vers la circulation sanguine, en particulier l’absorption des lipides. Après un repas riche en graisses, le chyle a ainsi un contenu élevé en lipides; ce qui lui donne un aspect laiteux.</a:t>
            </a:r>
          </a:p>
        </p:txBody>
      </p:sp>
      <p:pic>
        <p:nvPicPr>
          <p:cNvPr id="4" name="Picture 3" descr="Diagram&#10;&#10;Description automatically generated">
            <a:extLst>
              <a:ext uri="{FF2B5EF4-FFF2-40B4-BE49-F238E27FC236}">
                <a16:creationId xmlns:a16="http://schemas.microsoft.com/office/drawing/2014/main" id="{1530C9AC-9BEF-4B09-A48D-BA5158AEFD9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018663" y="1196590"/>
            <a:ext cx="5108108" cy="4042107"/>
          </a:xfrm>
          <a:prstGeom prst="rect">
            <a:avLst/>
          </a:prstGeom>
        </p:spPr>
      </p:pic>
    </p:spTree>
    <p:extLst>
      <p:ext uri="{BB962C8B-B14F-4D97-AF65-F5344CB8AC3E}">
        <p14:creationId xmlns:p14="http://schemas.microsoft.com/office/powerpoint/2010/main" val="4049073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p:cNvGrpSpPr/>
          <p:nvPr/>
        </p:nvGrpSpPr>
        <p:grpSpPr>
          <a:xfrm>
            <a:off x="171994" y="228600"/>
            <a:ext cx="8362406" cy="6357938"/>
            <a:chOff x="171994" y="228600"/>
            <a:chExt cx="8362406" cy="6357938"/>
          </a:xfrm>
        </p:grpSpPr>
        <p:pic>
          <p:nvPicPr>
            <p:cNvPr id="3" name="Picture 199" descr="figure_20_02a_unlabel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74813" y="228600"/>
              <a:ext cx="5857875" cy="6357938"/>
            </a:xfrm>
            <a:prstGeom prst="rect">
              <a:avLst/>
            </a:prstGeom>
            <a:noFill/>
            <a:ln w="9525">
              <a:noFill/>
              <a:miter lim="800000"/>
              <a:headEnd/>
              <a:tailEnd/>
            </a:ln>
          </p:spPr>
        </p:pic>
        <p:sp>
          <p:nvSpPr>
            <p:cNvPr id="4" name="Rectangle 90"/>
            <p:cNvSpPr>
              <a:spLocks noChangeArrowheads="1"/>
            </p:cNvSpPr>
            <p:nvPr/>
          </p:nvSpPr>
          <p:spPr bwMode="auto">
            <a:xfrm>
              <a:off x="171994" y="449006"/>
              <a:ext cx="2471738" cy="313932"/>
            </a:xfrm>
            <a:prstGeom prst="rect">
              <a:avLst/>
            </a:prstGeom>
            <a:noFill/>
            <a:ln w="9525">
              <a:noFill/>
              <a:miter lim="800000"/>
              <a:headEnd/>
              <a:tailEnd/>
            </a:ln>
          </p:spPr>
          <p:txBody>
            <a:bodyPr anchor="ctr">
              <a:spAutoFit/>
            </a:bodyPr>
            <a:lstStyle/>
            <a:p>
              <a:pPr>
                <a:lnSpc>
                  <a:spcPct val="80000"/>
                </a:lnSpc>
              </a:pPr>
              <a:r>
                <a:rPr lang="fr-CA" sz="1800" dirty="0">
                  <a:latin typeface="Calibri" pitchFamily="34" charset="0"/>
                </a:rPr>
                <a:t>Veine jugulaire interne</a:t>
              </a:r>
            </a:p>
          </p:txBody>
        </p:sp>
        <p:sp>
          <p:nvSpPr>
            <p:cNvPr id="5" name="Rectangle 91"/>
            <p:cNvSpPr>
              <a:spLocks noChangeArrowheads="1"/>
            </p:cNvSpPr>
            <p:nvPr/>
          </p:nvSpPr>
          <p:spPr bwMode="auto">
            <a:xfrm>
              <a:off x="1134294" y="922989"/>
              <a:ext cx="2026919" cy="762645"/>
            </a:xfrm>
            <a:prstGeom prst="rect">
              <a:avLst/>
            </a:prstGeom>
            <a:noFill/>
            <a:ln w="9525">
              <a:noFill/>
              <a:miter lim="800000"/>
              <a:headEnd/>
              <a:tailEnd/>
            </a:ln>
          </p:spPr>
          <p:txBody>
            <a:bodyPr wrap="square" anchor="ctr">
              <a:spAutoFit/>
            </a:bodyPr>
            <a:lstStyle/>
            <a:p>
              <a:pPr>
                <a:lnSpc>
                  <a:spcPct val="80000"/>
                </a:lnSpc>
              </a:pPr>
              <a:r>
                <a:rPr lang="fr-CA" sz="1800" dirty="0">
                  <a:latin typeface="Calibri" pitchFamily="34" charset="0"/>
                </a:rPr>
                <a:t>Entrée du conduit lymphatique droit dans la veine</a:t>
              </a:r>
            </a:p>
          </p:txBody>
        </p:sp>
        <p:sp>
          <p:nvSpPr>
            <p:cNvPr id="6" name="Rectangle 92"/>
            <p:cNvSpPr>
              <a:spLocks noChangeArrowheads="1"/>
            </p:cNvSpPr>
            <p:nvPr/>
          </p:nvSpPr>
          <p:spPr bwMode="auto">
            <a:xfrm>
              <a:off x="716281" y="1867372"/>
              <a:ext cx="2131422" cy="762645"/>
            </a:xfrm>
            <a:prstGeom prst="rect">
              <a:avLst/>
            </a:prstGeom>
            <a:noFill/>
            <a:ln w="9525">
              <a:noFill/>
              <a:miter lim="800000"/>
              <a:headEnd/>
              <a:tailEnd/>
            </a:ln>
          </p:spPr>
          <p:txBody>
            <a:bodyPr wrap="square" anchor="ctr">
              <a:spAutoFit/>
            </a:bodyPr>
            <a:lstStyle/>
            <a:p>
              <a:pPr>
                <a:lnSpc>
                  <a:spcPct val="80000"/>
                </a:lnSpc>
              </a:pPr>
              <a:r>
                <a:rPr lang="fr-CA" sz="1800" dirty="0">
                  <a:latin typeface="Calibri" pitchFamily="34" charset="0"/>
                </a:rPr>
                <a:t>Entrée du conduit thoracique dans la veine</a:t>
              </a:r>
            </a:p>
          </p:txBody>
        </p:sp>
        <p:sp>
          <p:nvSpPr>
            <p:cNvPr id="7" name="Rectangle 93"/>
            <p:cNvSpPr>
              <a:spLocks noChangeArrowheads="1"/>
            </p:cNvSpPr>
            <p:nvPr/>
          </p:nvSpPr>
          <p:spPr bwMode="auto">
            <a:xfrm>
              <a:off x="645841" y="2790522"/>
              <a:ext cx="1994520" cy="313932"/>
            </a:xfrm>
            <a:prstGeom prst="rect">
              <a:avLst/>
            </a:prstGeom>
            <a:noFill/>
            <a:ln w="9525">
              <a:noFill/>
              <a:miter lim="800000"/>
              <a:headEnd/>
              <a:tailEnd/>
            </a:ln>
          </p:spPr>
          <p:txBody>
            <a:bodyPr wrap="none" anchor="ctr">
              <a:spAutoFit/>
            </a:bodyPr>
            <a:lstStyle/>
            <a:p>
              <a:pPr>
                <a:lnSpc>
                  <a:spcPct val="80000"/>
                </a:lnSpc>
              </a:pPr>
              <a:r>
                <a:rPr lang="fr-CA" sz="1800" dirty="0">
                  <a:latin typeface="Calibri" pitchFamily="34" charset="0"/>
                </a:rPr>
                <a:t>Conduit thoracique</a:t>
              </a:r>
            </a:p>
          </p:txBody>
        </p:sp>
        <p:sp>
          <p:nvSpPr>
            <p:cNvPr id="8" name="Rectangle 94"/>
            <p:cNvSpPr>
              <a:spLocks noChangeArrowheads="1"/>
            </p:cNvSpPr>
            <p:nvPr/>
          </p:nvSpPr>
          <p:spPr bwMode="auto">
            <a:xfrm>
              <a:off x="917303" y="3419671"/>
              <a:ext cx="1705532" cy="313932"/>
            </a:xfrm>
            <a:prstGeom prst="rect">
              <a:avLst/>
            </a:prstGeom>
            <a:noFill/>
            <a:ln w="9525">
              <a:noFill/>
              <a:miter lim="800000"/>
              <a:headEnd/>
              <a:tailEnd/>
            </a:ln>
          </p:spPr>
          <p:txBody>
            <a:bodyPr wrap="none" anchor="ctr">
              <a:spAutoFit/>
            </a:bodyPr>
            <a:lstStyle/>
            <a:p>
              <a:pPr>
                <a:lnSpc>
                  <a:spcPct val="80000"/>
                </a:lnSpc>
              </a:pPr>
              <a:r>
                <a:rPr lang="fr-CA" sz="1800" dirty="0">
                  <a:latin typeface="Calibri" pitchFamily="34" charset="0"/>
                </a:rPr>
                <a:t>Citerne du chyle</a:t>
              </a:r>
            </a:p>
          </p:txBody>
        </p:sp>
        <p:sp>
          <p:nvSpPr>
            <p:cNvPr id="9" name="Rectangle 95"/>
            <p:cNvSpPr>
              <a:spLocks noChangeArrowheads="1"/>
            </p:cNvSpPr>
            <p:nvPr/>
          </p:nvSpPr>
          <p:spPr bwMode="auto">
            <a:xfrm>
              <a:off x="1295400" y="4051771"/>
              <a:ext cx="1933575" cy="762645"/>
            </a:xfrm>
            <a:prstGeom prst="rect">
              <a:avLst/>
            </a:prstGeom>
            <a:noFill/>
            <a:ln w="9525">
              <a:noFill/>
              <a:miter lim="800000"/>
              <a:headEnd/>
              <a:tailEnd/>
            </a:ln>
          </p:spPr>
          <p:txBody>
            <a:bodyPr anchor="ctr">
              <a:spAutoFit/>
            </a:bodyPr>
            <a:lstStyle/>
            <a:p>
              <a:pPr>
                <a:lnSpc>
                  <a:spcPct val="80000"/>
                </a:lnSpc>
              </a:pPr>
              <a:r>
                <a:rPr lang="fr-CA" sz="1800" dirty="0">
                  <a:latin typeface="Calibri" pitchFamily="34" charset="0"/>
                </a:rPr>
                <a:t>Vaisseaux collecteurs lymphatiques</a:t>
              </a:r>
            </a:p>
          </p:txBody>
        </p:sp>
        <p:sp>
          <p:nvSpPr>
            <p:cNvPr id="10" name="Rectangle 96"/>
            <p:cNvSpPr>
              <a:spLocks noChangeArrowheads="1"/>
            </p:cNvSpPr>
            <p:nvPr/>
          </p:nvSpPr>
          <p:spPr bwMode="auto">
            <a:xfrm>
              <a:off x="5757863" y="447027"/>
              <a:ext cx="2395537" cy="541046"/>
            </a:xfrm>
            <a:prstGeom prst="rect">
              <a:avLst/>
            </a:prstGeom>
            <a:noFill/>
            <a:ln w="9525">
              <a:noFill/>
              <a:miter lim="800000"/>
              <a:headEnd/>
              <a:tailEnd/>
            </a:ln>
          </p:spPr>
          <p:txBody>
            <a:bodyPr anchor="ctr">
              <a:spAutoFit/>
            </a:bodyPr>
            <a:lstStyle/>
            <a:p>
              <a:pPr>
                <a:lnSpc>
                  <a:spcPct val="80000"/>
                </a:lnSpc>
              </a:pPr>
              <a:r>
                <a:rPr lang="fr-CA" sz="1800" b="1" dirty="0">
                  <a:latin typeface="Calibri" pitchFamily="34" charset="0"/>
                </a:rPr>
                <a:t>Nœuds lymphatiques régionaux:</a:t>
              </a:r>
            </a:p>
          </p:txBody>
        </p:sp>
        <p:sp>
          <p:nvSpPr>
            <p:cNvPr id="11" name="Rectangle 97"/>
            <p:cNvSpPr>
              <a:spLocks noChangeArrowheads="1"/>
            </p:cNvSpPr>
            <p:nvPr/>
          </p:nvSpPr>
          <p:spPr bwMode="auto">
            <a:xfrm>
              <a:off x="5870575" y="1167009"/>
              <a:ext cx="2607252" cy="313932"/>
            </a:xfrm>
            <a:prstGeom prst="rect">
              <a:avLst/>
            </a:prstGeom>
            <a:noFill/>
            <a:ln w="9525">
              <a:noFill/>
              <a:miter lim="800000"/>
              <a:headEnd/>
              <a:tailEnd/>
            </a:ln>
          </p:spPr>
          <p:txBody>
            <a:bodyPr wrap="none" anchor="ctr">
              <a:spAutoFit/>
            </a:bodyPr>
            <a:lstStyle/>
            <a:p>
              <a:pPr>
                <a:lnSpc>
                  <a:spcPct val="80000"/>
                </a:lnSpc>
              </a:pPr>
              <a:r>
                <a:rPr lang="fr-CA" sz="1800">
                  <a:latin typeface="Calibri" pitchFamily="34" charset="0"/>
                </a:rPr>
                <a:t>Nœuds cervicaux latéraux</a:t>
              </a:r>
            </a:p>
          </p:txBody>
        </p:sp>
        <p:sp>
          <p:nvSpPr>
            <p:cNvPr id="12" name="Rectangle 98"/>
            <p:cNvSpPr>
              <a:spLocks noChangeArrowheads="1"/>
            </p:cNvSpPr>
            <p:nvPr/>
          </p:nvSpPr>
          <p:spPr bwMode="auto">
            <a:xfrm>
              <a:off x="5870575" y="2359964"/>
              <a:ext cx="2450465" cy="541046"/>
            </a:xfrm>
            <a:prstGeom prst="rect">
              <a:avLst/>
            </a:prstGeom>
            <a:noFill/>
            <a:ln w="9525">
              <a:noFill/>
              <a:miter lim="800000"/>
              <a:headEnd/>
              <a:tailEnd/>
            </a:ln>
          </p:spPr>
          <p:txBody>
            <a:bodyPr wrap="square" anchor="ctr">
              <a:spAutoFit/>
            </a:bodyPr>
            <a:lstStyle/>
            <a:p>
              <a:pPr>
                <a:lnSpc>
                  <a:spcPct val="80000"/>
                </a:lnSpc>
              </a:pPr>
              <a:r>
                <a:rPr lang="fr-CA" sz="1800" dirty="0">
                  <a:latin typeface="Calibri" pitchFamily="34" charset="0"/>
                </a:rPr>
                <a:t>Nœuds lymphatiques axillaires</a:t>
              </a:r>
            </a:p>
          </p:txBody>
        </p:sp>
        <p:sp>
          <p:nvSpPr>
            <p:cNvPr id="13" name="Rectangle 99"/>
            <p:cNvSpPr>
              <a:spLocks noChangeArrowheads="1"/>
            </p:cNvSpPr>
            <p:nvPr/>
          </p:nvSpPr>
          <p:spPr bwMode="auto">
            <a:xfrm>
              <a:off x="5856288" y="3955402"/>
              <a:ext cx="2678112" cy="541046"/>
            </a:xfrm>
            <a:prstGeom prst="rect">
              <a:avLst/>
            </a:prstGeom>
            <a:noFill/>
            <a:ln w="9525">
              <a:noFill/>
              <a:miter lim="800000"/>
              <a:headEnd/>
              <a:tailEnd/>
            </a:ln>
          </p:spPr>
          <p:txBody>
            <a:bodyPr anchor="ctr">
              <a:spAutoFit/>
            </a:bodyPr>
            <a:lstStyle/>
            <a:p>
              <a:pPr>
                <a:lnSpc>
                  <a:spcPct val="80000"/>
                </a:lnSpc>
              </a:pPr>
              <a:r>
                <a:rPr lang="fr-CA" sz="1800">
                  <a:latin typeface="Calibri" pitchFamily="34" charset="0"/>
                </a:rPr>
                <a:t>Nœuds lymphatiques inguinaux</a:t>
              </a:r>
            </a:p>
          </p:txBody>
        </p:sp>
        <p:sp>
          <p:nvSpPr>
            <p:cNvPr id="14" name="Rectangle 100"/>
            <p:cNvSpPr>
              <a:spLocks noChangeArrowheads="1"/>
            </p:cNvSpPr>
            <p:nvPr/>
          </p:nvSpPr>
          <p:spPr bwMode="auto">
            <a:xfrm>
              <a:off x="3559175" y="3448328"/>
              <a:ext cx="709553" cy="369332"/>
            </a:xfrm>
            <a:prstGeom prst="rect">
              <a:avLst/>
            </a:prstGeom>
            <a:noFill/>
            <a:ln w="9525">
              <a:noFill/>
              <a:miter lim="800000"/>
              <a:headEnd/>
              <a:tailEnd/>
            </a:ln>
          </p:spPr>
          <p:txBody>
            <a:bodyPr wrap="none" anchor="ctr">
              <a:spAutoFit/>
            </a:bodyPr>
            <a:lstStyle/>
            <a:p>
              <a:r>
                <a:rPr lang="fr-CA" sz="1800" dirty="0">
                  <a:latin typeface="Calibri" pitchFamily="34" charset="0"/>
                </a:rPr>
                <a:t>Aorte</a:t>
              </a:r>
            </a:p>
          </p:txBody>
        </p:sp>
        <p:sp>
          <p:nvSpPr>
            <p:cNvPr id="15" name="Rectangle 101"/>
            <p:cNvSpPr>
              <a:spLocks noChangeArrowheads="1"/>
            </p:cNvSpPr>
            <p:nvPr/>
          </p:nvSpPr>
          <p:spPr bwMode="auto">
            <a:xfrm>
              <a:off x="1906588" y="5547796"/>
              <a:ext cx="3894336" cy="369332"/>
            </a:xfrm>
            <a:prstGeom prst="rect">
              <a:avLst/>
            </a:prstGeom>
            <a:noFill/>
            <a:ln w="9525">
              <a:noFill/>
              <a:miter lim="800000"/>
              <a:headEnd/>
              <a:tailEnd/>
            </a:ln>
          </p:spPr>
          <p:txBody>
            <a:bodyPr wrap="none" anchor="ctr">
              <a:spAutoFit/>
            </a:bodyPr>
            <a:lstStyle/>
            <a:p>
              <a:r>
                <a:rPr lang="fr-CA" dirty="0">
                  <a:latin typeface="Calibri" pitchFamily="34" charset="0"/>
                </a:rPr>
                <a:t>Drainé par le conduit lymphatique droit</a:t>
              </a:r>
            </a:p>
          </p:txBody>
        </p:sp>
        <p:sp>
          <p:nvSpPr>
            <p:cNvPr id="16" name="Rectangle 102"/>
            <p:cNvSpPr>
              <a:spLocks noChangeArrowheads="1"/>
            </p:cNvSpPr>
            <p:nvPr/>
          </p:nvSpPr>
          <p:spPr bwMode="auto">
            <a:xfrm>
              <a:off x="1906588" y="5804971"/>
              <a:ext cx="3225370" cy="369332"/>
            </a:xfrm>
            <a:prstGeom prst="rect">
              <a:avLst/>
            </a:prstGeom>
            <a:noFill/>
            <a:ln w="9525">
              <a:noFill/>
              <a:miter lim="800000"/>
              <a:headEnd/>
              <a:tailEnd/>
            </a:ln>
          </p:spPr>
          <p:txBody>
            <a:bodyPr wrap="none" anchor="ctr">
              <a:spAutoFit/>
            </a:bodyPr>
            <a:lstStyle/>
            <a:p>
              <a:r>
                <a:rPr lang="fr-CA">
                  <a:latin typeface="Calibri" pitchFamily="34" charset="0"/>
                </a:rPr>
                <a:t>Drainé par le conduit thoracique</a:t>
              </a:r>
            </a:p>
          </p:txBody>
        </p:sp>
        <p:sp>
          <p:nvSpPr>
            <p:cNvPr id="17" name="Freeform 123"/>
            <p:cNvSpPr>
              <a:spLocks/>
            </p:cNvSpPr>
            <p:nvPr/>
          </p:nvSpPr>
          <p:spPr bwMode="auto">
            <a:xfrm>
              <a:off x="2578100" y="615950"/>
              <a:ext cx="1708150" cy="1158875"/>
            </a:xfrm>
            <a:custGeom>
              <a:avLst/>
              <a:gdLst>
                <a:gd name="T0" fmla="*/ 0 w 1088"/>
                <a:gd name="T1" fmla="*/ 0 h 739"/>
                <a:gd name="T2" fmla="*/ 2147483647 w 1088"/>
                <a:gd name="T3" fmla="*/ 0 h 739"/>
                <a:gd name="T4" fmla="*/ 2147483647 w 1088"/>
                <a:gd name="T5" fmla="*/ 2147483647 h 739"/>
                <a:gd name="T6" fmla="*/ 0 60000 65536"/>
                <a:gd name="T7" fmla="*/ 0 60000 65536"/>
                <a:gd name="T8" fmla="*/ 0 60000 65536"/>
                <a:gd name="T9" fmla="*/ 0 w 1088"/>
                <a:gd name="T10" fmla="*/ 0 h 739"/>
                <a:gd name="T11" fmla="*/ 1088 w 1088"/>
                <a:gd name="T12" fmla="*/ 739 h 739"/>
              </a:gdLst>
              <a:ahLst/>
              <a:cxnLst>
                <a:cxn ang="T6">
                  <a:pos x="T0" y="T1"/>
                </a:cxn>
                <a:cxn ang="T7">
                  <a:pos x="T2" y="T3"/>
                </a:cxn>
                <a:cxn ang="T8">
                  <a:pos x="T4" y="T5"/>
                </a:cxn>
              </a:cxnLst>
              <a:rect l="T9" t="T10" r="T11" b="T12"/>
              <a:pathLst>
                <a:path w="1088" h="739">
                  <a:moveTo>
                    <a:pt x="0" y="0"/>
                  </a:moveTo>
                  <a:lnTo>
                    <a:pt x="267" y="0"/>
                  </a:lnTo>
                  <a:lnTo>
                    <a:pt x="1088" y="739"/>
                  </a:lnTo>
                </a:path>
              </a:pathLst>
            </a:custGeom>
            <a:noFill/>
            <a:ln w="9525" cap="flat" cmpd="sng">
              <a:solidFill>
                <a:schemeClr val="tx1"/>
              </a:solidFill>
              <a:prstDash val="solid"/>
              <a:round/>
              <a:headEnd/>
              <a:tailEnd/>
            </a:ln>
          </p:spPr>
          <p:txBody>
            <a:bodyPr wrap="none" anchor="ctr"/>
            <a:lstStyle/>
            <a:p>
              <a:endParaRPr lang="fr-CA"/>
            </a:p>
          </p:txBody>
        </p:sp>
        <p:sp>
          <p:nvSpPr>
            <p:cNvPr id="18" name="Freeform 124"/>
            <p:cNvSpPr>
              <a:spLocks/>
            </p:cNvSpPr>
            <p:nvPr/>
          </p:nvSpPr>
          <p:spPr bwMode="auto">
            <a:xfrm>
              <a:off x="3051175" y="1293813"/>
              <a:ext cx="1201738" cy="590550"/>
            </a:xfrm>
            <a:custGeom>
              <a:avLst/>
              <a:gdLst>
                <a:gd name="T0" fmla="*/ 0 w 766"/>
                <a:gd name="T1" fmla="*/ 0 h 376"/>
                <a:gd name="T2" fmla="*/ 2147483647 w 766"/>
                <a:gd name="T3" fmla="*/ 0 h 376"/>
                <a:gd name="T4" fmla="*/ 2147483647 w 766"/>
                <a:gd name="T5" fmla="*/ 2147483647 h 376"/>
                <a:gd name="T6" fmla="*/ 0 60000 65536"/>
                <a:gd name="T7" fmla="*/ 0 60000 65536"/>
                <a:gd name="T8" fmla="*/ 0 60000 65536"/>
                <a:gd name="T9" fmla="*/ 0 w 766"/>
                <a:gd name="T10" fmla="*/ 0 h 376"/>
                <a:gd name="T11" fmla="*/ 766 w 766"/>
                <a:gd name="T12" fmla="*/ 376 h 376"/>
              </a:gdLst>
              <a:ahLst/>
              <a:cxnLst>
                <a:cxn ang="T6">
                  <a:pos x="T0" y="T1"/>
                </a:cxn>
                <a:cxn ang="T7">
                  <a:pos x="T2" y="T3"/>
                </a:cxn>
                <a:cxn ang="T8">
                  <a:pos x="T4" y="T5"/>
                </a:cxn>
              </a:cxnLst>
              <a:rect l="T9" t="T10" r="T11" b="T12"/>
              <a:pathLst>
                <a:path w="766" h="376">
                  <a:moveTo>
                    <a:pt x="0" y="0"/>
                  </a:moveTo>
                  <a:lnTo>
                    <a:pt x="190" y="0"/>
                  </a:lnTo>
                  <a:lnTo>
                    <a:pt x="766" y="376"/>
                  </a:lnTo>
                </a:path>
              </a:pathLst>
            </a:custGeom>
            <a:noFill/>
            <a:ln w="9525" cap="flat" cmpd="sng">
              <a:solidFill>
                <a:schemeClr val="tx1"/>
              </a:solidFill>
              <a:prstDash val="solid"/>
              <a:round/>
              <a:headEnd/>
              <a:tailEnd/>
            </a:ln>
          </p:spPr>
          <p:txBody>
            <a:bodyPr wrap="none" anchor="ctr"/>
            <a:lstStyle/>
            <a:p>
              <a:endParaRPr lang="fr-CA"/>
            </a:p>
          </p:txBody>
        </p:sp>
        <p:sp>
          <p:nvSpPr>
            <p:cNvPr id="19" name="Freeform 125"/>
            <p:cNvSpPr>
              <a:spLocks/>
            </p:cNvSpPr>
            <p:nvPr/>
          </p:nvSpPr>
          <p:spPr bwMode="auto">
            <a:xfrm>
              <a:off x="2667000" y="1876425"/>
              <a:ext cx="2066925" cy="257175"/>
            </a:xfrm>
            <a:custGeom>
              <a:avLst/>
              <a:gdLst>
                <a:gd name="T0" fmla="*/ 0 w 1065"/>
                <a:gd name="T1" fmla="*/ 2147483647 h 154"/>
                <a:gd name="T2" fmla="*/ 2147483647 w 1065"/>
                <a:gd name="T3" fmla="*/ 2147483647 h 154"/>
                <a:gd name="T4" fmla="*/ 2147483647 w 1065"/>
                <a:gd name="T5" fmla="*/ 0 h 154"/>
                <a:gd name="T6" fmla="*/ 0 60000 65536"/>
                <a:gd name="T7" fmla="*/ 0 60000 65536"/>
                <a:gd name="T8" fmla="*/ 0 60000 65536"/>
                <a:gd name="T9" fmla="*/ 0 w 1065"/>
                <a:gd name="T10" fmla="*/ 0 h 154"/>
                <a:gd name="T11" fmla="*/ 1065 w 1065"/>
                <a:gd name="T12" fmla="*/ 154 h 154"/>
              </a:gdLst>
              <a:ahLst/>
              <a:cxnLst>
                <a:cxn ang="T6">
                  <a:pos x="T0" y="T1"/>
                </a:cxn>
                <a:cxn ang="T7">
                  <a:pos x="T2" y="T3"/>
                </a:cxn>
                <a:cxn ang="T8">
                  <a:pos x="T4" y="T5"/>
                </a:cxn>
              </a:cxnLst>
              <a:rect l="T9" t="T10" r="T11" b="T12"/>
              <a:pathLst>
                <a:path w="1065" h="154">
                  <a:moveTo>
                    <a:pt x="0" y="154"/>
                  </a:moveTo>
                  <a:lnTo>
                    <a:pt x="154" y="154"/>
                  </a:lnTo>
                  <a:lnTo>
                    <a:pt x="1065" y="0"/>
                  </a:lnTo>
                </a:path>
              </a:pathLst>
            </a:custGeom>
            <a:noFill/>
            <a:ln w="9525" cap="flat" cmpd="sng">
              <a:solidFill>
                <a:schemeClr val="tx1"/>
              </a:solidFill>
              <a:prstDash val="solid"/>
              <a:round/>
              <a:headEnd/>
              <a:tailEnd/>
            </a:ln>
          </p:spPr>
          <p:txBody>
            <a:bodyPr wrap="none" anchor="ctr"/>
            <a:lstStyle/>
            <a:p>
              <a:endParaRPr lang="fr-CA"/>
            </a:p>
          </p:txBody>
        </p:sp>
        <p:sp>
          <p:nvSpPr>
            <p:cNvPr id="20" name="Freeform 126"/>
            <p:cNvSpPr>
              <a:spLocks/>
            </p:cNvSpPr>
            <p:nvPr/>
          </p:nvSpPr>
          <p:spPr bwMode="auto">
            <a:xfrm>
              <a:off x="2740025" y="2913063"/>
              <a:ext cx="1755775" cy="1587"/>
            </a:xfrm>
            <a:custGeom>
              <a:avLst/>
              <a:gdLst>
                <a:gd name="T0" fmla="*/ 0 w 1119"/>
                <a:gd name="T1" fmla="*/ 2147483647 h 1"/>
                <a:gd name="T2" fmla="*/ 2147483647 w 1119"/>
                <a:gd name="T3" fmla="*/ 0 h 1"/>
                <a:gd name="T4" fmla="*/ 0 60000 65536"/>
                <a:gd name="T5" fmla="*/ 0 60000 65536"/>
                <a:gd name="T6" fmla="*/ 0 w 1119"/>
                <a:gd name="T7" fmla="*/ 0 h 1"/>
                <a:gd name="T8" fmla="*/ 1119 w 1119"/>
                <a:gd name="T9" fmla="*/ 1 h 1"/>
              </a:gdLst>
              <a:ahLst/>
              <a:cxnLst>
                <a:cxn ang="T4">
                  <a:pos x="T0" y="T1"/>
                </a:cxn>
                <a:cxn ang="T5">
                  <a:pos x="T2" y="T3"/>
                </a:cxn>
              </a:cxnLst>
              <a:rect l="T6" t="T7" r="T8" b="T9"/>
              <a:pathLst>
                <a:path w="1119" h="1">
                  <a:moveTo>
                    <a:pt x="0" y="1"/>
                  </a:moveTo>
                  <a:lnTo>
                    <a:pt x="1119" y="0"/>
                  </a:lnTo>
                </a:path>
              </a:pathLst>
            </a:custGeom>
            <a:noFill/>
            <a:ln w="9525">
              <a:solidFill>
                <a:schemeClr val="tx1"/>
              </a:solidFill>
              <a:round/>
              <a:headEnd/>
              <a:tailEnd/>
            </a:ln>
          </p:spPr>
          <p:txBody>
            <a:bodyPr wrap="none" anchor="ctr"/>
            <a:lstStyle/>
            <a:p>
              <a:endParaRPr lang="fr-CA"/>
            </a:p>
          </p:txBody>
        </p:sp>
        <p:sp>
          <p:nvSpPr>
            <p:cNvPr id="21" name="Freeform 127"/>
            <p:cNvSpPr>
              <a:spLocks/>
            </p:cNvSpPr>
            <p:nvPr/>
          </p:nvSpPr>
          <p:spPr bwMode="auto">
            <a:xfrm>
              <a:off x="2690813" y="3352800"/>
              <a:ext cx="1682750" cy="217488"/>
            </a:xfrm>
            <a:custGeom>
              <a:avLst/>
              <a:gdLst>
                <a:gd name="T0" fmla="*/ 0 w 1072"/>
                <a:gd name="T1" fmla="*/ 2147483647 h 139"/>
                <a:gd name="T2" fmla="*/ 2147483647 w 1072"/>
                <a:gd name="T3" fmla="*/ 2147483647 h 139"/>
                <a:gd name="T4" fmla="*/ 2147483647 w 1072"/>
                <a:gd name="T5" fmla="*/ 0 h 139"/>
                <a:gd name="T6" fmla="*/ 0 60000 65536"/>
                <a:gd name="T7" fmla="*/ 0 60000 65536"/>
                <a:gd name="T8" fmla="*/ 0 60000 65536"/>
                <a:gd name="T9" fmla="*/ 0 w 1072"/>
                <a:gd name="T10" fmla="*/ 0 h 139"/>
                <a:gd name="T11" fmla="*/ 1072 w 1072"/>
                <a:gd name="T12" fmla="*/ 139 h 139"/>
              </a:gdLst>
              <a:ahLst/>
              <a:cxnLst>
                <a:cxn ang="T6">
                  <a:pos x="T0" y="T1"/>
                </a:cxn>
                <a:cxn ang="T7">
                  <a:pos x="T2" y="T3"/>
                </a:cxn>
                <a:cxn ang="T8">
                  <a:pos x="T4" y="T5"/>
                </a:cxn>
              </a:cxnLst>
              <a:rect l="T9" t="T10" r="T11" b="T12"/>
              <a:pathLst>
                <a:path w="1072" h="139">
                  <a:moveTo>
                    <a:pt x="0" y="138"/>
                  </a:moveTo>
                  <a:lnTo>
                    <a:pt x="275" y="139"/>
                  </a:lnTo>
                  <a:lnTo>
                    <a:pt x="1072" y="0"/>
                  </a:lnTo>
                </a:path>
              </a:pathLst>
            </a:custGeom>
            <a:noFill/>
            <a:ln w="9525" cap="flat" cmpd="sng">
              <a:solidFill>
                <a:schemeClr val="tx1"/>
              </a:solidFill>
              <a:prstDash val="solid"/>
              <a:round/>
              <a:headEnd/>
              <a:tailEnd/>
            </a:ln>
          </p:spPr>
          <p:txBody>
            <a:bodyPr wrap="none" anchor="ctr"/>
            <a:lstStyle/>
            <a:p>
              <a:endParaRPr lang="fr-CA"/>
            </a:p>
          </p:txBody>
        </p:sp>
        <p:sp>
          <p:nvSpPr>
            <p:cNvPr id="22" name="Freeform 128"/>
            <p:cNvSpPr>
              <a:spLocks/>
            </p:cNvSpPr>
            <p:nvPr/>
          </p:nvSpPr>
          <p:spPr bwMode="auto">
            <a:xfrm>
              <a:off x="4252913" y="3557588"/>
              <a:ext cx="271462" cy="90487"/>
            </a:xfrm>
            <a:custGeom>
              <a:avLst/>
              <a:gdLst>
                <a:gd name="T0" fmla="*/ 0 w 173"/>
                <a:gd name="T1" fmla="*/ 2147483647 h 58"/>
                <a:gd name="T2" fmla="*/ 2147483647 w 173"/>
                <a:gd name="T3" fmla="*/ 2147483647 h 58"/>
                <a:gd name="T4" fmla="*/ 2147483647 w 173"/>
                <a:gd name="T5" fmla="*/ 0 h 58"/>
                <a:gd name="T6" fmla="*/ 0 60000 65536"/>
                <a:gd name="T7" fmla="*/ 0 60000 65536"/>
                <a:gd name="T8" fmla="*/ 0 60000 65536"/>
                <a:gd name="T9" fmla="*/ 0 w 173"/>
                <a:gd name="T10" fmla="*/ 0 h 58"/>
                <a:gd name="T11" fmla="*/ 173 w 173"/>
                <a:gd name="T12" fmla="*/ 58 h 58"/>
              </a:gdLst>
              <a:ahLst/>
              <a:cxnLst>
                <a:cxn ang="T6">
                  <a:pos x="T0" y="T1"/>
                </a:cxn>
                <a:cxn ang="T7">
                  <a:pos x="T2" y="T3"/>
                </a:cxn>
                <a:cxn ang="T8">
                  <a:pos x="T4" y="T5"/>
                </a:cxn>
              </a:cxnLst>
              <a:rect l="T9" t="T10" r="T11" b="T12"/>
              <a:pathLst>
                <a:path w="173" h="58">
                  <a:moveTo>
                    <a:pt x="0" y="58"/>
                  </a:moveTo>
                  <a:lnTo>
                    <a:pt x="54" y="58"/>
                  </a:lnTo>
                  <a:lnTo>
                    <a:pt x="173" y="0"/>
                  </a:lnTo>
                </a:path>
              </a:pathLst>
            </a:custGeom>
            <a:noFill/>
            <a:ln w="9525" cap="flat" cmpd="sng">
              <a:solidFill>
                <a:schemeClr val="tx1"/>
              </a:solidFill>
              <a:prstDash val="solid"/>
              <a:round/>
              <a:headEnd/>
              <a:tailEnd/>
            </a:ln>
          </p:spPr>
          <p:txBody>
            <a:bodyPr wrap="none" anchor="ctr"/>
            <a:lstStyle/>
            <a:p>
              <a:endParaRPr lang="fr-CA"/>
            </a:p>
          </p:txBody>
        </p:sp>
        <p:sp>
          <p:nvSpPr>
            <p:cNvPr id="23" name="Freeform 129"/>
            <p:cNvSpPr>
              <a:spLocks/>
            </p:cNvSpPr>
            <p:nvPr/>
          </p:nvSpPr>
          <p:spPr bwMode="auto">
            <a:xfrm>
              <a:off x="2514600" y="4191000"/>
              <a:ext cx="684213" cy="53975"/>
            </a:xfrm>
            <a:custGeom>
              <a:avLst/>
              <a:gdLst>
                <a:gd name="T0" fmla="*/ 0 w 215"/>
                <a:gd name="T1" fmla="*/ 0 h 2"/>
                <a:gd name="T2" fmla="*/ 2147483647 w 215"/>
                <a:gd name="T3" fmla="*/ 2147483647 h 2"/>
                <a:gd name="T4" fmla="*/ 0 60000 65536"/>
                <a:gd name="T5" fmla="*/ 0 60000 65536"/>
                <a:gd name="T6" fmla="*/ 0 w 215"/>
                <a:gd name="T7" fmla="*/ 0 h 2"/>
                <a:gd name="T8" fmla="*/ 215 w 215"/>
                <a:gd name="T9" fmla="*/ 2 h 2"/>
              </a:gdLst>
              <a:ahLst/>
              <a:cxnLst>
                <a:cxn ang="T4">
                  <a:pos x="T0" y="T1"/>
                </a:cxn>
                <a:cxn ang="T5">
                  <a:pos x="T2" y="T3"/>
                </a:cxn>
              </a:cxnLst>
              <a:rect l="T6" t="T7" r="T8" b="T9"/>
              <a:pathLst>
                <a:path w="215" h="2">
                  <a:moveTo>
                    <a:pt x="0" y="0"/>
                  </a:moveTo>
                  <a:lnTo>
                    <a:pt x="215" y="2"/>
                  </a:lnTo>
                </a:path>
              </a:pathLst>
            </a:custGeom>
            <a:noFill/>
            <a:ln w="9525">
              <a:solidFill>
                <a:schemeClr val="tx1"/>
              </a:solidFill>
              <a:round/>
              <a:headEnd/>
              <a:tailEnd/>
            </a:ln>
          </p:spPr>
          <p:txBody>
            <a:bodyPr wrap="none" anchor="ctr"/>
            <a:lstStyle/>
            <a:p>
              <a:endParaRPr lang="fr-CA"/>
            </a:p>
          </p:txBody>
        </p:sp>
        <p:sp>
          <p:nvSpPr>
            <p:cNvPr id="24" name="Line 130"/>
            <p:cNvSpPr>
              <a:spLocks noChangeShapeType="1"/>
            </p:cNvSpPr>
            <p:nvPr/>
          </p:nvSpPr>
          <p:spPr bwMode="auto">
            <a:xfrm>
              <a:off x="3078163" y="4244975"/>
              <a:ext cx="873125" cy="565150"/>
            </a:xfrm>
            <a:prstGeom prst="line">
              <a:avLst/>
            </a:prstGeom>
            <a:noFill/>
            <a:ln w="9525">
              <a:solidFill>
                <a:schemeClr val="tx1"/>
              </a:solidFill>
              <a:round/>
              <a:headEnd/>
              <a:tailEnd/>
            </a:ln>
          </p:spPr>
          <p:txBody>
            <a:bodyPr wrap="none" anchor="ctr"/>
            <a:lstStyle/>
            <a:p>
              <a:endParaRPr lang="fr-CA"/>
            </a:p>
          </p:txBody>
        </p:sp>
        <p:sp>
          <p:nvSpPr>
            <p:cNvPr id="25" name="Freeform 131"/>
            <p:cNvSpPr>
              <a:spLocks/>
            </p:cNvSpPr>
            <p:nvPr/>
          </p:nvSpPr>
          <p:spPr bwMode="auto">
            <a:xfrm>
              <a:off x="5016500" y="4097338"/>
              <a:ext cx="876300" cy="614362"/>
            </a:xfrm>
            <a:custGeom>
              <a:avLst/>
              <a:gdLst>
                <a:gd name="T0" fmla="*/ 0 w 558"/>
                <a:gd name="T1" fmla="*/ 2147483647 h 392"/>
                <a:gd name="T2" fmla="*/ 2147483647 w 558"/>
                <a:gd name="T3" fmla="*/ 0 h 392"/>
                <a:gd name="T4" fmla="*/ 2147483647 w 558"/>
                <a:gd name="T5" fmla="*/ 0 h 392"/>
                <a:gd name="T6" fmla="*/ 0 60000 65536"/>
                <a:gd name="T7" fmla="*/ 0 60000 65536"/>
                <a:gd name="T8" fmla="*/ 0 60000 65536"/>
                <a:gd name="T9" fmla="*/ 0 w 558"/>
                <a:gd name="T10" fmla="*/ 0 h 392"/>
                <a:gd name="T11" fmla="*/ 558 w 558"/>
                <a:gd name="T12" fmla="*/ 392 h 392"/>
              </a:gdLst>
              <a:ahLst/>
              <a:cxnLst>
                <a:cxn ang="T6">
                  <a:pos x="T0" y="T1"/>
                </a:cxn>
                <a:cxn ang="T7">
                  <a:pos x="T2" y="T3"/>
                </a:cxn>
                <a:cxn ang="T8">
                  <a:pos x="T4" y="T5"/>
                </a:cxn>
              </a:cxnLst>
              <a:rect l="T9" t="T10" r="T11" b="T12"/>
              <a:pathLst>
                <a:path w="558" h="392">
                  <a:moveTo>
                    <a:pt x="0" y="392"/>
                  </a:moveTo>
                  <a:lnTo>
                    <a:pt x="500" y="0"/>
                  </a:lnTo>
                  <a:lnTo>
                    <a:pt x="558" y="0"/>
                  </a:lnTo>
                </a:path>
              </a:pathLst>
            </a:custGeom>
            <a:noFill/>
            <a:ln w="9525" cap="flat" cmpd="sng">
              <a:solidFill>
                <a:schemeClr val="tx1"/>
              </a:solidFill>
              <a:prstDash val="solid"/>
              <a:round/>
              <a:headEnd/>
              <a:tailEnd/>
            </a:ln>
          </p:spPr>
          <p:txBody>
            <a:bodyPr wrap="none" anchor="ctr"/>
            <a:lstStyle/>
            <a:p>
              <a:endParaRPr lang="fr-CA"/>
            </a:p>
          </p:txBody>
        </p:sp>
        <p:sp>
          <p:nvSpPr>
            <p:cNvPr id="26" name="Line 132"/>
            <p:cNvSpPr>
              <a:spLocks noChangeShapeType="1"/>
            </p:cNvSpPr>
            <p:nvPr/>
          </p:nvSpPr>
          <p:spPr bwMode="auto">
            <a:xfrm flipH="1">
              <a:off x="5080000" y="4094163"/>
              <a:ext cx="733425" cy="442912"/>
            </a:xfrm>
            <a:prstGeom prst="line">
              <a:avLst/>
            </a:prstGeom>
            <a:noFill/>
            <a:ln w="9525">
              <a:solidFill>
                <a:schemeClr val="tx1"/>
              </a:solidFill>
              <a:round/>
              <a:headEnd/>
              <a:tailEnd/>
            </a:ln>
          </p:spPr>
          <p:txBody>
            <a:bodyPr wrap="none" anchor="ctr"/>
            <a:lstStyle/>
            <a:p>
              <a:endParaRPr lang="fr-CA"/>
            </a:p>
          </p:txBody>
        </p:sp>
        <p:sp>
          <p:nvSpPr>
            <p:cNvPr id="27" name="Freeform 133"/>
            <p:cNvSpPr>
              <a:spLocks/>
            </p:cNvSpPr>
            <p:nvPr/>
          </p:nvSpPr>
          <p:spPr bwMode="auto">
            <a:xfrm>
              <a:off x="4772025" y="1314450"/>
              <a:ext cx="1130300" cy="357188"/>
            </a:xfrm>
            <a:custGeom>
              <a:avLst/>
              <a:gdLst>
                <a:gd name="T0" fmla="*/ 0 w 720"/>
                <a:gd name="T1" fmla="*/ 2147483647 h 228"/>
                <a:gd name="T2" fmla="*/ 2147483647 w 720"/>
                <a:gd name="T3" fmla="*/ 0 h 228"/>
                <a:gd name="T4" fmla="*/ 2147483647 w 720"/>
                <a:gd name="T5" fmla="*/ 0 h 228"/>
                <a:gd name="T6" fmla="*/ 0 60000 65536"/>
                <a:gd name="T7" fmla="*/ 0 60000 65536"/>
                <a:gd name="T8" fmla="*/ 0 60000 65536"/>
                <a:gd name="T9" fmla="*/ 0 w 720"/>
                <a:gd name="T10" fmla="*/ 0 h 228"/>
                <a:gd name="T11" fmla="*/ 720 w 720"/>
                <a:gd name="T12" fmla="*/ 228 h 228"/>
              </a:gdLst>
              <a:ahLst/>
              <a:cxnLst>
                <a:cxn ang="T6">
                  <a:pos x="T0" y="T1"/>
                </a:cxn>
                <a:cxn ang="T7">
                  <a:pos x="T2" y="T3"/>
                </a:cxn>
                <a:cxn ang="T8">
                  <a:pos x="T4" y="T5"/>
                </a:cxn>
              </a:cxnLst>
              <a:rect l="T9" t="T10" r="T11" b="T12"/>
              <a:pathLst>
                <a:path w="720" h="228">
                  <a:moveTo>
                    <a:pt x="0" y="228"/>
                  </a:moveTo>
                  <a:lnTo>
                    <a:pt x="316" y="0"/>
                  </a:lnTo>
                  <a:lnTo>
                    <a:pt x="720" y="0"/>
                  </a:lnTo>
                </a:path>
              </a:pathLst>
            </a:custGeom>
            <a:noFill/>
            <a:ln w="9525" cap="flat" cmpd="sng">
              <a:solidFill>
                <a:schemeClr val="tx1"/>
              </a:solidFill>
              <a:prstDash val="solid"/>
              <a:round/>
              <a:headEnd/>
              <a:tailEnd/>
            </a:ln>
          </p:spPr>
          <p:txBody>
            <a:bodyPr wrap="none" anchor="ctr"/>
            <a:lstStyle/>
            <a:p>
              <a:endParaRPr lang="fr-CA"/>
            </a:p>
          </p:txBody>
        </p:sp>
        <p:sp>
          <p:nvSpPr>
            <p:cNvPr id="28" name="Line 134"/>
            <p:cNvSpPr>
              <a:spLocks noChangeShapeType="1"/>
            </p:cNvSpPr>
            <p:nvPr/>
          </p:nvSpPr>
          <p:spPr bwMode="auto">
            <a:xfrm flipH="1" flipV="1">
              <a:off x="4775200" y="1257300"/>
              <a:ext cx="488950" cy="57150"/>
            </a:xfrm>
            <a:prstGeom prst="line">
              <a:avLst/>
            </a:prstGeom>
            <a:noFill/>
            <a:ln w="9525">
              <a:solidFill>
                <a:schemeClr val="tx1"/>
              </a:solidFill>
              <a:round/>
              <a:headEnd/>
              <a:tailEnd/>
            </a:ln>
          </p:spPr>
          <p:txBody>
            <a:bodyPr wrap="none" anchor="ctr"/>
            <a:lstStyle/>
            <a:p>
              <a:endParaRPr lang="fr-CA"/>
            </a:p>
          </p:txBody>
        </p:sp>
        <p:sp>
          <p:nvSpPr>
            <p:cNvPr id="29" name="Line 135"/>
            <p:cNvSpPr>
              <a:spLocks noChangeShapeType="1"/>
            </p:cNvSpPr>
            <p:nvPr/>
          </p:nvSpPr>
          <p:spPr bwMode="auto">
            <a:xfrm flipH="1">
              <a:off x="4746625" y="1317625"/>
              <a:ext cx="514350" cy="112713"/>
            </a:xfrm>
            <a:prstGeom prst="line">
              <a:avLst/>
            </a:prstGeom>
            <a:noFill/>
            <a:ln w="9525">
              <a:solidFill>
                <a:schemeClr val="tx1"/>
              </a:solidFill>
              <a:round/>
              <a:headEnd/>
              <a:tailEnd/>
            </a:ln>
          </p:spPr>
          <p:txBody>
            <a:bodyPr wrap="none" anchor="ctr"/>
            <a:lstStyle/>
            <a:p>
              <a:endParaRPr lang="fr-CA"/>
            </a:p>
          </p:txBody>
        </p:sp>
        <p:sp>
          <p:nvSpPr>
            <p:cNvPr id="30" name="Line 136"/>
            <p:cNvSpPr>
              <a:spLocks noChangeShapeType="1"/>
            </p:cNvSpPr>
            <p:nvPr/>
          </p:nvSpPr>
          <p:spPr bwMode="auto">
            <a:xfrm flipH="1">
              <a:off x="4756150" y="1320800"/>
              <a:ext cx="498475" cy="257175"/>
            </a:xfrm>
            <a:prstGeom prst="line">
              <a:avLst/>
            </a:prstGeom>
            <a:noFill/>
            <a:ln w="9525">
              <a:solidFill>
                <a:schemeClr val="tx1"/>
              </a:solidFill>
              <a:round/>
              <a:headEnd/>
              <a:tailEnd/>
            </a:ln>
          </p:spPr>
          <p:txBody>
            <a:bodyPr wrap="none" anchor="ctr"/>
            <a:lstStyle/>
            <a:p>
              <a:endParaRPr lang="fr-CA"/>
            </a:p>
          </p:txBody>
        </p:sp>
        <p:sp>
          <p:nvSpPr>
            <p:cNvPr id="31" name="Freeform 138"/>
            <p:cNvSpPr>
              <a:spLocks/>
            </p:cNvSpPr>
            <p:nvPr/>
          </p:nvSpPr>
          <p:spPr bwMode="auto">
            <a:xfrm>
              <a:off x="5399088" y="2495550"/>
              <a:ext cx="487362" cy="90488"/>
            </a:xfrm>
            <a:custGeom>
              <a:avLst/>
              <a:gdLst>
                <a:gd name="T0" fmla="*/ 2147483647 w 310"/>
                <a:gd name="T1" fmla="*/ 0 h 58"/>
                <a:gd name="T2" fmla="*/ 2147483647 w 310"/>
                <a:gd name="T3" fmla="*/ 0 h 58"/>
                <a:gd name="T4" fmla="*/ 0 w 310"/>
                <a:gd name="T5" fmla="*/ 2147483647 h 58"/>
                <a:gd name="T6" fmla="*/ 0 60000 65536"/>
                <a:gd name="T7" fmla="*/ 0 60000 65536"/>
                <a:gd name="T8" fmla="*/ 0 60000 65536"/>
                <a:gd name="T9" fmla="*/ 0 w 310"/>
                <a:gd name="T10" fmla="*/ 0 h 58"/>
                <a:gd name="T11" fmla="*/ 310 w 310"/>
                <a:gd name="T12" fmla="*/ 58 h 58"/>
              </a:gdLst>
              <a:ahLst/>
              <a:cxnLst>
                <a:cxn ang="T6">
                  <a:pos x="T0" y="T1"/>
                </a:cxn>
                <a:cxn ang="T7">
                  <a:pos x="T2" y="T3"/>
                </a:cxn>
                <a:cxn ang="T8">
                  <a:pos x="T4" y="T5"/>
                </a:cxn>
              </a:cxnLst>
              <a:rect l="T9" t="T10" r="T11" b="T12"/>
              <a:pathLst>
                <a:path w="310" h="58">
                  <a:moveTo>
                    <a:pt x="310" y="0"/>
                  </a:moveTo>
                  <a:lnTo>
                    <a:pt x="226" y="0"/>
                  </a:lnTo>
                  <a:lnTo>
                    <a:pt x="0" y="58"/>
                  </a:lnTo>
                </a:path>
              </a:pathLst>
            </a:custGeom>
            <a:noFill/>
            <a:ln w="9525" cap="flat" cmpd="sng">
              <a:solidFill>
                <a:schemeClr val="tx1"/>
              </a:solidFill>
              <a:prstDash val="solid"/>
              <a:round/>
              <a:headEnd/>
              <a:tailEnd/>
            </a:ln>
          </p:spPr>
          <p:txBody>
            <a:bodyPr wrap="none" anchor="ctr"/>
            <a:lstStyle/>
            <a:p>
              <a:endParaRPr lang="fr-CA"/>
            </a:p>
          </p:txBody>
        </p:sp>
        <p:sp>
          <p:nvSpPr>
            <p:cNvPr id="32" name="Line 140"/>
            <p:cNvSpPr>
              <a:spLocks noChangeShapeType="1"/>
            </p:cNvSpPr>
            <p:nvPr/>
          </p:nvSpPr>
          <p:spPr bwMode="auto">
            <a:xfrm flipH="1" flipV="1">
              <a:off x="5484813" y="2300288"/>
              <a:ext cx="273050" cy="188912"/>
            </a:xfrm>
            <a:prstGeom prst="line">
              <a:avLst/>
            </a:prstGeom>
            <a:noFill/>
            <a:ln w="9525">
              <a:solidFill>
                <a:schemeClr val="tx1"/>
              </a:solidFill>
              <a:round/>
              <a:headEnd/>
              <a:tailEnd/>
            </a:ln>
          </p:spPr>
          <p:txBody>
            <a:bodyPr wrap="none" anchor="ctr"/>
            <a:lstStyle/>
            <a:p>
              <a:endParaRPr lang="fr-CA"/>
            </a:p>
          </p:txBody>
        </p:sp>
        <p:sp>
          <p:nvSpPr>
            <p:cNvPr id="33" name="Line 141"/>
            <p:cNvSpPr>
              <a:spLocks noChangeShapeType="1"/>
            </p:cNvSpPr>
            <p:nvPr/>
          </p:nvSpPr>
          <p:spPr bwMode="auto">
            <a:xfrm flipH="1" flipV="1">
              <a:off x="5389563" y="2341563"/>
              <a:ext cx="371475" cy="153987"/>
            </a:xfrm>
            <a:prstGeom prst="line">
              <a:avLst/>
            </a:prstGeom>
            <a:noFill/>
            <a:ln w="9525">
              <a:solidFill>
                <a:schemeClr val="tx1"/>
              </a:solidFill>
              <a:round/>
              <a:headEnd/>
              <a:tailEnd/>
            </a:ln>
          </p:spPr>
          <p:txBody>
            <a:bodyPr wrap="none" anchor="ctr"/>
            <a:lstStyle/>
            <a:p>
              <a:endParaRPr lang="fr-CA"/>
            </a:p>
          </p:txBody>
        </p:sp>
        <p:sp>
          <p:nvSpPr>
            <p:cNvPr id="34" name="Line 142"/>
            <p:cNvSpPr>
              <a:spLocks noChangeShapeType="1"/>
            </p:cNvSpPr>
            <p:nvPr/>
          </p:nvSpPr>
          <p:spPr bwMode="auto">
            <a:xfrm flipH="1" flipV="1">
              <a:off x="5478463" y="2441575"/>
              <a:ext cx="263525" cy="53975"/>
            </a:xfrm>
            <a:prstGeom prst="line">
              <a:avLst/>
            </a:prstGeom>
            <a:noFill/>
            <a:ln w="9525">
              <a:solidFill>
                <a:schemeClr val="tx1"/>
              </a:solidFill>
              <a:round/>
              <a:headEnd/>
              <a:tailEnd/>
            </a:ln>
          </p:spPr>
          <p:txBody>
            <a:bodyPr wrap="none" anchor="ctr"/>
            <a:lstStyle/>
            <a:p>
              <a:endParaRPr lang="fr-CA"/>
            </a:p>
          </p:txBody>
        </p:sp>
        <p:sp>
          <p:nvSpPr>
            <p:cNvPr id="35" name="Rectangle 36"/>
            <p:cNvSpPr>
              <a:spLocks noChangeArrowheads="1"/>
            </p:cNvSpPr>
            <p:nvPr/>
          </p:nvSpPr>
          <p:spPr bwMode="auto">
            <a:xfrm>
              <a:off x="1676400" y="6096000"/>
              <a:ext cx="381000" cy="304800"/>
            </a:xfrm>
            <a:prstGeom prst="rect">
              <a:avLst/>
            </a:prstGeom>
            <a:solidFill>
              <a:schemeClr val="bg1"/>
            </a:solidFill>
            <a:ln w="9525" algn="ctr">
              <a:solidFill>
                <a:schemeClr val="bg1"/>
              </a:solidFill>
              <a:round/>
              <a:headEnd/>
              <a:tailEnd/>
            </a:ln>
          </p:spPr>
          <p:txBody>
            <a:bodyPr wrap="none" anchor="ctr"/>
            <a:lstStyle/>
            <a:p>
              <a:endParaRPr lang="fr-CA"/>
            </a:p>
          </p:txBody>
        </p:sp>
      </p:grpSp>
      <p:sp>
        <p:nvSpPr>
          <p:cNvPr id="36" name="Text Box 11"/>
          <p:cNvSpPr txBox="1">
            <a:spLocks noChangeArrowheads="1"/>
          </p:cNvSpPr>
          <p:nvPr/>
        </p:nvSpPr>
        <p:spPr bwMode="auto">
          <a:xfrm>
            <a:off x="8040740" y="5778628"/>
            <a:ext cx="900959" cy="276999"/>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CA" sz="1200" dirty="0"/>
              <a:t>Fig. 20.3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p:cNvSpPr txBox="1">
            <a:spLocks noChangeArrowheads="1"/>
          </p:cNvSpPr>
          <p:nvPr/>
        </p:nvSpPr>
        <p:spPr bwMode="auto">
          <a:xfrm>
            <a:off x="169260" y="382036"/>
            <a:ext cx="3727119" cy="3279351"/>
          </a:xfrm>
          <a:prstGeom prst="rect">
            <a:avLst/>
          </a:prstGeom>
          <a:noFill/>
          <a:ln w="9525">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82800" bIns="82800">
            <a:spAutoFit/>
          </a:bodyPr>
          <a:lstStyle>
            <a:lvl1pPr>
              <a:defRPr sz="2400">
                <a:solidFill>
                  <a:schemeClr val="tx1"/>
                </a:solidFill>
                <a:latin typeface="Times New Roman" pitchFamily="18" charset="0"/>
              </a:defRPr>
            </a:lvl1pPr>
            <a:lvl2pPr marL="365125" indent="-185738">
              <a:defRPr sz="2400">
                <a:solidFill>
                  <a:schemeClr val="tx1"/>
                </a:solidFill>
                <a:latin typeface="Times New Roman" pitchFamily="18" charset="0"/>
              </a:defRPr>
            </a:lvl2pPr>
            <a:lvl3pPr marL="717550" indent="-173038">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a:lnSpc>
                <a:spcPct val="110000"/>
              </a:lnSpc>
              <a:spcBef>
                <a:spcPct val="50000"/>
              </a:spcBef>
            </a:pPr>
            <a:r>
              <a:rPr lang="fr-FR" sz="2000" b="1" u="sng" dirty="0">
                <a:latin typeface="Arial" charset="0"/>
              </a:rPr>
              <a:t>Transport de la lymphe</a:t>
            </a:r>
          </a:p>
          <a:p>
            <a:pPr marL="274638" lvl="1" indent="-182563">
              <a:lnSpc>
                <a:spcPct val="110000"/>
              </a:lnSpc>
              <a:spcBef>
                <a:spcPct val="20000"/>
              </a:spcBef>
              <a:buFont typeface="Arial" pitchFamily="34" charset="0"/>
              <a:buChar char="−"/>
            </a:pPr>
            <a:r>
              <a:rPr lang="fr-FR" sz="1600" dirty="0">
                <a:latin typeface="Arial" charset="0"/>
              </a:rPr>
              <a:t>Écoulement lent : ~3 L/jour</a:t>
            </a:r>
          </a:p>
          <a:p>
            <a:pPr marL="274638" lvl="1" indent="-182563">
              <a:lnSpc>
                <a:spcPct val="110000"/>
              </a:lnSpc>
              <a:spcBef>
                <a:spcPts val="600"/>
              </a:spcBef>
              <a:buFont typeface="Arial" pitchFamily="34" charset="0"/>
              <a:buChar char="−"/>
            </a:pPr>
            <a:r>
              <a:rPr lang="fr-FR" sz="1600" dirty="0">
                <a:latin typeface="Arial" charset="0"/>
              </a:rPr>
              <a:t>Assuré par des mécanismes semblables à ceux qui aident au retour veineux :</a:t>
            </a:r>
          </a:p>
          <a:p>
            <a:pPr marL="444500" lvl="2" indent="-169863">
              <a:lnSpc>
                <a:spcPct val="110000"/>
              </a:lnSpc>
              <a:spcBef>
                <a:spcPts val="600"/>
              </a:spcBef>
              <a:buFontTx/>
              <a:buChar char="•"/>
            </a:pPr>
            <a:r>
              <a:rPr lang="fr-FR" sz="1600" dirty="0">
                <a:latin typeface="Arial" charset="0"/>
              </a:rPr>
              <a:t>Écoulement à sens unique assuré par les valvules lymphatiques</a:t>
            </a:r>
          </a:p>
          <a:p>
            <a:pPr marL="444500" lvl="2" indent="-169863">
              <a:lnSpc>
                <a:spcPct val="110000"/>
              </a:lnSpc>
              <a:spcBef>
                <a:spcPts val="600"/>
              </a:spcBef>
              <a:buFontTx/>
              <a:buChar char="•"/>
            </a:pPr>
            <a:r>
              <a:rPr lang="fr-FR" sz="1600" dirty="0">
                <a:latin typeface="Arial" charset="0"/>
              </a:rPr>
              <a:t>Pompes musculaire et respiratoire</a:t>
            </a:r>
          </a:p>
          <a:p>
            <a:pPr marL="444500" lvl="2" indent="-169863">
              <a:lnSpc>
                <a:spcPct val="110000"/>
              </a:lnSpc>
              <a:spcBef>
                <a:spcPts val="600"/>
              </a:spcBef>
              <a:buFontTx/>
              <a:buChar char="•"/>
            </a:pPr>
            <a:r>
              <a:rPr lang="fr-FR" sz="1600" dirty="0">
                <a:latin typeface="Arial" charset="0"/>
              </a:rPr>
              <a:t>Aussi : contractions rythmiques des muscles lisses de leur paroi</a:t>
            </a:r>
          </a:p>
        </p:txBody>
      </p:sp>
      <p:pic>
        <p:nvPicPr>
          <p:cNvPr id="3" name="Picture 2" descr="Diagram&#10;&#10;Description automatically generated">
            <a:extLst>
              <a:ext uri="{FF2B5EF4-FFF2-40B4-BE49-F238E27FC236}">
                <a16:creationId xmlns:a16="http://schemas.microsoft.com/office/drawing/2014/main" id="{5EAA21A5-2ED4-481C-A435-C170D19D39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184668" y="382036"/>
            <a:ext cx="4882837" cy="537375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5EAA21A5-2ED4-481C-A435-C170D19D39F7}"/>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184668" y="382036"/>
            <a:ext cx="4882837" cy="5373757"/>
          </a:xfrm>
          <a:prstGeom prst="rect">
            <a:avLst/>
          </a:prstGeom>
        </p:spPr>
      </p:pic>
      <p:pic>
        <p:nvPicPr>
          <p:cNvPr id="2" name="Picture 3" descr="before">
            <a:extLst>
              <a:ext uri="{FF2B5EF4-FFF2-40B4-BE49-F238E27FC236}">
                <a16:creationId xmlns:a16="http://schemas.microsoft.com/office/drawing/2014/main" id="{7C23FECD-E7FB-4715-942C-36FA834F2CD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9706" y="569608"/>
            <a:ext cx="2903538" cy="435768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5">
            <a:extLst>
              <a:ext uri="{FF2B5EF4-FFF2-40B4-BE49-F238E27FC236}">
                <a16:creationId xmlns:a16="http://schemas.microsoft.com/office/drawing/2014/main" id="{972090AC-9907-4A91-9D97-19F2650BD0CA}"/>
              </a:ext>
            </a:extLst>
          </p:cNvPr>
          <p:cNvSpPr>
            <a:spLocks noChangeArrowheads="1"/>
          </p:cNvSpPr>
          <p:nvPr/>
        </p:nvSpPr>
        <p:spPr bwMode="auto">
          <a:xfrm>
            <a:off x="394172" y="4931705"/>
            <a:ext cx="166366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dirty="0"/>
              <a:t>Lymphœdème</a:t>
            </a:r>
          </a:p>
        </p:txBody>
      </p:sp>
      <p:sp>
        <p:nvSpPr>
          <p:cNvPr id="7" name="Text Box 7" descr="Newsprint">
            <a:extLst>
              <a:ext uri="{FF2B5EF4-FFF2-40B4-BE49-F238E27FC236}">
                <a16:creationId xmlns:a16="http://schemas.microsoft.com/office/drawing/2014/main" id="{9048D11A-3FD8-4E6F-9DD6-CB0D45951057}"/>
              </a:ext>
            </a:extLst>
          </p:cNvPr>
          <p:cNvSpPr txBox="1">
            <a:spLocks noChangeArrowheads="1"/>
          </p:cNvSpPr>
          <p:nvPr/>
        </p:nvSpPr>
        <p:spPr bwMode="auto">
          <a:xfrm>
            <a:off x="2252228" y="5018084"/>
            <a:ext cx="1295400" cy="244475"/>
          </a:xfrm>
          <a:prstGeom prst="rect">
            <a:avLst/>
          </a:prstGeom>
          <a:blipFill dpi="0" rotWithShape="0">
            <a:blip r:embed="rId5" cstate="print">
              <a:extLst>
                <a:ext uri="{28A0092B-C50C-407E-A947-70E740481C1C}">
                  <a14:useLocalDpi xmlns:a14="http://schemas.microsoft.com/office/drawing/2010/main" val="0"/>
                </a:ext>
              </a:extLst>
            </a:blip>
            <a:srcRect/>
            <a:tile tx="0" ty="0" sx="100000" sy="100000" flip="none" algn="tl"/>
          </a:bli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000" b="1" i="1" dirty="0">
                <a:latin typeface="NuptialScript" pitchFamily="18" charset="0"/>
              </a:rPr>
              <a:t>J. Carnegie, </a:t>
            </a:r>
            <a:r>
              <a:rPr lang="en-US" sz="1000" b="1" i="1" dirty="0" err="1">
                <a:latin typeface="NuptialScript" pitchFamily="18" charset="0"/>
              </a:rPr>
              <a:t>UofO</a:t>
            </a:r>
            <a:endParaRPr lang="en-CA" sz="1000" b="1" i="1" dirty="0">
              <a:latin typeface="NuptialScript" pitchFamily="18" charset="0"/>
            </a:endParaRPr>
          </a:p>
        </p:txBody>
      </p:sp>
      <p:sp>
        <p:nvSpPr>
          <p:cNvPr id="9" name="Text Box 2">
            <a:extLst>
              <a:ext uri="{FF2B5EF4-FFF2-40B4-BE49-F238E27FC236}">
                <a16:creationId xmlns:a16="http://schemas.microsoft.com/office/drawing/2014/main" id="{787BC610-7B03-441E-B093-D9B7908106DA}"/>
              </a:ext>
            </a:extLst>
          </p:cNvPr>
          <p:cNvSpPr txBox="1">
            <a:spLocks noChangeArrowheads="1"/>
          </p:cNvSpPr>
          <p:nvPr/>
        </p:nvSpPr>
        <p:spPr bwMode="auto">
          <a:xfrm>
            <a:off x="382427" y="5478204"/>
            <a:ext cx="4010296" cy="708904"/>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82800" bIns="82800">
            <a:spAutoFit/>
          </a:bodyPr>
          <a:lstStyle>
            <a:lvl1pPr>
              <a:defRPr sz="2400">
                <a:solidFill>
                  <a:schemeClr val="tx1"/>
                </a:solidFill>
                <a:latin typeface="Times New Roman" pitchFamily="18" charset="0"/>
              </a:defRPr>
            </a:lvl1pPr>
            <a:lvl2pPr marL="365125" indent="-185738">
              <a:defRPr sz="2400">
                <a:solidFill>
                  <a:schemeClr val="tx1"/>
                </a:solidFill>
                <a:latin typeface="Times New Roman" pitchFamily="18" charset="0"/>
              </a:defRPr>
            </a:lvl2pPr>
            <a:lvl3pPr marL="717550" indent="-173038">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182563" lvl="1" indent="-3175">
              <a:spcBef>
                <a:spcPct val="20000"/>
              </a:spcBef>
            </a:pPr>
            <a:r>
              <a:rPr lang="fr-FR" sz="1600" dirty="0">
                <a:solidFill>
                  <a:srgbClr val="FF0000"/>
                </a:solidFill>
                <a:latin typeface="Arial" charset="0"/>
              </a:rPr>
              <a:t>Qu’est-ce qu’un </a:t>
            </a:r>
            <a:r>
              <a:rPr lang="fr-FR" sz="1600" i="1" dirty="0" err="1">
                <a:solidFill>
                  <a:srgbClr val="FF0000"/>
                </a:solidFill>
                <a:latin typeface="Arial" charset="0"/>
              </a:rPr>
              <a:t>lymphœdème</a:t>
            </a:r>
            <a:r>
              <a:rPr lang="fr-FR" sz="1600" dirty="0">
                <a:solidFill>
                  <a:srgbClr val="FF0000"/>
                </a:solidFill>
                <a:latin typeface="Arial" charset="0"/>
              </a:rPr>
              <a:t> ?</a:t>
            </a:r>
          </a:p>
          <a:p>
            <a:pPr marL="182563" lvl="1" indent="-3175">
              <a:spcBef>
                <a:spcPct val="20000"/>
              </a:spcBef>
            </a:pPr>
            <a:r>
              <a:rPr lang="fr-FR" sz="1600" dirty="0">
                <a:solidFill>
                  <a:srgbClr val="FF0000"/>
                </a:solidFill>
                <a:latin typeface="Arial" charset="0"/>
              </a:rPr>
              <a:t>Quelles en sont les principales causes ? </a:t>
            </a:r>
          </a:p>
        </p:txBody>
      </p:sp>
    </p:spTree>
    <p:extLst>
      <p:ext uri="{BB962C8B-B14F-4D97-AF65-F5344CB8AC3E}">
        <p14:creationId xmlns:p14="http://schemas.microsoft.com/office/powerpoint/2010/main" val="28639370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Text Box 2"/>
          <p:cNvSpPr txBox="1">
            <a:spLocks noChangeArrowheads="1"/>
          </p:cNvSpPr>
          <p:nvPr/>
        </p:nvSpPr>
        <p:spPr bwMode="auto">
          <a:xfrm>
            <a:off x="201412" y="2305340"/>
            <a:ext cx="4344987" cy="3662541"/>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752475" indent="-346075">
              <a:defRPr sz="2400">
                <a:solidFill>
                  <a:schemeClr val="tx1"/>
                </a:solidFill>
                <a:latin typeface="Times New Roman" pitchFamily="18" charset="0"/>
              </a:defRPr>
            </a:lvl2pPr>
            <a:lvl3pPr marL="1139825" indent="-273050">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69875" indent="-269875">
              <a:buAutoNum type="arabicPeriod" startAt="2"/>
            </a:pPr>
            <a:r>
              <a:rPr lang="fr-CA" sz="2000" b="1" u="sng" dirty="0">
                <a:latin typeface="Arial" charset="0"/>
              </a:rPr>
              <a:t>Tissu lymphoïd</a:t>
            </a:r>
            <a:r>
              <a:rPr lang="fr-CA" sz="2000" b="1" u="sng" dirty="0">
                <a:latin typeface="Arial" charset="0"/>
                <a:cs typeface="Arial" charset="0"/>
              </a:rPr>
              <a:t>e</a:t>
            </a:r>
          </a:p>
          <a:p>
            <a:pPr marL="269875" indent="9525">
              <a:spcBef>
                <a:spcPts val="600"/>
              </a:spcBef>
            </a:pPr>
            <a:r>
              <a:rPr lang="fr-CA" sz="1500" dirty="0">
                <a:latin typeface="Arial" charset="0"/>
              </a:rPr>
              <a:t>Constitué principalement d’un </a:t>
            </a:r>
            <a:r>
              <a:rPr lang="fr-CA" sz="1500" b="1" i="1" dirty="0">
                <a:latin typeface="Arial" charset="0"/>
              </a:rPr>
              <a:t>tissu conjonctif réticulaire</a:t>
            </a:r>
            <a:r>
              <a:rPr lang="fr-CA" sz="1500" b="1" dirty="0">
                <a:latin typeface="Arial" charset="0"/>
              </a:rPr>
              <a:t>. </a:t>
            </a:r>
          </a:p>
          <a:p>
            <a:pPr marL="269875" indent="9525">
              <a:spcBef>
                <a:spcPts val="600"/>
              </a:spcBef>
            </a:pPr>
            <a:r>
              <a:rPr lang="fr-CA" sz="1500" dirty="0">
                <a:latin typeface="Arial" charset="0"/>
              </a:rPr>
              <a:t>Fonctions :</a:t>
            </a:r>
          </a:p>
          <a:p>
            <a:pPr marL="539750" lvl="1" indent="-269875">
              <a:spcBef>
                <a:spcPts val="0"/>
              </a:spcBef>
            </a:pPr>
            <a:r>
              <a:rPr lang="fr-CA" sz="1500" dirty="0">
                <a:latin typeface="Arial" charset="0"/>
              </a:rPr>
              <a:t>a)	Fournit un site de prolifération pour les lymphocytes</a:t>
            </a:r>
          </a:p>
          <a:p>
            <a:pPr marL="539750" lvl="1" indent="-269875">
              <a:spcBef>
                <a:spcPts val="0"/>
              </a:spcBef>
              <a:buAutoNum type="alphaLcParenR" startAt="2"/>
            </a:pPr>
            <a:r>
              <a:rPr lang="fr-CA" sz="1500" dirty="0">
                <a:latin typeface="Arial" charset="0"/>
              </a:rPr>
              <a:t>Endroit stratégique de surveillance pour les lymphocytes &amp; macrophagocytes</a:t>
            </a:r>
          </a:p>
          <a:p>
            <a:pPr marL="271463" lvl="1" indent="0">
              <a:spcBef>
                <a:spcPts val="600"/>
              </a:spcBef>
            </a:pPr>
            <a:r>
              <a:rPr lang="fr-CA" sz="1500" dirty="0">
                <a:latin typeface="Arial" panose="020B0604020202020204" pitchFamily="34" charset="0"/>
                <a:cs typeface="Arial" panose="020B0604020202020204" pitchFamily="34" charset="0"/>
              </a:rPr>
              <a:t>En plus des cellules lymphoïdes, les tissus lymphoïdes contiennent de nombreuses cellules de soutien, les </a:t>
            </a:r>
            <a:r>
              <a:rPr lang="fr-CA" sz="1500" b="1" i="1" dirty="0">
                <a:latin typeface="Arial" panose="020B0604020202020204" pitchFamily="34" charset="0"/>
                <a:cs typeface="Arial" panose="020B0604020202020204" pitchFamily="34" charset="0"/>
              </a:rPr>
              <a:t>cellules réticulaires</a:t>
            </a:r>
            <a:r>
              <a:rPr lang="fr-CA" sz="1500" dirty="0">
                <a:latin typeface="Arial" panose="020B0604020202020204" pitchFamily="34" charset="0"/>
                <a:cs typeface="Arial" panose="020B0604020202020204" pitchFamily="34" charset="0"/>
              </a:rPr>
              <a:t>. Ce sont des types de fibroblastes qui produisent le réseau de fibres réticulaires dans lequel logent les cellules lymphoïdes.</a:t>
            </a:r>
          </a:p>
        </p:txBody>
      </p:sp>
      <p:sp>
        <p:nvSpPr>
          <p:cNvPr id="119815" name="Text Box 7"/>
          <p:cNvSpPr txBox="1">
            <a:spLocks noChangeArrowheads="1"/>
          </p:cNvSpPr>
          <p:nvPr/>
        </p:nvSpPr>
        <p:spPr bwMode="auto">
          <a:xfrm>
            <a:off x="203752" y="183373"/>
            <a:ext cx="8728075" cy="4308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defRPr>
            </a:lvl1pPr>
            <a:lvl2pPr marL="914400" indent="-457200">
              <a:defRPr sz="2400">
                <a:solidFill>
                  <a:schemeClr val="tx1"/>
                </a:solidFill>
                <a:latin typeface="Times New Roman" pitchFamily="18" charset="0"/>
              </a:defRPr>
            </a:lvl2pPr>
            <a:lvl3pPr marL="1371600" indent="-457200">
              <a:defRPr sz="2400">
                <a:solidFill>
                  <a:schemeClr val="tx1"/>
                </a:solidFill>
                <a:latin typeface="Times New Roman" pitchFamily="18" charset="0"/>
              </a:defRPr>
            </a:lvl3pPr>
            <a:lvl4pPr marL="1828800" indent="-457200">
              <a:defRPr sz="2400">
                <a:solidFill>
                  <a:schemeClr val="tx1"/>
                </a:solidFill>
                <a:latin typeface="Times New Roman" pitchFamily="18" charset="0"/>
              </a:defRPr>
            </a:lvl4pPr>
            <a:lvl5pPr marL="2286000" indent="-457200">
              <a:defRPr sz="2400">
                <a:solidFill>
                  <a:schemeClr val="tx1"/>
                </a:solidFill>
                <a:latin typeface="Times New Roman" pitchFamily="18" charset="0"/>
              </a:defRPr>
            </a:lvl5pPr>
            <a:lvl6pPr marL="2743200" indent="-457200" eaLnBrk="0" fontAlgn="base" hangingPunct="0">
              <a:spcBef>
                <a:spcPct val="0"/>
              </a:spcBef>
              <a:spcAft>
                <a:spcPct val="0"/>
              </a:spcAft>
              <a:defRPr sz="2400">
                <a:solidFill>
                  <a:schemeClr val="tx1"/>
                </a:solidFill>
                <a:latin typeface="Times New Roman" pitchFamily="18" charset="0"/>
              </a:defRPr>
            </a:lvl6pPr>
            <a:lvl7pPr marL="3200400" indent="-457200" eaLnBrk="0" fontAlgn="base" hangingPunct="0">
              <a:spcBef>
                <a:spcPct val="0"/>
              </a:spcBef>
              <a:spcAft>
                <a:spcPct val="0"/>
              </a:spcAft>
              <a:defRPr sz="2400">
                <a:solidFill>
                  <a:schemeClr val="tx1"/>
                </a:solidFill>
                <a:latin typeface="Times New Roman" pitchFamily="18" charset="0"/>
              </a:defRPr>
            </a:lvl7pPr>
            <a:lvl8pPr marL="3657600" indent="-457200" eaLnBrk="0" fontAlgn="base" hangingPunct="0">
              <a:spcBef>
                <a:spcPct val="0"/>
              </a:spcBef>
              <a:spcAft>
                <a:spcPct val="0"/>
              </a:spcAft>
              <a:defRPr sz="2400">
                <a:solidFill>
                  <a:schemeClr val="tx1"/>
                </a:solidFill>
                <a:latin typeface="Times New Roman" pitchFamily="18" charset="0"/>
              </a:defRPr>
            </a:lvl8pPr>
            <a:lvl9pPr marL="4114800" indent="-457200" eaLnBrk="0" fontAlgn="base" hangingPunct="0">
              <a:spcBef>
                <a:spcPct val="0"/>
              </a:spcBef>
              <a:spcAft>
                <a:spcPct val="0"/>
              </a:spcAft>
              <a:defRPr sz="2400">
                <a:solidFill>
                  <a:schemeClr val="tx1"/>
                </a:solidFill>
                <a:latin typeface="Times New Roman" pitchFamily="18" charset="0"/>
              </a:defRPr>
            </a:lvl9pPr>
          </a:lstStyle>
          <a:p>
            <a:pPr>
              <a:spcBef>
                <a:spcPct val="20000"/>
              </a:spcBef>
            </a:pPr>
            <a:r>
              <a:rPr lang="en-US" sz="2200" b="1" dirty="0">
                <a:solidFill>
                  <a:srgbClr val="0000CC"/>
                </a:solidFill>
                <a:latin typeface="Arial" charset="0"/>
              </a:rPr>
              <a:t>7.2 </a:t>
            </a:r>
            <a:r>
              <a:rPr lang="fr-FR" sz="2200" b="1" dirty="0">
                <a:solidFill>
                  <a:srgbClr val="0000CC"/>
                </a:solidFill>
                <a:latin typeface="Arial" charset="0"/>
              </a:rPr>
              <a:t>Tissus et organes lymphoïdes</a:t>
            </a:r>
          </a:p>
        </p:txBody>
      </p:sp>
      <p:sp>
        <p:nvSpPr>
          <p:cNvPr id="119819" name="Text Box 11"/>
          <p:cNvSpPr txBox="1">
            <a:spLocks noChangeArrowheads="1"/>
          </p:cNvSpPr>
          <p:nvPr/>
        </p:nvSpPr>
        <p:spPr bwMode="auto">
          <a:xfrm>
            <a:off x="208038" y="590877"/>
            <a:ext cx="8778875" cy="166199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28575">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defTabSz="808038">
              <a:defRPr sz="2400">
                <a:solidFill>
                  <a:schemeClr val="tx1"/>
                </a:solidFill>
                <a:latin typeface="Times New Roman" pitchFamily="18" charset="0"/>
              </a:defRPr>
            </a:lvl1pPr>
            <a:lvl2pPr marL="441325" indent="-185738" defTabSz="808038">
              <a:defRPr sz="2400">
                <a:solidFill>
                  <a:schemeClr val="tx1"/>
                </a:solidFill>
                <a:latin typeface="Times New Roman" pitchFamily="18" charset="0"/>
              </a:defRPr>
            </a:lvl2pPr>
            <a:lvl3pPr marL="806450" indent="-185738" defTabSz="808038">
              <a:defRPr sz="2400">
                <a:solidFill>
                  <a:schemeClr val="tx1"/>
                </a:solidFill>
                <a:latin typeface="Times New Roman" pitchFamily="18" charset="0"/>
              </a:defRPr>
            </a:lvl3pPr>
            <a:lvl4pPr defTabSz="808038">
              <a:defRPr sz="2400">
                <a:solidFill>
                  <a:schemeClr val="tx1"/>
                </a:solidFill>
                <a:latin typeface="Times New Roman" pitchFamily="18" charset="0"/>
              </a:defRPr>
            </a:lvl4pPr>
            <a:lvl5pPr defTabSz="808038">
              <a:defRPr sz="2400">
                <a:solidFill>
                  <a:schemeClr val="tx1"/>
                </a:solidFill>
                <a:latin typeface="Times New Roman" pitchFamily="18" charset="0"/>
              </a:defRPr>
            </a:lvl5pPr>
            <a:lvl6pPr defTabSz="808038" eaLnBrk="0" fontAlgn="base" hangingPunct="0">
              <a:spcBef>
                <a:spcPct val="0"/>
              </a:spcBef>
              <a:spcAft>
                <a:spcPct val="0"/>
              </a:spcAft>
              <a:defRPr sz="2400">
                <a:solidFill>
                  <a:schemeClr val="tx1"/>
                </a:solidFill>
                <a:latin typeface="Times New Roman" pitchFamily="18" charset="0"/>
              </a:defRPr>
            </a:lvl6pPr>
            <a:lvl7pPr defTabSz="808038" eaLnBrk="0" fontAlgn="base" hangingPunct="0">
              <a:spcBef>
                <a:spcPct val="0"/>
              </a:spcBef>
              <a:spcAft>
                <a:spcPct val="0"/>
              </a:spcAft>
              <a:defRPr sz="2400">
                <a:solidFill>
                  <a:schemeClr val="tx1"/>
                </a:solidFill>
                <a:latin typeface="Times New Roman" pitchFamily="18" charset="0"/>
              </a:defRPr>
            </a:lvl7pPr>
            <a:lvl8pPr defTabSz="808038" eaLnBrk="0" fontAlgn="base" hangingPunct="0">
              <a:spcBef>
                <a:spcPct val="0"/>
              </a:spcBef>
              <a:spcAft>
                <a:spcPct val="0"/>
              </a:spcAft>
              <a:defRPr sz="2400">
                <a:solidFill>
                  <a:schemeClr val="tx1"/>
                </a:solidFill>
                <a:latin typeface="Times New Roman" pitchFamily="18" charset="0"/>
              </a:defRPr>
            </a:lvl8pPr>
            <a:lvl9pPr defTabSz="808038" eaLnBrk="0" fontAlgn="base" hangingPunct="0">
              <a:spcBef>
                <a:spcPct val="0"/>
              </a:spcBef>
              <a:spcAft>
                <a:spcPct val="0"/>
              </a:spcAft>
              <a:defRPr sz="2400">
                <a:solidFill>
                  <a:schemeClr val="tx1"/>
                </a:solidFill>
                <a:latin typeface="Times New Roman" pitchFamily="18" charset="0"/>
              </a:defRPr>
            </a:lvl9pPr>
          </a:lstStyle>
          <a:p>
            <a:pPr marL="269875" indent="-269875"/>
            <a:r>
              <a:rPr lang="en-US" sz="2000" b="1" dirty="0">
                <a:latin typeface="Arial" charset="0"/>
              </a:rPr>
              <a:t>1.	</a:t>
            </a:r>
            <a:r>
              <a:rPr lang="fr-CA" sz="2000" b="1" u="sng" dirty="0">
                <a:latin typeface="Arial" charset="0"/>
              </a:rPr>
              <a:t>Cellules lymphoïdes</a:t>
            </a:r>
          </a:p>
          <a:p>
            <a:pPr marL="269875" lvl="1" indent="0">
              <a:spcBef>
                <a:spcPts val="600"/>
              </a:spcBef>
            </a:pPr>
            <a:r>
              <a:rPr lang="fr-CA" sz="1500" dirty="0">
                <a:latin typeface="Arial" charset="0"/>
              </a:rPr>
              <a:t>Cellules du système immunitaire que l’on retrouve, du moins transitoirement, dans les tissus lymphoïdes. Elles combattent les microorganismes qui ont pénétré dans les tissus.</a:t>
            </a:r>
          </a:p>
          <a:p>
            <a:pPr marL="446088" lvl="2" indent="-176213">
              <a:buFontTx/>
              <a:buChar char="•"/>
            </a:pPr>
            <a:r>
              <a:rPr lang="fr-CA" sz="1500" i="1" dirty="0">
                <a:latin typeface="Arial" charset="0"/>
              </a:rPr>
              <a:t>Lymphocytes</a:t>
            </a:r>
            <a:r>
              <a:rPr lang="fr-CA" sz="1500" dirty="0">
                <a:latin typeface="Arial" charset="0"/>
              </a:rPr>
              <a:t>:  lymphocytes B &amp; lymphocytes T (réponse immunitaire).</a:t>
            </a:r>
          </a:p>
          <a:p>
            <a:pPr marL="446088" lvl="2" indent="-176213">
              <a:buFontTx/>
              <a:buChar char="•"/>
            </a:pPr>
            <a:r>
              <a:rPr lang="fr-CA" sz="1500" i="1" dirty="0">
                <a:latin typeface="Arial" charset="0"/>
              </a:rPr>
              <a:t>Macrophagocytes</a:t>
            </a:r>
            <a:r>
              <a:rPr lang="fr-CA" sz="1500" dirty="0">
                <a:latin typeface="Arial" charset="0"/>
              </a:rPr>
              <a:t>:  phagocytent les substances étrangères et activent les lymphocytes.</a:t>
            </a:r>
          </a:p>
          <a:p>
            <a:pPr marL="446088" lvl="2" indent="-176213">
              <a:buFontTx/>
              <a:buChar char="•"/>
            </a:pPr>
            <a:r>
              <a:rPr lang="fr-CA" sz="1500" i="1" dirty="0">
                <a:latin typeface="Arial" charset="0"/>
              </a:rPr>
              <a:t>Cellules dendritiques: </a:t>
            </a:r>
            <a:r>
              <a:rPr lang="fr-CA" sz="1500" dirty="0">
                <a:latin typeface="Arial" charset="0"/>
              </a:rPr>
              <a:t>fonctions similaires aux macrophagocytes.</a:t>
            </a:r>
            <a:endParaRPr lang="fr-CA" sz="1500" i="1" dirty="0">
              <a:latin typeface="Arial" charset="0"/>
            </a:endParaRPr>
          </a:p>
        </p:txBody>
      </p:sp>
      <p:pic>
        <p:nvPicPr>
          <p:cNvPr id="5" name="Picture 4" descr="Diagram&#10;&#10;Description automatically generated">
            <a:extLst>
              <a:ext uri="{FF2B5EF4-FFF2-40B4-BE49-F238E27FC236}">
                <a16:creationId xmlns:a16="http://schemas.microsoft.com/office/drawing/2014/main" id="{CE267555-22D7-4D10-B002-8B29890B659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4554537" y="2279374"/>
            <a:ext cx="4249985" cy="418106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Text Box 3"/>
          <p:cNvSpPr txBox="1">
            <a:spLocks noChangeArrowheads="1"/>
          </p:cNvSpPr>
          <p:nvPr/>
        </p:nvSpPr>
        <p:spPr bwMode="auto">
          <a:xfrm>
            <a:off x="222828" y="818954"/>
            <a:ext cx="3872094" cy="399083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175">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imes New Roman" pitchFamily="18" charset="0"/>
              </a:defRPr>
            </a:lvl1pPr>
            <a:lvl2pPr marL="352425" indent="-166688">
              <a:defRPr sz="2400">
                <a:solidFill>
                  <a:schemeClr val="tx1"/>
                </a:solidFill>
                <a:latin typeface="Times New Roman" pitchFamily="18" charset="0"/>
              </a:defRPr>
            </a:lvl2pPr>
            <a:lvl3pPr marL="690563" indent="-223838">
              <a:defRPr sz="2400">
                <a:solidFill>
                  <a:schemeClr val="tx1"/>
                </a:solidFill>
                <a:latin typeface="Times New Roman" pitchFamily="18" charset="0"/>
              </a:defRPr>
            </a:lvl3pPr>
            <a:lvl4pPr>
              <a:defRPr sz="2400">
                <a:solidFill>
                  <a:schemeClr val="tx1"/>
                </a:solidFill>
                <a:latin typeface="Times New Roman" pitchFamily="18" charset="0"/>
              </a:defRPr>
            </a:lvl4pPr>
            <a:lvl5pPr>
              <a:defRPr sz="2400">
                <a:solidFill>
                  <a:schemeClr val="tx1"/>
                </a:solidFill>
                <a:latin typeface="Times New Roman" pitchFamily="18" charset="0"/>
              </a:defRPr>
            </a:lvl5pPr>
            <a:lvl6pPr eaLnBrk="0" fontAlgn="base" hangingPunct="0">
              <a:spcBef>
                <a:spcPct val="0"/>
              </a:spcBef>
              <a:spcAft>
                <a:spcPct val="0"/>
              </a:spcAft>
              <a:defRPr sz="2400">
                <a:solidFill>
                  <a:schemeClr val="tx1"/>
                </a:solidFill>
                <a:latin typeface="Times New Roman" pitchFamily="18" charset="0"/>
              </a:defRPr>
            </a:lvl6pPr>
            <a:lvl7pPr eaLnBrk="0" fontAlgn="base" hangingPunct="0">
              <a:spcBef>
                <a:spcPct val="0"/>
              </a:spcBef>
              <a:spcAft>
                <a:spcPct val="0"/>
              </a:spcAft>
              <a:defRPr sz="2400">
                <a:solidFill>
                  <a:schemeClr val="tx1"/>
                </a:solidFill>
                <a:latin typeface="Times New Roman" pitchFamily="18" charset="0"/>
              </a:defRPr>
            </a:lvl7pPr>
            <a:lvl8pPr eaLnBrk="0" fontAlgn="base" hangingPunct="0">
              <a:spcBef>
                <a:spcPct val="0"/>
              </a:spcBef>
              <a:spcAft>
                <a:spcPct val="0"/>
              </a:spcAft>
              <a:defRPr sz="2400">
                <a:solidFill>
                  <a:schemeClr val="tx1"/>
                </a:solidFill>
                <a:latin typeface="Times New Roman" pitchFamily="18" charset="0"/>
              </a:defRPr>
            </a:lvl8pPr>
            <a:lvl9pPr eaLnBrk="0" fontAlgn="base" hangingPunct="0">
              <a:spcBef>
                <a:spcPct val="0"/>
              </a:spcBef>
              <a:spcAft>
                <a:spcPct val="0"/>
              </a:spcAft>
              <a:defRPr sz="2400">
                <a:solidFill>
                  <a:schemeClr val="tx1"/>
                </a:solidFill>
                <a:latin typeface="Times New Roman" pitchFamily="18" charset="0"/>
              </a:defRPr>
            </a:lvl9pPr>
          </a:lstStyle>
          <a:p>
            <a:pPr marL="265113" indent="-265113">
              <a:spcBef>
                <a:spcPct val="20000"/>
              </a:spcBef>
            </a:pPr>
            <a:r>
              <a:rPr lang="fr-CA" sz="2000" b="1" dirty="0">
                <a:latin typeface="Arial" charset="0"/>
              </a:rPr>
              <a:t>3.	</a:t>
            </a:r>
            <a:r>
              <a:rPr lang="fr-CA" sz="2000" b="1" u="sng" dirty="0">
                <a:latin typeface="Arial" charset="0"/>
              </a:rPr>
              <a:t>Organes lymphoïdes</a:t>
            </a:r>
          </a:p>
          <a:p>
            <a:pPr marL="265113" lvl="1" indent="-250825">
              <a:spcBef>
                <a:spcPts val="1200"/>
              </a:spcBef>
            </a:pPr>
            <a:r>
              <a:rPr lang="fr-CA" sz="1600" b="1" dirty="0">
                <a:latin typeface="Arial" charset="0"/>
              </a:rPr>
              <a:t>−	Organes lymphoïdes primaires</a:t>
            </a:r>
          </a:p>
          <a:p>
            <a:pPr marL="265113" lvl="1" indent="9525">
              <a:spcBef>
                <a:spcPts val="0"/>
              </a:spcBef>
            </a:pPr>
            <a:r>
              <a:rPr lang="fr-CA" sz="1600" dirty="0">
                <a:latin typeface="Arial" charset="0"/>
              </a:rPr>
              <a:t>Sites de maturation des lymphocytes</a:t>
            </a:r>
            <a:endParaRPr lang="fr-CA" sz="1600" b="1" i="1" dirty="0">
              <a:latin typeface="Arial" charset="0"/>
            </a:endParaRPr>
          </a:p>
          <a:p>
            <a:pPr marL="446088" lvl="2" indent="-182563">
              <a:spcBef>
                <a:spcPts val="400"/>
              </a:spcBef>
              <a:buFontTx/>
              <a:buChar char="•"/>
            </a:pPr>
            <a:r>
              <a:rPr lang="fr-CA" sz="1600" b="1" i="1" dirty="0">
                <a:latin typeface="Arial" charset="0"/>
              </a:rPr>
              <a:t>Moelle osseuse rouge</a:t>
            </a:r>
          </a:p>
          <a:p>
            <a:pPr marL="446088" lvl="2" indent="-182563">
              <a:spcBef>
                <a:spcPts val="400"/>
              </a:spcBef>
              <a:buFontTx/>
              <a:buChar char="•"/>
            </a:pPr>
            <a:r>
              <a:rPr lang="fr-CA" sz="1600" b="1" i="1" dirty="0">
                <a:latin typeface="Arial" charset="0"/>
              </a:rPr>
              <a:t>Thymus</a:t>
            </a:r>
          </a:p>
          <a:p>
            <a:pPr marL="265113" lvl="1" indent="-250825">
              <a:spcBef>
                <a:spcPts val="1200"/>
              </a:spcBef>
            </a:pPr>
            <a:r>
              <a:rPr lang="fr-CA" sz="1600" b="1" dirty="0">
                <a:latin typeface="Arial" charset="0"/>
              </a:rPr>
              <a:t>−	Organes lymphoïdes secondaires</a:t>
            </a:r>
          </a:p>
          <a:p>
            <a:pPr marL="265113" lvl="1" indent="0">
              <a:spcBef>
                <a:spcPts val="0"/>
              </a:spcBef>
            </a:pPr>
            <a:r>
              <a:rPr lang="fr-CA" sz="1600" dirty="0">
                <a:latin typeface="Arial" charset="0"/>
              </a:rPr>
              <a:t>Sites d’exposition aux antigènes et d’activation des lymphocytes.</a:t>
            </a:r>
          </a:p>
          <a:p>
            <a:pPr marL="446088" lvl="2" indent="-182563">
              <a:spcBef>
                <a:spcPts val="400"/>
              </a:spcBef>
              <a:buFontTx/>
              <a:buChar char="•"/>
            </a:pPr>
            <a:r>
              <a:rPr lang="fr-CA" sz="1600" b="1" i="1" dirty="0">
                <a:latin typeface="Arial" charset="0"/>
              </a:rPr>
              <a:t>Nœuds lymphatiques</a:t>
            </a:r>
            <a:endParaRPr lang="fr-CA" sz="1600" dirty="0">
              <a:latin typeface="Arial" charset="0"/>
            </a:endParaRPr>
          </a:p>
          <a:p>
            <a:pPr marL="446088" lvl="2" indent="-182563">
              <a:spcBef>
                <a:spcPts val="400"/>
              </a:spcBef>
              <a:buFontTx/>
              <a:buChar char="•"/>
            </a:pPr>
            <a:r>
              <a:rPr lang="fr-CA" sz="1600" b="1" i="1" dirty="0">
                <a:latin typeface="Arial" charset="0"/>
              </a:rPr>
              <a:t>Rate</a:t>
            </a:r>
            <a:endParaRPr lang="fr-CA" sz="1600" dirty="0">
              <a:latin typeface="Arial" charset="0"/>
            </a:endParaRPr>
          </a:p>
          <a:p>
            <a:pPr marL="446088" lvl="2" indent="-182563">
              <a:spcBef>
                <a:spcPts val="400"/>
              </a:spcBef>
              <a:buFontTx/>
              <a:buChar char="•"/>
            </a:pPr>
            <a:r>
              <a:rPr lang="fr-CA" sz="1600" b="1" i="1" dirty="0">
                <a:latin typeface="Arial" charset="0"/>
              </a:rPr>
              <a:t>Tonsilles (amygdales)</a:t>
            </a:r>
          </a:p>
          <a:p>
            <a:pPr marL="446088" lvl="2" indent="-182563">
              <a:spcBef>
                <a:spcPts val="400"/>
              </a:spcBef>
              <a:buFontTx/>
              <a:buChar char="•"/>
            </a:pPr>
            <a:r>
              <a:rPr lang="fr-CA" sz="1600" b="1" i="1" dirty="0">
                <a:latin typeface="Arial" charset="0"/>
              </a:rPr>
              <a:t>Follicules lymphatiques agrégés</a:t>
            </a:r>
          </a:p>
          <a:p>
            <a:pPr marL="446088" lvl="2" indent="-182563">
              <a:spcBef>
                <a:spcPts val="400"/>
              </a:spcBef>
              <a:buFontTx/>
              <a:buChar char="•"/>
            </a:pPr>
            <a:r>
              <a:rPr lang="fr-CA" sz="1600" b="1" i="1" dirty="0">
                <a:latin typeface="Arial" charset="0"/>
              </a:rPr>
              <a:t>Appendice vermiforme</a:t>
            </a:r>
          </a:p>
        </p:txBody>
      </p:sp>
      <p:pic>
        <p:nvPicPr>
          <p:cNvPr id="5" name="Content Placeholder 1">
            <a:extLst>
              <a:ext uri="{FF2B5EF4-FFF2-40B4-BE49-F238E27FC236}">
                <a16:creationId xmlns:a16="http://schemas.microsoft.com/office/drawing/2014/main" id="{C8DF0C3D-B911-475C-9F7D-78CE4B681A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bwMode="auto">
          <a:xfrm>
            <a:off x="4241329" y="1050867"/>
            <a:ext cx="4544723" cy="5005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8">
            <a:extLst>
              <a:ext uri="{FF2B5EF4-FFF2-40B4-BE49-F238E27FC236}">
                <a16:creationId xmlns:a16="http://schemas.microsoft.com/office/drawing/2014/main" id="{C485181D-71DE-4822-B42F-294093D82686}"/>
              </a:ext>
            </a:extLst>
          </p:cNvPr>
          <p:cNvSpPr txBox="1">
            <a:spLocks noChangeArrowheads="1"/>
          </p:cNvSpPr>
          <p:nvPr/>
        </p:nvSpPr>
        <p:spPr bwMode="auto">
          <a:xfrm>
            <a:off x="6480313" y="6154493"/>
            <a:ext cx="2305739" cy="276999"/>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CA" sz="1200" dirty="0"/>
              <a:t>Fig. 20.5  Organes lymphoïdes.</a:t>
            </a:r>
          </a:p>
        </p:txBody>
      </p:sp>
      <p:sp>
        <p:nvSpPr>
          <p:cNvPr id="7" name="Text Box 7">
            <a:extLst>
              <a:ext uri="{FF2B5EF4-FFF2-40B4-BE49-F238E27FC236}">
                <a16:creationId xmlns:a16="http://schemas.microsoft.com/office/drawing/2014/main" id="{163EA5D8-EEBD-493C-B7FD-5F14CAD9588C}"/>
              </a:ext>
            </a:extLst>
          </p:cNvPr>
          <p:cNvSpPr txBox="1">
            <a:spLocks noChangeArrowheads="1"/>
          </p:cNvSpPr>
          <p:nvPr/>
        </p:nvSpPr>
        <p:spPr bwMode="auto">
          <a:xfrm>
            <a:off x="203752" y="183373"/>
            <a:ext cx="8728075" cy="4308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0099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sz="2400">
                <a:solidFill>
                  <a:schemeClr val="tx1"/>
                </a:solidFill>
                <a:latin typeface="Times New Roman" pitchFamily="18" charset="0"/>
              </a:defRPr>
            </a:lvl1pPr>
            <a:lvl2pPr marL="914400" indent="-457200">
              <a:defRPr sz="2400">
                <a:solidFill>
                  <a:schemeClr val="tx1"/>
                </a:solidFill>
                <a:latin typeface="Times New Roman" pitchFamily="18" charset="0"/>
              </a:defRPr>
            </a:lvl2pPr>
            <a:lvl3pPr marL="1371600" indent="-457200">
              <a:defRPr sz="2400">
                <a:solidFill>
                  <a:schemeClr val="tx1"/>
                </a:solidFill>
                <a:latin typeface="Times New Roman" pitchFamily="18" charset="0"/>
              </a:defRPr>
            </a:lvl3pPr>
            <a:lvl4pPr marL="1828800" indent="-457200">
              <a:defRPr sz="2400">
                <a:solidFill>
                  <a:schemeClr val="tx1"/>
                </a:solidFill>
                <a:latin typeface="Times New Roman" pitchFamily="18" charset="0"/>
              </a:defRPr>
            </a:lvl4pPr>
            <a:lvl5pPr marL="2286000" indent="-457200">
              <a:defRPr sz="2400">
                <a:solidFill>
                  <a:schemeClr val="tx1"/>
                </a:solidFill>
                <a:latin typeface="Times New Roman" pitchFamily="18" charset="0"/>
              </a:defRPr>
            </a:lvl5pPr>
            <a:lvl6pPr marL="2743200" indent="-457200" eaLnBrk="0" fontAlgn="base" hangingPunct="0">
              <a:spcBef>
                <a:spcPct val="0"/>
              </a:spcBef>
              <a:spcAft>
                <a:spcPct val="0"/>
              </a:spcAft>
              <a:defRPr sz="2400">
                <a:solidFill>
                  <a:schemeClr val="tx1"/>
                </a:solidFill>
                <a:latin typeface="Times New Roman" pitchFamily="18" charset="0"/>
              </a:defRPr>
            </a:lvl6pPr>
            <a:lvl7pPr marL="3200400" indent="-457200" eaLnBrk="0" fontAlgn="base" hangingPunct="0">
              <a:spcBef>
                <a:spcPct val="0"/>
              </a:spcBef>
              <a:spcAft>
                <a:spcPct val="0"/>
              </a:spcAft>
              <a:defRPr sz="2400">
                <a:solidFill>
                  <a:schemeClr val="tx1"/>
                </a:solidFill>
                <a:latin typeface="Times New Roman" pitchFamily="18" charset="0"/>
              </a:defRPr>
            </a:lvl7pPr>
            <a:lvl8pPr marL="3657600" indent="-457200" eaLnBrk="0" fontAlgn="base" hangingPunct="0">
              <a:spcBef>
                <a:spcPct val="0"/>
              </a:spcBef>
              <a:spcAft>
                <a:spcPct val="0"/>
              </a:spcAft>
              <a:defRPr sz="2400">
                <a:solidFill>
                  <a:schemeClr val="tx1"/>
                </a:solidFill>
                <a:latin typeface="Times New Roman" pitchFamily="18" charset="0"/>
              </a:defRPr>
            </a:lvl8pPr>
            <a:lvl9pPr marL="4114800" indent="-457200" eaLnBrk="0" fontAlgn="base" hangingPunct="0">
              <a:spcBef>
                <a:spcPct val="0"/>
              </a:spcBef>
              <a:spcAft>
                <a:spcPct val="0"/>
              </a:spcAft>
              <a:defRPr sz="2400">
                <a:solidFill>
                  <a:schemeClr val="tx1"/>
                </a:solidFill>
                <a:latin typeface="Times New Roman" pitchFamily="18" charset="0"/>
              </a:defRPr>
            </a:lvl9pPr>
          </a:lstStyle>
          <a:p>
            <a:pPr>
              <a:spcBef>
                <a:spcPct val="20000"/>
              </a:spcBef>
            </a:pPr>
            <a:r>
              <a:rPr lang="en-US" sz="2200" b="1" dirty="0">
                <a:solidFill>
                  <a:srgbClr val="0000CC"/>
                </a:solidFill>
                <a:latin typeface="Arial" charset="0"/>
              </a:rPr>
              <a:t>7.2 </a:t>
            </a:r>
            <a:r>
              <a:rPr lang="fr-FR" sz="2200" b="1" dirty="0">
                <a:solidFill>
                  <a:srgbClr val="0000CC"/>
                </a:solidFill>
                <a:latin typeface="Arial" charset="0"/>
              </a:rPr>
              <a:t>Tissus et organes lymphoïdes</a:t>
            </a:r>
          </a:p>
        </p:txBody>
      </p:sp>
    </p:spTree>
    <p:extLst>
      <p:ext uri="{BB962C8B-B14F-4D97-AF65-F5344CB8AC3E}">
        <p14:creationId xmlns:p14="http://schemas.microsoft.com/office/powerpoint/2010/main" val="963055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8" name="Text Box 4"/>
          <p:cNvSpPr txBox="1">
            <a:spLocks noChangeArrowheads="1"/>
          </p:cNvSpPr>
          <p:nvPr/>
        </p:nvSpPr>
        <p:spPr bwMode="auto">
          <a:xfrm>
            <a:off x="166053" y="240840"/>
            <a:ext cx="5081808" cy="2509918"/>
          </a:xfrm>
          <a:prstGeom prst="rect">
            <a:avLst/>
          </a:prstGeom>
          <a:noFill/>
          <a:ln w="9525">
            <a:no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91440" bIns="91440">
            <a:spAutoFit/>
          </a:bodyPr>
          <a:lstStyle>
            <a:lvl1pPr>
              <a:defRPr sz="2400">
                <a:solidFill>
                  <a:schemeClr val="tx1"/>
                </a:solidFill>
                <a:latin typeface="Times New Roman" pitchFamily="18" charset="0"/>
              </a:defRPr>
            </a:lvl1pPr>
            <a:lvl2pPr marL="285750" indent="-171450">
              <a:defRPr sz="2400">
                <a:solidFill>
                  <a:schemeClr val="tx1"/>
                </a:solidFill>
                <a:latin typeface="Times New Roman" pitchFamily="18" charset="0"/>
              </a:defRPr>
            </a:lvl2pPr>
            <a:lvl3pPr marL="1714500" indent="-457200">
              <a:defRPr sz="2400">
                <a:solidFill>
                  <a:schemeClr val="tx1"/>
                </a:solidFill>
                <a:latin typeface="Times New Roman" pitchFamily="18" charset="0"/>
              </a:defRPr>
            </a:lvl3pPr>
            <a:lvl4pPr marL="2351088" indent="-457200">
              <a:defRPr sz="2400">
                <a:solidFill>
                  <a:schemeClr val="tx1"/>
                </a:solidFill>
                <a:latin typeface="Times New Roman" pitchFamily="18" charset="0"/>
              </a:defRPr>
            </a:lvl4pPr>
            <a:lvl5pPr marL="2987675" indent="-457200">
              <a:defRPr sz="2400">
                <a:solidFill>
                  <a:schemeClr val="tx1"/>
                </a:solidFill>
                <a:latin typeface="Times New Roman" pitchFamily="18" charset="0"/>
              </a:defRPr>
            </a:lvl5pPr>
            <a:lvl6pPr marL="3444875" indent="-457200" eaLnBrk="0" fontAlgn="base" hangingPunct="0">
              <a:spcBef>
                <a:spcPct val="0"/>
              </a:spcBef>
              <a:spcAft>
                <a:spcPct val="0"/>
              </a:spcAft>
              <a:defRPr sz="2400">
                <a:solidFill>
                  <a:schemeClr val="tx1"/>
                </a:solidFill>
                <a:latin typeface="Times New Roman" pitchFamily="18" charset="0"/>
              </a:defRPr>
            </a:lvl6pPr>
            <a:lvl7pPr marL="3902075" indent="-457200" eaLnBrk="0" fontAlgn="base" hangingPunct="0">
              <a:spcBef>
                <a:spcPct val="0"/>
              </a:spcBef>
              <a:spcAft>
                <a:spcPct val="0"/>
              </a:spcAft>
              <a:defRPr sz="2400">
                <a:solidFill>
                  <a:schemeClr val="tx1"/>
                </a:solidFill>
                <a:latin typeface="Times New Roman" pitchFamily="18" charset="0"/>
              </a:defRPr>
            </a:lvl7pPr>
            <a:lvl8pPr marL="4359275" indent="-457200" eaLnBrk="0" fontAlgn="base" hangingPunct="0">
              <a:spcBef>
                <a:spcPct val="0"/>
              </a:spcBef>
              <a:spcAft>
                <a:spcPct val="0"/>
              </a:spcAft>
              <a:defRPr sz="2400">
                <a:solidFill>
                  <a:schemeClr val="tx1"/>
                </a:solidFill>
                <a:latin typeface="Times New Roman" pitchFamily="18" charset="0"/>
              </a:defRPr>
            </a:lvl8pPr>
            <a:lvl9pPr marL="4816475" indent="-457200" eaLnBrk="0" fontAlgn="base" hangingPunct="0">
              <a:spcBef>
                <a:spcPct val="0"/>
              </a:spcBef>
              <a:spcAft>
                <a:spcPct val="0"/>
              </a:spcAft>
              <a:defRPr sz="2400">
                <a:solidFill>
                  <a:schemeClr val="tx1"/>
                </a:solidFill>
                <a:latin typeface="Times New Roman" pitchFamily="18" charset="0"/>
              </a:defRPr>
            </a:lvl9pPr>
          </a:lstStyle>
          <a:p>
            <a:pPr>
              <a:lnSpc>
                <a:spcPct val="80000"/>
              </a:lnSpc>
              <a:spcBef>
                <a:spcPct val="50000"/>
              </a:spcBef>
            </a:pPr>
            <a:r>
              <a:rPr lang="fr-CA" sz="2000" b="1" dirty="0">
                <a:latin typeface="Arial" charset="0"/>
              </a:rPr>
              <a:t>4. </a:t>
            </a:r>
            <a:r>
              <a:rPr lang="fr-CA" sz="2000" b="1" u="sng" dirty="0">
                <a:latin typeface="Arial" charset="0"/>
              </a:rPr>
              <a:t>Nœuds lymphatiques</a:t>
            </a:r>
          </a:p>
          <a:p>
            <a:pPr marL="442913" lvl="1">
              <a:spcBef>
                <a:spcPts val="600"/>
              </a:spcBef>
              <a:buFontTx/>
              <a:buChar char="•"/>
            </a:pPr>
            <a:r>
              <a:rPr lang="fr-CA" sz="1400" dirty="0">
                <a:latin typeface="Arial" charset="0"/>
              </a:rPr>
              <a:t>Petits, réniformes (1-25 mm de longueur).</a:t>
            </a:r>
          </a:p>
          <a:p>
            <a:pPr marL="442913" lvl="1">
              <a:spcBef>
                <a:spcPts val="100"/>
              </a:spcBef>
              <a:buFontTx/>
              <a:buChar char="•"/>
            </a:pPr>
            <a:r>
              <a:rPr lang="fr-CA" sz="1400" dirty="0">
                <a:latin typeface="Arial" charset="0"/>
              </a:rPr>
              <a:t>Environ 500 nœuds regroupés le long des vaisseaux collecteurs lymphatiques.</a:t>
            </a:r>
          </a:p>
          <a:p>
            <a:pPr marL="442913" lvl="1">
              <a:spcBef>
                <a:spcPts val="100"/>
              </a:spcBef>
              <a:buFontTx/>
              <a:buChar char="•"/>
            </a:pPr>
            <a:r>
              <a:rPr lang="fr-CA" sz="1400" dirty="0">
                <a:latin typeface="Arial" charset="0"/>
              </a:rPr>
              <a:t>Les groupes les plus larges se retrouvent à la convergence des vaisseaux collecteurs (</a:t>
            </a:r>
            <a:r>
              <a:rPr lang="fr-CA" sz="1400" b="1" dirty="0">
                <a:latin typeface="Arial" charset="0"/>
              </a:rPr>
              <a:t>inguinaux, axillaires, cervicaux</a:t>
            </a:r>
            <a:r>
              <a:rPr lang="fr-CA" sz="1400" dirty="0">
                <a:latin typeface="Arial" charset="0"/>
              </a:rPr>
              <a:t>).</a:t>
            </a:r>
          </a:p>
          <a:p>
            <a:pPr marL="442913" lvl="1">
              <a:spcBef>
                <a:spcPts val="100"/>
              </a:spcBef>
              <a:buFontTx/>
              <a:buChar char="•"/>
            </a:pPr>
            <a:r>
              <a:rPr lang="fr-CA" sz="1400" dirty="0">
                <a:latin typeface="Arial" charset="0"/>
              </a:rPr>
              <a:t>La lymphe entre par les </a:t>
            </a:r>
            <a:r>
              <a:rPr lang="fr-CA" sz="1400" i="1" dirty="0">
                <a:latin typeface="Arial" charset="0"/>
              </a:rPr>
              <a:t>vaisseaux afférents</a:t>
            </a:r>
            <a:r>
              <a:rPr lang="fr-CA" sz="1400" dirty="0">
                <a:latin typeface="Arial" charset="0"/>
              </a:rPr>
              <a:t>, circule dans le nœud et y ressort par un ou deux </a:t>
            </a:r>
            <a:r>
              <a:rPr lang="fr-CA" sz="1400" i="1" dirty="0">
                <a:latin typeface="Arial" charset="0"/>
              </a:rPr>
              <a:t>vaisseaux efférents</a:t>
            </a:r>
            <a:r>
              <a:rPr lang="fr-CA" sz="1400" dirty="0">
                <a:latin typeface="Arial" charset="0"/>
              </a:rPr>
              <a:t>.</a:t>
            </a:r>
          </a:p>
        </p:txBody>
      </p:sp>
      <p:sp>
        <p:nvSpPr>
          <p:cNvPr id="108561" name="Text Box 17"/>
          <p:cNvSpPr txBox="1">
            <a:spLocks noChangeArrowheads="1"/>
          </p:cNvSpPr>
          <p:nvPr/>
        </p:nvSpPr>
        <p:spPr bwMode="auto">
          <a:xfrm>
            <a:off x="4572000" y="4260575"/>
            <a:ext cx="4347664" cy="2000548"/>
          </a:xfrm>
          <a:prstGeom prst="rect">
            <a:avLst/>
          </a:prstGeom>
          <a:noFill/>
          <a:ln w="9525">
            <a:solidFill>
              <a:srgbClr val="008000"/>
            </a:solidFill>
            <a:miter lim="800000"/>
            <a:headEnd/>
            <a:tailEnd/>
          </a:ln>
          <a:effectLst/>
          <a:extLst>
            <a:ext uri="{909E8E84-426E-40DD-AFC4-6F175D3DCCD1}">
              <a14:hiddenFill xmlns:a14="http://schemas.microsoft.com/office/drawing/2010/main">
                <a:solidFill>
                  <a:srgbClr val="FFFF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161925" indent="-161925">
              <a:defRPr sz="2400">
                <a:solidFill>
                  <a:schemeClr val="tx1"/>
                </a:solidFill>
                <a:latin typeface="Times New Roman" pitchFamily="18" charset="0"/>
              </a:defRPr>
            </a:lvl1pPr>
            <a:lvl2pPr marL="447675" indent="-171450">
              <a:defRPr sz="2400">
                <a:solidFill>
                  <a:schemeClr val="tx1"/>
                </a:solidFill>
                <a:latin typeface="Times New Roman" pitchFamily="18" charset="0"/>
              </a:defRPr>
            </a:lvl2pPr>
            <a:lvl3pPr marL="1714500" indent="-457200">
              <a:defRPr sz="2400">
                <a:solidFill>
                  <a:schemeClr val="tx1"/>
                </a:solidFill>
                <a:latin typeface="Times New Roman" pitchFamily="18" charset="0"/>
              </a:defRPr>
            </a:lvl3pPr>
            <a:lvl4pPr marL="2351088" indent="-457200">
              <a:defRPr sz="2400">
                <a:solidFill>
                  <a:schemeClr val="tx1"/>
                </a:solidFill>
                <a:latin typeface="Times New Roman" pitchFamily="18" charset="0"/>
              </a:defRPr>
            </a:lvl4pPr>
            <a:lvl5pPr marL="2987675" indent="-457200">
              <a:defRPr sz="2400">
                <a:solidFill>
                  <a:schemeClr val="tx1"/>
                </a:solidFill>
                <a:latin typeface="Times New Roman" pitchFamily="18" charset="0"/>
              </a:defRPr>
            </a:lvl5pPr>
            <a:lvl6pPr marL="3444875" indent="-457200" eaLnBrk="0" fontAlgn="base" hangingPunct="0">
              <a:spcBef>
                <a:spcPct val="0"/>
              </a:spcBef>
              <a:spcAft>
                <a:spcPct val="0"/>
              </a:spcAft>
              <a:defRPr sz="2400">
                <a:solidFill>
                  <a:schemeClr val="tx1"/>
                </a:solidFill>
                <a:latin typeface="Times New Roman" pitchFamily="18" charset="0"/>
              </a:defRPr>
            </a:lvl6pPr>
            <a:lvl7pPr marL="3902075" indent="-457200" eaLnBrk="0" fontAlgn="base" hangingPunct="0">
              <a:spcBef>
                <a:spcPct val="0"/>
              </a:spcBef>
              <a:spcAft>
                <a:spcPct val="0"/>
              </a:spcAft>
              <a:defRPr sz="2400">
                <a:solidFill>
                  <a:schemeClr val="tx1"/>
                </a:solidFill>
                <a:latin typeface="Times New Roman" pitchFamily="18" charset="0"/>
              </a:defRPr>
            </a:lvl7pPr>
            <a:lvl8pPr marL="4359275" indent="-457200" eaLnBrk="0" fontAlgn="base" hangingPunct="0">
              <a:spcBef>
                <a:spcPct val="0"/>
              </a:spcBef>
              <a:spcAft>
                <a:spcPct val="0"/>
              </a:spcAft>
              <a:defRPr sz="2400">
                <a:solidFill>
                  <a:schemeClr val="tx1"/>
                </a:solidFill>
                <a:latin typeface="Times New Roman" pitchFamily="18" charset="0"/>
              </a:defRPr>
            </a:lvl8pPr>
            <a:lvl9pPr marL="4816475" indent="-457200" eaLnBrk="0" fontAlgn="base" hangingPunct="0">
              <a:spcBef>
                <a:spcPct val="0"/>
              </a:spcBef>
              <a:spcAft>
                <a:spcPct val="0"/>
              </a:spcAft>
              <a:defRPr sz="2400">
                <a:solidFill>
                  <a:schemeClr val="tx1"/>
                </a:solidFill>
                <a:latin typeface="Times New Roman" pitchFamily="18" charset="0"/>
              </a:defRPr>
            </a:lvl9pPr>
          </a:lstStyle>
          <a:p>
            <a:pPr>
              <a:spcBef>
                <a:spcPct val="20000"/>
              </a:spcBef>
            </a:pPr>
            <a:r>
              <a:rPr lang="fr-CA" sz="1500" u="sng" dirty="0">
                <a:latin typeface="Arial" charset="0"/>
              </a:rPr>
              <a:t>Fonctions des nœuds lymphatiques</a:t>
            </a:r>
            <a:r>
              <a:rPr lang="fr-CA" sz="1500" dirty="0">
                <a:latin typeface="Arial" charset="0"/>
              </a:rPr>
              <a:t> :</a:t>
            </a:r>
          </a:p>
          <a:p>
            <a:pPr marL="182563" lvl="1" indent="-182563">
              <a:spcBef>
                <a:spcPts val="300"/>
              </a:spcBef>
              <a:buFont typeface="Arial" pitchFamily="34" charset="0"/>
              <a:buChar char="−"/>
            </a:pPr>
            <a:r>
              <a:rPr lang="fr-CA" sz="1400" dirty="0">
                <a:latin typeface="Arial" charset="0"/>
              </a:rPr>
              <a:t>Filtrent la lymphe (les macrophagocytes détruisent les microorganismes)</a:t>
            </a:r>
          </a:p>
          <a:p>
            <a:pPr marL="182563" lvl="1" indent="-182563">
              <a:spcBef>
                <a:spcPts val="300"/>
              </a:spcBef>
              <a:buFont typeface="Arial" pitchFamily="34" charset="0"/>
              <a:buChar char="−"/>
            </a:pPr>
            <a:r>
              <a:rPr lang="fr-CA" sz="1400" dirty="0">
                <a:latin typeface="Arial" charset="0"/>
              </a:rPr>
              <a:t>Permettent l’activation du système immunitaire</a:t>
            </a:r>
          </a:p>
          <a:p>
            <a:pPr marL="0" indent="0">
              <a:spcBef>
                <a:spcPts val="600"/>
              </a:spcBef>
            </a:pPr>
            <a:r>
              <a:rPr lang="fr-CA" sz="1400" dirty="0">
                <a:latin typeface="Arial" charset="0"/>
              </a:rPr>
              <a:t>Tous les organes lymphatiques participent à la défense de l’organisme, mais </a:t>
            </a:r>
            <a:r>
              <a:rPr lang="fr-CA" sz="1400" u="sng" dirty="0">
                <a:latin typeface="Arial" charset="0"/>
              </a:rPr>
              <a:t>seuls les nœuds lymphatiques filtrent la lymphe</a:t>
            </a:r>
            <a:r>
              <a:rPr lang="fr-CA" sz="1400" dirty="0">
                <a:latin typeface="Arial" charset="0"/>
              </a:rPr>
              <a:t>. Les autres organes lymphatiques n’ont que des vaisseaux efférents.</a:t>
            </a:r>
          </a:p>
        </p:txBody>
      </p:sp>
      <p:pic>
        <p:nvPicPr>
          <p:cNvPr id="3" name="Picture 2" descr="Diagram&#10;&#10;Description automatically generated">
            <a:extLst>
              <a:ext uri="{FF2B5EF4-FFF2-40B4-BE49-F238E27FC236}">
                <a16:creationId xmlns:a16="http://schemas.microsoft.com/office/drawing/2014/main" id="{AB065BA3-EA0E-4E10-92BF-9F139803837F}"/>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86911" y="2717660"/>
            <a:ext cx="3346174" cy="3734139"/>
          </a:xfrm>
          <a:prstGeom prst="rect">
            <a:avLst/>
          </a:prstGeom>
        </p:spPr>
      </p:pic>
      <p:sp>
        <p:nvSpPr>
          <p:cNvPr id="108556" name="Text Box 12"/>
          <p:cNvSpPr txBox="1">
            <a:spLocks noChangeArrowheads="1"/>
          </p:cNvSpPr>
          <p:nvPr/>
        </p:nvSpPr>
        <p:spPr bwMode="auto">
          <a:xfrm>
            <a:off x="126661" y="6144022"/>
            <a:ext cx="879318" cy="307777"/>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fr-CA" sz="1400" dirty="0"/>
              <a:t>Fig. 20.6</a:t>
            </a:r>
          </a:p>
        </p:txBody>
      </p:sp>
      <p:pic>
        <p:nvPicPr>
          <p:cNvPr id="2" name="Picture 1" descr="Diagram&#10;&#10;Description automatically generated">
            <a:extLst>
              <a:ext uri="{FF2B5EF4-FFF2-40B4-BE49-F238E27FC236}">
                <a16:creationId xmlns:a16="http://schemas.microsoft.com/office/drawing/2014/main" id="{04BB1058-D7C0-422A-958F-E364711C7D36}"/>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5083980" y="240840"/>
            <a:ext cx="3559491" cy="391736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149530" y="399823"/>
            <a:ext cx="7576458" cy="5596030"/>
            <a:chOff x="1141413" y="111125"/>
            <a:chExt cx="8333036" cy="6392863"/>
          </a:xfrm>
        </p:grpSpPr>
        <p:pic>
          <p:nvPicPr>
            <p:cNvPr id="3" name="Picture 45" descr="figure_20_05_unlabele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41413" y="111125"/>
              <a:ext cx="6859587" cy="6392863"/>
            </a:xfrm>
            <a:prstGeom prst="rect">
              <a:avLst/>
            </a:prstGeom>
            <a:noFill/>
            <a:ln w="9525">
              <a:noFill/>
              <a:miter lim="800000"/>
              <a:headEnd/>
              <a:tailEnd/>
            </a:ln>
          </p:spPr>
        </p:pic>
        <p:sp>
          <p:nvSpPr>
            <p:cNvPr id="4" name="Rectangle 30"/>
            <p:cNvSpPr>
              <a:spLocks noChangeArrowheads="1"/>
            </p:cNvSpPr>
            <p:nvPr/>
          </p:nvSpPr>
          <p:spPr bwMode="auto">
            <a:xfrm>
              <a:off x="5397500" y="369189"/>
              <a:ext cx="4062584" cy="390278"/>
            </a:xfrm>
            <a:prstGeom prst="rect">
              <a:avLst/>
            </a:prstGeom>
            <a:noFill/>
            <a:ln w="9525">
              <a:noFill/>
              <a:miter lim="800000"/>
              <a:headEnd/>
              <a:tailEnd/>
            </a:ln>
            <a:effectLst/>
          </p:spPr>
          <p:txBody>
            <a:bodyPr wrap="square" anchor="ctr">
              <a:spAutoFit/>
            </a:bodyPr>
            <a:lstStyle/>
            <a:p>
              <a:pPr>
                <a:lnSpc>
                  <a:spcPct val="90000"/>
                </a:lnSpc>
                <a:defRPr/>
              </a:pPr>
              <a:r>
                <a:rPr lang="fr-CA" dirty="0">
                  <a:latin typeface="Calibri" pitchFamily="34" charset="0"/>
                </a:rPr>
                <a:t>Tonsilles </a:t>
              </a:r>
              <a:r>
                <a:rPr lang="fr-CA" sz="1600" dirty="0">
                  <a:latin typeface="Calibri" pitchFamily="34" charset="0"/>
                </a:rPr>
                <a:t>(dans la région du pharynx)</a:t>
              </a:r>
            </a:p>
          </p:txBody>
        </p:sp>
        <p:sp>
          <p:nvSpPr>
            <p:cNvPr id="5" name="Rectangle 31"/>
            <p:cNvSpPr>
              <a:spLocks noChangeArrowheads="1"/>
            </p:cNvSpPr>
            <p:nvPr/>
          </p:nvSpPr>
          <p:spPr bwMode="auto">
            <a:xfrm>
              <a:off x="5403850" y="1297535"/>
              <a:ext cx="3740150" cy="643431"/>
            </a:xfrm>
            <a:prstGeom prst="rect">
              <a:avLst/>
            </a:prstGeom>
            <a:noFill/>
            <a:ln w="9525">
              <a:noFill/>
              <a:miter lim="800000"/>
              <a:headEnd/>
              <a:tailEnd/>
            </a:ln>
          </p:spPr>
          <p:txBody>
            <a:bodyPr anchor="ctr">
              <a:spAutoFit/>
            </a:bodyPr>
            <a:lstStyle/>
            <a:p>
              <a:pPr>
                <a:lnSpc>
                  <a:spcPct val="90000"/>
                </a:lnSpc>
              </a:pPr>
              <a:r>
                <a:rPr lang="fr-CA" dirty="0">
                  <a:latin typeface="Calibri" pitchFamily="34" charset="0"/>
                </a:rPr>
                <a:t>Thymus</a:t>
              </a:r>
              <a:r>
                <a:rPr lang="fr-CA" sz="1600" dirty="0">
                  <a:latin typeface="Calibri" pitchFamily="34" charset="0"/>
                </a:rPr>
                <a:t> (dans le thorax; actif surtout pendant l’enfance)</a:t>
              </a:r>
            </a:p>
          </p:txBody>
        </p:sp>
        <p:sp>
          <p:nvSpPr>
            <p:cNvPr id="6" name="Rectangle 32"/>
            <p:cNvSpPr>
              <a:spLocks noChangeArrowheads="1"/>
            </p:cNvSpPr>
            <p:nvPr/>
          </p:nvSpPr>
          <p:spPr bwMode="auto">
            <a:xfrm>
              <a:off x="5400673" y="3385256"/>
              <a:ext cx="4073776" cy="738364"/>
            </a:xfrm>
            <a:prstGeom prst="rect">
              <a:avLst/>
            </a:prstGeom>
            <a:noFill/>
            <a:ln w="9525">
              <a:noFill/>
              <a:miter lim="800000"/>
              <a:headEnd/>
              <a:tailEnd/>
            </a:ln>
          </p:spPr>
          <p:txBody>
            <a:bodyPr wrap="square" anchor="ctr">
              <a:spAutoFit/>
            </a:bodyPr>
            <a:lstStyle/>
            <a:p>
              <a:pPr>
                <a:lnSpc>
                  <a:spcPct val="90000"/>
                </a:lnSpc>
              </a:pPr>
              <a:r>
                <a:rPr lang="fr-CA" sz="2000" b="1" dirty="0">
                  <a:latin typeface="Calibri" pitchFamily="34" charset="0"/>
                </a:rPr>
                <a:t>Rate </a:t>
              </a:r>
              <a:r>
                <a:rPr lang="fr-CA" sz="2000" dirty="0">
                  <a:latin typeface="Calibri" pitchFamily="34" charset="0"/>
                </a:rPr>
                <a:t>(s’incurve autour du côté gauche de l’estomac)</a:t>
              </a:r>
            </a:p>
          </p:txBody>
        </p:sp>
        <p:sp>
          <p:nvSpPr>
            <p:cNvPr id="7" name="Rectangle 33"/>
            <p:cNvSpPr>
              <a:spLocks noChangeArrowheads="1"/>
            </p:cNvSpPr>
            <p:nvPr/>
          </p:nvSpPr>
          <p:spPr bwMode="auto">
            <a:xfrm>
              <a:off x="5429410" y="4666157"/>
              <a:ext cx="3499082" cy="706719"/>
            </a:xfrm>
            <a:prstGeom prst="rect">
              <a:avLst/>
            </a:prstGeom>
            <a:noFill/>
            <a:ln w="9525">
              <a:noFill/>
              <a:miter lim="800000"/>
              <a:headEnd/>
              <a:tailEnd/>
            </a:ln>
          </p:spPr>
          <p:txBody>
            <a:bodyPr wrap="square" anchor="ctr">
              <a:spAutoFit/>
            </a:bodyPr>
            <a:lstStyle/>
            <a:p>
              <a:pPr>
                <a:lnSpc>
                  <a:spcPct val="95000"/>
                </a:lnSpc>
              </a:pPr>
              <a:r>
                <a:rPr lang="fr-CA" dirty="0">
                  <a:latin typeface="Calibri" pitchFamily="34" charset="0"/>
                </a:rPr>
                <a:t>Follicules lymphoïdes agrégés</a:t>
              </a:r>
            </a:p>
            <a:p>
              <a:pPr>
                <a:lnSpc>
                  <a:spcPct val="95000"/>
                </a:lnSpc>
              </a:pPr>
              <a:r>
                <a:rPr lang="fr-CA" dirty="0">
                  <a:latin typeface="Calibri" pitchFamily="34" charset="0"/>
                </a:rPr>
                <a:t>(de l’intestin)</a:t>
              </a:r>
            </a:p>
          </p:txBody>
        </p:sp>
        <p:sp>
          <p:nvSpPr>
            <p:cNvPr id="8" name="Rectangle 34"/>
            <p:cNvSpPr>
              <a:spLocks noChangeArrowheads="1"/>
            </p:cNvSpPr>
            <p:nvPr/>
          </p:nvSpPr>
          <p:spPr bwMode="auto">
            <a:xfrm>
              <a:off x="5373516" y="5804975"/>
              <a:ext cx="2777836" cy="390278"/>
            </a:xfrm>
            <a:prstGeom prst="rect">
              <a:avLst/>
            </a:prstGeom>
            <a:noFill/>
            <a:ln w="9525">
              <a:noFill/>
              <a:miter lim="800000"/>
              <a:headEnd/>
              <a:tailEnd/>
            </a:ln>
          </p:spPr>
          <p:txBody>
            <a:bodyPr wrap="square" anchor="ctr">
              <a:spAutoFit/>
            </a:bodyPr>
            <a:lstStyle/>
            <a:p>
              <a:pPr algn="ctr">
                <a:lnSpc>
                  <a:spcPct val="90000"/>
                </a:lnSpc>
              </a:pPr>
              <a:r>
                <a:rPr lang="fr-CA" dirty="0">
                  <a:latin typeface="Calibri" pitchFamily="34" charset="0"/>
                </a:rPr>
                <a:t>Appendice vermiforme</a:t>
              </a:r>
            </a:p>
          </p:txBody>
        </p:sp>
        <p:sp>
          <p:nvSpPr>
            <p:cNvPr id="9" name="Freeform 35"/>
            <p:cNvSpPr>
              <a:spLocks/>
            </p:cNvSpPr>
            <p:nvPr/>
          </p:nvSpPr>
          <p:spPr bwMode="auto">
            <a:xfrm>
              <a:off x="3165475" y="584200"/>
              <a:ext cx="2270125" cy="647700"/>
            </a:xfrm>
            <a:custGeom>
              <a:avLst/>
              <a:gdLst>
                <a:gd name="T0" fmla="*/ 0 w 1430"/>
                <a:gd name="T1" fmla="*/ 2147483647 h 408"/>
                <a:gd name="T2" fmla="*/ 2147483647 w 1430"/>
                <a:gd name="T3" fmla="*/ 0 h 408"/>
                <a:gd name="T4" fmla="*/ 2147483647 w 1430"/>
                <a:gd name="T5" fmla="*/ 0 h 408"/>
                <a:gd name="T6" fmla="*/ 0 60000 65536"/>
                <a:gd name="T7" fmla="*/ 0 60000 65536"/>
                <a:gd name="T8" fmla="*/ 0 60000 65536"/>
                <a:gd name="T9" fmla="*/ 0 w 1430"/>
                <a:gd name="T10" fmla="*/ 0 h 408"/>
                <a:gd name="T11" fmla="*/ 1430 w 1430"/>
                <a:gd name="T12" fmla="*/ 408 h 408"/>
              </a:gdLst>
              <a:ahLst/>
              <a:cxnLst>
                <a:cxn ang="T6">
                  <a:pos x="T0" y="T1"/>
                </a:cxn>
                <a:cxn ang="T7">
                  <a:pos x="T2" y="T3"/>
                </a:cxn>
                <a:cxn ang="T8">
                  <a:pos x="T4" y="T5"/>
                </a:cxn>
              </a:cxnLst>
              <a:rect l="T9" t="T10" r="T11" b="T12"/>
              <a:pathLst>
                <a:path w="1430" h="408">
                  <a:moveTo>
                    <a:pt x="0" y="408"/>
                  </a:moveTo>
                  <a:lnTo>
                    <a:pt x="1266" y="0"/>
                  </a:lnTo>
                  <a:lnTo>
                    <a:pt x="1430" y="0"/>
                  </a:lnTo>
                </a:path>
              </a:pathLst>
            </a:custGeom>
            <a:noFill/>
            <a:ln w="15875" cap="flat" cmpd="sng">
              <a:solidFill>
                <a:schemeClr val="tx1"/>
              </a:solidFill>
              <a:prstDash val="solid"/>
              <a:round/>
              <a:headEnd/>
              <a:tailEnd/>
            </a:ln>
          </p:spPr>
          <p:txBody>
            <a:bodyPr wrap="none" anchor="ctr"/>
            <a:lstStyle/>
            <a:p>
              <a:endParaRPr lang="fr-CA"/>
            </a:p>
          </p:txBody>
        </p:sp>
        <p:sp>
          <p:nvSpPr>
            <p:cNvPr id="10" name="Line 37"/>
            <p:cNvSpPr>
              <a:spLocks noChangeShapeType="1"/>
            </p:cNvSpPr>
            <p:nvPr/>
          </p:nvSpPr>
          <p:spPr bwMode="auto">
            <a:xfrm flipV="1">
              <a:off x="3359150" y="581025"/>
              <a:ext cx="1816100" cy="742950"/>
            </a:xfrm>
            <a:prstGeom prst="line">
              <a:avLst/>
            </a:prstGeom>
            <a:noFill/>
            <a:ln w="15875">
              <a:solidFill>
                <a:schemeClr val="tx1"/>
              </a:solidFill>
              <a:round/>
              <a:headEnd/>
              <a:tailEnd/>
            </a:ln>
          </p:spPr>
          <p:txBody>
            <a:bodyPr wrap="none" anchor="ctr"/>
            <a:lstStyle/>
            <a:p>
              <a:endParaRPr lang="fr-CA"/>
            </a:p>
          </p:txBody>
        </p:sp>
        <p:sp>
          <p:nvSpPr>
            <p:cNvPr id="11" name="Freeform 39"/>
            <p:cNvSpPr>
              <a:spLocks/>
            </p:cNvSpPr>
            <p:nvPr/>
          </p:nvSpPr>
          <p:spPr bwMode="auto">
            <a:xfrm>
              <a:off x="3232150" y="1492250"/>
              <a:ext cx="2206625" cy="720725"/>
            </a:xfrm>
            <a:custGeom>
              <a:avLst/>
              <a:gdLst>
                <a:gd name="T0" fmla="*/ 0 w 1390"/>
                <a:gd name="T1" fmla="*/ 2147483647 h 454"/>
                <a:gd name="T2" fmla="*/ 2147483647 w 1390"/>
                <a:gd name="T3" fmla="*/ 0 h 454"/>
                <a:gd name="T4" fmla="*/ 2147483647 w 1390"/>
                <a:gd name="T5" fmla="*/ 0 h 454"/>
                <a:gd name="T6" fmla="*/ 0 60000 65536"/>
                <a:gd name="T7" fmla="*/ 0 60000 65536"/>
                <a:gd name="T8" fmla="*/ 0 60000 65536"/>
                <a:gd name="T9" fmla="*/ 0 w 1390"/>
                <a:gd name="T10" fmla="*/ 0 h 454"/>
                <a:gd name="T11" fmla="*/ 1390 w 1390"/>
                <a:gd name="T12" fmla="*/ 454 h 454"/>
              </a:gdLst>
              <a:ahLst/>
              <a:cxnLst>
                <a:cxn ang="T6">
                  <a:pos x="T0" y="T1"/>
                </a:cxn>
                <a:cxn ang="T7">
                  <a:pos x="T2" y="T3"/>
                </a:cxn>
                <a:cxn ang="T8">
                  <a:pos x="T4" y="T5"/>
                </a:cxn>
              </a:cxnLst>
              <a:rect l="T9" t="T10" r="T11" b="T12"/>
              <a:pathLst>
                <a:path w="1390" h="454">
                  <a:moveTo>
                    <a:pt x="0" y="454"/>
                  </a:moveTo>
                  <a:lnTo>
                    <a:pt x="1228" y="0"/>
                  </a:lnTo>
                  <a:lnTo>
                    <a:pt x="1390" y="0"/>
                  </a:lnTo>
                </a:path>
              </a:pathLst>
            </a:custGeom>
            <a:noFill/>
            <a:ln w="15875" cap="flat" cmpd="sng">
              <a:solidFill>
                <a:schemeClr val="tx1"/>
              </a:solidFill>
              <a:prstDash val="solid"/>
              <a:round/>
              <a:headEnd/>
              <a:tailEnd/>
            </a:ln>
          </p:spPr>
          <p:txBody>
            <a:bodyPr wrap="none" anchor="ctr"/>
            <a:lstStyle/>
            <a:p>
              <a:endParaRPr lang="fr-CA"/>
            </a:p>
          </p:txBody>
        </p:sp>
        <p:sp>
          <p:nvSpPr>
            <p:cNvPr id="12" name="Line 40"/>
            <p:cNvSpPr>
              <a:spLocks noChangeShapeType="1"/>
            </p:cNvSpPr>
            <p:nvPr/>
          </p:nvSpPr>
          <p:spPr bwMode="auto">
            <a:xfrm>
              <a:off x="3924300" y="3641725"/>
              <a:ext cx="1514475" cy="0"/>
            </a:xfrm>
            <a:prstGeom prst="line">
              <a:avLst/>
            </a:prstGeom>
            <a:noFill/>
            <a:ln w="15875">
              <a:solidFill>
                <a:schemeClr val="tx1"/>
              </a:solidFill>
              <a:round/>
              <a:headEnd/>
              <a:tailEnd/>
            </a:ln>
          </p:spPr>
          <p:txBody>
            <a:bodyPr wrap="none" anchor="ctr"/>
            <a:lstStyle/>
            <a:p>
              <a:endParaRPr lang="fr-CA"/>
            </a:p>
          </p:txBody>
        </p:sp>
        <p:sp>
          <p:nvSpPr>
            <p:cNvPr id="13" name="Line 41"/>
            <p:cNvSpPr>
              <a:spLocks noChangeShapeType="1"/>
            </p:cNvSpPr>
            <p:nvPr/>
          </p:nvSpPr>
          <p:spPr bwMode="auto">
            <a:xfrm>
              <a:off x="3622675" y="4870450"/>
              <a:ext cx="1822450" cy="0"/>
            </a:xfrm>
            <a:prstGeom prst="line">
              <a:avLst/>
            </a:prstGeom>
            <a:noFill/>
            <a:ln w="15875">
              <a:solidFill>
                <a:schemeClr val="tx1"/>
              </a:solidFill>
              <a:round/>
              <a:headEnd/>
              <a:tailEnd/>
            </a:ln>
          </p:spPr>
          <p:txBody>
            <a:bodyPr wrap="none" anchor="ctr"/>
            <a:lstStyle/>
            <a:p>
              <a:endParaRPr lang="fr-CA"/>
            </a:p>
          </p:txBody>
        </p:sp>
        <p:sp>
          <p:nvSpPr>
            <p:cNvPr id="14" name="Line 42"/>
            <p:cNvSpPr>
              <a:spLocks noChangeShapeType="1"/>
            </p:cNvSpPr>
            <p:nvPr/>
          </p:nvSpPr>
          <p:spPr bwMode="auto">
            <a:xfrm>
              <a:off x="3375025" y="4521200"/>
              <a:ext cx="1276350" cy="346075"/>
            </a:xfrm>
            <a:prstGeom prst="line">
              <a:avLst/>
            </a:prstGeom>
            <a:noFill/>
            <a:ln w="15875">
              <a:solidFill>
                <a:schemeClr val="tx1"/>
              </a:solidFill>
              <a:round/>
              <a:headEnd/>
              <a:tailEnd/>
            </a:ln>
          </p:spPr>
          <p:txBody>
            <a:bodyPr wrap="none" anchor="ctr"/>
            <a:lstStyle/>
            <a:p>
              <a:endParaRPr lang="fr-CA"/>
            </a:p>
          </p:txBody>
        </p:sp>
        <p:sp>
          <p:nvSpPr>
            <p:cNvPr id="15" name="Freeform 44"/>
            <p:cNvSpPr>
              <a:spLocks/>
            </p:cNvSpPr>
            <p:nvPr/>
          </p:nvSpPr>
          <p:spPr bwMode="auto">
            <a:xfrm>
              <a:off x="2905125" y="5197475"/>
              <a:ext cx="2536825" cy="800100"/>
            </a:xfrm>
            <a:custGeom>
              <a:avLst/>
              <a:gdLst>
                <a:gd name="T0" fmla="*/ 0 w 1598"/>
                <a:gd name="T1" fmla="*/ 0 h 504"/>
                <a:gd name="T2" fmla="*/ 2147483647 w 1598"/>
                <a:gd name="T3" fmla="*/ 2147483647 h 504"/>
                <a:gd name="T4" fmla="*/ 2147483647 w 1598"/>
                <a:gd name="T5" fmla="*/ 2147483647 h 504"/>
                <a:gd name="T6" fmla="*/ 0 60000 65536"/>
                <a:gd name="T7" fmla="*/ 0 60000 65536"/>
                <a:gd name="T8" fmla="*/ 0 60000 65536"/>
                <a:gd name="T9" fmla="*/ 0 w 1598"/>
                <a:gd name="T10" fmla="*/ 0 h 504"/>
                <a:gd name="T11" fmla="*/ 1598 w 1598"/>
                <a:gd name="T12" fmla="*/ 504 h 504"/>
              </a:gdLst>
              <a:ahLst/>
              <a:cxnLst>
                <a:cxn ang="T6">
                  <a:pos x="T0" y="T1"/>
                </a:cxn>
                <a:cxn ang="T7">
                  <a:pos x="T2" y="T3"/>
                </a:cxn>
                <a:cxn ang="T8">
                  <a:pos x="T4" y="T5"/>
                </a:cxn>
              </a:cxnLst>
              <a:rect l="T9" t="T10" r="T11" b="T12"/>
              <a:pathLst>
                <a:path w="1598" h="504">
                  <a:moveTo>
                    <a:pt x="0" y="0"/>
                  </a:moveTo>
                  <a:lnTo>
                    <a:pt x="494" y="504"/>
                  </a:lnTo>
                  <a:lnTo>
                    <a:pt x="1598" y="504"/>
                  </a:lnTo>
                </a:path>
              </a:pathLst>
            </a:custGeom>
            <a:noFill/>
            <a:ln w="15875" cap="flat" cmpd="sng">
              <a:solidFill>
                <a:schemeClr val="tx1"/>
              </a:solidFill>
              <a:prstDash val="solid"/>
              <a:round/>
              <a:headEnd/>
              <a:tailEnd/>
            </a:ln>
          </p:spPr>
          <p:txBody>
            <a:bodyPr wrap="none" anchor="ctr"/>
            <a:lstStyle/>
            <a:p>
              <a:endParaRPr lang="fr-CA"/>
            </a:p>
          </p:txBody>
        </p:sp>
      </p:grpSp>
      <p:sp>
        <p:nvSpPr>
          <p:cNvPr id="16" name="Rectangle 18"/>
          <p:cNvSpPr txBox="1">
            <a:spLocks noChangeArrowheads="1"/>
          </p:cNvSpPr>
          <p:nvPr/>
        </p:nvSpPr>
        <p:spPr>
          <a:xfrm>
            <a:off x="326571" y="6306050"/>
            <a:ext cx="1162596" cy="342946"/>
          </a:xfrm>
          <a:prstGeom prst="rect">
            <a:avLst/>
          </a:prstGeom>
          <a:noFill/>
          <a:ln>
            <a:solidFill>
              <a:srgbClr val="000080"/>
            </a:solidFill>
          </a:ln>
        </p:spPr>
        <p:txBody>
          <a:bodyPr anchor="ctr" anchorCtr="0"/>
          <a:lstStyle/>
          <a:p>
            <a:pPr marL="0" marR="0" lvl="0" indent="0" defTabSz="914400" rtl="0" eaLnBrk="1" fontAlgn="base" latinLnBrk="0" hangingPunct="1">
              <a:lnSpc>
                <a:spcPct val="100000"/>
              </a:lnSpc>
              <a:spcBef>
                <a:spcPct val="0"/>
              </a:spcBef>
              <a:spcAft>
                <a:spcPct val="0"/>
              </a:spcAft>
              <a:buClrTx/>
              <a:buSzTx/>
              <a:buFontTx/>
              <a:buNone/>
              <a:tabLst/>
              <a:defRPr/>
            </a:pPr>
            <a:r>
              <a:rPr kumimoji="0" lang="fr-CA" sz="1400" i="0" u="none" strike="noStrike" kern="0" cap="none" spc="0" normalizeH="0" baseline="0" noProof="0" dirty="0">
                <a:ln>
                  <a:noFill/>
                </a:ln>
                <a:solidFill>
                  <a:schemeClr val="tx2"/>
                </a:solidFill>
                <a:effectLst/>
                <a:uLnTx/>
                <a:uFillTx/>
                <a:latin typeface="Arial" pitchFamily="34" charset="0"/>
                <a:ea typeface="+mj-ea"/>
                <a:cs typeface="Arial" pitchFamily="34" charset="0"/>
              </a:rPr>
              <a:t>Figure 20.5</a:t>
            </a:r>
            <a:endParaRPr kumimoji="0" lang="fr-CA" sz="1400" b="0" i="0" u="none" strike="noStrike" kern="0" cap="none" spc="0" normalizeH="0" baseline="0" noProof="0" dirty="0">
              <a:ln>
                <a:noFill/>
              </a:ln>
              <a:solidFill>
                <a:schemeClr val="tx2"/>
              </a:solidFill>
              <a:effectLst/>
              <a:uLnTx/>
              <a:uFillTx/>
              <a:latin typeface="Arial" pitchFamily="34" charset="0"/>
              <a:ea typeface="+mj-ea"/>
              <a:cs typeface="Arial" pitchFamily="34" charset="0"/>
            </a:endParaRPr>
          </a:p>
        </p:txBody>
      </p:sp>
      <p:sp>
        <p:nvSpPr>
          <p:cNvPr id="17" name="Text Box 4"/>
          <p:cNvSpPr txBox="1">
            <a:spLocks noChangeArrowheads="1"/>
          </p:cNvSpPr>
          <p:nvPr/>
        </p:nvSpPr>
        <p:spPr bwMode="auto">
          <a:xfrm>
            <a:off x="241509" y="235508"/>
            <a:ext cx="1214528" cy="430887"/>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91440" bIns="91440">
            <a:spAutoFit/>
          </a:bodyPr>
          <a:lstStyle>
            <a:lvl1pPr>
              <a:defRPr sz="2400">
                <a:solidFill>
                  <a:schemeClr val="tx1"/>
                </a:solidFill>
                <a:latin typeface="Times New Roman" pitchFamily="18" charset="0"/>
              </a:defRPr>
            </a:lvl1pPr>
            <a:lvl2pPr marL="560388" indent="-182563">
              <a:defRPr sz="2400">
                <a:solidFill>
                  <a:schemeClr val="tx1"/>
                </a:solidFill>
                <a:latin typeface="Times New Roman" pitchFamily="18" charset="0"/>
              </a:defRPr>
            </a:lvl2pPr>
            <a:lvl3pPr marL="854075" indent="-153988">
              <a:defRPr sz="2400">
                <a:solidFill>
                  <a:schemeClr val="tx1"/>
                </a:solidFill>
                <a:latin typeface="Times New Roman" pitchFamily="18" charset="0"/>
              </a:defRPr>
            </a:lvl3pPr>
            <a:lvl4pPr marL="2274888" indent="-457200">
              <a:defRPr sz="2400">
                <a:solidFill>
                  <a:schemeClr val="tx1"/>
                </a:solidFill>
                <a:latin typeface="Times New Roman" pitchFamily="18" charset="0"/>
              </a:defRPr>
            </a:lvl4pPr>
            <a:lvl5pPr marL="2911475" indent="-457200">
              <a:defRPr sz="2400">
                <a:solidFill>
                  <a:schemeClr val="tx1"/>
                </a:solidFill>
                <a:latin typeface="Times New Roman" pitchFamily="18" charset="0"/>
              </a:defRPr>
            </a:lvl5pPr>
            <a:lvl6pPr marL="3368675" indent="-457200" eaLnBrk="0" fontAlgn="base" hangingPunct="0">
              <a:spcBef>
                <a:spcPct val="0"/>
              </a:spcBef>
              <a:spcAft>
                <a:spcPct val="0"/>
              </a:spcAft>
              <a:defRPr sz="2400">
                <a:solidFill>
                  <a:schemeClr val="tx1"/>
                </a:solidFill>
                <a:latin typeface="Times New Roman" pitchFamily="18" charset="0"/>
              </a:defRPr>
            </a:lvl6pPr>
            <a:lvl7pPr marL="3825875" indent="-457200" eaLnBrk="0" fontAlgn="base" hangingPunct="0">
              <a:spcBef>
                <a:spcPct val="0"/>
              </a:spcBef>
              <a:spcAft>
                <a:spcPct val="0"/>
              </a:spcAft>
              <a:defRPr sz="2400">
                <a:solidFill>
                  <a:schemeClr val="tx1"/>
                </a:solidFill>
                <a:latin typeface="Times New Roman" pitchFamily="18" charset="0"/>
              </a:defRPr>
            </a:lvl7pPr>
            <a:lvl8pPr marL="4283075" indent="-457200" eaLnBrk="0" fontAlgn="base" hangingPunct="0">
              <a:spcBef>
                <a:spcPct val="0"/>
              </a:spcBef>
              <a:spcAft>
                <a:spcPct val="0"/>
              </a:spcAft>
              <a:defRPr sz="2400">
                <a:solidFill>
                  <a:schemeClr val="tx1"/>
                </a:solidFill>
                <a:latin typeface="Times New Roman" pitchFamily="18" charset="0"/>
              </a:defRPr>
            </a:lvl8pPr>
            <a:lvl9pPr marL="4740275" indent="-457200" eaLnBrk="0" fontAlgn="base" hangingPunct="0">
              <a:spcBef>
                <a:spcPct val="0"/>
              </a:spcBef>
              <a:spcAft>
                <a:spcPct val="0"/>
              </a:spcAft>
              <a:defRPr sz="2400">
                <a:solidFill>
                  <a:schemeClr val="tx1"/>
                </a:solidFill>
                <a:latin typeface="Times New Roman" pitchFamily="18" charset="0"/>
              </a:defRPr>
            </a:lvl9pPr>
          </a:lstStyle>
          <a:p>
            <a:pPr>
              <a:lnSpc>
                <a:spcPct val="80000"/>
              </a:lnSpc>
            </a:pPr>
            <a:r>
              <a:rPr lang="en-US" sz="2000" b="1" dirty="0">
                <a:latin typeface="Arial" charset="0"/>
              </a:rPr>
              <a:t>5. </a:t>
            </a:r>
            <a:r>
              <a:rPr lang="en-US" sz="2000" b="1" u="sng" dirty="0">
                <a:latin typeface="Arial" charset="0"/>
              </a:rPr>
              <a:t>Rate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6" name="Text Box 4"/>
          <p:cNvSpPr txBox="1">
            <a:spLocks noChangeArrowheads="1"/>
          </p:cNvSpPr>
          <p:nvPr/>
        </p:nvSpPr>
        <p:spPr bwMode="auto">
          <a:xfrm>
            <a:off x="243681" y="172771"/>
            <a:ext cx="8747919" cy="2716128"/>
          </a:xfrm>
          <a:prstGeom prst="rect">
            <a:avLst/>
          </a:prstGeom>
          <a:noFill/>
          <a:ln w="9525">
            <a:no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tIns="91440" bIns="91440">
            <a:spAutoFit/>
          </a:bodyPr>
          <a:lstStyle>
            <a:lvl1pPr>
              <a:defRPr sz="2400">
                <a:solidFill>
                  <a:schemeClr val="tx1"/>
                </a:solidFill>
                <a:latin typeface="Times New Roman" pitchFamily="18" charset="0"/>
              </a:defRPr>
            </a:lvl1pPr>
            <a:lvl2pPr marL="560388" indent="-182563">
              <a:defRPr sz="2400">
                <a:solidFill>
                  <a:schemeClr val="tx1"/>
                </a:solidFill>
                <a:latin typeface="Times New Roman" pitchFamily="18" charset="0"/>
              </a:defRPr>
            </a:lvl2pPr>
            <a:lvl3pPr marL="854075" indent="-153988">
              <a:defRPr sz="2400">
                <a:solidFill>
                  <a:schemeClr val="tx1"/>
                </a:solidFill>
                <a:latin typeface="Times New Roman" pitchFamily="18" charset="0"/>
              </a:defRPr>
            </a:lvl3pPr>
            <a:lvl4pPr marL="2274888" indent="-457200">
              <a:defRPr sz="2400">
                <a:solidFill>
                  <a:schemeClr val="tx1"/>
                </a:solidFill>
                <a:latin typeface="Times New Roman" pitchFamily="18" charset="0"/>
              </a:defRPr>
            </a:lvl4pPr>
            <a:lvl5pPr marL="2911475" indent="-457200">
              <a:defRPr sz="2400">
                <a:solidFill>
                  <a:schemeClr val="tx1"/>
                </a:solidFill>
                <a:latin typeface="Times New Roman" pitchFamily="18" charset="0"/>
              </a:defRPr>
            </a:lvl5pPr>
            <a:lvl6pPr marL="3368675" indent="-457200" eaLnBrk="0" fontAlgn="base" hangingPunct="0">
              <a:spcBef>
                <a:spcPct val="0"/>
              </a:spcBef>
              <a:spcAft>
                <a:spcPct val="0"/>
              </a:spcAft>
              <a:defRPr sz="2400">
                <a:solidFill>
                  <a:schemeClr val="tx1"/>
                </a:solidFill>
                <a:latin typeface="Times New Roman" pitchFamily="18" charset="0"/>
              </a:defRPr>
            </a:lvl6pPr>
            <a:lvl7pPr marL="3825875" indent="-457200" eaLnBrk="0" fontAlgn="base" hangingPunct="0">
              <a:spcBef>
                <a:spcPct val="0"/>
              </a:spcBef>
              <a:spcAft>
                <a:spcPct val="0"/>
              </a:spcAft>
              <a:defRPr sz="2400">
                <a:solidFill>
                  <a:schemeClr val="tx1"/>
                </a:solidFill>
                <a:latin typeface="Times New Roman" pitchFamily="18" charset="0"/>
              </a:defRPr>
            </a:lvl7pPr>
            <a:lvl8pPr marL="4283075" indent="-457200" eaLnBrk="0" fontAlgn="base" hangingPunct="0">
              <a:spcBef>
                <a:spcPct val="0"/>
              </a:spcBef>
              <a:spcAft>
                <a:spcPct val="0"/>
              </a:spcAft>
              <a:defRPr sz="2400">
                <a:solidFill>
                  <a:schemeClr val="tx1"/>
                </a:solidFill>
                <a:latin typeface="Times New Roman" pitchFamily="18" charset="0"/>
              </a:defRPr>
            </a:lvl8pPr>
            <a:lvl9pPr marL="4740275" indent="-457200" eaLnBrk="0" fontAlgn="base" hangingPunct="0">
              <a:spcBef>
                <a:spcPct val="0"/>
              </a:spcBef>
              <a:spcAft>
                <a:spcPct val="0"/>
              </a:spcAft>
              <a:defRPr sz="2400">
                <a:solidFill>
                  <a:schemeClr val="tx1"/>
                </a:solidFill>
                <a:latin typeface="Times New Roman" pitchFamily="18" charset="0"/>
              </a:defRPr>
            </a:lvl9pPr>
          </a:lstStyle>
          <a:p>
            <a:pPr marL="352425" indent="-352425"/>
            <a:r>
              <a:rPr lang="en-US" sz="2000" b="1" dirty="0">
                <a:latin typeface="Arial" charset="0"/>
              </a:rPr>
              <a:t>5. </a:t>
            </a:r>
            <a:r>
              <a:rPr lang="en-US" sz="2000" b="1" u="sng" dirty="0">
                <a:latin typeface="Arial" charset="0"/>
              </a:rPr>
              <a:t>Rate</a:t>
            </a:r>
          </a:p>
          <a:p>
            <a:pPr marL="450850" lvl="1">
              <a:spcBef>
                <a:spcPts val="600"/>
              </a:spcBef>
              <a:buFontTx/>
              <a:buChar char="•"/>
            </a:pPr>
            <a:r>
              <a:rPr lang="fr-CA" sz="1500" dirty="0">
                <a:latin typeface="Arial" charset="0"/>
              </a:rPr>
              <a:t>Le plus gros des organes lymphoïdes ; située dans la partie supérieure gauche de l’abdomen, sous le diaphragme.</a:t>
            </a:r>
          </a:p>
          <a:p>
            <a:pPr marL="450850" lvl="1">
              <a:spcBef>
                <a:spcPts val="600"/>
              </a:spcBef>
              <a:buFontTx/>
              <a:buChar char="•"/>
            </a:pPr>
            <a:r>
              <a:rPr lang="fr-CA" sz="1500" u="sng" dirty="0">
                <a:latin typeface="Arial" charset="0"/>
              </a:rPr>
              <a:t>Fonctions de la rate</a:t>
            </a:r>
            <a:r>
              <a:rPr lang="fr-CA" sz="1500" dirty="0">
                <a:latin typeface="Arial" charset="0"/>
              </a:rPr>
              <a:t> :</a:t>
            </a:r>
          </a:p>
          <a:p>
            <a:pPr marL="630238" lvl="1" indent="-184150">
              <a:spcBef>
                <a:spcPts val="300"/>
              </a:spcBef>
              <a:buFont typeface="Arial" pitchFamily="34" charset="0"/>
              <a:buChar char="−"/>
            </a:pPr>
            <a:r>
              <a:rPr lang="fr-CA" sz="1500" dirty="0">
                <a:latin typeface="Arial" charset="0"/>
              </a:rPr>
              <a:t>Site de prolifération des lymphocytes ; surveillance et réponse immunitaire</a:t>
            </a:r>
          </a:p>
          <a:p>
            <a:pPr marL="630238" lvl="1" indent="-184150">
              <a:spcBef>
                <a:spcPts val="300"/>
              </a:spcBef>
              <a:buFont typeface="Arial" pitchFamily="34" charset="0"/>
              <a:buChar char="−"/>
            </a:pPr>
            <a:r>
              <a:rPr lang="fr-CA" sz="1500" dirty="0">
                <a:latin typeface="Arial" charset="0"/>
              </a:rPr>
              <a:t>Purifie le sang (site de destruction des érythrocytes et des plaquettes détériorés)</a:t>
            </a:r>
          </a:p>
          <a:p>
            <a:pPr marL="630238" lvl="1" indent="-184150">
              <a:spcBef>
                <a:spcPts val="300"/>
              </a:spcBef>
              <a:buFont typeface="Arial" pitchFamily="34" charset="0"/>
              <a:buChar char="−"/>
            </a:pPr>
            <a:r>
              <a:rPr lang="fr-CA" sz="1500" dirty="0">
                <a:latin typeface="Arial" charset="0"/>
              </a:rPr>
              <a:t>Emmagasine une partie des produits de dégradation des G.R. (ex. fer)</a:t>
            </a:r>
          </a:p>
          <a:p>
            <a:pPr marL="630238" lvl="1" indent="-184150">
              <a:spcBef>
                <a:spcPts val="300"/>
              </a:spcBef>
              <a:buFont typeface="Arial" pitchFamily="34" charset="0"/>
              <a:buChar char="−"/>
            </a:pPr>
            <a:r>
              <a:rPr lang="fr-CA" sz="1500" dirty="0">
                <a:latin typeface="Arial" charset="0"/>
              </a:rPr>
              <a:t>Site de l’érythropo</a:t>
            </a:r>
            <a:r>
              <a:rPr lang="fr-CA" sz="1500" dirty="0">
                <a:latin typeface="Arial" charset="0"/>
                <a:cs typeface="Arial" charset="0"/>
              </a:rPr>
              <a:t>ïèse</a:t>
            </a:r>
            <a:r>
              <a:rPr lang="fr-CA" sz="1500" dirty="0">
                <a:latin typeface="Arial" charset="0"/>
              </a:rPr>
              <a:t> chez le fœtus</a:t>
            </a:r>
          </a:p>
          <a:p>
            <a:pPr marL="630238" lvl="1" indent="-184150">
              <a:spcBef>
                <a:spcPts val="300"/>
              </a:spcBef>
              <a:buFont typeface="Arial" pitchFamily="34" charset="0"/>
              <a:buChar char="−"/>
            </a:pPr>
            <a:r>
              <a:rPr lang="fr-CA" sz="1500" dirty="0">
                <a:latin typeface="Arial" charset="0"/>
              </a:rPr>
              <a:t>Emmagasine les plaquettes</a:t>
            </a:r>
          </a:p>
        </p:txBody>
      </p:sp>
      <p:pic>
        <p:nvPicPr>
          <p:cNvPr id="32" name="Picture 6" descr="20-06_Spleen_3"/>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029967" y="2970844"/>
            <a:ext cx="2988000" cy="2701925"/>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p:cNvGrpSpPr/>
          <p:nvPr/>
        </p:nvGrpSpPr>
        <p:grpSpPr>
          <a:xfrm>
            <a:off x="48999" y="3096844"/>
            <a:ext cx="6015803" cy="2671717"/>
            <a:chOff x="228599" y="1612900"/>
            <a:chExt cx="9220200" cy="3644900"/>
          </a:xfrm>
        </p:grpSpPr>
        <p:pic>
          <p:nvPicPr>
            <p:cNvPr id="34" name="Picture 118" descr="figure_20_06a-b_unlabele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88" y="1612900"/>
              <a:ext cx="8597900" cy="3589338"/>
            </a:xfrm>
            <a:prstGeom prst="rect">
              <a:avLst/>
            </a:prstGeom>
            <a:noFill/>
            <a:ln w="9525">
              <a:noFill/>
              <a:miter lim="800000"/>
              <a:headEnd/>
              <a:tailEnd/>
            </a:ln>
          </p:spPr>
        </p:pic>
        <p:sp>
          <p:nvSpPr>
            <p:cNvPr id="35" name="Rectangle 59"/>
            <p:cNvSpPr>
              <a:spLocks noChangeArrowheads="1"/>
            </p:cNvSpPr>
            <p:nvPr/>
          </p:nvSpPr>
          <p:spPr bwMode="auto">
            <a:xfrm>
              <a:off x="228599" y="3098591"/>
              <a:ext cx="1439864" cy="529055"/>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Artère splénique</a:t>
              </a:r>
            </a:p>
          </p:txBody>
        </p:sp>
        <p:sp>
          <p:nvSpPr>
            <p:cNvPr id="36" name="Rectangle 60"/>
            <p:cNvSpPr>
              <a:spLocks noChangeArrowheads="1"/>
            </p:cNvSpPr>
            <p:nvPr/>
          </p:nvSpPr>
          <p:spPr bwMode="auto">
            <a:xfrm>
              <a:off x="312569" y="3637167"/>
              <a:ext cx="1314450" cy="529055"/>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Veine splénique</a:t>
              </a:r>
            </a:p>
          </p:txBody>
        </p:sp>
        <p:sp>
          <p:nvSpPr>
            <p:cNvPr id="37" name="Rectangle 63"/>
            <p:cNvSpPr>
              <a:spLocks noChangeArrowheads="1"/>
            </p:cNvSpPr>
            <p:nvPr/>
          </p:nvSpPr>
          <p:spPr bwMode="auto">
            <a:xfrm>
              <a:off x="7527925" y="1635090"/>
              <a:ext cx="1031196" cy="377897"/>
            </a:xfrm>
            <a:prstGeom prst="rect">
              <a:avLst/>
            </a:prstGeom>
            <a:noFill/>
            <a:ln w="9525">
              <a:noFill/>
              <a:miter lim="800000"/>
              <a:headEnd/>
              <a:tailEnd/>
            </a:ln>
          </p:spPr>
          <p:txBody>
            <a:bodyPr wrap="none" anchor="ctr">
              <a:spAutoFit/>
            </a:bodyPr>
            <a:lstStyle/>
            <a:p>
              <a:r>
                <a:rPr lang="fr-CA" sz="1200" dirty="0">
                  <a:latin typeface="Calibri" pitchFamily="34" charset="0"/>
                </a:rPr>
                <a:t>Capsule</a:t>
              </a:r>
            </a:p>
          </p:txBody>
        </p:sp>
        <p:sp>
          <p:nvSpPr>
            <p:cNvPr id="38" name="Rectangle 66"/>
            <p:cNvSpPr>
              <a:spLocks noChangeArrowheads="1"/>
            </p:cNvSpPr>
            <p:nvPr/>
          </p:nvSpPr>
          <p:spPr bwMode="auto">
            <a:xfrm>
              <a:off x="7526337" y="2471494"/>
              <a:ext cx="1297717" cy="327511"/>
            </a:xfrm>
            <a:prstGeom prst="rect">
              <a:avLst/>
            </a:prstGeom>
            <a:noFill/>
            <a:ln w="9525">
              <a:noFill/>
              <a:miter lim="800000"/>
              <a:headEnd/>
              <a:tailEnd/>
            </a:ln>
          </p:spPr>
          <p:txBody>
            <a:bodyPr wrap="none" anchor="ctr">
              <a:spAutoFit/>
            </a:bodyPr>
            <a:lstStyle/>
            <a:p>
              <a:pPr>
                <a:lnSpc>
                  <a:spcPct val="80000"/>
                </a:lnSpc>
              </a:pPr>
              <a:r>
                <a:rPr lang="fr-CA" sz="1200">
                  <a:latin typeface="Calibri" pitchFamily="34" charset="0"/>
                </a:rPr>
                <a:t>Sinusoïdes</a:t>
              </a:r>
            </a:p>
          </p:txBody>
        </p:sp>
        <p:sp>
          <p:nvSpPr>
            <p:cNvPr id="39" name="Rectangle 67"/>
            <p:cNvSpPr>
              <a:spLocks noChangeArrowheads="1"/>
            </p:cNvSpPr>
            <p:nvPr/>
          </p:nvSpPr>
          <p:spPr bwMode="auto">
            <a:xfrm>
              <a:off x="7524749" y="2836499"/>
              <a:ext cx="1924050" cy="534129"/>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Artérioles et capillaires</a:t>
              </a:r>
            </a:p>
          </p:txBody>
        </p:sp>
        <p:sp>
          <p:nvSpPr>
            <p:cNvPr id="40" name="Rectangle 68"/>
            <p:cNvSpPr>
              <a:spLocks noChangeArrowheads="1"/>
            </p:cNvSpPr>
            <p:nvPr/>
          </p:nvSpPr>
          <p:spPr bwMode="auto">
            <a:xfrm>
              <a:off x="7524749" y="3408328"/>
              <a:ext cx="1429501" cy="377897"/>
            </a:xfrm>
            <a:prstGeom prst="rect">
              <a:avLst/>
            </a:prstGeom>
            <a:noFill/>
            <a:ln w="9525">
              <a:noFill/>
              <a:miter lim="800000"/>
              <a:headEnd/>
              <a:tailEnd/>
            </a:ln>
          </p:spPr>
          <p:txBody>
            <a:bodyPr wrap="none" anchor="ctr">
              <a:spAutoFit/>
            </a:bodyPr>
            <a:lstStyle/>
            <a:p>
              <a:r>
                <a:rPr lang="fr-CA" sz="1200" dirty="0">
                  <a:latin typeface="Calibri" pitchFamily="34" charset="0"/>
                </a:rPr>
                <a:t>Pulpe rouge</a:t>
              </a:r>
            </a:p>
          </p:txBody>
        </p:sp>
        <p:sp>
          <p:nvSpPr>
            <p:cNvPr id="41" name="Rectangle 69"/>
            <p:cNvSpPr>
              <a:spLocks noChangeArrowheads="1"/>
            </p:cNvSpPr>
            <p:nvPr/>
          </p:nvSpPr>
          <p:spPr bwMode="auto">
            <a:xfrm>
              <a:off x="7524749" y="3694077"/>
              <a:ext cx="1631850" cy="377897"/>
            </a:xfrm>
            <a:prstGeom prst="rect">
              <a:avLst/>
            </a:prstGeom>
            <a:noFill/>
            <a:ln w="9525">
              <a:noFill/>
              <a:miter lim="800000"/>
              <a:headEnd/>
              <a:tailEnd/>
            </a:ln>
          </p:spPr>
          <p:txBody>
            <a:bodyPr wrap="none" anchor="ctr">
              <a:spAutoFit/>
            </a:bodyPr>
            <a:lstStyle/>
            <a:p>
              <a:r>
                <a:rPr lang="fr-CA" sz="1200">
                  <a:latin typeface="Calibri" pitchFamily="34" charset="0"/>
                </a:rPr>
                <a:t>Pulpe blanche</a:t>
              </a:r>
            </a:p>
          </p:txBody>
        </p:sp>
        <p:sp>
          <p:nvSpPr>
            <p:cNvPr id="42" name="Rectangle 71"/>
            <p:cNvSpPr>
              <a:spLocks noChangeArrowheads="1"/>
            </p:cNvSpPr>
            <p:nvPr/>
          </p:nvSpPr>
          <p:spPr bwMode="auto">
            <a:xfrm>
              <a:off x="7527925" y="4333840"/>
              <a:ext cx="1874292" cy="377897"/>
            </a:xfrm>
            <a:prstGeom prst="rect">
              <a:avLst/>
            </a:prstGeom>
            <a:noFill/>
            <a:ln w="9525">
              <a:noFill/>
              <a:miter lim="800000"/>
              <a:headEnd/>
              <a:tailEnd/>
            </a:ln>
          </p:spPr>
          <p:txBody>
            <a:bodyPr wrap="none" anchor="ctr">
              <a:spAutoFit/>
            </a:bodyPr>
            <a:lstStyle/>
            <a:p>
              <a:r>
                <a:rPr lang="fr-CA" sz="1200">
                  <a:latin typeface="Calibri" pitchFamily="34" charset="0"/>
                </a:rPr>
                <a:t>Artère splénique</a:t>
              </a:r>
            </a:p>
          </p:txBody>
        </p:sp>
        <p:sp>
          <p:nvSpPr>
            <p:cNvPr id="43" name="Rectangle 72"/>
            <p:cNvSpPr>
              <a:spLocks noChangeArrowheads="1"/>
            </p:cNvSpPr>
            <p:nvPr/>
          </p:nvSpPr>
          <p:spPr bwMode="auto">
            <a:xfrm>
              <a:off x="7545388" y="4608478"/>
              <a:ext cx="1799406" cy="377897"/>
            </a:xfrm>
            <a:prstGeom prst="rect">
              <a:avLst/>
            </a:prstGeom>
            <a:noFill/>
            <a:ln w="9525">
              <a:noFill/>
              <a:miter lim="800000"/>
              <a:headEnd/>
              <a:tailEnd/>
            </a:ln>
          </p:spPr>
          <p:txBody>
            <a:bodyPr wrap="none" anchor="ctr">
              <a:spAutoFit/>
            </a:bodyPr>
            <a:lstStyle/>
            <a:p>
              <a:r>
                <a:rPr lang="fr-CA" sz="1200">
                  <a:latin typeface="Calibri" pitchFamily="34" charset="0"/>
                </a:rPr>
                <a:t>Veine splénique</a:t>
              </a:r>
            </a:p>
          </p:txBody>
        </p:sp>
        <p:sp>
          <p:nvSpPr>
            <p:cNvPr id="44" name="Freeform 93"/>
            <p:cNvSpPr>
              <a:spLocks/>
            </p:cNvSpPr>
            <p:nvPr/>
          </p:nvSpPr>
          <p:spPr bwMode="auto">
            <a:xfrm>
              <a:off x="1222375" y="3441700"/>
              <a:ext cx="527050" cy="3175"/>
            </a:xfrm>
            <a:custGeom>
              <a:avLst/>
              <a:gdLst>
                <a:gd name="T0" fmla="*/ 0 w 332"/>
                <a:gd name="T1" fmla="*/ 2147483647 h 2"/>
                <a:gd name="T2" fmla="*/ 2147483647 w 332"/>
                <a:gd name="T3" fmla="*/ 0 h 2"/>
                <a:gd name="T4" fmla="*/ 0 60000 65536"/>
                <a:gd name="T5" fmla="*/ 0 60000 65536"/>
                <a:gd name="T6" fmla="*/ 0 w 332"/>
                <a:gd name="T7" fmla="*/ 0 h 2"/>
                <a:gd name="T8" fmla="*/ 332 w 332"/>
                <a:gd name="T9" fmla="*/ 2 h 2"/>
              </a:gdLst>
              <a:ahLst/>
              <a:cxnLst>
                <a:cxn ang="T4">
                  <a:pos x="T0" y="T1"/>
                </a:cxn>
                <a:cxn ang="T5">
                  <a:pos x="T2" y="T3"/>
                </a:cxn>
              </a:cxnLst>
              <a:rect l="T6" t="T7" r="T8" b="T9"/>
              <a:pathLst>
                <a:path w="332" h="2">
                  <a:moveTo>
                    <a:pt x="0" y="2"/>
                  </a:moveTo>
                  <a:lnTo>
                    <a:pt x="332" y="0"/>
                  </a:lnTo>
                </a:path>
              </a:pathLst>
            </a:custGeom>
            <a:noFill/>
            <a:ln w="12700">
              <a:solidFill>
                <a:schemeClr val="tx1"/>
              </a:solidFill>
              <a:round/>
              <a:headEnd/>
              <a:tailEnd/>
            </a:ln>
          </p:spPr>
          <p:txBody>
            <a:bodyPr wrap="none" anchor="ctr"/>
            <a:lstStyle/>
            <a:p>
              <a:endParaRPr lang="fr-CA"/>
            </a:p>
          </p:txBody>
        </p:sp>
        <p:sp>
          <p:nvSpPr>
            <p:cNvPr id="45" name="Freeform 94"/>
            <p:cNvSpPr>
              <a:spLocks/>
            </p:cNvSpPr>
            <p:nvPr/>
          </p:nvSpPr>
          <p:spPr bwMode="auto">
            <a:xfrm>
              <a:off x="1120775" y="3652838"/>
              <a:ext cx="611188" cy="155575"/>
            </a:xfrm>
            <a:custGeom>
              <a:avLst/>
              <a:gdLst>
                <a:gd name="T0" fmla="*/ 0 w 385"/>
                <a:gd name="T1" fmla="*/ 2147483647 h 98"/>
                <a:gd name="T2" fmla="*/ 2147483647 w 385"/>
                <a:gd name="T3" fmla="*/ 2147483647 h 98"/>
                <a:gd name="T4" fmla="*/ 2147483647 w 385"/>
                <a:gd name="T5" fmla="*/ 0 h 98"/>
                <a:gd name="T6" fmla="*/ 0 60000 65536"/>
                <a:gd name="T7" fmla="*/ 0 60000 65536"/>
                <a:gd name="T8" fmla="*/ 0 60000 65536"/>
                <a:gd name="T9" fmla="*/ 0 w 385"/>
                <a:gd name="T10" fmla="*/ 0 h 98"/>
                <a:gd name="T11" fmla="*/ 385 w 385"/>
                <a:gd name="T12" fmla="*/ 98 h 98"/>
              </a:gdLst>
              <a:ahLst/>
              <a:cxnLst>
                <a:cxn ang="T6">
                  <a:pos x="T0" y="T1"/>
                </a:cxn>
                <a:cxn ang="T7">
                  <a:pos x="T2" y="T3"/>
                </a:cxn>
                <a:cxn ang="T8">
                  <a:pos x="T4" y="T5"/>
                </a:cxn>
              </a:cxnLst>
              <a:rect l="T9" t="T10" r="T11" b="T12"/>
              <a:pathLst>
                <a:path w="385" h="98">
                  <a:moveTo>
                    <a:pt x="0" y="98"/>
                  </a:moveTo>
                  <a:lnTo>
                    <a:pt x="115" y="95"/>
                  </a:lnTo>
                  <a:lnTo>
                    <a:pt x="385" y="0"/>
                  </a:lnTo>
                </a:path>
              </a:pathLst>
            </a:custGeom>
            <a:noFill/>
            <a:ln w="12700" cap="flat" cmpd="sng">
              <a:solidFill>
                <a:schemeClr val="tx1"/>
              </a:solidFill>
              <a:prstDash val="solid"/>
              <a:round/>
              <a:headEnd/>
              <a:tailEnd/>
            </a:ln>
          </p:spPr>
          <p:txBody>
            <a:bodyPr wrap="none" anchor="ctr"/>
            <a:lstStyle/>
            <a:p>
              <a:endParaRPr lang="fr-CA"/>
            </a:p>
          </p:txBody>
        </p:sp>
        <p:sp>
          <p:nvSpPr>
            <p:cNvPr id="46" name="Freeform 99"/>
            <p:cNvSpPr>
              <a:spLocks/>
            </p:cNvSpPr>
            <p:nvPr/>
          </p:nvSpPr>
          <p:spPr bwMode="auto">
            <a:xfrm>
              <a:off x="5948363" y="1835150"/>
              <a:ext cx="1647825" cy="396875"/>
            </a:xfrm>
            <a:custGeom>
              <a:avLst/>
              <a:gdLst>
                <a:gd name="T0" fmla="*/ 0 w 1038"/>
                <a:gd name="T1" fmla="*/ 2147483647 h 250"/>
                <a:gd name="T2" fmla="*/ 2147483647 w 1038"/>
                <a:gd name="T3" fmla="*/ 0 h 250"/>
                <a:gd name="T4" fmla="*/ 2147483647 w 1038"/>
                <a:gd name="T5" fmla="*/ 0 h 250"/>
                <a:gd name="T6" fmla="*/ 0 60000 65536"/>
                <a:gd name="T7" fmla="*/ 0 60000 65536"/>
                <a:gd name="T8" fmla="*/ 0 60000 65536"/>
                <a:gd name="T9" fmla="*/ 0 w 1038"/>
                <a:gd name="T10" fmla="*/ 0 h 250"/>
                <a:gd name="T11" fmla="*/ 1038 w 1038"/>
                <a:gd name="T12" fmla="*/ 250 h 250"/>
              </a:gdLst>
              <a:ahLst/>
              <a:cxnLst>
                <a:cxn ang="T6">
                  <a:pos x="T0" y="T1"/>
                </a:cxn>
                <a:cxn ang="T7">
                  <a:pos x="T2" y="T3"/>
                </a:cxn>
                <a:cxn ang="T8">
                  <a:pos x="T4" y="T5"/>
                </a:cxn>
              </a:cxnLst>
              <a:rect l="T9" t="T10" r="T11" b="T12"/>
              <a:pathLst>
                <a:path w="1038" h="250">
                  <a:moveTo>
                    <a:pt x="0" y="250"/>
                  </a:moveTo>
                  <a:lnTo>
                    <a:pt x="958" y="0"/>
                  </a:lnTo>
                  <a:lnTo>
                    <a:pt x="1038" y="0"/>
                  </a:lnTo>
                </a:path>
              </a:pathLst>
            </a:custGeom>
            <a:noFill/>
            <a:ln w="12700" cap="flat" cmpd="sng">
              <a:solidFill>
                <a:schemeClr val="tx1"/>
              </a:solidFill>
              <a:prstDash val="solid"/>
              <a:round/>
              <a:headEnd/>
              <a:tailEnd/>
            </a:ln>
          </p:spPr>
          <p:txBody>
            <a:bodyPr wrap="none" anchor="ctr"/>
            <a:lstStyle/>
            <a:p>
              <a:endParaRPr lang="fr-CA"/>
            </a:p>
          </p:txBody>
        </p:sp>
        <p:sp>
          <p:nvSpPr>
            <p:cNvPr id="47" name="Freeform 101"/>
            <p:cNvSpPr>
              <a:spLocks/>
            </p:cNvSpPr>
            <p:nvPr/>
          </p:nvSpPr>
          <p:spPr bwMode="auto">
            <a:xfrm>
              <a:off x="5327650" y="2732088"/>
              <a:ext cx="444500" cy="339725"/>
            </a:xfrm>
            <a:custGeom>
              <a:avLst/>
              <a:gdLst>
                <a:gd name="T0" fmla="*/ 0 w 280"/>
                <a:gd name="T1" fmla="*/ 2147483647 h 214"/>
                <a:gd name="T2" fmla="*/ 2147483647 w 280"/>
                <a:gd name="T3" fmla="*/ 2147483647 h 214"/>
                <a:gd name="T4" fmla="*/ 2147483647 w 280"/>
                <a:gd name="T5" fmla="*/ 0 h 214"/>
                <a:gd name="T6" fmla="*/ 0 60000 65536"/>
                <a:gd name="T7" fmla="*/ 0 60000 65536"/>
                <a:gd name="T8" fmla="*/ 0 60000 65536"/>
                <a:gd name="T9" fmla="*/ 0 w 280"/>
                <a:gd name="T10" fmla="*/ 0 h 214"/>
                <a:gd name="T11" fmla="*/ 280 w 280"/>
                <a:gd name="T12" fmla="*/ 214 h 214"/>
              </a:gdLst>
              <a:ahLst/>
              <a:cxnLst>
                <a:cxn ang="T6">
                  <a:pos x="T0" y="T1"/>
                </a:cxn>
                <a:cxn ang="T7">
                  <a:pos x="T2" y="T3"/>
                </a:cxn>
                <a:cxn ang="T8">
                  <a:pos x="T4" y="T5"/>
                </a:cxn>
              </a:cxnLst>
              <a:rect l="T9" t="T10" r="T11" b="T12"/>
              <a:pathLst>
                <a:path w="280" h="214">
                  <a:moveTo>
                    <a:pt x="0" y="214"/>
                  </a:moveTo>
                  <a:lnTo>
                    <a:pt x="280" y="34"/>
                  </a:lnTo>
                  <a:lnTo>
                    <a:pt x="40" y="0"/>
                  </a:lnTo>
                </a:path>
              </a:pathLst>
            </a:custGeom>
            <a:noFill/>
            <a:ln w="12700" cap="flat" cmpd="sng">
              <a:solidFill>
                <a:schemeClr val="tx1"/>
              </a:solidFill>
              <a:prstDash val="solid"/>
              <a:round/>
              <a:headEnd/>
              <a:tailEnd/>
            </a:ln>
          </p:spPr>
          <p:txBody>
            <a:bodyPr wrap="none" anchor="ctr"/>
            <a:lstStyle/>
            <a:p>
              <a:endParaRPr lang="fr-CA"/>
            </a:p>
          </p:txBody>
        </p:sp>
        <p:sp>
          <p:nvSpPr>
            <p:cNvPr id="48" name="Freeform 105"/>
            <p:cNvSpPr>
              <a:spLocks/>
            </p:cNvSpPr>
            <p:nvPr/>
          </p:nvSpPr>
          <p:spPr bwMode="auto">
            <a:xfrm>
              <a:off x="6489700" y="2614613"/>
              <a:ext cx="1074738" cy="50800"/>
            </a:xfrm>
            <a:custGeom>
              <a:avLst/>
              <a:gdLst>
                <a:gd name="T0" fmla="*/ 0 w 677"/>
                <a:gd name="T1" fmla="*/ 2147483647 h 32"/>
                <a:gd name="T2" fmla="*/ 2147483647 w 677"/>
                <a:gd name="T3" fmla="*/ 0 h 32"/>
                <a:gd name="T4" fmla="*/ 2147483647 w 677"/>
                <a:gd name="T5" fmla="*/ 0 h 32"/>
                <a:gd name="T6" fmla="*/ 0 60000 65536"/>
                <a:gd name="T7" fmla="*/ 0 60000 65536"/>
                <a:gd name="T8" fmla="*/ 0 60000 65536"/>
                <a:gd name="T9" fmla="*/ 0 w 677"/>
                <a:gd name="T10" fmla="*/ 0 h 32"/>
                <a:gd name="T11" fmla="*/ 677 w 677"/>
                <a:gd name="T12" fmla="*/ 32 h 32"/>
              </a:gdLst>
              <a:ahLst/>
              <a:cxnLst>
                <a:cxn ang="T6">
                  <a:pos x="T0" y="T1"/>
                </a:cxn>
                <a:cxn ang="T7">
                  <a:pos x="T2" y="T3"/>
                </a:cxn>
                <a:cxn ang="T8">
                  <a:pos x="T4" y="T5"/>
                </a:cxn>
              </a:cxnLst>
              <a:rect l="T9" t="T10" r="T11" b="T12"/>
              <a:pathLst>
                <a:path w="677" h="32">
                  <a:moveTo>
                    <a:pt x="0" y="32"/>
                  </a:moveTo>
                  <a:lnTo>
                    <a:pt x="594" y="0"/>
                  </a:lnTo>
                  <a:lnTo>
                    <a:pt x="677" y="0"/>
                  </a:lnTo>
                </a:path>
              </a:pathLst>
            </a:custGeom>
            <a:noFill/>
            <a:ln w="12700">
              <a:solidFill>
                <a:schemeClr val="tx1"/>
              </a:solidFill>
              <a:round/>
              <a:headEnd/>
              <a:tailEnd/>
            </a:ln>
          </p:spPr>
          <p:txBody>
            <a:bodyPr wrap="none" anchor="ctr"/>
            <a:lstStyle/>
            <a:p>
              <a:endParaRPr lang="fr-CA"/>
            </a:p>
          </p:txBody>
        </p:sp>
        <p:sp>
          <p:nvSpPr>
            <p:cNvPr id="49" name="Freeform 106"/>
            <p:cNvSpPr>
              <a:spLocks/>
            </p:cNvSpPr>
            <p:nvPr/>
          </p:nvSpPr>
          <p:spPr bwMode="auto">
            <a:xfrm>
              <a:off x="6405563" y="2665413"/>
              <a:ext cx="274637" cy="180975"/>
            </a:xfrm>
            <a:custGeom>
              <a:avLst/>
              <a:gdLst>
                <a:gd name="T0" fmla="*/ 2147483647 w 173"/>
                <a:gd name="T1" fmla="*/ 0 h 114"/>
                <a:gd name="T2" fmla="*/ 0 w 173"/>
                <a:gd name="T3" fmla="*/ 2147483647 h 114"/>
                <a:gd name="T4" fmla="*/ 0 60000 65536"/>
                <a:gd name="T5" fmla="*/ 0 60000 65536"/>
                <a:gd name="T6" fmla="*/ 0 w 173"/>
                <a:gd name="T7" fmla="*/ 0 h 114"/>
                <a:gd name="T8" fmla="*/ 173 w 173"/>
                <a:gd name="T9" fmla="*/ 114 h 114"/>
              </a:gdLst>
              <a:ahLst/>
              <a:cxnLst>
                <a:cxn ang="T4">
                  <a:pos x="T0" y="T1"/>
                </a:cxn>
                <a:cxn ang="T5">
                  <a:pos x="T2" y="T3"/>
                </a:cxn>
              </a:cxnLst>
              <a:rect l="T6" t="T7" r="T8" b="T9"/>
              <a:pathLst>
                <a:path w="173" h="114">
                  <a:moveTo>
                    <a:pt x="173" y="0"/>
                  </a:moveTo>
                  <a:lnTo>
                    <a:pt x="0" y="114"/>
                  </a:lnTo>
                </a:path>
              </a:pathLst>
            </a:custGeom>
            <a:noFill/>
            <a:ln w="12700">
              <a:solidFill>
                <a:srgbClr val="FF0000"/>
              </a:solidFill>
              <a:round/>
              <a:headEnd/>
              <a:tailEnd/>
            </a:ln>
          </p:spPr>
          <p:txBody>
            <a:bodyPr wrap="none" anchor="ctr"/>
            <a:lstStyle/>
            <a:p>
              <a:endParaRPr lang="fr-CA"/>
            </a:p>
          </p:txBody>
        </p:sp>
        <p:sp>
          <p:nvSpPr>
            <p:cNvPr id="50" name="Freeform 107"/>
            <p:cNvSpPr>
              <a:spLocks/>
            </p:cNvSpPr>
            <p:nvPr/>
          </p:nvSpPr>
          <p:spPr bwMode="auto">
            <a:xfrm>
              <a:off x="6062663" y="2981325"/>
              <a:ext cx="1524000" cy="171450"/>
            </a:xfrm>
            <a:custGeom>
              <a:avLst/>
              <a:gdLst>
                <a:gd name="T0" fmla="*/ 0 w 960"/>
                <a:gd name="T1" fmla="*/ 2147483647 h 108"/>
                <a:gd name="T2" fmla="*/ 2147483647 w 960"/>
                <a:gd name="T3" fmla="*/ 0 h 108"/>
                <a:gd name="T4" fmla="*/ 2147483647 w 960"/>
                <a:gd name="T5" fmla="*/ 0 h 108"/>
                <a:gd name="T6" fmla="*/ 0 60000 65536"/>
                <a:gd name="T7" fmla="*/ 0 60000 65536"/>
                <a:gd name="T8" fmla="*/ 0 60000 65536"/>
                <a:gd name="T9" fmla="*/ 0 w 960"/>
                <a:gd name="T10" fmla="*/ 0 h 108"/>
                <a:gd name="T11" fmla="*/ 960 w 960"/>
                <a:gd name="T12" fmla="*/ 108 h 108"/>
              </a:gdLst>
              <a:ahLst/>
              <a:cxnLst>
                <a:cxn ang="T6">
                  <a:pos x="T0" y="T1"/>
                </a:cxn>
                <a:cxn ang="T7">
                  <a:pos x="T2" y="T3"/>
                </a:cxn>
                <a:cxn ang="T8">
                  <a:pos x="T4" y="T5"/>
                </a:cxn>
              </a:cxnLst>
              <a:rect l="T9" t="T10" r="T11" b="T12"/>
              <a:pathLst>
                <a:path w="960" h="108">
                  <a:moveTo>
                    <a:pt x="0" y="108"/>
                  </a:moveTo>
                  <a:lnTo>
                    <a:pt x="904" y="0"/>
                  </a:lnTo>
                  <a:lnTo>
                    <a:pt x="960" y="0"/>
                  </a:lnTo>
                </a:path>
              </a:pathLst>
            </a:custGeom>
            <a:noFill/>
            <a:ln w="12700" cap="flat" cmpd="sng">
              <a:solidFill>
                <a:schemeClr val="tx1"/>
              </a:solidFill>
              <a:prstDash val="solid"/>
              <a:round/>
              <a:headEnd/>
              <a:tailEnd/>
            </a:ln>
          </p:spPr>
          <p:txBody>
            <a:bodyPr wrap="none" anchor="ctr"/>
            <a:lstStyle/>
            <a:p>
              <a:endParaRPr lang="fr-CA"/>
            </a:p>
          </p:txBody>
        </p:sp>
        <p:sp>
          <p:nvSpPr>
            <p:cNvPr id="51" name="Line 108"/>
            <p:cNvSpPr>
              <a:spLocks noChangeShapeType="1"/>
            </p:cNvSpPr>
            <p:nvPr/>
          </p:nvSpPr>
          <p:spPr bwMode="auto">
            <a:xfrm flipH="1">
              <a:off x="6154738" y="3109913"/>
              <a:ext cx="298450" cy="171450"/>
            </a:xfrm>
            <a:prstGeom prst="line">
              <a:avLst/>
            </a:prstGeom>
            <a:noFill/>
            <a:ln w="12700">
              <a:solidFill>
                <a:srgbClr val="FF0000"/>
              </a:solidFill>
              <a:round/>
              <a:headEnd/>
              <a:tailEnd/>
            </a:ln>
          </p:spPr>
          <p:txBody>
            <a:bodyPr wrap="none" anchor="ctr"/>
            <a:lstStyle/>
            <a:p>
              <a:endParaRPr lang="fr-CA"/>
            </a:p>
          </p:txBody>
        </p:sp>
        <p:sp>
          <p:nvSpPr>
            <p:cNvPr id="52" name="Freeform 109"/>
            <p:cNvSpPr>
              <a:spLocks/>
            </p:cNvSpPr>
            <p:nvPr/>
          </p:nvSpPr>
          <p:spPr bwMode="auto">
            <a:xfrm>
              <a:off x="6351588" y="3590925"/>
              <a:ext cx="1231900" cy="158750"/>
            </a:xfrm>
            <a:custGeom>
              <a:avLst/>
              <a:gdLst>
                <a:gd name="T0" fmla="*/ 0 w 776"/>
                <a:gd name="T1" fmla="*/ 2147483647 h 100"/>
                <a:gd name="T2" fmla="*/ 2147483647 w 776"/>
                <a:gd name="T3" fmla="*/ 0 h 100"/>
                <a:gd name="T4" fmla="*/ 2147483647 w 776"/>
                <a:gd name="T5" fmla="*/ 0 h 100"/>
                <a:gd name="T6" fmla="*/ 0 60000 65536"/>
                <a:gd name="T7" fmla="*/ 0 60000 65536"/>
                <a:gd name="T8" fmla="*/ 0 60000 65536"/>
                <a:gd name="T9" fmla="*/ 0 w 776"/>
                <a:gd name="T10" fmla="*/ 0 h 100"/>
                <a:gd name="T11" fmla="*/ 776 w 776"/>
                <a:gd name="T12" fmla="*/ 100 h 100"/>
              </a:gdLst>
              <a:ahLst/>
              <a:cxnLst>
                <a:cxn ang="T6">
                  <a:pos x="T0" y="T1"/>
                </a:cxn>
                <a:cxn ang="T7">
                  <a:pos x="T2" y="T3"/>
                </a:cxn>
                <a:cxn ang="T8">
                  <a:pos x="T4" y="T5"/>
                </a:cxn>
              </a:cxnLst>
              <a:rect l="T9" t="T10" r="T11" b="T12"/>
              <a:pathLst>
                <a:path w="776" h="100">
                  <a:moveTo>
                    <a:pt x="0" y="100"/>
                  </a:moveTo>
                  <a:lnTo>
                    <a:pt x="698" y="0"/>
                  </a:lnTo>
                  <a:lnTo>
                    <a:pt x="776" y="0"/>
                  </a:lnTo>
                </a:path>
              </a:pathLst>
            </a:custGeom>
            <a:noFill/>
            <a:ln w="12700" cap="flat" cmpd="sng">
              <a:solidFill>
                <a:schemeClr val="tx1"/>
              </a:solidFill>
              <a:prstDash val="solid"/>
              <a:round/>
              <a:headEnd/>
              <a:tailEnd/>
            </a:ln>
          </p:spPr>
          <p:txBody>
            <a:bodyPr wrap="none" anchor="ctr"/>
            <a:lstStyle/>
            <a:p>
              <a:endParaRPr lang="fr-CA"/>
            </a:p>
          </p:txBody>
        </p:sp>
        <p:sp>
          <p:nvSpPr>
            <p:cNvPr id="53" name="Freeform 110"/>
            <p:cNvSpPr>
              <a:spLocks/>
            </p:cNvSpPr>
            <p:nvPr/>
          </p:nvSpPr>
          <p:spPr bwMode="auto">
            <a:xfrm>
              <a:off x="5957888" y="3806825"/>
              <a:ext cx="1635125" cy="82550"/>
            </a:xfrm>
            <a:custGeom>
              <a:avLst/>
              <a:gdLst>
                <a:gd name="T0" fmla="*/ 0 w 1030"/>
                <a:gd name="T1" fmla="*/ 0 h 52"/>
                <a:gd name="T2" fmla="*/ 2147483647 w 1030"/>
                <a:gd name="T3" fmla="*/ 2147483647 h 52"/>
                <a:gd name="T4" fmla="*/ 2147483647 w 1030"/>
                <a:gd name="T5" fmla="*/ 2147483647 h 52"/>
                <a:gd name="T6" fmla="*/ 0 60000 65536"/>
                <a:gd name="T7" fmla="*/ 0 60000 65536"/>
                <a:gd name="T8" fmla="*/ 0 60000 65536"/>
                <a:gd name="T9" fmla="*/ 0 w 1030"/>
                <a:gd name="T10" fmla="*/ 0 h 52"/>
                <a:gd name="T11" fmla="*/ 1030 w 1030"/>
                <a:gd name="T12" fmla="*/ 52 h 52"/>
              </a:gdLst>
              <a:ahLst/>
              <a:cxnLst>
                <a:cxn ang="T6">
                  <a:pos x="T0" y="T1"/>
                </a:cxn>
                <a:cxn ang="T7">
                  <a:pos x="T2" y="T3"/>
                </a:cxn>
                <a:cxn ang="T8">
                  <a:pos x="T4" y="T5"/>
                </a:cxn>
              </a:cxnLst>
              <a:rect l="T9" t="T10" r="T11" b="T12"/>
              <a:pathLst>
                <a:path w="1030" h="52">
                  <a:moveTo>
                    <a:pt x="0" y="0"/>
                  </a:moveTo>
                  <a:lnTo>
                    <a:pt x="948" y="52"/>
                  </a:lnTo>
                  <a:lnTo>
                    <a:pt x="1030" y="52"/>
                  </a:lnTo>
                </a:path>
              </a:pathLst>
            </a:custGeom>
            <a:noFill/>
            <a:ln w="12700" cap="flat" cmpd="sng">
              <a:solidFill>
                <a:schemeClr val="tx1"/>
              </a:solidFill>
              <a:prstDash val="solid"/>
              <a:round/>
              <a:headEnd/>
              <a:tailEnd/>
            </a:ln>
          </p:spPr>
          <p:txBody>
            <a:bodyPr wrap="none" anchor="ctr"/>
            <a:lstStyle/>
            <a:p>
              <a:endParaRPr lang="fr-CA"/>
            </a:p>
          </p:txBody>
        </p:sp>
        <p:sp>
          <p:nvSpPr>
            <p:cNvPr id="54" name="Line 114"/>
            <p:cNvSpPr>
              <a:spLocks noChangeShapeType="1"/>
            </p:cNvSpPr>
            <p:nvPr/>
          </p:nvSpPr>
          <p:spPr bwMode="auto">
            <a:xfrm flipV="1">
              <a:off x="4833938" y="4795838"/>
              <a:ext cx="2765425" cy="57150"/>
            </a:xfrm>
            <a:prstGeom prst="line">
              <a:avLst/>
            </a:prstGeom>
            <a:noFill/>
            <a:ln w="12700">
              <a:solidFill>
                <a:schemeClr val="tx1"/>
              </a:solidFill>
              <a:round/>
              <a:headEnd/>
              <a:tailEnd/>
            </a:ln>
          </p:spPr>
          <p:txBody>
            <a:bodyPr wrap="none" anchor="ctr"/>
            <a:lstStyle/>
            <a:p>
              <a:endParaRPr lang="fr-CA"/>
            </a:p>
          </p:txBody>
        </p:sp>
        <p:sp>
          <p:nvSpPr>
            <p:cNvPr id="55" name="Freeform 115"/>
            <p:cNvSpPr>
              <a:spLocks/>
            </p:cNvSpPr>
            <p:nvPr/>
          </p:nvSpPr>
          <p:spPr bwMode="auto">
            <a:xfrm>
              <a:off x="4637088" y="4519613"/>
              <a:ext cx="2959100" cy="269875"/>
            </a:xfrm>
            <a:custGeom>
              <a:avLst/>
              <a:gdLst>
                <a:gd name="T0" fmla="*/ 0 w 1864"/>
                <a:gd name="T1" fmla="*/ 2147483647 h 170"/>
                <a:gd name="T2" fmla="*/ 2147483647 w 1864"/>
                <a:gd name="T3" fmla="*/ 0 h 170"/>
                <a:gd name="T4" fmla="*/ 2147483647 w 1864"/>
                <a:gd name="T5" fmla="*/ 0 h 170"/>
                <a:gd name="T6" fmla="*/ 0 60000 65536"/>
                <a:gd name="T7" fmla="*/ 0 60000 65536"/>
                <a:gd name="T8" fmla="*/ 0 60000 65536"/>
                <a:gd name="T9" fmla="*/ 0 w 1864"/>
                <a:gd name="T10" fmla="*/ 0 h 170"/>
                <a:gd name="T11" fmla="*/ 1864 w 1864"/>
                <a:gd name="T12" fmla="*/ 170 h 170"/>
              </a:gdLst>
              <a:ahLst/>
              <a:cxnLst>
                <a:cxn ang="T6">
                  <a:pos x="T0" y="T1"/>
                </a:cxn>
                <a:cxn ang="T7">
                  <a:pos x="T2" y="T3"/>
                </a:cxn>
                <a:cxn ang="T8">
                  <a:pos x="T4" y="T5"/>
                </a:cxn>
              </a:cxnLst>
              <a:rect l="T9" t="T10" r="T11" b="T12"/>
              <a:pathLst>
                <a:path w="1864" h="170">
                  <a:moveTo>
                    <a:pt x="0" y="170"/>
                  </a:moveTo>
                  <a:lnTo>
                    <a:pt x="1776" y="0"/>
                  </a:lnTo>
                  <a:lnTo>
                    <a:pt x="1864" y="0"/>
                  </a:lnTo>
                </a:path>
              </a:pathLst>
            </a:custGeom>
            <a:noFill/>
            <a:ln w="12700" cap="flat" cmpd="sng">
              <a:solidFill>
                <a:schemeClr val="tx1"/>
              </a:solidFill>
              <a:prstDash val="solid"/>
              <a:round/>
              <a:headEnd/>
              <a:tailEnd/>
            </a:ln>
          </p:spPr>
          <p:txBody>
            <a:bodyPr wrap="none" anchor="ctr"/>
            <a:lstStyle/>
            <a:p>
              <a:endParaRPr lang="fr-CA"/>
            </a:p>
          </p:txBody>
        </p:sp>
        <p:sp>
          <p:nvSpPr>
            <p:cNvPr id="56" name="Rectangle 55"/>
            <p:cNvSpPr>
              <a:spLocks noChangeArrowheads="1"/>
            </p:cNvSpPr>
            <p:nvPr/>
          </p:nvSpPr>
          <p:spPr bwMode="auto">
            <a:xfrm>
              <a:off x="304800" y="4114800"/>
              <a:ext cx="304800" cy="304800"/>
            </a:xfrm>
            <a:prstGeom prst="rect">
              <a:avLst/>
            </a:prstGeom>
            <a:solidFill>
              <a:schemeClr val="bg1"/>
            </a:solidFill>
            <a:ln w="9525" algn="ctr">
              <a:solidFill>
                <a:schemeClr val="bg1"/>
              </a:solidFill>
              <a:round/>
              <a:headEnd/>
              <a:tailEnd/>
            </a:ln>
          </p:spPr>
          <p:txBody>
            <a:bodyPr wrap="none" anchor="ctr"/>
            <a:lstStyle/>
            <a:p>
              <a:endParaRPr lang="fr-CA"/>
            </a:p>
          </p:txBody>
        </p:sp>
        <p:sp>
          <p:nvSpPr>
            <p:cNvPr id="57" name="Rectangle 40"/>
            <p:cNvSpPr>
              <a:spLocks noChangeArrowheads="1"/>
            </p:cNvSpPr>
            <p:nvPr/>
          </p:nvSpPr>
          <p:spPr bwMode="auto">
            <a:xfrm>
              <a:off x="3886200" y="4953000"/>
              <a:ext cx="304800" cy="304800"/>
            </a:xfrm>
            <a:prstGeom prst="rect">
              <a:avLst/>
            </a:prstGeom>
            <a:solidFill>
              <a:schemeClr val="bg1"/>
            </a:solidFill>
            <a:ln w="9525" algn="ctr">
              <a:solidFill>
                <a:schemeClr val="bg1"/>
              </a:solidFill>
              <a:round/>
              <a:headEnd/>
              <a:tailEnd/>
            </a:ln>
          </p:spPr>
          <p:txBody>
            <a:bodyPr wrap="none" anchor="ctr"/>
            <a:lstStyle/>
            <a:p>
              <a:endParaRPr lang="fr-CA"/>
            </a:p>
          </p:txBody>
        </p:sp>
      </p:grpSp>
      <p:sp>
        <p:nvSpPr>
          <p:cNvPr id="58" name="Text Box 8"/>
          <p:cNvSpPr txBox="1">
            <a:spLocks noChangeArrowheads="1"/>
          </p:cNvSpPr>
          <p:nvPr/>
        </p:nvSpPr>
        <p:spPr bwMode="auto">
          <a:xfrm>
            <a:off x="566251" y="5496565"/>
            <a:ext cx="889000" cy="314325"/>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CA" sz="1400" dirty="0"/>
              <a:t>Fig. 20.7</a:t>
            </a:r>
          </a:p>
        </p:txBody>
      </p:sp>
      <p:sp>
        <p:nvSpPr>
          <p:cNvPr id="59" name="Freeform 115"/>
          <p:cNvSpPr>
            <a:spLocks/>
          </p:cNvSpPr>
          <p:nvPr/>
        </p:nvSpPr>
        <p:spPr bwMode="auto">
          <a:xfrm rot="10800000">
            <a:off x="5960277" y="5091923"/>
            <a:ext cx="252553" cy="143692"/>
          </a:xfrm>
          <a:custGeom>
            <a:avLst/>
            <a:gdLst>
              <a:gd name="T0" fmla="*/ 0 w 1864"/>
              <a:gd name="T1" fmla="*/ 2147483647 h 170"/>
              <a:gd name="T2" fmla="*/ 2147483647 w 1864"/>
              <a:gd name="T3" fmla="*/ 0 h 170"/>
              <a:gd name="T4" fmla="*/ 2147483647 w 1864"/>
              <a:gd name="T5" fmla="*/ 0 h 170"/>
              <a:gd name="T6" fmla="*/ 0 60000 65536"/>
              <a:gd name="T7" fmla="*/ 0 60000 65536"/>
              <a:gd name="T8" fmla="*/ 0 60000 65536"/>
              <a:gd name="T9" fmla="*/ 0 w 1864"/>
              <a:gd name="T10" fmla="*/ 0 h 170"/>
              <a:gd name="T11" fmla="*/ 1864 w 1864"/>
              <a:gd name="T12" fmla="*/ 170 h 170"/>
            </a:gdLst>
            <a:ahLst/>
            <a:cxnLst>
              <a:cxn ang="T6">
                <a:pos x="T0" y="T1"/>
              </a:cxn>
              <a:cxn ang="T7">
                <a:pos x="T2" y="T3"/>
              </a:cxn>
              <a:cxn ang="T8">
                <a:pos x="T4" y="T5"/>
              </a:cxn>
            </a:cxnLst>
            <a:rect l="T9" t="T10" r="T11" b="T12"/>
            <a:pathLst>
              <a:path w="1864" h="170">
                <a:moveTo>
                  <a:pt x="0" y="170"/>
                </a:moveTo>
                <a:lnTo>
                  <a:pt x="1776" y="0"/>
                </a:lnTo>
                <a:lnTo>
                  <a:pt x="1864" y="0"/>
                </a:lnTo>
              </a:path>
            </a:pathLst>
          </a:custGeom>
          <a:noFill/>
          <a:ln w="12700" cap="flat" cmpd="sng">
            <a:solidFill>
              <a:schemeClr val="tx1"/>
            </a:solidFill>
            <a:prstDash val="solid"/>
            <a:round/>
            <a:headEnd/>
            <a:tailEnd/>
          </a:ln>
        </p:spPr>
        <p:txBody>
          <a:bodyPr wrap="none" anchor="ctr"/>
          <a:lstStyle/>
          <a:p>
            <a:endParaRPr lang="fr-CA"/>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4299" y="179948"/>
            <a:ext cx="8714536" cy="3162404"/>
          </a:xfrm>
          <a:prstGeom prst="rect">
            <a:avLst/>
          </a:prstGeom>
        </p:spPr>
        <p:txBody>
          <a:bodyPr wrap="square">
            <a:spAutoFit/>
          </a:bodyPr>
          <a:lstStyle/>
          <a:p>
            <a:pPr marL="176213" indent="-176213">
              <a:buFont typeface="Arial" panose="020B0604020202020204" pitchFamily="34" charset="0"/>
              <a:buChar char="•"/>
            </a:pPr>
            <a:r>
              <a:rPr lang="fr-CA" u="sng" dirty="0"/>
              <a:t>Structures de la rate</a:t>
            </a:r>
            <a:r>
              <a:rPr lang="fr-CA" dirty="0"/>
              <a:t> :</a:t>
            </a:r>
            <a:endParaRPr lang="fr-CA" u="sng" dirty="0"/>
          </a:p>
          <a:p>
            <a:pPr marL="176213">
              <a:spcBef>
                <a:spcPts val="600"/>
              </a:spcBef>
            </a:pPr>
            <a:r>
              <a:rPr lang="fr-CA" sz="1400" dirty="0"/>
              <a:t>Chez l’adulte, la rate mesure environ 12 cm de longueur, avec un poids d’environ 160 g.</a:t>
            </a:r>
          </a:p>
          <a:p>
            <a:pPr marL="176213">
              <a:spcBef>
                <a:spcPts val="600"/>
              </a:spcBef>
            </a:pPr>
            <a:r>
              <a:rPr lang="fr-CA" sz="1400" b="1" dirty="0"/>
              <a:t>Histologiquement constituée de deux régions distinctes :</a:t>
            </a:r>
          </a:p>
          <a:p>
            <a:pPr marL="363538" indent="-187325">
              <a:spcBef>
                <a:spcPts val="300"/>
              </a:spcBef>
              <a:buFont typeface="Arial" panose="020B0604020202020204" pitchFamily="34" charset="0"/>
              <a:buChar char="•"/>
            </a:pPr>
            <a:r>
              <a:rPr lang="fr-CA" sz="1400" dirty="0"/>
              <a:t>Pulpe blanche (25 %) : tissu lymphoïde distribué autour des artères; fonction immunitaire (prolifération et activation des lymphocytes).</a:t>
            </a:r>
          </a:p>
          <a:p>
            <a:pPr marL="363538" indent="-187325">
              <a:spcBef>
                <a:spcPts val="300"/>
              </a:spcBef>
              <a:buFont typeface="Arial" panose="020B0604020202020204" pitchFamily="34" charset="0"/>
              <a:buChar char="•"/>
            </a:pPr>
            <a:r>
              <a:rPr lang="fr-CA" sz="1400" dirty="0"/>
              <a:t>Pulpe rouge (75%) : associée aux veines; composée de sinus veineux (</a:t>
            </a:r>
            <a:r>
              <a:rPr lang="fr-CA" sz="1400" i="1" dirty="0"/>
              <a:t>sinusoïdes spléniques</a:t>
            </a:r>
            <a:r>
              <a:rPr lang="fr-CA" sz="1400" dirty="0"/>
              <a:t>) séparés de tissu réticulaire qui contient un très grand nombre de macrophagocytes. La pulpe rouge est, entre autres, le site de destruction des plaquettes et des globules rouges âgés ou défectueux.</a:t>
            </a:r>
          </a:p>
          <a:p>
            <a:pPr marL="176213">
              <a:spcBef>
                <a:spcPts val="600"/>
              </a:spcBef>
            </a:pPr>
            <a:r>
              <a:rPr lang="fr-CA" sz="1400" b="1" dirty="0"/>
              <a:t>Structures associées à la rate :</a:t>
            </a:r>
          </a:p>
          <a:p>
            <a:pPr marL="363538" indent="-187325">
              <a:spcBef>
                <a:spcPts val="300"/>
              </a:spcBef>
              <a:buFont typeface="Arial" panose="020B0604020202020204" pitchFamily="34" charset="0"/>
              <a:buChar char="•"/>
            </a:pPr>
            <a:r>
              <a:rPr lang="fr-CA" sz="1400" dirty="0"/>
              <a:t>Capsule splénique : tissu conjonctif dense irrégulier qui entoure la rate</a:t>
            </a:r>
          </a:p>
          <a:p>
            <a:pPr marL="363538" indent="-187325">
              <a:spcBef>
                <a:spcPts val="300"/>
              </a:spcBef>
              <a:buFont typeface="Arial" panose="020B0604020202020204" pitchFamily="34" charset="0"/>
              <a:buChar char="•"/>
            </a:pPr>
            <a:r>
              <a:rPr lang="fr-CA" sz="1400" dirty="0"/>
              <a:t>Artère splénique (dessert la rate) et veine splénique (draine la rate)</a:t>
            </a:r>
          </a:p>
          <a:p>
            <a:pPr marL="363538" indent="-187325">
              <a:spcBef>
                <a:spcPts val="300"/>
              </a:spcBef>
              <a:buFont typeface="Arial" panose="020B0604020202020204" pitchFamily="34" charset="0"/>
              <a:buChar char="•"/>
            </a:pPr>
            <a:r>
              <a:rPr lang="fr-CA" sz="1400" dirty="0"/>
              <a:t>Vaisseaux lymphatiques collecteurs efférents (la rate ne contient pas de vaisseaux afférents)</a:t>
            </a:r>
          </a:p>
        </p:txBody>
      </p:sp>
      <p:pic>
        <p:nvPicPr>
          <p:cNvPr id="5" name="Picture 6" descr="20-06_Spleen_3">
            <a:extLst>
              <a:ext uri="{FF2B5EF4-FFF2-40B4-BE49-F238E27FC236}">
                <a16:creationId xmlns:a16="http://schemas.microsoft.com/office/drawing/2014/main" id="{0CD80EAB-A24A-432D-8962-CF9DA5CC7A6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a:stretch/>
        </p:blipFill>
        <p:spPr bwMode="auto">
          <a:xfrm>
            <a:off x="6117295" y="3683921"/>
            <a:ext cx="2988000" cy="270192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Group 5">
            <a:extLst>
              <a:ext uri="{FF2B5EF4-FFF2-40B4-BE49-F238E27FC236}">
                <a16:creationId xmlns:a16="http://schemas.microsoft.com/office/drawing/2014/main" id="{02FABA1C-F769-4B76-849D-32FD032AC422}"/>
              </a:ext>
            </a:extLst>
          </p:cNvPr>
          <p:cNvGrpSpPr/>
          <p:nvPr/>
        </p:nvGrpSpPr>
        <p:grpSpPr>
          <a:xfrm>
            <a:off x="175032" y="3811898"/>
            <a:ext cx="6015803" cy="2671717"/>
            <a:chOff x="228599" y="1612900"/>
            <a:chExt cx="9220200" cy="3644900"/>
          </a:xfrm>
        </p:grpSpPr>
        <p:pic>
          <p:nvPicPr>
            <p:cNvPr id="7" name="Picture 118" descr="figure_20_06a-b_unlabeled">
              <a:extLst>
                <a:ext uri="{FF2B5EF4-FFF2-40B4-BE49-F238E27FC236}">
                  <a16:creationId xmlns:a16="http://schemas.microsoft.com/office/drawing/2014/main" id="{3B30D1B0-89A8-4DD5-8A11-C9CB751AD7B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588" y="1612900"/>
              <a:ext cx="8597900" cy="3589338"/>
            </a:xfrm>
            <a:prstGeom prst="rect">
              <a:avLst/>
            </a:prstGeom>
            <a:noFill/>
            <a:ln w="9525">
              <a:noFill/>
              <a:miter lim="800000"/>
              <a:headEnd/>
              <a:tailEnd/>
            </a:ln>
          </p:spPr>
        </p:pic>
        <p:sp>
          <p:nvSpPr>
            <p:cNvPr id="8" name="Rectangle 59">
              <a:extLst>
                <a:ext uri="{FF2B5EF4-FFF2-40B4-BE49-F238E27FC236}">
                  <a16:creationId xmlns:a16="http://schemas.microsoft.com/office/drawing/2014/main" id="{6173EB64-90F1-49A5-8CB0-FF225AA793CD}"/>
                </a:ext>
              </a:extLst>
            </p:cNvPr>
            <p:cNvSpPr>
              <a:spLocks noChangeArrowheads="1"/>
            </p:cNvSpPr>
            <p:nvPr/>
          </p:nvSpPr>
          <p:spPr bwMode="auto">
            <a:xfrm>
              <a:off x="228599" y="3098591"/>
              <a:ext cx="1439864" cy="529055"/>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Artère splénique</a:t>
              </a:r>
            </a:p>
          </p:txBody>
        </p:sp>
        <p:sp>
          <p:nvSpPr>
            <p:cNvPr id="9" name="Rectangle 60">
              <a:extLst>
                <a:ext uri="{FF2B5EF4-FFF2-40B4-BE49-F238E27FC236}">
                  <a16:creationId xmlns:a16="http://schemas.microsoft.com/office/drawing/2014/main" id="{4C07D989-42B0-4785-B4C6-653C8A9F7ED3}"/>
                </a:ext>
              </a:extLst>
            </p:cNvPr>
            <p:cNvSpPr>
              <a:spLocks noChangeArrowheads="1"/>
            </p:cNvSpPr>
            <p:nvPr/>
          </p:nvSpPr>
          <p:spPr bwMode="auto">
            <a:xfrm>
              <a:off x="312569" y="3637167"/>
              <a:ext cx="1314450" cy="529055"/>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Veine splénique</a:t>
              </a:r>
            </a:p>
          </p:txBody>
        </p:sp>
        <p:sp>
          <p:nvSpPr>
            <p:cNvPr id="10" name="Rectangle 63">
              <a:extLst>
                <a:ext uri="{FF2B5EF4-FFF2-40B4-BE49-F238E27FC236}">
                  <a16:creationId xmlns:a16="http://schemas.microsoft.com/office/drawing/2014/main" id="{A9284D5E-94BD-47BB-A563-238CF337C32B}"/>
                </a:ext>
              </a:extLst>
            </p:cNvPr>
            <p:cNvSpPr>
              <a:spLocks noChangeArrowheads="1"/>
            </p:cNvSpPr>
            <p:nvPr/>
          </p:nvSpPr>
          <p:spPr bwMode="auto">
            <a:xfrm>
              <a:off x="7527925" y="1635090"/>
              <a:ext cx="1031196" cy="377897"/>
            </a:xfrm>
            <a:prstGeom prst="rect">
              <a:avLst/>
            </a:prstGeom>
            <a:noFill/>
            <a:ln w="9525">
              <a:noFill/>
              <a:miter lim="800000"/>
              <a:headEnd/>
              <a:tailEnd/>
            </a:ln>
          </p:spPr>
          <p:txBody>
            <a:bodyPr wrap="none" anchor="ctr">
              <a:spAutoFit/>
            </a:bodyPr>
            <a:lstStyle/>
            <a:p>
              <a:r>
                <a:rPr lang="fr-CA" sz="1200" dirty="0">
                  <a:latin typeface="Calibri" pitchFamily="34" charset="0"/>
                </a:rPr>
                <a:t>Capsule</a:t>
              </a:r>
            </a:p>
          </p:txBody>
        </p:sp>
        <p:sp>
          <p:nvSpPr>
            <p:cNvPr id="11" name="Rectangle 66">
              <a:extLst>
                <a:ext uri="{FF2B5EF4-FFF2-40B4-BE49-F238E27FC236}">
                  <a16:creationId xmlns:a16="http://schemas.microsoft.com/office/drawing/2014/main" id="{AA3DC146-90F0-4031-AC53-06D14E08B553}"/>
                </a:ext>
              </a:extLst>
            </p:cNvPr>
            <p:cNvSpPr>
              <a:spLocks noChangeArrowheads="1"/>
            </p:cNvSpPr>
            <p:nvPr/>
          </p:nvSpPr>
          <p:spPr bwMode="auto">
            <a:xfrm>
              <a:off x="7526337" y="2471494"/>
              <a:ext cx="1297717" cy="327511"/>
            </a:xfrm>
            <a:prstGeom prst="rect">
              <a:avLst/>
            </a:prstGeom>
            <a:noFill/>
            <a:ln w="9525">
              <a:noFill/>
              <a:miter lim="800000"/>
              <a:headEnd/>
              <a:tailEnd/>
            </a:ln>
          </p:spPr>
          <p:txBody>
            <a:bodyPr wrap="none" anchor="ctr">
              <a:spAutoFit/>
            </a:bodyPr>
            <a:lstStyle/>
            <a:p>
              <a:pPr>
                <a:lnSpc>
                  <a:spcPct val="80000"/>
                </a:lnSpc>
              </a:pPr>
              <a:r>
                <a:rPr lang="fr-CA" sz="1200">
                  <a:latin typeface="Calibri" pitchFamily="34" charset="0"/>
                </a:rPr>
                <a:t>Sinusoïdes</a:t>
              </a:r>
            </a:p>
          </p:txBody>
        </p:sp>
        <p:sp>
          <p:nvSpPr>
            <p:cNvPr id="12" name="Rectangle 67">
              <a:extLst>
                <a:ext uri="{FF2B5EF4-FFF2-40B4-BE49-F238E27FC236}">
                  <a16:creationId xmlns:a16="http://schemas.microsoft.com/office/drawing/2014/main" id="{943C1E1A-3EF2-4171-92B9-A668DF46ADE6}"/>
                </a:ext>
              </a:extLst>
            </p:cNvPr>
            <p:cNvSpPr>
              <a:spLocks noChangeArrowheads="1"/>
            </p:cNvSpPr>
            <p:nvPr/>
          </p:nvSpPr>
          <p:spPr bwMode="auto">
            <a:xfrm>
              <a:off x="7524749" y="2836499"/>
              <a:ext cx="1924050" cy="534129"/>
            </a:xfrm>
            <a:prstGeom prst="rect">
              <a:avLst/>
            </a:prstGeom>
            <a:noFill/>
            <a:ln w="9525">
              <a:noFill/>
              <a:miter lim="800000"/>
              <a:headEnd/>
              <a:tailEnd/>
            </a:ln>
          </p:spPr>
          <p:txBody>
            <a:bodyPr anchor="ctr">
              <a:spAutoFit/>
            </a:bodyPr>
            <a:lstStyle/>
            <a:p>
              <a:pPr>
                <a:lnSpc>
                  <a:spcPct val="80000"/>
                </a:lnSpc>
              </a:pPr>
              <a:r>
                <a:rPr lang="fr-CA" sz="1200" dirty="0">
                  <a:latin typeface="Calibri" pitchFamily="34" charset="0"/>
                </a:rPr>
                <a:t>Artérioles et capillaires</a:t>
              </a:r>
            </a:p>
          </p:txBody>
        </p:sp>
        <p:sp>
          <p:nvSpPr>
            <p:cNvPr id="13" name="Rectangle 68">
              <a:extLst>
                <a:ext uri="{FF2B5EF4-FFF2-40B4-BE49-F238E27FC236}">
                  <a16:creationId xmlns:a16="http://schemas.microsoft.com/office/drawing/2014/main" id="{EC87E41A-08D0-4537-A563-D3BF83868507}"/>
                </a:ext>
              </a:extLst>
            </p:cNvPr>
            <p:cNvSpPr>
              <a:spLocks noChangeArrowheads="1"/>
            </p:cNvSpPr>
            <p:nvPr/>
          </p:nvSpPr>
          <p:spPr bwMode="auto">
            <a:xfrm>
              <a:off x="7524749" y="3408328"/>
              <a:ext cx="1429501" cy="377897"/>
            </a:xfrm>
            <a:prstGeom prst="rect">
              <a:avLst/>
            </a:prstGeom>
            <a:noFill/>
            <a:ln w="9525">
              <a:noFill/>
              <a:miter lim="800000"/>
              <a:headEnd/>
              <a:tailEnd/>
            </a:ln>
          </p:spPr>
          <p:txBody>
            <a:bodyPr wrap="none" anchor="ctr">
              <a:spAutoFit/>
            </a:bodyPr>
            <a:lstStyle/>
            <a:p>
              <a:r>
                <a:rPr lang="fr-CA" sz="1200" dirty="0">
                  <a:latin typeface="Calibri" pitchFamily="34" charset="0"/>
                </a:rPr>
                <a:t>Pulpe rouge</a:t>
              </a:r>
            </a:p>
          </p:txBody>
        </p:sp>
        <p:sp>
          <p:nvSpPr>
            <p:cNvPr id="14" name="Rectangle 69">
              <a:extLst>
                <a:ext uri="{FF2B5EF4-FFF2-40B4-BE49-F238E27FC236}">
                  <a16:creationId xmlns:a16="http://schemas.microsoft.com/office/drawing/2014/main" id="{4D8CE2FE-7701-463E-979C-5DCF745C87F9}"/>
                </a:ext>
              </a:extLst>
            </p:cNvPr>
            <p:cNvSpPr>
              <a:spLocks noChangeArrowheads="1"/>
            </p:cNvSpPr>
            <p:nvPr/>
          </p:nvSpPr>
          <p:spPr bwMode="auto">
            <a:xfrm>
              <a:off x="7524749" y="3694077"/>
              <a:ext cx="1631850" cy="377897"/>
            </a:xfrm>
            <a:prstGeom prst="rect">
              <a:avLst/>
            </a:prstGeom>
            <a:noFill/>
            <a:ln w="9525">
              <a:noFill/>
              <a:miter lim="800000"/>
              <a:headEnd/>
              <a:tailEnd/>
            </a:ln>
          </p:spPr>
          <p:txBody>
            <a:bodyPr wrap="none" anchor="ctr">
              <a:spAutoFit/>
            </a:bodyPr>
            <a:lstStyle/>
            <a:p>
              <a:r>
                <a:rPr lang="fr-CA" sz="1200">
                  <a:latin typeface="Calibri" pitchFamily="34" charset="0"/>
                </a:rPr>
                <a:t>Pulpe blanche</a:t>
              </a:r>
            </a:p>
          </p:txBody>
        </p:sp>
        <p:sp>
          <p:nvSpPr>
            <p:cNvPr id="15" name="Rectangle 71">
              <a:extLst>
                <a:ext uri="{FF2B5EF4-FFF2-40B4-BE49-F238E27FC236}">
                  <a16:creationId xmlns:a16="http://schemas.microsoft.com/office/drawing/2014/main" id="{2C29576A-13F0-4B01-BA7B-7924F1CA6929}"/>
                </a:ext>
              </a:extLst>
            </p:cNvPr>
            <p:cNvSpPr>
              <a:spLocks noChangeArrowheads="1"/>
            </p:cNvSpPr>
            <p:nvPr/>
          </p:nvSpPr>
          <p:spPr bwMode="auto">
            <a:xfrm>
              <a:off x="7527925" y="4333840"/>
              <a:ext cx="1874292" cy="377897"/>
            </a:xfrm>
            <a:prstGeom prst="rect">
              <a:avLst/>
            </a:prstGeom>
            <a:noFill/>
            <a:ln w="9525">
              <a:noFill/>
              <a:miter lim="800000"/>
              <a:headEnd/>
              <a:tailEnd/>
            </a:ln>
          </p:spPr>
          <p:txBody>
            <a:bodyPr wrap="none" anchor="ctr">
              <a:spAutoFit/>
            </a:bodyPr>
            <a:lstStyle/>
            <a:p>
              <a:r>
                <a:rPr lang="fr-CA" sz="1200">
                  <a:latin typeface="Calibri" pitchFamily="34" charset="0"/>
                </a:rPr>
                <a:t>Artère splénique</a:t>
              </a:r>
            </a:p>
          </p:txBody>
        </p:sp>
        <p:sp>
          <p:nvSpPr>
            <p:cNvPr id="16" name="Rectangle 72">
              <a:extLst>
                <a:ext uri="{FF2B5EF4-FFF2-40B4-BE49-F238E27FC236}">
                  <a16:creationId xmlns:a16="http://schemas.microsoft.com/office/drawing/2014/main" id="{011D81B8-03AB-400E-9322-43293E0BD93F}"/>
                </a:ext>
              </a:extLst>
            </p:cNvPr>
            <p:cNvSpPr>
              <a:spLocks noChangeArrowheads="1"/>
            </p:cNvSpPr>
            <p:nvPr/>
          </p:nvSpPr>
          <p:spPr bwMode="auto">
            <a:xfrm>
              <a:off x="7545388" y="4608478"/>
              <a:ext cx="1799406" cy="377897"/>
            </a:xfrm>
            <a:prstGeom prst="rect">
              <a:avLst/>
            </a:prstGeom>
            <a:noFill/>
            <a:ln w="9525">
              <a:noFill/>
              <a:miter lim="800000"/>
              <a:headEnd/>
              <a:tailEnd/>
            </a:ln>
          </p:spPr>
          <p:txBody>
            <a:bodyPr wrap="none" anchor="ctr">
              <a:spAutoFit/>
            </a:bodyPr>
            <a:lstStyle/>
            <a:p>
              <a:r>
                <a:rPr lang="fr-CA" sz="1200">
                  <a:latin typeface="Calibri" pitchFamily="34" charset="0"/>
                </a:rPr>
                <a:t>Veine splénique</a:t>
              </a:r>
            </a:p>
          </p:txBody>
        </p:sp>
        <p:sp>
          <p:nvSpPr>
            <p:cNvPr id="17" name="Freeform 93">
              <a:extLst>
                <a:ext uri="{FF2B5EF4-FFF2-40B4-BE49-F238E27FC236}">
                  <a16:creationId xmlns:a16="http://schemas.microsoft.com/office/drawing/2014/main" id="{1E41F850-9383-4105-998C-29410C07E39D}"/>
                </a:ext>
              </a:extLst>
            </p:cNvPr>
            <p:cNvSpPr>
              <a:spLocks/>
            </p:cNvSpPr>
            <p:nvPr/>
          </p:nvSpPr>
          <p:spPr bwMode="auto">
            <a:xfrm>
              <a:off x="1222375" y="3441700"/>
              <a:ext cx="527050" cy="3175"/>
            </a:xfrm>
            <a:custGeom>
              <a:avLst/>
              <a:gdLst>
                <a:gd name="T0" fmla="*/ 0 w 332"/>
                <a:gd name="T1" fmla="*/ 2147483647 h 2"/>
                <a:gd name="T2" fmla="*/ 2147483647 w 332"/>
                <a:gd name="T3" fmla="*/ 0 h 2"/>
                <a:gd name="T4" fmla="*/ 0 60000 65536"/>
                <a:gd name="T5" fmla="*/ 0 60000 65536"/>
                <a:gd name="T6" fmla="*/ 0 w 332"/>
                <a:gd name="T7" fmla="*/ 0 h 2"/>
                <a:gd name="T8" fmla="*/ 332 w 332"/>
                <a:gd name="T9" fmla="*/ 2 h 2"/>
              </a:gdLst>
              <a:ahLst/>
              <a:cxnLst>
                <a:cxn ang="T4">
                  <a:pos x="T0" y="T1"/>
                </a:cxn>
                <a:cxn ang="T5">
                  <a:pos x="T2" y="T3"/>
                </a:cxn>
              </a:cxnLst>
              <a:rect l="T6" t="T7" r="T8" b="T9"/>
              <a:pathLst>
                <a:path w="332" h="2">
                  <a:moveTo>
                    <a:pt x="0" y="2"/>
                  </a:moveTo>
                  <a:lnTo>
                    <a:pt x="332" y="0"/>
                  </a:lnTo>
                </a:path>
              </a:pathLst>
            </a:custGeom>
            <a:noFill/>
            <a:ln w="12700">
              <a:solidFill>
                <a:schemeClr val="tx1"/>
              </a:solidFill>
              <a:round/>
              <a:headEnd/>
              <a:tailEnd/>
            </a:ln>
          </p:spPr>
          <p:txBody>
            <a:bodyPr wrap="none" anchor="ctr"/>
            <a:lstStyle/>
            <a:p>
              <a:endParaRPr lang="fr-CA"/>
            </a:p>
          </p:txBody>
        </p:sp>
        <p:sp>
          <p:nvSpPr>
            <p:cNvPr id="18" name="Freeform 94">
              <a:extLst>
                <a:ext uri="{FF2B5EF4-FFF2-40B4-BE49-F238E27FC236}">
                  <a16:creationId xmlns:a16="http://schemas.microsoft.com/office/drawing/2014/main" id="{D3167B29-AA71-4F8C-A81A-F880E8E7F7FC}"/>
                </a:ext>
              </a:extLst>
            </p:cNvPr>
            <p:cNvSpPr>
              <a:spLocks/>
            </p:cNvSpPr>
            <p:nvPr/>
          </p:nvSpPr>
          <p:spPr bwMode="auto">
            <a:xfrm>
              <a:off x="1120775" y="3652838"/>
              <a:ext cx="611188" cy="155575"/>
            </a:xfrm>
            <a:custGeom>
              <a:avLst/>
              <a:gdLst>
                <a:gd name="T0" fmla="*/ 0 w 385"/>
                <a:gd name="T1" fmla="*/ 2147483647 h 98"/>
                <a:gd name="T2" fmla="*/ 2147483647 w 385"/>
                <a:gd name="T3" fmla="*/ 2147483647 h 98"/>
                <a:gd name="T4" fmla="*/ 2147483647 w 385"/>
                <a:gd name="T5" fmla="*/ 0 h 98"/>
                <a:gd name="T6" fmla="*/ 0 60000 65536"/>
                <a:gd name="T7" fmla="*/ 0 60000 65536"/>
                <a:gd name="T8" fmla="*/ 0 60000 65536"/>
                <a:gd name="T9" fmla="*/ 0 w 385"/>
                <a:gd name="T10" fmla="*/ 0 h 98"/>
                <a:gd name="T11" fmla="*/ 385 w 385"/>
                <a:gd name="T12" fmla="*/ 98 h 98"/>
              </a:gdLst>
              <a:ahLst/>
              <a:cxnLst>
                <a:cxn ang="T6">
                  <a:pos x="T0" y="T1"/>
                </a:cxn>
                <a:cxn ang="T7">
                  <a:pos x="T2" y="T3"/>
                </a:cxn>
                <a:cxn ang="T8">
                  <a:pos x="T4" y="T5"/>
                </a:cxn>
              </a:cxnLst>
              <a:rect l="T9" t="T10" r="T11" b="T12"/>
              <a:pathLst>
                <a:path w="385" h="98">
                  <a:moveTo>
                    <a:pt x="0" y="98"/>
                  </a:moveTo>
                  <a:lnTo>
                    <a:pt x="115" y="95"/>
                  </a:lnTo>
                  <a:lnTo>
                    <a:pt x="385" y="0"/>
                  </a:lnTo>
                </a:path>
              </a:pathLst>
            </a:custGeom>
            <a:noFill/>
            <a:ln w="12700" cap="flat" cmpd="sng">
              <a:solidFill>
                <a:schemeClr val="tx1"/>
              </a:solidFill>
              <a:prstDash val="solid"/>
              <a:round/>
              <a:headEnd/>
              <a:tailEnd/>
            </a:ln>
          </p:spPr>
          <p:txBody>
            <a:bodyPr wrap="none" anchor="ctr"/>
            <a:lstStyle/>
            <a:p>
              <a:endParaRPr lang="fr-CA"/>
            </a:p>
          </p:txBody>
        </p:sp>
        <p:sp>
          <p:nvSpPr>
            <p:cNvPr id="19" name="Freeform 99">
              <a:extLst>
                <a:ext uri="{FF2B5EF4-FFF2-40B4-BE49-F238E27FC236}">
                  <a16:creationId xmlns:a16="http://schemas.microsoft.com/office/drawing/2014/main" id="{4D2854FF-8535-4A51-BB01-7E57367AD2C2}"/>
                </a:ext>
              </a:extLst>
            </p:cNvPr>
            <p:cNvSpPr>
              <a:spLocks/>
            </p:cNvSpPr>
            <p:nvPr/>
          </p:nvSpPr>
          <p:spPr bwMode="auto">
            <a:xfrm>
              <a:off x="5948363" y="1835150"/>
              <a:ext cx="1647825" cy="396875"/>
            </a:xfrm>
            <a:custGeom>
              <a:avLst/>
              <a:gdLst>
                <a:gd name="T0" fmla="*/ 0 w 1038"/>
                <a:gd name="T1" fmla="*/ 2147483647 h 250"/>
                <a:gd name="T2" fmla="*/ 2147483647 w 1038"/>
                <a:gd name="T3" fmla="*/ 0 h 250"/>
                <a:gd name="T4" fmla="*/ 2147483647 w 1038"/>
                <a:gd name="T5" fmla="*/ 0 h 250"/>
                <a:gd name="T6" fmla="*/ 0 60000 65536"/>
                <a:gd name="T7" fmla="*/ 0 60000 65536"/>
                <a:gd name="T8" fmla="*/ 0 60000 65536"/>
                <a:gd name="T9" fmla="*/ 0 w 1038"/>
                <a:gd name="T10" fmla="*/ 0 h 250"/>
                <a:gd name="T11" fmla="*/ 1038 w 1038"/>
                <a:gd name="T12" fmla="*/ 250 h 250"/>
              </a:gdLst>
              <a:ahLst/>
              <a:cxnLst>
                <a:cxn ang="T6">
                  <a:pos x="T0" y="T1"/>
                </a:cxn>
                <a:cxn ang="T7">
                  <a:pos x="T2" y="T3"/>
                </a:cxn>
                <a:cxn ang="T8">
                  <a:pos x="T4" y="T5"/>
                </a:cxn>
              </a:cxnLst>
              <a:rect l="T9" t="T10" r="T11" b="T12"/>
              <a:pathLst>
                <a:path w="1038" h="250">
                  <a:moveTo>
                    <a:pt x="0" y="250"/>
                  </a:moveTo>
                  <a:lnTo>
                    <a:pt x="958" y="0"/>
                  </a:lnTo>
                  <a:lnTo>
                    <a:pt x="1038" y="0"/>
                  </a:lnTo>
                </a:path>
              </a:pathLst>
            </a:custGeom>
            <a:noFill/>
            <a:ln w="12700" cap="flat" cmpd="sng">
              <a:solidFill>
                <a:schemeClr val="tx1"/>
              </a:solidFill>
              <a:prstDash val="solid"/>
              <a:round/>
              <a:headEnd/>
              <a:tailEnd/>
            </a:ln>
          </p:spPr>
          <p:txBody>
            <a:bodyPr wrap="none" anchor="ctr"/>
            <a:lstStyle/>
            <a:p>
              <a:endParaRPr lang="fr-CA"/>
            </a:p>
          </p:txBody>
        </p:sp>
        <p:sp>
          <p:nvSpPr>
            <p:cNvPr id="20" name="Freeform 101">
              <a:extLst>
                <a:ext uri="{FF2B5EF4-FFF2-40B4-BE49-F238E27FC236}">
                  <a16:creationId xmlns:a16="http://schemas.microsoft.com/office/drawing/2014/main" id="{745FD951-1236-4D94-B104-8D15F99C36C9}"/>
                </a:ext>
              </a:extLst>
            </p:cNvPr>
            <p:cNvSpPr>
              <a:spLocks/>
            </p:cNvSpPr>
            <p:nvPr/>
          </p:nvSpPr>
          <p:spPr bwMode="auto">
            <a:xfrm>
              <a:off x="5327650" y="2732088"/>
              <a:ext cx="444500" cy="339725"/>
            </a:xfrm>
            <a:custGeom>
              <a:avLst/>
              <a:gdLst>
                <a:gd name="T0" fmla="*/ 0 w 280"/>
                <a:gd name="T1" fmla="*/ 2147483647 h 214"/>
                <a:gd name="T2" fmla="*/ 2147483647 w 280"/>
                <a:gd name="T3" fmla="*/ 2147483647 h 214"/>
                <a:gd name="T4" fmla="*/ 2147483647 w 280"/>
                <a:gd name="T5" fmla="*/ 0 h 214"/>
                <a:gd name="T6" fmla="*/ 0 60000 65536"/>
                <a:gd name="T7" fmla="*/ 0 60000 65536"/>
                <a:gd name="T8" fmla="*/ 0 60000 65536"/>
                <a:gd name="T9" fmla="*/ 0 w 280"/>
                <a:gd name="T10" fmla="*/ 0 h 214"/>
                <a:gd name="T11" fmla="*/ 280 w 280"/>
                <a:gd name="T12" fmla="*/ 214 h 214"/>
              </a:gdLst>
              <a:ahLst/>
              <a:cxnLst>
                <a:cxn ang="T6">
                  <a:pos x="T0" y="T1"/>
                </a:cxn>
                <a:cxn ang="T7">
                  <a:pos x="T2" y="T3"/>
                </a:cxn>
                <a:cxn ang="T8">
                  <a:pos x="T4" y="T5"/>
                </a:cxn>
              </a:cxnLst>
              <a:rect l="T9" t="T10" r="T11" b="T12"/>
              <a:pathLst>
                <a:path w="280" h="214">
                  <a:moveTo>
                    <a:pt x="0" y="214"/>
                  </a:moveTo>
                  <a:lnTo>
                    <a:pt x="280" y="34"/>
                  </a:lnTo>
                  <a:lnTo>
                    <a:pt x="40" y="0"/>
                  </a:lnTo>
                </a:path>
              </a:pathLst>
            </a:custGeom>
            <a:noFill/>
            <a:ln w="12700" cap="flat" cmpd="sng">
              <a:solidFill>
                <a:schemeClr val="tx1"/>
              </a:solidFill>
              <a:prstDash val="solid"/>
              <a:round/>
              <a:headEnd/>
              <a:tailEnd/>
            </a:ln>
          </p:spPr>
          <p:txBody>
            <a:bodyPr wrap="none" anchor="ctr"/>
            <a:lstStyle/>
            <a:p>
              <a:endParaRPr lang="fr-CA"/>
            </a:p>
          </p:txBody>
        </p:sp>
        <p:sp>
          <p:nvSpPr>
            <p:cNvPr id="21" name="Freeform 105">
              <a:extLst>
                <a:ext uri="{FF2B5EF4-FFF2-40B4-BE49-F238E27FC236}">
                  <a16:creationId xmlns:a16="http://schemas.microsoft.com/office/drawing/2014/main" id="{D60AEDE1-4283-4EAE-8543-40F1B78D9B50}"/>
                </a:ext>
              </a:extLst>
            </p:cNvPr>
            <p:cNvSpPr>
              <a:spLocks/>
            </p:cNvSpPr>
            <p:nvPr/>
          </p:nvSpPr>
          <p:spPr bwMode="auto">
            <a:xfrm>
              <a:off x="6489700" y="2614613"/>
              <a:ext cx="1074738" cy="50800"/>
            </a:xfrm>
            <a:custGeom>
              <a:avLst/>
              <a:gdLst>
                <a:gd name="T0" fmla="*/ 0 w 677"/>
                <a:gd name="T1" fmla="*/ 2147483647 h 32"/>
                <a:gd name="T2" fmla="*/ 2147483647 w 677"/>
                <a:gd name="T3" fmla="*/ 0 h 32"/>
                <a:gd name="T4" fmla="*/ 2147483647 w 677"/>
                <a:gd name="T5" fmla="*/ 0 h 32"/>
                <a:gd name="T6" fmla="*/ 0 60000 65536"/>
                <a:gd name="T7" fmla="*/ 0 60000 65536"/>
                <a:gd name="T8" fmla="*/ 0 60000 65536"/>
                <a:gd name="T9" fmla="*/ 0 w 677"/>
                <a:gd name="T10" fmla="*/ 0 h 32"/>
                <a:gd name="T11" fmla="*/ 677 w 677"/>
                <a:gd name="T12" fmla="*/ 32 h 32"/>
              </a:gdLst>
              <a:ahLst/>
              <a:cxnLst>
                <a:cxn ang="T6">
                  <a:pos x="T0" y="T1"/>
                </a:cxn>
                <a:cxn ang="T7">
                  <a:pos x="T2" y="T3"/>
                </a:cxn>
                <a:cxn ang="T8">
                  <a:pos x="T4" y="T5"/>
                </a:cxn>
              </a:cxnLst>
              <a:rect l="T9" t="T10" r="T11" b="T12"/>
              <a:pathLst>
                <a:path w="677" h="32">
                  <a:moveTo>
                    <a:pt x="0" y="32"/>
                  </a:moveTo>
                  <a:lnTo>
                    <a:pt x="594" y="0"/>
                  </a:lnTo>
                  <a:lnTo>
                    <a:pt x="677" y="0"/>
                  </a:lnTo>
                </a:path>
              </a:pathLst>
            </a:custGeom>
            <a:noFill/>
            <a:ln w="12700">
              <a:solidFill>
                <a:schemeClr val="tx1"/>
              </a:solidFill>
              <a:round/>
              <a:headEnd/>
              <a:tailEnd/>
            </a:ln>
          </p:spPr>
          <p:txBody>
            <a:bodyPr wrap="none" anchor="ctr"/>
            <a:lstStyle/>
            <a:p>
              <a:endParaRPr lang="fr-CA"/>
            </a:p>
          </p:txBody>
        </p:sp>
        <p:sp>
          <p:nvSpPr>
            <p:cNvPr id="22" name="Freeform 106">
              <a:extLst>
                <a:ext uri="{FF2B5EF4-FFF2-40B4-BE49-F238E27FC236}">
                  <a16:creationId xmlns:a16="http://schemas.microsoft.com/office/drawing/2014/main" id="{B9A4A2B4-CE5D-4E3F-A625-BDCEA6D36E5D}"/>
                </a:ext>
              </a:extLst>
            </p:cNvPr>
            <p:cNvSpPr>
              <a:spLocks/>
            </p:cNvSpPr>
            <p:nvPr/>
          </p:nvSpPr>
          <p:spPr bwMode="auto">
            <a:xfrm>
              <a:off x="6405563" y="2665413"/>
              <a:ext cx="274637" cy="180975"/>
            </a:xfrm>
            <a:custGeom>
              <a:avLst/>
              <a:gdLst>
                <a:gd name="T0" fmla="*/ 2147483647 w 173"/>
                <a:gd name="T1" fmla="*/ 0 h 114"/>
                <a:gd name="T2" fmla="*/ 0 w 173"/>
                <a:gd name="T3" fmla="*/ 2147483647 h 114"/>
                <a:gd name="T4" fmla="*/ 0 60000 65536"/>
                <a:gd name="T5" fmla="*/ 0 60000 65536"/>
                <a:gd name="T6" fmla="*/ 0 w 173"/>
                <a:gd name="T7" fmla="*/ 0 h 114"/>
                <a:gd name="T8" fmla="*/ 173 w 173"/>
                <a:gd name="T9" fmla="*/ 114 h 114"/>
              </a:gdLst>
              <a:ahLst/>
              <a:cxnLst>
                <a:cxn ang="T4">
                  <a:pos x="T0" y="T1"/>
                </a:cxn>
                <a:cxn ang="T5">
                  <a:pos x="T2" y="T3"/>
                </a:cxn>
              </a:cxnLst>
              <a:rect l="T6" t="T7" r="T8" b="T9"/>
              <a:pathLst>
                <a:path w="173" h="114">
                  <a:moveTo>
                    <a:pt x="173" y="0"/>
                  </a:moveTo>
                  <a:lnTo>
                    <a:pt x="0" y="114"/>
                  </a:lnTo>
                </a:path>
              </a:pathLst>
            </a:custGeom>
            <a:noFill/>
            <a:ln w="12700">
              <a:solidFill>
                <a:srgbClr val="FF0000"/>
              </a:solidFill>
              <a:round/>
              <a:headEnd/>
              <a:tailEnd/>
            </a:ln>
          </p:spPr>
          <p:txBody>
            <a:bodyPr wrap="none" anchor="ctr"/>
            <a:lstStyle/>
            <a:p>
              <a:endParaRPr lang="fr-CA"/>
            </a:p>
          </p:txBody>
        </p:sp>
        <p:sp>
          <p:nvSpPr>
            <p:cNvPr id="23" name="Freeform 107">
              <a:extLst>
                <a:ext uri="{FF2B5EF4-FFF2-40B4-BE49-F238E27FC236}">
                  <a16:creationId xmlns:a16="http://schemas.microsoft.com/office/drawing/2014/main" id="{C036FB4E-20BF-402F-A94B-8B9768B2B407}"/>
                </a:ext>
              </a:extLst>
            </p:cNvPr>
            <p:cNvSpPr>
              <a:spLocks/>
            </p:cNvSpPr>
            <p:nvPr/>
          </p:nvSpPr>
          <p:spPr bwMode="auto">
            <a:xfrm>
              <a:off x="6062663" y="2981325"/>
              <a:ext cx="1524000" cy="171450"/>
            </a:xfrm>
            <a:custGeom>
              <a:avLst/>
              <a:gdLst>
                <a:gd name="T0" fmla="*/ 0 w 960"/>
                <a:gd name="T1" fmla="*/ 2147483647 h 108"/>
                <a:gd name="T2" fmla="*/ 2147483647 w 960"/>
                <a:gd name="T3" fmla="*/ 0 h 108"/>
                <a:gd name="T4" fmla="*/ 2147483647 w 960"/>
                <a:gd name="T5" fmla="*/ 0 h 108"/>
                <a:gd name="T6" fmla="*/ 0 60000 65536"/>
                <a:gd name="T7" fmla="*/ 0 60000 65536"/>
                <a:gd name="T8" fmla="*/ 0 60000 65536"/>
                <a:gd name="T9" fmla="*/ 0 w 960"/>
                <a:gd name="T10" fmla="*/ 0 h 108"/>
                <a:gd name="T11" fmla="*/ 960 w 960"/>
                <a:gd name="T12" fmla="*/ 108 h 108"/>
              </a:gdLst>
              <a:ahLst/>
              <a:cxnLst>
                <a:cxn ang="T6">
                  <a:pos x="T0" y="T1"/>
                </a:cxn>
                <a:cxn ang="T7">
                  <a:pos x="T2" y="T3"/>
                </a:cxn>
                <a:cxn ang="T8">
                  <a:pos x="T4" y="T5"/>
                </a:cxn>
              </a:cxnLst>
              <a:rect l="T9" t="T10" r="T11" b="T12"/>
              <a:pathLst>
                <a:path w="960" h="108">
                  <a:moveTo>
                    <a:pt x="0" y="108"/>
                  </a:moveTo>
                  <a:lnTo>
                    <a:pt x="904" y="0"/>
                  </a:lnTo>
                  <a:lnTo>
                    <a:pt x="960" y="0"/>
                  </a:lnTo>
                </a:path>
              </a:pathLst>
            </a:custGeom>
            <a:noFill/>
            <a:ln w="12700" cap="flat" cmpd="sng">
              <a:solidFill>
                <a:schemeClr val="tx1"/>
              </a:solidFill>
              <a:prstDash val="solid"/>
              <a:round/>
              <a:headEnd/>
              <a:tailEnd/>
            </a:ln>
          </p:spPr>
          <p:txBody>
            <a:bodyPr wrap="none" anchor="ctr"/>
            <a:lstStyle/>
            <a:p>
              <a:endParaRPr lang="fr-CA"/>
            </a:p>
          </p:txBody>
        </p:sp>
        <p:sp>
          <p:nvSpPr>
            <p:cNvPr id="24" name="Line 108">
              <a:extLst>
                <a:ext uri="{FF2B5EF4-FFF2-40B4-BE49-F238E27FC236}">
                  <a16:creationId xmlns:a16="http://schemas.microsoft.com/office/drawing/2014/main" id="{C1190AEE-2FCC-4E05-A565-070BE5026431}"/>
                </a:ext>
              </a:extLst>
            </p:cNvPr>
            <p:cNvSpPr>
              <a:spLocks noChangeShapeType="1"/>
            </p:cNvSpPr>
            <p:nvPr/>
          </p:nvSpPr>
          <p:spPr bwMode="auto">
            <a:xfrm flipH="1">
              <a:off x="6154738" y="3109913"/>
              <a:ext cx="298450" cy="171450"/>
            </a:xfrm>
            <a:prstGeom prst="line">
              <a:avLst/>
            </a:prstGeom>
            <a:noFill/>
            <a:ln w="12700">
              <a:solidFill>
                <a:srgbClr val="FF0000"/>
              </a:solidFill>
              <a:round/>
              <a:headEnd/>
              <a:tailEnd/>
            </a:ln>
          </p:spPr>
          <p:txBody>
            <a:bodyPr wrap="none" anchor="ctr"/>
            <a:lstStyle/>
            <a:p>
              <a:endParaRPr lang="fr-CA"/>
            </a:p>
          </p:txBody>
        </p:sp>
        <p:sp>
          <p:nvSpPr>
            <p:cNvPr id="25" name="Freeform 109">
              <a:extLst>
                <a:ext uri="{FF2B5EF4-FFF2-40B4-BE49-F238E27FC236}">
                  <a16:creationId xmlns:a16="http://schemas.microsoft.com/office/drawing/2014/main" id="{A32A3E92-FAE8-4F74-A03D-711E75758932}"/>
                </a:ext>
              </a:extLst>
            </p:cNvPr>
            <p:cNvSpPr>
              <a:spLocks/>
            </p:cNvSpPr>
            <p:nvPr/>
          </p:nvSpPr>
          <p:spPr bwMode="auto">
            <a:xfrm>
              <a:off x="6351588" y="3590925"/>
              <a:ext cx="1231900" cy="158750"/>
            </a:xfrm>
            <a:custGeom>
              <a:avLst/>
              <a:gdLst>
                <a:gd name="T0" fmla="*/ 0 w 776"/>
                <a:gd name="T1" fmla="*/ 2147483647 h 100"/>
                <a:gd name="T2" fmla="*/ 2147483647 w 776"/>
                <a:gd name="T3" fmla="*/ 0 h 100"/>
                <a:gd name="T4" fmla="*/ 2147483647 w 776"/>
                <a:gd name="T5" fmla="*/ 0 h 100"/>
                <a:gd name="T6" fmla="*/ 0 60000 65536"/>
                <a:gd name="T7" fmla="*/ 0 60000 65536"/>
                <a:gd name="T8" fmla="*/ 0 60000 65536"/>
                <a:gd name="T9" fmla="*/ 0 w 776"/>
                <a:gd name="T10" fmla="*/ 0 h 100"/>
                <a:gd name="T11" fmla="*/ 776 w 776"/>
                <a:gd name="T12" fmla="*/ 100 h 100"/>
              </a:gdLst>
              <a:ahLst/>
              <a:cxnLst>
                <a:cxn ang="T6">
                  <a:pos x="T0" y="T1"/>
                </a:cxn>
                <a:cxn ang="T7">
                  <a:pos x="T2" y="T3"/>
                </a:cxn>
                <a:cxn ang="T8">
                  <a:pos x="T4" y="T5"/>
                </a:cxn>
              </a:cxnLst>
              <a:rect l="T9" t="T10" r="T11" b="T12"/>
              <a:pathLst>
                <a:path w="776" h="100">
                  <a:moveTo>
                    <a:pt x="0" y="100"/>
                  </a:moveTo>
                  <a:lnTo>
                    <a:pt x="698" y="0"/>
                  </a:lnTo>
                  <a:lnTo>
                    <a:pt x="776" y="0"/>
                  </a:lnTo>
                </a:path>
              </a:pathLst>
            </a:custGeom>
            <a:noFill/>
            <a:ln w="12700" cap="flat" cmpd="sng">
              <a:solidFill>
                <a:schemeClr val="tx1"/>
              </a:solidFill>
              <a:prstDash val="solid"/>
              <a:round/>
              <a:headEnd/>
              <a:tailEnd/>
            </a:ln>
          </p:spPr>
          <p:txBody>
            <a:bodyPr wrap="none" anchor="ctr"/>
            <a:lstStyle/>
            <a:p>
              <a:endParaRPr lang="fr-CA"/>
            </a:p>
          </p:txBody>
        </p:sp>
        <p:sp>
          <p:nvSpPr>
            <p:cNvPr id="26" name="Freeform 110">
              <a:extLst>
                <a:ext uri="{FF2B5EF4-FFF2-40B4-BE49-F238E27FC236}">
                  <a16:creationId xmlns:a16="http://schemas.microsoft.com/office/drawing/2014/main" id="{19B1B9F8-601A-4F4C-A835-5FECFA166C5B}"/>
                </a:ext>
              </a:extLst>
            </p:cNvPr>
            <p:cNvSpPr>
              <a:spLocks/>
            </p:cNvSpPr>
            <p:nvPr/>
          </p:nvSpPr>
          <p:spPr bwMode="auto">
            <a:xfrm>
              <a:off x="5957888" y="3806825"/>
              <a:ext cx="1635125" cy="82550"/>
            </a:xfrm>
            <a:custGeom>
              <a:avLst/>
              <a:gdLst>
                <a:gd name="T0" fmla="*/ 0 w 1030"/>
                <a:gd name="T1" fmla="*/ 0 h 52"/>
                <a:gd name="T2" fmla="*/ 2147483647 w 1030"/>
                <a:gd name="T3" fmla="*/ 2147483647 h 52"/>
                <a:gd name="T4" fmla="*/ 2147483647 w 1030"/>
                <a:gd name="T5" fmla="*/ 2147483647 h 52"/>
                <a:gd name="T6" fmla="*/ 0 60000 65536"/>
                <a:gd name="T7" fmla="*/ 0 60000 65536"/>
                <a:gd name="T8" fmla="*/ 0 60000 65536"/>
                <a:gd name="T9" fmla="*/ 0 w 1030"/>
                <a:gd name="T10" fmla="*/ 0 h 52"/>
                <a:gd name="T11" fmla="*/ 1030 w 1030"/>
                <a:gd name="T12" fmla="*/ 52 h 52"/>
              </a:gdLst>
              <a:ahLst/>
              <a:cxnLst>
                <a:cxn ang="T6">
                  <a:pos x="T0" y="T1"/>
                </a:cxn>
                <a:cxn ang="T7">
                  <a:pos x="T2" y="T3"/>
                </a:cxn>
                <a:cxn ang="T8">
                  <a:pos x="T4" y="T5"/>
                </a:cxn>
              </a:cxnLst>
              <a:rect l="T9" t="T10" r="T11" b="T12"/>
              <a:pathLst>
                <a:path w="1030" h="52">
                  <a:moveTo>
                    <a:pt x="0" y="0"/>
                  </a:moveTo>
                  <a:lnTo>
                    <a:pt x="948" y="52"/>
                  </a:lnTo>
                  <a:lnTo>
                    <a:pt x="1030" y="52"/>
                  </a:lnTo>
                </a:path>
              </a:pathLst>
            </a:custGeom>
            <a:noFill/>
            <a:ln w="12700" cap="flat" cmpd="sng">
              <a:solidFill>
                <a:schemeClr val="tx1"/>
              </a:solidFill>
              <a:prstDash val="solid"/>
              <a:round/>
              <a:headEnd/>
              <a:tailEnd/>
            </a:ln>
          </p:spPr>
          <p:txBody>
            <a:bodyPr wrap="none" anchor="ctr"/>
            <a:lstStyle/>
            <a:p>
              <a:endParaRPr lang="fr-CA"/>
            </a:p>
          </p:txBody>
        </p:sp>
        <p:sp>
          <p:nvSpPr>
            <p:cNvPr id="27" name="Line 114">
              <a:extLst>
                <a:ext uri="{FF2B5EF4-FFF2-40B4-BE49-F238E27FC236}">
                  <a16:creationId xmlns:a16="http://schemas.microsoft.com/office/drawing/2014/main" id="{8A9CF137-4FE2-4DBC-819A-B0513D22BD63}"/>
                </a:ext>
              </a:extLst>
            </p:cNvPr>
            <p:cNvSpPr>
              <a:spLocks noChangeShapeType="1"/>
            </p:cNvSpPr>
            <p:nvPr/>
          </p:nvSpPr>
          <p:spPr bwMode="auto">
            <a:xfrm flipV="1">
              <a:off x="4833938" y="4795838"/>
              <a:ext cx="2765425" cy="57150"/>
            </a:xfrm>
            <a:prstGeom prst="line">
              <a:avLst/>
            </a:prstGeom>
            <a:noFill/>
            <a:ln w="12700">
              <a:solidFill>
                <a:schemeClr val="tx1"/>
              </a:solidFill>
              <a:round/>
              <a:headEnd/>
              <a:tailEnd/>
            </a:ln>
          </p:spPr>
          <p:txBody>
            <a:bodyPr wrap="none" anchor="ctr"/>
            <a:lstStyle/>
            <a:p>
              <a:endParaRPr lang="fr-CA"/>
            </a:p>
          </p:txBody>
        </p:sp>
        <p:sp>
          <p:nvSpPr>
            <p:cNvPr id="28" name="Freeform 115">
              <a:extLst>
                <a:ext uri="{FF2B5EF4-FFF2-40B4-BE49-F238E27FC236}">
                  <a16:creationId xmlns:a16="http://schemas.microsoft.com/office/drawing/2014/main" id="{A23004D0-FFEF-4C62-A3AD-24B352BCB674}"/>
                </a:ext>
              </a:extLst>
            </p:cNvPr>
            <p:cNvSpPr>
              <a:spLocks/>
            </p:cNvSpPr>
            <p:nvPr/>
          </p:nvSpPr>
          <p:spPr bwMode="auto">
            <a:xfrm>
              <a:off x="4637088" y="4519613"/>
              <a:ext cx="2959100" cy="269875"/>
            </a:xfrm>
            <a:custGeom>
              <a:avLst/>
              <a:gdLst>
                <a:gd name="T0" fmla="*/ 0 w 1864"/>
                <a:gd name="T1" fmla="*/ 2147483647 h 170"/>
                <a:gd name="T2" fmla="*/ 2147483647 w 1864"/>
                <a:gd name="T3" fmla="*/ 0 h 170"/>
                <a:gd name="T4" fmla="*/ 2147483647 w 1864"/>
                <a:gd name="T5" fmla="*/ 0 h 170"/>
                <a:gd name="T6" fmla="*/ 0 60000 65536"/>
                <a:gd name="T7" fmla="*/ 0 60000 65536"/>
                <a:gd name="T8" fmla="*/ 0 60000 65536"/>
                <a:gd name="T9" fmla="*/ 0 w 1864"/>
                <a:gd name="T10" fmla="*/ 0 h 170"/>
                <a:gd name="T11" fmla="*/ 1864 w 1864"/>
                <a:gd name="T12" fmla="*/ 170 h 170"/>
              </a:gdLst>
              <a:ahLst/>
              <a:cxnLst>
                <a:cxn ang="T6">
                  <a:pos x="T0" y="T1"/>
                </a:cxn>
                <a:cxn ang="T7">
                  <a:pos x="T2" y="T3"/>
                </a:cxn>
                <a:cxn ang="T8">
                  <a:pos x="T4" y="T5"/>
                </a:cxn>
              </a:cxnLst>
              <a:rect l="T9" t="T10" r="T11" b="T12"/>
              <a:pathLst>
                <a:path w="1864" h="170">
                  <a:moveTo>
                    <a:pt x="0" y="170"/>
                  </a:moveTo>
                  <a:lnTo>
                    <a:pt x="1776" y="0"/>
                  </a:lnTo>
                  <a:lnTo>
                    <a:pt x="1864" y="0"/>
                  </a:lnTo>
                </a:path>
              </a:pathLst>
            </a:custGeom>
            <a:noFill/>
            <a:ln w="12700" cap="flat" cmpd="sng">
              <a:solidFill>
                <a:schemeClr val="tx1"/>
              </a:solidFill>
              <a:prstDash val="solid"/>
              <a:round/>
              <a:headEnd/>
              <a:tailEnd/>
            </a:ln>
          </p:spPr>
          <p:txBody>
            <a:bodyPr wrap="none" anchor="ctr"/>
            <a:lstStyle/>
            <a:p>
              <a:endParaRPr lang="fr-CA"/>
            </a:p>
          </p:txBody>
        </p:sp>
        <p:sp>
          <p:nvSpPr>
            <p:cNvPr id="29" name="Rectangle 28">
              <a:extLst>
                <a:ext uri="{FF2B5EF4-FFF2-40B4-BE49-F238E27FC236}">
                  <a16:creationId xmlns:a16="http://schemas.microsoft.com/office/drawing/2014/main" id="{C69FFE03-A4E1-414F-AC9F-0784F7C6BFB5}"/>
                </a:ext>
              </a:extLst>
            </p:cNvPr>
            <p:cNvSpPr>
              <a:spLocks noChangeArrowheads="1"/>
            </p:cNvSpPr>
            <p:nvPr/>
          </p:nvSpPr>
          <p:spPr bwMode="auto">
            <a:xfrm>
              <a:off x="304800" y="4114800"/>
              <a:ext cx="304800" cy="304800"/>
            </a:xfrm>
            <a:prstGeom prst="rect">
              <a:avLst/>
            </a:prstGeom>
            <a:solidFill>
              <a:schemeClr val="bg1"/>
            </a:solidFill>
            <a:ln w="9525" algn="ctr">
              <a:solidFill>
                <a:schemeClr val="bg1"/>
              </a:solidFill>
              <a:round/>
              <a:headEnd/>
              <a:tailEnd/>
            </a:ln>
          </p:spPr>
          <p:txBody>
            <a:bodyPr wrap="none" anchor="ctr"/>
            <a:lstStyle/>
            <a:p>
              <a:endParaRPr lang="fr-CA"/>
            </a:p>
          </p:txBody>
        </p:sp>
        <p:sp>
          <p:nvSpPr>
            <p:cNvPr id="30" name="Rectangle 40">
              <a:extLst>
                <a:ext uri="{FF2B5EF4-FFF2-40B4-BE49-F238E27FC236}">
                  <a16:creationId xmlns:a16="http://schemas.microsoft.com/office/drawing/2014/main" id="{66D02C45-0DD8-4B5D-90A3-B95EF4F960E6}"/>
                </a:ext>
              </a:extLst>
            </p:cNvPr>
            <p:cNvSpPr>
              <a:spLocks noChangeArrowheads="1"/>
            </p:cNvSpPr>
            <p:nvPr/>
          </p:nvSpPr>
          <p:spPr bwMode="auto">
            <a:xfrm>
              <a:off x="3886200" y="4953000"/>
              <a:ext cx="304800" cy="304800"/>
            </a:xfrm>
            <a:prstGeom prst="rect">
              <a:avLst/>
            </a:prstGeom>
            <a:solidFill>
              <a:schemeClr val="bg1"/>
            </a:solidFill>
            <a:ln w="9525" algn="ctr">
              <a:solidFill>
                <a:schemeClr val="bg1"/>
              </a:solidFill>
              <a:round/>
              <a:headEnd/>
              <a:tailEnd/>
            </a:ln>
          </p:spPr>
          <p:txBody>
            <a:bodyPr wrap="none" anchor="ctr"/>
            <a:lstStyle/>
            <a:p>
              <a:endParaRPr lang="fr-CA"/>
            </a:p>
          </p:txBody>
        </p:sp>
      </p:grpSp>
      <p:sp>
        <p:nvSpPr>
          <p:cNvPr id="31" name="Text Box 8">
            <a:extLst>
              <a:ext uri="{FF2B5EF4-FFF2-40B4-BE49-F238E27FC236}">
                <a16:creationId xmlns:a16="http://schemas.microsoft.com/office/drawing/2014/main" id="{E20C122A-F67C-4823-BFC1-7062462F7F46}"/>
              </a:ext>
            </a:extLst>
          </p:cNvPr>
          <p:cNvSpPr txBox="1">
            <a:spLocks noChangeArrowheads="1"/>
          </p:cNvSpPr>
          <p:nvPr/>
        </p:nvSpPr>
        <p:spPr bwMode="auto">
          <a:xfrm>
            <a:off x="692284" y="6211619"/>
            <a:ext cx="889000" cy="314325"/>
          </a:xfrm>
          <a:prstGeom prst="rect">
            <a:avLst/>
          </a:prstGeom>
          <a:noFill/>
          <a:ln w="9525">
            <a:solidFill>
              <a:srgbClr val="00008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fr-CA" sz="1400" dirty="0"/>
              <a:t>Fig. 20.7</a:t>
            </a:r>
          </a:p>
        </p:txBody>
      </p:sp>
      <p:sp>
        <p:nvSpPr>
          <p:cNvPr id="32" name="Freeform 115">
            <a:extLst>
              <a:ext uri="{FF2B5EF4-FFF2-40B4-BE49-F238E27FC236}">
                <a16:creationId xmlns:a16="http://schemas.microsoft.com/office/drawing/2014/main" id="{84B58C59-E8DD-41FC-B0E4-8460FACC912D}"/>
              </a:ext>
            </a:extLst>
          </p:cNvPr>
          <p:cNvSpPr>
            <a:spLocks/>
          </p:cNvSpPr>
          <p:nvPr/>
        </p:nvSpPr>
        <p:spPr bwMode="auto">
          <a:xfrm rot="10800000">
            <a:off x="6087555" y="5806977"/>
            <a:ext cx="252553" cy="143692"/>
          </a:xfrm>
          <a:custGeom>
            <a:avLst/>
            <a:gdLst>
              <a:gd name="T0" fmla="*/ 0 w 1864"/>
              <a:gd name="T1" fmla="*/ 2147483647 h 170"/>
              <a:gd name="T2" fmla="*/ 2147483647 w 1864"/>
              <a:gd name="T3" fmla="*/ 0 h 170"/>
              <a:gd name="T4" fmla="*/ 2147483647 w 1864"/>
              <a:gd name="T5" fmla="*/ 0 h 170"/>
              <a:gd name="T6" fmla="*/ 0 60000 65536"/>
              <a:gd name="T7" fmla="*/ 0 60000 65536"/>
              <a:gd name="T8" fmla="*/ 0 60000 65536"/>
              <a:gd name="T9" fmla="*/ 0 w 1864"/>
              <a:gd name="T10" fmla="*/ 0 h 170"/>
              <a:gd name="T11" fmla="*/ 1864 w 1864"/>
              <a:gd name="T12" fmla="*/ 170 h 170"/>
            </a:gdLst>
            <a:ahLst/>
            <a:cxnLst>
              <a:cxn ang="T6">
                <a:pos x="T0" y="T1"/>
              </a:cxn>
              <a:cxn ang="T7">
                <a:pos x="T2" y="T3"/>
              </a:cxn>
              <a:cxn ang="T8">
                <a:pos x="T4" y="T5"/>
              </a:cxn>
            </a:cxnLst>
            <a:rect l="T9" t="T10" r="T11" b="T12"/>
            <a:pathLst>
              <a:path w="1864" h="170">
                <a:moveTo>
                  <a:pt x="0" y="170"/>
                </a:moveTo>
                <a:lnTo>
                  <a:pt x="1776" y="0"/>
                </a:lnTo>
                <a:lnTo>
                  <a:pt x="1864" y="0"/>
                </a:lnTo>
              </a:path>
            </a:pathLst>
          </a:custGeom>
          <a:noFill/>
          <a:ln w="12700" cap="flat" cmpd="sng">
            <a:solidFill>
              <a:schemeClr val="tx1"/>
            </a:solidFill>
            <a:prstDash val="solid"/>
            <a:round/>
            <a:headEnd/>
            <a:tailEnd/>
          </a:ln>
        </p:spPr>
        <p:txBody>
          <a:bodyPr wrap="none" anchor="ctr"/>
          <a:lstStyle/>
          <a:p>
            <a:endParaRPr lang="fr-CA"/>
          </a:p>
        </p:txBody>
      </p:sp>
    </p:spTree>
    <p:extLst>
      <p:ext uri="{BB962C8B-B14F-4D97-AF65-F5344CB8AC3E}">
        <p14:creationId xmlns:p14="http://schemas.microsoft.com/office/powerpoint/2010/main" val="3384619485"/>
      </p:ext>
    </p:extLst>
  </p:cSld>
  <p:clrMapOvr>
    <a:masterClrMapping/>
  </p:clrMapOvr>
</p:sld>
</file>

<file path=ppt/theme/theme1.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33"/>
      </a:hlink>
      <a:folHlink>
        <a:srgbClr val="800000"/>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660033"/>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4004</TotalTime>
  <Words>1636</Words>
  <Application>Microsoft Office PowerPoint</Application>
  <PresentationFormat>On-screen Show (4:3)</PresentationFormat>
  <Paragraphs>184</Paragraphs>
  <Slides>17</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NuptialScript</vt:lpstr>
      <vt:lpstr>Symbol</vt:lpstr>
      <vt:lpstr>Times New Roman</vt:lpstr>
      <vt:lpstr>Wingdings</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UofO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MCM</dc:creator>
  <cp:lastModifiedBy>Michel Désilets</cp:lastModifiedBy>
  <cp:revision>231</cp:revision>
  <cp:lastPrinted>2017-11-27T12:41:15Z</cp:lastPrinted>
  <dcterms:created xsi:type="dcterms:W3CDTF">2000-02-22T20:17:59Z</dcterms:created>
  <dcterms:modified xsi:type="dcterms:W3CDTF">2021-03-31T17:44:09Z</dcterms:modified>
</cp:coreProperties>
</file>