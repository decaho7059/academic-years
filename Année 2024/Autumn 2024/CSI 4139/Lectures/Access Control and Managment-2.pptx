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09" r:id="rId1"/>
  </p:sldMasterIdLst>
  <p:notesMasterIdLst>
    <p:notesMasterId r:id="rId45"/>
  </p:notesMasterIdLst>
  <p:sldIdLst>
    <p:sldId id="398" r:id="rId2"/>
    <p:sldId id="309" r:id="rId3"/>
    <p:sldId id="310" r:id="rId4"/>
    <p:sldId id="312" r:id="rId5"/>
    <p:sldId id="311" r:id="rId6"/>
    <p:sldId id="313" r:id="rId7"/>
    <p:sldId id="314" r:id="rId8"/>
    <p:sldId id="315" r:id="rId9"/>
    <p:sldId id="316" r:id="rId10"/>
    <p:sldId id="317" r:id="rId11"/>
    <p:sldId id="318" r:id="rId12"/>
    <p:sldId id="319" r:id="rId13"/>
    <p:sldId id="320" r:id="rId14"/>
    <p:sldId id="321" r:id="rId15"/>
    <p:sldId id="322" r:id="rId16"/>
    <p:sldId id="323" r:id="rId17"/>
    <p:sldId id="324" r:id="rId18"/>
    <p:sldId id="325" r:id="rId19"/>
    <p:sldId id="326" r:id="rId20"/>
    <p:sldId id="327" r:id="rId21"/>
    <p:sldId id="330" r:id="rId22"/>
    <p:sldId id="331" r:id="rId23"/>
    <p:sldId id="332" r:id="rId24"/>
    <p:sldId id="333" r:id="rId25"/>
    <p:sldId id="334" r:id="rId26"/>
    <p:sldId id="335" r:id="rId27"/>
    <p:sldId id="336" r:id="rId28"/>
    <p:sldId id="339" r:id="rId29"/>
    <p:sldId id="340" r:id="rId30"/>
    <p:sldId id="341" r:id="rId31"/>
    <p:sldId id="342" r:id="rId32"/>
    <p:sldId id="343" r:id="rId33"/>
    <p:sldId id="344" r:id="rId34"/>
    <p:sldId id="345" r:id="rId35"/>
    <p:sldId id="346" r:id="rId36"/>
    <p:sldId id="347" r:id="rId37"/>
    <p:sldId id="348" r:id="rId38"/>
    <p:sldId id="349" r:id="rId39"/>
    <p:sldId id="350" r:id="rId40"/>
    <p:sldId id="351" r:id="rId41"/>
    <p:sldId id="352" r:id="rId42"/>
    <p:sldId id="353" r:id="rId43"/>
    <p:sldId id="354" r:id="rId44"/>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317" autoAdjust="0"/>
    <p:restoredTop sz="84138" autoAdjust="0"/>
  </p:normalViewPr>
  <p:slideViewPr>
    <p:cSldViewPr>
      <p:cViewPr varScale="1">
        <p:scale>
          <a:sx n="59" d="100"/>
          <a:sy n="59" d="100"/>
        </p:scale>
        <p:origin x="780" y="4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CAB806-FE64-474D-B3A7-6CCBF5617400}" type="doc">
      <dgm:prSet loTypeId="urn:microsoft.com/office/officeart/2005/8/layout/hierarchy1" loCatId="hierarchy" qsTypeId="urn:microsoft.com/office/officeart/2005/8/quickstyle/simple2" qsCatId="simple" csTypeId="urn:microsoft.com/office/officeart/2005/8/colors/accent1_2" csCatId="accent1"/>
      <dgm:spPr/>
      <dgm:t>
        <a:bodyPr/>
        <a:lstStyle/>
        <a:p>
          <a:endParaRPr lang="en-US"/>
        </a:p>
      </dgm:t>
    </dgm:pt>
    <dgm:pt modelId="{595AE040-F91A-46A6-BD20-D78EC46BDD4B}">
      <dgm:prSet/>
      <dgm:spPr/>
      <dgm:t>
        <a:bodyPr/>
        <a:lstStyle/>
        <a:p>
          <a:r>
            <a:rPr lang="en-US"/>
            <a:t>Properly configuring accounts is a first step in providing strong security</a:t>
          </a:r>
        </a:p>
      </dgm:t>
    </dgm:pt>
    <dgm:pt modelId="{A0F42FDD-ED98-4F8B-BED2-71A584E46A09}" type="parTrans" cxnId="{A57134A6-2FC8-4CC3-B73C-A8B01828015B}">
      <dgm:prSet/>
      <dgm:spPr/>
      <dgm:t>
        <a:bodyPr/>
        <a:lstStyle/>
        <a:p>
          <a:endParaRPr lang="en-US"/>
        </a:p>
      </dgm:t>
    </dgm:pt>
    <dgm:pt modelId="{232B35D8-916D-480E-B0E6-D0035F853AF6}" type="sibTrans" cxnId="{A57134A6-2FC8-4CC3-B73C-A8B01828015B}">
      <dgm:prSet/>
      <dgm:spPr/>
      <dgm:t>
        <a:bodyPr/>
        <a:lstStyle/>
        <a:p>
          <a:endParaRPr lang="en-US"/>
        </a:p>
      </dgm:t>
    </dgm:pt>
    <dgm:pt modelId="{8B879250-364B-4AC9-A288-A822B23B8997}">
      <dgm:prSet/>
      <dgm:spPr/>
      <dgm:t>
        <a:bodyPr/>
        <a:lstStyle/>
        <a:p>
          <a:r>
            <a:rPr lang="en-US"/>
            <a:t>Accounts include not only user accounts but also:</a:t>
          </a:r>
        </a:p>
      </dgm:t>
    </dgm:pt>
    <dgm:pt modelId="{4CBD9FC5-C9CD-452B-B3C4-8BB1FDF7D3ED}" type="parTrans" cxnId="{9372981B-00D5-4EF6-AA1D-DF75CB0B6F40}">
      <dgm:prSet/>
      <dgm:spPr/>
      <dgm:t>
        <a:bodyPr/>
        <a:lstStyle/>
        <a:p>
          <a:endParaRPr lang="en-US"/>
        </a:p>
      </dgm:t>
    </dgm:pt>
    <dgm:pt modelId="{B85A532A-EFE4-45FD-B01D-D8C8DDFAA70B}" type="sibTrans" cxnId="{9372981B-00D5-4EF6-AA1D-DF75CB0B6F40}">
      <dgm:prSet/>
      <dgm:spPr/>
      <dgm:t>
        <a:bodyPr/>
        <a:lstStyle/>
        <a:p>
          <a:endParaRPr lang="en-US"/>
        </a:p>
      </dgm:t>
    </dgm:pt>
    <dgm:pt modelId="{259694A3-68DE-47CC-92FC-AA01C8DCD3A5}">
      <dgm:prSet/>
      <dgm:spPr/>
      <dgm:t>
        <a:bodyPr/>
        <a:lstStyle/>
        <a:p>
          <a:r>
            <a:rPr lang="en-US"/>
            <a:t>Service accounts</a:t>
          </a:r>
        </a:p>
      </dgm:t>
    </dgm:pt>
    <dgm:pt modelId="{9B7F47ED-E99E-40E7-92D0-F96B4C3816C8}" type="parTrans" cxnId="{70A47A92-D596-4530-B598-7864DAD63188}">
      <dgm:prSet/>
      <dgm:spPr/>
      <dgm:t>
        <a:bodyPr/>
        <a:lstStyle/>
        <a:p>
          <a:endParaRPr lang="en-US"/>
        </a:p>
      </dgm:t>
    </dgm:pt>
    <dgm:pt modelId="{81E442C6-6582-4AA6-993E-42284964F99B}" type="sibTrans" cxnId="{70A47A92-D596-4530-B598-7864DAD63188}">
      <dgm:prSet/>
      <dgm:spPr/>
      <dgm:t>
        <a:bodyPr/>
        <a:lstStyle/>
        <a:p>
          <a:endParaRPr lang="en-US"/>
        </a:p>
      </dgm:t>
    </dgm:pt>
    <dgm:pt modelId="{12E53498-FA33-45A9-8D86-9B7C3D502C7F}">
      <dgm:prSet/>
      <dgm:spPr/>
      <dgm:t>
        <a:bodyPr/>
        <a:lstStyle/>
        <a:p>
          <a:r>
            <a:rPr lang="en-US"/>
            <a:t>Privileged accounts</a:t>
          </a:r>
        </a:p>
      </dgm:t>
    </dgm:pt>
    <dgm:pt modelId="{8DBC555A-8536-4614-BF89-4BBDCF38E6C8}" type="parTrans" cxnId="{2AD78B82-9E19-4209-B7DE-79EC96FD5368}">
      <dgm:prSet/>
      <dgm:spPr/>
      <dgm:t>
        <a:bodyPr/>
        <a:lstStyle/>
        <a:p>
          <a:endParaRPr lang="en-US"/>
        </a:p>
      </dgm:t>
    </dgm:pt>
    <dgm:pt modelId="{4CDA66E9-13DB-4748-ACC5-9543C2DBB6CE}" type="sibTrans" cxnId="{2AD78B82-9E19-4209-B7DE-79EC96FD5368}">
      <dgm:prSet/>
      <dgm:spPr/>
      <dgm:t>
        <a:bodyPr/>
        <a:lstStyle/>
        <a:p>
          <a:endParaRPr lang="en-US"/>
        </a:p>
      </dgm:t>
    </dgm:pt>
    <dgm:pt modelId="{8F5EE5FB-CB89-4D0A-9F87-B6E45FE896FC}">
      <dgm:prSet/>
      <dgm:spPr/>
      <dgm:t>
        <a:bodyPr/>
        <a:lstStyle/>
        <a:p>
          <a:r>
            <a:rPr lang="en-US"/>
            <a:t>Account management includes account setup as well as account auditing</a:t>
          </a:r>
        </a:p>
      </dgm:t>
    </dgm:pt>
    <dgm:pt modelId="{AB76284A-FCA6-4B1E-8DC9-A98B69A48FA2}" type="parTrans" cxnId="{C62CED7B-243E-4663-A954-2B5372F136AE}">
      <dgm:prSet/>
      <dgm:spPr/>
      <dgm:t>
        <a:bodyPr/>
        <a:lstStyle/>
        <a:p>
          <a:endParaRPr lang="en-US"/>
        </a:p>
      </dgm:t>
    </dgm:pt>
    <dgm:pt modelId="{6C3A8A42-0A41-4043-AD7C-A0A732F89B19}" type="sibTrans" cxnId="{C62CED7B-243E-4663-A954-2B5372F136AE}">
      <dgm:prSet/>
      <dgm:spPr/>
      <dgm:t>
        <a:bodyPr/>
        <a:lstStyle/>
        <a:p>
          <a:endParaRPr lang="en-US"/>
        </a:p>
      </dgm:t>
    </dgm:pt>
    <dgm:pt modelId="{B89CF060-D6EB-4A8B-A081-4CEC649F0F06}" type="pres">
      <dgm:prSet presAssocID="{B0CAB806-FE64-474D-B3A7-6CCBF5617400}" presName="hierChild1" presStyleCnt="0">
        <dgm:presLayoutVars>
          <dgm:chPref val="1"/>
          <dgm:dir/>
          <dgm:animOne val="branch"/>
          <dgm:animLvl val="lvl"/>
          <dgm:resizeHandles/>
        </dgm:presLayoutVars>
      </dgm:prSet>
      <dgm:spPr/>
    </dgm:pt>
    <dgm:pt modelId="{47E4D4F5-BA92-45D0-BC80-5DC27E6662EF}" type="pres">
      <dgm:prSet presAssocID="{595AE040-F91A-46A6-BD20-D78EC46BDD4B}" presName="hierRoot1" presStyleCnt="0"/>
      <dgm:spPr/>
    </dgm:pt>
    <dgm:pt modelId="{19874E27-667C-4D7D-B7C3-6F6521A4C2AE}" type="pres">
      <dgm:prSet presAssocID="{595AE040-F91A-46A6-BD20-D78EC46BDD4B}" presName="composite" presStyleCnt="0"/>
      <dgm:spPr/>
    </dgm:pt>
    <dgm:pt modelId="{1BD418B7-D15C-4238-9F68-BFC52F2C0F39}" type="pres">
      <dgm:prSet presAssocID="{595AE040-F91A-46A6-BD20-D78EC46BDD4B}" presName="background" presStyleLbl="node0" presStyleIdx="0" presStyleCnt="3"/>
      <dgm:spPr/>
    </dgm:pt>
    <dgm:pt modelId="{DEE00DE9-1DFA-4B5B-8289-06971973BF4B}" type="pres">
      <dgm:prSet presAssocID="{595AE040-F91A-46A6-BD20-D78EC46BDD4B}" presName="text" presStyleLbl="fgAcc0" presStyleIdx="0" presStyleCnt="3">
        <dgm:presLayoutVars>
          <dgm:chPref val="3"/>
        </dgm:presLayoutVars>
      </dgm:prSet>
      <dgm:spPr/>
    </dgm:pt>
    <dgm:pt modelId="{D545781B-4CE0-47AF-80F4-03B3E5C5918F}" type="pres">
      <dgm:prSet presAssocID="{595AE040-F91A-46A6-BD20-D78EC46BDD4B}" presName="hierChild2" presStyleCnt="0"/>
      <dgm:spPr/>
    </dgm:pt>
    <dgm:pt modelId="{84EC9609-6A60-41A6-B4E1-71FBC2E50748}" type="pres">
      <dgm:prSet presAssocID="{8B879250-364B-4AC9-A288-A822B23B8997}" presName="hierRoot1" presStyleCnt="0"/>
      <dgm:spPr/>
    </dgm:pt>
    <dgm:pt modelId="{E4623D72-C375-46F2-A705-15347912C620}" type="pres">
      <dgm:prSet presAssocID="{8B879250-364B-4AC9-A288-A822B23B8997}" presName="composite" presStyleCnt="0"/>
      <dgm:spPr/>
    </dgm:pt>
    <dgm:pt modelId="{DEF83F81-67D9-41D9-A0E9-A0A7DA92BA8D}" type="pres">
      <dgm:prSet presAssocID="{8B879250-364B-4AC9-A288-A822B23B8997}" presName="background" presStyleLbl="node0" presStyleIdx="1" presStyleCnt="3"/>
      <dgm:spPr/>
    </dgm:pt>
    <dgm:pt modelId="{22C4D3C8-6B2B-4319-8DF7-2C0D6504A195}" type="pres">
      <dgm:prSet presAssocID="{8B879250-364B-4AC9-A288-A822B23B8997}" presName="text" presStyleLbl="fgAcc0" presStyleIdx="1" presStyleCnt="3">
        <dgm:presLayoutVars>
          <dgm:chPref val="3"/>
        </dgm:presLayoutVars>
      </dgm:prSet>
      <dgm:spPr/>
    </dgm:pt>
    <dgm:pt modelId="{0E54AC9C-67D8-48C8-A50C-FE9F22038B18}" type="pres">
      <dgm:prSet presAssocID="{8B879250-364B-4AC9-A288-A822B23B8997}" presName="hierChild2" presStyleCnt="0"/>
      <dgm:spPr/>
    </dgm:pt>
    <dgm:pt modelId="{0B31C3A6-2AA4-40C8-B3B5-3F11FF7198C4}" type="pres">
      <dgm:prSet presAssocID="{9B7F47ED-E99E-40E7-92D0-F96B4C3816C8}" presName="Name10" presStyleLbl="parChTrans1D2" presStyleIdx="0" presStyleCnt="2"/>
      <dgm:spPr/>
    </dgm:pt>
    <dgm:pt modelId="{FEC85E46-CFC3-4388-9109-5C30CA907B81}" type="pres">
      <dgm:prSet presAssocID="{259694A3-68DE-47CC-92FC-AA01C8DCD3A5}" presName="hierRoot2" presStyleCnt="0"/>
      <dgm:spPr/>
    </dgm:pt>
    <dgm:pt modelId="{6DCD5A1F-9D7B-4AE9-8F8C-8269A0541DC9}" type="pres">
      <dgm:prSet presAssocID="{259694A3-68DE-47CC-92FC-AA01C8DCD3A5}" presName="composite2" presStyleCnt="0"/>
      <dgm:spPr/>
    </dgm:pt>
    <dgm:pt modelId="{995AB380-395E-4D42-88E9-FFFBFE7C5774}" type="pres">
      <dgm:prSet presAssocID="{259694A3-68DE-47CC-92FC-AA01C8DCD3A5}" presName="background2" presStyleLbl="node2" presStyleIdx="0" presStyleCnt="2"/>
      <dgm:spPr/>
    </dgm:pt>
    <dgm:pt modelId="{DEFFC9F6-FA3A-4CEE-BC93-45DC1FC30768}" type="pres">
      <dgm:prSet presAssocID="{259694A3-68DE-47CC-92FC-AA01C8DCD3A5}" presName="text2" presStyleLbl="fgAcc2" presStyleIdx="0" presStyleCnt="2">
        <dgm:presLayoutVars>
          <dgm:chPref val="3"/>
        </dgm:presLayoutVars>
      </dgm:prSet>
      <dgm:spPr/>
    </dgm:pt>
    <dgm:pt modelId="{AAC15277-F924-4B8B-A2F4-FB28E0096A6C}" type="pres">
      <dgm:prSet presAssocID="{259694A3-68DE-47CC-92FC-AA01C8DCD3A5}" presName="hierChild3" presStyleCnt="0"/>
      <dgm:spPr/>
    </dgm:pt>
    <dgm:pt modelId="{8812EF96-3F46-44DD-BC2C-C065A3D1FBD9}" type="pres">
      <dgm:prSet presAssocID="{8DBC555A-8536-4614-BF89-4BBDCF38E6C8}" presName="Name10" presStyleLbl="parChTrans1D2" presStyleIdx="1" presStyleCnt="2"/>
      <dgm:spPr/>
    </dgm:pt>
    <dgm:pt modelId="{7A2062D6-A91A-4028-A058-2F244C5893FF}" type="pres">
      <dgm:prSet presAssocID="{12E53498-FA33-45A9-8D86-9B7C3D502C7F}" presName="hierRoot2" presStyleCnt="0"/>
      <dgm:spPr/>
    </dgm:pt>
    <dgm:pt modelId="{5CB0633D-B0BC-4DEE-AF08-7D80A1204B8B}" type="pres">
      <dgm:prSet presAssocID="{12E53498-FA33-45A9-8D86-9B7C3D502C7F}" presName="composite2" presStyleCnt="0"/>
      <dgm:spPr/>
    </dgm:pt>
    <dgm:pt modelId="{1803234C-77AE-497C-9E26-FD5B20D2DE11}" type="pres">
      <dgm:prSet presAssocID="{12E53498-FA33-45A9-8D86-9B7C3D502C7F}" presName="background2" presStyleLbl="node2" presStyleIdx="1" presStyleCnt="2"/>
      <dgm:spPr/>
    </dgm:pt>
    <dgm:pt modelId="{5FBC700F-92C6-44CE-A96A-6E15EFE8816C}" type="pres">
      <dgm:prSet presAssocID="{12E53498-FA33-45A9-8D86-9B7C3D502C7F}" presName="text2" presStyleLbl="fgAcc2" presStyleIdx="1" presStyleCnt="2">
        <dgm:presLayoutVars>
          <dgm:chPref val="3"/>
        </dgm:presLayoutVars>
      </dgm:prSet>
      <dgm:spPr/>
    </dgm:pt>
    <dgm:pt modelId="{B12344E6-C034-4349-AC01-EDC9EC4204CB}" type="pres">
      <dgm:prSet presAssocID="{12E53498-FA33-45A9-8D86-9B7C3D502C7F}" presName="hierChild3" presStyleCnt="0"/>
      <dgm:spPr/>
    </dgm:pt>
    <dgm:pt modelId="{B6EC7DBD-67E0-4665-BC9B-3D506699B829}" type="pres">
      <dgm:prSet presAssocID="{8F5EE5FB-CB89-4D0A-9F87-B6E45FE896FC}" presName="hierRoot1" presStyleCnt="0"/>
      <dgm:spPr/>
    </dgm:pt>
    <dgm:pt modelId="{4FFD514D-497B-466E-9F4D-34D2BA7F78F8}" type="pres">
      <dgm:prSet presAssocID="{8F5EE5FB-CB89-4D0A-9F87-B6E45FE896FC}" presName="composite" presStyleCnt="0"/>
      <dgm:spPr/>
    </dgm:pt>
    <dgm:pt modelId="{93FED2A3-ED68-43CC-A8B7-0C71CF5BD703}" type="pres">
      <dgm:prSet presAssocID="{8F5EE5FB-CB89-4D0A-9F87-B6E45FE896FC}" presName="background" presStyleLbl="node0" presStyleIdx="2" presStyleCnt="3"/>
      <dgm:spPr/>
    </dgm:pt>
    <dgm:pt modelId="{BDDDB38B-3215-4EB7-8DAF-D1F689100D94}" type="pres">
      <dgm:prSet presAssocID="{8F5EE5FB-CB89-4D0A-9F87-B6E45FE896FC}" presName="text" presStyleLbl="fgAcc0" presStyleIdx="2" presStyleCnt="3">
        <dgm:presLayoutVars>
          <dgm:chPref val="3"/>
        </dgm:presLayoutVars>
      </dgm:prSet>
      <dgm:spPr/>
    </dgm:pt>
    <dgm:pt modelId="{6634C71C-B3BC-4AEE-B641-23B71B5F81BD}" type="pres">
      <dgm:prSet presAssocID="{8F5EE5FB-CB89-4D0A-9F87-B6E45FE896FC}" presName="hierChild2" presStyleCnt="0"/>
      <dgm:spPr/>
    </dgm:pt>
  </dgm:ptLst>
  <dgm:cxnLst>
    <dgm:cxn modelId="{A17FEC00-8849-4FA9-AA4C-E3D9E3C9ACE1}" type="presOf" srcId="{B0CAB806-FE64-474D-B3A7-6CCBF5617400}" destId="{B89CF060-D6EB-4A8B-A081-4CEC649F0F06}" srcOrd="0" destOrd="0" presId="urn:microsoft.com/office/officeart/2005/8/layout/hierarchy1"/>
    <dgm:cxn modelId="{9372981B-00D5-4EF6-AA1D-DF75CB0B6F40}" srcId="{B0CAB806-FE64-474D-B3A7-6CCBF5617400}" destId="{8B879250-364B-4AC9-A288-A822B23B8997}" srcOrd="1" destOrd="0" parTransId="{4CBD9FC5-C9CD-452B-B3C4-8BB1FDF7D3ED}" sibTransId="{B85A532A-EFE4-45FD-B01D-D8C8DDFAA70B}"/>
    <dgm:cxn modelId="{B05D424D-D931-4CBC-B458-657D1AB46D16}" type="presOf" srcId="{8DBC555A-8536-4614-BF89-4BBDCF38E6C8}" destId="{8812EF96-3F46-44DD-BC2C-C065A3D1FBD9}" srcOrd="0" destOrd="0" presId="urn:microsoft.com/office/officeart/2005/8/layout/hierarchy1"/>
    <dgm:cxn modelId="{C62CED7B-243E-4663-A954-2B5372F136AE}" srcId="{B0CAB806-FE64-474D-B3A7-6CCBF5617400}" destId="{8F5EE5FB-CB89-4D0A-9F87-B6E45FE896FC}" srcOrd="2" destOrd="0" parTransId="{AB76284A-FCA6-4B1E-8DC9-A98B69A48FA2}" sibTransId="{6C3A8A42-0A41-4043-AD7C-A0A732F89B19}"/>
    <dgm:cxn modelId="{2AD78B82-9E19-4209-B7DE-79EC96FD5368}" srcId="{8B879250-364B-4AC9-A288-A822B23B8997}" destId="{12E53498-FA33-45A9-8D86-9B7C3D502C7F}" srcOrd="1" destOrd="0" parTransId="{8DBC555A-8536-4614-BF89-4BBDCF38E6C8}" sibTransId="{4CDA66E9-13DB-4748-ACC5-9543C2DBB6CE}"/>
    <dgm:cxn modelId="{70A47A92-D596-4530-B598-7864DAD63188}" srcId="{8B879250-364B-4AC9-A288-A822B23B8997}" destId="{259694A3-68DE-47CC-92FC-AA01C8DCD3A5}" srcOrd="0" destOrd="0" parTransId="{9B7F47ED-E99E-40E7-92D0-F96B4C3816C8}" sibTransId="{81E442C6-6582-4AA6-993E-42284964F99B}"/>
    <dgm:cxn modelId="{52939A98-D6CB-4842-8D0D-E5080BD2DBCF}" type="presOf" srcId="{595AE040-F91A-46A6-BD20-D78EC46BDD4B}" destId="{DEE00DE9-1DFA-4B5B-8289-06971973BF4B}" srcOrd="0" destOrd="0" presId="urn:microsoft.com/office/officeart/2005/8/layout/hierarchy1"/>
    <dgm:cxn modelId="{2DD1DB9A-DF8B-4F84-841C-87DCFCED75A7}" type="presOf" srcId="{8F5EE5FB-CB89-4D0A-9F87-B6E45FE896FC}" destId="{BDDDB38B-3215-4EB7-8DAF-D1F689100D94}" srcOrd="0" destOrd="0" presId="urn:microsoft.com/office/officeart/2005/8/layout/hierarchy1"/>
    <dgm:cxn modelId="{652993A4-FE85-4402-AA5C-250DA02284CB}" type="presOf" srcId="{259694A3-68DE-47CC-92FC-AA01C8DCD3A5}" destId="{DEFFC9F6-FA3A-4CEE-BC93-45DC1FC30768}" srcOrd="0" destOrd="0" presId="urn:microsoft.com/office/officeart/2005/8/layout/hierarchy1"/>
    <dgm:cxn modelId="{A57134A6-2FC8-4CC3-B73C-A8B01828015B}" srcId="{B0CAB806-FE64-474D-B3A7-6CCBF5617400}" destId="{595AE040-F91A-46A6-BD20-D78EC46BDD4B}" srcOrd="0" destOrd="0" parTransId="{A0F42FDD-ED98-4F8B-BED2-71A584E46A09}" sibTransId="{232B35D8-916D-480E-B0E6-D0035F853AF6}"/>
    <dgm:cxn modelId="{7B3F93D0-E256-41FA-879A-40219FF6E475}" type="presOf" srcId="{12E53498-FA33-45A9-8D86-9B7C3D502C7F}" destId="{5FBC700F-92C6-44CE-A96A-6E15EFE8816C}" srcOrd="0" destOrd="0" presId="urn:microsoft.com/office/officeart/2005/8/layout/hierarchy1"/>
    <dgm:cxn modelId="{4608CFE4-D55E-4FB2-8F70-0456C4B4C96B}" type="presOf" srcId="{8B879250-364B-4AC9-A288-A822B23B8997}" destId="{22C4D3C8-6B2B-4319-8DF7-2C0D6504A195}" srcOrd="0" destOrd="0" presId="urn:microsoft.com/office/officeart/2005/8/layout/hierarchy1"/>
    <dgm:cxn modelId="{246293FA-45C7-4DFB-84D5-C5822BE305B1}" type="presOf" srcId="{9B7F47ED-E99E-40E7-92D0-F96B4C3816C8}" destId="{0B31C3A6-2AA4-40C8-B3B5-3F11FF7198C4}" srcOrd="0" destOrd="0" presId="urn:microsoft.com/office/officeart/2005/8/layout/hierarchy1"/>
    <dgm:cxn modelId="{5019FDD2-2731-4DB3-B2B2-8080A10F6FD2}" type="presParOf" srcId="{B89CF060-D6EB-4A8B-A081-4CEC649F0F06}" destId="{47E4D4F5-BA92-45D0-BC80-5DC27E6662EF}" srcOrd="0" destOrd="0" presId="urn:microsoft.com/office/officeart/2005/8/layout/hierarchy1"/>
    <dgm:cxn modelId="{D6A8CC6C-8015-4905-B241-AF12073387B3}" type="presParOf" srcId="{47E4D4F5-BA92-45D0-BC80-5DC27E6662EF}" destId="{19874E27-667C-4D7D-B7C3-6F6521A4C2AE}" srcOrd="0" destOrd="0" presId="urn:microsoft.com/office/officeart/2005/8/layout/hierarchy1"/>
    <dgm:cxn modelId="{EC0867A2-CF80-480F-8E0E-A75D8B4E8253}" type="presParOf" srcId="{19874E27-667C-4D7D-B7C3-6F6521A4C2AE}" destId="{1BD418B7-D15C-4238-9F68-BFC52F2C0F39}" srcOrd="0" destOrd="0" presId="urn:microsoft.com/office/officeart/2005/8/layout/hierarchy1"/>
    <dgm:cxn modelId="{1FD4A6CE-2618-44CA-BC42-A35410B24481}" type="presParOf" srcId="{19874E27-667C-4D7D-B7C3-6F6521A4C2AE}" destId="{DEE00DE9-1DFA-4B5B-8289-06971973BF4B}" srcOrd="1" destOrd="0" presId="urn:microsoft.com/office/officeart/2005/8/layout/hierarchy1"/>
    <dgm:cxn modelId="{23E99AF3-029D-4AB0-B6F1-5A6F8DFC405A}" type="presParOf" srcId="{47E4D4F5-BA92-45D0-BC80-5DC27E6662EF}" destId="{D545781B-4CE0-47AF-80F4-03B3E5C5918F}" srcOrd="1" destOrd="0" presId="urn:microsoft.com/office/officeart/2005/8/layout/hierarchy1"/>
    <dgm:cxn modelId="{E71D74EE-605E-46F2-A99D-EF4EC65E27F2}" type="presParOf" srcId="{B89CF060-D6EB-4A8B-A081-4CEC649F0F06}" destId="{84EC9609-6A60-41A6-B4E1-71FBC2E50748}" srcOrd="1" destOrd="0" presId="urn:microsoft.com/office/officeart/2005/8/layout/hierarchy1"/>
    <dgm:cxn modelId="{58D93CA1-654B-4E78-82DA-66EA4F15D3C4}" type="presParOf" srcId="{84EC9609-6A60-41A6-B4E1-71FBC2E50748}" destId="{E4623D72-C375-46F2-A705-15347912C620}" srcOrd="0" destOrd="0" presId="urn:microsoft.com/office/officeart/2005/8/layout/hierarchy1"/>
    <dgm:cxn modelId="{464F2EE4-7DE2-4687-9DCD-F881D2EA556D}" type="presParOf" srcId="{E4623D72-C375-46F2-A705-15347912C620}" destId="{DEF83F81-67D9-41D9-A0E9-A0A7DA92BA8D}" srcOrd="0" destOrd="0" presId="urn:microsoft.com/office/officeart/2005/8/layout/hierarchy1"/>
    <dgm:cxn modelId="{614335E2-69E0-4419-9F72-A8F4B6171DB8}" type="presParOf" srcId="{E4623D72-C375-46F2-A705-15347912C620}" destId="{22C4D3C8-6B2B-4319-8DF7-2C0D6504A195}" srcOrd="1" destOrd="0" presId="urn:microsoft.com/office/officeart/2005/8/layout/hierarchy1"/>
    <dgm:cxn modelId="{8B1F1090-A274-4C3B-B3D2-9B0232181411}" type="presParOf" srcId="{84EC9609-6A60-41A6-B4E1-71FBC2E50748}" destId="{0E54AC9C-67D8-48C8-A50C-FE9F22038B18}" srcOrd="1" destOrd="0" presId="urn:microsoft.com/office/officeart/2005/8/layout/hierarchy1"/>
    <dgm:cxn modelId="{13808B42-8114-4B29-854C-A75EC3AD9EE9}" type="presParOf" srcId="{0E54AC9C-67D8-48C8-A50C-FE9F22038B18}" destId="{0B31C3A6-2AA4-40C8-B3B5-3F11FF7198C4}" srcOrd="0" destOrd="0" presId="urn:microsoft.com/office/officeart/2005/8/layout/hierarchy1"/>
    <dgm:cxn modelId="{348D78DD-BDA7-4389-A67F-4BC2CBCD2656}" type="presParOf" srcId="{0E54AC9C-67D8-48C8-A50C-FE9F22038B18}" destId="{FEC85E46-CFC3-4388-9109-5C30CA907B81}" srcOrd="1" destOrd="0" presId="urn:microsoft.com/office/officeart/2005/8/layout/hierarchy1"/>
    <dgm:cxn modelId="{4EE1BE07-7A56-4408-908C-AE767248F476}" type="presParOf" srcId="{FEC85E46-CFC3-4388-9109-5C30CA907B81}" destId="{6DCD5A1F-9D7B-4AE9-8F8C-8269A0541DC9}" srcOrd="0" destOrd="0" presId="urn:microsoft.com/office/officeart/2005/8/layout/hierarchy1"/>
    <dgm:cxn modelId="{9D1F3D11-0BFC-44D5-B4E8-894554FCC7FD}" type="presParOf" srcId="{6DCD5A1F-9D7B-4AE9-8F8C-8269A0541DC9}" destId="{995AB380-395E-4D42-88E9-FFFBFE7C5774}" srcOrd="0" destOrd="0" presId="urn:microsoft.com/office/officeart/2005/8/layout/hierarchy1"/>
    <dgm:cxn modelId="{D58FCF9A-FD49-4E73-A771-AAD945E2CDA7}" type="presParOf" srcId="{6DCD5A1F-9D7B-4AE9-8F8C-8269A0541DC9}" destId="{DEFFC9F6-FA3A-4CEE-BC93-45DC1FC30768}" srcOrd="1" destOrd="0" presId="urn:microsoft.com/office/officeart/2005/8/layout/hierarchy1"/>
    <dgm:cxn modelId="{A34DB58F-87AB-415C-A043-B26DC3A533B3}" type="presParOf" srcId="{FEC85E46-CFC3-4388-9109-5C30CA907B81}" destId="{AAC15277-F924-4B8B-A2F4-FB28E0096A6C}" srcOrd="1" destOrd="0" presId="urn:microsoft.com/office/officeart/2005/8/layout/hierarchy1"/>
    <dgm:cxn modelId="{3857D932-DE00-418A-A29F-76B73602E66B}" type="presParOf" srcId="{0E54AC9C-67D8-48C8-A50C-FE9F22038B18}" destId="{8812EF96-3F46-44DD-BC2C-C065A3D1FBD9}" srcOrd="2" destOrd="0" presId="urn:microsoft.com/office/officeart/2005/8/layout/hierarchy1"/>
    <dgm:cxn modelId="{B4141287-B49F-4EF7-8316-349A036F5869}" type="presParOf" srcId="{0E54AC9C-67D8-48C8-A50C-FE9F22038B18}" destId="{7A2062D6-A91A-4028-A058-2F244C5893FF}" srcOrd="3" destOrd="0" presId="urn:microsoft.com/office/officeart/2005/8/layout/hierarchy1"/>
    <dgm:cxn modelId="{76DB7835-85E8-43F6-8EC3-22A831329C96}" type="presParOf" srcId="{7A2062D6-A91A-4028-A058-2F244C5893FF}" destId="{5CB0633D-B0BC-4DEE-AF08-7D80A1204B8B}" srcOrd="0" destOrd="0" presId="urn:microsoft.com/office/officeart/2005/8/layout/hierarchy1"/>
    <dgm:cxn modelId="{51BC00D3-441E-48B8-A819-9B450C2A1A6F}" type="presParOf" srcId="{5CB0633D-B0BC-4DEE-AF08-7D80A1204B8B}" destId="{1803234C-77AE-497C-9E26-FD5B20D2DE11}" srcOrd="0" destOrd="0" presId="urn:microsoft.com/office/officeart/2005/8/layout/hierarchy1"/>
    <dgm:cxn modelId="{47E1A6CE-A1EC-422F-A301-411EF56F41B0}" type="presParOf" srcId="{5CB0633D-B0BC-4DEE-AF08-7D80A1204B8B}" destId="{5FBC700F-92C6-44CE-A96A-6E15EFE8816C}" srcOrd="1" destOrd="0" presId="urn:microsoft.com/office/officeart/2005/8/layout/hierarchy1"/>
    <dgm:cxn modelId="{F4E8F183-AA1F-4C6C-8533-CACD3EE6E382}" type="presParOf" srcId="{7A2062D6-A91A-4028-A058-2F244C5893FF}" destId="{B12344E6-C034-4349-AC01-EDC9EC4204CB}" srcOrd="1" destOrd="0" presId="urn:microsoft.com/office/officeart/2005/8/layout/hierarchy1"/>
    <dgm:cxn modelId="{97DB2489-ACEF-4895-8AD5-8CFF4468B292}" type="presParOf" srcId="{B89CF060-D6EB-4A8B-A081-4CEC649F0F06}" destId="{B6EC7DBD-67E0-4665-BC9B-3D506699B829}" srcOrd="2" destOrd="0" presId="urn:microsoft.com/office/officeart/2005/8/layout/hierarchy1"/>
    <dgm:cxn modelId="{C995EC73-2BE8-432E-B751-E9B3A7B3C53E}" type="presParOf" srcId="{B6EC7DBD-67E0-4665-BC9B-3D506699B829}" destId="{4FFD514D-497B-466E-9F4D-34D2BA7F78F8}" srcOrd="0" destOrd="0" presId="urn:microsoft.com/office/officeart/2005/8/layout/hierarchy1"/>
    <dgm:cxn modelId="{F35580D8-7F3F-4EE0-84A1-5C4387893EFC}" type="presParOf" srcId="{4FFD514D-497B-466E-9F4D-34D2BA7F78F8}" destId="{93FED2A3-ED68-43CC-A8B7-0C71CF5BD703}" srcOrd="0" destOrd="0" presId="urn:microsoft.com/office/officeart/2005/8/layout/hierarchy1"/>
    <dgm:cxn modelId="{77EFEFF2-0EBF-4C15-9898-1A9A9EB7A691}" type="presParOf" srcId="{4FFD514D-497B-466E-9F4D-34D2BA7F78F8}" destId="{BDDDB38B-3215-4EB7-8DAF-D1F689100D94}" srcOrd="1" destOrd="0" presId="urn:microsoft.com/office/officeart/2005/8/layout/hierarchy1"/>
    <dgm:cxn modelId="{FB041579-1A9D-4277-B976-E6EB369C4C79}" type="presParOf" srcId="{B6EC7DBD-67E0-4665-BC9B-3D506699B829}" destId="{6634C71C-B3BC-4AEE-B641-23B71B5F81B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6C838E-4CD8-4B89-89DA-575F988B6B2B}"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E34B2BC6-1868-4E79-8CC9-2ED0E8D603B3}">
      <dgm:prSet/>
      <dgm:spPr/>
      <dgm:t>
        <a:bodyPr/>
        <a:lstStyle/>
        <a:p>
          <a:r>
            <a:rPr lang="en-US"/>
            <a:t>Establishing best practices for limiting access</a:t>
          </a:r>
        </a:p>
      </dgm:t>
    </dgm:pt>
    <dgm:pt modelId="{9788B912-622B-473D-B989-6E7582851910}" type="parTrans" cxnId="{2342CE7D-9B07-4B9E-968C-A8C8DF6ADB7E}">
      <dgm:prSet/>
      <dgm:spPr/>
      <dgm:t>
        <a:bodyPr/>
        <a:lstStyle/>
        <a:p>
          <a:endParaRPr lang="en-US"/>
        </a:p>
      </dgm:t>
    </dgm:pt>
    <dgm:pt modelId="{6ED120E2-6A25-414A-8858-D657B3D7B98E}" type="sibTrans" cxnId="{2342CE7D-9B07-4B9E-968C-A8C8DF6ADB7E}">
      <dgm:prSet/>
      <dgm:spPr/>
      <dgm:t>
        <a:bodyPr/>
        <a:lstStyle/>
        <a:p>
          <a:endParaRPr lang="en-US"/>
        </a:p>
      </dgm:t>
    </dgm:pt>
    <dgm:pt modelId="{EEABABC8-4550-446B-A745-466EBDDB9946}">
      <dgm:prSet/>
      <dgm:spPr/>
      <dgm:t>
        <a:bodyPr/>
        <a:lstStyle/>
        <a:p>
          <a:r>
            <a:rPr lang="en-US"/>
            <a:t>Can help secure systems and data</a:t>
          </a:r>
        </a:p>
      </dgm:t>
    </dgm:pt>
    <dgm:pt modelId="{B8C570C3-7760-41A8-9C1F-2A88B9DD9F6A}" type="parTrans" cxnId="{8D0F101D-B03D-41A5-BBE3-FF16AA10E40C}">
      <dgm:prSet/>
      <dgm:spPr/>
      <dgm:t>
        <a:bodyPr/>
        <a:lstStyle/>
        <a:p>
          <a:endParaRPr lang="en-US"/>
        </a:p>
      </dgm:t>
    </dgm:pt>
    <dgm:pt modelId="{14D821B0-0BC4-4005-B520-348A2F66275E}" type="sibTrans" cxnId="{8D0F101D-B03D-41A5-BBE3-FF16AA10E40C}">
      <dgm:prSet/>
      <dgm:spPr/>
      <dgm:t>
        <a:bodyPr/>
        <a:lstStyle/>
        <a:p>
          <a:endParaRPr lang="en-US"/>
        </a:p>
      </dgm:t>
    </dgm:pt>
    <dgm:pt modelId="{43B9F2EE-2A0F-4649-85CE-2E6B91314472}">
      <dgm:prSet/>
      <dgm:spPr/>
      <dgm:t>
        <a:bodyPr/>
        <a:lstStyle/>
        <a:p>
          <a:r>
            <a:rPr lang="en-US"/>
            <a:t>Examples of best practices</a:t>
          </a:r>
        </a:p>
      </dgm:t>
    </dgm:pt>
    <dgm:pt modelId="{7CA9CBBA-8D78-4982-B856-12F87F7429ED}" type="parTrans" cxnId="{B3577B97-9AC7-4930-996C-5D9152ADFBC2}">
      <dgm:prSet/>
      <dgm:spPr/>
      <dgm:t>
        <a:bodyPr/>
        <a:lstStyle/>
        <a:p>
          <a:endParaRPr lang="en-US"/>
        </a:p>
      </dgm:t>
    </dgm:pt>
    <dgm:pt modelId="{416C3C74-D027-4D64-BA09-C9CAC06E16EE}" type="sibTrans" cxnId="{B3577B97-9AC7-4930-996C-5D9152ADFBC2}">
      <dgm:prSet/>
      <dgm:spPr/>
      <dgm:t>
        <a:bodyPr/>
        <a:lstStyle/>
        <a:p>
          <a:endParaRPr lang="en-US"/>
        </a:p>
      </dgm:t>
    </dgm:pt>
    <dgm:pt modelId="{979408FC-8957-4E6E-89D5-7822837B863A}">
      <dgm:prSet/>
      <dgm:spPr/>
      <dgm:t>
        <a:bodyPr/>
        <a:lstStyle/>
        <a:p>
          <a:r>
            <a:rPr lang="en-US"/>
            <a:t>Separation of duties</a:t>
          </a:r>
        </a:p>
      </dgm:t>
    </dgm:pt>
    <dgm:pt modelId="{3F7E5537-4E21-4CB3-A298-D5D5EA19CBA4}" type="parTrans" cxnId="{AF3D5612-F2C8-46F8-9ECD-45E36F3B44C3}">
      <dgm:prSet/>
      <dgm:spPr/>
      <dgm:t>
        <a:bodyPr/>
        <a:lstStyle/>
        <a:p>
          <a:endParaRPr lang="en-US"/>
        </a:p>
      </dgm:t>
    </dgm:pt>
    <dgm:pt modelId="{E3BF36A4-3D75-48FD-BE95-2BE3EA9E449F}" type="sibTrans" cxnId="{AF3D5612-F2C8-46F8-9ECD-45E36F3B44C3}">
      <dgm:prSet/>
      <dgm:spPr/>
      <dgm:t>
        <a:bodyPr/>
        <a:lstStyle/>
        <a:p>
          <a:endParaRPr lang="en-US"/>
        </a:p>
      </dgm:t>
    </dgm:pt>
    <dgm:pt modelId="{11462234-06D7-45A5-8A34-BDFB6C4E67CC}">
      <dgm:prSet/>
      <dgm:spPr/>
      <dgm:t>
        <a:bodyPr/>
        <a:lstStyle/>
        <a:p>
          <a:r>
            <a:rPr lang="en-US"/>
            <a:t>Job rotation</a:t>
          </a:r>
        </a:p>
      </dgm:t>
    </dgm:pt>
    <dgm:pt modelId="{27F62763-FC5B-4C18-927D-B545653A7B5D}" type="parTrans" cxnId="{FD9C4F48-9C3B-4B02-B888-8A937DEB8F47}">
      <dgm:prSet/>
      <dgm:spPr/>
      <dgm:t>
        <a:bodyPr/>
        <a:lstStyle/>
        <a:p>
          <a:endParaRPr lang="en-US"/>
        </a:p>
      </dgm:t>
    </dgm:pt>
    <dgm:pt modelId="{129F2280-0A62-4DBD-9AAA-059731C588E5}" type="sibTrans" cxnId="{FD9C4F48-9C3B-4B02-B888-8A937DEB8F47}">
      <dgm:prSet/>
      <dgm:spPr/>
      <dgm:t>
        <a:bodyPr/>
        <a:lstStyle/>
        <a:p>
          <a:endParaRPr lang="en-US"/>
        </a:p>
      </dgm:t>
    </dgm:pt>
    <dgm:pt modelId="{9A00EAF7-02A7-474B-9026-3641DCC66246}">
      <dgm:prSet/>
      <dgm:spPr/>
      <dgm:t>
        <a:bodyPr/>
        <a:lstStyle/>
        <a:p>
          <a:r>
            <a:rPr lang="en-US"/>
            <a:t>Mandatory vacations</a:t>
          </a:r>
        </a:p>
      </dgm:t>
    </dgm:pt>
    <dgm:pt modelId="{1433A138-F430-4A1F-A1A9-DC5088B2C82F}" type="parTrans" cxnId="{E7439B9E-987F-4571-BF61-0DDE07FC2656}">
      <dgm:prSet/>
      <dgm:spPr/>
      <dgm:t>
        <a:bodyPr/>
        <a:lstStyle/>
        <a:p>
          <a:endParaRPr lang="en-US"/>
        </a:p>
      </dgm:t>
    </dgm:pt>
    <dgm:pt modelId="{3C1E2200-2E41-4706-8879-61B69F80A64A}" type="sibTrans" cxnId="{E7439B9E-987F-4571-BF61-0DDE07FC2656}">
      <dgm:prSet/>
      <dgm:spPr/>
      <dgm:t>
        <a:bodyPr/>
        <a:lstStyle/>
        <a:p>
          <a:endParaRPr lang="en-US"/>
        </a:p>
      </dgm:t>
    </dgm:pt>
    <dgm:pt modelId="{147A19F9-53CC-40DE-AF49-10F05B5B5690}">
      <dgm:prSet/>
      <dgm:spPr/>
      <dgm:t>
        <a:bodyPr/>
        <a:lstStyle/>
        <a:p>
          <a:r>
            <a:rPr lang="en-US"/>
            <a:t>Clean desk policy</a:t>
          </a:r>
        </a:p>
      </dgm:t>
    </dgm:pt>
    <dgm:pt modelId="{A571F153-8D95-418D-B51A-B70D8F3585B9}" type="parTrans" cxnId="{3F655D00-A4AF-4B41-A50A-0F11CD9C8B95}">
      <dgm:prSet/>
      <dgm:spPr/>
      <dgm:t>
        <a:bodyPr/>
        <a:lstStyle/>
        <a:p>
          <a:endParaRPr lang="en-US"/>
        </a:p>
      </dgm:t>
    </dgm:pt>
    <dgm:pt modelId="{39D48282-3D6B-4363-8342-76C40B3B9E88}" type="sibTrans" cxnId="{3F655D00-A4AF-4B41-A50A-0F11CD9C8B95}">
      <dgm:prSet/>
      <dgm:spPr/>
      <dgm:t>
        <a:bodyPr/>
        <a:lstStyle/>
        <a:p>
          <a:endParaRPr lang="en-US"/>
        </a:p>
      </dgm:t>
    </dgm:pt>
    <dgm:pt modelId="{12169F7B-0242-4727-8B39-7F994A16473E}" type="pres">
      <dgm:prSet presAssocID="{396C838E-4CD8-4B89-89DA-575F988B6B2B}" presName="hierChild1" presStyleCnt="0">
        <dgm:presLayoutVars>
          <dgm:chPref val="1"/>
          <dgm:dir/>
          <dgm:animOne val="branch"/>
          <dgm:animLvl val="lvl"/>
          <dgm:resizeHandles/>
        </dgm:presLayoutVars>
      </dgm:prSet>
      <dgm:spPr/>
    </dgm:pt>
    <dgm:pt modelId="{C182E699-03B2-4058-BDFE-CDC9F6186BE4}" type="pres">
      <dgm:prSet presAssocID="{E34B2BC6-1868-4E79-8CC9-2ED0E8D603B3}" presName="hierRoot1" presStyleCnt="0"/>
      <dgm:spPr/>
    </dgm:pt>
    <dgm:pt modelId="{5E963EAB-DFE5-4423-A7D3-036BFD52F2D3}" type="pres">
      <dgm:prSet presAssocID="{E34B2BC6-1868-4E79-8CC9-2ED0E8D603B3}" presName="composite" presStyleCnt="0"/>
      <dgm:spPr/>
    </dgm:pt>
    <dgm:pt modelId="{FF92CBD0-C559-4D72-BBFE-73094C1996BE}" type="pres">
      <dgm:prSet presAssocID="{E34B2BC6-1868-4E79-8CC9-2ED0E8D603B3}" presName="background" presStyleLbl="node0" presStyleIdx="0" presStyleCnt="2"/>
      <dgm:spPr/>
    </dgm:pt>
    <dgm:pt modelId="{4C141D0B-7472-4CD8-BD3B-877425E48FFD}" type="pres">
      <dgm:prSet presAssocID="{E34B2BC6-1868-4E79-8CC9-2ED0E8D603B3}" presName="text" presStyleLbl="fgAcc0" presStyleIdx="0" presStyleCnt="2">
        <dgm:presLayoutVars>
          <dgm:chPref val="3"/>
        </dgm:presLayoutVars>
      </dgm:prSet>
      <dgm:spPr/>
    </dgm:pt>
    <dgm:pt modelId="{F4C6322A-BB8B-4999-9815-20891F8345A2}" type="pres">
      <dgm:prSet presAssocID="{E34B2BC6-1868-4E79-8CC9-2ED0E8D603B3}" presName="hierChild2" presStyleCnt="0"/>
      <dgm:spPr/>
    </dgm:pt>
    <dgm:pt modelId="{1EA09C95-F859-4E54-AEED-39BC55A75138}" type="pres">
      <dgm:prSet presAssocID="{B8C570C3-7760-41A8-9C1F-2A88B9DD9F6A}" presName="Name10" presStyleLbl="parChTrans1D2" presStyleIdx="0" presStyleCnt="5"/>
      <dgm:spPr/>
    </dgm:pt>
    <dgm:pt modelId="{B60A3CB0-AE7A-4B99-938C-24EE0B929C4A}" type="pres">
      <dgm:prSet presAssocID="{EEABABC8-4550-446B-A745-466EBDDB9946}" presName="hierRoot2" presStyleCnt="0"/>
      <dgm:spPr/>
    </dgm:pt>
    <dgm:pt modelId="{AB515B0C-3AED-4314-874A-87F8301B495A}" type="pres">
      <dgm:prSet presAssocID="{EEABABC8-4550-446B-A745-466EBDDB9946}" presName="composite2" presStyleCnt="0"/>
      <dgm:spPr/>
    </dgm:pt>
    <dgm:pt modelId="{B3C7143F-9CC5-42D9-B626-7A85BE1676E3}" type="pres">
      <dgm:prSet presAssocID="{EEABABC8-4550-446B-A745-466EBDDB9946}" presName="background2" presStyleLbl="node2" presStyleIdx="0" presStyleCnt="5"/>
      <dgm:spPr/>
    </dgm:pt>
    <dgm:pt modelId="{DB93F543-0219-4D27-ACCE-C19D2A5BCF41}" type="pres">
      <dgm:prSet presAssocID="{EEABABC8-4550-446B-A745-466EBDDB9946}" presName="text2" presStyleLbl="fgAcc2" presStyleIdx="0" presStyleCnt="5">
        <dgm:presLayoutVars>
          <dgm:chPref val="3"/>
        </dgm:presLayoutVars>
      </dgm:prSet>
      <dgm:spPr/>
    </dgm:pt>
    <dgm:pt modelId="{A4C0E2C5-6F38-4313-9AA5-8689F57759D5}" type="pres">
      <dgm:prSet presAssocID="{EEABABC8-4550-446B-A745-466EBDDB9946}" presName="hierChild3" presStyleCnt="0"/>
      <dgm:spPr/>
    </dgm:pt>
    <dgm:pt modelId="{BE6E4908-D987-4D47-B414-578EC4ED2CB9}" type="pres">
      <dgm:prSet presAssocID="{43B9F2EE-2A0F-4649-85CE-2E6B91314472}" presName="hierRoot1" presStyleCnt="0"/>
      <dgm:spPr/>
    </dgm:pt>
    <dgm:pt modelId="{7CFEC47B-1D12-4E47-8FDB-93391F30570E}" type="pres">
      <dgm:prSet presAssocID="{43B9F2EE-2A0F-4649-85CE-2E6B91314472}" presName="composite" presStyleCnt="0"/>
      <dgm:spPr/>
    </dgm:pt>
    <dgm:pt modelId="{1E2F108A-C66D-46EF-92B1-0365F8988330}" type="pres">
      <dgm:prSet presAssocID="{43B9F2EE-2A0F-4649-85CE-2E6B91314472}" presName="background" presStyleLbl="node0" presStyleIdx="1" presStyleCnt="2"/>
      <dgm:spPr/>
    </dgm:pt>
    <dgm:pt modelId="{D781D227-F2D1-4B3E-B604-65EF42A391EF}" type="pres">
      <dgm:prSet presAssocID="{43B9F2EE-2A0F-4649-85CE-2E6B91314472}" presName="text" presStyleLbl="fgAcc0" presStyleIdx="1" presStyleCnt="2">
        <dgm:presLayoutVars>
          <dgm:chPref val="3"/>
        </dgm:presLayoutVars>
      </dgm:prSet>
      <dgm:spPr/>
    </dgm:pt>
    <dgm:pt modelId="{CB0CF4EF-D689-48F1-B5E5-B89F623EBA0D}" type="pres">
      <dgm:prSet presAssocID="{43B9F2EE-2A0F-4649-85CE-2E6B91314472}" presName="hierChild2" presStyleCnt="0"/>
      <dgm:spPr/>
    </dgm:pt>
    <dgm:pt modelId="{9CB74E4F-724A-473A-A8C3-0965950A149A}" type="pres">
      <dgm:prSet presAssocID="{3F7E5537-4E21-4CB3-A298-D5D5EA19CBA4}" presName="Name10" presStyleLbl="parChTrans1D2" presStyleIdx="1" presStyleCnt="5"/>
      <dgm:spPr/>
    </dgm:pt>
    <dgm:pt modelId="{062EEF8D-8B23-4516-A483-87DC732F7C2B}" type="pres">
      <dgm:prSet presAssocID="{979408FC-8957-4E6E-89D5-7822837B863A}" presName="hierRoot2" presStyleCnt="0"/>
      <dgm:spPr/>
    </dgm:pt>
    <dgm:pt modelId="{0AC2272F-230D-4265-835E-C44DD900D884}" type="pres">
      <dgm:prSet presAssocID="{979408FC-8957-4E6E-89D5-7822837B863A}" presName="composite2" presStyleCnt="0"/>
      <dgm:spPr/>
    </dgm:pt>
    <dgm:pt modelId="{0D883584-97E2-432B-B733-5FF69CEB5512}" type="pres">
      <dgm:prSet presAssocID="{979408FC-8957-4E6E-89D5-7822837B863A}" presName="background2" presStyleLbl="node2" presStyleIdx="1" presStyleCnt="5"/>
      <dgm:spPr/>
    </dgm:pt>
    <dgm:pt modelId="{72D56FA6-0E78-4500-9808-10017194CB56}" type="pres">
      <dgm:prSet presAssocID="{979408FC-8957-4E6E-89D5-7822837B863A}" presName="text2" presStyleLbl="fgAcc2" presStyleIdx="1" presStyleCnt="5">
        <dgm:presLayoutVars>
          <dgm:chPref val="3"/>
        </dgm:presLayoutVars>
      </dgm:prSet>
      <dgm:spPr/>
    </dgm:pt>
    <dgm:pt modelId="{D2C0F087-A5B5-43F7-972D-95DD1FFCBA65}" type="pres">
      <dgm:prSet presAssocID="{979408FC-8957-4E6E-89D5-7822837B863A}" presName="hierChild3" presStyleCnt="0"/>
      <dgm:spPr/>
    </dgm:pt>
    <dgm:pt modelId="{84133B81-EB71-4E76-B30C-05BDEA68B239}" type="pres">
      <dgm:prSet presAssocID="{27F62763-FC5B-4C18-927D-B545653A7B5D}" presName="Name10" presStyleLbl="parChTrans1D2" presStyleIdx="2" presStyleCnt="5"/>
      <dgm:spPr/>
    </dgm:pt>
    <dgm:pt modelId="{268CA84D-06C5-49B3-91B6-AD9225E0DB03}" type="pres">
      <dgm:prSet presAssocID="{11462234-06D7-45A5-8A34-BDFB6C4E67CC}" presName="hierRoot2" presStyleCnt="0"/>
      <dgm:spPr/>
    </dgm:pt>
    <dgm:pt modelId="{E62F6C92-DA0F-4D3C-9CF3-9E0C38B4A6C1}" type="pres">
      <dgm:prSet presAssocID="{11462234-06D7-45A5-8A34-BDFB6C4E67CC}" presName="composite2" presStyleCnt="0"/>
      <dgm:spPr/>
    </dgm:pt>
    <dgm:pt modelId="{DB5FD952-A6E6-4B11-86FE-C9F2648F490D}" type="pres">
      <dgm:prSet presAssocID="{11462234-06D7-45A5-8A34-BDFB6C4E67CC}" presName="background2" presStyleLbl="node2" presStyleIdx="2" presStyleCnt="5"/>
      <dgm:spPr/>
    </dgm:pt>
    <dgm:pt modelId="{59619829-07DA-4165-8834-E8C915ACEA68}" type="pres">
      <dgm:prSet presAssocID="{11462234-06D7-45A5-8A34-BDFB6C4E67CC}" presName="text2" presStyleLbl="fgAcc2" presStyleIdx="2" presStyleCnt="5">
        <dgm:presLayoutVars>
          <dgm:chPref val="3"/>
        </dgm:presLayoutVars>
      </dgm:prSet>
      <dgm:spPr/>
    </dgm:pt>
    <dgm:pt modelId="{6909F632-F0F6-49A2-B532-9CC25A64AE16}" type="pres">
      <dgm:prSet presAssocID="{11462234-06D7-45A5-8A34-BDFB6C4E67CC}" presName="hierChild3" presStyleCnt="0"/>
      <dgm:spPr/>
    </dgm:pt>
    <dgm:pt modelId="{B4CE4747-40AA-454A-8799-777564E2B1D4}" type="pres">
      <dgm:prSet presAssocID="{1433A138-F430-4A1F-A1A9-DC5088B2C82F}" presName="Name10" presStyleLbl="parChTrans1D2" presStyleIdx="3" presStyleCnt="5"/>
      <dgm:spPr/>
    </dgm:pt>
    <dgm:pt modelId="{195A4E22-2AAA-466A-A98E-C6D65204D149}" type="pres">
      <dgm:prSet presAssocID="{9A00EAF7-02A7-474B-9026-3641DCC66246}" presName="hierRoot2" presStyleCnt="0"/>
      <dgm:spPr/>
    </dgm:pt>
    <dgm:pt modelId="{E9D4AFE6-FF73-4E11-9F7B-3A6F5B85096F}" type="pres">
      <dgm:prSet presAssocID="{9A00EAF7-02A7-474B-9026-3641DCC66246}" presName="composite2" presStyleCnt="0"/>
      <dgm:spPr/>
    </dgm:pt>
    <dgm:pt modelId="{FE1B59E4-FF15-44F5-9CC3-768DBB6C7FCA}" type="pres">
      <dgm:prSet presAssocID="{9A00EAF7-02A7-474B-9026-3641DCC66246}" presName="background2" presStyleLbl="node2" presStyleIdx="3" presStyleCnt="5"/>
      <dgm:spPr/>
    </dgm:pt>
    <dgm:pt modelId="{970FA18E-23FC-4750-B277-9474BEBE84B7}" type="pres">
      <dgm:prSet presAssocID="{9A00EAF7-02A7-474B-9026-3641DCC66246}" presName="text2" presStyleLbl="fgAcc2" presStyleIdx="3" presStyleCnt="5">
        <dgm:presLayoutVars>
          <dgm:chPref val="3"/>
        </dgm:presLayoutVars>
      </dgm:prSet>
      <dgm:spPr/>
    </dgm:pt>
    <dgm:pt modelId="{A3E4D8D0-FA36-4226-B99D-48E9996E9C1A}" type="pres">
      <dgm:prSet presAssocID="{9A00EAF7-02A7-474B-9026-3641DCC66246}" presName="hierChild3" presStyleCnt="0"/>
      <dgm:spPr/>
    </dgm:pt>
    <dgm:pt modelId="{658089FD-8F82-4F95-B958-5DBDE04D6D9E}" type="pres">
      <dgm:prSet presAssocID="{A571F153-8D95-418D-B51A-B70D8F3585B9}" presName="Name10" presStyleLbl="parChTrans1D2" presStyleIdx="4" presStyleCnt="5"/>
      <dgm:spPr/>
    </dgm:pt>
    <dgm:pt modelId="{21A9CC11-FB33-4FB8-9E6B-22D9237F7C8C}" type="pres">
      <dgm:prSet presAssocID="{147A19F9-53CC-40DE-AF49-10F05B5B5690}" presName="hierRoot2" presStyleCnt="0"/>
      <dgm:spPr/>
    </dgm:pt>
    <dgm:pt modelId="{F6A188DD-9ACD-4E27-B449-A07AD6F30044}" type="pres">
      <dgm:prSet presAssocID="{147A19F9-53CC-40DE-AF49-10F05B5B5690}" presName="composite2" presStyleCnt="0"/>
      <dgm:spPr/>
    </dgm:pt>
    <dgm:pt modelId="{EE65BC81-A4EF-44F2-8D2F-D0D5DC35B3D1}" type="pres">
      <dgm:prSet presAssocID="{147A19F9-53CC-40DE-AF49-10F05B5B5690}" presName="background2" presStyleLbl="node2" presStyleIdx="4" presStyleCnt="5"/>
      <dgm:spPr/>
    </dgm:pt>
    <dgm:pt modelId="{563C768E-6FFF-400D-8AD8-33335F0AA128}" type="pres">
      <dgm:prSet presAssocID="{147A19F9-53CC-40DE-AF49-10F05B5B5690}" presName="text2" presStyleLbl="fgAcc2" presStyleIdx="4" presStyleCnt="5">
        <dgm:presLayoutVars>
          <dgm:chPref val="3"/>
        </dgm:presLayoutVars>
      </dgm:prSet>
      <dgm:spPr/>
    </dgm:pt>
    <dgm:pt modelId="{46C48F57-DA0D-49E8-810B-58ABE6A3B7F3}" type="pres">
      <dgm:prSet presAssocID="{147A19F9-53CC-40DE-AF49-10F05B5B5690}" presName="hierChild3" presStyleCnt="0"/>
      <dgm:spPr/>
    </dgm:pt>
  </dgm:ptLst>
  <dgm:cxnLst>
    <dgm:cxn modelId="{3F655D00-A4AF-4B41-A50A-0F11CD9C8B95}" srcId="{43B9F2EE-2A0F-4649-85CE-2E6B91314472}" destId="{147A19F9-53CC-40DE-AF49-10F05B5B5690}" srcOrd="3" destOrd="0" parTransId="{A571F153-8D95-418D-B51A-B70D8F3585B9}" sibTransId="{39D48282-3D6B-4363-8342-76C40B3B9E88}"/>
    <dgm:cxn modelId="{884B7A02-21CE-4275-BDF0-4A5BACF9BBE5}" type="presOf" srcId="{A571F153-8D95-418D-B51A-B70D8F3585B9}" destId="{658089FD-8F82-4F95-B958-5DBDE04D6D9E}" srcOrd="0" destOrd="0" presId="urn:microsoft.com/office/officeart/2005/8/layout/hierarchy1"/>
    <dgm:cxn modelId="{AF3D5612-F2C8-46F8-9ECD-45E36F3B44C3}" srcId="{43B9F2EE-2A0F-4649-85CE-2E6B91314472}" destId="{979408FC-8957-4E6E-89D5-7822837B863A}" srcOrd="0" destOrd="0" parTransId="{3F7E5537-4E21-4CB3-A298-D5D5EA19CBA4}" sibTransId="{E3BF36A4-3D75-48FD-BE95-2BE3EA9E449F}"/>
    <dgm:cxn modelId="{BE6EDB14-D788-4435-B417-48D40117764E}" type="presOf" srcId="{E34B2BC6-1868-4E79-8CC9-2ED0E8D603B3}" destId="{4C141D0B-7472-4CD8-BD3B-877425E48FFD}" srcOrd="0" destOrd="0" presId="urn:microsoft.com/office/officeart/2005/8/layout/hierarchy1"/>
    <dgm:cxn modelId="{8D0F101D-B03D-41A5-BBE3-FF16AA10E40C}" srcId="{E34B2BC6-1868-4E79-8CC9-2ED0E8D603B3}" destId="{EEABABC8-4550-446B-A745-466EBDDB9946}" srcOrd="0" destOrd="0" parTransId="{B8C570C3-7760-41A8-9C1F-2A88B9DD9F6A}" sibTransId="{14D821B0-0BC4-4005-B520-348A2F66275E}"/>
    <dgm:cxn modelId="{02FB141D-4923-43CD-AED1-12F72C369970}" type="presOf" srcId="{11462234-06D7-45A5-8A34-BDFB6C4E67CC}" destId="{59619829-07DA-4165-8834-E8C915ACEA68}" srcOrd="0" destOrd="0" presId="urn:microsoft.com/office/officeart/2005/8/layout/hierarchy1"/>
    <dgm:cxn modelId="{1DD2CE22-D08F-4BE1-A0E7-33C550812AB2}" type="presOf" srcId="{3F7E5537-4E21-4CB3-A298-D5D5EA19CBA4}" destId="{9CB74E4F-724A-473A-A8C3-0965950A149A}" srcOrd="0" destOrd="0" presId="urn:microsoft.com/office/officeart/2005/8/layout/hierarchy1"/>
    <dgm:cxn modelId="{9943905F-CAF5-4360-9FA3-C2EB1111194D}" type="presOf" srcId="{27F62763-FC5B-4C18-927D-B545653A7B5D}" destId="{84133B81-EB71-4E76-B30C-05BDEA68B239}" srcOrd="0" destOrd="0" presId="urn:microsoft.com/office/officeart/2005/8/layout/hierarchy1"/>
    <dgm:cxn modelId="{FD9C4F48-9C3B-4B02-B888-8A937DEB8F47}" srcId="{43B9F2EE-2A0F-4649-85CE-2E6B91314472}" destId="{11462234-06D7-45A5-8A34-BDFB6C4E67CC}" srcOrd="1" destOrd="0" parTransId="{27F62763-FC5B-4C18-927D-B545653A7B5D}" sibTransId="{129F2280-0A62-4DBD-9AAA-059731C588E5}"/>
    <dgm:cxn modelId="{403FA54F-CDD3-4B02-BBB0-EF85CF888E06}" type="presOf" srcId="{9A00EAF7-02A7-474B-9026-3641DCC66246}" destId="{970FA18E-23FC-4750-B277-9474BEBE84B7}" srcOrd="0" destOrd="0" presId="urn:microsoft.com/office/officeart/2005/8/layout/hierarchy1"/>
    <dgm:cxn modelId="{7A5D9E53-B129-4881-BBDC-BA7A23E0E355}" type="presOf" srcId="{147A19F9-53CC-40DE-AF49-10F05B5B5690}" destId="{563C768E-6FFF-400D-8AD8-33335F0AA128}" srcOrd="0" destOrd="0" presId="urn:microsoft.com/office/officeart/2005/8/layout/hierarchy1"/>
    <dgm:cxn modelId="{2342CE7D-9B07-4B9E-968C-A8C8DF6ADB7E}" srcId="{396C838E-4CD8-4B89-89DA-575F988B6B2B}" destId="{E34B2BC6-1868-4E79-8CC9-2ED0E8D603B3}" srcOrd="0" destOrd="0" parTransId="{9788B912-622B-473D-B989-6E7582851910}" sibTransId="{6ED120E2-6A25-414A-8858-D657B3D7B98E}"/>
    <dgm:cxn modelId="{B3577B97-9AC7-4930-996C-5D9152ADFBC2}" srcId="{396C838E-4CD8-4B89-89DA-575F988B6B2B}" destId="{43B9F2EE-2A0F-4649-85CE-2E6B91314472}" srcOrd="1" destOrd="0" parTransId="{7CA9CBBA-8D78-4982-B856-12F87F7429ED}" sibTransId="{416C3C74-D027-4D64-BA09-C9CAC06E16EE}"/>
    <dgm:cxn modelId="{E7439B9E-987F-4571-BF61-0DDE07FC2656}" srcId="{43B9F2EE-2A0F-4649-85CE-2E6B91314472}" destId="{9A00EAF7-02A7-474B-9026-3641DCC66246}" srcOrd="2" destOrd="0" parTransId="{1433A138-F430-4A1F-A1A9-DC5088B2C82F}" sibTransId="{3C1E2200-2E41-4706-8879-61B69F80A64A}"/>
    <dgm:cxn modelId="{C77306AB-89CB-46E1-BDD9-58664CEADF6B}" type="presOf" srcId="{EEABABC8-4550-446B-A745-466EBDDB9946}" destId="{DB93F543-0219-4D27-ACCE-C19D2A5BCF41}" srcOrd="0" destOrd="0" presId="urn:microsoft.com/office/officeart/2005/8/layout/hierarchy1"/>
    <dgm:cxn modelId="{DF515FB6-E253-4A9D-990C-FAE79AAD52DC}" type="presOf" srcId="{B8C570C3-7760-41A8-9C1F-2A88B9DD9F6A}" destId="{1EA09C95-F859-4E54-AEED-39BC55A75138}" srcOrd="0" destOrd="0" presId="urn:microsoft.com/office/officeart/2005/8/layout/hierarchy1"/>
    <dgm:cxn modelId="{B7DF04C2-0B00-44F5-9308-A29C3F590ADA}" type="presOf" srcId="{396C838E-4CD8-4B89-89DA-575F988B6B2B}" destId="{12169F7B-0242-4727-8B39-7F994A16473E}" srcOrd="0" destOrd="0" presId="urn:microsoft.com/office/officeart/2005/8/layout/hierarchy1"/>
    <dgm:cxn modelId="{89D4C7C3-6971-4EF2-B093-E4171423A160}" type="presOf" srcId="{43B9F2EE-2A0F-4649-85CE-2E6B91314472}" destId="{D781D227-F2D1-4B3E-B604-65EF42A391EF}" srcOrd="0" destOrd="0" presId="urn:microsoft.com/office/officeart/2005/8/layout/hierarchy1"/>
    <dgm:cxn modelId="{3516BFE4-D706-4356-86CD-BE40C113705B}" type="presOf" srcId="{1433A138-F430-4A1F-A1A9-DC5088B2C82F}" destId="{B4CE4747-40AA-454A-8799-777564E2B1D4}" srcOrd="0" destOrd="0" presId="urn:microsoft.com/office/officeart/2005/8/layout/hierarchy1"/>
    <dgm:cxn modelId="{A019B8EE-95F5-4823-AAA0-3D8D2D8A6F41}" type="presOf" srcId="{979408FC-8957-4E6E-89D5-7822837B863A}" destId="{72D56FA6-0E78-4500-9808-10017194CB56}" srcOrd="0" destOrd="0" presId="urn:microsoft.com/office/officeart/2005/8/layout/hierarchy1"/>
    <dgm:cxn modelId="{6CBF123D-49D6-443B-A9F3-486D4286A3FC}" type="presParOf" srcId="{12169F7B-0242-4727-8B39-7F994A16473E}" destId="{C182E699-03B2-4058-BDFE-CDC9F6186BE4}" srcOrd="0" destOrd="0" presId="urn:microsoft.com/office/officeart/2005/8/layout/hierarchy1"/>
    <dgm:cxn modelId="{47C236A1-F330-488D-BDD3-0CA29635B7A2}" type="presParOf" srcId="{C182E699-03B2-4058-BDFE-CDC9F6186BE4}" destId="{5E963EAB-DFE5-4423-A7D3-036BFD52F2D3}" srcOrd="0" destOrd="0" presId="urn:microsoft.com/office/officeart/2005/8/layout/hierarchy1"/>
    <dgm:cxn modelId="{24E5F874-75F9-4DEC-9C89-F3A3D7A897C8}" type="presParOf" srcId="{5E963EAB-DFE5-4423-A7D3-036BFD52F2D3}" destId="{FF92CBD0-C559-4D72-BBFE-73094C1996BE}" srcOrd="0" destOrd="0" presId="urn:microsoft.com/office/officeart/2005/8/layout/hierarchy1"/>
    <dgm:cxn modelId="{77BF0385-144A-490A-BB03-C9D96CCBFB11}" type="presParOf" srcId="{5E963EAB-DFE5-4423-A7D3-036BFD52F2D3}" destId="{4C141D0B-7472-4CD8-BD3B-877425E48FFD}" srcOrd="1" destOrd="0" presId="urn:microsoft.com/office/officeart/2005/8/layout/hierarchy1"/>
    <dgm:cxn modelId="{5C19FE0F-6203-4B58-A06C-DD3CBDA13928}" type="presParOf" srcId="{C182E699-03B2-4058-BDFE-CDC9F6186BE4}" destId="{F4C6322A-BB8B-4999-9815-20891F8345A2}" srcOrd="1" destOrd="0" presId="urn:microsoft.com/office/officeart/2005/8/layout/hierarchy1"/>
    <dgm:cxn modelId="{3F1EE2DF-54EF-4510-9B16-3180D2DD1C8C}" type="presParOf" srcId="{F4C6322A-BB8B-4999-9815-20891F8345A2}" destId="{1EA09C95-F859-4E54-AEED-39BC55A75138}" srcOrd="0" destOrd="0" presId="urn:microsoft.com/office/officeart/2005/8/layout/hierarchy1"/>
    <dgm:cxn modelId="{F4D3837F-C9F3-495F-AB5C-73602AA85909}" type="presParOf" srcId="{F4C6322A-BB8B-4999-9815-20891F8345A2}" destId="{B60A3CB0-AE7A-4B99-938C-24EE0B929C4A}" srcOrd="1" destOrd="0" presId="urn:microsoft.com/office/officeart/2005/8/layout/hierarchy1"/>
    <dgm:cxn modelId="{EF56D2DD-987A-40B2-AF64-808A34E1993A}" type="presParOf" srcId="{B60A3CB0-AE7A-4B99-938C-24EE0B929C4A}" destId="{AB515B0C-3AED-4314-874A-87F8301B495A}" srcOrd="0" destOrd="0" presId="urn:microsoft.com/office/officeart/2005/8/layout/hierarchy1"/>
    <dgm:cxn modelId="{EF832A98-BD36-4852-A373-811504F6258B}" type="presParOf" srcId="{AB515B0C-3AED-4314-874A-87F8301B495A}" destId="{B3C7143F-9CC5-42D9-B626-7A85BE1676E3}" srcOrd="0" destOrd="0" presId="urn:microsoft.com/office/officeart/2005/8/layout/hierarchy1"/>
    <dgm:cxn modelId="{802B60F9-D996-401B-B08D-7A6AD9145C71}" type="presParOf" srcId="{AB515B0C-3AED-4314-874A-87F8301B495A}" destId="{DB93F543-0219-4D27-ACCE-C19D2A5BCF41}" srcOrd="1" destOrd="0" presId="urn:microsoft.com/office/officeart/2005/8/layout/hierarchy1"/>
    <dgm:cxn modelId="{74FA06FD-12E6-487A-9DCC-26A0E00FAB79}" type="presParOf" srcId="{B60A3CB0-AE7A-4B99-938C-24EE0B929C4A}" destId="{A4C0E2C5-6F38-4313-9AA5-8689F57759D5}" srcOrd="1" destOrd="0" presId="urn:microsoft.com/office/officeart/2005/8/layout/hierarchy1"/>
    <dgm:cxn modelId="{A8E9AAA7-34D8-4D4E-83F0-3F064E8D2693}" type="presParOf" srcId="{12169F7B-0242-4727-8B39-7F994A16473E}" destId="{BE6E4908-D987-4D47-B414-578EC4ED2CB9}" srcOrd="1" destOrd="0" presId="urn:microsoft.com/office/officeart/2005/8/layout/hierarchy1"/>
    <dgm:cxn modelId="{963E1F1E-69B8-4E18-8C97-0498079A0DCF}" type="presParOf" srcId="{BE6E4908-D987-4D47-B414-578EC4ED2CB9}" destId="{7CFEC47B-1D12-4E47-8FDB-93391F30570E}" srcOrd="0" destOrd="0" presId="urn:microsoft.com/office/officeart/2005/8/layout/hierarchy1"/>
    <dgm:cxn modelId="{175441BB-E815-454B-97DC-C3A63850124D}" type="presParOf" srcId="{7CFEC47B-1D12-4E47-8FDB-93391F30570E}" destId="{1E2F108A-C66D-46EF-92B1-0365F8988330}" srcOrd="0" destOrd="0" presId="urn:microsoft.com/office/officeart/2005/8/layout/hierarchy1"/>
    <dgm:cxn modelId="{1C5CCE93-23D2-4004-8DBA-07AAFF8F1F18}" type="presParOf" srcId="{7CFEC47B-1D12-4E47-8FDB-93391F30570E}" destId="{D781D227-F2D1-4B3E-B604-65EF42A391EF}" srcOrd="1" destOrd="0" presId="urn:microsoft.com/office/officeart/2005/8/layout/hierarchy1"/>
    <dgm:cxn modelId="{A5EEF632-CF30-4141-B3C4-3E5287DCC761}" type="presParOf" srcId="{BE6E4908-D987-4D47-B414-578EC4ED2CB9}" destId="{CB0CF4EF-D689-48F1-B5E5-B89F623EBA0D}" srcOrd="1" destOrd="0" presId="urn:microsoft.com/office/officeart/2005/8/layout/hierarchy1"/>
    <dgm:cxn modelId="{EE9ACA88-4115-4847-872C-A86A59494916}" type="presParOf" srcId="{CB0CF4EF-D689-48F1-B5E5-B89F623EBA0D}" destId="{9CB74E4F-724A-473A-A8C3-0965950A149A}" srcOrd="0" destOrd="0" presId="urn:microsoft.com/office/officeart/2005/8/layout/hierarchy1"/>
    <dgm:cxn modelId="{0D3F35F7-9754-4F4A-8065-36BBF0F405D8}" type="presParOf" srcId="{CB0CF4EF-D689-48F1-B5E5-B89F623EBA0D}" destId="{062EEF8D-8B23-4516-A483-87DC732F7C2B}" srcOrd="1" destOrd="0" presId="urn:microsoft.com/office/officeart/2005/8/layout/hierarchy1"/>
    <dgm:cxn modelId="{96BE3277-4BB2-4368-8DDE-5A3EDF08A614}" type="presParOf" srcId="{062EEF8D-8B23-4516-A483-87DC732F7C2B}" destId="{0AC2272F-230D-4265-835E-C44DD900D884}" srcOrd="0" destOrd="0" presId="urn:microsoft.com/office/officeart/2005/8/layout/hierarchy1"/>
    <dgm:cxn modelId="{B88451A7-7D7E-4C05-94AD-7D7C5B7AA7A2}" type="presParOf" srcId="{0AC2272F-230D-4265-835E-C44DD900D884}" destId="{0D883584-97E2-432B-B733-5FF69CEB5512}" srcOrd="0" destOrd="0" presId="urn:microsoft.com/office/officeart/2005/8/layout/hierarchy1"/>
    <dgm:cxn modelId="{7141417B-33C8-43BE-8058-A341B59E8D26}" type="presParOf" srcId="{0AC2272F-230D-4265-835E-C44DD900D884}" destId="{72D56FA6-0E78-4500-9808-10017194CB56}" srcOrd="1" destOrd="0" presId="urn:microsoft.com/office/officeart/2005/8/layout/hierarchy1"/>
    <dgm:cxn modelId="{AA66005B-7180-4E3B-85E1-3D438818D1EE}" type="presParOf" srcId="{062EEF8D-8B23-4516-A483-87DC732F7C2B}" destId="{D2C0F087-A5B5-43F7-972D-95DD1FFCBA65}" srcOrd="1" destOrd="0" presId="urn:microsoft.com/office/officeart/2005/8/layout/hierarchy1"/>
    <dgm:cxn modelId="{35B72667-6941-4E57-B876-5CE206B30028}" type="presParOf" srcId="{CB0CF4EF-D689-48F1-B5E5-B89F623EBA0D}" destId="{84133B81-EB71-4E76-B30C-05BDEA68B239}" srcOrd="2" destOrd="0" presId="urn:microsoft.com/office/officeart/2005/8/layout/hierarchy1"/>
    <dgm:cxn modelId="{A8F71D60-ACBE-4F59-834F-366DDC629FAD}" type="presParOf" srcId="{CB0CF4EF-D689-48F1-B5E5-B89F623EBA0D}" destId="{268CA84D-06C5-49B3-91B6-AD9225E0DB03}" srcOrd="3" destOrd="0" presId="urn:microsoft.com/office/officeart/2005/8/layout/hierarchy1"/>
    <dgm:cxn modelId="{C4990438-77D9-408C-9AE5-2EBCE81114E9}" type="presParOf" srcId="{268CA84D-06C5-49B3-91B6-AD9225E0DB03}" destId="{E62F6C92-DA0F-4D3C-9CF3-9E0C38B4A6C1}" srcOrd="0" destOrd="0" presId="urn:microsoft.com/office/officeart/2005/8/layout/hierarchy1"/>
    <dgm:cxn modelId="{7ACF8509-F130-43EB-9C10-D9D0781A6CC7}" type="presParOf" srcId="{E62F6C92-DA0F-4D3C-9CF3-9E0C38B4A6C1}" destId="{DB5FD952-A6E6-4B11-86FE-C9F2648F490D}" srcOrd="0" destOrd="0" presId="urn:microsoft.com/office/officeart/2005/8/layout/hierarchy1"/>
    <dgm:cxn modelId="{22DFC584-5674-447F-BA3A-EB2FF90AEE53}" type="presParOf" srcId="{E62F6C92-DA0F-4D3C-9CF3-9E0C38B4A6C1}" destId="{59619829-07DA-4165-8834-E8C915ACEA68}" srcOrd="1" destOrd="0" presId="urn:microsoft.com/office/officeart/2005/8/layout/hierarchy1"/>
    <dgm:cxn modelId="{5C4E91D0-A6E7-419B-9157-541892854398}" type="presParOf" srcId="{268CA84D-06C5-49B3-91B6-AD9225E0DB03}" destId="{6909F632-F0F6-49A2-B532-9CC25A64AE16}" srcOrd="1" destOrd="0" presId="urn:microsoft.com/office/officeart/2005/8/layout/hierarchy1"/>
    <dgm:cxn modelId="{6970EB79-E8CF-46EA-8B85-8901F0DD4DEA}" type="presParOf" srcId="{CB0CF4EF-D689-48F1-B5E5-B89F623EBA0D}" destId="{B4CE4747-40AA-454A-8799-777564E2B1D4}" srcOrd="4" destOrd="0" presId="urn:microsoft.com/office/officeart/2005/8/layout/hierarchy1"/>
    <dgm:cxn modelId="{8BF253C6-B474-485A-BD85-C936F89B7776}" type="presParOf" srcId="{CB0CF4EF-D689-48F1-B5E5-B89F623EBA0D}" destId="{195A4E22-2AAA-466A-A98E-C6D65204D149}" srcOrd="5" destOrd="0" presId="urn:microsoft.com/office/officeart/2005/8/layout/hierarchy1"/>
    <dgm:cxn modelId="{5A627F06-ACF0-4D30-9174-F922B6A28499}" type="presParOf" srcId="{195A4E22-2AAA-466A-A98E-C6D65204D149}" destId="{E9D4AFE6-FF73-4E11-9F7B-3A6F5B85096F}" srcOrd="0" destOrd="0" presId="urn:microsoft.com/office/officeart/2005/8/layout/hierarchy1"/>
    <dgm:cxn modelId="{33D388F2-90AC-4F3B-ACDF-E5C58BEFD81F}" type="presParOf" srcId="{E9D4AFE6-FF73-4E11-9F7B-3A6F5B85096F}" destId="{FE1B59E4-FF15-44F5-9CC3-768DBB6C7FCA}" srcOrd="0" destOrd="0" presId="urn:microsoft.com/office/officeart/2005/8/layout/hierarchy1"/>
    <dgm:cxn modelId="{DC893C8F-1892-4FB9-9011-111ADBBA6DA7}" type="presParOf" srcId="{E9D4AFE6-FF73-4E11-9F7B-3A6F5B85096F}" destId="{970FA18E-23FC-4750-B277-9474BEBE84B7}" srcOrd="1" destOrd="0" presId="urn:microsoft.com/office/officeart/2005/8/layout/hierarchy1"/>
    <dgm:cxn modelId="{0AC7D65C-561A-43CF-B5B9-B20088CE7ABE}" type="presParOf" srcId="{195A4E22-2AAA-466A-A98E-C6D65204D149}" destId="{A3E4D8D0-FA36-4226-B99D-48E9996E9C1A}" srcOrd="1" destOrd="0" presId="urn:microsoft.com/office/officeart/2005/8/layout/hierarchy1"/>
    <dgm:cxn modelId="{65A0013E-F13D-4686-8C1B-3578DEFA1A81}" type="presParOf" srcId="{CB0CF4EF-D689-48F1-B5E5-B89F623EBA0D}" destId="{658089FD-8F82-4F95-B958-5DBDE04D6D9E}" srcOrd="6" destOrd="0" presId="urn:microsoft.com/office/officeart/2005/8/layout/hierarchy1"/>
    <dgm:cxn modelId="{147BFFAD-D8AF-4CE6-9A19-584AE6BD62D0}" type="presParOf" srcId="{CB0CF4EF-D689-48F1-B5E5-B89F623EBA0D}" destId="{21A9CC11-FB33-4FB8-9E6B-22D9237F7C8C}" srcOrd="7" destOrd="0" presId="urn:microsoft.com/office/officeart/2005/8/layout/hierarchy1"/>
    <dgm:cxn modelId="{BE3D32E1-DCB9-4F24-8D40-9EBE6A1DCC1D}" type="presParOf" srcId="{21A9CC11-FB33-4FB8-9E6B-22D9237F7C8C}" destId="{F6A188DD-9ACD-4E27-B449-A07AD6F30044}" srcOrd="0" destOrd="0" presId="urn:microsoft.com/office/officeart/2005/8/layout/hierarchy1"/>
    <dgm:cxn modelId="{53F4DA27-F092-4927-B396-96923153A470}" type="presParOf" srcId="{F6A188DD-9ACD-4E27-B449-A07AD6F30044}" destId="{EE65BC81-A4EF-44F2-8D2F-D0D5DC35B3D1}" srcOrd="0" destOrd="0" presId="urn:microsoft.com/office/officeart/2005/8/layout/hierarchy1"/>
    <dgm:cxn modelId="{BF69AF1F-E21E-4150-A201-A435F71F413E}" type="presParOf" srcId="{F6A188DD-9ACD-4E27-B449-A07AD6F30044}" destId="{563C768E-6FFF-400D-8AD8-33335F0AA128}" srcOrd="1" destOrd="0" presId="urn:microsoft.com/office/officeart/2005/8/layout/hierarchy1"/>
    <dgm:cxn modelId="{8B2DA413-1791-4305-AE76-C0194E162C3D}" type="presParOf" srcId="{21A9CC11-FB33-4FB8-9E6B-22D9237F7C8C}" destId="{46C48F57-DA0D-49E8-810B-58ABE6A3B7F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F092D3-1037-45D0-920E-97E885564E02}"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17F9332C-D0E5-4B26-87A5-4181200BD4AB}">
      <dgm:prSet/>
      <dgm:spPr/>
      <dgm:t>
        <a:bodyPr/>
        <a:lstStyle/>
        <a:p>
          <a:r>
            <a:rPr lang="en-US"/>
            <a:t>Separation of duties</a:t>
          </a:r>
        </a:p>
      </dgm:t>
    </dgm:pt>
    <dgm:pt modelId="{AC9B15C1-9FDC-4250-B95D-9850786CB0B0}" type="parTrans" cxnId="{F0D3E2C9-94DA-45B5-BD66-E67CF80FCC93}">
      <dgm:prSet/>
      <dgm:spPr/>
      <dgm:t>
        <a:bodyPr/>
        <a:lstStyle/>
        <a:p>
          <a:endParaRPr lang="en-US"/>
        </a:p>
      </dgm:t>
    </dgm:pt>
    <dgm:pt modelId="{42B99493-73C5-4153-B388-0FBF17031FB0}" type="sibTrans" cxnId="{F0D3E2C9-94DA-45B5-BD66-E67CF80FCC93}">
      <dgm:prSet/>
      <dgm:spPr/>
      <dgm:t>
        <a:bodyPr/>
        <a:lstStyle/>
        <a:p>
          <a:endParaRPr lang="en-US"/>
        </a:p>
      </dgm:t>
    </dgm:pt>
    <dgm:pt modelId="{14050474-2104-49C9-9B2D-E00BB2A2322F}">
      <dgm:prSet/>
      <dgm:spPr/>
      <dgm:t>
        <a:bodyPr/>
        <a:lstStyle/>
        <a:p>
          <a:r>
            <a:rPr lang="en-US"/>
            <a:t>Fraud can result from a single user being trusted with complete control of a process</a:t>
          </a:r>
        </a:p>
      </dgm:t>
    </dgm:pt>
    <dgm:pt modelId="{B5382A09-6107-478E-8489-0FE6E47B75BB}" type="parTrans" cxnId="{DC679FB3-99B4-48BE-8AB9-41A1D1B345EC}">
      <dgm:prSet/>
      <dgm:spPr/>
      <dgm:t>
        <a:bodyPr/>
        <a:lstStyle/>
        <a:p>
          <a:endParaRPr lang="en-US"/>
        </a:p>
      </dgm:t>
    </dgm:pt>
    <dgm:pt modelId="{58B12BEF-06C9-438B-B35B-5E70340BD0B8}" type="sibTrans" cxnId="{DC679FB3-99B4-48BE-8AB9-41A1D1B345EC}">
      <dgm:prSet/>
      <dgm:spPr/>
      <dgm:t>
        <a:bodyPr/>
        <a:lstStyle/>
        <a:p>
          <a:endParaRPr lang="en-US"/>
        </a:p>
      </dgm:t>
    </dgm:pt>
    <dgm:pt modelId="{317D01BA-894C-40F1-BDC8-60338F676763}">
      <dgm:prSet/>
      <dgm:spPr/>
      <dgm:t>
        <a:bodyPr/>
        <a:lstStyle/>
        <a:p>
          <a:r>
            <a:rPr lang="en-US"/>
            <a:t>Requires two or more people responsible for functions related to handling money</a:t>
          </a:r>
        </a:p>
      </dgm:t>
    </dgm:pt>
    <dgm:pt modelId="{F59467A3-7C60-4368-985C-BBE92DAD7C4A}" type="parTrans" cxnId="{A3EC3159-29FF-4EB6-A0C7-4A1A63BEB04E}">
      <dgm:prSet/>
      <dgm:spPr/>
      <dgm:t>
        <a:bodyPr/>
        <a:lstStyle/>
        <a:p>
          <a:endParaRPr lang="en-US"/>
        </a:p>
      </dgm:t>
    </dgm:pt>
    <dgm:pt modelId="{387DD228-A9F2-4C57-9340-5F2464D9FAA8}" type="sibTrans" cxnId="{A3EC3159-29FF-4EB6-A0C7-4A1A63BEB04E}">
      <dgm:prSet/>
      <dgm:spPr/>
      <dgm:t>
        <a:bodyPr/>
        <a:lstStyle/>
        <a:p>
          <a:endParaRPr lang="en-US"/>
        </a:p>
      </dgm:t>
    </dgm:pt>
    <dgm:pt modelId="{AD0B96D5-317C-4A26-AF60-1776228C4A87}">
      <dgm:prSet/>
      <dgm:spPr/>
      <dgm:t>
        <a:bodyPr/>
        <a:lstStyle/>
        <a:p>
          <a:r>
            <a:rPr lang="en-US"/>
            <a:t>The system is not vulnerable to actions of a single person</a:t>
          </a:r>
        </a:p>
      </dgm:t>
    </dgm:pt>
    <dgm:pt modelId="{993FB29D-7E00-4D84-8467-8809C24B664F}" type="parTrans" cxnId="{67B92278-839F-466E-95D2-8EE7E68E03C5}">
      <dgm:prSet/>
      <dgm:spPr/>
      <dgm:t>
        <a:bodyPr/>
        <a:lstStyle/>
        <a:p>
          <a:endParaRPr lang="en-US"/>
        </a:p>
      </dgm:t>
    </dgm:pt>
    <dgm:pt modelId="{705373AA-4D10-472F-9FD2-DCB5812B5D9B}" type="sibTrans" cxnId="{67B92278-839F-466E-95D2-8EE7E68E03C5}">
      <dgm:prSet/>
      <dgm:spPr/>
      <dgm:t>
        <a:bodyPr/>
        <a:lstStyle/>
        <a:p>
          <a:endParaRPr lang="en-US"/>
        </a:p>
      </dgm:t>
    </dgm:pt>
    <dgm:pt modelId="{3DBC11C6-3120-439B-ADD6-EE64FDD25189}">
      <dgm:prSet/>
      <dgm:spPr/>
      <dgm:t>
        <a:bodyPr/>
        <a:lstStyle/>
        <a:p>
          <a:r>
            <a:rPr lang="en-US"/>
            <a:t>In relation to computer access control</a:t>
          </a:r>
        </a:p>
      </dgm:t>
    </dgm:pt>
    <dgm:pt modelId="{2BB51577-B72E-4535-9D29-23359A386B12}" type="parTrans" cxnId="{290D2623-4388-481A-9CFB-11A0B8BF4C5D}">
      <dgm:prSet/>
      <dgm:spPr/>
      <dgm:t>
        <a:bodyPr/>
        <a:lstStyle/>
        <a:p>
          <a:endParaRPr lang="en-US"/>
        </a:p>
      </dgm:t>
    </dgm:pt>
    <dgm:pt modelId="{59047F9C-7C1B-4C84-89E3-28229ADFDDE2}" type="sibTrans" cxnId="{290D2623-4388-481A-9CFB-11A0B8BF4C5D}">
      <dgm:prSet/>
      <dgm:spPr/>
      <dgm:t>
        <a:bodyPr/>
        <a:lstStyle/>
        <a:p>
          <a:endParaRPr lang="en-US"/>
        </a:p>
      </dgm:t>
    </dgm:pt>
    <dgm:pt modelId="{346BB3A0-28DA-40F9-BF97-488EF4069B8F}">
      <dgm:prSet/>
      <dgm:spPr/>
      <dgm:t>
        <a:bodyPr/>
        <a:lstStyle/>
        <a:p>
          <a:r>
            <a:rPr lang="en-US"/>
            <a:t>Requires that if the fraudulent application of a process could potentially result in a breach of security, the process should be divided between two or more individuals</a:t>
          </a:r>
        </a:p>
      </dgm:t>
    </dgm:pt>
    <dgm:pt modelId="{A887D4C2-61A1-4AA9-BC23-16DEAC765F69}" type="parTrans" cxnId="{C8EE01F9-AFD8-4D29-BDAA-8EDEFCFF9DE7}">
      <dgm:prSet/>
      <dgm:spPr/>
      <dgm:t>
        <a:bodyPr/>
        <a:lstStyle/>
        <a:p>
          <a:endParaRPr lang="en-US"/>
        </a:p>
      </dgm:t>
    </dgm:pt>
    <dgm:pt modelId="{ACA63ED0-2B57-4CEC-9FF2-A178D26CB9D3}" type="sibTrans" cxnId="{C8EE01F9-AFD8-4D29-BDAA-8EDEFCFF9DE7}">
      <dgm:prSet/>
      <dgm:spPr/>
      <dgm:t>
        <a:bodyPr/>
        <a:lstStyle/>
        <a:p>
          <a:endParaRPr lang="en-US"/>
        </a:p>
      </dgm:t>
    </dgm:pt>
    <dgm:pt modelId="{7A9370D9-A259-460A-AA86-279501E5E232}" type="pres">
      <dgm:prSet presAssocID="{FDF092D3-1037-45D0-920E-97E885564E02}" presName="Name0" presStyleCnt="0">
        <dgm:presLayoutVars>
          <dgm:dir/>
          <dgm:animLvl val="lvl"/>
          <dgm:resizeHandles val="exact"/>
        </dgm:presLayoutVars>
      </dgm:prSet>
      <dgm:spPr/>
    </dgm:pt>
    <dgm:pt modelId="{3D3AD1AB-B208-483D-9E4D-60F117A11B90}" type="pres">
      <dgm:prSet presAssocID="{17F9332C-D0E5-4B26-87A5-4181200BD4AB}" presName="linNode" presStyleCnt="0"/>
      <dgm:spPr/>
    </dgm:pt>
    <dgm:pt modelId="{D3C52C4C-7BD3-4518-9682-4CE20E98278C}" type="pres">
      <dgm:prSet presAssocID="{17F9332C-D0E5-4B26-87A5-4181200BD4AB}" presName="parentText" presStyleLbl="node1" presStyleIdx="0" presStyleCnt="2">
        <dgm:presLayoutVars>
          <dgm:chMax val="1"/>
          <dgm:bulletEnabled val="1"/>
        </dgm:presLayoutVars>
      </dgm:prSet>
      <dgm:spPr/>
    </dgm:pt>
    <dgm:pt modelId="{60ECDB9B-DCB4-40A2-A555-13445ECB9FEB}" type="pres">
      <dgm:prSet presAssocID="{17F9332C-D0E5-4B26-87A5-4181200BD4AB}" presName="descendantText" presStyleLbl="alignAccFollowNode1" presStyleIdx="0" presStyleCnt="2">
        <dgm:presLayoutVars>
          <dgm:bulletEnabled val="1"/>
        </dgm:presLayoutVars>
      </dgm:prSet>
      <dgm:spPr/>
    </dgm:pt>
    <dgm:pt modelId="{E1C59085-67D0-4BFF-9764-A623D037B335}" type="pres">
      <dgm:prSet presAssocID="{42B99493-73C5-4153-B388-0FBF17031FB0}" presName="sp" presStyleCnt="0"/>
      <dgm:spPr/>
    </dgm:pt>
    <dgm:pt modelId="{8561F0EA-07C7-4C8F-9041-E790E4647572}" type="pres">
      <dgm:prSet presAssocID="{3DBC11C6-3120-439B-ADD6-EE64FDD25189}" presName="linNode" presStyleCnt="0"/>
      <dgm:spPr/>
    </dgm:pt>
    <dgm:pt modelId="{E0FD1E20-E073-423B-AA69-F830436187A6}" type="pres">
      <dgm:prSet presAssocID="{3DBC11C6-3120-439B-ADD6-EE64FDD25189}" presName="parentText" presStyleLbl="node1" presStyleIdx="1" presStyleCnt="2">
        <dgm:presLayoutVars>
          <dgm:chMax val="1"/>
          <dgm:bulletEnabled val="1"/>
        </dgm:presLayoutVars>
      </dgm:prSet>
      <dgm:spPr/>
    </dgm:pt>
    <dgm:pt modelId="{CDFAEFFF-3654-4C75-9025-A2D22155AF1B}" type="pres">
      <dgm:prSet presAssocID="{3DBC11C6-3120-439B-ADD6-EE64FDD25189}" presName="descendantText" presStyleLbl="alignAccFollowNode1" presStyleIdx="1" presStyleCnt="2">
        <dgm:presLayoutVars>
          <dgm:bulletEnabled val="1"/>
        </dgm:presLayoutVars>
      </dgm:prSet>
      <dgm:spPr/>
    </dgm:pt>
  </dgm:ptLst>
  <dgm:cxnLst>
    <dgm:cxn modelId="{290D2623-4388-481A-9CFB-11A0B8BF4C5D}" srcId="{FDF092D3-1037-45D0-920E-97E885564E02}" destId="{3DBC11C6-3120-439B-ADD6-EE64FDD25189}" srcOrd="1" destOrd="0" parTransId="{2BB51577-B72E-4535-9D29-23359A386B12}" sibTransId="{59047F9C-7C1B-4C84-89E3-28229ADFDDE2}"/>
    <dgm:cxn modelId="{73603E32-19FE-4545-A124-90F67DB4299F}" type="presOf" srcId="{17F9332C-D0E5-4B26-87A5-4181200BD4AB}" destId="{D3C52C4C-7BD3-4518-9682-4CE20E98278C}" srcOrd="0" destOrd="0" presId="urn:microsoft.com/office/officeart/2005/8/layout/vList5"/>
    <dgm:cxn modelId="{B3EC8532-C831-4148-9F56-8793265F0548}" type="presOf" srcId="{3DBC11C6-3120-439B-ADD6-EE64FDD25189}" destId="{E0FD1E20-E073-423B-AA69-F830436187A6}" srcOrd="0" destOrd="0" presId="urn:microsoft.com/office/officeart/2005/8/layout/vList5"/>
    <dgm:cxn modelId="{23EDCB76-21D0-46AF-A478-3AEECC530AB3}" type="presOf" srcId="{317D01BA-894C-40F1-BDC8-60338F676763}" destId="{60ECDB9B-DCB4-40A2-A555-13445ECB9FEB}" srcOrd="0" destOrd="1" presId="urn:microsoft.com/office/officeart/2005/8/layout/vList5"/>
    <dgm:cxn modelId="{67B92278-839F-466E-95D2-8EE7E68E03C5}" srcId="{17F9332C-D0E5-4B26-87A5-4181200BD4AB}" destId="{AD0B96D5-317C-4A26-AF60-1776228C4A87}" srcOrd="2" destOrd="0" parTransId="{993FB29D-7E00-4D84-8467-8809C24B664F}" sibTransId="{705373AA-4D10-472F-9FD2-DCB5812B5D9B}"/>
    <dgm:cxn modelId="{A3EC3159-29FF-4EB6-A0C7-4A1A63BEB04E}" srcId="{17F9332C-D0E5-4B26-87A5-4181200BD4AB}" destId="{317D01BA-894C-40F1-BDC8-60338F676763}" srcOrd="1" destOrd="0" parTransId="{F59467A3-7C60-4368-985C-BBE92DAD7C4A}" sibTransId="{387DD228-A9F2-4C57-9340-5F2464D9FAA8}"/>
    <dgm:cxn modelId="{1113B785-42F7-43B4-AAD5-F685A5B47DD2}" type="presOf" srcId="{346BB3A0-28DA-40F9-BF97-488EF4069B8F}" destId="{CDFAEFFF-3654-4C75-9025-A2D22155AF1B}" srcOrd="0" destOrd="0" presId="urn:microsoft.com/office/officeart/2005/8/layout/vList5"/>
    <dgm:cxn modelId="{277EE998-C93F-4C53-8783-C8D6466474FF}" type="presOf" srcId="{14050474-2104-49C9-9B2D-E00BB2A2322F}" destId="{60ECDB9B-DCB4-40A2-A555-13445ECB9FEB}" srcOrd="0" destOrd="0" presId="urn:microsoft.com/office/officeart/2005/8/layout/vList5"/>
    <dgm:cxn modelId="{DC679FB3-99B4-48BE-8AB9-41A1D1B345EC}" srcId="{17F9332C-D0E5-4B26-87A5-4181200BD4AB}" destId="{14050474-2104-49C9-9B2D-E00BB2A2322F}" srcOrd="0" destOrd="0" parTransId="{B5382A09-6107-478E-8489-0FE6E47B75BB}" sibTransId="{58B12BEF-06C9-438B-B35B-5E70340BD0B8}"/>
    <dgm:cxn modelId="{F0D3E2C9-94DA-45B5-BD66-E67CF80FCC93}" srcId="{FDF092D3-1037-45D0-920E-97E885564E02}" destId="{17F9332C-D0E5-4B26-87A5-4181200BD4AB}" srcOrd="0" destOrd="0" parTransId="{AC9B15C1-9FDC-4250-B95D-9850786CB0B0}" sibTransId="{42B99493-73C5-4153-B388-0FBF17031FB0}"/>
    <dgm:cxn modelId="{2A9B80E0-173F-400A-9A34-D7AF824744D5}" type="presOf" srcId="{FDF092D3-1037-45D0-920E-97E885564E02}" destId="{7A9370D9-A259-460A-AA86-279501E5E232}" srcOrd="0" destOrd="0" presId="urn:microsoft.com/office/officeart/2005/8/layout/vList5"/>
    <dgm:cxn modelId="{B74E97F1-D3BB-4961-913B-D7BBB9037BAB}" type="presOf" srcId="{AD0B96D5-317C-4A26-AF60-1776228C4A87}" destId="{60ECDB9B-DCB4-40A2-A555-13445ECB9FEB}" srcOrd="0" destOrd="2" presId="urn:microsoft.com/office/officeart/2005/8/layout/vList5"/>
    <dgm:cxn modelId="{C8EE01F9-AFD8-4D29-BDAA-8EDEFCFF9DE7}" srcId="{3DBC11C6-3120-439B-ADD6-EE64FDD25189}" destId="{346BB3A0-28DA-40F9-BF97-488EF4069B8F}" srcOrd="0" destOrd="0" parTransId="{A887D4C2-61A1-4AA9-BC23-16DEAC765F69}" sibTransId="{ACA63ED0-2B57-4CEC-9FF2-A178D26CB9D3}"/>
    <dgm:cxn modelId="{A08F2602-6E38-4864-ACB1-80C08856E60E}" type="presParOf" srcId="{7A9370D9-A259-460A-AA86-279501E5E232}" destId="{3D3AD1AB-B208-483D-9E4D-60F117A11B90}" srcOrd="0" destOrd="0" presId="urn:microsoft.com/office/officeart/2005/8/layout/vList5"/>
    <dgm:cxn modelId="{58A89A3E-D835-4876-B78D-3E3D32EFDAE1}" type="presParOf" srcId="{3D3AD1AB-B208-483D-9E4D-60F117A11B90}" destId="{D3C52C4C-7BD3-4518-9682-4CE20E98278C}" srcOrd="0" destOrd="0" presId="urn:microsoft.com/office/officeart/2005/8/layout/vList5"/>
    <dgm:cxn modelId="{5BF8D7CC-3E24-4401-9A36-AF245453DEF1}" type="presParOf" srcId="{3D3AD1AB-B208-483D-9E4D-60F117A11B90}" destId="{60ECDB9B-DCB4-40A2-A555-13445ECB9FEB}" srcOrd="1" destOrd="0" presId="urn:microsoft.com/office/officeart/2005/8/layout/vList5"/>
    <dgm:cxn modelId="{2E4A68FB-67E9-411C-91E6-E183FB8DF9C5}" type="presParOf" srcId="{7A9370D9-A259-460A-AA86-279501E5E232}" destId="{E1C59085-67D0-4BFF-9764-A623D037B335}" srcOrd="1" destOrd="0" presId="urn:microsoft.com/office/officeart/2005/8/layout/vList5"/>
    <dgm:cxn modelId="{67A1B5E2-4B26-4A71-BA22-A179D50F812A}" type="presParOf" srcId="{7A9370D9-A259-460A-AA86-279501E5E232}" destId="{8561F0EA-07C7-4C8F-9041-E790E4647572}" srcOrd="2" destOrd="0" presId="urn:microsoft.com/office/officeart/2005/8/layout/vList5"/>
    <dgm:cxn modelId="{B7E2FF1D-D005-45D9-961F-CB99765B3270}" type="presParOf" srcId="{8561F0EA-07C7-4C8F-9041-E790E4647572}" destId="{E0FD1E20-E073-423B-AA69-F830436187A6}" srcOrd="0" destOrd="0" presId="urn:microsoft.com/office/officeart/2005/8/layout/vList5"/>
    <dgm:cxn modelId="{93A45F95-433B-4216-911C-26C1C5DDEFAD}" type="presParOf" srcId="{8561F0EA-07C7-4C8F-9041-E790E4647572}" destId="{CDFAEFFF-3654-4C75-9025-A2D22155AF1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2EF96-3F46-44DD-BC2C-C065A3D1FBD9}">
      <dsp:nvSpPr>
        <dsp:cNvPr id="0" name=""/>
        <dsp:cNvSpPr/>
      </dsp:nvSpPr>
      <dsp:spPr>
        <a:xfrm>
          <a:off x="5112748" y="1658197"/>
          <a:ext cx="1595567" cy="759345"/>
        </a:xfrm>
        <a:custGeom>
          <a:avLst/>
          <a:gdLst/>
          <a:ahLst/>
          <a:cxnLst/>
          <a:rect l="0" t="0" r="0" b="0"/>
          <a:pathLst>
            <a:path>
              <a:moveTo>
                <a:pt x="0" y="0"/>
              </a:moveTo>
              <a:lnTo>
                <a:pt x="0" y="517471"/>
              </a:lnTo>
              <a:lnTo>
                <a:pt x="1595567" y="517471"/>
              </a:lnTo>
              <a:lnTo>
                <a:pt x="1595567" y="75934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31C3A6-2AA4-40C8-B3B5-3F11FF7198C4}">
      <dsp:nvSpPr>
        <dsp:cNvPr id="0" name=""/>
        <dsp:cNvSpPr/>
      </dsp:nvSpPr>
      <dsp:spPr>
        <a:xfrm>
          <a:off x="3517180" y="1658197"/>
          <a:ext cx="1595567" cy="759345"/>
        </a:xfrm>
        <a:custGeom>
          <a:avLst/>
          <a:gdLst/>
          <a:ahLst/>
          <a:cxnLst/>
          <a:rect l="0" t="0" r="0" b="0"/>
          <a:pathLst>
            <a:path>
              <a:moveTo>
                <a:pt x="1595567" y="0"/>
              </a:moveTo>
              <a:lnTo>
                <a:pt x="1595567" y="517471"/>
              </a:lnTo>
              <a:lnTo>
                <a:pt x="0" y="517471"/>
              </a:lnTo>
              <a:lnTo>
                <a:pt x="0" y="75934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D418B7-D15C-4238-9F68-BFC52F2C0F39}">
      <dsp:nvSpPr>
        <dsp:cNvPr id="0" name=""/>
        <dsp:cNvSpPr/>
      </dsp:nvSpPr>
      <dsp:spPr>
        <a:xfrm>
          <a:off x="616148" y="257"/>
          <a:ext cx="2610929" cy="16579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EE00DE9-1DFA-4B5B-8289-06971973BF4B}">
      <dsp:nvSpPr>
        <dsp:cNvPr id="0" name=""/>
        <dsp:cNvSpPr/>
      </dsp:nvSpPr>
      <dsp:spPr>
        <a:xfrm>
          <a:off x="906251" y="275855"/>
          <a:ext cx="2610929" cy="165793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Properly configuring accounts is a first step in providing strong security</a:t>
          </a:r>
        </a:p>
      </dsp:txBody>
      <dsp:txXfrm>
        <a:off x="954810" y="324414"/>
        <a:ext cx="2513811" cy="1560821"/>
      </dsp:txXfrm>
    </dsp:sp>
    <dsp:sp modelId="{DEF83F81-67D9-41D9-A0E9-A0A7DA92BA8D}">
      <dsp:nvSpPr>
        <dsp:cNvPr id="0" name=""/>
        <dsp:cNvSpPr/>
      </dsp:nvSpPr>
      <dsp:spPr>
        <a:xfrm>
          <a:off x="3807283" y="257"/>
          <a:ext cx="2610929" cy="16579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2C4D3C8-6B2B-4319-8DF7-2C0D6504A195}">
      <dsp:nvSpPr>
        <dsp:cNvPr id="0" name=""/>
        <dsp:cNvSpPr/>
      </dsp:nvSpPr>
      <dsp:spPr>
        <a:xfrm>
          <a:off x="4097387" y="275855"/>
          <a:ext cx="2610929" cy="165793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Accounts include not only user accounts but also:</a:t>
          </a:r>
        </a:p>
      </dsp:txBody>
      <dsp:txXfrm>
        <a:off x="4145946" y="324414"/>
        <a:ext cx="2513811" cy="1560821"/>
      </dsp:txXfrm>
    </dsp:sp>
    <dsp:sp modelId="{995AB380-395E-4D42-88E9-FFFBFE7C5774}">
      <dsp:nvSpPr>
        <dsp:cNvPr id="0" name=""/>
        <dsp:cNvSpPr/>
      </dsp:nvSpPr>
      <dsp:spPr>
        <a:xfrm>
          <a:off x="2211716" y="2417542"/>
          <a:ext cx="2610929" cy="16579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EFFC9F6-FA3A-4CEE-BC93-45DC1FC30768}">
      <dsp:nvSpPr>
        <dsp:cNvPr id="0" name=""/>
        <dsp:cNvSpPr/>
      </dsp:nvSpPr>
      <dsp:spPr>
        <a:xfrm>
          <a:off x="2501819" y="2693140"/>
          <a:ext cx="2610929" cy="165793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Service accounts</a:t>
          </a:r>
        </a:p>
      </dsp:txBody>
      <dsp:txXfrm>
        <a:off x="2550378" y="2741699"/>
        <a:ext cx="2513811" cy="1560821"/>
      </dsp:txXfrm>
    </dsp:sp>
    <dsp:sp modelId="{1803234C-77AE-497C-9E26-FD5B20D2DE11}">
      <dsp:nvSpPr>
        <dsp:cNvPr id="0" name=""/>
        <dsp:cNvSpPr/>
      </dsp:nvSpPr>
      <dsp:spPr>
        <a:xfrm>
          <a:off x="5402851" y="2417542"/>
          <a:ext cx="2610929" cy="16579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5FBC700F-92C6-44CE-A96A-6E15EFE8816C}">
      <dsp:nvSpPr>
        <dsp:cNvPr id="0" name=""/>
        <dsp:cNvSpPr/>
      </dsp:nvSpPr>
      <dsp:spPr>
        <a:xfrm>
          <a:off x="5692954" y="2693140"/>
          <a:ext cx="2610929" cy="165793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Privileged accounts</a:t>
          </a:r>
        </a:p>
      </dsp:txBody>
      <dsp:txXfrm>
        <a:off x="5741513" y="2741699"/>
        <a:ext cx="2513811" cy="1560821"/>
      </dsp:txXfrm>
    </dsp:sp>
    <dsp:sp modelId="{93FED2A3-ED68-43CC-A8B7-0C71CF5BD703}">
      <dsp:nvSpPr>
        <dsp:cNvPr id="0" name=""/>
        <dsp:cNvSpPr/>
      </dsp:nvSpPr>
      <dsp:spPr>
        <a:xfrm>
          <a:off x="6998419" y="257"/>
          <a:ext cx="2610929" cy="16579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BDDDB38B-3215-4EB7-8DAF-D1F689100D94}">
      <dsp:nvSpPr>
        <dsp:cNvPr id="0" name=""/>
        <dsp:cNvSpPr/>
      </dsp:nvSpPr>
      <dsp:spPr>
        <a:xfrm>
          <a:off x="7288522" y="275855"/>
          <a:ext cx="2610929" cy="165793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Account management includes account setup as well as account auditing</a:t>
          </a:r>
        </a:p>
      </dsp:txBody>
      <dsp:txXfrm>
        <a:off x="7337081" y="324414"/>
        <a:ext cx="2513811" cy="15608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8089FD-8F82-4F95-B958-5DBDE04D6D9E}">
      <dsp:nvSpPr>
        <dsp:cNvPr id="0" name=""/>
        <dsp:cNvSpPr/>
      </dsp:nvSpPr>
      <dsp:spPr>
        <a:xfrm>
          <a:off x="6149529" y="1262360"/>
          <a:ext cx="3169022" cy="502722"/>
        </a:xfrm>
        <a:custGeom>
          <a:avLst/>
          <a:gdLst/>
          <a:ahLst/>
          <a:cxnLst/>
          <a:rect l="0" t="0" r="0" b="0"/>
          <a:pathLst>
            <a:path>
              <a:moveTo>
                <a:pt x="0" y="0"/>
              </a:moveTo>
              <a:lnTo>
                <a:pt x="0" y="342590"/>
              </a:lnTo>
              <a:lnTo>
                <a:pt x="3169022" y="342590"/>
              </a:lnTo>
              <a:lnTo>
                <a:pt x="3169022" y="5027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CE4747-40AA-454A-8799-777564E2B1D4}">
      <dsp:nvSpPr>
        <dsp:cNvPr id="0" name=""/>
        <dsp:cNvSpPr/>
      </dsp:nvSpPr>
      <dsp:spPr>
        <a:xfrm>
          <a:off x="6149529" y="1262360"/>
          <a:ext cx="1056340" cy="502722"/>
        </a:xfrm>
        <a:custGeom>
          <a:avLst/>
          <a:gdLst/>
          <a:ahLst/>
          <a:cxnLst/>
          <a:rect l="0" t="0" r="0" b="0"/>
          <a:pathLst>
            <a:path>
              <a:moveTo>
                <a:pt x="0" y="0"/>
              </a:moveTo>
              <a:lnTo>
                <a:pt x="0" y="342590"/>
              </a:lnTo>
              <a:lnTo>
                <a:pt x="1056340" y="342590"/>
              </a:lnTo>
              <a:lnTo>
                <a:pt x="1056340" y="5027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133B81-EB71-4E76-B30C-05BDEA68B239}">
      <dsp:nvSpPr>
        <dsp:cNvPr id="0" name=""/>
        <dsp:cNvSpPr/>
      </dsp:nvSpPr>
      <dsp:spPr>
        <a:xfrm>
          <a:off x="5093189" y="1262360"/>
          <a:ext cx="1056340" cy="502722"/>
        </a:xfrm>
        <a:custGeom>
          <a:avLst/>
          <a:gdLst/>
          <a:ahLst/>
          <a:cxnLst/>
          <a:rect l="0" t="0" r="0" b="0"/>
          <a:pathLst>
            <a:path>
              <a:moveTo>
                <a:pt x="1056340" y="0"/>
              </a:moveTo>
              <a:lnTo>
                <a:pt x="1056340" y="342590"/>
              </a:lnTo>
              <a:lnTo>
                <a:pt x="0" y="342590"/>
              </a:lnTo>
              <a:lnTo>
                <a:pt x="0" y="5027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B74E4F-724A-473A-A8C3-0965950A149A}">
      <dsp:nvSpPr>
        <dsp:cNvPr id="0" name=""/>
        <dsp:cNvSpPr/>
      </dsp:nvSpPr>
      <dsp:spPr>
        <a:xfrm>
          <a:off x="2980507" y="1262360"/>
          <a:ext cx="3169022" cy="502722"/>
        </a:xfrm>
        <a:custGeom>
          <a:avLst/>
          <a:gdLst/>
          <a:ahLst/>
          <a:cxnLst/>
          <a:rect l="0" t="0" r="0" b="0"/>
          <a:pathLst>
            <a:path>
              <a:moveTo>
                <a:pt x="3169022" y="0"/>
              </a:moveTo>
              <a:lnTo>
                <a:pt x="3169022" y="342590"/>
              </a:lnTo>
              <a:lnTo>
                <a:pt x="0" y="342590"/>
              </a:lnTo>
              <a:lnTo>
                <a:pt x="0" y="5027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A09C95-F859-4E54-AEED-39BC55A75138}">
      <dsp:nvSpPr>
        <dsp:cNvPr id="0" name=""/>
        <dsp:cNvSpPr/>
      </dsp:nvSpPr>
      <dsp:spPr>
        <a:xfrm>
          <a:off x="822106" y="1262360"/>
          <a:ext cx="91440" cy="502722"/>
        </a:xfrm>
        <a:custGeom>
          <a:avLst/>
          <a:gdLst/>
          <a:ahLst/>
          <a:cxnLst/>
          <a:rect l="0" t="0" r="0" b="0"/>
          <a:pathLst>
            <a:path>
              <a:moveTo>
                <a:pt x="45720" y="0"/>
              </a:moveTo>
              <a:lnTo>
                <a:pt x="45720" y="502722"/>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92CBD0-C559-4D72-BBFE-73094C1996BE}">
      <dsp:nvSpPr>
        <dsp:cNvPr id="0" name=""/>
        <dsp:cNvSpPr/>
      </dsp:nvSpPr>
      <dsp:spPr>
        <a:xfrm>
          <a:off x="3547" y="164726"/>
          <a:ext cx="1728557" cy="1097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141D0B-7472-4CD8-BD3B-877425E48FFD}">
      <dsp:nvSpPr>
        <dsp:cNvPr id="0" name=""/>
        <dsp:cNvSpPr/>
      </dsp:nvSpPr>
      <dsp:spPr>
        <a:xfrm>
          <a:off x="195609" y="347185"/>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Establishing best practices for limiting access</a:t>
          </a:r>
        </a:p>
      </dsp:txBody>
      <dsp:txXfrm>
        <a:off x="227758" y="379334"/>
        <a:ext cx="1664259" cy="1033336"/>
      </dsp:txXfrm>
    </dsp:sp>
    <dsp:sp modelId="{B3C7143F-9CC5-42D9-B626-7A85BE1676E3}">
      <dsp:nvSpPr>
        <dsp:cNvPr id="0" name=""/>
        <dsp:cNvSpPr/>
      </dsp:nvSpPr>
      <dsp:spPr>
        <a:xfrm>
          <a:off x="3547" y="1765082"/>
          <a:ext cx="1728557" cy="1097634"/>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93F543-0219-4D27-ACCE-C19D2A5BCF41}">
      <dsp:nvSpPr>
        <dsp:cNvPr id="0" name=""/>
        <dsp:cNvSpPr/>
      </dsp:nvSpPr>
      <dsp:spPr>
        <a:xfrm>
          <a:off x="195609" y="1947541"/>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Can help secure systems and data</a:t>
          </a:r>
        </a:p>
      </dsp:txBody>
      <dsp:txXfrm>
        <a:off x="227758" y="1979690"/>
        <a:ext cx="1664259" cy="1033336"/>
      </dsp:txXfrm>
    </dsp:sp>
    <dsp:sp modelId="{1E2F108A-C66D-46EF-92B1-0365F8988330}">
      <dsp:nvSpPr>
        <dsp:cNvPr id="0" name=""/>
        <dsp:cNvSpPr/>
      </dsp:nvSpPr>
      <dsp:spPr>
        <a:xfrm>
          <a:off x="5285250" y="164726"/>
          <a:ext cx="1728557" cy="1097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81D227-F2D1-4B3E-B604-65EF42A391EF}">
      <dsp:nvSpPr>
        <dsp:cNvPr id="0" name=""/>
        <dsp:cNvSpPr/>
      </dsp:nvSpPr>
      <dsp:spPr>
        <a:xfrm>
          <a:off x="5477312" y="347185"/>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Examples of best practices</a:t>
          </a:r>
        </a:p>
      </dsp:txBody>
      <dsp:txXfrm>
        <a:off x="5509461" y="379334"/>
        <a:ext cx="1664259" cy="1033336"/>
      </dsp:txXfrm>
    </dsp:sp>
    <dsp:sp modelId="{0D883584-97E2-432B-B733-5FF69CEB5512}">
      <dsp:nvSpPr>
        <dsp:cNvPr id="0" name=""/>
        <dsp:cNvSpPr/>
      </dsp:nvSpPr>
      <dsp:spPr>
        <a:xfrm>
          <a:off x="2116228" y="1765082"/>
          <a:ext cx="1728557" cy="1097634"/>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D56FA6-0E78-4500-9808-10017194CB56}">
      <dsp:nvSpPr>
        <dsp:cNvPr id="0" name=""/>
        <dsp:cNvSpPr/>
      </dsp:nvSpPr>
      <dsp:spPr>
        <a:xfrm>
          <a:off x="2308290" y="1947541"/>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Separation of duties</a:t>
          </a:r>
        </a:p>
      </dsp:txBody>
      <dsp:txXfrm>
        <a:off x="2340439" y="1979690"/>
        <a:ext cx="1664259" cy="1033336"/>
      </dsp:txXfrm>
    </dsp:sp>
    <dsp:sp modelId="{DB5FD952-A6E6-4B11-86FE-C9F2648F490D}">
      <dsp:nvSpPr>
        <dsp:cNvPr id="0" name=""/>
        <dsp:cNvSpPr/>
      </dsp:nvSpPr>
      <dsp:spPr>
        <a:xfrm>
          <a:off x="4228910" y="1765082"/>
          <a:ext cx="1728557" cy="1097634"/>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619829-07DA-4165-8834-E8C915ACEA68}">
      <dsp:nvSpPr>
        <dsp:cNvPr id="0" name=""/>
        <dsp:cNvSpPr/>
      </dsp:nvSpPr>
      <dsp:spPr>
        <a:xfrm>
          <a:off x="4420972" y="1947541"/>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Job rotation</a:t>
          </a:r>
        </a:p>
      </dsp:txBody>
      <dsp:txXfrm>
        <a:off x="4453121" y="1979690"/>
        <a:ext cx="1664259" cy="1033336"/>
      </dsp:txXfrm>
    </dsp:sp>
    <dsp:sp modelId="{FE1B59E4-FF15-44F5-9CC3-768DBB6C7FCA}">
      <dsp:nvSpPr>
        <dsp:cNvPr id="0" name=""/>
        <dsp:cNvSpPr/>
      </dsp:nvSpPr>
      <dsp:spPr>
        <a:xfrm>
          <a:off x="6341591" y="1765082"/>
          <a:ext cx="1728557" cy="1097634"/>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0FA18E-23FC-4750-B277-9474BEBE84B7}">
      <dsp:nvSpPr>
        <dsp:cNvPr id="0" name=""/>
        <dsp:cNvSpPr/>
      </dsp:nvSpPr>
      <dsp:spPr>
        <a:xfrm>
          <a:off x="6533653" y="1947541"/>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Mandatory vacations</a:t>
          </a:r>
        </a:p>
      </dsp:txBody>
      <dsp:txXfrm>
        <a:off x="6565802" y="1979690"/>
        <a:ext cx="1664259" cy="1033336"/>
      </dsp:txXfrm>
    </dsp:sp>
    <dsp:sp modelId="{EE65BC81-A4EF-44F2-8D2F-D0D5DC35B3D1}">
      <dsp:nvSpPr>
        <dsp:cNvPr id="0" name=""/>
        <dsp:cNvSpPr/>
      </dsp:nvSpPr>
      <dsp:spPr>
        <a:xfrm>
          <a:off x="8454273" y="1765082"/>
          <a:ext cx="1728557" cy="1097634"/>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3C768E-6FFF-400D-8AD8-33335F0AA128}">
      <dsp:nvSpPr>
        <dsp:cNvPr id="0" name=""/>
        <dsp:cNvSpPr/>
      </dsp:nvSpPr>
      <dsp:spPr>
        <a:xfrm>
          <a:off x="8646335" y="1947541"/>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Clean desk policy</a:t>
          </a:r>
        </a:p>
      </dsp:txBody>
      <dsp:txXfrm>
        <a:off x="8678484" y="1979690"/>
        <a:ext cx="1664259" cy="10333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CDB9B-DCB4-40A2-A555-13445ECB9FEB}">
      <dsp:nvSpPr>
        <dsp:cNvPr id="0" name=""/>
        <dsp:cNvSpPr/>
      </dsp:nvSpPr>
      <dsp:spPr>
        <a:xfrm rot="5400000">
          <a:off x="6612835" y="-2474243"/>
          <a:ext cx="1636176" cy="6993810"/>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a:t>Fraud can result from a single user being trusted with complete control of a process</a:t>
          </a:r>
        </a:p>
        <a:p>
          <a:pPr marL="171450" lvl="1" indent="-171450" algn="l" defTabSz="800100">
            <a:lnSpc>
              <a:spcPct val="90000"/>
            </a:lnSpc>
            <a:spcBef>
              <a:spcPct val="0"/>
            </a:spcBef>
            <a:spcAft>
              <a:spcPct val="15000"/>
            </a:spcAft>
            <a:buChar char="•"/>
          </a:pPr>
          <a:r>
            <a:rPr lang="en-US" sz="1800" kern="1200"/>
            <a:t>Requires two or more people responsible for functions related to handling money</a:t>
          </a:r>
        </a:p>
        <a:p>
          <a:pPr marL="171450" lvl="1" indent="-171450" algn="l" defTabSz="800100">
            <a:lnSpc>
              <a:spcPct val="90000"/>
            </a:lnSpc>
            <a:spcBef>
              <a:spcPct val="0"/>
            </a:spcBef>
            <a:spcAft>
              <a:spcPct val="15000"/>
            </a:spcAft>
            <a:buChar char="•"/>
          </a:pPr>
          <a:r>
            <a:rPr lang="en-US" sz="1800" kern="1200"/>
            <a:t>The system is not vulnerable to actions of a single person</a:t>
          </a:r>
        </a:p>
      </dsp:txBody>
      <dsp:txXfrm rot="-5400000">
        <a:off x="3934018" y="284446"/>
        <a:ext cx="6913938" cy="1476432"/>
      </dsp:txXfrm>
    </dsp:sp>
    <dsp:sp modelId="{D3C52C4C-7BD3-4518-9682-4CE20E98278C}">
      <dsp:nvSpPr>
        <dsp:cNvPr id="0" name=""/>
        <dsp:cNvSpPr/>
      </dsp:nvSpPr>
      <dsp:spPr>
        <a:xfrm>
          <a:off x="0" y="51"/>
          <a:ext cx="3934018" cy="20452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a:t>Separation of duties</a:t>
          </a:r>
        </a:p>
      </dsp:txBody>
      <dsp:txXfrm>
        <a:off x="99839" y="99890"/>
        <a:ext cx="3734340" cy="1845542"/>
      </dsp:txXfrm>
    </dsp:sp>
    <dsp:sp modelId="{CDFAEFFF-3654-4C75-9025-A2D22155AF1B}">
      <dsp:nvSpPr>
        <dsp:cNvPr id="0" name=""/>
        <dsp:cNvSpPr/>
      </dsp:nvSpPr>
      <dsp:spPr>
        <a:xfrm rot="5400000">
          <a:off x="6612835" y="-326761"/>
          <a:ext cx="1636176" cy="6993810"/>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a:t>Requires that if the fraudulent application of a process could potentially result in a breach of security, the process should be divided between two or more individuals</a:t>
          </a:r>
        </a:p>
      </dsp:txBody>
      <dsp:txXfrm rot="-5400000">
        <a:off x="3934018" y="2431928"/>
        <a:ext cx="6913938" cy="1476432"/>
      </dsp:txXfrm>
    </dsp:sp>
    <dsp:sp modelId="{E0FD1E20-E073-423B-AA69-F830436187A6}">
      <dsp:nvSpPr>
        <dsp:cNvPr id="0" name=""/>
        <dsp:cNvSpPr/>
      </dsp:nvSpPr>
      <dsp:spPr>
        <a:xfrm>
          <a:off x="0" y="2147533"/>
          <a:ext cx="3934018" cy="20452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a:t>In relation to computer access control</a:t>
          </a:r>
        </a:p>
      </dsp:txBody>
      <dsp:txXfrm>
        <a:off x="99839" y="2247372"/>
        <a:ext cx="3734340" cy="184554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5218666-A2F1-4943-A08A-38BF93BD1DA2}" type="datetimeFigureOut">
              <a:rPr lang="en-CA" smtClean="0"/>
              <a:t>2024-09-30</a:t>
            </a:fld>
            <a:endParaRPr lang="en-CA"/>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6A68FA9-16BB-45F1-9BA3-6524B5B8D6E7}" type="slidenum">
              <a:rPr lang="en-CA" smtClean="0"/>
              <a:t>‹#›</a:t>
            </a:fld>
            <a:endParaRPr lang="en-CA"/>
          </a:p>
        </p:txBody>
      </p:sp>
    </p:spTree>
    <p:extLst>
      <p:ext uri="{BB962C8B-B14F-4D97-AF65-F5344CB8AC3E}">
        <p14:creationId xmlns:p14="http://schemas.microsoft.com/office/powerpoint/2010/main" val="1488751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8</a:t>
            </a:fld>
            <a:endParaRPr lang="en-CA"/>
          </a:p>
        </p:txBody>
      </p:sp>
    </p:spTree>
    <p:extLst>
      <p:ext uri="{BB962C8B-B14F-4D97-AF65-F5344CB8AC3E}">
        <p14:creationId xmlns:p14="http://schemas.microsoft.com/office/powerpoint/2010/main" val="1394724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13</a:t>
            </a:fld>
            <a:endParaRPr lang="en-CA"/>
          </a:p>
        </p:txBody>
      </p:sp>
    </p:spTree>
    <p:extLst>
      <p:ext uri="{BB962C8B-B14F-4D97-AF65-F5344CB8AC3E}">
        <p14:creationId xmlns:p14="http://schemas.microsoft.com/office/powerpoint/2010/main" val="1332749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23</a:t>
            </a:fld>
            <a:endParaRPr lang="en-US" dirty="0"/>
          </a:p>
        </p:txBody>
      </p:sp>
    </p:spTree>
    <p:extLst>
      <p:ext uri="{BB962C8B-B14F-4D97-AF65-F5344CB8AC3E}">
        <p14:creationId xmlns:p14="http://schemas.microsoft.com/office/powerpoint/2010/main" val="615164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25</a:t>
            </a:fld>
            <a:endParaRPr lang="en-CA"/>
          </a:p>
        </p:txBody>
      </p:sp>
    </p:spTree>
    <p:extLst>
      <p:ext uri="{BB962C8B-B14F-4D97-AF65-F5344CB8AC3E}">
        <p14:creationId xmlns:p14="http://schemas.microsoft.com/office/powerpoint/2010/main" val="2269498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29</a:t>
            </a:fld>
            <a:endParaRPr lang="en-CA"/>
          </a:p>
        </p:txBody>
      </p:sp>
    </p:spTree>
    <p:extLst>
      <p:ext uri="{BB962C8B-B14F-4D97-AF65-F5344CB8AC3E}">
        <p14:creationId xmlns:p14="http://schemas.microsoft.com/office/powerpoint/2010/main" val="540348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33</a:t>
            </a:fld>
            <a:endParaRPr lang="en-CA"/>
          </a:p>
        </p:txBody>
      </p:sp>
    </p:spTree>
    <p:extLst>
      <p:ext uri="{BB962C8B-B14F-4D97-AF65-F5344CB8AC3E}">
        <p14:creationId xmlns:p14="http://schemas.microsoft.com/office/powerpoint/2010/main" val="3259930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39</a:t>
            </a:fld>
            <a:endParaRPr lang="en-CA"/>
          </a:p>
        </p:txBody>
      </p:sp>
    </p:spTree>
    <p:extLst>
      <p:ext uri="{BB962C8B-B14F-4D97-AF65-F5344CB8AC3E}">
        <p14:creationId xmlns:p14="http://schemas.microsoft.com/office/powerpoint/2010/main" val="2797329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40</a:t>
            </a:fld>
            <a:endParaRPr lang="en-CA"/>
          </a:p>
        </p:txBody>
      </p:sp>
    </p:spTree>
    <p:extLst>
      <p:ext uri="{BB962C8B-B14F-4D97-AF65-F5344CB8AC3E}">
        <p14:creationId xmlns:p14="http://schemas.microsoft.com/office/powerpoint/2010/main" val="16764918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43</a:t>
            </a:fld>
            <a:endParaRPr lang="en-CA"/>
          </a:p>
        </p:txBody>
      </p:sp>
    </p:spTree>
    <p:extLst>
      <p:ext uri="{BB962C8B-B14F-4D97-AF65-F5344CB8AC3E}">
        <p14:creationId xmlns:p14="http://schemas.microsoft.com/office/powerpoint/2010/main" val="1506852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BE95-FC20-5159-89C2-9621BE92C744}"/>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CA"/>
          </a:p>
        </p:txBody>
      </p:sp>
      <p:sp>
        <p:nvSpPr>
          <p:cNvPr id="3" name="Subtitle 2">
            <a:extLst>
              <a:ext uri="{FF2B5EF4-FFF2-40B4-BE49-F238E27FC236}">
                <a16:creationId xmlns:a16="http://schemas.microsoft.com/office/drawing/2014/main" id="{08C484B9-F7C9-6F3E-C18B-5FB29EADF658}"/>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6D01A3C-A930-D54E-980D-0B2CD84876DD}"/>
              </a:ext>
            </a:extLst>
          </p:cNvPr>
          <p:cNvSpPr>
            <a:spLocks noGrp="1"/>
          </p:cNvSpPr>
          <p:nvPr>
            <p:ph type="dt" sz="half" idx="10"/>
          </p:nvPr>
        </p:nvSpPr>
        <p:spPr/>
        <p:txBody>
          <a:bodyPr/>
          <a:lstStyle/>
          <a:p>
            <a:fld id="{818D8D12-7CDF-4595-A908-26EA90135E28}" type="datetime1">
              <a:rPr lang="en-CA" smtClean="0"/>
              <a:t>2024-09-30</a:t>
            </a:fld>
            <a:endParaRPr lang="en-CA"/>
          </a:p>
        </p:txBody>
      </p:sp>
      <p:sp>
        <p:nvSpPr>
          <p:cNvPr id="5" name="Footer Placeholder 4">
            <a:extLst>
              <a:ext uri="{FF2B5EF4-FFF2-40B4-BE49-F238E27FC236}">
                <a16:creationId xmlns:a16="http://schemas.microsoft.com/office/drawing/2014/main" id="{8FF5F437-827F-5FED-32CE-44ADAB25548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CF526C3-F7F2-A750-3501-A67201B1D97B}"/>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2767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E3808-DB99-F7DE-B5BE-6DAAE49B744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F865FB8-2601-CC65-4005-421D050104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5BABCAC-DB47-2752-8345-25EA5B8F388C}"/>
              </a:ext>
            </a:extLst>
          </p:cNvPr>
          <p:cNvSpPr>
            <a:spLocks noGrp="1"/>
          </p:cNvSpPr>
          <p:nvPr>
            <p:ph type="dt" sz="half" idx="10"/>
          </p:nvPr>
        </p:nvSpPr>
        <p:spPr/>
        <p:txBody>
          <a:bodyPr/>
          <a:lstStyle/>
          <a:p>
            <a:fld id="{2E0F963D-4464-499F-AF62-C6E82BAD4853}" type="datetime1">
              <a:rPr lang="en-CA" smtClean="0"/>
              <a:t>2024-09-30</a:t>
            </a:fld>
            <a:endParaRPr lang="en-CA"/>
          </a:p>
        </p:txBody>
      </p:sp>
      <p:sp>
        <p:nvSpPr>
          <p:cNvPr id="5" name="Footer Placeholder 4">
            <a:extLst>
              <a:ext uri="{FF2B5EF4-FFF2-40B4-BE49-F238E27FC236}">
                <a16:creationId xmlns:a16="http://schemas.microsoft.com/office/drawing/2014/main" id="{48044E10-B0C1-B09C-864E-BB4CA3C4BE6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8AA7D09-44C3-FF33-5E88-EDBBEE600BBF}"/>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4262750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CE48-F489-B01A-55AA-512B417510FF}"/>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588A1F3-D366-A8E6-DE52-C6BAAD0CE456}"/>
              </a:ext>
            </a:extLst>
          </p:cNvPr>
          <p:cNvSpPr>
            <a:spLocks noGrp="1"/>
          </p:cNvSpPr>
          <p:nvPr>
            <p:ph type="body" idx="1"/>
          </p:nvPr>
        </p:nvSpPr>
        <p:spPr>
          <a:xfrm>
            <a:off x="831851" y="4589465"/>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FB0D2E-F233-6321-635C-F67B0A03CC22}"/>
              </a:ext>
            </a:extLst>
          </p:cNvPr>
          <p:cNvSpPr>
            <a:spLocks noGrp="1"/>
          </p:cNvSpPr>
          <p:nvPr>
            <p:ph type="dt" sz="half" idx="10"/>
          </p:nvPr>
        </p:nvSpPr>
        <p:spPr/>
        <p:txBody>
          <a:bodyPr/>
          <a:lstStyle/>
          <a:p>
            <a:fld id="{9560C6B9-8E15-4029-AF23-DFD91F42C03D}" type="datetime1">
              <a:rPr lang="en-CA" smtClean="0"/>
              <a:t>2024-09-30</a:t>
            </a:fld>
            <a:endParaRPr lang="en-CA"/>
          </a:p>
        </p:txBody>
      </p:sp>
      <p:sp>
        <p:nvSpPr>
          <p:cNvPr id="5" name="Footer Placeholder 4">
            <a:extLst>
              <a:ext uri="{FF2B5EF4-FFF2-40B4-BE49-F238E27FC236}">
                <a16:creationId xmlns:a16="http://schemas.microsoft.com/office/drawing/2014/main" id="{67AD0181-8B92-F550-4C00-DFF7977AC32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139F3AC-C7BB-91F2-C880-8A1B2AA7868E}"/>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393826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0BA3-E6CA-2378-6745-2A40F5D13AF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9F35498-692E-15F1-CE64-8B58DF722A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6437372-2273-643C-C30A-E5AF354005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B71C8EB-12A5-FE7C-3510-4B09AAA1836F}"/>
              </a:ext>
            </a:extLst>
          </p:cNvPr>
          <p:cNvSpPr>
            <a:spLocks noGrp="1"/>
          </p:cNvSpPr>
          <p:nvPr>
            <p:ph type="dt" sz="half" idx="10"/>
          </p:nvPr>
        </p:nvSpPr>
        <p:spPr/>
        <p:txBody>
          <a:bodyPr/>
          <a:lstStyle/>
          <a:p>
            <a:fld id="{77A4038E-73CC-4937-944C-EE1334E4E461}" type="datetime1">
              <a:rPr lang="en-CA" smtClean="0"/>
              <a:t>2024-09-30</a:t>
            </a:fld>
            <a:endParaRPr lang="en-CA"/>
          </a:p>
        </p:txBody>
      </p:sp>
      <p:sp>
        <p:nvSpPr>
          <p:cNvPr id="6" name="Footer Placeholder 5">
            <a:extLst>
              <a:ext uri="{FF2B5EF4-FFF2-40B4-BE49-F238E27FC236}">
                <a16:creationId xmlns:a16="http://schemas.microsoft.com/office/drawing/2014/main" id="{0D16FB01-7B22-57A4-D007-0AD3E449AB1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DD13B69-F996-11B5-48D2-9D4773848B78}"/>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779084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EAEE7-3ED9-CA52-B529-61136E917C9B}"/>
              </a:ext>
            </a:extLst>
          </p:cNvPr>
          <p:cNvSpPr>
            <a:spLocks noGrp="1"/>
          </p:cNvSpPr>
          <p:nvPr>
            <p:ph type="title"/>
          </p:nvPr>
        </p:nvSpPr>
        <p:spPr>
          <a:xfrm>
            <a:off x="839788" y="365127"/>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686265C-1F85-6E59-7659-233982BB8F4B}"/>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3BD524D-BBB8-640D-BECA-7FE3FB807AB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B953840E-CD3F-F886-B96D-BB41B03DBCBD}"/>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CFAABB7-062F-5546-2038-900DDFBF1F99}"/>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EB912D8-2A63-5C29-1422-98A3E2A63A11}"/>
              </a:ext>
            </a:extLst>
          </p:cNvPr>
          <p:cNvSpPr>
            <a:spLocks noGrp="1"/>
          </p:cNvSpPr>
          <p:nvPr>
            <p:ph type="dt" sz="half" idx="10"/>
          </p:nvPr>
        </p:nvSpPr>
        <p:spPr/>
        <p:txBody>
          <a:bodyPr/>
          <a:lstStyle/>
          <a:p>
            <a:fld id="{F046C38C-0FE4-4FBE-A5AD-606C2A78943C}" type="datetime1">
              <a:rPr lang="en-CA" smtClean="0"/>
              <a:t>2024-09-30</a:t>
            </a:fld>
            <a:endParaRPr lang="en-CA"/>
          </a:p>
        </p:txBody>
      </p:sp>
      <p:sp>
        <p:nvSpPr>
          <p:cNvPr id="8" name="Footer Placeholder 7">
            <a:extLst>
              <a:ext uri="{FF2B5EF4-FFF2-40B4-BE49-F238E27FC236}">
                <a16:creationId xmlns:a16="http://schemas.microsoft.com/office/drawing/2014/main" id="{24FA4C95-95DE-4949-0A0C-2E95B4447D9D}"/>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988662AC-1D55-598E-5974-CB367E023BA0}"/>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2885710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5B09-12ED-4DA9-D9B5-16D7B243CAAF}"/>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B274B9D-587B-EDFF-5FA2-015B5B4B34AD}"/>
              </a:ext>
            </a:extLst>
          </p:cNvPr>
          <p:cNvSpPr>
            <a:spLocks noGrp="1"/>
          </p:cNvSpPr>
          <p:nvPr>
            <p:ph type="dt" sz="half" idx="10"/>
          </p:nvPr>
        </p:nvSpPr>
        <p:spPr/>
        <p:txBody>
          <a:bodyPr/>
          <a:lstStyle/>
          <a:p>
            <a:fld id="{16EEC274-E6F7-497C-9C05-2AFE280166A0}" type="datetime1">
              <a:rPr lang="en-CA" smtClean="0"/>
              <a:t>2024-09-30</a:t>
            </a:fld>
            <a:endParaRPr lang="en-CA"/>
          </a:p>
        </p:txBody>
      </p:sp>
      <p:sp>
        <p:nvSpPr>
          <p:cNvPr id="4" name="Footer Placeholder 3">
            <a:extLst>
              <a:ext uri="{FF2B5EF4-FFF2-40B4-BE49-F238E27FC236}">
                <a16:creationId xmlns:a16="http://schemas.microsoft.com/office/drawing/2014/main" id="{6A4606AE-F19B-2040-76F8-F93B27072428}"/>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A43AA1B-E6C2-85A3-3474-06DF7146D81D}"/>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3977523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83A9E8-57C3-DCB9-4717-A3EC49F8F7BF}"/>
              </a:ext>
            </a:extLst>
          </p:cNvPr>
          <p:cNvSpPr>
            <a:spLocks noGrp="1"/>
          </p:cNvSpPr>
          <p:nvPr>
            <p:ph type="dt" sz="half" idx="10"/>
          </p:nvPr>
        </p:nvSpPr>
        <p:spPr/>
        <p:txBody>
          <a:bodyPr/>
          <a:lstStyle/>
          <a:p>
            <a:fld id="{E9C20B62-109B-4AAC-BAEF-F3A7BADEB72D}" type="datetime1">
              <a:rPr lang="en-CA" smtClean="0"/>
              <a:t>2024-09-30</a:t>
            </a:fld>
            <a:endParaRPr lang="en-CA"/>
          </a:p>
        </p:txBody>
      </p:sp>
      <p:sp>
        <p:nvSpPr>
          <p:cNvPr id="3" name="Footer Placeholder 2">
            <a:extLst>
              <a:ext uri="{FF2B5EF4-FFF2-40B4-BE49-F238E27FC236}">
                <a16:creationId xmlns:a16="http://schemas.microsoft.com/office/drawing/2014/main" id="{C09BEDE5-6876-8118-75C9-5F532DFAEFD9}"/>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78072D6-9170-D90E-63D5-E155054BD15D}"/>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711753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3AA82-CA1D-E6F2-0783-F2B4C5A89B38}"/>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F2E4951F-0C84-6586-C85E-12A786179AC7}"/>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BCD76D8A-8EEF-372D-636F-8BA1DA874DAD}"/>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22F7461-9D3E-9ECB-3667-38DAB018AD70}"/>
              </a:ext>
            </a:extLst>
          </p:cNvPr>
          <p:cNvSpPr>
            <a:spLocks noGrp="1"/>
          </p:cNvSpPr>
          <p:nvPr>
            <p:ph type="dt" sz="half" idx="10"/>
          </p:nvPr>
        </p:nvSpPr>
        <p:spPr/>
        <p:txBody>
          <a:bodyPr/>
          <a:lstStyle/>
          <a:p>
            <a:fld id="{1A0EB0CF-B17E-472A-BC26-6DC823F7C4AB}" type="datetime1">
              <a:rPr lang="en-CA" smtClean="0"/>
              <a:t>2024-09-30</a:t>
            </a:fld>
            <a:endParaRPr lang="en-CA"/>
          </a:p>
        </p:txBody>
      </p:sp>
      <p:sp>
        <p:nvSpPr>
          <p:cNvPr id="6" name="Footer Placeholder 5">
            <a:extLst>
              <a:ext uri="{FF2B5EF4-FFF2-40B4-BE49-F238E27FC236}">
                <a16:creationId xmlns:a16="http://schemas.microsoft.com/office/drawing/2014/main" id="{A4CA7C11-3C22-C8B7-4095-3862B93A067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C995527-A49A-20DE-E175-E68D4C8EDC06}"/>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915972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5284D-B48C-B723-D8BB-A4D50EF02F40}"/>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B5FA03A-2B4A-7CCA-E241-034E98574D11}"/>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A"/>
          </a:p>
        </p:txBody>
      </p:sp>
      <p:sp>
        <p:nvSpPr>
          <p:cNvPr id="4" name="Text Placeholder 3">
            <a:extLst>
              <a:ext uri="{FF2B5EF4-FFF2-40B4-BE49-F238E27FC236}">
                <a16:creationId xmlns:a16="http://schemas.microsoft.com/office/drawing/2014/main" id="{EE4D383E-8C62-24EF-1FE6-82518134A0C2}"/>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AB84752-9508-7F5C-3105-EFBDC5412EE7}"/>
              </a:ext>
            </a:extLst>
          </p:cNvPr>
          <p:cNvSpPr>
            <a:spLocks noGrp="1"/>
          </p:cNvSpPr>
          <p:nvPr>
            <p:ph type="dt" sz="half" idx="10"/>
          </p:nvPr>
        </p:nvSpPr>
        <p:spPr/>
        <p:txBody>
          <a:bodyPr/>
          <a:lstStyle/>
          <a:p>
            <a:fld id="{4AD076A6-A460-4E2B-9EE9-AE55BC3E13D1}" type="datetime1">
              <a:rPr lang="en-CA" smtClean="0"/>
              <a:t>2024-09-30</a:t>
            </a:fld>
            <a:endParaRPr lang="en-CA"/>
          </a:p>
        </p:txBody>
      </p:sp>
      <p:sp>
        <p:nvSpPr>
          <p:cNvPr id="6" name="Footer Placeholder 5">
            <a:extLst>
              <a:ext uri="{FF2B5EF4-FFF2-40B4-BE49-F238E27FC236}">
                <a16:creationId xmlns:a16="http://schemas.microsoft.com/office/drawing/2014/main" id="{4A0AC790-735A-449E-B374-44ECC9BC082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3230C98-488F-D989-FFAF-7F20043477E7}"/>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451174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43ECE-26A4-679D-07F9-D3D5DEE1C73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13ACBFF-A176-C1E3-6CAD-220643F076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7307B01-EA56-6E5E-B163-E12BB8DD7F56}"/>
              </a:ext>
            </a:extLst>
          </p:cNvPr>
          <p:cNvSpPr>
            <a:spLocks noGrp="1"/>
          </p:cNvSpPr>
          <p:nvPr>
            <p:ph type="dt" sz="half" idx="10"/>
          </p:nvPr>
        </p:nvSpPr>
        <p:spPr/>
        <p:txBody>
          <a:bodyPr/>
          <a:lstStyle/>
          <a:p>
            <a:fld id="{3E901F6F-9F28-4F3A-AF49-E4E44FECA7AB}" type="datetime1">
              <a:rPr lang="en-CA" smtClean="0"/>
              <a:t>2024-09-30</a:t>
            </a:fld>
            <a:endParaRPr lang="en-CA"/>
          </a:p>
        </p:txBody>
      </p:sp>
      <p:sp>
        <p:nvSpPr>
          <p:cNvPr id="5" name="Footer Placeholder 4">
            <a:extLst>
              <a:ext uri="{FF2B5EF4-FFF2-40B4-BE49-F238E27FC236}">
                <a16:creationId xmlns:a16="http://schemas.microsoft.com/office/drawing/2014/main" id="{C77B0836-B38E-7769-DC76-E99FDEB6A04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542AE4A-481E-0534-464E-5ACF117FFA07}"/>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2354060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E68531-120E-3E4B-733D-B4CD40D21354}"/>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545786F-C53B-AD40-36F6-1685A54A256F}"/>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C6E4159-A5D0-0783-F8C1-A51FC6521E28}"/>
              </a:ext>
            </a:extLst>
          </p:cNvPr>
          <p:cNvSpPr>
            <a:spLocks noGrp="1"/>
          </p:cNvSpPr>
          <p:nvPr>
            <p:ph type="dt" sz="half" idx="10"/>
          </p:nvPr>
        </p:nvSpPr>
        <p:spPr/>
        <p:txBody>
          <a:bodyPr/>
          <a:lstStyle/>
          <a:p>
            <a:fld id="{910643E1-3C4B-4CD5-B236-8DDE9807FB4E}" type="datetime1">
              <a:rPr lang="en-CA" smtClean="0"/>
              <a:t>2024-09-30</a:t>
            </a:fld>
            <a:endParaRPr lang="en-CA"/>
          </a:p>
        </p:txBody>
      </p:sp>
      <p:sp>
        <p:nvSpPr>
          <p:cNvPr id="5" name="Footer Placeholder 4">
            <a:extLst>
              <a:ext uri="{FF2B5EF4-FFF2-40B4-BE49-F238E27FC236}">
                <a16:creationId xmlns:a16="http://schemas.microsoft.com/office/drawing/2014/main" id="{52FFBBFB-9073-1CC3-EB25-4AAA515B3F1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66E391D-D504-AA1F-D1B6-1DF4FF8D13F1}"/>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98419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A2B77-1B53-53A4-871B-C13690253A86}"/>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1126712-CA5E-F8DD-72BC-172C997EDF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97932DD-A45B-9231-C29D-CFB96E8A5541}"/>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EB309345-F267-40A1-B40F-4ACA86BD5316}" type="datetime1">
              <a:rPr lang="en-CA" smtClean="0"/>
              <a:t>2024-09-30</a:t>
            </a:fld>
            <a:endParaRPr lang="en-CA"/>
          </a:p>
        </p:txBody>
      </p:sp>
      <p:sp>
        <p:nvSpPr>
          <p:cNvPr id="5" name="Footer Placeholder 4">
            <a:extLst>
              <a:ext uri="{FF2B5EF4-FFF2-40B4-BE49-F238E27FC236}">
                <a16:creationId xmlns:a16="http://schemas.microsoft.com/office/drawing/2014/main" id="{0FD21CAE-31E7-977F-037D-F8D1E94E8E93}"/>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90FD474A-00A5-7345-3557-4E9979B10754}"/>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3AAB7785-396F-4915-8DFC-F7434CCA128E}" type="slidenum">
              <a:rPr lang="en-CA" smtClean="0"/>
              <a:t>‹#›</a:t>
            </a:fld>
            <a:endParaRPr lang="en-CA"/>
          </a:p>
        </p:txBody>
      </p:sp>
    </p:spTree>
    <p:extLst>
      <p:ext uri="{BB962C8B-B14F-4D97-AF65-F5344CB8AC3E}">
        <p14:creationId xmlns:p14="http://schemas.microsoft.com/office/powerpoint/2010/main" val="448267820"/>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hopscotch on a sidewalk">
            <a:extLst>
              <a:ext uri="{FF2B5EF4-FFF2-40B4-BE49-F238E27FC236}">
                <a16:creationId xmlns:a16="http://schemas.microsoft.com/office/drawing/2014/main" id="{8AF264BD-D168-BF91-EE8B-F98E052D9982}"/>
              </a:ext>
            </a:extLst>
          </p:cNvPr>
          <p:cNvPicPr>
            <a:picLocks noChangeAspect="1"/>
          </p:cNvPicPr>
          <p:nvPr/>
        </p:nvPicPr>
        <p:blipFill>
          <a:blip r:embed="rId2"/>
          <a:srcRect t="8211" r="23298" b="880"/>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7981" y="1122363"/>
            <a:ext cx="4023360" cy="3204134"/>
          </a:xfrm>
        </p:spPr>
        <p:txBody>
          <a:bodyPr anchor="b">
            <a:normAutofit/>
          </a:bodyPr>
          <a:lstStyle/>
          <a:p>
            <a:pPr algn="l"/>
            <a:r>
              <a:rPr lang="en-CA" sz="4800" dirty="0">
                <a:ln w="22225">
                  <a:solidFill>
                    <a:schemeClr val="tx1"/>
                  </a:solidFill>
                  <a:miter lim="800000"/>
                </a:ln>
              </a:rPr>
              <a:t>Chapter 5</a:t>
            </a:r>
          </a:p>
        </p:txBody>
      </p:sp>
      <p:sp>
        <p:nvSpPr>
          <p:cNvPr id="3" name="Subtitle 2"/>
          <p:cNvSpPr>
            <a:spLocks noGrp="1"/>
          </p:cNvSpPr>
          <p:nvPr>
            <p:ph type="subTitle" idx="1"/>
          </p:nvPr>
        </p:nvSpPr>
        <p:spPr>
          <a:xfrm>
            <a:off x="477980" y="4872922"/>
            <a:ext cx="4023359" cy="1208141"/>
          </a:xfrm>
        </p:spPr>
        <p:txBody>
          <a:bodyPr>
            <a:normAutofit/>
          </a:bodyPr>
          <a:lstStyle/>
          <a:p>
            <a:r>
              <a:rPr lang="en-US" sz="2000" dirty="0">
                <a:solidFill>
                  <a:schemeClr val="tx1"/>
                </a:solidFill>
                <a:latin typeface="Arial" panose="020B0604020202020204" pitchFamily="34" charset="0"/>
                <a:cs typeface="Arial" panose="020B0604020202020204" pitchFamily="34" charset="0"/>
              </a:rPr>
              <a:t>Access Control and Management</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589971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0" y="762001"/>
            <a:ext cx="5334197" cy="1708242"/>
          </a:xfrm>
        </p:spPr>
        <p:txBody>
          <a:bodyPr anchor="ctr">
            <a:normAutofit/>
          </a:bodyPr>
          <a:lstStyle/>
          <a:p>
            <a:r>
              <a:rPr lang="en-US" sz="4000" b="1">
                <a:latin typeface="Arial" panose="020B0604020202020204" pitchFamily="34" charset="0"/>
                <a:cs typeface="Arial" panose="020B0604020202020204" pitchFamily="34" charset="0"/>
              </a:rPr>
              <a:t>What is Access Control?</a:t>
            </a:r>
          </a:p>
        </p:txBody>
      </p:sp>
      <p:sp>
        <p:nvSpPr>
          <p:cNvPr id="3" name="Content Placeholder 2"/>
          <p:cNvSpPr>
            <a:spLocks noGrp="1"/>
          </p:cNvSpPr>
          <p:nvPr>
            <p:ph idx="1"/>
          </p:nvPr>
        </p:nvSpPr>
        <p:spPr>
          <a:xfrm>
            <a:off x="761800" y="2470244"/>
            <a:ext cx="5867600" cy="4159156"/>
          </a:xfrm>
        </p:spPr>
        <p:txBody>
          <a:bodyPr anchor="ctr">
            <a:normAutofit/>
          </a:bodyPr>
          <a:lstStyle/>
          <a:p>
            <a:pPr marL="0" indent="0">
              <a:buNone/>
            </a:pPr>
            <a:r>
              <a:rPr lang="en-GB" sz="1600" dirty="0"/>
              <a:t>Access control refers to the process of granting or denying permission to utilize specific resources within a system or environment. It ensures that only authorized individuals can access certain data, systems, or facilities.</a:t>
            </a:r>
          </a:p>
          <a:p>
            <a:pPr>
              <a:buFont typeface="+mj-lt"/>
              <a:buAutoNum type="arabicPeriod"/>
            </a:pPr>
            <a:r>
              <a:rPr lang="en-GB" sz="1600" b="1" dirty="0"/>
              <a:t>Physical Access Control</a:t>
            </a:r>
            <a:br>
              <a:rPr lang="en-GB" sz="1600" dirty="0"/>
            </a:br>
            <a:r>
              <a:rPr lang="en-GB" sz="1600" dirty="0"/>
              <a:t>Involves physical barriers such as fences, hardware-based door locks, and mantraps that control and limit direct access to devices and sensitive areas.</a:t>
            </a:r>
          </a:p>
          <a:p>
            <a:pPr>
              <a:buFont typeface="+mj-lt"/>
              <a:buAutoNum type="arabicPeriod"/>
            </a:pPr>
            <a:r>
              <a:rPr lang="en-GB" sz="1600" b="1" dirty="0"/>
              <a:t>Technical Access Control</a:t>
            </a:r>
            <a:br>
              <a:rPr lang="en-GB" sz="1600" dirty="0"/>
            </a:br>
            <a:r>
              <a:rPr lang="en-GB" sz="1600" dirty="0"/>
              <a:t>Uses technological solutions to restrict user access to data or systems. This may involve software-based mechanisms that limit user permissions on networks or devices.</a:t>
            </a:r>
          </a:p>
          <a:p>
            <a:pPr>
              <a:buFont typeface="+mj-lt"/>
              <a:buAutoNum type="arabicPeriod"/>
            </a:pPr>
            <a:r>
              <a:rPr lang="en-GB" sz="1600" b="1" dirty="0"/>
              <a:t>Standard Access Control Models</a:t>
            </a:r>
            <a:br>
              <a:rPr lang="en-GB" sz="1600" dirty="0"/>
            </a:br>
            <a:r>
              <a:rPr lang="en-GB" sz="1600" dirty="0"/>
              <a:t>Various models are established to ensure systematic enforcement of access control. These models help organizations define and implement who can access what within a system based on pre-set rules and permissions.</a:t>
            </a:r>
          </a:p>
          <a:p>
            <a:endParaRPr lang="en-US" altLang="en-US" sz="1900" dirty="0">
              <a:latin typeface="Arial" panose="020B0604020202020204" pitchFamily="34" charset="0"/>
              <a:cs typeface="Arial" panose="020B0604020202020204" pitchFamily="34" charset="0"/>
            </a:endParaRPr>
          </a:p>
        </p:txBody>
      </p:sp>
      <p:pic>
        <p:nvPicPr>
          <p:cNvPr id="5" name="Picture 4" descr="An open toilet door">
            <a:extLst>
              <a:ext uri="{FF2B5EF4-FFF2-40B4-BE49-F238E27FC236}">
                <a16:creationId xmlns:a16="http://schemas.microsoft.com/office/drawing/2014/main" id="{FC1A892A-CE39-A3F5-0B64-CBA268BBB15A}"/>
              </a:ext>
            </a:extLst>
          </p:cNvPr>
          <p:cNvPicPr>
            <a:picLocks noChangeAspect="1"/>
          </p:cNvPicPr>
          <p:nvPr/>
        </p:nvPicPr>
        <p:blipFill>
          <a:blip r:embed="rId2"/>
          <a:srcRect l="15681" r="32677"/>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037053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b="1">
                <a:solidFill>
                  <a:srgbClr val="FFFFFF"/>
                </a:solidFill>
                <a:latin typeface="Arial" panose="020B0604020202020204" pitchFamily="34" charset="0"/>
                <a:cs typeface="Arial" panose="020B0604020202020204" pitchFamily="34" charset="0"/>
              </a:rPr>
              <a:t>Access Control Terminology (1 of 5)</a:t>
            </a:r>
          </a:p>
        </p:txBody>
      </p:sp>
      <p:sp>
        <p:nvSpPr>
          <p:cNvPr id="10" name="Rectangle 4">
            <a:extLst>
              <a:ext uri="{FF2B5EF4-FFF2-40B4-BE49-F238E27FC236}">
                <a16:creationId xmlns:a16="http://schemas.microsoft.com/office/drawing/2014/main" id="{26957BD2-C2E2-EBE2-215C-A7DB19F63F70}"/>
              </a:ext>
            </a:extLst>
          </p:cNvPr>
          <p:cNvSpPr>
            <a:spLocks noGrp="1" noChangeArrowheads="1"/>
          </p:cNvSpPr>
          <p:nvPr>
            <p:ph idx="1"/>
          </p:nvPr>
        </p:nvSpPr>
        <p:spPr bwMode="auto">
          <a:xfrm>
            <a:off x="838201" y="1739137"/>
            <a:ext cx="109728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Identification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process of claiming an identity by presenting credentials, allowing the system to recognize a user or entity.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A delivery driver shows an employee badge, indicating who they 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Authentication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Verifies the identity by checking the validity of the credentials presented during identification.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The system or person examines the delivery driver’s badge to confirm their identity.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Authorization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Grants permissions based on the identity's verified credentials, allowing the individual to take specific 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The driver is allowed to pick up a package based on their authorization.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Accounting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Keeps track of the actions performed, maintaining a log of who accessed the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what they accessed, and when they disconnected.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A record shows that the driver accessed the system at a certain time to retrieve a package.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2322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7E8414-41CD-74D5-7C8F-8C541BD03663}"/>
              </a:ext>
            </a:extLst>
          </p:cNvPr>
          <p:cNvSpPr>
            <a:spLocks noGrp="1"/>
          </p:cNvSpPr>
          <p:nvPr>
            <p:ph type="title"/>
          </p:nvPr>
        </p:nvSpPr>
        <p:spPr/>
        <p:txBody>
          <a:bodyPr/>
          <a:lstStyle/>
          <a:p>
            <a:r>
              <a:rPr lang="en-GB" dirty="0"/>
              <a:t>Access Control Phases: Explanation and Computer Process</a:t>
            </a:r>
            <a:endParaRPr lang="en-CA" dirty="0"/>
          </a:p>
        </p:txBody>
      </p:sp>
      <p:pic>
        <p:nvPicPr>
          <p:cNvPr id="8" name="Picture 7">
            <a:extLst>
              <a:ext uri="{FF2B5EF4-FFF2-40B4-BE49-F238E27FC236}">
                <a16:creationId xmlns:a16="http://schemas.microsoft.com/office/drawing/2014/main" id="{F7F0DC52-1DC3-1CAD-01A5-B315C6A07B8C}"/>
              </a:ext>
            </a:extLst>
          </p:cNvPr>
          <p:cNvPicPr>
            <a:picLocks noChangeAspect="1"/>
          </p:cNvPicPr>
          <p:nvPr/>
        </p:nvPicPr>
        <p:blipFill>
          <a:blip r:embed="rId2"/>
          <a:stretch>
            <a:fillRect/>
          </a:stretch>
        </p:blipFill>
        <p:spPr>
          <a:xfrm>
            <a:off x="838200" y="1904999"/>
            <a:ext cx="10553363" cy="4851617"/>
          </a:xfrm>
          <a:prstGeom prst="rect">
            <a:avLst/>
          </a:prstGeom>
        </p:spPr>
      </p:pic>
    </p:spTree>
    <p:extLst>
      <p:ext uri="{BB962C8B-B14F-4D97-AF65-F5344CB8AC3E}">
        <p14:creationId xmlns:p14="http://schemas.microsoft.com/office/powerpoint/2010/main" val="2725316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7188"/>
            <a:ext cx="10515600" cy="1133499"/>
          </a:xfrm>
        </p:spPr>
        <p:txBody>
          <a:bodyPr>
            <a:normAutofit/>
          </a:bodyPr>
          <a:lstStyle/>
          <a:p>
            <a:pPr algn="ctr">
              <a:spcBef>
                <a:spcPts val="1200"/>
              </a:spcBef>
              <a:buClr>
                <a:schemeClr val="accent2"/>
              </a:buClr>
            </a:pPr>
            <a:r>
              <a:rPr lang="en-US" sz="4400" b="1">
                <a:latin typeface="Arial" panose="020B0604020202020204" pitchFamily="34" charset="0"/>
                <a:ea typeface="+mn-ea"/>
                <a:cs typeface="Arial" panose="020B0604020202020204" pitchFamily="34" charset="0"/>
              </a:rPr>
              <a:t>Access Control Terminology (3 of 5)</a:t>
            </a:r>
          </a:p>
        </p:txBody>
      </p:sp>
      <p:sp>
        <p:nvSpPr>
          <p:cNvPr id="6" name="Rectangle 1">
            <a:extLst>
              <a:ext uri="{FF2B5EF4-FFF2-40B4-BE49-F238E27FC236}">
                <a16:creationId xmlns:a16="http://schemas.microsoft.com/office/drawing/2014/main" id="{CA598E7C-3402-9A85-5653-90616882C01F}"/>
              </a:ext>
            </a:extLst>
          </p:cNvPr>
          <p:cNvSpPr>
            <a:spLocks noGrp="1" noChangeArrowheads="1"/>
          </p:cNvSpPr>
          <p:nvPr>
            <p:ph idx="1"/>
          </p:nvPr>
        </p:nvSpPr>
        <p:spPr bwMode="auto">
          <a:xfrm>
            <a:off x="838201" y="2185414"/>
            <a:ext cx="10744200" cy="363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300" b="1" i="0" u="none" strike="noStrike" cap="none" normalizeH="0" baseline="0" dirty="0">
                <a:ln>
                  <a:noFill/>
                </a:ln>
                <a:solidFill>
                  <a:schemeClr val="tx1"/>
                </a:solidFill>
                <a:effectLst/>
                <a:latin typeface="Arial" panose="020B0604020202020204" pitchFamily="34" charset="0"/>
              </a:rPr>
              <a:t>Object</a:t>
            </a:r>
            <a:r>
              <a:rPr kumimoji="0" lang="en-US" altLang="en-US" sz="2300" b="0" i="0" u="none" strike="noStrike" cap="none" normalizeH="0" baseline="0" dirty="0">
                <a:ln>
                  <a:noFill/>
                </a:ln>
                <a:solidFill>
                  <a:schemeClr val="tx1"/>
                </a:solidFill>
                <a:effectLst/>
                <a:latin typeface="Arial" panose="020B0604020202020204" pitchFamily="34" charset="0"/>
              </a:rPr>
              <a:t>: Represents a specific resource that is protected within the system.</a:t>
            </a:r>
            <a:br>
              <a:rPr kumimoji="0" lang="en-US" altLang="en-US" sz="2300" b="0" i="0" u="none" strike="noStrike" cap="none" normalizeH="0" baseline="0" dirty="0">
                <a:ln>
                  <a:noFill/>
                </a:ln>
                <a:solidFill>
                  <a:schemeClr val="tx1"/>
                </a:solidFill>
                <a:effectLst/>
                <a:latin typeface="Arial" panose="020B0604020202020204" pitchFamily="34" charset="0"/>
              </a:rPr>
            </a:br>
            <a:r>
              <a:rPr kumimoji="0" lang="en-US" altLang="en-US" sz="2300" b="1" i="0" u="none" strike="noStrike" cap="none" normalizeH="0" baseline="0" dirty="0">
                <a:ln>
                  <a:noFill/>
                </a:ln>
                <a:solidFill>
                  <a:schemeClr val="tx1"/>
                </a:solidFill>
                <a:effectLst/>
                <a:latin typeface="Arial" panose="020B0604020202020204" pitchFamily="34" charset="0"/>
              </a:rPr>
              <a:t>Example</a:t>
            </a:r>
            <a:r>
              <a:rPr kumimoji="0" lang="en-US" altLang="en-US" sz="2300" b="0" i="0" u="none" strike="noStrike" cap="none" normalizeH="0" baseline="0" dirty="0">
                <a:ln>
                  <a:noFill/>
                </a:ln>
                <a:solidFill>
                  <a:schemeClr val="tx1"/>
                </a:solidFill>
                <a:effectLst/>
                <a:latin typeface="Arial" panose="020B0604020202020204" pitchFamily="34" charset="0"/>
              </a:rPr>
              <a:t>: A file or a hardware device.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3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300" b="1" i="0" u="none" strike="noStrike" cap="none" normalizeH="0" baseline="0" dirty="0">
                <a:ln>
                  <a:noFill/>
                </a:ln>
                <a:solidFill>
                  <a:schemeClr val="tx1"/>
                </a:solidFill>
                <a:effectLst/>
                <a:latin typeface="Arial" panose="020B0604020202020204" pitchFamily="34" charset="0"/>
              </a:rPr>
              <a:t>Subject</a:t>
            </a:r>
            <a:r>
              <a:rPr kumimoji="0" lang="en-US" altLang="en-US" sz="2300" b="0" i="0" u="none" strike="noStrike" cap="none" normalizeH="0" baseline="0" dirty="0">
                <a:ln>
                  <a:noFill/>
                </a:ln>
                <a:solidFill>
                  <a:schemeClr val="tx1"/>
                </a:solidFill>
                <a:effectLst/>
                <a:latin typeface="Arial" panose="020B0604020202020204" pitchFamily="34" charset="0"/>
              </a:rPr>
              <a:t>: A user or process that interacts with the object, typically functioning on behalf of a user.</a:t>
            </a:r>
            <a:br>
              <a:rPr kumimoji="0" lang="en-US" altLang="en-US" sz="2300" b="0" i="0" u="none" strike="noStrike" cap="none" normalizeH="0" baseline="0" dirty="0">
                <a:ln>
                  <a:noFill/>
                </a:ln>
                <a:solidFill>
                  <a:schemeClr val="tx1"/>
                </a:solidFill>
                <a:effectLst/>
                <a:latin typeface="Arial" panose="020B0604020202020204" pitchFamily="34" charset="0"/>
              </a:rPr>
            </a:br>
            <a:r>
              <a:rPr kumimoji="0" lang="en-US" altLang="en-US" sz="2300" b="1" i="0" u="none" strike="noStrike" cap="none" normalizeH="0" baseline="0" dirty="0">
                <a:ln>
                  <a:noFill/>
                </a:ln>
                <a:solidFill>
                  <a:schemeClr val="tx1"/>
                </a:solidFill>
                <a:effectLst/>
                <a:latin typeface="Arial" panose="020B0604020202020204" pitchFamily="34" charset="0"/>
              </a:rPr>
              <a:t>Example</a:t>
            </a:r>
            <a:r>
              <a:rPr kumimoji="0" lang="en-US" altLang="en-US" sz="2300" b="0" i="0" u="none" strike="noStrike" cap="none" normalizeH="0" baseline="0" dirty="0">
                <a:ln>
                  <a:noFill/>
                </a:ln>
                <a:solidFill>
                  <a:schemeClr val="tx1"/>
                </a:solidFill>
                <a:effectLst/>
                <a:latin typeface="Arial" panose="020B0604020202020204" pitchFamily="34" charset="0"/>
              </a:rPr>
              <a:t>: A computer user performing actions within a system.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3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300" b="1" i="0" u="none" strike="noStrike" cap="none" normalizeH="0" baseline="0" dirty="0">
                <a:ln>
                  <a:noFill/>
                </a:ln>
                <a:solidFill>
                  <a:schemeClr val="tx1"/>
                </a:solidFill>
                <a:effectLst/>
                <a:latin typeface="Arial" panose="020B0604020202020204" pitchFamily="34" charset="0"/>
              </a:rPr>
              <a:t>Operation</a:t>
            </a:r>
            <a:r>
              <a:rPr kumimoji="0" lang="en-US" altLang="en-US" sz="2300" b="0" i="0" u="none" strike="noStrike" cap="none" normalizeH="0" baseline="0" dirty="0">
                <a:ln>
                  <a:noFill/>
                </a:ln>
                <a:solidFill>
                  <a:schemeClr val="tx1"/>
                </a:solidFill>
                <a:effectLst/>
                <a:latin typeface="Arial" panose="020B0604020202020204" pitchFamily="34" charset="0"/>
              </a:rPr>
              <a:t>: The action taken by the subject on the object, dictating the interaction between the two.</a:t>
            </a:r>
            <a:br>
              <a:rPr kumimoji="0" lang="en-US" altLang="en-US" sz="2300" b="0" i="0" u="none" strike="noStrike" cap="none" normalizeH="0" baseline="0" dirty="0">
                <a:ln>
                  <a:noFill/>
                </a:ln>
                <a:solidFill>
                  <a:schemeClr val="tx1"/>
                </a:solidFill>
                <a:effectLst/>
                <a:latin typeface="Arial" panose="020B0604020202020204" pitchFamily="34" charset="0"/>
              </a:rPr>
            </a:br>
            <a:r>
              <a:rPr kumimoji="0" lang="en-US" altLang="en-US" sz="2300" b="1" i="0" u="none" strike="noStrike" cap="none" normalizeH="0" baseline="0" dirty="0">
                <a:ln>
                  <a:noFill/>
                </a:ln>
                <a:solidFill>
                  <a:schemeClr val="tx1"/>
                </a:solidFill>
                <a:effectLst/>
                <a:latin typeface="Arial" panose="020B0604020202020204" pitchFamily="34" charset="0"/>
              </a:rPr>
              <a:t>Example</a:t>
            </a:r>
            <a:r>
              <a:rPr kumimoji="0" lang="en-US" altLang="en-US" sz="2300" b="0" i="0" u="none" strike="noStrike" cap="none" normalizeH="0" baseline="0" dirty="0">
                <a:ln>
                  <a:noFill/>
                </a:ln>
                <a:solidFill>
                  <a:schemeClr val="tx1"/>
                </a:solidFill>
                <a:effectLst/>
                <a:latin typeface="Arial" panose="020B0604020202020204" pitchFamily="34" charset="0"/>
              </a:rPr>
              <a:t>: Deleting a file or modifying hardware settings.</a:t>
            </a:r>
          </a:p>
        </p:txBody>
      </p:sp>
    </p:spTree>
    <p:extLst>
      <p:ext uri="{BB962C8B-B14F-4D97-AF65-F5344CB8AC3E}">
        <p14:creationId xmlns:p14="http://schemas.microsoft.com/office/powerpoint/2010/main" val="3812524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56532" y="643467"/>
            <a:ext cx="11210925" cy="744836"/>
          </a:xfrm>
        </p:spPr>
        <p:txBody>
          <a:bodyPr vert="horz" lIns="91440" tIns="45720" rIns="91440" bIns="45720" rtlCol="0" anchor="ctr">
            <a:normAutofit/>
          </a:bodyPr>
          <a:lstStyle/>
          <a:p>
            <a:pPr algn="ctr" defTabSz="914400">
              <a:buClr>
                <a:schemeClr val="accent2"/>
              </a:buClr>
            </a:pPr>
            <a:r>
              <a:rPr lang="en-US" sz="3200" b="1" kern="1200">
                <a:solidFill>
                  <a:schemeClr val="bg1"/>
                </a:solidFill>
                <a:latin typeface="+mj-lt"/>
                <a:ea typeface="+mj-ea"/>
                <a:cs typeface="+mj-cs"/>
              </a:rPr>
              <a:t>Access Control Terminology (4 of 5)</a:t>
            </a:r>
          </a:p>
        </p:txBody>
      </p:sp>
      <p:sp>
        <p:nvSpPr>
          <p:cNvPr id="4" name="TextBox 3">
            <a:extLst>
              <a:ext uri="{FF2B5EF4-FFF2-40B4-BE49-F238E27FC236}">
                <a16:creationId xmlns:a16="http://schemas.microsoft.com/office/drawing/2014/main" id="{253E256A-6C36-6217-A553-6B9E1F18A308}"/>
              </a:ext>
            </a:extLst>
          </p:cNvPr>
          <p:cNvSpPr txBox="1"/>
          <p:nvPr/>
        </p:nvSpPr>
        <p:spPr>
          <a:xfrm>
            <a:off x="556532" y="1524000"/>
            <a:ext cx="11635468" cy="4801314"/>
          </a:xfrm>
          <a:prstGeom prst="rect">
            <a:avLst/>
          </a:prstGeom>
          <a:noFill/>
        </p:spPr>
        <p:txBody>
          <a:bodyPr wrap="square">
            <a:spAutoFit/>
          </a:bodyPr>
          <a:lstStyle/>
          <a:p>
            <a:r>
              <a:rPr lang="en-GB" b="1" dirty="0"/>
              <a:t>Key Roles in Data Privacy and Security</a:t>
            </a:r>
            <a:endParaRPr lang="en-GB" dirty="0"/>
          </a:p>
          <a:p>
            <a:pPr>
              <a:buFont typeface="Arial" panose="020B0604020202020204" pitchFamily="34" charset="0"/>
              <a:buChar char="•"/>
            </a:pPr>
            <a:r>
              <a:rPr lang="en-GB" b="1" dirty="0"/>
              <a:t>Privacy Officer</a:t>
            </a:r>
            <a:r>
              <a:rPr lang="en-GB" dirty="0"/>
              <a:t>:</a:t>
            </a:r>
          </a:p>
          <a:p>
            <a:pPr marL="742950" lvl="1" indent="-285750">
              <a:buFont typeface="Arial" panose="020B0604020202020204" pitchFamily="34" charset="0"/>
              <a:buChar char="•"/>
            </a:pPr>
            <a:r>
              <a:rPr lang="en-GB" b="1" dirty="0"/>
              <a:t>Description</a:t>
            </a:r>
            <a:r>
              <a:rPr lang="en-GB" dirty="0"/>
              <a:t>: Manager responsible for overseeing data privacy compliance and managing data risks.</a:t>
            </a:r>
          </a:p>
          <a:p>
            <a:pPr marL="742950" lvl="1" indent="-285750">
              <a:buFont typeface="Arial" panose="020B0604020202020204" pitchFamily="34" charset="0"/>
              <a:buChar char="•"/>
            </a:pPr>
            <a:r>
              <a:rPr lang="en-GB" b="1" dirty="0"/>
              <a:t>Duties</a:t>
            </a:r>
            <a:r>
              <a:rPr lang="en-GB" dirty="0"/>
              <a:t>: Ensures the enterprise complies with data privacy laws and internal privacy policies.</a:t>
            </a:r>
          </a:p>
          <a:p>
            <a:pPr marL="742950" lvl="1" indent="-285750">
              <a:buFont typeface="Arial" panose="020B0604020202020204" pitchFamily="34" charset="0"/>
              <a:buChar char="•"/>
            </a:pPr>
            <a:r>
              <a:rPr lang="en-GB" b="1" dirty="0"/>
              <a:t>Example</a:t>
            </a:r>
            <a:r>
              <a:rPr lang="en-GB" dirty="0"/>
              <a:t>: Decides which users can access specific sensitive files like SALARY.XLSX.</a:t>
            </a:r>
          </a:p>
          <a:p>
            <a:pPr>
              <a:buFont typeface="Arial" panose="020B0604020202020204" pitchFamily="34" charset="0"/>
              <a:buChar char="•"/>
            </a:pPr>
            <a:r>
              <a:rPr lang="en-GB" b="1" dirty="0"/>
              <a:t>Custodian or Steward</a:t>
            </a:r>
            <a:r>
              <a:rPr lang="en-GB" dirty="0"/>
              <a:t>:</a:t>
            </a:r>
          </a:p>
          <a:p>
            <a:pPr marL="742950" lvl="1" indent="-285750">
              <a:buFont typeface="Arial" panose="020B0604020202020204" pitchFamily="34" charset="0"/>
              <a:buChar char="•"/>
            </a:pPr>
            <a:r>
              <a:rPr lang="en-GB" b="1" dirty="0"/>
              <a:t>Description</a:t>
            </a:r>
            <a:r>
              <a:rPr lang="en-GB" dirty="0"/>
              <a:t>: Individual assigned to perform day-to-day tasks by the owner.</a:t>
            </a:r>
          </a:p>
          <a:p>
            <a:pPr marL="742950" lvl="1" indent="-285750">
              <a:buFont typeface="Arial" panose="020B0604020202020204" pitchFamily="34" charset="0"/>
              <a:buChar char="•"/>
            </a:pPr>
            <a:r>
              <a:rPr lang="en-GB" b="1" dirty="0"/>
              <a:t>Duties</a:t>
            </a:r>
            <a:r>
              <a:rPr lang="en-GB" dirty="0"/>
              <a:t>: Regularly reviews security settings and maintains access records for end users.</a:t>
            </a:r>
          </a:p>
          <a:p>
            <a:pPr marL="742950" lvl="1" indent="-285750">
              <a:buFont typeface="Arial" panose="020B0604020202020204" pitchFamily="34" charset="0"/>
              <a:buChar char="•"/>
            </a:pPr>
            <a:r>
              <a:rPr lang="en-GB" b="1" dirty="0"/>
              <a:t>Example</a:t>
            </a:r>
            <a:r>
              <a:rPr lang="en-GB" dirty="0"/>
              <a:t>: Sets and reviews security settings for files like SALARY.XLSX.</a:t>
            </a:r>
          </a:p>
          <a:p>
            <a:pPr>
              <a:buFont typeface="Arial" panose="020B0604020202020204" pitchFamily="34" charset="0"/>
              <a:buChar char="•"/>
            </a:pPr>
            <a:r>
              <a:rPr lang="en-GB" b="1" dirty="0"/>
              <a:t>Owner</a:t>
            </a:r>
            <a:r>
              <a:rPr lang="en-GB" dirty="0"/>
              <a:t>:</a:t>
            </a:r>
          </a:p>
          <a:p>
            <a:pPr marL="742950" lvl="1" indent="-285750">
              <a:buFont typeface="Arial" panose="020B0604020202020204" pitchFamily="34" charset="0"/>
              <a:buChar char="•"/>
            </a:pPr>
            <a:r>
              <a:rPr lang="en-GB" b="1" dirty="0"/>
              <a:t>Description</a:t>
            </a:r>
            <a:r>
              <a:rPr lang="en-GB" dirty="0"/>
              <a:t>: Person responsible for the data or information.</a:t>
            </a:r>
          </a:p>
          <a:p>
            <a:pPr marL="742950" lvl="1" indent="-285750">
              <a:buFont typeface="Arial" panose="020B0604020202020204" pitchFamily="34" charset="0"/>
              <a:buChar char="•"/>
            </a:pPr>
            <a:r>
              <a:rPr lang="en-GB" b="1" dirty="0"/>
              <a:t>Duties</a:t>
            </a:r>
            <a:r>
              <a:rPr lang="en-GB" dirty="0"/>
              <a:t>: Determines the required security level for data and delegates security responsibilities as necessary.</a:t>
            </a:r>
          </a:p>
          <a:p>
            <a:pPr marL="742950" lvl="1" indent="-285750">
              <a:buFont typeface="Arial" panose="020B0604020202020204" pitchFamily="34" charset="0"/>
              <a:buChar char="•"/>
            </a:pPr>
            <a:r>
              <a:rPr lang="en-GB" b="1" dirty="0"/>
              <a:t>Example</a:t>
            </a:r>
            <a:r>
              <a:rPr lang="en-GB" dirty="0"/>
              <a:t>: Sets permissions on SALARY.XLSX so it is accessible only to department managers.</a:t>
            </a:r>
          </a:p>
          <a:p>
            <a:pPr>
              <a:buFont typeface="Arial" panose="020B0604020202020204" pitchFamily="34" charset="0"/>
              <a:buChar char="•"/>
            </a:pPr>
            <a:r>
              <a:rPr lang="en-GB" b="1" dirty="0"/>
              <a:t>End User</a:t>
            </a:r>
            <a:r>
              <a:rPr lang="en-GB" dirty="0"/>
              <a:t>:</a:t>
            </a:r>
          </a:p>
          <a:p>
            <a:pPr marL="742950" lvl="1" indent="-285750">
              <a:buFont typeface="Arial" panose="020B0604020202020204" pitchFamily="34" charset="0"/>
              <a:buChar char="•"/>
            </a:pPr>
            <a:r>
              <a:rPr lang="en-GB" b="1" dirty="0"/>
              <a:t>Description</a:t>
            </a:r>
            <a:r>
              <a:rPr lang="en-GB" dirty="0"/>
              <a:t>: User who accesses data as part of their job responsibilities.</a:t>
            </a:r>
          </a:p>
          <a:p>
            <a:pPr marL="742950" lvl="1" indent="-285750">
              <a:buFont typeface="Arial" panose="020B0604020202020204" pitchFamily="34" charset="0"/>
              <a:buChar char="•"/>
            </a:pPr>
            <a:r>
              <a:rPr lang="en-GB" b="1" dirty="0"/>
              <a:t>Duties</a:t>
            </a:r>
            <a:r>
              <a:rPr lang="en-GB" dirty="0"/>
              <a:t>: Follows the organization's security policies and does not attempt to bypass security controls.</a:t>
            </a:r>
          </a:p>
          <a:p>
            <a:pPr marL="742950" lvl="1" indent="-285750">
              <a:buFont typeface="Arial" panose="020B0604020202020204" pitchFamily="34" charset="0"/>
              <a:buChar char="•"/>
            </a:pPr>
            <a:r>
              <a:rPr lang="en-GB" b="1" dirty="0"/>
              <a:t>Example</a:t>
            </a:r>
            <a:r>
              <a:rPr lang="en-GB" dirty="0"/>
              <a:t>: Accesses files such as SALARY.XLSX in the course of daily work.</a:t>
            </a:r>
          </a:p>
        </p:txBody>
      </p:sp>
    </p:spTree>
    <p:extLst>
      <p:ext uri="{BB962C8B-B14F-4D97-AF65-F5344CB8AC3E}">
        <p14:creationId xmlns:p14="http://schemas.microsoft.com/office/powerpoint/2010/main" val="1106047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56532" y="643467"/>
            <a:ext cx="11210925" cy="744836"/>
          </a:xfrm>
        </p:spPr>
        <p:txBody>
          <a:bodyPr vert="horz" lIns="91440" tIns="45720" rIns="91440" bIns="45720" rtlCol="0" anchor="ctr">
            <a:normAutofit/>
          </a:bodyPr>
          <a:lstStyle/>
          <a:p>
            <a:pPr algn="ctr" defTabSz="914400">
              <a:buClr>
                <a:schemeClr val="accent2"/>
              </a:buClr>
            </a:pPr>
            <a:r>
              <a:rPr lang="en-US" sz="3200" b="1" kern="1200">
                <a:solidFill>
                  <a:schemeClr val="bg1"/>
                </a:solidFill>
                <a:latin typeface="+mj-lt"/>
                <a:ea typeface="+mj-ea"/>
                <a:cs typeface="+mj-cs"/>
              </a:rPr>
              <a:t>Access Control Terminology (5 of 5)</a:t>
            </a:r>
          </a:p>
        </p:txBody>
      </p:sp>
      <p:pic>
        <p:nvPicPr>
          <p:cNvPr id="3" name="Picture 2" descr="Figure 12-1 Technical access control process and terminalogy. An illustration shows technical access control process and terminology. The process is as follows: the subject an end user accesses the salary dot x l s x object through an operation by entering his identification, authentication, authorization and his access. The salary dot x l s x can be read only by department managers who are the owners; the privacy officer decides that users can access salary.xlsx; the custodian: reviews security settings on salary dot x l s x.&#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9700" y="1675227"/>
            <a:ext cx="10652600" cy="4394199"/>
          </a:xfrm>
          <a:prstGeom prst="rect">
            <a:avLst/>
          </a:prstGeom>
        </p:spPr>
      </p:pic>
      <p:sp>
        <p:nvSpPr>
          <p:cNvPr id="5" name="Rectangle 4">
            <a:extLst>
              <a:ext uri="{FF2B5EF4-FFF2-40B4-BE49-F238E27FC236}">
                <a16:creationId xmlns:a16="http://schemas.microsoft.com/office/drawing/2014/main" id="{2788D0D2-8FF0-84EF-943D-D48B464DD7F8}"/>
              </a:ext>
            </a:extLst>
          </p:cNvPr>
          <p:cNvSpPr/>
          <p:nvPr/>
        </p:nvSpPr>
        <p:spPr>
          <a:xfrm>
            <a:off x="685800" y="5638800"/>
            <a:ext cx="1676400"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n>
                <a:solidFill>
                  <a:schemeClr val="bg1"/>
                </a:solidFill>
              </a:ln>
              <a:solidFill>
                <a:schemeClr val="bg1"/>
              </a:solidFill>
            </a:endParaRPr>
          </a:p>
        </p:txBody>
      </p:sp>
    </p:spTree>
    <p:extLst>
      <p:ext uri="{BB962C8B-B14F-4D97-AF65-F5344CB8AC3E}">
        <p14:creationId xmlns:p14="http://schemas.microsoft.com/office/powerpoint/2010/main" val="2724786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spcBef>
                <a:spcPts val="1200"/>
              </a:spcBef>
              <a:buClr>
                <a:schemeClr val="accent2"/>
              </a:buClr>
            </a:pPr>
            <a:r>
              <a:rPr lang="en-US" sz="4000" b="1">
                <a:solidFill>
                  <a:srgbClr val="FFFFFF"/>
                </a:solidFill>
                <a:latin typeface="Arial" panose="020B0604020202020204" pitchFamily="34" charset="0"/>
                <a:ea typeface="+mn-ea"/>
                <a:cs typeface="Arial" panose="020B0604020202020204" pitchFamily="34" charset="0"/>
              </a:rPr>
              <a:t>Access Control Models</a:t>
            </a:r>
          </a:p>
        </p:txBody>
      </p:sp>
      <p:sp>
        <p:nvSpPr>
          <p:cNvPr id="3" name="Content Placeholder 2"/>
          <p:cNvSpPr>
            <a:spLocks noGrp="1"/>
          </p:cNvSpPr>
          <p:nvPr>
            <p:ph idx="1"/>
          </p:nvPr>
        </p:nvSpPr>
        <p:spPr>
          <a:xfrm>
            <a:off x="838201" y="2318197"/>
            <a:ext cx="10744200" cy="3683358"/>
          </a:xfrm>
        </p:spPr>
        <p:txBody>
          <a:bodyPr anchor="ctr">
            <a:noAutofit/>
          </a:bodyPr>
          <a:lstStyle/>
          <a:p>
            <a:pPr marL="0" indent="0">
              <a:buNone/>
            </a:pPr>
            <a:r>
              <a:rPr lang="en-GB" sz="1500" dirty="0"/>
              <a:t>Access control models provide standardized frameworks for hardware or software developers to configure the appropriate level of security and control over resources. These models help define how access permissions are managed and enforced. There are five major access control models:</a:t>
            </a:r>
          </a:p>
          <a:p>
            <a:pPr>
              <a:buFont typeface="+mj-lt"/>
              <a:buAutoNum type="arabicPeriod"/>
            </a:pPr>
            <a:r>
              <a:rPr lang="en-GB" sz="1500" b="1" dirty="0"/>
              <a:t>Discretionary Access Control (DAC)</a:t>
            </a:r>
            <a:r>
              <a:rPr lang="en-GB" sz="1500" dirty="0"/>
              <a:t>:</a:t>
            </a:r>
          </a:p>
          <a:p>
            <a:pPr marL="742950" lvl="1" indent="-285750">
              <a:buFont typeface="+mj-lt"/>
              <a:buAutoNum type="arabicPeriod"/>
            </a:pPr>
            <a:r>
              <a:rPr lang="en-GB" sz="1500" dirty="0"/>
              <a:t>The resource owner decides who can access specific resources.</a:t>
            </a:r>
          </a:p>
          <a:p>
            <a:pPr marL="742950" lvl="1" indent="-285750">
              <a:buFont typeface="+mj-lt"/>
              <a:buAutoNum type="arabicPeriod"/>
            </a:pPr>
            <a:r>
              <a:rPr lang="en-GB" sz="1500" dirty="0"/>
              <a:t>Users can transfer permissions to others, allowing flexible management of access.</a:t>
            </a:r>
          </a:p>
          <a:p>
            <a:pPr>
              <a:buFont typeface="+mj-lt"/>
              <a:buAutoNum type="arabicPeriod"/>
            </a:pPr>
            <a:r>
              <a:rPr lang="en-GB" sz="1500" b="1" dirty="0"/>
              <a:t>Mandatory Access Control (MAC)</a:t>
            </a:r>
            <a:r>
              <a:rPr lang="en-GB" sz="1500" dirty="0"/>
              <a:t>:</a:t>
            </a:r>
          </a:p>
          <a:p>
            <a:pPr marL="742950" lvl="1" indent="-285750">
              <a:buFont typeface="+mj-lt"/>
              <a:buAutoNum type="arabicPeriod"/>
            </a:pPr>
            <a:r>
              <a:rPr lang="en-GB" sz="1500" dirty="0"/>
              <a:t>Access is based on policies set by the system or organization, not by the users.</a:t>
            </a:r>
          </a:p>
          <a:p>
            <a:pPr marL="742950" lvl="1" indent="-285750">
              <a:buFont typeface="+mj-lt"/>
              <a:buAutoNum type="arabicPeriod"/>
            </a:pPr>
            <a:r>
              <a:rPr lang="en-GB" sz="1500" dirty="0"/>
              <a:t>Typically used in highly classified environments (e.g., government systems).</a:t>
            </a:r>
          </a:p>
          <a:p>
            <a:pPr>
              <a:buFont typeface="+mj-lt"/>
              <a:buAutoNum type="arabicPeriod"/>
            </a:pPr>
            <a:r>
              <a:rPr lang="en-GB" sz="1500" b="1" dirty="0"/>
              <a:t>Role-Based Access Control (RBAC)</a:t>
            </a:r>
            <a:r>
              <a:rPr lang="en-GB" sz="1500" dirty="0"/>
              <a:t>:</a:t>
            </a:r>
          </a:p>
          <a:p>
            <a:pPr marL="742950" lvl="1" indent="-285750">
              <a:buFont typeface="+mj-lt"/>
              <a:buAutoNum type="arabicPeriod"/>
            </a:pPr>
            <a:r>
              <a:rPr lang="en-GB" sz="1500" dirty="0"/>
              <a:t>Access permissions are assigned based on user roles within an organization.</a:t>
            </a:r>
          </a:p>
          <a:p>
            <a:pPr marL="742950" lvl="1" indent="-285750">
              <a:buFont typeface="+mj-lt"/>
              <a:buAutoNum type="arabicPeriod"/>
            </a:pPr>
            <a:r>
              <a:rPr lang="en-GB" sz="1500" dirty="0"/>
              <a:t>Users inherit permissions based on their role, streamlining management.</a:t>
            </a:r>
          </a:p>
          <a:p>
            <a:pPr>
              <a:buFont typeface="+mj-lt"/>
              <a:buAutoNum type="arabicPeriod"/>
            </a:pPr>
            <a:r>
              <a:rPr lang="en-GB" sz="1500" b="1" dirty="0"/>
              <a:t>Rule-Based Access Control</a:t>
            </a:r>
            <a:r>
              <a:rPr lang="en-GB" sz="1500" dirty="0"/>
              <a:t>:</a:t>
            </a:r>
          </a:p>
          <a:p>
            <a:pPr marL="742950" lvl="1" indent="-285750">
              <a:buFont typeface="+mj-lt"/>
              <a:buAutoNum type="arabicPeriod"/>
            </a:pPr>
            <a:r>
              <a:rPr lang="en-GB" sz="1500" dirty="0"/>
              <a:t>Access is granted or denied based on pre-defined rules.</a:t>
            </a:r>
          </a:p>
          <a:p>
            <a:pPr marL="742950" lvl="1" indent="-285750">
              <a:buFont typeface="+mj-lt"/>
              <a:buAutoNum type="arabicPeriod"/>
            </a:pPr>
            <a:r>
              <a:rPr lang="en-GB" sz="1500" dirty="0"/>
              <a:t>These rules can be adjusted based on the context of the request, such as time of access or the device used.</a:t>
            </a:r>
          </a:p>
          <a:p>
            <a:pPr>
              <a:buFont typeface="+mj-lt"/>
              <a:buAutoNum type="arabicPeriod"/>
            </a:pPr>
            <a:r>
              <a:rPr lang="en-GB" sz="1500" b="1" dirty="0"/>
              <a:t>Attribute-Based Access Control (ABAC)</a:t>
            </a:r>
            <a:r>
              <a:rPr lang="en-GB" sz="1500" dirty="0"/>
              <a:t>:</a:t>
            </a:r>
          </a:p>
          <a:p>
            <a:pPr marL="742950" lvl="1" indent="-285750">
              <a:buFont typeface="+mj-lt"/>
              <a:buAutoNum type="arabicPeriod"/>
            </a:pPr>
            <a:r>
              <a:rPr lang="en-GB" sz="1500" dirty="0"/>
              <a:t>Access control is based on attributes (e.g., user, environment, or resource characteristics).</a:t>
            </a:r>
          </a:p>
          <a:p>
            <a:pPr marL="742950" lvl="1" indent="-285750">
              <a:buFont typeface="+mj-lt"/>
              <a:buAutoNum type="arabicPeriod"/>
            </a:pPr>
            <a:r>
              <a:rPr lang="en-GB" sz="1500" dirty="0"/>
              <a:t>This allows for more flexible and fine-grained access control.</a:t>
            </a:r>
          </a:p>
          <a:p>
            <a:pPr lvl="1">
              <a:defRPr/>
            </a:pPr>
            <a:endParaRPr lang="en-US" altLang="en-US"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8604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spcBef>
                <a:spcPts val="1200"/>
              </a:spcBef>
              <a:buClr>
                <a:schemeClr val="accent2"/>
              </a:buClr>
            </a:pPr>
            <a:r>
              <a:rPr lang="en-US" sz="3400" b="1" dirty="0">
                <a:solidFill>
                  <a:srgbClr val="FFFFFF"/>
                </a:solidFill>
                <a:latin typeface="Arial" panose="020B0604020202020204" pitchFamily="34" charset="0"/>
                <a:ea typeface="+mn-ea"/>
                <a:cs typeface="Arial" panose="020B0604020202020204" pitchFamily="34" charset="0"/>
              </a:rPr>
              <a:t>Discretionary Access Control (DAC) (1 of 2)</a:t>
            </a:r>
          </a:p>
        </p:txBody>
      </p:sp>
      <p:sp>
        <p:nvSpPr>
          <p:cNvPr id="6" name="Rectangle 3">
            <a:extLst>
              <a:ext uri="{FF2B5EF4-FFF2-40B4-BE49-F238E27FC236}">
                <a16:creationId xmlns:a16="http://schemas.microsoft.com/office/drawing/2014/main" id="{75BA4578-E6EF-959F-455D-CAB52F51FE6C}"/>
              </a:ext>
            </a:extLst>
          </p:cNvPr>
          <p:cNvSpPr>
            <a:spLocks noGrp="1" noChangeArrowheads="1"/>
          </p:cNvSpPr>
          <p:nvPr>
            <p:ph idx="1"/>
          </p:nvPr>
        </p:nvSpPr>
        <p:spPr bwMode="auto">
          <a:xfrm>
            <a:off x="571498" y="1622745"/>
            <a:ext cx="110490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Least Restrictive Model</a:t>
            </a:r>
            <a:r>
              <a:rPr kumimoji="0" lang="en-US" altLang="en-US" sz="1800" b="0" i="0" u="none" strike="noStrike" cap="none" normalizeH="0" baseline="0" dirty="0">
                <a:ln>
                  <a:noFill/>
                </a:ln>
                <a:solidFill>
                  <a:schemeClr val="tx1"/>
                </a:solidFill>
                <a:effectLst/>
                <a:latin typeface="Arial" panose="020B0604020202020204" pitchFamily="34" charset="0"/>
              </a:rPr>
              <a:t>: DAC is the least restrictive of the access control models. In DAC, every object (files, directories, etc.) has an owner, who has full control over the object.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Owner Control</a:t>
            </a:r>
            <a:r>
              <a:rPr kumimoji="0" lang="en-US" altLang="en-US" sz="1800" b="0" i="0" u="none" strike="noStrike" cap="none" normalizeH="0" baseline="0" dirty="0">
                <a:ln>
                  <a:noFill/>
                </a:ln>
                <a:solidFill>
                  <a:schemeClr val="tx1"/>
                </a:solidFill>
                <a:effectLst/>
                <a:latin typeface="Arial" panose="020B0604020202020204" pitchFamily="34" charset="0"/>
              </a:rPr>
              <a:t>: Owners can decide who has permissions to access their objects and can transfer those permissions to other users.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Commonly Used in OS</a:t>
            </a:r>
            <a:r>
              <a:rPr kumimoji="0" lang="en-US" altLang="en-US" sz="1800" b="0" i="0" u="none" strike="noStrike" cap="none" normalizeH="0" baseline="0" dirty="0">
                <a:ln>
                  <a:noFill/>
                </a:ln>
                <a:solidFill>
                  <a:schemeClr val="tx1"/>
                </a:solidFill>
                <a:effectLst/>
                <a:latin typeface="Arial" panose="020B0604020202020204" pitchFamily="34" charset="0"/>
              </a:rPr>
              <a:t>: It is widely implemented in operating systems such as various types of UNIX and Microsoft Windows.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Weaknesses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User-Dependent</a:t>
            </a:r>
            <a:r>
              <a:rPr kumimoji="0" lang="en-US" altLang="en-US" sz="1800" b="0" i="0" u="none" strike="noStrike" cap="none" normalizeH="0" baseline="0" dirty="0">
                <a:ln>
                  <a:noFill/>
                </a:ln>
                <a:solidFill>
                  <a:schemeClr val="tx1"/>
                </a:solidFill>
                <a:effectLst/>
                <a:latin typeface="Arial" panose="020B0604020202020204" pitchFamily="34" charset="0"/>
              </a:rPr>
              <a:t>: The system relies heavily on the end user to set the correct security permissions, which poses a risk if the user does not implement proper security measures.</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Inheritance of Permissions</a:t>
            </a:r>
            <a:r>
              <a:rPr kumimoji="0" lang="en-US" altLang="en-US" sz="1800" b="0" i="0" u="none" strike="noStrike" cap="none" normalizeH="0" baseline="0" dirty="0">
                <a:ln>
                  <a:noFill/>
                </a:ln>
                <a:solidFill>
                  <a:schemeClr val="tx1"/>
                </a:solidFill>
                <a:effectLst/>
                <a:latin typeface="Arial" panose="020B0604020202020204" pitchFamily="34" charset="0"/>
              </a:rPr>
              <a:t>: Any programs executed by a user will inherit the user’s permissions. This can lead to security vulnerabilities if malicious programs gain the same access rights as the user.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6730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9206287" cy="1159200"/>
          </a:xfrm>
        </p:spPr>
        <p:txBody>
          <a:bodyPr vert="horz" lIns="91440" tIns="45720" rIns="91440" bIns="45720" rtlCol="0" anchor="ctr">
            <a:normAutofit/>
          </a:bodyPr>
          <a:lstStyle/>
          <a:p>
            <a:pPr defTabSz="914400">
              <a:buClr>
                <a:schemeClr val="accent2"/>
              </a:buClr>
            </a:pPr>
            <a:r>
              <a:rPr lang="en-US" sz="3700" b="1" kern="1200" dirty="0">
                <a:solidFill>
                  <a:srgbClr val="FFFFFF"/>
                </a:solidFill>
                <a:latin typeface="+mj-lt"/>
                <a:ea typeface="+mj-ea"/>
                <a:cs typeface="+mj-cs"/>
              </a:rPr>
              <a:t>Discretionary Access Control (DAC) (2 of 2)</a:t>
            </a:r>
          </a:p>
        </p:txBody>
      </p:sp>
      <p:pic>
        <p:nvPicPr>
          <p:cNvPr id="6" name="Picture 5" descr="The screenshot shows the dot, p n g, properties dialog box. The dialog box contains the following tabs: general, security, details, and previous versions. The security tab is selected. Object name: c, colon, back slash, users, back slash, Mark Ciampa, back slash, documents, back slash, professional. The dialog box contains two boxes namely, group or user names and permissions for system. The group or user names box contains system, Mark Ciampa, desktop- 0 5 8 l a 4 s, back slash, Mark Ciampa, administrators, desktop- 0 5 8 l a 4 s, back slash, administrators. Below this, the text reads, to change permissions, click edit. The permission for system box contains full control, modify, read and execute, read, write, special permissions. All the permissions are allowed. Below this the text reads, for special permissions or advanced settings, click advanced. Five buttons namely, edit, o k, cancel and apply are show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82265" y="1966293"/>
            <a:ext cx="3027469" cy="4452160"/>
          </a:xfrm>
          <a:prstGeom prst="rect">
            <a:avLst/>
          </a:prstGeom>
        </p:spPr>
      </p:pic>
      <p:sp>
        <p:nvSpPr>
          <p:cNvPr id="3" name="Rectangle 2">
            <a:extLst>
              <a:ext uri="{FF2B5EF4-FFF2-40B4-BE49-F238E27FC236}">
                <a16:creationId xmlns:a16="http://schemas.microsoft.com/office/drawing/2014/main" id="{134AF449-6A22-28D7-3A2C-6E8F4C0C07CF}"/>
              </a:ext>
            </a:extLst>
          </p:cNvPr>
          <p:cNvSpPr/>
          <p:nvPr/>
        </p:nvSpPr>
        <p:spPr>
          <a:xfrm>
            <a:off x="4540856" y="6282498"/>
            <a:ext cx="762000" cy="5651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68940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spcBef>
                <a:spcPts val="1200"/>
              </a:spcBef>
              <a:buClr>
                <a:schemeClr val="accent2"/>
              </a:buClr>
            </a:pPr>
            <a:r>
              <a:rPr lang="en-US" sz="3700" b="1" dirty="0">
                <a:solidFill>
                  <a:srgbClr val="FFFFFF"/>
                </a:solidFill>
                <a:latin typeface="Arial" panose="020B0604020202020204" pitchFamily="34" charset="0"/>
                <a:cs typeface="Arial" panose="020B0604020202020204" pitchFamily="34" charset="0"/>
              </a:rPr>
              <a:t>Mandatory Access Control (MAC)</a:t>
            </a:r>
            <a:r>
              <a:rPr lang="en-US" sz="3700" b="1" dirty="0">
                <a:solidFill>
                  <a:srgbClr val="FFFFFF"/>
                </a:solidFill>
                <a:latin typeface="Arial" panose="020B0604020202020204" pitchFamily="34" charset="0"/>
                <a:ea typeface="+mn-ea"/>
                <a:cs typeface="Arial" panose="020B0604020202020204" pitchFamily="34" charset="0"/>
              </a:rPr>
              <a:t> (1 of 4)</a:t>
            </a:r>
          </a:p>
        </p:txBody>
      </p:sp>
      <p:sp>
        <p:nvSpPr>
          <p:cNvPr id="4" name="Rectangle 1">
            <a:extLst>
              <a:ext uri="{FF2B5EF4-FFF2-40B4-BE49-F238E27FC236}">
                <a16:creationId xmlns:a16="http://schemas.microsoft.com/office/drawing/2014/main" id="{8C1B3CF0-77FC-A531-F511-9D0ACA51A2AA}"/>
              </a:ext>
            </a:extLst>
          </p:cNvPr>
          <p:cNvSpPr>
            <a:spLocks noGrp="1" noChangeArrowheads="1"/>
          </p:cNvSpPr>
          <p:nvPr>
            <p:ph idx="1"/>
          </p:nvPr>
        </p:nvSpPr>
        <p:spPr bwMode="auto">
          <a:xfrm>
            <a:off x="609600" y="2104057"/>
            <a:ext cx="104394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Most Restrictive Model</a:t>
            </a:r>
            <a:r>
              <a:rPr kumimoji="0" lang="en-US" altLang="en-US" sz="1800" b="0" i="0" u="none" strike="noStrike" cap="none" normalizeH="0" baseline="0" dirty="0">
                <a:ln>
                  <a:noFill/>
                </a:ln>
                <a:solidFill>
                  <a:schemeClr val="tx1"/>
                </a:solidFill>
                <a:effectLst/>
                <a:latin typeface="Arial" panose="020B0604020202020204" pitchFamily="34" charset="0"/>
              </a:rPr>
              <a:t>: This model is the most restrictive among access control frameworks. It operates by entirely removing the user's ability to set permissions. Users cannot distribute access to other subjects.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Common in Military Settings</a:t>
            </a:r>
            <a:r>
              <a:rPr kumimoji="0" lang="en-US" altLang="en-US" sz="1800" b="0" i="0" u="none" strike="noStrike" cap="none" normalizeH="0" baseline="0" dirty="0">
                <a:ln>
                  <a:noFill/>
                </a:ln>
                <a:solidFill>
                  <a:schemeClr val="tx1"/>
                </a:solidFill>
                <a:effectLst/>
                <a:latin typeface="Arial" panose="020B0604020202020204" pitchFamily="34" charset="0"/>
              </a:rPr>
              <a:t>: The MAC model is widely used in military or highly confidential environments where strict access control is essential.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Two Key Elements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Labels</a:t>
            </a:r>
            <a:r>
              <a:rPr kumimoji="0" lang="en-US" altLang="en-US" sz="1800" b="0" i="0" u="none" strike="noStrike" cap="none" normalizeH="0" baseline="0" dirty="0">
                <a:ln>
                  <a:noFill/>
                </a:ln>
                <a:solidFill>
                  <a:schemeClr val="tx1"/>
                </a:solidFill>
                <a:effectLst/>
                <a:latin typeface="Arial" panose="020B0604020202020204" pitchFamily="34" charset="0"/>
              </a:rPr>
              <a:t>: Every entity, whether it is a subject or an object, is assigned a classification label. These labels represent the importance of the entity. For example, objects are labeled as Top Secret, Secret, or Confidential, while subjects are assigned clearance labels.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Levels</a:t>
            </a:r>
            <a:r>
              <a:rPr kumimoji="0" lang="en-US" altLang="en-US" sz="1800" b="0" i="0" u="none" strike="noStrike" cap="none" normalizeH="0" baseline="0" dirty="0">
                <a:ln>
                  <a:noFill/>
                </a:ln>
                <a:solidFill>
                  <a:schemeClr val="tx1"/>
                </a:solidFill>
                <a:effectLst/>
                <a:latin typeface="Arial" panose="020B0604020202020204" pitchFamily="34" charset="0"/>
              </a:rPr>
              <a:t>: The labels operate within a hierarchy. For example, "Top Secret" is higher than "Secret," which is higher than "Confidential."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Permission Matching</a:t>
            </a:r>
            <a:r>
              <a:rPr kumimoji="0" lang="en-US" altLang="en-US" sz="1800" b="0" i="0" u="none" strike="noStrike" cap="none" normalizeH="0" baseline="0" dirty="0">
                <a:ln>
                  <a:noFill/>
                </a:ln>
                <a:solidFill>
                  <a:schemeClr val="tx1"/>
                </a:solidFill>
                <a:effectLst/>
                <a:latin typeface="Arial" panose="020B0604020202020204" pitchFamily="34" charset="0"/>
              </a:rPr>
              <a:t>: MAC grants access by matching the subject's privilege label with the object's classification label. Only subjects with sufficient clearance can access higher-labeled objects.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Strict Labeling for Privilege</a:t>
            </a:r>
            <a:r>
              <a:rPr kumimoji="0" lang="en-US" altLang="en-US" sz="1800" b="0" i="0" u="none" strike="noStrike" cap="none" normalizeH="0" baseline="0" dirty="0">
                <a:ln>
                  <a:noFill/>
                </a:ln>
                <a:solidFill>
                  <a:schemeClr val="tx1"/>
                </a:solidFill>
                <a:effectLst/>
                <a:latin typeface="Arial" panose="020B0604020202020204" pitchFamily="34" charset="0"/>
              </a:rPr>
              <a:t>: The access control is dictated by these labels, ensuring that only authorized personnel access sensitive information, following a "need-to-know" basis.</a:t>
            </a:r>
          </a:p>
        </p:txBody>
      </p:sp>
    </p:spTree>
    <p:extLst>
      <p:ext uri="{BB962C8B-B14F-4D97-AF65-F5344CB8AC3E}">
        <p14:creationId xmlns:p14="http://schemas.microsoft.com/office/powerpoint/2010/main" val="3169198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spcBef>
                <a:spcPts val="1200"/>
              </a:spcBef>
              <a:buClr>
                <a:schemeClr val="accent2"/>
              </a:buClr>
            </a:pPr>
            <a:r>
              <a:rPr lang="en-US" sz="3700" b="1" dirty="0">
                <a:solidFill>
                  <a:srgbClr val="FFFFFF"/>
                </a:solidFill>
                <a:latin typeface="Arial" panose="020B0604020202020204" pitchFamily="34" charset="0"/>
                <a:ea typeface="+mn-ea"/>
                <a:cs typeface="Arial" panose="020B0604020202020204" pitchFamily="34" charset="0"/>
              </a:rPr>
              <a:t>Mandatory Access Control </a:t>
            </a:r>
            <a:r>
              <a:rPr lang="en-US" sz="3700" b="1" dirty="0">
                <a:solidFill>
                  <a:srgbClr val="FFFFFF"/>
                </a:solidFill>
                <a:latin typeface="Arial" panose="020B0604020202020204" pitchFamily="34" charset="0"/>
                <a:cs typeface="Arial" panose="020B0604020202020204" pitchFamily="34" charset="0"/>
              </a:rPr>
              <a:t>(MAC)</a:t>
            </a:r>
            <a:r>
              <a:rPr lang="en-US" sz="3700" b="1" dirty="0">
                <a:solidFill>
                  <a:srgbClr val="FFFFFF"/>
                </a:solidFill>
                <a:latin typeface="Arial" panose="020B0604020202020204" pitchFamily="34" charset="0"/>
                <a:ea typeface="+mn-ea"/>
                <a:cs typeface="Arial" panose="020B0604020202020204" pitchFamily="34" charset="0"/>
              </a:rPr>
              <a:t> (2 of 4)</a:t>
            </a:r>
          </a:p>
        </p:txBody>
      </p:sp>
      <p:sp>
        <p:nvSpPr>
          <p:cNvPr id="3" name="Content Placeholder 2"/>
          <p:cNvSpPr>
            <a:spLocks noGrp="1"/>
          </p:cNvSpPr>
          <p:nvPr>
            <p:ph idx="1"/>
          </p:nvPr>
        </p:nvSpPr>
        <p:spPr>
          <a:xfrm>
            <a:off x="990601" y="1981200"/>
            <a:ext cx="10105030" cy="4419599"/>
          </a:xfrm>
        </p:spPr>
        <p:txBody>
          <a:bodyPr anchor="ctr">
            <a:normAutofit/>
          </a:bodyPr>
          <a:lstStyle/>
          <a:p>
            <a:pPr>
              <a:buFont typeface="Arial" panose="020B0604020202020204" pitchFamily="34" charset="0"/>
              <a:buChar char="•"/>
            </a:pPr>
            <a:r>
              <a:rPr lang="en-GB" b="1" dirty="0"/>
              <a:t>Comparison of Object and Subject Labels</a:t>
            </a:r>
            <a:r>
              <a:rPr lang="en-GB" dirty="0"/>
              <a:t>: In MAC, the subject’s access to a file or resource is determined by comparing their labels with the object’s (file's) labels.</a:t>
            </a:r>
          </a:p>
          <a:p>
            <a:pPr>
              <a:buFont typeface="Arial" panose="020B0604020202020204" pitchFamily="34" charset="0"/>
              <a:buChar char="•"/>
            </a:pPr>
            <a:r>
              <a:rPr lang="en-GB" b="1" dirty="0"/>
              <a:t>Access Rules</a:t>
            </a:r>
            <a:r>
              <a:rPr lang="en-GB" dirty="0"/>
              <a:t>: For access to be granted, the subject's label must be equal to or greater than the object’s classification label.</a:t>
            </a:r>
          </a:p>
          <a:p>
            <a:r>
              <a:rPr lang="en-GB" b="1" dirty="0"/>
              <a:t>Two Major Implementations of MAC:</a:t>
            </a:r>
            <a:endParaRPr lang="en-GB" dirty="0"/>
          </a:p>
          <a:p>
            <a:pPr>
              <a:buFont typeface="+mj-lt"/>
              <a:buAutoNum type="arabicPeriod"/>
            </a:pPr>
            <a:r>
              <a:rPr lang="en-GB" b="1" dirty="0"/>
              <a:t>Lattice Model</a:t>
            </a:r>
            <a:r>
              <a:rPr lang="en-GB" dirty="0"/>
              <a:t>:</a:t>
            </a:r>
          </a:p>
          <a:p>
            <a:pPr marL="742950" lvl="1" indent="-285750">
              <a:buFont typeface="+mj-lt"/>
              <a:buAutoNum type="arabicPeriod"/>
            </a:pPr>
            <a:r>
              <a:rPr lang="en-GB" dirty="0"/>
              <a:t>Subjects and objects are assigned specific positions or "rungs" in a hierarchy.</a:t>
            </a:r>
          </a:p>
          <a:p>
            <a:pPr marL="742950" lvl="1" indent="-285750">
              <a:buFont typeface="+mj-lt"/>
              <a:buAutoNum type="arabicPeriod"/>
            </a:pPr>
            <a:r>
              <a:rPr lang="en-GB" dirty="0"/>
              <a:t>Access is based on this hierarchical structure, where multiple lattices can coexist.</a:t>
            </a:r>
          </a:p>
          <a:p>
            <a:pPr>
              <a:buFont typeface="+mj-lt"/>
              <a:buAutoNum type="arabicPeriod"/>
            </a:pPr>
            <a:r>
              <a:rPr lang="en-GB" b="1" dirty="0"/>
              <a:t>Bell-</a:t>
            </a:r>
            <a:r>
              <a:rPr lang="en-GB" b="1" dirty="0" err="1"/>
              <a:t>LaPadula</a:t>
            </a:r>
            <a:r>
              <a:rPr lang="en-GB" b="1" dirty="0"/>
              <a:t> (BLP) Model</a:t>
            </a:r>
            <a:r>
              <a:rPr lang="en-GB" dirty="0"/>
              <a:t>:</a:t>
            </a:r>
          </a:p>
          <a:p>
            <a:pPr marL="742950" lvl="1" indent="-285750">
              <a:buFont typeface="+mj-lt"/>
              <a:buAutoNum type="arabicPeriod"/>
            </a:pPr>
            <a:r>
              <a:rPr lang="en-GB" dirty="0"/>
              <a:t>Similar to the lattice model, but with stricter rules.</a:t>
            </a:r>
          </a:p>
          <a:p>
            <a:pPr marL="742950" lvl="1" indent="-285750">
              <a:buFont typeface="+mj-lt"/>
              <a:buAutoNum type="arabicPeriod"/>
            </a:pPr>
            <a:r>
              <a:rPr lang="en-GB" dirty="0"/>
              <a:t>BLP restricts subjects from creating new objects or performing functions on objects at lower security levels. This prevents data leakage to lower classification levels.</a:t>
            </a:r>
          </a:p>
          <a:p>
            <a:endParaRPr lang="en-US" altLang="en-US" sz="1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6469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fontScale="90000"/>
          </a:bodyPr>
          <a:lstStyle/>
          <a:p>
            <a:pPr>
              <a:spcBef>
                <a:spcPts val="1200"/>
              </a:spcBef>
              <a:buClr>
                <a:schemeClr val="accent2"/>
              </a:buClr>
            </a:pPr>
            <a:r>
              <a:rPr lang="en-GB" sz="3700" b="1" dirty="0">
                <a:solidFill>
                  <a:srgbClr val="FFFFFF"/>
                </a:solidFill>
                <a:latin typeface="Arial" panose="020B0604020202020204" pitchFamily="34" charset="0"/>
                <a:ea typeface="+mn-ea"/>
                <a:cs typeface="Arial" panose="020B0604020202020204" pitchFamily="34" charset="0"/>
              </a:rPr>
              <a:t>Mandatory Integrity Control (MIC) in Microsoft Windows </a:t>
            </a:r>
            <a:r>
              <a:rPr lang="en-US" sz="3700" b="1" dirty="0">
                <a:solidFill>
                  <a:srgbClr val="FFFFFF"/>
                </a:solidFill>
                <a:latin typeface="Arial" panose="020B0604020202020204" pitchFamily="34" charset="0"/>
                <a:ea typeface="+mn-ea"/>
                <a:cs typeface="Arial" panose="020B0604020202020204" pitchFamily="34" charset="0"/>
              </a:rPr>
              <a:t>(3 of 4)</a:t>
            </a:r>
          </a:p>
        </p:txBody>
      </p:sp>
      <p:sp>
        <p:nvSpPr>
          <p:cNvPr id="4" name="Rectangle 1">
            <a:extLst>
              <a:ext uri="{FF2B5EF4-FFF2-40B4-BE49-F238E27FC236}">
                <a16:creationId xmlns:a16="http://schemas.microsoft.com/office/drawing/2014/main" id="{BBBB356E-2C48-F8B6-809B-C9FB5AD365A1}"/>
              </a:ext>
            </a:extLst>
          </p:cNvPr>
          <p:cNvSpPr>
            <a:spLocks noGrp="1" noChangeArrowheads="1"/>
          </p:cNvSpPr>
          <p:nvPr>
            <p:ph idx="1"/>
          </p:nvPr>
        </p:nvSpPr>
        <p:spPr bwMode="auto">
          <a:xfrm>
            <a:off x="609600" y="2442963"/>
            <a:ext cx="10896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Implementation of MAC in Windows</a:t>
            </a:r>
            <a:r>
              <a:rPr kumimoji="0" lang="en-US" altLang="en-US" sz="1800" b="0" i="0" u="none" strike="noStrike" cap="none" normalizeH="0" baseline="0" dirty="0">
                <a:ln>
                  <a:noFill/>
                </a:ln>
                <a:solidFill>
                  <a:schemeClr val="tx1"/>
                </a:solidFill>
                <a:effectLst/>
                <a:latin typeface="Arial" panose="020B0604020202020204" pitchFamily="34" charset="0"/>
              </a:rPr>
              <a:t>: Microsoft Windows enforces a version of Mandatory Access Control (MAC) through Mandatory Integrity Control (MIC).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Security Identifier (SID)</a:t>
            </a:r>
            <a:r>
              <a:rPr kumimoji="0" lang="en-US" altLang="en-US" sz="1800" b="0" i="0" u="none" strike="noStrike" cap="none" normalizeH="0" baseline="0" dirty="0">
                <a:ln>
                  <a:noFill/>
                </a:ln>
                <a:solidFill>
                  <a:schemeClr val="tx1"/>
                </a:solidFill>
                <a:effectLst/>
                <a:latin typeface="Arial" panose="020B0604020202020204" pitchFamily="34" charset="0"/>
              </a:rPr>
              <a:t>: A unique Security Identifier (SID) is assigned to users, groups, or sessions.</a:t>
            </a:r>
          </a:p>
          <a:p>
            <a:pPr lvl="1" defTabSz="914400" eaLnBrk="0" fontAlgn="base" hangingPunct="0">
              <a:lnSpc>
                <a:spcPct val="100000"/>
              </a:lnSpc>
              <a:spcBef>
                <a:spcPct val="0"/>
              </a:spcBef>
              <a:spcAft>
                <a:spcPct val="0"/>
              </a:spcAft>
            </a:pPr>
            <a:r>
              <a:rPr kumimoji="0" lang="en-US" altLang="en-US" sz="1500" b="0" i="0" u="none" strike="noStrike" cap="none" normalizeH="0" baseline="0" dirty="0">
                <a:ln>
                  <a:noFill/>
                </a:ln>
                <a:solidFill>
                  <a:schemeClr val="tx1"/>
                </a:solidFill>
                <a:effectLst/>
                <a:latin typeface="Arial" panose="020B0604020202020204" pitchFamily="34" charset="0"/>
              </a:rPr>
              <a:t>	This SID is retrieved whenever a user logs in and is used to track and identify the user during interactions with the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Windows Integrity Levels</a:t>
            </a:r>
            <a:r>
              <a:rPr kumimoji="0" lang="en-US" altLang="en-US" sz="1800" b="0" i="0" u="none" strike="noStrike" cap="none" normalizeH="0" baseline="0" dirty="0">
                <a:ln>
                  <a:noFill/>
                </a:ln>
                <a:solidFill>
                  <a:schemeClr val="tx1"/>
                </a:solidFill>
                <a:effectLst/>
                <a:latin typeface="Arial" panose="020B0604020202020204" pitchFamily="34" charset="0"/>
              </a:rPr>
              <a:t>: Windows links the SID to an integrity level, which is used to control access permissions. Higher integrity levels provide more privileges, while lower ones are more restricted.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Access Control (UAC)</a:t>
            </a:r>
            <a:r>
              <a:rPr kumimoji="0" lang="en-US" altLang="en-US" sz="1800" b="0" i="0" u="none" strike="noStrike" cap="none" normalizeH="0" baseline="0" dirty="0">
                <a:ln>
                  <a:noFill/>
                </a:ln>
                <a:solidFill>
                  <a:schemeClr val="tx1"/>
                </a:solidFill>
                <a:effectLst/>
                <a:latin typeface="Arial" panose="020B0604020202020204" pitchFamily="34" charset="0"/>
              </a:rPr>
              <a:t>: This is a security feature in Windows that ensures users cannot perform high-privileged operations unless explicitly authorized. It prevents unauthorized applications from gaining elevated access.</a:t>
            </a:r>
          </a:p>
        </p:txBody>
      </p:sp>
    </p:spTree>
    <p:extLst>
      <p:ext uri="{BB962C8B-B14F-4D97-AF65-F5344CB8AC3E}">
        <p14:creationId xmlns:p14="http://schemas.microsoft.com/office/powerpoint/2010/main" val="2587479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49705"/>
            <a:ext cx="8026400" cy="409343"/>
          </a:xfrm>
        </p:spPr>
        <p:txBody>
          <a:bodyPr>
            <a:normAutofit fontScale="90000"/>
          </a:bodyPr>
          <a:lstStyle/>
          <a:p>
            <a:pPr>
              <a:lnSpc>
                <a:spcPct val="95000"/>
              </a:lnSpc>
              <a:spcBef>
                <a:spcPts val="1200"/>
              </a:spcBef>
              <a:buClr>
                <a:schemeClr val="accent2"/>
              </a:buClr>
            </a:pPr>
            <a:r>
              <a:rPr lang="en-US" sz="2800" b="1" dirty="0">
                <a:solidFill>
                  <a:srgbClr val="0080A9"/>
                </a:solidFill>
                <a:latin typeface="Arial" panose="020B0604020202020204" pitchFamily="34" charset="0"/>
                <a:ea typeface="+mn-ea"/>
                <a:cs typeface="Arial" panose="020B0604020202020204" pitchFamily="34" charset="0"/>
              </a:rPr>
              <a:t>Mandatory Access Control </a:t>
            </a:r>
            <a:r>
              <a:rPr lang="en-US" sz="2800" b="1" dirty="0">
                <a:solidFill>
                  <a:srgbClr val="0080A9"/>
                </a:solidFill>
                <a:latin typeface="Arial" panose="020B0604020202020204" pitchFamily="34" charset="0"/>
                <a:cs typeface="Arial" panose="020B0604020202020204" pitchFamily="34" charset="0"/>
              </a:rPr>
              <a:t>(M</a:t>
            </a:r>
            <a:r>
              <a:rPr lang="en-US" sz="100" dirty="0">
                <a:latin typeface="Arial" panose="020B0604020202020204" pitchFamily="34" charset="0"/>
                <a:cs typeface="Arial" panose="020B0604020202020204" pitchFamily="34" charset="0"/>
              </a:rPr>
              <a:t> </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C)</a:t>
            </a:r>
            <a:r>
              <a:rPr lang="en-US" sz="2800" b="1" dirty="0">
                <a:solidFill>
                  <a:srgbClr val="0080A9"/>
                </a:solidFill>
                <a:latin typeface="Arial" panose="020B0604020202020204" pitchFamily="34" charset="0"/>
                <a:ea typeface="+mn-ea"/>
                <a:cs typeface="Arial" panose="020B0604020202020204" pitchFamily="34" charset="0"/>
              </a:rPr>
              <a:t> (4 of 4)</a:t>
            </a:r>
          </a:p>
        </p:txBody>
      </p:sp>
      <p:pic>
        <p:nvPicPr>
          <p:cNvPr id="6" name="Picture 5" descr="The screenshot shows user account control The text reads, do you want to allow this a p p to make changes to your device? Microsoft management console. Verified publisher: Microsoft Windows. Show more details. Two buttons namely, yes and no are show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8600" y="1828800"/>
            <a:ext cx="4672054" cy="3627762"/>
          </a:xfrm>
          <a:prstGeom prst="rect">
            <a:avLst/>
          </a:prstGeom>
        </p:spPr>
      </p:pic>
      <p:sp>
        <p:nvSpPr>
          <p:cNvPr id="3" name="Rectangle 2">
            <a:extLst>
              <a:ext uri="{FF2B5EF4-FFF2-40B4-BE49-F238E27FC236}">
                <a16:creationId xmlns:a16="http://schemas.microsoft.com/office/drawing/2014/main" id="{ADE52D8A-1852-7B64-FD14-FB10D1AF8F2F}"/>
              </a:ext>
            </a:extLst>
          </p:cNvPr>
          <p:cNvSpPr/>
          <p:nvPr/>
        </p:nvSpPr>
        <p:spPr>
          <a:xfrm>
            <a:off x="3657600" y="5174006"/>
            <a:ext cx="1524000" cy="5651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870239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pPr>
              <a:spcBef>
                <a:spcPts val="1200"/>
              </a:spcBef>
              <a:buClr>
                <a:schemeClr val="accent2"/>
              </a:buClr>
            </a:pPr>
            <a:r>
              <a:rPr lang="en-US" sz="4000" b="1" dirty="0">
                <a:solidFill>
                  <a:srgbClr val="FFFFFF"/>
                </a:solidFill>
                <a:latin typeface="Arial" panose="020B0604020202020204" pitchFamily="34" charset="0"/>
                <a:ea typeface="+mn-ea"/>
                <a:cs typeface="Arial" panose="020B0604020202020204" pitchFamily="34" charset="0"/>
              </a:rPr>
              <a:t>Role-Based Access Control (RBAC)</a:t>
            </a:r>
          </a:p>
        </p:txBody>
      </p:sp>
      <p:sp>
        <p:nvSpPr>
          <p:cNvPr id="10" name="Rectangle 1">
            <a:extLst>
              <a:ext uri="{FF2B5EF4-FFF2-40B4-BE49-F238E27FC236}">
                <a16:creationId xmlns:a16="http://schemas.microsoft.com/office/drawing/2014/main" id="{B4AC68F4-ABEF-D4E7-B025-F116EC96B08E}"/>
              </a:ext>
            </a:extLst>
          </p:cNvPr>
          <p:cNvSpPr>
            <a:spLocks noGrp="1" noChangeArrowheads="1"/>
          </p:cNvSpPr>
          <p:nvPr>
            <p:ph idx="1"/>
          </p:nvPr>
        </p:nvSpPr>
        <p:spPr bwMode="auto">
          <a:xfrm>
            <a:off x="838200" y="2093081"/>
            <a:ext cx="1057742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Definition</a:t>
            </a:r>
            <a:r>
              <a:rPr kumimoji="0" lang="en-US" altLang="en-US" sz="2200" b="0" i="0" u="none" strike="noStrike" cap="none" normalizeH="0" baseline="0" dirty="0">
                <a:ln>
                  <a:noFill/>
                </a:ln>
                <a:solidFill>
                  <a:schemeClr val="tx1"/>
                </a:solidFill>
                <a:effectLst/>
                <a:latin typeface="Arial" panose="020B0604020202020204" pitchFamily="34" charset="0"/>
              </a:rPr>
              <a:t>: RBAC is a method of regulating access to resources based on the roles individuals have within an organization. It is sometimes referred to as </a:t>
            </a:r>
            <a:r>
              <a:rPr kumimoji="0" lang="en-US" altLang="en-US" sz="2200" b="1" i="0" u="none" strike="noStrike" cap="none" normalizeH="0" baseline="0" dirty="0">
                <a:ln>
                  <a:noFill/>
                </a:ln>
                <a:solidFill>
                  <a:schemeClr val="tx1"/>
                </a:solidFill>
                <a:effectLst/>
                <a:latin typeface="Arial" panose="020B0604020202020204" pitchFamily="34" charset="0"/>
              </a:rPr>
              <a:t>Non-Discretionary Access Control</a:t>
            </a:r>
            <a:r>
              <a:rPr kumimoji="0" lang="en-US" altLang="en-US" sz="2200" b="0" i="0" u="none" strike="noStrike" cap="none" normalizeH="0" baseline="0" dirty="0">
                <a:ln>
                  <a:noFill/>
                </a:ln>
                <a:solidFill>
                  <a:schemeClr val="tx1"/>
                </a:solidFill>
                <a:effectLst/>
                <a:latin typeface="Arial" panose="020B0604020202020204" pitchFamily="34" charset="0"/>
              </a:rPr>
              <a:t> because users do not have the discretion to set their own access privileges.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Role Assignment</a:t>
            </a:r>
            <a:r>
              <a:rPr kumimoji="0" lang="en-US" altLang="en-US" sz="2200" b="0" i="0" u="none" strike="noStrike" cap="none" normalizeH="0" baseline="0" dirty="0">
                <a:ln>
                  <a:noFill/>
                </a:ln>
                <a:solidFill>
                  <a:schemeClr val="tx1"/>
                </a:solidFill>
                <a:effectLst/>
                <a:latin typeface="Arial" panose="020B0604020202020204" pitchFamily="34" charset="0"/>
              </a:rPr>
              <a:t>: Access permissions are tied to specific roles within the organization, and users are assigned to roles based on their job functions.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Permission Management</a:t>
            </a:r>
            <a:r>
              <a:rPr kumimoji="0" lang="en-US" altLang="en-US" sz="2200" b="0" i="0" u="none" strike="noStrike" cap="none" normalizeH="0" baseline="0" dirty="0">
                <a:ln>
                  <a:noFill/>
                </a:ln>
                <a:solidFill>
                  <a:schemeClr val="tx1"/>
                </a:solidFill>
                <a:effectLst/>
                <a:latin typeface="Arial" panose="020B0604020202020204" pitchFamily="34" charset="0"/>
              </a:rPr>
              <a:t>: Permissions are centrally managed by administrators who assign them based on predefined roles, ensuring that only authorized users can access specific resources according to their responsibilities.</a:t>
            </a:r>
          </a:p>
        </p:txBody>
      </p:sp>
    </p:spTree>
    <p:extLst>
      <p:ext uri="{BB962C8B-B14F-4D97-AF65-F5344CB8AC3E}">
        <p14:creationId xmlns:p14="http://schemas.microsoft.com/office/powerpoint/2010/main" val="2076376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spcBef>
                <a:spcPts val="1200"/>
              </a:spcBef>
              <a:buClr>
                <a:schemeClr val="accent2"/>
              </a:buClr>
            </a:pPr>
            <a:r>
              <a:rPr lang="en-US" sz="4000" b="1">
                <a:solidFill>
                  <a:srgbClr val="FFFFFF"/>
                </a:solidFill>
                <a:latin typeface="Arial" panose="020B0604020202020204" pitchFamily="34" charset="0"/>
                <a:ea typeface="+mn-ea"/>
                <a:cs typeface="Arial" panose="020B0604020202020204" pitchFamily="34" charset="0"/>
              </a:rPr>
              <a:t>Rule-Based Access Control</a:t>
            </a:r>
          </a:p>
        </p:txBody>
      </p:sp>
      <p:sp>
        <p:nvSpPr>
          <p:cNvPr id="4" name="Rectangle 1">
            <a:extLst>
              <a:ext uri="{FF2B5EF4-FFF2-40B4-BE49-F238E27FC236}">
                <a16:creationId xmlns:a16="http://schemas.microsoft.com/office/drawing/2014/main" id="{82F7A971-0B1D-1282-31EC-518D64E16500}"/>
              </a:ext>
            </a:extLst>
          </p:cNvPr>
          <p:cNvSpPr>
            <a:spLocks noGrp="1" noChangeArrowheads="1"/>
          </p:cNvSpPr>
          <p:nvPr>
            <p:ph idx="1"/>
          </p:nvPr>
        </p:nvSpPr>
        <p:spPr bwMode="auto">
          <a:xfrm>
            <a:off x="914400" y="1744000"/>
            <a:ext cx="1081825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Rule-Based Role-Based Access Control (RB-RBAC)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Definition</a:t>
            </a:r>
            <a:r>
              <a:rPr kumimoji="0" lang="en-US" altLang="en-US" sz="2200" b="0" i="0" u="none" strike="noStrike" cap="none" normalizeH="0" baseline="0" dirty="0">
                <a:ln>
                  <a:noFill/>
                </a:ln>
                <a:solidFill>
                  <a:schemeClr val="tx1"/>
                </a:solidFill>
                <a:effectLst/>
                <a:latin typeface="Arial" panose="020B0604020202020204" pitchFamily="34" charset="0"/>
              </a:rPr>
              <a:t>: A variation of Role-Based Access Control (RBAC) that dynamically assigns roles to users based on a set of predefined rules managed by a custodian.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Rule-Based Permissions</a:t>
            </a:r>
            <a:r>
              <a:rPr kumimoji="0" lang="en-US" altLang="en-US" sz="2200" b="0" i="0" u="none" strike="noStrike" cap="none" normalizeH="0" baseline="0" dirty="0">
                <a:ln>
                  <a:noFill/>
                </a:ln>
                <a:solidFill>
                  <a:schemeClr val="tx1"/>
                </a:solidFill>
                <a:effectLst/>
                <a:latin typeface="Arial" panose="020B0604020202020204" pitchFamily="34" charset="0"/>
              </a:rPr>
              <a:t>: Each resource contains access rules. When a user attempts access, the system verifies these rules to determine if access is permitted.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Use Case</a:t>
            </a:r>
            <a:r>
              <a:rPr kumimoji="0" lang="en-US" altLang="en-US" sz="2200" b="0" i="0" u="none" strike="noStrike" cap="none" normalizeH="0" baseline="0" dirty="0">
                <a:ln>
                  <a:noFill/>
                </a:ln>
                <a:solidFill>
                  <a:schemeClr val="tx1"/>
                </a:solidFill>
                <a:effectLst/>
                <a:latin typeface="Arial" panose="020B0604020202020204" pitchFamily="34" charset="0"/>
              </a:rPr>
              <a:t>: RB-RBAC is frequently employed to manage user access across multiple systems and is particularly useful when business changes trigger updates to the access control rules.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Dynamic Flexibility</a:t>
            </a:r>
            <a:r>
              <a:rPr kumimoji="0" lang="en-US" altLang="en-US" sz="2200" b="0" i="0" u="none" strike="noStrike" cap="none" normalizeH="0" baseline="0" dirty="0">
                <a:ln>
                  <a:noFill/>
                </a:ln>
                <a:solidFill>
                  <a:schemeClr val="tx1"/>
                </a:solidFill>
                <a:effectLst/>
                <a:latin typeface="Arial" panose="020B0604020202020204" pitchFamily="34" charset="0"/>
              </a:rPr>
              <a:t>: This model ensures that access permissions can be adjusted dynamically based on the evolving rules of an organization.</a:t>
            </a:r>
          </a:p>
        </p:txBody>
      </p:sp>
    </p:spTree>
    <p:extLst>
      <p:ext uri="{BB962C8B-B14F-4D97-AF65-F5344CB8AC3E}">
        <p14:creationId xmlns:p14="http://schemas.microsoft.com/office/powerpoint/2010/main" val="1019290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spcBef>
                <a:spcPts val="1200"/>
              </a:spcBef>
              <a:buClr>
                <a:schemeClr val="accent2"/>
              </a:buClr>
            </a:pPr>
            <a:r>
              <a:rPr lang="en-US" sz="4000" b="1">
                <a:solidFill>
                  <a:srgbClr val="FFFFFF"/>
                </a:solidFill>
                <a:latin typeface="Arial" panose="020B0604020202020204" pitchFamily="34" charset="0"/>
                <a:ea typeface="+mn-ea"/>
                <a:cs typeface="Arial" panose="020B0604020202020204" pitchFamily="34" charset="0"/>
              </a:rPr>
              <a:t>Attribute-Based Access Control (1 of 2)</a:t>
            </a:r>
          </a:p>
        </p:txBody>
      </p:sp>
      <p:sp>
        <p:nvSpPr>
          <p:cNvPr id="4" name="Rectangle 1">
            <a:extLst>
              <a:ext uri="{FF2B5EF4-FFF2-40B4-BE49-F238E27FC236}">
                <a16:creationId xmlns:a16="http://schemas.microsoft.com/office/drawing/2014/main" id="{C4F0925A-BE3B-D51E-E6F8-91E63A4B38DB}"/>
              </a:ext>
            </a:extLst>
          </p:cNvPr>
          <p:cNvSpPr>
            <a:spLocks noGrp="1" noChangeArrowheads="1"/>
          </p:cNvSpPr>
          <p:nvPr>
            <p:ph idx="1"/>
          </p:nvPr>
        </p:nvSpPr>
        <p:spPr bwMode="auto">
          <a:xfrm>
            <a:off x="1066800" y="1687354"/>
            <a:ext cx="1020075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Flexibility</a:t>
            </a:r>
            <a:r>
              <a:rPr kumimoji="0" lang="en-US" altLang="en-US" sz="2200" b="0" i="0" u="none" strike="noStrike" cap="none" normalizeH="0" baseline="0" dirty="0">
                <a:ln>
                  <a:noFill/>
                </a:ln>
                <a:solidFill>
                  <a:schemeClr val="tx1"/>
                </a:solidFill>
                <a:effectLst/>
                <a:latin typeface="Arial" panose="020B0604020202020204" pitchFamily="34" charset="0"/>
              </a:rPr>
              <a:t>: ABAC provides more adaptable policies compared to Rule-Based Access Control (RBAC), allowing a combination of multiple attributes to determine access.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Attributes Used</a:t>
            </a:r>
            <a:r>
              <a:rPr kumimoji="0" lang="en-US" altLang="en-US" sz="2200" b="0" i="0" u="none" strike="noStrike" cap="none" normalizeH="0" baseline="0" dirty="0">
                <a:ln>
                  <a:noFill/>
                </a:ln>
                <a:solidFill>
                  <a:schemeClr val="tx1"/>
                </a:solidFill>
                <a:effectLst/>
                <a:latin typeface="Arial" panose="020B0604020202020204" pitchFamily="34" charset="0"/>
              </a:rPr>
              <a:t>: The model can incorporate: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Object attributes (e.g., file type or sensitivity)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Subject attributes (e.g., user role or department)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Environmental attributes (e.g., time of access or location)</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Conditional Rules</a:t>
            </a:r>
            <a:r>
              <a:rPr kumimoji="0" lang="en-US" altLang="en-US" sz="2200" b="0" i="0" u="none" strike="noStrike" cap="none" normalizeH="0" baseline="0" dirty="0">
                <a:ln>
                  <a:noFill/>
                </a:ln>
                <a:solidFill>
                  <a:schemeClr val="tx1"/>
                </a:solidFill>
                <a:effectLst/>
                <a:latin typeface="Arial" panose="020B0604020202020204" pitchFamily="34" charset="0"/>
              </a:rPr>
              <a:t>: Policies in ABAC are commonly structured using "If-Then-Else" logic, enabling a high degree of granularity in access control decisions.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This flexibility allows ABAC to support complex organizational needs by leveraging a diverse range of criteria.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0497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8749087" cy="1159200"/>
          </a:xfrm>
        </p:spPr>
        <p:txBody>
          <a:bodyPr vert="horz" lIns="91440" tIns="45720" rIns="91440" bIns="45720" rtlCol="0" anchor="ctr">
            <a:normAutofit/>
          </a:bodyPr>
          <a:lstStyle/>
          <a:p>
            <a:pPr defTabSz="914400">
              <a:buClr>
                <a:schemeClr val="accent2"/>
              </a:buClr>
            </a:pPr>
            <a:r>
              <a:rPr lang="en-US" sz="3700" b="1" kern="1200" dirty="0">
                <a:solidFill>
                  <a:srgbClr val="FFFFFF"/>
                </a:solidFill>
                <a:latin typeface="+mj-lt"/>
                <a:ea typeface="+mj-ea"/>
                <a:cs typeface="+mj-cs"/>
              </a:rPr>
              <a:t>Attribute-Based Access Control (2 of 2)</a:t>
            </a:r>
          </a:p>
        </p:txBody>
      </p:sp>
      <p:graphicFrame>
        <p:nvGraphicFramePr>
          <p:cNvPr id="6" name="Table 5" descr="A table titled, access control models. The table has 5 rows and 3 columns. The columns have the following headings from left to right. Name, explanation, description. The row entries are as follows. Row 1: name, mandatory access control, m ay c; explanation, end user cannot set controls; description, most restrictive model. Row 2: name, discretionary access control, d ay c; explanation, subject has total control over objects; description, least restrictive model. Row 3: name, role-based access control, r b ay c; explanation, assigns permissions to particular roles in the organization and then users are assigned to roles; description, considered a more, real-world approach. Row 4: name, rule-based access control; explanation, dynamically assigns roles to subjects based on a set of rules defined by a custodian; description, used for managing user access to one or more systems. Row 5: name, attribute-based access control, ay b ay c; explanation, uses policies that can combine attributes; description, most flexible model."/>
          <p:cNvGraphicFramePr>
            <a:graphicFrameLocks noGrp="1"/>
          </p:cNvGraphicFramePr>
          <p:nvPr>
            <p:extLst>
              <p:ext uri="{D42A27DB-BD31-4B8C-83A1-F6EECF244321}">
                <p14:modId xmlns:p14="http://schemas.microsoft.com/office/powerpoint/2010/main" val="2354800079"/>
              </p:ext>
            </p:extLst>
          </p:nvPr>
        </p:nvGraphicFramePr>
        <p:xfrm>
          <a:off x="1488902" y="1966293"/>
          <a:ext cx="9214196" cy="4452162"/>
        </p:xfrm>
        <a:graphic>
          <a:graphicData uri="http://schemas.openxmlformats.org/drawingml/2006/table">
            <a:tbl>
              <a:tblPr firstRow="1" bandRow="1">
                <a:noFill/>
                <a:tableStyleId>{5C22544A-7EE6-4342-B048-85BDC9FD1C3A}</a:tableStyleId>
              </a:tblPr>
              <a:tblGrid>
                <a:gridCol w="3805152">
                  <a:extLst>
                    <a:ext uri="{9D8B030D-6E8A-4147-A177-3AD203B41FA5}">
                      <a16:colId xmlns:a16="http://schemas.microsoft.com/office/drawing/2014/main" val="20000"/>
                    </a:ext>
                  </a:extLst>
                </a:gridCol>
                <a:gridCol w="2778395">
                  <a:extLst>
                    <a:ext uri="{9D8B030D-6E8A-4147-A177-3AD203B41FA5}">
                      <a16:colId xmlns:a16="http://schemas.microsoft.com/office/drawing/2014/main" val="20001"/>
                    </a:ext>
                  </a:extLst>
                </a:gridCol>
                <a:gridCol w="2630649">
                  <a:extLst>
                    <a:ext uri="{9D8B030D-6E8A-4147-A177-3AD203B41FA5}">
                      <a16:colId xmlns:a16="http://schemas.microsoft.com/office/drawing/2014/main" val="20002"/>
                    </a:ext>
                  </a:extLst>
                </a:gridCol>
              </a:tblGrid>
              <a:tr h="551183">
                <a:tc>
                  <a:txBody>
                    <a:bodyPr/>
                    <a:lstStyle/>
                    <a:p>
                      <a:r>
                        <a:rPr lang="en-US" sz="1800" b="1" cap="none" spc="0">
                          <a:solidFill>
                            <a:schemeClr val="bg1"/>
                          </a:solidFill>
                          <a:latin typeface="Arial" panose="020B0604020202020204" pitchFamily="34" charset="0"/>
                          <a:cs typeface="Arial" panose="020B0604020202020204" pitchFamily="34" charset="0"/>
                        </a:rPr>
                        <a:t>Name </a:t>
                      </a:r>
                    </a:p>
                  </a:txBody>
                  <a:tcPr marL="81513" marR="58224" marT="116447" marB="116447" anchor="ctr">
                    <a:lnL w="12700" cmpd="sng">
                      <a:noFill/>
                    </a:lnL>
                    <a:lnR w="12700" cmpd="sng">
                      <a:noFill/>
                    </a:lnR>
                    <a:lnT w="19050" cap="flat" cmpd="sng" algn="ctr">
                      <a:noFill/>
                      <a:prstDash val="solid"/>
                    </a:lnT>
                    <a:lnB w="38100" cmpd="sng">
                      <a:noFill/>
                    </a:lnB>
                    <a:solidFill>
                      <a:schemeClr val="tx1"/>
                    </a:solidFill>
                  </a:tcPr>
                </a:tc>
                <a:tc>
                  <a:txBody>
                    <a:bodyPr/>
                    <a:lstStyle/>
                    <a:p>
                      <a:r>
                        <a:rPr lang="en-US" sz="1800" b="1" cap="none" spc="0">
                          <a:solidFill>
                            <a:schemeClr val="bg1"/>
                          </a:solidFill>
                          <a:latin typeface="Arial" panose="020B0604020202020204" pitchFamily="34" charset="0"/>
                          <a:cs typeface="Arial" panose="020B0604020202020204" pitchFamily="34" charset="0"/>
                        </a:rPr>
                        <a:t>Explanation</a:t>
                      </a:r>
                    </a:p>
                  </a:txBody>
                  <a:tcPr marL="81513" marR="58224" marT="116447" marB="116447" anchor="ctr">
                    <a:lnL w="12700" cmpd="sng">
                      <a:noFill/>
                    </a:lnL>
                    <a:lnR w="12700" cmpd="sng">
                      <a:noFill/>
                    </a:lnR>
                    <a:lnT w="19050" cap="flat" cmpd="sng" algn="ctr">
                      <a:noFill/>
                      <a:prstDash val="solid"/>
                    </a:lnT>
                    <a:lnB w="38100" cmpd="sng">
                      <a:noFill/>
                    </a:lnB>
                    <a:solidFill>
                      <a:schemeClr val="tx1"/>
                    </a:solidFill>
                  </a:tcPr>
                </a:tc>
                <a:tc>
                  <a:txBody>
                    <a:bodyPr/>
                    <a:lstStyle/>
                    <a:p>
                      <a:r>
                        <a:rPr lang="en-US" sz="1800" b="1" cap="none" spc="0">
                          <a:solidFill>
                            <a:schemeClr val="bg1"/>
                          </a:solidFill>
                          <a:latin typeface="Arial" panose="020B0604020202020204" pitchFamily="34" charset="0"/>
                          <a:cs typeface="Arial" panose="020B0604020202020204" pitchFamily="34" charset="0"/>
                        </a:rPr>
                        <a:t>Description</a:t>
                      </a:r>
                    </a:p>
                  </a:txBody>
                  <a:tcPr marL="81513" marR="58224" marT="116447" marB="116447"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0000"/>
                  </a:ext>
                </a:extLst>
              </a:tr>
              <a:tr h="454144">
                <a:tc>
                  <a:txBody>
                    <a:bodyPr/>
                    <a:lstStyle/>
                    <a:p>
                      <a:r>
                        <a:rPr lang="en-US" sz="1500" cap="none" spc="0">
                          <a:solidFill>
                            <a:schemeClr val="tx1"/>
                          </a:solidFill>
                          <a:latin typeface="Arial" panose="020B0604020202020204" pitchFamily="34" charset="0"/>
                          <a:cs typeface="Arial" panose="020B0604020202020204" pitchFamily="34" charset="0"/>
                        </a:rPr>
                        <a:t>Mandatory Access Control (M A C)</a:t>
                      </a:r>
                    </a:p>
                  </a:txBody>
                  <a:tcPr marL="81513" marR="58224" marT="58224" marB="116447">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r>
                        <a:rPr lang="en-US" sz="1500" cap="none" spc="0">
                          <a:solidFill>
                            <a:schemeClr val="tx1"/>
                          </a:solidFill>
                          <a:latin typeface="Arial" panose="020B0604020202020204" pitchFamily="34" charset="0"/>
                          <a:cs typeface="Arial" panose="020B0604020202020204" pitchFamily="34" charset="0"/>
                        </a:rPr>
                        <a:t>End user cannot set controls</a:t>
                      </a:r>
                    </a:p>
                  </a:txBody>
                  <a:tcPr marL="81513" marR="58224" marT="58224" marB="116447">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r>
                        <a:rPr lang="en-US" sz="1500" cap="none" spc="0">
                          <a:solidFill>
                            <a:schemeClr val="tx1"/>
                          </a:solidFill>
                          <a:latin typeface="Arial" panose="020B0604020202020204" pitchFamily="34" charset="0"/>
                          <a:cs typeface="Arial" panose="020B0604020202020204" pitchFamily="34" charset="0"/>
                        </a:rPr>
                        <a:t>Most restrictive model</a:t>
                      </a:r>
                    </a:p>
                  </a:txBody>
                  <a:tcPr marL="81513" marR="58224" marT="58224" marB="116447">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10001"/>
                  </a:ext>
                </a:extLst>
              </a:tr>
              <a:tr h="687038">
                <a:tc>
                  <a:txBody>
                    <a:bodyPr/>
                    <a:lstStyle/>
                    <a:p>
                      <a:r>
                        <a:rPr lang="en-US" sz="1500" cap="none" spc="0">
                          <a:solidFill>
                            <a:schemeClr val="tx1"/>
                          </a:solidFill>
                          <a:latin typeface="Arial" panose="020B0604020202020204" pitchFamily="34" charset="0"/>
                          <a:cs typeface="Arial" panose="020B0604020202020204" pitchFamily="34" charset="0"/>
                        </a:rPr>
                        <a:t>Discretionary Access Control (D A C)</a:t>
                      </a:r>
                    </a:p>
                  </a:txBody>
                  <a:tcPr marL="81513" marR="58224" marT="58224" marB="116447">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r>
                        <a:rPr lang="en-US" sz="1500" cap="none" spc="0">
                          <a:solidFill>
                            <a:schemeClr val="tx1"/>
                          </a:solidFill>
                          <a:latin typeface="Arial" panose="020B0604020202020204" pitchFamily="34" charset="0"/>
                          <a:cs typeface="Arial" panose="020B0604020202020204" pitchFamily="34" charset="0"/>
                        </a:rPr>
                        <a:t>Subject has total control over objects</a:t>
                      </a:r>
                    </a:p>
                  </a:txBody>
                  <a:tcPr marL="81513" marR="58224" marT="58224" marB="116447">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r>
                        <a:rPr lang="en-US" sz="1500" cap="none" spc="0">
                          <a:solidFill>
                            <a:schemeClr val="tx1"/>
                          </a:solidFill>
                          <a:latin typeface="Arial" panose="020B0604020202020204" pitchFamily="34" charset="0"/>
                          <a:cs typeface="Arial" panose="020B0604020202020204" pitchFamily="34" charset="0"/>
                        </a:rPr>
                        <a:t>Least</a:t>
                      </a:r>
                      <a:r>
                        <a:rPr lang="en-US" sz="1500" cap="none" spc="0" baseline="0">
                          <a:solidFill>
                            <a:schemeClr val="tx1"/>
                          </a:solidFill>
                          <a:latin typeface="Arial" panose="020B0604020202020204" pitchFamily="34" charset="0"/>
                          <a:cs typeface="Arial" panose="020B0604020202020204" pitchFamily="34" charset="0"/>
                        </a:rPr>
                        <a:t> restrictive model</a:t>
                      </a:r>
                      <a:endParaRPr lang="en-US" sz="1500" cap="none" spc="0">
                        <a:solidFill>
                          <a:schemeClr val="tx1"/>
                        </a:solidFill>
                        <a:latin typeface="Arial" panose="020B0604020202020204" pitchFamily="34" charset="0"/>
                        <a:cs typeface="Arial" panose="020B0604020202020204" pitchFamily="34" charset="0"/>
                      </a:endParaRPr>
                    </a:p>
                  </a:txBody>
                  <a:tcPr marL="81513" marR="58224" marT="58224" marB="116447">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1152827">
                <a:tc>
                  <a:txBody>
                    <a:bodyPr/>
                    <a:lstStyle/>
                    <a:p>
                      <a:r>
                        <a:rPr lang="en-US" sz="1500" cap="none" spc="0">
                          <a:solidFill>
                            <a:schemeClr val="tx1"/>
                          </a:solidFill>
                          <a:latin typeface="Arial" panose="020B0604020202020204" pitchFamily="34" charset="0"/>
                          <a:cs typeface="Arial" panose="020B0604020202020204" pitchFamily="34" charset="0"/>
                        </a:rPr>
                        <a:t>Role-Based Access</a:t>
                      </a:r>
                      <a:r>
                        <a:rPr lang="en-US" sz="1500" cap="none" spc="0" baseline="0">
                          <a:solidFill>
                            <a:schemeClr val="tx1"/>
                          </a:solidFill>
                          <a:latin typeface="Arial" panose="020B0604020202020204" pitchFamily="34" charset="0"/>
                          <a:cs typeface="Arial" panose="020B0604020202020204" pitchFamily="34" charset="0"/>
                        </a:rPr>
                        <a:t> Control (R B A C)</a:t>
                      </a:r>
                      <a:endParaRPr lang="en-US" sz="1500" cap="none" spc="0">
                        <a:solidFill>
                          <a:schemeClr val="tx1"/>
                        </a:solidFill>
                        <a:latin typeface="Arial" panose="020B0604020202020204" pitchFamily="34" charset="0"/>
                        <a:cs typeface="Arial" panose="020B0604020202020204" pitchFamily="34" charset="0"/>
                      </a:endParaRPr>
                    </a:p>
                  </a:txBody>
                  <a:tcPr marL="81513" marR="58224" marT="58224" marB="116447">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r>
                        <a:rPr lang="en-US" sz="1500" cap="none" spc="0">
                          <a:solidFill>
                            <a:schemeClr val="tx1"/>
                          </a:solidFill>
                          <a:latin typeface="Arial" panose="020B0604020202020204" pitchFamily="34" charset="0"/>
                          <a:cs typeface="Arial" panose="020B0604020202020204" pitchFamily="34" charset="0"/>
                        </a:rPr>
                        <a:t>Assigns permissions to particular roles in the organization and then users are assigned to roles</a:t>
                      </a:r>
                    </a:p>
                  </a:txBody>
                  <a:tcPr marL="81513" marR="58224" marT="58224" marB="116447">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r>
                        <a:rPr lang="en-US" sz="1500" cap="none" spc="0">
                          <a:solidFill>
                            <a:schemeClr val="tx1"/>
                          </a:solidFill>
                          <a:latin typeface="Arial" panose="020B0604020202020204" pitchFamily="34" charset="0"/>
                          <a:cs typeface="Arial" panose="020B0604020202020204" pitchFamily="34" charset="0"/>
                        </a:rPr>
                        <a:t>Considered a more “real-world” approach</a:t>
                      </a:r>
                    </a:p>
                  </a:txBody>
                  <a:tcPr marL="81513" marR="58224" marT="58224" marB="116447">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0003"/>
                  </a:ext>
                </a:extLst>
              </a:tr>
              <a:tr h="919932">
                <a:tc>
                  <a:txBody>
                    <a:bodyPr/>
                    <a:lstStyle/>
                    <a:p>
                      <a:r>
                        <a:rPr lang="en-US" sz="1500" cap="none" spc="0">
                          <a:solidFill>
                            <a:schemeClr val="tx1"/>
                          </a:solidFill>
                          <a:latin typeface="Arial" panose="020B0604020202020204" pitchFamily="34" charset="0"/>
                          <a:cs typeface="Arial" panose="020B0604020202020204" pitchFamily="34" charset="0"/>
                        </a:rPr>
                        <a:t>Rule-Based Access Control</a:t>
                      </a:r>
                    </a:p>
                  </a:txBody>
                  <a:tcPr marL="81513" marR="58224" marT="58224" marB="116447">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r>
                        <a:rPr lang="en-US" sz="1500" cap="none" spc="0">
                          <a:solidFill>
                            <a:schemeClr val="tx1"/>
                          </a:solidFill>
                          <a:latin typeface="Arial" panose="020B0604020202020204" pitchFamily="34" charset="0"/>
                          <a:cs typeface="Arial" panose="020B0604020202020204" pitchFamily="34" charset="0"/>
                        </a:rPr>
                        <a:t>Dynamically</a:t>
                      </a:r>
                      <a:r>
                        <a:rPr lang="en-US" sz="1500" cap="none" spc="0" baseline="0">
                          <a:solidFill>
                            <a:schemeClr val="tx1"/>
                          </a:solidFill>
                          <a:latin typeface="Arial" panose="020B0604020202020204" pitchFamily="34" charset="0"/>
                          <a:cs typeface="Arial" panose="020B0604020202020204" pitchFamily="34" charset="0"/>
                        </a:rPr>
                        <a:t> assigns roles to subjects based on a set of rules defined by a custodian</a:t>
                      </a:r>
                      <a:endParaRPr lang="en-US" sz="1500" cap="none" spc="0">
                        <a:solidFill>
                          <a:schemeClr val="tx1"/>
                        </a:solidFill>
                        <a:latin typeface="Arial" panose="020B0604020202020204" pitchFamily="34" charset="0"/>
                        <a:cs typeface="Arial" panose="020B0604020202020204" pitchFamily="34" charset="0"/>
                      </a:endParaRPr>
                    </a:p>
                  </a:txBody>
                  <a:tcPr marL="81513" marR="58224" marT="58224" marB="116447">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r>
                        <a:rPr lang="en-US" sz="1500" cap="none" spc="0">
                          <a:solidFill>
                            <a:schemeClr val="tx1"/>
                          </a:solidFill>
                          <a:latin typeface="Arial" panose="020B0604020202020204" pitchFamily="34" charset="0"/>
                          <a:cs typeface="Arial" panose="020B0604020202020204" pitchFamily="34" charset="0"/>
                        </a:rPr>
                        <a:t>Used for managing user access to one or more systems</a:t>
                      </a:r>
                    </a:p>
                  </a:txBody>
                  <a:tcPr marL="81513" marR="58224" marT="58224" marB="116447">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687038">
                <a:tc>
                  <a:txBody>
                    <a:bodyPr/>
                    <a:lstStyle/>
                    <a:p>
                      <a:r>
                        <a:rPr lang="en-US" sz="1500" cap="none" spc="0">
                          <a:solidFill>
                            <a:schemeClr val="tx1"/>
                          </a:solidFill>
                          <a:latin typeface="Arial" panose="020B0604020202020204" pitchFamily="34" charset="0"/>
                          <a:cs typeface="Arial" panose="020B0604020202020204" pitchFamily="34" charset="0"/>
                        </a:rPr>
                        <a:t>Attribute-Based Access Control (A B A C)</a:t>
                      </a:r>
                    </a:p>
                  </a:txBody>
                  <a:tcPr marL="81513" marR="58224" marT="58224" marB="116447">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500" cap="none" spc="0">
                          <a:solidFill>
                            <a:schemeClr val="tx1"/>
                          </a:solidFill>
                          <a:latin typeface="Arial" panose="020B0604020202020204" pitchFamily="34" charset="0"/>
                          <a:cs typeface="Arial" panose="020B0604020202020204" pitchFamily="34" charset="0"/>
                        </a:rPr>
                        <a:t>Uses policies that can combine attributes</a:t>
                      </a:r>
                    </a:p>
                  </a:txBody>
                  <a:tcPr marL="81513" marR="58224" marT="58224" marB="116447">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500" cap="none" spc="0">
                          <a:solidFill>
                            <a:schemeClr val="tx1"/>
                          </a:solidFill>
                          <a:latin typeface="Arial" panose="020B0604020202020204" pitchFamily="34" charset="0"/>
                          <a:cs typeface="Arial" panose="020B0604020202020204" pitchFamily="34" charset="0"/>
                        </a:rPr>
                        <a:t>Most flexible</a:t>
                      </a:r>
                      <a:r>
                        <a:rPr lang="en-US" sz="1500" cap="none" spc="0" baseline="0">
                          <a:solidFill>
                            <a:schemeClr val="tx1"/>
                          </a:solidFill>
                          <a:latin typeface="Arial" panose="020B0604020202020204" pitchFamily="34" charset="0"/>
                          <a:cs typeface="Arial" panose="020B0604020202020204" pitchFamily="34" charset="0"/>
                        </a:rPr>
                        <a:t> model</a:t>
                      </a:r>
                      <a:endParaRPr lang="en-US" sz="1500" cap="none" spc="0">
                        <a:solidFill>
                          <a:schemeClr val="tx1"/>
                        </a:solidFill>
                        <a:latin typeface="Arial" panose="020B0604020202020204" pitchFamily="34" charset="0"/>
                        <a:cs typeface="Arial" panose="020B0604020202020204" pitchFamily="34" charset="0"/>
                      </a:endParaRPr>
                    </a:p>
                  </a:txBody>
                  <a:tcPr marL="81513" marR="58224" marT="58224" marB="116447">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10042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55D5B7B-37C8-BB46-224D-34F8CCD8EEC2}"/>
              </a:ext>
            </a:extLst>
          </p:cNvPr>
          <p:cNvPicPr>
            <a:picLocks noChangeAspect="1"/>
          </p:cNvPicPr>
          <p:nvPr/>
        </p:nvPicPr>
        <p:blipFill>
          <a:blip r:embed="rId2">
            <a:duotone>
              <a:schemeClr val="bg2">
                <a:shade val="45000"/>
                <a:satMod val="135000"/>
              </a:schemeClr>
              <a:prstClr val="white"/>
            </a:duotone>
          </a:blip>
          <a:srcRect t="12211" b="3519"/>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pPr>
              <a:spcBef>
                <a:spcPts val="1200"/>
              </a:spcBef>
              <a:buClr>
                <a:schemeClr val="accent2"/>
              </a:buClr>
            </a:pPr>
            <a:r>
              <a:rPr lang="en-US" b="1">
                <a:latin typeface="Arial" panose="020B0604020202020204" pitchFamily="34" charset="0"/>
                <a:ea typeface="+mn-ea"/>
                <a:cs typeface="Arial" panose="020B0604020202020204" pitchFamily="34" charset="0"/>
              </a:rPr>
              <a:t>Managing Access Through Account Management</a:t>
            </a:r>
          </a:p>
        </p:txBody>
      </p:sp>
      <p:graphicFrame>
        <p:nvGraphicFramePr>
          <p:cNvPr id="5" name="Content Placeholder 2">
            <a:extLst>
              <a:ext uri="{FF2B5EF4-FFF2-40B4-BE49-F238E27FC236}">
                <a16:creationId xmlns:a16="http://schemas.microsoft.com/office/drawing/2014/main" id="{BD6B2369-B031-B2F7-4CAD-F21EDA6FD69B}"/>
              </a:ext>
            </a:extLst>
          </p:cNvPr>
          <p:cNvGraphicFramePr>
            <a:graphicFrameLocks noGrp="1"/>
          </p:cNvGraphicFramePr>
          <p:nvPr>
            <p:ph idx="1"/>
            <p:extLst>
              <p:ext uri="{D42A27DB-BD31-4B8C-83A1-F6EECF244321}">
                <p14:modId xmlns:p14="http://schemas.microsoft.com/office/powerpoint/2010/main" val="99698851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12409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838200" y="401221"/>
            <a:ext cx="10515600" cy="1348065"/>
          </a:xfrm>
        </p:spPr>
        <p:txBody>
          <a:bodyPr>
            <a:normAutofit/>
          </a:bodyPr>
          <a:lstStyle/>
          <a:p>
            <a:pPr>
              <a:spcBef>
                <a:spcPts val="1200"/>
              </a:spcBef>
              <a:buClr>
                <a:schemeClr val="accent2"/>
              </a:buClr>
            </a:pPr>
            <a:r>
              <a:rPr lang="en-US" sz="5400" b="1">
                <a:solidFill>
                  <a:srgbClr val="FFFFFF"/>
                </a:solidFill>
                <a:latin typeface="Arial" panose="020B0604020202020204" pitchFamily="34" charset="0"/>
                <a:ea typeface="+mn-ea"/>
                <a:cs typeface="Arial" panose="020B0604020202020204" pitchFamily="34" charset="0"/>
              </a:rPr>
              <a:t>Account Setup</a:t>
            </a:r>
          </a:p>
        </p:txBody>
      </p:sp>
      <p:sp>
        <p:nvSpPr>
          <p:cNvPr id="3" name="Content Placeholder 2"/>
          <p:cNvSpPr>
            <a:spLocks noGrp="1"/>
          </p:cNvSpPr>
          <p:nvPr>
            <p:ph idx="1"/>
          </p:nvPr>
        </p:nvSpPr>
        <p:spPr>
          <a:xfrm>
            <a:off x="838200" y="2586789"/>
            <a:ext cx="10515600" cy="3590174"/>
          </a:xfrm>
        </p:spPr>
        <p:txBody>
          <a:bodyPr>
            <a:normAutofit fontScale="92500" lnSpcReduction="10000"/>
          </a:bodyPr>
          <a:lstStyle/>
          <a:p>
            <a:pPr marL="0" indent="0">
              <a:buNone/>
            </a:pPr>
            <a:r>
              <a:rPr lang="en-GB" sz="2000" b="1" dirty="0"/>
              <a:t>Best Practices for Account Setup:</a:t>
            </a:r>
            <a:endParaRPr lang="en-GB" sz="2000" dirty="0"/>
          </a:p>
          <a:p>
            <a:pPr>
              <a:buFont typeface="Arial" panose="020B0604020202020204" pitchFamily="34" charset="0"/>
              <a:buChar char="•"/>
            </a:pPr>
            <a:r>
              <a:rPr lang="en-GB" sz="2000" b="1" dirty="0"/>
              <a:t>Location-Based Policies</a:t>
            </a:r>
            <a:r>
              <a:rPr lang="en-GB" sz="2000" dirty="0"/>
              <a:t>: Implementing access control policies based on the geographical location of users, allowing or restricting access depending on where the login request is made.</a:t>
            </a:r>
          </a:p>
          <a:p>
            <a:pPr>
              <a:buFont typeface="Arial" panose="020B0604020202020204" pitchFamily="34" charset="0"/>
              <a:buChar char="•"/>
            </a:pPr>
            <a:r>
              <a:rPr lang="en-GB" sz="2000" b="1" dirty="0"/>
              <a:t>Standard Naming Conventions</a:t>
            </a:r>
            <a:r>
              <a:rPr lang="en-GB" sz="2000" dirty="0"/>
              <a:t>: Establish a consistent naming system for user accounts to maintain clarity and organization across the network, making it easier to manage and audit access.</a:t>
            </a:r>
          </a:p>
          <a:p>
            <a:pPr>
              <a:buFont typeface="Arial" panose="020B0604020202020204" pitchFamily="34" charset="0"/>
              <a:buChar char="•"/>
            </a:pPr>
            <a:r>
              <a:rPr lang="en-GB" sz="2000" b="1" dirty="0"/>
              <a:t>Time-of-Day Restrictions</a:t>
            </a:r>
            <a:r>
              <a:rPr lang="en-GB" sz="2000" dirty="0"/>
              <a:t>: Limit access based on specific times of the day or week, ensuring that users can only log in during their working hours or other permitted timeframes, enhancing security.</a:t>
            </a:r>
          </a:p>
          <a:p>
            <a:pPr>
              <a:buFont typeface="Arial" panose="020B0604020202020204" pitchFamily="34" charset="0"/>
              <a:buChar char="•"/>
            </a:pPr>
            <a:r>
              <a:rPr lang="en-GB" sz="2000" b="1" dirty="0"/>
              <a:t>Least Privilege Enforcement</a:t>
            </a:r>
            <a:r>
              <a:rPr lang="en-GB" sz="2000" dirty="0"/>
              <a:t>: Assign users the minimal level of access necessary to perform their duties, preventing unauthorized or unnecessary access to sensitive data or systems. This ensures better control over who can access specific resources and reduces the risk of insider threats.</a:t>
            </a:r>
          </a:p>
          <a:p>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7894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spcBef>
                <a:spcPts val="1200"/>
              </a:spcBef>
              <a:buClr>
                <a:schemeClr val="accent2"/>
              </a:buClr>
            </a:pPr>
            <a:r>
              <a:rPr lang="en-US" sz="4000" b="1">
                <a:solidFill>
                  <a:srgbClr val="FFFFFF"/>
                </a:solidFill>
                <a:latin typeface="Arial" panose="020B0604020202020204" pitchFamily="34" charset="0"/>
                <a:ea typeface="+mn-ea"/>
                <a:cs typeface="Arial" panose="020B0604020202020204" pitchFamily="34" charset="0"/>
              </a:rPr>
              <a:t>Location-Based Policies</a:t>
            </a:r>
          </a:p>
        </p:txBody>
      </p:sp>
      <p:sp>
        <p:nvSpPr>
          <p:cNvPr id="3" name="Content Placeholder 2"/>
          <p:cNvSpPr>
            <a:spLocks noGrp="1"/>
          </p:cNvSpPr>
          <p:nvPr>
            <p:ph idx="1"/>
          </p:nvPr>
        </p:nvSpPr>
        <p:spPr>
          <a:xfrm>
            <a:off x="1371599" y="2318196"/>
            <a:ext cx="9724031" cy="4245265"/>
          </a:xfrm>
        </p:spPr>
        <p:txBody>
          <a:bodyPr anchor="ctr">
            <a:noAutofit/>
          </a:bodyPr>
          <a:lstStyle/>
          <a:p>
            <a:pPr marL="0" indent="0">
              <a:buNone/>
            </a:pPr>
            <a:r>
              <a:rPr lang="en-GB" sz="2000" b="1" dirty="0"/>
              <a:t>Geofencing and Location-Based Policies:</a:t>
            </a:r>
            <a:endParaRPr lang="en-GB" sz="2000" dirty="0"/>
          </a:p>
          <a:p>
            <a:pPr>
              <a:buFont typeface="Arial" panose="020B0604020202020204" pitchFamily="34" charset="0"/>
              <a:buChar char="•"/>
            </a:pPr>
            <a:r>
              <a:rPr lang="en-GB" sz="2000" b="1" dirty="0"/>
              <a:t>Geofencing</a:t>
            </a:r>
            <a:r>
              <a:rPr lang="en-GB" sz="2000" dirty="0"/>
              <a:t>: A technique used to define geographical boundaries where mobile devices can or cannot be used. It helps ensure that devices are only operational in authorized areas.</a:t>
            </a:r>
          </a:p>
          <a:p>
            <a:pPr>
              <a:buFont typeface="Arial" panose="020B0604020202020204" pitchFamily="34" charset="0"/>
              <a:buChar char="•"/>
            </a:pPr>
            <a:r>
              <a:rPr lang="en-GB" sz="2000" b="1" dirty="0"/>
              <a:t>IP Location Data</a:t>
            </a:r>
            <a:r>
              <a:rPr lang="en-GB" sz="2000" dirty="0"/>
              <a:t>: Geofencing often relies on IP location data to define these boundaries. The data is stored in a file that contains information such as the range of IP addresses (</a:t>
            </a:r>
            <a:r>
              <a:rPr lang="en-GB" sz="2000" dirty="0" err="1"/>
              <a:t>IP_From</a:t>
            </a:r>
            <a:r>
              <a:rPr lang="en-GB" sz="2000" dirty="0"/>
              <a:t>, </a:t>
            </a:r>
            <a:r>
              <a:rPr lang="en-GB" sz="2000" dirty="0" err="1"/>
              <a:t>IP_To</a:t>
            </a:r>
            <a:r>
              <a:rPr lang="en-GB" sz="2000" dirty="0"/>
              <a:t>), the country code, country name, region, and city.</a:t>
            </a:r>
          </a:p>
          <a:p>
            <a:pPr>
              <a:buFont typeface="Arial" panose="020B0604020202020204" pitchFamily="34" charset="0"/>
              <a:buChar char="•"/>
            </a:pPr>
            <a:r>
              <a:rPr lang="en-GB" sz="2000" b="1" dirty="0"/>
              <a:t>Policy Generation</a:t>
            </a:r>
            <a:r>
              <a:rPr lang="en-GB" sz="2000" dirty="0"/>
              <a:t>: This IP location data file becomes the foundation for generating location-based policies that govern where mobile devices can access certain systems. For example, mobile devices may be restricted from accessing sensitive data outside of a designated geographic area.</a:t>
            </a:r>
          </a:p>
          <a:p>
            <a:pPr>
              <a:buFont typeface="Arial" panose="020B0604020202020204" pitchFamily="34" charset="0"/>
              <a:buChar char="•"/>
            </a:pPr>
            <a:r>
              <a:rPr lang="en-GB" sz="2000" b="1" dirty="0"/>
              <a:t>Authorization Requests</a:t>
            </a:r>
            <a:r>
              <a:rPr lang="en-GB" sz="2000" dirty="0"/>
              <a:t>: When mobile devices attempt to access resources, the system evaluates authorization requests against the predefined geofencing policies. If a device is outside the approved geographical boundaries, the request may be denied.</a:t>
            </a:r>
          </a:p>
          <a:p>
            <a:pPr marL="0" inden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4212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spcBef>
                <a:spcPts val="1200"/>
              </a:spcBef>
              <a:buClr>
                <a:schemeClr val="accent2"/>
              </a:buClr>
            </a:pPr>
            <a:r>
              <a:rPr lang="en-US" sz="4000" b="1">
                <a:solidFill>
                  <a:srgbClr val="FFFFFF"/>
                </a:solidFill>
                <a:latin typeface="Arial" panose="020B0604020202020204" pitchFamily="34" charset="0"/>
                <a:ea typeface="+mn-ea"/>
                <a:cs typeface="Arial" panose="020B0604020202020204" pitchFamily="34" charset="0"/>
              </a:rPr>
              <a:t>Standard Naming Conventions</a:t>
            </a:r>
          </a:p>
        </p:txBody>
      </p:sp>
      <p:sp>
        <p:nvSpPr>
          <p:cNvPr id="3" name="Content Placeholder 2"/>
          <p:cNvSpPr>
            <a:spLocks noGrp="1"/>
          </p:cNvSpPr>
          <p:nvPr>
            <p:ph idx="1"/>
          </p:nvPr>
        </p:nvSpPr>
        <p:spPr>
          <a:xfrm>
            <a:off x="1371599" y="2318196"/>
            <a:ext cx="9724031" cy="3930203"/>
          </a:xfrm>
        </p:spPr>
        <p:txBody>
          <a:bodyPr anchor="ctr">
            <a:noAutofit/>
          </a:bodyPr>
          <a:lstStyle/>
          <a:p>
            <a:pPr marL="0" indent="0">
              <a:buNone/>
            </a:pPr>
            <a:r>
              <a:rPr lang="en-GB" sz="2000" b="1" dirty="0"/>
              <a:t>Standard Naming Conventions</a:t>
            </a:r>
            <a:endParaRPr lang="en-GB" sz="2000" dirty="0"/>
          </a:p>
          <a:p>
            <a:pPr>
              <a:buFont typeface="Arial" panose="020B0604020202020204" pitchFamily="34" charset="0"/>
              <a:buChar char="•"/>
            </a:pPr>
            <a:r>
              <a:rPr lang="en-GB" sz="2000" b="1" dirty="0"/>
              <a:t>Definition</a:t>
            </a:r>
            <a:r>
              <a:rPr lang="en-GB" sz="2000" dirty="0"/>
              <a:t>: These are predefined rules established for creating account names in a consistent manner across an organization.</a:t>
            </a:r>
          </a:p>
          <a:p>
            <a:pPr>
              <a:buFont typeface="Arial" panose="020B0604020202020204" pitchFamily="34" charset="0"/>
              <a:buChar char="•"/>
            </a:pPr>
            <a:r>
              <a:rPr lang="en-GB" sz="2000" b="1" dirty="0"/>
              <a:t>Common Options</a:t>
            </a:r>
            <a:r>
              <a:rPr lang="en-GB" sz="2000" dirty="0"/>
              <a:t>:</a:t>
            </a:r>
          </a:p>
          <a:p>
            <a:pPr marL="742950" lvl="1" indent="-285750">
              <a:buFont typeface="Arial" panose="020B0604020202020204" pitchFamily="34" charset="0"/>
              <a:buChar char="•"/>
            </a:pPr>
            <a:r>
              <a:rPr lang="en-GB" sz="2000" dirty="0"/>
              <a:t>First initial of the first name followed by the last name (e.g., </a:t>
            </a:r>
            <a:r>
              <a:rPr lang="en-GB" sz="2000" dirty="0" err="1"/>
              <a:t>jsmith</a:t>
            </a:r>
            <a:r>
              <a:rPr lang="en-GB" sz="2000" dirty="0"/>
              <a:t>).</a:t>
            </a:r>
          </a:p>
          <a:p>
            <a:pPr marL="742950" lvl="1" indent="-285750">
              <a:buFont typeface="Arial" panose="020B0604020202020204" pitchFamily="34" charset="0"/>
              <a:buChar char="•"/>
            </a:pPr>
            <a:r>
              <a:rPr lang="en-GB" sz="2000" dirty="0"/>
              <a:t>Full first name with a punctuation mark followed by the last name (e.g., </a:t>
            </a:r>
            <a:r>
              <a:rPr lang="en-GB" sz="2000" dirty="0" err="1"/>
              <a:t>john.smith</a:t>
            </a:r>
            <a:r>
              <a:rPr lang="en-GB" sz="2000" dirty="0"/>
              <a:t>).</a:t>
            </a:r>
          </a:p>
          <a:p>
            <a:pPr marL="742950" lvl="1" indent="-285750">
              <a:buFont typeface="Arial" panose="020B0604020202020204" pitchFamily="34" charset="0"/>
              <a:buChar char="•"/>
            </a:pPr>
            <a:r>
              <a:rPr lang="en-GB" sz="2000" dirty="0"/>
              <a:t>Last name followed by a department code (e.g., </a:t>
            </a:r>
            <a:r>
              <a:rPr lang="en-GB" sz="2000" dirty="0" err="1"/>
              <a:t>smith_hr</a:t>
            </a:r>
            <a:r>
              <a:rPr lang="en-GB" sz="2000" dirty="0"/>
              <a:t>).</a:t>
            </a:r>
          </a:p>
          <a:p>
            <a:pPr>
              <a:buFont typeface="Arial" panose="020B0604020202020204" pitchFamily="34" charset="0"/>
              <a:buChar char="•"/>
            </a:pPr>
            <a:r>
              <a:rPr lang="en-GB" sz="2000" b="1" dirty="0"/>
              <a:t>Conflict Resolution</a:t>
            </a:r>
            <a:r>
              <a:rPr lang="en-GB" sz="2000" dirty="0"/>
              <a:t>: In cases where two users have similar or identical names, a standard procedure should be implemented to resolve the naming conflict. This could involve appending a number or other identifier to the username.</a:t>
            </a:r>
          </a:p>
          <a:p>
            <a:pPr>
              <a:buFont typeface="Arial" panose="020B0604020202020204" pitchFamily="34" charset="0"/>
              <a:buChar char="•"/>
            </a:pPr>
            <a:r>
              <a:rPr lang="en-GB" sz="2000" b="1" dirty="0"/>
              <a:t>Purpose</a:t>
            </a:r>
            <a:r>
              <a:rPr lang="en-GB" sz="2000" dirty="0"/>
              <a:t>: Standard naming conventions ensure ease of identification, uniformity, and avoid confusion in large organizations, making account management more streamlined.</a:t>
            </a:r>
          </a:p>
          <a:p>
            <a:pPr marL="0" inden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44017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Rectangle 12">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4" y="353160"/>
            <a:ext cx="7091300" cy="898581"/>
          </a:xfrm>
        </p:spPr>
        <p:txBody>
          <a:bodyPr vert="horz" lIns="91440" tIns="45720" rIns="91440" bIns="45720" rtlCol="0" anchor="ctr">
            <a:normAutofit/>
          </a:bodyPr>
          <a:lstStyle/>
          <a:p>
            <a:pPr defTabSz="914400">
              <a:buClr>
                <a:schemeClr val="accent2"/>
              </a:buClr>
            </a:pPr>
            <a:r>
              <a:rPr lang="en-US" sz="4000" b="1">
                <a:solidFill>
                  <a:srgbClr val="FFFFFF"/>
                </a:solidFill>
              </a:rPr>
              <a:t>Time-of-Day Restrictions</a:t>
            </a:r>
          </a:p>
        </p:txBody>
      </p:sp>
      <p:sp>
        <p:nvSpPr>
          <p:cNvPr id="3" name="Content Placeholder 2"/>
          <p:cNvSpPr>
            <a:spLocks noGrp="1"/>
          </p:cNvSpPr>
          <p:nvPr>
            <p:ph idx="1"/>
          </p:nvPr>
        </p:nvSpPr>
        <p:spPr>
          <a:xfrm>
            <a:off x="8571507" y="387224"/>
            <a:ext cx="3291839" cy="830453"/>
          </a:xfrm>
        </p:spPr>
        <p:txBody>
          <a:bodyPr vert="horz" lIns="91440" tIns="45720" rIns="91440" bIns="45720" rtlCol="0" anchor="ctr">
            <a:normAutofit/>
          </a:bodyPr>
          <a:lstStyle/>
          <a:p>
            <a:pPr marL="0" indent="0" defTabSz="914400">
              <a:spcBef>
                <a:spcPts val="1000"/>
              </a:spcBef>
              <a:buNone/>
            </a:pPr>
            <a:r>
              <a:rPr lang="en-US" sz="1700">
                <a:solidFill>
                  <a:srgbClr val="FFFFFF"/>
                </a:solidFill>
              </a:rPr>
              <a:t>Time-of-day restrictions can be used to limit when a user can log into their account</a:t>
            </a:r>
          </a:p>
        </p:txBody>
      </p:sp>
      <p:pic>
        <p:nvPicPr>
          <p:cNvPr id="5" name="Picture 4" descr="Figure 12-4 Time-of-day restrictions setting specific times and days. An illustration shows an example of Time-of-day restrictions setting specific times and days. The following fields are selected in the settings page: Days to block: Sunday, Tuesday, Wednesday, Friday, Saturday are selected; Time of day to block: Start blocking: 18 Hour 30 Minute; End blocking: 24 Hour 0 Minute; Time Zone drop down option box: G M T 0 6 0 0, Central America, Central Time, U S and Canada. Check box, automatically adjust for daylight saving tim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5748" y="3102716"/>
            <a:ext cx="5131088" cy="2155057"/>
          </a:xfrm>
          <a:prstGeom prst="rect">
            <a:avLst/>
          </a:prstGeom>
        </p:spPr>
      </p:pic>
      <p:pic>
        <p:nvPicPr>
          <p:cNvPr id="6" name="Picture 5" descr="Figure 12-5 Time-of-day restictyions using G U I. The time-of-day restriction using a G U I is a 7 by 24 grid that has the hours from 00 to 24 as the column headings and the 7 days of the week as rows. Two options: allowed or blocked. The blocked squares on the grid are highlighted and the allowed squares are un-highlighted.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45165" y="3113546"/>
            <a:ext cx="5131087" cy="2206369"/>
          </a:xfrm>
          <a:prstGeom prst="rect">
            <a:avLst/>
          </a:prstGeom>
        </p:spPr>
      </p:pic>
      <p:sp>
        <p:nvSpPr>
          <p:cNvPr id="7" name="Rectangle 6">
            <a:extLst>
              <a:ext uri="{FF2B5EF4-FFF2-40B4-BE49-F238E27FC236}">
                <a16:creationId xmlns:a16="http://schemas.microsoft.com/office/drawing/2014/main" id="{1C05DBC6-4599-155A-C608-C2F2ED567132}"/>
              </a:ext>
            </a:extLst>
          </p:cNvPr>
          <p:cNvSpPr/>
          <p:nvPr/>
        </p:nvSpPr>
        <p:spPr>
          <a:xfrm>
            <a:off x="15949" y="5029173"/>
            <a:ext cx="1676400"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n>
                <a:solidFill>
                  <a:schemeClr val="bg1"/>
                </a:solidFill>
              </a:ln>
              <a:solidFill>
                <a:schemeClr val="bg1"/>
              </a:solidFill>
            </a:endParaRPr>
          </a:p>
        </p:txBody>
      </p:sp>
      <p:sp>
        <p:nvSpPr>
          <p:cNvPr id="8" name="Rectangle 7">
            <a:extLst>
              <a:ext uri="{FF2B5EF4-FFF2-40B4-BE49-F238E27FC236}">
                <a16:creationId xmlns:a16="http://schemas.microsoft.com/office/drawing/2014/main" id="{5CD03767-1D5A-2934-A090-0F7848375318}"/>
              </a:ext>
            </a:extLst>
          </p:cNvPr>
          <p:cNvSpPr/>
          <p:nvPr/>
        </p:nvSpPr>
        <p:spPr>
          <a:xfrm>
            <a:off x="5791200" y="5091315"/>
            <a:ext cx="1447800"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n>
                <a:solidFill>
                  <a:schemeClr val="bg1"/>
                </a:solidFill>
              </a:ln>
              <a:solidFill>
                <a:schemeClr val="bg1"/>
              </a:solidFill>
            </a:endParaRPr>
          </a:p>
        </p:txBody>
      </p:sp>
    </p:spTree>
    <p:extLst>
      <p:ext uri="{BB962C8B-B14F-4D97-AF65-F5344CB8AC3E}">
        <p14:creationId xmlns:p14="http://schemas.microsoft.com/office/powerpoint/2010/main" val="3870968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spcBef>
                <a:spcPts val="1200"/>
              </a:spcBef>
              <a:buClr>
                <a:schemeClr val="accent2"/>
              </a:buClr>
            </a:pPr>
            <a:r>
              <a:rPr lang="en-US" sz="4000" b="1">
                <a:solidFill>
                  <a:srgbClr val="FFFFFF"/>
                </a:solidFill>
                <a:latin typeface="Arial" panose="020B0604020202020204" pitchFamily="34" charset="0"/>
                <a:ea typeface="+mn-ea"/>
                <a:cs typeface="Arial" panose="020B0604020202020204" pitchFamily="34" charset="0"/>
              </a:rPr>
              <a:t>Least Privilege</a:t>
            </a:r>
          </a:p>
        </p:txBody>
      </p:sp>
      <p:sp>
        <p:nvSpPr>
          <p:cNvPr id="4" name="Rectangle 1">
            <a:extLst>
              <a:ext uri="{FF2B5EF4-FFF2-40B4-BE49-F238E27FC236}">
                <a16:creationId xmlns:a16="http://schemas.microsoft.com/office/drawing/2014/main" id="{F48EA541-144C-6DF0-F0D2-7322F05F3957}"/>
              </a:ext>
            </a:extLst>
          </p:cNvPr>
          <p:cNvSpPr>
            <a:spLocks noGrp="1" noChangeArrowheads="1"/>
          </p:cNvSpPr>
          <p:nvPr>
            <p:ph idx="1"/>
          </p:nvPr>
        </p:nvSpPr>
        <p:spPr bwMode="auto">
          <a:xfrm>
            <a:off x="1143000" y="1743998"/>
            <a:ext cx="100584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Least Privilege in Access Control</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Definition</a:t>
            </a:r>
            <a:r>
              <a:rPr kumimoji="0" lang="en-US" altLang="en-US" sz="2200" b="0" i="0" u="none" strike="noStrike" cap="none" normalizeH="0" baseline="0" dirty="0">
                <a:ln>
                  <a:noFill/>
                </a:ln>
                <a:solidFill>
                  <a:schemeClr val="tx1"/>
                </a:solidFill>
                <a:effectLst/>
                <a:latin typeface="Arial" panose="020B0604020202020204" pitchFamily="34" charset="0"/>
              </a:rPr>
              <a:t>: The principle of least privilege dictates that individuals or systems should only be granted the minimum levels of access—or permissions—necessary to complete their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Purpose</a:t>
            </a:r>
            <a:r>
              <a:rPr kumimoji="0" lang="en-US" altLang="en-US" sz="2200" b="0" i="0" u="none" strike="noStrike" cap="none" normalizeH="0" baseline="0" dirty="0">
                <a:ln>
                  <a:noFill/>
                </a:ln>
                <a:solidFill>
                  <a:schemeClr val="tx1"/>
                </a:solidFill>
                <a:effectLst/>
                <a:latin typeface="Arial" panose="020B0604020202020204" pitchFamily="34" charset="0"/>
              </a:rPr>
              <a:t>: By limiting the number of privileges, it reduces the attack surface, minimizing the potential avenues for attackers to exploit vulnerabilities within a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Application</a:t>
            </a:r>
            <a:r>
              <a:rPr kumimoji="0" lang="en-US" altLang="en-US" sz="2200" b="0" i="0" u="none" strike="noStrike" cap="none" normalizeH="0" baseline="0" dirty="0">
                <a:ln>
                  <a:noFill/>
                </a:ln>
                <a:solidFill>
                  <a:schemeClr val="tx1"/>
                </a:solidFill>
                <a:effectLst/>
                <a:latin typeface="Arial" panose="020B0604020202020204" pitchFamily="34" charset="0"/>
              </a:rPr>
              <a:t>: This principle applies both to user accounts and to system processes. For example, users are only given access to the data and applications they need, and processes are only granted the permissions necessary to perform their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Security Benefits</a:t>
            </a:r>
            <a:r>
              <a:rPr kumimoji="0" lang="en-US" altLang="en-US" sz="2200" b="0" i="0" u="none" strike="noStrike" cap="none" normalizeH="0" baseline="0" dirty="0">
                <a:ln>
                  <a:noFill/>
                </a:ln>
                <a:solidFill>
                  <a:schemeClr val="tx1"/>
                </a:solidFill>
                <a:effectLst/>
                <a:latin typeface="Arial" panose="020B0604020202020204" pitchFamily="34" charset="0"/>
              </a:rPr>
              <a:t>: By eliminating unnecessary privileges, the risk of privilege escalation attacks and misuse is significantly reduced.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02887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pPr>
              <a:spcBef>
                <a:spcPts val="1200"/>
              </a:spcBef>
              <a:buClr>
                <a:schemeClr val="accent2"/>
              </a:buClr>
            </a:pPr>
            <a:r>
              <a:rPr lang="en-US" sz="4000" b="1">
                <a:solidFill>
                  <a:srgbClr val="FFFFFF"/>
                </a:solidFill>
                <a:latin typeface="Arial" panose="020B0604020202020204" pitchFamily="34" charset="0"/>
                <a:ea typeface="+mn-ea"/>
                <a:cs typeface="Arial" panose="020B0604020202020204" pitchFamily="34" charset="0"/>
              </a:rPr>
              <a:t>Account Auditing</a:t>
            </a:r>
          </a:p>
        </p:txBody>
      </p:sp>
      <p:sp>
        <p:nvSpPr>
          <p:cNvPr id="3" name="Content Placeholder 2"/>
          <p:cNvSpPr>
            <a:spLocks noGrp="1"/>
          </p:cNvSpPr>
          <p:nvPr>
            <p:ph idx="1"/>
          </p:nvPr>
        </p:nvSpPr>
        <p:spPr>
          <a:xfrm>
            <a:off x="1143001" y="2318197"/>
            <a:ext cx="9952630" cy="3683358"/>
          </a:xfrm>
        </p:spPr>
        <p:txBody>
          <a:bodyPr anchor="ctr">
            <a:noAutofit/>
          </a:bodyPr>
          <a:lstStyle/>
          <a:p>
            <a:pPr marL="0" indent="0">
              <a:buNone/>
            </a:pPr>
            <a:r>
              <a:rPr lang="en-GB" sz="2200" dirty="0"/>
              <a:t>Once user accounts are created, it’s critical to maintain and audit them regularly to ensure they are up-to-date and comply with security policies. The following auditing processes can be applied:</a:t>
            </a:r>
          </a:p>
          <a:p>
            <a:pPr>
              <a:buFont typeface="Arial" panose="020B0604020202020204" pitchFamily="34" charset="0"/>
              <a:buChar char="•"/>
            </a:pPr>
            <a:r>
              <a:rPr lang="en-GB" sz="2200" b="1" dirty="0"/>
              <a:t>Recertification</a:t>
            </a:r>
            <a:r>
              <a:rPr lang="en-GB" sz="2200" dirty="0"/>
              <a:t>: A periodic revalidation process that ensures a user’s account, access controls, and membership roles are still appropriate and necessary. It confirms that users should still have the access they were originally granted.</a:t>
            </a:r>
          </a:p>
          <a:p>
            <a:pPr>
              <a:buFont typeface="Arial" panose="020B0604020202020204" pitchFamily="34" charset="0"/>
              <a:buChar char="•"/>
            </a:pPr>
            <a:r>
              <a:rPr lang="en-GB" sz="2200" b="1" dirty="0"/>
              <a:t>Permission Auditing and Review</a:t>
            </a:r>
            <a:r>
              <a:rPr lang="en-GB" sz="2200" dirty="0"/>
              <a:t>: This process involves examining the specific permissions granted to a user. The audit determines whether these permissions are still required based on the user's current role and responsibilities.</a:t>
            </a:r>
          </a:p>
          <a:p>
            <a:pPr>
              <a:buFont typeface="Arial" panose="020B0604020202020204" pitchFamily="34" charset="0"/>
              <a:buChar char="•"/>
            </a:pPr>
            <a:r>
              <a:rPr lang="en-GB" sz="2200" b="1" dirty="0"/>
              <a:t>Usage Auditing and Review</a:t>
            </a:r>
            <a:r>
              <a:rPr lang="en-GB" sz="2200" dirty="0"/>
              <a:t>: Focuses on how users are interacting with the applications they have access to. This review looks at the frequency and manner in which applications are used to identify any unnecessary or risky usage patterns.</a:t>
            </a:r>
          </a:p>
        </p:txBody>
      </p:sp>
    </p:spTree>
    <p:extLst>
      <p:ext uri="{BB962C8B-B14F-4D97-AF65-F5344CB8AC3E}">
        <p14:creationId xmlns:p14="http://schemas.microsoft.com/office/powerpoint/2010/main" val="3070560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10173010" cy="1554480"/>
          </a:xfrm>
        </p:spPr>
        <p:txBody>
          <a:bodyPr anchor="ctr">
            <a:normAutofit/>
          </a:bodyPr>
          <a:lstStyle/>
          <a:p>
            <a:pPr>
              <a:spcBef>
                <a:spcPts val="1200"/>
              </a:spcBef>
              <a:buClr>
                <a:schemeClr val="accent2"/>
              </a:buClr>
            </a:pPr>
            <a:r>
              <a:rPr lang="en-US" sz="4800" b="1">
                <a:latin typeface="Arial" panose="020B0604020202020204" pitchFamily="34" charset="0"/>
                <a:ea typeface="+mn-ea"/>
                <a:cs typeface="Arial" panose="020B0604020202020204" pitchFamily="34" charset="0"/>
              </a:rPr>
              <a:t>Best Practices for Access Control</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225D0D4-A285-0E7C-DF81-7424284CA151}"/>
              </a:ext>
            </a:extLst>
          </p:cNvPr>
          <p:cNvGraphicFramePr>
            <a:graphicFrameLocks noGrp="1"/>
          </p:cNvGraphicFramePr>
          <p:nvPr>
            <p:ph idx="1"/>
            <p:extLst>
              <p:ext uri="{D42A27DB-BD31-4B8C-83A1-F6EECF244321}">
                <p14:modId xmlns:p14="http://schemas.microsoft.com/office/powerpoint/2010/main" val="3676719287"/>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3838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pPr>
              <a:spcBef>
                <a:spcPts val="1200"/>
              </a:spcBef>
              <a:buClr>
                <a:schemeClr val="accent2"/>
              </a:buClr>
            </a:pPr>
            <a:r>
              <a:rPr lang="en-US" sz="4000" b="1">
                <a:solidFill>
                  <a:srgbClr val="FFFFFF"/>
                </a:solidFill>
                <a:latin typeface="Arial" panose="020B0604020202020204" pitchFamily="34" charset="0"/>
                <a:ea typeface="+mn-ea"/>
                <a:cs typeface="Arial" panose="020B0604020202020204" pitchFamily="34" charset="0"/>
              </a:rPr>
              <a:t>Separation of Duties</a:t>
            </a:r>
          </a:p>
        </p:txBody>
      </p:sp>
      <p:graphicFrame>
        <p:nvGraphicFramePr>
          <p:cNvPr id="5" name="Content Placeholder 2">
            <a:extLst>
              <a:ext uri="{FF2B5EF4-FFF2-40B4-BE49-F238E27FC236}">
                <a16:creationId xmlns:a16="http://schemas.microsoft.com/office/drawing/2014/main" id="{BB0F203B-FD16-E5A3-588C-474448534FC1}"/>
              </a:ext>
            </a:extLst>
          </p:cNvPr>
          <p:cNvGraphicFramePr>
            <a:graphicFrameLocks noGrp="1"/>
          </p:cNvGraphicFramePr>
          <p:nvPr>
            <p:ph idx="1"/>
            <p:extLst>
              <p:ext uri="{D42A27DB-BD31-4B8C-83A1-F6EECF244321}">
                <p14:modId xmlns:p14="http://schemas.microsoft.com/office/powerpoint/2010/main" val="80888509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947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pPr>
              <a:spcBef>
                <a:spcPts val="1200"/>
              </a:spcBef>
              <a:buClr>
                <a:schemeClr val="accent2"/>
              </a:buClr>
            </a:pPr>
            <a:r>
              <a:rPr lang="en-US" sz="5400" b="1">
                <a:latin typeface="Arial" panose="020B0604020202020204" pitchFamily="34" charset="0"/>
                <a:ea typeface="+mn-ea"/>
                <a:cs typeface="Arial" panose="020B0604020202020204" pitchFamily="34" charset="0"/>
              </a:rPr>
              <a:t>Clean Desk Policy</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r>
              <a:rPr lang="en-US" sz="2000">
                <a:latin typeface="Arial" panose="020B0604020202020204" pitchFamily="34" charset="0"/>
                <a:cs typeface="Arial" panose="020B0604020202020204" pitchFamily="34" charset="0"/>
              </a:rPr>
              <a:t>Designed to ensure that all confidential or sensitive materials are removed form a user’s workspace and secured when the items not in use</a:t>
            </a:r>
          </a:p>
          <a:p>
            <a:pPr lvl="1"/>
            <a:r>
              <a:rPr lang="en-US" sz="2000" dirty="0">
                <a:latin typeface="Arial" panose="020B0604020202020204" pitchFamily="34" charset="0"/>
                <a:cs typeface="Arial" panose="020B0604020202020204" pitchFamily="34" charset="0"/>
              </a:rPr>
              <a:t>Either in paper form or electronic</a:t>
            </a:r>
            <a:endParaRPr lang="en-US" sz="2000">
              <a:latin typeface="Arial" panose="020B0604020202020204" pitchFamily="34" charset="0"/>
              <a:cs typeface="Arial" panose="020B0604020202020204" pitchFamily="34" charset="0"/>
            </a:endParaRPr>
          </a:p>
          <a:p>
            <a:r>
              <a:rPr lang="en-US" sz="2000">
                <a:latin typeface="Arial" panose="020B0604020202020204" pitchFamily="34" charset="0"/>
                <a:cs typeface="Arial" panose="020B0604020202020204" pitchFamily="34" charset="0"/>
              </a:rPr>
              <a:t>Sample statements that might be found in a clean desk policy:</a:t>
            </a:r>
          </a:p>
          <a:p>
            <a:pPr lvl="1"/>
            <a:r>
              <a:rPr lang="en-US" sz="2000" dirty="0">
                <a:latin typeface="Arial" panose="020B0604020202020204" pitchFamily="34" charset="0"/>
                <a:cs typeface="Arial" panose="020B0604020202020204" pitchFamily="34" charset="0"/>
              </a:rPr>
              <a:t>Computer workstations must be locked when the workspace is unoccupied and turned off at the end of the day</a:t>
            </a:r>
            <a:endParaRPr lang="en-US" sz="200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Confidential or sensitive information must be removed from the desk and locked in a drawer or safe when the desk is unoccupied or at the end of a work day</a:t>
            </a:r>
            <a:endParaRPr lang="en-US" sz="200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File cabinets must be kept closed and locked when not in use or not attended, and keys may not be left at an unattended desk</a:t>
            </a:r>
            <a:endParaRPr lang="en-US" sz="200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Laptops must be either locked with a locking cable or locked in a drawer or filing cabinet</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4448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838200" y="401221"/>
            <a:ext cx="10515600" cy="1348065"/>
          </a:xfrm>
        </p:spPr>
        <p:txBody>
          <a:bodyPr>
            <a:normAutofit/>
          </a:bodyPr>
          <a:lstStyle/>
          <a:p>
            <a:pPr>
              <a:spcBef>
                <a:spcPts val="1200"/>
              </a:spcBef>
              <a:buClr>
                <a:schemeClr val="accent2"/>
              </a:buClr>
            </a:pPr>
            <a:r>
              <a:rPr lang="en-US" sz="5400" b="1">
                <a:solidFill>
                  <a:srgbClr val="FFFFFF"/>
                </a:solidFill>
                <a:latin typeface="Arial" panose="020B0604020202020204" pitchFamily="34" charset="0"/>
                <a:ea typeface="+mn-ea"/>
                <a:cs typeface="Arial" panose="020B0604020202020204" pitchFamily="34" charset="0"/>
              </a:rPr>
              <a:t>Implementing Access Control</a:t>
            </a:r>
          </a:p>
        </p:txBody>
      </p:sp>
      <p:sp>
        <p:nvSpPr>
          <p:cNvPr id="4" name="Rectangle 1">
            <a:extLst>
              <a:ext uri="{FF2B5EF4-FFF2-40B4-BE49-F238E27FC236}">
                <a16:creationId xmlns:a16="http://schemas.microsoft.com/office/drawing/2014/main" id="{CCE45565-1EAF-099E-246C-BAAF006C6A00}"/>
              </a:ext>
            </a:extLst>
          </p:cNvPr>
          <p:cNvSpPr>
            <a:spLocks noGrp="1" noChangeArrowheads="1"/>
          </p:cNvSpPr>
          <p:nvPr>
            <p:ph idx="1"/>
          </p:nvPr>
        </p:nvSpPr>
        <p:spPr bwMode="auto">
          <a:xfrm>
            <a:off x="838200" y="2473286"/>
            <a:ext cx="105156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Technologies for Access Control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Access Control Lists (ACLs)</a:t>
            </a:r>
            <a:r>
              <a:rPr kumimoji="0" lang="en-US" altLang="en-US" sz="2200" b="0" i="0" u="none" strike="noStrike" cap="none" normalizeH="0" baseline="0" dirty="0">
                <a:ln>
                  <a:noFill/>
                </a:ln>
                <a:solidFill>
                  <a:schemeClr val="tx1"/>
                </a:solidFill>
                <a:effectLst/>
                <a:latin typeface="Arial" panose="020B0604020202020204" pitchFamily="34" charset="0"/>
              </a:rPr>
              <a:t>: These are lists that define permissions attached to an object, specifying which users or system processes are granted access to objects and what operations are allowed on given objects.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Group-Based Access Control</a:t>
            </a:r>
            <a:r>
              <a:rPr kumimoji="0" lang="en-US" altLang="en-US" sz="2200" b="0" i="0" u="none" strike="noStrike" cap="none" normalizeH="0" baseline="0" dirty="0">
                <a:ln>
                  <a:noFill/>
                </a:ln>
                <a:solidFill>
                  <a:schemeClr val="tx1"/>
                </a:solidFill>
                <a:effectLst/>
                <a:latin typeface="Arial" panose="020B0604020202020204" pitchFamily="34" charset="0"/>
              </a:rPr>
              <a:t>: Instead of assigning permissions to individual users, permissions are assigned to groups, and users inherit the permissions of the groups they are part of. This simplifies the management of user permissions, especially in larger organizations.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20284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56851" y="637762"/>
            <a:ext cx="9888496" cy="900131"/>
          </a:xfrm>
        </p:spPr>
        <p:txBody>
          <a:bodyPr anchor="t">
            <a:normAutofit/>
          </a:bodyPr>
          <a:lstStyle/>
          <a:p>
            <a:pPr>
              <a:spcBef>
                <a:spcPts val="1200"/>
              </a:spcBef>
              <a:buClr>
                <a:schemeClr val="accent2"/>
              </a:buClr>
            </a:pPr>
            <a:r>
              <a:rPr lang="en-US" sz="4000" b="1">
                <a:solidFill>
                  <a:schemeClr val="bg1"/>
                </a:solidFill>
                <a:latin typeface="Arial" panose="020B0604020202020204" pitchFamily="34" charset="0"/>
                <a:ea typeface="+mn-ea"/>
                <a:cs typeface="Arial" panose="020B0604020202020204" pitchFamily="34" charset="0"/>
              </a:rPr>
              <a:t>Access Control Lists (A</a:t>
            </a:r>
            <a:r>
              <a:rPr lang="en-US" sz="4000">
                <a:solidFill>
                  <a:schemeClr val="bg1"/>
                </a:solidFill>
                <a:latin typeface="Arial" panose="020B0604020202020204" pitchFamily="34" charset="0"/>
                <a:ea typeface="+mn-ea"/>
                <a:cs typeface="Arial" panose="020B0604020202020204" pitchFamily="34" charset="0"/>
              </a:rPr>
              <a:t> </a:t>
            </a:r>
            <a:r>
              <a:rPr lang="en-US" sz="4000" b="1">
                <a:solidFill>
                  <a:schemeClr val="bg1"/>
                </a:solidFill>
                <a:latin typeface="Arial" panose="020B0604020202020204" pitchFamily="34" charset="0"/>
                <a:ea typeface="+mn-ea"/>
                <a:cs typeface="Arial" panose="020B0604020202020204" pitchFamily="34" charset="0"/>
              </a:rPr>
              <a:t>C</a:t>
            </a:r>
            <a:r>
              <a:rPr lang="en-US" sz="4000">
                <a:solidFill>
                  <a:schemeClr val="bg1"/>
                </a:solidFill>
                <a:latin typeface="Arial" panose="020B0604020202020204" pitchFamily="34" charset="0"/>
                <a:ea typeface="+mn-ea"/>
                <a:cs typeface="Arial" panose="020B0604020202020204" pitchFamily="34" charset="0"/>
              </a:rPr>
              <a:t> </a:t>
            </a:r>
            <a:r>
              <a:rPr lang="en-US" sz="4000" b="1">
                <a:solidFill>
                  <a:schemeClr val="bg1"/>
                </a:solidFill>
                <a:latin typeface="Arial" panose="020B0604020202020204" pitchFamily="34" charset="0"/>
                <a:ea typeface="+mn-ea"/>
                <a:cs typeface="Arial" panose="020B0604020202020204" pitchFamily="34" charset="0"/>
              </a:rPr>
              <a:t>L</a:t>
            </a:r>
            <a:r>
              <a:rPr lang="en-US" sz="4000">
                <a:solidFill>
                  <a:schemeClr val="bg1"/>
                </a:solidFill>
                <a:latin typeface="Arial" panose="020B0604020202020204" pitchFamily="34" charset="0"/>
                <a:ea typeface="+mn-ea"/>
                <a:cs typeface="Arial" panose="020B0604020202020204" pitchFamily="34" charset="0"/>
              </a:rPr>
              <a:t> </a:t>
            </a:r>
            <a:r>
              <a:rPr lang="en-US" sz="4000" b="1">
                <a:solidFill>
                  <a:schemeClr val="bg1"/>
                </a:solidFill>
                <a:latin typeface="Arial" panose="020B0604020202020204" pitchFamily="34" charset="0"/>
                <a:ea typeface="+mn-ea"/>
                <a:cs typeface="Arial" panose="020B0604020202020204" pitchFamily="34" charset="0"/>
              </a:rPr>
              <a:t>s) (1 of 2)</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55548" y="2217343"/>
            <a:ext cx="9880893" cy="3959619"/>
          </a:xfrm>
        </p:spPr>
        <p:txBody>
          <a:bodyPr>
            <a:normAutofit/>
          </a:bodyPr>
          <a:lstStyle/>
          <a:p>
            <a:pPr marL="0" indent="0">
              <a:buNone/>
            </a:pPr>
            <a:r>
              <a:rPr lang="en-GB" b="1" dirty="0"/>
              <a:t>Access Control Lists (ACLs)</a:t>
            </a:r>
            <a:endParaRPr lang="en-GB" dirty="0"/>
          </a:p>
          <a:p>
            <a:pPr>
              <a:buFont typeface="Arial" panose="020B0604020202020204" pitchFamily="34" charset="0"/>
              <a:buChar char="•"/>
            </a:pPr>
            <a:r>
              <a:rPr lang="en-GB" b="1" dirty="0"/>
              <a:t>Definition</a:t>
            </a:r>
            <a:r>
              <a:rPr lang="en-GB" dirty="0"/>
              <a:t>: ACLs are sets of permissions attached to objects, specifying which subjects (users, groups, etc.) may access those objects and what operations they can perform (e.g., read, write, execute).</a:t>
            </a:r>
          </a:p>
          <a:p>
            <a:pPr>
              <a:buFont typeface="Arial" panose="020B0604020202020204" pitchFamily="34" charset="0"/>
              <a:buChar char="•"/>
            </a:pPr>
            <a:r>
              <a:rPr lang="en-GB" b="1" dirty="0"/>
              <a:t>Process</a:t>
            </a:r>
            <a:r>
              <a:rPr lang="en-GB" dirty="0"/>
              <a:t>: When a subject requests to perform an operation on an object, the system checks the ACL for an approved entry.</a:t>
            </a:r>
          </a:p>
          <a:p>
            <a:pPr>
              <a:buFont typeface="Arial" panose="020B0604020202020204" pitchFamily="34" charset="0"/>
              <a:buChar char="•"/>
            </a:pPr>
            <a:r>
              <a:rPr lang="en-GB" b="1" dirty="0"/>
              <a:t>Usage</a:t>
            </a:r>
            <a:r>
              <a:rPr lang="en-GB" dirty="0"/>
              <a:t>:</a:t>
            </a:r>
          </a:p>
          <a:p>
            <a:pPr marL="742950" lvl="1" indent="-285750">
              <a:buFont typeface="Arial" panose="020B0604020202020204" pitchFamily="34" charset="0"/>
              <a:buChar char="•"/>
            </a:pPr>
            <a:r>
              <a:rPr lang="en-GB" b="1" dirty="0"/>
              <a:t>Operating Systems</a:t>
            </a:r>
            <a:r>
              <a:rPr lang="en-GB" dirty="0"/>
              <a:t>: ACLs are widely used in operating systems to provide file system security.</a:t>
            </a:r>
          </a:p>
          <a:p>
            <a:pPr marL="742950" lvl="1" indent="-285750">
              <a:buFont typeface="Arial" panose="020B0604020202020204" pitchFamily="34" charset="0"/>
              <a:buChar char="•"/>
            </a:pPr>
            <a:r>
              <a:rPr lang="en-GB" b="1" dirty="0"/>
              <a:t>SQL/Database Systems</a:t>
            </a:r>
            <a:r>
              <a:rPr lang="en-GB" dirty="0"/>
              <a:t>: ACLs have been adapted for relational database systems to ensure database security.</a:t>
            </a:r>
          </a:p>
          <a:p>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7840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56851" y="637762"/>
            <a:ext cx="9888496" cy="900131"/>
          </a:xfrm>
        </p:spPr>
        <p:txBody>
          <a:bodyPr anchor="t">
            <a:normAutofit/>
          </a:bodyPr>
          <a:lstStyle/>
          <a:p>
            <a:pPr>
              <a:spcBef>
                <a:spcPts val="1200"/>
              </a:spcBef>
              <a:buClr>
                <a:schemeClr val="accent2"/>
              </a:buClr>
            </a:pPr>
            <a:r>
              <a:rPr lang="en-US" sz="4000" b="1">
                <a:solidFill>
                  <a:schemeClr val="bg1"/>
                </a:solidFill>
                <a:latin typeface="Arial" panose="020B0604020202020204" pitchFamily="34" charset="0"/>
                <a:ea typeface="+mn-ea"/>
                <a:cs typeface="Arial" panose="020B0604020202020204" pitchFamily="34" charset="0"/>
              </a:rPr>
              <a:t>Access Control Lists (A C L s) (2 of 2)</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55548" y="2217343"/>
            <a:ext cx="9880893" cy="3959619"/>
          </a:xfrm>
        </p:spPr>
        <p:txBody>
          <a:bodyPr>
            <a:normAutofit/>
          </a:bodyPr>
          <a:lstStyle/>
          <a:p>
            <a:pPr marL="0" indent="0">
              <a:buNone/>
            </a:pPr>
            <a:r>
              <a:rPr lang="en-GB" sz="2000" dirty="0"/>
              <a:t>Each entry in an Access Control List (ACL) is referred to as an </a:t>
            </a:r>
            <a:r>
              <a:rPr lang="en-GB" sz="2000" b="1" dirty="0"/>
              <a:t>Access Control Entry (ACE)</a:t>
            </a:r>
            <a:r>
              <a:rPr lang="en-GB" sz="2000" dirty="0"/>
              <a:t>.</a:t>
            </a:r>
          </a:p>
          <a:p>
            <a:pPr marL="0" indent="0">
              <a:buNone/>
            </a:pPr>
            <a:r>
              <a:rPr lang="en-GB" sz="2000" b="1" dirty="0"/>
              <a:t>Structure of an ACE in Windows:</a:t>
            </a:r>
          </a:p>
          <a:p>
            <a:pPr>
              <a:buFont typeface="+mj-lt"/>
              <a:buAutoNum type="arabicPeriod"/>
            </a:pPr>
            <a:r>
              <a:rPr lang="en-GB" sz="2000" b="1" dirty="0"/>
              <a:t>Security Identifier (SID)</a:t>
            </a:r>
            <a:r>
              <a:rPr lang="en-GB" sz="2000" dirty="0"/>
              <a:t>: A unique value that represents a user, group, or logon session.</a:t>
            </a:r>
          </a:p>
          <a:p>
            <a:pPr>
              <a:buFont typeface="+mj-lt"/>
              <a:buAutoNum type="arabicPeriod"/>
            </a:pPr>
            <a:r>
              <a:rPr lang="en-GB" sz="2000" b="1" dirty="0"/>
              <a:t>Access Mask</a:t>
            </a:r>
            <a:r>
              <a:rPr lang="en-GB" sz="2000" dirty="0"/>
              <a:t>: Specifies which access rights the ACE controls.</a:t>
            </a:r>
          </a:p>
          <a:p>
            <a:pPr>
              <a:buFont typeface="+mj-lt"/>
              <a:buAutoNum type="arabicPeriod"/>
            </a:pPr>
            <a:r>
              <a:rPr lang="en-GB" sz="2000" b="1" dirty="0"/>
              <a:t>Flag</a:t>
            </a:r>
            <a:r>
              <a:rPr lang="en-GB" sz="2000" dirty="0"/>
              <a:t>: Indicates the type of ACE (such as allowing or denying access).</a:t>
            </a:r>
          </a:p>
          <a:p>
            <a:pPr>
              <a:buFont typeface="+mj-lt"/>
              <a:buAutoNum type="arabicPeriod"/>
            </a:pPr>
            <a:r>
              <a:rPr lang="en-GB" sz="2000" b="1" dirty="0"/>
              <a:t>Inheritance Flags</a:t>
            </a:r>
            <a:r>
              <a:rPr lang="en-GB" sz="2000" dirty="0"/>
              <a:t>: Determine if and how permissions are inherited by child objects.</a:t>
            </a:r>
          </a:p>
          <a:p>
            <a:r>
              <a:rPr lang="en-GB" sz="2000" dirty="0"/>
              <a:t>This structure allows fine-grained control over how different users or processes can interact with system resources.</a:t>
            </a:r>
          </a:p>
          <a:p>
            <a:pPr marL="0" indent="0">
              <a:buNone/>
            </a:pP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5651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pPr>
              <a:spcBef>
                <a:spcPts val="1200"/>
              </a:spcBef>
              <a:buClr>
                <a:schemeClr val="accent2"/>
              </a:buClr>
            </a:pPr>
            <a:r>
              <a:rPr lang="en-US" sz="5400" b="1">
                <a:latin typeface="Arial" panose="020B0604020202020204" pitchFamily="34" charset="0"/>
                <a:ea typeface="+mn-ea"/>
                <a:cs typeface="Arial" panose="020B0604020202020204" pitchFamily="34" charset="0"/>
              </a:rPr>
              <a:t>Group-Based Access Control</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lnSpcReduction="10000"/>
          </a:bodyPr>
          <a:lstStyle/>
          <a:p>
            <a:pPr marL="0" indent="0">
              <a:buNone/>
            </a:pPr>
            <a:r>
              <a:rPr lang="en-GB" sz="2200" b="1" dirty="0"/>
              <a:t>Group-Based Access Control</a:t>
            </a:r>
            <a:r>
              <a:rPr lang="en-GB" sz="2200" dirty="0"/>
              <a:t> enables the management of access control policies for multiple computers by setting a single unified policy.</a:t>
            </a:r>
          </a:p>
          <a:p>
            <a:pPr marL="0" indent="0">
              <a:buNone/>
            </a:pPr>
            <a:r>
              <a:rPr lang="en-GB" sz="2200" b="1" dirty="0"/>
              <a:t>Key Points:</a:t>
            </a:r>
          </a:p>
          <a:p>
            <a:pPr marL="0" indent="0">
              <a:buNone/>
            </a:pPr>
            <a:endParaRPr lang="en-GB" sz="2200" b="1" dirty="0"/>
          </a:p>
          <a:p>
            <a:pPr>
              <a:buFont typeface="Arial" panose="020B0604020202020204" pitchFamily="34" charset="0"/>
              <a:buChar char="•"/>
            </a:pPr>
            <a:r>
              <a:rPr lang="en-GB" sz="2200" b="1" dirty="0"/>
              <a:t>Group Policy</a:t>
            </a:r>
            <a:r>
              <a:rPr lang="en-GB" sz="2200" dirty="0"/>
              <a:t> is a feature in Microsoft Windows that provides centralized management and configuration of systems, especially in </a:t>
            </a:r>
            <a:r>
              <a:rPr lang="en-GB" sz="2200" b="1" dirty="0"/>
              <a:t>enterprise environments</a:t>
            </a:r>
            <a:r>
              <a:rPr lang="en-GB" sz="2200" dirty="0"/>
              <a:t>.</a:t>
            </a:r>
          </a:p>
          <a:p>
            <a:pPr>
              <a:buFont typeface="Arial" panose="020B0604020202020204" pitchFamily="34" charset="0"/>
              <a:buChar char="•"/>
            </a:pPr>
            <a:r>
              <a:rPr lang="en-GB" sz="2200" dirty="0"/>
              <a:t>It allows for managing </a:t>
            </a:r>
            <a:r>
              <a:rPr lang="en-GB" sz="2200" b="1" dirty="0"/>
              <a:t>computers and remote users</a:t>
            </a:r>
            <a:r>
              <a:rPr lang="en-GB" sz="2200" dirty="0"/>
              <a:t> using </a:t>
            </a:r>
            <a:r>
              <a:rPr lang="en-GB" sz="2200" b="1" dirty="0"/>
              <a:t>Active Directory (AD)</a:t>
            </a:r>
            <a:r>
              <a:rPr lang="en-GB" sz="2200" dirty="0"/>
              <a:t>.</a:t>
            </a:r>
          </a:p>
          <a:p>
            <a:pPr>
              <a:buFont typeface="Arial" panose="020B0604020202020204" pitchFamily="34" charset="0"/>
              <a:buChar char="•"/>
            </a:pPr>
            <a:endParaRPr lang="en-GB" sz="2200" dirty="0"/>
          </a:p>
          <a:p>
            <a:pPr>
              <a:buFont typeface="Arial" panose="020B0604020202020204" pitchFamily="34" charset="0"/>
              <a:buChar char="•"/>
            </a:pPr>
            <a:r>
              <a:rPr lang="en-GB" sz="2200" b="1" dirty="0"/>
              <a:t>Settings</a:t>
            </a:r>
            <a:r>
              <a:rPr lang="en-GB" sz="2200" dirty="0"/>
              <a:t> are stored in </a:t>
            </a:r>
            <a:r>
              <a:rPr lang="en-GB" sz="2200" b="1" dirty="0"/>
              <a:t>Group Policy Objects (GPOs)</a:t>
            </a:r>
            <a:r>
              <a:rPr lang="en-GB" sz="2200" dirty="0"/>
              <a:t>.</a:t>
            </a:r>
          </a:p>
          <a:p>
            <a:pPr>
              <a:buFont typeface="Arial" panose="020B0604020202020204" pitchFamily="34" charset="0"/>
              <a:buChar char="•"/>
            </a:pPr>
            <a:endParaRPr lang="en-GB" sz="2200" dirty="0"/>
          </a:p>
          <a:p>
            <a:pPr>
              <a:buFont typeface="Arial" panose="020B0604020202020204" pitchFamily="34" charset="0"/>
              <a:buChar char="•"/>
            </a:pPr>
            <a:r>
              <a:rPr lang="en-GB" sz="2200" b="1" dirty="0"/>
              <a:t>Local Group Policy (LGP)</a:t>
            </a:r>
            <a:r>
              <a:rPr lang="en-GB" sz="2200" dirty="0"/>
              <a:t>: Used for systems not part of AD and offers fewer options than the</a:t>
            </a:r>
          </a:p>
          <a:p>
            <a:pPr marL="0" indent="0">
              <a:buNone/>
            </a:pP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43284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838200" y="401221"/>
            <a:ext cx="10515600" cy="1348065"/>
          </a:xfrm>
        </p:spPr>
        <p:txBody>
          <a:bodyPr>
            <a:normAutofit/>
          </a:bodyPr>
          <a:lstStyle/>
          <a:p>
            <a:pPr>
              <a:spcBef>
                <a:spcPts val="1200"/>
              </a:spcBef>
              <a:buClr>
                <a:schemeClr val="accent2"/>
              </a:buClr>
            </a:pPr>
            <a:r>
              <a:rPr lang="en-US" sz="5400" b="1">
                <a:solidFill>
                  <a:srgbClr val="FFFFFF"/>
                </a:solidFill>
                <a:latin typeface="Arial" panose="020B0604020202020204" pitchFamily="34" charset="0"/>
                <a:ea typeface="+mn-ea"/>
                <a:cs typeface="Arial" panose="020B0604020202020204" pitchFamily="34" charset="0"/>
              </a:rPr>
              <a:t>Identity and Access Services</a:t>
            </a:r>
          </a:p>
        </p:txBody>
      </p:sp>
      <p:sp>
        <p:nvSpPr>
          <p:cNvPr id="3" name="Content Placeholder 2"/>
          <p:cNvSpPr>
            <a:spLocks noGrp="1"/>
          </p:cNvSpPr>
          <p:nvPr>
            <p:ph idx="1"/>
          </p:nvPr>
        </p:nvSpPr>
        <p:spPr>
          <a:xfrm>
            <a:off x="685800" y="2209800"/>
            <a:ext cx="11201400" cy="3590174"/>
          </a:xfrm>
        </p:spPr>
        <p:txBody>
          <a:bodyPr>
            <a:noAutofit/>
          </a:bodyPr>
          <a:lstStyle/>
          <a:p>
            <a:pPr marL="0" indent="0">
              <a:buNone/>
            </a:pPr>
            <a:r>
              <a:rPr lang="en-GB" sz="1500" b="1" dirty="0"/>
              <a:t>Identity and Access Services:</a:t>
            </a:r>
            <a:endParaRPr lang="en-GB" sz="1500" dirty="0"/>
          </a:p>
          <a:p>
            <a:pPr marL="0" indent="0">
              <a:buNone/>
            </a:pPr>
            <a:r>
              <a:rPr lang="en-GB" sz="1500" dirty="0"/>
              <a:t>There are various services and protocols that can be used to manage identity and access control effectively, including:</a:t>
            </a:r>
          </a:p>
          <a:p>
            <a:pPr marL="0" indent="0">
              <a:buNone/>
            </a:pPr>
            <a:endParaRPr lang="en-GB" sz="1500" dirty="0"/>
          </a:p>
          <a:p>
            <a:pPr>
              <a:buFont typeface="+mj-lt"/>
              <a:buAutoNum type="arabicPeriod"/>
            </a:pPr>
            <a:r>
              <a:rPr lang="en-GB" sz="1500" b="1" dirty="0"/>
              <a:t>RADIUS (Remote Authentication Dial-In User Service):</a:t>
            </a:r>
            <a:endParaRPr lang="en-GB" sz="1500" dirty="0"/>
          </a:p>
          <a:p>
            <a:pPr marL="742950" lvl="1" indent="-285750"/>
            <a:r>
              <a:rPr lang="en-GB" sz="1500" dirty="0"/>
              <a:t>Provides centralized Authentication, Authorization, and Accounting (AAA) for users who connect and use a network service.</a:t>
            </a:r>
          </a:p>
          <a:p>
            <a:pPr>
              <a:buFont typeface="+mj-lt"/>
              <a:buAutoNum type="arabicPeriod"/>
            </a:pPr>
            <a:r>
              <a:rPr lang="en-GB" sz="1500" b="1" dirty="0"/>
              <a:t>Kerberos:</a:t>
            </a:r>
            <a:endParaRPr lang="en-GB" sz="1500" dirty="0"/>
          </a:p>
          <a:p>
            <a:pPr marL="742950" lvl="1" indent="-285750"/>
            <a:r>
              <a:rPr lang="en-GB" sz="1500" dirty="0"/>
              <a:t>A secure method for authenticating a request for a service in a computer network using secret-key cryptography.</a:t>
            </a:r>
          </a:p>
          <a:p>
            <a:pPr>
              <a:buFont typeface="+mj-lt"/>
              <a:buAutoNum type="arabicPeriod"/>
            </a:pPr>
            <a:r>
              <a:rPr lang="en-GB" sz="1500" b="1" dirty="0"/>
              <a:t>TACACS (Terminal Access Controller Access-Control System):</a:t>
            </a:r>
            <a:endParaRPr lang="en-GB" sz="1500" dirty="0"/>
          </a:p>
          <a:p>
            <a:pPr marL="742950" lvl="1" indent="-285750"/>
            <a:r>
              <a:rPr lang="en-GB" sz="1500" dirty="0"/>
              <a:t>Handles remote authentication for network access, providing centralized control and ensuring security.</a:t>
            </a:r>
          </a:p>
          <a:p>
            <a:pPr>
              <a:buFont typeface="+mj-lt"/>
              <a:buAutoNum type="arabicPeriod"/>
            </a:pPr>
            <a:r>
              <a:rPr lang="en-GB" sz="1500" b="1" dirty="0"/>
              <a:t>LDAP (Lightweight Directory Access Protocol):</a:t>
            </a:r>
            <a:endParaRPr lang="en-GB" sz="1500" dirty="0"/>
          </a:p>
          <a:p>
            <a:pPr marL="742950" lvl="1" indent="-285750"/>
            <a:r>
              <a:rPr lang="en-GB" sz="1500" dirty="0"/>
              <a:t>A protocol for accessing and maintaining distributed directory information services over an Internet Protocol (IP) network.</a:t>
            </a:r>
          </a:p>
          <a:p>
            <a:pPr>
              <a:buFont typeface="+mj-lt"/>
              <a:buAutoNum type="arabicPeriod"/>
            </a:pPr>
            <a:r>
              <a:rPr lang="en-GB" sz="1500" b="1" dirty="0"/>
              <a:t>SAML (Security Assertion Markup Language):</a:t>
            </a:r>
            <a:endParaRPr lang="en-GB" sz="1500" dirty="0"/>
          </a:p>
          <a:p>
            <a:pPr marL="742950" lvl="1" indent="-285750"/>
            <a:r>
              <a:rPr lang="en-GB" sz="1500" dirty="0"/>
              <a:t>An XML-based framework for authentication and authorization between an identity provider and a service provider.</a:t>
            </a:r>
          </a:p>
          <a:p>
            <a:pPr>
              <a:buFont typeface="+mj-lt"/>
              <a:buAutoNum type="arabicPeriod"/>
            </a:pPr>
            <a:r>
              <a:rPr lang="en-GB" sz="1500" b="1" dirty="0"/>
              <a:t>Authentication Framework Protocols:</a:t>
            </a:r>
            <a:endParaRPr lang="en-GB" sz="1500" dirty="0"/>
          </a:p>
          <a:p>
            <a:pPr marL="742950" lvl="1" indent="-285750"/>
            <a:r>
              <a:rPr lang="en-GB" sz="1500" dirty="0"/>
              <a:t>Various protocols that support and standardize the process of authentication in different environments and applications.</a:t>
            </a:r>
          </a:p>
          <a:p>
            <a:pPr marL="0" indent="0">
              <a:buNone/>
            </a:pPr>
            <a:endParaRPr lang="en-US"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89464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pPr>
              <a:spcBef>
                <a:spcPts val="1200"/>
              </a:spcBef>
              <a:buClr>
                <a:schemeClr val="accent2"/>
              </a:buClr>
            </a:pPr>
            <a:r>
              <a:rPr lang="en-US" sz="5400" b="1">
                <a:latin typeface="Arial" panose="020B0604020202020204" pitchFamily="34" charset="0"/>
                <a:ea typeface="+mn-ea"/>
                <a:cs typeface="Arial" panose="020B0604020202020204" pitchFamily="34" charset="0"/>
              </a:rPr>
              <a:t>R</a:t>
            </a:r>
            <a:r>
              <a:rPr lang="en-US" sz="5400">
                <a:latin typeface="Arial" panose="020B0604020202020204" pitchFamily="34" charset="0"/>
                <a:ea typeface="+mn-ea"/>
                <a:cs typeface="Arial" panose="020B0604020202020204" pitchFamily="34" charset="0"/>
              </a:rPr>
              <a:t> </a:t>
            </a:r>
            <a:r>
              <a:rPr lang="en-US" sz="5400" b="1">
                <a:latin typeface="Arial" panose="020B0604020202020204" pitchFamily="34" charset="0"/>
                <a:ea typeface="+mn-ea"/>
                <a:cs typeface="Arial" panose="020B0604020202020204" pitchFamily="34" charset="0"/>
              </a:rPr>
              <a:t>A</a:t>
            </a:r>
            <a:r>
              <a:rPr lang="en-US" sz="5400">
                <a:latin typeface="Arial" panose="020B0604020202020204" pitchFamily="34" charset="0"/>
                <a:ea typeface="+mn-ea"/>
                <a:cs typeface="Arial" panose="020B0604020202020204" pitchFamily="34" charset="0"/>
              </a:rPr>
              <a:t> </a:t>
            </a:r>
            <a:r>
              <a:rPr lang="en-US" sz="5400" b="1">
                <a:latin typeface="Arial" panose="020B0604020202020204" pitchFamily="34" charset="0"/>
                <a:ea typeface="+mn-ea"/>
                <a:cs typeface="Arial" panose="020B0604020202020204" pitchFamily="34" charset="0"/>
              </a:rPr>
              <a:t>D</a:t>
            </a:r>
            <a:r>
              <a:rPr lang="en-US" sz="5400">
                <a:latin typeface="Arial" panose="020B0604020202020204" pitchFamily="34" charset="0"/>
                <a:ea typeface="+mn-ea"/>
                <a:cs typeface="Arial" panose="020B0604020202020204" pitchFamily="34" charset="0"/>
              </a:rPr>
              <a:t> </a:t>
            </a:r>
            <a:r>
              <a:rPr lang="en-US" sz="5400" b="1">
                <a:latin typeface="Arial" panose="020B0604020202020204" pitchFamily="34" charset="0"/>
                <a:ea typeface="+mn-ea"/>
                <a:cs typeface="Arial" panose="020B0604020202020204" pitchFamily="34" charset="0"/>
              </a:rPr>
              <a:t>I</a:t>
            </a:r>
            <a:r>
              <a:rPr lang="en-US" sz="5400">
                <a:latin typeface="Arial" panose="020B0604020202020204" pitchFamily="34" charset="0"/>
                <a:ea typeface="+mn-ea"/>
                <a:cs typeface="Arial" panose="020B0604020202020204" pitchFamily="34" charset="0"/>
              </a:rPr>
              <a:t> </a:t>
            </a:r>
            <a:r>
              <a:rPr lang="en-US" sz="5400" b="1">
                <a:latin typeface="Arial" panose="020B0604020202020204" pitchFamily="34" charset="0"/>
                <a:ea typeface="+mn-ea"/>
                <a:cs typeface="Arial" panose="020B0604020202020204" pitchFamily="34" charset="0"/>
              </a:rPr>
              <a:t>U</a:t>
            </a:r>
            <a:r>
              <a:rPr lang="en-US" sz="5400">
                <a:latin typeface="Arial" panose="020B0604020202020204" pitchFamily="34" charset="0"/>
                <a:ea typeface="+mn-ea"/>
                <a:cs typeface="Arial" panose="020B0604020202020204" pitchFamily="34" charset="0"/>
              </a:rPr>
              <a:t> </a:t>
            </a:r>
            <a:r>
              <a:rPr lang="en-US" sz="5400" b="1">
                <a:latin typeface="Arial" panose="020B0604020202020204" pitchFamily="34" charset="0"/>
                <a:ea typeface="+mn-ea"/>
                <a:cs typeface="Arial" panose="020B0604020202020204" pitchFamily="34" charset="0"/>
              </a:rPr>
              <a:t>S (1 of 2)</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pPr marL="0" indent="0">
              <a:buNone/>
            </a:pPr>
            <a:r>
              <a:rPr lang="en-GB" sz="1800" b="1" dirty="0"/>
              <a:t>Remote Authentication Dial-In User Service (RADIUS):</a:t>
            </a:r>
            <a:endParaRPr lang="en-GB" sz="1800" dirty="0"/>
          </a:p>
          <a:p>
            <a:pPr>
              <a:buFont typeface="Arial" panose="020B0604020202020204" pitchFamily="34" charset="0"/>
              <a:buChar char="•"/>
            </a:pPr>
            <a:r>
              <a:rPr lang="en-GB" sz="1800" dirty="0"/>
              <a:t>RADIUS has become an industry-standard for managing remote access.</a:t>
            </a:r>
          </a:p>
          <a:p>
            <a:pPr>
              <a:buFont typeface="Arial" panose="020B0604020202020204" pitchFamily="34" charset="0"/>
              <a:buChar char="•"/>
            </a:pPr>
            <a:r>
              <a:rPr lang="en-GB" sz="1800" b="1" dirty="0"/>
              <a:t>Original Purpose:</a:t>
            </a:r>
            <a:r>
              <a:rPr lang="en-GB" sz="1800" dirty="0"/>
              <a:t> Initially created to provide authentication, authorization, and accounting for users accessing a corporate network remotely via dial-in.</a:t>
            </a:r>
          </a:p>
          <a:p>
            <a:pPr>
              <a:buFont typeface="Arial" panose="020B0604020202020204" pitchFamily="34" charset="0"/>
              <a:buChar char="•"/>
            </a:pPr>
            <a:r>
              <a:rPr lang="en-GB" sz="1800" b="1" dirty="0"/>
              <a:t>RADIUS Client:</a:t>
            </a:r>
            <a:r>
              <a:rPr lang="en-GB" sz="1800" dirty="0"/>
              <a:t> Typically a network device (e.g., wireless access point) that communicates user credentials and connection information to the RADIUS server.</a:t>
            </a:r>
          </a:p>
          <a:p>
            <a:pPr>
              <a:buFont typeface="Arial" panose="020B0604020202020204" pitchFamily="34" charset="0"/>
              <a:buChar char="•"/>
            </a:pPr>
            <a:r>
              <a:rPr lang="en-GB" sz="1800" b="1" dirty="0"/>
              <a:t>Centralized User Profiles:</a:t>
            </a:r>
            <a:r>
              <a:rPr lang="en-GB" sz="1800" dirty="0"/>
              <a:t> User profiles are centrally stored in a database accessible by all remote servers, allowing for seamless access control and data sharing across the network.</a:t>
            </a:r>
          </a:p>
          <a:p>
            <a:r>
              <a:rPr lang="en-GB" sz="1800" b="1" dirty="0"/>
              <a:t>Advantages of Centralized Service:</a:t>
            </a:r>
            <a:endParaRPr lang="en-GB" sz="1800" dirty="0"/>
          </a:p>
          <a:p>
            <a:pPr>
              <a:buFont typeface="+mj-lt"/>
              <a:buAutoNum type="arabicPeriod"/>
            </a:pPr>
            <a:r>
              <a:rPr lang="en-GB" sz="1800" b="1" dirty="0"/>
              <a:t>Enhanced Security:</a:t>
            </a:r>
            <a:r>
              <a:rPr lang="en-GB" sz="1800" dirty="0"/>
              <a:t> Since RADIUS centralizes authentication at one controlled point, the security of the entire network can be effectively managed and monitored.</a:t>
            </a:r>
          </a:p>
          <a:p>
            <a:pPr>
              <a:buFont typeface="+mj-lt"/>
              <a:buAutoNum type="arabicPeriod"/>
            </a:pPr>
            <a:r>
              <a:rPr lang="en-GB" sz="1800" b="1" dirty="0"/>
              <a:t>Simplified Billing and Network Statistics:</a:t>
            </a:r>
            <a:r>
              <a:rPr lang="en-GB" sz="1800" dirty="0"/>
              <a:t> Centralizing user profiles and authentication makes it easier to track user activity, improving accuracy in usage monitoring for billing and statistical analysis.</a:t>
            </a:r>
          </a:p>
          <a:p>
            <a:pPr marL="0" indent="0">
              <a:buNone/>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37452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2" y="639193"/>
            <a:ext cx="3933118" cy="3573516"/>
          </a:xfrm>
        </p:spPr>
        <p:txBody>
          <a:bodyPr vert="horz" lIns="91440" tIns="45720" rIns="91440" bIns="45720" rtlCol="0" anchor="b">
            <a:normAutofit/>
          </a:bodyPr>
          <a:lstStyle/>
          <a:p>
            <a:pPr defTabSz="914400">
              <a:buClr>
                <a:schemeClr val="accent2"/>
              </a:buClr>
            </a:pPr>
            <a:r>
              <a:rPr lang="en-US" sz="6600" b="1" kern="1200" dirty="0">
                <a:solidFill>
                  <a:schemeClr val="tx1"/>
                </a:solidFill>
                <a:latin typeface="+mj-lt"/>
                <a:ea typeface="+mj-ea"/>
                <a:cs typeface="+mj-cs"/>
              </a:rPr>
              <a:t>R</a:t>
            </a:r>
            <a:r>
              <a:rPr lang="en-US" sz="6600" kern="1200" dirty="0">
                <a:solidFill>
                  <a:schemeClr val="tx1"/>
                </a:solidFill>
                <a:latin typeface="+mj-lt"/>
                <a:ea typeface="+mj-ea"/>
                <a:cs typeface="+mj-cs"/>
              </a:rPr>
              <a:t> </a:t>
            </a:r>
            <a:r>
              <a:rPr lang="en-US" sz="6600" b="1" kern="1200" dirty="0">
                <a:solidFill>
                  <a:schemeClr val="tx1"/>
                </a:solidFill>
                <a:latin typeface="+mj-lt"/>
                <a:ea typeface="+mj-ea"/>
                <a:cs typeface="+mj-cs"/>
              </a:rPr>
              <a:t>A</a:t>
            </a:r>
            <a:r>
              <a:rPr lang="en-US" sz="6600" kern="1200" dirty="0">
                <a:solidFill>
                  <a:schemeClr val="tx1"/>
                </a:solidFill>
                <a:latin typeface="+mj-lt"/>
                <a:ea typeface="+mj-ea"/>
                <a:cs typeface="+mj-cs"/>
              </a:rPr>
              <a:t> </a:t>
            </a:r>
            <a:r>
              <a:rPr lang="en-US" sz="6600" b="1" kern="1200" dirty="0">
                <a:solidFill>
                  <a:schemeClr val="tx1"/>
                </a:solidFill>
                <a:latin typeface="+mj-lt"/>
                <a:ea typeface="+mj-ea"/>
                <a:cs typeface="+mj-cs"/>
              </a:rPr>
              <a:t>D</a:t>
            </a:r>
            <a:r>
              <a:rPr lang="en-US" sz="6600" kern="1200" dirty="0">
                <a:solidFill>
                  <a:schemeClr val="tx1"/>
                </a:solidFill>
                <a:latin typeface="+mj-lt"/>
                <a:ea typeface="+mj-ea"/>
                <a:cs typeface="+mj-cs"/>
              </a:rPr>
              <a:t> </a:t>
            </a:r>
            <a:r>
              <a:rPr lang="en-US" sz="6600" b="1" kern="1200" dirty="0">
                <a:solidFill>
                  <a:schemeClr val="tx1"/>
                </a:solidFill>
                <a:latin typeface="+mj-lt"/>
                <a:ea typeface="+mj-ea"/>
                <a:cs typeface="+mj-cs"/>
              </a:rPr>
              <a:t>I</a:t>
            </a:r>
            <a:r>
              <a:rPr lang="en-US" sz="6600" kern="1200" dirty="0">
                <a:solidFill>
                  <a:schemeClr val="tx1"/>
                </a:solidFill>
                <a:latin typeface="+mj-lt"/>
                <a:ea typeface="+mj-ea"/>
                <a:cs typeface="+mj-cs"/>
              </a:rPr>
              <a:t> </a:t>
            </a:r>
            <a:r>
              <a:rPr lang="en-US" sz="6600" b="1" kern="1200" dirty="0">
                <a:solidFill>
                  <a:schemeClr val="tx1"/>
                </a:solidFill>
                <a:latin typeface="+mj-lt"/>
                <a:ea typeface="+mj-ea"/>
                <a:cs typeface="+mj-cs"/>
              </a:rPr>
              <a:t>U</a:t>
            </a:r>
            <a:r>
              <a:rPr lang="en-US" sz="6600" kern="1200" dirty="0">
                <a:solidFill>
                  <a:schemeClr val="tx1"/>
                </a:solidFill>
                <a:latin typeface="+mj-lt"/>
                <a:ea typeface="+mj-ea"/>
                <a:cs typeface="+mj-cs"/>
              </a:rPr>
              <a:t> </a:t>
            </a:r>
            <a:r>
              <a:rPr lang="en-US" sz="6600" b="1" kern="1200" dirty="0">
                <a:solidFill>
                  <a:schemeClr val="tx1"/>
                </a:solidFill>
                <a:latin typeface="+mj-lt"/>
                <a:ea typeface="+mj-ea"/>
                <a:cs typeface="+mj-cs"/>
              </a:rPr>
              <a:t>S (2 of 2)</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figure 12-6 RADIUS authentication. An illustration shows the process of radius authentication 1. A user enters his user I d:  b j underscore Deboer and password: e g u 7 4 g b d 6 3 from a laptop which connects to the ay p; 2. Ay p sends wireless authentication request to radius server which is connected to a wired network; 3. Radius server compares credentials with user database; 4. The radius server sends authentication acknowledgment to ay p; 5. Radius server stores the records in accounting database; 6. Ay p sends approval to laptop.&#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54296" y="989368"/>
            <a:ext cx="7214616" cy="4851831"/>
          </a:xfrm>
          <a:prstGeom prst="rect">
            <a:avLst/>
          </a:prstGeom>
        </p:spPr>
      </p:pic>
      <p:sp>
        <p:nvSpPr>
          <p:cNvPr id="7" name="Rectangle 6">
            <a:extLst>
              <a:ext uri="{FF2B5EF4-FFF2-40B4-BE49-F238E27FC236}">
                <a16:creationId xmlns:a16="http://schemas.microsoft.com/office/drawing/2014/main" id="{A53C07E6-ED1A-EE87-EAAB-F7D62744F64B}"/>
              </a:ext>
            </a:extLst>
          </p:cNvPr>
          <p:cNvSpPr/>
          <p:nvPr/>
        </p:nvSpPr>
        <p:spPr>
          <a:xfrm>
            <a:off x="1981200" y="5257800"/>
            <a:ext cx="762000" cy="5651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id="{2F0D4BCA-75E2-AD50-397E-33B7A22F34FA}"/>
              </a:ext>
            </a:extLst>
          </p:cNvPr>
          <p:cNvSpPr/>
          <p:nvPr/>
        </p:nvSpPr>
        <p:spPr>
          <a:xfrm>
            <a:off x="4648200" y="5558643"/>
            <a:ext cx="1143000" cy="5651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4646677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pPr>
              <a:spcBef>
                <a:spcPts val="1200"/>
              </a:spcBef>
              <a:buClr>
                <a:schemeClr val="accent2"/>
              </a:buClr>
            </a:pPr>
            <a:r>
              <a:rPr lang="en-US" b="1">
                <a:solidFill>
                  <a:srgbClr val="FFFFFF"/>
                </a:solidFill>
                <a:latin typeface="Arial" panose="020B0604020202020204" pitchFamily="34" charset="0"/>
                <a:ea typeface="+mn-ea"/>
                <a:cs typeface="Arial" panose="020B0604020202020204" pitchFamily="34" charset="0"/>
              </a:rPr>
              <a:t>Kerberos</a:t>
            </a: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rPr lang="en-GB" sz="1600" b="1"/>
              <a:t>Kerberos Authentication System:</a:t>
            </a:r>
            <a:endParaRPr lang="en-GB" sz="1600"/>
          </a:p>
          <a:p>
            <a:pPr>
              <a:buFont typeface="Arial" panose="020B0604020202020204" pitchFamily="34" charset="0"/>
              <a:buChar char="•"/>
            </a:pPr>
            <a:r>
              <a:rPr lang="en-GB" sz="1600" b="1"/>
              <a:t>Developed at MIT:</a:t>
            </a:r>
            <a:r>
              <a:rPr lang="en-GB" sz="1600"/>
              <a:t> Kerberos is an authentication protocol designed to provide secure communication by using encryption and ensuring that only authorized parties can access the system.</a:t>
            </a:r>
          </a:p>
          <a:p>
            <a:pPr>
              <a:buFont typeface="Arial" panose="020B0604020202020204" pitchFamily="34" charset="0"/>
              <a:buChar char="•"/>
            </a:pPr>
            <a:r>
              <a:rPr lang="en-GB" sz="1600" b="1"/>
              <a:t>Security via Encryption:</a:t>
            </a:r>
            <a:r>
              <a:rPr lang="en-GB" sz="1600"/>
              <a:t> It employs strong encryption methods to authenticate users, providing an extra layer of protection for sensitive data.</a:t>
            </a:r>
          </a:p>
          <a:p>
            <a:pPr>
              <a:buFont typeface="Arial" panose="020B0604020202020204" pitchFamily="34" charset="0"/>
              <a:buChar char="•"/>
            </a:pPr>
            <a:r>
              <a:rPr lang="en-GB" sz="1600" b="1"/>
              <a:t>Analogy:</a:t>
            </a:r>
            <a:r>
              <a:rPr lang="en-GB" sz="1600"/>
              <a:t> Think of Kerberos as working similarly to using a driver’s license to cash a check – it proves your identity before granting access to services.</a:t>
            </a:r>
          </a:p>
          <a:p>
            <a:r>
              <a:rPr lang="en-GB" sz="1600" b="1"/>
              <a:t>Kerberos Ticket Characteristics:</a:t>
            </a:r>
            <a:endParaRPr lang="en-GB" sz="1600"/>
          </a:p>
          <a:p>
            <a:pPr>
              <a:buFont typeface="+mj-lt"/>
              <a:buAutoNum type="arabicPeriod"/>
            </a:pPr>
            <a:r>
              <a:rPr lang="en-GB" sz="1600" b="1"/>
              <a:t>Difficult to Duplicate:</a:t>
            </a:r>
            <a:r>
              <a:rPr lang="en-GB" sz="1600"/>
              <a:t> Kerberos tickets are designed to be unique and challenging to copy, ensuring security and authenticity.</a:t>
            </a:r>
          </a:p>
          <a:p>
            <a:pPr>
              <a:buFont typeface="+mj-lt"/>
              <a:buAutoNum type="arabicPeriod"/>
            </a:pPr>
            <a:r>
              <a:rPr lang="en-GB" sz="1600" b="1"/>
              <a:t>User-Specific Information:</a:t>
            </a:r>
            <a:r>
              <a:rPr lang="en-GB" sz="1600"/>
              <a:t> Each ticket contains data that links it specifically to the authorized user, preventing unauthorized use.</a:t>
            </a:r>
          </a:p>
          <a:p>
            <a:pPr>
              <a:buFont typeface="+mj-lt"/>
              <a:buAutoNum type="arabicPeriod"/>
            </a:pPr>
            <a:r>
              <a:rPr lang="en-GB" sz="1600" b="1"/>
              <a:t>Defined Restrictions:</a:t>
            </a:r>
            <a:r>
              <a:rPr lang="en-GB" sz="1600"/>
              <a:t> The ticket lists permissions and access limitations associated with the user.</a:t>
            </a:r>
          </a:p>
          <a:p>
            <a:pPr>
              <a:buFont typeface="+mj-lt"/>
              <a:buAutoNum type="arabicPeriod"/>
            </a:pPr>
            <a:r>
              <a:rPr lang="en-GB" sz="1600" b="1"/>
              <a:t>Expiration:</a:t>
            </a:r>
            <a:r>
              <a:rPr lang="en-GB" sz="1600"/>
              <a:t> Kerberos tickets have an expiration date to limit their validity and reduce the risk of misuse over time.</a:t>
            </a:r>
          </a:p>
          <a:p>
            <a:endParaRPr lang="en-US" altLang="en-US" sz="1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91803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pPr>
              <a:spcBef>
                <a:spcPts val="1200"/>
              </a:spcBef>
              <a:buClr>
                <a:schemeClr val="accent2"/>
              </a:buClr>
            </a:pPr>
            <a:r>
              <a:rPr lang="en-US" sz="4200" b="1">
                <a:latin typeface="Arial" panose="020B0604020202020204" pitchFamily="34" charset="0"/>
                <a:ea typeface="+mn-ea"/>
                <a:cs typeface="Arial" panose="020B0604020202020204" pitchFamily="34" charset="0"/>
              </a:rPr>
              <a:t>Terminal Access Control Access Control System+ (T</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A</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C</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A</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C</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S</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 (1 of 2)</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B2FEEB82-D39A-B2DC-3FC5-4A8E9097A173}"/>
              </a:ext>
            </a:extLst>
          </p:cNvPr>
          <p:cNvSpPr>
            <a:spLocks noGrp="1" noChangeArrowheads="1"/>
          </p:cNvSpPr>
          <p:nvPr>
            <p:ph idx="1"/>
          </p:nvPr>
        </p:nvSpPr>
        <p:spPr bwMode="auto">
          <a:xfrm>
            <a:off x="703427" y="1685092"/>
            <a:ext cx="105918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TACACS+ (Terminal Access Controller Access-Control System Plus):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Authentication Service:</a:t>
            </a:r>
            <a:r>
              <a:rPr kumimoji="0" lang="en-US" altLang="en-US" sz="2200" b="0" i="0" u="none" strike="noStrike" cap="none" normalizeH="0" baseline="0" dirty="0">
                <a:ln>
                  <a:noFill/>
                </a:ln>
                <a:solidFill>
                  <a:schemeClr val="tx1"/>
                </a:solidFill>
                <a:effectLst/>
                <a:latin typeface="Arial" panose="020B0604020202020204" pitchFamily="34" charset="0"/>
              </a:rPr>
              <a:t> TACACS+ functions similarly to RADIUS but with more granular control over user authentication, authorization, and accounting (AAA).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Primarily for UNIX Systems:</a:t>
            </a:r>
            <a:r>
              <a:rPr kumimoji="0" lang="en-US" altLang="en-US" sz="2200" b="0" i="0" u="none" strike="noStrike" cap="none" normalizeH="0" baseline="0" dirty="0">
                <a:ln>
                  <a:noFill/>
                </a:ln>
                <a:solidFill>
                  <a:schemeClr val="tx1"/>
                </a:solidFill>
                <a:effectLst/>
                <a:latin typeface="Arial" panose="020B0604020202020204" pitchFamily="34" charset="0"/>
              </a:rPr>
              <a:t> It is frequently deployed on UNIX-based systems to facilitate centralized authentication management.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Communication:</a:t>
            </a:r>
            <a:r>
              <a:rPr kumimoji="0" lang="en-US" altLang="en-US" sz="2200" b="0" i="0" u="none" strike="noStrike" cap="none" normalizeH="0" baseline="0" dirty="0">
                <a:ln>
                  <a:noFill/>
                </a:ln>
                <a:solidFill>
                  <a:schemeClr val="tx1"/>
                </a:solidFill>
                <a:effectLst/>
                <a:latin typeface="Arial" panose="020B0604020202020204" pitchFamily="34" charset="0"/>
              </a:rPr>
              <a:t> The protocol forwards user authentication data to a centralized server, where the authentication decisions are made.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Current Version:</a:t>
            </a:r>
            <a:r>
              <a:rPr kumimoji="0" lang="en-US" altLang="en-US" sz="2200" b="0" i="0" u="none" strike="noStrike" cap="none" normalizeH="0" baseline="0" dirty="0">
                <a:ln>
                  <a:noFill/>
                </a:ln>
                <a:solidFill>
                  <a:schemeClr val="tx1"/>
                </a:solidFill>
                <a:effectLst/>
                <a:latin typeface="Arial" panose="020B0604020202020204" pitchFamily="34" charset="0"/>
              </a:rPr>
              <a:t> TACACS+ is the latest version, offering enhanced security features and extended support for multiple protocols compared to its predecessors.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7966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38881" y="457201"/>
            <a:ext cx="10909640" cy="1832654"/>
          </a:xfrm>
        </p:spPr>
        <p:txBody>
          <a:bodyPr vert="horz" lIns="91440" tIns="45720" rIns="91440" bIns="45720" rtlCol="0" anchor="b">
            <a:normAutofit/>
          </a:bodyPr>
          <a:lstStyle/>
          <a:p>
            <a:pPr algn="ctr" defTabSz="914400">
              <a:buClr>
                <a:schemeClr val="accent2"/>
              </a:buClr>
            </a:pPr>
            <a:r>
              <a:rPr lang="en-US" sz="5100" b="1" kern="1200">
                <a:solidFill>
                  <a:schemeClr val="tx1"/>
                </a:solidFill>
                <a:latin typeface="+mj-lt"/>
                <a:ea typeface="+mj-ea"/>
                <a:cs typeface="+mj-cs"/>
              </a:rPr>
              <a:t>Terminal Access Control Access Control System+ (T</a:t>
            </a:r>
            <a:r>
              <a:rPr lang="en-US" sz="5100" kern="1200">
                <a:solidFill>
                  <a:schemeClr val="tx1"/>
                </a:solidFill>
                <a:latin typeface="+mj-lt"/>
                <a:ea typeface="+mj-ea"/>
                <a:cs typeface="+mj-cs"/>
              </a:rPr>
              <a:t> </a:t>
            </a:r>
            <a:r>
              <a:rPr lang="en-US" sz="5100" b="1" kern="1200">
                <a:solidFill>
                  <a:schemeClr val="tx1"/>
                </a:solidFill>
                <a:latin typeface="+mj-lt"/>
                <a:ea typeface="+mj-ea"/>
                <a:cs typeface="+mj-cs"/>
              </a:rPr>
              <a:t>A</a:t>
            </a:r>
            <a:r>
              <a:rPr lang="en-US" sz="5100" kern="1200">
                <a:solidFill>
                  <a:schemeClr val="tx1"/>
                </a:solidFill>
                <a:latin typeface="+mj-lt"/>
                <a:ea typeface="+mj-ea"/>
                <a:cs typeface="+mj-cs"/>
              </a:rPr>
              <a:t> </a:t>
            </a:r>
            <a:r>
              <a:rPr lang="en-US" sz="5100" b="1" kern="1200">
                <a:solidFill>
                  <a:schemeClr val="tx1"/>
                </a:solidFill>
                <a:latin typeface="+mj-lt"/>
                <a:ea typeface="+mj-ea"/>
                <a:cs typeface="+mj-cs"/>
              </a:rPr>
              <a:t>C</a:t>
            </a:r>
            <a:r>
              <a:rPr lang="en-US" sz="5100" kern="1200">
                <a:solidFill>
                  <a:schemeClr val="tx1"/>
                </a:solidFill>
                <a:latin typeface="+mj-lt"/>
                <a:ea typeface="+mj-ea"/>
                <a:cs typeface="+mj-cs"/>
              </a:rPr>
              <a:t> </a:t>
            </a:r>
            <a:r>
              <a:rPr lang="en-US" sz="5100" b="1" kern="1200">
                <a:solidFill>
                  <a:schemeClr val="tx1"/>
                </a:solidFill>
                <a:latin typeface="+mj-lt"/>
                <a:ea typeface="+mj-ea"/>
                <a:cs typeface="+mj-cs"/>
              </a:rPr>
              <a:t>A</a:t>
            </a:r>
            <a:r>
              <a:rPr lang="en-US" sz="5100" kern="1200">
                <a:solidFill>
                  <a:schemeClr val="tx1"/>
                </a:solidFill>
                <a:latin typeface="+mj-lt"/>
                <a:ea typeface="+mj-ea"/>
                <a:cs typeface="+mj-cs"/>
              </a:rPr>
              <a:t> </a:t>
            </a:r>
            <a:r>
              <a:rPr lang="en-US" sz="5100" b="1" kern="1200">
                <a:solidFill>
                  <a:schemeClr val="tx1"/>
                </a:solidFill>
                <a:latin typeface="+mj-lt"/>
                <a:ea typeface="+mj-ea"/>
                <a:cs typeface="+mj-cs"/>
              </a:rPr>
              <a:t>C</a:t>
            </a:r>
            <a:r>
              <a:rPr lang="en-US" sz="5100" kern="1200">
                <a:solidFill>
                  <a:schemeClr val="tx1"/>
                </a:solidFill>
                <a:latin typeface="+mj-lt"/>
                <a:ea typeface="+mj-ea"/>
                <a:cs typeface="+mj-cs"/>
              </a:rPr>
              <a:t> </a:t>
            </a:r>
            <a:r>
              <a:rPr lang="en-US" sz="5100" b="1" kern="1200">
                <a:solidFill>
                  <a:schemeClr val="tx1"/>
                </a:solidFill>
                <a:latin typeface="+mj-lt"/>
                <a:ea typeface="+mj-ea"/>
                <a:cs typeface="+mj-cs"/>
              </a:rPr>
              <a:t>S</a:t>
            </a:r>
            <a:r>
              <a:rPr lang="en-US" sz="5100" kern="1200">
                <a:solidFill>
                  <a:schemeClr val="tx1"/>
                </a:solidFill>
                <a:latin typeface="+mj-lt"/>
                <a:ea typeface="+mj-ea"/>
                <a:cs typeface="+mj-cs"/>
              </a:rPr>
              <a:t> </a:t>
            </a:r>
            <a:r>
              <a:rPr lang="en-US" sz="5100" b="1" kern="1200">
                <a:solidFill>
                  <a:schemeClr val="tx1"/>
                </a:solidFill>
                <a:latin typeface="+mj-lt"/>
                <a:ea typeface="+mj-ea"/>
                <a:cs typeface="+mj-cs"/>
              </a:rPr>
              <a:t>+) (2 of 2)</a:t>
            </a:r>
          </a:p>
        </p:txBody>
      </p:sp>
      <p:sp>
        <p:nvSpPr>
          <p:cNvPr id="13"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descr="A table titled, comparison of r ay d I u s and t ay c ay c s plus. The table has 5 rows and 3 columns. The columns have the following headings from left to right. Feature, r ay d I u s, t ay c ay c s plus. The row entries are as follows. Row 1: feature, transport protocol; r ay d I u s, user datagram protocol, u d p; t ay c ay c s plus, transmission control protocol, t c p. Row 2: feature, authentication and authorization; r ay d I u s, combined; t ay c ay c s plus, separate. Row 3: feature, communication; r ay d I u s, unencrypted; t ay c ay c s plus, encrypted. Row 4: feature, interacts with k e r b e r o s; r ay d I u s, no; t ay c ay c s plus, yes. Row 5: feature, can authenticate network devices; r ay d I u s, no; t ay c ay c s plus, yes."/>
          <p:cNvGraphicFramePr>
            <a:graphicFrameLocks noGrp="1"/>
          </p:cNvGraphicFramePr>
          <p:nvPr>
            <p:extLst>
              <p:ext uri="{D42A27DB-BD31-4B8C-83A1-F6EECF244321}">
                <p14:modId xmlns:p14="http://schemas.microsoft.com/office/powerpoint/2010/main" val="381805478"/>
              </p:ext>
            </p:extLst>
          </p:nvPr>
        </p:nvGraphicFramePr>
        <p:xfrm>
          <a:off x="320040" y="3282486"/>
          <a:ext cx="11643360" cy="2786297"/>
        </p:xfrm>
        <a:graphic>
          <a:graphicData uri="http://schemas.openxmlformats.org/drawingml/2006/table">
            <a:tbl>
              <a:tblPr firstRow="1" bandRow="1">
                <a:tableStyleId>{5C22544A-7EE6-4342-B048-85BDC9FD1C3A}</a:tableStyleId>
              </a:tblPr>
              <a:tblGrid>
                <a:gridCol w="3881120">
                  <a:extLst>
                    <a:ext uri="{9D8B030D-6E8A-4147-A177-3AD203B41FA5}">
                      <a16:colId xmlns:a16="http://schemas.microsoft.com/office/drawing/2014/main" val="20000"/>
                    </a:ext>
                  </a:extLst>
                </a:gridCol>
                <a:gridCol w="3723640">
                  <a:extLst>
                    <a:ext uri="{9D8B030D-6E8A-4147-A177-3AD203B41FA5}">
                      <a16:colId xmlns:a16="http://schemas.microsoft.com/office/drawing/2014/main" val="20001"/>
                    </a:ext>
                  </a:extLst>
                </a:gridCol>
                <a:gridCol w="4038600">
                  <a:extLst>
                    <a:ext uri="{9D8B030D-6E8A-4147-A177-3AD203B41FA5}">
                      <a16:colId xmlns:a16="http://schemas.microsoft.com/office/drawing/2014/main" val="20002"/>
                    </a:ext>
                  </a:extLst>
                </a:gridCol>
              </a:tblGrid>
              <a:tr h="418631">
                <a:tc>
                  <a:txBody>
                    <a:bodyPr/>
                    <a:lstStyle/>
                    <a:p>
                      <a:r>
                        <a:rPr lang="en-US" sz="1800">
                          <a:solidFill>
                            <a:schemeClr val="tx1"/>
                          </a:solidFill>
                          <a:latin typeface="Arial" panose="020B0604020202020204" pitchFamily="34" charset="0"/>
                          <a:cs typeface="Arial" panose="020B0604020202020204" pitchFamily="34" charset="0"/>
                        </a:rPr>
                        <a:t>Feature</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Arial" panose="020B0604020202020204" pitchFamily="34" charset="0"/>
                          <a:cs typeface="Arial" panose="020B0604020202020204" pitchFamily="34" charset="0"/>
                        </a:rPr>
                        <a:t>RADIUS</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Arial" panose="020B0604020202020204" pitchFamily="34" charset="0"/>
                          <a:cs typeface="Arial" panose="020B0604020202020204" pitchFamily="34" charset="0"/>
                        </a:rPr>
                        <a:t>T</a:t>
                      </a:r>
                      <a:r>
                        <a:rPr lang="en-US" sz="100">
                          <a:solidFill>
                            <a:schemeClr val="tx1"/>
                          </a:solidFill>
                          <a:latin typeface="Arial" panose="020B0604020202020204" pitchFamily="34" charset="0"/>
                          <a:cs typeface="Arial" panose="020B0604020202020204" pitchFamily="34" charset="0"/>
                        </a:rPr>
                        <a:t> </a:t>
                      </a:r>
                      <a:r>
                        <a:rPr lang="en-US" sz="1800">
                          <a:solidFill>
                            <a:schemeClr val="tx1"/>
                          </a:solidFill>
                          <a:latin typeface="Arial" panose="020B0604020202020204" pitchFamily="34" charset="0"/>
                          <a:cs typeface="Arial" panose="020B0604020202020204" pitchFamily="34" charset="0"/>
                        </a:rPr>
                        <a:t>A</a:t>
                      </a:r>
                      <a:r>
                        <a:rPr lang="en-US" sz="100">
                          <a:solidFill>
                            <a:schemeClr val="tx1"/>
                          </a:solidFill>
                          <a:latin typeface="Arial" panose="020B0604020202020204" pitchFamily="34" charset="0"/>
                          <a:cs typeface="Arial" panose="020B0604020202020204" pitchFamily="34" charset="0"/>
                        </a:rPr>
                        <a:t> </a:t>
                      </a:r>
                      <a:r>
                        <a:rPr lang="en-US" sz="1800">
                          <a:solidFill>
                            <a:schemeClr val="tx1"/>
                          </a:solidFill>
                          <a:latin typeface="Arial" panose="020B0604020202020204" pitchFamily="34" charset="0"/>
                          <a:cs typeface="Arial" panose="020B0604020202020204" pitchFamily="34" charset="0"/>
                        </a:rPr>
                        <a:t>C</a:t>
                      </a:r>
                      <a:r>
                        <a:rPr lang="en-US" sz="100">
                          <a:solidFill>
                            <a:schemeClr val="tx1"/>
                          </a:solidFill>
                          <a:latin typeface="Arial" panose="020B0604020202020204" pitchFamily="34" charset="0"/>
                          <a:cs typeface="Arial" panose="020B0604020202020204" pitchFamily="34" charset="0"/>
                        </a:rPr>
                        <a:t> </a:t>
                      </a:r>
                      <a:r>
                        <a:rPr lang="en-US" sz="1800">
                          <a:solidFill>
                            <a:schemeClr val="tx1"/>
                          </a:solidFill>
                          <a:latin typeface="Arial" panose="020B0604020202020204" pitchFamily="34" charset="0"/>
                          <a:cs typeface="Arial" panose="020B0604020202020204" pitchFamily="34" charset="0"/>
                        </a:rPr>
                        <a:t>A</a:t>
                      </a:r>
                      <a:r>
                        <a:rPr lang="en-US" sz="100">
                          <a:solidFill>
                            <a:schemeClr val="tx1"/>
                          </a:solidFill>
                          <a:latin typeface="Arial" panose="020B0604020202020204" pitchFamily="34" charset="0"/>
                          <a:cs typeface="Arial" panose="020B0604020202020204" pitchFamily="34" charset="0"/>
                        </a:rPr>
                        <a:t> </a:t>
                      </a:r>
                      <a:r>
                        <a:rPr lang="en-US" sz="1800">
                          <a:solidFill>
                            <a:schemeClr val="tx1"/>
                          </a:solidFill>
                          <a:latin typeface="Arial" panose="020B0604020202020204" pitchFamily="34" charset="0"/>
                          <a:cs typeface="Arial" panose="020B0604020202020204" pitchFamily="34" charset="0"/>
                        </a:rPr>
                        <a:t>C</a:t>
                      </a:r>
                      <a:r>
                        <a:rPr lang="en-US" sz="100">
                          <a:solidFill>
                            <a:schemeClr val="tx1"/>
                          </a:solidFill>
                          <a:latin typeface="Arial" panose="020B0604020202020204" pitchFamily="34" charset="0"/>
                          <a:cs typeface="Arial" panose="020B0604020202020204" pitchFamily="34" charset="0"/>
                        </a:rPr>
                        <a:t> </a:t>
                      </a:r>
                      <a:r>
                        <a:rPr lang="en-US" sz="1800">
                          <a:solidFill>
                            <a:schemeClr val="tx1"/>
                          </a:solidFill>
                          <a:latin typeface="Arial" panose="020B0604020202020204" pitchFamily="34" charset="0"/>
                          <a:cs typeface="Arial" panose="020B0604020202020204" pitchFamily="34" charset="0"/>
                        </a:rPr>
                        <a:t>S+</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93142">
                <a:tc>
                  <a:txBody>
                    <a:bodyPr/>
                    <a:lstStyle/>
                    <a:p>
                      <a:r>
                        <a:rPr lang="en-US" sz="1800">
                          <a:solidFill>
                            <a:schemeClr val="tx1"/>
                          </a:solidFill>
                          <a:latin typeface="Arial" panose="020B0604020202020204" pitchFamily="34" charset="0"/>
                          <a:cs typeface="Arial" panose="020B0604020202020204" pitchFamily="34" charset="0"/>
                        </a:rPr>
                        <a:t>Transport</a:t>
                      </a:r>
                      <a:r>
                        <a:rPr lang="en-US" sz="1800" baseline="0">
                          <a:solidFill>
                            <a:schemeClr val="tx1"/>
                          </a:solidFill>
                          <a:latin typeface="Arial" panose="020B0604020202020204" pitchFamily="34" charset="0"/>
                          <a:cs typeface="Arial" panose="020B0604020202020204" pitchFamily="34" charset="0"/>
                        </a:rPr>
                        <a:t> Protocol</a:t>
                      </a:r>
                      <a:endParaRPr lang="en-US" sz="1800">
                        <a:solidFill>
                          <a:schemeClr val="tx1"/>
                        </a:solidFill>
                        <a:latin typeface="Arial" panose="020B0604020202020204" pitchFamily="34" charset="0"/>
                        <a:cs typeface="Arial" panose="020B0604020202020204" pitchFamily="34" charset="0"/>
                      </a:endParaRP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Arial" panose="020B0604020202020204" pitchFamily="34" charset="0"/>
                          <a:cs typeface="Arial" panose="020B0604020202020204" pitchFamily="34" charset="0"/>
                        </a:rPr>
                        <a:t>User Datagram Protocol (U</a:t>
                      </a:r>
                      <a:r>
                        <a:rPr lang="en-US" sz="100">
                          <a:solidFill>
                            <a:schemeClr val="tx1"/>
                          </a:solidFill>
                          <a:latin typeface="Arial" panose="020B0604020202020204" pitchFamily="34" charset="0"/>
                          <a:cs typeface="Arial" panose="020B0604020202020204" pitchFamily="34" charset="0"/>
                        </a:rPr>
                        <a:t> </a:t>
                      </a:r>
                      <a:r>
                        <a:rPr lang="en-US" sz="1800">
                          <a:solidFill>
                            <a:schemeClr val="tx1"/>
                          </a:solidFill>
                          <a:latin typeface="Arial" panose="020B0604020202020204" pitchFamily="34" charset="0"/>
                          <a:cs typeface="Arial" panose="020B0604020202020204" pitchFamily="34" charset="0"/>
                        </a:rPr>
                        <a:t>D</a:t>
                      </a:r>
                      <a:r>
                        <a:rPr lang="en-US" sz="100">
                          <a:solidFill>
                            <a:schemeClr val="tx1"/>
                          </a:solidFill>
                          <a:latin typeface="Arial" panose="020B0604020202020204" pitchFamily="34" charset="0"/>
                          <a:cs typeface="Arial" panose="020B0604020202020204" pitchFamily="34" charset="0"/>
                        </a:rPr>
                        <a:t> </a:t>
                      </a:r>
                      <a:r>
                        <a:rPr lang="en-US" sz="1800">
                          <a:solidFill>
                            <a:schemeClr val="tx1"/>
                          </a:solidFill>
                          <a:latin typeface="Arial" panose="020B0604020202020204" pitchFamily="34" charset="0"/>
                          <a:cs typeface="Arial" panose="020B0604020202020204" pitchFamily="34" charset="0"/>
                        </a:rPr>
                        <a:t>P)</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Arial" panose="020B0604020202020204" pitchFamily="34" charset="0"/>
                          <a:cs typeface="Arial" panose="020B0604020202020204" pitchFamily="34" charset="0"/>
                        </a:rPr>
                        <a:t>Transmission Control Protocol</a:t>
                      </a:r>
                      <a:r>
                        <a:rPr lang="en-US" sz="1800" baseline="0" dirty="0">
                          <a:solidFill>
                            <a:schemeClr val="tx1"/>
                          </a:solidFill>
                          <a:latin typeface="Arial" panose="020B0604020202020204" pitchFamily="34" charset="0"/>
                          <a:cs typeface="Arial" panose="020B0604020202020204" pitchFamily="34" charset="0"/>
                        </a:rPr>
                        <a:t> (T</a:t>
                      </a:r>
                      <a:r>
                        <a:rPr lang="en-US" sz="100" baseline="0" dirty="0">
                          <a:solidFill>
                            <a:schemeClr val="tx1"/>
                          </a:solidFill>
                          <a:latin typeface="Arial" panose="020B0604020202020204" pitchFamily="34" charset="0"/>
                          <a:cs typeface="Arial" panose="020B0604020202020204" pitchFamily="34" charset="0"/>
                        </a:rPr>
                        <a:t> </a:t>
                      </a:r>
                      <a:r>
                        <a:rPr lang="en-US" sz="1800" baseline="0" dirty="0">
                          <a:solidFill>
                            <a:schemeClr val="tx1"/>
                          </a:solidFill>
                          <a:latin typeface="Arial" panose="020B0604020202020204" pitchFamily="34" charset="0"/>
                          <a:cs typeface="Arial" panose="020B0604020202020204" pitchFamily="34" charset="0"/>
                        </a:rPr>
                        <a:t>CP)</a:t>
                      </a:r>
                      <a:endParaRPr lang="en-US" sz="1800" dirty="0">
                        <a:solidFill>
                          <a:schemeClr val="tx1"/>
                        </a:solidFill>
                        <a:latin typeface="Arial" panose="020B0604020202020204" pitchFamily="34" charset="0"/>
                        <a:cs typeface="Arial" panose="020B0604020202020204" pitchFamily="34" charset="0"/>
                      </a:endParaRP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8631">
                <a:tc>
                  <a:txBody>
                    <a:bodyPr/>
                    <a:lstStyle/>
                    <a:p>
                      <a:r>
                        <a:rPr lang="en-US" sz="1800">
                          <a:solidFill>
                            <a:schemeClr val="tx1"/>
                          </a:solidFill>
                          <a:latin typeface="Arial" panose="020B0604020202020204" pitchFamily="34" charset="0"/>
                          <a:cs typeface="Arial" panose="020B0604020202020204" pitchFamily="34" charset="0"/>
                        </a:rPr>
                        <a:t>Authentication and authorization</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Arial" panose="020B0604020202020204" pitchFamily="34" charset="0"/>
                          <a:cs typeface="Arial" panose="020B0604020202020204" pitchFamily="34" charset="0"/>
                        </a:rPr>
                        <a:t>Combined</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Arial" panose="020B0604020202020204" pitchFamily="34" charset="0"/>
                          <a:cs typeface="Arial" panose="020B0604020202020204" pitchFamily="34" charset="0"/>
                        </a:rPr>
                        <a:t>Separate</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8631">
                <a:tc>
                  <a:txBody>
                    <a:bodyPr/>
                    <a:lstStyle/>
                    <a:p>
                      <a:r>
                        <a:rPr lang="en-US" sz="1800">
                          <a:solidFill>
                            <a:schemeClr val="tx1"/>
                          </a:solidFill>
                          <a:latin typeface="Arial" panose="020B0604020202020204" pitchFamily="34" charset="0"/>
                          <a:cs typeface="Arial" panose="020B0604020202020204" pitchFamily="34" charset="0"/>
                        </a:rPr>
                        <a:t>Communication</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Arial" panose="020B0604020202020204" pitchFamily="34" charset="0"/>
                          <a:cs typeface="Arial" panose="020B0604020202020204" pitchFamily="34" charset="0"/>
                        </a:rPr>
                        <a:t>Unencrypted</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Arial" panose="020B0604020202020204" pitchFamily="34" charset="0"/>
                          <a:cs typeface="Arial" panose="020B0604020202020204" pitchFamily="34" charset="0"/>
                        </a:rPr>
                        <a:t>Encrypted</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8631">
                <a:tc>
                  <a:txBody>
                    <a:bodyPr/>
                    <a:lstStyle/>
                    <a:p>
                      <a:r>
                        <a:rPr lang="en-US" sz="1800">
                          <a:solidFill>
                            <a:schemeClr val="tx1"/>
                          </a:solidFill>
                          <a:latin typeface="Arial" panose="020B0604020202020204" pitchFamily="34" charset="0"/>
                          <a:cs typeface="Arial" panose="020B0604020202020204" pitchFamily="34" charset="0"/>
                        </a:rPr>
                        <a:t>Interacts with Kerberos</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Arial" panose="020B0604020202020204" pitchFamily="34" charset="0"/>
                          <a:cs typeface="Arial" panose="020B0604020202020204" pitchFamily="34" charset="0"/>
                        </a:rPr>
                        <a:t>No</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Arial" panose="020B0604020202020204" pitchFamily="34" charset="0"/>
                          <a:cs typeface="Arial" panose="020B0604020202020204" pitchFamily="34" charset="0"/>
                        </a:rPr>
                        <a:t>Yes</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8631">
                <a:tc>
                  <a:txBody>
                    <a:bodyPr/>
                    <a:lstStyle/>
                    <a:p>
                      <a:r>
                        <a:rPr lang="en-US" sz="1800">
                          <a:solidFill>
                            <a:schemeClr val="tx1"/>
                          </a:solidFill>
                          <a:latin typeface="Arial" panose="020B0604020202020204" pitchFamily="34" charset="0"/>
                          <a:cs typeface="Arial" panose="020B0604020202020204" pitchFamily="34" charset="0"/>
                        </a:rPr>
                        <a:t>Can authenticate network</a:t>
                      </a:r>
                      <a:r>
                        <a:rPr lang="en-US" sz="1800" baseline="0">
                          <a:solidFill>
                            <a:schemeClr val="tx1"/>
                          </a:solidFill>
                          <a:latin typeface="Arial" panose="020B0604020202020204" pitchFamily="34" charset="0"/>
                          <a:cs typeface="Arial" panose="020B0604020202020204" pitchFamily="34" charset="0"/>
                        </a:rPr>
                        <a:t> devices</a:t>
                      </a:r>
                      <a:endParaRPr lang="en-US" sz="1800">
                        <a:solidFill>
                          <a:schemeClr val="tx1"/>
                        </a:solidFill>
                        <a:latin typeface="Arial" panose="020B0604020202020204" pitchFamily="34" charset="0"/>
                        <a:cs typeface="Arial" panose="020B0604020202020204" pitchFamily="34" charset="0"/>
                      </a:endParaRP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Arial" panose="020B0604020202020204" pitchFamily="34" charset="0"/>
                          <a:cs typeface="Arial" panose="020B0604020202020204" pitchFamily="34" charset="0"/>
                        </a:rPr>
                        <a:t>No</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solidFill>
                            <a:schemeClr val="tx1"/>
                          </a:solidFill>
                          <a:latin typeface="Arial" panose="020B0604020202020204" pitchFamily="34" charset="0"/>
                          <a:cs typeface="Arial" panose="020B0604020202020204" pitchFamily="34" charset="0"/>
                        </a:rPr>
                        <a:t>Yes</a:t>
                      </a:r>
                    </a:p>
                  </a:txBody>
                  <a:tcPr marL="102942" marR="102942"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005659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pPr>
              <a:spcBef>
                <a:spcPts val="1200"/>
              </a:spcBef>
              <a:buClr>
                <a:schemeClr val="accent2"/>
              </a:buClr>
            </a:pPr>
            <a:r>
              <a:rPr lang="en-US" sz="4200" b="1">
                <a:latin typeface="Arial" panose="020B0604020202020204" pitchFamily="34" charset="0"/>
                <a:ea typeface="+mn-ea"/>
                <a:cs typeface="Arial" panose="020B0604020202020204" pitchFamily="34" charset="0"/>
              </a:rPr>
              <a:t>Lightweight Directory Access Protocol (L</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D</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A</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P) (1 of 2)</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pPr marL="0" indent="0">
              <a:buNone/>
            </a:pPr>
            <a:r>
              <a:rPr lang="en-GB" sz="2200" b="1" dirty="0"/>
              <a:t>Directory Services Overview:</a:t>
            </a:r>
            <a:endParaRPr lang="en-GB" sz="2200" dirty="0"/>
          </a:p>
          <a:p>
            <a:pPr>
              <a:buFont typeface="Arial" panose="020B0604020202020204" pitchFamily="34" charset="0"/>
              <a:buChar char="•"/>
            </a:pPr>
            <a:r>
              <a:rPr lang="en-GB" sz="2200" b="1" dirty="0"/>
              <a:t>Definition:</a:t>
            </a:r>
            <a:r>
              <a:rPr lang="en-GB" sz="2200" dirty="0"/>
              <a:t> A directory service is a centralized database on a network that stores crucial information about users, devices, and network resources.</a:t>
            </a:r>
          </a:p>
          <a:p>
            <a:pPr>
              <a:buFont typeface="Arial" panose="020B0604020202020204" pitchFamily="34" charset="0"/>
              <a:buChar char="•"/>
            </a:pPr>
            <a:r>
              <a:rPr lang="en-GB" sz="2200" b="1" dirty="0"/>
              <a:t>Functionality:</a:t>
            </a:r>
            <a:r>
              <a:rPr lang="en-GB" sz="2200" dirty="0"/>
              <a:t> It tracks and manages network resources, including users' access rights and privileges, allowing it to grant or deny access to resources based on stored information.</a:t>
            </a:r>
          </a:p>
          <a:p>
            <a:pPr>
              <a:buFont typeface="Arial" panose="020B0604020202020204" pitchFamily="34" charset="0"/>
              <a:buChar char="•"/>
            </a:pPr>
            <a:r>
              <a:rPr lang="en-GB" sz="2200" b="1" dirty="0"/>
              <a:t>X.500 Standard:</a:t>
            </a:r>
            <a:r>
              <a:rPr lang="en-GB" sz="2200" dirty="0"/>
              <a:t> A global standard designed to ensure uniformity in how directory data is stored and accessed across different systems, ensuring compatibility between various platforms.</a:t>
            </a:r>
          </a:p>
          <a:p>
            <a:pPr>
              <a:buFont typeface="Arial" panose="020B0604020202020204" pitchFamily="34" charset="0"/>
              <a:buChar char="•"/>
            </a:pPr>
            <a:r>
              <a:rPr lang="en-GB" sz="2200" b="1" dirty="0"/>
              <a:t>LDAP (Lightweight Directory Access Protocol):</a:t>
            </a:r>
            <a:r>
              <a:rPr lang="en-GB" sz="2200" dirty="0"/>
              <a:t> Based on the X.500 standard, LDAP provides a simplified protocol that allows client applications to interact with directory services for querying and managing data efficiently.</a:t>
            </a:r>
          </a:p>
        </p:txBody>
      </p:sp>
    </p:spTree>
    <p:extLst>
      <p:ext uri="{BB962C8B-B14F-4D97-AF65-F5344CB8AC3E}">
        <p14:creationId xmlns:p14="http://schemas.microsoft.com/office/powerpoint/2010/main" val="38291521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56851" y="637762"/>
            <a:ext cx="9888496" cy="900131"/>
          </a:xfrm>
        </p:spPr>
        <p:txBody>
          <a:bodyPr anchor="t">
            <a:normAutofit/>
          </a:bodyPr>
          <a:lstStyle/>
          <a:p>
            <a:pPr>
              <a:spcBef>
                <a:spcPts val="1200"/>
              </a:spcBef>
              <a:buClr>
                <a:schemeClr val="accent2"/>
              </a:buClr>
            </a:pPr>
            <a:r>
              <a:rPr lang="en-US" sz="2800" b="1">
                <a:solidFill>
                  <a:schemeClr val="bg1"/>
                </a:solidFill>
                <a:latin typeface="Arial" panose="020B0604020202020204" pitchFamily="34" charset="0"/>
                <a:ea typeface="+mn-ea"/>
                <a:cs typeface="Arial" panose="020B0604020202020204" pitchFamily="34" charset="0"/>
              </a:rPr>
              <a:t>Lightweight Directory Access Protocol (L</a:t>
            </a:r>
            <a:r>
              <a:rPr lang="en-US" sz="2800">
                <a:solidFill>
                  <a:schemeClr val="bg1"/>
                </a:solidFill>
                <a:latin typeface="Arial" panose="020B0604020202020204" pitchFamily="34" charset="0"/>
                <a:ea typeface="+mn-ea"/>
                <a:cs typeface="Arial" panose="020B0604020202020204" pitchFamily="34" charset="0"/>
              </a:rPr>
              <a:t> </a:t>
            </a:r>
            <a:r>
              <a:rPr lang="en-US" sz="2800" b="1">
                <a:solidFill>
                  <a:schemeClr val="bg1"/>
                </a:solidFill>
                <a:latin typeface="Arial" panose="020B0604020202020204" pitchFamily="34" charset="0"/>
                <a:ea typeface="+mn-ea"/>
                <a:cs typeface="Arial" panose="020B0604020202020204" pitchFamily="34" charset="0"/>
              </a:rPr>
              <a:t>D</a:t>
            </a:r>
            <a:r>
              <a:rPr lang="en-US" sz="2800">
                <a:solidFill>
                  <a:schemeClr val="bg1"/>
                </a:solidFill>
                <a:latin typeface="Arial" panose="020B0604020202020204" pitchFamily="34" charset="0"/>
                <a:ea typeface="+mn-ea"/>
                <a:cs typeface="Arial" panose="020B0604020202020204" pitchFamily="34" charset="0"/>
              </a:rPr>
              <a:t> </a:t>
            </a:r>
            <a:r>
              <a:rPr lang="en-US" sz="2800" b="1">
                <a:solidFill>
                  <a:schemeClr val="bg1"/>
                </a:solidFill>
                <a:latin typeface="Arial" panose="020B0604020202020204" pitchFamily="34" charset="0"/>
                <a:ea typeface="+mn-ea"/>
                <a:cs typeface="Arial" panose="020B0604020202020204" pitchFamily="34" charset="0"/>
              </a:rPr>
              <a:t>A</a:t>
            </a:r>
            <a:r>
              <a:rPr lang="en-US" sz="2800">
                <a:solidFill>
                  <a:schemeClr val="bg1"/>
                </a:solidFill>
                <a:latin typeface="Arial" panose="020B0604020202020204" pitchFamily="34" charset="0"/>
                <a:ea typeface="+mn-ea"/>
                <a:cs typeface="Arial" panose="020B0604020202020204" pitchFamily="34" charset="0"/>
              </a:rPr>
              <a:t> </a:t>
            </a:r>
            <a:r>
              <a:rPr lang="en-US" sz="2800" b="1">
                <a:solidFill>
                  <a:schemeClr val="bg1"/>
                </a:solidFill>
                <a:latin typeface="Arial" panose="020B0604020202020204" pitchFamily="34" charset="0"/>
                <a:ea typeface="+mn-ea"/>
                <a:cs typeface="Arial" panose="020B0604020202020204" pitchFamily="34" charset="0"/>
              </a:rPr>
              <a:t>P) (2 of 2)</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55548" y="2217343"/>
            <a:ext cx="9880893" cy="3959619"/>
          </a:xfrm>
        </p:spPr>
        <p:txBody>
          <a:bodyPr>
            <a:normAutofit/>
          </a:bodyPr>
          <a:lstStyle/>
          <a:p>
            <a:pPr>
              <a:buFont typeface="Arial" panose="020B0604020202020204" pitchFamily="34" charset="0"/>
              <a:buChar char="•"/>
            </a:pPr>
            <a:r>
              <a:rPr lang="en-GB" sz="2000" b="1" dirty="0"/>
              <a:t>Purpose &amp; Design:</a:t>
            </a:r>
            <a:r>
              <a:rPr lang="en-GB" sz="2000" dirty="0"/>
              <a:t> LDAP is built to run over TCP/IP, offering a simplified subset of the DAP (Directory Access Protocol). It uses a less complex encoding method than the full X.500 standard, making LDAP more lightweight and efficient for most directory service use cases.</a:t>
            </a:r>
          </a:p>
          <a:p>
            <a:pPr>
              <a:buFont typeface="Arial" panose="020B0604020202020204" pitchFamily="34" charset="0"/>
              <a:buChar char="•"/>
            </a:pPr>
            <a:r>
              <a:rPr lang="en-GB" sz="2000" b="1" dirty="0"/>
              <a:t>Security Considerations:</a:t>
            </a:r>
            <a:r>
              <a:rPr lang="en-GB" sz="2000" dirty="0"/>
              <a:t> By default, LDAP traffic is transmitted in plaintext, making it vulnerable to eavesdropping. However, LDAP can be secured by employing SSL (Secure Sockets Layer) or TLS (Transport Layer Security), resulting in Secure LDAP, also known as LDAP over SSL (LDAPS).</a:t>
            </a:r>
          </a:p>
          <a:p>
            <a:pPr>
              <a:buFont typeface="Arial" panose="020B0604020202020204" pitchFamily="34" charset="0"/>
              <a:buChar char="•"/>
            </a:pPr>
            <a:r>
              <a:rPr lang="en-GB" sz="2000" b="1" dirty="0"/>
              <a:t>LDAP Injection Attacks:</a:t>
            </a:r>
            <a:r>
              <a:rPr lang="en-GB" sz="2000" dirty="0"/>
              <a:t> Similar to SQL injection, LDAP can be vulnerable to injection attacks when user input is improperly filtered. This type of attack can exploit weaknesses in how input is handled, allowing attackers to manipulate directory queries for malicious purposes. Proper input validation is essential to prevent these vulnerabilities.</a:t>
            </a:r>
          </a:p>
          <a:p>
            <a:pPr marL="0" indent="0">
              <a:buNone/>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28813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pPr>
              <a:spcBef>
                <a:spcPts val="1200"/>
              </a:spcBef>
              <a:buClr>
                <a:schemeClr val="accent2"/>
              </a:buClr>
            </a:pPr>
            <a:r>
              <a:rPr lang="en-US" sz="4200" b="1">
                <a:latin typeface="Arial" panose="020B0604020202020204" pitchFamily="34" charset="0"/>
                <a:ea typeface="+mn-ea"/>
                <a:cs typeface="Arial" panose="020B0604020202020204" pitchFamily="34" charset="0"/>
              </a:rPr>
              <a:t>Security Assertion Markup Language (S</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A</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M</a:t>
            </a:r>
            <a:r>
              <a:rPr lang="en-US" sz="4200">
                <a:latin typeface="Arial" panose="020B0604020202020204" pitchFamily="34" charset="0"/>
                <a:ea typeface="+mn-ea"/>
                <a:cs typeface="Arial" panose="020B0604020202020204" pitchFamily="34" charset="0"/>
              </a:rPr>
              <a:t> </a:t>
            </a:r>
            <a:r>
              <a:rPr lang="en-US" sz="4200" b="1">
                <a:latin typeface="Arial" panose="020B0604020202020204" pitchFamily="34" charset="0"/>
                <a:ea typeface="+mn-ea"/>
                <a:cs typeface="Arial" panose="020B0604020202020204" pitchFamily="34" charset="0"/>
              </a:rPr>
              <a:t>L) (1 of 2)</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lnSpcReduction="10000"/>
          </a:bodyPr>
          <a:lstStyle/>
          <a:p>
            <a:pPr>
              <a:buFont typeface="Arial" panose="020B0604020202020204" pitchFamily="34" charset="0"/>
              <a:buChar char="•"/>
            </a:pPr>
            <a:r>
              <a:rPr lang="en-GB" sz="2200" dirty="0"/>
              <a:t>A protocol based on XML (Extensible Markup Language) that enables the secure exchange of authentication and authorization data between web domains.</a:t>
            </a:r>
          </a:p>
          <a:p>
            <a:pPr>
              <a:buFont typeface="Arial" panose="020B0604020202020204" pitchFamily="34" charset="0"/>
              <a:buChar char="•"/>
            </a:pPr>
            <a:endParaRPr lang="en-GB" sz="2200" dirty="0"/>
          </a:p>
          <a:p>
            <a:pPr>
              <a:buFont typeface="Arial" panose="020B0604020202020204" pitchFamily="34" charset="0"/>
              <a:buChar char="•"/>
            </a:pPr>
            <a:r>
              <a:rPr lang="en-GB" sz="2200" b="1" dirty="0"/>
              <a:t>Single Identity Provider</a:t>
            </a:r>
            <a:r>
              <a:rPr lang="en-GB" sz="2200" dirty="0"/>
              <a:t>: SAML allows login credentials to be stored with a central identity provider, eliminating the need for multiple service providers to store credentials, thus enhancing security and reducing redundancy.</a:t>
            </a:r>
          </a:p>
          <a:p>
            <a:pPr>
              <a:buFont typeface="Arial" panose="020B0604020202020204" pitchFamily="34" charset="0"/>
              <a:buChar char="•"/>
            </a:pPr>
            <a:endParaRPr lang="en-GB" sz="2200" dirty="0"/>
          </a:p>
          <a:p>
            <a:pPr>
              <a:buFont typeface="Arial" panose="020B0604020202020204" pitchFamily="34" charset="0"/>
              <a:buChar char="•"/>
            </a:pPr>
            <a:r>
              <a:rPr lang="en-GB" sz="2200" b="1" dirty="0"/>
              <a:t>Broad Usage</a:t>
            </a:r>
            <a:r>
              <a:rPr lang="en-GB" sz="2200" dirty="0"/>
              <a:t>: Extensively utilized in </a:t>
            </a:r>
            <a:r>
              <a:rPr lang="en-GB" sz="2200" b="1" dirty="0"/>
              <a:t>business-to-business (B2B)</a:t>
            </a:r>
            <a:r>
              <a:rPr lang="en-GB" sz="2200" dirty="0"/>
              <a:t> and </a:t>
            </a:r>
            <a:r>
              <a:rPr lang="en-GB" sz="2200" b="1" dirty="0"/>
              <a:t>business-to-consumer (B2C)</a:t>
            </a:r>
            <a:r>
              <a:rPr lang="en-GB" sz="2200" dirty="0"/>
              <a:t> online transactions.</a:t>
            </a:r>
          </a:p>
          <a:p>
            <a:pPr>
              <a:buFont typeface="Arial" panose="020B0604020202020204" pitchFamily="34" charset="0"/>
              <a:buChar char="•"/>
            </a:pPr>
            <a:endParaRPr lang="en-GB" sz="2200" dirty="0"/>
          </a:p>
          <a:p>
            <a:pPr>
              <a:buFont typeface="Arial" panose="020B0604020202020204" pitchFamily="34" charset="0"/>
              <a:buChar char="•"/>
            </a:pPr>
            <a:r>
              <a:rPr lang="en-GB" sz="2200" b="1" dirty="0"/>
              <a:t>Main Benefit</a:t>
            </a:r>
            <a:r>
              <a:rPr lang="en-GB" sz="2200" dirty="0"/>
              <a:t>: Facilitates seamless, federated identity management, enabling users to authenticate once and gain access to multiple applications or services across organizational boundaries.</a:t>
            </a:r>
          </a:p>
          <a:p>
            <a:pPr marL="0" indent="0">
              <a:buNone/>
            </a:pP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7539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pPr defTabSz="914400">
              <a:buClr>
                <a:schemeClr val="accent2"/>
              </a:buClr>
            </a:pPr>
            <a:r>
              <a:rPr lang="en-US" sz="3700" b="1" kern="1200">
                <a:solidFill>
                  <a:srgbClr val="FFFFFF"/>
                </a:solidFill>
                <a:latin typeface="+mj-lt"/>
                <a:ea typeface="+mj-ea"/>
                <a:cs typeface="+mj-cs"/>
              </a:rPr>
              <a:t>Security Assertion Markup Language (S</a:t>
            </a:r>
            <a:r>
              <a:rPr lang="en-US" sz="3700" kern="1200">
                <a:solidFill>
                  <a:srgbClr val="FFFFFF"/>
                </a:solidFill>
                <a:latin typeface="+mj-lt"/>
                <a:ea typeface="+mj-ea"/>
                <a:cs typeface="+mj-cs"/>
              </a:rPr>
              <a:t> </a:t>
            </a:r>
            <a:r>
              <a:rPr lang="en-US" sz="3700" b="1" kern="1200">
                <a:solidFill>
                  <a:srgbClr val="FFFFFF"/>
                </a:solidFill>
                <a:latin typeface="+mj-lt"/>
                <a:ea typeface="+mj-ea"/>
                <a:cs typeface="+mj-cs"/>
              </a:rPr>
              <a:t>A</a:t>
            </a:r>
            <a:r>
              <a:rPr lang="en-US" sz="3700" kern="1200">
                <a:solidFill>
                  <a:srgbClr val="FFFFFF"/>
                </a:solidFill>
                <a:latin typeface="+mj-lt"/>
                <a:ea typeface="+mj-ea"/>
                <a:cs typeface="+mj-cs"/>
              </a:rPr>
              <a:t> </a:t>
            </a:r>
            <a:r>
              <a:rPr lang="en-US" sz="3700" b="1" kern="1200">
                <a:solidFill>
                  <a:srgbClr val="FFFFFF"/>
                </a:solidFill>
                <a:latin typeface="+mj-lt"/>
                <a:ea typeface="+mj-ea"/>
                <a:cs typeface="+mj-cs"/>
              </a:rPr>
              <a:t>M</a:t>
            </a:r>
            <a:r>
              <a:rPr lang="en-US" sz="3700" kern="1200">
                <a:solidFill>
                  <a:srgbClr val="FFFFFF"/>
                </a:solidFill>
                <a:latin typeface="+mj-lt"/>
                <a:ea typeface="+mj-ea"/>
                <a:cs typeface="+mj-cs"/>
              </a:rPr>
              <a:t> </a:t>
            </a:r>
            <a:r>
              <a:rPr lang="en-US" sz="3700" b="1" kern="1200">
                <a:solidFill>
                  <a:srgbClr val="FFFFFF"/>
                </a:solidFill>
                <a:latin typeface="+mj-lt"/>
                <a:ea typeface="+mj-ea"/>
                <a:cs typeface="+mj-cs"/>
              </a:rPr>
              <a:t>L) (2 of 2)</a:t>
            </a:r>
          </a:p>
        </p:txBody>
      </p:sp>
      <p:pic>
        <p:nvPicPr>
          <p:cNvPr id="6" name="Picture 5" descr="The steps in s a m l transactions are as follows: Step 1: User attempts to reach the service provider. Step 2: Service provider generates s a m l request. Step 3: Redirect u r l sent. Step 4: Identity provider decodes s a m l request and authenticates user. Step 5: S a m l response created and signed. Step 6: S a m l response returned. Step 7: User’s browser forwards s a m l request. Step 8: S a m l request verified and user logged i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92628" y="1966293"/>
            <a:ext cx="8206743" cy="4452160"/>
          </a:xfrm>
          <a:prstGeom prst="rect">
            <a:avLst/>
          </a:prstGeom>
        </p:spPr>
      </p:pic>
      <p:sp>
        <p:nvSpPr>
          <p:cNvPr id="3" name="Rectangle 2">
            <a:extLst>
              <a:ext uri="{FF2B5EF4-FFF2-40B4-BE49-F238E27FC236}">
                <a16:creationId xmlns:a16="http://schemas.microsoft.com/office/drawing/2014/main" id="{42D4E69E-D85C-6B9C-ECD8-847EB751C6AA}"/>
              </a:ext>
            </a:extLst>
          </p:cNvPr>
          <p:cNvSpPr/>
          <p:nvPr/>
        </p:nvSpPr>
        <p:spPr>
          <a:xfrm>
            <a:off x="1828800" y="6093870"/>
            <a:ext cx="1371600" cy="5651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8309682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838200" y="401221"/>
            <a:ext cx="10515600" cy="1348065"/>
          </a:xfrm>
        </p:spPr>
        <p:txBody>
          <a:bodyPr>
            <a:normAutofit/>
          </a:bodyPr>
          <a:lstStyle/>
          <a:p>
            <a:pPr>
              <a:spcBef>
                <a:spcPts val="1200"/>
              </a:spcBef>
              <a:buClr>
                <a:schemeClr val="accent2"/>
              </a:buClr>
            </a:pPr>
            <a:r>
              <a:rPr lang="en-US" sz="4600" b="1" dirty="0">
                <a:solidFill>
                  <a:srgbClr val="FFFFFF"/>
                </a:solidFill>
                <a:latin typeface="Arial" panose="020B0604020202020204" pitchFamily="34" charset="0"/>
                <a:ea typeface="+mn-ea"/>
                <a:cs typeface="Arial" panose="020B0604020202020204" pitchFamily="34" charset="0"/>
              </a:rPr>
              <a:t>Authentication Framework Protocol</a:t>
            </a:r>
          </a:p>
        </p:txBody>
      </p:sp>
      <p:sp>
        <p:nvSpPr>
          <p:cNvPr id="3" name="Content Placeholder 2"/>
          <p:cNvSpPr>
            <a:spLocks noGrp="1"/>
          </p:cNvSpPr>
          <p:nvPr>
            <p:ph idx="1"/>
          </p:nvPr>
        </p:nvSpPr>
        <p:spPr>
          <a:xfrm>
            <a:off x="838200" y="2347414"/>
            <a:ext cx="10820400" cy="3590174"/>
          </a:xfrm>
        </p:spPr>
        <p:txBody>
          <a:bodyPr>
            <a:noAutofit/>
          </a:bodyPr>
          <a:lstStyle/>
          <a:p>
            <a:r>
              <a:rPr lang="en-GB" sz="1900" b="1" dirty="0"/>
              <a:t>Extensible Authentication Protocol (EAP)</a:t>
            </a:r>
          </a:p>
          <a:p>
            <a:r>
              <a:rPr lang="en-GB" sz="1900" dirty="0"/>
              <a:t>A </a:t>
            </a:r>
            <a:r>
              <a:rPr lang="en-GB" sz="1900" b="1" dirty="0"/>
              <a:t>framework</a:t>
            </a:r>
            <a:r>
              <a:rPr lang="en-GB" sz="1900" dirty="0"/>
              <a:t> used for transporting authentication protocols in network environments.</a:t>
            </a:r>
          </a:p>
          <a:p>
            <a:pPr>
              <a:buFont typeface="Arial" panose="020B0604020202020204" pitchFamily="34" charset="0"/>
              <a:buChar char="•"/>
            </a:pPr>
            <a:r>
              <a:rPr lang="en-GB" sz="1900" b="1" dirty="0"/>
              <a:t>Purpose</a:t>
            </a:r>
            <a:r>
              <a:rPr lang="en-GB" sz="1900" dirty="0"/>
              <a:t>: Created to provide a more secure alternative to legacy protocols such as:</a:t>
            </a:r>
          </a:p>
          <a:p>
            <a:pPr marL="742950" lvl="1" indent="-285750">
              <a:buFont typeface="Arial" panose="020B0604020202020204" pitchFamily="34" charset="0"/>
              <a:buChar char="•"/>
            </a:pPr>
            <a:r>
              <a:rPr lang="en-GB" sz="1900" b="1" dirty="0"/>
              <a:t>CHAP</a:t>
            </a:r>
            <a:r>
              <a:rPr lang="en-GB" sz="1900" dirty="0"/>
              <a:t>: Challenge-Handshake Authentication Protocol</a:t>
            </a:r>
          </a:p>
          <a:p>
            <a:pPr marL="742950" lvl="1" indent="-285750">
              <a:buFont typeface="Arial" panose="020B0604020202020204" pitchFamily="34" charset="0"/>
              <a:buChar char="•"/>
            </a:pPr>
            <a:r>
              <a:rPr lang="en-GB" sz="1900" b="1" dirty="0"/>
              <a:t>MS-CHAP</a:t>
            </a:r>
            <a:r>
              <a:rPr lang="en-GB" sz="1900" dirty="0"/>
              <a:t>: Microsoft’s version of CHAP</a:t>
            </a:r>
          </a:p>
          <a:p>
            <a:pPr marL="742950" lvl="1" indent="-285750">
              <a:buFont typeface="Arial" panose="020B0604020202020204" pitchFamily="34" charset="0"/>
              <a:buChar char="•"/>
            </a:pPr>
            <a:r>
              <a:rPr lang="en-GB" sz="1900" b="1" dirty="0"/>
              <a:t>PAP</a:t>
            </a:r>
            <a:r>
              <a:rPr lang="en-GB" sz="1900" dirty="0"/>
              <a:t>: Password Authentication Protocol</a:t>
            </a:r>
          </a:p>
          <a:p>
            <a:pPr>
              <a:buFont typeface="Arial" panose="020B0604020202020204" pitchFamily="34" charset="0"/>
              <a:buChar char="•"/>
            </a:pPr>
            <a:r>
              <a:rPr lang="en-GB" sz="1900" b="1" dirty="0"/>
              <a:t>Key Features</a:t>
            </a:r>
            <a:r>
              <a:rPr lang="en-GB" sz="1900" dirty="0"/>
              <a:t>:</a:t>
            </a:r>
          </a:p>
          <a:p>
            <a:pPr marL="742950" lvl="1" indent="-285750">
              <a:buFont typeface="Arial" panose="020B0604020202020204" pitchFamily="34" charset="0"/>
              <a:buChar char="•"/>
            </a:pPr>
            <a:r>
              <a:rPr lang="en-GB" sz="1900" b="1" dirty="0"/>
              <a:t>Defines Message Formats</a:t>
            </a:r>
            <a:r>
              <a:rPr lang="en-GB" sz="1900" dirty="0"/>
              <a:t>: EAP doesn’t define any one specific authentication mechanism but instead outlines how to transport various authentication messages.</a:t>
            </a:r>
          </a:p>
          <a:p>
            <a:pPr marL="742950" lvl="1" indent="-285750">
              <a:buFont typeface="Arial" panose="020B0604020202020204" pitchFamily="34" charset="0"/>
              <a:buChar char="•"/>
            </a:pPr>
            <a:r>
              <a:rPr lang="en-GB" sz="1900" b="1" dirty="0"/>
              <a:t>Four Packet Types</a:t>
            </a:r>
            <a:r>
              <a:rPr lang="en-GB" sz="1900" dirty="0"/>
              <a:t>:</a:t>
            </a:r>
          </a:p>
          <a:p>
            <a:pPr marL="1143000" lvl="2" indent="-228600">
              <a:buFont typeface="Arial" panose="020B0604020202020204" pitchFamily="34" charset="0"/>
              <a:buChar char="•"/>
            </a:pPr>
            <a:r>
              <a:rPr lang="en-GB" sz="1900" b="1" dirty="0"/>
              <a:t>Request</a:t>
            </a:r>
            <a:r>
              <a:rPr lang="en-GB" sz="1900" dirty="0"/>
              <a:t>: Initiates the authentication process.</a:t>
            </a:r>
          </a:p>
          <a:p>
            <a:pPr marL="1143000" lvl="2" indent="-228600">
              <a:buFont typeface="Arial" panose="020B0604020202020204" pitchFamily="34" charset="0"/>
              <a:buChar char="•"/>
            </a:pPr>
            <a:r>
              <a:rPr lang="en-GB" sz="1900" b="1" dirty="0"/>
              <a:t>Response</a:t>
            </a:r>
            <a:r>
              <a:rPr lang="en-GB" sz="1900" dirty="0"/>
              <a:t>: Replies to the request for authentication.</a:t>
            </a:r>
          </a:p>
          <a:p>
            <a:pPr marL="1143000" lvl="2" indent="-228600">
              <a:buFont typeface="Arial" panose="020B0604020202020204" pitchFamily="34" charset="0"/>
              <a:buChar char="•"/>
            </a:pPr>
            <a:r>
              <a:rPr lang="en-GB" sz="1900" b="1" dirty="0"/>
              <a:t>Success</a:t>
            </a:r>
            <a:r>
              <a:rPr lang="en-GB" sz="1900" dirty="0"/>
              <a:t>: Signals a successful authentication.</a:t>
            </a:r>
          </a:p>
          <a:p>
            <a:pPr marL="1143000" lvl="2" indent="-228600">
              <a:buFont typeface="Arial" panose="020B0604020202020204" pitchFamily="34" charset="0"/>
              <a:buChar char="•"/>
            </a:pPr>
            <a:r>
              <a:rPr lang="en-GB" sz="1900" b="1" dirty="0"/>
              <a:t>Failure</a:t>
            </a:r>
            <a:r>
              <a:rPr lang="en-GB" sz="1900" dirty="0"/>
              <a:t>: Indicates that authentication has failed.</a:t>
            </a:r>
          </a:p>
          <a:p>
            <a:pPr marL="0" indent="0">
              <a:buNone/>
            </a:pPr>
            <a:endParaRPr lang="en-US"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07230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10945</TotalTime>
  <Words>4722</Words>
  <Application>Microsoft Office PowerPoint</Application>
  <PresentationFormat>Widescreen</PresentationFormat>
  <Paragraphs>352</Paragraphs>
  <Slides>43</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Aptos Display</vt:lpstr>
      <vt:lpstr>Arial</vt:lpstr>
      <vt:lpstr>Calibri</vt:lpstr>
      <vt:lpstr>Office Theme</vt:lpstr>
      <vt:lpstr>Chapter 5</vt:lpstr>
      <vt:lpstr>What is Access Control?</vt:lpstr>
      <vt:lpstr>Access Control Terminology (1 of 5)</vt:lpstr>
      <vt:lpstr>Access Control Phases: Explanation and Computer Process</vt:lpstr>
      <vt:lpstr>Access Control Terminology (3 of 5)</vt:lpstr>
      <vt:lpstr>Access Control Terminology (4 of 5)</vt:lpstr>
      <vt:lpstr>Access Control Terminology (5 of 5)</vt:lpstr>
      <vt:lpstr>Access Control Models</vt:lpstr>
      <vt:lpstr>Discretionary Access Control (DAC) (1 of 2)</vt:lpstr>
      <vt:lpstr>Discretionary Access Control (DAC) (2 of 2)</vt:lpstr>
      <vt:lpstr>Mandatory Access Control (MAC) (1 of 4)</vt:lpstr>
      <vt:lpstr>Mandatory Access Control (MAC) (2 of 4)</vt:lpstr>
      <vt:lpstr>Mandatory Integrity Control (MIC) in Microsoft Windows (3 of 4)</vt:lpstr>
      <vt:lpstr>Mandatory Access Control (M  A  C) (4 of 4)</vt:lpstr>
      <vt:lpstr>Role-Based Access Control (RBAC)</vt:lpstr>
      <vt:lpstr>Rule-Based Access Control</vt:lpstr>
      <vt:lpstr>Attribute-Based Access Control (1 of 2)</vt:lpstr>
      <vt:lpstr>Attribute-Based Access Control (2 of 2)</vt:lpstr>
      <vt:lpstr>Managing Access Through Account Management</vt:lpstr>
      <vt:lpstr>Account Setup</vt:lpstr>
      <vt:lpstr>Location-Based Policies</vt:lpstr>
      <vt:lpstr>Standard Naming Conventions</vt:lpstr>
      <vt:lpstr>Time-of-Day Restrictions</vt:lpstr>
      <vt:lpstr>Least Privilege</vt:lpstr>
      <vt:lpstr>Account Auditing</vt:lpstr>
      <vt:lpstr>Best Practices for Access Control</vt:lpstr>
      <vt:lpstr>Separation of Duties</vt:lpstr>
      <vt:lpstr>Clean Desk Policy</vt:lpstr>
      <vt:lpstr>Implementing Access Control</vt:lpstr>
      <vt:lpstr>Access Control Lists (A C L s) (1 of 2)</vt:lpstr>
      <vt:lpstr>Access Control Lists (A C L s) (2 of 2)</vt:lpstr>
      <vt:lpstr>Group-Based Access Control</vt:lpstr>
      <vt:lpstr>Identity and Access Services</vt:lpstr>
      <vt:lpstr>R A D I U S (1 of 2)</vt:lpstr>
      <vt:lpstr>R A D I U S (2 of 2)</vt:lpstr>
      <vt:lpstr>Kerberos</vt:lpstr>
      <vt:lpstr>Terminal Access Control Access Control System+ (T A C A C S +) (1 of 2)</vt:lpstr>
      <vt:lpstr>Terminal Access Control Access Control System+ (T A C A C S +) (2 of 2)</vt:lpstr>
      <vt:lpstr>Lightweight Directory Access Protocol (L D A P) (1 of 2)</vt:lpstr>
      <vt:lpstr>Lightweight Directory Access Protocol (L D A P) (2 of 2)</vt:lpstr>
      <vt:lpstr>Security Assertion Markup Language (S A M L) (1 of 2)</vt:lpstr>
      <vt:lpstr>Security Assertion Markup Language (S A M L) (2 of 2)</vt:lpstr>
      <vt:lpstr>Authentication Framework Protocol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amir hosein razavi</cp:lastModifiedBy>
  <cp:revision>39</cp:revision>
  <dcterms:created xsi:type="dcterms:W3CDTF">2024-09-18T16:20:15Z</dcterms:created>
  <dcterms:modified xsi:type="dcterms:W3CDTF">2024-09-30T15:45:25Z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2023-05-21T00:00:00Z</vt:filetime>
  </property>
  <property fmtid="{D5CDD505-2E9C-101B-9397-08002B2CF9AE}" pid="3" name="Creator">
    <vt:lpwstr>PDF24 Creator</vt:lpwstr>
  </property>
  <property fmtid="{D5CDD505-2E9C-101B-9397-08002B2CF9AE}" pid="4" name="LastSaved">
    <vt:filetime>2024-09-18T00:00:00Z</vt:filetime>
  </property>
  <property fmtid="{D5CDD505-2E9C-101B-9397-08002B2CF9AE}" pid="5" name="Producer">
    <vt:lpwstr>GPL Ghostscript 10.00.0</vt:lpwstr>
  </property>
</Properties>
</file>