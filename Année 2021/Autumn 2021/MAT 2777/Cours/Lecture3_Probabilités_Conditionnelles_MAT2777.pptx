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0" r:id="rId1"/>
  </p:sldMasterIdLst>
  <p:notesMasterIdLst>
    <p:notesMasterId r:id="rId31"/>
  </p:notesMasterIdLst>
  <p:sldIdLst>
    <p:sldId id="281" r:id="rId2"/>
    <p:sldId id="282" r:id="rId3"/>
    <p:sldId id="283" r:id="rId4"/>
    <p:sldId id="284" r:id="rId5"/>
    <p:sldId id="285" r:id="rId6"/>
    <p:sldId id="286" r:id="rId7"/>
    <p:sldId id="287" r:id="rId8"/>
    <p:sldId id="288" r:id="rId9"/>
    <p:sldId id="289" r:id="rId10"/>
    <p:sldId id="256" r:id="rId11"/>
    <p:sldId id="257" r:id="rId12"/>
    <p:sldId id="258" r:id="rId13"/>
    <p:sldId id="262" r:id="rId14"/>
    <p:sldId id="261" r:id="rId15"/>
    <p:sldId id="263" r:id="rId16"/>
    <p:sldId id="266" r:id="rId17"/>
    <p:sldId id="267" r:id="rId18"/>
    <p:sldId id="272" r:id="rId19"/>
    <p:sldId id="275" r:id="rId20"/>
    <p:sldId id="276" r:id="rId21"/>
    <p:sldId id="280" r:id="rId22"/>
    <p:sldId id="271" r:id="rId23"/>
    <p:sldId id="273" r:id="rId24"/>
    <p:sldId id="268" r:id="rId25"/>
    <p:sldId id="269" r:id="rId26"/>
    <p:sldId id="270" r:id="rId27"/>
    <p:sldId id="277" r:id="rId28"/>
    <p:sldId id="278" r:id="rId29"/>
    <p:sldId id="279"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Style léger 1 - Accentuation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7DF18680-E054-41AD-8BC1-D1AEF772440D}" styleName="Style moyen 2 - Accentuation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8EC20E35-A176-4012-BC5E-935CFFF8708E}" styleName="Style moyen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9D7B26C5-4107-4FEC-AEDC-1716B250A1EF}" styleName="Style clair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8799B23B-EC83-4686-B30A-512413B5E67A}" styleName="Style léger 3 - Accentuation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6957" autoAdjust="0"/>
  </p:normalViewPr>
  <p:slideViewPr>
    <p:cSldViewPr snapToGrid="0">
      <p:cViewPr varScale="1">
        <p:scale>
          <a:sx n="99" d="100"/>
          <a:sy n="99" d="100"/>
        </p:scale>
        <p:origin x="996"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CA"/>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A88AB8-1C01-41DC-AFCA-28305AC61B27}" type="datetimeFigureOut">
              <a:rPr lang="fr-CA" smtClean="0"/>
              <a:t>2021-09-16</a:t>
            </a:fld>
            <a:endParaRPr lang="fr-CA"/>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CA"/>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CA"/>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59F1DE7-72A5-40DE-843D-98ED1D33E9CB}" type="slidenum">
              <a:rPr lang="fr-CA" smtClean="0"/>
              <a:t>‹N°›</a:t>
            </a:fld>
            <a:endParaRPr lang="fr-CA"/>
          </a:p>
        </p:txBody>
      </p:sp>
    </p:spTree>
    <p:extLst>
      <p:ext uri="{BB962C8B-B14F-4D97-AF65-F5344CB8AC3E}">
        <p14:creationId xmlns:p14="http://schemas.microsoft.com/office/powerpoint/2010/main" val="7117888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5"/>
          </p:nvPr>
        </p:nvSpPr>
        <p:spPr/>
        <p:txBody>
          <a:bodyPr/>
          <a:lstStyle/>
          <a:p>
            <a:fld id="{B59F1DE7-72A5-40DE-843D-98ED1D33E9CB}" type="slidenum">
              <a:rPr lang="fr-CA" smtClean="0"/>
              <a:t>5</a:t>
            </a:fld>
            <a:endParaRPr lang="fr-CA"/>
          </a:p>
        </p:txBody>
      </p:sp>
    </p:spTree>
    <p:extLst>
      <p:ext uri="{BB962C8B-B14F-4D97-AF65-F5344CB8AC3E}">
        <p14:creationId xmlns:p14="http://schemas.microsoft.com/office/powerpoint/2010/main" val="7533046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5"/>
          </p:nvPr>
        </p:nvSpPr>
        <p:spPr/>
        <p:txBody>
          <a:bodyPr/>
          <a:lstStyle/>
          <a:p>
            <a:fld id="{B59F1DE7-72A5-40DE-843D-98ED1D33E9CB}" type="slidenum">
              <a:rPr lang="fr-CA" smtClean="0"/>
              <a:t>7</a:t>
            </a:fld>
            <a:endParaRPr lang="fr-CA"/>
          </a:p>
        </p:txBody>
      </p:sp>
    </p:spTree>
    <p:extLst>
      <p:ext uri="{BB962C8B-B14F-4D97-AF65-F5344CB8AC3E}">
        <p14:creationId xmlns:p14="http://schemas.microsoft.com/office/powerpoint/2010/main" val="25227531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5"/>
          </p:nvPr>
        </p:nvSpPr>
        <p:spPr/>
        <p:txBody>
          <a:bodyPr/>
          <a:lstStyle/>
          <a:p>
            <a:fld id="{B59F1DE7-72A5-40DE-843D-98ED1D33E9CB}" type="slidenum">
              <a:rPr lang="fr-CA" smtClean="0"/>
              <a:t>14</a:t>
            </a:fld>
            <a:endParaRPr lang="fr-CA"/>
          </a:p>
        </p:txBody>
      </p:sp>
    </p:spTree>
    <p:extLst>
      <p:ext uri="{BB962C8B-B14F-4D97-AF65-F5344CB8AC3E}">
        <p14:creationId xmlns:p14="http://schemas.microsoft.com/office/powerpoint/2010/main" val="11428527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5"/>
          </p:nvPr>
        </p:nvSpPr>
        <p:spPr/>
        <p:txBody>
          <a:bodyPr/>
          <a:lstStyle/>
          <a:p>
            <a:fld id="{B59F1DE7-72A5-40DE-843D-98ED1D33E9CB}" type="slidenum">
              <a:rPr lang="fr-CA" smtClean="0"/>
              <a:t>25</a:t>
            </a:fld>
            <a:endParaRPr lang="fr-CA"/>
          </a:p>
        </p:txBody>
      </p:sp>
    </p:spTree>
    <p:extLst>
      <p:ext uri="{BB962C8B-B14F-4D97-AF65-F5344CB8AC3E}">
        <p14:creationId xmlns:p14="http://schemas.microsoft.com/office/powerpoint/2010/main" val="21286637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DEBCAADC-90C4-42A0-92DD-A3EB1E3F99BC}" type="datetime1">
              <a:rPr lang="fr-CA" smtClean="0"/>
              <a:t>2021-09-16</a:t>
            </a:fld>
            <a:endParaRPr lang="fr-CA"/>
          </a:p>
        </p:txBody>
      </p:sp>
      <p:sp>
        <p:nvSpPr>
          <p:cNvPr id="5"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39713582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62FE81BE-FF7C-4713-86B5-98B3635F7575}" type="datetime1">
              <a:rPr lang="fr-CA" smtClean="0"/>
              <a:t>2021-09-16</a:t>
            </a:fld>
            <a:endParaRPr lang="fr-CA"/>
          </a:p>
        </p:txBody>
      </p:sp>
      <p:sp>
        <p:nvSpPr>
          <p:cNvPr id="5"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42566622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fr-FR"/>
              <a:t>Modifiez le style du titre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5307F1A6-A103-49CB-B28A-B5B8CE7CCF08}" type="datetime1">
              <a:rPr lang="fr-CA" smtClean="0"/>
              <a:t>2021-09-16</a:t>
            </a:fld>
            <a:endParaRPr lang="fr-CA"/>
          </a:p>
        </p:txBody>
      </p:sp>
      <p:sp>
        <p:nvSpPr>
          <p:cNvPr id="5"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18187118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B67FE57F-B680-462B-BBFD-7518F74AF714}" type="datetime1">
              <a:rPr lang="fr-CA" smtClean="0"/>
              <a:t>2021-09-16</a:t>
            </a:fld>
            <a:endParaRPr lang="fr-CA"/>
          </a:p>
        </p:txBody>
      </p:sp>
      <p:sp>
        <p:nvSpPr>
          <p:cNvPr id="6" name="Footer Placeholder 5"/>
          <p:cNvSpPr>
            <a:spLocks noGrp="1"/>
          </p:cNvSpPr>
          <p:nvPr>
            <p:ph type="ftr" sz="quarter" idx="11"/>
          </p:nvPr>
        </p:nvSpPr>
        <p:spPr/>
        <p:txBody>
          <a:bodyPr/>
          <a:lstStyle/>
          <a:p>
            <a:endParaRPr lang="fr-CA"/>
          </a:p>
        </p:txBody>
      </p:sp>
      <p:sp>
        <p:nvSpPr>
          <p:cNvPr id="7" name="Slide Number Placeholder 6"/>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20462190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fr-FR"/>
              <a:t>Modifiez le style du titre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C91B3B4F-1CE8-448C-951A-2E287C7816DA}" type="datetime1">
              <a:rPr lang="fr-CA" smtClean="0"/>
              <a:t>2021-09-16</a:t>
            </a:fld>
            <a:endParaRPr lang="fr-CA"/>
          </a:p>
        </p:txBody>
      </p:sp>
      <p:sp>
        <p:nvSpPr>
          <p:cNvPr id="8" name="Footer Placeholder 7"/>
          <p:cNvSpPr>
            <a:spLocks noGrp="1"/>
          </p:cNvSpPr>
          <p:nvPr>
            <p:ph type="ftr" sz="quarter" idx="11"/>
          </p:nvPr>
        </p:nvSpPr>
        <p:spPr/>
        <p:txBody>
          <a:bodyPr/>
          <a:lstStyle/>
          <a:p>
            <a:endParaRPr lang="fr-CA"/>
          </a:p>
        </p:txBody>
      </p:sp>
      <p:sp>
        <p:nvSpPr>
          <p:cNvPr id="9" name="Slide Number Placeholder 8"/>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14748189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1F763F50-9144-44F9-A37F-D55A19808CF4}" type="datetime1">
              <a:rPr lang="fr-CA" smtClean="0"/>
              <a:t>2021-09-16</a:t>
            </a:fld>
            <a:endParaRPr lang="fr-CA"/>
          </a:p>
        </p:txBody>
      </p:sp>
      <p:sp>
        <p:nvSpPr>
          <p:cNvPr id="4" name="Footer Placeholder 3"/>
          <p:cNvSpPr>
            <a:spLocks noGrp="1"/>
          </p:cNvSpPr>
          <p:nvPr>
            <p:ph type="ftr" sz="quarter" idx="11"/>
          </p:nvPr>
        </p:nvSpPr>
        <p:spPr/>
        <p:txBody>
          <a:bodyPr/>
          <a:lstStyle/>
          <a:p>
            <a:endParaRPr lang="fr-CA"/>
          </a:p>
        </p:txBody>
      </p:sp>
      <p:sp>
        <p:nvSpPr>
          <p:cNvPr id="5" name="Slide Number Placeholder 4"/>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19374376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9AB2447-19AC-45D2-83F5-5B12576F084D}" type="datetime1">
              <a:rPr lang="fr-CA" smtClean="0"/>
              <a:t>2021-09-16</a:t>
            </a:fld>
            <a:endParaRPr lang="fr-CA"/>
          </a:p>
        </p:txBody>
      </p:sp>
      <p:sp>
        <p:nvSpPr>
          <p:cNvPr id="3" name="Footer Placeholder 2"/>
          <p:cNvSpPr>
            <a:spLocks noGrp="1"/>
          </p:cNvSpPr>
          <p:nvPr>
            <p:ph type="ftr" sz="quarter" idx="11"/>
          </p:nvPr>
        </p:nvSpPr>
        <p:spPr/>
        <p:txBody>
          <a:bodyPr/>
          <a:lstStyle/>
          <a:p>
            <a:endParaRPr lang="fr-CA"/>
          </a:p>
        </p:txBody>
      </p:sp>
      <p:sp>
        <p:nvSpPr>
          <p:cNvPr id="4" name="Slide Number Placeholder 3"/>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10599487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5B17A9AF-12D3-47FA-A0D6-97746BB8E776}" type="datetime1">
              <a:rPr lang="fr-CA" smtClean="0"/>
              <a:t>2021-09-16</a:t>
            </a:fld>
            <a:endParaRPr lang="fr-CA"/>
          </a:p>
        </p:txBody>
      </p:sp>
      <p:sp>
        <p:nvSpPr>
          <p:cNvPr id="6" name="Footer Placeholder 5"/>
          <p:cNvSpPr>
            <a:spLocks noGrp="1"/>
          </p:cNvSpPr>
          <p:nvPr>
            <p:ph type="ftr" sz="quarter" idx="11"/>
          </p:nvPr>
        </p:nvSpPr>
        <p:spPr/>
        <p:txBody>
          <a:bodyPr/>
          <a:lstStyle/>
          <a:p>
            <a:endParaRPr lang="fr-CA"/>
          </a:p>
        </p:txBody>
      </p:sp>
      <p:sp>
        <p:nvSpPr>
          <p:cNvPr id="7" name="Slide Number Placeholder 6"/>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33316550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BCF19D18-3682-4189-B23C-B8B496B3307C}" type="datetime1">
              <a:rPr lang="fr-CA" smtClean="0"/>
              <a:t>2021-09-16</a:t>
            </a:fld>
            <a:endParaRPr lang="fr-CA"/>
          </a:p>
        </p:txBody>
      </p:sp>
      <p:sp>
        <p:nvSpPr>
          <p:cNvPr id="6" name="Footer Placeholder 5"/>
          <p:cNvSpPr>
            <a:spLocks noGrp="1"/>
          </p:cNvSpPr>
          <p:nvPr>
            <p:ph type="ftr" sz="quarter" idx="11"/>
          </p:nvPr>
        </p:nvSpPr>
        <p:spPr/>
        <p:txBody>
          <a:bodyPr/>
          <a:lstStyle/>
          <a:p>
            <a:endParaRPr lang="fr-CA"/>
          </a:p>
        </p:txBody>
      </p:sp>
      <p:sp>
        <p:nvSpPr>
          <p:cNvPr id="7" name="Slide Number Placeholder 6"/>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13094096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D6BEAFDA-2171-49C0-B449-3733417EA82F}" type="datetime1">
              <a:rPr lang="fr-CA" smtClean="0"/>
              <a:t>2021-09-16</a:t>
            </a:fld>
            <a:endParaRPr lang="fr-CA"/>
          </a:p>
        </p:txBody>
      </p:sp>
      <p:sp>
        <p:nvSpPr>
          <p:cNvPr id="5"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23712250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E9EBD924-29A3-4FF2-B149-61A5377F8882}" type="datetime1">
              <a:rPr lang="fr-CA" smtClean="0"/>
              <a:t>2021-09-16</a:t>
            </a:fld>
            <a:endParaRPr lang="fr-CA"/>
          </a:p>
        </p:txBody>
      </p:sp>
      <p:sp>
        <p:nvSpPr>
          <p:cNvPr id="5"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24023872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0418466-3607-4A57-8167-9FAB5784D41C}" type="datetime1">
              <a:rPr lang="fr-CA" smtClean="0"/>
              <a:t>2021-09-16</a:t>
            </a:fld>
            <a:endParaRPr lang="fr-CA"/>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CA"/>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6377AD9-CE17-438C-A638-C64D2D42D7CF}" type="slidenum">
              <a:rPr lang="fr-CA" smtClean="0"/>
              <a:t>‹N°›</a:t>
            </a:fld>
            <a:endParaRPr lang="fr-CA"/>
          </a:p>
        </p:txBody>
      </p:sp>
    </p:spTree>
    <p:extLst>
      <p:ext uri="{BB962C8B-B14F-4D97-AF65-F5344CB8AC3E}">
        <p14:creationId xmlns:p14="http://schemas.microsoft.com/office/powerpoint/2010/main" val="1533741373"/>
      </p:ext>
    </p:extLst>
  </p:cSld>
  <p:clrMap bg1="lt1" tx1="dk1" bg2="lt2" tx2="dk2" accent1="accent1" accent2="accent2" accent3="accent3" accent4="accent4" accent5="accent5" accent6="accent6" hlink="hlink" folHlink="folHlink"/>
  <p:sldLayoutIdLst>
    <p:sldLayoutId id="2147483811" r:id="rId1"/>
    <p:sldLayoutId id="2147483812" r:id="rId2"/>
    <p:sldLayoutId id="2147483813" r:id="rId3"/>
    <p:sldLayoutId id="2147483814" r:id="rId4"/>
    <p:sldLayoutId id="2147483815" r:id="rId5"/>
    <p:sldLayoutId id="2147483816" r:id="rId6"/>
    <p:sldLayoutId id="2147483817" r:id="rId7"/>
    <p:sldLayoutId id="2147483818" r:id="rId8"/>
    <p:sldLayoutId id="2147483819" r:id="rId9"/>
    <p:sldLayoutId id="2147483820" r:id="rId10"/>
    <p:sldLayoutId id="2147483821"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6.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image" Target="../media/image4.emf"/><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0.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6.emf"/><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re 1">
                <a:extLst>
                  <a:ext uri="{FF2B5EF4-FFF2-40B4-BE49-F238E27FC236}">
                    <a16:creationId xmlns:a16="http://schemas.microsoft.com/office/drawing/2014/main" id="{1BBBCEBF-A319-4BE2-A798-CADF2E7A0597}"/>
                  </a:ext>
                </a:extLst>
              </p:cNvPr>
              <p:cNvSpPr>
                <a:spLocks noGrp="1"/>
              </p:cNvSpPr>
              <p:nvPr>
                <p:ph type="title"/>
              </p:nvPr>
            </p:nvSpPr>
            <p:spPr>
              <a:xfrm>
                <a:off x="1524000" y="1293338"/>
                <a:ext cx="9144000" cy="3274592"/>
              </a:xfrm>
            </p:spPr>
            <p:txBody>
              <a:bodyPr vert="horz" lIns="91440" tIns="45720" rIns="91440" bIns="45720" rtlCol="0" anchor="ctr">
                <a:normAutofit fontScale="90000"/>
              </a:bodyPr>
              <a:lstStyle/>
              <a:p>
                <a:pPr algn="ctr"/>
                <a:r>
                  <a:rPr lang="en-US" sz="2700" kern="1200" dirty="0">
                    <a:solidFill>
                      <a:schemeClr val="tx1"/>
                    </a:solidFill>
                    <a:ea typeface="+mj-ea"/>
                    <a:cs typeface="+mj-cs"/>
                  </a:rPr>
                  <a:t>COMBINAISONS</a:t>
                </a:r>
                <a:br>
                  <a:rPr lang="en-US" sz="2700" kern="1200" dirty="0">
                    <a:solidFill>
                      <a:schemeClr val="tx1"/>
                    </a:solidFill>
                    <a:ea typeface="+mj-ea"/>
                    <a:cs typeface="+mj-cs"/>
                  </a:rPr>
                </a:br>
                <a:br>
                  <a:rPr lang="en-US" sz="2700" kern="1200" dirty="0">
                    <a:solidFill>
                      <a:schemeClr val="tx1"/>
                    </a:solidFill>
                    <a:ea typeface="+mj-ea"/>
                    <a:cs typeface="+mj-cs"/>
                  </a:rPr>
                </a:br>
                <a:r>
                  <a:rPr lang="en-US" sz="2700" kern="1200" dirty="0">
                    <a:solidFill>
                      <a:schemeClr val="tx1"/>
                    </a:solidFill>
                    <a:ea typeface="+mj-ea"/>
                    <a:cs typeface="+mj-cs"/>
                  </a:rPr>
                  <a:t>Lorsqu’on a n éléments et qu’on veuille en choisir k à la fois, on parle de combinaisons.</a:t>
                </a:r>
                <a:br>
                  <a:rPr lang="en-US" sz="2700" kern="1200" dirty="0">
                    <a:solidFill>
                      <a:schemeClr val="tx1"/>
                    </a:solidFill>
                    <a:ea typeface="+mj-ea"/>
                    <a:cs typeface="+mj-cs"/>
                  </a:rPr>
                </a:br>
                <a:r>
                  <a:rPr lang="en-US" sz="2700" kern="1200" dirty="0">
                    <a:solidFill>
                      <a:schemeClr val="tx1"/>
                    </a:solidFill>
                    <a:ea typeface="+mj-ea"/>
                    <a:cs typeface="+mj-cs"/>
                  </a:rPr>
                  <a:t>Le nombre de combinaisons possibles est:</a:t>
                </a:r>
                <a:br>
                  <a:rPr lang="en-US" sz="2700" kern="1200" dirty="0">
                    <a:solidFill>
                      <a:schemeClr val="tx1"/>
                    </a:solidFill>
                    <a:ea typeface="+mj-ea"/>
                    <a:cs typeface="+mj-cs"/>
                  </a:rPr>
                </a:br>
                <a14:m>
                  <m:oMathPara xmlns:m="http://schemas.openxmlformats.org/officeDocument/2006/math">
                    <m:oMathParaPr>
                      <m:jc m:val="centerGroup"/>
                    </m:oMathParaPr>
                    <m:oMath xmlns:m="http://schemas.openxmlformats.org/officeDocument/2006/math">
                      <m:d>
                        <m:dPr>
                          <m:ctrlPr>
                            <a:rPr lang="en-US" sz="2700" i="1" kern="1200">
                              <a:solidFill>
                                <a:schemeClr val="tx1"/>
                              </a:solidFill>
                              <a:latin typeface="Cambria Math" panose="02040503050406030204" pitchFamily="18" charset="0"/>
                              <a:ea typeface="+mj-ea"/>
                              <a:cs typeface="+mj-cs"/>
                            </a:rPr>
                          </m:ctrlPr>
                        </m:dPr>
                        <m:e>
                          <m:eqArr>
                            <m:eqArrPr>
                              <m:ctrlPr>
                                <a:rPr lang="en-US" sz="2700" b="0" i="1" kern="1200">
                                  <a:solidFill>
                                    <a:schemeClr val="tx1"/>
                                  </a:solidFill>
                                  <a:latin typeface="Cambria Math" panose="02040503050406030204" pitchFamily="18" charset="0"/>
                                  <a:ea typeface="+mj-ea"/>
                                  <a:cs typeface="+mj-cs"/>
                                </a:rPr>
                              </m:ctrlPr>
                            </m:eqArrPr>
                            <m:e>
                              <m:r>
                                <a:rPr lang="en-US" sz="2700" b="0" i="1" kern="1200">
                                  <a:solidFill>
                                    <a:schemeClr val="tx1"/>
                                  </a:solidFill>
                                  <a:latin typeface="Cambria Math" panose="02040503050406030204" pitchFamily="18" charset="0"/>
                                  <a:ea typeface="+mj-ea"/>
                                  <a:cs typeface="+mj-cs"/>
                                </a:rPr>
                                <m:t>𝑛</m:t>
                              </m:r>
                            </m:e>
                            <m:e>
                              <m:r>
                                <a:rPr lang="en-US" sz="2700" b="0" i="1" kern="1200">
                                  <a:solidFill>
                                    <a:schemeClr val="tx1"/>
                                  </a:solidFill>
                                  <a:latin typeface="Cambria Math" panose="02040503050406030204" pitchFamily="18" charset="0"/>
                                  <a:ea typeface="+mj-ea"/>
                                  <a:cs typeface="+mj-cs"/>
                                </a:rPr>
                                <m:t>𝑘</m:t>
                              </m:r>
                            </m:e>
                          </m:eqArr>
                        </m:e>
                      </m:d>
                      <m:r>
                        <a:rPr lang="en-US" sz="2700" b="0" i="1" kern="1200">
                          <a:solidFill>
                            <a:schemeClr val="tx1"/>
                          </a:solidFill>
                          <a:latin typeface="Cambria Math" panose="02040503050406030204" pitchFamily="18" charset="0"/>
                          <a:ea typeface="+mj-ea"/>
                          <a:cs typeface="+mj-cs"/>
                        </a:rPr>
                        <m:t>=</m:t>
                      </m:r>
                      <m:f>
                        <m:fPr>
                          <m:ctrlPr>
                            <a:rPr lang="en-US" sz="2700" b="0" i="1" kern="1200">
                              <a:solidFill>
                                <a:schemeClr val="tx1"/>
                              </a:solidFill>
                              <a:latin typeface="Cambria Math" panose="02040503050406030204" pitchFamily="18" charset="0"/>
                              <a:ea typeface="+mj-ea"/>
                              <a:cs typeface="+mj-cs"/>
                            </a:rPr>
                          </m:ctrlPr>
                        </m:fPr>
                        <m:num>
                          <m:r>
                            <a:rPr lang="en-US" sz="2700" b="0" i="1" kern="1200">
                              <a:solidFill>
                                <a:schemeClr val="tx1"/>
                              </a:solidFill>
                              <a:latin typeface="Cambria Math" panose="02040503050406030204" pitchFamily="18" charset="0"/>
                              <a:ea typeface="+mj-ea"/>
                              <a:cs typeface="+mj-cs"/>
                            </a:rPr>
                            <m:t>𝑛</m:t>
                          </m:r>
                          <m:r>
                            <a:rPr lang="en-US" sz="2700" b="0" i="1" kern="1200">
                              <a:solidFill>
                                <a:schemeClr val="tx1"/>
                              </a:solidFill>
                              <a:latin typeface="Cambria Math" panose="02040503050406030204" pitchFamily="18" charset="0"/>
                              <a:ea typeface="+mj-ea"/>
                              <a:cs typeface="+mj-cs"/>
                            </a:rPr>
                            <m:t>!</m:t>
                          </m:r>
                        </m:num>
                        <m:den>
                          <m:r>
                            <a:rPr lang="en-US" sz="2700" b="0" i="1" kern="1200">
                              <a:solidFill>
                                <a:schemeClr val="tx1"/>
                              </a:solidFill>
                              <a:latin typeface="Cambria Math" panose="02040503050406030204" pitchFamily="18" charset="0"/>
                              <a:ea typeface="+mj-ea"/>
                              <a:cs typeface="+mj-cs"/>
                            </a:rPr>
                            <m:t>𝑘</m:t>
                          </m:r>
                          <m:r>
                            <a:rPr lang="en-US" sz="2700" b="0" i="1" kern="1200">
                              <a:solidFill>
                                <a:schemeClr val="tx1"/>
                              </a:solidFill>
                              <a:latin typeface="Cambria Math" panose="02040503050406030204" pitchFamily="18" charset="0"/>
                              <a:ea typeface="+mj-ea"/>
                              <a:cs typeface="+mj-cs"/>
                            </a:rPr>
                            <m:t>!</m:t>
                          </m:r>
                          <m:d>
                            <m:dPr>
                              <m:ctrlPr>
                                <a:rPr lang="en-US" sz="2700" b="0" i="1" kern="1200">
                                  <a:solidFill>
                                    <a:schemeClr val="tx1"/>
                                  </a:solidFill>
                                  <a:latin typeface="Cambria Math" panose="02040503050406030204" pitchFamily="18" charset="0"/>
                                  <a:ea typeface="+mj-ea"/>
                                  <a:cs typeface="+mj-cs"/>
                                </a:rPr>
                              </m:ctrlPr>
                            </m:dPr>
                            <m:e>
                              <m:r>
                                <a:rPr lang="en-US" sz="2700" b="0" i="1" kern="1200">
                                  <a:solidFill>
                                    <a:schemeClr val="tx1"/>
                                  </a:solidFill>
                                  <a:latin typeface="Cambria Math" panose="02040503050406030204" pitchFamily="18" charset="0"/>
                                  <a:ea typeface="+mj-ea"/>
                                  <a:cs typeface="+mj-cs"/>
                                </a:rPr>
                                <m:t>𝑛</m:t>
                              </m:r>
                              <m:r>
                                <a:rPr lang="en-US" sz="2700" b="0" i="1" kern="1200">
                                  <a:solidFill>
                                    <a:schemeClr val="tx1"/>
                                  </a:solidFill>
                                  <a:latin typeface="Cambria Math" panose="02040503050406030204" pitchFamily="18" charset="0"/>
                                  <a:ea typeface="+mj-ea"/>
                                  <a:cs typeface="+mj-cs"/>
                                </a:rPr>
                                <m:t>−</m:t>
                              </m:r>
                              <m:r>
                                <a:rPr lang="en-US" sz="2700" b="0" i="1" kern="1200">
                                  <a:solidFill>
                                    <a:schemeClr val="tx1"/>
                                  </a:solidFill>
                                  <a:latin typeface="Cambria Math" panose="02040503050406030204" pitchFamily="18" charset="0"/>
                                  <a:ea typeface="+mj-ea"/>
                                  <a:cs typeface="+mj-cs"/>
                                </a:rPr>
                                <m:t>𝑘</m:t>
                              </m:r>
                            </m:e>
                          </m:d>
                          <m:r>
                            <a:rPr lang="en-US" sz="2700" b="0" i="1" kern="1200">
                              <a:solidFill>
                                <a:schemeClr val="tx1"/>
                              </a:solidFill>
                              <a:latin typeface="Cambria Math" panose="02040503050406030204" pitchFamily="18" charset="0"/>
                              <a:ea typeface="+mj-ea"/>
                              <a:cs typeface="+mj-cs"/>
                            </a:rPr>
                            <m:t>!</m:t>
                          </m:r>
                        </m:den>
                      </m:f>
                      <m:r>
                        <a:rPr lang="en-US" sz="2700" b="0" i="1" kern="1200">
                          <a:solidFill>
                            <a:schemeClr val="tx1"/>
                          </a:solidFill>
                          <a:latin typeface="Cambria Math" panose="02040503050406030204" pitchFamily="18" charset="0"/>
                          <a:ea typeface="+mj-ea"/>
                          <a:cs typeface="+mj-cs"/>
                        </a:rPr>
                        <m:t>=</m:t>
                      </m:r>
                      <m:sSub>
                        <m:sSubPr>
                          <m:ctrlPr>
                            <a:rPr lang="en-US" sz="2700" b="0" i="1" kern="1200">
                              <a:solidFill>
                                <a:schemeClr val="tx1"/>
                              </a:solidFill>
                              <a:latin typeface="Cambria Math" panose="02040503050406030204" pitchFamily="18" charset="0"/>
                              <a:ea typeface="+mj-ea"/>
                              <a:cs typeface="+mj-cs"/>
                            </a:rPr>
                          </m:ctrlPr>
                        </m:sSubPr>
                        <m:e>
                          <m:r>
                            <a:rPr lang="en-US" sz="2700" b="0" i="1" kern="1200">
                              <a:solidFill>
                                <a:schemeClr val="tx1"/>
                              </a:solidFill>
                              <a:latin typeface="Cambria Math" panose="02040503050406030204" pitchFamily="18" charset="0"/>
                              <a:ea typeface="+mj-ea"/>
                              <a:cs typeface="+mj-cs"/>
                            </a:rPr>
                            <m:t>𝑛𝐶</m:t>
                          </m:r>
                        </m:e>
                        <m:sub>
                          <m:r>
                            <a:rPr lang="en-US" sz="2700" b="0" i="1" kern="1200">
                              <a:solidFill>
                                <a:schemeClr val="tx1"/>
                              </a:solidFill>
                              <a:latin typeface="Cambria Math" panose="02040503050406030204" pitchFamily="18" charset="0"/>
                              <a:ea typeface="+mj-ea"/>
                              <a:cs typeface="+mj-cs"/>
                            </a:rPr>
                            <m:t>𝑘</m:t>
                          </m:r>
                        </m:sub>
                      </m:sSub>
                    </m:oMath>
                  </m:oMathPara>
                </a14:m>
                <a:br>
                  <a:rPr lang="en-US" sz="2700" kern="1200" dirty="0">
                    <a:solidFill>
                      <a:schemeClr val="tx1"/>
                    </a:solidFill>
                    <a:ea typeface="+mj-ea"/>
                    <a:cs typeface="+mj-cs"/>
                  </a:rPr>
                </a:br>
                <a:r>
                  <a:rPr lang="en-US" sz="2700" b="1" kern="1200" dirty="0">
                    <a:solidFill>
                      <a:schemeClr val="tx1"/>
                    </a:solidFill>
                    <a:ea typeface="+mj-ea"/>
                    <a:cs typeface="+mj-cs"/>
                  </a:rPr>
                  <a:t>Remarques:</a:t>
                </a:r>
                <a:br>
                  <a:rPr lang="en-US" sz="2700" kern="1200" dirty="0">
                    <a:solidFill>
                      <a:schemeClr val="tx1"/>
                    </a:solidFill>
                    <a:ea typeface="+mj-ea"/>
                    <a:cs typeface="+mj-cs"/>
                  </a:rPr>
                </a:br>
                <a:r>
                  <a:rPr lang="en-US" sz="2700" kern="1200" dirty="0">
                    <a:solidFill>
                      <a:schemeClr val="tx1"/>
                    </a:solidFill>
                    <a:ea typeface="+mj-ea"/>
                    <a:cs typeface="+mj-cs"/>
                  </a:rPr>
                  <a:t>. L’ordre n’est pas important.</a:t>
                </a:r>
                <a:br>
                  <a:rPr lang="en-US" sz="2700" kern="1200" dirty="0">
                    <a:solidFill>
                      <a:schemeClr val="tx1"/>
                    </a:solidFill>
                    <a:ea typeface="+mj-ea"/>
                    <a:cs typeface="+mj-cs"/>
                  </a:rPr>
                </a:br>
                <a:r>
                  <a:rPr lang="en-US" sz="2700" kern="1200" dirty="0">
                    <a:solidFill>
                      <a:schemeClr val="tx1"/>
                    </a:solidFill>
                    <a:ea typeface="+mj-ea"/>
                    <a:cs typeface="+mj-cs"/>
                  </a:rPr>
                  <a:t>. Combinaison commence par la même lettre que choisir</a:t>
                </a:r>
                <a:r>
                  <a:rPr lang="en-US" sz="1800" kern="1200" dirty="0">
                    <a:solidFill>
                      <a:schemeClr val="tx1"/>
                    </a:solidFill>
                    <a:latin typeface="+mj-lt"/>
                    <a:ea typeface="+mj-ea"/>
                    <a:cs typeface="+mj-cs"/>
                  </a:rPr>
                  <a:t>.</a:t>
                </a:r>
                <a:br>
                  <a:rPr lang="en-US" sz="1800" kern="1200" dirty="0">
                    <a:solidFill>
                      <a:schemeClr val="tx1"/>
                    </a:solidFill>
                    <a:latin typeface="+mj-lt"/>
                    <a:ea typeface="+mj-ea"/>
                    <a:cs typeface="+mj-cs"/>
                  </a:rPr>
                </a:br>
                <a:br>
                  <a:rPr lang="en-US" sz="1800" kern="1200" dirty="0">
                    <a:solidFill>
                      <a:schemeClr val="tx1"/>
                    </a:solidFill>
                    <a:latin typeface="+mj-lt"/>
                    <a:ea typeface="+mj-ea"/>
                    <a:cs typeface="+mj-cs"/>
                  </a:rPr>
                </a:br>
                <a:br>
                  <a:rPr lang="en-US" sz="1800" kern="1200" dirty="0">
                    <a:solidFill>
                      <a:schemeClr val="tx1"/>
                    </a:solidFill>
                    <a:latin typeface="+mj-lt"/>
                    <a:ea typeface="+mj-ea"/>
                    <a:cs typeface="+mj-cs"/>
                  </a:rPr>
                </a:br>
                <a:endParaRPr lang="en-US" sz="1800" kern="1200" dirty="0">
                  <a:solidFill>
                    <a:schemeClr val="tx1"/>
                  </a:solidFill>
                  <a:latin typeface="+mj-lt"/>
                  <a:ea typeface="+mj-ea"/>
                  <a:cs typeface="+mj-cs"/>
                </a:endParaRPr>
              </a:p>
            </p:txBody>
          </p:sp>
        </mc:Choice>
        <mc:Fallback xmlns="">
          <p:sp>
            <p:nvSpPr>
              <p:cNvPr id="2" name="Titre 1">
                <a:extLst>
                  <a:ext uri="{FF2B5EF4-FFF2-40B4-BE49-F238E27FC236}">
                    <a16:creationId xmlns:a16="http://schemas.microsoft.com/office/drawing/2014/main" id="{1BBBCEBF-A319-4BE2-A798-CADF2E7A0597}"/>
                  </a:ext>
                </a:extLst>
              </p:cNvPr>
              <p:cNvSpPr>
                <a:spLocks noGrp="1" noRot="1" noChangeAspect="1" noMove="1" noResize="1" noEditPoints="1" noAdjustHandles="1" noChangeArrowheads="1" noChangeShapeType="1" noTextEdit="1"/>
              </p:cNvSpPr>
              <p:nvPr>
                <p:ph type="title"/>
              </p:nvPr>
            </p:nvSpPr>
            <p:spPr>
              <a:xfrm>
                <a:off x="1524000" y="1293338"/>
                <a:ext cx="9144000" cy="3274592"/>
              </a:xfrm>
              <a:blipFill>
                <a:blip r:embed="rId2"/>
                <a:stretch>
                  <a:fillRect t="-14339" r="-1133"/>
                </a:stretch>
              </a:blipFill>
            </p:spPr>
            <p:txBody>
              <a:bodyPr/>
              <a:lstStyle/>
              <a:p>
                <a:r>
                  <a:rPr lang="fr-CA">
                    <a:noFill/>
                  </a:rPr>
                  <a:t> </a:t>
                </a:r>
              </a:p>
            </p:txBody>
          </p:sp>
        </mc:Fallback>
      </mc:AlternateContent>
      <p:sp>
        <p:nvSpPr>
          <p:cNvPr id="3" name="Espace réservé du pied de page 2">
            <a:extLst>
              <a:ext uri="{FF2B5EF4-FFF2-40B4-BE49-F238E27FC236}">
                <a16:creationId xmlns:a16="http://schemas.microsoft.com/office/drawing/2014/main" id="{78E1BF3B-5898-4C22-941F-29BD248200E5}"/>
              </a:ext>
            </a:extLst>
          </p:cNvPr>
          <p:cNvSpPr>
            <a:spLocks noGrp="1"/>
          </p:cNvSpPr>
          <p:nvPr>
            <p:ph type="ftr" sz="quarter" idx="11"/>
          </p:nvPr>
        </p:nvSpPr>
        <p:spPr>
          <a:xfrm>
            <a:off x="4038600" y="6492240"/>
            <a:ext cx="4114800" cy="365125"/>
          </a:xfrm>
        </p:spPr>
        <p:txBody>
          <a:bodyPr vert="horz" lIns="91440" tIns="45720" rIns="91440" bIns="45720" rtlCol="0" anchor="ctr">
            <a:normAutofit/>
          </a:bodyPr>
          <a:lstStyle/>
          <a:p>
            <a:pPr defTabSz="914400"/>
            <a:endParaRPr lang="en-US" sz="1200" kern="1200">
              <a:solidFill>
                <a:schemeClr val="tx1">
                  <a:tint val="75000"/>
                </a:schemeClr>
              </a:solidFill>
              <a:latin typeface="+mn-lt"/>
              <a:ea typeface="+mn-ea"/>
              <a:cs typeface="+mn-cs"/>
            </a:endParaRPr>
          </a:p>
        </p:txBody>
      </p:sp>
      <p:sp>
        <p:nvSpPr>
          <p:cNvPr id="4" name="Espace réservé du numéro de diapositive 3">
            <a:extLst>
              <a:ext uri="{FF2B5EF4-FFF2-40B4-BE49-F238E27FC236}">
                <a16:creationId xmlns:a16="http://schemas.microsoft.com/office/drawing/2014/main" id="{D3E232BE-ABEA-4195-8633-7D2EB47BBCD2}"/>
              </a:ext>
            </a:extLst>
          </p:cNvPr>
          <p:cNvSpPr>
            <a:spLocks noGrp="1"/>
          </p:cNvSpPr>
          <p:nvPr>
            <p:ph type="sldNum" sz="quarter" idx="12"/>
          </p:nvPr>
        </p:nvSpPr>
        <p:spPr>
          <a:xfrm>
            <a:off x="8610600" y="6492240"/>
            <a:ext cx="2743200" cy="365125"/>
          </a:xfrm>
        </p:spPr>
        <p:txBody>
          <a:bodyPr vert="horz" lIns="91440" tIns="45720" rIns="91440" bIns="45720" rtlCol="0" anchor="ctr">
            <a:normAutofit/>
          </a:bodyPr>
          <a:lstStyle/>
          <a:p>
            <a:pPr defTabSz="914400">
              <a:spcAft>
                <a:spcPts val="600"/>
              </a:spcAft>
            </a:pPr>
            <a:fld id="{26377AD9-CE17-438C-A638-C64D2D42D7CF}" type="slidenum">
              <a:rPr lang="en-US" smtClean="0"/>
              <a:pPr defTabSz="914400">
                <a:spcAft>
                  <a:spcPts val="600"/>
                </a:spcAft>
              </a:pPr>
              <a:t>1</a:t>
            </a:fld>
            <a:endParaRPr lang="en-US"/>
          </a:p>
        </p:txBody>
      </p:sp>
    </p:spTree>
    <p:extLst>
      <p:ext uri="{BB962C8B-B14F-4D97-AF65-F5344CB8AC3E}">
        <p14:creationId xmlns:p14="http://schemas.microsoft.com/office/powerpoint/2010/main" val="4778594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3346177D-ADC4-4968-B747-5CFCD390B5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B2332205-BED8-485C-9ED3-26BABA1A22F4}"/>
              </a:ext>
            </a:extLst>
          </p:cNvPr>
          <p:cNvSpPr>
            <a:spLocks noGrp="1"/>
          </p:cNvSpPr>
          <p:nvPr>
            <p:ph type="title"/>
          </p:nvPr>
        </p:nvSpPr>
        <p:spPr>
          <a:xfrm>
            <a:off x="5596501" y="489508"/>
            <a:ext cx="5754896" cy="1667569"/>
          </a:xfrm>
        </p:spPr>
        <p:txBody>
          <a:bodyPr vert="horz" lIns="91440" tIns="45720" rIns="91440" bIns="45720" rtlCol="0" anchor="b">
            <a:normAutofit/>
          </a:bodyPr>
          <a:lstStyle/>
          <a:p>
            <a:r>
              <a:rPr lang="en-US" sz="2800" b="1" kern="1200">
                <a:solidFill>
                  <a:schemeClr val="tx1"/>
                </a:solidFill>
                <a:latin typeface="+mj-lt"/>
                <a:ea typeface="+mj-ea"/>
                <a:cs typeface="+mj-cs"/>
              </a:rPr>
              <a:t>EXEMPLE 1</a:t>
            </a:r>
            <a:r>
              <a:rPr lang="en-US" sz="2800" kern="1200">
                <a:solidFill>
                  <a:schemeClr val="tx1"/>
                </a:solidFill>
                <a:latin typeface="+mj-lt"/>
                <a:ea typeface="+mj-ea"/>
                <a:cs typeface="+mj-cs"/>
              </a:rPr>
              <a:t>: On a 12 composantes électriques, on veut en choisir 4 de combien de manières peut-on s’y prendre?</a:t>
            </a:r>
          </a:p>
        </p:txBody>
      </p:sp>
      <p:sp>
        <p:nvSpPr>
          <p:cNvPr id="3" name="Espace réservé du pied de page 2">
            <a:extLst>
              <a:ext uri="{FF2B5EF4-FFF2-40B4-BE49-F238E27FC236}">
                <a16:creationId xmlns:a16="http://schemas.microsoft.com/office/drawing/2014/main" id="{6AA96F55-9D17-4170-8E8A-98D54A2D94E5}"/>
              </a:ext>
            </a:extLst>
          </p:cNvPr>
          <p:cNvSpPr>
            <a:spLocks noGrp="1"/>
          </p:cNvSpPr>
          <p:nvPr>
            <p:ph type="ftr" sz="quarter" idx="11"/>
          </p:nvPr>
        </p:nvSpPr>
        <p:spPr>
          <a:xfrm rot="5400000">
            <a:off x="-1828800" y="2002536"/>
            <a:ext cx="4114800" cy="365125"/>
          </a:xfrm>
        </p:spPr>
        <p:txBody>
          <a:bodyPr vert="horz" lIns="91440" tIns="45720" rIns="91440" bIns="45720" rtlCol="0" anchor="ctr">
            <a:normAutofit/>
          </a:bodyPr>
          <a:lstStyle/>
          <a:p>
            <a:pPr algn="l" defTabSz="914400"/>
            <a:endParaRPr lang="en-US" sz="1100" kern="1200">
              <a:solidFill>
                <a:schemeClr val="tx1">
                  <a:lumMod val="50000"/>
                  <a:lumOff val="50000"/>
                </a:schemeClr>
              </a:solidFill>
              <a:latin typeface="+mn-lt"/>
              <a:ea typeface="+mn-ea"/>
              <a:cs typeface="+mn-cs"/>
            </a:endParaRPr>
          </a:p>
        </p:txBody>
      </p:sp>
      <p:pic>
        <p:nvPicPr>
          <p:cNvPr id="9" name="Graphic 8" descr="Coche">
            <a:extLst>
              <a:ext uri="{FF2B5EF4-FFF2-40B4-BE49-F238E27FC236}">
                <a16:creationId xmlns:a16="http://schemas.microsoft.com/office/drawing/2014/main" id="{930DEA8E-C0C2-4669-BB37-AA230954D83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8130" y="1275070"/>
            <a:ext cx="3876165" cy="3876165"/>
          </a:xfrm>
          <a:prstGeom prst="rect">
            <a:avLst/>
          </a:prstGeom>
        </p:spPr>
      </p:pic>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B68C9196-CDB0-4D9B-84C3-D966F75B0A36}"/>
                  </a:ext>
                </a:extLst>
              </p:cNvPr>
              <p:cNvSpPr txBox="1"/>
              <p:nvPr/>
            </p:nvSpPr>
            <p:spPr>
              <a:xfrm>
                <a:off x="5596502" y="2405894"/>
                <a:ext cx="5754896" cy="3197464"/>
              </a:xfrm>
              <a:prstGeom prst="rect">
                <a:avLst/>
              </a:prstGeom>
            </p:spPr>
            <p:txBody>
              <a:bodyPr vert="horz" lIns="91440" tIns="45720" rIns="91440" bIns="45720" rtlCol="0" anchor="t">
                <a:normAutofit/>
              </a:bodyPr>
              <a:lstStyle/>
              <a:p>
                <a:pPr indent="-228600" defTabSz="914400">
                  <a:lnSpc>
                    <a:spcPct val="90000"/>
                  </a:lnSpc>
                  <a:spcAft>
                    <a:spcPts val="600"/>
                  </a:spcAft>
                  <a:buFont typeface="Arial" panose="020B0604020202020204" pitchFamily="34" charset="0"/>
                  <a:buChar char="•"/>
                </a:pPr>
                <a:r>
                  <a:rPr lang="en-US" sz="2000" b="1"/>
                  <a:t>Réponse:</a:t>
                </a:r>
                <a:r>
                  <a:rPr lang="en-US" sz="2000"/>
                  <a:t> On peut faire ce choix de </a:t>
                </a:r>
                <a14:m>
                  <m:oMath xmlns:m="http://schemas.openxmlformats.org/officeDocument/2006/math">
                    <m:d>
                      <m:dPr>
                        <m:ctrlPr>
                          <a:rPr lang="en-US" sz="2000" i="1">
                            <a:latin typeface="Cambria Math" panose="02040503050406030204" pitchFamily="18" charset="0"/>
                          </a:rPr>
                        </m:ctrlPr>
                      </m:dPr>
                      <m:e>
                        <m:eqArr>
                          <m:eqArrPr>
                            <m:ctrlPr>
                              <a:rPr lang="en-US" sz="2000" b="0" i="1">
                                <a:latin typeface="Cambria Math" panose="02040503050406030204" pitchFamily="18" charset="0"/>
                              </a:rPr>
                            </m:ctrlPr>
                          </m:eqArrPr>
                          <m:e>
                            <m:r>
                              <a:rPr lang="en-US" sz="2000" b="0" i="1">
                                <a:latin typeface="Cambria Math" panose="02040503050406030204" pitchFamily="18" charset="0"/>
                              </a:rPr>
                              <m:t>12</m:t>
                            </m:r>
                          </m:e>
                          <m:e>
                            <m:r>
                              <a:rPr lang="en-US" sz="2000" b="0" i="1">
                                <a:latin typeface="Cambria Math" panose="02040503050406030204" pitchFamily="18" charset="0"/>
                              </a:rPr>
                              <m:t>4</m:t>
                            </m:r>
                          </m:e>
                        </m:eqArr>
                      </m:e>
                    </m:d>
                    <m:r>
                      <a:rPr lang="en-US" sz="2000" b="0" i="1">
                        <a:latin typeface="Cambria Math" panose="02040503050406030204" pitchFamily="18" charset="0"/>
                      </a:rPr>
                      <m:t>=</m:t>
                    </m:r>
                    <m:f>
                      <m:fPr>
                        <m:ctrlPr>
                          <a:rPr lang="en-US" sz="2000" b="0" i="1">
                            <a:latin typeface="Cambria Math" panose="02040503050406030204" pitchFamily="18" charset="0"/>
                          </a:rPr>
                        </m:ctrlPr>
                      </m:fPr>
                      <m:num>
                        <m:r>
                          <a:rPr lang="en-US" sz="2000" b="0" i="1">
                            <a:latin typeface="Cambria Math" panose="02040503050406030204" pitchFamily="18" charset="0"/>
                          </a:rPr>
                          <m:t>12!</m:t>
                        </m:r>
                      </m:num>
                      <m:den>
                        <m:r>
                          <a:rPr lang="en-US" sz="2000" b="0" i="1">
                            <a:latin typeface="Cambria Math" panose="02040503050406030204" pitchFamily="18" charset="0"/>
                          </a:rPr>
                          <m:t>4!8!</m:t>
                        </m:r>
                      </m:den>
                    </m:f>
                    <m:r>
                      <a:rPr lang="en-US" sz="2000" b="0" i="1">
                        <a:latin typeface="Cambria Math" panose="02040503050406030204" pitchFamily="18" charset="0"/>
                      </a:rPr>
                      <m:t>=495</m:t>
                    </m:r>
                  </m:oMath>
                </a14:m>
                <a:r>
                  <a:rPr lang="en-US" sz="2000"/>
                  <a:t> choix possibles  (combinaisons possibles)</a:t>
                </a:r>
              </a:p>
              <a:p>
                <a:pPr indent="-228600" defTabSz="914400">
                  <a:lnSpc>
                    <a:spcPct val="90000"/>
                  </a:lnSpc>
                  <a:spcAft>
                    <a:spcPts val="600"/>
                  </a:spcAft>
                  <a:buFont typeface="Arial" panose="020B0604020202020204" pitchFamily="34" charset="0"/>
                  <a:buChar char="•"/>
                </a:pPr>
                <a:endParaRPr lang="en-US" sz="2000"/>
              </a:p>
              <a:p>
                <a:pPr indent="-228600" defTabSz="914400">
                  <a:lnSpc>
                    <a:spcPct val="90000"/>
                  </a:lnSpc>
                  <a:spcAft>
                    <a:spcPts val="600"/>
                  </a:spcAft>
                  <a:buFont typeface="Arial" panose="020B0604020202020204" pitchFamily="34" charset="0"/>
                  <a:buChar char="•"/>
                </a:pPr>
                <a:endParaRPr lang="en-US" sz="2000"/>
              </a:p>
            </p:txBody>
          </p:sp>
        </mc:Choice>
        <mc:Fallback xmlns="">
          <p:sp>
            <p:nvSpPr>
              <p:cNvPr id="5" name="ZoneTexte 4">
                <a:extLst>
                  <a:ext uri="{FF2B5EF4-FFF2-40B4-BE49-F238E27FC236}">
                    <a16:creationId xmlns:a16="http://schemas.microsoft.com/office/drawing/2014/main" id="{B68C9196-CDB0-4D9B-84C3-D966F75B0A36}"/>
                  </a:ext>
                </a:extLst>
              </p:cNvPr>
              <p:cNvSpPr txBox="1">
                <a:spLocks noRot="1" noChangeAspect="1" noMove="1" noResize="1" noEditPoints="1" noAdjustHandles="1" noChangeArrowheads="1" noChangeShapeType="1" noTextEdit="1"/>
              </p:cNvSpPr>
              <p:nvPr/>
            </p:nvSpPr>
            <p:spPr>
              <a:xfrm>
                <a:off x="5596502" y="2405894"/>
                <a:ext cx="5754896" cy="3197464"/>
              </a:xfrm>
              <a:prstGeom prst="rect">
                <a:avLst/>
              </a:prstGeom>
              <a:blipFill>
                <a:blip r:embed="rId4"/>
                <a:stretch>
                  <a:fillRect l="-953"/>
                </a:stretch>
              </a:blipFill>
            </p:spPr>
            <p:txBody>
              <a:bodyPr/>
              <a:lstStyle/>
              <a:p>
                <a:r>
                  <a:rPr lang="fr-CA">
                    <a:noFill/>
                  </a:rPr>
                  <a:t> </a:t>
                </a:r>
              </a:p>
            </p:txBody>
          </p:sp>
        </mc:Fallback>
      </mc:AlternateContent>
      <p:sp>
        <p:nvSpPr>
          <p:cNvPr id="16" name="Rectangle 15">
            <a:extLst>
              <a:ext uri="{FF2B5EF4-FFF2-40B4-BE49-F238E27FC236}">
                <a16:creationId xmlns:a16="http://schemas.microsoft.com/office/drawing/2014/main" id="{0844A943-BF79-4FEA-ABB1-3BD54D2366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90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6437CC72-F4A8-4DC3-AFAB-D22C482C81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50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Espace réservé du numéro de diapositive 3">
            <a:extLst>
              <a:ext uri="{FF2B5EF4-FFF2-40B4-BE49-F238E27FC236}">
                <a16:creationId xmlns:a16="http://schemas.microsoft.com/office/drawing/2014/main" id="{28BA2FFB-61D1-4621-835E-1E5C58982955}"/>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00">
              <a:spcAft>
                <a:spcPts val="600"/>
              </a:spcAft>
            </a:pPr>
            <a:fld id="{26377AD9-CE17-438C-A638-C64D2D42D7CF}" type="slidenum">
              <a:rPr lang="en-US" sz="1100">
                <a:solidFill>
                  <a:srgbClr val="FFFFFF"/>
                </a:solidFill>
              </a:rPr>
              <a:pPr defTabSz="914400">
                <a:spcAft>
                  <a:spcPts val="600"/>
                </a:spcAft>
              </a:pPr>
              <a:t>2</a:t>
            </a:fld>
            <a:endParaRPr lang="en-US" sz="1100">
              <a:solidFill>
                <a:srgbClr val="FFFFFF"/>
              </a:solidFill>
            </a:endParaRPr>
          </a:p>
        </p:txBody>
      </p:sp>
    </p:spTree>
    <p:extLst>
      <p:ext uri="{BB962C8B-B14F-4D97-AF65-F5344CB8AC3E}">
        <p14:creationId xmlns:p14="http://schemas.microsoft.com/office/powerpoint/2010/main" val="15354246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5E372263-C0C3-4367-98E4-D00B1FE1335B}"/>
              </a:ext>
            </a:extLst>
          </p:cNvPr>
          <p:cNvSpPr>
            <a:spLocks noGrp="1"/>
          </p:cNvSpPr>
          <p:nvPr>
            <p:ph type="title"/>
          </p:nvPr>
        </p:nvSpPr>
        <p:spPr>
          <a:xfrm>
            <a:off x="826396" y="586855"/>
            <a:ext cx="4230100" cy="3387497"/>
          </a:xfrm>
        </p:spPr>
        <p:txBody>
          <a:bodyPr vert="horz" lIns="91440" tIns="45720" rIns="91440" bIns="45720" rtlCol="0" anchor="b">
            <a:normAutofit/>
          </a:bodyPr>
          <a:lstStyle/>
          <a:p>
            <a:pPr marL="228600" indent="-228600" algn="r">
              <a:spcAft>
                <a:spcPts val="300"/>
              </a:spcAft>
              <a:tabLst>
                <a:tab pos="152400" algn="r"/>
                <a:tab pos="449580" algn="l"/>
              </a:tabLst>
            </a:pPr>
            <a:r>
              <a:rPr lang="en-US" sz="1600" kern="1200">
                <a:solidFill>
                  <a:srgbClr val="FFFFFF"/>
                </a:solidFill>
                <a:latin typeface="+mj-lt"/>
                <a:ea typeface="+mj-ea"/>
                <a:cs typeface="+mj-cs"/>
              </a:rPr>
              <a:t>EXEMPLE 2: </a:t>
            </a:r>
            <a:r>
              <a:rPr lang="en-US" sz="1600" kern="1200">
                <a:solidFill>
                  <a:srgbClr val="FFFFFF"/>
                </a:solidFill>
                <a:effectLst/>
                <a:latin typeface="+mj-lt"/>
                <a:ea typeface="+mj-ea"/>
                <a:cs typeface="+mj-cs"/>
              </a:rPr>
              <a:t>Marie a 15 copines. Elle décide d’en inviter 10 à son anniversaire.</a:t>
            </a:r>
            <a:br>
              <a:rPr lang="en-US" sz="1600" kern="1200">
                <a:solidFill>
                  <a:srgbClr val="FFFFFF"/>
                </a:solidFill>
                <a:effectLst/>
                <a:latin typeface="+mj-lt"/>
                <a:ea typeface="+mj-ea"/>
                <a:cs typeface="+mj-cs"/>
              </a:rPr>
            </a:br>
            <a:r>
              <a:rPr lang="en-US" sz="1600" kern="1200">
                <a:solidFill>
                  <a:srgbClr val="FFFFFF"/>
                </a:solidFill>
                <a:effectLst/>
                <a:latin typeface="+mj-lt"/>
                <a:ea typeface="+mj-ea"/>
                <a:cs typeface="+mj-cs"/>
              </a:rPr>
              <a:t>a)	De combien de façons peut-elle faire ses invitations ?</a:t>
            </a:r>
            <a:br>
              <a:rPr lang="en-US" sz="1600" kern="1200">
                <a:solidFill>
                  <a:srgbClr val="FFFFFF"/>
                </a:solidFill>
                <a:effectLst/>
                <a:latin typeface="+mj-lt"/>
                <a:ea typeface="+mj-ea"/>
                <a:cs typeface="+mj-cs"/>
              </a:rPr>
            </a:br>
            <a:r>
              <a:rPr lang="en-US" sz="1600" kern="1200">
                <a:solidFill>
                  <a:srgbClr val="FFFFFF"/>
                </a:solidFill>
                <a:effectLst/>
                <a:latin typeface="+mj-lt"/>
                <a:ea typeface="+mj-ea"/>
                <a:cs typeface="+mj-cs"/>
              </a:rPr>
              <a:t>b)	Si deux de ses copines sont de très bonnes amies et que Marie ne peut pas les inviter l’une sans l’autre, de combien de façons peut-elle faire ses invitations ?</a:t>
            </a:r>
            <a:br>
              <a:rPr lang="en-US" sz="1600" kern="1200">
                <a:solidFill>
                  <a:srgbClr val="FFFFFF"/>
                </a:solidFill>
                <a:effectLst/>
                <a:latin typeface="+mj-lt"/>
                <a:ea typeface="+mj-ea"/>
                <a:cs typeface="+mj-cs"/>
              </a:rPr>
            </a:br>
            <a:r>
              <a:rPr lang="en-US" sz="1600" kern="1200">
                <a:solidFill>
                  <a:srgbClr val="FFFFFF"/>
                </a:solidFill>
                <a:effectLst/>
                <a:latin typeface="+mj-lt"/>
                <a:ea typeface="+mj-ea"/>
                <a:cs typeface="+mj-cs"/>
              </a:rPr>
              <a:t>c)	Si deux de ses copines ne s’entendent pas du tout et que Marie ne peut donc pas les inviter ensemble, de combien de façons peut-elle faire ses invitations ?</a:t>
            </a:r>
            <a:endParaRPr lang="en-US" sz="1600" kern="1200">
              <a:solidFill>
                <a:srgbClr val="FFFFFF"/>
              </a:solidFill>
              <a:latin typeface="+mj-lt"/>
              <a:ea typeface="+mj-ea"/>
              <a:cs typeface="+mj-cs"/>
            </a:endParaRPr>
          </a:p>
        </p:txBody>
      </p:sp>
      <p:sp>
        <p:nvSpPr>
          <p:cNvPr id="3" name="Espace réservé du pied de page 2">
            <a:extLst>
              <a:ext uri="{FF2B5EF4-FFF2-40B4-BE49-F238E27FC236}">
                <a16:creationId xmlns:a16="http://schemas.microsoft.com/office/drawing/2014/main" id="{55975E44-0E92-4893-B651-C1AC16372796}"/>
              </a:ext>
            </a:extLst>
          </p:cNvPr>
          <p:cNvSpPr>
            <a:spLocks noGrp="1"/>
          </p:cNvSpPr>
          <p:nvPr>
            <p:ph type="ftr" sz="quarter" idx="11"/>
          </p:nvPr>
        </p:nvSpPr>
        <p:spPr>
          <a:xfrm rot="5400000">
            <a:off x="-1828800" y="1984248"/>
            <a:ext cx="4114800" cy="365125"/>
          </a:xfrm>
        </p:spPr>
        <p:txBody>
          <a:bodyPr vert="horz" lIns="91440" tIns="45720" rIns="91440" bIns="45720" rtlCol="0" anchor="ctr">
            <a:normAutofit/>
          </a:bodyPr>
          <a:lstStyle/>
          <a:p>
            <a:pPr algn="l" defTabSz="914400"/>
            <a:endParaRPr lang="en-US" sz="1100" kern="1200">
              <a:solidFill>
                <a:srgbClr val="FFFFFF"/>
              </a:solidFill>
              <a:latin typeface="+mn-lt"/>
              <a:ea typeface="+mn-ea"/>
              <a:cs typeface="+mn-cs"/>
            </a:endParaRPr>
          </a:p>
        </p:txBody>
      </p:sp>
      <mc:AlternateContent xmlns:mc="http://schemas.openxmlformats.org/markup-compatibility/2006" xmlns:a14="http://schemas.microsoft.com/office/drawing/2010/main">
        <mc:Choice Requires="a14">
          <p:sp>
            <p:nvSpPr>
              <p:cNvPr id="8" name="ZoneTexte 7">
                <a:extLst>
                  <a:ext uri="{FF2B5EF4-FFF2-40B4-BE49-F238E27FC236}">
                    <a16:creationId xmlns:a16="http://schemas.microsoft.com/office/drawing/2014/main" id="{AD41FE69-97FE-4EBD-9C85-33D3C82DC2B6}"/>
                  </a:ext>
                </a:extLst>
              </p:cNvPr>
              <p:cNvSpPr txBox="1"/>
              <p:nvPr/>
            </p:nvSpPr>
            <p:spPr>
              <a:xfrm>
                <a:off x="6503158" y="649480"/>
                <a:ext cx="4862447" cy="5546047"/>
              </a:xfrm>
              <a:prstGeom prst="rect">
                <a:avLst/>
              </a:prstGeom>
            </p:spPr>
            <p:txBody>
              <a:bodyPr vert="horz" lIns="91440" tIns="45720" rIns="91440" bIns="45720" rtlCol="0" anchor="ctr">
                <a:normAutofit/>
              </a:bodyPr>
              <a:lstStyle/>
              <a:p>
                <a:pPr indent="-228600" defTabSz="914400">
                  <a:lnSpc>
                    <a:spcPct val="90000"/>
                  </a:lnSpc>
                  <a:spcAft>
                    <a:spcPts val="600"/>
                  </a:spcAft>
                  <a:buFont typeface="Arial" panose="020B0604020202020204" pitchFamily="34" charset="0"/>
                  <a:buChar char="•"/>
                </a:pPr>
                <a:r>
                  <a:rPr lang="en-US" sz="1700" b="1" dirty="0" err="1"/>
                  <a:t>Réponse</a:t>
                </a:r>
                <a:r>
                  <a:rPr lang="en-US" sz="1700" b="1" dirty="0"/>
                  <a:t>:</a:t>
                </a:r>
              </a:p>
              <a:p>
                <a:pPr marL="114300" indent="-228600" defTabSz="914400">
                  <a:lnSpc>
                    <a:spcPct val="90000"/>
                  </a:lnSpc>
                  <a:spcAft>
                    <a:spcPts val="600"/>
                  </a:spcAft>
                  <a:buFont typeface="Arial" panose="020B0604020202020204" pitchFamily="34" charset="0"/>
                  <a:buChar char="•"/>
                </a:pPr>
                <a:r>
                  <a:rPr lang="en-US" sz="1700" b="0" dirty="0"/>
                  <a:t>a)  </a:t>
                </a:r>
                <a14:m>
                  <m:oMath xmlns:m="http://schemas.openxmlformats.org/officeDocument/2006/math">
                    <m:r>
                      <a:rPr lang="en-US" sz="1700" b="0" i="1">
                        <a:latin typeface="Cambria Math" panose="02040503050406030204" pitchFamily="18" charset="0"/>
                      </a:rPr>
                      <m:t>𝑁</m:t>
                    </m:r>
                    <m:d>
                      <m:dPr>
                        <m:ctrlPr>
                          <a:rPr lang="en-US" sz="1700" b="0" i="1">
                            <a:latin typeface="Cambria Math" panose="02040503050406030204" pitchFamily="18" charset="0"/>
                          </a:rPr>
                        </m:ctrlPr>
                      </m:dPr>
                      <m:e>
                        <m:r>
                          <a:rPr lang="en-US" sz="1700" b="0" i="1">
                            <a:latin typeface="Cambria Math" panose="02040503050406030204" pitchFamily="18" charset="0"/>
                          </a:rPr>
                          <m:t>𝑆</m:t>
                        </m:r>
                      </m:e>
                    </m:d>
                    <m:r>
                      <a:rPr lang="en-US" sz="1700" b="0" i="1">
                        <a:latin typeface="Cambria Math" panose="02040503050406030204" pitchFamily="18" charset="0"/>
                      </a:rPr>
                      <m:t>=</m:t>
                    </m:r>
                    <m:d>
                      <m:dPr>
                        <m:ctrlPr>
                          <a:rPr lang="en-US" sz="1700" b="0" i="1">
                            <a:latin typeface="Cambria Math" panose="02040503050406030204" pitchFamily="18" charset="0"/>
                          </a:rPr>
                        </m:ctrlPr>
                      </m:dPr>
                      <m:e>
                        <m:eqArr>
                          <m:eqArrPr>
                            <m:ctrlPr>
                              <a:rPr lang="en-US" sz="1700" b="0" i="1">
                                <a:latin typeface="Cambria Math" panose="02040503050406030204" pitchFamily="18" charset="0"/>
                              </a:rPr>
                            </m:ctrlPr>
                          </m:eqArrPr>
                          <m:e>
                            <m:r>
                              <a:rPr lang="en-US" sz="1700" b="0" i="1">
                                <a:latin typeface="Cambria Math" panose="02040503050406030204" pitchFamily="18" charset="0"/>
                              </a:rPr>
                              <m:t>15</m:t>
                            </m:r>
                          </m:e>
                          <m:e>
                            <m:r>
                              <a:rPr lang="en-US" sz="1700" b="0" i="1">
                                <a:latin typeface="Cambria Math" panose="02040503050406030204" pitchFamily="18" charset="0"/>
                              </a:rPr>
                              <m:t>10</m:t>
                            </m:r>
                          </m:e>
                        </m:eqArr>
                      </m:e>
                    </m:d>
                    <m:r>
                      <a:rPr lang="en-US" sz="1700" b="0" i="1">
                        <a:latin typeface="Cambria Math" panose="02040503050406030204" pitchFamily="18" charset="0"/>
                      </a:rPr>
                      <m:t>=3003 </m:t>
                    </m:r>
                    <m:r>
                      <a:rPr lang="en-US" sz="1700" b="0" i="1">
                        <a:latin typeface="Cambria Math" panose="02040503050406030204" pitchFamily="18" charset="0"/>
                      </a:rPr>
                      <m:t>𝑐𝑜𝑚𝑏𝑖𝑛𝑎𝑖𝑠𝑜𝑛𝑠</m:t>
                    </m:r>
                    <m:r>
                      <a:rPr lang="en-US" sz="1700" b="0" i="1">
                        <a:latin typeface="Cambria Math" panose="02040503050406030204" pitchFamily="18" charset="0"/>
                      </a:rPr>
                      <m:t> </m:t>
                    </m:r>
                    <m:r>
                      <a:rPr lang="en-US" sz="1700" b="0" i="1">
                        <a:latin typeface="Cambria Math" panose="02040503050406030204" pitchFamily="18" charset="0"/>
                      </a:rPr>
                      <m:t>𝑝𝑜𝑠𝑠𝑖𝑏𝑙𝑒𝑠</m:t>
                    </m:r>
                    <m:r>
                      <a:rPr lang="en-US" sz="1700" b="0" i="1">
                        <a:latin typeface="Cambria Math" panose="02040503050406030204" pitchFamily="18" charset="0"/>
                      </a:rPr>
                      <m:t>.</m:t>
                    </m:r>
                  </m:oMath>
                </a14:m>
                <a:endParaRPr lang="en-US" sz="1700" dirty="0"/>
              </a:p>
              <a:p>
                <a:pPr marL="114300" indent="-228600" defTabSz="914400">
                  <a:lnSpc>
                    <a:spcPct val="90000"/>
                  </a:lnSpc>
                  <a:spcAft>
                    <a:spcPts val="600"/>
                  </a:spcAft>
                  <a:buFont typeface="Arial" panose="020B0604020202020204" pitchFamily="34" charset="0"/>
                  <a:buChar char="•"/>
                </a:pPr>
                <a:r>
                  <a:rPr lang="en-US" sz="1700" dirty="0">
                    <a:effectLst/>
                  </a:rPr>
                  <a:t>b) </a:t>
                </a:r>
                <a:r>
                  <a:rPr lang="en-US" sz="1700" dirty="0" err="1">
                    <a:effectLst/>
                  </a:rPr>
                  <a:t>Soit</a:t>
                </a:r>
                <a:r>
                  <a:rPr lang="en-US" sz="1700" dirty="0">
                    <a:effectLst/>
                  </a:rPr>
                  <a:t> </a:t>
                </a:r>
                <a:r>
                  <a:rPr lang="en-US" sz="1700" dirty="0" err="1">
                    <a:effectLst/>
                  </a:rPr>
                  <a:t>elle</a:t>
                </a:r>
                <a:r>
                  <a:rPr lang="en-US" sz="1700" dirty="0">
                    <a:effectLst/>
                  </a:rPr>
                  <a:t> les invite </a:t>
                </a:r>
                <a:r>
                  <a:rPr lang="en-US" sz="1700" dirty="0" err="1">
                    <a:effectLst/>
                  </a:rPr>
                  <a:t>toutes</a:t>
                </a:r>
                <a:r>
                  <a:rPr lang="en-US" sz="1700" dirty="0">
                    <a:effectLst/>
                  </a:rPr>
                  <a:t> les deux, </a:t>
                </a:r>
                <a:r>
                  <a:rPr lang="en-US" sz="1700" dirty="0" err="1">
                    <a:effectLst/>
                  </a:rPr>
                  <a:t>cela</a:t>
                </a:r>
                <a:r>
                  <a:rPr lang="en-US" sz="1700" dirty="0">
                    <a:effectLst/>
                  </a:rPr>
                  <a:t> </a:t>
                </a:r>
                <a:r>
                  <a:rPr lang="en-US" sz="1700" dirty="0" err="1">
                    <a:effectLst/>
                  </a:rPr>
                  <a:t>pouvant</a:t>
                </a:r>
                <a:r>
                  <a:rPr lang="en-US" sz="1700" dirty="0">
                    <a:effectLst/>
                  </a:rPr>
                  <a:t> se faire de </a:t>
                </a:r>
                <a14:m>
                  <m:oMath xmlns:m="http://schemas.openxmlformats.org/officeDocument/2006/math">
                    <m:d>
                      <m:dPr>
                        <m:ctrlPr>
                          <a:rPr lang="en-US" sz="1700" i="1">
                            <a:effectLst/>
                            <a:latin typeface="Cambria Math" panose="02040503050406030204" pitchFamily="18" charset="0"/>
                          </a:rPr>
                        </m:ctrlPr>
                      </m:dPr>
                      <m:e>
                        <m:eqArr>
                          <m:eqArrPr>
                            <m:ctrlPr>
                              <a:rPr lang="en-US" sz="1700" b="0" i="1">
                                <a:effectLst/>
                                <a:latin typeface="Cambria Math" panose="02040503050406030204" pitchFamily="18" charset="0"/>
                              </a:rPr>
                            </m:ctrlPr>
                          </m:eqArrPr>
                          <m:e>
                            <m:r>
                              <a:rPr lang="en-US" sz="1700" b="0" i="1">
                                <a:effectLst/>
                                <a:latin typeface="Cambria Math" panose="02040503050406030204" pitchFamily="18" charset="0"/>
                              </a:rPr>
                              <m:t>2</m:t>
                            </m:r>
                          </m:e>
                          <m:e>
                            <m:r>
                              <a:rPr lang="en-US" sz="1700" b="0" i="1">
                                <a:effectLst/>
                                <a:latin typeface="Cambria Math" panose="02040503050406030204" pitchFamily="18" charset="0"/>
                              </a:rPr>
                              <m:t>2</m:t>
                            </m:r>
                          </m:e>
                        </m:eqArr>
                      </m:e>
                    </m:d>
                    <m:d>
                      <m:dPr>
                        <m:ctrlPr>
                          <a:rPr lang="en-US" sz="1700" i="1">
                            <a:effectLst/>
                            <a:latin typeface="Cambria Math" panose="02040503050406030204" pitchFamily="18" charset="0"/>
                          </a:rPr>
                        </m:ctrlPr>
                      </m:dPr>
                      <m:e>
                        <m:eqArr>
                          <m:eqArrPr>
                            <m:ctrlPr>
                              <a:rPr lang="en-US" sz="1700" b="0" i="1">
                                <a:effectLst/>
                                <a:latin typeface="Cambria Math" panose="02040503050406030204" pitchFamily="18" charset="0"/>
                              </a:rPr>
                            </m:ctrlPr>
                          </m:eqArrPr>
                          <m:e>
                            <m:r>
                              <a:rPr lang="en-US" sz="1700" b="0" i="1">
                                <a:effectLst/>
                                <a:latin typeface="Cambria Math" panose="02040503050406030204" pitchFamily="18" charset="0"/>
                              </a:rPr>
                              <m:t>13</m:t>
                            </m:r>
                          </m:e>
                          <m:e>
                            <m:r>
                              <a:rPr lang="en-US" sz="1700" b="0" i="1">
                                <a:effectLst/>
                                <a:latin typeface="Cambria Math" panose="02040503050406030204" pitchFamily="18" charset="0"/>
                              </a:rPr>
                              <m:t>8</m:t>
                            </m:r>
                          </m:e>
                        </m:eqArr>
                      </m:e>
                    </m:d>
                    <m:r>
                      <a:rPr lang="en-US" sz="1700" b="0" i="1">
                        <a:effectLst/>
                        <a:latin typeface="Cambria Math" panose="02040503050406030204" pitchFamily="18" charset="0"/>
                      </a:rPr>
                      <m:t>=1287</m:t>
                    </m:r>
                  </m:oMath>
                </a14:m>
                <a:endParaRPr lang="en-US" sz="1700" dirty="0"/>
              </a:p>
              <a:p>
                <a:pPr indent="-228600" defTabSz="914400">
                  <a:lnSpc>
                    <a:spcPct val="90000"/>
                  </a:lnSpc>
                  <a:spcAft>
                    <a:spcPts val="600"/>
                  </a:spcAft>
                  <a:buFont typeface="Arial" panose="020B0604020202020204" pitchFamily="34" charset="0"/>
                  <a:buChar char="•"/>
                </a:pPr>
                <a:r>
                  <a:rPr lang="en-US" sz="1700" dirty="0"/>
                  <a:t>   </a:t>
                </a:r>
                <a:r>
                  <a:rPr lang="en-US" sz="1700" dirty="0" err="1">
                    <a:effectLst/>
                  </a:rPr>
                  <a:t>Soit</a:t>
                </a:r>
                <a:r>
                  <a:rPr lang="en-US" sz="1700" dirty="0">
                    <a:effectLst/>
                  </a:rPr>
                  <a:t> </a:t>
                </a:r>
                <a:r>
                  <a:rPr lang="en-US" sz="1700" dirty="0" err="1">
                    <a:effectLst/>
                  </a:rPr>
                  <a:t>elle</a:t>
                </a:r>
                <a:r>
                  <a:rPr lang="en-US" sz="1700" dirty="0">
                    <a:effectLst/>
                  </a:rPr>
                  <a:t> </a:t>
                </a:r>
                <a:r>
                  <a:rPr lang="en-US" sz="1700" dirty="0" err="1">
                    <a:effectLst/>
                  </a:rPr>
                  <a:t>n’invite</a:t>
                </a:r>
                <a:r>
                  <a:rPr lang="en-US" sz="1700" dirty="0">
                    <a:effectLst/>
                  </a:rPr>
                  <a:t> </a:t>
                </a:r>
                <a:r>
                  <a:rPr lang="en-US" sz="1700" dirty="0" err="1">
                    <a:effectLst/>
                  </a:rPr>
                  <a:t>aucune</a:t>
                </a:r>
                <a:r>
                  <a:rPr lang="en-US" sz="1700" dirty="0">
                    <a:effectLst/>
                  </a:rPr>
                  <a:t> </a:t>
                </a:r>
                <a:r>
                  <a:rPr lang="en-US" sz="1700" dirty="0" err="1">
                    <a:effectLst/>
                  </a:rPr>
                  <a:t>d’elles</a:t>
                </a:r>
                <a:r>
                  <a:rPr lang="en-US" sz="1700" dirty="0">
                    <a:effectLst/>
                  </a:rPr>
                  <a:t>, </a:t>
                </a:r>
                <a:r>
                  <a:rPr lang="en-US" sz="1700" dirty="0" err="1">
                    <a:effectLst/>
                  </a:rPr>
                  <a:t>cela</a:t>
                </a:r>
                <a:r>
                  <a:rPr lang="en-US" sz="1700" dirty="0">
                    <a:effectLst/>
                  </a:rPr>
                  <a:t> </a:t>
                </a:r>
                <a:r>
                  <a:rPr lang="en-US" sz="1700" dirty="0" err="1">
                    <a:effectLst/>
                  </a:rPr>
                  <a:t>pouvant</a:t>
                </a:r>
                <a:r>
                  <a:rPr lang="en-US" sz="1700" dirty="0">
                    <a:effectLst/>
                  </a:rPr>
                  <a:t> se faire de    </a:t>
                </a:r>
                <a14:m>
                  <m:oMath xmlns:m="http://schemas.openxmlformats.org/officeDocument/2006/math">
                    <m:d>
                      <m:dPr>
                        <m:ctrlPr>
                          <a:rPr lang="en-US" sz="1700" i="1">
                            <a:effectLst/>
                            <a:latin typeface="Cambria Math" panose="02040503050406030204" pitchFamily="18" charset="0"/>
                          </a:rPr>
                        </m:ctrlPr>
                      </m:dPr>
                      <m:e>
                        <m:eqArr>
                          <m:eqArrPr>
                            <m:ctrlPr>
                              <a:rPr lang="en-US" sz="1700" b="0" i="1">
                                <a:effectLst/>
                                <a:latin typeface="Cambria Math" panose="02040503050406030204" pitchFamily="18" charset="0"/>
                              </a:rPr>
                            </m:ctrlPr>
                          </m:eqArrPr>
                          <m:e>
                            <m:r>
                              <a:rPr lang="en-US" sz="1700" b="0" i="1">
                                <a:effectLst/>
                                <a:latin typeface="Cambria Math" panose="02040503050406030204" pitchFamily="18" charset="0"/>
                              </a:rPr>
                              <m:t>2</m:t>
                            </m:r>
                          </m:e>
                          <m:e>
                            <m:r>
                              <a:rPr lang="en-US" sz="1700" b="0" i="1">
                                <a:effectLst/>
                                <a:latin typeface="Cambria Math" panose="02040503050406030204" pitchFamily="18" charset="0"/>
                              </a:rPr>
                              <m:t>0</m:t>
                            </m:r>
                          </m:e>
                        </m:eqArr>
                      </m:e>
                    </m:d>
                    <m:d>
                      <m:dPr>
                        <m:ctrlPr>
                          <a:rPr lang="en-US" sz="1700" i="1">
                            <a:effectLst/>
                            <a:latin typeface="Cambria Math" panose="02040503050406030204" pitchFamily="18" charset="0"/>
                          </a:rPr>
                        </m:ctrlPr>
                      </m:dPr>
                      <m:e>
                        <m:eqArr>
                          <m:eqArrPr>
                            <m:ctrlPr>
                              <a:rPr lang="en-US" sz="1700" b="0" i="1">
                                <a:effectLst/>
                                <a:latin typeface="Cambria Math" panose="02040503050406030204" pitchFamily="18" charset="0"/>
                              </a:rPr>
                            </m:ctrlPr>
                          </m:eqArrPr>
                          <m:e>
                            <m:r>
                              <a:rPr lang="en-US" sz="1700" b="0" i="1">
                                <a:effectLst/>
                                <a:latin typeface="Cambria Math" panose="02040503050406030204" pitchFamily="18" charset="0"/>
                              </a:rPr>
                              <m:t>13</m:t>
                            </m:r>
                          </m:e>
                          <m:e>
                            <m:r>
                              <a:rPr lang="en-US" sz="1700" b="0" i="1">
                                <a:effectLst/>
                                <a:latin typeface="Cambria Math" panose="02040503050406030204" pitchFamily="18" charset="0"/>
                              </a:rPr>
                              <m:t>10</m:t>
                            </m:r>
                          </m:e>
                        </m:eqArr>
                      </m:e>
                    </m:d>
                    <m:r>
                      <a:rPr lang="en-US" sz="1700" b="0" i="1">
                        <a:effectLst/>
                        <a:latin typeface="Cambria Math" panose="02040503050406030204" pitchFamily="18" charset="0"/>
                      </a:rPr>
                      <m:t>=286</m:t>
                    </m:r>
                  </m:oMath>
                </a14:m>
                <a:endParaRPr lang="en-US" sz="1700" dirty="0"/>
              </a:p>
              <a:p>
                <a:pPr indent="-228600" defTabSz="914400">
                  <a:lnSpc>
                    <a:spcPct val="90000"/>
                  </a:lnSpc>
                  <a:spcAft>
                    <a:spcPts val="600"/>
                  </a:spcAft>
                  <a:buFont typeface="Arial" panose="020B0604020202020204" pitchFamily="34" charset="0"/>
                  <a:buChar char="•"/>
                </a:pPr>
                <a:r>
                  <a:rPr lang="en-US" sz="1700" dirty="0" err="1">
                    <a:effectLst/>
                  </a:rPr>
                  <a:t>Donc</a:t>
                </a:r>
                <a:r>
                  <a:rPr lang="en-US" sz="1700" dirty="0">
                    <a:effectLst/>
                  </a:rPr>
                  <a:t>, par le </a:t>
                </a:r>
                <a:r>
                  <a:rPr lang="en-US" sz="1700" dirty="0" err="1">
                    <a:effectLst/>
                  </a:rPr>
                  <a:t>principe</a:t>
                </a:r>
                <a:r>
                  <a:rPr lang="en-US" sz="1700" dirty="0">
                    <a:effectLst/>
                  </a:rPr>
                  <a:t> </a:t>
                </a:r>
                <a:r>
                  <a:rPr lang="en-US" sz="1700" dirty="0" err="1">
                    <a:effectLst/>
                  </a:rPr>
                  <a:t>d’addition</a:t>
                </a:r>
                <a:r>
                  <a:rPr lang="en-US" sz="1700" dirty="0">
                    <a:effectLst/>
                  </a:rPr>
                  <a:t>, </a:t>
                </a:r>
                <a:r>
                  <a:rPr lang="en-US" sz="1700" dirty="0" err="1">
                    <a:effectLst/>
                  </a:rPr>
                  <a:t>elle</a:t>
                </a:r>
                <a:r>
                  <a:rPr lang="en-US" sz="1700" dirty="0">
                    <a:effectLst/>
                  </a:rPr>
                  <a:t> </a:t>
                </a:r>
                <a:r>
                  <a:rPr lang="en-US" sz="1700" dirty="0" err="1">
                    <a:effectLst/>
                  </a:rPr>
                  <a:t>peut</a:t>
                </a:r>
                <a:r>
                  <a:rPr lang="en-US" sz="1700" dirty="0">
                    <a:effectLst/>
                  </a:rPr>
                  <a:t> faire </a:t>
                </a:r>
                <a:r>
                  <a:rPr lang="en-US" sz="1700" dirty="0" err="1">
                    <a:effectLst/>
                  </a:rPr>
                  <a:t>ses</a:t>
                </a:r>
                <a:r>
                  <a:rPr lang="en-US" sz="1700" dirty="0">
                    <a:effectLst/>
                  </a:rPr>
                  <a:t> invitations de 1573 </a:t>
                </a:r>
                <a:r>
                  <a:rPr lang="en-US" sz="1700" dirty="0" err="1">
                    <a:effectLst/>
                  </a:rPr>
                  <a:t>façons</a:t>
                </a:r>
                <a:r>
                  <a:rPr lang="en-US" sz="1700" dirty="0">
                    <a:effectLst/>
                  </a:rPr>
                  <a:t>.</a:t>
                </a:r>
              </a:p>
              <a:p>
                <a:pPr indent="-228600" defTabSz="914400">
                  <a:lnSpc>
                    <a:spcPct val="90000"/>
                  </a:lnSpc>
                  <a:spcAft>
                    <a:spcPts val="600"/>
                  </a:spcAft>
                  <a:buFont typeface="Arial" panose="020B0604020202020204" pitchFamily="34" charset="0"/>
                  <a:buChar char="•"/>
                </a:pPr>
                <a:endParaRPr lang="en-US" sz="1700" dirty="0"/>
              </a:p>
              <a:p>
                <a:pPr indent="-228600" defTabSz="914400">
                  <a:lnSpc>
                    <a:spcPct val="90000"/>
                  </a:lnSpc>
                  <a:spcAft>
                    <a:spcPts val="600"/>
                  </a:spcAft>
                  <a:buFont typeface="Arial" panose="020B0604020202020204" pitchFamily="34" charset="0"/>
                  <a:buChar char="•"/>
                </a:pPr>
                <a:r>
                  <a:rPr lang="en-US" sz="1700" dirty="0"/>
                  <a:t>c) </a:t>
                </a:r>
                <a:r>
                  <a:rPr lang="en-US" sz="1700" dirty="0" err="1">
                    <a:effectLst/>
                  </a:rPr>
                  <a:t>Soit</a:t>
                </a:r>
                <a:r>
                  <a:rPr lang="en-US" sz="1700" dirty="0">
                    <a:effectLst/>
                  </a:rPr>
                  <a:t> </a:t>
                </a:r>
                <a:r>
                  <a:rPr lang="en-US" sz="1700" dirty="0" err="1">
                    <a:effectLst/>
                  </a:rPr>
                  <a:t>elle</a:t>
                </a:r>
                <a:r>
                  <a:rPr lang="en-US" sz="1700" dirty="0">
                    <a:effectLst/>
                  </a:rPr>
                  <a:t> invite </a:t>
                </a:r>
                <a:r>
                  <a:rPr lang="en-US" sz="1700" dirty="0" err="1">
                    <a:effectLst/>
                  </a:rPr>
                  <a:t>une</a:t>
                </a:r>
                <a:r>
                  <a:rPr lang="en-US" sz="1700" dirty="0">
                    <a:effectLst/>
                  </a:rPr>
                  <a:t> </a:t>
                </a:r>
                <a:r>
                  <a:rPr lang="en-US" sz="1700" dirty="0" err="1">
                    <a:effectLst/>
                  </a:rPr>
                  <a:t>seule</a:t>
                </a:r>
                <a:r>
                  <a:rPr lang="en-US" sz="1700" dirty="0">
                    <a:effectLst/>
                  </a:rPr>
                  <a:t> de </a:t>
                </a:r>
                <a:r>
                  <a:rPr lang="en-US" sz="1700" dirty="0" err="1">
                    <a:effectLst/>
                  </a:rPr>
                  <a:t>ses</a:t>
                </a:r>
                <a:r>
                  <a:rPr lang="en-US" sz="1700" dirty="0">
                    <a:effectLst/>
                  </a:rPr>
                  <a:t> deux amies, </a:t>
                </a:r>
                <a:r>
                  <a:rPr lang="en-US" sz="1700" dirty="0" err="1">
                    <a:effectLst/>
                  </a:rPr>
                  <a:t>cela</a:t>
                </a:r>
                <a:r>
                  <a:rPr lang="en-US" sz="1700" dirty="0">
                    <a:effectLst/>
                  </a:rPr>
                  <a:t> </a:t>
                </a:r>
                <a:r>
                  <a:rPr lang="en-US" sz="1700" dirty="0" err="1">
                    <a:effectLst/>
                  </a:rPr>
                  <a:t>pouvant</a:t>
                </a:r>
                <a:r>
                  <a:rPr lang="en-US" sz="1700" dirty="0">
                    <a:effectLst/>
                  </a:rPr>
                  <a:t> se faire de </a:t>
                </a:r>
                <a14:m>
                  <m:oMath xmlns:m="http://schemas.openxmlformats.org/officeDocument/2006/math">
                    <m:d>
                      <m:dPr>
                        <m:ctrlPr>
                          <a:rPr lang="en-US" sz="1700" i="1">
                            <a:effectLst/>
                            <a:latin typeface="Cambria Math" panose="02040503050406030204" pitchFamily="18" charset="0"/>
                          </a:rPr>
                        </m:ctrlPr>
                      </m:dPr>
                      <m:e>
                        <m:eqArr>
                          <m:eqArrPr>
                            <m:ctrlPr>
                              <a:rPr lang="en-US" sz="1700" b="0" i="1">
                                <a:effectLst/>
                                <a:latin typeface="Cambria Math" panose="02040503050406030204" pitchFamily="18" charset="0"/>
                              </a:rPr>
                            </m:ctrlPr>
                          </m:eqArrPr>
                          <m:e>
                            <m:r>
                              <a:rPr lang="en-US" sz="1700" b="0" i="1">
                                <a:effectLst/>
                                <a:latin typeface="Cambria Math" panose="02040503050406030204" pitchFamily="18" charset="0"/>
                              </a:rPr>
                              <m:t>2</m:t>
                            </m:r>
                          </m:e>
                          <m:e>
                            <m:r>
                              <a:rPr lang="en-US" sz="1700" b="0" i="1">
                                <a:effectLst/>
                                <a:latin typeface="Cambria Math" panose="02040503050406030204" pitchFamily="18" charset="0"/>
                              </a:rPr>
                              <m:t>1</m:t>
                            </m:r>
                          </m:e>
                        </m:eqArr>
                      </m:e>
                    </m:d>
                    <m:d>
                      <m:dPr>
                        <m:ctrlPr>
                          <a:rPr lang="en-US" sz="1700" i="1">
                            <a:effectLst/>
                            <a:latin typeface="Cambria Math" panose="02040503050406030204" pitchFamily="18" charset="0"/>
                          </a:rPr>
                        </m:ctrlPr>
                      </m:dPr>
                      <m:e>
                        <m:eqArr>
                          <m:eqArrPr>
                            <m:ctrlPr>
                              <a:rPr lang="en-US" sz="1700" b="0" i="1">
                                <a:effectLst/>
                                <a:latin typeface="Cambria Math" panose="02040503050406030204" pitchFamily="18" charset="0"/>
                              </a:rPr>
                            </m:ctrlPr>
                          </m:eqArrPr>
                          <m:e>
                            <m:r>
                              <a:rPr lang="en-US" sz="1700" b="0" i="1">
                                <a:effectLst/>
                                <a:latin typeface="Cambria Math" panose="02040503050406030204" pitchFamily="18" charset="0"/>
                              </a:rPr>
                              <m:t>13</m:t>
                            </m:r>
                          </m:e>
                          <m:e>
                            <m:r>
                              <a:rPr lang="en-US" sz="1700" b="0" i="1">
                                <a:effectLst/>
                                <a:latin typeface="Cambria Math" panose="02040503050406030204" pitchFamily="18" charset="0"/>
                              </a:rPr>
                              <m:t>9</m:t>
                            </m:r>
                          </m:e>
                        </m:eqArr>
                      </m:e>
                    </m:d>
                    <m:r>
                      <a:rPr lang="en-US" sz="1700" b="0" i="1">
                        <a:effectLst/>
                        <a:latin typeface="Cambria Math" panose="02040503050406030204" pitchFamily="18" charset="0"/>
                      </a:rPr>
                      <m:t>=1430</m:t>
                    </m:r>
                  </m:oMath>
                </a14:m>
                <a:endParaRPr lang="en-US" sz="1700" dirty="0"/>
              </a:p>
              <a:p>
                <a:pPr indent="-228600" defTabSz="914400">
                  <a:lnSpc>
                    <a:spcPct val="90000"/>
                  </a:lnSpc>
                  <a:spcAft>
                    <a:spcPts val="600"/>
                  </a:spcAft>
                  <a:buFont typeface="Arial" panose="020B0604020202020204" pitchFamily="34" charset="0"/>
                  <a:buChar char="•"/>
                </a:pPr>
                <a:r>
                  <a:rPr lang="en-US" sz="1700" dirty="0" err="1">
                    <a:effectLst/>
                  </a:rPr>
                  <a:t>Soit</a:t>
                </a:r>
                <a:r>
                  <a:rPr lang="en-US" sz="1700" dirty="0">
                    <a:effectLst/>
                  </a:rPr>
                  <a:t> </a:t>
                </a:r>
                <a:r>
                  <a:rPr lang="en-US" sz="1700" dirty="0" err="1">
                    <a:effectLst/>
                  </a:rPr>
                  <a:t>elle</a:t>
                </a:r>
                <a:r>
                  <a:rPr lang="en-US" sz="1700" dirty="0">
                    <a:effectLst/>
                  </a:rPr>
                  <a:t> </a:t>
                </a:r>
                <a:r>
                  <a:rPr lang="en-US" sz="1700" dirty="0" err="1">
                    <a:effectLst/>
                  </a:rPr>
                  <a:t>n’invite</a:t>
                </a:r>
                <a:r>
                  <a:rPr lang="en-US" sz="1700" dirty="0">
                    <a:effectLst/>
                  </a:rPr>
                  <a:t> </a:t>
                </a:r>
                <a:r>
                  <a:rPr lang="en-US" sz="1700" dirty="0" err="1">
                    <a:effectLst/>
                  </a:rPr>
                  <a:t>aucune</a:t>
                </a:r>
                <a:r>
                  <a:rPr lang="en-US" sz="1700" dirty="0">
                    <a:effectLst/>
                  </a:rPr>
                  <a:t> </a:t>
                </a:r>
                <a:r>
                  <a:rPr lang="en-US" sz="1700" dirty="0" err="1">
                    <a:effectLst/>
                  </a:rPr>
                  <a:t>d’elles</a:t>
                </a:r>
                <a:r>
                  <a:rPr lang="en-US" sz="1700" dirty="0">
                    <a:effectLst/>
                  </a:rPr>
                  <a:t>, </a:t>
                </a:r>
                <a:r>
                  <a:rPr lang="en-US" sz="1700" dirty="0" err="1">
                    <a:effectLst/>
                  </a:rPr>
                  <a:t>cela</a:t>
                </a:r>
                <a:r>
                  <a:rPr lang="en-US" sz="1700" dirty="0">
                    <a:effectLst/>
                  </a:rPr>
                  <a:t> </a:t>
                </a:r>
                <a:r>
                  <a:rPr lang="en-US" sz="1700" dirty="0" err="1">
                    <a:effectLst/>
                  </a:rPr>
                  <a:t>pouvant</a:t>
                </a:r>
                <a:r>
                  <a:rPr lang="en-US" sz="1700" dirty="0">
                    <a:effectLst/>
                  </a:rPr>
                  <a:t> se faire de </a:t>
                </a:r>
                <a14:m>
                  <m:oMath xmlns:m="http://schemas.openxmlformats.org/officeDocument/2006/math">
                    <m:d>
                      <m:dPr>
                        <m:ctrlPr>
                          <a:rPr lang="en-US" sz="1700" i="1">
                            <a:effectLst/>
                            <a:latin typeface="Cambria Math" panose="02040503050406030204" pitchFamily="18" charset="0"/>
                          </a:rPr>
                        </m:ctrlPr>
                      </m:dPr>
                      <m:e>
                        <m:eqArr>
                          <m:eqArrPr>
                            <m:ctrlPr>
                              <a:rPr lang="en-US" sz="1700" b="0" i="1">
                                <a:effectLst/>
                                <a:latin typeface="Cambria Math" panose="02040503050406030204" pitchFamily="18" charset="0"/>
                              </a:rPr>
                            </m:ctrlPr>
                          </m:eqArrPr>
                          <m:e>
                            <m:r>
                              <a:rPr lang="en-US" sz="1700" b="0" i="1">
                                <a:effectLst/>
                                <a:latin typeface="Cambria Math" panose="02040503050406030204" pitchFamily="18" charset="0"/>
                              </a:rPr>
                              <m:t>2</m:t>
                            </m:r>
                          </m:e>
                          <m:e>
                            <m:r>
                              <a:rPr lang="en-US" sz="1700" b="0" i="1">
                                <a:effectLst/>
                                <a:latin typeface="Cambria Math" panose="02040503050406030204" pitchFamily="18" charset="0"/>
                              </a:rPr>
                              <m:t>0</m:t>
                            </m:r>
                          </m:e>
                        </m:eqArr>
                      </m:e>
                    </m:d>
                    <m:d>
                      <m:dPr>
                        <m:ctrlPr>
                          <a:rPr lang="en-US" sz="1700" i="1">
                            <a:effectLst/>
                            <a:latin typeface="Cambria Math" panose="02040503050406030204" pitchFamily="18" charset="0"/>
                          </a:rPr>
                        </m:ctrlPr>
                      </m:dPr>
                      <m:e>
                        <m:eqArr>
                          <m:eqArrPr>
                            <m:ctrlPr>
                              <a:rPr lang="en-US" sz="1700" b="0" i="1">
                                <a:effectLst/>
                                <a:latin typeface="Cambria Math" panose="02040503050406030204" pitchFamily="18" charset="0"/>
                              </a:rPr>
                            </m:ctrlPr>
                          </m:eqArrPr>
                          <m:e>
                            <m:r>
                              <a:rPr lang="en-US" sz="1700" b="0" i="1">
                                <a:effectLst/>
                                <a:latin typeface="Cambria Math" panose="02040503050406030204" pitchFamily="18" charset="0"/>
                              </a:rPr>
                              <m:t>13</m:t>
                            </m:r>
                          </m:e>
                          <m:e>
                            <m:r>
                              <a:rPr lang="en-US" sz="1700" b="0" i="1">
                                <a:effectLst/>
                                <a:latin typeface="Cambria Math" panose="02040503050406030204" pitchFamily="18" charset="0"/>
                              </a:rPr>
                              <m:t>10</m:t>
                            </m:r>
                          </m:e>
                        </m:eqArr>
                      </m:e>
                    </m:d>
                    <m:r>
                      <a:rPr lang="en-US" sz="1700" b="0" i="1">
                        <a:effectLst/>
                        <a:latin typeface="Cambria Math" panose="02040503050406030204" pitchFamily="18" charset="0"/>
                      </a:rPr>
                      <m:t>=286</m:t>
                    </m:r>
                  </m:oMath>
                </a14:m>
                <a:endParaRPr lang="en-US" sz="1700" dirty="0"/>
              </a:p>
              <a:p>
                <a:pPr indent="-228600" defTabSz="914400">
                  <a:lnSpc>
                    <a:spcPct val="90000"/>
                  </a:lnSpc>
                  <a:spcAft>
                    <a:spcPts val="600"/>
                  </a:spcAft>
                  <a:buFont typeface="Arial" panose="020B0604020202020204" pitchFamily="34" charset="0"/>
                  <a:buChar char="•"/>
                </a:pPr>
                <a:r>
                  <a:rPr lang="en-US" sz="1700" dirty="0" err="1">
                    <a:effectLst/>
                  </a:rPr>
                  <a:t>Donc</a:t>
                </a:r>
                <a:r>
                  <a:rPr lang="en-US" sz="1700" dirty="0">
                    <a:effectLst/>
                  </a:rPr>
                  <a:t>, par le </a:t>
                </a:r>
                <a:r>
                  <a:rPr lang="en-US" sz="1700" dirty="0" err="1">
                    <a:effectLst/>
                  </a:rPr>
                  <a:t>principe</a:t>
                </a:r>
                <a:r>
                  <a:rPr lang="en-US" sz="1700" dirty="0">
                    <a:effectLst/>
                  </a:rPr>
                  <a:t> </a:t>
                </a:r>
                <a:r>
                  <a:rPr lang="en-US" sz="1700" dirty="0" err="1">
                    <a:effectLst/>
                  </a:rPr>
                  <a:t>d’addition</a:t>
                </a:r>
                <a:r>
                  <a:rPr lang="en-US" sz="1700" dirty="0">
                    <a:effectLst/>
                  </a:rPr>
                  <a:t>, </a:t>
                </a:r>
                <a:r>
                  <a:rPr lang="en-US" sz="1700" dirty="0" err="1">
                    <a:effectLst/>
                  </a:rPr>
                  <a:t>elle</a:t>
                </a:r>
                <a:r>
                  <a:rPr lang="en-US" sz="1700" dirty="0">
                    <a:effectLst/>
                  </a:rPr>
                  <a:t> </a:t>
                </a:r>
                <a:r>
                  <a:rPr lang="en-US" sz="1700" dirty="0" err="1">
                    <a:effectLst/>
                  </a:rPr>
                  <a:t>peut</a:t>
                </a:r>
                <a:r>
                  <a:rPr lang="en-US" sz="1700" dirty="0">
                    <a:effectLst/>
                  </a:rPr>
                  <a:t> faire </a:t>
                </a:r>
                <a:r>
                  <a:rPr lang="en-US" sz="1700" dirty="0" err="1">
                    <a:effectLst/>
                  </a:rPr>
                  <a:t>ses</a:t>
                </a:r>
                <a:r>
                  <a:rPr lang="en-US" sz="1700" dirty="0">
                    <a:effectLst/>
                  </a:rPr>
                  <a:t> invitations de 1716 </a:t>
                </a:r>
                <a:r>
                  <a:rPr lang="en-US" sz="1700" dirty="0" err="1">
                    <a:effectLst/>
                  </a:rPr>
                  <a:t>façons</a:t>
                </a:r>
                <a:r>
                  <a:rPr lang="en-US" sz="1700" dirty="0">
                    <a:effectLst/>
                  </a:rPr>
                  <a:t>.</a:t>
                </a:r>
              </a:p>
              <a:p>
                <a:pPr indent="-228600" defTabSz="914400">
                  <a:lnSpc>
                    <a:spcPct val="90000"/>
                  </a:lnSpc>
                  <a:spcAft>
                    <a:spcPts val="600"/>
                  </a:spcAft>
                  <a:buFont typeface="Arial" panose="020B0604020202020204" pitchFamily="34" charset="0"/>
                  <a:buChar char="•"/>
                </a:pPr>
                <a:endParaRPr lang="en-US" sz="1700" dirty="0"/>
              </a:p>
              <a:p>
                <a:pPr indent="-228600" defTabSz="914400">
                  <a:lnSpc>
                    <a:spcPct val="90000"/>
                  </a:lnSpc>
                  <a:spcAft>
                    <a:spcPts val="600"/>
                  </a:spcAft>
                  <a:buFont typeface="Arial" panose="020B0604020202020204" pitchFamily="34" charset="0"/>
                  <a:buChar char="•"/>
                </a:pPr>
                <a:endParaRPr lang="en-US" sz="1700" dirty="0"/>
              </a:p>
            </p:txBody>
          </p:sp>
        </mc:Choice>
        <mc:Fallback xmlns="">
          <p:sp>
            <p:nvSpPr>
              <p:cNvPr id="8" name="ZoneTexte 7">
                <a:extLst>
                  <a:ext uri="{FF2B5EF4-FFF2-40B4-BE49-F238E27FC236}">
                    <a16:creationId xmlns:a16="http://schemas.microsoft.com/office/drawing/2014/main" id="{AD41FE69-97FE-4EBD-9C85-33D3C82DC2B6}"/>
                  </a:ext>
                </a:extLst>
              </p:cNvPr>
              <p:cNvSpPr txBox="1">
                <a:spLocks noRot="1" noChangeAspect="1" noMove="1" noResize="1" noEditPoints="1" noAdjustHandles="1" noChangeArrowheads="1" noChangeShapeType="1" noTextEdit="1"/>
              </p:cNvSpPr>
              <p:nvPr/>
            </p:nvSpPr>
            <p:spPr>
              <a:xfrm>
                <a:off x="6503158" y="649480"/>
                <a:ext cx="4862447" cy="5546047"/>
              </a:xfrm>
              <a:prstGeom prst="rect">
                <a:avLst/>
              </a:prstGeom>
              <a:blipFill>
                <a:blip r:embed="rId2"/>
                <a:stretch>
                  <a:fillRect l="-878" t="-3520" r="-251"/>
                </a:stretch>
              </a:blipFill>
            </p:spPr>
            <p:txBody>
              <a:bodyPr/>
              <a:lstStyle/>
              <a:p>
                <a:r>
                  <a:rPr lang="fr-CA">
                    <a:noFill/>
                  </a:rPr>
                  <a:t> </a:t>
                </a:r>
              </a:p>
            </p:txBody>
          </p:sp>
        </mc:Fallback>
      </mc:AlternateContent>
      <p:sp>
        <p:nvSpPr>
          <p:cNvPr id="4" name="Espace réservé du numéro de diapositive 3">
            <a:extLst>
              <a:ext uri="{FF2B5EF4-FFF2-40B4-BE49-F238E27FC236}">
                <a16:creationId xmlns:a16="http://schemas.microsoft.com/office/drawing/2014/main" id="{73637835-1395-43E5-B0E3-D619CE5AB7D7}"/>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00">
              <a:spcAft>
                <a:spcPts val="600"/>
              </a:spcAft>
            </a:pPr>
            <a:fld id="{26377AD9-CE17-438C-A638-C64D2D42D7CF}" type="slidenum">
              <a:rPr lang="en-US" sz="1100">
                <a:solidFill>
                  <a:schemeClr val="tx1">
                    <a:lumMod val="50000"/>
                    <a:lumOff val="50000"/>
                  </a:schemeClr>
                </a:solidFill>
              </a:rPr>
              <a:pPr defTabSz="914400">
                <a:spcAft>
                  <a:spcPts val="600"/>
                </a:spcAft>
              </a:pPr>
              <a:t>3</a:t>
            </a:fld>
            <a:endParaRPr lang="en-US" sz="1100">
              <a:solidFill>
                <a:schemeClr val="tx1">
                  <a:lumMod val="50000"/>
                  <a:lumOff val="50000"/>
                </a:schemeClr>
              </a:solidFill>
            </a:endParaRPr>
          </a:p>
        </p:txBody>
      </p:sp>
    </p:spTree>
    <p:extLst>
      <p:ext uri="{BB962C8B-B14F-4D97-AF65-F5344CB8AC3E}">
        <p14:creationId xmlns:p14="http://schemas.microsoft.com/office/powerpoint/2010/main" val="8718136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FF79E70D-265A-4D21-88D0-EECE3A373805}"/>
              </a:ext>
            </a:extLst>
          </p:cNvPr>
          <p:cNvSpPr>
            <a:spLocks noGrp="1"/>
          </p:cNvSpPr>
          <p:nvPr>
            <p:ph type="title"/>
          </p:nvPr>
        </p:nvSpPr>
        <p:spPr>
          <a:xfrm>
            <a:off x="686834" y="1153572"/>
            <a:ext cx="3200400" cy="4461163"/>
          </a:xfrm>
        </p:spPr>
        <p:txBody>
          <a:bodyPr vert="horz" lIns="91440" tIns="45720" rIns="91440" bIns="45720" rtlCol="0" anchor="ctr">
            <a:normAutofit/>
          </a:bodyPr>
          <a:lstStyle/>
          <a:p>
            <a:pPr>
              <a:spcAft>
                <a:spcPts val="800"/>
              </a:spcAft>
            </a:pPr>
            <a:r>
              <a:rPr lang="en-US" sz="2100" b="1" kern="1200">
                <a:solidFill>
                  <a:srgbClr val="FFFFFF"/>
                </a:solidFill>
                <a:latin typeface="+mj-lt"/>
                <a:ea typeface="+mj-ea"/>
                <a:cs typeface="+mj-cs"/>
              </a:rPr>
              <a:t>Exemple</a:t>
            </a:r>
            <a:r>
              <a:rPr lang="en-US" sz="2100" b="1" kern="1200" dirty="0">
                <a:solidFill>
                  <a:srgbClr val="FFFFFF"/>
                </a:solidFill>
                <a:latin typeface="+mj-lt"/>
                <a:ea typeface="+mj-ea"/>
                <a:cs typeface="+mj-cs"/>
              </a:rPr>
              <a:t> 3</a:t>
            </a:r>
            <a:r>
              <a:rPr lang="en-US" sz="2100" kern="1200" dirty="0">
                <a:solidFill>
                  <a:srgbClr val="FFFFFF"/>
                </a:solidFill>
                <a:latin typeface="+mj-lt"/>
                <a:ea typeface="+mj-ea"/>
                <a:cs typeface="+mj-cs"/>
              </a:rPr>
              <a:t>: </a:t>
            </a:r>
            <a:r>
              <a:rPr lang="en-US" sz="2100" kern="1200" dirty="0">
                <a:solidFill>
                  <a:srgbClr val="FFFFFF"/>
                </a:solidFill>
                <a:effectLst/>
                <a:latin typeface="+mj-lt"/>
                <a:ea typeface="+mj-ea"/>
                <a:cs typeface="+mj-cs"/>
              </a:rPr>
              <a:t>Une </a:t>
            </a:r>
            <a:r>
              <a:rPr lang="en-US" sz="2100" kern="1200">
                <a:solidFill>
                  <a:srgbClr val="FFFFFF"/>
                </a:solidFill>
                <a:effectLst/>
                <a:latin typeface="+mj-lt"/>
                <a:ea typeface="+mj-ea"/>
                <a:cs typeface="+mj-cs"/>
              </a:rPr>
              <a:t>boîte</a:t>
            </a:r>
            <a:r>
              <a:rPr lang="en-US" sz="2100" kern="1200" dirty="0">
                <a:solidFill>
                  <a:srgbClr val="FFFFFF"/>
                </a:solidFill>
                <a:effectLst/>
                <a:latin typeface="+mj-lt"/>
                <a:ea typeface="+mj-ea"/>
                <a:cs typeface="+mj-cs"/>
              </a:rPr>
              <a:t> </a:t>
            </a:r>
            <a:r>
              <a:rPr lang="en-US" sz="2100" kern="1200">
                <a:solidFill>
                  <a:srgbClr val="FFFFFF"/>
                </a:solidFill>
                <a:effectLst/>
                <a:latin typeface="+mj-lt"/>
                <a:ea typeface="+mj-ea"/>
                <a:cs typeface="+mj-cs"/>
              </a:rPr>
              <a:t>contient</a:t>
            </a:r>
            <a:r>
              <a:rPr lang="en-US" sz="2100" kern="1200" dirty="0">
                <a:solidFill>
                  <a:srgbClr val="FFFFFF"/>
                </a:solidFill>
                <a:effectLst/>
                <a:latin typeface="+mj-lt"/>
                <a:ea typeface="+mj-ea"/>
                <a:cs typeface="+mj-cs"/>
              </a:rPr>
              <a:t> 8 boules blanches, 6 boules rouges et 7 boules </a:t>
            </a:r>
            <a:r>
              <a:rPr lang="en-US" sz="2100" kern="1200">
                <a:solidFill>
                  <a:srgbClr val="FFFFFF"/>
                </a:solidFill>
                <a:effectLst/>
                <a:latin typeface="+mj-lt"/>
                <a:ea typeface="+mj-ea"/>
                <a:cs typeface="+mj-cs"/>
              </a:rPr>
              <a:t>noires</a:t>
            </a:r>
            <a:r>
              <a:rPr lang="en-US" sz="2100" kern="1200" dirty="0">
                <a:solidFill>
                  <a:srgbClr val="FFFFFF"/>
                </a:solidFill>
                <a:effectLst/>
                <a:latin typeface="+mj-lt"/>
                <a:ea typeface="+mj-ea"/>
                <a:cs typeface="+mj-cs"/>
              </a:rPr>
              <a:t>. On </a:t>
            </a:r>
            <a:r>
              <a:rPr lang="en-US" sz="2100" kern="1200">
                <a:solidFill>
                  <a:srgbClr val="FFFFFF"/>
                </a:solidFill>
                <a:effectLst/>
                <a:latin typeface="+mj-lt"/>
                <a:ea typeface="+mj-ea"/>
                <a:cs typeface="+mj-cs"/>
              </a:rPr>
              <a:t>en</a:t>
            </a:r>
            <a:r>
              <a:rPr lang="en-US" sz="2100" kern="1200" dirty="0">
                <a:solidFill>
                  <a:srgbClr val="FFFFFF"/>
                </a:solidFill>
                <a:effectLst/>
                <a:latin typeface="+mj-lt"/>
                <a:ea typeface="+mj-ea"/>
                <a:cs typeface="+mj-cs"/>
              </a:rPr>
              <a:t> </a:t>
            </a:r>
            <a:r>
              <a:rPr lang="en-US" sz="2100" kern="1200">
                <a:solidFill>
                  <a:srgbClr val="FFFFFF"/>
                </a:solidFill>
                <a:effectLst/>
                <a:latin typeface="+mj-lt"/>
                <a:ea typeface="+mj-ea"/>
                <a:cs typeface="+mj-cs"/>
              </a:rPr>
              <a:t>choisit</a:t>
            </a:r>
            <a:r>
              <a:rPr lang="en-US" sz="2100" kern="1200" dirty="0">
                <a:solidFill>
                  <a:srgbClr val="FFFFFF"/>
                </a:solidFill>
                <a:effectLst/>
                <a:latin typeface="+mj-lt"/>
                <a:ea typeface="+mj-ea"/>
                <a:cs typeface="+mj-cs"/>
              </a:rPr>
              <a:t> 5 au </a:t>
            </a:r>
            <a:r>
              <a:rPr lang="en-US" sz="2100" kern="1200">
                <a:solidFill>
                  <a:srgbClr val="FFFFFF"/>
                </a:solidFill>
                <a:effectLst/>
                <a:latin typeface="+mj-lt"/>
                <a:ea typeface="+mj-ea"/>
                <a:cs typeface="+mj-cs"/>
              </a:rPr>
              <a:t>hasard</a:t>
            </a:r>
            <a:r>
              <a:rPr lang="en-US" sz="2100" kern="1200" dirty="0">
                <a:solidFill>
                  <a:srgbClr val="FFFFFF"/>
                </a:solidFill>
                <a:effectLst/>
                <a:latin typeface="+mj-lt"/>
                <a:ea typeface="+mj-ea"/>
                <a:cs typeface="+mj-cs"/>
              </a:rPr>
              <a:t>.</a:t>
            </a:r>
            <a:br>
              <a:rPr lang="en-US" sz="2100" kern="1200" dirty="0">
                <a:solidFill>
                  <a:srgbClr val="FFFFFF"/>
                </a:solidFill>
                <a:effectLst/>
                <a:latin typeface="+mj-lt"/>
                <a:ea typeface="+mj-ea"/>
                <a:cs typeface="+mj-cs"/>
              </a:rPr>
            </a:br>
            <a:r>
              <a:rPr lang="en-US" sz="2100" kern="1200" dirty="0">
                <a:solidFill>
                  <a:srgbClr val="FFFFFF"/>
                </a:solidFill>
                <a:effectLst/>
                <a:latin typeface="+mj-lt"/>
                <a:ea typeface="+mj-ea"/>
                <a:cs typeface="+mj-cs"/>
              </a:rPr>
              <a:t>a)	</a:t>
            </a:r>
            <a:r>
              <a:rPr lang="en-US" sz="2100" kern="1200">
                <a:solidFill>
                  <a:srgbClr val="FFFFFF"/>
                </a:solidFill>
                <a:effectLst/>
                <a:latin typeface="+mj-lt"/>
                <a:ea typeface="+mj-ea"/>
                <a:cs typeface="+mj-cs"/>
              </a:rPr>
              <a:t>Combien</a:t>
            </a:r>
            <a:r>
              <a:rPr lang="en-US" sz="2100" kern="1200" dirty="0">
                <a:solidFill>
                  <a:srgbClr val="FFFFFF"/>
                </a:solidFill>
                <a:effectLst/>
                <a:latin typeface="+mj-lt"/>
                <a:ea typeface="+mj-ea"/>
                <a:cs typeface="+mj-cs"/>
              </a:rPr>
              <a:t> de </a:t>
            </a:r>
            <a:r>
              <a:rPr lang="en-US" sz="2100" kern="1200">
                <a:solidFill>
                  <a:srgbClr val="FFFFFF"/>
                </a:solidFill>
                <a:effectLst/>
                <a:latin typeface="+mj-lt"/>
                <a:ea typeface="+mj-ea"/>
                <a:cs typeface="+mj-cs"/>
              </a:rPr>
              <a:t>possibilités</a:t>
            </a:r>
            <a:r>
              <a:rPr lang="en-US" sz="2100" kern="1200" dirty="0">
                <a:solidFill>
                  <a:srgbClr val="FFFFFF"/>
                </a:solidFill>
                <a:effectLst/>
                <a:latin typeface="+mj-lt"/>
                <a:ea typeface="+mj-ea"/>
                <a:cs typeface="+mj-cs"/>
              </a:rPr>
              <a:t> y a-t-</a:t>
            </a:r>
            <a:r>
              <a:rPr lang="en-US" sz="2100" kern="1200">
                <a:solidFill>
                  <a:srgbClr val="FFFFFF"/>
                </a:solidFill>
                <a:effectLst/>
                <a:latin typeface="+mj-lt"/>
                <a:ea typeface="+mj-ea"/>
                <a:cs typeface="+mj-cs"/>
              </a:rPr>
              <a:t>il</a:t>
            </a:r>
            <a:r>
              <a:rPr lang="en-US" sz="2100" kern="1200" dirty="0">
                <a:solidFill>
                  <a:srgbClr val="FFFFFF"/>
                </a:solidFill>
                <a:effectLst/>
                <a:latin typeface="+mj-lt"/>
                <a:ea typeface="+mj-ea"/>
                <a:cs typeface="+mj-cs"/>
              </a:rPr>
              <a:t> ?</a:t>
            </a:r>
            <a:br>
              <a:rPr lang="en-US" sz="2100" kern="1200" dirty="0">
                <a:solidFill>
                  <a:srgbClr val="FFFFFF"/>
                </a:solidFill>
                <a:effectLst/>
                <a:latin typeface="+mj-lt"/>
                <a:ea typeface="+mj-ea"/>
                <a:cs typeface="+mj-cs"/>
              </a:rPr>
            </a:br>
            <a:r>
              <a:rPr lang="en-US" sz="2100" kern="1200" dirty="0">
                <a:solidFill>
                  <a:srgbClr val="FFFFFF"/>
                </a:solidFill>
                <a:effectLst/>
                <a:latin typeface="+mj-lt"/>
                <a:ea typeface="+mj-ea"/>
                <a:cs typeface="+mj-cs"/>
              </a:rPr>
              <a:t>b)	Quelle </a:t>
            </a:r>
            <a:r>
              <a:rPr lang="en-US" sz="2100" kern="1200">
                <a:solidFill>
                  <a:srgbClr val="FFFFFF"/>
                </a:solidFill>
                <a:effectLst/>
                <a:latin typeface="+mj-lt"/>
                <a:ea typeface="+mj-ea"/>
                <a:cs typeface="+mj-cs"/>
              </a:rPr>
              <a:t>est</a:t>
            </a:r>
            <a:r>
              <a:rPr lang="en-US" sz="2100" kern="1200" dirty="0">
                <a:solidFill>
                  <a:srgbClr val="FFFFFF"/>
                </a:solidFill>
                <a:effectLst/>
                <a:latin typeface="+mj-lt"/>
                <a:ea typeface="+mj-ea"/>
                <a:cs typeface="+mj-cs"/>
              </a:rPr>
              <a:t> la </a:t>
            </a:r>
            <a:r>
              <a:rPr lang="en-US" sz="2100" kern="1200">
                <a:solidFill>
                  <a:srgbClr val="FFFFFF"/>
                </a:solidFill>
                <a:effectLst/>
                <a:latin typeface="+mj-lt"/>
                <a:ea typeface="+mj-ea"/>
                <a:cs typeface="+mj-cs"/>
              </a:rPr>
              <a:t>probabilité</a:t>
            </a:r>
            <a:r>
              <a:rPr lang="en-US" sz="2100" kern="1200" dirty="0">
                <a:solidFill>
                  <a:srgbClr val="FFFFFF"/>
                </a:solidFill>
                <a:effectLst/>
                <a:latin typeface="+mj-lt"/>
                <a:ea typeface="+mj-ea"/>
                <a:cs typeface="+mj-cs"/>
              </a:rPr>
              <a:t> que, </a:t>
            </a:r>
            <a:r>
              <a:rPr lang="en-US" sz="2100" kern="1200">
                <a:solidFill>
                  <a:srgbClr val="FFFFFF"/>
                </a:solidFill>
                <a:effectLst/>
                <a:latin typeface="+mj-lt"/>
                <a:ea typeface="+mj-ea"/>
                <a:cs typeface="+mj-cs"/>
              </a:rPr>
              <a:t>parmi</a:t>
            </a:r>
            <a:r>
              <a:rPr lang="en-US" sz="2100" kern="1200" dirty="0">
                <a:solidFill>
                  <a:srgbClr val="FFFFFF"/>
                </a:solidFill>
                <a:effectLst/>
                <a:latin typeface="+mj-lt"/>
                <a:ea typeface="+mj-ea"/>
                <a:cs typeface="+mj-cs"/>
              </a:rPr>
              <a:t> les 5 boules </a:t>
            </a:r>
            <a:r>
              <a:rPr lang="en-US" sz="2100" kern="1200">
                <a:solidFill>
                  <a:srgbClr val="FFFFFF"/>
                </a:solidFill>
                <a:effectLst/>
                <a:latin typeface="+mj-lt"/>
                <a:ea typeface="+mj-ea"/>
                <a:cs typeface="+mj-cs"/>
              </a:rPr>
              <a:t>tirées</a:t>
            </a:r>
            <a:r>
              <a:rPr lang="en-US" sz="2100" kern="1200" dirty="0">
                <a:solidFill>
                  <a:srgbClr val="FFFFFF"/>
                </a:solidFill>
                <a:effectLst/>
                <a:latin typeface="+mj-lt"/>
                <a:ea typeface="+mj-ea"/>
                <a:cs typeface="+mj-cs"/>
              </a:rPr>
              <a:t>, </a:t>
            </a:r>
            <a:r>
              <a:rPr lang="en-US" sz="2100" kern="1200">
                <a:solidFill>
                  <a:srgbClr val="FFFFFF"/>
                </a:solidFill>
                <a:effectLst/>
                <a:latin typeface="+mj-lt"/>
                <a:ea typeface="+mj-ea"/>
                <a:cs typeface="+mj-cs"/>
              </a:rPr>
              <a:t>il</a:t>
            </a:r>
            <a:r>
              <a:rPr lang="en-US" sz="2100" kern="1200" dirty="0">
                <a:solidFill>
                  <a:srgbClr val="FFFFFF"/>
                </a:solidFill>
                <a:effectLst/>
                <a:latin typeface="+mj-lt"/>
                <a:ea typeface="+mj-ea"/>
                <a:cs typeface="+mj-cs"/>
              </a:rPr>
              <a:t> y </a:t>
            </a:r>
            <a:r>
              <a:rPr lang="en-US" sz="2100" kern="1200">
                <a:solidFill>
                  <a:srgbClr val="FFFFFF"/>
                </a:solidFill>
                <a:effectLst/>
                <a:latin typeface="+mj-lt"/>
                <a:ea typeface="+mj-ea"/>
                <a:cs typeface="+mj-cs"/>
              </a:rPr>
              <a:t>en</a:t>
            </a:r>
            <a:r>
              <a:rPr lang="en-US" sz="2100" kern="1200" dirty="0">
                <a:solidFill>
                  <a:srgbClr val="FFFFFF"/>
                </a:solidFill>
                <a:effectLst/>
                <a:latin typeface="+mj-lt"/>
                <a:ea typeface="+mj-ea"/>
                <a:cs typeface="+mj-cs"/>
              </a:rPr>
              <a:t> </a:t>
            </a:r>
            <a:r>
              <a:rPr lang="en-US" sz="2100" kern="1200">
                <a:solidFill>
                  <a:srgbClr val="FFFFFF"/>
                </a:solidFill>
                <a:effectLst/>
                <a:latin typeface="+mj-lt"/>
                <a:ea typeface="+mj-ea"/>
                <a:cs typeface="+mj-cs"/>
              </a:rPr>
              <a:t>ait</a:t>
            </a:r>
            <a:r>
              <a:rPr lang="en-US" sz="2100" kern="1200" dirty="0">
                <a:solidFill>
                  <a:srgbClr val="FFFFFF"/>
                </a:solidFill>
                <a:effectLst/>
                <a:latin typeface="+mj-lt"/>
                <a:ea typeface="+mj-ea"/>
                <a:cs typeface="+mj-cs"/>
              </a:rPr>
              <a:t> 2 blanches, 2 rouges et 1 </a:t>
            </a:r>
            <a:r>
              <a:rPr lang="en-US" sz="2100" kern="1200">
                <a:solidFill>
                  <a:srgbClr val="FFFFFF"/>
                </a:solidFill>
                <a:effectLst/>
                <a:latin typeface="+mj-lt"/>
                <a:ea typeface="+mj-ea"/>
                <a:cs typeface="+mj-cs"/>
              </a:rPr>
              <a:t>noires</a:t>
            </a:r>
            <a:r>
              <a:rPr lang="en-US" sz="2100" kern="1200" dirty="0">
                <a:solidFill>
                  <a:srgbClr val="FFFFFF"/>
                </a:solidFill>
                <a:effectLst/>
                <a:latin typeface="+mj-lt"/>
                <a:ea typeface="+mj-ea"/>
                <a:cs typeface="+mj-cs"/>
              </a:rPr>
              <a:t> ?</a:t>
            </a:r>
            <a:br>
              <a:rPr lang="en-US" sz="2100" kern="1200" dirty="0">
                <a:solidFill>
                  <a:srgbClr val="FFFFFF"/>
                </a:solidFill>
                <a:effectLst/>
                <a:latin typeface="+mj-lt"/>
                <a:ea typeface="+mj-ea"/>
                <a:cs typeface="+mj-cs"/>
              </a:rPr>
            </a:br>
            <a:endParaRPr lang="en-US" sz="2100" kern="1200" dirty="0">
              <a:solidFill>
                <a:srgbClr val="FFFFFF"/>
              </a:solidFill>
              <a:latin typeface="+mj-lt"/>
              <a:ea typeface="+mj-ea"/>
              <a:cs typeface="+mj-cs"/>
            </a:endParaRPr>
          </a:p>
        </p:txBody>
      </p:sp>
      <p:sp>
        <p:nvSpPr>
          <p:cNvPr id="14" name="Arc 13">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7B5FF472-7455-49D4-93BD-BD86E32DED9F}"/>
                  </a:ext>
                </a:extLst>
              </p:cNvPr>
              <p:cNvSpPr txBox="1"/>
              <p:nvPr/>
            </p:nvSpPr>
            <p:spPr>
              <a:xfrm>
                <a:off x="4447308" y="591344"/>
                <a:ext cx="6906491" cy="5585619"/>
              </a:xfrm>
              <a:prstGeom prst="rect">
                <a:avLst/>
              </a:prstGeom>
            </p:spPr>
            <p:txBody>
              <a:bodyPr vert="horz" lIns="91440" tIns="45720" rIns="91440" bIns="45720" rtlCol="0" anchor="ctr">
                <a:normAutofit/>
              </a:bodyPr>
              <a:lstStyle/>
              <a:p>
                <a:pPr indent="-228600" defTabSz="914400">
                  <a:lnSpc>
                    <a:spcPct val="90000"/>
                  </a:lnSpc>
                  <a:spcAft>
                    <a:spcPts val="600"/>
                  </a:spcAft>
                  <a:buFont typeface="Arial" panose="020B0604020202020204" pitchFamily="34" charset="0"/>
                  <a:buChar char="•"/>
                </a:pPr>
                <a:r>
                  <a:rPr lang="en-US"/>
                  <a:t>Réponse</a:t>
                </a:r>
                <a:r>
                  <a:rPr lang="en-US" dirty="0"/>
                  <a:t>: a) On </a:t>
                </a:r>
                <a:r>
                  <a:rPr lang="en-US"/>
                  <a:t>doit</a:t>
                </a:r>
                <a:r>
                  <a:rPr lang="en-US" dirty="0"/>
                  <a:t> </a:t>
                </a:r>
                <a:r>
                  <a:rPr lang="en-US"/>
                  <a:t>choisir</a:t>
                </a:r>
                <a:r>
                  <a:rPr lang="en-US" dirty="0"/>
                  <a:t> 5 boules </a:t>
                </a:r>
                <a:r>
                  <a:rPr lang="en-US"/>
                  <a:t>parmi</a:t>
                </a:r>
                <a:r>
                  <a:rPr lang="en-US" dirty="0"/>
                  <a:t> 21,  </a:t>
                </a:r>
                <a14:m>
                  <m:oMath xmlns:m="http://schemas.openxmlformats.org/officeDocument/2006/math">
                    <m:r>
                      <a:rPr lang="en-US" b="0" i="1">
                        <a:latin typeface="Cambria Math" panose="02040503050406030204" pitchFamily="18" charset="0"/>
                      </a:rPr>
                      <m:t>𝑁</m:t>
                    </m:r>
                    <m:d>
                      <m:dPr>
                        <m:ctrlPr>
                          <a:rPr lang="en-US" b="0" i="1">
                            <a:latin typeface="Cambria Math" panose="02040503050406030204" pitchFamily="18" charset="0"/>
                          </a:rPr>
                        </m:ctrlPr>
                      </m:dPr>
                      <m:e>
                        <m:r>
                          <a:rPr lang="en-US" b="0" i="1">
                            <a:latin typeface="Cambria Math" panose="02040503050406030204" pitchFamily="18" charset="0"/>
                          </a:rPr>
                          <m:t>𝑆</m:t>
                        </m:r>
                      </m:e>
                    </m:d>
                    <m:r>
                      <a:rPr lang="en-US" b="0" i="1">
                        <a:latin typeface="Cambria Math" panose="02040503050406030204" pitchFamily="18" charset="0"/>
                      </a:rPr>
                      <m:t>=</m:t>
                    </m:r>
                    <m:d>
                      <m:dPr>
                        <m:ctrlPr>
                          <a:rPr lang="en-US" b="0" i="1">
                            <a:latin typeface="Cambria Math" panose="02040503050406030204" pitchFamily="18" charset="0"/>
                          </a:rPr>
                        </m:ctrlPr>
                      </m:dPr>
                      <m:e>
                        <m:eqArr>
                          <m:eqArrPr>
                            <m:ctrlPr>
                              <a:rPr lang="en-US" b="0" i="1">
                                <a:latin typeface="Cambria Math" panose="02040503050406030204" pitchFamily="18" charset="0"/>
                              </a:rPr>
                            </m:ctrlPr>
                          </m:eqArrPr>
                          <m:e>
                            <m:r>
                              <a:rPr lang="en-US" b="0" i="1">
                                <a:latin typeface="Cambria Math" panose="02040503050406030204" pitchFamily="18" charset="0"/>
                              </a:rPr>
                              <m:t>21</m:t>
                            </m:r>
                          </m:e>
                          <m:e>
                            <m:r>
                              <a:rPr lang="en-US" b="0" i="1">
                                <a:latin typeface="Cambria Math" panose="02040503050406030204" pitchFamily="18" charset="0"/>
                              </a:rPr>
                              <m:t>5</m:t>
                            </m:r>
                          </m:e>
                        </m:eqArr>
                      </m:e>
                    </m:d>
                    <m:r>
                      <a:rPr lang="en-US" b="0" i="1">
                        <a:latin typeface="Cambria Math" panose="02040503050406030204" pitchFamily="18" charset="0"/>
                      </a:rPr>
                      <m:t>=20349</m:t>
                    </m:r>
                  </m:oMath>
                </a14:m>
                <a:endParaRPr lang="en-US" dirty="0"/>
              </a:p>
              <a:p>
                <a:pPr indent="-228600" defTabSz="914400">
                  <a:lnSpc>
                    <a:spcPct val="90000"/>
                  </a:lnSpc>
                  <a:spcAft>
                    <a:spcPts val="600"/>
                  </a:spcAft>
                  <a:buFont typeface="Arial" panose="020B0604020202020204" pitchFamily="34" charset="0"/>
                  <a:buChar char="•"/>
                </a:pPr>
                <a:endParaRPr lang="en-US" dirty="0"/>
              </a:p>
              <a:p>
                <a:pPr indent="-228600" defTabSz="914400">
                  <a:lnSpc>
                    <a:spcPct val="90000"/>
                  </a:lnSpc>
                  <a:spcAft>
                    <a:spcPts val="600"/>
                  </a:spcAft>
                  <a:buFont typeface="Arial" panose="020B0604020202020204" pitchFamily="34" charset="0"/>
                  <a:buChar char="•"/>
                </a:pPr>
                <a:r>
                  <a:rPr lang="en-US" dirty="0"/>
                  <a:t>b) </a:t>
                </a:r>
                <a:r>
                  <a:rPr lang="en-US"/>
                  <a:t>Soit</a:t>
                </a:r>
                <a:r>
                  <a:rPr lang="en-US" dirty="0"/>
                  <a:t> A: Parmi les 5 boules </a:t>
                </a:r>
                <a:r>
                  <a:rPr lang="en-US"/>
                  <a:t>choisies</a:t>
                </a:r>
                <a:r>
                  <a:rPr lang="en-US" dirty="0"/>
                  <a:t>, </a:t>
                </a:r>
                <a:r>
                  <a:rPr lang="en-US"/>
                  <a:t>il</a:t>
                </a:r>
                <a:r>
                  <a:rPr lang="en-US" dirty="0"/>
                  <a:t> y a </a:t>
                </a:r>
                <a:r>
                  <a:rPr lang="en-US" dirty="0">
                    <a:effectLst/>
                  </a:rPr>
                  <a:t>2 blanches, 2 rouges et 2 noire </a:t>
                </a:r>
              </a:p>
              <a:p>
                <a:pPr indent="-228600" defTabSz="914400">
                  <a:lnSpc>
                    <a:spcPct val="90000"/>
                  </a:lnSpc>
                  <a:spcAft>
                    <a:spcPts val="600"/>
                  </a:spcAft>
                  <a:buFont typeface="Arial" panose="020B0604020202020204" pitchFamily="34" charset="0"/>
                  <a:buChar char="•"/>
                </a:pPr>
                <a:endParaRPr lang="en-US" dirty="0"/>
              </a:p>
              <a:p>
                <a:pPr indent="-228600" defTabSz="914400">
                  <a:lnSpc>
                    <a:spcPct val="90000"/>
                  </a:lnSpc>
                  <a:spcAft>
                    <a:spcPts val="600"/>
                  </a:spcAft>
                  <a:buFont typeface="Arial" panose="020B0604020202020204" pitchFamily="34" charset="0"/>
                  <a:buChar char="•"/>
                </a:pPr>
                <a14:m>
                  <m:oMath xmlns:m="http://schemas.openxmlformats.org/officeDocument/2006/math">
                    <m:r>
                      <a:rPr lang="en-US" b="0" i="1">
                        <a:latin typeface="Cambria Math" panose="02040503050406030204" pitchFamily="18" charset="0"/>
                      </a:rPr>
                      <m:t>𝑁</m:t>
                    </m:r>
                    <m:d>
                      <m:dPr>
                        <m:ctrlPr>
                          <a:rPr lang="en-US" b="0" i="1">
                            <a:latin typeface="Cambria Math" panose="02040503050406030204" pitchFamily="18" charset="0"/>
                          </a:rPr>
                        </m:ctrlPr>
                      </m:dPr>
                      <m:e>
                        <m:r>
                          <a:rPr lang="en-US" b="0" i="1">
                            <a:latin typeface="Cambria Math" panose="02040503050406030204" pitchFamily="18" charset="0"/>
                          </a:rPr>
                          <m:t>𝐴</m:t>
                        </m:r>
                      </m:e>
                    </m:d>
                    <m:r>
                      <a:rPr lang="en-US" b="0" i="1">
                        <a:latin typeface="Cambria Math" panose="02040503050406030204" pitchFamily="18" charset="0"/>
                      </a:rPr>
                      <m:t>=</m:t>
                    </m:r>
                    <m:d>
                      <m:dPr>
                        <m:ctrlPr>
                          <a:rPr lang="en-US" b="0" i="1">
                            <a:latin typeface="Cambria Math" panose="02040503050406030204" pitchFamily="18" charset="0"/>
                          </a:rPr>
                        </m:ctrlPr>
                      </m:dPr>
                      <m:e>
                        <m:eqArr>
                          <m:eqArrPr>
                            <m:ctrlPr>
                              <a:rPr lang="en-US" b="0" i="1">
                                <a:latin typeface="Cambria Math" panose="02040503050406030204" pitchFamily="18" charset="0"/>
                              </a:rPr>
                            </m:ctrlPr>
                          </m:eqArrPr>
                          <m:e>
                            <m:r>
                              <a:rPr lang="en-US" b="0" i="1">
                                <a:latin typeface="Cambria Math" panose="02040503050406030204" pitchFamily="18" charset="0"/>
                              </a:rPr>
                              <m:t>8</m:t>
                            </m:r>
                          </m:e>
                          <m:e>
                            <m:r>
                              <a:rPr lang="en-US" b="0" i="1">
                                <a:latin typeface="Cambria Math" panose="02040503050406030204" pitchFamily="18" charset="0"/>
                              </a:rPr>
                              <m:t>2</m:t>
                            </m:r>
                          </m:e>
                        </m:eqArr>
                      </m:e>
                    </m:d>
                    <m:d>
                      <m:dPr>
                        <m:ctrlPr>
                          <a:rPr lang="en-US" b="0" i="1">
                            <a:latin typeface="Cambria Math" panose="02040503050406030204" pitchFamily="18" charset="0"/>
                          </a:rPr>
                        </m:ctrlPr>
                      </m:dPr>
                      <m:e>
                        <m:eqArr>
                          <m:eqArrPr>
                            <m:ctrlPr>
                              <a:rPr lang="en-US" b="0" i="1">
                                <a:latin typeface="Cambria Math" panose="02040503050406030204" pitchFamily="18" charset="0"/>
                              </a:rPr>
                            </m:ctrlPr>
                          </m:eqArrPr>
                          <m:e>
                            <m:r>
                              <a:rPr lang="en-US" b="0" i="1">
                                <a:latin typeface="Cambria Math" panose="02040503050406030204" pitchFamily="18" charset="0"/>
                              </a:rPr>
                              <m:t>6</m:t>
                            </m:r>
                          </m:e>
                          <m:e>
                            <m:r>
                              <a:rPr lang="en-US" b="0" i="1">
                                <a:latin typeface="Cambria Math" panose="02040503050406030204" pitchFamily="18" charset="0"/>
                              </a:rPr>
                              <m:t>2</m:t>
                            </m:r>
                          </m:e>
                        </m:eqArr>
                      </m:e>
                    </m:d>
                    <m:d>
                      <m:dPr>
                        <m:ctrlPr>
                          <a:rPr lang="en-US" b="0" i="1">
                            <a:latin typeface="Cambria Math" panose="02040503050406030204" pitchFamily="18" charset="0"/>
                          </a:rPr>
                        </m:ctrlPr>
                      </m:dPr>
                      <m:e>
                        <m:eqArr>
                          <m:eqArrPr>
                            <m:ctrlPr>
                              <a:rPr lang="en-US" b="0" i="1">
                                <a:latin typeface="Cambria Math" panose="02040503050406030204" pitchFamily="18" charset="0"/>
                              </a:rPr>
                            </m:ctrlPr>
                          </m:eqArrPr>
                          <m:e>
                            <m:r>
                              <a:rPr lang="en-US" b="0" i="1">
                                <a:latin typeface="Cambria Math" panose="02040503050406030204" pitchFamily="18" charset="0"/>
                              </a:rPr>
                              <m:t>7</m:t>
                            </m:r>
                          </m:e>
                          <m:e>
                            <m:r>
                              <a:rPr lang="en-US" b="0" i="1">
                                <a:latin typeface="Cambria Math" panose="02040503050406030204" pitchFamily="18" charset="0"/>
                              </a:rPr>
                              <m:t>1</m:t>
                            </m:r>
                          </m:e>
                        </m:eqArr>
                      </m:e>
                    </m:d>
                    <m:r>
                      <a:rPr lang="en-US" b="0" i="1">
                        <a:latin typeface="Cambria Math" panose="02040503050406030204" pitchFamily="18" charset="0"/>
                      </a:rPr>
                      <m:t>=3528</m:t>
                    </m:r>
                  </m:oMath>
                </a14:m>
                <a:endParaRPr lang="en-US" dirty="0"/>
              </a:p>
              <a:p>
                <a:pPr indent="-228600" defTabSz="914400">
                  <a:lnSpc>
                    <a:spcPct val="90000"/>
                  </a:lnSpc>
                  <a:spcAft>
                    <a:spcPts val="600"/>
                  </a:spcAft>
                  <a:buFont typeface="Arial" panose="020B0604020202020204" pitchFamily="34" charset="0"/>
                  <a:buChar char="•"/>
                </a:pPr>
                <a:endParaRPr lang="en-US" dirty="0"/>
              </a:p>
              <a:p>
                <a:pPr indent="-228600" defTabSz="914400">
                  <a:lnSpc>
                    <a:spcPct val="90000"/>
                  </a:lnSpc>
                  <a:spcAft>
                    <a:spcPts val="600"/>
                  </a:spcAft>
                  <a:buFont typeface="Arial" panose="020B0604020202020204" pitchFamily="34" charset="0"/>
                  <a:buChar char="•"/>
                </a:pPr>
                <a:r>
                  <a:rPr lang="en-US"/>
                  <a:t>Donc</a:t>
                </a:r>
                <a:r>
                  <a:rPr lang="en-US" dirty="0"/>
                  <a:t>    </a:t>
                </a:r>
                <a14:m>
                  <m:oMath xmlns:m="http://schemas.openxmlformats.org/officeDocument/2006/math">
                    <m:r>
                      <a:rPr lang="en-US" b="0" i="1">
                        <a:latin typeface="Cambria Math" panose="02040503050406030204" pitchFamily="18" charset="0"/>
                      </a:rPr>
                      <m:t>𝑃</m:t>
                    </m:r>
                    <m:d>
                      <m:dPr>
                        <m:ctrlPr>
                          <a:rPr lang="en-US" b="0" i="1">
                            <a:latin typeface="Cambria Math" panose="02040503050406030204" pitchFamily="18" charset="0"/>
                          </a:rPr>
                        </m:ctrlPr>
                      </m:dPr>
                      <m:e>
                        <m:r>
                          <a:rPr lang="en-US" b="0" i="1">
                            <a:latin typeface="Cambria Math" panose="02040503050406030204" pitchFamily="18" charset="0"/>
                          </a:rPr>
                          <m:t>𝐴</m:t>
                        </m:r>
                      </m:e>
                    </m:d>
                    <m:r>
                      <a:rPr lang="en-US" b="0" i="1">
                        <a:latin typeface="Cambria Math" panose="02040503050406030204" pitchFamily="18" charset="0"/>
                      </a:rPr>
                      <m:t>=</m:t>
                    </m:r>
                    <m:f>
                      <m:fPr>
                        <m:ctrlPr>
                          <a:rPr lang="en-US" b="0" i="1">
                            <a:latin typeface="Cambria Math" panose="02040503050406030204" pitchFamily="18" charset="0"/>
                          </a:rPr>
                        </m:ctrlPr>
                      </m:fPr>
                      <m:num>
                        <m:r>
                          <a:rPr lang="en-US" b="0" i="1">
                            <a:latin typeface="Cambria Math" panose="02040503050406030204" pitchFamily="18" charset="0"/>
                          </a:rPr>
                          <m:t>3528</m:t>
                        </m:r>
                      </m:num>
                      <m:den>
                        <m:r>
                          <a:rPr lang="en-US" b="0" i="1">
                            <a:latin typeface="Cambria Math" panose="02040503050406030204" pitchFamily="18" charset="0"/>
                          </a:rPr>
                          <m:t>20349</m:t>
                        </m:r>
                      </m:den>
                    </m:f>
                    <m:r>
                      <a:rPr lang="en-US" b="0" i="1">
                        <a:latin typeface="Cambria Math" panose="02040503050406030204" pitchFamily="18" charset="0"/>
                      </a:rPr>
                      <m:t>=0,1734</m:t>
                    </m:r>
                  </m:oMath>
                </a14:m>
                <a:endParaRPr lang="en-US" dirty="0"/>
              </a:p>
            </p:txBody>
          </p:sp>
        </mc:Choice>
        <mc:Fallback xmlns="">
          <p:sp>
            <p:nvSpPr>
              <p:cNvPr id="5" name="ZoneTexte 4">
                <a:extLst>
                  <a:ext uri="{FF2B5EF4-FFF2-40B4-BE49-F238E27FC236}">
                    <a16:creationId xmlns:a16="http://schemas.microsoft.com/office/drawing/2014/main" id="{7B5FF472-7455-49D4-93BD-BD86E32DED9F}"/>
                  </a:ext>
                </a:extLst>
              </p:cNvPr>
              <p:cNvSpPr txBox="1">
                <a:spLocks noRot="1" noChangeAspect="1" noMove="1" noResize="1" noEditPoints="1" noAdjustHandles="1" noChangeArrowheads="1" noChangeShapeType="1" noTextEdit="1"/>
              </p:cNvSpPr>
              <p:nvPr/>
            </p:nvSpPr>
            <p:spPr>
              <a:xfrm>
                <a:off x="4447308" y="591344"/>
                <a:ext cx="6906491" cy="5585619"/>
              </a:xfrm>
              <a:prstGeom prst="rect">
                <a:avLst/>
              </a:prstGeom>
              <a:blipFill>
                <a:blip r:embed="rId2"/>
                <a:stretch>
                  <a:fillRect l="-795"/>
                </a:stretch>
              </a:blipFill>
            </p:spPr>
            <p:txBody>
              <a:bodyPr/>
              <a:lstStyle/>
              <a:p>
                <a:r>
                  <a:rPr lang="fr-CA">
                    <a:noFill/>
                  </a:rPr>
                  <a:t> </a:t>
                </a:r>
              </a:p>
            </p:txBody>
          </p:sp>
        </mc:Fallback>
      </mc:AlternateContent>
      <p:sp>
        <p:nvSpPr>
          <p:cNvPr id="3" name="Espace réservé du pied de page 2">
            <a:extLst>
              <a:ext uri="{FF2B5EF4-FFF2-40B4-BE49-F238E27FC236}">
                <a16:creationId xmlns:a16="http://schemas.microsoft.com/office/drawing/2014/main" id="{CF349FB5-C46D-4960-A481-B981A715F2DD}"/>
              </a:ext>
            </a:extLst>
          </p:cNvPr>
          <p:cNvSpPr>
            <a:spLocks noGrp="1"/>
          </p:cNvSpPr>
          <p:nvPr>
            <p:ph type="ftr" sz="quarter" idx="11"/>
          </p:nvPr>
        </p:nvSpPr>
        <p:spPr>
          <a:xfrm>
            <a:off x="4038600" y="6356350"/>
            <a:ext cx="5251174" cy="365125"/>
          </a:xfrm>
        </p:spPr>
        <p:txBody>
          <a:bodyPr vert="horz" lIns="91440" tIns="45720" rIns="91440" bIns="45720" rtlCol="0" anchor="ctr">
            <a:normAutofit/>
          </a:bodyPr>
          <a:lstStyle/>
          <a:p>
            <a:pPr defTabSz="914400"/>
            <a:endParaRPr lang="en-US" sz="1200" kern="1200">
              <a:solidFill>
                <a:schemeClr val="tx1">
                  <a:tint val="75000"/>
                </a:schemeClr>
              </a:solidFill>
              <a:latin typeface="+mn-lt"/>
              <a:ea typeface="+mn-ea"/>
              <a:cs typeface="+mn-cs"/>
            </a:endParaRPr>
          </a:p>
        </p:txBody>
      </p:sp>
      <p:sp>
        <p:nvSpPr>
          <p:cNvPr id="4" name="Espace réservé du numéro de diapositive 3">
            <a:extLst>
              <a:ext uri="{FF2B5EF4-FFF2-40B4-BE49-F238E27FC236}">
                <a16:creationId xmlns:a16="http://schemas.microsoft.com/office/drawing/2014/main" id="{C59D868D-606D-4A04-8373-80F505919294}"/>
              </a:ext>
            </a:extLst>
          </p:cNvPr>
          <p:cNvSpPr>
            <a:spLocks noGrp="1"/>
          </p:cNvSpPr>
          <p:nvPr>
            <p:ph type="sldNum" sz="quarter" idx="12"/>
          </p:nvPr>
        </p:nvSpPr>
        <p:spPr>
          <a:xfrm>
            <a:off x="9541564" y="6356350"/>
            <a:ext cx="1812235" cy="365125"/>
          </a:xfrm>
        </p:spPr>
        <p:txBody>
          <a:bodyPr vert="horz" lIns="91440" tIns="45720" rIns="91440" bIns="45720" rtlCol="0" anchor="ctr">
            <a:normAutofit/>
          </a:bodyPr>
          <a:lstStyle/>
          <a:p>
            <a:pPr defTabSz="914400">
              <a:spcAft>
                <a:spcPts val="600"/>
              </a:spcAft>
            </a:pPr>
            <a:fld id="{26377AD9-CE17-438C-A638-C64D2D42D7CF}" type="slidenum">
              <a:rPr lang="en-US" smtClean="0"/>
              <a:pPr defTabSz="914400">
                <a:spcAft>
                  <a:spcPts val="600"/>
                </a:spcAft>
              </a:pPr>
              <a:t>4</a:t>
            </a:fld>
            <a:endParaRPr lang="en-US"/>
          </a:p>
        </p:txBody>
      </p:sp>
    </p:spTree>
    <p:extLst>
      <p:ext uri="{BB962C8B-B14F-4D97-AF65-F5344CB8AC3E}">
        <p14:creationId xmlns:p14="http://schemas.microsoft.com/office/powerpoint/2010/main" val="25517746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42A5316D-ED2F-4F89-B4B4-8D9240B1A3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BBC95AF2-E31D-4C58-A1A0-77C0506665CD}"/>
                  </a:ext>
                </a:extLst>
              </p:cNvPr>
              <p:cNvSpPr txBox="1"/>
              <p:nvPr/>
            </p:nvSpPr>
            <p:spPr>
              <a:xfrm>
                <a:off x="4038600" y="1165225"/>
                <a:ext cx="2774950" cy="4524375"/>
              </a:xfrm>
              <a:prstGeom prst="rect">
                <a:avLst/>
              </a:prstGeom>
              <a:noFill/>
            </p:spPr>
            <p:txBody>
              <a:bodyPr wrap="square" rtlCol="0" anchor="t">
                <a:normAutofit/>
              </a:bodyPr>
              <a:lstStyle/>
              <a:p>
                <a:pPr>
                  <a:lnSpc>
                    <a:spcPct val="90000"/>
                  </a:lnSpc>
                  <a:spcAft>
                    <a:spcPts val="600"/>
                  </a:spcAft>
                </a:pPr>
                <a:r>
                  <a:rPr lang="fr-FR" sz="2800" b="0">
                    <a:solidFill>
                      <a:srgbClr val="000000"/>
                    </a:solidFill>
                    <a:effectLst/>
                    <a:latin typeface="Times New Roman" panose="02020603050405020304" pitchFamily="18" charset="0"/>
                    <a:ea typeface="Times New Roman" panose="02020603050405020304" pitchFamily="18" charset="0"/>
                    <a:cs typeface="HelveticaNeueLT Std Cn"/>
                  </a:rPr>
                  <a:t>Si on a </a:t>
                </a:r>
                <a:r>
                  <a:rPr lang="fr-FR" sz="2800" b="0" i="1">
                    <a:solidFill>
                      <a:srgbClr val="000000"/>
                    </a:solidFill>
                    <a:effectLst/>
                    <a:latin typeface="Times New Roman" panose="02020603050405020304" pitchFamily="18" charset="0"/>
                    <a:ea typeface="Times New Roman" panose="02020603050405020304" pitchFamily="18" charset="0"/>
                    <a:cs typeface="HelveticaNeueLT Std Cn"/>
                  </a:rPr>
                  <a:t>n </a:t>
                </a:r>
                <a:r>
                  <a:rPr lang="fr-FR" sz="2800" b="0">
                    <a:solidFill>
                      <a:srgbClr val="000000"/>
                    </a:solidFill>
                    <a:effectLst/>
                    <a:latin typeface="Times New Roman" panose="02020603050405020304" pitchFamily="18" charset="0"/>
                    <a:ea typeface="Times New Roman" panose="02020603050405020304" pitchFamily="18" charset="0"/>
                    <a:cs typeface="HelveticaNeueLT Std Cn"/>
                  </a:rPr>
                  <a:t>objets, dont </a:t>
                </a:r>
                <a:r>
                  <a:rPr lang="fr-FR" sz="2800" b="0" i="1">
                    <a:solidFill>
                      <a:srgbClr val="000000"/>
                    </a:solidFill>
                    <a:effectLst/>
                    <a:latin typeface="Times New Roman" panose="02020603050405020304" pitchFamily="18" charset="0"/>
                    <a:ea typeface="Times New Roman" panose="02020603050405020304" pitchFamily="18" charset="0"/>
                    <a:cs typeface="HelveticaNeueLT Std Cn"/>
                  </a:rPr>
                  <a:t>n</a:t>
                </a:r>
                <a:r>
                  <a:rPr lang="fr-FR" sz="2800" b="0" baseline="-25000">
                    <a:solidFill>
                      <a:srgbClr val="000000"/>
                    </a:solidFill>
                    <a:effectLst/>
                    <a:latin typeface="Times New Roman" panose="02020603050405020304" pitchFamily="18" charset="0"/>
                    <a:ea typeface="Times New Roman" panose="02020603050405020304" pitchFamily="18" charset="0"/>
                    <a:cs typeface="HelveticaNeueLT Std Cn"/>
                  </a:rPr>
                  <a:t>1</a:t>
                </a:r>
                <a:r>
                  <a:rPr lang="fr-FR" sz="2800" b="0">
                    <a:solidFill>
                      <a:srgbClr val="000000"/>
                    </a:solidFill>
                    <a:effectLst/>
                    <a:latin typeface="Times New Roman" panose="02020603050405020304" pitchFamily="18" charset="0"/>
                    <a:ea typeface="Times New Roman" panose="02020603050405020304" pitchFamily="18" charset="0"/>
                    <a:cs typeface="HelveticaNeueLT Std Cn"/>
                  </a:rPr>
                  <a:t> sont de type 1, </a:t>
                </a:r>
                <a:r>
                  <a:rPr lang="fr-FR" sz="2800" b="0" i="1">
                    <a:solidFill>
                      <a:srgbClr val="000000"/>
                    </a:solidFill>
                    <a:effectLst/>
                    <a:latin typeface="Times New Roman" panose="02020603050405020304" pitchFamily="18" charset="0"/>
                    <a:ea typeface="Times New Roman" panose="02020603050405020304" pitchFamily="18" charset="0"/>
                    <a:cs typeface="HelveticaNeueLT Std Cn"/>
                  </a:rPr>
                  <a:t>n</a:t>
                </a:r>
                <a:r>
                  <a:rPr lang="fr-FR" sz="2800" b="0" baseline="-25000">
                    <a:solidFill>
                      <a:srgbClr val="000000"/>
                    </a:solidFill>
                    <a:effectLst/>
                    <a:latin typeface="Times New Roman" panose="02020603050405020304" pitchFamily="18" charset="0"/>
                    <a:ea typeface="Times New Roman" panose="02020603050405020304" pitchFamily="18" charset="0"/>
                    <a:cs typeface="HelveticaNeueLT Std Cn"/>
                  </a:rPr>
                  <a:t>2</a:t>
                </a:r>
                <a:r>
                  <a:rPr lang="fr-FR" sz="2800" b="0">
                    <a:solidFill>
                      <a:srgbClr val="000000"/>
                    </a:solidFill>
                    <a:effectLst/>
                    <a:latin typeface="Times New Roman" panose="02020603050405020304" pitchFamily="18" charset="0"/>
                    <a:ea typeface="Times New Roman" panose="02020603050405020304" pitchFamily="18" charset="0"/>
                    <a:cs typeface="HelveticaNeueLT Std Cn"/>
                  </a:rPr>
                  <a:t> sont de type 2, … </a:t>
                </a:r>
                <a:r>
                  <a:rPr lang="fr-FR" sz="2800" b="0" i="1" err="1">
                    <a:solidFill>
                      <a:srgbClr val="000000"/>
                    </a:solidFill>
                    <a:effectLst/>
                    <a:latin typeface="Times New Roman" panose="02020603050405020304" pitchFamily="18" charset="0"/>
                    <a:ea typeface="Times New Roman" panose="02020603050405020304" pitchFamily="18" charset="0"/>
                    <a:cs typeface="HelveticaNeueLT Std Cn"/>
                  </a:rPr>
                  <a:t>n</a:t>
                </a:r>
                <a:r>
                  <a:rPr lang="fr-FR" sz="2800" b="0" i="1" baseline="-25000" err="1">
                    <a:solidFill>
                      <a:srgbClr val="000000"/>
                    </a:solidFill>
                    <a:effectLst/>
                    <a:latin typeface="Times New Roman" panose="02020603050405020304" pitchFamily="18" charset="0"/>
                    <a:ea typeface="Times New Roman" panose="02020603050405020304" pitchFamily="18" charset="0"/>
                    <a:cs typeface="HelveticaNeueLT Std Cn"/>
                  </a:rPr>
                  <a:t>k</a:t>
                </a:r>
                <a:r>
                  <a:rPr lang="fr-FR" sz="2800" b="0">
                    <a:solidFill>
                      <a:srgbClr val="000000"/>
                    </a:solidFill>
                    <a:effectLst/>
                    <a:latin typeface="Times New Roman" panose="02020603050405020304" pitchFamily="18" charset="0"/>
                    <a:ea typeface="Times New Roman" panose="02020603050405020304" pitchFamily="18" charset="0"/>
                    <a:cs typeface="HelveticaNeueLT Std Cn"/>
                  </a:rPr>
                  <a:t> sont de type </a:t>
                </a:r>
                <a:r>
                  <a:rPr lang="fr-FR" sz="2800" i="1">
                    <a:solidFill>
                      <a:srgbClr val="000000"/>
                    </a:solidFill>
                    <a:latin typeface="Times New Roman" panose="02020603050405020304" pitchFamily="18" charset="0"/>
                    <a:ea typeface="Times New Roman" panose="02020603050405020304" pitchFamily="18" charset="0"/>
                    <a:cs typeface="HelveticaNeueLT Std Cn"/>
                  </a:rPr>
                  <a:t>k</a:t>
                </a:r>
                <a:r>
                  <a:rPr lang="fr-FR" sz="2800" b="0">
                    <a:solidFill>
                      <a:srgbClr val="000000"/>
                    </a:solidFill>
                    <a:effectLst/>
                    <a:latin typeface="Times New Roman" panose="02020603050405020304" pitchFamily="18" charset="0"/>
                    <a:ea typeface="Times New Roman" panose="02020603050405020304" pitchFamily="18" charset="0"/>
                    <a:cs typeface="HelveticaNeueLT Std Cn"/>
                  </a:rPr>
                  <a:t>, alors le nombre de façons de permuter ces</a:t>
                </a:r>
                <a:r>
                  <a:rPr lang="fr-FR" sz="2800" b="0" i="1">
                    <a:solidFill>
                      <a:srgbClr val="000000"/>
                    </a:solidFill>
                    <a:effectLst/>
                    <a:latin typeface="Times New Roman" panose="02020603050405020304" pitchFamily="18" charset="0"/>
                    <a:ea typeface="Times New Roman" panose="02020603050405020304" pitchFamily="18" charset="0"/>
                    <a:cs typeface="HelveticaNeueLT Std Cn"/>
                  </a:rPr>
                  <a:t> n </a:t>
                </a:r>
                <a:r>
                  <a:rPr lang="fr-FR" sz="2800" b="0">
                    <a:solidFill>
                      <a:srgbClr val="000000"/>
                    </a:solidFill>
                    <a:effectLst/>
                    <a:latin typeface="Times New Roman" panose="02020603050405020304" pitchFamily="18" charset="0"/>
                    <a:ea typeface="Times New Roman" panose="02020603050405020304" pitchFamily="18" charset="0"/>
                    <a:cs typeface="HelveticaNeueLT Std Cn"/>
                  </a:rPr>
                  <a:t>objets est : </a:t>
                </a:r>
                <a14:m>
                  <m:oMath xmlns:m="http://schemas.openxmlformats.org/officeDocument/2006/math">
                    <m:d>
                      <m:dPr>
                        <m:ctrlPr>
                          <a:rPr lang="fr-FR" sz="2800" b="0" i="1" smtClean="0">
                            <a:solidFill>
                              <a:srgbClr val="000000"/>
                            </a:solidFill>
                            <a:effectLst/>
                            <a:latin typeface="Cambria Math" panose="02040503050406030204" pitchFamily="18" charset="0"/>
                          </a:rPr>
                        </m:ctrlPr>
                      </m:dPr>
                      <m:e>
                        <m:eqArr>
                          <m:eqArrPr>
                            <m:ctrlPr>
                              <a:rPr lang="fr-CA" sz="2800" b="0" i="1" smtClean="0">
                                <a:solidFill>
                                  <a:srgbClr val="000000"/>
                                </a:solidFill>
                                <a:effectLst/>
                                <a:latin typeface="Cambria Math" panose="02040503050406030204" pitchFamily="18" charset="0"/>
                              </a:rPr>
                            </m:ctrlPr>
                          </m:eqArrPr>
                          <m:e>
                            <m:r>
                              <a:rPr lang="fr-CA" sz="2800" b="0" i="1" smtClean="0">
                                <a:solidFill>
                                  <a:srgbClr val="000000"/>
                                </a:solidFill>
                                <a:effectLst/>
                                <a:latin typeface="Cambria Math" panose="02040503050406030204" pitchFamily="18" charset="0"/>
                              </a:rPr>
                              <m:t>𝑛</m:t>
                            </m:r>
                          </m:e>
                          <m:e>
                            <m:sSub>
                              <m:sSubPr>
                                <m:ctrlPr>
                                  <a:rPr lang="fr-CA" sz="2800" b="0" i="1" smtClean="0">
                                    <a:solidFill>
                                      <a:srgbClr val="000000"/>
                                    </a:solidFill>
                                    <a:effectLst/>
                                    <a:latin typeface="Cambria Math" panose="02040503050406030204" pitchFamily="18" charset="0"/>
                                  </a:rPr>
                                </m:ctrlPr>
                              </m:sSubPr>
                              <m:e>
                                <m:r>
                                  <a:rPr lang="fr-CA" sz="2800" b="0" i="1" smtClean="0">
                                    <a:solidFill>
                                      <a:srgbClr val="000000"/>
                                    </a:solidFill>
                                    <a:effectLst/>
                                    <a:latin typeface="Cambria Math" panose="02040503050406030204" pitchFamily="18" charset="0"/>
                                  </a:rPr>
                                  <m:t>𝑛</m:t>
                                </m:r>
                              </m:e>
                              <m:sub>
                                <m:r>
                                  <a:rPr lang="fr-CA" sz="2800" b="0" i="1" smtClean="0">
                                    <a:solidFill>
                                      <a:srgbClr val="000000"/>
                                    </a:solidFill>
                                    <a:effectLst/>
                                    <a:latin typeface="Cambria Math" panose="02040503050406030204" pitchFamily="18" charset="0"/>
                                  </a:rPr>
                                  <m:t>1</m:t>
                                </m:r>
                              </m:sub>
                            </m:sSub>
                            <m:sSub>
                              <m:sSubPr>
                                <m:ctrlPr>
                                  <a:rPr lang="fr-CA" sz="2800" b="0" i="1" smtClean="0">
                                    <a:solidFill>
                                      <a:srgbClr val="000000"/>
                                    </a:solidFill>
                                    <a:effectLst/>
                                    <a:latin typeface="Cambria Math" panose="02040503050406030204" pitchFamily="18" charset="0"/>
                                  </a:rPr>
                                </m:ctrlPr>
                              </m:sSubPr>
                              <m:e>
                                <m:r>
                                  <a:rPr lang="fr-CA" sz="2800" b="0" i="1" smtClean="0">
                                    <a:solidFill>
                                      <a:srgbClr val="000000"/>
                                    </a:solidFill>
                                    <a:effectLst/>
                                    <a:latin typeface="Cambria Math" panose="02040503050406030204" pitchFamily="18" charset="0"/>
                                  </a:rPr>
                                  <m:t>𝑛</m:t>
                                </m:r>
                              </m:e>
                              <m:sub>
                                <m:r>
                                  <a:rPr lang="fr-CA" sz="2800" b="0" i="1" smtClean="0">
                                    <a:solidFill>
                                      <a:srgbClr val="000000"/>
                                    </a:solidFill>
                                    <a:effectLst/>
                                    <a:latin typeface="Cambria Math" panose="02040503050406030204" pitchFamily="18" charset="0"/>
                                  </a:rPr>
                                  <m:t>2</m:t>
                                </m:r>
                              </m:sub>
                            </m:sSub>
                            <m:r>
                              <a:rPr lang="fr-CA" sz="2800" b="0" i="1" smtClean="0">
                                <a:solidFill>
                                  <a:srgbClr val="000000"/>
                                </a:solidFill>
                                <a:effectLst/>
                                <a:latin typeface="Cambria Math" panose="02040503050406030204" pitchFamily="18" charset="0"/>
                              </a:rPr>
                              <m:t>….</m:t>
                            </m:r>
                            <m:sSub>
                              <m:sSubPr>
                                <m:ctrlPr>
                                  <a:rPr lang="fr-CA" sz="2800" b="0" i="1" smtClean="0">
                                    <a:solidFill>
                                      <a:srgbClr val="000000"/>
                                    </a:solidFill>
                                    <a:effectLst/>
                                    <a:latin typeface="Cambria Math" panose="02040503050406030204" pitchFamily="18" charset="0"/>
                                  </a:rPr>
                                </m:ctrlPr>
                              </m:sSubPr>
                              <m:e>
                                <m:r>
                                  <a:rPr lang="fr-CA" sz="2800" b="0" i="1" smtClean="0">
                                    <a:solidFill>
                                      <a:srgbClr val="000000"/>
                                    </a:solidFill>
                                    <a:effectLst/>
                                    <a:latin typeface="Cambria Math" panose="02040503050406030204" pitchFamily="18" charset="0"/>
                                  </a:rPr>
                                  <m:t>𝑛</m:t>
                                </m:r>
                              </m:e>
                              <m:sub>
                                <m:r>
                                  <a:rPr lang="fr-CA" sz="2800" b="0" i="1" smtClean="0">
                                    <a:solidFill>
                                      <a:srgbClr val="000000"/>
                                    </a:solidFill>
                                    <a:effectLst/>
                                    <a:latin typeface="Cambria Math" panose="02040503050406030204" pitchFamily="18" charset="0"/>
                                  </a:rPr>
                                  <m:t>𝑘</m:t>
                                </m:r>
                              </m:sub>
                            </m:sSub>
                          </m:e>
                        </m:eqArr>
                      </m:e>
                    </m:d>
                    <m:r>
                      <a:rPr lang="fr-CA" sz="2800" b="0" i="1" smtClean="0">
                        <a:solidFill>
                          <a:srgbClr val="000000"/>
                        </a:solidFill>
                        <a:effectLst/>
                        <a:latin typeface="Cambria Math" panose="02040503050406030204" pitchFamily="18" charset="0"/>
                      </a:rPr>
                      <m:t>=</m:t>
                    </m:r>
                    <m:f>
                      <m:fPr>
                        <m:ctrlPr>
                          <a:rPr lang="fr-CA" sz="2800" b="0" i="1" smtClean="0">
                            <a:solidFill>
                              <a:srgbClr val="000000"/>
                            </a:solidFill>
                            <a:effectLst/>
                            <a:latin typeface="Cambria Math" panose="02040503050406030204" pitchFamily="18" charset="0"/>
                          </a:rPr>
                        </m:ctrlPr>
                      </m:fPr>
                      <m:num>
                        <m:r>
                          <a:rPr lang="fr-CA" sz="2800" b="0" i="1" smtClean="0">
                            <a:solidFill>
                              <a:srgbClr val="000000"/>
                            </a:solidFill>
                            <a:effectLst/>
                            <a:latin typeface="Cambria Math" panose="02040503050406030204" pitchFamily="18" charset="0"/>
                          </a:rPr>
                          <m:t>𝑛</m:t>
                        </m:r>
                        <m:r>
                          <a:rPr lang="fr-CA" sz="2800" b="0" i="1" smtClean="0">
                            <a:solidFill>
                              <a:srgbClr val="000000"/>
                            </a:solidFill>
                            <a:effectLst/>
                            <a:latin typeface="Cambria Math" panose="02040503050406030204" pitchFamily="18" charset="0"/>
                          </a:rPr>
                          <m:t>!</m:t>
                        </m:r>
                      </m:num>
                      <m:den>
                        <m:sSub>
                          <m:sSubPr>
                            <m:ctrlPr>
                              <a:rPr lang="fr-CA" sz="2800" b="0" i="1" smtClean="0">
                                <a:solidFill>
                                  <a:srgbClr val="000000"/>
                                </a:solidFill>
                                <a:effectLst/>
                                <a:latin typeface="Cambria Math" panose="02040503050406030204" pitchFamily="18" charset="0"/>
                              </a:rPr>
                            </m:ctrlPr>
                          </m:sSubPr>
                          <m:e>
                            <m:r>
                              <a:rPr lang="fr-CA" sz="2800" b="0" i="1" smtClean="0">
                                <a:solidFill>
                                  <a:srgbClr val="000000"/>
                                </a:solidFill>
                                <a:effectLst/>
                                <a:latin typeface="Cambria Math" panose="02040503050406030204" pitchFamily="18" charset="0"/>
                              </a:rPr>
                              <m:t>𝑛</m:t>
                            </m:r>
                          </m:e>
                          <m:sub>
                            <m:r>
                              <a:rPr lang="fr-CA" sz="2800" b="0" i="1" smtClean="0">
                                <a:solidFill>
                                  <a:srgbClr val="000000"/>
                                </a:solidFill>
                                <a:effectLst/>
                                <a:latin typeface="Cambria Math" panose="02040503050406030204" pitchFamily="18" charset="0"/>
                              </a:rPr>
                              <m:t>1</m:t>
                            </m:r>
                          </m:sub>
                        </m:sSub>
                        <m:r>
                          <a:rPr lang="fr-CA" sz="2800" b="0" i="1" smtClean="0">
                            <a:solidFill>
                              <a:srgbClr val="000000"/>
                            </a:solidFill>
                            <a:effectLst/>
                            <a:latin typeface="Cambria Math" panose="02040503050406030204" pitchFamily="18" charset="0"/>
                          </a:rPr>
                          <m:t>!</m:t>
                        </m:r>
                        <m:sSub>
                          <m:sSubPr>
                            <m:ctrlPr>
                              <a:rPr lang="fr-CA" sz="2800" b="0" i="1" smtClean="0">
                                <a:solidFill>
                                  <a:srgbClr val="000000"/>
                                </a:solidFill>
                                <a:effectLst/>
                                <a:latin typeface="Cambria Math" panose="02040503050406030204" pitchFamily="18" charset="0"/>
                              </a:rPr>
                            </m:ctrlPr>
                          </m:sSubPr>
                          <m:e>
                            <m:r>
                              <a:rPr lang="fr-CA" sz="2800" b="0" i="1" smtClean="0">
                                <a:solidFill>
                                  <a:srgbClr val="000000"/>
                                </a:solidFill>
                                <a:effectLst/>
                                <a:latin typeface="Cambria Math" panose="02040503050406030204" pitchFamily="18" charset="0"/>
                              </a:rPr>
                              <m:t>𝑛</m:t>
                            </m:r>
                          </m:e>
                          <m:sub>
                            <m:r>
                              <a:rPr lang="fr-CA" sz="2800" b="0" i="1" smtClean="0">
                                <a:solidFill>
                                  <a:srgbClr val="000000"/>
                                </a:solidFill>
                                <a:effectLst/>
                                <a:latin typeface="Cambria Math" panose="02040503050406030204" pitchFamily="18" charset="0"/>
                              </a:rPr>
                              <m:t>2</m:t>
                            </m:r>
                          </m:sub>
                        </m:sSub>
                        <m:r>
                          <a:rPr lang="fr-CA" sz="2800" b="0" i="1" smtClean="0">
                            <a:solidFill>
                              <a:srgbClr val="000000"/>
                            </a:solidFill>
                            <a:effectLst/>
                            <a:latin typeface="Cambria Math" panose="02040503050406030204" pitchFamily="18" charset="0"/>
                          </a:rPr>
                          <m:t>!…..</m:t>
                        </m:r>
                        <m:sSub>
                          <m:sSubPr>
                            <m:ctrlPr>
                              <a:rPr lang="fr-CA" sz="2800" b="0" i="1" smtClean="0">
                                <a:solidFill>
                                  <a:srgbClr val="000000"/>
                                </a:solidFill>
                                <a:effectLst/>
                                <a:latin typeface="Cambria Math" panose="02040503050406030204" pitchFamily="18" charset="0"/>
                              </a:rPr>
                            </m:ctrlPr>
                          </m:sSubPr>
                          <m:e>
                            <m:r>
                              <a:rPr lang="fr-CA" sz="2800" b="0" i="1" smtClean="0">
                                <a:solidFill>
                                  <a:srgbClr val="000000"/>
                                </a:solidFill>
                                <a:effectLst/>
                                <a:latin typeface="Cambria Math" panose="02040503050406030204" pitchFamily="18" charset="0"/>
                              </a:rPr>
                              <m:t>𝑛</m:t>
                            </m:r>
                          </m:e>
                          <m:sub>
                            <m:r>
                              <a:rPr lang="fr-CA" sz="2800" b="0" i="1" smtClean="0">
                                <a:solidFill>
                                  <a:srgbClr val="000000"/>
                                </a:solidFill>
                                <a:effectLst/>
                                <a:latin typeface="Cambria Math" panose="02040503050406030204" pitchFamily="18" charset="0"/>
                              </a:rPr>
                              <m:t>𝑘</m:t>
                            </m:r>
                          </m:sub>
                        </m:sSub>
                        <m:r>
                          <a:rPr lang="fr-CA" sz="2800" b="0" i="1" smtClean="0">
                            <a:solidFill>
                              <a:srgbClr val="000000"/>
                            </a:solidFill>
                            <a:effectLst/>
                            <a:latin typeface="Cambria Math" panose="02040503050406030204" pitchFamily="18" charset="0"/>
                          </a:rPr>
                          <m:t>!</m:t>
                        </m:r>
                      </m:den>
                    </m:f>
                  </m:oMath>
                </a14:m>
                <a:endParaRPr lang="fr-CA" sz="2800" b="1">
                  <a:solidFill>
                    <a:srgbClr val="000000"/>
                  </a:solidFill>
                  <a:effectLst/>
                  <a:latin typeface="HelveticaNeueLT Std Cn"/>
                  <a:ea typeface="Times New Roman" panose="02020603050405020304" pitchFamily="18" charset="0"/>
                  <a:cs typeface="HelveticaNeueLT Std Cn"/>
                </a:endParaRPr>
              </a:p>
              <a:p>
                <a:pPr>
                  <a:lnSpc>
                    <a:spcPct val="90000"/>
                  </a:lnSpc>
                  <a:spcAft>
                    <a:spcPts val="600"/>
                  </a:spcAft>
                </a:pPr>
                <a:endParaRPr lang="fr-CA" sz="2800"/>
              </a:p>
            </p:txBody>
          </p:sp>
        </mc:Choice>
        <mc:Fallback xmlns="">
          <p:sp>
            <p:nvSpPr>
              <p:cNvPr id="5" name="ZoneTexte 4">
                <a:extLst>
                  <a:ext uri="{FF2B5EF4-FFF2-40B4-BE49-F238E27FC236}">
                    <a16:creationId xmlns:a16="http://schemas.microsoft.com/office/drawing/2014/main" id="{BBC95AF2-E31D-4C58-A1A0-77C0506665CD}"/>
                  </a:ext>
                </a:extLst>
              </p:cNvPr>
              <p:cNvSpPr txBox="1">
                <a:spLocks noRot="1" noChangeAspect="1" noMove="1" noResize="1" noEditPoints="1" noAdjustHandles="1" noChangeArrowheads="1" noChangeShapeType="1" noTextEdit="1"/>
              </p:cNvSpPr>
              <p:nvPr/>
            </p:nvSpPr>
            <p:spPr>
              <a:xfrm>
                <a:off x="4038600" y="1165225"/>
                <a:ext cx="2774950" cy="4524375"/>
              </a:xfrm>
              <a:prstGeom prst="rect">
                <a:avLst/>
              </a:prstGeom>
              <a:blipFill>
                <a:blip r:embed="rId3"/>
                <a:stretch>
                  <a:fillRect l="-4615" t="-2291" r="-5275"/>
                </a:stretch>
              </a:blipFill>
            </p:spPr>
            <p:txBody>
              <a:bodyPr/>
              <a:lstStyle/>
              <a:p>
                <a:r>
                  <a:rPr lang="fr-CA">
                    <a:noFill/>
                  </a:rPr>
                  <a:t> </a:t>
                </a:r>
              </a:p>
            </p:txBody>
          </p:sp>
        </mc:Fallback>
      </mc:AlternateContent>
      <mc:AlternateContent xmlns:mc="http://schemas.openxmlformats.org/markup-compatibility/2006" xmlns:a14="http://schemas.microsoft.com/office/drawing/2010/main">
        <mc:Choice Requires="a14">
          <p:sp>
            <p:nvSpPr>
              <p:cNvPr id="6" name="ZoneTexte 5">
                <a:extLst>
                  <a:ext uri="{FF2B5EF4-FFF2-40B4-BE49-F238E27FC236}">
                    <a16:creationId xmlns:a16="http://schemas.microsoft.com/office/drawing/2014/main" id="{5F4A7664-580F-4BF8-B86D-A8FC9E2278F0}"/>
                  </a:ext>
                </a:extLst>
              </p:cNvPr>
              <p:cNvSpPr txBox="1"/>
              <p:nvPr/>
            </p:nvSpPr>
            <p:spPr>
              <a:xfrm>
                <a:off x="6862763" y="1165225"/>
                <a:ext cx="4489450" cy="4524375"/>
              </a:xfrm>
              <a:prstGeom prst="rect">
                <a:avLst/>
              </a:prstGeom>
              <a:noFill/>
            </p:spPr>
            <p:txBody>
              <a:bodyPr wrap="square" rtlCol="0" anchor="t">
                <a:normAutofit/>
              </a:bodyPr>
              <a:lstStyle/>
              <a:p>
                <a:pPr>
                  <a:lnSpc>
                    <a:spcPct val="90000"/>
                  </a:lnSpc>
                  <a:spcAft>
                    <a:spcPts val="600"/>
                  </a:spcAft>
                </a:pPr>
                <a:r>
                  <a:rPr lang="fr-CA" sz="2200" b="1" dirty="0"/>
                  <a:t>Exemple:</a:t>
                </a:r>
                <a:r>
                  <a:rPr lang="fr-CA" sz="2200" dirty="0"/>
                  <a:t> On donne les lettres qui forment  STATISTIQUE à un singe, combien de mots de 11 lettres peut-il former?</a:t>
                </a:r>
              </a:p>
              <a:p>
                <a:pPr>
                  <a:lnSpc>
                    <a:spcPct val="90000"/>
                  </a:lnSpc>
                  <a:spcAft>
                    <a:spcPts val="600"/>
                  </a:spcAft>
                </a:pPr>
                <a:endParaRPr lang="fr-CA" sz="2200" dirty="0"/>
              </a:p>
              <a:p>
                <a:pPr>
                  <a:lnSpc>
                    <a:spcPct val="90000"/>
                  </a:lnSpc>
                  <a:spcAft>
                    <a:spcPts val="600"/>
                  </a:spcAft>
                </a:pPr>
                <a:r>
                  <a:rPr lang="fr-CA" sz="2200" b="1" dirty="0"/>
                  <a:t>Réponse:  </a:t>
                </a:r>
                <a:r>
                  <a:rPr lang="fr-CA" sz="2200" dirty="0"/>
                  <a:t>On a 11 lettres en tout dont 3 ‘T’; 2 ‘S’; 2 ‘I’; 1 ‘A’; 1 ‘Q’; 1  ‘U’  et 1’E ’  donc le singe peut former:</a:t>
                </a:r>
              </a:p>
              <a:p>
                <a:pPr>
                  <a:lnSpc>
                    <a:spcPct val="90000"/>
                  </a:lnSpc>
                  <a:spcAft>
                    <a:spcPts val="600"/>
                  </a:spcAft>
                </a:pPr>
                <a:endParaRPr lang="fr-CA" sz="2200" b="1" dirty="0"/>
              </a:p>
              <a:p>
                <a:pPr>
                  <a:lnSpc>
                    <a:spcPct val="90000"/>
                  </a:lnSpc>
                  <a:spcAft>
                    <a:spcPts val="600"/>
                  </a:spcAft>
                </a:pPr>
                <a14:m>
                  <m:oMathPara xmlns:m="http://schemas.openxmlformats.org/officeDocument/2006/math">
                    <m:oMathParaPr>
                      <m:jc m:val="centerGroup"/>
                    </m:oMathParaPr>
                    <m:oMath xmlns:m="http://schemas.openxmlformats.org/officeDocument/2006/math">
                      <m:d>
                        <m:dPr>
                          <m:ctrlPr>
                            <a:rPr lang="fr-CA" sz="2200" b="1" i="1" smtClean="0">
                              <a:latin typeface="Cambria Math" panose="02040503050406030204" pitchFamily="18" charset="0"/>
                            </a:rPr>
                          </m:ctrlPr>
                        </m:dPr>
                        <m:e>
                          <m:eqArr>
                            <m:eqArrPr>
                              <m:ctrlPr>
                                <a:rPr lang="fr-CA" sz="2200" b="1" i="1" smtClean="0">
                                  <a:latin typeface="Cambria Math" panose="02040503050406030204" pitchFamily="18" charset="0"/>
                                </a:rPr>
                              </m:ctrlPr>
                            </m:eqArrPr>
                            <m:e>
                              <m:r>
                                <a:rPr lang="fr-CA" sz="2200" b="1" i="1" smtClean="0">
                                  <a:latin typeface="Cambria Math" panose="02040503050406030204" pitchFamily="18" charset="0"/>
                                </a:rPr>
                                <m:t>𝟏𝟏</m:t>
                              </m:r>
                            </m:e>
                            <m:e>
                              <m:r>
                                <a:rPr lang="fr-CA" sz="2200" b="1" i="1" smtClean="0">
                                  <a:latin typeface="Cambria Math" panose="02040503050406030204" pitchFamily="18" charset="0"/>
                                </a:rPr>
                                <m:t>𝟑</m:t>
                              </m:r>
                              <m:r>
                                <a:rPr lang="fr-CA" sz="2200" b="1" i="1" smtClean="0">
                                  <a:latin typeface="Cambria Math" panose="02040503050406030204" pitchFamily="18" charset="0"/>
                                </a:rPr>
                                <m:t>, </m:t>
                              </m:r>
                              <m:r>
                                <a:rPr lang="fr-CA" sz="2200" b="1" i="1" smtClean="0">
                                  <a:latin typeface="Cambria Math" panose="02040503050406030204" pitchFamily="18" charset="0"/>
                                </a:rPr>
                                <m:t>𝟐</m:t>
                              </m:r>
                              <m:r>
                                <a:rPr lang="fr-CA" sz="2200" b="1" i="1" smtClean="0">
                                  <a:latin typeface="Cambria Math" panose="02040503050406030204" pitchFamily="18" charset="0"/>
                                </a:rPr>
                                <m:t>,</m:t>
                              </m:r>
                              <m:r>
                                <a:rPr lang="fr-CA" sz="2200" b="1" i="1" smtClean="0">
                                  <a:latin typeface="Cambria Math" panose="02040503050406030204" pitchFamily="18" charset="0"/>
                                </a:rPr>
                                <m:t>𝟐</m:t>
                              </m:r>
                              <m:r>
                                <a:rPr lang="fr-CA" sz="2200" b="1" i="1" smtClean="0">
                                  <a:latin typeface="Cambria Math" panose="02040503050406030204" pitchFamily="18" charset="0"/>
                                </a:rPr>
                                <m:t>,</m:t>
                              </m:r>
                              <m:r>
                                <a:rPr lang="fr-CA" sz="2200" b="1" i="1" smtClean="0">
                                  <a:latin typeface="Cambria Math" panose="02040503050406030204" pitchFamily="18" charset="0"/>
                                </a:rPr>
                                <m:t>𝟏</m:t>
                              </m:r>
                              <m:r>
                                <a:rPr lang="fr-CA" sz="2200" b="1" i="1" smtClean="0">
                                  <a:latin typeface="Cambria Math" panose="02040503050406030204" pitchFamily="18" charset="0"/>
                                </a:rPr>
                                <m:t>,</m:t>
                              </m:r>
                              <m:r>
                                <a:rPr lang="fr-CA" sz="2200" b="1" i="1" smtClean="0">
                                  <a:latin typeface="Cambria Math" panose="02040503050406030204" pitchFamily="18" charset="0"/>
                                </a:rPr>
                                <m:t>𝟏</m:t>
                              </m:r>
                              <m:r>
                                <a:rPr lang="fr-CA" sz="2200" b="1" i="1" smtClean="0">
                                  <a:latin typeface="Cambria Math" panose="02040503050406030204" pitchFamily="18" charset="0"/>
                                </a:rPr>
                                <m:t>,</m:t>
                              </m:r>
                              <m:r>
                                <a:rPr lang="fr-CA" sz="2200" b="1" i="1" smtClean="0">
                                  <a:latin typeface="Cambria Math" panose="02040503050406030204" pitchFamily="18" charset="0"/>
                                </a:rPr>
                                <m:t>𝟏</m:t>
                              </m:r>
                              <m:r>
                                <a:rPr lang="fr-CA" sz="2200" b="1" i="1" smtClean="0">
                                  <a:latin typeface="Cambria Math" panose="02040503050406030204" pitchFamily="18" charset="0"/>
                                </a:rPr>
                                <m:t>,</m:t>
                              </m:r>
                              <m:r>
                                <a:rPr lang="fr-CA" sz="2200" b="1" i="1" smtClean="0">
                                  <a:latin typeface="Cambria Math" panose="02040503050406030204" pitchFamily="18" charset="0"/>
                                </a:rPr>
                                <m:t>𝟏</m:t>
                              </m:r>
                            </m:e>
                          </m:eqArr>
                        </m:e>
                      </m:d>
                      <m:r>
                        <a:rPr lang="fr-CA" sz="2200" b="1" i="1" smtClean="0">
                          <a:latin typeface="Cambria Math" panose="02040503050406030204" pitchFamily="18" charset="0"/>
                        </a:rPr>
                        <m:t>=</m:t>
                      </m:r>
                      <m:f>
                        <m:fPr>
                          <m:ctrlPr>
                            <a:rPr lang="fr-CA" sz="2200" b="1" i="1" smtClean="0">
                              <a:latin typeface="Cambria Math" panose="02040503050406030204" pitchFamily="18" charset="0"/>
                            </a:rPr>
                          </m:ctrlPr>
                        </m:fPr>
                        <m:num>
                          <m:r>
                            <a:rPr lang="fr-CA" sz="2200" b="1" i="1" smtClean="0">
                              <a:latin typeface="Cambria Math" panose="02040503050406030204" pitchFamily="18" charset="0"/>
                            </a:rPr>
                            <m:t>𝟏𝟏</m:t>
                          </m:r>
                          <m:r>
                            <a:rPr lang="fr-CA" sz="2200" b="1" i="1" smtClean="0">
                              <a:latin typeface="Cambria Math" panose="02040503050406030204" pitchFamily="18" charset="0"/>
                            </a:rPr>
                            <m:t>!</m:t>
                          </m:r>
                        </m:num>
                        <m:den>
                          <m:r>
                            <a:rPr lang="fr-CA" sz="2200" b="1" i="1" smtClean="0">
                              <a:latin typeface="Cambria Math" panose="02040503050406030204" pitchFamily="18" charset="0"/>
                            </a:rPr>
                            <m:t>𝟑</m:t>
                          </m:r>
                          <m:r>
                            <a:rPr lang="fr-CA" sz="2200" b="1" i="1" smtClean="0">
                              <a:latin typeface="Cambria Math" panose="02040503050406030204" pitchFamily="18" charset="0"/>
                            </a:rPr>
                            <m:t>!</m:t>
                          </m:r>
                          <m:r>
                            <a:rPr lang="fr-CA" sz="2200" b="1" i="1" smtClean="0">
                              <a:latin typeface="Cambria Math" panose="02040503050406030204" pitchFamily="18" charset="0"/>
                            </a:rPr>
                            <m:t>𝟐</m:t>
                          </m:r>
                          <m:r>
                            <a:rPr lang="fr-CA" sz="2200" b="1" i="1" smtClean="0">
                              <a:latin typeface="Cambria Math" panose="02040503050406030204" pitchFamily="18" charset="0"/>
                            </a:rPr>
                            <m:t>!</m:t>
                          </m:r>
                          <m:r>
                            <a:rPr lang="fr-CA" sz="2200" b="1" i="1" smtClean="0">
                              <a:latin typeface="Cambria Math" panose="02040503050406030204" pitchFamily="18" charset="0"/>
                            </a:rPr>
                            <m:t>𝟐</m:t>
                          </m:r>
                          <m:r>
                            <a:rPr lang="fr-CA" sz="2200" b="1" i="1" smtClean="0">
                              <a:latin typeface="Cambria Math" panose="02040503050406030204" pitchFamily="18" charset="0"/>
                            </a:rPr>
                            <m:t>!</m:t>
                          </m:r>
                          <m:r>
                            <a:rPr lang="fr-CA" sz="2200" b="1" i="1" smtClean="0">
                              <a:latin typeface="Cambria Math" panose="02040503050406030204" pitchFamily="18" charset="0"/>
                            </a:rPr>
                            <m:t>𝟏</m:t>
                          </m:r>
                          <m:r>
                            <a:rPr lang="fr-CA" sz="2200" b="1" i="1" smtClean="0">
                              <a:latin typeface="Cambria Math" panose="02040503050406030204" pitchFamily="18" charset="0"/>
                            </a:rPr>
                            <m:t>!</m:t>
                          </m:r>
                          <m:r>
                            <a:rPr lang="fr-CA" sz="2200" b="1" i="1" smtClean="0">
                              <a:latin typeface="Cambria Math" panose="02040503050406030204" pitchFamily="18" charset="0"/>
                            </a:rPr>
                            <m:t>𝟏</m:t>
                          </m:r>
                          <m:r>
                            <a:rPr lang="fr-CA" sz="2200" b="1" i="1" smtClean="0">
                              <a:latin typeface="Cambria Math" panose="02040503050406030204" pitchFamily="18" charset="0"/>
                            </a:rPr>
                            <m:t>!</m:t>
                          </m:r>
                          <m:r>
                            <a:rPr lang="fr-CA" sz="2200" b="1" i="1" smtClean="0">
                              <a:latin typeface="Cambria Math" panose="02040503050406030204" pitchFamily="18" charset="0"/>
                            </a:rPr>
                            <m:t>𝟏</m:t>
                          </m:r>
                          <m:r>
                            <a:rPr lang="fr-CA" sz="2200" b="1" i="1" smtClean="0">
                              <a:latin typeface="Cambria Math" panose="02040503050406030204" pitchFamily="18" charset="0"/>
                            </a:rPr>
                            <m:t>!</m:t>
                          </m:r>
                          <m:r>
                            <a:rPr lang="fr-CA" sz="2200" b="1" i="1" smtClean="0">
                              <a:latin typeface="Cambria Math" panose="02040503050406030204" pitchFamily="18" charset="0"/>
                            </a:rPr>
                            <m:t>𝟏</m:t>
                          </m:r>
                          <m:r>
                            <a:rPr lang="fr-CA" sz="2200" b="1" i="1" smtClean="0">
                              <a:latin typeface="Cambria Math" panose="02040503050406030204" pitchFamily="18" charset="0"/>
                            </a:rPr>
                            <m:t>!</m:t>
                          </m:r>
                        </m:den>
                      </m:f>
                      <m:r>
                        <a:rPr lang="fr-CA" sz="2200" b="1" i="1" smtClean="0">
                          <a:latin typeface="Cambria Math" panose="02040503050406030204" pitchFamily="18" charset="0"/>
                        </a:rPr>
                        <m:t>=</m:t>
                      </m:r>
                      <m:r>
                        <a:rPr lang="fr-CA" sz="2200" b="1" i="1" smtClean="0">
                          <a:latin typeface="Cambria Math" panose="02040503050406030204" pitchFamily="18" charset="0"/>
                        </a:rPr>
                        <m:t>𝟏𝟔𝟔𝟑𝟐𝟎𝟎</m:t>
                      </m:r>
                      <m:r>
                        <a:rPr lang="fr-CA" sz="2200" b="1" i="1" smtClean="0">
                          <a:latin typeface="Cambria Math" panose="02040503050406030204" pitchFamily="18" charset="0"/>
                        </a:rPr>
                        <m:t> </m:t>
                      </m:r>
                      <m:r>
                        <a:rPr lang="fr-CA" sz="2200" b="1" i="1" smtClean="0">
                          <a:latin typeface="Cambria Math" panose="02040503050406030204" pitchFamily="18" charset="0"/>
                        </a:rPr>
                        <m:t>𝒎𝒐𝒕𝒔</m:t>
                      </m:r>
                      <m:r>
                        <a:rPr lang="fr-CA" sz="2200" b="1" i="1" smtClean="0">
                          <a:latin typeface="Cambria Math" panose="02040503050406030204" pitchFamily="18" charset="0"/>
                        </a:rPr>
                        <m:t> </m:t>
                      </m:r>
                      <m:r>
                        <a:rPr lang="fr-CA" sz="2200" b="1" i="1" smtClean="0">
                          <a:latin typeface="Cambria Math" panose="02040503050406030204" pitchFamily="18" charset="0"/>
                        </a:rPr>
                        <m:t>𝒑𝒐𝒔𝒔𝒊𝒃𝒍𝒆𝒔</m:t>
                      </m:r>
                    </m:oMath>
                  </m:oMathPara>
                </a14:m>
                <a:endParaRPr lang="fr-CA" sz="2200" b="1" dirty="0"/>
              </a:p>
            </p:txBody>
          </p:sp>
        </mc:Choice>
        <mc:Fallback xmlns="">
          <p:sp>
            <p:nvSpPr>
              <p:cNvPr id="6" name="ZoneTexte 5">
                <a:extLst>
                  <a:ext uri="{FF2B5EF4-FFF2-40B4-BE49-F238E27FC236}">
                    <a16:creationId xmlns:a16="http://schemas.microsoft.com/office/drawing/2014/main" id="{5F4A7664-580F-4BF8-B86D-A8FC9E2278F0}"/>
                  </a:ext>
                </a:extLst>
              </p:cNvPr>
              <p:cNvSpPr txBox="1">
                <a:spLocks noRot="1" noChangeAspect="1" noMove="1" noResize="1" noEditPoints="1" noAdjustHandles="1" noChangeArrowheads="1" noChangeShapeType="1" noTextEdit="1"/>
              </p:cNvSpPr>
              <p:nvPr/>
            </p:nvSpPr>
            <p:spPr>
              <a:xfrm>
                <a:off x="6862763" y="1165225"/>
                <a:ext cx="4489450" cy="4524375"/>
              </a:xfrm>
              <a:prstGeom prst="rect">
                <a:avLst/>
              </a:prstGeom>
              <a:blipFill>
                <a:blip r:embed="rId4"/>
                <a:stretch>
                  <a:fillRect l="-1766" t="-1752" r="-3668" b="-1617"/>
                </a:stretch>
              </a:blipFill>
            </p:spPr>
            <p:txBody>
              <a:bodyPr/>
              <a:lstStyle/>
              <a:p>
                <a:r>
                  <a:rPr lang="fr-CA">
                    <a:noFill/>
                  </a:rPr>
                  <a:t> </a:t>
                </a:r>
              </a:p>
            </p:txBody>
          </p:sp>
        </mc:Fallback>
      </mc:AlternateContent>
      <p:sp>
        <p:nvSpPr>
          <p:cNvPr id="2" name="Titre 1">
            <a:extLst>
              <a:ext uri="{FF2B5EF4-FFF2-40B4-BE49-F238E27FC236}">
                <a16:creationId xmlns:a16="http://schemas.microsoft.com/office/drawing/2014/main" id="{7739522A-4318-4C2A-9A29-4F3E74F8B86D}"/>
              </a:ext>
            </a:extLst>
          </p:cNvPr>
          <p:cNvSpPr>
            <a:spLocks noGrp="1"/>
          </p:cNvSpPr>
          <p:nvPr>
            <p:ph type="title"/>
          </p:nvPr>
        </p:nvSpPr>
        <p:spPr>
          <a:xfrm>
            <a:off x="838200" y="2057400"/>
            <a:ext cx="2743200" cy="2743200"/>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algn="ctr"/>
            <a:r>
              <a:rPr lang="en-US" sz="2400" b="1" kern="1200">
                <a:solidFill>
                  <a:srgbClr val="FFFFFF"/>
                </a:solidFill>
                <a:latin typeface="+mj-lt"/>
                <a:ea typeface="+mj-ea"/>
                <a:cs typeface="+mj-cs"/>
              </a:rPr>
              <a:t>Permutations d’objets partiellement distinguables </a:t>
            </a:r>
          </a:p>
        </p:txBody>
      </p:sp>
      <p:sp>
        <p:nvSpPr>
          <p:cNvPr id="4" name="Espace réservé du numéro de diapositive 3">
            <a:extLst>
              <a:ext uri="{FF2B5EF4-FFF2-40B4-BE49-F238E27FC236}">
                <a16:creationId xmlns:a16="http://schemas.microsoft.com/office/drawing/2014/main" id="{23F01AD8-85C1-4D4C-A7D3-DB5F6946F65C}"/>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defTabSz="914400">
              <a:spcAft>
                <a:spcPts val="600"/>
              </a:spcAft>
            </a:pPr>
            <a:fld id="{26377AD9-CE17-438C-A638-C64D2D42D7CF}" type="slidenum">
              <a:rPr lang="en-US">
                <a:solidFill>
                  <a:schemeClr val="tx1">
                    <a:alpha val="80000"/>
                  </a:schemeClr>
                </a:solidFill>
              </a:rPr>
              <a:pPr defTabSz="914400">
                <a:spcAft>
                  <a:spcPts val="600"/>
                </a:spcAft>
              </a:pPr>
              <a:t>5</a:t>
            </a:fld>
            <a:endParaRPr lang="en-US">
              <a:solidFill>
                <a:schemeClr val="tx1">
                  <a:alpha val="80000"/>
                </a:schemeClr>
              </a:solidFill>
            </a:endParaRPr>
          </a:p>
        </p:txBody>
      </p:sp>
    </p:spTree>
    <p:extLst>
      <p:ext uri="{BB962C8B-B14F-4D97-AF65-F5344CB8AC3E}">
        <p14:creationId xmlns:p14="http://schemas.microsoft.com/office/powerpoint/2010/main" val="10991832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61F35DB-1D2E-4403-ADC1-DD6D5053C1C7}"/>
              </a:ext>
            </a:extLst>
          </p:cNvPr>
          <p:cNvSpPr>
            <a:spLocks noGrp="1"/>
          </p:cNvSpPr>
          <p:nvPr>
            <p:ph type="title"/>
          </p:nvPr>
        </p:nvSpPr>
        <p:spPr/>
        <p:txBody>
          <a:bodyPr/>
          <a:lstStyle/>
          <a:p>
            <a:r>
              <a:rPr lang="fr-CA" b="1" dirty="0"/>
              <a:t>Les diagrammes en arbres </a:t>
            </a:r>
          </a:p>
        </p:txBody>
      </p:sp>
      <p:sp>
        <p:nvSpPr>
          <p:cNvPr id="3" name="Espace réservé du pied de page 2">
            <a:extLst>
              <a:ext uri="{FF2B5EF4-FFF2-40B4-BE49-F238E27FC236}">
                <a16:creationId xmlns:a16="http://schemas.microsoft.com/office/drawing/2014/main" id="{39AC6C04-14E1-45CC-84CA-3E244B17AA24}"/>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D9A7F94A-70AC-4A88-A0CD-F0AF3FB10F71}"/>
              </a:ext>
            </a:extLst>
          </p:cNvPr>
          <p:cNvSpPr>
            <a:spLocks noGrp="1"/>
          </p:cNvSpPr>
          <p:nvPr>
            <p:ph type="sldNum" sz="quarter" idx="12"/>
          </p:nvPr>
        </p:nvSpPr>
        <p:spPr/>
        <p:txBody>
          <a:bodyPr/>
          <a:lstStyle/>
          <a:p>
            <a:fld id="{26377AD9-CE17-438C-A638-C64D2D42D7CF}" type="slidenum">
              <a:rPr lang="fr-CA" smtClean="0"/>
              <a:t>6</a:t>
            </a:fld>
            <a:endParaRPr lang="fr-CA"/>
          </a:p>
        </p:txBody>
      </p:sp>
      <p:sp>
        <p:nvSpPr>
          <p:cNvPr id="5" name="ZoneTexte 4">
            <a:extLst>
              <a:ext uri="{FF2B5EF4-FFF2-40B4-BE49-F238E27FC236}">
                <a16:creationId xmlns:a16="http://schemas.microsoft.com/office/drawing/2014/main" id="{83949747-9597-4903-A385-25922C9EC697}"/>
              </a:ext>
            </a:extLst>
          </p:cNvPr>
          <p:cNvSpPr txBox="1"/>
          <p:nvPr/>
        </p:nvSpPr>
        <p:spPr>
          <a:xfrm>
            <a:off x="1071154" y="2050869"/>
            <a:ext cx="9653452" cy="3483005"/>
          </a:xfrm>
          <a:prstGeom prst="rect">
            <a:avLst/>
          </a:prstGeom>
          <a:noFill/>
        </p:spPr>
        <p:txBody>
          <a:bodyPr wrap="square" rtlCol="0">
            <a:spAutoFit/>
          </a:bodyPr>
          <a:lstStyle/>
          <a:p>
            <a:pPr algn="l">
              <a:lnSpc>
                <a:spcPct val="150000"/>
              </a:lnSpc>
              <a:spcAft>
                <a:spcPts val="800"/>
              </a:spcAft>
            </a:pPr>
            <a:r>
              <a:rPr lang="fr-FR" sz="1800" dirty="0">
                <a:solidFill>
                  <a:srgbClr val="000000"/>
                </a:solidFill>
                <a:effectLst/>
                <a:latin typeface="Times New Roman" panose="02020603050405020304" pitchFamily="18" charset="0"/>
                <a:ea typeface="Times New Roman" panose="02020603050405020304" pitchFamily="18" charset="0"/>
              </a:rPr>
              <a:t>Exemple 1: On s’intéresse à deux gènes, l’un relatif à la pigmentation de la peau, présent chez les humains ayant un allèle T (dominant) et un allèle t (récessif), et l’autre relatif à la coloration des cheveux chez les humains ayant un allèle M (dominant) et un allèle m (récessif). Supposons que les deux parents aient tous deux le génotype </a:t>
            </a:r>
            <a:r>
              <a:rPr lang="fr-FR" sz="1800" dirty="0" err="1">
                <a:solidFill>
                  <a:srgbClr val="000000"/>
                </a:solidFill>
                <a:effectLst/>
                <a:latin typeface="Times New Roman" panose="02020603050405020304" pitchFamily="18" charset="0"/>
                <a:ea typeface="Times New Roman" panose="02020603050405020304" pitchFamily="18" charset="0"/>
              </a:rPr>
              <a:t>TtMm</a:t>
            </a:r>
            <a:r>
              <a:rPr lang="fr-FR" sz="1800" dirty="0">
                <a:solidFill>
                  <a:srgbClr val="000000"/>
                </a:solidFill>
                <a:effectLst/>
                <a:latin typeface="Times New Roman" panose="02020603050405020304" pitchFamily="18" charset="0"/>
                <a:ea typeface="Times New Roman" panose="02020603050405020304" pitchFamily="18" charset="0"/>
              </a:rPr>
              <a:t>. D’un point de vue biologique, on peut penser que le tout est équiprobable.</a:t>
            </a:r>
            <a:endParaRPr lang="fr-CA" sz="1800" dirty="0">
              <a:solidFill>
                <a:srgbClr val="000000"/>
              </a:solidFill>
              <a:effectLst/>
              <a:latin typeface="Times New Roman" panose="02020603050405020304" pitchFamily="18" charset="0"/>
              <a:ea typeface="Times New Roman" panose="02020603050405020304" pitchFamily="18" charset="0"/>
            </a:endParaRPr>
          </a:p>
          <a:p>
            <a:pPr marL="203200" indent="-101600" algn="l">
              <a:lnSpc>
                <a:spcPct val="150000"/>
              </a:lnSpc>
              <a:spcAft>
                <a:spcPts val="200"/>
              </a:spcAft>
            </a:pPr>
            <a:r>
              <a:rPr lang="fr-FR" sz="1800" dirty="0">
                <a:solidFill>
                  <a:srgbClr val="000000"/>
                </a:solidFill>
                <a:effectLst/>
                <a:latin typeface="Times New Roman" panose="02020603050405020304" pitchFamily="18" charset="0"/>
                <a:ea typeface="Times New Roman" panose="02020603050405020304" pitchFamily="18" charset="0"/>
              </a:rPr>
              <a:t>a)	Dressez une arborescence décrivant les génotypes possibles de leurs enfants.</a:t>
            </a:r>
            <a:endParaRPr lang="fr-CA" sz="1800" dirty="0">
              <a:solidFill>
                <a:srgbClr val="000000"/>
              </a:solidFill>
              <a:effectLst/>
              <a:latin typeface="Times New Roman" panose="02020603050405020304" pitchFamily="18" charset="0"/>
              <a:ea typeface="Times New Roman" panose="02020603050405020304" pitchFamily="18" charset="0"/>
            </a:endParaRPr>
          </a:p>
          <a:p>
            <a:pPr marL="203200" indent="-101600" algn="l">
              <a:lnSpc>
                <a:spcPct val="150000"/>
              </a:lnSpc>
              <a:spcAft>
                <a:spcPts val="600"/>
              </a:spcAft>
            </a:pPr>
            <a:r>
              <a:rPr lang="fr-FR" sz="1800" dirty="0">
                <a:solidFill>
                  <a:srgbClr val="000000"/>
                </a:solidFill>
                <a:effectLst/>
                <a:latin typeface="Times New Roman" panose="02020603050405020304" pitchFamily="18" charset="0"/>
                <a:ea typeface="Times New Roman" panose="02020603050405020304" pitchFamily="18" charset="0"/>
              </a:rPr>
              <a:t>b)	Quelle est la probabilité que ce couple ait un enfant qui soit dominant dans les deux gènes ?</a:t>
            </a:r>
            <a:endParaRPr lang="fr-CA" sz="1800" dirty="0">
              <a:solidFill>
                <a:srgbClr val="000000"/>
              </a:solidFill>
              <a:effectLst/>
              <a:latin typeface="Times New Roman" panose="02020603050405020304" pitchFamily="18" charset="0"/>
              <a:ea typeface="Times New Roman" panose="02020603050405020304" pitchFamily="18" charset="0"/>
            </a:endParaRPr>
          </a:p>
          <a:p>
            <a:endParaRPr lang="fr-CA" dirty="0"/>
          </a:p>
        </p:txBody>
      </p:sp>
    </p:spTree>
    <p:extLst>
      <p:ext uri="{BB962C8B-B14F-4D97-AF65-F5344CB8AC3E}">
        <p14:creationId xmlns:p14="http://schemas.microsoft.com/office/powerpoint/2010/main" val="14225010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E567A8D0-E145-4AA1-9FA2-A49863BE4812}"/>
              </a:ext>
            </a:extLst>
          </p:cNvPr>
          <p:cNvSpPr>
            <a:spLocks noGrp="1"/>
          </p:cNvSpPr>
          <p:nvPr>
            <p:ph type="title"/>
          </p:nvPr>
        </p:nvSpPr>
        <p:spPr>
          <a:xfrm>
            <a:off x="640080" y="2074363"/>
            <a:ext cx="2752354" cy="2709275"/>
          </a:xfrm>
          <a:prstGeom prst="ellipse">
            <a:avLst/>
          </a:prstGeom>
          <a:solidFill>
            <a:srgbClr val="262626"/>
          </a:solidFill>
          <a:ln w="174625" cmpd="thinThick">
            <a:solidFill>
              <a:srgbClr val="262626"/>
            </a:solidFill>
          </a:ln>
        </p:spPr>
        <p:txBody>
          <a:bodyPr anchor="ctr">
            <a:normAutofit/>
          </a:bodyPr>
          <a:lstStyle/>
          <a:p>
            <a:pPr algn="ctr"/>
            <a:r>
              <a:rPr lang="fr-CA" sz="2600">
                <a:solidFill>
                  <a:srgbClr val="FFFFFF"/>
                </a:solidFill>
              </a:rPr>
              <a:t>Réponse: a)</a:t>
            </a:r>
          </a:p>
        </p:txBody>
      </p:sp>
      <p:pic>
        <p:nvPicPr>
          <p:cNvPr id="8" name="Image 7">
            <a:extLst>
              <a:ext uri="{FF2B5EF4-FFF2-40B4-BE49-F238E27FC236}">
                <a16:creationId xmlns:a16="http://schemas.microsoft.com/office/drawing/2014/main" id="{8C583018-D003-4A77-AF33-18A12CC026D1}"/>
              </a:ext>
            </a:extLst>
          </p:cNvPr>
          <p:cNvPicPr/>
          <p:nvPr/>
        </p:nvPicPr>
        <p:blipFill>
          <a:blip r:embed="rId3">
            <a:extLst>
              <a:ext uri="{28A0092B-C50C-407E-A947-70E740481C1C}">
                <a14:useLocalDpi xmlns:a14="http://schemas.microsoft.com/office/drawing/2010/main" val="0"/>
              </a:ext>
            </a:extLst>
          </a:blip>
          <a:stretch>
            <a:fillRect/>
          </a:stretch>
        </p:blipFill>
        <p:spPr bwMode="auto">
          <a:xfrm>
            <a:off x="4038600" y="1268260"/>
            <a:ext cx="7188199" cy="4318090"/>
          </a:xfrm>
          <a:prstGeom prst="rect">
            <a:avLst/>
          </a:prstGeom>
          <a:noFill/>
        </p:spPr>
      </p:pic>
      <p:sp>
        <p:nvSpPr>
          <p:cNvPr id="3" name="Espace réservé du pied de page 2">
            <a:extLst>
              <a:ext uri="{FF2B5EF4-FFF2-40B4-BE49-F238E27FC236}">
                <a16:creationId xmlns:a16="http://schemas.microsoft.com/office/drawing/2014/main" id="{65436E13-3DD1-496B-84B7-5FA9F2BD94EF}"/>
              </a:ext>
            </a:extLst>
          </p:cNvPr>
          <p:cNvSpPr>
            <a:spLocks noGrp="1"/>
          </p:cNvSpPr>
          <p:nvPr>
            <p:ph type="ftr" sz="quarter" idx="11"/>
          </p:nvPr>
        </p:nvSpPr>
        <p:spPr>
          <a:xfrm>
            <a:off x="4116613" y="6356350"/>
            <a:ext cx="7032172" cy="365125"/>
          </a:xfrm>
        </p:spPr>
        <p:txBody>
          <a:bodyPr>
            <a:normAutofit/>
          </a:bodyPr>
          <a:lstStyle/>
          <a:p>
            <a:endParaRPr lang="fr-CA">
              <a:solidFill>
                <a:srgbClr val="898989"/>
              </a:solidFill>
            </a:endParaRPr>
          </a:p>
        </p:txBody>
      </p:sp>
      <p:sp>
        <p:nvSpPr>
          <p:cNvPr id="4" name="Espace réservé du numéro de diapositive 3">
            <a:extLst>
              <a:ext uri="{FF2B5EF4-FFF2-40B4-BE49-F238E27FC236}">
                <a16:creationId xmlns:a16="http://schemas.microsoft.com/office/drawing/2014/main" id="{6D2ACB5F-4377-4191-A57F-4AE1F47A894E}"/>
              </a:ext>
            </a:extLst>
          </p:cNvPr>
          <p:cNvSpPr>
            <a:spLocks noGrp="1"/>
          </p:cNvSpPr>
          <p:nvPr>
            <p:ph type="sldNum" sz="quarter" idx="12"/>
          </p:nvPr>
        </p:nvSpPr>
        <p:spPr>
          <a:xfrm>
            <a:off x="11310257" y="6356350"/>
            <a:ext cx="560009" cy="365125"/>
          </a:xfrm>
        </p:spPr>
        <p:txBody>
          <a:bodyPr>
            <a:normAutofit/>
          </a:bodyPr>
          <a:lstStyle/>
          <a:p>
            <a:pPr>
              <a:spcAft>
                <a:spcPts val="600"/>
              </a:spcAft>
            </a:pPr>
            <a:fld id="{26377AD9-CE17-438C-A638-C64D2D42D7CF}" type="slidenum">
              <a:rPr lang="fr-CA">
                <a:solidFill>
                  <a:srgbClr val="898989"/>
                </a:solidFill>
              </a:rPr>
              <a:pPr>
                <a:spcAft>
                  <a:spcPts val="600"/>
                </a:spcAft>
              </a:pPr>
              <a:t>7</a:t>
            </a:fld>
            <a:endParaRPr lang="fr-CA">
              <a:solidFill>
                <a:srgbClr val="898989"/>
              </a:solidFill>
            </a:endParaRPr>
          </a:p>
        </p:txBody>
      </p:sp>
    </p:spTree>
    <p:extLst>
      <p:ext uri="{BB962C8B-B14F-4D97-AF65-F5344CB8AC3E}">
        <p14:creationId xmlns:p14="http://schemas.microsoft.com/office/powerpoint/2010/main" val="40612143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2554CA6-288E-4202-BC52-2E5A8F0C0A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B10BB131-AC8E-4A8E-A5D1-36260F720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9189" y="1119031"/>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9DB5E852-0E54-4C97-8FEA-442CFDB4885F}"/>
              </a:ext>
            </a:extLst>
          </p:cNvPr>
          <p:cNvSpPr>
            <a:spLocks noGrp="1"/>
          </p:cNvSpPr>
          <p:nvPr>
            <p:ph type="title"/>
          </p:nvPr>
        </p:nvSpPr>
        <p:spPr>
          <a:xfrm>
            <a:off x="1171074" y="1396686"/>
            <a:ext cx="3240506" cy="4064628"/>
          </a:xfrm>
        </p:spPr>
        <p:txBody>
          <a:bodyPr vert="horz" lIns="91440" tIns="45720" rIns="91440" bIns="45720" rtlCol="0" anchor="ctr">
            <a:normAutofit/>
          </a:bodyPr>
          <a:lstStyle/>
          <a:p>
            <a:r>
              <a:rPr lang="en-US" kern="1200">
                <a:solidFill>
                  <a:srgbClr val="FFFFFF"/>
                </a:solidFill>
                <a:latin typeface="+mj-lt"/>
                <a:ea typeface="+mj-ea"/>
                <a:cs typeface="+mj-cs"/>
              </a:rPr>
              <a:t>Suite: b)</a:t>
            </a:r>
          </a:p>
        </p:txBody>
      </p:sp>
      <p:sp>
        <p:nvSpPr>
          <p:cNvPr id="14" name="Arc 13">
            <a:extLst>
              <a:ext uri="{FF2B5EF4-FFF2-40B4-BE49-F238E27FC236}">
                <a16:creationId xmlns:a16="http://schemas.microsoft.com/office/drawing/2014/main" id="{5B7778FC-632E-4DCA-A7CB-0D7731CCF9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9809111">
            <a:off x="8683720" y="941148"/>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6" name="Oval 15">
            <a:extLst>
              <a:ext uri="{FF2B5EF4-FFF2-40B4-BE49-F238E27FC236}">
                <a16:creationId xmlns:a16="http://schemas.microsoft.com/office/drawing/2014/main" id="{FA23A907-97FB-4A8F-880A-DD77401C42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0048" y="4780992"/>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682178AC-26A6-4622-9B0D-3704FBBE60B0}"/>
                  </a:ext>
                </a:extLst>
              </p:cNvPr>
              <p:cNvSpPr txBox="1"/>
              <p:nvPr/>
            </p:nvSpPr>
            <p:spPr>
              <a:xfrm>
                <a:off x="5370153" y="1526033"/>
                <a:ext cx="5536397" cy="3935281"/>
              </a:xfrm>
              <a:prstGeom prst="rect">
                <a:avLst/>
              </a:prstGeom>
            </p:spPr>
            <p:txBody>
              <a:bodyPr vert="horz" lIns="91440" tIns="45720" rIns="91440" bIns="45720" rtlCol="0">
                <a:normAutofit/>
              </a:bodyPr>
              <a:lstStyle/>
              <a:p>
                <a:pPr indent="-228600" defTabSz="914400">
                  <a:lnSpc>
                    <a:spcPct val="90000"/>
                  </a:lnSpc>
                  <a:spcAft>
                    <a:spcPts val="600"/>
                  </a:spcAft>
                  <a:buFont typeface="Arial" panose="020B0604020202020204" pitchFamily="34" charset="0"/>
                  <a:buChar char="•"/>
                </a:pPr>
                <a:r>
                  <a:rPr lang="en-US">
                    <a:effectLst/>
                  </a:rPr>
                  <a:t>Soit </a:t>
                </a:r>
                <a:r>
                  <a:rPr lang="en-US" i="1">
                    <a:effectLst/>
                  </a:rPr>
                  <a:t>D</a:t>
                </a:r>
                <a:r>
                  <a:rPr lang="en-US">
                    <a:effectLst/>
                  </a:rPr>
                  <a:t> : L’enfant est dominant dans les deux gènes. Pour que </a:t>
                </a:r>
                <a:r>
                  <a:rPr lang="en-US" i="1">
                    <a:effectLst/>
                  </a:rPr>
                  <a:t>D</a:t>
                </a:r>
                <a:r>
                  <a:rPr lang="en-US">
                    <a:effectLst/>
                  </a:rPr>
                  <a:t> se réalise, il suffit que, dans le génotype de l’enfant, l’allèle T et l’allèle M soient présents, ce qui fait que :</a:t>
                </a:r>
              </a:p>
              <a:p>
                <a:pPr indent="-228600" defTabSz="914400">
                  <a:lnSpc>
                    <a:spcPct val="90000"/>
                  </a:lnSpc>
                  <a:spcAft>
                    <a:spcPts val="600"/>
                  </a:spcAft>
                  <a:buFont typeface="Arial" panose="020B0604020202020204" pitchFamily="34" charset="0"/>
                  <a:buChar char="•"/>
                </a:pPr>
                <a:endParaRPr lang="en-US"/>
              </a:p>
              <a:p>
                <a:pPr indent="-228600" defTabSz="914400">
                  <a:lnSpc>
                    <a:spcPct val="90000"/>
                  </a:lnSpc>
                  <a:spcAft>
                    <a:spcPts val="600"/>
                  </a:spcAft>
                  <a:buFont typeface="Arial" panose="020B0604020202020204" pitchFamily="34" charset="0"/>
                  <a:buChar char="•"/>
                </a:pPr>
                <a:endParaRPr lang="en-US">
                  <a:effectLst/>
                </a:endParaRPr>
              </a:p>
              <a:p>
                <a:pPr indent="-228600" defTabSz="914400">
                  <a:lnSpc>
                    <a:spcPct val="90000"/>
                  </a:lnSpc>
                  <a:spcAft>
                    <a:spcPts val="600"/>
                  </a:spcAft>
                  <a:buFont typeface="Arial" panose="020B0604020202020204" pitchFamily="34" charset="0"/>
                  <a:buChar char="•"/>
                </a:pPr>
                <a:endParaRPr lang="en-US"/>
              </a:p>
              <a:p>
                <a:pPr indent="-228600" defTabSz="914400">
                  <a:lnSpc>
                    <a:spcPct val="90000"/>
                  </a:lnSpc>
                  <a:spcAft>
                    <a:spcPts val="600"/>
                  </a:spcAft>
                  <a:buFont typeface="Arial" panose="020B0604020202020204" pitchFamily="34" charset="0"/>
                  <a:buChar char="•"/>
                </a:pPr>
                <a14:m>
                  <m:oMath xmlns:m="http://schemas.openxmlformats.org/officeDocument/2006/math">
                    <m:r>
                      <a:rPr lang="en-US" b="0" i="1">
                        <a:effectLst/>
                        <a:latin typeface="Cambria Math" panose="02040503050406030204" pitchFamily="18" charset="0"/>
                      </a:rPr>
                      <m:t>𝑃</m:t>
                    </m:r>
                    <m:d>
                      <m:dPr>
                        <m:ctrlPr>
                          <a:rPr lang="en-US" b="0" i="1">
                            <a:effectLst/>
                            <a:latin typeface="Cambria Math" panose="02040503050406030204" pitchFamily="18" charset="0"/>
                          </a:rPr>
                        </m:ctrlPr>
                      </m:dPr>
                      <m:e>
                        <m:r>
                          <a:rPr lang="en-US" b="0" i="1">
                            <a:effectLst/>
                            <a:latin typeface="Cambria Math" panose="02040503050406030204" pitchFamily="18" charset="0"/>
                          </a:rPr>
                          <m:t>𝐷</m:t>
                        </m:r>
                      </m:e>
                    </m:d>
                    <m:r>
                      <a:rPr lang="en-US" b="0" i="1">
                        <a:effectLst/>
                        <a:latin typeface="Cambria Math" panose="02040503050406030204" pitchFamily="18" charset="0"/>
                      </a:rPr>
                      <m:t>=</m:t>
                    </m:r>
                    <m:f>
                      <m:fPr>
                        <m:ctrlPr>
                          <a:rPr lang="en-US" b="0" i="1">
                            <a:effectLst/>
                            <a:latin typeface="Cambria Math" panose="02040503050406030204" pitchFamily="18" charset="0"/>
                          </a:rPr>
                        </m:ctrlPr>
                      </m:fPr>
                      <m:num>
                        <m:r>
                          <a:rPr lang="en-US" b="0" i="1">
                            <a:effectLst/>
                            <a:latin typeface="Cambria Math" panose="02040503050406030204" pitchFamily="18" charset="0"/>
                          </a:rPr>
                          <m:t>𝑁</m:t>
                        </m:r>
                        <m:r>
                          <a:rPr lang="en-US" b="0" i="1">
                            <a:effectLst/>
                            <a:latin typeface="Cambria Math" panose="02040503050406030204" pitchFamily="18" charset="0"/>
                          </a:rPr>
                          <m:t>(</m:t>
                        </m:r>
                        <m:r>
                          <a:rPr lang="en-US" b="0" i="1">
                            <a:effectLst/>
                            <a:latin typeface="Cambria Math" panose="02040503050406030204" pitchFamily="18" charset="0"/>
                          </a:rPr>
                          <m:t>𝐷</m:t>
                        </m:r>
                        <m:r>
                          <a:rPr lang="en-US" b="0" i="1">
                            <a:effectLst/>
                            <a:latin typeface="Cambria Math" panose="02040503050406030204" pitchFamily="18" charset="0"/>
                          </a:rPr>
                          <m:t>)</m:t>
                        </m:r>
                      </m:num>
                      <m:den>
                        <m:r>
                          <a:rPr lang="en-US" b="0" i="1">
                            <a:effectLst/>
                            <a:latin typeface="Cambria Math" panose="02040503050406030204" pitchFamily="18" charset="0"/>
                          </a:rPr>
                          <m:t>𝑁</m:t>
                        </m:r>
                        <m:r>
                          <a:rPr lang="en-US" b="0" i="1">
                            <a:effectLst/>
                            <a:latin typeface="Cambria Math" panose="02040503050406030204" pitchFamily="18" charset="0"/>
                          </a:rPr>
                          <m:t>(</m:t>
                        </m:r>
                        <m:r>
                          <a:rPr lang="en-US" b="0" i="1">
                            <a:effectLst/>
                            <a:latin typeface="Cambria Math" panose="02040503050406030204" pitchFamily="18" charset="0"/>
                          </a:rPr>
                          <m:t>𝑆</m:t>
                        </m:r>
                        <m:r>
                          <a:rPr lang="en-US" b="0" i="1">
                            <a:effectLst/>
                            <a:latin typeface="Cambria Math" panose="02040503050406030204" pitchFamily="18" charset="0"/>
                          </a:rPr>
                          <m:t>)</m:t>
                        </m:r>
                      </m:den>
                    </m:f>
                    <m:r>
                      <a:rPr lang="en-US" b="0" i="1">
                        <a:effectLst/>
                        <a:latin typeface="Cambria Math" panose="02040503050406030204" pitchFamily="18" charset="0"/>
                      </a:rPr>
                      <m:t>=</m:t>
                    </m:r>
                    <m:f>
                      <m:fPr>
                        <m:ctrlPr>
                          <a:rPr lang="en-US" b="0" i="1">
                            <a:effectLst/>
                            <a:latin typeface="Cambria Math" panose="02040503050406030204" pitchFamily="18" charset="0"/>
                          </a:rPr>
                        </m:ctrlPr>
                      </m:fPr>
                      <m:num>
                        <m:r>
                          <a:rPr lang="en-US" b="0" i="1">
                            <a:effectLst/>
                            <a:latin typeface="Cambria Math" panose="02040503050406030204" pitchFamily="18" charset="0"/>
                          </a:rPr>
                          <m:t>9</m:t>
                        </m:r>
                      </m:num>
                      <m:den>
                        <m:r>
                          <a:rPr lang="en-US" b="0" i="1">
                            <a:effectLst/>
                            <a:latin typeface="Cambria Math" panose="02040503050406030204" pitchFamily="18" charset="0"/>
                          </a:rPr>
                          <m:t>16</m:t>
                        </m:r>
                      </m:den>
                    </m:f>
                  </m:oMath>
                </a14:m>
                <a:endParaRPr lang="en-US">
                  <a:effectLst/>
                </a:endParaRPr>
              </a:p>
              <a:p>
                <a:pPr indent="-228600" defTabSz="914400">
                  <a:lnSpc>
                    <a:spcPct val="90000"/>
                  </a:lnSpc>
                  <a:spcAft>
                    <a:spcPts val="600"/>
                  </a:spcAft>
                  <a:buFont typeface="Arial" panose="020B0604020202020204" pitchFamily="34" charset="0"/>
                  <a:buChar char="•"/>
                </a:pPr>
                <a:endParaRPr lang="en-US"/>
              </a:p>
            </p:txBody>
          </p:sp>
        </mc:Choice>
        <mc:Fallback xmlns="">
          <p:sp>
            <p:nvSpPr>
              <p:cNvPr id="5" name="ZoneTexte 4">
                <a:extLst>
                  <a:ext uri="{FF2B5EF4-FFF2-40B4-BE49-F238E27FC236}">
                    <a16:creationId xmlns:a16="http://schemas.microsoft.com/office/drawing/2014/main" id="{682178AC-26A6-4622-9B0D-3704FBBE60B0}"/>
                  </a:ext>
                </a:extLst>
              </p:cNvPr>
              <p:cNvSpPr txBox="1">
                <a:spLocks noRot="1" noChangeAspect="1" noMove="1" noResize="1" noEditPoints="1" noAdjustHandles="1" noChangeArrowheads="1" noChangeShapeType="1" noTextEdit="1"/>
              </p:cNvSpPr>
              <p:nvPr/>
            </p:nvSpPr>
            <p:spPr>
              <a:xfrm>
                <a:off x="5370153" y="1526033"/>
                <a:ext cx="5536397" cy="3935281"/>
              </a:xfrm>
              <a:prstGeom prst="rect">
                <a:avLst/>
              </a:prstGeom>
              <a:blipFill>
                <a:blip r:embed="rId2"/>
                <a:stretch>
                  <a:fillRect l="-991" t="-1393"/>
                </a:stretch>
              </a:blipFill>
            </p:spPr>
            <p:txBody>
              <a:bodyPr/>
              <a:lstStyle/>
              <a:p>
                <a:r>
                  <a:rPr lang="fr-CA">
                    <a:noFill/>
                  </a:rPr>
                  <a:t> </a:t>
                </a:r>
              </a:p>
            </p:txBody>
          </p:sp>
        </mc:Fallback>
      </mc:AlternateContent>
      <p:sp>
        <p:nvSpPr>
          <p:cNvPr id="3" name="Espace réservé du pied de page 2">
            <a:extLst>
              <a:ext uri="{FF2B5EF4-FFF2-40B4-BE49-F238E27FC236}">
                <a16:creationId xmlns:a16="http://schemas.microsoft.com/office/drawing/2014/main" id="{D75029AE-FD3F-4601-82AE-B45F6667DB80}"/>
              </a:ext>
            </a:extLst>
          </p:cNvPr>
          <p:cNvSpPr>
            <a:spLocks noGrp="1"/>
          </p:cNvSpPr>
          <p:nvPr>
            <p:ph type="ftr" sz="quarter" idx="11"/>
          </p:nvPr>
        </p:nvSpPr>
        <p:spPr>
          <a:xfrm>
            <a:off x="4038600" y="6356350"/>
            <a:ext cx="4114800" cy="365125"/>
          </a:xfrm>
        </p:spPr>
        <p:txBody>
          <a:bodyPr vert="horz" lIns="91440" tIns="45720" rIns="91440" bIns="45720" rtlCol="0" anchor="ctr">
            <a:normAutofit/>
          </a:bodyPr>
          <a:lstStyle/>
          <a:p>
            <a:pPr defTabSz="914400"/>
            <a:endParaRPr lang="en-US" sz="1200" kern="1200">
              <a:solidFill>
                <a:schemeClr val="tx1">
                  <a:tint val="75000"/>
                </a:schemeClr>
              </a:solidFill>
              <a:latin typeface="+mn-lt"/>
              <a:ea typeface="+mn-ea"/>
              <a:cs typeface="+mn-cs"/>
            </a:endParaRPr>
          </a:p>
        </p:txBody>
      </p:sp>
      <p:sp>
        <p:nvSpPr>
          <p:cNvPr id="4" name="Espace réservé du numéro de diapositive 3">
            <a:extLst>
              <a:ext uri="{FF2B5EF4-FFF2-40B4-BE49-F238E27FC236}">
                <a16:creationId xmlns:a16="http://schemas.microsoft.com/office/drawing/2014/main" id="{A4EAFE79-CBAF-49FE-9AB4-22F06C9B2A4E}"/>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defTabSz="914400">
              <a:spcAft>
                <a:spcPts val="600"/>
              </a:spcAft>
            </a:pPr>
            <a:fld id="{26377AD9-CE17-438C-A638-C64D2D42D7CF}" type="slidenum">
              <a:rPr lang="en-US"/>
              <a:pPr defTabSz="914400">
                <a:spcAft>
                  <a:spcPts val="600"/>
                </a:spcAft>
              </a:pPr>
              <a:t>8</a:t>
            </a:fld>
            <a:endParaRPr lang="en-US"/>
          </a:p>
        </p:txBody>
      </p:sp>
    </p:spTree>
    <p:extLst>
      <p:ext uri="{BB962C8B-B14F-4D97-AF65-F5344CB8AC3E}">
        <p14:creationId xmlns:p14="http://schemas.microsoft.com/office/powerpoint/2010/main" val="22833602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 7">
            <a:extLst>
              <a:ext uri="{FF2B5EF4-FFF2-40B4-BE49-F238E27FC236}">
                <a16:creationId xmlns:a16="http://schemas.microsoft.com/office/drawing/2014/main" id="{0DF0DEA3-BBFC-4F24-86C2-64FAA644BADA}"/>
              </a:ext>
            </a:extLst>
          </p:cNvPr>
          <p:cNvPicPr/>
          <p:nvPr/>
        </p:nvPicPr>
        <p:blipFill>
          <a:blip r:embed="rId2">
            <a:extLst>
              <a:ext uri="{28A0092B-C50C-407E-A947-70E740481C1C}">
                <a14:useLocalDpi xmlns:a14="http://schemas.microsoft.com/office/drawing/2010/main" val="0"/>
              </a:ext>
            </a:extLst>
          </a:blip>
          <a:stretch>
            <a:fillRect/>
          </a:stretch>
        </p:blipFill>
        <p:spPr bwMode="auto">
          <a:xfrm>
            <a:off x="4006263" y="324029"/>
            <a:ext cx="7347537" cy="3845563"/>
          </a:xfrm>
          <a:prstGeom prst="rect">
            <a:avLst/>
          </a:prstGeom>
          <a:noFill/>
        </p:spPr>
      </p:pic>
      <p:sp>
        <p:nvSpPr>
          <p:cNvPr id="3" name="Espace réservé du pied de page 2">
            <a:extLst>
              <a:ext uri="{FF2B5EF4-FFF2-40B4-BE49-F238E27FC236}">
                <a16:creationId xmlns:a16="http://schemas.microsoft.com/office/drawing/2014/main" id="{42AA47AE-B9C7-4DBF-989A-5075E28F3072}"/>
              </a:ext>
            </a:extLst>
          </p:cNvPr>
          <p:cNvSpPr>
            <a:spLocks noGrp="1"/>
          </p:cNvSpPr>
          <p:nvPr>
            <p:ph type="ftr" sz="quarter" idx="11"/>
          </p:nvPr>
        </p:nvSpPr>
        <p:spPr>
          <a:xfrm>
            <a:off x="838200" y="6356350"/>
            <a:ext cx="5960951" cy="365125"/>
          </a:xfrm>
          <a:noFill/>
        </p:spPr>
        <p:txBody>
          <a:bodyPr>
            <a:normAutofit/>
          </a:bodyPr>
          <a:lstStyle/>
          <a:p>
            <a:pPr algn="l"/>
            <a:endParaRPr lang="fr-CA"/>
          </a:p>
        </p:txBody>
      </p:sp>
      <p:sp>
        <p:nvSpPr>
          <p:cNvPr id="4" name="Espace réservé du numéro de diapositive 3">
            <a:extLst>
              <a:ext uri="{FF2B5EF4-FFF2-40B4-BE49-F238E27FC236}">
                <a16:creationId xmlns:a16="http://schemas.microsoft.com/office/drawing/2014/main" id="{2B9953A0-5561-4BEE-ADFE-06FC7E4845E0}"/>
              </a:ext>
            </a:extLst>
          </p:cNvPr>
          <p:cNvSpPr>
            <a:spLocks noGrp="1"/>
          </p:cNvSpPr>
          <p:nvPr>
            <p:ph type="sldNum" sz="quarter" idx="12"/>
          </p:nvPr>
        </p:nvSpPr>
        <p:spPr>
          <a:xfrm>
            <a:off x="10926476" y="6356350"/>
            <a:ext cx="625443" cy="365125"/>
          </a:xfrm>
          <a:noFill/>
        </p:spPr>
        <p:txBody>
          <a:bodyPr>
            <a:normAutofit/>
          </a:bodyPr>
          <a:lstStyle/>
          <a:p>
            <a:pPr algn="l">
              <a:spcAft>
                <a:spcPts val="600"/>
              </a:spcAft>
            </a:pPr>
            <a:fld id="{26377AD9-CE17-438C-A638-C64D2D42D7CF}" type="slidenum">
              <a:rPr lang="fr-CA" smtClean="0"/>
              <a:pPr algn="l">
                <a:spcAft>
                  <a:spcPts val="600"/>
                </a:spcAft>
              </a:pPr>
              <a:t>9</a:t>
            </a:fld>
            <a:endParaRPr lang="fr-CA"/>
          </a:p>
        </p:txBody>
      </p:sp>
      <p:sp>
        <p:nvSpPr>
          <p:cNvPr id="5" name="ZoneTexte 4">
            <a:extLst>
              <a:ext uri="{FF2B5EF4-FFF2-40B4-BE49-F238E27FC236}">
                <a16:creationId xmlns:a16="http://schemas.microsoft.com/office/drawing/2014/main" id="{F158A0AA-3BC2-4996-8672-B24CB335A3BE}"/>
              </a:ext>
            </a:extLst>
          </p:cNvPr>
          <p:cNvSpPr txBox="1"/>
          <p:nvPr/>
        </p:nvSpPr>
        <p:spPr>
          <a:xfrm>
            <a:off x="838200" y="2246811"/>
            <a:ext cx="10408920" cy="723275"/>
          </a:xfrm>
          <a:prstGeom prst="rect">
            <a:avLst/>
          </a:prstGeom>
          <a:noFill/>
        </p:spPr>
        <p:txBody>
          <a:bodyPr wrap="square" rtlCol="0">
            <a:spAutoFit/>
          </a:bodyPr>
          <a:lstStyle/>
          <a:p>
            <a:pPr>
              <a:spcAft>
                <a:spcPts val="600"/>
              </a:spcAft>
            </a:pPr>
            <a:r>
              <a:rPr lang="fr-CA" b="1" dirty="0"/>
              <a:t>Réponse</a:t>
            </a:r>
            <a:r>
              <a:rPr lang="fr-CA" dirty="0"/>
              <a:t>: a)Les cas possibles</a:t>
            </a:r>
          </a:p>
          <a:p>
            <a:pPr>
              <a:spcAft>
                <a:spcPts val="600"/>
              </a:spcAft>
            </a:pPr>
            <a:endParaRPr lang="fr-CA" dirty="0"/>
          </a:p>
        </p:txBody>
      </p:sp>
      <mc:AlternateContent xmlns:mc="http://schemas.openxmlformats.org/markup-compatibility/2006" xmlns:a14="http://schemas.microsoft.com/office/drawing/2010/main">
        <mc:Choice Requires="a14">
          <p:sp>
            <p:nvSpPr>
              <p:cNvPr id="9" name="ZoneTexte 8">
                <a:extLst>
                  <a:ext uri="{FF2B5EF4-FFF2-40B4-BE49-F238E27FC236}">
                    <a16:creationId xmlns:a16="http://schemas.microsoft.com/office/drawing/2014/main" id="{728B6FA7-472F-43C2-9ED4-E841D197D928}"/>
                  </a:ext>
                </a:extLst>
              </p:cNvPr>
              <p:cNvSpPr txBox="1"/>
              <p:nvPr/>
            </p:nvSpPr>
            <p:spPr>
              <a:xfrm>
                <a:off x="1240971" y="5081451"/>
                <a:ext cx="9685505" cy="545727"/>
              </a:xfrm>
              <a:prstGeom prst="rect">
                <a:avLst/>
              </a:prstGeom>
              <a:noFill/>
            </p:spPr>
            <p:txBody>
              <a:bodyPr wrap="square" rtlCol="0">
                <a:spAutoFit/>
              </a:bodyPr>
              <a:lstStyle/>
              <a:p>
                <a:r>
                  <a:rPr lang="fr-CA" sz="1800" dirty="0">
                    <a:effectLst/>
                    <a:latin typeface="Calibri" panose="020F0502020204030204" pitchFamily="34" charset="0"/>
                    <a:ea typeface="Calibri" panose="020F0502020204030204" pitchFamily="34" charset="0"/>
                    <a:cs typeface="Times New Roman" panose="02020603050405020304" pitchFamily="18" charset="0"/>
                  </a:rPr>
                  <a:t>b) Soit</a:t>
                </a:r>
                <a:r>
                  <a:rPr lang="fr-CA" sz="1800" i="1" dirty="0">
                    <a:effectLst/>
                    <a:latin typeface="Calibri" panose="020F0502020204030204" pitchFamily="34" charset="0"/>
                    <a:ea typeface="Calibri" panose="020F0502020204030204" pitchFamily="34" charset="0"/>
                    <a:cs typeface="Times New Roman" panose="02020603050405020304" pitchFamily="18" charset="0"/>
                  </a:rPr>
                  <a:t> A :</a:t>
                </a:r>
                <a:r>
                  <a:rPr lang="fr-CA" sz="1800" dirty="0">
                    <a:effectLst/>
                    <a:latin typeface="Calibri" panose="020F0502020204030204" pitchFamily="34" charset="0"/>
                    <a:ea typeface="Calibri" panose="020F0502020204030204" pitchFamily="34" charset="0"/>
                    <a:cs typeface="Times New Roman" panose="02020603050405020304" pitchFamily="18" charset="0"/>
                  </a:rPr>
                  <a:t> Le couple a</a:t>
                </a:r>
                <a:r>
                  <a:rPr lang="fr-CA" sz="1800" i="1" dirty="0">
                    <a:effectLst/>
                    <a:latin typeface="Calibri" panose="020F0502020204030204" pitchFamily="34" charset="0"/>
                    <a:ea typeface="Calibri" panose="020F0502020204030204" pitchFamily="34" charset="0"/>
                    <a:cs typeface="Times New Roman" panose="02020603050405020304" pitchFamily="18" charset="0"/>
                  </a:rPr>
                  <a:t> </a:t>
                </a:r>
                <a:r>
                  <a:rPr lang="fr-CA" sz="1800" dirty="0">
                    <a:effectLst/>
                    <a:latin typeface="Calibri" panose="020F0502020204030204" pitchFamily="34" charset="0"/>
                    <a:ea typeface="Calibri" panose="020F0502020204030204" pitchFamily="34" charset="0"/>
                    <a:cs typeface="Times New Roman" panose="02020603050405020304" pitchFamily="18" charset="0"/>
                  </a:rPr>
                  <a:t>exactement deux filles. On voit dans cette arborescence que </a:t>
                </a:r>
                <a14:m>
                  <m:oMath xmlns:m="http://schemas.openxmlformats.org/officeDocument/2006/math">
                    <m:r>
                      <a:rPr lang="fr-CA" sz="1800" b="0" i="1" smtClean="0">
                        <a:effectLst/>
                        <a:latin typeface="Cambria Math" panose="02040503050406030204" pitchFamily="18" charset="0"/>
                        <a:ea typeface="Calibri" panose="020F0502020204030204" pitchFamily="34" charset="0"/>
                        <a:cs typeface="Times New Roman" panose="02020603050405020304" pitchFamily="18" charset="0"/>
                      </a:rPr>
                      <m:t>𝑃</m:t>
                    </m:r>
                    <m:d>
                      <m:dPr>
                        <m:ctrlPr>
                          <a:rPr lang="fr-CA" sz="1800" b="0" i="1" smtClean="0">
                            <a:effectLst/>
                            <a:latin typeface="Cambria Math" panose="02040503050406030204" pitchFamily="18" charset="0"/>
                            <a:ea typeface="Calibri" panose="020F0502020204030204" pitchFamily="34" charset="0"/>
                            <a:cs typeface="Times New Roman" panose="02020603050405020304" pitchFamily="18" charset="0"/>
                          </a:rPr>
                        </m:ctrlPr>
                      </m:dPr>
                      <m:e>
                        <m:r>
                          <a:rPr lang="fr-CA" sz="1800" b="0" i="1" smtClean="0">
                            <a:effectLst/>
                            <a:latin typeface="Cambria Math" panose="02040503050406030204" pitchFamily="18" charset="0"/>
                            <a:ea typeface="Calibri" panose="020F0502020204030204" pitchFamily="34" charset="0"/>
                            <a:cs typeface="Times New Roman" panose="02020603050405020304" pitchFamily="18" charset="0"/>
                          </a:rPr>
                          <m:t>𝐴</m:t>
                        </m:r>
                      </m:e>
                    </m:d>
                    <m:r>
                      <a:rPr lang="fr-CA" sz="1800" b="0" i="1" smtClean="0">
                        <a:effectLst/>
                        <a:latin typeface="Cambria Math" panose="02040503050406030204" pitchFamily="18" charset="0"/>
                        <a:ea typeface="Calibri" panose="020F0502020204030204" pitchFamily="34" charset="0"/>
                        <a:cs typeface="Times New Roman" panose="02020603050405020304" pitchFamily="18" charset="0"/>
                      </a:rPr>
                      <m:t>=</m:t>
                    </m:r>
                    <m:f>
                      <m:fPr>
                        <m:ctrlPr>
                          <a:rPr lang="fr-CA" sz="1800" b="0" i="1" smtClean="0">
                            <a:effectLst/>
                            <a:latin typeface="Cambria Math" panose="02040503050406030204" pitchFamily="18" charset="0"/>
                            <a:cs typeface="Times New Roman" panose="02020603050405020304" pitchFamily="18" charset="0"/>
                          </a:rPr>
                        </m:ctrlPr>
                      </m:fPr>
                      <m:num>
                        <m:r>
                          <a:rPr lang="fr-CA" sz="1800" b="0" i="1" smtClean="0">
                            <a:effectLst/>
                            <a:latin typeface="Cambria Math" panose="02040503050406030204" pitchFamily="18" charset="0"/>
                            <a:cs typeface="Times New Roman" panose="02020603050405020304" pitchFamily="18" charset="0"/>
                          </a:rPr>
                          <m:t>𝑁</m:t>
                        </m:r>
                        <m:r>
                          <a:rPr lang="fr-CA" sz="1800" b="0" i="1" smtClean="0">
                            <a:effectLst/>
                            <a:latin typeface="Cambria Math" panose="02040503050406030204" pitchFamily="18" charset="0"/>
                            <a:cs typeface="Times New Roman" panose="02020603050405020304" pitchFamily="18" charset="0"/>
                          </a:rPr>
                          <m:t>(</m:t>
                        </m:r>
                        <m:r>
                          <a:rPr lang="fr-CA" sz="1800" b="0" i="1" smtClean="0">
                            <a:effectLst/>
                            <a:latin typeface="Cambria Math" panose="02040503050406030204" pitchFamily="18" charset="0"/>
                            <a:cs typeface="Times New Roman" panose="02020603050405020304" pitchFamily="18" charset="0"/>
                          </a:rPr>
                          <m:t>𝐴</m:t>
                        </m:r>
                        <m:r>
                          <a:rPr lang="fr-CA" sz="1800" b="0" i="1" smtClean="0">
                            <a:effectLst/>
                            <a:latin typeface="Cambria Math" panose="02040503050406030204" pitchFamily="18" charset="0"/>
                            <a:cs typeface="Times New Roman" panose="02020603050405020304" pitchFamily="18" charset="0"/>
                          </a:rPr>
                          <m:t>)</m:t>
                        </m:r>
                      </m:num>
                      <m:den>
                        <m:r>
                          <a:rPr lang="fr-CA" sz="1800" b="0" i="1" smtClean="0">
                            <a:effectLst/>
                            <a:latin typeface="Cambria Math" panose="02040503050406030204" pitchFamily="18" charset="0"/>
                            <a:cs typeface="Times New Roman" panose="02020603050405020304" pitchFamily="18" charset="0"/>
                          </a:rPr>
                          <m:t>𝑁</m:t>
                        </m:r>
                        <m:r>
                          <a:rPr lang="fr-CA" sz="1800" b="0" i="1" smtClean="0">
                            <a:effectLst/>
                            <a:latin typeface="Cambria Math" panose="02040503050406030204" pitchFamily="18" charset="0"/>
                            <a:cs typeface="Times New Roman" panose="02020603050405020304" pitchFamily="18" charset="0"/>
                          </a:rPr>
                          <m:t>(</m:t>
                        </m:r>
                        <m:r>
                          <a:rPr lang="fr-CA" sz="1800" b="0" i="1" smtClean="0">
                            <a:effectLst/>
                            <a:latin typeface="Cambria Math" panose="02040503050406030204" pitchFamily="18" charset="0"/>
                            <a:cs typeface="Times New Roman" panose="02020603050405020304" pitchFamily="18" charset="0"/>
                          </a:rPr>
                          <m:t>𝑆</m:t>
                        </m:r>
                        <m:r>
                          <a:rPr lang="fr-CA" sz="1800" b="0" i="1" smtClean="0">
                            <a:effectLst/>
                            <a:latin typeface="Cambria Math" panose="02040503050406030204" pitchFamily="18" charset="0"/>
                            <a:cs typeface="Times New Roman" panose="02020603050405020304" pitchFamily="18" charset="0"/>
                          </a:rPr>
                          <m:t>)</m:t>
                        </m:r>
                      </m:den>
                    </m:f>
                    <m:r>
                      <a:rPr lang="fr-CA" sz="1800" b="0" i="1" smtClean="0">
                        <a:effectLst/>
                        <a:latin typeface="Cambria Math" panose="02040503050406030204" pitchFamily="18" charset="0"/>
                        <a:cs typeface="Times New Roman" panose="02020603050405020304" pitchFamily="18" charset="0"/>
                      </a:rPr>
                      <m:t>=</m:t>
                    </m:r>
                    <m:f>
                      <m:fPr>
                        <m:ctrlPr>
                          <a:rPr lang="fr-CA" sz="1800" b="0" i="1" smtClean="0">
                            <a:effectLst/>
                            <a:latin typeface="Cambria Math" panose="02040503050406030204" pitchFamily="18" charset="0"/>
                            <a:cs typeface="Times New Roman" panose="02020603050405020304" pitchFamily="18" charset="0"/>
                          </a:rPr>
                        </m:ctrlPr>
                      </m:fPr>
                      <m:num>
                        <m:r>
                          <a:rPr lang="fr-CA" sz="1800" b="0" i="1" smtClean="0">
                            <a:effectLst/>
                            <a:latin typeface="Cambria Math" panose="02040503050406030204" pitchFamily="18" charset="0"/>
                            <a:cs typeface="Times New Roman" panose="02020603050405020304" pitchFamily="18" charset="0"/>
                          </a:rPr>
                          <m:t>3</m:t>
                        </m:r>
                      </m:num>
                      <m:den>
                        <m:r>
                          <a:rPr lang="fr-CA" sz="1800" b="0" i="1" smtClean="0">
                            <a:effectLst/>
                            <a:latin typeface="Cambria Math" panose="02040503050406030204" pitchFamily="18" charset="0"/>
                            <a:cs typeface="Times New Roman" panose="02020603050405020304" pitchFamily="18" charset="0"/>
                          </a:rPr>
                          <m:t>8</m:t>
                        </m:r>
                      </m:den>
                    </m:f>
                  </m:oMath>
                </a14:m>
                <a:endParaRPr lang="fr-CA" dirty="0"/>
              </a:p>
            </p:txBody>
          </p:sp>
        </mc:Choice>
        <mc:Fallback xmlns="">
          <p:sp>
            <p:nvSpPr>
              <p:cNvPr id="9" name="ZoneTexte 8">
                <a:extLst>
                  <a:ext uri="{FF2B5EF4-FFF2-40B4-BE49-F238E27FC236}">
                    <a16:creationId xmlns:a16="http://schemas.microsoft.com/office/drawing/2014/main" id="{728B6FA7-472F-43C2-9ED4-E841D197D928}"/>
                  </a:ext>
                </a:extLst>
              </p:cNvPr>
              <p:cNvSpPr txBox="1">
                <a:spLocks noRot="1" noChangeAspect="1" noMove="1" noResize="1" noEditPoints="1" noAdjustHandles="1" noChangeArrowheads="1" noChangeShapeType="1" noTextEdit="1"/>
              </p:cNvSpPr>
              <p:nvPr/>
            </p:nvSpPr>
            <p:spPr>
              <a:xfrm>
                <a:off x="1240971" y="5081451"/>
                <a:ext cx="9685505" cy="545727"/>
              </a:xfrm>
              <a:prstGeom prst="rect">
                <a:avLst/>
              </a:prstGeom>
              <a:blipFill>
                <a:blip r:embed="rId3"/>
                <a:stretch>
                  <a:fillRect l="-567" b="-4494"/>
                </a:stretch>
              </a:blipFill>
            </p:spPr>
            <p:txBody>
              <a:bodyPr/>
              <a:lstStyle/>
              <a:p>
                <a:r>
                  <a:rPr lang="fr-CA">
                    <a:noFill/>
                  </a:rPr>
                  <a:t> </a:t>
                </a:r>
              </a:p>
            </p:txBody>
          </p:sp>
        </mc:Fallback>
      </mc:AlternateContent>
      <p:sp>
        <p:nvSpPr>
          <p:cNvPr id="7" name="Titre 6">
            <a:extLst>
              <a:ext uri="{FF2B5EF4-FFF2-40B4-BE49-F238E27FC236}">
                <a16:creationId xmlns:a16="http://schemas.microsoft.com/office/drawing/2014/main" id="{C15E2C71-FD3A-49C3-A760-47DBE12E2943}"/>
              </a:ext>
            </a:extLst>
          </p:cNvPr>
          <p:cNvSpPr>
            <a:spLocks noGrp="1"/>
          </p:cNvSpPr>
          <p:nvPr>
            <p:ph type="title"/>
          </p:nvPr>
        </p:nvSpPr>
        <p:spPr>
          <a:xfrm>
            <a:off x="838200" y="672353"/>
            <a:ext cx="2469776" cy="1018335"/>
          </a:xfrm>
        </p:spPr>
        <p:txBody>
          <a:bodyPr>
            <a:normAutofit fontScale="90000"/>
          </a:bodyPr>
          <a:lstStyle/>
          <a:p>
            <a:r>
              <a:rPr lang="fr-CA" dirty="0"/>
              <a:t>Un couple a 3 enfants</a:t>
            </a:r>
          </a:p>
        </p:txBody>
      </p:sp>
    </p:spTree>
    <p:extLst>
      <p:ext uri="{BB962C8B-B14F-4D97-AF65-F5344CB8AC3E}">
        <p14:creationId xmlns:p14="http://schemas.microsoft.com/office/powerpoint/2010/main" val="1144730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807FE9A-55A1-4F40-9482-9EAE62D39C59}"/>
              </a:ext>
            </a:extLst>
          </p:cNvPr>
          <p:cNvSpPr>
            <a:spLocks noGrp="1"/>
          </p:cNvSpPr>
          <p:nvPr>
            <p:ph type="title"/>
          </p:nvPr>
        </p:nvSpPr>
        <p:spPr/>
        <p:txBody>
          <a:bodyPr/>
          <a:lstStyle/>
          <a:p>
            <a:r>
              <a:rPr lang="fr-CA" dirty="0"/>
              <a:t>LECTURE3: Probabilité conditionnelle</a:t>
            </a:r>
          </a:p>
        </p:txBody>
      </p:sp>
      <p:sp>
        <p:nvSpPr>
          <p:cNvPr id="3" name="Espace réservé du pied de page 2">
            <a:extLst>
              <a:ext uri="{FF2B5EF4-FFF2-40B4-BE49-F238E27FC236}">
                <a16:creationId xmlns:a16="http://schemas.microsoft.com/office/drawing/2014/main" id="{966E780E-0E1A-452F-AB56-08F39F04277D}"/>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8A43D0B5-E6C1-4DEF-8D95-12D4F46FC368}"/>
              </a:ext>
            </a:extLst>
          </p:cNvPr>
          <p:cNvSpPr>
            <a:spLocks noGrp="1"/>
          </p:cNvSpPr>
          <p:nvPr>
            <p:ph type="sldNum" sz="quarter" idx="12"/>
          </p:nvPr>
        </p:nvSpPr>
        <p:spPr/>
        <p:txBody>
          <a:bodyPr/>
          <a:lstStyle/>
          <a:p>
            <a:fld id="{26377AD9-CE17-438C-A638-C64D2D42D7CF}" type="slidenum">
              <a:rPr lang="fr-CA" smtClean="0"/>
              <a:t>10</a:t>
            </a:fld>
            <a:endParaRPr lang="fr-CA"/>
          </a:p>
        </p:txBody>
      </p:sp>
      <mc:AlternateContent xmlns:mc="http://schemas.openxmlformats.org/markup-compatibility/2006" xmlns:a14="http://schemas.microsoft.com/office/drawing/2010/main">
        <mc:Choice Requires="a14">
          <p:sp>
            <p:nvSpPr>
              <p:cNvPr id="10" name="ZoneTexte 9">
                <a:extLst>
                  <a:ext uri="{FF2B5EF4-FFF2-40B4-BE49-F238E27FC236}">
                    <a16:creationId xmlns:a16="http://schemas.microsoft.com/office/drawing/2014/main" id="{A5B1FB22-741E-4D80-96FB-7F812FBD1A44}"/>
                  </a:ext>
                </a:extLst>
              </p:cNvPr>
              <p:cNvSpPr txBox="1"/>
              <p:nvPr/>
            </p:nvSpPr>
            <p:spPr>
              <a:xfrm>
                <a:off x="838200" y="1358536"/>
                <a:ext cx="9875520" cy="2377254"/>
              </a:xfrm>
              <a:prstGeom prst="rect">
                <a:avLst/>
              </a:prstGeom>
              <a:noFill/>
            </p:spPr>
            <p:txBody>
              <a:bodyPr wrap="square" rtlCol="0">
                <a:spAutoFit/>
              </a:bodyPr>
              <a:lstStyle/>
              <a:p>
                <a:r>
                  <a:rPr kumimoji="0" lang="fr-CA" altLang="fr-FR" sz="18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Soit</a:t>
                </a:r>
                <a:r>
                  <a:rPr kumimoji="0" lang="fr-CA" altLang="fr-FR" sz="1800" b="0" i="1"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 A </a:t>
                </a:r>
                <a:r>
                  <a:rPr kumimoji="0" lang="fr-CA" altLang="fr-FR" sz="18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et</a:t>
                </a:r>
                <a:r>
                  <a:rPr kumimoji="0" lang="fr-CA" altLang="fr-FR" sz="1800" b="0" i="1"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 B : </a:t>
                </a:r>
                <a:r>
                  <a:rPr kumimoji="0" lang="fr-CA" altLang="fr-FR" sz="18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deux événements quelconques liés à une expérience aléatoire. On appelle   </a:t>
                </a:r>
                <a:r>
                  <a:rPr kumimoji="0" lang="fr-CA" altLang="fr-FR" sz="180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probabilité conditionnelle</a:t>
                </a:r>
                <a:r>
                  <a:rPr kumimoji="0" lang="fr-CA" altLang="fr-FR" sz="18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 de</a:t>
                </a:r>
                <a:r>
                  <a:rPr kumimoji="0" lang="fr-CA" altLang="fr-FR" sz="1800" b="0" i="1"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 A </a:t>
                </a:r>
                <a:r>
                  <a:rPr kumimoji="0" lang="fr-CA" altLang="fr-FR" sz="18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sachant que</a:t>
                </a:r>
                <a:r>
                  <a:rPr kumimoji="0" lang="fr-CA" altLang="fr-FR" sz="1800" b="0" i="1"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 B </a:t>
                </a:r>
                <a:r>
                  <a:rPr kumimoji="0" lang="fr-CA" altLang="fr-FR" sz="18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s’est réalisé, la quantité :</a:t>
                </a:r>
              </a:p>
              <a:p>
                <a:endParaRPr lang="fr-CA" altLang="fr-FR" dirty="0">
                  <a:latin typeface="Arial" panose="020B0604020202020204" pitchFamily="34" charset="0"/>
                  <a:ea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a:rPr kumimoji="0" lang="fr-CA" altLang="fr-FR" sz="1800" b="0" i="1" u="none" strike="noStrike" cap="none" normalizeH="0" baseline="0" smtClean="0">
                          <a:ln>
                            <a:noFill/>
                          </a:ln>
                          <a:solidFill>
                            <a:schemeClr val="tx1"/>
                          </a:solidFill>
                          <a:effectLst/>
                          <a:latin typeface="Cambria Math" panose="02040503050406030204" pitchFamily="18" charset="0"/>
                          <a:ea typeface="Times New Roman" panose="02020603050405020304" pitchFamily="18" charset="0"/>
                        </a:rPr>
                        <m:t>𝑃</m:t>
                      </m:r>
                      <m:d>
                        <m:dPr>
                          <m:ctrlPr>
                            <a:rPr kumimoji="0" lang="fr-CA" altLang="fr-FR" sz="1800" b="0" i="1" u="none" strike="noStrike" cap="none" normalizeH="0" baseline="0" smtClean="0">
                              <a:ln>
                                <a:noFill/>
                              </a:ln>
                              <a:solidFill>
                                <a:schemeClr val="tx1"/>
                              </a:solidFill>
                              <a:effectLst/>
                              <a:latin typeface="Cambria Math" panose="02040503050406030204" pitchFamily="18" charset="0"/>
                              <a:ea typeface="Times New Roman" panose="02020603050405020304" pitchFamily="18" charset="0"/>
                            </a:rPr>
                          </m:ctrlPr>
                        </m:dPr>
                        <m:e>
                          <m:r>
                            <a:rPr kumimoji="0" lang="fr-CA" altLang="fr-FR" sz="1800" b="0" i="1" u="none" strike="noStrike" cap="none" normalizeH="0" baseline="0" smtClean="0">
                              <a:ln>
                                <a:noFill/>
                              </a:ln>
                              <a:solidFill>
                                <a:schemeClr val="tx1"/>
                              </a:solidFill>
                              <a:effectLst/>
                              <a:latin typeface="Cambria Math" panose="02040503050406030204" pitchFamily="18" charset="0"/>
                              <a:ea typeface="Times New Roman" panose="02020603050405020304" pitchFamily="18" charset="0"/>
                            </a:rPr>
                            <m:t>𝐴</m:t>
                          </m:r>
                        </m:e>
                        <m:e>
                          <m:r>
                            <a:rPr kumimoji="0" lang="fr-CA" altLang="fr-FR" sz="1800" b="0" i="1" u="none" strike="noStrike" cap="none" normalizeH="0" baseline="0" smtClean="0">
                              <a:ln>
                                <a:noFill/>
                              </a:ln>
                              <a:solidFill>
                                <a:schemeClr val="tx1"/>
                              </a:solidFill>
                              <a:effectLst/>
                              <a:latin typeface="Cambria Math" panose="02040503050406030204" pitchFamily="18" charset="0"/>
                              <a:ea typeface="Times New Roman" panose="02020603050405020304" pitchFamily="18" charset="0"/>
                            </a:rPr>
                            <m:t>𝐵</m:t>
                          </m:r>
                        </m:e>
                      </m:d>
                      <m:r>
                        <a:rPr kumimoji="0" lang="fr-CA" altLang="fr-FR" sz="1800" b="0" i="1" u="none" strike="noStrike" cap="none" normalizeH="0" baseline="0" smtClean="0">
                          <a:ln>
                            <a:noFill/>
                          </a:ln>
                          <a:solidFill>
                            <a:schemeClr val="tx1"/>
                          </a:solidFill>
                          <a:effectLst/>
                          <a:latin typeface="Cambria Math" panose="02040503050406030204" pitchFamily="18" charset="0"/>
                          <a:ea typeface="Times New Roman" panose="02020603050405020304" pitchFamily="18" charset="0"/>
                        </a:rPr>
                        <m:t>=</m:t>
                      </m:r>
                      <m:f>
                        <m:fPr>
                          <m:ctrlPr>
                            <a:rPr kumimoji="0" lang="fr-CA" altLang="fr-FR" sz="1800" b="0" i="1" u="none" strike="noStrike" cap="none" normalizeH="0" baseline="0" smtClean="0">
                              <a:ln>
                                <a:noFill/>
                              </a:ln>
                              <a:solidFill>
                                <a:schemeClr val="tx1"/>
                              </a:solidFill>
                              <a:effectLst/>
                              <a:latin typeface="Cambria Math" panose="02040503050406030204" pitchFamily="18" charset="0"/>
                            </a:rPr>
                          </m:ctrlPr>
                        </m:fPr>
                        <m:num>
                          <m:r>
                            <a:rPr kumimoji="0" lang="fr-CA" altLang="fr-FR" sz="1800" b="0" i="1" u="none" strike="noStrike" cap="none" normalizeH="0" baseline="0" smtClean="0">
                              <a:ln>
                                <a:noFill/>
                              </a:ln>
                              <a:solidFill>
                                <a:schemeClr val="tx1"/>
                              </a:solidFill>
                              <a:effectLst/>
                              <a:latin typeface="Cambria Math" panose="02040503050406030204" pitchFamily="18" charset="0"/>
                            </a:rPr>
                            <m:t>𝑃</m:t>
                          </m:r>
                          <m:r>
                            <a:rPr kumimoji="0" lang="fr-CA" altLang="fr-FR" sz="1800" b="0" i="1" u="none" strike="noStrike" cap="none" normalizeH="0" baseline="0" smtClean="0">
                              <a:ln>
                                <a:noFill/>
                              </a:ln>
                              <a:solidFill>
                                <a:schemeClr val="tx1"/>
                              </a:solidFill>
                              <a:effectLst/>
                              <a:latin typeface="Cambria Math" panose="02040503050406030204" pitchFamily="18" charset="0"/>
                            </a:rPr>
                            <m:t>(</m:t>
                          </m:r>
                          <m:r>
                            <a:rPr kumimoji="0" lang="fr-CA" altLang="fr-FR" sz="1800" b="0" i="1" u="none" strike="noStrike" cap="none" normalizeH="0" baseline="0" smtClean="0">
                              <a:ln>
                                <a:noFill/>
                              </a:ln>
                              <a:solidFill>
                                <a:schemeClr val="tx1"/>
                              </a:solidFill>
                              <a:effectLst/>
                              <a:latin typeface="Cambria Math" panose="02040503050406030204" pitchFamily="18" charset="0"/>
                            </a:rPr>
                            <m:t>𝐴</m:t>
                          </m:r>
                          <m:r>
                            <a:rPr kumimoji="0" lang="fr-CA" altLang="fr-FR" sz="1800" b="0" i="1" u="none" strike="noStrike" cap="none" normalizeH="0" baseline="0" smtClean="0">
                              <a:ln>
                                <a:noFill/>
                              </a:ln>
                              <a:solidFill>
                                <a:schemeClr val="tx1"/>
                              </a:solidFill>
                              <a:effectLst/>
                              <a:latin typeface="Cambria Math" panose="02040503050406030204" pitchFamily="18" charset="0"/>
                              <a:ea typeface="Cambria Math" panose="02040503050406030204" pitchFamily="18" charset="0"/>
                            </a:rPr>
                            <m:t>∩</m:t>
                          </m:r>
                          <m:r>
                            <a:rPr kumimoji="0" lang="fr-CA" altLang="fr-FR" sz="1800" b="0" i="1" u="none" strike="noStrike" cap="none" normalizeH="0" baseline="0" smtClean="0">
                              <a:ln>
                                <a:noFill/>
                              </a:ln>
                              <a:solidFill>
                                <a:schemeClr val="tx1"/>
                              </a:solidFill>
                              <a:effectLst/>
                              <a:latin typeface="Cambria Math" panose="02040503050406030204" pitchFamily="18" charset="0"/>
                              <a:ea typeface="Cambria Math" panose="02040503050406030204" pitchFamily="18" charset="0"/>
                            </a:rPr>
                            <m:t>𝐵</m:t>
                          </m:r>
                          <m:r>
                            <a:rPr kumimoji="0" lang="fr-CA" altLang="fr-FR" sz="1800" b="0" i="1" u="none" strike="noStrike" cap="none" normalizeH="0" baseline="0" smtClean="0">
                              <a:ln>
                                <a:noFill/>
                              </a:ln>
                              <a:solidFill>
                                <a:schemeClr val="tx1"/>
                              </a:solidFill>
                              <a:effectLst/>
                              <a:latin typeface="Cambria Math" panose="02040503050406030204" pitchFamily="18" charset="0"/>
                              <a:ea typeface="Cambria Math" panose="02040503050406030204" pitchFamily="18" charset="0"/>
                            </a:rPr>
                            <m:t>)</m:t>
                          </m:r>
                        </m:num>
                        <m:den>
                          <m:r>
                            <a:rPr kumimoji="0" lang="fr-CA" altLang="fr-FR" sz="1800" b="0" i="1" u="none" strike="noStrike" cap="none" normalizeH="0" baseline="0" smtClean="0">
                              <a:ln>
                                <a:noFill/>
                              </a:ln>
                              <a:solidFill>
                                <a:schemeClr val="tx1"/>
                              </a:solidFill>
                              <a:effectLst/>
                              <a:latin typeface="Cambria Math" panose="02040503050406030204" pitchFamily="18" charset="0"/>
                            </a:rPr>
                            <m:t>𝑃</m:t>
                          </m:r>
                          <m:r>
                            <a:rPr kumimoji="0" lang="fr-CA" altLang="fr-FR" sz="1800" b="0" i="1" u="none" strike="noStrike" cap="none" normalizeH="0" baseline="0" smtClean="0">
                              <a:ln>
                                <a:noFill/>
                              </a:ln>
                              <a:solidFill>
                                <a:schemeClr val="tx1"/>
                              </a:solidFill>
                              <a:effectLst/>
                              <a:latin typeface="Cambria Math" panose="02040503050406030204" pitchFamily="18" charset="0"/>
                            </a:rPr>
                            <m:t>(</m:t>
                          </m:r>
                          <m:r>
                            <a:rPr kumimoji="0" lang="fr-CA" altLang="fr-FR" sz="1800" b="0" i="1" u="none" strike="noStrike" cap="none" normalizeH="0" baseline="0" smtClean="0">
                              <a:ln>
                                <a:noFill/>
                              </a:ln>
                              <a:solidFill>
                                <a:schemeClr val="tx1"/>
                              </a:solidFill>
                              <a:effectLst/>
                              <a:latin typeface="Cambria Math" panose="02040503050406030204" pitchFamily="18" charset="0"/>
                            </a:rPr>
                            <m:t>𝐵</m:t>
                          </m:r>
                          <m:r>
                            <a:rPr kumimoji="0" lang="fr-CA" altLang="fr-FR" sz="1800" b="0" i="1" u="none" strike="noStrike" cap="none" normalizeH="0" baseline="0" smtClean="0">
                              <a:ln>
                                <a:noFill/>
                              </a:ln>
                              <a:solidFill>
                                <a:schemeClr val="tx1"/>
                              </a:solidFill>
                              <a:effectLst/>
                              <a:latin typeface="Cambria Math" panose="02040503050406030204" pitchFamily="18" charset="0"/>
                            </a:rPr>
                            <m:t>)</m:t>
                          </m:r>
                        </m:den>
                      </m:f>
                      <m:r>
                        <a:rPr kumimoji="0" lang="fr-CA" altLang="fr-FR" sz="1800" b="0" i="1" u="none" strike="noStrike" cap="none" normalizeH="0" baseline="0" smtClean="0">
                          <a:ln>
                            <a:noFill/>
                          </a:ln>
                          <a:solidFill>
                            <a:schemeClr val="tx1"/>
                          </a:solidFill>
                          <a:effectLst/>
                          <a:latin typeface="Cambria Math" panose="02040503050406030204" pitchFamily="18" charset="0"/>
                        </a:rPr>
                        <m:t>=</m:t>
                      </m:r>
                      <m:f>
                        <m:fPr>
                          <m:ctrlPr>
                            <a:rPr kumimoji="0" lang="fr-CA" altLang="fr-FR" sz="1800" b="0" i="1" u="none" strike="noStrike" cap="none" normalizeH="0" baseline="0" smtClean="0">
                              <a:ln>
                                <a:noFill/>
                              </a:ln>
                              <a:solidFill>
                                <a:schemeClr val="tx1"/>
                              </a:solidFill>
                              <a:effectLst/>
                              <a:latin typeface="Cambria Math" panose="02040503050406030204" pitchFamily="18" charset="0"/>
                            </a:rPr>
                          </m:ctrlPr>
                        </m:fPr>
                        <m:num>
                          <m:r>
                            <a:rPr kumimoji="0" lang="fr-CA" altLang="fr-FR" sz="1800" b="0" i="1" u="none" strike="noStrike" cap="none" normalizeH="0" baseline="0" smtClean="0">
                              <a:ln>
                                <a:noFill/>
                              </a:ln>
                              <a:solidFill>
                                <a:schemeClr val="tx1"/>
                              </a:solidFill>
                              <a:effectLst/>
                              <a:latin typeface="Cambria Math" panose="02040503050406030204" pitchFamily="18" charset="0"/>
                            </a:rPr>
                            <m:t>𝑁</m:t>
                          </m:r>
                          <m:r>
                            <a:rPr kumimoji="0" lang="fr-CA" altLang="fr-FR" sz="1800" b="0" i="1" u="none" strike="noStrike" cap="none" normalizeH="0" baseline="0" smtClean="0">
                              <a:ln>
                                <a:noFill/>
                              </a:ln>
                              <a:solidFill>
                                <a:schemeClr val="tx1"/>
                              </a:solidFill>
                              <a:effectLst/>
                              <a:latin typeface="Cambria Math" panose="02040503050406030204" pitchFamily="18" charset="0"/>
                            </a:rPr>
                            <m:t>(</m:t>
                          </m:r>
                          <m:r>
                            <a:rPr kumimoji="0" lang="fr-CA" altLang="fr-FR" sz="1800" b="0" i="1" u="none" strike="noStrike" cap="none" normalizeH="0" baseline="0" smtClean="0">
                              <a:ln>
                                <a:noFill/>
                              </a:ln>
                              <a:solidFill>
                                <a:schemeClr val="tx1"/>
                              </a:solidFill>
                              <a:effectLst/>
                              <a:latin typeface="Cambria Math" panose="02040503050406030204" pitchFamily="18" charset="0"/>
                            </a:rPr>
                            <m:t>𝐴</m:t>
                          </m:r>
                          <m:r>
                            <a:rPr kumimoji="0" lang="fr-CA" altLang="fr-FR" sz="1800" b="0" i="1" u="none" strike="noStrike" cap="none" normalizeH="0" baseline="0" smtClean="0">
                              <a:ln>
                                <a:noFill/>
                              </a:ln>
                              <a:solidFill>
                                <a:schemeClr val="tx1"/>
                              </a:solidFill>
                              <a:effectLst/>
                              <a:latin typeface="Cambria Math" panose="02040503050406030204" pitchFamily="18" charset="0"/>
                              <a:ea typeface="Cambria Math" panose="02040503050406030204" pitchFamily="18" charset="0"/>
                            </a:rPr>
                            <m:t>∩</m:t>
                          </m:r>
                          <m:r>
                            <a:rPr kumimoji="0" lang="fr-CA" altLang="fr-FR" sz="1800" b="0" i="1" u="none" strike="noStrike" cap="none" normalizeH="0" baseline="0" smtClean="0">
                              <a:ln>
                                <a:noFill/>
                              </a:ln>
                              <a:solidFill>
                                <a:schemeClr val="tx1"/>
                              </a:solidFill>
                              <a:effectLst/>
                              <a:latin typeface="Cambria Math" panose="02040503050406030204" pitchFamily="18" charset="0"/>
                              <a:ea typeface="Cambria Math" panose="02040503050406030204" pitchFamily="18" charset="0"/>
                            </a:rPr>
                            <m:t>𝐵</m:t>
                          </m:r>
                          <m:r>
                            <a:rPr kumimoji="0" lang="fr-CA" altLang="fr-FR" sz="1800" b="0" i="1" u="none" strike="noStrike" cap="none" normalizeH="0" baseline="0" smtClean="0">
                              <a:ln>
                                <a:noFill/>
                              </a:ln>
                              <a:solidFill>
                                <a:schemeClr val="tx1"/>
                              </a:solidFill>
                              <a:effectLst/>
                              <a:latin typeface="Cambria Math" panose="02040503050406030204" pitchFamily="18" charset="0"/>
                              <a:ea typeface="Cambria Math" panose="02040503050406030204" pitchFamily="18" charset="0"/>
                            </a:rPr>
                            <m:t>)</m:t>
                          </m:r>
                        </m:num>
                        <m:den>
                          <m:r>
                            <a:rPr kumimoji="0" lang="fr-CA" altLang="fr-FR" sz="1800" b="0" i="1" u="none" strike="noStrike" cap="none" normalizeH="0" baseline="0" smtClean="0">
                              <a:ln>
                                <a:noFill/>
                              </a:ln>
                              <a:solidFill>
                                <a:schemeClr val="tx1"/>
                              </a:solidFill>
                              <a:effectLst/>
                              <a:latin typeface="Cambria Math" panose="02040503050406030204" pitchFamily="18" charset="0"/>
                            </a:rPr>
                            <m:t>𝑁</m:t>
                          </m:r>
                          <m:r>
                            <a:rPr kumimoji="0" lang="fr-CA" altLang="fr-FR" sz="1800" b="0" i="1" u="none" strike="noStrike" cap="none" normalizeH="0" baseline="0" smtClean="0">
                              <a:ln>
                                <a:noFill/>
                              </a:ln>
                              <a:solidFill>
                                <a:schemeClr val="tx1"/>
                              </a:solidFill>
                              <a:effectLst/>
                              <a:latin typeface="Cambria Math" panose="02040503050406030204" pitchFamily="18" charset="0"/>
                            </a:rPr>
                            <m:t>(</m:t>
                          </m:r>
                          <m:r>
                            <a:rPr kumimoji="0" lang="fr-CA" altLang="fr-FR" sz="1800" b="0" i="1" u="none" strike="noStrike" cap="none" normalizeH="0" baseline="0" smtClean="0">
                              <a:ln>
                                <a:noFill/>
                              </a:ln>
                              <a:solidFill>
                                <a:schemeClr val="tx1"/>
                              </a:solidFill>
                              <a:effectLst/>
                              <a:latin typeface="Cambria Math" panose="02040503050406030204" pitchFamily="18" charset="0"/>
                            </a:rPr>
                            <m:t>𝐵</m:t>
                          </m:r>
                          <m:r>
                            <a:rPr kumimoji="0" lang="fr-CA" altLang="fr-FR" sz="1800" b="0" i="1" u="none" strike="noStrike" cap="none" normalizeH="0" baseline="0" smtClean="0">
                              <a:ln>
                                <a:noFill/>
                              </a:ln>
                              <a:solidFill>
                                <a:schemeClr val="tx1"/>
                              </a:solidFill>
                              <a:effectLst/>
                              <a:latin typeface="Cambria Math" panose="02040503050406030204" pitchFamily="18" charset="0"/>
                            </a:rPr>
                            <m:t>)</m:t>
                          </m:r>
                        </m:den>
                      </m:f>
                      <m:r>
                        <a:rPr kumimoji="0" lang="fr-CA" altLang="fr-FR" sz="1800" b="0" i="1" u="none" strike="noStrike" cap="none" normalizeH="0" baseline="0" smtClean="0">
                          <a:ln>
                            <a:noFill/>
                          </a:ln>
                          <a:solidFill>
                            <a:schemeClr val="tx1"/>
                          </a:solidFill>
                          <a:effectLst/>
                          <a:latin typeface="Cambria Math" panose="02040503050406030204" pitchFamily="18" charset="0"/>
                        </a:rPr>
                        <m:t>      </m:t>
                      </m:r>
                      <m:r>
                        <a:rPr kumimoji="0" lang="fr-CA" altLang="fr-FR" sz="1800" b="0" i="1" u="none" strike="noStrike" cap="none" normalizeH="0" baseline="0" smtClean="0">
                          <a:ln>
                            <a:noFill/>
                          </a:ln>
                          <a:solidFill>
                            <a:schemeClr val="tx1"/>
                          </a:solidFill>
                          <a:effectLst/>
                          <a:latin typeface="Cambria Math" panose="02040503050406030204" pitchFamily="18" charset="0"/>
                        </a:rPr>
                        <m:t>𝑝𝑜𝑢𝑟</m:t>
                      </m:r>
                      <m:r>
                        <a:rPr kumimoji="0" lang="fr-CA" altLang="fr-FR" sz="1800" b="0" i="1" u="none" strike="noStrike" cap="none" normalizeH="0" baseline="0" smtClean="0">
                          <a:ln>
                            <a:noFill/>
                          </a:ln>
                          <a:solidFill>
                            <a:schemeClr val="tx1"/>
                          </a:solidFill>
                          <a:effectLst/>
                          <a:latin typeface="Cambria Math" panose="02040503050406030204" pitchFamily="18" charset="0"/>
                        </a:rPr>
                        <m:t> </m:t>
                      </m:r>
                      <m:r>
                        <a:rPr kumimoji="0" lang="fr-CA" altLang="fr-FR" sz="1800" b="0" i="1" u="none" strike="noStrike" cap="none" normalizeH="0" baseline="0" smtClean="0">
                          <a:ln>
                            <a:noFill/>
                          </a:ln>
                          <a:solidFill>
                            <a:schemeClr val="tx1"/>
                          </a:solidFill>
                          <a:effectLst/>
                          <a:latin typeface="Cambria Math" panose="02040503050406030204" pitchFamily="18" charset="0"/>
                        </a:rPr>
                        <m:t>𝑃</m:t>
                      </m:r>
                      <m:d>
                        <m:dPr>
                          <m:ctrlPr>
                            <a:rPr kumimoji="0" lang="fr-CA" altLang="fr-FR" sz="1800" b="0" i="1" u="none" strike="noStrike" cap="none" normalizeH="0" baseline="0" smtClean="0">
                              <a:ln>
                                <a:noFill/>
                              </a:ln>
                              <a:solidFill>
                                <a:schemeClr val="tx1"/>
                              </a:solidFill>
                              <a:effectLst/>
                              <a:latin typeface="Cambria Math" panose="02040503050406030204" pitchFamily="18" charset="0"/>
                            </a:rPr>
                          </m:ctrlPr>
                        </m:dPr>
                        <m:e>
                          <m:r>
                            <a:rPr kumimoji="0" lang="fr-CA" altLang="fr-FR" sz="1800" b="0" i="1" u="none" strike="noStrike" cap="none" normalizeH="0" baseline="0" smtClean="0">
                              <a:ln>
                                <a:noFill/>
                              </a:ln>
                              <a:solidFill>
                                <a:schemeClr val="tx1"/>
                              </a:solidFill>
                              <a:effectLst/>
                              <a:latin typeface="Cambria Math" panose="02040503050406030204" pitchFamily="18" charset="0"/>
                            </a:rPr>
                            <m:t>𝐵</m:t>
                          </m:r>
                        </m:e>
                      </m:d>
                      <m:r>
                        <a:rPr kumimoji="0" lang="fr-CA" altLang="fr-FR" sz="1800" b="0" i="1" u="none" strike="noStrike" cap="none" normalizeH="0" baseline="0" smtClean="0">
                          <a:ln>
                            <a:noFill/>
                          </a:ln>
                          <a:solidFill>
                            <a:schemeClr val="tx1"/>
                          </a:solidFill>
                          <a:effectLst/>
                          <a:latin typeface="Cambria Math" panose="02040503050406030204" pitchFamily="18" charset="0"/>
                        </a:rPr>
                        <m:t>  </m:t>
                      </m:r>
                      <m:r>
                        <a:rPr kumimoji="0" lang="fr-CA" altLang="fr-FR" sz="1800" b="0" i="1" u="none" strike="noStrike" cap="none" normalizeH="0" baseline="0" smtClean="0">
                          <a:ln>
                            <a:noFill/>
                          </a:ln>
                          <a:solidFill>
                            <a:schemeClr val="tx1"/>
                          </a:solidFill>
                          <a:effectLst/>
                          <a:latin typeface="Cambria Math" panose="02040503050406030204" pitchFamily="18" charset="0"/>
                        </a:rPr>
                        <m:t>𝑒𝑡</m:t>
                      </m:r>
                      <m:r>
                        <a:rPr kumimoji="0" lang="fr-CA" altLang="fr-FR" sz="1800" b="0" i="1" u="none" strike="noStrike" cap="none" normalizeH="0" baseline="0" smtClean="0">
                          <a:ln>
                            <a:noFill/>
                          </a:ln>
                          <a:solidFill>
                            <a:schemeClr val="tx1"/>
                          </a:solidFill>
                          <a:effectLst/>
                          <a:latin typeface="Cambria Math" panose="02040503050406030204" pitchFamily="18" charset="0"/>
                        </a:rPr>
                        <m:t>  </m:t>
                      </m:r>
                      <m:r>
                        <a:rPr kumimoji="0" lang="fr-CA" altLang="fr-FR" sz="1800" b="0" i="1" u="none" strike="noStrike" cap="none" normalizeH="0" baseline="0" smtClean="0">
                          <a:ln>
                            <a:noFill/>
                          </a:ln>
                          <a:solidFill>
                            <a:schemeClr val="tx1"/>
                          </a:solidFill>
                          <a:effectLst/>
                          <a:latin typeface="Cambria Math" panose="02040503050406030204" pitchFamily="18" charset="0"/>
                        </a:rPr>
                        <m:t>𝑁</m:t>
                      </m:r>
                      <m:r>
                        <a:rPr kumimoji="0" lang="fr-CA" altLang="fr-FR" sz="1800" b="0" i="1" u="none" strike="noStrike" cap="none" normalizeH="0" baseline="0" smtClean="0">
                          <a:ln>
                            <a:noFill/>
                          </a:ln>
                          <a:solidFill>
                            <a:schemeClr val="tx1"/>
                          </a:solidFill>
                          <a:effectLst/>
                          <a:latin typeface="Cambria Math" panose="02040503050406030204" pitchFamily="18" charset="0"/>
                        </a:rPr>
                        <m:t>(</m:t>
                      </m:r>
                      <m:r>
                        <a:rPr kumimoji="0" lang="fr-CA" altLang="fr-FR" sz="1800" b="0" i="1" u="none" strike="noStrike" cap="none" normalizeH="0" baseline="0" smtClean="0">
                          <a:ln>
                            <a:noFill/>
                          </a:ln>
                          <a:solidFill>
                            <a:schemeClr val="tx1"/>
                          </a:solidFill>
                          <a:effectLst/>
                          <a:latin typeface="Cambria Math" panose="02040503050406030204" pitchFamily="18" charset="0"/>
                        </a:rPr>
                        <m:t>𝐵</m:t>
                      </m:r>
                      <m:r>
                        <a:rPr kumimoji="0" lang="fr-CA" altLang="fr-FR" sz="1800" b="0" i="1" u="none" strike="noStrike" cap="none" normalizeH="0" baseline="0" smtClean="0">
                          <a:ln>
                            <a:noFill/>
                          </a:ln>
                          <a:solidFill>
                            <a:schemeClr val="tx1"/>
                          </a:solidFill>
                          <a:effectLst/>
                          <a:latin typeface="Cambria Math" panose="02040503050406030204" pitchFamily="18" charset="0"/>
                        </a:rPr>
                        <m:t>)&gt;0</m:t>
                      </m:r>
                    </m:oMath>
                  </m:oMathPara>
                </a14:m>
                <a:endParaRPr kumimoji="0" lang="fr-CA" altLang="fr-FR" sz="18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endParaRPr>
              </a:p>
              <a:p>
                <a:endParaRPr lang="fr-CA" altLang="fr-FR" dirty="0">
                  <a:latin typeface="Arial" panose="020B0604020202020204" pitchFamily="34" charset="0"/>
                </a:endParaRPr>
              </a:p>
              <a:p>
                <a:endParaRPr kumimoji="0" lang="fr-CA" altLang="fr-FR" sz="1050" b="0" i="0" u="none" strike="noStrike" cap="none" normalizeH="0" baseline="0" dirty="0">
                  <a:ln>
                    <a:noFill/>
                  </a:ln>
                  <a:solidFill>
                    <a:schemeClr val="tx1"/>
                  </a:solidFill>
                  <a:effectLst/>
                  <a:latin typeface="Arial" panose="020B0604020202020204" pitchFamily="34" charset="0"/>
                </a:endParaRPr>
              </a:p>
              <a:p>
                <a:endParaRPr kumimoji="0" lang="fr-CA" altLang="fr-FR" sz="1050" b="0" i="0" u="none" strike="noStrike" cap="none" normalizeH="0" baseline="0" dirty="0">
                  <a:ln>
                    <a:noFill/>
                  </a:ln>
                  <a:solidFill>
                    <a:schemeClr val="tx1"/>
                  </a:solidFill>
                  <a:effectLst/>
                  <a:latin typeface="Arial" panose="020B0604020202020204" pitchFamily="34" charset="0"/>
                </a:endParaRPr>
              </a:p>
              <a:p>
                <a:endParaRPr lang="fr-CA" dirty="0"/>
              </a:p>
            </p:txBody>
          </p:sp>
        </mc:Choice>
        <mc:Fallback xmlns="">
          <p:sp>
            <p:nvSpPr>
              <p:cNvPr id="10" name="ZoneTexte 9">
                <a:extLst>
                  <a:ext uri="{FF2B5EF4-FFF2-40B4-BE49-F238E27FC236}">
                    <a16:creationId xmlns:a16="http://schemas.microsoft.com/office/drawing/2014/main" id="{A5B1FB22-741E-4D80-96FB-7F812FBD1A44}"/>
                  </a:ext>
                </a:extLst>
              </p:cNvPr>
              <p:cNvSpPr txBox="1">
                <a:spLocks noRot="1" noChangeAspect="1" noMove="1" noResize="1" noEditPoints="1" noAdjustHandles="1" noChangeArrowheads="1" noChangeShapeType="1" noTextEdit="1"/>
              </p:cNvSpPr>
              <p:nvPr/>
            </p:nvSpPr>
            <p:spPr>
              <a:xfrm>
                <a:off x="838200" y="1358536"/>
                <a:ext cx="9875520" cy="2377254"/>
              </a:xfrm>
              <a:prstGeom prst="rect">
                <a:avLst/>
              </a:prstGeom>
              <a:blipFill>
                <a:blip r:embed="rId2"/>
                <a:stretch>
                  <a:fillRect l="-556" t="-1538"/>
                </a:stretch>
              </a:blipFill>
            </p:spPr>
            <p:txBody>
              <a:bodyPr/>
              <a:lstStyle/>
              <a:p>
                <a:r>
                  <a:rPr lang="fr-CA">
                    <a:noFill/>
                  </a:rPr>
                  <a:t> </a:t>
                </a:r>
              </a:p>
            </p:txBody>
          </p:sp>
        </mc:Fallback>
      </mc:AlternateContent>
      <p:sp>
        <p:nvSpPr>
          <p:cNvPr id="11" name="ZoneTexte 10">
            <a:extLst>
              <a:ext uri="{FF2B5EF4-FFF2-40B4-BE49-F238E27FC236}">
                <a16:creationId xmlns:a16="http://schemas.microsoft.com/office/drawing/2014/main" id="{20DC8C14-064E-4F37-AEFD-967FC698F81C}"/>
              </a:ext>
            </a:extLst>
          </p:cNvPr>
          <p:cNvSpPr txBox="1"/>
          <p:nvPr/>
        </p:nvSpPr>
        <p:spPr>
          <a:xfrm>
            <a:off x="1293223" y="3082834"/>
            <a:ext cx="9420497" cy="369332"/>
          </a:xfrm>
          <a:prstGeom prst="rect">
            <a:avLst/>
          </a:prstGeom>
          <a:noFill/>
        </p:spPr>
        <p:txBody>
          <a:bodyPr wrap="square" rtlCol="0">
            <a:spAutoFit/>
          </a:bodyPr>
          <a:lstStyle/>
          <a:p>
            <a:r>
              <a:rPr lang="fr-CA" dirty="0"/>
              <a:t>Exemple 1 Distribution de 6549 chefs de ménage selon le revenu et le tabagisme </a:t>
            </a:r>
          </a:p>
        </p:txBody>
      </p:sp>
      <p:graphicFrame>
        <p:nvGraphicFramePr>
          <p:cNvPr id="12" name="Tableau 11">
            <a:extLst>
              <a:ext uri="{FF2B5EF4-FFF2-40B4-BE49-F238E27FC236}">
                <a16:creationId xmlns:a16="http://schemas.microsoft.com/office/drawing/2014/main" id="{FA02D168-2BCE-402A-9DAC-A86284FF1742}"/>
              </a:ext>
            </a:extLst>
          </p:cNvPr>
          <p:cNvGraphicFramePr>
            <a:graphicFrameLocks noGrp="1"/>
          </p:cNvGraphicFramePr>
          <p:nvPr>
            <p:extLst>
              <p:ext uri="{D42A27DB-BD31-4B8C-83A1-F6EECF244321}">
                <p14:modId xmlns:p14="http://schemas.microsoft.com/office/powerpoint/2010/main" val="1908056569"/>
              </p:ext>
            </p:extLst>
          </p:nvPr>
        </p:nvGraphicFramePr>
        <p:xfrm>
          <a:off x="548640" y="3566159"/>
          <a:ext cx="10805159" cy="2612574"/>
        </p:xfrm>
        <a:graphic>
          <a:graphicData uri="http://schemas.openxmlformats.org/drawingml/2006/table">
            <a:tbl>
              <a:tblPr firstRow="1" firstCol="1" bandRow="1">
                <a:tableStyleId>{5C22544A-7EE6-4342-B048-85BDC9FD1C3A}</a:tableStyleId>
              </a:tblPr>
              <a:tblGrid>
                <a:gridCol w="2335323">
                  <a:extLst>
                    <a:ext uri="{9D8B030D-6E8A-4147-A177-3AD203B41FA5}">
                      <a16:colId xmlns:a16="http://schemas.microsoft.com/office/drawing/2014/main" val="1047837248"/>
                    </a:ext>
                  </a:extLst>
                </a:gridCol>
                <a:gridCol w="2335323">
                  <a:extLst>
                    <a:ext uri="{9D8B030D-6E8A-4147-A177-3AD203B41FA5}">
                      <a16:colId xmlns:a16="http://schemas.microsoft.com/office/drawing/2014/main" val="2933783111"/>
                    </a:ext>
                  </a:extLst>
                </a:gridCol>
                <a:gridCol w="2530295">
                  <a:extLst>
                    <a:ext uri="{9D8B030D-6E8A-4147-A177-3AD203B41FA5}">
                      <a16:colId xmlns:a16="http://schemas.microsoft.com/office/drawing/2014/main" val="3551931348"/>
                    </a:ext>
                  </a:extLst>
                </a:gridCol>
                <a:gridCol w="2530295">
                  <a:extLst>
                    <a:ext uri="{9D8B030D-6E8A-4147-A177-3AD203B41FA5}">
                      <a16:colId xmlns:a16="http://schemas.microsoft.com/office/drawing/2014/main" val="3647640732"/>
                    </a:ext>
                  </a:extLst>
                </a:gridCol>
                <a:gridCol w="1073923">
                  <a:extLst>
                    <a:ext uri="{9D8B030D-6E8A-4147-A177-3AD203B41FA5}">
                      <a16:colId xmlns:a16="http://schemas.microsoft.com/office/drawing/2014/main" val="2147551153"/>
                    </a:ext>
                  </a:extLst>
                </a:gridCol>
              </a:tblGrid>
              <a:tr h="435429">
                <a:tc gridSpan="5">
                  <a:txBody>
                    <a:bodyPr/>
                    <a:lstStyle/>
                    <a:p>
                      <a:pPr algn="ctr" fontAlgn="auto">
                        <a:lnSpc>
                          <a:spcPct val="150000"/>
                        </a:lnSpc>
                      </a:pPr>
                      <a:r>
                        <a:rPr lang="fr-CA" sz="1200" dirty="0">
                          <a:effectLst/>
                        </a:rPr>
                        <a:t>Distribution des 6549 individus selon le revenu et le tabagisme</a:t>
                      </a:r>
                      <a:endParaRPr lang="fr-CA" sz="1200" dirty="0">
                        <a:solidFill>
                          <a:srgbClr val="000000"/>
                        </a:solidFill>
                        <a:effectLst/>
                        <a:latin typeface="Times (TT) Regular"/>
                        <a:ea typeface="Times New Roman" panose="02020603050405020304" pitchFamily="18" charset="0"/>
                        <a:cs typeface="Times (TT) Regular"/>
                      </a:endParaRPr>
                    </a:p>
                  </a:txBody>
                  <a:tcPr marL="68580" marR="68580" marT="0" marB="0" anchor="ctr"/>
                </a:tc>
                <a:tc hMerge="1">
                  <a:txBody>
                    <a:bodyPr/>
                    <a:lstStyle/>
                    <a:p>
                      <a:endParaRPr lang="fr-CA"/>
                    </a:p>
                  </a:txBody>
                  <a:tcPr/>
                </a:tc>
                <a:tc hMerge="1">
                  <a:txBody>
                    <a:bodyPr/>
                    <a:lstStyle/>
                    <a:p>
                      <a:endParaRPr lang="fr-CA"/>
                    </a:p>
                  </a:txBody>
                  <a:tcPr/>
                </a:tc>
                <a:tc hMerge="1">
                  <a:txBody>
                    <a:bodyPr/>
                    <a:lstStyle/>
                    <a:p>
                      <a:endParaRPr lang="fr-CA"/>
                    </a:p>
                  </a:txBody>
                  <a:tcPr/>
                </a:tc>
                <a:tc hMerge="1">
                  <a:txBody>
                    <a:bodyPr/>
                    <a:lstStyle/>
                    <a:p>
                      <a:endParaRPr lang="fr-CA"/>
                    </a:p>
                  </a:txBody>
                  <a:tcPr/>
                </a:tc>
                <a:extLst>
                  <a:ext uri="{0D108BD9-81ED-4DB2-BD59-A6C34878D82A}">
                    <a16:rowId xmlns:a16="http://schemas.microsoft.com/office/drawing/2014/main" val="1392490627"/>
                  </a:ext>
                </a:extLst>
              </a:tr>
              <a:tr h="435429">
                <a:tc rowSpan="2">
                  <a:txBody>
                    <a:bodyPr/>
                    <a:lstStyle/>
                    <a:p>
                      <a:pPr algn="ctr">
                        <a:lnSpc>
                          <a:spcPct val="150000"/>
                        </a:lnSpc>
                        <a:spcAft>
                          <a:spcPts val="1000"/>
                        </a:spcAft>
                      </a:pPr>
                      <a:r>
                        <a:rPr lang="fr-FR" sz="1200">
                          <a:effectLst/>
                        </a:rPr>
                        <a:t>Tabagisme</a:t>
                      </a:r>
                      <a:endParaRPr lang="fr-CA" sz="10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gridSpan="3">
                  <a:txBody>
                    <a:bodyPr/>
                    <a:lstStyle/>
                    <a:p>
                      <a:pPr algn="ctr">
                        <a:lnSpc>
                          <a:spcPct val="150000"/>
                        </a:lnSpc>
                        <a:spcAft>
                          <a:spcPts val="1000"/>
                        </a:spcAft>
                      </a:pPr>
                      <a:r>
                        <a:rPr lang="fr-FR" sz="1200">
                          <a:effectLst/>
                        </a:rPr>
                        <a:t>Classe de revenu</a:t>
                      </a:r>
                      <a:endParaRPr lang="fr-CA" sz="10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hMerge="1">
                  <a:txBody>
                    <a:bodyPr/>
                    <a:lstStyle/>
                    <a:p>
                      <a:endParaRPr lang="fr-CA"/>
                    </a:p>
                  </a:txBody>
                  <a:tcPr/>
                </a:tc>
                <a:tc hMerge="1">
                  <a:txBody>
                    <a:bodyPr/>
                    <a:lstStyle/>
                    <a:p>
                      <a:endParaRPr lang="fr-CA"/>
                    </a:p>
                  </a:txBody>
                  <a:tcPr/>
                </a:tc>
                <a:tc rowSpan="2">
                  <a:txBody>
                    <a:bodyPr/>
                    <a:lstStyle/>
                    <a:p>
                      <a:pPr algn="ctr" fontAlgn="auto">
                        <a:lnSpc>
                          <a:spcPct val="150000"/>
                        </a:lnSpc>
                      </a:pPr>
                      <a:r>
                        <a:rPr lang="en-US" sz="1200">
                          <a:effectLst/>
                        </a:rPr>
                        <a:t>Total</a:t>
                      </a:r>
                      <a:endParaRPr lang="fr-CA" sz="1200">
                        <a:solidFill>
                          <a:srgbClr val="000000"/>
                        </a:solidFill>
                        <a:effectLst/>
                        <a:latin typeface="Times (TT) Regular"/>
                        <a:ea typeface="Times New Roman" panose="02020603050405020304" pitchFamily="18" charset="0"/>
                        <a:cs typeface="Times (TT) Regular"/>
                      </a:endParaRPr>
                    </a:p>
                  </a:txBody>
                  <a:tcPr marL="68580" marR="68580" marT="0" marB="0" anchor="ctr"/>
                </a:tc>
                <a:extLst>
                  <a:ext uri="{0D108BD9-81ED-4DB2-BD59-A6C34878D82A}">
                    <a16:rowId xmlns:a16="http://schemas.microsoft.com/office/drawing/2014/main" val="212255865"/>
                  </a:ext>
                </a:extLst>
              </a:tr>
              <a:tr h="435429">
                <a:tc vMerge="1">
                  <a:txBody>
                    <a:bodyPr/>
                    <a:lstStyle/>
                    <a:p>
                      <a:endParaRPr lang="fr-CA"/>
                    </a:p>
                  </a:txBody>
                  <a:tcPr/>
                </a:tc>
                <a:tc>
                  <a:txBody>
                    <a:bodyPr/>
                    <a:lstStyle/>
                    <a:p>
                      <a:pPr algn="ctr">
                        <a:lnSpc>
                          <a:spcPct val="150000"/>
                        </a:lnSpc>
                        <a:spcAft>
                          <a:spcPts val="1000"/>
                        </a:spcAft>
                      </a:pPr>
                      <a:r>
                        <a:rPr lang="fr-FR" sz="1200">
                          <a:effectLst/>
                        </a:rPr>
                        <a:t>B : Revenu faible</a:t>
                      </a:r>
                      <a:endParaRPr lang="fr-CA" sz="10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50000"/>
                        </a:lnSpc>
                        <a:spcAft>
                          <a:spcPts val="1000"/>
                        </a:spcAft>
                      </a:pPr>
                      <a:r>
                        <a:rPr lang="fr-FR" sz="1200">
                          <a:effectLst/>
                        </a:rPr>
                        <a:t>M : Revenu moyen</a:t>
                      </a:r>
                      <a:endParaRPr lang="fr-CA" sz="10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50000"/>
                        </a:lnSpc>
                        <a:spcAft>
                          <a:spcPts val="1000"/>
                        </a:spcAft>
                      </a:pPr>
                      <a:r>
                        <a:rPr lang="fr-FR" sz="1200">
                          <a:effectLst/>
                        </a:rPr>
                        <a:t>H : Revenu élevé</a:t>
                      </a:r>
                      <a:endParaRPr lang="fr-CA" sz="10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vMerge="1">
                  <a:txBody>
                    <a:bodyPr/>
                    <a:lstStyle/>
                    <a:p>
                      <a:endParaRPr lang="fr-CA"/>
                    </a:p>
                  </a:txBody>
                  <a:tcPr/>
                </a:tc>
                <a:extLst>
                  <a:ext uri="{0D108BD9-81ED-4DB2-BD59-A6C34878D82A}">
                    <a16:rowId xmlns:a16="http://schemas.microsoft.com/office/drawing/2014/main" val="790794448"/>
                  </a:ext>
                </a:extLst>
              </a:tr>
              <a:tr h="435429">
                <a:tc>
                  <a:txBody>
                    <a:bodyPr/>
                    <a:lstStyle/>
                    <a:p>
                      <a:pPr algn="ctr">
                        <a:lnSpc>
                          <a:spcPct val="150000"/>
                        </a:lnSpc>
                      </a:pPr>
                      <a:r>
                        <a:rPr lang="fr-FR" sz="1200">
                          <a:effectLst/>
                        </a:rPr>
                        <a:t>F : Fumeur</a:t>
                      </a:r>
                      <a:endParaRPr lang="fr-CA" sz="10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50000"/>
                        </a:lnSpc>
                      </a:pPr>
                      <a:r>
                        <a:rPr lang="fr-FR" sz="1200">
                          <a:effectLst/>
                        </a:rPr>
                        <a:t>634</a:t>
                      </a:r>
                      <a:endParaRPr lang="fr-CA" sz="10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50000"/>
                        </a:lnSpc>
                      </a:pPr>
                      <a:r>
                        <a:rPr lang="fr-FR" sz="1200">
                          <a:effectLst/>
                        </a:rPr>
                        <a:t>332</a:t>
                      </a:r>
                      <a:endParaRPr lang="fr-CA" sz="10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50000"/>
                        </a:lnSpc>
                      </a:pPr>
                      <a:r>
                        <a:rPr lang="fr-FR" sz="1200">
                          <a:effectLst/>
                        </a:rPr>
                        <a:t>247</a:t>
                      </a:r>
                      <a:endParaRPr lang="fr-CA" sz="10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50000"/>
                        </a:lnSpc>
                      </a:pPr>
                      <a:r>
                        <a:rPr lang="fr-FR" sz="1200">
                          <a:effectLst/>
                        </a:rPr>
                        <a:t>1213</a:t>
                      </a:r>
                      <a:endParaRPr lang="fr-CA" sz="10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3227211694"/>
                  </a:ext>
                </a:extLst>
              </a:tr>
              <a:tr h="435429">
                <a:tc>
                  <a:txBody>
                    <a:bodyPr/>
                    <a:lstStyle/>
                    <a:p>
                      <a:pPr algn="ctr">
                        <a:lnSpc>
                          <a:spcPct val="150000"/>
                        </a:lnSpc>
                      </a:pPr>
                      <a:r>
                        <a:rPr lang="fr-FR" sz="1200">
                          <a:effectLst/>
                        </a:rPr>
                        <a:t>F′ : Non-fumeur</a:t>
                      </a:r>
                      <a:endParaRPr lang="fr-CA" sz="10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50000"/>
                        </a:lnSpc>
                      </a:pPr>
                      <a:r>
                        <a:rPr lang="fr-FR" sz="1200">
                          <a:effectLst/>
                        </a:rPr>
                        <a:t>1846</a:t>
                      </a:r>
                      <a:endParaRPr lang="fr-CA" sz="10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50000"/>
                        </a:lnSpc>
                      </a:pPr>
                      <a:r>
                        <a:rPr lang="fr-FR" sz="1200">
                          <a:effectLst/>
                        </a:rPr>
                        <a:t>1622</a:t>
                      </a:r>
                      <a:endParaRPr lang="fr-CA" sz="10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50000"/>
                        </a:lnSpc>
                      </a:pPr>
                      <a:r>
                        <a:rPr lang="fr-FR" sz="1200">
                          <a:effectLst/>
                        </a:rPr>
                        <a:t>1868</a:t>
                      </a:r>
                      <a:endParaRPr lang="fr-CA" sz="10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50000"/>
                        </a:lnSpc>
                      </a:pPr>
                      <a:r>
                        <a:rPr lang="fr-FR" sz="1200">
                          <a:effectLst/>
                        </a:rPr>
                        <a:t>5336</a:t>
                      </a:r>
                      <a:endParaRPr lang="fr-CA" sz="10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799151968"/>
                  </a:ext>
                </a:extLst>
              </a:tr>
              <a:tr h="435429">
                <a:tc>
                  <a:txBody>
                    <a:bodyPr/>
                    <a:lstStyle/>
                    <a:p>
                      <a:pPr algn="ctr">
                        <a:lnSpc>
                          <a:spcPct val="150000"/>
                        </a:lnSpc>
                      </a:pPr>
                      <a:r>
                        <a:rPr lang="fr-FR" sz="1200" dirty="0">
                          <a:effectLst/>
                        </a:rPr>
                        <a:t>Total</a:t>
                      </a:r>
                      <a:endParaRPr lang="fr-CA" sz="1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50000"/>
                        </a:lnSpc>
                      </a:pPr>
                      <a:r>
                        <a:rPr lang="fr-FR" sz="1200">
                          <a:effectLst/>
                        </a:rPr>
                        <a:t>2480</a:t>
                      </a:r>
                      <a:endParaRPr lang="fr-CA" sz="10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50000"/>
                        </a:lnSpc>
                      </a:pPr>
                      <a:r>
                        <a:rPr lang="fr-FR" sz="1200">
                          <a:effectLst/>
                        </a:rPr>
                        <a:t>1954</a:t>
                      </a:r>
                      <a:endParaRPr lang="fr-CA" sz="10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50000"/>
                        </a:lnSpc>
                      </a:pPr>
                      <a:r>
                        <a:rPr lang="fr-FR" sz="1200" dirty="0">
                          <a:effectLst/>
                        </a:rPr>
                        <a:t>2115</a:t>
                      </a:r>
                      <a:endParaRPr lang="fr-CA" sz="1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50000"/>
                        </a:lnSpc>
                      </a:pPr>
                      <a:r>
                        <a:rPr lang="fr-FR" sz="1200" dirty="0">
                          <a:effectLst/>
                        </a:rPr>
                        <a:t>n = 6549</a:t>
                      </a:r>
                      <a:endParaRPr lang="fr-CA" sz="1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693592556"/>
                  </a:ext>
                </a:extLst>
              </a:tr>
            </a:tbl>
          </a:graphicData>
        </a:graphic>
      </p:graphicFrame>
    </p:spTree>
    <p:extLst>
      <p:ext uri="{BB962C8B-B14F-4D97-AF65-F5344CB8AC3E}">
        <p14:creationId xmlns:p14="http://schemas.microsoft.com/office/powerpoint/2010/main" val="37060628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60F6272-9524-4AB2-8E4C-8063DBFF7F17}"/>
              </a:ext>
            </a:extLst>
          </p:cNvPr>
          <p:cNvSpPr>
            <a:spLocks noGrp="1"/>
          </p:cNvSpPr>
          <p:nvPr>
            <p:ph type="title"/>
          </p:nvPr>
        </p:nvSpPr>
        <p:spPr/>
        <p:txBody>
          <a:bodyPr/>
          <a:lstStyle/>
          <a:p>
            <a:r>
              <a:rPr lang="fr-CA" dirty="0"/>
              <a:t>Suite)</a:t>
            </a:r>
          </a:p>
        </p:txBody>
      </p:sp>
      <p:sp>
        <p:nvSpPr>
          <p:cNvPr id="3" name="Espace réservé du pied de page 2">
            <a:extLst>
              <a:ext uri="{FF2B5EF4-FFF2-40B4-BE49-F238E27FC236}">
                <a16:creationId xmlns:a16="http://schemas.microsoft.com/office/drawing/2014/main" id="{5C8EAF58-BA1A-463D-83C1-CA5B882DDE1C}"/>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FBB364BD-92CA-4C10-B762-F74C5A9F9BFE}"/>
              </a:ext>
            </a:extLst>
          </p:cNvPr>
          <p:cNvSpPr>
            <a:spLocks noGrp="1"/>
          </p:cNvSpPr>
          <p:nvPr>
            <p:ph type="sldNum" sz="quarter" idx="12"/>
          </p:nvPr>
        </p:nvSpPr>
        <p:spPr/>
        <p:txBody>
          <a:bodyPr/>
          <a:lstStyle/>
          <a:p>
            <a:fld id="{26377AD9-CE17-438C-A638-C64D2D42D7CF}" type="slidenum">
              <a:rPr lang="fr-CA" smtClean="0"/>
              <a:t>11</a:t>
            </a:fld>
            <a:endParaRPr lang="fr-CA"/>
          </a:p>
        </p:txBody>
      </p:sp>
      <p:sp>
        <p:nvSpPr>
          <p:cNvPr id="5" name="ZoneTexte 4">
            <a:extLst>
              <a:ext uri="{FF2B5EF4-FFF2-40B4-BE49-F238E27FC236}">
                <a16:creationId xmlns:a16="http://schemas.microsoft.com/office/drawing/2014/main" id="{5B263B74-F6EC-418A-A95E-0975D33D017E}"/>
              </a:ext>
            </a:extLst>
          </p:cNvPr>
          <p:cNvSpPr txBox="1"/>
          <p:nvPr/>
        </p:nvSpPr>
        <p:spPr>
          <a:xfrm>
            <a:off x="1119051" y="1274305"/>
            <a:ext cx="9953897" cy="1832809"/>
          </a:xfrm>
          <a:prstGeom prst="rect">
            <a:avLst/>
          </a:prstGeom>
          <a:noFill/>
        </p:spPr>
        <p:txBody>
          <a:bodyPr wrap="square" rtlCol="0">
            <a:spAutoFit/>
          </a:bodyPr>
          <a:lstStyle/>
          <a:p>
            <a:pPr algn="l">
              <a:lnSpc>
                <a:spcPct val="150000"/>
              </a:lnSpc>
              <a:spcAft>
                <a:spcPts val="800"/>
              </a:spcAft>
            </a:pPr>
            <a:r>
              <a:rPr lang="fr-FR" sz="1800">
                <a:solidFill>
                  <a:srgbClr val="000000"/>
                </a:solidFill>
                <a:effectLst/>
                <a:latin typeface="Times New Roman" panose="02020603050405020304" pitchFamily="18" charset="0"/>
                <a:ea typeface="Times New Roman" panose="02020603050405020304" pitchFamily="18" charset="0"/>
              </a:rPr>
              <a:t>À partir des données de ce tableau, lorsqu’on choisit au hasard une personne de la cohorte qui a participé à cette étude, on veut déterminer les probabilités :</a:t>
            </a:r>
            <a:endParaRPr lang="fr-CA" sz="1800">
              <a:solidFill>
                <a:srgbClr val="000000"/>
              </a:solidFill>
              <a:effectLst/>
              <a:latin typeface="Times New Roman" panose="02020603050405020304" pitchFamily="18" charset="0"/>
              <a:ea typeface="Times New Roman" panose="02020603050405020304" pitchFamily="18" charset="0"/>
            </a:endParaRPr>
          </a:p>
          <a:p>
            <a:pPr marL="203200" indent="-101600" algn="l">
              <a:lnSpc>
                <a:spcPct val="150000"/>
              </a:lnSpc>
              <a:spcAft>
                <a:spcPts val="200"/>
              </a:spcAft>
            </a:pPr>
            <a:r>
              <a:rPr lang="fr-FR" sz="1800">
                <a:solidFill>
                  <a:srgbClr val="000000"/>
                </a:solidFill>
                <a:effectLst/>
                <a:latin typeface="Times New Roman" panose="02020603050405020304" pitchFamily="18" charset="0"/>
                <a:ea typeface="Times New Roman" panose="02020603050405020304" pitchFamily="18" charset="0"/>
              </a:rPr>
              <a:t>a)	que cette personne fume, sachant qu’elle fait partie de la classe de revenu élevé ;</a:t>
            </a:r>
            <a:endParaRPr lang="fr-CA" sz="1800">
              <a:solidFill>
                <a:srgbClr val="000000"/>
              </a:solidFill>
              <a:effectLst/>
              <a:latin typeface="Times New Roman" panose="02020603050405020304" pitchFamily="18" charset="0"/>
              <a:ea typeface="Times New Roman" panose="02020603050405020304" pitchFamily="18" charset="0"/>
            </a:endParaRPr>
          </a:p>
          <a:p>
            <a:pPr marL="203200" indent="-101600" algn="l">
              <a:lnSpc>
                <a:spcPct val="150000"/>
              </a:lnSpc>
              <a:spcAft>
                <a:spcPts val="200"/>
              </a:spcAft>
            </a:pPr>
            <a:r>
              <a:rPr lang="fr-FR" sz="1800">
                <a:solidFill>
                  <a:srgbClr val="000000"/>
                </a:solidFill>
                <a:effectLst/>
                <a:latin typeface="Times New Roman" panose="02020603050405020304" pitchFamily="18" charset="0"/>
                <a:ea typeface="Times New Roman" panose="02020603050405020304" pitchFamily="18" charset="0"/>
              </a:rPr>
              <a:t>b)	que cette personne fasse partie de la classe de revenu élevé, sachant qu’elle fume ;</a:t>
            </a:r>
            <a:endParaRPr lang="fr-CA" sz="1800">
              <a:solidFill>
                <a:srgbClr val="000000"/>
              </a:solidFill>
              <a:effectLst/>
              <a:latin typeface="Times New Roman" panose="02020603050405020304" pitchFamily="18" charset="0"/>
              <a:ea typeface="Times New Roman" panose="02020603050405020304" pitchFamily="18" charset="0"/>
            </a:endParaRPr>
          </a:p>
        </p:txBody>
      </p:sp>
      <mc:AlternateContent xmlns:mc="http://schemas.openxmlformats.org/markup-compatibility/2006" xmlns:a14="http://schemas.microsoft.com/office/drawing/2010/main">
        <mc:Choice Requires="a14">
          <p:sp>
            <p:nvSpPr>
              <p:cNvPr id="6" name="ZoneTexte 5">
                <a:extLst>
                  <a:ext uri="{FF2B5EF4-FFF2-40B4-BE49-F238E27FC236}">
                    <a16:creationId xmlns:a16="http://schemas.microsoft.com/office/drawing/2014/main" id="{9B9C0113-8EE3-421B-9730-58D39545DD06}"/>
                  </a:ext>
                </a:extLst>
              </p:cNvPr>
              <p:cNvSpPr txBox="1"/>
              <p:nvPr/>
            </p:nvSpPr>
            <p:spPr>
              <a:xfrm>
                <a:off x="1005840" y="3670663"/>
                <a:ext cx="11186160" cy="1503745"/>
              </a:xfrm>
              <a:prstGeom prst="rect">
                <a:avLst/>
              </a:prstGeom>
              <a:noFill/>
            </p:spPr>
            <p:txBody>
              <a:bodyPr wrap="square" rtlCol="0">
                <a:spAutoFit/>
              </a:bodyPr>
              <a:lstStyle/>
              <a:p>
                <a:r>
                  <a:rPr lang="fr-CA" b="1" dirty="0"/>
                  <a:t>Réponse:</a:t>
                </a:r>
                <a:r>
                  <a:rPr lang="fr-CA" dirty="0"/>
                  <a:t>  On calcule,</a:t>
                </a:r>
              </a:p>
              <a:p>
                <a:endParaRPr lang="fr-CA" dirty="0"/>
              </a:p>
              <a:p>
                <a:pPr marL="342900" indent="-342900">
                  <a:buAutoNum type="alphaLcParenR"/>
                </a:pPr>
                <a14:m>
                  <m:oMath xmlns:m="http://schemas.openxmlformats.org/officeDocument/2006/math">
                    <m:r>
                      <a:rPr lang="fr-CA" b="0" i="1" smtClean="0">
                        <a:latin typeface="Cambria Math" panose="02040503050406030204" pitchFamily="18" charset="0"/>
                      </a:rPr>
                      <m:t>𝑃</m:t>
                    </m:r>
                    <m:d>
                      <m:dPr>
                        <m:ctrlPr>
                          <a:rPr lang="fr-CA" b="0" i="1" smtClean="0">
                            <a:latin typeface="Cambria Math" panose="02040503050406030204" pitchFamily="18" charset="0"/>
                          </a:rPr>
                        </m:ctrlPr>
                      </m:dPr>
                      <m:e>
                        <m:r>
                          <a:rPr lang="fr-CA" b="0" i="1" smtClean="0">
                            <a:latin typeface="Cambria Math" panose="02040503050406030204" pitchFamily="18" charset="0"/>
                          </a:rPr>
                          <m:t>𝐹</m:t>
                        </m:r>
                      </m:e>
                      <m:e>
                        <m:r>
                          <a:rPr lang="fr-CA" b="0" i="1" smtClean="0">
                            <a:latin typeface="Cambria Math" panose="02040503050406030204" pitchFamily="18" charset="0"/>
                          </a:rPr>
                          <m:t>𝐻</m:t>
                        </m:r>
                      </m:e>
                    </m:d>
                    <m:r>
                      <a:rPr lang="fr-CA" b="0" i="1" smtClean="0">
                        <a:latin typeface="Cambria Math" panose="02040503050406030204" pitchFamily="18" charset="0"/>
                      </a:rPr>
                      <m:t>=</m:t>
                    </m:r>
                    <m:f>
                      <m:fPr>
                        <m:ctrlPr>
                          <a:rPr lang="fr-CA" b="0" i="1" smtClean="0">
                            <a:latin typeface="Cambria Math" panose="02040503050406030204" pitchFamily="18" charset="0"/>
                          </a:rPr>
                        </m:ctrlPr>
                      </m:fPr>
                      <m:num>
                        <m:r>
                          <a:rPr lang="fr-CA" b="0" i="1" smtClean="0">
                            <a:latin typeface="Cambria Math" panose="02040503050406030204" pitchFamily="18" charset="0"/>
                          </a:rPr>
                          <m:t>𝑁</m:t>
                        </m:r>
                        <m:r>
                          <a:rPr lang="fr-CA" b="0" i="1" smtClean="0">
                            <a:latin typeface="Cambria Math" panose="02040503050406030204" pitchFamily="18" charset="0"/>
                          </a:rPr>
                          <m:t>(</m:t>
                        </m:r>
                        <m:r>
                          <a:rPr lang="fr-CA" b="0" i="1" smtClean="0">
                            <a:latin typeface="Cambria Math" panose="02040503050406030204" pitchFamily="18" charset="0"/>
                          </a:rPr>
                          <m:t>𝐹</m:t>
                        </m:r>
                        <m:r>
                          <a:rPr lang="fr-CA" b="0" i="1" smtClean="0">
                            <a:latin typeface="Cambria Math" panose="02040503050406030204" pitchFamily="18" charset="0"/>
                            <a:ea typeface="Cambria Math" panose="02040503050406030204" pitchFamily="18" charset="0"/>
                          </a:rPr>
                          <m:t>∩</m:t>
                        </m:r>
                        <m:r>
                          <a:rPr lang="fr-CA" b="0" i="1" smtClean="0">
                            <a:latin typeface="Cambria Math" panose="02040503050406030204" pitchFamily="18" charset="0"/>
                            <a:ea typeface="Cambria Math" panose="02040503050406030204" pitchFamily="18" charset="0"/>
                          </a:rPr>
                          <m:t>𝐻</m:t>
                        </m:r>
                        <m:r>
                          <a:rPr lang="fr-CA" b="0" i="1" smtClean="0">
                            <a:latin typeface="Cambria Math" panose="02040503050406030204" pitchFamily="18" charset="0"/>
                            <a:ea typeface="Cambria Math" panose="02040503050406030204" pitchFamily="18" charset="0"/>
                          </a:rPr>
                          <m:t>)</m:t>
                        </m:r>
                      </m:num>
                      <m:den>
                        <m:r>
                          <a:rPr lang="fr-CA" b="0" i="1" smtClean="0">
                            <a:latin typeface="Cambria Math" panose="02040503050406030204" pitchFamily="18" charset="0"/>
                          </a:rPr>
                          <m:t>𝑁</m:t>
                        </m:r>
                        <m:r>
                          <a:rPr lang="fr-CA" b="0" i="1" smtClean="0">
                            <a:latin typeface="Cambria Math" panose="02040503050406030204" pitchFamily="18" charset="0"/>
                          </a:rPr>
                          <m:t>(</m:t>
                        </m:r>
                        <m:r>
                          <a:rPr lang="fr-CA" b="0" i="1" smtClean="0">
                            <a:latin typeface="Cambria Math" panose="02040503050406030204" pitchFamily="18" charset="0"/>
                          </a:rPr>
                          <m:t>𝐻</m:t>
                        </m:r>
                        <m:r>
                          <a:rPr lang="fr-CA" b="0" i="1" smtClean="0">
                            <a:latin typeface="Cambria Math" panose="02040503050406030204" pitchFamily="18" charset="0"/>
                          </a:rPr>
                          <m:t>)</m:t>
                        </m:r>
                      </m:den>
                    </m:f>
                    <m:r>
                      <a:rPr lang="fr-CA" b="0" i="1" smtClean="0">
                        <a:latin typeface="Cambria Math" panose="02040503050406030204" pitchFamily="18" charset="0"/>
                      </a:rPr>
                      <m:t>=</m:t>
                    </m:r>
                    <m:f>
                      <m:fPr>
                        <m:ctrlPr>
                          <a:rPr lang="fr-CA" b="0" i="1" smtClean="0">
                            <a:latin typeface="Cambria Math" panose="02040503050406030204" pitchFamily="18" charset="0"/>
                          </a:rPr>
                        </m:ctrlPr>
                      </m:fPr>
                      <m:num>
                        <m:r>
                          <a:rPr lang="fr-CA" b="0" i="1" smtClean="0">
                            <a:latin typeface="Cambria Math" panose="02040503050406030204" pitchFamily="18" charset="0"/>
                          </a:rPr>
                          <m:t>247</m:t>
                        </m:r>
                      </m:num>
                      <m:den>
                        <m:r>
                          <a:rPr lang="fr-CA" b="0" i="1" smtClean="0">
                            <a:latin typeface="Cambria Math" panose="02040503050406030204" pitchFamily="18" charset="0"/>
                          </a:rPr>
                          <m:t>2115</m:t>
                        </m:r>
                      </m:den>
                    </m:f>
                    <m:r>
                      <a:rPr lang="fr-CA" b="0" i="1" smtClean="0">
                        <a:latin typeface="Cambria Math" panose="02040503050406030204" pitchFamily="18" charset="0"/>
                      </a:rPr>
                      <m:t>=0,11678</m:t>
                    </m:r>
                  </m:oMath>
                </a14:m>
                <a:endParaRPr lang="fr-CA" b="0" dirty="0"/>
              </a:p>
              <a:p>
                <a:pPr marL="342900" indent="-342900">
                  <a:buAutoNum type="alphaLcParenR"/>
                </a:pPr>
                <a14:m>
                  <m:oMath xmlns:m="http://schemas.openxmlformats.org/officeDocument/2006/math">
                    <m:r>
                      <a:rPr lang="fr-CA" b="0" i="1" smtClean="0">
                        <a:latin typeface="Cambria Math" panose="02040503050406030204" pitchFamily="18" charset="0"/>
                      </a:rPr>
                      <m:t>𝑃</m:t>
                    </m:r>
                    <m:d>
                      <m:dPr>
                        <m:ctrlPr>
                          <a:rPr lang="fr-CA" b="0" i="1" smtClean="0">
                            <a:latin typeface="Cambria Math" panose="02040503050406030204" pitchFamily="18" charset="0"/>
                          </a:rPr>
                        </m:ctrlPr>
                      </m:dPr>
                      <m:e>
                        <m:r>
                          <a:rPr lang="fr-CA" b="0" i="1" smtClean="0">
                            <a:latin typeface="Cambria Math" panose="02040503050406030204" pitchFamily="18" charset="0"/>
                          </a:rPr>
                          <m:t>𝐻</m:t>
                        </m:r>
                      </m:e>
                      <m:e>
                        <m:r>
                          <a:rPr lang="fr-CA" b="0" i="1" smtClean="0">
                            <a:latin typeface="Cambria Math" panose="02040503050406030204" pitchFamily="18" charset="0"/>
                          </a:rPr>
                          <m:t>𝐹</m:t>
                        </m:r>
                      </m:e>
                    </m:d>
                    <m:r>
                      <a:rPr lang="fr-CA" b="0" i="1" smtClean="0">
                        <a:latin typeface="Cambria Math" panose="02040503050406030204" pitchFamily="18" charset="0"/>
                      </a:rPr>
                      <m:t>=</m:t>
                    </m:r>
                    <m:f>
                      <m:fPr>
                        <m:ctrlPr>
                          <a:rPr lang="fr-CA" b="0" i="1" smtClean="0">
                            <a:latin typeface="Cambria Math" panose="02040503050406030204" pitchFamily="18" charset="0"/>
                          </a:rPr>
                        </m:ctrlPr>
                      </m:fPr>
                      <m:num>
                        <m:r>
                          <a:rPr lang="fr-CA" b="0" i="1" smtClean="0">
                            <a:latin typeface="Cambria Math" panose="02040503050406030204" pitchFamily="18" charset="0"/>
                          </a:rPr>
                          <m:t>247</m:t>
                        </m:r>
                      </m:num>
                      <m:den>
                        <m:r>
                          <a:rPr lang="fr-CA" b="0" i="1" smtClean="0">
                            <a:latin typeface="Cambria Math" panose="02040503050406030204" pitchFamily="18" charset="0"/>
                          </a:rPr>
                          <m:t>1213</m:t>
                        </m:r>
                      </m:den>
                    </m:f>
                    <m:r>
                      <a:rPr lang="fr-CA" b="0" i="1" smtClean="0">
                        <a:latin typeface="Cambria Math" panose="02040503050406030204" pitchFamily="18" charset="0"/>
                      </a:rPr>
                      <m:t>=0,2036</m:t>
                    </m:r>
                  </m:oMath>
                </a14:m>
                <a:endParaRPr lang="fr-CA" dirty="0"/>
              </a:p>
            </p:txBody>
          </p:sp>
        </mc:Choice>
        <mc:Fallback xmlns="">
          <p:sp>
            <p:nvSpPr>
              <p:cNvPr id="6" name="ZoneTexte 5">
                <a:extLst>
                  <a:ext uri="{FF2B5EF4-FFF2-40B4-BE49-F238E27FC236}">
                    <a16:creationId xmlns:a16="http://schemas.microsoft.com/office/drawing/2014/main" id="{9B9C0113-8EE3-421B-9730-58D39545DD06}"/>
                  </a:ext>
                </a:extLst>
              </p:cNvPr>
              <p:cNvSpPr txBox="1">
                <a:spLocks noRot="1" noChangeAspect="1" noMove="1" noResize="1" noEditPoints="1" noAdjustHandles="1" noChangeArrowheads="1" noChangeShapeType="1" noTextEdit="1"/>
              </p:cNvSpPr>
              <p:nvPr/>
            </p:nvSpPr>
            <p:spPr>
              <a:xfrm>
                <a:off x="1005840" y="3670663"/>
                <a:ext cx="11186160" cy="1503745"/>
              </a:xfrm>
              <a:prstGeom prst="rect">
                <a:avLst/>
              </a:prstGeom>
              <a:blipFill>
                <a:blip r:embed="rId2"/>
                <a:stretch>
                  <a:fillRect l="-436" t="-2024"/>
                </a:stretch>
              </a:blipFill>
            </p:spPr>
            <p:txBody>
              <a:bodyPr/>
              <a:lstStyle/>
              <a:p>
                <a:r>
                  <a:rPr lang="fr-CA">
                    <a:noFill/>
                  </a:rPr>
                  <a:t> </a:t>
                </a:r>
              </a:p>
            </p:txBody>
          </p:sp>
        </mc:Fallback>
      </mc:AlternateContent>
    </p:spTree>
    <p:extLst>
      <p:ext uri="{BB962C8B-B14F-4D97-AF65-F5344CB8AC3E}">
        <p14:creationId xmlns:p14="http://schemas.microsoft.com/office/powerpoint/2010/main" val="28795525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5E8222D7-2A14-481B-963E-95F82AEB34E7}"/>
              </a:ext>
            </a:extLst>
          </p:cNvPr>
          <p:cNvSpPr>
            <a:spLocks noGrp="1"/>
          </p:cNvSpPr>
          <p:nvPr>
            <p:ph type="title"/>
          </p:nvPr>
        </p:nvSpPr>
        <p:spPr>
          <a:xfrm>
            <a:off x="686834" y="1153572"/>
            <a:ext cx="3200400" cy="4461163"/>
          </a:xfrm>
        </p:spPr>
        <p:txBody>
          <a:bodyPr vert="horz" lIns="91440" tIns="45720" rIns="91440" bIns="45720" rtlCol="0" anchor="ctr">
            <a:normAutofit/>
          </a:bodyPr>
          <a:lstStyle/>
          <a:p>
            <a:r>
              <a:rPr lang="en-US" sz="3100" kern="1200">
                <a:solidFill>
                  <a:srgbClr val="FFFFFF"/>
                </a:solidFill>
                <a:latin typeface="+mj-lt"/>
                <a:ea typeface="+mj-ea"/>
                <a:cs typeface="+mj-cs"/>
              </a:rPr>
              <a:t>Exemple 2: </a:t>
            </a:r>
            <a:r>
              <a:rPr lang="en-US" sz="3100" kern="1200">
                <a:solidFill>
                  <a:srgbClr val="FFFFFF"/>
                </a:solidFill>
                <a:effectLst/>
                <a:latin typeface="+mj-lt"/>
                <a:ea typeface="+mj-ea"/>
                <a:cs typeface="+mj-cs"/>
              </a:rPr>
              <a:t>Un couple a trois enfants. Quelle est la probabilité qu’il ait au moins un garçon, sachant que l’aînée est une fille ?</a:t>
            </a:r>
            <a:br>
              <a:rPr lang="en-US" sz="3100" kern="1200">
                <a:solidFill>
                  <a:srgbClr val="FFFFFF"/>
                </a:solidFill>
                <a:effectLst/>
                <a:latin typeface="+mj-lt"/>
                <a:ea typeface="+mj-ea"/>
                <a:cs typeface="+mj-cs"/>
              </a:rPr>
            </a:br>
            <a:endParaRPr lang="en-US" sz="3100" kern="1200">
              <a:solidFill>
                <a:srgbClr val="FFFFFF"/>
              </a:solidFill>
              <a:latin typeface="+mj-lt"/>
              <a:ea typeface="+mj-ea"/>
              <a:cs typeface="+mj-cs"/>
            </a:endParaRPr>
          </a:p>
        </p:txBody>
      </p:sp>
      <p:sp>
        <p:nvSpPr>
          <p:cNvPr id="14" name="Arc 13">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D1482D6E-2C64-4FFE-B6A0-E6D37C17879E}"/>
                  </a:ext>
                </a:extLst>
              </p:cNvPr>
              <p:cNvSpPr txBox="1"/>
              <p:nvPr/>
            </p:nvSpPr>
            <p:spPr>
              <a:xfrm>
                <a:off x="4447308" y="591344"/>
                <a:ext cx="6906491" cy="5585619"/>
              </a:xfrm>
              <a:prstGeom prst="rect">
                <a:avLst/>
              </a:prstGeom>
            </p:spPr>
            <p:txBody>
              <a:bodyPr vert="horz" lIns="91440" tIns="45720" rIns="91440" bIns="45720" rtlCol="0" anchor="ctr">
                <a:normAutofit/>
              </a:bodyPr>
              <a:lstStyle/>
              <a:p>
                <a:pPr indent="-228600" defTabSz="914400">
                  <a:lnSpc>
                    <a:spcPct val="90000"/>
                  </a:lnSpc>
                  <a:spcAft>
                    <a:spcPts val="600"/>
                  </a:spcAft>
                  <a:buFont typeface="Arial" panose="020B0604020202020204" pitchFamily="34" charset="0"/>
                  <a:buChar char="•"/>
                </a:pPr>
                <a:r>
                  <a:rPr lang="en-US" b="1"/>
                  <a:t>Réponse: </a:t>
                </a:r>
              </a:p>
              <a:p>
                <a:pPr indent="-228600" defTabSz="914400">
                  <a:lnSpc>
                    <a:spcPct val="90000"/>
                  </a:lnSpc>
                  <a:spcAft>
                    <a:spcPts val="600"/>
                  </a:spcAft>
                  <a:buFont typeface="Arial" panose="020B0604020202020204" pitchFamily="34" charset="0"/>
                  <a:buChar char="•"/>
                </a:pPr>
                <a:r>
                  <a:rPr kumimoji="0" lang="en-US" altLang="fr-FR" b="0" i="0" u="none" strike="noStrike" cap="none" normalizeH="0" baseline="0">
                    <a:ln>
                      <a:noFill/>
                    </a:ln>
                    <a:effectLst/>
                  </a:rPr>
                  <a:t>Soit</a:t>
                </a:r>
                <a:r>
                  <a:rPr kumimoji="0" lang="en-US" altLang="fr-FR" b="0" i="1" u="none" strike="noStrike" cap="none" normalizeH="0" baseline="0">
                    <a:ln>
                      <a:noFill/>
                    </a:ln>
                    <a:effectLst/>
                  </a:rPr>
                  <a:t> A :</a:t>
                </a:r>
                <a:r>
                  <a:rPr kumimoji="0" lang="en-US" altLang="fr-FR" b="0" i="0" u="none" strike="noStrike" cap="none" normalizeH="0" baseline="0">
                    <a:ln>
                      <a:noFill/>
                    </a:ln>
                    <a:effectLst/>
                  </a:rPr>
                  <a:t> Avoir au moins un garçon,</a:t>
                </a:r>
                <a:r>
                  <a:rPr kumimoji="0" lang="en-US" altLang="fr-FR" b="0" i="1" u="none" strike="noStrike" cap="none" normalizeH="0" baseline="0">
                    <a:ln>
                      <a:noFill/>
                    </a:ln>
                    <a:effectLst/>
                  </a:rPr>
                  <a:t> B :</a:t>
                </a:r>
                <a:r>
                  <a:rPr kumimoji="0" lang="en-US" altLang="fr-FR" b="0" i="0" u="none" strike="noStrike" cap="none" normalizeH="0" baseline="0">
                    <a:ln>
                      <a:noFill/>
                    </a:ln>
                    <a:effectLst/>
                  </a:rPr>
                  <a:t> L’aînée est une fille et </a:t>
                </a:r>
                <a:r>
                  <a:rPr kumimoji="0" lang="en-US" altLang="fr-FR" b="0" i="1" u="none" strike="noStrike" cap="none" normalizeH="0" baseline="0">
                    <a:ln>
                      <a:noFill/>
                    </a:ln>
                    <a:effectLst/>
                  </a:rPr>
                  <a:t>S</a:t>
                </a:r>
                <a:r>
                  <a:rPr kumimoji="0" lang="en-US" altLang="fr-FR" b="0" i="0" u="none" strike="noStrike" cap="none" normalizeH="0" baseline="0">
                    <a:ln>
                      <a:noFill/>
                    </a:ln>
                    <a:effectLst/>
                  </a:rPr>
                  <a:t> : L’ensemble des cas possibles pour ce couple est </a:t>
                </a:r>
              </a:p>
              <a:p>
                <a:pPr indent="-228600" defTabSz="914400">
                  <a:lnSpc>
                    <a:spcPct val="90000"/>
                  </a:lnSpc>
                  <a:spcAft>
                    <a:spcPts val="600"/>
                  </a:spcAft>
                  <a:buFont typeface="Arial" panose="020B0604020202020204" pitchFamily="34" charset="0"/>
                  <a:buChar char="•"/>
                </a:pPr>
                <a14:m>
                  <m:oMath xmlns:m="http://schemas.openxmlformats.org/officeDocument/2006/math">
                    <m:r>
                      <a:rPr kumimoji="0" lang="en-US" altLang="fr-FR" b="0" i="1" u="none" strike="noStrike" cap="none" normalizeH="0" baseline="0">
                        <a:ln>
                          <a:noFill/>
                        </a:ln>
                        <a:effectLst/>
                        <a:latin typeface="Cambria Math" panose="02040503050406030204" pitchFamily="18" charset="0"/>
                      </a:rPr>
                      <m:t>𝑆</m:t>
                    </m:r>
                    <m:r>
                      <a:rPr kumimoji="0" lang="en-US" altLang="fr-FR" b="0" i="1" u="none" strike="noStrike" cap="none" normalizeH="0" baseline="0">
                        <a:ln>
                          <a:noFill/>
                        </a:ln>
                        <a:effectLst/>
                        <a:latin typeface="Cambria Math" panose="02040503050406030204" pitchFamily="18" charset="0"/>
                      </a:rPr>
                      <m:t>=</m:t>
                    </m:r>
                  </m:oMath>
                </a14:m>
                <a:r>
                  <a:rPr lang="en-US"/>
                  <a:t> {</a:t>
                </a:r>
                <a:r>
                  <a:rPr lang="en-US" i="1"/>
                  <a:t>fff</a:t>
                </a:r>
                <a:r>
                  <a:rPr lang="en-US"/>
                  <a:t>, </a:t>
                </a:r>
                <a:r>
                  <a:rPr lang="en-US" i="1"/>
                  <a:t>ffg</a:t>
                </a:r>
                <a:r>
                  <a:rPr lang="en-US"/>
                  <a:t>, </a:t>
                </a:r>
                <a:r>
                  <a:rPr lang="en-US" i="1"/>
                  <a:t>fgf</a:t>
                </a:r>
                <a:r>
                  <a:rPr lang="en-US"/>
                  <a:t>, </a:t>
                </a:r>
                <a:r>
                  <a:rPr lang="en-US" i="1"/>
                  <a:t>gff</a:t>
                </a:r>
                <a:r>
                  <a:rPr lang="en-US"/>
                  <a:t>, </a:t>
                </a:r>
                <a:r>
                  <a:rPr lang="en-US" i="1"/>
                  <a:t>ggf</a:t>
                </a:r>
                <a:r>
                  <a:rPr lang="en-US"/>
                  <a:t>, </a:t>
                </a:r>
                <a:r>
                  <a:rPr lang="en-US" i="1"/>
                  <a:t>gfg</a:t>
                </a:r>
                <a:r>
                  <a:rPr lang="en-US"/>
                  <a:t>, </a:t>
                </a:r>
                <a:r>
                  <a:rPr lang="en-US" i="1"/>
                  <a:t>fgg</a:t>
                </a:r>
                <a:r>
                  <a:rPr lang="en-US"/>
                  <a:t>, </a:t>
                </a:r>
                <a:r>
                  <a:rPr lang="en-US" i="1"/>
                  <a:t>ggg</a:t>
                </a:r>
                <a:r>
                  <a:rPr lang="en-US"/>
                  <a:t>}. </a:t>
                </a:r>
              </a:p>
              <a:p>
                <a:pPr indent="-228600" defTabSz="914400">
                  <a:lnSpc>
                    <a:spcPct val="90000"/>
                  </a:lnSpc>
                  <a:spcAft>
                    <a:spcPts val="600"/>
                  </a:spcAft>
                  <a:buFont typeface="Arial" panose="020B0604020202020204" pitchFamily="34" charset="0"/>
                  <a:buChar char="•"/>
                </a:pPr>
                <a:endParaRPr lang="en-US"/>
              </a:p>
              <a:p>
                <a:pPr indent="-228600" defTabSz="914400">
                  <a:lnSpc>
                    <a:spcPct val="90000"/>
                  </a:lnSpc>
                  <a:spcAft>
                    <a:spcPts val="600"/>
                  </a:spcAft>
                  <a:buFont typeface="Arial" panose="020B0604020202020204" pitchFamily="34" charset="0"/>
                  <a:buChar char="•"/>
                </a:pPr>
                <a14:m>
                  <m:oMath xmlns:m="http://schemas.openxmlformats.org/officeDocument/2006/math">
                    <m:r>
                      <a:rPr lang="en-US" b="0" i="1">
                        <a:latin typeface="Cambria Math" panose="02040503050406030204" pitchFamily="18" charset="0"/>
                      </a:rPr>
                      <m:t>𝑁</m:t>
                    </m:r>
                    <m:d>
                      <m:dPr>
                        <m:ctrlPr>
                          <a:rPr lang="en-US" b="0" i="1">
                            <a:latin typeface="Cambria Math" panose="02040503050406030204" pitchFamily="18" charset="0"/>
                          </a:rPr>
                        </m:ctrlPr>
                      </m:dPr>
                      <m:e>
                        <m:r>
                          <a:rPr lang="en-US" b="0" i="1">
                            <a:latin typeface="Cambria Math" panose="02040503050406030204" pitchFamily="18" charset="0"/>
                          </a:rPr>
                          <m:t>𝐵</m:t>
                        </m:r>
                      </m:e>
                    </m:d>
                    <m:r>
                      <a:rPr lang="en-US" b="0" i="1">
                        <a:latin typeface="Cambria Math" panose="02040503050406030204" pitchFamily="18" charset="0"/>
                      </a:rPr>
                      <m:t>=4    </m:t>
                    </m:r>
                    <m:r>
                      <a:rPr lang="en-US" b="0" i="1">
                        <a:latin typeface="Cambria Math" panose="02040503050406030204" pitchFamily="18" charset="0"/>
                      </a:rPr>
                      <m:t>𝑒𝑡</m:t>
                    </m:r>
                    <m:r>
                      <a:rPr lang="en-US" b="0" i="1">
                        <a:latin typeface="Cambria Math" panose="02040503050406030204" pitchFamily="18" charset="0"/>
                      </a:rPr>
                      <m:t> </m:t>
                    </m:r>
                    <m:r>
                      <a:rPr lang="en-US" b="0" i="1">
                        <a:latin typeface="Cambria Math" panose="02040503050406030204" pitchFamily="18" charset="0"/>
                      </a:rPr>
                      <m:t>𝑁</m:t>
                    </m:r>
                    <m:d>
                      <m:dPr>
                        <m:ctrlPr>
                          <a:rPr lang="en-US" b="0" i="1">
                            <a:latin typeface="Cambria Math" panose="02040503050406030204" pitchFamily="18" charset="0"/>
                          </a:rPr>
                        </m:ctrlPr>
                      </m:dPr>
                      <m:e>
                        <m:r>
                          <a:rPr lang="en-US" b="0" i="1">
                            <a:latin typeface="Cambria Math" panose="02040503050406030204" pitchFamily="18" charset="0"/>
                          </a:rPr>
                          <m:t>𝐴</m:t>
                        </m:r>
                        <m:r>
                          <a:rPr lang="en-US" b="0" i="1">
                            <a:latin typeface="Cambria Math" panose="02040503050406030204" pitchFamily="18" charset="0"/>
                          </a:rPr>
                          <m:t>∩</m:t>
                        </m:r>
                        <m:r>
                          <a:rPr lang="en-US" b="0" i="1">
                            <a:latin typeface="Cambria Math" panose="02040503050406030204" pitchFamily="18" charset="0"/>
                          </a:rPr>
                          <m:t>𝐵</m:t>
                        </m:r>
                      </m:e>
                    </m:d>
                    <m:r>
                      <a:rPr lang="en-US" b="0" i="1">
                        <a:latin typeface="Cambria Math" panose="02040503050406030204" pitchFamily="18" charset="0"/>
                      </a:rPr>
                      <m:t>=3→</m:t>
                    </m:r>
                    <m:r>
                      <a:rPr lang="en-US" b="0" i="1">
                        <a:latin typeface="Cambria Math" panose="02040503050406030204" pitchFamily="18" charset="0"/>
                      </a:rPr>
                      <m:t>𝑃</m:t>
                    </m:r>
                    <m:d>
                      <m:dPr>
                        <m:ctrlPr>
                          <a:rPr lang="en-US" b="0" i="1">
                            <a:latin typeface="Cambria Math" panose="02040503050406030204" pitchFamily="18" charset="0"/>
                          </a:rPr>
                        </m:ctrlPr>
                      </m:dPr>
                      <m:e>
                        <m:r>
                          <a:rPr lang="en-US" b="0" i="1">
                            <a:latin typeface="Cambria Math" panose="02040503050406030204" pitchFamily="18" charset="0"/>
                          </a:rPr>
                          <m:t>𝐴</m:t>
                        </m:r>
                      </m:e>
                      <m:e>
                        <m:r>
                          <a:rPr lang="en-US" b="0" i="1">
                            <a:latin typeface="Cambria Math" panose="02040503050406030204" pitchFamily="18" charset="0"/>
                          </a:rPr>
                          <m:t>𝐵</m:t>
                        </m:r>
                      </m:e>
                    </m:d>
                    <m:r>
                      <a:rPr lang="en-US" b="0" i="1">
                        <a:latin typeface="Cambria Math" panose="02040503050406030204" pitchFamily="18" charset="0"/>
                      </a:rPr>
                      <m:t>=</m:t>
                    </m:r>
                    <m:f>
                      <m:fPr>
                        <m:ctrlPr>
                          <a:rPr lang="en-US" b="0" i="1">
                            <a:latin typeface="Cambria Math" panose="02040503050406030204" pitchFamily="18" charset="0"/>
                          </a:rPr>
                        </m:ctrlPr>
                      </m:fPr>
                      <m:num>
                        <m:r>
                          <a:rPr lang="en-US" b="0" i="1">
                            <a:latin typeface="Cambria Math" panose="02040503050406030204" pitchFamily="18" charset="0"/>
                          </a:rPr>
                          <m:t>𝑁</m:t>
                        </m:r>
                        <m:d>
                          <m:dPr>
                            <m:ctrlPr>
                              <a:rPr lang="en-US" b="0" i="1">
                                <a:latin typeface="Cambria Math" panose="02040503050406030204" pitchFamily="18" charset="0"/>
                              </a:rPr>
                            </m:ctrlPr>
                          </m:dPr>
                          <m:e>
                            <m:r>
                              <a:rPr lang="en-US" b="0" i="1">
                                <a:latin typeface="Cambria Math" panose="02040503050406030204" pitchFamily="18" charset="0"/>
                              </a:rPr>
                              <m:t>𝐴</m:t>
                            </m:r>
                            <m:r>
                              <a:rPr lang="en-US" b="0" i="1">
                                <a:latin typeface="Cambria Math" panose="02040503050406030204" pitchFamily="18" charset="0"/>
                              </a:rPr>
                              <m:t>∩</m:t>
                            </m:r>
                            <m:r>
                              <a:rPr lang="en-US" b="0" i="1">
                                <a:latin typeface="Cambria Math" panose="02040503050406030204" pitchFamily="18" charset="0"/>
                              </a:rPr>
                              <m:t>𝐵</m:t>
                            </m:r>
                          </m:e>
                        </m:d>
                      </m:num>
                      <m:den>
                        <m:r>
                          <a:rPr lang="en-US" b="0" i="1">
                            <a:latin typeface="Cambria Math" panose="02040503050406030204" pitchFamily="18" charset="0"/>
                          </a:rPr>
                          <m:t>𝑁</m:t>
                        </m:r>
                        <m:d>
                          <m:dPr>
                            <m:ctrlPr>
                              <a:rPr lang="en-US" b="0" i="1">
                                <a:latin typeface="Cambria Math" panose="02040503050406030204" pitchFamily="18" charset="0"/>
                              </a:rPr>
                            </m:ctrlPr>
                          </m:dPr>
                          <m:e>
                            <m:r>
                              <a:rPr lang="en-US" b="0" i="1">
                                <a:latin typeface="Cambria Math" panose="02040503050406030204" pitchFamily="18" charset="0"/>
                              </a:rPr>
                              <m:t>𝐵</m:t>
                            </m:r>
                          </m:e>
                        </m:d>
                      </m:den>
                    </m:f>
                    <m:r>
                      <a:rPr lang="en-US" b="0" i="1">
                        <a:latin typeface="Cambria Math" panose="02040503050406030204" pitchFamily="18" charset="0"/>
                      </a:rPr>
                      <m:t>=</m:t>
                    </m:r>
                    <m:f>
                      <m:fPr>
                        <m:ctrlPr>
                          <a:rPr lang="en-US" b="0" i="1">
                            <a:latin typeface="Cambria Math" panose="02040503050406030204" pitchFamily="18" charset="0"/>
                          </a:rPr>
                        </m:ctrlPr>
                      </m:fPr>
                      <m:num>
                        <m:r>
                          <a:rPr lang="en-US" b="0" i="1">
                            <a:latin typeface="Cambria Math" panose="02040503050406030204" pitchFamily="18" charset="0"/>
                          </a:rPr>
                          <m:t>3</m:t>
                        </m:r>
                      </m:num>
                      <m:den>
                        <m:r>
                          <a:rPr lang="en-US" b="0" i="1">
                            <a:latin typeface="Cambria Math" panose="02040503050406030204" pitchFamily="18" charset="0"/>
                          </a:rPr>
                          <m:t>4</m:t>
                        </m:r>
                      </m:den>
                    </m:f>
                    <m:r>
                      <a:rPr lang="en-US" b="0" i="1">
                        <a:latin typeface="Cambria Math" panose="02040503050406030204" pitchFamily="18" charset="0"/>
                      </a:rPr>
                      <m:t>=0,75</m:t>
                    </m:r>
                  </m:oMath>
                </a14:m>
                <a:endParaRPr lang="en-US"/>
              </a:p>
            </p:txBody>
          </p:sp>
        </mc:Choice>
        <mc:Fallback xmlns="">
          <p:sp>
            <p:nvSpPr>
              <p:cNvPr id="5" name="ZoneTexte 4">
                <a:extLst>
                  <a:ext uri="{FF2B5EF4-FFF2-40B4-BE49-F238E27FC236}">
                    <a16:creationId xmlns:a16="http://schemas.microsoft.com/office/drawing/2014/main" id="{D1482D6E-2C64-4FFE-B6A0-E6D37C17879E}"/>
                  </a:ext>
                </a:extLst>
              </p:cNvPr>
              <p:cNvSpPr txBox="1">
                <a:spLocks noRot="1" noChangeAspect="1" noMove="1" noResize="1" noEditPoints="1" noAdjustHandles="1" noChangeArrowheads="1" noChangeShapeType="1" noTextEdit="1"/>
              </p:cNvSpPr>
              <p:nvPr/>
            </p:nvSpPr>
            <p:spPr>
              <a:xfrm>
                <a:off x="4447308" y="591344"/>
                <a:ext cx="6906491" cy="5585619"/>
              </a:xfrm>
              <a:prstGeom prst="rect">
                <a:avLst/>
              </a:prstGeom>
              <a:blipFill>
                <a:blip r:embed="rId2"/>
                <a:stretch>
                  <a:fillRect l="-795"/>
                </a:stretch>
              </a:blipFill>
            </p:spPr>
            <p:txBody>
              <a:bodyPr/>
              <a:lstStyle/>
              <a:p>
                <a:r>
                  <a:rPr lang="fr-CA">
                    <a:noFill/>
                  </a:rPr>
                  <a:t> </a:t>
                </a:r>
              </a:p>
            </p:txBody>
          </p:sp>
        </mc:Fallback>
      </mc:AlternateContent>
      <p:sp>
        <p:nvSpPr>
          <p:cNvPr id="3" name="Espace réservé du pied de page 2">
            <a:extLst>
              <a:ext uri="{FF2B5EF4-FFF2-40B4-BE49-F238E27FC236}">
                <a16:creationId xmlns:a16="http://schemas.microsoft.com/office/drawing/2014/main" id="{C719CA71-1C2E-4D2D-8B95-424CAF55642B}"/>
              </a:ext>
            </a:extLst>
          </p:cNvPr>
          <p:cNvSpPr>
            <a:spLocks noGrp="1"/>
          </p:cNvSpPr>
          <p:nvPr>
            <p:ph type="ftr" sz="quarter" idx="11"/>
          </p:nvPr>
        </p:nvSpPr>
        <p:spPr>
          <a:xfrm>
            <a:off x="4038600" y="6356350"/>
            <a:ext cx="5251174" cy="365125"/>
          </a:xfrm>
        </p:spPr>
        <p:txBody>
          <a:bodyPr vert="horz" lIns="91440" tIns="45720" rIns="91440" bIns="45720" rtlCol="0" anchor="ctr">
            <a:normAutofit/>
          </a:bodyPr>
          <a:lstStyle/>
          <a:p>
            <a:pPr defTabSz="914400"/>
            <a:endParaRPr lang="en-US" sz="1200" kern="1200">
              <a:solidFill>
                <a:schemeClr val="tx1">
                  <a:tint val="75000"/>
                </a:schemeClr>
              </a:solidFill>
              <a:latin typeface="+mn-lt"/>
              <a:ea typeface="+mn-ea"/>
              <a:cs typeface="+mn-cs"/>
            </a:endParaRPr>
          </a:p>
        </p:txBody>
      </p:sp>
      <p:sp>
        <p:nvSpPr>
          <p:cNvPr id="4" name="Espace réservé du numéro de diapositive 3">
            <a:extLst>
              <a:ext uri="{FF2B5EF4-FFF2-40B4-BE49-F238E27FC236}">
                <a16:creationId xmlns:a16="http://schemas.microsoft.com/office/drawing/2014/main" id="{93F51822-A6BB-4EFC-A9C6-3C5C8B58FA02}"/>
              </a:ext>
            </a:extLst>
          </p:cNvPr>
          <p:cNvSpPr>
            <a:spLocks noGrp="1"/>
          </p:cNvSpPr>
          <p:nvPr>
            <p:ph type="sldNum" sz="quarter" idx="12"/>
          </p:nvPr>
        </p:nvSpPr>
        <p:spPr>
          <a:xfrm>
            <a:off x="9541564" y="6356350"/>
            <a:ext cx="1812235" cy="365125"/>
          </a:xfrm>
        </p:spPr>
        <p:txBody>
          <a:bodyPr vert="horz" lIns="91440" tIns="45720" rIns="91440" bIns="45720" rtlCol="0" anchor="ctr">
            <a:normAutofit/>
          </a:bodyPr>
          <a:lstStyle/>
          <a:p>
            <a:pPr defTabSz="914400">
              <a:spcAft>
                <a:spcPts val="600"/>
              </a:spcAft>
            </a:pPr>
            <a:fld id="{26377AD9-CE17-438C-A638-C64D2D42D7CF}" type="slidenum">
              <a:rPr lang="en-US" smtClean="0"/>
              <a:pPr defTabSz="914400">
                <a:spcAft>
                  <a:spcPts val="600"/>
                </a:spcAft>
              </a:pPr>
              <a:t>12</a:t>
            </a:fld>
            <a:endParaRPr lang="en-US"/>
          </a:p>
        </p:txBody>
      </p:sp>
    </p:spTree>
    <p:extLst>
      <p:ext uri="{BB962C8B-B14F-4D97-AF65-F5344CB8AC3E}">
        <p14:creationId xmlns:p14="http://schemas.microsoft.com/office/powerpoint/2010/main" val="37627229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03BF6AB-0257-4DD5-A795-485A092C8845}"/>
              </a:ext>
            </a:extLst>
          </p:cNvPr>
          <p:cNvSpPr>
            <a:spLocks noGrp="1"/>
          </p:cNvSpPr>
          <p:nvPr>
            <p:ph type="title"/>
          </p:nvPr>
        </p:nvSpPr>
        <p:spPr/>
        <p:txBody>
          <a:bodyPr/>
          <a:lstStyle/>
          <a:p>
            <a:r>
              <a:rPr lang="fr-CA" sz="4400" b="1" kern="1200" dirty="0">
                <a:solidFill>
                  <a:schemeClr val="tx1"/>
                </a:solidFill>
                <a:latin typeface="+mj-lt"/>
                <a:ea typeface="+mj-ea"/>
                <a:cs typeface="+mj-cs"/>
              </a:rPr>
              <a:t>Applications dans les tests cliniques</a:t>
            </a:r>
            <a:endParaRPr lang="fr-CA" dirty="0"/>
          </a:p>
        </p:txBody>
      </p:sp>
      <p:sp>
        <p:nvSpPr>
          <p:cNvPr id="3" name="Espace réservé du pied de page 2">
            <a:extLst>
              <a:ext uri="{FF2B5EF4-FFF2-40B4-BE49-F238E27FC236}">
                <a16:creationId xmlns:a16="http://schemas.microsoft.com/office/drawing/2014/main" id="{7966E463-CBD7-46FF-98D8-0667B6E76B05}"/>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DC5A8CD8-8834-4771-BE45-D630A8C337B9}"/>
              </a:ext>
            </a:extLst>
          </p:cNvPr>
          <p:cNvSpPr>
            <a:spLocks noGrp="1"/>
          </p:cNvSpPr>
          <p:nvPr>
            <p:ph type="sldNum" sz="quarter" idx="12"/>
          </p:nvPr>
        </p:nvSpPr>
        <p:spPr/>
        <p:txBody>
          <a:bodyPr/>
          <a:lstStyle/>
          <a:p>
            <a:fld id="{26377AD9-CE17-438C-A638-C64D2D42D7CF}" type="slidenum">
              <a:rPr lang="fr-CA" smtClean="0"/>
              <a:t>13</a:t>
            </a:fld>
            <a:endParaRPr lang="fr-CA"/>
          </a:p>
        </p:txBody>
      </p: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5B5750EB-AA65-4141-97FF-921BB8BBAD4E}"/>
                  </a:ext>
                </a:extLst>
              </p:cNvPr>
              <p:cNvSpPr txBox="1"/>
              <p:nvPr/>
            </p:nvSpPr>
            <p:spPr>
              <a:xfrm>
                <a:off x="1031966" y="3467872"/>
                <a:ext cx="9666514" cy="1754326"/>
              </a:xfrm>
              <a:prstGeom prst="rect">
                <a:avLst/>
              </a:prstGeom>
              <a:noFill/>
            </p:spPr>
            <p:txBody>
              <a:bodyPr wrap="square" rtlCol="0">
                <a:spAutoFit/>
              </a:bodyPr>
              <a:lstStyle/>
              <a:p>
                <a:pPr marL="285750" indent="-285750">
                  <a:buFont typeface="Arial" panose="020B0604020202020204" pitchFamily="34" charset="0"/>
                  <a:buChar char="•"/>
                </a:pPr>
                <a:r>
                  <a:rPr lang="fr-CA" dirty="0"/>
                  <a:t>On appelle sensibilité d’un test </a:t>
                </a:r>
                <a14:m>
                  <m:oMath xmlns:m="http://schemas.openxmlformats.org/officeDocument/2006/math">
                    <m:r>
                      <a:rPr lang="fr-CA" b="0" i="1" smtClean="0">
                        <a:latin typeface="Cambria Math" panose="02040503050406030204" pitchFamily="18" charset="0"/>
                      </a:rPr>
                      <m:t>𝑃</m:t>
                    </m:r>
                    <m:d>
                      <m:dPr>
                        <m:ctrlPr>
                          <a:rPr lang="fr-CA" b="0" i="1" smtClean="0">
                            <a:latin typeface="Cambria Math" panose="02040503050406030204" pitchFamily="18" charset="0"/>
                          </a:rPr>
                        </m:ctrlPr>
                      </m:dPr>
                      <m:e>
                        <m:r>
                          <a:rPr lang="fr-CA" b="0" i="1" smtClean="0">
                            <a:latin typeface="Cambria Math" panose="02040503050406030204" pitchFamily="18" charset="0"/>
                          </a:rPr>
                          <m:t>𝑇</m:t>
                        </m:r>
                        <m:r>
                          <a:rPr lang="fr-CA" b="0" i="1" smtClean="0">
                            <a:latin typeface="Cambria Math" panose="02040503050406030204" pitchFamily="18" charset="0"/>
                          </a:rPr>
                          <m:t>+</m:t>
                        </m:r>
                      </m:e>
                      <m:e>
                        <m:r>
                          <a:rPr lang="fr-CA" b="0" i="1" smtClean="0">
                            <a:latin typeface="Cambria Math" panose="02040503050406030204" pitchFamily="18" charset="0"/>
                          </a:rPr>
                          <m:t>𝑀</m:t>
                        </m:r>
                      </m:e>
                    </m:d>
                  </m:oMath>
                </a14:m>
                <a:endParaRPr lang="fr-CA" b="0" dirty="0"/>
              </a:p>
              <a:p>
                <a:pPr marL="285750" indent="-285750">
                  <a:buFont typeface="Arial" panose="020B0604020202020204" pitchFamily="34" charset="0"/>
                  <a:buChar char="•"/>
                </a:pPr>
                <a:r>
                  <a:rPr lang="fr-CA" dirty="0"/>
                  <a:t>On appelle spécificité d’un test </a:t>
                </a:r>
                <a14:m>
                  <m:oMath xmlns:m="http://schemas.openxmlformats.org/officeDocument/2006/math">
                    <m:r>
                      <a:rPr lang="fr-CA" b="0" i="1" smtClean="0">
                        <a:latin typeface="Cambria Math" panose="02040503050406030204" pitchFamily="18" charset="0"/>
                      </a:rPr>
                      <m:t>𝑃</m:t>
                    </m:r>
                    <m:d>
                      <m:dPr>
                        <m:ctrlPr>
                          <a:rPr lang="fr-CA" b="0" i="1" smtClean="0">
                            <a:latin typeface="Cambria Math" panose="02040503050406030204" pitchFamily="18" charset="0"/>
                          </a:rPr>
                        </m:ctrlPr>
                      </m:dPr>
                      <m:e>
                        <m:r>
                          <a:rPr lang="fr-CA" b="0" i="1" smtClean="0">
                            <a:latin typeface="Cambria Math" panose="02040503050406030204" pitchFamily="18" charset="0"/>
                          </a:rPr>
                          <m:t>𝑇</m:t>
                        </m:r>
                        <m:r>
                          <a:rPr lang="fr-CA" b="0" i="1" smtClean="0">
                            <a:latin typeface="Cambria Math" panose="02040503050406030204" pitchFamily="18" charset="0"/>
                          </a:rPr>
                          <m:t>−</m:t>
                        </m:r>
                      </m:e>
                      <m:e>
                        <m:sSup>
                          <m:sSupPr>
                            <m:ctrlPr>
                              <a:rPr lang="fr-CA" b="0" i="1" smtClean="0">
                                <a:latin typeface="Cambria Math" panose="02040503050406030204" pitchFamily="18" charset="0"/>
                              </a:rPr>
                            </m:ctrlPr>
                          </m:sSupPr>
                          <m:e>
                            <m:r>
                              <a:rPr lang="fr-CA" b="0" i="1" smtClean="0">
                                <a:latin typeface="Cambria Math" panose="02040503050406030204" pitchFamily="18" charset="0"/>
                              </a:rPr>
                              <m:t>𝑀</m:t>
                            </m:r>
                          </m:e>
                          <m:sup>
                            <m:r>
                              <a:rPr lang="fr-CA" b="0" i="1" smtClean="0">
                                <a:latin typeface="Cambria Math" panose="02040503050406030204" pitchFamily="18" charset="0"/>
                              </a:rPr>
                              <m:t>′</m:t>
                            </m:r>
                          </m:sup>
                        </m:sSup>
                      </m:e>
                    </m:d>
                  </m:oMath>
                </a14:m>
                <a:endParaRPr lang="fr-CA" b="0" dirty="0"/>
              </a:p>
              <a:p>
                <a:pPr marL="285750" indent="-285750">
                  <a:buFont typeface="Arial" panose="020B0604020202020204" pitchFamily="34" charset="0"/>
                  <a:buChar char="•"/>
                </a:pPr>
                <a:r>
                  <a:rPr lang="fr-CA" dirty="0"/>
                  <a:t>On appelle taux de fausse positivité d’un test </a:t>
                </a:r>
                <a14:m>
                  <m:oMath xmlns:m="http://schemas.openxmlformats.org/officeDocument/2006/math">
                    <m:r>
                      <a:rPr lang="fr-CA" b="0" i="1" smtClean="0">
                        <a:latin typeface="Cambria Math" panose="02040503050406030204" pitchFamily="18" charset="0"/>
                      </a:rPr>
                      <m:t>𝑃</m:t>
                    </m:r>
                    <m:d>
                      <m:dPr>
                        <m:ctrlPr>
                          <a:rPr lang="fr-CA" b="0" i="1" smtClean="0">
                            <a:latin typeface="Cambria Math" panose="02040503050406030204" pitchFamily="18" charset="0"/>
                          </a:rPr>
                        </m:ctrlPr>
                      </m:dPr>
                      <m:e>
                        <m:r>
                          <a:rPr lang="fr-CA" b="0" i="1" smtClean="0">
                            <a:latin typeface="Cambria Math" panose="02040503050406030204" pitchFamily="18" charset="0"/>
                          </a:rPr>
                          <m:t>𝑇</m:t>
                        </m:r>
                        <m:r>
                          <a:rPr lang="fr-CA" b="0" i="1" smtClean="0">
                            <a:latin typeface="Cambria Math" panose="02040503050406030204" pitchFamily="18" charset="0"/>
                          </a:rPr>
                          <m:t>+</m:t>
                        </m:r>
                      </m:e>
                      <m:e>
                        <m:sSup>
                          <m:sSupPr>
                            <m:ctrlPr>
                              <a:rPr lang="fr-CA" b="0" i="1" smtClean="0">
                                <a:latin typeface="Cambria Math" panose="02040503050406030204" pitchFamily="18" charset="0"/>
                              </a:rPr>
                            </m:ctrlPr>
                          </m:sSupPr>
                          <m:e>
                            <m:r>
                              <a:rPr lang="fr-CA" b="0" i="1" smtClean="0">
                                <a:latin typeface="Cambria Math" panose="02040503050406030204" pitchFamily="18" charset="0"/>
                              </a:rPr>
                              <m:t>𝑀</m:t>
                            </m:r>
                          </m:e>
                          <m:sup>
                            <m:r>
                              <a:rPr lang="fr-CA" b="0" i="1" smtClean="0">
                                <a:latin typeface="Cambria Math" panose="02040503050406030204" pitchFamily="18" charset="0"/>
                              </a:rPr>
                              <m:t>′</m:t>
                            </m:r>
                          </m:sup>
                        </m:sSup>
                      </m:e>
                    </m:d>
                  </m:oMath>
                </a14:m>
                <a:endParaRPr lang="fr-CA" b="0" dirty="0"/>
              </a:p>
              <a:p>
                <a:pPr marL="285750" indent="-285750">
                  <a:buFont typeface="Arial" panose="020B0604020202020204" pitchFamily="34" charset="0"/>
                  <a:buChar char="•"/>
                </a:pPr>
                <a:r>
                  <a:rPr lang="fr-CA" dirty="0"/>
                  <a:t>On appelle taux de fausse négativité d’un test </a:t>
                </a:r>
                <a14:m>
                  <m:oMath xmlns:m="http://schemas.openxmlformats.org/officeDocument/2006/math">
                    <m:r>
                      <a:rPr lang="fr-CA" b="0" i="1" smtClean="0">
                        <a:latin typeface="Cambria Math" panose="02040503050406030204" pitchFamily="18" charset="0"/>
                      </a:rPr>
                      <m:t>𝑃</m:t>
                    </m:r>
                    <m:d>
                      <m:dPr>
                        <m:ctrlPr>
                          <a:rPr lang="fr-CA" b="0" i="1" smtClean="0">
                            <a:latin typeface="Cambria Math" panose="02040503050406030204" pitchFamily="18" charset="0"/>
                          </a:rPr>
                        </m:ctrlPr>
                      </m:dPr>
                      <m:e>
                        <m:r>
                          <a:rPr lang="fr-CA" b="0" i="1" smtClean="0">
                            <a:latin typeface="Cambria Math" panose="02040503050406030204" pitchFamily="18" charset="0"/>
                          </a:rPr>
                          <m:t>𝑇</m:t>
                        </m:r>
                        <m:r>
                          <a:rPr lang="fr-CA" b="0" i="1" smtClean="0">
                            <a:latin typeface="Cambria Math" panose="02040503050406030204" pitchFamily="18" charset="0"/>
                          </a:rPr>
                          <m:t>−</m:t>
                        </m:r>
                      </m:e>
                      <m:e>
                        <m:r>
                          <a:rPr lang="fr-CA" b="0" i="1" smtClean="0">
                            <a:latin typeface="Cambria Math" panose="02040503050406030204" pitchFamily="18" charset="0"/>
                          </a:rPr>
                          <m:t>𝑀</m:t>
                        </m:r>
                      </m:e>
                    </m:d>
                  </m:oMath>
                </a14:m>
                <a:endParaRPr lang="fr-CA" b="0" dirty="0"/>
              </a:p>
              <a:p>
                <a:pPr marL="285750" indent="-285750">
                  <a:buFont typeface="Arial" panose="020B0604020202020204" pitchFamily="34" charset="0"/>
                  <a:buChar char="•"/>
                </a:pPr>
                <a:r>
                  <a:rPr lang="fr-CA" dirty="0"/>
                  <a:t>On appelle la valeur prédictive positive d’un test </a:t>
                </a:r>
                <a14:m>
                  <m:oMath xmlns:m="http://schemas.openxmlformats.org/officeDocument/2006/math">
                    <m:r>
                      <m:rPr>
                        <m:sty m:val="p"/>
                      </m:rPr>
                      <a:rPr lang="fr-CA" b="0" i="0" smtClean="0">
                        <a:latin typeface="Cambria Math" panose="02040503050406030204" pitchFamily="18" charset="0"/>
                      </a:rPr>
                      <m:t>VPP</m:t>
                    </m:r>
                    <m:r>
                      <a:rPr lang="fr-CA" b="0" i="0" smtClean="0">
                        <a:latin typeface="Cambria Math" panose="02040503050406030204" pitchFamily="18" charset="0"/>
                      </a:rPr>
                      <m:t>=</m:t>
                    </m:r>
                    <m:r>
                      <a:rPr lang="fr-CA" b="0" i="1" smtClean="0">
                        <a:latin typeface="Cambria Math" panose="02040503050406030204" pitchFamily="18" charset="0"/>
                      </a:rPr>
                      <m:t>𝑃</m:t>
                    </m:r>
                    <m:d>
                      <m:dPr>
                        <m:ctrlPr>
                          <a:rPr lang="fr-CA" b="0" i="1" smtClean="0">
                            <a:latin typeface="Cambria Math" panose="02040503050406030204" pitchFamily="18" charset="0"/>
                          </a:rPr>
                        </m:ctrlPr>
                      </m:dPr>
                      <m:e>
                        <m:r>
                          <a:rPr lang="fr-CA" b="0" i="1" smtClean="0">
                            <a:latin typeface="Cambria Math" panose="02040503050406030204" pitchFamily="18" charset="0"/>
                          </a:rPr>
                          <m:t>𝑀</m:t>
                        </m:r>
                      </m:e>
                      <m:e>
                        <m:r>
                          <a:rPr lang="fr-CA" b="0" i="1" smtClean="0">
                            <a:latin typeface="Cambria Math" panose="02040503050406030204" pitchFamily="18" charset="0"/>
                          </a:rPr>
                          <m:t>𝑇</m:t>
                        </m:r>
                        <m:r>
                          <a:rPr lang="fr-CA" b="0" i="1" smtClean="0">
                            <a:latin typeface="Cambria Math" panose="02040503050406030204" pitchFamily="18" charset="0"/>
                          </a:rPr>
                          <m:t>+</m:t>
                        </m:r>
                      </m:e>
                    </m:d>
                  </m:oMath>
                </a14:m>
                <a:endParaRPr lang="fr-CA" b="0" dirty="0"/>
              </a:p>
              <a:p>
                <a:pPr marL="285750" indent="-285750">
                  <a:buFont typeface="Arial" panose="020B0604020202020204" pitchFamily="34" charset="0"/>
                  <a:buChar char="•"/>
                </a:pPr>
                <a:r>
                  <a:rPr lang="fr-CA" dirty="0"/>
                  <a:t>On appelle la valeur prédictive négative d’un test </a:t>
                </a:r>
                <a14:m>
                  <m:oMath xmlns:m="http://schemas.openxmlformats.org/officeDocument/2006/math">
                    <m:r>
                      <a:rPr lang="fr-CA" b="0" i="1" smtClean="0">
                        <a:latin typeface="Cambria Math" panose="02040503050406030204" pitchFamily="18" charset="0"/>
                      </a:rPr>
                      <m:t>𝑉𝑃𝑁</m:t>
                    </m:r>
                    <m:r>
                      <a:rPr lang="fr-CA" b="0" i="1" smtClean="0">
                        <a:latin typeface="Cambria Math" panose="02040503050406030204" pitchFamily="18" charset="0"/>
                      </a:rPr>
                      <m:t>=</m:t>
                    </m:r>
                    <m:r>
                      <a:rPr lang="fr-CA" b="0" i="1" smtClean="0">
                        <a:latin typeface="Cambria Math" panose="02040503050406030204" pitchFamily="18" charset="0"/>
                      </a:rPr>
                      <m:t>𝑃</m:t>
                    </m:r>
                    <m:r>
                      <a:rPr lang="fr-CA" b="0" i="1" smtClean="0">
                        <a:latin typeface="Cambria Math" panose="02040503050406030204" pitchFamily="18" charset="0"/>
                      </a:rPr>
                      <m:t>(</m:t>
                    </m:r>
                    <m:sSup>
                      <m:sSupPr>
                        <m:ctrlPr>
                          <a:rPr lang="fr-CA" b="0" i="1" smtClean="0">
                            <a:latin typeface="Cambria Math" panose="02040503050406030204" pitchFamily="18" charset="0"/>
                          </a:rPr>
                        </m:ctrlPr>
                      </m:sSupPr>
                      <m:e>
                        <m:r>
                          <a:rPr lang="fr-CA" b="0" i="1" smtClean="0">
                            <a:latin typeface="Cambria Math" panose="02040503050406030204" pitchFamily="18" charset="0"/>
                          </a:rPr>
                          <m:t>𝑀</m:t>
                        </m:r>
                      </m:e>
                      <m:sup>
                        <m:r>
                          <a:rPr lang="fr-CA" b="0" i="1" smtClean="0">
                            <a:latin typeface="Cambria Math" panose="02040503050406030204" pitchFamily="18" charset="0"/>
                          </a:rPr>
                          <m:t>′</m:t>
                        </m:r>
                      </m:sup>
                    </m:sSup>
                    <m:r>
                      <a:rPr lang="fr-CA" b="0" i="1" smtClean="0">
                        <a:latin typeface="Cambria Math" panose="02040503050406030204" pitchFamily="18" charset="0"/>
                      </a:rPr>
                      <m:t>|</m:t>
                    </m:r>
                    <m:r>
                      <a:rPr lang="fr-CA" b="0" i="1" smtClean="0">
                        <a:latin typeface="Cambria Math" panose="02040503050406030204" pitchFamily="18" charset="0"/>
                      </a:rPr>
                      <m:t>𝑇</m:t>
                    </m:r>
                    <m:r>
                      <a:rPr lang="fr-CA" b="0" i="1" smtClean="0">
                        <a:latin typeface="Cambria Math" panose="02040503050406030204" pitchFamily="18" charset="0"/>
                      </a:rPr>
                      <m:t>−)</m:t>
                    </m:r>
                  </m:oMath>
                </a14:m>
                <a:endParaRPr lang="fr-CA" dirty="0"/>
              </a:p>
            </p:txBody>
          </p:sp>
        </mc:Choice>
        <mc:Fallback xmlns="">
          <p:sp>
            <p:nvSpPr>
              <p:cNvPr id="5" name="ZoneTexte 4">
                <a:extLst>
                  <a:ext uri="{FF2B5EF4-FFF2-40B4-BE49-F238E27FC236}">
                    <a16:creationId xmlns:a16="http://schemas.microsoft.com/office/drawing/2014/main" id="{5B5750EB-AA65-4141-97FF-921BB8BBAD4E}"/>
                  </a:ext>
                </a:extLst>
              </p:cNvPr>
              <p:cNvSpPr txBox="1">
                <a:spLocks noRot="1" noChangeAspect="1" noMove="1" noResize="1" noEditPoints="1" noAdjustHandles="1" noChangeArrowheads="1" noChangeShapeType="1" noTextEdit="1"/>
              </p:cNvSpPr>
              <p:nvPr/>
            </p:nvSpPr>
            <p:spPr>
              <a:xfrm>
                <a:off x="1031966" y="3467872"/>
                <a:ext cx="9666514" cy="1754326"/>
              </a:xfrm>
              <a:prstGeom prst="rect">
                <a:avLst/>
              </a:prstGeom>
              <a:blipFill>
                <a:blip r:embed="rId2"/>
                <a:stretch>
                  <a:fillRect l="-378" t="-2083" b="-4514"/>
                </a:stretch>
              </a:blipFill>
            </p:spPr>
            <p:txBody>
              <a:bodyPr/>
              <a:lstStyle/>
              <a:p>
                <a:r>
                  <a:rPr lang="fr-CA">
                    <a:noFill/>
                  </a:rPr>
                  <a:t> </a:t>
                </a:r>
              </a:p>
            </p:txBody>
          </p:sp>
        </mc:Fallback>
      </mc:AlternateContent>
      <mc:AlternateContent xmlns:mc="http://schemas.openxmlformats.org/markup-compatibility/2006" xmlns:a14="http://schemas.microsoft.com/office/drawing/2010/main">
        <mc:Choice Requires="a14">
          <p:sp>
            <p:nvSpPr>
              <p:cNvPr id="6" name="ZoneTexte 5">
                <a:extLst>
                  <a:ext uri="{FF2B5EF4-FFF2-40B4-BE49-F238E27FC236}">
                    <a16:creationId xmlns:a16="http://schemas.microsoft.com/office/drawing/2014/main" id="{08198DDB-890D-41A2-9EBB-B23114D16E68}"/>
                  </a:ext>
                </a:extLst>
              </p:cNvPr>
              <p:cNvSpPr txBox="1"/>
              <p:nvPr/>
            </p:nvSpPr>
            <p:spPr>
              <a:xfrm>
                <a:off x="979714" y="1828800"/>
                <a:ext cx="9784080" cy="1477328"/>
              </a:xfrm>
              <a:prstGeom prst="rect">
                <a:avLst/>
              </a:prstGeom>
              <a:noFill/>
            </p:spPr>
            <p:txBody>
              <a:bodyPr wrap="square" rtlCol="0">
                <a:spAutoFit/>
              </a:bodyPr>
              <a:lstStyle/>
              <a:p>
                <a:r>
                  <a:rPr lang="en-US" dirty="0"/>
                  <a:t>Un test </a:t>
                </a:r>
                <a:r>
                  <a:rPr lang="fr-CA" dirty="0"/>
                  <a:t>diagnostique est une méthode pour valider la présence ou l’absence d’une certaine maladie. Le test peut être positif </a:t>
                </a:r>
                <a14:m>
                  <m:oMath xmlns:m="http://schemas.openxmlformats.org/officeDocument/2006/math">
                    <m:sSup>
                      <m:sSupPr>
                        <m:ctrlPr>
                          <a:rPr lang="fr-CA" i="1">
                            <a:latin typeface="Cambria Math" panose="02040503050406030204" pitchFamily="18" charset="0"/>
                          </a:rPr>
                        </m:ctrlPr>
                      </m:sSupPr>
                      <m:e>
                        <m:r>
                          <a:rPr lang="fr-CA" b="0" i="1">
                            <a:latin typeface="Cambria Math" panose="02040503050406030204" pitchFamily="18" charset="0"/>
                          </a:rPr>
                          <m:t>𝑇</m:t>
                        </m:r>
                      </m:e>
                      <m:sup>
                        <m:r>
                          <a:rPr lang="fr-CA" b="0" i="1">
                            <a:latin typeface="Cambria Math" panose="02040503050406030204" pitchFamily="18" charset="0"/>
                          </a:rPr>
                          <m:t>+</m:t>
                        </m:r>
                      </m:sup>
                    </m:sSup>
                    <m:r>
                      <a:rPr lang="fr-CA" b="0" i="1">
                        <a:latin typeface="Cambria Math" panose="02040503050406030204" pitchFamily="18" charset="0"/>
                      </a:rPr>
                      <m:t>  </m:t>
                    </m:r>
                    <m:r>
                      <a:rPr lang="fr-CA" b="0" i="1">
                        <a:latin typeface="Cambria Math" panose="02040503050406030204" pitchFamily="18" charset="0"/>
                      </a:rPr>
                      <m:t>𝑜𝑢</m:t>
                    </m:r>
                    <m:r>
                      <a:rPr lang="fr-CA" b="0" i="1">
                        <a:latin typeface="Cambria Math" panose="02040503050406030204" pitchFamily="18" charset="0"/>
                      </a:rPr>
                      <m:t> </m:t>
                    </m:r>
                    <m:r>
                      <a:rPr lang="fr-CA" b="0" i="1">
                        <a:latin typeface="Cambria Math" panose="02040503050406030204" pitchFamily="18" charset="0"/>
                      </a:rPr>
                      <m:t>𝑛</m:t>
                    </m:r>
                    <m:r>
                      <a:rPr lang="fr-CA" b="0" i="1">
                        <a:latin typeface="Cambria Math" panose="02040503050406030204" pitchFamily="18" charset="0"/>
                      </a:rPr>
                      <m:t>é</m:t>
                    </m:r>
                    <m:r>
                      <a:rPr lang="fr-CA" b="0" i="1">
                        <a:latin typeface="Cambria Math" panose="02040503050406030204" pitchFamily="18" charset="0"/>
                      </a:rPr>
                      <m:t>𝑔𝑎𝑡𝑖𝑓</m:t>
                    </m:r>
                    <m:r>
                      <a:rPr lang="fr-CA" b="0" i="1">
                        <a:latin typeface="Cambria Math" panose="02040503050406030204" pitchFamily="18" charset="0"/>
                      </a:rPr>
                      <m:t>   </m:t>
                    </m:r>
                    <m:sSup>
                      <m:sSupPr>
                        <m:ctrlPr>
                          <a:rPr lang="fr-CA" b="0" i="1">
                            <a:latin typeface="Cambria Math" panose="02040503050406030204" pitchFamily="18" charset="0"/>
                          </a:rPr>
                        </m:ctrlPr>
                      </m:sSupPr>
                      <m:e>
                        <m:r>
                          <a:rPr lang="fr-CA" b="0" i="1">
                            <a:latin typeface="Cambria Math" panose="02040503050406030204" pitchFamily="18" charset="0"/>
                          </a:rPr>
                          <m:t>𝑇</m:t>
                        </m:r>
                      </m:e>
                      <m:sup>
                        <m:r>
                          <a:rPr lang="fr-CA" b="0" i="1">
                            <a:latin typeface="Cambria Math" panose="02040503050406030204" pitchFamily="18" charset="0"/>
                          </a:rPr>
                          <m:t>−</m:t>
                        </m:r>
                      </m:sup>
                    </m:sSup>
                    <m:r>
                      <a:rPr lang="fr-CA" b="0" i="1">
                        <a:latin typeface="Cambria Math" panose="02040503050406030204" pitchFamily="18" charset="0"/>
                      </a:rPr>
                      <m:t>.</m:t>
                    </m:r>
                  </m:oMath>
                </a14:m>
                <a:r>
                  <a:rPr lang="fr-CA" b="0" dirty="0"/>
                  <a:t>  Un patient peut être malade (M) ou non malade (M’).</a:t>
                </a:r>
              </a:p>
              <a:p>
                <a:endParaRPr lang="fr-CA" dirty="0"/>
              </a:p>
              <a:p>
                <a:r>
                  <a:rPr lang="fr-CA" b="1" dirty="0"/>
                  <a:t>QUELQUES DÉFINITIONS:</a:t>
                </a:r>
              </a:p>
              <a:p>
                <a:endParaRPr lang="fr-CA" dirty="0"/>
              </a:p>
            </p:txBody>
          </p:sp>
        </mc:Choice>
        <mc:Fallback xmlns="">
          <p:sp>
            <p:nvSpPr>
              <p:cNvPr id="6" name="ZoneTexte 5">
                <a:extLst>
                  <a:ext uri="{FF2B5EF4-FFF2-40B4-BE49-F238E27FC236}">
                    <a16:creationId xmlns:a16="http://schemas.microsoft.com/office/drawing/2014/main" id="{08198DDB-890D-41A2-9EBB-B23114D16E68}"/>
                  </a:ext>
                </a:extLst>
              </p:cNvPr>
              <p:cNvSpPr txBox="1">
                <a:spLocks noRot="1" noChangeAspect="1" noMove="1" noResize="1" noEditPoints="1" noAdjustHandles="1" noChangeArrowheads="1" noChangeShapeType="1" noTextEdit="1"/>
              </p:cNvSpPr>
              <p:nvPr/>
            </p:nvSpPr>
            <p:spPr>
              <a:xfrm>
                <a:off x="979714" y="1828800"/>
                <a:ext cx="9784080" cy="1477328"/>
              </a:xfrm>
              <a:prstGeom prst="rect">
                <a:avLst/>
              </a:prstGeom>
              <a:blipFill>
                <a:blip r:embed="rId3"/>
                <a:stretch>
                  <a:fillRect l="-561" t="-2066" r="-623"/>
                </a:stretch>
              </a:blipFill>
            </p:spPr>
            <p:txBody>
              <a:bodyPr/>
              <a:lstStyle/>
              <a:p>
                <a:r>
                  <a:rPr lang="fr-CA">
                    <a:noFill/>
                  </a:rPr>
                  <a:t> </a:t>
                </a:r>
              </a:p>
            </p:txBody>
          </p:sp>
        </mc:Fallback>
      </mc:AlternateContent>
    </p:spTree>
    <p:extLst>
      <p:ext uri="{BB962C8B-B14F-4D97-AF65-F5344CB8AC3E}">
        <p14:creationId xmlns:p14="http://schemas.microsoft.com/office/powerpoint/2010/main" val="10820014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550BE34-C2B8-49B8-8519-67A8CAD51A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ectangle 12">
            <a:extLst>
              <a:ext uri="{FF2B5EF4-FFF2-40B4-BE49-F238E27FC236}">
                <a16:creationId xmlns:a16="http://schemas.microsoft.com/office/drawing/2014/main" id="{A7457DD9-5A45-400A-AB4B-4B4EDECA25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4416" y="365125"/>
            <a:ext cx="11167447" cy="2089317"/>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AC3FA093-23D1-4398-BA1A-E4E2C8B567CB}"/>
              </a:ext>
            </a:extLst>
          </p:cNvPr>
          <p:cNvSpPr>
            <a:spLocks noGrp="1"/>
          </p:cNvSpPr>
          <p:nvPr>
            <p:ph type="title"/>
          </p:nvPr>
        </p:nvSpPr>
        <p:spPr>
          <a:xfrm>
            <a:off x="1046746" y="586822"/>
            <a:ext cx="3560252" cy="1645920"/>
          </a:xfrm>
        </p:spPr>
        <p:txBody>
          <a:bodyPr vert="horz" lIns="91440" tIns="45720" rIns="91440" bIns="45720" rtlCol="0" anchor="ctr">
            <a:normAutofit/>
          </a:bodyPr>
          <a:lstStyle/>
          <a:p>
            <a:r>
              <a:rPr lang="fr-CA" sz="3200" b="1" kern="1200" dirty="0">
                <a:solidFill>
                  <a:schemeClr val="tx1"/>
                </a:solidFill>
                <a:latin typeface="+mj-lt"/>
                <a:ea typeface="+mj-ea"/>
                <a:cs typeface="+mj-cs"/>
              </a:rPr>
              <a:t>Exemple </a:t>
            </a:r>
          </a:p>
        </p:txBody>
      </p:sp>
      <p:sp>
        <p:nvSpPr>
          <p:cNvPr id="15" name="Rectangle 14">
            <a:extLst>
              <a:ext uri="{FF2B5EF4-FFF2-40B4-BE49-F238E27FC236}">
                <a16:creationId xmlns:a16="http://schemas.microsoft.com/office/drawing/2014/main" id="{441CF7D6-A660-431A-B0BB-140A0D5556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408" y="1057739"/>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panose="020F0502020204030204"/>
            </a:endParaRPr>
          </a:p>
        </p:txBody>
      </p:sp>
      <p:sp>
        <p:nvSpPr>
          <p:cNvPr id="17" name="Rectangle 16">
            <a:extLst>
              <a:ext uri="{FF2B5EF4-FFF2-40B4-BE49-F238E27FC236}">
                <a16:creationId xmlns:a16="http://schemas.microsoft.com/office/drawing/2014/main" id="{0570A85B-3810-4F95-97B0-CBF4CCDB38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243541" y="1400638"/>
            <a:ext cx="14630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5" name="ZoneTexte 4">
            <a:extLst>
              <a:ext uri="{FF2B5EF4-FFF2-40B4-BE49-F238E27FC236}">
                <a16:creationId xmlns:a16="http://schemas.microsoft.com/office/drawing/2014/main" id="{0B2B5253-7417-4868-9E7B-CE5504C10432}"/>
              </a:ext>
            </a:extLst>
          </p:cNvPr>
          <p:cNvSpPr txBox="1"/>
          <p:nvPr/>
        </p:nvSpPr>
        <p:spPr>
          <a:xfrm>
            <a:off x="5351164" y="586822"/>
            <a:ext cx="6002636" cy="1645920"/>
          </a:xfrm>
          <a:prstGeom prst="rect">
            <a:avLst/>
          </a:prstGeom>
        </p:spPr>
        <p:txBody>
          <a:bodyPr vert="horz" lIns="91440" tIns="45720" rIns="91440" bIns="45720" rtlCol="0" anchor="ctr">
            <a:normAutofit/>
          </a:bodyPr>
          <a:lstStyle/>
          <a:p>
            <a:pPr indent="-228600" defTabSz="914400">
              <a:lnSpc>
                <a:spcPct val="90000"/>
              </a:lnSpc>
              <a:spcAft>
                <a:spcPts val="600"/>
              </a:spcAft>
              <a:buFont typeface="Arial" panose="020B0604020202020204" pitchFamily="34" charset="0"/>
              <a:buChar char="•"/>
            </a:pPr>
            <a:r>
              <a:rPr lang="fr-CA" dirty="0"/>
              <a:t>Déterminer toutes les caractéristiques précédentes pour cet exemple.</a:t>
            </a:r>
            <a:endParaRPr lang="fr-CA" b="0" dirty="0"/>
          </a:p>
          <a:p>
            <a:pPr indent="-228600" defTabSz="914400">
              <a:lnSpc>
                <a:spcPct val="90000"/>
              </a:lnSpc>
              <a:spcAft>
                <a:spcPts val="600"/>
              </a:spcAft>
              <a:buFont typeface="Arial" panose="020B0604020202020204" pitchFamily="34" charset="0"/>
              <a:buChar char="•"/>
            </a:pPr>
            <a:endParaRPr lang="en-US" dirty="0"/>
          </a:p>
        </p:txBody>
      </p:sp>
      <p:sp>
        <p:nvSpPr>
          <p:cNvPr id="3" name="Espace réservé du pied de page 2">
            <a:extLst>
              <a:ext uri="{FF2B5EF4-FFF2-40B4-BE49-F238E27FC236}">
                <a16:creationId xmlns:a16="http://schemas.microsoft.com/office/drawing/2014/main" id="{9E094354-D367-467F-8F32-AEB13156F5BB}"/>
              </a:ext>
            </a:extLst>
          </p:cNvPr>
          <p:cNvSpPr>
            <a:spLocks noGrp="1"/>
          </p:cNvSpPr>
          <p:nvPr>
            <p:ph type="ftr" sz="quarter" idx="11"/>
          </p:nvPr>
        </p:nvSpPr>
        <p:spPr>
          <a:xfrm>
            <a:off x="4038600" y="6356350"/>
            <a:ext cx="4114800" cy="365125"/>
          </a:xfrm>
        </p:spPr>
        <p:txBody>
          <a:bodyPr vert="horz" lIns="91440" tIns="45720" rIns="91440" bIns="45720" rtlCol="0" anchor="ctr">
            <a:normAutofit/>
          </a:bodyPr>
          <a:lstStyle/>
          <a:p>
            <a:pPr defTabSz="914400"/>
            <a:endParaRPr lang="en-US" kern="1200">
              <a:solidFill>
                <a:schemeClr val="tx1">
                  <a:lumMod val="50000"/>
                  <a:lumOff val="50000"/>
                </a:schemeClr>
              </a:solidFill>
              <a:latin typeface="+mn-lt"/>
              <a:ea typeface="+mn-ea"/>
              <a:cs typeface="+mn-cs"/>
            </a:endParaRPr>
          </a:p>
        </p:txBody>
      </p:sp>
      <p:sp>
        <p:nvSpPr>
          <p:cNvPr id="4" name="Espace réservé du numéro de diapositive 3">
            <a:extLst>
              <a:ext uri="{FF2B5EF4-FFF2-40B4-BE49-F238E27FC236}">
                <a16:creationId xmlns:a16="http://schemas.microsoft.com/office/drawing/2014/main" id="{74EDEEB0-8F93-4B71-BE1F-6DC3C8B07B88}"/>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defTabSz="914400">
              <a:spcAft>
                <a:spcPts val="600"/>
              </a:spcAft>
            </a:pPr>
            <a:fld id="{26377AD9-CE17-438C-A638-C64D2D42D7CF}" type="slidenum">
              <a:rPr lang="en-US">
                <a:solidFill>
                  <a:schemeClr val="tx1">
                    <a:lumMod val="50000"/>
                    <a:lumOff val="50000"/>
                  </a:schemeClr>
                </a:solidFill>
              </a:rPr>
              <a:pPr defTabSz="914400">
                <a:spcAft>
                  <a:spcPts val="600"/>
                </a:spcAft>
              </a:pPr>
              <a:t>14</a:t>
            </a:fld>
            <a:endParaRPr lang="en-US">
              <a:solidFill>
                <a:schemeClr val="tx1">
                  <a:lumMod val="50000"/>
                  <a:lumOff val="50000"/>
                </a:schemeClr>
              </a:solidFill>
            </a:endParaRPr>
          </a:p>
        </p:txBody>
      </p:sp>
      <p:graphicFrame>
        <p:nvGraphicFramePr>
          <p:cNvPr id="6" name="Tableau 5">
            <a:extLst>
              <a:ext uri="{FF2B5EF4-FFF2-40B4-BE49-F238E27FC236}">
                <a16:creationId xmlns:a16="http://schemas.microsoft.com/office/drawing/2014/main" id="{0A1D93C6-16F5-41A1-99CE-39E0B3B58E37}"/>
              </a:ext>
            </a:extLst>
          </p:cNvPr>
          <p:cNvGraphicFramePr>
            <a:graphicFrameLocks noGrp="1"/>
          </p:cNvGraphicFramePr>
          <p:nvPr>
            <p:extLst>
              <p:ext uri="{D42A27DB-BD31-4B8C-83A1-F6EECF244321}">
                <p14:modId xmlns:p14="http://schemas.microsoft.com/office/powerpoint/2010/main" val="2686695365"/>
              </p:ext>
            </p:extLst>
          </p:nvPr>
        </p:nvGraphicFramePr>
        <p:xfrm>
          <a:off x="956459" y="2734056"/>
          <a:ext cx="10367476" cy="3483866"/>
        </p:xfrm>
        <a:graphic>
          <a:graphicData uri="http://schemas.openxmlformats.org/drawingml/2006/table">
            <a:tbl>
              <a:tblPr firstRow="1" bandRow="1">
                <a:tableStyleId>{5C22544A-7EE6-4342-B048-85BDC9FD1C3A}</a:tableStyleId>
              </a:tblPr>
              <a:tblGrid>
                <a:gridCol w="2165711">
                  <a:extLst>
                    <a:ext uri="{9D8B030D-6E8A-4147-A177-3AD203B41FA5}">
                      <a16:colId xmlns:a16="http://schemas.microsoft.com/office/drawing/2014/main" val="755554637"/>
                    </a:ext>
                  </a:extLst>
                </a:gridCol>
                <a:gridCol w="3414773">
                  <a:extLst>
                    <a:ext uri="{9D8B030D-6E8A-4147-A177-3AD203B41FA5}">
                      <a16:colId xmlns:a16="http://schemas.microsoft.com/office/drawing/2014/main" val="446570124"/>
                    </a:ext>
                  </a:extLst>
                </a:gridCol>
                <a:gridCol w="3925412">
                  <a:extLst>
                    <a:ext uri="{9D8B030D-6E8A-4147-A177-3AD203B41FA5}">
                      <a16:colId xmlns:a16="http://schemas.microsoft.com/office/drawing/2014/main" val="2099941263"/>
                    </a:ext>
                  </a:extLst>
                </a:gridCol>
                <a:gridCol w="861580">
                  <a:extLst>
                    <a:ext uri="{9D8B030D-6E8A-4147-A177-3AD203B41FA5}">
                      <a16:colId xmlns:a16="http://schemas.microsoft.com/office/drawing/2014/main" val="39789046"/>
                    </a:ext>
                  </a:extLst>
                </a:gridCol>
              </a:tblGrid>
              <a:tr h="638300">
                <a:tc gridSpan="4">
                  <a:txBody>
                    <a:bodyPr/>
                    <a:lstStyle/>
                    <a:p>
                      <a:pPr algn="ctr">
                        <a:lnSpc>
                          <a:spcPct val="150000"/>
                        </a:lnSpc>
                        <a:spcAft>
                          <a:spcPts val="1000"/>
                        </a:spcAft>
                      </a:pPr>
                      <a:r>
                        <a:rPr lang="fr-FR" sz="1900">
                          <a:effectLst/>
                        </a:rPr>
                        <a:t>Distribution des 1000 personnes selon les résultats à un test clinique</a:t>
                      </a:r>
                      <a:endParaRPr lang="fr-CA" sz="1600" b="1">
                        <a:solidFill>
                          <a:srgbClr val="FFFFF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80100" marR="80100" marT="100125" marB="100125" anchor="ctr"/>
                </a:tc>
                <a:tc hMerge="1">
                  <a:txBody>
                    <a:bodyPr/>
                    <a:lstStyle/>
                    <a:p>
                      <a:endParaRPr lang="fr-CA"/>
                    </a:p>
                  </a:txBody>
                  <a:tcPr/>
                </a:tc>
                <a:tc hMerge="1">
                  <a:txBody>
                    <a:bodyPr/>
                    <a:lstStyle/>
                    <a:p>
                      <a:endParaRPr lang="fr-CA"/>
                    </a:p>
                  </a:txBody>
                  <a:tcPr/>
                </a:tc>
                <a:tc hMerge="1">
                  <a:txBody>
                    <a:bodyPr/>
                    <a:lstStyle/>
                    <a:p>
                      <a:endParaRPr lang="fr-CA"/>
                    </a:p>
                  </a:txBody>
                  <a:tcPr/>
                </a:tc>
                <a:extLst>
                  <a:ext uri="{0D108BD9-81ED-4DB2-BD59-A6C34878D82A}">
                    <a16:rowId xmlns:a16="http://schemas.microsoft.com/office/drawing/2014/main" val="2388702548"/>
                  </a:ext>
                </a:extLst>
              </a:tr>
              <a:tr h="1030791">
                <a:tc>
                  <a:txBody>
                    <a:bodyPr/>
                    <a:lstStyle/>
                    <a:p>
                      <a:pPr algn="ctr">
                        <a:lnSpc>
                          <a:spcPct val="150000"/>
                        </a:lnSpc>
                        <a:spcAft>
                          <a:spcPts val="1000"/>
                        </a:spcAft>
                      </a:pPr>
                      <a:r>
                        <a:rPr lang="fr-FR" sz="1900">
                          <a:effectLst/>
                        </a:rPr>
                        <a:t>Résultat</a:t>
                      </a:r>
                      <a:endParaRPr lang="fr-CA" sz="16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80100" marR="80100" marT="80100" marB="80100" anchor="ctr"/>
                </a:tc>
                <a:tc>
                  <a:txBody>
                    <a:bodyPr/>
                    <a:lstStyle/>
                    <a:p>
                      <a:pPr algn="ctr">
                        <a:lnSpc>
                          <a:spcPct val="150000"/>
                        </a:lnSpc>
                        <a:spcAft>
                          <a:spcPts val="1000"/>
                        </a:spcAft>
                      </a:pPr>
                      <a:r>
                        <a:rPr lang="fr-FR" sz="1900">
                          <a:effectLst/>
                        </a:rPr>
                        <a:t>M : personnes atteintes de la maladie</a:t>
                      </a:r>
                      <a:endParaRPr lang="fr-CA" sz="16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80100" marR="80100" marT="80100" marB="80100" anchor="ctr"/>
                </a:tc>
                <a:tc>
                  <a:txBody>
                    <a:bodyPr/>
                    <a:lstStyle/>
                    <a:p>
                      <a:pPr algn="ctr">
                        <a:lnSpc>
                          <a:spcPct val="150000"/>
                        </a:lnSpc>
                        <a:spcAft>
                          <a:spcPts val="1000"/>
                        </a:spcAft>
                      </a:pPr>
                      <a:r>
                        <a:rPr lang="fr-FR" sz="1900">
                          <a:effectLst/>
                        </a:rPr>
                        <a:t>M′ : personnes non atteintes de la maladie</a:t>
                      </a:r>
                      <a:endParaRPr lang="fr-CA" sz="16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80100" marR="80100" marT="80100" marB="80100" anchor="ctr"/>
                </a:tc>
                <a:tc>
                  <a:txBody>
                    <a:bodyPr/>
                    <a:lstStyle/>
                    <a:p>
                      <a:pPr algn="ctr">
                        <a:lnSpc>
                          <a:spcPct val="150000"/>
                        </a:lnSpc>
                        <a:spcAft>
                          <a:spcPts val="1000"/>
                        </a:spcAft>
                      </a:pPr>
                      <a:r>
                        <a:rPr lang="fr-FR" sz="1900">
                          <a:effectLst/>
                        </a:rPr>
                        <a:t>Total</a:t>
                      </a:r>
                      <a:endParaRPr lang="fr-CA" sz="16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80100" marR="80100" marT="80100" marB="80100" anchor="ctr"/>
                </a:tc>
                <a:extLst>
                  <a:ext uri="{0D108BD9-81ED-4DB2-BD59-A6C34878D82A}">
                    <a16:rowId xmlns:a16="http://schemas.microsoft.com/office/drawing/2014/main" val="1086088920"/>
                  </a:ext>
                </a:extLst>
              </a:tr>
              <a:tr h="598250">
                <a:tc>
                  <a:txBody>
                    <a:bodyPr/>
                    <a:lstStyle/>
                    <a:p>
                      <a:pPr algn="ctr">
                        <a:lnSpc>
                          <a:spcPct val="150000"/>
                        </a:lnSpc>
                      </a:pPr>
                      <a:r>
                        <a:rPr lang="fr-FR" sz="1900">
                          <a:effectLst/>
                        </a:rPr>
                        <a:t>Test positif (T +)</a:t>
                      </a:r>
                      <a:endParaRPr lang="fr-CA" sz="16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80100" marR="80100" marT="80100" marB="80100" anchor="ctr"/>
                </a:tc>
                <a:tc>
                  <a:txBody>
                    <a:bodyPr/>
                    <a:lstStyle/>
                    <a:p>
                      <a:pPr algn="ctr">
                        <a:lnSpc>
                          <a:spcPct val="150000"/>
                        </a:lnSpc>
                      </a:pPr>
                      <a:r>
                        <a:rPr lang="fr-FR" sz="1900">
                          <a:effectLst/>
                        </a:rPr>
                        <a:t>395</a:t>
                      </a:r>
                      <a:endParaRPr lang="fr-CA" sz="16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80100" marR="80100" marT="80100" marB="80100" anchor="ctr"/>
                </a:tc>
                <a:tc>
                  <a:txBody>
                    <a:bodyPr/>
                    <a:lstStyle/>
                    <a:p>
                      <a:pPr algn="ctr">
                        <a:lnSpc>
                          <a:spcPct val="150000"/>
                        </a:lnSpc>
                      </a:pPr>
                      <a:r>
                        <a:rPr lang="fr-FR" sz="1900">
                          <a:effectLst/>
                        </a:rPr>
                        <a:t>34</a:t>
                      </a:r>
                      <a:endParaRPr lang="fr-CA" sz="16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80100" marR="80100" marT="80100" marB="80100" anchor="ctr"/>
                </a:tc>
                <a:tc>
                  <a:txBody>
                    <a:bodyPr/>
                    <a:lstStyle/>
                    <a:p>
                      <a:pPr algn="ctr">
                        <a:lnSpc>
                          <a:spcPct val="150000"/>
                        </a:lnSpc>
                      </a:pPr>
                      <a:r>
                        <a:rPr lang="fr-FR" sz="1900">
                          <a:effectLst/>
                        </a:rPr>
                        <a:t>429</a:t>
                      </a:r>
                      <a:endParaRPr lang="fr-CA" sz="16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80100" marR="80100" marT="80100" marB="80100" anchor="ctr"/>
                </a:tc>
                <a:extLst>
                  <a:ext uri="{0D108BD9-81ED-4DB2-BD59-A6C34878D82A}">
                    <a16:rowId xmlns:a16="http://schemas.microsoft.com/office/drawing/2014/main" val="792579968"/>
                  </a:ext>
                </a:extLst>
              </a:tr>
              <a:tr h="598250">
                <a:tc>
                  <a:txBody>
                    <a:bodyPr/>
                    <a:lstStyle/>
                    <a:p>
                      <a:pPr algn="ctr">
                        <a:lnSpc>
                          <a:spcPct val="150000"/>
                        </a:lnSpc>
                      </a:pPr>
                      <a:r>
                        <a:rPr lang="fr-FR" sz="1900">
                          <a:effectLst/>
                        </a:rPr>
                        <a:t>Test négatif (T −)</a:t>
                      </a:r>
                      <a:endParaRPr lang="fr-CA" sz="16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80100" marR="80100" marT="80100" marB="80100" anchor="ctr"/>
                </a:tc>
                <a:tc>
                  <a:txBody>
                    <a:bodyPr/>
                    <a:lstStyle/>
                    <a:p>
                      <a:pPr algn="ctr">
                        <a:lnSpc>
                          <a:spcPct val="150000"/>
                        </a:lnSpc>
                      </a:pPr>
                      <a:r>
                        <a:rPr lang="fr-FR" sz="1900">
                          <a:effectLst/>
                        </a:rPr>
                        <a:t>55</a:t>
                      </a:r>
                      <a:endParaRPr lang="fr-CA" sz="16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80100" marR="80100" marT="80100" marB="80100" anchor="ctr"/>
                </a:tc>
                <a:tc>
                  <a:txBody>
                    <a:bodyPr/>
                    <a:lstStyle/>
                    <a:p>
                      <a:pPr algn="ctr">
                        <a:lnSpc>
                          <a:spcPct val="150000"/>
                        </a:lnSpc>
                      </a:pPr>
                      <a:r>
                        <a:rPr lang="fr-FR" sz="1900">
                          <a:effectLst/>
                        </a:rPr>
                        <a:t>516</a:t>
                      </a:r>
                      <a:endParaRPr lang="fr-CA" sz="16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80100" marR="80100" marT="80100" marB="80100" anchor="ctr"/>
                </a:tc>
                <a:tc>
                  <a:txBody>
                    <a:bodyPr/>
                    <a:lstStyle/>
                    <a:p>
                      <a:pPr algn="ctr">
                        <a:lnSpc>
                          <a:spcPct val="150000"/>
                        </a:lnSpc>
                      </a:pPr>
                      <a:r>
                        <a:rPr lang="fr-FR" sz="1900">
                          <a:effectLst/>
                        </a:rPr>
                        <a:t>571</a:t>
                      </a:r>
                      <a:endParaRPr lang="fr-CA" sz="16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80100" marR="80100" marT="80100" marB="80100" anchor="ctr"/>
                </a:tc>
                <a:extLst>
                  <a:ext uri="{0D108BD9-81ED-4DB2-BD59-A6C34878D82A}">
                    <a16:rowId xmlns:a16="http://schemas.microsoft.com/office/drawing/2014/main" val="2848097668"/>
                  </a:ext>
                </a:extLst>
              </a:tr>
              <a:tr h="618275">
                <a:tc>
                  <a:txBody>
                    <a:bodyPr/>
                    <a:lstStyle/>
                    <a:p>
                      <a:pPr algn="ctr">
                        <a:lnSpc>
                          <a:spcPct val="150000"/>
                        </a:lnSpc>
                      </a:pPr>
                      <a:r>
                        <a:rPr lang="fr-FR" sz="1900">
                          <a:effectLst/>
                        </a:rPr>
                        <a:t>Total</a:t>
                      </a:r>
                      <a:endParaRPr lang="fr-CA" sz="16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80100" marR="80100" marT="80100" marB="100125" anchor="ctr"/>
                </a:tc>
                <a:tc>
                  <a:txBody>
                    <a:bodyPr/>
                    <a:lstStyle/>
                    <a:p>
                      <a:pPr algn="ctr">
                        <a:lnSpc>
                          <a:spcPct val="150000"/>
                        </a:lnSpc>
                      </a:pPr>
                      <a:r>
                        <a:rPr lang="fr-FR" sz="1900">
                          <a:effectLst/>
                        </a:rPr>
                        <a:t>450</a:t>
                      </a:r>
                      <a:endParaRPr lang="fr-CA" sz="16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80100" marR="80100" marT="80100" marB="100125" anchor="ctr"/>
                </a:tc>
                <a:tc>
                  <a:txBody>
                    <a:bodyPr/>
                    <a:lstStyle/>
                    <a:p>
                      <a:pPr algn="ctr">
                        <a:lnSpc>
                          <a:spcPct val="150000"/>
                        </a:lnSpc>
                      </a:pPr>
                      <a:r>
                        <a:rPr lang="fr-FR" sz="1900">
                          <a:effectLst/>
                        </a:rPr>
                        <a:t>550</a:t>
                      </a:r>
                      <a:endParaRPr lang="fr-CA" sz="16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80100" marR="80100" marT="80100" marB="100125" anchor="ctr"/>
                </a:tc>
                <a:tc>
                  <a:txBody>
                    <a:bodyPr/>
                    <a:lstStyle/>
                    <a:p>
                      <a:pPr algn="ctr">
                        <a:lnSpc>
                          <a:spcPct val="150000"/>
                        </a:lnSpc>
                      </a:pPr>
                      <a:r>
                        <a:rPr lang="fr-FR" sz="1900">
                          <a:effectLst/>
                        </a:rPr>
                        <a:t>1000</a:t>
                      </a:r>
                      <a:endParaRPr lang="fr-CA" sz="16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80100" marR="80100" marT="80100" marB="100125" anchor="ctr"/>
                </a:tc>
                <a:extLst>
                  <a:ext uri="{0D108BD9-81ED-4DB2-BD59-A6C34878D82A}">
                    <a16:rowId xmlns:a16="http://schemas.microsoft.com/office/drawing/2014/main" val="1714003627"/>
                  </a:ext>
                </a:extLst>
              </a:tr>
            </a:tbl>
          </a:graphicData>
        </a:graphic>
      </p:graphicFrame>
    </p:spTree>
    <p:extLst>
      <p:ext uri="{BB962C8B-B14F-4D97-AF65-F5344CB8AC3E}">
        <p14:creationId xmlns:p14="http://schemas.microsoft.com/office/powerpoint/2010/main" val="27254341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1">
            <a:extLst>
              <a:ext uri="{FF2B5EF4-FFF2-40B4-BE49-F238E27FC236}">
                <a16:creationId xmlns:a16="http://schemas.microsoft.com/office/drawing/2014/main" id="{CCDDD270-45CD-4BE9-9241-307E80F98C64}"/>
              </a:ext>
            </a:extLst>
          </p:cNvPr>
          <p:cNvSpPr>
            <a:spLocks noGrp="1"/>
          </p:cNvSpPr>
          <p:nvPr>
            <p:ph type="ftr" sz="quarter" idx="11"/>
          </p:nvPr>
        </p:nvSpPr>
        <p:spPr/>
        <p:txBody>
          <a:bodyPr/>
          <a:lstStyle/>
          <a:p>
            <a:endParaRPr lang="fr-CA"/>
          </a:p>
        </p:txBody>
      </p:sp>
      <p:sp>
        <p:nvSpPr>
          <p:cNvPr id="3" name="Espace réservé du numéro de diapositive 2">
            <a:extLst>
              <a:ext uri="{FF2B5EF4-FFF2-40B4-BE49-F238E27FC236}">
                <a16:creationId xmlns:a16="http://schemas.microsoft.com/office/drawing/2014/main" id="{32BF7478-C7EC-4609-ACF1-B6D8B55876D8}"/>
              </a:ext>
            </a:extLst>
          </p:cNvPr>
          <p:cNvSpPr>
            <a:spLocks noGrp="1"/>
          </p:cNvSpPr>
          <p:nvPr>
            <p:ph type="sldNum" sz="quarter" idx="12"/>
          </p:nvPr>
        </p:nvSpPr>
        <p:spPr/>
        <p:txBody>
          <a:bodyPr/>
          <a:lstStyle/>
          <a:p>
            <a:fld id="{26377AD9-CE17-438C-A638-C64D2D42D7CF}" type="slidenum">
              <a:rPr lang="fr-CA" smtClean="0"/>
              <a:t>15</a:t>
            </a:fld>
            <a:endParaRPr lang="fr-CA"/>
          </a:p>
        </p:txBody>
      </p:sp>
      <mc:AlternateContent xmlns:mc="http://schemas.openxmlformats.org/markup-compatibility/2006" xmlns:a14="http://schemas.microsoft.com/office/drawing/2010/main">
        <mc:Choice Requires="a14">
          <p:sp>
            <p:nvSpPr>
              <p:cNvPr id="4" name="ZoneTexte 3">
                <a:extLst>
                  <a:ext uri="{FF2B5EF4-FFF2-40B4-BE49-F238E27FC236}">
                    <a16:creationId xmlns:a16="http://schemas.microsoft.com/office/drawing/2014/main" id="{9185EE32-DA7A-4EC7-957C-BA1AC36C6484}"/>
                  </a:ext>
                </a:extLst>
              </p:cNvPr>
              <p:cNvSpPr txBox="1"/>
              <p:nvPr/>
            </p:nvSpPr>
            <p:spPr>
              <a:xfrm>
                <a:off x="1084217" y="953589"/>
                <a:ext cx="9771017" cy="4656275"/>
              </a:xfrm>
              <a:prstGeom prst="rect">
                <a:avLst/>
              </a:prstGeom>
              <a:noFill/>
            </p:spPr>
            <p:txBody>
              <a:bodyPr wrap="square" rtlCol="0">
                <a:spAutoFit/>
              </a:bodyPr>
              <a:lstStyle/>
              <a:p>
                <a:pPr marL="342900" indent="-342900">
                  <a:buFont typeface="+mj-lt"/>
                  <a:buAutoNum type="arabicPeriod"/>
                </a:pPr>
                <a:r>
                  <a:rPr lang="fr-CA" sz="2800" dirty="0"/>
                  <a:t>sensibilité d’un test </a:t>
                </a:r>
                <a14:m>
                  <m:oMath xmlns:m="http://schemas.openxmlformats.org/officeDocument/2006/math">
                    <m:r>
                      <a:rPr lang="fr-CA" sz="2800" b="0" i="1" smtClean="0">
                        <a:latin typeface="Cambria Math" panose="02040503050406030204" pitchFamily="18" charset="0"/>
                      </a:rPr>
                      <m:t>𝑃</m:t>
                    </m:r>
                    <m:d>
                      <m:dPr>
                        <m:ctrlPr>
                          <a:rPr lang="fr-CA" sz="2800" b="0" i="1" smtClean="0">
                            <a:latin typeface="Cambria Math" panose="02040503050406030204" pitchFamily="18" charset="0"/>
                          </a:rPr>
                        </m:ctrlPr>
                      </m:dPr>
                      <m:e>
                        <m:r>
                          <a:rPr lang="fr-CA" sz="2800" b="0" i="1" smtClean="0">
                            <a:latin typeface="Cambria Math" panose="02040503050406030204" pitchFamily="18" charset="0"/>
                          </a:rPr>
                          <m:t>𝑇</m:t>
                        </m:r>
                        <m:r>
                          <a:rPr lang="fr-CA" sz="2800" b="0" i="1" smtClean="0">
                            <a:latin typeface="Cambria Math" panose="02040503050406030204" pitchFamily="18" charset="0"/>
                          </a:rPr>
                          <m:t>+</m:t>
                        </m:r>
                      </m:e>
                      <m:e>
                        <m:r>
                          <a:rPr lang="fr-CA" sz="2800" b="0" i="1" smtClean="0">
                            <a:latin typeface="Cambria Math" panose="02040503050406030204" pitchFamily="18" charset="0"/>
                          </a:rPr>
                          <m:t>𝑀</m:t>
                        </m:r>
                      </m:e>
                    </m:d>
                    <m:r>
                      <a:rPr lang="fr-CA" sz="2800" b="0" i="0" smtClean="0">
                        <a:latin typeface="Cambria Math" panose="02040503050406030204" pitchFamily="18" charset="0"/>
                      </a:rPr>
                      <m:t>=</m:t>
                    </m:r>
                    <m:f>
                      <m:fPr>
                        <m:ctrlPr>
                          <a:rPr lang="fr-CA" sz="2800" b="0" i="1" smtClean="0">
                            <a:latin typeface="Cambria Math" panose="02040503050406030204" pitchFamily="18" charset="0"/>
                          </a:rPr>
                        </m:ctrlPr>
                      </m:fPr>
                      <m:num>
                        <m:r>
                          <a:rPr lang="fr-CA" sz="2800" b="0" i="1" smtClean="0">
                            <a:latin typeface="Cambria Math" panose="02040503050406030204" pitchFamily="18" charset="0"/>
                          </a:rPr>
                          <m:t>395</m:t>
                        </m:r>
                      </m:num>
                      <m:den>
                        <m:r>
                          <a:rPr lang="fr-CA" sz="2800" b="0" i="1" smtClean="0">
                            <a:latin typeface="Cambria Math" panose="02040503050406030204" pitchFamily="18" charset="0"/>
                          </a:rPr>
                          <m:t>450</m:t>
                        </m:r>
                      </m:den>
                    </m:f>
                    <m:r>
                      <a:rPr lang="fr-CA" sz="2800" b="0" i="1" smtClean="0">
                        <a:latin typeface="Cambria Math" panose="02040503050406030204" pitchFamily="18" charset="0"/>
                      </a:rPr>
                      <m:t>=0,8778</m:t>
                    </m:r>
                  </m:oMath>
                </a14:m>
                <a:endParaRPr lang="fr-CA" sz="2800" dirty="0"/>
              </a:p>
              <a:p>
                <a:pPr marL="342900" indent="-342900">
                  <a:buFont typeface="+mj-lt"/>
                  <a:buAutoNum type="arabicPeriod"/>
                </a:pPr>
                <a:r>
                  <a:rPr lang="fr-CA" sz="2800" dirty="0"/>
                  <a:t>Taux de fausse positivité </a:t>
                </a:r>
                <a14:m>
                  <m:oMath xmlns:m="http://schemas.openxmlformats.org/officeDocument/2006/math">
                    <m:r>
                      <a:rPr lang="fr-CA" sz="2800" b="0" i="1" smtClean="0">
                        <a:latin typeface="Cambria Math" panose="02040503050406030204" pitchFamily="18" charset="0"/>
                      </a:rPr>
                      <m:t>𝑃</m:t>
                    </m:r>
                    <m:d>
                      <m:dPr>
                        <m:ctrlPr>
                          <a:rPr lang="fr-CA" sz="2800" b="0" i="1" smtClean="0">
                            <a:latin typeface="Cambria Math" panose="02040503050406030204" pitchFamily="18" charset="0"/>
                          </a:rPr>
                        </m:ctrlPr>
                      </m:dPr>
                      <m:e>
                        <m:r>
                          <a:rPr lang="fr-CA" sz="2800" b="0" i="1" smtClean="0">
                            <a:latin typeface="Cambria Math" panose="02040503050406030204" pitchFamily="18" charset="0"/>
                          </a:rPr>
                          <m:t>𝑇</m:t>
                        </m:r>
                        <m:r>
                          <a:rPr lang="fr-CA" sz="2800" b="0" i="1" smtClean="0">
                            <a:latin typeface="Cambria Math" panose="02040503050406030204" pitchFamily="18" charset="0"/>
                          </a:rPr>
                          <m:t>+</m:t>
                        </m:r>
                      </m:e>
                      <m:e>
                        <m:sSup>
                          <m:sSupPr>
                            <m:ctrlPr>
                              <a:rPr lang="fr-CA" sz="2800" b="0" i="1" smtClean="0">
                                <a:latin typeface="Cambria Math" panose="02040503050406030204" pitchFamily="18" charset="0"/>
                              </a:rPr>
                            </m:ctrlPr>
                          </m:sSupPr>
                          <m:e>
                            <m:r>
                              <a:rPr lang="fr-CA" sz="2800" b="0" i="1" smtClean="0">
                                <a:latin typeface="Cambria Math" panose="02040503050406030204" pitchFamily="18" charset="0"/>
                              </a:rPr>
                              <m:t>𝑀</m:t>
                            </m:r>
                          </m:e>
                          <m:sup>
                            <m:r>
                              <a:rPr lang="fr-CA" sz="2800" b="0" i="1" smtClean="0">
                                <a:latin typeface="Cambria Math" panose="02040503050406030204" pitchFamily="18" charset="0"/>
                              </a:rPr>
                              <m:t>′</m:t>
                            </m:r>
                          </m:sup>
                        </m:sSup>
                      </m:e>
                    </m:d>
                    <m:r>
                      <a:rPr lang="fr-CA" sz="2800" b="0" i="1" smtClean="0">
                        <a:latin typeface="Cambria Math" panose="02040503050406030204" pitchFamily="18" charset="0"/>
                      </a:rPr>
                      <m:t>=</m:t>
                    </m:r>
                    <m:f>
                      <m:fPr>
                        <m:ctrlPr>
                          <a:rPr lang="fr-CA" sz="2800" b="0" i="1" smtClean="0">
                            <a:latin typeface="Cambria Math" panose="02040503050406030204" pitchFamily="18" charset="0"/>
                          </a:rPr>
                        </m:ctrlPr>
                      </m:fPr>
                      <m:num>
                        <m:r>
                          <a:rPr lang="fr-CA" sz="2800" b="0" i="1" smtClean="0">
                            <a:latin typeface="Cambria Math" panose="02040503050406030204" pitchFamily="18" charset="0"/>
                          </a:rPr>
                          <m:t>34</m:t>
                        </m:r>
                      </m:num>
                      <m:den>
                        <m:r>
                          <a:rPr lang="fr-CA" sz="2800" b="0" i="1" smtClean="0">
                            <a:latin typeface="Cambria Math" panose="02040503050406030204" pitchFamily="18" charset="0"/>
                          </a:rPr>
                          <m:t>550</m:t>
                        </m:r>
                      </m:den>
                    </m:f>
                    <m:r>
                      <a:rPr lang="fr-CA" sz="2800" b="0" i="1" smtClean="0">
                        <a:latin typeface="Cambria Math" panose="02040503050406030204" pitchFamily="18" charset="0"/>
                      </a:rPr>
                      <m:t>=0,0618</m:t>
                    </m:r>
                  </m:oMath>
                </a14:m>
                <a:endParaRPr lang="fr-CA" sz="2800" dirty="0"/>
              </a:p>
              <a:p>
                <a:pPr marL="342900" indent="-342900">
                  <a:buFont typeface="+mj-lt"/>
                  <a:buAutoNum type="arabicPeriod"/>
                </a:pPr>
                <a:r>
                  <a:rPr lang="fr-CA" sz="2800" dirty="0"/>
                  <a:t>Taux de fausse négativité </a:t>
                </a:r>
                <a14:m>
                  <m:oMath xmlns:m="http://schemas.openxmlformats.org/officeDocument/2006/math">
                    <m:r>
                      <a:rPr lang="fr-CA" sz="2800" b="0" i="1" smtClean="0">
                        <a:latin typeface="Cambria Math" panose="02040503050406030204" pitchFamily="18" charset="0"/>
                      </a:rPr>
                      <m:t>𝑃</m:t>
                    </m:r>
                    <m:d>
                      <m:dPr>
                        <m:ctrlPr>
                          <a:rPr lang="fr-CA" sz="2800" b="0" i="1" smtClean="0">
                            <a:latin typeface="Cambria Math" panose="02040503050406030204" pitchFamily="18" charset="0"/>
                          </a:rPr>
                        </m:ctrlPr>
                      </m:dPr>
                      <m:e>
                        <m:r>
                          <a:rPr lang="fr-CA" sz="2800" b="0" i="1" smtClean="0">
                            <a:latin typeface="Cambria Math" panose="02040503050406030204" pitchFamily="18" charset="0"/>
                          </a:rPr>
                          <m:t>𝑇</m:t>
                        </m:r>
                        <m:r>
                          <a:rPr lang="fr-CA" sz="2800" b="0" i="1" smtClean="0">
                            <a:latin typeface="Cambria Math" panose="02040503050406030204" pitchFamily="18" charset="0"/>
                          </a:rPr>
                          <m:t>−</m:t>
                        </m:r>
                      </m:e>
                      <m:e>
                        <m:r>
                          <a:rPr lang="fr-CA" sz="2800" b="0" i="1" smtClean="0">
                            <a:latin typeface="Cambria Math" panose="02040503050406030204" pitchFamily="18" charset="0"/>
                          </a:rPr>
                          <m:t>𝑀</m:t>
                        </m:r>
                      </m:e>
                    </m:d>
                    <m:r>
                      <a:rPr lang="fr-CA" sz="2800" b="0" i="1" smtClean="0">
                        <a:latin typeface="Cambria Math" panose="02040503050406030204" pitchFamily="18" charset="0"/>
                      </a:rPr>
                      <m:t>=</m:t>
                    </m:r>
                    <m:f>
                      <m:fPr>
                        <m:ctrlPr>
                          <a:rPr lang="fr-CA" sz="2800" b="0" i="1" smtClean="0">
                            <a:latin typeface="Cambria Math" panose="02040503050406030204" pitchFamily="18" charset="0"/>
                          </a:rPr>
                        </m:ctrlPr>
                      </m:fPr>
                      <m:num>
                        <m:r>
                          <a:rPr lang="fr-CA" sz="2800" b="0" i="1" smtClean="0">
                            <a:latin typeface="Cambria Math" panose="02040503050406030204" pitchFamily="18" charset="0"/>
                          </a:rPr>
                          <m:t>55</m:t>
                        </m:r>
                      </m:num>
                      <m:den>
                        <m:r>
                          <a:rPr lang="fr-CA" sz="2800" b="0" i="1" smtClean="0">
                            <a:latin typeface="Cambria Math" panose="02040503050406030204" pitchFamily="18" charset="0"/>
                          </a:rPr>
                          <m:t>450</m:t>
                        </m:r>
                      </m:den>
                    </m:f>
                    <m:r>
                      <a:rPr lang="fr-CA" sz="2800" b="0" i="1" smtClean="0">
                        <a:latin typeface="Cambria Math" panose="02040503050406030204" pitchFamily="18" charset="0"/>
                      </a:rPr>
                      <m:t>=0,1222</m:t>
                    </m:r>
                    <m:r>
                      <a:rPr lang="fr-CA" sz="2800" b="0" i="0" smtClean="0">
                        <a:latin typeface="Cambria Math" panose="02040503050406030204" pitchFamily="18" charset="0"/>
                      </a:rPr>
                      <m:t>=1−</m:t>
                    </m:r>
                    <m:r>
                      <m:rPr>
                        <m:sty m:val="p"/>
                      </m:rPr>
                      <a:rPr lang="fr-CA" sz="2800" b="0" i="0" smtClean="0">
                        <a:latin typeface="Cambria Math" panose="02040503050406030204" pitchFamily="18" charset="0"/>
                      </a:rPr>
                      <m:t>sensibilit</m:t>
                    </m:r>
                    <m:r>
                      <a:rPr lang="fr-CA" sz="2800" b="0" i="0" smtClean="0">
                        <a:latin typeface="Cambria Math" panose="02040503050406030204" pitchFamily="18" charset="0"/>
                      </a:rPr>
                      <m:t>é</m:t>
                    </m:r>
                  </m:oMath>
                </a14:m>
                <a:endParaRPr lang="fr-CA" sz="2800" dirty="0"/>
              </a:p>
              <a:p>
                <a:pPr marL="342900" indent="-342900">
                  <a:buFont typeface="+mj-lt"/>
                  <a:buAutoNum type="arabicPeriod"/>
                </a:pPr>
                <a:r>
                  <a:rPr lang="fr-CA" sz="2800" dirty="0"/>
                  <a:t>Spécificité  </a:t>
                </a:r>
                <a14:m>
                  <m:oMath xmlns:m="http://schemas.openxmlformats.org/officeDocument/2006/math">
                    <m:r>
                      <a:rPr lang="fr-CA" sz="2800" b="0" i="1" smtClean="0">
                        <a:latin typeface="Cambria Math" panose="02040503050406030204" pitchFamily="18" charset="0"/>
                      </a:rPr>
                      <m:t>𝑃</m:t>
                    </m:r>
                    <m:d>
                      <m:dPr>
                        <m:ctrlPr>
                          <a:rPr lang="fr-CA" sz="2800" b="0" i="1" smtClean="0">
                            <a:latin typeface="Cambria Math" panose="02040503050406030204" pitchFamily="18" charset="0"/>
                          </a:rPr>
                        </m:ctrlPr>
                      </m:dPr>
                      <m:e>
                        <m:r>
                          <a:rPr lang="fr-CA" sz="2800" b="0" i="1" smtClean="0">
                            <a:latin typeface="Cambria Math" panose="02040503050406030204" pitchFamily="18" charset="0"/>
                          </a:rPr>
                          <m:t>𝑇</m:t>
                        </m:r>
                        <m:r>
                          <a:rPr lang="fr-CA" sz="2800" b="0" i="1" smtClean="0">
                            <a:latin typeface="Cambria Math" panose="02040503050406030204" pitchFamily="18" charset="0"/>
                          </a:rPr>
                          <m:t>−</m:t>
                        </m:r>
                      </m:e>
                      <m:e>
                        <m:sSup>
                          <m:sSupPr>
                            <m:ctrlPr>
                              <a:rPr lang="fr-CA" sz="2800" b="0" i="1" smtClean="0">
                                <a:latin typeface="Cambria Math" panose="02040503050406030204" pitchFamily="18" charset="0"/>
                              </a:rPr>
                            </m:ctrlPr>
                          </m:sSupPr>
                          <m:e>
                            <m:r>
                              <a:rPr lang="fr-CA" sz="2800" b="0" i="1" smtClean="0">
                                <a:latin typeface="Cambria Math" panose="02040503050406030204" pitchFamily="18" charset="0"/>
                              </a:rPr>
                              <m:t>𝑀</m:t>
                            </m:r>
                          </m:e>
                          <m:sup>
                            <m:r>
                              <a:rPr lang="fr-CA" sz="2800" b="0" i="1" smtClean="0">
                                <a:latin typeface="Cambria Math" panose="02040503050406030204" pitchFamily="18" charset="0"/>
                              </a:rPr>
                              <m:t>′</m:t>
                            </m:r>
                          </m:sup>
                        </m:sSup>
                      </m:e>
                    </m:d>
                    <m:r>
                      <a:rPr lang="fr-CA" sz="2800" b="0" i="1" smtClean="0">
                        <a:latin typeface="Cambria Math" panose="02040503050406030204" pitchFamily="18" charset="0"/>
                      </a:rPr>
                      <m:t>=</m:t>
                    </m:r>
                    <m:f>
                      <m:fPr>
                        <m:ctrlPr>
                          <a:rPr lang="fr-CA" sz="2800" b="0" i="1" smtClean="0">
                            <a:latin typeface="Cambria Math" panose="02040503050406030204" pitchFamily="18" charset="0"/>
                          </a:rPr>
                        </m:ctrlPr>
                      </m:fPr>
                      <m:num>
                        <m:r>
                          <a:rPr lang="fr-CA" sz="2800" b="0" i="1" smtClean="0">
                            <a:latin typeface="Cambria Math" panose="02040503050406030204" pitchFamily="18" charset="0"/>
                          </a:rPr>
                          <m:t>516</m:t>
                        </m:r>
                      </m:num>
                      <m:den>
                        <m:r>
                          <a:rPr lang="fr-CA" sz="2800" b="0" i="1" smtClean="0">
                            <a:latin typeface="Cambria Math" panose="02040503050406030204" pitchFamily="18" charset="0"/>
                          </a:rPr>
                          <m:t>550</m:t>
                        </m:r>
                      </m:den>
                    </m:f>
                    <m:r>
                      <a:rPr lang="fr-CA" sz="2800" b="0" i="1" smtClean="0">
                        <a:latin typeface="Cambria Math" panose="02040503050406030204" pitchFamily="18" charset="0"/>
                      </a:rPr>
                      <m:t>=0,9382=1−</m:t>
                    </m:r>
                    <m:r>
                      <a:rPr lang="fr-CA" sz="2800" b="0" i="1" smtClean="0">
                        <a:latin typeface="Cambria Math" panose="02040503050406030204" pitchFamily="18" charset="0"/>
                      </a:rPr>
                      <m:t>𝑡𝑎𝑢𝑥</m:t>
                    </m:r>
                    <m:r>
                      <a:rPr lang="fr-CA" sz="2800" b="0" i="1" smtClean="0">
                        <a:latin typeface="Cambria Math" panose="02040503050406030204" pitchFamily="18" charset="0"/>
                      </a:rPr>
                      <m:t> </m:t>
                    </m:r>
                    <m:r>
                      <a:rPr lang="fr-CA" sz="2800" b="0" i="1" smtClean="0">
                        <a:latin typeface="Cambria Math" panose="02040503050406030204" pitchFamily="18" charset="0"/>
                      </a:rPr>
                      <m:t>𝑑𝑒</m:t>
                    </m:r>
                    <m:r>
                      <a:rPr lang="fr-CA" sz="2800" b="0" i="1" smtClean="0">
                        <a:latin typeface="Cambria Math" panose="02040503050406030204" pitchFamily="18" charset="0"/>
                      </a:rPr>
                      <m:t> </m:t>
                    </m:r>
                    <m:r>
                      <a:rPr lang="fr-CA" sz="2800" b="0" i="1" smtClean="0">
                        <a:latin typeface="Cambria Math" panose="02040503050406030204" pitchFamily="18" charset="0"/>
                      </a:rPr>
                      <m:t>𝑓𝑎𝑢𝑠𝑠𝑒</m:t>
                    </m:r>
                    <m:r>
                      <a:rPr lang="fr-CA" sz="2800" b="0" i="1" smtClean="0">
                        <a:latin typeface="Cambria Math" panose="02040503050406030204" pitchFamily="18" charset="0"/>
                      </a:rPr>
                      <m:t> </m:t>
                    </m:r>
                    <m:r>
                      <a:rPr lang="fr-CA" sz="2800" b="0" i="1" smtClean="0">
                        <a:latin typeface="Cambria Math" panose="02040503050406030204" pitchFamily="18" charset="0"/>
                      </a:rPr>
                      <m:t>𝑝𝑜𝑠𝑖𝑡𝑖𝑣𝑖𝑡</m:t>
                    </m:r>
                    <m:r>
                      <a:rPr lang="fr-CA" sz="2800" b="0" i="1" smtClean="0">
                        <a:latin typeface="Cambria Math" panose="02040503050406030204" pitchFamily="18" charset="0"/>
                      </a:rPr>
                      <m:t>é</m:t>
                    </m:r>
                  </m:oMath>
                </a14:m>
                <a:endParaRPr lang="fr-CA" sz="2800" b="0" dirty="0"/>
              </a:p>
              <a:p>
                <a:pPr marL="342900" indent="-342900">
                  <a:buFont typeface="+mj-lt"/>
                  <a:buAutoNum type="arabicPeriod"/>
                </a:pPr>
                <a:r>
                  <a:rPr lang="fr-CA" sz="2800" dirty="0"/>
                  <a:t>La valeur prédictive positive=VPP=</a:t>
                </a:r>
                <a14:m>
                  <m:oMath xmlns:m="http://schemas.openxmlformats.org/officeDocument/2006/math">
                    <m:r>
                      <a:rPr lang="fr-CA" sz="2800" b="0" i="1" smtClean="0">
                        <a:latin typeface="Cambria Math" panose="02040503050406030204" pitchFamily="18" charset="0"/>
                      </a:rPr>
                      <m:t>𝑃</m:t>
                    </m:r>
                    <m:d>
                      <m:dPr>
                        <m:ctrlPr>
                          <a:rPr lang="fr-CA" sz="2800" b="0" i="1" smtClean="0">
                            <a:latin typeface="Cambria Math" panose="02040503050406030204" pitchFamily="18" charset="0"/>
                          </a:rPr>
                        </m:ctrlPr>
                      </m:dPr>
                      <m:e>
                        <m:r>
                          <a:rPr lang="fr-CA" sz="2800" b="0" i="1" smtClean="0">
                            <a:latin typeface="Cambria Math" panose="02040503050406030204" pitchFamily="18" charset="0"/>
                          </a:rPr>
                          <m:t>𝑀</m:t>
                        </m:r>
                      </m:e>
                      <m:e>
                        <m:r>
                          <a:rPr lang="fr-CA" sz="2800" b="0" i="1" smtClean="0">
                            <a:latin typeface="Cambria Math" panose="02040503050406030204" pitchFamily="18" charset="0"/>
                          </a:rPr>
                          <m:t>𝑇</m:t>
                        </m:r>
                        <m:r>
                          <a:rPr lang="fr-CA" sz="2800" b="0" i="1" smtClean="0">
                            <a:latin typeface="Cambria Math" panose="02040503050406030204" pitchFamily="18" charset="0"/>
                          </a:rPr>
                          <m:t>+</m:t>
                        </m:r>
                      </m:e>
                    </m:d>
                    <m:r>
                      <a:rPr lang="fr-CA" sz="2800" b="0" i="1" smtClean="0">
                        <a:latin typeface="Cambria Math" panose="02040503050406030204" pitchFamily="18" charset="0"/>
                      </a:rPr>
                      <m:t>=</m:t>
                    </m:r>
                    <m:f>
                      <m:fPr>
                        <m:ctrlPr>
                          <a:rPr lang="fr-CA" sz="2800" b="0" i="1" smtClean="0">
                            <a:latin typeface="Cambria Math" panose="02040503050406030204" pitchFamily="18" charset="0"/>
                          </a:rPr>
                        </m:ctrlPr>
                      </m:fPr>
                      <m:num>
                        <m:r>
                          <a:rPr lang="fr-CA" sz="2800" b="0" i="1" smtClean="0">
                            <a:latin typeface="Cambria Math" panose="02040503050406030204" pitchFamily="18" charset="0"/>
                          </a:rPr>
                          <m:t>395</m:t>
                        </m:r>
                      </m:num>
                      <m:den>
                        <m:r>
                          <a:rPr lang="fr-CA" sz="2800" b="0" i="1" smtClean="0">
                            <a:latin typeface="Cambria Math" panose="02040503050406030204" pitchFamily="18" charset="0"/>
                          </a:rPr>
                          <m:t>429</m:t>
                        </m:r>
                      </m:den>
                    </m:f>
                    <m:r>
                      <a:rPr lang="fr-CA" sz="2800" b="0" i="1" smtClean="0">
                        <a:latin typeface="Cambria Math" panose="02040503050406030204" pitchFamily="18" charset="0"/>
                      </a:rPr>
                      <m:t>=0,9207</m:t>
                    </m:r>
                  </m:oMath>
                </a14:m>
                <a:endParaRPr lang="fr-CA" sz="2800" dirty="0"/>
              </a:p>
              <a:p>
                <a:pPr marL="342900" indent="-342900">
                  <a:buFont typeface="+mj-lt"/>
                  <a:buAutoNum type="arabicPeriod"/>
                </a:pPr>
                <a:r>
                  <a:rPr lang="fr-CA" sz="2800" dirty="0"/>
                  <a:t>VPN=</a:t>
                </a:r>
                <a14:m>
                  <m:oMath xmlns:m="http://schemas.openxmlformats.org/officeDocument/2006/math">
                    <m:r>
                      <a:rPr lang="fr-CA" sz="2800" b="0" i="1" smtClean="0">
                        <a:latin typeface="Cambria Math" panose="02040503050406030204" pitchFamily="18" charset="0"/>
                      </a:rPr>
                      <m:t>𝑃</m:t>
                    </m:r>
                    <m:d>
                      <m:dPr>
                        <m:ctrlPr>
                          <a:rPr lang="fr-CA" sz="2800" b="0" i="1" smtClean="0">
                            <a:latin typeface="Cambria Math" panose="02040503050406030204" pitchFamily="18" charset="0"/>
                          </a:rPr>
                        </m:ctrlPr>
                      </m:dPr>
                      <m:e>
                        <m:sSup>
                          <m:sSupPr>
                            <m:ctrlPr>
                              <a:rPr lang="fr-CA" sz="2800" b="0" i="1" smtClean="0">
                                <a:latin typeface="Cambria Math" panose="02040503050406030204" pitchFamily="18" charset="0"/>
                              </a:rPr>
                            </m:ctrlPr>
                          </m:sSupPr>
                          <m:e>
                            <m:r>
                              <a:rPr lang="fr-CA" sz="2800" b="0" i="1" smtClean="0">
                                <a:latin typeface="Cambria Math" panose="02040503050406030204" pitchFamily="18" charset="0"/>
                              </a:rPr>
                              <m:t>𝑀</m:t>
                            </m:r>
                          </m:e>
                          <m:sup>
                            <m:r>
                              <a:rPr lang="fr-CA" sz="2800" b="0" i="1" smtClean="0">
                                <a:latin typeface="Cambria Math" panose="02040503050406030204" pitchFamily="18" charset="0"/>
                              </a:rPr>
                              <m:t>′</m:t>
                            </m:r>
                          </m:sup>
                        </m:sSup>
                      </m:e>
                      <m:e>
                        <m:r>
                          <a:rPr lang="fr-CA" sz="2800" b="0" i="1" smtClean="0">
                            <a:latin typeface="Cambria Math" panose="02040503050406030204" pitchFamily="18" charset="0"/>
                          </a:rPr>
                          <m:t>𝑇</m:t>
                        </m:r>
                        <m:r>
                          <a:rPr lang="fr-CA" sz="2800" b="0" i="1" smtClean="0">
                            <a:latin typeface="Cambria Math" panose="02040503050406030204" pitchFamily="18" charset="0"/>
                          </a:rPr>
                          <m:t>−</m:t>
                        </m:r>
                      </m:e>
                    </m:d>
                    <m:r>
                      <a:rPr lang="fr-CA" sz="2800" b="0" i="1" smtClean="0">
                        <a:latin typeface="Cambria Math" panose="02040503050406030204" pitchFamily="18" charset="0"/>
                      </a:rPr>
                      <m:t>=</m:t>
                    </m:r>
                    <m:f>
                      <m:fPr>
                        <m:ctrlPr>
                          <a:rPr lang="fr-CA" sz="2800" b="0" i="1" smtClean="0">
                            <a:latin typeface="Cambria Math" panose="02040503050406030204" pitchFamily="18" charset="0"/>
                          </a:rPr>
                        </m:ctrlPr>
                      </m:fPr>
                      <m:num>
                        <m:r>
                          <a:rPr lang="fr-CA" sz="2800" b="0" i="1" smtClean="0">
                            <a:latin typeface="Cambria Math" panose="02040503050406030204" pitchFamily="18" charset="0"/>
                          </a:rPr>
                          <m:t>516</m:t>
                        </m:r>
                      </m:num>
                      <m:den>
                        <m:r>
                          <a:rPr lang="fr-CA" sz="2800" b="0" i="1" smtClean="0">
                            <a:latin typeface="Cambria Math" panose="02040503050406030204" pitchFamily="18" charset="0"/>
                          </a:rPr>
                          <m:t>571</m:t>
                        </m:r>
                      </m:den>
                    </m:f>
                    <m:r>
                      <a:rPr lang="fr-CA" sz="2800" b="0" i="1" smtClean="0">
                        <a:latin typeface="Cambria Math" panose="02040503050406030204" pitchFamily="18" charset="0"/>
                      </a:rPr>
                      <m:t>=0,9037</m:t>
                    </m:r>
                  </m:oMath>
                </a14:m>
                <a:endParaRPr lang="fr-CA" sz="2800" dirty="0"/>
              </a:p>
            </p:txBody>
          </p:sp>
        </mc:Choice>
        <mc:Fallback xmlns="">
          <p:sp>
            <p:nvSpPr>
              <p:cNvPr id="4" name="ZoneTexte 3">
                <a:extLst>
                  <a:ext uri="{FF2B5EF4-FFF2-40B4-BE49-F238E27FC236}">
                    <a16:creationId xmlns:a16="http://schemas.microsoft.com/office/drawing/2014/main" id="{9185EE32-DA7A-4EC7-957C-BA1AC36C6484}"/>
                  </a:ext>
                </a:extLst>
              </p:cNvPr>
              <p:cNvSpPr txBox="1">
                <a:spLocks noRot="1" noChangeAspect="1" noMove="1" noResize="1" noEditPoints="1" noAdjustHandles="1" noChangeArrowheads="1" noChangeShapeType="1" noTextEdit="1"/>
              </p:cNvSpPr>
              <p:nvPr/>
            </p:nvSpPr>
            <p:spPr>
              <a:xfrm>
                <a:off x="1084217" y="953589"/>
                <a:ext cx="9771017" cy="4656275"/>
              </a:xfrm>
              <a:prstGeom prst="rect">
                <a:avLst/>
              </a:prstGeom>
              <a:blipFill>
                <a:blip r:embed="rId2"/>
                <a:stretch>
                  <a:fillRect l="-1310" b="-1047"/>
                </a:stretch>
              </a:blipFill>
            </p:spPr>
            <p:txBody>
              <a:bodyPr/>
              <a:lstStyle/>
              <a:p>
                <a:r>
                  <a:rPr lang="fr-CA">
                    <a:noFill/>
                  </a:rPr>
                  <a:t> </a:t>
                </a:r>
              </a:p>
            </p:txBody>
          </p:sp>
        </mc:Fallback>
      </mc:AlternateContent>
    </p:spTree>
    <p:extLst>
      <p:ext uri="{BB962C8B-B14F-4D97-AF65-F5344CB8AC3E}">
        <p14:creationId xmlns:p14="http://schemas.microsoft.com/office/powerpoint/2010/main" val="19633254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165DF98-C5D7-418E-AA1C-4A95BB23C4B9}"/>
              </a:ext>
            </a:extLst>
          </p:cNvPr>
          <p:cNvSpPr>
            <a:spLocks noGrp="1"/>
          </p:cNvSpPr>
          <p:nvPr>
            <p:ph type="title"/>
          </p:nvPr>
        </p:nvSpPr>
        <p:spPr/>
        <p:txBody>
          <a:bodyPr/>
          <a:lstStyle/>
          <a:p>
            <a:r>
              <a:rPr lang="fr-CA" dirty="0"/>
              <a:t>La règle de multiplication</a:t>
            </a:r>
          </a:p>
        </p:txBody>
      </p:sp>
      <p:sp>
        <p:nvSpPr>
          <p:cNvPr id="3" name="Espace réservé du pied de page 2">
            <a:extLst>
              <a:ext uri="{FF2B5EF4-FFF2-40B4-BE49-F238E27FC236}">
                <a16:creationId xmlns:a16="http://schemas.microsoft.com/office/drawing/2014/main" id="{910DE92F-2FC1-4F3C-BDEF-191D0F8ED281}"/>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230EA37C-F684-4EDF-8336-67C099876746}"/>
              </a:ext>
            </a:extLst>
          </p:cNvPr>
          <p:cNvSpPr>
            <a:spLocks noGrp="1"/>
          </p:cNvSpPr>
          <p:nvPr>
            <p:ph type="sldNum" sz="quarter" idx="12"/>
          </p:nvPr>
        </p:nvSpPr>
        <p:spPr/>
        <p:txBody>
          <a:bodyPr/>
          <a:lstStyle/>
          <a:p>
            <a:fld id="{26377AD9-CE17-438C-A638-C64D2D42D7CF}" type="slidenum">
              <a:rPr lang="fr-CA" smtClean="0"/>
              <a:t>16</a:t>
            </a:fld>
            <a:endParaRPr lang="fr-CA"/>
          </a:p>
        </p:txBody>
      </p: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0A49ECFF-DCC2-4EB0-AFE6-71E7A967F0E7}"/>
                  </a:ext>
                </a:extLst>
              </p:cNvPr>
              <p:cNvSpPr txBox="1"/>
              <p:nvPr/>
            </p:nvSpPr>
            <p:spPr>
              <a:xfrm>
                <a:off x="838200" y="1280160"/>
                <a:ext cx="9953898" cy="2472536"/>
              </a:xfrm>
              <a:prstGeom prst="rect">
                <a:avLst/>
              </a:prstGeom>
              <a:noFill/>
            </p:spPr>
            <p:txBody>
              <a:bodyPr wrap="square" rtlCol="0">
                <a:spAutoFit/>
              </a:bodyPr>
              <a:lstStyle/>
              <a:p>
                <a:r>
                  <a:rPr lang="fr-CA" dirty="0"/>
                  <a:t>On a vu que:  </a:t>
                </a:r>
                <a14:m>
                  <m:oMath xmlns:m="http://schemas.openxmlformats.org/officeDocument/2006/math">
                    <m:r>
                      <a:rPr lang="fr-CA" b="0" i="1" smtClean="0">
                        <a:latin typeface="Cambria Math" panose="02040503050406030204" pitchFamily="18" charset="0"/>
                      </a:rPr>
                      <m:t>𝑃</m:t>
                    </m:r>
                    <m:d>
                      <m:dPr>
                        <m:ctrlPr>
                          <a:rPr lang="fr-CA" b="0" i="1" smtClean="0">
                            <a:latin typeface="Cambria Math" panose="02040503050406030204" pitchFamily="18" charset="0"/>
                          </a:rPr>
                        </m:ctrlPr>
                      </m:dPr>
                      <m:e>
                        <m:r>
                          <a:rPr lang="fr-CA" b="0" i="1" smtClean="0">
                            <a:latin typeface="Cambria Math" panose="02040503050406030204" pitchFamily="18" charset="0"/>
                          </a:rPr>
                          <m:t>𝐴</m:t>
                        </m:r>
                      </m:e>
                      <m:e>
                        <m:r>
                          <a:rPr lang="fr-CA" b="0" i="1" smtClean="0">
                            <a:latin typeface="Cambria Math" panose="02040503050406030204" pitchFamily="18" charset="0"/>
                          </a:rPr>
                          <m:t>𝐵</m:t>
                        </m:r>
                      </m:e>
                    </m:d>
                    <m:r>
                      <a:rPr lang="fr-CA" b="0" i="1" smtClean="0">
                        <a:latin typeface="Cambria Math" panose="02040503050406030204" pitchFamily="18" charset="0"/>
                      </a:rPr>
                      <m:t>=</m:t>
                    </m:r>
                    <m:f>
                      <m:fPr>
                        <m:ctrlPr>
                          <a:rPr lang="fr-CA" b="0" i="1" smtClean="0">
                            <a:latin typeface="Cambria Math" panose="02040503050406030204" pitchFamily="18" charset="0"/>
                          </a:rPr>
                        </m:ctrlPr>
                      </m:fPr>
                      <m:num>
                        <m:r>
                          <a:rPr lang="fr-CA" b="0" i="1" smtClean="0">
                            <a:latin typeface="Cambria Math" panose="02040503050406030204" pitchFamily="18" charset="0"/>
                          </a:rPr>
                          <m:t>𝑃</m:t>
                        </m:r>
                        <m:r>
                          <a:rPr lang="fr-CA" b="0" i="1" smtClean="0">
                            <a:latin typeface="Cambria Math" panose="02040503050406030204" pitchFamily="18" charset="0"/>
                          </a:rPr>
                          <m:t>(</m:t>
                        </m:r>
                        <m:r>
                          <a:rPr lang="fr-CA" b="0" i="1" smtClean="0">
                            <a:latin typeface="Cambria Math" panose="02040503050406030204" pitchFamily="18" charset="0"/>
                          </a:rPr>
                          <m:t>𝐴</m:t>
                        </m:r>
                        <m:r>
                          <a:rPr lang="fr-CA" b="0" i="1" smtClean="0">
                            <a:latin typeface="Cambria Math" panose="02040503050406030204" pitchFamily="18" charset="0"/>
                            <a:ea typeface="Cambria Math" panose="02040503050406030204" pitchFamily="18" charset="0"/>
                          </a:rPr>
                          <m:t>∩</m:t>
                        </m:r>
                        <m:r>
                          <a:rPr lang="fr-CA" b="0" i="1" smtClean="0">
                            <a:latin typeface="Cambria Math" panose="02040503050406030204" pitchFamily="18" charset="0"/>
                            <a:ea typeface="Cambria Math" panose="02040503050406030204" pitchFamily="18" charset="0"/>
                          </a:rPr>
                          <m:t>𝐵</m:t>
                        </m:r>
                        <m:r>
                          <a:rPr lang="fr-CA" b="0" i="1" smtClean="0">
                            <a:latin typeface="Cambria Math" panose="02040503050406030204" pitchFamily="18" charset="0"/>
                            <a:ea typeface="Cambria Math" panose="02040503050406030204" pitchFamily="18" charset="0"/>
                          </a:rPr>
                          <m:t>)</m:t>
                        </m:r>
                      </m:num>
                      <m:den>
                        <m:r>
                          <a:rPr lang="fr-CA" b="0" i="1" smtClean="0">
                            <a:latin typeface="Cambria Math" panose="02040503050406030204" pitchFamily="18" charset="0"/>
                          </a:rPr>
                          <m:t>𝑃</m:t>
                        </m:r>
                        <m:r>
                          <a:rPr lang="fr-CA" b="0" i="1" smtClean="0">
                            <a:latin typeface="Cambria Math" panose="02040503050406030204" pitchFamily="18" charset="0"/>
                          </a:rPr>
                          <m:t>(</m:t>
                        </m:r>
                        <m:r>
                          <a:rPr lang="fr-CA" b="0" i="1" smtClean="0">
                            <a:latin typeface="Cambria Math" panose="02040503050406030204" pitchFamily="18" charset="0"/>
                          </a:rPr>
                          <m:t>𝐵</m:t>
                        </m:r>
                        <m:r>
                          <a:rPr lang="fr-CA" b="0" i="1" smtClean="0">
                            <a:latin typeface="Cambria Math" panose="02040503050406030204" pitchFamily="18" charset="0"/>
                          </a:rPr>
                          <m:t>)</m:t>
                        </m:r>
                      </m:den>
                    </m:f>
                    <m:r>
                      <a:rPr lang="fr-CA" b="0" i="1" smtClean="0">
                        <a:latin typeface="Cambria Math" panose="02040503050406030204" pitchFamily="18" charset="0"/>
                        <a:ea typeface="Cambria Math" panose="02040503050406030204" pitchFamily="18" charset="0"/>
                      </a:rPr>
                      <m:t>→</m:t>
                    </m:r>
                    <m:r>
                      <a:rPr lang="fr-CA" b="0" i="1" smtClean="0">
                        <a:latin typeface="Cambria Math" panose="02040503050406030204" pitchFamily="18" charset="0"/>
                        <a:ea typeface="Cambria Math" panose="02040503050406030204" pitchFamily="18" charset="0"/>
                      </a:rPr>
                      <m:t>𝑃</m:t>
                    </m:r>
                    <m:d>
                      <m:dPr>
                        <m:ctrlPr>
                          <a:rPr lang="fr-CA" b="0" i="1" smtClean="0">
                            <a:latin typeface="Cambria Math" panose="02040503050406030204" pitchFamily="18" charset="0"/>
                            <a:ea typeface="Cambria Math" panose="02040503050406030204" pitchFamily="18" charset="0"/>
                          </a:rPr>
                        </m:ctrlPr>
                      </m:dPr>
                      <m:e>
                        <m:r>
                          <a:rPr lang="fr-CA" b="0" i="1" smtClean="0">
                            <a:latin typeface="Cambria Math" panose="02040503050406030204" pitchFamily="18" charset="0"/>
                            <a:ea typeface="Cambria Math" panose="02040503050406030204" pitchFamily="18" charset="0"/>
                          </a:rPr>
                          <m:t>𝐴</m:t>
                        </m:r>
                        <m:r>
                          <a:rPr lang="fr-CA" b="0" i="1" smtClean="0">
                            <a:latin typeface="Cambria Math" panose="02040503050406030204" pitchFamily="18" charset="0"/>
                            <a:ea typeface="Cambria Math" panose="02040503050406030204" pitchFamily="18" charset="0"/>
                          </a:rPr>
                          <m:t>∩</m:t>
                        </m:r>
                        <m:r>
                          <a:rPr lang="fr-CA" b="0" i="1" smtClean="0">
                            <a:latin typeface="Cambria Math" panose="02040503050406030204" pitchFamily="18" charset="0"/>
                            <a:ea typeface="Cambria Math" panose="02040503050406030204" pitchFamily="18" charset="0"/>
                          </a:rPr>
                          <m:t>𝐵</m:t>
                        </m:r>
                      </m:e>
                    </m:d>
                    <m:r>
                      <a:rPr lang="fr-CA" b="0" i="1" smtClean="0">
                        <a:latin typeface="Cambria Math" panose="02040503050406030204" pitchFamily="18" charset="0"/>
                        <a:ea typeface="Cambria Math" panose="02040503050406030204" pitchFamily="18" charset="0"/>
                      </a:rPr>
                      <m:t>=</m:t>
                    </m:r>
                    <m:r>
                      <a:rPr lang="fr-CA" b="0" i="1" smtClean="0">
                        <a:latin typeface="Cambria Math" panose="02040503050406030204" pitchFamily="18" charset="0"/>
                        <a:ea typeface="Cambria Math" panose="02040503050406030204" pitchFamily="18" charset="0"/>
                      </a:rPr>
                      <m:t>𝑃</m:t>
                    </m:r>
                    <m:r>
                      <a:rPr lang="fr-CA" b="0" i="1" smtClean="0">
                        <a:latin typeface="Cambria Math" panose="02040503050406030204" pitchFamily="18" charset="0"/>
                        <a:ea typeface="Cambria Math" panose="02040503050406030204" pitchFamily="18" charset="0"/>
                      </a:rPr>
                      <m:t>(</m:t>
                    </m:r>
                    <m:r>
                      <a:rPr lang="fr-CA" b="0" i="1" smtClean="0">
                        <a:latin typeface="Cambria Math" panose="02040503050406030204" pitchFamily="18" charset="0"/>
                        <a:ea typeface="Cambria Math" panose="02040503050406030204" pitchFamily="18" charset="0"/>
                      </a:rPr>
                      <m:t>𝐴</m:t>
                    </m:r>
                    <m:r>
                      <a:rPr lang="fr-CA" b="0" i="1" smtClean="0">
                        <a:latin typeface="Cambria Math" panose="02040503050406030204" pitchFamily="18" charset="0"/>
                        <a:ea typeface="Cambria Math" panose="02040503050406030204" pitchFamily="18" charset="0"/>
                      </a:rPr>
                      <m:t>|</m:t>
                    </m:r>
                    <m:r>
                      <a:rPr lang="fr-CA" b="0" i="1" smtClean="0">
                        <a:latin typeface="Cambria Math" panose="02040503050406030204" pitchFamily="18" charset="0"/>
                        <a:ea typeface="Cambria Math" panose="02040503050406030204" pitchFamily="18" charset="0"/>
                      </a:rPr>
                      <m:t>𝐵</m:t>
                    </m:r>
                    <m:r>
                      <a:rPr lang="fr-CA" b="0" i="1" smtClean="0">
                        <a:latin typeface="Cambria Math" panose="02040503050406030204" pitchFamily="18" charset="0"/>
                        <a:ea typeface="Cambria Math" panose="02040503050406030204" pitchFamily="18" charset="0"/>
                      </a:rPr>
                      <m:t>)∗</m:t>
                    </m:r>
                    <m:r>
                      <a:rPr lang="fr-CA" b="0" i="1" smtClean="0">
                        <a:latin typeface="Cambria Math" panose="02040503050406030204" pitchFamily="18" charset="0"/>
                        <a:ea typeface="Cambria Math" panose="02040503050406030204" pitchFamily="18" charset="0"/>
                      </a:rPr>
                      <m:t>𝑃</m:t>
                    </m:r>
                    <m:r>
                      <a:rPr lang="fr-CA" b="0" i="1" smtClean="0">
                        <a:latin typeface="Cambria Math" panose="02040503050406030204" pitchFamily="18" charset="0"/>
                        <a:ea typeface="Cambria Math" panose="02040503050406030204" pitchFamily="18" charset="0"/>
                      </a:rPr>
                      <m:t>(</m:t>
                    </m:r>
                    <m:r>
                      <a:rPr lang="fr-CA" b="0" i="1" smtClean="0">
                        <a:latin typeface="Cambria Math" panose="02040503050406030204" pitchFamily="18" charset="0"/>
                        <a:ea typeface="Cambria Math" panose="02040503050406030204" pitchFamily="18" charset="0"/>
                      </a:rPr>
                      <m:t>𝐵</m:t>
                    </m:r>
                    <m:r>
                      <a:rPr lang="fr-CA" b="0" i="1" smtClean="0">
                        <a:latin typeface="Cambria Math" panose="02040503050406030204" pitchFamily="18" charset="0"/>
                        <a:ea typeface="Cambria Math" panose="02040503050406030204" pitchFamily="18" charset="0"/>
                      </a:rPr>
                      <m:t>)</m:t>
                    </m:r>
                  </m:oMath>
                </a14:m>
                <a:endParaRPr lang="fr-CA" dirty="0"/>
              </a:p>
              <a:p>
                <a:endParaRPr lang="fr-CA" dirty="0"/>
              </a:p>
              <a:p>
                <a:r>
                  <a:rPr lang="fr-CA" dirty="0"/>
                  <a:t>Plus généralement, on a la formule des probabilités totales:</a:t>
                </a:r>
              </a:p>
              <a:p>
                <a:endParaRPr lang="fr-CA" dirty="0"/>
              </a:p>
              <a:p>
                <a:r>
                  <a:rPr kumimoji="0" lang="fr-CA" altLang="fr-FR" sz="18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Soit</a:t>
                </a:r>
                <a:r>
                  <a:rPr kumimoji="0" lang="fr-CA" altLang="fr-FR" sz="1800" b="0" i="1"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 A </a:t>
                </a:r>
                <a:r>
                  <a:rPr kumimoji="0" lang="fr-CA" altLang="fr-FR" sz="18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et</a:t>
                </a:r>
                <a:r>
                  <a:rPr kumimoji="0" lang="fr-CA" altLang="fr-FR" sz="1800" b="0" i="1"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 B : </a:t>
                </a:r>
                <a:r>
                  <a:rPr kumimoji="0" lang="fr-CA" altLang="fr-FR" sz="18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deux événements quelconques associés à une expérience aléatoire, on a :</a:t>
                </a:r>
              </a:p>
              <a:p>
                <a:endParaRPr lang="fr-CA" dirty="0">
                  <a:latin typeface="Arial" panose="020B0604020202020204" pitchFamily="34" charset="0"/>
                </a:endParaRPr>
              </a:p>
              <a:p>
                <a:pPr/>
                <a14:m>
                  <m:oMathPara xmlns:m="http://schemas.openxmlformats.org/officeDocument/2006/math">
                    <m:oMathParaPr>
                      <m:jc m:val="centerGroup"/>
                    </m:oMathParaPr>
                    <m:oMath xmlns:m="http://schemas.openxmlformats.org/officeDocument/2006/math">
                      <m:r>
                        <a:rPr lang="fr-CA" b="0" i="1" smtClean="0">
                          <a:latin typeface="Cambria Math" panose="02040503050406030204" pitchFamily="18" charset="0"/>
                        </a:rPr>
                        <m:t>𝑃</m:t>
                      </m:r>
                      <m:d>
                        <m:dPr>
                          <m:ctrlPr>
                            <a:rPr lang="fr-CA" b="0" i="1" smtClean="0">
                              <a:latin typeface="Cambria Math" panose="02040503050406030204" pitchFamily="18" charset="0"/>
                            </a:rPr>
                          </m:ctrlPr>
                        </m:dPr>
                        <m:e>
                          <m:r>
                            <a:rPr lang="fr-CA" b="0" i="1" smtClean="0">
                              <a:latin typeface="Cambria Math" panose="02040503050406030204" pitchFamily="18" charset="0"/>
                            </a:rPr>
                            <m:t>𝐴</m:t>
                          </m:r>
                        </m:e>
                      </m:d>
                      <m:r>
                        <a:rPr lang="fr-CA" b="0" i="1" smtClean="0">
                          <a:latin typeface="Cambria Math" panose="02040503050406030204" pitchFamily="18" charset="0"/>
                        </a:rPr>
                        <m:t>=</m:t>
                      </m:r>
                      <m:r>
                        <a:rPr lang="fr-CA" b="0" i="1" smtClean="0">
                          <a:latin typeface="Cambria Math" panose="02040503050406030204" pitchFamily="18" charset="0"/>
                        </a:rPr>
                        <m:t>𝑃</m:t>
                      </m:r>
                      <m:d>
                        <m:dPr>
                          <m:ctrlPr>
                            <a:rPr lang="fr-CA" b="0" i="1" smtClean="0">
                              <a:latin typeface="Cambria Math" panose="02040503050406030204" pitchFamily="18" charset="0"/>
                            </a:rPr>
                          </m:ctrlPr>
                        </m:dPr>
                        <m:e>
                          <m:r>
                            <a:rPr lang="fr-CA" b="0" i="1" smtClean="0">
                              <a:latin typeface="Cambria Math" panose="02040503050406030204" pitchFamily="18" charset="0"/>
                            </a:rPr>
                            <m:t>𝐴</m:t>
                          </m:r>
                        </m:e>
                        <m:e>
                          <m:r>
                            <a:rPr lang="fr-CA" b="0" i="1" smtClean="0">
                              <a:latin typeface="Cambria Math" panose="02040503050406030204" pitchFamily="18" charset="0"/>
                            </a:rPr>
                            <m:t>𝐵</m:t>
                          </m:r>
                        </m:e>
                      </m:d>
                      <m:r>
                        <a:rPr lang="fr-CA" b="0" i="1" smtClean="0">
                          <a:latin typeface="Cambria Math" panose="02040503050406030204" pitchFamily="18" charset="0"/>
                        </a:rPr>
                        <m:t>𝑃</m:t>
                      </m:r>
                      <m:d>
                        <m:dPr>
                          <m:ctrlPr>
                            <a:rPr lang="fr-CA" b="0" i="1" smtClean="0">
                              <a:latin typeface="Cambria Math" panose="02040503050406030204" pitchFamily="18" charset="0"/>
                            </a:rPr>
                          </m:ctrlPr>
                        </m:dPr>
                        <m:e>
                          <m:r>
                            <a:rPr lang="fr-CA" b="0" i="1" smtClean="0">
                              <a:latin typeface="Cambria Math" panose="02040503050406030204" pitchFamily="18" charset="0"/>
                            </a:rPr>
                            <m:t>𝐵</m:t>
                          </m:r>
                        </m:e>
                      </m:d>
                      <m:r>
                        <a:rPr lang="fr-CA" b="0" i="1" smtClean="0">
                          <a:latin typeface="Cambria Math" panose="02040503050406030204" pitchFamily="18" charset="0"/>
                        </a:rPr>
                        <m:t>+</m:t>
                      </m:r>
                      <m:r>
                        <a:rPr lang="fr-CA" b="0" i="1" smtClean="0">
                          <a:latin typeface="Cambria Math" panose="02040503050406030204" pitchFamily="18" charset="0"/>
                        </a:rPr>
                        <m:t>𝑃</m:t>
                      </m:r>
                      <m:d>
                        <m:dPr>
                          <m:ctrlPr>
                            <a:rPr lang="fr-CA" b="0" i="1" smtClean="0">
                              <a:latin typeface="Cambria Math" panose="02040503050406030204" pitchFamily="18" charset="0"/>
                            </a:rPr>
                          </m:ctrlPr>
                        </m:dPr>
                        <m:e>
                          <m:r>
                            <a:rPr lang="fr-CA" b="0" i="1" smtClean="0">
                              <a:latin typeface="Cambria Math" panose="02040503050406030204" pitchFamily="18" charset="0"/>
                            </a:rPr>
                            <m:t>𝐴</m:t>
                          </m:r>
                        </m:e>
                        <m:e>
                          <m:r>
                            <a:rPr lang="fr-CA" b="0" i="1" smtClean="0">
                              <a:latin typeface="Cambria Math" panose="02040503050406030204" pitchFamily="18" charset="0"/>
                            </a:rPr>
                            <m:t>𝐵</m:t>
                          </m:r>
                          <m:r>
                            <a:rPr lang="fr-CA" b="0" i="1" smtClean="0">
                              <a:latin typeface="Cambria Math" panose="02040503050406030204" pitchFamily="18" charset="0"/>
                            </a:rPr>
                            <m:t>′</m:t>
                          </m:r>
                        </m:e>
                      </m:d>
                      <m:r>
                        <a:rPr lang="fr-CA" b="0" i="1" smtClean="0">
                          <a:latin typeface="Cambria Math" panose="02040503050406030204" pitchFamily="18" charset="0"/>
                        </a:rPr>
                        <m:t>𝑃</m:t>
                      </m:r>
                      <m:r>
                        <a:rPr lang="fr-CA" b="0" i="1" smtClean="0">
                          <a:latin typeface="Cambria Math" panose="02040503050406030204" pitchFamily="18" charset="0"/>
                        </a:rPr>
                        <m:t>(</m:t>
                      </m:r>
                      <m:sSup>
                        <m:sSupPr>
                          <m:ctrlPr>
                            <a:rPr lang="fr-CA" b="0" i="1" smtClean="0">
                              <a:latin typeface="Cambria Math" panose="02040503050406030204" pitchFamily="18" charset="0"/>
                            </a:rPr>
                          </m:ctrlPr>
                        </m:sSupPr>
                        <m:e>
                          <m:r>
                            <a:rPr lang="fr-CA" b="0" i="1" smtClean="0">
                              <a:latin typeface="Cambria Math" panose="02040503050406030204" pitchFamily="18" charset="0"/>
                            </a:rPr>
                            <m:t>𝐵</m:t>
                          </m:r>
                        </m:e>
                        <m:sup>
                          <m:r>
                            <a:rPr lang="fr-CA" b="0" i="1" smtClean="0">
                              <a:latin typeface="Cambria Math" panose="02040503050406030204" pitchFamily="18" charset="0"/>
                            </a:rPr>
                            <m:t>′</m:t>
                          </m:r>
                        </m:sup>
                      </m:sSup>
                      <m:r>
                        <a:rPr lang="fr-CA" b="0" i="1" smtClean="0">
                          <a:latin typeface="Cambria Math" panose="02040503050406030204" pitchFamily="18" charset="0"/>
                        </a:rPr>
                        <m:t>)</m:t>
                      </m:r>
                    </m:oMath>
                  </m:oMathPara>
                </a14:m>
                <a:endParaRPr lang="fr-CA" dirty="0"/>
              </a:p>
              <a:p>
                <a:endParaRPr lang="fr-CA" dirty="0"/>
              </a:p>
            </p:txBody>
          </p:sp>
        </mc:Choice>
        <mc:Fallback xmlns="">
          <p:sp>
            <p:nvSpPr>
              <p:cNvPr id="5" name="ZoneTexte 4">
                <a:extLst>
                  <a:ext uri="{FF2B5EF4-FFF2-40B4-BE49-F238E27FC236}">
                    <a16:creationId xmlns:a16="http://schemas.microsoft.com/office/drawing/2014/main" id="{0A49ECFF-DCC2-4EB0-AFE6-71E7A967F0E7}"/>
                  </a:ext>
                </a:extLst>
              </p:cNvPr>
              <p:cNvSpPr txBox="1">
                <a:spLocks noRot="1" noChangeAspect="1" noMove="1" noResize="1" noEditPoints="1" noAdjustHandles="1" noChangeArrowheads="1" noChangeShapeType="1" noTextEdit="1"/>
              </p:cNvSpPr>
              <p:nvPr/>
            </p:nvSpPr>
            <p:spPr>
              <a:xfrm>
                <a:off x="838200" y="1280160"/>
                <a:ext cx="9953898" cy="2472536"/>
              </a:xfrm>
              <a:prstGeom prst="rect">
                <a:avLst/>
              </a:prstGeom>
              <a:blipFill>
                <a:blip r:embed="rId2"/>
                <a:stretch>
                  <a:fillRect l="-551"/>
                </a:stretch>
              </a:blipFill>
            </p:spPr>
            <p:txBody>
              <a:bodyPr/>
              <a:lstStyle/>
              <a:p>
                <a:r>
                  <a:rPr lang="fr-CA">
                    <a:noFill/>
                  </a:rPr>
                  <a:t> </a:t>
                </a:r>
              </a:p>
            </p:txBody>
          </p:sp>
        </mc:Fallback>
      </mc:AlternateContent>
      <p:sp>
        <p:nvSpPr>
          <p:cNvPr id="8" name="Rectangle 3">
            <a:extLst>
              <a:ext uri="{FF2B5EF4-FFF2-40B4-BE49-F238E27FC236}">
                <a16:creationId xmlns:a16="http://schemas.microsoft.com/office/drawing/2014/main" id="{787D361F-C175-4B0C-83BB-3C9A12244914}"/>
              </a:ext>
            </a:extLst>
          </p:cNvPr>
          <p:cNvSpPr>
            <a:spLocks noChangeArrowheads="1"/>
          </p:cNvSpPr>
          <p:nvPr/>
        </p:nvSpPr>
        <p:spPr bwMode="auto">
          <a:xfrm>
            <a:off x="76200" y="6477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CA"/>
          </a:p>
        </p:txBody>
      </p:sp>
      <p:sp>
        <p:nvSpPr>
          <p:cNvPr id="9" name="ZoneTexte 8">
            <a:extLst>
              <a:ext uri="{FF2B5EF4-FFF2-40B4-BE49-F238E27FC236}">
                <a16:creationId xmlns:a16="http://schemas.microsoft.com/office/drawing/2014/main" id="{0162EEBF-B435-4004-A43F-45A98BF7C600}"/>
              </a:ext>
            </a:extLst>
          </p:cNvPr>
          <p:cNvSpPr txBox="1"/>
          <p:nvPr/>
        </p:nvSpPr>
        <p:spPr>
          <a:xfrm>
            <a:off x="1136469" y="3866606"/>
            <a:ext cx="9953898" cy="1477328"/>
          </a:xfrm>
          <a:prstGeom prst="rect">
            <a:avLst/>
          </a:prstGeom>
          <a:noFill/>
        </p:spPr>
        <p:txBody>
          <a:bodyPr wrap="square" rtlCol="0">
            <a:spAutoFit/>
          </a:bodyPr>
          <a:lstStyle/>
          <a:p>
            <a:r>
              <a:rPr lang="fr-CA" b="1" dirty="0"/>
              <a:t>Exemple:</a:t>
            </a:r>
            <a:r>
              <a:rPr lang="fr-CA" dirty="0"/>
              <a:t> </a:t>
            </a:r>
            <a:r>
              <a:rPr lang="fr-FR" sz="1800" dirty="0">
                <a:solidFill>
                  <a:srgbClr val="000000"/>
                </a:solidFill>
                <a:effectLst/>
                <a:latin typeface="Times New Roman" panose="02020603050405020304" pitchFamily="18" charset="0"/>
                <a:ea typeface="Times New Roman" panose="02020603050405020304" pitchFamily="18" charset="0"/>
              </a:rPr>
              <a:t>Soit deux urnes, l’une contenant 5 boules rouges et 6 boules blanches, et l’autre contenant 6 boules rouges, 8 boules blanches et 4 boules jaunes. On transfère une boule de l’urne 1 vers l’urne 2 et ensuite on tire une boule au hasard dans l’urne 2. Quelle est la probabilité que la boule tirée de l’urne 2 soit rouge ?</a:t>
            </a:r>
            <a:endParaRPr lang="fr-CA" sz="1800" dirty="0">
              <a:solidFill>
                <a:srgbClr val="000000"/>
              </a:solidFill>
              <a:effectLst/>
              <a:latin typeface="Times New Roman" panose="02020603050405020304" pitchFamily="18" charset="0"/>
              <a:ea typeface="Times New Roman" panose="02020603050405020304" pitchFamily="18" charset="0"/>
            </a:endParaRPr>
          </a:p>
          <a:p>
            <a:endParaRPr lang="fr-CA" dirty="0"/>
          </a:p>
        </p:txBody>
      </p:sp>
    </p:spTree>
    <p:extLst>
      <p:ext uri="{BB962C8B-B14F-4D97-AF65-F5344CB8AC3E}">
        <p14:creationId xmlns:p14="http://schemas.microsoft.com/office/powerpoint/2010/main" val="21639242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843D035-5DB3-4F2E-AD8B-D73DA4588DBB}"/>
              </a:ext>
            </a:extLst>
          </p:cNvPr>
          <p:cNvSpPr>
            <a:spLocks noGrp="1"/>
          </p:cNvSpPr>
          <p:nvPr>
            <p:ph type="title"/>
          </p:nvPr>
        </p:nvSpPr>
        <p:spPr/>
        <p:txBody>
          <a:bodyPr/>
          <a:lstStyle/>
          <a:p>
            <a:r>
              <a:rPr lang="fr-CA" dirty="0"/>
              <a:t>Réponse:</a:t>
            </a:r>
          </a:p>
        </p:txBody>
      </p:sp>
      <p:sp>
        <p:nvSpPr>
          <p:cNvPr id="3" name="Espace réservé du pied de page 2">
            <a:extLst>
              <a:ext uri="{FF2B5EF4-FFF2-40B4-BE49-F238E27FC236}">
                <a16:creationId xmlns:a16="http://schemas.microsoft.com/office/drawing/2014/main" id="{0198E9EF-BDFC-4ECE-8710-FE0DE177CB7E}"/>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39403FAC-86E7-4FA0-B706-BCA2FD207F78}"/>
              </a:ext>
            </a:extLst>
          </p:cNvPr>
          <p:cNvSpPr>
            <a:spLocks noGrp="1"/>
          </p:cNvSpPr>
          <p:nvPr>
            <p:ph type="sldNum" sz="quarter" idx="12"/>
          </p:nvPr>
        </p:nvSpPr>
        <p:spPr/>
        <p:txBody>
          <a:bodyPr/>
          <a:lstStyle/>
          <a:p>
            <a:fld id="{26377AD9-CE17-438C-A638-C64D2D42D7CF}" type="slidenum">
              <a:rPr lang="fr-CA" smtClean="0"/>
              <a:t>17</a:t>
            </a:fld>
            <a:endParaRPr lang="fr-CA"/>
          </a:p>
        </p:txBody>
      </p:sp>
      <mc:AlternateContent xmlns:mc="http://schemas.openxmlformats.org/markup-compatibility/2006" xmlns:a14="http://schemas.microsoft.com/office/drawing/2010/main">
        <mc:Choice Requires="a14">
          <p:sp>
            <p:nvSpPr>
              <p:cNvPr id="11" name="ZoneTexte 10">
                <a:extLst>
                  <a:ext uri="{FF2B5EF4-FFF2-40B4-BE49-F238E27FC236}">
                    <a16:creationId xmlns:a16="http://schemas.microsoft.com/office/drawing/2014/main" id="{853C345B-C453-4C58-8BD1-5F46F007AD42}"/>
                  </a:ext>
                </a:extLst>
              </p:cNvPr>
              <p:cNvSpPr txBox="1"/>
              <p:nvPr/>
            </p:nvSpPr>
            <p:spPr>
              <a:xfrm>
                <a:off x="1045029" y="1690688"/>
                <a:ext cx="10515600" cy="3922420"/>
              </a:xfrm>
              <a:prstGeom prst="rect">
                <a:avLst/>
              </a:prstGeom>
              <a:noFill/>
            </p:spPr>
            <p:txBody>
              <a:bodyPr wrap="square" rtlCol="0">
                <a:spAutoFit/>
              </a:bodyPr>
              <a:lstStyle/>
              <a:p>
                <a:r>
                  <a:rPr lang="fr-CA" dirty="0"/>
                  <a:t>La probabilité qu’on cherche dépend de la boule qui va être transférée de l’urne1 vers l’urne 2. Soient:</a:t>
                </a:r>
              </a:p>
              <a:p>
                <a:pPr/>
                <a14:m>
                  <m:oMathPara xmlns:m="http://schemas.openxmlformats.org/officeDocument/2006/math">
                    <m:oMathParaPr>
                      <m:jc m:val="centerGroup"/>
                    </m:oMathParaPr>
                    <m:oMath xmlns:m="http://schemas.openxmlformats.org/officeDocument/2006/math">
                      <m:sSub>
                        <m:sSubPr>
                          <m:ctrlPr>
                            <a:rPr lang="fr-CA" i="1" smtClean="0">
                              <a:latin typeface="Cambria Math" panose="02040503050406030204" pitchFamily="18" charset="0"/>
                            </a:rPr>
                          </m:ctrlPr>
                        </m:sSubPr>
                        <m:e>
                          <m:r>
                            <a:rPr lang="fr-CA" b="0" i="1" smtClean="0">
                              <a:latin typeface="Cambria Math" panose="02040503050406030204" pitchFamily="18" charset="0"/>
                            </a:rPr>
                            <m:t>𝑇</m:t>
                          </m:r>
                        </m:e>
                        <m:sub>
                          <m:r>
                            <a:rPr lang="fr-CA" b="0" i="1" smtClean="0">
                              <a:latin typeface="Cambria Math" panose="02040503050406030204" pitchFamily="18" charset="0"/>
                            </a:rPr>
                            <m:t>𝑅</m:t>
                          </m:r>
                        </m:sub>
                      </m:sSub>
                      <m:r>
                        <a:rPr lang="fr-CA" b="0" i="1" smtClean="0">
                          <a:latin typeface="Cambria Math" panose="02040503050406030204" pitchFamily="18" charset="0"/>
                        </a:rPr>
                        <m:t>:</m:t>
                      </m:r>
                      <m:r>
                        <a:rPr lang="fr-CA" b="0" i="1" smtClean="0">
                          <a:latin typeface="Cambria Math" panose="02040503050406030204" pitchFamily="18" charset="0"/>
                        </a:rPr>
                        <m:t>𝐿𝑎</m:t>
                      </m:r>
                      <m:r>
                        <a:rPr lang="fr-CA" b="0" i="1" smtClean="0">
                          <a:latin typeface="Cambria Math" panose="02040503050406030204" pitchFamily="18" charset="0"/>
                        </a:rPr>
                        <m:t> </m:t>
                      </m:r>
                      <m:r>
                        <a:rPr lang="fr-CA" b="0" i="1" smtClean="0">
                          <a:latin typeface="Cambria Math" panose="02040503050406030204" pitchFamily="18" charset="0"/>
                        </a:rPr>
                        <m:t>𝑏𝑜𝑢𝑙𝑒</m:t>
                      </m:r>
                      <m:r>
                        <a:rPr lang="fr-CA" b="0" i="1" smtClean="0">
                          <a:latin typeface="Cambria Math" panose="02040503050406030204" pitchFamily="18" charset="0"/>
                        </a:rPr>
                        <m:t> </m:t>
                      </m:r>
                      <m:r>
                        <a:rPr lang="fr-CA" b="0" i="1" smtClean="0">
                          <a:latin typeface="Cambria Math" panose="02040503050406030204" pitchFamily="18" charset="0"/>
                        </a:rPr>
                        <m:t>𝑡𝑟𝑎𝑛𝑠𝑓</m:t>
                      </m:r>
                      <m:r>
                        <a:rPr lang="fr-CA" b="0" i="1" smtClean="0">
                          <a:latin typeface="Cambria Math" panose="02040503050406030204" pitchFamily="18" charset="0"/>
                        </a:rPr>
                        <m:t>é</m:t>
                      </m:r>
                      <m:r>
                        <a:rPr lang="fr-CA" b="0" i="1" smtClean="0">
                          <a:latin typeface="Cambria Math" panose="02040503050406030204" pitchFamily="18" charset="0"/>
                        </a:rPr>
                        <m:t>𝑟</m:t>
                      </m:r>
                      <m:r>
                        <a:rPr lang="fr-CA" b="0" i="1" smtClean="0">
                          <a:latin typeface="Cambria Math" panose="02040503050406030204" pitchFamily="18" charset="0"/>
                        </a:rPr>
                        <m:t>é </m:t>
                      </m:r>
                      <m:r>
                        <a:rPr lang="fr-CA" b="0" i="1" smtClean="0">
                          <a:latin typeface="Cambria Math" panose="02040503050406030204" pitchFamily="18" charset="0"/>
                        </a:rPr>
                        <m:t>𝑒𝑠𝑡</m:t>
                      </m:r>
                      <m:r>
                        <a:rPr lang="fr-CA" b="0" i="1" smtClean="0">
                          <a:latin typeface="Cambria Math" panose="02040503050406030204" pitchFamily="18" charset="0"/>
                        </a:rPr>
                        <m:t> </m:t>
                      </m:r>
                      <m:r>
                        <a:rPr lang="fr-CA" b="0" i="1" smtClean="0">
                          <a:latin typeface="Cambria Math" panose="02040503050406030204" pitchFamily="18" charset="0"/>
                        </a:rPr>
                        <m:t>𝑟𝑜𝑢𝑔𝑒</m:t>
                      </m:r>
                      <m:r>
                        <a:rPr lang="fr-CA" b="0" i="1" smtClean="0">
                          <a:latin typeface="Cambria Math" panose="02040503050406030204" pitchFamily="18" charset="0"/>
                        </a:rPr>
                        <m:t>       </m:t>
                      </m:r>
                      <m:r>
                        <a:rPr lang="fr-CA" b="0" i="1" smtClean="0">
                          <a:latin typeface="Cambria Math" panose="02040503050406030204" pitchFamily="18" charset="0"/>
                        </a:rPr>
                        <m:t>𝑒𝑡</m:t>
                      </m:r>
                      <m:r>
                        <a:rPr lang="fr-CA" b="0" i="1" smtClean="0">
                          <a:latin typeface="Cambria Math" panose="02040503050406030204" pitchFamily="18" charset="0"/>
                        </a:rPr>
                        <m:t>   </m:t>
                      </m:r>
                      <m:sSub>
                        <m:sSubPr>
                          <m:ctrlPr>
                            <a:rPr lang="fr-CA" b="0" i="1" smtClean="0">
                              <a:latin typeface="Cambria Math" panose="02040503050406030204" pitchFamily="18" charset="0"/>
                            </a:rPr>
                          </m:ctrlPr>
                        </m:sSubPr>
                        <m:e>
                          <m:r>
                            <a:rPr lang="fr-CA" b="0" i="1" smtClean="0">
                              <a:latin typeface="Cambria Math" panose="02040503050406030204" pitchFamily="18" charset="0"/>
                            </a:rPr>
                            <m:t>𝑅</m:t>
                          </m:r>
                        </m:e>
                        <m:sub>
                          <m:r>
                            <a:rPr lang="fr-CA" b="0" i="1" smtClean="0">
                              <a:latin typeface="Cambria Math" panose="02040503050406030204" pitchFamily="18" charset="0"/>
                            </a:rPr>
                            <m:t>2</m:t>
                          </m:r>
                        </m:sub>
                      </m:sSub>
                      <m:r>
                        <a:rPr lang="fr-CA" b="0" i="1" smtClean="0">
                          <a:latin typeface="Cambria Math" panose="02040503050406030204" pitchFamily="18" charset="0"/>
                        </a:rPr>
                        <m:t>:</m:t>
                      </m:r>
                      <m:r>
                        <a:rPr lang="fr-CA" b="0" i="1" smtClean="0">
                          <a:latin typeface="Cambria Math" panose="02040503050406030204" pitchFamily="18" charset="0"/>
                        </a:rPr>
                        <m:t>𝑙𝑎</m:t>
                      </m:r>
                      <m:r>
                        <a:rPr lang="fr-CA" b="0" i="1" smtClean="0">
                          <a:latin typeface="Cambria Math" panose="02040503050406030204" pitchFamily="18" charset="0"/>
                        </a:rPr>
                        <m:t> </m:t>
                      </m:r>
                      <m:r>
                        <a:rPr lang="fr-CA" b="0" i="1" smtClean="0">
                          <a:latin typeface="Cambria Math" panose="02040503050406030204" pitchFamily="18" charset="0"/>
                        </a:rPr>
                        <m:t>𝑏𝑜𝑢𝑙𝑒</m:t>
                      </m:r>
                      <m:r>
                        <a:rPr lang="fr-CA" b="0" i="1" smtClean="0">
                          <a:latin typeface="Cambria Math" panose="02040503050406030204" pitchFamily="18" charset="0"/>
                        </a:rPr>
                        <m:t> </m:t>
                      </m:r>
                      <m:r>
                        <a:rPr lang="fr-CA" b="0" i="1" smtClean="0">
                          <a:latin typeface="Cambria Math" panose="02040503050406030204" pitchFamily="18" charset="0"/>
                        </a:rPr>
                        <m:t>𝑡𝑖𝑟</m:t>
                      </m:r>
                      <m:r>
                        <a:rPr lang="fr-CA" b="0" i="1" smtClean="0">
                          <a:latin typeface="Cambria Math" panose="02040503050406030204" pitchFamily="18" charset="0"/>
                        </a:rPr>
                        <m:t>é</m:t>
                      </m:r>
                      <m:r>
                        <a:rPr lang="fr-CA" b="0" i="1" smtClean="0">
                          <a:latin typeface="Cambria Math" panose="02040503050406030204" pitchFamily="18" charset="0"/>
                        </a:rPr>
                        <m:t>𝑒</m:t>
                      </m:r>
                      <m:r>
                        <a:rPr lang="fr-CA" b="0" i="1" smtClean="0">
                          <a:latin typeface="Cambria Math" panose="02040503050406030204" pitchFamily="18" charset="0"/>
                        </a:rPr>
                        <m:t> </m:t>
                      </m:r>
                      <m:r>
                        <a:rPr lang="fr-CA" b="0" i="1" smtClean="0">
                          <a:latin typeface="Cambria Math" panose="02040503050406030204" pitchFamily="18" charset="0"/>
                        </a:rPr>
                        <m:t>𝑑𝑒</m:t>
                      </m:r>
                      <m:r>
                        <a:rPr lang="fr-CA" b="0" i="1" smtClean="0">
                          <a:latin typeface="Cambria Math" panose="02040503050406030204" pitchFamily="18" charset="0"/>
                        </a:rPr>
                        <m:t> </m:t>
                      </m:r>
                      <m:sSup>
                        <m:sSupPr>
                          <m:ctrlPr>
                            <a:rPr lang="fr-CA" b="0" i="1" smtClean="0">
                              <a:latin typeface="Cambria Math" panose="02040503050406030204" pitchFamily="18" charset="0"/>
                            </a:rPr>
                          </m:ctrlPr>
                        </m:sSupPr>
                        <m:e>
                          <m:r>
                            <a:rPr lang="fr-CA" b="0" i="1" smtClean="0">
                              <a:latin typeface="Cambria Math" panose="02040503050406030204" pitchFamily="18" charset="0"/>
                            </a:rPr>
                            <m:t>𝑙</m:t>
                          </m:r>
                        </m:e>
                        <m:sup>
                          <m:r>
                            <a:rPr lang="fr-CA" b="0" i="1" smtClean="0">
                              <a:latin typeface="Cambria Math" panose="02040503050406030204" pitchFamily="18" charset="0"/>
                            </a:rPr>
                            <m:t>′</m:t>
                          </m:r>
                        </m:sup>
                      </m:sSup>
                      <m:r>
                        <a:rPr lang="fr-CA" b="0" i="1" smtClean="0">
                          <a:latin typeface="Cambria Math" panose="02040503050406030204" pitchFamily="18" charset="0"/>
                        </a:rPr>
                        <m:t>𝑢𝑟𝑛𝑒</m:t>
                      </m:r>
                      <m:r>
                        <a:rPr lang="fr-CA" b="0" i="1" smtClean="0">
                          <a:latin typeface="Cambria Math" panose="02040503050406030204" pitchFamily="18" charset="0"/>
                        </a:rPr>
                        <m:t> 2 </m:t>
                      </m:r>
                      <m:r>
                        <a:rPr lang="fr-CA" b="0" i="1" smtClean="0">
                          <a:latin typeface="Cambria Math" panose="02040503050406030204" pitchFamily="18" charset="0"/>
                        </a:rPr>
                        <m:t>𝑒𝑠𝑡</m:t>
                      </m:r>
                      <m:r>
                        <a:rPr lang="fr-CA" b="0" i="1" smtClean="0">
                          <a:latin typeface="Cambria Math" panose="02040503050406030204" pitchFamily="18" charset="0"/>
                        </a:rPr>
                        <m:t> </m:t>
                      </m:r>
                      <m:r>
                        <a:rPr lang="fr-CA" b="0" i="1" smtClean="0">
                          <a:latin typeface="Cambria Math" panose="02040503050406030204" pitchFamily="18" charset="0"/>
                        </a:rPr>
                        <m:t>𝑟𝑜𝑢𝑔𝑒</m:t>
                      </m:r>
                      <m:r>
                        <a:rPr lang="fr-CA" b="0" i="1" smtClean="0">
                          <a:latin typeface="Cambria Math" panose="02040503050406030204" pitchFamily="18" charset="0"/>
                        </a:rPr>
                        <m:t>.</m:t>
                      </m:r>
                    </m:oMath>
                  </m:oMathPara>
                </a14:m>
                <a:endParaRPr lang="fr-CA" b="0" dirty="0"/>
              </a:p>
              <a:p>
                <a:endParaRPr lang="fr-CA" dirty="0"/>
              </a:p>
              <a:p>
                <a:r>
                  <a:rPr lang="fr-CA" dirty="0"/>
                  <a:t>Alors </a:t>
                </a:r>
                <a14:m>
                  <m:oMath xmlns:m="http://schemas.openxmlformats.org/officeDocument/2006/math">
                    <m:sSub>
                      <m:sSubPr>
                        <m:ctrlPr>
                          <a:rPr lang="fr-CA" i="1" smtClean="0">
                            <a:latin typeface="Cambria Math" panose="02040503050406030204" pitchFamily="18" charset="0"/>
                          </a:rPr>
                        </m:ctrlPr>
                      </m:sSubPr>
                      <m:e>
                        <m:r>
                          <a:rPr lang="fr-CA" b="0" i="1" smtClean="0">
                            <a:latin typeface="Cambria Math" panose="02040503050406030204" pitchFamily="18" charset="0"/>
                          </a:rPr>
                          <m:t>𝑅</m:t>
                        </m:r>
                      </m:e>
                      <m:sub>
                        <m:r>
                          <a:rPr lang="fr-CA" b="0" i="1" smtClean="0">
                            <a:latin typeface="Cambria Math" panose="02040503050406030204" pitchFamily="18" charset="0"/>
                          </a:rPr>
                          <m:t>2</m:t>
                        </m:r>
                      </m:sub>
                    </m:sSub>
                    <m:r>
                      <a:rPr lang="fr-CA" b="0" i="1" smtClean="0">
                        <a:latin typeface="Cambria Math" panose="02040503050406030204" pitchFamily="18" charset="0"/>
                      </a:rPr>
                      <m:t>=(</m:t>
                    </m:r>
                    <m:sSub>
                      <m:sSubPr>
                        <m:ctrlPr>
                          <a:rPr lang="fr-CA" b="0" i="1" smtClean="0">
                            <a:latin typeface="Cambria Math" panose="02040503050406030204" pitchFamily="18" charset="0"/>
                          </a:rPr>
                        </m:ctrlPr>
                      </m:sSubPr>
                      <m:e>
                        <m:r>
                          <a:rPr lang="fr-CA" b="0" i="1" smtClean="0">
                            <a:latin typeface="Cambria Math" panose="02040503050406030204" pitchFamily="18" charset="0"/>
                          </a:rPr>
                          <m:t>𝑅</m:t>
                        </m:r>
                      </m:e>
                      <m:sub>
                        <m:r>
                          <a:rPr lang="fr-CA" b="0" i="1" smtClean="0">
                            <a:latin typeface="Cambria Math" panose="02040503050406030204" pitchFamily="18" charset="0"/>
                          </a:rPr>
                          <m:t>2</m:t>
                        </m:r>
                      </m:sub>
                    </m:sSub>
                    <m:r>
                      <a:rPr lang="fr-CA" b="0" i="1" smtClean="0">
                        <a:latin typeface="Cambria Math" panose="02040503050406030204" pitchFamily="18" charset="0"/>
                        <a:ea typeface="Cambria Math" panose="02040503050406030204" pitchFamily="18" charset="0"/>
                      </a:rPr>
                      <m:t>∩</m:t>
                    </m:r>
                    <m:sSub>
                      <m:sSubPr>
                        <m:ctrlPr>
                          <a:rPr lang="fr-CA" b="0" i="1" smtClean="0">
                            <a:latin typeface="Cambria Math" panose="02040503050406030204" pitchFamily="18" charset="0"/>
                            <a:ea typeface="Cambria Math" panose="02040503050406030204" pitchFamily="18" charset="0"/>
                          </a:rPr>
                        </m:ctrlPr>
                      </m:sSubPr>
                      <m:e>
                        <m:r>
                          <a:rPr lang="fr-CA" b="0" i="1" smtClean="0">
                            <a:latin typeface="Cambria Math" panose="02040503050406030204" pitchFamily="18" charset="0"/>
                            <a:ea typeface="Cambria Math" panose="02040503050406030204" pitchFamily="18" charset="0"/>
                          </a:rPr>
                          <m:t>𝑇</m:t>
                        </m:r>
                      </m:e>
                      <m:sub>
                        <m:r>
                          <a:rPr lang="fr-CA" b="0" i="1" smtClean="0">
                            <a:latin typeface="Cambria Math" panose="02040503050406030204" pitchFamily="18" charset="0"/>
                            <a:ea typeface="Cambria Math" panose="02040503050406030204" pitchFamily="18" charset="0"/>
                          </a:rPr>
                          <m:t>𝑅</m:t>
                        </m:r>
                      </m:sub>
                    </m:sSub>
                    <m:r>
                      <a:rPr lang="fr-CA" b="0" i="1" smtClean="0">
                        <a:latin typeface="Cambria Math" panose="02040503050406030204" pitchFamily="18" charset="0"/>
                        <a:ea typeface="Cambria Math" panose="02040503050406030204" pitchFamily="18" charset="0"/>
                      </a:rPr>
                      <m:t>)∪(</m:t>
                    </m:r>
                    <m:sSub>
                      <m:sSubPr>
                        <m:ctrlPr>
                          <a:rPr lang="fr-CA" b="0" i="1" smtClean="0">
                            <a:latin typeface="Cambria Math" panose="02040503050406030204" pitchFamily="18" charset="0"/>
                            <a:ea typeface="Cambria Math" panose="02040503050406030204" pitchFamily="18" charset="0"/>
                          </a:rPr>
                        </m:ctrlPr>
                      </m:sSubPr>
                      <m:e>
                        <m:r>
                          <a:rPr lang="fr-CA" b="0" i="1" smtClean="0">
                            <a:latin typeface="Cambria Math" panose="02040503050406030204" pitchFamily="18" charset="0"/>
                            <a:ea typeface="Cambria Math" panose="02040503050406030204" pitchFamily="18" charset="0"/>
                          </a:rPr>
                          <m:t>𝑅</m:t>
                        </m:r>
                      </m:e>
                      <m:sub>
                        <m:r>
                          <a:rPr lang="fr-CA" b="0" i="1" smtClean="0">
                            <a:latin typeface="Cambria Math" panose="02040503050406030204" pitchFamily="18" charset="0"/>
                            <a:ea typeface="Cambria Math" panose="02040503050406030204" pitchFamily="18" charset="0"/>
                          </a:rPr>
                          <m:t>2</m:t>
                        </m:r>
                      </m:sub>
                    </m:sSub>
                    <m:r>
                      <a:rPr lang="fr-CA" b="0" i="1" smtClean="0">
                        <a:latin typeface="Cambria Math" panose="02040503050406030204" pitchFamily="18" charset="0"/>
                        <a:ea typeface="Cambria Math" panose="02040503050406030204" pitchFamily="18" charset="0"/>
                      </a:rPr>
                      <m:t>∩</m:t>
                    </m:r>
                    <m:sSub>
                      <m:sSubPr>
                        <m:ctrlPr>
                          <a:rPr lang="fr-CA" b="0" i="1" smtClean="0">
                            <a:latin typeface="Cambria Math" panose="02040503050406030204" pitchFamily="18" charset="0"/>
                            <a:ea typeface="Cambria Math" panose="02040503050406030204" pitchFamily="18" charset="0"/>
                          </a:rPr>
                        </m:ctrlPr>
                      </m:sSubPr>
                      <m:e>
                        <m:r>
                          <a:rPr lang="fr-CA" b="0" i="1" smtClean="0">
                            <a:latin typeface="Cambria Math" panose="02040503050406030204" pitchFamily="18" charset="0"/>
                            <a:ea typeface="Cambria Math" panose="02040503050406030204" pitchFamily="18" charset="0"/>
                          </a:rPr>
                          <m:t>𝑇</m:t>
                        </m:r>
                      </m:e>
                      <m:sub>
                        <m:r>
                          <a:rPr lang="fr-CA" b="0" i="1" smtClean="0">
                            <a:latin typeface="Cambria Math" panose="02040503050406030204" pitchFamily="18" charset="0"/>
                            <a:ea typeface="Cambria Math" panose="02040503050406030204" pitchFamily="18" charset="0"/>
                          </a:rPr>
                          <m:t>𝑅</m:t>
                        </m:r>
                        <m:r>
                          <a:rPr lang="fr-CA" b="0" i="1" smtClean="0">
                            <a:latin typeface="Cambria Math" panose="02040503050406030204" pitchFamily="18" charset="0"/>
                            <a:ea typeface="Cambria Math" panose="02040503050406030204" pitchFamily="18" charset="0"/>
                          </a:rPr>
                          <m:t>′</m:t>
                        </m:r>
                      </m:sub>
                    </m:sSub>
                    <m:r>
                      <a:rPr lang="fr-CA" b="0" i="1" smtClean="0">
                        <a:latin typeface="Cambria Math" panose="02040503050406030204" pitchFamily="18" charset="0"/>
                        <a:ea typeface="Cambria Math" panose="02040503050406030204" pitchFamily="18" charset="0"/>
                      </a:rPr>
                      <m:t>)</m:t>
                    </m:r>
                  </m:oMath>
                </a14:m>
                <a:r>
                  <a:rPr lang="fr-CA" dirty="0"/>
                  <a:t>      et ces deux événements sont disjoints, donc:</a:t>
                </a:r>
              </a:p>
              <a:p>
                <a:endParaRPr lang="fr-CA" dirty="0"/>
              </a:p>
              <a:p>
                <a:pPr/>
                <a14:m>
                  <m:oMathPara xmlns:m="http://schemas.openxmlformats.org/officeDocument/2006/math">
                    <m:oMathParaPr>
                      <m:jc m:val="centerGroup"/>
                    </m:oMathParaPr>
                    <m:oMath xmlns:m="http://schemas.openxmlformats.org/officeDocument/2006/math">
                      <m:r>
                        <a:rPr lang="fr-CA" b="0" i="1" smtClean="0">
                          <a:latin typeface="Cambria Math" panose="02040503050406030204" pitchFamily="18" charset="0"/>
                        </a:rPr>
                        <m:t>𝑃</m:t>
                      </m:r>
                      <m:d>
                        <m:dPr>
                          <m:ctrlPr>
                            <a:rPr lang="fr-CA" b="0" i="1" smtClean="0">
                              <a:latin typeface="Cambria Math" panose="02040503050406030204" pitchFamily="18" charset="0"/>
                            </a:rPr>
                          </m:ctrlPr>
                        </m:dPr>
                        <m:e>
                          <m:sSub>
                            <m:sSubPr>
                              <m:ctrlPr>
                                <a:rPr lang="fr-CA" i="1">
                                  <a:latin typeface="Cambria Math" panose="02040503050406030204" pitchFamily="18" charset="0"/>
                                </a:rPr>
                              </m:ctrlPr>
                            </m:sSubPr>
                            <m:e>
                              <m:r>
                                <a:rPr lang="fr-CA" i="1">
                                  <a:latin typeface="Cambria Math" panose="02040503050406030204" pitchFamily="18" charset="0"/>
                                </a:rPr>
                                <m:t>𝑅</m:t>
                              </m:r>
                            </m:e>
                            <m:sub>
                              <m:r>
                                <a:rPr lang="fr-CA" i="1">
                                  <a:latin typeface="Cambria Math" panose="02040503050406030204" pitchFamily="18" charset="0"/>
                                </a:rPr>
                                <m:t>2</m:t>
                              </m:r>
                            </m:sub>
                          </m:sSub>
                        </m:e>
                      </m:d>
                      <m:r>
                        <a:rPr lang="fr-CA" b="0" i="0" smtClean="0">
                          <a:latin typeface="Cambria Math" panose="02040503050406030204" pitchFamily="18" charset="0"/>
                        </a:rPr>
                        <m:t>=</m:t>
                      </m:r>
                      <m:r>
                        <m:rPr>
                          <m:sty m:val="p"/>
                        </m:rPr>
                        <a:rPr lang="fr-CA" b="0" i="0" smtClean="0">
                          <a:latin typeface="Cambria Math" panose="02040503050406030204" pitchFamily="18" charset="0"/>
                        </a:rPr>
                        <m:t>P</m:t>
                      </m:r>
                      <m:d>
                        <m:dPr>
                          <m:ctrlPr>
                            <a:rPr lang="fr-CA" b="0" i="1" smtClean="0">
                              <a:latin typeface="Cambria Math" panose="02040503050406030204" pitchFamily="18" charset="0"/>
                            </a:rPr>
                          </m:ctrlPr>
                        </m:dPr>
                        <m:e>
                          <m:sSub>
                            <m:sSubPr>
                              <m:ctrlPr>
                                <a:rPr lang="fr-CA" i="1">
                                  <a:latin typeface="Cambria Math" panose="02040503050406030204" pitchFamily="18" charset="0"/>
                                </a:rPr>
                              </m:ctrlPr>
                            </m:sSubPr>
                            <m:e>
                              <m:r>
                                <a:rPr lang="fr-CA" i="1">
                                  <a:latin typeface="Cambria Math" panose="02040503050406030204" pitchFamily="18" charset="0"/>
                                </a:rPr>
                                <m:t>𝑅</m:t>
                              </m:r>
                            </m:e>
                            <m:sub>
                              <m:r>
                                <a:rPr lang="fr-CA" i="1">
                                  <a:latin typeface="Cambria Math" panose="02040503050406030204" pitchFamily="18" charset="0"/>
                                </a:rPr>
                                <m:t>2</m:t>
                              </m:r>
                            </m:sub>
                          </m:sSub>
                          <m:r>
                            <a:rPr lang="fr-CA" i="1">
                              <a:latin typeface="Cambria Math" panose="02040503050406030204" pitchFamily="18" charset="0"/>
                              <a:ea typeface="Cambria Math" panose="02040503050406030204" pitchFamily="18" charset="0"/>
                            </a:rPr>
                            <m:t>∩</m:t>
                          </m:r>
                          <m:sSub>
                            <m:sSubPr>
                              <m:ctrlPr>
                                <a:rPr lang="fr-CA" i="1">
                                  <a:latin typeface="Cambria Math" panose="02040503050406030204" pitchFamily="18" charset="0"/>
                                  <a:ea typeface="Cambria Math" panose="02040503050406030204" pitchFamily="18" charset="0"/>
                                </a:rPr>
                              </m:ctrlPr>
                            </m:sSubPr>
                            <m:e>
                              <m:r>
                                <a:rPr lang="fr-CA" i="1">
                                  <a:latin typeface="Cambria Math" panose="02040503050406030204" pitchFamily="18" charset="0"/>
                                  <a:ea typeface="Cambria Math" panose="02040503050406030204" pitchFamily="18" charset="0"/>
                                </a:rPr>
                                <m:t>𝑇</m:t>
                              </m:r>
                            </m:e>
                            <m:sub>
                              <m:r>
                                <a:rPr lang="fr-CA" i="1">
                                  <a:latin typeface="Cambria Math" panose="02040503050406030204" pitchFamily="18" charset="0"/>
                                  <a:ea typeface="Cambria Math" panose="02040503050406030204" pitchFamily="18" charset="0"/>
                                </a:rPr>
                                <m:t>𝑅</m:t>
                              </m:r>
                            </m:sub>
                          </m:sSub>
                        </m:e>
                      </m:d>
                      <m:r>
                        <a:rPr lang="fr-CA" b="0" i="1" smtClean="0">
                          <a:latin typeface="Cambria Math" panose="02040503050406030204" pitchFamily="18" charset="0"/>
                          <a:ea typeface="Cambria Math" panose="02040503050406030204" pitchFamily="18" charset="0"/>
                        </a:rPr>
                        <m:t>+</m:t>
                      </m:r>
                      <m:r>
                        <a:rPr lang="fr-CA" b="0" i="1" smtClean="0">
                          <a:latin typeface="Cambria Math" panose="02040503050406030204" pitchFamily="18" charset="0"/>
                          <a:ea typeface="Cambria Math" panose="02040503050406030204" pitchFamily="18" charset="0"/>
                        </a:rPr>
                        <m:t>𝑃</m:t>
                      </m:r>
                      <m:d>
                        <m:dPr>
                          <m:ctrlPr>
                            <a:rPr lang="fr-CA" b="0" i="1" smtClean="0">
                              <a:latin typeface="Cambria Math" panose="02040503050406030204" pitchFamily="18" charset="0"/>
                              <a:ea typeface="Cambria Math" panose="02040503050406030204" pitchFamily="18" charset="0"/>
                            </a:rPr>
                          </m:ctrlPr>
                        </m:dPr>
                        <m:e>
                          <m:sSub>
                            <m:sSubPr>
                              <m:ctrlPr>
                                <a:rPr lang="fr-CA" i="1">
                                  <a:latin typeface="Cambria Math" panose="02040503050406030204" pitchFamily="18" charset="0"/>
                                  <a:ea typeface="Cambria Math" panose="02040503050406030204" pitchFamily="18" charset="0"/>
                                </a:rPr>
                              </m:ctrlPr>
                            </m:sSubPr>
                            <m:e>
                              <m:r>
                                <a:rPr lang="fr-CA" i="1">
                                  <a:latin typeface="Cambria Math" panose="02040503050406030204" pitchFamily="18" charset="0"/>
                                  <a:ea typeface="Cambria Math" panose="02040503050406030204" pitchFamily="18" charset="0"/>
                                </a:rPr>
                                <m:t>𝑅</m:t>
                              </m:r>
                            </m:e>
                            <m:sub>
                              <m:r>
                                <a:rPr lang="fr-CA" i="1">
                                  <a:latin typeface="Cambria Math" panose="02040503050406030204" pitchFamily="18" charset="0"/>
                                  <a:ea typeface="Cambria Math" panose="02040503050406030204" pitchFamily="18" charset="0"/>
                                </a:rPr>
                                <m:t>2</m:t>
                              </m:r>
                            </m:sub>
                          </m:sSub>
                          <m:r>
                            <a:rPr lang="fr-CA" i="1">
                              <a:latin typeface="Cambria Math" panose="02040503050406030204" pitchFamily="18" charset="0"/>
                              <a:ea typeface="Cambria Math" panose="02040503050406030204" pitchFamily="18" charset="0"/>
                            </a:rPr>
                            <m:t>∩</m:t>
                          </m:r>
                          <m:sSub>
                            <m:sSubPr>
                              <m:ctrlPr>
                                <a:rPr lang="fr-CA" i="1">
                                  <a:latin typeface="Cambria Math" panose="02040503050406030204" pitchFamily="18" charset="0"/>
                                  <a:ea typeface="Cambria Math" panose="02040503050406030204" pitchFamily="18" charset="0"/>
                                </a:rPr>
                              </m:ctrlPr>
                            </m:sSubPr>
                            <m:e>
                              <m:r>
                                <a:rPr lang="fr-CA" i="1">
                                  <a:latin typeface="Cambria Math" panose="02040503050406030204" pitchFamily="18" charset="0"/>
                                  <a:ea typeface="Cambria Math" panose="02040503050406030204" pitchFamily="18" charset="0"/>
                                </a:rPr>
                                <m:t>𝑇</m:t>
                              </m:r>
                            </m:e>
                            <m:sub>
                              <m:sSup>
                                <m:sSupPr>
                                  <m:ctrlPr>
                                    <a:rPr lang="fr-CA" i="1">
                                      <a:latin typeface="Cambria Math" panose="02040503050406030204" pitchFamily="18" charset="0"/>
                                      <a:ea typeface="Cambria Math" panose="02040503050406030204" pitchFamily="18" charset="0"/>
                                    </a:rPr>
                                  </m:ctrlPr>
                                </m:sSupPr>
                                <m:e>
                                  <m:r>
                                    <a:rPr lang="fr-CA" i="1">
                                      <a:latin typeface="Cambria Math" panose="02040503050406030204" pitchFamily="18" charset="0"/>
                                      <a:ea typeface="Cambria Math" panose="02040503050406030204" pitchFamily="18" charset="0"/>
                                    </a:rPr>
                                    <m:t>𝑅</m:t>
                                  </m:r>
                                </m:e>
                                <m:sup>
                                  <m:r>
                                    <a:rPr lang="fr-CA" i="1">
                                      <a:latin typeface="Cambria Math" panose="02040503050406030204" pitchFamily="18" charset="0"/>
                                      <a:ea typeface="Cambria Math" panose="02040503050406030204" pitchFamily="18" charset="0"/>
                                    </a:rPr>
                                    <m:t>′</m:t>
                                  </m:r>
                                </m:sup>
                              </m:sSup>
                            </m:sub>
                          </m:sSub>
                        </m:e>
                      </m:d>
                      <m:r>
                        <a:rPr lang="fr-CA" b="0" i="1" smtClean="0">
                          <a:latin typeface="Cambria Math" panose="02040503050406030204" pitchFamily="18" charset="0"/>
                          <a:ea typeface="Cambria Math" panose="02040503050406030204" pitchFamily="18" charset="0"/>
                        </a:rPr>
                        <m:t>    </m:t>
                      </m:r>
                    </m:oMath>
                  </m:oMathPara>
                </a14:m>
                <a:endParaRPr lang="fr-CA" b="0" dirty="0">
                  <a:ea typeface="Cambria Math" panose="02040503050406030204" pitchFamily="18" charset="0"/>
                </a:endParaRPr>
              </a:p>
              <a:p>
                <a:r>
                  <a:rPr lang="fr-CA" dirty="0"/>
                  <a:t>Or  </a:t>
                </a:r>
              </a:p>
              <a:p>
                <a:pPr/>
                <a14:m>
                  <m:oMathPara xmlns:m="http://schemas.openxmlformats.org/officeDocument/2006/math">
                    <m:oMathParaPr>
                      <m:jc m:val="centerGroup"/>
                    </m:oMathParaPr>
                    <m:oMath xmlns:m="http://schemas.openxmlformats.org/officeDocument/2006/math">
                      <m:r>
                        <m:rPr>
                          <m:sty m:val="p"/>
                        </m:rPr>
                        <a:rPr lang="fr-CA">
                          <a:latin typeface="Cambria Math" panose="02040503050406030204" pitchFamily="18" charset="0"/>
                        </a:rPr>
                        <m:t>P</m:t>
                      </m:r>
                      <m:d>
                        <m:dPr>
                          <m:ctrlPr>
                            <a:rPr lang="fr-CA" i="1" smtClean="0">
                              <a:latin typeface="Cambria Math" panose="02040503050406030204" pitchFamily="18" charset="0"/>
                            </a:rPr>
                          </m:ctrlPr>
                        </m:dPr>
                        <m:e>
                          <m:sSub>
                            <m:sSubPr>
                              <m:ctrlPr>
                                <a:rPr lang="fr-CA" i="1">
                                  <a:latin typeface="Cambria Math" panose="02040503050406030204" pitchFamily="18" charset="0"/>
                                </a:rPr>
                              </m:ctrlPr>
                            </m:sSubPr>
                            <m:e>
                              <m:r>
                                <a:rPr lang="fr-CA" i="1">
                                  <a:latin typeface="Cambria Math" panose="02040503050406030204" pitchFamily="18" charset="0"/>
                                </a:rPr>
                                <m:t>𝑅</m:t>
                              </m:r>
                            </m:e>
                            <m:sub>
                              <m:r>
                                <a:rPr lang="fr-CA" i="1">
                                  <a:latin typeface="Cambria Math" panose="02040503050406030204" pitchFamily="18" charset="0"/>
                                </a:rPr>
                                <m:t>2</m:t>
                              </m:r>
                            </m:sub>
                          </m:sSub>
                          <m:r>
                            <a:rPr lang="fr-CA" i="1">
                              <a:latin typeface="Cambria Math" panose="02040503050406030204" pitchFamily="18" charset="0"/>
                              <a:ea typeface="Cambria Math" panose="02040503050406030204" pitchFamily="18" charset="0"/>
                            </a:rPr>
                            <m:t>∩</m:t>
                          </m:r>
                          <m:sSub>
                            <m:sSubPr>
                              <m:ctrlPr>
                                <a:rPr lang="fr-CA" i="1">
                                  <a:latin typeface="Cambria Math" panose="02040503050406030204" pitchFamily="18" charset="0"/>
                                  <a:ea typeface="Cambria Math" panose="02040503050406030204" pitchFamily="18" charset="0"/>
                                </a:rPr>
                              </m:ctrlPr>
                            </m:sSubPr>
                            <m:e>
                              <m:r>
                                <a:rPr lang="fr-CA" i="1">
                                  <a:latin typeface="Cambria Math" panose="02040503050406030204" pitchFamily="18" charset="0"/>
                                  <a:ea typeface="Cambria Math" panose="02040503050406030204" pitchFamily="18" charset="0"/>
                                </a:rPr>
                                <m:t>𝑇</m:t>
                              </m:r>
                            </m:e>
                            <m:sub>
                              <m:r>
                                <a:rPr lang="fr-CA" i="1">
                                  <a:latin typeface="Cambria Math" panose="02040503050406030204" pitchFamily="18" charset="0"/>
                                  <a:ea typeface="Cambria Math" panose="02040503050406030204" pitchFamily="18" charset="0"/>
                                </a:rPr>
                                <m:t>𝑅</m:t>
                              </m:r>
                            </m:sub>
                          </m:sSub>
                          <m:r>
                            <a:rPr lang="fr-CA" b="0" i="1" smtClean="0">
                              <a:latin typeface="Cambria Math" panose="02040503050406030204" pitchFamily="18" charset="0"/>
                              <a:ea typeface="Cambria Math" panose="02040503050406030204" pitchFamily="18" charset="0"/>
                            </a:rPr>
                            <m:t>)=</m:t>
                          </m:r>
                          <m:r>
                            <a:rPr lang="fr-CA" b="0" i="1" smtClean="0">
                              <a:latin typeface="Cambria Math" panose="02040503050406030204" pitchFamily="18" charset="0"/>
                              <a:ea typeface="Cambria Math" panose="02040503050406030204" pitchFamily="18" charset="0"/>
                            </a:rPr>
                            <m:t>𝑃</m:t>
                          </m:r>
                          <m:r>
                            <a:rPr lang="fr-CA" b="0" i="1" smtClean="0">
                              <a:latin typeface="Cambria Math" panose="02040503050406030204" pitchFamily="18" charset="0"/>
                              <a:ea typeface="Cambria Math" panose="02040503050406030204" pitchFamily="18" charset="0"/>
                            </a:rPr>
                            <m:t>(</m:t>
                          </m:r>
                          <m:sSub>
                            <m:sSubPr>
                              <m:ctrlPr>
                                <a:rPr lang="fr-CA" b="0" i="1" smtClean="0">
                                  <a:latin typeface="Cambria Math" panose="02040503050406030204" pitchFamily="18" charset="0"/>
                                  <a:ea typeface="Cambria Math" panose="02040503050406030204" pitchFamily="18" charset="0"/>
                                </a:rPr>
                              </m:ctrlPr>
                            </m:sSubPr>
                            <m:e>
                              <m:r>
                                <a:rPr lang="fr-CA" b="0" i="1" smtClean="0">
                                  <a:latin typeface="Cambria Math" panose="02040503050406030204" pitchFamily="18" charset="0"/>
                                  <a:ea typeface="Cambria Math" panose="02040503050406030204" pitchFamily="18" charset="0"/>
                                </a:rPr>
                                <m:t>𝑅</m:t>
                              </m:r>
                            </m:e>
                            <m:sub>
                              <m:r>
                                <a:rPr lang="fr-CA" b="0" i="1" smtClean="0">
                                  <a:latin typeface="Cambria Math" panose="02040503050406030204" pitchFamily="18" charset="0"/>
                                  <a:ea typeface="Cambria Math" panose="02040503050406030204" pitchFamily="18" charset="0"/>
                                </a:rPr>
                                <m:t>2</m:t>
                              </m:r>
                            </m:sub>
                          </m:sSub>
                          <m:r>
                            <a:rPr lang="fr-CA" b="0" i="1" smtClean="0">
                              <a:latin typeface="Cambria Math" panose="02040503050406030204" pitchFamily="18" charset="0"/>
                              <a:ea typeface="Cambria Math" panose="02040503050406030204" pitchFamily="18" charset="0"/>
                            </a:rPr>
                            <m:t>|</m:t>
                          </m:r>
                          <m:sSub>
                            <m:sSubPr>
                              <m:ctrlPr>
                                <a:rPr lang="fr-CA" b="0" i="1" smtClean="0">
                                  <a:latin typeface="Cambria Math" panose="02040503050406030204" pitchFamily="18" charset="0"/>
                                  <a:ea typeface="Cambria Math" panose="02040503050406030204" pitchFamily="18" charset="0"/>
                                </a:rPr>
                              </m:ctrlPr>
                            </m:sSubPr>
                            <m:e>
                              <m:r>
                                <a:rPr lang="fr-CA" b="0" i="1" smtClean="0">
                                  <a:latin typeface="Cambria Math" panose="02040503050406030204" pitchFamily="18" charset="0"/>
                                  <a:ea typeface="Cambria Math" panose="02040503050406030204" pitchFamily="18" charset="0"/>
                                </a:rPr>
                                <m:t>𝑇</m:t>
                              </m:r>
                            </m:e>
                            <m:sub>
                              <m:r>
                                <a:rPr lang="fr-CA" b="0" i="1" smtClean="0">
                                  <a:latin typeface="Cambria Math" panose="02040503050406030204" pitchFamily="18" charset="0"/>
                                  <a:ea typeface="Cambria Math" panose="02040503050406030204" pitchFamily="18" charset="0"/>
                                </a:rPr>
                                <m:t>𝑅</m:t>
                              </m:r>
                            </m:sub>
                          </m:sSub>
                        </m:e>
                      </m:d>
                      <m:r>
                        <a:rPr lang="fr-CA" b="0" i="1" smtClean="0">
                          <a:latin typeface="Cambria Math" panose="02040503050406030204" pitchFamily="18" charset="0"/>
                          <a:ea typeface="Cambria Math" panose="02040503050406030204" pitchFamily="18" charset="0"/>
                        </a:rPr>
                        <m:t>∗</m:t>
                      </m:r>
                      <m:r>
                        <a:rPr lang="fr-CA" b="0" i="1" smtClean="0">
                          <a:latin typeface="Cambria Math" panose="02040503050406030204" pitchFamily="18" charset="0"/>
                          <a:ea typeface="Cambria Math" panose="02040503050406030204" pitchFamily="18" charset="0"/>
                        </a:rPr>
                        <m:t>𝑃</m:t>
                      </m:r>
                      <m:d>
                        <m:dPr>
                          <m:ctrlPr>
                            <a:rPr lang="fr-CA" b="0" i="1" smtClean="0">
                              <a:latin typeface="Cambria Math" panose="02040503050406030204" pitchFamily="18" charset="0"/>
                              <a:ea typeface="Cambria Math" panose="02040503050406030204" pitchFamily="18" charset="0"/>
                            </a:rPr>
                          </m:ctrlPr>
                        </m:dPr>
                        <m:e>
                          <m:sSub>
                            <m:sSubPr>
                              <m:ctrlPr>
                                <a:rPr lang="fr-CA" b="0" i="1" smtClean="0">
                                  <a:latin typeface="Cambria Math" panose="02040503050406030204" pitchFamily="18" charset="0"/>
                                  <a:ea typeface="Cambria Math" panose="02040503050406030204" pitchFamily="18" charset="0"/>
                                </a:rPr>
                              </m:ctrlPr>
                            </m:sSubPr>
                            <m:e>
                              <m:r>
                                <a:rPr lang="fr-CA" b="0" i="1" smtClean="0">
                                  <a:latin typeface="Cambria Math" panose="02040503050406030204" pitchFamily="18" charset="0"/>
                                  <a:ea typeface="Cambria Math" panose="02040503050406030204" pitchFamily="18" charset="0"/>
                                </a:rPr>
                                <m:t>𝑇</m:t>
                              </m:r>
                            </m:e>
                            <m:sub>
                              <m:r>
                                <a:rPr lang="fr-CA" b="0" i="1" smtClean="0">
                                  <a:latin typeface="Cambria Math" panose="02040503050406030204" pitchFamily="18" charset="0"/>
                                  <a:ea typeface="Cambria Math" panose="02040503050406030204" pitchFamily="18" charset="0"/>
                                </a:rPr>
                                <m:t>𝑅</m:t>
                              </m:r>
                            </m:sub>
                          </m:sSub>
                        </m:e>
                      </m:d>
                      <m:r>
                        <a:rPr lang="fr-CA" b="0" i="1" smtClean="0">
                          <a:latin typeface="Cambria Math" panose="02040503050406030204" pitchFamily="18" charset="0"/>
                          <a:ea typeface="Cambria Math" panose="02040503050406030204" pitchFamily="18" charset="0"/>
                        </a:rPr>
                        <m:t>=</m:t>
                      </m:r>
                      <m:f>
                        <m:fPr>
                          <m:ctrlPr>
                            <a:rPr lang="fr-CA" b="0" i="1" smtClean="0">
                              <a:latin typeface="Cambria Math" panose="02040503050406030204" pitchFamily="18" charset="0"/>
                              <a:ea typeface="Cambria Math" panose="02040503050406030204" pitchFamily="18" charset="0"/>
                            </a:rPr>
                          </m:ctrlPr>
                        </m:fPr>
                        <m:num>
                          <m:r>
                            <a:rPr lang="fr-CA" b="0" i="1" smtClean="0">
                              <a:latin typeface="Cambria Math" panose="02040503050406030204" pitchFamily="18" charset="0"/>
                              <a:ea typeface="Cambria Math" panose="02040503050406030204" pitchFamily="18" charset="0"/>
                            </a:rPr>
                            <m:t>7</m:t>
                          </m:r>
                        </m:num>
                        <m:den>
                          <m:r>
                            <a:rPr lang="fr-CA" b="0" i="1" smtClean="0">
                              <a:latin typeface="Cambria Math" panose="02040503050406030204" pitchFamily="18" charset="0"/>
                              <a:ea typeface="Cambria Math" panose="02040503050406030204" pitchFamily="18" charset="0"/>
                            </a:rPr>
                            <m:t>19</m:t>
                          </m:r>
                        </m:den>
                      </m:f>
                      <m:r>
                        <a:rPr lang="fr-CA" b="0" i="1" smtClean="0">
                          <a:latin typeface="Cambria Math" panose="02040503050406030204" pitchFamily="18" charset="0"/>
                          <a:ea typeface="Cambria Math" panose="02040503050406030204" pitchFamily="18" charset="0"/>
                        </a:rPr>
                        <m:t>∗</m:t>
                      </m:r>
                      <m:f>
                        <m:fPr>
                          <m:ctrlPr>
                            <a:rPr lang="fr-CA" b="0" i="1" smtClean="0">
                              <a:latin typeface="Cambria Math" panose="02040503050406030204" pitchFamily="18" charset="0"/>
                              <a:ea typeface="Cambria Math" panose="02040503050406030204" pitchFamily="18" charset="0"/>
                            </a:rPr>
                          </m:ctrlPr>
                        </m:fPr>
                        <m:num>
                          <m:r>
                            <a:rPr lang="fr-CA" b="0" i="1" smtClean="0">
                              <a:latin typeface="Cambria Math" panose="02040503050406030204" pitchFamily="18" charset="0"/>
                              <a:ea typeface="Cambria Math" panose="02040503050406030204" pitchFamily="18" charset="0"/>
                            </a:rPr>
                            <m:t>5</m:t>
                          </m:r>
                        </m:num>
                        <m:den>
                          <m:r>
                            <a:rPr lang="fr-CA" b="0" i="1" smtClean="0">
                              <a:latin typeface="Cambria Math" panose="02040503050406030204" pitchFamily="18" charset="0"/>
                              <a:ea typeface="Cambria Math" panose="02040503050406030204" pitchFamily="18" charset="0"/>
                            </a:rPr>
                            <m:t>11</m:t>
                          </m:r>
                        </m:den>
                      </m:f>
                      <m:r>
                        <a:rPr lang="fr-CA" b="0" i="1" smtClean="0">
                          <a:latin typeface="Cambria Math" panose="02040503050406030204" pitchFamily="18" charset="0"/>
                          <a:ea typeface="Cambria Math" panose="02040503050406030204" pitchFamily="18" charset="0"/>
                        </a:rPr>
                        <m:t> </m:t>
                      </m:r>
                    </m:oMath>
                  </m:oMathPara>
                </a14:m>
                <a:endParaRPr lang="fr-CA" dirty="0"/>
              </a:p>
              <a:p>
                <a:endParaRPr lang="fr-CA" dirty="0"/>
              </a:p>
              <a:p>
                <a:r>
                  <a:rPr lang="fr-CA" dirty="0"/>
                  <a:t>Et    </a:t>
                </a:r>
                <a14:m>
                  <m:oMath xmlns:m="http://schemas.openxmlformats.org/officeDocument/2006/math">
                    <m:r>
                      <a:rPr lang="fr-CA" b="0" i="1" smtClean="0">
                        <a:latin typeface="Cambria Math" panose="02040503050406030204" pitchFamily="18" charset="0"/>
                      </a:rPr>
                      <m:t>𝑃</m:t>
                    </m:r>
                    <m:d>
                      <m:dPr>
                        <m:ctrlPr>
                          <a:rPr lang="fr-CA" i="1">
                            <a:latin typeface="Cambria Math" panose="02040503050406030204" pitchFamily="18" charset="0"/>
                            <a:ea typeface="Cambria Math" panose="02040503050406030204" pitchFamily="18" charset="0"/>
                          </a:rPr>
                        </m:ctrlPr>
                      </m:dPr>
                      <m:e>
                        <m:sSub>
                          <m:sSubPr>
                            <m:ctrlPr>
                              <a:rPr lang="fr-CA" i="1">
                                <a:latin typeface="Cambria Math" panose="02040503050406030204" pitchFamily="18" charset="0"/>
                                <a:ea typeface="Cambria Math" panose="02040503050406030204" pitchFamily="18" charset="0"/>
                              </a:rPr>
                            </m:ctrlPr>
                          </m:sSubPr>
                          <m:e>
                            <m:r>
                              <a:rPr lang="fr-CA" i="1">
                                <a:latin typeface="Cambria Math" panose="02040503050406030204" pitchFamily="18" charset="0"/>
                                <a:ea typeface="Cambria Math" panose="02040503050406030204" pitchFamily="18" charset="0"/>
                              </a:rPr>
                              <m:t>𝑅</m:t>
                            </m:r>
                          </m:e>
                          <m:sub>
                            <m:r>
                              <a:rPr lang="fr-CA" i="1">
                                <a:latin typeface="Cambria Math" panose="02040503050406030204" pitchFamily="18" charset="0"/>
                                <a:ea typeface="Cambria Math" panose="02040503050406030204" pitchFamily="18" charset="0"/>
                              </a:rPr>
                              <m:t>2</m:t>
                            </m:r>
                          </m:sub>
                        </m:sSub>
                        <m:r>
                          <a:rPr lang="fr-CA" i="1">
                            <a:latin typeface="Cambria Math" panose="02040503050406030204" pitchFamily="18" charset="0"/>
                            <a:ea typeface="Cambria Math" panose="02040503050406030204" pitchFamily="18" charset="0"/>
                          </a:rPr>
                          <m:t>∩</m:t>
                        </m:r>
                        <m:sSub>
                          <m:sSubPr>
                            <m:ctrlPr>
                              <a:rPr lang="fr-CA" i="1">
                                <a:latin typeface="Cambria Math" panose="02040503050406030204" pitchFamily="18" charset="0"/>
                                <a:ea typeface="Cambria Math" panose="02040503050406030204" pitchFamily="18" charset="0"/>
                              </a:rPr>
                            </m:ctrlPr>
                          </m:sSubPr>
                          <m:e>
                            <m:r>
                              <a:rPr lang="fr-CA" i="1">
                                <a:latin typeface="Cambria Math" panose="02040503050406030204" pitchFamily="18" charset="0"/>
                                <a:ea typeface="Cambria Math" panose="02040503050406030204" pitchFamily="18" charset="0"/>
                              </a:rPr>
                              <m:t>𝑇</m:t>
                            </m:r>
                          </m:e>
                          <m:sub>
                            <m:sSup>
                              <m:sSupPr>
                                <m:ctrlPr>
                                  <a:rPr lang="fr-CA" i="1">
                                    <a:latin typeface="Cambria Math" panose="02040503050406030204" pitchFamily="18" charset="0"/>
                                    <a:ea typeface="Cambria Math" panose="02040503050406030204" pitchFamily="18" charset="0"/>
                                  </a:rPr>
                                </m:ctrlPr>
                              </m:sSupPr>
                              <m:e>
                                <m:r>
                                  <a:rPr lang="fr-CA" i="1">
                                    <a:latin typeface="Cambria Math" panose="02040503050406030204" pitchFamily="18" charset="0"/>
                                    <a:ea typeface="Cambria Math" panose="02040503050406030204" pitchFamily="18" charset="0"/>
                                  </a:rPr>
                                  <m:t>𝑅</m:t>
                                </m:r>
                              </m:e>
                              <m:sup>
                                <m:r>
                                  <a:rPr lang="fr-CA" i="1">
                                    <a:latin typeface="Cambria Math" panose="02040503050406030204" pitchFamily="18" charset="0"/>
                                    <a:ea typeface="Cambria Math" panose="02040503050406030204" pitchFamily="18" charset="0"/>
                                  </a:rPr>
                                  <m:t>′</m:t>
                                </m:r>
                              </m:sup>
                            </m:sSup>
                          </m:sub>
                        </m:sSub>
                      </m:e>
                    </m:d>
                    <m:r>
                      <a:rPr lang="fr-CA" b="0" i="1" smtClean="0">
                        <a:latin typeface="Cambria Math" panose="02040503050406030204" pitchFamily="18" charset="0"/>
                        <a:ea typeface="Cambria Math" panose="02040503050406030204" pitchFamily="18" charset="0"/>
                      </a:rPr>
                      <m:t>=</m:t>
                    </m:r>
                    <m:r>
                      <a:rPr lang="fr-CA" i="1">
                        <a:latin typeface="Cambria Math" panose="02040503050406030204" pitchFamily="18" charset="0"/>
                        <a:ea typeface="Cambria Math" panose="02040503050406030204" pitchFamily="18" charset="0"/>
                      </a:rPr>
                      <m:t>𝑃</m:t>
                    </m:r>
                    <m:r>
                      <a:rPr lang="fr-CA" i="1">
                        <a:latin typeface="Cambria Math" panose="02040503050406030204" pitchFamily="18" charset="0"/>
                        <a:ea typeface="Cambria Math" panose="02040503050406030204" pitchFamily="18" charset="0"/>
                      </a:rPr>
                      <m:t>(</m:t>
                    </m:r>
                    <m:sSub>
                      <m:sSubPr>
                        <m:ctrlPr>
                          <a:rPr lang="fr-CA" i="1">
                            <a:latin typeface="Cambria Math" panose="02040503050406030204" pitchFamily="18" charset="0"/>
                            <a:ea typeface="Cambria Math" panose="02040503050406030204" pitchFamily="18" charset="0"/>
                          </a:rPr>
                        </m:ctrlPr>
                      </m:sSubPr>
                      <m:e>
                        <m:r>
                          <a:rPr lang="fr-CA" i="1">
                            <a:latin typeface="Cambria Math" panose="02040503050406030204" pitchFamily="18" charset="0"/>
                            <a:ea typeface="Cambria Math" panose="02040503050406030204" pitchFamily="18" charset="0"/>
                          </a:rPr>
                          <m:t>𝑅</m:t>
                        </m:r>
                      </m:e>
                      <m:sub>
                        <m:r>
                          <a:rPr lang="fr-CA" i="1">
                            <a:latin typeface="Cambria Math" panose="02040503050406030204" pitchFamily="18" charset="0"/>
                            <a:ea typeface="Cambria Math" panose="02040503050406030204" pitchFamily="18" charset="0"/>
                          </a:rPr>
                          <m:t>2</m:t>
                        </m:r>
                      </m:sub>
                    </m:sSub>
                    <m:r>
                      <a:rPr lang="fr-CA" i="1">
                        <a:latin typeface="Cambria Math" panose="02040503050406030204" pitchFamily="18" charset="0"/>
                        <a:ea typeface="Cambria Math" panose="02040503050406030204" pitchFamily="18" charset="0"/>
                      </a:rPr>
                      <m:t>|</m:t>
                    </m:r>
                    <m:sSub>
                      <m:sSubPr>
                        <m:ctrlPr>
                          <a:rPr lang="fr-CA" i="1">
                            <a:latin typeface="Cambria Math" panose="02040503050406030204" pitchFamily="18" charset="0"/>
                            <a:ea typeface="Cambria Math" panose="02040503050406030204" pitchFamily="18" charset="0"/>
                          </a:rPr>
                        </m:ctrlPr>
                      </m:sSubPr>
                      <m:e>
                        <m:r>
                          <a:rPr lang="fr-CA" i="1">
                            <a:latin typeface="Cambria Math" panose="02040503050406030204" pitchFamily="18" charset="0"/>
                            <a:ea typeface="Cambria Math" panose="02040503050406030204" pitchFamily="18" charset="0"/>
                          </a:rPr>
                          <m:t>𝑇</m:t>
                        </m:r>
                      </m:e>
                      <m:sub>
                        <m:r>
                          <a:rPr lang="fr-CA" i="1">
                            <a:latin typeface="Cambria Math" panose="02040503050406030204" pitchFamily="18" charset="0"/>
                            <a:ea typeface="Cambria Math" panose="02040503050406030204" pitchFamily="18" charset="0"/>
                          </a:rPr>
                          <m:t>𝑅</m:t>
                        </m:r>
                      </m:sub>
                    </m:sSub>
                  </m:oMath>
                </a14:m>
                <a:r>
                  <a:rPr lang="fr-CA" dirty="0"/>
                  <a:t>’)*P(</a:t>
                </a:r>
                <a14:m>
                  <m:oMath xmlns:m="http://schemas.openxmlformats.org/officeDocument/2006/math">
                    <m:sSub>
                      <m:sSubPr>
                        <m:ctrlPr>
                          <a:rPr lang="fr-CA" i="1" smtClean="0">
                            <a:latin typeface="Cambria Math" panose="02040503050406030204" pitchFamily="18" charset="0"/>
                          </a:rPr>
                        </m:ctrlPr>
                      </m:sSubPr>
                      <m:e>
                        <m:r>
                          <a:rPr lang="fr-CA" b="0" i="1" smtClean="0">
                            <a:latin typeface="Cambria Math" panose="02040503050406030204" pitchFamily="18" charset="0"/>
                          </a:rPr>
                          <m:t>𝑇</m:t>
                        </m:r>
                      </m:e>
                      <m:sub>
                        <m:r>
                          <a:rPr lang="fr-CA" b="0" i="1" smtClean="0">
                            <a:latin typeface="Cambria Math" panose="02040503050406030204" pitchFamily="18" charset="0"/>
                          </a:rPr>
                          <m:t>𝑅</m:t>
                        </m:r>
                        <m:r>
                          <a:rPr lang="fr-CA" b="0" i="1" smtClean="0">
                            <a:latin typeface="Cambria Math" panose="02040503050406030204" pitchFamily="18" charset="0"/>
                          </a:rPr>
                          <m:t>′</m:t>
                        </m:r>
                      </m:sub>
                    </m:sSub>
                    <m:r>
                      <a:rPr lang="fr-CA" b="0" i="1" smtClean="0">
                        <a:latin typeface="Cambria Math" panose="02040503050406030204" pitchFamily="18" charset="0"/>
                      </a:rPr>
                      <m:t>)=</m:t>
                    </m:r>
                    <m:f>
                      <m:fPr>
                        <m:ctrlPr>
                          <a:rPr lang="fr-CA" b="0" i="1" smtClean="0">
                            <a:latin typeface="Cambria Math" panose="02040503050406030204" pitchFamily="18" charset="0"/>
                          </a:rPr>
                        </m:ctrlPr>
                      </m:fPr>
                      <m:num>
                        <m:r>
                          <a:rPr lang="fr-CA" b="0" i="1" smtClean="0">
                            <a:latin typeface="Cambria Math" panose="02040503050406030204" pitchFamily="18" charset="0"/>
                          </a:rPr>
                          <m:t>6</m:t>
                        </m:r>
                      </m:num>
                      <m:den>
                        <m:r>
                          <a:rPr lang="fr-CA" b="0" i="1" smtClean="0">
                            <a:latin typeface="Cambria Math" panose="02040503050406030204" pitchFamily="18" charset="0"/>
                          </a:rPr>
                          <m:t>19</m:t>
                        </m:r>
                      </m:den>
                    </m:f>
                    <m:f>
                      <m:fPr>
                        <m:ctrlPr>
                          <a:rPr lang="fr-CA" b="0" i="1" smtClean="0">
                            <a:latin typeface="Cambria Math" panose="02040503050406030204" pitchFamily="18" charset="0"/>
                          </a:rPr>
                        </m:ctrlPr>
                      </m:fPr>
                      <m:num>
                        <m:r>
                          <a:rPr lang="fr-CA" b="0" i="1" smtClean="0">
                            <a:latin typeface="Cambria Math" panose="02040503050406030204" pitchFamily="18" charset="0"/>
                          </a:rPr>
                          <m:t>6</m:t>
                        </m:r>
                      </m:num>
                      <m:den>
                        <m:r>
                          <a:rPr lang="fr-CA" b="0" i="1" smtClean="0">
                            <a:latin typeface="Cambria Math" panose="02040503050406030204" pitchFamily="18" charset="0"/>
                          </a:rPr>
                          <m:t>11</m:t>
                        </m:r>
                      </m:den>
                    </m:f>
                  </m:oMath>
                </a14:m>
                <a:endParaRPr lang="fr-CA" dirty="0"/>
              </a:p>
              <a:p>
                <a:endParaRPr lang="fr-CA" dirty="0"/>
              </a:p>
              <a:p>
                <a:r>
                  <a:rPr lang="fr-CA" dirty="0"/>
                  <a:t>Donc</a:t>
                </a:r>
                <a14:m>
                  <m:oMath xmlns:m="http://schemas.openxmlformats.org/officeDocument/2006/math">
                    <m:r>
                      <a:rPr lang="fr-CA" i="1">
                        <a:latin typeface="Cambria Math" panose="02040503050406030204" pitchFamily="18" charset="0"/>
                      </a:rPr>
                      <m:t>𝑃</m:t>
                    </m:r>
                    <m:d>
                      <m:dPr>
                        <m:ctrlPr>
                          <a:rPr lang="fr-CA" i="1">
                            <a:latin typeface="Cambria Math" panose="02040503050406030204" pitchFamily="18" charset="0"/>
                          </a:rPr>
                        </m:ctrlPr>
                      </m:dPr>
                      <m:e>
                        <m:sSub>
                          <m:sSubPr>
                            <m:ctrlPr>
                              <a:rPr lang="fr-CA" i="1">
                                <a:latin typeface="Cambria Math" panose="02040503050406030204" pitchFamily="18" charset="0"/>
                              </a:rPr>
                            </m:ctrlPr>
                          </m:sSubPr>
                          <m:e>
                            <m:r>
                              <a:rPr lang="fr-CA" i="1">
                                <a:latin typeface="Cambria Math" panose="02040503050406030204" pitchFamily="18" charset="0"/>
                              </a:rPr>
                              <m:t>𝑅</m:t>
                            </m:r>
                          </m:e>
                          <m:sub>
                            <m:r>
                              <a:rPr lang="fr-CA" i="1">
                                <a:latin typeface="Cambria Math" panose="02040503050406030204" pitchFamily="18" charset="0"/>
                              </a:rPr>
                              <m:t>2</m:t>
                            </m:r>
                          </m:sub>
                        </m:sSub>
                      </m:e>
                    </m:d>
                    <m:r>
                      <a:rPr lang="fr-CA" b="0" i="0" smtClean="0">
                        <a:latin typeface="Cambria Math" panose="02040503050406030204" pitchFamily="18" charset="0"/>
                      </a:rPr>
                      <m:t>=</m:t>
                    </m:r>
                    <m:f>
                      <m:fPr>
                        <m:ctrlPr>
                          <a:rPr lang="fr-CA" b="0" i="1" smtClean="0">
                            <a:latin typeface="Cambria Math" panose="02040503050406030204" pitchFamily="18" charset="0"/>
                          </a:rPr>
                        </m:ctrlPr>
                      </m:fPr>
                      <m:num>
                        <m:r>
                          <a:rPr lang="fr-CA" b="0" i="1" smtClean="0">
                            <a:latin typeface="Cambria Math" panose="02040503050406030204" pitchFamily="18" charset="0"/>
                          </a:rPr>
                          <m:t>35</m:t>
                        </m:r>
                      </m:num>
                      <m:den>
                        <m:r>
                          <a:rPr lang="fr-CA" b="0" i="1" smtClean="0">
                            <a:latin typeface="Cambria Math" panose="02040503050406030204" pitchFamily="18" charset="0"/>
                          </a:rPr>
                          <m:t>209</m:t>
                        </m:r>
                      </m:den>
                    </m:f>
                    <m:r>
                      <a:rPr lang="fr-CA" b="0" i="1" smtClean="0">
                        <a:latin typeface="Cambria Math" panose="02040503050406030204" pitchFamily="18" charset="0"/>
                      </a:rPr>
                      <m:t>+</m:t>
                    </m:r>
                    <m:f>
                      <m:fPr>
                        <m:ctrlPr>
                          <a:rPr lang="fr-CA" b="0" i="1" smtClean="0">
                            <a:latin typeface="Cambria Math" panose="02040503050406030204" pitchFamily="18" charset="0"/>
                          </a:rPr>
                        </m:ctrlPr>
                      </m:fPr>
                      <m:num>
                        <m:r>
                          <a:rPr lang="fr-CA" b="0" i="1" smtClean="0">
                            <a:latin typeface="Cambria Math" panose="02040503050406030204" pitchFamily="18" charset="0"/>
                          </a:rPr>
                          <m:t>36</m:t>
                        </m:r>
                      </m:num>
                      <m:den>
                        <m:r>
                          <a:rPr lang="fr-CA" b="0" i="1" smtClean="0">
                            <a:latin typeface="Cambria Math" panose="02040503050406030204" pitchFamily="18" charset="0"/>
                          </a:rPr>
                          <m:t>209</m:t>
                        </m:r>
                      </m:den>
                    </m:f>
                    <m:r>
                      <a:rPr lang="fr-CA" b="0" i="1" smtClean="0">
                        <a:latin typeface="Cambria Math" panose="02040503050406030204" pitchFamily="18" charset="0"/>
                      </a:rPr>
                      <m:t>=</m:t>
                    </m:r>
                    <m:f>
                      <m:fPr>
                        <m:ctrlPr>
                          <a:rPr lang="fr-CA" b="0" i="1" smtClean="0">
                            <a:latin typeface="Cambria Math" panose="02040503050406030204" pitchFamily="18" charset="0"/>
                          </a:rPr>
                        </m:ctrlPr>
                      </m:fPr>
                      <m:num>
                        <m:r>
                          <a:rPr lang="fr-CA" b="0" i="1" smtClean="0">
                            <a:latin typeface="Cambria Math" panose="02040503050406030204" pitchFamily="18" charset="0"/>
                          </a:rPr>
                          <m:t>71</m:t>
                        </m:r>
                      </m:num>
                      <m:den>
                        <m:r>
                          <a:rPr lang="fr-CA" b="0" i="1" smtClean="0">
                            <a:latin typeface="Cambria Math" panose="02040503050406030204" pitchFamily="18" charset="0"/>
                          </a:rPr>
                          <m:t>209</m:t>
                        </m:r>
                      </m:den>
                    </m:f>
                    <m:r>
                      <a:rPr lang="fr-CA" b="0" i="1" smtClean="0">
                        <a:latin typeface="Cambria Math" panose="02040503050406030204" pitchFamily="18" charset="0"/>
                      </a:rPr>
                      <m:t>=0,3397</m:t>
                    </m:r>
                  </m:oMath>
                </a14:m>
                <a:endParaRPr lang="fr-CA" dirty="0"/>
              </a:p>
            </p:txBody>
          </p:sp>
        </mc:Choice>
        <mc:Fallback xmlns="">
          <p:sp>
            <p:nvSpPr>
              <p:cNvPr id="11" name="ZoneTexte 10">
                <a:extLst>
                  <a:ext uri="{FF2B5EF4-FFF2-40B4-BE49-F238E27FC236}">
                    <a16:creationId xmlns:a16="http://schemas.microsoft.com/office/drawing/2014/main" id="{853C345B-C453-4C58-8BD1-5F46F007AD42}"/>
                  </a:ext>
                </a:extLst>
              </p:cNvPr>
              <p:cNvSpPr txBox="1">
                <a:spLocks noRot="1" noChangeAspect="1" noMove="1" noResize="1" noEditPoints="1" noAdjustHandles="1" noChangeArrowheads="1" noChangeShapeType="1" noTextEdit="1"/>
              </p:cNvSpPr>
              <p:nvPr/>
            </p:nvSpPr>
            <p:spPr>
              <a:xfrm>
                <a:off x="1045029" y="1690688"/>
                <a:ext cx="10515600" cy="3922420"/>
              </a:xfrm>
              <a:prstGeom prst="rect">
                <a:avLst/>
              </a:prstGeom>
              <a:blipFill>
                <a:blip r:embed="rId2"/>
                <a:stretch>
                  <a:fillRect l="-464" t="-776"/>
                </a:stretch>
              </a:blipFill>
            </p:spPr>
            <p:txBody>
              <a:bodyPr/>
              <a:lstStyle/>
              <a:p>
                <a:r>
                  <a:rPr lang="fr-CA">
                    <a:noFill/>
                  </a:rPr>
                  <a:t> </a:t>
                </a:r>
              </a:p>
            </p:txBody>
          </p:sp>
        </mc:Fallback>
      </mc:AlternateContent>
    </p:spTree>
    <p:extLst>
      <p:ext uri="{BB962C8B-B14F-4D97-AF65-F5344CB8AC3E}">
        <p14:creationId xmlns:p14="http://schemas.microsoft.com/office/powerpoint/2010/main" val="8351569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6711E5E-1CF8-41C5-8198-F60B1D05B5F1}"/>
              </a:ext>
            </a:extLst>
          </p:cNvPr>
          <p:cNvSpPr>
            <a:spLocks noGrp="1"/>
          </p:cNvSpPr>
          <p:nvPr>
            <p:ph type="title"/>
          </p:nvPr>
        </p:nvSpPr>
        <p:spPr/>
        <p:txBody>
          <a:bodyPr/>
          <a:lstStyle/>
          <a:p>
            <a:r>
              <a:rPr lang="fr-CA" dirty="0"/>
              <a:t>Les événements indépendants</a:t>
            </a:r>
          </a:p>
        </p:txBody>
      </p:sp>
      <p:sp>
        <p:nvSpPr>
          <p:cNvPr id="3" name="Espace réservé du pied de page 2">
            <a:extLst>
              <a:ext uri="{FF2B5EF4-FFF2-40B4-BE49-F238E27FC236}">
                <a16:creationId xmlns:a16="http://schemas.microsoft.com/office/drawing/2014/main" id="{E469B2E4-D59E-4F35-830F-BD248644DE61}"/>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AA3DC116-60E2-437A-8C69-CFBBA0BF51D7}"/>
              </a:ext>
            </a:extLst>
          </p:cNvPr>
          <p:cNvSpPr>
            <a:spLocks noGrp="1"/>
          </p:cNvSpPr>
          <p:nvPr>
            <p:ph type="sldNum" sz="quarter" idx="12"/>
          </p:nvPr>
        </p:nvSpPr>
        <p:spPr/>
        <p:txBody>
          <a:bodyPr/>
          <a:lstStyle/>
          <a:p>
            <a:fld id="{26377AD9-CE17-438C-A638-C64D2D42D7CF}" type="slidenum">
              <a:rPr lang="fr-CA" smtClean="0"/>
              <a:t>18</a:t>
            </a:fld>
            <a:endParaRPr lang="fr-CA"/>
          </a:p>
        </p:txBody>
      </p: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B80A0610-386C-4FCD-8D65-AFC4DC98F320}"/>
                  </a:ext>
                </a:extLst>
              </p:cNvPr>
              <p:cNvSpPr txBox="1"/>
              <p:nvPr/>
            </p:nvSpPr>
            <p:spPr>
              <a:xfrm>
                <a:off x="1097280" y="1894114"/>
                <a:ext cx="10136777" cy="4940520"/>
              </a:xfrm>
              <a:prstGeom prst="rect">
                <a:avLst/>
              </a:prstGeom>
              <a:noFill/>
            </p:spPr>
            <p:txBody>
              <a:bodyPr wrap="square" rtlCol="0">
                <a:spAutoFit/>
              </a:bodyPr>
              <a:lstStyle/>
              <a:p>
                <a:r>
                  <a:rPr lang="fr-CA" dirty="0"/>
                  <a:t>Deux événements A et B sont dits indépendants si:</a:t>
                </a:r>
              </a:p>
              <a:p>
                <a:endParaRPr lang="fr-CA" dirty="0"/>
              </a:p>
              <a:p>
                <a:pPr/>
                <a14:m>
                  <m:oMathPara xmlns:m="http://schemas.openxmlformats.org/officeDocument/2006/math">
                    <m:oMathParaPr>
                      <m:jc m:val="centerGroup"/>
                    </m:oMathParaPr>
                    <m:oMath xmlns:m="http://schemas.openxmlformats.org/officeDocument/2006/math">
                      <m:r>
                        <a:rPr lang="fr-CA" b="0" i="1" smtClean="0">
                          <a:latin typeface="Cambria Math" panose="02040503050406030204" pitchFamily="18" charset="0"/>
                        </a:rPr>
                        <m:t>𝑃</m:t>
                      </m:r>
                      <m:d>
                        <m:dPr>
                          <m:ctrlPr>
                            <a:rPr lang="fr-CA" b="0" i="1" smtClean="0">
                              <a:latin typeface="Cambria Math" panose="02040503050406030204" pitchFamily="18" charset="0"/>
                            </a:rPr>
                          </m:ctrlPr>
                        </m:dPr>
                        <m:e>
                          <m:r>
                            <a:rPr lang="fr-CA" b="0" i="1" smtClean="0">
                              <a:latin typeface="Cambria Math" panose="02040503050406030204" pitchFamily="18" charset="0"/>
                            </a:rPr>
                            <m:t>𝐴</m:t>
                          </m:r>
                        </m:e>
                        <m:e>
                          <m:r>
                            <a:rPr lang="fr-CA" b="0" i="1" smtClean="0">
                              <a:latin typeface="Cambria Math" panose="02040503050406030204" pitchFamily="18" charset="0"/>
                            </a:rPr>
                            <m:t>𝐵</m:t>
                          </m:r>
                        </m:e>
                      </m:d>
                      <m:r>
                        <a:rPr lang="fr-CA" b="0" i="1" smtClean="0">
                          <a:latin typeface="Cambria Math" panose="02040503050406030204" pitchFamily="18" charset="0"/>
                        </a:rPr>
                        <m:t>=</m:t>
                      </m:r>
                      <m:r>
                        <a:rPr lang="fr-CA" b="0" i="1" smtClean="0">
                          <a:latin typeface="Cambria Math" panose="02040503050406030204" pitchFamily="18" charset="0"/>
                        </a:rPr>
                        <m:t>𝑃</m:t>
                      </m:r>
                      <m:d>
                        <m:dPr>
                          <m:ctrlPr>
                            <a:rPr lang="fr-CA" b="0" i="1" smtClean="0">
                              <a:latin typeface="Cambria Math" panose="02040503050406030204" pitchFamily="18" charset="0"/>
                            </a:rPr>
                          </m:ctrlPr>
                        </m:dPr>
                        <m:e>
                          <m:r>
                            <a:rPr lang="fr-CA" b="0" i="1" smtClean="0">
                              <a:latin typeface="Cambria Math" panose="02040503050406030204" pitchFamily="18" charset="0"/>
                            </a:rPr>
                            <m:t>𝐴</m:t>
                          </m:r>
                        </m:e>
                      </m:d>
                      <m:r>
                        <a:rPr lang="fr-CA" b="0" i="1" smtClean="0">
                          <a:latin typeface="Cambria Math" panose="02040503050406030204" pitchFamily="18" charset="0"/>
                          <a:ea typeface="Cambria Math" panose="02040503050406030204" pitchFamily="18" charset="0"/>
                        </a:rPr>
                        <m:t>→</m:t>
                      </m:r>
                      <m:f>
                        <m:fPr>
                          <m:ctrlPr>
                            <a:rPr lang="fr-CA" b="0" i="1" smtClean="0">
                              <a:latin typeface="Cambria Math" panose="02040503050406030204" pitchFamily="18" charset="0"/>
                              <a:ea typeface="Cambria Math" panose="02040503050406030204" pitchFamily="18" charset="0"/>
                            </a:rPr>
                          </m:ctrlPr>
                        </m:fPr>
                        <m:num>
                          <m:r>
                            <a:rPr lang="fr-CA" b="0" i="1" smtClean="0">
                              <a:latin typeface="Cambria Math" panose="02040503050406030204" pitchFamily="18" charset="0"/>
                              <a:ea typeface="Cambria Math" panose="02040503050406030204" pitchFamily="18" charset="0"/>
                            </a:rPr>
                            <m:t>𝑃</m:t>
                          </m:r>
                          <m:d>
                            <m:dPr>
                              <m:ctrlPr>
                                <a:rPr lang="fr-CA" b="0" i="1" smtClean="0">
                                  <a:latin typeface="Cambria Math" panose="02040503050406030204" pitchFamily="18" charset="0"/>
                                  <a:ea typeface="Cambria Math" panose="02040503050406030204" pitchFamily="18" charset="0"/>
                                </a:rPr>
                              </m:ctrlPr>
                            </m:dPr>
                            <m:e>
                              <m:r>
                                <a:rPr lang="fr-CA" b="0" i="1" smtClean="0">
                                  <a:latin typeface="Cambria Math" panose="02040503050406030204" pitchFamily="18" charset="0"/>
                                  <a:ea typeface="Cambria Math" panose="02040503050406030204" pitchFamily="18" charset="0"/>
                                </a:rPr>
                                <m:t>𝐴</m:t>
                              </m:r>
                              <m:r>
                                <a:rPr lang="fr-CA" b="0" i="1" smtClean="0">
                                  <a:latin typeface="Cambria Math" panose="02040503050406030204" pitchFamily="18" charset="0"/>
                                  <a:ea typeface="Cambria Math" panose="02040503050406030204" pitchFamily="18" charset="0"/>
                                </a:rPr>
                                <m:t>∩</m:t>
                              </m:r>
                              <m:r>
                                <a:rPr lang="fr-CA" b="0" i="1" smtClean="0">
                                  <a:latin typeface="Cambria Math" panose="02040503050406030204" pitchFamily="18" charset="0"/>
                                  <a:ea typeface="Cambria Math" panose="02040503050406030204" pitchFamily="18" charset="0"/>
                                </a:rPr>
                                <m:t>𝐵</m:t>
                              </m:r>
                            </m:e>
                          </m:d>
                        </m:num>
                        <m:den>
                          <m:r>
                            <a:rPr lang="fr-CA" b="0" i="1" smtClean="0">
                              <a:latin typeface="Cambria Math" panose="02040503050406030204" pitchFamily="18" charset="0"/>
                              <a:ea typeface="Cambria Math" panose="02040503050406030204" pitchFamily="18" charset="0"/>
                            </a:rPr>
                            <m:t>𝑃</m:t>
                          </m:r>
                          <m:d>
                            <m:dPr>
                              <m:ctrlPr>
                                <a:rPr lang="fr-CA" b="0" i="1" smtClean="0">
                                  <a:latin typeface="Cambria Math" panose="02040503050406030204" pitchFamily="18" charset="0"/>
                                  <a:ea typeface="Cambria Math" panose="02040503050406030204" pitchFamily="18" charset="0"/>
                                </a:rPr>
                              </m:ctrlPr>
                            </m:dPr>
                            <m:e>
                              <m:r>
                                <a:rPr lang="fr-CA" b="0" i="1" smtClean="0">
                                  <a:latin typeface="Cambria Math" panose="02040503050406030204" pitchFamily="18" charset="0"/>
                                  <a:ea typeface="Cambria Math" panose="02040503050406030204" pitchFamily="18" charset="0"/>
                                </a:rPr>
                                <m:t>𝐵</m:t>
                              </m:r>
                            </m:e>
                          </m:d>
                        </m:den>
                      </m:f>
                      <m:r>
                        <a:rPr lang="fr-CA" b="0" i="1" smtClean="0">
                          <a:latin typeface="Cambria Math" panose="02040503050406030204" pitchFamily="18" charset="0"/>
                          <a:ea typeface="Cambria Math" panose="02040503050406030204" pitchFamily="18" charset="0"/>
                        </a:rPr>
                        <m:t>=</m:t>
                      </m:r>
                      <m:r>
                        <a:rPr lang="fr-CA" b="0" i="1" smtClean="0">
                          <a:latin typeface="Cambria Math" panose="02040503050406030204" pitchFamily="18" charset="0"/>
                          <a:ea typeface="Cambria Math" panose="02040503050406030204" pitchFamily="18" charset="0"/>
                        </a:rPr>
                        <m:t>𝑃</m:t>
                      </m:r>
                      <m:d>
                        <m:dPr>
                          <m:ctrlPr>
                            <a:rPr lang="fr-CA" b="0" i="1" smtClean="0">
                              <a:latin typeface="Cambria Math" panose="02040503050406030204" pitchFamily="18" charset="0"/>
                              <a:ea typeface="Cambria Math" panose="02040503050406030204" pitchFamily="18" charset="0"/>
                            </a:rPr>
                          </m:ctrlPr>
                        </m:dPr>
                        <m:e>
                          <m:r>
                            <a:rPr lang="fr-CA" b="0" i="1" smtClean="0">
                              <a:latin typeface="Cambria Math" panose="02040503050406030204" pitchFamily="18" charset="0"/>
                              <a:ea typeface="Cambria Math" panose="02040503050406030204" pitchFamily="18" charset="0"/>
                            </a:rPr>
                            <m:t>𝐴</m:t>
                          </m:r>
                        </m:e>
                      </m:d>
                      <m:r>
                        <a:rPr lang="fr-CA" b="0" i="1" smtClean="0">
                          <a:latin typeface="Cambria Math" panose="02040503050406030204" pitchFamily="18" charset="0"/>
                          <a:ea typeface="Cambria Math" panose="02040503050406030204" pitchFamily="18" charset="0"/>
                        </a:rPr>
                        <m:t>→</m:t>
                      </m:r>
                      <m:r>
                        <a:rPr lang="fr-CA" b="0" i="1" smtClean="0">
                          <a:latin typeface="Cambria Math" panose="02040503050406030204" pitchFamily="18" charset="0"/>
                          <a:ea typeface="Cambria Math" panose="02040503050406030204" pitchFamily="18" charset="0"/>
                        </a:rPr>
                        <m:t>𝑃</m:t>
                      </m:r>
                      <m:d>
                        <m:dPr>
                          <m:ctrlPr>
                            <a:rPr lang="fr-CA" b="0" i="1" smtClean="0">
                              <a:latin typeface="Cambria Math" panose="02040503050406030204" pitchFamily="18" charset="0"/>
                              <a:ea typeface="Cambria Math" panose="02040503050406030204" pitchFamily="18" charset="0"/>
                            </a:rPr>
                          </m:ctrlPr>
                        </m:dPr>
                        <m:e>
                          <m:r>
                            <a:rPr lang="fr-CA" b="0" i="1" smtClean="0">
                              <a:latin typeface="Cambria Math" panose="02040503050406030204" pitchFamily="18" charset="0"/>
                              <a:ea typeface="Cambria Math" panose="02040503050406030204" pitchFamily="18" charset="0"/>
                            </a:rPr>
                            <m:t>𝐴</m:t>
                          </m:r>
                          <m:r>
                            <a:rPr lang="fr-CA" b="0" i="1" smtClean="0">
                              <a:latin typeface="Cambria Math" panose="02040503050406030204" pitchFamily="18" charset="0"/>
                              <a:ea typeface="Cambria Math" panose="02040503050406030204" pitchFamily="18" charset="0"/>
                            </a:rPr>
                            <m:t>∩</m:t>
                          </m:r>
                          <m:r>
                            <a:rPr lang="fr-CA" b="0" i="1" smtClean="0">
                              <a:latin typeface="Cambria Math" panose="02040503050406030204" pitchFamily="18" charset="0"/>
                              <a:ea typeface="Cambria Math" panose="02040503050406030204" pitchFamily="18" charset="0"/>
                            </a:rPr>
                            <m:t>𝐵</m:t>
                          </m:r>
                        </m:e>
                      </m:d>
                      <m:r>
                        <a:rPr lang="fr-CA" b="0" i="1" smtClean="0">
                          <a:latin typeface="Cambria Math" panose="02040503050406030204" pitchFamily="18" charset="0"/>
                          <a:ea typeface="Cambria Math" panose="02040503050406030204" pitchFamily="18" charset="0"/>
                        </a:rPr>
                        <m:t>=</m:t>
                      </m:r>
                      <m:r>
                        <a:rPr lang="fr-CA" b="0" i="1" smtClean="0">
                          <a:latin typeface="Cambria Math" panose="02040503050406030204" pitchFamily="18" charset="0"/>
                          <a:ea typeface="Cambria Math" panose="02040503050406030204" pitchFamily="18" charset="0"/>
                        </a:rPr>
                        <m:t>𝑃</m:t>
                      </m:r>
                      <m:d>
                        <m:dPr>
                          <m:ctrlPr>
                            <a:rPr lang="fr-CA" b="0" i="1" smtClean="0">
                              <a:latin typeface="Cambria Math" panose="02040503050406030204" pitchFamily="18" charset="0"/>
                              <a:ea typeface="Cambria Math" panose="02040503050406030204" pitchFamily="18" charset="0"/>
                            </a:rPr>
                          </m:ctrlPr>
                        </m:dPr>
                        <m:e>
                          <m:r>
                            <a:rPr lang="fr-CA" b="0" i="1" smtClean="0">
                              <a:latin typeface="Cambria Math" panose="02040503050406030204" pitchFamily="18" charset="0"/>
                              <a:ea typeface="Cambria Math" panose="02040503050406030204" pitchFamily="18" charset="0"/>
                            </a:rPr>
                            <m:t>𝐴</m:t>
                          </m:r>
                        </m:e>
                      </m:d>
                      <m:r>
                        <a:rPr lang="fr-CA" b="0" i="1" smtClean="0">
                          <a:latin typeface="Cambria Math" panose="02040503050406030204" pitchFamily="18" charset="0"/>
                          <a:ea typeface="Cambria Math" panose="02040503050406030204" pitchFamily="18" charset="0"/>
                        </a:rPr>
                        <m:t>∗</m:t>
                      </m:r>
                      <m:r>
                        <a:rPr lang="fr-CA" b="0" i="1" smtClean="0">
                          <a:latin typeface="Cambria Math" panose="02040503050406030204" pitchFamily="18" charset="0"/>
                          <a:ea typeface="Cambria Math" panose="02040503050406030204" pitchFamily="18" charset="0"/>
                        </a:rPr>
                        <m:t>𝑃</m:t>
                      </m:r>
                      <m:r>
                        <a:rPr lang="fr-CA" b="0" i="1" smtClean="0">
                          <a:latin typeface="Cambria Math" panose="02040503050406030204" pitchFamily="18" charset="0"/>
                          <a:ea typeface="Cambria Math" panose="02040503050406030204" pitchFamily="18" charset="0"/>
                        </a:rPr>
                        <m:t>(</m:t>
                      </m:r>
                      <m:r>
                        <a:rPr lang="fr-CA" b="0" i="1" smtClean="0">
                          <a:latin typeface="Cambria Math" panose="02040503050406030204" pitchFamily="18" charset="0"/>
                          <a:ea typeface="Cambria Math" panose="02040503050406030204" pitchFamily="18" charset="0"/>
                        </a:rPr>
                        <m:t>𝐵</m:t>
                      </m:r>
                      <m:r>
                        <a:rPr lang="fr-CA" b="0" i="1" smtClean="0">
                          <a:latin typeface="Cambria Math" panose="02040503050406030204" pitchFamily="18" charset="0"/>
                          <a:ea typeface="Cambria Math" panose="02040503050406030204" pitchFamily="18" charset="0"/>
                        </a:rPr>
                        <m:t>)</m:t>
                      </m:r>
                    </m:oMath>
                  </m:oMathPara>
                </a14:m>
                <a:endParaRPr lang="fr-CA" dirty="0"/>
              </a:p>
              <a:p>
                <a:endParaRPr lang="fr-CA" dirty="0"/>
              </a:p>
              <a:p>
                <a:r>
                  <a:rPr lang="fr-CA" dirty="0"/>
                  <a:t>Exemple: On tire une carte au hasard d’un jeu de cartes. Soit A: la carte et un as   et   C:la carte est un cœur.</a:t>
                </a:r>
              </a:p>
              <a:p>
                <a:r>
                  <a:rPr lang="fr-CA" dirty="0"/>
                  <a:t>Montrer que ces 2 événements sont in dépendants.</a:t>
                </a:r>
              </a:p>
              <a:p>
                <a:endParaRPr lang="fr-CA" dirty="0"/>
              </a:p>
              <a:p>
                <a:r>
                  <a:rPr lang="fr-CA" dirty="0"/>
                  <a:t>Réponse: On a </a:t>
                </a:r>
                <a14:m>
                  <m:oMath xmlns:m="http://schemas.openxmlformats.org/officeDocument/2006/math">
                    <m:r>
                      <a:rPr lang="fr-CA" b="0" i="1" smtClean="0">
                        <a:latin typeface="Cambria Math" panose="02040503050406030204" pitchFamily="18" charset="0"/>
                      </a:rPr>
                      <m:t>𝑃</m:t>
                    </m:r>
                    <m:d>
                      <m:dPr>
                        <m:ctrlPr>
                          <a:rPr lang="fr-CA" b="0" i="1" smtClean="0">
                            <a:latin typeface="Cambria Math" panose="02040503050406030204" pitchFamily="18" charset="0"/>
                          </a:rPr>
                        </m:ctrlPr>
                      </m:dPr>
                      <m:e>
                        <m:r>
                          <a:rPr lang="fr-CA" b="0" i="1" smtClean="0">
                            <a:latin typeface="Cambria Math" panose="02040503050406030204" pitchFamily="18" charset="0"/>
                          </a:rPr>
                          <m:t>𝐴</m:t>
                        </m:r>
                      </m:e>
                    </m:d>
                    <m:r>
                      <a:rPr lang="fr-CA" b="0" i="1" smtClean="0">
                        <a:latin typeface="Cambria Math" panose="02040503050406030204" pitchFamily="18" charset="0"/>
                      </a:rPr>
                      <m:t>=</m:t>
                    </m:r>
                    <m:f>
                      <m:fPr>
                        <m:ctrlPr>
                          <a:rPr lang="fr-CA" b="0" i="1" smtClean="0">
                            <a:latin typeface="Cambria Math" panose="02040503050406030204" pitchFamily="18" charset="0"/>
                          </a:rPr>
                        </m:ctrlPr>
                      </m:fPr>
                      <m:num>
                        <m:r>
                          <a:rPr lang="fr-CA" b="0" i="1" smtClean="0">
                            <a:latin typeface="Cambria Math" panose="02040503050406030204" pitchFamily="18" charset="0"/>
                          </a:rPr>
                          <m:t>4</m:t>
                        </m:r>
                      </m:num>
                      <m:den>
                        <m:r>
                          <a:rPr lang="fr-CA" b="0" i="1" smtClean="0">
                            <a:latin typeface="Cambria Math" panose="02040503050406030204" pitchFamily="18" charset="0"/>
                          </a:rPr>
                          <m:t>52</m:t>
                        </m:r>
                      </m:den>
                    </m:f>
                    <m:r>
                      <a:rPr lang="fr-CA" b="0" i="1" smtClean="0">
                        <a:latin typeface="Cambria Math" panose="02040503050406030204" pitchFamily="18" charset="0"/>
                      </a:rPr>
                      <m:t>=</m:t>
                    </m:r>
                    <m:f>
                      <m:fPr>
                        <m:ctrlPr>
                          <a:rPr lang="fr-CA" b="0" i="1" smtClean="0">
                            <a:latin typeface="Cambria Math" panose="02040503050406030204" pitchFamily="18" charset="0"/>
                          </a:rPr>
                        </m:ctrlPr>
                      </m:fPr>
                      <m:num>
                        <m:r>
                          <a:rPr lang="fr-CA" b="0" i="1" smtClean="0">
                            <a:latin typeface="Cambria Math" panose="02040503050406030204" pitchFamily="18" charset="0"/>
                          </a:rPr>
                          <m:t>1</m:t>
                        </m:r>
                      </m:num>
                      <m:den>
                        <m:r>
                          <a:rPr lang="fr-CA" b="0" i="1" smtClean="0">
                            <a:latin typeface="Cambria Math" panose="02040503050406030204" pitchFamily="18" charset="0"/>
                          </a:rPr>
                          <m:t>13</m:t>
                        </m:r>
                      </m:den>
                    </m:f>
                    <m:r>
                      <a:rPr lang="fr-CA" b="0" i="1" smtClean="0">
                        <a:latin typeface="Cambria Math" panose="02040503050406030204" pitchFamily="18" charset="0"/>
                      </a:rPr>
                      <m:t>         ;   </m:t>
                    </m:r>
                    <m:r>
                      <a:rPr lang="fr-CA" b="0" i="1" smtClean="0">
                        <a:latin typeface="Cambria Math" panose="02040503050406030204" pitchFamily="18" charset="0"/>
                      </a:rPr>
                      <m:t>𝑃</m:t>
                    </m:r>
                    <m:d>
                      <m:dPr>
                        <m:ctrlPr>
                          <a:rPr lang="fr-CA" b="0" i="1" smtClean="0">
                            <a:latin typeface="Cambria Math" panose="02040503050406030204" pitchFamily="18" charset="0"/>
                          </a:rPr>
                        </m:ctrlPr>
                      </m:dPr>
                      <m:e>
                        <m:r>
                          <a:rPr lang="fr-CA" b="0" i="1" smtClean="0">
                            <a:latin typeface="Cambria Math" panose="02040503050406030204" pitchFamily="18" charset="0"/>
                          </a:rPr>
                          <m:t>𝐶</m:t>
                        </m:r>
                      </m:e>
                    </m:d>
                    <m:r>
                      <a:rPr lang="fr-CA" b="0" i="1" smtClean="0">
                        <a:latin typeface="Cambria Math" panose="02040503050406030204" pitchFamily="18" charset="0"/>
                      </a:rPr>
                      <m:t>=</m:t>
                    </m:r>
                    <m:f>
                      <m:fPr>
                        <m:ctrlPr>
                          <a:rPr lang="fr-CA" b="0" i="1" smtClean="0">
                            <a:latin typeface="Cambria Math" panose="02040503050406030204" pitchFamily="18" charset="0"/>
                          </a:rPr>
                        </m:ctrlPr>
                      </m:fPr>
                      <m:num>
                        <m:r>
                          <a:rPr lang="fr-CA" b="0" i="1" smtClean="0">
                            <a:latin typeface="Cambria Math" panose="02040503050406030204" pitchFamily="18" charset="0"/>
                          </a:rPr>
                          <m:t>13</m:t>
                        </m:r>
                      </m:num>
                      <m:den>
                        <m:r>
                          <a:rPr lang="fr-CA" b="0" i="1" smtClean="0">
                            <a:latin typeface="Cambria Math" panose="02040503050406030204" pitchFamily="18" charset="0"/>
                          </a:rPr>
                          <m:t>52</m:t>
                        </m:r>
                      </m:den>
                    </m:f>
                    <m:r>
                      <a:rPr lang="fr-CA" b="0" i="1" smtClean="0">
                        <a:latin typeface="Cambria Math" panose="02040503050406030204" pitchFamily="18" charset="0"/>
                      </a:rPr>
                      <m:t>=</m:t>
                    </m:r>
                    <m:f>
                      <m:fPr>
                        <m:ctrlPr>
                          <a:rPr lang="fr-CA" b="0" i="1" smtClean="0">
                            <a:latin typeface="Cambria Math" panose="02040503050406030204" pitchFamily="18" charset="0"/>
                          </a:rPr>
                        </m:ctrlPr>
                      </m:fPr>
                      <m:num>
                        <m:r>
                          <a:rPr lang="fr-CA" b="0" i="1" smtClean="0">
                            <a:latin typeface="Cambria Math" panose="02040503050406030204" pitchFamily="18" charset="0"/>
                          </a:rPr>
                          <m:t>1</m:t>
                        </m:r>
                      </m:num>
                      <m:den>
                        <m:r>
                          <a:rPr lang="fr-CA" b="0" i="1" smtClean="0">
                            <a:latin typeface="Cambria Math" panose="02040503050406030204" pitchFamily="18" charset="0"/>
                          </a:rPr>
                          <m:t>4</m:t>
                        </m:r>
                      </m:den>
                    </m:f>
                    <m:r>
                      <a:rPr lang="fr-CA" b="0" i="1" smtClean="0">
                        <a:latin typeface="Cambria Math" panose="02040503050406030204" pitchFamily="18" charset="0"/>
                      </a:rPr>
                      <m:t>          </m:t>
                    </m:r>
                    <m:r>
                      <a:rPr lang="fr-CA" b="0" i="1" smtClean="0">
                        <a:latin typeface="Cambria Math" panose="02040503050406030204" pitchFamily="18" charset="0"/>
                      </a:rPr>
                      <m:t>𝑒𝑡</m:t>
                    </m:r>
                    <m:r>
                      <a:rPr lang="fr-CA" b="0" i="1" smtClean="0">
                        <a:latin typeface="Cambria Math" panose="02040503050406030204" pitchFamily="18" charset="0"/>
                      </a:rPr>
                      <m:t>   </m:t>
                    </m:r>
                    <m:r>
                      <a:rPr lang="fr-CA" b="0" i="1" smtClean="0">
                        <a:latin typeface="Cambria Math" panose="02040503050406030204" pitchFamily="18" charset="0"/>
                      </a:rPr>
                      <m:t>𝑃</m:t>
                    </m:r>
                    <m:d>
                      <m:dPr>
                        <m:ctrlPr>
                          <a:rPr lang="fr-CA" b="0" i="1" smtClean="0">
                            <a:latin typeface="Cambria Math" panose="02040503050406030204" pitchFamily="18" charset="0"/>
                          </a:rPr>
                        </m:ctrlPr>
                      </m:dPr>
                      <m:e>
                        <m:r>
                          <a:rPr lang="fr-CA" b="0" i="1" smtClean="0">
                            <a:latin typeface="Cambria Math" panose="02040503050406030204" pitchFamily="18" charset="0"/>
                          </a:rPr>
                          <m:t>𝐴</m:t>
                        </m:r>
                        <m:r>
                          <a:rPr lang="fr-CA" b="0" i="1" smtClean="0">
                            <a:latin typeface="Cambria Math" panose="02040503050406030204" pitchFamily="18" charset="0"/>
                            <a:ea typeface="Cambria Math" panose="02040503050406030204" pitchFamily="18" charset="0"/>
                          </a:rPr>
                          <m:t>∩</m:t>
                        </m:r>
                        <m:r>
                          <a:rPr lang="fr-CA" b="0" i="1" smtClean="0">
                            <a:latin typeface="Cambria Math" panose="02040503050406030204" pitchFamily="18" charset="0"/>
                            <a:ea typeface="Cambria Math" panose="02040503050406030204" pitchFamily="18" charset="0"/>
                          </a:rPr>
                          <m:t>𝐶</m:t>
                        </m:r>
                      </m:e>
                    </m:d>
                    <m:r>
                      <a:rPr lang="fr-CA" b="0" i="1" smtClean="0">
                        <a:latin typeface="Cambria Math" panose="02040503050406030204" pitchFamily="18" charset="0"/>
                        <a:ea typeface="Cambria Math" panose="02040503050406030204" pitchFamily="18" charset="0"/>
                      </a:rPr>
                      <m:t>=</m:t>
                    </m:r>
                    <m:f>
                      <m:fPr>
                        <m:ctrlPr>
                          <a:rPr lang="fr-CA" b="0" i="1" smtClean="0">
                            <a:latin typeface="Cambria Math" panose="02040503050406030204" pitchFamily="18" charset="0"/>
                            <a:ea typeface="Cambria Math" panose="02040503050406030204" pitchFamily="18" charset="0"/>
                          </a:rPr>
                        </m:ctrlPr>
                      </m:fPr>
                      <m:num>
                        <m:r>
                          <a:rPr lang="fr-CA" b="0" i="1" smtClean="0">
                            <a:latin typeface="Cambria Math" panose="02040503050406030204" pitchFamily="18" charset="0"/>
                            <a:ea typeface="Cambria Math" panose="02040503050406030204" pitchFamily="18" charset="0"/>
                          </a:rPr>
                          <m:t>1</m:t>
                        </m:r>
                      </m:num>
                      <m:den>
                        <m:r>
                          <a:rPr lang="fr-CA" b="0" i="1" smtClean="0">
                            <a:latin typeface="Cambria Math" panose="02040503050406030204" pitchFamily="18" charset="0"/>
                            <a:ea typeface="Cambria Math" panose="02040503050406030204" pitchFamily="18" charset="0"/>
                          </a:rPr>
                          <m:t>52</m:t>
                        </m:r>
                      </m:den>
                    </m:f>
                  </m:oMath>
                </a14:m>
                <a:endParaRPr lang="fr-CA" dirty="0"/>
              </a:p>
              <a:p>
                <a:endParaRPr lang="fr-CA" dirty="0"/>
              </a:p>
              <a:p>
                <a:r>
                  <a:rPr lang="fr-CA" dirty="0"/>
                  <a:t>On voit que   </a:t>
                </a:r>
                <a14:m>
                  <m:oMath xmlns:m="http://schemas.openxmlformats.org/officeDocument/2006/math">
                    <m:r>
                      <a:rPr lang="fr-CA" b="0" i="1" smtClean="0">
                        <a:latin typeface="Cambria Math" panose="02040503050406030204" pitchFamily="18" charset="0"/>
                      </a:rPr>
                      <m:t>𝑃</m:t>
                    </m:r>
                    <m:d>
                      <m:dPr>
                        <m:ctrlPr>
                          <a:rPr lang="fr-CA" b="0" i="1" smtClean="0">
                            <a:latin typeface="Cambria Math" panose="02040503050406030204" pitchFamily="18" charset="0"/>
                          </a:rPr>
                        </m:ctrlPr>
                      </m:dPr>
                      <m:e>
                        <m:r>
                          <a:rPr lang="fr-CA" b="0" i="1" smtClean="0">
                            <a:latin typeface="Cambria Math" panose="02040503050406030204" pitchFamily="18" charset="0"/>
                          </a:rPr>
                          <m:t>𝐴</m:t>
                        </m:r>
                        <m:r>
                          <a:rPr lang="fr-CA" b="0" i="1" smtClean="0">
                            <a:latin typeface="Cambria Math" panose="02040503050406030204" pitchFamily="18" charset="0"/>
                            <a:ea typeface="Cambria Math" panose="02040503050406030204" pitchFamily="18" charset="0"/>
                          </a:rPr>
                          <m:t>∩</m:t>
                        </m:r>
                        <m:r>
                          <a:rPr lang="fr-CA" b="0" i="1" smtClean="0">
                            <a:latin typeface="Cambria Math" panose="02040503050406030204" pitchFamily="18" charset="0"/>
                            <a:ea typeface="Cambria Math" panose="02040503050406030204" pitchFamily="18" charset="0"/>
                          </a:rPr>
                          <m:t>𝐶</m:t>
                        </m:r>
                      </m:e>
                    </m:d>
                    <m:r>
                      <a:rPr lang="fr-CA" b="0" i="1" smtClean="0">
                        <a:latin typeface="Cambria Math" panose="02040503050406030204" pitchFamily="18" charset="0"/>
                        <a:ea typeface="Cambria Math" panose="02040503050406030204" pitchFamily="18" charset="0"/>
                      </a:rPr>
                      <m:t>=</m:t>
                    </m:r>
                    <m:r>
                      <a:rPr lang="fr-CA" b="0" i="1" smtClean="0">
                        <a:latin typeface="Cambria Math" panose="02040503050406030204" pitchFamily="18" charset="0"/>
                        <a:ea typeface="Cambria Math" panose="02040503050406030204" pitchFamily="18" charset="0"/>
                      </a:rPr>
                      <m:t>𝑃</m:t>
                    </m:r>
                    <m:d>
                      <m:dPr>
                        <m:ctrlPr>
                          <a:rPr lang="fr-CA" b="0" i="1" smtClean="0">
                            <a:latin typeface="Cambria Math" panose="02040503050406030204" pitchFamily="18" charset="0"/>
                            <a:ea typeface="Cambria Math" panose="02040503050406030204" pitchFamily="18" charset="0"/>
                          </a:rPr>
                        </m:ctrlPr>
                      </m:dPr>
                      <m:e>
                        <m:r>
                          <a:rPr lang="fr-CA" b="0" i="1" smtClean="0">
                            <a:latin typeface="Cambria Math" panose="02040503050406030204" pitchFamily="18" charset="0"/>
                            <a:ea typeface="Cambria Math" panose="02040503050406030204" pitchFamily="18" charset="0"/>
                          </a:rPr>
                          <m:t>𝐴</m:t>
                        </m:r>
                      </m:e>
                    </m:d>
                    <m:r>
                      <a:rPr lang="fr-CA" b="0" i="1" smtClean="0">
                        <a:latin typeface="Cambria Math" panose="02040503050406030204" pitchFamily="18" charset="0"/>
                        <a:ea typeface="Cambria Math" panose="02040503050406030204" pitchFamily="18" charset="0"/>
                      </a:rPr>
                      <m:t>∗</m:t>
                    </m:r>
                    <m:r>
                      <a:rPr lang="fr-CA" b="0" i="1" smtClean="0">
                        <a:latin typeface="Cambria Math" panose="02040503050406030204" pitchFamily="18" charset="0"/>
                        <a:ea typeface="Cambria Math" panose="02040503050406030204" pitchFamily="18" charset="0"/>
                      </a:rPr>
                      <m:t>𝑃</m:t>
                    </m:r>
                    <m:d>
                      <m:dPr>
                        <m:ctrlPr>
                          <a:rPr lang="fr-CA" b="0" i="1" smtClean="0">
                            <a:latin typeface="Cambria Math" panose="02040503050406030204" pitchFamily="18" charset="0"/>
                            <a:ea typeface="Cambria Math" panose="02040503050406030204" pitchFamily="18" charset="0"/>
                          </a:rPr>
                        </m:ctrlPr>
                      </m:dPr>
                      <m:e>
                        <m:r>
                          <a:rPr lang="fr-CA" b="0" i="1" smtClean="0">
                            <a:latin typeface="Cambria Math" panose="02040503050406030204" pitchFamily="18" charset="0"/>
                            <a:ea typeface="Cambria Math" panose="02040503050406030204" pitchFamily="18" charset="0"/>
                          </a:rPr>
                          <m:t>𝐶</m:t>
                        </m:r>
                      </m:e>
                    </m:d>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𝑑𝑜𝑛𝑐</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𝐴</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𝑒𝑡</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𝐶</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𝑠𝑜𝑛𝑡</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𝑖𝑛𝑑</m:t>
                    </m:r>
                    <m:r>
                      <a:rPr lang="fr-CA" b="0" i="1" smtClean="0">
                        <a:latin typeface="Cambria Math" panose="02040503050406030204" pitchFamily="18" charset="0"/>
                        <a:ea typeface="Cambria Math" panose="02040503050406030204" pitchFamily="18" charset="0"/>
                      </a:rPr>
                      <m:t>é</m:t>
                    </m:r>
                    <m:r>
                      <a:rPr lang="fr-CA" b="0" i="1" smtClean="0">
                        <a:latin typeface="Cambria Math" panose="02040503050406030204" pitchFamily="18" charset="0"/>
                        <a:ea typeface="Cambria Math" panose="02040503050406030204" pitchFamily="18" charset="0"/>
                      </a:rPr>
                      <m:t>𝑝𝑒𝑛𝑑𝑎𝑛𝑡𝑠</m:t>
                    </m:r>
                    <m:r>
                      <a:rPr lang="fr-CA" b="0" i="1" smtClean="0">
                        <a:latin typeface="Cambria Math" panose="02040503050406030204" pitchFamily="18" charset="0"/>
                        <a:ea typeface="Cambria Math" panose="02040503050406030204" pitchFamily="18" charset="0"/>
                      </a:rPr>
                      <m:t>.</m:t>
                    </m:r>
                  </m:oMath>
                </a14:m>
                <a:endParaRPr lang="fr-CA" dirty="0"/>
              </a:p>
              <a:p>
                <a:endParaRPr lang="fr-CA" dirty="0"/>
              </a:p>
              <a:p>
                <a:r>
                  <a:rPr lang="fr-CA" b="1" dirty="0"/>
                  <a:t>Remarques: </a:t>
                </a:r>
              </a:p>
              <a:p>
                <a:pPr marL="285750" indent="-285750">
                  <a:buFont typeface="Arial" panose="020B0604020202020204" pitchFamily="34" charset="0"/>
                  <a:buChar char="•"/>
                </a:pPr>
                <a:r>
                  <a:rPr lang="fr-CA" dirty="0"/>
                  <a:t>Lorsqu’on choisit des personnes au hasard dans une grande populations, ces personnes sont indépendantes.</a:t>
                </a:r>
              </a:p>
              <a:p>
                <a:pPr marL="285750" indent="-285750">
                  <a:buFont typeface="Arial" panose="020B0604020202020204" pitchFamily="34" charset="0"/>
                  <a:buChar char="•"/>
                </a:pPr>
                <a:r>
                  <a:rPr lang="fr-CA" dirty="0"/>
                  <a:t>Lorsqu’on choisit au hasardes pièces  dans une production, ces pièces sont indépendantes.</a:t>
                </a:r>
              </a:p>
              <a:p>
                <a:pPr marL="285750" indent="-285750">
                  <a:buFont typeface="Arial" panose="020B0604020202020204" pitchFamily="34" charset="0"/>
                  <a:buChar char="•"/>
                </a:pPr>
                <a:r>
                  <a:rPr lang="fr-CA" dirty="0"/>
                  <a:t>Les naissances sont indépendantes,….</a:t>
                </a:r>
              </a:p>
            </p:txBody>
          </p:sp>
        </mc:Choice>
        <mc:Fallback xmlns="">
          <p:sp>
            <p:nvSpPr>
              <p:cNvPr id="5" name="ZoneTexte 4">
                <a:extLst>
                  <a:ext uri="{FF2B5EF4-FFF2-40B4-BE49-F238E27FC236}">
                    <a16:creationId xmlns:a16="http://schemas.microsoft.com/office/drawing/2014/main" id="{B80A0610-386C-4FCD-8D65-AFC4DC98F320}"/>
                  </a:ext>
                </a:extLst>
              </p:cNvPr>
              <p:cNvSpPr txBox="1">
                <a:spLocks noRot="1" noChangeAspect="1" noMove="1" noResize="1" noEditPoints="1" noAdjustHandles="1" noChangeArrowheads="1" noChangeShapeType="1" noTextEdit="1"/>
              </p:cNvSpPr>
              <p:nvPr/>
            </p:nvSpPr>
            <p:spPr>
              <a:xfrm>
                <a:off x="1097280" y="1894114"/>
                <a:ext cx="10136777" cy="4940520"/>
              </a:xfrm>
              <a:prstGeom prst="rect">
                <a:avLst/>
              </a:prstGeom>
              <a:blipFill>
                <a:blip r:embed="rId2"/>
                <a:stretch>
                  <a:fillRect l="-481" t="-741" r="-481" b="-1111"/>
                </a:stretch>
              </a:blipFill>
            </p:spPr>
            <p:txBody>
              <a:bodyPr/>
              <a:lstStyle/>
              <a:p>
                <a:r>
                  <a:rPr lang="fr-CA">
                    <a:noFill/>
                  </a:rPr>
                  <a:t> </a:t>
                </a:r>
              </a:p>
            </p:txBody>
          </p:sp>
        </mc:Fallback>
      </mc:AlternateContent>
    </p:spTree>
    <p:extLst>
      <p:ext uri="{BB962C8B-B14F-4D97-AF65-F5344CB8AC3E}">
        <p14:creationId xmlns:p14="http://schemas.microsoft.com/office/powerpoint/2010/main" val="35069167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81AEB8A9-B768-4E30-BA55-D919E66873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01" y="-2"/>
            <a:ext cx="4069936" cy="685800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ABBF3F6C-2577-47F3-800C-947A89349205}"/>
              </a:ext>
            </a:extLst>
          </p:cNvPr>
          <p:cNvSpPr>
            <a:spLocks noGrp="1"/>
          </p:cNvSpPr>
          <p:nvPr>
            <p:ph type="title"/>
          </p:nvPr>
        </p:nvSpPr>
        <p:spPr>
          <a:xfrm>
            <a:off x="643467" y="640080"/>
            <a:ext cx="3096427" cy="5613236"/>
          </a:xfrm>
        </p:spPr>
        <p:txBody>
          <a:bodyPr vert="horz" lIns="91440" tIns="45720" rIns="91440" bIns="45720" rtlCol="0" anchor="ctr">
            <a:normAutofit/>
          </a:bodyPr>
          <a:lstStyle/>
          <a:p>
            <a:r>
              <a:rPr lang="en-US" sz="2400" kern="1200">
                <a:solidFill>
                  <a:srgbClr val="FFFFFF"/>
                </a:solidFill>
                <a:latin typeface="+mj-lt"/>
                <a:ea typeface="+mj-ea"/>
                <a:cs typeface="+mj-cs"/>
              </a:rPr>
              <a:t>Exemple 1: </a:t>
            </a:r>
            <a:r>
              <a:rPr lang="en-US" sz="2400" kern="1200">
                <a:solidFill>
                  <a:srgbClr val="FFFFFF"/>
                </a:solidFill>
                <a:effectLst/>
                <a:latin typeface="+mj-lt"/>
                <a:ea typeface="+mj-ea"/>
                <a:cs typeface="+mj-cs"/>
              </a:rPr>
              <a:t>Soit un système électrique constitué de 3 composantes en série. En supposant que ces composantes soient indépendantes et que la probabilité que chacune d’elles fonctionne soit celle qui est indiquée dans le schéma suivant, on doit trouver la probabilité que le courant passe de</a:t>
            </a:r>
            <a:r>
              <a:rPr lang="en-US" sz="2400" i="1" kern="1200">
                <a:solidFill>
                  <a:srgbClr val="FFFFFF"/>
                </a:solidFill>
                <a:effectLst/>
                <a:latin typeface="+mj-lt"/>
                <a:ea typeface="+mj-ea"/>
                <a:cs typeface="+mj-cs"/>
              </a:rPr>
              <a:t> A </a:t>
            </a:r>
            <a:r>
              <a:rPr lang="en-US" sz="2400" kern="1200">
                <a:solidFill>
                  <a:srgbClr val="FFFFFF"/>
                </a:solidFill>
                <a:effectLst/>
                <a:latin typeface="+mj-lt"/>
                <a:ea typeface="+mj-ea"/>
                <a:cs typeface="+mj-cs"/>
              </a:rPr>
              <a:t>vers</a:t>
            </a:r>
            <a:r>
              <a:rPr lang="en-US" sz="2400" i="1" kern="1200">
                <a:solidFill>
                  <a:srgbClr val="FFFFFF"/>
                </a:solidFill>
                <a:effectLst/>
                <a:latin typeface="+mj-lt"/>
                <a:ea typeface="+mj-ea"/>
                <a:cs typeface="+mj-cs"/>
              </a:rPr>
              <a:t> B</a:t>
            </a:r>
            <a:br>
              <a:rPr lang="en-US" sz="2400" kern="1200">
                <a:solidFill>
                  <a:srgbClr val="FFFFFF"/>
                </a:solidFill>
                <a:effectLst/>
                <a:latin typeface="+mj-lt"/>
                <a:ea typeface="+mj-ea"/>
                <a:cs typeface="+mj-cs"/>
              </a:rPr>
            </a:br>
            <a:endParaRPr lang="en-US" sz="2400" kern="1200">
              <a:solidFill>
                <a:srgbClr val="FFFFFF"/>
              </a:solidFill>
              <a:latin typeface="+mj-lt"/>
              <a:ea typeface="+mj-ea"/>
              <a:cs typeface="+mj-cs"/>
            </a:endParaRPr>
          </a:p>
        </p:txBody>
      </p:sp>
      <mc:AlternateContent xmlns:mc="http://schemas.openxmlformats.org/markup-compatibility/2006" xmlns:a14="http://schemas.microsoft.com/office/drawing/2010/main">
        <mc:Choice Requires="a14">
          <p:sp>
            <p:nvSpPr>
              <p:cNvPr id="8" name="ZoneTexte 7">
                <a:extLst>
                  <a:ext uri="{FF2B5EF4-FFF2-40B4-BE49-F238E27FC236}">
                    <a16:creationId xmlns:a16="http://schemas.microsoft.com/office/drawing/2014/main" id="{8F1BD271-1887-40C3-A2C6-D478A53B797A}"/>
                  </a:ext>
                </a:extLst>
              </p:cNvPr>
              <p:cNvSpPr txBox="1"/>
              <p:nvPr/>
            </p:nvSpPr>
            <p:spPr>
              <a:xfrm>
                <a:off x="4699818" y="640082"/>
                <a:ext cx="6848715" cy="2484884"/>
              </a:xfrm>
              <a:prstGeom prst="rect">
                <a:avLst/>
              </a:prstGeom>
            </p:spPr>
            <p:txBody>
              <a:bodyPr vert="horz" lIns="91440" tIns="45720" rIns="91440" bIns="45720" rtlCol="0" anchor="ctr">
                <a:normAutofit/>
              </a:bodyPr>
              <a:lstStyle/>
              <a:p>
                <a:pPr indent="-228600" defTabSz="914400">
                  <a:lnSpc>
                    <a:spcPct val="90000"/>
                  </a:lnSpc>
                  <a:spcAft>
                    <a:spcPts val="800"/>
                  </a:spcAft>
                  <a:buFont typeface="Arial" panose="020B0604020202020204" pitchFamily="34" charset="0"/>
                  <a:buChar char="•"/>
                </a:pPr>
                <a:r>
                  <a:rPr lang="en-US" sz="2000" b="1">
                    <a:effectLst/>
                  </a:rPr>
                  <a:t>Réponse : </a:t>
                </a:r>
                <a:r>
                  <a:rPr lang="en-US" sz="2000">
                    <a:effectLst/>
                  </a:rPr>
                  <a:t>Pour que le courant passe de A vers B, il faut que les composantes fonctionnent donc, par indépendance, la probabilité que cela se produise est égale à </a:t>
                </a:r>
              </a:p>
              <a:p>
                <a:pPr indent="-228600" defTabSz="914400">
                  <a:lnSpc>
                    <a:spcPct val="90000"/>
                  </a:lnSpc>
                  <a:spcAft>
                    <a:spcPts val="800"/>
                  </a:spcAft>
                  <a:buFont typeface="Arial" panose="020B0604020202020204" pitchFamily="34" charset="0"/>
                  <a:buChar char="•"/>
                </a:pPr>
                <a14:m>
                  <m:oMath xmlns:m="http://schemas.openxmlformats.org/officeDocument/2006/math">
                    <m:d>
                      <m:dPr>
                        <m:ctrlPr>
                          <a:rPr lang="en-US" sz="2000" i="1">
                            <a:effectLst/>
                            <a:latin typeface="Cambria Math" panose="02040503050406030204" pitchFamily="18" charset="0"/>
                          </a:rPr>
                        </m:ctrlPr>
                      </m:dPr>
                      <m:e>
                        <m:r>
                          <a:rPr lang="en-US" sz="2000" i="1">
                            <a:effectLst/>
                            <a:latin typeface="Cambria Math" panose="02040503050406030204" pitchFamily="18" charset="0"/>
                          </a:rPr>
                          <m:t>0,95</m:t>
                        </m:r>
                      </m:e>
                    </m:d>
                    <m:r>
                      <a:rPr lang="en-US" sz="2000" i="1">
                        <a:effectLst/>
                        <a:latin typeface="Cambria Math" panose="02040503050406030204" pitchFamily="18" charset="0"/>
                      </a:rPr>
                      <m:t>∗</m:t>
                    </m:r>
                    <m:d>
                      <m:dPr>
                        <m:ctrlPr>
                          <a:rPr lang="en-US" sz="2000" i="1">
                            <a:effectLst/>
                            <a:latin typeface="Cambria Math" panose="02040503050406030204" pitchFamily="18" charset="0"/>
                          </a:rPr>
                        </m:ctrlPr>
                      </m:dPr>
                      <m:e>
                        <m:r>
                          <a:rPr lang="en-US" sz="2000" i="1">
                            <a:effectLst/>
                            <a:latin typeface="Cambria Math" panose="02040503050406030204" pitchFamily="18" charset="0"/>
                          </a:rPr>
                          <m:t>0,90</m:t>
                        </m:r>
                      </m:e>
                    </m:d>
                    <m:r>
                      <a:rPr lang="en-US" sz="2000" i="1">
                        <a:effectLst/>
                        <a:latin typeface="Cambria Math" panose="02040503050406030204" pitchFamily="18" charset="0"/>
                      </a:rPr>
                      <m:t>∗</m:t>
                    </m:r>
                    <m:d>
                      <m:dPr>
                        <m:ctrlPr>
                          <a:rPr lang="en-US" sz="2000" i="1">
                            <a:effectLst/>
                            <a:latin typeface="Cambria Math" panose="02040503050406030204" pitchFamily="18" charset="0"/>
                          </a:rPr>
                        </m:ctrlPr>
                      </m:dPr>
                      <m:e>
                        <m:r>
                          <a:rPr lang="en-US" sz="2000" i="1">
                            <a:effectLst/>
                            <a:latin typeface="Cambria Math" panose="02040503050406030204" pitchFamily="18" charset="0"/>
                          </a:rPr>
                          <m:t>0,85</m:t>
                        </m:r>
                      </m:e>
                    </m:d>
                    <m:r>
                      <a:rPr lang="en-US" sz="2000" i="1">
                        <a:effectLst/>
                        <a:latin typeface="Cambria Math" panose="02040503050406030204" pitchFamily="18" charset="0"/>
                      </a:rPr>
                      <m:t>=0,72675</m:t>
                    </m:r>
                  </m:oMath>
                </a14:m>
                <a:endParaRPr lang="en-US" sz="2000">
                  <a:effectLst/>
                </a:endParaRPr>
              </a:p>
              <a:p>
                <a:pPr indent="-228600" defTabSz="914400">
                  <a:lnSpc>
                    <a:spcPct val="90000"/>
                  </a:lnSpc>
                  <a:buFont typeface="Arial" panose="020B0604020202020204" pitchFamily="34" charset="0"/>
                  <a:buChar char="•"/>
                </a:pPr>
                <a:endParaRPr lang="en-US" sz="2000">
                  <a:effectLst/>
                </a:endParaRPr>
              </a:p>
              <a:p>
                <a:pPr indent="-228600" defTabSz="914400">
                  <a:lnSpc>
                    <a:spcPct val="90000"/>
                  </a:lnSpc>
                  <a:buFont typeface="Arial" panose="020B0604020202020204" pitchFamily="34" charset="0"/>
                  <a:buChar char="•"/>
                </a:pPr>
                <a:endParaRPr lang="en-US" sz="2000"/>
              </a:p>
            </p:txBody>
          </p:sp>
        </mc:Choice>
        <mc:Fallback xmlns="">
          <p:sp>
            <p:nvSpPr>
              <p:cNvPr id="8" name="ZoneTexte 7">
                <a:extLst>
                  <a:ext uri="{FF2B5EF4-FFF2-40B4-BE49-F238E27FC236}">
                    <a16:creationId xmlns:a16="http://schemas.microsoft.com/office/drawing/2014/main" id="{8F1BD271-1887-40C3-A2C6-D478A53B797A}"/>
                  </a:ext>
                </a:extLst>
              </p:cNvPr>
              <p:cNvSpPr txBox="1">
                <a:spLocks noRot="1" noChangeAspect="1" noMove="1" noResize="1" noEditPoints="1" noAdjustHandles="1" noChangeArrowheads="1" noChangeShapeType="1" noTextEdit="1"/>
              </p:cNvSpPr>
              <p:nvPr/>
            </p:nvSpPr>
            <p:spPr>
              <a:xfrm>
                <a:off x="4699818" y="640082"/>
                <a:ext cx="6848715" cy="2484884"/>
              </a:xfrm>
              <a:prstGeom prst="rect">
                <a:avLst/>
              </a:prstGeom>
              <a:blipFill>
                <a:blip r:embed="rId2"/>
                <a:stretch>
                  <a:fillRect l="-980"/>
                </a:stretch>
              </a:blipFill>
            </p:spPr>
            <p:txBody>
              <a:bodyPr/>
              <a:lstStyle/>
              <a:p>
                <a:r>
                  <a:rPr lang="fr-CA">
                    <a:noFill/>
                  </a:rPr>
                  <a:t> </a:t>
                </a:r>
              </a:p>
            </p:txBody>
          </p:sp>
        </mc:Fallback>
      </mc:AlternateContent>
      <p:pic>
        <p:nvPicPr>
          <p:cNvPr id="7" name="Image 6">
            <a:extLst>
              <a:ext uri="{FF2B5EF4-FFF2-40B4-BE49-F238E27FC236}">
                <a16:creationId xmlns:a16="http://schemas.microsoft.com/office/drawing/2014/main" id="{21AEDB7E-31D8-40C7-9DF0-6C035233BA70}"/>
              </a:ext>
            </a:extLst>
          </p:cNvPr>
          <p:cNvPicPr/>
          <p:nvPr/>
        </p:nvPicPr>
        <p:blipFill>
          <a:blip r:embed="rId3">
            <a:extLst>
              <a:ext uri="{28A0092B-C50C-407E-A947-70E740481C1C}">
                <a14:useLocalDpi xmlns:a14="http://schemas.microsoft.com/office/drawing/2010/main" val="0"/>
              </a:ext>
            </a:extLst>
          </a:blip>
          <a:stretch>
            <a:fillRect/>
          </a:stretch>
        </p:blipFill>
        <p:spPr bwMode="auto">
          <a:xfrm>
            <a:off x="4654297" y="4213140"/>
            <a:ext cx="6894236" cy="955450"/>
          </a:xfrm>
          <a:prstGeom prst="rect">
            <a:avLst/>
          </a:prstGeom>
          <a:noFill/>
        </p:spPr>
      </p:pic>
      <p:sp>
        <p:nvSpPr>
          <p:cNvPr id="3" name="Espace réservé du pied de page 2">
            <a:extLst>
              <a:ext uri="{FF2B5EF4-FFF2-40B4-BE49-F238E27FC236}">
                <a16:creationId xmlns:a16="http://schemas.microsoft.com/office/drawing/2014/main" id="{F8C6B619-53C1-4403-ABB7-43DCD33AA3D4}"/>
              </a:ext>
            </a:extLst>
          </p:cNvPr>
          <p:cNvSpPr>
            <a:spLocks noGrp="1"/>
          </p:cNvSpPr>
          <p:nvPr>
            <p:ph type="ftr" sz="quarter" idx="11"/>
          </p:nvPr>
        </p:nvSpPr>
        <p:spPr>
          <a:xfrm>
            <a:off x="4654294" y="6356350"/>
            <a:ext cx="5719488" cy="365125"/>
          </a:xfrm>
        </p:spPr>
        <p:txBody>
          <a:bodyPr vert="horz" lIns="91440" tIns="45720" rIns="91440" bIns="45720" rtlCol="0" anchor="ctr">
            <a:normAutofit/>
          </a:bodyPr>
          <a:lstStyle/>
          <a:p>
            <a:pPr algn="l" defTabSz="914400"/>
            <a:endParaRPr lang="en-US" kern="1200">
              <a:solidFill>
                <a:prstClr val="black">
                  <a:tint val="75000"/>
                </a:prstClr>
              </a:solidFill>
              <a:latin typeface="+mn-lt"/>
              <a:ea typeface="+mn-ea"/>
              <a:cs typeface="+mn-cs"/>
            </a:endParaRPr>
          </a:p>
        </p:txBody>
      </p:sp>
      <p:sp>
        <p:nvSpPr>
          <p:cNvPr id="4" name="Espace réservé du numéro de diapositive 3">
            <a:extLst>
              <a:ext uri="{FF2B5EF4-FFF2-40B4-BE49-F238E27FC236}">
                <a16:creationId xmlns:a16="http://schemas.microsoft.com/office/drawing/2014/main" id="{93814ADA-71FC-45B8-95D1-17085F202572}"/>
              </a:ext>
            </a:extLst>
          </p:cNvPr>
          <p:cNvSpPr>
            <a:spLocks noGrp="1"/>
          </p:cNvSpPr>
          <p:nvPr>
            <p:ph type="sldNum" sz="quarter" idx="12"/>
          </p:nvPr>
        </p:nvSpPr>
        <p:spPr>
          <a:xfrm>
            <a:off x="10534650" y="6356350"/>
            <a:ext cx="819150" cy="365125"/>
          </a:xfrm>
        </p:spPr>
        <p:txBody>
          <a:bodyPr vert="horz" lIns="91440" tIns="45720" rIns="91440" bIns="45720" rtlCol="0" anchor="ctr">
            <a:normAutofit/>
          </a:bodyPr>
          <a:lstStyle/>
          <a:p>
            <a:pPr defTabSz="914400">
              <a:spcAft>
                <a:spcPts val="600"/>
              </a:spcAft>
            </a:pPr>
            <a:fld id="{26377AD9-CE17-438C-A638-C64D2D42D7CF}" type="slidenum">
              <a:rPr lang="en-US">
                <a:solidFill>
                  <a:prstClr val="black">
                    <a:tint val="75000"/>
                  </a:prstClr>
                </a:solidFill>
              </a:rPr>
              <a:pPr defTabSz="914400">
                <a:spcAft>
                  <a:spcPts val="600"/>
                </a:spcAft>
              </a:pPr>
              <a:t>19</a:t>
            </a:fld>
            <a:endParaRPr lang="en-US">
              <a:solidFill>
                <a:prstClr val="black">
                  <a:tint val="75000"/>
                </a:prstClr>
              </a:solidFill>
            </a:endParaRPr>
          </a:p>
        </p:txBody>
      </p:sp>
    </p:spTree>
    <p:extLst>
      <p:ext uri="{BB962C8B-B14F-4D97-AF65-F5344CB8AC3E}">
        <p14:creationId xmlns:p14="http://schemas.microsoft.com/office/powerpoint/2010/main" val="34618310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C7EB14B-F9E5-43C9-9542-995B2BB1C74E}"/>
              </a:ext>
            </a:extLst>
          </p:cNvPr>
          <p:cNvSpPr>
            <a:spLocks noGrp="1"/>
          </p:cNvSpPr>
          <p:nvPr>
            <p:ph type="title"/>
          </p:nvPr>
        </p:nvSpPr>
        <p:spPr/>
        <p:txBody>
          <a:bodyPr>
            <a:normAutofit fontScale="90000"/>
          </a:bodyPr>
          <a:lstStyle/>
          <a:p>
            <a:r>
              <a:rPr lang="fr-CA" dirty="0"/>
              <a:t>Exemple 2: </a:t>
            </a:r>
            <a:r>
              <a:rPr lang="fr-FR" sz="2200" dirty="0">
                <a:solidFill>
                  <a:srgbClr val="000000"/>
                </a:solidFill>
                <a:effectLst/>
                <a:latin typeface="Times New Roman" panose="02020603050405020304" pitchFamily="18" charset="0"/>
                <a:ea typeface="Times New Roman" panose="02020603050405020304" pitchFamily="18" charset="0"/>
              </a:rPr>
              <a:t>Soit un système électrique constitué de 8 composantes indépendantes et dont la probabilité qu’une composante tombe en panne est illustrée sur le schéma suivant. Quelle est la probabilité que le courant passe de</a:t>
            </a:r>
            <a:r>
              <a:rPr lang="fr-FR" sz="2200" i="1" dirty="0">
                <a:solidFill>
                  <a:srgbClr val="000000"/>
                </a:solidFill>
                <a:effectLst/>
                <a:latin typeface="Times New Roman" panose="02020603050405020304" pitchFamily="18" charset="0"/>
                <a:ea typeface="Times New Roman" panose="02020603050405020304" pitchFamily="18" charset="0"/>
              </a:rPr>
              <a:t> A </a:t>
            </a:r>
            <a:r>
              <a:rPr lang="fr-FR" sz="2200" dirty="0">
                <a:solidFill>
                  <a:srgbClr val="000000"/>
                </a:solidFill>
                <a:effectLst/>
                <a:latin typeface="Times New Roman" panose="02020603050405020304" pitchFamily="18" charset="0"/>
                <a:ea typeface="Times New Roman" panose="02020603050405020304" pitchFamily="18" charset="0"/>
              </a:rPr>
              <a:t>vers</a:t>
            </a:r>
            <a:r>
              <a:rPr lang="fr-FR" sz="2200" i="1" dirty="0">
                <a:solidFill>
                  <a:srgbClr val="000000"/>
                </a:solidFill>
                <a:effectLst/>
                <a:latin typeface="Times New Roman" panose="02020603050405020304" pitchFamily="18" charset="0"/>
                <a:ea typeface="Times New Roman" panose="02020603050405020304" pitchFamily="18" charset="0"/>
              </a:rPr>
              <a:t> B ?</a:t>
            </a:r>
            <a:br>
              <a:rPr lang="fr-CA" sz="2200" dirty="0">
                <a:solidFill>
                  <a:srgbClr val="000000"/>
                </a:solidFill>
                <a:effectLst/>
                <a:latin typeface="Times New Roman" panose="02020603050405020304" pitchFamily="18" charset="0"/>
                <a:ea typeface="Times New Roman" panose="02020603050405020304" pitchFamily="18" charset="0"/>
              </a:rPr>
            </a:br>
            <a:endParaRPr lang="fr-CA" sz="2200" dirty="0"/>
          </a:p>
        </p:txBody>
      </p:sp>
      <p:sp>
        <p:nvSpPr>
          <p:cNvPr id="3" name="Espace réservé du pied de page 2">
            <a:extLst>
              <a:ext uri="{FF2B5EF4-FFF2-40B4-BE49-F238E27FC236}">
                <a16:creationId xmlns:a16="http://schemas.microsoft.com/office/drawing/2014/main" id="{E7825A45-BF0E-4AF3-92EF-4B52CCE1C0E3}"/>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4443AEDC-DF07-4C25-A553-0282AC373155}"/>
              </a:ext>
            </a:extLst>
          </p:cNvPr>
          <p:cNvSpPr>
            <a:spLocks noGrp="1"/>
          </p:cNvSpPr>
          <p:nvPr>
            <p:ph type="sldNum" sz="quarter" idx="12"/>
          </p:nvPr>
        </p:nvSpPr>
        <p:spPr/>
        <p:txBody>
          <a:bodyPr/>
          <a:lstStyle/>
          <a:p>
            <a:fld id="{26377AD9-CE17-438C-A638-C64D2D42D7CF}" type="slidenum">
              <a:rPr lang="fr-CA" smtClean="0"/>
              <a:t>20</a:t>
            </a:fld>
            <a:endParaRPr lang="fr-CA"/>
          </a:p>
        </p:txBody>
      </p:sp>
      <p:pic>
        <p:nvPicPr>
          <p:cNvPr id="7" name="Image 6">
            <a:extLst>
              <a:ext uri="{FF2B5EF4-FFF2-40B4-BE49-F238E27FC236}">
                <a16:creationId xmlns:a16="http://schemas.microsoft.com/office/drawing/2014/main" id="{2C94AB2C-D0F5-46E0-8B76-D255DAE9C4E3}"/>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2603863" y="1907178"/>
            <a:ext cx="5019675" cy="1737518"/>
          </a:xfrm>
          <a:prstGeom prst="rect">
            <a:avLst/>
          </a:prstGeom>
          <a:noFill/>
          <a:ln>
            <a:noFill/>
          </a:ln>
        </p:spPr>
      </p:pic>
      <mc:AlternateContent xmlns:mc="http://schemas.openxmlformats.org/markup-compatibility/2006" xmlns:a14="http://schemas.microsoft.com/office/drawing/2010/main">
        <mc:Choice Requires="a14">
          <p:sp>
            <p:nvSpPr>
              <p:cNvPr id="12" name="ZoneTexte 11">
                <a:extLst>
                  <a:ext uri="{FF2B5EF4-FFF2-40B4-BE49-F238E27FC236}">
                    <a16:creationId xmlns:a16="http://schemas.microsoft.com/office/drawing/2014/main" id="{4F0A512C-82DA-4BD8-A004-3E6DF7233471}"/>
                  </a:ext>
                </a:extLst>
              </p:cNvPr>
              <p:cNvSpPr txBox="1"/>
              <p:nvPr/>
            </p:nvSpPr>
            <p:spPr>
              <a:xfrm>
                <a:off x="1580606" y="3944983"/>
                <a:ext cx="8752114" cy="1754326"/>
              </a:xfrm>
              <a:prstGeom prst="rect">
                <a:avLst/>
              </a:prstGeom>
              <a:noFill/>
            </p:spPr>
            <p:txBody>
              <a:bodyPr wrap="square" rtlCol="0">
                <a:spAutoFit/>
              </a:bodyPr>
              <a:lstStyle/>
              <a:p>
                <a:r>
                  <a:rPr lang="fr-CA" sz="1800" b="1" dirty="0">
                    <a:effectLst/>
                    <a:latin typeface="Calibri" panose="020F0502020204030204" pitchFamily="34" charset="0"/>
                    <a:ea typeface="Calibri" panose="020F0502020204030204" pitchFamily="34" charset="0"/>
                    <a:cs typeface="Times New Roman" panose="02020603050405020304" pitchFamily="18" charset="0"/>
                  </a:rPr>
                  <a:t>Réponse:</a:t>
                </a:r>
                <a:r>
                  <a:rPr lang="fr-CA" sz="1800" dirty="0">
                    <a:effectLst/>
                    <a:latin typeface="Calibri" panose="020F0502020204030204" pitchFamily="34" charset="0"/>
                    <a:ea typeface="Calibri" panose="020F0502020204030204" pitchFamily="34" charset="0"/>
                    <a:cs typeface="Times New Roman" panose="02020603050405020304" pitchFamily="18" charset="0"/>
                  </a:rPr>
                  <a:t> Soit </a:t>
                </a:r>
                <a:r>
                  <a:rPr lang="fr-CA" sz="1800" i="1" dirty="0">
                    <a:effectLst/>
                    <a:latin typeface="Calibri" panose="020F0502020204030204" pitchFamily="34" charset="0"/>
                    <a:ea typeface="Calibri" panose="020F0502020204030204" pitchFamily="34" charset="0"/>
                    <a:cs typeface="Times New Roman" panose="02020603050405020304" pitchFamily="18" charset="0"/>
                  </a:rPr>
                  <a:t>E</a:t>
                </a:r>
                <a:r>
                  <a:rPr lang="fr-CA" sz="1800" dirty="0">
                    <a:effectLst/>
                    <a:latin typeface="Calibri" panose="020F0502020204030204" pitchFamily="34" charset="0"/>
                    <a:ea typeface="Calibri" panose="020F0502020204030204" pitchFamily="34" charset="0"/>
                    <a:cs typeface="Times New Roman" panose="02020603050405020304" pitchFamily="18" charset="0"/>
                  </a:rPr>
                  <a:t> : Le courant passe par les composantes du haut, et </a:t>
                </a:r>
                <a:r>
                  <a:rPr lang="fr-CA" sz="1800" i="1" dirty="0">
                    <a:effectLst/>
                    <a:latin typeface="Calibri" panose="020F0502020204030204" pitchFamily="34" charset="0"/>
                    <a:ea typeface="Calibri" panose="020F0502020204030204" pitchFamily="34" charset="0"/>
                    <a:cs typeface="Times New Roman" panose="02020603050405020304" pitchFamily="18" charset="0"/>
                  </a:rPr>
                  <a:t>F</a:t>
                </a:r>
                <a:r>
                  <a:rPr lang="fr-CA" sz="1800" dirty="0">
                    <a:effectLst/>
                    <a:latin typeface="Calibri" panose="020F0502020204030204" pitchFamily="34" charset="0"/>
                    <a:ea typeface="Calibri" panose="020F0502020204030204" pitchFamily="34" charset="0"/>
                    <a:cs typeface="Times New Roman" panose="02020603050405020304" pitchFamily="18" charset="0"/>
                  </a:rPr>
                  <a:t> : Le courant passe par les composantes du bas. Alors, pour que le courant passe de</a:t>
                </a:r>
                <a:r>
                  <a:rPr lang="fr-CA" sz="1800" i="1" dirty="0">
                    <a:effectLst/>
                    <a:latin typeface="Calibri" panose="020F0502020204030204" pitchFamily="34" charset="0"/>
                    <a:ea typeface="Calibri" panose="020F0502020204030204" pitchFamily="34" charset="0"/>
                    <a:cs typeface="Times New Roman" panose="02020603050405020304" pitchFamily="18" charset="0"/>
                  </a:rPr>
                  <a:t> A </a:t>
                </a:r>
                <a:r>
                  <a:rPr lang="fr-CA" sz="1800" dirty="0">
                    <a:effectLst/>
                    <a:latin typeface="Calibri" panose="020F0502020204030204" pitchFamily="34" charset="0"/>
                    <a:ea typeface="Calibri" panose="020F0502020204030204" pitchFamily="34" charset="0"/>
                    <a:cs typeface="Times New Roman" panose="02020603050405020304" pitchFamily="18" charset="0"/>
                  </a:rPr>
                  <a:t>vers </a:t>
                </a:r>
                <a:r>
                  <a:rPr lang="fr-CA" sz="1800" i="1" dirty="0">
                    <a:effectLst/>
                    <a:latin typeface="Calibri" panose="020F0502020204030204" pitchFamily="34" charset="0"/>
                    <a:ea typeface="Calibri" panose="020F0502020204030204" pitchFamily="34" charset="0"/>
                    <a:cs typeface="Times New Roman" panose="02020603050405020304" pitchFamily="18" charset="0"/>
                  </a:rPr>
                  <a:t>B</a:t>
                </a:r>
                <a:r>
                  <a:rPr lang="fr-CA" sz="1800" dirty="0">
                    <a:effectLst/>
                    <a:latin typeface="Calibri" panose="020F0502020204030204" pitchFamily="34" charset="0"/>
                    <a:ea typeface="Calibri" panose="020F0502020204030204" pitchFamily="34" charset="0"/>
                    <a:cs typeface="Times New Roman" panose="02020603050405020304" pitchFamily="18" charset="0"/>
                  </a:rPr>
                  <a:t>, il faut avoir </a:t>
                </a:r>
                <a:r>
                  <a:rPr lang="fr-CA" sz="1800" i="1" dirty="0">
                    <a:effectLst/>
                    <a:latin typeface="Calibri" panose="020F0502020204030204" pitchFamily="34" charset="0"/>
                    <a:ea typeface="Calibri" panose="020F0502020204030204" pitchFamily="34" charset="0"/>
                    <a:cs typeface="Times New Roman" panose="02020603050405020304" pitchFamily="18" charset="0"/>
                  </a:rPr>
                  <a:t>E ou F  et E et F sont indépendants. Donc:</a:t>
                </a:r>
              </a:p>
              <a:p>
                <a:pPr/>
                <a14:m>
                  <m:oMathPara xmlns:m="http://schemas.openxmlformats.org/officeDocument/2006/math">
                    <m:oMathParaPr>
                      <m:jc m:val="centerGroup"/>
                    </m:oMathParaPr>
                    <m:oMath xmlns:m="http://schemas.openxmlformats.org/officeDocument/2006/math">
                      <m:r>
                        <a:rPr lang="fr-CA" sz="1800" b="0" i="1" smtClean="0">
                          <a:effectLst/>
                          <a:latin typeface="Cambria Math" panose="02040503050406030204" pitchFamily="18" charset="0"/>
                          <a:ea typeface="Calibri" panose="020F0502020204030204" pitchFamily="34" charset="0"/>
                          <a:cs typeface="Times New Roman" panose="02020603050405020304" pitchFamily="18" charset="0"/>
                        </a:rPr>
                        <m:t>𝑃</m:t>
                      </m:r>
                      <m:d>
                        <m:dPr>
                          <m:ctrlPr>
                            <a:rPr lang="fr-CA" sz="1800" b="0" i="1" smtClean="0">
                              <a:effectLst/>
                              <a:latin typeface="Cambria Math" panose="02040503050406030204" pitchFamily="18" charset="0"/>
                              <a:ea typeface="Calibri" panose="020F0502020204030204" pitchFamily="34" charset="0"/>
                              <a:cs typeface="Times New Roman" panose="02020603050405020304" pitchFamily="18" charset="0"/>
                            </a:rPr>
                          </m:ctrlPr>
                        </m:dPr>
                        <m:e>
                          <m:r>
                            <a:rPr lang="fr-CA" sz="1800" b="0" i="1" smtClean="0">
                              <a:effectLst/>
                              <a:latin typeface="Cambria Math" panose="02040503050406030204" pitchFamily="18" charset="0"/>
                              <a:ea typeface="Calibri" panose="020F0502020204030204" pitchFamily="34" charset="0"/>
                              <a:cs typeface="Times New Roman" panose="02020603050405020304" pitchFamily="18" charset="0"/>
                            </a:rPr>
                            <m:t>𝐸</m:t>
                          </m:r>
                          <m:r>
                            <a:rPr lang="fr-CA" sz="1800" b="0" i="1" smtClean="0">
                              <a:effectLst/>
                              <a:latin typeface="Cambria Math" panose="02040503050406030204" pitchFamily="18" charset="0"/>
                              <a:ea typeface="Cambria Math" panose="02040503050406030204" pitchFamily="18" charset="0"/>
                              <a:cs typeface="Times New Roman" panose="02020603050405020304" pitchFamily="18" charset="0"/>
                            </a:rPr>
                            <m:t>∪</m:t>
                          </m:r>
                          <m:r>
                            <a:rPr lang="fr-CA" sz="1800" b="0" i="1" smtClean="0">
                              <a:effectLst/>
                              <a:latin typeface="Cambria Math" panose="02040503050406030204" pitchFamily="18" charset="0"/>
                              <a:ea typeface="Cambria Math" panose="02040503050406030204" pitchFamily="18" charset="0"/>
                              <a:cs typeface="Times New Roman" panose="02020603050405020304" pitchFamily="18" charset="0"/>
                            </a:rPr>
                            <m:t>𝐹</m:t>
                          </m:r>
                        </m:e>
                      </m:d>
                      <m:r>
                        <a:rPr lang="fr-CA" sz="1800" b="0" i="1" smtClean="0">
                          <a:effectLst/>
                          <a:latin typeface="Cambria Math" panose="02040503050406030204" pitchFamily="18" charset="0"/>
                          <a:ea typeface="Cambria Math" panose="02040503050406030204" pitchFamily="18" charset="0"/>
                          <a:cs typeface="Times New Roman" panose="02020603050405020304" pitchFamily="18" charset="0"/>
                        </a:rPr>
                        <m:t>=</m:t>
                      </m:r>
                      <m:r>
                        <a:rPr lang="fr-CA" sz="1800" b="0" i="1" smtClean="0">
                          <a:effectLst/>
                          <a:latin typeface="Cambria Math" panose="02040503050406030204" pitchFamily="18" charset="0"/>
                          <a:ea typeface="Cambria Math" panose="02040503050406030204" pitchFamily="18" charset="0"/>
                          <a:cs typeface="Times New Roman" panose="02020603050405020304" pitchFamily="18" charset="0"/>
                        </a:rPr>
                        <m:t>𝑃</m:t>
                      </m:r>
                      <m:d>
                        <m:dPr>
                          <m:ctrlPr>
                            <a:rPr lang="fr-CA" sz="1800" b="0" i="1" smtClean="0">
                              <a:effectLst/>
                              <a:latin typeface="Cambria Math" panose="02040503050406030204" pitchFamily="18" charset="0"/>
                              <a:ea typeface="Cambria Math" panose="02040503050406030204" pitchFamily="18" charset="0"/>
                              <a:cs typeface="Times New Roman" panose="02020603050405020304" pitchFamily="18" charset="0"/>
                            </a:rPr>
                          </m:ctrlPr>
                        </m:dPr>
                        <m:e>
                          <m:r>
                            <a:rPr lang="fr-CA" sz="1800" b="0" i="1" smtClean="0">
                              <a:effectLst/>
                              <a:latin typeface="Cambria Math" panose="02040503050406030204" pitchFamily="18" charset="0"/>
                              <a:ea typeface="Cambria Math" panose="02040503050406030204" pitchFamily="18" charset="0"/>
                              <a:cs typeface="Times New Roman" panose="02020603050405020304" pitchFamily="18" charset="0"/>
                            </a:rPr>
                            <m:t>𝐸</m:t>
                          </m:r>
                        </m:e>
                      </m:d>
                      <m:r>
                        <a:rPr lang="fr-CA" sz="1800" b="0" i="1" smtClean="0">
                          <a:effectLst/>
                          <a:latin typeface="Cambria Math" panose="02040503050406030204" pitchFamily="18" charset="0"/>
                          <a:ea typeface="Cambria Math" panose="02040503050406030204" pitchFamily="18" charset="0"/>
                          <a:cs typeface="Times New Roman" panose="02020603050405020304" pitchFamily="18" charset="0"/>
                        </a:rPr>
                        <m:t>+</m:t>
                      </m:r>
                      <m:r>
                        <a:rPr lang="fr-CA" sz="1800" b="0" i="1" smtClean="0">
                          <a:effectLst/>
                          <a:latin typeface="Cambria Math" panose="02040503050406030204" pitchFamily="18" charset="0"/>
                          <a:ea typeface="Cambria Math" panose="02040503050406030204" pitchFamily="18" charset="0"/>
                          <a:cs typeface="Times New Roman" panose="02020603050405020304" pitchFamily="18" charset="0"/>
                        </a:rPr>
                        <m:t>𝑃</m:t>
                      </m:r>
                      <m:d>
                        <m:dPr>
                          <m:ctrlPr>
                            <a:rPr lang="fr-CA" sz="1800" b="0" i="1" smtClean="0">
                              <a:effectLst/>
                              <a:latin typeface="Cambria Math" panose="02040503050406030204" pitchFamily="18" charset="0"/>
                              <a:ea typeface="Cambria Math" panose="02040503050406030204" pitchFamily="18" charset="0"/>
                              <a:cs typeface="Times New Roman" panose="02020603050405020304" pitchFamily="18" charset="0"/>
                            </a:rPr>
                          </m:ctrlPr>
                        </m:dPr>
                        <m:e>
                          <m:r>
                            <a:rPr lang="fr-CA" sz="1800" b="0" i="1" smtClean="0">
                              <a:effectLst/>
                              <a:latin typeface="Cambria Math" panose="02040503050406030204" pitchFamily="18" charset="0"/>
                              <a:ea typeface="Cambria Math" panose="02040503050406030204" pitchFamily="18" charset="0"/>
                              <a:cs typeface="Times New Roman" panose="02020603050405020304" pitchFamily="18" charset="0"/>
                            </a:rPr>
                            <m:t>𝐹</m:t>
                          </m:r>
                        </m:e>
                      </m:d>
                      <m:r>
                        <a:rPr lang="fr-CA" sz="1800" b="0" i="1" smtClean="0">
                          <a:effectLst/>
                          <a:latin typeface="Cambria Math" panose="02040503050406030204" pitchFamily="18" charset="0"/>
                          <a:ea typeface="Cambria Math" panose="02040503050406030204" pitchFamily="18" charset="0"/>
                          <a:cs typeface="Times New Roman" panose="02020603050405020304" pitchFamily="18" charset="0"/>
                        </a:rPr>
                        <m:t>−</m:t>
                      </m:r>
                      <m:r>
                        <a:rPr lang="fr-CA" sz="1800" b="0" i="1" smtClean="0">
                          <a:effectLst/>
                          <a:latin typeface="Cambria Math" panose="02040503050406030204" pitchFamily="18" charset="0"/>
                          <a:ea typeface="Cambria Math" panose="02040503050406030204" pitchFamily="18" charset="0"/>
                          <a:cs typeface="Times New Roman" panose="02020603050405020304" pitchFamily="18" charset="0"/>
                        </a:rPr>
                        <m:t>𝑃</m:t>
                      </m:r>
                      <m:d>
                        <m:dPr>
                          <m:ctrlPr>
                            <a:rPr lang="fr-CA" sz="1800" b="0" i="1" smtClean="0">
                              <a:effectLst/>
                              <a:latin typeface="Cambria Math" panose="02040503050406030204" pitchFamily="18" charset="0"/>
                              <a:ea typeface="Cambria Math" panose="02040503050406030204" pitchFamily="18" charset="0"/>
                              <a:cs typeface="Times New Roman" panose="02020603050405020304" pitchFamily="18" charset="0"/>
                            </a:rPr>
                          </m:ctrlPr>
                        </m:dPr>
                        <m:e>
                          <m:r>
                            <a:rPr lang="fr-CA" sz="1800" b="0" i="1" smtClean="0">
                              <a:effectLst/>
                              <a:latin typeface="Cambria Math" panose="02040503050406030204" pitchFamily="18" charset="0"/>
                              <a:ea typeface="Cambria Math" panose="02040503050406030204" pitchFamily="18" charset="0"/>
                              <a:cs typeface="Times New Roman" panose="02020603050405020304" pitchFamily="18" charset="0"/>
                            </a:rPr>
                            <m:t>𝐸</m:t>
                          </m:r>
                          <m:r>
                            <a:rPr lang="fr-CA" sz="1800" b="0" i="1" smtClean="0">
                              <a:effectLst/>
                              <a:latin typeface="Cambria Math" panose="02040503050406030204" pitchFamily="18" charset="0"/>
                              <a:ea typeface="Cambria Math" panose="02040503050406030204" pitchFamily="18" charset="0"/>
                              <a:cs typeface="Times New Roman" panose="02020603050405020304" pitchFamily="18" charset="0"/>
                            </a:rPr>
                            <m:t>∩</m:t>
                          </m:r>
                          <m:r>
                            <a:rPr lang="fr-CA" sz="1800" b="0" i="1" smtClean="0">
                              <a:effectLst/>
                              <a:latin typeface="Cambria Math" panose="02040503050406030204" pitchFamily="18" charset="0"/>
                              <a:ea typeface="Cambria Math" panose="02040503050406030204" pitchFamily="18" charset="0"/>
                              <a:cs typeface="Times New Roman" panose="02020603050405020304" pitchFamily="18" charset="0"/>
                            </a:rPr>
                            <m:t>𝐹</m:t>
                          </m:r>
                        </m:e>
                      </m:d>
                      <m:r>
                        <a:rPr lang="fr-CA" sz="1800" b="0" i="1" smtClean="0">
                          <a:effectLst/>
                          <a:latin typeface="Cambria Math" panose="02040503050406030204" pitchFamily="18" charset="0"/>
                          <a:ea typeface="Cambria Math" panose="02040503050406030204" pitchFamily="18" charset="0"/>
                          <a:cs typeface="Times New Roman" panose="02020603050405020304" pitchFamily="18" charset="0"/>
                        </a:rPr>
                        <m:t>=</m:t>
                      </m:r>
                      <m:r>
                        <a:rPr lang="fr-CA" sz="1800" b="0" i="1" smtClean="0">
                          <a:effectLst/>
                          <a:latin typeface="Cambria Math" panose="02040503050406030204" pitchFamily="18" charset="0"/>
                          <a:ea typeface="Cambria Math" panose="02040503050406030204" pitchFamily="18" charset="0"/>
                          <a:cs typeface="Times New Roman" panose="02020603050405020304" pitchFamily="18" charset="0"/>
                        </a:rPr>
                        <m:t>𝑃</m:t>
                      </m:r>
                      <m:d>
                        <m:dPr>
                          <m:ctrlPr>
                            <a:rPr lang="fr-CA" sz="1800" b="0" i="1" smtClean="0">
                              <a:effectLst/>
                              <a:latin typeface="Cambria Math" panose="02040503050406030204" pitchFamily="18" charset="0"/>
                              <a:ea typeface="Cambria Math" panose="02040503050406030204" pitchFamily="18" charset="0"/>
                              <a:cs typeface="Times New Roman" panose="02020603050405020304" pitchFamily="18" charset="0"/>
                            </a:rPr>
                          </m:ctrlPr>
                        </m:dPr>
                        <m:e>
                          <m:r>
                            <a:rPr lang="fr-CA" sz="1800" b="0" i="1" smtClean="0">
                              <a:effectLst/>
                              <a:latin typeface="Cambria Math" panose="02040503050406030204" pitchFamily="18" charset="0"/>
                              <a:ea typeface="Cambria Math" panose="02040503050406030204" pitchFamily="18" charset="0"/>
                              <a:cs typeface="Times New Roman" panose="02020603050405020304" pitchFamily="18" charset="0"/>
                            </a:rPr>
                            <m:t>𝐸</m:t>
                          </m:r>
                        </m:e>
                      </m:d>
                      <m:r>
                        <a:rPr lang="fr-CA" sz="1800" b="0" i="1" smtClean="0">
                          <a:effectLst/>
                          <a:latin typeface="Cambria Math" panose="02040503050406030204" pitchFamily="18" charset="0"/>
                          <a:ea typeface="Cambria Math" panose="02040503050406030204" pitchFamily="18" charset="0"/>
                          <a:cs typeface="Times New Roman" panose="02020603050405020304" pitchFamily="18" charset="0"/>
                        </a:rPr>
                        <m:t>+</m:t>
                      </m:r>
                      <m:r>
                        <a:rPr lang="fr-CA" sz="1800" b="0" i="1" smtClean="0">
                          <a:effectLst/>
                          <a:latin typeface="Cambria Math" panose="02040503050406030204" pitchFamily="18" charset="0"/>
                          <a:ea typeface="Cambria Math" panose="02040503050406030204" pitchFamily="18" charset="0"/>
                          <a:cs typeface="Times New Roman" panose="02020603050405020304" pitchFamily="18" charset="0"/>
                        </a:rPr>
                        <m:t>𝑃</m:t>
                      </m:r>
                      <m:d>
                        <m:dPr>
                          <m:ctrlPr>
                            <a:rPr lang="fr-CA" sz="1800" b="0" i="1" smtClean="0">
                              <a:effectLst/>
                              <a:latin typeface="Cambria Math" panose="02040503050406030204" pitchFamily="18" charset="0"/>
                              <a:ea typeface="Cambria Math" panose="02040503050406030204" pitchFamily="18" charset="0"/>
                              <a:cs typeface="Times New Roman" panose="02020603050405020304" pitchFamily="18" charset="0"/>
                            </a:rPr>
                          </m:ctrlPr>
                        </m:dPr>
                        <m:e>
                          <m:r>
                            <a:rPr lang="fr-CA" sz="1800" b="0" i="1" smtClean="0">
                              <a:effectLst/>
                              <a:latin typeface="Cambria Math" panose="02040503050406030204" pitchFamily="18" charset="0"/>
                              <a:ea typeface="Cambria Math" panose="02040503050406030204" pitchFamily="18" charset="0"/>
                              <a:cs typeface="Times New Roman" panose="02020603050405020304" pitchFamily="18" charset="0"/>
                            </a:rPr>
                            <m:t>𝐹</m:t>
                          </m:r>
                        </m:e>
                      </m:d>
                      <m:r>
                        <a:rPr lang="fr-CA" sz="1800" b="0" i="1" smtClean="0">
                          <a:effectLst/>
                          <a:latin typeface="Cambria Math" panose="02040503050406030204" pitchFamily="18" charset="0"/>
                          <a:ea typeface="Cambria Math" panose="02040503050406030204" pitchFamily="18" charset="0"/>
                          <a:cs typeface="Times New Roman" panose="02020603050405020304" pitchFamily="18" charset="0"/>
                        </a:rPr>
                        <m:t>−</m:t>
                      </m:r>
                      <m:r>
                        <a:rPr lang="fr-CA" sz="1800" b="0" i="1" smtClean="0">
                          <a:effectLst/>
                          <a:latin typeface="Cambria Math" panose="02040503050406030204" pitchFamily="18" charset="0"/>
                          <a:ea typeface="Cambria Math" panose="02040503050406030204" pitchFamily="18" charset="0"/>
                          <a:cs typeface="Times New Roman" panose="02020603050405020304" pitchFamily="18" charset="0"/>
                        </a:rPr>
                        <m:t>𝑃</m:t>
                      </m:r>
                      <m:d>
                        <m:dPr>
                          <m:ctrlPr>
                            <a:rPr lang="fr-CA" sz="1800" b="0" i="1" smtClean="0">
                              <a:effectLst/>
                              <a:latin typeface="Cambria Math" panose="02040503050406030204" pitchFamily="18" charset="0"/>
                              <a:ea typeface="Cambria Math" panose="02040503050406030204" pitchFamily="18" charset="0"/>
                              <a:cs typeface="Times New Roman" panose="02020603050405020304" pitchFamily="18" charset="0"/>
                            </a:rPr>
                          </m:ctrlPr>
                        </m:dPr>
                        <m:e>
                          <m:r>
                            <a:rPr lang="fr-CA" sz="1800" b="0" i="1" smtClean="0">
                              <a:effectLst/>
                              <a:latin typeface="Cambria Math" panose="02040503050406030204" pitchFamily="18" charset="0"/>
                              <a:ea typeface="Cambria Math" panose="02040503050406030204" pitchFamily="18" charset="0"/>
                              <a:cs typeface="Times New Roman" panose="02020603050405020304" pitchFamily="18" charset="0"/>
                            </a:rPr>
                            <m:t>𝐸</m:t>
                          </m:r>
                        </m:e>
                      </m:d>
                      <m:r>
                        <a:rPr lang="fr-CA" sz="1800" b="0" i="1" smtClean="0">
                          <a:effectLst/>
                          <a:latin typeface="Cambria Math" panose="02040503050406030204" pitchFamily="18" charset="0"/>
                          <a:ea typeface="Cambria Math" panose="02040503050406030204" pitchFamily="18" charset="0"/>
                          <a:cs typeface="Times New Roman" panose="02020603050405020304" pitchFamily="18" charset="0"/>
                        </a:rPr>
                        <m:t>∗</m:t>
                      </m:r>
                      <m:r>
                        <a:rPr lang="fr-CA" sz="1800" b="0" i="1" smtClean="0">
                          <a:effectLst/>
                          <a:latin typeface="Cambria Math" panose="02040503050406030204" pitchFamily="18" charset="0"/>
                          <a:ea typeface="Cambria Math" panose="02040503050406030204" pitchFamily="18" charset="0"/>
                          <a:cs typeface="Times New Roman" panose="02020603050405020304" pitchFamily="18" charset="0"/>
                        </a:rPr>
                        <m:t>𝑃</m:t>
                      </m:r>
                      <m:d>
                        <m:dPr>
                          <m:ctrlPr>
                            <a:rPr lang="fr-CA" sz="1800" b="0" i="1" smtClean="0">
                              <a:effectLst/>
                              <a:latin typeface="Cambria Math" panose="02040503050406030204" pitchFamily="18" charset="0"/>
                              <a:ea typeface="Cambria Math" panose="02040503050406030204" pitchFamily="18" charset="0"/>
                              <a:cs typeface="Times New Roman" panose="02020603050405020304" pitchFamily="18" charset="0"/>
                            </a:rPr>
                          </m:ctrlPr>
                        </m:dPr>
                        <m:e>
                          <m:r>
                            <a:rPr lang="fr-CA" sz="1800" b="0" i="1" smtClean="0">
                              <a:effectLst/>
                              <a:latin typeface="Cambria Math" panose="02040503050406030204" pitchFamily="18" charset="0"/>
                              <a:ea typeface="Cambria Math" panose="02040503050406030204" pitchFamily="18" charset="0"/>
                              <a:cs typeface="Times New Roman" panose="02020603050405020304" pitchFamily="18" charset="0"/>
                            </a:rPr>
                            <m:t>𝐹</m:t>
                          </m:r>
                        </m:e>
                      </m:d>
                      <m:r>
                        <a:rPr lang="fr-CA" sz="1800" b="0" i="1" smtClean="0">
                          <a:effectLst/>
                          <a:latin typeface="Cambria Math" panose="02040503050406030204" pitchFamily="18" charset="0"/>
                          <a:ea typeface="Cambria Math" panose="02040503050406030204" pitchFamily="18" charset="0"/>
                          <a:cs typeface="Times New Roman" panose="02020603050405020304" pitchFamily="18" charset="0"/>
                        </a:rPr>
                        <m:t>=</m:t>
                      </m:r>
                    </m:oMath>
                  </m:oMathPara>
                </a14:m>
                <a:endParaRPr lang="fr-CA" sz="1800" b="0" dirty="0">
                  <a:effectLst/>
                  <a:latin typeface="Calibri" panose="020F0502020204030204" pitchFamily="34" charset="0"/>
                  <a:ea typeface="Cambria Math" panose="02040503050406030204" pitchFamily="18" charset="0"/>
                  <a:cs typeface="Times New Roman" panose="02020603050405020304" pitchFamily="18" charset="0"/>
                </a:endParaRPr>
              </a:p>
              <a:p>
                <a14:m>
                  <m:oMath xmlns:m="http://schemas.openxmlformats.org/officeDocument/2006/math">
                    <m:d>
                      <m:dPr>
                        <m:ctrlPr>
                          <a:rPr lang="fr-CA" sz="1800" b="0" i="1" smtClean="0">
                            <a:effectLst/>
                            <a:latin typeface="Cambria Math" panose="02040503050406030204" pitchFamily="18" charset="0"/>
                            <a:ea typeface="Calibri" panose="020F0502020204030204" pitchFamily="34" charset="0"/>
                            <a:cs typeface="Times New Roman" panose="02020603050405020304" pitchFamily="18" charset="0"/>
                          </a:rPr>
                        </m:ctrlPr>
                      </m:dPr>
                      <m:e>
                        <m:r>
                          <a:rPr lang="fr-CA" sz="1800" b="0" i="1" smtClean="0">
                            <a:effectLst/>
                            <a:latin typeface="Cambria Math" panose="02040503050406030204" pitchFamily="18" charset="0"/>
                            <a:ea typeface="Calibri" panose="020F0502020204030204" pitchFamily="34" charset="0"/>
                            <a:cs typeface="Times New Roman" panose="02020603050405020304" pitchFamily="18" charset="0"/>
                          </a:rPr>
                          <m:t>0,99∗0,98∗0,99∗0,97</m:t>
                        </m:r>
                      </m:e>
                    </m:d>
                    <m:r>
                      <a:rPr lang="fr-CA" sz="1800" b="0" i="1" smtClean="0">
                        <a:effectLst/>
                        <a:latin typeface="Cambria Math" panose="02040503050406030204" pitchFamily="18" charset="0"/>
                        <a:ea typeface="Calibri" panose="020F0502020204030204" pitchFamily="34" charset="0"/>
                        <a:cs typeface="Times New Roman" panose="02020603050405020304" pitchFamily="18" charset="0"/>
                      </a:rPr>
                      <m:t>+</m:t>
                    </m:r>
                    <m:d>
                      <m:dPr>
                        <m:ctrlPr>
                          <a:rPr lang="fr-CA" sz="1800" b="0" i="1" smtClean="0">
                            <a:effectLst/>
                            <a:latin typeface="Cambria Math" panose="02040503050406030204" pitchFamily="18" charset="0"/>
                            <a:ea typeface="Calibri" panose="020F0502020204030204" pitchFamily="34" charset="0"/>
                            <a:cs typeface="Times New Roman" panose="02020603050405020304" pitchFamily="18" charset="0"/>
                          </a:rPr>
                        </m:ctrlPr>
                      </m:dPr>
                      <m:e>
                        <m:r>
                          <a:rPr lang="fr-CA" sz="1800" b="0" i="1" smtClean="0">
                            <a:effectLst/>
                            <a:latin typeface="Cambria Math" panose="02040503050406030204" pitchFamily="18" charset="0"/>
                            <a:ea typeface="Calibri" panose="020F0502020204030204" pitchFamily="34" charset="0"/>
                            <a:cs typeface="Times New Roman" panose="02020603050405020304" pitchFamily="18" charset="0"/>
                          </a:rPr>
                          <m:t>0,96∗0,975∗0,98∗0,985</m:t>
                        </m:r>
                      </m:e>
                    </m:d>
                    <m:r>
                      <a:rPr lang="fr-CA" sz="1800" b="0" i="1" smtClean="0">
                        <a:effectLst/>
                        <a:latin typeface="Cambria Math" panose="02040503050406030204" pitchFamily="18" charset="0"/>
                        <a:ea typeface="Calibri" panose="020F0502020204030204" pitchFamily="34" charset="0"/>
                        <a:cs typeface="Times New Roman" panose="02020603050405020304" pitchFamily="18" charset="0"/>
                      </a:rPr>
                      <m:t>−</m:t>
                    </m:r>
                  </m:oMath>
                </a14:m>
                <a:r>
                  <a:rPr lang="fr-CA" sz="1800" dirty="0">
                    <a:effectLst/>
                    <a:latin typeface="Calibri" panose="020F0502020204030204" pitchFamily="34" charset="0"/>
                    <a:ea typeface="Calibri" panose="020F0502020204030204" pitchFamily="34" charset="0"/>
                    <a:cs typeface="Times New Roman" panose="02020603050405020304" pitchFamily="18" charset="0"/>
                  </a:rPr>
                  <a:t> </a:t>
                </a:r>
                <a14:m>
                  <m:oMath xmlns:m="http://schemas.openxmlformats.org/officeDocument/2006/math">
                    <m:d>
                      <m:dPr>
                        <m:ctrlPr>
                          <a:rPr lang="fr-CA" i="1">
                            <a:latin typeface="Cambria Math" panose="02040503050406030204" pitchFamily="18" charset="0"/>
                            <a:ea typeface="Calibri" panose="020F0502020204030204" pitchFamily="34" charset="0"/>
                            <a:cs typeface="Times New Roman" panose="02020603050405020304" pitchFamily="18" charset="0"/>
                          </a:rPr>
                        </m:ctrlPr>
                      </m:dPr>
                      <m:e>
                        <m:r>
                          <a:rPr lang="fr-CA" i="1">
                            <a:latin typeface="Cambria Math" panose="02040503050406030204" pitchFamily="18" charset="0"/>
                            <a:ea typeface="Calibri" panose="020F0502020204030204" pitchFamily="34" charset="0"/>
                            <a:cs typeface="Times New Roman" panose="02020603050405020304" pitchFamily="18" charset="0"/>
                          </a:rPr>
                          <m:t>0,99∗0,98∗0,99∗0,97</m:t>
                        </m:r>
                      </m:e>
                    </m:d>
                  </m:oMath>
                </a14:m>
                <a:r>
                  <a:rPr lang="fr-CA" dirty="0"/>
                  <a:t>*</a:t>
                </a:r>
                <a:r>
                  <a:rPr lang="fr-CA" dirty="0">
                    <a:ea typeface="Calibri" panose="020F0502020204030204" pitchFamily="34" charset="0"/>
                    <a:cs typeface="Times New Roman" panose="02020603050405020304" pitchFamily="18" charset="0"/>
                  </a:rPr>
                  <a:t> </a:t>
                </a:r>
                <a14:m>
                  <m:oMath xmlns:m="http://schemas.openxmlformats.org/officeDocument/2006/math">
                    <m:d>
                      <m:dPr>
                        <m:ctrlPr>
                          <a:rPr lang="fr-CA" i="1">
                            <a:latin typeface="Cambria Math" panose="02040503050406030204" pitchFamily="18" charset="0"/>
                            <a:ea typeface="Calibri" panose="020F0502020204030204" pitchFamily="34" charset="0"/>
                            <a:cs typeface="Times New Roman" panose="02020603050405020304" pitchFamily="18" charset="0"/>
                          </a:rPr>
                        </m:ctrlPr>
                      </m:dPr>
                      <m:e>
                        <m:r>
                          <a:rPr lang="fr-CA" i="1">
                            <a:latin typeface="Cambria Math" panose="02040503050406030204" pitchFamily="18" charset="0"/>
                            <a:ea typeface="Calibri" panose="020F0502020204030204" pitchFamily="34" charset="0"/>
                            <a:cs typeface="Times New Roman" panose="02020603050405020304" pitchFamily="18" charset="0"/>
                          </a:rPr>
                          <m:t>0,96∗0,975∗0,98∗0,985</m:t>
                        </m:r>
                      </m:e>
                    </m:d>
                  </m:oMath>
                </a14:m>
                <a:r>
                  <a:rPr lang="fr-CA" dirty="0"/>
                  <a:t>=0,9934</a:t>
                </a:r>
              </a:p>
            </p:txBody>
          </p:sp>
        </mc:Choice>
        <mc:Fallback xmlns="">
          <p:sp>
            <p:nvSpPr>
              <p:cNvPr id="12" name="ZoneTexte 11">
                <a:extLst>
                  <a:ext uri="{FF2B5EF4-FFF2-40B4-BE49-F238E27FC236}">
                    <a16:creationId xmlns:a16="http://schemas.microsoft.com/office/drawing/2014/main" id="{4F0A512C-82DA-4BD8-A004-3E6DF7233471}"/>
                  </a:ext>
                </a:extLst>
              </p:cNvPr>
              <p:cNvSpPr txBox="1">
                <a:spLocks noRot="1" noChangeAspect="1" noMove="1" noResize="1" noEditPoints="1" noAdjustHandles="1" noChangeArrowheads="1" noChangeShapeType="1" noTextEdit="1"/>
              </p:cNvSpPr>
              <p:nvPr/>
            </p:nvSpPr>
            <p:spPr>
              <a:xfrm>
                <a:off x="1580606" y="3944983"/>
                <a:ext cx="8752114" cy="1754326"/>
              </a:xfrm>
              <a:prstGeom prst="rect">
                <a:avLst/>
              </a:prstGeom>
              <a:blipFill>
                <a:blip r:embed="rId3"/>
                <a:stretch>
                  <a:fillRect l="-557" t="-1736" r="-348" b="-4514"/>
                </a:stretch>
              </a:blipFill>
            </p:spPr>
            <p:txBody>
              <a:bodyPr/>
              <a:lstStyle/>
              <a:p>
                <a:r>
                  <a:rPr lang="fr-CA">
                    <a:noFill/>
                  </a:rPr>
                  <a:t> </a:t>
                </a:r>
              </a:p>
            </p:txBody>
          </p:sp>
        </mc:Fallback>
      </mc:AlternateContent>
    </p:spTree>
    <p:extLst>
      <p:ext uri="{BB962C8B-B14F-4D97-AF65-F5344CB8AC3E}">
        <p14:creationId xmlns:p14="http://schemas.microsoft.com/office/powerpoint/2010/main" val="39640244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60F2C45-6755-4B69-ABC2-4A9714E03B44}"/>
              </a:ext>
            </a:extLst>
          </p:cNvPr>
          <p:cNvSpPr>
            <a:spLocks noGrp="1"/>
          </p:cNvSpPr>
          <p:nvPr>
            <p:ph type="title"/>
          </p:nvPr>
        </p:nvSpPr>
        <p:spPr>
          <a:xfrm>
            <a:off x="-37011" y="-436690"/>
            <a:ext cx="12603480" cy="2944759"/>
          </a:xfrm>
        </p:spPr>
        <p:txBody>
          <a:bodyPr>
            <a:normAutofit fontScale="90000"/>
          </a:bodyPr>
          <a:lstStyle/>
          <a:p>
            <a:r>
              <a:rPr lang="fr-CA" dirty="0"/>
              <a:t>Théorème: Si A et B sont indépendants, alors:</a:t>
            </a:r>
            <a:br>
              <a:rPr lang="fr-CA" dirty="0"/>
            </a:br>
            <a:r>
              <a:rPr lang="fr-CA" dirty="0"/>
              <a:t>. A et B’ le sont aussi.</a:t>
            </a:r>
            <a:br>
              <a:rPr lang="fr-CA" dirty="0"/>
            </a:br>
            <a:r>
              <a:rPr lang="fr-CA" dirty="0"/>
              <a:t>. A’ et B le sont aussi.</a:t>
            </a:r>
            <a:br>
              <a:rPr lang="fr-CA" dirty="0"/>
            </a:br>
            <a:r>
              <a:rPr lang="fr-CA" dirty="0"/>
              <a:t>. A’ et B’ le sont aussi.</a:t>
            </a:r>
            <a:br>
              <a:rPr lang="fr-CA" dirty="0"/>
            </a:br>
            <a:br>
              <a:rPr lang="fr-CA" dirty="0"/>
            </a:br>
            <a:endParaRPr lang="fr-CA" dirty="0"/>
          </a:p>
        </p:txBody>
      </p:sp>
      <p:sp>
        <p:nvSpPr>
          <p:cNvPr id="3" name="Espace réservé du pied de page 2">
            <a:extLst>
              <a:ext uri="{FF2B5EF4-FFF2-40B4-BE49-F238E27FC236}">
                <a16:creationId xmlns:a16="http://schemas.microsoft.com/office/drawing/2014/main" id="{2E863F1F-C17A-4143-9738-EE1DE32803D9}"/>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19D9CCAF-CE26-485C-8C99-6D0BB57F0807}"/>
              </a:ext>
            </a:extLst>
          </p:cNvPr>
          <p:cNvSpPr>
            <a:spLocks noGrp="1"/>
          </p:cNvSpPr>
          <p:nvPr>
            <p:ph type="sldNum" sz="quarter" idx="12"/>
          </p:nvPr>
        </p:nvSpPr>
        <p:spPr/>
        <p:txBody>
          <a:bodyPr/>
          <a:lstStyle/>
          <a:p>
            <a:fld id="{26377AD9-CE17-438C-A638-C64D2D42D7CF}" type="slidenum">
              <a:rPr lang="fr-CA" smtClean="0"/>
              <a:t>21</a:t>
            </a:fld>
            <a:endParaRPr lang="fr-CA"/>
          </a:p>
        </p:txBody>
      </p: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3D832E17-6E0C-4B8D-9EAA-4E444F8A5768}"/>
                  </a:ext>
                </a:extLst>
              </p:cNvPr>
              <p:cNvSpPr txBox="1"/>
              <p:nvPr/>
            </p:nvSpPr>
            <p:spPr>
              <a:xfrm>
                <a:off x="838199" y="2508069"/>
                <a:ext cx="9729652" cy="2379626"/>
              </a:xfrm>
              <a:prstGeom prst="rect">
                <a:avLst/>
              </a:prstGeom>
              <a:noFill/>
            </p:spPr>
            <p:txBody>
              <a:bodyPr wrap="square" rtlCol="0">
                <a:spAutoFit/>
              </a:bodyPr>
              <a:lstStyle/>
              <a:p>
                <a:r>
                  <a:rPr lang="fr-CA" b="1" dirty="0"/>
                  <a:t>Démonstration: Démontrer la 3</a:t>
                </a:r>
                <a:r>
                  <a:rPr lang="fr-CA" b="1" baseline="30000" dirty="0"/>
                  <a:t>ième</a:t>
                </a:r>
                <a:r>
                  <a:rPr lang="fr-CA" b="1" dirty="0"/>
                  <a:t> </a:t>
                </a:r>
                <a:r>
                  <a:rPr lang="fr-CA" dirty="0"/>
                  <a:t>.</a:t>
                </a:r>
              </a:p>
              <a:p>
                <a:r>
                  <a:rPr lang="fr-CA" dirty="0"/>
                  <a:t>Supposons que A et B sont indépendants. Alors:</a:t>
                </a:r>
              </a:p>
              <a:p>
                <a:endParaRPr lang="fr-CA" dirty="0"/>
              </a:p>
              <a:p>
                <a:pPr/>
                <a14:m>
                  <m:oMathPara xmlns:m="http://schemas.openxmlformats.org/officeDocument/2006/math">
                    <m:oMathParaPr>
                      <m:jc m:val="centerGroup"/>
                    </m:oMathParaPr>
                    <m:oMath xmlns:m="http://schemas.openxmlformats.org/officeDocument/2006/math">
                      <m:r>
                        <a:rPr lang="fr-CA" b="0" i="1" smtClean="0">
                          <a:latin typeface="Cambria Math" panose="02040503050406030204" pitchFamily="18" charset="0"/>
                        </a:rPr>
                        <m:t>𝑃</m:t>
                      </m:r>
                      <m:d>
                        <m:dPr>
                          <m:ctrlPr>
                            <a:rPr lang="fr-CA" b="0" i="1" smtClean="0">
                              <a:latin typeface="Cambria Math" panose="02040503050406030204" pitchFamily="18" charset="0"/>
                            </a:rPr>
                          </m:ctrlPr>
                        </m:dPr>
                        <m:e>
                          <m:sSup>
                            <m:sSupPr>
                              <m:ctrlPr>
                                <a:rPr lang="fr-CA" b="0" i="1" smtClean="0">
                                  <a:latin typeface="Cambria Math" panose="02040503050406030204" pitchFamily="18" charset="0"/>
                                </a:rPr>
                              </m:ctrlPr>
                            </m:sSupPr>
                            <m:e>
                              <m:r>
                                <a:rPr lang="fr-CA" b="0" i="1" smtClean="0">
                                  <a:latin typeface="Cambria Math" panose="02040503050406030204" pitchFamily="18" charset="0"/>
                                </a:rPr>
                                <m:t>𝐴</m:t>
                              </m:r>
                            </m:e>
                            <m:sup>
                              <m:r>
                                <a:rPr lang="fr-CA" b="0" i="1" smtClean="0">
                                  <a:latin typeface="Cambria Math" panose="02040503050406030204" pitchFamily="18" charset="0"/>
                                </a:rPr>
                                <m:t>′</m:t>
                              </m:r>
                            </m:sup>
                          </m:sSup>
                          <m:r>
                            <a:rPr lang="fr-CA" b="0" i="1" smtClean="0">
                              <a:latin typeface="Cambria Math" panose="02040503050406030204" pitchFamily="18" charset="0"/>
                              <a:ea typeface="Cambria Math" panose="02040503050406030204" pitchFamily="18" charset="0"/>
                            </a:rPr>
                            <m:t>∩</m:t>
                          </m:r>
                          <m:sSup>
                            <m:sSupPr>
                              <m:ctrlPr>
                                <a:rPr lang="fr-CA" b="0" i="1" smtClean="0">
                                  <a:latin typeface="Cambria Math" panose="02040503050406030204" pitchFamily="18" charset="0"/>
                                  <a:ea typeface="Cambria Math" panose="02040503050406030204" pitchFamily="18" charset="0"/>
                                </a:rPr>
                              </m:ctrlPr>
                            </m:sSupPr>
                            <m:e>
                              <m:r>
                                <a:rPr lang="fr-CA" b="0" i="1" smtClean="0">
                                  <a:latin typeface="Cambria Math" panose="02040503050406030204" pitchFamily="18" charset="0"/>
                                  <a:ea typeface="Cambria Math" panose="02040503050406030204" pitchFamily="18" charset="0"/>
                                </a:rPr>
                                <m:t>𝐵</m:t>
                              </m:r>
                            </m:e>
                            <m:sup>
                              <m:r>
                                <a:rPr lang="fr-CA" b="0" i="1" smtClean="0">
                                  <a:latin typeface="Cambria Math" panose="02040503050406030204" pitchFamily="18" charset="0"/>
                                  <a:ea typeface="Cambria Math" panose="02040503050406030204" pitchFamily="18" charset="0"/>
                                </a:rPr>
                                <m:t>′</m:t>
                              </m:r>
                            </m:sup>
                          </m:sSup>
                        </m:e>
                      </m:d>
                      <m:r>
                        <a:rPr lang="fr-CA" b="0" i="1" smtClean="0">
                          <a:latin typeface="Cambria Math" panose="02040503050406030204" pitchFamily="18" charset="0"/>
                          <a:ea typeface="Cambria Math" panose="02040503050406030204" pitchFamily="18" charset="0"/>
                        </a:rPr>
                        <m:t>=</m:t>
                      </m:r>
                      <m:r>
                        <a:rPr lang="fr-CA" b="0" i="1" smtClean="0">
                          <a:latin typeface="Cambria Math" panose="02040503050406030204" pitchFamily="18" charset="0"/>
                          <a:ea typeface="Cambria Math" panose="02040503050406030204" pitchFamily="18" charset="0"/>
                        </a:rPr>
                        <m:t>𝑃</m:t>
                      </m:r>
                      <m:d>
                        <m:dPr>
                          <m:ctrlPr>
                            <a:rPr lang="fr-CA" b="0" i="1" smtClean="0">
                              <a:latin typeface="Cambria Math" panose="02040503050406030204" pitchFamily="18" charset="0"/>
                              <a:ea typeface="Cambria Math" panose="02040503050406030204" pitchFamily="18" charset="0"/>
                            </a:rPr>
                          </m:ctrlPr>
                        </m:dPr>
                        <m:e>
                          <m:sSup>
                            <m:sSupPr>
                              <m:ctrlPr>
                                <a:rPr lang="fr-CA" b="0" i="1" smtClean="0">
                                  <a:latin typeface="Cambria Math" panose="02040503050406030204" pitchFamily="18" charset="0"/>
                                  <a:ea typeface="Cambria Math" panose="02040503050406030204" pitchFamily="18" charset="0"/>
                                </a:rPr>
                              </m:ctrlPr>
                            </m:sSupPr>
                            <m:e>
                              <m:d>
                                <m:dPr>
                                  <m:ctrlPr>
                                    <a:rPr lang="fr-CA" b="0" i="1" smtClean="0">
                                      <a:latin typeface="Cambria Math" panose="02040503050406030204" pitchFamily="18" charset="0"/>
                                      <a:ea typeface="Cambria Math" panose="02040503050406030204" pitchFamily="18" charset="0"/>
                                    </a:rPr>
                                  </m:ctrlPr>
                                </m:dPr>
                                <m:e>
                                  <m:r>
                                    <a:rPr lang="fr-CA" b="0" i="1" smtClean="0">
                                      <a:latin typeface="Cambria Math" panose="02040503050406030204" pitchFamily="18" charset="0"/>
                                      <a:ea typeface="Cambria Math" panose="02040503050406030204" pitchFamily="18" charset="0"/>
                                    </a:rPr>
                                    <m:t>𝐴</m:t>
                                  </m:r>
                                  <m:r>
                                    <a:rPr lang="fr-CA" b="0" i="1" smtClean="0">
                                      <a:latin typeface="Cambria Math" panose="02040503050406030204" pitchFamily="18" charset="0"/>
                                      <a:ea typeface="Cambria Math" panose="02040503050406030204" pitchFamily="18" charset="0"/>
                                    </a:rPr>
                                    <m:t>∪</m:t>
                                  </m:r>
                                  <m:r>
                                    <a:rPr lang="fr-CA" b="0" i="1" smtClean="0">
                                      <a:latin typeface="Cambria Math" panose="02040503050406030204" pitchFamily="18" charset="0"/>
                                      <a:ea typeface="Cambria Math" panose="02040503050406030204" pitchFamily="18" charset="0"/>
                                    </a:rPr>
                                    <m:t>𝐵</m:t>
                                  </m:r>
                                </m:e>
                              </m:d>
                            </m:e>
                            <m:sup>
                              <m:r>
                                <a:rPr lang="fr-CA" b="0" i="1" smtClean="0">
                                  <a:latin typeface="Cambria Math" panose="02040503050406030204" pitchFamily="18" charset="0"/>
                                  <a:ea typeface="Cambria Math" panose="02040503050406030204" pitchFamily="18" charset="0"/>
                                </a:rPr>
                                <m:t>′</m:t>
                              </m:r>
                            </m:sup>
                          </m:sSup>
                        </m:e>
                      </m:d>
                      <m:r>
                        <a:rPr lang="fr-CA" b="0" i="1" smtClean="0">
                          <a:latin typeface="Cambria Math" panose="02040503050406030204" pitchFamily="18" charset="0"/>
                          <a:ea typeface="Cambria Math" panose="02040503050406030204" pitchFamily="18" charset="0"/>
                        </a:rPr>
                        <m:t>=1−</m:t>
                      </m:r>
                      <m:r>
                        <a:rPr lang="fr-CA" b="0" i="1" smtClean="0">
                          <a:latin typeface="Cambria Math" panose="02040503050406030204" pitchFamily="18" charset="0"/>
                          <a:ea typeface="Cambria Math" panose="02040503050406030204" pitchFamily="18" charset="0"/>
                        </a:rPr>
                        <m:t>𝑃</m:t>
                      </m:r>
                      <m:d>
                        <m:dPr>
                          <m:ctrlPr>
                            <a:rPr lang="fr-CA" b="0" i="1" smtClean="0">
                              <a:latin typeface="Cambria Math" panose="02040503050406030204" pitchFamily="18" charset="0"/>
                              <a:ea typeface="Cambria Math" panose="02040503050406030204" pitchFamily="18" charset="0"/>
                            </a:rPr>
                          </m:ctrlPr>
                        </m:dPr>
                        <m:e>
                          <m:r>
                            <a:rPr lang="fr-CA" b="0" i="1" smtClean="0">
                              <a:latin typeface="Cambria Math" panose="02040503050406030204" pitchFamily="18" charset="0"/>
                              <a:ea typeface="Cambria Math" panose="02040503050406030204" pitchFamily="18" charset="0"/>
                            </a:rPr>
                            <m:t>𝐴</m:t>
                          </m:r>
                          <m:r>
                            <a:rPr lang="fr-CA" b="0" i="1" smtClean="0">
                              <a:latin typeface="Cambria Math" panose="02040503050406030204" pitchFamily="18" charset="0"/>
                              <a:ea typeface="Cambria Math" panose="02040503050406030204" pitchFamily="18" charset="0"/>
                            </a:rPr>
                            <m:t>∪</m:t>
                          </m:r>
                          <m:r>
                            <a:rPr lang="fr-CA" b="0" i="1" smtClean="0">
                              <a:latin typeface="Cambria Math" panose="02040503050406030204" pitchFamily="18" charset="0"/>
                              <a:ea typeface="Cambria Math" panose="02040503050406030204" pitchFamily="18" charset="0"/>
                            </a:rPr>
                            <m:t>𝐵</m:t>
                          </m:r>
                        </m:e>
                      </m:d>
                      <m:r>
                        <a:rPr lang="fr-CA" b="0" i="1" smtClean="0">
                          <a:latin typeface="Cambria Math" panose="02040503050406030204" pitchFamily="18" charset="0"/>
                          <a:ea typeface="Cambria Math" panose="02040503050406030204" pitchFamily="18" charset="0"/>
                        </a:rPr>
                        <m:t>=</m:t>
                      </m:r>
                    </m:oMath>
                  </m:oMathPara>
                </a14:m>
                <a:endParaRPr lang="fr-CA" b="0" dirty="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fr-CA" b="0" i="1" smtClean="0">
                          <a:latin typeface="Cambria Math" panose="02040503050406030204" pitchFamily="18" charset="0"/>
                        </a:rPr>
                        <m:t>1−</m:t>
                      </m:r>
                      <m:r>
                        <a:rPr lang="fr-CA" b="0" i="1" smtClean="0">
                          <a:latin typeface="Cambria Math" panose="02040503050406030204" pitchFamily="18" charset="0"/>
                        </a:rPr>
                        <m:t>𝑃</m:t>
                      </m:r>
                      <m:d>
                        <m:dPr>
                          <m:ctrlPr>
                            <a:rPr lang="fr-CA" b="0" i="1" smtClean="0">
                              <a:latin typeface="Cambria Math" panose="02040503050406030204" pitchFamily="18" charset="0"/>
                            </a:rPr>
                          </m:ctrlPr>
                        </m:dPr>
                        <m:e>
                          <m:r>
                            <a:rPr lang="fr-CA" b="0" i="1" smtClean="0">
                              <a:latin typeface="Cambria Math" panose="02040503050406030204" pitchFamily="18" charset="0"/>
                            </a:rPr>
                            <m:t>𝐴</m:t>
                          </m:r>
                        </m:e>
                      </m:d>
                      <m:r>
                        <a:rPr lang="fr-CA" b="0" i="1" smtClean="0">
                          <a:latin typeface="Cambria Math" panose="02040503050406030204" pitchFamily="18" charset="0"/>
                        </a:rPr>
                        <m:t>−</m:t>
                      </m:r>
                      <m:r>
                        <a:rPr lang="fr-CA" b="0" i="1" smtClean="0">
                          <a:latin typeface="Cambria Math" panose="02040503050406030204" pitchFamily="18" charset="0"/>
                        </a:rPr>
                        <m:t>𝑃</m:t>
                      </m:r>
                      <m:d>
                        <m:dPr>
                          <m:ctrlPr>
                            <a:rPr lang="fr-CA" b="0" i="1" smtClean="0">
                              <a:latin typeface="Cambria Math" panose="02040503050406030204" pitchFamily="18" charset="0"/>
                            </a:rPr>
                          </m:ctrlPr>
                        </m:dPr>
                        <m:e>
                          <m:r>
                            <a:rPr lang="fr-CA" b="0" i="1" smtClean="0">
                              <a:latin typeface="Cambria Math" panose="02040503050406030204" pitchFamily="18" charset="0"/>
                            </a:rPr>
                            <m:t>𝐵</m:t>
                          </m:r>
                        </m:e>
                      </m:d>
                      <m:r>
                        <a:rPr lang="fr-CA" b="0" i="1" smtClean="0">
                          <a:latin typeface="Cambria Math" panose="02040503050406030204" pitchFamily="18" charset="0"/>
                        </a:rPr>
                        <m:t>+</m:t>
                      </m:r>
                      <m:r>
                        <a:rPr lang="fr-CA" b="0" i="1" smtClean="0">
                          <a:latin typeface="Cambria Math" panose="02040503050406030204" pitchFamily="18" charset="0"/>
                        </a:rPr>
                        <m:t>𝑃</m:t>
                      </m:r>
                      <m:d>
                        <m:dPr>
                          <m:ctrlPr>
                            <a:rPr lang="fr-CA" b="0" i="1" smtClean="0">
                              <a:latin typeface="Cambria Math" panose="02040503050406030204" pitchFamily="18" charset="0"/>
                            </a:rPr>
                          </m:ctrlPr>
                        </m:dPr>
                        <m:e>
                          <m:r>
                            <a:rPr lang="fr-CA" b="0" i="1" smtClean="0">
                              <a:latin typeface="Cambria Math" panose="02040503050406030204" pitchFamily="18" charset="0"/>
                            </a:rPr>
                            <m:t>𝐴</m:t>
                          </m:r>
                          <m:r>
                            <a:rPr lang="fr-CA" b="0" i="1" smtClean="0">
                              <a:latin typeface="Cambria Math" panose="02040503050406030204" pitchFamily="18" charset="0"/>
                              <a:ea typeface="Cambria Math" panose="02040503050406030204" pitchFamily="18" charset="0"/>
                            </a:rPr>
                            <m:t>∩</m:t>
                          </m:r>
                          <m:r>
                            <a:rPr lang="fr-CA" b="0" i="1" smtClean="0">
                              <a:latin typeface="Cambria Math" panose="02040503050406030204" pitchFamily="18" charset="0"/>
                              <a:ea typeface="Cambria Math" panose="02040503050406030204" pitchFamily="18" charset="0"/>
                            </a:rPr>
                            <m:t>𝐵</m:t>
                          </m:r>
                        </m:e>
                      </m:d>
                      <m:r>
                        <a:rPr lang="fr-CA" b="0" i="1" smtClean="0">
                          <a:latin typeface="Cambria Math" panose="02040503050406030204" pitchFamily="18" charset="0"/>
                          <a:ea typeface="Cambria Math" panose="02040503050406030204" pitchFamily="18" charset="0"/>
                        </a:rPr>
                        <m:t>=</m:t>
                      </m:r>
                      <m:r>
                        <a:rPr lang="fr-CA" b="0" i="1" smtClean="0">
                          <a:latin typeface="Cambria Math" panose="02040503050406030204" pitchFamily="18" charset="0"/>
                          <a:ea typeface="Cambria Math" panose="02040503050406030204" pitchFamily="18" charset="0"/>
                        </a:rPr>
                        <m:t>𝑃</m:t>
                      </m:r>
                      <m:d>
                        <m:dPr>
                          <m:ctrlPr>
                            <a:rPr lang="fr-CA" b="0" i="1" smtClean="0">
                              <a:latin typeface="Cambria Math" panose="02040503050406030204" pitchFamily="18" charset="0"/>
                              <a:ea typeface="Cambria Math" panose="02040503050406030204" pitchFamily="18" charset="0"/>
                            </a:rPr>
                          </m:ctrlPr>
                        </m:dPr>
                        <m:e>
                          <m:sSup>
                            <m:sSupPr>
                              <m:ctrlPr>
                                <a:rPr lang="fr-CA" b="0" i="1" smtClean="0">
                                  <a:latin typeface="Cambria Math" panose="02040503050406030204" pitchFamily="18" charset="0"/>
                                  <a:ea typeface="Cambria Math" panose="02040503050406030204" pitchFamily="18" charset="0"/>
                                </a:rPr>
                              </m:ctrlPr>
                            </m:sSupPr>
                            <m:e>
                              <m:r>
                                <a:rPr lang="fr-CA" b="0" i="1" smtClean="0">
                                  <a:latin typeface="Cambria Math" panose="02040503050406030204" pitchFamily="18" charset="0"/>
                                  <a:ea typeface="Cambria Math" panose="02040503050406030204" pitchFamily="18" charset="0"/>
                                </a:rPr>
                                <m:t>𝐴</m:t>
                              </m:r>
                            </m:e>
                            <m:sup>
                              <m:r>
                                <a:rPr lang="fr-CA" b="0" i="1" smtClean="0">
                                  <a:latin typeface="Cambria Math" panose="02040503050406030204" pitchFamily="18" charset="0"/>
                                  <a:ea typeface="Cambria Math" panose="02040503050406030204" pitchFamily="18" charset="0"/>
                                </a:rPr>
                                <m:t>′</m:t>
                              </m:r>
                            </m:sup>
                          </m:sSup>
                        </m:e>
                      </m:d>
                      <m:r>
                        <a:rPr lang="fr-CA" b="0" i="1" smtClean="0">
                          <a:latin typeface="Cambria Math" panose="02040503050406030204" pitchFamily="18" charset="0"/>
                          <a:ea typeface="Cambria Math" panose="02040503050406030204" pitchFamily="18" charset="0"/>
                        </a:rPr>
                        <m:t>−</m:t>
                      </m:r>
                      <m:r>
                        <a:rPr lang="fr-CA" b="0" i="1" smtClean="0">
                          <a:latin typeface="Cambria Math" panose="02040503050406030204" pitchFamily="18" charset="0"/>
                          <a:ea typeface="Cambria Math" panose="02040503050406030204" pitchFamily="18" charset="0"/>
                        </a:rPr>
                        <m:t>𝑃</m:t>
                      </m:r>
                      <m:d>
                        <m:dPr>
                          <m:ctrlPr>
                            <a:rPr lang="fr-CA" b="0" i="1" smtClean="0">
                              <a:latin typeface="Cambria Math" panose="02040503050406030204" pitchFamily="18" charset="0"/>
                              <a:ea typeface="Cambria Math" panose="02040503050406030204" pitchFamily="18" charset="0"/>
                            </a:rPr>
                          </m:ctrlPr>
                        </m:dPr>
                        <m:e>
                          <m:r>
                            <a:rPr lang="fr-CA" b="0" i="1" smtClean="0">
                              <a:latin typeface="Cambria Math" panose="02040503050406030204" pitchFamily="18" charset="0"/>
                              <a:ea typeface="Cambria Math" panose="02040503050406030204" pitchFamily="18" charset="0"/>
                            </a:rPr>
                            <m:t>𝐵</m:t>
                          </m:r>
                        </m:e>
                      </m:d>
                      <m:r>
                        <a:rPr lang="fr-CA" b="0" i="1" smtClean="0">
                          <a:latin typeface="Cambria Math" panose="02040503050406030204" pitchFamily="18" charset="0"/>
                          <a:ea typeface="Cambria Math" panose="02040503050406030204" pitchFamily="18" charset="0"/>
                        </a:rPr>
                        <m:t>+</m:t>
                      </m:r>
                      <m:r>
                        <a:rPr lang="fr-CA" b="0" i="1" smtClean="0">
                          <a:latin typeface="Cambria Math" panose="02040503050406030204" pitchFamily="18" charset="0"/>
                          <a:ea typeface="Cambria Math" panose="02040503050406030204" pitchFamily="18" charset="0"/>
                        </a:rPr>
                        <m:t>𝑃</m:t>
                      </m:r>
                      <m:d>
                        <m:dPr>
                          <m:ctrlPr>
                            <a:rPr lang="fr-CA" b="0" i="1" smtClean="0">
                              <a:latin typeface="Cambria Math" panose="02040503050406030204" pitchFamily="18" charset="0"/>
                              <a:ea typeface="Cambria Math" panose="02040503050406030204" pitchFamily="18" charset="0"/>
                            </a:rPr>
                          </m:ctrlPr>
                        </m:dPr>
                        <m:e>
                          <m:r>
                            <a:rPr lang="fr-CA" b="0" i="1" smtClean="0">
                              <a:latin typeface="Cambria Math" panose="02040503050406030204" pitchFamily="18" charset="0"/>
                              <a:ea typeface="Cambria Math" panose="02040503050406030204" pitchFamily="18" charset="0"/>
                            </a:rPr>
                            <m:t>𝐴</m:t>
                          </m:r>
                        </m:e>
                      </m:d>
                      <m:r>
                        <a:rPr lang="fr-CA" b="0" i="1" smtClean="0">
                          <a:latin typeface="Cambria Math" panose="02040503050406030204" pitchFamily="18" charset="0"/>
                          <a:ea typeface="Cambria Math" panose="02040503050406030204" pitchFamily="18" charset="0"/>
                        </a:rPr>
                        <m:t>∗</m:t>
                      </m:r>
                      <m:r>
                        <a:rPr lang="fr-CA" b="0" i="1" smtClean="0">
                          <a:latin typeface="Cambria Math" panose="02040503050406030204" pitchFamily="18" charset="0"/>
                          <a:ea typeface="Cambria Math" panose="02040503050406030204" pitchFamily="18" charset="0"/>
                        </a:rPr>
                        <m:t>𝑃</m:t>
                      </m:r>
                      <m:d>
                        <m:dPr>
                          <m:ctrlPr>
                            <a:rPr lang="fr-CA" b="0" i="1" smtClean="0">
                              <a:latin typeface="Cambria Math" panose="02040503050406030204" pitchFamily="18" charset="0"/>
                              <a:ea typeface="Cambria Math" panose="02040503050406030204" pitchFamily="18" charset="0"/>
                            </a:rPr>
                          </m:ctrlPr>
                        </m:dPr>
                        <m:e>
                          <m:r>
                            <a:rPr lang="fr-CA" b="0" i="1" smtClean="0">
                              <a:latin typeface="Cambria Math" panose="02040503050406030204" pitchFamily="18" charset="0"/>
                              <a:ea typeface="Cambria Math" panose="02040503050406030204" pitchFamily="18" charset="0"/>
                            </a:rPr>
                            <m:t>𝐵</m:t>
                          </m:r>
                        </m:e>
                      </m:d>
                      <m:r>
                        <a:rPr lang="fr-CA" b="0" i="1" smtClean="0">
                          <a:latin typeface="Cambria Math" panose="02040503050406030204" pitchFamily="18" charset="0"/>
                          <a:ea typeface="Cambria Math" panose="02040503050406030204" pitchFamily="18" charset="0"/>
                        </a:rPr>
                        <m:t>=</m:t>
                      </m:r>
                    </m:oMath>
                  </m:oMathPara>
                </a14:m>
                <a:endParaRPr lang="fr-CA" b="0" dirty="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fr-CA" b="0" i="1" smtClean="0">
                          <a:latin typeface="Cambria Math" panose="02040503050406030204" pitchFamily="18" charset="0"/>
                        </a:rPr>
                        <m:t>𝑃</m:t>
                      </m:r>
                      <m:d>
                        <m:dPr>
                          <m:ctrlPr>
                            <a:rPr lang="fr-CA" b="0" i="1" smtClean="0">
                              <a:latin typeface="Cambria Math" panose="02040503050406030204" pitchFamily="18" charset="0"/>
                            </a:rPr>
                          </m:ctrlPr>
                        </m:dPr>
                        <m:e>
                          <m:sSup>
                            <m:sSupPr>
                              <m:ctrlPr>
                                <a:rPr lang="fr-CA" b="0" i="1" smtClean="0">
                                  <a:latin typeface="Cambria Math" panose="02040503050406030204" pitchFamily="18" charset="0"/>
                                </a:rPr>
                              </m:ctrlPr>
                            </m:sSupPr>
                            <m:e>
                              <m:r>
                                <a:rPr lang="fr-CA" b="0" i="1" smtClean="0">
                                  <a:latin typeface="Cambria Math" panose="02040503050406030204" pitchFamily="18" charset="0"/>
                                </a:rPr>
                                <m:t>𝐴</m:t>
                              </m:r>
                            </m:e>
                            <m:sup>
                              <m:r>
                                <a:rPr lang="fr-CA" b="0" i="1" smtClean="0">
                                  <a:latin typeface="Cambria Math" panose="02040503050406030204" pitchFamily="18" charset="0"/>
                                </a:rPr>
                                <m:t>′</m:t>
                              </m:r>
                            </m:sup>
                          </m:sSup>
                        </m:e>
                      </m:d>
                      <m:r>
                        <a:rPr lang="fr-CA" b="0" i="1" smtClean="0">
                          <a:latin typeface="Cambria Math" panose="02040503050406030204" pitchFamily="18" charset="0"/>
                        </a:rPr>
                        <m:t>−</m:t>
                      </m:r>
                      <m:r>
                        <a:rPr lang="fr-CA" b="0" i="1" smtClean="0">
                          <a:latin typeface="Cambria Math" panose="02040503050406030204" pitchFamily="18" charset="0"/>
                        </a:rPr>
                        <m:t>𝑃</m:t>
                      </m:r>
                      <m:d>
                        <m:dPr>
                          <m:ctrlPr>
                            <a:rPr lang="fr-CA" b="0" i="1" smtClean="0">
                              <a:latin typeface="Cambria Math" panose="02040503050406030204" pitchFamily="18" charset="0"/>
                            </a:rPr>
                          </m:ctrlPr>
                        </m:dPr>
                        <m:e>
                          <m:r>
                            <a:rPr lang="fr-CA" b="0" i="1" smtClean="0">
                              <a:latin typeface="Cambria Math" panose="02040503050406030204" pitchFamily="18" charset="0"/>
                            </a:rPr>
                            <m:t>𝐵</m:t>
                          </m:r>
                        </m:e>
                      </m:d>
                      <m:r>
                        <a:rPr lang="fr-CA" b="0" i="1" smtClean="0">
                          <a:latin typeface="Cambria Math" panose="02040503050406030204" pitchFamily="18" charset="0"/>
                        </a:rPr>
                        <m:t>∗</m:t>
                      </m:r>
                      <m:d>
                        <m:dPr>
                          <m:ctrlPr>
                            <a:rPr lang="fr-CA" b="0" i="1" smtClean="0">
                              <a:latin typeface="Cambria Math" panose="02040503050406030204" pitchFamily="18" charset="0"/>
                            </a:rPr>
                          </m:ctrlPr>
                        </m:dPr>
                        <m:e>
                          <m:r>
                            <a:rPr lang="fr-CA" b="0" i="1" smtClean="0">
                              <a:latin typeface="Cambria Math" panose="02040503050406030204" pitchFamily="18" charset="0"/>
                            </a:rPr>
                            <m:t>1−</m:t>
                          </m:r>
                          <m:r>
                            <a:rPr lang="fr-CA" b="0" i="1" smtClean="0">
                              <a:latin typeface="Cambria Math" panose="02040503050406030204" pitchFamily="18" charset="0"/>
                            </a:rPr>
                            <m:t>𝑃</m:t>
                          </m:r>
                          <m:d>
                            <m:dPr>
                              <m:ctrlPr>
                                <a:rPr lang="fr-CA" b="0" i="1" smtClean="0">
                                  <a:latin typeface="Cambria Math" panose="02040503050406030204" pitchFamily="18" charset="0"/>
                                </a:rPr>
                              </m:ctrlPr>
                            </m:dPr>
                            <m:e>
                              <m:r>
                                <a:rPr lang="fr-CA" b="0" i="1" smtClean="0">
                                  <a:latin typeface="Cambria Math" panose="02040503050406030204" pitchFamily="18" charset="0"/>
                                </a:rPr>
                                <m:t>𝐴</m:t>
                              </m:r>
                            </m:e>
                          </m:d>
                        </m:e>
                      </m:d>
                      <m:r>
                        <a:rPr lang="fr-CA" b="0" i="1" smtClean="0">
                          <a:latin typeface="Cambria Math" panose="02040503050406030204" pitchFamily="18" charset="0"/>
                        </a:rPr>
                        <m:t>=</m:t>
                      </m:r>
                      <m:r>
                        <a:rPr lang="fr-CA" b="0" i="1" smtClean="0">
                          <a:latin typeface="Cambria Math" panose="02040503050406030204" pitchFamily="18" charset="0"/>
                        </a:rPr>
                        <m:t>𝑃</m:t>
                      </m:r>
                      <m:d>
                        <m:dPr>
                          <m:ctrlPr>
                            <a:rPr lang="fr-CA" b="0" i="1" smtClean="0">
                              <a:latin typeface="Cambria Math" panose="02040503050406030204" pitchFamily="18" charset="0"/>
                            </a:rPr>
                          </m:ctrlPr>
                        </m:dPr>
                        <m:e>
                          <m:sSup>
                            <m:sSupPr>
                              <m:ctrlPr>
                                <a:rPr lang="fr-CA" b="0" i="1" smtClean="0">
                                  <a:latin typeface="Cambria Math" panose="02040503050406030204" pitchFamily="18" charset="0"/>
                                </a:rPr>
                              </m:ctrlPr>
                            </m:sSupPr>
                            <m:e>
                              <m:r>
                                <a:rPr lang="fr-CA" b="0" i="1" smtClean="0">
                                  <a:latin typeface="Cambria Math" panose="02040503050406030204" pitchFamily="18" charset="0"/>
                                </a:rPr>
                                <m:t>𝐴</m:t>
                              </m:r>
                            </m:e>
                            <m:sup>
                              <m:r>
                                <a:rPr lang="fr-CA" b="0" i="1" smtClean="0">
                                  <a:latin typeface="Cambria Math" panose="02040503050406030204" pitchFamily="18" charset="0"/>
                                </a:rPr>
                                <m:t>′</m:t>
                              </m:r>
                            </m:sup>
                          </m:sSup>
                        </m:e>
                      </m:d>
                      <m:r>
                        <a:rPr lang="fr-CA" b="0" i="1" smtClean="0">
                          <a:latin typeface="Cambria Math" panose="02040503050406030204" pitchFamily="18" charset="0"/>
                        </a:rPr>
                        <m:t>−</m:t>
                      </m:r>
                      <m:r>
                        <a:rPr lang="fr-CA" b="0" i="1" smtClean="0">
                          <a:latin typeface="Cambria Math" panose="02040503050406030204" pitchFamily="18" charset="0"/>
                        </a:rPr>
                        <m:t>𝑃</m:t>
                      </m:r>
                      <m:d>
                        <m:dPr>
                          <m:ctrlPr>
                            <a:rPr lang="fr-CA" b="0" i="1" smtClean="0">
                              <a:latin typeface="Cambria Math" panose="02040503050406030204" pitchFamily="18" charset="0"/>
                            </a:rPr>
                          </m:ctrlPr>
                        </m:dPr>
                        <m:e>
                          <m:r>
                            <a:rPr lang="fr-CA" b="0" i="1" smtClean="0">
                              <a:latin typeface="Cambria Math" panose="02040503050406030204" pitchFamily="18" charset="0"/>
                            </a:rPr>
                            <m:t>𝐵</m:t>
                          </m:r>
                        </m:e>
                      </m:d>
                      <m:r>
                        <a:rPr lang="fr-CA" b="0" i="1" smtClean="0">
                          <a:latin typeface="Cambria Math" panose="02040503050406030204" pitchFamily="18" charset="0"/>
                        </a:rPr>
                        <m:t>∗</m:t>
                      </m:r>
                      <m:r>
                        <a:rPr lang="fr-CA" b="0" i="1" smtClean="0">
                          <a:latin typeface="Cambria Math" panose="02040503050406030204" pitchFamily="18" charset="0"/>
                        </a:rPr>
                        <m:t>𝑃</m:t>
                      </m:r>
                      <m:d>
                        <m:dPr>
                          <m:ctrlPr>
                            <a:rPr lang="fr-CA" b="0" i="1" smtClean="0">
                              <a:latin typeface="Cambria Math" panose="02040503050406030204" pitchFamily="18" charset="0"/>
                            </a:rPr>
                          </m:ctrlPr>
                        </m:dPr>
                        <m:e>
                          <m:sSup>
                            <m:sSupPr>
                              <m:ctrlPr>
                                <a:rPr lang="fr-CA" b="0" i="1" smtClean="0">
                                  <a:latin typeface="Cambria Math" panose="02040503050406030204" pitchFamily="18" charset="0"/>
                                </a:rPr>
                              </m:ctrlPr>
                            </m:sSupPr>
                            <m:e>
                              <m:r>
                                <a:rPr lang="fr-CA" b="0" i="1" smtClean="0">
                                  <a:latin typeface="Cambria Math" panose="02040503050406030204" pitchFamily="18" charset="0"/>
                                </a:rPr>
                                <m:t>𝐴</m:t>
                              </m:r>
                            </m:e>
                            <m:sup>
                              <m:r>
                                <a:rPr lang="fr-CA" b="0" i="1" smtClean="0">
                                  <a:latin typeface="Cambria Math" panose="02040503050406030204" pitchFamily="18" charset="0"/>
                                </a:rPr>
                                <m:t>′</m:t>
                              </m:r>
                            </m:sup>
                          </m:sSup>
                        </m:e>
                      </m:d>
                      <m:r>
                        <a:rPr lang="fr-CA" b="0" i="1" smtClean="0">
                          <a:latin typeface="Cambria Math" panose="02040503050406030204" pitchFamily="18" charset="0"/>
                        </a:rPr>
                        <m:t>=</m:t>
                      </m:r>
                      <m:r>
                        <a:rPr lang="fr-CA" b="0" i="1" smtClean="0">
                          <a:latin typeface="Cambria Math" panose="02040503050406030204" pitchFamily="18" charset="0"/>
                        </a:rPr>
                        <m:t>𝑃</m:t>
                      </m:r>
                      <m:d>
                        <m:dPr>
                          <m:ctrlPr>
                            <a:rPr lang="fr-CA" b="0" i="1" smtClean="0">
                              <a:latin typeface="Cambria Math" panose="02040503050406030204" pitchFamily="18" charset="0"/>
                            </a:rPr>
                          </m:ctrlPr>
                        </m:dPr>
                        <m:e>
                          <m:sSup>
                            <m:sSupPr>
                              <m:ctrlPr>
                                <a:rPr lang="fr-CA" b="0" i="1" smtClean="0">
                                  <a:latin typeface="Cambria Math" panose="02040503050406030204" pitchFamily="18" charset="0"/>
                                </a:rPr>
                              </m:ctrlPr>
                            </m:sSupPr>
                            <m:e>
                              <m:r>
                                <a:rPr lang="fr-CA" b="0" i="1" smtClean="0">
                                  <a:latin typeface="Cambria Math" panose="02040503050406030204" pitchFamily="18" charset="0"/>
                                </a:rPr>
                                <m:t>𝐴</m:t>
                              </m:r>
                            </m:e>
                            <m:sup>
                              <m:r>
                                <a:rPr lang="fr-CA" b="0" i="1" smtClean="0">
                                  <a:latin typeface="Cambria Math" panose="02040503050406030204" pitchFamily="18" charset="0"/>
                                </a:rPr>
                                <m:t>′</m:t>
                              </m:r>
                            </m:sup>
                          </m:sSup>
                        </m:e>
                      </m:d>
                      <m:r>
                        <a:rPr lang="fr-CA" b="0" i="1" smtClean="0">
                          <a:latin typeface="Cambria Math" panose="02040503050406030204" pitchFamily="18" charset="0"/>
                        </a:rPr>
                        <m:t>∗</m:t>
                      </m:r>
                      <m:d>
                        <m:dPr>
                          <m:ctrlPr>
                            <a:rPr lang="fr-CA" b="0" i="1" smtClean="0">
                              <a:latin typeface="Cambria Math" panose="02040503050406030204" pitchFamily="18" charset="0"/>
                            </a:rPr>
                          </m:ctrlPr>
                        </m:dPr>
                        <m:e>
                          <m:r>
                            <a:rPr lang="fr-CA" b="0" i="1" smtClean="0">
                              <a:latin typeface="Cambria Math" panose="02040503050406030204" pitchFamily="18" charset="0"/>
                            </a:rPr>
                            <m:t>1−</m:t>
                          </m:r>
                          <m:r>
                            <a:rPr lang="fr-CA" b="0" i="1" smtClean="0">
                              <a:latin typeface="Cambria Math" panose="02040503050406030204" pitchFamily="18" charset="0"/>
                            </a:rPr>
                            <m:t>𝑃</m:t>
                          </m:r>
                          <m:d>
                            <m:dPr>
                              <m:ctrlPr>
                                <a:rPr lang="fr-CA" b="0" i="1" smtClean="0">
                                  <a:latin typeface="Cambria Math" panose="02040503050406030204" pitchFamily="18" charset="0"/>
                                </a:rPr>
                              </m:ctrlPr>
                            </m:dPr>
                            <m:e>
                              <m:r>
                                <a:rPr lang="fr-CA" b="0" i="1" smtClean="0">
                                  <a:latin typeface="Cambria Math" panose="02040503050406030204" pitchFamily="18" charset="0"/>
                                </a:rPr>
                                <m:t>𝐵</m:t>
                              </m:r>
                            </m:e>
                          </m:d>
                        </m:e>
                      </m:d>
                      <m:r>
                        <a:rPr lang="fr-CA" b="0" i="1" smtClean="0">
                          <a:latin typeface="Cambria Math" panose="02040503050406030204" pitchFamily="18" charset="0"/>
                        </a:rPr>
                        <m:t>=</m:t>
                      </m:r>
                      <m:r>
                        <a:rPr lang="fr-CA" b="0" i="1" smtClean="0">
                          <a:latin typeface="Cambria Math" panose="02040503050406030204" pitchFamily="18" charset="0"/>
                        </a:rPr>
                        <m:t>𝑃</m:t>
                      </m:r>
                      <m:d>
                        <m:dPr>
                          <m:ctrlPr>
                            <a:rPr lang="fr-CA" b="0" i="1" smtClean="0">
                              <a:latin typeface="Cambria Math" panose="02040503050406030204" pitchFamily="18" charset="0"/>
                            </a:rPr>
                          </m:ctrlPr>
                        </m:dPr>
                        <m:e>
                          <m:sSup>
                            <m:sSupPr>
                              <m:ctrlPr>
                                <a:rPr lang="fr-CA" b="0" i="1" smtClean="0">
                                  <a:latin typeface="Cambria Math" panose="02040503050406030204" pitchFamily="18" charset="0"/>
                                </a:rPr>
                              </m:ctrlPr>
                            </m:sSupPr>
                            <m:e>
                              <m:r>
                                <a:rPr lang="fr-CA" b="0" i="1" smtClean="0">
                                  <a:latin typeface="Cambria Math" panose="02040503050406030204" pitchFamily="18" charset="0"/>
                                </a:rPr>
                                <m:t>𝐴</m:t>
                              </m:r>
                            </m:e>
                            <m:sup>
                              <m:r>
                                <a:rPr lang="fr-CA" b="0" i="1" smtClean="0">
                                  <a:latin typeface="Cambria Math" panose="02040503050406030204" pitchFamily="18" charset="0"/>
                                </a:rPr>
                                <m:t>′</m:t>
                              </m:r>
                            </m:sup>
                          </m:sSup>
                        </m:e>
                      </m:d>
                      <m:r>
                        <a:rPr lang="fr-CA" b="0" i="1" smtClean="0">
                          <a:latin typeface="Cambria Math" panose="02040503050406030204" pitchFamily="18" charset="0"/>
                        </a:rPr>
                        <m:t>∗</m:t>
                      </m:r>
                      <m:r>
                        <a:rPr lang="fr-CA" b="0" i="1" smtClean="0">
                          <a:latin typeface="Cambria Math" panose="02040503050406030204" pitchFamily="18" charset="0"/>
                        </a:rPr>
                        <m:t>𝑃</m:t>
                      </m:r>
                      <m:r>
                        <a:rPr lang="fr-CA" b="0" i="1" smtClean="0">
                          <a:latin typeface="Cambria Math" panose="02040503050406030204" pitchFamily="18" charset="0"/>
                        </a:rPr>
                        <m:t>(</m:t>
                      </m:r>
                      <m:sSup>
                        <m:sSupPr>
                          <m:ctrlPr>
                            <a:rPr lang="fr-CA" b="0" i="1" smtClean="0">
                              <a:latin typeface="Cambria Math" panose="02040503050406030204" pitchFamily="18" charset="0"/>
                            </a:rPr>
                          </m:ctrlPr>
                        </m:sSupPr>
                        <m:e>
                          <m:r>
                            <a:rPr lang="fr-CA" b="0" i="1" smtClean="0">
                              <a:latin typeface="Cambria Math" panose="02040503050406030204" pitchFamily="18" charset="0"/>
                            </a:rPr>
                            <m:t>𝐵</m:t>
                          </m:r>
                        </m:e>
                        <m:sup>
                          <m:r>
                            <a:rPr lang="fr-CA" b="0" i="1" smtClean="0">
                              <a:latin typeface="Cambria Math" panose="02040503050406030204" pitchFamily="18" charset="0"/>
                            </a:rPr>
                            <m:t>′</m:t>
                          </m:r>
                        </m:sup>
                      </m:sSup>
                      <m:r>
                        <a:rPr lang="fr-CA" b="0" i="1" smtClean="0">
                          <a:latin typeface="Cambria Math" panose="02040503050406030204" pitchFamily="18" charset="0"/>
                        </a:rPr>
                        <m:t>)</m:t>
                      </m:r>
                    </m:oMath>
                  </m:oMathPara>
                </a14:m>
                <a:endParaRPr lang="fr-CA" dirty="0"/>
              </a:p>
              <a:p>
                <a:endParaRPr lang="fr-CA" dirty="0"/>
              </a:p>
              <a:p>
                <a:r>
                  <a:rPr lang="fr-CA" dirty="0"/>
                  <a:t>Ce qui prouve que A’ et B’ sont aussi indépendants.</a:t>
                </a:r>
              </a:p>
            </p:txBody>
          </p:sp>
        </mc:Choice>
        <mc:Fallback xmlns="">
          <p:sp>
            <p:nvSpPr>
              <p:cNvPr id="5" name="ZoneTexte 4">
                <a:extLst>
                  <a:ext uri="{FF2B5EF4-FFF2-40B4-BE49-F238E27FC236}">
                    <a16:creationId xmlns:a16="http://schemas.microsoft.com/office/drawing/2014/main" id="{3D832E17-6E0C-4B8D-9EAA-4E444F8A5768}"/>
                  </a:ext>
                </a:extLst>
              </p:cNvPr>
              <p:cNvSpPr txBox="1">
                <a:spLocks noRot="1" noChangeAspect="1" noMove="1" noResize="1" noEditPoints="1" noAdjustHandles="1" noChangeArrowheads="1" noChangeShapeType="1" noTextEdit="1"/>
              </p:cNvSpPr>
              <p:nvPr/>
            </p:nvSpPr>
            <p:spPr>
              <a:xfrm>
                <a:off x="838199" y="2508069"/>
                <a:ext cx="9729652" cy="2379626"/>
              </a:xfrm>
              <a:prstGeom prst="rect">
                <a:avLst/>
              </a:prstGeom>
              <a:blipFill>
                <a:blip r:embed="rId2"/>
                <a:stretch>
                  <a:fillRect l="-501" t="-1279" b="-3069"/>
                </a:stretch>
              </a:blipFill>
            </p:spPr>
            <p:txBody>
              <a:bodyPr/>
              <a:lstStyle/>
              <a:p>
                <a:r>
                  <a:rPr lang="fr-CA">
                    <a:noFill/>
                  </a:rPr>
                  <a:t> </a:t>
                </a:r>
              </a:p>
            </p:txBody>
          </p:sp>
        </mc:Fallback>
      </mc:AlternateContent>
    </p:spTree>
    <p:extLst>
      <p:ext uri="{BB962C8B-B14F-4D97-AF65-F5344CB8AC3E}">
        <p14:creationId xmlns:p14="http://schemas.microsoft.com/office/powerpoint/2010/main" val="9366758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3A9BDB8-71E4-42F2-BE61-32EA959F0208}"/>
              </a:ext>
            </a:extLst>
          </p:cNvPr>
          <p:cNvSpPr>
            <a:spLocks noGrp="1"/>
          </p:cNvSpPr>
          <p:nvPr>
            <p:ph type="title"/>
          </p:nvPr>
        </p:nvSpPr>
        <p:spPr>
          <a:xfrm>
            <a:off x="838200" y="365125"/>
            <a:ext cx="10515600" cy="1646555"/>
          </a:xfrm>
        </p:spPr>
        <p:txBody>
          <a:bodyPr>
            <a:normAutofit fontScale="90000"/>
          </a:bodyPr>
          <a:lstStyle/>
          <a:p>
            <a:r>
              <a:rPr lang="fr-CA" b="1" dirty="0"/>
              <a:t>Formule de Bayes</a:t>
            </a:r>
            <a:r>
              <a:rPr lang="fr-CA" dirty="0"/>
              <a:t>: Soit une expérience aléatoire avec S décomposé en deux groupes formant sa partition.  </a:t>
            </a:r>
          </a:p>
        </p:txBody>
      </p:sp>
      <p:sp>
        <p:nvSpPr>
          <p:cNvPr id="3" name="Espace réservé du pied de page 2">
            <a:extLst>
              <a:ext uri="{FF2B5EF4-FFF2-40B4-BE49-F238E27FC236}">
                <a16:creationId xmlns:a16="http://schemas.microsoft.com/office/drawing/2014/main" id="{A43DB2E4-5C8C-4CE2-ADF5-1D7ED44F9937}"/>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44ACCE71-50FD-46C7-A274-278119A482A2}"/>
              </a:ext>
            </a:extLst>
          </p:cNvPr>
          <p:cNvSpPr>
            <a:spLocks noGrp="1"/>
          </p:cNvSpPr>
          <p:nvPr>
            <p:ph type="sldNum" sz="quarter" idx="12"/>
          </p:nvPr>
        </p:nvSpPr>
        <p:spPr/>
        <p:txBody>
          <a:bodyPr/>
          <a:lstStyle/>
          <a:p>
            <a:fld id="{26377AD9-CE17-438C-A638-C64D2D42D7CF}" type="slidenum">
              <a:rPr lang="fr-CA" smtClean="0"/>
              <a:t>22</a:t>
            </a:fld>
            <a:endParaRPr lang="fr-CA"/>
          </a:p>
        </p:txBody>
      </p: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7DC3C0DE-2AD4-4E3B-8F9F-97295A1B3D1A}"/>
                  </a:ext>
                </a:extLst>
              </p:cNvPr>
              <p:cNvSpPr txBox="1"/>
              <p:nvPr/>
            </p:nvSpPr>
            <p:spPr>
              <a:xfrm>
                <a:off x="1188720" y="2586446"/>
                <a:ext cx="9222377" cy="3449021"/>
              </a:xfrm>
              <a:prstGeom prst="rect">
                <a:avLst/>
              </a:prstGeom>
              <a:noFill/>
            </p:spPr>
            <p:txBody>
              <a:bodyPr wrap="square" rtlCol="0">
                <a:spAutoFit/>
              </a:bodyPr>
              <a:lstStyle/>
              <a:p>
                <a:r>
                  <a:rPr lang="fr-CA" b="1" dirty="0"/>
                  <a:t>Exemple1</a:t>
                </a:r>
                <a:r>
                  <a:rPr lang="fr-CA" dirty="0"/>
                  <a:t>: H: les hommes   et F: les femmes. M: les personnes atteintes d’une certaine maladie..</a:t>
                </a:r>
              </a:p>
              <a:p>
                <a:r>
                  <a:rPr lang="fr-CA" dirty="0"/>
                  <a:t>On suppose que </a:t>
                </a:r>
                <a14:m>
                  <m:oMath xmlns:m="http://schemas.openxmlformats.org/officeDocument/2006/math">
                    <m:r>
                      <a:rPr lang="fr-CA" b="0" i="1" smtClean="0">
                        <a:latin typeface="Cambria Math" panose="02040503050406030204" pitchFamily="18" charset="0"/>
                      </a:rPr>
                      <m:t>𝑃</m:t>
                    </m:r>
                    <m:d>
                      <m:dPr>
                        <m:ctrlPr>
                          <a:rPr lang="fr-CA" b="0" i="1" smtClean="0">
                            <a:latin typeface="Cambria Math" panose="02040503050406030204" pitchFamily="18" charset="0"/>
                          </a:rPr>
                        </m:ctrlPr>
                      </m:dPr>
                      <m:e>
                        <m:r>
                          <a:rPr lang="fr-CA" b="0" i="1" smtClean="0">
                            <a:latin typeface="Cambria Math" panose="02040503050406030204" pitchFamily="18" charset="0"/>
                          </a:rPr>
                          <m:t>𝑀</m:t>
                        </m:r>
                      </m:e>
                    </m:d>
                    <m:r>
                      <a:rPr lang="fr-CA" b="0" i="1" smtClean="0">
                        <a:latin typeface="Cambria Math" panose="02040503050406030204" pitchFamily="18" charset="0"/>
                      </a:rPr>
                      <m:t>=0,45;  </m:t>
                    </m:r>
                    <m:r>
                      <a:rPr lang="fr-CA" b="0" i="1" smtClean="0">
                        <a:latin typeface="Cambria Math" panose="02040503050406030204" pitchFamily="18" charset="0"/>
                      </a:rPr>
                      <m:t>𝑃</m:t>
                    </m:r>
                    <m:d>
                      <m:dPr>
                        <m:ctrlPr>
                          <a:rPr lang="fr-CA" b="0" i="1" smtClean="0">
                            <a:latin typeface="Cambria Math" panose="02040503050406030204" pitchFamily="18" charset="0"/>
                          </a:rPr>
                        </m:ctrlPr>
                      </m:dPr>
                      <m:e>
                        <m:r>
                          <a:rPr lang="fr-CA" b="0" i="1" smtClean="0">
                            <a:latin typeface="Cambria Math" panose="02040503050406030204" pitchFamily="18" charset="0"/>
                          </a:rPr>
                          <m:t>𝐹</m:t>
                        </m:r>
                      </m:e>
                    </m:d>
                    <m:r>
                      <a:rPr lang="fr-CA" b="0" i="1" smtClean="0">
                        <a:latin typeface="Cambria Math" panose="02040503050406030204" pitchFamily="18" charset="0"/>
                      </a:rPr>
                      <m:t>=0,55;  </m:t>
                    </m:r>
                    <m:r>
                      <a:rPr lang="fr-CA" b="0" i="1" smtClean="0">
                        <a:latin typeface="Cambria Math" panose="02040503050406030204" pitchFamily="18" charset="0"/>
                      </a:rPr>
                      <m:t>𝑃</m:t>
                    </m:r>
                    <m:d>
                      <m:dPr>
                        <m:ctrlPr>
                          <a:rPr lang="fr-CA" b="0" i="1" smtClean="0">
                            <a:latin typeface="Cambria Math" panose="02040503050406030204" pitchFamily="18" charset="0"/>
                          </a:rPr>
                        </m:ctrlPr>
                      </m:dPr>
                      <m:e>
                        <m:r>
                          <a:rPr lang="fr-CA" b="0" i="1" smtClean="0">
                            <a:latin typeface="Cambria Math" panose="02040503050406030204" pitchFamily="18" charset="0"/>
                          </a:rPr>
                          <m:t>𝑀</m:t>
                        </m:r>
                      </m:e>
                      <m:e>
                        <m:r>
                          <a:rPr lang="fr-CA" b="0" i="1" smtClean="0">
                            <a:latin typeface="Cambria Math" panose="02040503050406030204" pitchFamily="18" charset="0"/>
                          </a:rPr>
                          <m:t>𝐻</m:t>
                        </m:r>
                      </m:e>
                    </m:d>
                    <m:r>
                      <a:rPr lang="fr-CA" b="0" i="1" smtClean="0">
                        <a:latin typeface="Cambria Math" panose="02040503050406030204" pitchFamily="18" charset="0"/>
                      </a:rPr>
                      <m:t>=0,05      </m:t>
                    </m:r>
                    <m:r>
                      <a:rPr lang="fr-CA" b="0" i="1" smtClean="0">
                        <a:latin typeface="Cambria Math" panose="02040503050406030204" pitchFamily="18" charset="0"/>
                      </a:rPr>
                      <m:t>𝑒𝑡</m:t>
                    </m:r>
                    <m:r>
                      <a:rPr lang="fr-CA" b="0" i="1" smtClean="0">
                        <a:latin typeface="Cambria Math" panose="02040503050406030204" pitchFamily="18" charset="0"/>
                      </a:rPr>
                      <m:t>  </m:t>
                    </m:r>
                    <m:r>
                      <a:rPr lang="fr-CA" b="0" i="1" smtClean="0">
                        <a:latin typeface="Cambria Math" panose="02040503050406030204" pitchFamily="18" charset="0"/>
                      </a:rPr>
                      <m:t>𝑃</m:t>
                    </m:r>
                    <m:d>
                      <m:dPr>
                        <m:ctrlPr>
                          <a:rPr lang="fr-CA" b="0" i="1" smtClean="0">
                            <a:latin typeface="Cambria Math" panose="02040503050406030204" pitchFamily="18" charset="0"/>
                          </a:rPr>
                        </m:ctrlPr>
                      </m:dPr>
                      <m:e>
                        <m:r>
                          <a:rPr lang="fr-CA" b="0" i="1" smtClean="0">
                            <a:latin typeface="Cambria Math" panose="02040503050406030204" pitchFamily="18" charset="0"/>
                          </a:rPr>
                          <m:t>𝑀</m:t>
                        </m:r>
                      </m:e>
                      <m:e>
                        <m:r>
                          <a:rPr lang="fr-CA" b="0" i="1" smtClean="0">
                            <a:latin typeface="Cambria Math" panose="02040503050406030204" pitchFamily="18" charset="0"/>
                          </a:rPr>
                          <m:t>𝐹</m:t>
                        </m:r>
                      </m:e>
                    </m:d>
                    <m:r>
                      <a:rPr lang="fr-CA" b="0" i="1" smtClean="0">
                        <a:latin typeface="Cambria Math" panose="02040503050406030204" pitchFamily="18" charset="0"/>
                      </a:rPr>
                      <m:t>=0,08</m:t>
                    </m:r>
                  </m:oMath>
                </a14:m>
                <a:endParaRPr lang="fr-CA" dirty="0"/>
              </a:p>
              <a:p>
                <a:endParaRPr lang="fr-CA" dirty="0"/>
              </a:p>
              <a:p>
                <a:r>
                  <a:rPr lang="fr-CA" dirty="0"/>
                  <a:t>1</a:t>
                </a:r>
                <a:r>
                  <a:rPr lang="fr-CA" baseline="30000" dirty="0"/>
                  <a:t>ère</a:t>
                </a:r>
                <a:r>
                  <a:rPr lang="fr-CA" dirty="0"/>
                  <a:t> étape: On veut calculer le pourcentage des malades dans cette population.</a:t>
                </a:r>
              </a:p>
              <a:p>
                <a:pPr/>
                <a14:m>
                  <m:oMathPara xmlns:m="http://schemas.openxmlformats.org/officeDocument/2006/math">
                    <m:oMathParaPr>
                      <m:jc m:val="centerGroup"/>
                    </m:oMathParaPr>
                    <m:oMath xmlns:m="http://schemas.openxmlformats.org/officeDocument/2006/math">
                      <m:r>
                        <a:rPr lang="fr-CA" b="0" i="1" smtClean="0">
                          <a:latin typeface="Cambria Math" panose="02040503050406030204" pitchFamily="18" charset="0"/>
                        </a:rPr>
                        <m:t>𝑃</m:t>
                      </m:r>
                      <m:d>
                        <m:dPr>
                          <m:ctrlPr>
                            <a:rPr lang="fr-CA" b="0" i="1" smtClean="0">
                              <a:latin typeface="Cambria Math" panose="02040503050406030204" pitchFamily="18" charset="0"/>
                            </a:rPr>
                          </m:ctrlPr>
                        </m:dPr>
                        <m:e>
                          <m:r>
                            <a:rPr lang="fr-CA" b="0" i="1" smtClean="0">
                              <a:latin typeface="Cambria Math" panose="02040503050406030204" pitchFamily="18" charset="0"/>
                            </a:rPr>
                            <m:t>𝑀</m:t>
                          </m:r>
                        </m:e>
                      </m:d>
                      <m:r>
                        <a:rPr lang="fr-CA" b="0" i="1" smtClean="0">
                          <a:latin typeface="Cambria Math" panose="02040503050406030204" pitchFamily="18" charset="0"/>
                        </a:rPr>
                        <m:t>=</m:t>
                      </m:r>
                      <m:r>
                        <a:rPr lang="fr-CA" b="0" i="1" smtClean="0">
                          <a:latin typeface="Cambria Math" panose="02040503050406030204" pitchFamily="18" charset="0"/>
                        </a:rPr>
                        <m:t>𝑃</m:t>
                      </m:r>
                      <m:d>
                        <m:dPr>
                          <m:ctrlPr>
                            <a:rPr lang="fr-CA" b="0" i="1" smtClean="0">
                              <a:latin typeface="Cambria Math" panose="02040503050406030204" pitchFamily="18" charset="0"/>
                            </a:rPr>
                          </m:ctrlPr>
                        </m:dPr>
                        <m:e>
                          <m:r>
                            <a:rPr lang="fr-CA" b="0" i="1" smtClean="0">
                              <a:latin typeface="Cambria Math" panose="02040503050406030204" pitchFamily="18" charset="0"/>
                            </a:rPr>
                            <m:t>𝑀</m:t>
                          </m:r>
                        </m:e>
                        <m:e>
                          <m:r>
                            <a:rPr lang="fr-CA" b="0" i="1" smtClean="0">
                              <a:latin typeface="Cambria Math" panose="02040503050406030204" pitchFamily="18" charset="0"/>
                            </a:rPr>
                            <m:t>𝐻</m:t>
                          </m:r>
                        </m:e>
                      </m:d>
                      <m:r>
                        <a:rPr lang="fr-CA" b="0" i="1" smtClean="0">
                          <a:latin typeface="Cambria Math" panose="02040503050406030204" pitchFamily="18" charset="0"/>
                        </a:rPr>
                        <m:t>∗</m:t>
                      </m:r>
                      <m:r>
                        <a:rPr lang="fr-CA" b="0" i="1" smtClean="0">
                          <a:latin typeface="Cambria Math" panose="02040503050406030204" pitchFamily="18" charset="0"/>
                        </a:rPr>
                        <m:t>𝑃</m:t>
                      </m:r>
                      <m:d>
                        <m:dPr>
                          <m:ctrlPr>
                            <a:rPr lang="fr-CA" b="0" i="1" smtClean="0">
                              <a:latin typeface="Cambria Math" panose="02040503050406030204" pitchFamily="18" charset="0"/>
                            </a:rPr>
                          </m:ctrlPr>
                        </m:dPr>
                        <m:e>
                          <m:r>
                            <a:rPr lang="fr-CA" b="0" i="1" smtClean="0">
                              <a:latin typeface="Cambria Math" panose="02040503050406030204" pitchFamily="18" charset="0"/>
                            </a:rPr>
                            <m:t>𝐻</m:t>
                          </m:r>
                        </m:e>
                      </m:d>
                      <m:r>
                        <a:rPr lang="fr-CA" b="0" i="1" smtClean="0">
                          <a:latin typeface="Cambria Math" panose="02040503050406030204" pitchFamily="18" charset="0"/>
                        </a:rPr>
                        <m:t>+</m:t>
                      </m:r>
                      <m:r>
                        <a:rPr lang="fr-CA" b="0" i="1" smtClean="0">
                          <a:latin typeface="Cambria Math" panose="02040503050406030204" pitchFamily="18" charset="0"/>
                        </a:rPr>
                        <m:t>𝑃</m:t>
                      </m:r>
                      <m:d>
                        <m:dPr>
                          <m:ctrlPr>
                            <a:rPr lang="fr-CA" b="0" i="1" smtClean="0">
                              <a:latin typeface="Cambria Math" panose="02040503050406030204" pitchFamily="18" charset="0"/>
                            </a:rPr>
                          </m:ctrlPr>
                        </m:dPr>
                        <m:e>
                          <m:r>
                            <a:rPr lang="fr-CA" b="0" i="1" smtClean="0">
                              <a:latin typeface="Cambria Math" panose="02040503050406030204" pitchFamily="18" charset="0"/>
                            </a:rPr>
                            <m:t>𝑀</m:t>
                          </m:r>
                        </m:e>
                        <m:e>
                          <m:r>
                            <a:rPr lang="fr-CA" b="0" i="1" smtClean="0">
                              <a:latin typeface="Cambria Math" panose="02040503050406030204" pitchFamily="18" charset="0"/>
                            </a:rPr>
                            <m:t>𝐹</m:t>
                          </m:r>
                        </m:e>
                      </m:d>
                      <m:r>
                        <a:rPr lang="fr-CA" b="0" i="1" smtClean="0">
                          <a:latin typeface="Cambria Math" panose="02040503050406030204" pitchFamily="18" charset="0"/>
                        </a:rPr>
                        <m:t>∗</m:t>
                      </m:r>
                      <m:r>
                        <a:rPr lang="fr-CA" b="0" i="1" smtClean="0">
                          <a:latin typeface="Cambria Math" panose="02040503050406030204" pitchFamily="18" charset="0"/>
                        </a:rPr>
                        <m:t>𝑃</m:t>
                      </m:r>
                      <m:d>
                        <m:dPr>
                          <m:ctrlPr>
                            <a:rPr lang="fr-CA" b="0" i="1" smtClean="0">
                              <a:latin typeface="Cambria Math" panose="02040503050406030204" pitchFamily="18" charset="0"/>
                            </a:rPr>
                          </m:ctrlPr>
                        </m:dPr>
                        <m:e>
                          <m:r>
                            <a:rPr lang="fr-CA" b="0" i="1" smtClean="0">
                              <a:latin typeface="Cambria Math" panose="02040503050406030204" pitchFamily="18" charset="0"/>
                            </a:rPr>
                            <m:t>𝐹</m:t>
                          </m:r>
                        </m:e>
                      </m:d>
                      <m:r>
                        <a:rPr lang="fr-CA" b="0" i="1" smtClean="0">
                          <a:latin typeface="Cambria Math" panose="02040503050406030204" pitchFamily="18" charset="0"/>
                        </a:rPr>
                        <m:t>=0,05∗0,45+0,08∗0,55=0,0665=6,65%</m:t>
                      </m:r>
                    </m:oMath>
                  </m:oMathPara>
                </a14:m>
                <a:endParaRPr lang="fr-CA" dirty="0"/>
              </a:p>
              <a:p>
                <a:endParaRPr lang="fr-CA" dirty="0"/>
              </a:p>
              <a:p>
                <a:r>
                  <a:rPr lang="fr-CA" dirty="0"/>
                  <a:t>2</a:t>
                </a:r>
                <a:r>
                  <a:rPr lang="fr-CA" baseline="30000" dirty="0"/>
                  <a:t>ième</a:t>
                </a:r>
                <a:r>
                  <a:rPr lang="fr-CA" dirty="0"/>
                  <a:t> étape: On veut calculer le pourcentage des femmes parmi les malades.</a:t>
                </a:r>
              </a:p>
              <a:p>
                <a:endParaRPr lang="fr-CA" dirty="0"/>
              </a:p>
              <a:p>
                <a:pPr/>
                <a14:m>
                  <m:oMathPara xmlns:m="http://schemas.openxmlformats.org/officeDocument/2006/math">
                    <m:oMathParaPr>
                      <m:jc m:val="centerGroup"/>
                    </m:oMathParaPr>
                    <m:oMath xmlns:m="http://schemas.openxmlformats.org/officeDocument/2006/math">
                      <m:r>
                        <a:rPr lang="fr-CA" b="0" i="1" smtClean="0">
                          <a:latin typeface="Cambria Math" panose="02040503050406030204" pitchFamily="18" charset="0"/>
                        </a:rPr>
                        <m:t>𝑃</m:t>
                      </m:r>
                      <m:d>
                        <m:dPr>
                          <m:ctrlPr>
                            <a:rPr lang="fr-CA" b="0" i="1" smtClean="0">
                              <a:latin typeface="Cambria Math" panose="02040503050406030204" pitchFamily="18" charset="0"/>
                            </a:rPr>
                          </m:ctrlPr>
                        </m:dPr>
                        <m:e>
                          <m:r>
                            <a:rPr lang="fr-CA" b="0" i="1" smtClean="0">
                              <a:latin typeface="Cambria Math" panose="02040503050406030204" pitchFamily="18" charset="0"/>
                            </a:rPr>
                            <m:t>𝐹</m:t>
                          </m:r>
                        </m:e>
                        <m:e>
                          <m:r>
                            <a:rPr lang="fr-CA" b="0" i="1" smtClean="0">
                              <a:latin typeface="Cambria Math" panose="02040503050406030204" pitchFamily="18" charset="0"/>
                            </a:rPr>
                            <m:t>𝑀</m:t>
                          </m:r>
                        </m:e>
                      </m:d>
                      <m:r>
                        <a:rPr lang="fr-CA" b="0" i="1" smtClean="0">
                          <a:latin typeface="Cambria Math" panose="02040503050406030204" pitchFamily="18" charset="0"/>
                        </a:rPr>
                        <m:t>=</m:t>
                      </m:r>
                      <m:f>
                        <m:fPr>
                          <m:ctrlPr>
                            <a:rPr lang="fr-CA" b="0" i="1" smtClean="0">
                              <a:latin typeface="Cambria Math" panose="02040503050406030204" pitchFamily="18" charset="0"/>
                            </a:rPr>
                          </m:ctrlPr>
                        </m:fPr>
                        <m:num>
                          <m:r>
                            <a:rPr lang="fr-CA" b="0" i="1" smtClean="0">
                              <a:latin typeface="Cambria Math" panose="02040503050406030204" pitchFamily="18" charset="0"/>
                            </a:rPr>
                            <m:t>𝑃</m:t>
                          </m:r>
                          <m:r>
                            <a:rPr lang="fr-CA" b="0" i="1" smtClean="0">
                              <a:latin typeface="Cambria Math" panose="02040503050406030204" pitchFamily="18" charset="0"/>
                            </a:rPr>
                            <m:t>(</m:t>
                          </m:r>
                          <m:r>
                            <a:rPr lang="fr-CA" b="0" i="1" smtClean="0">
                              <a:latin typeface="Cambria Math" panose="02040503050406030204" pitchFamily="18" charset="0"/>
                            </a:rPr>
                            <m:t>𝐹</m:t>
                          </m:r>
                          <m:r>
                            <a:rPr lang="fr-CA" b="0" i="1" smtClean="0">
                              <a:latin typeface="Cambria Math" panose="02040503050406030204" pitchFamily="18" charset="0"/>
                              <a:ea typeface="Cambria Math" panose="02040503050406030204" pitchFamily="18" charset="0"/>
                            </a:rPr>
                            <m:t>∩</m:t>
                          </m:r>
                          <m:r>
                            <a:rPr lang="fr-CA" b="0" i="1" smtClean="0">
                              <a:latin typeface="Cambria Math" panose="02040503050406030204" pitchFamily="18" charset="0"/>
                              <a:ea typeface="Cambria Math" panose="02040503050406030204" pitchFamily="18" charset="0"/>
                            </a:rPr>
                            <m:t>𝑀</m:t>
                          </m:r>
                          <m:r>
                            <a:rPr lang="fr-CA" b="0" i="1" smtClean="0">
                              <a:latin typeface="Cambria Math" panose="02040503050406030204" pitchFamily="18" charset="0"/>
                              <a:ea typeface="Cambria Math" panose="02040503050406030204" pitchFamily="18" charset="0"/>
                            </a:rPr>
                            <m:t>)</m:t>
                          </m:r>
                        </m:num>
                        <m:den>
                          <m:r>
                            <a:rPr lang="fr-CA" b="0" i="1" smtClean="0">
                              <a:latin typeface="Cambria Math" panose="02040503050406030204" pitchFamily="18" charset="0"/>
                            </a:rPr>
                            <m:t>𝑃</m:t>
                          </m:r>
                          <m:r>
                            <a:rPr lang="fr-CA" b="0" i="1" smtClean="0">
                              <a:latin typeface="Cambria Math" panose="02040503050406030204" pitchFamily="18" charset="0"/>
                            </a:rPr>
                            <m:t>(</m:t>
                          </m:r>
                          <m:r>
                            <a:rPr lang="fr-CA" b="0" i="1" smtClean="0">
                              <a:latin typeface="Cambria Math" panose="02040503050406030204" pitchFamily="18" charset="0"/>
                            </a:rPr>
                            <m:t>𝑀</m:t>
                          </m:r>
                          <m:r>
                            <a:rPr lang="fr-CA" b="0" i="1" smtClean="0">
                              <a:latin typeface="Cambria Math" panose="02040503050406030204" pitchFamily="18" charset="0"/>
                            </a:rPr>
                            <m:t>)</m:t>
                          </m:r>
                        </m:den>
                      </m:f>
                      <m:r>
                        <a:rPr lang="fr-CA" b="0" i="1" smtClean="0">
                          <a:latin typeface="Cambria Math" panose="02040503050406030204" pitchFamily="18" charset="0"/>
                        </a:rPr>
                        <m:t>=</m:t>
                      </m:r>
                      <m:f>
                        <m:fPr>
                          <m:ctrlPr>
                            <a:rPr lang="fr-CA" b="0" i="1" smtClean="0">
                              <a:latin typeface="Cambria Math" panose="02040503050406030204" pitchFamily="18" charset="0"/>
                            </a:rPr>
                          </m:ctrlPr>
                        </m:fPr>
                        <m:num>
                          <m:r>
                            <a:rPr lang="fr-CA" b="0" i="1" smtClean="0">
                              <a:latin typeface="Cambria Math" panose="02040503050406030204" pitchFamily="18" charset="0"/>
                            </a:rPr>
                            <m:t>𝑃</m:t>
                          </m:r>
                          <m:d>
                            <m:dPr>
                              <m:ctrlPr>
                                <a:rPr lang="fr-CA" b="0" i="1" smtClean="0">
                                  <a:latin typeface="Cambria Math" panose="02040503050406030204" pitchFamily="18" charset="0"/>
                                </a:rPr>
                              </m:ctrlPr>
                            </m:dPr>
                            <m:e>
                              <m:r>
                                <a:rPr lang="fr-CA" b="0" i="1" smtClean="0">
                                  <a:latin typeface="Cambria Math" panose="02040503050406030204" pitchFamily="18" charset="0"/>
                                </a:rPr>
                                <m:t>𝑀</m:t>
                              </m:r>
                            </m:e>
                            <m:e>
                              <m:r>
                                <a:rPr lang="fr-CA" b="0" i="1" smtClean="0">
                                  <a:latin typeface="Cambria Math" panose="02040503050406030204" pitchFamily="18" charset="0"/>
                                </a:rPr>
                                <m:t>𝐹</m:t>
                              </m:r>
                            </m:e>
                          </m:d>
                          <m:r>
                            <a:rPr lang="fr-CA" b="0" i="1" smtClean="0">
                              <a:latin typeface="Cambria Math" panose="02040503050406030204" pitchFamily="18" charset="0"/>
                            </a:rPr>
                            <m:t>∗</m:t>
                          </m:r>
                          <m:r>
                            <a:rPr lang="fr-CA" b="0" i="1" smtClean="0">
                              <a:latin typeface="Cambria Math" panose="02040503050406030204" pitchFamily="18" charset="0"/>
                            </a:rPr>
                            <m:t>𝑃</m:t>
                          </m:r>
                          <m:r>
                            <a:rPr lang="fr-CA" b="0" i="1" smtClean="0">
                              <a:latin typeface="Cambria Math" panose="02040503050406030204" pitchFamily="18" charset="0"/>
                            </a:rPr>
                            <m:t>(</m:t>
                          </m:r>
                          <m:r>
                            <a:rPr lang="fr-CA" b="0" i="1" smtClean="0">
                              <a:latin typeface="Cambria Math" panose="02040503050406030204" pitchFamily="18" charset="0"/>
                            </a:rPr>
                            <m:t>𝐹</m:t>
                          </m:r>
                          <m:r>
                            <a:rPr lang="fr-CA" b="0" i="1" smtClean="0">
                              <a:latin typeface="Cambria Math" panose="02040503050406030204" pitchFamily="18" charset="0"/>
                            </a:rPr>
                            <m:t>)</m:t>
                          </m:r>
                        </m:num>
                        <m:den>
                          <m:r>
                            <a:rPr lang="fr-CA" b="0" i="1" smtClean="0">
                              <a:latin typeface="Cambria Math" panose="02040503050406030204" pitchFamily="18" charset="0"/>
                            </a:rPr>
                            <m:t>𝑃</m:t>
                          </m:r>
                          <m:r>
                            <a:rPr lang="fr-CA" b="0" i="1" smtClean="0">
                              <a:latin typeface="Cambria Math" panose="02040503050406030204" pitchFamily="18" charset="0"/>
                            </a:rPr>
                            <m:t>(</m:t>
                          </m:r>
                          <m:r>
                            <a:rPr lang="fr-CA" b="0" i="1" smtClean="0">
                              <a:latin typeface="Cambria Math" panose="02040503050406030204" pitchFamily="18" charset="0"/>
                            </a:rPr>
                            <m:t>𝑀</m:t>
                          </m:r>
                          <m:r>
                            <a:rPr lang="fr-CA" b="0" i="1" smtClean="0">
                              <a:latin typeface="Cambria Math" panose="02040503050406030204" pitchFamily="18" charset="0"/>
                            </a:rPr>
                            <m:t>)</m:t>
                          </m:r>
                        </m:den>
                      </m:f>
                      <m:r>
                        <a:rPr lang="fr-CA" b="0" i="1" smtClean="0">
                          <a:latin typeface="Cambria Math" panose="02040503050406030204" pitchFamily="18" charset="0"/>
                        </a:rPr>
                        <m:t>=</m:t>
                      </m:r>
                      <m:f>
                        <m:fPr>
                          <m:ctrlPr>
                            <a:rPr lang="fr-CA" b="0" i="1" smtClean="0">
                              <a:latin typeface="Cambria Math" panose="02040503050406030204" pitchFamily="18" charset="0"/>
                            </a:rPr>
                          </m:ctrlPr>
                        </m:fPr>
                        <m:num>
                          <m:r>
                            <a:rPr lang="fr-CA" b="0" i="1" smtClean="0">
                              <a:latin typeface="Cambria Math" panose="02040503050406030204" pitchFamily="18" charset="0"/>
                            </a:rPr>
                            <m:t>0,08∗0,55</m:t>
                          </m:r>
                        </m:num>
                        <m:den>
                          <m:r>
                            <a:rPr lang="fr-CA" b="0" i="1" smtClean="0">
                              <a:latin typeface="Cambria Math" panose="02040503050406030204" pitchFamily="18" charset="0"/>
                            </a:rPr>
                            <m:t>0,0665</m:t>
                          </m:r>
                        </m:den>
                      </m:f>
                      <m:r>
                        <a:rPr lang="fr-CA" b="0" i="1" smtClean="0">
                          <a:latin typeface="Cambria Math" panose="02040503050406030204" pitchFamily="18" charset="0"/>
                        </a:rPr>
                        <m:t>=0,6617=66,17%</m:t>
                      </m:r>
                    </m:oMath>
                  </m:oMathPara>
                </a14:m>
                <a:endParaRPr lang="fr-CA" dirty="0"/>
              </a:p>
              <a:p>
                <a:endParaRPr lang="fr-CA" dirty="0"/>
              </a:p>
              <a:p>
                <a:r>
                  <a:rPr lang="fr-CA" dirty="0"/>
                  <a:t>C’est cette dernière formule qu’on appelle </a:t>
                </a:r>
                <a:r>
                  <a:rPr lang="fr-CA" b="1" dirty="0"/>
                  <a:t>formule de Bayes</a:t>
                </a:r>
                <a:r>
                  <a:rPr lang="fr-CA" dirty="0"/>
                  <a:t>.</a:t>
                </a:r>
              </a:p>
            </p:txBody>
          </p:sp>
        </mc:Choice>
        <mc:Fallback xmlns="">
          <p:sp>
            <p:nvSpPr>
              <p:cNvPr id="5" name="ZoneTexte 4">
                <a:extLst>
                  <a:ext uri="{FF2B5EF4-FFF2-40B4-BE49-F238E27FC236}">
                    <a16:creationId xmlns:a16="http://schemas.microsoft.com/office/drawing/2014/main" id="{7DC3C0DE-2AD4-4E3B-8F9F-97295A1B3D1A}"/>
                  </a:ext>
                </a:extLst>
              </p:cNvPr>
              <p:cNvSpPr txBox="1">
                <a:spLocks noRot="1" noChangeAspect="1" noMove="1" noResize="1" noEditPoints="1" noAdjustHandles="1" noChangeArrowheads="1" noChangeShapeType="1" noTextEdit="1"/>
              </p:cNvSpPr>
              <p:nvPr/>
            </p:nvSpPr>
            <p:spPr>
              <a:xfrm>
                <a:off x="1188720" y="2586446"/>
                <a:ext cx="9222377" cy="3449021"/>
              </a:xfrm>
              <a:prstGeom prst="rect">
                <a:avLst/>
              </a:prstGeom>
              <a:blipFill>
                <a:blip r:embed="rId2"/>
                <a:stretch>
                  <a:fillRect l="-529" t="-883" b="-1767"/>
                </a:stretch>
              </a:blipFill>
            </p:spPr>
            <p:txBody>
              <a:bodyPr/>
              <a:lstStyle/>
              <a:p>
                <a:r>
                  <a:rPr lang="fr-CA">
                    <a:noFill/>
                  </a:rPr>
                  <a:t> </a:t>
                </a:r>
              </a:p>
            </p:txBody>
          </p:sp>
        </mc:Fallback>
      </mc:AlternateContent>
    </p:spTree>
    <p:extLst>
      <p:ext uri="{BB962C8B-B14F-4D97-AF65-F5344CB8AC3E}">
        <p14:creationId xmlns:p14="http://schemas.microsoft.com/office/powerpoint/2010/main" val="32666163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E6ED22-F3D3-4323-BF52-9B4F218EC903}"/>
              </a:ext>
            </a:extLst>
          </p:cNvPr>
          <p:cNvSpPr>
            <a:spLocks noGrp="1"/>
          </p:cNvSpPr>
          <p:nvPr>
            <p:ph type="title"/>
          </p:nvPr>
        </p:nvSpPr>
        <p:spPr>
          <a:xfrm>
            <a:off x="838200" y="365125"/>
            <a:ext cx="10515600" cy="2169069"/>
          </a:xfrm>
        </p:spPr>
        <p:txBody>
          <a:bodyPr>
            <a:normAutofit/>
          </a:bodyPr>
          <a:lstStyle/>
          <a:p>
            <a:r>
              <a:rPr lang="fr-CA" dirty="0"/>
              <a:t>Exemple 2: </a:t>
            </a:r>
            <a:r>
              <a:rPr lang="fr-FR" sz="2000" dirty="0">
                <a:solidFill>
                  <a:srgbClr val="000000"/>
                </a:solidFill>
                <a:effectLst/>
                <a:latin typeface="Times New Roman" panose="02020603050405020304" pitchFamily="18" charset="0"/>
                <a:ea typeface="Times New Roman" panose="02020603050405020304" pitchFamily="18" charset="0"/>
              </a:rPr>
              <a:t>On s’intéresse à une maladie présente dans une population </a:t>
            </a:r>
            <a:r>
              <a:rPr lang="fr-FR" sz="2000" i="1" dirty="0">
                <a:solidFill>
                  <a:srgbClr val="000000"/>
                </a:solidFill>
                <a:effectLst/>
                <a:latin typeface="Times New Roman" panose="02020603050405020304" pitchFamily="18" charset="0"/>
                <a:ea typeface="Times New Roman" panose="02020603050405020304" pitchFamily="18" charset="0"/>
              </a:rPr>
              <a:t>S</a:t>
            </a:r>
            <a:r>
              <a:rPr lang="fr-FR" sz="2000" dirty="0">
                <a:solidFill>
                  <a:srgbClr val="000000"/>
                </a:solidFill>
                <a:effectLst/>
                <a:latin typeface="Times New Roman" panose="02020603050405020304" pitchFamily="18" charset="0"/>
                <a:ea typeface="Times New Roman" panose="02020603050405020304" pitchFamily="18" charset="0"/>
              </a:rPr>
              <a:t>. Soit </a:t>
            </a:r>
            <a:r>
              <a:rPr lang="fr-FR" sz="2000" i="1" dirty="0">
                <a:solidFill>
                  <a:srgbClr val="000000"/>
                </a:solidFill>
                <a:effectLst/>
                <a:latin typeface="Times New Roman" panose="02020603050405020304" pitchFamily="18" charset="0"/>
                <a:ea typeface="Times New Roman" panose="02020603050405020304" pitchFamily="18" charset="0"/>
              </a:rPr>
              <a:t>M</a:t>
            </a:r>
            <a:r>
              <a:rPr lang="fr-FR" sz="2000" dirty="0">
                <a:solidFill>
                  <a:srgbClr val="000000"/>
                </a:solidFill>
                <a:effectLst/>
                <a:latin typeface="Times New Roman" panose="02020603050405020304" pitchFamily="18" charset="0"/>
                <a:ea typeface="Times New Roman" panose="02020603050405020304" pitchFamily="18" charset="0"/>
              </a:rPr>
              <a:t> : Les personnes atteintes de cette maladie ; et </a:t>
            </a:r>
            <a:r>
              <a:rPr lang="fr-FR" sz="2000" i="1" dirty="0">
                <a:solidFill>
                  <a:srgbClr val="000000"/>
                </a:solidFill>
                <a:effectLst/>
                <a:latin typeface="Times New Roman" panose="02020603050405020304" pitchFamily="18" charset="0"/>
                <a:ea typeface="Times New Roman" panose="02020603050405020304" pitchFamily="18" charset="0"/>
              </a:rPr>
              <a:t>M′</a:t>
            </a:r>
            <a:r>
              <a:rPr lang="fr-FR" sz="2000" dirty="0">
                <a:solidFill>
                  <a:srgbClr val="000000"/>
                </a:solidFill>
                <a:effectLst/>
                <a:latin typeface="Times New Roman" panose="02020603050405020304" pitchFamily="18" charset="0"/>
                <a:ea typeface="Times New Roman" panose="02020603050405020304" pitchFamily="18" charset="0"/>
              </a:rPr>
              <a:t> : Les personnes non atteintes de cette maladie. Une compagnie pharmaceutique a mis au point un procédé pour détecter la présence ou non de cette maladie. Soit alors </a:t>
            </a:r>
            <a:r>
              <a:rPr lang="fr-FR" sz="2000" i="1" dirty="0">
                <a:solidFill>
                  <a:srgbClr val="000000"/>
                </a:solidFill>
                <a:effectLst/>
                <a:latin typeface="Times New Roman" panose="02020603050405020304" pitchFamily="18" charset="0"/>
                <a:ea typeface="Times New Roman" panose="02020603050405020304" pitchFamily="18" charset="0"/>
              </a:rPr>
              <a:t>T+</a:t>
            </a:r>
            <a:r>
              <a:rPr lang="fr-FR" sz="2000" dirty="0">
                <a:solidFill>
                  <a:srgbClr val="000000"/>
                </a:solidFill>
                <a:effectLst/>
                <a:latin typeface="Times New Roman" panose="02020603050405020304" pitchFamily="18" charset="0"/>
                <a:ea typeface="Times New Roman" panose="02020603050405020304" pitchFamily="18" charset="0"/>
              </a:rPr>
              <a:t> : Le test est positif. </a:t>
            </a:r>
            <a:r>
              <a:rPr lang="fr-CA" sz="2000" dirty="0">
                <a:solidFill>
                  <a:srgbClr val="000000"/>
                </a:solidFill>
                <a:effectLst/>
                <a:latin typeface="Times New Roman" panose="02020603050405020304" pitchFamily="18" charset="0"/>
                <a:ea typeface="Times New Roman" panose="02020603050405020304" pitchFamily="18" charset="0"/>
              </a:rPr>
              <a:t> </a:t>
            </a:r>
            <a:endParaRPr lang="fr-CA" sz="2000" dirty="0"/>
          </a:p>
        </p:txBody>
      </p:sp>
      <p:sp>
        <p:nvSpPr>
          <p:cNvPr id="3" name="Espace réservé du pied de page 2">
            <a:extLst>
              <a:ext uri="{FF2B5EF4-FFF2-40B4-BE49-F238E27FC236}">
                <a16:creationId xmlns:a16="http://schemas.microsoft.com/office/drawing/2014/main" id="{96F762A1-96A0-45B1-AE9E-9A03EEEDD65B}"/>
              </a:ext>
            </a:extLst>
          </p:cNvPr>
          <p:cNvSpPr>
            <a:spLocks noGrp="1"/>
          </p:cNvSpPr>
          <p:nvPr>
            <p:ph type="ftr" sz="quarter" idx="11"/>
          </p:nvPr>
        </p:nvSpPr>
        <p:spPr/>
        <p:txBody>
          <a:bodyPr/>
          <a:lstStyle/>
          <a:p>
            <a:endParaRPr lang="fr-CA"/>
          </a:p>
        </p:txBody>
      </p: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37CF95F5-3A4D-43ED-B8BE-8A59C9618A32}"/>
                  </a:ext>
                </a:extLst>
              </p:cNvPr>
              <p:cNvSpPr txBox="1"/>
              <p:nvPr/>
            </p:nvSpPr>
            <p:spPr>
              <a:xfrm>
                <a:off x="509450" y="3540034"/>
                <a:ext cx="10515600" cy="2608086"/>
              </a:xfrm>
              <a:prstGeom prst="rect">
                <a:avLst/>
              </a:prstGeom>
              <a:noFill/>
            </p:spPr>
            <p:txBody>
              <a:bodyPr wrap="square" rtlCol="0">
                <a:spAutoFit/>
              </a:bodyPr>
              <a:lstStyle/>
              <a:p>
                <a:endParaRPr lang="fr-CA" dirty="0"/>
              </a:p>
              <a:p>
                <a:r>
                  <a:rPr lang="fr-CA" dirty="0"/>
                  <a:t>Supposons qu’on connaisse  </a:t>
                </a:r>
                <a14:m>
                  <m:oMath xmlns:m="http://schemas.openxmlformats.org/officeDocument/2006/math">
                    <m:r>
                      <a:rPr lang="fr-CA" b="0" i="1" smtClean="0">
                        <a:latin typeface="Cambria Math" panose="02040503050406030204" pitchFamily="18" charset="0"/>
                      </a:rPr>
                      <m:t>𝑃</m:t>
                    </m:r>
                    <m:d>
                      <m:dPr>
                        <m:ctrlPr>
                          <a:rPr lang="fr-CA" b="0" i="1" smtClean="0">
                            <a:latin typeface="Cambria Math" panose="02040503050406030204" pitchFamily="18" charset="0"/>
                          </a:rPr>
                        </m:ctrlPr>
                      </m:dPr>
                      <m:e>
                        <m:r>
                          <a:rPr lang="fr-CA" b="0" i="1" smtClean="0">
                            <a:latin typeface="Cambria Math" panose="02040503050406030204" pitchFamily="18" charset="0"/>
                          </a:rPr>
                          <m:t>𝑀</m:t>
                        </m:r>
                      </m:e>
                    </m:d>
                    <m:r>
                      <a:rPr lang="fr-CA" b="0" i="1" smtClean="0">
                        <a:latin typeface="Cambria Math" panose="02040503050406030204" pitchFamily="18" charset="0"/>
                      </a:rPr>
                      <m:t>=0,15;  </m:t>
                    </m:r>
                    <m:r>
                      <a:rPr lang="fr-CA" b="0" i="1" smtClean="0">
                        <a:latin typeface="Cambria Math" panose="02040503050406030204" pitchFamily="18" charset="0"/>
                      </a:rPr>
                      <m:t>𝑃</m:t>
                    </m:r>
                    <m:d>
                      <m:dPr>
                        <m:ctrlPr>
                          <a:rPr lang="fr-CA" b="0" i="1" smtClean="0">
                            <a:latin typeface="Cambria Math" panose="02040503050406030204" pitchFamily="18" charset="0"/>
                          </a:rPr>
                        </m:ctrlPr>
                      </m:dPr>
                      <m:e>
                        <m:r>
                          <a:rPr lang="fr-CA" b="0" i="1" smtClean="0">
                            <a:latin typeface="Cambria Math" panose="02040503050406030204" pitchFamily="18" charset="0"/>
                          </a:rPr>
                          <m:t>𝑇</m:t>
                        </m:r>
                        <m:r>
                          <a:rPr lang="fr-CA" b="0" i="1" smtClean="0">
                            <a:latin typeface="Cambria Math" panose="02040503050406030204" pitchFamily="18" charset="0"/>
                          </a:rPr>
                          <m:t>+</m:t>
                        </m:r>
                      </m:e>
                      <m:e>
                        <m:r>
                          <a:rPr lang="fr-CA" b="0" i="1" smtClean="0">
                            <a:latin typeface="Cambria Math" panose="02040503050406030204" pitchFamily="18" charset="0"/>
                          </a:rPr>
                          <m:t>𝑀</m:t>
                        </m:r>
                      </m:e>
                    </m:d>
                    <m:r>
                      <a:rPr lang="fr-CA" b="0" i="1" smtClean="0">
                        <a:latin typeface="Cambria Math" panose="02040503050406030204" pitchFamily="18" charset="0"/>
                      </a:rPr>
                      <m:t>=0,90    </m:t>
                    </m:r>
                    <m:r>
                      <a:rPr lang="fr-CA" b="0" i="1" smtClean="0">
                        <a:latin typeface="Cambria Math" panose="02040503050406030204" pitchFamily="18" charset="0"/>
                      </a:rPr>
                      <m:t>𝑒𝑡</m:t>
                    </m:r>
                    <m:r>
                      <a:rPr lang="fr-CA" b="0" i="1" smtClean="0">
                        <a:latin typeface="Cambria Math" panose="02040503050406030204" pitchFamily="18" charset="0"/>
                      </a:rPr>
                      <m:t>  </m:t>
                    </m:r>
                    <m:r>
                      <a:rPr lang="fr-CA" b="0" i="1" smtClean="0">
                        <a:latin typeface="Cambria Math" panose="02040503050406030204" pitchFamily="18" charset="0"/>
                      </a:rPr>
                      <m:t>𝑃</m:t>
                    </m:r>
                    <m:d>
                      <m:dPr>
                        <m:ctrlPr>
                          <a:rPr lang="fr-CA" b="0" i="1" smtClean="0">
                            <a:latin typeface="Cambria Math" panose="02040503050406030204" pitchFamily="18" charset="0"/>
                          </a:rPr>
                        </m:ctrlPr>
                      </m:dPr>
                      <m:e>
                        <m:r>
                          <a:rPr lang="fr-CA" b="0" i="1" smtClean="0">
                            <a:latin typeface="Cambria Math" panose="02040503050406030204" pitchFamily="18" charset="0"/>
                          </a:rPr>
                          <m:t>𝑇</m:t>
                        </m:r>
                        <m:r>
                          <a:rPr lang="fr-CA" b="0" i="1" smtClean="0">
                            <a:latin typeface="Cambria Math" panose="02040503050406030204" pitchFamily="18" charset="0"/>
                          </a:rPr>
                          <m:t>+</m:t>
                        </m:r>
                      </m:e>
                      <m:e>
                        <m:sSup>
                          <m:sSupPr>
                            <m:ctrlPr>
                              <a:rPr lang="fr-CA" b="0" i="1" smtClean="0">
                                <a:latin typeface="Cambria Math" panose="02040503050406030204" pitchFamily="18" charset="0"/>
                              </a:rPr>
                            </m:ctrlPr>
                          </m:sSupPr>
                          <m:e>
                            <m:r>
                              <a:rPr lang="fr-CA" b="0" i="1" smtClean="0">
                                <a:latin typeface="Cambria Math" panose="02040503050406030204" pitchFamily="18" charset="0"/>
                              </a:rPr>
                              <m:t>𝑀</m:t>
                            </m:r>
                          </m:e>
                          <m:sup>
                            <m:r>
                              <a:rPr lang="fr-CA" b="0" i="1" smtClean="0">
                                <a:latin typeface="Cambria Math" panose="02040503050406030204" pitchFamily="18" charset="0"/>
                              </a:rPr>
                              <m:t>′</m:t>
                            </m:r>
                          </m:sup>
                        </m:sSup>
                      </m:e>
                    </m:d>
                    <m:r>
                      <a:rPr lang="fr-CA" b="0" i="1" smtClean="0">
                        <a:latin typeface="Cambria Math" panose="02040503050406030204" pitchFamily="18" charset="0"/>
                      </a:rPr>
                      <m:t>=0,13</m:t>
                    </m:r>
                  </m:oMath>
                </a14:m>
                <a:r>
                  <a:rPr lang="fr-CA" dirty="0"/>
                  <a:t> </a:t>
                </a:r>
              </a:p>
              <a:p>
                <a:endParaRPr lang="fr-CA" dirty="0"/>
              </a:p>
              <a:p>
                <a:r>
                  <a:rPr lang="fr-CA" b="1" dirty="0"/>
                  <a:t>1</a:t>
                </a:r>
                <a:r>
                  <a:rPr lang="fr-CA" b="1" baseline="30000" dirty="0"/>
                  <a:t>ère</a:t>
                </a:r>
                <a:r>
                  <a:rPr lang="fr-CA" b="1" dirty="0"/>
                  <a:t> étape</a:t>
                </a:r>
                <a:r>
                  <a:rPr lang="fr-CA" dirty="0"/>
                  <a:t>: On calcule le pourcentage de la population qui a été testée positive.</a:t>
                </a:r>
              </a:p>
              <a:p>
                <a:pPr/>
                <a14:m>
                  <m:oMathPara xmlns:m="http://schemas.openxmlformats.org/officeDocument/2006/math">
                    <m:oMathParaPr>
                      <m:jc m:val="centerGroup"/>
                    </m:oMathParaPr>
                    <m:oMath xmlns:m="http://schemas.openxmlformats.org/officeDocument/2006/math">
                      <m:r>
                        <a:rPr lang="fr-CA" b="0" i="1" smtClean="0">
                          <a:latin typeface="Cambria Math" panose="02040503050406030204" pitchFamily="18" charset="0"/>
                        </a:rPr>
                        <m:t>𝑃</m:t>
                      </m:r>
                      <m:d>
                        <m:dPr>
                          <m:ctrlPr>
                            <a:rPr lang="fr-CA" b="0" i="1" smtClean="0">
                              <a:latin typeface="Cambria Math" panose="02040503050406030204" pitchFamily="18" charset="0"/>
                            </a:rPr>
                          </m:ctrlPr>
                        </m:dPr>
                        <m:e>
                          <m:r>
                            <a:rPr lang="fr-CA" b="0" i="1" smtClean="0">
                              <a:latin typeface="Cambria Math" panose="02040503050406030204" pitchFamily="18" charset="0"/>
                            </a:rPr>
                            <m:t>𝑇</m:t>
                          </m:r>
                          <m:r>
                            <a:rPr lang="fr-CA" b="0" i="1" smtClean="0">
                              <a:latin typeface="Cambria Math" panose="02040503050406030204" pitchFamily="18" charset="0"/>
                            </a:rPr>
                            <m:t>+</m:t>
                          </m:r>
                        </m:e>
                      </m:d>
                      <m:r>
                        <a:rPr lang="fr-CA" b="0" i="1" smtClean="0">
                          <a:latin typeface="Cambria Math" panose="02040503050406030204" pitchFamily="18" charset="0"/>
                        </a:rPr>
                        <m:t>=</m:t>
                      </m:r>
                      <m:r>
                        <a:rPr lang="fr-CA" b="0" i="1" smtClean="0">
                          <a:latin typeface="Cambria Math" panose="02040503050406030204" pitchFamily="18" charset="0"/>
                        </a:rPr>
                        <m:t>𝑃</m:t>
                      </m:r>
                      <m:d>
                        <m:dPr>
                          <m:ctrlPr>
                            <a:rPr lang="fr-CA" b="0" i="1" smtClean="0">
                              <a:latin typeface="Cambria Math" panose="02040503050406030204" pitchFamily="18" charset="0"/>
                            </a:rPr>
                          </m:ctrlPr>
                        </m:dPr>
                        <m:e>
                          <m:r>
                            <a:rPr lang="fr-CA" b="0" i="1" smtClean="0">
                              <a:latin typeface="Cambria Math" panose="02040503050406030204" pitchFamily="18" charset="0"/>
                            </a:rPr>
                            <m:t>𝑇</m:t>
                          </m:r>
                          <m:r>
                            <a:rPr lang="fr-CA" b="0" i="1" smtClean="0">
                              <a:latin typeface="Cambria Math" panose="02040503050406030204" pitchFamily="18" charset="0"/>
                            </a:rPr>
                            <m:t>+</m:t>
                          </m:r>
                        </m:e>
                        <m:e>
                          <m:r>
                            <a:rPr lang="fr-CA" b="0" i="1" smtClean="0">
                              <a:latin typeface="Cambria Math" panose="02040503050406030204" pitchFamily="18" charset="0"/>
                            </a:rPr>
                            <m:t>𝑀</m:t>
                          </m:r>
                        </m:e>
                      </m:d>
                      <m:r>
                        <a:rPr lang="fr-CA" b="0" i="1" smtClean="0">
                          <a:latin typeface="Cambria Math" panose="02040503050406030204" pitchFamily="18" charset="0"/>
                        </a:rPr>
                        <m:t>∗</m:t>
                      </m:r>
                      <m:r>
                        <a:rPr lang="fr-CA" b="0" i="1" smtClean="0">
                          <a:latin typeface="Cambria Math" panose="02040503050406030204" pitchFamily="18" charset="0"/>
                        </a:rPr>
                        <m:t>𝑃</m:t>
                      </m:r>
                      <m:d>
                        <m:dPr>
                          <m:ctrlPr>
                            <a:rPr lang="fr-CA" b="0" i="1" smtClean="0">
                              <a:latin typeface="Cambria Math" panose="02040503050406030204" pitchFamily="18" charset="0"/>
                            </a:rPr>
                          </m:ctrlPr>
                        </m:dPr>
                        <m:e>
                          <m:r>
                            <a:rPr lang="fr-CA" b="0" i="1" smtClean="0">
                              <a:latin typeface="Cambria Math" panose="02040503050406030204" pitchFamily="18" charset="0"/>
                            </a:rPr>
                            <m:t>𝑀</m:t>
                          </m:r>
                        </m:e>
                      </m:d>
                      <m:r>
                        <a:rPr lang="fr-CA" b="0" i="1" smtClean="0">
                          <a:latin typeface="Cambria Math" panose="02040503050406030204" pitchFamily="18" charset="0"/>
                        </a:rPr>
                        <m:t>+</m:t>
                      </m:r>
                      <m:r>
                        <a:rPr lang="fr-CA" b="0" i="1" smtClean="0">
                          <a:latin typeface="Cambria Math" panose="02040503050406030204" pitchFamily="18" charset="0"/>
                        </a:rPr>
                        <m:t>𝑃</m:t>
                      </m:r>
                      <m:d>
                        <m:dPr>
                          <m:ctrlPr>
                            <a:rPr lang="fr-CA" b="0" i="1" smtClean="0">
                              <a:latin typeface="Cambria Math" panose="02040503050406030204" pitchFamily="18" charset="0"/>
                            </a:rPr>
                          </m:ctrlPr>
                        </m:dPr>
                        <m:e>
                          <m:r>
                            <a:rPr lang="fr-CA" b="0" i="1" smtClean="0">
                              <a:latin typeface="Cambria Math" panose="02040503050406030204" pitchFamily="18" charset="0"/>
                            </a:rPr>
                            <m:t>𝑇</m:t>
                          </m:r>
                          <m:r>
                            <a:rPr lang="fr-CA" b="0" i="1" smtClean="0">
                              <a:latin typeface="Cambria Math" panose="02040503050406030204" pitchFamily="18" charset="0"/>
                            </a:rPr>
                            <m:t>+</m:t>
                          </m:r>
                        </m:e>
                        <m:e>
                          <m:sSup>
                            <m:sSupPr>
                              <m:ctrlPr>
                                <a:rPr lang="fr-CA" b="0" i="1" smtClean="0">
                                  <a:latin typeface="Cambria Math" panose="02040503050406030204" pitchFamily="18" charset="0"/>
                                </a:rPr>
                              </m:ctrlPr>
                            </m:sSupPr>
                            <m:e>
                              <m:r>
                                <a:rPr lang="fr-CA" b="0" i="1" smtClean="0">
                                  <a:latin typeface="Cambria Math" panose="02040503050406030204" pitchFamily="18" charset="0"/>
                                </a:rPr>
                                <m:t>𝑀</m:t>
                              </m:r>
                            </m:e>
                            <m:sup>
                              <m:r>
                                <a:rPr lang="fr-CA" b="0" i="1" smtClean="0">
                                  <a:latin typeface="Cambria Math" panose="02040503050406030204" pitchFamily="18" charset="0"/>
                                </a:rPr>
                                <m:t>′</m:t>
                              </m:r>
                            </m:sup>
                          </m:sSup>
                        </m:e>
                      </m:d>
                      <m:r>
                        <a:rPr lang="fr-CA" b="0" i="1" smtClean="0">
                          <a:latin typeface="Cambria Math" panose="02040503050406030204" pitchFamily="18" charset="0"/>
                        </a:rPr>
                        <m:t>∗</m:t>
                      </m:r>
                      <m:r>
                        <a:rPr lang="fr-CA" b="0" i="1" smtClean="0">
                          <a:latin typeface="Cambria Math" panose="02040503050406030204" pitchFamily="18" charset="0"/>
                        </a:rPr>
                        <m:t>𝑃</m:t>
                      </m:r>
                      <m:d>
                        <m:dPr>
                          <m:ctrlPr>
                            <a:rPr lang="fr-CA" b="0" i="1" smtClean="0">
                              <a:latin typeface="Cambria Math" panose="02040503050406030204" pitchFamily="18" charset="0"/>
                            </a:rPr>
                          </m:ctrlPr>
                        </m:dPr>
                        <m:e>
                          <m:sSup>
                            <m:sSupPr>
                              <m:ctrlPr>
                                <a:rPr lang="fr-CA" b="0" i="1" smtClean="0">
                                  <a:latin typeface="Cambria Math" panose="02040503050406030204" pitchFamily="18" charset="0"/>
                                </a:rPr>
                              </m:ctrlPr>
                            </m:sSupPr>
                            <m:e>
                              <m:r>
                                <a:rPr lang="fr-CA" b="0" i="1" smtClean="0">
                                  <a:latin typeface="Cambria Math" panose="02040503050406030204" pitchFamily="18" charset="0"/>
                                </a:rPr>
                                <m:t>𝑀</m:t>
                              </m:r>
                            </m:e>
                            <m:sup>
                              <m:r>
                                <a:rPr lang="fr-CA" b="0" i="1" smtClean="0">
                                  <a:latin typeface="Cambria Math" panose="02040503050406030204" pitchFamily="18" charset="0"/>
                                </a:rPr>
                                <m:t>′</m:t>
                              </m:r>
                            </m:sup>
                          </m:sSup>
                        </m:e>
                      </m:d>
                      <m:r>
                        <a:rPr lang="fr-CA" b="0" i="1" smtClean="0">
                          <a:latin typeface="Cambria Math" panose="02040503050406030204" pitchFamily="18" charset="0"/>
                        </a:rPr>
                        <m:t>=0,90∗0,15+0,13∗0,85=0,2455=24,55%</m:t>
                      </m:r>
                    </m:oMath>
                  </m:oMathPara>
                </a14:m>
                <a:endParaRPr lang="fr-CA" dirty="0"/>
              </a:p>
              <a:p>
                <a:endParaRPr lang="fr-CA" dirty="0"/>
              </a:p>
              <a:p>
                <a:r>
                  <a:rPr lang="fr-CA" b="1" dirty="0"/>
                  <a:t>2</a:t>
                </a:r>
                <a:r>
                  <a:rPr lang="fr-CA" b="1" baseline="30000" dirty="0"/>
                  <a:t>ième</a:t>
                </a:r>
                <a:r>
                  <a:rPr lang="fr-CA" b="1" dirty="0"/>
                  <a:t> étape</a:t>
                </a:r>
                <a:r>
                  <a:rPr lang="fr-CA" dirty="0"/>
                  <a:t>: Supposons qu’on veuille calculer le pourcentage des malades parmi ceux qui ont été testés positifs.</a:t>
                </a:r>
              </a:p>
              <a:p>
                <a:pPr/>
                <a14:m>
                  <m:oMathPara xmlns:m="http://schemas.openxmlformats.org/officeDocument/2006/math">
                    <m:oMathParaPr>
                      <m:jc m:val="centerGroup"/>
                    </m:oMathParaPr>
                    <m:oMath xmlns:m="http://schemas.openxmlformats.org/officeDocument/2006/math">
                      <m:r>
                        <a:rPr lang="fr-CA" b="0" i="1" smtClean="0">
                          <a:latin typeface="Cambria Math" panose="02040503050406030204" pitchFamily="18" charset="0"/>
                        </a:rPr>
                        <m:t>𝑃</m:t>
                      </m:r>
                      <m:d>
                        <m:dPr>
                          <m:ctrlPr>
                            <a:rPr lang="fr-CA" b="0" i="1" smtClean="0">
                              <a:latin typeface="Cambria Math" panose="02040503050406030204" pitchFamily="18" charset="0"/>
                            </a:rPr>
                          </m:ctrlPr>
                        </m:dPr>
                        <m:e>
                          <m:r>
                            <a:rPr lang="fr-CA" b="0" i="1" smtClean="0">
                              <a:latin typeface="Cambria Math" panose="02040503050406030204" pitchFamily="18" charset="0"/>
                            </a:rPr>
                            <m:t>𝑀</m:t>
                          </m:r>
                        </m:e>
                        <m:e>
                          <m:r>
                            <a:rPr lang="fr-CA" b="0" i="1" smtClean="0">
                              <a:latin typeface="Cambria Math" panose="02040503050406030204" pitchFamily="18" charset="0"/>
                            </a:rPr>
                            <m:t>𝑇</m:t>
                          </m:r>
                          <m:r>
                            <a:rPr lang="fr-CA" b="0" i="1" smtClean="0">
                              <a:latin typeface="Cambria Math" panose="02040503050406030204" pitchFamily="18" charset="0"/>
                            </a:rPr>
                            <m:t>+</m:t>
                          </m:r>
                        </m:e>
                      </m:d>
                      <m:r>
                        <a:rPr lang="fr-CA" b="0" i="1" smtClean="0">
                          <a:latin typeface="Cambria Math" panose="02040503050406030204" pitchFamily="18" charset="0"/>
                        </a:rPr>
                        <m:t>=</m:t>
                      </m:r>
                      <m:f>
                        <m:fPr>
                          <m:ctrlPr>
                            <a:rPr lang="fr-CA" b="0" i="1" smtClean="0">
                              <a:latin typeface="Cambria Math" panose="02040503050406030204" pitchFamily="18" charset="0"/>
                            </a:rPr>
                          </m:ctrlPr>
                        </m:fPr>
                        <m:num>
                          <m:r>
                            <a:rPr lang="fr-CA" b="0" i="1" smtClean="0">
                              <a:latin typeface="Cambria Math" panose="02040503050406030204" pitchFamily="18" charset="0"/>
                            </a:rPr>
                            <m:t>𝑃</m:t>
                          </m:r>
                          <m:r>
                            <a:rPr lang="fr-CA" b="0" i="1" smtClean="0">
                              <a:latin typeface="Cambria Math" panose="02040503050406030204" pitchFamily="18" charset="0"/>
                            </a:rPr>
                            <m:t>(</m:t>
                          </m:r>
                          <m:r>
                            <a:rPr lang="fr-CA" b="0" i="1" smtClean="0">
                              <a:latin typeface="Cambria Math" panose="02040503050406030204" pitchFamily="18" charset="0"/>
                            </a:rPr>
                            <m:t>𝑀</m:t>
                          </m:r>
                          <m:r>
                            <a:rPr lang="fr-CA" b="0" i="1" smtClean="0">
                              <a:latin typeface="Cambria Math" panose="02040503050406030204" pitchFamily="18" charset="0"/>
                              <a:ea typeface="Cambria Math" panose="02040503050406030204" pitchFamily="18" charset="0"/>
                            </a:rPr>
                            <m:t>∩</m:t>
                          </m:r>
                          <m:r>
                            <a:rPr lang="fr-CA" b="0" i="1" smtClean="0">
                              <a:latin typeface="Cambria Math" panose="02040503050406030204" pitchFamily="18" charset="0"/>
                              <a:ea typeface="Cambria Math" panose="02040503050406030204" pitchFamily="18" charset="0"/>
                            </a:rPr>
                            <m:t>𝑇</m:t>
                          </m:r>
                          <m:r>
                            <a:rPr lang="fr-CA" b="0" i="1" smtClean="0">
                              <a:latin typeface="Cambria Math" panose="02040503050406030204" pitchFamily="18" charset="0"/>
                              <a:ea typeface="Cambria Math" panose="02040503050406030204" pitchFamily="18" charset="0"/>
                            </a:rPr>
                            <m:t>+)</m:t>
                          </m:r>
                        </m:num>
                        <m:den>
                          <m:r>
                            <a:rPr lang="fr-CA" b="0" i="1" smtClean="0">
                              <a:latin typeface="Cambria Math" panose="02040503050406030204" pitchFamily="18" charset="0"/>
                            </a:rPr>
                            <m:t>𝑃</m:t>
                          </m:r>
                          <m:r>
                            <a:rPr lang="fr-CA" b="0" i="1" smtClean="0">
                              <a:latin typeface="Cambria Math" panose="02040503050406030204" pitchFamily="18" charset="0"/>
                            </a:rPr>
                            <m:t>(</m:t>
                          </m:r>
                          <m:r>
                            <a:rPr lang="fr-CA" b="0" i="1" smtClean="0">
                              <a:latin typeface="Cambria Math" panose="02040503050406030204" pitchFamily="18" charset="0"/>
                            </a:rPr>
                            <m:t>𝑇</m:t>
                          </m:r>
                          <m:r>
                            <a:rPr lang="fr-CA" b="0" i="1" smtClean="0">
                              <a:latin typeface="Cambria Math" panose="02040503050406030204" pitchFamily="18" charset="0"/>
                            </a:rPr>
                            <m:t>+)</m:t>
                          </m:r>
                        </m:den>
                      </m:f>
                      <m:r>
                        <a:rPr lang="fr-CA" b="0" i="1" smtClean="0">
                          <a:latin typeface="Cambria Math" panose="02040503050406030204" pitchFamily="18" charset="0"/>
                        </a:rPr>
                        <m:t>=</m:t>
                      </m:r>
                      <m:f>
                        <m:fPr>
                          <m:ctrlPr>
                            <a:rPr lang="fr-CA" b="0" i="1" smtClean="0">
                              <a:latin typeface="Cambria Math" panose="02040503050406030204" pitchFamily="18" charset="0"/>
                            </a:rPr>
                          </m:ctrlPr>
                        </m:fPr>
                        <m:num>
                          <m:r>
                            <a:rPr lang="fr-CA" b="0" i="1" smtClean="0">
                              <a:latin typeface="Cambria Math" panose="02040503050406030204" pitchFamily="18" charset="0"/>
                            </a:rPr>
                            <m:t>𝑃</m:t>
                          </m:r>
                          <m:d>
                            <m:dPr>
                              <m:ctrlPr>
                                <a:rPr lang="fr-CA" b="0" i="1" smtClean="0">
                                  <a:latin typeface="Cambria Math" panose="02040503050406030204" pitchFamily="18" charset="0"/>
                                </a:rPr>
                              </m:ctrlPr>
                            </m:dPr>
                            <m:e>
                              <m:r>
                                <a:rPr lang="fr-CA" b="0" i="1" smtClean="0">
                                  <a:latin typeface="Cambria Math" panose="02040503050406030204" pitchFamily="18" charset="0"/>
                                </a:rPr>
                                <m:t>𝑇</m:t>
                              </m:r>
                              <m:r>
                                <a:rPr lang="fr-CA" b="0" i="1" smtClean="0">
                                  <a:latin typeface="Cambria Math" panose="02040503050406030204" pitchFamily="18" charset="0"/>
                                </a:rPr>
                                <m:t>+</m:t>
                              </m:r>
                            </m:e>
                            <m:e>
                              <m:r>
                                <a:rPr lang="fr-CA" b="0" i="1" smtClean="0">
                                  <a:latin typeface="Cambria Math" panose="02040503050406030204" pitchFamily="18" charset="0"/>
                                </a:rPr>
                                <m:t>𝑀</m:t>
                              </m:r>
                            </m:e>
                          </m:d>
                          <m:r>
                            <a:rPr lang="fr-CA" b="0" i="1" smtClean="0">
                              <a:latin typeface="Cambria Math" panose="02040503050406030204" pitchFamily="18" charset="0"/>
                            </a:rPr>
                            <m:t>∗</m:t>
                          </m:r>
                          <m:r>
                            <a:rPr lang="fr-CA" b="0" i="1" smtClean="0">
                              <a:latin typeface="Cambria Math" panose="02040503050406030204" pitchFamily="18" charset="0"/>
                            </a:rPr>
                            <m:t>𝑃</m:t>
                          </m:r>
                          <m:r>
                            <a:rPr lang="fr-CA" b="0" i="1" smtClean="0">
                              <a:latin typeface="Cambria Math" panose="02040503050406030204" pitchFamily="18" charset="0"/>
                            </a:rPr>
                            <m:t>(</m:t>
                          </m:r>
                          <m:r>
                            <a:rPr lang="fr-CA" b="0" i="1" smtClean="0">
                              <a:latin typeface="Cambria Math" panose="02040503050406030204" pitchFamily="18" charset="0"/>
                            </a:rPr>
                            <m:t>𝑀</m:t>
                          </m:r>
                          <m:r>
                            <a:rPr lang="fr-CA" b="0" i="1" smtClean="0">
                              <a:latin typeface="Cambria Math" panose="02040503050406030204" pitchFamily="18" charset="0"/>
                            </a:rPr>
                            <m:t>)</m:t>
                          </m:r>
                        </m:num>
                        <m:den>
                          <m:r>
                            <a:rPr lang="fr-CA" b="0" i="1" smtClean="0">
                              <a:latin typeface="Cambria Math" panose="02040503050406030204" pitchFamily="18" charset="0"/>
                            </a:rPr>
                            <m:t>𝑃</m:t>
                          </m:r>
                          <m:r>
                            <a:rPr lang="fr-CA" b="0" i="1" smtClean="0">
                              <a:latin typeface="Cambria Math" panose="02040503050406030204" pitchFamily="18" charset="0"/>
                            </a:rPr>
                            <m:t>(</m:t>
                          </m:r>
                          <m:r>
                            <a:rPr lang="fr-CA" b="0" i="1" smtClean="0">
                              <a:latin typeface="Cambria Math" panose="02040503050406030204" pitchFamily="18" charset="0"/>
                            </a:rPr>
                            <m:t>𝑇</m:t>
                          </m:r>
                          <m:r>
                            <a:rPr lang="fr-CA" b="0" i="1" smtClean="0">
                              <a:latin typeface="Cambria Math" panose="02040503050406030204" pitchFamily="18" charset="0"/>
                            </a:rPr>
                            <m:t>+)</m:t>
                          </m:r>
                        </m:den>
                      </m:f>
                      <m:r>
                        <a:rPr lang="fr-CA" b="0" i="1" smtClean="0">
                          <a:latin typeface="Cambria Math" panose="02040503050406030204" pitchFamily="18" charset="0"/>
                        </a:rPr>
                        <m:t>=</m:t>
                      </m:r>
                      <m:f>
                        <m:fPr>
                          <m:ctrlPr>
                            <a:rPr lang="fr-CA" b="0" i="1" smtClean="0">
                              <a:latin typeface="Cambria Math" panose="02040503050406030204" pitchFamily="18" charset="0"/>
                            </a:rPr>
                          </m:ctrlPr>
                        </m:fPr>
                        <m:num>
                          <m:r>
                            <a:rPr lang="fr-CA" b="0" i="1" smtClean="0">
                              <a:latin typeface="Cambria Math" panose="02040503050406030204" pitchFamily="18" charset="0"/>
                            </a:rPr>
                            <m:t>0,90∗0,15</m:t>
                          </m:r>
                        </m:num>
                        <m:den>
                          <m:r>
                            <a:rPr lang="fr-CA" b="0" i="1" smtClean="0">
                              <a:latin typeface="Cambria Math" panose="02040503050406030204" pitchFamily="18" charset="0"/>
                            </a:rPr>
                            <m:t>0,2455</m:t>
                          </m:r>
                        </m:den>
                      </m:f>
                      <m:r>
                        <a:rPr lang="fr-CA" b="0" i="1" smtClean="0">
                          <a:latin typeface="Cambria Math" panose="02040503050406030204" pitchFamily="18" charset="0"/>
                        </a:rPr>
                        <m:t>=0,5499=54,99%</m:t>
                      </m:r>
                    </m:oMath>
                  </m:oMathPara>
                </a14:m>
                <a:endParaRPr lang="fr-CA" dirty="0"/>
              </a:p>
            </p:txBody>
          </p:sp>
        </mc:Choice>
        <mc:Fallback xmlns="">
          <p:sp>
            <p:nvSpPr>
              <p:cNvPr id="5" name="ZoneTexte 4">
                <a:extLst>
                  <a:ext uri="{FF2B5EF4-FFF2-40B4-BE49-F238E27FC236}">
                    <a16:creationId xmlns:a16="http://schemas.microsoft.com/office/drawing/2014/main" id="{37CF95F5-3A4D-43ED-B8BE-8A59C9618A32}"/>
                  </a:ext>
                </a:extLst>
              </p:cNvPr>
              <p:cNvSpPr txBox="1">
                <a:spLocks noRot="1" noChangeAspect="1" noMove="1" noResize="1" noEditPoints="1" noAdjustHandles="1" noChangeArrowheads="1" noChangeShapeType="1" noTextEdit="1"/>
              </p:cNvSpPr>
              <p:nvPr/>
            </p:nvSpPr>
            <p:spPr>
              <a:xfrm>
                <a:off x="509450" y="3540034"/>
                <a:ext cx="10515600" cy="2608086"/>
              </a:xfrm>
              <a:prstGeom prst="rect">
                <a:avLst/>
              </a:prstGeom>
              <a:blipFill>
                <a:blip r:embed="rId2"/>
                <a:stretch>
                  <a:fillRect l="-522" r="-464"/>
                </a:stretch>
              </a:blipFill>
            </p:spPr>
            <p:txBody>
              <a:bodyPr/>
              <a:lstStyle/>
              <a:p>
                <a:r>
                  <a:rPr lang="fr-CA">
                    <a:noFill/>
                  </a:rPr>
                  <a:t> </a:t>
                </a:r>
              </a:p>
            </p:txBody>
          </p:sp>
        </mc:Fallback>
      </mc:AlternateContent>
      <p:pic>
        <p:nvPicPr>
          <p:cNvPr id="8" name="Image 7">
            <a:extLst>
              <a:ext uri="{FF2B5EF4-FFF2-40B4-BE49-F238E27FC236}">
                <a16:creationId xmlns:a16="http://schemas.microsoft.com/office/drawing/2014/main" id="{3AA7B002-0993-48FA-A589-24AE0CE76F75}"/>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3338512" y="2259284"/>
            <a:ext cx="5514975" cy="1457325"/>
          </a:xfrm>
          <a:prstGeom prst="rect">
            <a:avLst/>
          </a:prstGeom>
          <a:noFill/>
          <a:ln>
            <a:noFill/>
          </a:ln>
        </p:spPr>
      </p:pic>
    </p:spTree>
    <p:extLst>
      <p:ext uri="{BB962C8B-B14F-4D97-AF65-F5344CB8AC3E}">
        <p14:creationId xmlns:p14="http://schemas.microsoft.com/office/powerpoint/2010/main" val="31527709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A1DBD17-DF03-4D87-8C3D-2D0E2BED1C7B}"/>
              </a:ext>
            </a:extLst>
          </p:cNvPr>
          <p:cNvSpPr>
            <a:spLocks noGrp="1"/>
          </p:cNvSpPr>
          <p:nvPr>
            <p:ph type="title"/>
          </p:nvPr>
        </p:nvSpPr>
        <p:spPr>
          <a:xfrm>
            <a:off x="838199" y="261257"/>
            <a:ext cx="10944497" cy="1789612"/>
          </a:xfrm>
        </p:spPr>
        <p:txBody>
          <a:bodyPr>
            <a:normAutofit fontScale="90000"/>
          </a:bodyPr>
          <a:lstStyle/>
          <a:p>
            <a:r>
              <a:rPr lang="fr-CA" dirty="0"/>
              <a:t>Exemple2: Formule de Bayes avec une partition formée de 4 groupes. Avec un arbre des probabilités</a:t>
            </a:r>
          </a:p>
        </p:txBody>
      </p:sp>
      <p:sp>
        <p:nvSpPr>
          <p:cNvPr id="3" name="Espace réservé du pied de page 2">
            <a:extLst>
              <a:ext uri="{FF2B5EF4-FFF2-40B4-BE49-F238E27FC236}">
                <a16:creationId xmlns:a16="http://schemas.microsoft.com/office/drawing/2014/main" id="{B7D87C38-DBB9-4E91-AA61-FCE0ECAA0CFE}"/>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4E983484-FD70-4602-98BB-0153E5C753BA}"/>
              </a:ext>
            </a:extLst>
          </p:cNvPr>
          <p:cNvSpPr>
            <a:spLocks noGrp="1"/>
          </p:cNvSpPr>
          <p:nvPr>
            <p:ph type="sldNum" sz="quarter" idx="12"/>
          </p:nvPr>
        </p:nvSpPr>
        <p:spPr/>
        <p:txBody>
          <a:bodyPr/>
          <a:lstStyle/>
          <a:p>
            <a:fld id="{26377AD9-CE17-438C-A638-C64D2D42D7CF}" type="slidenum">
              <a:rPr lang="fr-CA" smtClean="0"/>
              <a:t>24</a:t>
            </a:fld>
            <a:endParaRPr lang="fr-CA"/>
          </a:p>
        </p:txBody>
      </p:sp>
      <p:sp>
        <p:nvSpPr>
          <p:cNvPr id="5" name="ZoneTexte 4">
            <a:extLst>
              <a:ext uri="{FF2B5EF4-FFF2-40B4-BE49-F238E27FC236}">
                <a16:creationId xmlns:a16="http://schemas.microsoft.com/office/drawing/2014/main" id="{1BF58DA6-D6C4-40D4-B337-748AA97CB0B0}"/>
              </a:ext>
            </a:extLst>
          </p:cNvPr>
          <p:cNvSpPr txBox="1"/>
          <p:nvPr/>
        </p:nvSpPr>
        <p:spPr>
          <a:xfrm>
            <a:off x="966651" y="1854926"/>
            <a:ext cx="10515600" cy="4467890"/>
          </a:xfrm>
          <a:prstGeom prst="rect">
            <a:avLst/>
          </a:prstGeom>
          <a:noFill/>
        </p:spPr>
        <p:txBody>
          <a:bodyPr wrap="square" rtlCol="0">
            <a:spAutoFit/>
          </a:bodyPr>
          <a:lstStyle/>
          <a:p>
            <a:pPr algn="l">
              <a:lnSpc>
                <a:spcPct val="150000"/>
              </a:lnSpc>
              <a:spcAft>
                <a:spcPts val="800"/>
              </a:spcAft>
            </a:pPr>
            <a:r>
              <a:rPr lang="fr-FR" sz="1800" dirty="0">
                <a:solidFill>
                  <a:srgbClr val="000000"/>
                </a:solidFill>
                <a:effectLst/>
                <a:latin typeface="Times New Roman" panose="02020603050405020304" pitchFamily="18" charset="0"/>
                <a:ea typeface="Times New Roman" panose="02020603050405020304" pitchFamily="18" charset="0"/>
              </a:rPr>
              <a:t>Soit une population d’enfants où la répartition de la couleur des cheveux du père est la suivante : 55 % des enfants ont un père aux cheveux châtains, 20 %, un père aux cheveux noirs, 15 %, un père aux cheveux blonds et 10 %, un père aux cheveux roux. Supposons par ailleurs que 25 % des enfants de pères aux cheveux châtains aient des cheveux blonds, que 5 % des enfants de pères aux cheveux noirs aient des cheveux blonds, que 65 % des enfants de pères aux cheveux blonds aient des cheveux blonds et que 10 % des enfants de pères aux cheveux roux aient des cheveux blonds.</a:t>
            </a:r>
            <a:endParaRPr lang="fr-CA" sz="1800" dirty="0">
              <a:solidFill>
                <a:srgbClr val="000000"/>
              </a:solidFill>
              <a:effectLst/>
              <a:latin typeface="Times New Roman" panose="02020603050405020304" pitchFamily="18" charset="0"/>
              <a:ea typeface="Times New Roman" panose="02020603050405020304" pitchFamily="18" charset="0"/>
            </a:endParaRPr>
          </a:p>
          <a:p>
            <a:pPr algn="l">
              <a:lnSpc>
                <a:spcPct val="150000"/>
              </a:lnSpc>
              <a:spcAft>
                <a:spcPts val="800"/>
              </a:spcAft>
            </a:pPr>
            <a:r>
              <a:rPr lang="fr-FR" sz="1800" dirty="0">
                <a:solidFill>
                  <a:srgbClr val="000000"/>
                </a:solidFill>
                <a:effectLst/>
                <a:latin typeface="Times New Roman" panose="02020603050405020304" pitchFamily="18" charset="0"/>
                <a:ea typeface="Times New Roman" panose="02020603050405020304" pitchFamily="18" charset="0"/>
              </a:rPr>
              <a:t>a)	Dressez un diagramme en arbre qui décrit la situation.</a:t>
            </a:r>
            <a:endParaRPr lang="fr-CA" sz="1800" dirty="0">
              <a:solidFill>
                <a:srgbClr val="000000"/>
              </a:solidFill>
              <a:effectLst/>
              <a:latin typeface="Times New Roman" panose="02020603050405020304" pitchFamily="18" charset="0"/>
              <a:ea typeface="Times New Roman" panose="02020603050405020304" pitchFamily="18" charset="0"/>
            </a:endParaRPr>
          </a:p>
          <a:p>
            <a:pPr algn="l">
              <a:lnSpc>
                <a:spcPct val="150000"/>
              </a:lnSpc>
              <a:spcAft>
                <a:spcPts val="600"/>
              </a:spcAft>
              <a:tabLst>
                <a:tab pos="101600" algn="l"/>
                <a:tab pos="152400" algn="l"/>
                <a:tab pos="449580" algn="l"/>
              </a:tabLst>
            </a:pPr>
            <a:r>
              <a:rPr lang="fr-FR" sz="1800" dirty="0">
                <a:solidFill>
                  <a:srgbClr val="000000"/>
                </a:solidFill>
                <a:effectLst/>
                <a:latin typeface="Times New Roman" panose="02020603050405020304" pitchFamily="18" charset="0"/>
                <a:ea typeface="Times New Roman" panose="02020603050405020304" pitchFamily="18" charset="0"/>
              </a:rPr>
              <a:t>b)	Quelle est la probabilité qu’un enfant choisi au hasard dans cette population ait des cheveux blonds ?</a:t>
            </a:r>
            <a:endParaRPr lang="fr-CA" sz="1800" dirty="0">
              <a:solidFill>
                <a:srgbClr val="000000"/>
              </a:solidFill>
              <a:effectLst/>
              <a:latin typeface="Times New Roman" panose="02020603050405020304" pitchFamily="18" charset="0"/>
              <a:ea typeface="Times New Roman" panose="02020603050405020304" pitchFamily="18" charset="0"/>
            </a:endParaRPr>
          </a:p>
          <a:p>
            <a:pPr algn="l">
              <a:lnSpc>
                <a:spcPct val="150000"/>
              </a:lnSpc>
              <a:spcAft>
                <a:spcPts val="600"/>
              </a:spcAft>
              <a:tabLst>
                <a:tab pos="101600" algn="l"/>
                <a:tab pos="152400" algn="l"/>
                <a:tab pos="449580" algn="l"/>
              </a:tabLst>
            </a:pPr>
            <a:r>
              <a:rPr lang="fr-FR" sz="1800" dirty="0">
                <a:solidFill>
                  <a:srgbClr val="000000"/>
                </a:solidFill>
                <a:effectLst/>
                <a:latin typeface="Times New Roman" panose="02020603050405020304" pitchFamily="18" charset="0"/>
                <a:ea typeface="Times New Roman" panose="02020603050405020304" pitchFamily="18" charset="0"/>
              </a:rPr>
              <a:t>c)	Quelle est la probabilité que le père soit blond sachant que l’enfant est blond ?</a:t>
            </a:r>
            <a:endParaRPr lang="fr-CA" sz="1800" dirty="0">
              <a:solidFill>
                <a:srgbClr val="000000"/>
              </a:solidFill>
              <a:effectLst/>
              <a:latin typeface="Times New Roman" panose="02020603050405020304" pitchFamily="18" charset="0"/>
              <a:ea typeface="Times New Roman" panose="02020603050405020304" pitchFamily="18" charset="0"/>
            </a:endParaRPr>
          </a:p>
          <a:p>
            <a:endParaRPr lang="fr-CA" dirty="0"/>
          </a:p>
        </p:txBody>
      </p:sp>
    </p:spTree>
    <p:extLst>
      <p:ext uri="{BB962C8B-B14F-4D97-AF65-F5344CB8AC3E}">
        <p14:creationId xmlns:p14="http://schemas.microsoft.com/office/powerpoint/2010/main" val="8930087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1707FC24-6981-43D9-B525-C7832BA22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36884" y="311449"/>
            <a:ext cx="4332307" cy="6179552"/>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7DA2FB73-B1A7-4201-93F4-DBBE574B23DF}"/>
              </a:ext>
            </a:extLst>
          </p:cNvPr>
          <p:cNvSpPr>
            <a:spLocks noGrp="1"/>
          </p:cNvSpPr>
          <p:nvPr>
            <p:ph type="title"/>
          </p:nvPr>
        </p:nvSpPr>
        <p:spPr>
          <a:xfrm>
            <a:off x="742950" y="742951"/>
            <a:ext cx="3476625" cy="4962524"/>
          </a:xfrm>
        </p:spPr>
        <p:txBody>
          <a:bodyPr>
            <a:normAutofit/>
          </a:bodyPr>
          <a:lstStyle/>
          <a:p>
            <a:pPr algn="ctr"/>
            <a:r>
              <a:rPr lang="fr-CA" sz="3000">
                <a:solidFill>
                  <a:srgbClr val="FFFFFF"/>
                </a:solidFill>
              </a:rPr>
              <a:t>Réponse: </a:t>
            </a:r>
            <a:r>
              <a:rPr lang="fr-FR" sz="3000">
                <a:solidFill>
                  <a:srgbClr val="FFFFFF"/>
                </a:solidFill>
                <a:effectLst/>
                <a:latin typeface="Times New Roman" panose="02020603050405020304" pitchFamily="18" charset="0"/>
                <a:ea typeface="Times New Roman" panose="02020603050405020304" pitchFamily="18" charset="0"/>
              </a:rPr>
              <a:t>Soit </a:t>
            </a:r>
            <a:r>
              <a:rPr lang="fr-FR" sz="3000" i="1">
                <a:solidFill>
                  <a:srgbClr val="FFFFFF"/>
                </a:solidFill>
                <a:effectLst/>
                <a:latin typeface="Times New Roman" panose="02020603050405020304" pitchFamily="18" charset="0"/>
                <a:ea typeface="Times New Roman" panose="02020603050405020304" pitchFamily="18" charset="0"/>
              </a:rPr>
              <a:t>C</a:t>
            </a:r>
            <a:r>
              <a:rPr lang="fr-FR" sz="3000">
                <a:solidFill>
                  <a:srgbClr val="FFFFFF"/>
                </a:solidFill>
                <a:effectLst/>
                <a:latin typeface="Times New Roman" panose="02020603050405020304" pitchFamily="18" charset="0"/>
                <a:ea typeface="Times New Roman" panose="02020603050405020304" pitchFamily="18" charset="0"/>
              </a:rPr>
              <a:t> : Le père a les cheveux châtains, </a:t>
            </a:r>
            <a:r>
              <a:rPr lang="fr-FR" sz="3000" i="1">
                <a:solidFill>
                  <a:srgbClr val="FFFFFF"/>
                </a:solidFill>
                <a:effectLst/>
                <a:latin typeface="Times New Roman" panose="02020603050405020304" pitchFamily="18" charset="0"/>
                <a:ea typeface="Times New Roman" panose="02020603050405020304" pitchFamily="18" charset="0"/>
              </a:rPr>
              <a:t>N</a:t>
            </a:r>
            <a:r>
              <a:rPr lang="fr-FR" sz="3000">
                <a:solidFill>
                  <a:srgbClr val="FFFFFF"/>
                </a:solidFill>
                <a:effectLst/>
                <a:latin typeface="Times New Roman" panose="02020603050405020304" pitchFamily="18" charset="0"/>
                <a:ea typeface="Times New Roman" panose="02020603050405020304" pitchFamily="18" charset="0"/>
              </a:rPr>
              <a:t> : Le père a les cheveux noirs, </a:t>
            </a:r>
            <a:r>
              <a:rPr lang="fr-FR" sz="3000" i="1">
                <a:solidFill>
                  <a:srgbClr val="FFFFFF"/>
                </a:solidFill>
                <a:effectLst/>
                <a:latin typeface="Times New Roman" panose="02020603050405020304" pitchFamily="18" charset="0"/>
                <a:ea typeface="Times New Roman" panose="02020603050405020304" pitchFamily="18" charset="0"/>
              </a:rPr>
              <a:t>B</a:t>
            </a:r>
            <a:r>
              <a:rPr lang="fr-FR" sz="3000">
                <a:solidFill>
                  <a:srgbClr val="FFFFFF"/>
                </a:solidFill>
                <a:effectLst/>
                <a:latin typeface="Times New Roman" panose="02020603050405020304" pitchFamily="18" charset="0"/>
                <a:ea typeface="Times New Roman" panose="02020603050405020304" pitchFamily="18" charset="0"/>
              </a:rPr>
              <a:t> : Le père a les cheveux blonds, </a:t>
            </a:r>
            <a:r>
              <a:rPr lang="fr-FR" sz="3000" i="1">
                <a:solidFill>
                  <a:srgbClr val="FFFFFF"/>
                </a:solidFill>
                <a:effectLst/>
                <a:latin typeface="Times New Roman" panose="02020603050405020304" pitchFamily="18" charset="0"/>
                <a:ea typeface="Times New Roman" panose="02020603050405020304" pitchFamily="18" charset="0"/>
              </a:rPr>
              <a:t>R</a:t>
            </a:r>
            <a:r>
              <a:rPr lang="fr-FR" sz="3000">
                <a:solidFill>
                  <a:srgbClr val="FFFFFF"/>
                </a:solidFill>
                <a:effectLst/>
                <a:latin typeface="Times New Roman" panose="02020603050405020304" pitchFamily="18" charset="0"/>
                <a:ea typeface="Times New Roman" panose="02020603050405020304" pitchFamily="18" charset="0"/>
              </a:rPr>
              <a:t> : Le père a les cheveux roux et </a:t>
            </a:r>
            <a:r>
              <a:rPr lang="fr-FR" sz="3000" i="1">
                <a:solidFill>
                  <a:srgbClr val="FFFFFF"/>
                </a:solidFill>
                <a:effectLst/>
                <a:latin typeface="Times New Roman" panose="02020603050405020304" pitchFamily="18" charset="0"/>
                <a:ea typeface="Times New Roman" panose="02020603050405020304" pitchFamily="18" charset="0"/>
              </a:rPr>
              <a:t>E</a:t>
            </a:r>
            <a:r>
              <a:rPr lang="fr-FR" sz="3000">
                <a:solidFill>
                  <a:srgbClr val="FFFFFF"/>
                </a:solidFill>
                <a:effectLst/>
                <a:latin typeface="Times New Roman" panose="02020603050405020304" pitchFamily="18" charset="0"/>
                <a:ea typeface="Times New Roman" panose="02020603050405020304" pitchFamily="18" charset="0"/>
              </a:rPr>
              <a:t> : L’enfant a les cheveux blonds.</a:t>
            </a:r>
            <a:br>
              <a:rPr lang="fr-CA" sz="3000">
                <a:solidFill>
                  <a:srgbClr val="FFFFFF"/>
                </a:solidFill>
                <a:effectLst/>
                <a:latin typeface="Times New Roman" panose="02020603050405020304" pitchFamily="18" charset="0"/>
                <a:ea typeface="Times New Roman" panose="02020603050405020304" pitchFamily="18" charset="0"/>
              </a:rPr>
            </a:br>
            <a:endParaRPr lang="fr-CA" sz="3000">
              <a:solidFill>
                <a:srgbClr val="FFFFFF"/>
              </a:solidFill>
            </a:endParaRPr>
          </a:p>
        </p:txBody>
      </p:sp>
      <p:pic>
        <p:nvPicPr>
          <p:cNvPr id="8" name="Image 7" descr="Une image contenant texte, carte&#10;&#10;Description générée automatiquement">
            <a:extLst>
              <a:ext uri="{FF2B5EF4-FFF2-40B4-BE49-F238E27FC236}">
                <a16:creationId xmlns:a16="http://schemas.microsoft.com/office/drawing/2014/main" id="{3437F2AA-5FF1-415B-B22A-6F36C7EEAF8C}"/>
              </a:ext>
            </a:extLst>
          </p:cNvPr>
          <p:cNvPicPr/>
          <p:nvPr/>
        </p:nvPicPr>
        <p:blipFill>
          <a:blip r:embed="rId3"/>
          <a:stretch>
            <a:fillRect/>
          </a:stretch>
        </p:blipFill>
        <p:spPr>
          <a:xfrm>
            <a:off x="5485814" y="492573"/>
            <a:ext cx="5889560" cy="5880796"/>
          </a:xfrm>
          <a:prstGeom prst="rect">
            <a:avLst/>
          </a:prstGeom>
        </p:spPr>
      </p:pic>
      <p:sp>
        <p:nvSpPr>
          <p:cNvPr id="3" name="Espace réservé du pied de page 2">
            <a:extLst>
              <a:ext uri="{FF2B5EF4-FFF2-40B4-BE49-F238E27FC236}">
                <a16:creationId xmlns:a16="http://schemas.microsoft.com/office/drawing/2014/main" id="{26A890A4-17FB-447D-B49D-D2BB28373710}"/>
              </a:ext>
            </a:extLst>
          </p:cNvPr>
          <p:cNvSpPr>
            <a:spLocks noGrp="1"/>
          </p:cNvSpPr>
          <p:nvPr>
            <p:ph type="ftr" sz="quarter" idx="11"/>
          </p:nvPr>
        </p:nvSpPr>
        <p:spPr>
          <a:xfrm>
            <a:off x="5144297" y="6423025"/>
            <a:ext cx="5618954" cy="365125"/>
          </a:xfrm>
        </p:spPr>
        <p:txBody>
          <a:bodyPr>
            <a:normAutofit/>
          </a:bodyPr>
          <a:lstStyle/>
          <a:p>
            <a:pPr algn="l"/>
            <a:endParaRPr lang="fr-CA"/>
          </a:p>
        </p:txBody>
      </p:sp>
      <p:sp>
        <p:nvSpPr>
          <p:cNvPr id="4" name="Espace réservé du numéro de diapositive 3">
            <a:extLst>
              <a:ext uri="{FF2B5EF4-FFF2-40B4-BE49-F238E27FC236}">
                <a16:creationId xmlns:a16="http://schemas.microsoft.com/office/drawing/2014/main" id="{7409AF29-7456-4A70-9B38-E34EE3BF02EC}"/>
              </a:ext>
            </a:extLst>
          </p:cNvPr>
          <p:cNvSpPr>
            <a:spLocks noGrp="1"/>
          </p:cNvSpPr>
          <p:nvPr>
            <p:ph type="sldNum" sz="quarter" idx="12"/>
          </p:nvPr>
        </p:nvSpPr>
        <p:spPr>
          <a:xfrm>
            <a:off x="10926317" y="6423025"/>
            <a:ext cx="771525" cy="365125"/>
          </a:xfrm>
        </p:spPr>
        <p:txBody>
          <a:bodyPr>
            <a:normAutofit/>
          </a:bodyPr>
          <a:lstStyle/>
          <a:p>
            <a:pPr>
              <a:spcAft>
                <a:spcPts val="600"/>
              </a:spcAft>
            </a:pPr>
            <a:fld id="{26377AD9-CE17-438C-A638-C64D2D42D7CF}" type="slidenum">
              <a:rPr lang="fr-CA" smtClean="0"/>
              <a:pPr>
                <a:spcAft>
                  <a:spcPts val="600"/>
                </a:spcAft>
              </a:pPr>
              <a:t>25</a:t>
            </a:fld>
            <a:endParaRPr lang="fr-CA"/>
          </a:p>
        </p:txBody>
      </p:sp>
      <p:sp>
        <p:nvSpPr>
          <p:cNvPr id="5" name="ZoneTexte 4">
            <a:extLst>
              <a:ext uri="{FF2B5EF4-FFF2-40B4-BE49-F238E27FC236}">
                <a16:creationId xmlns:a16="http://schemas.microsoft.com/office/drawing/2014/main" id="{A08BEA40-57B3-4496-BE02-F8D9011A23FE}"/>
              </a:ext>
            </a:extLst>
          </p:cNvPr>
          <p:cNvSpPr txBox="1"/>
          <p:nvPr/>
        </p:nvSpPr>
        <p:spPr>
          <a:xfrm>
            <a:off x="1018903" y="1763486"/>
            <a:ext cx="10334897" cy="4454434"/>
          </a:xfrm>
          <a:prstGeom prst="rect">
            <a:avLst/>
          </a:prstGeom>
          <a:noFill/>
        </p:spPr>
        <p:txBody>
          <a:bodyPr wrap="square" rtlCol="0">
            <a:spAutoFit/>
          </a:bodyPr>
          <a:lstStyle/>
          <a:p>
            <a:endParaRPr lang="fr-CA" dirty="0"/>
          </a:p>
        </p:txBody>
      </p:sp>
    </p:spTree>
    <p:extLst>
      <p:ext uri="{BB962C8B-B14F-4D97-AF65-F5344CB8AC3E}">
        <p14:creationId xmlns:p14="http://schemas.microsoft.com/office/powerpoint/2010/main" val="32226381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BC097AD-3116-44C6-B867-067BF1018D44}"/>
              </a:ext>
            </a:extLst>
          </p:cNvPr>
          <p:cNvSpPr>
            <a:spLocks noGrp="1"/>
          </p:cNvSpPr>
          <p:nvPr>
            <p:ph type="title"/>
          </p:nvPr>
        </p:nvSpPr>
        <p:spPr/>
        <p:txBody>
          <a:bodyPr/>
          <a:lstStyle/>
          <a:p>
            <a:r>
              <a:rPr lang="fr-CA" dirty="0"/>
              <a:t>Suite)</a:t>
            </a:r>
          </a:p>
        </p:txBody>
      </p:sp>
      <p:sp>
        <p:nvSpPr>
          <p:cNvPr id="3" name="Espace réservé du pied de page 2">
            <a:extLst>
              <a:ext uri="{FF2B5EF4-FFF2-40B4-BE49-F238E27FC236}">
                <a16:creationId xmlns:a16="http://schemas.microsoft.com/office/drawing/2014/main" id="{5FC44FF6-42C7-4CE1-A7A6-638B5FDD10B4}"/>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0B08A297-B4B5-4C7D-94B7-575EFE9E8E17}"/>
              </a:ext>
            </a:extLst>
          </p:cNvPr>
          <p:cNvSpPr>
            <a:spLocks noGrp="1"/>
          </p:cNvSpPr>
          <p:nvPr>
            <p:ph type="sldNum" sz="quarter" idx="12"/>
          </p:nvPr>
        </p:nvSpPr>
        <p:spPr/>
        <p:txBody>
          <a:bodyPr/>
          <a:lstStyle/>
          <a:p>
            <a:fld id="{26377AD9-CE17-438C-A638-C64D2D42D7CF}" type="slidenum">
              <a:rPr lang="fr-CA" smtClean="0"/>
              <a:t>26</a:t>
            </a:fld>
            <a:endParaRPr lang="fr-CA"/>
          </a:p>
        </p:txBody>
      </p: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63385AD5-935C-4E60-92AC-99A05CDB0F19}"/>
                  </a:ext>
                </a:extLst>
              </p:cNvPr>
              <p:cNvSpPr txBox="1"/>
              <p:nvPr/>
            </p:nvSpPr>
            <p:spPr>
              <a:xfrm>
                <a:off x="1097280" y="2377440"/>
                <a:ext cx="10256520" cy="3439083"/>
              </a:xfrm>
              <a:prstGeom prst="rect">
                <a:avLst/>
              </a:prstGeom>
              <a:noFill/>
            </p:spPr>
            <p:txBody>
              <a:bodyPr wrap="square" rtlCol="0">
                <a:spAutoFit/>
              </a:bodyPr>
              <a:lstStyle/>
              <a:p>
                <a:r>
                  <a:rPr lang="fr-CA" dirty="0"/>
                  <a:t>b) </a:t>
                </a:r>
                <a:r>
                  <a:rPr lang="fr-FR" sz="1800" dirty="0">
                    <a:solidFill>
                      <a:srgbClr val="000000"/>
                    </a:solidFill>
                    <a:effectLst/>
                    <a:latin typeface="Times New Roman" panose="02020603050405020304" pitchFamily="18" charset="0"/>
                    <a:ea typeface="Times New Roman" panose="02020603050405020304" pitchFamily="18" charset="0"/>
                  </a:rPr>
                  <a:t>lorsqu’on utilise l’arbre des probabilités, simplement faire la somme des probabilités des feuilles de l’arbre qui finissent par E, ce qui donne  </a:t>
                </a:r>
                <a14:m>
                  <m:oMath xmlns:m="http://schemas.openxmlformats.org/officeDocument/2006/math">
                    <m:r>
                      <a:rPr lang="fr-CA" sz="1800" b="0" i="1" smtClean="0">
                        <a:solidFill>
                          <a:srgbClr val="000000"/>
                        </a:solidFill>
                        <a:effectLst/>
                        <a:latin typeface="Cambria Math" panose="02040503050406030204" pitchFamily="18" charset="0"/>
                        <a:ea typeface="Times New Roman" panose="02020603050405020304" pitchFamily="18" charset="0"/>
                      </a:rPr>
                      <m:t>𝑃</m:t>
                    </m:r>
                    <m:d>
                      <m:dPr>
                        <m:ctrlPr>
                          <a:rPr lang="fr-CA" sz="1800" b="0" i="1" smtClean="0">
                            <a:solidFill>
                              <a:srgbClr val="000000"/>
                            </a:solidFill>
                            <a:effectLst/>
                            <a:latin typeface="Cambria Math" panose="02040503050406030204" pitchFamily="18" charset="0"/>
                            <a:ea typeface="Times New Roman" panose="02020603050405020304" pitchFamily="18" charset="0"/>
                          </a:rPr>
                        </m:ctrlPr>
                      </m:dPr>
                      <m:e>
                        <m:r>
                          <a:rPr lang="fr-CA" sz="1800" b="0" i="1" smtClean="0">
                            <a:solidFill>
                              <a:srgbClr val="000000"/>
                            </a:solidFill>
                            <a:effectLst/>
                            <a:latin typeface="Cambria Math" panose="02040503050406030204" pitchFamily="18" charset="0"/>
                            <a:ea typeface="Times New Roman" panose="02020603050405020304" pitchFamily="18" charset="0"/>
                          </a:rPr>
                          <m:t>𝐸</m:t>
                        </m:r>
                      </m:e>
                    </m:d>
                    <m:r>
                      <a:rPr lang="fr-CA" sz="1800" b="0" i="1" smtClean="0">
                        <a:solidFill>
                          <a:srgbClr val="000000"/>
                        </a:solidFill>
                        <a:effectLst/>
                        <a:latin typeface="Cambria Math" panose="02040503050406030204" pitchFamily="18" charset="0"/>
                        <a:ea typeface="Times New Roman" panose="02020603050405020304" pitchFamily="18" charset="0"/>
                      </a:rPr>
                      <m:t>=0,255</m:t>
                    </m:r>
                  </m:oMath>
                </a14:m>
                <a:endParaRPr lang="fr-CA" sz="1800" dirty="0">
                  <a:solidFill>
                    <a:srgbClr val="000000"/>
                  </a:solidFill>
                  <a:effectLst/>
                  <a:latin typeface="Times New Roman" panose="02020603050405020304" pitchFamily="18" charset="0"/>
                  <a:ea typeface="Times New Roman" panose="02020603050405020304" pitchFamily="18" charset="0"/>
                </a:endParaRPr>
              </a:p>
              <a:p>
                <a:endParaRPr lang="fr-CA" dirty="0">
                  <a:solidFill>
                    <a:srgbClr val="000000"/>
                  </a:solidFill>
                  <a:latin typeface="Times New Roman" panose="02020603050405020304" pitchFamily="18" charset="0"/>
                  <a:ea typeface="Times New Roman" panose="02020603050405020304" pitchFamily="18" charset="0"/>
                </a:endParaRPr>
              </a:p>
              <a:p>
                <a:r>
                  <a:rPr lang="fr-CA" sz="1800" dirty="0">
                    <a:solidFill>
                      <a:srgbClr val="000000"/>
                    </a:solidFill>
                    <a:effectLst/>
                    <a:latin typeface="Times New Roman" panose="02020603050405020304" pitchFamily="18" charset="0"/>
                    <a:ea typeface="Times New Roman" panose="02020603050405020304" pitchFamily="18" charset="0"/>
                  </a:rPr>
                  <a:t>c) </a:t>
                </a:r>
                <a:r>
                  <a:rPr lang="fr-CA" sz="1800" dirty="0">
                    <a:effectLst/>
                    <a:latin typeface="Calibri" panose="020F0502020204030204" pitchFamily="34" charset="0"/>
                    <a:ea typeface="Calibri" panose="020F0502020204030204" pitchFamily="34" charset="0"/>
                    <a:cs typeface="Times New Roman" panose="02020603050405020304" pitchFamily="18" charset="0"/>
                  </a:rPr>
                  <a:t>La probabilité que le père soit blond sachant que l’enfant est blond est :</a:t>
                </a:r>
                <a:endParaRPr lang="fr-CA"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p>
                <a:endParaRPr lang="fr-CA"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a:rPr lang="fr-CA" sz="1800" b="0" i="1" smtClean="0">
                          <a:solidFill>
                            <a:srgbClr val="000000"/>
                          </a:solidFill>
                          <a:effectLst/>
                          <a:latin typeface="Cambria Math" panose="02040503050406030204" pitchFamily="18" charset="0"/>
                          <a:ea typeface="Times New Roman" panose="02020603050405020304" pitchFamily="18" charset="0"/>
                        </a:rPr>
                        <m:t>𝑃</m:t>
                      </m:r>
                      <m:d>
                        <m:dPr>
                          <m:ctrlPr>
                            <a:rPr lang="fr-CA" sz="1800" b="0" i="1" smtClean="0">
                              <a:solidFill>
                                <a:srgbClr val="000000"/>
                              </a:solidFill>
                              <a:effectLst/>
                              <a:latin typeface="Cambria Math" panose="02040503050406030204" pitchFamily="18" charset="0"/>
                              <a:ea typeface="Times New Roman" panose="02020603050405020304" pitchFamily="18" charset="0"/>
                            </a:rPr>
                          </m:ctrlPr>
                        </m:dPr>
                        <m:e>
                          <m:r>
                            <a:rPr lang="fr-CA" sz="1800" b="0" i="1" smtClean="0">
                              <a:solidFill>
                                <a:srgbClr val="000000"/>
                              </a:solidFill>
                              <a:effectLst/>
                              <a:latin typeface="Cambria Math" panose="02040503050406030204" pitchFamily="18" charset="0"/>
                              <a:ea typeface="Times New Roman" panose="02020603050405020304" pitchFamily="18" charset="0"/>
                            </a:rPr>
                            <m:t>𝐵</m:t>
                          </m:r>
                        </m:e>
                        <m:e>
                          <m:r>
                            <a:rPr lang="fr-CA" sz="1800" b="0" i="1" smtClean="0">
                              <a:solidFill>
                                <a:srgbClr val="000000"/>
                              </a:solidFill>
                              <a:effectLst/>
                              <a:latin typeface="Cambria Math" panose="02040503050406030204" pitchFamily="18" charset="0"/>
                              <a:ea typeface="Times New Roman" panose="02020603050405020304" pitchFamily="18" charset="0"/>
                            </a:rPr>
                            <m:t>𝐸</m:t>
                          </m:r>
                        </m:e>
                      </m:d>
                      <m:r>
                        <a:rPr lang="fr-CA" sz="1800" b="0" i="1" smtClean="0">
                          <a:solidFill>
                            <a:srgbClr val="000000"/>
                          </a:solidFill>
                          <a:effectLst/>
                          <a:latin typeface="Cambria Math" panose="02040503050406030204" pitchFamily="18" charset="0"/>
                          <a:ea typeface="Times New Roman" panose="02020603050405020304" pitchFamily="18" charset="0"/>
                        </a:rPr>
                        <m:t>=</m:t>
                      </m:r>
                      <m:f>
                        <m:fPr>
                          <m:ctrlPr>
                            <a:rPr lang="fr-CA" sz="1800" b="0" i="1" smtClean="0">
                              <a:solidFill>
                                <a:srgbClr val="000000"/>
                              </a:solidFill>
                              <a:effectLst/>
                              <a:latin typeface="Cambria Math" panose="02040503050406030204" pitchFamily="18" charset="0"/>
                            </a:rPr>
                          </m:ctrlPr>
                        </m:fPr>
                        <m:num>
                          <m:r>
                            <a:rPr lang="fr-CA" sz="1800" b="0" i="1" smtClean="0">
                              <a:solidFill>
                                <a:srgbClr val="000000"/>
                              </a:solidFill>
                              <a:effectLst/>
                              <a:latin typeface="Cambria Math" panose="02040503050406030204" pitchFamily="18" charset="0"/>
                            </a:rPr>
                            <m:t>𝑃</m:t>
                          </m:r>
                          <m:r>
                            <a:rPr lang="fr-CA" sz="1800" b="0" i="1" smtClean="0">
                              <a:solidFill>
                                <a:srgbClr val="000000"/>
                              </a:solidFill>
                              <a:effectLst/>
                              <a:latin typeface="Cambria Math" panose="02040503050406030204" pitchFamily="18" charset="0"/>
                            </a:rPr>
                            <m:t>(</m:t>
                          </m:r>
                          <m:r>
                            <a:rPr lang="fr-CA" sz="1800" b="0" i="1" smtClean="0">
                              <a:solidFill>
                                <a:srgbClr val="000000"/>
                              </a:solidFill>
                              <a:effectLst/>
                              <a:latin typeface="Cambria Math" panose="02040503050406030204" pitchFamily="18" charset="0"/>
                            </a:rPr>
                            <m:t>𝐵</m:t>
                          </m:r>
                          <m:r>
                            <a:rPr lang="fr-CA" sz="1800" b="0" i="1" smtClean="0">
                              <a:solidFill>
                                <a:srgbClr val="000000"/>
                              </a:solidFill>
                              <a:effectLst/>
                              <a:latin typeface="Cambria Math" panose="02040503050406030204" pitchFamily="18" charset="0"/>
                              <a:ea typeface="Cambria Math" panose="02040503050406030204" pitchFamily="18" charset="0"/>
                            </a:rPr>
                            <m:t>∩</m:t>
                          </m:r>
                          <m:r>
                            <a:rPr lang="fr-CA" sz="1800" b="0" i="1" smtClean="0">
                              <a:solidFill>
                                <a:srgbClr val="000000"/>
                              </a:solidFill>
                              <a:effectLst/>
                              <a:latin typeface="Cambria Math" panose="02040503050406030204" pitchFamily="18" charset="0"/>
                              <a:ea typeface="Cambria Math" panose="02040503050406030204" pitchFamily="18" charset="0"/>
                            </a:rPr>
                            <m:t>𝐸</m:t>
                          </m:r>
                          <m:r>
                            <a:rPr lang="fr-CA" sz="1800" b="0" i="1" smtClean="0">
                              <a:solidFill>
                                <a:srgbClr val="000000"/>
                              </a:solidFill>
                              <a:effectLst/>
                              <a:latin typeface="Cambria Math" panose="02040503050406030204" pitchFamily="18" charset="0"/>
                              <a:ea typeface="Cambria Math" panose="02040503050406030204" pitchFamily="18" charset="0"/>
                            </a:rPr>
                            <m:t>)</m:t>
                          </m:r>
                        </m:num>
                        <m:den>
                          <m:r>
                            <a:rPr lang="fr-CA" sz="1800" b="0" i="1" smtClean="0">
                              <a:solidFill>
                                <a:srgbClr val="000000"/>
                              </a:solidFill>
                              <a:effectLst/>
                              <a:latin typeface="Cambria Math" panose="02040503050406030204" pitchFamily="18" charset="0"/>
                            </a:rPr>
                            <m:t>𝑃</m:t>
                          </m:r>
                          <m:r>
                            <a:rPr lang="fr-CA" sz="1800" b="0" i="1" smtClean="0">
                              <a:solidFill>
                                <a:srgbClr val="000000"/>
                              </a:solidFill>
                              <a:effectLst/>
                              <a:latin typeface="Cambria Math" panose="02040503050406030204" pitchFamily="18" charset="0"/>
                            </a:rPr>
                            <m:t>(</m:t>
                          </m:r>
                          <m:r>
                            <a:rPr lang="fr-CA" sz="1800" b="0" i="1" smtClean="0">
                              <a:solidFill>
                                <a:srgbClr val="000000"/>
                              </a:solidFill>
                              <a:effectLst/>
                              <a:latin typeface="Cambria Math" panose="02040503050406030204" pitchFamily="18" charset="0"/>
                            </a:rPr>
                            <m:t>𝐸</m:t>
                          </m:r>
                          <m:r>
                            <a:rPr lang="fr-CA" sz="1800" b="0" i="1" smtClean="0">
                              <a:solidFill>
                                <a:srgbClr val="000000"/>
                              </a:solidFill>
                              <a:effectLst/>
                              <a:latin typeface="Cambria Math" panose="02040503050406030204" pitchFamily="18" charset="0"/>
                            </a:rPr>
                            <m:t>)</m:t>
                          </m:r>
                        </m:den>
                      </m:f>
                      <m:r>
                        <a:rPr lang="fr-CA" sz="1800" b="0" i="1" smtClean="0">
                          <a:solidFill>
                            <a:srgbClr val="000000"/>
                          </a:solidFill>
                          <a:effectLst/>
                          <a:latin typeface="Cambria Math" panose="02040503050406030204" pitchFamily="18" charset="0"/>
                        </a:rPr>
                        <m:t>=</m:t>
                      </m:r>
                      <m:f>
                        <m:fPr>
                          <m:ctrlPr>
                            <a:rPr lang="fr-CA" sz="1800" b="0" i="1" smtClean="0">
                              <a:solidFill>
                                <a:srgbClr val="000000"/>
                              </a:solidFill>
                              <a:effectLst/>
                              <a:latin typeface="Cambria Math" panose="02040503050406030204" pitchFamily="18" charset="0"/>
                            </a:rPr>
                          </m:ctrlPr>
                        </m:fPr>
                        <m:num>
                          <m:r>
                            <a:rPr lang="fr-CA" sz="1800" b="0" i="1" smtClean="0">
                              <a:solidFill>
                                <a:srgbClr val="000000"/>
                              </a:solidFill>
                              <a:effectLst/>
                              <a:latin typeface="Cambria Math" panose="02040503050406030204" pitchFamily="18" charset="0"/>
                            </a:rPr>
                            <m:t>0,0975</m:t>
                          </m:r>
                        </m:num>
                        <m:den>
                          <m:r>
                            <a:rPr lang="fr-CA" sz="1800" b="0" i="1" smtClean="0">
                              <a:solidFill>
                                <a:srgbClr val="000000"/>
                              </a:solidFill>
                              <a:effectLst/>
                              <a:latin typeface="Cambria Math" panose="02040503050406030204" pitchFamily="18" charset="0"/>
                            </a:rPr>
                            <m:t>0,255</m:t>
                          </m:r>
                        </m:den>
                      </m:f>
                      <m:r>
                        <a:rPr lang="fr-CA" sz="1800" b="0" i="1" smtClean="0">
                          <a:solidFill>
                            <a:srgbClr val="000000"/>
                          </a:solidFill>
                          <a:effectLst/>
                          <a:latin typeface="Cambria Math" panose="02040503050406030204" pitchFamily="18" charset="0"/>
                        </a:rPr>
                        <m:t>=0,3824</m:t>
                      </m:r>
                    </m:oMath>
                  </m:oMathPara>
                </a14:m>
                <a:endParaRPr lang="fr-CA" sz="1800" dirty="0">
                  <a:solidFill>
                    <a:srgbClr val="000000"/>
                  </a:solidFill>
                  <a:effectLst/>
                  <a:latin typeface="Times New Roman" panose="02020603050405020304" pitchFamily="18" charset="0"/>
                  <a:ea typeface="Times New Roman" panose="02020603050405020304" pitchFamily="18" charset="0"/>
                </a:endParaRPr>
              </a:p>
              <a:p>
                <a:endParaRPr lang="fr-CA" dirty="0">
                  <a:solidFill>
                    <a:srgbClr val="000000"/>
                  </a:solidFill>
                  <a:latin typeface="Times New Roman" panose="02020603050405020304" pitchFamily="18" charset="0"/>
                  <a:ea typeface="Times New Roman" panose="02020603050405020304" pitchFamily="18" charset="0"/>
                </a:endParaRPr>
              </a:p>
              <a:p>
                <a:r>
                  <a:rPr lang="fr-FR" sz="1800" dirty="0">
                    <a:solidFill>
                      <a:srgbClr val="000000"/>
                    </a:solidFill>
                    <a:effectLst/>
                    <a:latin typeface="Times New Roman" panose="02020603050405020304" pitchFamily="18" charset="0"/>
                    <a:ea typeface="Times New Roman" panose="02020603050405020304" pitchFamily="18" charset="0"/>
                  </a:rPr>
                  <a:t>Valeur qu’on peut obtenir directement de l’arbre des probabilités, en divisant la probabilité de passer par le chemin B et E par la probabilité de E.</a:t>
                </a:r>
                <a:endParaRPr lang="fr-CA" sz="1800" dirty="0">
                  <a:solidFill>
                    <a:srgbClr val="000000"/>
                  </a:solidFill>
                  <a:effectLst/>
                  <a:latin typeface="Times New Roman" panose="02020603050405020304" pitchFamily="18" charset="0"/>
                  <a:ea typeface="Times New Roman" panose="02020603050405020304" pitchFamily="18" charset="0"/>
                </a:endParaRPr>
              </a:p>
              <a:p>
                <a:endParaRPr lang="fr-CA" sz="1800" dirty="0">
                  <a:solidFill>
                    <a:srgbClr val="000000"/>
                  </a:solidFill>
                  <a:effectLst/>
                  <a:latin typeface="Times New Roman" panose="02020603050405020304" pitchFamily="18" charset="0"/>
                  <a:ea typeface="Times New Roman" panose="02020603050405020304" pitchFamily="18" charset="0"/>
                </a:endParaRPr>
              </a:p>
              <a:p>
                <a:endParaRPr lang="fr-CA" dirty="0"/>
              </a:p>
            </p:txBody>
          </p:sp>
        </mc:Choice>
        <mc:Fallback xmlns="">
          <p:sp>
            <p:nvSpPr>
              <p:cNvPr id="5" name="ZoneTexte 4">
                <a:extLst>
                  <a:ext uri="{FF2B5EF4-FFF2-40B4-BE49-F238E27FC236}">
                    <a16:creationId xmlns:a16="http://schemas.microsoft.com/office/drawing/2014/main" id="{63385AD5-935C-4E60-92AC-99A05CDB0F19}"/>
                  </a:ext>
                </a:extLst>
              </p:cNvPr>
              <p:cNvSpPr txBox="1">
                <a:spLocks noRot="1" noChangeAspect="1" noMove="1" noResize="1" noEditPoints="1" noAdjustHandles="1" noChangeArrowheads="1" noChangeShapeType="1" noTextEdit="1"/>
              </p:cNvSpPr>
              <p:nvPr/>
            </p:nvSpPr>
            <p:spPr>
              <a:xfrm>
                <a:off x="1097280" y="2377440"/>
                <a:ext cx="10256520" cy="3439083"/>
              </a:xfrm>
              <a:prstGeom prst="rect">
                <a:avLst/>
              </a:prstGeom>
              <a:blipFill>
                <a:blip r:embed="rId2"/>
                <a:stretch>
                  <a:fillRect l="-475" t="-1064" r="-535"/>
                </a:stretch>
              </a:blipFill>
            </p:spPr>
            <p:txBody>
              <a:bodyPr/>
              <a:lstStyle/>
              <a:p>
                <a:r>
                  <a:rPr lang="fr-CA">
                    <a:noFill/>
                  </a:rPr>
                  <a:t> </a:t>
                </a:r>
              </a:p>
            </p:txBody>
          </p:sp>
        </mc:Fallback>
      </mc:AlternateContent>
      <p:sp>
        <p:nvSpPr>
          <p:cNvPr id="6" name="Rectangle 2">
            <a:extLst>
              <a:ext uri="{FF2B5EF4-FFF2-40B4-BE49-F238E27FC236}">
                <a16:creationId xmlns:a16="http://schemas.microsoft.com/office/drawing/2014/main" id="{55ECAA25-0106-4BE2-A540-A5C7C971483E}"/>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CA"/>
          </a:p>
        </p:txBody>
      </p:sp>
    </p:spTree>
    <p:extLst>
      <p:ext uri="{BB962C8B-B14F-4D97-AF65-F5344CB8AC3E}">
        <p14:creationId xmlns:p14="http://schemas.microsoft.com/office/powerpoint/2010/main" val="421910538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81AEB8A9-B768-4E30-BA55-D919E66873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01" y="-2"/>
            <a:ext cx="4069936" cy="685800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B5C31189-1928-4F21-8919-5B8885CBC89D}"/>
              </a:ext>
            </a:extLst>
          </p:cNvPr>
          <p:cNvSpPr>
            <a:spLocks noGrp="1"/>
          </p:cNvSpPr>
          <p:nvPr>
            <p:ph type="title"/>
          </p:nvPr>
        </p:nvSpPr>
        <p:spPr>
          <a:xfrm>
            <a:off x="643467" y="640080"/>
            <a:ext cx="3096427" cy="5613236"/>
          </a:xfrm>
        </p:spPr>
        <p:txBody>
          <a:bodyPr vert="horz" lIns="91440" tIns="45720" rIns="91440" bIns="45720" rtlCol="0" anchor="ctr">
            <a:normAutofit/>
          </a:bodyPr>
          <a:lstStyle/>
          <a:p>
            <a:pPr>
              <a:spcAft>
                <a:spcPts val="800"/>
              </a:spcAft>
            </a:pPr>
            <a:r>
              <a:rPr lang="en-US" sz="1800" kern="1200">
                <a:solidFill>
                  <a:srgbClr val="FFFFFF"/>
                </a:solidFill>
                <a:latin typeface="+mj-lt"/>
                <a:ea typeface="+mj-ea"/>
                <a:cs typeface="+mj-cs"/>
              </a:rPr>
              <a:t>Exemple 3: </a:t>
            </a:r>
            <a:r>
              <a:rPr lang="en-US" sz="1800" kern="1200">
                <a:solidFill>
                  <a:srgbClr val="FFFFFF"/>
                </a:solidFill>
                <a:effectLst/>
                <a:latin typeface="+mj-lt"/>
                <a:ea typeface="+mj-ea"/>
                <a:cs typeface="+mj-cs"/>
              </a:rPr>
              <a:t>Dans une usine, trois ouvriers assemblent toutes les pièces fabriquées </a:t>
            </a:r>
            <a:r>
              <a:rPr lang="en-US" sz="1800" i="1" kern="1200">
                <a:solidFill>
                  <a:srgbClr val="FFFFFF"/>
                </a:solidFill>
                <a:effectLst/>
                <a:latin typeface="+mj-lt"/>
                <a:ea typeface="+mj-ea"/>
                <a:cs typeface="+mj-cs"/>
              </a:rPr>
              <a:t>S</a:t>
            </a:r>
            <a:r>
              <a:rPr lang="en-US" sz="1800" kern="1200">
                <a:solidFill>
                  <a:srgbClr val="FFFFFF"/>
                </a:solidFill>
                <a:effectLst/>
                <a:latin typeface="+mj-lt"/>
                <a:ea typeface="+mj-ea"/>
                <a:cs typeface="+mj-cs"/>
              </a:rPr>
              <a:t> (chaque pièce n’est assemblée que par un seul ouvrier). Soit les événements suivants (</a:t>
            </a:r>
            <a:r>
              <a:rPr lang="en-US" sz="1800" i="1" kern="1200">
                <a:solidFill>
                  <a:srgbClr val="FFFFFF"/>
                </a:solidFill>
                <a:effectLst/>
                <a:latin typeface="+mj-lt"/>
                <a:ea typeface="+mj-ea"/>
                <a:cs typeface="+mj-cs"/>
              </a:rPr>
              <a:t>voir le diagramme de Venn</a:t>
            </a:r>
            <a:r>
              <a:rPr lang="en-US" sz="1800" kern="1200">
                <a:solidFill>
                  <a:srgbClr val="FFFFFF"/>
                </a:solidFill>
                <a:effectLst/>
                <a:latin typeface="+mj-lt"/>
                <a:ea typeface="+mj-ea"/>
                <a:cs typeface="+mj-cs"/>
              </a:rPr>
              <a:t>) :</a:t>
            </a:r>
            <a:br>
              <a:rPr lang="en-US" sz="1800" kern="1200">
                <a:solidFill>
                  <a:srgbClr val="FFFFFF"/>
                </a:solidFill>
                <a:effectLst/>
                <a:latin typeface="+mj-lt"/>
                <a:ea typeface="+mj-ea"/>
                <a:cs typeface="+mj-cs"/>
              </a:rPr>
            </a:br>
            <a:r>
              <a:rPr lang="en-US" sz="1800" kern="1200">
                <a:solidFill>
                  <a:srgbClr val="FFFFFF"/>
                </a:solidFill>
                <a:effectLst/>
                <a:latin typeface="+mj-lt"/>
                <a:ea typeface="+mj-ea"/>
                <a:cs typeface="+mj-cs"/>
              </a:rPr>
              <a:t>•	</a:t>
            </a:r>
            <a:r>
              <a:rPr lang="en-US" sz="1800" i="1" kern="1200">
                <a:solidFill>
                  <a:srgbClr val="FFFFFF"/>
                </a:solidFill>
                <a:effectLst/>
                <a:latin typeface="+mj-lt"/>
                <a:ea typeface="+mj-ea"/>
                <a:cs typeface="+mj-cs"/>
              </a:rPr>
              <a:t>A</a:t>
            </a:r>
            <a:r>
              <a:rPr lang="en-US" sz="1800" kern="1200">
                <a:solidFill>
                  <a:srgbClr val="FFFFFF"/>
                </a:solidFill>
                <a:effectLst/>
                <a:latin typeface="+mj-lt"/>
                <a:ea typeface="+mj-ea"/>
                <a:cs typeface="+mj-cs"/>
              </a:rPr>
              <a:t> : Les pièces sont assemblées par le 1</a:t>
            </a:r>
            <a:r>
              <a:rPr lang="en-US" sz="1800" kern="1200" baseline="30000">
                <a:solidFill>
                  <a:srgbClr val="FFFFFF"/>
                </a:solidFill>
                <a:effectLst/>
                <a:latin typeface="+mj-lt"/>
                <a:ea typeface="+mj-ea"/>
                <a:cs typeface="+mj-cs"/>
              </a:rPr>
              <a:t>er</a:t>
            </a:r>
            <a:r>
              <a:rPr lang="en-US" sz="1800" kern="1200">
                <a:solidFill>
                  <a:srgbClr val="FFFFFF"/>
                </a:solidFill>
                <a:effectLst/>
                <a:latin typeface="+mj-lt"/>
                <a:ea typeface="+mj-ea"/>
                <a:cs typeface="+mj-cs"/>
              </a:rPr>
              <a:t> ouvrier ;</a:t>
            </a:r>
            <a:br>
              <a:rPr lang="en-US" sz="1800" kern="1200">
                <a:solidFill>
                  <a:srgbClr val="FFFFFF"/>
                </a:solidFill>
                <a:effectLst/>
                <a:latin typeface="+mj-lt"/>
                <a:ea typeface="+mj-ea"/>
                <a:cs typeface="+mj-cs"/>
              </a:rPr>
            </a:br>
            <a:r>
              <a:rPr lang="en-US" sz="1800" kern="1200">
                <a:solidFill>
                  <a:srgbClr val="FFFFFF"/>
                </a:solidFill>
                <a:effectLst/>
                <a:latin typeface="+mj-lt"/>
                <a:ea typeface="+mj-ea"/>
                <a:cs typeface="+mj-cs"/>
              </a:rPr>
              <a:t>•	</a:t>
            </a:r>
            <a:r>
              <a:rPr lang="en-US" sz="1800" i="1" kern="1200">
                <a:solidFill>
                  <a:srgbClr val="FFFFFF"/>
                </a:solidFill>
                <a:effectLst/>
                <a:latin typeface="+mj-lt"/>
                <a:ea typeface="+mj-ea"/>
                <a:cs typeface="+mj-cs"/>
              </a:rPr>
              <a:t>B :</a:t>
            </a:r>
            <a:r>
              <a:rPr lang="en-US" sz="1800" kern="1200">
                <a:solidFill>
                  <a:srgbClr val="FFFFFF"/>
                </a:solidFill>
                <a:effectLst/>
                <a:latin typeface="+mj-lt"/>
                <a:ea typeface="+mj-ea"/>
                <a:cs typeface="+mj-cs"/>
              </a:rPr>
              <a:t> Les pièces sont assemblées par le 2</a:t>
            </a:r>
            <a:r>
              <a:rPr lang="en-US" sz="1800" kern="1200" baseline="30000">
                <a:solidFill>
                  <a:srgbClr val="FFFFFF"/>
                </a:solidFill>
                <a:effectLst/>
                <a:latin typeface="+mj-lt"/>
                <a:ea typeface="+mj-ea"/>
                <a:cs typeface="+mj-cs"/>
              </a:rPr>
              <a:t>e</a:t>
            </a:r>
            <a:r>
              <a:rPr lang="en-US" sz="1800" kern="1200">
                <a:solidFill>
                  <a:srgbClr val="FFFFFF"/>
                </a:solidFill>
                <a:effectLst/>
                <a:latin typeface="+mj-lt"/>
                <a:ea typeface="+mj-ea"/>
                <a:cs typeface="+mj-cs"/>
              </a:rPr>
              <a:t> ouvrier ;</a:t>
            </a:r>
            <a:br>
              <a:rPr lang="en-US" sz="1800" kern="1200">
                <a:solidFill>
                  <a:srgbClr val="FFFFFF"/>
                </a:solidFill>
                <a:effectLst/>
                <a:latin typeface="+mj-lt"/>
                <a:ea typeface="+mj-ea"/>
                <a:cs typeface="+mj-cs"/>
              </a:rPr>
            </a:br>
            <a:r>
              <a:rPr lang="en-US" sz="1800" kern="1200">
                <a:solidFill>
                  <a:srgbClr val="FFFFFF"/>
                </a:solidFill>
                <a:effectLst/>
                <a:latin typeface="+mj-lt"/>
                <a:ea typeface="+mj-ea"/>
                <a:cs typeface="+mj-cs"/>
              </a:rPr>
              <a:t>•	</a:t>
            </a:r>
            <a:r>
              <a:rPr lang="en-US" sz="1800" i="1" kern="1200">
                <a:solidFill>
                  <a:srgbClr val="FFFFFF"/>
                </a:solidFill>
                <a:effectLst/>
                <a:latin typeface="+mj-lt"/>
                <a:ea typeface="+mj-ea"/>
                <a:cs typeface="+mj-cs"/>
              </a:rPr>
              <a:t>C :</a:t>
            </a:r>
            <a:r>
              <a:rPr lang="en-US" sz="1800" kern="1200">
                <a:solidFill>
                  <a:srgbClr val="FFFFFF"/>
                </a:solidFill>
                <a:effectLst/>
                <a:latin typeface="+mj-lt"/>
                <a:ea typeface="+mj-ea"/>
                <a:cs typeface="+mj-cs"/>
              </a:rPr>
              <a:t> Les pièces sont assemblées par le 3</a:t>
            </a:r>
            <a:r>
              <a:rPr lang="en-US" sz="1800" kern="1200" baseline="30000">
                <a:solidFill>
                  <a:srgbClr val="FFFFFF"/>
                </a:solidFill>
                <a:effectLst/>
                <a:latin typeface="+mj-lt"/>
                <a:ea typeface="+mj-ea"/>
                <a:cs typeface="+mj-cs"/>
              </a:rPr>
              <a:t>e</a:t>
            </a:r>
            <a:r>
              <a:rPr lang="en-US" sz="1800" kern="1200">
                <a:solidFill>
                  <a:srgbClr val="FFFFFF"/>
                </a:solidFill>
                <a:effectLst/>
                <a:latin typeface="+mj-lt"/>
                <a:ea typeface="+mj-ea"/>
                <a:cs typeface="+mj-cs"/>
              </a:rPr>
              <a:t> ouvrier ;</a:t>
            </a:r>
            <a:br>
              <a:rPr lang="en-US" sz="1800" kern="1200">
                <a:solidFill>
                  <a:srgbClr val="FFFFFF"/>
                </a:solidFill>
                <a:effectLst/>
                <a:latin typeface="+mj-lt"/>
                <a:ea typeface="+mj-ea"/>
                <a:cs typeface="+mj-cs"/>
              </a:rPr>
            </a:br>
            <a:r>
              <a:rPr lang="en-US" sz="1800" kern="1200">
                <a:solidFill>
                  <a:srgbClr val="FFFFFF"/>
                </a:solidFill>
                <a:effectLst/>
                <a:latin typeface="+mj-lt"/>
                <a:ea typeface="+mj-ea"/>
                <a:cs typeface="+mj-cs"/>
              </a:rPr>
              <a:t>•	</a:t>
            </a:r>
            <a:r>
              <a:rPr lang="en-US" sz="1800" i="1" kern="1200">
                <a:solidFill>
                  <a:srgbClr val="FFFFFF"/>
                </a:solidFill>
                <a:effectLst/>
                <a:latin typeface="+mj-lt"/>
                <a:ea typeface="+mj-ea"/>
                <a:cs typeface="+mj-cs"/>
              </a:rPr>
              <a:t>D</a:t>
            </a:r>
            <a:r>
              <a:rPr lang="en-US" sz="1800" kern="1200">
                <a:solidFill>
                  <a:srgbClr val="FFFFFF"/>
                </a:solidFill>
                <a:effectLst/>
                <a:latin typeface="+mj-lt"/>
                <a:ea typeface="+mj-ea"/>
                <a:cs typeface="+mj-cs"/>
              </a:rPr>
              <a:t> : Les pièces sont défectueuses.</a:t>
            </a:r>
            <a:br>
              <a:rPr lang="en-US" sz="1800" kern="1200">
                <a:solidFill>
                  <a:srgbClr val="FFFFFF"/>
                </a:solidFill>
                <a:effectLst/>
                <a:latin typeface="+mj-lt"/>
                <a:ea typeface="+mj-ea"/>
                <a:cs typeface="+mj-cs"/>
              </a:rPr>
            </a:br>
            <a:endParaRPr lang="en-US" sz="1800" kern="1200">
              <a:solidFill>
                <a:srgbClr val="FFFFFF"/>
              </a:solidFill>
              <a:latin typeface="+mj-lt"/>
              <a:ea typeface="+mj-ea"/>
              <a:cs typeface="+mj-cs"/>
            </a:endParaRPr>
          </a:p>
        </p:txBody>
      </p:sp>
      <p:sp>
        <p:nvSpPr>
          <p:cNvPr id="8" name="ZoneTexte 7">
            <a:extLst>
              <a:ext uri="{FF2B5EF4-FFF2-40B4-BE49-F238E27FC236}">
                <a16:creationId xmlns:a16="http://schemas.microsoft.com/office/drawing/2014/main" id="{2496F41A-38BF-4D4F-9A20-04401FC818A7}"/>
              </a:ext>
            </a:extLst>
          </p:cNvPr>
          <p:cNvSpPr txBox="1"/>
          <p:nvPr/>
        </p:nvSpPr>
        <p:spPr>
          <a:xfrm>
            <a:off x="4699818" y="640082"/>
            <a:ext cx="6848715" cy="2484884"/>
          </a:xfrm>
          <a:prstGeom prst="rect">
            <a:avLst/>
          </a:prstGeom>
        </p:spPr>
        <p:txBody>
          <a:bodyPr vert="horz" lIns="91440" tIns="45720" rIns="91440" bIns="45720" rtlCol="0" anchor="ctr">
            <a:normAutofit/>
          </a:bodyPr>
          <a:lstStyle/>
          <a:p>
            <a:pPr marL="101600" indent="-228600" defTabSz="914400">
              <a:lnSpc>
                <a:spcPct val="90000"/>
              </a:lnSpc>
              <a:spcAft>
                <a:spcPts val="600"/>
              </a:spcAft>
              <a:buFont typeface="Arial" panose="020B0604020202020204" pitchFamily="34" charset="0"/>
              <a:buChar char="•"/>
            </a:pPr>
            <a:r>
              <a:rPr lang="en-US" sz="1100">
                <a:effectLst/>
              </a:rPr>
              <a:t>Supposons qu’on connaisse les probabilités suivantes :</a:t>
            </a:r>
          </a:p>
          <a:p>
            <a:pPr marL="228600" indent="-228600" defTabSz="914400">
              <a:lnSpc>
                <a:spcPct val="90000"/>
              </a:lnSpc>
              <a:spcAft>
                <a:spcPts val="600"/>
              </a:spcAft>
              <a:buFont typeface="Arial" panose="020B0604020202020204" pitchFamily="34" charset="0"/>
              <a:buChar char="•"/>
            </a:pPr>
            <a:r>
              <a:rPr lang="en-US" sz="1100" i="1">
                <a:effectLst/>
              </a:rPr>
              <a:t>•	P</a:t>
            </a:r>
            <a:r>
              <a:rPr lang="en-US" sz="1100">
                <a:effectLst/>
              </a:rPr>
              <a:t>(</a:t>
            </a:r>
            <a:r>
              <a:rPr lang="en-US" sz="1100" i="1">
                <a:effectLst/>
              </a:rPr>
              <a:t>A</a:t>
            </a:r>
            <a:r>
              <a:rPr lang="en-US" sz="1100">
                <a:effectLst/>
              </a:rPr>
              <a:t>) = la probabilité qu’une pièce soit assemblée par le 1</a:t>
            </a:r>
            <a:r>
              <a:rPr lang="en-US" sz="1100" baseline="30000">
                <a:effectLst/>
              </a:rPr>
              <a:t>er</a:t>
            </a:r>
            <a:r>
              <a:rPr lang="en-US" sz="1100">
                <a:effectLst/>
              </a:rPr>
              <a:t> ouvrier = 0,35 ;</a:t>
            </a:r>
          </a:p>
          <a:p>
            <a:pPr marL="228600" indent="-228600" defTabSz="914400">
              <a:lnSpc>
                <a:spcPct val="90000"/>
              </a:lnSpc>
              <a:spcAft>
                <a:spcPts val="600"/>
              </a:spcAft>
              <a:buFont typeface="Arial" panose="020B0604020202020204" pitchFamily="34" charset="0"/>
              <a:buChar char="•"/>
            </a:pPr>
            <a:r>
              <a:rPr lang="en-US" sz="1100" i="1">
                <a:effectLst/>
              </a:rPr>
              <a:t>•	P</a:t>
            </a:r>
            <a:r>
              <a:rPr lang="en-US" sz="1100">
                <a:effectLst/>
              </a:rPr>
              <a:t>(</a:t>
            </a:r>
            <a:r>
              <a:rPr lang="en-US" sz="1100" i="1">
                <a:effectLst/>
              </a:rPr>
              <a:t>B</a:t>
            </a:r>
            <a:r>
              <a:rPr lang="en-US" sz="1100">
                <a:effectLst/>
              </a:rPr>
              <a:t>) = la probabilité qu’une pièce soit assemblée par le 2</a:t>
            </a:r>
            <a:r>
              <a:rPr lang="en-US" sz="1100" baseline="30000">
                <a:effectLst/>
              </a:rPr>
              <a:t>e</a:t>
            </a:r>
            <a:r>
              <a:rPr lang="en-US" sz="1100">
                <a:effectLst/>
              </a:rPr>
              <a:t> ouvrier = 0,45 ;</a:t>
            </a:r>
          </a:p>
          <a:p>
            <a:pPr marL="228600" indent="-228600" defTabSz="914400">
              <a:lnSpc>
                <a:spcPct val="90000"/>
              </a:lnSpc>
              <a:spcAft>
                <a:spcPts val="600"/>
              </a:spcAft>
              <a:buFont typeface="Arial" panose="020B0604020202020204" pitchFamily="34" charset="0"/>
              <a:buChar char="•"/>
            </a:pPr>
            <a:r>
              <a:rPr lang="en-US" sz="1100" i="1">
                <a:effectLst/>
              </a:rPr>
              <a:t>•	P</a:t>
            </a:r>
            <a:r>
              <a:rPr lang="en-US" sz="1100">
                <a:effectLst/>
              </a:rPr>
              <a:t>(</a:t>
            </a:r>
            <a:r>
              <a:rPr lang="en-US" sz="1100" i="1">
                <a:effectLst/>
              </a:rPr>
              <a:t>C</a:t>
            </a:r>
            <a:r>
              <a:rPr lang="en-US" sz="1100">
                <a:effectLst/>
              </a:rPr>
              <a:t>) = la probabilité qu’une pièce soit assemblée par le 3</a:t>
            </a:r>
            <a:r>
              <a:rPr lang="en-US" sz="1100" baseline="30000">
                <a:effectLst/>
              </a:rPr>
              <a:t>e</a:t>
            </a:r>
            <a:r>
              <a:rPr lang="en-US" sz="1100">
                <a:effectLst/>
              </a:rPr>
              <a:t> ouvrier = 0,20.</a:t>
            </a:r>
          </a:p>
          <a:p>
            <a:pPr indent="-228600" defTabSz="914400">
              <a:lnSpc>
                <a:spcPct val="90000"/>
              </a:lnSpc>
              <a:spcAft>
                <a:spcPts val="800"/>
              </a:spcAft>
              <a:buFont typeface="Arial" panose="020B0604020202020204" pitchFamily="34" charset="0"/>
              <a:buChar char="•"/>
            </a:pPr>
            <a:r>
              <a:rPr lang="en-US" sz="1100">
                <a:effectLst/>
              </a:rPr>
              <a:t>On connaît également les probabilités conditionnelles suivantes :</a:t>
            </a:r>
          </a:p>
          <a:p>
            <a:pPr marL="228600" indent="-228600" defTabSz="914400">
              <a:lnSpc>
                <a:spcPct val="90000"/>
              </a:lnSpc>
              <a:spcAft>
                <a:spcPts val="600"/>
              </a:spcAft>
              <a:buFont typeface="Arial" panose="020B0604020202020204" pitchFamily="34" charset="0"/>
              <a:buChar char="•"/>
            </a:pPr>
            <a:r>
              <a:rPr lang="en-US" sz="1100" i="1">
                <a:effectLst/>
              </a:rPr>
              <a:t>•	P</a:t>
            </a:r>
            <a:r>
              <a:rPr lang="en-US" sz="1100">
                <a:effectLst/>
              </a:rPr>
              <a:t>(</a:t>
            </a:r>
            <a:r>
              <a:rPr lang="en-US" sz="1100" i="1">
                <a:effectLst/>
              </a:rPr>
              <a:t>D</a:t>
            </a:r>
            <a:r>
              <a:rPr lang="en-US" sz="1100">
                <a:effectLst/>
              </a:rPr>
              <a:t>|</a:t>
            </a:r>
            <a:r>
              <a:rPr lang="en-US" sz="1100" i="1">
                <a:effectLst/>
              </a:rPr>
              <a:t>A</a:t>
            </a:r>
            <a:r>
              <a:rPr lang="en-US" sz="1100">
                <a:effectLst/>
              </a:rPr>
              <a:t>) = la probabilité qu’une pièce choisie au hasard soit défectueuse sachant qu’elle provient de </a:t>
            </a:r>
            <a:r>
              <a:rPr lang="en-US" sz="1100" i="1">
                <a:effectLst/>
              </a:rPr>
              <a:t>A</a:t>
            </a:r>
            <a:r>
              <a:rPr lang="en-US" sz="1100">
                <a:effectLst/>
              </a:rPr>
              <a:t> = 0,05 ;</a:t>
            </a:r>
          </a:p>
          <a:p>
            <a:pPr marL="228600" indent="-228600" defTabSz="914400">
              <a:lnSpc>
                <a:spcPct val="90000"/>
              </a:lnSpc>
              <a:spcAft>
                <a:spcPts val="600"/>
              </a:spcAft>
              <a:buFont typeface="Arial" panose="020B0604020202020204" pitchFamily="34" charset="0"/>
              <a:buChar char="•"/>
            </a:pPr>
            <a:r>
              <a:rPr lang="en-US" sz="1100" i="1">
                <a:effectLst/>
              </a:rPr>
              <a:t>•	P</a:t>
            </a:r>
            <a:r>
              <a:rPr lang="en-US" sz="1100">
                <a:effectLst/>
              </a:rPr>
              <a:t>(</a:t>
            </a:r>
            <a:r>
              <a:rPr lang="en-US" sz="1100" i="1">
                <a:effectLst/>
              </a:rPr>
              <a:t>D</a:t>
            </a:r>
            <a:r>
              <a:rPr lang="en-US" sz="1100">
                <a:effectLst/>
              </a:rPr>
              <a:t>|</a:t>
            </a:r>
            <a:r>
              <a:rPr lang="en-US" sz="1100" i="1">
                <a:effectLst/>
              </a:rPr>
              <a:t>B</a:t>
            </a:r>
            <a:r>
              <a:rPr lang="en-US" sz="1100">
                <a:effectLst/>
              </a:rPr>
              <a:t>) = la probabilité qu’une pièce choisie au hasard soit défectueuse sachant qu’elle provient de </a:t>
            </a:r>
            <a:r>
              <a:rPr lang="en-US" sz="1100" i="1">
                <a:effectLst/>
              </a:rPr>
              <a:t>B</a:t>
            </a:r>
            <a:r>
              <a:rPr lang="en-US" sz="1100">
                <a:effectLst/>
              </a:rPr>
              <a:t> = 0,07 ;</a:t>
            </a:r>
          </a:p>
          <a:p>
            <a:pPr marL="228600" indent="-228600" defTabSz="914400">
              <a:lnSpc>
                <a:spcPct val="90000"/>
              </a:lnSpc>
              <a:spcAft>
                <a:spcPts val="600"/>
              </a:spcAft>
              <a:buFont typeface="Arial" panose="020B0604020202020204" pitchFamily="34" charset="0"/>
              <a:buChar char="•"/>
            </a:pPr>
            <a:r>
              <a:rPr lang="en-US" sz="1100" i="1">
                <a:effectLst/>
              </a:rPr>
              <a:t>•	P</a:t>
            </a:r>
            <a:r>
              <a:rPr lang="en-US" sz="1100">
                <a:effectLst/>
              </a:rPr>
              <a:t>(</a:t>
            </a:r>
            <a:r>
              <a:rPr lang="en-US" sz="1100" i="1">
                <a:effectLst/>
              </a:rPr>
              <a:t>D</a:t>
            </a:r>
            <a:r>
              <a:rPr lang="en-US" sz="1100">
                <a:effectLst/>
              </a:rPr>
              <a:t>|</a:t>
            </a:r>
            <a:r>
              <a:rPr lang="en-US" sz="1100" i="1">
                <a:effectLst/>
              </a:rPr>
              <a:t>C</a:t>
            </a:r>
            <a:r>
              <a:rPr lang="en-US" sz="1100">
                <a:effectLst/>
              </a:rPr>
              <a:t>) = la probabilité qu’une pièce choisie au hasard soit défectueuse sachant qu’elle provient de </a:t>
            </a:r>
            <a:r>
              <a:rPr lang="en-US" sz="1100" i="1">
                <a:effectLst/>
              </a:rPr>
              <a:t>C</a:t>
            </a:r>
            <a:r>
              <a:rPr lang="en-US" sz="1100">
                <a:effectLst/>
              </a:rPr>
              <a:t> = 0,04.</a:t>
            </a:r>
          </a:p>
          <a:p>
            <a:pPr indent="-228600" defTabSz="914400">
              <a:lnSpc>
                <a:spcPct val="90000"/>
              </a:lnSpc>
              <a:buFont typeface="Arial" panose="020B0604020202020204" pitchFamily="34" charset="0"/>
              <a:buChar char="•"/>
            </a:pPr>
            <a:endParaRPr lang="en-US" sz="1100"/>
          </a:p>
        </p:txBody>
      </p:sp>
      <p:pic>
        <p:nvPicPr>
          <p:cNvPr id="7" name="Image 6">
            <a:extLst>
              <a:ext uri="{FF2B5EF4-FFF2-40B4-BE49-F238E27FC236}">
                <a16:creationId xmlns:a16="http://schemas.microsoft.com/office/drawing/2014/main" id="{62815D98-41D0-46A1-B6E2-0D0D455275FD}"/>
              </a:ext>
            </a:extLst>
          </p:cNvPr>
          <p:cNvPicPr/>
          <p:nvPr/>
        </p:nvPicPr>
        <p:blipFill>
          <a:blip r:embed="rId2">
            <a:extLst>
              <a:ext uri="{28A0092B-C50C-407E-A947-70E740481C1C}">
                <a14:useLocalDpi xmlns:a14="http://schemas.microsoft.com/office/drawing/2010/main" val="0"/>
              </a:ext>
            </a:extLst>
          </a:blip>
          <a:stretch>
            <a:fillRect/>
          </a:stretch>
        </p:blipFill>
        <p:spPr bwMode="auto">
          <a:xfrm>
            <a:off x="4654297" y="3799369"/>
            <a:ext cx="6894236" cy="1782992"/>
          </a:xfrm>
          <a:prstGeom prst="rect">
            <a:avLst/>
          </a:prstGeom>
          <a:noFill/>
        </p:spPr>
      </p:pic>
      <p:sp>
        <p:nvSpPr>
          <p:cNvPr id="3" name="Espace réservé du pied de page 2">
            <a:extLst>
              <a:ext uri="{FF2B5EF4-FFF2-40B4-BE49-F238E27FC236}">
                <a16:creationId xmlns:a16="http://schemas.microsoft.com/office/drawing/2014/main" id="{E9BA597F-BC05-4299-AC2C-1C3C459FB2DE}"/>
              </a:ext>
            </a:extLst>
          </p:cNvPr>
          <p:cNvSpPr>
            <a:spLocks noGrp="1"/>
          </p:cNvSpPr>
          <p:nvPr>
            <p:ph type="ftr" sz="quarter" idx="11"/>
          </p:nvPr>
        </p:nvSpPr>
        <p:spPr>
          <a:xfrm>
            <a:off x="4654294" y="6356350"/>
            <a:ext cx="5719488" cy="365125"/>
          </a:xfrm>
        </p:spPr>
        <p:txBody>
          <a:bodyPr vert="horz" lIns="91440" tIns="45720" rIns="91440" bIns="45720" rtlCol="0" anchor="ctr">
            <a:normAutofit/>
          </a:bodyPr>
          <a:lstStyle/>
          <a:p>
            <a:pPr algn="l" defTabSz="914400"/>
            <a:endParaRPr lang="en-US" kern="1200">
              <a:solidFill>
                <a:prstClr val="black">
                  <a:tint val="75000"/>
                </a:prstClr>
              </a:solidFill>
              <a:latin typeface="+mn-lt"/>
              <a:ea typeface="+mn-ea"/>
              <a:cs typeface="+mn-cs"/>
            </a:endParaRPr>
          </a:p>
        </p:txBody>
      </p:sp>
      <p:sp>
        <p:nvSpPr>
          <p:cNvPr id="4" name="Espace réservé du numéro de diapositive 3">
            <a:extLst>
              <a:ext uri="{FF2B5EF4-FFF2-40B4-BE49-F238E27FC236}">
                <a16:creationId xmlns:a16="http://schemas.microsoft.com/office/drawing/2014/main" id="{529E092A-691B-440D-9C81-27CE0781BC6D}"/>
              </a:ext>
            </a:extLst>
          </p:cNvPr>
          <p:cNvSpPr>
            <a:spLocks noGrp="1"/>
          </p:cNvSpPr>
          <p:nvPr>
            <p:ph type="sldNum" sz="quarter" idx="12"/>
          </p:nvPr>
        </p:nvSpPr>
        <p:spPr>
          <a:xfrm>
            <a:off x="10534650" y="6356350"/>
            <a:ext cx="819150" cy="365125"/>
          </a:xfrm>
        </p:spPr>
        <p:txBody>
          <a:bodyPr vert="horz" lIns="91440" tIns="45720" rIns="91440" bIns="45720" rtlCol="0" anchor="ctr">
            <a:normAutofit/>
          </a:bodyPr>
          <a:lstStyle/>
          <a:p>
            <a:pPr defTabSz="914400">
              <a:spcAft>
                <a:spcPts val="600"/>
              </a:spcAft>
            </a:pPr>
            <a:fld id="{26377AD9-CE17-438C-A638-C64D2D42D7CF}" type="slidenum">
              <a:rPr lang="en-US">
                <a:solidFill>
                  <a:prstClr val="black">
                    <a:tint val="75000"/>
                  </a:prstClr>
                </a:solidFill>
              </a:rPr>
              <a:pPr defTabSz="914400">
                <a:spcAft>
                  <a:spcPts val="600"/>
                </a:spcAft>
              </a:pPr>
              <a:t>27</a:t>
            </a:fld>
            <a:endParaRPr lang="en-US">
              <a:solidFill>
                <a:prstClr val="black">
                  <a:tint val="75000"/>
                </a:prstClr>
              </a:solidFill>
            </a:endParaRPr>
          </a:p>
        </p:txBody>
      </p:sp>
    </p:spTree>
    <p:extLst>
      <p:ext uri="{BB962C8B-B14F-4D97-AF65-F5344CB8AC3E}">
        <p14:creationId xmlns:p14="http://schemas.microsoft.com/office/powerpoint/2010/main" val="33536023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20D5D19D-0789-4518-B5DC-D47ADF69D2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E742BEED-6C4E-47D6-A4B3-7313A2B42E2B}"/>
              </a:ext>
            </a:extLst>
          </p:cNvPr>
          <p:cNvSpPr>
            <a:spLocks noGrp="1"/>
          </p:cNvSpPr>
          <p:nvPr>
            <p:ph type="title"/>
          </p:nvPr>
        </p:nvSpPr>
        <p:spPr>
          <a:xfrm>
            <a:off x="1113810" y="3130041"/>
            <a:ext cx="4036334" cy="2387600"/>
          </a:xfrm>
        </p:spPr>
        <p:txBody>
          <a:bodyPr vert="horz" lIns="91440" tIns="45720" rIns="91440" bIns="45720" rtlCol="0" anchor="t">
            <a:normAutofit/>
          </a:bodyPr>
          <a:lstStyle/>
          <a:p>
            <a:r>
              <a:rPr lang="en-US" sz="4200"/>
              <a:t>Suite)On peut dresser un arbre des probabilités</a:t>
            </a:r>
          </a:p>
        </p:txBody>
      </p:sp>
      <p:grpSp>
        <p:nvGrpSpPr>
          <p:cNvPr id="14" name="Group 13">
            <a:extLst>
              <a:ext uri="{FF2B5EF4-FFF2-40B4-BE49-F238E27FC236}">
                <a16:creationId xmlns:a16="http://schemas.microsoft.com/office/drawing/2014/main" id="{032D8612-31EB-44CF-A1D0-14FD4C7054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154317"/>
            <a:ext cx="731521" cy="673460"/>
            <a:chOff x="3940602" y="308034"/>
            <a:chExt cx="2116791" cy="3428999"/>
          </a:xfrm>
          <a:solidFill>
            <a:schemeClr val="accent4"/>
          </a:solidFill>
        </p:grpSpPr>
        <p:sp>
          <p:nvSpPr>
            <p:cNvPr id="15" name="Rectangle 14">
              <a:extLst>
                <a:ext uri="{FF2B5EF4-FFF2-40B4-BE49-F238E27FC236}">
                  <a16:creationId xmlns:a16="http://schemas.microsoft.com/office/drawing/2014/main" id="{F19A4A0F-1B59-4DB0-9764-D10936E98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9" name="Rectangle 18">
            <a:extLst>
              <a:ext uri="{FF2B5EF4-FFF2-40B4-BE49-F238E27FC236}">
                <a16:creationId xmlns:a16="http://schemas.microsoft.com/office/drawing/2014/main" id="{B81933D1-5615-42C7-9C0B-4EB7105CCE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391886"/>
            <a:ext cx="6009366" cy="6017078"/>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Image 6" descr="Une image contenant texte, carte&#10;&#10;Description générée automatiquement">
            <a:extLst>
              <a:ext uri="{FF2B5EF4-FFF2-40B4-BE49-F238E27FC236}">
                <a16:creationId xmlns:a16="http://schemas.microsoft.com/office/drawing/2014/main" id="{8E791029-B4DD-42EF-B1F5-D1F8CEC12D8E}"/>
              </a:ext>
            </a:extLst>
          </p:cNvPr>
          <p:cNvPicPr/>
          <p:nvPr/>
        </p:nvPicPr>
        <p:blipFill rotWithShape="1">
          <a:blip r:embed="rId2"/>
          <a:srcRect b="1021"/>
          <a:stretch/>
        </p:blipFill>
        <p:spPr>
          <a:xfrm>
            <a:off x="5922492" y="666728"/>
            <a:ext cx="5536001" cy="5465791"/>
          </a:xfrm>
          <a:prstGeom prst="rect">
            <a:avLst/>
          </a:prstGeom>
        </p:spPr>
      </p:pic>
      <p:sp>
        <p:nvSpPr>
          <p:cNvPr id="3" name="Espace réservé du pied de page 2">
            <a:extLst>
              <a:ext uri="{FF2B5EF4-FFF2-40B4-BE49-F238E27FC236}">
                <a16:creationId xmlns:a16="http://schemas.microsoft.com/office/drawing/2014/main" id="{7AB599D0-6199-46B4-91A1-63486926BBA2}"/>
              </a:ext>
            </a:extLst>
          </p:cNvPr>
          <p:cNvSpPr>
            <a:spLocks noGrp="1"/>
          </p:cNvSpPr>
          <p:nvPr>
            <p:ph type="ftr" sz="quarter" idx="11"/>
          </p:nvPr>
        </p:nvSpPr>
        <p:spPr>
          <a:xfrm>
            <a:off x="1113809" y="6492240"/>
            <a:ext cx="3765762" cy="365125"/>
          </a:xfrm>
        </p:spPr>
        <p:txBody>
          <a:bodyPr vert="horz" lIns="91440" tIns="45720" rIns="91440" bIns="45720" rtlCol="0" anchor="ctr">
            <a:normAutofit/>
          </a:bodyPr>
          <a:lstStyle/>
          <a:p>
            <a:pPr algn="l" defTabSz="914400">
              <a:defRPr/>
            </a:pPr>
            <a:endParaRPr lang="en-US" sz="1200" kern="1200">
              <a:solidFill>
                <a:prstClr val="black">
                  <a:tint val="75000"/>
                </a:prstClr>
              </a:solidFill>
              <a:latin typeface="Calibri" panose="020F0502020204030204"/>
              <a:ea typeface="+mn-ea"/>
              <a:cs typeface="+mn-cs"/>
            </a:endParaRPr>
          </a:p>
        </p:txBody>
      </p:sp>
      <p:sp>
        <p:nvSpPr>
          <p:cNvPr id="4" name="Espace réservé du numéro de diapositive 3">
            <a:extLst>
              <a:ext uri="{FF2B5EF4-FFF2-40B4-BE49-F238E27FC236}">
                <a16:creationId xmlns:a16="http://schemas.microsoft.com/office/drawing/2014/main" id="{C018BBA8-E83C-41AF-BDC3-B58834EFBBC6}"/>
              </a:ext>
            </a:extLst>
          </p:cNvPr>
          <p:cNvSpPr>
            <a:spLocks noGrp="1"/>
          </p:cNvSpPr>
          <p:nvPr>
            <p:ph type="sldNum" sz="quarter" idx="12"/>
          </p:nvPr>
        </p:nvSpPr>
        <p:spPr>
          <a:xfrm>
            <a:off x="8610600" y="6492240"/>
            <a:ext cx="1871749" cy="365125"/>
          </a:xfrm>
        </p:spPr>
        <p:txBody>
          <a:bodyPr vert="horz" lIns="91440" tIns="45720" rIns="91440" bIns="45720" rtlCol="0" anchor="ctr">
            <a:normAutofit/>
          </a:bodyPr>
          <a:lstStyle/>
          <a:p>
            <a:pPr defTabSz="914400">
              <a:spcAft>
                <a:spcPts val="600"/>
              </a:spcAft>
              <a:defRPr/>
            </a:pPr>
            <a:fld id="{26377AD9-CE17-438C-A638-C64D2D42D7CF}" type="slidenum">
              <a:rPr lang="en-US" smtClean="0">
                <a:solidFill>
                  <a:prstClr val="black">
                    <a:tint val="75000"/>
                  </a:prstClr>
                </a:solidFill>
                <a:latin typeface="Calibri" panose="020F0502020204030204"/>
              </a:rPr>
              <a:pPr defTabSz="914400">
                <a:spcAft>
                  <a:spcPts val="600"/>
                </a:spcAft>
                <a:defRPr/>
              </a:pPr>
              <a:t>28</a:t>
            </a:fld>
            <a:endParaRPr lang="en-US">
              <a:solidFill>
                <a:prstClr val="black">
                  <a:tint val="75000"/>
                </a:prstClr>
              </a:solidFill>
              <a:latin typeface="Calibri" panose="020F0502020204030204"/>
            </a:endParaRPr>
          </a:p>
        </p:txBody>
      </p:sp>
    </p:spTree>
    <p:extLst>
      <p:ext uri="{BB962C8B-B14F-4D97-AF65-F5344CB8AC3E}">
        <p14:creationId xmlns:p14="http://schemas.microsoft.com/office/powerpoint/2010/main" val="290453384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4B3BE95-9062-41C8-BD97-663993156E12}"/>
              </a:ext>
            </a:extLst>
          </p:cNvPr>
          <p:cNvSpPr>
            <a:spLocks noGrp="1"/>
          </p:cNvSpPr>
          <p:nvPr>
            <p:ph type="title"/>
          </p:nvPr>
        </p:nvSpPr>
        <p:spPr/>
        <p:txBody>
          <a:bodyPr/>
          <a:lstStyle/>
          <a:p>
            <a:r>
              <a:rPr lang="fr-CA" dirty="0"/>
              <a:t>Suite)</a:t>
            </a:r>
          </a:p>
        </p:txBody>
      </p:sp>
      <p:sp>
        <p:nvSpPr>
          <p:cNvPr id="3" name="Espace réservé du pied de page 2">
            <a:extLst>
              <a:ext uri="{FF2B5EF4-FFF2-40B4-BE49-F238E27FC236}">
                <a16:creationId xmlns:a16="http://schemas.microsoft.com/office/drawing/2014/main" id="{E25FE661-5076-4539-A1D7-5A05055C03A8}"/>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A6279AAF-866B-4CC0-8011-0CD66A3D976D}"/>
              </a:ext>
            </a:extLst>
          </p:cNvPr>
          <p:cNvSpPr>
            <a:spLocks noGrp="1"/>
          </p:cNvSpPr>
          <p:nvPr>
            <p:ph type="sldNum" sz="quarter" idx="12"/>
          </p:nvPr>
        </p:nvSpPr>
        <p:spPr/>
        <p:txBody>
          <a:bodyPr/>
          <a:lstStyle/>
          <a:p>
            <a:fld id="{26377AD9-CE17-438C-A638-C64D2D42D7CF}" type="slidenum">
              <a:rPr lang="fr-CA" smtClean="0"/>
              <a:t>29</a:t>
            </a:fld>
            <a:endParaRPr lang="fr-CA"/>
          </a:p>
        </p:txBody>
      </p: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9D2E4B79-2346-4002-B532-6097DD344C42}"/>
                  </a:ext>
                </a:extLst>
              </p:cNvPr>
              <p:cNvSpPr txBox="1"/>
              <p:nvPr/>
            </p:nvSpPr>
            <p:spPr>
              <a:xfrm>
                <a:off x="1031966" y="2704011"/>
                <a:ext cx="10128068" cy="2264531"/>
              </a:xfrm>
              <a:prstGeom prst="rect">
                <a:avLst/>
              </a:prstGeom>
              <a:noFill/>
            </p:spPr>
            <p:txBody>
              <a:bodyPr wrap="square" rtlCol="0">
                <a:spAutoFit/>
              </a:bodyPr>
              <a:lstStyle/>
              <a:p>
                <a:pPr algn="l">
                  <a:lnSpc>
                    <a:spcPct val="150000"/>
                  </a:lnSpc>
                  <a:spcAft>
                    <a:spcPts val="800"/>
                  </a:spcAft>
                </a:pPr>
                <a:r>
                  <a:rPr lang="fr-FR" sz="1800" dirty="0">
                    <a:solidFill>
                      <a:srgbClr val="000000"/>
                    </a:solidFill>
                    <a:effectLst/>
                    <a:latin typeface="Times New Roman" panose="02020603050405020304" pitchFamily="18" charset="0"/>
                    <a:ea typeface="Times New Roman" panose="02020603050405020304" pitchFamily="18" charset="0"/>
                  </a:rPr>
                  <a:t>Donc si on veut par exemple, calculer </a:t>
                </a:r>
                <a14:m>
                  <m:oMath xmlns:m="http://schemas.openxmlformats.org/officeDocument/2006/math">
                    <m:r>
                      <a:rPr lang="fr-FR" sz="1800" i="1">
                        <a:solidFill>
                          <a:srgbClr val="000000"/>
                        </a:solidFill>
                        <a:effectLst/>
                        <a:latin typeface="Cambria Math" panose="02040503050406030204" pitchFamily="18" charset="0"/>
                        <a:ea typeface="Times New Roman" panose="02020603050405020304" pitchFamily="18" charset="0"/>
                      </a:rPr>
                      <m:t>𝑃</m:t>
                    </m:r>
                    <m:d>
                      <m:dPr>
                        <m:ctrlPr>
                          <a:rPr lang="fr-CA" sz="1800" i="1">
                            <a:solidFill>
                              <a:srgbClr val="000000"/>
                            </a:solidFill>
                            <a:effectLst/>
                            <a:latin typeface="Cambria Math" panose="02040503050406030204" pitchFamily="18" charset="0"/>
                            <a:ea typeface="Times New Roman" panose="02020603050405020304" pitchFamily="18" charset="0"/>
                          </a:rPr>
                        </m:ctrlPr>
                      </m:dPr>
                      <m:e>
                        <m:r>
                          <a:rPr lang="fr-FR" sz="1800" i="1">
                            <a:solidFill>
                              <a:srgbClr val="000000"/>
                            </a:solidFill>
                            <a:effectLst/>
                            <a:latin typeface="Cambria Math" panose="02040503050406030204" pitchFamily="18" charset="0"/>
                            <a:ea typeface="Times New Roman" panose="02020603050405020304" pitchFamily="18" charset="0"/>
                          </a:rPr>
                          <m:t>𝐵</m:t>
                        </m:r>
                      </m:e>
                      <m:e>
                        <m:r>
                          <a:rPr lang="fr-FR" sz="1800" i="1">
                            <a:solidFill>
                              <a:srgbClr val="000000"/>
                            </a:solidFill>
                            <a:effectLst/>
                            <a:latin typeface="Cambria Math" panose="02040503050406030204" pitchFamily="18" charset="0"/>
                            <a:ea typeface="Times New Roman" panose="02020603050405020304" pitchFamily="18" charset="0"/>
                          </a:rPr>
                          <m:t>𝐷</m:t>
                        </m:r>
                      </m:e>
                    </m:d>
                    <m:r>
                      <a:rPr lang="fr-FR" sz="1800" i="1">
                        <a:solidFill>
                          <a:srgbClr val="000000"/>
                        </a:solidFill>
                        <a:effectLst/>
                        <a:latin typeface="Cambria Math" panose="02040503050406030204" pitchFamily="18" charset="0"/>
                        <a:ea typeface="Times New Roman" panose="02020603050405020304" pitchFamily="18" charset="0"/>
                      </a:rPr>
                      <m:t>=</m:t>
                    </m:r>
                    <m:f>
                      <m:fPr>
                        <m:ctrlPr>
                          <a:rPr lang="fr-CA" sz="1800" i="1">
                            <a:solidFill>
                              <a:srgbClr val="000000"/>
                            </a:solidFill>
                            <a:effectLst/>
                            <a:latin typeface="Cambria Math" panose="02040503050406030204" pitchFamily="18" charset="0"/>
                            <a:ea typeface="Times New Roman" panose="02020603050405020304" pitchFamily="18" charset="0"/>
                          </a:rPr>
                        </m:ctrlPr>
                      </m:fPr>
                      <m:num>
                        <m:r>
                          <a:rPr lang="fr-FR" sz="1800" i="1">
                            <a:solidFill>
                              <a:srgbClr val="000000"/>
                            </a:solidFill>
                            <a:effectLst/>
                            <a:latin typeface="Cambria Math" panose="02040503050406030204" pitchFamily="18" charset="0"/>
                            <a:ea typeface="Times New Roman" panose="02020603050405020304" pitchFamily="18" charset="0"/>
                          </a:rPr>
                          <m:t>𝑃</m:t>
                        </m:r>
                        <m:r>
                          <a:rPr lang="fr-FR" sz="1800" i="1">
                            <a:solidFill>
                              <a:srgbClr val="000000"/>
                            </a:solidFill>
                            <a:effectLst/>
                            <a:latin typeface="Cambria Math" panose="02040503050406030204" pitchFamily="18" charset="0"/>
                            <a:ea typeface="Times New Roman" panose="02020603050405020304" pitchFamily="18" charset="0"/>
                          </a:rPr>
                          <m:t>(</m:t>
                        </m:r>
                        <m:r>
                          <a:rPr lang="fr-FR" sz="1800" i="1">
                            <a:solidFill>
                              <a:srgbClr val="000000"/>
                            </a:solidFill>
                            <a:effectLst/>
                            <a:latin typeface="Cambria Math" panose="02040503050406030204" pitchFamily="18" charset="0"/>
                            <a:ea typeface="Times New Roman" panose="02020603050405020304" pitchFamily="18" charset="0"/>
                          </a:rPr>
                          <m:t>𝐵</m:t>
                        </m:r>
                        <m:r>
                          <a:rPr lang="fr-FR" sz="1800" i="1">
                            <a:solidFill>
                              <a:srgbClr val="000000"/>
                            </a:solidFill>
                            <a:effectLst/>
                            <a:latin typeface="Cambria Math" panose="02040503050406030204" pitchFamily="18" charset="0"/>
                            <a:ea typeface="Times New Roman" panose="02020603050405020304" pitchFamily="18" charset="0"/>
                          </a:rPr>
                          <m:t>∩</m:t>
                        </m:r>
                        <m:r>
                          <a:rPr lang="fr-FR" sz="1800" i="1">
                            <a:solidFill>
                              <a:srgbClr val="000000"/>
                            </a:solidFill>
                            <a:effectLst/>
                            <a:latin typeface="Cambria Math" panose="02040503050406030204" pitchFamily="18" charset="0"/>
                            <a:ea typeface="Times New Roman" panose="02020603050405020304" pitchFamily="18" charset="0"/>
                          </a:rPr>
                          <m:t>𝐷</m:t>
                        </m:r>
                        <m:r>
                          <a:rPr lang="fr-FR" sz="1800" i="1">
                            <a:solidFill>
                              <a:srgbClr val="000000"/>
                            </a:solidFill>
                            <a:effectLst/>
                            <a:latin typeface="Cambria Math" panose="02040503050406030204" pitchFamily="18" charset="0"/>
                            <a:ea typeface="Times New Roman" panose="02020603050405020304" pitchFamily="18" charset="0"/>
                          </a:rPr>
                          <m:t>)</m:t>
                        </m:r>
                      </m:num>
                      <m:den>
                        <m:r>
                          <a:rPr lang="fr-FR" sz="1800" i="1">
                            <a:solidFill>
                              <a:srgbClr val="000000"/>
                            </a:solidFill>
                            <a:effectLst/>
                            <a:latin typeface="Cambria Math" panose="02040503050406030204" pitchFamily="18" charset="0"/>
                            <a:ea typeface="Times New Roman" panose="02020603050405020304" pitchFamily="18" charset="0"/>
                          </a:rPr>
                          <m:t>𝑃</m:t>
                        </m:r>
                        <m:r>
                          <a:rPr lang="fr-FR" sz="1800" i="1">
                            <a:solidFill>
                              <a:srgbClr val="000000"/>
                            </a:solidFill>
                            <a:effectLst/>
                            <a:latin typeface="Cambria Math" panose="02040503050406030204" pitchFamily="18" charset="0"/>
                            <a:ea typeface="Times New Roman" panose="02020603050405020304" pitchFamily="18" charset="0"/>
                          </a:rPr>
                          <m:t>(</m:t>
                        </m:r>
                        <m:r>
                          <a:rPr lang="fr-FR" sz="1800" i="1">
                            <a:solidFill>
                              <a:srgbClr val="000000"/>
                            </a:solidFill>
                            <a:effectLst/>
                            <a:latin typeface="Cambria Math" panose="02040503050406030204" pitchFamily="18" charset="0"/>
                            <a:ea typeface="Times New Roman" panose="02020603050405020304" pitchFamily="18" charset="0"/>
                          </a:rPr>
                          <m:t>𝐷</m:t>
                        </m:r>
                        <m:r>
                          <a:rPr lang="fr-FR" sz="1800" i="1">
                            <a:solidFill>
                              <a:srgbClr val="000000"/>
                            </a:solidFill>
                            <a:effectLst/>
                            <a:latin typeface="Cambria Math" panose="02040503050406030204" pitchFamily="18" charset="0"/>
                            <a:ea typeface="Times New Roman" panose="02020603050405020304" pitchFamily="18" charset="0"/>
                          </a:rPr>
                          <m:t>)</m:t>
                        </m:r>
                      </m:den>
                    </m:f>
                    <m:r>
                      <a:rPr lang="fr-FR" sz="1800" i="1">
                        <a:solidFill>
                          <a:srgbClr val="000000"/>
                        </a:solidFill>
                        <a:effectLst/>
                        <a:latin typeface="Cambria Math" panose="02040503050406030204" pitchFamily="18" charset="0"/>
                        <a:ea typeface="Times New Roman" panose="02020603050405020304" pitchFamily="18" charset="0"/>
                      </a:rPr>
                      <m:t>=</m:t>
                    </m:r>
                    <m:f>
                      <m:fPr>
                        <m:ctrlPr>
                          <a:rPr lang="fr-CA" sz="1800" i="1">
                            <a:solidFill>
                              <a:srgbClr val="000000"/>
                            </a:solidFill>
                            <a:effectLst/>
                            <a:latin typeface="Cambria Math" panose="02040503050406030204" pitchFamily="18" charset="0"/>
                            <a:ea typeface="Times New Roman" panose="02020603050405020304" pitchFamily="18" charset="0"/>
                          </a:rPr>
                        </m:ctrlPr>
                      </m:fPr>
                      <m:num>
                        <m:r>
                          <a:rPr lang="fr-FR" sz="1800" i="1">
                            <a:solidFill>
                              <a:srgbClr val="000000"/>
                            </a:solidFill>
                            <a:effectLst/>
                            <a:latin typeface="Cambria Math" panose="02040503050406030204" pitchFamily="18" charset="0"/>
                            <a:ea typeface="Times New Roman" panose="02020603050405020304" pitchFamily="18" charset="0"/>
                          </a:rPr>
                          <m:t>0,0315</m:t>
                        </m:r>
                      </m:num>
                      <m:den>
                        <m:r>
                          <a:rPr lang="fr-FR" sz="1800" i="1">
                            <a:solidFill>
                              <a:srgbClr val="000000"/>
                            </a:solidFill>
                            <a:effectLst/>
                            <a:latin typeface="Cambria Math" panose="02040503050406030204" pitchFamily="18" charset="0"/>
                            <a:ea typeface="Times New Roman" panose="02020603050405020304" pitchFamily="18" charset="0"/>
                          </a:rPr>
                          <m:t>0,0175+0,0315+0,008</m:t>
                        </m:r>
                      </m:den>
                    </m:f>
                    <m:r>
                      <a:rPr lang="fr-FR" sz="1800" i="1">
                        <a:solidFill>
                          <a:srgbClr val="000000"/>
                        </a:solidFill>
                        <a:effectLst/>
                        <a:latin typeface="Cambria Math" panose="02040503050406030204" pitchFamily="18" charset="0"/>
                        <a:ea typeface="Times New Roman" panose="02020603050405020304" pitchFamily="18" charset="0"/>
                      </a:rPr>
                      <m:t>=</m:t>
                    </m:r>
                    <m:r>
                      <a:rPr lang="fr-FR" sz="1800" i="1">
                        <a:solidFill>
                          <a:srgbClr val="000000"/>
                        </a:solidFill>
                        <a:effectLst/>
                        <a:latin typeface="Cambria Math" panose="02040503050406030204" pitchFamily="18" charset="0"/>
                        <a:ea typeface="Times New Roman" panose="02020603050405020304" pitchFamily="18" charset="0"/>
                        <a:hlinkClick r:id="" action="ppaction://noaction"/>
                      </a:rPr>
                      <m:t>0,5526</m:t>
                    </m:r>
                  </m:oMath>
                </a14:m>
                <a:r>
                  <a:rPr lang="fr-CA" sz="1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=55,26% </a:t>
                </a:r>
                <a:endParaRPr lang="fr-CA" sz="1800" dirty="0">
                  <a:solidFill>
                    <a:srgbClr val="000000"/>
                  </a:solidFill>
                  <a:effectLst/>
                  <a:latin typeface="Times New Roman" panose="02020603050405020304" pitchFamily="18" charset="0"/>
                  <a:ea typeface="Times New Roman" panose="02020603050405020304" pitchFamily="18" charset="0"/>
                </a:endParaRPr>
              </a:p>
              <a:p>
                <a:r>
                  <a:rPr lang="fr-CA" sz="1800" dirty="0">
                    <a:effectLst/>
                    <a:latin typeface="Calibri" panose="020F0502020204030204" pitchFamily="34" charset="0"/>
                    <a:ea typeface="Calibri" panose="020F0502020204030204" pitchFamily="34" charset="0"/>
                    <a:cs typeface="Times New Roman" panose="02020603050405020304" pitchFamily="18" charset="0"/>
                  </a:rPr>
                  <a:t>  même chose, si on veut calculer:</a:t>
                </a:r>
              </a:p>
              <a:p>
                <a:endParaRPr lang="fr-CA" dirty="0">
                  <a:latin typeface="Calibri" panose="020F0502020204030204" pitchFamily="34" charset="0"/>
                  <a:ea typeface="Calibri" panose="020F0502020204030204" pitchFamily="34"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a:rPr lang="fr-CA" sz="1800" b="0" i="1" smtClean="0">
                          <a:effectLst/>
                          <a:latin typeface="Cambria Math" panose="02040503050406030204" pitchFamily="18" charset="0"/>
                          <a:ea typeface="Calibri" panose="020F0502020204030204" pitchFamily="34" charset="0"/>
                          <a:cs typeface="Times New Roman" panose="02020603050405020304" pitchFamily="18" charset="0"/>
                        </a:rPr>
                        <m:t>𝑃</m:t>
                      </m:r>
                      <m:d>
                        <m:dPr>
                          <m:ctrlPr>
                            <a:rPr lang="fr-CA" sz="1800" b="0" i="1" smtClean="0">
                              <a:effectLst/>
                              <a:latin typeface="Cambria Math" panose="02040503050406030204" pitchFamily="18" charset="0"/>
                              <a:ea typeface="Calibri" panose="020F0502020204030204" pitchFamily="34" charset="0"/>
                              <a:cs typeface="Times New Roman" panose="02020603050405020304" pitchFamily="18" charset="0"/>
                            </a:rPr>
                          </m:ctrlPr>
                        </m:dPr>
                        <m:e>
                          <m:r>
                            <a:rPr lang="fr-CA" sz="1800" b="0" i="1" smtClean="0">
                              <a:effectLst/>
                              <a:latin typeface="Cambria Math" panose="02040503050406030204" pitchFamily="18" charset="0"/>
                              <a:ea typeface="Calibri" panose="020F0502020204030204" pitchFamily="34" charset="0"/>
                              <a:cs typeface="Times New Roman" panose="02020603050405020304" pitchFamily="18" charset="0"/>
                            </a:rPr>
                            <m:t>𝐴</m:t>
                          </m:r>
                        </m:e>
                        <m:e>
                          <m:r>
                            <a:rPr lang="fr-CA" sz="1800" b="0" i="1" smtClean="0">
                              <a:effectLst/>
                              <a:latin typeface="Cambria Math" panose="02040503050406030204" pitchFamily="18" charset="0"/>
                              <a:ea typeface="Calibri" panose="020F0502020204030204" pitchFamily="34" charset="0"/>
                              <a:cs typeface="Times New Roman" panose="02020603050405020304" pitchFamily="18" charset="0"/>
                            </a:rPr>
                            <m:t>𝐷</m:t>
                          </m:r>
                        </m:e>
                      </m:d>
                      <m:r>
                        <a:rPr lang="fr-CA" sz="1800" b="0" i="1" smtClean="0">
                          <a:effectLst/>
                          <a:latin typeface="Cambria Math" panose="02040503050406030204" pitchFamily="18" charset="0"/>
                          <a:ea typeface="Calibri" panose="020F0502020204030204" pitchFamily="34" charset="0"/>
                          <a:cs typeface="Times New Roman" panose="02020603050405020304" pitchFamily="18" charset="0"/>
                        </a:rPr>
                        <m:t>=</m:t>
                      </m:r>
                      <m:f>
                        <m:fPr>
                          <m:ctrlPr>
                            <a:rPr lang="fr-CA" sz="1800" b="0" i="1" smtClean="0">
                              <a:effectLst/>
                              <a:latin typeface="Cambria Math" panose="02040503050406030204" pitchFamily="18" charset="0"/>
                              <a:cs typeface="Times New Roman" panose="02020603050405020304" pitchFamily="18" charset="0"/>
                            </a:rPr>
                          </m:ctrlPr>
                        </m:fPr>
                        <m:num>
                          <m:r>
                            <a:rPr lang="fr-CA" sz="1800" b="0" i="1" smtClean="0">
                              <a:effectLst/>
                              <a:latin typeface="Cambria Math" panose="02040503050406030204" pitchFamily="18" charset="0"/>
                              <a:cs typeface="Times New Roman" panose="02020603050405020304" pitchFamily="18" charset="0"/>
                            </a:rPr>
                            <m:t>𝑃</m:t>
                          </m:r>
                          <m:r>
                            <a:rPr lang="fr-CA" sz="1800" b="0" i="1" smtClean="0">
                              <a:effectLst/>
                              <a:latin typeface="Cambria Math" panose="02040503050406030204" pitchFamily="18" charset="0"/>
                              <a:cs typeface="Times New Roman" panose="02020603050405020304" pitchFamily="18" charset="0"/>
                            </a:rPr>
                            <m:t>(</m:t>
                          </m:r>
                          <m:r>
                            <a:rPr lang="fr-CA" sz="1800" b="0" i="1" smtClean="0">
                              <a:effectLst/>
                              <a:latin typeface="Cambria Math" panose="02040503050406030204" pitchFamily="18" charset="0"/>
                              <a:cs typeface="Times New Roman" panose="02020603050405020304" pitchFamily="18" charset="0"/>
                            </a:rPr>
                            <m:t>𝐴</m:t>
                          </m:r>
                          <m:r>
                            <a:rPr lang="fr-CA" sz="1800" b="0" i="1" smtClean="0">
                              <a:effectLst/>
                              <a:latin typeface="Cambria Math" panose="02040503050406030204" pitchFamily="18" charset="0"/>
                              <a:ea typeface="Cambria Math" panose="02040503050406030204" pitchFamily="18" charset="0"/>
                              <a:cs typeface="Times New Roman" panose="02020603050405020304" pitchFamily="18" charset="0"/>
                            </a:rPr>
                            <m:t>∩</m:t>
                          </m:r>
                          <m:r>
                            <a:rPr lang="fr-CA" sz="1800" b="0" i="1" smtClean="0">
                              <a:effectLst/>
                              <a:latin typeface="Cambria Math" panose="02040503050406030204" pitchFamily="18" charset="0"/>
                              <a:ea typeface="Cambria Math" panose="02040503050406030204" pitchFamily="18" charset="0"/>
                              <a:cs typeface="Times New Roman" panose="02020603050405020304" pitchFamily="18" charset="0"/>
                            </a:rPr>
                            <m:t>𝐷</m:t>
                          </m:r>
                          <m:r>
                            <a:rPr lang="fr-CA" sz="1800" b="0" i="1" smtClean="0">
                              <a:effectLst/>
                              <a:latin typeface="Cambria Math" panose="02040503050406030204" pitchFamily="18" charset="0"/>
                              <a:ea typeface="Cambria Math" panose="02040503050406030204" pitchFamily="18" charset="0"/>
                              <a:cs typeface="Times New Roman" panose="02020603050405020304" pitchFamily="18" charset="0"/>
                            </a:rPr>
                            <m:t>)</m:t>
                          </m:r>
                        </m:num>
                        <m:den>
                          <m:r>
                            <a:rPr lang="fr-CA" sz="1800" b="0" i="1" smtClean="0">
                              <a:effectLst/>
                              <a:latin typeface="Cambria Math" panose="02040503050406030204" pitchFamily="18" charset="0"/>
                              <a:cs typeface="Times New Roman" panose="02020603050405020304" pitchFamily="18" charset="0"/>
                            </a:rPr>
                            <m:t>𝑃</m:t>
                          </m:r>
                          <m:r>
                            <a:rPr lang="fr-CA" sz="1800" b="0" i="1" smtClean="0">
                              <a:effectLst/>
                              <a:latin typeface="Cambria Math" panose="02040503050406030204" pitchFamily="18" charset="0"/>
                              <a:cs typeface="Times New Roman" panose="02020603050405020304" pitchFamily="18" charset="0"/>
                            </a:rPr>
                            <m:t>(</m:t>
                          </m:r>
                          <m:r>
                            <a:rPr lang="fr-CA" sz="1800" b="0" i="1" smtClean="0">
                              <a:effectLst/>
                              <a:latin typeface="Cambria Math" panose="02040503050406030204" pitchFamily="18" charset="0"/>
                              <a:cs typeface="Times New Roman" panose="02020603050405020304" pitchFamily="18" charset="0"/>
                            </a:rPr>
                            <m:t>𝐷</m:t>
                          </m:r>
                          <m:r>
                            <a:rPr lang="fr-CA" sz="1800" b="0" i="1" smtClean="0">
                              <a:effectLst/>
                              <a:latin typeface="Cambria Math" panose="02040503050406030204" pitchFamily="18" charset="0"/>
                              <a:cs typeface="Times New Roman" panose="02020603050405020304" pitchFamily="18" charset="0"/>
                            </a:rPr>
                            <m:t>)</m:t>
                          </m:r>
                        </m:den>
                      </m:f>
                      <m:r>
                        <a:rPr lang="fr-CA" sz="1800" b="0" i="1" smtClean="0">
                          <a:effectLst/>
                          <a:latin typeface="Cambria Math" panose="02040503050406030204" pitchFamily="18" charset="0"/>
                          <a:cs typeface="Times New Roman" panose="02020603050405020304" pitchFamily="18" charset="0"/>
                        </a:rPr>
                        <m:t>=</m:t>
                      </m:r>
                      <m:f>
                        <m:fPr>
                          <m:ctrlPr>
                            <a:rPr lang="fr-CA" sz="1800" b="0" i="1" smtClean="0">
                              <a:effectLst/>
                              <a:latin typeface="Cambria Math" panose="02040503050406030204" pitchFamily="18" charset="0"/>
                              <a:cs typeface="Times New Roman" panose="02020603050405020304" pitchFamily="18" charset="0"/>
                            </a:rPr>
                          </m:ctrlPr>
                        </m:fPr>
                        <m:num>
                          <m:r>
                            <a:rPr lang="fr-CA" sz="1800" b="0" i="1" smtClean="0">
                              <a:effectLst/>
                              <a:latin typeface="Cambria Math" panose="02040503050406030204" pitchFamily="18" charset="0"/>
                              <a:cs typeface="Times New Roman" panose="02020603050405020304" pitchFamily="18" charset="0"/>
                            </a:rPr>
                            <m:t>0,0175</m:t>
                          </m:r>
                        </m:num>
                        <m:den>
                          <m:r>
                            <a:rPr lang="fr-CA" sz="1800" b="0" i="1" smtClean="0">
                              <a:effectLst/>
                              <a:latin typeface="Cambria Math" panose="02040503050406030204" pitchFamily="18" charset="0"/>
                              <a:cs typeface="Times New Roman" panose="02020603050405020304" pitchFamily="18" charset="0"/>
                            </a:rPr>
                            <m:t>0,0175+0,0315+0,008</m:t>
                          </m:r>
                        </m:den>
                      </m:f>
                      <m:r>
                        <a:rPr lang="fr-CA" sz="1800" b="0" i="1" smtClean="0">
                          <a:effectLst/>
                          <a:latin typeface="Cambria Math" panose="02040503050406030204" pitchFamily="18" charset="0"/>
                          <a:cs typeface="Times New Roman" panose="02020603050405020304" pitchFamily="18" charset="0"/>
                        </a:rPr>
                        <m:t>=0,3070=30,70%</m:t>
                      </m:r>
                    </m:oMath>
                  </m:oMathPara>
                </a14:m>
                <a:endParaRPr lang="fr-CA"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fr-CA" dirty="0"/>
              </a:p>
            </p:txBody>
          </p:sp>
        </mc:Choice>
        <mc:Fallback xmlns="">
          <p:sp>
            <p:nvSpPr>
              <p:cNvPr id="5" name="ZoneTexte 4">
                <a:extLst>
                  <a:ext uri="{FF2B5EF4-FFF2-40B4-BE49-F238E27FC236}">
                    <a16:creationId xmlns:a16="http://schemas.microsoft.com/office/drawing/2014/main" id="{9D2E4B79-2346-4002-B532-6097DD344C42}"/>
                  </a:ext>
                </a:extLst>
              </p:cNvPr>
              <p:cNvSpPr txBox="1">
                <a:spLocks noRot="1" noChangeAspect="1" noMove="1" noResize="1" noEditPoints="1" noAdjustHandles="1" noChangeArrowheads="1" noChangeShapeType="1" noTextEdit="1"/>
              </p:cNvSpPr>
              <p:nvPr/>
            </p:nvSpPr>
            <p:spPr>
              <a:xfrm>
                <a:off x="1031966" y="2704011"/>
                <a:ext cx="10128068" cy="2264531"/>
              </a:xfrm>
              <a:prstGeom prst="rect">
                <a:avLst/>
              </a:prstGeom>
              <a:blipFill>
                <a:blip r:embed="rId2"/>
                <a:stretch>
                  <a:fillRect l="-481"/>
                </a:stretch>
              </a:blipFill>
            </p:spPr>
            <p:txBody>
              <a:bodyPr/>
              <a:lstStyle/>
              <a:p>
                <a:r>
                  <a:rPr lang="fr-CA">
                    <a:noFill/>
                  </a:rPr>
                  <a:t> </a:t>
                </a:r>
              </a:p>
            </p:txBody>
          </p:sp>
        </mc:Fallback>
      </mc:AlternateContent>
    </p:spTree>
    <p:extLst>
      <p:ext uri="{BB962C8B-B14F-4D97-AF65-F5344CB8AC3E}">
        <p14:creationId xmlns:p14="http://schemas.microsoft.com/office/powerpoint/2010/main" val="1767354030"/>
      </p:ext>
    </p:extLst>
  </p:cSld>
  <p:clrMapOvr>
    <a:masterClrMapping/>
  </p:clrMapOvr>
</p:sld>
</file>

<file path=ppt/theme/theme1.xml><?xml version="1.0" encoding="utf-8"?>
<a:theme xmlns:a="http://schemas.openxmlformats.org/drawingml/2006/main" name="Office Theme">
  <a:themeElements>
    <a:clrScheme name="Thème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hèm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TotalTime>
  <Words>2981</Words>
  <Application>Microsoft Office PowerPoint</Application>
  <PresentationFormat>Grand écran</PresentationFormat>
  <Paragraphs>256</Paragraphs>
  <Slides>29</Slides>
  <Notes>4</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29</vt:i4>
      </vt:variant>
    </vt:vector>
  </HeadingPairs>
  <TitlesOfParts>
    <vt:vector size="37" baseType="lpstr">
      <vt:lpstr>Arial</vt:lpstr>
      <vt:lpstr>Calibri</vt:lpstr>
      <vt:lpstr>Calibri Light</vt:lpstr>
      <vt:lpstr>Cambria Math</vt:lpstr>
      <vt:lpstr>HelveticaNeueLT Std Cn</vt:lpstr>
      <vt:lpstr>Times (TT) Regular</vt:lpstr>
      <vt:lpstr>Times New Roman</vt:lpstr>
      <vt:lpstr>Office Theme</vt:lpstr>
      <vt:lpstr>COMBINAISONS  Lorsqu’on a n éléments et qu’on veuille en choisir k à la fois, on parle de combinaisons. Le nombre de combinaisons possibles est: (█(n@k))=n!/k!(n-k)!=〖nC〗_k Remarques: . L’ordre n’est pas important. . Combinaison commence par la même lettre que choisir.   </vt:lpstr>
      <vt:lpstr>EXEMPLE 1: On a 12 composantes électriques, on veut en choisir 4 de combien de manières peut-on s’y prendre?</vt:lpstr>
      <vt:lpstr>EXEMPLE 2: Marie a 15 copines. Elle décide d’en inviter 10 à son anniversaire. a) De combien de façons peut-elle faire ses invitations ? b) Si deux de ses copines sont de très bonnes amies et que Marie ne peut pas les inviter l’une sans l’autre, de combien de façons peut-elle faire ses invitations ? c) Si deux de ses copines ne s’entendent pas du tout et que Marie ne peut donc pas les inviter ensemble, de combien de façons peut-elle faire ses invitations ?</vt:lpstr>
      <vt:lpstr>Exemple 3: Une boîte contient 8 boules blanches, 6 boules rouges et 7 boules noires. On en choisit 5 au hasard. a) Combien de possibilités y a-t-il ? b) Quelle est la probabilité que, parmi les 5 boules tirées, il y en ait 2 blanches, 2 rouges et 1 noires ? </vt:lpstr>
      <vt:lpstr>Permutations d’objets partiellement distinguables </vt:lpstr>
      <vt:lpstr>Les diagrammes en arbres </vt:lpstr>
      <vt:lpstr>Réponse: a)</vt:lpstr>
      <vt:lpstr>Suite: b)</vt:lpstr>
      <vt:lpstr>Un couple a 3 enfants</vt:lpstr>
      <vt:lpstr>LECTURE3: Probabilité conditionnelle</vt:lpstr>
      <vt:lpstr>Suite)</vt:lpstr>
      <vt:lpstr>Exemple 2: Un couple a trois enfants. Quelle est la probabilité qu’il ait au moins un garçon, sachant que l’aînée est une fille ? </vt:lpstr>
      <vt:lpstr>Applications dans les tests cliniques</vt:lpstr>
      <vt:lpstr>Exemple </vt:lpstr>
      <vt:lpstr>Présentation PowerPoint</vt:lpstr>
      <vt:lpstr>La règle de multiplication</vt:lpstr>
      <vt:lpstr>Réponse:</vt:lpstr>
      <vt:lpstr>Les événements indépendants</vt:lpstr>
      <vt:lpstr>Exemple 1: Soit un système électrique constitué de 3 composantes en série. En supposant que ces composantes soient indépendantes et que la probabilité que chacune d’elles fonctionne soit celle qui est indiquée dans le schéma suivant, on doit trouver la probabilité que le courant passe de A vers B </vt:lpstr>
      <vt:lpstr>Exemple 2: Soit un système électrique constitué de 8 composantes indépendantes et dont la probabilité qu’une composante tombe en panne est illustrée sur le schéma suivant. Quelle est la probabilité que le courant passe de A vers B ? </vt:lpstr>
      <vt:lpstr>Théorème: Si A et B sont indépendants, alors: . A et B’ le sont aussi. . A’ et B le sont aussi. . A’ et B’ le sont aussi.  </vt:lpstr>
      <vt:lpstr>Formule de Bayes: Soit une expérience aléatoire avec S décomposé en deux groupes formant sa partition.  </vt:lpstr>
      <vt:lpstr>Exemple 2: On s’intéresse à une maladie présente dans une population S. Soit M : Les personnes atteintes de cette maladie ; et M′ : Les personnes non atteintes de cette maladie. Une compagnie pharmaceutique a mis au point un procédé pour détecter la présence ou non de cette maladie. Soit alors T+ : Le test est positif.  </vt:lpstr>
      <vt:lpstr>Exemple2: Formule de Bayes avec une partition formée de 4 groupes. Avec un arbre des probabilités</vt:lpstr>
      <vt:lpstr>Réponse: Soit C : Le père a les cheveux châtains, N : Le père a les cheveux noirs, B : Le père a les cheveux blonds, R : Le père a les cheveux roux et E : L’enfant a les cheveux blonds. </vt:lpstr>
      <vt:lpstr>Suite)</vt:lpstr>
      <vt:lpstr>Exemple 3: Dans une usine, trois ouvriers assemblent toutes les pièces fabriquées S (chaque pièce n’est assemblée que par un seul ouvrier). Soit les événements suivants (voir le diagramme de Venn) : • A : Les pièces sont assemblées par le 1er ouvrier ; • B : Les pièces sont assemblées par le 2e ouvrier ; • C : Les pièces sont assemblées par le 3e ouvrier ; • D : Les pièces sont défectueuses. </vt:lpstr>
      <vt:lpstr>Suite)On peut dresser un arbre des probabilités</vt:lpstr>
      <vt:lpstr>Suite)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Probabilité conditionnelle</dc:title>
  <dc:creator>Mhammed Mountassir</dc:creator>
  <cp:lastModifiedBy>Mhammed Mountassir</cp:lastModifiedBy>
  <cp:revision>7</cp:revision>
  <dcterms:created xsi:type="dcterms:W3CDTF">2020-09-16T13:20:54Z</dcterms:created>
  <dcterms:modified xsi:type="dcterms:W3CDTF">2021-09-16T11:37:26Z</dcterms:modified>
</cp:coreProperties>
</file>